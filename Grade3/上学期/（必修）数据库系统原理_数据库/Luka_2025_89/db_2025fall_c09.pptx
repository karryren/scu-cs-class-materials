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71"/>
  </p:notesMasterIdLst>
  <p:sldIdLst>
    <p:sldId id="258" r:id="rId2"/>
    <p:sldId id="259" r:id="rId3"/>
    <p:sldId id="371" r:id="rId4"/>
    <p:sldId id="319" r:id="rId5"/>
    <p:sldId id="317" r:id="rId6"/>
    <p:sldId id="318" r:id="rId7"/>
    <p:sldId id="372" r:id="rId8"/>
    <p:sldId id="379" r:id="rId9"/>
    <p:sldId id="320" r:id="rId10"/>
    <p:sldId id="321" r:id="rId11"/>
    <p:sldId id="322" r:id="rId12"/>
    <p:sldId id="323" r:id="rId13"/>
    <p:sldId id="324" r:id="rId14"/>
    <p:sldId id="369" r:id="rId15"/>
    <p:sldId id="370" r:id="rId16"/>
    <p:sldId id="325" r:id="rId17"/>
    <p:sldId id="326" r:id="rId18"/>
    <p:sldId id="366" r:id="rId19"/>
    <p:sldId id="327" r:id="rId20"/>
    <p:sldId id="328" r:id="rId21"/>
    <p:sldId id="329" r:id="rId22"/>
    <p:sldId id="330" r:id="rId23"/>
    <p:sldId id="331" r:id="rId24"/>
    <p:sldId id="332" r:id="rId25"/>
    <p:sldId id="382" r:id="rId26"/>
    <p:sldId id="381" r:id="rId27"/>
    <p:sldId id="333" r:id="rId28"/>
    <p:sldId id="380" r:id="rId29"/>
    <p:sldId id="367" r:id="rId30"/>
    <p:sldId id="334" r:id="rId31"/>
    <p:sldId id="335" r:id="rId32"/>
    <p:sldId id="336" r:id="rId33"/>
    <p:sldId id="337" r:id="rId34"/>
    <p:sldId id="338" r:id="rId35"/>
    <p:sldId id="339" r:id="rId36"/>
    <p:sldId id="341" r:id="rId37"/>
    <p:sldId id="340" r:id="rId38"/>
    <p:sldId id="383" r:id="rId39"/>
    <p:sldId id="342" r:id="rId40"/>
    <p:sldId id="378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55" r:id="rId53"/>
    <p:sldId id="356" r:id="rId54"/>
    <p:sldId id="374" r:id="rId55"/>
    <p:sldId id="376" r:id="rId56"/>
    <p:sldId id="375" r:id="rId57"/>
    <p:sldId id="377" r:id="rId58"/>
    <p:sldId id="357" r:id="rId59"/>
    <p:sldId id="384" r:id="rId60"/>
    <p:sldId id="368" r:id="rId61"/>
    <p:sldId id="358" r:id="rId62"/>
    <p:sldId id="359" r:id="rId63"/>
    <p:sldId id="373" r:id="rId64"/>
    <p:sldId id="360" r:id="rId65"/>
    <p:sldId id="361" r:id="rId66"/>
    <p:sldId id="362" r:id="rId67"/>
    <p:sldId id="363" r:id="rId68"/>
    <p:sldId id="364" r:id="rId69"/>
    <p:sldId id="260" r:id="rId70"/>
  </p:sldIdLst>
  <p:sldSz cx="9144000" cy="6858000" type="screen4x3"/>
  <p:notesSz cx="6858000" cy="9144000"/>
  <p:custDataLst>
    <p:tags r:id="rId72"/>
  </p:custDataLst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003300"/>
    <a:srgbClr val="CC0000"/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31" autoAdjust="0"/>
  </p:normalViewPr>
  <p:slideViewPr>
    <p:cSldViewPr>
      <p:cViewPr>
        <p:scale>
          <a:sx n="125" d="100"/>
          <a:sy n="125" d="100"/>
        </p:scale>
        <p:origin x="936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A3B773A7-B29E-4533-8D10-F8699319BC3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78427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773A7-B29E-4533-8D10-F8699319BC35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92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选择 投影 连接</a:t>
            </a:r>
            <a:r>
              <a:rPr lang="zh-CN" altLang="en-US" baseline="0" dirty="0"/>
              <a:t> 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773A7-B29E-4533-8D10-F8699319BC35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773A7-B29E-4533-8D10-F8699319BC35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379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F6B47C0-FD24-4352-95B7-50645E589415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BCA65668-DE0A-4E7D-9670-5C0C811B787E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23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B45F97F-CA0D-4676-9098-F2BDF856462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4B1D65F-3AAC-4701-9117-1407E0AE0845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83343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5E7D12-35B4-4075-977F-5A163EC527C1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1D65F-3AAC-4701-9117-1407E0AE0845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874274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AFF5DC-45FB-4DD9-8F3F-402900E1B94B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49C872-CA19-42DD-9D0C-315E5829BFD1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607296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727482-4993-45EA-A51F-D1FB360B60D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0194BE-033D-43FF-8C8C-449CB5F46283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156795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601479-2B02-457C-BAAC-FD8B404E10C3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A82A9A-A52F-47E0-A18B-1F9EDC7C30C6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984608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F9BAA6-9E1A-44CD-B1F9-559E30E0DC7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EFF66-51C6-43A4-BB75-C97067543271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569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0BFB5-5E71-4726-9CD9-89D0D62105F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580A56-9852-4896-B03A-4F8C948B0C5F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969675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547610-F007-479D-A1B2-0E61BB80136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BD157E-872B-4498-BAA2-4A983CD7D613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854511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D4E420-1A6F-4EE7-8BE8-48E40E7E41E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87E74-F87E-4A9B-A971-EE94FC6BA82E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901544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161C26-1E9B-4313-BB19-F0BD0F559BA4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654DDC-5D4E-4A83-AD3C-421B055791A1}" type="slidenum">
              <a:rPr lang="en-US" altLang="zh-CN" smtClean="0"/>
              <a:pPr/>
              <a:t>‹#›</a:t>
            </a:fld>
            <a:r>
              <a:rPr lang="en-US" altLang="zh-CN" dirty="0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51914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088E3579-CAAB-4457-A234-02AC16007AD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r>
              <a:rPr lang="en-US" altLang="zh-CN"/>
              <a:t>《数据库系统概论》- 第9章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fld id="{6FC95146-9AD1-496A-A9E0-2166CB475FE2}" type="slidenum">
              <a:rPr lang="en-US" altLang="zh-CN" smtClean="0"/>
              <a:pPr/>
              <a:t>‹#›</a:t>
            </a:fld>
            <a:r>
              <a:rPr lang="en-US" altLang="zh-CN" dirty="0"/>
              <a:t>/63</a:t>
            </a:r>
            <a:endParaRPr lang="zh-CN" altLang="en-US" dirty="0"/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郭际香</a:t>
            </a: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Times New Roman" pitchFamily="18" charset="0"/>
              </a:rPr>
              <a:t>2025.12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r>
              <a:rPr lang="zh-CN" altLang="zh-CN"/>
              <a:t>第</a:t>
            </a:r>
            <a:r>
              <a:rPr lang="zh-CN" altLang="en-US"/>
              <a:t>九</a:t>
            </a:r>
            <a:r>
              <a:rPr lang="zh-CN" altLang="zh-CN"/>
              <a:t>章 </a:t>
            </a:r>
            <a:r>
              <a:rPr lang="zh-CN" altLang="en-US"/>
              <a:t>关系查询处理和查询优化</a:t>
            </a: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505200"/>
            <a:ext cx="7162800" cy="2514600"/>
          </a:xfrm>
        </p:spPr>
        <p:txBody>
          <a:bodyPr/>
          <a:lstStyle/>
          <a:p>
            <a:pPr algn="l">
              <a:buFont typeface="Wingdings" pitchFamily="2" charset="2"/>
              <a:buChar char="n"/>
            </a:pPr>
            <a:r>
              <a:rPr lang="zh-CN" altLang="en-US" sz="2800" dirty="0">
                <a:latin typeface="Times New Roman" pitchFamily="18" charset="0"/>
              </a:rPr>
              <a:t>了解</a:t>
            </a:r>
            <a:r>
              <a:rPr lang="en-US" altLang="zh-CN" sz="2800" dirty="0">
                <a:latin typeface="Times New Roman" pitchFamily="18" charset="0"/>
              </a:rPr>
              <a:t>RDBMS</a:t>
            </a:r>
            <a:r>
              <a:rPr lang="zh-CN" altLang="en-US" sz="2800" dirty="0">
                <a:latin typeface="Times New Roman" pitchFamily="18" charset="0"/>
              </a:rPr>
              <a:t>查询处理的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</a:rPr>
              <a:t>基本步骤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zh-CN" altLang="en-US" sz="2800" dirty="0">
                <a:solidFill>
                  <a:schemeClr val="tx2"/>
                </a:solidFill>
                <a:latin typeface="Times New Roman" pitchFamily="18" charset="0"/>
              </a:rPr>
              <a:t>查询优化的概念、基本方法和技术</a:t>
            </a:r>
          </a:p>
          <a:p>
            <a:pPr algn="l">
              <a:buFont typeface="Wingdings" pitchFamily="2" charset="2"/>
              <a:buChar char="n"/>
            </a:pPr>
            <a:r>
              <a:rPr lang="zh-CN" altLang="en-US" sz="2800" dirty="0"/>
              <a:t>查询优化</a:t>
            </a:r>
          </a:p>
          <a:p>
            <a:pPr marL="457200" lvl="1" indent="0"/>
            <a:r>
              <a:rPr lang="zh-CN" altLang="en-US" sz="2400" dirty="0">
                <a:latin typeface="Times New Roman" pitchFamily="18" charset="0"/>
              </a:rPr>
              <a:t> 代数优化：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</a:rPr>
              <a:t>关系代数表达式</a:t>
            </a:r>
            <a:r>
              <a:rPr lang="zh-CN" altLang="en-US" sz="2400" dirty="0">
                <a:latin typeface="Times New Roman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</a:rPr>
              <a:t>优化</a:t>
            </a:r>
          </a:p>
          <a:p>
            <a:pPr marL="457200" lvl="1" indent="0"/>
            <a:r>
              <a:rPr lang="zh-CN" altLang="en-US" sz="2400" dirty="0">
                <a:latin typeface="Times New Roman" pitchFamily="18" charset="0"/>
              </a:rPr>
              <a:t> 物理优化：存取路径和底层操作算法的选择</a:t>
            </a:r>
          </a:p>
          <a:p>
            <a:pPr algn="l"/>
            <a:r>
              <a:rPr lang="zh-CN" altLang="en-US" sz="800" dirty="0">
                <a:latin typeface="Times New Roman" pitchFamily="18" charset="0"/>
              </a:rPr>
              <a:t>  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EC52C91-FE7B-40C1-9216-CE72290669F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关系查询处理和查询优化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838200" y="1600200"/>
            <a:ext cx="8001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38200" y="1524000"/>
            <a:ext cx="7467600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/>
              <a:t>关系数据库管理系统</a:t>
            </a:r>
            <a:r>
              <a:rPr lang="zh-CN" altLang="en-US" sz="3200" dirty="0">
                <a:solidFill>
                  <a:srgbClr val="0000FF"/>
                </a:solidFill>
              </a:rPr>
              <a:t>查询处理</a:t>
            </a:r>
            <a:r>
              <a:rPr lang="zh-CN" altLang="en-US" sz="3200" dirty="0"/>
              <a:t>阶段 ： </a:t>
            </a:r>
          </a:p>
          <a:p>
            <a:pPr lvl="1">
              <a:lnSpc>
                <a:spcPct val="100000"/>
              </a:lnSpc>
            </a:pPr>
            <a:r>
              <a:rPr lang="en-US" altLang="zh-CN" sz="2800" b="1" dirty="0"/>
              <a:t>1. </a:t>
            </a:r>
            <a:r>
              <a:rPr lang="zh-CN" altLang="en-US" sz="2800" dirty="0"/>
              <a:t>查询分析 </a:t>
            </a:r>
          </a:p>
          <a:p>
            <a:pPr lvl="1">
              <a:lnSpc>
                <a:spcPct val="100000"/>
              </a:lnSpc>
            </a:pPr>
            <a:r>
              <a:rPr lang="en-US" altLang="zh-CN" sz="2800" b="1" dirty="0"/>
              <a:t>2. </a:t>
            </a:r>
            <a:r>
              <a:rPr lang="zh-CN" altLang="en-US" sz="2800" dirty="0"/>
              <a:t>查询检查 </a:t>
            </a:r>
          </a:p>
          <a:p>
            <a:pPr lvl="1">
              <a:lnSpc>
                <a:spcPct val="100000"/>
              </a:lnSpc>
            </a:pPr>
            <a:r>
              <a:rPr lang="en-US" altLang="zh-CN" sz="2800" b="1" dirty="0"/>
              <a:t>3. </a:t>
            </a:r>
            <a:r>
              <a:rPr lang="zh-CN" altLang="en-US" sz="2800" dirty="0"/>
              <a:t>查询优化 </a:t>
            </a:r>
          </a:p>
          <a:p>
            <a:pPr lvl="1">
              <a:lnSpc>
                <a:spcPct val="100000"/>
              </a:lnSpc>
            </a:pPr>
            <a:r>
              <a:rPr lang="en-US" altLang="zh-CN" sz="2800" b="1" dirty="0"/>
              <a:t>4. </a:t>
            </a:r>
            <a:r>
              <a:rPr lang="zh-CN" altLang="en-US" sz="2800" dirty="0"/>
              <a:t>查询执行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1325FE-E0C0-4CA9-8424-EE8CDF12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23912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33B00B11-D68C-460B-AB61-C00A4D87E58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关系查询处理和查询优化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598"/>
            <a:ext cx="6901321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6553200" y="6172200"/>
            <a:ext cx="1143000" cy="3810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/>
              <a:t>查询结果</a:t>
            </a:r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>
            <a:off x="5715000" y="6330043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3127253-9C4B-223E-64F9-0DA369B24911}"/>
              </a:ext>
            </a:extLst>
          </p:cNvPr>
          <p:cNvSpPr/>
          <p:nvPr/>
        </p:nvSpPr>
        <p:spPr bwMode="auto">
          <a:xfrm>
            <a:off x="3276600" y="3717032"/>
            <a:ext cx="3095600" cy="18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99A981-BDD9-C34F-2972-30868453A225}"/>
              </a:ext>
            </a:extLst>
          </p:cNvPr>
          <p:cNvSpPr/>
          <p:nvPr/>
        </p:nvSpPr>
        <p:spPr bwMode="auto">
          <a:xfrm>
            <a:off x="3131840" y="3626547"/>
            <a:ext cx="2759943" cy="1316726"/>
          </a:xfrm>
          <a:prstGeom prst="ellipse">
            <a:avLst/>
          </a:prstGeom>
          <a:noFill/>
          <a:ln w="38100" cap="flat" cmpd="sng" algn="ctr">
            <a:solidFill>
              <a:srgbClr val="0000FF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6D59C-6CAD-4C69-BB59-2DC733A8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D9FBFC25-A614-4C9B-ACC2-98B6A783A5A1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9.1 </a:t>
            </a:r>
            <a:r>
              <a:rPr lang="zh-CN" altLang="en-US"/>
              <a:t>关系数据库系统的查询处理</a:t>
            </a:r>
          </a:p>
          <a:p>
            <a:r>
              <a:rPr lang="en-US" altLang="zh-CN"/>
              <a:t>9.2 </a:t>
            </a:r>
            <a:r>
              <a:rPr lang="zh-CN" altLang="en-US"/>
              <a:t>关系数据库系统的查询优化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9.3 </a:t>
            </a:r>
            <a:r>
              <a:rPr lang="zh-CN" altLang="en-US"/>
              <a:t>代数优化</a:t>
            </a:r>
          </a:p>
          <a:p>
            <a:r>
              <a:rPr lang="en-US" altLang="zh-CN"/>
              <a:t>9.4 </a:t>
            </a:r>
            <a:r>
              <a:rPr lang="zh-CN" altLang="en-US"/>
              <a:t>物理优化</a:t>
            </a: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2D35D4-D81F-449C-96A5-2EA4D169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907B7DA-F162-49FC-96A6-D58773B73D8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9.1.1 </a:t>
            </a:r>
            <a:r>
              <a:rPr lang="zh-CN" altLang="en-US"/>
              <a:t>查询处理步骤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7850832" cy="3205336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zh-CN" altLang="en-US" dirty="0"/>
              <a:t>查询分析 </a:t>
            </a:r>
          </a:p>
          <a:p>
            <a:pPr marL="990600" lvl="1" indent="-533400"/>
            <a:r>
              <a:rPr lang="zh-CN" altLang="en-US" dirty="0"/>
              <a:t>词法分析、语法分析、语义分析、符号名转换</a:t>
            </a:r>
            <a:endParaRPr lang="en-US" altLang="zh-CN" dirty="0"/>
          </a:p>
          <a:p>
            <a:pPr marL="990600" lvl="1" indent="-533400"/>
            <a:r>
              <a:rPr lang="zh-CN" altLang="en-US" dirty="0"/>
              <a:t>词法分析：</a:t>
            </a:r>
            <a:r>
              <a:rPr lang="zh-CN" altLang="en-US" dirty="0">
                <a:solidFill>
                  <a:srgbClr val="0000FF"/>
                </a:solidFill>
              </a:rPr>
              <a:t>从查询语句中识别出正确的语言符号</a:t>
            </a:r>
            <a:endParaRPr lang="en-US" altLang="zh-CN" dirty="0">
              <a:solidFill>
                <a:srgbClr val="0000FF"/>
              </a:solidFill>
            </a:endParaRPr>
          </a:p>
          <a:p>
            <a:pPr marL="990600" lvl="1" indent="-533400"/>
            <a:r>
              <a:rPr lang="zh-CN" altLang="en-US" dirty="0"/>
              <a:t>语法分析：</a:t>
            </a:r>
            <a:r>
              <a:rPr lang="zh-CN" altLang="en-US" dirty="0">
                <a:solidFill>
                  <a:srgbClr val="0000FF"/>
                </a:solidFill>
              </a:rPr>
              <a:t>进行语法检查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zh-CN" altLang="en-US" sz="8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2B7B97-D391-4632-9BA1-3F34CFB7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A04E1A25-2E79-482F-B894-BEDB35E4838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9.1.1 </a:t>
            </a:r>
            <a:r>
              <a:rPr lang="zh-CN" altLang="en-US"/>
              <a:t>查询处理步骤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+mj-lt"/>
              <a:buAutoNum type="arabicPeriod" startAt="2"/>
            </a:pPr>
            <a:r>
              <a:rPr lang="zh-CN" altLang="en-US" dirty="0"/>
              <a:t>查询检查 </a:t>
            </a:r>
          </a:p>
          <a:p>
            <a:pPr marL="990600" lvl="1" indent="-533400"/>
            <a:r>
              <a:rPr lang="zh-CN" altLang="en-US" dirty="0"/>
              <a:t>语义检查：对象是否存在且有效 </a:t>
            </a:r>
          </a:p>
          <a:p>
            <a:pPr marL="990600" lvl="1" indent="-533400"/>
            <a:r>
              <a:rPr lang="zh-CN" altLang="en-US" dirty="0"/>
              <a:t>安全性检查：</a:t>
            </a:r>
            <a:r>
              <a:rPr lang="zh-CN" altLang="en-US" dirty="0">
                <a:solidFill>
                  <a:srgbClr val="0000FF"/>
                </a:solidFill>
              </a:rPr>
              <a:t>用户权限 </a:t>
            </a:r>
          </a:p>
          <a:p>
            <a:pPr marL="990600" lvl="1" indent="-533400"/>
            <a:r>
              <a:rPr lang="zh-CN" altLang="en-US" dirty="0"/>
              <a:t>完整性检查：</a:t>
            </a:r>
            <a:r>
              <a:rPr lang="zh-CN" altLang="en-US" dirty="0">
                <a:solidFill>
                  <a:srgbClr val="0000FF"/>
                </a:solidFill>
              </a:rPr>
              <a:t>完整性约束</a:t>
            </a:r>
            <a:r>
              <a:rPr lang="zh-CN" altLang="en-US" dirty="0"/>
              <a:t> </a:t>
            </a:r>
          </a:p>
          <a:p>
            <a:pPr marL="990600" lvl="1" indent="-533400"/>
            <a:r>
              <a:rPr lang="zh-CN" altLang="en-US" dirty="0"/>
              <a:t>关系代数表达式：</a:t>
            </a:r>
            <a:r>
              <a:rPr lang="zh-CN" altLang="en-US" dirty="0">
                <a:solidFill>
                  <a:srgbClr val="0000FF"/>
                </a:solidFill>
              </a:rPr>
              <a:t>检查通过</a:t>
            </a:r>
            <a:r>
              <a:rPr lang="zh-CN" altLang="en-US" dirty="0"/>
              <a:t>后</a:t>
            </a:r>
            <a:r>
              <a:rPr lang="zh-CN" altLang="en-US" dirty="0">
                <a:solidFill>
                  <a:srgbClr val="0000FF"/>
                </a:solidFill>
              </a:rPr>
              <a:t>把</a:t>
            </a:r>
            <a:r>
              <a:rPr lang="en-US" altLang="zh-CN" dirty="0">
                <a:solidFill>
                  <a:srgbClr val="0000FF"/>
                </a:solidFill>
              </a:rPr>
              <a:t>SQL</a:t>
            </a:r>
            <a:r>
              <a:rPr lang="zh-CN" altLang="en-US" dirty="0">
                <a:solidFill>
                  <a:srgbClr val="0000FF"/>
                </a:solidFill>
              </a:rPr>
              <a:t>查询语句</a:t>
            </a:r>
            <a:r>
              <a:rPr lang="zh-CN" altLang="en-US" b="1" dirty="0">
                <a:solidFill>
                  <a:srgbClr val="C00000"/>
                </a:solidFill>
              </a:rPr>
              <a:t>转换</a:t>
            </a:r>
            <a:r>
              <a:rPr lang="zh-CN" altLang="en-US" dirty="0"/>
              <a:t>成内部表示，即</a:t>
            </a:r>
            <a:r>
              <a:rPr lang="zh-CN" altLang="en-US" dirty="0">
                <a:solidFill>
                  <a:srgbClr val="0000FF"/>
                </a:solidFill>
              </a:rPr>
              <a:t>等价</a:t>
            </a:r>
            <a:r>
              <a:rPr lang="zh-CN" altLang="en-US" dirty="0"/>
              <a:t>的</a:t>
            </a:r>
            <a:r>
              <a:rPr lang="zh-CN" alt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关系代数表达式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90600" lvl="1" indent="-533400"/>
            <a:endParaRPr lang="en-US" altLang="zh-CN" dirty="0"/>
          </a:p>
          <a:p>
            <a:pPr marL="57150" indent="0">
              <a:buNone/>
            </a:pPr>
            <a:r>
              <a:rPr lang="zh-CN" altLang="en-US" sz="2800" dirty="0"/>
              <a:t>    关系数据库管理系统一般都用</a:t>
            </a:r>
            <a:r>
              <a:rPr lang="zh-CN" altLang="en-US" sz="2800" b="1" dirty="0">
                <a:solidFill>
                  <a:srgbClr val="C00000"/>
                </a:solidFill>
              </a:rPr>
              <a:t>查询树</a:t>
            </a:r>
            <a:r>
              <a:rPr lang="en-US" altLang="zh-CN" sz="2800" dirty="0">
                <a:solidFill>
                  <a:schemeClr val="tx2"/>
                </a:solidFill>
              </a:rPr>
              <a:t>(query tree)</a:t>
            </a:r>
            <a:r>
              <a:rPr lang="zh-CN" altLang="en-US" sz="2800" dirty="0"/>
              <a:t>，也称为</a:t>
            </a:r>
            <a:r>
              <a:rPr lang="zh-CN" altLang="en-US" sz="2800" b="1" dirty="0">
                <a:solidFill>
                  <a:srgbClr val="C00000"/>
                </a:solidFill>
              </a:rPr>
              <a:t>语法分析树</a:t>
            </a:r>
            <a:r>
              <a:rPr lang="zh-CN" altLang="en-US" sz="2800" dirty="0"/>
              <a:t>来</a:t>
            </a:r>
            <a:r>
              <a:rPr lang="zh-CN" altLang="en-US" sz="2800" dirty="0">
                <a:solidFill>
                  <a:srgbClr val="FF0000"/>
                </a:solidFill>
              </a:rPr>
              <a:t>表示</a:t>
            </a:r>
            <a:r>
              <a:rPr lang="zh-CN" altLang="en-US" sz="2800" dirty="0"/>
              <a:t>扩展的</a:t>
            </a:r>
            <a:r>
              <a:rPr lang="zh-CN" altLang="en-US" sz="2800" b="1" dirty="0">
                <a:solidFill>
                  <a:srgbClr val="0000FF"/>
                </a:solidFill>
              </a:rPr>
              <a:t>关系代数表达式</a:t>
            </a:r>
            <a:r>
              <a:rPr lang="zh-CN" altLang="en-US" sz="2800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2EF158-F4C0-4C04-BDC5-F7A17984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257201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C75DEDFA-2E6A-49BE-9831-0810EABE1E38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查询处理步骤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 dirty="0"/>
              <a:t>示例</a:t>
            </a:r>
            <a:endParaRPr lang="en-US" altLang="zh-CN" dirty="0"/>
          </a:p>
          <a:p>
            <a:pPr marL="400050" lvl="1" indent="0">
              <a:buNone/>
            </a:pPr>
            <a:r>
              <a:rPr lang="en-US" altLang="zh-CN" dirty="0"/>
              <a:t>select </a:t>
            </a:r>
            <a:r>
              <a:rPr lang="en-US" altLang="zh-CN" dirty="0">
                <a:solidFill>
                  <a:srgbClr val="0000FF"/>
                </a:solidFill>
              </a:rPr>
              <a:t>salary</a:t>
            </a:r>
            <a:r>
              <a:rPr lang="en-US" altLang="zh-CN" dirty="0"/>
              <a:t> </a:t>
            </a:r>
          </a:p>
          <a:p>
            <a:pPr marL="400050" lvl="1" indent="0">
              <a:buNone/>
            </a:pPr>
            <a:r>
              <a:rPr lang="en-US" altLang="zh-CN" dirty="0"/>
              <a:t>from instructor </a:t>
            </a:r>
          </a:p>
          <a:p>
            <a:pPr marL="400050" lvl="1" indent="0">
              <a:buNone/>
            </a:pPr>
            <a:r>
              <a:rPr lang="en-US" altLang="zh-CN" dirty="0"/>
              <a:t>where salary &lt; 75000;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该查询可以翻译成下面两个关系代数表达式中的</a:t>
            </a:r>
            <a:r>
              <a:rPr lang="zh-CN" altLang="en-US" sz="2800" dirty="0">
                <a:solidFill>
                  <a:srgbClr val="FF0000"/>
                </a:solidFill>
              </a:rPr>
              <a:t>任意一个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r>
              <a:rPr lang="zh-CN" altLang="zh-CN" sz="2800" dirty="0"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/>
              <a:t>salary&lt;75000</a:t>
            </a:r>
            <a:r>
              <a:rPr lang="en-US" altLang="zh-CN" sz="2800" dirty="0"/>
              <a:t> (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salary</a:t>
            </a:r>
            <a:r>
              <a:rPr lang="en-US" altLang="zh-CN" sz="2800" dirty="0"/>
              <a:t>(instructor))</a:t>
            </a:r>
          </a:p>
          <a:p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salary</a:t>
            </a:r>
            <a:r>
              <a:rPr lang="en-US" altLang="zh-CN" sz="2800" dirty="0"/>
              <a:t>(</a:t>
            </a:r>
            <a:r>
              <a:rPr lang="zh-CN" altLang="zh-CN" sz="2800" dirty="0"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/>
              <a:t>salary&lt;75000</a:t>
            </a:r>
            <a:r>
              <a:rPr lang="en-US" altLang="zh-CN" sz="2800" dirty="0"/>
              <a:t>(instructor))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BD02AE-5438-94F1-CB19-5AA25E4C9F78}"/>
              </a:ext>
            </a:extLst>
          </p:cNvPr>
          <p:cNvSpPr txBox="1"/>
          <p:nvPr/>
        </p:nvSpPr>
        <p:spPr>
          <a:xfrm>
            <a:off x="5774258" y="3239293"/>
            <a:ext cx="151216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instructor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3E9D03D-2AC8-919C-39E1-E33F7B0A9E39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4338" y="2803587"/>
            <a:ext cx="0" cy="50405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90F6883-EDAA-FE72-2A2C-6D9E84EE837C}"/>
              </a:ext>
            </a:extLst>
          </p:cNvPr>
          <p:cNvSpPr txBox="1"/>
          <p:nvPr/>
        </p:nvSpPr>
        <p:spPr>
          <a:xfrm>
            <a:off x="5655306" y="2265348"/>
            <a:ext cx="3359309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/>
              <a:t>salary&lt;75000</a:t>
            </a:r>
            <a:r>
              <a:rPr lang="en-US" altLang="zh-CN" dirty="0"/>
              <a:t>;</a:t>
            </a:r>
            <a:r>
              <a:rPr lang="zh-CN" altLang="en-US" dirty="0"/>
              <a:t> 使用索引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4CB2E0-3F17-DD19-9EEA-EB86CD7A2E7E}"/>
              </a:ext>
            </a:extLst>
          </p:cNvPr>
          <p:cNvSpPr txBox="1"/>
          <p:nvPr/>
        </p:nvSpPr>
        <p:spPr>
          <a:xfrm>
            <a:off x="6084168" y="1412776"/>
            <a:ext cx="134989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/>
              <a:t>salary</a:t>
            </a:r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63D9E61-9A1B-94F3-48CF-5FAB7A02FF2A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2913" y="1894367"/>
            <a:ext cx="0" cy="50405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945E1B4-45DE-4A8A-9B08-863E3057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41347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6E36D3D-33DD-4651-84B3-FFCBD62F88F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查询处理步骤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AutoNum type="arabicPeriod" startAt="3"/>
            </a:pPr>
            <a:r>
              <a:rPr lang="zh-CN" altLang="en-US" b="1" dirty="0"/>
              <a:t>查询优化</a:t>
            </a:r>
            <a:r>
              <a:rPr lang="zh-CN" altLang="en-US" dirty="0"/>
              <a:t>：</a:t>
            </a:r>
            <a:r>
              <a:rPr lang="zh-CN" altLang="en-US" sz="2800" dirty="0"/>
              <a:t>选择一个</a:t>
            </a:r>
            <a:r>
              <a:rPr lang="zh-CN" altLang="en-US" sz="2800" dirty="0">
                <a:solidFill>
                  <a:srgbClr val="0000FF"/>
                </a:solidFill>
              </a:rPr>
              <a:t>高效执行</a:t>
            </a:r>
            <a:r>
              <a:rPr lang="zh-CN" altLang="en-US" sz="2800" dirty="0"/>
              <a:t>的</a:t>
            </a:r>
            <a:r>
              <a:rPr lang="zh-CN" altLang="en-US" sz="2800" b="1" dirty="0"/>
              <a:t>查询处理策略</a:t>
            </a:r>
          </a:p>
          <a:p>
            <a:pPr marL="990600" lvl="1" indent="-533400"/>
            <a:r>
              <a:rPr lang="zh-CN" altLang="en-US" dirty="0">
                <a:solidFill>
                  <a:srgbClr val="0000FF"/>
                </a:solidFill>
              </a:rPr>
              <a:t>代数优化 </a:t>
            </a:r>
          </a:p>
          <a:p>
            <a:pPr marL="990600" lvl="1" indent="-533400"/>
            <a:r>
              <a:rPr lang="zh-CN" altLang="en-US" dirty="0">
                <a:solidFill>
                  <a:srgbClr val="0000FF"/>
                </a:solidFill>
              </a:rPr>
              <a:t>物理优化 </a:t>
            </a:r>
            <a:endParaRPr lang="en-US" altLang="zh-CN" dirty="0">
              <a:solidFill>
                <a:srgbClr val="0000FF"/>
              </a:solidFill>
            </a:endParaRPr>
          </a:p>
          <a:p>
            <a:pPr marL="1371600" lvl="2" indent="-457200"/>
            <a:r>
              <a:rPr lang="zh-CN" altLang="en-US" dirty="0"/>
              <a:t>存取路径和底层</a:t>
            </a:r>
            <a:r>
              <a:rPr lang="zh-CN" altLang="en-US" b="1" u="sng" dirty="0"/>
              <a:t>操作算法</a:t>
            </a:r>
            <a:r>
              <a:rPr lang="zh-CN" altLang="en-US" dirty="0"/>
              <a:t>选择 </a:t>
            </a:r>
          </a:p>
          <a:p>
            <a:pPr marL="1371600" lvl="2" indent="-457200"/>
            <a:r>
              <a:rPr lang="en-US" altLang="zh-CN" dirty="0"/>
              <a:t>rule based</a:t>
            </a:r>
            <a:r>
              <a:rPr lang="zh-CN" altLang="en-US" dirty="0"/>
              <a:t>、</a:t>
            </a:r>
            <a:r>
              <a:rPr lang="en-US" altLang="zh-CN" dirty="0"/>
              <a:t>cost based </a:t>
            </a:r>
            <a:r>
              <a:rPr lang="zh-CN" altLang="en-US" dirty="0"/>
              <a:t>和 </a:t>
            </a:r>
            <a:r>
              <a:rPr lang="en-US" altLang="zh-CN" dirty="0"/>
              <a:t>semantic based </a:t>
            </a:r>
          </a:p>
          <a:p>
            <a:pPr marL="990600" lvl="1" indent="-533400"/>
            <a:r>
              <a:rPr lang="zh-CN" altLang="en-US" dirty="0">
                <a:solidFill>
                  <a:srgbClr val="0000FF"/>
                </a:solidFill>
              </a:rPr>
              <a:t>查询代价度量</a:t>
            </a:r>
            <a:r>
              <a:rPr lang="zh-CN" altLang="en-US" dirty="0"/>
              <a:t>：磁盘存取的</a:t>
            </a:r>
            <a:r>
              <a:rPr lang="en-US" altLang="zh-CN" dirty="0"/>
              <a:t>I/O</a:t>
            </a:r>
            <a:r>
              <a:rPr lang="zh-CN" altLang="en-US" dirty="0"/>
              <a:t>代价</a:t>
            </a:r>
          </a:p>
          <a:p>
            <a:pPr marL="609600" indent="-609600">
              <a:buFont typeface="Wingdings" pitchFamily="2" charset="2"/>
              <a:buAutoNum type="arabicPeriod" startAt="4"/>
            </a:pPr>
            <a:endParaRPr lang="zh-CN" altLang="en-US" sz="800" dirty="0"/>
          </a:p>
          <a:p>
            <a:pPr marL="609600" indent="-609600">
              <a:buFont typeface="Wingdings" pitchFamily="2" charset="2"/>
              <a:buAutoNum type="arabicPeriod" startAt="4"/>
            </a:pPr>
            <a:r>
              <a:rPr lang="zh-CN" altLang="en-US" dirty="0"/>
              <a:t>查询执行：</a:t>
            </a:r>
            <a:r>
              <a:rPr lang="zh-CN" altLang="en-US" sz="2800" dirty="0"/>
              <a:t>依据优化器得到的执行策略生成查询执行计划</a:t>
            </a:r>
          </a:p>
          <a:p>
            <a:pPr marL="990600" lvl="1" indent="-533400"/>
            <a:r>
              <a:rPr lang="zh-CN" altLang="en-US" dirty="0"/>
              <a:t>查询计划由</a:t>
            </a:r>
            <a:r>
              <a:rPr lang="en-US" altLang="zh-CN" dirty="0"/>
              <a:t>code generator </a:t>
            </a:r>
            <a:r>
              <a:rPr lang="zh-CN" altLang="en-US" dirty="0"/>
              <a:t>生成</a:t>
            </a:r>
          </a:p>
          <a:p>
            <a:pPr marL="609600" indent="-609600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6A6238-1F2E-4F81-97E8-6952E75F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80667C0-D0E7-4D20-8913-D231DF3EF7F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9.1.2 </a:t>
            </a:r>
            <a:r>
              <a:rPr lang="zh-CN" altLang="en-US" dirty="0"/>
              <a:t>关系代数运算的执行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12.3)</a:t>
            </a:r>
            <a:endParaRPr lang="zh-CN" altLang="en-US" dirty="0"/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933528"/>
          </a:xfrm>
        </p:spPr>
        <p:txBody>
          <a:bodyPr/>
          <a:lstStyle/>
          <a:p>
            <a:r>
              <a:rPr lang="zh-CN" altLang="en-US" dirty="0"/>
              <a:t>实现</a:t>
            </a:r>
            <a:r>
              <a:rPr lang="zh-CN" altLang="en-US" dirty="0">
                <a:solidFill>
                  <a:srgbClr val="FF0000"/>
                </a:solidFill>
              </a:rPr>
              <a:t>选择运算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连接运算</a:t>
            </a:r>
            <a:r>
              <a:rPr lang="zh-CN" altLang="en-US" dirty="0"/>
              <a:t>的算法示例</a:t>
            </a:r>
            <a:endParaRPr lang="en-US" altLang="zh-CN" dirty="0"/>
          </a:p>
          <a:p>
            <a:r>
              <a:rPr lang="zh-CN" altLang="en-US" dirty="0"/>
              <a:t>操作主要考虑</a:t>
            </a:r>
            <a:r>
              <a:rPr lang="en-US" altLang="zh-CN" dirty="0">
                <a:solidFill>
                  <a:srgbClr val="FF0000"/>
                </a:solidFill>
              </a:rPr>
              <a:t>I/O</a:t>
            </a:r>
            <a:r>
              <a:rPr lang="zh-CN" altLang="en-US" dirty="0">
                <a:solidFill>
                  <a:srgbClr val="FF0000"/>
                </a:solidFill>
              </a:rPr>
              <a:t>块数</a:t>
            </a:r>
            <a:r>
              <a:rPr lang="en-US" altLang="zh-CN" dirty="0"/>
              <a:t>(</a:t>
            </a:r>
            <a:r>
              <a:rPr lang="zh-CN" altLang="en-US" dirty="0"/>
              <a:t>相对而言</a:t>
            </a:r>
            <a:r>
              <a:rPr lang="en-US" altLang="zh-CN" dirty="0"/>
              <a:t>CPU</a:t>
            </a:r>
            <a:r>
              <a:rPr lang="zh-CN" altLang="en-US" dirty="0"/>
              <a:t>快</a:t>
            </a:r>
            <a:r>
              <a:rPr lang="en-US" altLang="zh-CN" dirty="0"/>
              <a:t>)</a:t>
            </a:r>
          </a:p>
          <a:p>
            <a:endParaRPr lang="zh-CN" altLang="en-US" sz="800" dirty="0"/>
          </a:p>
          <a:p>
            <a:r>
              <a:rPr lang="zh-CN" altLang="en-US" dirty="0">
                <a:solidFill>
                  <a:srgbClr val="C00000"/>
                </a:solidFill>
              </a:rPr>
              <a:t>选择操作：</a:t>
            </a:r>
            <a:r>
              <a:rPr lang="zh-CN" altLang="en-US" dirty="0"/>
              <a:t>文件扫描和索引的使用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线性搜索方法</a:t>
            </a:r>
            <a:r>
              <a:rPr lang="zh-CN" altLang="en-US" dirty="0"/>
              <a:t>（全表扫描算法）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while (!Found)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{ </a:t>
            </a:r>
            <a:r>
              <a:rPr lang="zh-CN" altLang="en-US" b="1" dirty="0">
                <a:solidFill>
                  <a:srgbClr val="FF0000"/>
                </a:solidFill>
              </a:rPr>
              <a:t>读块</a:t>
            </a:r>
            <a:r>
              <a:rPr lang="zh-CN" altLang="en-US" dirty="0"/>
              <a:t>，</a:t>
            </a:r>
            <a:r>
              <a:rPr lang="en-US" altLang="zh-CN" dirty="0"/>
              <a:t>for each record { Found=</a:t>
            </a:r>
            <a:r>
              <a:rPr lang="zh-CN" altLang="en-US" dirty="0"/>
              <a:t>记录符合选择条件</a:t>
            </a:r>
            <a:r>
              <a:rPr lang="en-US" altLang="zh-CN" dirty="0"/>
              <a:t>}}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二分搜索方法 </a:t>
            </a:r>
            <a:r>
              <a:rPr lang="zh-CN" altLang="en-US" dirty="0"/>
              <a:t>如果被查询的表在</a:t>
            </a:r>
            <a:r>
              <a:rPr lang="zh-CN" altLang="en-US" dirty="0">
                <a:solidFill>
                  <a:srgbClr val="0000FF"/>
                </a:solidFill>
              </a:rPr>
              <a:t>选择属性</a:t>
            </a:r>
            <a:r>
              <a:rPr lang="zh-CN" altLang="en-US" dirty="0"/>
              <a:t>上进行了</a:t>
            </a:r>
            <a:r>
              <a:rPr lang="zh-CN" altLang="en-US" b="1" dirty="0">
                <a:solidFill>
                  <a:srgbClr val="FF0000"/>
                </a:solidFill>
              </a:rPr>
              <a:t>排序</a:t>
            </a:r>
            <a:r>
              <a:rPr lang="zh-CN" altLang="en-US" dirty="0"/>
              <a:t>，可以采用二分搜索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9C0FC97-3CFE-4DA9-8FDD-6DFCE543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10</a:t>
            </a:fld>
            <a:r>
              <a:rPr lang="en-US" altLang="zh-CN"/>
              <a:t>/69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184ABC-AB48-993C-CA78-BDF014A18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915" y="1"/>
            <a:ext cx="4195060" cy="1196752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615B356-BC03-356A-6B07-39AB0652203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804248" y="545354"/>
            <a:ext cx="907491" cy="9944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4EEA3AD-29A6-04F3-02C0-834643F97C08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1739" y="524990"/>
            <a:ext cx="936104" cy="1198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36E7E5C-4558-4ABA-9AA7-FD8FB057CF9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关系代数运算的执行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3200" dirty="0">
                <a:solidFill>
                  <a:srgbClr val="0000FF"/>
                </a:solidFill>
              </a:rPr>
              <a:t>索引扫描方法  </a:t>
            </a:r>
            <a:r>
              <a:rPr lang="zh-CN" altLang="en-US" sz="3200" dirty="0"/>
              <a:t>如果在</a:t>
            </a:r>
            <a:r>
              <a:rPr lang="zh-CN" altLang="en-US" sz="3200" dirty="0">
                <a:solidFill>
                  <a:srgbClr val="FF0000"/>
                </a:solidFill>
              </a:rPr>
              <a:t>选择条件</a:t>
            </a:r>
            <a:r>
              <a:rPr lang="zh-CN" altLang="en-US" sz="3200" dirty="0"/>
              <a:t>上有索引（</a:t>
            </a:r>
            <a:r>
              <a:rPr lang="en-US" altLang="zh-CN" sz="3200" dirty="0"/>
              <a:t>B+</a:t>
            </a:r>
            <a:r>
              <a:rPr lang="zh-CN" altLang="en-US" sz="3200" dirty="0"/>
              <a:t>树索引或</a:t>
            </a:r>
            <a:r>
              <a:rPr lang="en-US" altLang="zh-CN" sz="3200" dirty="0"/>
              <a:t>hash</a:t>
            </a:r>
            <a:r>
              <a:rPr lang="zh-CN" altLang="en-US" sz="3200" dirty="0"/>
              <a:t>索引），可用此法</a:t>
            </a:r>
          </a:p>
          <a:p>
            <a:pPr lvl="2">
              <a:spcBef>
                <a:spcPct val="35000"/>
              </a:spcBef>
            </a:pPr>
            <a:r>
              <a:rPr lang="zh-CN" altLang="en-US" sz="2800" dirty="0"/>
              <a:t>如果</a:t>
            </a:r>
            <a:r>
              <a:rPr lang="zh-CN" altLang="en-US" sz="2800" dirty="0">
                <a:solidFill>
                  <a:srgbClr val="FF0000"/>
                </a:solidFill>
              </a:rPr>
              <a:t>基本表（主文件）顺序</a:t>
            </a:r>
            <a:r>
              <a:rPr lang="zh-CN" altLang="en-US" sz="2800" dirty="0"/>
              <a:t>与</a:t>
            </a:r>
            <a:r>
              <a:rPr lang="zh-CN" altLang="en-US" sz="2800" dirty="0">
                <a:solidFill>
                  <a:srgbClr val="FF0000"/>
                </a:solidFill>
              </a:rPr>
              <a:t>索引顺序一致</a:t>
            </a:r>
            <a:r>
              <a:rPr lang="zh-CN" altLang="en-US" sz="2800" dirty="0"/>
              <a:t>，效果一般较好</a:t>
            </a:r>
          </a:p>
          <a:p>
            <a:pPr lvl="2">
              <a:spcBef>
                <a:spcPct val="35000"/>
              </a:spcBef>
            </a:pPr>
            <a:r>
              <a:rPr lang="en-US" altLang="zh-CN" sz="2800" dirty="0"/>
              <a:t>Hash</a:t>
            </a:r>
            <a:r>
              <a:rPr lang="zh-CN" altLang="en-US" sz="2800" dirty="0"/>
              <a:t>索引一般对</a:t>
            </a:r>
            <a:r>
              <a:rPr lang="zh-CN" altLang="en-US" sz="2800" b="1" dirty="0"/>
              <a:t>点查询</a:t>
            </a:r>
            <a:r>
              <a:rPr lang="zh-CN" altLang="en-US" sz="2800" dirty="0"/>
              <a:t>效果较好</a:t>
            </a:r>
          </a:p>
          <a:p>
            <a:pPr lvl="2">
              <a:spcBef>
                <a:spcPct val="35000"/>
              </a:spcBef>
            </a:pPr>
            <a:r>
              <a:rPr lang="zh-CN" altLang="en-US" sz="2800" dirty="0"/>
              <a:t>在</a:t>
            </a:r>
            <a:r>
              <a:rPr lang="zh-CN" altLang="en-US" sz="2800" b="1" u="sng" dirty="0"/>
              <a:t>选出率较低</a:t>
            </a:r>
            <a:r>
              <a:rPr lang="zh-CN" altLang="en-US" sz="2800" dirty="0"/>
              <a:t>的情况下，</a:t>
            </a:r>
            <a:r>
              <a:rPr lang="en-US" altLang="zh-CN" sz="2800" dirty="0"/>
              <a:t>B+</a:t>
            </a:r>
            <a:r>
              <a:rPr lang="zh-CN" altLang="en-US" sz="2800" dirty="0"/>
              <a:t>树索引一般对点查询和范围查询效果较好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1B79B2-4B74-466F-A119-56A9F5C9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11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E4BBE9EE-20D6-4942-9235-3278D54F7790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9.1.2</a:t>
            </a:r>
            <a:r>
              <a:rPr lang="zh-CN" altLang="en-US" sz="2800" dirty="0"/>
              <a:t>关系代数运算的执行</a:t>
            </a:r>
            <a:br>
              <a:rPr lang="en-US" altLang="zh-CN" sz="2800" dirty="0"/>
            </a:br>
            <a:r>
              <a:rPr lang="zh-CN" altLang="en-US" dirty="0">
                <a:solidFill>
                  <a:srgbClr val="C00000"/>
                </a:solidFill>
              </a:rPr>
              <a:t>连接操作</a:t>
            </a:r>
            <a:r>
              <a:rPr lang="zh-CN" altLang="en-US" dirty="0"/>
              <a:t>（</a:t>
            </a:r>
            <a:r>
              <a:rPr lang="zh-CN" altLang="en-US" b="1" dirty="0"/>
              <a:t>等值连接</a:t>
            </a:r>
            <a:r>
              <a:rPr lang="zh-CN" altLang="en-US" dirty="0"/>
              <a:t>）的实现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嵌套循环方法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for each </a:t>
            </a:r>
            <a:r>
              <a:rPr lang="en-US" altLang="zh-CN" sz="2800" dirty="0"/>
              <a:t>block </a:t>
            </a:r>
            <a:r>
              <a:rPr lang="en-US" altLang="zh-CN" sz="2800" i="1" dirty="0">
                <a:solidFill>
                  <a:srgbClr val="C00000"/>
                </a:solidFill>
              </a:rPr>
              <a:t>B</a:t>
            </a:r>
            <a:r>
              <a:rPr lang="en-US" altLang="zh-CN" i="1" baseline="-25000" dirty="0">
                <a:solidFill>
                  <a:srgbClr val="C00000"/>
                </a:solidFill>
              </a:rPr>
              <a:t>r</a:t>
            </a:r>
            <a:r>
              <a:rPr lang="en-US" altLang="zh-CN" b="1" dirty="0"/>
              <a:t> </a:t>
            </a:r>
            <a:r>
              <a:rPr lang="en-US" altLang="zh-CN" sz="2800" b="1" dirty="0"/>
              <a:t>of</a:t>
            </a:r>
            <a:r>
              <a:rPr lang="en-US" altLang="zh-CN" sz="2800" b="1" i="1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="1" dirty="0"/>
              <a:t> do begin</a:t>
            </a:r>
            <a:br>
              <a:rPr lang="en-US" altLang="zh-CN" sz="2800" b="1" dirty="0"/>
            </a:br>
            <a:r>
              <a:rPr lang="en-US" altLang="zh-CN" sz="2800" b="1" dirty="0"/>
              <a:t>  for each</a:t>
            </a:r>
            <a:r>
              <a:rPr lang="en-US" altLang="zh-CN" sz="2800" dirty="0"/>
              <a:t> block </a:t>
            </a:r>
            <a:r>
              <a:rPr lang="en-US" altLang="zh-CN" sz="2800" i="1" dirty="0" err="1">
                <a:solidFill>
                  <a:srgbClr val="006600"/>
                </a:solidFill>
              </a:rPr>
              <a:t>B</a:t>
            </a:r>
            <a:r>
              <a:rPr lang="en-US" altLang="zh-CN" i="1" baseline="-25000" dirty="0" err="1">
                <a:solidFill>
                  <a:srgbClr val="006600"/>
                </a:solidFill>
              </a:rPr>
              <a:t>s</a:t>
            </a:r>
            <a:r>
              <a:rPr lang="en-US" altLang="zh-CN" b="1" dirty="0"/>
              <a:t> </a:t>
            </a:r>
            <a:r>
              <a:rPr lang="en-US" altLang="zh-CN" sz="2800" b="1" dirty="0"/>
              <a:t>of </a:t>
            </a:r>
            <a:r>
              <a:rPr lang="en-US" altLang="zh-CN" sz="2800" b="1" i="1" dirty="0"/>
              <a:t>s </a:t>
            </a:r>
            <a:r>
              <a:rPr lang="en-US" altLang="zh-CN" sz="2800" b="1" dirty="0"/>
              <a:t>do begin</a:t>
            </a:r>
            <a:br>
              <a:rPr lang="en-US" altLang="zh-CN" sz="2800" b="1" dirty="0"/>
            </a:br>
            <a:r>
              <a:rPr lang="en-US" altLang="zh-CN" sz="2800" b="1" dirty="0"/>
              <a:t>	for </a:t>
            </a:r>
            <a:r>
              <a:rPr lang="en-US" altLang="zh-CN" sz="2800" b="1" dirty="0">
                <a:solidFill>
                  <a:srgbClr val="C00000"/>
                </a:solidFill>
              </a:rPr>
              <a:t>each</a:t>
            </a:r>
            <a:r>
              <a:rPr lang="en-US" altLang="zh-CN" sz="2800" dirty="0">
                <a:solidFill>
                  <a:srgbClr val="C00000"/>
                </a:solidFill>
              </a:rPr>
              <a:t> tuple </a:t>
            </a:r>
            <a:r>
              <a:rPr lang="en-US" altLang="zh-CN" sz="2800" i="1" dirty="0" err="1">
                <a:solidFill>
                  <a:srgbClr val="C00000"/>
                </a:solidFill>
              </a:rPr>
              <a:t>t</a:t>
            </a:r>
            <a:r>
              <a:rPr lang="en-US" altLang="zh-CN" i="1" baseline="-25000" dirty="0" err="1">
                <a:solidFill>
                  <a:srgbClr val="C00000"/>
                </a:solidFill>
              </a:rPr>
              <a:t>r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/>
              <a:t>in </a:t>
            </a:r>
            <a:r>
              <a:rPr lang="en-US" altLang="zh-CN" sz="2800" i="1" dirty="0">
                <a:solidFill>
                  <a:srgbClr val="C00000"/>
                </a:solidFill>
              </a:rPr>
              <a:t>B</a:t>
            </a:r>
            <a:r>
              <a:rPr lang="en-US" altLang="zh-CN" i="1" baseline="-25000" dirty="0">
                <a:solidFill>
                  <a:srgbClr val="C00000"/>
                </a:solidFill>
              </a:rPr>
              <a:t>r</a:t>
            </a:r>
            <a:r>
              <a:rPr lang="en-US" altLang="zh-CN" i="1" baseline="-25000" dirty="0"/>
              <a:t> 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do begin</a:t>
            </a:r>
            <a:br>
              <a:rPr lang="en-US" altLang="zh-CN" sz="2800" b="1" dirty="0"/>
            </a:br>
            <a:r>
              <a:rPr lang="en-US" altLang="zh-CN" sz="2800" b="1" dirty="0"/>
              <a:t>        for </a:t>
            </a:r>
            <a:r>
              <a:rPr lang="en-US" altLang="zh-CN" sz="2800" b="1" dirty="0">
                <a:solidFill>
                  <a:srgbClr val="006600"/>
                </a:solidFill>
              </a:rPr>
              <a:t>each </a:t>
            </a:r>
            <a:r>
              <a:rPr lang="en-US" altLang="zh-CN" sz="2800" dirty="0">
                <a:solidFill>
                  <a:srgbClr val="006600"/>
                </a:solidFill>
              </a:rPr>
              <a:t>tuple </a:t>
            </a:r>
            <a:r>
              <a:rPr lang="en-US" altLang="zh-CN" sz="2800" i="1" dirty="0" err="1">
                <a:solidFill>
                  <a:srgbClr val="006600"/>
                </a:solidFill>
              </a:rPr>
              <a:t>t</a:t>
            </a:r>
            <a:r>
              <a:rPr lang="en-US" altLang="zh-CN" i="1" baseline="-25000" dirty="0" err="1">
                <a:solidFill>
                  <a:srgbClr val="006600"/>
                </a:solidFill>
              </a:rPr>
              <a:t>s</a:t>
            </a:r>
            <a:r>
              <a:rPr lang="en-US" altLang="zh-CN" i="1" dirty="0">
                <a:solidFill>
                  <a:srgbClr val="006600"/>
                </a:solidFill>
              </a:rPr>
              <a:t> </a:t>
            </a:r>
            <a:r>
              <a:rPr lang="en-US" altLang="zh-CN" sz="2800" b="1" dirty="0"/>
              <a:t>in </a:t>
            </a:r>
            <a:r>
              <a:rPr lang="en-US" altLang="zh-CN" sz="2800" i="1" dirty="0" err="1">
                <a:solidFill>
                  <a:srgbClr val="006600"/>
                </a:solidFill>
              </a:rPr>
              <a:t>B</a:t>
            </a:r>
            <a:r>
              <a:rPr lang="en-US" altLang="zh-CN" i="1" baseline="-25000" dirty="0" err="1">
                <a:solidFill>
                  <a:srgbClr val="006600"/>
                </a:solidFill>
              </a:rPr>
              <a:t>s</a:t>
            </a:r>
            <a:r>
              <a:rPr lang="en-US" altLang="zh-CN" sz="2800" i="1" dirty="0">
                <a:solidFill>
                  <a:srgbClr val="006600"/>
                </a:solidFill>
              </a:rPr>
              <a:t> </a:t>
            </a:r>
            <a:r>
              <a:rPr lang="en-US" altLang="zh-CN" sz="2800" b="1" dirty="0"/>
              <a:t>do begin</a:t>
            </a:r>
            <a:br>
              <a:rPr lang="en-US" altLang="zh-CN" sz="2800" b="1" dirty="0"/>
            </a:br>
            <a:r>
              <a:rPr lang="en-US" altLang="zh-CN" sz="2800" b="1" dirty="0"/>
              <a:t>		</a:t>
            </a:r>
            <a:r>
              <a:rPr lang="zh-CN" altLang="en-US" sz="2800" dirty="0"/>
              <a:t>检查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t</a:t>
            </a:r>
            <a:r>
              <a:rPr lang="en-US" altLang="zh-CN" i="1" baseline="-25000" dirty="0" err="1"/>
              <a:t>r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t</a:t>
            </a:r>
            <a:r>
              <a:rPr lang="en-US" altLang="zh-CN" i="1" baseline="-25000" dirty="0" err="1"/>
              <a:t>s</a:t>
            </a:r>
            <a:r>
              <a:rPr lang="en-US" altLang="zh-CN" sz="2800" i="1" dirty="0"/>
              <a:t>) </a:t>
            </a:r>
            <a:r>
              <a:rPr lang="zh-CN" altLang="en-US" sz="2800" dirty="0"/>
              <a:t>是否</a:t>
            </a:r>
            <a:r>
              <a:rPr lang="zh-CN" altLang="en-US" sz="2800" dirty="0">
                <a:solidFill>
                  <a:srgbClr val="0000FF"/>
                </a:solidFill>
              </a:rPr>
              <a:t>满足连接</a:t>
            </a:r>
            <a:r>
              <a:rPr lang="zh-CN" altLang="en-US" sz="2800" dirty="0"/>
              <a:t>条件 </a:t>
            </a:r>
            <a:br>
              <a:rPr lang="zh-CN" altLang="en-US" sz="2800" dirty="0"/>
            </a:br>
            <a:r>
              <a:rPr lang="zh-CN" altLang="en-US" sz="2800" dirty="0"/>
              <a:t>		如果满足</a:t>
            </a:r>
            <a:r>
              <a:rPr lang="en-US" altLang="zh-CN" sz="2800" i="1" dirty="0" err="1">
                <a:solidFill>
                  <a:schemeClr val="tx2"/>
                </a:solidFill>
              </a:rPr>
              <a:t>t</a:t>
            </a:r>
            <a:r>
              <a:rPr lang="en-US" altLang="zh-CN" i="1" baseline="-25000" dirty="0" err="1">
                <a:solidFill>
                  <a:schemeClr val="tx2"/>
                </a:solidFill>
              </a:rPr>
              <a:t>r</a:t>
            </a:r>
            <a:r>
              <a:rPr lang="en-US" altLang="zh-CN" i="1" baseline="300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Arial"/>
                <a:sym typeface="Symbol" pitchFamily="18" charset="2"/>
              </a:rPr>
              <a:t>•</a:t>
            </a:r>
            <a:r>
              <a:rPr lang="en-US" altLang="zh-CN" sz="2800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en-US" altLang="zh-CN" sz="2800" i="1" dirty="0" err="1">
                <a:solidFill>
                  <a:schemeClr val="tx2"/>
                </a:solidFill>
                <a:sym typeface="Symbol" pitchFamily="18" charset="2"/>
              </a:rPr>
              <a:t>t</a:t>
            </a:r>
            <a:r>
              <a:rPr lang="en-US" altLang="zh-CN" i="1" baseline="-25000" dirty="0" err="1">
                <a:solidFill>
                  <a:schemeClr val="tx2"/>
                </a:solidFill>
                <a:sym typeface="Symbol" pitchFamily="18" charset="2"/>
              </a:rPr>
              <a:t>s</a:t>
            </a:r>
            <a:r>
              <a:rPr lang="en-US" altLang="zh-CN" sz="2800" i="1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zh-CN" altLang="en-US" sz="2800" dirty="0">
                <a:sym typeface="Symbol" pitchFamily="18" charset="2"/>
              </a:rPr>
              <a:t>作为</a:t>
            </a:r>
            <a:r>
              <a:rPr lang="zh-CN" altLang="en-US" sz="2800" dirty="0">
                <a:solidFill>
                  <a:schemeClr val="tx2"/>
                </a:solidFill>
                <a:sym typeface="Symbol" pitchFamily="18" charset="2"/>
              </a:rPr>
              <a:t>结果</a:t>
            </a:r>
            <a:br>
              <a:rPr lang="zh-CN" altLang="en-US" sz="2800" dirty="0">
                <a:sym typeface="Symbol" pitchFamily="18" charset="2"/>
              </a:rPr>
            </a:br>
            <a:r>
              <a:rPr lang="zh-CN" altLang="en-US" sz="2800" dirty="0">
                <a:sym typeface="Symbol" pitchFamily="18" charset="2"/>
              </a:rPr>
              <a:t>	   </a:t>
            </a:r>
            <a:r>
              <a:rPr lang="en-US" altLang="zh-CN" sz="2800" b="1" dirty="0">
                <a:sym typeface="Symbol" pitchFamily="18" charset="2"/>
              </a:rPr>
              <a:t>end</a:t>
            </a:r>
            <a:br>
              <a:rPr lang="en-US" altLang="zh-CN" sz="2800" b="1" dirty="0">
                <a:sym typeface="Symbol" pitchFamily="18" charset="2"/>
              </a:rPr>
            </a:br>
            <a:r>
              <a:rPr lang="en-US" altLang="zh-CN" sz="2800" b="1" dirty="0">
                <a:sym typeface="Symbol" pitchFamily="18" charset="2"/>
              </a:rPr>
              <a:t>	end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>
                <a:sym typeface="Symbol" pitchFamily="18" charset="2"/>
              </a:rPr>
              <a:t>	  end</a:t>
            </a:r>
            <a:br>
              <a:rPr lang="en-US" altLang="zh-CN" sz="2800" b="1" dirty="0">
                <a:sym typeface="Symbol" pitchFamily="18" charset="2"/>
              </a:rPr>
            </a:br>
            <a:r>
              <a:rPr lang="en-US" altLang="zh-CN" sz="2800" b="1" dirty="0" err="1">
                <a:sym typeface="Symbol" pitchFamily="18" charset="2"/>
              </a:rPr>
              <a:t>end</a:t>
            </a:r>
            <a:endParaRPr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29F23A-9B59-42CE-A5E7-1422BACF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12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EDC1576-325E-47F3-98E2-FC243A61FDB3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9.1.2</a:t>
            </a:r>
            <a:r>
              <a:rPr lang="zh-CN" altLang="en-US" sz="2800" dirty="0"/>
              <a:t>关系代数运算的执行</a:t>
            </a:r>
            <a:br>
              <a:rPr lang="zh-CN" altLang="en-US" sz="2800" dirty="0"/>
            </a:br>
            <a:r>
              <a:rPr lang="zh-CN" altLang="en-US" dirty="0">
                <a:solidFill>
                  <a:srgbClr val="FF0000"/>
                </a:solidFill>
              </a:rPr>
              <a:t>连接操作</a:t>
            </a:r>
            <a:r>
              <a:rPr lang="zh-CN" altLang="en-US" dirty="0"/>
              <a:t>的实现</a:t>
            </a:r>
          </a:p>
        </p:txBody>
      </p:sp>
      <p:pic>
        <p:nvPicPr>
          <p:cNvPr id="4433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7" t="4520" r="14500" b="4018"/>
          <a:stretch>
            <a:fillRect/>
          </a:stretch>
        </p:blipFill>
        <p:spPr bwMode="auto">
          <a:xfrm>
            <a:off x="4860032" y="1772816"/>
            <a:ext cx="4033837" cy="3286125"/>
          </a:xfrm>
          <a:prstGeom prst="rect">
            <a:avLst/>
          </a:prstGeom>
          <a:noFill/>
          <a:ln w="76200">
            <a:solidFill>
              <a:srgbClr val="00CC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943600" y="5214068"/>
            <a:ext cx="2659702" cy="4247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按连接属性排好序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4876800" cy="47958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归并连接</a:t>
            </a:r>
            <a:r>
              <a:rPr lang="en-US" altLang="zh-CN" dirty="0">
                <a:solidFill>
                  <a:srgbClr val="0000FF"/>
                </a:solidFill>
              </a:rPr>
              <a:t>(merge join)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dirty="0" err="1"/>
              <a:t>pr</a:t>
            </a:r>
            <a:r>
              <a:rPr lang="zh-CN" altLang="en-US" dirty="0"/>
              <a:t>指向</a:t>
            </a:r>
            <a:r>
              <a:rPr lang="en-US" altLang="zh-CN" dirty="0"/>
              <a:t>r</a:t>
            </a:r>
            <a:r>
              <a:rPr lang="zh-CN" altLang="en-US" dirty="0"/>
              <a:t>第一个元组，</a:t>
            </a:r>
            <a:endParaRPr lang="en-US" altLang="zh-CN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ps</a:t>
            </a:r>
            <a:r>
              <a:rPr lang="zh-CN" altLang="en-US" dirty="0"/>
              <a:t>指向</a:t>
            </a:r>
            <a:r>
              <a:rPr lang="en-US" altLang="zh-CN" dirty="0"/>
              <a:t>s</a:t>
            </a:r>
            <a:r>
              <a:rPr lang="zh-CN" altLang="en-US" dirty="0"/>
              <a:t>第一个元组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While</a:t>
            </a:r>
            <a:r>
              <a:rPr lang="zh-CN" altLang="en-US" dirty="0"/>
              <a:t>（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的元组都未处理完）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zh-CN" altLang="en-US" dirty="0"/>
              <a:t>  比较</a:t>
            </a:r>
            <a:r>
              <a:rPr lang="en-US" altLang="zh-CN" dirty="0" err="1"/>
              <a:t>pr</a:t>
            </a:r>
            <a:r>
              <a:rPr lang="zh-CN" altLang="en-US" dirty="0"/>
              <a:t>和</a:t>
            </a:r>
            <a:r>
              <a:rPr lang="en-US" altLang="zh-CN" dirty="0" err="1"/>
              <a:t>ps</a:t>
            </a:r>
            <a:r>
              <a:rPr lang="zh-CN" altLang="en-US" dirty="0"/>
              <a:t>指向的</a:t>
            </a:r>
            <a:r>
              <a:rPr lang="zh-CN" altLang="en-US" dirty="0">
                <a:solidFill>
                  <a:schemeClr val="tx2"/>
                </a:solidFill>
              </a:rPr>
              <a:t>元组</a:t>
            </a:r>
          </a:p>
          <a:p>
            <a:pPr lvl="2">
              <a:lnSpc>
                <a:spcPct val="9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相等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连接</a:t>
            </a:r>
            <a:r>
              <a:rPr lang="zh-CN" altLang="en-US" dirty="0"/>
              <a:t>对应元组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(*(pr+1))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/>
              <a:t>(*(ps+1))</a:t>
            </a:r>
            <a:r>
              <a:rPr lang="zh-CN" altLang="en-US" dirty="0"/>
              <a:t>，</a:t>
            </a:r>
            <a:endParaRPr lang="en-US" altLang="zh-CN" dirty="0"/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C00000"/>
                </a:solidFill>
              </a:rPr>
              <a:t>  pr</a:t>
            </a:r>
            <a:r>
              <a:rPr lang="zh-CN" altLang="en-US" dirty="0">
                <a:solidFill>
                  <a:srgbClr val="C00000"/>
                </a:solidFill>
              </a:rPr>
              <a:t>后移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(*(pr+1))</a:t>
            </a:r>
            <a:r>
              <a:rPr lang="en-US" altLang="zh-CN" dirty="0">
                <a:solidFill>
                  <a:srgbClr val="C00000"/>
                </a:solidFill>
              </a:rPr>
              <a:t>&gt;=</a:t>
            </a:r>
            <a:r>
              <a:rPr lang="en-US" altLang="zh-CN" dirty="0"/>
              <a:t>(*(ps+1))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C00000"/>
                </a:solidFill>
              </a:rPr>
              <a:t>ps</a:t>
            </a:r>
            <a:r>
              <a:rPr lang="zh-CN" altLang="en-US" dirty="0">
                <a:solidFill>
                  <a:srgbClr val="C00000"/>
                </a:solidFill>
              </a:rPr>
              <a:t>后移</a:t>
            </a:r>
          </a:p>
        </p:txBody>
      </p:sp>
      <p:sp>
        <p:nvSpPr>
          <p:cNvPr id="3" name="矩形 2"/>
          <p:cNvSpPr/>
          <p:nvPr/>
        </p:nvSpPr>
        <p:spPr>
          <a:xfrm>
            <a:off x="3995936" y="5949280"/>
            <a:ext cx="5029200" cy="4247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zh-CN" altLang="en-US" dirty="0"/>
              <a:t>适合参与连接的表已排好序的情形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73D5C0-200B-4765-AFB9-127F5544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13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归并连接（了解）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0FC6-ADD2-42D6-BB83-7E4A45FC8051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345488" cy="5562600"/>
          </a:xfrm>
          <a:solidFill>
            <a:schemeClr val="bg1"/>
          </a:solidFill>
        </p:spPr>
        <p:txBody>
          <a:bodyPr/>
          <a:lstStyle/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r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的第一个元组的地址；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s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的第一个元组的地址；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while (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en-US" altLang="zh-CN" sz="2400" dirty="0" err="1">
                <a:solidFill>
                  <a:schemeClr val="tx1"/>
                </a:solidFill>
                <a:ea typeface="楷体_GB2312" pitchFamily="49" charset="-122"/>
              </a:rPr>
              <a:t>≠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null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en-US" altLang="zh-CN" sz="2400" dirty="0" err="1">
                <a:solidFill>
                  <a:schemeClr val="tx1"/>
                </a:solidFill>
                <a:ea typeface="楷体_GB2312" pitchFamily="49" charset="-122"/>
              </a:rPr>
              <a:t>≠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null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 do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begin </a:t>
            </a:r>
            <a:r>
              <a:rPr lang="en-US" altLang="zh-CN" sz="2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:= </a:t>
            </a:r>
            <a:r>
              <a:rPr lang="en-US" altLang="zh-CN" sz="2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所指向的元组；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{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}</a:t>
            </a: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    让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指向关系</a:t>
            </a:r>
            <a:r>
              <a:rPr lang="en-US" altLang="zh-CN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的下一个元组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； </a:t>
            </a:r>
            <a:r>
              <a:rPr lang="en-US" altLang="zh-CN" sz="2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done := false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;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while (not done and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en-US" altLang="zh-CN" sz="2400" dirty="0" err="1">
                <a:solidFill>
                  <a:schemeClr val="tx1"/>
                </a:solidFill>
                <a:ea typeface="楷体_GB2312" pitchFamily="49" charset="-122"/>
              </a:rPr>
              <a:t>≠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null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 do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begin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Times New Roman"/>
                <a:cs typeface="Arial" pitchFamily="34" charset="0"/>
              </a:rPr>
              <a:t>’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:=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所指向的元组；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        if (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/>
                <a:cs typeface="Arial" pitchFamily="34" charset="0"/>
              </a:rPr>
              <a:t>’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[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JoinAttrs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] </a:t>
            </a: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&gt;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[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JoinAttrs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])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        then begin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∪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{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/>
                <a:cs typeface="Arial" pitchFamily="34" charset="0"/>
              </a:rPr>
              <a:t>’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                                让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指向关系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的下一个元组；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                 end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        else done := true</a:t>
            </a: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end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在连接属性上</a:t>
            </a:r>
            <a:r>
              <a:rPr lang="zh-CN" altLang="en-US" sz="2400" dirty="0">
                <a:solidFill>
                  <a:schemeClr val="tx2"/>
                </a:solidFill>
                <a:ea typeface="宋体" pitchFamily="2" charset="-122"/>
              </a:rPr>
              <a:t>具有相同值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元组被加入到了</a:t>
            </a:r>
            <a:r>
              <a:rPr lang="en-US" altLang="zh-CN" sz="2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Ss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中。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指向在</a:t>
            </a:r>
            <a:r>
              <a:rPr lang="zh-CN" altLang="en-US" sz="2400" dirty="0">
                <a:solidFill>
                  <a:schemeClr val="tx2"/>
                </a:solidFill>
                <a:ea typeface="宋体" pitchFamily="2" charset="-122"/>
              </a:rPr>
              <a:t>连接属性上具有另一个值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ea typeface="宋体" pitchFamily="2" charset="-122"/>
              </a:rPr>
              <a:t>元组。)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28BB3E-43EB-4FB2-8255-4EF3CA6C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42104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归并连接（了解）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所指向的元组；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while (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en-US" altLang="zh-CN" sz="2400" dirty="0" err="1">
                <a:solidFill>
                  <a:schemeClr val="tx1"/>
                </a:solidFill>
                <a:ea typeface="楷体_GB2312" pitchFamily="49" charset="-122"/>
              </a:rPr>
              <a:t>≠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null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[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JoinAttrs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] &lt;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[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JoinAttrs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]) do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begin 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让</a:t>
            </a:r>
            <a:r>
              <a:rPr lang="en-US" altLang="zh-CN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指向关系</a:t>
            </a:r>
            <a:r>
              <a:rPr lang="en-US" altLang="zh-CN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的下一个元组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所指向的元组；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end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while (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en-US" altLang="zh-CN" sz="2400" dirty="0" err="1">
                <a:solidFill>
                  <a:schemeClr val="tx1"/>
                </a:solidFill>
                <a:ea typeface="楷体_GB2312" pitchFamily="49" charset="-122"/>
              </a:rPr>
              <a:t>≠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null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[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JoinAttrs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] =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[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JoinAttrs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]) do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begin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for each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Ss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do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begin 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将</a:t>
            </a:r>
            <a:r>
              <a:rPr lang="en-US" altLang="zh-CN" sz="24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altLang="zh-CN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altLang="zh-CN" sz="24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加入结果中；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ea typeface="楷体_GB2312" pitchFamily="49" charset="-122"/>
              </a:rPr>
              <a:t>让</a:t>
            </a:r>
            <a:r>
              <a:rPr lang="en-US" altLang="zh-CN" sz="24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zh-CN" altLang="en-US" sz="2400" dirty="0">
                <a:solidFill>
                  <a:srgbClr val="C00000"/>
                </a:solidFill>
                <a:ea typeface="楷体_GB2312" pitchFamily="49" charset="-122"/>
              </a:rPr>
              <a:t>指向关系</a:t>
            </a:r>
            <a:r>
              <a:rPr lang="en-US" altLang="zh-CN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zh-CN" altLang="en-US" sz="2400" dirty="0">
                <a:solidFill>
                  <a:srgbClr val="C00000"/>
                </a:solidFill>
                <a:ea typeface="楷体_GB2312" pitchFamily="49" charset="-122"/>
              </a:rPr>
              <a:t>的下一个元组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:= </a:t>
            </a:r>
            <a:r>
              <a:rPr lang="en-US" altLang="zh-CN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所指向的元组；</a:t>
            </a:r>
            <a:endParaRPr lang="zh-CN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end</a:t>
            </a:r>
            <a:endParaRPr lang="en-US" altLang="zh-CN" sz="2400" dirty="0">
              <a:solidFill>
                <a:srgbClr val="000000"/>
              </a:solidFill>
              <a:ea typeface="宋体" pitchFamily="2" charset="-122"/>
            </a:endParaRPr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zh-CN" altLang="en-US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6080125" y="3829050"/>
            <a:ext cx="2301875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/>
              <a:t>(在</a:t>
            </a:r>
            <a:r>
              <a:rPr lang="en-US" altLang="zh-CN" b="1" dirty="0">
                <a:latin typeface="Book Antiqua" pitchFamily="18" charset="0"/>
                <a:ea typeface="楷体_GB2312" pitchFamily="49" charset="-122"/>
              </a:rPr>
              <a:t>r</a:t>
            </a:r>
            <a:r>
              <a:rPr lang="zh-CN" altLang="en-US" dirty="0"/>
              <a:t>中前进，将</a:t>
            </a:r>
            <a:r>
              <a:rPr lang="en-US" altLang="zh-CN" b="1" dirty="0">
                <a:latin typeface="Book Antiqua" pitchFamily="18" charset="0"/>
                <a:ea typeface="楷体_GB2312" pitchFamily="49" charset="-122"/>
              </a:rPr>
              <a:t>r</a:t>
            </a:r>
            <a:r>
              <a:rPr lang="zh-CN" altLang="en-US" dirty="0"/>
              <a:t>元组与</a:t>
            </a:r>
            <a:r>
              <a:rPr lang="en-US" altLang="zh-CN" b="1" dirty="0" err="1">
                <a:latin typeface="Book Antiqua" pitchFamily="18" charset="0"/>
                <a:ea typeface="楷体_GB2312" pitchFamily="49" charset="-122"/>
              </a:rPr>
              <a:t>Ss</a:t>
            </a:r>
            <a:r>
              <a:rPr lang="zh-CN" altLang="en-US" dirty="0"/>
              <a:t>中的每个</a:t>
            </a:r>
            <a:r>
              <a:rPr lang="en-US" altLang="zh-CN" b="1" dirty="0">
                <a:latin typeface="Book Antiqua" pitchFamily="18" charset="0"/>
                <a:ea typeface="楷体_GB2312" pitchFamily="49" charset="-122"/>
              </a:rPr>
              <a:t>s</a:t>
            </a:r>
            <a:r>
              <a:rPr lang="zh-CN" altLang="en-US" dirty="0"/>
              <a:t>元组连接，</a:t>
            </a:r>
            <a:r>
              <a:rPr lang="zh-CN" altLang="en-US" dirty="0">
                <a:solidFill>
                  <a:srgbClr val="C00000"/>
                </a:solidFill>
              </a:rPr>
              <a:t>直至</a:t>
            </a:r>
            <a:r>
              <a:rPr lang="en-US" altLang="zh-CN" b="1" dirty="0">
                <a:latin typeface="Book Antiqua" pitchFamily="18" charset="0"/>
                <a:ea typeface="楷体_GB2312" pitchFamily="49" charset="-122"/>
              </a:rPr>
              <a:t>r</a:t>
            </a:r>
            <a:r>
              <a:rPr lang="zh-CN" altLang="en-US" dirty="0"/>
              <a:t>元组中的连接属性值</a:t>
            </a:r>
            <a:r>
              <a:rPr lang="zh-CN" altLang="en-US" b="1" dirty="0">
                <a:solidFill>
                  <a:srgbClr val="C00000"/>
                </a:solidFill>
              </a:rPr>
              <a:t>大于</a:t>
            </a:r>
            <a:r>
              <a:rPr lang="en-US" altLang="zh-CN" b="1" dirty="0">
                <a:latin typeface="Book Antiqua" pitchFamily="18" charset="0"/>
                <a:ea typeface="楷体_GB2312" pitchFamily="49" charset="-122"/>
              </a:rPr>
              <a:t>s</a:t>
            </a:r>
            <a:r>
              <a:rPr lang="zh-CN" altLang="en-US" dirty="0"/>
              <a:t>元组的连接属性值。)</a:t>
            </a:r>
            <a:endParaRPr lang="en-US" altLang="zh-CN" dirty="0"/>
          </a:p>
        </p:txBody>
      </p:sp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6781800" y="76200"/>
            <a:ext cx="20574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(</a:t>
            </a:r>
            <a:r>
              <a:rPr lang="zh-CN" altLang="en-US" dirty="0"/>
              <a:t>在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r</a:t>
            </a:r>
            <a:r>
              <a:rPr lang="zh-CN" altLang="en-US" dirty="0"/>
              <a:t>中跳过中</a:t>
            </a:r>
            <a:r>
              <a:rPr lang="zh-CN" altLang="en-US" dirty="0">
                <a:solidFill>
                  <a:schemeClr val="tx2"/>
                </a:solidFill>
              </a:rPr>
              <a:t>不能</a:t>
            </a:r>
            <a:r>
              <a:rPr lang="zh-CN" altLang="en-US" dirty="0"/>
              <a:t>与</a:t>
            </a:r>
            <a:r>
              <a:rPr lang="en-US" altLang="zh-CN" dirty="0" err="1">
                <a:latin typeface="Arial" pitchFamily="34" charset="0"/>
                <a:cs typeface="Arial" pitchFamily="34" charset="0"/>
              </a:rPr>
              <a:t>Ss</a:t>
            </a:r>
            <a:r>
              <a:rPr lang="zh-CN" altLang="en-US" dirty="0"/>
              <a:t>中的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s</a:t>
            </a:r>
            <a:r>
              <a:rPr lang="zh-CN" altLang="en-US" dirty="0"/>
              <a:t>元组</a:t>
            </a:r>
            <a:r>
              <a:rPr lang="zh-CN" altLang="en-US" dirty="0">
                <a:solidFill>
                  <a:schemeClr val="tx2"/>
                </a:solidFill>
              </a:rPr>
              <a:t>匹配的</a:t>
            </a:r>
            <a:r>
              <a:rPr lang="en-US" altLang="zh-CN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zh-CN" altLang="en-US" dirty="0">
                <a:solidFill>
                  <a:schemeClr val="tx2"/>
                </a:solidFill>
              </a:rPr>
              <a:t>元组</a:t>
            </a:r>
            <a:r>
              <a:rPr lang="zh-CN" altLang="en-US" dirty="0"/>
              <a:t>。</a:t>
            </a:r>
            <a:r>
              <a:rPr lang="en-US" altLang="zh-CN" dirty="0"/>
              <a:t>)</a:t>
            </a:r>
          </a:p>
        </p:txBody>
      </p:sp>
      <p:sp>
        <p:nvSpPr>
          <p:cNvPr id="193542" name="Line 6"/>
          <p:cNvSpPr>
            <a:spLocks noChangeShapeType="1"/>
          </p:cNvSpPr>
          <p:nvPr/>
        </p:nvSpPr>
        <p:spPr bwMode="auto">
          <a:xfrm flipH="1">
            <a:off x="5410200" y="838200"/>
            <a:ext cx="1447800" cy="914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3543" name="Line 7"/>
          <p:cNvSpPr>
            <a:spLocks noChangeShapeType="1"/>
          </p:cNvSpPr>
          <p:nvPr/>
        </p:nvSpPr>
        <p:spPr bwMode="auto">
          <a:xfrm flipH="1">
            <a:off x="3962400" y="4038600"/>
            <a:ext cx="205740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3544" name="AutoShape 8"/>
          <p:cNvSpPr>
            <a:spLocks noChangeArrowheads="1"/>
          </p:cNvSpPr>
          <p:nvPr/>
        </p:nvSpPr>
        <p:spPr bwMode="auto">
          <a:xfrm rot="5400000">
            <a:off x="2857500" y="4746171"/>
            <a:ext cx="228600" cy="304800"/>
          </a:xfrm>
          <a:prstGeom prst="flowChartCollat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CC71-B764-4CB1-965B-9696B71A4E5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205AD3-24BD-4EC0-BF61-8718855F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64264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5FE96DB3-EB9C-41F8-9179-78BBE8D534E4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/>
              <a:t>9.1.2 </a:t>
            </a:r>
            <a:r>
              <a:rPr lang="zh-CN" altLang="en-US" sz="2800"/>
              <a:t>实现查询操作的算法示例</a:t>
            </a:r>
            <a:br>
              <a:rPr lang="zh-CN" altLang="en-US" sz="2800"/>
            </a:br>
            <a:r>
              <a:rPr lang="zh-CN" altLang="en-US"/>
              <a:t>连接操作的实现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索引连接法</a:t>
            </a:r>
            <a:r>
              <a:rPr lang="en-US" altLang="zh-CN" dirty="0">
                <a:solidFill>
                  <a:srgbClr val="0000FF"/>
                </a:solidFill>
              </a:rPr>
              <a:t>(index join) 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如果</a:t>
            </a:r>
            <a:r>
              <a:rPr lang="en-US" altLang="zh-CN" dirty="0"/>
              <a:t>s</a:t>
            </a:r>
            <a:r>
              <a:rPr lang="zh-CN" altLang="en-US" dirty="0"/>
              <a:t>在连接属性上没有索引，建立</a:t>
            </a:r>
            <a:r>
              <a:rPr lang="zh-CN" altLang="en-US" dirty="0">
                <a:solidFill>
                  <a:schemeClr val="tx2"/>
                </a:solidFill>
              </a:rPr>
              <a:t>索引</a:t>
            </a:r>
            <a:r>
              <a:rPr lang="zh-CN" altLang="en-US" dirty="0"/>
              <a:t> 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对</a:t>
            </a:r>
            <a:r>
              <a:rPr lang="en-US" altLang="zh-CN" dirty="0"/>
              <a:t>r</a:t>
            </a:r>
            <a:r>
              <a:rPr lang="zh-CN" altLang="en-US" dirty="0"/>
              <a:t>中每一元组，由</a:t>
            </a:r>
            <a:r>
              <a:rPr lang="en-US" altLang="zh-CN" dirty="0"/>
              <a:t>s</a:t>
            </a:r>
            <a:r>
              <a:rPr lang="zh-CN" altLang="en-US" dirty="0"/>
              <a:t>上连接属性的索引查找对应的元组 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连接对应元组 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87E8F8-4029-444D-A4E7-608790B3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FA928A04-5415-4DD3-9533-6FEC2F3E125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9.1.2</a:t>
            </a:r>
            <a:r>
              <a:rPr lang="zh-CN" altLang="en-US" sz="2800" dirty="0"/>
              <a:t>关系代数运算的执行</a:t>
            </a:r>
            <a:br>
              <a:rPr lang="en-US" altLang="zh-CN" sz="2800" dirty="0"/>
            </a:br>
            <a:r>
              <a:rPr lang="zh-CN" altLang="en-US" dirty="0"/>
              <a:t>连接操作的实现</a:t>
            </a:r>
          </a:p>
        </p:txBody>
      </p:sp>
      <p:pic>
        <p:nvPicPr>
          <p:cNvPr id="445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3" t="3531" r="13239" b="13577"/>
          <a:stretch>
            <a:fillRect/>
          </a:stretch>
        </p:blipFill>
        <p:spPr bwMode="auto">
          <a:xfrm>
            <a:off x="4114800" y="1484313"/>
            <a:ext cx="4927600" cy="4714875"/>
          </a:xfrm>
          <a:prstGeom prst="rect">
            <a:avLst/>
          </a:prstGeom>
          <a:noFill/>
          <a:ln w="76200">
            <a:solidFill>
              <a:srgbClr val="00CC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3581400" cy="4684713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Hash</a:t>
            </a:r>
            <a:r>
              <a:rPr lang="zh-CN" altLang="en-US" dirty="0">
                <a:solidFill>
                  <a:srgbClr val="0000FF"/>
                </a:solidFill>
              </a:rPr>
              <a:t>连接</a:t>
            </a:r>
          </a:p>
          <a:p>
            <a:pPr lvl="1"/>
            <a:r>
              <a:rPr lang="zh-CN" altLang="en-US" dirty="0"/>
              <a:t>划分阶段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400" dirty="0"/>
              <a:t>(</a:t>
            </a:r>
            <a:r>
              <a:rPr lang="zh-CN" altLang="en-US" sz="2400" dirty="0"/>
              <a:t>连接属性作为</a:t>
            </a:r>
            <a:r>
              <a:rPr lang="en-US" altLang="zh-CN" sz="2400" dirty="0"/>
              <a:t>hash</a:t>
            </a:r>
            <a:r>
              <a:rPr lang="zh-CN" altLang="en-US" sz="2400" dirty="0"/>
              <a:t>码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lvl="1">
              <a:buFont typeface="Wingdings" pitchFamily="2" charset="2"/>
              <a:buNone/>
            </a:pPr>
            <a:r>
              <a:rPr lang="zh-CN" altLang="en-US" dirty="0"/>
              <a:t>只有在相同桶号中的元组才能被连接（大划小）</a:t>
            </a:r>
          </a:p>
          <a:p>
            <a:pPr lvl="1"/>
            <a:r>
              <a:rPr lang="zh-CN" altLang="en-US" dirty="0"/>
              <a:t>探查阶段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(probing phase)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119E0D-4904-4019-9EC1-37007F7C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0A8B277-B829-4BA0-8D4D-92C40DF3FEE8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9.1 </a:t>
            </a:r>
            <a:r>
              <a:rPr lang="zh-CN" altLang="en-US"/>
              <a:t>关系数据库系统的查询处理</a:t>
            </a:r>
          </a:p>
          <a:p>
            <a:r>
              <a:rPr lang="en-US" altLang="zh-CN"/>
              <a:t>9.2 </a:t>
            </a:r>
            <a:r>
              <a:rPr lang="zh-CN" altLang="en-US"/>
              <a:t>关系数据库系统的查询优化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9.3 </a:t>
            </a:r>
            <a:r>
              <a:rPr lang="zh-CN" altLang="en-US"/>
              <a:t>代数优化</a:t>
            </a:r>
          </a:p>
          <a:p>
            <a:r>
              <a:rPr lang="en-US" altLang="zh-CN"/>
              <a:t>9.4 </a:t>
            </a:r>
            <a:r>
              <a:rPr lang="zh-CN" altLang="en-US"/>
              <a:t>物理优化</a:t>
            </a:r>
          </a:p>
        </p:txBody>
      </p:sp>
      <p:sp>
        <p:nvSpPr>
          <p:cNvPr id="486404" name="AutoShape 4"/>
          <p:cNvSpPr>
            <a:spLocks noChangeArrowheads="1"/>
          </p:cNvSpPr>
          <p:nvPr/>
        </p:nvSpPr>
        <p:spPr bwMode="auto">
          <a:xfrm>
            <a:off x="838200" y="22860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417AE9-DE30-42B7-9CE7-BC6A9EAF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A53C6B4A-EDBE-440A-80B6-F4367C347AB9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9.2 </a:t>
            </a:r>
            <a:r>
              <a:rPr lang="zh-CN" altLang="en-US"/>
              <a:t>关系数据库系统的查询优化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82880" cy="46847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思想：由</a:t>
            </a:r>
            <a:r>
              <a:rPr lang="zh-CN" altLang="en-US" b="1" dirty="0">
                <a:solidFill>
                  <a:schemeClr val="tx2"/>
                </a:solidFill>
              </a:rPr>
              <a:t>系统</a:t>
            </a:r>
            <a:r>
              <a:rPr lang="zh-CN" altLang="en-US" dirty="0"/>
              <a:t>代替用户优化。</a:t>
            </a:r>
          </a:p>
          <a:p>
            <a:r>
              <a:rPr lang="zh-CN" altLang="en-US" u="sng" dirty="0"/>
              <a:t>关系查询优化是影响</a:t>
            </a:r>
            <a:r>
              <a:rPr lang="en-US" altLang="zh-CN" u="sng" dirty="0"/>
              <a:t>RDBMS</a:t>
            </a:r>
            <a:r>
              <a:rPr lang="zh-CN" altLang="en-US" u="sng" dirty="0"/>
              <a:t>性能的关键因素</a:t>
            </a:r>
            <a:r>
              <a:rPr lang="zh-CN" altLang="en-US" dirty="0"/>
              <a:t>。关系系统的查询优化既是</a:t>
            </a:r>
            <a:r>
              <a:rPr lang="en-US" altLang="zh-CN" dirty="0">
                <a:solidFill>
                  <a:srgbClr val="C00000"/>
                </a:solidFill>
              </a:rPr>
              <a:t>RDBMS</a:t>
            </a:r>
            <a:r>
              <a:rPr lang="zh-CN" altLang="en-US" dirty="0">
                <a:solidFill>
                  <a:srgbClr val="C00000"/>
                </a:solidFill>
              </a:rPr>
              <a:t>实现的关键技术</a:t>
            </a:r>
            <a:r>
              <a:rPr lang="zh-CN" altLang="en-US" dirty="0"/>
              <a:t>又是</a:t>
            </a:r>
            <a:r>
              <a:rPr lang="zh-CN" altLang="en-US" dirty="0">
                <a:solidFill>
                  <a:srgbClr val="C00000"/>
                </a:solidFill>
              </a:rPr>
              <a:t>关系系统的优点所在</a:t>
            </a:r>
            <a:r>
              <a:rPr lang="zh-CN" altLang="en-US" dirty="0"/>
              <a:t>。它减轻了用户选择存取路径的负担。用户只要提出</a:t>
            </a:r>
            <a:r>
              <a:rPr lang="zh-CN" altLang="en-US" dirty="0">
                <a:latin typeface="Arial"/>
              </a:rPr>
              <a:t>‘</a:t>
            </a:r>
            <a:r>
              <a:rPr lang="zh-CN" altLang="en-US" dirty="0"/>
              <a:t>干什么</a:t>
            </a:r>
            <a:r>
              <a:rPr lang="zh-CN" altLang="en-US" dirty="0">
                <a:latin typeface="Arial"/>
              </a:rPr>
              <a:t>’</a:t>
            </a:r>
            <a:r>
              <a:rPr lang="zh-CN" altLang="en-US" dirty="0"/>
              <a:t>，不必指出</a:t>
            </a:r>
            <a:r>
              <a:rPr lang="zh-CN" altLang="en-US" dirty="0">
                <a:latin typeface="Arial"/>
              </a:rPr>
              <a:t>‘</a:t>
            </a:r>
            <a:r>
              <a:rPr lang="zh-CN" altLang="en-US" dirty="0"/>
              <a:t>怎么干</a:t>
            </a:r>
            <a:r>
              <a:rPr lang="zh-CN" altLang="en-US" dirty="0">
                <a:latin typeface="Arial"/>
              </a:rPr>
              <a:t>’</a:t>
            </a:r>
            <a:r>
              <a:rPr lang="zh-CN" altLang="en-US" dirty="0"/>
              <a:t>。 </a:t>
            </a:r>
          </a:p>
          <a:p>
            <a:r>
              <a:rPr lang="zh-CN" altLang="en-US" dirty="0"/>
              <a:t>查询优化的优点</a:t>
            </a:r>
            <a:r>
              <a:rPr lang="zh-CN" altLang="en-US" dirty="0">
                <a:solidFill>
                  <a:schemeClr val="tx2"/>
                </a:solidFill>
              </a:rPr>
              <a:t>不仅在于用户不必考虑如何最好地表达查询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chemeClr val="tx2"/>
                </a:solidFill>
              </a:rPr>
              <a:t>获得较好的效率</a:t>
            </a:r>
            <a:r>
              <a:rPr lang="zh-CN" altLang="en-US" dirty="0"/>
              <a:t>，而且在于</a:t>
            </a:r>
            <a:r>
              <a:rPr lang="zh-CN" altLang="en-US" dirty="0">
                <a:solidFill>
                  <a:srgbClr val="FF0000"/>
                </a:solidFill>
              </a:rPr>
              <a:t>系统可以</a:t>
            </a:r>
            <a:r>
              <a:rPr lang="zh-CN" altLang="en-US" dirty="0"/>
              <a:t>比</a:t>
            </a:r>
            <a:r>
              <a:rPr lang="zh-CN" altLang="en-US" dirty="0">
                <a:solidFill>
                  <a:srgbClr val="FF0000"/>
                </a:solidFill>
              </a:rPr>
              <a:t>用户程序的“优化”</a:t>
            </a:r>
            <a:r>
              <a:rPr lang="zh-CN" altLang="en-US" dirty="0"/>
              <a:t>做得</a:t>
            </a:r>
            <a:r>
              <a:rPr lang="zh-CN" altLang="en-US" dirty="0">
                <a:solidFill>
                  <a:srgbClr val="FF0000"/>
                </a:solidFill>
              </a:rPr>
              <a:t>更好</a:t>
            </a:r>
            <a:r>
              <a:rPr lang="zh-CN" altLang="en-US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535BF1-09BD-422F-9F41-AA12282C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19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F0E21A84-D66F-49D2-AA51-FF77E95AE8B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从实例看查询优化的意义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600" dirty="0"/>
              <a:t>此查询求选了</a:t>
            </a:r>
            <a:r>
              <a:rPr lang="en-US" altLang="zh-CN" sz="2600" dirty="0"/>
              <a:t>2</a:t>
            </a:r>
            <a:r>
              <a:rPr lang="zh-CN" altLang="en-US" sz="2600" dirty="0"/>
              <a:t>号课程的学生姓名。</a:t>
            </a:r>
          </a:p>
          <a:p>
            <a:r>
              <a:rPr lang="en-US" altLang="zh-CN" sz="2600" dirty="0"/>
              <a:t>SELECT </a:t>
            </a:r>
            <a:r>
              <a:rPr lang="en-US" altLang="zh-CN" sz="2600" dirty="0" err="1"/>
              <a:t>Student.Sname</a:t>
            </a:r>
            <a:r>
              <a:rPr lang="en-US" altLang="zh-CN" sz="2600" dirty="0"/>
              <a:t> </a:t>
            </a:r>
            <a:br>
              <a:rPr lang="en-US" altLang="zh-CN" sz="2600" dirty="0"/>
            </a:br>
            <a:r>
              <a:rPr lang="en-US" altLang="zh-CN" sz="2600" dirty="0"/>
              <a:t>FROM Student, SC </a:t>
            </a:r>
            <a:br>
              <a:rPr lang="en-US" altLang="zh-CN" sz="2600" dirty="0"/>
            </a:br>
            <a:r>
              <a:rPr lang="en-US" altLang="zh-CN" sz="2600" dirty="0"/>
              <a:t>WHERE </a:t>
            </a:r>
            <a:r>
              <a:rPr lang="en-US" altLang="zh-CN" sz="2600" dirty="0" err="1">
                <a:solidFill>
                  <a:srgbClr val="006600"/>
                </a:solidFill>
              </a:rPr>
              <a:t>Student.Sno</a:t>
            </a:r>
            <a:r>
              <a:rPr lang="en-US" altLang="zh-CN" sz="2600" dirty="0">
                <a:solidFill>
                  <a:srgbClr val="006600"/>
                </a:solidFill>
              </a:rPr>
              <a:t>=</a:t>
            </a:r>
            <a:r>
              <a:rPr lang="en-US" altLang="zh-CN" sz="2600" dirty="0" err="1">
                <a:solidFill>
                  <a:srgbClr val="006600"/>
                </a:solidFill>
              </a:rPr>
              <a:t>SC.Sno</a:t>
            </a:r>
            <a:r>
              <a:rPr lang="en-US" altLang="zh-CN" sz="2600" dirty="0">
                <a:solidFill>
                  <a:srgbClr val="006600"/>
                </a:solidFill>
              </a:rPr>
              <a:t> AND </a:t>
            </a:r>
            <a:r>
              <a:rPr lang="en-US" altLang="zh-CN" sz="2600" dirty="0" err="1">
                <a:solidFill>
                  <a:srgbClr val="006600"/>
                </a:solidFill>
              </a:rPr>
              <a:t>SC.Cno</a:t>
            </a:r>
            <a:r>
              <a:rPr lang="en-US" altLang="zh-CN" sz="2600" dirty="0">
                <a:solidFill>
                  <a:srgbClr val="006600"/>
                </a:solidFill>
              </a:rPr>
              <a:t>=‘2’</a:t>
            </a:r>
            <a:r>
              <a:rPr lang="en-US" altLang="zh-CN" sz="2600" dirty="0"/>
              <a:t>;</a:t>
            </a:r>
          </a:p>
          <a:p>
            <a:endParaRPr lang="en-US" altLang="zh-CN" sz="2600" dirty="0"/>
          </a:p>
          <a:p>
            <a:r>
              <a:rPr lang="zh-CN" altLang="en-US" sz="2600" dirty="0"/>
              <a:t>有以下三个等价的关系代数表达式可完成此查询：</a:t>
            </a:r>
          </a:p>
          <a:p>
            <a:pPr lvl="1"/>
            <a:r>
              <a:rPr lang="en-US" altLang="zh-CN" sz="2600" b="1" dirty="0"/>
              <a:t>Q1=</a:t>
            </a:r>
            <a:r>
              <a:rPr lang="en-US" altLang="zh-CN" sz="2600" b="1" dirty="0" err="1">
                <a:latin typeface="宋体" pitchFamily="2" charset="-122"/>
              </a:rPr>
              <a:t>п</a:t>
            </a:r>
            <a:r>
              <a:rPr lang="en-US" altLang="zh-CN" sz="2600" b="1" baseline="-15000" dirty="0" err="1"/>
              <a:t>Sname</a:t>
            </a:r>
            <a:r>
              <a:rPr lang="en-US" altLang="zh-CN" sz="2600" b="1" dirty="0"/>
              <a:t>(</a:t>
            </a:r>
            <a:r>
              <a:rPr lang="en-US" altLang="zh-CN" sz="2600" b="1" dirty="0" err="1">
                <a:latin typeface="宋体" pitchFamily="2" charset="-122"/>
              </a:rPr>
              <a:t>δ</a:t>
            </a:r>
            <a:r>
              <a:rPr lang="en-US" altLang="zh-CN" sz="2600" b="1" baseline="-15000" dirty="0" err="1">
                <a:solidFill>
                  <a:srgbClr val="0000FF"/>
                </a:solidFill>
              </a:rPr>
              <a:t>Student.sno</a:t>
            </a:r>
            <a:r>
              <a:rPr lang="en-US" altLang="zh-CN" sz="2600" b="1" baseline="-15000" dirty="0">
                <a:solidFill>
                  <a:srgbClr val="0000FF"/>
                </a:solidFill>
              </a:rPr>
              <a:t>=</a:t>
            </a:r>
            <a:r>
              <a:rPr lang="en-US" altLang="zh-CN" sz="2600" b="1" baseline="-15000" dirty="0" err="1">
                <a:solidFill>
                  <a:srgbClr val="0000FF"/>
                </a:solidFill>
              </a:rPr>
              <a:t>sc.sno</a:t>
            </a:r>
            <a:r>
              <a:rPr lang="en-US" altLang="zh-CN" sz="2600" b="1" baseline="-15000" dirty="0" err="1"/>
              <a:t>∧sc.cno</a:t>
            </a:r>
            <a:r>
              <a:rPr lang="en-US" altLang="zh-CN" sz="2600" b="1" baseline="-15000" dirty="0"/>
              <a:t>='2'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Student</a:t>
            </a:r>
            <a:r>
              <a:rPr lang="en-US" altLang="zh-CN" sz="2600" b="1" dirty="0" err="1">
                <a:solidFill>
                  <a:schemeClr val="tx2"/>
                </a:solidFill>
              </a:rPr>
              <a:t>×</a:t>
            </a:r>
            <a:r>
              <a:rPr lang="en-US" altLang="zh-CN" sz="2600" b="1" dirty="0" err="1"/>
              <a:t>SC</a:t>
            </a:r>
            <a:r>
              <a:rPr lang="en-US" altLang="zh-CN" sz="2600" b="1" dirty="0"/>
              <a:t>)) </a:t>
            </a:r>
          </a:p>
          <a:p>
            <a:pPr lvl="1"/>
            <a:r>
              <a:rPr lang="en-US" altLang="zh-CN" sz="2600" b="1" dirty="0"/>
              <a:t>Q2=</a:t>
            </a:r>
            <a:r>
              <a:rPr lang="en-US" altLang="zh-CN" sz="2600" b="1" dirty="0" err="1">
                <a:latin typeface="宋体" pitchFamily="2" charset="-122"/>
              </a:rPr>
              <a:t>п</a:t>
            </a:r>
            <a:r>
              <a:rPr lang="en-US" altLang="zh-CN" sz="2600" b="1" baseline="-15000" dirty="0" err="1"/>
              <a:t>Sname</a:t>
            </a:r>
            <a:r>
              <a:rPr lang="en-US" altLang="zh-CN" sz="2600" b="1" dirty="0"/>
              <a:t>(</a:t>
            </a:r>
            <a:r>
              <a:rPr lang="en-US" altLang="zh-CN" sz="2600" b="1" dirty="0">
                <a:latin typeface="宋体" pitchFamily="2" charset="-122"/>
              </a:rPr>
              <a:t>δ</a:t>
            </a:r>
            <a:r>
              <a:rPr lang="en-US" altLang="zh-CN" sz="2600" b="1" dirty="0"/>
              <a:t> </a:t>
            </a:r>
            <a:r>
              <a:rPr lang="en-US" altLang="zh-CN" sz="2600" b="1" baseline="-15000" dirty="0" err="1"/>
              <a:t>sc.cno</a:t>
            </a:r>
            <a:r>
              <a:rPr lang="en-US" altLang="zh-CN" sz="2600" b="1" baseline="-15000" dirty="0"/>
              <a:t>='2' </a:t>
            </a:r>
            <a:r>
              <a:rPr lang="en-US" altLang="zh-CN" sz="2600" b="1" dirty="0"/>
              <a:t>(Student     SC)) </a:t>
            </a:r>
          </a:p>
          <a:p>
            <a:pPr lvl="1"/>
            <a:r>
              <a:rPr lang="en-US" altLang="zh-CN" sz="2600" b="1" dirty="0"/>
              <a:t>Q3=</a:t>
            </a:r>
            <a:r>
              <a:rPr lang="en-US" altLang="zh-CN" sz="2600" b="1" dirty="0" err="1">
                <a:latin typeface="宋体" pitchFamily="2" charset="-122"/>
              </a:rPr>
              <a:t>п</a:t>
            </a:r>
            <a:r>
              <a:rPr lang="en-US" altLang="zh-CN" sz="2600" b="1" baseline="-15000" dirty="0" err="1"/>
              <a:t>Sname</a:t>
            </a:r>
            <a:r>
              <a:rPr lang="en-US" altLang="zh-CN" sz="2600" b="1" dirty="0"/>
              <a:t>(Student     </a:t>
            </a:r>
            <a:r>
              <a:rPr lang="en-US" altLang="zh-CN" sz="2600" b="1" dirty="0" err="1">
                <a:solidFill>
                  <a:srgbClr val="FF0000"/>
                </a:solidFill>
                <a:latin typeface="宋体" pitchFamily="2" charset="-122"/>
              </a:rPr>
              <a:t>δ</a:t>
            </a:r>
            <a:r>
              <a:rPr lang="en-US" altLang="zh-CN" sz="2600" b="1" baseline="-25000" dirty="0" err="1"/>
              <a:t>sc.cno</a:t>
            </a:r>
            <a:r>
              <a:rPr lang="en-US" altLang="zh-CN" sz="2600" b="1" baseline="-25000" dirty="0"/>
              <a:t>='2'</a:t>
            </a:r>
            <a:r>
              <a:rPr lang="en-US" altLang="zh-CN" sz="2600" b="1" dirty="0"/>
              <a:t>(SC))</a:t>
            </a:r>
            <a:endParaRPr lang="zh-CN" altLang="en-US" sz="2600" b="1" dirty="0"/>
          </a:p>
        </p:txBody>
      </p:sp>
      <p:sp>
        <p:nvSpPr>
          <p:cNvPr id="447493" name="AutoShape 5"/>
          <p:cNvSpPr>
            <a:spLocks noChangeArrowheads="1"/>
          </p:cNvSpPr>
          <p:nvPr/>
        </p:nvSpPr>
        <p:spPr bwMode="auto">
          <a:xfrm rot="5521025">
            <a:off x="6625494" y="5076602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521025">
            <a:off x="4880706" y="5565837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52B416-F911-4722-9C94-3BB43E9F6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35182"/>
            <a:ext cx="5076056" cy="150190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F0081-F590-4EB8-8D35-EFD1A160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20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7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7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3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85CDC2F-69DA-44D8-AD6D-EBC4DDE3BB4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从实例看查询优化的意义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假设：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只计</a:t>
            </a:r>
            <a:r>
              <a:rPr lang="en-US" altLang="zh-CN" dirty="0"/>
              <a:t>I/O</a:t>
            </a:r>
            <a:r>
              <a:rPr lang="zh-CN" altLang="en-US" dirty="0"/>
              <a:t>时间，不计</a:t>
            </a:r>
            <a:r>
              <a:rPr lang="en-US" altLang="zh-CN" dirty="0"/>
              <a:t>CPU</a:t>
            </a:r>
            <a:r>
              <a:rPr lang="zh-CN" altLang="en-US" dirty="0"/>
              <a:t>时间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每个</a:t>
            </a:r>
            <a:r>
              <a:rPr lang="zh-CN" altLang="en-US" dirty="0">
                <a:solidFill>
                  <a:srgbClr val="0000FF"/>
                </a:solidFill>
              </a:rPr>
              <a:t>内存块</a:t>
            </a:r>
            <a:r>
              <a:rPr lang="zh-CN" altLang="en-US" dirty="0"/>
              <a:t>能装</a:t>
            </a:r>
            <a:r>
              <a:rPr lang="en-US" altLang="zh-CN" dirty="0">
                <a:solidFill>
                  <a:srgbClr val="0000FF"/>
                </a:solidFill>
              </a:rPr>
              <a:t>10</a:t>
            </a:r>
            <a:r>
              <a:rPr lang="zh-CN" altLang="en-US" dirty="0"/>
              <a:t>个</a:t>
            </a:r>
            <a:r>
              <a:rPr lang="en-US" altLang="zh-CN" dirty="0"/>
              <a:t>Student</a:t>
            </a:r>
            <a:r>
              <a:rPr lang="zh-CN" altLang="en-US" dirty="0"/>
              <a:t>元组</a:t>
            </a:r>
            <a:r>
              <a:rPr lang="zh-CN" altLang="en-US" b="1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0000FF"/>
                </a:solidFill>
              </a:rPr>
              <a:t>100</a:t>
            </a:r>
            <a:r>
              <a:rPr lang="zh-CN" altLang="en-US" dirty="0"/>
              <a:t>个</a:t>
            </a:r>
            <a:r>
              <a:rPr lang="en-US" altLang="zh-CN" dirty="0"/>
              <a:t>SC</a:t>
            </a:r>
            <a:r>
              <a:rPr lang="zh-CN" altLang="en-US" dirty="0"/>
              <a:t>元组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系统</a:t>
            </a:r>
            <a:r>
              <a:rPr lang="zh-CN" altLang="en-US" dirty="0">
                <a:solidFill>
                  <a:srgbClr val="FF0000"/>
                </a:solidFill>
              </a:rPr>
              <a:t>每秒读写</a:t>
            </a:r>
            <a:r>
              <a:rPr lang="en-US" altLang="zh-CN" dirty="0">
                <a:solidFill>
                  <a:srgbClr val="0000FF"/>
                </a:solidFill>
              </a:rPr>
              <a:t>20</a:t>
            </a:r>
            <a:r>
              <a:rPr lang="zh-CN" altLang="en-US" dirty="0">
                <a:solidFill>
                  <a:srgbClr val="0000FF"/>
                </a:solidFill>
              </a:rPr>
              <a:t>块</a:t>
            </a:r>
          </a:p>
          <a:p>
            <a:pPr lvl="1">
              <a:spcBef>
                <a:spcPct val="35000"/>
              </a:spcBef>
            </a:pPr>
            <a:r>
              <a:rPr lang="en-US" altLang="zh-CN" dirty="0"/>
              <a:t>Student</a:t>
            </a:r>
            <a:r>
              <a:rPr lang="zh-CN" altLang="en-US" dirty="0"/>
              <a:t>表有</a:t>
            </a:r>
            <a:r>
              <a:rPr lang="en-US" altLang="zh-CN" dirty="0">
                <a:solidFill>
                  <a:srgbClr val="FF0000"/>
                </a:solidFill>
              </a:rPr>
              <a:t>1000</a:t>
            </a:r>
            <a:r>
              <a:rPr lang="zh-CN" altLang="en-US" dirty="0"/>
              <a:t>个元组，</a:t>
            </a:r>
            <a:r>
              <a:rPr lang="en-US" altLang="zh-CN" dirty="0"/>
              <a:t>SC</a:t>
            </a:r>
            <a:r>
              <a:rPr lang="zh-CN" altLang="en-US" dirty="0"/>
              <a:t>有</a:t>
            </a:r>
            <a:r>
              <a:rPr lang="en-US" altLang="zh-CN" dirty="0">
                <a:solidFill>
                  <a:srgbClr val="FF0000"/>
                </a:solidFill>
              </a:rPr>
              <a:t>10000</a:t>
            </a:r>
            <a:r>
              <a:rPr lang="zh-CN" altLang="en-US" dirty="0"/>
              <a:t>元组</a:t>
            </a:r>
          </a:p>
          <a:p>
            <a:pPr lvl="1">
              <a:spcBef>
                <a:spcPct val="35000"/>
              </a:spcBef>
            </a:pPr>
            <a:r>
              <a:rPr lang="zh-CN" altLang="en-US" dirty="0"/>
              <a:t>内存中用</a:t>
            </a:r>
            <a:r>
              <a:rPr lang="en-US" altLang="zh-CN" dirty="0">
                <a:solidFill>
                  <a:srgbClr val="0000FF"/>
                </a:solidFill>
              </a:rPr>
              <a:t>5</a:t>
            </a:r>
            <a:r>
              <a:rPr lang="zh-CN" altLang="en-US" dirty="0">
                <a:solidFill>
                  <a:srgbClr val="0000FF"/>
                </a:solidFill>
              </a:rPr>
              <a:t>块</a:t>
            </a:r>
            <a:r>
              <a:rPr lang="zh-CN" altLang="en-US" dirty="0"/>
              <a:t>放</a:t>
            </a:r>
            <a:r>
              <a:rPr lang="en-US" altLang="zh-CN" dirty="0"/>
              <a:t>Student</a:t>
            </a:r>
            <a:r>
              <a:rPr lang="zh-CN" altLang="en-US" dirty="0"/>
              <a:t>元组，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块</a:t>
            </a:r>
            <a:r>
              <a:rPr lang="zh-CN" altLang="en-US" dirty="0"/>
              <a:t>放</a:t>
            </a:r>
            <a:r>
              <a:rPr lang="en-US" altLang="zh-CN" dirty="0"/>
              <a:t>SC</a:t>
            </a:r>
            <a:r>
              <a:rPr lang="zh-CN" altLang="en-US" dirty="0"/>
              <a:t>元组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B2DF13-0661-4C76-9709-7F3A09B2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21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57D2BB1-4D12-41A5-8A2B-25DBD0E8A21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从实例看查询优化的意义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Q1</a:t>
            </a:r>
          </a:p>
          <a:p>
            <a:pPr lvl="1"/>
            <a:r>
              <a:rPr lang="zh-CN" altLang="en-US" dirty="0"/>
              <a:t>读</a:t>
            </a:r>
            <a:r>
              <a:rPr lang="en-US" altLang="zh-CN" dirty="0"/>
              <a:t>Student</a:t>
            </a:r>
            <a:r>
              <a:rPr lang="zh-CN" altLang="en-US" dirty="0"/>
              <a:t>和</a:t>
            </a:r>
            <a:r>
              <a:rPr lang="en-US" altLang="zh-CN" dirty="0"/>
              <a:t>SC</a:t>
            </a:r>
            <a:r>
              <a:rPr lang="zh-CN" altLang="en-US" dirty="0"/>
              <a:t>：</a:t>
            </a:r>
          </a:p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1000/10+</a:t>
            </a:r>
            <a:r>
              <a:rPr lang="en-US" altLang="zh-CN" sz="2800" dirty="0">
                <a:solidFill>
                  <a:srgbClr val="0000FF"/>
                </a:solidFill>
              </a:rPr>
              <a:t>(1000/10)/5</a:t>
            </a:r>
            <a:r>
              <a:rPr lang="en-US" altLang="zh-CN" sz="2800" dirty="0"/>
              <a:t>×(10000/100)=2100</a:t>
            </a:r>
            <a:r>
              <a:rPr lang="zh-CN" altLang="en-US" sz="2800" dirty="0"/>
              <a:t>块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S1</a:t>
            </a:r>
            <a:r>
              <a:rPr lang="zh-CN" altLang="en-US" dirty="0"/>
              <a:t>＝</a:t>
            </a:r>
            <a:r>
              <a:rPr lang="en-US" altLang="zh-CN" dirty="0"/>
              <a:t>2100/20=105s     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笛卡尔积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sz="800" dirty="0"/>
          </a:p>
          <a:p>
            <a:pPr lvl="1"/>
            <a:r>
              <a:rPr lang="zh-CN" altLang="en-US" dirty="0"/>
              <a:t>中间结果</a:t>
            </a:r>
            <a:r>
              <a:rPr lang="en-US" altLang="zh-CN" dirty="0">
                <a:solidFill>
                  <a:srgbClr val="FF0000"/>
                </a:solidFill>
              </a:rPr>
              <a:t>10,000,000</a:t>
            </a:r>
            <a:r>
              <a:rPr lang="zh-CN" altLang="en-US" dirty="0"/>
              <a:t>个元组，</a:t>
            </a:r>
            <a:r>
              <a:rPr lang="zh-CN" altLang="en-US" dirty="0">
                <a:solidFill>
                  <a:srgbClr val="003300"/>
                </a:solidFill>
              </a:rPr>
              <a:t>读写</a:t>
            </a:r>
            <a:r>
              <a:rPr lang="zh-CN" altLang="en-US" dirty="0"/>
              <a:t>共两次：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S2= (10,000,000/</a:t>
            </a:r>
            <a:r>
              <a:rPr lang="en-US" altLang="zh-CN" dirty="0">
                <a:solidFill>
                  <a:srgbClr val="003300"/>
                </a:solidFill>
              </a:rPr>
              <a:t>10</a:t>
            </a:r>
            <a:r>
              <a:rPr lang="en-US" altLang="zh-CN" dirty="0"/>
              <a:t>)*2/20=100,000s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选择操作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sz="800" dirty="0"/>
          </a:p>
          <a:p>
            <a:pPr lvl="1"/>
            <a:r>
              <a:rPr lang="zh-CN" altLang="en-US" dirty="0"/>
              <a:t>总时间</a:t>
            </a:r>
            <a:r>
              <a:rPr lang="en-US" altLang="zh-CN" dirty="0"/>
              <a:t>S1+S2</a:t>
            </a:r>
            <a:r>
              <a:rPr lang="zh-CN" altLang="en-US" dirty="0"/>
              <a:t>，约</a:t>
            </a:r>
            <a:r>
              <a:rPr lang="en-US" altLang="zh-CN" dirty="0"/>
              <a:t>10</a:t>
            </a:r>
            <a:r>
              <a:rPr lang="zh-CN" altLang="en-US" dirty="0"/>
              <a:t>万秒，</a:t>
            </a:r>
            <a:r>
              <a:rPr lang="zh-CN" altLang="en-US" b="1" dirty="0">
                <a:solidFill>
                  <a:srgbClr val="FF0000"/>
                </a:solidFill>
              </a:rPr>
              <a:t>超过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天！</a:t>
            </a:r>
          </a:p>
        </p:txBody>
      </p:sp>
      <p:sp>
        <p:nvSpPr>
          <p:cNvPr id="2" name="矩形 1"/>
          <p:cNvSpPr/>
          <p:nvPr/>
        </p:nvSpPr>
        <p:spPr>
          <a:xfrm>
            <a:off x="108857" y="1066800"/>
            <a:ext cx="8991600" cy="4524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altLang="zh-CN" sz="2600" b="1" dirty="0"/>
              <a:t>Q1=</a:t>
            </a:r>
            <a:r>
              <a:rPr lang="en-US" altLang="zh-CN" sz="2600" b="1" dirty="0" err="1">
                <a:latin typeface="宋体" pitchFamily="2" charset="-122"/>
              </a:rPr>
              <a:t>п</a:t>
            </a:r>
            <a:r>
              <a:rPr lang="en-US" altLang="zh-CN" sz="2600" b="1" baseline="-15000" dirty="0" err="1"/>
              <a:t>Sname</a:t>
            </a:r>
            <a:r>
              <a:rPr lang="en-US" altLang="zh-CN" sz="2600" b="1" dirty="0"/>
              <a:t>(</a:t>
            </a:r>
            <a:r>
              <a:rPr lang="en-US" altLang="zh-CN" sz="2600" b="1" dirty="0" err="1">
                <a:latin typeface="宋体" pitchFamily="2" charset="-122"/>
              </a:rPr>
              <a:t>δ</a:t>
            </a:r>
            <a:r>
              <a:rPr lang="en-US" altLang="zh-CN" sz="2600" b="1" baseline="-15000" dirty="0" err="1"/>
              <a:t>Student.sno</a:t>
            </a:r>
            <a:r>
              <a:rPr lang="en-US" altLang="zh-CN" sz="2600" b="1" baseline="-15000" dirty="0"/>
              <a:t>=</a:t>
            </a:r>
            <a:r>
              <a:rPr lang="en-US" altLang="zh-CN" sz="2600" b="1" baseline="-15000" dirty="0" err="1"/>
              <a:t>sc.sno∧sc.cno</a:t>
            </a:r>
            <a:r>
              <a:rPr lang="en-US" altLang="zh-CN" sz="2600" b="1" baseline="-15000" dirty="0"/>
              <a:t>='2'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Student</a:t>
            </a:r>
            <a:r>
              <a:rPr lang="en-US" altLang="zh-CN" sz="2600" b="1" dirty="0" err="1">
                <a:solidFill>
                  <a:schemeClr val="tx2"/>
                </a:solidFill>
              </a:rPr>
              <a:t>×</a:t>
            </a:r>
            <a:r>
              <a:rPr lang="en-US" altLang="zh-CN" sz="2600" b="1" dirty="0" err="1"/>
              <a:t>SC</a:t>
            </a:r>
            <a:r>
              <a:rPr lang="en-US" altLang="zh-CN" sz="2600" b="1" dirty="0"/>
              <a:t>)) </a:t>
            </a: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4147457" y="2307771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04657" y="2078981"/>
            <a:ext cx="210826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读取</a:t>
            </a:r>
            <a:r>
              <a:rPr lang="en-US" altLang="zh-CN" dirty="0">
                <a:solidFill>
                  <a:srgbClr val="0000FF"/>
                </a:solidFill>
              </a:rPr>
              <a:t>SC</a:t>
            </a:r>
            <a:r>
              <a:rPr lang="zh-CN" altLang="en-US" dirty="0">
                <a:solidFill>
                  <a:srgbClr val="0000FF"/>
                </a:solidFill>
              </a:rPr>
              <a:t>表</a:t>
            </a:r>
            <a:r>
              <a:rPr lang="en-US" altLang="zh-CN" dirty="0">
                <a:solidFill>
                  <a:srgbClr val="0000FF"/>
                </a:solidFill>
              </a:rPr>
              <a:t>20</a:t>
            </a:r>
            <a:r>
              <a:rPr lang="zh-CN" altLang="en-US" dirty="0">
                <a:solidFill>
                  <a:srgbClr val="0000FF"/>
                </a:solidFill>
              </a:rPr>
              <a:t>遍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EF6847-E7D7-4118-97FB-716A4B36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22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6BFF6EF1-57AB-4D9A-B94F-5932D38092D1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从实例看查询优化的意义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Q2</a:t>
            </a:r>
          </a:p>
          <a:p>
            <a:pPr lvl="1"/>
            <a:r>
              <a:rPr lang="zh-CN" altLang="en-US" dirty="0"/>
              <a:t>读</a:t>
            </a:r>
            <a:r>
              <a:rPr lang="en-US" altLang="zh-CN" dirty="0"/>
              <a:t>Student</a:t>
            </a:r>
            <a:r>
              <a:rPr lang="zh-CN" altLang="en-US" dirty="0"/>
              <a:t>和</a:t>
            </a:r>
            <a:r>
              <a:rPr lang="en-US" altLang="zh-CN" dirty="0"/>
              <a:t>SC</a:t>
            </a:r>
            <a:r>
              <a:rPr lang="zh-CN" altLang="en-US" dirty="0"/>
              <a:t>不变，仍为</a:t>
            </a:r>
            <a:r>
              <a:rPr lang="en-US" altLang="zh-CN" dirty="0"/>
              <a:t>105</a:t>
            </a:r>
            <a:r>
              <a:rPr lang="zh-CN" altLang="en-US" dirty="0"/>
              <a:t>秒；</a:t>
            </a:r>
          </a:p>
          <a:p>
            <a:endParaRPr lang="zh-CN" altLang="en-US" sz="800" dirty="0"/>
          </a:p>
          <a:p>
            <a:pPr lvl="1"/>
            <a:r>
              <a:rPr lang="zh-CN" altLang="en-US" dirty="0"/>
              <a:t>中间结果</a:t>
            </a:r>
            <a:r>
              <a:rPr lang="en-US" altLang="zh-CN" dirty="0">
                <a:solidFill>
                  <a:srgbClr val="FF0000"/>
                </a:solidFill>
              </a:rPr>
              <a:t>10,000</a:t>
            </a:r>
            <a:r>
              <a:rPr lang="zh-CN" altLang="en-US" dirty="0"/>
              <a:t>个元组，读写共两次：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S2= (10,000/10)*2/20=100s</a:t>
            </a:r>
          </a:p>
          <a:p>
            <a:endParaRPr lang="zh-CN" altLang="en-US" sz="800" dirty="0"/>
          </a:p>
          <a:p>
            <a:pPr lvl="1"/>
            <a:r>
              <a:rPr lang="zh-CN" altLang="en-US" dirty="0"/>
              <a:t>总时间</a:t>
            </a:r>
            <a:r>
              <a:rPr lang="en-US" altLang="zh-CN" dirty="0"/>
              <a:t>S1+S2</a:t>
            </a:r>
            <a:r>
              <a:rPr lang="zh-CN" altLang="en-US" dirty="0"/>
              <a:t>，约</a:t>
            </a:r>
            <a:r>
              <a:rPr lang="en-US" altLang="zh-CN" dirty="0"/>
              <a:t>205</a:t>
            </a:r>
            <a:r>
              <a:rPr lang="zh-CN" altLang="en-US" dirty="0"/>
              <a:t>秒，</a:t>
            </a:r>
            <a:r>
              <a:rPr lang="zh-CN" altLang="en-US" dirty="0">
                <a:solidFill>
                  <a:srgbClr val="FF0000"/>
                </a:solidFill>
              </a:rPr>
              <a:t>降低了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个数量级！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1443032"/>
            <a:ext cx="6508513" cy="4524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altLang="zh-CN" sz="2600" b="1" dirty="0"/>
              <a:t>Q2=</a:t>
            </a:r>
            <a:r>
              <a:rPr lang="en-US" altLang="zh-CN" sz="2600" b="1" dirty="0" err="1">
                <a:latin typeface="宋体" pitchFamily="2" charset="-122"/>
              </a:rPr>
              <a:t>п</a:t>
            </a:r>
            <a:r>
              <a:rPr lang="en-US" altLang="zh-CN" sz="2600" b="1" baseline="-15000" dirty="0" err="1"/>
              <a:t>Sname</a:t>
            </a:r>
            <a:r>
              <a:rPr lang="en-US" altLang="zh-CN" sz="2600" b="1" dirty="0"/>
              <a:t>(</a:t>
            </a:r>
            <a:r>
              <a:rPr lang="en-US" altLang="zh-CN" sz="2600" b="1" dirty="0">
                <a:latin typeface="宋体" pitchFamily="2" charset="-122"/>
              </a:rPr>
              <a:t>δ</a:t>
            </a:r>
            <a:r>
              <a:rPr lang="en-US" altLang="zh-CN" sz="2600" b="1" dirty="0"/>
              <a:t> </a:t>
            </a:r>
            <a:r>
              <a:rPr lang="en-US" altLang="zh-CN" sz="2600" b="1" baseline="-15000" dirty="0" err="1"/>
              <a:t>sc.cno</a:t>
            </a:r>
            <a:r>
              <a:rPr lang="en-US" altLang="zh-CN" sz="2600" b="1" baseline="-15000" dirty="0"/>
              <a:t>='2' </a:t>
            </a:r>
            <a:r>
              <a:rPr lang="en-US" altLang="zh-CN" sz="2600" b="1" dirty="0"/>
              <a:t>(Student     SC))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521025">
            <a:off x="7776306" y="1478748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1AF33-C988-46A8-AA7B-AD24D995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23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9400" y="1452568"/>
            <a:ext cx="6345007" cy="4524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altLang="zh-CN" sz="2600" b="1" dirty="0">
                <a:solidFill>
                  <a:srgbClr val="C00000"/>
                </a:solidFill>
              </a:rPr>
              <a:t>Q3</a:t>
            </a:r>
            <a:r>
              <a:rPr lang="en-US" altLang="zh-CN" sz="2600" b="1" dirty="0"/>
              <a:t>=</a:t>
            </a:r>
            <a:r>
              <a:rPr lang="en-US" altLang="zh-CN" sz="2600" b="1" dirty="0" err="1">
                <a:latin typeface="宋体" pitchFamily="2" charset="-122"/>
              </a:rPr>
              <a:t>п</a:t>
            </a:r>
            <a:r>
              <a:rPr lang="en-US" altLang="zh-CN" sz="2600" b="1" baseline="-15000" dirty="0" err="1"/>
              <a:t>Sname</a:t>
            </a:r>
            <a:r>
              <a:rPr lang="en-US" altLang="zh-CN" sz="2600" b="1" dirty="0"/>
              <a:t>(Student     </a:t>
            </a:r>
            <a:r>
              <a:rPr lang="en-US" altLang="zh-CN" sz="2600" b="1" dirty="0" err="1">
                <a:latin typeface="宋体" pitchFamily="2" charset="-122"/>
              </a:rPr>
              <a:t>δ</a:t>
            </a:r>
            <a:r>
              <a:rPr lang="en-US" altLang="zh-CN" sz="2600" b="1" baseline="-25000" dirty="0" err="1"/>
              <a:t>sc.cno</a:t>
            </a:r>
            <a:r>
              <a:rPr lang="en-US" altLang="zh-CN" sz="2600" b="1" baseline="-25000" dirty="0"/>
              <a:t>='2'</a:t>
            </a:r>
            <a:r>
              <a:rPr lang="en-US" altLang="zh-CN" sz="2600" b="1" dirty="0"/>
              <a:t>(SC))</a:t>
            </a:r>
            <a:endParaRPr lang="zh-CN" altLang="en-US" sz="26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A1E88D3F-5D11-4458-ACE5-92EBA8D16EE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从实例看查询优化的意义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Q3</a:t>
            </a:r>
          </a:p>
          <a:p>
            <a:pPr lvl="1"/>
            <a:r>
              <a:rPr lang="zh-CN" altLang="en-US" dirty="0"/>
              <a:t>先对</a:t>
            </a:r>
            <a:r>
              <a:rPr lang="en-US" altLang="zh-CN" dirty="0">
                <a:solidFill>
                  <a:schemeClr val="tx2"/>
                </a:solidFill>
              </a:rPr>
              <a:t>SC</a:t>
            </a:r>
            <a:r>
              <a:rPr lang="zh-CN" altLang="en-US" dirty="0"/>
              <a:t>进行选择，读</a:t>
            </a:r>
            <a:r>
              <a:rPr lang="en-US" altLang="zh-CN" dirty="0"/>
              <a:t>100</a:t>
            </a:r>
            <a:r>
              <a:rPr lang="zh-CN" altLang="en-US" dirty="0"/>
              <a:t>块，时间</a:t>
            </a:r>
            <a:r>
              <a:rPr lang="en-US" altLang="zh-CN" dirty="0">
                <a:solidFill>
                  <a:schemeClr val="tx2"/>
                </a:solidFill>
              </a:rPr>
              <a:t>5s</a:t>
            </a:r>
            <a:r>
              <a:rPr lang="zh-CN" altLang="en-US" dirty="0"/>
              <a:t>，假设满足条件的元组</a:t>
            </a:r>
            <a:r>
              <a:rPr lang="en-US" altLang="zh-CN" dirty="0">
                <a:solidFill>
                  <a:srgbClr val="FF0000"/>
                </a:solidFill>
              </a:rPr>
              <a:t>50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  <a:r>
              <a:rPr lang="zh-CN" altLang="en-US" dirty="0"/>
              <a:t>，直接放在</a:t>
            </a:r>
            <a:r>
              <a:rPr lang="en-US" altLang="zh-CN" dirty="0"/>
              <a:t>1</a:t>
            </a:r>
            <a:r>
              <a:rPr lang="zh-CN" altLang="en-US" dirty="0"/>
              <a:t>个内存块中；</a:t>
            </a:r>
          </a:p>
          <a:p>
            <a:endParaRPr lang="zh-CN" altLang="en-US" sz="800" dirty="0"/>
          </a:p>
          <a:p>
            <a:pPr lvl="1"/>
            <a:r>
              <a:rPr lang="zh-CN" altLang="en-US" dirty="0"/>
              <a:t>接着读</a:t>
            </a:r>
            <a:r>
              <a:rPr lang="en-US" altLang="zh-CN" dirty="0"/>
              <a:t>Student</a:t>
            </a:r>
            <a:r>
              <a:rPr lang="zh-CN" altLang="en-US" dirty="0"/>
              <a:t>表，与内存块中的</a:t>
            </a:r>
            <a:r>
              <a:rPr lang="en-US" altLang="zh-CN" dirty="0"/>
              <a:t>SC</a:t>
            </a:r>
            <a:r>
              <a:rPr lang="zh-CN" altLang="en-US" dirty="0"/>
              <a:t>元组连接，</a:t>
            </a:r>
            <a:r>
              <a:rPr lang="zh-CN" altLang="en-US" dirty="0">
                <a:solidFill>
                  <a:schemeClr val="tx2"/>
                </a:solidFill>
              </a:rPr>
              <a:t>读</a:t>
            </a:r>
            <a:r>
              <a:rPr lang="en-US" altLang="zh-CN" dirty="0">
                <a:solidFill>
                  <a:schemeClr val="tx2"/>
                </a:solidFill>
              </a:rPr>
              <a:t>Student</a:t>
            </a:r>
            <a:r>
              <a:rPr lang="zh-CN" altLang="en-US" dirty="0">
                <a:solidFill>
                  <a:schemeClr val="tx2"/>
                </a:solidFill>
              </a:rPr>
              <a:t>表</a:t>
            </a:r>
            <a:r>
              <a:rPr lang="en-US" altLang="zh-CN" dirty="0">
                <a:solidFill>
                  <a:schemeClr val="tx2"/>
                </a:solidFill>
              </a:rPr>
              <a:t>1</a:t>
            </a:r>
            <a:r>
              <a:rPr lang="zh-CN" altLang="en-US" dirty="0">
                <a:solidFill>
                  <a:schemeClr val="tx2"/>
                </a:solidFill>
              </a:rPr>
              <a:t>遍时间为</a:t>
            </a:r>
            <a:r>
              <a:rPr lang="en-US" altLang="zh-CN" dirty="0">
                <a:solidFill>
                  <a:schemeClr val="tx2"/>
                </a:solidFill>
              </a:rPr>
              <a:t>5s</a:t>
            </a:r>
            <a:r>
              <a:rPr lang="zh-CN" altLang="en-US" dirty="0"/>
              <a:t>；</a:t>
            </a:r>
          </a:p>
          <a:p>
            <a:endParaRPr lang="zh-CN" altLang="en-US" sz="800" dirty="0"/>
          </a:p>
          <a:p>
            <a:pPr lvl="1"/>
            <a:r>
              <a:rPr lang="zh-CN" altLang="en-US" dirty="0"/>
              <a:t>连接结果输出，不占</a:t>
            </a:r>
            <a:r>
              <a:rPr lang="en-US" altLang="zh-CN" dirty="0"/>
              <a:t>I/O</a:t>
            </a:r>
            <a:r>
              <a:rPr lang="zh-CN" altLang="en-US" dirty="0"/>
              <a:t>时间；</a:t>
            </a:r>
          </a:p>
          <a:p>
            <a:endParaRPr lang="zh-CN" altLang="en-US" sz="800" dirty="0"/>
          </a:p>
          <a:p>
            <a:pPr lvl="1"/>
            <a:r>
              <a:rPr lang="zh-CN" altLang="en-US" dirty="0"/>
              <a:t>总时间</a:t>
            </a:r>
            <a:r>
              <a:rPr lang="en-US" altLang="zh-CN" dirty="0"/>
              <a:t>10</a:t>
            </a:r>
            <a:r>
              <a:rPr lang="zh-CN" altLang="en-US" dirty="0"/>
              <a:t>秒，</a:t>
            </a:r>
            <a:r>
              <a:rPr lang="zh-CN" altLang="en-US" dirty="0">
                <a:solidFill>
                  <a:srgbClr val="FF0000"/>
                </a:solidFill>
              </a:rPr>
              <a:t>再降低了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个数量级！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 rot="5521025">
            <a:off x="6380296" y="1488284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EF787E-144B-49E1-B87B-9B0A2290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42FF7347-0F2A-4A8A-90F2-59019A44313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查询树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541040"/>
          </a:xfrm>
        </p:spPr>
        <p:txBody>
          <a:bodyPr/>
          <a:lstStyle/>
          <a:p>
            <a:r>
              <a:rPr lang="en-US" altLang="zh-CN" sz="2400" b="1" dirty="0"/>
              <a:t>Q1=</a:t>
            </a:r>
            <a:r>
              <a:rPr lang="en-US" altLang="zh-CN" sz="2400" b="1" dirty="0" err="1">
                <a:latin typeface="宋体" pitchFamily="2" charset="-122"/>
              </a:rPr>
              <a:t>п</a:t>
            </a:r>
            <a:r>
              <a:rPr lang="en-US" altLang="zh-CN" sz="2400" b="1" baseline="-15000" dirty="0" err="1"/>
              <a:t>Sname</a:t>
            </a:r>
            <a:r>
              <a:rPr lang="en-US" altLang="zh-CN" sz="2400" b="1" dirty="0"/>
              <a:t>(</a:t>
            </a:r>
            <a:r>
              <a:rPr lang="en-US" altLang="zh-CN" sz="2400" b="1" dirty="0" err="1">
                <a:latin typeface="宋体" pitchFamily="2" charset="-122"/>
              </a:rPr>
              <a:t>δ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Student.sno</a:t>
            </a:r>
            <a:r>
              <a:rPr lang="en-US" altLang="zh-CN" sz="2400" b="1" baseline="-15000" dirty="0">
                <a:solidFill>
                  <a:srgbClr val="0000FF"/>
                </a:solidFill>
              </a:rPr>
              <a:t>=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sc.sno</a:t>
            </a:r>
            <a:r>
              <a:rPr lang="en-US" altLang="zh-CN" sz="2400" b="1" baseline="-15000" dirty="0" err="1"/>
              <a:t>∧</a:t>
            </a:r>
            <a:r>
              <a:rPr lang="en-US" altLang="zh-CN" sz="2400" b="1" baseline="-15000" dirty="0" err="1">
                <a:solidFill>
                  <a:srgbClr val="C00000"/>
                </a:solidFill>
              </a:rPr>
              <a:t>sc.cno</a:t>
            </a:r>
            <a:r>
              <a:rPr lang="en-US" altLang="zh-CN" sz="2400" b="1" baseline="-15000" dirty="0">
                <a:solidFill>
                  <a:srgbClr val="C00000"/>
                </a:solidFill>
              </a:rPr>
              <a:t>='2'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Student</a:t>
            </a:r>
            <a:r>
              <a:rPr lang="en-US" altLang="zh-CN" sz="2400" b="1" dirty="0" err="1">
                <a:solidFill>
                  <a:schemeClr val="tx2"/>
                </a:solidFill>
              </a:rPr>
              <a:t>×</a:t>
            </a:r>
            <a:r>
              <a:rPr lang="en-US" altLang="zh-CN" sz="2400" b="1" dirty="0" err="1"/>
              <a:t>SC</a:t>
            </a:r>
            <a:r>
              <a:rPr lang="en-US" altLang="zh-CN" sz="2400" b="1" dirty="0"/>
              <a:t>))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B99FD9-BDF6-A0E6-1B60-E60BA1927981}"/>
              </a:ext>
            </a:extLst>
          </p:cNvPr>
          <p:cNvSpPr txBox="1"/>
          <p:nvPr/>
        </p:nvSpPr>
        <p:spPr>
          <a:xfrm>
            <a:off x="2987824" y="5517232"/>
            <a:ext cx="40324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Student                SC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508DF1-1903-05E6-84A0-70DFF1F6C36F}"/>
              </a:ext>
            </a:extLst>
          </p:cNvPr>
          <p:cNvSpPr txBox="1"/>
          <p:nvPr/>
        </p:nvSpPr>
        <p:spPr>
          <a:xfrm>
            <a:off x="4516822" y="4540790"/>
            <a:ext cx="55780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×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120B488-883B-5D65-E90A-43B499A1D6A0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H="1">
            <a:off x="3723537" y="4753156"/>
            <a:ext cx="793285" cy="79574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4E6C851-5525-016C-C829-58288EE3AB94}"/>
              </a:ext>
            </a:extLst>
          </p:cNvPr>
          <p:cNvCxnSpPr>
            <a:cxnSpLocks/>
            <a:endCxn id="11" idx="3"/>
          </p:cNvCxnSpPr>
          <p:nvPr/>
        </p:nvCxnSpPr>
        <p:spPr bwMode="auto">
          <a:xfrm flipH="1" flipV="1">
            <a:off x="5074630" y="4753156"/>
            <a:ext cx="737139" cy="688713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7EBEAFC-D948-B70C-2EAB-70E4B3277A03}"/>
              </a:ext>
            </a:extLst>
          </p:cNvPr>
          <p:cNvSpPr txBox="1"/>
          <p:nvPr/>
        </p:nvSpPr>
        <p:spPr>
          <a:xfrm>
            <a:off x="2845005" y="3450913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宋体" pitchFamily="2" charset="-122"/>
              </a:rPr>
              <a:t>δ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Student.sno</a:t>
            </a:r>
            <a:r>
              <a:rPr lang="en-US" altLang="zh-CN" sz="2400" b="1" baseline="-15000" dirty="0">
                <a:solidFill>
                  <a:srgbClr val="0000FF"/>
                </a:solidFill>
              </a:rPr>
              <a:t>=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sc.sno</a:t>
            </a:r>
            <a:r>
              <a:rPr lang="en-US" altLang="zh-CN" sz="2400" b="1" baseline="-15000" dirty="0" err="1"/>
              <a:t>∧</a:t>
            </a:r>
            <a:r>
              <a:rPr lang="en-US" altLang="zh-CN" sz="2400" b="1" baseline="-15000" dirty="0" err="1">
                <a:solidFill>
                  <a:srgbClr val="C00000"/>
                </a:solidFill>
              </a:rPr>
              <a:t>sc.cno</a:t>
            </a:r>
            <a:r>
              <a:rPr lang="en-US" altLang="zh-CN" sz="2400" b="1" baseline="-15000" dirty="0">
                <a:solidFill>
                  <a:srgbClr val="C00000"/>
                </a:solidFill>
              </a:rPr>
              <a:t>='2'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FCF1832-F681-9FF2-E406-1DADCB616EEF}"/>
              </a:ext>
            </a:extLst>
          </p:cNvPr>
          <p:cNvCxnSpPr>
            <a:cxnSpLocks/>
            <a:stCxn id="11" idx="0"/>
          </p:cNvCxnSpPr>
          <p:nvPr/>
        </p:nvCxnSpPr>
        <p:spPr bwMode="auto">
          <a:xfrm flipV="1">
            <a:off x="4795726" y="3886668"/>
            <a:ext cx="0" cy="65412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C71DD72-E390-DBAF-43B1-860A7CDDBC0A}"/>
              </a:ext>
            </a:extLst>
          </p:cNvPr>
          <p:cNvCxnSpPr>
            <a:cxnSpLocks/>
          </p:cNvCxnSpPr>
          <p:nvPr/>
        </p:nvCxnSpPr>
        <p:spPr bwMode="auto">
          <a:xfrm flipV="1">
            <a:off x="4788024" y="2921259"/>
            <a:ext cx="0" cy="638349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AF79721-3364-0A30-883B-F0BB15CF10E2}"/>
              </a:ext>
            </a:extLst>
          </p:cNvPr>
          <p:cNvSpPr txBox="1"/>
          <p:nvPr/>
        </p:nvSpPr>
        <p:spPr>
          <a:xfrm>
            <a:off x="4102992" y="2375808"/>
            <a:ext cx="126109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宋体" pitchFamily="2" charset="-122"/>
              </a:rPr>
              <a:t>п</a:t>
            </a:r>
            <a:r>
              <a:rPr lang="en-US" altLang="zh-CN" sz="2400" b="1" baseline="-15000" dirty="0" err="1"/>
              <a:t>Sname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C8D309-B90C-4D0A-B1FC-C7B7EF84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487925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19EFF70D-1D69-4A9B-9886-C0DCB70F6BD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查询树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1" dirty="0"/>
              <a:t>Q2=</a:t>
            </a:r>
            <a:r>
              <a:rPr lang="en-US" altLang="zh-CN" sz="2400" b="1" dirty="0" err="1">
                <a:latin typeface="宋体" pitchFamily="2" charset="-122"/>
              </a:rPr>
              <a:t>п</a:t>
            </a:r>
            <a:r>
              <a:rPr lang="en-US" altLang="zh-CN" sz="2400" b="1" baseline="-15000" dirty="0" err="1"/>
              <a:t>Sname</a:t>
            </a:r>
            <a:r>
              <a:rPr lang="en-US" altLang="zh-CN" sz="2400" b="1" dirty="0"/>
              <a:t>(</a:t>
            </a:r>
            <a:r>
              <a:rPr lang="en-US" altLang="zh-CN" sz="2400" b="1" dirty="0" err="1">
                <a:latin typeface="宋体" pitchFamily="2" charset="-122"/>
              </a:rPr>
              <a:t>δ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sc.cno</a:t>
            </a:r>
            <a:r>
              <a:rPr lang="en-US" altLang="zh-CN" sz="2400" b="1" baseline="-15000" dirty="0">
                <a:solidFill>
                  <a:srgbClr val="0000FF"/>
                </a:solidFill>
              </a:rPr>
              <a:t>='2'</a:t>
            </a:r>
            <a:r>
              <a:rPr lang="en-US" altLang="zh-CN" sz="2400" b="1" baseline="-15000" dirty="0"/>
              <a:t> </a:t>
            </a:r>
            <a:r>
              <a:rPr lang="en-US" altLang="zh-CN" sz="2400" b="1" dirty="0"/>
              <a:t>(Student      SC)) </a:t>
            </a:r>
          </a:p>
          <a:p>
            <a:endParaRPr lang="zh-CN" altLang="en-US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9A957437-1558-7D35-AA36-8E0A5652FF12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5804234" y="1522765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58CB10-3CBE-8E7C-B954-8B3F2EDCF3BF}"/>
              </a:ext>
            </a:extLst>
          </p:cNvPr>
          <p:cNvSpPr txBox="1"/>
          <p:nvPr/>
        </p:nvSpPr>
        <p:spPr>
          <a:xfrm>
            <a:off x="2987824" y="5517232"/>
            <a:ext cx="40324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Student                SC</a:t>
            </a:r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1BDCD08-420A-EDB2-9A4C-138738BCDCE2}"/>
              </a:ext>
            </a:extLst>
          </p:cNvPr>
          <p:cNvCxnSpPr>
            <a:cxnSpLocks/>
          </p:cNvCxnSpPr>
          <p:nvPr/>
        </p:nvCxnSpPr>
        <p:spPr bwMode="auto">
          <a:xfrm flipH="1">
            <a:off x="3779912" y="4721486"/>
            <a:ext cx="793285" cy="79574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1CF206-BF0F-09F1-B3BE-4A324F5BF45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31005" y="4721486"/>
            <a:ext cx="737139" cy="688713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83F113C-B6CC-D8D2-F14A-0CAD8DD0A756}"/>
              </a:ext>
            </a:extLst>
          </p:cNvPr>
          <p:cNvSpPr txBox="1"/>
          <p:nvPr/>
        </p:nvSpPr>
        <p:spPr>
          <a:xfrm>
            <a:off x="3723969" y="3464819"/>
            <a:ext cx="215904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err="1">
                <a:solidFill>
                  <a:srgbClr val="0000FF"/>
                </a:solidFill>
                <a:latin typeface="宋体" pitchFamily="2" charset="-122"/>
              </a:rPr>
              <a:t>δ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sc.cno</a:t>
            </a:r>
            <a:r>
              <a:rPr lang="en-US" altLang="zh-CN" sz="2400" b="1" baseline="-15000" dirty="0">
                <a:solidFill>
                  <a:srgbClr val="0000FF"/>
                </a:solidFill>
              </a:rPr>
              <a:t>='2'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848D22E-978D-6D48-EFDB-55D5217B714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5337" y="3866022"/>
            <a:ext cx="0" cy="605079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291E846-9B4E-EF6D-C5D3-4D58A820AD6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788024" y="2907573"/>
            <a:ext cx="1" cy="55724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D8660A6-A9B1-4DDC-BCF0-9212D8496094}"/>
              </a:ext>
            </a:extLst>
          </p:cNvPr>
          <p:cNvSpPr txBox="1"/>
          <p:nvPr/>
        </p:nvSpPr>
        <p:spPr>
          <a:xfrm>
            <a:off x="4102992" y="2375808"/>
            <a:ext cx="126109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宋体" pitchFamily="2" charset="-122"/>
              </a:rPr>
              <a:t>п</a:t>
            </a:r>
            <a:r>
              <a:rPr lang="en-US" altLang="zh-CN" sz="2400" b="1" baseline="-15000" dirty="0" err="1"/>
              <a:t>Sname</a:t>
            </a:r>
            <a:endParaRPr lang="zh-CN" altLang="en-US" dirty="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AE873163-C1A2-2FD2-446F-EF267901B600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4724419" y="4425652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D71CCD-9EB6-4004-9535-60802D3E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21076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F4FD3B9-DC23-441F-A6E0-308F7A8059D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查询树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Q3</a:t>
            </a:r>
            <a:r>
              <a:rPr lang="en-US" altLang="zh-CN" sz="2400" b="1" dirty="0"/>
              <a:t>=</a:t>
            </a:r>
            <a:r>
              <a:rPr lang="en-US" altLang="zh-CN" sz="2400" b="1" dirty="0" err="1">
                <a:latin typeface="宋体" pitchFamily="2" charset="-122"/>
              </a:rPr>
              <a:t>п</a:t>
            </a:r>
            <a:r>
              <a:rPr lang="en-US" altLang="zh-CN" sz="2400" b="1" baseline="-15000" dirty="0" err="1"/>
              <a:t>Sname</a:t>
            </a:r>
            <a:r>
              <a:rPr lang="en-US" altLang="zh-CN" sz="2400" b="1" dirty="0"/>
              <a:t>(Student     </a:t>
            </a:r>
            <a:r>
              <a:rPr lang="en-US" altLang="zh-CN" sz="2400" b="1" dirty="0" err="1">
                <a:latin typeface="宋体" pitchFamily="2" charset="-122"/>
              </a:rPr>
              <a:t>δ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sc.cno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='2'</a:t>
            </a:r>
            <a:r>
              <a:rPr lang="en-US" altLang="zh-CN" sz="2400" b="1" dirty="0"/>
              <a:t>(SC))</a:t>
            </a:r>
            <a:endParaRPr lang="zh-CN" altLang="en-US" sz="2400" b="1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 rot="5521025">
            <a:off x="4776787" y="3359435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 rot="5521025">
            <a:off x="4234221" y="1533389"/>
            <a:ext cx="228600" cy="381000"/>
          </a:xfrm>
          <a:prstGeom prst="flowChartCollate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9DDC73-BB69-DED8-0257-5F663C89A9F2}"/>
              </a:ext>
            </a:extLst>
          </p:cNvPr>
          <p:cNvSpPr txBox="1"/>
          <p:nvPr/>
        </p:nvSpPr>
        <p:spPr>
          <a:xfrm>
            <a:off x="5580112" y="5517232"/>
            <a:ext cx="79208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SC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E6AF8E7-DC35-170B-C2B5-C00CCE80E0A9}"/>
              </a:ext>
            </a:extLst>
          </p:cNvPr>
          <p:cNvCxnSpPr>
            <a:cxnSpLocks/>
          </p:cNvCxnSpPr>
          <p:nvPr/>
        </p:nvCxnSpPr>
        <p:spPr bwMode="auto">
          <a:xfrm flipH="1">
            <a:off x="3923929" y="3696646"/>
            <a:ext cx="638173" cy="63852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ACCCCBF-53BE-A43B-77AD-68F85FB44658}"/>
              </a:ext>
            </a:extLst>
          </p:cNvPr>
          <p:cNvCxnSpPr>
            <a:cxnSpLocks/>
          </p:cNvCxnSpPr>
          <p:nvPr/>
        </p:nvCxnSpPr>
        <p:spPr bwMode="auto">
          <a:xfrm flipV="1">
            <a:off x="5868144" y="4828519"/>
            <a:ext cx="0" cy="688713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373153B-99B2-C0EB-DA5E-B09B8F3AC673}"/>
              </a:ext>
            </a:extLst>
          </p:cNvPr>
          <p:cNvSpPr txBox="1"/>
          <p:nvPr/>
        </p:nvSpPr>
        <p:spPr>
          <a:xfrm>
            <a:off x="4822628" y="4335166"/>
            <a:ext cx="19259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err="1">
                <a:solidFill>
                  <a:srgbClr val="0000FF"/>
                </a:solidFill>
                <a:latin typeface="宋体" pitchFamily="2" charset="-122"/>
              </a:rPr>
              <a:t>δ</a:t>
            </a:r>
            <a:r>
              <a:rPr lang="en-US" altLang="zh-CN" sz="2400" b="1" baseline="-15000" dirty="0" err="1">
                <a:solidFill>
                  <a:srgbClr val="0000FF"/>
                </a:solidFill>
              </a:rPr>
              <a:t>sc.cno</a:t>
            </a:r>
            <a:r>
              <a:rPr lang="en-US" altLang="zh-CN" sz="2400" b="1" baseline="-15000" dirty="0">
                <a:solidFill>
                  <a:srgbClr val="0000FF"/>
                </a:solidFill>
              </a:rPr>
              <a:t>='2'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D2E874A-8D0B-32D7-9D58-A6A4B5C6EADC}"/>
              </a:ext>
            </a:extLst>
          </p:cNvPr>
          <p:cNvCxnSpPr>
            <a:cxnSpLocks/>
            <a:stCxn id="11" idx="0"/>
          </p:cNvCxnSpPr>
          <p:nvPr/>
        </p:nvCxnSpPr>
        <p:spPr bwMode="auto">
          <a:xfrm flipH="1" flipV="1">
            <a:off x="5220072" y="3688130"/>
            <a:ext cx="565536" cy="64703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FF609C0-B61C-CC18-712B-849E622346B7}"/>
              </a:ext>
            </a:extLst>
          </p:cNvPr>
          <p:cNvSpPr txBox="1"/>
          <p:nvPr/>
        </p:nvSpPr>
        <p:spPr>
          <a:xfrm>
            <a:off x="4241744" y="2369450"/>
            <a:ext cx="126109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宋体" pitchFamily="2" charset="-122"/>
              </a:rPr>
              <a:t>п</a:t>
            </a:r>
            <a:r>
              <a:rPr lang="en-US" altLang="zh-CN" sz="2400" b="1" baseline="-15000" dirty="0" err="1"/>
              <a:t>Sname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5589E9-A023-5C31-62D7-558C38DA50A7}"/>
              </a:ext>
            </a:extLst>
          </p:cNvPr>
          <p:cNvSpPr txBox="1"/>
          <p:nvPr/>
        </p:nvSpPr>
        <p:spPr>
          <a:xfrm>
            <a:off x="3101652" y="4370375"/>
            <a:ext cx="142190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Student</a:t>
            </a:r>
            <a:endParaRPr lang="zh-CN" altLang="en-US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743FAA3-673D-4C13-D5C0-992DD17C5A9F}"/>
              </a:ext>
            </a:extLst>
          </p:cNvPr>
          <p:cNvCxnSpPr>
            <a:cxnSpLocks/>
            <a:endCxn id="15" idx="2"/>
          </p:cNvCxnSpPr>
          <p:nvPr/>
        </p:nvCxnSpPr>
        <p:spPr bwMode="auto">
          <a:xfrm flipV="1">
            <a:off x="4872292" y="2794182"/>
            <a:ext cx="0" cy="5246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2B9D65-AB06-4B58-8436-E9F40FF5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41D3C3A7-5C1B-4BA7-9938-0483A15F2C54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感性结论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3000" dirty="0"/>
              <a:t>分析它们，从</a:t>
            </a:r>
            <a:r>
              <a:rPr lang="en-US" altLang="zh-CN" sz="3000" dirty="0"/>
              <a:t>Q1</a:t>
            </a:r>
            <a:r>
              <a:rPr lang="zh-CN" altLang="en-US" sz="3000" dirty="0"/>
              <a:t>到</a:t>
            </a:r>
            <a:r>
              <a:rPr lang="en-US" altLang="zh-CN" sz="3000" dirty="0"/>
              <a:t>Q3</a:t>
            </a:r>
            <a:r>
              <a:rPr lang="zh-CN" altLang="en-US" sz="3000" dirty="0"/>
              <a:t>，一个比一个效率高，感性地告诉我们：</a:t>
            </a:r>
          </a:p>
          <a:p>
            <a:pPr>
              <a:spcBef>
                <a:spcPts val="0"/>
              </a:spcBef>
            </a:pPr>
            <a:endParaRPr lang="zh-CN" altLang="en-US" sz="800" dirty="0"/>
          </a:p>
          <a:p>
            <a:pPr lvl="1"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笛卡儿积运算</a:t>
            </a:r>
            <a:r>
              <a:rPr lang="zh-CN" altLang="en-US" dirty="0"/>
              <a:t>最好能和</a:t>
            </a:r>
            <a:r>
              <a:rPr lang="zh-CN" altLang="en-US" b="1" dirty="0">
                <a:solidFill>
                  <a:schemeClr val="tx2"/>
                </a:solidFill>
              </a:rPr>
              <a:t>相应的选择条件</a:t>
            </a:r>
            <a:r>
              <a:rPr lang="zh-CN" altLang="en-US" dirty="0"/>
              <a:t>一起构成</a:t>
            </a:r>
            <a:r>
              <a:rPr lang="zh-CN" altLang="en-US" b="1" dirty="0">
                <a:solidFill>
                  <a:srgbClr val="0000FF"/>
                </a:solidFill>
              </a:rPr>
              <a:t>连接运算</a:t>
            </a:r>
            <a:r>
              <a:rPr lang="zh-CN" altLang="en-US" dirty="0"/>
              <a:t>；</a:t>
            </a:r>
          </a:p>
          <a:p>
            <a:pPr>
              <a:spcBef>
                <a:spcPts val="0"/>
              </a:spcBef>
            </a:pPr>
            <a:endParaRPr lang="zh-CN" altLang="en-US" sz="800" dirty="0"/>
          </a:p>
          <a:p>
            <a:pPr lvl="1">
              <a:spcBef>
                <a:spcPts val="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选择</a:t>
            </a:r>
            <a:r>
              <a:rPr lang="zh-CN" altLang="en-US" dirty="0">
                <a:solidFill>
                  <a:srgbClr val="0000FF"/>
                </a:solidFill>
              </a:rPr>
              <a:t>能早做就尽量</a:t>
            </a:r>
            <a:r>
              <a:rPr lang="zh-CN" altLang="en-US" b="1" dirty="0">
                <a:solidFill>
                  <a:srgbClr val="FF0000"/>
                </a:solidFill>
              </a:rPr>
              <a:t>早做</a:t>
            </a:r>
            <a:r>
              <a:rPr lang="zh-CN" altLang="en-US" dirty="0"/>
              <a:t>；</a:t>
            </a:r>
          </a:p>
          <a:p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38100" y="4077072"/>
            <a:ext cx="9067800" cy="2212913"/>
            <a:chOff x="76200" y="4343400"/>
            <a:chExt cx="9067800" cy="2212913"/>
          </a:xfrm>
        </p:grpSpPr>
        <p:sp>
          <p:nvSpPr>
            <p:cNvPr id="2" name="矩形 1"/>
            <p:cNvSpPr/>
            <p:nvPr/>
          </p:nvSpPr>
          <p:spPr>
            <a:xfrm>
              <a:off x="76200" y="4343400"/>
              <a:ext cx="9067800" cy="2212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sz="2600" b="1" dirty="0"/>
                <a:t>Q1=</a:t>
              </a:r>
              <a:r>
                <a:rPr lang="en-US" altLang="zh-CN" sz="2600" b="1" dirty="0" err="1">
                  <a:latin typeface="宋体" pitchFamily="2" charset="-122"/>
                </a:rPr>
                <a:t>п</a:t>
              </a:r>
              <a:r>
                <a:rPr lang="en-US" altLang="zh-CN" sz="2600" b="1" baseline="-15000" dirty="0" err="1"/>
                <a:t>Sname</a:t>
              </a:r>
              <a:r>
                <a:rPr lang="en-US" altLang="zh-CN" sz="2600" b="1" dirty="0"/>
                <a:t>(</a:t>
              </a:r>
              <a:r>
                <a:rPr lang="en-US" altLang="zh-CN" sz="2600" b="1" dirty="0" err="1">
                  <a:latin typeface="宋体" pitchFamily="2" charset="-122"/>
                </a:rPr>
                <a:t>δ</a:t>
              </a:r>
              <a:r>
                <a:rPr lang="en-US" altLang="zh-CN" sz="2600" b="1" baseline="-15000" dirty="0" err="1">
                  <a:solidFill>
                    <a:srgbClr val="0000FF"/>
                  </a:solidFill>
                </a:rPr>
                <a:t>Student.sno</a:t>
              </a:r>
              <a:r>
                <a:rPr lang="en-US" altLang="zh-CN" sz="2600" b="1" baseline="-15000" dirty="0">
                  <a:solidFill>
                    <a:srgbClr val="0000FF"/>
                  </a:solidFill>
                </a:rPr>
                <a:t>=</a:t>
              </a:r>
              <a:r>
                <a:rPr lang="en-US" altLang="zh-CN" sz="2600" b="1" baseline="-15000" dirty="0" err="1">
                  <a:solidFill>
                    <a:srgbClr val="0000FF"/>
                  </a:solidFill>
                </a:rPr>
                <a:t>sc.sno</a:t>
              </a:r>
              <a:r>
                <a:rPr lang="en-US" altLang="zh-CN" sz="2600" b="1" baseline="-15000" dirty="0" err="1"/>
                <a:t>∧sc.cno</a:t>
              </a:r>
              <a:r>
                <a:rPr lang="en-US" altLang="zh-CN" sz="2600" b="1" baseline="-15000" dirty="0"/>
                <a:t>='2'</a:t>
              </a:r>
              <a:r>
                <a:rPr lang="en-US" altLang="zh-CN" sz="2600" b="1" dirty="0"/>
                <a:t>(</a:t>
              </a:r>
              <a:r>
                <a:rPr lang="en-US" altLang="zh-CN" sz="2600" b="1" dirty="0" err="1"/>
                <a:t>Student</a:t>
              </a:r>
              <a:r>
                <a:rPr lang="en-US" altLang="zh-CN" sz="2600" b="1" dirty="0" err="1">
                  <a:solidFill>
                    <a:schemeClr val="tx2"/>
                  </a:solidFill>
                </a:rPr>
                <a:t>×</a:t>
              </a:r>
              <a:r>
                <a:rPr lang="en-US" altLang="zh-CN" sz="2600" b="1" dirty="0" err="1"/>
                <a:t>SC</a:t>
              </a:r>
              <a:r>
                <a:rPr lang="en-US" altLang="zh-CN" sz="2600" b="1" dirty="0"/>
                <a:t>))</a:t>
              </a:r>
            </a:p>
            <a:p>
              <a:pPr lvl="1"/>
              <a:r>
                <a:rPr lang="en-US" altLang="zh-CN" sz="2600" b="1" dirty="0"/>
                <a:t> </a:t>
              </a:r>
            </a:p>
            <a:p>
              <a:pPr lvl="1"/>
              <a:r>
                <a:rPr lang="en-US" altLang="zh-CN" sz="2600" b="1" dirty="0"/>
                <a:t>Q2=</a:t>
              </a:r>
              <a:r>
                <a:rPr lang="en-US" altLang="zh-CN" sz="2600" b="1" dirty="0" err="1">
                  <a:latin typeface="宋体" pitchFamily="2" charset="-122"/>
                </a:rPr>
                <a:t>п</a:t>
              </a:r>
              <a:r>
                <a:rPr lang="en-US" altLang="zh-CN" sz="2600" b="1" baseline="-15000" dirty="0" err="1"/>
                <a:t>Sname</a:t>
              </a:r>
              <a:r>
                <a:rPr lang="en-US" altLang="zh-CN" sz="2600" b="1" dirty="0"/>
                <a:t>(</a:t>
              </a:r>
              <a:r>
                <a:rPr lang="en-US" altLang="zh-CN" sz="2600" b="1" dirty="0">
                  <a:latin typeface="宋体" pitchFamily="2" charset="-122"/>
                </a:rPr>
                <a:t>δ</a:t>
              </a:r>
              <a:r>
                <a:rPr lang="en-US" altLang="zh-CN" sz="2600" b="1" dirty="0"/>
                <a:t> </a:t>
              </a:r>
              <a:r>
                <a:rPr lang="en-US" altLang="zh-CN" sz="2600" b="1" baseline="-15000" dirty="0" err="1">
                  <a:solidFill>
                    <a:srgbClr val="0000FF"/>
                  </a:solidFill>
                </a:rPr>
                <a:t>sc.cno</a:t>
              </a:r>
              <a:r>
                <a:rPr lang="en-US" altLang="zh-CN" sz="2600" b="1" baseline="-15000" dirty="0">
                  <a:solidFill>
                    <a:srgbClr val="0000FF"/>
                  </a:solidFill>
                </a:rPr>
                <a:t>='2'</a:t>
              </a:r>
              <a:r>
                <a:rPr lang="en-US" altLang="zh-CN" sz="2600" b="1" baseline="-15000" dirty="0"/>
                <a:t> </a:t>
              </a:r>
              <a:r>
                <a:rPr lang="en-US" altLang="zh-CN" sz="2600" b="1" dirty="0"/>
                <a:t>(Student     SC)) </a:t>
              </a:r>
            </a:p>
            <a:p>
              <a:pPr lvl="1"/>
              <a:endParaRPr lang="en-US" altLang="zh-CN" sz="2600" b="1" dirty="0">
                <a:solidFill>
                  <a:srgbClr val="C00000"/>
                </a:solidFill>
              </a:endParaRPr>
            </a:p>
            <a:p>
              <a:pPr lvl="1"/>
              <a:r>
                <a:rPr lang="en-US" altLang="zh-CN" sz="2600" b="1" dirty="0">
                  <a:solidFill>
                    <a:srgbClr val="C00000"/>
                  </a:solidFill>
                </a:rPr>
                <a:t>Q3</a:t>
              </a:r>
              <a:r>
                <a:rPr lang="en-US" altLang="zh-CN" sz="2600" b="1" dirty="0"/>
                <a:t>=</a:t>
              </a:r>
              <a:r>
                <a:rPr lang="en-US" altLang="zh-CN" sz="2600" b="1" dirty="0" err="1">
                  <a:latin typeface="宋体" pitchFamily="2" charset="-122"/>
                </a:rPr>
                <a:t>п</a:t>
              </a:r>
              <a:r>
                <a:rPr lang="en-US" altLang="zh-CN" sz="2600" b="1" baseline="-15000" dirty="0" err="1"/>
                <a:t>Sname</a:t>
              </a:r>
              <a:r>
                <a:rPr lang="en-US" altLang="zh-CN" sz="2600" b="1" dirty="0"/>
                <a:t>(Student     </a:t>
              </a:r>
              <a:r>
                <a:rPr lang="en-US" altLang="zh-CN" sz="2600" b="1" dirty="0" err="1">
                  <a:latin typeface="宋体" pitchFamily="2" charset="-122"/>
                </a:rPr>
                <a:t>δ</a:t>
              </a:r>
              <a:r>
                <a:rPr lang="en-US" altLang="zh-CN" sz="2600" b="1" baseline="-25000" dirty="0" err="1">
                  <a:solidFill>
                    <a:srgbClr val="0000FF"/>
                  </a:solidFill>
                </a:rPr>
                <a:t>sc.cno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='2'</a:t>
              </a:r>
              <a:r>
                <a:rPr lang="en-US" altLang="zh-CN" sz="2600" b="1" dirty="0"/>
                <a:t>(SC))</a:t>
              </a:r>
              <a:endParaRPr lang="zh-CN" altLang="en-US" sz="2600" b="1" dirty="0"/>
            </a:p>
          </p:txBody>
        </p:sp>
        <p:sp>
          <p:nvSpPr>
            <p:cNvPr id="9" name="下箭头 8"/>
            <p:cNvSpPr/>
            <p:nvPr/>
          </p:nvSpPr>
          <p:spPr bwMode="auto">
            <a:xfrm>
              <a:off x="4305300" y="4854239"/>
              <a:ext cx="609600" cy="375557"/>
            </a:xfrm>
            <a:prstGeom prst="downArrow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2" name="AutoShape 5"/>
            <p:cNvSpPr>
              <a:spLocks noChangeArrowheads="1"/>
            </p:cNvSpPr>
            <p:nvPr/>
          </p:nvSpPr>
          <p:spPr bwMode="auto">
            <a:xfrm rot="5521025">
              <a:off x="5795105" y="5245669"/>
              <a:ext cx="228600" cy="381000"/>
            </a:xfrm>
            <a:prstGeom prst="flowChartCollat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utoShape 5"/>
            <p:cNvSpPr>
              <a:spLocks noChangeArrowheads="1"/>
            </p:cNvSpPr>
            <p:nvPr/>
          </p:nvSpPr>
          <p:spPr bwMode="auto">
            <a:xfrm rot="5521025">
              <a:off x="4076041" y="6125879"/>
              <a:ext cx="228600" cy="381000"/>
            </a:xfrm>
            <a:prstGeom prst="flowChartCollat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下箭头 8">
              <a:extLst>
                <a:ext uri="{FF2B5EF4-FFF2-40B4-BE49-F238E27FC236}">
                  <a16:creationId xmlns:a16="http://schemas.microsoft.com/office/drawing/2014/main" id="{201FC66E-3D3E-9857-4FCA-C2367B565945}"/>
                </a:ext>
              </a:extLst>
            </p:cNvPr>
            <p:cNvSpPr/>
            <p:nvPr/>
          </p:nvSpPr>
          <p:spPr bwMode="auto">
            <a:xfrm>
              <a:off x="4305300" y="5705591"/>
              <a:ext cx="609600" cy="375557"/>
            </a:xfrm>
            <a:prstGeom prst="downArrow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E4CE0E-91D7-462B-847A-79FDD307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06672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D24B0EB-CAA9-453C-B2FB-648BC146F2E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9.1 </a:t>
            </a:r>
            <a:r>
              <a:rPr lang="zh-CN" altLang="en-US"/>
              <a:t>关系数据库系统的查询处理</a:t>
            </a:r>
          </a:p>
          <a:p>
            <a:r>
              <a:rPr lang="en-US" altLang="zh-CN"/>
              <a:t>9.2 </a:t>
            </a:r>
            <a:r>
              <a:rPr lang="zh-CN" altLang="en-US"/>
              <a:t>关系数据库系统的查询优化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9.3 </a:t>
            </a:r>
            <a:r>
              <a:rPr lang="zh-CN" altLang="en-US"/>
              <a:t>代数优化</a:t>
            </a:r>
          </a:p>
          <a:p>
            <a:r>
              <a:rPr lang="en-US" altLang="zh-CN"/>
              <a:t>9.4 </a:t>
            </a:r>
            <a:r>
              <a:rPr lang="zh-CN" altLang="en-US"/>
              <a:t>物理优化</a:t>
            </a:r>
          </a:p>
        </p:txBody>
      </p:sp>
      <p:sp>
        <p:nvSpPr>
          <p:cNvPr id="487428" name="AutoShape 4"/>
          <p:cNvSpPr>
            <a:spLocks noChangeArrowheads="1"/>
          </p:cNvSpPr>
          <p:nvPr/>
        </p:nvSpPr>
        <p:spPr bwMode="auto">
          <a:xfrm>
            <a:off x="838200" y="2895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CAE0F4-590C-47F9-9113-6EA688D7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29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EB85CE08-E40B-48EA-9B12-AF9A466092B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9.3 </a:t>
            </a:r>
            <a:r>
              <a:rPr lang="zh-CN" altLang="en-US"/>
              <a:t>代数优化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代数优化策略  </a:t>
            </a:r>
          </a:p>
          <a:p>
            <a:pPr lvl="1"/>
            <a:r>
              <a:rPr lang="zh-CN" altLang="en-US" dirty="0"/>
              <a:t>通过对</a:t>
            </a:r>
            <a:r>
              <a:rPr lang="zh-CN" altLang="en-US" b="1" dirty="0">
                <a:solidFill>
                  <a:schemeClr val="tx2"/>
                </a:solidFill>
              </a:rPr>
              <a:t>关系代数表达式的等价变换</a:t>
            </a:r>
            <a:r>
              <a:rPr lang="zh-CN" altLang="en-US" dirty="0">
                <a:solidFill>
                  <a:srgbClr val="FF0000"/>
                </a:solidFill>
              </a:rPr>
              <a:t>来提高效率</a:t>
            </a:r>
          </a:p>
          <a:p>
            <a:endParaRPr lang="zh-CN" altLang="en-US" sz="800" dirty="0"/>
          </a:p>
          <a:p>
            <a:r>
              <a:rPr lang="zh-CN" altLang="en-US" dirty="0">
                <a:solidFill>
                  <a:srgbClr val="C00000"/>
                </a:solidFill>
              </a:rPr>
              <a:t>代数表达式的等价  </a:t>
            </a:r>
          </a:p>
          <a:p>
            <a:pPr lvl="1"/>
            <a:r>
              <a:rPr lang="zh-CN" altLang="en-US" dirty="0"/>
              <a:t>指用</a:t>
            </a:r>
            <a:r>
              <a:rPr lang="zh-CN" altLang="en-US" dirty="0">
                <a:solidFill>
                  <a:schemeClr val="tx2"/>
                </a:solidFill>
              </a:rPr>
              <a:t>相同的关系代数</a:t>
            </a:r>
            <a:r>
              <a:rPr lang="zh-CN" altLang="en-US" dirty="0"/>
              <a:t>代替</a:t>
            </a:r>
            <a:r>
              <a:rPr lang="zh-CN" altLang="en-US" dirty="0">
                <a:solidFill>
                  <a:schemeClr val="tx2"/>
                </a:solidFill>
              </a:rPr>
              <a:t>两个表达式中相应的关系</a:t>
            </a:r>
            <a:r>
              <a:rPr lang="zh-CN" altLang="en-US" dirty="0"/>
              <a:t>所得到的结果相同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53F9EC-9038-477C-8EAE-CCBB4778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30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D62A383-09FE-4B32-95A1-04C80AA2094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270128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1. </a:t>
            </a:r>
            <a:r>
              <a:rPr lang="zh-CN" altLang="en-US" dirty="0">
                <a:solidFill>
                  <a:schemeClr val="tx2"/>
                </a:solidFill>
              </a:rPr>
              <a:t>连接、笛卡儿积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>
              <a:buClr>
                <a:schemeClr val="hlink"/>
              </a:buClr>
            </a:pPr>
            <a:r>
              <a:rPr lang="en-US" altLang="zh-CN" dirty="0"/>
              <a:t>E1×E2 = E2×E1</a:t>
            </a:r>
          </a:p>
          <a:p>
            <a:pPr>
              <a:buClr>
                <a:schemeClr val="hlink"/>
              </a:buClr>
            </a:pPr>
            <a:r>
              <a:rPr lang="en-US" altLang="zh-CN" dirty="0"/>
              <a:t>E1    E2 = E2    E1</a:t>
            </a:r>
          </a:p>
          <a:p>
            <a:pPr>
              <a:buClr>
                <a:schemeClr val="hlink"/>
              </a:buClr>
            </a:pPr>
            <a:r>
              <a:rPr lang="en-US" altLang="zh-CN" dirty="0"/>
              <a:t>E1    E2 = E2    E1</a:t>
            </a:r>
          </a:p>
          <a:p>
            <a:endParaRPr lang="zh-CN" altLang="en-US" dirty="0"/>
          </a:p>
        </p:txBody>
      </p:sp>
      <p:sp>
        <p:nvSpPr>
          <p:cNvPr id="454660" name="AutoShape 4"/>
          <p:cNvSpPr>
            <a:spLocks noChangeArrowheads="1"/>
          </p:cNvSpPr>
          <p:nvPr/>
        </p:nvSpPr>
        <p:spPr bwMode="auto">
          <a:xfrm rot="5521025">
            <a:off x="1600200" y="27051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61" name="AutoShape 5"/>
          <p:cNvSpPr>
            <a:spLocks noChangeArrowheads="1"/>
          </p:cNvSpPr>
          <p:nvPr/>
        </p:nvSpPr>
        <p:spPr bwMode="auto">
          <a:xfrm rot="5521025">
            <a:off x="3568700" y="27178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62" name="AutoShape 6"/>
          <p:cNvSpPr>
            <a:spLocks noChangeArrowheads="1"/>
          </p:cNvSpPr>
          <p:nvPr/>
        </p:nvSpPr>
        <p:spPr bwMode="auto">
          <a:xfrm rot="5521025">
            <a:off x="3581400" y="32766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63" name="AutoShape 7"/>
          <p:cNvSpPr>
            <a:spLocks noChangeArrowheads="1"/>
          </p:cNvSpPr>
          <p:nvPr/>
        </p:nvSpPr>
        <p:spPr bwMode="auto">
          <a:xfrm rot="5521025">
            <a:off x="1600200" y="32766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64" name="Text Box 8"/>
          <p:cNvSpPr txBox="1">
            <a:spLocks noChangeArrowheads="1"/>
          </p:cNvSpPr>
          <p:nvPr/>
        </p:nvSpPr>
        <p:spPr bwMode="auto">
          <a:xfrm>
            <a:off x="15367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/>
              <a:t>F</a:t>
            </a:r>
            <a:endParaRPr kumimoji="1" lang="zh-CN" altLang="en-US" sz="1400"/>
          </a:p>
        </p:txBody>
      </p:sp>
      <p:sp>
        <p:nvSpPr>
          <p:cNvPr id="454665" name="Text Box 9"/>
          <p:cNvSpPr txBox="1">
            <a:spLocks noChangeArrowheads="1"/>
          </p:cNvSpPr>
          <p:nvPr/>
        </p:nvSpPr>
        <p:spPr bwMode="auto">
          <a:xfrm>
            <a:off x="3530600" y="34925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/>
              <a:t>F</a:t>
            </a:r>
            <a:endParaRPr kumimoji="1" lang="zh-CN" altLang="en-US" sz="1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434FD0-F0A4-E111-42A0-B276DEB8E7EC}"/>
              </a:ext>
            </a:extLst>
          </p:cNvPr>
          <p:cNvSpPr txBox="1"/>
          <p:nvPr/>
        </p:nvSpPr>
        <p:spPr>
          <a:xfrm>
            <a:off x="1737997" y="5436591"/>
            <a:ext cx="25656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E1                 E2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BD0D85-93FF-E905-A5DC-5F20E7C81C11}"/>
              </a:ext>
            </a:extLst>
          </p:cNvPr>
          <p:cNvSpPr txBox="1"/>
          <p:nvPr/>
        </p:nvSpPr>
        <p:spPr>
          <a:xfrm>
            <a:off x="2489889" y="4429215"/>
            <a:ext cx="106186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8563B6-3D96-7794-6A04-0D6C131C19CC}"/>
              </a:ext>
            </a:extLst>
          </p:cNvPr>
          <p:cNvCxnSpPr>
            <a:cxnSpLocks/>
          </p:cNvCxnSpPr>
          <p:nvPr/>
        </p:nvCxnSpPr>
        <p:spPr bwMode="auto">
          <a:xfrm flipH="1">
            <a:off x="2128726" y="4853947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D853A90-87FC-2B71-5D9E-752531C44113}"/>
              </a:ext>
            </a:extLst>
          </p:cNvPr>
          <p:cNvCxnSpPr>
            <a:cxnSpLocks/>
          </p:cNvCxnSpPr>
          <p:nvPr/>
        </p:nvCxnSpPr>
        <p:spPr bwMode="auto">
          <a:xfrm>
            <a:off x="3299725" y="4867864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CD03275-A4A6-0A81-B6D3-E225F0BA080E}"/>
              </a:ext>
            </a:extLst>
          </p:cNvPr>
          <p:cNvSpPr txBox="1"/>
          <p:nvPr/>
        </p:nvSpPr>
        <p:spPr>
          <a:xfrm>
            <a:off x="5188260" y="5421751"/>
            <a:ext cx="25656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E2                 E1 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D3BE84-2C99-49EC-989F-C21D3AFD8723}"/>
              </a:ext>
            </a:extLst>
          </p:cNvPr>
          <p:cNvSpPr txBox="1"/>
          <p:nvPr/>
        </p:nvSpPr>
        <p:spPr>
          <a:xfrm>
            <a:off x="5940152" y="4414375"/>
            <a:ext cx="106186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4709E17-5FFD-1214-BCFA-0DC0CBC3D6A4}"/>
              </a:ext>
            </a:extLst>
          </p:cNvPr>
          <p:cNvCxnSpPr>
            <a:cxnSpLocks/>
          </p:cNvCxnSpPr>
          <p:nvPr/>
        </p:nvCxnSpPr>
        <p:spPr bwMode="auto">
          <a:xfrm flipH="1">
            <a:off x="5578989" y="4839107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05986E5-FAB9-0AFE-98AF-93C22BE6DEC6}"/>
              </a:ext>
            </a:extLst>
          </p:cNvPr>
          <p:cNvCxnSpPr>
            <a:cxnSpLocks/>
          </p:cNvCxnSpPr>
          <p:nvPr/>
        </p:nvCxnSpPr>
        <p:spPr bwMode="auto">
          <a:xfrm>
            <a:off x="6749988" y="4853024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C137B19-3303-E1AB-8E18-E4D3330291BC}"/>
              </a:ext>
            </a:extLst>
          </p:cNvPr>
          <p:cNvCxnSpPr>
            <a:cxnSpLocks/>
          </p:cNvCxnSpPr>
          <p:nvPr/>
        </p:nvCxnSpPr>
        <p:spPr bwMode="auto">
          <a:xfrm>
            <a:off x="4072942" y="4918431"/>
            <a:ext cx="12961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444A59-0DF2-42B2-807F-84918B7F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31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FB42701A-79BB-4C3B-BA4B-A8F83818525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2485256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>
                <a:solidFill>
                  <a:schemeClr val="tx2"/>
                </a:solidFill>
              </a:rPr>
              <a:t>连接、笛卡儿积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结合律</a:t>
            </a:r>
            <a:r>
              <a:rPr lang="zh-CN" altLang="en-US" dirty="0"/>
              <a:t> </a:t>
            </a:r>
          </a:p>
          <a:p>
            <a:pPr lvl="1"/>
            <a:r>
              <a:rPr lang="en-US" altLang="zh-CN" sz="3200" dirty="0"/>
              <a:t>(E1×E2)×E3 = E1×(E2×E3)</a:t>
            </a:r>
          </a:p>
          <a:p>
            <a:pPr lvl="1"/>
            <a:r>
              <a:rPr lang="en-US" altLang="zh-CN" sz="3200" dirty="0"/>
              <a:t>(E1    E2)    E3 = E1    (E2    E3)</a:t>
            </a:r>
          </a:p>
          <a:p>
            <a:pPr lvl="1"/>
            <a:r>
              <a:rPr lang="en-US" altLang="zh-CN" sz="3200" dirty="0"/>
              <a:t>(E1    E2)    E3 = E1    (E2   </a:t>
            </a:r>
            <a:r>
              <a:rPr lang="en-US" altLang="zh-CN" sz="3200" baseline="-25000" dirty="0"/>
              <a:t>  </a:t>
            </a:r>
            <a:r>
              <a:rPr lang="en-US" altLang="zh-CN" sz="3200" dirty="0"/>
              <a:t>E3)</a:t>
            </a:r>
            <a:endParaRPr lang="zh-CN" altLang="en-US" sz="3200" dirty="0"/>
          </a:p>
        </p:txBody>
      </p:sp>
      <p:sp>
        <p:nvSpPr>
          <p:cNvPr id="455684" name="AutoShape 4"/>
          <p:cNvSpPr>
            <a:spLocks noChangeArrowheads="1"/>
          </p:cNvSpPr>
          <p:nvPr/>
        </p:nvSpPr>
        <p:spPr bwMode="auto">
          <a:xfrm rot="5521025">
            <a:off x="2209800" y="32766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85" name="Text Box 5"/>
          <p:cNvSpPr txBox="1">
            <a:spLocks noChangeArrowheads="1"/>
          </p:cNvSpPr>
          <p:nvPr/>
        </p:nvSpPr>
        <p:spPr bwMode="auto">
          <a:xfrm>
            <a:off x="21463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/>
              <a:t>F1</a:t>
            </a:r>
            <a:endParaRPr kumimoji="1" lang="zh-CN" altLang="en-US" sz="1400"/>
          </a:p>
        </p:txBody>
      </p:sp>
      <p:sp>
        <p:nvSpPr>
          <p:cNvPr id="455686" name="AutoShape 6"/>
          <p:cNvSpPr>
            <a:spLocks noChangeArrowheads="1"/>
          </p:cNvSpPr>
          <p:nvPr/>
        </p:nvSpPr>
        <p:spPr bwMode="auto">
          <a:xfrm rot="5521025">
            <a:off x="3327400" y="32893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87" name="Text Box 7"/>
          <p:cNvSpPr txBox="1">
            <a:spLocks noChangeArrowheads="1"/>
          </p:cNvSpPr>
          <p:nvPr/>
        </p:nvSpPr>
        <p:spPr bwMode="auto">
          <a:xfrm>
            <a:off x="3263900" y="35179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/>
              <a:t>F2</a:t>
            </a:r>
            <a:endParaRPr kumimoji="1" lang="zh-CN" altLang="en-US" sz="1400"/>
          </a:p>
        </p:txBody>
      </p:sp>
      <p:sp>
        <p:nvSpPr>
          <p:cNvPr id="455688" name="AutoShape 8"/>
          <p:cNvSpPr>
            <a:spLocks noChangeArrowheads="1"/>
          </p:cNvSpPr>
          <p:nvPr/>
        </p:nvSpPr>
        <p:spPr bwMode="auto">
          <a:xfrm rot="5521025">
            <a:off x="5257800" y="32766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89" name="Text Box 9"/>
          <p:cNvSpPr txBox="1">
            <a:spLocks noChangeArrowheads="1"/>
          </p:cNvSpPr>
          <p:nvPr/>
        </p:nvSpPr>
        <p:spPr bwMode="auto">
          <a:xfrm>
            <a:off x="51943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/>
              <a:t>F1</a:t>
            </a:r>
            <a:endParaRPr kumimoji="1" lang="zh-CN" altLang="en-US" sz="1400"/>
          </a:p>
        </p:txBody>
      </p:sp>
      <p:sp>
        <p:nvSpPr>
          <p:cNvPr id="455690" name="AutoShape 10"/>
          <p:cNvSpPr>
            <a:spLocks noChangeArrowheads="1"/>
          </p:cNvSpPr>
          <p:nvPr/>
        </p:nvSpPr>
        <p:spPr bwMode="auto">
          <a:xfrm rot="5521025">
            <a:off x="6400800" y="32766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91" name="Text Box 11"/>
          <p:cNvSpPr txBox="1">
            <a:spLocks noChangeArrowheads="1"/>
          </p:cNvSpPr>
          <p:nvPr/>
        </p:nvSpPr>
        <p:spPr bwMode="auto">
          <a:xfrm>
            <a:off x="63373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/>
              <a:t>F2</a:t>
            </a:r>
            <a:endParaRPr kumimoji="1" lang="zh-CN" altLang="en-US" sz="1400"/>
          </a:p>
        </p:txBody>
      </p:sp>
      <p:sp>
        <p:nvSpPr>
          <p:cNvPr id="455692" name="AutoShape 12"/>
          <p:cNvSpPr>
            <a:spLocks noChangeArrowheads="1"/>
          </p:cNvSpPr>
          <p:nvPr/>
        </p:nvSpPr>
        <p:spPr bwMode="auto">
          <a:xfrm rot="5521025">
            <a:off x="2197100" y="27432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93" name="AutoShape 13"/>
          <p:cNvSpPr>
            <a:spLocks noChangeArrowheads="1"/>
          </p:cNvSpPr>
          <p:nvPr/>
        </p:nvSpPr>
        <p:spPr bwMode="auto">
          <a:xfrm rot="5521025">
            <a:off x="3327400" y="27432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94" name="AutoShape 14"/>
          <p:cNvSpPr>
            <a:spLocks noChangeArrowheads="1"/>
          </p:cNvSpPr>
          <p:nvPr/>
        </p:nvSpPr>
        <p:spPr bwMode="auto">
          <a:xfrm rot="5521025">
            <a:off x="5257800" y="27432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95" name="AutoShape 15"/>
          <p:cNvSpPr>
            <a:spLocks noChangeArrowheads="1"/>
          </p:cNvSpPr>
          <p:nvPr/>
        </p:nvSpPr>
        <p:spPr bwMode="auto">
          <a:xfrm rot="5521025">
            <a:off x="6370638" y="2743200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27DFAE-7E9A-C021-65AC-1C4DE51C529B}"/>
              </a:ext>
            </a:extLst>
          </p:cNvPr>
          <p:cNvSpPr txBox="1"/>
          <p:nvPr/>
        </p:nvSpPr>
        <p:spPr>
          <a:xfrm>
            <a:off x="713825" y="5971121"/>
            <a:ext cx="25656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E1                 E2 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EE1CC2-6598-AD5E-DADF-CDF8EFEECD64}"/>
              </a:ext>
            </a:extLst>
          </p:cNvPr>
          <p:cNvCxnSpPr>
            <a:cxnSpLocks/>
          </p:cNvCxnSpPr>
          <p:nvPr/>
        </p:nvCxnSpPr>
        <p:spPr bwMode="auto">
          <a:xfrm flipH="1">
            <a:off x="1104554" y="5388477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50D0F41-CE00-B156-37A3-57A72ADA9113}"/>
              </a:ext>
            </a:extLst>
          </p:cNvPr>
          <p:cNvCxnSpPr>
            <a:cxnSpLocks/>
          </p:cNvCxnSpPr>
          <p:nvPr/>
        </p:nvCxnSpPr>
        <p:spPr bwMode="auto">
          <a:xfrm>
            <a:off x="2275553" y="5402394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8AE5982-87E4-7531-E91B-2E7ABC75847D}"/>
              </a:ext>
            </a:extLst>
          </p:cNvPr>
          <p:cNvSpPr txBox="1"/>
          <p:nvPr/>
        </p:nvSpPr>
        <p:spPr>
          <a:xfrm>
            <a:off x="6309001" y="5939594"/>
            <a:ext cx="25656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E2                 E3 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07118D5-C202-C5B0-C8FB-954E3ABDA9E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99730" y="5356950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74FF1BA-2D22-80C4-D844-CDE0A2ACC3C0}"/>
              </a:ext>
            </a:extLst>
          </p:cNvPr>
          <p:cNvCxnSpPr>
            <a:cxnSpLocks/>
          </p:cNvCxnSpPr>
          <p:nvPr/>
        </p:nvCxnSpPr>
        <p:spPr bwMode="auto">
          <a:xfrm>
            <a:off x="7870729" y="5370867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C85371E-518A-A608-F47D-A77FD8CFFF2C}"/>
              </a:ext>
            </a:extLst>
          </p:cNvPr>
          <p:cNvCxnSpPr>
            <a:cxnSpLocks/>
          </p:cNvCxnSpPr>
          <p:nvPr/>
        </p:nvCxnSpPr>
        <p:spPr bwMode="auto">
          <a:xfrm>
            <a:off x="4072942" y="5003351"/>
            <a:ext cx="12961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AutoShape 12">
            <a:extLst>
              <a:ext uri="{FF2B5EF4-FFF2-40B4-BE49-F238E27FC236}">
                <a16:creationId xmlns:a16="http://schemas.microsoft.com/office/drawing/2014/main" id="{AD879ECD-4359-11D0-8BB8-995BA755C87C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1876983" y="5042469"/>
            <a:ext cx="208828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0F9F4-2D5B-C64F-3694-028394B7018B}"/>
              </a:ext>
            </a:extLst>
          </p:cNvPr>
          <p:cNvSpPr txBox="1"/>
          <p:nvPr/>
        </p:nvSpPr>
        <p:spPr>
          <a:xfrm>
            <a:off x="3386812" y="5024648"/>
            <a:ext cx="77383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E3</a:t>
            </a:r>
            <a:endParaRPr lang="zh-CN" altLang="en-US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1A69CDC-4E92-17C6-630B-8A75C2A72288}"/>
              </a:ext>
            </a:extLst>
          </p:cNvPr>
          <p:cNvCxnSpPr>
            <a:cxnSpLocks/>
          </p:cNvCxnSpPr>
          <p:nvPr/>
        </p:nvCxnSpPr>
        <p:spPr bwMode="auto">
          <a:xfrm flipH="1">
            <a:off x="1996584" y="4514199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1263C12-E086-903E-1C2E-DD540CACC6E7}"/>
              </a:ext>
            </a:extLst>
          </p:cNvPr>
          <p:cNvCxnSpPr>
            <a:cxnSpLocks/>
          </p:cNvCxnSpPr>
          <p:nvPr/>
        </p:nvCxnSpPr>
        <p:spPr bwMode="auto">
          <a:xfrm>
            <a:off x="3167583" y="4528116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AutoShape 12">
            <a:extLst>
              <a:ext uri="{FF2B5EF4-FFF2-40B4-BE49-F238E27FC236}">
                <a16:creationId xmlns:a16="http://schemas.microsoft.com/office/drawing/2014/main" id="{70CBB0EE-B7B9-3965-DA4C-2526367DABD3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2769013" y="4168191"/>
            <a:ext cx="208828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A0FC2F7-78D7-04F0-55AF-08AA1997F845}"/>
              </a:ext>
            </a:extLst>
          </p:cNvPr>
          <p:cNvCxnSpPr>
            <a:cxnSpLocks/>
          </p:cNvCxnSpPr>
          <p:nvPr/>
        </p:nvCxnSpPr>
        <p:spPr bwMode="auto">
          <a:xfrm flipH="1">
            <a:off x="5920172" y="4536038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5" name="AutoShape 12">
            <a:extLst>
              <a:ext uri="{FF2B5EF4-FFF2-40B4-BE49-F238E27FC236}">
                <a16:creationId xmlns:a16="http://schemas.microsoft.com/office/drawing/2014/main" id="{59D6E09A-7608-BB92-AE42-A03B3EF6231A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6653287" y="4189922"/>
            <a:ext cx="208828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ABD51CF-2EA7-A96A-BBC6-822DC22208FD}"/>
              </a:ext>
            </a:extLst>
          </p:cNvPr>
          <p:cNvSpPr txBox="1"/>
          <p:nvPr/>
        </p:nvSpPr>
        <p:spPr>
          <a:xfrm>
            <a:off x="5491288" y="5024648"/>
            <a:ext cx="77383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E1</a:t>
            </a:r>
            <a:endParaRPr lang="zh-CN" altLang="en-US" dirty="0"/>
          </a:p>
        </p:txBody>
      </p:sp>
      <p:sp>
        <p:nvSpPr>
          <p:cNvPr id="27" name="AutoShape 12">
            <a:extLst>
              <a:ext uri="{FF2B5EF4-FFF2-40B4-BE49-F238E27FC236}">
                <a16:creationId xmlns:a16="http://schemas.microsoft.com/office/drawing/2014/main" id="{89AC00FF-B305-386B-2C70-D67689F0C050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7389971" y="5110822"/>
            <a:ext cx="208828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92AA7B8-B0DC-8378-B8FE-D48B4537B0AE}"/>
              </a:ext>
            </a:extLst>
          </p:cNvPr>
          <p:cNvCxnSpPr>
            <a:cxnSpLocks/>
          </p:cNvCxnSpPr>
          <p:nvPr/>
        </p:nvCxnSpPr>
        <p:spPr bwMode="auto">
          <a:xfrm>
            <a:off x="6853112" y="4506819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787480-A4DE-4A6E-9F66-FA1CCAE1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32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9AACF90C-5B43-41BD-993F-54B5E40AD88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3. </a:t>
            </a:r>
            <a:r>
              <a:rPr lang="zh-CN" altLang="en-US" dirty="0">
                <a:solidFill>
                  <a:schemeClr val="tx2"/>
                </a:solidFill>
              </a:rPr>
              <a:t>投影的</a:t>
            </a:r>
            <a:r>
              <a:rPr lang="zh-CN" altLang="en-US" b="1" dirty="0">
                <a:solidFill>
                  <a:srgbClr val="0000FF"/>
                </a:solidFill>
              </a:rPr>
              <a:t>串接定律</a:t>
            </a:r>
          </a:p>
          <a:p>
            <a:pPr lvl="1"/>
            <a:r>
              <a:rPr lang="en-US" altLang="zh-CN" sz="3200" dirty="0"/>
              <a:t>Π</a:t>
            </a:r>
            <a:r>
              <a:rPr lang="en-US" altLang="zh-CN" sz="3200" baseline="-25000" dirty="0">
                <a:solidFill>
                  <a:schemeClr val="tx2"/>
                </a:solidFill>
              </a:rPr>
              <a:t>A1,A2,…,An</a:t>
            </a:r>
            <a:r>
              <a:rPr lang="en-US" altLang="zh-CN" sz="3200" dirty="0"/>
              <a:t>(Π</a:t>
            </a:r>
            <a:r>
              <a:rPr lang="en-US" altLang="zh-CN" sz="3200" baseline="-25000" dirty="0">
                <a:solidFill>
                  <a:schemeClr val="tx2"/>
                </a:solidFill>
              </a:rPr>
              <a:t>A1,A2,…,An</a:t>
            </a:r>
            <a:r>
              <a:rPr lang="en-US" altLang="zh-CN" sz="3200" baseline="-25000" dirty="0"/>
              <a:t>,</a:t>
            </a:r>
            <a:r>
              <a:rPr lang="en-US" altLang="zh-CN" sz="3200" baseline="-25000" dirty="0">
                <a:solidFill>
                  <a:srgbClr val="006600"/>
                </a:solidFill>
              </a:rPr>
              <a:t>B1,B2,…,</a:t>
            </a:r>
            <a:r>
              <a:rPr lang="en-US" altLang="zh-CN" sz="3200" baseline="-25000" dirty="0" err="1">
                <a:solidFill>
                  <a:srgbClr val="006600"/>
                </a:solidFill>
              </a:rPr>
              <a:t>Bn</a:t>
            </a:r>
            <a:r>
              <a:rPr lang="en-US" altLang="zh-CN" sz="3200" dirty="0"/>
              <a:t>(E))</a:t>
            </a:r>
            <a:endParaRPr lang="zh-CN" altLang="en-US" sz="3200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=</a:t>
            </a:r>
            <a:r>
              <a:rPr lang="en-US" altLang="zh-CN" sz="3600" dirty="0"/>
              <a:t>Π</a:t>
            </a:r>
            <a:r>
              <a:rPr lang="en-US" altLang="zh-CN" sz="3600" baseline="-25000" dirty="0"/>
              <a:t>A1,A2,…,An</a:t>
            </a:r>
            <a:r>
              <a:rPr lang="en-US" altLang="zh-CN" sz="3600" dirty="0"/>
              <a:t>(</a:t>
            </a:r>
            <a:r>
              <a:rPr lang="en-US" altLang="zh-CN" dirty="0"/>
              <a:t>E)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D0A3C2-C9CE-433F-BCA4-AA66FBA0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33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ED0FE458-A697-42A3-9095-FA397F7FC3F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3. </a:t>
            </a:r>
            <a:r>
              <a:rPr lang="zh-CN" altLang="en-US" dirty="0">
                <a:solidFill>
                  <a:schemeClr val="tx2"/>
                </a:solidFill>
              </a:rPr>
              <a:t>投影的</a:t>
            </a:r>
            <a:r>
              <a:rPr lang="zh-CN" altLang="en-US" b="1" dirty="0">
                <a:solidFill>
                  <a:srgbClr val="0000FF"/>
                </a:solidFill>
              </a:rPr>
              <a:t>串接定律</a:t>
            </a:r>
          </a:p>
          <a:p>
            <a:pPr lvl="1"/>
            <a:r>
              <a:rPr lang="en-US" altLang="zh-CN" sz="3200" dirty="0"/>
              <a:t>Π</a:t>
            </a:r>
            <a:r>
              <a:rPr lang="en-US" altLang="zh-CN" sz="3200" baseline="-25000" dirty="0">
                <a:solidFill>
                  <a:schemeClr val="tx2"/>
                </a:solidFill>
              </a:rPr>
              <a:t>A1,A2,…,An</a:t>
            </a:r>
            <a:r>
              <a:rPr lang="en-US" altLang="zh-CN" sz="3200" dirty="0"/>
              <a:t>(Π</a:t>
            </a:r>
            <a:r>
              <a:rPr lang="en-US" altLang="zh-CN" sz="3200" baseline="-25000" dirty="0">
                <a:solidFill>
                  <a:schemeClr val="tx2"/>
                </a:solidFill>
              </a:rPr>
              <a:t>A1,A2,…,An</a:t>
            </a:r>
            <a:r>
              <a:rPr lang="en-US" altLang="zh-CN" sz="3200" baseline="-25000" dirty="0"/>
              <a:t>,B1,B2,…,</a:t>
            </a:r>
            <a:r>
              <a:rPr lang="en-US" altLang="zh-CN" sz="3200" baseline="-25000" dirty="0" err="1"/>
              <a:t>Bn</a:t>
            </a:r>
            <a:r>
              <a:rPr lang="en-US" altLang="zh-CN" sz="3200" dirty="0"/>
              <a:t>(E))</a:t>
            </a:r>
            <a:endParaRPr lang="zh-CN" altLang="en-US" sz="3200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=</a:t>
            </a:r>
            <a:r>
              <a:rPr lang="en-US" altLang="zh-CN" sz="3600" dirty="0"/>
              <a:t>Π</a:t>
            </a:r>
            <a:r>
              <a:rPr lang="en-US" altLang="zh-CN" sz="3600" baseline="-25000" dirty="0"/>
              <a:t>A1,A2,…,An</a:t>
            </a:r>
            <a:r>
              <a:rPr lang="en-US" altLang="zh-CN" sz="3600" dirty="0"/>
              <a:t>(</a:t>
            </a:r>
            <a:r>
              <a:rPr lang="en-US" altLang="zh-CN" dirty="0"/>
              <a:t>E)</a:t>
            </a:r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r>
              <a:rPr lang="zh-CN" altLang="en-US" dirty="0"/>
              <a:t>常常</a:t>
            </a:r>
            <a:r>
              <a:rPr lang="zh-CN" altLang="en-US" dirty="0">
                <a:solidFill>
                  <a:srgbClr val="0000FF"/>
                </a:solidFill>
              </a:rPr>
              <a:t>反向使用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chemeClr val="tx2"/>
                </a:solidFill>
              </a:rPr>
              <a:t>增加投影数目</a:t>
            </a:r>
            <a:r>
              <a:rPr lang="zh-CN" altLang="en-US" dirty="0"/>
              <a:t>以便与</a:t>
            </a:r>
            <a:r>
              <a:rPr lang="en-US" altLang="zh-CN" dirty="0"/>
              <a:t>10</a:t>
            </a:r>
            <a:r>
              <a:rPr lang="zh-CN" altLang="en-US" dirty="0"/>
              <a:t>合用 </a:t>
            </a:r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9D83C1-3473-4570-AFF0-C858481A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4D594B31-85C2-476F-8238-94980D66F95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4. </a:t>
            </a:r>
            <a:r>
              <a:rPr lang="zh-CN" altLang="en-US" dirty="0">
                <a:solidFill>
                  <a:schemeClr val="tx2"/>
                </a:solidFill>
              </a:rPr>
              <a:t>选择的</a:t>
            </a:r>
            <a:r>
              <a:rPr lang="zh-CN" altLang="en-US" b="1" dirty="0">
                <a:solidFill>
                  <a:srgbClr val="0000FF"/>
                </a:solidFill>
              </a:rPr>
              <a:t>串接定律</a:t>
            </a:r>
          </a:p>
          <a:p>
            <a:pPr lvl="1"/>
            <a:r>
              <a:rPr lang="en-US" altLang="zh-CN" dirty="0"/>
              <a:t>σ</a:t>
            </a:r>
            <a:r>
              <a:rPr lang="en-US" altLang="zh-CN" baseline="-25000" dirty="0"/>
              <a:t>F1</a:t>
            </a:r>
            <a:r>
              <a:rPr lang="en-US" altLang="zh-CN" dirty="0"/>
              <a:t>(σ</a:t>
            </a:r>
            <a:r>
              <a:rPr lang="en-US" altLang="zh-CN" baseline="-25000" dirty="0"/>
              <a:t>F2</a:t>
            </a:r>
            <a:r>
              <a:rPr lang="en-US" altLang="zh-CN" dirty="0"/>
              <a:t>(E)) = σ</a:t>
            </a:r>
            <a:r>
              <a:rPr lang="en-US" altLang="zh-CN" baseline="-25000" dirty="0"/>
              <a:t>F1</a:t>
            </a:r>
            <a:r>
              <a:rPr lang="en-US" altLang="zh-CN" baseline="-25000" dirty="0">
                <a:solidFill>
                  <a:srgbClr val="0000FF"/>
                </a:solidFill>
              </a:rPr>
              <a:t>∧</a:t>
            </a:r>
            <a:r>
              <a:rPr lang="en-US" altLang="zh-CN" baseline="-25000" dirty="0"/>
              <a:t>F2</a:t>
            </a:r>
            <a:r>
              <a:rPr lang="en-US" altLang="zh-CN" dirty="0"/>
              <a:t>(E) 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45136C-8ED8-4EB7-9D60-CDB2C25B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A383B35-9B61-456B-9392-DBA8E4AF9F81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4. </a:t>
            </a:r>
            <a:r>
              <a:rPr lang="zh-CN" altLang="en-US" dirty="0">
                <a:solidFill>
                  <a:schemeClr val="tx2"/>
                </a:solidFill>
              </a:rPr>
              <a:t>选择的</a:t>
            </a:r>
            <a:r>
              <a:rPr lang="zh-CN" altLang="en-US" b="1" dirty="0">
                <a:solidFill>
                  <a:srgbClr val="0000FF"/>
                </a:solidFill>
              </a:rPr>
              <a:t>串接定律</a:t>
            </a:r>
          </a:p>
          <a:p>
            <a:pPr lvl="1"/>
            <a:r>
              <a:rPr lang="en-US" altLang="zh-CN" dirty="0"/>
              <a:t>σ</a:t>
            </a:r>
            <a:r>
              <a:rPr lang="en-US" altLang="zh-CN" baseline="-25000" dirty="0"/>
              <a:t>F1</a:t>
            </a:r>
            <a:r>
              <a:rPr lang="en-US" altLang="zh-CN" dirty="0"/>
              <a:t>(σ</a:t>
            </a:r>
            <a:r>
              <a:rPr lang="en-US" altLang="zh-CN" baseline="-25000" dirty="0"/>
              <a:t>F2</a:t>
            </a:r>
            <a:r>
              <a:rPr lang="en-US" altLang="zh-CN" dirty="0"/>
              <a:t>(E)) = σ</a:t>
            </a:r>
            <a:r>
              <a:rPr lang="en-US" altLang="zh-CN" baseline="-25000" dirty="0"/>
              <a:t>F1∧F2</a:t>
            </a:r>
            <a:r>
              <a:rPr lang="en-US" altLang="zh-CN" dirty="0"/>
              <a:t>(E) 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常常</a:t>
            </a:r>
            <a:r>
              <a:rPr lang="zh-CN" altLang="en-US" dirty="0">
                <a:solidFill>
                  <a:srgbClr val="0000FF"/>
                </a:solidFill>
              </a:rPr>
              <a:t>反向使用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chemeClr val="tx2"/>
                </a:solidFill>
              </a:rPr>
              <a:t>增加选择数目</a:t>
            </a:r>
            <a:r>
              <a:rPr lang="zh-CN" altLang="en-US" dirty="0"/>
              <a:t>以便与</a:t>
            </a:r>
            <a:r>
              <a:rPr lang="en-US" altLang="zh-CN" dirty="0"/>
              <a:t>6</a:t>
            </a:r>
            <a:r>
              <a:rPr lang="zh-CN" altLang="en-US" dirty="0"/>
              <a:t>合用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2173CD7-63F4-4BF2-B8A1-079AE778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5558746-C7CB-4679-9F64-F026CA6A08B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5. </a:t>
            </a:r>
            <a:r>
              <a:rPr lang="zh-CN" altLang="en-US" dirty="0">
                <a:solidFill>
                  <a:srgbClr val="0000FF"/>
                </a:solidFill>
              </a:rPr>
              <a:t>选择</a:t>
            </a:r>
            <a:r>
              <a:rPr lang="zh-CN" altLang="en-US" dirty="0">
                <a:solidFill>
                  <a:schemeClr val="tx2"/>
                </a:solidFill>
              </a:rPr>
              <a:t>与</a:t>
            </a:r>
            <a:r>
              <a:rPr lang="zh-CN" altLang="en-US" dirty="0">
                <a:solidFill>
                  <a:srgbClr val="0000FF"/>
                </a:solidFill>
              </a:rPr>
              <a:t>投影</a:t>
            </a:r>
            <a:r>
              <a:rPr lang="zh-CN" altLang="en-US" dirty="0"/>
              <a:t>操作的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>
              <a:buFont typeface="Wingdings" pitchFamily="2" charset="2"/>
              <a:buNone/>
            </a:pP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sz="3600" dirty="0"/>
              <a:t>(Π</a:t>
            </a:r>
            <a:r>
              <a:rPr lang="en-US" altLang="zh-CN" sz="3600" baseline="-25000" dirty="0"/>
              <a:t>A1,A2,…,An</a:t>
            </a:r>
            <a:r>
              <a:rPr lang="en-US" altLang="zh-CN" sz="3600" dirty="0"/>
              <a:t>(</a:t>
            </a:r>
            <a:r>
              <a:rPr lang="en-US" altLang="zh-CN" dirty="0"/>
              <a:t>E)) = </a:t>
            </a:r>
            <a:r>
              <a:rPr lang="en-US" altLang="zh-CN" sz="3600" dirty="0"/>
              <a:t>Π</a:t>
            </a:r>
            <a:r>
              <a:rPr lang="en-US" altLang="zh-CN" sz="3600" baseline="-25000" dirty="0"/>
              <a:t>A1,A2,…,An</a:t>
            </a:r>
            <a:r>
              <a:rPr lang="en-US" altLang="zh-CN" sz="3600" dirty="0"/>
              <a:t>(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sz="3600" dirty="0"/>
              <a:t>(</a:t>
            </a:r>
            <a:r>
              <a:rPr lang="en-US" altLang="zh-CN" dirty="0"/>
              <a:t>E)) 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28E0BF-D3C3-4BFF-1B3D-BE711662FFD7}"/>
              </a:ext>
            </a:extLst>
          </p:cNvPr>
          <p:cNvSpPr txBox="1"/>
          <p:nvPr/>
        </p:nvSpPr>
        <p:spPr>
          <a:xfrm>
            <a:off x="1115616" y="4293096"/>
            <a:ext cx="558762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sng" dirty="0"/>
              <a:t>备注：选择的</a:t>
            </a:r>
            <a:r>
              <a:rPr lang="zh-CN" altLang="en-US" b="1" u="sng" dirty="0">
                <a:solidFill>
                  <a:srgbClr val="FF0000"/>
                </a:solidFill>
              </a:rPr>
              <a:t>条件</a:t>
            </a:r>
            <a:r>
              <a:rPr lang="en-US" altLang="zh-CN" b="1" u="sng" dirty="0">
                <a:solidFill>
                  <a:srgbClr val="FF0000"/>
                </a:solidFill>
              </a:rPr>
              <a:t>F</a:t>
            </a:r>
            <a:r>
              <a:rPr lang="zh-CN" altLang="en-US" b="1" u="sng" dirty="0">
                <a:solidFill>
                  <a:srgbClr val="FF0000"/>
                </a:solidFill>
              </a:rPr>
              <a:t>只涉及</a:t>
            </a:r>
            <a:r>
              <a:rPr lang="en-US" altLang="zh-CN" u="sng" dirty="0"/>
              <a:t>A1,</a:t>
            </a:r>
            <a:r>
              <a:rPr lang="zh-CN" altLang="en-US" u="sng" dirty="0"/>
              <a:t> </a:t>
            </a:r>
            <a:r>
              <a:rPr lang="en-US" altLang="zh-CN" u="sng" dirty="0"/>
              <a:t>A2,…., An</a:t>
            </a:r>
            <a:endParaRPr lang="zh-CN" altLang="en-US" u="sng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669384-49D1-44BD-A581-1AEEB5C9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1F7046E5-AB05-4467-8A8D-A8FEB6C34CAE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6. </a:t>
            </a:r>
            <a:r>
              <a:rPr lang="zh-CN" altLang="en-US" dirty="0">
                <a:solidFill>
                  <a:schemeClr val="tx2"/>
                </a:solidFill>
              </a:rPr>
              <a:t>选择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tx2"/>
                </a:solidFill>
              </a:rPr>
              <a:t>笛卡儿积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 lvl="1"/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)×E</a:t>
            </a:r>
            <a:r>
              <a:rPr lang="en-US" altLang="zh-CN" sz="3200" baseline="-25000" dirty="0"/>
              <a:t>2</a:t>
            </a:r>
            <a:endParaRPr lang="en-US" altLang="zh-CN" dirty="0"/>
          </a:p>
          <a:p>
            <a:pPr lvl="2"/>
            <a:r>
              <a:rPr lang="zh-CN" altLang="en-US" sz="2800" dirty="0">
                <a:solidFill>
                  <a:schemeClr val="tx2"/>
                </a:solidFill>
              </a:rPr>
              <a:t>若</a:t>
            </a: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</a:rPr>
              <a:t>仅涉及</a:t>
            </a:r>
            <a:r>
              <a:rPr lang="en-US" altLang="zh-CN" dirty="0">
                <a:solidFill>
                  <a:schemeClr val="tx2"/>
                </a:solidFill>
              </a:rPr>
              <a:t>E</a:t>
            </a:r>
            <a:r>
              <a:rPr lang="en-US" altLang="zh-CN" sz="28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D5C8D4-5DF6-F3F3-7455-5C9E95FA4203}"/>
              </a:ext>
            </a:extLst>
          </p:cNvPr>
          <p:cNvSpPr txBox="1"/>
          <p:nvPr/>
        </p:nvSpPr>
        <p:spPr>
          <a:xfrm>
            <a:off x="788479" y="5404882"/>
            <a:ext cx="25656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E1                 E2 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7A3D6D3-FC1C-5CEF-5689-A4321F7BC4FD}"/>
              </a:ext>
            </a:extLst>
          </p:cNvPr>
          <p:cNvCxnSpPr>
            <a:cxnSpLocks/>
          </p:cNvCxnSpPr>
          <p:nvPr/>
        </p:nvCxnSpPr>
        <p:spPr bwMode="auto">
          <a:xfrm flipH="1">
            <a:off x="1179208" y="4822238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5C971F9-1451-E6F9-1F62-CFD864FAA035}"/>
              </a:ext>
            </a:extLst>
          </p:cNvPr>
          <p:cNvCxnSpPr>
            <a:cxnSpLocks/>
          </p:cNvCxnSpPr>
          <p:nvPr/>
        </p:nvCxnSpPr>
        <p:spPr bwMode="auto">
          <a:xfrm>
            <a:off x="2350207" y="4836155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30F2996-2874-C7CC-9C0A-3D5F3BE8B8AA}"/>
              </a:ext>
            </a:extLst>
          </p:cNvPr>
          <p:cNvSpPr txBox="1"/>
          <p:nvPr/>
        </p:nvSpPr>
        <p:spPr>
          <a:xfrm>
            <a:off x="6328542" y="5373355"/>
            <a:ext cx="262076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E1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A24E08B-E4EF-2F3E-D3CB-264054E5E389}"/>
              </a:ext>
            </a:extLst>
          </p:cNvPr>
          <p:cNvCxnSpPr>
            <a:cxnSpLocks/>
          </p:cNvCxnSpPr>
          <p:nvPr/>
        </p:nvCxnSpPr>
        <p:spPr bwMode="auto">
          <a:xfrm>
            <a:off x="6516216" y="4791702"/>
            <a:ext cx="0" cy="509458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FE7329B-865C-DB25-1AA6-5D6E5298A410}"/>
              </a:ext>
            </a:extLst>
          </p:cNvPr>
          <p:cNvCxnSpPr>
            <a:cxnSpLocks/>
          </p:cNvCxnSpPr>
          <p:nvPr/>
        </p:nvCxnSpPr>
        <p:spPr bwMode="auto">
          <a:xfrm>
            <a:off x="7641918" y="3996072"/>
            <a:ext cx="458474" cy="368584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4CB7F3C-D9B2-8BC3-AA98-2DAF6EAE71FC}"/>
              </a:ext>
            </a:extLst>
          </p:cNvPr>
          <p:cNvCxnSpPr>
            <a:cxnSpLocks/>
          </p:cNvCxnSpPr>
          <p:nvPr/>
        </p:nvCxnSpPr>
        <p:spPr bwMode="auto">
          <a:xfrm>
            <a:off x="4147596" y="4437112"/>
            <a:ext cx="1296144" cy="0"/>
          </a:xfrm>
          <a:prstGeom prst="straightConnector1">
            <a:avLst/>
          </a:prstGeom>
          <a:ln w="571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1CCE43E-7E5C-8DBD-EA18-2A6CE616F02F}"/>
              </a:ext>
            </a:extLst>
          </p:cNvPr>
          <p:cNvCxnSpPr>
            <a:cxnSpLocks/>
          </p:cNvCxnSpPr>
          <p:nvPr/>
        </p:nvCxnSpPr>
        <p:spPr bwMode="auto">
          <a:xfrm>
            <a:off x="2071238" y="3868016"/>
            <a:ext cx="0" cy="5764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E098ACC-44AA-30EA-0983-F1BA90AAFDC9}"/>
              </a:ext>
            </a:extLst>
          </p:cNvPr>
          <p:cNvCxnSpPr>
            <a:cxnSpLocks/>
            <a:endCxn id="25" idx="0"/>
          </p:cNvCxnSpPr>
          <p:nvPr/>
        </p:nvCxnSpPr>
        <p:spPr bwMode="auto">
          <a:xfrm flipH="1">
            <a:off x="6612674" y="3996072"/>
            <a:ext cx="460088" cy="368584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1842FB1-50B4-5526-0047-D1D024463DB3}"/>
              </a:ext>
            </a:extLst>
          </p:cNvPr>
          <p:cNvSpPr txBox="1"/>
          <p:nvPr/>
        </p:nvSpPr>
        <p:spPr>
          <a:xfrm>
            <a:off x="1813560" y="3327397"/>
            <a:ext cx="56826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87B5C5-C896-B452-B207-5A48C9A4B00A}"/>
              </a:ext>
            </a:extLst>
          </p:cNvPr>
          <p:cNvSpPr txBox="1"/>
          <p:nvPr/>
        </p:nvSpPr>
        <p:spPr>
          <a:xfrm>
            <a:off x="6328542" y="4364656"/>
            <a:ext cx="56826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18BE99-7682-F174-F5C9-B820D10E9B95}"/>
              </a:ext>
            </a:extLst>
          </p:cNvPr>
          <p:cNvSpPr txBox="1"/>
          <p:nvPr/>
        </p:nvSpPr>
        <p:spPr>
          <a:xfrm>
            <a:off x="7828463" y="4368020"/>
            <a:ext cx="77383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E2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A1C4FA-B38A-28D9-B1B8-9DDD66E7219A}"/>
              </a:ext>
            </a:extLst>
          </p:cNvPr>
          <p:cNvSpPr txBox="1"/>
          <p:nvPr/>
        </p:nvSpPr>
        <p:spPr>
          <a:xfrm>
            <a:off x="1781239" y="4499955"/>
            <a:ext cx="50405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D22D84-9C3D-6E88-067D-6C45DD20CBED}"/>
              </a:ext>
            </a:extLst>
          </p:cNvPr>
          <p:cNvSpPr txBox="1"/>
          <p:nvPr/>
        </p:nvSpPr>
        <p:spPr>
          <a:xfrm>
            <a:off x="7104866" y="3655650"/>
            <a:ext cx="50405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F4D4EDB-65E8-4DE3-90AE-382A96CE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807238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CE80112-C573-4663-93A8-293719FB5269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6. </a:t>
            </a:r>
            <a:r>
              <a:rPr lang="zh-CN" altLang="en-US" dirty="0">
                <a:solidFill>
                  <a:schemeClr val="tx2"/>
                </a:solidFill>
              </a:rPr>
              <a:t>选择与笛卡儿积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 lvl="1"/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)×E</a:t>
            </a:r>
            <a:r>
              <a:rPr lang="en-US" altLang="zh-CN" sz="3200" baseline="-25000" dirty="0"/>
              <a:t>2</a:t>
            </a:r>
            <a:endParaRPr lang="en-US" altLang="zh-CN" dirty="0"/>
          </a:p>
          <a:p>
            <a:pPr lvl="2"/>
            <a:r>
              <a:rPr lang="zh-CN" altLang="en-US" sz="2800" dirty="0">
                <a:solidFill>
                  <a:schemeClr val="tx2"/>
                </a:solidFill>
              </a:rPr>
              <a:t>若</a:t>
            </a: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</a:rPr>
              <a:t>仅涉及</a:t>
            </a:r>
            <a:r>
              <a:rPr lang="en-US" altLang="zh-CN" dirty="0">
                <a:solidFill>
                  <a:schemeClr val="tx2"/>
                </a:solidFill>
              </a:rPr>
              <a:t>E</a:t>
            </a:r>
            <a:r>
              <a:rPr lang="en-US" altLang="zh-CN" sz="28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σ</a:t>
            </a:r>
            <a:r>
              <a:rPr lang="en-US" altLang="zh-CN" baseline="-25000" dirty="0"/>
              <a:t>F1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 σ</a:t>
            </a:r>
            <a:r>
              <a:rPr lang="en-US" altLang="zh-CN" baseline="-25000" dirty="0"/>
              <a:t>F2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sz="2800" dirty="0">
                <a:solidFill>
                  <a:schemeClr val="tx2"/>
                </a:solidFill>
              </a:rPr>
              <a:t>若</a:t>
            </a:r>
            <a:r>
              <a:rPr lang="en-US" altLang="zh-CN" sz="2800" dirty="0">
                <a:solidFill>
                  <a:schemeClr val="tx2"/>
                </a:solidFill>
              </a:rPr>
              <a:t>F=F1∧F2</a:t>
            </a:r>
            <a:r>
              <a:rPr lang="en-US" altLang="zh-CN" sz="2800" dirty="0"/>
              <a:t>,</a:t>
            </a:r>
            <a:r>
              <a:rPr lang="zh-CN" altLang="en-US" sz="2800" dirty="0"/>
              <a:t>且</a:t>
            </a:r>
            <a:r>
              <a:rPr lang="en-US" altLang="zh-CN" sz="2800" dirty="0">
                <a:solidFill>
                  <a:schemeClr val="tx2"/>
                </a:solidFill>
              </a:rPr>
              <a:t>F1</a:t>
            </a:r>
            <a:r>
              <a:rPr lang="zh-CN" altLang="en-US" sz="2800" dirty="0">
                <a:solidFill>
                  <a:srgbClr val="FF0000"/>
                </a:solidFill>
              </a:rPr>
              <a:t>只涉及到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的属性，而</a:t>
            </a:r>
            <a:r>
              <a:rPr lang="en-US" altLang="zh-CN" sz="2800" dirty="0">
                <a:solidFill>
                  <a:schemeClr val="tx2"/>
                </a:solidFill>
              </a:rPr>
              <a:t>F2</a:t>
            </a:r>
            <a:r>
              <a:rPr lang="zh-CN" altLang="en-US" sz="2800" dirty="0">
                <a:solidFill>
                  <a:srgbClr val="FF0000"/>
                </a:solidFill>
              </a:rPr>
              <a:t>只涉及到</a:t>
            </a:r>
            <a:r>
              <a:rPr lang="en-US" altLang="zh-CN" sz="2800" dirty="0">
                <a:solidFill>
                  <a:srgbClr val="FF0000"/>
                </a:solidFill>
              </a:rPr>
              <a:t>E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的属性</a:t>
            </a:r>
          </a:p>
          <a:p>
            <a:pPr lvl="1"/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=σ</a:t>
            </a:r>
            <a:r>
              <a:rPr lang="en-US" altLang="zh-CN" baseline="-25000" dirty="0"/>
              <a:t>F2</a:t>
            </a:r>
            <a:r>
              <a:rPr lang="en-US" altLang="zh-CN" dirty="0"/>
              <a:t>(σ</a:t>
            </a:r>
            <a:r>
              <a:rPr lang="en-US" altLang="zh-CN" baseline="-25000" dirty="0"/>
              <a:t>F1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)×E</a:t>
            </a:r>
            <a:r>
              <a:rPr lang="en-US" altLang="zh-CN" sz="3200" baseline="-25000" dirty="0"/>
              <a:t>2 </a:t>
            </a:r>
            <a:r>
              <a:rPr lang="en-US" altLang="zh-CN" dirty="0"/>
              <a:t>)</a:t>
            </a:r>
            <a:endParaRPr lang="en-US" altLang="zh-CN" sz="3200" dirty="0"/>
          </a:p>
          <a:p>
            <a:pPr lvl="2"/>
            <a:r>
              <a:rPr lang="zh-CN" altLang="en-US" sz="2800" dirty="0">
                <a:solidFill>
                  <a:schemeClr val="tx2"/>
                </a:solidFill>
              </a:rPr>
              <a:t>若</a:t>
            </a:r>
            <a:r>
              <a:rPr lang="en-US" altLang="zh-CN" sz="2800" dirty="0">
                <a:solidFill>
                  <a:schemeClr val="tx2"/>
                </a:solidFill>
              </a:rPr>
              <a:t>F=F1∧F2</a:t>
            </a:r>
            <a:r>
              <a:rPr lang="en-US" altLang="zh-CN" sz="2800" dirty="0"/>
              <a:t>,</a:t>
            </a:r>
            <a:r>
              <a:rPr lang="zh-CN" altLang="en-US" sz="2800" dirty="0"/>
              <a:t>且</a:t>
            </a:r>
            <a:r>
              <a:rPr lang="en-US" altLang="zh-CN" sz="2800" dirty="0">
                <a:solidFill>
                  <a:schemeClr val="tx2"/>
                </a:solidFill>
              </a:rPr>
              <a:t>F1</a:t>
            </a:r>
            <a:r>
              <a:rPr lang="zh-CN" altLang="en-US" sz="2800" dirty="0">
                <a:solidFill>
                  <a:schemeClr val="tx2"/>
                </a:solidFill>
              </a:rPr>
              <a:t>只涉及到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的属性，而</a:t>
            </a:r>
            <a:r>
              <a:rPr lang="en-US" altLang="zh-CN" sz="2800" dirty="0">
                <a:solidFill>
                  <a:schemeClr val="tx2"/>
                </a:solidFill>
              </a:rPr>
              <a:t>F2</a:t>
            </a:r>
            <a:r>
              <a:rPr lang="zh-CN" altLang="en-US" sz="2800" dirty="0">
                <a:solidFill>
                  <a:schemeClr val="tx2"/>
                </a:solidFill>
              </a:rPr>
              <a:t>涉及到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>
                <a:solidFill>
                  <a:schemeClr val="tx2"/>
                </a:solidFill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2</a:t>
            </a:r>
            <a:r>
              <a:rPr lang="zh-CN" altLang="en-US" sz="2800" dirty="0"/>
              <a:t>的属性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8A7002-FB68-45BC-9D6F-A92917FE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39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2B0AC8A7-40BB-4253-87CD-879C31E7E9C2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6. </a:t>
            </a:r>
            <a:r>
              <a:rPr lang="zh-CN" altLang="en-US" dirty="0">
                <a:solidFill>
                  <a:schemeClr val="tx2"/>
                </a:solidFill>
              </a:rPr>
              <a:t>选择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tx2"/>
                </a:solidFill>
              </a:rPr>
              <a:t>笛卡儿积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 lvl="1"/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)×E</a:t>
            </a:r>
            <a:r>
              <a:rPr lang="en-US" altLang="zh-CN" sz="3200" baseline="-25000" dirty="0"/>
              <a:t>2</a:t>
            </a:r>
            <a:endParaRPr lang="en-US" altLang="zh-CN" dirty="0"/>
          </a:p>
          <a:p>
            <a:pPr lvl="2"/>
            <a:r>
              <a:rPr lang="en-US" altLang="zh-CN" sz="2800" dirty="0">
                <a:solidFill>
                  <a:schemeClr val="tx2"/>
                </a:solidFill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</a:rPr>
              <a:t>仅涉及</a:t>
            </a:r>
            <a:r>
              <a:rPr lang="en-US" altLang="zh-CN" dirty="0">
                <a:solidFill>
                  <a:schemeClr val="tx2"/>
                </a:solidFill>
              </a:rPr>
              <a:t>E</a:t>
            </a:r>
            <a:r>
              <a:rPr lang="en-US" altLang="zh-CN" sz="28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σ</a:t>
            </a:r>
            <a:r>
              <a:rPr lang="en-US" altLang="zh-CN" baseline="-25000" dirty="0"/>
              <a:t>F1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 σ</a:t>
            </a:r>
            <a:r>
              <a:rPr lang="en-US" altLang="zh-CN" baseline="-25000" dirty="0"/>
              <a:t>F2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sz="2800" dirty="0">
                <a:solidFill>
                  <a:schemeClr val="tx2"/>
                </a:solidFill>
              </a:rPr>
              <a:t>F=F1∧F2</a:t>
            </a:r>
            <a:r>
              <a:rPr lang="en-US" altLang="zh-CN" sz="2800" dirty="0"/>
              <a:t>,</a:t>
            </a:r>
            <a:r>
              <a:rPr lang="zh-CN" altLang="en-US" sz="2800" dirty="0"/>
              <a:t>且</a:t>
            </a:r>
            <a:r>
              <a:rPr lang="en-US" altLang="zh-CN" sz="2800" dirty="0">
                <a:solidFill>
                  <a:schemeClr val="tx2"/>
                </a:solidFill>
              </a:rPr>
              <a:t>F1</a:t>
            </a:r>
            <a:r>
              <a:rPr lang="zh-CN" altLang="en-US" sz="2800" dirty="0">
                <a:solidFill>
                  <a:srgbClr val="FF0000"/>
                </a:solidFill>
              </a:rPr>
              <a:t>只涉及到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的属性，而</a:t>
            </a:r>
            <a:r>
              <a:rPr lang="en-US" altLang="zh-CN" sz="2800" dirty="0">
                <a:solidFill>
                  <a:schemeClr val="tx2"/>
                </a:solidFill>
              </a:rPr>
              <a:t>F2</a:t>
            </a:r>
            <a:r>
              <a:rPr lang="zh-CN" altLang="en-US" sz="2800" dirty="0">
                <a:solidFill>
                  <a:srgbClr val="FF0000"/>
                </a:solidFill>
              </a:rPr>
              <a:t>只涉及到</a:t>
            </a:r>
            <a:r>
              <a:rPr lang="en-US" altLang="zh-CN" sz="2800" dirty="0">
                <a:solidFill>
                  <a:srgbClr val="FF0000"/>
                </a:solidFill>
              </a:rPr>
              <a:t>E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的属性</a:t>
            </a:r>
          </a:p>
          <a:p>
            <a:pPr lvl="1"/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=σ</a:t>
            </a:r>
            <a:r>
              <a:rPr lang="en-US" altLang="zh-CN" baseline="-25000" dirty="0"/>
              <a:t>F2</a:t>
            </a:r>
            <a:r>
              <a:rPr lang="en-US" altLang="zh-CN" dirty="0"/>
              <a:t>(σ</a:t>
            </a:r>
            <a:r>
              <a:rPr lang="en-US" altLang="zh-CN" baseline="-25000" dirty="0"/>
              <a:t>F1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)×E</a:t>
            </a:r>
            <a:r>
              <a:rPr lang="en-US" altLang="zh-CN" sz="3200" baseline="-25000" dirty="0"/>
              <a:t>2 </a:t>
            </a:r>
            <a:r>
              <a:rPr lang="en-US" altLang="zh-CN" dirty="0"/>
              <a:t>)</a:t>
            </a:r>
            <a:endParaRPr lang="en-US" altLang="zh-CN" sz="3200" dirty="0"/>
          </a:p>
          <a:p>
            <a:pPr lvl="2"/>
            <a:r>
              <a:rPr lang="en-US" altLang="zh-CN" sz="2800" dirty="0">
                <a:solidFill>
                  <a:schemeClr val="tx2"/>
                </a:solidFill>
              </a:rPr>
              <a:t>F=F1∧F2</a:t>
            </a:r>
            <a:r>
              <a:rPr lang="en-US" altLang="zh-CN" sz="2800" dirty="0"/>
              <a:t>,</a:t>
            </a:r>
            <a:r>
              <a:rPr lang="zh-CN" altLang="en-US" sz="2800" dirty="0"/>
              <a:t>且</a:t>
            </a:r>
            <a:r>
              <a:rPr lang="en-US" altLang="zh-CN" sz="2800" dirty="0">
                <a:solidFill>
                  <a:schemeClr val="tx2"/>
                </a:solidFill>
              </a:rPr>
              <a:t>F1</a:t>
            </a:r>
            <a:r>
              <a:rPr lang="zh-CN" altLang="en-US" sz="2800" dirty="0">
                <a:solidFill>
                  <a:schemeClr val="tx2"/>
                </a:solidFill>
              </a:rPr>
              <a:t>只涉及到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/>
              <a:t>的属性，而</a:t>
            </a:r>
            <a:r>
              <a:rPr lang="en-US" altLang="zh-CN" sz="2800" dirty="0">
                <a:solidFill>
                  <a:schemeClr val="tx2"/>
                </a:solidFill>
              </a:rPr>
              <a:t>F2</a:t>
            </a:r>
            <a:r>
              <a:rPr lang="zh-CN" altLang="en-US" sz="2800" dirty="0">
                <a:solidFill>
                  <a:schemeClr val="tx2"/>
                </a:solidFill>
              </a:rPr>
              <a:t>涉及到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1</a:t>
            </a:r>
            <a:r>
              <a:rPr lang="zh-CN" altLang="en-US" sz="2800" dirty="0">
                <a:solidFill>
                  <a:schemeClr val="tx2"/>
                </a:solidFill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</a:rPr>
              <a:t>E</a:t>
            </a:r>
            <a:r>
              <a:rPr lang="en-US" altLang="zh-CN" sz="3200" baseline="-25000" dirty="0">
                <a:solidFill>
                  <a:schemeClr val="tx2"/>
                </a:solidFill>
              </a:rPr>
              <a:t>2</a:t>
            </a:r>
            <a:r>
              <a:rPr lang="zh-CN" altLang="en-US" sz="2800" dirty="0"/>
              <a:t>的属性</a:t>
            </a:r>
            <a:endParaRPr lang="zh-CN" alt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229E5C2-BE7F-4912-8A9F-7BD18A22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88" y="1416050"/>
            <a:ext cx="1512887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</a:rPr>
              <a:t>实现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选择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</a:rPr>
              <a:t>早做</a:t>
            </a:r>
            <a:r>
              <a:rPr kumimoji="1" lang="zh-CN" altLang="en-US" sz="2800" dirty="0">
                <a:solidFill>
                  <a:srgbClr val="0000FF"/>
                </a:solidFill>
              </a:rPr>
              <a:t>！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8014BA28-9C4F-43CC-87BC-A5B960D04B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1704975"/>
            <a:ext cx="2516188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E0C5DF2D-F4C0-450D-A8B0-9DC033F2CB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2352675"/>
            <a:ext cx="25923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AE5901E4-64DC-40C0-86BA-7AF5177D0B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51525" y="2424113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EDC7A9CD-DF8A-442A-ACFD-48777B8684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2568575"/>
            <a:ext cx="2279650" cy="207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B5F3C0-ED9B-457A-BC89-E77DE4B3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40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8300193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629B7749-5314-404E-965B-3DB8F2538D2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7. </a:t>
            </a:r>
            <a:r>
              <a:rPr lang="zh-CN" altLang="en-US" dirty="0">
                <a:solidFill>
                  <a:schemeClr val="tx2"/>
                </a:solidFill>
              </a:rPr>
              <a:t>选择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tx2"/>
                </a:solidFill>
              </a:rPr>
              <a:t>并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 lvl="1">
              <a:spcBef>
                <a:spcPct val="45000"/>
              </a:spcBef>
            </a:pP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∪E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 ∪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</a:t>
            </a:r>
          </a:p>
          <a:p>
            <a:pPr lvl="2">
              <a:spcBef>
                <a:spcPct val="45000"/>
              </a:spcBef>
            </a:pP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, E</a:t>
            </a:r>
            <a:r>
              <a:rPr lang="en-US" altLang="zh-CN" baseline="-25000" dirty="0"/>
              <a:t>2</a:t>
            </a:r>
            <a:r>
              <a:rPr lang="zh-CN" altLang="en-US" dirty="0"/>
              <a:t>有</a:t>
            </a:r>
            <a:r>
              <a:rPr lang="zh-CN" altLang="en-US" dirty="0">
                <a:solidFill>
                  <a:schemeClr val="tx2"/>
                </a:solidFill>
              </a:rPr>
              <a:t>相同的属性名</a:t>
            </a:r>
            <a:endParaRPr lang="en-US" altLang="zh-CN" dirty="0">
              <a:solidFill>
                <a:schemeClr val="tx2"/>
              </a:solidFill>
            </a:endParaRPr>
          </a:p>
          <a:p>
            <a:pPr lvl="2">
              <a:spcBef>
                <a:spcPct val="45000"/>
              </a:spcBef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10F60A-A545-443A-B1CA-FFEA9C6A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41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2F4436DC-2704-4F7C-9651-ED8375EDF96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8. </a:t>
            </a:r>
            <a:r>
              <a:rPr lang="zh-CN" altLang="en-US" dirty="0">
                <a:solidFill>
                  <a:schemeClr val="tx2"/>
                </a:solidFill>
              </a:rPr>
              <a:t>选择与差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 lvl="1">
              <a:spcBef>
                <a:spcPct val="45000"/>
              </a:spcBef>
            </a:pP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zh-CN" altLang="en-US" dirty="0"/>
              <a:t>－</a:t>
            </a:r>
            <a:r>
              <a:rPr lang="en-US" altLang="zh-CN" dirty="0"/>
              <a:t>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 </a:t>
            </a:r>
            <a:r>
              <a:rPr lang="zh-CN" altLang="en-US" dirty="0"/>
              <a:t>－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</a:t>
            </a:r>
          </a:p>
          <a:p>
            <a:pPr lvl="2">
              <a:spcBef>
                <a:spcPct val="45000"/>
              </a:spcBef>
            </a:pP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, E</a:t>
            </a:r>
            <a:r>
              <a:rPr lang="en-US" altLang="zh-CN" baseline="-25000" dirty="0"/>
              <a:t>2</a:t>
            </a:r>
            <a:r>
              <a:rPr lang="zh-CN" altLang="en-US" dirty="0"/>
              <a:t>有</a:t>
            </a:r>
            <a:r>
              <a:rPr lang="zh-CN" altLang="en-US" dirty="0">
                <a:solidFill>
                  <a:schemeClr val="tx2"/>
                </a:solidFill>
              </a:rPr>
              <a:t>相同的属性名</a:t>
            </a:r>
            <a:endParaRPr lang="en-US" altLang="zh-CN" dirty="0">
              <a:solidFill>
                <a:schemeClr val="tx2"/>
              </a:solidFill>
            </a:endParaRP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57ED4A-D8A4-4F3C-83CB-03847ACF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42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690D2F84-36DB-4741-953E-950AF2B3CD4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9. </a:t>
            </a:r>
            <a:r>
              <a:rPr lang="zh-CN" altLang="en-US" dirty="0">
                <a:solidFill>
                  <a:schemeClr val="tx2"/>
                </a:solidFill>
              </a:rPr>
              <a:t>选择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tx2"/>
                </a:solidFill>
              </a:rPr>
              <a:t>自然连接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交换律</a:t>
            </a:r>
          </a:p>
          <a:p>
            <a:pPr lvl="1"/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    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)    </a:t>
            </a:r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r>
              <a:rPr lang="en-US" altLang="zh-CN" dirty="0"/>
              <a:t>(E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</a:t>
            </a:r>
          </a:p>
          <a:p>
            <a:pPr lvl="2">
              <a:spcBef>
                <a:spcPct val="45000"/>
              </a:spcBef>
            </a:pPr>
            <a:r>
              <a:rPr lang="en-US" altLang="zh-CN" dirty="0"/>
              <a:t>F</a:t>
            </a:r>
            <a:r>
              <a:rPr lang="zh-CN" altLang="en-US" b="1" dirty="0">
                <a:solidFill>
                  <a:schemeClr val="tx2"/>
                </a:solidFill>
              </a:rPr>
              <a:t>只</a:t>
            </a:r>
            <a:r>
              <a:rPr lang="zh-CN" altLang="en-US" dirty="0"/>
              <a:t>涉及</a:t>
            </a:r>
            <a:r>
              <a:rPr lang="en-US" altLang="zh-CN" dirty="0"/>
              <a:t>E</a:t>
            </a:r>
            <a:r>
              <a:rPr lang="en-US" altLang="zh-CN" sz="2800" baseline="-25000" dirty="0"/>
              <a:t>1</a:t>
            </a:r>
            <a:r>
              <a:rPr lang="zh-CN" altLang="en-US" dirty="0"/>
              <a:t>与</a:t>
            </a:r>
            <a:r>
              <a:rPr lang="en-US" altLang="zh-CN" dirty="0"/>
              <a:t>E</a:t>
            </a:r>
            <a:r>
              <a:rPr lang="en-US" altLang="zh-CN" sz="2800" baseline="-25000" dirty="0"/>
              <a:t>2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公共属性</a:t>
            </a:r>
          </a:p>
          <a:p>
            <a:endParaRPr lang="zh-CN" altLang="en-US" dirty="0"/>
          </a:p>
        </p:txBody>
      </p:sp>
      <p:sp>
        <p:nvSpPr>
          <p:cNvPr id="465924" name="AutoShape 4"/>
          <p:cNvSpPr>
            <a:spLocks noChangeArrowheads="1"/>
          </p:cNvSpPr>
          <p:nvPr/>
        </p:nvSpPr>
        <p:spPr bwMode="auto">
          <a:xfrm rot="5521025">
            <a:off x="2366106" y="2126965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25" name="AutoShape 5"/>
          <p:cNvSpPr>
            <a:spLocks noChangeArrowheads="1"/>
          </p:cNvSpPr>
          <p:nvPr/>
        </p:nvSpPr>
        <p:spPr bwMode="auto">
          <a:xfrm rot="5521025">
            <a:off x="4728306" y="2126965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9D77DA-5EAA-A702-71B0-02424D7E812C}"/>
              </a:ext>
            </a:extLst>
          </p:cNvPr>
          <p:cNvSpPr txBox="1"/>
          <p:nvPr/>
        </p:nvSpPr>
        <p:spPr>
          <a:xfrm>
            <a:off x="788479" y="5404882"/>
            <a:ext cx="25656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E1                 E2 </a:t>
            </a:r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FA87B5-3EF1-C9D1-2A79-ABCA6BEBE549}"/>
              </a:ext>
            </a:extLst>
          </p:cNvPr>
          <p:cNvCxnSpPr>
            <a:cxnSpLocks/>
          </p:cNvCxnSpPr>
          <p:nvPr/>
        </p:nvCxnSpPr>
        <p:spPr bwMode="auto">
          <a:xfrm flipH="1">
            <a:off x="1179208" y="4822238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6130BED-ADAE-E9E5-EE84-38F60899A27A}"/>
              </a:ext>
            </a:extLst>
          </p:cNvPr>
          <p:cNvCxnSpPr>
            <a:cxnSpLocks/>
          </p:cNvCxnSpPr>
          <p:nvPr/>
        </p:nvCxnSpPr>
        <p:spPr bwMode="auto">
          <a:xfrm>
            <a:off x="2350207" y="4836155"/>
            <a:ext cx="504056" cy="496532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650F427-C4A4-DFED-A47A-16E94854A57F}"/>
              </a:ext>
            </a:extLst>
          </p:cNvPr>
          <p:cNvSpPr txBox="1"/>
          <p:nvPr/>
        </p:nvSpPr>
        <p:spPr>
          <a:xfrm>
            <a:off x="6328542" y="5373355"/>
            <a:ext cx="262076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E1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DA016F0-E547-6A8D-5D84-FF8D378F4B7E}"/>
              </a:ext>
            </a:extLst>
          </p:cNvPr>
          <p:cNvCxnSpPr>
            <a:cxnSpLocks/>
          </p:cNvCxnSpPr>
          <p:nvPr/>
        </p:nvCxnSpPr>
        <p:spPr bwMode="auto">
          <a:xfrm>
            <a:off x="6516216" y="4791702"/>
            <a:ext cx="0" cy="509458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1D11C5D-9905-D890-8C11-DB9061BB7B4F}"/>
              </a:ext>
            </a:extLst>
          </p:cNvPr>
          <p:cNvCxnSpPr>
            <a:cxnSpLocks/>
          </p:cNvCxnSpPr>
          <p:nvPr/>
        </p:nvCxnSpPr>
        <p:spPr bwMode="auto">
          <a:xfrm>
            <a:off x="7641918" y="3996072"/>
            <a:ext cx="458474" cy="368584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A32AD4B-0D03-3541-8489-A573DBAE95E6}"/>
              </a:ext>
            </a:extLst>
          </p:cNvPr>
          <p:cNvCxnSpPr>
            <a:cxnSpLocks/>
          </p:cNvCxnSpPr>
          <p:nvPr/>
        </p:nvCxnSpPr>
        <p:spPr bwMode="auto">
          <a:xfrm>
            <a:off x="2071238" y="3868016"/>
            <a:ext cx="0" cy="5764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26A859B-76A3-A13A-0E6E-B1E89134DD34}"/>
              </a:ext>
            </a:extLst>
          </p:cNvPr>
          <p:cNvCxnSpPr>
            <a:cxnSpLocks/>
            <a:endCxn id="15" idx="0"/>
          </p:cNvCxnSpPr>
          <p:nvPr/>
        </p:nvCxnSpPr>
        <p:spPr bwMode="auto">
          <a:xfrm flipH="1">
            <a:off x="6612674" y="3996072"/>
            <a:ext cx="460088" cy="368584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F6A8E64-C3BC-CAB6-6A8F-BFA5BD18675D}"/>
              </a:ext>
            </a:extLst>
          </p:cNvPr>
          <p:cNvSpPr txBox="1"/>
          <p:nvPr/>
        </p:nvSpPr>
        <p:spPr>
          <a:xfrm>
            <a:off x="1813560" y="3327397"/>
            <a:ext cx="56826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D6157B-EFD9-44A1-D004-048B6F3D6F75}"/>
              </a:ext>
            </a:extLst>
          </p:cNvPr>
          <p:cNvSpPr txBox="1"/>
          <p:nvPr/>
        </p:nvSpPr>
        <p:spPr>
          <a:xfrm>
            <a:off x="6328542" y="4364656"/>
            <a:ext cx="56826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BC5233-3897-A6BE-53A5-626B41638BA0}"/>
              </a:ext>
            </a:extLst>
          </p:cNvPr>
          <p:cNvSpPr txBox="1"/>
          <p:nvPr/>
        </p:nvSpPr>
        <p:spPr>
          <a:xfrm>
            <a:off x="7856247" y="5404882"/>
            <a:ext cx="77383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E2</a:t>
            </a:r>
            <a:endParaRPr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7DA9E13B-E2E4-A93E-FE52-F5A8355BA518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1938490" y="4405441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F2742D3-4A8F-3C87-16E9-D07602D687F6}"/>
              </a:ext>
            </a:extLst>
          </p:cNvPr>
          <p:cNvCxnSpPr>
            <a:cxnSpLocks/>
          </p:cNvCxnSpPr>
          <p:nvPr/>
        </p:nvCxnSpPr>
        <p:spPr bwMode="auto">
          <a:xfrm>
            <a:off x="8058840" y="4883247"/>
            <a:ext cx="0" cy="509458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B5FB029-8CC4-6FB2-8AC1-4EB34D1E714D}"/>
              </a:ext>
            </a:extLst>
          </p:cNvPr>
          <p:cNvSpPr txBox="1"/>
          <p:nvPr/>
        </p:nvSpPr>
        <p:spPr>
          <a:xfrm>
            <a:off x="7871166" y="4456201"/>
            <a:ext cx="56826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σ</a:t>
            </a:r>
            <a:r>
              <a:rPr lang="en-US" altLang="zh-CN" baseline="-25000" dirty="0" err="1"/>
              <a:t>F</a:t>
            </a:r>
            <a:endParaRPr lang="zh-CN" altLang="en-US" dirty="0"/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3C790A49-4701-01B5-B770-C97D73943ED1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7287630" y="3599655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D823287B-7C03-4892-83C0-90134F52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43</a:t>
            </a:fld>
            <a:r>
              <a:rPr lang="en-US" altLang="zh-CN"/>
              <a:t>/69</a:t>
            </a:r>
            <a:endParaRPr lang="zh-CN" altLang="en-US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144765B-570D-8310-E150-5420D2E86D90}"/>
              </a:ext>
            </a:extLst>
          </p:cNvPr>
          <p:cNvCxnSpPr>
            <a:cxnSpLocks/>
          </p:cNvCxnSpPr>
          <p:nvPr/>
        </p:nvCxnSpPr>
        <p:spPr bwMode="auto">
          <a:xfrm>
            <a:off x="4147596" y="4437112"/>
            <a:ext cx="1296144" cy="0"/>
          </a:xfrm>
          <a:prstGeom prst="straightConnector1">
            <a:avLst/>
          </a:prstGeom>
          <a:ln w="571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F762B4F1-4240-4C35-AD32-A9A5EE0A7DBB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10. </a:t>
            </a:r>
            <a:r>
              <a:rPr lang="zh-CN" altLang="en-US" dirty="0">
                <a:solidFill>
                  <a:schemeClr val="tx2"/>
                </a:solidFill>
              </a:rPr>
              <a:t>投影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tx2"/>
                </a:solidFill>
              </a:rPr>
              <a:t>笛卡儿积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分配率</a:t>
            </a:r>
          </a:p>
          <a:p>
            <a:pPr lvl="1"/>
            <a:r>
              <a:rPr lang="en-US" altLang="zh-CN" sz="3200" dirty="0"/>
              <a:t>Π</a:t>
            </a:r>
            <a:r>
              <a:rPr lang="en-US" altLang="zh-CN" sz="3200" baseline="-25000" dirty="0"/>
              <a:t>A1,A2,…,An,B1,B2,…,</a:t>
            </a:r>
            <a:r>
              <a:rPr lang="en-US" altLang="zh-CN" sz="3200" baseline="-25000" dirty="0" err="1"/>
              <a:t>Bn</a:t>
            </a:r>
            <a:r>
              <a:rPr lang="en-US" altLang="zh-CN" sz="3200" dirty="0"/>
              <a:t>(</a:t>
            </a:r>
            <a:r>
              <a:rPr lang="en-US" altLang="zh-CN" dirty="0"/>
              <a:t>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×E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sz="3200" dirty="0"/>
              <a:t>Π</a:t>
            </a:r>
            <a:r>
              <a:rPr lang="en-US" altLang="zh-CN" sz="3200" baseline="-25000" dirty="0"/>
              <a:t>A1,A2,…,An </a:t>
            </a:r>
            <a:r>
              <a:rPr lang="en-US" altLang="zh-CN" sz="3200" dirty="0"/>
              <a:t>(</a:t>
            </a:r>
            <a:r>
              <a:rPr lang="en-US" altLang="zh-CN" dirty="0"/>
              <a:t>E</a:t>
            </a:r>
            <a:r>
              <a:rPr lang="en-US" altLang="zh-CN" sz="3200" baseline="-25000" dirty="0"/>
              <a:t>1 </a:t>
            </a:r>
            <a:r>
              <a:rPr lang="en-US" altLang="zh-CN" dirty="0"/>
              <a:t>)×</a:t>
            </a:r>
            <a:r>
              <a:rPr lang="en-US" altLang="zh-CN" sz="3200" dirty="0"/>
              <a:t>Π</a:t>
            </a:r>
            <a:r>
              <a:rPr lang="en-US" altLang="zh-CN" sz="3200" baseline="-25000" dirty="0"/>
              <a:t>B1,B2,…,</a:t>
            </a:r>
            <a:r>
              <a:rPr lang="en-US" altLang="zh-CN" sz="3200" baseline="-25000" dirty="0" err="1"/>
              <a:t>Bn</a:t>
            </a:r>
            <a:r>
              <a:rPr lang="en-US" altLang="zh-CN" sz="3200" dirty="0"/>
              <a:t>(</a:t>
            </a:r>
            <a:r>
              <a:rPr lang="en-US" altLang="zh-CN" dirty="0"/>
              <a:t>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</a:t>
            </a:r>
          </a:p>
          <a:p>
            <a:endParaRPr lang="zh-CN" altLang="en-US" sz="800" dirty="0"/>
          </a:p>
          <a:p>
            <a:pPr lvl="2"/>
            <a:r>
              <a:rPr lang="en-US" altLang="zh-CN" dirty="0">
                <a:solidFill>
                  <a:schemeClr val="tx2"/>
                </a:solidFill>
              </a:rPr>
              <a:t>A1,A2,</a:t>
            </a:r>
            <a:r>
              <a:rPr lang="en-US" altLang="zh-CN" dirty="0">
                <a:solidFill>
                  <a:schemeClr val="tx2"/>
                </a:solidFill>
                <a:latin typeface="Arial"/>
              </a:rPr>
              <a:t>…</a:t>
            </a:r>
            <a:r>
              <a:rPr lang="en-US" altLang="zh-CN" dirty="0">
                <a:solidFill>
                  <a:schemeClr val="tx2"/>
                </a:solidFill>
              </a:rPr>
              <a:t>,An</a:t>
            </a:r>
            <a:r>
              <a:rPr lang="zh-CN" altLang="en-US" dirty="0">
                <a:solidFill>
                  <a:schemeClr val="tx2"/>
                </a:solidFill>
              </a:rPr>
              <a:t>是</a:t>
            </a:r>
            <a:r>
              <a:rPr lang="en-US" altLang="zh-CN" dirty="0">
                <a:solidFill>
                  <a:schemeClr val="tx2"/>
                </a:solidFill>
              </a:rPr>
              <a:t>E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zh-CN" altLang="en-US" dirty="0">
                <a:solidFill>
                  <a:schemeClr val="tx2"/>
                </a:solidFill>
              </a:rPr>
              <a:t>的属性，而</a:t>
            </a:r>
            <a:r>
              <a:rPr lang="en-US" altLang="zh-CN" dirty="0">
                <a:solidFill>
                  <a:schemeClr val="tx2"/>
                </a:solidFill>
              </a:rPr>
              <a:t>B1,B2,</a:t>
            </a:r>
            <a:r>
              <a:rPr lang="en-US" altLang="zh-CN" dirty="0">
                <a:solidFill>
                  <a:schemeClr val="tx2"/>
                </a:solidFill>
                <a:latin typeface="Arial"/>
              </a:rPr>
              <a:t>…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dirty="0" err="1">
                <a:solidFill>
                  <a:schemeClr val="tx2"/>
                </a:solidFill>
              </a:rPr>
              <a:t>Bn</a:t>
            </a:r>
            <a:r>
              <a:rPr lang="zh-CN" altLang="en-US" dirty="0">
                <a:solidFill>
                  <a:schemeClr val="tx2"/>
                </a:solidFill>
              </a:rPr>
              <a:t>是</a:t>
            </a:r>
            <a:r>
              <a:rPr lang="en-US" altLang="zh-CN" dirty="0">
                <a:solidFill>
                  <a:schemeClr val="tx2"/>
                </a:solidFill>
              </a:rPr>
              <a:t>E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的属性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42B543-BBF0-4B13-9587-FF367307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F8DB9D59-71FF-4C05-A631-AE065CE2196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等价变换规则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11. </a:t>
            </a:r>
            <a:r>
              <a:rPr lang="zh-CN" altLang="en-US" dirty="0">
                <a:solidFill>
                  <a:schemeClr val="tx2"/>
                </a:solidFill>
              </a:rPr>
              <a:t>投影与并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分配率</a:t>
            </a:r>
          </a:p>
          <a:p>
            <a:pPr lvl="1"/>
            <a:r>
              <a:rPr lang="en-US" altLang="zh-CN" sz="3200" dirty="0"/>
              <a:t>Π</a:t>
            </a:r>
            <a:r>
              <a:rPr lang="en-US" altLang="zh-CN" sz="3200" baseline="-25000" dirty="0"/>
              <a:t>A1,A2,…,An</a:t>
            </a:r>
            <a:r>
              <a:rPr lang="en-US" altLang="zh-CN" sz="3200" dirty="0"/>
              <a:t>(</a:t>
            </a:r>
            <a:r>
              <a:rPr lang="en-US" altLang="zh-CN" dirty="0"/>
              <a:t>E</a:t>
            </a:r>
            <a:r>
              <a:rPr lang="en-US" altLang="zh-CN" sz="3200" baseline="-25000" dirty="0"/>
              <a:t>1</a:t>
            </a:r>
            <a:r>
              <a:rPr lang="en-US" altLang="zh-CN" dirty="0"/>
              <a:t>∪E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 = </a:t>
            </a:r>
            <a:r>
              <a:rPr lang="en-US" altLang="zh-CN" sz="3200" dirty="0"/>
              <a:t>Π</a:t>
            </a:r>
            <a:r>
              <a:rPr lang="en-US" altLang="zh-CN" sz="3200" baseline="-25000" dirty="0"/>
              <a:t>A1,A2,…,An </a:t>
            </a:r>
            <a:r>
              <a:rPr lang="en-US" altLang="zh-CN" sz="3200" dirty="0"/>
              <a:t>(</a:t>
            </a:r>
            <a:r>
              <a:rPr lang="en-US" altLang="zh-CN" dirty="0"/>
              <a:t>E</a:t>
            </a:r>
            <a:r>
              <a:rPr lang="en-US" altLang="zh-CN" sz="3200" baseline="-25000" dirty="0"/>
              <a:t>1 </a:t>
            </a:r>
            <a:r>
              <a:rPr lang="en-US" altLang="zh-CN" dirty="0"/>
              <a:t>) ∪ </a:t>
            </a:r>
            <a:r>
              <a:rPr lang="en-US" altLang="zh-CN" sz="3200" dirty="0"/>
              <a:t>Π</a:t>
            </a:r>
            <a:r>
              <a:rPr lang="en-US" altLang="zh-CN" sz="3200" baseline="-25000" dirty="0"/>
              <a:t>A1,A2,…,An </a:t>
            </a:r>
            <a:r>
              <a:rPr lang="en-US" altLang="zh-CN" sz="3200" dirty="0"/>
              <a:t>(</a:t>
            </a:r>
            <a:r>
              <a:rPr lang="en-US" altLang="zh-CN" dirty="0"/>
              <a:t>E</a:t>
            </a:r>
            <a:r>
              <a:rPr lang="en-US" altLang="zh-CN" sz="3200" baseline="-25000" dirty="0"/>
              <a:t>2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, E</a:t>
            </a:r>
            <a:r>
              <a:rPr lang="en-US" altLang="zh-CN" baseline="-25000" dirty="0"/>
              <a:t>2</a:t>
            </a:r>
            <a:r>
              <a:rPr lang="zh-CN" altLang="en-US" dirty="0"/>
              <a:t>有</a:t>
            </a:r>
            <a:r>
              <a:rPr lang="zh-CN" altLang="en-US" dirty="0">
                <a:solidFill>
                  <a:schemeClr val="tx2"/>
                </a:solidFill>
              </a:rPr>
              <a:t>相同的属性名</a:t>
            </a:r>
            <a:endParaRPr lang="en-US" altLang="zh-CN" dirty="0">
              <a:solidFill>
                <a:schemeClr val="tx2"/>
              </a:solidFill>
            </a:endParaRPr>
          </a:p>
          <a:p>
            <a:pPr lvl="2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9E67F1A-4F41-49B9-802A-266280B2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9143F6B1-D44A-404A-9E68-03FB4978AA8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9.3.2 </a:t>
            </a:r>
            <a:r>
              <a:rPr lang="zh-CN" altLang="en-US"/>
              <a:t>查询树的启发式优化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启发式规则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选择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C00000"/>
                </a:solidFill>
              </a:rPr>
              <a:t>早做</a:t>
            </a:r>
          </a:p>
          <a:p>
            <a:pPr lvl="1"/>
            <a:r>
              <a:rPr lang="zh-CN" altLang="en-US" dirty="0"/>
              <a:t>让</a:t>
            </a:r>
            <a:r>
              <a:rPr lang="zh-CN" altLang="en-US" dirty="0">
                <a:solidFill>
                  <a:srgbClr val="C00000"/>
                </a:solidFill>
              </a:rPr>
              <a:t>投影运算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选择运算</a:t>
            </a:r>
            <a:r>
              <a:rPr lang="zh-CN" altLang="en-US" b="1" dirty="0">
                <a:solidFill>
                  <a:srgbClr val="0000FF"/>
                </a:solidFill>
              </a:rPr>
              <a:t>同时进行</a:t>
            </a:r>
            <a:r>
              <a:rPr lang="zh-CN" altLang="en-US" dirty="0"/>
              <a:t>（</a:t>
            </a:r>
            <a:r>
              <a:rPr lang="zh-CN" altLang="en-US" b="1" dirty="0"/>
              <a:t>避免</a:t>
            </a:r>
            <a:r>
              <a:rPr lang="zh-CN" altLang="en-US" b="1" dirty="0">
                <a:solidFill>
                  <a:schemeClr val="tx2"/>
                </a:solidFill>
              </a:rPr>
              <a:t>重复扫描</a:t>
            </a:r>
            <a:r>
              <a:rPr lang="zh-CN" altLang="en-US" b="1" dirty="0"/>
              <a:t>关系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把</a:t>
            </a:r>
            <a:r>
              <a:rPr lang="zh-CN" altLang="en-US" dirty="0">
                <a:solidFill>
                  <a:srgbClr val="C00000"/>
                </a:solidFill>
              </a:rPr>
              <a:t>投影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00000"/>
                </a:solidFill>
              </a:rPr>
              <a:t>其前或后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双目运算</a:t>
            </a:r>
            <a:r>
              <a:rPr lang="zh-CN" altLang="en-US" dirty="0">
                <a:solidFill>
                  <a:schemeClr val="tx2"/>
                </a:solidFill>
              </a:rPr>
              <a:t>结合起来 </a:t>
            </a:r>
            <a:r>
              <a:rPr lang="zh-CN" altLang="en-US" dirty="0"/>
              <a:t>（</a:t>
            </a:r>
            <a:r>
              <a:rPr lang="zh-CN" altLang="en-US" b="1" dirty="0"/>
              <a:t>避免</a:t>
            </a:r>
            <a:r>
              <a:rPr lang="zh-CN" altLang="en-US" dirty="0">
                <a:solidFill>
                  <a:schemeClr val="tx2"/>
                </a:solidFill>
              </a:rPr>
              <a:t>为了去掉某些字段而扫描一遍</a:t>
            </a:r>
            <a:r>
              <a:rPr lang="zh-CN" altLang="en-US" dirty="0"/>
              <a:t>关系）</a:t>
            </a:r>
          </a:p>
          <a:p>
            <a:pPr lvl="1"/>
            <a:r>
              <a:rPr lang="zh-CN" altLang="en-US" dirty="0"/>
              <a:t>把</a:t>
            </a:r>
            <a:r>
              <a:rPr lang="zh-CN" altLang="en-US" dirty="0">
                <a:solidFill>
                  <a:srgbClr val="C00000"/>
                </a:solidFill>
              </a:rPr>
              <a:t>选择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00000"/>
                </a:solidFill>
              </a:rPr>
              <a:t>其前面要执行的笛卡儿积</a:t>
            </a:r>
            <a:r>
              <a:rPr lang="zh-CN" altLang="en-US" dirty="0">
                <a:solidFill>
                  <a:schemeClr val="tx2"/>
                </a:solidFill>
              </a:rPr>
              <a:t>结合成</a:t>
            </a:r>
            <a:r>
              <a:rPr lang="zh-CN" altLang="en-US" dirty="0">
                <a:solidFill>
                  <a:srgbClr val="C00000"/>
                </a:solidFill>
              </a:rPr>
              <a:t>连接运算</a:t>
            </a:r>
          </a:p>
          <a:p>
            <a:pPr lvl="1"/>
            <a:r>
              <a:rPr lang="zh-CN" altLang="en-US" dirty="0"/>
              <a:t>找出</a:t>
            </a:r>
            <a:r>
              <a:rPr lang="zh-CN" altLang="en-US" dirty="0">
                <a:solidFill>
                  <a:srgbClr val="C00000"/>
                </a:solidFill>
              </a:rPr>
              <a:t>公共子表达式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CEFEA7C-8D71-445B-9E0B-F5D410DF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8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8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E9CE3B9-395E-41AA-90AA-FCF8AC00FCE9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关系表达式优化算法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4684713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五大步</a:t>
            </a:r>
            <a:r>
              <a:rPr lang="zh-CN" altLang="en-US" dirty="0"/>
              <a:t>：</a:t>
            </a:r>
          </a:p>
          <a:p>
            <a:pPr marL="609600" lvl="1" indent="-609600">
              <a:buClr>
                <a:schemeClr val="folHlink"/>
              </a:buClr>
              <a:buSzPct val="60000"/>
              <a:buFontTx/>
              <a:buAutoNum type="arabicPeriod"/>
            </a:pPr>
            <a:r>
              <a:rPr lang="zh-CN" altLang="en-US" sz="3200" dirty="0"/>
              <a:t>选择</a:t>
            </a:r>
            <a:r>
              <a:rPr lang="zh-CN" altLang="en-US" sz="3200" dirty="0">
                <a:solidFill>
                  <a:srgbClr val="C00000"/>
                </a:solidFill>
              </a:rPr>
              <a:t>变串连 </a:t>
            </a:r>
            <a:r>
              <a:rPr lang="en-US" altLang="zh-CN" dirty="0"/>
              <a:t>(σ</a:t>
            </a:r>
            <a:r>
              <a:rPr lang="en-US" altLang="zh-CN" baseline="-25000" dirty="0"/>
              <a:t>F1</a:t>
            </a:r>
            <a:r>
              <a:rPr lang="en-US" altLang="zh-CN" dirty="0"/>
              <a:t>(σ</a:t>
            </a:r>
            <a:r>
              <a:rPr lang="en-US" altLang="zh-CN" baseline="-25000" dirty="0"/>
              <a:t>F2</a:t>
            </a:r>
            <a:r>
              <a:rPr lang="en-US" altLang="zh-CN" dirty="0"/>
              <a:t>(E)) = σ</a:t>
            </a:r>
            <a:r>
              <a:rPr lang="en-US" altLang="zh-CN" baseline="-25000" dirty="0"/>
              <a:t>F1∧F2</a:t>
            </a:r>
            <a:r>
              <a:rPr lang="en-US" altLang="zh-CN" dirty="0"/>
              <a:t>(E) </a:t>
            </a:r>
            <a:r>
              <a:rPr lang="zh-CN" altLang="en-US" b="1" dirty="0">
                <a:solidFill>
                  <a:srgbClr val="FF0000"/>
                </a:solidFill>
              </a:rPr>
              <a:t>反向</a:t>
            </a:r>
            <a:r>
              <a:rPr lang="zh-CN" altLang="en-US" dirty="0">
                <a:solidFill>
                  <a:schemeClr val="tx2"/>
                </a:solidFill>
              </a:rPr>
              <a:t>使用</a:t>
            </a:r>
            <a:r>
              <a:rPr lang="en-US" altLang="zh-CN" dirty="0"/>
              <a:t>)</a:t>
            </a:r>
            <a:endParaRPr lang="zh-CN" altLang="en-US" dirty="0"/>
          </a:p>
          <a:p>
            <a:pPr marL="609600" indent="-609600">
              <a:buFont typeface="+mj-lt"/>
              <a:buAutoNum type="arabicPeriod" startAt="2"/>
            </a:pP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C00000"/>
                </a:solidFill>
              </a:rPr>
              <a:t>先做选择 </a:t>
            </a:r>
            <a:r>
              <a:rPr lang="en-US" altLang="zh-CN" dirty="0">
                <a:solidFill>
                  <a:schemeClr val="bg2"/>
                </a:solidFill>
              </a:rPr>
              <a:t>(</a:t>
            </a:r>
            <a:r>
              <a:rPr lang="zh-CN" altLang="en-US" dirty="0">
                <a:solidFill>
                  <a:schemeClr val="bg2"/>
                </a:solidFill>
              </a:rPr>
              <a:t>等价变换规则</a:t>
            </a:r>
            <a:r>
              <a:rPr lang="en-US" altLang="zh-CN" dirty="0">
                <a:solidFill>
                  <a:schemeClr val="bg2"/>
                </a:solidFill>
              </a:rPr>
              <a:t>4~9)</a:t>
            </a:r>
            <a:endParaRPr lang="zh-CN" altLang="en-US" dirty="0">
              <a:solidFill>
                <a:schemeClr val="bg2"/>
              </a:solidFill>
            </a:endParaRPr>
          </a:p>
          <a:p>
            <a:pPr marL="609600" indent="-609600">
              <a:buFontTx/>
              <a:buAutoNum type="arabicPeriod" startAt="2"/>
            </a:pP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C00000"/>
                </a:solidFill>
              </a:rPr>
              <a:t>先做投影 </a:t>
            </a:r>
            <a:r>
              <a:rPr lang="en-US" altLang="zh-CN" dirty="0">
                <a:solidFill>
                  <a:schemeClr val="bg2"/>
                </a:solidFill>
              </a:rPr>
              <a:t>(</a:t>
            </a:r>
            <a:r>
              <a:rPr lang="zh-CN" altLang="en-US" dirty="0">
                <a:solidFill>
                  <a:schemeClr val="bg2"/>
                </a:solidFill>
              </a:rPr>
              <a:t>等价变换规则</a:t>
            </a:r>
            <a:r>
              <a:rPr lang="en-US" altLang="zh-CN" dirty="0">
                <a:solidFill>
                  <a:schemeClr val="bg2"/>
                </a:solidFill>
              </a:rPr>
              <a:t>3,5,10,11)</a:t>
            </a:r>
            <a:endParaRPr lang="zh-CN" altLang="en-US" dirty="0">
              <a:solidFill>
                <a:schemeClr val="bg2"/>
              </a:solidFill>
            </a:endParaRPr>
          </a:p>
          <a:p>
            <a:pPr marL="609600" indent="-609600">
              <a:buFontTx/>
              <a:buAutoNum type="arabicPeriod" startAt="2"/>
            </a:pPr>
            <a:r>
              <a:rPr lang="zh-CN" altLang="en-US" dirty="0">
                <a:solidFill>
                  <a:srgbClr val="C00000"/>
                </a:solidFill>
              </a:rPr>
              <a:t>同时执行</a:t>
            </a:r>
            <a:r>
              <a:rPr lang="zh-CN" altLang="en-US" dirty="0"/>
              <a:t>多个选择和投影</a:t>
            </a:r>
            <a:r>
              <a:rPr lang="en-US" altLang="zh-CN" dirty="0"/>
              <a:t>(</a:t>
            </a:r>
            <a:r>
              <a:rPr lang="zh-CN" altLang="en-US" dirty="0"/>
              <a:t>等价变换规则</a:t>
            </a:r>
            <a:r>
              <a:rPr lang="en-US" altLang="zh-CN" dirty="0"/>
              <a:t>3~5)</a:t>
            </a:r>
          </a:p>
          <a:p>
            <a:pPr marL="609600" indent="-609600">
              <a:buFontTx/>
              <a:buAutoNum type="arabicPeriod" startAt="2"/>
            </a:pPr>
            <a:r>
              <a:rPr lang="zh-CN" altLang="en-US" dirty="0">
                <a:solidFill>
                  <a:schemeClr val="tx2"/>
                </a:solidFill>
              </a:rPr>
              <a:t>分组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55EE890-526C-48C7-B187-BB291283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6E5B4857-6BF3-42CE-85F9-5ED3E0B66934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1000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SELECT </a:t>
            </a:r>
            <a:r>
              <a:rPr lang="en-US" altLang="zh-CN" dirty="0" err="1"/>
              <a:t>Student.Sname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FROM Student</a:t>
            </a:r>
            <a:r>
              <a:rPr lang="zh-CN" altLang="en-US" dirty="0"/>
              <a:t>，</a:t>
            </a:r>
            <a:r>
              <a:rPr lang="en-US" altLang="zh-CN" dirty="0"/>
              <a:t>SC </a:t>
            </a:r>
            <a:br>
              <a:rPr lang="en-US" altLang="zh-CN" dirty="0"/>
            </a:br>
            <a:r>
              <a:rPr lang="en-US" altLang="zh-CN" dirty="0"/>
              <a:t>WHERE </a:t>
            </a:r>
            <a:r>
              <a:rPr lang="en-US" altLang="zh-CN" dirty="0" err="1"/>
              <a:t>Student.Sno</a:t>
            </a:r>
            <a:r>
              <a:rPr lang="en-US" altLang="zh-CN" dirty="0"/>
              <a:t>=</a:t>
            </a:r>
            <a:r>
              <a:rPr lang="en-US" altLang="zh-CN" dirty="0" err="1"/>
              <a:t>SC.Sno</a:t>
            </a:r>
            <a:r>
              <a:rPr lang="en-US" altLang="zh-CN" dirty="0"/>
              <a:t> AND 			</a:t>
            </a:r>
            <a:r>
              <a:rPr lang="en-US" altLang="zh-CN" dirty="0" err="1"/>
              <a:t>SC.Cno</a:t>
            </a:r>
            <a:r>
              <a:rPr lang="en-US" altLang="zh-CN" dirty="0"/>
              <a:t>='2'</a:t>
            </a:r>
            <a:r>
              <a:rPr lang="zh-CN" altLang="en-US" dirty="0"/>
              <a:t>； </a:t>
            </a:r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Q1=</a:t>
            </a:r>
            <a:r>
              <a:rPr lang="en-US" altLang="zh-CN" dirty="0" err="1">
                <a:latin typeface="宋体" pitchFamily="2" charset="-122"/>
              </a:rPr>
              <a:t>п</a:t>
            </a:r>
            <a:r>
              <a:rPr lang="en-US" altLang="zh-CN" baseline="-15000" dirty="0" err="1"/>
              <a:t>Sname</a:t>
            </a:r>
            <a:r>
              <a:rPr lang="en-US" altLang="zh-CN" dirty="0"/>
              <a:t>(</a:t>
            </a:r>
            <a:r>
              <a:rPr lang="en-US" altLang="zh-CN" dirty="0" err="1">
                <a:latin typeface="宋体" pitchFamily="2" charset="-122"/>
              </a:rPr>
              <a:t>δ</a:t>
            </a:r>
            <a:r>
              <a:rPr lang="en-US" altLang="zh-CN" baseline="-15000" dirty="0" err="1"/>
              <a:t>Student.sno</a:t>
            </a:r>
            <a:r>
              <a:rPr lang="en-US" altLang="zh-CN" baseline="-15000" dirty="0"/>
              <a:t>=</a:t>
            </a:r>
            <a:r>
              <a:rPr lang="en-US" altLang="zh-CN" baseline="-15000" dirty="0" err="1"/>
              <a:t>sc.sno∧sc.cno</a:t>
            </a:r>
            <a:r>
              <a:rPr lang="en-US" altLang="zh-CN" baseline="-15000" dirty="0"/>
              <a:t>='2'</a:t>
            </a:r>
            <a:r>
              <a:rPr lang="en-US" altLang="zh-CN" dirty="0"/>
              <a:t>(</a:t>
            </a:r>
            <a:r>
              <a:rPr lang="en-US" altLang="zh-CN" dirty="0" err="1"/>
              <a:t>Student×SC</a:t>
            </a:r>
            <a:r>
              <a:rPr lang="en-US" altLang="zh-CN" dirty="0"/>
              <a:t>))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35F35E-8EAB-456C-938B-CD2A5EEC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13118409-FBD8-4956-ACAE-7AE370C1F8D3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初始语法树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sz="4000" dirty="0" err="1">
                <a:latin typeface="宋体" pitchFamily="2" charset="-122"/>
              </a:rPr>
              <a:t>п</a:t>
            </a:r>
            <a:r>
              <a:rPr lang="en-US" altLang="zh-CN" sz="4000" baseline="-15000" dirty="0" err="1"/>
              <a:t>Sname</a:t>
            </a:r>
            <a:endParaRPr lang="en-US" altLang="zh-CN" sz="4000" baseline="-15000" dirty="0"/>
          </a:p>
          <a:p>
            <a:pPr>
              <a:buFont typeface="Wingdings" pitchFamily="2" charset="2"/>
              <a:buNone/>
            </a:pPr>
            <a:endParaRPr lang="en-US" altLang="zh-CN" sz="4000" baseline="-15000" dirty="0"/>
          </a:p>
          <a:p>
            <a:pPr>
              <a:buFont typeface="Wingdings" pitchFamily="2" charset="2"/>
              <a:buNone/>
            </a:pPr>
            <a:r>
              <a:rPr lang="en-US" altLang="zh-CN" sz="4000" baseline="-15000" dirty="0"/>
              <a:t>         </a:t>
            </a:r>
            <a:r>
              <a:rPr lang="en-US" altLang="zh-CN" sz="2800" dirty="0"/>
              <a:t>δStudent.sno=</a:t>
            </a:r>
            <a:r>
              <a:rPr lang="en-US" altLang="zh-CN" sz="2800" dirty="0" err="1"/>
              <a:t>sc.sno∧sc.cno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Courier New" pitchFamily="49" charset="0"/>
              </a:rPr>
              <a:t>‘2’</a:t>
            </a:r>
            <a:endParaRPr lang="en-US" altLang="zh-CN" sz="4000" dirty="0"/>
          </a:p>
          <a:p>
            <a:pPr>
              <a:buFont typeface="Wingdings" pitchFamily="2" charset="2"/>
              <a:buNone/>
            </a:pPr>
            <a:endParaRPr lang="en-US" altLang="zh-CN" sz="1800" dirty="0"/>
          </a:p>
          <a:p>
            <a:pPr>
              <a:buFont typeface="Wingdings" pitchFamily="2" charset="2"/>
              <a:buNone/>
            </a:pPr>
            <a:r>
              <a:rPr lang="en-US" altLang="zh-CN" sz="4000" dirty="0"/>
              <a:t>              ×</a:t>
            </a:r>
          </a:p>
          <a:p>
            <a:pPr>
              <a:buFont typeface="Wingdings" pitchFamily="2" charset="2"/>
              <a:buNone/>
            </a:pPr>
            <a:endParaRPr lang="en-US" altLang="zh-CN" sz="2000" dirty="0"/>
          </a:p>
          <a:p>
            <a:pPr>
              <a:buFont typeface="Wingdings" pitchFamily="2" charset="2"/>
              <a:buNone/>
            </a:pPr>
            <a:r>
              <a:rPr lang="en-US" altLang="zh-CN" sz="4000" dirty="0"/>
              <a:t>       </a:t>
            </a:r>
            <a:r>
              <a:rPr lang="en-US" altLang="zh-CN" sz="2800" dirty="0"/>
              <a:t>Student        SC</a:t>
            </a:r>
            <a:endParaRPr lang="zh-CN" altLang="en-US" dirty="0"/>
          </a:p>
        </p:txBody>
      </p:sp>
      <p:sp>
        <p:nvSpPr>
          <p:cNvPr id="472068" name="Line 4"/>
          <p:cNvSpPr>
            <a:spLocks noChangeShapeType="1"/>
          </p:cNvSpPr>
          <p:nvPr/>
        </p:nvSpPr>
        <p:spPr bwMode="auto">
          <a:xfrm>
            <a:off x="3157538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69" name="Line 5"/>
          <p:cNvSpPr>
            <a:spLocks noChangeShapeType="1"/>
          </p:cNvSpPr>
          <p:nvPr/>
        </p:nvSpPr>
        <p:spPr bwMode="auto">
          <a:xfrm>
            <a:off x="3175000" y="3810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70" name="Line 6"/>
          <p:cNvSpPr>
            <a:spLocks noChangeShapeType="1"/>
          </p:cNvSpPr>
          <p:nvPr/>
        </p:nvSpPr>
        <p:spPr bwMode="auto">
          <a:xfrm flipH="1">
            <a:off x="2514600" y="4876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71" name="Line 7"/>
          <p:cNvSpPr>
            <a:spLocks noChangeShapeType="1"/>
          </p:cNvSpPr>
          <p:nvPr/>
        </p:nvSpPr>
        <p:spPr bwMode="auto">
          <a:xfrm>
            <a:off x="3429000" y="48768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32B3174-EEAE-40E0-B578-6EFEA7E4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49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C78B6CB1-C23A-4C85-B10C-0E6575EE696B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chemeClr val="tx2"/>
                </a:solidFill>
              </a:rPr>
              <a:t>选择变串接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            </a:t>
            </a:r>
            <a:r>
              <a:rPr lang="en-US" altLang="zh-CN" sz="3600" dirty="0" err="1">
                <a:latin typeface="宋体" pitchFamily="2" charset="-122"/>
              </a:rPr>
              <a:t>п</a:t>
            </a:r>
            <a:r>
              <a:rPr lang="en-US" altLang="zh-CN" sz="3600" baseline="-15000" dirty="0" err="1"/>
              <a:t>Sname</a:t>
            </a:r>
            <a:endParaRPr lang="en-US" altLang="zh-CN" sz="36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36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baseline="-15000" dirty="0"/>
              <a:t>         </a:t>
            </a:r>
            <a:r>
              <a:rPr lang="en-US" altLang="zh-CN" sz="2400" dirty="0" err="1"/>
              <a:t>δStudent.sno</a:t>
            </a:r>
            <a:r>
              <a:rPr lang="en-US" altLang="zh-CN" sz="2400" dirty="0"/>
              <a:t>=</a:t>
            </a:r>
            <a:r>
              <a:rPr lang="en-US" altLang="zh-CN" sz="2400" dirty="0" err="1"/>
              <a:t>sc.sno</a:t>
            </a:r>
            <a:endParaRPr lang="en-US" altLang="zh-CN" sz="36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6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dirty="0"/>
              <a:t>		 </a:t>
            </a:r>
            <a:r>
              <a:rPr lang="en-US" altLang="zh-CN" sz="2400" dirty="0" err="1"/>
              <a:t>δsc.cno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Courier New" pitchFamily="49" charset="0"/>
              </a:rPr>
              <a:t>‘2’</a:t>
            </a:r>
            <a:r>
              <a:rPr lang="en-US" altLang="zh-CN" sz="3600" dirty="0"/>
              <a:t> 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dirty="0"/>
              <a:t>              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dirty="0"/>
              <a:t>       </a:t>
            </a:r>
            <a:r>
              <a:rPr lang="en-US" altLang="zh-CN" sz="2400" dirty="0"/>
              <a:t>Student         SC</a:t>
            </a:r>
            <a:endParaRPr lang="zh-CN" altLang="en-US" sz="2800" dirty="0"/>
          </a:p>
        </p:txBody>
      </p:sp>
      <p:sp>
        <p:nvSpPr>
          <p:cNvPr id="473092" name="Line 4"/>
          <p:cNvSpPr>
            <a:spLocks noChangeShapeType="1"/>
          </p:cNvSpPr>
          <p:nvPr/>
        </p:nvSpPr>
        <p:spPr bwMode="auto">
          <a:xfrm>
            <a:off x="2895600" y="2514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093" name="Line 5"/>
          <p:cNvSpPr>
            <a:spLocks noChangeShapeType="1"/>
          </p:cNvSpPr>
          <p:nvPr/>
        </p:nvSpPr>
        <p:spPr bwMode="auto">
          <a:xfrm>
            <a:off x="2895600" y="3429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094" name="Line 6"/>
          <p:cNvSpPr>
            <a:spLocks noChangeShapeType="1"/>
          </p:cNvSpPr>
          <p:nvPr/>
        </p:nvSpPr>
        <p:spPr bwMode="auto">
          <a:xfrm>
            <a:off x="2895600" y="4191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095" name="Line 7"/>
          <p:cNvSpPr>
            <a:spLocks noChangeShapeType="1"/>
          </p:cNvSpPr>
          <p:nvPr/>
        </p:nvSpPr>
        <p:spPr bwMode="auto">
          <a:xfrm flipH="1">
            <a:off x="2362200" y="5029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096" name="Line 8"/>
          <p:cNvSpPr>
            <a:spLocks noChangeShapeType="1"/>
          </p:cNvSpPr>
          <p:nvPr/>
        </p:nvSpPr>
        <p:spPr bwMode="auto">
          <a:xfrm>
            <a:off x="3124200" y="5029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995936" y="3501008"/>
            <a:ext cx="4728255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/>
            <a:r>
              <a:rPr lang="en-US" altLang="zh-CN" dirty="0"/>
              <a:t>(σ</a:t>
            </a:r>
            <a:r>
              <a:rPr lang="en-US" altLang="zh-CN" baseline="-25000" dirty="0"/>
              <a:t>F1</a:t>
            </a:r>
            <a:r>
              <a:rPr lang="en-US" altLang="zh-CN" dirty="0"/>
              <a:t>(σ</a:t>
            </a:r>
            <a:r>
              <a:rPr lang="en-US" altLang="zh-CN" baseline="-25000" dirty="0"/>
              <a:t>F2</a:t>
            </a:r>
            <a:r>
              <a:rPr lang="en-US" altLang="zh-CN" dirty="0"/>
              <a:t>(E)) = σ</a:t>
            </a:r>
            <a:r>
              <a:rPr lang="en-US" altLang="zh-CN" baseline="-25000" dirty="0"/>
              <a:t>F1∧F2</a:t>
            </a:r>
            <a:r>
              <a:rPr lang="en-US" altLang="zh-CN" dirty="0"/>
              <a:t>(E) </a:t>
            </a:r>
            <a:r>
              <a:rPr lang="zh-CN" altLang="en-US" dirty="0">
                <a:solidFill>
                  <a:schemeClr val="tx2"/>
                </a:solidFill>
              </a:rPr>
              <a:t>反向使用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167888-A54E-4E3A-AC5D-0C63C31B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50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ECC08A1E-C017-4571-A024-3C7BA1172D29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选择</a:t>
            </a:r>
            <a:r>
              <a:rPr lang="zh-CN" altLang="en-US" dirty="0"/>
              <a:t>尽可能早作（选择与笛卡儿积交换）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sz="4000" dirty="0" err="1">
                <a:latin typeface="宋体" pitchFamily="2" charset="-122"/>
              </a:rPr>
              <a:t>п</a:t>
            </a:r>
            <a:r>
              <a:rPr lang="en-US" altLang="zh-CN" sz="4000" baseline="-15000" dirty="0" err="1"/>
              <a:t>Sname</a:t>
            </a:r>
            <a:endParaRPr lang="en-US" altLang="zh-CN" sz="40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40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aseline="-15000" dirty="0"/>
              <a:t>         </a:t>
            </a:r>
            <a:r>
              <a:rPr lang="en-US" altLang="zh-CN" sz="2800" dirty="0" err="1"/>
              <a:t>δStudent.sno</a:t>
            </a:r>
            <a:r>
              <a:rPr lang="en-US" altLang="zh-CN" sz="2800" dirty="0"/>
              <a:t>=</a:t>
            </a:r>
            <a:r>
              <a:rPr lang="en-US" altLang="zh-CN" sz="2800" dirty="0" err="1"/>
              <a:t>sc.sno</a:t>
            </a:r>
            <a:endParaRPr lang="en-US" altLang="zh-CN" sz="4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dirty="0"/>
              <a:t>	            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dirty="0"/>
              <a:t>	   </a:t>
            </a:r>
            <a:r>
              <a:rPr lang="en-US" altLang="zh-CN" sz="2800" dirty="0"/>
              <a:t> Student    </a:t>
            </a:r>
            <a:r>
              <a:rPr lang="en-US" altLang="zh-CN" sz="2800" dirty="0" err="1">
                <a:solidFill>
                  <a:srgbClr val="C00000"/>
                </a:solidFill>
              </a:rPr>
              <a:t>δsc.cno</a:t>
            </a:r>
            <a:r>
              <a:rPr lang="en-US" altLang="zh-CN" sz="2800" dirty="0">
                <a:solidFill>
                  <a:srgbClr val="C00000"/>
                </a:solidFill>
              </a:rPr>
              <a:t>=</a:t>
            </a:r>
            <a:r>
              <a:rPr lang="en-US" altLang="zh-CN" sz="2800" dirty="0">
                <a:solidFill>
                  <a:srgbClr val="C00000"/>
                </a:solidFill>
                <a:latin typeface="Courier New" pitchFamily="49" charset="0"/>
              </a:rPr>
              <a:t>‘2’</a:t>
            </a:r>
            <a:r>
              <a:rPr lang="en-US" altLang="zh-CN" sz="4000" dirty="0">
                <a:solidFill>
                  <a:srgbClr val="C00000"/>
                </a:solidFill>
              </a:rPr>
              <a:t> </a:t>
            </a:r>
            <a:r>
              <a:rPr lang="en-US" altLang="zh-CN" sz="4000" dirty="0"/>
              <a:t>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              SC</a:t>
            </a:r>
            <a:endParaRPr lang="zh-CN" altLang="en-US" sz="2800" dirty="0"/>
          </a:p>
        </p:txBody>
      </p:sp>
      <p:sp>
        <p:nvSpPr>
          <p:cNvPr id="474116" name="Line 4"/>
          <p:cNvSpPr>
            <a:spLocks noChangeShapeType="1"/>
          </p:cNvSpPr>
          <p:nvPr/>
        </p:nvSpPr>
        <p:spPr bwMode="auto">
          <a:xfrm>
            <a:off x="3200400" y="2667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4117" name="Line 5"/>
          <p:cNvSpPr>
            <a:spLocks noChangeShapeType="1"/>
          </p:cNvSpPr>
          <p:nvPr/>
        </p:nvSpPr>
        <p:spPr bwMode="auto">
          <a:xfrm flipH="1">
            <a:off x="2362200" y="44196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4118" name="Line 6"/>
          <p:cNvSpPr>
            <a:spLocks noChangeShapeType="1"/>
          </p:cNvSpPr>
          <p:nvPr/>
        </p:nvSpPr>
        <p:spPr bwMode="auto">
          <a:xfrm>
            <a:off x="4419600" y="518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4119" name="Line 7"/>
          <p:cNvSpPr>
            <a:spLocks noChangeShapeType="1"/>
          </p:cNvSpPr>
          <p:nvPr/>
        </p:nvSpPr>
        <p:spPr bwMode="auto">
          <a:xfrm>
            <a:off x="3581400" y="4419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4120" name="Line 8"/>
          <p:cNvSpPr>
            <a:spLocks noChangeShapeType="1"/>
          </p:cNvSpPr>
          <p:nvPr/>
        </p:nvSpPr>
        <p:spPr bwMode="auto">
          <a:xfrm>
            <a:off x="3213100" y="3594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283968" y="3789040"/>
            <a:ext cx="4683173" cy="4247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zh-CN" altLang="en-US" dirty="0"/>
              <a:t>规则</a:t>
            </a:r>
            <a:r>
              <a:rPr lang="en-US" altLang="zh-CN" dirty="0"/>
              <a:t>6</a:t>
            </a:r>
            <a:r>
              <a:rPr lang="zh-CN" altLang="en-US" dirty="0"/>
              <a:t>：选择与笛卡儿积的交换律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2AD604-FB83-4CA0-8010-7F3D905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51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34551247-B6E9-4C70-9FA3-1C771EC4E52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投影</a:t>
            </a:r>
            <a:r>
              <a:rPr lang="zh-CN" altLang="en-US" sz="2800" dirty="0"/>
              <a:t>尽可能早作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                      </a:t>
            </a:r>
            <a:r>
              <a:rPr lang="en-US" altLang="zh-CN" sz="3600" dirty="0" err="1">
                <a:latin typeface="宋体" pitchFamily="2" charset="-122"/>
              </a:rPr>
              <a:t>п</a:t>
            </a:r>
            <a:r>
              <a:rPr lang="en-US" altLang="zh-CN" sz="3600" baseline="-15000" dirty="0" err="1">
                <a:solidFill>
                  <a:schemeClr val="tx2"/>
                </a:solidFill>
              </a:rPr>
              <a:t>Sname</a:t>
            </a:r>
            <a:endParaRPr lang="en-US" altLang="zh-CN" sz="3600" baseline="-15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36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baseline="-15000" dirty="0"/>
              <a:t>                  </a:t>
            </a:r>
            <a:r>
              <a:rPr lang="en-US" altLang="zh-CN" sz="2400" dirty="0" err="1">
                <a:solidFill>
                  <a:srgbClr val="006600"/>
                </a:solidFill>
              </a:rPr>
              <a:t>δStudent.sno</a:t>
            </a:r>
            <a:r>
              <a:rPr lang="en-US" altLang="zh-CN" sz="2400" dirty="0">
                <a:solidFill>
                  <a:srgbClr val="006600"/>
                </a:solidFill>
              </a:rPr>
              <a:t>=</a:t>
            </a:r>
            <a:r>
              <a:rPr lang="en-US" altLang="zh-CN" sz="2400" dirty="0" err="1">
                <a:solidFill>
                  <a:srgbClr val="006600"/>
                </a:solidFill>
              </a:rPr>
              <a:t>sc.sno</a:t>
            </a:r>
            <a:endParaRPr lang="en-US" altLang="zh-CN" sz="3600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6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dirty="0"/>
              <a:t>	                   </a:t>
            </a:r>
            <a:r>
              <a:rPr lang="en-US" altLang="zh-CN" sz="3600" dirty="0">
                <a:solidFill>
                  <a:srgbClr val="006600"/>
                </a:solidFill>
              </a:rPr>
              <a:t>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dirty="0"/>
              <a:t>	 </a:t>
            </a:r>
            <a:r>
              <a:rPr lang="en-US" altLang="zh-CN" sz="3600" dirty="0" err="1">
                <a:solidFill>
                  <a:srgbClr val="C00000"/>
                </a:solidFill>
                <a:latin typeface="宋体" pitchFamily="2" charset="-122"/>
              </a:rPr>
              <a:t>п</a:t>
            </a:r>
            <a:r>
              <a:rPr lang="en-US" altLang="zh-CN" sz="3600" baseline="-15000" dirty="0" err="1">
                <a:solidFill>
                  <a:schemeClr val="tx2"/>
                </a:solidFill>
              </a:rPr>
              <a:t>Sno</a:t>
            </a:r>
            <a:r>
              <a:rPr lang="zh-CN" altLang="en-US" sz="3600" baseline="-15000" dirty="0">
                <a:solidFill>
                  <a:srgbClr val="C00000"/>
                </a:solidFill>
              </a:rPr>
              <a:t>，</a:t>
            </a:r>
            <a:r>
              <a:rPr lang="en-US" altLang="zh-CN" sz="3600" baseline="-15000" dirty="0" err="1">
                <a:solidFill>
                  <a:srgbClr val="C00000"/>
                </a:solidFill>
              </a:rPr>
              <a:t>Sname</a:t>
            </a:r>
            <a:r>
              <a:rPr lang="en-US" altLang="zh-CN" sz="3600" baseline="-15000" dirty="0">
                <a:solidFill>
                  <a:srgbClr val="C00000"/>
                </a:solidFill>
              </a:rPr>
              <a:t>                </a:t>
            </a:r>
            <a:r>
              <a:rPr lang="en-US" altLang="zh-CN" sz="3600" dirty="0" err="1">
                <a:solidFill>
                  <a:srgbClr val="C00000"/>
                </a:solidFill>
                <a:latin typeface="宋体" pitchFamily="2" charset="-122"/>
              </a:rPr>
              <a:t>п</a:t>
            </a:r>
            <a:r>
              <a:rPr lang="en-US" altLang="zh-CN" sz="3600" baseline="-15000" dirty="0" err="1">
                <a:solidFill>
                  <a:schemeClr val="tx2"/>
                </a:solidFill>
              </a:rPr>
              <a:t>Sno</a:t>
            </a:r>
            <a:r>
              <a:rPr lang="en-US" altLang="zh-CN" sz="3600" baseline="-15000" dirty="0">
                <a:solidFill>
                  <a:srgbClr val="C00000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dirty="0"/>
              <a:t>	   </a:t>
            </a:r>
            <a:r>
              <a:rPr lang="en-US" altLang="zh-CN" sz="2400" dirty="0"/>
              <a:t> Student                    </a:t>
            </a:r>
            <a:r>
              <a:rPr lang="en-US" altLang="zh-CN" sz="2400" dirty="0" err="1"/>
              <a:t>δsc.cno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Courier New" pitchFamily="49" charset="0"/>
              </a:rPr>
              <a:t>‘2’</a:t>
            </a:r>
            <a:r>
              <a:rPr lang="en-US" altLang="zh-CN" sz="3600" dirty="0"/>
              <a:t> 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                        SC</a:t>
            </a:r>
            <a:endParaRPr lang="zh-CN" altLang="en-US" sz="2800" dirty="0"/>
          </a:p>
        </p:txBody>
      </p:sp>
      <p:sp>
        <p:nvSpPr>
          <p:cNvPr id="475142" name="Line 6"/>
          <p:cNvSpPr>
            <a:spLocks noChangeShapeType="1"/>
          </p:cNvSpPr>
          <p:nvPr/>
        </p:nvSpPr>
        <p:spPr bwMode="auto">
          <a:xfrm>
            <a:off x="3962400" y="2514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43" name="Line 7"/>
          <p:cNvSpPr>
            <a:spLocks noChangeShapeType="1"/>
          </p:cNvSpPr>
          <p:nvPr/>
        </p:nvSpPr>
        <p:spPr bwMode="auto">
          <a:xfrm>
            <a:off x="39624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44" name="Line 8"/>
          <p:cNvSpPr>
            <a:spLocks noChangeShapeType="1"/>
          </p:cNvSpPr>
          <p:nvPr/>
        </p:nvSpPr>
        <p:spPr bwMode="auto">
          <a:xfrm flipH="1">
            <a:off x="2438400" y="4038600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45" name="Line 9"/>
          <p:cNvSpPr>
            <a:spLocks noChangeShapeType="1"/>
          </p:cNvSpPr>
          <p:nvPr/>
        </p:nvSpPr>
        <p:spPr bwMode="auto">
          <a:xfrm>
            <a:off x="4267200" y="40386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46" name="Line 10"/>
          <p:cNvSpPr>
            <a:spLocks noChangeShapeType="1"/>
          </p:cNvSpPr>
          <p:nvPr/>
        </p:nvSpPr>
        <p:spPr bwMode="auto">
          <a:xfrm>
            <a:off x="2362200" y="4800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47" name="Line 11"/>
          <p:cNvSpPr>
            <a:spLocks noChangeShapeType="1"/>
          </p:cNvSpPr>
          <p:nvPr/>
        </p:nvSpPr>
        <p:spPr bwMode="auto">
          <a:xfrm>
            <a:off x="5410200" y="4800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48" name="Line 12"/>
          <p:cNvSpPr>
            <a:spLocks noChangeShapeType="1"/>
          </p:cNvSpPr>
          <p:nvPr/>
        </p:nvSpPr>
        <p:spPr bwMode="auto">
          <a:xfrm>
            <a:off x="5410200" y="5486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33800" y="0"/>
            <a:ext cx="5410200" cy="20067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>
                <a:solidFill>
                  <a:schemeClr val="tx2"/>
                </a:solidFill>
              </a:rPr>
              <a:t>投影的串接定律</a:t>
            </a:r>
          </a:p>
          <a:p>
            <a:pPr lvl="1"/>
            <a:r>
              <a:rPr lang="en-US" altLang="zh-CN" sz="3200" dirty="0"/>
              <a:t>Π</a:t>
            </a:r>
            <a:r>
              <a:rPr lang="en-US" altLang="zh-CN" sz="3200" baseline="-25000" dirty="0">
                <a:solidFill>
                  <a:schemeClr val="tx2"/>
                </a:solidFill>
              </a:rPr>
              <a:t>A1,A2,…,An</a:t>
            </a:r>
            <a:r>
              <a:rPr lang="en-US" altLang="zh-CN" sz="3200" dirty="0"/>
              <a:t>(Π</a:t>
            </a:r>
            <a:r>
              <a:rPr lang="en-US" altLang="zh-CN" sz="3200" baseline="-25000" dirty="0">
                <a:solidFill>
                  <a:schemeClr val="tx2"/>
                </a:solidFill>
              </a:rPr>
              <a:t>A1,A2,…,An</a:t>
            </a:r>
            <a:r>
              <a:rPr lang="en-US" altLang="zh-CN" sz="3200" baseline="-25000" dirty="0"/>
              <a:t>,</a:t>
            </a:r>
            <a:r>
              <a:rPr lang="en-US" altLang="zh-CN" sz="3200" baseline="-25000" dirty="0">
                <a:solidFill>
                  <a:srgbClr val="C00000"/>
                </a:solidFill>
              </a:rPr>
              <a:t>B1,B2,…,</a:t>
            </a:r>
            <a:r>
              <a:rPr lang="en-US" altLang="zh-CN" sz="3200" baseline="-25000" dirty="0" err="1">
                <a:solidFill>
                  <a:srgbClr val="C00000"/>
                </a:solidFill>
              </a:rPr>
              <a:t>Bn</a:t>
            </a:r>
            <a:r>
              <a:rPr lang="en-US" altLang="zh-CN" sz="3200" dirty="0"/>
              <a:t>(E))</a:t>
            </a:r>
            <a:r>
              <a:rPr lang="en-US" altLang="zh-CN" dirty="0"/>
              <a:t>=</a:t>
            </a:r>
            <a:r>
              <a:rPr lang="en-US" altLang="zh-CN" sz="3600" dirty="0"/>
              <a:t>Π</a:t>
            </a:r>
            <a:r>
              <a:rPr lang="en-US" altLang="zh-CN" sz="3600" baseline="-25000" dirty="0"/>
              <a:t>A1,A2,…,An</a:t>
            </a:r>
            <a:r>
              <a:rPr lang="en-US" altLang="zh-CN" sz="3200" dirty="0"/>
              <a:t>(E)</a:t>
            </a:r>
          </a:p>
          <a:p>
            <a:pPr lvl="1"/>
            <a:r>
              <a:rPr lang="zh-CN" altLang="en-US" sz="3200" dirty="0">
                <a:solidFill>
                  <a:schemeClr val="tx2"/>
                </a:solidFill>
              </a:rPr>
              <a:t>反向使用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AFDA57-761C-4F7A-8306-0CB407F2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52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723C281-CD0B-4008-AF04-FD6A31AC096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实例分析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再给一个例子。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有以下查询，写出关系代数表示的语法树，并利用关系代数表达式优化算法对其进行优化。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	FROM Student, SC, Course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	WHERE </a:t>
            </a:r>
            <a:r>
              <a:rPr lang="en-US" altLang="zh-CN" sz="2800" dirty="0" err="1"/>
              <a:t>Student.Sno</a:t>
            </a:r>
            <a:r>
              <a:rPr lang="en-US" altLang="zh-CN" sz="2800" dirty="0"/>
              <a:t>=</a:t>
            </a:r>
            <a:r>
              <a:rPr lang="en-US" altLang="zh-CN" sz="2800" dirty="0" err="1"/>
              <a:t>SC.Sno</a:t>
            </a:r>
            <a:r>
              <a:rPr lang="en-US" altLang="zh-CN" sz="2800" dirty="0"/>
              <a:t> AND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		</a:t>
            </a:r>
            <a:r>
              <a:rPr lang="en-US" altLang="zh-CN" sz="2800" dirty="0" err="1"/>
              <a:t>SC.Cno</a:t>
            </a:r>
            <a:r>
              <a:rPr lang="en-US" altLang="zh-CN" sz="2800" dirty="0"/>
              <a:t>=</a:t>
            </a:r>
            <a:r>
              <a:rPr lang="en-US" altLang="zh-CN" sz="2800" dirty="0" err="1"/>
              <a:t>Course.Cno</a:t>
            </a:r>
            <a:r>
              <a:rPr lang="en-US" altLang="zh-CN" sz="2800" dirty="0"/>
              <a:t> AND </a:t>
            </a:r>
            <a:r>
              <a:rPr lang="en-US" altLang="zh-CN" sz="2800" dirty="0" err="1"/>
              <a:t>Cname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/>
              </a:rPr>
              <a:t>‘</a:t>
            </a:r>
            <a:r>
              <a:rPr lang="en-US" altLang="zh-CN" sz="2800" dirty="0"/>
              <a:t>C</a:t>
            </a:r>
            <a:r>
              <a:rPr lang="zh-CN" altLang="en-US" sz="2800" dirty="0"/>
              <a:t>语言</a:t>
            </a:r>
            <a:r>
              <a:rPr lang="en-US" altLang="zh-CN" sz="2800" dirty="0">
                <a:latin typeface="Arial"/>
              </a:rPr>
              <a:t>’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1B9582-86F0-4609-98B1-07550204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53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2102FA19-9C32-48D2-9045-D2BA67B121EE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8345488" cy="62484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>
                <a:latin typeface="宋体" pitchFamily="2" charset="-122"/>
              </a:rPr>
              <a:t>            </a:t>
            </a: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/>
              <a:t>Sname</a:t>
            </a:r>
            <a:endParaRPr lang="en-US" altLang="zh-CN" sz="40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baseline="-15000" dirty="0"/>
          </a:p>
          <a:p>
            <a:pPr>
              <a:lnSpc>
                <a:spcPct val="90000"/>
              </a:lnSpc>
              <a:buNone/>
            </a:pPr>
            <a:r>
              <a:rPr lang="en-US" altLang="zh-CN" sz="4000" b="1" baseline="-15000" dirty="0"/>
              <a:t>      </a:t>
            </a:r>
            <a:r>
              <a:rPr lang="en-US" altLang="zh-CN" sz="2800" dirty="0"/>
              <a:t>δ</a:t>
            </a:r>
            <a:r>
              <a:rPr lang="en-US" altLang="zh-CN" sz="2800" baseline="-15000" dirty="0"/>
              <a:t>Student.sno=sc.sno</a:t>
            </a:r>
            <a:r>
              <a:rPr lang="en-US" altLang="zh-CN" sz="2800" dirty="0"/>
              <a:t> ∧ </a:t>
            </a:r>
            <a:r>
              <a:rPr lang="en-US" altLang="zh-CN" sz="2800" dirty="0" err="1"/>
              <a:t>δ</a:t>
            </a:r>
            <a:r>
              <a:rPr lang="en-US" altLang="zh-CN" sz="2800" baseline="-15000" dirty="0" err="1"/>
              <a:t>SC.Cno</a:t>
            </a:r>
            <a:r>
              <a:rPr lang="en-US" altLang="zh-CN" sz="2800" baseline="-15000" dirty="0"/>
              <a:t>=</a:t>
            </a:r>
            <a:r>
              <a:rPr lang="en-US" altLang="zh-CN" sz="2800" baseline="-15000" dirty="0" err="1"/>
              <a:t>Course.Cno</a:t>
            </a:r>
            <a:r>
              <a:rPr lang="en-US" altLang="zh-CN" sz="2800" dirty="0"/>
              <a:t> ∧ </a:t>
            </a:r>
            <a:r>
              <a:rPr lang="en-US" altLang="zh-CN" sz="2800" dirty="0" err="1"/>
              <a:t>δ</a:t>
            </a:r>
            <a:r>
              <a:rPr lang="en-US" altLang="zh-CN" sz="2800" baseline="-15000" dirty="0" err="1"/>
              <a:t>Cname</a:t>
            </a:r>
            <a:r>
              <a:rPr lang="en-US" altLang="zh-CN" sz="2800" baseline="-15000" dirty="0"/>
              <a:t>=</a:t>
            </a:r>
            <a:r>
              <a:rPr lang="en-US" altLang="zh-CN" sz="2800" baseline="-15000" dirty="0">
                <a:latin typeface="Arial"/>
              </a:rPr>
              <a:t>‘</a:t>
            </a:r>
            <a:r>
              <a:rPr lang="en-US" altLang="zh-CN" sz="2800" baseline="-15000" dirty="0"/>
              <a:t>C</a:t>
            </a:r>
            <a:r>
              <a:rPr lang="zh-CN" altLang="en-US" sz="2800" baseline="-15000" dirty="0"/>
              <a:t>语言</a:t>
            </a:r>
            <a:r>
              <a:rPr lang="zh-CN" altLang="en-US" sz="2800" baseline="-15000" dirty="0">
                <a:latin typeface="Arial"/>
              </a:rPr>
              <a:t>’</a:t>
            </a:r>
            <a:endParaRPr lang="en-US" altLang="zh-CN" sz="28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                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</a:t>
            </a:r>
            <a:r>
              <a:rPr lang="en-US" altLang="zh-CN" sz="2800" b="1" dirty="0"/>
              <a:t> Student    </a:t>
            </a:r>
            <a:r>
              <a:rPr lang="en-US" altLang="zh-CN" sz="4000" b="1" dirty="0"/>
              <a:t>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×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                            </a:t>
            </a:r>
            <a:endParaRPr lang="en-US" altLang="zh-CN" sz="28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2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baseline="-15000" dirty="0"/>
              <a:t>                                                            </a:t>
            </a:r>
            <a:r>
              <a:rPr lang="en-US" altLang="zh-CN" sz="2800" b="1" baseline="-15000" dirty="0">
                <a:solidFill>
                  <a:srgbClr val="006600"/>
                </a:solidFill>
              </a:rPr>
              <a:t>SC</a:t>
            </a:r>
            <a:r>
              <a:rPr lang="zh-CN" altLang="en-US" sz="2400" b="1" baseline="-15000" dirty="0"/>
              <a:t>                            </a:t>
            </a:r>
            <a:r>
              <a:rPr lang="en-US" altLang="zh-CN" sz="2400" b="1" baseline="-15000" dirty="0"/>
              <a:t>Course</a:t>
            </a:r>
            <a:endParaRPr lang="zh-CN" altLang="en-US" sz="2800" dirty="0"/>
          </a:p>
        </p:txBody>
      </p:sp>
      <p:sp>
        <p:nvSpPr>
          <p:cNvPr id="477188" name="Line 4"/>
          <p:cNvSpPr>
            <a:spLocks noChangeShapeType="1"/>
          </p:cNvSpPr>
          <p:nvPr/>
        </p:nvSpPr>
        <p:spPr bwMode="auto">
          <a:xfrm>
            <a:off x="4724400" y="106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Line 11"/>
          <p:cNvSpPr>
            <a:spLocks noChangeShapeType="1"/>
          </p:cNvSpPr>
          <p:nvPr/>
        </p:nvSpPr>
        <p:spPr bwMode="auto">
          <a:xfrm flipH="1">
            <a:off x="5072066" y="3910018"/>
            <a:ext cx="757238" cy="5905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Line 12"/>
          <p:cNvSpPr>
            <a:spLocks noChangeShapeType="1"/>
          </p:cNvSpPr>
          <p:nvPr/>
        </p:nvSpPr>
        <p:spPr bwMode="auto">
          <a:xfrm>
            <a:off x="6215074" y="3929066"/>
            <a:ext cx="1000132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Line 13"/>
          <p:cNvSpPr>
            <a:spLocks noChangeShapeType="1"/>
          </p:cNvSpPr>
          <p:nvPr/>
        </p:nvSpPr>
        <p:spPr bwMode="auto">
          <a:xfrm flipH="1">
            <a:off x="3500430" y="2500306"/>
            <a:ext cx="962020" cy="357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Line 14"/>
          <p:cNvSpPr>
            <a:spLocks noChangeShapeType="1"/>
          </p:cNvSpPr>
          <p:nvPr/>
        </p:nvSpPr>
        <p:spPr bwMode="auto">
          <a:xfrm>
            <a:off x="5029200" y="2514600"/>
            <a:ext cx="900122" cy="842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C358B3-F8C5-42AB-B39C-C43BACC6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2F0DF26-F5CD-4097-95EB-BDD9563DC7BE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8345488" cy="62484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>
                <a:latin typeface="宋体" pitchFamily="2" charset="-122"/>
              </a:rPr>
              <a:t>            </a:t>
            </a: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/>
              <a:t>Sname</a:t>
            </a:r>
            <a:endParaRPr lang="en-US" altLang="zh-CN" sz="40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baseline="-15000" dirty="0"/>
          </a:p>
          <a:p>
            <a:pPr>
              <a:lnSpc>
                <a:spcPct val="90000"/>
              </a:lnSpc>
              <a:buNone/>
            </a:pPr>
            <a:r>
              <a:rPr lang="en-US" altLang="zh-CN" sz="4000" b="1" baseline="-15000" dirty="0"/>
              <a:t>                               </a:t>
            </a:r>
            <a:r>
              <a:rPr lang="en-US" altLang="zh-CN" sz="2800" dirty="0"/>
              <a:t>δ</a:t>
            </a:r>
            <a:r>
              <a:rPr lang="en-US" altLang="zh-CN" sz="2800" baseline="-15000" dirty="0"/>
              <a:t>Student.sno=sc.sno</a:t>
            </a:r>
            <a:r>
              <a:rPr lang="en-US" altLang="zh-CN" sz="2800" dirty="0"/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</a:t>
            </a:r>
            <a:r>
              <a:rPr lang="en-US" altLang="zh-CN" sz="2800" dirty="0" err="1"/>
              <a:t>δ</a:t>
            </a:r>
            <a:r>
              <a:rPr lang="en-US" altLang="zh-CN" sz="2800" baseline="-15000" dirty="0" err="1"/>
              <a:t>SC.Cno</a:t>
            </a:r>
            <a:r>
              <a:rPr lang="en-US" altLang="zh-CN" sz="2800" baseline="-15000" dirty="0"/>
              <a:t>=</a:t>
            </a:r>
            <a:r>
              <a:rPr lang="en-US" altLang="zh-CN" sz="2800" baseline="-15000" dirty="0" err="1"/>
              <a:t>Course.Cno</a:t>
            </a:r>
            <a:r>
              <a:rPr lang="en-US" altLang="zh-CN" sz="2800" dirty="0"/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   </a:t>
            </a:r>
            <a:r>
              <a:rPr lang="en-US" altLang="zh-CN" sz="2800" dirty="0" err="1"/>
              <a:t>δ</a:t>
            </a:r>
            <a:r>
              <a:rPr lang="en-US" altLang="zh-CN" sz="2800" baseline="-15000" dirty="0" err="1"/>
              <a:t>Cname</a:t>
            </a:r>
            <a:r>
              <a:rPr lang="en-US" altLang="zh-CN" sz="2800" baseline="-15000" dirty="0"/>
              <a:t>=</a:t>
            </a:r>
            <a:r>
              <a:rPr lang="en-US" altLang="zh-CN" sz="2800" baseline="-15000" dirty="0">
                <a:latin typeface="Arial"/>
              </a:rPr>
              <a:t>‘</a:t>
            </a:r>
            <a:r>
              <a:rPr lang="en-US" altLang="zh-CN" sz="2800" baseline="-15000" dirty="0"/>
              <a:t>C</a:t>
            </a:r>
            <a:r>
              <a:rPr lang="zh-CN" altLang="en-US" sz="2800" baseline="-15000" dirty="0"/>
              <a:t>语言</a:t>
            </a:r>
            <a:r>
              <a:rPr lang="zh-CN" altLang="en-US" sz="2800" baseline="-15000" dirty="0">
                <a:latin typeface="Arial"/>
              </a:rPr>
              <a:t>’</a:t>
            </a:r>
            <a:endParaRPr lang="en-US" altLang="zh-CN" sz="28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b="1" dirty="0"/>
              <a:t>                                                          </a:t>
            </a:r>
            <a:r>
              <a:rPr lang="en-US" altLang="zh-CN" sz="4000" b="1" dirty="0"/>
              <a:t>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</a:t>
            </a:r>
            <a:r>
              <a:rPr lang="en-US" altLang="zh-CN" sz="2800" b="1" dirty="0"/>
              <a:t> Student    </a:t>
            </a:r>
            <a:r>
              <a:rPr lang="en-US" altLang="zh-CN" sz="4000" b="1" dirty="0"/>
              <a:t>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×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                            </a:t>
            </a:r>
            <a:endParaRPr lang="en-US" altLang="zh-CN" sz="28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2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baseline="-15000" dirty="0"/>
              <a:t>                                                            SC</a:t>
            </a:r>
            <a:r>
              <a:rPr lang="zh-CN" altLang="en-US" sz="2400" b="1" baseline="-15000" dirty="0"/>
              <a:t>                            </a:t>
            </a:r>
            <a:r>
              <a:rPr lang="en-US" altLang="zh-CN" sz="2400" b="1" baseline="-15000" dirty="0"/>
              <a:t>Course</a:t>
            </a:r>
            <a:endParaRPr lang="zh-CN" altLang="en-US" sz="2800" dirty="0"/>
          </a:p>
        </p:txBody>
      </p:sp>
      <p:sp>
        <p:nvSpPr>
          <p:cNvPr id="477188" name="Line 4"/>
          <p:cNvSpPr>
            <a:spLocks noChangeShapeType="1"/>
          </p:cNvSpPr>
          <p:nvPr/>
        </p:nvSpPr>
        <p:spPr bwMode="auto">
          <a:xfrm>
            <a:off x="4786314" y="264318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Line 11"/>
          <p:cNvSpPr>
            <a:spLocks noChangeShapeType="1"/>
          </p:cNvSpPr>
          <p:nvPr/>
        </p:nvSpPr>
        <p:spPr bwMode="auto">
          <a:xfrm flipH="1">
            <a:off x="5072066" y="4500570"/>
            <a:ext cx="757238" cy="5905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Line 12"/>
          <p:cNvSpPr>
            <a:spLocks noChangeShapeType="1"/>
          </p:cNvSpPr>
          <p:nvPr/>
        </p:nvSpPr>
        <p:spPr bwMode="auto">
          <a:xfrm>
            <a:off x="6215074" y="4500570"/>
            <a:ext cx="1000132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Line 13"/>
          <p:cNvSpPr>
            <a:spLocks noChangeShapeType="1"/>
          </p:cNvSpPr>
          <p:nvPr/>
        </p:nvSpPr>
        <p:spPr bwMode="auto">
          <a:xfrm flipH="1">
            <a:off x="3714744" y="3071810"/>
            <a:ext cx="962020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Line 14"/>
          <p:cNvSpPr>
            <a:spLocks noChangeShapeType="1"/>
          </p:cNvSpPr>
          <p:nvPr/>
        </p:nvSpPr>
        <p:spPr bwMode="auto">
          <a:xfrm>
            <a:off x="5000628" y="3071810"/>
            <a:ext cx="900122" cy="842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4714876" y="100010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4714876" y="16430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4714876" y="2143116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D94A2B4-E71C-4F56-9362-BEA8BF0F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5B50E515-9B6F-460F-B974-5B57C2418CEC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8345488" cy="62484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>
                <a:latin typeface="宋体" pitchFamily="2" charset="-122"/>
              </a:rPr>
              <a:t>            </a:t>
            </a: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/>
              <a:t>Sname</a:t>
            </a:r>
            <a:endParaRPr lang="en-US" altLang="zh-CN" sz="40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baseline="-15000" dirty="0"/>
          </a:p>
          <a:p>
            <a:pPr>
              <a:lnSpc>
                <a:spcPct val="90000"/>
              </a:lnSpc>
              <a:buNone/>
            </a:pPr>
            <a:r>
              <a:rPr lang="en-US" altLang="zh-CN" sz="4000" b="1" baseline="-15000" dirty="0"/>
              <a:t>                               </a:t>
            </a:r>
            <a:r>
              <a:rPr lang="en-US" altLang="zh-CN" sz="2800" dirty="0"/>
              <a:t>δ</a:t>
            </a:r>
            <a:r>
              <a:rPr lang="en-US" altLang="zh-CN" sz="2800" baseline="-15000" dirty="0"/>
              <a:t>Student.sno=sc.sno</a:t>
            </a:r>
            <a:r>
              <a:rPr lang="en-US" altLang="zh-CN" sz="2800" dirty="0"/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</a:t>
            </a:r>
            <a:r>
              <a:rPr lang="en-US" altLang="zh-CN" sz="2800" dirty="0" err="1"/>
              <a:t>δ</a:t>
            </a:r>
            <a:r>
              <a:rPr lang="en-US" altLang="zh-CN" sz="2800" baseline="-15000" dirty="0" err="1"/>
              <a:t>SC.Cno</a:t>
            </a:r>
            <a:r>
              <a:rPr lang="en-US" altLang="zh-CN" sz="2800" baseline="-15000" dirty="0"/>
              <a:t>=</a:t>
            </a:r>
            <a:r>
              <a:rPr lang="en-US" altLang="zh-CN" sz="2800" baseline="-15000" dirty="0" err="1"/>
              <a:t>Course.Cno</a:t>
            </a:r>
            <a:r>
              <a:rPr lang="en-US" altLang="zh-CN" sz="2800" dirty="0"/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   </a:t>
            </a:r>
            <a:endParaRPr lang="en-US" altLang="zh-CN" sz="2800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b="1" dirty="0"/>
              <a:t>                                                          </a:t>
            </a:r>
            <a:r>
              <a:rPr lang="en-US" altLang="zh-CN" sz="4000" b="1" dirty="0"/>
              <a:t>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</a:t>
            </a:r>
            <a:r>
              <a:rPr lang="en-US" altLang="zh-CN" sz="2800" b="1" dirty="0"/>
              <a:t> Student    </a:t>
            </a:r>
            <a:r>
              <a:rPr lang="en-US" altLang="zh-CN" sz="4000" b="1" dirty="0"/>
              <a:t>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×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                            </a:t>
            </a:r>
            <a:endParaRPr lang="en-US" altLang="zh-CN" sz="28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200" b="1" baseline="-15000" dirty="0"/>
          </a:p>
          <a:p>
            <a:pPr>
              <a:lnSpc>
                <a:spcPct val="90000"/>
              </a:lnSpc>
              <a:buNone/>
            </a:pPr>
            <a:r>
              <a:rPr lang="en-US" altLang="zh-CN" sz="2800" b="1" baseline="-15000" dirty="0"/>
              <a:t>                                                            SC</a:t>
            </a:r>
            <a:r>
              <a:rPr lang="zh-CN" altLang="en-US" sz="2400" b="1" baseline="-15000" dirty="0"/>
              <a:t>                    </a:t>
            </a:r>
            <a:r>
              <a:rPr lang="en-US" altLang="zh-CN" sz="2400" dirty="0" err="1">
                <a:solidFill>
                  <a:srgbClr val="006600"/>
                </a:solidFill>
              </a:rPr>
              <a:t>δ</a:t>
            </a:r>
            <a:r>
              <a:rPr lang="en-US" altLang="zh-CN" sz="2400" baseline="-15000" dirty="0" err="1">
                <a:solidFill>
                  <a:srgbClr val="006600"/>
                </a:solidFill>
              </a:rPr>
              <a:t>Cname</a:t>
            </a:r>
            <a:r>
              <a:rPr lang="en-US" altLang="zh-CN" sz="2400" baseline="-15000" dirty="0">
                <a:solidFill>
                  <a:srgbClr val="006600"/>
                </a:solidFill>
              </a:rPr>
              <a:t>=</a:t>
            </a:r>
            <a:r>
              <a:rPr lang="en-US" altLang="zh-CN" sz="2400" baseline="-15000" dirty="0">
                <a:solidFill>
                  <a:srgbClr val="006600"/>
                </a:solidFill>
                <a:latin typeface="Arial"/>
              </a:rPr>
              <a:t>‘</a:t>
            </a:r>
            <a:r>
              <a:rPr lang="en-US" altLang="zh-CN" sz="2400" baseline="-15000" dirty="0">
                <a:solidFill>
                  <a:srgbClr val="006600"/>
                </a:solidFill>
              </a:rPr>
              <a:t>C</a:t>
            </a:r>
            <a:r>
              <a:rPr lang="zh-CN" altLang="en-US" sz="2400" baseline="-15000" dirty="0">
                <a:solidFill>
                  <a:srgbClr val="006600"/>
                </a:solidFill>
              </a:rPr>
              <a:t>语言</a:t>
            </a:r>
            <a:r>
              <a:rPr lang="zh-CN" altLang="en-US" sz="2400" baseline="-15000" dirty="0">
                <a:solidFill>
                  <a:srgbClr val="006600"/>
                </a:solidFill>
                <a:latin typeface="Arial"/>
              </a:rPr>
              <a:t>’</a:t>
            </a:r>
            <a:r>
              <a:rPr lang="zh-CN" altLang="en-US" sz="2400" b="1" baseline="-15000" dirty="0">
                <a:solidFill>
                  <a:srgbClr val="006600"/>
                </a:solidFill>
              </a:rPr>
              <a:t> </a:t>
            </a:r>
            <a:endParaRPr lang="en-US" altLang="zh-CN" sz="2400" b="1" baseline="-15000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baseline="-15000" dirty="0"/>
              <a:t>                                                                                                       Course</a:t>
            </a:r>
            <a:endParaRPr lang="zh-CN" altLang="en-US" sz="2800" dirty="0"/>
          </a:p>
        </p:txBody>
      </p:sp>
      <p:sp>
        <p:nvSpPr>
          <p:cNvPr id="477188" name="Line 4"/>
          <p:cNvSpPr>
            <a:spLocks noChangeShapeType="1"/>
          </p:cNvSpPr>
          <p:nvPr/>
        </p:nvSpPr>
        <p:spPr bwMode="auto">
          <a:xfrm>
            <a:off x="7215206" y="557214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Line 11"/>
          <p:cNvSpPr>
            <a:spLocks noChangeShapeType="1"/>
          </p:cNvSpPr>
          <p:nvPr/>
        </p:nvSpPr>
        <p:spPr bwMode="auto">
          <a:xfrm flipH="1">
            <a:off x="5072066" y="4500570"/>
            <a:ext cx="757238" cy="5905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Line 12"/>
          <p:cNvSpPr>
            <a:spLocks noChangeShapeType="1"/>
          </p:cNvSpPr>
          <p:nvPr/>
        </p:nvSpPr>
        <p:spPr bwMode="auto">
          <a:xfrm>
            <a:off x="6215074" y="4500570"/>
            <a:ext cx="1000132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Line 13"/>
          <p:cNvSpPr>
            <a:spLocks noChangeShapeType="1"/>
          </p:cNvSpPr>
          <p:nvPr/>
        </p:nvSpPr>
        <p:spPr bwMode="auto">
          <a:xfrm flipH="1">
            <a:off x="3714744" y="3071810"/>
            <a:ext cx="962020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Line 14"/>
          <p:cNvSpPr>
            <a:spLocks noChangeShapeType="1"/>
          </p:cNvSpPr>
          <p:nvPr/>
        </p:nvSpPr>
        <p:spPr bwMode="auto">
          <a:xfrm>
            <a:off x="5000628" y="3071810"/>
            <a:ext cx="900122" cy="842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4714876" y="100010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4714876" y="16430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4714876" y="2143116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7B1676-59FD-441F-9642-92D11F51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09F22D17-384B-4256-8AD4-56AD68A1FEC0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8345488" cy="62484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>
                <a:latin typeface="宋体" pitchFamily="2" charset="-122"/>
              </a:rPr>
              <a:t>            </a:t>
            </a: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/>
              <a:t>Sname</a:t>
            </a:r>
            <a:endParaRPr lang="en-US" altLang="zh-CN" sz="40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baseline="-15000" dirty="0"/>
          </a:p>
          <a:p>
            <a:pPr>
              <a:lnSpc>
                <a:spcPct val="90000"/>
              </a:lnSpc>
              <a:buNone/>
            </a:pPr>
            <a:r>
              <a:rPr lang="en-US" altLang="zh-CN" sz="4000" b="1" baseline="-15000" dirty="0"/>
              <a:t>                               </a:t>
            </a:r>
            <a:r>
              <a:rPr lang="en-US" altLang="zh-CN" sz="2800" dirty="0">
                <a:solidFill>
                  <a:srgbClr val="006600"/>
                </a:solidFill>
              </a:rPr>
              <a:t>δ</a:t>
            </a:r>
            <a:r>
              <a:rPr lang="en-US" altLang="zh-CN" sz="2800" baseline="-15000" dirty="0">
                <a:solidFill>
                  <a:srgbClr val="006600"/>
                </a:solidFill>
              </a:rPr>
              <a:t>Student.sno=sc.sno</a:t>
            </a:r>
            <a:r>
              <a:rPr lang="en-US" altLang="zh-CN" sz="2800" dirty="0">
                <a:solidFill>
                  <a:srgbClr val="006600"/>
                </a:solidFill>
              </a:rPr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   </a:t>
            </a:r>
            <a:r>
              <a:rPr lang="en-US" altLang="zh-CN" sz="1800" b="1" dirty="0"/>
              <a:t>        </a:t>
            </a:r>
            <a:r>
              <a:rPr lang="en-US" altLang="zh-CN" sz="4000" b="1" dirty="0">
                <a:solidFill>
                  <a:srgbClr val="006600"/>
                </a:solidFill>
              </a:rPr>
              <a:t>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</a:t>
            </a:r>
            <a:r>
              <a:rPr lang="en-US" altLang="zh-CN" sz="2800" b="1" dirty="0"/>
              <a:t> Student    </a:t>
            </a:r>
            <a:r>
              <a:rPr lang="en-US" altLang="zh-CN" sz="4000" b="1" dirty="0"/>
              <a:t>	</a:t>
            </a:r>
            <a:r>
              <a:rPr lang="en-US" altLang="zh-CN" sz="2800" b="1" dirty="0"/>
              <a:t>                                               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                                    </a:t>
            </a:r>
            <a:r>
              <a:rPr lang="en-US" altLang="zh-CN" sz="2800" dirty="0" err="1">
                <a:solidFill>
                  <a:srgbClr val="006600"/>
                </a:solidFill>
              </a:rPr>
              <a:t>δ</a:t>
            </a:r>
            <a:r>
              <a:rPr lang="en-US" altLang="zh-CN" sz="2800" baseline="-15000" dirty="0" err="1">
                <a:solidFill>
                  <a:srgbClr val="006600"/>
                </a:solidFill>
              </a:rPr>
              <a:t>SC.Cno</a:t>
            </a:r>
            <a:r>
              <a:rPr lang="en-US" altLang="zh-CN" sz="2800" baseline="-15000" dirty="0">
                <a:solidFill>
                  <a:srgbClr val="006600"/>
                </a:solidFill>
              </a:rPr>
              <a:t>=</a:t>
            </a:r>
            <a:r>
              <a:rPr lang="en-US" altLang="zh-CN" sz="2800" baseline="-15000" dirty="0" err="1">
                <a:solidFill>
                  <a:srgbClr val="006600"/>
                </a:solidFill>
              </a:rPr>
              <a:t>Course.Cno</a:t>
            </a:r>
            <a:endParaRPr lang="en-US" altLang="zh-CN" sz="2800" b="1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 </a:t>
            </a:r>
            <a:r>
              <a:rPr lang="en-US" altLang="zh-CN" sz="2800" b="1" dirty="0">
                <a:solidFill>
                  <a:srgbClr val="006600"/>
                </a:solidFill>
              </a:rPr>
              <a:t>×</a:t>
            </a:r>
            <a:endParaRPr lang="en-US" altLang="zh-CN" sz="2400" b="1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                            </a:t>
            </a:r>
            <a:endParaRPr lang="en-US" altLang="zh-CN" sz="1200" b="1" baseline="-15000" dirty="0"/>
          </a:p>
          <a:p>
            <a:pPr>
              <a:lnSpc>
                <a:spcPct val="90000"/>
              </a:lnSpc>
              <a:buNone/>
            </a:pPr>
            <a:r>
              <a:rPr lang="en-US" altLang="zh-CN" sz="2800" b="1" baseline="-15000" dirty="0"/>
              <a:t>                                                            SC</a:t>
            </a:r>
            <a:r>
              <a:rPr lang="zh-CN" altLang="en-US" sz="2400" b="1" baseline="-15000" dirty="0"/>
              <a:t>                    </a:t>
            </a:r>
            <a:r>
              <a:rPr lang="en-US" altLang="zh-CN" sz="2400" dirty="0" err="1"/>
              <a:t>δ</a:t>
            </a:r>
            <a:r>
              <a:rPr lang="en-US" altLang="zh-CN" sz="2400" baseline="-15000" dirty="0" err="1"/>
              <a:t>Cname</a:t>
            </a:r>
            <a:r>
              <a:rPr lang="en-US" altLang="zh-CN" sz="2400" baseline="-15000" dirty="0"/>
              <a:t>=</a:t>
            </a:r>
            <a:r>
              <a:rPr lang="en-US" altLang="zh-CN" sz="2400" baseline="-15000" dirty="0">
                <a:latin typeface="Arial"/>
              </a:rPr>
              <a:t>‘</a:t>
            </a:r>
            <a:r>
              <a:rPr lang="en-US" altLang="zh-CN" sz="2400" baseline="-15000" dirty="0"/>
              <a:t>C</a:t>
            </a:r>
            <a:r>
              <a:rPr lang="zh-CN" altLang="en-US" sz="2400" baseline="-15000" dirty="0"/>
              <a:t>语言</a:t>
            </a:r>
            <a:r>
              <a:rPr lang="zh-CN" altLang="en-US" sz="2400" baseline="-15000" dirty="0">
                <a:latin typeface="Arial"/>
              </a:rPr>
              <a:t>’</a:t>
            </a:r>
            <a:r>
              <a:rPr lang="zh-CN" altLang="en-US" sz="2400" b="1" baseline="-15000" dirty="0"/>
              <a:t> </a:t>
            </a:r>
            <a:endParaRPr lang="en-US" altLang="zh-CN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baseline="-15000" dirty="0"/>
              <a:t>                                                                                                       Course</a:t>
            </a:r>
            <a:endParaRPr lang="zh-CN" altLang="en-US" sz="2800" dirty="0"/>
          </a:p>
        </p:txBody>
      </p:sp>
      <p:sp>
        <p:nvSpPr>
          <p:cNvPr id="477188" name="Line 4"/>
          <p:cNvSpPr>
            <a:spLocks noChangeShapeType="1"/>
          </p:cNvSpPr>
          <p:nvPr/>
        </p:nvSpPr>
        <p:spPr bwMode="auto">
          <a:xfrm>
            <a:off x="7215206" y="578645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Line 11"/>
          <p:cNvSpPr>
            <a:spLocks noChangeShapeType="1"/>
          </p:cNvSpPr>
          <p:nvPr/>
        </p:nvSpPr>
        <p:spPr bwMode="auto">
          <a:xfrm flipH="1">
            <a:off x="5143504" y="4786322"/>
            <a:ext cx="757238" cy="5905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Line 12"/>
          <p:cNvSpPr>
            <a:spLocks noChangeShapeType="1"/>
          </p:cNvSpPr>
          <p:nvPr/>
        </p:nvSpPr>
        <p:spPr bwMode="auto">
          <a:xfrm>
            <a:off x="6357950" y="4929198"/>
            <a:ext cx="1000132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Line 13"/>
          <p:cNvSpPr>
            <a:spLocks noChangeShapeType="1"/>
          </p:cNvSpPr>
          <p:nvPr/>
        </p:nvSpPr>
        <p:spPr bwMode="auto">
          <a:xfrm flipH="1">
            <a:off x="3500430" y="2571744"/>
            <a:ext cx="962020" cy="5000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Line 14"/>
          <p:cNvSpPr>
            <a:spLocks noChangeShapeType="1"/>
          </p:cNvSpPr>
          <p:nvPr/>
        </p:nvSpPr>
        <p:spPr bwMode="auto">
          <a:xfrm>
            <a:off x="4929190" y="2571744"/>
            <a:ext cx="900122" cy="842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4714876" y="100010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6072198" y="3929066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4"/>
          <p:cNvSpPr>
            <a:spLocks noChangeShapeType="1"/>
          </p:cNvSpPr>
          <p:nvPr/>
        </p:nvSpPr>
        <p:spPr bwMode="auto">
          <a:xfrm>
            <a:off x="4714876" y="1785926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89F31B-BCB2-460F-B1E6-B8094796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EAFC8BF-11E4-4B3C-AA64-5A8D1BF5FDD6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8345488" cy="62484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>
                <a:latin typeface="宋体" pitchFamily="2" charset="-122"/>
              </a:rPr>
              <a:t>            </a:t>
            </a: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/>
              <a:t>Sname</a:t>
            </a:r>
            <a:endParaRPr lang="en-US" altLang="zh-CN" sz="40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baseline="-15000" dirty="0"/>
              <a:t>                         </a:t>
            </a:r>
            <a:r>
              <a:rPr lang="en-US" altLang="zh-CN" sz="2800" b="1" dirty="0" err="1"/>
              <a:t>δ</a:t>
            </a:r>
            <a:r>
              <a:rPr lang="en-US" altLang="zh-CN" sz="2800" b="1" baseline="-15000" dirty="0" err="1"/>
              <a:t>Student.sno</a:t>
            </a:r>
            <a:r>
              <a:rPr lang="en-US" altLang="zh-CN" sz="2800" b="1" baseline="-15000" dirty="0"/>
              <a:t>=</a:t>
            </a:r>
            <a:r>
              <a:rPr lang="en-US" altLang="zh-CN" sz="2800" b="1" baseline="-15000" dirty="0" err="1"/>
              <a:t>sc.sno</a:t>
            </a:r>
            <a:endParaRPr lang="en-US" altLang="zh-CN" sz="28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                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 </a:t>
            </a:r>
            <a:r>
              <a:rPr lang="en-US" altLang="zh-CN" sz="4000" b="1" dirty="0" err="1">
                <a:solidFill>
                  <a:srgbClr val="0000FF"/>
                </a:solidFill>
                <a:latin typeface="宋体" pitchFamily="2" charset="-122"/>
              </a:rPr>
              <a:t>п</a:t>
            </a:r>
            <a:r>
              <a:rPr lang="en-US" altLang="zh-CN" sz="4000" b="1" baseline="-15000" dirty="0" err="1">
                <a:solidFill>
                  <a:srgbClr val="0000FF"/>
                </a:solidFill>
              </a:rPr>
              <a:t>Sno</a:t>
            </a:r>
            <a:r>
              <a:rPr lang="zh-CN" altLang="en-US" sz="4000" b="1" baseline="-15000" dirty="0">
                <a:solidFill>
                  <a:srgbClr val="0000FF"/>
                </a:solidFill>
              </a:rPr>
              <a:t>，</a:t>
            </a:r>
            <a:r>
              <a:rPr lang="en-US" altLang="zh-CN" sz="4000" b="1" baseline="-15000" dirty="0" err="1">
                <a:solidFill>
                  <a:srgbClr val="0000FF"/>
                </a:solidFill>
              </a:rPr>
              <a:t>Sname</a:t>
            </a:r>
            <a:r>
              <a:rPr lang="en-US" altLang="zh-CN" sz="4000" b="1" baseline="-15000" dirty="0">
                <a:solidFill>
                  <a:srgbClr val="0000FF"/>
                </a:solidFill>
              </a:rPr>
              <a:t>                 </a:t>
            </a:r>
            <a:r>
              <a:rPr lang="en-US" altLang="zh-CN" sz="4000" b="1" dirty="0" err="1">
                <a:solidFill>
                  <a:srgbClr val="0000FF"/>
                </a:solidFill>
                <a:latin typeface="宋体" pitchFamily="2" charset="-122"/>
              </a:rPr>
              <a:t>п</a:t>
            </a:r>
            <a:r>
              <a:rPr lang="en-US" altLang="zh-CN" sz="4000" b="1" baseline="-15000" dirty="0" err="1">
                <a:solidFill>
                  <a:srgbClr val="0000FF"/>
                </a:solidFill>
              </a:rPr>
              <a:t>Sno</a:t>
            </a:r>
            <a:r>
              <a:rPr lang="en-US" altLang="zh-CN" sz="4000" b="1" baseline="-150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   </a:t>
            </a:r>
            <a:r>
              <a:rPr lang="en-US" altLang="zh-CN" sz="2800" b="1" dirty="0"/>
              <a:t> Student    </a:t>
            </a:r>
            <a:r>
              <a:rPr lang="en-US" altLang="zh-CN" sz="4000" b="1" dirty="0"/>
              <a:t>	          </a:t>
            </a:r>
            <a:r>
              <a:rPr lang="en-US" altLang="zh-CN" sz="2800" b="1" dirty="0" err="1"/>
              <a:t>δ</a:t>
            </a:r>
            <a:r>
              <a:rPr lang="en-US" altLang="zh-CN" sz="2800" b="1" baseline="-15000" dirty="0" err="1"/>
              <a:t>SC.Cno</a:t>
            </a:r>
            <a:r>
              <a:rPr lang="en-US" altLang="zh-CN" sz="2800" b="1" baseline="-15000" dirty="0"/>
              <a:t>=</a:t>
            </a:r>
            <a:r>
              <a:rPr lang="en-US" altLang="zh-CN" sz="2800" b="1" baseline="-15000" dirty="0" err="1"/>
              <a:t>Course.Cno</a:t>
            </a:r>
            <a:r>
              <a:rPr lang="en-US" altLang="zh-CN" sz="4000" b="1" dirty="0"/>
              <a:t>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  ×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                            </a:t>
            </a:r>
            <a:r>
              <a:rPr lang="en-US" altLang="zh-CN" sz="2800" b="1" dirty="0" err="1">
                <a:latin typeface="宋体" pitchFamily="2" charset="-122"/>
              </a:rPr>
              <a:t>п</a:t>
            </a:r>
            <a:r>
              <a:rPr lang="en-US" altLang="zh-CN" sz="2800" b="1" baseline="-15000" dirty="0" err="1">
                <a:solidFill>
                  <a:srgbClr val="0000FF"/>
                </a:solidFill>
              </a:rPr>
              <a:t>Sno,Cno</a:t>
            </a:r>
            <a:r>
              <a:rPr lang="en-US" altLang="zh-CN" sz="2800" b="1" baseline="-15000" dirty="0"/>
              <a:t>             </a:t>
            </a:r>
            <a:r>
              <a:rPr lang="en-US" altLang="zh-CN" sz="2800" b="1" dirty="0" err="1">
                <a:solidFill>
                  <a:srgbClr val="0000FF"/>
                </a:solidFill>
                <a:latin typeface="宋体" pitchFamily="2" charset="-122"/>
              </a:rPr>
              <a:t>п</a:t>
            </a:r>
            <a:r>
              <a:rPr lang="en-US" altLang="zh-CN" sz="2800" b="1" baseline="-15000" dirty="0" err="1">
                <a:solidFill>
                  <a:srgbClr val="0000FF"/>
                </a:solidFill>
              </a:rPr>
              <a:t>Cno</a:t>
            </a:r>
            <a:r>
              <a:rPr lang="en-US" altLang="zh-CN" sz="2800" b="1" baseline="-15000" dirty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2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baseline="-15000" dirty="0"/>
              <a:t>                                                              SC               </a:t>
            </a:r>
            <a:r>
              <a:rPr lang="en-US" altLang="zh-CN" sz="2400" b="1" dirty="0" err="1"/>
              <a:t>δ</a:t>
            </a:r>
            <a:r>
              <a:rPr lang="en-US" altLang="zh-CN" sz="2400" b="1" baseline="-15000" dirty="0" err="1"/>
              <a:t>Cname</a:t>
            </a:r>
            <a:r>
              <a:rPr lang="en-US" altLang="zh-CN" sz="2400" b="1" baseline="-15000" dirty="0"/>
              <a:t>=</a:t>
            </a:r>
            <a:r>
              <a:rPr lang="en-US" altLang="zh-CN" sz="2400" b="1" baseline="-15000" dirty="0">
                <a:latin typeface="Arial"/>
              </a:rPr>
              <a:t>‘</a:t>
            </a:r>
            <a:r>
              <a:rPr lang="en-US" altLang="zh-CN" sz="2400" b="1" baseline="-15000" dirty="0"/>
              <a:t>C</a:t>
            </a:r>
            <a:r>
              <a:rPr lang="zh-CN" altLang="en-US" sz="2400" b="1" baseline="-15000" dirty="0"/>
              <a:t>语言</a:t>
            </a:r>
            <a:r>
              <a:rPr lang="zh-CN" altLang="en-US" sz="2400" b="1" baseline="-15000" dirty="0">
                <a:latin typeface="Arial"/>
              </a:rPr>
              <a:t>’</a:t>
            </a:r>
            <a:endParaRPr lang="zh-CN" altLang="en-US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baseline="-15000" dirty="0"/>
              <a:t>                                                                                                        </a:t>
            </a:r>
            <a:r>
              <a:rPr lang="en-US" altLang="zh-CN" sz="2400" b="1" baseline="-15000" dirty="0"/>
              <a:t>Course</a:t>
            </a:r>
            <a:endParaRPr lang="zh-CN" altLang="en-US" sz="2800" b="1" dirty="0"/>
          </a:p>
        </p:txBody>
      </p:sp>
      <p:sp>
        <p:nvSpPr>
          <p:cNvPr id="477188" name="Line 4"/>
          <p:cNvSpPr>
            <a:spLocks noChangeShapeType="1"/>
          </p:cNvSpPr>
          <p:nvPr/>
        </p:nvSpPr>
        <p:spPr bwMode="auto">
          <a:xfrm>
            <a:off x="4724400" y="106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89" name="Line 5"/>
          <p:cNvSpPr>
            <a:spLocks noChangeShapeType="1"/>
          </p:cNvSpPr>
          <p:nvPr/>
        </p:nvSpPr>
        <p:spPr bwMode="auto">
          <a:xfrm>
            <a:off x="4724400" y="175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0" name="Line 6"/>
          <p:cNvSpPr>
            <a:spLocks noChangeShapeType="1"/>
          </p:cNvSpPr>
          <p:nvPr/>
        </p:nvSpPr>
        <p:spPr bwMode="auto">
          <a:xfrm>
            <a:off x="2514600" y="3352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1" name="Line 7"/>
          <p:cNvSpPr>
            <a:spLocks noChangeShapeType="1"/>
          </p:cNvSpPr>
          <p:nvPr/>
        </p:nvSpPr>
        <p:spPr bwMode="auto">
          <a:xfrm>
            <a:off x="62484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2" name="Line 8"/>
          <p:cNvSpPr>
            <a:spLocks noChangeShapeType="1"/>
          </p:cNvSpPr>
          <p:nvPr/>
        </p:nvSpPr>
        <p:spPr bwMode="auto">
          <a:xfrm>
            <a:off x="7315200" y="5029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3" name="Line 9"/>
          <p:cNvSpPr>
            <a:spLocks noChangeShapeType="1"/>
          </p:cNvSpPr>
          <p:nvPr/>
        </p:nvSpPr>
        <p:spPr bwMode="auto">
          <a:xfrm>
            <a:off x="7315200" y="5638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4" name="Line 10"/>
          <p:cNvSpPr>
            <a:spLocks noChangeShapeType="1"/>
          </p:cNvSpPr>
          <p:nvPr/>
        </p:nvSpPr>
        <p:spPr bwMode="auto">
          <a:xfrm>
            <a:off x="5308600" y="50165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Line 11"/>
          <p:cNvSpPr>
            <a:spLocks noChangeShapeType="1"/>
          </p:cNvSpPr>
          <p:nvPr/>
        </p:nvSpPr>
        <p:spPr bwMode="auto">
          <a:xfrm flipH="1">
            <a:off x="5334000" y="44196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Line 12"/>
          <p:cNvSpPr>
            <a:spLocks noChangeShapeType="1"/>
          </p:cNvSpPr>
          <p:nvPr/>
        </p:nvSpPr>
        <p:spPr bwMode="auto">
          <a:xfrm>
            <a:off x="6477000" y="44196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Line 13"/>
          <p:cNvSpPr>
            <a:spLocks noChangeShapeType="1"/>
          </p:cNvSpPr>
          <p:nvPr/>
        </p:nvSpPr>
        <p:spPr bwMode="auto">
          <a:xfrm flipH="1">
            <a:off x="2667000" y="2514600"/>
            <a:ext cx="1676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Line 14"/>
          <p:cNvSpPr>
            <a:spLocks noChangeShapeType="1"/>
          </p:cNvSpPr>
          <p:nvPr/>
        </p:nvSpPr>
        <p:spPr bwMode="auto">
          <a:xfrm>
            <a:off x="5029200" y="25146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9" name="Line 15"/>
          <p:cNvSpPr>
            <a:spLocks noChangeShapeType="1"/>
          </p:cNvSpPr>
          <p:nvPr/>
        </p:nvSpPr>
        <p:spPr bwMode="auto">
          <a:xfrm>
            <a:off x="6248400" y="40005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438CBE-7FE4-4BED-8436-94188E4B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2C5E01CD-CD95-4749-95F1-6A5FBFFE48A4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8345488" cy="62484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>
                <a:latin typeface="宋体" pitchFamily="2" charset="-122"/>
              </a:rPr>
              <a:t>            </a:t>
            </a: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/>
              <a:t>Sname</a:t>
            </a:r>
            <a:endParaRPr lang="en-US" altLang="zh-CN" sz="40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8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	              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 err="1">
                <a:latin typeface="宋体" pitchFamily="2" charset="-122"/>
              </a:rPr>
              <a:t>п</a:t>
            </a:r>
            <a:r>
              <a:rPr lang="en-US" altLang="zh-CN" sz="4000" b="1" baseline="-15000" dirty="0" err="1">
                <a:solidFill>
                  <a:srgbClr val="0000FF"/>
                </a:solidFill>
              </a:rPr>
              <a:t>Sno</a:t>
            </a:r>
            <a:r>
              <a:rPr lang="zh-CN" altLang="en-US" sz="4000" b="1" baseline="-15000" dirty="0">
                <a:solidFill>
                  <a:srgbClr val="0000FF"/>
                </a:solidFill>
              </a:rPr>
              <a:t>，</a:t>
            </a:r>
            <a:r>
              <a:rPr lang="en-US" altLang="zh-CN" sz="4000" b="1" baseline="-15000" dirty="0" err="1">
                <a:solidFill>
                  <a:srgbClr val="0000FF"/>
                </a:solidFill>
              </a:rPr>
              <a:t>Sname</a:t>
            </a:r>
            <a:r>
              <a:rPr lang="en-US" altLang="zh-CN" sz="4000" b="1" baseline="-15000" dirty="0">
                <a:solidFill>
                  <a:srgbClr val="0000FF"/>
                </a:solidFill>
              </a:rPr>
              <a:t>                      </a:t>
            </a:r>
            <a:r>
              <a:rPr lang="en-US" altLang="zh-CN" sz="4000" b="1" dirty="0" err="1">
                <a:solidFill>
                  <a:srgbClr val="0000FF"/>
                </a:solidFill>
                <a:latin typeface="宋体" pitchFamily="2" charset="-122"/>
              </a:rPr>
              <a:t>п</a:t>
            </a:r>
            <a:r>
              <a:rPr lang="en-US" altLang="zh-CN" sz="4000" b="1" baseline="-15000" dirty="0" err="1">
                <a:solidFill>
                  <a:srgbClr val="0000FF"/>
                </a:solidFill>
              </a:rPr>
              <a:t>Sno</a:t>
            </a:r>
            <a:r>
              <a:rPr lang="en-US" altLang="zh-CN" sz="4000" b="1" baseline="-150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4000" b="1" dirty="0"/>
              <a:t>	 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                                 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                            </a:t>
            </a:r>
            <a:r>
              <a:rPr lang="en-US" altLang="zh-CN" sz="2800" b="1" dirty="0" err="1">
                <a:latin typeface="宋体" pitchFamily="2" charset="-122"/>
              </a:rPr>
              <a:t>п</a:t>
            </a:r>
            <a:r>
              <a:rPr lang="en-US" altLang="zh-CN" sz="2800" b="1" baseline="-15000" dirty="0" err="1">
                <a:solidFill>
                  <a:srgbClr val="0000FF"/>
                </a:solidFill>
              </a:rPr>
              <a:t>Sno,Cno</a:t>
            </a:r>
            <a:r>
              <a:rPr lang="en-US" altLang="zh-CN" sz="2800" b="1" baseline="-15000" dirty="0"/>
              <a:t>             </a:t>
            </a:r>
            <a:r>
              <a:rPr lang="en-US" altLang="zh-CN" sz="2800" b="1" dirty="0" err="1">
                <a:latin typeface="宋体" pitchFamily="2" charset="-122"/>
              </a:rPr>
              <a:t>п</a:t>
            </a:r>
            <a:r>
              <a:rPr lang="en-US" altLang="zh-CN" sz="2800" b="1" baseline="-15000" dirty="0" err="1">
                <a:solidFill>
                  <a:srgbClr val="0000FF"/>
                </a:solidFill>
              </a:rPr>
              <a:t>Cno</a:t>
            </a:r>
            <a:r>
              <a:rPr lang="en-US" altLang="zh-CN" sz="2800" b="1" baseline="-15000" dirty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2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baseline="-15000" dirty="0"/>
              <a:t>                                                               SC               </a:t>
            </a:r>
            <a:r>
              <a:rPr lang="en-US" altLang="zh-CN" sz="2400" b="1" dirty="0" err="1"/>
              <a:t>δ</a:t>
            </a:r>
            <a:r>
              <a:rPr lang="en-US" altLang="zh-CN" sz="2400" b="1" baseline="-15000" dirty="0" err="1"/>
              <a:t>Cname</a:t>
            </a:r>
            <a:r>
              <a:rPr lang="en-US" altLang="zh-CN" sz="2400" b="1" baseline="-15000" dirty="0"/>
              <a:t>=</a:t>
            </a:r>
            <a:r>
              <a:rPr lang="en-US" altLang="zh-CN" sz="2400" b="1" baseline="-15000" dirty="0">
                <a:latin typeface="Arial"/>
              </a:rPr>
              <a:t>‘</a:t>
            </a:r>
            <a:r>
              <a:rPr lang="en-US" altLang="zh-CN" sz="2400" b="1" baseline="-15000" dirty="0"/>
              <a:t>C</a:t>
            </a:r>
            <a:r>
              <a:rPr lang="zh-CN" altLang="en-US" sz="2400" b="1" baseline="-15000" dirty="0"/>
              <a:t>语言</a:t>
            </a:r>
            <a:r>
              <a:rPr lang="zh-CN" altLang="en-US" sz="2400" b="1" baseline="-15000" dirty="0">
                <a:latin typeface="Arial"/>
              </a:rPr>
              <a:t>’</a:t>
            </a:r>
            <a:endParaRPr lang="zh-CN" altLang="en-US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baseline="-15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baseline="-15000" dirty="0"/>
              <a:t>                                                                                                        </a:t>
            </a:r>
            <a:r>
              <a:rPr lang="en-US" altLang="zh-CN" sz="2400" b="1" baseline="-15000" dirty="0"/>
              <a:t>Course</a:t>
            </a:r>
            <a:endParaRPr lang="zh-CN" altLang="en-US" sz="2800" b="1" dirty="0"/>
          </a:p>
        </p:txBody>
      </p:sp>
      <p:sp>
        <p:nvSpPr>
          <p:cNvPr id="477188" name="Line 4"/>
          <p:cNvSpPr>
            <a:spLocks noChangeShapeType="1"/>
          </p:cNvSpPr>
          <p:nvPr/>
        </p:nvSpPr>
        <p:spPr bwMode="auto">
          <a:xfrm flipH="1">
            <a:off x="4716016" y="1066800"/>
            <a:ext cx="8384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0" name="Line 6"/>
          <p:cNvSpPr>
            <a:spLocks noChangeShapeType="1"/>
          </p:cNvSpPr>
          <p:nvPr/>
        </p:nvSpPr>
        <p:spPr bwMode="auto">
          <a:xfrm>
            <a:off x="2411760" y="357720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1" name="Line 7"/>
          <p:cNvSpPr>
            <a:spLocks noChangeShapeType="1"/>
          </p:cNvSpPr>
          <p:nvPr/>
        </p:nvSpPr>
        <p:spPr bwMode="auto">
          <a:xfrm>
            <a:off x="6300192" y="362406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2" name="Line 8"/>
          <p:cNvSpPr>
            <a:spLocks noChangeShapeType="1"/>
          </p:cNvSpPr>
          <p:nvPr/>
        </p:nvSpPr>
        <p:spPr bwMode="auto">
          <a:xfrm>
            <a:off x="7315200" y="521662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3" name="Line 9"/>
          <p:cNvSpPr>
            <a:spLocks noChangeShapeType="1"/>
          </p:cNvSpPr>
          <p:nvPr/>
        </p:nvSpPr>
        <p:spPr bwMode="auto">
          <a:xfrm>
            <a:off x="7315200" y="58052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4" name="Line 10"/>
          <p:cNvSpPr>
            <a:spLocks noChangeShapeType="1"/>
          </p:cNvSpPr>
          <p:nvPr/>
        </p:nvSpPr>
        <p:spPr bwMode="auto">
          <a:xfrm>
            <a:off x="5292080" y="517144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Line 11"/>
          <p:cNvSpPr>
            <a:spLocks noChangeShapeType="1"/>
          </p:cNvSpPr>
          <p:nvPr/>
        </p:nvSpPr>
        <p:spPr bwMode="auto">
          <a:xfrm flipH="1">
            <a:off x="5334000" y="4267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Line 12"/>
          <p:cNvSpPr>
            <a:spLocks noChangeShapeType="1"/>
          </p:cNvSpPr>
          <p:nvPr/>
        </p:nvSpPr>
        <p:spPr bwMode="auto">
          <a:xfrm>
            <a:off x="6621590" y="4267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Line 13"/>
          <p:cNvSpPr>
            <a:spLocks noChangeShapeType="1"/>
          </p:cNvSpPr>
          <p:nvPr/>
        </p:nvSpPr>
        <p:spPr bwMode="auto">
          <a:xfrm flipH="1">
            <a:off x="2667000" y="2209800"/>
            <a:ext cx="154496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Line 14"/>
          <p:cNvSpPr>
            <a:spLocks noChangeShapeType="1"/>
          </p:cNvSpPr>
          <p:nvPr/>
        </p:nvSpPr>
        <p:spPr bwMode="auto">
          <a:xfrm>
            <a:off x="5076056" y="2132855"/>
            <a:ext cx="1193300" cy="9865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9AE1AAE-D951-8F24-EAEB-7789F4EAD083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6168295" y="3955766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C661FD-7A34-A1F8-5395-CAD0D2009B54}"/>
              </a:ext>
            </a:extLst>
          </p:cNvPr>
          <p:cNvSpPr txBox="1"/>
          <p:nvPr/>
        </p:nvSpPr>
        <p:spPr>
          <a:xfrm>
            <a:off x="1623628" y="3970621"/>
            <a:ext cx="178194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 Student </a:t>
            </a:r>
            <a:endParaRPr lang="zh-CN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931DB5D1-6062-F40B-2044-8DB6A234254F}"/>
              </a:ext>
            </a:extLst>
          </p:cNvPr>
          <p:cNvSpPr>
            <a:spLocks noChangeArrowheads="1"/>
          </p:cNvSpPr>
          <p:nvPr/>
        </p:nvSpPr>
        <p:spPr bwMode="auto">
          <a:xfrm rot="5521025">
            <a:off x="4582382" y="1917031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E66B4-5A1E-40CB-9774-2509D859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59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84247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528C7BC-059E-4C22-8BC5-F1CF5AE21C21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9.1 </a:t>
            </a:r>
            <a:r>
              <a:rPr lang="zh-CN" altLang="en-US"/>
              <a:t>关系数据库系统的查询处理</a:t>
            </a:r>
          </a:p>
          <a:p>
            <a:r>
              <a:rPr lang="en-US" altLang="zh-CN"/>
              <a:t>9.2 </a:t>
            </a:r>
            <a:r>
              <a:rPr lang="zh-CN" altLang="en-US"/>
              <a:t>关系数据库系统的查询优化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9.3 </a:t>
            </a:r>
            <a:r>
              <a:rPr lang="zh-CN" altLang="en-US"/>
              <a:t>代数优化</a:t>
            </a:r>
          </a:p>
          <a:p>
            <a:r>
              <a:rPr lang="en-US" altLang="zh-CN"/>
              <a:t>9.4 </a:t>
            </a:r>
            <a:r>
              <a:rPr lang="zh-CN" altLang="en-US"/>
              <a:t>物理优化</a:t>
            </a:r>
          </a:p>
        </p:txBody>
      </p:sp>
      <p:sp>
        <p:nvSpPr>
          <p:cNvPr id="488452" name="AutoShape 4"/>
          <p:cNvSpPr>
            <a:spLocks noChangeArrowheads="1"/>
          </p:cNvSpPr>
          <p:nvPr/>
        </p:nvSpPr>
        <p:spPr bwMode="auto">
          <a:xfrm>
            <a:off x="838200" y="35052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929985-0654-4AF9-A86E-016AF5E3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60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A3FF33DF-AD90-4117-89A8-317C53AA6BBD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9.4 </a:t>
            </a:r>
            <a:r>
              <a:rPr lang="zh-CN" altLang="en-US"/>
              <a:t>物理优化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210872" cy="3637384"/>
          </a:xfrm>
        </p:spPr>
        <p:txBody>
          <a:bodyPr/>
          <a:lstStyle/>
          <a:p>
            <a:r>
              <a:rPr lang="zh-CN" altLang="en-US" dirty="0"/>
              <a:t>概述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代数优化</a:t>
            </a:r>
            <a:r>
              <a:rPr lang="zh-CN" altLang="en-US" dirty="0"/>
              <a:t>负责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优化</a:t>
            </a:r>
            <a:r>
              <a:rPr lang="zh-CN" altLang="en-US" dirty="0"/>
              <a:t>各</a:t>
            </a:r>
            <a:r>
              <a:rPr lang="zh-CN" altLang="en-US" dirty="0">
                <a:solidFill>
                  <a:srgbClr val="C00000"/>
                </a:solidFill>
              </a:rPr>
              <a:t>操作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00000"/>
                </a:solidFill>
              </a:rPr>
              <a:t>顺序</a:t>
            </a:r>
            <a:r>
              <a:rPr lang="zh-CN" altLang="en-US" b="1" dirty="0"/>
              <a:t> </a:t>
            </a:r>
          </a:p>
          <a:p>
            <a:pPr lvl="1"/>
            <a:r>
              <a:rPr lang="zh-CN" altLang="en-US" dirty="0"/>
              <a:t>每种操作有</a:t>
            </a:r>
            <a:r>
              <a:rPr lang="zh-CN" altLang="en-US" dirty="0">
                <a:solidFill>
                  <a:schemeClr val="tx2"/>
                </a:solidFill>
              </a:rPr>
              <a:t>多种实现算法</a:t>
            </a:r>
            <a:endParaRPr lang="zh-CN" altLang="en-US" dirty="0"/>
          </a:p>
          <a:p>
            <a:pPr lvl="1"/>
            <a:r>
              <a:rPr lang="zh-CN" altLang="en-US" dirty="0"/>
              <a:t>物理优化</a:t>
            </a:r>
            <a:r>
              <a:rPr lang="zh-CN" altLang="en-US" u="sng" dirty="0"/>
              <a:t>就是</a:t>
            </a:r>
            <a:r>
              <a:rPr lang="zh-CN" altLang="en-US" dirty="0"/>
              <a:t>要</a:t>
            </a:r>
            <a:r>
              <a:rPr lang="zh-CN" altLang="en-US" dirty="0">
                <a:solidFill>
                  <a:srgbClr val="C00000"/>
                </a:solidFill>
              </a:rPr>
              <a:t>选择</a:t>
            </a:r>
            <a:r>
              <a:rPr lang="zh-CN" altLang="en-US" b="1" dirty="0">
                <a:solidFill>
                  <a:srgbClr val="C00000"/>
                </a:solidFill>
              </a:rPr>
              <a:t>高效合理</a:t>
            </a:r>
            <a:r>
              <a:rPr lang="zh-CN" altLang="en-US" dirty="0">
                <a:solidFill>
                  <a:srgbClr val="C00000"/>
                </a:solidFill>
              </a:rPr>
              <a:t>的</a:t>
            </a:r>
            <a:r>
              <a:rPr lang="zh-CN" altLang="en-US" b="1" dirty="0">
                <a:solidFill>
                  <a:srgbClr val="C00000"/>
                </a:solidFill>
              </a:rPr>
              <a:t>操作算法</a:t>
            </a:r>
            <a:r>
              <a:rPr lang="zh-CN" altLang="en-US" dirty="0"/>
              <a:t>→优化的查询计划 </a:t>
            </a:r>
          </a:p>
          <a:p>
            <a:pPr lvl="1"/>
            <a:r>
              <a:rPr lang="zh-CN" altLang="en-US" b="1" dirty="0"/>
              <a:t>充分考虑</a:t>
            </a:r>
            <a:r>
              <a:rPr lang="zh-CN" altLang="en-US" dirty="0">
                <a:solidFill>
                  <a:schemeClr val="tx2"/>
                </a:solidFill>
              </a:rPr>
              <a:t>索引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tx2"/>
                </a:solidFill>
              </a:rPr>
              <a:t>数据的存储分布</a:t>
            </a:r>
            <a:r>
              <a:rPr lang="zh-CN" altLang="en-US" dirty="0"/>
              <a:t>等</a:t>
            </a:r>
            <a:r>
              <a:rPr lang="zh-CN" altLang="en-US" dirty="0">
                <a:solidFill>
                  <a:schemeClr val="tx2"/>
                </a:solidFill>
              </a:rPr>
              <a:t>存取路径</a:t>
            </a:r>
            <a:r>
              <a:rPr lang="zh-CN" altLang="en-US" dirty="0"/>
              <a:t>。利用它们进一步改善查询效率。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01289F6-EFEA-418B-8ED4-9CF70165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61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09604FB-C73A-4F1B-A2E8-DF901930E0CF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物理优化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 </a:t>
            </a:r>
          </a:p>
          <a:p>
            <a:pPr lvl="1"/>
            <a:r>
              <a:rPr lang="zh-CN" altLang="en-US" dirty="0"/>
              <a:t>基于</a:t>
            </a:r>
            <a:r>
              <a:rPr lang="zh-CN" altLang="en-US" dirty="0">
                <a:solidFill>
                  <a:schemeClr val="tx2"/>
                </a:solidFill>
              </a:rPr>
              <a:t>规则的启发式</a:t>
            </a:r>
            <a:r>
              <a:rPr lang="zh-CN" altLang="en-US" dirty="0"/>
              <a:t>优化 </a:t>
            </a:r>
          </a:p>
          <a:p>
            <a:pPr lvl="1"/>
            <a:r>
              <a:rPr lang="zh-CN" altLang="en-US" dirty="0"/>
              <a:t>基于</a:t>
            </a:r>
            <a:r>
              <a:rPr lang="zh-CN" altLang="en-US" dirty="0">
                <a:solidFill>
                  <a:schemeClr val="tx2"/>
                </a:solidFill>
              </a:rPr>
              <a:t>代价估算</a:t>
            </a:r>
            <a:r>
              <a:rPr lang="zh-CN" altLang="en-US" dirty="0"/>
              <a:t>的优化 </a:t>
            </a:r>
          </a:p>
          <a:p>
            <a:pPr lvl="1"/>
            <a:r>
              <a:rPr lang="zh-CN" altLang="en-US" dirty="0">
                <a:solidFill>
                  <a:schemeClr val="tx2"/>
                </a:solidFill>
              </a:rPr>
              <a:t>两者结合</a:t>
            </a:r>
            <a:r>
              <a:rPr lang="zh-CN" altLang="en-US" dirty="0"/>
              <a:t>的优化 </a:t>
            </a:r>
          </a:p>
          <a:p>
            <a:pPr lvl="1"/>
            <a:r>
              <a:rPr lang="zh-CN" altLang="en-US" dirty="0"/>
              <a:t>（前者用于产生较优计划；后者负责比较 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55E7390-B4F9-48EE-8CA7-2DBEF82E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62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C6970D76-8FFE-4346-B9C5-EB03BC747D2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物理优化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 </a:t>
            </a:r>
          </a:p>
          <a:p>
            <a:pPr lvl="1"/>
            <a:r>
              <a:rPr lang="zh-CN" altLang="en-US" dirty="0"/>
              <a:t>基于</a:t>
            </a:r>
            <a:r>
              <a:rPr lang="zh-CN" altLang="en-US" dirty="0">
                <a:solidFill>
                  <a:schemeClr val="tx2"/>
                </a:solidFill>
              </a:rPr>
              <a:t>规则的启发式</a:t>
            </a:r>
            <a:r>
              <a:rPr lang="zh-CN" altLang="en-US" dirty="0"/>
              <a:t>优化 </a:t>
            </a:r>
            <a:endParaRPr lang="en-US" altLang="zh-CN" dirty="0"/>
          </a:p>
          <a:p>
            <a:pPr lvl="2"/>
            <a:r>
              <a:rPr lang="en-US" altLang="zh-CN" b="1" dirty="0"/>
              <a:t>1.</a:t>
            </a:r>
            <a:r>
              <a:rPr lang="zh-CN" altLang="en-US" dirty="0"/>
              <a:t>选择操作的启发式规则 </a:t>
            </a:r>
          </a:p>
          <a:p>
            <a:pPr lvl="2"/>
            <a:r>
              <a:rPr lang="en-US" altLang="zh-CN" b="1" dirty="0"/>
              <a:t>2.</a:t>
            </a:r>
            <a:r>
              <a:rPr lang="zh-CN" altLang="en-US" dirty="0"/>
              <a:t>连接操作的启发式规则</a:t>
            </a:r>
          </a:p>
          <a:p>
            <a:pPr lvl="1"/>
            <a:r>
              <a:rPr lang="zh-CN" altLang="en-US" dirty="0"/>
              <a:t>基于</a:t>
            </a:r>
            <a:r>
              <a:rPr lang="zh-CN" altLang="en-US" dirty="0">
                <a:solidFill>
                  <a:schemeClr val="tx2"/>
                </a:solidFill>
              </a:rPr>
              <a:t>代价估算</a:t>
            </a:r>
            <a:r>
              <a:rPr lang="zh-CN" altLang="en-US" dirty="0"/>
              <a:t>的优化 </a:t>
            </a:r>
          </a:p>
          <a:p>
            <a:pPr lvl="2"/>
            <a:r>
              <a:rPr lang="en-US" altLang="zh-CN" b="1" dirty="0"/>
              <a:t>1.</a:t>
            </a:r>
            <a:r>
              <a:rPr lang="zh-CN" altLang="en-US" dirty="0"/>
              <a:t>统计信息 </a:t>
            </a:r>
          </a:p>
          <a:p>
            <a:pPr lvl="2"/>
            <a:r>
              <a:rPr lang="en-US" altLang="zh-CN" b="1" dirty="0"/>
              <a:t>2.</a:t>
            </a:r>
            <a:r>
              <a:rPr lang="zh-CN" altLang="en-US" dirty="0"/>
              <a:t>代价估算示例 </a:t>
            </a:r>
          </a:p>
          <a:p>
            <a:pPr lvl="2"/>
            <a:r>
              <a:rPr lang="en-US" altLang="zh-CN" b="1" dirty="0"/>
              <a:t>3.</a:t>
            </a:r>
            <a:r>
              <a:rPr lang="zh-CN" altLang="en-US" dirty="0"/>
              <a:t>优化方法</a:t>
            </a:r>
          </a:p>
          <a:p>
            <a:pPr lvl="1"/>
            <a:r>
              <a:rPr lang="zh-CN" altLang="en-US" dirty="0">
                <a:solidFill>
                  <a:schemeClr val="tx2"/>
                </a:solidFill>
              </a:rPr>
              <a:t>两者结合</a:t>
            </a:r>
            <a:r>
              <a:rPr lang="zh-CN" altLang="en-US" dirty="0"/>
              <a:t>的优化 </a:t>
            </a:r>
          </a:p>
          <a:p>
            <a:pPr lvl="1"/>
            <a:r>
              <a:rPr lang="zh-CN" altLang="en-US" dirty="0"/>
              <a:t>（前者用于产生较优计划；后者负责比较 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7048A2-6869-4290-BB8C-F6BBE95F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63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9272392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2017A9AC-4D17-4659-B311-F7015A434AAA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选择操作</a:t>
            </a:r>
            <a:r>
              <a:rPr lang="zh-CN" altLang="en-US" dirty="0">
                <a:solidFill>
                  <a:schemeClr val="tx1"/>
                </a:solidFill>
              </a:rPr>
              <a:t>的启发式规则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小关系： </a:t>
            </a:r>
          </a:p>
          <a:p>
            <a:pPr lvl="1"/>
            <a:r>
              <a:rPr lang="zh-CN" altLang="en-US" dirty="0"/>
              <a:t>使用全表顺序扫描（不用索引） </a:t>
            </a:r>
          </a:p>
          <a:p>
            <a:endParaRPr lang="zh-CN" altLang="en-US" sz="800" dirty="0"/>
          </a:p>
          <a:p>
            <a:r>
              <a:rPr lang="zh-CN" altLang="en-US" dirty="0"/>
              <a:t>条件中有</a:t>
            </a:r>
            <a:r>
              <a:rPr lang="zh-CN" altLang="en-US" dirty="0">
                <a:latin typeface="Arial"/>
              </a:rPr>
              <a:t>“</a:t>
            </a:r>
            <a:r>
              <a:rPr lang="zh-CN" altLang="en-US" dirty="0"/>
              <a:t>主码</a:t>
            </a:r>
            <a:r>
              <a:rPr lang="en-US" altLang="zh-CN" dirty="0"/>
              <a:t>=</a:t>
            </a:r>
            <a:r>
              <a:rPr lang="zh-CN" altLang="en-US" dirty="0"/>
              <a:t>值</a:t>
            </a:r>
            <a:r>
              <a:rPr lang="zh-CN" altLang="en-US" dirty="0">
                <a:latin typeface="Arial"/>
              </a:rPr>
              <a:t>”</a:t>
            </a:r>
            <a:r>
              <a:rPr lang="zh-CN" altLang="en-US" dirty="0"/>
              <a:t>： </a:t>
            </a:r>
          </a:p>
          <a:p>
            <a:pPr lvl="1"/>
            <a:r>
              <a:rPr lang="zh-CN" altLang="en-US" dirty="0"/>
              <a:t>使用</a:t>
            </a:r>
            <a:r>
              <a:rPr lang="zh-CN" altLang="en-US" b="1" dirty="0">
                <a:solidFill>
                  <a:schemeClr val="tx2"/>
                </a:solidFill>
              </a:rPr>
              <a:t>主码索引</a:t>
            </a:r>
            <a:r>
              <a:rPr lang="zh-CN" altLang="en-US" dirty="0"/>
              <a:t>（一般会自动建立） </a:t>
            </a:r>
          </a:p>
          <a:p>
            <a:endParaRPr lang="zh-CN" altLang="en-US" sz="800" dirty="0"/>
          </a:p>
          <a:p>
            <a:r>
              <a:rPr lang="zh-CN" altLang="en-US" dirty="0"/>
              <a:t>条件是</a:t>
            </a:r>
            <a:r>
              <a:rPr lang="zh-CN" altLang="en-US" dirty="0">
                <a:latin typeface="Arial"/>
              </a:rPr>
              <a:t>“</a:t>
            </a:r>
            <a:r>
              <a:rPr lang="zh-CN" altLang="en-US" dirty="0"/>
              <a:t>非码属性</a:t>
            </a:r>
            <a:r>
              <a:rPr lang="en-US" altLang="zh-CN" dirty="0"/>
              <a:t>=</a:t>
            </a:r>
            <a:r>
              <a:rPr lang="zh-CN" altLang="en-US" dirty="0"/>
              <a:t>值</a:t>
            </a:r>
            <a:r>
              <a:rPr lang="zh-CN" altLang="en-US" dirty="0">
                <a:latin typeface="Arial"/>
              </a:rPr>
              <a:t>”</a:t>
            </a:r>
            <a:r>
              <a:rPr lang="zh-CN" altLang="en-US" dirty="0"/>
              <a:t>且该属性上</a:t>
            </a:r>
            <a:r>
              <a:rPr lang="zh-CN" altLang="en-US" dirty="0">
                <a:solidFill>
                  <a:schemeClr val="tx2"/>
                </a:solidFill>
              </a:rPr>
              <a:t>有索引</a:t>
            </a:r>
            <a:r>
              <a:rPr lang="zh-CN" altLang="en-US" dirty="0"/>
              <a:t>： </a:t>
            </a:r>
          </a:p>
          <a:p>
            <a:pPr lvl="1"/>
            <a:r>
              <a:rPr lang="zh-CN" altLang="en-US" dirty="0"/>
              <a:t>根据索引</a:t>
            </a:r>
            <a:r>
              <a:rPr lang="zh-CN" altLang="en-US" b="1" dirty="0">
                <a:solidFill>
                  <a:srgbClr val="0000FF"/>
                </a:solidFill>
              </a:rPr>
              <a:t>估计</a:t>
            </a:r>
            <a:r>
              <a:rPr lang="zh-CN" altLang="en-US" dirty="0">
                <a:solidFill>
                  <a:schemeClr val="tx2"/>
                </a:solidFill>
              </a:rPr>
              <a:t>查询结果的元组数量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数量低</a:t>
            </a:r>
            <a:r>
              <a:rPr lang="zh-CN" altLang="en-US" dirty="0"/>
              <a:t>（如</a:t>
            </a:r>
            <a:r>
              <a:rPr lang="en-US" altLang="zh-CN" dirty="0"/>
              <a:t>&lt;10%</a:t>
            </a:r>
            <a:r>
              <a:rPr lang="zh-CN" altLang="en-US" dirty="0"/>
              <a:t>）则</a:t>
            </a:r>
            <a:r>
              <a:rPr lang="zh-CN" altLang="en-US" dirty="0">
                <a:solidFill>
                  <a:srgbClr val="C00000"/>
                </a:solidFill>
              </a:rPr>
              <a:t>用索引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tx2"/>
                </a:solidFill>
              </a:rPr>
              <a:t>否则全表扫描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027F21-7A3B-4592-B7A5-C8D12800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64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468D079C-6AB2-4835-8301-1A1A53133370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选择操作</a:t>
            </a:r>
            <a:r>
              <a:rPr lang="zh-CN" altLang="en-US" dirty="0">
                <a:solidFill>
                  <a:schemeClr val="tx1"/>
                </a:solidFill>
              </a:rPr>
              <a:t>的启发式规则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条件是非码属性上的</a:t>
            </a:r>
            <a:r>
              <a:rPr lang="zh-CN" altLang="en-US" sz="2800" dirty="0">
                <a:solidFill>
                  <a:schemeClr val="tx2"/>
                </a:solidFill>
              </a:rPr>
              <a:t>不等值</a:t>
            </a:r>
            <a:r>
              <a:rPr lang="zh-CN" altLang="en-US" sz="2800" dirty="0"/>
              <a:t>或</a:t>
            </a:r>
            <a:r>
              <a:rPr lang="zh-CN" altLang="en-US" sz="2800" b="1" dirty="0">
                <a:solidFill>
                  <a:schemeClr val="tx2"/>
                </a:solidFill>
              </a:rPr>
              <a:t>范围判断</a:t>
            </a:r>
            <a:r>
              <a:rPr lang="zh-CN" altLang="en-US" sz="2800" dirty="0"/>
              <a:t>，且属性上</a:t>
            </a:r>
            <a:r>
              <a:rPr lang="zh-CN" altLang="en-US" sz="2800" dirty="0">
                <a:solidFill>
                  <a:schemeClr val="tx2"/>
                </a:solidFill>
              </a:rPr>
              <a:t>有索引</a:t>
            </a:r>
            <a:r>
              <a:rPr lang="zh-CN" altLang="en-US" sz="2800" dirty="0"/>
              <a:t>： </a:t>
            </a:r>
          </a:p>
          <a:p>
            <a:pPr lvl="1"/>
            <a:r>
              <a:rPr lang="zh-CN" altLang="en-US" sz="2400" dirty="0"/>
              <a:t>根据索引估计查询结果的元组数量，数量低（如</a:t>
            </a:r>
            <a:r>
              <a:rPr lang="en-US" altLang="zh-CN" sz="2400" dirty="0"/>
              <a:t>&lt;10%</a:t>
            </a:r>
            <a:r>
              <a:rPr lang="zh-CN" altLang="en-US" sz="2400" dirty="0"/>
              <a:t>）则用索引，否则全表扫描 </a:t>
            </a:r>
          </a:p>
          <a:p>
            <a:r>
              <a:rPr lang="zh-CN" altLang="en-US" sz="2800" dirty="0"/>
              <a:t>用 </a:t>
            </a:r>
            <a:r>
              <a:rPr lang="en-US" altLang="zh-CN" sz="2800" dirty="0">
                <a:solidFill>
                  <a:schemeClr val="tx2"/>
                </a:solidFill>
              </a:rPr>
              <a:t>AND </a:t>
            </a:r>
            <a:r>
              <a:rPr lang="zh-CN" altLang="en-US" sz="2800" dirty="0">
                <a:solidFill>
                  <a:schemeClr val="tx2"/>
                </a:solidFill>
              </a:rPr>
              <a:t>组合</a:t>
            </a:r>
            <a:r>
              <a:rPr lang="zh-CN" altLang="en-US" sz="2800" dirty="0"/>
              <a:t>的条件： </a:t>
            </a:r>
          </a:p>
          <a:p>
            <a:pPr lvl="1"/>
            <a:r>
              <a:rPr lang="zh-CN" altLang="en-US" sz="2400" dirty="0"/>
              <a:t>如有</a:t>
            </a:r>
            <a:r>
              <a:rPr lang="zh-CN" altLang="en-US" sz="2400" dirty="0">
                <a:solidFill>
                  <a:schemeClr val="tx2"/>
                </a:solidFill>
              </a:rPr>
              <a:t>属性</a:t>
            </a:r>
            <a:r>
              <a:rPr lang="zh-CN" altLang="en-US" sz="2400" b="1" dirty="0">
                <a:solidFill>
                  <a:srgbClr val="0000FF"/>
                </a:solidFill>
              </a:rPr>
              <a:t>组合索引</a:t>
            </a:r>
            <a:r>
              <a:rPr lang="zh-CN" altLang="en-US" sz="2400" dirty="0"/>
              <a:t>，则使用该组合索引 </a:t>
            </a:r>
          </a:p>
          <a:p>
            <a:pPr lvl="1"/>
            <a:r>
              <a:rPr lang="zh-CN" altLang="en-US" sz="2400" dirty="0"/>
              <a:t>如其中一些属性有一般索引，则</a:t>
            </a:r>
            <a:r>
              <a:rPr lang="zh-CN" altLang="en-US" sz="2400" dirty="0">
                <a:solidFill>
                  <a:schemeClr val="tx2"/>
                </a:solidFill>
              </a:rPr>
              <a:t>分别</a:t>
            </a:r>
            <a:r>
              <a:rPr lang="zh-CN" altLang="en-US" sz="2400" dirty="0"/>
              <a:t>求得若干索引指针集，</a:t>
            </a:r>
            <a:r>
              <a:rPr lang="zh-CN" altLang="en-US" sz="2400" b="1" dirty="0">
                <a:solidFill>
                  <a:srgbClr val="0000FF"/>
                </a:solidFill>
              </a:rPr>
              <a:t>求交集 </a:t>
            </a:r>
          </a:p>
          <a:p>
            <a:r>
              <a:rPr lang="zh-CN" altLang="en-US" sz="2800" dirty="0"/>
              <a:t>用 </a:t>
            </a:r>
            <a:r>
              <a:rPr lang="en-US" altLang="zh-CN" sz="2800" dirty="0">
                <a:solidFill>
                  <a:schemeClr val="tx2"/>
                </a:solidFill>
              </a:rPr>
              <a:t>OR </a:t>
            </a:r>
            <a:r>
              <a:rPr lang="zh-CN" altLang="en-US" sz="2800" dirty="0">
                <a:solidFill>
                  <a:schemeClr val="tx2"/>
                </a:solidFill>
              </a:rPr>
              <a:t>组合</a:t>
            </a:r>
            <a:r>
              <a:rPr lang="zh-CN" altLang="en-US" sz="2800" dirty="0"/>
              <a:t>的条件： </a:t>
            </a:r>
          </a:p>
          <a:p>
            <a:pPr lvl="1"/>
            <a:r>
              <a:rPr lang="zh-CN" altLang="en-US" sz="2400" dirty="0"/>
              <a:t>一般采用</a:t>
            </a:r>
            <a:r>
              <a:rPr lang="zh-CN" altLang="en-US" sz="2400" dirty="0">
                <a:solidFill>
                  <a:schemeClr val="tx2"/>
                </a:solidFill>
              </a:rPr>
              <a:t>全表扫描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E4A70B-494F-4AEF-A027-0E37E417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65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BEB7D53-D100-449C-B0D7-BD60A6F31DED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连接操作</a:t>
            </a:r>
            <a:r>
              <a:rPr lang="zh-CN" altLang="en-US" dirty="0"/>
              <a:t>的启发式规则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如两表均已按</a:t>
            </a:r>
            <a:r>
              <a:rPr lang="zh-CN" altLang="en-US" dirty="0">
                <a:solidFill>
                  <a:schemeClr val="tx2"/>
                </a:solidFill>
              </a:rPr>
              <a:t>连接属性</a:t>
            </a:r>
            <a:r>
              <a:rPr lang="zh-CN" altLang="en-US" dirty="0">
                <a:solidFill>
                  <a:srgbClr val="C00000"/>
                </a:solidFill>
              </a:rPr>
              <a:t>排序</a:t>
            </a:r>
            <a:r>
              <a:rPr lang="zh-CN" altLang="en-US" dirty="0"/>
              <a:t>： </a:t>
            </a:r>
          </a:p>
          <a:p>
            <a:pPr lvl="1"/>
            <a:r>
              <a:rPr lang="zh-CN" altLang="en-US" dirty="0"/>
              <a:t>使用排序</a:t>
            </a:r>
            <a:r>
              <a:rPr lang="en-US" altLang="zh-CN" dirty="0"/>
              <a:t>-</a:t>
            </a:r>
            <a:r>
              <a:rPr lang="zh-CN" altLang="en-US" dirty="0"/>
              <a:t>合并法 </a:t>
            </a:r>
          </a:p>
          <a:p>
            <a:r>
              <a:rPr lang="zh-CN" altLang="en-US" dirty="0">
                <a:solidFill>
                  <a:schemeClr val="tx2"/>
                </a:solidFill>
              </a:rPr>
              <a:t>一表</a:t>
            </a:r>
            <a:r>
              <a:rPr lang="zh-CN" altLang="en-US" dirty="0"/>
              <a:t>在</a:t>
            </a:r>
            <a:r>
              <a:rPr lang="zh-CN" altLang="en-US" dirty="0">
                <a:solidFill>
                  <a:schemeClr val="tx2"/>
                </a:solidFill>
              </a:rPr>
              <a:t>连接属性</a:t>
            </a:r>
            <a:r>
              <a:rPr lang="zh-CN" altLang="en-US" dirty="0"/>
              <a:t>上有</a:t>
            </a:r>
            <a:r>
              <a:rPr lang="zh-CN" altLang="en-US" dirty="0">
                <a:solidFill>
                  <a:schemeClr val="tx2"/>
                </a:solidFill>
              </a:rPr>
              <a:t>索引</a:t>
            </a:r>
            <a:r>
              <a:rPr lang="zh-CN" altLang="en-US" dirty="0"/>
              <a:t>： </a:t>
            </a:r>
          </a:p>
          <a:p>
            <a:pPr lvl="1"/>
            <a:r>
              <a:rPr lang="zh-CN" altLang="en-US" dirty="0"/>
              <a:t>使用</a:t>
            </a:r>
            <a:r>
              <a:rPr lang="zh-CN" altLang="en-US" dirty="0">
                <a:solidFill>
                  <a:schemeClr val="tx2"/>
                </a:solidFill>
              </a:rPr>
              <a:t>索引连接法 </a:t>
            </a:r>
          </a:p>
          <a:p>
            <a:r>
              <a:rPr lang="zh-CN" altLang="en-US" dirty="0"/>
              <a:t>上面两条不适用，且一个表较小： </a:t>
            </a:r>
          </a:p>
          <a:p>
            <a:pPr lvl="1"/>
            <a:r>
              <a:rPr lang="en-US" altLang="zh-CN" dirty="0"/>
              <a:t>hash join </a:t>
            </a:r>
          </a:p>
          <a:p>
            <a:r>
              <a:rPr lang="zh-CN" altLang="en-US" dirty="0"/>
              <a:t>最后使用</a:t>
            </a:r>
            <a:r>
              <a:rPr lang="zh-CN" altLang="en-US" dirty="0">
                <a:solidFill>
                  <a:schemeClr val="tx2"/>
                </a:solidFill>
              </a:rPr>
              <a:t>嵌套循环法</a:t>
            </a:r>
            <a:r>
              <a:rPr lang="zh-CN" altLang="en-US" dirty="0"/>
              <a:t>： </a:t>
            </a:r>
          </a:p>
          <a:p>
            <a:pPr lvl="1"/>
            <a:r>
              <a:rPr lang="zh-CN" altLang="en-US" dirty="0"/>
              <a:t>选择</a:t>
            </a:r>
            <a:r>
              <a:rPr lang="zh-CN" altLang="en-US" b="1" dirty="0">
                <a:solidFill>
                  <a:schemeClr val="tx2"/>
                </a:solidFill>
              </a:rPr>
              <a:t>数据量</a:t>
            </a:r>
            <a:r>
              <a:rPr lang="zh-CN" altLang="en-US" b="1" dirty="0">
                <a:solidFill>
                  <a:srgbClr val="C00000"/>
                </a:solidFill>
              </a:rPr>
              <a:t>小</a:t>
            </a:r>
            <a:r>
              <a:rPr lang="zh-CN" altLang="en-US" dirty="0"/>
              <a:t>的表作为</a:t>
            </a:r>
            <a:r>
              <a:rPr lang="zh-CN" altLang="en-US" dirty="0">
                <a:solidFill>
                  <a:srgbClr val="C00000"/>
                </a:solidFill>
              </a:rPr>
              <a:t>外</a:t>
            </a:r>
            <a:r>
              <a:rPr lang="zh-CN" altLang="en-US" dirty="0">
                <a:solidFill>
                  <a:schemeClr val="tx2"/>
                </a:solidFill>
              </a:rPr>
              <a:t>循环表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BEDC37-F64C-4D17-BD67-DF57A4CB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66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6CA571A2-E817-4010-A72A-82629B506569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9.4.2 </a:t>
            </a:r>
            <a:r>
              <a:rPr lang="zh-CN" altLang="en-US" dirty="0"/>
              <a:t>基于代价的优化</a:t>
            </a:r>
            <a:r>
              <a:rPr lang="en-US" altLang="zh-CN" dirty="0"/>
              <a:t>(</a:t>
            </a:r>
            <a:r>
              <a:rPr lang="zh-CN" altLang="en-US" dirty="0"/>
              <a:t>自学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统计信息</a:t>
            </a:r>
            <a:r>
              <a:rPr lang="en-US" altLang="zh-CN" sz="2800" dirty="0"/>
              <a:t>(</a:t>
            </a:r>
            <a:r>
              <a:rPr lang="zh-CN" altLang="en-US" sz="2800" dirty="0"/>
              <a:t>数据库系统目录，也即数据字典中</a:t>
            </a:r>
            <a:r>
              <a:rPr lang="en-US" altLang="zh-CN" sz="2800" dirty="0"/>
              <a:t>)</a:t>
            </a:r>
            <a:r>
              <a:rPr lang="zh-CN" altLang="en-US" sz="2800" dirty="0"/>
              <a:t> </a:t>
            </a:r>
          </a:p>
          <a:p>
            <a:pPr lvl="1"/>
            <a:r>
              <a:rPr lang="zh-CN" altLang="en-US" dirty="0"/>
              <a:t>对于每个基本表： </a:t>
            </a:r>
          </a:p>
          <a:p>
            <a:pPr lvl="2"/>
            <a:r>
              <a:rPr lang="zh-CN" altLang="en-US" dirty="0"/>
              <a:t>元组总数 </a:t>
            </a:r>
            <a:r>
              <a:rPr lang="en-US" altLang="zh-CN" dirty="0"/>
              <a:t>N </a:t>
            </a:r>
            <a:r>
              <a:rPr lang="zh-CN" altLang="en-US" dirty="0"/>
              <a:t>、元组长度 </a:t>
            </a:r>
            <a:r>
              <a:rPr lang="en-US" altLang="zh-CN" i="1" dirty="0"/>
              <a:t>l</a:t>
            </a:r>
            <a:r>
              <a:rPr lang="en-US" altLang="zh-CN" dirty="0"/>
              <a:t> </a:t>
            </a:r>
            <a:r>
              <a:rPr lang="zh-CN" altLang="en-US" dirty="0"/>
              <a:t>、占用块数 </a:t>
            </a:r>
            <a:r>
              <a:rPr lang="en-US" altLang="zh-CN" dirty="0"/>
              <a:t>B </a:t>
            </a:r>
            <a:r>
              <a:rPr lang="zh-CN" altLang="en-US" dirty="0"/>
              <a:t>、占用</a:t>
            </a:r>
            <a:r>
              <a:rPr lang="zh-CN" altLang="en-US" dirty="0">
                <a:solidFill>
                  <a:srgbClr val="0000FF"/>
                </a:solidFill>
              </a:rPr>
              <a:t>溢出块数</a:t>
            </a:r>
            <a:r>
              <a:rPr lang="zh-CN" altLang="en-US" dirty="0"/>
              <a:t> </a:t>
            </a:r>
            <a:r>
              <a:rPr lang="en-US" altLang="zh-CN" dirty="0"/>
              <a:t>BO </a:t>
            </a:r>
          </a:p>
          <a:p>
            <a:pPr lvl="1"/>
            <a:r>
              <a:rPr lang="zh-CN" altLang="en-US" dirty="0"/>
              <a:t>对基表的每个列： </a:t>
            </a:r>
          </a:p>
          <a:p>
            <a:pPr lvl="2"/>
            <a:r>
              <a:rPr lang="zh-CN" altLang="en-US" dirty="0"/>
              <a:t>不同值个数 </a:t>
            </a:r>
            <a:r>
              <a:rPr lang="en-US" altLang="zh-CN" dirty="0"/>
              <a:t>m </a:t>
            </a:r>
            <a:r>
              <a:rPr lang="zh-CN" altLang="en-US" dirty="0"/>
              <a:t>、选择率 </a:t>
            </a:r>
            <a:r>
              <a:rPr lang="en-US" altLang="zh-CN" dirty="0"/>
              <a:t>f </a:t>
            </a:r>
            <a:r>
              <a:rPr lang="zh-CN" altLang="en-US" dirty="0"/>
              <a:t>、最大值、最小值、是否索引、索引类型 </a:t>
            </a:r>
          </a:p>
          <a:p>
            <a:pPr lvl="1"/>
            <a:r>
              <a:rPr lang="zh-CN" altLang="en-US" dirty="0"/>
              <a:t>索引属性： </a:t>
            </a:r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B+</a:t>
            </a:r>
            <a:r>
              <a:rPr lang="zh-CN" altLang="en-US" dirty="0"/>
              <a:t>索引树层数 </a:t>
            </a:r>
            <a:r>
              <a:rPr lang="en-US" altLang="zh-CN" dirty="0"/>
              <a:t>L </a:t>
            </a:r>
            <a:r>
              <a:rPr lang="zh-CN" altLang="en-US" dirty="0"/>
              <a:t>、叶子数目 </a:t>
            </a:r>
            <a:r>
              <a:rPr lang="en-US" altLang="zh-CN" dirty="0"/>
              <a:t>Y </a:t>
            </a:r>
            <a:r>
              <a:rPr lang="zh-CN" altLang="en-US" dirty="0"/>
              <a:t>、索引选择基数 </a:t>
            </a:r>
            <a:r>
              <a:rPr lang="en-US" altLang="zh-CN" dirty="0"/>
              <a:t>S </a:t>
            </a:r>
            <a:r>
              <a:rPr lang="en-US" altLang="zh-CN" dirty="0">
                <a:latin typeface="Arial"/>
              </a:rPr>
              <a:t>……</a:t>
            </a:r>
            <a:r>
              <a:rPr lang="zh-CN" altLang="en-US" dirty="0"/>
              <a:t>等等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6C623D-3882-4BBC-BB9E-BE3C65E2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67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B540CE86-AAA9-456D-B128-57F82E8DA097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代价估算示例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zh-CN" altLang="en-US" sz="2400" dirty="0"/>
              <a:t>全表扫描：</a:t>
            </a:r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代价</a:t>
            </a:r>
            <a:r>
              <a:rPr lang="en-US" altLang="zh-CN" sz="2000" dirty="0"/>
              <a:t>cost = B          </a:t>
            </a:r>
            <a:r>
              <a:rPr lang="zh-CN" altLang="en-US" sz="2000" dirty="0"/>
              <a:t>（假设：基本块大小为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latin typeface="Arial"/>
              </a:rPr>
              <a:t>“</a:t>
            </a:r>
            <a:r>
              <a:rPr lang="zh-CN" altLang="en-US" sz="2000" dirty="0"/>
              <a:t>码</a:t>
            </a:r>
            <a:r>
              <a:rPr lang="en-US" altLang="zh-CN" sz="2000" dirty="0"/>
              <a:t>=</a:t>
            </a:r>
            <a:r>
              <a:rPr lang="zh-CN" altLang="en-US" sz="2000" dirty="0"/>
              <a:t>值</a:t>
            </a:r>
            <a:r>
              <a:rPr lang="zh-CN" altLang="en-US" sz="2000" dirty="0">
                <a:latin typeface="Arial"/>
              </a:rPr>
              <a:t>”</a:t>
            </a:r>
            <a:r>
              <a:rPr lang="zh-CN" altLang="en-US" sz="2000" dirty="0"/>
              <a:t>的平均代价</a:t>
            </a:r>
            <a:r>
              <a:rPr lang="en-US" altLang="zh-CN" sz="2000" dirty="0"/>
              <a:t>cost = B/2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索引扫描（以</a:t>
            </a:r>
            <a:r>
              <a:rPr lang="en-US" altLang="zh-CN" sz="2400" dirty="0"/>
              <a:t>B+</a:t>
            </a:r>
            <a:r>
              <a:rPr lang="zh-CN" altLang="en-US" sz="2400" dirty="0"/>
              <a:t>为例，层数为</a:t>
            </a:r>
            <a:r>
              <a:rPr lang="en-US" altLang="zh-CN" sz="2400" dirty="0"/>
              <a:t>L</a:t>
            </a:r>
            <a:r>
              <a:rPr lang="zh-CN" altLang="en-US" sz="2400" dirty="0"/>
              <a:t>）： </a:t>
            </a:r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码</a:t>
            </a:r>
            <a:r>
              <a:rPr lang="en-US" altLang="zh-CN" sz="2000" dirty="0"/>
              <a:t>=</a:t>
            </a:r>
            <a:r>
              <a:rPr lang="zh-CN" altLang="en-US" sz="2000" dirty="0"/>
              <a:t>值：</a:t>
            </a:r>
            <a:r>
              <a:rPr lang="en-US" altLang="zh-CN" sz="2000" dirty="0"/>
              <a:t>cost = L+1 </a:t>
            </a:r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非码属性</a:t>
            </a:r>
            <a:r>
              <a:rPr lang="en-US" altLang="zh-CN" sz="2000" dirty="0"/>
              <a:t>=</a:t>
            </a:r>
            <a:r>
              <a:rPr lang="zh-CN" altLang="en-US" sz="2000" dirty="0"/>
              <a:t>值：</a:t>
            </a:r>
            <a:r>
              <a:rPr lang="en-US" altLang="zh-CN" sz="2000" dirty="0"/>
              <a:t>cost = L+S </a:t>
            </a:r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非码属性上的不等值或范围判断：令满足条件的元组有一半</a:t>
            </a:r>
            <a:br>
              <a:rPr lang="zh-CN" altLang="en-US" sz="2000" dirty="0"/>
            </a:br>
            <a:r>
              <a:rPr lang="zh-CN" altLang="en-US" sz="2000" dirty="0"/>
              <a:t>　</a:t>
            </a:r>
            <a:r>
              <a:rPr lang="en-US" altLang="zh-CN" sz="2000" dirty="0"/>
              <a:t>cost = L+Y/2+B/2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嵌套循环连接： 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cost = </a:t>
            </a:r>
            <a:r>
              <a:rPr lang="en-US" altLang="zh-CN" sz="2000" dirty="0" err="1"/>
              <a:t>Br+Br×Bs</a:t>
            </a:r>
            <a:r>
              <a:rPr lang="en-US" altLang="zh-CN" sz="2000" dirty="0"/>
              <a:t>/(K-1) 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cost = </a:t>
            </a:r>
            <a:r>
              <a:rPr lang="en-US" altLang="zh-CN" sz="2000" dirty="0" err="1"/>
              <a:t>Br+Br×Bs</a:t>
            </a:r>
            <a:r>
              <a:rPr lang="en-US" altLang="zh-CN" sz="2000" dirty="0"/>
              <a:t>/(K-1)+(</a:t>
            </a:r>
            <a:r>
              <a:rPr lang="en-US" altLang="zh-CN" sz="2000" dirty="0" err="1"/>
              <a:t>Frs×Nr×Ns</a:t>
            </a:r>
            <a:r>
              <a:rPr lang="en-US" altLang="zh-CN" sz="2000" dirty="0"/>
              <a:t>)/</a:t>
            </a:r>
            <a:r>
              <a:rPr lang="en-US" altLang="zh-CN" sz="2000" dirty="0" err="1"/>
              <a:t>Mrs</a:t>
            </a:r>
            <a:r>
              <a:rPr lang="en-US" altLang="zh-CN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排序</a:t>
            </a:r>
            <a:r>
              <a:rPr lang="en-US" altLang="zh-CN" sz="2400" dirty="0"/>
              <a:t>-</a:t>
            </a:r>
            <a:r>
              <a:rPr lang="zh-CN" altLang="en-US" sz="2400" dirty="0"/>
              <a:t>合并法： </a:t>
            </a:r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单表排序代价：</a:t>
            </a:r>
            <a:r>
              <a:rPr lang="en-US" altLang="zh-CN" sz="2000" dirty="0"/>
              <a:t>(2×B)+(2×B×log2B) </a:t>
            </a:r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已按连接属性排序：</a:t>
            </a:r>
            <a:r>
              <a:rPr lang="en-US" altLang="zh-CN" sz="2000" dirty="0"/>
              <a:t>cost = </a:t>
            </a:r>
            <a:r>
              <a:rPr lang="en-US" altLang="zh-CN" sz="2000" dirty="0" err="1"/>
              <a:t>Br+Bs</a:t>
            </a:r>
            <a:r>
              <a:rPr lang="en-US" altLang="zh-CN" sz="2000" dirty="0"/>
              <a:t>+(</a:t>
            </a:r>
            <a:r>
              <a:rPr lang="en-US" altLang="zh-CN" sz="2000" dirty="0" err="1"/>
              <a:t>Frs×Nr×Ns</a:t>
            </a:r>
            <a:r>
              <a:rPr lang="en-US" altLang="zh-CN" sz="2000" dirty="0"/>
              <a:t>)/</a:t>
            </a:r>
            <a:r>
              <a:rPr lang="en-US" altLang="zh-CN" sz="2000" dirty="0" err="1"/>
              <a:t>Mrs</a:t>
            </a:r>
            <a:endParaRPr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AEEB8B-64F2-4E4C-8E79-7F4D9FCE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68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45659E6A-99D0-46A5-BAF5-4B0DF0670F40}" type="datetime1">
              <a:rPr lang="zh-CN" altLang="en-US" smtClean="0"/>
              <a:t>2025/12/3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10244" name="Picture 4" descr="sm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A6EE47-D404-4BC7-A8D6-159E88A0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D65F-3AAC-4701-9117-1407E0AE0845}" type="slidenum">
              <a:rPr lang="en-US" altLang="zh-CN" smtClean="0"/>
              <a:pPr/>
              <a:t>69</a:t>
            </a:fld>
            <a:r>
              <a:rPr lang="en-US" altLang="zh-CN"/>
              <a:t>/69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PPT_DBNAME" val="a5d635e9-4d81-428e-9831-5540291e67bc.mdb"/>
  <p:tag name="ARS_RESPONSE_PERSONNUM" val="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5241</TotalTime>
  <Words>4529</Words>
  <Application>Microsoft Office PowerPoint</Application>
  <PresentationFormat>全屏显示(4:3)</PresentationFormat>
  <Paragraphs>762</Paragraphs>
  <Slides>69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1" baseType="lpstr">
      <vt:lpstr>楷体_GB2312</vt:lpstr>
      <vt:lpstr>宋体</vt:lpstr>
      <vt:lpstr>Arial</vt:lpstr>
      <vt:lpstr>Book Antiqua</vt:lpstr>
      <vt:lpstr>Comic Sans MS</vt:lpstr>
      <vt:lpstr>Courier New</vt:lpstr>
      <vt:lpstr>Symbol</vt:lpstr>
      <vt:lpstr>Tahoma</vt:lpstr>
      <vt:lpstr>Times New Roman</vt:lpstr>
      <vt:lpstr>Wingdings</vt:lpstr>
      <vt:lpstr>Blends</vt:lpstr>
      <vt:lpstr>Clip</vt:lpstr>
      <vt:lpstr>数据库系统原理  Database System Principles</vt:lpstr>
      <vt:lpstr>第九章 关系查询处理和查询优化</vt:lpstr>
      <vt:lpstr>关系查询处理和查询优化</vt:lpstr>
      <vt:lpstr>关系查询处理和查询优化</vt:lpstr>
      <vt:lpstr>本章目录</vt:lpstr>
      <vt:lpstr>9.1.1 查询处理步骤</vt:lpstr>
      <vt:lpstr>9.1.1 查询处理步骤</vt:lpstr>
      <vt:lpstr>查询处理步骤</vt:lpstr>
      <vt:lpstr>查询处理步骤</vt:lpstr>
      <vt:lpstr>9.1.2 关系代数运算的执行(教材12.3)</vt:lpstr>
      <vt:lpstr>关系代数运算的执行</vt:lpstr>
      <vt:lpstr>9.1.2关系代数运算的执行 连接操作（等值连接）的实现</vt:lpstr>
      <vt:lpstr>9.1.2关系代数运算的执行 连接操作的实现</vt:lpstr>
      <vt:lpstr>归并连接（了解）</vt:lpstr>
      <vt:lpstr>归并连接（了解）</vt:lpstr>
      <vt:lpstr>9.1.2 实现查询操作的算法示例 连接操作的实现</vt:lpstr>
      <vt:lpstr>9.1.2关系代数运算的执行 连接操作的实现</vt:lpstr>
      <vt:lpstr>本章目录</vt:lpstr>
      <vt:lpstr>9.2 关系数据库系统的查询优化</vt:lpstr>
      <vt:lpstr>从实例看查询优化的意义</vt:lpstr>
      <vt:lpstr>从实例看查询优化的意义</vt:lpstr>
      <vt:lpstr>从实例看查询优化的意义</vt:lpstr>
      <vt:lpstr>从实例看查询优化的意义</vt:lpstr>
      <vt:lpstr>从实例看查询优化的意义</vt:lpstr>
      <vt:lpstr>查询树</vt:lpstr>
      <vt:lpstr>查询树</vt:lpstr>
      <vt:lpstr>查询树</vt:lpstr>
      <vt:lpstr>感性结论</vt:lpstr>
      <vt:lpstr>本章目录</vt:lpstr>
      <vt:lpstr>9.3 代数优化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等价变换规则</vt:lpstr>
      <vt:lpstr>9.3.2 查询树的启发式优化</vt:lpstr>
      <vt:lpstr>关系表达式优化算法</vt:lpstr>
      <vt:lpstr>例4</vt:lpstr>
      <vt:lpstr>例4</vt:lpstr>
      <vt:lpstr>例4</vt:lpstr>
      <vt:lpstr>例4</vt:lpstr>
      <vt:lpstr>例4</vt:lpstr>
      <vt:lpstr>实例分析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本章目录</vt:lpstr>
      <vt:lpstr>9.4 物理优化</vt:lpstr>
      <vt:lpstr>物理优化</vt:lpstr>
      <vt:lpstr>物理优化</vt:lpstr>
      <vt:lpstr>选择操作的启发式规则</vt:lpstr>
      <vt:lpstr>选择操作的启发式规则</vt:lpstr>
      <vt:lpstr>连接操作的启发式规则</vt:lpstr>
      <vt:lpstr>9.4.2 基于代价的优化(自学)</vt:lpstr>
      <vt:lpstr>代价估算示例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816</cp:revision>
  <dcterms:created xsi:type="dcterms:W3CDTF">2009-08-07T14:32:50Z</dcterms:created>
  <dcterms:modified xsi:type="dcterms:W3CDTF">2025-12-03T09:30:03Z</dcterms:modified>
</cp:coreProperties>
</file>