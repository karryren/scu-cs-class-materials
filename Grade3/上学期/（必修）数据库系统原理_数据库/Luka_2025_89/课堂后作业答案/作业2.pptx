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sldIdLst>
    <p:sldId id="395" r:id="rId2"/>
    <p:sldId id="396" r:id="rId3"/>
    <p:sldId id="397" r:id="rId4"/>
    <p:sldId id="398" r:id="rId5"/>
    <p:sldId id="399" r:id="rId6"/>
    <p:sldId id="400" r:id="rId7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003300"/>
    <a:srgbClr val="006600"/>
    <a:srgbClr val="80008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51" autoAdjust="0"/>
  </p:normalViewPr>
  <p:slideViewPr>
    <p:cSldViewPr>
      <p:cViewPr varScale="1">
        <p:scale>
          <a:sx n="108" d="100"/>
          <a:sy n="108" d="100"/>
        </p:scale>
        <p:origin x="33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20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>
                <a:latin typeface="Arial" panose="020B0604020202020204" pitchFamily="34" charset="0"/>
              </a:defRPr>
            </a:lvl1pPr>
          </a:lstStyle>
          <a:p>
            <a:fld id="{8D2A0377-D3B8-4BEF-997F-B4BEAF2D68FE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371600"/>
            <a:ext cx="7772400" cy="1462088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53CDEA6-4B01-4537-B015-C9EEF1385B60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n-lt"/>
              </a:defRPr>
            </a:lvl1pPr>
          </a:lstStyle>
          <a:p>
            <a:fld id="{312FA367-53EB-421A-9865-84257693BFC4}" type="slidenum">
              <a:rPr lang="en-US" altLang="zh-CN"/>
              <a:t>‹#›</a:t>
            </a:fld>
            <a:endParaRPr lang="en-US" altLang="zh-CN"/>
          </a:p>
        </p:txBody>
      </p:sp>
      <p:graphicFrame>
        <p:nvGraphicFramePr>
          <p:cNvPr id="5127" name="Object 7"/>
          <p:cNvGraphicFramePr/>
          <p:nvPr/>
        </p:nvGraphicFramePr>
        <p:xfrm>
          <a:off x="533400" y="3124200"/>
          <a:ext cx="83058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6858000" imgH="48895" progId="">
                  <p:embed/>
                </p:oleObj>
              </mc:Choice>
              <mc:Fallback>
                <p:oleObj name="Clip" r:id="rId2" imgW="6858000" imgH="48895" progId="">
                  <p:embed/>
                  <p:pic>
                    <p:nvPicPr>
                      <p:cNvPr id="0" name="Picture 57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124200"/>
                        <a:ext cx="83058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0001D1-1696-41C9-A293-740AD037AC43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D74603-B40B-4D66-8F6E-41C870D48932}" type="slidenum">
              <a:rPr lang="en-US" altLang="zh-CN" smtClean="0"/>
              <a:t>‹#›</a:t>
            </a:fld>
            <a:r>
              <a:rPr lang="en-US" altLang="zh-CN" dirty="0"/>
              <a:t>/6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2A9EF4-DCBF-4B2A-AAF6-7D9B19F88F6E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E99EAD-2C86-4450-9625-7EF344D5772C}" type="slidenum">
              <a:rPr lang="en-US" altLang="zh-CN" smtClean="0"/>
              <a:t>‹#›</a:t>
            </a:fld>
            <a:r>
              <a:rPr lang="en-US" altLang="zh-CN" dirty="0"/>
              <a:t>/6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8F3BCD-DBF9-4CC4-91F9-310386372F70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387144-5480-4896-B635-AD974A4EA320}" type="slidenum">
              <a:rPr lang="en-US" altLang="zh-CN" smtClean="0"/>
              <a:t>‹#›</a:t>
            </a:fld>
            <a:r>
              <a:rPr lang="en-US" altLang="zh-CN" dirty="0"/>
              <a:t>/6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7822A05-565D-4C6D-838E-B3D25A617E5E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CB709F-E6EA-4776-AF6D-29A1A06E9FED}" type="slidenum">
              <a:rPr lang="en-US" altLang="zh-CN" smtClean="0"/>
              <a:t>‹#›</a:t>
            </a:fld>
            <a:r>
              <a:rPr lang="en-US" altLang="zh-CN" dirty="0"/>
              <a:t>/6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4136F5-82E3-477A-B48D-5D3B7846ACB8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EA4E5F-2FB2-46CB-BBC2-637528EFB5F7}" type="slidenum">
              <a:rPr lang="en-US" altLang="zh-CN" smtClean="0"/>
              <a:t>‹#›</a:t>
            </a:fld>
            <a:r>
              <a:rPr lang="en-US" altLang="zh-CN" dirty="0"/>
              <a:t>/6</a:t>
            </a: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EFCB6C-99B2-4C79-86DA-ADB74A857FD4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869B9C-F5BF-482C-A521-EB084A2A18BF}" type="slidenum">
              <a:rPr lang="en-US" altLang="zh-CN" smtClean="0"/>
              <a:t>‹#›</a:t>
            </a:fld>
            <a:r>
              <a:rPr lang="en-US" altLang="zh-CN" dirty="0"/>
              <a:t>/6</a:t>
            </a: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C4DE0C-5649-475F-8B8C-24E55305BE45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E0AA9-64A8-4014-AB4B-12BF1DE67C2D}" type="slidenum">
              <a:rPr lang="en-US" altLang="zh-CN" smtClean="0"/>
              <a:t>‹#›</a:t>
            </a:fld>
            <a:r>
              <a:rPr lang="en-US" altLang="zh-CN" dirty="0"/>
              <a:t>/6</a:t>
            </a: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4F276B-B277-4A98-8404-94DF75C991A2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F51E71-995A-45EF-AAB0-38D467D8AB85}" type="slidenum">
              <a:rPr lang="en-US" altLang="zh-CN" smtClean="0"/>
              <a:t>‹#›</a:t>
            </a:fld>
            <a:r>
              <a:rPr lang="en-US" altLang="zh-CN" dirty="0"/>
              <a:t>/6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CCE1A9-FB7D-44DD-91B3-1D33F5DBE705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4DF839-432E-4533-990B-4B8F5CC2CF3F}" type="slidenum">
              <a:rPr lang="en-US" altLang="zh-CN" smtClean="0"/>
              <a:t>‹#›</a:t>
            </a:fld>
            <a:r>
              <a:rPr lang="en-US" altLang="zh-CN" dirty="0"/>
              <a:t>/6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9113" y="381000"/>
            <a:ext cx="2085975" cy="5751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6107113" cy="5751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7DBAF7-7557-4EFF-A751-81F9400EC9C9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4E7352-D8BD-49EE-AC05-9CF28D786712}" type="slidenum">
              <a:rPr lang="en-US" altLang="zh-CN" smtClean="0"/>
              <a:t>‹#›</a:t>
            </a:fld>
            <a:r>
              <a:rPr lang="en-US" altLang="zh-CN" dirty="0"/>
              <a:t>/6</a:t>
            </a: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1EBB02B-FCDF-4AFC-9B67-9E62FAC85A84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F2121B0-14FC-4FF4-BE73-FB699D38FECB}" type="slidenum">
              <a:rPr lang="en-US" altLang="zh-CN" smtClean="0"/>
              <a:t>‹#›</a:t>
            </a:fld>
            <a:r>
              <a:rPr lang="en-US" altLang="zh-CN" dirty="0"/>
              <a:t>/6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8345488" cy="468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400"/>
            </a:lvl1pPr>
          </a:lstStyle>
          <a:p>
            <a:fld id="{32A2903F-DA96-4BE3-A6B5-FF9D4D97DC74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latin typeface="Times New Roman" panose="02020603050405020304" pitchFamily="18" charset="0"/>
              </a:defRPr>
            </a:lvl1pPr>
          </a:lstStyle>
          <a:p>
            <a:fld id="{E5D2F0E2-7A34-4EEA-8A4F-08B3FE24AFCA}" type="slidenum">
              <a:rPr lang="en-US" altLang="zh-CN"/>
              <a:t>‹#›</a:t>
            </a:fld>
            <a:r>
              <a:rPr lang="en-US" altLang="zh-CN"/>
              <a:t>/83</a:t>
            </a:r>
          </a:p>
        </p:txBody>
      </p:sp>
      <p:pic>
        <p:nvPicPr>
          <p:cNvPr id="4103" name="Picture 7" descr="redBa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7924800" cy="15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hdr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C8F4-319C-4168-82E8-EA093560CD19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第二次作业</a:t>
            </a:r>
          </a:p>
        </p:txBody>
      </p:sp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zh-CN" altLang="en-US" sz="2800" dirty="0"/>
              <a:t>某大学，</a:t>
            </a:r>
            <a:r>
              <a:rPr lang="zh-CN" altLang="en-US" sz="2800" dirty="0">
                <a:solidFill>
                  <a:srgbClr val="FF0000"/>
                </a:solidFill>
              </a:rPr>
              <a:t>学生</a:t>
            </a:r>
            <a:r>
              <a:rPr lang="zh-CN" altLang="en-US" sz="2800" dirty="0"/>
              <a:t>可根据自己的情况选修</a:t>
            </a:r>
            <a:r>
              <a:rPr lang="zh-CN" altLang="en-US" sz="2800" dirty="0">
                <a:solidFill>
                  <a:srgbClr val="FF0000"/>
                </a:solidFill>
              </a:rPr>
              <a:t>课程</a:t>
            </a:r>
            <a:r>
              <a:rPr lang="zh-CN" altLang="en-US" sz="2800" dirty="0"/>
              <a:t>。每名学生可同时</a:t>
            </a:r>
            <a:r>
              <a:rPr lang="zh-CN" altLang="en-US" sz="2800" dirty="0">
                <a:solidFill>
                  <a:schemeClr val="tx2"/>
                </a:solidFill>
              </a:rPr>
              <a:t>选修</a:t>
            </a:r>
            <a:r>
              <a:rPr lang="zh-CN" altLang="en-US" sz="2800" dirty="0">
                <a:solidFill>
                  <a:srgbClr val="FF0000"/>
                </a:solidFill>
              </a:rPr>
              <a:t>多门</a:t>
            </a:r>
            <a:r>
              <a:rPr lang="zh-CN" altLang="en-US" sz="2800" dirty="0"/>
              <a:t>课程，每门课程可由</a:t>
            </a:r>
            <a:r>
              <a:rPr lang="zh-CN" altLang="en-US" sz="2800" dirty="0">
                <a:solidFill>
                  <a:srgbClr val="FF0000"/>
                </a:solidFill>
              </a:rPr>
              <a:t>多位</a:t>
            </a:r>
            <a:r>
              <a:rPr lang="zh-CN" altLang="en-US" sz="2800" dirty="0">
                <a:solidFill>
                  <a:schemeClr val="tx2"/>
                </a:solidFill>
              </a:rPr>
              <a:t>教师讲授</a:t>
            </a:r>
            <a:r>
              <a:rPr lang="zh-CN" altLang="en-US" sz="2800" dirty="0"/>
              <a:t>，每位老师可</a:t>
            </a:r>
            <a:r>
              <a:rPr lang="zh-CN" altLang="en-US" sz="2800" dirty="0">
                <a:solidFill>
                  <a:schemeClr val="tx2"/>
                </a:solidFill>
              </a:rPr>
              <a:t>讲</a:t>
            </a:r>
            <a:r>
              <a:rPr lang="zh-CN" altLang="en-US" sz="2800" dirty="0">
                <a:solidFill>
                  <a:srgbClr val="FF0000"/>
                </a:solidFill>
              </a:rPr>
              <a:t>多门</a:t>
            </a:r>
            <a:r>
              <a:rPr lang="zh-CN" altLang="en-US" sz="2800" dirty="0"/>
              <a:t>课程。每名</a:t>
            </a:r>
            <a:r>
              <a:rPr lang="zh-CN" altLang="en-US" sz="2800" dirty="0">
                <a:solidFill>
                  <a:schemeClr val="tx2"/>
                </a:solidFill>
              </a:rPr>
              <a:t>学生</a:t>
            </a:r>
            <a:r>
              <a:rPr lang="zh-CN" altLang="en-US" sz="2800" dirty="0"/>
              <a:t>可有</a:t>
            </a:r>
            <a:r>
              <a:rPr lang="zh-CN" altLang="en-US" sz="2800" dirty="0">
                <a:solidFill>
                  <a:srgbClr val="FF0000"/>
                </a:solidFill>
              </a:rPr>
              <a:t>一位</a:t>
            </a:r>
            <a:r>
              <a:rPr lang="zh-CN" altLang="en-US" sz="2800" dirty="0"/>
              <a:t>教师</a:t>
            </a:r>
            <a:r>
              <a:rPr lang="zh-CN" altLang="en-US" sz="2800" dirty="0">
                <a:solidFill>
                  <a:schemeClr val="tx2"/>
                </a:solidFill>
              </a:rPr>
              <a:t>指导</a:t>
            </a:r>
            <a:r>
              <a:rPr lang="zh-CN" altLang="en-US" sz="2800" dirty="0"/>
              <a:t>，每个</a:t>
            </a:r>
            <a:r>
              <a:rPr lang="zh-CN" altLang="en-US" sz="2800" dirty="0">
                <a:solidFill>
                  <a:srgbClr val="C00000"/>
                </a:solidFill>
              </a:rPr>
              <a:t>教师</a:t>
            </a:r>
            <a:r>
              <a:rPr lang="zh-CN" altLang="en-US" sz="2800" dirty="0">
                <a:solidFill>
                  <a:schemeClr val="tx2"/>
                </a:solidFill>
              </a:rPr>
              <a:t>指导多名</a:t>
            </a:r>
            <a:r>
              <a:rPr lang="zh-CN" altLang="en-US" sz="2800" dirty="0">
                <a:solidFill>
                  <a:srgbClr val="C00000"/>
                </a:solidFill>
              </a:rPr>
              <a:t>学生</a:t>
            </a:r>
            <a:r>
              <a:rPr lang="zh-CN" altLang="en-US" sz="2800" dirty="0"/>
              <a:t>。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zh-CN" altLang="en-US" sz="2800" dirty="0"/>
              <a:t>请画出此系统的</a:t>
            </a:r>
            <a:r>
              <a:rPr lang="en-US" altLang="zh-CN" sz="2800" dirty="0"/>
              <a:t>E-R</a:t>
            </a:r>
            <a:r>
              <a:rPr lang="zh-CN" altLang="en-US" sz="2800" dirty="0"/>
              <a:t>图。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zh-CN" altLang="en-US" sz="2800" dirty="0"/>
              <a:t>在此模式下，下面查询能完成吗？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zh-CN" altLang="en-US" sz="2800" dirty="0"/>
              <a:t>     </a:t>
            </a:r>
            <a:r>
              <a:rPr lang="zh-CN" altLang="en-US" sz="2000" dirty="0">
                <a:solidFill>
                  <a:srgbClr val="0000FF"/>
                </a:solidFill>
              </a:rPr>
              <a:t>求选修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/>
              </a:rPr>
              <a:t>“</a:t>
            </a:r>
            <a:r>
              <a:rPr lang="zh-CN" altLang="en-US" sz="2000" dirty="0">
                <a:solidFill>
                  <a:srgbClr val="0000FF"/>
                </a:solidFill>
              </a:rPr>
              <a:t>王敏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/>
              </a:rPr>
              <a:t>”</a:t>
            </a:r>
            <a:r>
              <a:rPr lang="zh-CN" altLang="en-US" sz="2000" dirty="0">
                <a:solidFill>
                  <a:srgbClr val="0000FF"/>
                </a:solidFill>
              </a:rPr>
              <a:t>老师讲的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/>
              </a:rPr>
              <a:t>“</a:t>
            </a:r>
            <a:r>
              <a:rPr lang="zh-CN" altLang="en-US" sz="2000" dirty="0">
                <a:solidFill>
                  <a:srgbClr val="0000FF"/>
                </a:solidFill>
              </a:rPr>
              <a:t>市场营销学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/>
              </a:rPr>
              <a:t>”</a:t>
            </a:r>
            <a:r>
              <a:rPr lang="zh-CN" altLang="en-US" sz="2000" dirty="0">
                <a:solidFill>
                  <a:srgbClr val="0000FF"/>
                </a:solidFill>
              </a:rPr>
              <a:t>的学生的学号和姓名？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marL="609600" indent="-609600">
              <a:lnSpc>
                <a:spcPct val="90000"/>
              </a:lnSpc>
              <a:buFont typeface="+mj-lt"/>
              <a:buAutoNum type="arabicPeriod" startAt="3"/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</a:rPr>
              <a:t>在</a:t>
            </a: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</a:rPr>
              <a:t>的基础上，设计此系统的一组至少满足</a:t>
            </a: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</a:rPr>
              <a:t>3NF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</a:rPr>
              <a:t>的关系模式。</a:t>
            </a: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</a:rPr>
              <a:t>作业无</a:t>
            </a: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</a:endParaRP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zh-CN" altLang="en-US" sz="2800" dirty="0">
              <a:solidFill>
                <a:srgbClr val="0000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74603-B40B-4D66-8F6E-41C870D48932}" type="slidenum">
              <a:rPr lang="en-US" altLang="zh-CN" smtClean="0"/>
              <a:t>1</a:t>
            </a:fld>
            <a:r>
              <a:rPr lang="en-US" altLang="zh-CN"/>
              <a:t>/6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2622E-EE45-404B-8D62-40EC71ABF78A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476375" y="433388"/>
            <a:ext cx="11525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Comic Sans MS" panose="030F0702030302020204" pitchFamily="66" charset="0"/>
              </a:rPr>
              <a:t>学生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867400" y="433388"/>
            <a:ext cx="11525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</a:rPr>
              <a:t>课程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5940425" y="2809875"/>
            <a:ext cx="11525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Comic Sans MS" panose="030F0702030302020204" pitchFamily="66" charset="0"/>
              </a:rPr>
              <a:t>教师</a:t>
            </a: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3348038" y="217488"/>
            <a:ext cx="1655762" cy="863600"/>
          </a:xfrm>
          <a:prstGeom prst="diamond">
            <a:avLst/>
          </a:prstGeom>
          <a:noFill/>
          <a:ln w="9525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 dirty="0">
                <a:solidFill>
                  <a:schemeClr val="tx2"/>
                </a:solidFill>
                <a:latin typeface="Comic Sans MS" panose="030F0702030302020204" pitchFamily="66" charset="0"/>
              </a:rPr>
              <a:t>选修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5651500" y="1370013"/>
            <a:ext cx="1655763" cy="8636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>
                <a:solidFill>
                  <a:srgbClr val="FF0066"/>
                </a:solidFill>
                <a:latin typeface="Comic Sans MS" panose="030F0702030302020204" pitchFamily="66" charset="0"/>
              </a:rPr>
              <a:t>讲授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258888" y="2593975"/>
            <a:ext cx="1368425" cy="649288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>
                <a:solidFill>
                  <a:srgbClr val="CC3300"/>
                </a:solidFill>
                <a:latin typeface="Comic Sans MS" panose="030F0702030302020204" pitchFamily="66" charset="0"/>
              </a:rPr>
              <a:t>指导</a:t>
            </a: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2627313" y="649288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5003800" y="649288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6443663" y="938213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6516688" y="223361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 flipH="1">
            <a:off x="2555875" y="2954338"/>
            <a:ext cx="3384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 flipH="1">
            <a:off x="1979612" y="938213"/>
            <a:ext cx="1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2771775" y="217488"/>
            <a:ext cx="576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b="1">
              <a:latin typeface="Comic Sans MS" panose="030F0702030302020204" pitchFamily="66" charset="0"/>
            </a:endParaRP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2843213" y="28892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5148263" y="28892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6443663" y="1009650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6516688" y="223361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3924300" y="2522538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1979613" y="158591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n</a:t>
            </a:r>
          </a:p>
        </p:txBody>
      </p:sp>
      <p:grpSp>
        <p:nvGrpSpPr>
          <p:cNvPr id="2" name="Group 27"/>
          <p:cNvGrpSpPr/>
          <p:nvPr/>
        </p:nvGrpSpPr>
        <p:grpSpPr bwMode="auto">
          <a:xfrm>
            <a:off x="3635375" y="1081088"/>
            <a:ext cx="1223963" cy="1081087"/>
            <a:chOff x="2290" y="935"/>
            <a:chExt cx="771" cy="681"/>
          </a:xfrm>
        </p:grpSpPr>
        <p:sp>
          <p:nvSpPr>
            <p:cNvPr id="27" name="Oval 25"/>
            <p:cNvSpPr>
              <a:spLocks noChangeArrowheads="1"/>
            </p:cNvSpPr>
            <p:nvPr/>
          </p:nvSpPr>
          <p:spPr bwMode="auto">
            <a:xfrm>
              <a:off x="2290" y="1162"/>
              <a:ext cx="771" cy="454"/>
            </a:xfrm>
            <a:prstGeom prst="ellipse">
              <a:avLst/>
            </a:prstGeom>
            <a:solidFill>
              <a:srgbClr val="DEFBFE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400" b="1">
                  <a:latin typeface="Comic Sans MS" panose="030F0702030302020204" pitchFamily="66" charset="0"/>
                </a:rPr>
                <a:t>成绩</a:t>
              </a:r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2608" y="93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" name="Text Box 24"/>
          <p:cNvSpPr txBox="1">
            <a:spLocks noChangeArrowheads="1"/>
          </p:cNvSpPr>
          <p:nvPr/>
        </p:nvSpPr>
        <p:spPr bwMode="auto">
          <a:xfrm>
            <a:off x="1476375" y="3657600"/>
            <a:ext cx="63373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</a:rPr>
              <a:t>各实体的属性及标识符如下：</a:t>
            </a:r>
          </a:p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学生（</a:t>
            </a:r>
            <a:r>
              <a:rPr lang="zh-CN" altLang="en-US" sz="2400" b="1" u="sng" dirty="0">
                <a:latin typeface="Comic Sans MS" panose="030F0702030302020204" pitchFamily="66" charset="0"/>
                <a:ea typeface="楷体_GB2312" pitchFamily="49" charset="-122"/>
              </a:rPr>
              <a:t>学号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，姓名，性别，班级）</a:t>
            </a:r>
          </a:p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课程（</a:t>
            </a:r>
            <a:r>
              <a:rPr lang="zh-CN" altLang="en-US" sz="2400" b="1" u="sng" dirty="0">
                <a:latin typeface="Comic Sans MS" panose="030F0702030302020204" pitchFamily="66" charset="0"/>
                <a:ea typeface="楷体_GB2312" pitchFamily="49" charset="-122"/>
              </a:rPr>
              <a:t>课程号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，课程名，学时，学分）</a:t>
            </a:r>
          </a:p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教师（</a:t>
            </a:r>
            <a:r>
              <a:rPr lang="zh-CN" altLang="en-US" sz="2400" b="1" u="sng" dirty="0">
                <a:latin typeface="Comic Sans MS" panose="030F0702030302020204" pitchFamily="66" charset="0"/>
                <a:ea typeface="楷体_GB2312" pitchFamily="49" charset="-122"/>
              </a:rPr>
              <a:t>职工号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，姓名，性别，职称）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74603-B40B-4D66-8F6E-41C870D48932}" type="slidenum">
              <a:rPr lang="en-US" altLang="zh-CN" smtClean="0"/>
              <a:t>2</a:t>
            </a:fld>
            <a:r>
              <a:rPr lang="en-US" altLang="zh-CN"/>
              <a:t>/6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/>
      <p:bldP spid="21" grpId="0"/>
      <p:bldP spid="22" grpId="0"/>
      <p:bldP spid="23" grpId="0"/>
      <p:bldP spid="24" grpId="0"/>
      <p:bldP spid="25" grpId="0"/>
      <p:bldP spid="2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9A845-5360-4143-A622-388F6CF13E1C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476375" y="433388"/>
            <a:ext cx="11525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Comic Sans MS" panose="030F0702030302020204" pitchFamily="66" charset="0"/>
              </a:rPr>
              <a:t>学生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867400" y="433388"/>
            <a:ext cx="11525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Comic Sans MS" panose="030F0702030302020204" pitchFamily="66" charset="0"/>
              </a:rPr>
              <a:t>课程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5940425" y="2809875"/>
            <a:ext cx="11525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Comic Sans MS" panose="030F0702030302020204" pitchFamily="66" charset="0"/>
              </a:rPr>
              <a:t>教师</a:t>
            </a: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3348038" y="217488"/>
            <a:ext cx="1655762" cy="863600"/>
          </a:xfrm>
          <a:prstGeom prst="diamond">
            <a:avLst/>
          </a:prstGeom>
          <a:noFill/>
          <a:ln w="9525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 dirty="0">
                <a:solidFill>
                  <a:schemeClr val="tx2"/>
                </a:solidFill>
                <a:latin typeface="Comic Sans MS" panose="030F0702030302020204" pitchFamily="66" charset="0"/>
              </a:rPr>
              <a:t>选修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5651500" y="1370013"/>
            <a:ext cx="1655763" cy="8636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 dirty="0">
                <a:solidFill>
                  <a:srgbClr val="FF0066"/>
                </a:solidFill>
                <a:latin typeface="Comic Sans MS" panose="030F0702030302020204" pitchFamily="66" charset="0"/>
              </a:rPr>
              <a:t>讲授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258888" y="2593975"/>
            <a:ext cx="1368425" cy="649288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 dirty="0">
                <a:solidFill>
                  <a:srgbClr val="CC3300"/>
                </a:solidFill>
                <a:latin typeface="Comic Sans MS" panose="030F0702030302020204" pitchFamily="66" charset="0"/>
              </a:rPr>
              <a:t>指导</a:t>
            </a: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2627313" y="649288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5003800" y="649288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6443663" y="938213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6516688" y="223361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 flipH="1">
            <a:off x="2555875" y="2954338"/>
            <a:ext cx="3384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1979613" y="938213"/>
            <a:ext cx="0" cy="165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2771775" y="217488"/>
            <a:ext cx="576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b="1">
              <a:latin typeface="Comic Sans MS" panose="030F0702030302020204" pitchFamily="66" charset="0"/>
            </a:endParaRP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2843213" y="28892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5148263" y="28892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6443663" y="1009650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6516688" y="223361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3924300" y="2522538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1979613" y="158591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n</a:t>
            </a:r>
          </a:p>
        </p:txBody>
      </p:sp>
      <p:grpSp>
        <p:nvGrpSpPr>
          <p:cNvPr id="2" name="Group 27"/>
          <p:cNvGrpSpPr/>
          <p:nvPr/>
        </p:nvGrpSpPr>
        <p:grpSpPr bwMode="auto">
          <a:xfrm>
            <a:off x="3635375" y="1081088"/>
            <a:ext cx="1223963" cy="1081087"/>
            <a:chOff x="2290" y="935"/>
            <a:chExt cx="771" cy="681"/>
          </a:xfrm>
        </p:grpSpPr>
        <p:sp>
          <p:nvSpPr>
            <p:cNvPr id="27" name="Oval 25"/>
            <p:cNvSpPr>
              <a:spLocks noChangeArrowheads="1"/>
            </p:cNvSpPr>
            <p:nvPr/>
          </p:nvSpPr>
          <p:spPr bwMode="auto">
            <a:xfrm>
              <a:off x="2290" y="1162"/>
              <a:ext cx="771" cy="454"/>
            </a:xfrm>
            <a:prstGeom prst="ellipse">
              <a:avLst/>
            </a:prstGeom>
            <a:solidFill>
              <a:srgbClr val="DEFBFE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400" b="1">
                  <a:latin typeface="Comic Sans MS" panose="030F0702030302020204" pitchFamily="66" charset="0"/>
                </a:rPr>
                <a:t>成绩</a:t>
              </a:r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2608" y="93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" name="Text Box 24"/>
          <p:cNvSpPr txBox="1">
            <a:spLocks noChangeArrowheads="1"/>
          </p:cNvSpPr>
          <p:nvPr/>
        </p:nvSpPr>
        <p:spPr bwMode="auto">
          <a:xfrm>
            <a:off x="1476375" y="3429000"/>
            <a:ext cx="63373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</a:rPr>
              <a:t>各实体的属性及标识符如下：</a:t>
            </a:r>
          </a:p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学生（</a:t>
            </a:r>
            <a:r>
              <a:rPr lang="zh-CN" altLang="en-US" sz="2400" b="1" u="sng" dirty="0">
                <a:latin typeface="Comic Sans MS" panose="030F0702030302020204" pitchFamily="66" charset="0"/>
                <a:ea typeface="楷体_GB2312" pitchFamily="49" charset="-122"/>
              </a:rPr>
              <a:t>学号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，姓名，性别，班级，</a:t>
            </a:r>
            <a:r>
              <a:rPr lang="zh-CN" altLang="en-US" b="1" dirty="0">
                <a:solidFill>
                  <a:srgbClr val="CC3300"/>
                </a:solidFill>
                <a:latin typeface="+mn-ea"/>
                <a:ea typeface="楷体_GB2312"/>
              </a:rPr>
              <a:t>职工号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）</a:t>
            </a:r>
          </a:p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课程（</a:t>
            </a:r>
            <a:r>
              <a:rPr lang="zh-CN" altLang="en-US" sz="2400" b="1" u="sng" dirty="0">
                <a:latin typeface="Comic Sans MS" panose="030F0702030302020204" pitchFamily="66" charset="0"/>
                <a:ea typeface="楷体_GB2312" pitchFamily="49" charset="-122"/>
              </a:rPr>
              <a:t>课程号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，课程名，学时，学分）</a:t>
            </a:r>
          </a:p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教师（</a:t>
            </a:r>
            <a:r>
              <a:rPr lang="zh-CN" altLang="en-US" sz="2400" b="1" u="sng" dirty="0">
                <a:solidFill>
                  <a:srgbClr val="7030A0"/>
                </a:solidFill>
                <a:latin typeface="Comic Sans MS" panose="030F0702030302020204" pitchFamily="66" charset="0"/>
                <a:ea typeface="楷体_GB2312" pitchFamily="49" charset="-122"/>
              </a:rPr>
              <a:t>职工号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，姓名，性别，职称）</a:t>
            </a:r>
            <a:endParaRPr lang="en-US" altLang="zh-CN" sz="2400" b="1" dirty="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74603-B40B-4D66-8F6E-41C870D48932}" type="slidenum">
              <a:rPr lang="en-US" altLang="zh-CN" smtClean="0"/>
              <a:t>3</a:t>
            </a:fld>
            <a:r>
              <a:rPr lang="en-US" altLang="zh-CN"/>
              <a:t>/6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75B-74F6-4BE1-8FA8-D4A14CF0E06E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476375" y="433388"/>
            <a:ext cx="11525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Comic Sans MS" panose="030F0702030302020204" pitchFamily="66" charset="0"/>
              </a:rPr>
              <a:t>学生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867400" y="433388"/>
            <a:ext cx="11525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Comic Sans MS" panose="030F0702030302020204" pitchFamily="66" charset="0"/>
              </a:rPr>
              <a:t>课程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5940425" y="2809875"/>
            <a:ext cx="11525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Comic Sans MS" panose="030F0702030302020204" pitchFamily="66" charset="0"/>
              </a:rPr>
              <a:t>教师</a:t>
            </a: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3348038" y="217488"/>
            <a:ext cx="1655762" cy="863600"/>
          </a:xfrm>
          <a:prstGeom prst="diamond">
            <a:avLst/>
          </a:prstGeom>
          <a:noFill/>
          <a:ln w="9525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 dirty="0">
                <a:solidFill>
                  <a:schemeClr val="tx2"/>
                </a:solidFill>
                <a:latin typeface="Comic Sans MS" panose="030F0702030302020204" pitchFamily="66" charset="0"/>
              </a:rPr>
              <a:t>选修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5651500" y="1370013"/>
            <a:ext cx="1655763" cy="8636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 dirty="0">
                <a:solidFill>
                  <a:srgbClr val="FF0066"/>
                </a:solidFill>
                <a:latin typeface="Comic Sans MS" panose="030F0702030302020204" pitchFamily="66" charset="0"/>
              </a:rPr>
              <a:t>讲授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258888" y="2593975"/>
            <a:ext cx="1368425" cy="649288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 dirty="0">
                <a:solidFill>
                  <a:srgbClr val="CC3300"/>
                </a:solidFill>
                <a:latin typeface="Comic Sans MS" panose="030F0702030302020204" pitchFamily="66" charset="0"/>
              </a:rPr>
              <a:t>指导</a:t>
            </a: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2627313" y="649288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5003800" y="649288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6443663" y="938213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6516688" y="223361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 flipH="1">
            <a:off x="2555875" y="2954338"/>
            <a:ext cx="3384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1979613" y="938213"/>
            <a:ext cx="0" cy="165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2771775" y="217488"/>
            <a:ext cx="576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b="1">
              <a:latin typeface="Comic Sans MS" panose="030F0702030302020204" pitchFamily="66" charset="0"/>
            </a:endParaRP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2843213" y="28892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5148263" y="28892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6443663" y="1009650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6516688" y="223361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3924300" y="2522538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1979613" y="158591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n</a:t>
            </a:r>
          </a:p>
        </p:txBody>
      </p:sp>
      <p:grpSp>
        <p:nvGrpSpPr>
          <p:cNvPr id="2" name="Group 27"/>
          <p:cNvGrpSpPr/>
          <p:nvPr/>
        </p:nvGrpSpPr>
        <p:grpSpPr bwMode="auto">
          <a:xfrm>
            <a:off x="3635375" y="1081088"/>
            <a:ext cx="1223963" cy="1081087"/>
            <a:chOff x="2290" y="935"/>
            <a:chExt cx="771" cy="681"/>
          </a:xfrm>
        </p:grpSpPr>
        <p:sp>
          <p:nvSpPr>
            <p:cNvPr id="27" name="Oval 25"/>
            <p:cNvSpPr>
              <a:spLocks noChangeArrowheads="1"/>
            </p:cNvSpPr>
            <p:nvPr/>
          </p:nvSpPr>
          <p:spPr bwMode="auto">
            <a:xfrm>
              <a:off x="2290" y="1162"/>
              <a:ext cx="771" cy="454"/>
            </a:xfrm>
            <a:prstGeom prst="ellipse">
              <a:avLst/>
            </a:prstGeom>
            <a:solidFill>
              <a:srgbClr val="DEFBFE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400" b="1">
                  <a:latin typeface="Comic Sans MS" panose="030F0702030302020204" pitchFamily="66" charset="0"/>
                </a:rPr>
                <a:t>成绩</a:t>
              </a:r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2608" y="93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" name="Text Box 24"/>
          <p:cNvSpPr txBox="1">
            <a:spLocks noChangeArrowheads="1"/>
          </p:cNvSpPr>
          <p:nvPr/>
        </p:nvSpPr>
        <p:spPr bwMode="auto">
          <a:xfrm>
            <a:off x="1476375" y="3429000"/>
            <a:ext cx="63373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</a:rPr>
              <a:t>各实体的属性及标识符如下：</a:t>
            </a:r>
          </a:p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学生（</a:t>
            </a:r>
            <a:r>
              <a:rPr lang="zh-CN" altLang="en-US" sz="2400" b="1" u="sng" dirty="0">
                <a:latin typeface="Comic Sans MS" panose="030F0702030302020204" pitchFamily="66" charset="0"/>
                <a:ea typeface="楷体_GB2312" pitchFamily="49" charset="-122"/>
              </a:rPr>
              <a:t>学号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，姓名，性别，班级，</a:t>
            </a:r>
            <a:r>
              <a:rPr lang="zh-CN" altLang="en-US" b="1" dirty="0">
                <a:solidFill>
                  <a:srgbClr val="CC3300"/>
                </a:solidFill>
                <a:latin typeface="+mn-ea"/>
                <a:ea typeface="楷体_GB2312"/>
              </a:rPr>
              <a:t>职工号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）</a:t>
            </a:r>
          </a:p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课程（</a:t>
            </a:r>
            <a:r>
              <a:rPr lang="zh-CN" altLang="en-US" sz="2400" b="1" u="sng" dirty="0">
                <a:latin typeface="Comic Sans MS" panose="030F0702030302020204" pitchFamily="66" charset="0"/>
                <a:ea typeface="楷体_GB2312" pitchFamily="49" charset="-122"/>
              </a:rPr>
              <a:t>课程号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，课程名，学时，学分）</a:t>
            </a:r>
          </a:p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教师（</a:t>
            </a:r>
            <a:r>
              <a:rPr lang="zh-CN" altLang="en-US" sz="2400" b="1" u="sng" dirty="0">
                <a:latin typeface="Comic Sans MS" panose="030F0702030302020204" pitchFamily="66" charset="0"/>
                <a:ea typeface="楷体_GB2312" pitchFamily="49" charset="-122"/>
              </a:rPr>
              <a:t>职工号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，姓名，性别，职称）</a:t>
            </a:r>
            <a:endParaRPr lang="en-US" altLang="zh-CN" sz="2400" b="1" dirty="0">
              <a:latin typeface="Comic Sans MS" panose="030F0702030302020204" pitchFamily="66" charset="0"/>
              <a:ea typeface="楷体_GB2312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b="1" dirty="0">
                <a:solidFill>
                  <a:srgbClr val="FF0066"/>
                </a:solidFill>
                <a:latin typeface="Comic Sans MS" panose="030F0702030302020204" pitchFamily="66" charset="0"/>
              </a:rPr>
              <a:t>讲授</a:t>
            </a:r>
            <a:r>
              <a:rPr lang="zh-CN" altLang="en-US" b="1" dirty="0">
                <a:latin typeface="Comic Sans MS" panose="030F0702030302020204" pitchFamily="66" charset="0"/>
                <a:ea typeface="楷体_GB2312" pitchFamily="49" charset="-122"/>
              </a:rPr>
              <a:t>（</a:t>
            </a:r>
            <a:r>
              <a:rPr lang="zh-CN" altLang="en-US" b="1" u="sng" dirty="0">
                <a:latin typeface="Comic Sans MS" panose="030F0702030302020204" pitchFamily="66" charset="0"/>
                <a:ea typeface="楷体_GB2312" pitchFamily="49" charset="-122"/>
              </a:rPr>
              <a:t>职工号，课程号</a:t>
            </a:r>
            <a:r>
              <a:rPr lang="zh-CN" altLang="en-US" b="1" dirty="0">
                <a:latin typeface="Comic Sans MS" panose="030F0702030302020204" pitchFamily="66" charset="0"/>
                <a:ea typeface="楷体_GB2312" pitchFamily="49" charset="-122"/>
              </a:rPr>
              <a:t>，时间，地点）</a:t>
            </a:r>
            <a:endParaRPr lang="zh-CN" altLang="en-US" sz="2400" b="1" dirty="0"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74603-B40B-4D66-8F6E-41C870D48932}" type="slidenum">
              <a:rPr lang="en-US" altLang="zh-CN" smtClean="0"/>
              <a:t>4</a:t>
            </a:fld>
            <a:r>
              <a:rPr lang="en-US" altLang="zh-CN"/>
              <a:t>/6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1DB9C-E4E2-4F48-88C3-0087AFE307BD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476375" y="433388"/>
            <a:ext cx="11525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Comic Sans MS" panose="030F0702030302020204" pitchFamily="66" charset="0"/>
              </a:rPr>
              <a:t>学生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867400" y="433388"/>
            <a:ext cx="11525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Comic Sans MS" panose="030F0702030302020204" pitchFamily="66" charset="0"/>
              </a:rPr>
              <a:t>课程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5940425" y="2809875"/>
            <a:ext cx="11525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Comic Sans MS" panose="030F0702030302020204" pitchFamily="66" charset="0"/>
              </a:rPr>
              <a:t>教师</a:t>
            </a: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3348038" y="217488"/>
            <a:ext cx="1655762" cy="863600"/>
          </a:xfrm>
          <a:prstGeom prst="diamond">
            <a:avLst/>
          </a:prstGeom>
          <a:noFill/>
          <a:ln w="9525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 dirty="0">
                <a:solidFill>
                  <a:schemeClr val="tx2"/>
                </a:solidFill>
                <a:latin typeface="Comic Sans MS" panose="030F0702030302020204" pitchFamily="66" charset="0"/>
              </a:rPr>
              <a:t>选修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5651500" y="1370013"/>
            <a:ext cx="1655763" cy="8636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 dirty="0">
                <a:solidFill>
                  <a:srgbClr val="FF0066"/>
                </a:solidFill>
                <a:latin typeface="Comic Sans MS" panose="030F0702030302020204" pitchFamily="66" charset="0"/>
              </a:rPr>
              <a:t>讲授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258888" y="2593975"/>
            <a:ext cx="1368425" cy="649288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 dirty="0">
                <a:solidFill>
                  <a:srgbClr val="CC3300"/>
                </a:solidFill>
                <a:latin typeface="Comic Sans MS" panose="030F0702030302020204" pitchFamily="66" charset="0"/>
              </a:rPr>
              <a:t>指导</a:t>
            </a: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2627313" y="649288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5003800" y="649288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6443663" y="938213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6516688" y="223361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 flipH="1">
            <a:off x="2555875" y="2954338"/>
            <a:ext cx="3384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1979613" y="938213"/>
            <a:ext cx="0" cy="165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2771775" y="217488"/>
            <a:ext cx="576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b="1">
              <a:latin typeface="Comic Sans MS" panose="030F0702030302020204" pitchFamily="66" charset="0"/>
            </a:endParaRP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2843213" y="28892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5148263" y="28892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6443663" y="1009650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6516688" y="223361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3924300" y="2522538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1979613" y="158591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n</a:t>
            </a:r>
          </a:p>
        </p:txBody>
      </p:sp>
      <p:grpSp>
        <p:nvGrpSpPr>
          <p:cNvPr id="3" name="Group 27"/>
          <p:cNvGrpSpPr/>
          <p:nvPr/>
        </p:nvGrpSpPr>
        <p:grpSpPr bwMode="auto">
          <a:xfrm>
            <a:off x="3635375" y="1081088"/>
            <a:ext cx="1223963" cy="1081087"/>
            <a:chOff x="2290" y="935"/>
            <a:chExt cx="771" cy="681"/>
          </a:xfrm>
        </p:grpSpPr>
        <p:sp>
          <p:nvSpPr>
            <p:cNvPr id="27" name="Oval 25"/>
            <p:cNvSpPr>
              <a:spLocks noChangeArrowheads="1"/>
            </p:cNvSpPr>
            <p:nvPr/>
          </p:nvSpPr>
          <p:spPr bwMode="auto">
            <a:xfrm>
              <a:off x="2290" y="1162"/>
              <a:ext cx="771" cy="454"/>
            </a:xfrm>
            <a:prstGeom prst="ellipse">
              <a:avLst/>
            </a:prstGeom>
            <a:solidFill>
              <a:srgbClr val="DEFBFE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400" b="1">
                  <a:latin typeface="Comic Sans MS" panose="030F0702030302020204" pitchFamily="66" charset="0"/>
                </a:rPr>
                <a:t>成绩</a:t>
              </a:r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2608" y="93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7288213" y="2162176"/>
            <a:ext cx="185578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求选修</a:t>
            </a:r>
            <a:r>
              <a:rPr lang="zh-CN" altLang="en-US" dirty="0">
                <a:latin typeface="Arial" panose="020B0604020202020204"/>
              </a:rPr>
              <a:t>“</a:t>
            </a:r>
            <a:r>
              <a:rPr lang="zh-CN" altLang="en-US" dirty="0"/>
              <a:t>王敏</a:t>
            </a:r>
            <a:r>
              <a:rPr lang="zh-CN" altLang="en-US" dirty="0">
                <a:latin typeface="Arial" panose="020B0604020202020204"/>
              </a:rPr>
              <a:t>”</a:t>
            </a:r>
            <a:r>
              <a:rPr lang="zh-CN" altLang="en-US" dirty="0"/>
              <a:t>老师讲的</a:t>
            </a:r>
            <a:r>
              <a:rPr lang="zh-CN" altLang="en-US" dirty="0">
                <a:latin typeface="Arial" panose="020B0604020202020204"/>
              </a:rPr>
              <a:t>“</a:t>
            </a:r>
            <a:r>
              <a:rPr lang="zh-CN" altLang="en-US" dirty="0"/>
              <a:t>市场营销学</a:t>
            </a:r>
            <a:r>
              <a:rPr lang="zh-CN" altLang="en-US" dirty="0">
                <a:latin typeface="Arial" panose="020B0604020202020204"/>
              </a:rPr>
              <a:t>”</a:t>
            </a:r>
            <a:r>
              <a:rPr lang="zh-CN" altLang="en-US" dirty="0"/>
              <a:t>的学生的学号和姓名？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74603-B40B-4D66-8F6E-41C870D48932}" type="slidenum">
              <a:rPr lang="en-US" altLang="zh-CN" smtClean="0"/>
              <a:t>5</a:t>
            </a:fld>
            <a:r>
              <a:rPr lang="en-US" altLang="zh-CN"/>
              <a:t>/6</a:t>
            </a:r>
            <a:endParaRPr lang="en-US" altLang="zh-CN" dirty="0"/>
          </a:p>
        </p:txBody>
      </p:sp>
      <p:sp>
        <p:nvSpPr>
          <p:cNvPr id="29" name="Text Box 24"/>
          <p:cNvSpPr txBox="1">
            <a:spLocks noChangeArrowheads="1"/>
          </p:cNvSpPr>
          <p:nvPr/>
        </p:nvSpPr>
        <p:spPr bwMode="auto">
          <a:xfrm>
            <a:off x="682625" y="3469184"/>
            <a:ext cx="6337300" cy="32316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</a:rPr>
              <a:t>各实体的属性及标识符如下：</a:t>
            </a:r>
          </a:p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学生（</a:t>
            </a:r>
            <a:r>
              <a:rPr lang="zh-CN" altLang="en-US" sz="2400" b="1" u="sng" dirty="0">
                <a:latin typeface="Comic Sans MS" panose="030F0702030302020204" pitchFamily="66" charset="0"/>
                <a:ea typeface="楷体_GB2312" pitchFamily="49" charset="-122"/>
              </a:rPr>
              <a:t>学号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，姓名，性别，班级，</a:t>
            </a:r>
            <a:r>
              <a:rPr lang="zh-CN" altLang="en-US" b="1" dirty="0">
                <a:solidFill>
                  <a:srgbClr val="CC3300"/>
                </a:solidFill>
                <a:latin typeface="+mn-ea"/>
                <a:ea typeface="楷体_GB2312"/>
              </a:rPr>
              <a:t>职工号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）</a:t>
            </a:r>
          </a:p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课程（</a:t>
            </a:r>
            <a:r>
              <a:rPr lang="zh-CN" altLang="en-US" sz="2400" b="1" u="sng" dirty="0">
                <a:latin typeface="Comic Sans MS" panose="030F0702030302020204" pitchFamily="66" charset="0"/>
                <a:ea typeface="楷体_GB2312" pitchFamily="49" charset="-122"/>
              </a:rPr>
              <a:t>课程号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，课程名，学时，学分）</a:t>
            </a:r>
          </a:p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教师（</a:t>
            </a:r>
            <a:r>
              <a:rPr lang="zh-CN" altLang="en-US" sz="2400" b="1" u="sng" dirty="0">
                <a:latin typeface="Comic Sans MS" panose="030F0702030302020204" pitchFamily="66" charset="0"/>
                <a:ea typeface="楷体_GB2312" pitchFamily="49" charset="-122"/>
              </a:rPr>
              <a:t>职工号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，姓名，性别，职称）</a:t>
            </a:r>
            <a:endParaRPr lang="en-US" altLang="zh-CN" sz="2400" b="1" dirty="0">
              <a:latin typeface="Comic Sans MS" panose="030F0702030302020204" pitchFamily="66" charset="0"/>
              <a:ea typeface="楷体_GB2312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b="1" dirty="0">
                <a:solidFill>
                  <a:srgbClr val="FF0066"/>
                </a:solidFill>
                <a:latin typeface="Comic Sans MS" panose="030F0702030302020204" pitchFamily="66" charset="0"/>
              </a:rPr>
              <a:t>讲授</a:t>
            </a:r>
            <a:r>
              <a:rPr lang="zh-CN" altLang="en-US" b="1" dirty="0">
                <a:latin typeface="Comic Sans MS" panose="030F0702030302020204" pitchFamily="66" charset="0"/>
                <a:ea typeface="楷体_GB2312" pitchFamily="49" charset="-122"/>
              </a:rPr>
              <a:t>（</a:t>
            </a:r>
            <a:r>
              <a:rPr lang="zh-CN" altLang="en-US" b="1" u="sng" dirty="0">
                <a:latin typeface="Comic Sans MS" panose="030F0702030302020204" pitchFamily="66" charset="0"/>
                <a:ea typeface="楷体_GB2312" pitchFamily="49" charset="-122"/>
              </a:rPr>
              <a:t>职工号，课程号</a:t>
            </a:r>
            <a:r>
              <a:rPr lang="zh-CN" altLang="en-US" b="1" dirty="0">
                <a:latin typeface="Comic Sans MS" panose="030F0702030302020204" pitchFamily="66" charset="0"/>
                <a:ea typeface="楷体_GB2312" pitchFamily="49" charset="-122"/>
              </a:rPr>
              <a:t>，时间，地点）</a:t>
            </a:r>
            <a:endParaRPr lang="en-US" altLang="zh-CN" b="1" dirty="0">
              <a:latin typeface="Comic Sans MS" panose="030F0702030302020204" pitchFamily="66" charset="0"/>
              <a:ea typeface="楷体_GB2312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Comic Sans MS" panose="030F0702030302020204" pitchFamily="66" charset="0"/>
                <a:ea typeface="楷体_GB2312" pitchFamily="49" charset="-122"/>
              </a:rPr>
              <a:t>选修</a:t>
            </a:r>
            <a:r>
              <a:rPr lang="zh-CN" altLang="en-US" b="1" dirty="0">
                <a:latin typeface="Comic Sans MS" panose="030F0702030302020204" pitchFamily="66" charset="0"/>
                <a:ea typeface="楷体_GB2312" pitchFamily="49" charset="-122"/>
              </a:rPr>
              <a:t>（</a:t>
            </a:r>
            <a:r>
              <a:rPr lang="zh-CN" altLang="en-US" b="1" u="sng" dirty="0">
                <a:latin typeface="Comic Sans MS" panose="030F0702030302020204" pitchFamily="66" charset="0"/>
                <a:ea typeface="楷体_GB2312" pitchFamily="49" charset="-122"/>
              </a:rPr>
              <a:t>学号，课程号</a:t>
            </a:r>
            <a:r>
              <a:rPr lang="zh-CN" altLang="en-US" b="1" dirty="0">
                <a:latin typeface="Comic Sans MS" panose="030F0702030302020204" pitchFamily="66" charset="0"/>
                <a:ea typeface="楷体_GB2312" pitchFamily="49" charset="-122"/>
              </a:rPr>
              <a:t>，成绩）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8A739-CA6A-49A0-93AC-202B73202F12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476375" y="433388"/>
            <a:ext cx="11525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Comic Sans MS" panose="030F0702030302020204" pitchFamily="66" charset="0"/>
              </a:rPr>
              <a:t>学生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867400" y="433388"/>
            <a:ext cx="11525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Comic Sans MS" panose="030F0702030302020204" pitchFamily="66" charset="0"/>
              </a:rPr>
              <a:t>课程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5940425" y="2809875"/>
            <a:ext cx="11525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Comic Sans MS" panose="030F0702030302020204" pitchFamily="66" charset="0"/>
              </a:rPr>
              <a:t>教师</a:t>
            </a: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3348038" y="217488"/>
            <a:ext cx="1655762" cy="863600"/>
          </a:xfrm>
          <a:prstGeom prst="diamond">
            <a:avLst/>
          </a:prstGeom>
          <a:noFill/>
          <a:ln w="9525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 dirty="0">
                <a:solidFill>
                  <a:schemeClr val="tx2"/>
                </a:solidFill>
                <a:latin typeface="Comic Sans MS" panose="030F0702030302020204" pitchFamily="66" charset="0"/>
              </a:rPr>
              <a:t>选修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5651500" y="1370013"/>
            <a:ext cx="1655763" cy="8636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 dirty="0">
                <a:solidFill>
                  <a:srgbClr val="FF0066"/>
                </a:solidFill>
                <a:latin typeface="Comic Sans MS" panose="030F0702030302020204" pitchFamily="66" charset="0"/>
              </a:rPr>
              <a:t>讲授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258888" y="2593975"/>
            <a:ext cx="1368425" cy="649288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400" b="1" dirty="0">
                <a:solidFill>
                  <a:srgbClr val="CC3300"/>
                </a:solidFill>
                <a:latin typeface="Comic Sans MS" panose="030F0702030302020204" pitchFamily="66" charset="0"/>
              </a:rPr>
              <a:t>指导</a:t>
            </a: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2627313" y="649288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5003800" y="649288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6443663" y="938213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6516688" y="223361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 flipH="1">
            <a:off x="2555875" y="2954338"/>
            <a:ext cx="3384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1979613" y="938213"/>
            <a:ext cx="0" cy="165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2771775" y="217488"/>
            <a:ext cx="576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b="1">
              <a:latin typeface="Comic Sans MS" panose="030F0702030302020204" pitchFamily="66" charset="0"/>
            </a:endParaRP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2843213" y="28892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5148263" y="28892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6443663" y="1009650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6516688" y="223361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3924300" y="2522538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1979613" y="158591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n</a:t>
            </a:r>
          </a:p>
        </p:txBody>
      </p:sp>
      <p:grpSp>
        <p:nvGrpSpPr>
          <p:cNvPr id="3" name="Group 27"/>
          <p:cNvGrpSpPr/>
          <p:nvPr/>
        </p:nvGrpSpPr>
        <p:grpSpPr bwMode="auto">
          <a:xfrm>
            <a:off x="3635375" y="1081088"/>
            <a:ext cx="1223963" cy="1081087"/>
            <a:chOff x="2290" y="935"/>
            <a:chExt cx="771" cy="681"/>
          </a:xfrm>
        </p:grpSpPr>
        <p:sp>
          <p:nvSpPr>
            <p:cNvPr id="27" name="Oval 25"/>
            <p:cNvSpPr>
              <a:spLocks noChangeArrowheads="1"/>
            </p:cNvSpPr>
            <p:nvPr/>
          </p:nvSpPr>
          <p:spPr bwMode="auto">
            <a:xfrm>
              <a:off x="2290" y="1162"/>
              <a:ext cx="771" cy="454"/>
            </a:xfrm>
            <a:prstGeom prst="ellipse">
              <a:avLst/>
            </a:prstGeom>
            <a:solidFill>
              <a:srgbClr val="DEFBFE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400" b="1">
                  <a:latin typeface="Comic Sans MS" panose="030F0702030302020204" pitchFamily="66" charset="0"/>
                </a:rPr>
                <a:t>成绩</a:t>
              </a:r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2608" y="93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890379" y="510540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不能完成查询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</a:t>
            </a:r>
            <a:r>
              <a:rPr lang="zh-CN" altLang="en-US"/>
              <a:t>数据库系统概论</a:t>
            </a:r>
            <a:r>
              <a:rPr lang="en-US" altLang="zh-CN"/>
              <a:t>》-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74603-B40B-4D66-8F6E-41C870D48932}" type="slidenum">
              <a:rPr lang="en-US" altLang="zh-CN" smtClean="0"/>
              <a:t>6</a:t>
            </a:fld>
            <a:r>
              <a:rPr lang="en-US" altLang="zh-CN"/>
              <a:t>/6</a:t>
            </a:r>
            <a:endParaRPr lang="en-US" altLang="zh-CN" dirty="0"/>
          </a:p>
        </p:txBody>
      </p:sp>
      <p:sp>
        <p:nvSpPr>
          <p:cNvPr id="29" name="Text Box 24"/>
          <p:cNvSpPr txBox="1">
            <a:spLocks noChangeArrowheads="1"/>
          </p:cNvSpPr>
          <p:nvPr/>
        </p:nvSpPr>
        <p:spPr bwMode="auto">
          <a:xfrm>
            <a:off x="579235" y="3499097"/>
            <a:ext cx="6337300" cy="32316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b="1" dirty="0">
                <a:latin typeface="Comic Sans MS" panose="030F0702030302020204" pitchFamily="66" charset="0"/>
              </a:rPr>
              <a:t>此系统的一组满足</a:t>
            </a:r>
            <a:r>
              <a:rPr lang="en-US" altLang="zh-CN" b="1" dirty="0">
                <a:latin typeface="Comic Sans MS" panose="030F0702030302020204" pitchFamily="66" charset="0"/>
              </a:rPr>
              <a:t>3NF</a:t>
            </a:r>
            <a:r>
              <a:rPr lang="zh-CN" altLang="en-US" b="1" dirty="0">
                <a:latin typeface="Comic Sans MS" panose="030F0702030302020204" pitchFamily="66" charset="0"/>
              </a:rPr>
              <a:t>的关系模式：</a:t>
            </a:r>
            <a:endParaRPr lang="zh-CN" altLang="en-US" sz="2400" b="1" dirty="0">
              <a:latin typeface="Comic Sans MS" panose="030F0702030302020204" pitchFamily="66" charset="0"/>
            </a:endParaRPr>
          </a:p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学生（</a:t>
            </a:r>
            <a:r>
              <a:rPr lang="zh-CN" altLang="en-US" sz="2400" b="1" u="sng" dirty="0">
                <a:latin typeface="Comic Sans MS" panose="030F0702030302020204" pitchFamily="66" charset="0"/>
                <a:ea typeface="楷体_GB2312" pitchFamily="49" charset="-122"/>
              </a:rPr>
              <a:t>学号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，姓名，性别，班级，</a:t>
            </a:r>
            <a:r>
              <a:rPr lang="zh-CN" altLang="en-US" b="1" dirty="0">
                <a:solidFill>
                  <a:srgbClr val="CC3300"/>
                </a:solidFill>
                <a:latin typeface="+mn-ea"/>
                <a:ea typeface="楷体_GB2312"/>
              </a:rPr>
              <a:t>职工号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）</a:t>
            </a:r>
          </a:p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课程（</a:t>
            </a:r>
            <a:r>
              <a:rPr lang="zh-CN" altLang="en-US" sz="2400" b="1" u="sng" dirty="0">
                <a:latin typeface="Comic Sans MS" panose="030F0702030302020204" pitchFamily="66" charset="0"/>
                <a:ea typeface="楷体_GB2312" pitchFamily="49" charset="-122"/>
              </a:rPr>
              <a:t>课程号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，课程名，学时，学分）</a:t>
            </a:r>
          </a:p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教师（</a:t>
            </a:r>
            <a:r>
              <a:rPr lang="zh-CN" altLang="en-US" sz="2400" b="1" u="sng" dirty="0">
                <a:latin typeface="Comic Sans MS" panose="030F0702030302020204" pitchFamily="66" charset="0"/>
                <a:ea typeface="楷体_GB2312" pitchFamily="49" charset="-122"/>
              </a:rPr>
              <a:t>职工号</a:t>
            </a:r>
            <a:r>
              <a:rPr lang="zh-CN" altLang="en-US" sz="2400" b="1" dirty="0">
                <a:latin typeface="Comic Sans MS" panose="030F0702030302020204" pitchFamily="66" charset="0"/>
                <a:ea typeface="楷体_GB2312" pitchFamily="49" charset="-122"/>
              </a:rPr>
              <a:t>，姓名，性别，职称）</a:t>
            </a:r>
            <a:endParaRPr lang="en-US" altLang="zh-CN" sz="2400" b="1" dirty="0">
              <a:latin typeface="Comic Sans MS" panose="030F0702030302020204" pitchFamily="66" charset="0"/>
              <a:ea typeface="楷体_GB2312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b="1" dirty="0">
                <a:solidFill>
                  <a:srgbClr val="FF0066"/>
                </a:solidFill>
                <a:latin typeface="Comic Sans MS" panose="030F0702030302020204" pitchFamily="66" charset="0"/>
              </a:rPr>
              <a:t>讲授</a:t>
            </a:r>
            <a:r>
              <a:rPr lang="zh-CN" altLang="en-US" b="1" dirty="0">
                <a:latin typeface="Comic Sans MS" panose="030F0702030302020204" pitchFamily="66" charset="0"/>
                <a:ea typeface="楷体_GB2312" pitchFamily="49" charset="-122"/>
              </a:rPr>
              <a:t>（</a:t>
            </a:r>
            <a:r>
              <a:rPr lang="zh-CN" altLang="en-US" b="1" u="sng" dirty="0">
                <a:latin typeface="Comic Sans MS" panose="030F0702030302020204" pitchFamily="66" charset="0"/>
                <a:ea typeface="楷体_GB2312" pitchFamily="49" charset="-122"/>
              </a:rPr>
              <a:t>职工号，课程号</a:t>
            </a:r>
            <a:r>
              <a:rPr lang="zh-CN" altLang="en-US" b="1" dirty="0">
                <a:latin typeface="Comic Sans MS" panose="030F0702030302020204" pitchFamily="66" charset="0"/>
                <a:ea typeface="楷体_GB2312" pitchFamily="49" charset="-122"/>
              </a:rPr>
              <a:t>，时间，地点）</a:t>
            </a:r>
            <a:endParaRPr lang="en-US" altLang="zh-CN" b="1" dirty="0">
              <a:latin typeface="Comic Sans MS" panose="030F0702030302020204" pitchFamily="66" charset="0"/>
              <a:ea typeface="楷体_GB2312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Comic Sans MS" panose="030F0702030302020204" pitchFamily="66" charset="0"/>
                <a:ea typeface="楷体_GB2312" pitchFamily="49" charset="-122"/>
              </a:rPr>
              <a:t>选修</a:t>
            </a:r>
            <a:r>
              <a:rPr lang="zh-CN" altLang="en-US" b="1" dirty="0">
                <a:latin typeface="Comic Sans MS" panose="030F0702030302020204" pitchFamily="66" charset="0"/>
                <a:ea typeface="楷体_GB2312" pitchFamily="49" charset="-122"/>
              </a:rPr>
              <a:t>（</a:t>
            </a:r>
            <a:r>
              <a:rPr lang="zh-CN" altLang="en-US" b="1" u="sng" dirty="0">
                <a:latin typeface="Comic Sans MS" panose="030F0702030302020204" pitchFamily="66" charset="0"/>
                <a:ea typeface="楷体_GB2312" pitchFamily="49" charset="-122"/>
              </a:rPr>
              <a:t>学号，课程号</a:t>
            </a:r>
            <a:r>
              <a:rPr lang="zh-CN" altLang="en-US" b="1" dirty="0">
                <a:latin typeface="Comic Sans MS" panose="030F0702030302020204" pitchFamily="66" charset="0"/>
                <a:ea typeface="楷体_GB2312" pitchFamily="49" charset="-122"/>
              </a:rPr>
              <a:t>，成绩）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  <a:cs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ld2009</Template>
  <TotalTime>6</TotalTime>
  <Words>532</Words>
  <Application>Microsoft Office PowerPoint</Application>
  <PresentationFormat>全屏显示(4:3)</PresentationFormat>
  <Paragraphs>117</Paragraphs>
  <Slides>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Comic Sans MS</vt:lpstr>
      <vt:lpstr>Tahoma</vt:lpstr>
      <vt:lpstr>Times New Roman</vt:lpstr>
      <vt:lpstr>Wingdings</vt:lpstr>
      <vt:lpstr>Blends</vt:lpstr>
      <vt:lpstr>Clip</vt:lpstr>
      <vt:lpstr>第二次作业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lei duan</dc:creator>
  <cp:lastModifiedBy>Administrator</cp:lastModifiedBy>
  <cp:revision>850</cp:revision>
  <dcterms:created xsi:type="dcterms:W3CDTF">2009-08-07T14:32:00Z</dcterms:created>
  <dcterms:modified xsi:type="dcterms:W3CDTF">2025-12-24T09:15:05Z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2052-11.8.2.10393</vt:lpwstr>
  </property>
</Properties>
</file>