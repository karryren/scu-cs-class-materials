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Lst>
  <p:notesMasterIdLst>
    <p:notesMasterId r:id="rId165"/>
  </p:notesMasterIdLst>
  <p:sldIdLst>
    <p:sldId id="258" r:id="rId2"/>
    <p:sldId id="259" r:id="rId3"/>
    <p:sldId id="317" r:id="rId4"/>
    <p:sldId id="319" r:id="rId5"/>
    <p:sldId id="403" r:id="rId6"/>
    <p:sldId id="318" r:id="rId7"/>
    <p:sldId id="320" r:id="rId8"/>
    <p:sldId id="321" r:id="rId9"/>
    <p:sldId id="322" r:id="rId10"/>
    <p:sldId id="323" r:id="rId11"/>
    <p:sldId id="324" r:id="rId12"/>
    <p:sldId id="562" r:id="rId13"/>
    <p:sldId id="325" r:id="rId14"/>
    <p:sldId id="393" r:id="rId15"/>
    <p:sldId id="326" r:id="rId16"/>
    <p:sldId id="564" r:id="rId17"/>
    <p:sldId id="443" r:id="rId18"/>
    <p:sldId id="327" r:id="rId19"/>
    <p:sldId id="444" r:id="rId20"/>
    <p:sldId id="329" r:id="rId21"/>
    <p:sldId id="445" r:id="rId22"/>
    <p:sldId id="446" r:id="rId23"/>
    <p:sldId id="447" r:id="rId24"/>
    <p:sldId id="328" r:id="rId25"/>
    <p:sldId id="330" r:id="rId26"/>
    <p:sldId id="397" r:id="rId27"/>
    <p:sldId id="567" r:id="rId28"/>
    <p:sldId id="566" r:id="rId29"/>
    <p:sldId id="332" r:id="rId30"/>
    <p:sldId id="333" r:id="rId31"/>
    <p:sldId id="482" r:id="rId32"/>
    <p:sldId id="331" r:id="rId33"/>
    <p:sldId id="398" r:id="rId34"/>
    <p:sldId id="483" r:id="rId35"/>
    <p:sldId id="484" r:id="rId36"/>
    <p:sldId id="485" r:id="rId37"/>
    <p:sldId id="486" r:id="rId38"/>
    <p:sldId id="487" r:id="rId39"/>
    <p:sldId id="488" r:id="rId40"/>
    <p:sldId id="489" r:id="rId41"/>
    <p:sldId id="490" r:id="rId42"/>
    <p:sldId id="491" r:id="rId43"/>
    <p:sldId id="492" r:id="rId44"/>
    <p:sldId id="493" r:id="rId45"/>
    <p:sldId id="494" r:id="rId46"/>
    <p:sldId id="495" r:id="rId47"/>
    <p:sldId id="496" r:id="rId48"/>
    <p:sldId id="497" r:id="rId49"/>
    <p:sldId id="498" r:id="rId50"/>
    <p:sldId id="499" r:id="rId51"/>
    <p:sldId id="500" r:id="rId52"/>
    <p:sldId id="501" r:id="rId53"/>
    <p:sldId id="502" r:id="rId54"/>
    <p:sldId id="503" r:id="rId55"/>
    <p:sldId id="504" r:id="rId56"/>
    <p:sldId id="505" r:id="rId57"/>
    <p:sldId id="506" r:id="rId58"/>
    <p:sldId id="586" r:id="rId59"/>
    <p:sldId id="508" r:id="rId60"/>
    <p:sldId id="568" r:id="rId61"/>
    <p:sldId id="509" r:id="rId62"/>
    <p:sldId id="510" r:id="rId63"/>
    <p:sldId id="511" r:id="rId64"/>
    <p:sldId id="512" r:id="rId65"/>
    <p:sldId id="513" r:id="rId66"/>
    <p:sldId id="514" r:id="rId67"/>
    <p:sldId id="515" r:id="rId68"/>
    <p:sldId id="516" r:id="rId69"/>
    <p:sldId id="517" r:id="rId70"/>
    <p:sldId id="518" r:id="rId71"/>
    <p:sldId id="519" r:id="rId72"/>
    <p:sldId id="520" r:id="rId73"/>
    <p:sldId id="521" r:id="rId74"/>
    <p:sldId id="522" r:id="rId75"/>
    <p:sldId id="523" r:id="rId76"/>
    <p:sldId id="524" r:id="rId77"/>
    <p:sldId id="525" r:id="rId78"/>
    <p:sldId id="526" r:id="rId79"/>
    <p:sldId id="527" r:id="rId80"/>
    <p:sldId id="528" r:id="rId81"/>
    <p:sldId id="529" r:id="rId82"/>
    <p:sldId id="530" r:id="rId83"/>
    <p:sldId id="531" r:id="rId84"/>
    <p:sldId id="532" r:id="rId85"/>
    <p:sldId id="533" r:id="rId86"/>
    <p:sldId id="534" r:id="rId87"/>
    <p:sldId id="535" r:id="rId88"/>
    <p:sldId id="536" r:id="rId89"/>
    <p:sldId id="537" r:id="rId90"/>
    <p:sldId id="538" r:id="rId91"/>
    <p:sldId id="539" r:id="rId92"/>
    <p:sldId id="540" r:id="rId93"/>
    <p:sldId id="541" r:id="rId94"/>
    <p:sldId id="542" r:id="rId95"/>
    <p:sldId id="543" r:id="rId96"/>
    <p:sldId id="544" r:id="rId97"/>
    <p:sldId id="545" r:id="rId98"/>
    <p:sldId id="546" r:id="rId99"/>
    <p:sldId id="547" r:id="rId100"/>
    <p:sldId id="569" r:id="rId101"/>
    <p:sldId id="572" r:id="rId102"/>
    <p:sldId id="571" r:id="rId103"/>
    <p:sldId id="551" r:id="rId104"/>
    <p:sldId id="549" r:id="rId105"/>
    <p:sldId id="573" r:id="rId106"/>
    <p:sldId id="550" r:id="rId107"/>
    <p:sldId id="575" r:id="rId108"/>
    <p:sldId id="574" r:id="rId109"/>
    <p:sldId id="576" r:id="rId110"/>
    <p:sldId id="553" r:id="rId111"/>
    <p:sldId id="577" r:id="rId112"/>
    <p:sldId id="554" r:id="rId113"/>
    <p:sldId id="555" r:id="rId114"/>
    <p:sldId id="556" r:id="rId115"/>
    <p:sldId id="478" r:id="rId116"/>
    <p:sldId id="481" r:id="rId117"/>
    <p:sldId id="373" r:id="rId118"/>
    <p:sldId id="374" r:id="rId119"/>
    <p:sldId id="375" r:id="rId120"/>
    <p:sldId id="376" r:id="rId121"/>
    <p:sldId id="423" r:id="rId122"/>
    <p:sldId id="578" r:id="rId123"/>
    <p:sldId id="378" r:id="rId124"/>
    <p:sldId id="580" r:id="rId125"/>
    <p:sldId id="377" r:id="rId126"/>
    <p:sldId id="585" r:id="rId127"/>
    <p:sldId id="396" r:id="rId128"/>
    <p:sldId id="432" r:id="rId129"/>
    <p:sldId id="433" r:id="rId130"/>
    <p:sldId id="579" r:id="rId131"/>
    <p:sldId id="379" r:id="rId132"/>
    <p:sldId id="434" r:id="rId133"/>
    <p:sldId id="435" r:id="rId134"/>
    <p:sldId id="436" r:id="rId135"/>
    <p:sldId id="395" r:id="rId136"/>
    <p:sldId id="381" r:id="rId137"/>
    <p:sldId id="382" r:id="rId138"/>
    <p:sldId id="581" r:id="rId139"/>
    <p:sldId id="383" r:id="rId140"/>
    <p:sldId id="437" r:id="rId141"/>
    <p:sldId id="439" r:id="rId142"/>
    <p:sldId id="587" r:id="rId143"/>
    <p:sldId id="384" r:id="rId144"/>
    <p:sldId id="426" r:id="rId145"/>
    <p:sldId id="385" r:id="rId146"/>
    <p:sldId id="412" r:id="rId147"/>
    <p:sldId id="415" r:id="rId148"/>
    <p:sldId id="416" r:id="rId149"/>
    <p:sldId id="418" r:id="rId150"/>
    <p:sldId id="419" r:id="rId151"/>
    <p:sldId id="386" r:id="rId152"/>
    <p:sldId id="582" r:id="rId153"/>
    <p:sldId id="387" r:id="rId154"/>
    <p:sldId id="583" r:id="rId155"/>
    <p:sldId id="438" r:id="rId156"/>
    <p:sldId id="388" r:id="rId157"/>
    <p:sldId id="389" r:id="rId158"/>
    <p:sldId id="427" r:id="rId159"/>
    <p:sldId id="429" r:id="rId160"/>
    <p:sldId id="584" r:id="rId161"/>
    <p:sldId id="440" r:id="rId162"/>
    <p:sldId id="441" r:id="rId163"/>
    <p:sldId id="260" r:id="rId164"/>
  </p:sldIdLst>
  <p:sldSz cx="9144000" cy="6858000" type="screen4x3"/>
  <p:notesSz cx="6858000" cy="9144000"/>
  <p:defaultTextStyle>
    <a:defPPr>
      <a:defRPr lang="en-US"/>
    </a:defPPr>
    <a:lvl1pPr algn="ctr" rtl="0" fontAlgn="base">
      <a:spcBef>
        <a:spcPct val="0"/>
      </a:spcBef>
      <a:spcAft>
        <a:spcPct val="0"/>
      </a:spcAft>
      <a:defRPr kumimoji="1" sz="2400" kern="1200">
        <a:solidFill>
          <a:schemeClr val="tx1"/>
        </a:solidFill>
        <a:latin typeface="Tahoma" pitchFamily="34" charset="0"/>
        <a:ea typeface="宋体" pitchFamily="2" charset="-122"/>
        <a:cs typeface="Arial" charset="0"/>
      </a:defRPr>
    </a:lvl1pPr>
    <a:lvl2pPr marL="457200" algn="ctr" rtl="0" fontAlgn="base">
      <a:spcBef>
        <a:spcPct val="0"/>
      </a:spcBef>
      <a:spcAft>
        <a:spcPct val="0"/>
      </a:spcAft>
      <a:defRPr kumimoji="1" sz="2400" kern="1200">
        <a:solidFill>
          <a:schemeClr val="tx1"/>
        </a:solidFill>
        <a:latin typeface="Tahoma" pitchFamily="34" charset="0"/>
        <a:ea typeface="宋体" pitchFamily="2" charset="-122"/>
        <a:cs typeface="Arial" charset="0"/>
      </a:defRPr>
    </a:lvl2pPr>
    <a:lvl3pPr marL="914400" algn="ctr" rtl="0" fontAlgn="base">
      <a:spcBef>
        <a:spcPct val="0"/>
      </a:spcBef>
      <a:spcAft>
        <a:spcPct val="0"/>
      </a:spcAft>
      <a:defRPr kumimoji="1" sz="2400" kern="1200">
        <a:solidFill>
          <a:schemeClr val="tx1"/>
        </a:solidFill>
        <a:latin typeface="Tahoma" pitchFamily="34" charset="0"/>
        <a:ea typeface="宋体" pitchFamily="2" charset="-122"/>
        <a:cs typeface="Arial" charset="0"/>
      </a:defRPr>
    </a:lvl3pPr>
    <a:lvl4pPr marL="1371600" algn="ctr" rtl="0" fontAlgn="base">
      <a:spcBef>
        <a:spcPct val="0"/>
      </a:spcBef>
      <a:spcAft>
        <a:spcPct val="0"/>
      </a:spcAft>
      <a:defRPr kumimoji="1" sz="2400" kern="1200">
        <a:solidFill>
          <a:schemeClr val="tx1"/>
        </a:solidFill>
        <a:latin typeface="Tahoma" pitchFamily="34" charset="0"/>
        <a:ea typeface="宋体" pitchFamily="2" charset="-122"/>
        <a:cs typeface="Arial" charset="0"/>
      </a:defRPr>
    </a:lvl4pPr>
    <a:lvl5pPr marL="1828800" algn="ctr" rtl="0" fontAlgn="base">
      <a:spcBef>
        <a:spcPct val="0"/>
      </a:spcBef>
      <a:spcAft>
        <a:spcPct val="0"/>
      </a:spcAft>
      <a:defRPr kumimoji="1" sz="2400" kern="1200">
        <a:solidFill>
          <a:schemeClr val="tx1"/>
        </a:solidFill>
        <a:latin typeface="Tahoma" pitchFamily="34" charset="0"/>
        <a:ea typeface="宋体" pitchFamily="2" charset="-122"/>
        <a:cs typeface="Arial" charset="0"/>
      </a:defRPr>
    </a:lvl5pPr>
    <a:lvl6pPr marL="2286000" algn="l" defTabSz="914400" rtl="0" eaLnBrk="1" latinLnBrk="0" hangingPunct="1">
      <a:defRPr kumimoji="1" sz="2400" kern="1200">
        <a:solidFill>
          <a:schemeClr val="tx1"/>
        </a:solidFill>
        <a:latin typeface="Tahoma" pitchFamily="34" charset="0"/>
        <a:ea typeface="宋体" pitchFamily="2" charset="-122"/>
        <a:cs typeface="Arial" charset="0"/>
      </a:defRPr>
    </a:lvl6pPr>
    <a:lvl7pPr marL="2743200" algn="l" defTabSz="914400" rtl="0" eaLnBrk="1" latinLnBrk="0" hangingPunct="1">
      <a:defRPr kumimoji="1" sz="2400" kern="1200">
        <a:solidFill>
          <a:schemeClr val="tx1"/>
        </a:solidFill>
        <a:latin typeface="Tahoma" pitchFamily="34" charset="0"/>
        <a:ea typeface="宋体" pitchFamily="2" charset="-122"/>
        <a:cs typeface="Arial" charset="0"/>
      </a:defRPr>
    </a:lvl7pPr>
    <a:lvl8pPr marL="3200400" algn="l" defTabSz="914400" rtl="0" eaLnBrk="1" latinLnBrk="0" hangingPunct="1">
      <a:defRPr kumimoji="1" sz="2400" kern="1200">
        <a:solidFill>
          <a:schemeClr val="tx1"/>
        </a:solidFill>
        <a:latin typeface="Tahoma" pitchFamily="34" charset="0"/>
        <a:ea typeface="宋体" pitchFamily="2" charset="-122"/>
        <a:cs typeface="Arial" charset="0"/>
      </a:defRPr>
    </a:lvl8pPr>
    <a:lvl9pPr marL="3657600" algn="l" defTabSz="914400" rtl="0" eaLnBrk="1" latinLnBrk="0" hangingPunct="1">
      <a:defRPr kumimoji="1" sz="2400" kern="1200">
        <a:solidFill>
          <a:schemeClr val="tx1"/>
        </a:solidFill>
        <a:latin typeface="Tahoma" pitchFamily="34" charset="0"/>
        <a:ea typeface="宋体" pitchFamily="2" charset="-122"/>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339933"/>
    <a:srgbClr val="800080"/>
    <a:srgbClr val="006600"/>
    <a:srgbClr val="003300"/>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7130" autoAdjust="0"/>
  </p:normalViewPr>
  <p:slideViewPr>
    <p:cSldViewPr>
      <p:cViewPr varScale="1">
        <p:scale>
          <a:sx n="100" d="100"/>
          <a:sy n="100" d="100"/>
        </p:scale>
        <p:origin x="486"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slide" Target="slides/slide163.xml"/><Relationship Id="rId16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kumimoji="0" sz="1200">
                <a:latin typeface="Arial" charset="0"/>
              </a:defRPr>
            </a:lvl1pPr>
          </a:lstStyle>
          <a:p>
            <a:endParaRPr lang="zh-CN" altLang="en-US"/>
          </a:p>
        </p:txBody>
      </p:sp>
      <p:sp>
        <p:nvSpPr>
          <p:cNvPr id="1433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kumimoji="0" sz="1200">
                <a:latin typeface="Arial" charset="0"/>
              </a:defRPr>
            </a:lvl1pPr>
          </a:lstStyle>
          <a:p>
            <a:endParaRPr lang="en-US" altLang="zh-CN"/>
          </a:p>
        </p:txBody>
      </p:sp>
      <p:sp>
        <p:nvSpPr>
          <p:cNvPr id="143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434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434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kumimoji="0" sz="1200">
                <a:latin typeface="Arial" charset="0"/>
              </a:defRPr>
            </a:lvl1pPr>
          </a:lstStyle>
          <a:p>
            <a:endParaRPr lang="en-US" altLang="zh-CN"/>
          </a:p>
        </p:txBody>
      </p:sp>
      <p:sp>
        <p:nvSpPr>
          <p:cNvPr id="1434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kumimoji="0" sz="1200">
                <a:latin typeface="Arial" charset="0"/>
              </a:defRPr>
            </a:lvl1pPr>
          </a:lstStyle>
          <a:p>
            <a:fld id="{8D2A0377-D3B8-4BEF-997F-B4BEAF2D68FE}" type="slidenum">
              <a:rPr lang="zh-CN" altLang="en-US"/>
              <a:pPr/>
              <a:t>‹#›</a:t>
            </a:fld>
            <a:endParaRPr lang="en-US" altLang="zh-CN"/>
          </a:p>
        </p:txBody>
      </p:sp>
    </p:spTree>
    <p:extLst>
      <p:ext uri="{BB962C8B-B14F-4D97-AF65-F5344CB8AC3E}">
        <p14:creationId xmlns:p14="http://schemas.microsoft.com/office/powerpoint/2010/main" val="4170027235"/>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Arial" charset="0"/>
      </a:defRPr>
    </a:lvl1pPr>
    <a:lvl2pPr marL="457200" algn="l" rtl="0" fontAlgn="base">
      <a:spcBef>
        <a:spcPct val="30000"/>
      </a:spcBef>
      <a:spcAft>
        <a:spcPct val="0"/>
      </a:spcAft>
      <a:defRPr sz="1200" kern="1200">
        <a:solidFill>
          <a:schemeClr val="tx1"/>
        </a:solidFill>
        <a:latin typeface="Arial" charset="0"/>
        <a:ea typeface="+mn-ea"/>
        <a:cs typeface="Arial" charset="0"/>
      </a:defRPr>
    </a:lvl2pPr>
    <a:lvl3pPr marL="914400" algn="l" rtl="0" fontAlgn="base">
      <a:spcBef>
        <a:spcPct val="30000"/>
      </a:spcBef>
      <a:spcAft>
        <a:spcPct val="0"/>
      </a:spcAft>
      <a:defRPr sz="1200" kern="1200">
        <a:solidFill>
          <a:schemeClr val="tx1"/>
        </a:solidFill>
        <a:latin typeface="Arial" charset="0"/>
        <a:ea typeface="+mn-ea"/>
        <a:cs typeface="Arial" charset="0"/>
      </a:defRPr>
    </a:lvl3pPr>
    <a:lvl4pPr marL="1371600" algn="l" rtl="0" fontAlgn="base">
      <a:spcBef>
        <a:spcPct val="30000"/>
      </a:spcBef>
      <a:spcAft>
        <a:spcPct val="0"/>
      </a:spcAft>
      <a:defRPr sz="1200" kern="1200">
        <a:solidFill>
          <a:schemeClr val="tx1"/>
        </a:solidFill>
        <a:latin typeface="Arial" charset="0"/>
        <a:ea typeface="+mn-ea"/>
        <a:cs typeface="Arial" charset="0"/>
      </a:defRPr>
    </a:lvl4pPr>
    <a:lvl5pPr marL="1828800" algn="l" rtl="0" fontAlgn="base">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1</a:t>
            </a:fld>
            <a:endParaRPr lang="en-US" altLang="zh-CN"/>
          </a:p>
        </p:txBody>
      </p:sp>
    </p:spTree>
    <p:extLst>
      <p:ext uri="{BB962C8B-B14F-4D97-AF65-F5344CB8AC3E}">
        <p14:creationId xmlns:p14="http://schemas.microsoft.com/office/powerpoint/2010/main" val="26234713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7</a:t>
            </a:fld>
            <a:endParaRPr lang="en-US" altLang="zh-CN"/>
          </a:p>
        </p:txBody>
      </p:sp>
    </p:spTree>
    <p:extLst>
      <p:ext uri="{BB962C8B-B14F-4D97-AF65-F5344CB8AC3E}">
        <p14:creationId xmlns:p14="http://schemas.microsoft.com/office/powerpoint/2010/main" val="23922854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3FB1668-93B8-4810-A014-EB53F328B3FE}" type="slidenum">
              <a:rPr kumimoji="0" lang="zh-CN" altLang="en-US" sz="1200" b="0" i="0" u="none" strike="noStrike" kern="1200" cap="none" spc="0" normalizeH="0" baseline="0" noProof="0" smtClean="0">
                <a:ln>
                  <a:noFill/>
                </a:ln>
                <a:solidFill>
                  <a:srgbClr val="000000"/>
                </a:solidFill>
                <a:effectLst/>
                <a:uLnTx/>
                <a:uFillTx/>
                <a:latin typeface="Arial" charset="0"/>
                <a:ea typeface="宋体" pitchFamily="2" charset="-122"/>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zh-CN" sz="1200" b="0" i="0" u="none" strike="noStrike" kern="1200" cap="none" spc="0" normalizeH="0" baseline="0" noProof="0">
              <a:ln>
                <a:noFill/>
              </a:ln>
              <a:solidFill>
                <a:srgbClr val="000000"/>
              </a:solidFill>
              <a:effectLst/>
              <a:uLnTx/>
              <a:uFillTx/>
              <a:latin typeface="Arial" charset="0"/>
              <a:ea typeface="宋体" pitchFamily="2" charset="-122"/>
              <a:cs typeface="Arial" charset="0"/>
            </a:endParaRPr>
          </a:p>
        </p:txBody>
      </p:sp>
    </p:spTree>
    <p:extLst>
      <p:ext uri="{BB962C8B-B14F-4D97-AF65-F5344CB8AC3E}">
        <p14:creationId xmlns:p14="http://schemas.microsoft.com/office/powerpoint/2010/main" val="4545532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26</a:t>
            </a:fld>
            <a:endParaRPr lang="en-US" altLang="zh-CN"/>
          </a:p>
        </p:txBody>
      </p:sp>
    </p:spTree>
    <p:extLst>
      <p:ext uri="{BB962C8B-B14F-4D97-AF65-F5344CB8AC3E}">
        <p14:creationId xmlns:p14="http://schemas.microsoft.com/office/powerpoint/2010/main" val="33931784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3FB1668-93B8-4810-A014-EB53F328B3FE}" type="slidenum">
              <a:rPr kumimoji="0" lang="zh-CN" altLang="en-US" sz="1200" b="0" i="0" u="none" strike="noStrike" kern="1200" cap="none" spc="0" normalizeH="0" baseline="0" noProof="0" smtClean="0">
                <a:ln>
                  <a:noFill/>
                </a:ln>
                <a:solidFill>
                  <a:srgbClr val="000000"/>
                </a:solidFill>
                <a:effectLst/>
                <a:uLnTx/>
                <a:uFillTx/>
                <a:latin typeface="Arial" charset="0"/>
                <a:ea typeface="宋体" pitchFamily="2" charset="-122"/>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zh-CN" sz="1200" b="0" i="0" u="none" strike="noStrike" kern="1200" cap="none" spc="0" normalizeH="0" baseline="0" noProof="0">
              <a:ln>
                <a:noFill/>
              </a:ln>
              <a:solidFill>
                <a:srgbClr val="000000"/>
              </a:solidFill>
              <a:effectLst/>
              <a:uLnTx/>
              <a:uFillTx/>
              <a:latin typeface="Arial" charset="0"/>
              <a:ea typeface="宋体" pitchFamily="2" charset="-122"/>
              <a:cs typeface="Arial" charset="0"/>
            </a:endParaRPr>
          </a:p>
        </p:txBody>
      </p:sp>
    </p:spTree>
    <p:extLst>
      <p:ext uri="{BB962C8B-B14F-4D97-AF65-F5344CB8AC3E}">
        <p14:creationId xmlns:p14="http://schemas.microsoft.com/office/powerpoint/2010/main" val="39258411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3FB1668-93B8-4810-A014-EB53F328B3FE}" type="slidenum">
              <a:rPr kumimoji="0" lang="zh-CN" altLang="en-US" sz="1200" b="0" i="0" u="none" strike="noStrike" kern="1200" cap="none" spc="0" normalizeH="0" baseline="0" noProof="0" smtClean="0">
                <a:ln>
                  <a:noFill/>
                </a:ln>
                <a:solidFill>
                  <a:srgbClr val="000000"/>
                </a:solidFill>
                <a:effectLst/>
                <a:uLnTx/>
                <a:uFillTx/>
                <a:latin typeface="Arial" charset="0"/>
                <a:ea typeface="宋体" pitchFamily="2" charset="-122"/>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altLang="zh-CN" sz="1200" b="0" i="0" u="none" strike="noStrike" kern="1200" cap="none" spc="0" normalizeH="0" baseline="0" noProof="0">
              <a:ln>
                <a:noFill/>
              </a:ln>
              <a:solidFill>
                <a:srgbClr val="000000"/>
              </a:solidFill>
              <a:effectLst/>
              <a:uLnTx/>
              <a:uFillTx/>
              <a:latin typeface="Arial" charset="0"/>
              <a:ea typeface="宋体" pitchFamily="2" charset="-122"/>
              <a:cs typeface="Arial" charset="0"/>
            </a:endParaRPr>
          </a:p>
        </p:txBody>
      </p:sp>
    </p:spTree>
    <p:extLst>
      <p:ext uri="{BB962C8B-B14F-4D97-AF65-F5344CB8AC3E}">
        <p14:creationId xmlns:p14="http://schemas.microsoft.com/office/powerpoint/2010/main" val="9604927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37</a:t>
            </a:fld>
            <a:endParaRPr lang="en-US" altLang="zh-CN"/>
          </a:p>
        </p:txBody>
      </p:sp>
    </p:spTree>
    <p:extLst>
      <p:ext uri="{BB962C8B-B14F-4D97-AF65-F5344CB8AC3E}">
        <p14:creationId xmlns:p14="http://schemas.microsoft.com/office/powerpoint/2010/main" val="27056397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38</a:t>
            </a:fld>
            <a:endParaRPr lang="en-US" altLang="zh-CN"/>
          </a:p>
        </p:txBody>
      </p:sp>
    </p:spTree>
    <p:extLst>
      <p:ext uri="{BB962C8B-B14F-4D97-AF65-F5344CB8AC3E}">
        <p14:creationId xmlns:p14="http://schemas.microsoft.com/office/powerpoint/2010/main" val="1557985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39</a:t>
            </a:fld>
            <a:endParaRPr lang="en-US" altLang="zh-CN"/>
          </a:p>
        </p:txBody>
      </p:sp>
    </p:spTree>
    <p:extLst>
      <p:ext uri="{BB962C8B-B14F-4D97-AF65-F5344CB8AC3E}">
        <p14:creationId xmlns:p14="http://schemas.microsoft.com/office/powerpoint/2010/main" val="8569413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Arial" charset="0"/>
                <a:ea typeface="+mn-ea"/>
                <a:cs typeface="Arial" charset="0"/>
              </a:rPr>
              <a:t>数据库表中不存在非关键字段 对任一候选关键字段 的部分 函数依赖 （部分函数依赖指的是存在</a:t>
            </a:r>
            <a:r>
              <a:rPr lang="zh-CN" altLang="en-US" sz="1200" b="1" i="0" kern="1200" dirty="0">
                <a:solidFill>
                  <a:schemeClr val="tx1"/>
                </a:solidFill>
                <a:effectLst/>
                <a:latin typeface="Arial" charset="0"/>
                <a:ea typeface="+mn-ea"/>
                <a:cs typeface="Arial" charset="0"/>
              </a:rPr>
              <a:t>组合关键字</a:t>
            </a:r>
            <a:r>
              <a:rPr lang="zh-CN" altLang="en-US" sz="1200" b="0" i="0" kern="1200" dirty="0">
                <a:solidFill>
                  <a:schemeClr val="tx1"/>
                </a:solidFill>
                <a:effectLst/>
                <a:latin typeface="Arial" charset="0"/>
                <a:ea typeface="+mn-ea"/>
                <a:cs typeface="Arial" charset="0"/>
              </a:rPr>
              <a:t>中的某些字段决定非关键字段 的情况），也即所有非关键字段都</a:t>
            </a:r>
            <a:r>
              <a:rPr lang="zh-CN" altLang="en-US" sz="1200" b="1" i="0" kern="1200" dirty="0">
                <a:solidFill>
                  <a:schemeClr val="tx1"/>
                </a:solidFill>
                <a:effectLst/>
                <a:latin typeface="Arial" charset="0"/>
                <a:ea typeface="+mn-ea"/>
                <a:cs typeface="Arial" charset="0"/>
              </a:rPr>
              <a:t>完全依赖于</a:t>
            </a:r>
            <a:r>
              <a:rPr lang="zh-CN" altLang="en-US" sz="1200" b="0" i="0" kern="1200" dirty="0">
                <a:solidFill>
                  <a:schemeClr val="tx1"/>
                </a:solidFill>
                <a:effectLst/>
                <a:latin typeface="Arial" charset="0"/>
                <a:ea typeface="+mn-ea"/>
                <a:cs typeface="Arial" charset="0"/>
              </a:rPr>
              <a:t>任意一组候选关键字。</a:t>
            </a:r>
            <a:endParaRPr lang="zh-CN" altLang="en-US" dirty="0"/>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40</a:t>
            </a:fld>
            <a:endParaRPr lang="en-US" altLang="zh-CN"/>
          </a:p>
        </p:txBody>
      </p:sp>
    </p:spTree>
    <p:extLst>
      <p:ext uri="{BB962C8B-B14F-4D97-AF65-F5344CB8AC3E}">
        <p14:creationId xmlns:p14="http://schemas.microsoft.com/office/powerpoint/2010/main" val="25533628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插入一个</a:t>
            </a:r>
            <a:r>
              <a:rPr lang="zh-CN" altLang="en-US" sz="1200" b="0" i="0" kern="1200" dirty="0">
                <a:solidFill>
                  <a:schemeClr val="tx1"/>
                </a:solidFill>
                <a:effectLst/>
                <a:latin typeface="Arial" charset="0"/>
                <a:ea typeface="+mn-ea"/>
                <a:cs typeface="Arial" charset="0"/>
              </a:rPr>
              <a:t>尚无学生的新系的信息的时候，</a:t>
            </a:r>
            <a:r>
              <a:rPr lang="en-US" altLang="zh-CN" sz="1200" b="0" i="0" kern="1200" dirty="0">
                <a:solidFill>
                  <a:schemeClr val="tx1"/>
                </a:solidFill>
                <a:effectLst/>
                <a:latin typeface="Arial" charset="0"/>
                <a:ea typeface="+mn-ea"/>
                <a:cs typeface="Arial" charset="0"/>
              </a:rPr>
              <a:t>SL</a:t>
            </a:r>
            <a:r>
              <a:rPr lang="zh-CN" altLang="en-US" sz="1200" b="0" i="0" kern="1200" dirty="0">
                <a:solidFill>
                  <a:schemeClr val="tx1"/>
                </a:solidFill>
                <a:effectLst/>
                <a:latin typeface="Arial" charset="0"/>
                <a:ea typeface="+mn-ea"/>
                <a:cs typeface="Arial" charset="0"/>
              </a:rPr>
              <a:t>表的码是学号，不能为空，所以此操作不被允许。</a:t>
            </a:r>
            <a:r>
              <a:rPr lang="en-US" altLang="zh-CN" sz="1200" b="0" i="0" kern="1200" dirty="0">
                <a:solidFill>
                  <a:schemeClr val="tx1"/>
                </a:solidFill>
                <a:effectLst/>
                <a:latin typeface="Arial" charset="0"/>
                <a:ea typeface="+mn-ea"/>
                <a:cs typeface="Arial" charset="0"/>
              </a:rPr>
              <a:t>——</a:t>
            </a:r>
            <a:r>
              <a:rPr lang="zh-CN" altLang="en-US" sz="1200" b="0" i="0" kern="1200" dirty="0">
                <a:solidFill>
                  <a:schemeClr val="tx1"/>
                </a:solidFill>
                <a:effectLst/>
                <a:latin typeface="Arial" charset="0"/>
                <a:ea typeface="+mn-ea"/>
                <a:cs typeface="Arial" charset="0"/>
              </a:rPr>
              <a:t>无改进</a:t>
            </a:r>
            <a:endParaRPr lang="zh-CN" altLang="en-US" dirty="0"/>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43</a:t>
            </a:fld>
            <a:endParaRPr lang="en-US" altLang="zh-CN"/>
          </a:p>
        </p:txBody>
      </p:sp>
    </p:spTree>
    <p:extLst>
      <p:ext uri="{BB962C8B-B14F-4D97-AF65-F5344CB8AC3E}">
        <p14:creationId xmlns:p14="http://schemas.microsoft.com/office/powerpoint/2010/main" val="29602186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Arial" charset="0"/>
                <a:ea typeface="+mn-ea"/>
                <a:cs typeface="Arial" charset="0"/>
              </a:rPr>
              <a:t>在第二范式的基础上，数据表中如果不存在非关键字段 对任一候选关键字段 的传递 函数依赖 则符合第三范式。</a:t>
            </a:r>
            <a:endParaRPr lang="zh-CN" altLang="en-US" dirty="0"/>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44</a:t>
            </a:fld>
            <a:endParaRPr lang="en-US" altLang="zh-CN"/>
          </a:p>
        </p:txBody>
      </p:sp>
    </p:spTree>
    <p:extLst>
      <p:ext uri="{BB962C8B-B14F-4D97-AF65-F5344CB8AC3E}">
        <p14:creationId xmlns:p14="http://schemas.microsoft.com/office/powerpoint/2010/main" val="3427087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Arial" charset="0"/>
                <a:ea typeface="+mn-ea"/>
                <a:cs typeface="Arial" charset="0"/>
              </a:rPr>
              <a:t>在第二范式的基础上，数据表中如果不存在非关键字段 对任一候选关键字段 的传递 函数依赖 则符合第三范式。</a:t>
            </a:r>
            <a:endParaRPr lang="zh-CN" altLang="en-US" dirty="0"/>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46</a:t>
            </a:fld>
            <a:endParaRPr lang="en-US" altLang="zh-CN"/>
          </a:p>
        </p:txBody>
      </p:sp>
    </p:spTree>
    <p:extLst>
      <p:ext uri="{BB962C8B-B14F-4D97-AF65-F5344CB8AC3E}">
        <p14:creationId xmlns:p14="http://schemas.microsoft.com/office/powerpoint/2010/main" val="23336240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49</a:t>
            </a:fld>
            <a:endParaRPr lang="en-US" altLang="zh-CN"/>
          </a:p>
        </p:txBody>
      </p:sp>
    </p:spTree>
    <p:extLst>
      <p:ext uri="{BB962C8B-B14F-4D97-AF65-F5344CB8AC3E}">
        <p14:creationId xmlns:p14="http://schemas.microsoft.com/office/powerpoint/2010/main" val="24038710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Arial" charset="0"/>
                <a:ea typeface="+mn-ea"/>
                <a:cs typeface="Arial" charset="0"/>
              </a:rPr>
              <a:t>在第三范式的基础上，数据库表中如果不存在任何字段对任一候选关键字段的传递函数依赖</a:t>
            </a:r>
            <a:endParaRPr lang="zh-CN" altLang="en-US" dirty="0"/>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51</a:t>
            </a:fld>
            <a:endParaRPr lang="en-US" altLang="zh-CN"/>
          </a:p>
        </p:txBody>
      </p:sp>
    </p:spTree>
    <p:extLst>
      <p:ext uri="{BB962C8B-B14F-4D97-AF65-F5344CB8AC3E}">
        <p14:creationId xmlns:p14="http://schemas.microsoft.com/office/powerpoint/2010/main" val="20911767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Arial" charset="0"/>
                <a:ea typeface="+mn-ea"/>
                <a:cs typeface="Arial" charset="0"/>
              </a:rPr>
              <a:t>在第三范式的基础上，数据库表中如果不存在任何字段对任一候选关键字段的传递函数依赖</a:t>
            </a:r>
            <a:endParaRPr lang="zh-CN" altLang="en-US" dirty="0"/>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52</a:t>
            </a:fld>
            <a:endParaRPr lang="en-US" altLang="zh-CN"/>
          </a:p>
        </p:txBody>
      </p:sp>
    </p:spTree>
    <p:extLst>
      <p:ext uri="{BB962C8B-B14F-4D97-AF65-F5344CB8AC3E}">
        <p14:creationId xmlns:p14="http://schemas.microsoft.com/office/powerpoint/2010/main" val="27406349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先新增加一个仓库，但尚未存放任何物品，是否可以为该仓库指派管理员？</a:t>
            </a:r>
            <a:r>
              <a:rPr lang="en-US" altLang="zh-CN" dirty="0"/>
              <a:t>——</a:t>
            </a:r>
            <a:r>
              <a:rPr lang="zh-CN" altLang="en-US" dirty="0"/>
              <a:t>不可以，因为物品名也是主属性，根据实体完整性的要求，主属性不能为空。</a:t>
            </a:r>
            <a:br>
              <a:rPr lang="zh-CN" altLang="en-US" dirty="0"/>
            </a:br>
            <a:endParaRPr lang="zh-CN" altLang="en-US" dirty="0"/>
          </a:p>
          <a:p>
            <a:r>
              <a:rPr lang="zh-CN" altLang="en-US" dirty="0"/>
              <a:t>某仓库被清空后，需要删除所有与这个仓库相关的物品存放记录，会带来什么问题？</a:t>
            </a:r>
            <a:r>
              <a:rPr lang="en-US" altLang="zh-CN" dirty="0"/>
              <a:t>——</a:t>
            </a:r>
            <a:r>
              <a:rPr lang="zh-CN" altLang="en-US" dirty="0"/>
              <a:t>仓库本身与管理员的信息也被随之删除了。</a:t>
            </a:r>
            <a:br>
              <a:rPr lang="zh-CN" altLang="en-US" dirty="0"/>
            </a:br>
            <a:endParaRPr lang="zh-CN" altLang="en-US" dirty="0"/>
          </a:p>
          <a:p>
            <a:r>
              <a:rPr lang="zh-CN" altLang="en-US" dirty="0"/>
              <a:t>如果某仓库更换了管理员，会带来什么问题？</a:t>
            </a:r>
            <a:r>
              <a:rPr lang="en-US" altLang="zh-CN" dirty="0"/>
              <a:t>——</a:t>
            </a:r>
            <a:r>
              <a:rPr lang="zh-CN" altLang="en-US" dirty="0"/>
              <a:t>这个仓库有几条物品存放记录，就要修改多少次管理员信息。</a:t>
            </a:r>
            <a:br>
              <a:rPr lang="zh-CN" altLang="en-US" dirty="0"/>
            </a:br>
            <a:endParaRPr lang="zh-CN" altLang="en-US" dirty="0"/>
          </a:p>
          <a:p>
            <a:r>
              <a:rPr lang="zh-CN" altLang="en-US" dirty="0"/>
              <a:t>从这里我们可以得出结论，在某些特殊情况下，即使关系模式符合 </a:t>
            </a:r>
            <a:r>
              <a:rPr lang="en-US" altLang="zh-CN" dirty="0"/>
              <a:t>3NF </a:t>
            </a:r>
            <a:r>
              <a:rPr lang="zh-CN" altLang="en-US" dirty="0"/>
              <a:t>的要求，仍然存在着插入异常，修改异常与删除异常的问题，仍然不是 ”好“ 的设计。</a:t>
            </a:r>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53</a:t>
            </a:fld>
            <a:endParaRPr lang="en-US" altLang="zh-CN"/>
          </a:p>
        </p:txBody>
      </p:sp>
    </p:spTree>
    <p:extLst>
      <p:ext uri="{BB962C8B-B14F-4D97-AF65-F5344CB8AC3E}">
        <p14:creationId xmlns:p14="http://schemas.microsoft.com/office/powerpoint/2010/main" val="30885388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先新增加一个仓库，但尚未存放任何物品，是否可以为该仓库指派管理员？</a:t>
            </a:r>
            <a:r>
              <a:rPr lang="en-US" altLang="zh-CN" dirty="0"/>
              <a:t>——</a:t>
            </a:r>
            <a:r>
              <a:rPr lang="zh-CN" altLang="en-US" dirty="0"/>
              <a:t>不可以，因为物品名也是主属性，根据实体完整性的要求，主属性不能为空。</a:t>
            </a:r>
            <a:br>
              <a:rPr lang="zh-CN" altLang="en-US" dirty="0"/>
            </a:br>
            <a:endParaRPr lang="zh-CN" altLang="en-US" dirty="0"/>
          </a:p>
          <a:p>
            <a:r>
              <a:rPr lang="zh-CN" altLang="en-US" dirty="0"/>
              <a:t>某仓库被清空后，需要删除所有与这个仓库相关的物品存放记录，会带来什么问题？</a:t>
            </a:r>
            <a:r>
              <a:rPr lang="en-US" altLang="zh-CN" dirty="0"/>
              <a:t>——</a:t>
            </a:r>
            <a:r>
              <a:rPr lang="zh-CN" altLang="en-US" dirty="0"/>
              <a:t>仓库本身与管理员的信息也被随之删除了。</a:t>
            </a:r>
            <a:br>
              <a:rPr lang="zh-CN" altLang="en-US" dirty="0"/>
            </a:br>
            <a:endParaRPr lang="zh-CN" altLang="en-US" dirty="0"/>
          </a:p>
          <a:p>
            <a:r>
              <a:rPr lang="zh-CN" altLang="en-US" dirty="0"/>
              <a:t>如果某仓库更换了管理员，会带来什么问题？</a:t>
            </a:r>
            <a:r>
              <a:rPr lang="en-US" altLang="zh-CN" dirty="0"/>
              <a:t>——</a:t>
            </a:r>
            <a:r>
              <a:rPr lang="zh-CN" altLang="en-US" dirty="0"/>
              <a:t>这个仓库有几条物品存放记录，就要修改多少次管理员信息。</a:t>
            </a:r>
            <a:br>
              <a:rPr lang="zh-CN" altLang="en-US" dirty="0"/>
            </a:br>
            <a:endParaRPr lang="zh-CN" altLang="en-US" dirty="0"/>
          </a:p>
          <a:p>
            <a:r>
              <a:rPr lang="zh-CN" altLang="en-US" dirty="0"/>
              <a:t>从这里我们可以得出结论，在某些特殊情况下，即使关系模式符合 </a:t>
            </a:r>
            <a:r>
              <a:rPr lang="en-US" altLang="zh-CN" dirty="0"/>
              <a:t>3NF </a:t>
            </a:r>
            <a:r>
              <a:rPr lang="zh-CN" altLang="en-US" dirty="0"/>
              <a:t>的要求，仍然存在着插入异常，修改异常与删除异常的问题，仍然不是 ”好“ 的设计。</a:t>
            </a:r>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54</a:t>
            </a:fld>
            <a:endParaRPr lang="en-US" altLang="zh-CN"/>
          </a:p>
        </p:txBody>
      </p:sp>
    </p:spTree>
    <p:extLst>
      <p:ext uri="{BB962C8B-B14F-4D97-AF65-F5344CB8AC3E}">
        <p14:creationId xmlns:p14="http://schemas.microsoft.com/office/powerpoint/2010/main" val="25428819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先新增加一个仓库，但尚未存放任何物品，是否可以为该仓库指派管理员？</a:t>
            </a:r>
            <a:r>
              <a:rPr lang="en-US" altLang="zh-CN" dirty="0"/>
              <a:t>——</a:t>
            </a:r>
            <a:r>
              <a:rPr lang="zh-CN" altLang="en-US" dirty="0"/>
              <a:t>不可以，因为物品名也是主属性，根据实体完整性的要求，主属性不能为空。</a:t>
            </a:r>
            <a:br>
              <a:rPr lang="zh-CN" altLang="en-US" dirty="0"/>
            </a:br>
            <a:endParaRPr lang="zh-CN" altLang="en-US" dirty="0"/>
          </a:p>
          <a:p>
            <a:r>
              <a:rPr lang="zh-CN" altLang="en-US" dirty="0"/>
              <a:t>某仓库被清空后，需要删除所有与这个仓库相关的物品存放记录，会带来什么问题？</a:t>
            </a:r>
            <a:r>
              <a:rPr lang="en-US" altLang="zh-CN" dirty="0"/>
              <a:t>——</a:t>
            </a:r>
            <a:r>
              <a:rPr lang="zh-CN" altLang="en-US" dirty="0"/>
              <a:t>仓库本身与管理员的信息也被随之删除了。</a:t>
            </a:r>
            <a:br>
              <a:rPr lang="zh-CN" altLang="en-US" dirty="0"/>
            </a:br>
            <a:endParaRPr lang="zh-CN" altLang="en-US" dirty="0"/>
          </a:p>
          <a:p>
            <a:r>
              <a:rPr lang="zh-CN" altLang="en-US" dirty="0"/>
              <a:t>如果某仓库更换了管理员，会带来什么问题？</a:t>
            </a:r>
            <a:r>
              <a:rPr lang="en-US" altLang="zh-CN" dirty="0"/>
              <a:t>——</a:t>
            </a:r>
            <a:r>
              <a:rPr lang="zh-CN" altLang="en-US" dirty="0"/>
              <a:t>这个仓库有几条物品存放记录，就要修改多少次管理员信息。</a:t>
            </a:r>
            <a:br>
              <a:rPr lang="zh-CN" altLang="en-US" dirty="0"/>
            </a:br>
            <a:endParaRPr lang="zh-CN" altLang="en-US" dirty="0"/>
          </a:p>
          <a:p>
            <a:r>
              <a:rPr lang="zh-CN" altLang="en-US" dirty="0"/>
              <a:t>从这里我们可以得出结论，在某些特殊情况下，即使关系模式符合 </a:t>
            </a:r>
            <a:r>
              <a:rPr lang="en-US" altLang="zh-CN" dirty="0"/>
              <a:t>3NF </a:t>
            </a:r>
            <a:r>
              <a:rPr lang="zh-CN" altLang="en-US" dirty="0"/>
              <a:t>的要求，仍然存在着插入异常，修改异常与删除异常的问题，仍然不是 ”好“ 的设计。</a:t>
            </a:r>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55</a:t>
            </a:fld>
            <a:endParaRPr lang="en-US" altLang="zh-CN"/>
          </a:p>
        </p:txBody>
      </p:sp>
    </p:spTree>
    <p:extLst>
      <p:ext uri="{BB962C8B-B14F-4D97-AF65-F5344CB8AC3E}">
        <p14:creationId xmlns:p14="http://schemas.microsoft.com/office/powerpoint/2010/main" val="28874089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56</a:t>
            </a:fld>
            <a:endParaRPr lang="en-US" altLang="zh-CN"/>
          </a:p>
        </p:txBody>
      </p:sp>
    </p:spTree>
    <p:extLst>
      <p:ext uri="{BB962C8B-B14F-4D97-AF65-F5344CB8AC3E}">
        <p14:creationId xmlns:p14="http://schemas.microsoft.com/office/powerpoint/2010/main" val="38537183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先新增加一个仓库，但尚未存放任何物品，是否可以为该仓库指派管理员？</a:t>
            </a:r>
            <a:r>
              <a:rPr lang="en-US" altLang="zh-CN" dirty="0"/>
              <a:t>——</a:t>
            </a:r>
            <a:r>
              <a:rPr lang="zh-CN" altLang="en-US" dirty="0"/>
              <a:t>不可以，因为物品名也是主属性，根据实体完整性的要求，主属性不能为空。</a:t>
            </a:r>
            <a:br>
              <a:rPr lang="zh-CN" altLang="en-US" dirty="0"/>
            </a:br>
            <a:endParaRPr lang="zh-CN" altLang="en-US" dirty="0"/>
          </a:p>
          <a:p>
            <a:r>
              <a:rPr lang="zh-CN" altLang="en-US" dirty="0"/>
              <a:t>某仓库被清空后，需要删除所有与这个仓库相关的物品存放记录，会带来什么问题？</a:t>
            </a:r>
            <a:r>
              <a:rPr lang="en-US" altLang="zh-CN" dirty="0"/>
              <a:t>——</a:t>
            </a:r>
            <a:r>
              <a:rPr lang="zh-CN" altLang="en-US" dirty="0"/>
              <a:t>仓库本身与管理员的信息也被随之删除了。</a:t>
            </a:r>
            <a:br>
              <a:rPr lang="zh-CN" altLang="en-US" dirty="0"/>
            </a:br>
            <a:endParaRPr lang="zh-CN" altLang="en-US" dirty="0"/>
          </a:p>
          <a:p>
            <a:r>
              <a:rPr lang="zh-CN" altLang="en-US" dirty="0"/>
              <a:t>如果某仓库更换了管理员，会带来什么问题？</a:t>
            </a:r>
            <a:r>
              <a:rPr lang="en-US" altLang="zh-CN" dirty="0"/>
              <a:t>——</a:t>
            </a:r>
            <a:r>
              <a:rPr lang="zh-CN" altLang="en-US" dirty="0"/>
              <a:t>这个仓库有几条物品存放记录，就要修改多少次管理员信息。</a:t>
            </a:r>
            <a:br>
              <a:rPr lang="zh-CN" altLang="en-US" dirty="0"/>
            </a:br>
            <a:endParaRPr lang="zh-CN" altLang="en-US" dirty="0"/>
          </a:p>
          <a:p>
            <a:r>
              <a:rPr lang="zh-CN" altLang="en-US" dirty="0"/>
              <a:t>从这里我们可以得出结论，在某些特殊情况下，即使关系模式符合 </a:t>
            </a:r>
            <a:r>
              <a:rPr lang="en-US" altLang="zh-CN" dirty="0"/>
              <a:t>3NF </a:t>
            </a:r>
            <a:r>
              <a:rPr lang="zh-CN" altLang="en-US" dirty="0"/>
              <a:t>的要求，仍然存在着插入异常，修改异常与删除异常的问题，仍然不是 ”好“ 的设计。</a:t>
            </a:r>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57</a:t>
            </a:fld>
            <a:endParaRPr lang="en-US" altLang="zh-CN"/>
          </a:p>
        </p:txBody>
      </p:sp>
    </p:spTree>
    <p:extLst>
      <p:ext uri="{BB962C8B-B14F-4D97-AF65-F5344CB8AC3E}">
        <p14:creationId xmlns:p14="http://schemas.microsoft.com/office/powerpoint/2010/main" val="13829363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Arial" charset="0"/>
                <a:ea typeface="+mn-ea"/>
                <a:cs typeface="Arial" charset="0"/>
              </a:rPr>
              <a:t>在第三范式的基础上，数据库表中如果不存在任何字段对任一候选关键字段的传递函数依赖</a:t>
            </a:r>
            <a:endParaRPr lang="zh-CN" altLang="en-US" dirty="0"/>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58</a:t>
            </a:fld>
            <a:endParaRPr lang="en-US" altLang="zh-CN"/>
          </a:p>
        </p:txBody>
      </p:sp>
    </p:spTree>
    <p:extLst>
      <p:ext uri="{BB962C8B-B14F-4D97-AF65-F5344CB8AC3E}">
        <p14:creationId xmlns:p14="http://schemas.microsoft.com/office/powerpoint/2010/main" val="22639757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Arial" charset="0"/>
                <a:ea typeface="+mn-ea"/>
                <a:cs typeface="Arial" charset="0"/>
              </a:rPr>
              <a:t>在第三范式的基础上，数据库表中如果不存在任何字段对任一候选关键字段的传递函数依赖</a:t>
            </a:r>
            <a:endParaRPr lang="zh-CN" altLang="en-US" dirty="0"/>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59</a:t>
            </a:fld>
            <a:endParaRPr lang="en-US" altLang="zh-CN"/>
          </a:p>
        </p:txBody>
      </p:sp>
    </p:spTree>
    <p:extLst>
      <p:ext uri="{BB962C8B-B14F-4D97-AF65-F5344CB8AC3E}">
        <p14:creationId xmlns:p14="http://schemas.microsoft.com/office/powerpoint/2010/main" val="32063370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Arial" charset="0"/>
                <a:ea typeface="+mn-ea"/>
                <a:cs typeface="Arial" charset="0"/>
              </a:rPr>
              <a:t>在第三范式的基础上，数据库表中如果不存在任何字段对任一候选关键字段的传递函数依赖</a:t>
            </a:r>
            <a:endParaRPr lang="zh-CN" altLang="en-US" dirty="0"/>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60</a:t>
            </a:fld>
            <a:endParaRPr lang="en-US" altLang="zh-CN"/>
          </a:p>
        </p:txBody>
      </p:sp>
    </p:spTree>
    <p:extLst>
      <p:ext uri="{BB962C8B-B14F-4D97-AF65-F5344CB8AC3E}">
        <p14:creationId xmlns:p14="http://schemas.microsoft.com/office/powerpoint/2010/main" val="4709193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Arial" charset="0"/>
                <a:ea typeface="+mn-ea"/>
                <a:cs typeface="Arial" charset="0"/>
              </a:rPr>
              <a:t>在第三范式的基础上，数据库表中如果不存在任何字段对任一候选关键字段的传递函数依赖</a:t>
            </a:r>
            <a:endParaRPr lang="zh-CN" altLang="en-US" dirty="0"/>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61</a:t>
            </a:fld>
            <a:endParaRPr lang="en-US" altLang="zh-CN"/>
          </a:p>
        </p:txBody>
      </p:sp>
    </p:spTree>
    <p:extLst>
      <p:ext uri="{BB962C8B-B14F-4D97-AF65-F5344CB8AC3E}">
        <p14:creationId xmlns:p14="http://schemas.microsoft.com/office/powerpoint/2010/main" val="12521138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满足范式要求的数据库设计是结构清晰的，同时可避免数据冗余和操作异常。这并意味着不符合范式要求的设计一定是错误的，在数据库表中存在</a:t>
            </a:r>
            <a:r>
              <a:rPr lang="en-US" altLang="zh-CN" dirty="0"/>
              <a:t>1</a:t>
            </a:r>
            <a:r>
              <a:rPr lang="zh-CN" altLang="en-US" dirty="0"/>
              <a:t>：</a:t>
            </a:r>
            <a:r>
              <a:rPr lang="en-US" altLang="zh-CN" dirty="0"/>
              <a:t>1</a:t>
            </a:r>
            <a:r>
              <a:rPr lang="zh-CN" altLang="en-US" dirty="0"/>
              <a:t>或</a:t>
            </a:r>
            <a:r>
              <a:rPr lang="en-US" altLang="zh-CN" dirty="0"/>
              <a:t>1</a:t>
            </a:r>
            <a:r>
              <a:rPr lang="zh-CN" altLang="en-US" dirty="0"/>
              <a:t>：</a:t>
            </a:r>
            <a:r>
              <a:rPr lang="en-US" altLang="zh-CN" dirty="0"/>
              <a:t>N</a:t>
            </a:r>
            <a:r>
              <a:rPr lang="zh-CN" altLang="en-US" dirty="0"/>
              <a:t>关系这种较特殊的情况下，合并导致的不符合范式要求反而是合理的。</a:t>
            </a:r>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74</a:t>
            </a:fld>
            <a:endParaRPr lang="en-US" altLang="zh-CN"/>
          </a:p>
        </p:txBody>
      </p:sp>
    </p:spTree>
    <p:extLst>
      <p:ext uri="{BB962C8B-B14F-4D97-AF65-F5344CB8AC3E}">
        <p14:creationId xmlns:p14="http://schemas.microsoft.com/office/powerpoint/2010/main" val="29094177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78</a:t>
            </a:fld>
            <a:endParaRPr lang="en-US" altLang="zh-CN"/>
          </a:p>
        </p:txBody>
      </p:sp>
    </p:spTree>
    <p:extLst>
      <p:ext uri="{BB962C8B-B14F-4D97-AF65-F5344CB8AC3E}">
        <p14:creationId xmlns:p14="http://schemas.microsoft.com/office/powerpoint/2010/main" val="41205235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80</a:t>
            </a:fld>
            <a:endParaRPr lang="en-US" altLang="zh-CN"/>
          </a:p>
        </p:txBody>
      </p:sp>
    </p:spTree>
    <p:extLst>
      <p:ext uri="{BB962C8B-B14F-4D97-AF65-F5344CB8AC3E}">
        <p14:creationId xmlns:p14="http://schemas.microsoft.com/office/powerpoint/2010/main" val="39341469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81</a:t>
            </a:fld>
            <a:endParaRPr lang="en-US" altLang="zh-CN"/>
          </a:p>
        </p:txBody>
      </p:sp>
    </p:spTree>
    <p:extLst>
      <p:ext uri="{BB962C8B-B14F-4D97-AF65-F5344CB8AC3E}">
        <p14:creationId xmlns:p14="http://schemas.microsoft.com/office/powerpoint/2010/main" val="10013618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82</a:t>
            </a:fld>
            <a:endParaRPr lang="en-US" altLang="zh-CN"/>
          </a:p>
        </p:txBody>
      </p:sp>
    </p:spTree>
    <p:extLst>
      <p:ext uri="{BB962C8B-B14F-4D97-AF65-F5344CB8AC3E}">
        <p14:creationId xmlns:p14="http://schemas.microsoft.com/office/powerpoint/2010/main" val="41051637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83</a:t>
            </a:fld>
            <a:endParaRPr lang="en-US" altLang="zh-CN"/>
          </a:p>
        </p:txBody>
      </p:sp>
    </p:spTree>
    <p:extLst>
      <p:ext uri="{BB962C8B-B14F-4D97-AF65-F5344CB8AC3E}">
        <p14:creationId xmlns:p14="http://schemas.microsoft.com/office/powerpoint/2010/main" val="7451593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89</a:t>
            </a:fld>
            <a:endParaRPr lang="en-US" altLang="zh-CN"/>
          </a:p>
        </p:txBody>
      </p:sp>
    </p:spTree>
    <p:extLst>
      <p:ext uri="{BB962C8B-B14F-4D97-AF65-F5344CB8AC3E}">
        <p14:creationId xmlns:p14="http://schemas.microsoft.com/office/powerpoint/2010/main" val="5742190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90</a:t>
            </a:fld>
            <a:endParaRPr lang="en-US" altLang="zh-CN"/>
          </a:p>
        </p:txBody>
      </p:sp>
    </p:spTree>
    <p:extLst>
      <p:ext uri="{BB962C8B-B14F-4D97-AF65-F5344CB8AC3E}">
        <p14:creationId xmlns:p14="http://schemas.microsoft.com/office/powerpoint/2010/main" val="2636682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98</a:t>
            </a:fld>
            <a:endParaRPr lang="en-US" altLang="zh-CN"/>
          </a:p>
        </p:txBody>
      </p:sp>
    </p:spTree>
    <p:extLst>
      <p:ext uri="{BB962C8B-B14F-4D97-AF65-F5344CB8AC3E}">
        <p14:creationId xmlns:p14="http://schemas.microsoft.com/office/powerpoint/2010/main" val="5799294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可以使用推理规则去寻找被逻辑蕴涵的函数依赖。通过反复应用这些规则，找出对于给定</a:t>
            </a:r>
            <a:r>
              <a:rPr lang="en-US" altLang="zh-CN" dirty="0"/>
              <a:t>F</a:t>
            </a:r>
            <a:r>
              <a:rPr lang="zh-CN" altLang="en-US" dirty="0"/>
              <a:t>的</a:t>
            </a:r>
            <a:r>
              <a:rPr lang="en-US" altLang="zh-CN" dirty="0"/>
              <a:t>F+</a:t>
            </a:r>
            <a:r>
              <a:rPr lang="zh-CN" altLang="en-US" dirty="0"/>
              <a:t>中的全部依赖。</a:t>
            </a:r>
          </a:p>
        </p:txBody>
      </p:sp>
      <p:sp>
        <p:nvSpPr>
          <p:cNvPr id="4" name="灯片编号占位符 3"/>
          <p:cNvSpPr>
            <a:spLocks noGrp="1"/>
          </p:cNvSpPr>
          <p:nvPr>
            <p:ph type="sldNum" sz="quarter" idx="5"/>
          </p:nvPr>
        </p:nvSpPr>
        <p:spPr/>
        <p:txBody>
          <a:bodyPr/>
          <a:lstStyle/>
          <a:p>
            <a:fld id="{8D2A0377-D3B8-4BEF-997F-B4BEAF2D68FE}" type="slidenum">
              <a:rPr lang="zh-CN" altLang="en-US" smtClean="0"/>
              <a:pPr/>
              <a:t>104</a:t>
            </a:fld>
            <a:endParaRPr lang="en-US" altLang="zh-CN"/>
          </a:p>
        </p:txBody>
      </p:sp>
    </p:spTree>
    <p:extLst>
      <p:ext uri="{BB962C8B-B14F-4D97-AF65-F5344CB8AC3E}">
        <p14:creationId xmlns:p14="http://schemas.microsoft.com/office/powerpoint/2010/main" val="2217729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D2A0377-D3B8-4BEF-997F-B4BEAF2D68FE}" type="slidenum">
              <a:rPr lang="zh-CN" altLang="en-US" smtClean="0"/>
              <a:pPr/>
              <a:t>108</a:t>
            </a:fld>
            <a:endParaRPr lang="en-US" altLang="zh-CN"/>
          </a:p>
        </p:txBody>
      </p:sp>
    </p:spTree>
    <p:extLst>
      <p:ext uri="{BB962C8B-B14F-4D97-AF65-F5344CB8AC3E}">
        <p14:creationId xmlns:p14="http://schemas.microsoft.com/office/powerpoint/2010/main" val="18282198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121</a:t>
            </a:fld>
            <a:endParaRPr lang="en-US" altLang="zh-CN"/>
          </a:p>
        </p:txBody>
      </p:sp>
    </p:spTree>
    <p:extLst>
      <p:ext uri="{BB962C8B-B14F-4D97-AF65-F5344CB8AC3E}">
        <p14:creationId xmlns:p14="http://schemas.microsoft.com/office/powerpoint/2010/main" val="144668552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D2A0377-D3B8-4BEF-997F-B4BEAF2D68FE}" type="slidenum">
              <a:rPr lang="zh-CN" altLang="en-US" smtClean="0"/>
              <a:pPr/>
              <a:t>124</a:t>
            </a:fld>
            <a:endParaRPr lang="en-US" altLang="zh-CN"/>
          </a:p>
        </p:txBody>
      </p:sp>
    </p:spTree>
    <p:extLst>
      <p:ext uri="{BB962C8B-B14F-4D97-AF65-F5344CB8AC3E}">
        <p14:creationId xmlns:p14="http://schemas.microsoft.com/office/powerpoint/2010/main" val="163962830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D2A0377-D3B8-4BEF-997F-B4BEAF2D68FE}" type="slidenum">
              <a:rPr lang="zh-CN" altLang="en-US" smtClean="0"/>
              <a:pPr/>
              <a:t>128</a:t>
            </a:fld>
            <a:endParaRPr lang="en-US" altLang="zh-CN"/>
          </a:p>
        </p:txBody>
      </p:sp>
    </p:spTree>
    <p:extLst>
      <p:ext uri="{BB962C8B-B14F-4D97-AF65-F5344CB8AC3E}">
        <p14:creationId xmlns:p14="http://schemas.microsoft.com/office/powerpoint/2010/main" val="70571141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D2A0377-D3B8-4BEF-997F-B4BEAF2D68FE}" type="slidenum">
              <a:rPr lang="zh-CN" altLang="en-US" smtClean="0"/>
              <a:pPr/>
              <a:t>138</a:t>
            </a:fld>
            <a:endParaRPr lang="en-US" altLang="zh-CN"/>
          </a:p>
        </p:txBody>
      </p:sp>
    </p:spTree>
    <p:extLst>
      <p:ext uri="{BB962C8B-B14F-4D97-AF65-F5344CB8AC3E}">
        <p14:creationId xmlns:p14="http://schemas.microsoft.com/office/powerpoint/2010/main" val="99402972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148</a:t>
            </a:fld>
            <a:endParaRPr lang="en-US" altLang="zh-CN"/>
          </a:p>
        </p:txBody>
      </p:sp>
    </p:spTree>
    <p:extLst>
      <p:ext uri="{BB962C8B-B14F-4D97-AF65-F5344CB8AC3E}">
        <p14:creationId xmlns:p14="http://schemas.microsoft.com/office/powerpoint/2010/main" val="26597266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152</a:t>
            </a:fld>
            <a:endParaRPr lang="en-US" altLang="zh-CN"/>
          </a:p>
        </p:txBody>
      </p:sp>
    </p:spTree>
    <p:extLst>
      <p:ext uri="{BB962C8B-B14F-4D97-AF65-F5344CB8AC3E}">
        <p14:creationId xmlns:p14="http://schemas.microsoft.com/office/powerpoint/2010/main" val="173395897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153</a:t>
            </a:fld>
            <a:endParaRPr lang="en-US" altLang="zh-CN"/>
          </a:p>
        </p:txBody>
      </p:sp>
    </p:spTree>
    <p:extLst>
      <p:ext uri="{BB962C8B-B14F-4D97-AF65-F5344CB8AC3E}">
        <p14:creationId xmlns:p14="http://schemas.microsoft.com/office/powerpoint/2010/main" val="283141729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154</a:t>
            </a:fld>
            <a:endParaRPr lang="en-US" altLang="zh-CN"/>
          </a:p>
        </p:txBody>
      </p:sp>
    </p:spTree>
    <p:extLst>
      <p:ext uri="{BB962C8B-B14F-4D97-AF65-F5344CB8AC3E}">
        <p14:creationId xmlns:p14="http://schemas.microsoft.com/office/powerpoint/2010/main" val="278464068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155</a:t>
            </a:fld>
            <a:endParaRPr lang="en-US" altLang="zh-CN"/>
          </a:p>
        </p:txBody>
      </p:sp>
    </p:spTree>
    <p:extLst>
      <p:ext uri="{BB962C8B-B14F-4D97-AF65-F5344CB8AC3E}">
        <p14:creationId xmlns:p14="http://schemas.microsoft.com/office/powerpoint/2010/main" val="283141729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157</a:t>
            </a:fld>
            <a:endParaRPr lang="en-US" altLang="zh-CN"/>
          </a:p>
        </p:txBody>
      </p:sp>
    </p:spTree>
    <p:extLst>
      <p:ext uri="{BB962C8B-B14F-4D97-AF65-F5344CB8AC3E}">
        <p14:creationId xmlns:p14="http://schemas.microsoft.com/office/powerpoint/2010/main" val="128304430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D2A0377-D3B8-4BEF-997F-B4BEAF2D68FE}" type="slidenum">
              <a:rPr lang="zh-CN" altLang="en-US" smtClean="0"/>
              <a:pPr/>
              <a:t>160</a:t>
            </a:fld>
            <a:endParaRPr lang="en-US" altLang="zh-CN"/>
          </a:p>
        </p:txBody>
      </p:sp>
    </p:spTree>
    <p:extLst>
      <p:ext uri="{BB962C8B-B14F-4D97-AF65-F5344CB8AC3E}">
        <p14:creationId xmlns:p14="http://schemas.microsoft.com/office/powerpoint/2010/main" val="13995502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1.bin"/><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838200" y="1371600"/>
            <a:ext cx="7772400" cy="1462088"/>
          </a:xfrm>
        </p:spPr>
        <p:txBody>
          <a:bodyPr/>
          <a:lstStyle>
            <a:lvl1pPr algn="ctr">
              <a:defRPr b="1"/>
            </a:lvl1pPr>
          </a:lstStyle>
          <a:p>
            <a:pPr lvl="0"/>
            <a:r>
              <a:rPr lang="zh-CN" altLang="en-US" noProof="0"/>
              <a:t>单击此处编辑母版标题样式</a:t>
            </a:r>
          </a:p>
        </p:txBody>
      </p:sp>
      <p:sp>
        <p:nvSpPr>
          <p:cNvPr id="5123" name="Rectangle 3"/>
          <p:cNvSpPr>
            <a:spLocks noGrp="1" noChangeArrowheads="1"/>
          </p:cNvSpPr>
          <p:nvPr>
            <p:ph type="subTitle" idx="1"/>
          </p:nvPr>
        </p:nvSpPr>
        <p:spPr>
          <a:xfrm>
            <a:off x="1371600" y="3657600"/>
            <a:ext cx="6400800" cy="1752600"/>
          </a:xfrm>
        </p:spPr>
        <p:txBody>
          <a:bodyPr/>
          <a:lstStyle>
            <a:lvl1pPr marL="0" indent="0" algn="ctr">
              <a:buFont typeface="Wingdings" pitchFamily="2" charset="2"/>
              <a:buNone/>
              <a:defRPr/>
            </a:lvl1pPr>
          </a:lstStyle>
          <a:p>
            <a:pPr lvl="0"/>
            <a:r>
              <a:rPr lang="zh-CN" altLang="en-US" noProof="0"/>
              <a:t>单击此处编辑母版副标题样式</a:t>
            </a:r>
          </a:p>
        </p:txBody>
      </p:sp>
      <p:sp>
        <p:nvSpPr>
          <p:cNvPr id="5124" name="Rectangle 4"/>
          <p:cNvSpPr>
            <a:spLocks noGrp="1" noChangeArrowheads="1"/>
          </p:cNvSpPr>
          <p:nvPr>
            <p:ph type="dt" sz="half" idx="2"/>
          </p:nvPr>
        </p:nvSpPr>
        <p:spPr>
          <a:xfrm>
            <a:off x="990600" y="6248400"/>
            <a:ext cx="1905000" cy="457200"/>
          </a:xfrm>
        </p:spPr>
        <p:txBody>
          <a:bodyPr/>
          <a:lstStyle>
            <a:lvl1pPr>
              <a:defRPr>
                <a:solidFill>
                  <a:schemeClr val="bg2"/>
                </a:solidFill>
              </a:defRPr>
            </a:lvl1pPr>
          </a:lstStyle>
          <a:p>
            <a:fld id="{36B972E8-801F-4B4B-8478-EDCCEF0F6081}" type="datetime1">
              <a:rPr lang="zh-CN" altLang="en-US" smtClean="0"/>
              <a:t>2025/11/6</a:t>
            </a:fld>
            <a:endParaRPr lang="en-US" altLang="zh-CN"/>
          </a:p>
        </p:txBody>
      </p:sp>
      <p:sp>
        <p:nvSpPr>
          <p:cNvPr id="5125" name="Rectangle 5"/>
          <p:cNvSpPr>
            <a:spLocks noGrp="1" noChangeArrowheads="1"/>
          </p:cNvSpPr>
          <p:nvPr>
            <p:ph type="ftr" sz="quarter" idx="3"/>
          </p:nvPr>
        </p:nvSpPr>
        <p:spPr>
          <a:xfrm>
            <a:off x="3429000" y="6248400"/>
            <a:ext cx="2895600" cy="457200"/>
          </a:xfrm>
        </p:spPr>
        <p:txBody>
          <a:bodyPr/>
          <a:lstStyle>
            <a:lvl1pPr>
              <a:defRPr>
                <a:solidFill>
                  <a:schemeClr val="bg2"/>
                </a:solidFill>
              </a:defRPr>
            </a:lvl1pPr>
          </a:lstStyle>
          <a:p>
            <a:r>
              <a:rPr lang="en-US" altLang="zh-CN"/>
              <a:t>《数据库系统概论》- 第6章</a:t>
            </a:r>
          </a:p>
        </p:txBody>
      </p:sp>
      <p:sp>
        <p:nvSpPr>
          <p:cNvPr id="5126" name="Rectangle 6"/>
          <p:cNvSpPr>
            <a:spLocks noGrp="1" noChangeArrowheads="1"/>
          </p:cNvSpPr>
          <p:nvPr>
            <p:ph type="sldNum" sz="quarter" idx="4"/>
          </p:nvPr>
        </p:nvSpPr>
        <p:spPr>
          <a:xfrm>
            <a:off x="6858000" y="6248400"/>
            <a:ext cx="1905000" cy="457200"/>
          </a:xfrm>
        </p:spPr>
        <p:txBody>
          <a:bodyPr/>
          <a:lstStyle>
            <a:lvl1pPr>
              <a:defRPr>
                <a:solidFill>
                  <a:schemeClr val="bg2"/>
                </a:solidFill>
                <a:latin typeface="+mn-lt"/>
              </a:defRPr>
            </a:lvl1pPr>
          </a:lstStyle>
          <a:p>
            <a:fld id="{312FA367-53EB-421A-9865-84257693BFC4}" type="slidenum">
              <a:rPr lang="en-US" altLang="zh-CN"/>
              <a:pPr/>
              <a:t>‹#›</a:t>
            </a:fld>
            <a:endParaRPr lang="en-US" altLang="zh-CN"/>
          </a:p>
        </p:txBody>
      </p:sp>
      <p:graphicFrame>
        <p:nvGraphicFramePr>
          <p:cNvPr id="5127" name="Object 7"/>
          <p:cNvGraphicFramePr>
            <a:graphicFrameLocks/>
          </p:cNvGraphicFramePr>
          <p:nvPr/>
        </p:nvGraphicFramePr>
        <p:xfrm>
          <a:off x="533400" y="3124200"/>
          <a:ext cx="8305800" cy="76200"/>
        </p:xfrm>
        <a:graphic>
          <a:graphicData uri="http://schemas.openxmlformats.org/presentationml/2006/ole">
            <mc:AlternateContent xmlns:mc="http://schemas.openxmlformats.org/markup-compatibility/2006">
              <mc:Choice xmlns:v="urn:schemas-microsoft-com:vml" Requires="v">
                <p:oleObj name="Clip" r:id="rId2" imgW="6857143" imgH="48963" progId="">
                  <p:embed/>
                </p:oleObj>
              </mc:Choice>
              <mc:Fallback>
                <p:oleObj name="Clip" r:id="rId2" imgW="6857143" imgH="48963" progId="">
                  <p:embed/>
                  <p:pic>
                    <p:nvPicPr>
                      <p:cNvPr id="0" name="Picture 80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124200"/>
                        <a:ext cx="8305800" cy="7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CACD26E4-12E8-4EAF-B5E7-3A7E398801CB}" type="datetime1">
              <a:rPr lang="zh-CN" altLang="en-US" smtClean="0"/>
              <a:t>2025/11/6</a:t>
            </a:fld>
            <a:endParaRPr lang="en-US" altLang="zh-CN"/>
          </a:p>
        </p:txBody>
      </p:sp>
      <p:sp>
        <p:nvSpPr>
          <p:cNvPr id="5" name="页脚占位符 4"/>
          <p:cNvSpPr>
            <a:spLocks noGrp="1"/>
          </p:cNvSpPr>
          <p:nvPr>
            <p:ph type="ftr" sz="quarter" idx="11"/>
          </p:nvPr>
        </p:nvSpPr>
        <p:spPr/>
        <p:txBody>
          <a:bodyPr/>
          <a:lstStyle>
            <a:lvl1pPr>
              <a:defRPr/>
            </a:lvl1pPr>
          </a:lstStyle>
          <a:p>
            <a:r>
              <a:rPr lang="en-US" altLang="zh-CN"/>
              <a:t>《数据库系统概论》- 第6章</a:t>
            </a:r>
          </a:p>
        </p:txBody>
      </p:sp>
      <p:sp>
        <p:nvSpPr>
          <p:cNvPr id="6" name="灯片编号占位符 5"/>
          <p:cNvSpPr>
            <a:spLocks noGrp="1"/>
          </p:cNvSpPr>
          <p:nvPr>
            <p:ph type="sldNum" sz="quarter" idx="12"/>
          </p:nvPr>
        </p:nvSpPr>
        <p:spPr/>
        <p:txBody>
          <a:bodyPr/>
          <a:lstStyle>
            <a:lvl1pPr>
              <a:defRPr/>
            </a:lvl1pPr>
          </a:lstStyle>
          <a:p>
            <a:fld id="{A2D74603-B40B-4D66-8F6E-41C870D48932}" type="slidenum">
              <a:rPr lang="en-US" altLang="zh-CN" smtClean="0"/>
              <a:pPr/>
              <a:t>‹#›</a:t>
            </a:fld>
            <a:r>
              <a:rPr lang="en-US" altLang="zh-CN" dirty="0"/>
              <a:t>/162</a:t>
            </a:r>
          </a:p>
        </p:txBody>
      </p:sp>
    </p:spTree>
    <p:extLst>
      <p:ext uri="{BB962C8B-B14F-4D97-AF65-F5344CB8AC3E}">
        <p14:creationId xmlns:p14="http://schemas.microsoft.com/office/powerpoint/2010/main" val="2899465473"/>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fld id="{FD54D2DB-7824-4A00-881D-5C7A76A0DE47}" type="datetime1">
              <a:rPr lang="zh-CN" altLang="en-US" smtClean="0"/>
              <a:t>2025/11/6</a:t>
            </a:fld>
            <a:endParaRPr lang="en-US" altLang="zh-CN"/>
          </a:p>
        </p:txBody>
      </p:sp>
      <p:sp>
        <p:nvSpPr>
          <p:cNvPr id="5" name="页脚占位符 4"/>
          <p:cNvSpPr>
            <a:spLocks noGrp="1"/>
          </p:cNvSpPr>
          <p:nvPr>
            <p:ph type="ftr" sz="quarter" idx="11"/>
          </p:nvPr>
        </p:nvSpPr>
        <p:spPr/>
        <p:txBody>
          <a:bodyPr/>
          <a:lstStyle>
            <a:lvl1pPr>
              <a:defRPr/>
            </a:lvl1pPr>
          </a:lstStyle>
          <a:p>
            <a:r>
              <a:rPr lang="en-US" altLang="zh-CN"/>
              <a:t>《数据库系统概论》- 第6章</a:t>
            </a:r>
          </a:p>
        </p:txBody>
      </p:sp>
      <p:sp>
        <p:nvSpPr>
          <p:cNvPr id="6" name="灯片编号占位符 5"/>
          <p:cNvSpPr>
            <a:spLocks noGrp="1"/>
          </p:cNvSpPr>
          <p:nvPr>
            <p:ph type="sldNum" sz="quarter" idx="12"/>
          </p:nvPr>
        </p:nvSpPr>
        <p:spPr/>
        <p:txBody>
          <a:bodyPr/>
          <a:lstStyle>
            <a:lvl1pPr>
              <a:defRPr/>
            </a:lvl1pPr>
          </a:lstStyle>
          <a:p>
            <a:fld id="{52E99EAD-2C86-4450-9625-7EF344D5772C}" type="slidenum">
              <a:rPr lang="en-US" altLang="zh-CN" smtClean="0"/>
              <a:pPr/>
              <a:t>‹#›</a:t>
            </a:fld>
            <a:r>
              <a:rPr lang="en-US" altLang="zh-CN" dirty="0"/>
              <a:t>/162</a:t>
            </a:r>
          </a:p>
        </p:txBody>
      </p:sp>
    </p:spTree>
    <p:extLst>
      <p:ext uri="{BB962C8B-B14F-4D97-AF65-F5344CB8AC3E}">
        <p14:creationId xmlns:p14="http://schemas.microsoft.com/office/powerpoint/2010/main" val="2565760271"/>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447800"/>
            <a:ext cx="4095750" cy="46847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57750" y="1447800"/>
            <a:ext cx="4097338" cy="46847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fld id="{75A86CD8-BF42-45C5-A832-C1E0C32F4416}" type="datetime1">
              <a:rPr lang="zh-CN" altLang="en-US" smtClean="0"/>
              <a:t>2025/11/6</a:t>
            </a:fld>
            <a:endParaRPr lang="en-US" altLang="zh-CN"/>
          </a:p>
        </p:txBody>
      </p:sp>
      <p:sp>
        <p:nvSpPr>
          <p:cNvPr id="6" name="页脚占位符 5"/>
          <p:cNvSpPr>
            <a:spLocks noGrp="1"/>
          </p:cNvSpPr>
          <p:nvPr>
            <p:ph type="ftr" sz="quarter" idx="11"/>
          </p:nvPr>
        </p:nvSpPr>
        <p:spPr/>
        <p:txBody>
          <a:bodyPr/>
          <a:lstStyle>
            <a:lvl1pPr>
              <a:defRPr/>
            </a:lvl1pPr>
          </a:lstStyle>
          <a:p>
            <a:r>
              <a:rPr lang="en-US" altLang="zh-CN"/>
              <a:t>《数据库系统概论》- 第6章</a:t>
            </a:r>
          </a:p>
        </p:txBody>
      </p:sp>
      <p:sp>
        <p:nvSpPr>
          <p:cNvPr id="7" name="灯片编号占位符 6"/>
          <p:cNvSpPr>
            <a:spLocks noGrp="1"/>
          </p:cNvSpPr>
          <p:nvPr>
            <p:ph type="sldNum" sz="quarter" idx="12"/>
          </p:nvPr>
        </p:nvSpPr>
        <p:spPr/>
        <p:txBody>
          <a:bodyPr/>
          <a:lstStyle>
            <a:lvl1pPr>
              <a:defRPr/>
            </a:lvl1pPr>
          </a:lstStyle>
          <a:p>
            <a:fld id="{57387144-5480-4896-B635-AD974A4EA320}" type="slidenum">
              <a:rPr lang="en-US" altLang="zh-CN" smtClean="0"/>
              <a:pPr/>
              <a:t>‹#›</a:t>
            </a:fld>
            <a:r>
              <a:rPr lang="en-US" altLang="zh-CN" dirty="0"/>
              <a:t>/162</a:t>
            </a:r>
          </a:p>
        </p:txBody>
      </p:sp>
    </p:spTree>
    <p:extLst>
      <p:ext uri="{BB962C8B-B14F-4D97-AF65-F5344CB8AC3E}">
        <p14:creationId xmlns:p14="http://schemas.microsoft.com/office/powerpoint/2010/main" val="2260433533"/>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fld id="{F816F77D-AD4E-4E48-9A40-9407D4AB933C}" type="datetime1">
              <a:rPr lang="zh-CN" altLang="en-US" smtClean="0"/>
              <a:t>2025/11/6</a:t>
            </a:fld>
            <a:endParaRPr lang="en-US" altLang="zh-CN"/>
          </a:p>
        </p:txBody>
      </p:sp>
      <p:sp>
        <p:nvSpPr>
          <p:cNvPr id="8" name="页脚占位符 7"/>
          <p:cNvSpPr>
            <a:spLocks noGrp="1"/>
          </p:cNvSpPr>
          <p:nvPr>
            <p:ph type="ftr" sz="quarter" idx="11"/>
          </p:nvPr>
        </p:nvSpPr>
        <p:spPr/>
        <p:txBody>
          <a:bodyPr/>
          <a:lstStyle>
            <a:lvl1pPr>
              <a:defRPr/>
            </a:lvl1pPr>
          </a:lstStyle>
          <a:p>
            <a:r>
              <a:rPr lang="en-US" altLang="zh-CN"/>
              <a:t>《数据库系统概论》- 第6章</a:t>
            </a:r>
          </a:p>
        </p:txBody>
      </p:sp>
      <p:sp>
        <p:nvSpPr>
          <p:cNvPr id="9" name="灯片编号占位符 8"/>
          <p:cNvSpPr>
            <a:spLocks noGrp="1"/>
          </p:cNvSpPr>
          <p:nvPr>
            <p:ph type="sldNum" sz="quarter" idx="12"/>
          </p:nvPr>
        </p:nvSpPr>
        <p:spPr/>
        <p:txBody>
          <a:bodyPr/>
          <a:lstStyle>
            <a:lvl1pPr>
              <a:defRPr/>
            </a:lvl1pPr>
          </a:lstStyle>
          <a:p>
            <a:fld id="{99CB709F-E6EA-4776-AF6D-29A1A06E9FED}" type="slidenum">
              <a:rPr lang="en-US" altLang="zh-CN" smtClean="0"/>
              <a:pPr/>
              <a:t>‹#›</a:t>
            </a:fld>
            <a:r>
              <a:rPr lang="en-US" altLang="zh-CN" dirty="0"/>
              <a:t>/162</a:t>
            </a:r>
          </a:p>
        </p:txBody>
      </p:sp>
    </p:spTree>
    <p:extLst>
      <p:ext uri="{BB962C8B-B14F-4D97-AF65-F5344CB8AC3E}">
        <p14:creationId xmlns:p14="http://schemas.microsoft.com/office/powerpoint/2010/main" val="3444939321"/>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fld id="{552E20A6-D0F2-43D4-9A49-13B607B3C0CA}" type="datetime1">
              <a:rPr lang="zh-CN" altLang="en-US" smtClean="0"/>
              <a:t>2025/11/6</a:t>
            </a:fld>
            <a:endParaRPr lang="en-US" altLang="zh-CN"/>
          </a:p>
        </p:txBody>
      </p:sp>
      <p:sp>
        <p:nvSpPr>
          <p:cNvPr id="4" name="页脚占位符 3"/>
          <p:cNvSpPr>
            <a:spLocks noGrp="1"/>
          </p:cNvSpPr>
          <p:nvPr>
            <p:ph type="ftr" sz="quarter" idx="11"/>
          </p:nvPr>
        </p:nvSpPr>
        <p:spPr/>
        <p:txBody>
          <a:bodyPr/>
          <a:lstStyle>
            <a:lvl1pPr>
              <a:defRPr/>
            </a:lvl1pPr>
          </a:lstStyle>
          <a:p>
            <a:r>
              <a:rPr lang="en-US" altLang="zh-CN"/>
              <a:t>《数据库系统概论》- 第6章</a:t>
            </a:r>
          </a:p>
        </p:txBody>
      </p:sp>
      <p:sp>
        <p:nvSpPr>
          <p:cNvPr id="5" name="灯片编号占位符 4"/>
          <p:cNvSpPr>
            <a:spLocks noGrp="1"/>
          </p:cNvSpPr>
          <p:nvPr>
            <p:ph type="sldNum" sz="quarter" idx="12"/>
          </p:nvPr>
        </p:nvSpPr>
        <p:spPr/>
        <p:txBody>
          <a:bodyPr/>
          <a:lstStyle>
            <a:lvl1pPr>
              <a:defRPr/>
            </a:lvl1pPr>
          </a:lstStyle>
          <a:p>
            <a:fld id="{20EA4E5F-2FB2-46CB-BBC2-637528EFB5F7}" type="slidenum">
              <a:rPr lang="en-US" altLang="zh-CN" smtClean="0"/>
              <a:pPr/>
              <a:t>‹#›</a:t>
            </a:fld>
            <a:r>
              <a:rPr lang="en-US" altLang="zh-CN" dirty="0"/>
              <a:t>/162</a:t>
            </a:r>
          </a:p>
        </p:txBody>
      </p:sp>
    </p:spTree>
    <p:extLst>
      <p:ext uri="{BB962C8B-B14F-4D97-AF65-F5344CB8AC3E}">
        <p14:creationId xmlns:p14="http://schemas.microsoft.com/office/powerpoint/2010/main" val="402069015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4D0CD398-8C73-4DD3-A57D-5CD6C4459D92}" type="datetime1">
              <a:rPr lang="zh-CN" altLang="en-US" smtClean="0"/>
              <a:t>2025/11/6</a:t>
            </a:fld>
            <a:endParaRPr lang="en-US" altLang="zh-CN"/>
          </a:p>
        </p:txBody>
      </p:sp>
      <p:sp>
        <p:nvSpPr>
          <p:cNvPr id="3" name="页脚占位符 2"/>
          <p:cNvSpPr>
            <a:spLocks noGrp="1"/>
          </p:cNvSpPr>
          <p:nvPr>
            <p:ph type="ftr" sz="quarter" idx="11"/>
          </p:nvPr>
        </p:nvSpPr>
        <p:spPr/>
        <p:txBody>
          <a:bodyPr/>
          <a:lstStyle>
            <a:lvl1pPr>
              <a:defRPr/>
            </a:lvl1pPr>
          </a:lstStyle>
          <a:p>
            <a:r>
              <a:rPr lang="en-US" altLang="zh-CN"/>
              <a:t>《数据库系统概论》- 第6章</a:t>
            </a:r>
          </a:p>
        </p:txBody>
      </p:sp>
      <p:sp>
        <p:nvSpPr>
          <p:cNvPr id="4" name="灯片编号占位符 3"/>
          <p:cNvSpPr>
            <a:spLocks noGrp="1"/>
          </p:cNvSpPr>
          <p:nvPr>
            <p:ph type="sldNum" sz="quarter" idx="12"/>
          </p:nvPr>
        </p:nvSpPr>
        <p:spPr/>
        <p:txBody>
          <a:bodyPr/>
          <a:lstStyle>
            <a:lvl1pPr>
              <a:defRPr/>
            </a:lvl1pPr>
          </a:lstStyle>
          <a:p>
            <a:fld id="{E1869B9C-F5BF-482C-A521-EB084A2A18BF}" type="slidenum">
              <a:rPr lang="en-US" altLang="zh-CN" smtClean="0"/>
              <a:pPr/>
              <a:t>‹#›</a:t>
            </a:fld>
            <a:r>
              <a:rPr lang="en-US" altLang="zh-CN" dirty="0"/>
              <a:t>/162</a:t>
            </a:r>
          </a:p>
        </p:txBody>
      </p:sp>
    </p:spTree>
    <p:extLst>
      <p:ext uri="{BB962C8B-B14F-4D97-AF65-F5344CB8AC3E}">
        <p14:creationId xmlns:p14="http://schemas.microsoft.com/office/powerpoint/2010/main" val="3201618069"/>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CBC0FE72-2196-4946-899D-5C78B5FF8C88}" type="datetime1">
              <a:rPr lang="zh-CN" altLang="en-US" smtClean="0"/>
              <a:t>2025/11/6</a:t>
            </a:fld>
            <a:endParaRPr lang="en-US" altLang="zh-CN"/>
          </a:p>
        </p:txBody>
      </p:sp>
      <p:sp>
        <p:nvSpPr>
          <p:cNvPr id="6" name="页脚占位符 5"/>
          <p:cNvSpPr>
            <a:spLocks noGrp="1"/>
          </p:cNvSpPr>
          <p:nvPr>
            <p:ph type="ftr" sz="quarter" idx="11"/>
          </p:nvPr>
        </p:nvSpPr>
        <p:spPr/>
        <p:txBody>
          <a:bodyPr/>
          <a:lstStyle>
            <a:lvl1pPr>
              <a:defRPr/>
            </a:lvl1pPr>
          </a:lstStyle>
          <a:p>
            <a:r>
              <a:rPr lang="en-US" altLang="zh-CN"/>
              <a:t>《数据库系统概论》- 第6章</a:t>
            </a:r>
          </a:p>
        </p:txBody>
      </p:sp>
      <p:sp>
        <p:nvSpPr>
          <p:cNvPr id="7" name="灯片编号占位符 6"/>
          <p:cNvSpPr>
            <a:spLocks noGrp="1"/>
          </p:cNvSpPr>
          <p:nvPr>
            <p:ph type="sldNum" sz="quarter" idx="12"/>
          </p:nvPr>
        </p:nvSpPr>
        <p:spPr/>
        <p:txBody>
          <a:bodyPr/>
          <a:lstStyle>
            <a:lvl1pPr>
              <a:defRPr/>
            </a:lvl1pPr>
          </a:lstStyle>
          <a:p>
            <a:fld id="{DE7E0AA9-64A8-4014-AB4B-12BF1DE67C2D}" type="slidenum">
              <a:rPr lang="en-US" altLang="zh-CN" smtClean="0"/>
              <a:pPr/>
              <a:t>‹#›</a:t>
            </a:fld>
            <a:r>
              <a:rPr lang="en-US" altLang="zh-CN" dirty="0"/>
              <a:t>/162</a:t>
            </a:r>
          </a:p>
        </p:txBody>
      </p:sp>
    </p:spTree>
    <p:extLst>
      <p:ext uri="{BB962C8B-B14F-4D97-AF65-F5344CB8AC3E}">
        <p14:creationId xmlns:p14="http://schemas.microsoft.com/office/powerpoint/2010/main" val="3381594944"/>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AD4C2ADB-A044-495A-8195-80153192F3C8}" type="datetime1">
              <a:rPr lang="zh-CN" altLang="en-US" smtClean="0"/>
              <a:t>2025/11/6</a:t>
            </a:fld>
            <a:endParaRPr lang="en-US" altLang="zh-CN"/>
          </a:p>
        </p:txBody>
      </p:sp>
      <p:sp>
        <p:nvSpPr>
          <p:cNvPr id="6" name="页脚占位符 5"/>
          <p:cNvSpPr>
            <a:spLocks noGrp="1"/>
          </p:cNvSpPr>
          <p:nvPr>
            <p:ph type="ftr" sz="quarter" idx="11"/>
          </p:nvPr>
        </p:nvSpPr>
        <p:spPr/>
        <p:txBody>
          <a:bodyPr/>
          <a:lstStyle>
            <a:lvl1pPr>
              <a:defRPr/>
            </a:lvl1pPr>
          </a:lstStyle>
          <a:p>
            <a:r>
              <a:rPr lang="en-US" altLang="zh-CN"/>
              <a:t>《数据库系统概论》- 第6章</a:t>
            </a:r>
          </a:p>
        </p:txBody>
      </p:sp>
      <p:sp>
        <p:nvSpPr>
          <p:cNvPr id="7" name="灯片编号占位符 6"/>
          <p:cNvSpPr>
            <a:spLocks noGrp="1"/>
          </p:cNvSpPr>
          <p:nvPr>
            <p:ph type="sldNum" sz="quarter" idx="12"/>
          </p:nvPr>
        </p:nvSpPr>
        <p:spPr/>
        <p:txBody>
          <a:bodyPr/>
          <a:lstStyle>
            <a:lvl1pPr>
              <a:defRPr/>
            </a:lvl1pPr>
          </a:lstStyle>
          <a:p>
            <a:fld id="{16F51E71-995A-45EF-AAB0-38D467D8AB85}" type="slidenum">
              <a:rPr lang="en-US" altLang="zh-CN" smtClean="0"/>
              <a:pPr/>
              <a:t>‹#›</a:t>
            </a:fld>
            <a:r>
              <a:rPr lang="en-US" altLang="zh-CN" dirty="0"/>
              <a:t>/162</a:t>
            </a:r>
          </a:p>
        </p:txBody>
      </p:sp>
    </p:spTree>
    <p:extLst>
      <p:ext uri="{BB962C8B-B14F-4D97-AF65-F5344CB8AC3E}">
        <p14:creationId xmlns:p14="http://schemas.microsoft.com/office/powerpoint/2010/main" val="2700258146"/>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CEDBAE25-2F4D-468A-83B7-6CB36E082CB6}" type="datetime1">
              <a:rPr lang="zh-CN" altLang="en-US" smtClean="0"/>
              <a:t>2025/11/6</a:t>
            </a:fld>
            <a:endParaRPr lang="en-US" altLang="zh-CN"/>
          </a:p>
        </p:txBody>
      </p:sp>
      <p:sp>
        <p:nvSpPr>
          <p:cNvPr id="5" name="页脚占位符 4"/>
          <p:cNvSpPr>
            <a:spLocks noGrp="1"/>
          </p:cNvSpPr>
          <p:nvPr>
            <p:ph type="ftr" sz="quarter" idx="11"/>
          </p:nvPr>
        </p:nvSpPr>
        <p:spPr/>
        <p:txBody>
          <a:bodyPr/>
          <a:lstStyle>
            <a:lvl1pPr>
              <a:defRPr/>
            </a:lvl1pPr>
          </a:lstStyle>
          <a:p>
            <a:r>
              <a:rPr lang="en-US" altLang="zh-CN"/>
              <a:t>《数据库系统概论》- 第6章</a:t>
            </a:r>
          </a:p>
        </p:txBody>
      </p:sp>
      <p:sp>
        <p:nvSpPr>
          <p:cNvPr id="6" name="灯片编号占位符 5"/>
          <p:cNvSpPr>
            <a:spLocks noGrp="1"/>
          </p:cNvSpPr>
          <p:nvPr>
            <p:ph type="sldNum" sz="quarter" idx="12"/>
          </p:nvPr>
        </p:nvSpPr>
        <p:spPr/>
        <p:txBody>
          <a:bodyPr/>
          <a:lstStyle>
            <a:lvl1pPr>
              <a:defRPr/>
            </a:lvl1pPr>
          </a:lstStyle>
          <a:p>
            <a:fld id="{C54DF839-432E-4533-990B-4B8F5CC2CF3F}" type="slidenum">
              <a:rPr lang="en-US" altLang="zh-CN" smtClean="0"/>
              <a:pPr/>
              <a:t>‹#›</a:t>
            </a:fld>
            <a:r>
              <a:rPr lang="en-US" altLang="zh-CN" dirty="0"/>
              <a:t>/162</a:t>
            </a:r>
          </a:p>
        </p:txBody>
      </p:sp>
    </p:spTree>
    <p:extLst>
      <p:ext uri="{BB962C8B-B14F-4D97-AF65-F5344CB8AC3E}">
        <p14:creationId xmlns:p14="http://schemas.microsoft.com/office/powerpoint/2010/main" val="17368090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69113" y="381000"/>
            <a:ext cx="2085975" cy="575151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381000"/>
            <a:ext cx="6107113" cy="575151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C8897F83-969D-4FD5-AC96-B09757F2E1E6}" type="datetime1">
              <a:rPr lang="zh-CN" altLang="en-US" smtClean="0"/>
              <a:t>2025/11/6</a:t>
            </a:fld>
            <a:endParaRPr lang="en-US" altLang="zh-CN"/>
          </a:p>
        </p:txBody>
      </p:sp>
      <p:sp>
        <p:nvSpPr>
          <p:cNvPr id="5" name="页脚占位符 4"/>
          <p:cNvSpPr>
            <a:spLocks noGrp="1"/>
          </p:cNvSpPr>
          <p:nvPr>
            <p:ph type="ftr" sz="quarter" idx="11"/>
          </p:nvPr>
        </p:nvSpPr>
        <p:spPr/>
        <p:txBody>
          <a:bodyPr/>
          <a:lstStyle>
            <a:lvl1pPr>
              <a:defRPr/>
            </a:lvl1pPr>
          </a:lstStyle>
          <a:p>
            <a:r>
              <a:rPr lang="en-US" altLang="zh-CN"/>
              <a:t>《数据库系统概论》- 第6章</a:t>
            </a:r>
          </a:p>
        </p:txBody>
      </p:sp>
      <p:sp>
        <p:nvSpPr>
          <p:cNvPr id="6" name="灯片编号占位符 5"/>
          <p:cNvSpPr>
            <a:spLocks noGrp="1"/>
          </p:cNvSpPr>
          <p:nvPr>
            <p:ph type="sldNum" sz="quarter" idx="12"/>
          </p:nvPr>
        </p:nvSpPr>
        <p:spPr/>
        <p:txBody>
          <a:bodyPr/>
          <a:lstStyle>
            <a:lvl1pPr>
              <a:defRPr/>
            </a:lvl1pPr>
          </a:lstStyle>
          <a:p>
            <a:fld id="{BB4E7352-D8BD-49EE-AC05-9CF28D786712}" type="slidenum">
              <a:rPr lang="en-US" altLang="zh-CN" smtClean="0"/>
              <a:pPr/>
              <a:t>‹#›</a:t>
            </a:fld>
            <a:r>
              <a:rPr lang="en-US" altLang="zh-CN" dirty="0"/>
              <a:t>/162</a:t>
            </a:r>
          </a:p>
        </p:txBody>
      </p:sp>
    </p:spTree>
    <p:extLst>
      <p:ext uri="{BB962C8B-B14F-4D97-AF65-F5344CB8AC3E}">
        <p14:creationId xmlns:p14="http://schemas.microsoft.com/office/powerpoint/2010/main" val="2557186158"/>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81000"/>
            <a:ext cx="8105775" cy="762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447800"/>
            <a:ext cx="4095750" cy="46847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57750" y="1447800"/>
            <a:ext cx="4097338" cy="46847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00" y="6248400"/>
            <a:ext cx="1905000" cy="457200"/>
          </a:xfrm>
        </p:spPr>
        <p:txBody>
          <a:bodyPr/>
          <a:lstStyle>
            <a:lvl1pPr>
              <a:defRPr/>
            </a:lvl1pPr>
          </a:lstStyle>
          <a:p>
            <a:fld id="{95CC034D-D47F-4624-B5BF-DC0A2467130B}" type="datetime1">
              <a:rPr lang="zh-CN" altLang="en-US" smtClean="0"/>
              <a:t>2025/11/6</a:t>
            </a:fld>
            <a:endParaRPr lang="en-US" altLang="zh-CN"/>
          </a:p>
        </p:txBody>
      </p:sp>
      <p:sp>
        <p:nvSpPr>
          <p:cNvPr id="6" name="页脚占位符 5"/>
          <p:cNvSpPr>
            <a:spLocks noGrp="1"/>
          </p:cNvSpPr>
          <p:nvPr>
            <p:ph type="ftr" sz="quarter" idx="11"/>
          </p:nvPr>
        </p:nvSpPr>
        <p:spPr>
          <a:xfrm>
            <a:off x="3276600" y="6243638"/>
            <a:ext cx="2895600" cy="457200"/>
          </a:xfrm>
        </p:spPr>
        <p:txBody>
          <a:bodyPr/>
          <a:lstStyle>
            <a:lvl1pPr>
              <a:defRPr/>
            </a:lvl1pPr>
          </a:lstStyle>
          <a:p>
            <a:r>
              <a:rPr lang="en-US" altLang="zh-CN"/>
              <a:t>《数据库系统概论》- 第6章</a:t>
            </a:r>
          </a:p>
        </p:txBody>
      </p:sp>
      <p:sp>
        <p:nvSpPr>
          <p:cNvPr id="7" name="灯片编号占位符 6"/>
          <p:cNvSpPr>
            <a:spLocks noGrp="1"/>
          </p:cNvSpPr>
          <p:nvPr>
            <p:ph type="sldNum" sz="quarter" idx="12"/>
          </p:nvPr>
        </p:nvSpPr>
        <p:spPr>
          <a:xfrm>
            <a:off x="7042150" y="6243638"/>
            <a:ext cx="1905000" cy="457200"/>
          </a:xfrm>
        </p:spPr>
        <p:txBody>
          <a:bodyPr/>
          <a:lstStyle>
            <a:lvl1pPr>
              <a:defRPr/>
            </a:lvl1pPr>
          </a:lstStyle>
          <a:p>
            <a:fld id="{BF2121B0-14FC-4FF4-BE73-FB699D38FECB}" type="slidenum">
              <a:rPr lang="en-US" altLang="zh-CN" smtClean="0"/>
              <a:pPr/>
              <a:t>‹#›</a:t>
            </a:fld>
            <a:r>
              <a:rPr lang="en-US" altLang="zh-CN" dirty="0"/>
              <a:t>/162</a:t>
            </a:r>
          </a:p>
        </p:txBody>
      </p:sp>
    </p:spTree>
    <p:extLst>
      <p:ext uri="{BB962C8B-B14F-4D97-AF65-F5344CB8AC3E}">
        <p14:creationId xmlns:p14="http://schemas.microsoft.com/office/powerpoint/2010/main" val="336982173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838200" y="381000"/>
            <a:ext cx="81057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4099" name="Rectangle 3"/>
          <p:cNvSpPr>
            <a:spLocks noGrp="1" noChangeArrowheads="1"/>
          </p:cNvSpPr>
          <p:nvPr>
            <p:ph type="body" idx="1"/>
          </p:nvPr>
        </p:nvSpPr>
        <p:spPr bwMode="auto">
          <a:xfrm>
            <a:off x="609600" y="1447800"/>
            <a:ext cx="8345488" cy="4684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0" name="Rectangle 4"/>
          <p:cNvSpPr>
            <a:spLocks noGrp="1" noChangeArrowheads="1"/>
          </p:cNvSpPr>
          <p:nvPr>
            <p:ph type="dt" sz="half" idx="2"/>
          </p:nvPr>
        </p:nvSpPr>
        <p:spPr bwMode="auto">
          <a:xfrm>
            <a:off x="6096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kumimoji="0" sz="1400"/>
            </a:lvl1pPr>
          </a:lstStyle>
          <a:p>
            <a:fld id="{1BD1408B-FAE1-4555-A448-FC98764624D8}" type="datetime1">
              <a:rPr lang="zh-CN" altLang="en-US" smtClean="0"/>
              <a:t>2025/11/6</a:t>
            </a:fld>
            <a:endParaRPr lang="en-US" altLang="zh-CN"/>
          </a:p>
        </p:txBody>
      </p:sp>
      <p:sp>
        <p:nvSpPr>
          <p:cNvPr id="4101" name="Rectangle 5"/>
          <p:cNvSpPr>
            <a:spLocks noGrp="1" noChangeArrowheads="1"/>
          </p:cNvSpPr>
          <p:nvPr>
            <p:ph type="ftr" sz="quarter" idx="3"/>
          </p:nvPr>
        </p:nvSpPr>
        <p:spPr bwMode="auto">
          <a:xfrm>
            <a:off x="3276600" y="624363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kumimoji="0" sz="1400"/>
            </a:lvl1pPr>
          </a:lstStyle>
          <a:p>
            <a:r>
              <a:rPr lang="en-US" altLang="zh-CN"/>
              <a:t>《数据库系统概论》- 第6章</a:t>
            </a:r>
          </a:p>
        </p:txBody>
      </p:sp>
      <p:sp>
        <p:nvSpPr>
          <p:cNvPr id="4102" name="Rectangle 6"/>
          <p:cNvSpPr>
            <a:spLocks noGrp="1" noChangeArrowheads="1"/>
          </p:cNvSpPr>
          <p:nvPr>
            <p:ph type="sldNum" sz="quarter" idx="4"/>
          </p:nvPr>
        </p:nvSpPr>
        <p:spPr bwMode="auto">
          <a:xfrm>
            <a:off x="70421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kumimoji="0" sz="1400">
                <a:latin typeface="Times New Roman" pitchFamily="18" charset="0"/>
              </a:defRPr>
            </a:lvl1pPr>
          </a:lstStyle>
          <a:p>
            <a:fld id="{E5D2F0E2-7A34-4EEA-8A4F-08B3FE24AFCA}" type="slidenum">
              <a:rPr lang="en-US" altLang="zh-CN" smtClean="0"/>
              <a:pPr/>
              <a:t>‹#›</a:t>
            </a:fld>
            <a:r>
              <a:rPr lang="en-US" altLang="zh-CN" dirty="0"/>
              <a:t>/151</a:t>
            </a:r>
          </a:p>
        </p:txBody>
      </p:sp>
      <p:pic>
        <p:nvPicPr>
          <p:cNvPr id="4103" name="Picture 7" descr="redBa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38200" y="1219200"/>
            <a:ext cx="7924800" cy="155575"/>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ransition>
    <p:fade/>
  </p:transition>
  <p:hf hdr="0"/>
  <p:txStyles>
    <p:titleStyle>
      <a:lvl1pPr algn="l" rtl="0" fontAlgn="base">
        <a:spcBef>
          <a:spcPct val="0"/>
        </a:spcBef>
        <a:spcAft>
          <a:spcPct val="0"/>
        </a:spcAft>
        <a:defRPr sz="3200">
          <a:solidFill>
            <a:schemeClr val="tx2"/>
          </a:solidFill>
          <a:latin typeface="+mj-lt"/>
          <a:ea typeface="+mj-ea"/>
          <a:cs typeface="+mj-cs"/>
        </a:defRPr>
      </a:lvl1pPr>
      <a:lvl2pPr algn="l" rtl="0" fontAlgn="base">
        <a:spcBef>
          <a:spcPct val="0"/>
        </a:spcBef>
        <a:spcAft>
          <a:spcPct val="0"/>
        </a:spcAft>
        <a:defRPr sz="3200">
          <a:solidFill>
            <a:schemeClr val="tx2"/>
          </a:solidFill>
          <a:latin typeface="Tahoma" pitchFamily="34" charset="0"/>
          <a:ea typeface="宋体" pitchFamily="2" charset="-122"/>
        </a:defRPr>
      </a:lvl2pPr>
      <a:lvl3pPr algn="l" rtl="0" fontAlgn="base">
        <a:spcBef>
          <a:spcPct val="0"/>
        </a:spcBef>
        <a:spcAft>
          <a:spcPct val="0"/>
        </a:spcAft>
        <a:defRPr sz="3200">
          <a:solidFill>
            <a:schemeClr val="tx2"/>
          </a:solidFill>
          <a:latin typeface="Tahoma" pitchFamily="34" charset="0"/>
          <a:ea typeface="宋体" pitchFamily="2" charset="-122"/>
        </a:defRPr>
      </a:lvl3pPr>
      <a:lvl4pPr algn="l" rtl="0" fontAlgn="base">
        <a:spcBef>
          <a:spcPct val="0"/>
        </a:spcBef>
        <a:spcAft>
          <a:spcPct val="0"/>
        </a:spcAft>
        <a:defRPr sz="3200">
          <a:solidFill>
            <a:schemeClr val="tx2"/>
          </a:solidFill>
          <a:latin typeface="Tahoma" pitchFamily="34" charset="0"/>
          <a:ea typeface="宋体" pitchFamily="2" charset="-122"/>
        </a:defRPr>
      </a:lvl4pPr>
      <a:lvl5pPr algn="l" rtl="0" fontAlgn="base">
        <a:spcBef>
          <a:spcPct val="0"/>
        </a:spcBef>
        <a:spcAft>
          <a:spcPct val="0"/>
        </a:spcAft>
        <a:defRPr sz="3200">
          <a:solidFill>
            <a:schemeClr val="tx2"/>
          </a:solidFill>
          <a:latin typeface="Tahoma" pitchFamily="34" charset="0"/>
          <a:ea typeface="宋体" pitchFamily="2" charset="-122"/>
        </a:defRPr>
      </a:lvl5pPr>
      <a:lvl6pPr marL="457200" algn="l" rtl="0" fontAlgn="base">
        <a:spcBef>
          <a:spcPct val="0"/>
        </a:spcBef>
        <a:spcAft>
          <a:spcPct val="0"/>
        </a:spcAft>
        <a:defRPr sz="3200">
          <a:solidFill>
            <a:schemeClr val="tx2"/>
          </a:solidFill>
          <a:latin typeface="Tahoma" pitchFamily="34" charset="0"/>
          <a:ea typeface="宋体" pitchFamily="2" charset="-122"/>
        </a:defRPr>
      </a:lvl6pPr>
      <a:lvl7pPr marL="914400" algn="l" rtl="0" fontAlgn="base">
        <a:spcBef>
          <a:spcPct val="0"/>
        </a:spcBef>
        <a:spcAft>
          <a:spcPct val="0"/>
        </a:spcAft>
        <a:defRPr sz="3200">
          <a:solidFill>
            <a:schemeClr val="tx2"/>
          </a:solidFill>
          <a:latin typeface="Tahoma" pitchFamily="34" charset="0"/>
          <a:ea typeface="宋体" pitchFamily="2" charset="-122"/>
        </a:defRPr>
      </a:lvl7pPr>
      <a:lvl8pPr marL="1371600" algn="l" rtl="0" fontAlgn="base">
        <a:spcBef>
          <a:spcPct val="0"/>
        </a:spcBef>
        <a:spcAft>
          <a:spcPct val="0"/>
        </a:spcAft>
        <a:defRPr sz="3200">
          <a:solidFill>
            <a:schemeClr val="tx2"/>
          </a:solidFill>
          <a:latin typeface="Tahoma" pitchFamily="34" charset="0"/>
          <a:ea typeface="宋体" pitchFamily="2" charset="-122"/>
        </a:defRPr>
      </a:lvl8pPr>
      <a:lvl9pPr marL="1828800" algn="l" rtl="0" fontAlgn="base">
        <a:spcBef>
          <a:spcPct val="0"/>
        </a:spcBef>
        <a:spcAft>
          <a:spcPct val="0"/>
        </a:spcAft>
        <a:defRPr sz="3200">
          <a:solidFill>
            <a:schemeClr val="tx2"/>
          </a:solidFill>
          <a:latin typeface="Tahoma" pitchFamily="34" charset="0"/>
          <a:ea typeface="宋体" pitchFamily="2" charset="-122"/>
        </a:defRPr>
      </a:lvl9pPr>
    </p:titleStyle>
    <p:bodyStyle>
      <a:lvl1pPr marL="342900" indent="-342900" algn="l" rtl="0" fontAlgn="base">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fontAlgn="base">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15.wmf"/><Relationship Id="rId7" Type="http://schemas.openxmlformats.org/officeDocument/2006/relationships/image" Target="../media/image17.wmf"/><Relationship Id="rId2"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oleObject" Target="../embeddings/oleObject5.bin"/><Relationship Id="rId11" Type="http://schemas.openxmlformats.org/officeDocument/2006/relationships/oleObject" Target="../embeddings/oleObject8.bin"/><Relationship Id="rId5" Type="http://schemas.openxmlformats.org/officeDocument/2006/relationships/image" Target="../media/image16.w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18.wmf"/></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ctrTitle"/>
          </p:nvPr>
        </p:nvSpPr>
        <p:spPr/>
        <p:txBody>
          <a:bodyPr/>
          <a:lstStyle/>
          <a:p>
            <a:r>
              <a:rPr lang="zh-CN" altLang="en-US" sz="4000">
                <a:latin typeface="Times New Roman" pitchFamily="18" charset="0"/>
              </a:rPr>
              <a:t>数据库系统原理</a:t>
            </a:r>
            <a:br>
              <a:rPr lang="zh-CN" altLang="en-US" sz="4000">
                <a:latin typeface="Times New Roman" pitchFamily="18" charset="0"/>
              </a:rPr>
            </a:br>
            <a:br>
              <a:rPr lang="zh-CN" altLang="en-US" sz="900">
                <a:latin typeface="Times New Roman" pitchFamily="18" charset="0"/>
              </a:rPr>
            </a:br>
            <a:r>
              <a:rPr lang="en-US" altLang="zh-CN" sz="2800">
                <a:latin typeface="Times New Roman" pitchFamily="18" charset="0"/>
              </a:rPr>
              <a:t>Database System Principles</a:t>
            </a:r>
          </a:p>
        </p:txBody>
      </p:sp>
      <p:sp>
        <p:nvSpPr>
          <p:cNvPr id="8195" name="Rectangle 3"/>
          <p:cNvSpPr>
            <a:spLocks noGrp="1" noChangeArrowheads="1"/>
          </p:cNvSpPr>
          <p:nvPr>
            <p:ph type="subTitle" idx="1"/>
          </p:nvPr>
        </p:nvSpPr>
        <p:spPr>
          <a:xfrm>
            <a:off x="1371600" y="3657600"/>
            <a:ext cx="6400800" cy="2438400"/>
          </a:xfrm>
        </p:spPr>
        <p:txBody>
          <a:bodyPr/>
          <a:lstStyle/>
          <a:p>
            <a:pPr>
              <a:lnSpc>
                <a:spcPct val="90000"/>
              </a:lnSpc>
            </a:pPr>
            <a:r>
              <a:rPr lang="zh-CN" altLang="en-US" sz="2400" dirty="0">
                <a:latin typeface="楷体_GB2312" pitchFamily="49" charset="-122"/>
                <a:ea typeface="楷体_GB2312" pitchFamily="49" charset="-122"/>
              </a:rPr>
              <a:t>四川大学计算机学院</a:t>
            </a:r>
          </a:p>
          <a:p>
            <a:pPr>
              <a:lnSpc>
                <a:spcPct val="90000"/>
              </a:lnSpc>
            </a:pPr>
            <a:endParaRPr lang="zh-CN" altLang="en-US" sz="2400" dirty="0">
              <a:latin typeface="楷体_GB2312" pitchFamily="49" charset="-122"/>
              <a:ea typeface="楷体_GB2312" pitchFamily="49" charset="-122"/>
            </a:endParaRPr>
          </a:p>
          <a:p>
            <a:pPr>
              <a:lnSpc>
                <a:spcPct val="90000"/>
              </a:lnSpc>
            </a:pPr>
            <a:r>
              <a:rPr lang="zh-CN" altLang="en-US" sz="2400" dirty="0">
                <a:latin typeface="Times New Roman" pitchFamily="18" charset="0"/>
                <a:ea typeface="楷体_GB2312" pitchFamily="49" charset="-122"/>
              </a:rPr>
              <a:t>郭际香</a:t>
            </a:r>
            <a:endParaRPr lang="en-US" altLang="zh-CN" sz="2400" dirty="0">
              <a:latin typeface="Times New Roman" pitchFamily="18" charset="0"/>
              <a:ea typeface="楷体_GB2312" pitchFamily="49" charset="-122"/>
            </a:endParaRPr>
          </a:p>
          <a:p>
            <a:pPr>
              <a:lnSpc>
                <a:spcPct val="90000"/>
              </a:lnSpc>
            </a:pPr>
            <a:r>
              <a:rPr lang="en-US" altLang="zh-CN" sz="2400" dirty="0">
                <a:latin typeface="Times New Roman" pitchFamily="18" charset="0"/>
                <a:ea typeface="楷体_GB2312" pitchFamily="49" charset="-122"/>
              </a:rPr>
              <a:t>guojixiang@scu.edu.cn</a:t>
            </a:r>
          </a:p>
          <a:p>
            <a:pPr>
              <a:lnSpc>
                <a:spcPct val="90000"/>
              </a:lnSpc>
            </a:pPr>
            <a:endParaRPr lang="en-US" altLang="zh-CN" sz="2400" dirty="0">
              <a:latin typeface="Times New Roman" pitchFamily="18" charset="0"/>
              <a:ea typeface="楷体_GB2312" pitchFamily="49" charset="-122"/>
            </a:endParaRPr>
          </a:p>
          <a:p>
            <a:pPr>
              <a:lnSpc>
                <a:spcPct val="90000"/>
              </a:lnSpc>
            </a:pPr>
            <a:r>
              <a:rPr lang="en-US" altLang="zh-CN" sz="2400">
                <a:latin typeface="Times New Roman" pitchFamily="18" charset="0"/>
              </a:rPr>
              <a:t>2025.11</a:t>
            </a:r>
            <a:endParaRPr lang="en-US" altLang="zh-CN" sz="2400" dirty="0">
              <a:latin typeface="Times New Roman" pitchFamily="18" charset="0"/>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a:xfrm>
            <a:off x="838200" y="838200"/>
            <a:ext cx="7772400" cy="1462088"/>
          </a:xfrm>
        </p:spPr>
        <p:txBody>
          <a:bodyPr/>
          <a:lstStyle/>
          <a:p>
            <a:r>
              <a:rPr lang="zh-CN" altLang="zh-CN" dirty="0"/>
              <a:t>第</a:t>
            </a:r>
            <a:r>
              <a:rPr lang="zh-CN" altLang="en-US" dirty="0"/>
              <a:t>八</a:t>
            </a:r>
            <a:r>
              <a:rPr lang="zh-CN" altLang="zh-CN"/>
              <a:t>章 </a:t>
            </a:r>
            <a:r>
              <a:rPr lang="zh-CN" altLang="en-US"/>
              <a:t>关系数据库设计</a:t>
            </a:r>
            <a:endParaRPr lang="en-US" altLang="zh-CN" dirty="0"/>
          </a:p>
        </p:txBody>
      </p:sp>
      <p:sp>
        <p:nvSpPr>
          <p:cNvPr id="9219" name="Rectangle 3"/>
          <p:cNvSpPr>
            <a:spLocks noGrp="1" noChangeArrowheads="1"/>
          </p:cNvSpPr>
          <p:nvPr>
            <p:ph type="subTitle" idx="1"/>
          </p:nvPr>
        </p:nvSpPr>
        <p:spPr>
          <a:xfrm>
            <a:off x="1143000" y="3505200"/>
            <a:ext cx="7162800" cy="2514600"/>
          </a:xfrm>
        </p:spPr>
        <p:txBody>
          <a:bodyPr/>
          <a:lstStyle/>
          <a:p>
            <a:pPr algn="l">
              <a:lnSpc>
                <a:spcPct val="80000"/>
              </a:lnSpc>
              <a:buFont typeface="Wingdings" pitchFamily="2" charset="2"/>
              <a:buChar char="n"/>
            </a:pPr>
            <a:r>
              <a:rPr lang="zh-CN" altLang="en-US" sz="2800" dirty="0"/>
              <a:t>  意义 </a:t>
            </a:r>
          </a:p>
          <a:p>
            <a:pPr marL="457200" lvl="1" indent="0">
              <a:lnSpc>
                <a:spcPct val="80000"/>
              </a:lnSpc>
            </a:pPr>
            <a:r>
              <a:rPr lang="zh-CN" altLang="en-US" sz="2400" dirty="0"/>
              <a:t>  提供分析和判断</a:t>
            </a:r>
            <a:r>
              <a:rPr lang="zh-CN" altLang="en-US" sz="2400" dirty="0">
                <a:solidFill>
                  <a:srgbClr val="FF0000"/>
                </a:solidFill>
              </a:rPr>
              <a:t>数据库模式</a:t>
            </a:r>
            <a:r>
              <a:rPr lang="zh-CN" altLang="en-US" sz="2400" dirty="0"/>
              <a:t>好坏的准则</a:t>
            </a:r>
          </a:p>
          <a:p>
            <a:pPr marL="457200" lvl="1" indent="0">
              <a:lnSpc>
                <a:spcPct val="80000"/>
              </a:lnSpc>
            </a:pPr>
            <a:r>
              <a:rPr lang="zh-CN" altLang="en-US" sz="2400" dirty="0"/>
              <a:t>  指导设计</a:t>
            </a:r>
            <a:r>
              <a:rPr lang="zh-CN" altLang="en-US" sz="2400" dirty="0">
                <a:solidFill>
                  <a:srgbClr val="FF0000"/>
                </a:solidFill>
              </a:rPr>
              <a:t>好的数据库模式</a:t>
            </a:r>
          </a:p>
          <a:p>
            <a:pPr algn="l">
              <a:lnSpc>
                <a:spcPct val="80000"/>
              </a:lnSpc>
              <a:spcBef>
                <a:spcPct val="50000"/>
              </a:spcBef>
              <a:buFont typeface="Wingdings" pitchFamily="2" charset="2"/>
              <a:buChar char="n"/>
            </a:pPr>
            <a:r>
              <a:rPr lang="zh-CN" altLang="en-US" sz="2800" dirty="0"/>
              <a:t>  难易度</a:t>
            </a:r>
          </a:p>
          <a:p>
            <a:pPr marL="457200" lvl="1" indent="0">
              <a:lnSpc>
                <a:spcPct val="80000"/>
              </a:lnSpc>
            </a:pPr>
            <a:r>
              <a:rPr lang="zh-CN" altLang="en-US" sz="2400" dirty="0"/>
              <a:t>  本章是本书最难的部分之一</a:t>
            </a:r>
          </a:p>
          <a:p>
            <a:pPr marL="457200" lvl="1" indent="0">
              <a:lnSpc>
                <a:spcPct val="80000"/>
              </a:lnSpc>
            </a:pPr>
            <a:r>
              <a:rPr lang="zh-CN" altLang="en-US" sz="2400" dirty="0"/>
              <a:t>  对于应用设计十分有用</a:t>
            </a:r>
            <a:endParaRPr lang="zh-CN" altLang="en-US" dirty="0">
              <a:latin typeface="Times New Roman" pitchFamily="18" charset="0"/>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half" idx="10"/>
          </p:nvPr>
        </p:nvSpPr>
        <p:spPr/>
        <p:txBody>
          <a:bodyPr/>
          <a:lstStyle/>
          <a:p>
            <a:fld id="{33F2E3F4-65BC-4990-A0F1-93FB96D325AF}" type="datetime1">
              <a:rPr lang="zh-CN" altLang="en-US" smtClean="0"/>
              <a:t>2025/11/6</a:t>
            </a:fld>
            <a:endParaRPr lang="en-US" altLang="zh-CN"/>
          </a:p>
        </p:txBody>
      </p:sp>
      <p:sp>
        <p:nvSpPr>
          <p:cNvPr id="253954" name="Rectangle 2"/>
          <p:cNvSpPr>
            <a:spLocks noGrp="1" noChangeArrowheads="1"/>
          </p:cNvSpPr>
          <p:nvPr>
            <p:ph type="title"/>
          </p:nvPr>
        </p:nvSpPr>
        <p:spPr/>
        <p:txBody>
          <a:bodyPr/>
          <a:lstStyle/>
          <a:p>
            <a:r>
              <a:rPr lang="zh-CN" altLang="en-US"/>
              <a:t>本章目录</a:t>
            </a:r>
          </a:p>
        </p:txBody>
      </p:sp>
      <p:sp>
        <p:nvSpPr>
          <p:cNvPr id="253955" name="Rectangle 3"/>
          <p:cNvSpPr>
            <a:spLocks noGrp="1" noChangeArrowheads="1"/>
          </p:cNvSpPr>
          <p:nvPr>
            <p:ph type="body" idx="1"/>
          </p:nvPr>
        </p:nvSpPr>
        <p:spPr>
          <a:xfrm>
            <a:off x="1371600" y="1639888"/>
            <a:ext cx="7583488" cy="4532312"/>
          </a:xfrm>
        </p:spPr>
        <p:txBody>
          <a:bodyPr/>
          <a:lstStyle/>
          <a:p>
            <a:r>
              <a:rPr lang="en-US" altLang="zh-CN" dirty="0"/>
              <a:t>8.1 </a:t>
            </a:r>
            <a:r>
              <a:rPr lang="zh-CN" altLang="en-US" dirty="0"/>
              <a:t>问题的提出</a:t>
            </a:r>
          </a:p>
          <a:p>
            <a:r>
              <a:rPr lang="en-US" altLang="zh-CN" dirty="0"/>
              <a:t>8.2 </a:t>
            </a:r>
            <a:r>
              <a:rPr lang="zh-CN" altLang="en-US" dirty="0"/>
              <a:t>规范化</a:t>
            </a:r>
            <a:endParaRPr lang="zh-CN" altLang="en-US" dirty="0">
              <a:solidFill>
                <a:srgbClr val="CC0000"/>
              </a:solidFill>
            </a:endParaRPr>
          </a:p>
          <a:p>
            <a:r>
              <a:rPr lang="en-US" altLang="zh-CN" dirty="0"/>
              <a:t>8.3 </a:t>
            </a:r>
            <a:r>
              <a:rPr lang="zh-CN" altLang="en-US" dirty="0"/>
              <a:t>数据依赖的公理系统</a:t>
            </a:r>
          </a:p>
          <a:p>
            <a:r>
              <a:rPr lang="en-US" altLang="zh-CN" dirty="0"/>
              <a:t>8.4 </a:t>
            </a:r>
            <a:r>
              <a:rPr lang="zh-CN" altLang="en-US" dirty="0"/>
              <a:t>模式的分解</a:t>
            </a:r>
            <a:endParaRPr lang="zh-CN" altLang="en-US" dirty="0">
              <a:solidFill>
                <a:srgbClr val="CC0000"/>
              </a:solidFill>
            </a:endParaRPr>
          </a:p>
        </p:txBody>
      </p:sp>
      <p:sp>
        <p:nvSpPr>
          <p:cNvPr id="253956" name="AutoShape 4"/>
          <p:cNvSpPr>
            <a:spLocks noChangeArrowheads="1"/>
          </p:cNvSpPr>
          <p:nvPr/>
        </p:nvSpPr>
        <p:spPr bwMode="auto">
          <a:xfrm>
            <a:off x="838200" y="1752600"/>
            <a:ext cx="457200" cy="457200"/>
          </a:xfrm>
          <a:prstGeom prst="rightArrow">
            <a:avLst>
              <a:gd name="adj1" fmla="val 50000"/>
              <a:gd name="adj2" fmla="val 40278"/>
            </a:avLst>
          </a:prstGeom>
          <a:solidFill>
            <a:srgbClr val="FFCC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页脚占位符 2">
            <a:extLst>
              <a:ext uri="{FF2B5EF4-FFF2-40B4-BE49-F238E27FC236}">
                <a16:creationId xmlns:a16="http://schemas.microsoft.com/office/drawing/2014/main" id="{8D5F850C-D700-1BCC-4CE7-C7B4066EC705}"/>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DCC9E8B4-A779-5743-5B6D-2C8468CC258C}"/>
              </a:ext>
            </a:extLst>
          </p:cNvPr>
          <p:cNvSpPr>
            <a:spLocks noGrp="1"/>
          </p:cNvSpPr>
          <p:nvPr>
            <p:ph type="sldNum" sz="quarter" idx="12"/>
          </p:nvPr>
        </p:nvSpPr>
        <p:spPr/>
        <p:txBody>
          <a:bodyPr/>
          <a:lstStyle/>
          <a:p>
            <a:fld id="{A2D74603-B40B-4D66-8F6E-41C870D48932}" type="slidenum">
              <a:rPr lang="en-US" altLang="zh-CN" smtClean="0"/>
              <a:pPr/>
              <a:t>3</a:t>
            </a:fld>
            <a:r>
              <a:rPr lang="en-US" altLang="zh-CN"/>
              <a:t>/162</a:t>
            </a:r>
            <a:endParaRPr lang="en-US" altLang="zh-CN"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253956"/>
                                        </p:tgtEl>
                                        <p:attrNameLst>
                                          <p:attrName>style.visibility</p:attrName>
                                        </p:attrNameLst>
                                      </p:cBhvr>
                                      <p:to>
                                        <p:strVal val="visible"/>
                                      </p:to>
                                    </p:set>
                                    <p:anim calcmode="lin" valueType="num">
                                      <p:cBhvr additive="base">
                                        <p:cTn id="7" dur="500" fill="hold"/>
                                        <p:tgtEl>
                                          <p:spTgt spid="253956"/>
                                        </p:tgtEl>
                                        <p:attrNameLst>
                                          <p:attrName>ppt_x</p:attrName>
                                        </p:attrNameLst>
                                      </p:cBhvr>
                                      <p:tavLst>
                                        <p:tav tm="0">
                                          <p:val>
                                            <p:strVal val="0-#ppt_w/2"/>
                                          </p:val>
                                        </p:tav>
                                        <p:tav tm="100000">
                                          <p:val>
                                            <p:strVal val="#ppt_x"/>
                                          </p:val>
                                        </p:tav>
                                      </p:tavLst>
                                    </p:anim>
                                    <p:anim calcmode="lin" valueType="num">
                                      <p:cBhvr additive="base">
                                        <p:cTn id="8" dur="500" fill="hold"/>
                                        <p:tgtEl>
                                          <p:spTgt spid="2539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95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0A40F21-61BD-4BAE-A4B8-2F3A8B00C09C}" type="datetime1">
              <a:rPr lang="zh-CN" altLang="en-US" smtClean="0"/>
              <a:t>2025/11/6</a:t>
            </a:fld>
            <a:endParaRPr lang="en-US" altLang="zh-CN"/>
          </a:p>
        </p:txBody>
      </p:sp>
      <p:sp>
        <p:nvSpPr>
          <p:cNvPr id="260098" name="Rectangle 2"/>
          <p:cNvSpPr>
            <a:spLocks noGrp="1" noChangeArrowheads="1"/>
          </p:cNvSpPr>
          <p:nvPr>
            <p:ph type="title"/>
          </p:nvPr>
        </p:nvSpPr>
        <p:spPr/>
        <p:txBody>
          <a:bodyPr/>
          <a:lstStyle/>
          <a:p>
            <a:r>
              <a:rPr lang="en-US" altLang="zh-CN" sz="2800" dirty="0"/>
              <a:t>8.1 </a:t>
            </a:r>
            <a:r>
              <a:rPr lang="zh-CN" altLang="en-US" sz="2800" dirty="0"/>
              <a:t>问题的提出－－什么是不好的数据库设计</a:t>
            </a:r>
          </a:p>
        </p:txBody>
      </p:sp>
      <p:sp>
        <p:nvSpPr>
          <p:cNvPr id="260099" name="Rectangle 3"/>
          <p:cNvSpPr>
            <a:spLocks noGrp="1" noChangeArrowheads="1"/>
          </p:cNvSpPr>
          <p:nvPr>
            <p:ph type="body" idx="1"/>
          </p:nvPr>
        </p:nvSpPr>
        <p:spPr>
          <a:xfrm>
            <a:off x="609600" y="1447800"/>
            <a:ext cx="8210872" cy="4684713"/>
          </a:xfrm>
        </p:spPr>
        <p:txBody>
          <a:bodyPr/>
          <a:lstStyle/>
          <a:p>
            <a:r>
              <a:rPr lang="zh-CN" altLang="en-US" dirty="0"/>
              <a:t>我们目前为止掌握的知识尚无法解决大量的具体设计问题，即</a:t>
            </a:r>
            <a:r>
              <a:rPr lang="zh-CN" altLang="en-US" u="sng" dirty="0">
                <a:solidFill>
                  <a:srgbClr val="FF0000"/>
                </a:solidFill>
              </a:rPr>
              <a:t>关系模式</a:t>
            </a:r>
            <a:r>
              <a:rPr lang="zh-CN" altLang="en-US" u="sng" dirty="0">
                <a:solidFill>
                  <a:srgbClr val="0000FF"/>
                </a:solidFill>
              </a:rPr>
              <a:t>该如何选择</a:t>
            </a:r>
            <a:r>
              <a:rPr lang="zh-CN" altLang="en-US" dirty="0"/>
              <a:t>。</a:t>
            </a:r>
          </a:p>
          <a:p>
            <a:pPr lvl="1"/>
            <a:r>
              <a:rPr lang="zh-CN" altLang="en-US" dirty="0"/>
              <a:t>应用数据库应该由</a:t>
            </a:r>
            <a:r>
              <a:rPr lang="zh-CN" altLang="en-US" dirty="0">
                <a:solidFill>
                  <a:srgbClr val="FF0000"/>
                </a:solidFill>
              </a:rPr>
              <a:t>多少个表</a:t>
            </a:r>
            <a:r>
              <a:rPr lang="zh-CN" altLang="en-US" dirty="0"/>
              <a:t>组成？</a:t>
            </a:r>
          </a:p>
          <a:p>
            <a:pPr lvl="1"/>
            <a:r>
              <a:rPr lang="zh-CN" altLang="en-US" dirty="0"/>
              <a:t>每个表有</a:t>
            </a:r>
            <a:r>
              <a:rPr lang="zh-CN" altLang="en-US" dirty="0">
                <a:solidFill>
                  <a:srgbClr val="FF0000"/>
                </a:solidFill>
              </a:rPr>
              <a:t>哪些字段</a:t>
            </a:r>
            <a:r>
              <a:rPr lang="zh-CN" altLang="en-US" dirty="0"/>
              <a:t>？</a:t>
            </a:r>
          </a:p>
          <a:p>
            <a:r>
              <a:rPr lang="zh-CN" altLang="en-US" dirty="0"/>
              <a:t>本章从</a:t>
            </a:r>
            <a:r>
              <a:rPr lang="zh-CN" altLang="en-US" dirty="0">
                <a:solidFill>
                  <a:srgbClr val="0000FF"/>
                </a:solidFill>
              </a:rPr>
              <a:t>理论上</a:t>
            </a:r>
            <a:r>
              <a:rPr lang="zh-CN" altLang="en-US" dirty="0"/>
              <a:t>解决</a:t>
            </a:r>
            <a:r>
              <a:rPr lang="zh-CN" altLang="en-US" u="sng" dirty="0"/>
              <a:t>关系数据库的</a:t>
            </a:r>
            <a:r>
              <a:rPr lang="zh-CN" altLang="en-US" u="sng" dirty="0">
                <a:solidFill>
                  <a:srgbClr val="FF0000"/>
                </a:solidFill>
              </a:rPr>
              <a:t>逻辑设计问题</a:t>
            </a:r>
            <a:r>
              <a:rPr lang="zh-CN" altLang="en-US" dirty="0"/>
              <a:t>。</a:t>
            </a:r>
            <a:endParaRPr lang="en-US" altLang="zh-CN" dirty="0"/>
          </a:p>
          <a:p>
            <a:r>
              <a:rPr lang="zh-CN" altLang="en-US" dirty="0"/>
              <a:t>数据库逻辑设计的工具──</a:t>
            </a:r>
            <a:r>
              <a:rPr lang="zh-CN" altLang="en-US" dirty="0">
                <a:solidFill>
                  <a:srgbClr val="FF0000"/>
                </a:solidFill>
              </a:rPr>
              <a:t>关系数据库的规范化理论</a:t>
            </a:r>
          </a:p>
          <a:p>
            <a:pPr>
              <a:buFont typeface="Wingdings" pitchFamily="2" charset="2"/>
              <a:buNone/>
            </a:pPr>
            <a:endParaRPr lang="zh-CN" altLang="en-US" dirty="0"/>
          </a:p>
        </p:txBody>
      </p:sp>
      <p:sp>
        <p:nvSpPr>
          <p:cNvPr id="3" name="页脚占位符 2">
            <a:extLst>
              <a:ext uri="{FF2B5EF4-FFF2-40B4-BE49-F238E27FC236}">
                <a16:creationId xmlns:a16="http://schemas.microsoft.com/office/drawing/2014/main" id="{DEF0D8F8-9405-E3E1-3A86-84D1D80625A9}"/>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099040EB-C337-D94F-B3AB-3764D45BCA87}"/>
              </a:ext>
            </a:extLst>
          </p:cNvPr>
          <p:cNvSpPr>
            <a:spLocks noGrp="1"/>
          </p:cNvSpPr>
          <p:nvPr>
            <p:ph type="sldNum" sz="quarter" idx="12"/>
          </p:nvPr>
        </p:nvSpPr>
        <p:spPr/>
        <p:txBody>
          <a:bodyPr/>
          <a:lstStyle/>
          <a:p>
            <a:fld id="{A2D74603-B40B-4D66-8F6E-41C870D48932}" type="slidenum">
              <a:rPr lang="en-US" altLang="zh-CN" smtClean="0"/>
              <a:pPr/>
              <a:t>4</a:t>
            </a:fld>
            <a:r>
              <a:rPr lang="en-US" altLang="zh-CN"/>
              <a:t>/162</a:t>
            </a:r>
            <a:endParaRPr lang="en-US" altLang="zh-CN"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0099">
                                            <p:txEl>
                                              <p:pRg st="3" end="3"/>
                                            </p:txEl>
                                          </p:spTgt>
                                        </p:tgtEl>
                                        <p:attrNameLst>
                                          <p:attrName>style.visibility</p:attrName>
                                        </p:attrNameLst>
                                      </p:cBhvr>
                                      <p:to>
                                        <p:strVal val="visible"/>
                                      </p:to>
                                    </p:set>
                                    <p:anim calcmode="lin" valueType="num">
                                      <p:cBhvr additive="base">
                                        <p:cTn id="7" dur="500" fill="hold"/>
                                        <p:tgtEl>
                                          <p:spTgt spid="260099">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009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60099">
                                            <p:txEl>
                                              <p:pRg st="4" end="4"/>
                                            </p:txEl>
                                          </p:spTgt>
                                        </p:tgtEl>
                                        <p:attrNameLst>
                                          <p:attrName>style.visibility</p:attrName>
                                        </p:attrNameLst>
                                      </p:cBhvr>
                                      <p:to>
                                        <p:strVal val="visible"/>
                                      </p:to>
                                    </p:set>
                                    <p:anim calcmode="lin" valueType="num">
                                      <p:cBhvr additive="base">
                                        <p:cTn id="13" dur="500" fill="hold"/>
                                        <p:tgtEl>
                                          <p:spTgt spid="260099">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6009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日期占位符 3"/>
          <p:cNvSpPr>
            <a:spLocks noGrp="1"/>
          </p:cNvSpPr>
          <p:nvPr>
            <p:ph type="dt" sz="quarter" idx="10"/>
          </p:nvPr>
        </p:nvSpPr>
        <p:spPr>
          <a:noFill/>
        </p:spPr>
        <p:txBody>
          <a:bodyPr/>
          <a:lstStyle>
            <a:lvl1pPr eaLnBrk="0" hangingPunct="0">
              <a:buChar char="n"/>
              <a:defRPr sz="3200">
                <a:solidFill>
                  <a:schemeClr val="tx1"/>
                </a:solidFill>
                <a:latin typeface="Tahoma" pitchFamily="34" charset="0"/>
                <a:ea typeface="宋体" pitchFamily="2" charset="-122"/>
              </a:defRPr>
            </a:lvl1pPr>
            <a:lvl2pPr marL="742950" indent="-285750" eaLnBrk="0" hangingPunct="0">
              <a:buClr>
                <a:schemeClr val="hlink"/>
              </a:buClr>
              <a:buSzPct val="55000"/>
              <a:buChar char="n"/>
              <a:defRPr sz="2800">
                <a:solidFill>
                  <a:schemeClr val="tx1"/>
                </a:solidFill>
                <a:latin typeface="Tahoma" pitchFamily="34" charset="0"/>
                <a:ea typeface="宋体" pitchFamily="2" charset="-122"/>
              </a:defRPr>
            </a:lvl2pPr>
            <a:lvl3pPr marL="1143000" indent="-228600" eaLnBrk="0" hangingPunct="0">
              <a:buSzPct val="50000"/>
              <a:buChar char="n"/>
              <a:defRPr sz="2400">
                <a:solidFill>
                  <a:schemeClr val="tx1"/>
                </a:solidFill>
                <a:latin typeface="Tahoma" pitchFamily="34" charset="0"/>
                <a:ea typeface="宋体" pitchFamily="2" charset="-122"/>
              </a:defRPr>
            </a:lvl3pPr>
            <a:lvl4pPr marL="1600200" indent="-228600" eaLnBrk="0" hangingPunct="0">
              <a:buClr>
                <a:schemeClr val="accent2"/>
              </a:buClr>
              <a:buSzPct val="55000"/>
              <a:buChar char="n"/>
              <a:defRPr sz="2000">
                <a:solidFill>
                  <a:schemeClr val="tx1"/>
                </a:solidFill>
                <a:latin typeface="Tahoma" pitchFamily="34" charset="0"/>
                <a:ea typeface="宋体" pitchFamily="2" charset="-122"/>
              </a:defRPr>
            </a:lvl4pPr>
            <a:lvl5pPr marL="2057400" indent="-228600" eaLnBrk="0" hangingPunct="0">
              <a:buClr>
                <a:schemeClr val="accent1"/>
              </a:buClr>
              <a:buSzPct val="50000"/>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buFontTx/>
              <a:buNone/>
            </a:pPr>
            <a:fld id="{193F5BA2-BEE5-4F52-881E-7A4D1D6B52CD}" type="datetime1">
              <a:rPr lang="zh-CN" altLang="en-US" sz="1400" smtClean="0">
                <a:latin typeface="Times New Roman" pitchFamily="18" charset="0"/>
              </a:rPr>
              <a:t>2025/11/6</a:t>
            </a:fld>
            <a:endParaRPr lang="en-US" altLang="zh-CN" sz="1400">
              <a:latin typeface="Times New Roman" pitchFamily="18" charset="0"/>
            </a:endParaRPr>
          </a:p>
        </p:txBody>
      </p:sp>
      <p:sp>
        <p:nvSpPr>
          <p:cNvPr id="27653" name="Rectangle 2"/>
          <p:cNvSpPr>
            <a:spLocks noGrp="1" noChangeArrowheads="1"/>
          </p:cNvSpPr>
          <p:nvPr>
            <p:ph type="title"/>
          </p:nvPr>
        </p:nvSpPr>
        <p:spPr/>
        <p:txBody>
          <a:bodyPr/>
          <a:lstStyle/>
          <a:p>
            <a:pPr eaLnBrk="1" hangingPunct="1"/>
            <a:r>
              <a:rPr lang="zh-CN" altLang="en-US" dirty="0"/>
              <a:t>关系模式 回顾</a:t>
            </a:r>
          </a:p>
        </p:txBody>
      </p:sp>
      <p:sp>
        <p:nvSpPr>
          <p:cNvPr id="27654" name="Rectangle 3"/>
          <p:cNvSpPr>
            <a:spLocks noGrp="1" noChangeArrowheads="1"/>
          </p:cNvSpPr>
          <p:nvPr>
            <p:ph type="body" idx="1"/>
          </p:nvPr>
        </p:nvSpPr>
        <p:spPr>
          <a:xfrm>
            <a:off x="609600" y="1447800"/>
            <a:ext cx="8138864" cy="4684713"/>
          </a:xfrm>
        </p:spPr>
        <p:txBody>
          <a:bodyPr/>
          <a:lstStyle/>
          <a:p>
            <a:pPr eaLnBrk="1" hangingPunct="1"/>
            <a:r>
              <a:rPr lang="zh-CN" altLang="en-US" dirty="0">
                <a:solidFill>
                  <a:schemeClr val="folHlink"/>
                </a:solidFill>
              </a:rPr>
              <a:t>定义</a:t>
            </a:r>
            <a:r>
              <a:rPr lang="en-US" altLang="zh-CN" dirty="0">
                <a:solidFill>
                  <a:schemeClr val="folHlink"/>
                </a:solidFill>
              </a:rPr>
              <a:t>2.4</a:t>
            </a:r>
            <a:r>
              <a:rPr lang="en-US" altLang="zh-CN" dirty="0"/>
              <a:t>  </a:t>
            </a:r>
            <a:r>
              <a:rPr lang="zh-CN" altLang="en-US" dirty="0"/>
              <a:t>关系的</a:t>
            </a:r>
            <a:r>
              <a:rPr lang="zh-CN" altLang="en-US" dirty="0">
                <a:solidFill>
                  <a:srgbClr val="FF0000"/>
                </a:solidFill>
              </a:rPr>
              <a:t>描述</a:t>
            </a:r>
            <a:r>
              <a:rPr lang="zh-CN" altLang="en-US" dirty="0"/>
              <a:t>称为关系模式，可表述为：</a:t>
            </a:r>
            <a:r>
              <a:rPr lang="en-US" altLang="zh-CN" dirty="0"/>
              <a:t>R(</a:t>
            </a:r>
            <a:r>
              <a:rPr lang="en-US" altLang="zh-CN" dirty="0">
                <a:solidFill>
                  <a:srgbClr val="0000FF"/>
                </a:solidFill>
              </a:rPr>
              <a:t>U, D, </a:t>
            </a:r>
            <a:r>
              <a:rPr lang="en-US" altLang="zh-CN" dirty="0" err="1">
                <a:solidFill>
                  <a:srgbClr val="0000FF"/>
                </a:solidFill>
              </a:rPr>
              <a:t>dom</a:t>
            </a:r>
            <a:r>
              <a:rPr lang="en-US" altLang="zh-CN" dirty="0"/>
              <a:t>, </a:t>
            </a:r>
            <a:r>
              <a:rPr lang="en-US" altLang="zh-CN" dirty="0">
                <a:solidFill>
                  <a:srgbClr val="FF0000"/>
                </a:solidFill>
              </a:rPr>
              <a:t>F</a:t>
            </a:r>
            <a:r>
              <a:rPr lang="en-US" altLang="zh-CN" dirty="0">
                <a:solidFill>
                  <a:srgbClr val="C00000"/>
                </a:solidFill>
              </a:rPr>
              <a:t>)</a:t>
            </a:r>
            <a:r>
              <a:rPr lang="zh-CN" altLang="en-US" dirty="0"/>
              <a:t>，其中</a:t>
            </a:r>
          </a:p>
          <a:p>
            <a:pPr lvl="1" eaLnBrk="1" hangingPunct="1"/>
            <a:r>
              <a:rPr lang="en-US" altLang="zh-CN" dirty="0">
                <a:solidFill>
                  <a:srgbClr val="0000FF"/>
                </a:solidFill>
              </a:rPr>
              <a:t>R</a:t>
            </a:r>
            <a:r>
              <a:rPr lang="zh-CN" altLang="en-US" dirty="0"/>
              <a:t>为关系名，</a:t>
            </a:r>
          </a:p>
          <a:p>
            <a:pPr lvl="1" eaLnBrk="1" hangingPunct="1"/>
            <a:r>
              <a:rPr lang="en-US" altLang="zh-CN" dirty="0">
                <a:solidFill>
                  <a:srgbClr val="0000FF"/>
                </a:solidFill>
              </a:rPr>
              <a:t>U</a:t>
            </a:r>
            <a:r>
              <a:rPr lang="zh-CN" altLang="en-US" dirty="0"/>
              <a:t>为组成该关系地</a:t>
            </a:r>
            <a:r>
              <a:rPr lang="zh-CN" altLang="en-US" dirty="0">
                <a:solidFill>
                  <a:srgbClr val="0000FF"/>
                </a:solidFill>
              </a:rPr>
              <a:t>属性名集合</a:t>
            </a:r>
            <a:r>
              <a:rPr lang="zh-CN" altLang="en-US" dirty="0"/>
              <a:t>，</a:t>
            </a:r>
          </a:p>
          <a:p>
            <a:pPr lvl="1" eaLnBrk="1" hangingPunct="1"/>
            <a:r>
              <a:rPr lang="en-US" altLang="zh-CN" dirty="0">
                <a:solidFill>
                  <a:srgbClr val="0000FF"/>
                </a:solidFill>
              </a:rPr>
              <a:t>D</a:t>
            </a:r>
            <a:r>
              <a:rPr lang="zh-CN" altLang="en-US" dirty="0"/>
              <a:t>为属性组</a:t>
            </a:r>
            <a:r>
              <a:rPr lang="en-US" altLang="zh-CN" dirty="0"/>
              <a:t>U</a:t>
            </a:r>
            <a:r>
              <a:rPr lang="zh-CN" altLang="en-US" dirty="0"/>
              <a:t>中属性所来自的</a:t>
            </a:r>
            <a:r>
              <a:rPr lang="zh-CN" altLang="en-US" dirty="0">
                <a:solidFill>
                  <a:srgbClr val="0000FF"/>
                </a:solidFill>
              </a:rPr>
              <a:t>域</a:t>
            </a:r>
            <a:r>
              <a:rPr lang="zh-CN" altLang="en-US" dirty="0"/>
              <a:t>，</a:t>
            </a:r>
          </a:p>
          <a:p>
            <a:pPr lvl="1" eaLnBrk="1" hangingPunct="1"/>
            <a:r>
              <a:rPr lang="en-US" altLang="zh-CN" dirty="0" err="1">
                <a:solidFill>
                  <a:srgbClr val="0000FF"/>
                </a:solidFill>
              </a:rPr>
              <a:t>dom</a:t>
            </a:r>
            <a:r>
              <a:rPr lang="zh-CN" altLang="en-US" dirty="0"/>
              <a:t>为属性向域的映象集合，</a:t>
            </a:r>
          </a:p>
          <a:p>
            <a:pPr lvl="1" eaLnBrk="1" hangingPunct="1"/>
            <a:r>
              <a:rPr lang="en-US" altLang="zh-CN" dirty="0">
                <a:solidFill>
                  <a:srgbClr val="FF0000"/>
                </a:solidFill>
              </a:rPr>
              <a:t>F</a:t>
            </a:r>
            <a:r>
              <a:rPr lang="zh-CN" altLang="en-US" dirty="0"/>
              <a:t>为</a:t>
            </a:r>
            <a:r>
              <a:rPr lang="zh-CN" altLang="en-US" b="1" dirty="0">
                <a:solidFill>
                  <a:srgbClr val="0000FF"/>
                </a:solidFill>
              </a:rPr>
              <a:t>属性间</a:t>
            </a:r>
            <a:r>
              <a:rPr lang="zh-CN" altLang="en-US" b="1" dirty="0">
                <a:solidFill>
                  <a:srgbClr val="FF0000"/>
                </a:solidFill>
              </a:rPr>
              <a:t>数据的依赖关系</a:t>
            </a:r>
            <a:r>
              <a:rPr lang="zh-CN" altLang="en-US" dirty="0">
                <a:solidFill>
                  <a:srgbClr val="0000FF"/>
                </a:solidFill>
              </a:rPr>
              <a:t>集</a:t>
            </a:r>
            <a:r>
              <a:rPr lang="zh-CN" altLang="en-US" dirty="0"/>
              <a:t>。</a:t>
            </a:r>
          </a:p>
          <a:p>
            <a:pPr eaLnBrk="1" hangingPunct="1"/>
            <a:endParaRPr lang="zh-CN" altLang="en-US" dirty="0"/>
          </a:p>
        </p:txBody>
      </p:sp>
      <p:sp>
        <p:nvSpPr>
          <p:cNvPr id="3" name="页脚占位符 2">
            <a:extLst>
              <a:ext uri="{FF2B5EF4-FFF2-40B4-BE49-F238E27FC236}">
                <a16:creationId xmlns:a16="http://schemas.microsoft.com/office/drawing/2014/main" id="{B836AEDB-A58D-6973-BFF3-196252CEDA6D}"/>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CD652FB4-3631-1EFD-6AB7-665B202B10F0}"/>
              </a:ext>
            </a:extLst>
          </p:cNvPr>
          <p:cNvSpPr>
            <a:spLocks noGrp="1"/>
          </p:cNvSpPr>
          <p:nvPr>
            <p:ph type="sldNum" sz="quarter" idx="12"/>
          </p:nvPr>
        </p:nvSpPr>
        <p:spPr/>
        <p:txBody>
          <a:bodyPr/>
          <a:lstStyle/>
          <a:p>
            <a:fld id="{A2D74603-B40B-4D66-8F6E-41C870D48932}" type="slidenum">
              <a:rPr lang="en-US" altLang="zh-CN" smtClean="0"/>
              <a:pPr/>
              <a:t>5</a:t>
            </a:fld>
            <a:r>
              <a:rPr lang="en-US" altLang="zh-CN"/>
              <a:t>/162</a:t>
            </a:r>
            <a:endParaRPr lang="en-US" altLang="zh-CN" dirty="0"/>
          </a:p>
        </p:txBody>
      </p:sp>
    </p:spTree>
    <p:extLst>
      <p:ext uri="{BB962C8B-B14F-4D97-AF65-F5344CB8AC3E}">
        <p14:creationId xmlns:p14="http://schemas.microsoft.com/office/powerpoint/2010/main" val="210295928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EFE804E-75A0-43C2-B5B9-30C92E370093}" type="datetime1">
              <a:rPr lang="zh-CN" altLang="en-US" smtClean="0"/>
              <a:t>2025/11/6</a:t>
            </a:fld>
            <a:endParaRPr lang="en-US" altLang="zh-CN"/>
          </a:p>
        </p:txBody>
      </p:sp>
      <p:sp>
        <p:nvSpPr>
          <p:cNvPr id="259074" name="Rectangle 2"/>
          <p:cNvSpPr>
            <a:spLocks noGrp="1" noChangeArrowheads="1"/>
          </p:cNvSpPr>
          <p:nvPr>
            <p:ph type="title"/>
          </p:nvPr>
        </p:nvSpPr>
        <p:spPr/>
        <p:txBody>
          <a:bodyPr/>
          <a:lstStyle/>
          <a:p>
            <a:r>
              <a:rPr lang="zh-CN" altLang="en-US"/>
              <a:t>关系模式</a:t>
            </a:r>
          </a:p>
        </p:txBody>
      </p:sp>
      <p:sp>
        <p:nvSpPr>
          <p:cNvPr id="259075" name="Rectangle 3"/>
          <p:cNvSpPr>
            <a:spLocks noGrp="1" noChangeArrowheads="1"/>
          </p:cNvSpPr>
          <p:nvPr>
            <p:ph type="body" idx="1"/>
          </p:nvPr>
        </p:nvSpPr>
        <p:spPr/>
        <p:txBody>
          <a:bodyPr/>
          <a:lstStyle/>
          <a:p>
            <a:r>
              <a:rPr lang="zh-CN" altLang="en-US" sz="2800" dirty="0"/>
              <a:t>一个关系模式应当是一个</a:t>
            </a:r>
            <a:r>
              <a:rPr lang="zh-CN" altLang="en-US" sz="2800" dirty="0">
                <a:solidFill>
                  <a:srgbClr val="0000FF"/>
                </a:solidFill>
              </a:rPr>
              <a:t>五元组</a:t>
            </a:r>
            <a:r>
              <a:rPr lang="zh-CN" altLang="en-US" sz="2800" dirty="0"/>
              <a:t>。 </a:t>
            </a:r>
            <a:br>
              <a:rPr lang="zh-CN" altLang="en-US" sz="2800" dirty="0"/>
            </a:br>
            <a:r>
              <a:rPr lang="en-US" altLang="zh-CN" sz="2800" dirty="0">
                <a:solidFill>
                  <a:srgbClr val="0000FF"/>
                </a:solidFill>
              </a:rPr>
              <a:t>R</a:t>
            </a:r>
            <a:r>
              <a:rPr lang="zh-CN" altLang="en-US" sz="2800" dirty="0">
                <a:solidFill>
                  <a:srgbClr val="0000FF"/>
                </a:solidFill>
              </a:rPr>
              <a:t>（</a:t>
            </a:r>
            <a:r>
              <a:rPr lang="en-US" altLang="zh-CN" sz="2800" dirty="0">
                <a:solidFill>
                  <a:srgbClr val="0000FF"/>
                </a:solidFill>
              </a:rPr>
              <a:t>U, </a:t>
            </a:r>
            <a:r>
              <a:rPr lang="en-US" altLang="zh-CN" sz="2800" dirty="0"/>
              <a:t>D, DOM, </a:t>
            </a:r>
            <a:r>
              <a:rPr lang="en-US" altLang="zh-CN" sz="2800" dirty="0">
                <a:solidFill>
                  <a:srgbClr val="FF0000"/>
                </a:solidFill>
              </a:rPr>
              <a:t>F</a:t>
            </a:r>
            <a:r>
              <a:rPr lang="zh-CN" altLang="en-US" sz="2800" dirty="0"/>
              <a:t>） </a:t>
            </a:r>
          </a:p>
          <a:p>
            <a:pPr lvl="1"/>
            <a:r>
              <a:rPr lang="en-US" altLang="zh-CN" sz="2400" b="1" dirty="0">
                <a:solidFill>
                  <a:srgbClr val="FF0000"/>
                </a:solidFill>
              </a:rPr>
              <a:t>F</a:t>
            </a:r>
            <a:r>
              <a:rPr lang="zh-CN" altLang="en-US" sz="2400" dirty="0"/>
              <a:t>是本章开始引入的</a:t>
            </a:r>
            <a:r>
              <a:rPr lang="zh-CN" altLang="en-US" sz="2400" b="1" dirty="0">
                <a:solidFill>
                  <a:srgbClr val="FF0000"/>
                </a:solidFill>
              </a:rPr>
              <a:t>数据依赖集</a:t>
            </a:r>
            <a:r>
              <a:rPr lang="zh-CN" altLang="en-US" sz="2400" dirty="0"/>
              <a:t>。</a:t>
            </a:r>
          </a:p>
          <a:p>
            <a:r>
              <a:rPr lang="zh-CN" altLang="en-US" sz="2800" dirty="0"/>
              <a:t>由于</a:t>
            </a:r>
            <a:r>
              <a:rPr lang="en-US" altLang="zh-CN" sz="2800" dirty="0"/>
              <a:t>D</a:t>
            </a:r>
            <a:r>
              <a:rPr lang="zh-CN" altLang="en-US" sz="2800" dirty="0"/>
              <a:t>和</a:t>
            </a:r>
            <a:r>
              <a:rPr lang="en-US" altLang="zh-CN" sz="2800" dirty="0"/>
              <a:t>DOM</a:t>
            </a:r>
            <a:r>
              <a:rPr lang="zh-CN" altLang="en-US" sz="2800" dirty="0"/>
              <a:t>对模式设计关系不大</a:t>
            </a:r>
            <a:r>
              <a:rPr lang="en-US" altLang="zh-CN" sz="2800" dirty="0"/>
              <a:t>,</a:t>
            </a:r>
            <a:r>
              <a:rPr lang="zh-CN" altLang="en-US" sz="2800" dirty="0"/>
              <a:t>因此我们在本章中把关系模式看作是一个</a:t>
            </a:r>
            <a:r>
              <a:rPr lang="zh-CN" altLang="en-US" sz="2800" dirty="0">
                <a:solidFill>
                  <a:srgbClr val="FF0000"/>
                </a:solidFill>
              </a:rPr>
              <a:t>三元组</a:t>
            </a:r>
            <a:r>
              <a:rPr lang="zh-CN" altLang="en-US" sz="2800" dirty="0"/>
              <a:t>：</a:t>
            </a:r>
            <a:r>
              <a:rPr lang="en-US" altLang="zh-CN" sz="2800" b="1" dirty="0">
                <a:solidFill>
                  <a:srgbClr val="0000FF"/>
                </a:solidFill>
              </a:rPr>
              <a:t>R&lt;U, </a:t>
            </a:r>
            <a:r>
              <a:rPr lang="en-US" altLang="zh-CN" sz="2800" b="1" dirty="0">
                <a:solidFill>
                  <a:srgbClr val="FF0000"/>
                </a:solidFill>
              </a:rPr>
              <a:t>F</a:t>
            </a:r>
            <a:r>
              <a:rPr lang="en-US" altLang="zh-CN" sz="2800" b="1" dirty="0">
                <a:solidFill>
                  <a:srgbClr val="0000FF"/>
                </a:solidFill>
              </a:rPr>
              <a:t>&gt; </a:t>
            </a:r>
          </a:p>
          <a:p>
            <a:r>
              <a:rPr lang="zh-CN" altLang="en-US" sz="2800" dirty="0"/>
              <a:t>当且仅当</a:t>
            </a:r>
            <a:r>
              <a:rPr lang="en-US" altLang="zh-CN" sz="2800" dirty="0">
                <a:solidFill>
                  <a:schemeClr val="tx2"/>
                </a:solidFill>
              </a:rPr>
              <a:t>U</a:t>
            </a:r>
            <a:r>
              <a:rPr lang="zh-CN" altLang="en-US" sz="2800" dirty="0">
                <a:solidFill>
                  <a:schemeClr val="tx2"/>
                </a:solidFill>
              </a:rPr>
              <a:t>上的一个</a:t>
            </a:r>
            <a:r>
              <a:rPr lang="zh-CN" altLang="en-US" sz="2800" u="sng" dirty="0">
                <a:solidFill>
                  <a:srgbClr val="0000FF"/>
                </a:solidFill>
              </a:rPr>
              <a:t>关系</a:t>
            </a:r>
            <a:r>
              <a:rPr lang="en-US" altLang="zh-CN" sz="2800" u="sng" dirty="0">
                <a:solidFill>
                  <a:srgbClr val="0000FF"/>
                </a:solidFill>
              </a:rPr>
              <a:t>r</a:t>
            </a:r>
            <a:r>
              <a:rPr lang="zh-CN" altLang="en-US" sz="2800" b="1" u="sng" dirty="0"/>
              <a:t>满足</a:t>
            </a:r>
            <a:r>
              <a:rPr lang="en-US" altLang="zh-CN" sz="2800" u="sng" dirty="0">
                <a:solidFill>
                  <a:srgbClr val="FF0000"/>
                </a:solidFill>
              </a:rPr>
              <a:t>F</a:t>
            </a:r>
            <a:r>
              <a:rPr lang="zh-CN" altLang="en-US" sz="2800" u="sng" dirty="0">
                <a:solidFill>
                  <a:schemeClr val="tx2"/>
                </a:solidFill>
              </a:rPr>
              <a:t>时</a:t>
            </a:r>
            <a:r>
              <a:rPr lang="zh-CN" altLang="en-US" sz="2800" dirty="0"/>
              <a:t>，</a:t>
            </a:r>
            <a:r>
              <a:rPr lang="en-US" altLang="zh-CN" sz="2800" dirty="0"/>
              <a:t>r</a:t>
            </a:r>
            <a:r>
              <a:rPr lang="zh-CN" altLang="en-US" sz="2800" dirty="0"/>
              <a:t>称为关系模式</a:t>
            </a:r>
            <a:r>
              <a:rPr lang="en-US" altLang="zh-CN" sz="2800" dirty="0"/>
              <a:t>R&lt;U, F&gt;</a:t>
            </a:r>
            <a:r>
              <a:rPr lang="zh-CN" altLang="en-US" sz="2800" dirty="0"/>
              <a:t>的一个关系。 </a:t>
            </a:r>
          </a:p>
          <a:p>
            <a:r>
              <a:rPr lang="zh-CN" altLang="en-US" sz="2800" dirty="0"/>
              <a:t>关系，作为一张二维表，我们对它有一个</a:t>
            </a:r>
            <a:r>
              <a:rPr lang="zh-CN" altLang="en-US" sz="2800" dirty="0">
                <a:solidFill>
                  <a:schemeClr val="tx2"/>
                </a:solidFill>
              </a:rPr>
              <a:t>最起码的要求</a:t>
            </a:r>
            <a:r>
              <a:rPr lang="zh-CN" altLang="en-US" sz="2800" dirty="0"/>
              <a:t>：</a:t>
            </a:r>
            <a:r>
              <a:rPr lang="zh-CN" altLang="en-US" sz="2800" dirty="0">
                <a:solidFill>
                  <a:srgbClr val="FF0000"/>
                </a:solidFill>
              </a:rPr>
              <a:t>每一个分量必须是</a:t>
            </a:r>
            <a:r>
              <a:rPr lang="zh-CN" altLang="en-US" sz="2800" b="1" u="sng" dirty="0">
                <a:solidFill>
                  <a:srgbClr val="FF0000"/>
                </a:solidFill>
              </a:rPr>
              <a:t>不可分</a:t>
            </a:r>
            <a:r>
              <a:rPr lang="zh-CN" altLang="en-US" sz="2800" dirty="0">
                <a:solidFill>
                  <a:srgbClr val="FF0000"/>
                </a:solidFill>
              </a:rPr>
              <a:t>的数据项</a:t>
            </a:r>
            <a:r>
              <a:rPr lang="zh-CN" altLang="en-US" sz="2800" dirty="0"/>
              <a:t>。</a:t>
            </a:r>
            <a:r>
              <a:rPr lang="zh-CN" altLang="en-US" sz="2800" u="sng" dirty="0">
                <a:solidFill>
                  <a:srgbClr val="0000FF"/>
                </a:solidFill>
              </a:rPr>
              <a:t>满足了这个条件</a:t>
            </a:r>
            <a:r>
              <a:rPr lang="zh-CN" altLang="en-US" sz="2800" u="sng" dirty="0"/>
              <a:t>的</a:t>
            </a:r>
            <a:r>
              <a:rPr lang="zh-CN" altLang="en-US" sz="2800" u="sng" dirty="0">
                <a:solidFill>
                  <a:srgbClr val="0000FF"/>
                </a:solidFill>
              </a:rPr>
              <a:t>关系模式</a:t>
            </a:r>
            <a:r>
              <a:rPr lang="zh-CN" altLang="en-US" sz="2800" dirty="0"/>
              <a:t>就属于</a:t>
            </a:r>
            <a:r>
              <a:rPr lang="zh-CN" altLang="en-US" sz="2800" b="1" dirty="0">
                <a:solidFill>
                  <a:srgbClr val="0000FF"/>
                </a:solidFill>
              </a:rPr>
              <a:t>第一范式</a:t>
            </a:r>
            <a:r>
              <a:rPr lang="zh-CN" altLang="en-US" sz="2800" dirty="0">
                <a:solidFill>
                  <a:srgbClr val="0000FF"/>
                </a:solidFill>
              </a:rPr>
              <a:t>（</a:t>
            </a:r>
            <a:r>
              <a:rPr lang="en-US" altLang="zh-CN" sz="2800" dirty="0">
                <a:solidFill>
                  <a:srgbClr val="0000FF"/>
                </a:solidFill>
              </a:rPr>
              <a:t>1NF</a:t>
            </a:r>
            <a:r>
              <a:rPr lang="zh-CN" altLang="en-US" sz="2800" dirty="0">
                <a:solidFill>
                  <a:srgbClr val="0000FF"/>
                </a:solidFill>
              </a:rPr>
              <a:t>）</a:t>
            </a:r>
            <a:r>
              <a:rPr lang="zh-CN" altLang="en-US" sz="2800" dirty="0"/>
              <a:t>。 </a:t>
            </a:r>
          </a:p>
        </p:txBody>
      </p:sp>
      <p:sp>
        <p:nvSpPr>
          <p:cNvPr id="3" name="页脚占位符 2">
            <a:extLst>
              <a:ext uri="{FF2B5EF4-FFF2-40B4-BE49-F238E27FC236}">
                <a16:creationId xmlns:a16="http://schemas.microsoft.com/office/drawing/2014/main" id="{782F98F9-83C7-1261-8ED8-E6655E3FCF79}"/>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E4531582-0FEA-E97D-8820-1A9576435AB8}"/>
              </a:ext>
            </a:extLst>
          </p:cNvPr>
          <p:cNvSpPr>
            <a:spLocks noGrp="1"/>
          </p:cNvSpPr>
          <p:nvPr>
            <p:ph type="sldNum" sz="quarter" idx="12"/>
          </p:nvPr>
        </p:nvSpPr>
        <p:spPr/>
        <p:txBody>
          <a:bodyPr/>
          <a:lstStyle/>
          <a:p>
            <a:fld id="{A2D74603-B40B-4D66-8F6E-41C870D48932}" type="slidenum">
              <a:rPr lang="en-US" altLang="zh-CN" smtClean="0"/>
              <a:pPr/>
              <a:t>6</a:t>
            </a:fld>
            <a:r>
              <a:rPr lang="en-US" altLang="zh-CN"/>
              <a:t>/162</a:t>
            </a:r>
            <a:endParaRPr lang="en-US" altLang="zh-CN"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9075">
                                            <p:txEl>
                                              <p:pRg st="2" end="2"/>
                                            </p:txEl>
                                          </p:spTgt>
                                        </p:tgtEl>
                                        <p:attrNameLst>
                                          <p:attrName>style.visibility</p:attrName>
                                        </p:attrNameLst>
                                      </p:cBhvr>
                                      <p:to>
                                        <p:strVal val="visible"/>
                                      </p:to>
                                    </p:set>
                                    <p:anim calcmode="lin" valueType="num">
                                      <p:cBhvr additive="base">
                                        <p:cTn id="7" dur="500" fill="hold"/>
                                        <p:tgtEl>
                                          <p:spTgt spid="25907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90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59075">
                                            <p:txEl>
                                              <p:pRg st="3" end="3"/>
                                            </p:txEl>
                                          </p:spTgt>
                                        </p:tgtEl>
                                        <p:attrNameLst>
                                          <p:attrName>style.visibility</p:attrName>
                                        </p:attrNameLst>
                                      </p:cBhvr>
                                      <p:to>
                                        <p:strVal val="visible"/>
                                      </p:to>
                                    </p:set>
                                    <p:anim calcmode="lin" valueType="num">
                                      <p:cBhvr additive="base">
                                        <p:cTn id="13" dur="500" fill="hold"/>
                                        <p:tgtEl>
                                          <p:spTgt spid="25907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5907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59075">
                                            <p:txEl>
                                              <p:pRg st="4" end="4"/>
                                            </p:txEl>
                                          </p:spTgt>
                                        </p:tgtEl>
                                        <p:attrNameLst>
                                          <p:attrName>style.visibility</p:attrName>
                                        </p:attrNameLst>
                                      </p:cBhvr>
                                      <p:to>
                                        <p:strVal val="visible"/>
                                      </p:to>
                                    </p:set>
                                    <p:anim calcmode="lin" valueType="num">
                                      <p:cBhvr additive="base">
                                        <p:cTn id="19" dur="500" fill="hold"/>
                                        <p:tgtEl>
                                          <p:spTgt spid="25907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5907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FC9A058-E610-4B0D-9B0E-3F670B44A337}" type="datetime1">
              <a:rPr lang="zh-CN" altLang="en-US" smtClean="0"/>
              <a:t>2025/11/6</a:t>
            </a:fld>
            <a:endParaRPr lang="en-US" altLang="zh-CN"/>
          </a:p>
        </p:txBody>
      </p:sp>
      <p:sp>
        <p:nvSpPr>
          <p:cNvPr id="261122" name="Rectangle 2"/>
          <p:cNvSpPr>
            <a:spLocks noGrp="1" noChangeArrowheads="1"/>
          </p:cNvSpPr>
          <p:nvPr>
            <p:ph type="title"/>
          </p:nvPr>
        </p:nvSpPr>
        <p:spPr/>
        <p:txBody>
          <a:bodyPr/>
          <a:lstStyle/>
          <a:p>
            <a:r>
              <a:rPr lang="zh-CN" altLang="en-US"/>
              <a:t>数据依赖</a:t>
            </a:r>
          </a:p>
        </p:txBody>
      </p:sp>
      <p:sp>
        <p:nvSpPr>
          <p:cNvPr id="261123" name="Rectangle 3"/>
          <p:cNvSpPr>
            <a:spLocks noGrp="1" noChangeArrowheads="1"/>
          </p:cNvSpPr>
          <p:nvPr>
            <p:ph type="body" idx="1"/>
          </p:nvPr>
        </p:nvSpPr>
        <p:spPr>
          <a:xfrm>
            <a:off x="609600" y="1336575"/>
            <a:ext cx="8305800" cy="4684713"/>
          </a:xfrm>
        </p:spPr>
        <p:txBody>
          <a:bodyPr/>
          <a:lstStyle/>
          <a:p>
            <a:r>
              <a:rPr lang="zh-CN" altLang="en-US" sz="2800" dirty="0"/>
              <a:t>我们的任务是研究</a:t>
            </a:r>
            <a:r>
              <a:rPr lang="zh-CN" altLang="en-US" sz="2800" b="1" dirty="0">
                <a:solidFill>
                  <a:srgbClr val="0000FF"/>
                </a:solidFill>
              </a:rPr>
              <a:t>模式设计</a:t>
            </a:r>
            <a:r>
              <a:rPr lang="zh-CN" altLang="en-US" sz="2800" dirty="0"/>
              <a:t>，研究设计一个</a:t>
            </a:r>
            <a:r>
              <a:rPr lang="zh-CN" altLang="en-US" sz="2800" dirty="0">
                <a:latin typeface="Arial"/>
              </a:rPr>
              <a:t>“</a:t>
            </a:r>
            <a:r>
              <a:rPr lang="zh-CN" altLang="en-US" sz="2800" b="1" dirty="0">
                <a:solidFill>
                  <a:srgbClr val="0000FF"/>
                </a:solidFill>
              </a:rPr>
              <a:t>好</a:t>
            </a:r>
            <a:r>
              <a:rPr lang="zh-CN" altLang="en-US" sz="2800" dirty="0">
                <a:latin typeface="Arial"/>
              </a:rPr>
              <a:t>”</a:t>
            </a:r>
            <a:r>
              <a:rPr lang="zh-CN" altLang="en-US" sz="2800" dirty="0"/>
              <a:t>的（没有</a:t>
            </a:r>
            <a:r>
              <a:rPr lang="zh-CN" altLang="en-US" sz="2800" dirty="0">
                <a:latin typeface="Arial"/>
              </a:rPr>
              <a:t>“</a:t>
            </a:r>
            <a:r>
              <a:rPr lang="zh-CN" altLang="en-US" sz="2800" dirty="0"/>
              <a:t>毛病</a:t>
            </a:r>
            <a:r>
              <a:rPr lang="zh-CN" altLang="en-US" sz="2800" dirty="0">
                <a:latin typeface="Arial"/>
              </a:rPr>
              <a:t>”</a:t>
            </a:r>
            <a:r>
              <a:rPr lang="zh-CN" altLang="en-US" sz="2800" dirty="0"/>
              <a:t>）</a:t>
            </a:r>
            <a:r>
              <a:rPr lang="zh-CN" altLang="en-US" sz="2800" b="1" dirty="0">
                <a:solidFill>
                  <a:srgbClr val="0000FF"/>
                </a:solidFill>
              </a:rPr>
              <a:t>关系模式</a:t>
            </a:r>
            <a:r>
              <a:rPr lang="zh-CN" altLang="en-US" sz="2800" dirty="0"/>
              <a:t>的办法。 </a:t>
            </a:r>
          </a:p>
          <a:p>
            <a:r>
              <a:rPr lang="zh-CN" altLang="en-US" sz="2800" b="1" dirty="0">
                <a:solidFill>
                  <a:schemeClr val="hlink"/>
                </a:solidFill>
              </a:rPr>
              <a:t>数据依赖</a:t>
            </a:r>
            <a:r>
              <a:rPr lang="zh-CN" altLang="en-US" sz="2800" dirty="0">
                <a:solidFill>
                  <a:schemeClr val="hlink"/>
                </a:solidFill>
              </a:rPr>
              <a:t>，</a:t>
            </a:r>
            <a:r>
              <a:rPr lang="zh-CN" altLang="en-US" sz="2800" dirty="0"/>
              <a:t>是</a:t>
            </a:r>
            <a:r>
              <a:rPr lang="zh-CN" altLang="en-US" sz="2800" b="1" dirty="0">
                <a:solidFill>
                  <a:schemeClr val="tx2"/>
                </a:solidFill>
              </a:rPr>
              <a:t>关系内部</a:t>
            </a:r>
            <a:r>
              <a:rPr lang="zh-CN" altLang="en-US" sz="2800" b="1" dirty="0">
                <a:solidFill>
                  <a:srgbClr val="FF0000"/>
                </a:solidFill>
              </a:rPr>
              <a:t>属性</a:t>
            </a:r>
            <a:r>
              <a:rPr lang="zh-CN" altLang="en-US" sz="2800" b="1" dirty="0"/>
              <a:t>与</a:t>
            </a:r>
            <a:r>
              <a:rPr lang="zh-CN" altLang="en-US" sz="2800" b="1" dirty="0">
                <a:solidFill>
                  <a:srgbClr val="FF0000"/>
                </a:solidFill>
              </a:rPr>
              <a:t>属性</a:t>
            </a:r>
            <a:r>
              <a:rPr lang="zh-CN" altLang="en-US" sz="2800" b="1" dirty="0"/>
              <a:t>之间的一种</a:t>
            </a:r>
            <a:r>
              <a:rPr lang="zh-CN" altLang="en-US" sz="2800" b="1" dirty="0">
                <a:solidFill>
                  <a:srgbClr val="0000FF"/>
                </a:solidFill>
              </a:rPr>
              <a:t>约束关系</a:t>
            </a:r>
            <a:r>
              <a:rPr lang="zh-CN" altLang="en-US" sz="2800" dirty="0">
                <a:solidFill>
                  <a:schemeClr val="tx2"/>
                </a:solidFill>
              </a:rPr>
              <a:t>，</a:t>
            </a:r>
            <a:r>
              <a:rPr lang="zh-CN" altLang="en-US" sz="2800" dirty="0"/>
              <a:t>是通过一个关系中</a:t>
            </a:r>
            <a:r>
              <a:rPr lang="zh-CN" altLang="en-US" sz="2800" b="1" dirty="0">
                <a:solidFill>
                  <a:schemeClr val="tx2"/>
                </a:solidFill>
              </a:rPr>
              <a:t>属性间</a:t>
            </a:r>
            <a:r>
              <a:rPr lang="zh-CN" altLang="en-US" sz="2800" b="1" dirty="0">
                <a:solidFill>
                  <a:srgbClr val="FF0000"/>
                </a:solidFill>
              </a:rPr>
              <a:t>值</a:t>
            </a:r>
            <a:r>
              <a:rPr lang="zh-CN" altLang="en-US" sz="2800" b="1" dirty="0"/>
              <a:t>的</a:t>
            </a:r>
            <a:r>
              <a:rPr lang="zh-CN" altLang="en-US" sz="2800" b="1" dirty="0">
                <a:solidFill>
                  <a:srgbClr val="FF0000"/>
                </a:solidFill>
              </a:rPr>
              <a:t>相等与否</a:t>
            </a:r>
            <a:r>
              <a:rPr lang="zh-CN" altLang="en-US" sz="2800" dirty="0"/>
              <a:t>体现出来的</a:t>
            </a:r>
            <a:r>
              <a:rPr lang="zh-CN" altLang="en-US" sz="2800" dirty="0">
                <a:solidFill>
                  <a:srgbClr val="0000FF"/>
                </a:solidFill>
              </a:rPr>
              <a:t>数据间</a:t>
            </a:r>
            <a:r>
              <a:rPr lang="zh-CN" altLang="en-US" sz="2800" dirty="0"/>
              <a:t>的</a:t>
            </a:r>
            <a:r>
              <a:rPr lang="zh-CN" altLang="en-US" sz="2800" b="1" dirty="0">
                <a:solidFill>
                  <a:schemeClr val="tx2"/>
                </a:solidFill>
              </a:rPr>
              <a:t>相互关系</a:t>
            </a:r>
            <a:r>
              <a:rPr lang="zh-CN" altLang="en-US" sz="2800" dirty="0"/>
              <a:t>。它是</a:t>
            </a:r>
            <a:r>
              <a:rPr lang="zh-CN" altLang="en-US" sz="2800" u="sng" dirty="0"/>
              <a:t>现实世界</a:t>
            </a:r>
            <a:r>
              <a:rPr lang="zh-CN" altLang="en-US" sz="2800" b="1" u="sng" dirty="0">
                <a:solidFill>
                  <a:srgbClr val="FF0000"/>
                </a:solidFill>
              </a:rPr>
              <a:t>属性间相互联系</a:t>
            </a:r>
            <a:r>
              <a:rPr lang="zh-CN" altLang="en-US" sz="2800" u="sng" dirty="0"/>
              <a:t>的</a:t>
            </a:r>
            <a:r>
              <a:rPr lang="zh-CN" altLang="en-US" sz="2800" b="1" u="sng" dirty="0">
                <a:solidFill>
                  <a:srgbClr val="0000FF"/>
                </a:solidFill>
              </a:rPr>
              <a:t>抽象</a:t>
            </a:r>
            <a:r>
              <a:rPr lang="zh-CN" altLang="en-US" sz="2800" dirty="0"/>
              <a:t>，是</a:t>
            </a:r>
            <a:r>
              <a:rPr lang="zh-CN" altLang="en-US" sz="2800" dirty="0">
                <a:solidFill>
                  <a:schemeClr val="tx2"/>
                </a:solidFill>
              </a:rPr>
              <a:t>数据内在的性质</a:t>
            </a:r>
            <a:r>
              <a:rPr lang="zh-CN" altLang="en-US" sz="2800" dirty="0"/>
              <a:t>，是</a:t>
            </a:r>
            <a:r>
              <a:rPr lang="zh-CN" altLang="en-US" sz="2800" dirty="0">
                <a:solidFill>
                  <a:schemeClr val="tx2"/>
                </a:solidFill>
              </a:rPr>
              <a:t>语义</a:t>
            </a:r>
            <a:r>
              <a:rPr lang="zh-CN" altLang="en-US" sz="2800" dirty="0"/>
              <a:t>的体现。</a:t>
            </a:r>
            <a:endParaRPr lang="en-US" altLang="zh-CN" sz="2800" dirty="0"/>
          </a:p>
          <a:p>
            <a:r>
              <a:rPr lang="zh-CN" altLang="en-US" sz="2800" dirty="0"/>
              <a:t>现在人们已经提出了</a:t>
            </a:r>
            <a:r>
              <a:rPr lang="zh-CN" altLang="en-US" sz="2800" u="sng" dirty="0"/>
              <a:t>许多种类型的数据依赖</a:t>
            </a:r>
            <a:r>
              <a:rPr lang="zh-CN" altLang="en-US" sz="2800" dirty="0"/>
              <a:t>，其中最重要的是</a:t>
            </a:r>
            <a:r>
              <a:rPr lang="zh-CN" altLang="en-US" sz="2800" b="1" dirty="0">
                <a:solidFill>
                  <a:srgbClr val="C00000"/>
                </a:solidFill>
              </a:rPr>
              <a:t>函数依赖</a:t>
            </a:r>
            <a:r>
              <a:rPr lang="en-US" altLang="zh-CN" sz="2800" dirty="0"/>
              <a:t>(Functional Dependency, </a:t>
            </a:r>
            <a:r>
              <a:rPr lang="en-US" altLang="zh-CN" sz="2800" dirty="0">
                <a:solidFill>
                  <a:schemeClr val="tx2"/>
                </a:solidFill>
              </a:rPr>
              <a:t>FD</a:t>
            </a:r>
            <a:r>
              <a:rPr lang="en-US" altLang="zh-CN" sz="2800" dirty="0"/>
              <a:t>)</a:t>
            </a:r>
            <a:r>
              <a:rPr lang="zh-CN" altLang="en-US" sz="2800" dirty="0"/>
              <a:t>和</a:t>
            </a:r>
            <a:r>
              <a:rPr lang="zh-CN" altLang="en-US" sz="2800" b="1" dirty="0">
                <a:solidFill>
                  <a:schemeClr val="tx2"/>
                </a:solidFill>
              </a:rPr>
              <a:t>多值依赖</a:t>
            </a:r>
            <a:r>
              <a:rPr lang="en-US" altLang="zh-CN" sz="2800" dirty="0"/>
              <a:t>(Multivalued Dependency, </a:t>
            </a:r>
            <a:r>
              <a:rPr lang="en-US" altLang="zh-CN" sz="2800" dirty="0">
                <a:solidFill>
                  <a:schemeClr val="tx2"/>
                </a:solidFill>
              </a:rPr>
              <a:t>MVD</a:t>
            </a:r>
            <a:r>
              <a:rPr lang="en-US" altLang="zh-CN" sz="2800" dirty="0"/>
              <a:t>)</a:t>
            </a:r>
            <a:r>
              <a:rPr lang="zh-CN" altLang="en-US" sz="2800" dirty="0"/>
              <a:t>。</a:t>
            </a:r>
          </a:p>
        </p:txBody>
      </p:sp>
      <p:sp>
        <p:nvSpPr>
          <p:cNvPr id="3" name="页脚占位符 2">
            <a:extLst>
              <a:ext uri="{FF2B5EF4-FFF2-40B4-BE49-F238E27FC236}">
                <a16:creationId xmlns:a16="http://schemas.microsoft.com/office/drawing/2014/main" id="{FCEBB202-8E69-B2FF-FACF-FABDBFEF1843}"/>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604C9382-00A8-811C-DC3F-9C73195804D0}"/>
              </a:ext>
            </a:extLst>
          </p:cNvPr>
          <p:cNvSpPr>
            <a:spLocks noGrp="1"/>
          </p:cNvSpPr>
          <p:nvPr>
            <p:ph type="sldNum" sz="quarter" idx="12"/>
          </p:nvPr>
        </p:nvSpPr>
        <p:spPr/>
        <p:txBody>
          <a:bodyPr/>
          <a:lstStyle/>
          <a:p>
            <a:fld id="{A2D74603-B40B-4D66-8F6E-41C870D48932}" type="slidenum">
              <a:rPr lang="en-US" altLang="zh-CN" smtClean="0"/>
              <a:pPr/>
              <a:t>7</a:t>
            </a:fld>
            <a:r>
              <a:rPr lang="en-US" altLang="zh-CN"/>
              <a:t>/162</a:t>
            </a:r>
            <a:endParaRPr lang="en-US" altLang="zh-CN"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1123">
                                            <p:txEl>
                                              <p:pRg st="1" end="1"/>
                                            </p:txEl>
                                          </p:spTgt>
                                        </p:tgtEl>
                                        <p:attrNameLst>
                                          <p:attrName>style.visibility</p:attrName>
                                        </p:attrNameLst>
                                      </p:cBhvr>
                                      <p:to>
                                        <p:strVal val="visible"/>
                                      </p:to>
                                    </p:set>
                                    <p:anim calcmode="lin" valueType="num">
                                      <p:cBhvr additive="base">
                                        <p:cTn id="7" dur="500" fill="hold"/>
                                        <p:tgtEl>
                                          <p:spTgt spid="26112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11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61123">
                                            <p:txEl>
                                              <p:pRg st="2" end="2"/>
                                            </p:txEl>
                                          </p:spTgt>
                                        </p:tgtEl>
                                        <p:attrNameLst>
                                          <p:attrName>style.visibility</p:attrName>
                                        </p:attrNameLst>
                                      </p:cBhvr>
                                      <p:to>
                                        <p:strVal val="visible"/>
                                      </p:to>
                                    </p:set>
                                    <p:anim calcmode="lin" valueType="num">
                                      <p:cBhvr additive="base">
                                        <p:cTn id="13" dur="500" fill="hold"/>
                                        <p:tgtEl>
                                          <p:spTgt spid="26112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6112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BD46A6B5-1FB4-4DF8-949B-658107DDE252}" type="datetime1">
              <a:rPr lang="zh-CN" altLang="en-US" smtClean="0"/>
              <a:t>2025/11/6</a:t>
            </a:fld>
            <a:endParaRPr lang="en-US" altLang="zh-CN"/>
          </a:p>
        </p:txBody>
      </p:sp>
      <p:sp>
        <p:nvSpPr>
          <p:cNvPr id="262146" name="Rectangle 2"/>
          <p:cNvSpPr>
            <a:spLocks noGrp="1" noChangeArrowheads="1"/>
          </p:cNvSpPr>
          <p:nvPr>
            <p:ph type="title"/>
          </p:nvPr>
        </p:nvSpPr>
        <p:spPr/>
        <p:txBody>
          <a:bodyPr/>
          <a:lstStyle/>
          <a:p>
            <a:r>
              <a:rPr lang="zh-CN" altLang="en-US"/>
              <a:t>函数依赖</a:t>
            </a:r>
          </a:p>
        </p:txBody>
      </p:sp>
      <p:sp>
        <p:nvSpPr>
          <p:cNvPr id="262147" name="Rectangle 3"/>
          <p:cNvSpPr>
            <a:spLocks noGrp="1" noChangeArrowheads="1"/>
          </p:cNvSpPr>
          <p:nvPr>
            <p:ph type="body" idx="1"/>
          </p:nvPr>
        </p:nvSpPr>
        <p:spPr>
          <a:xfrm>
            <a:off x="609600" y="1447800"/>
            <a:ext cx="8105775" cy="4684713"/>
          </a:xfrm>
        </p:spPr>
        <p:txBody>
          <a:bodyPr/>
          <a:lstStyle/>
          <a:p>
            <a:r>
              <a:rPr lang="zh-CN" altLang="en-US" sz="2800" dirty="0">
                <a:solidFill>
                  <a:srgbClr val="FF0000"/>
                </a:solidFill>
              </a:rPr>
              <a:t>函数依赖极为普遍</a:t>
            </a:r>
            <a:r>
              <a:rPr lang="zh-CN" altLang="en-US" sz="2800" dirty="0"/>
              <a:t>地存在</a:t>
            </a:r>
          </a:p>
          <a:p>
            <a:pPr lvl="1"/>
            <a:r>
              <a:rPr lang="zh-CN" altLang="en-US" sz="2400" dirty="0"/>
              <a:t>例如，描述</a:t>
            </a:r>
            <a:r>
              <a:rPr lang="zh-CN" altLang="en-US" sz="2400" u="sng" dirty="0"/>
              <a:t>学生</a:t>
            </a:r>
            <a:r>
              <a:rPr lang="zh-CN" altLang="en-US" sz="2400" dirty="0"/>
              <a:t>的关系，可以有</a:t>
            </a:r>
            <a:r>
              <a:rPr lang="zh-CN" altLang="en-US" sz="2400" u="sng" dirty="0"/>
              <a:t>学号</a:t>
            </a:r>
            <a:r>
              <a:rPr lang="en-US" altLang="zh-CN" sz="2400" u="sng" dirty="0"/>
              <a:t>(SNO)</a:t>
            </a:r>
            <a:r>
              <a:rPr lang="zh-CN" altLang="en-US" sz="2400" u="sng" dirty="0"/>
              <a:t>，姓名</a:t>
            </a:r>
            <a:r>
              <a:rPr lang="en-US" altLang="zh-CN" sz="2400" u="sng" dirty="0"/>
              <a:t>(SNAME)</a:t>
            </a:r>
            <a:r>
              <a:rPr lang="zh-CN" altLang="en-US" sz="2400" u="sng" dirty="0"/>
              <a:t>，系名</a:t>
            </a:r>
            <a:r>
              <a:rPr lang="en-US" altLang="zh-CN" sz="2400" u="sng" dirty="0"/>
              <a:t>(SDEPT)</a:t>
            </a:r>
            <a:r>
              <a:rPr lang="zh-CN" altLang="en-US" sz="2400" dirty="0"/>
              <a:t>等几个属性。</a:t>
            </a:r>
          </a:p>
          <a:p>
            <a:pPr lvl="1"/>
            <a:r>
              <a:rPr lang="zh-CN" altLang="en-US" sz="2400" u="sng" dirty="0"/>
              <a:t>由于</a:t>
            </a:r>
            <a:r>
              <a:rPr lang="zh-CN" altLang="en-US" sz="2400" u="sng" dirty="0">
                <a:solidFill>
                  <a:srgbClr val="0000FF"/>
                </a:solidFill>
              </a:rPr>
              <a:t>一个学号</a:t>
            </a:r>
            <a:r>
              <a:rPr lang="zh-CN" altLang="en-US" sz="2400" u="sng" dirty="0"/>
              <a:t>只对应</a:t>
            </a:r>
            <a:r>
              <a:rPr lang="zh-CN" altLang="en-US" sz="2400" u="sng" dirty="0">
                <a:solidFill>
                  <a:srgbClr val="0000FF"/>
                </a:solidFill>
              </a:rPr>
              <a:t>一个学生</a:t>
            </a:r>
            <a:r>
              <a:rPr lang="zh-CN" altLang="en-US" sz="2400" u="sng" dirty="0"/>
              <a:t>，</a:t>
            </a:r>
            <a:r>
              <a:rPr lang="zh-CN" altLang="en-US" sz="2400" u="sng" dirty="0">
                <a:solidFill>
                  <a:srgbClr val="0000FF"/>
                </a:solidFill>
              </a:rPr>
              <a:t>一个学生</a:t>
            </a:r>
            <a:r>
              <a:rPr lang="zh-CN" altLang="en-US" sz="2400" u="sng" dirty="0"/>
              <a:t>只在</a:t>
            </a:r>
            <a:r>
              <a:rPr lang="zh-CN" altLang="en-US" sz="2400" u="sng" dirty="0">
                <a:solidFill>
                  <a:srgbClr val="0000FF"/>
                </a:solidFill>
              </a:rPr>
              <a:t>一个系</a:t>
            </a:r>
            <a:r>
              <a:rPr lang="zh-CN" altLang="en-US" sz="2400" u="sng" dirty="0"/>
              <a:t>学习</a:t>
            </a:r>
            <a:r>
              <a:rPr lang="zh-CN" altLang="en-US" sz="2400" dirty="0"/>
              <a:t>。因而当</a:t>
            </a:r>
            <a:r>
              <a:rPr lang="zh-CN" altLang="en-US" sz="2400" dirty="0">
                <a:solidFill>
                  <a:srgbClr val="0000FF"/>
                </a:solidFill>
                <a:latin typeface="Arial"/>
              </a:rPr>
              <a:t>“</a:t>
            </a:r>
            <a:r>
              <a:rPr lang="zh-CN" altLang="en-US" sz="2400" dirty="0">
                <a:solidFill>
                  <a:srgbClr val="0000FF"/>
                </a:solidFill>
              </a:rPr>
              <a:t>学号</a:t>
            </a:r>
            <a:r>
              <a:rPr lang="zh-CN" altLang="en-US" sz="2400" dirty="0">
                <a:solidFill>
                  <a:srgbClr val="0000FF"/>
                </a:solidFill>
                <a:latin typeface="Arial"/>
              </a:rPr>
              <a:t>”</a:t>
            </a:r>
            <a:r>
              <a:rPr lang="zh-CN" altLang="en-US" sz="2400" dirty="0">
                <a:solidFill>
                  <a:srgbClr val="0000FF"/>
                </a:solidFill>
              </a:rPr>
              <a:t>值确定</a:t>
            </a:r>
            <a:r>
              <a:rPr lang="zh-CN" altLang="en-US" sz="2400" dirty="0"/>
              <a:t>之后，</a:t>
            </a:r>
            <a:r>
              <a:rPr lang="zh-CN" altLang="en-US" sz="2400" dirty="0">
                <a:solidFill>
                  <a:srgbClr val="0000FF"/>
                </a:solidFill>
              </a:rPr>
              <a:t>姓名</a:t>
            </a:r>
            <a:r>
              <a:rPr lang="zh-CN" altLang="en-US" sz="2400" dirty="0"/>
              <a:t>和</a:t>
            </a:r>
            <a:r>
              <a:rPr lang="zh-CN" altLang="en-US" sz="2400" dirty="0">
                <a:solidFill>
                  <a:srgbClr val="0000FF"/>
                </a:solidFill>
              </a:rPr>
              <a:t>该生所在系</a:t>
            </a:r>
            <a:r>
              <a:rPr lang="zh-CN" altLang="en-US" sz="2400" dirty="0"/>
              <a:t>的</a:t>
            </a:r>
            <a:r>
              <a:rPr lang="zh-CN" altLang="en-US" sz="2400" dirty="0">
                <a:solidFill>
                  <a:srgbClr val="C00000"/>
                </a:solidFill>
              </a:rPr>
              <a:t>值</a:t>
            </a:r>
            <a:r>
              <a:rPr lang="zh-CN" altLang="en-US" sz="2400" dirty="0"/>
              <a:t>也就被</a:t>
            </a:r>
            <a:r>
              <a:rPr lang="zh-CN" altLang="en-US" sz="2400" b="1" dirty="0">
                <a:solidFill>
                  <a:srgbClr val="FF0000"/>
                </a:solidFill>
              </a:rPr>
              <a:t>唯一</a:t>
            </a:r>
            <a:r>
              <a:rPr lang="zh-CN" altLang="en-US" sz="2400" b="1" dirty="0"/>
              <a:t>地</a:t>
            </a:r>
            <a:r>
              <a:rPr lang="zh-CN" altLang="en-US" sz="2400" b="1" dirty="0">
                <a:solidFill>
                  <a:schemeClr val="tx2"/>
                </a:solidFill>
              </a:rPr>
              <a:t>确定</a:t>
            </a:r>
            <a:r>
              <a:rPr lang="zh-CN" altLang="en-US" sz="2400" dirty="0"/>
              <a:t>了。</a:t>
            </a:r>
          </a:p>
          <a:p>
            <a:pPr lvl="1"/>
            <a:r>
              <a:rPr lang="zh-CN" altLang="en-US" sz="2400" dirty="0"/>
              <a:t>上述值的确定就象数学函数：</a:t>
            </a:r>
            <a:r>
              <a:rPr lang="zh-CN" altLang="en-US" sz="2400" u="sng" dirty="0"/>
              <a:t>自变量</a:t>
            </a:r>
            <a:r>
              <a:rPr lang="en-US" altLang="zh-CN" sz="2400" u="sng" dirty="0"/>
              <a:t>x</a:t>
            </a:r>
            <a:r>
              <a:rPr lang="zh-CN" altLang="en-US" sz="2400" u="sng" dirty="0"/>
              <a:t>确定之后，相应的函数值</a:t>
            </a:r>
            <a:r>
              <a:rPr lang="en-US" altLang="zh-CN" sz="2400" u="sng" dirty="0"/>
              <a:t>f(x)</a:t>
            </a:r>
            <a:r>
              <a:rPr lang="zh-CN" altLang="en-US" sz="2400" u="sng" dirty="0"/>
              <a:t>也就</a:t>
            </a:r>
            <a:r>
              <a:rPr lang="zh-CN" altLang="en-US" sz="2400" u="sng" dirty="0">
                <a:solidFill>
                  <a:srgbClr val="0000FF"/>
                </a:solidFill>
              </a:rPr>
              <a:t>唯一</a:t>
            </a:r>
            <a:r>
              <a:rPr lang="zh-CN" altLang="en-US" sz="2400" u="sng" dirty="0"/>
              <a:t>地确定</a:t>
            </a:r>
            <a:r>
              <a:rPr lang="zh-CN" altLang="en-US" sz="2400" dirty="0"/>
              <a:t>。</a:t>
            </a:r>
          </a:p>
          <a:p>
            <a:pPr lvl="1"/>
            <a:r>
              <a:rPr lang="zh-CN" altLang="en-US" sz="2400" dirty="0"/>
              <a:t>我们说</a:t>
            </a:r>
            <a:r>
              <a:rPr lang="en-US" altLang="zh-CN" sz="2400" dirty="0"/>
              <a:t>SNO</a:t>
            </a:r>
            <a:r>
              <a:rPr lang="zh-CN" altLang="en-US" sz="2400" b="1" dirty="0">
                <a:solidFill>
                  <a:srgbClr val="0000FF"/>
                </a:solidFill>
              </a:rPr>
              <a:t>函数决定</a:t>
            </a:r>
            <a:r>
              <a:rPr lang="en-US" altLang="zh-CN" sz="2400" dirty="0"/>
              <a:t>SNAME</a:t>
            </a:r>
            <a:r>
              <a:rPr lang="zh-CN" altLang="en-US" sz="2400" dirty="0"/>
              <a:t>和</a:t>
            </a:r>
            <a:r>
              <a:rPr lang="en-US" altLang="zh-CN" sz="2400" dirty="0"/>
              <a:t>SDEPT</a:t>
            </a:r>
            <a:r>
              <a:rPr lang="zh-CN" altLang="en-US" sz="2400" dirty="0"/>
              <a:t>，或者说</a:t>
            </a:r>
            <a:r>
              <a:rPr lang="en-US" altLang="zh-CN" sz="2400" dirty="0"/>
              <a:t>SNAME</a:t>
            </a:r>
            <a:r>
              <a:rPr lang="zh-CN" altLang="en-US" sz="2400" dirty="0"/>
              <a:t>，</a:t>
            </a:r>
            <a:r>
              <a:rPr lang="en-US" altLang="zh-CN" sz="2400" dirty="0"/>
              <a:t>SDEPT</a:t>
            </a:r>
            <a:r>
              <a:rPr lang="zh-CN" altLang="en-US" sz="2400" b="1" dirty="0">
                <a:solidFill>
                  <a:srgbClr val="0000FF"/>
                </a:solidFill>
              </a:rPr>
              <a:t>函数依赖</a:t>
            </a:r>
            <a:r>
              <a:rPr lang="zh-CN" altLang="en-US" sz="2400" b="1" dirty="0">
                <a:solidFill>
                  <a:srgbClr val="FF0000"/>
                </a:solidFill>
              </a:rPr>
              <a:t>于</a:t>
            </a:r>
            <a:r>
              <a:rPr lang="en-US" altLang="zh-CN" sz="2400" dirty="0"/>
              <a:t>SNO</a:t>
            </a:r>
            <a:r>
              <a:rPr lang="zh-CN" altLang="en-US" sz="2400" dirty="0"/>
              <a:t>，记为：</a:t>
            </a:r>
            <a:r>
              <a:rPr lang="en-US" altLang="zh-CN" sz="2400" dirty="0">
                <a:solidFill>
                  <a:srgbClr val="FF0000"/>
                </a:solidFill>
              </a:rPr>
              <a:t>SNO→SNAME</a:t>
            </a:r>
            <a:r>
              <a:rPr lang="zh-CN" altLang="en-US" sz="2400" dirty="0">
                <a:solidFill>
                  <a:srgbClr val="FF0000"/>
                </a:solidFill>
              </a:rPr>
              <a:t>，</a:t>
            </a:r>
            <a:r>
              <a:rPr lang="en-US" altLang="zh-CN" sz="2400" dirty="0">
                <a:solidFill>
                  <a:srgbClr val="FF0000"/>
                </a:solidFill>
              </a:rPr>
              <a:t>SNO→SDEPT</a:t>
            </a:r>
            <a:r>
              <a:rPr lang="zh-CN" altLang="en-US" sz="2400" dirty="0"/>
              <a:t>。</a:t>
            </a:r>
            <a:endParaRPr lang="en-US" altLang="zh-CN" sz="2400" dirty="0"/>
          </a:p>
          <a:p>
            <a:endParaRPr lang="zh-CN" altLang="en-US" dirty="0"/>
          </a:p>
          <a:p>
            <a:endParaRPr lang="zh-CN" altLang="en-US" dirty="0"/>
          </a:p>
          <a:p>
            <a:pPr lvl="1"/>
            <a:endParaRPr lang="zh-CN" altLang="en-US" sz="2400" dirty="0"/>
          </a:p>
        </p:txBody>
      </p:sp>
      <p:sp>
        <p:nvSpPr>
          <p:cNvPr id="7" name="矩形 6"/>
          <p:cNvSpPr/>
          <p:nvPr/>
        </p:nvSpPr>
        <p:spPr>
          <a:xfrm>
            <a:off x="3319426" y="5694680"/>
            <a:ext cx="5214974" cy="461665"/>
          </a:xfrm>
          <a:prstGeom prst="rect">
            <a:avLst/>
          </a:prstGeom>
        </p:spPr>
        <p:txBody>
          <a:bodyPr wrap="square">
            <a:spAutoFit/>
          </a:bodyPr>
          <a:lstStyle/>
          <a:p>
            <a:pPr>
              <a:buNone/>
            </a:pPr>
            <a:r>
              <a:rPr lang="en-US" altLang="zh-CN" dirty="0" err="1"/>
              <a:t>Sname</a:t>
            </a:r>
            <a:r>
              <a:rPr lang="en-US" altLang="zh-CN" dirty="0"/>
              <a:t>=</a:t>
            </a:r>
            <a:r>
              <a:rPr lang="en-US" altLang="zh-CN" dirty="0">
                <a:solidFill>
                  <a:srgbClr val="0000FF"/>
                </a:solidFill>
              </a:rPr>
              <a:t>f</a:t>
            </a:r>
            <a:r>
              <a:rPr lang="en-US" altLang="zh-CN" dirty="0"/>
              <a:t>(</a:t>
            </a:r>
            <a:r>
              <a:rPr lang="en-US" altLang="zh-CN" dirty="0" err="1"/>
              <a:t>Sno</a:t>
            </a:r>
            <a:r>
              <a:rPr lang="en-US" altLang="zh-CN" dirty="0"/>
              <a:t>)</a:t>
            </a:r>
            <a:r>
              <a:rPr lang="zh-CN" altLang="en-US" dirty="0"/>
              <a:t>，</a:t>
            </a:r>
            <a:r>
              <a:rPr lang="en-US" altLang="zh-CN" dirty="0" err="1"/>
              <a:t>Sdept</a:t>
            </a:r>
            <a:r>
              <a:rPr lang="en-US" altLang="zh-CN" dirty="0"/>
              <a:t>=</a:t>
            </a:r>
            <a:r>
              <a:rPr lang="en-US" altLang="zh-CN" dirty="0">
                <a:solidFill>
                  <a:srgbClr val="0000FF"/>
                </a:solidFill>
              </a:rPr>
              <a:t>f</a:t>
            </a:r>
            <a:r>
              <a:rPr lang="en-US" altLang="zh-CN" dirty="0"/>
              <a:t>(</a:t>
            </a:r>
            <a:r>
              <a:rPr lang="en-US" altLang="zh-CN" dirty="0" err="1"/>
              <a:t>Sno</a:t>
            </a:r>
            <a:r>
              <a:rPr lang="en-US" altLang="zh-CN" dirty="0"/>
              <a:t>) </a:t>
            </a:r>
          </a:p>
        </p:txBody>
      </p:sp>
      <p:sp>
        <p:nvSpPr>
          <p:cNvPr id="3" name="页脚占位符 2">
            <a:extLst>
              <a:ext uri="{FF2B5EF4-FFF2-40B4-BE49-F238E27FC236}">
                <a16:creationId xmlns:a16="http://schemas.microsoft.com/office/drawing/2014/main" id="{2B1EA398-714E-0432-BDA7-63ED8D08A13D}"/>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4A16C928-E1C0-8DB3-EB92-9116EE7582F6}"/>
              </a:ext>
            </a:extLst>
          </p:cNvPr>
          <p:cNvSpPr>
            <a:spLocks noGrp="1"/>
          </p:cNvSpPr>
          <p:nvPr>
            <p:ph type="sldNum" sz="quarter" idx="12"/>
          </p:nvPr>
        </p:nvSpPr>
        <p:spPr/>
        <p:txBody>
          <a:bodyPr/>
          <a:lstStyle/>
          <a:p>
            <a:fld id="{A2D74603-B40B-4D66-8F6E-41C870D48932}" type="slidenum">
              <a:rPr lang="en-US" altLang="zh-CN" smtClean="0"/>
              <a:pPr/>
              <a:t>8</a:t>
            </a:fld>
            <a:r>
              <a:rPr lang="en-US" altLang="zh-CN"/>
              <a:t>/162</a:t>
            </a:r>
            <a:endParaRPr lang="en-US" altLang="zh-CN"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2147">
                                            <p:txEl>
                                              <p:pRg st="2" end="2"/>
                                            </p:txEl>
                                          </p:spTgt>
                                        </p:tgtEl>
                                        <p:attrNameLst>
                                          <p:attrName>style.visibility</p:attrName>
                                        </p:attrNameLst>
                                      </p:cBhvr>
                                      <p:to>
                                        <p:strVal val="visible"/>
                                      </p:to>
                                    </p:set>
                                    <p:anim calcmode="lin" valueType="num">
                                      <p:cBhvr additive="base">
                                        <p:cTn id="7" dur="500" fill="hold"/>
                                        <p:tgtEl>
                                          <p:spTgt spid="262147">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214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62147">
                                            <p:txEl>
                                              <p:pRg st="3" end="3"/>
                                            </p:txEl>
                                          </p:spTgt>
                                        </p:tgtEl>
                                        <p:attrNameLst>
                                          <p:attrName>style.visibility</p:attrName>
                                        </p:attrNameLst>
                                      </p:cBhvr>
                                      <p:to>
                                        <p:strVal val="visible"/>
                                      </p:to>
                                    </p:set>
                                    <p:anim calcmode="lin" valueType="num">
                                      <p:cBhvr additive="base">
                                        <p:cTn id="13" dur="500" fill="hold"/>
                                        <p:tgtEl>
                                          <p:spTgt spid="262147">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6214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62147">
                                            <p:txEl>
                                              <p:pRg st="4" end="4"/>
                                            </p:txEl>
                                          </p:spTgt>
                                        </p:tgtEl>
                                        <p:attrNameLst>
                                          <p:attrName>style.visibility</p:attrName>
                                        </p:attrNameLst>
                                      </p:cBhvr>
                                      <p:to>
                                        <p:strVal val="visible"/>
                                      </p:to>
                                    </p:set>
                                    <p:anim calcmode="lin" valueType="num">
                                      <p:cBhvr additive="base">
                                        <p:cTn id="19" dur="500" fill="hold"/>
                                        <p:tgtEl>
                                          <p:spTgt spid="262147">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6214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EFB13F2F-96BD-43AE-B8CD-3EEF47DBD3BC}" type="datetime1">
              <a:rPr lang="zh-CN" altLang="en-US" smtClean="0"/>
              <a:t>2025/11/6</a:t>
            </a:fld>
            <a:endParaRPr lang="en-US" altLang="zh-CN"/>
          </a:p>
        </p:txBody>
      </p:sp>
      <p:sp>
        <p:nvSpPr>
          <p:cNvPr id="263170" name="Rectangle 2"/>
          <p:cNvSpPr>
            <a:spLocks noGrp="1" noChangeArrowheads="1"/>
          </p:cNvSpPr>
          <p:nvPr>
            <p:ph type="title"/>
          </p:nvPr>
        </p:nvSpPr>
        <p:spPr/>
        <p:txBody>
          <a:bodyPr/>
          <a:lstStyle/>
          <a:p>
            <a:r>
              <a:rPr lang="zh-CN" altLang="en-US"/>
              <a:t>例：学生选课模型的关系模式</a:t>
            </a:r>
          </a:p>
        </p:txBody>
      </p:sp>
      <p:sp>
        <p:nvSpPr>
          <p:cNvPr id="263171" name="Rectangle 3"/>
          <p:cNvSpPr>
            <a:spLocks noGrp="1" noChangeArrowheads="1"/>
          </p:cNvSpPr>
          <p:nvPr>
            <p:ph type="body" idx="1"/>
          </p:nvPr>
        </p:nvSpPr>
        <p:spPr/>
        <p:txBody>
          <a:bodyPr/>
          <a:lstStyle/>
          <a:p>
            <a:pPr>
              <a:lnSpc>
                <a:spcPct val="90000"/>
              </a:lnSpc>
            </a:pPr>
            <a:r>
              <a:rPr lang="zh-CN" altLang="en-US" sz="2800" dirty="0"/>
              <a:t>例如，前面介绍的</a:t>
            </a:r>
            <a:r>
              <a:rPr lang="zh-CN" altLang="en-US" sz="2800" u="sng" dirty="0"/>
              <a:t>学生选课模型</a:t>
            </a:r>
            <a:r>
              <a:rPr lang="zh-CN" altLang="en-US" sz="2800" dirty="0"/>
              <a:t>，可以用</a:t>
            </a:r>
            <a:r>
              <a:rPr lang="zh-CN" altLang="en-US" sz="2800" b="1" dirty="0">
                <a:solidFill>
                  <a:srgbClr val="FF0000"/>
                </a:solidFill>
              </a:rPr>
              <a:t>一个</a:t>
            </a:r>
            <a:r>
              <a:rPr lang="zh-CN" altLang="en-US" sz="2800" dirty="0">
                <a:solidFill>
                  <a:srgbClr val="0000FF"/>
                </a:solidFill>
              </a:rPr>
              <a:t>关系模式</a:t>
            </a:r>
            <a:r>
              <a:rPr lang="zh-CN" altLang="en-US" sz="2800" dirty="0"/>
              <a:t>表示：</a:t>
            </a:r>
          </a:p>
          <a:p>
            <a:pPr>
              <a:lnSpc>
                <a:spcPct val="90000"/>
              </a:lnSpc>
              <a:buNone/>
            </a:pPr>
            <a:r>
              <a:rPr lang="en-US" altLang="zh-CN" sz="2600" dirty="0"/>
              <a:t>SC(</a:t>
            </a:r>
            <a:r>
              <a:rPr lang="en-US" altLang="zh-CN" sz="2600" u="sng" dirty="0" err="1">
                <a:solidFill>
                  <a:srgbClr val="FF0000"/>
                </a:solidFill>
              </a:rPr>
              <a:t>Sno</a:t>
            </a:r>
            <a:r>
              <a:rPr lang="en-US" altLang="zh-CN" sz="2600" dirty="0" err="1"/>
              <a:t>,Sname,Sage,Sgendar,Sdept,</a:t>
            </a:r>
            <a:r>
              <a:rPr lang="en-US" altLang="zh-CN" sz="2600" u="sng" dirty="0" err="1">
                <a:solidFill>
                  <a:srgbClr val="FF0000"/>
                </a:solidFill>
              </a:rPr>
              <a:t>Cno</a:t>
            </a:r>
            <a:r>
              <a:rPr lang="en-US" altLang="zh-CN" sz="2600" dirty="0" err="1">
                <a:solidFill>
                  <a:srgbClr val="003300"/>
                </a:solidFill>
              </a:rPr>
              <a:t>,Cname,</a:t>
            </a:r>
            <a:r>
              <a:rPr lang="en-US" altLang="zh-CN" sz="2800" dirty="0" err="1"/>
              <a:t>Cpno</a:t>
            </a:r>
            <a:r>
              <a:rPr lang="en-US" altLang="zh-CN" sz="2800" dirty="0"/>
              <a:t>,    </a:t>
            </a:r>
            <a:r>
              <a:rPr lang="en-US" altLang="zh-CN" sz="2800" dirty="0" err="1"/>
              <a:t>Ccredit,</a:t>
            </a:r>
            <a:r>
              <a:rPr lang="en-US" altLang="zh-CN" sz="2600" dirty="0" err="1">
                <a:solidFill>
                  <a:srgbClr val="0000FF"/>
                </a:solidFill>
              </a:rPr>
              <a:t>Grade</a:t>
            </a:r>
            <a:r>
              <a:rPr lang="en-US" altLang="zh-CN" sz="2600" dirty="0"/>
              <a:t>)</a:t>
            </a:r>
          </a:p>
          <a:p>
            <a:pPr>
              <a:lnSpc>
                <a:spcPct val="90000"/>
              </a:lnSpc>
              <a:buFont typeface="Wingdings" pitchFamily="2" charset="2"/>
              <a:buNone/>
            </a:pPr>
            <a:r>
              <a:rPr lang="zh-CN" altLang="en-US" sz="2800" dirty="0"/>
              <a:t>一个可能的关系为：</a:t>
            </a:r>
          </a:p>
          <a:p>
            <a:pPr>
              <a:lnSpc>
                <a:spcPct val="90000"/>
              </a:lnSpc>
              <a:buFont typeface="Wingdings" pitchFamily="2" charset="2"/>
              <a:buNone/>
            </a:pPr>
            <a:r>
              <a:rPr lang="en-US" altLang="zh-CN" sz="2800" dirty="0"/>
              <a:t>S1</a:t>
            </a:r>
            <a:r>
              <a:rPr lang="en-US" altLang="zh-CN" sz="2800" dirty="0">
                <a:solidFill>
                  <a:schemeClr val="tx2"/>
                </a:solidFill>
              </a:rPr>
              <a:t> </a:t>
            </a:r>
            <a:r>
              <a:rPr lang="zh-CN" altLang="en-US" sz="2800" dirty="0">
                <a:solidFill>
                  <a:schemeClr val="tx2"/>
                </a:solidFill>
              </a:rPr>
              <a:t>赵一 </a:t>
            </a:r>
            <a:r>
              <a:rPr lang="en-US" altLang="zh-CN" sz="2800" dirty="0">
                <a:solidFill>
                  <a:schemeClr val="tx2"/>
                </a:solidFill>
              </a:rPr>
              <a:t>18 </a:t>
            </a:r>
            <a:r>
              <a:rPr lang="zh-CN" altLang="en-US" sz="2800" dirty="0">
                <a:solidFill>
                  <a:schemeClr val="tx2"/>
                </a:solidFill>
              </a:rPr>
              <a:t>男 </a:t>
            </a:r>
            <a:r>
              <a:rPr lang="en-US" altLang="zh-CN" sz="2800" dirty="0">
                <a:solidFill>
                  <a:schemeClr val="tx2"/>
                </a:solidFill>
              </a:rPr>
              <a:t>CS </a:t>
            </a:r>
            <a:r>
              <a:rPr lang="en-US" altLang="zh-CN" sz="2800" dirty="0">
                <a:solidFill>
                  <a:srgbClr val="003300"/>
                </a:solidFill>
              </a:rPr>
              <a:t>1 </a:t>
            </a:r>
            <a:r>
              <a:rPr lang="en-US" altLang="zh-CN" sz="2800" dirty="0">
                <a:solidFill>
                  <a:schemeClr val="tx2"/>
                </a:solidFill>
              </a:rPr>
              <a:t>C</a:t>
            </a:r>
            <a:r>
              <a:rPr lang="zh-CN" altLang="en-US" sz="2800" dirty="0">
                <a:solidFill>
                  <a:schemeClr val="tx2"/>
                </a:solidFill>
              </a:rPr>
              <a:t>语言           </a:t>
            </a:r>
            <a:r>
              <a:rPr lang="en-US" altLang="zh-CN" sz="2800" dirty="0">
                <a:solidFill>
                  <a:srgbClr val="003300"/>
                </a:solidFill>
              </a:rPr>
              <a:t>80</a:t>
            </a:r>
          </a:p>
          <a:p>
            <a:pPr>
              <a:lnSpc>
                <a:spcPct val="90000"/>
              </a:lnSpc>
              <a:buFont typeface="Wingdings" pitchFamily="2" charset="2"/>
              <a:buNone/>
            </a:pPr>
            <a:r>
              <a:rPr lang="en-US" altLang="zh-CN" sz="2800" dirty="0"/>
              <a:t>S1</a:t>
            </a:r>
            <a:r>
              <a:rPr lang="en-US" altLang="zh-CN" sz="2800" dirty="0">
                <a:solidFill>
                  <a:schemeClr val="tx2"/>
                </a:solidFill>
              </a:rPr>
              <a:t> </a:t>
            </a:r>
            <a:r>
              <a:rPr lang="zh-CN" altLang="en-US" sz="2800" dirty="0">
                <a:solidFill>
                  <a:schemeClr val="tx2"/>
                </a:solidFill>
              </a:rPr>
              <a:t>赵一 </a:t>
            </a:r>
            <a:r>
              <a:rPr lang="en-US" altLang="zh-CN" sz="2800" dirty="0">
                <a:solidFill>
                  <a:schemeClr val="tx2"/>
                </a:solidFill>
              </a:rPr>
              <a:t>18 </a:t>
            </a:r>
            <a:r>
              <a:rPr lang="zh-CN" altLang="en-US" sz="2800" dirty="0">
                <a:solidFill>
                  <a:schemeClr val="tx2"/>
                </a:solidFill>
              </a:rPr>
              <a:t>男 </a:t>
            </a:r>
            <a:r>
              <a:rPr lang="en-US" altLang="zh-CN" sz="2800" dirty="0">
                <a:solidFill>
                  <a:schemeClr val="tx2"/>
                </a:solidFill>
              </a:rPr>
              <a:t>CS </a:t>
            </a:r>
            <a:r>
              <a:rPr lang="en-US" altLang="zh-CN" sz="2800" dirty="0">
                <a:solidFill>
                  <a:srgbClr val="003300"/>
                </a:solidFill>
              </a:rPr>
              <a:t>2 </a:t>
            </a:r>
            <a:r>
              <a:rPr lang="zh-CN" altLang="en-US" sz="2800" dirty="0">
                <a:solidFill>
                  <a:schemeClr val="tx2"/>
                </a:solidFill>
              </a:rPr>
              <a:t>数据库原理   </a:t>
            </a:r>
            <a:r>
              <a:rPr lang="en-US" altLang="zh-CN" sz="2800" dirty="0">
                <a:solidFill>
                  <a:srgbClr val="003300"/>
                </a:solidFill>
              </a:rPr>
              <a:t>82</a:t>
            </a:r>
          </a:p>
          <a:p>
            <a:pPr>
              <a:lnSpc>
                <a:spcPct val="90000"/>
              </a:lnSpc>
              <a:buFont typeface="Wingdings" pitchFamily="2" charset="2"/>
              <a:buNone/>
            </a:pPr>
            <a:r>
              <a:rPr lang="en-US" altLang="zh-CN" sz="2800" dirty="0"/>
              <a:t>S2 </a:t>
            </a:r>
            <a:r>
              <a:rPr lang="zh-CN" altLang="en-US" sz="2800" dirty="0">
                <a:solidFill>
                  <a:schemeClr val="tx2"/>
                </a:solidFill>
              </a:rPr>
              <a:t>钱二 </a:t>
            </a:r>
            <a:r>
              <a:rPr lang="en-US" altLang="zh-CN" sz="2800" dirty="0">
                <a:solidFill>
                  <a:schemeClr val="tx2"/>
                </a:solidFill>
              </a:rPr>
              <a:t>19 </a:t>
            </a:r>
            <a:r>
              <a:rPr lang="zh-CN" altLang="en-US" sz="2800" dirty="0">
                <a:solidFill>
                  <a:schemeClr val="tx2"/>
                </a:solidFill>
              </a:rPr>
              <a:t>男 </a:t>
            </a:r>
            <a:r>
              <a:rPr lang="en-US" altLang="zh-CN" sz="2800" dirty="0">
                <a:solidFill>
                  <a:schemeClr val="tx2"/>
                </a:solidFill>
              </a:rPr>
              <a:t>CS </a:t>
            </a:r>
            <a:r>
              <a:rPr lang="en-US" altLang="zh-CN" sz="2800" dirty="0">
                <a:solidFill>
                  <a:srgbClr val="003300"/>
                </a:solidFill>
              </a:rPr>
              <a:t>1 </a:t>
            </a:r>
            <a:r>
              <a:rPr lang="en-US" altLang="zh-CN" sz="2800" dirty="0">
                <a:solidFill>
                  <a:schemeClr val="tx2"/>
                </a:solidFill>
              </a:rPr>
              <a:t>C</a:t>
            </a:r>
            <a:r>
              <a:rPr lang="zh-CN" altLang="en-US" sz="2800" dirty="0">
                <a:solidFill>
                  <a:schemeClr val="tx2"/>
                </a:solidFill>
              </a:rPr>
              <a:t>语言           </a:t>
            </a:r>
            <a:r>
              <a:rPr lang="en-US" altLang="zh-CN" sz="2800" dirty="0">
                <a:solidFill>
                  <a:srgbClr val="003300"/>
                </a:solidFill>
              </a:rPr>
              <a:t>80</a:t>
            </a:r>
          </a:p>
          <a:p>
            <a:pPr>
              <a:lnSpc>
                <a:spcPct val="90000"/>
              </a:lnSpc>
              <a:buFont typeface="Wingdings" pitchFamily="2" charset="2"/>
              <a:buNone/>
            </a:pPr>
            <a:r>
              <a:rPr lang="en-US" altLang="zh-CN" sz="2000" dirty="0">
                <a:latin typeface="Arial"/>
              </a:rPr>
              <a:t>……</a:t>
            </a:r>
            <a:endParaRPr lang="en-US" altLang="zh-CN" sz="2000" dirty="0"/>
          </a:p>
          <a:p>
            <a:pPr>
              <a:lnSpc>
                <a:spcPct val="90000"/>
              </a:lnSpc>
              <a:buFont typeface="Wingdings" pitchFamily="2" charset="2"/>
              <a:buNone/>
            </a:pPr>
            <a:r>
              <a:rPr lang="zh-CN" altLang="en-US" sz="2800" dirty="0"/>
              <a:t>可以看出，该模式存在的主要问题是</a:t>
            </a:r>
            <a:r>
              <a:rPr lang="zh-CN" altLang="en-US" sz="2800" b="1" dirty="0">
                <a:solidFill>
                  <a:srgbClr val="FF0000"/>
                </a:solidFill>
                <a:effectLst>
                  <a:outerShdw blurRad="38100" dist="38100" dir="2700000" algn="tl">
                    <a:srgbClr val="000000">
                      <a:alpha val="43137"/>
                    </a:srgbClr>
                  </a:outerShdw>
                </a:effectLst>
              </a:rPr>
              <a:t>冗余</a:t>
            </a:r>
            <a:r>
              <a:rPr lang="zh-CN" altLang="en-US" sz="2800" dirty="0"/>
              <a:t>。</a:t>
            </a:r>
          </a:p>
        </p:txBody>
      </p:sp>
      <p:sp>
        <p:nvSpPr>
          <p:cNvPr id="3" name="页脚占位符 2">
            <a:extLst>
              <a:ext uri="{FF2B5EF4-FFF2-40B4-BE49-F238E27FC236}">
                <a16:creationId xmlns:a16="http://schemas.microsoft.com/office/drawing/2014/main" id="{923119AD-33C6-FDED-0DAF-0E7B9E0E56A9}"/>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7D19B585-DA1E-040D-25CF-B34AAB231A11}"/>
              </a:ext>
            </a:extLst>
          </p:cNvPr>
          <p:cNvSpPr>
            <a:spLocks noGrp="1"/>
          </p:cNvSpPr>
          <p:nvPr>
            <p:ph type="sldNum" sz="quarter" idx="12"/>
          </p:nvPr>
        </p:nvSpPr>
        <p:spPr/>
        <p:txBody>
          <a:bodyPr/>
          <a:lstStyle/>
          <a:p>
            <a:fld id="{A2D74603-B40B-4D66-8F6E-41C870D48932}" type="slidenum">
              <a:rPr lang="en-US" altLang="zh-CN" smtClean="0"/>
              <a:pPr/>
              <a:t>9</a:t>
            </a:fld>
            <a:r>
              <a:rPr lang="en-US" altLang="zh-CN"/>
              <a:t>/162</a:t>
            </a:r>
            <a:endParaRPr lang="en-US" altLang="zh-CN"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63171">
                                            <p:txEl>
                                              <p:pRg st="7" end="7"/>
                                            </p:txEl>
                                          </p:spTgt>
                                        </p:tgtEl>
                                        <p:attrNameLst>
                                          <p:attrName>style.visibility</p:attrName>
                                        </p:attrNameLst>
                                      </p:cBhvr>
                                      <p:to>
                                        <p:strVal val="visible"/>
                                      </p:to>
                                    </p:set>
                                    <p:animEffect transition="in" filter="fade">
                                      <p:cBhvr>
                                        <p:cTn id="7" dur="250"/>
                                        <p:tgtEl>
                                          <p:spTgt spid="263171">
                                            <p:txEl>
                                              <p:pRg st="7" end="7"/>
                                            </p:txEl>
                                          </p:spTgt>
                                        </p:tgtEl>
                                      </p:cBhvr>
                                    </p:animEffect>
                                    <p:anim calcmode="lin" valueType="num">
                                      <p:cBhvr>
                                        <p:cTn id="8" dur="250" fill="hold"/>
                                        <p:tgtEl>
                                          <p:spTgt spid="263171">
                                            <p:txEl>
                                              <p:pRg st="7" end="7"/>
                                            </p:txEl>
                                          </p:spTgt>
                                        </p:tgtEl>
                                        <p:attrNameLst>
                                          <p:attrName>ppt_x</p:attrName>
                                        </p:attrNameLst>
                                      </p:cBhvr>
                                      <p:tavLst>
                                        <p:tav tm="0">
                                          <p:val>
                                            <p:strVal val="#ppt_x"/>
                                          </p:val>
                                        </p:tav>
                                        <p:tav tm="100000">
                                          <p:val>
                                            <p:strVal val="#ppt_x"/>
                                          </p:val>
                                        </p:tav>
                                      </p:tavLst>
                                    </p:anim>
                                    <p:anim calcmode="lin" valueType="num">
                                      <p:cBhvr>
                                        <p:cTn id="9" dur="250" fill="hold"/>
                                        <p:tgtEl>
                                          <p:spTgt spid="263171">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120747D-20D7-47C0-89F8-4AB716A93A85}" type="datetime1">
              <a:rPr lang="zh-CN" altLang="en-US" smtClean="0"/>
              <a:t>2025/11/6</a:t>
            </a:fld>
            <a:endParaRPr lang="en-US" altLang="zh-CN"/>
          </a:p>
        </p:txBody>
      </p:sp>
      <p:sp>
        <p:nvSpPr>
          <p:cNvPr id="264194" name="Rectangle 2"/>
          <p:cNvSpPr>
            <a:spLocks noGrp="1" noChangeArrowheads="1"/>
          </p:cNvSpPr>
          <p:nvPr>
            <p:ph type="title"/>
          </p:nvPr>
        </p:nvSpPr>
        <p:spPr/>
        <p:txBody>
          <a:bodyPr/>
          <a:lstStyle/>
          <a:p>
            <a:r>
              <a:rPr lang="zh-CN" altLang="en-US"/>
              <a:t>冗余带来的问题</a:t>
            </a:r>
          </a:p>
        </p:txBody>
      </p:sp>
      <p:sp>
        <p:nvSpPr>
          <p:cNvPr id="264195" name="Rectangle 3"/>
          <p:cNvSpPr>
            <a:spLocks noGrp="1" noChangeArrowheads="1"/>
          </p:cNvSpPr>
          <p:nvPr>
            <p:ph type="body" idx="1"/>
          </p:nvPr>
        </p:nvSpPr>
        <p:spPr/>
        <p:txBody>
          <a:bodyPr/>
          <a:lstStyle/>
          <a:p>
            <a:r>
              <a:rPr lang="zh-CN" altLang="en-US" b="1" dirty="0">
                <a:solidFill>
                  <a:srgbClr val="800080"/>
                </a:solidFill>
              </a:rPr>
              <a:t>冗余是不可避免的</a:t>
            </a:r>
            <a:r>
              <a:rPr lang="zh-CN" altLang="en-US" dirty="0"/>
              <a:t>。在一定程度内也是合理的。但是，</a:t>
            </a:r>
            <a:r>
              <a:rPr lang="zh-CN" altLang="en-US" b="1" u="sng" dirty="0">
                <a:solidFill>
                  <a:srgbClr val="C00000"/>
                </a:solidFill>
              </a:rPr>
              <a:t>过度</a:t>
            </a:r>
            <a:r>
              <a:rPr lang="zh-CN" altLang="en-US" u="sng" dirty="0">
                <a:solidFill>
                  <a:srgbClr val="C00000"/>
                </a:solidFill>
              </a:rPr>
              <a:t>的冗余</a:t>
            </a:r>
            <a:r>
              <a:rPr lang="zh-CN" altLang="en-US" dirty="0"/>
              <a:t>则会给数据库带来</a:t>
            </a:r>
            <a:r>
              <a:rPr lang="zh-CN" altLang="en-US" u="sng" dirty="0"/>
              <a:t>三类大的问题</a:t>
            </a:r>
            <a:r>
              <a:rPr lang="zh-CN" altLang="en-US" dirty="0"/>
              <a:t>：</a:t>
            </a:r>
          </a:p>
          <a:p>
            <a:pPr lvl="1"/>
            <a:r>
              <a:rPr lang="zh-CN" altLang="en-US" b="1" dirty="0">
                <a:solidFill>
                  <a:srgbClr val="0000FF"/>
                </a:solidFill>
              </a:rPr>
              <a:t>插入异常</a:t>
            </a:r>
            <a:r>
              <a:rPr lang="zh-CN" altLang="en-US" dirty="0"/>
              <a:t>（学生不选课，其基本信息就无法插入）</a:t>
            </a:r>
          </a:p>
          <a:p>
            <a:pPr lvl="1"/>
            <a:r>
              <a:rPr lang="zh-CN" altLang="en-US" b="1" dirty="0">
                <a:solidFill>
                  <a:srgbClr val="0000FF"/>
                </a:solidFill>
              </a:rPr>
              <a:t>删除异常</a:t>
            </a:r>
            <a:r>
              <a:rPr lang="zh-CN" altLang="en-US" dirty="0"/>
              <a:t>（删除学生选课信息，其基本信息也被删除）</a:t>
            </a:r>
          </a:p>
          <a:p>
            <a:pPr lvl="1"/>
            <a:r>
              <a:rPr lang="zh-CN" altLang="en-US" b="1" dirty="0">
                <a:solidFill>
                  <a:srgbClr val="0000FF"/>
                </a:solidFill>
              </a:rPr>
              <a:t>修改复杂</a:t>
            </a:r>
            <a:r>
              <a:rPr lang="zh-CN" altLang="en-US" dirty="0"/>
              <a:t>（修改某学生的基本信息，要</a:t>
            </a:r>
            <a:r>
              <a:rPr lang="zh-CN" altLang="en-US" dirty="0">
                <a:solidFill>
                  <a:srgbClr val="0000FF"/>
                </a:solidFill>
              </a:rPr>
              <a:t>随选课</a:t>
            </a:r>
            <a:r>
              <a:rPr lang="zh-CN" altLang="en-US" b="1" dirty="0">
                <a:solidFill>
                  <a:srgbClr val="0000FF"/>
                </a:solidFill>
                <a:effectLst>
                  <a:outerShdw blurRad="38100" dist="38100" dir="2700000" algn="tl">
                    <a:srgbClr val="000000">
                      <a:alpha val="43137"/>
                    </a:srgbClr>
                  </a:outerShdw>
                </a:effectLst>
              </a:rPr>
              <a:t>多次</a:t>
            </a:r>
            <a:r>
              <a:rPr lang="zh-CN" altLang="en-US" dirty="0"/>
              <a:t>被修改）</a:t>
            </a:r>
          </a:p>
        </p:txBody>
      </p:sp>
      <p:sp>
        <p:nvSpPr>
          <p:cNvPr id="3" name="页脚占位符 2">
            <a:extLst>
              <a:ext uri="{FF2B5EF4-FFF2-40B4-BE49-F238E27FC236}">
                <a16:creationId xmlns:a16="http://schemas.microsoft.com/office/drawing/2014/main" id="{036CCF22-E038-3E9B-DCE4-8F49B6E3C69F}"/>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939766C8-5566-FD6B-D278-4D40434929F7}"/>
              </a:ext>
            </a:extLst>
          </p:cNvPr>
          <p:cNvSpPr>
            <a:spLocks noGrp="1"/>
          </p:cNvSpPr>
          <p:nvPr>
            <p:ph type="sldNum" sz="quarter" idx="12"/>
          </p:nvPr>
        </p:nvSpPr>
        <p:spPr/>
        <p:txBody>
          <a:bodyPr/>
          <a:lstStyle/>
          <a:p>
            <a:fld id="{A2D74603-B40B-4D66-8F6E-41C870D48932}" type="slidenum">
              <a:rPr lang="en-US" altLang="zh-CN" smtClean="0"/>
              <a:pPr/>
              <a:t>10</a:t>
            </a:fld>
            <a:r>
              <a:rPr lang="en-US" altLang="zh-CN"/>
              <a:t>/162</a:t>
            </a:r>
            <a:endParaRPr lang="en-US" altLang="zh-CN"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3BFBAC0-81EA-4D1D-A193-6D105229D059}" type="datetime1">
              <a:rPr lang="zh-CN" altLang="en-US" smtClean="0"/>
              <a:t>2025/11/6</a:t>
            </a:fld>
            <a:endParaRPr lang="en-US" altLang="zh-CN"/>
          </a:p>
        </p:txBody>
      </p:sp>
      <p:sp>
        <p:nvSpPr>
          <p:cNvPr id="265218" name="Rectangle 2"/>
          <p:cNvSpPr>
            <a:spLocks noGrp="1" noChangeArrowheads="1"/>
          </p:cNvSpPr>
          <p:nvPr>
            <p:ph type="title"/>
          </p:nvPr>
        </p:nvSpPr>
        <p:spPr/>
        <p:txBody>
          <a:bodyPr/>
          <a:lstStyle/>
          <a:p>
            <a:r>
              <a:rPr lang="zh-CN" altLang="en-US"/>
              <a:t>解决冗余的方法</a:t>
            </a:r>
          </a:p>
        </p:txBody>
      </p:sp>
      <p:sp>
        <p:nvSpPr>
          <p:cNvPr id="265219" name="Rectangle 3"/>
          <p:cNvSpPr>
            <a:spLocks noGrp="1" noChangeArrowheads="1"/>
          </p:cNvSpPr>
          <p:nvPr>
            <p:ph type="body" idx="1"/>
          </p:nvPr>
        </p:nvSpPr>
        <p:spPr>
          <a:xfrm>
            <a:off x="609600" y="1447800"/>
            <a:ext cx="8210872" cy="4684713"/>
          </a:xfrm>
        </p:spPr>
        <p:txBody>
          <a:bodyPr/>
          <a:lstStyle/>
          <a:p>
            <a:r>
              <a:rPr lang="zh-CN" altLang="en-US" dirty="0"/>
              <a:t>解决的方法</a:t>
            </a:r>
          </a:p>
          <a:p>
            <a:pPr lvl="1"/>
            <a:r>
              <a:rPr lang="zh-CN" altLang="en-US" dirty="0">
                <a:solidFill>
                  <a:srgbClr val="FF0000"/>
                </a:solidFill>
              </a:rPr>
              <a:t>一个</a:t>
            </a:r>
            <a:r>
              <a:rPr lang="zh-CN" altLang="en-US" dirty="0">
                <a:solidFill>
                  <a:srgbClr val="0000FF"/>
                </a:solidFill>
              </a:rPr>
              <a:t>大</a:t>
            </a:r>
            <a:r>
              <a:rPr lang="zh-CN" altLang="en-US" dirty="0">
                <a:solidFill>
                  <a:srgbClr val="FF0000"/>
                </a:solidFill>
              </a:rPr>
              <a:t>关系</a:t>
            </a:r>
            <a:r>
              <a:rPr lang="zh-CN" altLang="en-US" b="1" dirty="0">
                <a:solidFill>
                  <a:srgbClr val="0000FF"/>
                </a:solidFill>
              </a:rPr>
              <a:t>分解</a:t>
            </a:r>
            <a:r>
              <a:rPr lang="zh-CN" altLang="en-US" dirty="0">
                <a:solidFill>
                  <a:srgbClr val="FF0000"/>
                </a:solidFill>
              </a:rPr>
              <a:t>为若干个</a:t>
            </a:r>
            <a:r>
              <a:rPr lang="zh-CN" altLang="en-US" dirty="0">
                <a:solidFill>
                  <a:srgbClr val="0000FF"/>
                </a:solidFill>
              </a:rPr>
              <a:t>小</a:t>
            </a:r>
            <a:r>
              <a:rPr lang="zh-CN" altLang="en-US" dirty="0">
                <a:solidFill>
                  <a:srgbClr val="FF0000"/>
                </a:solidFill>
              </a:rPr>
              <a:t>关系</a:t>
            </a:r>
            <a:r>
              <a:rPr lang="zh-CN" altLang="en-US" dirty="0"/>
              <a:t>。</a:t>
            </a:r>
          </a:p>
          <a:p>
            <a:pPr lvl="1"/>
            <a:endParaRPr lang="zh-CN" altLang="en-US" sz="1000" dirty="0"/>
          </a:p>
          <a:p>
            <a:pPr lvl="1"/>
            <a:r>
              <a:rPr lang="zh-CN" altLang="en-US" dirty="0"/>
              <a:t>感性经验：多用小关系，少用字段。</a:t>
            </a:r>
          </a:p>
          <a:p>
            <a:pPr lvl="1"/>
            <a:endParaRPr lang="zh-CN" altLang="en-US" sz="1000" dirty="0"/>
          </a:p>
          <a:p>
            <a:pPr lvl="1"/>
            <a:r>
              <a:rPr lang="zh-CN" altLang="en-US" dirty="0"/>
              <a:t>如前面的</a:t>
            </a:r>
            <a:r>
              <a:rPr lang="en-US" altLang="zh-CN" dirty="0"/>
              <a:t>SC</a:t>
            </a:r>
            <a:r>
              <a:rPr lang="zh-CN" altLang="en-US" dirty="0"/>
              <a:t>大关系分解为</a:t>
            </a:r>
            <a:r>
              <a:rPr lang="en-US" altLang="zh-CN" dirty="0"/>
              <a:t>Student</a:t>
            </a:r>
            <a:r>
              <a:rPr lang="zh-CN" altLang="en-US" dirty="0"/>
              <a:t>，</a:t>
            </a:r>
            <a:r>
              <a:rPr lang="en-US" altLang="zh-CN" dirty="0"/>
              <a:t>SC</a:t>
            </a:r>
            <a:r>
              <a:rPr lang="zh-CN" altLang="en-US" dirty="0"/>
              <a:t>和</a:t>
            </a:r>
            <a:r>
              <a:rPr lang="en-US" altLang="zh-CN" dirty="0"/>
              <a:t>Course</a:t>
            </a:r>
            <a:r>
              <a:rPr lang="zh-CN" altLang="en-US" dirty="0"/>
              <a:t>三个小关系，即可消除三类异常。</a:t>
            </a:r>
          </a:p>
          <a:p>
            <a:endParaRPr lang="zh-CN" altLang="en-US" dirty="0"/>
          </a:p>
        </p:txBody>
      </p:sp>
      <p:sp>
        <p:nvSpPr>
          <p:cNvPr id="3" name="页脚占位符 2">
            <a:extLst>
              <a:ext uri="{FF2B5EF4-FFF2-40B4-BE49-F238E27FC236}">
                <a16:creationId xmlns:a16="http://schemas.microsoft.com/office/drawing/2014/main" id="{10CA5058-F603-2A57-2AD7-ADDEC23D7BA5}"/>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96BB0E56-2016-C7E0-1304-6CF8E4897C61}"/>
              </a:ext>
            </a:extLst>
          </p:cNvPr>
          <p:cNvSpPr>
            <a:spLocks noGrp="1"/>
          </p:cNvSpPr>
          <p:nvPr>
            <p:ph type="sldNum" sz="quarter" idx="12"/>
          </p:nvPr>
        </p:nvSpPr>
        <p:spPr/>
        <p:txBody>
          <a:bodyPr/>
          <a:lstStyle/>
          <a:p>
            <a:fld id="{A2D74603-B40B-4D66-8F6E-41C870D48932}" type="slidenum">
              <a:rPr lang="en-US" altLang="zh-CN" smtClean="0"/>
              <a:pPr/>
              <a:t>11</a:t>
            </a:fld>
            <a:r>
              <a:rPr lang="en-US" altLang="zh-CN"/>
              <a:t>/162</a:t>
            </a:r>
            <a:endParaRPr lang="en-US" altLang="zh-CN"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C4EBA7E-0F6B-4474-B691-E0C90C7DF223}" type="datetime1">
              <a:rPr lang="zh-CN" altLang="en-US" smtClean="0"/>
              <a:t>2025/11/6</a:t>
            </a:fld>
            <a:endParaRPr lang="en-US" altLang="zh-CN"/>
          </a:p>
        </p:txBody>
      </p:sp>
      <p:sp>
        <p:nvSpPr>
          <p:cNvPr id="266242" name="Rectangle 2"/>
          <p:cNvSpPr>
            <a:spLocks noGrp="1" noChangeArrowheads="1"/>
          </p:cNvSpPr>
          <p:nvPr>
            <p:ph type="title"/>
          </p:nvPr>
        </p:nvSpPr>
        <p:spPr/>
        <p:txBody>
          <a:bodyPr/>
          <a:lstStyle/>
          <a:p>
            <a:r>
              <a:rPr lang="zh-CN" altLang="en-US"/>
              <a:t>问题的引出</a:t>
            </a:r>
          </a:p>
        </p:txBody>
      </p:sp>
      <p:sp>
        <p:nvSpPr>
          <p:cNvPr id="266243" name="Rectangle 3"/>
          <p:cNvSpPr>
            <a:spLocks noGrp="1" noChangeArrowheads="1"/>
          </p:cNvSpPr>
          <p:nvPr>
            <p:ph type="body" idx="1"/>
          </p:nvPr>
        </p:nvSpPr>
        <p:spPr/>
        <p:txBody>
          <a:bodyPr/>
          <a:lstStyle/>
          <a:p>
            <a:r>
              <a:rPr lang="zh-CN" altLang="en-US" dirty="0"/>
              <a:t>为什么</a:t>
            </a:r>
            <a:r>
              <a:rPr lang="zh-CN" altLang="en-US" dirty="0">
                <a:solidFill>
                  <a:srgbClr val="FF0000"/>
                </a:solidFill>
              </a:rPr>
              <a:t>小关系比大关系好</a:t>
            </a:r>
            <a:r>
              <a:rPr lang="zh-CN" altLang="en-US" dirty="0"/>
              <a:t>呢？现在我们要讨论的就是这个问题。</a:t>
            </a:r>
          </a:p>
          <a:p>
            <a:endParaRPr lang="zh-CN" altLang="en-US" dirty="0"/>
          </a:p>
          <a:p>
            <a:r>
              <a:rPr lang="zh-CN" altLang="en-US" dirty="0"/>
              <a:t>从上面的分解观察到：如果在一个关系模式内，</a:t>
            </a:r>
            <a:r>
              <a:rPr lang="zh-CN" altLang="en-US" b="1" dirty="0">
                <a:solidFill>
                  <a:srgbClr val="0000FF"/>
                </a:solidFill>
              </a:rPr>
              <a:t>函数依赖</a:t>
            </a:r>
            <a:r>
              <a:rPr lang="zh-CN" altLang="en-US" dirty="0"/>
              <a:t>形式上如果只有：</a:t>
            </a:r>
          </a:p>
          <a:p>
            <a:pPr>
              <a:spcBef>
                <a:spcPct val="35000"/>
              </a:spcBef>
              <a:spcAft>
                <a:spcPct val="35000"/>
              </a:spcAft>
              <a:buFont typeface="Wingdings" pitchFamily="2" charset="2"/>
              <a:buNone/>
            </a:pPr>
            <a:r>
              <a:rPr lang="zh-CN" altLang="en-US" dirty="0"/>
              <a:t>		</a:t>
            </a:r>
            <a:r>
              <a:rPr lang="zh-CN" altLang="en-US" dirty="0">
                <a:solidFill>
                  <a:srgbClr val="C00000"/>
                </a:solidFill>
              </a:rPr>
              <a:t>码 </a:t>
            </a:r>
            <a:r>
              <a:rPr lang="en-US" altLang="zh-CN" dirty="0">
                <a:solidFill>
                  <a:srgbClr val="C00000"/>
                </a:solidFill>
                <a:latin typeface="宋体" pitchFamily="2" charset="-122"/>
              </a:rPr>
              <a:t>→ </a:t>
            </a:r>
            <a:r>
              <a:rPr lang="zh-CN" altLang="en-US" dirty="0">
                <a:solidFill>
                  <a:srgbClr val="0000FF"/>
                </a:solidFill>
              </a:rPr>
              <a:t>非主属性</a:t>
            </a:r>
          </a:p>
          <a:p>
            <a:pPr>
              <a:buFont typeface="Wingdings" pitchFamily="2" charset="2"/>
              <a:buNone/>
            </a:pPr>
            <a:r>
              <a:rPr lang="zh-CN" altLang="en-US" dirty="0"/>
              <a:t>   的形式，</a:t>
            </a:r>
            <a:r>
              <a:rPr lang="zh-CN" altLang="en-US" dirty="0">
                <a:solidFill>
                  <a:srgbClr val="FF0000"/>
                </a:solidFill>
              </a:rPr>
              <a:t>冗余就较小</a:t>
            </a:r>
            <a:r>
              <a:rPr lang="zh-CN" altLang="en-US" dirty="0"/>
              <a:t>，</a:t>
            </a:r>
            <a:r>
              <a:rPr lang="zh-CN" altLang="en-US" dirty="0">
                <a:solidFill>
                  <a:srgbClr val="FF0000"/>
                </a:solidFill>
              </a:rPr>
              <a:t>三类异常就没有</a:t>
            </a:r>
            <a:r>
              <a:rPr lang="zh-CN" altLang="en-US" dirty="0"/>
              <a:t>了。</a:t>
            </a:r>
          </a:p>
          <a:p>
            <a:endParaRPr lang="zh-CN" altLang="en-US" dirty="0"/>
          </a:p>
        </p:txBody>
      </p:sp>
      <p:sp>
        <p:nvSpPr>
          <p:cNvPr id="7" name="Rectangle 3"/>
          <p:cNvSpPr txBox="1">
            <a:spLocks noChangeArrowheads="1"/>
          </p:cNvSpPr>
          <p:nvPr/>
        </p:nvSpPr>
        <p:spPr bwMode="auto">
          <a:xfrm>
            <a:off x="3059832" y="359779"/>
            <a:ext cx="6004520" cy="2348880"/>
          </a:xfrm>
          <a:prstGeom prst="rect">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fontAlgn="base">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marL="0" indent="0">
              <a:spcBef>
                <a:spcPts val="0"/>
              </a:spcBef>
              <a:buNone/>
            </a:pPr>
            <a:r>
              <a:rPr kumimoji="0" lang="zh-CN" altLang="en-US" sz="2400" kern="0" dirty="0"/>
              <a:t>学生表</a:t>
            </a:r>
          </a:p>
          <a:p>
            <a:pPr marL="457200" lvl="1" indent="0">
              <a:spcBef>
                <a:spcPts val="0"/>
              </a:spcBef>
              <a:buNone/>
            </a:pPr>
            <a:r>
              <a:rPr kumimoji="0" lang="en-US" altLang="zh-CN" sz="2000" kern="0" dirty="0"/>
              <a:t>Student(</a:t>
            </a:r>
            <a:r>
              <a:rPr kumimoji="0" lang="en-US" altLang="zh-CN" sz="2000" u="sng" kern="0" dirty="0" err="1"/>
              <a:t>Sno</a:t>
            </a:r>
            <a:r>
              <a:rPr kumimoji="0" lang="en-US" altLang="zh-CN" sz="2000" kern="0" dirty="0"/>
              <a:t>, </a:t>
            </a:r>
            <a:r>
              <a:rPr kumimoji="0" lang="en-US" altLang="zh-CN" sz="2000" kern="0" dirty="0" err="1"/>
              <a:t>Sname</a:t>
            </a:r>
            <a:r>
              <a:rPr kumimoji="0" lang="en-US" altLang="zh-CN" sz="2000" kern="0" dirty="0"/>
              <a:t>, </a:t>
            </a:r>
            <a:r>
              <a:rPr kumimoji="0" lang="en-US" altLang="zh-CN" sz="2000" kern="0" dirty="0" err="1"/>
              <a:t>Sgender</a:t>
            </a:r>
            <a:r>
              <a:rPr kumimoji="0" lang="en-US" altLang="zh-CN" sz="2000" kern="0" dirty="0"/>
              <a:t>, Sage, </a:t>
            </a:r>
            <a:r>
              <a:rPr kumimoji="0" lang="en-US" altLang="zh-CN" sz="2000" kern="0" dirty="0" err="1"/>
              <a:t>Sdept</a:t>
            </a:r>
            <a:r>
              <a:rPr kumimoji="0" lang="en-US" altLang="zh-CN" sz="2000" kern="0" dirty="0"/>
              <a:t>)</a:t>
            </a:r>
          </a:p>
          <a:p>
            <a:pPr marL="0" indent="0">
              <a:spcBef>
                <a:spcPts val="0"/>
              </a:spcBef>
              <a:buNone/>
            </a:pPr>
            <a:endParaRPr kumimoji="0" lang="zh-CN" altLang="en-US" sz="700" kern="0" dirty="0"/>
          </a:p>
          <a:p>
            <a:pPr marL="0" indent="0">
              <a:spcBef>
                <a:spcPts val="0"/>
              </a:spcBef>
              <a:buNone/>
            </a:pPr>
            <a:r>
              <a:rPr kumimoji="0" lang="zh-CN" altLang="en-US" sz="2400" kern="0" dirty="0"/>
              <a:t>课程表</a:t>
            </a:r>
          </a:p>
          <a:p>
            <a:pPr marL="457200" lvl="1" indent="0">
              <a:spcBef>
                <a:spcPts val="0"/>
              </a:spcBef>
              <a:buNone/>
            </a:pPr>
            <a:r>
              <a:rPr kumimoji="0" lang="en-US" altLang="zh-CN" sz="2000" kern="0" dirty="0"/>
              <a:t>Course(</a:t>
            </a:r>
            <a:r>
              <a:rPr kumimoji="0" lang="en-US" altLang="zh-CN" sz="2000" u="sng" kern="0" dirty="0" err="1"/>
              <a:t>Cno</a:t>
            </a:r>
            <a:r>
              <a:rPr kumimoji="0" lang="en-US" altLang="zh-CN" sz="2000" kern="0" dirty="0"/>
              <a:t>, </a:t>
            </a:r>
            <a:r>
              <a:rPr kumimoji="0" lang="en-US" altLang="zh-CN" sz="2000" kern="0" dirty="0" err="1"/>
              <a:t>Cname</a:t>
            </a:r>
            <a:r>
              <a:rPr kumimoji="0" lang="en-US" altLang="zh-CN" sz="2000" kern="0" dirty="0"/>
              <a:t>, </a:t>
            </a:r>
            <a:r>
              <a:rPr kumimoji="0" lang="en-US" altLang="zh-CN" sz="2000" kern="0" dirty="0" err="1"/>
              <a:t>Cpno</a:t>
            </a:r>
            <a:r>
              <a:rPr kumimoji="0" lang="en-US" altLang="zh-CN" sz="2000" kern="0" dirty="0"/>
              <a:t>, </a:t>
            </a:r>
            <a:r>
              <a:rPr kumimoji="0" lang="en-US" altLang="zh-CN" sz="2000" kern="0" dirty="0" err="1"/>
              <a:t>Ccredit</a:t>
            </a:r>
            <a:r>
              <a:rPr kumimoji="0" lang="en-US" altLang="zh-CN" sz="2000" kern="0" dirty="0"/>
              <a:t>)</a:t>
            </a:r>
          </a:p>
          <a:p>
            <a:pPr marL="0" indent="0">
              <a:spcBef>
                <a:spcPts val="0"/>
              </a:spcBef>
              <a:buNone/>
            </a:pPr>
            <a:endParaRPr kumimoji="0" lang="zh-CN" altLang="en-US" sz="700" kern="0" dirty="0"/>
          </a:p>
          <a:p>
            <a:pPr marL="0" indent="0">
              <a:spcBef>
                <a:spcPts val="0"/>
              </a:spcBef>
              <a:buNone/>
            </a:pPr>
            <a:r>
              <a:rPr kumimoji="0" lang="zh-CN" altLang="en-US" sz="2400" kern="0" dirty="0"/>
              <a:t>选课表</a:t>
            </a:r>
          </a:p>
          <a:p>
            <a:pPr marL="457200" lvl="1" indent="0">
              <a:spcBef>
                <a:spcPts val="0"/>
              </a:spcBef>
              <a:buNone/>
            </a:pPr>
            <a:r>
              <a:rPr kumimoji="0" lang="en-US" altLang="zh-CN" sz="2000" kern="0" dirty="0"/>
              <a:t>SC(</a:t>
            </a:r>
            <a:r>
              <a:rPr kumimoji="0" lang="en-US" altLang="zh-CN" sz="2000" u="sng" kern="0" dirty="0" err="1"/>
              <a:t>Sno</a:t>
            </a:r>
            <a:r>
              <a:rPr kumimoji="0" lang="en-US" altLang="zh-CN" sz="2000" u="sng" kern="0" dirty="0"/>
              <a:t>, </a:t>
            </a:r>
            <a:r>
              <a:rPr kumimoji="0" lang="en-US" altLang="zh-CN" sz="2000" u="sng" kern="0" dirty="0" err="1"/>
              <a:t>Cno</a:t>
            </a:r>
            <a:r>
              <a:rPr kumimoji="0" lang="en-US" altLang="zh-CN" sz="2000" kern="0" dirty="0"/>
              <a:t>, Grade)</a:t>
            </a:r>
          </a:p>
          <a:p>
            <a:pPr marL="0" indent="0">
              <a:buNone/>
            </a:pPr>
            <a:endParaRPr kumimoji="0" lang="zh-CN" altLang="en-US" sz="2400" kern="0" dirty="0"/>
          </a:p>
        </p:txBody>
      </p:sp>
      <p:sp>
        <p:nvSpPr>
          <p:cNvPr id="3" name="页脚占位符 2">
            <a:extLst>
              <a:ext uri="{FF2B5EF4-FFF2-40B4-BE49-F238E27FC236}">
                <a16:creationId xmlns:a16="http://schemas.microsoft.com/office/drawing/2014/main" id="{555BDB27-5398-6780-EA05-126047FF6CA9}"/>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C9FEAB84-E0B5-BB36-0CA2-20F394FF6E87}"/>
              </a:ext>
            </a:extLst>
          </p:cNvPr>
          <p:cNvSpPr>
            <a:spLocks noGrp="1"/>
          </p:cNvSpPr>
          <p:nvPr>
            <p:ph type="sldNum" sz="quarter" idx="12"/>
          </p:nvPr>
        </p:nvSpPr>
        <p:spPr/>
        <p:txBody>
          <a:bodyPr/>
          <a:lstStyle/>
          <a:p>
            <a:fld id="{A2D74603-B40B-4D66-8F6E-41C870D48932}" type="slidenum">
              <a:rPr lang="en-US" altLang="zh-CN" smtClean="0"/>
              <a:pPr/>
              <a:t>12</a:t>
            </a:fld>
            <a:r>
              <a:rPr lang="en-US" altLang="zh-CN"/>
              <a:t>/162</a:t>
            </a:r>
            <a:endParaRPr lang="en-US" altLang="zh-CN" dirty="0"/>
          </a:p>
        </p:txBody>
      </p:sp>
    </p:spTree>
    <p:extLst>
      <p:ext uri="{BB962C8B-B14F-4D97-AF65-F5344CB8AC3E}">
        <p14:creationId xmlns:p14="http://schemas.microsoft.com/office/powerpoint/2010/main" val="17264159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66243">
                                            <p:txEl>
                                              <p:pRg st="2" end="2"/>
                                            </p:txEl>
                                          </p:spTgt>
                                        </p:tgtEl>
                                        <p:attrNameLst>
                                          <p:attrName>style.visibility</p:attrName>
                                        </p:attrNameLst>
                                      </p:cBhvr>
                                      <p:to>
                                        <p:strVal val="visible"/>
                                      </p:to>
                                    </p:set>
                                    <p:anim calcmode="lin" valueType="num">
                                      <p:cBhvr additive="base">
                                        <p:cTn id="13" dur="500" fill="hold"/>
                                        <p:tgtEl>
                                          <p:spTgt spid="26624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6624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66243">
                                            <p:txEl>
                                              <p:pRg st="3" end="3"/>
                                            </p:txEl>
                                          </p:spTgt>
                                        </p:tgtEl>
                                        <p:attrNameLst>
                                          <p:attrName>style.visibility</p:attrName>
                                        </p:attrNameLst>
                                      </p:cBhvr>
                                      <p:to>
                                        <p:strVal val="visible"/>
                                      </p:to>
                                    </p:set>
                                    <p:anim calcmode="lin" valueType="num">
                                      <p:cBhvr additive="base">
                                        <p:cTn id="17" dur="500" fill="hold"/>
                                        <p:tgtEl>
                                          <p:spTgt spid="26624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6624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66243">
                                            <p:txEl>
                                              <p:pRg st="4" end="4"/>
                                            </p:txEl>
                                          </p:spTgt>
                                        </p:tgtEl>
                                        <p:attrNameLst>
                                          <p:attrName>style.visibility</p:attrName>
                                        </p:attrNameLst>
                                      </p:cBhvr>
                                      <p:to>
                                        <p:strVal val="visible"/>
                                      </p:to>
                                    </p:set>
                                    <p:anim calcmode="lin" valueType="num">
                                      <p:cBhvr additive="base">
                                        <p:cTn id="21" dur="500" fill="hold"/>
                                        <p:tgtEl>
                                          <p:spTgt spid="26624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6624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B68A5032-98F3-4F38-BF30-C67A643E3AD4}" type="datetime1">
              <a:rPr lang="zh-CN" altLang="en-US" smtClean="0"/>
              <a:t>2025/11/6</a:t>
            </a:fld>
            <a:endParaRPr lang="en-US" altLang="zh-CN"/>
          </a:p>
        </p:txBody>
      </p:sp>
      <p:sp>
        <p:nvSpPr>
          <p:cNvPr id="266242" name="Rectangle 2"/>
          <p:cNvSpPr>
            <a:spLocks noGrp="1" noChangeArrowheads="1"/>
          </p:cNvSpPr>
          <p:nvPr>
            <p:ph type="title"/>
          </p:nvPr>
        </p:nvSpPr>
        <p:spPr/>
        <p:txBody>
          <a:bodyPr/>
          <a:lstStyle/>
          <a:p>
            <a:r>
              <a:rPr lang="zh-CN" altLang="en-US"/>
              <a:t>问题的引出</a:t>
            </a:r>
          </a:p>
        </p:txBody>
      </p:sp>
      <p:sp>
        <p:nvSpPr>
          <p:cNvPr id="266243" name="Rectangle 3"/>
          <p:cNvSpPr>
            <a:spLocks noGrp="1" noChangeArrowheads="1"/>
          </p:cNvSpPr>
          <p:nvPr>
            <p:ph type="body" idx="1"/>
          </p:nvPr>
        </p:nvSpPr>
        <p:spPr/>
        <p:txBody>
          <a:bodyPr/>
          <a:lstStyle/>
          <a:p>
            <a:r>
              <a:rPr lang="zh-CN" altLang="en-US" dirty="0"/>
              <a:t>为什么</a:t>
            </a:r>
            <a:r>
              <a:rPr lang="zh-CN" altLang="en-US" dirty="0">
                <a:solidFill>
                  <a:srgbClr val="FF0000"/>
                </a:solidFill>
              </a:rPr>
              <a:t>小关系比大关系好</a:t>
            </a:r>
            <a:r>
              <a:rPr lang="zh-CN" altLang="en-US" dirty="0"/>
              <a:t>呢？</a:t>
            </a:r>
          </a:p>
          <a:p>
            <a:endParaRPr lang="zh-CN" altLang="en-US" dirty="0"/>
          </a:p>
          <a:p>
            <a:endParaRPr lang="zh-CN" altLang="en-US" dirty="0"/>
          </a:p>
        </p:txBody>
      </p:sp>
      <p:sp>
        <p:nvSpPr>
          <p:cNvPr id="6" name="文本框 5">
            <a:extLst>
              <a:ext uri="{FF2B5EF4-FFF2-40B4-BE49-F238E27FC236}">
                <a16:creationId xmlns:a16="http://schemas.microsoft.com/office/drawing/2014/main" id="{2F50D925-3AE2-C60A-24D9-8A2F4897BF91}"/>
              </a:ext>
            </a:extLst>
          </p:cNvPr>
          <p:cNvSpPr txBox="1"/>
          <p:nvPr/>
        </p:nvSpPr>
        <p:spPr>
          <a:xfrm>
            <a:off x="1153190" y="2336450"/>
            <a:ext cx="6935449" cy="757130"/>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nSpc>
                <a:spcPct val="90000"/>
              </a:lnSpc>
              <a:buFont typeface="Wingdings" pitchFamily="2" charset="2"/>
              <a:buNone/>
            </a:pPr>
            <a:r>
              <a:rPr lang="en-US" altLang="zh-CN" sz="2400" dirty="0"/>
              <a:t>SC(</a:t>
            </a:r>
            <a:r>
              <a:rPr lang="en-US" altLang="zh-CN" sz="2400" u="sng" dirty="0" err="1">
                <a:solidFill>
                  <a:srgbClr val="FF0000"/>
                </a:solidFill>
              </a:rPr>
              <a:t>Sno</a:t>
            </a:r>
            <a:r>
              <a:rPr lang="en-US" altLang="zh-CN" sz="2400" dirty="0" err="1"/>
              <a:t>,Sname,Sage,Sgendar,Sdept,</a:t>
            </a:r>
            <a:r>
              <a:rPr lang="en-US" altLang="zh-CN" sz="2400" u="sng" dirty="0" err="1">
                <a:solidFill>
                  <a:srgbClr val="FF0000"/>
                </a:solidFill>
              </a:rPr>
              <a:t>Cno</a:t>
            </a:r>
            <a:r>
              <a:rPr lang="en-US" altLang="zh-CN" sz="2400" dirty="0" err="1">
                <a:solidFill>
                  <a:srgbClr val="003300"/>
                </a:solidFill>
              </a:rPr>
              <a:t>,Cname</a:t>
            </a:r>
            <a:r>
              <a:rPr lang="en-US" altLang="zh-CN" sz="2400" dirty="0">
                <a:solidFill>
                  <a:srgbClr val="003300"/>
                </a:solidFill>
              </a:rPr>
              <a:t>,</a:t>
            </a:r>
            <a:r>
              <a:rPr kumimoji="0" lang="en-US" altLang="zh-CN" sz="2400" kern="0" dirty="0"/>
              <a:t> </a:t>
            </a:r>
            <a:r>
              <a:rPr kumimoji="0" lang="en-US" altLang="zh-CN" sz="2400" kern="0" dirty="0" err="1"/>
              <a:t>Cpno</a:t>
            </a:r>
            <a:r>
              <a:rPr kumimoji="0" lang="en-US" altLang="zh-CN" sz="2400" kern="0" dirty="0"/>
              <a:t>, </a:t>
            </a:r>
            <a:r>
              <a:rPr kumimoji="0" lang="en-US" altLang="zh-CN" sz="2400" kern="0" dirty="0" err="1"/>
              <a:t>Ccredit</a:t>
            </a:r>
            <a:r>
              <a:rPr kumimoji="0" lang="en-US" altLang="zh-CN" kern="0" dirty="0" err="1"/>
              <a:t>,</a:t>
            </a:r>
            <a:r>
              <a:rPr lang="en-US" altLang="zh-CN" sz="2400" dirty="0" err="1">
                <a:solidFill>
                  <a:srgbClr val="0000FF"/>
                </a:solidFill>
              </a:rPr>
              <a:t>Grade</a:t>
            </a:r>
            <a:r>
              <a:rPr lang="en-US" altLang="zh-CN" sz="2400" dirty="0"/>
              <a:t>)</a:t>
            </a:r>
          </a:p>
        </p:txBody>
      </p:sp>
      <p:grpSp>
        <p:nvGrpSpPr>
          <p:cNvPr id="11" name="组合 10">
            <a:extLst>
              <a:ext uri="{FF2B5EF4-FFF2-40B4-BE49-F238E27FC236}">
                <a16:creationId xmlns:a16="http://schemas.microsoft.com/office/drawing/2014/main" id="{78E73F75-BDF7-F777-34C3-BFA90108C0DC}"/>
              </a:ext>
            </a:extLst>
          </p:cNvPr>
          <p:cNvGrpSpPr/>
          <p:nvPr/>
        </p:nvGrpSpPr>
        <p:grpSpPr>
          <a:xfrm>
            <a:off x="1745682" y="3631804"/>
            <a:ext cx="5750466" cy="461665"/>
            <a:chOff x="4078118" y="980728"/>
            <a:chExt cx="5750466" cy="461665"/>
          </a:xfrm>
        </p:grpSpPr>
        <p:sp>
          <p:nvSpPr>
            <p:cNvPr id="8" name="文本框 7">
              <a:extLst>
                <a:ext uri="{FF2B5EF4-FFF2-40B4-BE49-F238E27FC236}">
                  <a16:creationId xmlns:a16="http://schemas.microsoft.com/office/drawing/2014/main" id="{0920EDE2-8A73-4CBF-3238-FBA415C50026}"/>
                </a:ext>
              </a:extLst>
            </p:cNvPr>
            <p:cNvSpPr txBox="1"/>
            <p:nvPr/>
          </p:nvSpPr>
          <p:spPr>
            <a:xfrm>
              <a:off x="4078118" y="980728"/>
              <a:ext cx="5750466" cy="461665"/>
            </a:xfrm>
            <a:prstGeom prst="rect">
              <a:avLst/>
            </a:prstGeom>
            <a:noFill/>
          </p:spPr>
          <p:txBody>
            <a:bodyPr wrap="square" rtlCol="0">
              <a:spAutoFit/>
            </a:bodyPr>
            <a:lstStyle/>
            <a:p>
              <a:r>
                <a:rPr lang="en-US" altLang="zh-CN" dirty="0"/>
                <a:t>Student        SC         Course</a:t>
              </a:r>
              <a:endParaRPr lang="zh-CN" altLang="en-US" dirty="0"/>
            </a:p>
          </p:txBody>
        </p:sp>
        <p:sp>
          <p:nvSpPr>
            <p:cNvPr id="9" name="AutoShape 4">
              <a:extLst>
                <a:ext uri="{FF2B5EF4-FFF2-40B4-BE49-F238E27FC236}">
                  <a16:creationId xmlns:a16="http://schemas.microsoft.com/office/drawing/2014/main" id="{F91C087B-C9C1-3706-80C7-6158C843E1C5}"/>
                </a:ext>
              </a:extLst>
            </p:cNvPr>
            <p:cNvSpPr>
              <a:spLocks noChangeArrowheads="1"/>
            </p:cNvSpPr>
            <p:nvPr/>
          </p:nvSpPr>
          <p:spPr bwMode="auto">
            <a:xfrm rot="5400000">
              <a:off x="6330340" y="993423"/>
              <a:ext cx="228600" cy="477079"/>
            </a:xfrm>
            <a:prstGeom prst="flowChartCollate">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n"/>
                <a:defRPr sz="3200">
                  <a:solidFill>
                    <a:schemeClr val="tx1"/>
                  </a:solidFill>
                  <a:latin typeface="Tahoma" pitchFamily="34" charset="0"/>
                  <a:ea typeface="宋体" pitchFamily="2" charset="-122"/>
                </a:defRPr>
              </a:lvl1pPr>
              <a:lvl2pPr marL="742950" indent="-285750" eaLnBrk="0" hangingPunct="0">
                <a:buClr>
                  <a:schemeClr val="hlink"/>
                </a:buClr>
                <a:buSzPct val="55000"/>
                <a:buChar char="n"/>
                <a:defRPr sz="2800">
                  <a:solidFill>
                    <a:schemeClr val="tx1"/>
                  </a:solidFill>
                  <a:latin typeface="Tahoma" pitchFamily="34" charset="0"/>
                  <a:ea typeface="宋体" pitchFamily="2" charset="-122"/>
                </a:defRPr>
              </a:lvl2pPr>
              <a:lvl3pPr marL="1143000" indent="-228600" eaLnBrk="0" hangingPunct="0">
                <a:buSzPct val="50000"/>
                <a:buChar char="n"/>
                <a:defRPr sz="2400">
                  <a:solidFill>
                    <a:schemeClr val="tx1"/>
                  </a:solidFill>
                  <a:latin typeface="Tahoma" pitchFamily="34" charset="0"/>
                  <a:ea typeface="宋体" pitchFamily="2" charset="-122"/>
                </a:defRPr>
              </a:lvl3pPr>
              <a:lvl4pPr marL="1600200" indent="-228600" eaLnBrk="0" hangingPunct="0">
                <a:buClr>
                  <a:schemeClr val="accent2"/>
                </a:buClr>
                <a:buSzPct val="55000"/>
                <a:buChar char="n"/>
                <a:defRPr sz="2000">
                  <a:solidFill>
                    <a:schemeClr val="tx1"/>
                  </a:solidFill>
                  <a:latin typeface="Tahoma" pitchFamily="34" charset="0"/>
                  <a:ea typeface="宋体" pitchFamily="2" charset="-122"/>
                </a:defRPr>
              </a:lvl4pPr>
              <a:lvl5pPr marL="2057400" indent="-228600" eaLnBrk="0" hangingPunct="0">
                <a:buClr>
                  <a:schemeClr val="accent1"/>
                </a:buClr>
                <a:buSzPct val="50000"/>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rgbClr val="3333CC"/>
                </a:buClr>
                <a:buSzPct val="60000"/>
                <a:buFont typeface="Wingdings" pitchFamily="2" charset="2"/>
                <a:buNone/>
                <a:tabLst/>
                <a:defRPr/>
              </a:pPr>
              <a:endParaRPr kumimoji="0" lang="zh-CN" altLang="en-US" sz="3200" b="1" i="0" u="none" strike="noStrike" kern="1200" cap="none" spc="0" normalizeH="0" baseline="0" noProof="0">
                <a:ln>
                  <a:noFill/>
                </a:ln>
                <a:solidFill>
                  <a:srgbClr val="000000"/>
                </a:solidFill>
                <a:effectLst/>
                <a:uLnTx/>
                <a:uFillTx/>
                <a:latin typeface="宋体" pitchFamily="2" charset="-122"/>
                <a:ea typeface="宋体" pitchFamily="2" charset="-122"/>
                <a:cs typeface="Arial" charset="0"/>
              </a:endParaRPr>
            </a:p>
          </p:txBody>
        </p:sp>
        <p:sp>
          <p:nvSpPr>
            <p:cNvPr id="10" name="AutoShape 4">
              <a:extLst>
                <a:ext uri="{FF2B5EF4-FFF2-40B4-BE49-F238E27FC236}">
                  <a16:creationId xmlns:a16="http://schemas.microsoft.com/office/drawing/2014/main" id="{3EBE5390-9C9E-1CCC-EE87-715B466F85BE}"/>
                </a:ext>
              </a:extLst>
            </p:cNvPr>
            <p:cNvSpPr>
              <a:spLocks noChangeArrowheads="1"/>
            </p:cNvSpPr>
            <p:nvPr/>
          </p:nvSpPr>
          <p:spPr bwMode="auto">
            <a:xfrm rot="5400000">
              <a:off x="7443788" y="993422"/>
              <a:ext cx="228600" cy="477079"/>
            </a:xfrm>
            <a:prstGeom prst="flowChartCollate">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n"/>
                <a:defRPr sz="3200">
                  <a:solidFill>
                    <a:schemeClr val="tx1"/>
                  </a:solidFill>
                  <a:latin typeface="Tahoma" pitchFamily="34" charset="0"/>
                  <a:ea typeface="宋体" pitchFamily="2" charset="-122"/>
                </a:defRPr>
              </a:lvl1pPr>
              <a:lvl2pPr marL="742950" indent="-285750" eaLnBrk="0" hangingPunct="0">
                <a:buClr>
                  <a:schemeClr val="hlink"/>
                </a:buClr>
                <a:buSzPct val="55000"/>
                <a:buChar char="n"/>
                <a:defRPr sz="2800">
                  <a:solidFill>
                    <a:schemeClr val="tx1"/>
                  </a:solidFill>
                  <a:latin typeface="Tahoma" pitchFamily="34" charset="0"/>
                  <a:ea typeface="宋体" pitchFamily="2" charset="-122"/>
                </a:defRPr>
              </a:lvl2pPr>
              <a:lvl3pPr marL="1143000" indent="-228600" eaLnBrk="0" hangingPunct="0">
                <a:buSzPct val="50000"/>
                <a:buChar char="n"/>
                <a:defRPr sz="2400">
                  <a:solidFill>
                    <a:schemeClr val="tx1"/>
                  </a:solidFill>
                  <a:latin typeface="Tahoma" pitchFamily="34" charset="0"/>
                  <a:ea typeface="宋体" pitchFamily="2" charset="-122"/>
                </a:defRPr>
              </a:lvl3pPr>
              <a:lvl4pPr marL="1600200" indent="-228600" eaLnBrk="0" hangingPunct="0">
                <a:buClr>
                  <a:schemeClr val="accent2"/>
                </a:buClr>
                <a:buSzPct val="55000"/>
                <a:buChar char="n"/>
                <a:defRPr sz="2000">
                  <a:solidFill>
                    <a:schemeClr val="tx1"/>
                  </a:solidFill>
                  <a:latin typeface="Tahoma" pitchFamily="34" charset="0"/>
                  <a:ea typeface="宋体" pitchFamily="2" charset="-122"/>
                </a:defRPr>
              </a:lvl4pPr>
              <a:lvl5pPr marL="2057400" indent="-228600" eaLnBrk="0" hangingPunct="0">
                <a:buClr>
                  <a:schemeClr val="accent1"/>
                </a:buClr>
                <a:buSzPct val="50000"/>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rgbClr val="3333CC"/>
                </a:buClr>
                <a:buSzPct val="60000"/>
                <a:buFont typeface="Wingdings" pitchFamily="2" charset="2"/>
                <a:buNone/>
                <a:tabLst/>
                <a:defRPr/>
              </a:pPr>
              <a:endParaRPr kumimoji="0" lang="zh-CN" altLang="en-US" sz="3200" b="1" i="0" u="none" strike="noStrike" kern="1200" cap="none" spc="0" normalizeH="0" baseline="0" noProof="0">
                <a:ln>
                  <a:noFill/>
                </a:ln>
                <a:solidFill>
                  <a:srgbClr val="000000"/>
                </a:solidFill>
                <a:effectLst/>
                <a:uLnTx/>
                <a:uFillTx/>
                <a:latin typeface="宋体" pitchFamily="2" charset="-122"/>
                <a:ea typeface="宋体" pitchFamily="2" charset="-122"/>
                <a:cs typeface="Arial" charset="0"/>
              </a:endParaRPr>
            </a:p>
          </p:txBody>
        </p:sp>
      </p:grpSp>
      <p:sp>
        <p:nvSpPr>
          <p:cNvPr id="12" name="箭头: 下 11">
            <a:extLst>
              <a:ext uri="{FF2B5EF4-FFF2-40B4-BE49-F238E27FC236}">
                <a16:creationId xmlns:a16="http://schemas.microsoft.com/office/drawing/2014/main" id="{22B328FD-EF15-5352-44E1-269ABA6C813A}"/>
              </a:ext>
            </a:extLst>
          </p:cNvPr>
          <p:cNvSpPr/>
          <p:nvPr/>
        </p:nvSpPr>
        <p:spPr bwMode="auto">
          <a:xfrm rot="10800000">
            <a:off x="4188867" y="3318826"/>
            <a:ext cx="864096" cy="257469"/>
          </a:xfrm>
          <a:prstGeom prst="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sp>
        <p:nvSpPr>
          <p:cNvPr id="13" name="箭头: 右 12">
            <a:extLst>
              <a:ext uri="{FF2B5EF4-FFF2-40B4-BE49-F238E27FC236}">
                <a16:creationId xmlns:a16="http://schemas.microsoft.com/office/drawing/2014/main" id="{7AFDD25E-DCCA-F7F8-CC94-E38C16AFD1B3}"/>
              </a:ext>
            </a:extLst>
          </p:cNvPr>
          <p:cNvSpPr/>
          <p:nvPr/>
        </p:nvSpPr>
        <p:spPr bwMode="auto">
          <a:xfrm rot="5400000">
            <a:off x="1584449" y="3073756"/>
            <a:ext cx="322465" cy="774643"/>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sp>
        <p:nvSpPr>
          <p:cNvPr id="14" name="文本框 13">
            <a:extLst>
              <a:ext uri="{FF2B5EF4-FFF2-40B4-BE49-F238E27FC236}">
                <a16:creationId xmlns:a16="http://schemas.microsoft.com/office/drawing/2014/main" id="{B73C35DF-6947-6839-6F27-97922CA7CDA0}"/>
              </a:ext>
            </a:extLst>
          </p:cNvPr>
          <p:cNvSpPr txBox="1"/>
          <p:nvPr/>
        </p:nvSpPr>
        <p:spPr>
          <a:xfrm>
            <a:off x="691048" y="3220465"/>
            <a:ext cx="697627" cy="400110"/>
          </a:xfrm>
          <a:prstGeom prst="rect">
            <a:avLst/>
          </a:prstGeom>
          <a:noFill/>
        </p:spPr>
        <p:txBody>
          <a:bodyPr wrap="none" rtlCol="0">
            <a:spAutoFit/>
          </a:bodyPr>
          <a:lstStyle/>
          <a:p>
            <a:r>
              <a:rPr lang="zh-CN" altLang="en-US" sz="2000" dirty="0"/>
              <a:t>分解</a:t>
            </a:r>
          </a:p>
        </p:txBody>
      </p:sp>
      <p:sp>
        <p:nvSpPr>
          <p:cNvPr id="15" name="矩形: 圆角 14">
            <a:extLst>
              <a:ext uri="{FF2B5EF4-FFF2-40B4-BE49-F238E27FC236}">
                <a16:creationId xmlns:a16="http://schemas.microsoft.com/office/drawing/2014/main" id="{B9C2ED3D-0D20-06B6-B554-DD6853057F52}"/>
              </a:ext>
            </a:extLst>
          </p:cNvPr>
          <p:cNvSpPr/>
          <p:nvPr/>
        </p:nvSpPr>
        <p:spPr bwMode="auto">
          <a:xfrm>
            <a:off x="216820" y="3703915"/>
            <a:ext cx="1647852" cy="517173"/>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ahoma" pitchFamily="34" charset="0"/>
                <a:ea typeface="宋体" pitchFamily="2" charset="-122"/>
                <a:cs typeface="Arial" charset="0"/>
              </a:rPr>
              <a:t>无损分解</a:t>
            </a:r>
          </a:p>
        </p:txBody>
      </p:sp>
      <p:sp>
        <p:nvSpPr>
          <p:cNvPr id="5" name="页脚占位符 4">
            <a:extLst>
              <a:ext uri="{FF2B5EF4-FFF2-40B4-BE49-F238E27FC236}">
                <a16:creationId xmlns:a16="http://schemas.microsoft.com/office/drawing/2014/main" id="{97DAFFFD-8F2F-173B-1B48-2F2A2DF18B90}"/>
              </a:ext>
            </a:extLst>
          </p:cNvPr>
          <p:cNvSpPr>
            <a:spLocks noGrp="1"/>
          </p:cNvSpPr>
          <p:nvPr>
            <p:ph type="ftr" sz="quarter" idx="11"/>
          </p:nvPr>
        </p:nvSpPr>
        <p:spPr/>
        <p:txBody>
          <a:bodyPr/>
          <a:lstStyle/>
          <a:p>
            <a:r>
              <a:rPr lang="en-US" altLang="zh-CN"/>
              <a:t>《数据库系统概论》- 第6章</a:t>
            </a:r>
          </a:p>
        </p:txBody>
      </p:sp>
      <p:sp>
        <p:nvSpPr>
          <p:cNvPr id="16" name="灯片编号占位符 15">
            <a:extLst>
              <a:ext uri="{FF2B5EF4-FFF2-40B4-BE49-F238E27FC236}">
                <a16:creationId xmlns:a16="http://schemas.microsoft.com/office/drawing/2014/main" id="{392EC9E9-9874-2AE6-CD1D-0AE3991E3A6C}"/>
              </a:ext>
            </a:extLst>
          </p:cNvPr>
          <p:cNvSpPr>
            <a:spLocks noGrp="1"/>
          </p:cNvSpPr>
          <p:nvPr>
            <p:ph type="sldNum" sz="quarter" idx="12"/>
          </p:nvPr>
        </p:nvSpPr>
        <p:spPr/>
        <p:txBody>
          <a:bodyPr/>
          <a:lstStyle/>
          <a:p>
            <a:fld id="{A2D74603-B40B-4D66-8F6E-41C870D48932}" type="slidenum">
              <a:rPr lang="en-US" altLang="zh-CN" smtClean="0"/>
              <a:pPr/>
              <a:t>13</a:t>
            </a:fld>
            <a:r>
              <a:rPr lang="en-US" altLang="zh-CN"/>
              <a:t>/162</a:t>
            </a:r>
            <a:endParaRPr lang="en-US" altLang="zh-CN" dirty="0"/>
          </a:p>
        </p:txBody>
      </p:sp>
      <p:sp>
        <p:nvSpPr>
          <p:cNvPr id="3" name="Rectangle 3">
            <a:extLst>
              <a:ext uri="{FF2B5EF4-FFF2-40B4-BE49-F238E27FC236}">
                <a16:creationId xmlns:a16="http://schemas.microsoft.com/office/drawing/2014/main" id="{131FDCB1-A114-E096-CFE9-ECEF2479E471}"/>
              </a:ext>
            </a:extLst>
          </p:cNvPr>
          <p:cNvSpPr txBox="1">
            <a:spLocks noChangeArrowheads="1"/>
          </p:cNvSpPr>
          <p:nvPr/>
        </p:nvSpPr>
        <p:spPr bwMode="auto">
          <a:xfrm>
            <a:off x="1039861" y="4389507"/>
            <a:ext cx="7702452" cy="2326160"/>
          </a:xfrm>
          <a:prstGeom prst="rect">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fontAlgn="base">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marL="0" indent="0">
              <a:spcBef>
                <a:spcPts val="0"/>
              </a:spcBef>
              <a:buNone/>
            </a:pPr>
            <a:r>
              <a:rPr kumimoji="0" lang="zh-CN" altLang="en-US" sz="2400" kern="0" dirty="0"/>
              <a:t>学生表</a:t>
            </a:r>
          </a:p>
          <a:p>
            <a:pPr marL="457200" lvl="1" indent="0">
              <a:spcBef>
                <a:spcPts val="0"/>
              </a:spcBef>
              <a:buNone/>
            </a:pPr>
            <a:r>
              <a:rPr kumimoji="0" lang="en-US" altLang="zh-CN" sz="2000" kern="0" dirty="0"/>
              <a:t>Student(</a:t>
            </a:r>
            <a:r>
              <a:rPr kumimoji="0" lang="en-US" altLang="zh-CN" sz="2000" u="sng" kern="0" dirty="0" err="1"/>
              <a:t>Sno</a:t>
            </a:r>
            <a:r>
              <a:rPr kumimoji="0" lang="en-US" altLang="zh-CN" sz="2000" kern="0" dirty="0"/>
              <a:t>, </a:t>
            </a:r>
            <a:r>
              <a:rPr kumimoji="0" lang="en-US" altLang="zh-CN" sz="2000" kern="0" dirty="0" err="1"/>
              <a:t>Sname</a:t>
            </a:r>
            <a:r>
              <a:rPr kumimoji="0" lang="en-US" altLang="zh-CN" sz="2000" kern="0" dirty="0"/>
              <a:t>, </a:t>
            </a:r>
            <a:r>
              <a:rPr kumimoji="0" lang="en-US" altLang="zh-CN" sz="2000" kern="0" dirty="0" err="1"/>
              <a:t>Sgender</a:t>
            </a:r>
            <a:r>
              <a:rPr kumimoji="0" lang="en-US" altLang="zh-CN" sz="2000" kern="0" dirty="0"/>
              <a:t>, Sage, </a:t>
            </a:r>
            <a:r>
              <a:rPr kumimoji="0" lang="en-US" altLang="zh-CN" sz="2000" kern="0" dirty="0" err="1"/>
              <a:t>Sdept</a:t>
            </a:r>
            <a:r>
              <a:rPr kumimoji="0" lang="en-US" altLang="zh-CN" sz="2000" kern="0" dirty="0"/>
              <a:t>)</a:t>
            </a:r>
          </a:p>
          <a:p>
            <a:pPr marL="0" indent="0">
              <a:spcBef>
                <a:spcPts val="0"/>
              </a:spcBef>
              <a:buNone/>
            </a:pPr>
            <a:endParaRPr kumimoji="0" lang="zh-CN" altLang="en-US" sz="700" kern="0" dirty="0"/>
          </a:p>
          <a:p>
            <a:pPr marL="0" indent="0">
              <a:spcBef>
                <a:spcPts val="0"/>
              </a:spcBef>
              <a:buNone/>
            </a:pPr>
            <a:r>
              <a:rPr kumimoji="0" lang="zh-CN" altLang="en-US" sz="2400" kern="0" dirty="0"/>
              <a:t>课程表</a:t>
            </a:r>
          </a:p>
          <a:p>
            <a:pPr marL="457200" lvl="1" indent="0">
              <a:spcBef>
                <a:spcPts val="0"/>
              </a:spcBef>
              <a:buNone/>
            </a:pPr>
            <a:r>
              <a:rPr kumimoji="0" lang="en-US" altLang="zh-CN" sz="2000" kern="0" dirty="0"/>
              <a:t>Course(</a:t>
            </a:r>
            <a:r>
              <a:rPr kumimoji="0" lang="en-US" altLang="zh-CN" sz="2000" u="sng" kern="0" dirty="0" err="1"/>
              <a:t>Cno</a:t>
            </a:r>
            <a:r>
              <a:rPr kumimoji="0" lang="en-US" altLang="zh-CN" sz="2000" kern="0" dirty="0"/>
              <a:t>, </a:t>
            </a:r>
            <a:r>
              <a:rPr kumimoji="0" lang="en-US" altLang="zh-CN" sz="2000" kern="0" dirty="0" err="1"/>
              <a:t>Cname</a:t>
            </a:r>
            <a:r>
              <a:rPr kumimoji="0" lang="en-US" altLang="zh-CN" sz="2000" kern="0" dirty="0"/>
              <a:t>, </a:t>
            </a:r>
            <a:r>
              <a:rPr kumimoji="0" lang="en-US" altLang="zh-CN" sz="2000" kern="0" dirty="0" err="1"/>
              <a:t>Cpno</a:t>
            </a:r>
            <a:r>
              <a:rPr kumimoji="0" lang="en-US" altLang="zh-CN" sz="2000" kern="0" dirty="0"/>
              <a:t>, </a:t>
            </a:r>
            <a:r>
              <a:rPr kumimoji="0" lang="en-US" altLang="zh-CN" sz="2000" kern="0" dirty="0" err="1"/>
              <a:t>Ccredit</a:t>
            </a:r>
            <a:r>
              <a:rPr kumimoji="0" lang="en-US" altLang="zh-CN" sz="2000" kern="0" dirty="0"/>
              <a:t>)</a:t>
            </a:r>
          </a:p>
          <a:p>
            <a:pPr marL="0" indent="0">
              <a:spcBef>
                <a:spcPts val="0"/>
              </a:spcBef>
              <a:buNone/>
            </a:pPr>
            <a:endParaRPr kumimoji="0" lang="zh-CN" altLang="en-US" sz="700" kern="0" dirty="0"/>
          </a:p>
          <a:p>
            <a:pPr marL="0" indent="0">
              <a:spcBef>
                <a:spcPts val="0"/>
              </a:spcBef>
              <a:buNone/>
            </a:pPr>
            <a:r>
              <a:rPr kumimoji="0" lang="zh-CN" altLang="en-US" sz="2400" kern="0" dirty="0"/>
              <a:t>选课表</a:t>
            </a:r>
          </a:p>
          <a:p>
            <a:pPr marL="457200" lvl="1" indent="0">
              <a:spcBef>
                <a:spcPts val="0"/>
              </a:spcBef>
              <a:buNone/>
            </a:pPr>
            <a:r>
              <a:rPr kumimoji="0" lang="en-US" altLang="zh-CN" sz="2000" kern="0" dirty="0"/>
              <a:t>SC(</a:t>
            </a:r>
            <a:r>
              <a:rPr kumimoji="0" lang="en-US" altLang="zh-CN" sz="2000" u="sng" kern="0" dirty="0" err="1"/>
              <a:t>Sno</a:t>
            </a:r>
            <a:r>
              <a:rPr kumimoji="0" lang="en-US" altLang="zh-CN" sz="2000" u="sng" kern="0" dirty="0"/>
              <a:t>, </a:t>
            </a:r>
            <a:r>
              <a:rPr kumimoji="0" lang="en-US" altLang="zh-CN" sz="2000" u="sng" kern="0" dirty="0" err="1"/>
              <a:t>Cno</a:t>
            </a:r>
            <a:r>
              <a:rPr kumimoji="0" lang="en-US" altLang="zh-CN" sz="2000" kern="0" dirty="0"/>
              <a:t>, Grade)</a:t>
            </a:r>
          </a:p>
          <a:p>
            <a:pPr marL="0" indent="0">
              <a:buNone/>
            </a:pPr>
            <a:endParaRPr kumimoji="0" lang="zh-CN" altLang="en-US" sz="2400" kern="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barn(inVertical)">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ppt_x"/>
                                          </p:val>
                                        </p:tav>
                                        <p:tav tm="100000">
                                          <p:val>
                                            <p:strVal val="#ppt_x"/>
                                          </p:val>
                                        </p:tav>
                                      </p:tavLst>
                                    </p:anim>
                                    <p:anim calcmode="lin" valueType="num">
                                      <p:cBhvr additive="base">
                                        <p:cTn id="1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half" idx="10"/>
          </p:nvPr>
        </p:nvSpPr>
        <p:spPr/>
        <p:txBody>
          <a:bodyPr/>
          <a:lstStyle/>
          <a:p>
            <a:fld id="{6E259C8C-4F57-4194-B343-B611D5281003}" type="datetime1">
              <a:rPr lang="zh-CN" altLang="en-US" smtClean="0"/>
              <a:t>2025/11/6</a:t>
            </a:fld>
            <a:endParaRPr lang="en-US" altLang="zh-CN"/>
          </a:p>
        </p:txBody>
      </p:sp>
      <p:sp>
        <p:nvSpPr>
          <p:cNvPr id="337922" name="Rectangle 2"/>
          <p:cNvSpPr>
            <a:spLocks noGrp="1" noChangeArrowheads="1"/>
          </p:cNvSpPr>
          <p:nvPr>
            <p:ph type="title"/>
          </p:nvPr>
        </p:nvSpPr>
        <p:spPr/>
        <p:txBody>
          <a:bodyPr/>
          <a:lstStyle/>
          <a:p>
            <a:r>
              <a:rPr lang="zh-CN" altLang="en-US"/>
              <a:t>本章目录</a:t>
            </a:r>
          </a:p>
        </p:txBody>
      </p:sp>
      <p:sp>
        <p:nvSpPr>
          <p:cNvPr id="337923" name="Rectangle 3"/>
          <p:cNvSpPr>
            <a:spLocks noGrp="1" noChangeArrowheads="1"/>
          </p:cNvSpPr>
          <p:nvPr>
            <p:ph type="body" idx="1"/>
          </p:nvPr>
        </p:nvSpPr>
        <p:spPr>
          <a:xfrm>
            <a:off x="1371600" y="1639888"/>
            <a:ext cx="7583488" cy="4532312"/>
          </a:xfrm>
        </p:spPr>
        <p:txBody>
          <a:bodyPr/>
          <a:lstStyle/>
          <a:p>
            <a:r>
              <a:rPr lang="en-US" altLang="zh-CN" dirty="0"/>
              <a:t>8.1 </a:t>
            </a:r>
            <a:r>
              <a:rPr lang="zh-CN" altLang="en-US" dirty="0"/>
              <a:t>问题的提出</a:t>
            </a:r>
          </a:p>
          <a:p>
            <a:r>
              <a:rPr lang="en-US" altLang="zh-CN" dirty="0"/>
              <a:t>8.2 </a:t>
            </a:r>
            <a:r>
              <a:rPr lang="zh-CN" altLang="en-US" dirty="0"/>
              <a:t>规范化</a:t>
            </a:r>
            <a:endParaRPr lang="zh-CN" altLang="en-US" dirty="0">
              <a:solidFill>
                <a:srgbClr val="CC0000"/>
              </a:solidFill>
            </a:endParaRPr>
          </a:p>
          <a:p>
            <a:r>
              <a:rPr lang="en-US" altLang="zh-CN" dirty="0"/>
              <a:t>8.3 </a:t>
            </a:r>
            <a:r>
              <a:rPr lang="zh-CN" altLang="en-US" dirty="0"/>
              <a:t>数据依赖的公理系统</a:t>
            </a:r>
          </a:p>
          <a:p>
            <a:r>
              <a:rPr lang="en-US" altLang="zh-CN" dirty="0"/>
              <a:t>8.4 </a:t>
            </a:r>
            <a:r>
              <a:rPr lang="zh-CN" altLang="en-US" dirty="0"/>
              <a:t>模式的分解</a:t>
            </a:r>
            <a:endParaRPr lang="zh-CN" altLang="en-US" dirty="0">
              <a:solidFill>
                <a:srgbClr val="CC0000"/>
              </a:solidFill>
            </a:endParaRPr>
          </a:p>
        </p:txBody>
      </p:sp>
      <p:sp>
        <p:nvSpPr>
          <p:cNvPr id="337924" name="AutoShape 4"/>
          <p:cNvSpPr>
            <a:spLocks noChangeArrowheads="1"/>
          </p:cNvSpPr>
          <p:nvPr/>
        </p:nvSpPr>
        <p:spPr bwMode="auto">
          <a:xfrm>
            <a:off x="838200" y="2349500"/>
            <a:ext cx="457200" cy="457200"/>
          </a:xfrm>
          <a:prstGeom prst="rightArrow">
            <a:avLst>
              <a:gd name="adj1" fmla="val 50000"/>
              <a:gd name="adj2" fmla="val 40278"/>
            </a:avLst>
          </a:prstGeom>
          <a:solidFill>
            <a:srgbClr val="FFCC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页脚占位符 2">
            <a:extLst>
              <a:ext uri="{FF2B5EF4-FFF2-40B4-BE49-F238E27FC236}">
                <a16:creationId xmlns:a16="http://schemas.microsoft.com/office/drawing/2014/main" id="{1986EDEA-1CA0-1D0F-3AF6-68170C4113BA}"/>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7E117216-EE7C-8BF3-AA12-8D39F6E68A45}"/>
              </a:ext>
            </a:extLst>
          </p:cNvPr>
          <p:cNvSpPr>
            <a:spLocks noGrp="1"/>
          </p:cNvSpPr>
          <p:nvPr>
            <p:ph type="sldNum" sz="quarter" idx="12"/>
          </p:nvPr>
        </p:nvSpPr>
        <p:spPr/>
        <p:txBody>
          <a:bodyPr/>
          <a:lstStyle/>
          <a:p>
            <a:fld id="{A2D74603-B40B-4D66-8F6E-41C870D48932}" type="slidenum">
              <a:rPr lang="en-US" altLang="zh-CN" smtClean="0"/>
              <a:pPr/>
              <a:t>14</a:t>
            </a:fld>
            <a:r>
              <a:rPr lang="en-US" altLang="zh-CN"/>
              <a:t>/162</a:t>
            </a:r>
            <a:endParaRPr lang="en-US" altLang="zh-CN"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37924"/>
                                        </p:tgtEl>
                                        <p:attrNameLst>
                                          <p:attrName>style.visibility</p:attrName>
                                        </p:attrNameLst>
                                      </p:cBhvr>
                                      <p:to>
                                        <p:strVal val="visible"/>
                                      </p:to>
                                    </p:set>
                                    <p:anim calcmode="lin" valueType="num">
                                      <p:cBhvr additive="base">
                                        <p:cTn id="7" dur="500" fill="hold"/>
                                        <p:tgtEl>
                                          <p:spTgt spid="337924"/>
                                        </p:tgtEl>
                                        <p:attrNameLst>
                                          <p:attrName>ppt_x</p:attrName>
                                        </p:attrNameLst>
                                      </p:cBhvr>
                                      <p:tavLst>
                                        <p:tav tm="0">
                                          <p:val>
                                            <p:strVal val="0-#ppt_w/2"/>
                                          </p:val>
                                        </p:tav>
                                        <p:tav tm="100000">
                                          <p:val>
                                            <p:strVal val="#ppt_x"/>
                                          </p:val>
                                        </p:tav>
                                      </p:tavLst>
                                    </p:anim>
                                    <p:anim calcmode="lin" valueType="num">
                                      <p:cBhvr additive="base">
                                        <p:cTn id="8" dur="500" fill="hold"/>
                                        <p:tgtEl>
                                          <p:spTgt spid="3379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2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88A61E8-4FEB-49C0-BF1A-F4BAE14CDD0B}" type="datetime1">
              <a:rPr lang="zh-CN" altLang="en-US" smtClean="0"/>
              <a:t>2025/11/6</a:t>
            </a:fld>
            <a:endParaRPr lang="en-US" altLang="zh-CN"/>
          </a:p>
        </p:txBody>
      </p:sp>
      <p:sp>
        <p:nvSpPr>
          <p:cNvPr id="267266" name="Rectangle 2"/>
          <p:cNvSpPr>
            <a:spLocks noGrp="1" noChangeArrowheads="1"/>
          </p:cNvSpPr>
          <p:nvPr>
            <p:ph type="title"/>
          </p:nvPr>
        </p:nvSpPr>
        <p:spPr/>
        <p:txBody>
          <a:bodyPr/>
          <a:lstStyle/>
          <a:p>
            <a:r>
              <a:rPr lang="en-US" altLang="zh-CN" dirty="0"/>
              <a:t>8.2 </a:t>
            </a:r>
            <a:r>
              <a:rPr lang="zh-CN" altLang="en-US" dirty="0"/>
              <a:t>规范化</a:t>
            </a:r>
          </a:p>
        </p:txBody>
      </p:sp>
      <p:sp>
        <p:nvSpPr>
          <p:cNvPr id="267267" name="Rectangle 3"/>
          <p:cNvSpPr>
            <a:spLocks noGrp="1" noChangeArrowheads="1"/>
          </p:cNvSpPr>
          <p:nvPr>
            <p:ph type="body" idx="1"/>
          </p:nvPr>
        </p:nvSpPr>
        <p:spPr/>
        <p:txBody>
          <a:bodyPr/>
          <a:lstStyle/>
          <a:p>
            <a:r>
              <a:rPr lang="zh-CN" altLang="en-US" dirty="0">
                <a:solidFill>
                  <a:srgbClr val="FF0000"/>
                </a:solidFill>
              </a:rPr>
              <a:t>目的</a:t>
            </a:r>
          </a:p>
          <a:p>
            <a:pPr lvl="1"/>
            <a:r>
              <a:rPr lang="zh-CN" altLang="en-US" dirty="0"/>
              <a:t>将</a:t>
            </a:r>
            <a:r>
              <a:rPr lang="zh-CN" altLang="en-US" u="sng" dirty="0">
                <a:solidFill>
                  <a:schemeClr val="tx2"/>
                </a:solidFill>
              </a:rPr>
              <a:t>具有</a:t>
            </a:r>
            <a:r>
              <a:rPr lang="zh-CN" altLang="en-US" u="sng" dirty="0">
                <a:solidFill>
                  <a:srgbClr val="0000FF"/>
                </a:solidFill>
              </a:rPr>
              <a:t>不合适</a:t>
            </a:r>
            <a:r>
              <a:rPr lang="zh-CN" altLang="en-US" u="sng" dirty="0">
                <a:solidFill>
                  <a:schemeClr val="tx2"/>
                </a:solidFill>
              </a:rPr>
              <a:t>性质</a:t>
            </a:r>
            <a:r>
              <a:rPr lang="zh-CN" altLang="en-US" u="sng" dirty="0"/>
              <a:t>的</a:t>
            </a:r>
            <a:r>
              <a:rPr lang="zh-CN" altLang="en-US" u="sng" dirty="0">
                <a:solidFill>
                  <a:srgbClr val="0000FF"/>
                </a:solidFill>
              </a:rPr>
              <a:t>关系</a:t>
            </a:r>
            <a:r>
              <a:rPr lang="zh-CN" altLang="en-US" u="sng" dirty="0"/>
              <a:t>转换为</a:t>
            </a:r>
            <a:r>
              <a:rPr lang="zh-CN" altLang="en-US" u="sng" dirty="0">
                <a:solidFill>
                  <a:srgbClr val="C00000"/>
                </a:solidFill>
              </a:rPr>
              <a:t>更合适的形式</a:t>
            </a:r>
            <a:r>
              <a:rPr lang="zh-CN" altLang="en-US" dirty="0"/>
              <a:t>。</a:t>
            </a:r>
            <a:endParaRPr lang="en-US" altLang="zh-CN" dirty="0"/>
          </a:p>
          <a:p>
            <a:pPr lvl="1"/>
            <a:r>
              <a:rPr lang="zh-CN" altLang="en-US" dirty="0"/>
              <a:t>把一个大的关系模式</a:t>
            </a:r>
            <a:r>
              <a:rPr lang="zh-CN" altLang="en-US" dirty="0">
                <a:solidFill>
                  <a:srgbClr val="FF0000"/>
                </a:solidFill>
              </a:rPr>
              <a:t>分解成多个较小</a:t>
            </a:r>
            <a:r>
              <a:rPr lang="zh-CN" altLang="en-US" dirty="0"/>
              <a:t>的关系模式，使得每个关系模式都满足</a:t>
            </a:r>
            <a:r>
              <a:rPr lang="zh-CN" altLang="en-US" dirty="0">
                <a:solidFill>
                  <a:srgbClr val="FF0000"/>
                </a:solidFill>
              </a:rPr>
              <a:t>适当的范式</a:t>
            </a:r>
            <a:r>
              <a:rPr lang="zh-CN" altLang="en-US" dirty="0"/>
              <a:t>。且该</a:t>
            </a:r>
            <a:r>
              <a:rPr lang="zh-CN" altLang="en-US" u="sng" dirty="0">
                <a:solidFill>
                  <a:srgbClr val="0000FF"/>
                </a:solidFill>
              </a:rPr>
              <a:t>分解必须是无损</a:t>
            </a:r>
            <a:r>
              <a:rPr lang="zh-CN" altLang="en-US" dirty="0"/>
              <a:t>。</a:t>
            </a:r>
          </a:p>
          <a:p>
            <a:pPr>
              <a:spcBef>
                <a:spcPts val="0"/>
              </a:spcBef>
            </a:pPr>
            <a:r>
              <a:rPr lang="zh-CN" altLang="en-US" dirty="0">
                <a:solidFill>
                  <a:srgbClr val="FF0000"/>
                </a:solidFill>
              </a:rPr>
              <a:t>要求</a:t>
            </a:r>
          </a:p>
          <a:p>
            <a:pPr lvl="1">
              <a:spcBef>
                <a:spcPct val="45000"/>
              </a:spcBef>
            </a:pPr>
            <a:r>
              <a:rPr lang="zh-CN" altLang="en-US" u="sng" dirty="0"/>
              <a:t>掌握</a:t>
            </a:r>
            <a:r>
              <a:rPr lang="zh-CN" altLang="en-US" dirty="0">
                <a:solidFill>
                  <a:srgbClr val="C00000"/>
                </a:solidFill>
              </a:rPr>
              <a:t>函数依赖</a:t>
            </a:r>
            <a:r>
              <a:rPr lang="zh-CN" altLang="en-US" dirty="0"/>
              <a:t>的定义及判定；</a:t>
            </a:r>
          </a:p>
          <a:p>
            <a:pPr lvl="1">
              <a:spcBef>
                <a:spcPct val="45000"/>
              </a:spcBef>
            </a:pPr>
            <a:r>
              <a:rPr lang="zh-CN" altLang="en-US" u="sng" dirty="0"/>
              <a:t>掌握</a:t>
            </a:r>
            <a:r>
              <a:rPr lang="en-US" altLang="zh-CN" dirty="0">
                <a:solidFill>
                  <a:srgbClr val="C00000"/>
                </a:solidFill>
              </a:rPr>
              <a:t>1NF</a:t>
            </a:r>
            <a:r>
              <a:rPr lang="zh-CN" altLang="en-US" dirty="0"/>
              <a:t>到</a:t>
            </a:r>
            <a:r>
              <a:rPr lang="en-US" altLang="zh-CN" dirty="0">
                <a:solidFill>
                  <a:srgbClr val="C00000"/>
                </a:solidFill>
              </a:rPr>
              <a:t>BCNF</a:t>
            </a:r>
            <a:r>
              <a:rPr lang="zh-CN" altLang="en-US" dirty="0"/>
              <a:t>的定义及判定；</a:t>
            </a:r>
          </a:p>
          <a:p>
            <a:pPr lvl="1">
              <a:spcBef>
                <a:spcPct val="45000"/>
              </a:spcBef>
            </a:pPr>
            <a:r>
              <a:rPr lang="zh-CN" altLang="en-US" dirty="0"/>
              <a:t>了解</a:t>
            </a:r>
            <a:r>
              <a:rPr lang="zh-CN" altLang="en-US" dirty="0">
                <a:solidFill>
                  <a:srgbClr val="0000FF"/>
                </a:solidFill>
              </a:rPr>
              <a:t>多值依赖</a:t>
            </a:r>
            <a:r>
              <a:rPr lang="zh-CN" altLang="en-US" dirty="0"/>
              <a:t>，理解</a:t>
            </a:r>
            <a:r>
              <a:rPr lang="en-US" altLang="zh-CN" dirty="0">
                <a:solidFill>
                  <a:srgbClr val="0000FF"/>
                </a:solidFill>
              </a:rPr>
              <a:t>4NF</a:t>
            </a:r>
            <a:r>
              <a:rPr lang="zh-CN" altLang="en-US" dirty="0"/>
              <a:t>的定义。</a:t>
            </a:r>
          </a:p>
        </p:txBody>
      </p:sp>
      <p:sp>
        <p:nvSpPr>
          <p:cNvPr id="3" name="页脚占位符 2">
            <a:extLst>
              <a:ext uri="{FF2B5EF4-FFF2-40B4-BE49-F238E27FC236}">
                <a16:creationId xmlns:a16="http://schemas.microsoft.com/office/drawing/2014/main" id="{0FCEA340-0456-76B7-E4C2-7214CEA13951}"/>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08089B0D-1B00-E121-BA85-E143BF5262AE}"/>
              </a:ext>
            </a:extLst>
          </p:cNvPr>
          <p:cNvSpPr>
            <a:spLocks noGrp="1"/>
          </p:cNvSpPr>
          <p:nvPr>
            <p:ph type="sldNum" sz="quarter" idx="12"/>
          </p:nvPr>
        </p:nvSpPr>
        <p:spPr/>
        <p:txBody>
          <a:bodyPr/>
          <a:lstStyle/>
          <a:p>
            <a:fld id="{A2D74603-B40B-4D66-8F6E-41C870D48932}" type="slidenum">
              <a:rPr lang="en-US" altLang="zh-CN" smtClean="0"/>
              <a:pPr/>
              <a:t>15</a:t>
            </a:fld>
            <a:r>
              <a:rPr lang="en-US" altLang="zh-CN"/>
              <a:t>/162</a:t>
            </a:r>
            <a:endParaRPr lang="en-US" altLang="zh-CN"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日期占位符 3"/>
          <p:cNvSpPr>
            <a:spLocks noGrp="1"/>
          </p:cNvSpPr>
          <p:nvPr>
            <p:ph type="dt" sz="quarter" idx="10"/>
          </p:nvPr>
        </p:nvSpPr>
        <p:spPr>
          <a:noFill/>
        </p:spPr>
        <p:txBody>
          <a:bodyPr/>
          <a:lstStyle>
            <a:lvl1pPr eaLnBrk="0" hangingPunct="0">
              <a:buChar char="n"/>
              <a:defRPr sz="3200">
                <a:solidFill>
                  <a:schemeClr val="tx1"/>
                </a:solidFill>
                <a:latin typeface="Tahoma" pitchFamily="34" charset="0"/>
                <a:ea typeface="宋体" pitchFamily="2" charset="-122"/>
              </a:defRPr>
            </a:lvl1pPr>
            <a:lvl2pPr marL="742950" indent="-285750" eaLnBrk="0" hangingPunct="0">
              <a:buClr>
                <a:schemeClr val="hlink"/>
              </a:buClr>
              <a:buSzPct val="55000"/>
              <a:buChar char="n"/>
              <a:defRPr sz="2800">
                <a:solidFill>
                  <a:schemeClr val="tx1"/>
                </a:solidFill>
                <a:latin typeface="Tahoma" pitchFamily="34" charset="0"/>
                <a:ea typeface="宋体" pitchFamily="2" charset="-122"/>
              </a:defRPr>
            </a:lvl2pPr>
            <a:lvl3pPr marL="1143000" indent="-228600" eaLnBrk="0" hangingPunct="0">
              <a:buSzPct val="50000"/>
              <a:buChar char="n"/>
              <a:defRPr sz="2400">
                <a:solidFill>
                  <a:schemeClr val="tx1"/>
                </a:solidFill>
                <a:latin typeface="Tahoma" pitchFamily="34" charset="0"/>
                <a:ea typeface="宋体" pitchFamily="2" charset="-122"/>
              </a:defRPr>
            </a:lvl3pPr>
            <a:lvl4pPr marL="1600200" indent="-228600" eaLnBrk="0" hangingPunct="0">
              <a:buClr>
                <a:schemeClr val="accent2"/>
              </a:buClr>
              <a:buSzPct val="55000"/>
              <a:buChar char="n"/>
              <a:defRPr sz="2000">
                <a:solidFill>
                  <a:schemeClr val="tx1"/>
                </a:solidFill>
                <a:latin typeface="Tahoma" pitchFamily="34" charset="0"/>
                <a:ea typeface="宋体" pitchFamily="2" charset="-122"/>
              </a:defRPr>
            </a:lvl4pPr>
            <a:lvl5pPr marL="2057400" indent="-228600" eaLnBrk="0" hangingPunct="0">
              <a:buClr>
                <a:schemeClr val="accent1"/>
              </a:buClr>
              <a:buSzPct val="50000"/>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fld id="{9393475C-6F90-4383-AA5C-C807738C91AE}" type="datetime1">
              <a:rPr kumimoji="0" lang="zh-CN" altLang="en-US" sz="1400" b="0" i="0" u="none" strike="noStrike" kern="1200" cap="none" spc="0" normalizeH="0" baseline="0" noProof="0" smtClean="0">
                <a:ln>
                  <a:noFill/>
                </a:ln>
                <a:solidFill>
                  <a:srgbClr val="000000"/>
                </a:solidFill>
                <a:effectLst/>
                <a:uLnTx/>
                <a:uFillTx/>
                <a:latin typeface="Times New Roman" pitchFamily="18" charset="0"/>
                <a:ea typeface="宋体" pitchFamily="2" charset="-122"/>
                <a:cs typeface="Arial" charset="0"/>
              </a:rPr>
              <a:t>2025/11/6</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pitchFamily="2" charset="-122"/>
              <a:cs typeface="Arial" charset="0"/>
            </a:endParaRPr>
          </a:p>
        </p:txBody>
      </p:sp>
      <p:sp>
        <p:nvSpPr>
          <p:cNvPr id="23557" name="Rectangle 2"/>
          <p:cNvSpPr>
            <a:spLocks noGrp="1" noChangeArrowheads="1"/>
          </p:cNvSpPr>
          <p:nvPr>
            <p:ph type="title"/>
          </p:nvPr>
        </p:nvSpPr>
        <p:spPr/>
        <p:txBody>
          <a:bodyPr/>
          <a:lstStyle/>
          <a:p>
            <a:pPr eaLnBrk="1" hangingPunct="1"/>
            <a:r>
              <a:rPr lang="en-US" altLang="zh-CN" dirty="0"/>
              <a:t>2.1.1 </a:t>
            </a:r>
            <a:r>
              <a:rPr lang="zh-CN" altLang="en-US" dirty="0"/>
              <a:t>关系</a:t>
            </a:r>
            <a:r>
              <a:rPr lang="en-US" altLang="zh-CN" dirty="0"/>
              <a:t>-</a:t>
            </a:r>
            <a:r>
              <a:rPr lang="zh-CN" altLang="en-US" dirty="0"/>
              <a:t>码</a:t>
            </a:r>
            <a:r>
              <a:rPr lang="en-US" altLang="zh-CN" dirty="0"/>
              <a:t>(</a:t>
            </a:r>
            <a:r>
              <a:rPr lang="zh-CN" altLang="en-US" dirty="0"/>
              <a:t>回顾</a:t>
            </a:r>
            <a:r>
              <a:rPr lang="en-US" altLang="zh-CN" dirty="0"/>
              <a:t>)</a:t>
            </a:r>
            <a:endParaRPr lang="zh-CN" altLang="en-US" dirty="0"/>
          </a:p>
        </p:txBody>
      </p:sp>
      <p:sp>
        <p:nvSpPr>
          <p:cNvPr id="23558" name="Rectangle 3"/>
          <p:cNvSpPr>
            <a:spLocks noGrp="1" noChangeArrowheads="1"/>
          </p:cNvSpPr>
          <p:nvPr>
            <p:ph type="body" idx="1"/>
          </p:nvPr>
        </p:nvSpPr>
        <p:spPr/>
        <p:txBody>
          <a:bodyPr/>
          <a:lstStyle/>
          <a:p>
            <a:pPr eaLnBrk="1" hangingPunct="1"/>
            <a:r>
              <a:rPr lang="zh-CN" altLang="en-US" sz="2800" b="1" dirty="0"/>
              <a:t>关系中的元组如何区分？</a:t>
            </a:r>
            <a:endParaRPr lang="en-US" altLang="zh-CN" sz="2800" b="1" dirty="0"/>
          </a:p>
          <a:p>
            <a:pPr eaLnBrk="1" hangingPunct="1"/>
            <a:r>
              <a:rPr lang="zh-CN" altLang="en-US" sz="2800" dirty="0"/>
              <a:t>任意两个元组不能完全相同，也即一个元组的所有属性值是可以</a:t>
            </a:r>
            <a:r>
              <a:rPr lang="zh-CN" altLang="en-US" sz="2800" b="1" dirty="0">
                <a:solidFill>
                  <a:srgbClr val="0000FF"/>
                </a:solidFill>
                <a:effectLst>
                  <a:outerShdw blurRad="38100" dist="38100" dir="2700000" algn="tl">
                    <a:srgbClr val="000000">
                      <a:alpha val="43137"/>
                    </a:srgbClr>
                  </a:outerShdw>
                </a:effectLst>
              </a:rPr>
              <a:t>唯一标识</a:t>
            </a:r>
            <a:r>
              <a:rPr lang="zh-CN" altLang="en-US" sz="2800" dirty="0"/>
              <a:t>元组的。</a:t>
            </a:r>
            <a:endParaRPr lang="en-US" altLang="zh-CN" sz="2800" b="1" dirty="0"/>
          </a:p>
          <a:p>
            <a:pPr eaLnBrk="1" hangingPunct="1"/>
            <a:r>
              <a:rPr lang="zh-CN" altLang="en-US" sz="2800" b="1" dirty="0">
                <a:solidFill>
                  <a:srgbClr val="FF0000"/>
                </a:solidFill>
              </a:rPr>
              <a:t>超码</a:t>
            </a:r>
            <a:r>
              <a:rPr lang="zh-CN" altLang="en-US" sz="2800" dirty="0"/>
              <a:t>－－关系中</a:t>
            </a:r>
            <a:r>
              <a:rPr lang="zh-CN" altLang="en-US" sz="2800" dirty="0">
                <a:solidFill>
                  <a:srgbClr val="0000FF"/>
                </a:solidFill>
              </a:rPr>
              <a:t>一个或多个属性的集合</a:t>
            </a:r>
            <a:r>
              <a:rPr lang="zh-CN" altLang="en-US" sz="2800" dirty="0"/>
              <a:t>，这个集合可以</a:t>
            </a:r>
            <a:r>
              <a:rPr lang="zh-CN" altLang="en-US" sz="2800" b="1" dirty="0"/>
              <a:t>唯一标识</a:t>
            </a:r>
            <a:r>
              <a:rPr lang="zh-CN" altLang="en-US" sz="2800" dirty="0"/>
              <a:t>出一个元组。</a:t>
            </a:r>
            <a:endParaRPr lang="en-US" altLang="zh-CN" sz="2800" dirty="0"/>
          </a:p>
          <a:p>
            <a:pPr eaLnBrk="1" hangingPunct="1"/>
            <a:r>
              <a:rPr lang="zh-CN" altLang="en-US" sz="2800" dirty="0">
                <a:solidFill>
                  <a:schemeClr val="bg1">
                    <a:lumMod val="50000"/>
                  </a:schemeClr>
                </a:solidFill>
              </a:rPr>
              <a:t>超码的子集也可能是超码</a:t>
            </a:r>
            <a:endParaRPr lang="en-US" altLang="zh-CN" sz="2800" dirty="0">
              <a:solidFill>
                <a:schemeClr val="bg1">
                  <a:lumMod val="50000"/>
                </a:schemeClr>
              </a:solidFill>
            </a:endParaRPr>
          </a:p>
          <a:p>
            <a:pPr eaLnBrk="1" hangingPunct="1"/>
            <a:r>
              <a:rPr lang="zh-CN" altLang="en-US" sz="2800" dirty="0">
                <a:solidFill>
                  <a:schemeClr val="bg1">
                    <a:lumMod val="50000"/>
                  </a:schemeClr>
                </a:solidFill>
              </a:rPr>
              <a:t>而我们通常感兴趣的超码是，它们的任意真子集都不是超码</a:t>
            </a:r>
            <a:endParaRPr lang="en-US" altLang="zh-CN" sz="2800" dirty="0">
              <a:solidFill>
                <a:schemeClr val="bg1">
                  <a:lumMod val="50000"/>
                </a:schemeClr>
              </a:solidFill>
            </a:endParaRPr>
          </a:p>
          <a:p>
            <a:pPr eaLnBrk="1" hangingPunct="1"/>
            <a:r>
              <a:rPr lang="zh-CN" altLang="en-US" sz="2800" dirty="0">
                <a:solidFill>
                  <a:schemeClr val="bg1">
                    <a:lumMod val="50000"/>
                  </a:schemeClr>
                </a:solidFill>
              </a:rPr>
              <a:t>最小的超码，称为候选码</a:t>
            </a:r>
            <a:endParaRPr lang="en-US" altLang="zh-CN" sz="2800" dirty="0">
              <a:solidFill>
                <a:schemeClr val="bg1">
                  <a:lumMod val="50000"/>
                </a:schemeClr>
              </a:solidFill>
            </a:endParaRPr>
          </a:p>
        </p:txBody>
      </p:sp>
      <p:sp>
        <p:nvSpPr>
          <p:cNvPr id="2" name="文本框 1">
            <a:extLst>
              <a:ext uri="{FF2B5EF4-FFF2-40B4-BE49-F238E27FC236}">
                <a16:creationId xmlns:a16="http://schemas.microsoft.com/office/drawing/2014/main" id="{ECA67D59-641B-E20A-8E1D-137228771997}"/>
              </a:ext>
            </a:extLst>
          </p:cNvPr>
          <p:cNvSpPr txBox="1"/>
          <p:nvPr/>
        </p:nvSpPr>
        <p:spPr>
          <a:xfrm>
            <a:off x="979984" y="4077072"/>
            <a:ext cx="7488832" cy="156966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l"/>
            <a:r>
              <a:rPr lang="zh-CN" altLang="en-US" dirty="0"/>
              <a:t>即：给定关系实例</a:t>
            </a:r>
            <a:r>
              <a:rPr lang="en-US" altLang="zh-CN" dirty="0"/>
              <a:t>r</a:t>
            </a:r>
            <a:r>
              <a:rPr lang="zh-CN" altLang="en-US" dirty="0"/>
              <a:t>中的</a:t>
            </a:r>
            <a:r>
              <a:rPr lang="zh-CN" altLang="en-US" b="1" dirty="0">
                <a:solidFill>
                  <a:srgbClr val="0000FF"/>
                </a:solidFill>
              </a:rPr>
              <a:t>任意两个</a:t>
            </a:r>
            <a:r>
              <a:rPr lang="zh-CN" altLang="en-US" dirty="0"/>
              <a:t>元组</a:t>
            </a:r>
            <a:r>
              <a:rPr lang="en-US" altLang="zh-CN" dirty="0"/>
              <a:t>t1, t2</a:t>
            </a:r>
            <a:r>
              <a:rPr lang="zh-CN" altLang="en-US" dirty="0"/>
              <a:t>，</a:t>
            </a:r>
            <a:r>
              <a:rPr lang="zh-CN" altLang="en-US" dirty="0">
                <a:solidFill>
                  <a:srgbClr val="FF0000"/>
                </a:solidFill>
              </a:rPr>
              <a:t>属性组</a:t>
            </a:r>
            <a:r>
              <a:rPr lang="en-US" altLang="zh-CN" dirty="0">
                <a:solidFill>
                  <a:srgbClr val="FF0000"/>
                </a:solidFill>
              </a:rPr>
              <a:t>K</a:t>
            </a:r>
            <a:r>
              <a:rPr lang="zh-CN" altLang="en-US" dirty="0"/>
              <a:t>是该关系</a:t>
            </a:r>
            <a:r>
              <a:rPr lang="zh-CN" altLang="en-US" dirty="0">
                <a:solidFill>
                  <a:srgbClr val="0000FF"/>
                </a:solidFill>
              </a:rPr>
              <a:t>超码</a:t>
            </a:r>
            <a:r>
              <a:rPr lang="zh-CN" altLang="en-US" dirty="0"/>
              <a:t>的条件是：</a:t>
            </a:r>
            <a:r>
              <a:rPr lang="zh-CN" altLang="en-US" dirty="0">
                <a:solidFill>
                  <a:srgbClr val="0000FF"/>
                </a:solidFill>
              </a:rPr>
              <a:t>若</a:t>
            </a:r>
            <a:r>
              <a:rPr lang="en-US" altLang="zh-CN" dirty="0">
                <a:solidFill>
                  <a:srgbClr val="0000FF"/>
                </a:solidFill>
              </a:rPr>
              <a:t>t1≠t2,</a:t>
            </a:r>
            <a:r>
              <a:rPr lang="zh-CN" altLang="en-US" dirty="0">
                <a:solidFill>
                  <a:srgbClr val="0000FF"/>
                </a:solidFill>
              </a:rPr>
              <a:t>则</a:t>
            </a:r>
            <a:r>
              <a:rPr lang="en-US" altLang="zh-CN" dirty="0">
                <a:solidFill>
                  <a:srgbClr val="0000FF"/>
                </a:solidFill>
              </a:rPr>
              <a:t>t1[K] ≠ t2[K]</a:t>
            </a:r>
            <a:r>
              <a:rPr lang="zh-CN" altLang="en-US" dirty="0"/>
              <a:t>；也即在关系</a:t>
            </a:r>
            <a:r>
              <a:rPr lang="en-US" altLang="zh-CN" dirty="0"/>
              <a:t>r</a:t>
            </a:r>
            <a:r>
              <a:rPr lang="zh-CN" altLang="en-US" dirty="0"/>
              <a:t>的任意合法实例中，</a:t>
            </a:r>
            <a:r>
              <a:rPr lang="zh-CN" altLang="en-US" dirty="0">
                <a:solidFill>
                  <a:srgbClr val="FF0000"/>
                </a:solidFill>
              </a:rPr>
              <a:t>不存在两个元组</a:t>
            </a:r>
            <a:r>
              <a:rPr lang="zh-CN" altLang="en-US" dirty="0"/>
              <a:t>在</a:t>
            </a:r>
            <a:r>
              <a:rPr lang="zh-CN" altLang="en-US" dirty="0">
                <a:solidFill>
                  <a:srgbClr val="FF0000"/>
                </a:solidFill>
              </a:rPr>
              <a:t>属性集</a:t>
            </a:r>
            <a:r>
              <a:rPr lang="en-US" altLang="zh-CN" dirty="0">
                <a:solidFill>
                  <a:srgbClr val="FF0000"/>
                </a:solidFill>
              </a:rPr>
              <a:t>K</a:t>
            </a:r>
            <a:r>
              <a:rPr lang="zh-CN" altLang="en-US" dirty="0">
                <a:solidFill>
                  <a:srgbClr val="0000FF"/>
                </a:solidFill>
              </a:rPr>
              <a:t>上具有相同的值</a:t>
            </a:r>
            <a:r>
              <a:rPr lang="zh-CN" altLang="en-US" dirty="0"/>
              <a:t>。</a:t>
            </a:r>
          </a:p>
        </p:txBody>
      </p:sp>
      <p:sp>
        <p:nvSpPr>
          <p:cNvPr id="3" name="页脚占位符 2">
            <a:extLst>
              <a:ext uri="{FF2B5EF4-FFF2-40B4-BE49-F238E27FC236}">
                <a16:creationId xmlns:a16="http://schemas.microsoft.com/office/drawing/2014/main" id="{F431CF36-FD9D-88C0-102D-6CC44ED8E146}"/>
              </a:ext>
            </a:extLst>
          </p:cNvPr>
          <p:cNvSpPr>
            <a:spLocks noGrp="1"/>
          </p:cNvSpPr>
          <p:nvPr>
            <p:ph type="ftr" sz="quarter" idx="11"/>
          </p:nvPr>
        </p:nvSpPr>
        <p:spPr/>
        <p:txBody>
          <a:bodyPr/>
          <a:lstStyle/>
          <a:p>
            <a:r>
              <a:rPr lang="en-US" altLang="zh-CN"/>
              <a:t>《数据库系统概论》- 第6章</a:t>
            </a:r>
          </a:p>
        </p:txBody>
      </p:sp>
      <p:sp>
        <p:nvSpPr>
          <p:cNvPr id="4" name="灯片编号占位符 3">
            <a:extLst>
              <a:ext uri="{FF2B5EF4-FFF2-40B4-BE49-F238E27FC236}">
                <a16:creationId xmlns:a16="http://schemas.microsoft.com/office/drawing/2014/main" id="{E91C2746-048D-E2EA-E883-309281AAF8C5}"/>
              </a:ext>
            </a:extLst>
          </p:cNvPr>
          <p:cNvSpPr>
            <a:spLocks noGrp="1"/>
          </p:cNvSpPr>
          <p:nvPr>
            <p:ph type="sldNum" sz="quarter" idx="12"/>
          </p:nvPr>
        </p:nvSpPr>
        <p:spPr/>
        <p:txBody>
          <a:bodyPr/>
          <a:lstStyle/>
          <a:p>
            <a:fld id="{A2D74603-B40B-4D66-8F6E-41C870D48932}" type="slidenum">
              <a:rPr lang="en-US" altLang="zh-CN" smtClean="0"/>
              <a:pPr/>
              <a:t>16</a:t>
            </a:fld>
            <a:r>
              <a:rPr lang="en-US" altLang="zh-CN"/>
              <a:t>/162</a:t>
            </a:r>
            <a:endParaRPr lang="en-US" altLang="zh-CN" dirty="0"/>
          </a:p>
        </p:txBody>
      </p:sp>
    </p:spTree>
    <p:extLst>
      <p:ext uri="{BB962C8B-B14F-4D97-AF65-F5344CB8AC3E}">
        <p14:creationId xmlns:p14="http://schemas.microsoft.com/office/powerpoint/2010/main" val="38722837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8.2.1 </a:t>
            </a:r>
            <a:r>
              <a:rPr lang="zh-CN" altLang="en-US" dirty="0"/>
              <a:t>函数依赖</a:t>
            </a:r>
          </a:p>
        </p:txBody>
      </p:sp>
      <p:sp>
        <p:nvSpPr>
          <p:cNvPr id="3" name="日期占位符 2"/>
          <p:cNvSpPr>
            <a:spLocks noGrp="1"/>
          </p:cNvSpPr>
          <p:nvPr>
            <p:ph type="dt" sz="half" idx="10"/>
          </p:nvPr>
        </p:nvSpPr>
        <p:spPr/>
        <p:txBody>
          <a:bodyPr/>
          <a:lstStyle/>
          <a:p>
            <a:fld id="{58CE6257-AB8D-4025-B7C6-BEE55B5C4DC7}" type="datetime1">
              <a:rPr lang="zh-CN" altLang="en-US" smtClean="0"/>
              <a:t>2025/11/6</a:t>
            </a:fld>
            <a:endParaRPr lang="en-US" altLang="zh-CN"/>
          </a:p>
        </p:txBody>
      </p:sp>
      <p:pic>
        <p:nvPicPr>
          <p:cNvPr id="122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1057" y="2060848"/>
            <a:ext cx="7595225" cy="3397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7320" y="3127648"/>
            <a:ext cx="457200" cy="3200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矩形 6"/>
          <p:cNvSpPr/>
          <p:nvPr/>
        </p:nvSpPr>
        <p:spPr bwMode="auto">
          <a:xfrm>
            <a:off x="7013257" y="2670448"/>
            <a:ext cx="1295400" cy="381000"/>
          </a:xfrm>
          <a:prstGeom prst="rect">
            <a:avLst/>
          </a:prstGeom>
          <a:noFill/>
          <a:ln w="25400" cap="flat" cmpd="sng" algn="ctr">
            <a:solidFill>
              <a:srgbClr val="C00000"/>
            </a:solidFill>
            <a:prstDash val="sysDot"/>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sp>
        <p:nvSpPr>
          <p:cNvPr id="11" name="矩形 10"/>
          <p:cNvSpPr/>
          <p:nvPr/>
        </p:nvSpPr>
        <p:spPr bwMode="auto">
          <a:xfrm>
            <a:off x="1274914" y="3142888"/>
            <a:ext cx="822012" cy="304800"/>
          </a:xfrm>
          <a:prstGeom prst="rect">
            <a:avLst/>
          </a:prstGeom>
          <a:noFill/>
          <a:ln w="25400" cap="flat" cmpd="sng" algn="ctr">
            <a:solidFill>
              <a:srgbClr val="C00000"/>
            </a:solidFill>
            <a:prstDash val="sysDot"/>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sp>
        <p:nvSpPr>
          <p:cNvPr id="13" name="矩形 12"/>
          <p:cNvSpPr/>
          <p:nvPr/>
        </p:nvSpPr>
        <p:spPr bwMode="auto">
          <a:xfrm>
            <a:off x="7013257" y="3116762"/>
            <a:ext cx="1295400" cy="330926"/>
          </a:xfrm>
          <a:prstGeom prst="rect">
            <a:avLst/>
          </a:prstGeom>
          <a:noFill/>
          <a:ln w="25400" cap="flat" cmpd="sng" algn="ctr">
            <a:solidFill>
              <a:srgbClr val="C00000"/>
            </a:solidFill>
            <a:prstDash val="sysDot"/>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sp>
        <p:nvSpPr>
          <p:cNvPr id="15" name="矩形 14"/>
          <p:cNvSpPr/>
          <p:nvPr/>
        </p:nvSpPr>
        <p:spPr bwMode="auto">
          <a:xfrm>
            <a:off x="1278926" y="2708548"/>
            <a:ext cx="822012" cy="304800"/>
          </a:xfrm>
          <a:prstGeom prst="rect">
            <a:avLst/>
          </a:prstGeom>
          <a:noFill/>
          <a:ln w="25400" cap="flat" cmpd="sng" algn="ctr">
            <a:solidFill>
              <a:srgbClr val="C00000"/>
            </a:solidFill>
            <a:prstDash val="sysDot"/>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pic>
        <p:nvPicPr>
          <p:cNvPr id="1229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4844" y="3075677"/>
            <a:ext cx="3598813" cy="3720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乘号 7"/>
          <p:cNvSpPr/>
          <p:nvPr/>
        </p:nvSpPr>
        <p:spPr bwMode="auto">
          <a:xfrm>
            <a:off x="3288973" y="2646630"/>
            <a:ext cx="2357454" cy="2286016"/>
          </a:xfrm>
          <a:prstGeom prst="mathMultiply">
            <a:avLst>
              <a:gd name="adj1" fmla="val 1487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sp>
        <p:nvSpPr>
          <p:cNvPr id="6" name="TextBox 5"/>
          <p:cNvSpPr txBox="1"/>
          <p:nvPr/>
        </p:nvSpPr>
        <p:spPr>
          <a:xfrm>
            <a:off x="609600" y="1474348"/>
            <a:ext cx="8201929" cy="461665"/>
          </a:xfrm>
          <a:prstGeom prst="rect">
            <a:avLst/>
          </a:prstGeom>
          <a:noFill/>
        </p:spPr>
        <p:txBody>
          <a:bodyPr wrap="square" rtlCol="0">
            <a:spAutoFit/>
          </a:bodyPr>
          <a:lstStyle/>
          <a:p>
            <a:r>
              <a:rPr lang="en-US" altLang="zh-CN" dirty="0"/>
              <a:t>Student</a:t>
            </a:r>
            <a:r>
              <a:rPr lang="zh-CN" altLang="en-US" dirty="0"/>
              <a:t>的实例中</a:t>
            </a:r>
            <a:r>
              <a:rPr lang="zh-CN" altLang="en-US" dirty="0">
                <a:solidFill>
                  <a:srgbClr val="FF0000"/>
                </a:solidFill>
              </a:rPr>
              <a:t>不可能</a:t>
            </a:r>
            <a:r>
              <a:rPr lang="zh-CN" altLang="en-US" dirty="0"/>
              <a:t>存在</a:t>
            </a:r>
            <a:r>
              <a:rPr lang="zh-CN" altLang="en-US" dirty="0">
                <a:solidFill>
                  <a:srgbClr val="FF0000"/>
                </a:solidFill>
              </a:rPr>
              <a:t>两个</a:t>
            </a:r>
            <a:r>
              <a:rPr lang="zh-CN" altLang="en-US" dirty="0">
                <a:solidFill>
                  <a:srgbClr val="0000FF"/>
                </a:solidFill>
              </a:rPr>
              <a:t>不同元组</a:t>
            </a:r>
            <a:r>
              <a:rPr lang="zh-CN" altLang="en-US" dirty="0"/>
              <a:t>在</a:t>
            </a:r>
            <a:r>
              <a:rPr lang="en-US" altLang="zh-CN" dirty="0" err="1">
                <a:solidFill>
                  <a:srgbClr val="FF0000"/>
                </a:solidFill>
              </a:rPr>
              <a:t>Sno</a:t>
            </a:r>
            <a:r>
              <a:rPr lang="zh-CN" altLang="en-US" dirty="0">
                <a:solidFill>
                  <a:srgbClr val="FF0000"/>
                </a:solidFill>
              </a:rPr>
              <a:t>上值相同</a:t>
            </a:r>
          </a:p>
        </p:txBody>
      </p:sp>
      <p:sp>
        <p:nvSpPr>
          <p:cNvPr id="4" name="矩形 3">
            <a:extLst>
              <a:ext uri="{FF2B5EF4-FFF2-40B4-BE49-F238E27FC236}">
                <a16:creationId xmlns:a16="http://schemas.microsoft.com/office/drawing/2014/main" id="{3F65CFC8-0FBF-11B5-03DC-18696DEA86A3}"/>
              </a:ext>
            </a:extLst>
          </p:cNvPr>
          <p:cNvSpPr/>
          <p:nvPr/>
        </p:nvSpPr>
        <p:spPr>
          <a:xfrm>
            <a:off x="6754733" y="5709398"/>
            <a:ext cx="2149948" cy="461665"/>
          </a:xfrm>
          <a:prstGeom prst="rect">
            <a:avLst/>
          </a:prstGeom>
        </p:spPr>
        <p:txBody>
          <a:bodyPr wrap="none">
            <a:spAutoFit/>
          </a:bodyPr>
          <a:lstStyle/>
          <a:p>
            <a:r>
              <a:rPr lang="en-US" altLang="zh-CN" b="1" dirty="0" err="1">
                <a:solidFill>
                  <a:srgbClr val="0000FF"/>
                </a:solidFill>
              </a:rPr>
              <a:t>Sno</a:t>
            </a:r>
            <a:r>
              <a:rPr lang="en-US" altLang="zh-CN" b="1" dirty="0">
                <a:solidFill>
                  <a:srgbClr val="0000FF"/>
                </a:solidFill>
              </a:rPr>
              <a:t> → </a:t>
            </a:r>
            <a:r>
              <a:rPr lang="en-US" altLang="zh-CN" b="1" dirty="0" err="1">
                <a:solidFill>
                  <a:srgbClr val="0000FF"/>
                </a:solidFill>
              </a:rPr>
              <a:t>Sdept</a:t>
            </a:r>
            <a:endParaRPr lang="zh-CN" altLang="en-US" b="1" dirty="0">
              <a:solidFill>
                <a:srgbClr val="0000FF"/>
              </a:solidFill>
            </a:endParaRPr>
          </a:p>
        </p:txBody>
      </p:sp>
      <p:sp>
        <p:nvSpPr>
          <p:cNvPr id="5" name="页脚占位符 4">
            <a:extLst>
              <a:ext uri="{FF2B5EF4-FFF2-40B4-BE49-F238E27FC236}">
                <a16:creationId xmlns:a16="http://schemas.microsoft.com/office/drawing/2014/main" id="{1B666B17-86B7-4F94-3216-EA92AFA687D3}"/>
              </a:ext>
            </a:extLst>
          </p:cNvPr>
          <p:cNvSpPr>
            <a:spLocks noGrp="1"/>
          </p:cNvSpPr>
          <p:nvPr>
            <p:ph type="ftr" sz="quarter" idx="11"/>
          </p:nvPr>
        </p:nvSpPr>
        <p:spPr/>
        <p:txBody>
          <a:bodyPr/>
          <a:lstStyle/>
          <a:p>
            <a:r>
              <a:rPr lang="en-US" altLang="zh-CN"/>
              <a:t>《数据库系统概论》- 第6章</a:t>
            </a:r>
          </a:p>
        </p:txBody>
      </p:sp>
      <p:sp>
        <p:nvSpPr>
          <p:cNvPr id="10" name="灯片编号占位符 9">
            <a:extLst>
              <a:ext uri="{FF2B5EF4-FFF2-40B4-BE49-F238E27FC236}">
                <a16:creationId xmlns:a16="http://schemas.microsoft.com/office/drawing/2014/main" id="{4E230DC6-DA09-D769-CDA0-FAAEFC4392D5}"/>
              </a:ext>
            </a:extLst>
          </p:cNvPr>
          <p:cNvSpPr>
            <a:spLocks noGrp="1"/>
          </p:cNvSpPr>
          <p:nvPr>
            <p:ph type="sldNum" sz="quarter" idx="12"/>
          </p:nvPr>
        </p:nvSpPr>
        <p:spPr/>
        <p:txBody>
          <a:bodyPr/>
          <a:lstStyle/>
          <a:p>
            <a:fld id="{20EA4E5F-2FB2-46CB-BBC2-637528EFB5F7}" type="slidenum">
              <a:rPr lang="en-US" altLang="zh-CN" smtClean="0"/>
              <a:pPr/>
              <a:t>17</a:t>
            </a:fld>
            <a:r>
              <a:rPr lang="en-US" altLang="zh-CN"/>
              <a:t>/162</a:t>
            </a:r>
            <a:endParaRPr lang="en-US" altLang="zh-CN" dirty="0"/>
          </a:p>
        </p:txBody>
      </p:sp>
      <p:sp>
        <p:nvSpPr>
          <p:cNvPr id="17" name="文本框 16">
            <a:extLst>
              <a:ext uri="{FF2B5EF4-FFF2-40B4-BE49-F238E27FC236}">
                <a16:creationId xmlns:a16="http://schemas.microsoft.com/office/drawing/2014/main" id="{06837C2E-3925-292B-E5C2-35E5DC170DD1}"/>
              </a:ext>
            </a:extLst>
          </p:cNvPr>
          <p:cNvSpPr txBox="1"/>
          <p:nvPr/>
        </p:nvSpPr>
        <p:spPr>
          <a:xfrm>
            <a:off x="340945" y="5162645"/>
            <a:ext cx="6374764" cy="156966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l"/>
            <a:r>
              <a:rPr lang="en-US" altLang="zh-CN" dirty="0"/>
              <a:t>Student</a:t>
            </a:r>
            <a:r>
              <a:rPr lang="zh-CN" altLang="en-US" dirty="0"/>
              <a:t>的实例中</a:t>
            </a:r>
            <a:r>
              <a:rPr lang="zh-CN" altLang="en-US" dirty="0">
                <a:solidFill>
                  <a:srgbClr val="FF0000"/>
                </a:solidFill>
              </a:rPr>
              <a:t>不可能</a:t>
            </a:r>
            <a:r>
              <a:rPr lang="zh-CN" altLang="en-US" dirty="0"/>
              <a:t>存在</a:t>
            </a:r>
            <a:r>
              <a:rPr lang="zh-CN" altLang="en-US" dirty="0">
                <a:solidFill>
                  <a:srgbClr val="0000FF"/>
                </a:solidFill>
              </a:rPr>
              <a:t>两个元组</a:t>
            </a:r>
            <a:r>
              <a:rPr lang="zh-CN" altLang="en-US" dirty="0"/>
              <a:t>在</a:t>
            </a:r>
            <a:r>
              <a:rPr lang="en-US" altLang="zh-CN" dirty="0" err="1">
                <a:solidFill>
                  <a:srgbClr val="FF0000"/>
                </a:solidFill>
              </a:rPr>
              <a:t>Sno</a:t>
            </a:r>
            <a:r>
              <a:rPr lang="zh-CN" altLang="en-US" dirty="0">
                <a:solidFill>
                  <a:srgbClr val="FF0000"/>
                </a:solidFill>
              </a:rPr>
              <a:t>上值相同，</a:t>
            </a:r>
            <a:r>
              <a:rPr lang="zh-CN" altLang="en-US" dirty="0"/>
              <a:t>而在其他属性如</a:t>
            </a:r>
            <a:r>
              <a:rPr lang="en-US" altLang="zh-CN" dirty="0" err="1">
                <a:solidFill>
                  <a:srgbClr val="FF0000"/>
                </a:solidFill>
              </a:rPr>
              <a:t>Sdept</a:t>
            </a:r>
            <a:r>
              <a:rPr lang="zh-CN" altLang="en-US" dirty="0">
                <a:solidFill>
                  <a:srgbClr val="FF0000"/>
                </a:solidFill>
              </a:rPr>
              <a:t>上值不同；</a:t>
            </a:r>
            <a:r>
              <a:rPr lang="en-US" altLang="zh-CN" dirty="0"/>
              <a:t> </a:t>
            </a:r>
          </a:p>
          <a:p>
            <a:pPr algn="l"/>
            <a:r>
              <a:rPr lang="zh-CN" altLang="en-US" dirty="0"/>
              <a:t>也即：</a:t>
            </a:r>
            <a:r>
              <a:rPr lang="en-US" altLang="zh-CN" dirty="0"/>
              <a:t>Student</a:t>
            </a:r>
            <a:r>
              <a:rPr lang="zh-CN" altLang="en-US" dirty="0"/>
              <a:t>实例</a:t>
            </a:r>
            <a:r>
              <a:rPr lang="en-US" altLang="zh-CN" dirty="0"/>
              <a:t>r</a:t>
            </a:r>
            <a:r>
              <a:rPr lang="zh-CN" altLang="en-US" dirty="0"/>
              <a:t>中的任意两个元组</a:t>
            </a:r>
            <a:r>
              <a:rPr lang="en-US" altLang="zh-CN" dirty="0"/>
              <a:t>t1,t2,</a:t>
            </a:r>
          </a:p>
          <a:p>
            <a:pPr algn="l"/>
            <a:r>
              <a:rPr lang="zh-CN" altLang="en-US" dirty="0"/>
              <a:t>若</a:t>
            </a:r>
            <a:r>
              <a:rPr lang="en-US" altLang="zh-CN" dirty="0"/>
              <a:t>t1[</a:t>
            </a:r>
            <a:r>
              <a:rPr lang="en-US" altLang="zh-CN" dirty="0" err="1"/>
              <a:t>Sno</a:t>
            </a:r>
            <a:r>
              <a:rPr lang="en-US" altLang="zh-CN" dirty="0"/>
              <a:t>]=t2[</a:t>
            </a:r>
            <a:r>
              <a:rPr lang="en-US" altLang="zh-CN" dirty="0" err="1"/>
              <a:t>Sno</a:t>
            </a:r>
            <a:r>
              <a:rPr lang="en-US" altLang="zh-CN" dirty="0"/>
              <a:t>]</a:t>
            </a:r>
            <a:r>
              <a:rPr lang="zh-CN" altLang="en-US" dirty="0"/>
              <a:t>，则</a:t>
            </a:r>
            <a:r>
              <a:rPr lang="en-US" altLang="zh-CN" dirty="0"/>
              <a:t>t1[</a:t>
            </a:r>
            <a:r>
              <a:rPr lang="en-US" altLang="zh-CN" dirty="0" err="1"/>
              <a:t>Sdept</a:t>
            </a:r>
            <a:r>
              <a:rPr lang="en-US" altLang="zh-CN" dirty="0"/>
              <a:t>]=t2[</a:t>
            </a:r>
            <a:r>
              <a:rPr lang="en-US" altLang="zh-CN" dirty="0" err="1"/>
              <a:t>Sdept</a:t>
            </a:r>
            <a:r>
              <a:rPr lang="en-US" altLang="zh-CN" dirty="0"/>
              <a:t>]</a:t>
            </a:r>
            <a:r>
              <a:rPr lang="zh-CN" altLang="en-US" dirty="0"/>
              <a:t>。</a:t>
            </a:r>
          </a:p>
        </p:txBody>
      </p:sp>
    </p:spTree>
    <p:extLst>
      <p:ext uri="{BB962C8B-B14F-4D97-AF65-F5344CB8AC3E}">
        <p14:creationId xmlns:p14="http://schemas.microsoft.com/office/powerpoint/2010/main" val="3107720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heel(1)">
                                      <p:cBhvr>
                                        <p:cTn id="12" dur="20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arn(inVertical)">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heel(1)">
                                      <p:cBhvr>
                                        <p:cTn id="22" dur="2000"/>
                                        <p:tgtEl>
                                          <p:spTgt spid="7"/>
                                        </p:tgtEl>
                                      </p:cBhvr>
                                    </p:animEffect>
                                  </p:childTnLst>
                                </p:cTn>
                              </p:par>
                              <p:par>
                                <p:cTn id="23" presetID="21" presetClass="entr" presetSubtype="1"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heel(1)">
                                      <p:cBhvr>
                                        <p:cTn id="25" dur="2000"/>
                                        <p:tgtEl>
                                          <p:spTgt spid="11"/>
                                        </p:tgtEl>
                                      </p:cBhvr>
                                    </p:animEffect>
                                  </p:childTnLst>
                                </p:cTn>
                              </p:par>
                              <p:par>
                                <p:cTn id="26" presetID="21" presetClass="entr" presetSubtype="1"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heel(1)">
                                      <p:cBhvr>
                                        <p:cTn id="28" dur="2000"/>
                                        <p:tgtEl>
                                          <p:spTgt spid="13"/>
                                        </p:tgtEl>
                                      </p:cBhvr>
                                    </p:animEffect>
                                  </p:childTnLst>
                                </p:cTn>
                              </p:par>
                              <p:par>
                                <p:cTn id="29" presetID="21" presetClass="entr" presetSubtype="1"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heel(1)">
                                      <p:cBhvr>
                                        <p:cTn id="31" dur="200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grpId="0"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barn(inVertical)">
                                      <p:cBhvr>
                                        <p:cTn id="3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13" grpId="0" animBg="1"/>
      <p:bldP spid="15" grpId="0" animBg="1"/>
      <p:bldP spid="8" grpId="0" animBg="1"/>
      <p:bldP spid="6" grpId="0"/>
      <p:bldP spid="4" grpId="0"/>
      <p:bldP spid="1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25A85969-6F59-42D6-8ED3-9E6FD4C0C470}" type="datetime1">
              <a:rPr lang="zh-CN" altLang="en-US" smtClean="0"/>
              <a:t>2025/11/6</a:t>
            </a:fld>
            <a:endParaRPr lang="en-US" altLang="zh-CN"/>
          </a:p>
        </p:txBody>
      </p:sp>
      <p:sp>
        <p:nvSpPr>
          <p:cNvPr id="268290" name="Rectangle 2"/>
          <p:cNvSpPr>
            <a:spLocks noGrp="1" noChangeArrowheads="1"/>
          </p:cNvSpPr>
          <p:nvPr>
            <p:ph type="title"/>
          </p:nvPr>
        </p:nvSpPr>
        <p:spPr/>
        <p:txBody>
          <a:bodyPr/>
          <a:lstStyle/>
          <a:p>
            <a:r>
              <a:rPr lang="en-US" altLang="zh-CN" dirty="0"/>
              <a:t>8.2.1 </a:t>
            </a:r>
            <a:r>
              <a:rPr lang="zh-CN" altLang="en-US" dirty="0"/>
              <a:t>函数依赖</a:t>
            </a:r>
          </a:p>
        </p:txBody>
      </p:sp>
      <p:sp>
        <p:nvSpPr>
          <p:cNvPr id="268291" name="Rectangle 3"/>
          <p:cNvSpPr>
            <a:spLocks noGrp="1" noChangeArrowheads="1"/>
          </p:cNvSpPr>
          <p:nvPr>
            <p:ph type="body" idx="1"/>
          </p:nvPr>
        </p:nvSpPr>
        <p:spPr/>
        <p:txBody>
          <a:bodyPr/>
          <a:lstStyle/>
          <a:p>
            <a:pPr>
              <a:spcBef>
                <a:spcPct val="50000"/>
              </a:spcBef>
              <a:buFont typeface="Wingdings" pitchFamily="2" charset="2"/>
              <a:buNone/>
            </a:pPr>
            <a:r>
              <a:rPr lang="zh-CN" altLang="en-US" dirty="0">
                <a:solidFill>
                  <a:schemeClr val="hlink"/>
                </a:solidFill>
              </a:rPr>
              <a:t>定义</a:t>
            </a:r>
            <a:r>
              <a:rPr lang="en-US" altLang="zh-CN" dirty="0">
                <a:solidFill>
                  <a:schemeClr val="hlink"/>
                </a:solidFill>
              </a:rPr>
              <a:t>6.1</a:t>
            </a:r>
            <a:r>
              <a:rPr lang="en-US" altLang="zh-CN" dirty="0"/>
              <a:t> </a:t>
            </a:r>
            <a:r>
              <a:rPr lang="zh-CN" altLang="en-US" dirty="0"/>
              <a:t>设</a:t>
            </a:r>
            <a:r>
              <a:rPr lang="en-US" altLang="zh-CN" dirty="0"/>
              <a:t>R(U)</a:t>
            </a:r>
            <a:r>
              <a:rPr lang="zh-CN" altLang="en-US" dirty="0"/>
              <a:t>是</a:t>
            </a:r>
            <a:r>
              <a:rPr lang="zh-CN" altLang="en-US" b="1" dirty="0">
                <a:solidFill>
                  <a:schemeClr val="tx2"/>
                </a:solidFill>
              </a:rPr>
              <a:t>属性集</a:t>
            </a:r>
            <a:r>
              <a:rPr lang="en-US" altLang="zh-CN" b="1" dirty="0">
                <a:solidFill>
                  <a:schemeClr val="tx2"/>
                </a:solidFill>
              </a:rPr>
              <a:t>U</a:t>
            </a:r>
            <a:r>
              <a:rPr lang="zh-CN" altLang="en-US" dirty="0"/>
              <a:t>上的关系模式。</a:t>
            </a:r>
            <a:r>
              <a:rPr lang="en-US" altLang="zh-CN" dirty="0"/>
              <a:t>X</a:t>
            </a:r>
            <a:r>
              <a:rPr lang="zh-CN" altLang="en-US" dirty="0"/>
              <a:t>，</a:t>
            </a:r>
            <a:r>
              <a:rPr lang="en-US" altLang="zh-CN" dirty="0"/>
              <a:t>Y</a:t>
            </a:r>
            <a:r>
              <a:rPr lang="zh-CN" altLang="en-US" dirty="0"/>
              <a:t>是</a:t>
            </a:r>
            <a:r>
              <a:rPr lang="en-US" altLang="zh-CN" dirty="0"/>
              <a:t>U</a:t>
            </a:r>
            <a:r>
              <a:rPr lang="zh-CN" altLang="en-US" dirty="0"/>
              <a:t>的</a:t>
            </a:r>
            <a:r>
              <a:rPr lang="zh-CN" altLang="en-US" b="1" dirty="0">
                <a:solidFill>
                  <a:schemeClr val="tx2"/>
                </a:solidFill>
              </a:rPr>
              <a:t>子集</a:t>
            </a:r>
            <a:r>
              <a:rPr lang="zh-CN" altLang="en-US" dirty="0"/>
              <a:t>。若对于</a:t>
            </a:r>
            <a:r>
              <a:rPr lang="en-US" altLang="zh-CN" dirty="0"/>
              <a:t>R</a:t>
            </a:r>
            <a:r>
              <a:rPr lang="zh-CN" altLang="en-US" dirty="0"/>
              <a:t>的</a:t>
            </a:r>
            <a:r>
              <a:rPr lang="zh-CN" altLang="en-US" b="1" dirty="0">
                <a:highlight>
                  <a:srgbClr val="FFFF00"/>
                </a:highlight>
              </a:rPr>
              <a:t>任何一个</a:t>
            </a:r>
            <a:r>
              <a:rPr lang="zh-CN" altLang="en-US" dirty="0"/>
              <a:t>可能的</a:t>
            </a:r>
            <a:r>
              <a:rPr lang="zh-CN" altLang="en-US" dirty="0">
                <a:solidFill>
                  <a:schemeClr val="tx2"/>
                </a:solidFill>
              </a:rPr>
              <a:t>关系</a:t>
            </a:r>
            <a:r>
              <a:rPr lang="en-US" altLang="zh-CN" dirty="0">
                <a:solidFill>
                  <a:srgbClr val="C00000"/>
                </a:solidFill>
              </a:rPr>
              <a:t>r</a:t>
            </a:r>
            <a:r>
              <a:rPr lang="zh-CN" altLang="en-US" dirty="0"/>
              <a:t>，</a:t>
            </a:r>
            <a:r>
              <a:rPr lang="en-US" altLang="zh-CN" dirty="0">
                <a:solidFill>
                  <a:srgbClr val="C00000"/>
                </a:solidFill>
              </a:rPr>
              <a:t>r</a:t>
            </a:r>
            <a:r>
              <a:rPr lang="zh-CN" altLang="en-US" dirty="0"/>
              <a:t>中</a:t>
            </a:r>
            <a:r>
              <a:rPr lang="zh-CN" altLang="en-US" b="1" dirty="0">
                <a:solidFill>
                  <a:srgbClr val="C00000"/>
                </a:solidFill>
              </a:rPr>
              <a:t>不可能存在</a:t>
            </a:r>
            <a:r>
              <a:rPr lang="zh-CN" altLang="en-US" u="sng" dirty="0">
                <a:solidFill>
                  <a:srgbClr val="0000FF"/>
                </a:solidFill>
              </a:rPr>
              <a:t>两个元组</a:t>
            </a:r>
            <a:r>
              <a:rPr lang="zh-CN" altLang="en-US" dirty="0"/>
              <a:t>在</a:t>
            </a:r>
            <a:r>
              <a:rPr lang="en-US" altLang="zh-CN" dirty="0">
                <a:solidFill>
                  <a:srgbClr val="C00000"/>
                </a:solidFill>
              </a:rPr>
              <a:t>X</a:t>
            </a:r>
            <a:r>
              <a:rPr lang="zh-CN" altLang="en-US" dirty="0">
                <a:solidFill>
                  <a:srgbClr val="C00000"/>
                </a:solidFill>
              </a:rPr>
              <a:t>属性值上</a:t>
            </a:r>
            <a:r>
              <a:rPr lang="zh-CN" altLang="en-US" dirty="0">
                <a:solidFill>
                  <a:srgbClr val="0000FF"/>
                </a:solidFill>
              </a:rPr>
              <a:t>相等</a:t>
            </a:r>
            <a:r>
              <a:rPr lang="zh-CN" altLang="en-US" dirty="0"/>
              <a:t>而在</a:t>
            </a:r>
            <a:r>
              <a:rPr lang="en-US" altLang="zh-CN" dirty="0">
                <a:solidFill>
                  <a:srgbClr val="C00000"/>
                </a:solidFill>
              </a:rPr>
              <a:t>Y</a:t>
            </a:r>
            <a:r>
              <a:rPr lang="zh-CN" altLang="en-US" dirty="0">
                <a:solidFill>
                  <a:srgbClr val="C00000"/>
                </a:solidFill>
              </a:rPr>
              <a:t>属性值上</a:t>
            </a:r>
            <a:r>
              <a:rPr lang="zh-CN" altLang="en-US" dirty="0">
                <a:solidFill>
                  <a:srgbClr val="0000FF"/>
                </a:solidFill>
              </a:rPr>
              <a:t>不等</a:t>
            </a:r>
            <a:r>
              <a:rPr lang="zh-CN" altLang="en-US" dirty="0"/>
              <a:t>，则称</a:t>
            </a:r>
            <a:r>
              <a:rPr lang="en-US" altLang="zh-CN" dirty="0">
                <a:solidFill>
                  <a:srgbClr val="0000FF"/>
                </a:solidFill>
              </a:rPr>
              <a:t>X</a:t>
            </a:r>
            <a:r>
              <a:rPr lang="zh-CN" altLang="en-US" dirty="0">
                <a:solidFill>
                  <a:srgbClr val="FF0000"/>
                </a:solidFill>
              </a:rPr>
              <a:t>函数确定</a:t>
            </a:r>
            <a:r>
              <a:rPr lang="en-US" altLang="zh-CN" dirty="0">
                <a:solidFill>
                  <a:srgbClr val="0000FF"/>
                </a:solidFill>
              </a:rPr>
              <a:t>Y</a:t>
            </a:r>
            <a:r>
              <a:rPr lang="zh-CN" altLang="en-US" dirty="0"/>
              <a:t>或</a:t>
            </a:r>
            <a:r>
              <a:rPr lang="en-US" altLang="zh-CN" dirty="0">
                <a:solidFill>
                  <a:srgbClr val="0000FF"/>
                </a:solidFill>
              </a:rPr>
              <a:t>Y</a:t>
            </a:r>
            <a:r>
              <a:rPr lang="zh-CN" altLang="en-US" dirty="0">
                <a:solidFill>
                  <a:srgbClr val="FF0000"/>
                </a:solidFill>
              </a:rPr>
              <a:t>函数依赖于</a:t>
            </a:r>
            <a:r>
              <a:rPr lang="en-US" altLang="zh-CN" dirty="0">
                <a:solidFill>
                  <a:srgbClr val="0000FF"/>
                </a:solidFill>
              </a:rPr>
              <a:t>X</a:t>
            </a:r>
            <a:r>
              <a:rPr lang="zh-CN" altLang="en-US" dirty="0"/>
              <a:t>，记作：</a:t>
            </a:r>
            <a:r>
              <a:rPr lang="en-US" altLang="zh-CN" dirty="0">
                <a:solidFill>
                  <a:srgbClr val="C00000"/>
                </a:solidFill>
              </a:rPr>
              <a:t>X</a:t>
            </a:r>
            <a:r>
              <a:rPr lang="en-US" altLang="zh-CN" dirty="0">
                <a:solidFill>
                  <a:srgbClr val="C00000"/>
                </a:solidFill>
                <a:latin typeface="宋体" pitchFamily="2" charset="-122"/>
              </a:rPr>
              <a:t>→</a:t>
            </a:r>
            <a:r>
              <a:rPr lang="en-US" altLang="zh-CN" dirty="0">
                <a:solidFill>
                  <a:srgbClr val="C00000"/>
                </a:solidFill>
              </a:rPr>
              <a:t>Y</a:t>
            </a:r>
            <a:r>
              <a:rPr lang="zh-CN" altLang="en-US" dirty="0"/>
              <a:t>。也即：函数依赖</a:t>
            </a:r>
            <a:r>
              <a:rPr lang="en-US" altLang="zh-CN" dirty="0"/>
              <a:t>X</a:t>
            </a:r>
            <a:r>
              <a:rPr lang="en-US" altLang="zh-CN" dirty="0">
                <a:latin typeface="宋体" pitchFamily="2" charset="-122"/>
              </a:rPr>
              <a:t>→</a:t>
            </a:r>
            <a:r>
              <a:rPr lang="en-US" altLang="zh-CN" dirty="0"/>
              <a:t>Y</a:t>
            </a:r>
            <a:r>
              <a:rPr lang="zh-CN" altLang="en-US" dirty="0"/>
              <a:t>在关系模式</a:t>
            </a:r>
            <a:r>
              <a:rPr lang="en-US" altLang="zh-CN" dirty="0"/>
              <a:t>R(U)</a:t>
            </a:r>
            <a:r>
              <a:rPr lang="zh-CN" altLang="en-US" dirty="0"/>
              <a:t>上</a:t>
            </a:r>
            <a:r>
              <a:rPr lang="zh-CN" altLang="en-US" dirty="0">
                <a:solidFill>
                  <a:srgbClr val="0000FF"/>
                </a:solidFill>
              </a:rPr>
              <a:t>成立</a:t>
            </a:r>
            <a:r>
              <a:rPr lang="zh-CN" altLang="en-US" dirty="0"/>
              <a:t>。</a:t>
            </a:r>
          </a:p>
          <a:p>
            <a:endParaRPr lang="zh-CN" altLang="en-US" dirty="0"/>
          </a:p>
        </p:txBody>
      </p:sp>
      <p:sp>
        <p:nvSpPr>
          <p:cNvPr id="3" name="页脚占位符 2">
            <a:extLst>
              <a:ext uri="{FF2B5EF4-FFF2-40B4-BE49-F238E27FC236}">
                <a16:creationId xmlns:a16="http://schemas.microsoft.com/office/drawing/2014/main" id="{9DB0D6DC-4433-9C34-1B88-B71AE68B8AEE}"/>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0CB0C843-D08D-3713-8A23-B6477AD02227}"/>
              </a:ext>
            </a:extLst>
          </p:cNvPr>
          <p:cNvSpPr>
            <a:spLocks noGrp="1"/>
          </p:cNvSpPr>
          <p:nvPr>
            <p:ph type="sldNum" sz="quarter" idx="12"/>
          </p:nvPr>
        </p:nvSpPr>
        <p:spPr/>
        <p:txBody>
          <a:bodyPr/>
          <a:lstStyle/>
          <a:p>
            <a:fld id="{A2D74603-B40B-4D66-8F6E-41C870D48932}" type="slidenum">
              <a:rPr lang="en-US" altLang="zh-CN" smtClean="0"/>
              <a:pPr/>
              <a:t>18</a:t>
            </a:fld>
            <a:r>
              <a:rPr lang="en-US" altLang="zh-CN"/>
              <a:t>/162</a:t>
            </a:r>
            <a:endParaRPr lang="en-US" altLang="zh-CN"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8.2.1 </a:t>
            </a:r>
            <a:r>
              <a:rPr lang="zh-CN" altLang="en-US" dirty="0"/>
              <a:t>函数依赖</a:t>
            </a:r>
          </a:p>
        </p:txBody>
      </p:sp>
      <p:sp>
        <p:nvSpPr>
          <p:cNvPr id="3" name="内容占位符 2"/>
          <p:cNvSpPr>
            <a:spLocks noGrp="1"/>
          </p:cNvSpPr>
          <p:nvPr>
            <p:ph idx="1"/>
          </p:nvPr>
        </p:nvSpPr>
        <p:spPr/>
        <p:txBody>
          <a:bodyPr/>
          <a:lstStyle/>
          <a:p>
            <a:pPr marL="0" indent="0">
              <a:buNone/>
            </a:pPr>
            <a:r>
              <a:rPr lang="en-US" altLang="zh-CN" sz="2800" dirty="0"/>
              <a:t>[</a:t>
            </a:r>
            <a:r>
              <a:rPr lang="zh-CN" altLang="en-US" sz="2800" dirty="0"/>
              <a:t>例</a:t>
            </a:r>
            <a:r>
              <a:rPr lang="en-US" altLang="zh-CN" sz="2800" dirty="0"/>
              <a:t>] Student(</a:t>
            </a:r>
            <a:r>
              <a:rPr lang="en-US" altLang="zh-CN" sz="2800" dirty="0" err="1">
                <a:solidFill>
                  <a:srgbClr val="0000FF"/>
                </a:solidFill>
              </a:rPr>
              <a:t>Sno</a:t>
            </a:r>
            <a:r>
              <a:rPr lang="en-US" altLang="zh-CN" sz="2800" dirty="0"/>
              <a:t>, </a:t>
            </a:r>
            <a:r>
              <a:rPr lang="en-US" altLang="zh-CN" sz="2800" dirty="0" err="1">
                <a:solidFill>
                  <a:srgbClr val="0000FF"/>
                </a:solidFill>
              </a:rPr>
              <a:t>Sname</a:t>
            </a:r>
            <a:r>
              <a:rPr lang="en-US" altLang="zh-CN" sz="2800" dirty="0"/>
              <a:t>, </a:t>
            </a:r>
            <a:r>
              <a:rPr lang="en-US" altLang="zh-CN" sz="2800" dirty="0" err="1"/>
              <a:t>Ssex</a:t>
            </a:r>
            <a:r>
              <a:rPr lang="en-US" altLang="zh-CN" sz="2800" dirty="0"/>
              <a:t>, Sage, </a:t>
            </a:r>
            <a:r>
              <a:rPr lang="en-US" altLang="zh-CN" sz="2800" dirty="0" err="1"/>
              <a:t>Sdept</a:t>
            </a:r>
            <a:r>
              <a:rPr lang="en-US" altLang="zh-CN" sz="2800" dirty="0"/>
              <a:t>), </a:t>
            </a:r>
          </a:p>
          <a:p>
            <a:pPr marL="0" indent="0">
              <a:buNone/>
            </a:pPr>
            <a:r>
              <a:rPr lang="zh-CN" altLang="en-US" sz="2800" u="sng" dirty="0">
                <a:solidFill>
                  <a:srgbClr val="0000FF"/>
                </a:solidFill>
              </a:rPr>
              <a:t>假设不允许重名</a:t>
            </a:r>
            <a:r>
              <a:rPr lang="zh-CN" altLang="en-US" sz="2800" dirty="0"/>
              <a:t>，则有</a:t>
            </a:r>
            <a:r>
              <a:rPr lang="en-US" altLang="zh-CN" sz="2800" dirty="0"/>
              <a:t>: </a:t>
            </a:r>
            <a:endParaRPr lang="zh-CN" altLang="en-US" sz="2800" dirty="0"/>
          </a:p>
          <a:p>
            <a:pPr marL="0" indent="0">
              <a:buNone/>
            </a:pPr>
            <a:r>
              <a:rPr lang="en-US" altLang="zh-CN" sz="2800" dirty="0" err="1"/>
              <a:t>Sno</a:t>
            </a:r>
            <a:r>
              <a:rPr lang="en-US" altLang="zh-CN" sz="2800" dirty="0"/>
              <a:t> → </a:t>
            </a:r>
            <a:r>
              <a:rPr lang="en-US" altLang="zh-CN" sz="2800" dirty="0" err="1"/>
              <a:t>Ssex</a:t>
            </a:r>
            <a:r>
              <a:rPr lang="zh-CN" altLang="en-US" sz="2800" dirty="0"/>
              <a:t>， </a:t>
            </a:r>
            <a:r>
              <a:rPr lang="en-US" altLang="zh-CN" sz="2800" dirty="0" err="1"/>
              <a:t>Sno</a:t>
            </a:r>
            <a:r>
              <a:rPr lang="en-US" altLang="zh-CN" sz="2800" dirty="0"/>
              <a:t> → Sage </a:t>
            </a:r>
          </a:p>
          <a:p>
            <a:pPr marL="0" indent="0">
              <a:buNone/>
            </a:pPr>
            <a:r>
              <a:rPr lang="en-US" altLang="zh-CN" sz="2800" dirty="0" err="1"/>
              <a:t>Sno</a:t>
            </a:r>
            <a:r>
              <a:rPr lang="en-US" altLang="zh-CN" sz="2800" dirty="0"/>
              <a:t> → </a:t>
            </a:r>
            <a:r>
              <a:rPr lang="en-US" altLang="zh-CN" sz="2800" dirty="0" err="1"/>
              <a:t>Sdept</a:t>
            </a:r>
            <a:r>
              <a:rPr lang="zh-CN" altLang="en-US" sz="2800" dirty="0"/>
              <a:t>， </a:t>
            </a:r>
            <a:r>
              <a:rPr lang="en-US" altLang="zh-CN" sz="2800" dirty="0" err="1">
                <a:solidFill>
                  <a:schemeClr val="tx2"/>
                </a:solidFill>
              </a:rPr>
              <a:t>Sno</a:t>
            </a:r>
            <a:r>
              <a:rPr lang="en-US" altLang="zh-CN" sz="2800" dirty="0">
                <a:solidFill>
                  <a:schemeClr val="tx2"/>
                </a:solidFill>
              </a:rPr>
              <a:t> → </a:t>
            </a:r>
            <a:r>
              <a:rPr lang="en-US" altLang="zh-CN" sz="2800" dirty="0" err="1">
                <a:solidFill>
                  <a:srgbClr val="0000FF"/>
                </a:solidFill>
              </a:rPr>
              <a:t>Sname</a:t>
            </a:r>
            <a:r>
              <a:rPr lang="en-US" altLang="zh-CN" sz="2800" dirty="0">
                <a:solidFill>
                  <a:srgbClr val="0000FF"/>
                </a:solidFill>
              </a:rPr>
              <a:t> </a:t>
            </a:r>
          </a:p>
          <a:p>
            <a:pPr marL="0" indent="0">
              <a:buNone/>
            </a:pPr>
            <a:r>
              <a:rPr lang="en-US" altLang="zh-CN" sz="2800" dirty="0" err="1">
                <a:solidFill>
                  <a:srgbClr val="0000FF"/>
                </a:solidFill>
              </a:rPr>
              <a:t>Sname</a:t>
            </a:r>
            <a:r>
              <a:rPr lang="en-US" altLang="zh-CN" sz="2800" dirty="0"/>
              <a:t> → </a:t>
            </a:r>
            <a:r>
              <a:rPr lang="en-US" altLang="zh-CN" sz="2800" dirty="0" err="1"/>
              <a:t>Ssex</a:t>
            </a:r>
            <a:r>
              <a:rPr lang="zh-CN" altLang="en-US" sz="2800" dirty="0"/>
              <a:t>， </a:t>
            </a:r>
            <a:r>
              <a:rPr lang="en-US" altLang="zh-CN" sz="2800" dirty="0" err="1">
                <a:solidFill>
                  <a:srgbClr val="0000FF"/>
                </a:solidFill>
              </a:rPr>
              <a:t>Sname</a:t>
            </a:r>
            <a:r>
              <a:rPr lang="en-US" altLang="zh-CN" sz="2800" dirty="0"/>
              <a:t> → Sage </a:t>
            </a:r>
          </a:p>
          <a:p>
            <a:pPr marL="0" indent="0">
              <a:buNone/>
            </a:pPr>
            <a:r>
              <a:rPr lang="en-US" altLang="zh-CN" sz="2800" dirty="0" err="1">
                <a:solidFill>
                  <a:srgbClr val="0000FF"/>
                </a:solidFill>
              </a:rPr>
              <a:t>Sname</a:t>
            </a:r>
            <a:r>
              <a:rPr lang="en-US" altLang="zh-CN" sz="2800" dirty="0"/>
              <a:t> → </a:t>
            </a:r>
            <a:r>
              <a:rPr lang="en-US" altLang="zh-CN" sz="2800" dirty="0" err="1"/>
              <a:t>Sdept</a:t>
            </a:r>
            <a:r>
              <a:rPr lang="zh-CN" altLang="en-US" sz="2800" dirty="0"/>
              <a:t>，</a:t>
            </a:r>
            <a:r>
              <a:rPr lang="en-US" altLang="zh-CN" sz="2800" dirty="0"/>
              <a:t> </a:t>
            </a:r>
            <a:r>
              <a:rPr lang="en-US" altLang="zh-CN" sz="2800" dirty="0" err="1">
                <a:solidFill>
                  <a:srgbClr val="0000FF"/>
                </a:solidFill>
              </a:rPr>
              <a:t>Sname</a:t>
            </a:r>
            <a:r>
              <a:rPr lang="en-US" altLang="zh-CN" sz="2800" dirty="0">
                <a:solidFill>
                  <a:schemeClr val="tx2"/>
                </a:solidFill>
              </a:rPr>
              <a:t> → </a:t>
            </a:r>
            <a:r>
              <a:rPr lang="en-US" altLang="zh-CN" sz="2800" dirty="0" err="1">
                <a:solidFill>
                  <a:schemeClr val="tx2"/>
                </a:solidFill>
              </a:rPr>
              <a:t>Sno</a:t>
            </a:r>
            <a:endParaRPr lang="en-US" altLang="zh-CN" sz="2800" dirty="0">
              <a:solidFill>
                <a:schemeClr val="tx2"/>
              </a:solidFill>
            </a:endParaRPr>
          </a:p>
          <a:p>
            <a:pPr marL="0" indent="0">
              <a:buNone/>
            </a:pPr>
            <a:r>
              <a:rPr lang="zh-CN" altLang="en-US" sz="2800" dirty="0"/>
              <a:t>但</a:t>
            </a:r>
            <a:r>
              <a:rPr lang="en-US" altLang="zh-CN" sz="2800" dirty="0" err="1"/>
              <a:t>Ssex</a:t>
            </a:r>
            <a:r>
              <a:rPr lang="en-US" altLang="zh-CN" sz="2800" dirty="0"/>
              <a:t> →Sage, </a:t>
            </a:r>
            <a:r>
              <a:rPr lang="en-US" altLang="zh-CN" sz="2800" dirty="0" err="1"/>
              <a:t>Ssex</a:t>
            </a:r>
            <a:r>
              <a:rPr lang="en-US" altLang="zh-CN" sz="2800" dirty="0"/>
              <a:t>→ </a:t>
            </a:r>
            <a:r>
              <a:rPr lang="en-US" altLang="zh-CN" sz="2800" dirty="0" err="1"/>
              <a:t>Sdept</a:t>
            </a:r>
            <a:r>
              <a:rPr lang="en-US" altLang="zh-CN" b="1" dirty="0"/>
              <a:t> </a:t>
            </a:r>
            <a:endParaRPr lang="zh-CN" altLang="en-US" dirty="0"/>
          </a:p>
        </p:txBody>
      </p:sp>
      <p:sp>
        <p:nvSpPr>
          <p:cNvPr id="4" name="日期占位符 3"/>
          <p:cNvSpPr>
            <a:spLocks noGrp="1"/>
          </p:cNvSpPr>
          <p:nvPr>
            <p:ph type="dt" sz="half" idx="10"/>
          </p:nvPr>
        </p:nvSpPr>
        <p:spPr/>
        <p:txBody>
          <a:bodyPr/>
          <a:lstStyle/>
          <a:p>
            <a:fld id="{07DE5097-4959-4B4D-A0A8-F09CFD15FAE2}" type="datetime1">
              <a:rPr lang="zh-CN" altLang="en-US" smtClean="0"/>
              <a:t>2025/11/6</a:t>
            </a:fld>
            <a:endParaRPr lang="en-US" altLang="zh-CN"/>
          </a:p>
        </p:txBody>
      </p:sp>
      <p:cxnSp>
        <p:nvCxnSpPr>
          <p:cNvPr id="8" name="直接连接符 7"/>
          <p:cNvCxnSpPr/>
          <p:nvPr/>
        </p:nvCxnSpPr>
        <p:spPr bwMode="auto">
          <a:xfrm>
            <a:off x="1905000" y="4724400"/>
            <a:ext cx="228600" cy="3048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接连接符 8"/>
          <p:cNvCxnSpPr/>
          <p:nvPr/>
        </p:nvCxnSpPr>
        <p:spPr bwMode="auto">
          <a:xfrm>
            <a:off x="3962400" y="4724400"/>
            <a:ext cx="228600" cy="3048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 name="页脚占位符 4">
            <a:extLst>
              <a:ext uri="{FF2B5EF4-FFF2-40B4-BE49-F238E27FC236}">
                <a16:creationId xmlns:a16="http://schemas.microsoft.com/office/drawing/2014/main" id="{A9D8BA84-AE8A-A2DE-D4CA-75512E14B267}"/>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CD2A957D-94EB-E5E7-CD6A-3C12E9E1FA8D}"/>
              </a:ext>
            </a:extLst>
          </p:cNvPr>
          <p:cNvSpPr>
            <a:spLocks noGrp="1"/>
          </p:cNvSpPr>
          <p:nvPr>
            <p:ph type="sldNum" sz="quarter" idx="12"/>
          </p:nvPr>
        </p:nvSpPr>
        <p:spPr/>
        <p:txBody>
          <a:bodyPr/>
          <a:lstStyle/>
          <a:p>
            <a:fld id="{A2D74603-B40B-4D66-8F6E-41C870D48932}" type="slidenum">
              <a:rPr lang="en-US" altLang="zh-CN" smtClean="0"/>
              <a:pPr/>
              <a:t>19</a:t>
            </a:fld>
            <a:r>
              <a:rPr lang="en-US" altLang="zh-CN"/>
              <a:t>/162</a:t>
            </a:r>
            <a:endParaRPr lang="en-US" altLang="zh-CN" dirty="0"/>
          </a:p>
        </p:txBody>
      </p:sp>
    </p:spTree>
    <p:extLst>
      <p:ext uri="{BB962C8B-B14F-4D97-AF65-F5344CB8AC3E}">
        <p14:creationId xmlns:p14="http://schemas.microsoft.com/office/powerpoint/2010/main" val="20306672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 calcmode="lin" valueType="num">
                                      <p:cBhvr additive="base">
                                        <p:cTn id="1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half" idx="10"/>
          </p:nvPr>
        </p:nvSpPr>
        <p:spPr/>
        <p:txBody>
          <a:bodyPr/>
          <a:lstStyle/>
          <a:p>
            <a:fld id="{984F80D5-B55A-4D60-AC76-9E527140AC05}" type="datetime1">
              <a:rPr lang="zh-CN" altLang="en-US" smtClean="0"/>
              <a:t>2025/11/6</a:t>
            </a:fld>
            <a:endParaRPr lang="en-US" altLang="zh-CN"/>
          </a:p>
        </p:txBody>
      </p:sp>
      <p:sp>
        <p:nvSpPr>
          <p:cNvPr id="270338" name="Rectangle 2"/>
          <p:cNvSpPr>
            <a:spLocks noGrp="1" noChangeArrowheads="1"/>
          </p:cNvSpPr>
          <p:nvPr>
            <p:ph type="title"/>
          </p:nvPr>
        </p:nvSpPr>
        <p:spPr/>
        <p:txBody>
          <a:bodyPr/>
          <a:lstStyle/>
          <a:p>
            <a:r>
              <a:rPr lang="en-US" altLang="zh-CN" dirty="0"/>
              <a:t>8.2.1 </a:t>
            </a:r>
            <a:r>
              <a:rPr lang="zh-CN" altLang="en-US" dirty="0"/>
              <a:t>函数依赖</a:t>
            </a:r>
          </a:p>
        </p:txBody>
      </p:sp>
      <p:sp>
        <p:nvSpPr>
          <p:cNvPr id="270339" name="Rectangle 3"/>
          <p:cNvSpPr>
            <a:spLocks noGrp="1" noChangeArrowheads="1"/>
          </p:cNvSpPr>
          <p:nvPr>
            <p:ph type="body" idx="1"/>
          </p:nvPr>
        </p:nvSpPr>
        <p:spPr/>
        <p:txBody>
          <a:bodyPr/>
          <a:lstStyle/>
          <a:p>
            <a:r>
              <a:rPr lang="zh-CN" altLang="en-US" dirty="0"/>
              <a:t>若</a:t>
            </a:r>
            <a:r>
              <a:rPr lang="en-US" altLang="zh-CN" dirty="0"/>
              <a:t>X→Y</a:t>
            </a:r>
            <a:r>
              <a:rPr lang="zh-CN" altLang="en-US" dirty="0"/>
              <a:t>，则</a:t>
            </a:r>
            <a:r>
              <a:rPr lang="en-US" altLang="zh-CN" dirty="0"/>
              <a:t>X</a:t>
            </a:r>
            <a:r>
              <a:rPr lang="zh-CN" altLang="en-US" dirty="0"/>
              <a:t>叫做</a:t>
            </a:r>
            <a:r>
              <a:rPr lang="zh-CN" altLang="en-US" dirty="0">
                <a:solidFill>
                  <a:srgbClr val="0000FF"/>
                </a:solidFill>
              </a:rPr>
              <a:t>决定因素</a:t>
            </a:r>
            <a:r>
              <a:rPr lang="en-US" altLang="zh-CN" dirty="0">
                <a:solidFill>
                  <a:srgbClr val="000080"/>
                </a:solidFill>
              </a:rPr>
              <a:t>(Determinant)</a:t>
            </a:r>
            <a:r>
              <a:rPr lang="zh-CN" altLang="en-US" dirty="0">
                <a:solidFill>
                  <a:srgbClr val="000080"/>
                </a:solidFill>
              </a:rPr>
              <a:t>。 </a:t>
            </a:r>
            <a:br>
              <a:rPr lang="zh-CN" altLang="en-US" dirty="0">
                <a:solidFill>
                  <a:srgbClr val="000080"/>
                </a:solidFill>
              </a:rPr>
            </a:br>
            <a:r>
              <a:rPr lang="zh-CN" altLang="en-US" dirty="0"/>
              <a:t>若</a:t>
            </a:r>
            <a:r>
              <a:rPr lang="en-US" altLang="zh-CN" dirty="0"/>
              <a:t>X→Y</a:t>
            </a:r>
            <a:r>
              <a:rPr lang="zh-CN" altLang="en-US" dirty="0"/>
              <a:t>，</a:t>
            </a:r>
            <a:r>
              <a:rPr lang="en-US" altLang="zh-CN" dirty="0"/>
              <a:t>Y→X</a:t>
            </a:r>
            <a:r>
              <a:rPr lang="zh-CN" altLang="en-US" dirty="0"/>
              <a:t>，则记作</a:t>
            </a:r>
            <a:r>
              <a:rPr lang="en-US" altLang="zh-CN" dirty="0">
                <a:solidFill>
                  <a:srgbClr val="0000FF"/>
                </a:solidFill>
              </a:rPr>
              <a:t>X</a:t>
            </a:r>
            <a:r>
              <a:rPr lang="en-US" altLang="zh-CN" dirty="0">
                <a:solidFill>
                  <a:srgbClr val="C00000"/>
                </a:solidFill>
              </a:rPr>
              <a:t>←→</a:t>
            </a:r>
            <a:r>
              <a:rPr lang="en-US" altLang="zh-CN" dirty="0">
                <a:solidFill>
                  <a:srgbClr val="0000FF"/>
                </a:solidFill>
              </a:rPr>
              <a:t>Y</a:t>
            </a:r>
            <a:r>
              <a:rPr lang="zh-CN" altLang="en-US" dirty="0">
                <a:solidFill>
                  <a:srgbClr val="000080"/>
                </a:solidFill>
              </a:rPr>
              <a:t>。</a:t>
            </a:r>
          </a:p>
          <a:p>
            <a:pPr lvl="1"/>
            <a:r>
              <a:rPr lang="zh-CN" altLang="en-US" dirty="0"/>
              <a:t>在这种情况下，</a:t>
            </a:r>
            <a:r>
              <a:rPr lang="en-US" altLang="zh-CN" dirty="0"/>
              <a:t>X</a:t>
            </a:r>
            <a:r>
              <a:rPr lang="zh-CN" altLang="en-US" dirty="0"/>
              <a:t>和</a:t>
            </a:r>
            <a:r>
              <a:rPr lang="en-US" altLang="zh-CN" dirty="0"/>
              <a:t>Y</a:t>
            </a:r>
            <a:r>
              <a:rPr lang="zh-CN" altLang="en-US" dirty="0"/>
              <a:t>在</a:t>
            </a:r>
            <a:r>
              <a:rPr lang="en-US" altLang="zh-CN" dirty="0"/>
              <a:t>R(U)</a:t>
            </a:r>
            <a:r>
              <a:rPr lang="zh-CN" altLang="en-US" dirty="0"/>
              <a:t>中</a:t>
            </a:r>
            <a:r>
              <a:rPr lang="zh-CN" altLang="en-US" dirty="0">
                <a:solidFill>
                  <a:srgbClr val="C00000"/>
                </a:solidFill>
              </a:rPr>
              <a:t>地位相同</a:t>
            </a:r>
            <a:r>
              <a:rPr lang="zh-CN" altLang="en-US" dirty="0"/>
              <a:t>。</a:t>
            </a:r>
            <a:endParaRPr lang="en-US" altLang="zh-CN" dirty="0"/>
          </a:p>
          <a:p>
            <a:pPr lvl="1"/>
            <a:r>
              <a:rPr lang="en-US" altLang="zh-CN" dirty="0"/>
              <a:t>Student </a:t>
            </a:r>
            <a:r>
              <a:rPr lang="zh-CN" altLang="en-US" dirty="0"/>
              <a:t>表，如果</a:t>
            </a:r>
            <a:r>
              <a:rPr lang="en-US" altLang="zh-CN" dirty="0" err="1"/>
              <a:t>Sname</a:t>
            </a:r>
            <a:r>
              <a:rPr lang="zh-CN" altLang="en-US" dirty="0"/>
              <a:t>取值唯一，</a:t>
            </a:r>
            <a:endParaRPr lang="en-US" altLang="zh-CN" dirty="0"/>
          </a:p>
          <a:p>
            <a:pPr marL="457200" lvl="1" indent="0">
              <a:buNone/>
            </a:pPr>
            <a:r>
              <a:rPr lang="en-US" altLang="zh-CN" dirty="0"/>
              <a:t>   </a:t>
            </a:r>
            <a:r>
              <a:rPr lang="zh-CN" altLang="en-US" dirty="0"/>
              <a:t>则</a:t>
            </a:r>
            <a:r>
              <a:rPr lang="en-US" altLang="zh-CN" dirty="0" err="1"/>
              <a:t>Sno</a:t>
            </a:r>
            <a:r>
              <a:rPr lang="en-US" altLang="zh-CN" b="1" dirty="0">
                <a:solidFill>
                  <a:srgbClr val="C00000"/>
                </a:solidFill>
              </a:rPr>
              <a:t>←→</a:t>
            </a:r>
            <a:r>
              <a:rPr lang="en-US" altLang="zh-CN" dirty="0"/>
              <a:t> </a:t>
            </a:r>
            <a:r>
              <a:rPr lang="en-US" altLang="zh-CN" dirty="0" err="1"/>
              <a:t>Sname</a:t>
            </a:r>
            <a:endParaRPr lang="zh-CN" altLang="en-US" dirty="0"/>
          </a:p>
          <a:p>
            <a:pPr lvl="1"/>
            <a:endParaRPr lang="zh-CN" altLang="en-US" dirty="0">
              <a:solidFill>
                <a:srgbClr val="000080"/>
              </a:solidFill>
            </a:endParaRPr>
          </a:p>
          <a:p>
            <a:r>
              <a:rPr lang="zh-CN" altLang="en-US" dirty="0"/>
              <a:t>若</a:t>
            </a:r>
            <a:r>
              <a:rPr lang="en-US" altLang="zh-CN" dirty="0"/>
              <a:t>Y</a:t>
            </a:r>
            <a:r>
              <a:rPr lang="zh-CN" altLang="en-US" dirty="0"/>
              <a:t>不函数依赖于</a:t>
            </a:r>
            <a:r>
              <a:rPr lang="en-US" altLang="zh-CN" dirty="0"/>
              <a:t>X</a:t>
            </a:r>
            <a:r>
              <a:rPr lang="zh-CN" altLang="en-US" dirty="0"/>
              <a:t>，则记作</a:t>
            </a:r>
            <a:r>
              <a:rPr lang="en-US" altLang="zh-CN" dirty="0">
                <a:solidFill>
                  <a:srgbClr val="000080"/>
                </a:solidFill>
              </a:rPr>
              <a:t>X → Y</a:t>
            </a:r>
            <a:r>
              <a:rPr lang="zh-CN" altLang="en-US" dirty="0"/>
              <a:t>。</a:t>
            </a:r>
          </a:p>
        </p:txBody>
      </p:sp>
      <p:sp>
        <p:nvSpPr>
          <p:cNvPr id="270340" name="Line 4"/>
          <p:cNvSpPr>
            <a:spLocks noChangeShapeType="1"/>
          </p:cNvSpPr>
          <p:nvPr/>
        </p:nvSpPr>
        <p:spPr bwMode="auto">
          <a:xfrm>
            <a:off x="6432630" y="4714884"/>
            <a:ext cx="152400" cy="381000"/>
          </a:xfrm>
          <a:prstGeom prst="line">
            <a:avLst/>
          </a:prstGeom>
          <a:noFill/>
          <a:ln w="22225">
            <a:solidFill>
              <a:schemeClr val="tx2">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 name="页脚占位符 2">
            <a:extLst>
              <a:ext uri="{FF2B5EF4-FFF2-40B4-BE49-F238E27FC236}">
                <a16:creationId xmlns:a16="http://schemas.microsoft.com/office/drawing/2014/main" id="{BB19D90E-5D01-454A-6528-651235A9FA40}"/>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FAB7C4D5-42B5-5F4A-163C-504E9802914A}"/>
              </a:ext>
            </a:extLst>
          </p:cNvPr>
          <p:cNvSpPr>
            <a:spLocks noGrp="1"/>
          </p:cNvSpPr>
          <p:nvPr>
            <p:ph type="sldNum" sz="quarter" idx="12"/>
          </p:nvPr>
        </p:nvSpPr>
        <p:spPr/>
        <p:txBody>
          <a:bodyPr/>
          <a:lstStyle/>
          <a:p>
            <a:fld id="{A2D74603-B40B-4D66-8F6E-41C870D48932}" type="slidenum">
              <a:rPr lang="en-US" altLang="zh-CN" smtClean="0"/>
              <a:pPr/>
              <a:t>20</a:t>
            </a:fld>
            <a:r>
              <a:rPr lang="en-US" altLang="zh-CN"/>
              <a:t>/162</a:t>
            </a:r>
            <a:endParaRPr lang="en-US" altLang="zh-CN"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70339">
                                            <p:txEl>
                                              <p:pRg st="2" end="2"/>
                                            </p:txEl>
                                          </p:spTgt>
                                        </p:tgtEl>
                                        <p:attrNameLst>
                                          <p:attrName>style.visibility</p:attrName>
                                        </p:attrNameLst>
                                      </p:cBhvr>
                                      <p:to>
                                        <p:strVal val="visible"/>
                                      </p:to>
                                    </p:set>
                                    <p:anim calcmode="lin" valueType="num">
                                      <p:cBhvr additive="base">
                                        <p:cTn id="7" dur="500" fill="hold"/>
                                        <p:tgtEl>
                                          <p:spTgt spid="270339">
                                            <p:txEl>
                                              <p:pRg st="2" end="2"/>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70339">
                                            <p:txEl>
                                              <p:pRg st="2" end="2"/>
                                            </p:txEl>
                                          </p:spTgt>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270339">
                                            <p:txEl>
                                              <p:pRg st="3" end="3"/>
                                            </p:txEl>
                                          </p:spTgt>
                                        </p:tgtEl>
                                        <p:attrNameLst>
                                          <p:attrName>style.visibility</p:attrName>
                                        </p:attrNameLst>
                                      </p:cBhvr>
                                      <p:to>
                                        <p:strVal val="visible"/>
                                      </p:to>
                                    </p:set>
                                    <p:anim calcmode="lin" valueType="num">
                                      <p:cBhvr additive="base">
                                        <p:cTn id="11" dur="500" fill="hold"/>
                                        <p:tgtEl>
                                          <p:spTgt spid="270339">
                                            <p:txEl>
                                              <p:pRg st="3" end="3"/>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7033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70339">
                                            <p:txEl>
                                              <p:pRg st="5" end="5"/>
                                            </p:txEl>
                                          </p:spTgt>
                                        </p:tgtEl>
                                        <p:attrNameLst>
                                          <p:attrName>style.visibility</p:attrName>
                                        </p:attrNameLst>
                                      </p:cBhvr>
                                      <p:to>
                                        <p:strVal val="visible"/>
                                      </p:to>
                                    </p:set>
                                    <p:anim calcmode="lin" valueType="num">
                                      <p:cBhvr additive="base">
                                        <p:cTn id="17" dur="500" fill="hold"/>
                                        <p:tgtEl>
                                          <p:spTgt spid="270339">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70339">
                                            <p:txEl>
                                              <p:pRg st="5" end="5"/>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70340"/>
                                        </p:tgtEl>
                                        <p:attrNameLst>
                                          <p:attrName>style.visibility</p:attrName>
                                        </p:attrNameLst>
                                      </p:cBhvr>
                                      <p:to>
                                        <p:strVal val="visible"/>
                                      </p:to>
                                    </p:set>
                                    <p:anim calcmode="lin" valueType="num">
                                      <p:cBhvr additive="base">
                                        <p:cTn id="21" dur="500" fill="hold"/>
                                        <p:tgtEl>
                                          <p:spTgt spid="270340"/>
                                        </p:tgtEl>
                                        <p:attrNameLst>
                                          <p:attrName>ppt_x</p:attrName>
                                        </p:attrNameLst>
                                      </p:cBhvr>
                                      <p:tavLst>
                                        <p:tav tm="0">
                                          <p:val>
                                            <p:strVal val="#ppt_x"/>
                                          </p:val>
                                        </p:tav>
                                        <p:tav tm="100000">
                                          <p:val>
                                            <p:strVal val="#ppt_x"/>
                                          </p:val>
                                        </p:tav>
                                      </p:tavLst>
                                    </p:anim>
                                    <p:anim calcmode="lin" valueType="num">
                                      <p:cBhvr additive="base">
                                        <p:cTn id="22" dur="500" fill="hold"/>
                                        <p:tgtEl>
                                          <p:spTgt spid="2703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34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half" idx="10"/>
          </p:nvPr>
        </p:nvSpPr>
        <p:spPr/>
        <p:txBody>
          <a:bodyPr/>
          <a:lstStyle/>
          <a:p>
            <a:fld id="{FA915552-1DD8-4448-AFF7-08E83FDA0FD4}" type="datetime1">
              <a:rPr lang="zh-CN" altLang="en-US" smtClean="0"/>
              <a:t>2025/11/6</a:t>
            </a:fld>
            <a:endParaRPr lang="en-US" altLang="zh-CN"/>
          </a:p>
        </p:txBody>
      </p:sp>
      <p:sp>
        <p:nvSpPr>
          <p:cNvPr id="270338" name="Rectangle 2"/>
          <p:cNvSpPr>
            <a:spLocks noGrp="1" noChangeArrowheads="1"/>
          </p:cNvSpPr>
          <p:nvPr>
            <p:ph type="title"/>
          </p:nvPr>
        </p:nvSpPr>
        <p:spPr/>
        <p:txBody>
          <a:bodyPr/>
          <a:lstStyle/>
          <a:p>
            <a:r>
              <a:rPr lang="en-US" altLang="zh-CN" dirty="0"/>
              <a:t>8.2.1 </a:t>
            </a:r>
            <a:r>
              <a:rPr lang="zh-CN" altLang="en-US" dirty="0"/>
              <a:t>函数依赖</a:t>
            </a:r>
          </a:p>
        </p:txBody>
      </p:sp>
      <p:pic>
        <p:nvPicPr>
          <p:cNvPr id="1229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1" y="1916832"/>
            <a:ext cx="7945560" cy="3574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640" y="2989874"/>
            <a:ext cx="533400" cy="4078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bwMode="auto">
          <a:xfrm>
            <a:off x="1219200" y="2420888"/>
            <a:ext cx="2514600" cy="1008112"/>
          </a:xfrm>
          <a:prstGeom prst="rect">
            <a:avLst/>
          </a:prstGeom>
          <a:noFill/>
          <a:ln w="34925" cap="flat" cmpd="sng" algn="ctr">
            <a:solidFill>
              <a:srgbClr val="FF0000"/>
            </a:solidFill>
            <a:prstDash val="dashDot"/>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sp>
        <p:nvSpPr>
          <p:cNvPr id="8" name="圆角矩形标注 7"/>
          <p:cNvSpPr/>
          <p:nvPr/>
        </p:nvSpPr>
        <p:spPr bwMode="auto">
          <a:xfrm>
            <a:off x="4184924" y="1056817"/>
            <a:ext cx="3130275" cy="619583"/>
          </a:xfrm>
          <a:prstGeom prst="wedgeRoundRectCallout">
            <a:avLst>
              <a:gd name="adj1" fmla="val -63191"/>
              <a:gd name="adj2" fmla="val 228885"/>
              <a:gd name="adj3" fmla="val 16667"/>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r>
              <a:rPr lang="zh-CN" altLang="en-US" dirty="0"/>
              <a:t>违背了</a:t>
            </a:r>
            <a:r>
              <a:rPr lang="en-US" altLang="zh-CN" dirty="0" err="1"/>
              <a:t>Sno</a:t>
            </a:r>
            <a:r>
              <a:rPr lang="en-US" altLang="zh-CN" dirty="0"/>
              <a:t> → </a:t>
            </a:r>
            <a:r>
              <a:rPr lang="en-US" altLang="zh-CN" dirty="0" err="1"/>
              <a:t>Sname</a:t>
            </a:r>
            <a:endParaRPr kumimoji="1" lang="zh-CN" altLang="en-US" sz="2400" b="0" i="0" u="none" strike="noStrike" cap="none" normalizeH="0" baseline="0" dirty="0">
              <a:ln>
                <a:noFill/>
              </a:ln>
              <a:solidFill>
                <a:schemeClr val="tx1"/>
              </a:solidFill>
              <a:effectLst/>
              <a:latin typeface="Tahoma" pitchFamily="34" charset="0"/>
              <a:ea typeface="宋体" pitchFamily="2" charset="-122"/>
              <a:cs typeface="Arial" charset="0"/>
            </a:endParaRPr>
          </a:p>
        </p:txBody>
      </p:sp>
      <p:sp>
        <p:nvSpPr>
          <p:cNvPr id="4" name="页脚占位符 3">
            <a:extLst>
              <a:ext uri="{FF2B5EF4-FFF2-40B4-BE49-F238E27FC236}">
                <a16:creationId xmlns:a16="http://schemas.microsoft.com/office/drawing/2014/main" id="{6209A265-737B-91A4-762C-02C1F059F398}"/>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43225C6E-0AFD-2127-A4AC-E04874ABBCD1}"/>
              </a:ext>
            </a:extLst>
          </p:cNvPr>
          <p:cNvSpPr>
            <a:spLocks noGrp="1"/>
          </p:cNvSpPr>
          <p:nvPr>
            <p:ph type="sldNum" sz="quarter" idx="12"/>
          </p:nvPr>
        </p:nvSpPr>
        <p:spPr/>
        <p:txBody>
          <a:bodyPr/>
          <a:lstStyle/>
          <a:p>
            <a:fld id="{A2D74603-B40B-4D66-8F6E-41C870D48932}" type="slidenum">
              <a:rPr lang="en-US" altLang="zh-CN" smtClean="0"/>
              <a:pPr/>
              <a:t>21</a:t>
            </a:fld>
            <a:r>
              <a:rPr lang="en-US" altLang="zh-CN"/>
              <a:t>/162</a:t>
            </a:r>
            <a:endParaRPr lang="en-US" altLang="zh-CN" dirty="0"/>
          </a:p>
        </p:txBody>
      </p:sp>
    </p:spTree>
    <p:extLst>
      <p:ext uri="{BB962C8B-B14F-4D97-AF65-F5344CB8AC3E}">
        <p14:creationId xmlns:p14="http://schemas.microsoft.com/office/powerpoint/2010/main" val="10344968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barn(inVertical)">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half" idx="10"/>
          </p:nvPr>
        </p:nvSpPr>
        <p:spPr/>
        <p:txBody>
          <a:bodyPr/>
          <a:lstStyle/>
          <a:p>
            <a:fld id="{2B980517-3F58-4C72-848E-0414741A51E1}" type="datetime1">
              <a:rPr lang="zh-CN" altLang="en-US" smtClean="0"/>
              <a:t>2025/11/6</a:t>
            </a:fld>
            <a:endParaRPr lang="en-US" altLang="zh-CN"/>
          </a:p>
        </p:txBody>
      </p:sp>
      <p:sp>
        <p:nvSpPr>
          <p:cNvPr id="270338" name="Rectangle 2"/>
          <p:cNvSpPr>
            <a:spLocks noGrp="1" noChangeArrowheads="1"/>
          </p:cNvSpPr>
          <p:nvPr>
            <p:ph type="title"/>
          </p:nvPr>
        </p:nvSpPr>
        <p:spPr/>
        <p:txBody>
          <a:bodyPr/>
          <a:lstStyle/>
          <a:p>
            <a:r>
              <a:rPr lang="en-US" altLang="zh-CN" dirty="0"/>
              <a:t>8.2.1 </a:t>
            </a:r>
            <a:r>
              <a:rPr lang="zh-CN" altLang="en-US" dirty="0"/>
              <a:t>函数依赖</a:t>
            </a:r>
          </a:p>
        </p:txBody>
      </p:sp>
      <p:pic>
        <p:nvPicPr>
          <p:cNvPr id="1229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116" y="2012731"/>
            <a:ext cx="8141251" cy="3662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685800" y="1457980"/>
            <a:ext cx="8458200" cy="523220"/>
          </a:xfrm>
          <a:prstGeom prst="rect">
            <a:avLst/>
          </a:prstGeom>
        </p:spPr>
        <p:txBody>
          <a:bodyPr wrap="square">
            <a:spAutoFit/>
          </a:bodyPr>
          <a:lstStyle/>
          <a:p>
            <a:pPr algn="l"/>
            <a:r>
              <a:rPr lang="zh-CN" altLang="en-US" sz="2800" dirty="0"/>
              <a:t>由下面的关系表</a:t>
            </a:r>
            <a:r>
              <a:rPr lang="en-US" altLang="zh-CN" sz="2800" b="1" dirty="0"/>
              <a:t>, </a:t>
            </a:r>
            <a:r>
              <a:rPr lang="zh-CN" altLang="en-US" sz="2800" dirty="0"/>
              <a:t>能否得出</a:t>
            </a:r>
            <a:r>
              <a:rPr lang="en-US" altLang="zh-CN" sz="2800" b="1" dirty="0" err="1"/>
              <a:t>Sno</a:t>
            </a:r>
            <a:r>
              <a:rPr lang="en-US" altLang="zh-CN" sz="2800" b="1" dirty="0"/>
              <a:t> → </a:t>
            </a:r>
            <a:r>
              <a:rPr lang="en-US" altLang="zh-CN" sz="2800" b="1" dirty="0" err="1"/>
              <a:t>Sname</a:t>
            </a:r>
            <a:r>
              <a:rPr lang="en-US" altLang="zh-CN" sz="2800" b="1" dirty="0"/>
              <a:t> </a:t>
            </a:r>
            <a:endParaRPr lang="en-US" altLang="zh-CN" sz="2800" dirty="0"/>
          </a:p>
        </p:txBody>
      </p:sp>
      <p:sp>
        <p:nvSpPr>
          <p:cNvPr id="6" name="页脚占位符 5">
            <a:extLst>
              <a:ext uri="{FF2B5EF4-FFF2-40B4-BE49-F238E27FC236}">
                <a16:creationId xmlns:a16="http://schemas.microsoft.com/office/drawing/2014/main" id="{064DEC4D-3E4B-16D6-31DD-19A751A73F2A}"/>
              </a:ext>
            </a:extLst>
          </p:cNvPr>
          <p:cNvSpPr>
            <a:spLocks noGrp="1"/>
          </p:cNvSpPr>
          <p:nvPr>
            <p:ph type="ftr" sz="quarter" idx="11"/>
          </p:nvPr>
        </p:nvSpPr>
        <p:spPr/>
        <p:txBody>
          <a:bodyPr/>
          <a:lstStyle/>
          <a:p>
            <a:r>
              <a:rPr lang="en-US" altLang="zh-CN"/>
              <a:t>《数据库系统概论》- 第6章</a:t>
            </a:r>
          </a:p>
        </p:txBody>
      </p:sp>
      <p:sp>
        <p:nvSpPr>
          <p:cNvPr id="7" name="灯片编号占位符 6">
            <a:extLst>
              <a:ext uri="{FF2B5EF4-FFF2-40B4-BE49-F238E27FC236}">
                <a16:creationId xmlns:a16="http://schemas.microsoft.com/office/drawing/2014/main" id="{22A52594-8C87-DB72-CB36-1CDC216CD2C0}"/>
              </a:ext>
            </a:extLst>
          </p:cNvPr>
          <p:cNvSpPr>
            <a:spLocks noGrp="1"/>
          </p:cNvSpPr>
          <p:nvPr>
            <p:ph type="sldNum" sz="quarter" idx="12"/>
          </p:nvPr>
        </p:nvSpPr>
        <p:spPr/>
        <p:txBody>
          <a:bodyPr/>
          <a:lstStyle/>
          <a:p>
            <a:fld id="{A2D74603-B40B-4D66-8F6E-41C870D48932}" type="slidenum">
              <a:rPr lang="en-US" altLang="zh-CN" smtClean="0"/>
              <a:pPr/>
              <a:t>22</a:t>
            </a:fld>
            <a:r>
              <a:rPr lang="en-US" altLang="zh-CN"/>
              <a:t>/162</a:t>
            </a:r>
            <a:endParaRPr lang="en-US" altLang="zh-CN" dirty="0"/>
          </a:p>
        </p:txBody>
      </p:sp>
      <p:sp>
        <p:nvSpPr>
          <p:cNvPr id="4" name="矩形 3"/>
          <p:cNvSpPr/>
          <p:nvPr/>
        </p:nvSpPr>
        <p:spPr>
          <a:xfrm>
            <a:off x="304800" y="5874603"/>
            <a:ext cx="8686800" cy="83099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a:spAutoFit/>
          </a:bodyPr>
          <a:lstStyle/>
          <a:p>
            <a:pPr algn="l"/>
            <a:r>
              <a:rPr lang="zh-CN" altLang="en-US" b="1" dirty="0"/>
              <a:t>函数依赖</a:t>
            </a:r>
            <a:r>
              <a:rPr lang="zh-CN" altLang="en-US" b="1" dirty="0">
                <a:solidFill>
                  <a:srgbClr val="0000FF"/>
                </a:solidFill>
              </a:rPr>
              <a:t>不是</a:t>
            </a:r>
            <a:r>
              <a:rPr lang="zh-CN" altLang="en-US" b="1" dirty="0"/>
              <a:t>指关系模式</a:t>
            </a:r>
            <a:r>
              <a:rPr lang="en-US" altLang="zh-CN" b="1" dirty="0"/>
              <a:t>R</a:t>
            </a:r>
            <a:r>
              <a:rPr lang="zh-CN" altLang="en-US" b="1" dirty="0"/>
              <a:t>的</a:t>
            </a:r>
            <a:r>
              <a:rPr lang="zh-CN" altLang="en-US" b="1" dirty="0">
                <a:solidFill>
                  <a:srgbClr val="0000FF"/>
                </a:solidFill>
              </a:rPr>
              <a:t>某个</a:t>
            </a:r>
            <a:r>
              <a:rPr lang="zh-CN" altLang="en-US" b="1" dirty="0"/>
              <a:t>或</a:t>
            </a:r>
            <a:r>
              <a:rPr lang="zh-CN" altLang="en-US" b="1" dirty="0">
                <a:solidFill>
                  <a:srgbClr val="0000FF"/>
                </a:solidFill>
              </a:rPr>
              <a:t>某些关系实例</a:t>
            </a:r>
            <a:r>
              <a:rPr lang="zh-CN" altLang="en-US" b="1" dirty="0"/>
              <a:t>满足的约束条件，而是指</a:t>
            </a:r>
            <a:r>
              <a:rPr lang="en-US" altLang="zh-CN" b="1" dirty="0"/>
              <a:t>R</a:t>
            </a:r>
            <a:r>
              <a:rPr lang="zh-CN" altLang="en-US" b="1" dirty="0"/>
              <a:t>的</a:t>
            </a:r>
            <a:r>
              <a:rPr lang="zh-CN" altLang="en-US" b="1" dirty="0">
                <a:solidFill>
                  <a:srgbClr val="FF0000"/>
                </a:solidFill>
              </a:rPr>
              <a:t>所有</a:t>
            </a:r>
            <a:r>
              <a:rPr lang="zh-CN" altLang="en-US" b="1" dirty="0">
                <a:solidFill>
                  <a:srgbClr val="0000FF"/>
                </a:solidFill>
              </a:rPr>
              <a:t>关系实例</a:t>
            </a:r>
            <a:r>
              <a:rPr lang="zh-CN" altLang="en-US" b="1" dirty="0"/>
              <a:t>均要满足的约束条件。 </a:t>
            </a:r>
          </a:p>
        </p:txBody>
      </p:sp>
    </p:spTree>
    <p:extLst>
      <p:ext uri="{BB962C8B-B14F-4D97-AF65-F5344CB8AC3E}">
        <p14:creationId xmlns:p14="http://schemas.microsoft.com/office/powerpoint/2010/main" val="16577763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half" idx="10"/>
          </p:nvPr>
        </p:nvSpPr>
        <p:spPr/>
        <p:txBody>
          <a:bodyPr/>
          <a:lstStyle/>
          <a:p>
            <a:fld id="{59381914-FBB1-4D7F-BAD7-DC58F8206015}" type="datetime1">
              <a:rPr lang="zh-CN" altLang="en-US" smtClean="0"/>
              <a:t>2025/11/6</a:t>
            </a:fld>
            <a:endParaRPr lang="en-US" altLang="zh-CN"/>
          </a:p>
        </p:txBody>
      </p:sp>
      <p:sp>
        <p:nvSpPr>
          <p:cNvPr id="269314" name="Rectangle 2"/>
          <p:cNvSpPr>
            <a:spLocks noGrp="1" noChangeArrowheads="1"/>
          </p:cNvSpPr>
          <p:nvPr>
            <p:ph type="title"/>
          </p:nvPr>
        </p:nvSpPr>
        <p:spPr/>
        <p:txBody>
          <a:bodyPr/>
          <a:lstStyle/>
          <a:p>
            <a:r>
              <a:rPr lang="en-US" altLang="zh-CN" dirty="0"/>
              <a:t>8.2.1 </a:t>
            </a:r>
            <a:r>
              <a:rPr lang="zh-CN" altLang="en-US" dirty="0"/>
              <a:t>函数依赖</a:t>
            </a:r>
          </a:p>
        </p:txBody>
      </p:sp>
      <p:sp>
        <p:nvSpPr>
          <p:cNvPr id="269315" name="Rectangle 3"/>
          <p:cNvSpPr>
            <a:spLocks noGrp="1" noChangeArrowheads="1"/>
          </p:cNvSpPr>
          <p:nvPr>
            <p:ph type="body" idx="1"/>
          </p:nvPr>
        </p:nvSpPr>
        <p:spPr/>
        <p:txBody>
          <a:bodyPr/>
          <a:lstStyle/>
          <a:p>
            <a:r>
              <a:rPr lang="zh-CN" altLang="en-US" dirty="0">
                <a:solidFill>
                  <a:srgbClr val="C00000"/>
                </a:solidFill>
              </a:rPr>
              <a:t>函数依赖</a:t>
            </a:r>
            <a:r>
              <a:rPr lang="zh-CN" altLang="en-US" dirty="0"/>
              <a:t>是</a:t>
            </a:r>
            <a:r>
              <a:rPr lang="zh-CN" altLang="en-US" dirty="0">
                <a:solidFill>
                  <a:srgbClr val="0000FF"/>
                </a:solidFill>
              </a:rPr>
              <a:t>语义范畴</a:t>
            </a:r>
            <a:r>
              <a:rPr lang="zh-CN" altLang="en-US" dirty="0"/>
              <a:t>的概念，只能</a:t>
            </a:r>
            <a:r>
              <a:rPr lang="zh-CN" altLang="en-US" dirty="0">
                <a:solidFill>
                  <a:srgbClr val="0000FF"/>
                </a:solidFill>
              </a:rPr>
              <a:t>根据数据的语义</a:t>
            </a:r>
            <a:r>
              <a:rPr lang="zh-CN" altLang="en-US" dirty="0"/>
              <a:t>来确定一个函数依赖。</a:t>
            </a:r>
          </a:p>
          <a:p>
            <a:pPr lvl="1"/>
            <a:r>
              <a:rPr lang="zh-CN" altLang="en-US" dirty="0"/>
              <a:t>例如“姓名→年龄”这个函数依赖</a:t>
            </a:r>
            <a:r>
              <a:rPr lang="zh-CN" altLang="en-US" dirty="0">
                <a:solidFill>
                  <a:srgbClr val="0000FF"/>
                </a:solidFill>
              </a:rPr>
              <a:t>只有在</a:t>
            </a:r>
            <a:r>
              <a:rPr lang="zh-CN" altLang="en-US" b="1" dirty="0">
                <a:solidFill>
                  <a:srgbClr val="C00000"/>
                </a:solidFill>
              </a:rPr>
              <a:t>不允许有同名人</a:t>
            </a:r>
            <a:r>
              <a:rPr lang="zh-CN" altLang="en-US" dirty="0"/>
              <a:t>的条件下成立</a:t>
            </a:r>
          </a:p>
        </p:txBody>
      </p:sp>
      <p:sp>
        <p:nvSpPr>
          <p:cNvPr id="3" name="页脚占位符 2">
            <a:extLst>
              <a:ext uri="{FF2B5EF4-FFF2-40B4-BE49-F238E27FC236}">
                <a16:creationId xmlns:a16="http://schemas.microsoft.com/office/drawing/2014/main" id="{C8AA71AA-3486-83E1-9CBB-5C86F6C9D1DD}"/>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64838632-30D3-F43A-F76A-4291FD129924}"/>
              </a:ext>
            </a:extLst>
          </p:cNvPr>
          <p:cNvSpPr>
            <a:spLocks noGrp="1"/>
          </p:cNvSpPr>
          <p:nvPr>
            <p:ph type="sldNum" sz="quarter" idx="12"/>
          </p:nvPr>
        </p:nvSpPr>
        <p:spPr/>
        <p:txBody>
          <a:bodyPr/>
          <a:lstStyle/>
          <a:p>
            <a:fld id="{A2D74603-B40B-4D66-8F6E-41C870D48932}" type="slidenum">
              <a:rPr lang="en-US" altLang="zh-CN" smtClean="0"/>
              <a:pPr/>
              <a:t>23</a:t>
            </a:fld>
            <a:r>
              <a:rPr lang="en-US" altLang="zh-CN"/>
              <a:t>/162</a:t>
            </a:r>
            <a:endParaRPr lang="en-US" altLang="zh-CN" dirty="0"/>
          </a:p>
        </p:txBody>
      </p:sp>
    </p:spTree>
    <p:extLst>
      <p:ext uri="{BB962C8B-B14F-4D97-AF65-F5344CB8AC3E}">
        <p14:creationId xmlns:p14="http://schemas.microsoft.com/office/powerpoint/2010/main" val="519997365"/>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half" idx="10"/>
          </p:nvPr>
        </p:nvSpPr>
        <p:spPr/>
        <p:txBody>
          <a:bodyPr/>
          <a:lstStyle/>
          <a:p>
            <a:fld id="{A9F72C74-8624-4D70-BFF0-60F9E8F40D72}" type="datetime1">
              <a:rPr lang="zh-CN" altLang="en-US" smtClean="0"/>
              <a:t>2025/11/6</a:t>
            </a:fld>
            <a:endParaRPr lang="en-US" altLang="zh-CN"/>
          </a:p>
        </p:txBody>
      </p:sp>
      <p:sp>
        <p:nvSpPr>
          <p:cNvPr id="269314" name="Rectangle 2"/>
          <p:cNvSpPr>
            <a:spLocks noGrp="1" noChangeArrowheads="1"/>
          </p:cNvSpPr>
          <p:nvPr>
            <p:ph type="title"/>
          </p:nvPr>
        </p:nvSpPr>
        <p:spPr/>
        <p:txBody>
          <a:bodyPr/>
          <a:lstStyle/>
          <a:p>
            <a:r>
              <a:rPr lang="en-US" altLang="zh-CN" dirty="0"/>
              <a:t>8.2.1 </a:t>
            </a:r>
            <a:r>
              <a:rPr lang="zh-CN" altLang="en-US" dirty="0"/>
              <a:t>函数依赖</a:t>
            </a:r>
          </a:p>
        </p:txBody>
      </p:sp>
      <p:sp>
        <p:nvSpPr>
          <p:cNvPr id="269315" name="Rectangle 3"/>
          <p:cNvSpPr>
            <a:spLocks noGrp="1" noChangeArrowheads="1"/>
          </p:cNvSpPr>
          <p:nvPr>
            <p:ph type="body" idx="1"/>
          </p:nvPr>
        </p:nvSpPr>
        <p:spPr>
          <a:xfrm>
            <a:off x="609600" y="1447800"/>
            <a:ext cx="8345488" cy="5315129"/>
          </a:xfrm>
        </p:spPr>
        <p:txBody>
          <a:bodyPr/>
          <a:lstStyle/>
          <a:p>
            <a:r>
              <a:rPr lang="en-US" altLang="zh-CN" dirty="0">
                <a:solidFill>
                  <a:srgbClr val="0000FF"/>
                </a:solidFill>
              </a:rPr>
              <a:t>X→Y</a:t>
            </a:r>
            <a:r>
              <a:rPr lang="zh-CN" altLang="en-US" dirty="0"/>
              <a:t>，且</a:t>
            </a:r>
            <a:r>
              <a:rPr lang="en-US" altLang="zh-CN" dirty="0">
                <a:solidFill>
                  <a:srgbClr val="C00000"/>
                </a:solidFill>
              </a:rPr>
              <a:t>Y</a:t>
            </a:r>
            <a:r>
              <a:rPr lang="en-US" altLang="zh-CN" dirty="0">
                <a:solidFill>
                  <a:srgbClr val="C00000"/>
                </a:solidFill>
                <a:sym typeface="Symbol" pitchFamily="18" charset="2"/>
              </a:rPr>
              <a:t></a:t>
            </a:r>
            <a:r>
              <a:rPr lang="en-US" altLang="zh-CN" dirty="0">
                <a:solidFill>
                  <a:srgbClr val="C00000"/>
                </a:solidFill>
              </a:rPr>
              <a:t>X</a:t>
            </a:r>
            <a:r>
              <a:rPr lang="zh-CN" altLang="en-US" dirty="0"/>
              <a:t>，则称</a:t>
            </a:r>
            <a:r>
              <a:rPr lang="en-US" altLang="zh-CN" dirty="0"/>
              <a:t>X→Y</a:t>
            </a:r>
            <a:r>
              <a:rPr lang="zh-CN" altLang="en-US" dirty="0"/>
              <a:t>是</a:t>
            </a:r>
            <a:r>
              <a:rPr lang="zh-CN" altLang="en-US" b="1" dirty="0">
                <a:solidFill>
                  <a:srgbClr val="FF0000"/>
                </a:solidFill>
              </a:rPr>
              <a:t>非平凡</a:t>
            </a:r>
            <a:r>
              <a:rPr lang="zh-CN" altLang="en-US" dirty="0"/>
              <a:t>的</a:t>
            </a:r>
            <a:r>
              <a:rPr lang="zh-CN" altLang="en-US" dirty="0">
                <a:solidFill>
                  <a:srgbClr val="FF0000"/>
                </a:solidFill>
              </a:rPr>
              <a:t>函数依赖</a:t>
            </a:r>
            <a:r>
              <a:rPr lang="zh-CN" altLang="en-US" dirty="0"/>
              <a:t>。</a:t>
            </a:r>
            <a:endParaRPr lang="en-US" altLang="zh-CN" dirty="0"/>
          </a:p>
          <a:p>
            <a:r>
              <a:rPr lang="en-US" altLang="zh-CN" dirty="0">
                <a:solidFill>
                  <a:srgbClr val="0000FF"/>
                </a:solidFill>
              </a:rPr>
              <a:t>X→Y</a:t>
            </a:r>
            <a:r>
              <a:rPr lang="zh-CN" altLang="en-US" dirty="0"/>
              <a:t>，但</a:t>
            </a:r>
            <a:r>
              <a:rPr lang="en-US" altLang="zh-CN" dirty="0">
                <a:solidFill>
                  <a:srgbClr val="C00000"/>
                </a:solidFill>
              </a:rPr>
              <a:t>Y</a:t>
            </a:r>
            <a:r>
              <a:rPr lang="en-US" altLang="zh-CN" dirty="0">
                <a:solidFill>
                  <a:srgbClr val="C00000"/>
                </a:solidFill>
                <a:sym typeface="Symbol" pitchFamily="18" charset="2"/>
              </a:rPr>
              <a:t></a:t>
            </a:r>
            <a:r>
              <a:rPr lang="en-US" altLang="zh-CN" dirty="0">
                <a:solidFill>
                  <a:srgbClr val="C00000"/>
                </a:solidFill>
              </a:rPr>
              <a:t>X</a:t>
            </a:r>
            <a:r>
              <a:rPr lang="en-US" altLang="zh-CN" dirty="0"/>
              <a:t> </a:t>
            </a:r>
            <a:r>
              <a:rPr lang="zh-CN" altLang="en-US" dirty="0"/>
              <a:t>则称</a:t>
            </a:r>
            <a:r>
              <a:rPr lang="en-US" altLang="zh-CN" dirty="0"/>
              <a:t>X→Y</a:t>
            </a:r>
            <a:r>
              <a:rPr lang="zh-CN" altLang="en-US" dirty="0"/>
              <a:t>是</a:t>
            </a:r>
            <a:r>
              <a:rPr lang="zh-CN" altLang="en-US" dirty="0">
                <a:solidFill>
                  <a:srgbClr val="0000FF"/>
                </a:solidFill>
              </a:rPr>
              <a:t>平凡</a:t>
            </a:r>
            <a:r>
              <a:rPr lang="zh-CN" altLang="en-US" dirty="0"/>
              <a:t>的</a:t>
            </a:r>
            <a:r>
              <a:rPr lang="zh-CN" altLang="en-US" dirty="0">
                <a:solidFill>
                  <a:srgbClr val="0000FF"/>
                </a:solidFill>
              </a:rPr>
              <a:t>函数依赖</a:t>
            </a:r>
            <a:r>
              <a:rPr lang="zh-CN" altLang="en-US" dirty="0"/>
              <a:t>。</a:t>
            </a:r>
          </a:p>
          <a:p>
            <a:pPr lvl="1"/>
            <a:r>
              <a:rPr lang="zh-CN" altLang="en-US" dirty="0"/>
              <a:t>理解为：</a:t>
            </a:r>
            <a:r>
              <a:rPr lang="zh-CN" altLang="en-US" dirty="0">
                <a:solidFill>
                  <a:srgbClr val="003300"/>
                </a:solidFill>
              </a:rPr>
              <a:t>整体一致，部分一致</a:t>
            </a:r>
            <a:r>
              <a:rPr lang="zh-CN" altLang="en-US" dirty="0">
                <a:solidFill>
                  <a:srgbClr val="000080"/>
                </a:solidFill>
              </a:rPr>
              <a:t>，</a:t>
            </a:r>
            <a:r>
              <a:rPr lang="zh-CN" altLang="en-US" dirty="0"/>
              <a:t>没有特殊意义（过于</a:t>
            </a:r>
            <a:r>
              <a:rPr lang="zh-CN" altLang="en-US" dirty="0">
                <a:latin typeface="Arial"/>
              </a:rPr>
              <a:t>“</a:t>
            </a:r>
            <a:r>
              <a:rPr lang="zh-CN" altLang="en-US" dirty="0"/>
              <a:t>平凡</a:t>
            </a:r>
            <a:r>
              <a:rPr lang="zh-CN" altLang="en-US" dirty="0">
                <a:latin typeface="Arial"/>
              </a:rPr>
              <a:t>”，如：</a:t>
            </a:r>
            <a:r>
              <a:rPr lang="en-US" altLang="zh-CN" dirty="0">
                <a:latin typeface="Arial"/>
              </a:rPr>
              <a:t>AB</a:t>
            </a:r>
            <a:r>
              <a:rPr lang="en-US" altLang="zh-CN" dirty="0"/>
              <a:t> → B</a:t>
            </a:r>
            <a:r>
              <a:rPr lang="zh-CN" altLang="en-US" dirty="0"/>
              <a:t>）。</a:t>
            </a:r>
          </a:p>
          <a:p>
            <a:pPr marL="0" indent="0">
              <a:buNone/>
              <a:tabLst>
                <a:tab pos="361950" algn="l"/>
              </a:tabLst>
            </a:pPr>
            <a:r>
              <a:rPr lang="zh-CN" altLang="en-US" sz="2000" dirty="0">
                <a:ea typeface="宋体" pitchFamily="2" charset="-122"/>
              </a:rPr>
              <a:t>       例：在关系</a:t>
            </a:r>
            <a:r>
              <a:rPr lang="en-US" altLang="zh-CN" sz="2000" dirty="0">
                <a:ea typeface="宋体" pitchFamily="2" charset="-122"/>
              </a:rPr>
              <a:t>SC(</a:t>
            </a:r>
            <a:r>
              <a:rPr lang="en-US" altLang="zh-CN" sz="2000" dirty="0" err="1">
                <a:ea typeface="宋体" pitchFamily="2" charset="-122"/>
              </a:rPr>
              <a:t>Sno</a:t>
            </a:r>
            <a:r>
              <a:rPr lang="en-US" altLang="zh-CN" sz="2000" dirty="0">
                <a:ea typeface="宋体" pitchFamily="2" charset="-122"/>
              </a:rPr>
              <a:t>, </a:t>
            </a:r>
            <a:r>
              <a:rPr lang="en-US" altLang="zh-CN" sz="2000" dirty="0" err="1">
                <a:ea typeface="宋体" pitchFamily="2" charset="-122"/>
              </a:rPr>
              <a:t>Cno</a:t>
            </a:r>
            <a:r>
              <a:rPr lang="en-US" altLang="zh-CN" sz="2000" dirty="0">
                <a:ea typeface="宋体" pitchFamily="2" charset="-122"/>
              </a:rPr>
              <a:t>, Grade)</a:t>
            </a:r>
            <a:r>
              <a:rPr lang="zh-CN" altLang="en-US" sz="2000" dirty="0">
                <a:ea typeface="宋体" pitchFamily="2" charset="-122"/>
              </a:rPr>
              <a:t>中，</a:t>
            </a:r>
          </a:p>
          <a:p>
            <a:pPr marL="361950" indent="-361950">
              <a:buNone/>
              <a:tabLst>
                <a:tab pos="361950" algn="l"/>
              </a:tabLst>
            </a:pPr>
            <a:r>
              <a:rPr lang="zh-CN" altLang="en-US" sz="2000" dirty="0">
                <a:ea typeface="宋体" pitchFamily="2" charset="-122"/>
              </a:rPr>
              <a:t>            非平凡函数依赖： </a:t>
            </a:r>
            <a:r>
              <a:rPr lang="en-US" altLang="zh-CN" sz="2000" dirty="0">
                <a:ea typeface="宋体" pitchFamily="2" charset="-122"/>
              </a:rPr>
              <a:t>(</a:t>
            </a:r>
            <a:r>
              <a:rPr lang="en-US" altLang="zh-CN" sz="2000" dirty="0" err="1">
                <a:ea typeface="宋体" pitchFamily="2" charset="-122"/>
              </a:rPr>
              <a:t>Sno</a:t>
            </a:r>
            <a:r>
              <a:rPr lang="en-US" altLang="zh-CN" sz="2000" dirty="0">
                <a:ea typeface="宋体" pitchFamily="2" charset="-122"/>
              </a:rPr>
              <a:t>, </a:t>
            </a:r>
            <a:r>
              <a:rPr lang="en-US" altLang="zh-CN" sz="2000" dirty="0" err="1">
                <a:ea typeface="宋体" pitchFamily="2" charset="-122"/>
              </a:rPr>
              <a:t>Cno</a:t>
            </a:r>
            <a:r>
              <a:rPr lang="en-US" altLang="zh-CN" sz="2000" dirty="0">
                <a:ea typeface="宋体" pitchFamily="2" charset="-122"/>
              </a:rPr>
              <a:t>) →</a:t>
            </a:r>
            <a:r>
              <a:rPr lang="en-US" altLang="zh-CN" sz="2000" baseline="46000" dirty="0">
                <a:ea typeface="宋体" pitchFamily="2" charset="-122"/>
              </a:rPr>
              <a:t> </a:t>
            </a:r>
            <a:r>
              <a:rPr lang="en-US" altLang="zh-CN" sz="2000" dirty="0">
                <a:ea typeface="宋体" pitchFamily="2" charset="-122"/>
              </a:rPr>
              <a:t>Grade</a:t>
            </a:r>
          </a:p>
          <a:p>
            <a:pPr marL="361950" indent="-361950">
              <a:buNone/>
              <a:tabLst>
                <a:tab pos="361950" algn="l"/>
              </a:tabLst>
            </a:pPr>
            <a:r>
              <a:rPr lang="en-US" altLang="zh-CN" sz="2000" dirty="0">
                <a:ea typeface="宋体" pitchFamily="2" charset="-122"/>
              </a:rPr>
              <a:t>            </a:t>
            </a:r>
            <a:r>
              <a:rPr lang="zh-CN" altLang="en-US" sz="2000" dirty="0">
                <a:ea typeface="宋体" pitchFamily="2" charset="-122"/>
              </a:rPr>
              <a:t>平凡函数依赖：    </a:t>
            </a:r>
            <a:r>
              <a:rPr lang="en-US" altLang="zh-CN" sz="2000" dirty="0">
                <a:ea typeface="宋体" pitchFamily="2" charset="-122"/>
              </a:rPr>
              <a:t>(</a:t>
            </a:r>
            <a:r>
              <a:rPr lang="en-US" altLang="zh-CN" sz="2000" dirty="0" err="1">
                <a:ea typeface="宋体" pitchFamily="2" charset="-122"/>
              </a:rPr>
              <a:t>Sno</a:t>
            </a:r>
            <a:r>
              <a:rPr lang="en-US" altLang="zh-CN" sz="2000" dirty="0">
                <a:ea typeface="宋体" pitchFamily="2" charset="-122"/>
              </a:rPr>
              <a:t>, </a:t>
            </a:r>
            <a:r>
              <a:rPr lang="en-US" altLang="zh-CN" sz="2000" dirty="0" err="1">
                <a:ea typeface="宋体" pitchFamily="2" charset="-122"/>
              </a:rPr>
              <a:t>Cno</a:t>
            </a:r>
            <a:r>
              <a:rPr lang="en-US" altLang="zh-CN" sz="2000" dirty="0">
                <a:ea typeface="宋体" pitchFamily="2" charset="-122"/>
              </a:rPr>
              <a:t>) →</a:t>
            </a:r>
            <a:r>
              <a:rPr lang="en-US" altLang="zh-CN" sz="2000" baseline="46000" dirty="0">
                <a:ea typeface="宋体" pitchFamily="2" charset="-122"/>
              </a:rPr>
              <a:t> </a:t>
            </a:r>
            <a:r>
              <a:rPr lang="en-US" altLang="zh-CN" sz="2000" dirty="0" err="1">
                <a:ea typeface="宋体" pitchFamily="2" charset="-122"/>
              </a:rPr>
              <a:t>Sno</a:t>
            </a:r>
            <a:r>
              <a:rPr lang="en-US" altLang="zh-CN" sz="2000" dirty="0">
                <a:ea typeface="宋体" pitchFamily="2" charset="-122"/>
              </a:rPr>
              <a:t> </a:t>
            </a:r>
          </a:p>
          <a:p>
            <a:pPr marL="361950" indent="-361950">
              <a:buNone/>
              <a:tabLst>
                <a:tab pos="361950" algn="l"/>
              </a:tabLst>
            </a:pPr>
            <a:r>
              <a:rPr lang="en-US" altLang="zh-CN" sz="2000" dirty="0">
                <a:ea typeface="宋体" pitchFamily="2" charset="-122"/>
              </a:rPr>
              <a:t>                                       (</a:t>
            </a:r>
            <a:r>
              <a:rPr lang="en-US" altLang="zh-CN" sz="2000" dirty="0" err="1">
                <a:ea typeface="宋体" pitchFamily="2" charset="-122"/>
              </a:rPr>
              <a:t>Sno</a:t>
            </a:r>
            <a:r>
              <a:rPr lang="en-US" altLang="zh-CN" sz="2000" dirty="0">
                <a:ea typeface="宋体" pitchFamily="2" charset="-122"/>
              </a:rPr>
              <a:t>, </a:t>
            </a:r>
            <a:r>
              <a:rPr lang="en-US" altLang="zh-CN" sz="2000" dirty="0" err="1">
                <a:ea typeface="宋体" pitchFamily="2" charset="-122"/>
              </a:rPr>
              <a:t>Cno</a:t>
            </a:r>
            <a:r>
              <a:rPr lang="en-US" altLang="zh-CN" sz="2000" dirty="0">
                <a:ea typeface="宋体" pitchFamily="2" charset="-122"/>
              </a:rPr>
              <a:t>) →</a:t>
            </a:r>
            <a:r>
              <a:rPr lang="en-US" altLang="zh-CN" sz="2000" dirty="0" err="1">
                <a:ea typeface="宋体" pitchFamily="2" charset="-122"/>
              </a:rPr>
              <a:t>Cno</a:t>
            </a:r>
            <a:endParaRPr lang="en-US" altLang="zh-CN" sz="2000" dirty="0">
              <a:ea typeface="宋体" pitchFamily="2" charset="-122"/>
            </a:endParaRPr>
          </a:p>
          <a:p>
            <a:endParaRPr lang="zh-CN" altLang="en-US" dirty="0"/>
          </a:p>
        </p:txBody>
      </p:sp>
      <p:sp>
        <p:nvSpPr>
          <p:cNvPr id="269316" name="Line 4"/>
          <p:cNvSpPr>
            <a:spLocks noChangeShapeType="1"/>
          </p:cNvSpPr>
          <p:nvPr/>
        </p:nvSpPr>
        <p:spPr bwMode="auto">
          <a:xfrm>
            <a:off x="3067050" y="1628775"/>
            <a:ext cx="76200" cy="381000"/>
          </a:xfrm>
          <a:prstGeom prst="line">
            <a:avLst/>
          </a:prstGeom>
          <a:noFill/>
          <a:ln w="1905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 name="页脚占位符 3">
            <a:extLst>
              <a:ext uri="{FF2B5EF4-FFF2-40B4-BE49-F238E27FC236}">
                <a16:creationId xmlns:a16="http://schemas.microsoft.com/office/drawing/2014/main" id="{A56A235D-C3A9-FB9E-5F45-642672037DE9}"/>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98E6F893-4CCE-F092-2234-951BD06F6EC6}"/>
              </a:ext>
            </a:extLst>
          </p:cNvPr>
          <p:cNvSpPr>
            <a:spLocks noGrp="1"/>
          </p:cNvSpPr>
          <p:nvPr>
            <p:ph type="sldNum" sz="quarter" idx="12"/>
          </p:nvPr>
        </p:nvSpPr>
        <p:spPr/>
        <p:txBody>
          <a:bodyPr/>
          <a:lstStyle/>
          <a:p>
            <a:fld id="{A2D74603-B40B-4D66-8F6E-41C870D48932}" type="slidenum">
              <a:rPr lang="en-US" altLang="zh-CN" smtClean="0"/>
              <a:pPr/>
              <a:t>24</a:t>
            </a:fld>
            <a:r>
              <a:rPr lang="en-US" altLang="zh-CN"/>
              <a:t>/162</a:t>
            </a:r>
            <a:endParaRPr lang="en-US" altLang="zh-CN" dirty="0"/>
          </a:p>
        </p:txBody>
      </p:sp>
      <p:sp>
        <p:nvSpPr>
          <p:cNvPr id="2" name="矩形 1"/>
          <p:cNvSpPr/>
          <p:nvPr/>
        </p:nvSpPr>
        <p:spPr>
          <a:xfrm>
            <a:off x="587175" y="5500509"/>
            <a:ext cx="8163112" cy="120032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a:spAutoFit/>
          </a:bodyPr>
          <a:lstStyle/>
          <a:p>
            <a:pPr algn="l"/>
            <a:r>
              <a:rPr lang="zh-CN" altLang="en-US" dirty="0"/>
              <a:t>对于任一关系模式，</a:t>
            </a:r>
            <a:r>
              <a:rPr lang="zh-CN" altLang="en-US" u="sng" dirty="0"/>
              <a:t>平凡函数依赖都是必然成立的</a:t>
            </a:r>
            <a:r>
              <a:rPr lang="zh-CN" altLang="en-US" dirty="0"/>
              <a:t>，它</a:t>
            </a:r>
            <a:r>
              <a:rPr lang="zh-CN" altLang="en-US" u="sng" dirty="0">
                <a:solidFill>
                  <a:srgbClr val="0000FF"/>
                </a:solidFill>
              </a:rPr>
              <a:t>不</a:t>
            </a:r>
            <a:r>
              <a:rPr lang="zh-CN" altLang="en-US" u="sng" dirty="0"/>
              <a:t>反映</a:t>
            </a:r>
            <a:r>
              <a:rPr lang="zh-CN" altLang="en-US" u="sng" dirty="0">
                <a:solidFill>
                  <a:srgbClr val="0000FF"/>
                </a:solidFill>
              </a:rPr>
              <a:t>新</a:t>
            </a:r>
            <a:r>
              <a:rPr lang="zh-CN" altLang="en-US" u="sng" dirty="0"/>
              <a:t>的语义</a:t>
            </a:r>
            <a:r>
              <a:rPr lang="zh-CN" altLang="en-US" dirty="0"/>
              <a:t>。 </a:t>
            </a:r>
            <a:endParaRPr lang="en-US" altLang="zh-CN" dirty="0"/>
          </a:p>
          <a:p>
            <a:pPr algn="l"/>
            <a:r>
              <a:rPr lang="zh-CN" altLang="en-US" dirty="0"/>
              <a:t>若不特别声明， 我们总是</a:t>
            </a:r>
            <a:r>
              <a:rPr lang="zh-CN" altLang="en-US" dirty="0">
                <a:solidFill>
                  <a:srgbClr val="0000FF"/>
                </a:solidFill>
              </a:rPr>
              <a:t>讨论</a:t>
            </a:r>
            <a:r>
              <a:rPr lang="zh-CN" altLang="en-US" dirty="0">
                <a:solidFill>
                  <a:srgbClr val="C00000"/>
                </a:solidFill>
              </a:rPr>
              <a:t>非平凡函数依赖</a:t>
            </a:r>
            <a:r>
              <a:rPr lang="zh-CN" altLang="en-US" dirty="0"/>
              <a:t>。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9315">
                                            <p:txEl>
                                              <p:pRg st="1" end="1"/>
                                            </p:txEl>
                                          </p:spTgt>
                                        </p:tgtEl>
                                        <p:attrNameLst>
                                          <p:attrName>style.visibility</p:attrName>
                                        </p:attrNameLst>
                                      </p:cBhvr>
                                      <p:to>
                                        <p:strVal val="visible"/>
                                      </p:to>
                                    </p:set>
                                    <p:anim calcmode="lin" valueType="num">
                                      <p:cBhvr additive="base">
                                        <p:cTn id="7" dur="500" fill="hold"/>
                                        <p:tgtEl>
                                          <p:spTgt spid="26931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9315">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69315">
                                            <p:txEl>
                                              <p:pRg st="2" end="2"/>
                                            </p:txEl>
                                          </p:spTgt>
                                        </p:tgtEl>
                                        <p:attrNameLst>
                                          <p:attrName>style.visibility</p:attrName>
                                        </p:attrNameLst>
                                      </p:cBhvr>
                                      <p:to>
                                        <p:strVal val="visible"/>
                                      </p:to>
                                    </p:set>
                                    <p:anim calcmode="lin" valueType="num">
                                      <p:cBhvr additive="base">
                                        <p:cTn id="11" dur="500" fill="hold"/>
                                        <p:tgtEl>
                                          <p:spTgt spid="269315">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693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69315">
                                            <p:txEl>
                                              <p:pRg st="3" end="3"/>
                                            </p:txEl>
                                          </p:spTgt>
                                        </p:tgtEl>
                                        <p:attrNameLst>
                                          <p:attrName>style.visibility</p:attrName>
                                        </p:attrNameLst>
                                      </p:cBhvr>
                                      <p:to>
                                        <p:strVal val="visible"/>
                                      </p:to>
                                    </p:set>
                                    <p:anim calcmode="lin" valueType="num">
                                      <p:cBhvr additive="base">
                                        <p:cTn id="17" dur="500" fill="hold"/>
                                        <p:tgtEl>
                                          <p:spTgt spid="269315">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69315">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69315">
                                            <p:txEl>
                                              <p:pRg st="4" end="4"/>
                                            </p:txEl>
                                          </p:spTgt>
                                        </p:tgtEl>
                                        <p:attrNameLst>
                                          <p:attrName>style.visibility</p:attrName>
                                        </p:attrNameLst>
                                      </p:cBhvr>
                                      <p:to>
                                        <p:strVal val="visible"/>
                                      </p:to>
                                    </p:set>
                                    <p:anim calcmode="lin" valueType="num">
                                      <p:cBhvr additive="base">
                                        <p:cTn id="21" dur="500" fill="hold"/>
                                        <p:tgtEl>
                                          <p:spTgt spid="269315">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69315">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69315">
                                            <p:txEl>
                                              <p:pRg st="5" end="5"/>
                                            </p:txEl>
                                          </p:spTgt>
                                        </p:tgtEl>
                                        <p:attrNameLst>
                                          <p:attrName>style.visibility</p:attrName>
                                        </p:attrNameLst>
                                      </p:cBhvr>
                                      <p:to>
                                        <p:strVal val="visible"/>
                                      </p:to>
                                    </p:set>
                                    <p:anim calcmode="lin" valueType="num">
                                      <p:cBhvr additive="base">
                                        <p:cTn id="25" dur="500" fill="hold"/>
                                        <p:tgtEl>
                                          <p:spTgt spid="269315">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69315">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69315">
                                            <p:txEl>
                                              <p:pRg st="6" end="6"/>
                                            </p:txEl>
                                          </p:spTgt>
                                        </p:tgtEl>
                                        <p:attrNameLst>
                                          <p:attrName>style.visibility</p:attrName>
                                        </p:attrNameLst>
                                      </p:cBhvr>
                                      <p:to>
                                        <p:strVal val="visible"/>
                                      </p:to>
                                    </p:set>
                                    <p:anim calcmode="lin" valueType="num">
                                      <p:cBhvr additive="base">
                                        <p:cTn id="29" dur="500" fill="hold"/>
                                        <p:tgtEl>
                                          <p:spTgt spid="269315">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6931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anim calcmode="lin" valueType="num">
                                      <p:cBhvr additive="base">
                                        <p:cTn id="35" dur="500" fill="hold"/>
                                        <p:tgtEl>
                                          <p:spTgt spid="2"/>
                                        </p:tgtEl>
                                        <p:attrNameLst>
                                          <p:attrName>ppt_x</p:attrName>
                                        </p:attrNameLst>
                                      </p:cBhvr>
                                      <p:tavLst>
                                        <p:tav tm="0">
                                          <p:val>
                                            <p:strVal val="#ppt_x"/>
                                          </p:val>
                                        </p:tav>
                                        <p:tav tm="100000">
                                          <p:val>
                                            <p:strVal val="#ppt_x"/>
                                          </p:val>
                                        </p:tav>
                                      </p:tavLst>
                                    </p:anim>
                                    <p:anim calcmode="lin" valueType="num">
                                      <p:cBhvr additive="base">
                                        <p:cTn id="3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half" idx="10"/>
          </p:nvPr>
        </p:nvSpPr>
        <p:spPr/>
        <p:txBody>
          <a:bodyPr/>
          <a:lstStyle/>
          <a:p>
            <a:fld id="{1E969FD9-BAD2-4053-99DF-CD227032D72D}" type="datetime1">
              <a:rPr lang="zh-CN" altLang="en-US" smtClean="0"/>
              <a:t>2025/11/6</a:t>
            </a:fld>
            <a:endParaRPr lang="en-US" altLang="zh-CN"/>
          </a:p>
        </p:txBody>
      </p:sp>
      <p:sp>
        <p:nvSpPr>
          <p:cNvPr id="271362" name="Rectangle 2"/>
          <p:cNvSpPr>
            <a:spLocks noGrp="1" noChangeArrowheads="1"/>
          </p:cNvSpPr>
          <p:nvPr>
            <p:ph type="title"/>
          </p:nvPr>
        </p:nvSpPr>
        <p:spPr/>
        <p:txBody>
          <a:bodyPr/>
          <a:lstStyle/>
          <a:p>
            <a:r>
              <a:rPr lang="en-US" altLang="zh-CN" dirty="0"/>
              <a:t>8.2.1 </a:t>
            </a:r>
            <a:r>
              <a:rPr lang="zh-CN" altLang="en-US" dirty="0"/>
              <a:t>函数依赖</a:t>
            </a:r>
          </a:p>
        </p:txBody>
      </p:sp>
      <p:sp>
        <p:nvSpPr>
          <p:cNvPr id="271363" name="Rectangle 3"/>
          <p:cNvSpPr>
            <a:spLocks noGrp="1" noChangeArrowheads="1"/>
          </p:cNvSpPr>
          <p:nvPr>
            <p:ph type="body" idx="1"/>
          </p:nvPr>
        </p:nvSpPr>
        <p:spPr/>
        <p:txBody>
          <a:bodyPr/>
          <a:lstStyle/>
          <a:p>
            <a:pPr>
              <a:lnSpc>
                <a:spcPct val="90000"/>
              </a:lnSpc>
              <a:buFont typeface="Wingdings" pitchFamily="2" charset="2"/>
              <a:buNone/>
            </a:pPr>
            <a:r>
              <a:rPr lang="zh-CN" altLang="en-US" dirty="0">
                <a:solidFill>
                  <a:schemeClr val="hlink"/>
                </a:solidFill>
              </a:rPr>
              <a:t>定义</a:t>
            </a:r>
            <a:r>
              <a:rPr lang="en-US" altLang="zh-CN" dirty="0">
                <a:solidFill>
                  <a:schemeClr val="hlink"/>
                </a:solidFill>
              </a:rPr>
              <a:t>6.2</a:t>
            </a:r>
            <a:r>
              <a:rPr lang="en-US" altLang="zh-CN" dirty="0"/>
              <a:t> (</a:t>
            </a:r>
            <a:r>
              <a:rPr lang="zh-CN" altLang="en-US" dirty="0"/>
              <a:t>完全函数依赖和部分函数依赖的定义</a:t>
            </a:r>
            <a:r>
              <a:rPr lang="en-US" altLang="zh-CN" dirty="0"/>
              <a:t>)</a:t>
            </a:r>
          </a:p>
          <a:p>
            <a:pPr>
              <a:lnSpc>
                <a:spcPct val="90000"/>
              </a:lnSpc>
              <a:buFont typeface="Wingdings" pitchFamily="2" charset="2"/>
              <a:buNone/>
            </a:pPr>
            <a:r>
              <a:rPr lang="zh-CN" altLang="en-US" dirty="0"/>
              <a:t>在</a:t>
            </a:r>
            <a:r>
              <a:rPr lang="en-US" altLang="zh-CN" dirty="0"/>
              <a:t>R(U)</a:t>
            </a:r>
            <a:r>
              <a:rPr lang="zh-CN" altLang="en-US" dirty="0"/>
              <a:t>中如果</a:t>
            </a:r>
            <a:r>
              <a:rPr lang="en-US" altLang="zh-CN" dirty="0">
                <a:solidFill>
                  <a:srgbClr val="0000FF"/>
                </a:solidFill>
              </a:rPr>
              <a:t>X</a:t>
            </a:r>
            <a:r>
              <a:rPr lang="en-US" altLang="zh-CN" dirty="0">
                <a:solidFill>
                  <a:srgbClr val="0000FF"/>
                </a:solidFill>
                <a:latin typeface="宋体" pitchFamily="2" charset="-122"/>
              </a:rPr>
              <a:t>→</a:t>
            </a:r>
            <a:r>
              <a:rPr lang="en-US" altLang="zh-CN" dirty="0">
                <a:solidFill>
                  <a:srgbClr val="0000FF"/>
                </a:solidFill>
              </a:rPr>
              <a:t>Y</a:t>
            </a:r>
            <a:r>
              <a:rPr lang="zh-CN" altLang="en-US" dirty="0"/>
              <a:t>，</a:t>
            </a:r>
            <a:r>
              <a:rPr lang="zh-CN" altLang="en-US" dirty="0">
                <a:solidFill>
                  <a:srgbClr val="FF0000"/>
                </a:solidFill>
              </a:rPr>
              <a:t>并且</a:t>
            </a:r>
            <a:r>
              <a:rPr lang="zh-CN" altLang="en-US" dirty="0"/>
              <a:t>对</a:t>
            </a:r>
            <a:r>
              <a:rPr lang="en-US" altLang="zh-CN" dirty="0"/>
              <a:t>X</a:t>
            </a:r>
            <a:r>
              <a:rPr lang="zh-CN" altLang="en-US" dirty="0"/>
              <a:t>的任何一个</a:t>
            </a:r>
            <a:r>
              <a:rPr lang="zh-CN" altLang="en-US" b="1" dirty="0">
                <a:solidFill>
                  <a:srgbClr val="0000FF"/>
                </a:solidFill>
              </a:rPr>
              <a:t>真子集</a:t>
            </a:r>
            <a:r>
              <a:rPr lang="en-US" altLang="zh-CN" dirty="0">
                <a:solidFill>
                  <a:srgbClr val="0000FF"/>
                </a:solidFill>
              </a:rPr>
              <a:t>X</a:t>
            </a:r>
            <a:r>
              <a:rPr lang="en-US" altLang="zh-CN" dirty="0">
                <a:solidFill>
                  <a:srgbClr val="0000FF"/>
                </a:solidFill>
                <a:latin typeface="Arial"/>
              </a:rPr>
              <a:t>’</a:t>
            </a:r>
            <a:r>
              <a:rPr lang="zh-CN" altLang="en-US" dirty="0"/>
              <a:t>，都有</a:t>
            </a:r>
            <a:r>
              <a:rPr lang="en-US" altLang="zh-CN" dirty="0">
                <a:solidFill>
                  <a:srgbClr val="C00000"/>
                </a:solidFill>
              </a:rPr>
              <a:t>X</a:t>
            </a:r>
            <a:r>
              <a:rPr lang="en-US" altLang="zh-CN" dirty="0">
                <a:solidFill>
                  <a:srgbClr val="C00000"/>
                </a:solidFill>
                <a:latin typeface="Arial"/>
              </a:rPr>
              <a:t>’</a:t>
            </a:r>
            <a:r>
              <a:rPr lang="en-US" altLang="zh-CN" dirty="0">
                <a:solidFill>
                  <a:srgbClr val="C00000"/>
                </a:solidFill>
                <a:latin typeface="宋体" pitchFamily="2" charset="-122"/>
              </a:rPr>
              <a:t>→</a:t>
            </a:r>
            <a:r>
              <a:rPr lang="en-US" altLang="zh-CN" dirty="0">
                <a:solidFill>
                  <a:srgbClr val="C00000"/>
                </a:solidFill>
              </a:rPr>
              <a:t>Y</a:t>
            </a:r>
            <a:r>
              <a:rPr lang="zh-CN" altLang="en-US" dirty="0"/>
              <a:t>，则称</a:t>
            </a:r>
            <a:r>
              <a:rPr lang="en-US" altLang="zh-CN" dirty="0"/>
              <a:t>Y</a:t>
            </a:r>
            <a:r>
              <a:rPr lang="zh-CN" altLang="en-US" dirty="0"/>
              <a:t>对</a:t>
            </a:r>
            <a:r>
              <a:rPr lang="en-US" altLang="zh-CN" dirty="0"/>
              <a:t>X</a:t>
            </a:r>
            <a:r>
              <a:rPr lang="zh-CN" altLang="en-US" b="1" dirty="0">
                <a:solidFill>
                  <a:schemeClr val="hlink"/>
                </a:solidFill>
              </a:rPr>
              <a:t>完全</a:t>
            </a:r>
            <a:r>
              <a:rPr lang="zh-CN" altLang="en-US" dirty="0">
                <a:solidFill>
                  <a:srgbClr val="0000FF"/>
                </a:solidFill>
              </a:rPr>
              <a:t>函数依赖</a:t>
            </a:r>
            <a:r>
              <a:rPr lang="zh-CN" altLang="en-US" dirty="0"/>
              <a:t>，记作</a:t>
            </a:r>
            <a:r>
              <a:rPr lang="en-US" altLang="zh-CN" dirty="0"/>
              <a:t>:</a:t>
            </a:r>
          </a:p>
          <a:p>
            <a:pPr>
              <a:lnSpc>
                <a:spcPct val="90000"/>
              </a:lnSpc>
              <a:buFont typeface="Wingdings" pitchFamily="2" charset="2"/>
              <a:buNone/>
            </a:pPr>
            <a:r>
              <a:rPr lang="en-US" altLang="zh-CN" dirty="0"/>
              <a:t>            X </a:t>
            </a:r>
            <a:r>
              <a:rPr lang="en-US" altLang="zh-CN" dirty="0">
                <a:latin typeface="宋体" pitchFamily="2" charset="-122"/>
              </a:rPr>
              <a:t>→</a:t>
            </a:r>
            <a:r>
              <a:rPr lang="en-US" altLang="zh-CN" dirty="0"/>
              <a:t> Y</a:t>
            </a:r>
          </a:p>
          <a:p>
            <a:pPr>
              <a:lnSpc>
                <a:spcPct val="90000"/>
              </a:lnSpc>
              <a:buNone/>
            </a:pPr>
            <a:r>
              <a:rPr lang="zh-CN" altLang="en-US" dirty="0"/>
              <a:t>若</a:t>
            </a:r>
            <a:r>
              <a:rPr lang="en-US" altLang="zh-CN" dirty="0"/>
              <a:t>X </a:t>
            </a:r>
            <a:r>
              <a:rPr lang="en-US" altLang="zh-CN" dirty="0">
                <a:latin typeface="宋体" pitchFamily="2" charset="-122"/>
              </a:rPr>
              <a:t>→</a:t>
            </a:r>
            <a:r>
              <a:rPr lang="en-US" altLang="zh-CN" dirty="0"/>
              <a:t> Y</a:t>
            </a:r>
            <a:r>
              <a:rPr lang="zh-CN" altLang="en-US" dirty="0"/>
              <a:t>，但</a:t>
            </a:r>
            <a:r>
              <a:rPr lang="en-US" altLang="zh-CN" u="sng" dirty="0"/>
              <a:t>Y</a:t>
            </a:r>
            <a:r>
              <a:rPr lang="zh-CN" altLang="en-US" u="sng" dirty="0">
                <a:solidFill>
                  <a:srgbClr val="C00000"/>
                </a:solidFill>
              </a:rPr>
              <a:t>不完全</a:t>
            </a:r>
            <a:r>
              <a:rPr lang="zh-CN" altLang="en-US" u="sng" dirty="0"/>
              <a:t>函数依赖于</a:t>
            </a:r>
            <a:r>
              <a:rPr lang="en-US" altLang="zh-CN" u="sng" dirty="0"/>
              <a:t>X</a:t>
            </a:r>
            <a:r>
              <a:rPr lang="zh-CN" altLang="en-US" dirty="0"/>
              <a:t>，（也即</a:t>
            </a:r>
            <a:r>
              <a:rPr lang="en-US" altLang="zh-CN" dirty="0">
                <a:solidFill>
                  <a:srgbClr val="C00000"/>
                </a:solidFill>
              </a:rPr>
              <a:t>X</a:t>
            </a:r>
            <a:r>
              <a:rPr lang="en-US" altLang="zh-CN" dirty="0">
                <a:solidFill>
                  <a:srgbClr val="C00000"/>
                </a:solidFill>
                <a:latin typeface="Arial"/>
              </a:rPr>
              <a:t>’</a:t>
            </a:r>
            <a:r>
              <a:rPr lang="en-US" altLang="zh-CN" dirty="0">
                <a:solidFill>
                  <a:srgbClr val="C00000"/>
                </a:solidFill>
                <a:latin typeface="宋体" pitchFamily="2" charset="-122"/>
              </a:rPr>
              <a:t>→</a:t>
            </a:r>
            <a:r>
              <a:rPr lang="en-US" altLang="zh-CN" dirty="0">
                <a:solidFill>
                  <a:srgbClr val="C00000"/>
                </a:solidFill>
              </a:rPr>
              <a:t>Y</a:t>
            </a:r>
            <a:r>
              <a:rPr lang="zh-CN" altLang="en-US" dirty="0"/>
              <a:t>）</a:t>
            </a:r>
            <a:r>
              <a:rPr lang="zh-CN" altLang="en-US" dirty="0">
                <a:solidFill>
                  <a:srgbClr val="C00000"/>
                </a:solidFill>
              </a:rPr>
              <a:t>，</a:t>
            </a:r>
            <a:r>
              <a:rPr lang="zh-CN" altLang="en-US" dirty="0"/>
              <a:t>则称</a:t>
            </a:r>
            <a:r>
              <a:rPr lang="en-US" altLang="zh-CN" dirty="0"/>
              <a:t>Y</a:t>
            </a:r>
            <a:r>
              <a:rPr lang="zh-CN" altLang="en-US" dirty="0"/>
              <a:t>对</a:t>
            </a:r>
            <a:r>
              <a:rPr lang="en-US" altLang="zh-CN" dirty="0"/>
              <a:t>X</a:t>
            </a:r>
            <a:r>
              <a:rPr lang="zh-CN" altLang="en-US" b="1" dirty="0">
                <a:solidFill>
                  <a:srgbClr val="C00000"/>
                </a:solidFill>
              </a:rPr>
              <a:t>部分</a:t>
            </a:r>
            <a:r>
              <a:rPr lang="zh-CN" altLang="en-US" dirty="0">
                <a:solidFill>
                  <a:srgbClr val="0000FF"/>
                </a:solidFill>
              </a:rPr>
              <a:t>函数依赖</a:t>
            </a:r>
            <a:r>
              <a:rPr lang="zh-CN" altLang="en-US" dirty="0"/>
              <a:t>，记作：</a:t>
            </a:r>
          </a:p>
          <a:p>
            <a:pPr>
              <a:lnSpc>
                <a:spcPct val="90000"/>
              </a:lnSpc>
              <a:buFont typeface="Wingdings" pitchFamily="2" charset="2"/>
              <a:buNone/>
            </a:pPr>
            <a:r>
              <a:rPr lang="zh-CN" altLang="en-US" dirty="0">
                <a:solidFill>
                  <a:srgbClr val="000080"/>
                </a:solidFill>
              </a:rPr>
              <a:t>            </a:t>
            </a:r>
            <a:r>
              <a:rPr lang="en-US" altLang="zh-CN" dirty="0"/>
              <a:t>X </a:t>
            </a:r>
            <a:r>
              <a:rPr lang="en-US" altLang="zh-CN" dirty="0">
                <a:latin typeface="宋体" pitchFamily="2" charset="-122"/>
              </a:rPr>
              <a:t>→</a:t>
            </a:r>
            <a:r>
              <a:rPr lang="en-US" altLang="zh-CN" dirty="0"/>
              <a:t> Y</a:t>
            </a:r>
            <a:endParaRPr lang="zh-CN" altLang="en-US" dirty="0"/>
          </a:p>
        </p:txBody>
      </p:sp>
      <p:sp>
        <p:nvSpPr>
          <p:cNvPr id="271364" name="Text Box 4"/>
          <p:cNvSpPr txBox="1">
            <a:spLocks noChangeArrowheads="1"/>
          </p:cNvSpPr>
          <p:nvPr/>
        </p:nvSpPr>
        <p:spPr bwMode="auto">
          <a:xfrm>
            <a:off x="2590800" y="3657600"/>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dirty="0">
                <a:solidFill>
                  <a:srgbClr val="C00000"/>
                </a:solidFill>
              </a:rPr>
              <a:t>F</a:t>
            </a:r>
          </a:p>
        </p:txBody>
      </p:sp>
      <p:sp>
        <p:nvSpPr>
          <p:cNvPr id="271365" name="Text Box 5"/>
          <p:cNvSpPr txBox="1">
            <a:spLocks noChangeArrowheads="1"/>
          </p:cNvSpPr>
          <p:nvPr/>
        </p:nvSpPr>
        <p:spPr bwMode="auto">
          <a:xfrm>
            <a:off x="2590800" y="5181600"/>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dirty="0">
                <a:solidFill>
                  <a:srgbClr val="C00000"/>
                </a:solidFill>
              </a:rPr>
              <a:t>P</a:t>
            </a:r>
          </a:p>
        </p:txBody>
      </p:sp>
      <p:sp>
        <p:nvSpPr>
          <p:cNvPr id="271366" name="Line 6"/>
          <p:cNvSpPr>
            <a:spLocks noChangeShapeType="1"/>
          </p:cNvSpPr>
          <p:nvPr/>
        </p:nvSpPr>
        <p:spPr bwMode="auto">
          <a:xfrm>
            <a:off x="3429000" y="2971800"/>
            <a:ext cx="76200" cy="304800"/>
          </a:xfrm>
          <a:prstGeom prst="line">
            <a:avLst/>
          </a:prstGeom>
          <a:noFill/>
          <a:ln w="15875">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 name="页脚占位符 2">
            <a:extLst>
              <a:ext uri="{FF2B5EF4-FFF2-40B4-BE49-F238E27FC236}">
                <a16:creationId xmlns:a16="http://schemas.microsoft.com/office/drawing/2014/main" id="{A54804A1-883B-1EAE-2BE3-89A4F0CC17B7}"/>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8526BA4D-DE4B-71D8-FA8E-E704CA194D2F}"/>
              </a:ext>
            </a:extLst>
          </p:cNvPr>
          <p:cNvSpPr>
            <a:spLocks noGrp="1"/>
          </p:cNvSpPr>
          <p:nvPr>
            <p:ph type="sldNum" sz="quarter" idx="12"/>
          </p:nvPr>
        </p:nvSpPr>
        <p:spPr/>
        <p:txBody>
          <a:bodyPr/>
          <a:lstStyle/>
          <a:p>
            <a:fld id="{A2D74603-B40B-4D66-8F6E-41C870D48932}" type="slidenum">
              <a:rPr lang="en-US" altLang="zh-CN" smtClean="0"/>
              <a:pPr/>
              <a:t>25</a:t>
            </a:fld>
            <a:r>
              <a:rPr lang="en-US" altLang="zh-CN"/>
              <a:t>/162</a:t>
            </a:r>
            <a:endParaRPr lang="en-US" altLang="zh-CN"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1363">
                                            <p:txEl>
                                              <p:pRg st="2" end="2"/>
                                            </p:txEl>
                                          </p:spTgt>
                                        </p:tgtEl>
                                        <p:attrNameLst>
                                          <p:attrName>style.visibility</p:attrName>
                                        </p:attrNameLst>
                                      </p:cBhvr>
                                      <p:to>
                                        <p:strVal val="visible"/>
                                      </p:to>
                                    </p:set>
                                    <p:anim calcmode="lin" valueType="num">
                                      <p:cBhvr additive="base">
                                        <p:cTn id="7" dur="500" fill="hold"/>
                                        <p:tgtEl>
                                          <p:spTgt spid="27136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136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71364"/>
                                        </p:tgtEl>
                                        <p:attrNameLst>
                                          <p:attrName>style.visibility</p:attrName>
                                        </p:attrNameLst>
                                      </p:cBhvr>
                                      <p:to>
                                        <p:strVal val="visible"/>
                                      </p:to>
                                    </p:set>
                                    <p:anim calcmode="lin" valueType="num">
                                      <p:cBhvr additive="base">
                                        <p:cTn id="11" dur="500" fill="hold"/>
                                        <p:tgtEl>
                                          <p:spTgt spid="271364"/>
                                        </p:tgtEl>
                                        <p:attrNameLst>
                                          <p:attrName>ppt_x</p:attrName>
                                        </p:attrNameLst>
                                      </p:cBhvr>
                                      <p:tavLst>
                                        <p:tav tm="0">
                                          <p:val>
                                            <p:strVal val="#ppt_x"/>
                                          </p:val>
                                        </p:tav>
                                        <p:tav tm="100000">
                                          <p:val>
                                            <p:strVal val="#ppt_x"/>
                                          </p:val>
                                        </p:tav>
                                      </p:tavLst>
                                    </p:anim>
                                    <p:anim calcmode="lin" valueType="num">
                                      <p:cBhvr additive="base">
                                        <p:cTn id="12" dur="500" fill="hold"/>
                                        <p:tgtEl>
                                          <p:spTgt spid="27136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71363">
                                            <p:txEl>
                                              <p:pRg st="3" end="3"/>
                                            </p:txEl>
                                          </p:spTgt>
                                        </p:tgtEl>
                                        <p:attrNameLst>
                                          <p:attrName>style.visibility</p:attrName>
                                        </p:attrNameLst>
                                      </p:cBhvr>
                                      <p:to>
                                        <p:strVal val="visible"/>
                                      </p:to>
                                    </p:set>
                                    <p:anim calcmode="lin" valueType="num">
                                      <p:cBhvr additive="base">
                                        <p:cTn id="17" dur="500" fill="hold"/>
                                        <p:tgtEl>
                                          <p:spTgt spid="27136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7136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71363">
                                            <p:txEl>
                                              <p:pRg st="4" end="4"/>
                                            </p:txEl>
                                          </p:spTgt>
                                        </p:tgtEl>
                                        <p:attrNameLst>
                                          <p:attrName>style.visibility</p:attrName>
                                        </p:attrNameLst>
                                      </p:cBhvr>
                                      <p:to>
                                        <p:strVal val="visible"/>
                                      </p:to>
                                    </p:set>
                                    <p:anim calcmode="lin" valueType="num">
                                      <p:cBhvr additive="base">
                                        <p:cTn id="21" dur="500" fill="hold"/>
                                        <p:tgtEl>
                                          <p:spTgt spid="27136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71363">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71365"/>
                                        </p:tgtEl>
                                        <p:attrNameLst>
                                          <p:attrName>style.visibility</p:attrName>
                                        </p:attrNameLst>
                                      </p:cBhvr>
                                      <p:to>
                                        <p:strVal val="visible"/>
                                      </p:to>
                                    </p:set>
                                    <p:anim calcmode="lin" valueType="num">
                                      <p:cBhvr additive="base">
                                        <p:cTn id="25" dur="500" fill="hold"/>
                                        <p:tgtEl>
                                          <p:spTgt spid="271365"/>
                                        </p:tgtEl>
                                        <p:attrNameLst>
                                          <p:attrName>ppt_x</p:attrName>
                                        </p:attrNameLst>
                                      </p:cBhvr>
                                      <p:tavLst>
                                        <p:tav tm="0">
                                          <p:val>
                                            <p:strVal val="#ppt_x"/>
                                          </p:val>
                                        </p:tav>
                                        <p:tav tm="100000">
                                          <p:val>
                                            <p:strVal val="#ppt_x"/>
                                          </p:val>
                                        </p:tav>
                                      </p:tavLst>
                                    </p:anim>
                                    <p:anim calcmode="lin" valueType="num">
                                      <p:cBhvr additive="base">
                                        <p:cTn id="26" dur="500" fill="hold"/>
                                        <p:tgtEl>
                                          <p:spTgt spid="2713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364" grpId="0"/>
      <p:bldP spid="27136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half" idx="10"/>
          </p:nvPr>
        </p:nvSpPr>
        <p:spPr/>
        <p:txBody>
          <a:bodyPr/>
          <a:lstStyle/>
          <a:p>
            <a:fld id="{131A78FF-2300-47BC-BB3B-37DA721E838D}" type="datetime1">
              <a:rPr lang="zh-CN" altLang="en-US" smtClean="0"/>
              <a:t>2025/11/6</a:t>
            </a:fld>
            <a:endParaRPr lang="en-US" altLang="zh-CN"/>
          </a:p>
        </p:txBody>
      </p:sp>
      <p:sp>
        <p:nvSpPr>
          <p:cNvPr id="271362" name="Rectangle 2"/>
          <p:cNvSpPr>
            <a:spLocks noGrp="1" noChangeArrowheads="1"/>
          </p:cNvSpPr>
          <p:nvPr>
            <p:ph type="title"/>
          </p:nvPr>
        </p:nvSpPr>
        <p:spPr/>
        <p:txBody>
          <a:bodyPr/>
          <a:lstStyle/>
          <a:p>
            <a:r>
              <a:rPr lang="en-US" altLang="zh-CN" dirty="0"/>
              <a:t>8.2.1 </a:t>
            </a:r>
            <a:r>
              <a:rPr lang="zh-CN" altLang="en-US" dirty="0"/>
              <a:t>函数依赖</a:t>
            </a:r>
          </a:p>
        </p:txBody>
      </p:sp>
      <p:sp>
        <p:nvSpPr>
          <p:cNvPr id="11" name="Rectangle 3"/>
          <p:cNvSpPr txBox="1">
            <a:spLocks noChangeArrowheads="1"/>
          </p:cNvSpPr>
          <p:nvPr/>
        </p:nvSpPr>
        <p:spPr bwMode="auto">
          <a:xfrm>
            <a:off x="323528" y="2708920"/>
            <a:ext cx="8712968" cy="3615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fontAlgn="base">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a:lnSpc>
                <a:spcPct val="150000"/>
              </a:lnSpc>
              <a:buFont typeface="Wingdings" pitchFamily="2" charset="2"/>
              <a:buNone/>
            </a:pPr>
            <a:r>
              <a:rPr kumimoji="0" lang="en-US" altLang="zh-CN" kern="0" dirty="0">
                <a:ea typeface="宋体" pitchFamily="2" charset="-122"/>
              </a:rPr>
              <a:t>   (</a:t>
            </a:r>
            <a:r>
              <a:rPr kumimoji="0" lang="en-US" altLang="zh-CN" kern="0" dirty="0" err="1">
                <a:ea typeface="宋体" pitchFamily="2" charset="-122"/>
              </a:rPr>
              <a:t>Sno,Cno</a:t>
            </a:r>
            <a:r>
              <a:rPr kumimoji="0" lang="en-US" altLang="zh-CN" kern="0" dirty="0">
                <a:ea typeface="宋体" pitchFamily="2" charset="-122"/>
              </a:rPr>
              <a:t>)→Grade</a:t>
            </a:r>
            <a:r>
              <a:rPr kumimoji="0" lang="zh-CN" altLang="en-US" kern="0" dirty="0">
                <a:ea typeface="宋体" pitchFamily="2" charset="-122"/>
              </a:rPr>
              <a:t>是</a:t>
            </a:r>
            <a:r>
              <a:rPr kumimoji="0" lang="zh-CN" altLang="en-US" b="1" kern="0" dirty="0">
                <a:solidFill>
                  <a:srgbClr val="C00000"/>
                </a:solidFill>
                <a:ea typeface="宋体" pitchFamily="2" charset="-122"/>
              </a:rPr>
              <a:t>完全函数</a:t>
            </a:r>
            <a:r>
              <a:rPr kumimoji="0" lang="zh-CN" altLang="en-US" kern="0" dirty="0">
                <a:ea typeface="宋体" pitchFamily="2" charset="-122"/>
              </a:rPr>
              <a:t>依赖，</a:t>
            </a:r>
          </a:p>
          <a:p>
            <a:pPr>
              <a:lnSpc>
                <a:spcPct val="150000"/>
              </a:lnSpc>
              <a:buFont typeface="Wingdings" pitchFamily="2" charset="2"/>
              <a:buNone/>
            </a:pPr>
            <a:r>
              <a:rPr kumimoji="0" lang="zh-CN" altLang="en-US" kern="0" dirty="0">
                <a:ea typeface="宋体" pitchFamily="2" charset="-122"/>
              </a:rPr>
              <a:t>   </a:t>
            </a:r>
            <a:r>
              <a:rPr kumimoji="0" lang="en-US" altLang="zh-CN" kern="0" dirty="0">
                <a:ea typeface="宋体" pitchFamily="2" charset="-122"/>
              </a:rPr>
              <a:t>(</a:t>
            </a:r>
            <a:r>
              <a:rPr kumimoji="0" lang="en-US" altLang="zh-CN" kern="0" dirty="0" err="1">
                <a:solidFill>
                  <a:srgbClr val="0000FF"/>
                </a:solidFill>
                <a:ea typeface="宋体" pitchFamily="2" charset="-122"/>
              </a:rPr>
              <a:t>Sno</a:t>
            </a:r>
            <a:r>
              <a:rPr kumimoji="0" lang="en-US" altLang="zh-CN" kern="0" dirty="0" err="1">
                <a:ea typeface="宋体" pitchFamily="2" charset="-122"/>
              </a:rPr>
              <a:t>,Cno</a:t>
            </a:r>
            <a:r>
              <a:rPr kumimoji="0" lang="en-US" altLang="zh-CN" kern="0" dirty="0">
                <a:ea typeface="宋体" pitchFamily="2" charset="-122"/>
              </a:rPr>
              <a:t>)→</a:t>
            </a:r>
            <a:r>
              <a:rPr kumimoji="0" lang="en-US" altLang="zh-CN" kern="0" dirty="0" err="1">
                <a:ea typeface="宋体" pitchFamily="2" charset="-122"/>
              </a:rPr>
              <a:t>Sdept</a:t>
            </a:r>
            <a:r>
              <a:rPr kumimoji="0" lang="zh-CN" altLang="en-US" kern="0" dirty="0">
                <a:ea typeface="宋体" pitchFamily="2" charset="-122"/>
              </a:rPr>
              <a:t>是</a:t>
            </a:r>
            <a:r>
              <a:rPr kumimoji="0" lang="zh-CN" altLang="en-US" b="1" kern="0" dirty="0">
                <a:solidFill>
                  <a:srgbClr val="0000FF"/>
                </a:solidFill>
                <a:ea typeface="宋体" pitchFamily="2" charset="-122"/>
              </a:rPr>
              <a:t>部分函数</a:t>
            </a:r>
            <a:r>
              <a:rPr kumimoji="0" lang="zh-CN" altLang="en-US" kern="0" dirty="0">
                <a:ea typeface="宋体" pitchFamily="2" charset="-122"/>
              </a:rPr>
              <a:t>依赖</a:t>
            </a:r>
          </a:p>
          <a:p>
            <a:pPr>
              <a:lnSpc>
                <a:spcPct val="150000"/>
              </a:lnSpc>
              <a:buFont typeface="Wingdings" pitchFamily="2" charset="2"/>
              <a:buNone/>
            </a:pPr>
            <a:r>
              <a:rPr kumimoji="0" lang="zh-CN" altLang="en-US" kern="0" dirty="0">
                <a:ea typeface="宋体" pitchFamily="2" charset="-122"/>
              </a:rPr>
              <a:t>  </a:t>
            </a:r>
            <a:r>
              <a:rPr kumimoji="0" lang="zh-CN" altLang="en-US" sz="2800" kern="0" dirty="0">
                <a:ea typeface="宋体" pitchFamily="2" charset="-122"/>
              </a:rPr>
              <a:t>因为</a:t>
            </a:r>
            <a:r>
              <a:rPr kumimoji="0" lang="en-US" altLang="zh-CN" sz="2800" kern="0" dirty="0" err="1">
                <a:solidFill>
                  <a:srgbClr val="0000FF"/>
                </a:solidFill>
                <a:ea typeface="宋体" pitchFamily="2" charset="-122"/>
              </a:rPr>
              <a:t>Sno</a:t>
            </a:r>
            <a:r>
              <a:rPr kumimoji="0" lang="en-US" altLang="zh-CN" sz="2800" kern="0" dirty="0">
                <a:ea typeface="宋体" pitchFamily="2" charset="-122"/>
              </a:rPr>
              <a:t> →</a:t>
            </a:r>
            <a:r>
              <a:rPr kumimoji="0" lang="en-US" altLang="zh-CN" sz="2800" kern="0" dirty="0" err="1">
                <a:ea typeface="宋体" pitchFamily="2" charset="-122"/>
              </a:rPr>
              <a:t>Sdept</a:t>
            </a:r>
            <a:r>
              <a:rPr kumimoji="0" lang="zh-CN" altLang="en-US" sz="2800" kern="0" dirty="0">
                <a:ea typeface="宋体" pitchFamily="2" charset="-122"/>
              </a:rPr>
              <a:t>成立，且</a:t>
            </a:r>
            <a:r>
              <a:rPr kumimoji="0" lang="en-US" altLang="zh-CN" sz="2800" kern="0" dirty="0" err="1">
                <a:ea typeface="宋体" pitchFamily="2" charset="-122"/>
              </a:rPr>
              <a:t>Sno</a:t>
            </a:r>
            <a:r>
              <a:rPr kumimoji="0" lang="zh-CN" altLang="en-US" sz="2800" kern="0" dirty="0">
                <a:ea typeface="宋体" pitchFamily="2" charset="-122"/>
              </a:rPr>
              <a:t>是</a:t>
            </a:r>
            <a:r>
              <a:rPr kumimoji="0" lang="en-US" altLang="zh-CN" sz="2800" kern="0" dirty="0">
                <a:ea typeface="宋体" pitchFamily="2" charset="-122"/>
              </a:rPr>
              <a:t>(</a:t>
            </a:r>
            <a:r>
              <a:rPr kumimoji="0" lang="en-US" altLang="zh-CN" sz="2800" kern="0" dirty="0" err="1">
                <a:ea typeface="宋体" pitchFamily="2" charset="-122"/>
              </a:rPr>
              <a:t>Sno</a:t>
            </a:r>
            <a:r>
              <a:rPr kumimoji="0" lang="en-US" altLang="zh-CN" sz="2800" kern="0" dirty="0">
                <a:ea typeface="宋体" pitchFamily="2" charset="-122"/>
              </a:rPr>
              <a:t>, </a:t>
            </a:r>
            <a:r>
              <a:rPr kumimoji="0" lang="en-US" altLang="zh-CN" sz="2800" kern="0" dirty="0" err="1">
                <a:ea typeface="宋体" pitchFamily="2" charset="-122"/>
              </a:rPr>
              <a:t>Cno</a:t>
            </a:r>
            <a:r>
              <a:rPr kumimoji="0" lang="en-US" altLang="zh-CN" sz="2800" kern="0" dirty="0">
                <a:ea typeface="宋体" pitchFamily="2" charset="-122"/>
              </a:rPr>
              <a:t>)</a:t>
            </a:r>
            <a:r>
              <a:rPr kumimoji="0" lang="zh-CN" altLang="en-US" sz="2800" kern="0" dirty="0">
                <a:ea typeface="宋体" pitchFamily="2" charset="-122"/>
              </a:rPr>
              <a:t>的</a:t>
            </a:r>
            <a:r>
              <a:rPr kumimoji="0" lang="zh-CN" altLang="en-US" sz="2800" kern="0" dirty="0">
                <a:solidFill>
                  <a:srgbClr val="0000FF"/>
                </a:solidFill>
                <a:ea typeface="宋体" pitchFamily="2" charset="-122"/>
              </a:rPr>
              <a:t>真子集</a:t>
            </a:r>
          </a:p>
          <a:p>
            <a:pPr>
              <a:lnSpc>
                <a:spcPct val="90000"/>
              </a:lnSpc>
              <a:buFont typeface="Wingdings" pitchFamily="2" charset="2"/>
              <a:buNone/>
            </a:pPr>
            <a:endParaRPr kumimoji="0" lang="zh-CN" altLang="en-US" kern="0" dirty="0">
              <a:ea typeface="宋体" pitchFamily="2" charset="-122"/>
            </a:endParaRPr>
          </a:p>
          <a:p>
            <a:pPr>
              <a:lnSpc>
                <a:spcPct val="90000"/>
              </a:lnSpc>
              <a:buFont typeface="Wingdings" pitchFamily="2" charset="2"/>
              <a:buNone/>
            </a:pPr>
            <a:r>
              <a:rPr kumimoji="0" lang="zh-CN" altLang="en-US" kern="0" dirty="0">
                <a:ea typeface="宋体" pitchFamily="2" charset="-122"/>
              </a:rPr>
              <a:t> </a:t>
            </a:r>
          </a:p>
        </p:txBody>
      </p:sp>
      <p:sp>
        <p:nvSpPr>
          <p:cNvPr id="4" name="矩形 3"/>
          <p:cNvSpPr/>
          <p:nvPr/>
        </p:nvSpPr>
        <p:spPr>
          <a:xfrm>
            <a:off x="236775" y="1685894"/>
            <a:ext cx="8975249" cy="480131"/>
          </a:xfrm>
          <a:prstGeom prst="rect">
            <a:avLst/>
          </a:prstGeom>
        </p:spPr>
        <p:txBody>
          <a:bodyPr wrap="square">
            <a:spAutoFit/>
          </a:bodyPr>
          <a:lstStyle/>
          <a:p>
            <a:pPr algn="l">
              <a:lnSpc>
                <a:spcPct val="90000"/>
              </a:lnSpc>
              <a:buFont typeface="Wingdings" pitchFamily="2" charset="2"/>
              <a:buNone/>
            </a:pPr>
            <a:r>
              <a:rPr lang="en-US" altLang="zh-CN" sz="2800" dirty="0"/>
              <a:t>SC(</a:t>
            </a:r>
            <a:r>
              <a:rPr lang="en-US" altLang="zh-CN" sz="2800" dirty="0" err="1">
                <a:solidFill>
                  <a:srgbClr val="C00000"/>
                </a:solidFill>
              </a:rPr>
              <a:t>Sno</a:t>
            </a:r>
            <a:r>
              <a:rPr lang="en-US" altLang="zh-CN" sz="2800" dirty="0" err="1"/>
              <a:t>,Sname,Sage,Sgendar,Sdept,</a:t>
            </a:r>
            <a:r>
              <a:rPr lang="en-US" altLang="zh-CN" sz="2800" dirty="0" err="1">
                <a:solidFill>
                  <a:srgbClr val="C00000"/>
                </a:solidFill>
              </a:rPr>
              <a:t>Cno</a:t>
            </a:r>
            <a:r>
              <a:rPr lang="en-US" altLang="zh-CN" sz="2800" dirty="0" err="1">
                <a:solidFill>
                  <a:srgbClr val="003300"/>
                </a:solidFill>
              </a:rPr>
              <a:t>,Cname,Grade</a:t>
            </a:r>
            <a:r>
              <a:rPr lang="en-US" altLang="zh-CN" sz="2800" dirty="0"/>
              <a:t>)</a:t>
            </a:r>
          </a:p>
        </p:txBody>
      </p:sp>
      <p:sp>
        <p:nvSpPr>
          <p:cNvPr id="3" name="页脚占位符 2">
            <a:extLst>
              <a:ext uri="{FF2B5EF4-FFF2-40B4-BE49-F238E27FC236}">
                <a16:creationId xmlns:a16="http://schemas.microsoft.com/office/drawing/2014/main" id="{DD34ACCF-15DA-1629-86B7-2BD0105FE696}"/>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8D8588E1-4C7F-2CCE-BCFE-BA810B0DA106}"/>
              </a:ext>
            </a:extLst>
          </p:cNvPr>
          <p:cNvSpPr>
            <a:spLocks noGrp="1"/>
          </p:cNvSpPr>
          <p:nvPr>
            <p:ph type="sldNum" sz="quarter" idx="12"/>
          </p:nvPr>
        </p:nvSpPr>
        <p:spPr/>
        <p:txBody>
          <a:bodyPr/>
          <a:lstStyle/>
          <a:p>
            <a:fld id="{A2D74603-B40B-4D66-8F6E-41C870D48932}" type="slidenum">
              <a:rPr lang="en-US" altLang="zh-CN" smtClean="0"/>
              <a:pPr/>
              <a:t>26</a:t>
            </a:fld>
            <a:r>
              <a:rPr lang="en-US" altLang="zh-CN"/>
              <a:t>/162</a:t>
            </a:r>
            <a:endParaRPr lang="en-US" altLang="zh-CN" dirty="0"/>
          </a:p>
        </p:txBody>
      </p:sp>
    </p:spTree>
    <p:extLst>
      <p:ext uri="{BB962C8B-B14F-4D97-AF65-F5344CB8AC3E}">
        <p14:creationId xmlns:p14="http://schemas.microsoft.com/office/powerpoint/2010/main" val="9054145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xEl>
                                              <p:pRg st="1" end="1"/>
                                            </p:txEl>
                                          </p:spTgt>
                                        </p:tgtEl>
                                        <p:attrNameLst>
                                          <p:attrName>style.visibility</p:attrName>
                                        </p:attrNameLst>
                                      </p:cBhvr>
                                      <p:to>
                                        <p:strVal val="visible"/>
                                      </p:to>
                                    </p:set>
                                    <p:anim calcmode="lin" valueType="num">
                                      <p:cBhvr additive="base">
                                        <p:cTn id="13" dur="500" fill="hold"/>
                                        <p:tgtEl>
                                          <p:spTgt spid="1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
                                            <p:txEl>
                                              <p:pRg st="2" end="2"/>
                                            </p:txEl>
                                          </p:spTgt>
                                        </p:tgtEl>
                                        <p:attrNameLst>
                                          <p:attrName>style.visibility</p:attrName>
                                        </p:attrNameLst>
                                      </p:cBhvr>
                                      <p:to>
                                        <p:strVal val="visible"/>
                                      </p:to>
                                    </p:set>
                                    <p:anim calcmode="lin" valueType="num">
                                      <p:cBhvr additive="base">
                                        <p:cTn id="19" dur="500" fill="hold"/>
                                        <p:tgtEl>
                                          <p:spTgt spid="1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日期占位符 3"/>
          <p:cNvSpPr>
            <a:spLocks noGrp="1"/>
          </p:cNvSpPr>
          <p:nvPr>
            <p:ph type="dt" sz="quarter" idx="10"/>
          </p:nvPr>
        </p:nvSpPr>
        <p:spPr>
          <a:noFill/>
        </p:spPr>
        <p:txBody>
          <a:bodyPr/>
          <a:lstStyle>
            <a:lvl1pPr eaLnBrk="0" hangingPunct="0">
              <a:buChar char="n"/>
              <a:defRPr sz="3200">
                <a:solidFill>
                  <a:schemeClr val="tx1"/>
                </a:solidFill>
                <a:latin typeface="Tahoma" pitchFamily="34" charset="0"/>
                <a:ea typeface="宋体" pitchFamily="2" charset="-122"/>
              </a:defRPr>
            </a:lvl1pPr>
            <a:lvl2pPr marL="742950" indent="-285750" eaLnBrk="0" hangingPunct="0">
              <a:buClr>
                <a:schemeClr val="hlink"/>
              </a:buClr>
              <a:buSzPct val="55000"/>
              <a:buChar char="n"/>
              <a:defRPr sz="2800">
                <a:solidFill>
                  <a:schemeClr val="tx1"/>
                </a:solidFill>
                <a:latin typeface="Tahoma" pitchFamily="34" charset="0"/>
                <a:ea typeface="宋体" pitchFamily="2" charset="-122"/>
              </a:defRPr>
            </a:lvl2pPr>
            <a:lvl3pPr marL="1143000" indent="-228600" eaLnBrk="0" hangingPunct="0">
              <a:buSzPct val="50000"/>
              <a:buChar char="n"/>
              <a:defRPr sz="2400">
                <a:solidFill>
                  <a:schemeClr val="tx1"/>
                </a:solidFill>
                <a:latin typeface="Tahoma" pitchFamily="34" charset="0"/>
                <a:ea typeface="宋体" pitchFamily="2" charset="-122"/>
              </a:defRPr>
            </a:lvl3pPr>
            <a:lvl4pPr marL="1600200" indent="-228600" eaLnBrk="0" hangingPunct="0">
              <a:buClr>
                <a:schemeClr val="accent2"/>
              </a:buClr>
              <a:buSzPct val="55000"/>
              <a:buChar char="n"/>
              <a:defRPr sz="2000">
                <a:solidFill>
                  <a:schemeClr val="tx1"/>
                </a:solidFill>
                <a:latin typeface="Tahoma" pitchFamily="34" charset="0"/>
                <a:ea typeface="宋体" pitchFamily="2" charset="-122"/>
              </a:defRPr>
            </a:lvl4pPr>
            <a:lvl5pPr marL="2057400" indent="-228600" eaLnBrk="0" hangingPunct="0">
              <a:buClr>
                <a:schemeClr val="accent1"/>
              </a:buClr>
              <a:buSzPct val="50000"/>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fld id="{92D93455-4A47-47D9-BB39-C29E905AEB60}" type="datetime1">
              <a:rPr kumimoji="0" lang="zh-CN" altLang="en-US" sz="1400" b="0" i="0" u="none" strike="noStrike" kern="1200" cap="none" spc="0" normalizeH="0" baseline="0" noProof="0" smtClean="0">
                <a:ln>
                  <a:noFill/>
                </a:ln>
                <a:solidFill>
                  <a:srgbClr val="000000"/>
                </a:solidFill>
                <a:effectLst/>
                <a:uLnTx/>
                <a:uFillTx/>
                <a:latin typeface="Times New Roman" pitchFamily="18" charset="0"/>
                <a:ea typeface="宋体" pitchFamily="2" charset="-122"/>
                <a:cs typeface="Arial" charset="0"/>
              </a:rPr>
              <a:t>2025/11/6</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pitchFamily="2" charset="-122"/>
              <a:cs typeface="Arial" charset="0"/>
            </a:endParaRPr>
          </a:p>
        </p:txBody>
      </p:sp>
      <p:sp>
        <p:nvSpPr>
          <p:cNvPr id="23557" name="Rectangle 2"/>
          <p:cNvSpPr>
            <a:spLocks noGrp="1" noChangeArrowheads="1"/>
          </p:cNvSpPr>
          <p:nvPr>
            <p:ph type="title"/>
          </p:nvPr>
        </p:nvSpPr>
        <p:spPr/>
        <p:txBody>
          <a:bodyPr/>
          <a:lstStyle/>
          <a:p>
            <a:pPr eaLnBrk="1" hangingPunct="1"/>
            <a:r>
              <a:rPr lang="en-US" altLang="zh-CN" dirty="0"/>
              <a:t>2.1.1 </a:t>
            </a:r>
            <a:r>
              <a:rPr lang="zh-CN" altLang="en-US" dirty="0"/>
              <a:t>关系</a:t>
            </a:r>
            <a:r>
              <a:rPr lang="en-US" altLang="zh-CN" dirty="0"/>
              <a:t>-</a:t>
            </a:r>
            <a:r>
              <a:rPr lang="zh-CN" altLang="en-US" dirty="0"/>
              <a:t>码</a:t>
            </a:r>
            <a:r>
              <a:rPr lang="en-US" altLang="zh-CN" dirty="0"/>
              <a:t>(</a:t>
            </a:r>
            <a:r>
              <a:rPr lang="zh-CN" altLang="en-US" dirty="0"/>
              <a:t>回顾</a:t>
            </a:r>
            <a:r>
              <a:rPr lang="en-US" altLang="zh-CN" dirty="0"/>
              <a:t>)</a:t>
            </a:r>
            <a:endParaRPr lang="zh-CN" altLang="en-US" dirty="0"/>
          </a:p>
        </p:txBody>
      </p:sp>
      <p:sp>
        <p:nvSpPr>
          <p:cNvPr id="23558" name="Rectangle 3"/>
          <p:cNvSpPr>
            <a:spLocks noGrp="1" noChangeArrowheads="1"/>
          </p:cNvSpPr>
          <p:nvPr>
            <p:ph type="body" idx="1"/>
          </p:nvPr>
        </p:nvSpPr>
        <p:spPr/>
        <p:txBody>
          <a:bodyPr/>
          <a:lstStyle/>
          <a:p>
            <a:pPr eaLnBrk="1" hangingPunct="1"/>
            <a:r>
              <a:rPr lang="zh-CN" altLang="en-US" sz="2800" b="1" dirty="0"/>
              <a:t>关系中的元组如何区分？</a:t>
            </a:r>
            <a:endParaRPr lang="en-US" altLang="zh-CN" sz="2800" b="1" dirty="0"/>
          </a:p>
          <a:p>
            <a:pPr eaLnBrk="1" hangingPunct="1"/>
            <a:r>
              <a:rPr lang="zh-CN" altLang="en-US" sz="2800" dirty="0"/>
              <a:t>任意两个元组不能完全相同，也即一个元组的所有属性值是可以</a:t>
            </a:r>
            <a:r>
              <a:rPr lang="zh-CN" altLang="en-US" sz="2800" b="1" dirty="0">
                <a:solidFill>
                  <a:srgbClr val="0000FF"/>
                </a:solidFill>
                <a:effectLst>
                  <a:outerShdw blurRad="38100" dist="38100" dir="2700000" algn="tl">
                    <a:srgbClr val="000000">
                      <a:alpha val="43137"/>
                    </a:srgbClr>
                  </a:outerShdw>
                </a:effectLst>
              </a:rPr>
              <a:t>唯一标识</a:t>
            </a:r>
            <a:r>
              <a:rPr lang="zh-CN" altLang="en-US" sz="2800" dirty="0"/>
              <a:t>元组的。</a:t>
            </a:r>
            <a:endParaRPr lang="en-US" altLang="zh-CN" sz="2800" b="1" dirty="0"/>
          </a:p>
          <a:p>
            <a:pPr eaLnBrk="1" hangingPunct="1"/>
            <a:r>
              <a:rPr lang="zh-CN" altLang="en-US" sz="2800" b="1" dirty="0">
                <a:solidFill>
                  <a:srgbClr val="FF0000"/>
                </a:solidFill>
              </a:rPr>
              <a:t>超码</a:t>
            </a:r>
            <a:r>
              <a:rPr lang="zh-CN" altLang="en-US" sz="2800" dirty="0"/>
              <a:t>－－关系中</a:t>
            </a:r>
            <a:r>
              <a:rPr lang="zh-CN" altLang="en-US" sz="2800" dirty="0">
                <a:solidFill>
                  <a:srgbClr val="0000FF"/>
                </a:solidFill>
              </a:rPr>
              <a:t>一个</a:t>
            </a:r>
            <a:r>
              <a:rPr lang="zh-CN" altLang="en-US" sz="2800" dirty="0"/>
              <a:t>或</a:t>
            </a:r>
            <a:r>
              <a:rPr lang="zh-CN" altLang="en-US" sz="2800" dirty="0">
                <a:solidFill>
                  <a:srgbClr val="0000FF"/>
                </a:solidFill>
              </a:rPr>
              <a:t>多个属性的集合</a:t>
            </a:r>
            <a:r>
              <a:rPr lang="zh-CN" altLang="en-US" sz="2800" dirty="0"/>
              <a:t>，这个集合可以</a:t>
            </a:r>
            <a:r>
              <a:rPr lang="zh-CN" altLang="en-US" sz="2800" b="1" dirty="0"/>
              <a:t>唯一标识</a:t>
            </a:r>
            <a:r>
              <a:rPr lang="zh-CN" altLang="en-US" sz="2800" dirty="0"/>
              <a:t>出一个元组。</a:t>
            </a:r>
            <a:endParaRPr lang="en-US" altLang="zh-CN" sz="2800" dirty="0"/>
          </a:p>
          <a:p>
            <a:pPr eaLnBrk="1" hangingPunct="1"/>
            <a:r>
              <a:rPr lang="zh-CN" altLang="en-US" sz="2800" dirty="0"/>
              <a:t>超码的</a:t>
            </a:r>
            <a:r>
              <a:rPr lang="zh-CN" altLang="en-US" sz="2800" dirty="0">
                <a:solidFill>
                  <a:srgbClr val="0000FF"/>
                </a:solidFill>
              </a:rPr>
              <a:t>子集</a:t>
            </a:r>
            <a:r>
              <a:rPr lang="zh-CN" altLang="en-US" sz="2800" dirty="0"/>
              <a:t>也可能是</a:t>
            </a:r>
            <a:r>
              <a:rPr lang="zh-CN" altLang="en-US" sz="2800" dirty="0">
                <a:solidFill>
                  <a:srgbClr val="0000FF"/>
                </a:solidFill>
              </a:rPr>
              <a:t>超码</a:t>
            </a:r>
            <a:endParaRPr lang="en-US" altLang="zh-CN" sz="2800" dirty="0">
              <a:solidFill>
                <a:srgbClr val="0000FF"/>
              </a:solidFill>
            </a:endParaRPr>
          </a:p>
          <a:p>
            <a:pPr eaLnBrk="1" hangingPunct="1"/>
            <a:r>
              <a:rPr lang="zh-CN" altLang="en-US" sz="2800" dirty="0"/>
              <a:t>而我们</a:t>
            </a:r>
            <a:r>
              <a:rPr lang="zh-CN" altLang="en-US" sz="2800" u="sng" dirty="0"/>
              <a:t>通常感兴趣的超码</a:t>
            </a:r>
            <a:r>
              <a:rPr lang="zh-CN" altLang="en-US" sz="2800" dirty="0"/>
              <a:t>是，它们的</a:t>
            </a:r>
            <a:r>
              <a:rPr lang="zh-CN" altLang="en-US" sz="2800" dirty="0">
                <a:solidFill>
                  <a:srgbClr val="0000FF"/>
                </a:solidFill>
              </a:rPr>
              <a:t>任意真子集</a:t>
            </a:r>
            <a:r>
              <a:rPr lang="zh-CN" altLang="en-US" sz="2800" dirty="0">
                <a:solidFill>
                  <a:srgbClr val="FF0000"/>
                </a:solidFill>
              </a:rPr>
              <a:t>都不是</a:t>
            </a:r>
            <a:r>
              <a:rPr lang="zh-CN" altLang="en-US" sz="2800" dirty="0">
                <a:solidFill>
                  <a:srgbClr val="0000FF"/>
                </a:solidFill>
              </a:rPr>
              <a:t>超码</a:t>
            </a:r>
            <a:endParaRPr lang="en-US" altLang="zh-CN" sz="2800" dirty="0">
              <a:solidFill>
                <a:srgbClr val="0000FF"/>
              </a:solidFill>
            </a:endParaRPr>
          </a:p>
          <a:p>
            <a:pPr eaLnBrk="1" hangingPunct="1"/>
            <a:r>
              <a:rPr lang="zh-CN" altLang="en-US" sz="2800" b="1" dirty="0">
                <a:solidFill>
                  <a:srgbClr val="0000FF"/>
                </a:solidFill>
              </a:rPr>
              <a:t>最小</a:t>
            </a:r>
            <a:r>
              <a:rPr lang="zh-CN" altLang="en-US" sz="2800" dirty="0">
                <a:solidFill>
                  <a:srgbClr val="0000FF"/>
                </a:solidFill>
              </a:rPr>
              <a:t>的超码，称为</a:t>
            </a:r>
            <a:r>
              <a:rPr lang="zh-CN" altLang="en-US" sz="2800" dirty="0">
                <a:solidFill>
                  <a:srgbClr val="FF0000"/>
                </a:solidFill>
              </a:rPr>
              <a:t>候选码</a:t>
            </a:r>
            <a:endParaRPr lang="en-US" altLang="zh-CN" sz="2800" dirty="0">
              <a:solidFill>
                <a:srgbClr val="FF0000"/>
              </a:solidFill>
            </a:endParaRPr>
          </a:p>
        </p:txBody>
      </p:sp>
      <p:sp>
        <p:nvSpPr>
          <p:cNvPr id="2" name="页脚占位符 1">
            <a:extLst>
              <a:ext uri="{FF2B5EF4-FFF2-40B4-BE49-F238E27FC236}">
                <a16:creationId xmlns:a16="http://schemas.microsoft.com/office/drawing/2014/main" id="{7FA37576-AC9A-6C64-ADAB-BDEA8D1CD5A6}"/>
              </a:ext>
            </a:extLst>
          </p:cNvPr>
          <p:cNvSpPr>
            <a:spLocks noGrp="1"/>
          </p:cNvSpPr>
          <p:nvPr>
            <p:ph type="ftr" sz="quarter" idx="11"/>
          </p:nvPr>
        </p:nvSpPr>
        <p:spPr/>
        <p:txBody>
          <a:bodyPr/>
          <a:lstStyle/>
          <a:p>
            <a:r>
              <a:rPr lang="en-US" altLang="zh-CN"/>
              <a:t>《数据库系统概论》- 第6章</a:t>
            </a:r>
          </a:p>
        </p:txBody>
      </p:sp>
      <p:sp>
        <p:nvSpPr>
          <p:cNvPr id="3" name="灯片编号占位符 2">
            <a:extLst>
              <a:ext uri="{FF2B5EF4-FFF2-40B4-BE49-F238E27FC236}">
                <a16:creationId xmlns:a16="http://schemas.microsoft.com/office/drawing/2014/main" id="{6103BCAE-9AF2-0AD8-D035-522F6C65939B}"/>
              </a:ext>
            </a:extLst>
          </p:cNvPr>
          <p:cNvSpPr>
            <a:spLocks noGrp="1"/>
          </p:cNvSpPr>
          <p:nvPr>
            <p:ph type="sldNum" sz="quarter" idx="12"/>
          </p:nvPr>
        </p:nvSpPr>
        <p:spPr/>
        <p:txBody>
          <a:bodyPr/>
          <a:lstStyle/>
          <a:p>
            <a:fld id="{A2D74603-B40B-4D66-8F6E-41C870D48932}" type="slidenum">
              <a:rPr lang="en-US" altLang="zh-CN" smtClean="0"/>
              <a:pPr/>
              <a:t>27</a:t>
            </a:fld>
            <a:r>
              <a:rPr lang="en-US" altLang="zh-CN"/>
              <a:t>/162</a:t>
            </a:r>
            <a:endParaRPr lang="en-US" altLang="zh-CN" dirty="0"/>
          </a:p>
        </p:txBody>
      </p:sp>
    </p:spTree>
    <p:extLst>
      <p:ext uri="{BB962C8B-B14F-4D97-AF65-F5344CB8AC3E}">
        <p14:creationId xmlns:p14="http://schemas.microsoft.com/office/powerpoint/2010/main" val="469418705"/>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日期占位符 3"/>
          <p:cNvSpPr>
            <a:spLocks noGrp="1"/>
          </p:cNvSpPr>
          <p:nvPr>
            <p:ph type="dt" sz="quarter" idx="10"/>
          </p:nvPr>
        </p:nvSpPr>
        <p:spPr>
          <a:noFill/>
        </p:spPr>
        <p:txBody>
          <a:bodyPr/>
          <a:lstStyle>
            <a:lvl1pPr eaLnBrk="0" hangingPunct="0">
              <a:buChar char="n"/>
              <a:defRPr sz="3200">
                <a:solidFill>
                  <a:schemeClr val="tx1"/>
                </a:solidFill>
                <a:latin typeface="Tahoma" pitchFamily="34" charset="0"/>
                <a:ea typeface="宋体" pitchFamily="2" charset="-122"/>
              </a:defRPr>
            </a:lvl1pPr>
            <a:lvl2pPr marL="742950" indent="-285750" eaLnBrk="0" hangingPunct="0">
              <a:buClr>
                <a:schemeClr val="hlink"/>
              </a:buClr>
              <a:buSzPct val="55000"/>
              <a:buChar char="n"/>
              <a:defRPr sz="2800">
                <a:solidFill>
                  <a:schemeClr val="tx1"/>
                </a:solidFill>
                <a:latin typeface="Tahoma" pitchFamily="34" charset="0"/>
                <a:ea typeface="宋体" pitchFamily="2" charset="-122"/>
              </a:defRPr>
            </a:lvl2pPr>
            <a:lvl3pPr marL="1143000" indent="-228600" eaLnBrk="0" hangingPunct="0">
              <a:buSzPct val="50000"/>
              <a:buChar char="n"/>
              <a:defRPr sz="2400">
                <a:solidFill>
                  <a:schemeClr val="tx1"/>
                </a:solidFill>
                <a:latin typeface="Tahoma" pitchFamily="34" charset="0"/>
                <a:ea typeface="宋体" pitchFamily="2" charset="-122"/>
              </a:defRPr>
            </a:lvl3pPr>
            <a:lvl4pPr marL="1600200" indent="-228600" eaLnBrk="0" hangingPunct="0">
              <a:buClr>
                <a:schemeClr val="accent2"/>
              </a:buClr>
              <a:buSzPct val="55000"/>
              <a:buChar char="n"/>
              <a:defRPr sz="2000">
                <a:solidFill>
                  <a:schemeClr val="tx1"/>
                </a:solidFill>
                <a:latin typeface="Tahoma" pitchFamily="34" charset="0"/>
                <a:ea typeface="宋体" pitchFamily="2" charset="-122"/>
              </a:defRPr>
            </a:lvl4pPr>
            <a:lvl5pPr marL="2057400" indent="-228600" eaLnBrk="0" hangingPunct="0">
              <a:buClr>
                <a:schemeClr val="accent1"/>
              </a:buClr>
              <a:buSzPct val="50000"/>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fld id="{9DD6ACB1-220F-4C0F-86E8-8A4673CF70B9}" type="datetime1">
              <a:rPr kumimoji="0" lang="zh-CN" altLang="en-US" sz="1400" b="0" i="0" u="none" strike="noStrike" kern="1200" cap="none" spc="0" normalizeH="0" baseline="0" noProof="0" smtClean="0">
                <a:ln>
                  <a:noFill/>
                </a:ln>
                <a:solidFill>
                  <a:srgbClr val="000000"/>
                </a:solidFill>
                <a:effectLst/>
                <a:uLnTx/>
                <a:uFillTx/>
                <a:latin typeface="Times New Roman" pitchFamily="18" charset="0"/>
                <a:ea typeface="宋体" pitchFamily="2" charset="-122"/>
                <a:cs typeface="Arial" charset="0"/>
              </a:rPr>
              <a:t>2025/11/6</a:t>
            </a:fld>
            <a:endParaRPr kumimoji="0" lang="en-US" altLang="zh-CN" sz="1400" b="0" i="0" u="none" strike="noStrike" kern="1200" cap="none" spc="0" normalizeH="0" baseline="0" noProof="0">
              <a:ln>
                <a:noFill/>
              </a:ln>
              <a:solidFill>
                <a:srgbClr val="000000"/>
              </a:solidFill>
              <a:effectLst/>
              <a:uLnTx/>
              <a:uFillTx/>
              <a:latin typeface="Times New Roman" pitchFamily="18" charset="0"/>
              <a:ea typeface="宋体" pitchFamily="2" charset="-122"/>
              <a:cs typeface="Arial" charset="0"/>
            </a:endParaRPr>
          </a:p>
        </p:txBody>
      </p:sp>
      <p:sp>
        <p:nvSpPr>
          <p:cNvPr id="23557" name="Rectangle 2"/>
          <p:cNvSpPr>
            <a:spLocks noGrp="1" noChangeArrowheads="1"/>
          </p:cNvSpPr>
          <p:nvPr>
            <p:ph type="title"/>
          </p:nvPr>
        </p:nvSpPr>
        <p:spPr/>
        <p:txBody>
          <a:bodyPr/>
          <a:lstStyle/>
          <a:p>
            <a:pPr eaLnBrk="1" hangingPunct="1"/>
            <a:r>
              <a:rPr lang="en-US" altLang="zh-CN" dirty="0"/>
              <a:t>2.1.1 </a:t>
            </a:r>
            <a:r>
              <a:rPr lang="zh-CN" altLang="en-US" dirty="0"/>
              <a:t>关系</a:t>
            </a:r>
            <a:r>
              <a:rPr lang="en-US" altLang="zh-CN" dirty="0"/>
              <a:t>-</a:t>
            </a:r>
            <a:r>
              <a:rPr lang="zh-CN" altLang="en-US" dirty="0"/>
              <a:t>码</a:t>
            </a:r>
            <a:r>
              <a:rPr lang="en-US" altLang="zh-CN" dirty="0"/>
              <a:t>(</a:t>
            </a:r>
            <a:r>
              <a:rPr lang="zh-CN" altLang="en-US" dirty="0"/>
              <a:t>回顾</a:t>
            </a:r>
            <a:r>
              <a:rPr lang="en-US" altLang="zh-CN" dirty="0"/>
              <a:t>)</a:t>
            </a:r>
            <a:endParaRPr lang="zh-CN" altLang="en-US" dirty="0"/>
          </a:p>
        </p:txBody>
      </p:sp>
      <p:sp>
        <p:nvSpPr>
          <p:cNvPr id="23558" name="Rectangle 3"/>
          <p:cNvSpPr>
            <a:spLocks noGrp="1" noChangeArrowheads="1"/>
          </p:cNvSpPr>
          <p:nvPr>
            <p:ph type="body" idx="1"/>
          </p:nvPr>
        </p:nvSpPr>
        <p:spPr/>
        <p:txBody>
          <a:bodyPr/>
          <a:lstStyle/>
          <a:p>
            <a:pPr eaLnBrk="1" hangingPunct="1"/>
            <a:r>
              <a:rPr lang="zh-CN" altLang="en-US" sz="2800" b="1" dirty="0">
                <a:solidFill>
                  <a:srgbClr val="FF0000"/>
                </a:solidFill>
              </a:rPr>
              <a:t>候选码</a:t>
            </a:r>
            <a:r>
              <a:rPr lang="zh-CN" altLang="en-US" sz="2800" dirty="0"/>
              <a:t>－－若关系中的</a:t>
            </a:r>
            <a:r>
              <a:rPr lang="zh-CN" altLang="en-US" sz="2800" dirty="0">
                <a:solidFill>
                  <a:srgbClr val="0000FF"/>
                </a:solidFill>
              </a:rPr>
              <a:t>某一属性组</a:t>
            </a:r>
            <a:r>
              <a:rPr lang="zh-CN" altLang="en-US" sz="2800" dirty="0"/>
              <a:t>的值能</a:t>
            </a:r>
            <a:r>
              <a:rPr lang="zh-CN" altLang="en-US" sz="2800" dirty="0">
                <a:solidFill>
                  <a:srgbClr val="0000FF"/>
                </a:solidFill>
              </a:rPr>
              <a:t>唯一地标识</a:t>
            </a:r>
            <a:r>
              <a:rPr lang="zh-CN" altLang="en-US" sz="2800" dirty="0"/>
              <a:t>一个</a:t>
            </a:r>
            <a:r>
              <a:rPr lang="zh-CN" altLang="en-US" sz="2800" dirty="0">
                <a:solidFill>
                  <a:srgbClr val="0000FF"/>
                </a:solidFill>
              </a:rPr>
              <a:t>元组</a:t>
            </a:r>
            <a:r>
              <a:rPr lang="zh-CN" altLang="en-US" sz="2800" dirty="0"/>
              <a:t>，而其</a:t>
            </a:r>
            <a:r>
              <a:rPr lang="zh-CN" altLang="en-US" sz="2800" u="sng" dirty="0">
                <a:solidFill>
                  <a:srgbClr val="FF0000"/>
                </a:solidFill>
              </a:rPr>
              <a:t>子集不能</a:t>
            </a:r>
            <a:r>
              <a:rPr lang="zh-CN" altLang="en-US" sz="2800" dirty="0"/>
              <a:t>，则称该属性组为该关系的一个</a:t>
            </a:r>
            <a:r>
              <a:rPr lang="zh-CN" altLang="en-US" sz="2800" b="1" dirty="0">
                <a:solidFill>
                  <a:srgbClr val="0000FF"/>
                </a:solidFill>
              </a:rPr>
              <a:t>候选码</a:t>
            </a:r>
            <a:r>
              <a:rPr lang="en-US" altLang="zh-CN" sz="2800" dirty="0"/>
              <a:t>(Candidate Key)</a:t>
            </a:r>
            <a:r>
              <a:rPr lang="zh-CN" altLang="en-US" sz="2800" dirty="0"/>
              <a:t>。</a:t>
            </a:r>
            <a:endParaRPr lang="en-US" altLang="zh-CN" sz="2800" dirty="0"/>
          </a:p>
          <a:p>
            <a:pPr lvl="1" eaLnBrk="1" hangingPunct="1"/>
            <a:r>
              <a:rPr lang="zh-CN" altLang="en-US" sz="2400" dirty="0"/>
              <a:t>最小超码</a:t>
            </a:r>
          </a:p>
          <a:p>
            <a:pPr eaLnBrk="1" hangingPunct="1"/>
            <a:endParaRPr lang="zh-CN" altLang="en-US" sz="800" dirty="0"/>
          </a:p>
          <a:p>
            <a:pPr eaLnBrk="1" hangingPunct="1"/>
            <a:r>
              <a:rPr lang="zh-CN" altLang="en-US" sz="2800" b="1" dirty="0">
                <a:solidFill>
                  <a:srgbClr val="FF0000"/>
                </a:solidFill>
              </a:rPr>
              <a:t>主码</a:t>
            </a:r>
            <a:r>
              <a:rPr lang="zh-CN" altLang="en-US" sz="2800" dirty="0"/>
              <a:t>－－一个关系可能有</a:t>
            </a:r>
            <a:r>
              <a:rPr lang="zh-CN" altLang="en-US" sz="2800" u="sng" dirty="0">
                <a:solidFill>
                  <a:srgbClr val="0000FF"/>
                </a:solidFill>
              </a:rPr>
              <a:t>多个候选码</a:t>
            </a:r>
            <a:r>
              <a:rPr lang="zh-CN" altLang="en-US" sz="2800" dirty="0"/>
              <a:t>，则</a:t>
            </a:r>
            <a:r>
              <a:rPr lang="zh-CN" altLang="en-US" sz="2800" u="sng" dirty="0"/>
              <a:t>选定其中一个</a:t>
            </a:r>
            <a:r>
              <a:rPr lang="zh-CN" altLang="en-US" sz="2800" dirty="0"/>
              <a:t>作为</a:t>
            </a:r>
            <a:r>
              <a:rPr lang="zh-CN" altLang="en-US" sz="2800" b="1" dirty="0">
                <a:solidFill>
                  <a:srgbClr val="FF0000"/>
                </a:solidFill>
              </a:rPr>
              <a:t>主码</a:t>
            </a:r>
            <a:r>
              <a:rPr lang="en-US" altLang="zh-CN" sz="2800" dirty="0"/>
              <a:t>(Primary Key)</a:t>
            </a:r>
            <a:r>
              <a:rPr lang="zh-CN" altLang="en-US" sz="2800" dirty="0"/>
              <a:t>。</a:t>
            </a:r>
            <a:endParaRPr lang="en-US" altLang="zh-CN" sz="2800" dirty="0"/>
          </a:p>
          <a:p>
            <a:pPr eaLnBrk="1" hangingPunct="1"/>
            <a:r>
              <a:rPr lang="zh-CN" altLang="en-US" sz="2800" dirty="0"/>
              <a:t>任意两个元组不能完全相同，也即任意两个元组的都</a:t>
            </a:r>
            <a:r>
              <a:rPr lang="zh-CN" altLang="en-US" sz="2800" b="1" dirty="0">
                <a:solidFill>
                  <a:srgbClr val="0000FF"/>
                </a:solidFill>
              </a:rPr>
              <a:t>不允许</a:t>
            </a:r>
            <a:r>
              <a:rPr lang="zh-CN" altLang="en-US" sz="2800" dirty="0"/>
              <a:t>在</a:t>
            </a:r>
            <a:r>
              <a:rPr lang="zh-CN" altLang="en-US" sz="2800" dirty="0">
                <a:solidFill>
                  <a:srgbClr val="FF0000"/>
                </a:solidFill>
              </a:rPr>
              <a:t>主</a:t>
            </a:r>
            <a:r>
              <a:rPr lang="zh-CN" altLang="en-US" sz="2800" b="1" dirty="0">
                <a:solidFill>
                  <a:srgbClr val="FF0000"/>
                </a:solidFill>
              </a:rPr>
              <a:t>码属性上</a:t>
            </a:r>
            <a:r>
              <a:rPr lang="zh-CN" altLang="en-US" sz="2800" b="1" dirty="0">
                <a:solidFill>
                  <a:srgbClr val="0000FF"/>
                </a:solidFill>
              </a:rPr>
              <a:t>具有</a:t>
            </a:r>
            <a:r>
              <a:rPr lang="zh-CN" altLang="en-US" sz="2800" dirty="0">
                <a:solidFill>
                  <a:srgbClr val="0000FF"/>
                </a:solidFill>
              </a:rPr>
              <a:t>相同的值</a:t>
            </a:r>
            <a:r>
              <a:rPr lang="zh-CN" altLang="en-US" sz="2800" dirty="0"/>
              <a:t>。</a:t>
            </a:r>
            <a:endParaRPr lang="en-US" altLang="zh-CN" sz="2800" dirty="0"/>
          </a:p>
          <a:p>
            <a:pPr eaLnBrk="1" hangingPunct="1"/>
            <a:r>
              <a:rPr lang="zh-CN" altLang="en-US" sz="2800" dirty="0"/>
              <a:t>因此，主码也被称</a:t>
            </a:r>
            <a:r>
              <a:rPr lang="zh-CN" altLang="en-US" sz="2800" b="1" dirty="0"/>
              <a:t>作</a:t>
            </a:r>
            <a:r>
              <a:rPr lang="zh-CN" altLang="en-US" sz="2800" b="1" dirty="0">
                <a:solidFill>
                  <a:srgbClr val="0000FF"/>
                </a:solidFill>
              </a:rPr>
              <a:t>主码约束</a:t>
            </a:r>
            <a:r>
              <a:rPr lang="zh-CN" altLang="en-US" sz="2800" dirty="0"/>
              <a:t>。</a:t>
            </a:r>
            <a:endParaRPr lang="zh-CN" altLang="en-US" sz="800" dirty="0"/>
          </a:p>
          <a:p>
            <a:pPr eaLnBrk="1" hangingPunct="1"/>
            <a:endParaRPr lang="zh-CN" altLang="en-US" sz="2800" dirty="0"/>
          </a:p>
        </p:txBody>
      </p:sp>
      <p:sp>
        <p:nvSpPr>
          <p:cNvPr id="2" name="页脚占位符 1">
            <a:extLst>
              <a:ext uri="{FF2B5EF4-FFF2-40B4-BE49-F238E27FC236}">
                <a16:creationId xmlns:a16="http://schemas.microsoft.com/office/drawing/2014/main" id="{EC610C90-C75F-8EA4-471F-DEB6EB7066A0}"/>
              </a:ext>
            </a:extLst>
          </p:cNvPr>
          <p:cNvSpPr>
            <a:spLocks noGrp="1"/>
          </p:cNvSpPr>
          <p:nvPr>
            <p:ph type="ftr" sz="quarter" idx="11"/>
          </p:nvPr>
        </p:nvSpPr>
        <p:spPr/>
        <p:txBody>
          <a:bodyPr/>
          <a:lstStyle/>
          <a:p>
            <a:r>
              <a:rPr lang="en-US" altLang="zh-CN"/>
              <a:t>《数据库系统概论》- 第6章</a:t>
            </a:r>
          </a:p>
        </p:txBody>
      </p:sp>
      <p:sp>
        <p:nvSpPr>
          <p:cNvPr id="3" name="灯片编号占位符 2">
            <a:extLst>
              <a:ext uri="{FF2B5EF4-FFF2-40B4-BE49-F238E27FC236}">
                <a16:creationId xmlns:a16="http://schemas.microsoft.com/office/drawing/2014/main" id="{A98139C9-D8F1-D40D-7355-4DE7D0D315FB}"/>
              </a:ext>
            </a:extLst>
          </p:cNvPr>
          <p:cNvSpPr>
            <a:spLocks noGrp="1"/>
          </p:cNvSpPr>
          <p:nvPr>
            <p:ph type="sldNum" sz="quarter" idx="12"/>
          </p:nvPr>
        </p:nvSpPr>
        <p:spPr/>
        <p:txBody>
          <a:bodyPr/>
          <a:lstStyle/>
          <a:p>
            <a:fld id="{A2D74603-B40B-4D66-8F6E-41C870D48932}" type="slidenum">
              <a:rPr lang="en-US" altLang="zh-CN" smtClean="0"/>
              <a:pPr/>
              <a:t>28</a:t>
            </a:fld>
            <a:r>
              <a:rPr lang="en-US" altLang="zh-CN"/>
              <a:t>/162</a:t>
            </a:r>
            <a:endParaRPr lang="en-US" altLang="zh-CN" dirty="0"/>
          </a:p>
        </p:txBody>
      </p:sp>
    </p:spTree>
    <p:extLst>
      <p:ext uri="{BB962C8B-B14F-4D97-AF65-F5344CB8AC3E}">
        <p14:creationId xmlns:p14="http://schemas.microsoft.com/office/powerpoint/2010/main" val="25305437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558">
                                            <p:txEl>
                                              <p:pRg st="3" end="3"/>
                                            </p:txEl>
                                          </p:spTgt>
                                        </p:tgtEl>
                                        <p:attrNameLst>
                                          <p:attrName>style.visibility</p:attrName>
                                        </p:attrNameLst>
                                      </p:cBhvr>
                                      <p:to>
                                        <p:strVal val="visible"/>
                                      </p:to>
                                    </p:set>
                                    <p:anim calcmode="lin" valueType="num">
                                      <p:cBhvr additive="base">
                                        <p:cTn id="7" dur="500" fill="hold"/>
                                        <p:tgtEl>
                                          <p:spTgt spid="23558">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5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3558">
                                            <p:txEl>
                                              <p:pRg st="4" end="4"/>
                                            </p:txEl>
                                          </p:spTgt>
                                        </p:tgtEl>
                                        <p:attrNameLst>
                                          <p:attrName>style.visibility</p:attrName>
                                        </p:attrNameLst>
                                      </p:cBhvr>
                                      <p:to>
                                        <p:strVal val="visible"/>
                                      </p:to>
                                    </p:set>
                                    <p:anim calcmode="lin" valueType="num">
                                      <p:cBhvr additive="base">
                                        <p:cTn id="13" dur="500" fill="hold"/>
                                        <p:tgtEl>
                                          <p:spTgt spid="23558">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355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3558">
                                            <p:txEl>
                                              <p:pRg st="5" end="5"/>
                                            </p:txEl>
                                          </p:spTgt>
                                        </p:tgtEl>
                                        <p:attrNameLst>
                                          <p:attrName>style.visibility</p:attrName>
                                        </p:attrNameLst>
                                      </p:cBhvr>
                                      <p:to>
                                        <p:strVal val="visible"/>
                                      </p:to>
                                    </p:set>
                                    <p:anim calcmode="lin" valueType="num">
                                      <p:cBhvr additive="base">
                                        <p:cTn id="19" dur="500" fill="hold"/>
                                        <p:tgtEl>
                                          <p:spTgt spid="23558">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355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half" idx="10"/>
          </p:nvPr>
        </p:nvSpPr>
        <p:spPr/>
        <p:txBody>
          <a:bodyPr/>
          <a:lstStyle/>
          <a:p>
            <a:fld id="{A387B9A3-5D51-49A9-85DD-BCCE63D5D19F}" type="datetime1">
              <a:rPr lang="zh-CN" altLang="en-US" smtClean="0"/>
              <a:t>2025/11/6</a:t>
            </a:fld>
            <a:endParaRPr lang="en-US" altLang="zh-CN"/>
          </a:p>
        </p:txBody>
      </p:sp>
      <p:sp>
        <p:nvSpPr>
          <p:cNvPr id="273410" name="Rectangle 2"/>
          <p:cNvSpPr>
            <a:spLocks noGrp="1" noChangeArrowheads="1"/>
          </p:cNvSpPr>
          <p:nvPr>
            <p:ph type="title"/>
          </p:nvPr>
        </p:nvSpPr>
        <p:spPr/>
        <p:txBody>
          <a:bodyPr/>
          <a:lstStyle/>
          <a:p>
            <a:r>
              <a:rPr lang="en-US" altLang="zh-CN" dirty="0"/>
              <a:t>8.2.1 </a:t>
            </a:r>
            <a:r>
              <a:rPr lang="zh-CN" altLang="en-US" dirty="0"/>
              <a:t>码</a:t>
            </a:r>
            <a:r>
              <a:rPr lang="en-US" altLang="zh-CN" dirty="0"/>
              <a:t>(</a:t>
            </a:r>
            <a:r>
              <a:rPr lang="zh-CN" altLang="en-US" dirty="0"/>
              <a:t>函数依赖的概念</a:t>
            </a:r>
            <a:r>
              <a:rPr lang="en-US" altLang="zh-CN" dirty="0"/>
              <a:t>)</a:t>
            </a:r>
            <a:endParaRPr lang="zh-CN" altLang="en-US" dirty="0"/>
          </a:p>
        </p:txBody>
      </p:sp>
      <p:sp>
        <p:nvSpPr>
          <p:cNvPr id="273411" name="Rectangle 3"/>
          <p:cNvSpPr>
            <a:spLocks noGrp="1" noChangeArrowheads="1"/>
          </p:cNvSpPr>
          <p:nvPr>
            <p:ph type="body" idx="1"/>
          </p:nvPr>
        </p:nvSpPr>
        <p:spPr/>
        <p:txBody>
          <a:bodyPr/>
          <a:lstStyle/>
          <a:p>
            <a:pPr>
              <a:buFont typeface="Wingdings" pitchFamily="2" charset="2"/>
              <a:buNone/>
            </a:pPr>
            <a:r>
              <a:rPr lang="zh-CN" altLang="en-US" dirty="0">
                <a:solidFill>
                  <a:schemeClr val="hlink"/>
                </a:solidFill>
              </a:rPr>
              <a:t>定义</a:t>
            </a:r>
            <a:r>
              <a:rPr lang="en-US" altLang="zh-CN" dirty="0">
                <a:solidFill>
                  <a:schemeClr val="hlink"/>
                </a:solidFill>
              </a:rPr>
              <a:t>6.4</a:t>
            </a:r>
            <a:r>
              <a:rPr lang="en-US" altLang="zh-CN" sz="2800" dirty="0"/>
              <a:t> </a:t>
            </a:r>
            <a:r>
              <a:rPr lang="zh-CN" altLang="en-US" sz="2800" dirty="0"/>
              <a:t>设</a:t>
            </a:r>
            <a:r>
              <a:rPr lang="en-US" altLang="zh-CN" sz="2800" dirty="0">
                <a:solidFill>
                  <a:srgbClr val="FF0000"/>
                </a:solidFill>
              </a:rPr>
              <a:t>K</a:t>
            </a:r>
            <a:r>
              <a:rPr lang="zh-CN" altLang="en-US" sz="2800" dirty="0"/>
              <a:t>为</a:t>
            </a:r>
            <a:r>
              <a:rPr lang="en-US" altLang="zh-CN" sz="2800" dirty="0"/>
              <a:t>R&lt;</a:t>
            </a:r>
            <a:r>
              <a:rPr lang="en-US" altLang="zh-CN" sz="2800" dirty="0">
                <a:solidFill>
                  <a:srgbClr val="0000FF"/>
                </a:solidFill>
              </a:rPr>
              <a:t>U</a:t>
            </a:r>
            <a:r>
              <a:rPr lang="en-US" altLang="zh-CN" sz="2800" dirty="0"/>
              <a:t>,F&gt;</a:t>
            </a:r>
            <a:r>
              <a:rPr lang="zh-CN" altLang="en-US" sz="2800" dirty="0"/>
              <a:t>中的</a:t>
            </a:r>
            <a:r>
              <a:rPr lang="zh-CN" altLang="en-US" sz="2800" u="sng" dirty="0"/>
              <a:t>属性或属性组</a:t>
            </a:r>
            <a:r>
              <a:rPr lang="zh-CN" altLang="en-US" sz="2800" dirty="0"/>
              <a:t>，</a:t>
            </a:r>
            <a:endParaRPr lang="en-US" altLang="zh-CN" sz="2800" dirty="0"/>
          </a:p>
          <a:p>
            <a:pPr>
              <a:buFont typeface="Wingdings" pitchFamily="2" charset="2"/>
              <a:buNone/>
            </a:pPr>
            <a:r>
              <a:rPr lang="en-US" altLang="zh-CN" sz="2800" dirty="0"/>
              <a:t>   </a:t>
            </a:r>
            <a:r>
              <a:rPr lang="zh-CN" altLang="en-US" sz="2800" dirty="0"/>
              <a:t>若</a:t>
            </a:r>
            <a:r>
              <a:rPr lang="en-US" altLang="zh-CN" sz="2800" dirty="0">
                <a:solidFill>
                  <a:srgbClr val="FF0000"/>
                </a:solidFill>
              </a:rPr>
              <a:t>K</a:t>
            </a:r>
            <a:r>
              <a:rPr lang="en-US" altLang="zh-CN" dirty="0">
                <a:solidFill>
                  <a:schemeClr val="tx2"/>
                </a:solidFill>
                <a:latin typeface="宋体" pitchFamily="2" charset="-122"/>
              </a:rPr>
              <a:t>→</a:t>
            </a:r>
            <a:r>
              <a:rPr lang="en-US" altLang="zh-CN" sz="2800" dirty="0">
                <a:solidFill>
                  <a:srgbClr val="0000FF"/>
                </a:solidFill>
              </a:rPr>
              <a:t>U</a:t>
            </a:r>
            <a:r>
              <a:rPr lang="zh-CN" altLang="en-US" sz="2800" dirty="0"/>
              <a:t>，则</a:t>
            </a:r>
            <a:r>
              <a:rPr lang="en-US" altLang="zh-CN" sz="2800" dirty="0"/>
              <a:t>K</a:t>
            </a:r>
            <a:r>
              <a:rPr lang="zh-CN" altLang="en-US" sz="2800" dirty="0"/>
              <a:t>为</a:t>
            </a:r>
            <a:r>
              <a:rPr lang="en-US" altLang="zh-CN" sz="2800" dirty="0"/>
              <a:t>R</a:t>
            </a:r>
            <a:r>
              <a:rPr lang="zh-CN" altLang="en-US" sz="2800" dirty="0"/>
              <a:t>的</a:t>
            </a:r>
            <a:r>
              <a:rPr lang="zh-CN" altLang="en-US" dirty="0">
                <a:solidFill>
                  <a:schemeClr val="hlink"/>
                </a:solidFill>
              </a:rPr>
              <a:t>候选码 </a:t>
            </a:r>
            <a:r>
              <a:rPr lang="en-US" altLang="zh-CN" dirty="0">
                <a:solidFill>
                  <a:schemeClr val="hlink"/>
                </a:solidFill>
              </a:rPr>
              <a:t>(Candidate Key)</a:t>
            </a:r>
            <a:r>
              <a:rPr lang="zh-CN" altLang="en-US" sz="2800" dirty="0"/>
              <a:t>。若候选码多于一个，则选定其中一个作为</a:t>
            </a:r>
            <a:r>
              <a:rPr lang="zh-CN" altLang="en-US" sz="2800" dirty="0">
                <a:solidFill>
                  <a:srgbClr val="FF0000"/>
                </a:solidFill>
              </a:rPr>
              <a:t>主码</a:t>
            </a:r>
            <a:r>
              <a:rPr lang="en-US" altLang="zh-CN" dirty="0">
                <a:solidFill>
                  <a:schemeClr val="hlink"/>
                </a:solidFill>
              </a:rPr>
              <a:t>(Primary Key)</a:t>
            </a:r>
            <a:r>
              <a:rPr lang="zh-CN" altLang="en-US" dirty="0">
                <a:solidFill>
                  <a:schemeClr val="hlink"/>
                </a:solidFill>
              </a:rPr>
              <a:t> </a:t>
            </a:r>
            <a:r>
              <a:rPr lang="zh-CN" altLang="en-US" sz="2800" dirty="0"/>
              <a:t>。</a:t>
            </a:r>
          </a:p>
          <a:p>
            <a:r>
              <a:rPr lang="zh-CN" altLang="en-US" dirty="0">
                <a:solidFill>
                  <a:schemeClr val="hlink"/>
                </a:solidFill>
              </a:rPr>
              <a:t>主属性</a:t>
            </a:r>
            <a:r>
              <a:rPr lang="en-US" altLang="zh-CN" dirty="0">
                <a:solidFill>
                  <a:schemeClr val="hlink"/>
                </a:solidFill>
              </a:rPr>
              <a:t>(Prime attribute)</a:t>
            </a:r>
            <a:r>
              <a:rPr lang="zh-CN" altLang="en-US" dirty="0"/>
              <a:t>：包含在</a:t>
            </a:r>
            <a:r>
              <a:rPr lang="zh-CN" altLang="en-US" b="1" dirty="0">
                <a:solidFill>
                  <a:schemeClr val="tx2"/>
                </a:solidFill>
              </a:rPr>
              <a:t>任何候选码</a:t>
            </a:r>
            <a:r>
              <a:rPr lang="zh-CN" altLang="en-US" dirty="0"/>
              <a:t>中的</a:t>
            </a:r>
            <a:r>
              <a:rPr lang="zh-CN" altLang="en-US" u="sng" dirty="0"/>
              <a:t>属性</a:t>
            </a:r>
            <a:r>
              <a:rPr lang="zh-CN" altLang="en-US" dirty="0"/>
              <a:t>。</a:t>
            </a:r>
          </a:p>
          <a:p>
            <a:r>
              <a:rPr lang="zh-CN" altLang="en-US" dirty="0">
                <a:solidFill>
                  <a:schemeClr val="hlink"/>
                </a:solidFill>
              </a:rPr>
              <a:t>非主属性</a:t>
            </a:r>
            <a:r>
              <a:rPr lang="en-US" altLang="zh-CN" dirty="0">
                <a:solidFill>
                  <a:schemeClr val="hlink"/>
                </a:solidFill>
              </a:rPr>
              <a:t>(Nonprime attribute) </a:t>
            </a:r>
            <a:r>
              <a:rPr lang="zh-CN" altLang="en-US" dirty="0"/>
              <a:t>：</a:t>
            </a:r>
            <a:r>
              <a:rPr lang="zh-CN" altLang="en-US" u="sng" dirty="0"/>
              <a:t>不包含在</a:t>
            </a:r>
            <a:r>
              <a:rPr lang="zh-CN" altLang="en-US" u="sng" dirty="0">
                <a:solidFill>
                  <a:schemeClr val="tx2">
                    <a:lumMod val="75000"/>
                  </a:schemeClr>
                </a:solidFill>
              </a:rPr>
              <a:t>任何候选码</a:t>
            </a:r>
            <a:r>
              <a:rPr lang="zh-CN" altLang="en-US" u="sng" dirty="0"/>
              <a:t>中的属性</a:t>
            </a:r>
            <a:r>
              <a:rPr lang="zh-CN" altLang="en-US" dirty="0"/>
              <a:t>。也称非码属性</a:t>
            </a:r>
            <a:r>
              <a:rPr lang="en-US" altLang="zh-CN" dirty="0"/>
              <a:t>(Non-key attribute).</a:t>
            </a:r>
            <a:endParaRPr lang="zh-CN" altLang="en-US" dirty="0"/>
          </a:p>
        </p:txBody>
      </p:sp>
      <p:sp>
        <p:nvSpPr>
          <p:cNvPr id="273413" name="Text Box 5"/>
          <p:cNvSpPr txBox="1">
            <a:spLocks noChangeArrowheads="1"/>
          </p:cNvSpPr>
          <p:nvPr/>
        </p:nvSpPr>
        <p:spPr bwMode="auto">
          <a:xfrm>
            <a:off x="1562100" y="1988840"/>
            <a:ext cx="457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dirty="0">
                <a:solidFill>
                  <a:srgbClr val="FF0000"/>
                </a:solidFill>
                <a:effectLst>
                  <a:outerShdw blurRad="38100" dist="38100" dir="2700000" algn="tl">
                    <a:srgbClr val="000000">
                      <a:alpha val="43137"/>
                    </a:srgbClr>
                  </a:outerShdw>
                </a:effectLst>
              </a:rPr>
              <a:t>F</a:t>
            </a:r>
          </a:p>
        </p:txBody>
      </p:sp>
      <p:sp>
        <p:nvSpPr>
          <p:cNvPr id="3" name="页脚占位符 2">
            <a:extLst>
              <a:ext uri="{FF2B5EF4-FFF2-40B4-BE49-F238E27FC236}">
                <a16:creationId xmlns:a16="http://schemas.microsoft.com/office/drawing/2014/main" id="{1672AE8B-8710-511F-D3D7-BA5EA7DD26EF}"/>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A7D75A00-EC8B-2701-5456-CF30DC2202F0}"/>
              </a:ext>
            </a:extLst>
          </p:cNvPr>
          <p:cNvSpPr>
            <a:spLocks noGrp="1"/>
          </p:cNvSpPr>
          <p:nvPr>
            <p:ph type="sldNum" sz="quarter" idx="12"/>
          </p:nvPr>
        </p:nvSpPr>
        <p:spPr/>
        <p:txBody>
          <a:bodyPr/>
          <a:lstStyle/>
          <a:p>
            <a:fld id="{A2D74603-B40B-4D66-8F6E-41C870D48932}" type="slidenum">
              <a:rPr lang="en-US" altLang="zh-CN" smtClean="0"/>
              <a:pPr/>
              <a:t>29</a:t>
            </a:fld>
            <a:r>
              <a:rPr lang="en-US" altLang="zh-CN"/>
              <a:t>/162</a:t>
            </a:r>
            <a:endParaRPr lang="en-US" altLang="zh-CN"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3411">
                                            <p:txEl>
                                              <p:pRg st="2" end="2"/>
                                            </p:txEl>
                                          </p:spTgt>
                                        </p:tgtEl>
                                        <p:attrNameLst>
                                          <p:attrName>style.visibility</p:attrName>
                                        </p:attrNameLst>
                                      </p:cBhvr>
                                      <p:to>
                                        <p:strVal val="visible"/>
                                      </p:to>
                                    </p:set>
                                    <p:anim calcmode="lin" valueType="num">
                                      <p:cBhvr additive="base">
                                        <p:cTn id="7" dur="500" fill="hold"/>
                                        <p:tgtEl>
                                          <p:spTgt spid="273411">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34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73411">
                                            <p:txEl>
                                              <p:pRg st="3" end="3"/>
                                            </p:txEl>
                                          </p:spTgt>
                                        </p:tgtEl>
                                        <p:attrNameLst>
                                          <p:attrName>style.visibility</p:attrName>
                                        </p:attrNameLst>
                                      </p:cBhvr>
                                      <p:to>
                                        <p:strVal val="visible"/>
                                      </p:to>
                                    </p:set>
                                    <p:anim calcmode="lin" valueType="num">
                                      <p:cBhvr additive="base">
                                        <p:cTn id="13" dur="500" fill="hold"/>
                                        <p:tgtEl>
                                          <p:spTgt spid="273411">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341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28131358-6D26-4ACD-BA96-9BEE7E61DF49}" type="datetime1">
              <a:rPr lang="zh-CN" altLang="en-US" smtClean="0"/>
              <a:t>2025/11/6</a:t>
            </a:fld>
            <a:endParaRPr lang="en-US" altLang="zh-CN"/>
          </a:p>
        </p:txBody>
      </p:sp>
      <p:sp>
        <p:nvSpPr>
          <p:cNvPr id="274434" name="Rectangle 2"/>
          <p:cNvSpPr>
            <a:spLocks noGrp="1" noChangeArrowheads="1"/>
          </p:cNvSpPr>
          <p:nvPr>
            <p:ph type="title"/>
          </p:nvPr>
        </p:nvSpPr>
        <p:spPr/>
        <p:txBody>
          <a:bodyPr/>
          <a:lstStyle/>
          <a:p>
            <a:r>
              <a:rPr lang="en-US" altLang="zh-CN" dirty="0"/>
              <a:t>8.2.1 </a:t>
            </a:r>
            <a:r>
              <a:rPr lang="zh-CN" altLang="en-US" dirty="0"/>
              <a:t>函数依赖</a:t>
            </a:r>
            <a:r>
              <a:rPr lang="en-US" altLang="zh-CN" dirty="0"/>
              <a:t>---</a:t>
            </a:r>
            <a:r>
              <a:rPr lang="zh-CN" altLang="en-US" dirty="0"/>
              <a:t>码</a:t>
            </a:r>
          </a:p>
        </p:txBody>
      </p:sp>
      <p:sp>
        <p:nvSpPr>
          <p:cNvPr id="274435" name="Rectangle 3"/>
          <p:cNvSpPr>
            <a:spLocks noGrp="1" noChangeArrowheads="1"/>
          </p:cNvSpPr>
          <p:nvPr>
            <p:ph type="body" idx="1"/>
          </p:nvPr>
        </p:nvSpPr>
        <p:spPr/>
        <p:txBody>
          <a:bodyPr/>
          <a:lstStyle/>
          <a:p>
            <a:r>
              <a:rPr lang="zh-CN" altLang="en-US" dirty="0"/>
              <a:t>例</a:t>
            </a:r>
            <a:r>
              <a:rPr lang="en-US" altLang="zh-CN" dirty="0"/>
              <a:t>8.2</a:t>
            </a:r>
          </a:p>
          <a:p>
            <a:pPr marL="400050" lvl="1" indent="0">
              <a:buNone/>
            </a:pPr>
            <a:r>
              <a:rPr lang="en-US" altLang="zh-CN" dirty="0"/>
              <a:t>S(</a:t>
            </a:r>
            <a:r>
              <a:rPr lang="en-US" altLang="zh-CN" dirty="0" err="1"/>
              <a:t>Sno</a:t>
            </a:r>
            <a:r>
              <a:rPr lang="en-US" altLang="zh-CN" dirty="0"/>
              <a:t>, </a:t>
            </a:r>
            <a:r>
              <a:rPr lang="en-US" altLang="zh-CN" dirty="0" err="1"/>
              <a:t>Sdept</a:t>
            </a:r>
            <a:r>
              <a:rPr lang="en-US" altLang="zh-CN" dirty="0"/>
              <a:t>, Sage)</a:t>
            </a:r>
            <a:r>
              <a:rPr lang="zh-CN" altLang="en-US" dirty="0"/>
              <a:t>，单个属性</a:t>
            </a:r>
            <a:r>
              <a:rPr lang="en-US" altLang="zh-CN" dirty="0" err="1"/>
              <a:t>Sno</a:t>
            </a:r>
            <a:r>
              <a:rPr lang="zh-CN" altLang="en-US" dirty="0"/>
              <a:t>是码 </a:t>
            </a:r>
          </a:p>
          <a:p>
            <a:pPr marL="400050" lvl="1" indent="0">
              <a:buNone/>
            </a:pPr>
            <a:r>
              <a:rPr lang="en-US" altLang="zh-CN" dirty="0"/>
              <a:t>SC(</a:t>
            </a:r>
            <a:r>
              <a:rPr lang="en-US" altLang="zh-CN" dirty="0" err="1"/>
              <a:t>Sno</a:t>
            </a:r>
            <a:r>
              <a:rPr lang="en-US" altLang="zh-CN" dirty="0"/>
              <a:t>, </a:t>
            </a:r>
            <a:r>
              <a:rPr lang="en-US" altLang="zh-CN" dirty="0" err="1"/>
              <a:t>Cno</a:t>
            </a:r>
            <a:r>
              <a:rPr lang="en-US" altLang="zh-CN" dirty="0"/>
              <a:t>, Grade)</a:t>
            </a:r>
            <a:r>
              <a:rPr lang="zh-CN" altLang="en-US" dirty="0"/>
              <a:t>中，</a:t>
            </a:r>
            <a:r>
              <a:rPr lang="en-US" altLang="zh-CN" dirty="0"/>
              <a:t>(</a:t>
            </a:r>
            <a:r>
              <a:rPr lang="en-US" altLang="zh-CN" dirty="0" err="1"/>
              <a:t>Sno</a:t>
            </a:r>
            <a:r>
              <a:rPr lang="en-US" altLang="zh-CN" dirty="0"/>
              <a:t>, </a:t>
            </a:r>
            <a:r>
              <a:rPr lang="en-US" altLang="zh-CN" dirty="0" err="1"/>
              <a:t>Cno</a:t>
            </a:r>
            <a:r>
              <a:rPr lang="en-US" altLang="zh-CN" dirty="0"/>
              <a:t>)</a:t>
            </a:r>
            <a:r>
              <a:rPr lang="zh-CN" altLang="en-US" dirty="0"/>
              <a:t>是码 </a:t>
            </a:r>
            <a:endParaRPr lang="en-US" altLang="zh-CN" dirty="0"/>
          </a:p>
          <a:p>
            <a:pPr marL="400050" lvl="1" indent="0">
              <a:buNone/>
            </a:pPr>
            <a:endParaRPr lang="zh-CN" altLang="en-US" sz="800" dirty="0"/>
          </a:p>
          <a:p>
            <a:r>
              <a:rPr lang="zh-CN" altLang="en-US" sz="2800" dirty="0"/>
              <a:t>例</a:t>
            </a:r>
            <a:r>
              <a:rPr lang="en-US" altLang="zh-CN" sz="2800" dirty="0"/>
              <a:t>8.3 R(P,W,A) </a:t>
            </a:r>
          </a:p>
          <a:p>
            <a:pPr marL="400050" lvl="1" indent="0">
              <a:buNone/>
            </a:pPr>
            <a:r>
              <a:rPr lang="en-US" altLang="zh-CN" sz="2400" dirty="0"/>
              <a:t>P</a:t>
            </a:r>
            <a:r>
              <a:rPr lang="zh-CN" altLang="en-US" sz="2400" dirty="0"/>
              <a:t>：演奏者    </a:t>
            </a:r>
            <a:r>
              <a:rPr lang="en-US" altLang="zh-CN" sz="2400" dirty="0"/>
              <a:t>W</a:t>
            </a:r>
            <a:r>
              <a:rPr lang="zh-CN" altLang="en-US" sz="2400" dirty="0"/>
              <a:t>：作品      </a:t>
            </a:r>
            <a:r>
              <a:rPr lang="en-US" altLang="zh-CN" sz="2400" dirty="0"/>
              <a:t>A</a:t>
            </a:r>
            <a:r>
              <a:rPr lang="zh-CN" altLang="en-US" sz="2400" dirty="0"/>
              <a:t>：听众 </a:t>
            </a:r>
          </a:p>
          <a:p>
            <a:pPr marL="400050" lvl="1" indent="0">
              <a:buNone/>
            </a:pPr>
            <a:r>
              <a:rPr lang="zh-CN" altLang="en-US" sz="2400" dirty="0"/>
              <a:t>   </a:t>
            </a:r>
            <a:r>
              <a:rPr lang="zh-CN" altLang="en-US" sz="2400" dirty="0">
                <a:solidFill>
                  <a:srgbClr val="0000FF"/>
                </a:solidFill>
              </a:rPr>
              <a:t>一个</a:t>
            </a:r>
            <a:r>
              <a:rPr lang="zh-CN" altLang="en-US" sz="2400" dirty="0"/>
              <a:t>演奏者可以演奏</a:t>
            </a:r>
            <a:r>
              <a:rPr lang="zh-CN" altLang="en-US" sz="2400" dirty="0">
                <a:solidFill>
                  <a:srgbClr val="0000FF"/>
                </a:solidFill>
              </a:rPr>
              <a:t>多个</a:t>
            </a:r>
            <a:r>
              <a:rPr lang="zh-CN" altLang="en-US" sz="2400" dirty="0"/>
              <a:t>作品 </a:t>
            </a:r>
          </a:p>
          <a:p>
            <a:pPr marL="400050" lvl="1" indent="0">
              <a:buNone/>
            </a:pPr>
            <a:r>
              <a:rPr lang="zh-CN" altLang="en-US" sz="2400" dirty="0"/>
              <a:t>    某</a:t>
            </a:r>
            <a:r>
              <a:rPr lang="zh-CN" altLang="en-US" sz="2400" dirty="0">
                <a:solidFill>
                  <a:srgbClr val="0000FF"/>
                </a:solidFill>
              </a:rPr>
              <a:t>一作品</a:t>
            </a:r>
            <a:r>
              <a:rPr lang="zh-CN" altLang="en-US" sz="2400" dirty="0"/>
              <a:t>可被</a:t>
            </a:r>
            <a:r>
              <a:rPr lang="zh-CN" altLang="en-US" sz="2400" dirty="0">
                <a:solidFill>
                  <a:srgbClr val="0000FF"/>
                </a:solidFill>
              </a:rPr>
              <a:t>多个</a:t>
            </a:r>
            <a:r>
              <a:rPr lang="zh-CN" altLang="en-US" sz="2400" dirty="0"/>
              <a:t>演奏者演奏 </a:t>
            </a:r>
          </a:p>
          <a:p>
            <a:pPr marL="400050" lvl="1" indent="0">
              <a:buNone/>
            </a:pPr>
            <a:r>
              <a:rPr lang="zh-CN" altLang="en-US" sz="2400" dirty="0"/>
              <a:t>    听众可以欣赏</a:t>
            </a:r>
            <a:r>
              <a:rPr lang="zh-CN" altLang="en-US" sz="2400" dirty="0">
                <a:solidFill>
                  <a:srgbClr val="0000FF"/>
                </a:solidFill>
              </a:rPr>
              <a:t>不同</a:t>
            </a:r>
            <a:r>
              <a:rPr lang="zh-CN" altLang="en-US" sz="2400" dirty="0"/>
              <a:t>演奏者的</a:t>
            </a:r>
            <a:r>
              <a:rPr lang="zh-CN" altLang="en-US" sz="2400" dirty="0">
                <a:solidFill>
                  <a:srgbClr val="0000FF"/>
                </a:solidFill>
              </a:rPr>
              <a:t>不同</a:t>
            </a:r>
            <a:r>
              <a:rPr lang="zh-CN" altLang="en-US" sz="2400" dirty="0"/>
              <a:t>作品 </a:t>
            </a:r>
          </a:p>
          <a:p>
            <a:pPr marL="400050" lvl="1" indent="0">
              <a:buNone/>
            </a:pPr>
            <a:r>
              <a:rPr lang="zh-CN" altLang="en-US" sz="2400" dirty="0">
                <a:solidFill>
                  <a:srgbClr val="C00000"/>
                </a:solidFill>
              </a:rPr>
              <a:t>码为</a:t>
            </a:r>
            <a:r>
              <a:rPr lang="en-US" altLang="zh-CN" sz="2400" dirty="0">
                <a:solidFill>
                  <a:srgbClr val="C00000"/>
                </a:solidFill>
              </a:rPr>
              <a:t>(P,W,A)</a:t>
            </a:r>
            <a:r>
              <a:rPr lang="zh-CN" altLang="en-US" sz="2400" dirty="0">
                <a:solidFill>
                  <a:srgbClr val="C00000"/>
                </a:solidFill>
              </a:rPr>
              <a:t>，即</a:t>
            </a:r>
            <a:r>
              <a:rPr lang="en-US" altLang="zh-CN" sz="2400" dirty="0">
                <a:solidFill>
                  <a:srgbClr val="C00000"/>
                </a:solidFill>
              </a:rPr>
              <a:t>All-Key, </a:t>
            </a:r>
            <a:r>
              <a:rPr lang="zh-CN" altLang="en-US" sz="2400" dirty="0">
                <a:solidFill>
                  <a:srgbClr val="C00000"/>
                </a:solidFill>
              </a:rPr>
              <a:t>全码</a:t>
            </a:r>
            <a:r>
              <a:rPr lang="en-US" altLang="zh-CN" sz="2400" dirty="0">
                <a:solidFill>
                  <a:srgbClr val="C00000"/>
                </a:solidFill>
              </a:rPr>
              <a:t> </a:t>
            </a:r>
            <a:endParaRPr lang="zh-CN" altLang="en-US" sz="2400" dirty="0">
              <a:solidFill>
                <a:srgbClr val="C00000"/>
              </a:solidFill>
            </a:endParaRPr>
          </a:p>
        </p:txBody>
      </p:sp>
      <p:sp>
        <p:nvSpPr>
          <p:cNvPr id="3" name="页脚占位符 2">
            <a:extLst>
              <a:ext uri="{FF2B5EF4-FFF2-40B4-BE49-F238E27FC236}">
                <a16:creationId xmlns:a16="http://schemas.microsoft.com/office/drawing/2014/main" id="{1D9C87C5-AE61-39DA-DC9D-EDEC3CA5FF12}"/>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1A7D4698-4E47-AAA5-130F-D57A792A157B}"/>
              </a:ext>
            </a:extLst>
          </p:cNvPr>
          <p:cNvSpPr>
            <a:spLocks noGrp="1"/>
          </p:cNvSpPr>
          <p:nvPr>
            <p:ph type="sldNum" sz="quarter" idx="12"/>
          </p:nvPr>
        </p:nvSpPr>
        <p:spPr/>
        <p:txBody>
          <a:bodyPr/>
          <a:lstStyle/>
          <a:p>
            <a:fld id="{A2D74603-B40B-4D66-8F6E-41C870D48932}" type="slidenum">
              <a:rPr lang="en-US" altLang="zh-CN" smtClean="0"/>
              <a:pPr/>
              <a:t>30</a:t>
            </a:fld>
            <a:r>
              <a:rPr lang="en-US" altLang="zh-CN"/>
              <a:t>/162</a:t>
            </a:r>
            <a:endParaRPr lang="en-US" altLang="zh-CN"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4435">
                                            <p:txEl>
                                              <p:pRg st="4" end="4"/>
                                            </p:txEl>
                                          </p:spTgt>
                                        </p:tgtEl>
                                        <p:attrNameLst>
                                          <p:attrName>style.visibility</p:attrName>
                                        </p:attrNameLst>
                                      </p:cBhvr>
                                      <p:to>
                                        <p:strVal val="visible"/>
                                      </p:to>
                                    </p:set>
                                    <p:anim calcmode="lin" valueType="num">
                                      <p:cBhvr additive="base">
                                        <p:cTn id="7" dur="500" fill="hold"/>
                                        <p:tgtEl>
                                          <p:spTgt spid="274435">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4435">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74435">
                                            <p:txEl>
                                              <p:pRg st="5" end="5"/>
                                            </p:txEl>
                                          </p:spTgt>
                                        </p:tgtEl>
                                        <p:attrNameLst>
                                          <p:attrName>style.visibility</p:attrName>
                                        </p:attrNameLst>
                                      </p:cBhvr>
                                      <p:to>
                                        <p:strVal val="visible"/>
                                      </p:to>
                                    </p:set>
                                    <p:anim calcmode="lin" valueType="num">
                                      <p:cBhvr additive="base">
                                        <p:cTn id="11" dur="500" fill="hold"/>
                                        <p:tgtEl>
                                          <p:spTgt spid="274435">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7443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74435">
                                            <p:txEl>
                                              <p:pRg st="6" end="6"/>
                                            </p:txEl>
                                          </p:spTgt>
                                        </p:tgtEl>
                                        <p:attrNameLst>
                                          <p:attrName>style.visibility</p:attrName>
                                        </p:attrNameLst>
                                      </p:cBhvr>
                                      <p:to>
                                        <p:strVal val="visible"/>
                                      </p:to>
                                    </p:set>
                                    <p:anim calcmode="lin" valueType="num">
                                      <p:cBhvr additive="base">
                                        <p:cTn id="17" dur="500" fill="hold"/>
                                        <p:tgtEl>
                                          <p:spTgt spid="274435">
                                            <p:txEl>
                                              <p:pRg st="6" end="6"/>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74435">
                                            <p:txEl>
                                              <p:pRg st="6" end="6"/>
                                            </p:txEl>
                                          </p:spTgt>
                                        </p:tgtEl>
                                        <p:attrNameLst>
                                          <p:attrName>ppt_y</p:attrName>
                                        </p:attrNameLst>
                                      </p:cBhvr>
                                      <p:tavLst>
                                        <p:tav tm="0">
                                          <p:val>
                                            <p:strVal val="1+#ppt_h/2"/>
                                          </p:val>
                                        </p:tav>
                                        <p:tav tm="100000">
                                          <p:val>
                                            <p:strVal val="#ppt_y"/>
                                          </p:val>
                                        </p:tav>
                                      </p:tavLst>
                                    </p:anim>
                                  </p:childTnLst>
                                </p:cTn>
                              </p:par>
                            </p:childTnLst>
                          </p:cTn>
                        </p:par>
                        <p:par>
                          <p:cTn id="19" fill="hold">
                            <p:stCondLst>
                              <p:cond delay="500"/>
                            </p:stCondLst>
                            <p:childTnLst>
                              <p:par>
                                <p:cTn id="20" presetID="2" presetClass="entr" presetSubtype="4" fill="hold" nodeType="afterEffect">
                                  <p:stCondLst>
                                    <p:cond delay="0"/>
                                  </p:stCondLst>
                                  <p:childTnLst>
                                    <p:set>
                                      <p:cBhvr>
                                        <p:cTn id="21" dur="1" fill="hold">
                                          <p:stCondLst>
                                            <p:cond delay="0"/>
                                          </p:stCondLst>
                                        </p:cTn>
                                        <p:tgtEl>
                                          <p:spTgt spid="274435">
                                            <p:txEl>
                                              <p:pRg st="7" end="7"/>
                                            </p:txEl>
                                          </p:spTgt>
                                        </p:tgtEl>
                                        <p:attrNameLst>
                                          <p:attrName>style.visibility</p:attrName>
                                        </p:attrNameLst>
                                      </p:cBhvr>
                                      <p:to>
                                        <p:strVal val="visible"/>
                                      </p:to>
                                    </p:set>
                                    <p:anim calcmode="lin" valueType="num">
                                      <p:cBhvr additive="base">
                                        <p:cTn id="22" dur="500" fill="hold"/>
                                        <p:tgtEl>
                                          <p:spTgt spid="274435">
                                            <p:txEl>
                                              <p:pRg st="7" end="7"/>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274435">
                                            <p:txEl>
                                              <p:pRg st="7" end="7"/>
                                            </p:txEl>
                                          </p:spTgt>
                                        </p:tgtEl>
                                        <p:attrNameLst>
                                          <p:attrName>ppt_y</p:attrName>
                                        </p:attrNameLst>
                                      </p:cBhvr>
                                      <p:tavLst>
                                        <p:tav tm="0">
                                          <p:val>
                                            <p:strVal val="1+#ppt_h/2"/>
                                          </p:val>
                                        </p:tav>
                                        <p:tav tm="100000">
                                          <p:val>
                                            <p:strVal val="#ppt_y"/>
                                          </p:val>
                                        </p:tav>
                                      </p:tavLst>
                                    </p:anim>
                                  </p:childTnLst>
                                </p:cTn>
                              </p:par>
                            </p:childTnLst>
                          </p:cTn>
                        </p:par>
                        <p:par>
                          <p:cTn id="24" fill="hold">
                            <p:stCondLst>
                              <p:cond delay="1000"/>
                            </p:stCondLst>
                            <p:childTnLst>
                              <p:par>
                                <p:cTn id="25" presetID="2" presetClass="entr" presetSubtype="4" fill="hold" nodeType="afterEffect">
                                  <p:stCondLst>
                                    <p:cond delay="0"/>
                                  </p:stCondLst>
                                  <p:childTnLst>
                                    <p:set>
                                      <p:cBhvr>
                                        <p:cTn id="26" dur="1" fill="hold">
                                          <p:stCondLst>
                                            <p:cond delay="0"/>
                                          </p:stCondLst>
                                        </p:cTn>
                                        <p:tgtEl>
                                          <p:spTgt spid="274435">
                                            <p:txEl>
                                              <p:pRg st="8" end="8"/>
                                            </p:txEl>
                                          </p:spTgt>
                                        </p:tgtEl>
                                        <p:attrNameLst>
                                          <p:attrName>style.visibility</p:attrName>
                                        </p:attrNameLst>
                                      </p:cBhvr>
                                      <p:to>
                                        <p:strVal val="visible"/>
                                      </p:to>
                                    </p:set>
                                    <p:anim calcmode="lin" valueType="num">
                                      <p:cBhvr additive="base">
                                        <p:cTn id="27" dur="500" fill="hold"/>
                                        <p:tgtEl>
                                          <p:spTgt spid="274435">
                                            <p:txEl>
                                              <p:p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7443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274435">
                                            <p:txEl>
                                              <p:pRg st="9" end="9"/>
                                            </p:txEl>
                                          </p:spTgt>
                                        </p:tgtEl>
                                        <p:attrNameLst>
                                          <p:attrName>style.visibility</p:attrName>
                                        </p:attrNameLst>
                                      </p:cBhvr>
                                      <p:to>
                                        <p:strVal val="visible"/>
                                      </p:to>
                                    </p:set>
                                    <p:anim calcmode="lin" valueType="num">
                                      <p:cBhvr additive="base">
                                        <p:cTn id="33" dur="500" fill="hold"/>
                                        <p:tgtEl>
                                          <p:spTgt spid="274435">
                                            <p:txEl>
                                              <p:pRg st="9" end="9"/>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7443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24D879B-9B8A-418F-BEDC-E084FA060AC8}" type="datetime1">
              <a:rPr lang="zh-CN" altLang="en-US" smtClean="0"/>
              <a:t>2025/11/6</a:t>
            </a:fld>
            <a:endParaRPr lang="en-US" altLang="zh-CN"/>
          </a:p>
        </p:txBody>
      </p:sp>
      <p:sp>
        <p:nvSpPr>
          <p:cNvPr id="274434" name="Rectangle 2"/>
          <p:cNvSpPr>
            <a:spLocks noGrp="1" noChangeArrowheads="1"/>
          </p:cNvSpPr>
          <p:nvPr>
            <p:ph type="title"/>
          </p:nvPr>
        </p:nvSpPr>
        <p:spPr/>
        <p:txBody>
          <a:bodyPr/>
          <a:lstStyle/>
          <a:p>
            <a:r>
              <a:rPr lang="en-US" altLang="zh-CN" dirty="0"/>
              <a:t>8.2.1 </a:t>
            </a:r>
            <a:r>
              <a:rPr lang="zh-CN" altLang="en-US" dirty="0"/>
              <a:t>函数依赖</a:t>
            </a:r>
            <a:r>
              <a:rPr lang="en-US" altLang="zh-CN" dirty="0"/>
              <a:t>---</a:t>
            </a:r>
            <a:r>
              <a:rPr lang="zh-CN" altLang="en-US" dirty="0"/>
              <a:t>码</a:t>
            </a:r>
          </a:p>
        </p:txBody>
      </p:sp>
      <p:sp>
        <p:nvSpPr>
          <p:cNvPr id="274435" name="Rectangle 3"/>
          <p:cNvSpPr>
            <a:spLocks noGrp="1" noChangeArrowheads="1"/>
          </p:cNvSpPr>
          <p:nvPr>
            <p:ph type="body" idx="1"/>
          </p:nvPr>
        </p:nvSpPr>
        <p:spPr/>
        <p:txBody>
          <a:bodyPr/>
          <a:lstStyle/>
          <a:p>
            <a:pPr>
              <a:buFont typeface="Wingdings" pitchFamily="2" charset="2"/>
              <a:buNone/>
            </a:pPr>
            <a:r>
              <a:rPr lang="zh-CN" altLang="en-US" dirty="0">
                <a:solidFill>
                  <a:schemeClr val="hlink"/>
                </a:solidFill>
              </a:rPr>
              <a:t>定义</a:t>
            </a:r>
            <a:r>
              <a:rPr lang="en-US" altLang="zh-CN" dirty="0">
                <a:solidFill>
                  <a:schemeClr val="hlink"/>
                </a:solidFill>
              </a:rPr>
              <a:t>6.5</a:t>
            </a:r>
            <a:r>
              <a:rPr lang="en-US" altLang="zh-CN" dirty="0"/>
              <a:t>  (</a:t>
            </a:r>
            <a:r>
              <a:rPr lang="zh-CN" altLang="en-US" dirty="0">
                <a:solidFill>
                  <a:srgbClr val="0000FF"/>
                </a:solidFill>
              </a:rPr>
              <a:t>外码</a:t>
            </a:r>
            <a:r>
              <a:rPr lang="zh-CN" altLang="en-US" dirty="0"/>
              <a:t>的定义</a:t>
            </a:r>
            <a:r>
              <a:rPr lang="en-US" altLang="zh-CN" dirty="0"/>
              <a:t>)</a:t>
            </a:r>
          </a:p>
          <a:p>
            <a:pPr>
              <a:buFont typeface="Wingdings" pitchFamily="2" charset="2"/>
              <a:buNone/>
            </a:pPr>
            <a:endParaRPr lang="en-US" altLang="zh-CN" dirty="0"/>
          </a:p>
          <a:p>
            <a:pPr>
              <a:buFont typeface="Wingdings" pitchFamily="2" charset="2"/>
              <a:buNone/>
            </a:pPr>
            <a:r>
              <a:rPr lang="zh-CN" altLang="en-US" dirty="0"/>
              <a:t>关系模式</a:t>
            </a:r>
            <a:r>
              <a:rPr lang="en-US" altLang="zh-CN" dirty="0"/>
              <a:t>R</a:t>
            </a:r>
            <a:r>
              <a:rPr lang="zh-CN" altLang="en-US" dirty="0"/>
              <a:t>中的</a:t>
            </a:r>
            <a:r>
              <a:rPr lang="zh-CN" altLang="en-US" u="sng" dirty="0"/>
              <a:t>属性或属性组</a:t>
            </a:r>
            <a:r>
              <a:rPr lang="en-US" altLang="zh-CN" dirty="0">
                <a:solidFill>
                  <a:srgbClr val="C00000"/>
                </a:solidFill>
              </a:rPr>
              <a:t>X</a:t>
            </a:r>
            <a:r>
              <a:rPr lang="zh-CN" altLang="en-US" dirty="0">
                <a:solidFill>
                  <a:srgbClr val="0000FF"/>
                </a:solidFill>
              </a:rPr>
              <a:t>并非</a:t>
            </a:r>
            <a:r>
              <a:rPr lang="en-US" altLang="zh-CN" dirty="0">
                <a:solidFill>
                  <a:srgbClr val="0000FF"/>
                </a:solidFill>
              </a:rPr>
              <a:t>R</a:t>
            </a:r>
            <a:r>
              <a:rPr lang="zh-CN" altLang="en-US" dirty="0">
                <a:solidFill>
                  <a:srgbClr val="0000FF"/>
                </a:solidFill>
              </a:rPr>
              <a:t>的码</a:t>
            </a:r>
            <a:r>
              <a:rPr lang="zh-CN" altLang="en-US" dirty="0"/>
              <a:t>，但</a:t>
            </a:r>
            <a:r>
              <a:rPr lang="en-US" altLang="zh-CN" dirty="0"/>
              <a:t>X</a:t>
            </a:r>
            <a:r>
              <a:rPr lang="zh-CN" altLang="en-US" dirty="0"/>
              <a:t>是</a:t>
            </a:r>
            <a:r>
              <a:rPr lang="zh-CN" altLang="en-US" u="sng" dirty="0">
                <a:solidFill>
                  <a:srgbClr val="0000FF"/>
                </a:solidFill>
              </a:rPr>
              <a:t>另一个关系模式</a:t>
            </a:r>
            <a:r>
              <a:rPr lang="zh-CN" altLang="en-US" u="sng" dirty="0"/>
              <a:t>的码</a:t>
            </a:r>
            <a:r>
              <a:rPr lang="zh-CN" altLang="en-US" dirty="0"/>
              <a:t>，则称</a:t>
            </a:r>
            <a:r>
              <a:rPr lang="en-US" altLang="zh-CN" dirty="0"/>
              <a:t>X</a:t>
            </a:r>
            <a:r>
              <a:rPr lang="zh-CN" altLang="en-US" dirty="0"/>
              <a:t>是</a:t>
            </a:r>
            <a:r>
              <a:rPr lang="en-US" altLang="zh-CN" dirty="0"/>
              <a:t>R</a:t>
            </a:r>
            <a:r>
              <a:rPr lang="zh-CN" altLang="en-US" dirty="0"/>
              <a:t>的</a:t>
            </a:r>
            <a:r>
              <a:rPr lang="zh-CN" altLang="en-US" b="1" dirty="0">
                <a:solidFill>
                  <a:srgbClr val="0000FF"/>
                </a:solidFill>
              </a:rPr>
              <a:t>外部码</a:t>
            </a:r>
            <a:r>
              <a:rPr lang="zh-CN" altLang="en-US" dirty="0"/>
              <a:t>，简称</a:t>
            </a:r>
            <a:r>
              <a:rPr lang="zh-CN" altLang="en-US" b="1" dirty="0">
                <a:solidFill>
                  <a:srgbClr val="FF0000"/>
                </a:solidFill>
              </a:rPr>
              <a:t>外码</a:t>
            </a:r>
            <a:r>
              <a:rPr lang="zh-CN" altLang="en-US" dirty="0"/>
              <a:t>。</a:t>
            </a:r>
          </a:p>
          <a:p>
            <a:endParaRPr lang="zh-CN" altLang="en-US" dirty="0"/>
          </a:p>
        </p:txBody>
      </p:sp>
      <p:sp>
        <p:nvSpPr>
          <p:cNvPr id="3" name="页脚占位符 2">
            <a:extLst>
              <a:ext uri="{FF2B5EF4-FFF2-40B4-BE49-F238E27FC236}">
                <a16:creationId xmlns:a16="http://schemas.microsoft.com/office/drawing/2014/main" id="{2BD15058-2E29-B848-506D-91B57432B960}"/>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F5481894-F9A3-FF0B-906B-5FC6BDE59E8E}"/>
              </a:ext>
            </a:extLst>
          </p:cNvPr>
          <p:cNvSpPr>
            <a:spLocks noGrp="1"/>
          </p:cNvSpPr>
          <p:nvPr>
            <p:ph type="sldNum" sz="quarter" idx="12"/>
          </p:nvPr>
        </p:nvSpPr>
        <p:spPr/>
        <p:txBody>
          <a:bodyPr/>
          <a:lstStyle/>
          <a:p>
            <a:fld id="{A2D74603-B40B-4D66-8F6E-41C870D48932}" type="slidenum">
              <a:rPr lang="en-US" altLang="zh-CN" smtClean="0"/>
              <a:pPr/>
              <a:t>31</a:t>
            </a:fld>
            <a:r>
              <a:rPr lang="en-US" altLang="zh-CN"/>
              <a:t>/162</a:t>
            </a:r>
            <a:endParaRPr lang="en-US" altLang="zh-CN" dirty="0"/>
          </a:p>
        </p:txBody>
      </p:sp>
    </p:spTree>
    <p:extLst>
      <p:ext uri="{BB962C8B-B14F-4D97-AF65-F5344CB8AC3E}">
        <p14:creationId xmlns:p14="http://schemas.microsoft.com/office/powerpoint/2010/main" val="15760661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4435">
                                            <p:txEl>
                                              <p:pRg st="2" end="2"/>
                                            </p:txEl>
                                          </p:spTgt>
                                        </p:tgtEl>
                                        <p:attrNameLst>
                                          <p:attrName>style.visibility</p:attrName>
                                        </p:attrNameLst>
                                      </p:cBhvr>
                                      <p:to>
                                        <p:strVal val="visible"/>
                                      </p:to>
                                    </p:set>
                                    <p:anim calcmode="lin" valueType="num">
                                      <p:cBhvr additive="base">
                                        <p:cTn id="7" dur="500" fill="hold"/>
                                        <p:tgtEl>
                                          <p:spTgt spid="27443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443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half" idx="10"/>
          </p:nvPr>
        </p:nvSpPr>
        <p:spPr/>
        <p:txBody>
          <a:bodyPr/>
          <a:lstStyle/>
          <a:p>
            <a:fld id="{8C9C5FCE-A307-4702-9606-DC7FDC111AD2}" type="datetime1">
              <a:rPr lang="zh-CN" altLang="en-US" smtClean="0"/>
              <a:t>2025/11/6</a:t>
            </a:fld>
            <a:endParaRPr lang="en-US" altLang="zh-CN"/>
          </a:p>
        </p:txBody>
      </p:sp>
      <p:sp>
        <p:nvSpPr>
          <p:cNvPr id="272386" name="Rectangle 2"/>
          <p:cNvSpPr>
            <a:spLocks noGrp="1" noChangeArrowheads="1"/>
          </p:cNvSpPr>
          <p:nvPr>
            <p:ph type="title"/>
          </p:nvPr>
        </p:nvSpPr>
        <p:spPr/>
        <p:txBody>
          <a:bodyPr/>
          <a:lstStyle/>
          <a:p>
            <a:r>
              <a:rPr lang="en-US" altLang="zh-CN" dirty="0"/>
              <a:t>8.2.1 </a:t>
            </a:r>
            <a:r>
              <a:rPr lang="zh-CN" altLang="en-US" dirty="0"/>
              <a:t>函数依赖</a:t>
            </a:r>
          </a:p>
        </p:txBody>
      </p:sp>
      <p:sp>
        <p:nvSpPr>
          <p:cNvPr id="272387" name="Rectangle 3"/>
          <p:cNvSpPr>
            <a:spLocks noGrp="1" noChangeArrowheads="1"/>
          </p:cNvSpPr>
          <p:nvPr>
            <p:ph type="body" idx="1"/>
          </p:nvPr>
        </p:nvSpPr>
        <p:spPr/>
        <p:txBody>
          <a:bodyPr/>
          <a:lstStyle/>
          <a:p>
            <a:pPr>
              <a:buFont typeface="Wingdings" pitchFamily="2" charset="2"/>
              <a:buNone/>
            </a:pPr>
            <a:r>
              <a:rPr lang="zh-CN" altLang="en-US" dirty="0">
                <a:solidFill>
                  <a:schemeClr val="hlink"/>
                </a:solidFill>
              </a:rPr>
              <a:t>定义</a:t>
            </a:r>
            <a:r>
              <a:rPr lang="en-US" altLang="zh-CN" dirty="0">
                <a:solidFill>
                  <a:schemeClr val="hlink"/>
                </a:solidFill>
              </a:rPr>
              <a:t>6.3</a:t>
            </a:r>
            <a:r>
              <a:rPr lang="zh-CN" altLang="en-US" dirty="0"/>
              <a:t>（</a:t>
            </a:r>
            <a:r>
              <a:rPr lang="zh-CN" altLang="en-US" b="1" dirty="0">
                <a:solidFill>
                  <a:srgbClr val="0000FF"/>
                </a:solidFill>
              </a:rPr>
              <a:t>传递函数</a:t>
            </a:r>
            <a:r>
              <a:rPr lang="zh-CN" altLang="en-US" dirty="0"/>
              <a:t>依赖）</a:t>
            </a:r>
          </a:p>
          <a:p>
            <a:pPr>
              <a:buFont typeface="Wingdings" pitchFamily="2" charset="2"/>
              <a:buNone/>
            </a:pPr>
            <a:r>
              <a:rPr lang="zh-CN" altLang="en-US" dirty="0"/>
              <a:t>在</a:t>
            </a:r>
            <a:r>
              <a:rPr lang="en-US" altLang="zh-CN" dirty="0"/>
              <a:t>R(U)</a:t>
            </a:r>
            <a:r>
              <a:rPr lang="zh-CN" altLang="en-US" dirty="0"/>
              <a:t>中，如果</a:t>
            </a:r>
            <a:r>
              <a:rPr lang="en-US" altLang="zh-CN" dirty="0">
                <a:solidFill>
                  <a:schemeClr val="tx2"/>
                </a:solidFill>
              </a:rPr>
              <a:t>X</a:t>
            </a:r>
            <a:r>
              <a:rPr lang="en-US" altLang="zh-CN" dirty="0">
                <a:solidFill>
                  <a:schemeClr val="tx2"/>
                </a:solidFill>
                <a:latin typeface="宋体" pitchFamily="2" charset="-122"/>
              </a:rPr>
              <a:t>→</a:t>
            </a:r>
            <a:r>
              <a:rPr lang="en-US" altLang="zh-CN" dirty="0">
                <a:solidFill>
                  <a:schemeClr val="tx2"/>
                </a:solidFill>
              </a:rPr>
              <a:t>Y</a:t>
            </a:r>
            <a:r>
              <a:rPr lang="zh-CN" altLang="en-US" dirty="0">
                <a:solidFill>
                  <a:schemeClr val="tx2"/>
                </a:solidFill>
              </a:rPr>
              <a:t>，</a:t>
            </a:r>
            <a:r>
              <a:rPr lang="en-US" altLang="zh-CN" dirty="0">
                <a:solidFill>
                  <a:schemeClr val="tx2"/>
                </a:solidFill>
              </a:rPr>
              <a:t>(Y</a:t>
            </a:r>
            <a:r>
              <a:rPr lang="en-US" altLang="zh-CN" dirty="0">
                <a:solidFill>
                  <a:schemeClr val="tx2"/>
                </a:solidFill>
                <a:sym typeface="Symbol" pitchFamily="18" charset="2"/>
              </a:rPr>
              <a:t></a:t>
            </a:r>
            <a:r>
              <a:rPr lang="en-US" altLang="zh-CN" dirty="0">
                <a:solidFill>
                  <a:schemeClr val="tx2"/>
                </a:solidFill>
              </a:rPr>
              <a:t>X)</a:t>
            </a:r>
            <a:r>
              <a:rPr lang="zh-CN" altLang="en-US" dirty="0"/>
              <a:t>，</a:t>
            </a:r>
            <a:r>
              <a:rPr lang="en-US" altLang="zh-CN" b="1" dirty="0">
                <a:solidFill>
                  <a:srgbClr val="006600"/>
                </a:solidFill>
              </a:rPr>
              <a:t>Y</a:t>
            </a:r>
            <a:r>
              <a:rPr lang="en-US" altLang="zh-CN" b="1" dirty="0">
                <a:solidFill>
                  <a:srgbClr val="006600"/>
                </a:solidFill>
                <a:latin typeface="宋体" pitchFamily="2" charset="-122"/>
              </a:rPr>
              <a:t>→</a:t>
            </a:r>
            <a:r>
              <a:rPr lang="en-US" altLang="zh-CN" b="1" dirty="0">
                <a:solidFill>
                  <a:srgbClr val="006600"/>
                </a:solidFill>
              </a:rPr>
              <a:t>X</a:t>
            </a:r>
            <a:r>
              <a:rPr lang="zh-CN" altLang="en-US" dirty="0"/>
              <a:t>，</a:t>
            </a:r>
            <a:r>
              <a:rPr lang="en-US" altLang="zh-CN" dirty="0">
                <a:solidFill>
                  <a:srgbClr val="C00000"/>
                </a:solidFill>
              </a:rPr>
              <a:t>Y</a:t>
            </a:r>
            <a:r>
              <a:rPr lang="en-US" altLang="zh-CN" dirty="0">
                <a:solidFill>
                  <a:srgbClr val="C00000"/>
                </a:solidFill>
                <a:latin typeface="宋体" pitchFamily="2" charset="-122"/>
              </a:rPr>
              <a:t>→</a:t>
            </a:r>
            <a:r>
              <a:rPr lang="en-US" altLang="zh-CN" dirty="0">
                <a:solidFill>
                  <a:srgbClr val="C00000"/>
                </a:solidFill>
              </a:rPr>
              <a:t>Z</a:t>
            </a:r>
            <a:r>
              <a:rPr lang="zh-CN" altLang="en-US" dirty="0"/>
              <a:t>，则称</a:t>
            </a:r>
            <a:r>
              <a:rPr lang="en-US" altLang="zh-CN" dirty="0">
                <a:solidFill>
                  <a:srgbClr val="0000FF"/>
                </a:solidFill>
              </a:rPr>
              <a:t>Z</a:t>
            </a:r>
            <a:r>
              <a:rPr lang="zh-CN" altLang="en-US" dirty="0">
                <a:solidFill>
                  <a:srgbClr val="0000FF"/>
                </a:solidFill>
              </a:rPr>
              <a:t>对</a:t>
            </a:r>
            <a:r>
              <a:rPr lang="en-US" altLang="zh-CN" dirty="0">
                <a:solidFill>
                  <a:srgbClr val="0000FF"/>
                </a:solidFill>
              </a:rPr>
              <a:t>X</a:t>
            </a:r>
            <a:r>
              <a:rPr lang="zh-CN" altLang="en-US" dirty="0">
                <a:solidFill>
                  <a:srgbClr val="C00000"/>
                </a:solidFill>
              </a:rPr>
              <a:t>传递函数依赖</a:t>
            </a:r>
            <a:r>
              <a:rPr lang="zh-CN" altLang="en-US" dirty="0"/>
              <a:t>。记作：</a:t>
            </a:r>
          </a:p>
          <a:p>
            <a:pPr>
              <a:spcBef>
                <a:spcPct val="100000"/>
              </a:spcBef>
              <a:buFont typeface="Wingdings" pitchFamily="2" charset="2"/>
              <a:buNone/>
            </a:pPr>
            <a:r>
              <a:rPr lang="zh-CN" altLang="en-US" dirty="0"/>
              <a:t>           </a:t>
            </a:r>
            <a:r>
              <a:rPr lang="en-US" altLang="zh-CN" dirty="0"/>
              <a:t>X </a:t>
            </a:r>
            <a:r>
              <a:rPr lang="en-US" altLang="zh-CN" dirty="0">
                <a:latin typeface="宋体" pitchFamily="2" charset="-122"/>
              </a:rPr>
              <a:t>→</a:t>
            </a:r>
            <a:r>
              <a:rPr lang="en-US" altLang="zh-CN" dirty="0"/>
              <a:t> Z</a:t>
            </a:r>
          </a:p>
          <a:p>
            <a:pPr>
              <a:spcBef>
                <a:spcPct val="100000"/>
              </a:spcBef>
              <a:buNone/>
            </a:pPr>
            <a:r>
              <a:rPr lang="zh-CN" altLang="en-US" dirty="0">
                <a:highlight>
                  <a:srgbClr val="FFFF00"/>
                </a:highlight>
                <a:ea typeface="宋体" charset="-122"/>
              </a:rPr>
              <a:t>注</a:t>
            </a:r>
            <a:r>
              <a:rPr lang="en-US" altLang="zh-CN" dirty="0">
                <a:highlight>
                  <a:srgbClr val="FFFF00"/>
                </a:highlight>
                <a:ea typeface="宋体" charset="-122"/>
              </a:rPr>
              <a:t>: </a:t>
            </a:r>
            <a:r>
              <a:rPr lang="zh-CN" altLang="en-US" dirty="0">
                <a:ea typeface="宋体" charset="-122"/>
              </a:rPr>
              <a:t>如果</a:t>
            </a:r>
            <a:r>
              <a:rPr lang="en-US" altLang="zh-CN" dirty="0">
                <a:ea typeface="宋体" charset="-122"/>
              </a:rPr>
              <a:t>Y→X</a:t>
            </a:r>
            <a:r>
              <a:rPr lang="zh-CN" altLang="en-US" dirty="0">
                <a:ea typeface="宋体" charset="-122"/>
              </a:rPr>
              <a:t>， 即</a:t>
            </a:r>
            <a:r>
              <a:rPr lang="en-US" altLang="zh-CN" dirty="0">
                <a:ea typeface="宋体" charset="-122"/>
              </a:rPr>
              <a:t>X←→Y</a:t>
            </a:r>
            <a:r>
              <a:rPr lang="zh-CN" altLang="en-US" dirty="0">
                <a:ea typeface="宋体" charset="-122"/>
              </a:rPr>
              <a:t>，则</a:t>
            </a:r>
            <a:r>
              <a:rPr lang="en-US" altLang="zh-CN" dirty="0">
                <a:ea typeface="宋体" charset="-122"/>
              </a:rPr>
              <a:t>Z</a:t>
            </a:r>
            <a:r>
              <a:rPr lang="zh-CN" altLang="en-US" dirty="0">
                <a:solidFill>
                  <a:srgbClr val="0000FF"/>
                </a:solidFill>
                <a:ea typeface="宋体" charset="-122"/>
              </a:rPr>
              <a:t>直接依赖于</a:t>
            </a:r>
            <a:r>
              <a:rPr lang="en-US" altLang="zh-CN" dirty="0">
                <a:ea typeface="宋体" charset="-122"/>
              </a:rPr>
              <a:t>X</a:t>
            </a:r>
            <a:r>
              <a:rPr lang="zh-CN" altLang="en-US" dirty="0">
                <a:ea typeface="宋体" charset="-122"/>
              </a:rPr>
              <a:t>。</a:t>
            </a:r>
          </a:p>
          <a:p>
            <a:pPr>
              <a:spcBef>
                <a:spcPct val="100000"/>
              </a:spcBef>
              <a:buFont typeface="Wingdings" pitchFamily="2" charset="2"/>
              <a:buNone/>
            </a:pPr>
            <a:endParaRPr lang="en-US" altLang="zh-CN" dirty="0"/>
          </a:p>
          <a:p>
            <a:endParaRPr lang="zh-CN" altLang="en-US" dirty="0"/>
          </a:p>
        </p:txBody>
      </p:sp>
      <p:sp>
        <p:nvSpPr>
          <p:cNvPr id="272388" name="Text Box 4"/>
          <p:cNvSpPr txBox="1">
            <a:spLocks noChangeArrowheads="1"/>
          </p:cNvSpPr>
          <p:nvPr/>
        </p:nvSpPr>
        <p:spPr bwMode="auto">
          <a:xfrm>
            <a:off x="2209800" y="3352800"/>
            <a:ext cx="838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dirty="0">
                <a:solidFill>
                  <a:srgbClr val="C00000"/>
                </a:solidFill>
              </a:rPr>
              <a:t>传递</a:t>
            </a:r>
          </a:p>
        </p:txBody>
      </p:sp>
      <p:sp>
        <p:nvSpPr>
          <p:cNvPr id="272392" name="Line 8"/>
          <p:cNvSpPr>
            <a:spLocks noChangeShapeType="1"/>
          </p:cNvSpPr>
          <p:nvPr/>
        </p:nvSpPr>
        <p:spPr bwMode="auto">
          <a:xfrm>
            <a:off x="5372100" y="2209800"/>
            <a:ext cx="76200" cy="38100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2393" name="Line 9"/>
          <p:cNvSpPr>
            <a:spLocks noChangeShapeType="1"/>
          </p:cNvSpPr>
          <p:nvPr/>
        </p:nvSpPr>
        <p:spPr bwMode="auto">
          <a:xfrm>
            <a:off x="6705600" y="2146300"/>
            <a:ext cx="76200" cy="381000"/>
          </a:xfrm>
          <a:prstGeom prst="line">
            <a:avLst/>
          </a:prstGeom>
          <a:noFill/>
          <a:ln w="19050">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 name="椭圆 1"/>
          <p:cNvSpPr/>
          <p:nvPr/>
        </p:nvSpPr>
        <p:spPr bwMode="auto">
          <a:xfrm>
            <a:off x="6084168" y="1916832"/>
            <a:ext cx="1440160" cy="731319"/>
          </a:xfrm>
          <a:prstGeom prst="ellipse">
            <a:avLst/>
          </a:prstGeom>
          <a:noFill/>
          <a:ln w="31750" cap="flat" cmpd="sng" algn="ctr">
            <a:solidFill>
              <a:srgbClr val="C00000"/>
            </a:solidFill>
            <a:prstDash val="sysDot"/>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sp>
        <p:nvSpPr>
          <p:cNvPr id="4" name="文本框 3">
            <a:extLst>
              <a:ext uri="{FF2B5EF4-FFF2-40B4-BE49-F238E27FC236}">
                <a16:creationId xmlns:a16="http://schemas.microsoft.com/office/drawing/2014/main" id="{2ABB82EA-84EC-E024-A01C-2BF1A6C975BF}"/>
              </a:ext>
            </a:extLst>
          </p:cNvPr>
          <p:cNvSpPr txBox="1"/>
          <p:nvPr/>
        </p:nvSpPr>
        <p:spPr>
          <a:xfrm>
            <a:off x="5410200" y="751619"/>
            <a:ext cx="2646878" cy="461665"/>
          </a:xfrm>
          <a:prstGeom prst="rect">
            <a:avLst/>
          </a:prstGeom>
          <a:noFill/>
        </p:spPr>
        <p:txBody>
          <a:bodyPr wrap="none" rtlCol="0">
            <a:spAutoFit/>
          </a:bodyPr>
          <a:lstStyle/>
          <a:p>
            <a:r>
              <a:rPr lang="zh-CN" altLang="en-US" dirty="0"/>
              <a:t>非平凡的函数依赖</a:t>
            </a:r>
          </a:p>
        </p:txBody>
      </p:sp>
      <p:cxnSp>
        <p:nvCxnSpPr>
          <p:cNvPr id="8" name="直接箭头连接符 7">
            <a:extLst>
              <a:ext uri="{FF2B5EF4-FFF2-40B4-BE49-F238E27FC236}">
                <a16:creationId xmlns:a16="http://schemas.microsoft.com/office/drawing/2014/main" id="{EC70F130-E27E-FA0B-1D24-00EC3CC364F6}"/>
              </a:ext>
            </a:extLst>
          </p:cNvPr>
          <p:cNvCxnSpPr>
            <a:stCxn id="4" idx="2"/>
          </p:cNvCxnSpPr>
          <p:nvPr/>
        </p:nvCxnSpPr>
        <p:spPr bwMode="auto">
          <a:xfrm flipH="1">
            <a:off x="4782344" y="1213284"/>
            <a:ext cx="1951295" cy="93301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页脚占位符 5">
            <a:extLst>
              <a:ext uri="{FF2B5EF4-FFF2-40B4-BE49-F238E27FC236}">
                <a16:creationId xmlns:a16="http://schemas.microsoft.com/office/drawing/2014/main" id="{1FD544F7-35A9-06EC-9D71-4009AE34D679}"/>
              </a:ext>
            </a:extLst>
          </p:cNvPr>
          <p:cNvSpPr>
            <a:spLocks noGrp="1"/>
          </p:cNvSpPr>
          <p:nvPr>
            <p:ph type="ftr" sz="quarter" idx="11"/>
          </p:nvPr>
        </p:nvSpPr>
        <p:spPr/>
        <p:txBody>
          <a:bodyPr/>
          <a:lstStyle/>
          <a:p>
            <a:r>
              <a:rPr lang="en-US" altLang="zh-CN"/>
              <a:t>《数据库系统概论》- 第6章</a:t>
            </a:r>
          </a:p>
        </p:txBody>
      </p:sp>
      <p:sp>
        <p:nvSpPr>
          <p:cNvPr id="9" name="灯片编号占位符 8">
            <a:extLst>
              <a:ext uri="{FF2B5EF4-FFF2-40B4-BE49-F238E27FC236}">
                <a16:creationId xmlns:a16="http://schemas.microsoft.com/office/drawing/2014/main" id="{73C26C96-4125-EEF6-3FC8-BB0425ECF75A}"/>
              </a:ext>
            </a:extLst>
          </p:cNvPr>
          <p:cNvSpPr>
            <a:spLocks noGrp="1"/>
          </p:cNvSpPr>
          <p:nvPr>
            <p:ph type="sldNum" sz="quarter" idx="12"/>
          </p:nvPr>
        </p:nvSpPr>
        <p:spPr/>
        <p:txBody>
          <a:bodyPr/>
          <a:lstStyle/>
          <a:p>
            <a:fld id="{A2D74603-B40B-4D66-8F6E-41C870D48932}" type="slidenum">
              <a:rPr lang="en-US" altLang="zh-CN" smtClean="0"/>
              <a:pPr/>
              <a:t>32</a:t>
            </a:fld>
            <a:r>
              <a:rPr lang="en-US" altLang="zh-CN"/>
              <a:t>/162</a:t>
            </a:r>
            <a:endParaRPr lang="en-US" altLang="zh-CN" dirty="0"/>
          </a:p>
        </p:txBody>
      </p:sp>
    </p:spTree>
    <p:extLst>
      <p:ext uri="{BB962C8B-B14F-4D97-AF65-F5344CB8AC3E}">
        <p14:creationId xmlns:p14="http://schemas.microsoft.com/office/powerpoint/2010/main" val="9164600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par>
                                <p:cTn id="8" presetID="22" presetClass="entr" presetSubtype="4"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1" presetClass="entr" presetSubtype="1"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heel(1)">
                                      <p:cBhvr>
                                        <p:cTn id="15" dur="20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272387">
                                            <p:txEl>
                                              <p:pRg st="3" end="3"/>
                                            </p:txEl>
                                          </p:spTgt>
                                        </p:tgtEl>
                                        <p:attrNameLst>
                                          <p:attrName>style.visibility</p:attrName>
                                        </p:attrNameLst>
                                      </p:cBhvr>
                                      <p:to>
                                        <p:strVal val="visible"/>
                                      </p:to>
                                    </p:set>
                                    <p:anim calcmode="lin" valueType="num">
                                      <p:cBhvr additive="base">
                                        <p:cTn id="20" dur="500" fill="hold"/>
                                        <p:tgtEl>
                                          <p:spTgt spid="272387">
                                            <p:txEl>
                                              <p:pRg st="3" end="3"/>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7238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half" idx="10"/>
          </p:nvPr>
        </p:nvSpPr>
        <p:spPr/>
        <p:txBody>
          <a:bodyPr/>
          <a:lstStyle/>
          <a:p>
            <a:fld id="{D4E91D36-F020-4CA0-B3C4-F6D83712BF4E}" type="datetime1">
              <a:rPr lang="zh-CN" altLang="en-US" smtClean="0"/>
              <a:t>2025/11/6</a:t>
            </a:fld>
            <a:endParaRPr lang="en-US" altLang="zh-CN"/>
          </a:p>
        </p:txBody>
      </p:sp>
      <p:sp>
        <p:nvSpPr>
          <p:cNvPr id="272386" name="Rectangle 2"/>
          <p:cNvSpPr>
            <a:spLocks noGrp="1" noChangeArrowheads="1"/>
          </p:cNvSpPr>
          <p:nvPr>
            <p:ph type="title"/>
          </p:nvPr>
        </p:nvSpPr>
        <p:spPr/>
        <p:txBody>
          <a:bodyPr/>
          <a:lstStyle/>
          <a:p>
            <a:r>
              <a:rPr lang="en-US" altLang="zh-CN" dirty="0"/>
              <a:t>8.2.1 </a:t>
            </a:r>
            <a:r>
              <a:rPr lang="zh-CN" altLang="en-US" dirty="0"/>
              <a:t>函数依赖</a:t>
            </a:r>
          </a:p>
        </p:txBody>
      </p:sp>
      <p:sp>
        <p:nvSpPr>
          <p:cNvPr id="11" name="Rectangle 3"/>
          <p:cNvSpPr txBox="1">
            <a:spLocks noChangeArrowheads="1"/>
          </p:cNvSpPr>
          <p:nvPr/>
        </p:nvSpPr>
        <p:spPr bwMode="auto">
          <a:xfrm>
            <a:off x="685800" y="1524000"/>
            <a:ext cx="82296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fontAlgn="base">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a:buFont typeface="Wingdings" pitchFamily="2" charset="2"/>
              <a:buNone/>
            </a:pPr>
            <a:r>
              <a:rPr kumimoji="0" lang="en-US" altLang="zh-CN" kern="0" dirty="0">
                <a:ea typeface="宋体" pitchFamily="2" charset="-122"/>
              </a:rPr>
              <a:t>[</a:t>
            </a:r>
            <a:r>
              <a:rPr kumimoji="0" lang="zh-CN" altLang="en-US" kern="0" dirty="0">
                <a:ea typeface="宋体" pitchFamily="2" charset="-122"/>
              </a:rPr>
              <a:t>例</a:t>
            </a:r>
            <a:r>
              <a:rPr kumimoji="0" lang="en-US" altLang="zh-CN" kern="0" dirty="0">
                <a:ea typeface="宋体" pitchFamily="2" charset="-122"/>
              </a:rPr>
              <a:t>1]</a:t>
            </a:r>
            <a:r>
              <a:rPr kumimoji="0" lang="zh-CN" altLang="en-US" kern="0" dirty="0">
                <a:ea typeface="宋体" pitchFamily="2" charset="-122"/>
              </a:rPr>
              <a:t> 一个描述学校教务的数据库：</a:t>
            </a:r>
          </a:p>
          <a:p>
            <a:pPr lvl="1">
              <a:buFont typeface="Wingdings" pitchFamily="2" charset="2"/>
              <a:buNone/>
            </a:pPr>
            <a:r>
              <a:rPr kumimoji="0" lang="zh-CN" altLang="en-US" sz="2200" kern="0" dirty="0">
                <a:ea typeface="宋体" pitchFamily="2" charset="-122"/>
              </a:rPr>
              <a:t>	学生的学号（</a:t>
            </a:r>
            <a:r>
              <a:rPr kumimoji="0" lang="en-US" altLang="zh-CN" sz="2200" kern="0" dirty="0" err="1">
                <a:ea typeface="宋体" pitchFamily="2" charset="-122"/>
              </a:rPr>
              <a:t>Sno</a:t>
            </a:r>
            <a:r>
              <a:rPr kumimoji="0" lang="zh-CN" altLang="en-US" sz="2200" kern="0" dirty="0">
                <a:ea typeface="宋体" pitchFamily="2" charset="-122"/>
              </a:rPr>
              <a:t>）、所在系（</a:t>
            </a:r>
            <a:r>
              <a:rPr kumimoji="0" lang="en-US" altLang="zh-CN" sz="2200" kern="0" dirty="0" err="1">
                <a:ea typeface="宋体" pitchFamily="2" charset="-122"/>
              </a:rPr>
              <a:t>Sdept</a:t>
            </a:r>
            <a:r>
              <a:rPr kumimoji="0" lang="zh-CN" altLang="en-US" sz="2200" kern="0" dirty="0">
                <a:ea typeface="宋体" pitchFamily="2" charset="-122"/>
              </a:rPr>
              <a:t>）</a:t>
            </a:r>
          </a:p>
          <a:p>
            <a:pPr lvl="1">
              <a:buFont typeface="Wingdings" pitchFamily="2" charset="2"/>
              <a:buNone/>
            </a:pPr>
            <a:r>
              <a:rPr kumimoji="0" lang="zh-CN" altLang="en-US" sz="2200" kern="0" dirty="0">
                <a:ea typeface="宋体" pitchFamily="2" charset="-122"/>
              </a:rPr>
              <a:t>	系主任姓名（</a:t>
            </a:r>
            <a:r>
              <a:rPr kumimoji="0" lang="en-US" altLang="zh-CN" sz="2200" kern="0" dirty="0" err="1">
                <a:ea typeface="宋体" pitchFamily="2" charset="-122"/>
              </a:rPr>
              <a:t>Mname</a:t>
            </a:r>
            <a:r>
              <a:rPr kumimoji="0" lang="zh-CN" altLang="en-US" sz="2200" kern="0" dirty="0">
                <a:ea typeface="宋体" pitchFamily="2" charset="-122"/>
              </a:rPr>
              <a:t>）、课程名（</a:t>
            </a:r>
            <a:r>
              <a:rPr kumimoji="0" lang="en-US" altLang="zh-CN" sz="2200" kern="0" dirty="0" err="1">
                <a:ea typeface="宋体" pitchFamily="2" charset="-122"/>
              </a:rPr>
              <a:t>Cname</a:t>
            </a:r>
            <a:r>
              <a:rPr kumimoji="0" lang="zh-CN" altLang="en-US" sz="2200" kern="0" dirty="0">
                <a:ea typeface="宋体" pitchFamily="2" charset="-122"/>
              </a:rPr>
              <a:t>）</a:t>
            </a:r>
          </a:p>
          <a:p>
            <a:pPr lvl="1">
              <a:buFont typeface="Wingdings" pitchFamily="2" charset="2"/>
              <a:buNone/>
            </a:pPr>
            <a:r>
              <a:rPr kumimoji="0" lang="zh-CN" altLang="en-US" sz="2200" kern="0" dirty="0">
                <a:ea typeface="宋体" pitchFamily="2" charset="-122"/>
              </a:rPr>
              <a:t>	成绩（</a:t>
            </a:r>
            <a:r>
              <a:rPr kumimoji="0" lang="en-US" altLang="zh-CN" sz="2200" kern="0" dirty="0">
                <a:ea typeface="宋体" pitchFamily="2" charset="-122"/>
              </a:rPr>
              <a:t>Grade</a:t>
            </a:r>
            <a:r>
              <a:rPr kumimoji="0" lang="zh-CN" altLang="en-US" sz="2200" kern="0" dirty="0">
                <a:ea typeface="宋体" pitchFamily="2" charset="-122"/>
              </a:rPr>
              <a:t>）</a:t>
            </a:r>
          </a:p>
          <a:p>
            <a:pPr lvl="1">
              <a:lnSpc>
                <a:spcPct val="150000"/>
              </a:lnSpc>
              <a:buNone/>
            </a:pPr>
            <a:r>
              <a:rPr kumimoji="0" lang="en-US" altLang="zh-CN" kern="0" dirty="0">
                <a:ea typeface="宋体" pitchFamily="2" charset="-122"/>
              </a:rPr>
              <a:t>Student (</a:t>
            </a:r>
            <a:r>
              <a:rPr kumimoji="0" lang="en-US" altLang="zh-CN" kern="0" dirty="0" err="1">
                <a:ea typeface="宋体" pitchFamily="2" charset="-122"/>
              </a:rPr>
              <a:t>Sno</a:t>
            </a:r>
            <a:r>
              <a:rPr kumimoji="0" lang="en-US" altLang="zh-CN" kern="0" dirty="0">
                <a:ea typeface="宋体" pitchFamily="2" charset="-122"/>
              </a:rPr>
              <a:t>, </a:t>
            </a:r>
            <a:r>
              <a:rPr kumimoji="0" lang="en-US" altLang="zh-CN" kern="0" dirty="0" err="1">
                <a:ea typeface="宋体" pitchFamily="2" charset="-122"/>
              </a:rPr>
              <a:t>Sdept</a:t>
            </a:r>
            <a:r>
              <a:rPr kumimoji="0" lang="en-US" altLang="zh-CN" kern="0" dirty="0">
                <a:ea typeface="宋体" pitchFamily="2" charset="-122"/>
              </a:rPr>
              <a:t>, </a:t>
            </a:r>
            <a:r>
              <a:rPr kumimoji="0" lang="en-US" altLang="zh-CN" kern="0" dirty="0" err="1">
                <a:ea typeface="宋体" pitchFamily="2" charset="-122"/>
              </a:rPr>
              <a:t>Mname</a:t>
            </a:r>
            <a:r>
              <a:rPr kumimoji="0" lang="en-US" altLang="zh-CN" kern="0" dirty="0">
                <a:ea typeface="宋体" pitchFamily="2" charset="-122"/>
              </a:rPr>
              <a:t>, </a:t>
            </a:r>
            <a:r>
              <a:rPr kumimoji="0" lang="en-US" altLang="zh-CN" kern="0" dirty="0" err="1">
                <a:ea typeface="宋体" pitchFamily="2" charset="-122"/>
              </a:rPr>
              <a:t>Cname</a:t>
            </a:r>
            <a:r>
              <a:rPr kumimoji="0" lang="en-US" altLang="zh-CN" kern="0" dirty="0">
                <a:ea typeface="宋体" pitchFamily="2" charset="-122"/>
              </a:rPr>
              <a:t>, Grade)</a:t>
            </a:r>
            <a:endParaRPr kumimoji="0" lang="zh-CN" altLang="en-US" kern="0" dirty="0">
              <a:ea typeface="宋体" pitchFamily="2" charset="-122"/>
            </a:endParaRPr>
          </a:p>
        </p:txBody>
      </p:sp>
      <p:sp>
        <p:nvSpPr>
          <p:cNvPr id="3" name="矩形 2"/>
          <p:cNvSpPr/>
          <p:nvPr/>
        </p:nvSpPr>
        <p:spPr>
          <a:xfrm>
            <a:off x="1259632" y="3962400"/>
            <a:ext cx="6720408" cy="1707903"/>
          </a:xfrm>
          <a:prstGeom prst="rect">
            <a:avLst/>
          </a:prstGeom>
        </p:spPr>
        <p:txBody>
          <a:bodyPr wrap="square">
            <a:spAutoFit/>
          </a:bodyPr>
          <a:lstStyle/>
          <a:p>
            <a:pPr>
              <a:buFont typeface="Wingdings" pitchFamily="2" charset="2"/>
              <a:buNone/>
            </a:pPr>
            <a:r>
              <a:rPr lang="zh-CN" altLang="en-US" dirty="0"/>
              <a:t> </a:t>
            </a:r>
            <a:r>
              <a:rPr lang="en-US" altLang="zh-CN" dirty="0" err="1"/>
              <a:t>Sno</a:t>
            </a:r>
            <a:r>
              <a:rPr lang="en-US" altLang="zh-CN" dirty="0"/>
              <a:t> → </a:t>
            </a:r>
            <a:r>
              <a:rPr lang="en-US" altLang="zh-CN" dirty="0" err="1"/>
              <a:t>Sdept</a:t>
            </a:r>
            <a:r>
              <a:rPr lang="en-US" altLang="zh-CN" dirty="0"/>
              <a:t>, </a:t>
            </a:r>
            <a:r>
              <a:rPr lang="en-US" altLang="zh-CN" dirty="0" err="1">
                <a:solidFill>
                  <a:srgbClr val="0000FF"/>
                </a:solidFill>
              </a:rPr>
              <a:t>Sdept</a:t>
            </a:r>
            <a:r>
              <a:rPr lang="en-US" altLang="zh-CN" dirty="0">
                <a:solidFill>
                  <a:srgbClr val="0000FF"/>
                </a:solidFill>
              </a:rPr>
              <a:t> → </a:t>
            </a:r>
            <a:r>
              <a:rPr lang="en-US" altLang="zh-CN" dirty="0" err="1">
                <a:solidFill>
                  <a:srgbClr val="0000FF"/>
                </a:solidFill>
              </a:rPr>
              <a:t>Sno</a:t>
            </a:r>
            <a:r>
              <a:rPr lang="en-US" altLang="zh-CN" dirty="0"/>
              <a:t>, </a:t>
            </a:r>
            <a:r>
              <a:rPr lang="en-US" altLang="zh-CN" dirty="0" err="1"/>
              <a:t>Sdept</a:t>
            </a:r>
            <a:r>
              <a:rPr lang="en-US" altLang="zh-CN" dirty="0"/>
              <a:t> → </a:t>
            </a:r>
            <a:r>
              <a:rPr lang="en-US" altLang="zh-CN" dirty="0" err="1"/>
              <a:t>Mname</a:t>
            </a:r>
            <a:endParaRPr lang="en-US" altLang="zh-CN" dirty="0"/>
          </a:p>
          <a:p>
            <a:pPr>
              <a:buFont typeface="Wingdings" pitchFamily="2" charset="2"/>
              <a:buNone/>
            </a:pPr>
            <a:endParaRPr lang="en-US" altLang="zh-CN" sz="1400" dirty="0"/>
          </a:p>
          <a:p>
            <a:pPr>
              <a:lnSpc>
                <a:spcPct val="150000"/>
              </a:lnSpc>
              <a:buFont typeface="Wingdings" pitchFamily="2" charset="2"/>
              <a:buNone/>
            </a:pPr>
            <a:r>
              <a:rPr lang="en-US" altLang="zh-CN" dirty="0"/>
              <a:t>      </a:t>
            </a:r>
            <a:r>
              <a:rPr lang="en-US" altLang="zh-CN" dirty="0" err="1"/>
              <a:t>Mname</a:t>
            </a:r>
            <a:r>
              <a:rPr lang="zh-CN" altLang="en-US" dirty="0">
                <a:solidFill>
                  <a:srgbClr val="0000FF"/>
                </a:solidFill>
              </a:rPr>
              <a:t>传递</a:t>
            </a:r>
            <a:r>
              <a:rPr lang="zh-CN" altLang="en-US" dirty="0">
                <a:solidFill>
                  <a:srgbClr val="C00000"/>
                </a:solidFill>
              </a:rPr>
              <a:t>函数依赖于</a:t>
            </a:r>
            <a:r>
              <a:rPr lang="en-US" altLang="zh-CN" dirty="0" err="1"/>
              <a:t>Sno</a:t>
            </a:r>
            <a:endParaRPr lang="en-US" altLang="zh-CN" dirty="0"/>
          </a:p>
          <a:p>
            <a:pPr>
              <a:lnSpc>
                <a:spcPct val="150000"/>
              </a:lnSpc>
              <a:buFont typeface="Wingdings" pitchFamily="2" charset="2"/>
              <a:buNone/>
            </a:pPr>
            <a:r>
              <a:rPr lang="zh-CN" altLang="en-US" dirty="0"/>
              <a:t> </a:t>
            </a:r>
            <a:r>
              <a:rPr lang="en-US" altLang="zh-CN" dirty="0" err="1"/>
              <a:t>Sno</a:t>
            </a:r>
            <a:r>
              <a:rPr lang="en-US" altLang="zh-CN" dirty="0"/>
              <a:t> </a:t>
            </a:r>
            <a:r>
              <a:rPr lang="en-US" altLang="zh-CN" dirty="0">
                <a:latin typeface="宋体" pitchFamily="2" charset="-122"/>
              </a:rPr>
              <a:t>→</a:t>
            </a:r>
            <a:r>
              <a:rPr lang="en-US" altLang="zh-CN" dirty="0"/>
              <a:t> </a:t>
            </a:r>
            <a:r>
              <a:rPr lang="en-US" altLang="zh-CN" dirty="0" err="1"/>
              <a:t>Mname</a:t>
            </a:r>
            <a:endParaRPr lang="zh-CN" altLang="en-US" dirty="0"/>
          </a:p>
        </p:txBody>
      </p:sp>
      <p:sp>
        <p:nvSpPr>
          <p:cNvPr id="13" name="Text Box 4"/>
          <p:cNvSpPr txBox="1">
            <a:spLocks noChangeArrowheads="1"/>
          </p:cNvSpPr>
          <p:nvPr/>
        </p:nvSpPr>
        <p:spPr bwMode="auto">
          <a:xfrm>
            <a:off x="3988302" y="5157192"/>
            <a:ext cx="8382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400" dirty="0">
                <a:solidFill>
                  <a:srgbClr val="C00000"/>
                </a:solidFill>
              </a:rPr>
              <a:t>传递</a:t>
            </a:r>
          </a:p>
        </p:txBody>
      </p:sp>
      <p:sp>
        <p:nvSpPr>
          <p:cNvPr id="4" name="Line 9">
            <a:extLst>
              <a:ext uri="{FF2B5EF4-FFF2-40B4-BE49-F238E27FC236}">
                <a16:creationId xmlns:a16="http://schemas.microsoft.com/office/drawing/2014/main" id="{774AC292-A65E-44DA-899A-6A83FB660836}"/>
              </a:ext>
            </a:extLst>
          </p:cNvPr>
          <p:cNvSpPr>
            <a:spLocks noChangeShapeType="1"/>
          </p:cNvSpPr>
          <p:nvPr/>
        </p:nvSpPr>
        <p:spPr bwMode="auto">
          <a:xfrm>
            <a:off x="4526957" y="4029397"/>
            <a:ext cx="76200" cy="38100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 name="页脚占位符 5">
            <a:extLst>
              <a:ext uri="{FF2B5EF4-FFF2-40B4-BE49-F238E27FC236}">
                <a16:creationId xmlns:a16="http://schemas.microsoft.com/office/drawing/2014/main" id="{C81935A1-01F6-6A6A-B80E-8E209FAB33E7}"/>
              </a:ext>
            </a:extLst>
          </p:cNvPr>
          <p:cNvSpPr>
            <a:spLocks noGrp="1"/>
          </p:cNvSpPr>
          <p:nvPr>
            <p:ph type="ftr" sz="quarter" idx="11"/>
          </p:nvPr>
        </p:nvSpPr>
        <p:spPr/>
        <p:txBody>
          <a:bodyPr/>
          <a:lstStyle/>
          <a:p>
            <a:r>
              <a:rPr lang="en-US" altLang="zh-CN"/>
              <a:t>《数据库系统概论》- 第6章</a:t>
            </a:r>
          </a:p>
        </p:txBody>
      </p:sp>
      <p:sp>
        <p:nvSpPr>
          <p:cNvPr id="8" name="灯片编号占位符 7">
            <a:extLst>
              <a:ext uri="{FF2B5EF4-FFF2-40B4-BE49-F238E27FC236}">
                <a16:creationId xmlns:a16="http://schemas.microsoft.com/office/drawing/2014/main" id="{EC132263-50E4-0F72-DA5E-0987A04B4860}"/>
              </a:ext>
            </a:extLst>
          </p:cNvPr>
          <p:cNvSpPr>
            <a:spLocks noGrp="1"/>
          </p:cNvSpPr>
          <p:nvPr>
            <p:ph type="sldNum" sz="quarter" idx="12"/>
          </p:nvPr>
        </p:nvSpPr>
        <p:spPr/>
        <p:txBody>
          <a:bodyPr/>
          <a:lstStyle/>
          <a:p>
            <a:fld id="{A2D74603-B40B-4D66-8F6E-41C870D48932}" type="slidenum">
              <a:rPr lang="en-US" altLang="zh-CN" smtClean="0"/>
              <a:pPr/>
              <a:t>33</a:t>
            </a:fld>
            <a:r>
              <a:rPr lang="en-US" altLang="zh-CN"/>
              <a:t>/162</a:t>
            </a:r>
            <a:endParaRPr lang="en-US" altLang="zh-CN" dirty="0"/>
          </a:p>
        </p:txBody>
      </p:sp>
    </p:spTree>
    <p:extLst>
      <p:ext uri="{BB962C8B-B14F-4D97-AF65-F5344CB8AC3E}">
        <p14:creationId xmlns:p14="http://schemas.microsoft.com/office/powerpoint/2010/main" val="32880172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F9981071-1FAC-4FDC-8908-35AFEB6FF425}" type="datetime1">
              <a:rPr lang="zh-CN" altLang="en-US" smtClean="0"/>
              <a:t>2025/11/6</a:t>
            </a:fld>
            <a:endParaRPr lang="en-US" altLang="zh-CN"/>
          </a:p>
        </p:txBody>
      </p:sp>
      <p:sp>
        <p:nvSpPr>
          <p:cNvPr id="275458" name="Rectangle 2"/>
          <p:cNvSpPr>
            <a:spLocks noGrp="1" noChangeArrowheads="1"/>
          </p:cNvSpPr>
          <p:nvPr>
            <p:ph type="title"/>
          </p:nvPr>
        </p:nvSpPr>
        <p:spPr/>
        <p:txBody>
          <a:bodyPr/>
          <a:lstStyle/>
          <a:p>
            <a:r>
              <a:rPr lang="en-US" altLang="zh-CN" dirty="0"/>
              <a:t>8.2.3 </a:t>
            </a:r>
            <a:r>
              <a:rPr lang="zh-CN" altLang="en-US" dirty="0"/>
              <a:t>范式</a:t>
            </a:r>
          </a:p>
        </p:txBody>
      </p:sp>
      <p:sp>
        <p:nvSpPr>
          <p:cNvPr id="275459" name="Rectangle 3"/>
          <p:cNvSpPr>
            <a:spLocks noGrp="1" noChangeArrowheads="1"/>
          </p:cNvSpPr>
          <p:nvPr>
            <p:ph type="body" idx="1"/>
          </p:nvPr>
        </p:nvSpPr>
        <p:spPr/>
        <p:txBody>
          <a:bodyPr/>
          <a:lstStyle/>
          <a:p>
            <a:r>
              <a:rPr lang="zh-CN" altLang="en-US" dirty="0"/>
              <a:t>关系数据库中的</a:t>
            </a:r>
            <a:r>
              <a:rPr lang="zh-CN" altLang="en-US" dirty="0">
                <a:solidFill>
                  <a:srgbClr val="0000FF"/>
                </a:solidFill>
              </a:rPr>
              <a:t>关系</a:t>
            </a:r>
            <a:r>
              <a:rPr lang="zh-CN" altLang="en-US" dirty="0"/>
              <a:t>必须</a:t>
            </a:r>
            <a:r>
              <a:rPr lang="zh-CN" altLang="en-US" dirty="0">
                <a:solidFill>
                  <a:srgbClr val="0000FF"/>
                </a:solidFill>
              </a:rPr>
              <a:t>满足一定的要求</a:t>
            </a:r>
            <a:r>
              <a:rPr lang="zh-CN" altLang="en-US" dirty="0"/>
              <a:t>。满足</a:t>
            </a:r>
            <a:r>
              <a:rPr lang="zh-CN" altLang="en-US" u="sng" dirty="0">
                <a:solidFill>
                  <a:srgbClr val="0000FF"/>
                </a:solidFill>
              </a:rPr>
              <a:t>不同程度要求</a:t>
            </a:r>
            <a:r>
              <a:rPr lang="zh-CN" altLang="en-US" dirty="0"/>
              <a:t>的</a:t>
            </a:r>
            <a:r>
              <a:rPr lang="zh-CN" altLang="en-US" dirty="0">
                <a:solidFill>
                  <a:srgbClr val="0000FF"/>
                </a:solidFill>
              </a:rPr>
              <a:t>关系</a:t>
            </a:r>
            <a:r>
              <a:rPr lang="zh-CN" altLang="en-US" dirty="0"/>
              <a:t>称为</a:t>
            </a:r>
            <a:r>
              <a:rPr lang="zh-CN" altLang="en-US" u="sng" dirty="0">
                <a:solidFill>
                  <a:srgbClr val="FF0000"/>
                </a:solidFill>
              </a:rPr>
              <a:t>不同范式</a:t>
            </a:r>
            <a:r>
              <a:rPr lang="zh-CN" altLang="en-US" dirty="0">
                <a:solidFill>
                  <a:srgbClr val="0000FF"/>
                </a:solidFill>
              </a:rPr>
              <a:t>。</a:t>
            </a:r>
          </a:p>
          <a:p>
            <a:r>
              <a:rPr lang="zh-CN" altLang="en-US" dirty="0"/>
              <a:t>满足</a:t>
            </a:r>
            <a:r>
              <a:rPr lang="zh-CN" altLang="en-US" dirty="0">
                <a:solidFill>
                  <a:srgbClr val="C00000"/>
                </a:solidFill>
              </a:rPr>
              <a:t>最低</a:t>
            </a:r>
            <a:r>
              <a:rPr lang="zh-CN" altLang="en-US" dirty="0"/>
              <a:t>要求的关系，叫</a:t>
            </a:r>
            <a:r>
              <a:rPr lang="zh-CN" altLang="en-US" u="sng" dirty="0">
                <a:solidFill>
                  <a:srgbClr val="0000FF"/>
                </a:solidFill>
              </a:rPr>
              <a:t>第一范式</a:t>
            </a:r>
            <a:r>
              <a:rPr lang="zh-CN" altLang="en-US" dirty="0"/>
              <a:t>，简称</a:t>
            </a:r>
            <a:r>
              <a:rPr lang="en-US" altLang="zh-CN" dirty="0">
                <a:solidFill>
                  <a:srgbClr val="0000FF"/>
                </a:solidFill>
              </a:rPr>
              <a:t>1NF</a:t>
            </a:r>
            <a:r>
              <a:rPr lang="zh-CN" altLang="en-US" dirty="0"/>
              <a:t>。</a:t>
            </a:r>
          </a:p>
          <a:p>
            <a:pPr lvl="1"/>
            <a:r>
              <a:rPr lang="zh-CN" altLang="en-US" dirty="0"/>
              <a:t>关系表的</a:t>
            </a:r>
            <a:r>
              <a:rPr lang="zh-CN" altLang="en-US" u="sng" dirty="0"/>
              <a:t>每一</a:t>
            </a:r>
            <a:r>
              <a:rPr lang="zh-CN" altLang="en-US" u="sng" dirty="0">
                <a:solidFill>
                  <a:srgbClr val="FF0000"/>
                </a:solidFill>
              </a:rPr>
              <a:t>分量</a:t>
            </a:r>
            <a:r>
              <a:rPr lang="zh-CN" altLang="en-US" u="sng" dirty="0"/>
              <a:t>是</a:t>
            </a:r>
            <a:r>
              <a:rPr lang="zh-CN" altLang="en-US" u="sng" dirty="0">
                <a:solidFill>
                  <a:srgbClr val="FF0000"/>
                </a:solidFill>
              </a:rPr>
              <a:t>不可分</a:t>
            </a:r>
            <a:r>
              <a:rPr lang="zh-CN" altLang="en-US" u="sng" dirty="0"/>
              <a:t>的数据项</a:t>
            </a:r>
          </a:p>
          <a:p>
            <a:pPr lvl="1"/>
            <a:r>
              <a:rPr lang="en-US" altLang="zh-CN" dirty="0"/>
              <a:t>1NF </a:t>
            </a:r>
            <a:r>
              <a:rPr lang="zh-CN" altLang="en-US" dirty="0">
                <a:solidFill>
                  <a:srgbClr val="C00000"/>
                </a:solidFill>
              </a:rPr>
              <a:t>不允许</a:t>
            </a:r>
            <a:r>
              <a:rPr lang="zh-CN" altLang="en-US" dirty="0"/>
              <a:t>表中出现</a:t>
            </a:r>
            <a:r>
              <a:rPr lang="zh-CN" altLang="en-US" dirty="0">
                <a:solidFill>
                  <a:srgbClr val="C00000"/>
                </a:solidFill>
              </a:rPr>
              <a:t>嵌套</a:t>
            </a:r>
            <a:r>
              <a:rPr lang="zh-CN" altLang="en-US" dirty="0"/>
              <a:t>或</a:t>
            </a:r>
            <a:r>
              <a:rPr lang="zh-CN" altLang="en-US" dirty="0">
                <a:solidFill>
                  <a:srgbClr val="C00000"/>
                </a:solidFill>
              </a:rPr>
              <a:t>复合</a:t>
            </a:r>
            <a:r>
              <a:rPr lang="zh-CN" altLang="en-US" dirty="0"/>
              <a:t>的属性 </a:t>
            </a:r>
          </a:p>
          <a:p>
            <a:pPr lvl="1"/>
            <a:endParaRPr lang="en-US" altLang="zh-CN" dirty="0"/>
          </a:p>
          <a:p>
            <a:pPr lvl="1"/>
            <a:endParaRPr lang="en-US" altLang="zh-CN" dirty="0"/>
          </a:p>
        </p:txBody>
      </p:sp>
      <p:sp>
        <p:nvSpPr>
          <p:cNvPr id="3" name="页脚占位符 2">
            <a:extLst>
              <a:ext uri="{FF2B5EF4-FFF2-40B4-BE49-F238E27FC236}">
                <a16:creationId xmlns:a16="http://schemas.microsoft.com/office/drawing/2014/main" id="{8E344AE9-862A-0B09-5A7C-3953C094030B}"/>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0D64DA30-400F-CA9D-0265-9119BF22ABA5}"/>
              </a:ext>
            </a:extLst>
          </p:cNvPr>
          <p:cNvSpPr>
            <a:spLocks noGrp="1"/>
          </p:cNvSpPr>
          <p:nvPr>
            <p:ph type="sldNum" sz="quarter" idx="12"/>
          </p:nvPr>
        </p:nvSpPr>
        <p:spPr/>
        <p:txBody>
          <a:bodyPr/>
          <a:lstStyle/>
          <a:p>
            <a:fld id="{A2D74603-B40B-4D66-8F6E-41C870D48932}" type="slidenum">
              <a:rPr lang="en-US" altLang="zh-CN" smtClean="0"/>
              <a:pPr/>
              <a:t>34</a:t>
            </a:fld>
            <a:r>
              <a:rPr lang="en-US" altLang="zh-CN"/>
              <a:t>/162</a:t>
            </a:r>
            <a:endParaRPr lang="en-US" altLang="zh-CN" dirty="0"/>
          </a:p>
        </p:txBody>
      </p:sp>
    </p:spTree>
    <p:extLst>
      <p:ext uri="{BB962C8B-B14F-4D97-AF65-F5344CB8AC3E}">
        <p14:creationId xmlns:p14="http://schemas.microsoft.com/office/powerpoint/2010/main" val="22529165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5459">
                                            <p:txEl>
                                              <p:pRg st="1" end="1"/>
                                            </p:txEl>
                                          </p:spTgt>
                                        </p:tgtEl>
                                        <p:attrNameLst>
                                          <p:attrName>style.visibility</p:attrName>
                                        </p:attrNameLst>
                                      </p:cBhvr>
                                      <p:to>
                                        <p:strVal val="visible"/>
                                      </p:to>
                                    </p:set>
                                    <p:anim calcmode="lin" valueType="num">
                                      <p:cBhvr additive="base">
                                        <p:cTn id="7" dur="500" fill="hold"/>
                                        <p:tgtEl>
                                          <p:spTgt spid="27545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54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75459">
                                            <p:txEl>
                                              <p:pRg st="2" end="2"/>
                                            </p:txEl>
                                          </p:spTgt>
                                        </p:tgtEl>
                                        <p:attrNameLst>
                                          <p:attrName>style.visibility</p:attrName>
                                        </p:attrNameLst>
                                      </p:cBhvr>
                                      <p:to>
                                        <p:strVal val="visible"/>
                                      </p:to>
                                    </p:set>
                                    <p:anim calcmode="lin" valueType="num">
                                      <p:cBhvr additive="base">
                                        <p:cTn id="13" dur="500" fill="hold"/>
                                        <p:tgtEl>
                                          <p:spTgt spid="27545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54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75459">
                                            <p:txEl>
                                              <p:pRg st="3" end="3"/>
                                            </p:txEl>
                                          </p:spTgt>
                                        </p:tgtEl>
                                        <p:attrNameLst>
                                          <p:attrName>style.visibility</p:attrName>
                                        </p:attrNameLst>
                                      </p:cBhvr>
                                      <p:to>
                                        <p:strVal val="visible"/>
                                      </p:to>
                                    </p:set>
                                    <p:anim calcmode="lin" valueType="num">
                                      <p:cBhvr additive="base">
                                        <p:cTn id="19" dur="500" fill="hold"/>
                                        <p:tgtEl>
                                          <p:spTgt spid="27545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545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BEFAFC2-8A09-467D-B968-CC4083028DE5}" type="datetime1">
              <a:rPr lang="zh-CN" altLang="en-US" smtClean="0"/>
              <a:t>2025/11/6</a:t>
            </a:fld>
            <a:endParaRPr lang="en-US" altLang="zh-CN"/>
          </a:p>
        </p:txBody>
      </p:sp>
      <p:sp>
        <p:nvSpPr>
          <p:cNvPr id="275458" name="Rectangle 2"/>
          <p:cNvSpPr>
            <a:spLocks noGrp="1" noChangeArrowheads="1"/>
          </p:cNvSpPr>
          <p:nvPr>
            <p:ph type="title"/>
          </p:nvPr>
        </p:nvSpPr>
        <p:spPr/>
        <p:txBody>
          <a:bodyPr/>
          <a:lstStyle/>
          <a:p>
            <a:r>
              <a:rPr lang="en-US" altLang="zh-CN" dirty="0"/>
              <a:t>8.2.3 </a:t>
            </a:r>
            <a:r>
              <a:rPr lang="zh-CN" altLang="en-US" dirty="0"/>
              <a:t>范式</a:t>
            </a:r>
          </a:p>
        </p:txBody>
      </p:sp>
      <p:sp>
        <p:nvSpPr>
          <p:cNvPr id="275459" name="Rectangle 3"/>
          <p:cNvSpPr>
            <a:spLocks noGrp="1" noChangeArrowheads="1"/>
          </p:cNvSpPr>
          <p:nvPr>
            <p:ph type="body" idx="1"/>
          </p:nvPr>
        </p:nvSpPr>
        <p:spPr>
          <a:xfrm>
            <a:off x="609600" y="1447801"/>
            <a:ext cx="8153400" cy="2209800"/>
          </a:xfrm>
        </p:spPr>
        <p:txBody>
          <a:bodyPr/>
          <a:lstStyle/>
          <a:p>
            <a:r>
              <a:rPr lang="zh-CN" altLang="en-US" dirty="0"/>
              <a:t>范式的种类：</a:t>
            </a:r>
          </a:p>
          <a:p>
            <a:pPr marL="457200" lvl="1" indent="0">
              <a:buNone/>
            </a:pPr>
            <a:r>
              <a:rPr lang="zh-CN" altLang="en-US" dirty="0"/>
              <a:t>    第一范式</a:t>
            </a:r>
            <a:r>
              <a:rPr lang="en-US" altLang="zh-CN" dirty="0"/>
              <a:t>(1NF)    </a:t>
            </a:r>
            <a:r>
              <a:rPr lang="zh-CN" altLang="en-US" dirty="0"/>
              <a:t>第二范式</a:t>
            </a:r>
            <a:r>
              <a:rPr lang="en-US" altLang="zh-CN" dirty="0"/>
              <a:t>(2NF)</a:t>
            </a:r>
          </a:p>
          <a:p>
            <a:pPr marL="457200" lvl="1" indent="0">
              <a:buNone/>
            </a:pPr>
            <a:r>
              <a:rPr lang="zh-CN" altLang="en-US" dirty="0"/>
              <a:t>    第三范式</a:t>
            </a:r>
            <a:r>
              <a:rPr lang="en-US" altLang="zh-CN" dirty="0"/>
              <a:t>(3NF)    BC</a:t>
            </a:r>
            <a:r>
              <a:rPr lang="zh-CN" altLang="en-US" dirty="0"/>
              <a:t>范式</a:t>
            </a:r>
            <a:r>
              <a:rPr lang="en-US" altLang="zh-CN" dirty="0"/>
              <a:t>(BCNF)</a:t>
            </a:r>
          </a:p>
          <a:p>
            <a:pPr marL="457200" lvl="1" indent="0">
              <a:buNone/>
            </a:pPr>
            <a:r>
              <a:rPr lang="zh-CN" altLang="en-US" dirty="0"/>
              <a:t>    第四范式</a:t>
            </a:r>
            <a:r>
              <a:rPr lang="en-US" altLang="zh-CN" dirty="0"/>
              <a:t>(4NF)    </a:t>
            </a:r>
            <a:r>
              <a:rPr lang="zh-CN" altLang="en-US" dirty="0"/>
              <a:t>第五范式</a:t>
            </a:r>
            <a:r>
              <a:rPr lang="en-US" altLang="zh-CN" dirty="0"/>
              <a:t>(5NF)</a:t>
            </a:r>
          </a:p>
          <a:p>
            <a:pPr lvl="1"/>
            <a:endParaRPr lang="en-US" altLang="zh-CN" dirty="0"/>
          </a:p>
          <a:p>
            <a:pPr lvl="1"/>
            <a:endParaRPr lang="en-US" altLang="zh-CN" dirty="0"/>
          </a:p>
        </p:txBody>
      </p:sp>
      <p:sp>
        <p:nvSpPr>
          <p:cNvPr id="7" name="Rectangle 3"/>
          <p:cNvSpPr txBox="1">
            <a:spLocks noChangeArrowheads="1"/>
          </p:cNvSpPr>
          <p:nvPr/>
        </p:nvSpPr>
        <p:spPr bwMode="auto">
          <a:xfrm>
            <a:off x="685800" y="3810001"/>
            <a:ext cx="80772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fontAlgn="base">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r>
              <a:rPr lang="zh-CN" altLang="en-US" dirty="0"/>
              <a:t>各种范式之间存在联系</a:t>
            </a:r>
          </a:p>
          <a:p>
            <a:pPr lvl="1"/>
            <a:r>
              <a:rPr lang="en-US" altLang="zh-CN" dirty="0"/>
              <a:t>5NF</a:t>
            </a:r>
            <a:r>
              <a:rPr lang="en-US" altLang="zh-CN" dirty="0">
                <a:sym typeface="Symbol" pitchFamily="18" charset="2"/>
              </a:rPr>
              <a:t> </a:t>
            </a:r>
            <a:r>
              <a:rPr lang="en-US" altLang="zh-CN" dirty="0"/>
              <a:t>4NF</a:t>
            </a:r>
            <a:r>
              <a:rPr lang="en-US" altLang="zh-CN" dirty="0">
                <a:sym typeface="Symbol" pitchFamily="18" charset="2"/>
              </a:rPr>
              <a:t> </a:t>
            </a:r>
            <a:r>
              <a:rPr lang="en-US" altLang="zh-CN" dirty="0"/>
              <a:t>BCNF</a:t>
            </a:r>
            <a:r>
              <a:rPr lang="en-US" altLang="zh-CN" dirty="0">
                <a:sym typeface="Symbol" pitchFamily="18" charset="2"/>
              </a:rPr>
              <a:t> 3</a:t>
            </a:r>
            <a:r>
              <a:rPr lang="en-US" altLang="zh-CN" dirty="0"/>
              <a:t>NF</a:t>
            </a:r>
            <a:r>
              <a:rPr lang="en-US" altLang="zh-CN" dirty="0">
                <a:sym typeface="Symbol" pitchFamily="18" charset="2"/>
              </a:rPr>
              <a:t> 2</a:t>
            </a:r>
            <a:r>
              <a:rPr lang="en-US" altLang="zh-CN" dirty="0"/>
              <a:t>NF</a:t>
            </a:r>
            <a:r>
              <a:rPr lang="en-US" altLang="zh-CN" dirty="0">
                <a:sym typeface="Symbol" pitchFamily="18" charset="2"/>
              </a:rPr>
              <a:t> 1</a:t>
            </a:r>
            <a:r>
              <a:rPr lang="en-US" altLang="zh-CN" dirty="0"/>
              <a:t>NF </a:t>
            </a:r>
          </a:p>
          <a:p>
            <a:pPr lvl="1"/>
            <a:r>
              <a:rPr lang="zh-CN" altLang="en-US" dirty="0"/>
              <a:t>某一关系模式</a:t>
            </a:r>
            <a:r>
              <a:rPr lang="en-US" altLang="zh-CN" dirty="0"/>
              <a:t>R</a:t>
            </a:r>
            <a:r>
              <a:rPr lang="zh-CN" altLang="en-US" dirty="0"/>
              <a:t>为</a:t>
            </a:r>
            <a:r>
              <a:rPr lang="zh-CN" altLang="en-US" dirty="0">
                <a:solidFill>
                  <a:srgbClr val="0000FF"/>
                </a:solidFill>
              </a:rPr>
              <a:t>第几</a:t>
            </a:r>
            <a:r>
              <a:rPr lang="zh-CN" altLang="en-US" dirty="0"/>
              <a:t>范式，可简记为</a:t>
            </a:r>
            <a:r>
              <a:rPr lang="en-US" altLang="zh-CN" dirty="0" err="1">
                <a:solidFill>
                  <a:srgbClr val="C00000"/>
                </a:solidFill>
              </a:rPr>
              <a:t>R∈</a:t>
            </a:r>
            <a:r>
              <a:rPr lang="en-US" altLang="zh-CN" dirty="0" err="1">
                <a:solidFill>
                  <a:srgbClr val="0000FF"/>
                </a:solidFill>
              </a:rPr>
              <a:t>n</a:t>
            </a:r>
            <a:r>
              <a:rPr lang="en-US" altLang="zh-CN" dirty="0" err="1">
                <a:solidFill>
                  <a:srgbClr val="C00000"/>
                </a:solidFill>
              </a:rPr>
              <a:t>NF</a:t>
            </a:r>
            <a:endParaRPr lang="en-US" altLang="zh-CN" dirty="0">
              <a:solidFill>
                <a:srgbClr val="C00000"/>
              </a:solidFill>
            </a:endParaRPr>
          </a:p>
          <a:p>
            <a:pPr lvl="1"/>
            <a:endParaRPr kumimoji="0" lang="en-US" altLang="zh-CN" kern="0" dirty="0"/>
          </a:p>
          <a:p>
            <a:pPr lvl="1"/>
            <a:endParaRPr kumimoji="0" lang="en-US" altLang="zh-CN" kern="0" dirty="0"/>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3768" y="2714620"/>
            <a:ext cx="1735694" cy="16525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页脚占位符 2">
            <a:extLst>
              <a:ext uri="{FF2B5EF4-FFF2-40B4-BE49-F238E27FC236}">
                <a16:creationId xmlns:a16="http://schemas.microsoft.com/office/drawing/2014/main" id="{45362C54-CE0E-67C5-370C-700FBE45CFF5}"/>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89FA01E2-939B-00BD-2B6D-485D974BB534}"/>
              </a:ext>
            </a:extLst>
          </p:cNvPr>
          <p:cNvSpPr>
            <a:spLocks noGrp="1"/>
          </p:cNvSpPr>
          <p:nvPr>
            <p:ph type="sldNum" sz="quarter" idx="12"/>
          </p:nvPr>
        </p:nvSpPr>
        <p:spPr/>
        <p:txBody>
          <a:bodyPr/>
          <a:lstStyle/>
          <a:p>
            <a:fld id="{A2D74603-B40B-4D66-8F6E-41C870D48932}" type="slidenum">
              <a:rPr lang="en-US" altLang="zh-CN" smtClean="0"/>
              <a:pPr/>
              <a:t>35</a:t>
            </a:fld>
            <a:r>
              <a:rPr lang="en-US" altLang="zh-CN"/>
              <a:t>/162</a:t>
            </a:r>
            <a:endParaRPr lang="en-US" altLang="zh-CN" dirty="0"/>
          </a:p>
        </p:txBody>
      </p:sp>
    </p:spTree>
    <p:extLst>
      <p:ext uri="{BB962C8B-B14F-4D97-AF65-F5344CB8AC3E}">
        <p14:creationId xmlns:p14="http://schemas.microsoft.com/office/powerpoint/2010/main" val="15576943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976EF69-24DE-4E5F-BA1B-9913C17BDB9A}" type="datetime1">
              <a:rPr lang="zh-CN" altLang="en-US" smtClean="0"/>
              <a:t>2025/11/6</a:t>
            </a:fld>
            <a:endParaRPr lang="en-US" altLang="zh-CN"/>
          </a:p>
        </p:txBody>
      </p:sp>
      <p:sp>
        <p:nvSpPr>
          <p:cNvPr id="275458" name="Rectangle 2"/>
          <p:cNvSpPr>
            <a:spLocks noGrp="1" noChangeArrowheads="1"/>
          </p:cNvSpPr>
          <p:nvPr>
            <p:ph type="title"/>
          </p:nvPr>
        </p:nvSpPr>
        <p:spPr/>
        <p:txBody>
          <a:bodyPr/>
          <a:lstStyle/>
          <a:p>
            <a:r>
              <a:rPr lang="en-US" altLang="zh-CN" dirty="0"/>
              <a:t>8.2.3 </a:t>
            </a:r>
            <a:r>
              <a:rPr lang="zh-CN" altLang="en-US" dirty="0"/>
              <a:t>范式</a:t>
            </a:r>
          </a:p>
        </p:txBody>
      </p:sp>
      <p:sp>
        <p:nvSpPr>
          <p:cNvPr id="275459" name="Rectangle 3"/>
          <p:cNvSpPr>
            <a:spLocks noGrp="1" noChangeArrowheads="1"/>
          </p:cNvSpPr>
          <p:nvPr>
            <p:ph type="body" idx="1"/>
          </p:nvPr>
        </p:nvSpPr>
        <p:spPr>
          <a:xfrm>
            <a:off x="609600" y="1335087"/>
            <a:ext cx="8345488" cy="4684713"/>
          </a:xfrm>
        </p:spPr>
        <p:txBody>
          <a:bodyPr/>
          <a:lstStyle/>
          <a:p>
            <a:r>
              <a:rPr lang="zh-CN" altLang="en-US" dirty="0"/>
              <a:t>一个</a:t>
            </a:r>
            <a:r>
              <a:rPr lang="zh-CN" altLang="en-US" dirty="0">
                <a:solidFill>
                  <a:srgbClr val="0000FF"/>
                </a:solidFill>
              </a:rPr>
              <a:t>低一级范式</a:t>
            </a:r>
            <a:r>
              <a:rPr lang="zh-CN" altLang="en-US" dirty="0"/>
              <a:t>的关系模式，通过</a:t>
            </a:r>
            <a:r>
              <a:rPr lang="zh-CN" altLang="en-US" b="1" u="sng" dirty="0">
                <a:solidFill>
                  <a:srgbClr val="0000FF"/>
                </a:solidFill>
              </a:rPr>
              <a:t>模式分解</a:t>
            </a:r>
            <a:r>
              <a:rPr lang="zh-CN" altLang="en-US" dirty="0"/>
              <a:t>（</a:t>
            </a:r>
            <a:r>
              <a:rPr lang="en-US" altLang="zh-CN" dirty="0"/>
              <a:t>schema decomposition</a:t>
            </a:r>
            <a:r>
              <a:rPr lang="zh-CN" altLang="en-US" dirty="0"/>
              <a:t>）可以转换为</a:t>
            </a:r>
            <a:r>
              <a:rPr lang="zh-CN" altLang="en-US" b="1" dirty="0">
                <a:solidFill>
                  <a:srgbClr val="FF0000"/>
                </a:solidFill>
              </a:rPr>
              <a:t>若干</a:t>
            </a:r>
            <a:r>
              <a:rPr lang="zh-CN" altLang="en-US" dirty="0"/>
              <a:t>个</a:t>
            </a:r>
            <a:r>
              <a:rPr lang="zh-CN" altLang="en-US" dirty="0">
                <a:solidFill>
                  <a:srgbClr val="0000FF"/>
                </a:solidFill>
              </a:rPr>
              <a:t>高一级范式</a:t>
            </a:r>
            <a:r>
              <a:rPr lang="zh-CN" altLang="en-US" dirty="0"/>
              <a:t>的关系模式的集合，这种过程就叫</a:t>
            </a:r>
            <a:r>
              <a:rPr lang="zh-CN" altLang="en-US" u="sng" dirty="0">
                <a:solidFill>
                  <a:srgbClr val="FF0000"/>
                </a:solidFill>
              </a:rPr>
              <a:t>规范化</a:t>
            </a:r>
            <a:r>
              <a:rPr lang="zh-CN" altLang="en-US" dirty="0">
                <a:solidFill>
                  <a:srgbClr val="0000FF"/>
                </a:solidFill>
              </a:rPr>
              <a:t>（</a:t>
            </a:r>
            <a:r>
              <a:rPr lang="en-US" altLang="zh-CN" dirty="0">
                <a:solidFill>
                  <a:srgbClr val="0000FF"/>
                </a:solidFill>
              </a:rPr>
              <a:t>normalization</a:t>
            </a:r>
            <a:r>
              <a:rPr lang="zh-CN" altLang="en-US" dirty="0">
                <a:solidFill>
                  <a:srgbClr val="0000FF"/>
                </a:solidFill>
              </a:rPr>
              <a:t>）</a:t>
            </a:r>
            <a:r>
              <a:rPr lang="zh-CN" altLang="en-US" dirty="0"/>
              <a:t>。</a:t>
            </a:r>
            <a:endParaRPr lang="en-US" altLang="zh-CN" dirty="0"/>
          </a:p>
        </p:txBody>
      </p:sp>
      <p:sp>
        <p:nvSpPr>
          <p:cNvPr id="3" name="页脚占位符 2">
            <a:extLst>
              <a:ext uri="{FF2B5EF4-FFF2-40B4-BE49-F238E27FC236}">
                <a16:creationId xmlns:a16="http://schemas.microsoft.com/office/drawing/2014/main" id="{EB65ADA8-D1C6-A662-74ED-7A8DB3A515C9}"/>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E0241295-95E7-A82B-B586-9C778C939A13}"/>
              </a:ext>
            </a:extLst>
          </p:cNvPr>
          <p:cNvSpPr>
            <a:spLocks noGrp="1"/>
          </p:cNvSpPr>
          <p:nvPr>
            <p:ph type="sldNum" sz="quarter" idx="12"/>
          </p:nvPr>
        </p:nvSpPr>
        <p:spPr/>
        <p:txBody>
          <a:bodyPr/>
          <a:lstStyle/>
          <a:p>
            <a:fld id="{A2D74603-B40B-4D66-8F6E-41C870D48932}" type="slidenum">
              <a:rPr lang="en-US" altLang="zh-CN" smtClean="0"/>
              <a:pPr/>
              <a:t>36</a:t>
            </a:fld>
            <a:r>
              <a:rPr lang="en-US" altLang="zh-CN"/>
              <a:t>/162</a:t>
            </a:r>
            <a:endParaRPr lang="en-US" altLang="zh-CN"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3505200"/>
            <a:ext cx="3381375" cy="3219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125264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5459">
                                            <p:txEl>
                                              <p:pRg st="0" end="0"/>
                                            </p:txEl>
                                          </p:spTgt>
                                        </p:tgtEl>
                                        <p:attrNameLst>
                                          <p:attrName>style.visibility</p:attrName>
                                        </p:attrNameLst>
                                      </p:cBhvr>
                                      <p:to>
                                        <p:strVal val="visible"/>
                                      </p:to>
                                    </p:set>
                                    <p:anim calcmode="lin" valueType="num">
                                      <p:cBhvr additive="base">
                                        <p:cTn id="7" dur="500" fill="hold"/>
                                        <p:tgtEl>
                                          <p:spTgt spid="275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545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010CD15-5CF9-44E6-A0B9-2F8BDE27BB27}" type="datetime1">
              <a:rPr lang="zh-CN" altLang="en-US" smtClean="0"/>
              <a:t>2025/11/6</a:t>
            </a:fld>
            <a:endParaRPr lang="en-US" altLang="zh-CN"/>
          </a:p>
        </p:txBody>
      </p:sp>
      <p:sp>
        <p:nvSpPr>
          <p:cNvPr id="276482" name="Rectangle 2"/>
          <p:cNvSpPr>
            <a:spLocks noGrp="1" noChangeArrowheads="1"/>
          </p:cNvSpPr>
          <p:nvPr>
            <p:ph type="title"/>
          </p:nvPr>
        </p:nvSpPr>
        <p:spPr/>
        <p:txBody>
          <a:bodyPr/>
          <a:lstStyle/>
          <a:p>
            <a:r>
              <a:rPr lang="en-US" altLang="zh-CN" dirty="0"/>
              <a:t>8.2.4 2NF</a:t>
            </a:r>
            <a:endParaRPr lang="zh-CN" altLang="en-US" dirty="0"/>
          </a:p>
        </p:txBody>
      </p:sp>
      <p:sp>
        <p:nvSpPr>
          <p:cNvPr id="276483" name="Rectangle 3"/>
          <p:cNvSpPr>
            <a:spLocks noGrp="1" noChangeArrowheads="1"/>
          </p:cNvSpPr>
          <p:nvPr>
            <p:ph type="body" idx="1"/>
          </p:nvPr>
        </p:nvSpPr>
        <p:spPr/>
        <p:txBody>
          <a:bodyPr/>
          <a:lstStyle/>
          <a:p>
            <a:pPr>
              <a:buNone/>
            </a:pPr>
            <a:r>
              <a:rPr lang="zh-CN" altLang="en-US" dirty="0">
                <a:solidFill>
                  <a:schemeClr val="hlink"/>
                </a:solidFill>
              </a:rPr>
              <a:t>定义</a:t>
            </a:r>
            <a:r>
              <a:rPr lang="en-US" altLang="zh-CN" dirty="0">
                <a:solidFill>
                  <a:schemeClr val="hlink"/>
                </a:solidFill>
              </a:rPr>
              <a:t>6.6</a:t>
            </a:r>
            <a:r>
              <a:rPr lang="en-US" altLang="zh-CN" dirty="0"/>
              <a:t> </a:t>
            </a:r>
            <a:r>
              <a:rPr lang="zh-CN" altLang="en-US" dirty="0"/>
              <a:t>若</a:t>
            </a:r>
            <a:r>
              <a:rPr lang="en-US" altLang="zh-CN" dirty="0"/>
              <a:t>R</a:t>
            </a:r>
            <a:r>
              <a:rPr lang="en-US" altLang="zh-CN" dirty="0">
                <a:solidFill>
                  <a:srgbClr val="C00000"/>
                </a:solidFill>
                <a:sym typeface="Symbol" pitchFamily="18" charset="2"/>
              </a:rPr>
              <a:t></a:t>
            </a:r>
            <a:r>
              <a:rPr lang="en-US" altLang="zh-CN" dirty="0">
                <a:solidFill>
                  <a:srgbClr val="0000FF"/>
                </a:solidFill>
              </a:rPr>
              <a:t>1</a:t>
            </a:r>
            <a:r>
              <a:rPr lang="en-US" altLang="zh-CN" dirty="0"/>
              <a:t>NF</a:t>
            </a:r>
            <a:r>
              <a:rPr lang="zh-CN" altLang="en-US" dirty="0"/>
              <a:t>，</a:t>
            </a:r>
            <a:r>
              <a:rPr lang="zh-CN" altLang="en-US" b="1" dirty="0">
                <a:solidFill>
                  <a:srgbClr val="C00000"/>
                </a:solidFill>
              </a:rPr>
              <a:t>并且</a:t>
            </a:r>
            <a:r>
              <a:rPr lang="en-US" altLang="zh-CN" u="sng" dirty="0"/>
              <a:t>R</a:t>
            </a:r>
            <a:r>
              <a:rPr lang="zh-CN" altLang="en-US" u="sng" dirty="0"/>
              <a:t>中每一个</a:t>
            </a:r>
            <a:r>
              <a:rPr lang="zh-CN" altLang="en-US" u="sng" dirty="0">
                <a:solidFill>
                  <a:srgbClr val="0000FF"/>
                </a:solidFill>
              </a:rPr>
              <a:t>非主属性</a:t>
            </a:r>
            <a:r>
              <a:rPr lang="zh-CN" altLang="en-US" b="1" u="sng" dirty="0">
                <a:solidFill>
                  <a:srgbClr val="FF0000"/>
                </a:solidFill>
              </a:rPr>
              <a:t>完全</a:t>
            </a:r>
            <a:r>
              <a:rPr lang="zh-CN" altLang="en-US" b="1" u="sng" dirty="0">
                <a:solidFill>
                  <a:srgbClr val="0000FF"/>
                </a:solidFill>
              </a:rPr>
              <a:t>函数依赖</a:t>
            </a:r>
            <a:r>
              <a:rPr lang="zh-CN" altLang="en-US" b="1" u="sng" dirty="0"/>
              <a:t>于</a:t>
            </a:r>
            <a:r>
              <a:rPr lang="en-US" altLang="zh-CN" u="sng" dirty="0"/>
              <a:t>R</a:t>
            </a:r>
            <a:r>
              <a:rPr lang="zh-CN" altLang="en-US" u="sng" dirty="0"/>
              <a:t>的</a:t>
            </a:r>
            <a:r>
              <a:rPr lang="zh-CN" altLang="en-US" b="1" u="sng" dirty="0">
                <a:solidFill>
                  <a:srgbClr val="C00000"/>
                </a:solidFill>
              </a:rPr>
              <a:t>码</a:t>
            </a:r>
            <a:r>
              <a:rPr lang="zh-CN" altLang="en-US" dirty="0"/>
              <a:t>，则称</a:t>
            </a:r>
            <a:r>
              <a:rPr lang="en-US" altLang="zh-CN" dirty="0"/>
              <a:t>R</a:t>
            </a:r>
            <a:r>
              <a:rPr lang="zh-CN" altLang="en-US" dirty="0"/>
              <a:t>为</a:t>
            </a:r>
            <a:r>
              <a:rPr lang="zh-CN" altLang="en-US" dirty="0">
                <a:solidFill>
                  <a:srgbClr val="C00000"/>
                </a:solidFill>
              </a:rPr>
              <a:t>第二范式</a:t>
            </a:r>
            <a:r>
              <a:rPr lang="zh-CN" altLang="en-US" dirty="0"/>
              <a:t>模式，即</a:t>
            </a:r>
            <a:r>
              <a:rPr lang="en-US" altLang="zh-CN" dirty="0">
                <a:solidFill>
                  <a:srgbClr val="C00000"/>
                </a:solidFill>
              </a:rPr>
              <a:t>R</a:t>
            </a:r>
            <a:r>
              <a:rPr lang="en-US" altLang="zh-CN" dirty="0">
                <a:solidFill>
                  <a:srgbClr val="C00000"/>
                </a:solidFill>
                <a:sym typeface="Symbol" pitchFamily="18" charset="2"/>
              </a:rPr>
              <a:t></a:t>
            </a:r>
            <a:r>
              <a:rPr lang="en-US" altLang="zh-CN" dirty="0">
                <a:solidFill>
                  <a:srgbClr val="C00000"/>
                </a:solidFill>
              </a:rPr>
              <a:t>2NF</a:t>
            </a:r>
            <a:r>
              <a:rPr lang="zh-CN" altLang="en-US" dirty="0"/>
              <a:t>。</a:t>
            </a:r>
          </a:p>
        </p:txBody>
      </p:sp>
      <p:sp>
        <p:nvSpPr>
          <p:cNvPr id="3" name="页脚占位符 2">
            <a:extLst>
              <a:ext uri="{FF2B5EF4-FFF2-40B4-BE49-F238E27FC236}">
                <a16:creationId xmlns:a16="http://schemas.microsoft.com/office/drawing/2014/main" id="{B2484922-398F-3212-28E2-34E9D2402121}"/>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B1725F86-B097-12DC-552F-D9803762D96F}"/>
              </a:ext>
            </a:extLst>
          </p:cNvPr>
          <p:cNvSpPr>
            <a:spLocks noGrp="1"/>
          </p:cNvSpPr>
          <p:nvPr>
            <p:ph type="sldNum" sz="quarter" idx="12"/>
          </p:nvPr>
        </p:nvSpPr>
        <p:spPr/>
        <p:txBody>
          <a:bodyPr/>
          <a:lstStyle/>
          <a:p>
            <a:fld id="{A2D74603-B40B-4D66-8F6E-41C870D48932}" type="slidenum">
              <a:rPr lang="en-US" altLang="zh-CN" smtClean="0"/>
              <a:pPr/>
              <a:t>37</a:t>
            </a:fld>
            <a:r>
              <a:rPr lang="en-US" altLang="zh-CN"/>
              <a:t>/162</a:t>
            </a:r>
            <a:endParaRPr lang="en-US" altLang="zh-CN" dirty="0"/>
          </a:p>
        </p:txBody>
      </p:sp>
    </p:spTree>
    <p:extLst>
      <p:ext uri="{BB962C8B-B14F-4D97-AF65-F5344CB8AC3E}">
        <p14:creationId xmlns:p14="http://schemas.microsoft.com/office/powerpoint/2010/main" val="241571084"/>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35D5E6BC-6F15-4689-A6A7-852F52F6D455}" type="datetime1">
              <a:rPr lang="zh-CN" altLang="en-US" smtClean="0"/>
              <a:t>2025/11/6</a:t>
            </a:fld>
            <a:endParaRPr lang="en-US" altLang="zh-CN"/>
          </a:p>
        </p:txBody>
      </p:sp>
      <p:sp>
        <p:nvSpPr>
          <p:cNvPr id="277506" name="Rectangle 2"/>
          <p:cNvSpPr>
            <a:spLocks noGrp="1" noChangeArrowheads="1"/>
          </p:cNvSpPr>
          <p:nvPr>
            <p:ph type="title"/>
          </p:nvPr>
        </p:nvSpPr>
        <p:spPr/>
        <p:txBody>
          <a:bodyPr/>
          <a:lstStyle/>
          <a:p>
            <a:r>
              <a:rPr lang="en-US" altLang="zh-CN" dirty="0"/>
              <a:t>8.2.4 2NF</a:t>
            </a:r>
            <a:endParaRPr lang="zh-CN" altLang="en-US" dirty="0"/>
          </a:p>
        </p:txBody>
      </p:sp>
      <p:sp>
        <p:nvSpPr>
          <p:cNvPr id="277507" name="Rectangle 3"/>
          <p:cNvSpPr>
            <a:spLocks noGrp="1" noChangeArrowheads="1"/>
          </p:cNvSpPr>
          <p:nvPr>
            <p:ph type="body" idx="1"/>
          </p:nvPr>
        </p:nvSpPr>
        <p:spPr/>
        <p:txBody>
          <a:bodyPr/>
          <a:lstStyle/>
          <a:p>
            <a:r>
              <a:rPr lang="zh-CN" altLang="en-US" dirty="0"/>
              <a:t>例：前面的</a:t>
            </a:r>
            <a:r>
              <a:rPr lang="zh-CN" altLang="en-US" dirty="0">
                <a:solidFill>
                  <a:srgbClr val="0000FF"/>
                </a:solidFill>
              </a:rPr>
              <a:t>大表</a:t>
            </a:r>
            <a:r>
              <a:rPr lang="en-US" altLang="zh-CN" dirty="0">
                <a:solidFill>
                  <a:srgbClr val="0000FF"/>
                </a:solidFill>
              </a:rPr>
              <a:t>SC</a:t>
            </a:r>
            <a:r>
              <a:rPr lang="zh-CN" altLang="en-US" u="sng" dirty="0"/>
              <a:t>是不是</a:t>
            </a:r>
            <a:r>
              <a:rPr lang="en-US" altLang="zh-CN" u="sng" dirty="0"/>
              <a:t>2NF</a:t>
            </a:r>
            <a:r>
              <a:rPr lang="zh-CN" altLang="en-US" dirty="0"/>
              <a:t>的关系模式</a:t>
            </a:r>
            <a:r>
              <a:rPr lang="en-US" altLang="zh-CN" dirty="0"/>
              <a:t>?</a:t>
            </a:r>
            <a:endParaRPr lang="zh-CN" altLang="en-US" dirty="0"/>
          </a:p>
        </p:txBody>
      </p:sp>
      <p:sp>
        <p:nvSpPr>
          <p:cNvPr id="10" name="矩形 9"/>
          <p:cNvSpPr/>
          <p:nvPr/>
        </p:nvSpPr>
        <p:spPr>
          <a:xfrm>
            <a:off x="611560" y="2275318"/>
            <a:ext cx="8136903" cy="452432"/>
          </a:xfrm>
          <a:prstGeom prst="rect">
            <a:avLst/>
          </a:prstGeom>
        </p:spPr>
        <p:txBody>
          <a:bodyPr wrap="square">
            <a:spAutoFit/>
          </a:bodyPr>
          <a:lstStyle/>
          <a:p>
            <a:pPr algn="l">
              <a:lnSpc>
                <a:spcPct val="90000"/>
              </a:lnSpc>
              <a:buFont typeface="Wingdings" pitchFamily="2" charset="2"/>
              <a:buNone/>
            </a:pPr>
            <a:r>
              <a:rPr lang="en-US" altLang="zh-CN" sz="2600" dirty="0"/>
              <a:t>SC(</a:t>
            </a:r>
            <a:r>
              <a:rPr lang="en-US" altLang="zh-CN" sz="2600" u="sng" dirty="0" err="1">
                <a:solidFill>
                  <a:srgbClr val="C00000"/>
                </a:solidFill>
              </a:rPr>
              <a:t>Sno</a:t>
            </a:r>
            <a:r>
              <a:rPr lang="en-US" altLang="zh-CN" sz="2600" dirty="0" err="1"/>
              <a:t>,Sname,Sage,Sgendar,Sdept,</a:t>
            </a:r>
            <a:r>
              <a:rPr lang="en-US" altLang="zh-CN" sz="2600" u="sng" dirty="0" err="1">
                <a:solidFill>
                  <a:srgbClr val="C00000"/>
                </a:solidFill>
              </a:rPr>
              <a:t>Cno</a:t>
            </a:r>
            <a:r>
              <a:rPr lang="en-US" altLang="zh-CN" sz="2600" dirty="0" err="1">
                <a:solidFill>
                  <a:srgbClr val="003300"/>
                </a:solidFill>
              </a:rPr>
              <a:t>,</a:t>
            </a:r>
            <a:r>
              <a:rPr lang="en-US" altLang="zh-CN" sz="2600" dirty="0" err="1">
                <a:solidFill>
                  <a:srgbClr val="006600"/>
                </a:solidFill>
              </a:rPr>
              <a:t>Cname</a:t>
            </a:r>
            <a:r>
              <a:rPr lang="en-US" altLang="zh-CN" sz="2600" dirty="0" err="1">
                <a:solidFill>
                  <a:srgbClr val="003300"/>
                </a:solidFill>
              </a:rPr>
              <a:t>,</a:t>
            </a:r>
            <a:r>
              <a:rPr lang="en-US" altLang="zh-CN" sz="2600" dirty="0" err="1">
                <a:solidFill>
                  <a:srgbClr val="0000FF"/>
                </a:solidFill>
              </a:rPr>
              <a:t>Grade</a:t>
            </a:r>
            <a:r>
              <a:rPr lang="en-US" altLang="zh-CN" sz="2600" dirty="0"/>
              <a:t>)</a:t>
            </a:r>
          </a:p>
        </p:txBody>
      </p:sp>
      <p:sp>
        <p:nvSpPr>
          <p:cNvPr id="11" name="矩形 10"/>
          <p:cNvSpPr/>
          <p:nvPr/>
        </p:nvSpPr>
        <p:spPr>
          <a:xfrm>
            <a:off x="2214546" y="3571876"/>
            <a:ext cx="5000644" cy="461665"/>
          </a:xfrm>
          <a:prstGeom prst="rect">
            <a:avLst/>
          </a:prstGeom>
        </p:spPr>
        <p:txBody>
          <a:bodyPr wrap="square">
            <a:spAutoFit/>
          </a:bodyPr>
          <a:lstStyle/>
          <a:p>
            <a:r>
              <a:rPr kumimoji="0" lang="en-US" altLang="zh-CN" kern="0" dirty="0"/>
              <a:t>(</a:t>
            </a:r>
            <a:r>
              <a:rPr kumimoji="0" lang="en-US" altLang="zh-CN" kern="0" dirty="0" err="1"/>
              <a:t>Sno,Cno</a:t>
            </a:r>
            <a:r>
              <a:rPr kumimoji="0" lang="en-US" altLang="zh-CN" kern="0" dirty="0"/>
              <a:t>)→</a:t>
            </a:r>
            <a:r>
              <a:rPr kumimoji="0" lang="en-US" altLang="zh-CN" kern="0" dirty="0" err="1"/>
              <a:t>Sdept</a:t>
            </a:r>
            <a:r>
              <a:rPr kumimoji="0" lang="zh-CN" altLang="en-US" kern="0" dirty="0"/>
              <a:t>是</a:t>
            </a:r>
            <a:r>
              <a:rPr kumimoji="0" lang="zh-CN" altLang="en-US" b="1" kern="0" dirty="0">
                <a:solidFill>
                  <a:srgbClr val="0000FF"/>
                </a:solidFill>
              </a:rPr>
              <a:t>部分函数</a:t>
            </a:r>
            <a:r>
              <a:rPr kumimoji="0" lang="zh-CN" altLang="en-US" kern="0" dirty="0"/>
              <a:t>依赖</a:t>
            </a:r>
            <a:endParaRPr lang="zh-CN" altLang="en-US" dirty="0"/>
          </a:p>
        </p:txBody>
      </p:sp>
      <p:sp>
        <p:nvSpPr>
          <p:cNvPr id="3" name="页脚占位符 2">
            <a:extLst>
              <a:ext uri="{FF2B5EF4-FFF2-40B4-BE49-F238E27FC236}">
                <a16:creationId xmlns:a16="http://schemas.microsoft.com/office/drawing/2014/main" id="{4180C19F-F8E2-BDF6-01DF-92008795362E}"/>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398E6B37-F481-EB92-73EA-B558D1237BC7}"/>
              </a:ext>
            </a:extLst>
          </p:cNvPr>
          <p:cNvSpPr>
            <a:spLocks noGrp="1"/>
          </p:cNvSpPr>
          <p:nvPr>
            <p:ph type="sldNum" sz="quarter" idx="12"/>
          </p:nvPr>
        </p:nvSpPr>
        <p:spPr/>
        <p:txBody>
          <a:bodyPr/>
          <a:lstStyle/>
          <a:p>
            <a:fld id="{A2D74603-B40B-4D66-8F6E-41C870D48932}" type="slidenum">
              <a:rPr lang="en-US" altLang="zh-CN" smtClean="0"/>
              <a:pPr/>
              <a:t>38</a:t>
            </a:fld>
            <a:r>
              <a:rPr lang="en-US" altLang="zh-CN"/>
              <a:t>/162</a:t>
            </a:r>
            <a:endParaRPr lang="en-US" altLang="zh-CN" dirty="0"/>
          </a:p>
        </p:txBody>
      </p:sp>
    </p:spTree>
    <p:extLst>
      <p:ext uri="{BB962C8B-B14F-4D97-AF65-F5344CB8AC3E}">
        <p14:creationId xmlns:p14="http://schemas.microsoft.com/office/powerpoint/2010/main" val="16867147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D402DC20-DDE2-4CAB-AEE8-1B5604C37811}" type="datetime1">
              <a:rPr lang="zh-CN" altLang="en-US" smtClean="0"/>
              <a:t>2025/11/6</a:t>
            </a:fld>
            <a:endParaRPr lang="en-US" altLang="zh-CN"/>
          </a:p>
        </p:txBody>
      </p:sp>
      <p:sp>
        <p:nvSpPr>
          <p:cNvPr id="277506" name="Rectangle 2"/>
          <p:cNvSpPr>
            <a:spLocks noGrp="1" noChangeArrowheads="1"/>
          </p:cNvSpPr>
          <p:nvPr>
            <p:ph type="title"/>
          </p:nvPr>
        </p:nvSpPr>
        <p:spPr/>
        <p:txBody>
          <a:bodyPr/>
          <a:lstStyle/>
          <a:p>
            <a:r>
              <a:rPr lang="en-US" altLang="zh-CN" dirty="0"/>
              <a:t>8.2.4 2NF</a:t>
            </a:r>
            <a:endParaRPr lang="zh-CN" altLang="en-US" dirty="0"/>
          </a:p>
        </p:txBody>
      </p:sp>
      <p:sp>
        <p:nvSpPr>
          <p:cNvPr id="277507" name="Rectangle 3"/>
          <p:cNvSpPr>
            <a:spLocks noGrp="1" noChangeArrowheads="1"/>
          </p:cNvSpPr>
          <p:nvPr>
            <p:ph type="body" idx="1"/>
          </p:nvPr>
        </p:nvSpPr>
        <p:spPr/>
        <p:txBody>
          <a:bodyPr/>
          <a:lstStyle/>
          <a:p>
            <a:r>
              <a:rPr lang="zh-CN" altLang="en-US" dirty="0"/>
              <a:t>例</a:t>
            </a:r>
            <a:r>
              <a:rPr lang="en-US" altLang="zh-CN" dirty="0"/>
              <a:t>4</a:t>
            </a:r>
            <a:r>
              <a:rPr lang="zh-CN" altLang="en-US" dirty="0"/>
              <a:t>：关系模式</a:t>
            </a:r>
            <a:endParaRPr lang="en-US" altLang="zh-CN" dirty="0"/>
          </a:p>
          <a:p>
            <a:pPr marL="0" indent="0">
              <a:buNone/>
            </a:pPr>
            <a:r>
              <a:rPr lang="en-US" altLang="zh-CN" sz="2800" dirty="0"/>
              <a:t>     S-L-C(</a:t>
            </a:r>
            <a:r>
              <a:rPr lang="en-US" altLang="zh-CN" sz="2800" dirty="0" err="1"/>
              <a:t>Sno</a:t>
            </a:r>
            <a:r>
              <a:rPr lang="en-US" altLang="zh-CN" sz="2800" dirty="0"/>
              <a:t>, </a:t>
            </a:r>
            <a:r>
              <a:rPr lang="en-US" altLang="zh-CN" sz="2800" dirty="0" err="1"/>
              <a:t>Sdept</a:t>
            </a:r>
            <a:r>
              <a:rPr lang="en-US" altLang="zh-CN" sz="2800" dirty="0"/>
              <a:t>, </a:t>
            </a:r>
            <a:r>
              <a:rPr lang="en-US" altLang="zh-CN" sz="2800" dirty="0" err="1"/>
              <a:t>Sloc</a:t>
            </a:r>
            <a:r>
              <a:rPr lang="en-US" altLang="zh-CN" sz="2800" dirty="0"/>
              <a:t>, </a:t>
            </a:r>
            <a:r>
              <a:rPr lang="en-US" altLang="zh-CN" sz="2800" dirty="0" err="1"/>
              <a:t>Cno</a:t>
            </a:r>
            <a:r>
              <a:rPr lang="en-US" altLang="zh-CN" sz="2800" dirty="0"/>
              <a:t>, Grade)</a:t>
            </a:r>
          </a:p>
          <a:p>
            <a:pPr lvl="1"/>
            <a:r>
              <a:rPr lang="zh-CN" altLang="en-US" dirty="0"/>
              <a:t>存在函数依赖</a:t>
            </a:r>
          </a:p>
          <a:p>
            <a:pPr lvl="2"/>
            <a:r>
              <a:rPr lang="en-US" altLang="zh-CN" dirty="0" err="1"/>
              <a:t>Sno</a:t>
            </a:r>
            <a:r>
              <a:rPr lang="en-US" altLang="zh-CN" dirty="0"/>
              <a:t> </a:t>
            </a:r>
            <a:r>
              <a:rPr lang="en-US" altLang="zh-CN" dirty="0">
                <a:latin typeface="宋体" pitchFamily="2" charset="-122"/>
              </a:rPr>
              <a:t>→</a:t>
            </a:r>
            <a:r>
              <a:rPr lang="en-US" altLang="zh-CN" dirty="0"/>
              <a:t> </a:t>
            </a:r>
            <a:r>
              <a:rPr lang="en-US" altLang="zh-CN" dirty="0" err="1"/>
              <a:t>Sdept</a:t>
            </a:r>
            <a:endParaRPr lang="en-US" altLang="zh-CN" dirty="0"/>
          </a:p>
          <a:p>
            <a:pPr lvl="2"/>
            <a:r>
              <a:rPr lang="en-US" altLang="zh-CN" dirty="0" err="1"/>
              <a:t>Sdept</a:t>
            </a:r>
            <a:r>
              <a:rPr lang="en-US" altLang="zh-CN" dirty="0"/>
              <a:t> </a:t>
            </a:r>
            <a:r>
              <a:rPr lang="en-US" altLang="zh-CN" dirty="0">
                <a:latin typeface="宋体" pitchFamily="2" charset="-122"/>
              </a:rPr>
              <a:t>→</a:t>
            </a:r>
            <a:r>
              <a:rPr lang="en-US" altLang="zh-CN" dirty="0"/>
              <a:t> </a:t>
            </a:r>
            <a:r>
              <a:rPr lang="en-US" altLang="zh-CN" dirty="0" err="1"/>
              <a:t>Sloc</a:t>
            </a:r>
            <a:endParaRPr lang="en-US" altLang="zh-CN" dirty="0"/>
          </a:p>
          <a:p>
            <a:pPr lvl="2"/>
            <a:r>
              <a:rPr lang="en-US" altLang="zh-CN" dirty="0"/>
              <a:t>(</a:t>
            </a:r>
            <a:r>
              <a:rPr lang="en-US" altLang="zh-CN" dirty="0" err="1"/>
              <a:t>Sno,Cno</a:t>
            </a:r>
            <a:r>
              <a:rPr lang="en-US" altLang="zh-CN" dirty="0"/>
              <a:t>) </a:t>
            </a:r>
            <a:r>
              <a:rPr lang="en-US" altLang="zh-CN" dirty="0">
                <a:latin typeface="宋体" pitchFamily="2" charset="-122"/>
              </a:rPr>
              <a:t>→</a:t>
            </a:r>
            <a:r>
              <a:rPr lang="en-US" altLang="zh-CN" dirty="0"/>
              <a:t> Grade</a:t>
            </a:r>
          </a:p>
          <a:p>
            <a:pPr lvl="1"/>
            <a:r>
              <a:rPr lang="zh-CN" altLang="en-US" b="1" u="sng" dirty="0">
                <a:solidFill>
                  <a:schemeClr val="tx2"/>
                </a:solidFill>
              </a:rPr>
              <a:t>唯一</a:t>
            </a:r>
            <a:r>
              <a:rPr lang="zh-CN" altLang="en-US" b="1" u="sng" dirty="0">
                <a:solidFill>
                  <a:srgbClr val="0000FF"/>
                </a:solidFill>
              </a:rPr>
              <a:t>候选码</a:t>
            </a:r>
            <a:r>
              <a:rPr lang="en-US" altLang="zh-CN" u="sng" dirty="0">
                <a:solidFill>
                  <a:schemeClr val="tx2"/>
                </a:solidFill>
              </a:rPr>
              <a:t>(</a:t>
            </a:r>
            <a:r>
              <a:rPr lang="en-US" altLang="zh-CN" u="sng" dirty="0" err="1">
                <a:solidFill>
                  <a:schemeClr val="tx2"/>
                </a:solidFill>
              </a:rPr>
              <a:t>Sno</a:t>
            </a:r>
            <a:r>
              <a:rPr lang="en-US" altLang="zh-CN" u="sng" dirty="0">
                <a:solidFill>
                  <a:schemeClr val="tx2"/>
                </a:solidFill>
              </a:rPr>
              <a:t>, </a:t>
            </a:r>
            <a:r>
              <a:rPr lang="en-US" altLang="zh-CN" u="sng" dirty="0" err="1">
                <a:solidFill>
                  <a:schemeClr val="tx2"/>
                </a:solidFill>
              </a:rPr>
              <a:t>Cno</a:t>
            </a:r>
            <a:r>
              <a:rPr lang="en-US" altLang="zh-CN" u="sng" dirty="0">
                <a:solidFill>
                  <a:schemeClr val="tx2"/>
                </a:solidFill>
              </a:rPr>
              <a:t>)</a:t>
            </a:r>
            <a:r>
              <a:rPr lang="zh-CN" altLang="en-US" dirty="0"/>
              <a:t>。</a:t>
            </a:r>
            <a:endParaRPr lang="en-US" altLang="zh-CN" dirty="0"/>
          </a:p>
          <a:p>
            <a:pPr lvl="1"/>
            <a:r>
              <a:rPr lang="zh-CN" altLang="en-US" dirty="0"/>
              <a:t>则</a:t>
            </a:r>
            <a:r>
              <a:rPr lang="en-US" altLang="zh-CN" dirty="0" err="1"/>
              <a:t>Sno</a:t>
            </a:r>
            <a:r>
              <a:rPr lang="en-US" altLang="zh-CN" dirty="0" err="1">
                <a:latin typeface="宋体" pitchFamily="2" charset="-122"/>
              </a:rPr>
              <a:t>→</a:t>
            </a:r>
            <a:r>
              <a:rPr lang="en-US" altLang="zh-CN" dirty="0" err="1"/>
              <a:t>Sdept</a:t>
            </a:r>
            <a:r>
              <a:rPr lang="zh-CN" altLang="en-US" dirty="0"/>
              <a:t>是</a:t>
            </a:r>
            <a:r>
              <a:rPr lang="zh-CN" altLang="en-US" dirty="0">
                <a:solidFill>
                  <a:srgbClr val="0000FF"/>
                </a:solidFill>
              </a:rPr>
              <a:t>非主属性</a:t>
            </a:r>
            <a:r>
              <a:rPr lang="zh-CN" altLang="en-US" dirty="0"/>
              <a:t>对</a:t>
            </a:r>
            <a:r>
              <a:rPr lang="zh-CN" altLang="en-US" dirty="0">
                <a:solidFill>
                  <a:srgbClr val="FF0000"/>
                </a:solidFill>
              </a:rPr>
              <a:t>码</a:t>
            </a:r>
            <a:r>
              <a:rPr lang="zh-CN" altLang="en-US" dirty="0"/>
              <a:t>的</a:t>
            </a:r>
            <a:r>
              <a:rPr lang="zh-CN" altLang="en-US" dirty="0">
                <a:solidFill>
                  <a:srgbClr val="0000FF"/>
                </a:solidFill>
              </a:rPr>
              <a:t>部分</a:t>
            </a:r>
            <a:r>
              <a:rPr lang="zh-CN" altLang="en-US" dirty="0"/>
              <a:t>函数依赖。</a:t>
            </a:r>
          </a:p>
        </p:txBody>
      </p:sp>
      <p:cxnSp>
        <p:nvCxnSpPr>
          <p:cNvPr id="7" name="直接连接符 6"/>
          <p:cNvCxnSpPr/>
          <p:nvPr/>
        </p:nvCxnSpPr>
        <p:spPr bwMode="auto">
          <a:xfrm>
            <a:off x="2267744" y="2492896"/>
            <a:ext cx="609600" cy="0"/>
          </a:xfrm>
          <a:prstGeom prst="line">
            <a:avLst/>
          </a:prstGeom>
          <a:ln>
            <a:solidFill>
              <a:srgbClr val="C00000"/>
            </a:solidFill>
            <a:headEnd type="none" w="med" len="med"/>
            <a:tailEnd type="none" w="med" len="med"/>
          </a:ln>
        </p:spPr>
        <p:style>
          <a:lnRef idx="2">
            <a:schemeClr val="accent6"/>
          </a:lnRef>
          <a:fillRef idx="0">
            <a:schemeClr val="accent6"/>
          </a:fillRef>
          <a:effectRef idx="1">
            <a:schemeClr val="accent6"/>
          </a:effectRef>
          <a:fontRef idx="minor">
            <a:schemeClr val="tx1"/>
          </a:fontRef>
        </p:style>
      </p:cxnSp>
      <p:cxnSp>
        <p:nvCxnSpPr>
          <p:cNvPr id="9" name="直接连接符 8"/>
          <p:cNvCxnSpPr/>
          <p:nvPr/>
        </p:nvCxnSpPr>
        <p:spPr bwMode="auto">
          <a:xfrm>
            <a:off x="5004048" y="2492896"/>
            <a:ext cx="609600" cy="0"/>
          </a:xfrm>
          <a:prstGeom prst="line">
            <a:avLst/>
          </a:prstGeom>
          <a:ln>
            <a:solidFill>
              <a:srgbClr val="C00000"/>
            </a:solidFill>
            <a:headEnd type="none" w="med" len="med"/>
            <a:tailEnd type="none" w="med" len="med"/>
          </a:ln>
        </p:spPr>
        <p:style>
          <a:lnRef idx="2">
            <a:schemeClr val="accent6"/>
          </a:lnRef>
          <a:fillRef idx="0">
            <a:schemeClr val="accent6"/>
          </a:fillRef>
          <a:effectRef idx="1">
            <a:schemeClr val="accent6"/>
          </a:effectRef>
          <a:fontRef idx="minor">
            <a:schemeClr val="tx1"/>
          </a:fontRef>
        </p:style>
      </p:cxnSp>
      <p:sp>
        <p:nvSpPr>
          <p:cNvPr id="3" name="页脚占位符 2">
            <a:extLst>
              <a:ext uri="{FF2B5EF4-FFF2-40B4-BE49-F238E27FC236}">
                <a16:creationId xmlns:a16="http://schemas.microsoft.com/office/drawing/2014/main" id="{5CF270E2-0B52-52F5-F313-AB5AB369EA56}"/>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249E63AC-DE01-0BC7-ADB8-97480CEC8CA2}"/>
              </a:ext>
            </a:extLst>
          </p:cNvPr>
          <p:cNvSpPr>
            <a:spLocks noGrp="1"/>
          </p:cNvSpPr>
          <p:nvPr>
            <p:ph type="sldNum" sz="quarter" idx="12"/>
          </p:nvPr>
        </p:nvSpPr>
        <p:spPr/>
        <p:txBody>
          <a:bodyPr/>
          <a:lstStyle/>
          <a:p>
            <a:fld id="{A2D74603-B40B-4D66-8F6E-41C870D48932}" type="slidenum">
              <a:rPr lang="en-US" altLang="zh-CN" smtClean="0"/>
              <a:pPr/>
              <a:t>39</a:t>
            </a:fld>
            <a:r>
              <a:rPr lang="en-US" altLang="zh-CN"/>
              <a:t>/162</a:t>
            </a:r>
            <a:endParaRPr lang="en-US" altLang="zh-CN" dirty="0"/>
          </a:p>
        </p:txBody>
      </p:sp>
    </p:spTree>
    <p:extLst>
      <p:ext uri="{BB962C8B-B14F-4D97-AF65-F5344CB8AC3E}">
        <p14:creationId xmlns:p14="http://schemas.microsoft.com/office/powerpoint/2010/main" val="20689826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7507">
                                            <p:txEl>
                                              <p:pRg st="0" end="0"/>
                                            </p:txEl>
                                          </p:spTgt>
                                        </p:tgtEl>
                                        <p:attrNameLst>
                                          <p:attrName>style.visibility</p:attrName>
                                        </p:attrNameLst>
                                      </p:cBhvr>
                                      <p:to>
                                        <p:strVal val="visible"/>
                                      </p:to>
                                    </p:set>
                                    <p:anim calcmode="lin" valueType="num">
                                      <p:cBhvr additive="base">
                                        <p:cTn id="7" dur="500" fill="hold"/>
                                        <p:tgtEl>
                                          <p:spTgt spid="2775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75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77507">
                                            <p:txEl>
                                              <p:pRg st="1" end="1"/>
                                            </p:txEl>
                                          </p:spTgt>
                                        </p:tgtEl>
                                        <p:attrNameLst>
                                          <p:attrName>style.visibility</p:attrName>
                                        </p:attrNameLst>
                                      </p:cBhvr>
                                      <p:to>
                                        <p:strVal val="visible"/>
                                      </p:to>
                                    </p:set>
                                    <p:anim calcmode="lin" valueType="num">
                                      <p:cBhvr additive="base">
                                        <p:cTn id="13" dur="500" fill="hold"/>
                                        <p:tgtEl>
                                          <p:spTgt spid="2775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75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77507">
                                            <p:txEl>
                                              <p:pRg st="2" end="2"/>
                                            </p:txEl>
                                          </p:spTgt>
                                        </p:tgtEl>
                                        <p:attrNameLst>
                                          <p:attrName>style.visibility</p:attrName>
                                        </p:attrNameLst>
                                      </p:cBhvr>
                                      <p:to>
                                        <p:strVal val="visible"/>
                                      </p:to>
                                    </p:set>
                                    <p:anim calcmode="lin" valueType="num">
                                      <p:cBhvr additive="base">
                                        <p:cTn id="19" dur="500" fill="hold"/>
                                        <p:tgtEl>
                                          <p:spTgt spid="2775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7507">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77507">
                                            <p:txEl>
                                              <p:pRg st="3" end="3"/>
                                            </p:txEl>
                                          </p:spTgt>
                                        </p:tgtEl>
                                        <p:attrNameLst>
                                          <p:attrName>style.visibility</p:attrName>
                                        </p:attrNameLst>
                                      </p:cBhvr>
                                      <p:to>
                                        <p:strVal val="visible"/>
                                      </p:to>
                                    </p:set>
                                    <p:anim calcmode="lin" valueType="num">
                                      <p:cBhvr additive="base">
                                        <p:cTn id="23" dur="500" fill="hold"/>
                                        <p:tgtEl>
                                          <p:spTgt spid="277507">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77507">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77507">
                                            <p:txEl>
                                              <p:pRg st="4" end="4"/>
                                            </p:txEl>
                                          </p:spTgt>
                                        </p:tgtEl>
                                        <p:attrNameLst>
                                          <p:attrName>style.visibility</p:attrName>
                                        </p:attrNameLst>
                                      </p:cBhvr>
                                      <p:to>
                                        <p:strVal val="visible"/>
                                      </p:to>
                                    </p:set>
                                    <p:anim calcmode="lin" valueType="num">
                                      <p:cBhvr additive="base">
                                        <p:cTn id="27" dur="500" fill="hold"/>
                                        <p:tgtEl>
                                          <p:spTgt spid="27750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77507">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77507">
                                            <p:txEl>
                                              <p:pRg st="5" end="5"/>
                                            </p:txEl>
                                          </p:spTgt>
                                        </p:tgtEl>
                                        <p:attrNameLst>
                                          <p:attrName>style.visibility</p:attrName>
                                        </p:attrNameLst>
                                      </p:cBhvr>
                                      <p:to>
                                        <p:strVal val="visible"/>
                                      </p:to>
                                    </p:set>
                                    <p:anim calcmode="lin" valueType="num">
                                      <p:cBhvr additive="base">
                                        <p:cTn id="31" dur="500" fill="hold"/>
                                        <p:tgtEl>
                                          <p:spTgt spid="27750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7750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77507">
                                            <p:txEl>
                                              <p:pRg st="6" end="6"/>
                                            </p:txEl>
                                          </p:spTgt>
                                        </p:tgtEl>
                                        <p:attrNameLst>
                                          <p:attrName>style.visibility</p:attrName>
                                        </p:attrNameLst>
                                      </p:cBhvr>
                                      <p:to>
                                        <p:strVal val="visible"/>
                                      </p:to>
                                    </p:set>
                                    <p:anim calcmode="lin" valueType="num">
                                      <p:cBhvr additive="base">
                                        <p:cTn id="37" dur="500" fill="hold"/>
                                        <p:tgtEl>
                                          <p:spTgt spid="277507">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7750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77507">
                                            <p:txEl>
                                              <p:pRg st="7" end="7"/>
                                            </p:txEl>
                                          </p:spTgt>
                                        </p:tgtEl>
                                        <p:attrNameLst>
                                          <p:attrName>style.visibility</p:attrName>
                                        </p:attrNameLst>
                                      </p:cBhvr>
                                      <p:to>
                                        <p:strVal val="visible"/>
                                      </p:to>
                                    </p:set>
                                    <p:anim calcmode="lin" valueType="num">
                                      <p:cBhvr additive="base">
                                        <p:cTn id="43" dur="500" fill="hold"/>
                                        <p:tgtEl>
                                          <p:spTgt spid="277507">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77507">
                                            <p:txEl>
                                              <p:pRg st="7" end="7"/>
                                            </p:txEl>
                                          </p:spTgt>
                                        </p:tgtEl>
                                        <p:attrNameLst>
                                          <p:attrName>ppt_y</p:attrName>
                                        </p:attrNameLst>
                                      </p:cBhvr>
                                      <p:tavLst>
                                        <p:tav tm="0">
                                          <p:val>
                                            <p:strVal val="1+#ppt_h/2"/>
                                          </p:val>
                                        </p:tav>
                                        <p:tav tm="100000">
                                          <p:val>
                                            <p:strVal val="#ppt_y"/>
                                          </p:val>
                                        </p:tav>
                                      </p:tavLst>
                                    </p:anim>
                                  </p:childTnLst>
                                </p:cTn>
                              </p:par>
                            </p:childTnLst>
                          </p:cTn>
                        </p:par>
                        <p:par>
                          <p:cTn id="45" fill="hold">
                            <p:stCondLst>
                              <p:cond delay="500"/>
                            </p:stCondLst>
                            <p:childTnLst>
                              <p:par>
                                <p:cTn id="46" presetID="6" presetClass="entr" presetSubtype="16" fill="hold" nodeType="after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circle(in)">
                                      <p:cBhvr>
                                        <p:cTn id="48" dur="250"/>
                                        <p:tgtEl>
                                          <p:spTgt spid="7"/>
                                        </p:tgtEl>
                                      </p:cBhvr>
                                    </p:animEffect>
                                  </p:childTnLst>
                                </p:cTn>
                              </p:par>
                              <p:par>
                                <p:cTn id="49" presetID="6" presetClass="entr" presetSubtype="16" fill="hold" nodeType="with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circle(in)">
                                      <p:cBhvr>
                                        <p:cTn id="51" dur="2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2E7B5EB8-058A-4D59-9A1D-20948967E863}" type="datetime1">
              <a:rPr lang="zh-CN" altLang="en-US" smtClean="0"/>
              <a:t>2025/11/6</a:t>
            </a:fld>
            <a:endParaRPr lang="en-US" altLang="zh-CN"/>
          </a:p>
        </p:txBody>
      </p:sp>
      <p:sp>
        <p:nvSpPr>
          <p:cNvPr id="276482" name="Rectangle 2"/>
          <p:cNvSpPr>
            <a:spLocks noGrp="1" noChangeArrowheads="1"/>
          </p:cNvSpPr>
          <p:nvPr>
            <p:ph type="title"/>
          </p:nvPr>
        </p:nvSpPr>
        <p:spPr/>
        <p:txBody>
          <a:bodyPr/>
          <a:lstStyle/>
          <a:p>
            <a:r>
              <a:rPr lang="en-US" altLang="zh-CN" dirty="0"/>
              <a:t>8.2.4 2NF</a:t>
            </a:r>
            <a:endParaRPr lang="zh-CN" altLang="en-US" dirty="0"/>
          </a:p>
        </p:txBody>
      </p:sp>
      <p:sp>
        <p:nvSpPr>
          <p:cNvPr id="276483" name="Rectangle 3"/>
          <p:cNvSpPr>
            <a:spLocks noGrp="1" noChangeArrowheads="1"/>
          </p:cNvSpPr>
          <p:nvPr>
            <p:ph type="body" idx="1"/>
          </p:nvPr>
        </p:nvSpPr>
        <p:spPr>
          <a:xfrm>
            <a:off x="609600" y="1447800"/>
            <a:ext cx="8210872" cy="4684713"/>
          </a:xfrm>
        </p:spPr>
        <p:txBody>
          <a:bodyPr/>
          <a:lstStyle/>
          <a:p>
            <a:pPr>
              <a:buNone/>
            </a:pPr>
            <a:r>
              <a:rPr lang="zh-CN" altLang="en-US" dirty="0">
                <a:solidFill>
                  <a:schemeClr val="tx2">
                    <a:lumMod val="75000"/>
                  </a:schemeClr>
                </a:solidFill>
              </a:rPr>
              <a:t>定义</a:t>
            </a:r>
            <a:r>
              <a:rPr lang="en-US" altLang="zh-CN" dirty="0">
                <a:solidFill>
                  <a:schemeClr val="tx2">
                    <a:lumMod val="75000"/>
                  </a:schemeClr>
                </a:solidFill>
              </a:rPr>
              <a:t>6.6 </a:t>
            </a:r>
            <a:r>
              <a:rPr lang="zh-CN" altLang="en-US" dirty="0"/>
              <a:t>若</a:t>
            </a:r>
            <a:r>
              <a:rPr lang="en-US" altLang="zh-CN" dirty="0"/>
              <a:t>R</a:t>
            </a:r>
            <a:r>
              <a:rPr lang="en-US" altLang="zh-CN" dirty="0">
                <a:sym typeface="Symbol" pitchFamily="18" charset="2"/>
              </a:rPr>
              <a:t></a:t>
            </a:r>
            <a:r>
              <a:rPr lang="en-US" altLang="zh-CN" dirty="0"/>
              <a:t>1NF</a:t>
            </a:r>
            <a:r>
              <a:rPr lang="zh-CN" altLang="en-US" dirty="0"/>
              <a:t>，</a:t>
            </a:r>
            <a:r>
              <a:rPr lang="zh-CN" altLang="en-US" b="1" dirty="0">
                <a:solidFill>
                  <a:srgbClr val="C00000"/>
                </a:solidFill>
              </a:rPr>
              <a:t>并且</a:t>
            </a:r>
            <a:r>
              <a:rPr lang="en-US" altLang="zh-CN" u="sng" dirty="0"/>
              <a:t>R</a:t>
            </a:r>
            <a:r>
              <a:rPr lang="zh-CN" altLang="en-US" u="sng" dirty="0"/>
              <a:t>中每一个</a:t>
            </a:r>
            <a:r>
              <a:rPr lang="zh-CN" altLang="en-US" b="1" u="sng" dirty="0"/>
              <a:t>非主属性</a:t>
            </a:r>
            <a:r>
              <a:rPr lang="zh-CN" altLang="en-US" b="1" u="sng" dirty="0">
                <a:solidFill>
                  <a:srgbClr val="FF0000"/>
                </a:solidFill>
              </a:rPr>
              <a:t>完全</a:t>
            </a:r>
            <a:r>
              <a:rPr lang="zh-CN" altLang="en-US" b="1" u="sng" dirty="0">
                <a:solidFill>
                  <a:srgbClr val="0000FF"/>
                </a:solidFill>
              </a:rPr>
              <a:t>函数依赖于</a:t>
            </a:r>
            <a:r>
              <a:rPr lang="en-US" altLang="zh-CN" u="sng" dirty="0"/>
              <a:t>R</a:t>
            </a:r>
            <a:r>
              <a:rPr lang="zh-CN" altLang="en-US" u="sng" dirty="0"/>
              <a:t>的</a:t>
            </a:r>
            <a:r>
              <a:rPr lang="zh-CN" altLang="en-US" b="1" u="sng" dirty="0">
                <a:solidFill>
                  <a:srgbClr val="C00000"/>
                </a:solidFill>
              </a:rPr>
              <a:t>码</a:t>
            </a:r>
            <a:r>
              <a:rPr lang="zh-CN" altLang="en-US" dirty="0"/>
              <a:t>，则称</a:t>
            </a:r>
            <a:r>
              <a:rPr lang="en-US" altLang="zh-CN" dirty="0"/>
              <a:t>R</a:t>
            </a:r>
            <a:r>
              <a:rPr lang="zh-CN" altLang="en-US" dirty="0"/>
              <a:t>为</a:t>
            </a:r>
            <a:r>
              <a:rPr lang="zh-CN" altLang="en-US" dirty="0">
                <a:solidFill>
                  <a:srgbClr val="C00000"/>
                </a:solidFill>
              </a:rPr>
              <a:t>第二范式</a:t>
            </a:r>
            <a:r>
              <a:rPr lang="zh-CN" altLang="en-US" dirty="0"/>
              <a:t>模式，即</a:t>
            </a:r>
            <a:r>
              <a:rPr lang="en-US" altLang="zh-CN" dirty="0">
                <a:solidFill>
                  <a:srgbClr val="C00000"/>
                </a:solidFill>
              </a:rPr>
              <a:t>R</a:t>
            </a:r>
            <a:r>
              <a:rPr lang="en-US" altLang="zh-CN" dirty="0">
                <a:solidFill>
                  <a:srgbClr val="C00000"/>
                </a:solidFill>
                <a:sym typeface="Symbol" pitchFamily="18" charset="2"/>
              </a:rPr>
              <a:t></a:t>
            </a:r>
            <a:r>
              <a:rPr lang="en-US" altLang="zh-CN" dirty="0">
                <a:solidFill>
                  <a:srgbClr val="C00000"/>
                </a:solidFill>
              </a:rPr>
              <a:t>2NF</a:t>
            </a:r>
            <a:r>
              <a:rPr lang="zh-CN" altLang="en-US" dirty="0"/>
              <a:t>。</a:t>
            </a:r>
          </a:p>
          <a:p>
            <a:r>
              <a:rPr lang="en-US" altLang="zh-CN" dirty="0"/>
              <a:t>2NF </a:t>
            </a:r>
            <a:r>
              <a:rPr lang="zh-CN" altLang="en-US" dirty="0"/>
              <a:t>在 </a:t>
            </a:r>
            <a:r>
              <a:rPr lang="en-US" altLang="zh-CN" dirty="0"/>
              <a:t>1NF</a:t>
            </a:r>
            <a:r>
              <a:rPr lang="zh-CN" altLang="en-US" dirty="0"/>
              <a:t>基础上</a:t>
            </a:r>
            <a:r>
              <a:rPr lang="zh-CN" altLang="en-US" b="1" dirty="0">
                <a:solidFill>
                  <a:srgbClr val="FF0000"/>
                </a:solidFill>
              </a:rPr>
              <a:t>消除了</a:t>
            </a:r>
            <a:r>
              <a:rPr lang="zh-CN" altLang="en-US" u="sng" dirty="0">
                <a:solidFill>
                  <a:srgbClr val="0000FF"/>
                </a:solidFill>
              </a:rPr>
              <a:t>非主属性</a:t>
            </a:r>
            <a:r>
              <a:rPr lang="zh-CN" altLang="en-US" u="sng" dirty="0"/>
              <a:t>对</a:t>
            </a:r>
            <a:r>
              <a:rPr lang="zh-CN" altLang="en-US" u="sng" dirty="0">
                <a:solidFill>
                  <a:srgbClr val="C00000"/>
                </a:solidFill>
              </a:rPr>
              <a:t>码</a:t>
            </a:r>
            <a:r>
              <a:rPr lang="zh-CN" altLang="en-US" u="sng" dirty="0"/>
              <a:t>的</a:t>
            </a:r>
            <a:r>
              <a:rPr lang="zh-CN" altLang="en-US" b="1" u="sng" dirty="0">
                <a:solidFill>
                  <a:srgbClr val="C00000"/>
                </a:solidFill>
              </a:rPr>
              <a:t>部分</a:t>
            </a:r>
            <a:r>
              <a:rPr lang="zh-CN" altLang="en-US" u="sng" dirty="0">
                <a:solidFill>
                  <a:schemeClr val="tx2"/>
                </a:solidFill>
              </a:rPr>
              <a:t>函数依赖</a:t>
            </a:r>
            <a:r>
              <a:rPr lang="zh-CN" altLang="en-US" dirty="0"/>
              <a:t>。</a:t>
            </a:r>
            <a:endParaRPr lang="en-US" altLang="zh-CN" dirty="0"/>
          </a:p>
          <a:p>
            <a:r>
              <a:rPr lang="zh-CN" altLang="en-US" dirty="0"/>
              <a:t>对</a:t>
            </a:r>
            <a:r>
              <a:rPr lang="en-US" altLang="zh-CN" dirty="0"/>
              <a:t>R</a:t>
            </a:r>
            <a:r>
              <a:rPr lang="zh-CN" altLang="en-US" dirty="0"/>
              <a:t>的每一个</a:t>
            </a:r>
            <a:r>
              <a:rPr lang="zh-CN" altLang="en-US" b="1" dirty="0"/>
              <a:t>非平凡</a:t>
            </a:r>
            <a:r>
              <a:rPr lang="zh-CN" altLang="en-US" dirty="0"/>
              <a:t>的函数依赖</a:t>
            </a:r>
            <a:r>
              <a:rPr lang="en-US" altLang="zh-CN" b="1" dirty="0">
                <a:solidFill>
                  <a:srgbClr val="FF0000"/>
                </a:solidFill>
              </a:rPr>
              <a:t>X→Y</a:t>
            </a:r>
            <a:r>
              <a:rPr lang="zh-CN" altLang="en-US" dirty="0"/>
              <a:t>，要么</a:t>
            </a:r>
            <a:r>
              <a:rPr lang="en-US" altLang="zh-CN" u="sng" dirty="0">
                <a:solidFill>
                  <a:srgbClr val="FF0000"/>
                </a:solidFill>
              </a:rPr>
              <a:t>Y</a:t>
            </a:r>
            <a:r>
              <a:rPr lang="zh-CN" altLang="en-US" u="sng" dirty="0">
                <a:solidFill>
                  <a:srgbClr val="FF0000"/>
                </a:solidFill>
              </a:rPr>
              <a:t>是主属性</a:t>
            </a:r>
            <a:r>
              <a:rPr lang="zh-CN" altLang="en-US" u="sng" dirty="0"/>
              <a:t>，要么</a:t>
            </a:r>
            <a:r>
              <a:rPr lang="en-US" altLang="zh-CN" u="sng" dirty="0">
                <a:solidFill>
                  <a:srgbClr val="C00000"/>
                </a:solidFill>
              </a:rPr>
              <a:t>X</a:t>
            </a:r>
            <a:r>
              <a:rPr lang="zh-CN" altLang="en-US" u="sng" dirty="0">
                <a:solidFill>
                  <a:srgbClr val="C00000"/>
                </a:solidFill>
              </a:rPr>
              <a:t>不是任何码的真子集</a:t>
            </a:r>
            <a:r>
              <a:rPr lang="zh-CN" altLang="en-US" dirty="0"/>
              <a:t>。</a:t>
            </a:r>
          </a:p>
          <a:p>
            <a:pPr>
              <a:buNone/>
            </a:pPr>
            <a:r>
              <a:rPr lang="en-US" altLang="zh-CN" dirty="0"/>
              <a:t>    </a:t>
            </a:r>
            <a:r>
              <a:rPr lang="zh-CN" altLang="en-US" dirty="0"/>
              <a:t>（</a:t>
            </a:r>
            <a:r>
              <a:rPr lang="en-US" altLang="zh-CN" u="sng" dirty="0"/>
              <a:t>X</a:t>
            </a:r>
            <a:r>
              <a:rPr lang="zh-CN" altLang="en-US" u="sng" dirty="0"/>
              <a:t>可以是</a:t>
            </a:r>
            <a:r>
              <a:rPr lang="zh-CN" altLang="en-US" u="sng" dirty="0">
                <a:highlight>
                  <a:srgbClr val="FFFF00"/>
                </a:highlight>
              </a:rPr>
              <a:t>非主属性</a:t>
            </a:r>
            <a:r>
              <a:rPr lang="zh-CN" altLang="en-US" dirty="0"/>
              <a:t>）</a:t>
            </a:r>
          </a:p>
          <a:p>
            <a:endParaRPr lang="zh-CN" altLang="en-US" dirty="0"/>
          </a:p>
        </p:txBody>
      </p:sp>
      <p:sp>
        <p:nvSpPr>
          <p:cNvPr id="3" name="页脚占位符 2">
            <a:extLst>
              <a:ext uri="{FF2B5EF4-FFF2-40B4-BE49-F238E27FC236}">
                <a16:creationId xmlns:a16="http://schemas.microsoft.com/office/drawing/2014/main" id="{B602314E-C735-77E4-2DBE-B5C196773C35}"/>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7B1B3BFC-4874-FD4B-3972-FFED7B2B8145}"/>
              </a:ext>
            </a:extLst>
          </p:cNvPr>
          <p:cNvSpPr>
            <a:spLocks noGrp="1"/>
          </p:cNvSpPr>
          <p:nvPr>
            <p:ph type="sldNum" sz="quarter" idx="12"/>
          </p:nvPr>
        </p:nvSpPr>
        <p:spPr/>
        <p:txBody>
          <a:bodyPr/>
          <a:lstStyle/>
          <a:p>
            <a:fld id="{A2D74603-B40B-4D66-8F6E-41C870D48932}" type="slidenum">
              <a:rPr lang="en-US" altLang="zh-CN" smtClean="0"/>
              <a:pPr/>
              <a:t>40</a:t>
            </a:fld>
            <a:r>
              <a:rPr lang="en-US" altLang="zh-CN"/>
              <a:t>/162</a:t>
            </a:r>
            <a:endParaRPr lang="en-US" altLang="zh-CN" dirty="0"/>
          </a:p>
        </p:txBody>
      </p:sp>
    </p:spTree>
    <p:extLst>
      <p:ext uri="{BB962C8B-B14F-4D97-AF65-F5344CB8AC3E}">
        <p14:creationId xmlns:p14="http://schemas.microsoft.com/office/powerpoint/2010/main" val="11025898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6483">
                                            <p:txEl>
                                              <p:pRg st="1" end="1"/>
                                            </p:txEl>
                                          </p:spTgt>
                                        </p:tgtEl>
                                        <p:attrNameLst>
                                          <p:attrName>style.visibility</p:attrName>
                                        </p:attrNameLst>
                                      </p:cBhvr>
                                      <p:to>
                                        <p:strVal val="visible"/>
                                      </p:to>
                                    </p:set>
                                    <p:anim calcmode="lin" valueType="num">
                                      <p:cBhvr additive="base">
                                        <p:cTn id="7" dur="500" fill="hold"/>
                                        <p:tgtEl>
                                          <p:spTgt spid="27648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64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76483">
                                            <p:txEl>
                                              <p:pRg st="2" end="2"/>
                                            </p:txEl>
                                          </p:spTgt>
                                        </p:tgtEl>
                                        <p:attrNameLst>
                                          <p:attrName>style.visibility</p:attrName>
                                        </p:attrNameLst>
                                      </p:cBhvr>
                                      <p:to>
                                        <p:strVal val="visible"/>
                                      </p:to>
                                    </p:set>
                                    <p:anim calcmode="lin" valueType="num">
                                      <p:cBhvr additive="base">
                                        <p:cTn id="13" dur="500" fill="hold"/>
                                        <p:tgtEl>
                                          <p:spTgt spid="27648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648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76483">
                                            <p:txEl>
                                              <p:pRg st="3" end="3"/>
                                            </p:txEl>
                                          </p:spTgt>
                                        </p:tgtEl>
                                        <p:attrNameLst>
                                          <p:attrName>style.visibility</p:attrName>
                                        </p:attrNameLst>
                                      </p:cBhvr>
                                      <p:to>
                                        <p:strVal val="visible"/>
                                      </p:to>
                                    </p:set>
                                    <p:anim calcmode="lin" valueType="num">
                                      <p:cBhvr additive="base">
                                        <p:cTn id="19" dur="500" fill="hold"/>
                                        <p:tgtEl>
                                          <p:spTgt spid="27648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648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9C702B39-39AF-4646-958F-999E311C5AD8}" type="datetime1">
              <a:rPr lang="zh-CN" altLang="en-US" smtClean="0"/>
              <a:t>2025/11/6</a:t>
            </a:fld>
            <a:endParaRPr lang="en-US" altLang="zh-CN"/>
          </a:p>
        </p:txBody>
      </p:sp>
      <p:sp>
        <p:nvSpPr>
          <p:cNvPr id="278530" name="Rectangle 2"/>
          <p:cNvSpPr>
            <a:spLocks noGrp="1" noChangeArrowheads="1"/>
          </p:cNvSpPr>
          <p:nvPr>
            <p:ph type="title"/>
          </p:nvPr>
        </p:nvSpPr>
        <p:spPr/>
        <p:txBody>
          <a:bodyPr/>
          <a:lstStyle/>
          <a:p>
            <a:r>
              <a:rPr lang="en-US" altLang="zh-CN" dirty="0"/>
              <a:t>8.2.4 2NF</a:t>
            </a:r>
            <a:endParaRPr lang="zh-CN" altLang="en-US" dirty="0"/>
          </a:p>
        </p:txBody>
      </p:sp>
      <p:sp>
        <p:nvSpPr>
          <p:cNvPr id="3" name="页脚占位符 2">
            <a:extLst>
              <a:ext uri="{FF2B5EF4-FFF2-40B4-BE49-F238E27FC236}">
                <a16:creationId xmlns:a16="http://schemas.microsoft.com/office/drawing/2014/main" id="{E2DB473C-D121-4326-5CA4-3F171050732C}"/>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6BFF87AE-8689-1B62-F0A1-BF28BD9EB790}"/>
              </a:ext>
            </a:extLst>
          </p:cNvPr>
          <p:cNvSpPr>
            <a:spLocks noGrp="1"/>
          </p:cNvSpPr>
          <p:nvPr>
            <p:ph type="sldNum" sz="quarter" idx="12"/>
          </p:nvPr>
        </p:nvSpPr>
        <p:spPr/>
        <p:txBody>
          <a:bodyPr/>
          <a:lstStyle/>
          <a:p>
            <a:fld id="{A2D74603-B40B-4D66-8F6E-41C870D48932}" type="slidenum">
              <a:rPr lang="en-US" altLang="zh-CN" smtClean="0"/>
              <a:pPr/>
              <a:t>41</a:t>
            </a:fld>
            <a:r>
              <a:rPr lang="en-US" altLang="zh-CN"/>
              <a:t>/162</a:t>
            </a:r>
            <a:endParaRPr lang="en-US" altLang="zh-CN" dirty="0"/>
          </a:p>
        </p:txBody>
      </p:sp>
      <p:sp>
        <p:nvSpPr>
          <p:cNvPr id="278531" name="Rectangle 3"/>
          <p:cNvSpPr>
            <a:spLocks noGrp="1" noChangeArrowheads="1"/>
          </p:cNvSpPr>
          <p:nvPr>
            <p:ph type="body" idx="1"/>
          </p:nvPr>
        </p:nvSpPr>
        <p:spPr>
          <a:xfrm>
            <a:off x="609600" y="1295400"/>
            <a:ext cx="8345488" cy="5562600"/>
          </a:xfrm>
          <a:solidFill>
            <a:schemeClr val="bg1"/>
          </a:solidFill>
        </p:spPr>
        <p:txBody>
          <a:bodyPr/>
          <a:lstStyle/>
          <a:p>
            <a:r>
              <a:rPr lang="zh-CN" altLang="en-US" dirty="0"/>
              <a:t>如果一个关系模式不是</a:t>
            </a:r>
            <a:r>
              <a:rPr lang="en-US" altLang="zh-CN" dirty="0"/>
              <a:t>2NF</a:t>
            </a:r>
            <a:r>
              <a:rPr lang="zh-CN" altLang="en-US" dirty="0"/>
              <a:t>的，一定存在过度</a:t>
            </a:r>
            <a:r>
              <a:rPr lang="zh-CN" altLang="en-US" b="1" dirty="0">
                <a:solidFill>
                  <a:schemeClr val="tx2"/>
                </a:solidFill>
              </a:rPr>
              <a:t>冗余</a:t>
            </a:r>
            <a:r>
              <a:rPr lang="zh-CN" altLang="en-US" dirty="0"/>
              <a:t>，带来</a:t>
            </a:r>
            <a:r>
              <a:rPr lang="en-US" altLang="zh-CN" dirty="0"/>
              <a:t>3</a:t>
            </a:r>
            <a:r>
              <a:rPr lang="zh-CN" altLang="en-US" dirty="0"/>
              <a:t>类异常。</a:t>
            </a:r>
          </a:p>
          <a:p>
            <a:endParaRPr lang="zh-CN" altLang="en-US" sz="800" dirty="0"/>
          </a:p>
          <a:p>
            <a:pPr lvl="1">
              <a:spcBef>
                <a:spcPts val="0"/>
              </a:spcBef>
            </a:pPr>
            <a:r>
              <a:rPr lang="zh-CN" altLang="en-US" dirty="0"/>
              <a:t>插入异常 </a:t>
            </a:r>
          </a:p>
          <a:p>
            <a:pPr lvl="2"/>
            <a:r>
              <a:rPr lang="zh-CN" altLang="en-US" dirty="0"/>
              <a:t>如果插入一个新学生，但该生</a:t>
            </a:r>
            <a:r>
              <a:rPr lang="zh-CN" altLang="en-US" u="sng" dirty="0">
                <a:solidFill>
                  <a:srgbClr val="0000FF"/>
                </a:solidFill>
              </a:rPr>
              <a:t>未选课</a:t>
            </a:r>
            <a:r>
              <a:rPr lang="zh-CN" altLang="en-US" dirty="0"/>
              <a:t>，即该生</a:t>
            </a:r>
            <a:r>
              <a:rPr lang="zh-CN" altLang="en-US" u="sng" dirty="0">
                <a:solidFill>
                  <a:srgbClr val="0000FF"/>
                </a:solidFill>
              </a:rPr>
              <a:t>无</a:t>
            </a:r>
            <a:r>
              <a:rPr lang="en-US" altLang="zh-CN" b="1" u="sng" dirty="0" err="1">
                <a:solidFill>
                  <a:srgbClr val="0000FF"/>
                </a:solidFill>
              </a:rPr>
              <a:t>Cno</a:t>
            </a:r>
            <a:r>
              <a:rPr lang="zh-CN" altLang="en-US" dirty="0"/>
              <a:t>，由于插入元组时，必须给定码值，因此</a:t>
            </a:r>
            <a:r>
              <a:rPr lang="zh-CN" altLang="en-US" dirty="0">
                <a:solidFill>
                  <a:srgbClr val="0000FF"/>
                </a:solidFill>
              </a:rPr>
              <a:t>插入失败</a:t>
            </a:r>
            <a:r>
              <a:rPr lang="zh-CN" altLang="en-US" dirty="0"/>
              <a:t>。 </a:t>
            </a:r>
          </a:p>
          <a:p>
            <a:pPr lvl="1"/>
            <a:r>
              <a:rPr lang="zh-CN" altLang="en-US" dirty="0"/>
              <a:t>删除异常 </a:t>
            </a:r>
          </a:p>
          <a:p>
            <a:pPr lvl="2"/>
            <a:r>
              <a:rPr lang="zh-CN" altLang="en-US" dirty="0"/>
              <a:t>如果</a:t>
            </a:r>
            <a:r>
              <a:rPr lang="en-US" altLang="zh-CN" b="1" dirty="0"/>
              <a:t>S4</a:t>
            </a:r>
            <a:r>
              <a:rPr lang="zh-CN" altLang="en-US" dirty="0">
                <a:solidFill>
                  <a:srgbClr val="0000FF"/>
                </a:solidFill>
              </a:rPr>
              <a:t>只选了一门课</a:t>
            </a:r>
            <a:r>
              <a:rPr lang="en-US" altLang="zh-CN" b="1" dirty="0"/>
              <a:t>C3</a:t>
            </a:r>
            <a:r>
              <a:rPr lang="zh-CN" altLang="en-US" dirty="0"/>
              <a:t>，现在他</a:t>
            </a:r>
            <a:r>
              <a:rPr lang="zh-CN" altLang="en-US" dirty="0">
                <a:solidFill>
                  <a:srgbClr val="0000FF"/>
                </a:solidFill>
              </a:rPr>
              <a:t>不再选这门课</a:t>
            </a:r>
            <a:r>
              <a:rPr lang="zh-CN" altLang="en-US" dirty="0"/>
              <a:t>，则</a:t>
            </a:r>
            <a:r>
              <a:rPr lang="zh-CN" altLang="en-US" dirty="0">
                <a:solidFill>
                  <a:srgbClr val="0000FF"/>
                </a:solidFill>
              </a:rPr>
              <a:t>删除</a:t>
            </a:r>
            <a:r>
              <a:rPr lang="en-US" altLang="zh-CN" b="1" dirty="0">
                <a:solidFill>
                  <a:srgbClr val="0000FF"/>
                </a:solidFill>
              </a:rPr>
              <a:t>C3</a:t>
            </a:r>
            <a:r>
              <a:rPr lang="zh-CN" altLang="en-US" dirty="0">
                <a:solidFill>
                  <a:srgbClr val="0000FF"/>
                </a:solidFill>
              </a:rPr>
              <a:t>后</a:t>
            </a:r>
            <a:r>
              <a:rPr lang="zh-CN" altLang="en-US" dirty="0"/>
              <a:t>，整个元组的</a:t>
            </a:r>
            <a:r>
              <a:rPr lang="zh-CN" altLang="en-US" dirty="0">
                <a:solidFill>
                  <a:srgbClr val="0000FF"/>
                </a:solidFill>
              </a:rPr>
              <a:t>其他信息也被删除</a:t>
            </a:r>
            <a:r>
              <a:rPr lang="zh-CN" altLang="en-US" dirty="0"/>
              <a:t>了。 </a:t>
            </a:r>
          </a:p>
          <a:p>
            <a:pPr lvl="1"/>
            <a:r>
              <a:rPr lang="zh-CN" altLang="en-US" dirty="0"/>
              <a:t>修改复杂 </a:t>
            </a:r>
          </a:p>
          <a:p>
            <a:pPr lvl="2"/>
            <a:r>
              <a:rPr lang="zh-CN" altLang="en-US" dirty="0"/>
              <a:t>如果一个学生</a:t>
            </a:r>
            <a:r>
              <a:rPr lang="zh-CN" altLang="en-US" dirty="0">
                <a:solidFill>
                  <a:srgbClr val="0000FF"/>
                </a:solidFill>
              </a:rPr>
              <a:t>选了多门课</a:t>
            </a:r>
            <a:r>
              <a:rPr lang="zh-CN" altLang="en-US" dirty="0"/>
              <a:t>，则</a:t>
            </a:r>
            <a:r>
              <a:rPr lang="en-US" altLang="zh-CN" b="1" dirty="0" err="1">
                <a:solidFill>
                  <a:srgbClr val="0000FF"/>
                </a:solidFill>
              </a:rPr>
              <a:t>Sdept</a:t>
            </a:r>
            <a:r>
              <a:rPr lang="zh-CN" altLang="en-US" dirty="0">
                <a:solidFill>
                  <a:srgbClr val="0000FF"/>
                </a:solidFill>
              </a:rPr>
              <a:t>，</a:t>
            </a:r>
            <a:r>
              <a:rPr lang="en-US" altLang="zh-CN" b="1" dirty="0" err="1">
                <a:solidFill>
                  <a:srgbClr val="0000FF"/>
                </a:solidFill>
              </a:rPr>
              <a:t>Sloc</a:t>
            </a:r>
            <a:r>
              <a:rPr lang="zh-CN" altLang="en-US" dirty="0"/>
              <a:t>被</a:t>
            </a:r>
            <a:r>
              <a:rPr lang="zh-CN" altLang="en-US" dirty="0">
                <a:solidFill>
                  <a:srgbClr val="0000FF"/>
                </a:solidFill>
              </a:rPr>
              <a:t>存储了多次</a:t>
            </a:r>
            <a:r>
              <a:rPr lang="zh-CN" altLang="en-US" dirty="0"/>
              <a:t>。如果该生转系，则需要修改所有相关的</a:t>
            </a:r>
            <a:r>
              <a:rPr lang="en-US" altLang="zh-CN" b="1" dirty="0" err="1"/>
              <a:t>Sdept</a:t>
            </a:r>
            <a:r>
              <a:rPr lang="zh-CN" altLang="en-US" dirty="0"/>
              <a:t>和</a:t>
            </a:r>
            <a:r>
              <a:rPr lang="en-US" altLang="zh-CN" b="1" dirty="0" err="1"/>
              <a:t>Sloc</a:t>
            </a:r>
            <a:r>
              <a:rPr lang="zh-CN" altLang="en-US" dirty="0"/>
              <a:t>，造成</a:t>
            </a:r>
            <a:r>
              <a:rPr lang="zh-CN" altLang="en-US" dirty="0">
                <a:solidFill>
                  <a:srgbClr val="0000FF"/>
                </a:solidFill>
              </a:rPr>
              <a:t>修改的复杂化</a:t>
            </a:r>
            <a:r>
              <a:rPr lang="zh-CN" altLang="en-US" dirty="0"/>
              <a:t>。 </a:t>
            </a:r>
          </a:p>
          <a:p>
            <a:endParaRPr lang="zh-CN" altLang="en-US" dirty="0"/>
          </a:p>
        </p:txBody>
      </p:sp>
    </p:spTree>
    <p:extLst>
      <p:ext uri="{BB962C8B-B14F-4D97-AF65-F5344CB8AC3E}">
        <p14:creationId xmlns:p14="http://schemas.microsoft.com/office/powerpoint/2010/main" val="562331216"/>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08A9F5AD-C047-4641-A034-D4FA27B40E5B}" type="datetime1">
              <a:rPr lang="zh-CN" altLang="en-US" smtClean="0"/>
              <a:t>2025/11/6</a:t>
            </a:fld>
            <a:endParaRPr lang="en-US" altLang="zh-CN"/>
          </a:p>
        </p:txBody>
      </p:sp>
      <p:sp>
        <p:nvSpPr>
          <p:cNvPr id="278530" name="Rectangle 2"/>
          <p:cNvSpPr>
            <a:spLocks noGrp="1" noChangeArrowheads="1"/>
          </p:cNvSpPr>
          <p:nvPr>
            <p:ph type="title"/>
          </p:nvPr>
        </p:nvSpPr>
        <p:spPr/>
        <p:txBody>
          <a:bodyPr/>
          <a:lstStyle/>
          <a:p>
            <a:r>
              <a:rPr lang="en-US" altLang="zh-CN" dirty="0"/>
              <a:t>8.2.4 2NF</a:t>
            </a:r>
            <a:endParaRPr lang="zh-CN" altLang="en-US" dirty="0"/>
          </a:p>
        </p:txBody>
      </p:sp>
      <p:sp>
        <p:nvSpPr>
          <p:cNvPr id="278531" name="Rectangle 3"/>
          <p:cNvSpPr>
            <a:spLocks noGrp="1" noChangeArrowheads="1"/>
          </p:cNvSpPr>
          <p:nvPr>
            <p:ph type="body" idx="1"/>
          </p:nvPr>
        </p:nvSpPr>
        <p:spPr/>
        <p:txBody>
          <a:bodyPr/>
          <a:lstStyle/>
          <a:p>
            <a:r>
              <a:rPr lang="zh-CN" altLang="en-US" dirty="0"/>
              <a:t>出现这种问题的原因</a:t>
            </a:r>
          </a:p>
          <a:p>
            <a:pPr lvl="1"/>
            <a:r>
              <a:rPr lang="zh-CN" altLang="en-US" dirty="0"/>
              <a:t>例子中有</a:t>
            </a:r>
            <a:r>
              <a:rPr lang="zh-CN" altLang="en-US" dirty="0">
                <a:solidFill>
                  <a:srgbClr val="0000FF"/>
                </a:solidFill>
              </a:rPr>
              <a:t>两类</a:t>
            </a:r>
            <a:r>
              <a:rPr lang="zh-CN" altLang="en-US" u="sng" dirty="0"/>
              <a:t>非主属性</a:t>
            </a:r>
            <a:r>
              <a:rPr lang="zh-CN" altLang="en-US" dirty="0"/>
              <a:t>：</a:t>
            </a:r>
          </a:p>
          <a:p>
            <a:pPr lvl="2"/>
            <a:r>
              <a:rPr lang="zh-CN" altLang="en-US" dirty="0"/>
              <a:t>一类如</a:t>
            </a:r>
            <a:r>
              <a:rPr lang="en-US" altLang="zh-CN" dirty="0"/>
              <a:t>Grade</a:t>
            </a:r>
            <a:r>
              <a:rPr lang="zh-CN" altLang="en-US" dirty="0"/>
              <a:t>，它对码</a:t>
            </a:r>
            <a:r>
              <a:rPr lang="zh-CN" altLang="en-US" dirty="0">
                <a:solidFill>
                  <a:srgbClr val="0000FF"/>
                </a:solidFill>
              </a:rPr>
              <a:t>完全函数依赖</a:t>
            </a:r>
            <a:endParaRPr lang="en-US" altLang="zh-CN" dirty="0">
              <a:solidFill>
                <a:srgbClr val="0000FF"/>
              </a:solidFill>
            </a:endParaRPr>
          </a:p>
          <a:p>
            <a:pPr lvl="2"/>
            <a:r>
              <a:rPr lang="zh-CN" altLang="en-US" dirty="0"/>
              <a:t>另一类如</a:t>
            </a:r>
            <a:r>
              <a:rPr lang="en-US" altLang="zh-CN" dirty="0" err="1"/>
              <a:t>Sdept</a:t>
            </a:r>
            <a:r>
              <a:rPr lang="zh-CN" altLang="en-US" dirty="0"/>
              <a:t>、</a:t>
            </a:r>
            <a:r>
              <a:rPr lang="en-US" altLang="zh-CN" dirty="0" err="1"/>
              <a:t>Sloc</a:t>
            </a:r>
            <a:r>
              <a:rPr lang="zh-CN" altLang="en-US" dirty="0"/>
              <a:t>，它们对码</a:t>
            </a:r>
            <a:r>
              <a:rPr lang="zh-CN" altLang="en-US" dirty="0">
                <a:solidFill>
                  <a:srgbClr val="0000FF"/>
                </a:solidFill>
              </a:rPr>
              <a:t>不是完全函数依赖</a:t>
            </a:r>
            <a:endParaRPr lang="zh-CN" altLang="en-US" sz="400" dirty="0">
              <a:solidFill>
                <a:srgbClr val="0000FF"/>
              </a:solidFill>
            </a:endParaRPr>
          </a:p>
          <a:p>
            <a:r>
              <a:rPr lang="zh-CN" altLang="en-US" dirty="0"/>
              <a:t>解决方法：</a:t>
            </a:r>
            <a:r>
              <a:rPr lang="zh-CN" altLang="en-US" dirty="0">
                <a:solidFill>
                  <a:srgbClr val="FF0000"/>
                </a:solidFill>
              </a:rPr>
              <a:t>分解</a:t>
            </a:r>
            <a:r>
              <a:rPr lang="zh-CN" altLang="en-US" dirty="0"/>
              <a:t>为多个小表。</a:t>
            </a:r>
          </a:p>
          <a:p>
            <a:pPr lvl="1"/>
            <a:r>
              <a:rPr lang="zh-CN" altLang="en-US" dirty="0"/>
              <a:t>如</a:t>
            </a:r>
            <a:r>
              <a:rPr lang="en-US" altLang="zh-CN" dirty="0"/>
              <a:t>S-L-C</a:t>
            </a:r>
            <a:r>
              <a:rPr lang="zh-CN" altLang="en-US" dirty="0"/>
              <a:t>分解为</a:t>
            </a:r>
            <a:r>
              <a:rPr lang="en-US" altLang="zh-CN" dirty="0"/>
              <a:t>{S-L(</a:t>
            </a:r>
            <a:r>
              <a:rPr lang="en-US" altLang="zh-CN" dirty="0" err="1">
                <a:solidFill>
                  <a:srgbClr val="0000FF"/>
                </a:solidFill>
              </a:rPr>
              <a:t>Sno</a:t>
            </a:r>
            <a:r>
              <a:rPr lang="en-US" altLang="zh-CN" dirty="0"/>
              <a:t>, </a:t>
            </a:r>
            <a:r>
              <a:rPr lang="en-US" altLang="zh-CN" dirty="0" err="1"/>
              <a:t>Sdept</a:t>
            </a:r>
            <a:r>
              <a:rPr lang="en-US" altLang="zh-CN" dirty="0"/>
              <a:t>, </a:t>
            </a:r>
            <a:r>
              <a:rPr lang="en-US" altLang="zh-CN" dirty="0" err="1"/>
              <a:t>Sloc</a:t>
            </a:r>
            <a:r>
              <a:rPr lang="en-US" altLang="zh-CN" dirty="0"/>
              <a:t>), </a:t>
            </a:r>
          </a:p>
          <a:p>
            <a:pPr marL="457200" lvl="1" indent="0">
              <a:buNone/>
            </a:pPr>
            <a:r>
              <a:rPr lang="en-US" altLang="zh-CN" dirty="0">
                <a:solidFill>
                  <a:srgbClr val="0000FF"/>
                </a:solidFill>
              </a:rPr>
              <a:t>                          SC</a:t>
            </a:r>
            <a:r>
              <a:rPr lang="en-US" altLang="zh-CN" dirty="0"/>
              <a:t>(</a:t>
            </a:r>
            <a:r>
              <a:rPr lang="en-US" altLang="zh-CN" dirty="0" err="1">
                <a:solidFill>
                  <a:srgbClr val="0000FF"/>
                </a:solidFill>
              </a:rPr>
              <a:t>Sno</a:t>
            </a:r>
            <a:r>
              <a:rPr lang="en-US" altLang="zh-CN" dirty="0">
                <a:solidFill>
                  <a:srgbClr val="0000FF"/>
                </a:solidFill>
              </a:rPr>
              <a:t>, </a:t>
            </a:r>
            <a:r>
              <a:rPr lang="en-US" altLang="zh-CN" dirty="0" err="1">
                <a:solidFill>
                  <a:srgbClr val="0000FF"/>
                </a:solidFill>
              </a:rPr>
              <a:t>Cno</a:t>
            </a:r>
            <a:r>
              <a:rPr lang="en-US" altLang="zh-CN" dirty="0"/>
              <a:t>, Grade)}</a:t>
            </a:r>
          </a:p>
          <a:p>
            <a:endParaRPr lang="zh-CN" altLang="en-US" sz="800" dirty="0"/>
          </a:p>
          <a:p>
            <a:r>
              <a:rPr lang="en-US" altLang="zh-CN" u="sng" dirty="0"/>
              <a:t>2NF</a:t>
            </a:r>
            <a:r>
              <a:rPr lang="zh-CN" altLang="en-US" u="sng" dirty="0"/>
              <a:t>仅仅具有历史意义</a:t>
            </a:r>
            <a:r>
              <a:rPr lang="zh-CN" altLang="en-US" dirty="0"/>
              <a:t>。</a:t>
            </a:r>
          </a:p>
          <a:p>
            <a:endParaRPr lang="zh-CN" altLang="en-US" dirty="0"/>
          </a:p>
        </p:txBody>
      </p:sp>
      <p:sp>
        <p:nvSpPr>
          <p:cNvPr id="3" name="页脚占位符 2">
            <a:extLst>
              <a:ext uri="{FF2B5EF4-FFF2-40B4-BE49-F238E27FC236}">
                <a16:creationId xmlns:a16="http://schemas.microsoft.com/office/drawing/2014/main" id="{77B25DE1-7E9E-98C6-6E3B-EE0C6AAC22E8}"/>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FD3A266A-68D4-4291-A2A6-EDA01F02EB4E}"/>
              </a:ext>
            </a:extLst>
          </p:cNvPr>
          <p:cNvSpPr>
            <a:spLocks noGrp="1"/>
          </p:cNvSpPr>
          <p:nvPr>
            <p:ph type="sldNum" sz="quarter" idx="12"/>
          </p:nvPr>
        </p:nvSpPr>
        <p:spPr/>
        <p:txBody>
          <a:bodyPr/>
          <a:lstStyle/>
          <a:p>
            <a:fld id="{A2D74603-B40B-4D66-8F6E-41C870D48932}" type="slidenum">
              <a:rPr lang="en-US" altLang="zh-CN" smtClean="0"/>
              <a:pPr/>
              <a:t>42</a:t>
            </a:fld>
            <a:r>
              <a:rPr lang="en-US" altLang="zh-CN"/>
              <a:t>/162</a:t>
            </a:r>
            <a:endParaRPr lang="en-US" altLang="zh-CN" dirty="0"/>
          </a:p>
        </p:txBody>
      </p:sp>
    </p:spTree>
    <p:extLst>
      <p:ext uri="{BB962C8B-B14F-4D97-AF65-F5344CB8AC3E}">
        <p14:creationId xmlns:p14="http://schemas.microsoft.com/office/powerpoint/2010/main" val="42710686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8531">
                                            <p:txEl>
                                              <p:pRg st="4" end="4"/>
                                            </p:txEl>
                                          </p:spTgt>
                                        </p:tgtEl>
                                        <p:attrNameLst>
                                          <p:attrName>style.visibility</p:attrName>
                                        </p:attrNameLst>
                                      </p:cBhvr>
                                      <p:to>
                                        <p:strVal val="visible"/>
                                      </p:to>
                                    </p:set>
                                    <p:anim calcmode="lin" valueType="num">
                                      <p:cBhvr additive="base">
                                        <p:cTn id="7" dur="500" fill="hold"/>
                                        <p:tgtEl>
                                          <p:spTgt spid="278531">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8531">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78531">
                                            <p:txEl>
                                              <p:pRg st="5" end="5"/>
                                            </p:txEl>
                                          </p:spTgt>
                                        </p:tgtEl>
                                        <p:attrNameLst>
                                          <p:attrName>style.visibility</p:attrName>
                                        </p:attrNameLst>
                                      </p:cBhvr>
                                      <p:to>
                                        <p:strVal val="visible"/>
                                      </p:to>
                                    </p:set>
                                    <p:anim calcmode="lin" valueType="num">
                                      <p:cBhvr additive="base">
                                        <p:cTn id="11" dur="500" fill="hold"/>
                                        <p:tgtEl>
                                          <p:spTgt spid="278531">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78531">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78531">
                                            <p:txEl>
                                              <p:pRg st="6" end="6"/>
                                            </p:txEl>
                                          </p:spTgt>
                                        </p:tgtEl>
                                        <p:attrNameLst>
                                          <p:attrName>style.visibility</p:attrName>
                                        </p:attrNameLst>
                                      </p:cBhvr>
                                      <p:to>
                                        <p:strVal val="visible"/>
                                      </p:to>
                                    </p:set>
                                    <p:anim calcmode="lin" valueType="num">
                                      <p:cBhvr additive="base">
                                        <p:cTn id="15" dur="500" fill="hold"/>
                                        <p:tgtEl>
                                          <p:spTgt spid="278531">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7853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78531">
                                            <p:txEl>
                                              <p:pRg st="8" end="8"/>
                                            </p:txEl>
                                          </p:spTgt>
                                        </p:tgtEl>
                                        <p:attrNameLst>
                                          <p:attrName>style.visibility</p:attrName>
                                        </p:attrNameLst>
                                      </p:cBhvr>
                                      <p:to>
                                        <p:strVal val="visible"/>
                                      </p:to>
                                    </p:set>
                                    <p:anim calcmode="lin" valueType="num">
                                      <p:cBhvr additive="base">
                                        <p:cTn id="21" dur="500" fill="hold"/>
                                        <p:tgtEl>
                                          <p:spTgt spid="278531">
                                            <p:txEl>
                                              <p:pRg st="8" end="8"/>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78531">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E52BA37-77ED-4693-8CB5-060BECB36F8D}" type="datetime1">
              <a:rPr lang="zh-CN" altLang="en-US" smtClean="0"/>
              <a:t>2025/11/6</a:t>
            </a:fld>
            <a:endParaRPr lang="en-US" altLang="zh-CN"/>
          </a:p>
        </p:txBody>
      </p:sp>
      <p:sp>
        <p:nvSpPr>
          <p:cNvPr id="279554" name="Rectangle 2"/>
          <p:cNvSpPr>
            <a:spLocks noGrp="1" noChangeArrowheads="1"/>
          </p:cNvSpPr>
          <p:nvPr>
            <p:ph type="title"/>
          </p:nvPr>
        </p:nvSpPr>
        <p:spPr/>
        <p:txBody>
          <a:bodyPr/>
          <a:lstStyle/>
          <a:p>
            <a:r>
              <a:rPr lang="en-US" altLang="zh-CN" dirty="0"/>
              <a:t>8.2.4 2NF</a:t>
            </a:r>
            <a:endParaRPr lang="zh-CN" altLang="en-US" dirty="0"/>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600200"/>
            <a:ext cx="7101910"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椭圆 1"/>
          <p:cNvSpPr/>
          <p:nvPr/>
        </p:nvSpPr>
        <p:spPr bwMode="auto">
          <a:xfrm>
            <a:off x="6172200" y="1447800"/>
            <a:ext cx="1447800" cy="2590800"/>
          </a:xfrm>
          <a:prstGeom prst="ellipse">
            <a:avLst/>
          </a:prstGeom>
          <a:noFill/>
          <a:ln w="3175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cxnSp>
        <p:nvCxnSpPr>
          <p:cNvPr id="7" name="直接连接符 6"/>
          <p:cNvCxnSpPr/>
          <p:nvPr/>
        </p:nvCxnSpPr>
        <p:spPr bwMode="auto">
          <a:xfrm>
            <a:off x="7380312" y="5445224"/>
            <a:ext cx="720080" cy="0"/>
          </a:xfrm>
          <a:prstGeom prst="line">
            <a:avLst/>
          </a:prstGeom>
          <a:solidFill>
            <a:schemeClr val="accent1"/>
          </a:solidFill>
          <a:ln w="28575" cap="flat" cmpd="sng" algn="ctr">
            <a:solidFill>
              <a:srgbClr val="C00000"/>
            </a:solidFill>
            <a:prstDash val="sys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直接连接符 9"/>
          <p:cNvCxnSpPr/>
          <p:nvPr/>
        </p:nvCxnSpPr>
        <p:spPr bwMode="auto">
          <a:xfrm>
            <a:off x="1763688" y="5805264"/>
            <a:ext cx="2930267" cy="0"/>
          </a:xfrm>
          <a:prstGeom prst="line">
            <a:avLst/>
          </a:prstGeom>
          <a:solidFill>
            <a:schemeClr val="accent1"/>
          </a:solidFill>
          <a:ln w="28575" cap="flat" cmpd="sng" algn="ctr">
            <a:solidFill>
              <a:srgbClr val="C00000"/>
            </a:solidFill>
            <a:prstDash val="sys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6" name="图片 5">
            <a:extLst>
              <a:ext uri="{FF2B5EF4-FFF2-40B4-BE49-F238E27FC236}">
                <a16:creationId xmlns:a16="http://schemas.microsoft.com/office/drawing/2014/main" id="{DC790122-D50E-92A1-E6CC-94E970564781}"/>
              </a:ext>
            </a:extLst>
          </p:cNvPr>
          <p:cNvPicPr>
            <a:picLocks noChangeAspect="1"/>
          </p:cNvPicPr>
          <p:nvPr/>
        </p:nvPicPr>
        <p:blipFill>
          <a:blip r:embed="rId4"/>
          <a:stretch>
            <a:fillRect/>
          </a:stretch>
        </p:blipFill>
        <p:spPr>
          <a:xfrm>
            <a:off x="1143000" y="1772816"/>
            <a:ext cx="1514475" cy="409575"/>
          </a:xfrm>
          <a:prstGeom prst="rect">
            <a:avLst/>
          </a:prstGeom>
        </p:spPr>
      </p:pic>
      <p:sp>
        <p:nvSpPr>
          <p:cNvPr id="5" name="页脚占位符 4">
            <a:extLst>
              <a:ext uri="{FF2B5EF4-FFF2-40B4-BE49-F238E27FC236}">
                <a16:creationId xmlns:a16="http://schemas.microsoft.com/office/drawing/2014/main" id="{797784B5-3B72-F125-6E2F-4301EAA57927}"/>
              </a:ext>
            </a:extLst>
          </p:cNvPr>
          <p:cNvSpPr>
            <a:spLocks noGrp="1"/>
          </p:cNvSpPr>
          <p:nvPr>
            <p:ph type="ftr" sz="quarter" idx="11"/>
          </p:nvPr>
        </p:nvSpPr>
        <p:spPr/>
        <p:txBody>
          <a:bodyPr/>
          <a:lstStyle/>
          <a:p>
            <a:r>
              <a:rPr lang="en-US" altLang="zh-CN"/>
              <a:t>《数据库系统概论》- 第6章</a:t>
            </a:r>
          </a:p>
        </p:txBody>
      </p:sp>
      <p:sp>
        <p:nvSpPr>
          <p:cNvPr id="8" name="灯片编号占位符 7">
            <a:extLst>
              <a:ext uri="{FF2B5EF4-FFF2-40B4-BE49-F238E27FC236}">
                <a16:creationId xmlns:a16="http://schemas.microsoft.com/office/drawing/2014/main" id="{FD2FA21E-D08F-B4E9-AE82-0A9F72039FB3}"/>
              </a:ext>
            </a:extLst>
          </p:cNvPr>
          <p:cNvSpPr>
            <a:spLocks noGrp="1"/>
          </p:cNvSpPr>
          <p:nvPr>
            <p:ph type="sldNum" sz="quarter" idx="12"/>
          </p:nvPr>
        </p:nvSpPr>
        <p:spPr/>
        <p:txBody>
          <a:bodyPr/>
          <a:lstStyle/>
          <a:p>
            <a:fld id="{A2D74603-B40B-4D66-8F6E-41C870D48932}" type="slidenum">
              <a:rPr lang="en-US" altLang="zh-CN" smtClean="0"/>
              <a:pPr/>
              <a:t>43</a:t>
            </a:fld>
            <a:r>
              <a:rPr lang="en-US" altLang="zh-CN"/>
              <a:t>/162</a:t>
            </a:r>
            <a:endParaRPr lang="en-US" altLang="zh-CN" dirty="0"/>
          </a:p>
        </p:txBody>
      </p:sp>
    </p:spTree>
    <p:extLst>
      <p:ext uri="{BB962C8B-B14F-4D97-AF65-F5344CB8AC3E}">
        <p14:creationId xmlns:p14="http://schemas.microsoft.com/office/powerpoint/2010/main" val="3912723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2709D7DD-9910-4A01-AEF4-9C74AD31750F}" type="datetime1">
              <a:rPr lang="zh-CN" altLang="en-US" smtClean="0"/>
              <a:t>2025/11/6</a:t>
            </a:fld>
            <a:endParaRPr lang="en-US" altLang="zh-CN"/>
          </a:p>
        </p:txBody>
      </p:sp>
      <p:sp>
        <p:nvSpPr>
          <p:cNvPr id="279554" name="Rectangle 2"/>
          <p:cNvSpPr>
            <a:spLocks noGrp="1" noChangeArrowheads="1"/>
          </p:cNvSpPr>
          <p:nvPr>
            <p:ph type="title"/>
          </p:nvPr>
        </p:nvSpPr>
        <p:spPr/>
        <p:txBody>
          <a:bodyPr/>
          <a:lstStyle/>
          <a:p>
            <a:r>
              <a:rPr lang="en-US" altLang="zh-CN" dirty="0"/>
              <a:t>8.2.5 3NF</a:t>
            </a:r>
            <a:endParaRPr lang="zh-CN" altLang="en-US" dirty="0"/>
          </a:p>
        </p:txBody>
      </p:sp>
      <p:sp>
        <p:nvSpPr>
          <p:cNvPr id="7" name="Rectangle 3"/>
          <p:cNvSpPr txBox="1">
            <a:spLocks noChangeArrowheads="1"/>
          </p:cNvSpPr>
          <p:nvPr/>
        </p:nvSpPr>
        <p:spPr bwMode="auto">
          <a:xfrm>
            <a:off x="609600" y="1447800"/>
            <a:ext cx="8138864" cy="5005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fontAlgn="base">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r>
              <a:rPr lang="zh-CN" altLang="en-US" dirty="0">
                <a:solidFill>
                  <a:srgbClr val="FF0000"/>
                </a:solidFill>
              </a:rPr>
              <a:t>定义</a:t>
            </a:r>
            <a:r>
              <a:rPr lang="en-US" altLang="zh-CN" dirty="0">
                <a:solidFill>
                  <a:srgbClr val="FF0000"/>
                </a:solidFill>
              </a:rPr>
              <a:t>6.7  </a:t>
            </a:r>
            <a:r>
              <a:rPr lang="zh-CN" altLang="en-US" dirty="0"/>
              <a:t>关系模式</a:t>
            </a:r>
            <a:r>
              <a:rPr lang="en-US" altLang="zh-CN" dirty="0"/>
              <a:t>R&lt;U</a:t>
            </a:r>
            <a:r>
              <a:rPr lang="zh-CN" altLang="en-US" dirty="0"/>
              <a:t>，</a:t>
            </a:r>
            <a:r>
              <a:rPr lang="en-US" altLang="zh-CN" dirty="0"/>
              <a:t>F&gt; </a:t>
            </a:r>
            <a:r>
              <a:rPr lang="zh-CN" altLang="en-US" dirty="0"/>
              <a:t>中</a:t>
            </a:r>
            <a:r>
              <a:rPr lang="zh-CN" altLang="en-US" u="sng" dirty="0">
                <a:solidFill>
                  <a:schemeClr val="tx2"/>
                </a:solidFill>
              </a:rPr>
              <a:t>若</a:t>
            </a:r>
            <a:r>
              <a:rPr lang="zh-CN" altLang="en-US" b="1" u="sng" dirty="0">
                <a:solidFill>
                  <a:schemeClr val="tx2"/>
                </a:solidFill>
              </a:rPr>
              <a:t>不</a:t>
            </a:r>
            <a:r>
              <a:rPr lang="zh-CN" altLang="en-US" u="sng" dirty="0">
                <a:solidFill>
                  <a:schemeClr val="tx2"/>
                </a:solidFill>
              </a:rPr>
              <a:t>存在</a:t>
            </a:r>
            <a:r>
              <a:rPr lang="zh-CN" altLang="en-US" u="sng" dirty="0"/>
              <a:t>这样的</a:t>
            </a:r>
            <a:r>
              <a:rPr lang="zh-CN" altLang="en-US" u="sng" dirty="0">
                <a:solidFill>
                  <a:srgbClr val="C00000"/>
                </a:solidFill>
              </a:rPr>
              <a:t>码</a:t>
            </a:r>
            <a:r>
              <a:rPr lang="en-US" altLang="zh-CN" u="sng" dirty="0">
                <a:solidFill>
                  <a:srgbClr val="C00000"/>
                </a:solidFill>
              </a:rPr>
              <a:t>X</a:t>
            </a:r>
            <a:r>
              <a:rPr lang="zh-CN" altLang="en-US" u="sng" dirty="0"/>
              <a:t>、</a:t>
            </a:r>
            <a:r>
              <a:rPr lang="zh-CN" altLang="en-US" u="sng" dirty="0">
                <a:solidFill>
                  <a:schemeClr val="tx2"/>
                </a:solidFill>
              </a:rPr>
              <a:t>属性组</a:t>
            </a:r>
            <a:r>
              <a:rPr lang="en-US" altLang="zh-CN" u="sng" dirty="0">
                <a:solidFill>
                  <a:schemeClr val="tx2"/>
                </a:solidFill>
              </a:rPr>
              <a:t>Y</a:t>
            </a:r>
            <a:r>
              <a:rPr lang="zh-CN" altLang="en-US" u="sng" dirty="0"/>
              <a:t>及</a:t>
            </a:r>
            <a:r>
              <a:rPr lang="zh-CN" altLang="en-US" u="sng" dirty="0">
                <a:solidFill>
                  <a:srgbClr val="C00000"/>
                </a:solidFill>
              </a:rPr>
              <a:t>非主属性</a:t>
            </a:r>
            <a:r>
              <a:rPr lang="en-US" altLang="zh-CN" u="sng" dirty="0">
                <a:solidFill>
                  <a:srgbClr val="C00000"/>
                </a:solidFill>
              </a:rPr>
              <a:t>Z</a:t>
            </a:r>
            <a:r>
              <a:rPr lang="zh-CN" altLang="en-US" dirty="0"/>
              <a:t>（</a:t>
            </a:r>
            <a:r>
              <a:rPr lang="en-US" altLang="zh-CN" dirty="0"/>
              <a:t>Z </a:t>
            </a:r>
            <a:r>
              <a:rPr lang="en-US" altLang="zh-CN" dirty="0">
                <a:sym typeface="Symbol" pitchFamily="18" charset="2"/>
              </a:rPr>
              <a:t></a:t>
            </a:r>
            <a:r>
              <a:rPr lang="en-US" altLang="zh-CN" dirty="0"/>
              <a:t> Y</a:t>
            </a:r>
            <a:r>
              <a:rPr lang="zh-CN" altLang="en-US" dirty="0"/>
              <a:t>）</a:t>
            </a:r>
            <a:r>
              <a:rPr lang="en-US" altLang="zh-CN" dirty="0"/>
              <a:t>, </a:t>
            </a:r>
            <a:r>
              <a:rPr lang="zh-CN" altLang="en-US" b="1" dirty="0"/>
              <a:t>使得</a:t>
            </a:r>
            <a:r>
              <a:rPr lang="en-US" altLang="zh-CN" u="sng" dirty="0">
                <a:solidFill>
                  <a:srgbClr val="C00000"/>
                </a:solidFill>
              </a:rPr>
              <a:t>X</a:t>
            </a:r>
            <a:r>
              <a:rPr lang="en-US" altLang="zh-CN" u="sng" dirty="0">
                <a:solidFill>
                  <a:srgbClr val="003300"/>
                </a:solidFill>
              </a:rPr>
              <a:t>→</a:t>
            </a:r>
            <a:r>
              <a:rPr lang="en-US" altLang="zh-CN" u="sng" dirty="0">
                <a:solidFill>
                  <a:srgbClr val="0000FF"/>
                </a:solidFill>
              </a:rPr>
              <a:t>Y</a:t>
            </a:r>
            <a:r>
              <a:rPr lang="zh-CN" altLang="en-US" u="sng" dirty="0">
                <a:solidFill>
                  <a:srgbClr val="003300"/>
                </a:solidFill>
              </a:rPr>
              <a:t>，</a:t>
            </a:r>
            <a:r>
              <a:rPr lang="en-US" altLang="zh-CN" u="sng" dirty="0">
                <a:solidFill>
                  <a:srgbClr val="0000FF"/>
                </a:solidFill>
              </a:rPr>
              <a:t>Y</a:t>
            </a:r>
            <a:r>
              <a:rPr lang="en-US" altLang="zh-CN" u="sng" dirty="0">
                <a:solidFill>
                  <a:srgbClr val="003300"/>
                </a:solidFill>
              </a:rPr>
              <a:t>→</a:t>
            </a:r>
            <a:r>
              <a:rPr lang="en-US" altLang="zh-CN" u="sng" dirty="0">
                <a:solidFill>
                  <a:srgbClr val="C00000"/>
                </a:solidFill>
              </a:rPr>
              <a:t>Z</a:t>
            </a:r>
            <a:r>
              <a:rPr lang="zh-CN" altLang="en-US" u="sng" dirty="0">
                <a:solidFill>
                  <a:srgbClr val="003300"/>
                </a:solidFill>
              </a:rPr>
              <a:t>成立，</a:t>
            </a:r>
            <a:r>
              <a:rPr lang="en-US" altLang="zh-CN" u="sng" dirty="0">
                <a:solidFill>
                  <a:srgbClr val="0000FF"/>
                </a:solidFill>
              </a:rPr>
              <a:t>Y → X</a:t>
            </a:r>
            <a:r>
              <a:rPr lang="zh-CN" altLang="en-US" dirty="0"/>
              <a:t>，则称</a:t>
            </a:r>
            <a:r>
              <a:rPr lang="en-US" altLang="zh-CN" dirty="0"/>
              <a:t>R&lt;U</a:t>
            </a:r>
            <a:r>
              <a:rPr lang="zh-CN" altLang="en-US" dirty="0"/>
              <a:t>，</a:t>
            </a:r>
            <a:r>
              <a:rPr lang="en-US" altLang="zh-CN" dirty="0"/>
              <a:t>F&gt; ∈ 3NF</a:t>
            </a:r>
            <a:r>
              <a:rPr lang="zh-CN" altLang="en-US" dirty="0"/>
              <a:t>。</a:t>
            </a:r>
          </a:p>
          <a:p>
            <a:pPr lvl="1"/>
            <a:r>
              <a:rPr kumimoji="0" lang="zh-CN" altLang="en-US" kern="0" dirty="0">
                <a:latin typeface="+mn-ea"/>
              </a:rPr>
              <a:t>可以证明：若</a:t>
            </a:r>
            <a:r>
              <a:rPr lang="en-US" altLang="zh-CN" dirty="0">
                <a:cs typeface="+mn-cs"/>
              </a:rPr>
              <a:t>R∈3NF</a:t>
            </a:r>
            <a:r>
              <a:rPr kumimoji="0" lang="zh-CN" altLang="en-US" kern="0" dirty="0">
                <a:latin typeface="+mn-ea"/>
              </a:rPr>
              <a:t>，则每一个</a:t>
            </a:r>
            <a:r>
              <a:rPr kumimoji="0" lang="zh-CN" altLang="en-US" b="1" kern="0" dirty="0">
                <a:solidFill>
                  <a:srgbClr val="3333FF"/>
                </a:solidFill>
                <a:latin typeface="+mn-ea"/>
              </a:rPr>
              <a:t>非主属性</a:t>
            </a:r>
            <a:r>
              <a:rPr kumimoji="0" lang="zh-CN" altLang="en-US" b="1" kern="0" dirty="0">
                <a:solidFill>
                  <a:srgbClr val="003300"/>
                </a:solidFill>
                <a:latin typeface="+mn-ea"/>
              </a:rPr>
              <a:t>既</a:t>
            </a:r>
            <a:r>
              <a:rPr kumimoji="0" lang="zh-CN" altLang="en-US" b="1" kern="0" dirty="0">
                <a:solidFill>
                  <a:srgbClr val="C00000"/>
                </a:solidFill>
                <a:latin typeface="+mn-ea"/>
              </a:rPr>
              <a:t>不传递依赖</a:t>
            </a:r>
            <a:r>
              <a:rPr kumimoji="0" lang="zh-CN" altLang="en-US" kern="0" dirty="0">
                <a:solidFill>
                  <a:srgbClr val="C00000"/>
                </a:solidFill>
                <a:latin typeface="+mn-ea"/>
              </a:rPr>
              <a:t>于</a:t>
            </a:r>
            <a:r>
              <a:rPr kumimoji="0" lang="zh-CN" altLang="en-US" b="1" kern="0" dirty="0">
                <a:solidFill>
                  <a:srgbClr val="C00000"/>
                </a:solidFill>
                <a:latin typeface="+mn-ea"/>
              </a:rPr>
              <a:t>码，</a:t>
            </a:r>
            <a:r>
              <a:rPr kumimoji="0" lang="zh-CN" altLang="en-US" b="1" kern="0" dirty="0">
                <a:solidFill>
                  <a:srgbClr val="003300"/>
                </a:solidFill>
                <a:latin typeface="+mn-ea"/>
              </a:rPr>
              <a:t>也</a:t>
            </a:r>
            <a:r>
              <a:rPr kumimoji="0" lang="zh-CN" altLang="en-US" kern="0" dirty="0">
                <a:solidFill>
                  <a:srgbClr val="C00000"/>
                </a:solidFill>
                <a:latin typeface="+mn-ea"/>
              </a:rPr>
              <a:t>不</a:t>
            </a:r>
            <a:r>
              <a:rPr kumimoji="0" lang="zh-CN" altLang="en-US" b="1" kern="0" dirty="0">
                <a:solidFill>
                  <a:srgbClr val="C00000"/>
                </a:solidFill>
                <a:latin typeface="+mn-ea"/>
              </a:rPr>
              <a:t>部分依赖</a:t>
            </a:r>
            <a:r>
              <a:rPr kumimoji="0" lang="zh-CN" altLang="en-US" kern="0" dirty="0">
                <a:solidFill>
                  <a:srgbClr val="C00000"/>
                </a:solidFill>
                <a:latin typeface="+mn-ea"/>
              </a:rPr>
              <a:t>于码</a:t>
            </a:r>
            <a:r>
              <a:rPr kumimoji="0" lang="zh-CN" altLang="en-US" kern="0" dirty="0">
                <a:latin typeface="+mn-ea"/>
              </a:rPr>
              <a:t>。也即：</a:t>
            </a:r>
            <a:r>
              <a:rPr lang="zh-CN" altLang="en-US" dirty="0">
                <a:cs typeface="+mn-cs"/>
              </a:rPr>
              <a:t>如果 </a:t>
            </a:r>
            <a:r>
              <a:rPr lang="en-US" altLang="zh-CN" dirty="0">
                <a:cs typeface="+mn-cs"/>
              </a:rPr>
              <a:t>R∈3NF</a:t>
            </a:r>
            <a:r>
              <a:rPr lang="zh-CN" altLang="en-US" dirty="0">
                <a:cs typeface="+mn-cs"/>
              </a:rPr>
              <a:t>，则必有</a:t>
            </a:r>
            <a:r>
              <a:rPr lang="en-US" altLang="zh-CN" dirty="0">
                <a:cs typeface="+mn-cs"/>
              </a:rPr>
              <a:t>R∈2NF</a:t>
            </a:r>
          </a:p>
          <a:p>
            <a:pPr marL="457200" lvl="1" indent="0">
              <a:buNone/>
            </a:pPr>
            <a:r>
              <a:rPr lang="zh-CN" altLang="en-US" dirty="0">
                <a:cs typeface="+mn-cs"/>
              </a:rPr>
              <a:t>反证法：如果存在部分依赖</a:t>
            </a:r>
            <a:r>
              <a:rPr lang="en-US" altLang="zh-CN" dirty="0">
                <a:solidFill>
                  <a:srgbClr val="C00000"/>
                </a:solidFill>
                <a:cs typeface="+mn-cs"/>
              </a:rPr>
              <a:t>X’</a:t>
            </a:r>
            <a:r>
              <a:rPr lang="en-US" altLang="zh-CN" dirty="0">
                <a:solidFill>
                  <a:srgbClr val="003300"/>
                </a:solidFill>
              </a:rPr>
              <a:t> →Z, </a:t>
            </a:r>
            <a:r>
              <a:rPr lang="zh-CN" altLang="en-US" b="1" dirty="0"/>
              <a:t>那么</a:t>
            </a:r>
            <a:r>
              <a:rPr lang="en-US" altLang="zh-CN" dirty="0">
                <a:solidFill>
                  <a:srgbClr val="C00000"/>
                </a:solidFill>
              </a:rPr>
              <a:t>X→X’</a:t>
            </a:r>
            <a:r>
              <a:rPr lang="zh-CN" altLang="en-US" dirty="0"/>
              <a:t>，</a:t>
            </a:r>
            <a:r>
              <a:rPr lang="en-US" altLang="zh-CN" b="1" dirty="0">
                <a:solidFill>
                  <a:srgbClr val="006600"/>
                </a:solidFill>
              </a:rPr>
              <a:t> </a:t>
            </a:r>
            <a:r>
              <a:rPr lang="en-US" altLang="zh-CN" dirty="0">
                <a:solidFill>
                  <a:srgbClr val="006600"/>
                </a:solidFill>
              </a:rPr>
              <a:t>X’ </a:t>
            </a:r>
            <a:r>
              <a:rPr lang="en-US" altLang="zh-CN" b="1" dirty="0">
                <a:solidFill>
                  <a:srgbClr val="006600"/>
                </a:solidFill>
                <a:latin typeface="宋体" pitchFamily="2" charset="-122"/>
              </a:rPr>
              <a:t>→</a:t>
            </a:r>
            <a:r>
              <a:rPr lang="en-US" altLang="zh-CN" dirty="0">
                <a:solidFill>
                  <a:srgbClr val="006600"/>
                </a:solidFill>
              </a:rPr>
              <a:t>X</a:t>
            </a:r>
            <a:r>
              <a:rPr lang="zh-CN" altLang="en-US" dirty="0">
                <a:solidFill>
                  <a:srgbClr val="006600"/>
                </a:solidFill>
              </a:rPr>
              <a:t>，</a:t>
            </a:r>
            <a:r>
              <a:rPr lang="en-US" altLang="zh-CN" dirty="0">
                <a:solidFill>
                  <a:srgbClr val="0000FF"/>
                </a:solidFill>
              </a:rPr>
              <a:t>X’→Z</a:t>
            </a:r>
            <a:r>
              <a:rPr lang="zh-CN" altLang="en-US" dirty="0">
                <a:solidFill>
                  <a:srgbClr val="0000FF"/>
                </a:solidFill>
              </a:rPr>
              <a:t>，则  </a:t>
            </a:r>
            <a:r>
              <a:rPr lang="en-US" altLang="zh-CN" dirty="0">
                <a:solidFill>
                  <a:srgbClr val="0000FF"/>
                </a:solidFill>
              </a:rPr>
              <a:t>X → Z</a:t>
            </a:r>
            <a:r>
              <a:rPr lang="zh-CN" altLang="en-US" dirty="0"/>
              <a:t>，也即</a:t>
            </a:r>
            <a:r>
              <a:rPr lang="zh-CN" altLang="en-US" b="1" dirty="0"/>
              <a:t>存在</a:t>
            </a:r>
            <a:r>
              <a:rPr lang="zh-CN" altLang="en-US" u="sng" dirty="0"/>
              <a:t>非主属性对</a:t>
            </a:r>
            <a:r>
              <a:rPr lang="zh-CN" altLang="en-US" u="sng" dirty="0">
                <a:solidFill>
                  <a:srgbClr val="C00000"/>
                </a:solidFill>
              </a:rPr>
              <a:t>码</a:t>
            </a:r>
            <a:r>
              <a:rPr lang="zh-CN" altLang="en-US" u="sng" dirty="0"/>
              <a:t>的传递依赖</a:t>
            </a:r>
            <a:r>
              <a:rPr lang="zh-CN" altLang="en-US" dirty="0"/>
              <a:t>，</a:t>
            </a:r>
            <a:r>
              <a:rPr lang="zh-CN" altLang="en-US" u="sng" dirty="0"/>
              <a:t>不符合要求</a:t>
            </a:r>
            <a:r>
              <a:rPr lang="zh-CN" altLang="en-US" dirty="0"/>
              <a:t>，假设不成立。</a:t>
            </a:r>
            <a:endParaRPr lang="zh-CN" altLang="en-US" dirty="0">
              <a:cs typeface="+mn-cs"/>
            </a:endParaRPr>
          </a:p>
        </p:txBody>
      </p:sp>
      <p:sp>
        <p:nvSpPr>
          <p:cNvPr id="9" name="Line 4"/>
          <p:cNvSpPr>
            <a:spLocks noChangeShapeType="1"/>
          </p:cNvSpPr>
          <p:nvPr/>
        </p:nvSpPr>
        <p:spPr bwMode="auto">
          <a:xfrm>
            <a:off x="7543800" y="2133600"/>
            <a:ext cx="76200" cy="381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dirty="0"/>
          </a:p>
        </p:txBody>
      </p:sp>
      <p:sp>
        <p:nvSpPr>
          <p:cNvPr id="10" name="Line 4"/>
          <p:cNvSpPr>
            <a:spLocks noChangeShapeType="1"/>
          </p:cNvSpPr>
          <p:nvPr/>
        </p:nvSpPr>
        <p:spPr bwMode="auto">
          <a:xfrm>
            <a:off x="5724128" y="2514600"/>
            <a:ext cx="76200" cy="38100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dirty="0"/>
          </a:p>
        </p:txBody>
      </p:sp>
      <p:sp>
        <p:nvSpPr>
          <p:cNvPr id="11" name="Line 4"/>
          <p:cNvSpPr>
            <a:spLocks noChangeShapeType="1"/>
          </p:cNvSpPr>
          <p:nvPr/>
        </p:nvSpPr>
        <p:spPr bwMode="auto">
          <a:xfrm>
            <a:off x="1691680" y="5334000"/>
            <a:ext cx="76200" cy="381000"/>
          </a:xfrm>
          <a:prstGeom prst="line">
            <a:avLst/>
          </a:prstGeom>
          <a:noFill/>
          <a:ln w="9525">
            <a:solidFill>
              <a:srgbClr val="00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dirty="0"/>
          </a:p>
        </p:txBody>
      </p:sp>
      <p:sp>
        <p:nvSpPr>
          <p:cNvPr id="12" name="Text Box 4"/>
          <p:cNvSpPr txBox="1">
            <a:spLocks noChangeArrowheads="1"/>
          </p:cNvSpPr>
          <p:nvPr/>
        </p:nvSpPr>
        <p:spPr bwMode="auto">
          <a:xfrm>
            <a:off x="4309864" y="5219908"/>
            <a:ext cx="838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dirty="0">
                <a:solidFill>
                  <a:srgbClr val="C00000"/>
                </a:solidFill>
              </a:rPr>
              <a:t>传递</a:t>
            </a:r>
          </a:p>
        </p:txBody>
      </p:sp>
      <p:sp>
        <p:nvSpPr>
          <p:cNvPr id="3" name="页脚占位符 2">
            <a:extLst>
              <a:ext uri="{FF2B5EF4-FFF2-40B4-BE49-F238E27FC236}">
                <a16:creationId xmlns:a16="http://schemas.microsoft.com/office/drawing/2014/main" id="{D93EFC21-FE82-FAD3-C495-E155B0B4FFB2}"/>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E56BC86A-0780-3A9D-D2D7-B89901FB8504}"/>
              </a:ext>
            </a:extLst>
          </p:cNvPr>
          <p:cNvSpPr>
            <a:spLocks noGrp="1"/>
          </p:cNvSpPr>
          <p:nvPr>
            <p:ph type="sldNum" sz="quarter" idx="12"/>
          </p:nvPr>
        </p:nvSpPr>
        <p:spPr/>
        <p:txBody>
          <a:bodyPr/>
          <a:lstStyle/>
          <a:p>
            <a:fld id="{A2D74603-B40B-4D66-8F6E-41C870D48932}" type="slidenum">
              <a:rPr lang="en-US" altLang="zh-CN" smtClean="0"/>
              <a:pPr/>
              <a:t>44</a:t>
            </a:fld>
            <a:r>
              <a:rPr lang="en-US" altLang="zh-CN"/>
              <a:t>/162</a:t>
            </a:r>
            <a:endParaRPr lang="en-US" altLang="zh-CN" dirty="0"/>
          </a:p>
        </p:txBody>
      </p:sp>
    </p:spTree>
    <p:extLst>
      <p:ext uri="{BB962C8B-B14F-4D97-AF65-F5344CB8AC3E}">
        <p14:creationId xmlns:p14="http://schemas.microsoft.com/office/powerpoint/2010/main" val="854913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 calcmode="lin" valueType="num">
                                      <p:cBhvr additive="base">
                                        <p:cTn id="7"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 calcmode="lin" valueType="num">
                                      <p:cBhvr additive="base">
                                        <p:cTn id="13"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 presetClass="entr" presetSubtype="4" fill="hold" grpId="0" nodeType="after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500" fill="hold"/>
                                        <p:tgtEl>
                                          <p:spTgt spid="11"/>
                                        </p:tgtEl>
                                        <p:attrNameLst>
                                          <p:attrName>ppt_x</p:attrName>
                                        </p:attrNameLst>
                                      </p:cBhvr>
                                      <p:tavLst>
                                        <p:tav tm="0">
                                          <p:val>
                                            <p:strVal val="#ppt_x"/>
                                          </p:val>
                                        </p:tav>
                                        <p:tav tm="100000">
                                          <p:val>
                                            <p:strVal val="#ppt_x"/>
                                          </p:val>
                                        </p:tav>
                                      </p:tavLst>
                                    </p:anim>
                                    <p:anim calcmode="lin" valueType="num">
                                      <p:cBhvr additive="base">
                                        <p:cTn id="19" dur="500" fill="hold"/>
                                        <p:tgtEl>
                                          <p:spTgt spid="11"/>
                                        </p:tgtEl>
                                        <p:attrNameLst>
                                          <p:attrName>ppt_y</p:attrName>
                                        </p:attrNameLst>
                                      </p:cBhvr>
                                      <p:tavLst>
                                        <p:tav tm="0">
                                          <p:val>
                                            <p:strVal val="1+#ppt_h/2"/>
                                          </p:val>
                                        </p:tav>
                                        <p:tav tm="100000">
                                          <p:val>
                                            <p:strVal val="#ppt_y"/>
                                          </p:val>
                                        </p:tav>
                                      </p:tavLst>
                                    </p:anim>
                                  </p:childTnLst>
                                </p:cTn>
                              </p:par>
                            </p:childTnLst>
                          </p:cTn>
                        </p:par>
                        <p:par>
                          <p:cTn id="20" fill="hold">
                            <p:stCondLst>
                              <p:cond delay="1000"/>
                            </p:stCondLst>
                            <p:childTnLst>
                              <p:par>
                                <p:cTn id="21" presetID="2" presetClass="entr" presetSubtype="4"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01F960F9-4A2A-4FDF-BD58-5A4FC6845CE9}" type="datetime1">
              <a:rPr lang="zh-CN" altLang="en-US" smtClean="0"/>
              <a:t>2025/11/6</a:t>
            </a:fld>
            <a:endParaRPr lang="en-US" altLang="zh-CN"/>
          </a:p>
        </p:txBody>
      </p:sp>
      <p:sp>
        <p:nvSpPr>
          <p:cNvPr id="280578" name="Rectangle 2"/>
          <p:cNvSpPr>
            <a:spLocks noGrp="1" noChangeArrowheads="1"/>
          </p:cNvSpPr>
          <p:nvPr>
            <p:ph type="title"/>
          </p:nvPr>
        </p:nvSpPr>
        <p:spPr/>
        <p:txBody>
          <a:bodyPr/>
          <a:lstStyle/>
          <a:p>
            <a:r>
              <a:rPr lang="en-US" altLang="zh-CN" dirty="0"/>
              <a:t>8.2.5 3NF</a:t>
            </a:r>
            <a:endParaRPr lang="zh-CN" altLang="en-US" dirty="0"/>
          </a:p>
        </p:txBody>
      </p:sp>
      <p:sp>
        <p:nvSpPr>
          <p:cNvPr id="280579" name="Rectangle 3"/>
          <p:cNvSpPr>
            <a:spLocks noGrp="1" noChangeArrowheads="1"/>
          </p:cNvSpPr>
          <p:nvPr>
            <p:ph type="body" idx="1"/>
          </p:nvPr>
        </p:nvSpPr>
        <p:spPr>
          <a:xfrm>
            <a:off x="609600" y="1447800"/>
            <a:ext cx="8534400" cy="4267200"/>
          </a:xfrm>
          <a:solidFill>
            <a:schemeClr val="bg1"/>
          </a:solidFill>
        </p:spPr>
        <p:txBody>
          <a:bodyPr/>
          <a:lstStyle/>
          <a:p>
            <a:pPr marL="0" indent="0">
              <a:buNone/>
            </a:pPr>
            <a:r>
              <a:rPr lang="en-US" altLang="zh-CN" dirty="0"/>
              <a:t>S-L(</a:t>
            </a:r>
            <a:r>
              <a:rPr lang="en-US" altLang="zh-CN" u="sng" dirty="0" err="1">
                <a:solidFill>
                  <a:srgbClr val="C00000"/>
                </a:solidFill>
              </a:rPr>
              <a:t>Sno</a:t>
            </a:r>
            <a:r>
              <a:rPr lang="en-US" altLang="zh-CN" dirty="0"/>
              <a:t>, </a:t>
            </a:r>
            <a:r>
              <a:rPr lang="en-US" altLang="zh-CN" dirty="0" err="1"/>
              <a:t>Sdept</a:t>
            </a:r>
            <a:r>
              <a:rPr lang="en-US" altLang="zh-CN" dirty="0"/>
              <a:t>, </a:t>
            </a:r>
            <a:r>
              <a:rPr lang="en-US" altLang="zh-CN" dirty="0" err="1"/>
              <a:t>Sloc</a:t>
            </a:r>
            <a:r>
              <a:rPr lang="en-US" altLang="zh-CN" dirty="0"/>
              <a:t>), SC(</a:t>
            </a:r>
            <a:r>
              <a:rPr lang="en-US" altLang="zh-CN" u="sng" dirty="0" err="1">
                <a:solidFill>
                  <a:srgbClr val="C00000"/>
                </a:solidFill>
              </a:rPr>
              <a:t>Sno</a:t>
            </a:r>
            <a:r>
              <a:rPr lang="en-US" altLang="zh-CN" u="sng" dirty="0">
                <a:solidFill>
                  <a:srgbClr val="C00000"/>
                </a:solidFill>
              </a:rPr>
              <a:t>, </a:t>
            </a:r>
            <a:r>
              <a:rPr lang="en-US" altLang="zh-CN" u="sng" dirty="0" err="1">
                <a:solidFill>
                  <a:srgbClr val="C00000"/>
                </a:solidFill>
              </a:rPr>
              <a:t>Cno</a:t>
            </a:r>
            <a:r>
              <a:rPr lang="en-US" altLang="zh-CN" dirty="0"/>
              <a:t>, Grade)</a:t>
            </a:r>
          </a:p>
          <a:p>
            <a:r>
              <a:rPr lang="en-US" altLang="zh-CN" dirty="0"/>
              <a:t>SC</a:t>
            </a:r>
            <a:r>
              <a:rPr lang="zh-CN" altLang="en-US" dirty="0">
                <a:solidFill>
                  <a:schemeClr val="tx2"/>
                </a:solidFill>
              </a:rPr>
              <a:t>没有传递依赖</a:t>
            </a:r>
            <a:r>
              <a:rPr lang="zh-CN" altLang="en-US" dirty="0"/>
              <a:t>，因此</a:t>
            </a:r>
            <a:r>
              <a:rPr lang="en-US" altLang="zh-CN" dirty="0">
                <a:solidFill>
                  <a:srgbClr val="C00000"/>
                </a:solidFill>
              </a:rPr>
              <a:t>SC ∈ 3NF</a:t>
            </a:r>
          </a:p>
          <a:p>
            <a:r>
              <a:rPr lang="en-US" altLang="zh-CN" dirty="0"/>
              <a:t>S-L</a:t>
            </a:r>
            <a:r>
              <a:rPr lang="zh-CN" altLang="en-US" dirty="0"/>
              <a:t>中</a:t>
            </a:r>
            <a:r>
              <a:rPr lang="en-US" altLang="zh-CN" dirty="0" err="1">
                <a:solidFill>
                  <a:schemeClr val="tx2"/>
                </a:solidFill>
              </a:rPr>
              <a:t>Sno</a:t>
            </a:r>
            <a:r>
              <a:rPr lang="en-US" altLang="zh-CN" dirty="0">
                <a:solidFill>
                  <a:schemeClr val="tx2"/>
                </a:solidFill>
              </a:rPr>
              <a:t> →</a:t>
            </a:r>
            <a:r>
              <a:rPr lang="en-US" altLang="zh-CN" dirty="0" err="1">
                <a:solidFill>
                  <a:schemeClr val="tx2"/>
                </a:solidFill>
              </a:rPr>
              <a:t>Sdept</a:t>
            </a:r>
            <a:r>
              <a:rPr lang="zh-CN" altLang="en-US" dirty="0"/>
              <a:t>，</a:t>
            </a:r>
            <a:r>
              <a:rPr lang="en-US" altLang="zh-CN" dirty="0"/>
              <a:t>(</a:t>
            </a:r>
            <a:r>
              <a:rPr lang="en-US" altLang="zh-CN" dirty="0" err="1">
                <a:solidFill>
                  <a:srgbClr val="003300"/>
                </a:solidFill>
              </a:rPr>
              <a:t>Sdept</a:t>
            </a:r>
            <a:r>
              <a:rPr lang="en-US" altLang="zh-CN" dirty="0">
                <a:solidFill>
                  <a:srgbClr val="003300"/>
                </a:solidFill>
              </a:rPr>
              <a:t> ↛ </a:t>
            </a:r>
            <a:r>
              <a:rPr lang="en-US" altLang="zh-CN" dirty="0" err="1">
                <a:solidFill>
                  <a:srgbClr val="003300"/>
                </a:solidFill>
              </a:rPr>
              <a:t>Sno</a:t>
            </a:r>
            <a:r>
              <a:rPr lang="en-US" altLang="zh-CN" dirty="0"/>
              <a:t>), </a:t>
            </a:r>
            <a:r>
              <a:rPr lang="en-US" altLang="zh-CN" dirty="0" err="1">
                <a:solidFill>
                  <a:schemeClr val="tx2"/>
                </a:solidFill>
              </a:rPr>
              <a:t>Sdept→Sloc</a:t>
            </a:r>
            <a:r>
              <a:rPr lang="zh-CN" altLang="en-US" dirty="0"/>
              <a:t>，可得</a:t>
            </a:r>
            <a:r>
              <a:rPr lang="en-US" altLang="zh-CN" dirty="0" err="1">
                <a:solidFill>
                  <a:schemeClr val="tx2"/>
                </a:solidFill>
              </a:rPr>
              <a:t>Sno</a:t>
            </a:r>
            <a:r>
              <a:rPr lang="en-US" altLang="zh-CN" dirty="0">
                <a:solidFill>
                  <a:schemeClr val="tx2"/>
                </a:solidFill>
              </a:rPr>
              <a:t> → </a:t>
            </a:r>
            <a:r>
              <a:rPr lang="en-US" altLang="zh-CN" dirty="0" err="1">
                <a:solidFill>
                  <a:schemeClr val="tx2"/>
                </a:solidFill>
              </a:rPr>
              <a:t>Sloc</a:t>
            </a:r>
            <a:r>
              <a:rPr lang="zh-CN" altLang="en-US" dirty="0"/>
              <a:t>。</a:t>
            </a:r>
            <a:r>
              <a:rPr lang="en-US" altLang="zh-CN" dirty="0"/>
              <a:t> </a:t>
            </a:r>
          </a:p>
          <a:p>
            <a:pPr marL="0" indent="0">
              <a:buNone/>
            </a:pPr>
            <a:r>
              <a:rPr lang="en-US" altLang="zh-CN" dirty="0"/>
              <a:t>                </a:t>
            </a:r>
            <a:r>
              <a:rPr lang="en-US" altLang="zh-CN" dirty="0">
                <a:solidFill>
                  <a:srgbClr val="C00000"/>
                </a:solidFill>
              </a:rPr>
              <a:t>S-L∈ 3NF</a:t>
            </a:r>
          </a:p>
        </p:txBody>
      </p:sp>
      <p:cxnSp>
        <p:nvCxnSpPr>
          <p:cNvPr id="3" name="直接连接符 2"/>
          <p:cNvCxnSpPr/>
          <p:nvPr/>
        </p:nvCxnSpPr>
        <p:spPr bwMode="auto">
          <a:xfrm>
            <a:off x="3352800" y="3810000"/>
            <a:ext cx="304800" cy="381000"/>
          </a:xfrm>
          <a:prstGeom prst="line">
            <a:avLst/>
          </a:prstGeom>
          <a:solidFill>
            <a:schemeClr val="accent1"/>
          </a:solidFill>
          <a:ln w="25400"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Text Box 4"/>
          <p:cNvSpPr txBox="1">
            <a:spLocks noChangeArrowheads="1"/>
          </p:cNvSpPr>
          <p:nvPr/>
        </p:nvSpPr>
        <p:spPr bwMode="auto">
          <a:xfrm>
            <a:off x="5000628" y="3071810"/>
            <a:ext cx="838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dirty="0">
                <a:solidFill>
                  <a:srgbClr val="0000FF"/>
                </a:solidFill>
              </a:rPr>
              <a:t>传递</a:t>
            </a:r>
          </a:p>
        </p:txBody>
      </p:sp>
      <p:sp>
        <p:nvSpPr>
          <p:cNvPr id="5" name="页脚占位符 4">
            <a:extLst>
              <a:ext uri="{FF2B5EF4-FFF2-40B4-BE49-F238E27FC236}">
                <a16:creationId xmlns:a16="http://schemas.microsoft.com/office/drawing/2014/main" id="{A7E5AEAA-9BAB-D5EE-E919-F34D9222672D}"/>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D403C520-828D-8951-6D34-817285936495}"/>
              </a:ext>
            </a:extLst>
          </p:cNvPr>
          <p:cNvSpPr>
            <a:spLocks noGrp="1"/>
          </p:cNvSpPr>
          <p:nvPr>
            <p:ph type="sldNum" sz="quarter" idx="12"/>
          </p:nvPr>
        </p:nvSpPr>
        <p:spPr/>
        <p:txBody>
          <a:bodyPr/>
          <a:lstStyle/>
          <a:p>
            <a:fld id="{A2D74603-B40B-4D66-8F6E-41C870D48932}" type="slidenum">
              <a:rPr lang="en-US" altLang="zh-CN" smtClean="0"/>
              <a:pPr/>
              <a:t>45</a:t>
            </a:fld>
            <a:r>
              <a:rPr lang="en-US" altLang="zh-CN"/>
              <a:t>/162</a:t>
            </a:r>
            <a:endParaRPr lang="en-US" altLang="zh-CN" dirty="0"/>
          </a:p>
        </p:txBody>
      </p:sp>
    </p:spTree>
    <p:extLst>
      <p:ext uri="{BB962C8B-B14F-4D97-AF65-F5344CB8AC3E}">
        <p14:creationId xmlns:p14="http://schemas.microsoft.com/office/powerpoint/2010/main" val="13885427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80579">
                                            <p:txEl>
                                              <p:pRg st="1" end="1"/>
                                            </p:txEl>
                                          </p:spTgt>
                                        </p:tgtEl>
                                        <p:attrNameLst>
                                          <p:attrName>style.visibility</p:attrName>
                                        </p:attrNameLst>
                                      </p:cBhvr>
                                      <p:to>
                                        <p:strVal val="visible"/>
                                      </p:to>
                                    </p:set>
                                    <p:anim calcmode="lin" valueType="num">
                                      <p:cBhvr additive="base">
                                        <p:cTn id="7" dur="500" fill="hold"/>
                                        <p:tgtEl>
                                          <p:spTgt spid="28057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057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80579">
                                            <p:txEl>
                                              <p:pRg st="2" end="2"/>
                                            </p:txEl>
                                          </p:spTgt>
                                        </p:tgtEl>
                                        <p:attrNameLst>
                                          <p:attrName>style.visibility</p:attrName>
                                        </p:attrNameLst>
                                      </p:cBhvr>
                                      <p:to>
                                        <p:strVal val="visible"/>
                                      </p:to>
                                    </p:set>
                                    <p:anim calcmode="lin" valueType="num">
                                      <p:cBhvr additive="base">
                                        <p:cTn id="13" dur="500" fill="hold"/>
                                        <p:tgtEl>
                                          <p:spTgt spid="28057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80579">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80579">
                                            <p:txEl>
                                              <p:pRg st="3" end="3"/>
                                            </p:txEl>
                                          </p:spTgt>
                                        </p:tgtEl>
                                        <p:attrNameLst>
                                          <p:attrName>style.visibility</p:attrName>
                                        </p:attrNameLst>
                                      </p:cBhvr>
                                      <p:to>
                                        <p:strVal val="visible"/>
                                      </p:to>
                                    </p:set>
                                    <p:anim calcmode="lin" valueType="num">
                                      <p:cBhvr additive="base">
                                        <p:cTn id="23" dur="500" fill="hold"/>
                                        <p:tgtEl>
                                          <p:spTgt spid="280579">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80579">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500" fill="hold"/>
                                        <p:tgtEl>
                                          <p:spTgt spid="3"/>
                                        </p:tgtEl>
                                        <p:attrNameLst>
                                          <p:attrName>ppt_x</p:attrName>
                                        </p:attrNameLst>
                                      </p:cBhvr>
                                      <p:tavLst>
                                        <p:tav tm="0">
                                          <p:val>
                                            <p:strVal val="#ppt_x"/>
                                          </p:val>
                                        </p:tav>
                                        <p:tav tm="100000">
                                          <p:val>
                                            <p:strVal val="#ppt_x"/>
                                          </p:val>
                                        </p:tav>
                                      </p:tavLst>
                                    </p:anim>
                                    <p:anim calcmode="lin" valueType="num">
                                      <p:cBhvr additive="base">
                                        <p:cTn id="2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5FEF607-0A63-4815-8771-0A928099806D}" type="datetime1">
              <a:rPr lang="zh-CN" altLang="en-US" smtClean="0"/>
              <a:t>2025/11/6</a:t>
            </a:fld>
            <a:endParaRPr lang="en-US" altLang="zh-CN"/>
          </a:p>
        </p:txBody>
      </p:sp>
      <p:sp>
        <p:nvSpPr>
          <p:cNvPr id="279554" name="Rectangle 2"/>
          <p:cNvSpPr>
            <a:spLocks noGrp="1" noChangeArrowheads="1"/>
          </p:cNvSpPr>
          <p:nvPr>
            <p:ph type="title"/>
          </p:nvPr>
        </p:nvSpPr>
        <p:spPr/>
        <p:txBody>
          <a:bodyPr/>
          <a:lstStyle/>
          <a:p>
            <a:r>
              <a:rPr lang="en-US" altLang="zh-CN" dirty="0"/>
              <a:t>8.2.5 3NF</a:t>
            </a:r>
            <a:endParaRPr lang="zh-CN" altLang="en-US" dirty="0"/>
          </a:p>
        </p:txBody>
      </p:sp>
      <p:sp>
        <p:nvSpPr>
          <p:cNvPr id="7" name="Rectangle 3"/>
          <p:cNvSpPr txBox="1">
            <a:spLocks noChangeArrowheads="1"/>
          </p:cNvSpPr>
          <p:nvPr/>
        </p:nvSpPr>
        <p:spPr bwMode="auto">
          <a:xfrm>
            <a:off x="609600" y="1447800"/>
            <a:ext cx="8229600" cy="5005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fontAlgn="base">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r>
              <a:rPr lang="zh-CN" altLang="en-US" dirty="0">
                <a:solidFill>
                  <a:srgbClr val="FF0000"/>
                </a:solidFill>
              </a:rPr>
              <a:t>定义</a:t>
            </a:r>
            <a:r>
              <a:rPr lang="en-US" altLang="zh-CN" dirty="0">
                <a:solidFill>
                  <a:srgbClr val="FF0000"/>
                </a:solidFill>
              </a:rPr>
              <a:t>6.7  </a:t>
            </a:r>
            <a:r>
              <a:rPr lang="zh-CN" altLang="en-US" dirty="0"/>
              <a:t>关系模式</a:t>
            </a:r>
            <a:r>
              <a:rPr lang="en-US" altLang="zh-CN" dirty="0"/>
              <a:t>R&lt;U</a:t>
            </a:r>
            <a:r>
              <a:rPr lang="zh-CN" altLang="en-US" dirty="0"/>
              <a:t>，</a:t>
            </a:r>
            <a:r>
              <a:rPr lang="en-US" altLang="zh-CN" dirty="0"/>
              <a:t>F&gt; </a:t>
            </a:r>
            <a:r>
              <a:rPr lang="zh-CN" altLang="en-US" dirty="0"/>
              <a:t>中</a:t>
            </a:r>
            <a:r>
              <a:rPr lang="zh-CN" altLang="en-US" dirty="0">
                <a:solidFill>
                  <a:schemeClr val="tx2"/>
                </a:solidFill>
              </a:rPr>
              <a:t>若</a:t>
            </a:r>
            <a:r>
              <a:rPr lang="zh-CN" altLang="en-US" b="1" dirty="0">
                <a:solidFill>
                  <a:schemeClr val="tx2"/>
                </a:solidFill>
              </a:rPr>
              <a:t>不</a:t>
            </a:r>
            <a:r>
              <a:rPr lang="zh-CN" altLang="en-US" dirty="0">
                <a:solidFill>
                  <a:schemeClr val="tx2"/>
                </a:solidFill>
              </a:rPr>
              <a:t>存在</a:t>
            </a:r>
            <a:r>
              <a:rPr lang="zh-CN" altLang="en-US" dirty="0"/>
              <a:t>这样的</a:t>
            </a:r>
            <a:r>
              <a:rPr lang="zh-CN" altLang="en-US" dirty="0">
                <a:solidFill>
                  <a:srgbClr val="C00000"/>
                </a:solidFill>
              </a:rPr>
              <a:t>码</a:t>
            </a:r>
            <a:r>
              <a:rPr lang="en-US" altLang="zh-CN" dirty="0">
                <a:solidFill>
                  <a:srgbClr val="C00000"/>
                </a:solidFill>
              </a:rPr>
              <a:t>X</a:t>
            </a:r>
            <a:r>
              <a:rPr lang="zh-CN" altLang="en-US" dirty="0"/>
              <a:t>、</a:t>
            </a:r>
            <a:r>
              <a:rPr lang="zh-CN" altLang="en-US" dirty="0">
                <a:solidFill>
                  <a:schemeClr val="tx2"/>
                </a:solidFill>
              </a:rPr>
              <a:t>属性组</a:t>
            </a:r>
            <a:r>
              <a:rPr lang="en-US" altLang="zh-CN" dirty="0">
                <a:solidFill>
                  <a:schemeClr val="tx2"/>
                </a:solidFill>
              </a:rPr>
              <a:t>Y</a:t>
            </a:r>
            <a:r>
              <a:rPr lang="zh-CN" altLang="en-US" dirty="0"/>
              <a:t>及</a:t>
            </a:r>
            <a:r>
              <a:rPr lang="zh-CN" altLang="en-US" dirty="0">
                <a:solidFill>
                  <a:srgbClr val="C00000"/>
                </a:solidFill>
              </a:rPr>
              <a:t>非主属性</a:t>
            </a:r>
            <a:r>
              <a:rPr lang="en-US" altLang="zh-CN" dirty="0">
                <a:solidFill>
                  <a:srgbClr val="C00000"/>
                </a:solidFill>
              </a:rPr>
              <a:t>Z</a:t>
            </a:r>
            <a:r>
              <a:rPr lang="zh-CN" altLang="en-US" dirty="0"/>
              <a:t>（</a:t>
            </a:r>
            <a:r>
              <a:rPr lang="en-US" altLang="zh-CN" dirty="0"/>
              <a:t>Z </a:t>
            </a:r>
            <a:r>
              <a:rPr lang="en-US" altLang="zh-CN" dirty="0">
                <a:sym typeface="Symbol" pitchFamily="18" charset="2"/>
              </a:rPr>
              <a:t></a:t>
            </a:r>
            <a:r>
              <a:rPr lang="en-US" altLang="zh-CN" dirty="0"/>
              <a:t> Y</a:t>
            </a:r>
            <a:r>
              <a:rPr lang="zh-CN" altLang="en-US" dirty="0"/>
              <a:t>）</a:t>
            </a:r>
            <a:r>
              <a:rPr lang="en-US" altLang="zh-CN" dirty="0"/>
              <a:t>, </a:t>
            </a:r>
            <a:r>
              <a:rPr lang="zh-CN" altLang="en-US" dirty="0"/>
              <a:t>使得</a:t>
            </a:r>
            <a:r>
              <a:rPr lang="en-US" altLang="zh-CN" u="sng" dirty="0">
                <a:solidFill>
                  <a:srgbClr val="C00000"/>
                </a:solidFill>
              </a:rPr>
              <a:t>X</a:t>
            </a:r>
            <a:r>
              <a:rPr lang="en-US" altLang="zh-CN" u="sng" dirty="0">
                <a:solidFill>
                  <a:srgbClr val="003300"/>
                </a:solidFill>
              </a:rPr>
              <a:t>→</a:t>
            </a:r>
            <a:r>
              <a:rPr lang="en-US" altLang="zh-CN" u="sng" dirty="0">
                <a:solidFill>
                  <a:srgbClr val="0000FF"/>
                </a:solidFill>
              </a:rPr>
              <a:t>Y</a:t>
            </a:r>
            <a:r>
              <a:rPr lang="zh-CN" altLang="en-US" u="sng" dirty="0">
                <a:solidFill>
                  <a:srgbClr val="003300"/>
                </a:solidFill>
              </a:rPr>
              <a:t>，</a:t>
            </a:r>
            <a:r>
              <a:rPr lang="en-US" altLang="zh-CN" u="sng" dirty="0">
                <a:solidFill>
                  <a:srgbClr val="0000FF"/>
                </a:solidFill>
              </a:rPr>
              <a:t>Y</a:t>
            </a:r>
            <a:r>
              <a:rPr lang="en-US" altLang="zh-CN" u="sng" dirty="0">
                <a:solidFill>
                  <a:srgbClr val="003300"/>
                </a:solidFill>
              </a:rPr>
              <a:t>→</a:t>
            </a:r>
            <a:r>
              <a:rPr lang="en-US" altLang="zh-CN" u="sng" dirty="0">
                <a:solidFill>
                  <a:srgbClr val="C00000"/>
                </a:solidFill>
              </a:rPr>
              <a:t>Z</a:t>
            </a:r>
            <a:r>
              <a:rPr lang="zh-CN" altLang="en-US" u="sng" dirty="0">
                <a:solidFill>
                  <a:srgbClr val="003300"/>
                </a:solidFill>
              </a:rPr>
              <a:t>成立，</a:t>
            </a:r>
            <a:r>
              <a:rPr lang="en-US" altLang="zh-CN" u="sng" dirty="0">
                <a:solidFill>
                  <a:srgbClr val="003300"/>
                </a:solidFill>
              </a:rPr>
              <a:t>Y → X</a:t>
            </a:r>
            <a:r>
              <a:rPr lang="zh-CN" altLang="en-US" dirty="0"/>
              <a:t>，则称</a:t>
            </a:r>
            <a:r>
              <a:rPr lang="en-US" altLang="zh-CN" dirty="0"/>
              <a:t>R&lt;U</a:t>
            </a:r>
            <a:r>
              <a:rPr lang="zh-CN" altLang="en-US" dirty="0"/>
              <a:t>，</a:t>
            </a:r>
            <a:r>
              <a:rPr lang="en-US" altLang="zh-CN" dirty="0"/>
              <a:t>F&gt; ∈ 3NF</a:t>
            </a:r>
            <a:r>
              <a:rPr lang="zh-CN" altLang="en-US" dirty="0"/>
              <a:t>。</a:t>
            </a:r>
          </a:p>
          <a:p>
            <a:pPr lvl="1"/>
            <a:r>
              <a:rPr kumimoji="0" lang="zh-CN" altLang="en-US" kern="0" dirty="0">
                <a:latin typeface="+mn-ea"/>
              </a:rPr>
              <a:t>可以证明：若</a:t>
            </a:r>
            <a:r>
              <a:rPr lang="en-US" altLang="zh-CN" dirty="0">
                <a:cs typeface="+mn-cs"/>
              </a:rPr>
              <a:t>R∈3NF</a:t>
            </a:r>
            <a:r>
              <a:rPr kumimoji="0" lang="zh-CN" altLang="en-US" kern="0" dirty="0">
                <a:latin typeface="+mn-ea"/>
              </a:rPr>
              <a:t>，则每一个</a:t>
            </a:r>
            <a:r>
              <a:rPr kumimoji="0" lang="zh-CN" altLang="en-US" b="1" kern="0" dirty="0">
                <a:solidFill>
                  <a:srgbClr val="3333FF"/>
                </a:solidFill>
                <a:latin typeface="+mn-ea"/>
              </a:rPr>
              <a:t>非主属性</a:t>
            </a:r>
            <a:r>
              <a:rPr kumimoji="0" lang="zh-CN" altLang="en-US" b="1" kern="0" dirty="0">
                <a:solidFill>
                  <a:srgbClr val="003300"/>
                </a:solidFill>
                <a:latin typeface="+mn-ea"/>
              </a:rPr>
              <a:t>既</a:t>
            </a:r>
            <a:r>
              <a:rPr kumimoji="0" lang="zh-CN" altLang="en-US" b="1" kern="0" dirty="0">
                <a:solidFill>
                  <a:srgbClr val="C00000"/>
                </a:solidFill>
                <a:latin typeface="+mn-ea"/>
              </a:rPr>
              <a:t>不传递依赖</a:t>
            </a:r>
            <a:r>
              <a:rPr kumimoji="0" lang="zh-CN" altLang="en-US" kern="0" dirty="0">
                <a:solidFill>
                  <a:srgbClr val="C00000"/>
                </a:solidFill>
                <a:latin typeface="+mn-ea"/>
              </a:rPr>
              <a:t>于</a:t>
            </a:r>
            <a:r>
              <a:rPr kumimoji="0" lang="zh-CN" altLang="en-US" b="1" kern="0" dirty="0">
                <a:solidFill>
                  <a:srgbClr val="C00000"/>
                </a:solidFill>
                <a:latin typeface="+mn-ea"/>
              </a:rPr>
              <a:t>码，</a:t>
            </a:r>
            <a:r>
              <a:rPr kumimoji="0" lang="zh-CN" altLang="en-US" b="1" kern="0" dirty="0">
                <a:solidFill>
                  <a:srgbClr val="003300"/>
                </a:solidFill>
                <a:latin typeface="+mn-ea"/>
              </a:rPr>
              <a:t>也</a:t>
            </a:r>
            <a:r>
              <a:rPr kumimoji="0" lang="zh-CN" altLang="en-US" kern="0" dirty="0">
                <a:solidFill>
                  <a:srgbClr val="C00000"/>
                </a:solidFill>
                <a:latin typeface="+mn-ea"/>
              </a:rPr>
              <a:t>不</a:t>
            </a:r>
            <a:r>
              <a:rPr kumimoji="0" lang="zh-CN" altLang="en-US" b="1" kern="0" dirty="0">
                <a:solidFill>
                  <a:srgbClr val="C00000"/>
                </a:solidFill>
                <a:latin typeface="+mn-ea"/>
              </a:rPr>
              <a:t>部分依赖</a:t>
            </a:r>
            <a:r>
              <a:rPr kumimoji="0" lang="zh-CN" altLang="en-US" kern="0" dirty="0">
                <a:solidFill>
                  <a:srgbClr val="C00000"/>
                </a:solidFill>
                <a:latin typeface="+mn-ea"/>
              </a:rPr>
              <a:t>于码</a:t>
            </a:r>
            <a:r>
              <a:rPr kumimoji="0" lang="zh-CN" altLang="en-US" kern="0" dirty="0">
                <a:latin typeface="+mn-ea"/>
              </a:rPr>
              <a:t>。也即：</a:t>
            </a:r>
            <a:r>
              <a:rPr lang="zh-CN" altLang="en-US" dirty="0">
                <a:cs typeface="+mn-cs"/>
              </a:rPr>
              <a:t>如果 </a:t>
            </a:r>
            <a:r>
              <a:rPr lang="en-US" altLang="zh-CN" dirty="0">
                <a:cs typeface="+mn-cs"/>
              </a:rPr>
              <a:t>R∈3NF</a:t>
            </a:r>
            <a:r>
              <a:rPr lang="zh-CN" altLang="en-US" dirty="0">
                <a:cs typeface="+mn-cs"/>
              </a:rPr>
              <a:t>，则必有</a:t>
            </a:r>
            <a:r>
              <a:rPr lang="en-US" altLang="zh-CN" dirty="0">
                <a:cs typeface="+mn-cs"/>
              </a:rPr>
              <a:t>R∈2NF</a:t>
            </a:r>
            <a:endParaRPr lang="zh-CN" altLang="en-US" dirty="0">
              <a:cs typeface="+mn-cs"/>
            </a:endParaRPr>
          </a:p>
        </p:txBody>
      </p:sp>
      <p:sp>
        <p:nvSpPr>
          <p:cNvPr id="9" name="Line 4"/>
          <p:cNvSpPr>
            <a:spLocks noChangeShapeType="1"/>
          </p:cNvSpPr>
          <p:nvPr/>
        </p:nvSpPr>
        <p:spPr bwMode="auto">
          <a:xfrm>
            <a:off x="7543800" y="2133600"/>
            <a:ext cx="76200" cy="381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dirty="0"/>
          </a:p>
        </p:txBody>
      </p:sp>
      <p:sp>
        <p:nvSpPr>
          <p:cNvPr id="10" name="Line 4"/>
          <p:cNvSpPr>
            <a:spLocks noChangeShapeType="1"/>
          </p:cNvSpPr>
          <p:nvPr/>
        </p:nvSpPr>
        <p:spPr bwMode="auto">
          <a:xfrm>
            <a:off x="5715000" y="2511287"/>
            <a:ext cx="76200" cy="381000"/>
          </a:xfrm>
          <a:prstGeom prst="line">
            <a:avLst/>
          </a:prstGeom>
          <a:noFill/>
          <a:ln w="9525">
            <a:solidFill>
              <a:srgbClr val="00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dirty="0"/>
          </a:p>
        </p:txBody>
      </p:sp>
      <p:sp>
        <p:nvSpPr>
          <p:cNvPr id="11" name="Rectangle 3"/>
          <p:cNvSpPr txBox="1">
            <a:spLocks noChangeArrowheads="1"/>
          </p:cNvSpPr>
          <p:nvPr/>
        </p:nvSpPr>
        <p:spPr bwMode="auto">
          <a:xfrm>
            <a:off x="609600" y="4800600"/>
            <a:ext cx="8345488"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fontAlgn="base">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r>
              <a:rPr kumimoji="0" lang="zh-CN" altLang="en-US" kern="0" dirty="0"/>
              <a:t>若</a:t>
            </a:r>
            <a:r>
              <a:rPr kumimoji="0" lang="en-US" altLang="zh-CN" kern="0" dirty="0"/>
              <a:t>R</a:t>
            </a:r>
            <a:r>
              <a:rPr kumimoji="0" lang="en-US" altLang="zh-CN" kern="0" dirty="0">
                <a:sym typeface="Symbol" pitchFamily="18" charset="2"/>
              </a:rPr>
              <a:t></a:t>
            </a:r>
            <a:r>
              <a:rPr kumimoji="0" lang="en-US" altLang="zh-CN" kern="0" dirty="0"/>
              <a:t> 1NF</a:t>
            </a:r>
            <a:r>
              <a:rPr kumimoji="0" lang="zh-CN" altLang="en-US" kern="0" dirty="0"/>
              <a:t>，对</a:t>
            </a:r>
            <a:r>
              <a:rPr kumimoji="0" lang="en-US" altLang="zh-CN" kern="0" dirty="0"/>
              <a:t>R</a:t>
            </a:r>
            <a:r>
              <a:rPr kumimoji="0" lang="zh-CN" altLang="en-US" kern="0" dirty="0"/>
              <a:t>中的每一个非平凡的函数依赖</a:t>
            </a:r>
            <a:r>
              <a:rPr kumimoji="0" lang="en-US" altLang="zh-CN" kern="0" dirty="0"/>
              <a:t>X</a:t>
            </a:r>
            <a:r>
              <a:rPr kumimoji="0" lang="en-US" altLang="zh-CN" kern="0" dirty="0">
                <a:latin typeface="宋体" pitchFamily="2" charset="-122"/>
              </a:rPr>
              <a:t>→</a:t>
            </a:r>
            <a:r>
              <a:rPr kumimoji="0" lang="en-US" altLang="zh-CN" kern="0" dirty="0"/>
              <a:t>Y</a:t>
            </a:r>
            <a:r>
              <a:rPr kumimoji="0" lang="zh-CN" altLang="en-US" kern="0" dirty="0"/>
              <a:t>，</a:t>
            </a:r>
            <a:r>
              <a:rPr kumimoji="0" lang="zh-CN" altLang="en-US" u="sng" kern="0" dirty="0"/>
              <a:t>要么</a:t>
            </a:r>
            <a:r>
              <a:rPr kumimoji="0" lang="en-US" altLang="zh-CN" u="sng" kern="0" dirty="0">
                <a:solidFill>
                  <a:schemeClr val="tx2"/>
                </a:solidFill>
              </a:rPr>
              <a:t>Y</a:t>
            </a:r>
            <a:r>
              <a:rPr kumimoji="0" lang="zh-CN" altLang="en-US" u="sng" kern="0" dirty="0">
                <a:solidFill>
                  <a:schemeClr val="tx2"/>
                </a:solidFill>
              </a:rPr>
              <a:t>是主属性</a:t>
            </a:r>
            <a:r>
              <a:rPr kumimoji="0" lang="zh-CN" altLang="en-US" u="sng" kern="0" dirty="0"/>
              <a:t>，要么</a:t>
            </a:r>
            <a:r>
              <a:rPr kumimoji="0" lang="en-US" altLang="zh-CN" b="1" u="sng" kern="0" dirty="0">
                <a:solidFill>
                  <a:schemeClr val="tx2"/>
                </a:solidFill>
              </a:rPr>
              <a:t>X</a:t>
            </a:r>
            <a:r>
              <a:rPr kumimoji="0" lang="zh-CN" altLang="en-US" b="1" u="sng" kern="0" dirty="0">
                <a:solidFill>
                  <a:schemeClr val="tx2"/>
                </a:solidFill>
              </a:rPr>
              <a:t>中含有码</a:t>
            </a:r>
            <a:r>
              <a:rPr kumimoji="0" lang="zh-CN" altLang="en-US" kern="0" dirty="0"/>
              <a:t>，则</a:t>
            </a:r>
            <a:r>
              <a:rPr kumimoji="0" lang="en-US" altLang="zh-CN" kern="0" dirty="0"/>
              <a:t>R</a:t>
            </a:r>
            <a:r>
              <a:rPr kumimoji="0" lang="en-US" altLang="zh-CN" kern="0" dirty="0">
                <a:sym typeface="Symbol" pitchFamily="18" charset="2"/>
              </a:rPr>
              <a:t></a:t>
            </a:r>
            <a:r>
              <a:rPr kumimoji="0" lang="en-US" altLang="zh-CN" kern="0" dirty="0"/>
              <a:t> 3NF</a:t>
            </a:r>
            <a:r>
              <a:rPr kumimoji="0" lang="zh-CN" altLang="en-US" kern="0" dirty="0"/>
              <a:t>。</a:t>
            </a:r>
          </a:p>
        </p:txBody>
      </p:sp>
      <p:sp>
        <p:nvSpPr>
          <p:cNvPr id="3" name="页脚占位符 2">
            <a:extLst>
              <a:ext uri="{FF2B5EF4-FFF2-40B4-BE49-F238E27FC236}">
                <a16:creationId xmlns:a16="http://schemas.microsoft.com/office/drawing/2014/main" id="{6DA6CE55-18C4-86CE-DA26-76B0E82AAA76}"/>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985D1657-92A9-4907-B645-AD5F63045BBB}"/>
              </a:ext>
            </a:extLst>
          </p:cNvPr>
          <p:cNvSpPr>
            <a:spLocks noGrp="1"/>
          </p:cNvSpPr>
          <p:nvPr>
            <p:ph type="sldNum" sz="quarter" idx="12"/>
          </p:nvPr>
        </p:nvSpPr>
        <p:spPr/>
        <p:txBody>
          <a:bodyPr/>
          <a:lstStyle/>
          <a:p>
            <a:fld id="{A2D74603-B40B-4D66-8F6E-41C870D48932}" type="slidenum">
              <a:rPr lang="en-US" altLang="zh-CN" smtClean="0"/>
              <a:pPr/>
              <a:t>46</a:t>
            </a:fld>
            <a:r>
              <a:rPr lang="en-US" altLang="zh-CN"/>
              <a:t>/162</a:t>
            </a:r>
            <a:endParaRPr lang="en-US" altLang="zh-CN" dirty="0"/>
          </a:p>
        </p:txBody>
      </p:sp>
    </p:spTree>
    <p:extLst>
      <p:ext uri="{BB962C8B-B14F-4D97-AF65-F5344CB8AC3E}">
        <p14:creationId xmlns:p14="http://schemas.microsoft.com/office/powerpoint/2010/main" val="30691556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BFB53B0D-ADA1-4368-A885-6BDADF6470B2}" type="datetime1">
              <a:rPr lang="zh-CN" altLang="en-US" smtClean="0"/>
              <a:t>2025/11/6</a:t>
            </a:fld>
            <a:endParaRPr lang="en-US" altLang="zh-CN"/>
          </a:p>
        </p:txBody>
      </p:sp>
      <p:sp>
        <p:nvSpPr>
          <p:cNvPr id="280578" name="Rectangle 2"/>
          <p:cNvSpPr>
            <a:spLocks noGrp="1" noChangeArrowheads="1"/>
          </p:cNvSpPr>
          <p:nvPr>
            <p:ph type="title"/>
          </p:nvPr>
        </p:nvSpPr>
        <p:spPr/>
        <p:txBody>
          <a:bodyPr/>
          <a:lstStyle/>
          <a:p>
            <a:r>
              <a:rPr lang="en-US" altLang="zh-CN" dirty="0"/>
              <a:t>8.2.5 3NF</a:t>
            </a:r>
            <a:endParaRPr lang="zh-CN" altLang="en-US" dirty="0"/>
          </a:p>
        </p:txBody>
      </p:sp>
      <p:sp>
        <p:nvSpPr>
          <p:cNvPr id="280579" name="Rectangle 3"/>
          <p:cNvSpPr>
            <a:spLocks noGrp="1" noChangeArrowheads="1"/>
          </p:cNvSpPr>
          <p:nvPr>
            <p:ph type="body" idx="1"/>
          </p:nvPr>
        </p:nvSpPr>
        <p:spPr/>
        <p:txBody>
          <a:bodyPr/>
          <a:lstStyle/>
          <a:p>
            <a:r>
              <a:rPr lang="en-US" altLang="zh-CN" dirty="0"/>
              <a:t>3NF</a:t>
            </a:r>
            <a:r>
              <a:rPr lang="zh-CN" altLang="en-US" dirty="0"/>
              <a:t>与</a:t>
            </a:r>
            <a:r>
              <a:rPr lang="en-US" altLang="zh-CN" dirty="0"/>
              <a:t>2NF</a:t>
            </a:r>
            <a:r>
              <a:rPr lang="zh-CN" altLang="en-US" dirty="0"/>
              <a:t>相比，条件更强。</a:t>
            </a:r>
          </a:p>
          <a:p>
            <a:pPr lvl="1"/>
            <a:r>
              <a:rPr lang="zh-CN" altLang="en-US" dirty="0"/>
              <a:t>因为</a:t>
            </a:r>
            <a:r>
              <a:rPr lang="en-US" altLang="zh-CN" b="1" dirty="0">
                <a:solidFill>
                  <a:schemeClr val="tx2"/>
                </a:solidFill>
              </a:rPr>
              <a:t>X</a:t>
            </a:r>
            <a:r>
              <a:rPr lang="zh-CN" altLang="en-US" b="1" dirty="0">
                <a:solidFill>
                  <a:schemeClr val="tx2"/>
                </a:solidFill>
              </a:rPr>
              <a:t>中含有码</a:t>
            </a:r>
            <a:r>
              <a:rPr lang="zh-CN" altLang="en-US" dirty="0"/>
              <a:t>，则</a:t>
            </a:r>
            <a:r>
              <a:rPr lang="en-US" altLang="zh-CN" dirty="0">
                <a:solidFill>
                  <a:srgbClr val="FF0000"/>
                </a:solidFill>
              </a:rPr>
              <a:t>X</a:t>
            </a:r>
            <a:r>
              <a:rPr lang="zh-CN" altLang="en-US" dirty="0">
                <a:solidFill>
                  <a:srgbClr val="FF0000"/>
                </a:solidFill>
              </a:rPr>
              <a:t>不会是任何码的真子集</a:t>
            </a:r>
            <a:r>
              <a:rPr lang="zh-CN" altLang="en-US" dirty="0"/>
              <a:t>；</a:t>
            </a:r>
          </a:p>
          <a:p>
            <a:pPr lvl="1"/>
            <a:r>
              <a:rPr lang="zh-CN" altLang="en-US" dirty="0"/>
              <a:t>而</a:t>
            </a:r>
            <a:r>
              <a:rPr lang="en-US" altLang="zh-CN" dirty="0"/>
              <a:t>2NF</a:t>
            </a:r>
            <a:r>
              <a:rPr lang="zh-CN" altLang="en-US" dirty="0"/>
              <a:t>定义中，</a:t>
            </a:r>
            <a:r>
              <a:rPr lang="en-US" altLang="zh-CN" dirty="0"/>
              <a:t>X</a:t>
            </a:r>
            <a:r>
              <a:rPr lang="zh-CN" altLang="en-US" dirty="0"/>
              <a:t>不是任何码的真子集，</a:t>
            </a:r>
            <a:r>
              <a:rPr lang="zh-CN" altLang="en-US" b="1" dirty="0">
                <a:effectLst>
                  <a:outerShdw blurRad="38100" dist="38100" dir="2700000" algn="tl">
                    <a:srgbClr val="000000">
                      <a:alpha val="43137"/>
                    </a:srgbClr>
                  </a:outerShdw>
                </a:effectLst>
              </a:rPr>
              <a:t>还可能</a:t>
            </a:r>
            <a:r>
              <a:rPr lang="zh-CN" altLang="en-US" dirty="0"/>
              <a:t>是</a:t>
            </a:r>
            <a:r>
              <a:rPr lang="zh-CN" altLang="en-US" b="1" dirty="0">
                <a:solidFill>
                  <a:schemeClr val="tx2"/>
                </a:solidFill>
              </a:rPr>
              <a:t>非主属性组</a:t>
            </a:r>
            <a:r>
              <a:rPr lang="zh-CN" altLang="en-US" dirty="0"/>
              <a:t>。</a:t>
            </a:r>
          </a:p>
          <a:p>
            <a:pPr lvl="1"/>
            <a:endParaRPr lang="zh-CN" altLang="en-US" dirty="0"/>
          </a:p>
          <a:p>
            <a:r>
              <a:rPr lang="zh-CN" altLang="en-US" dirty="0"/>
              <a:t>即</a:t>
            </a:r>
            <a:r>
              <a:rPr lang="en-US" altLang="zh-CN" dirty="0"/>
              <a:t>3NF</a:t>
            </a:r>
            <a:r>
              <a:rPr lang="zh-CN" altLang="en-US" dirty="0"/>
              <a:t>在</a:t>
            </a:r>
            <a:r>
              <a:rPr lang="en-US" altLang="zh-CN" dirty="0"/>
              <a:t>2NF</a:t>
            </a:r>
            <a:r>
              <a:rPr lang="zh-CN" altLang="en-US" dirty="0"/>
              <a:t>的基础上</a:t>
            </a:r>
            <a:r>
              <a:rPr lang="zh-CN" altLang="en-US" dirty="0">
                <a:solidFill>
                  <a:srgbClr val="0000FF"/>
                </a:solidFill>
              </a:rPr>
              <a:t>消除了</a:t>
            </a:r>
            <a:r>
              <a:rPr lang="zh-CN" altLang="en-US" dirty="0">
                <a:solidFill>
                  <a:srgbClr val="FF0000"/>
                </a:solidFill>
              </a:rPr>
              <a:t>非主属性</a:t>
            </a:r>
            <a:r>
              <a:rPr lang="zh-CN" altLang="en-US" dirty="0">
                <a:solidFill>
                  <a:schemeClr val="bg2"/>
                </a:solidFill>
              </a:rPr>
              <a:t>对</a:t>
            </a:r>
            <a:r>
              <a:rPr lang="zh-CN" altLang="en-US" dirty="0">
                <a:solidFill>
                  <a:srgbClr val="FF0000"/>
                </a:solidFill>
              </a:rPr>
              <a:t>码</a:t>
            </a:r>
            <a:r>
              <a:rPr lang="zh-CN" altLang="en-US" dirty="0">
                <a:solidFill>
                  <a:schemeClr val="bg2"/>
                </a:solidFill>
              </a:rPr>
              <a:t>的</a:t>
            </a:r>
            <a:r>
              <a:rPr lang="zh-CN" altLang="en-US" dirty="0">
                <a:solidFill>
                  <a:srgbClr val="FF0000"/>
                </a:solidFill>
              </a:rPr>
              <a:t>传递函数依赖</a:t>
            </a:r>
            <a:r>
              <a:rPr lang="zh-CN" altLang="en-US" dirty="0"/>
              <a:t>。</a:t>
            </a:r>
          </a:p>
          <a:p>
            <a:endParaRPr lang="zh-CN" altLang="en-US" dirty="0"/>
          </a:p>
        </p:txBody>
      </p:sp>
      <p:sp>
        <p:nvSpPr>
          <p:cNvPr id="3" name="页脚占位符 2">
            <a:extLst>
              <a:ext uri="{FF2B5EF4-FFF2-40B4-BE49-F238E27FC236}">
                <a16:creationId xmlns:a16="http://schemas.microsoft.com/office/drawing/2014/main" id="{C9CDB1C0-D970-775A-3577-3B2BED2B8F06}"/>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1CD7C862-E11B-21E1-5A36-3661AB6F90B0}"/>
              </a:ext>
            </a:extLst>
          </p:cNvPr>
          <p:cNvSpPr>
            <a:spLocks noGrp="1"/>
          </p:cNvSpPr>
          <p:nvPr>
            <p:ph type="sldNum" sz="quarter" idx="12"/>
          </p:nvPr>
        </p:nvSpPr>
        <p:spPr/>
        <p:txBody>
          <a:bodyPr/>
          <a:lstStyle/>
          <a:p>
            <a:fld id="{A2D74603-B40B-4D66-8F6E-41C870D48932}" type="slidenum">
              <a:rPr lang="en-US" altLang="zh-CN" smtClean="0"/>
              <a:pPr/>
              <a:t>47</a:t>
            </a:fld>
            <a:r>
              <a:rPr lang="en-US" altLang="zh-CN"/>
              <a:t>/162</a:t>
            </a:r>
            <a:endParaRPr lang="en-US" altLang="zh-CN" dirty="0"/>
          </a:p>
        </p:txBody>
      </p:sp>
    </p:spTree>
    <p:extLst>
      <p:ext uri="{BB962C8B-B14F-4D97-AF65-F5344CB8AC3E}">
        <p14:creationId xmlns:p14="http://schemas.microsoft.com/office/powerpoint/2010/main" val="3725443469"/>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half" idx="10"/>
          </p:nvPr>
        </p:nvSpPr>
        <p:spPr/>
        <p:txBody>
          <a:bodyPr/>
          <a:lstStyle/>
          <a:p>
            <a:fld id="{2B9ED0B0-EE02-49AF-AE86-40FC2B2B04CB}" type="datetime1">
              <a:rPr lang="zh-CN" altLang="en-US" smtClean="0"/>
              <a:t>2025/11/6</a:t>
            </a:fld>
            <a:endParaRPr lang="en-US" altLang="zh-CN"/>
          </a:p>
        </p:txBody>
      </p:sp>
      <p:sp>
        <p:nvSpPr>
          <p:cNvPr id="281602" name="Rectangle 2"/>
          <p:cNvSpPr>
            <a:spLocks noGrp="1" noChangeArrowheads="1"/>
          </p:cNvSpPr>
          <p:nvPr>
            <p:ph type="title"/>
          </p:nvPr>
        </p:nvSpPr>
        <p:spPr/>
        <p:txBody>
          <a:bodyPr/>
          <a:lstStyle/>
          <a:p>
            <a:r>
              <a:rPr lang="en-US" altLang="zh-CN" dirty="0"/>
              <a:t>8.2.5 3NF</a:t>
            </a:r>
            <a:endParaRPr lang="zh-CN" altLang="en-US" dirty="0"/>
          </a:p>
        </p:txBody>
      </p:sp>
      <p:sp>
        <p:nvSpPr>
          <p:cNvPr id="281603" name="Rectangle 3"/>
          <p:cNvSpPr>
            <a:spLocks noGrp="1" noChangeArrowheads="1"/>
          </p:cNvSpPr>
          <p:nvPr>
            <p:ph type="body" idx="1"/>
          </p:nvPr>
        </p:nvSpPr>
        <p:spPr/>
        <p:txBody>
          <a:bodyPr/>
          <a:lstStyle/>
          <a:p>
            <a:r>
              <a:rPr lang="zh-CN" altLang="en-US" dirty="0"/>
              <a:t>判断</a:t>
            </a:r>
            <a:r>
              <a:rPr lang="en-US" altLang="zh-CN" dirty="0"/>
              <a:t>3NF</a:t>
            </a:r>
            <a:r>
              <a:rPr lang="zh-CN" altLang="en-US" dirty="0"/>
              <a:t>例子</a:t>
            </a:r>
            <a:r>
              <a:rPr lang="en-US" altLang="zh-CN" dirty="0"/>
              <a:t>S-L(</a:t>
            </a:r>
            <a:r>
              <a:rPr lang="en-US" altLang="zh-CN" dirty="0" err="1"/>
              <a:t>Sno</a:t>
            </a:r>
            <a:r>
              <a:rPr lang="en-US" altLang="zh-CN" dirty="0"/>
              <a:t>, </a:t>
            </a:r>
            <a:r>
              <a:rPr lang="en-US" altLang="zh-CN" dirty="0" err="1"/>
              <a:t>Sdept</a:t>
            </a:r>
            <a:r>
              <a:rPr lang="en-US" altLang="zh-CN" dirty="0"/>
              <a:t>, </a:t>
            </a:r>
            <a:r>
              <a:rPr lang="en-US" altLang="zh-CN" dirty="0" err="1"/>
              <a:t>Sloc</a:t>
            </a:r>
            <a:r>
              <a:rPr lang="en-US" altLang="zh-CN" dirty="0"/>
              <a:t>)</a:t>
            </a:r>
          </a:p>
          <a:p>
            <a:pPr lvl="1"/>
            <a:r>
              <a:rPr lang="zh-CN" altLang="en-US" dirty="0">
                <a:solidFill>
                  <a:srgbClr val="C00000"/>
                </a:solidFill>
              </a:rPr>
              <a:t>唯一候选码</a:t>
            </a:r>
            <a:r>
              <a:rPr lang="en-US" altLang="zh-CN" dirty="0" err="1">
                <a:solidFill>
                  <a:srgbClr val="C00000"/>
                </a:solidFill>
              </a:rPr>
              <a:t>Sno</a:t>
            </a:r>
            <a:endParaRPr lang="en-US" altLang="zh-CN" dirty="0">
              <a:solidFill>
                <a:srgbClr val="C00000"/>
              </a:solidFill>
            </a:endParaRPr>
          </a:p>
          <a:p>
            <a:pPr lvl="1"/>
            <a:r>
              <a:rPr lang="zh-CN" altLang="en-US" dirty="0"/>
              <a:t>函数依赖</a:t>
            </a:r>
            <a:r>
              <a:rPr lang="en-US" altLang="zh-CN" dirty="0" err="1"/>
              <a:t>Sno</a:t>
            </a:r>
            <a:r>
              <a:rPr lang="en-US" altLang="zh-CN" dirty="0"/>
              <a:t> </a:t>
            </a:r>
            <a:r>
              <a:rPr lang="en-US" altLang="zh-CN" dirty="0">
                <a:latin typeface="宋体" pitchFamily="2" charset="-122"/>
              </a:rPr>
              <a:t>→</a:t>
            </a:r>
            <a:r>
              <a:rPr lang="en-US" altLang="zh-CN" dirty="0"/>
              <a:t> </a:t>
            </a:r>
            <a:r>
              <a:rPr lang="en-US" altLang="zh-CN" dirty="0" err="1"/>
              <a:t>Sdept</a:t>
            </a:r>
            <a:r>
              <a:rPr lang="en-US" altLang="zh-CN" dirty="0"/>
              <a:t>, </a:t>
            </a:r>
            <a:r>
              <a:rPr lang="en-US" altLang="zh-CN" dirty="0" err="1"/>
              <a:t>Sdept</a:t>
            </a:r>
            <a:r>
              <a:rPr lang="en-US" altLang="zh-CN" dirty="0"/>
              <a:t> </a:t>
            </a:r>
            <a:r>
              <a:rPr lang="en-US" altLang="zh-CN" dirty="0">
                <a:latin typeface="宋体" pitchFamily="2" charset="-122"/>
              </a:rPr>
              <a:t>→</a:t>
            </a:r>
            <a:r>
              <a:rPr lang="en-US" altLang="zh-CN" dirty="0"/>
              <a:t> </a:t>
            </a:r>
            <a:r>
              <a:rPr lang="en-US" altLang="zh-CN" dirty="0" err="1"/>
              <a:t>Sloc</a:t>
            </a:r>
            <a:endParaRPr lang="en-US" altLang="zh-CN" dirty="0"/>
          </a:p>
          <a:p>
            <a:pPr lvl="1"/>
            <a:endParaRPr lang="en-US" altLang="zh-CN" dirty="0"/>
          </a:p>
          <a:p>
            <a:pPr lvl="1"/>
            <a:endParaRPr lang="en-US" altLang="zh-CN" dirty="0"/>
          </a:p>
          <a:p>
            <a:pPr lvl="1">
              <a:spcBef>
                <a:spcPct val="50000"/>
              </a:spcBef>
            </a:pPr>
            <a:r>
              <a:rPr lang="zh-CN" altLang="en-US" u="sng" dirty="0"/>
              <a:t>没有非主属性对码的</a:t>
            </a:r>
            <a:r>
              <a:rPr lang="zh-CN" altLang="en-US" u="sng" dirty="0">
                <a:solidFill>
                  <a:schemeClr val="tx2"/>
                </a:solidFill>
              </a:rPr>
              <a:t>部分函数依赖</a:t>
            </a:r>
            <a:r>
              <a:rPr lang="zh-CN" altLang="en-US" u="sng" dirty="0"/>
              <a:t>，</a:t>
            </a:r>
            <a:r>
              <a:rPr lang="zh-CN" altLang="en-US" b="1" u="sng" dirty="0">
                <a:solidFill>
                  <a:srgbClr val="0000FF"/>
                </a:solidFill>
              </a:rPr>
              <a:t>满足</a:t>
            </a:r>
            <a:r>
              <a:rPr lang="en-US" altLang="zh-CN" b="1" u="sng" dirty="0">
                <a:solidFill>
                  <a:srgbClr val="0000FF"/>
                </a:solidFill>
              </a:rPr>
              <a:t>2NF</a:t>
            </a:r>
            <a:r>
              <a:rPr lang="zh-CN" altLang="en-US" dirty="0"/>
              <a:t>。</a:t>
            </a:r>
          </a:p>
          <a:p>
            <a:pPr lvl="1"/>
            <a:r>
              <a:rPr lang="zh-CN" altLang="en-US" b="1" dirty="0">
                <a:effectLst>
                  <a:outerShdw blurRad="38100" dist="38100" dir="2700000" algn="tl">
                    <a:srgbClr val="000000">
                      <a:alpha val="43137"/>
                    </a:srgbClr>
                  </a:outerShdw>
                </a:effectLst>
              </a:rPr>
              <a:t>但，</a:t>
            </a:r>
            <a:r>
              <a:rPr lang="zh-CN" altLang="en-US" dirty="0"/>
              <a:t>存在</a:t>
            </a:r>
            <a:r>
              <a:rPr lang="zh-CN" altLang="en-US" dirty="0">
                <a:solidFill>
                  <a:srgbClr val="FF0000"/>
                </a:solidFill>
              </a:rPr>
              <a:t>非主属性</a:t>
            </a:r>
            <a:r>
              <a:rPr lang="zh-CN" altLang="en-US" dirty="0"/>
              <a:t>对</a:t>
            </a:r>
            <a:r>
              <a:rPr lang="zh-CN" altLang="en-US" dirty="0">
                <a:solidFill>
                  <a:srgbClr val="FF0000"/>
                </a:solidFill>
              </a:rPr>
              <a:t>非主属性</a:t>
            </a:r>
            <a:r>
              <a:rPr lang="zh-CN" altLang="en-US" dirty="0"/>
              <a:t>的</a:t>
            </a:r>
            <a:r>
              <a:rPr lang="zh-CN" altLang="en-US" dirty="0">
                <a:solidFill>
                  <a:srgbClr val="FF0000"/>
                </a:solidFill>
              </a:rPr>
              <a:t>函数依赖</a:t>
            </a:r>
            <a:r>
              <a:rPr lang="zh-CN" altLang="en-US" dirty="0"/>
              <a:t>，进而导致存在</a:t>
            </a:r>
            <a:r>
              <a:rPr lang="zh-CN" altLang="en-US" dirty="0">
                <a:solidFill>
                  <a:srgbClr val="C00000"/>
                </a:solidFill>
              </a:rPr>
              <a:t>非主属性</a:t>
            </a:r>
            <a:r>
              <a:rPr lang="zh-CN" altLang="en-US" dirty="0"/>
              <a:t>对</a:t>
            </a:r>
            <a:r>
              <a:rPr lang="zh-CN" altLang="en-US" dirty="0">
                <a:solidFill>
                  <a:srgbClr val="C00000"/>
                </a:solidFill>
              </a:rPr>
              <a:t>码</a:t>
            </a:r>
            <a:r>
              <a:rPr lang="zh-CN" altLang="en-US" dirty="0"/>
              <a:t>的</a:t>
            </a:r>
            <a:r>
              <a:rPr lang="zh-CN" altLang="en-US" dirty="0">
                <a:solidFill>
                  <a:srgbClr val="C00000"/>
                </a:solidFill>
              </a:rPr>
              <a:t>传递函数依赖</a:t>
            </a:r>
            <a:r>
              <a:rPr lang="zh-CN" altLang="en-US" dirty="0"/>
              <a:t>，</a:t>
            </a:r>
            <a:r>
              <a:rPr lang="zh-CN" altLang="en-US" b="1" u="sng" dirty="0">
                <a:solidFill>
                  <a:schemeClr val="tx2"/>
                </a:solidFill>
              </a:rPr>
              <a:t>不满足</a:t>
            </a:r>
            <a:r>
              <a:rPr lang="en-US" altLang="zh-CN" b="1" u="sng" dirty="0">
                <a:solidFill>
                  <a:schemeClr val="tx2"/>
                </a:solidFill>
              </a:rPr>
              <a:t>3NF</a:t>
            </a:r>
            <a:r>
              <a:rPr lang="zh-CN" altLang="en-US" dirty="0"/>
              <a:t>。</a:t>
            </a:r>
          </a:p>
        </p:txBody>
      </p:sp>
      <p:sp>
        <p:nvSpPr>
          <p:cNvPr id="281604" name="AutoShape 4"/>
          <p:cNvSpPr>
            <a:spLocks noChangeArrowheads="1"/>
          </p:cNvSpPr>
          <p:nvPr/>
        </p:nvSpPr>
        <p:spPr bwMode="auto">
          <a:xfrm>
            <a:off x="6011863" y="3505200"/>
            <a:ext cx="1800225" cy="503238"/>
          </a:xfrm>
          <a:prstGeom prst="wedgeRectCallout">
            <a:avLst>
              <a:gd name="adj1" fmla="val 2080"/>
              <a:gd name="adj2" fmla="val -1591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sz="2800"/>
              <a:t>非主属性</a:t>
            </a:r>
          </a:p>
        </p:txBody>
      </p:sp>
      <p:sp>
        <p:nvSpPr>
          <p:cNvPr id="281605" name="AutoShape 5"/>
          <p:cNvSpPr>
            <a:spLocks noChangeArrowheads="1"/>
          </p:cNvSpPr>
          <p:nvPr/>
        </p:nvSpPr>
        <p:spPr bwMode="auto">
          <a:xfrm>
            <a:off x="3048000" y="3505200"/>
            <a:ext cx="1800225" cy="503238"/>
          </a:xfrm>
          <a:prstGeom prst="wedgeRectCallout">
            <a:avLst>
              <a:gd name="adj1" fmla="val 44340"/>
              <a:gd name="adj2" fmla="val -16127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sz="2800"/>
              <a:t>非主属性</a:t>
            </a:r>
          </a:p>
        </p:txBody>
      </p:sp>
      <p:sp>
        <p:nvSpPr>
          <p:cNvPr id="3" name="页脚占位符 2">
            <a:extLst>
              <a:ext uri="{FF2B5EF4-FFF2-40B4-BE49-F238E27FC236}">
                <a16:creationId xmlns:a16="http://schemas.microsoft.com/office/drawing/2014/main" id="{9BF965F9-8EDF-8B02-0629-BB7179712FFB}"/>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FB17D529-1CB2-AF71-FD5E-0E1B5827D8ED}"/>
              </a:ext>
            </a:extLst>
          </p:cNvPr>
          <p:cNvSpPr>
            <a:spLocks noGrp="1"/>
          </p:cNvSpPr>
          <p:nvPr>
            <p:ph type="sldNum" sz="quarter" idx="12"/>
          </p:nvPr>
        </p:nvSpPr>
        <p:spPr/>
        <p:txBody>
          <a:bodyPr/>
          <a:lstStyle/>
          <a:p>
            <a:fld id="{A2D74603-B40B-4D66-8F6E-41C870D48932}" type="slidenum">
              <a:rPr lang="en-US" altLang="zh-CN" smtClean="0"/>
              <a:pPr/>
              <a:t>48</a:t>
            </a:fld>
            <a:r>
              <a:rPr lang="en-US" altLang="zh-CN"/>
              <a:t>/162</a:t>
            </a:r>
            <a:endParaRPr lang="en-US" altLang="zh-CN" dirty="0"/>
          </a:p>
        </p:txBody>
      </p:sp>
    </p:spTree>
    <p:extLst>
      <p:ext uri="{BB962C8B-B14F-4D97-AF65-F5344CB8AC3E}">
        <p14:creationId xmlns:p14="http://schemas.microsoft.com/office/powerpoint/2010/main" val="3792111018"/>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日期占位符 4"/>
          <p:cNvSpPr>
            <a:spLocks noGrp="1"/>
          </p:cNvSpPr>
          <p:nvPr>
            <p:ph type="dt" sz="half" idx="10"/>
          </p:nvPr>
        </p:nvSpPr>
        <p:spPr/>
        <p:txBody>
          <a:bodyPr/>
          <a:lstStyle/>
          <a:p>
            <a:fld id="{770747C2-4651-492E-9990-5CD440A53392}" type="datetime1">
              <a:rPr lang="zh-CN" altLang="en-US" smtClean="0"/>
              <a:t>2025/11/6</a:t>
            </a:fld>
            <a:endParaRPr lang="en-US" altLang="zh-CN"/>
          </a:p>
        </p:txBody>
      </p:sp>
      <p:sp>
        <p:nvSpPr>
          <p:cNvPr id="282650" name="Rectangle 26"/>
          <p:cNvSpPr>
            <a:spLocks noGrp="1" noChangeArrowheads="1"/>
          </p:cNvSpPr>
          <p:nvPr>
            <p:ph type="title"/>
          </p:nvPr>
        </p:nvSpPr>
        <p:spPr/>
        <p:txBody>
          <a:bodyPr/>
          <a:lstStyle/>
          <a:p>
            <a:r>
              <a:rPr lang="en-US" altLang="zh-CN" dirty="0"/>
              <a:t>8.2.5 3NF</a:t>
            </a:r>
            <a:endParaRPr lang="zh-CN" altLang="en-US" dirty="0"/>
          </a:p>
        </p:txBody>
      </p:sp>
      <p:sp>
        <p:nvSpPr>
          <p:cNvPr id="282627" name="Rectangle 3"/>
          <p:cNvSpPr>
            <a:spLocks noGrp="1" noChangeArrowheads="1"/>
          </p:cNvSpPr>
          <p:nvPr>
            <p:ph type="body" sz="half" idx="1"/>
          </p:nvPr>
        </p:nvSpPr>
        <p:spPr>
          <a:xfrm>
            <a:off x="609600" y="1447800"/>
            <a:ext cx="8001000" cy="4684713"/>
          </a:xfrm>
        </p:spPr>
        <p:txBody>
          <a:bodyPr/>
          <a:lstStyle/>
          <a:p>
            <a:r>
              <a:rPr lang="zh-CN" altLang="en-US" sz="2800" dirty="0"/>
              <a:t>满足</a:t>
            </a:r>
            <a:r>
              <a:rPr lang="en-US" altLang="zh-CN" sz="2800" dirty="0"/>
              <a:t>2NF</a:t>
            </a:r>
            <a:r>
              <a:rPr lang="zh-CN" altLang="en-US" sz="2800" dirty="0"/>
              <a:t>，不满足</a:t>
            </a:r>
            <a:r>
              <a:rPr lang="en-US" altLang="zh-CN" sz="2800" dirty="0"/>
              <a:t>3NF</a:t>
            </a:r>
            <a:r>
              <a:rPr lang="zh-CN" altLang="en-US" sz="2800" dirty="0"/>
              <a:t>，仍有</a:t>
            </a:r>
            <a:r>
              <a:rPr lang="zh-CN" altLang="en-US" sz="2800" dirty="0">
                <a:solidFill>
                  <a:srgbClr val="C00000"/>
                </a:solidFill>
              </a:rPr>
              <a:t>过度冗余</a:t>
            </a:r>
            <a:r>
              <a:rPr lang="zh-CN" altLang="en-US" sz="2800" dirty="0"/>
              <a:t>及其带来的</a:t>
            </a:r>
            <a:r>
              <a:rPr lang="en-US" altLang="zh-CN" sz="2800" dirty="0"/>
              <a:t>3</a:t>
            </a:r>
            <a:r>
              <a:rPr lang="zh-CN" altLang="en-US" sz="2800" dirty="0"/>
              <a:t>类异常。</a:t>
            </a:r>
          </a:p>
        </p:txBody>
      </p:sp>
      <p:graphicFrame>
        <p:nvGraphicFramePr>
          <p:cNvPr id="282628" name="Group 4"/>
          <p:cNvGraphicFramePr>
            <a:graphicFrameLocks noGrp="1"/>
          </p:cNvGraphicFramePr>
          <p:nvPr>
            <p:ph sz="half" idx="2"/>
          </p:nvPr>
        </p:nvGraphicFramePr>
        <p:xfrm>
          <a:off x="1295400" y="2743200"/>
          <a:ext cx="6821488" cy="3236913"/>
        </p:xfrm>
        <a:graphic>
          <a:graphicData uri="http://schemas.openxmlformats.org/drawingml/2006/table">
            <a:tbl>
              <a:tblPr/>
              <a:tblGrid>
                <a:gridCol w="2273300">
                  <a:extLst>
                    <a:ext uri="{9D8B030D-6E8A-4147-A177-3AD203B41FA5}">
                      <a16:colId xmlns:a16="http://schemas.microsoft.com/office/drawing/2014/main" val="20000"/>
                    </a:ext>
                  </a:extLst>
                </a:gridCol>
                <a:gridCol w="2274888">
                  <a:extLst>
                    <a:ext uri="{9D8B030D-6E8A-4147-A177-3AD203B41FA5}">
                      <a16:colId xmlns:a16="http://schemas.microsoft.com/office/drawing/2014/main" val="20001"/>
                    </a:ext>
                  </a:extLst>
                </a:gridCol>
                <a:gridCol w="2273300">
                  <a:extLst>
                    <a:ext uri="{9D8B030D-6E8A-4147-A177-3AD203B41FA5}">
                      <a16:colId xmlns:a16="http://schemas.microsoft.com/office/drawing/2014/main" val="20002"/>
                    </a:ext>
                  </a:extLst>
                </a:gridCol>
              </a:tblGrid>
              <a:tr h="809625">
                <a:tc>
                  <a:txBody>
                    <a:bodyPr/>
                    <a:lstStyle>
                      <a:lvl1pPr algn="l">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lgn="l">
                        <a:spcBef>
                          <a:spcPct val="20000"/>
                        </a:spcBef>
                        <a:buClr>
                          <a:schemeClr val="hlink"/>
                        </a:buClr>
                        <a:buSzPct val="55000"/>
                        <a:buFont typeface="Wingdings" pitchFamily="2" charset="2"/>
                        <a:defRPr sz="2400">
                          <a:solidFill>
                            <a:schemeClr val="tx1"/>
                          </a:solidFill>
                          <a:latin typeface="Tahoma" pitchFamily="34" charset="0"/>
                          <a:ea typeface="宋体" pitchFamily="2" charset="-122"/>
                        </a:defRPr>
                      </a:lvl2pPr>
                      <a:lvl3pPr algn="l">
                        <a:spcBef>
                          <a:spcPct val="20000"/>
                        </a:spcBef>
                        <a:buClr>
                          <a:schemeClr val="folHlink"/>
                        </a:buClr>
                        <a:buSzPct val="50000"/>
                        <a:buFont typeface="Wingdings" pitchFamily="2" charset="2"/>
                        <a:defRPr sz="2000">
                          <a:solidFill>
                            <a:schemeClr val="tx1"/>
                          </a:solidFill>
                          <a:latin typeface="Tahoma" pitchFamily="34" charset="0"/>
                          <a:ea typeface="宋体" pitchFamily="2" charset="-122"/>
                        </a:defRPr>
                      </a:lvl3pPr>
                      <a:lvl4pPr algn="l">
                        <a:spcBef>
                          <a:spcPct val="20000"/>
                        </a:spcBef>
                        <a:buClr>
                          <a:schemeClr val="accent2"/>
                        </a:buClr>
                        <a:buSzPct val="55000"/>
                        <a:buFont typeface="Wingdings" pitchFamily="2" charset="2"/>
                        <a:defRPr>
                          <a:solidFill>
                            <a:schemeClr val="tx1"/>
                          </a:solidFill>
                          <a:latin typeface="Tahoma" pitchFamily="34" charset="0"/>
                          <a:ea typeface="宋体" pitchFamily="2" charset="-122"/>
                        </a:defRPr>
                      </a:lvl4pPr>
                      <a:lvl5pPr algn="l">
                        <a:spcBef>
                          <a:spcPct val="20000"/>
                        </a:spcBef>
                        <a:buClr>
                          <a:schemeClr val="accent1"/>
                        </a:buClr>
                        <a:buSzPct val="5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dirty="0">
                          <a:ln>
                            <a:noFill/>
                          </a:ln>
                          <a:solidFill>
                            <a:schemeClr val="tx1"/>
                          </a:solidFill>
                          <a:effectLst/>
                          <a:latin typeface="Tahoma" pitchFamily="34" charset="0"/>
                          <a:ea typeface="宋体" pitchFamily="2" charset="-122"/>
                        </a:rPr>
                        <a:t>S1</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lgn="l">
                        <a:spcBef>
                          <a:spcPct val="20000"/>
                        </a:spcBef>
                        <a:buClr>
                          <a:schemeClr val="hlink"/>
                        </a:buClr>
                        <a:buSzPct val="55000"/>
                        <a:buFont typeface="Wingdings" pitchFamily="2" charset="2"/>
                        <a:defRPr sz="2400">
                          <a:solidFill>
                            <a:schemeClr val="tx1"/>
                          </a:solidFill>
                          <a:latin typeface="Tahoma" pitchFamily="34" charset="0"/>
                          <a:ea typeface="宋体" pitchFamily="2" charset="-122"/>
                        </a:defRPr>
                      </a:lvl2pPr>
                      <a:lvl3pPr algn="l">
                        <a:spcBef>
                          <a:spcPct val="20000"/>
                        </a:spcBef>
                        <a:buClr>
                          <a:schemeClr val="folHlink"/>
                        </a:buClr>
                        <a:buSzPct val="50000"/>
                        <a:buFont typeface="Wingdings" pitchFamily="2" charset="2"/>
                        <a:defRPr sz="2000">
                          <a:solidFill>
                            <a:schemeClr val="tx1"/>
                          </a:solidFill>
                          <a:latin typeface="Tahoma" pitchFamily="34" charset="0"/>
                          <a:ea typeface="宋体" pitchFamily="2" charset="-122"/>
                        </a:defRPr>
                      </a:lvl3pPr>
                      <a:lvl4pPr algn="l">
                        <a:spcBef>
                          <a:spcPct val="20000"/>
                        </a:spcBef>
                        <a:buClr>
                          <a:schemeClr val="accent2"/>
                        </a:buClr>
                        <a:buSzPct val="55000"/>
                        <a:buFont typeface="Wingdings" pitchFamily="2" charset="2"/>
                        <a:defRPr>
                          <a:solidFill>
                            <a:schemeClr val="tx1"/>
                          </a:solidFill>
                          <a:latin typeface="Tahoma" pitchFamily="34" charset="0"/>
                          <a:ea typeface="宋体" pitchFamily="2" charset="-122"/>
                        </a:defRPr>
                      </a:lvl4pPr>
                      <a:lvl5pPr algn="l">
                        <a:spcBef>
                          <a:spcPct val="20000"/>
                        </a:spcBef>
                        <a:buClr>
                          <a:schemeClr val="accent1"/>
                        </a:buClr>
                        <a:buSzPct val="5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dirty="0">
                          <a:ln>
                            <a:noFill/>
                          </a:ln>
                          <a:solidFill>
                            <a:schemeClr val="tx1"/>
                          </a:solidFill>
                          <a:effectLst/>
                          <a:latin typeface="Tahoma" pitchFamily="34" charset="0"/>
                          <a:ea typeface="宋体" pitchFamily="2" charset="-122"/>
                        </a:rPr>
                        <a:t>CS</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lgn="l">
                        <a:spcBef>
                          <a:spcPct val="20000"/>
                        </a:spcBef>
                        <a:buClr>
                          <a:schemeClr val="hlink"/>
                        </a:buClr>
                        <a:buSzPct val="55000"/>
                        <a:buFont typeface="Wingdings" pitchFamily="2" charset="2"/>
                        <a:defRPr sz="2400">
                          <a:solidFill>
                            <a:schemeClr val="tx1"/>
                          </a:solidFill>
                          <a:latin typeface="Tahoma" pitchFamily="34" charset="0"/>
                          <a:ea typeface="宋体" pitchFamily="2" charset="-122"/>
                        </a:defRPr>
                      </a:lvl2pPr>
                      <a:lvl3pPr algn="l">
                        <a:spcBef>
                          <a:spcPct val="20000"/>
                        </a:spcBef>
                        <a:buClr>
                          <a:schemeClr val="folHlink"/>
                        </a:buClr>
                        <a:buSzPct val="50000"/>
                        <a:buFont typeface="Wingdings" pitchFamily="2" charset="2"/>
                        <a:defRPr sz="2000">
                          <a:solidFill>
                            <a:schemeClr val="tx1"/>
                          </a:solidFill>
                          <a:latin typeface="Tahoma" pitchFamily="34" charset="0"/>
                          <a:ea typeface="宋体" pitchFamily="2" charset="-122"/>
                        </a:defRPr>
                      </a:lvl3pPr>
                      <a:lvl4pPr algn="l">
                        <a:spcBef>
                          <a:spcPct val="20000"/>
                        </a:spcBef>
                        <a:buClr>
                          <a:schemeClr val="accent2"/>
                        </a:buClr>
                        <a:buSzPct val="55000"/>
                        <a:buFont typeface="Wingdings" pitchFamily="2" charset="2"/>
                        <a:defRPr>
                          <a:solidFill>
                            <a:schemeClr val="tx1"/>
                          </a:solidFill>
                          <a:latin typeface="Tahoma" pitchFamily="34" charset="0"/>
                          <a:ea typeface="宋体" pitchFamily="2" charset="-122"/>
                        </a:defRPr>
                      </a:lvl4pPr>
                      <a:lvl5pPr algn="l">
                        <a:spcBef>
                          <a:spcPct val="20000"/>
                        </a:spcBef>
                        <a:buClr>
                          <a:schemeClr val="accent1"/>
                        </a:buClr>
                        <a:buSzPct val="5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dirty="0">
                          <a:ln>
                            <a:noFill/>
                          </a:ln>
                          <a:solidFill>
                            <a:schemeClr val="tx1"/>
                          </a:solidFill>
                          <a:effectLst/>
                          <a:latin typeface="Tahoma" pitchFamily="34" charset="0"/>
                          <a:ea typeface="宋体" pitchFamily="2" charset="-122"/>
                        </a:rPr>
                        <a:t>B01</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09625">
                <a:tc>
                  <a:txBody>
                    <a:bodyPr/>
                    <a:lstStyle>
                      <a:lvl1pPr algn="l">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lgn="l">
                        <a:spcBef>
                          <a:spcPct val="20000"/>
                        </a:spcBef>
                        <a:buClr>
                          <a:schemeClr val="hlink"/>
                        </a:buClr>
                        <a:buSzPct val="55000"/>
                        <a:buFont typeface="Wingdings" pitchFamily="2" charset="2"/>
                        <a:defRPr sz="2400">
                          <a:solidFill>
                            <a:schemeClr val="tx1"/>
                          </a:solidFill>
                          <a:latin typeface="Tahoma" pitchFamily="34" charset="0"/>
                          <a:ea typeface="宋体" pitchFamily="2" charset="-122"/>
                        </a:defRPr>
                      </a:lvl2pPr>
                      <a:lvl3pPr algn="l">
                        <a:spcBef>
                          <a:spcPct val="20000"/>
                        </a:spcBef>
                        <a:buClr>
                          <a:schemeClr val="folHlink"/>
                        </a:buClr>
                        <a:buSzPct val="50000"/>
                        <a:buFont typeface="Wingdings" pitchFamily="2" charset="2"/>
                        <a:defRPr sz="2000">
                          <a:solidFill>
                            <a:schemeClr val="tx1"/>
                          </a:solidFill>
                          <a:latin typeface="Tahoma" pitchFamily="34" charset="0"/>
                          <a:ea typeface="宋体" pitchFamily="2" charset="-122"/>
                        </a:defRPr>
                      </a:lvl3pPr>
                      <a:lvl4pPr algn="l">
                        <a:spcBef>
                          <a:spcPct val="20000"/>
                        </a:spcBef>
                        <a:buClr>
                          <a:schemeClr val="accent2"/>
                        </a:buClr>
                        <a:buSzPct val="55000"/>
                        <a:buFont typeface="Wingdings" pitchFamily="2" charset="2"/>
                        <a:defRPr>
                          <a:solidFill>
                            <a:schemeClr val="tx1"/>
                          </a:solidFill>
                          <a:latin typeface="Tahoma" pitchFamily="34" charset="0"/>
                          <a:ea typeface="宋体" pitchFamily="2" charset="-122"/>
                        </a:defRPr>
                      </a:lvl4pPr>
                      <a:lvl5pPr algn="l">
                        <a:spcBef>
                          <a:spcPct val="20000"/>
                        </a:spcBef>
                        <a:buClr>
                          <a:schemeClr val="accent1"/>
                        </a:buClr>
                        <a:buSzPct val="5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dirty="0">
                          <a:ln>
                            <a:noFill/>
                          </a:ln>
                          <a:solidFill>
                            <a:schemeClr val="tx1"/>
                          </a:solidFill>
                          <a:effectLst/>
                          <a:latin typeface="Tahoma" pitchFamily="34" charset="0"/>
                          <a:ea typeface="宋体" pitchFamily="2" charset="-122"/>
                        </a:rPr>
                        <a:t>S2</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lgn="l">
                        <a:spcBef>
                          <a:spcPct val="20000"/>
                        </a:spcBef>
                        <a:buClr>
                          <a:schemeClr val="hlink"/>
                        </a:buClr>
                        <a:buSzPct val="55000"/>
                        <a:buFont typeface="Wingdings" pitchFamily="2" charset="2"/>
                        <a:defRPr sz="2400">
                          <a:solidFill>
                            <a:schemeClr val="tx1"/>
                          </a:solidFill>
                          <a:latin typeface="Tahoma" pitchFamily="34" charset="0"/>
                          <a:ea typeface="宋体" pitchFamily="2" charset="-122"/>
                        </a:defRPr>
                      </a:lvl2pPr>
                      <a:lvl3pPr algn="l">
                        <a:spcBef>
                          <a:spcPct val="20000"/>
                        </a:spcBef>
                        <a:buClr>
                          <a:schemeClr val="folHlink"/>
                        </a:buClr>
                        <a:buSzPct val="50000"/>
                        <a:buFont typeface="Wingdings" pitchFamily="2" charset="2"/>
                        <a:defRPr sz="2000">
                          <a:solidFill>
                            <a:schemeClr val="tx1"/>
                          </a:solidFill>
                          <a:latin typeface="Tahoma" pitchFamily="34" charset="0"/>
                          <a:ea typeface="宋体" pitchFamily="2" charset="-122"/>
                        </a:defRPr>
                      </a:lvl3pPr>
                      <a:lvl4pPr algn="l">
                        <a:spcBef>
                          <a:spcPct val="20000"/>
                        </a:spcBef>
                        <a:buClr>
                          <a:schemeClr val="accent2"/>
                        </a:buClr>
                        <a:buSzPct val="55000"/>
                        <a:buFont typeface="Wingdings" pitchFamily="2" charset="2"/>
                        <a:defRPr>
                          <a:solidFill>
                            <a:schemeClr val="tx1"/>
                          </a:solidFill>
                          <a:latin typeface="Tahoma" pitchFamily="34" charset="0"/>
                          <a:ea typeface="宋体" pitchFamily="2" charset="-122"/>
                        </a:defRPr>
                      </a:lvl4pPr>
                      <a:lvl5pPr algn="l">
                        <a:spcBef>
                          <a:spcPct val="20000"/>
                        </a:spcBef>
                        <a:buClr>
                          <a:schemeClr val="accent1"/>
                        </a:buClr>
                        <a:buSzPct val="5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dirty="0">
                          <a:ln>
                            <a:noFill/>
                          </a:ln>
                          <a:solidFill>
                            <a:schemeClr val="tx1"/>
                          </a:solidFill>
                          <a:effectLst/>
                          <a:latin typeface="Tahoma" pitchFamily="34" charset="0"/>
                          <a:ea typeface="宋体" pitchFamily="2" charset="-122"/>
                        </a:rPr>
                        <a:t>CS</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lgn="l">
                        <a:spcBef>
                          <a:spcPct val="20000"/>
                        </a:spcBef>
                        <a:buClr>
                          <a:schemeClr val="hlink"/>
                        </a:buClr>
                        <a:buSzPct val="55000"/>
                        <a:buFont typeface="Wingdings" pitchFamily="2" charset="2"/>
                        <a:defRPr sz="2400">
                          <a:solidFill>
                            <a:schemeClr val="tx1"/>
                          </a:solidFill>
                          <a:latin typeface="Tahoma" pitchFamily="34" charset="0"/>
                          <a:ea typeface="宋体" pitchFamily="2" charset="-122"/>
                        </a:defRPr>
                      </a:lvl2pPr>
                      <a:lvl3pPr algn="l">
                        <a:spcBef>
                          <a:spcPct val="20000"/>
                        </a:spcBef>
                        <a:buClr>
                          <a:schemeClr val="folHlink"/>
                        </a:buClr>
                        <a:buSzPct val="50000"/>
                        <a:buFont typeface="Wingdings" pitchFamily="2" charset="2"/>
                        <a:defRPr sz="2000">
                          <a:solidFill>
                            <a:schemeClr val="tx1"/>
                          </a:solidFill>
                          <a:latin typeface="Tahoma" pitchFamily="34" charset="0"/>
                          <a:ea typeface="宋体" pitchFamily="2" charset="-122"/>
                        </a:defRPr>
                      </a:lvl3pPr>
                      <a:lvl4pPr algn="l">
                        <a:spcBef>
                          <a:spcPct val="20000"/>
                        </a:spcBef>
                        <a:buClr>
                          <a:schemeClr val="accent2"/>
                        </a:buClr>
                        <a:buSzPct val="55000"/>
                        <a:buFont typeface="Wingdings" pitchFamily="2" charset="2"/>
                        <a:defRPr>
                          <a:solidFill>
                            <a:schemeClr val="tx1"/>
                          </a:solidFill>
                          <a:latin typeface="Tahoma" pitchFamily="34" charset="0"/>
                          <a:ea typeface="宋体" pitchFamily="2" charset="-122"/>
                        </a:defRPr>
                      </a:lvl4pPr>
                      <a:lvl5pPr algn="l">
                        <a:spcBef>
                          <a:spcPct val="20000"/>
                        </a:spcBef>
                        <a:buClr>
                          <a:schemeClr val="accent1"/>
                        </a:buClr>
                        <a:buSzPct val="5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ahoma" pitchFamily="34" charset="0"/>
                          <a:ea typeface="宋体" pitchFamily="2" charset="-122"/>
                        </a:rPr>
                        <a:t>B01</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08038">
                <a:tc>
                  <a:txBody>
                    <a:bodyPr/>
                    <a:lstStyle>
                      <a:lvl1pPr algn="l">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lgn="l">
                        <a:spcBef>
                          <a:spcPct val="20000"/>
                        </a:spcBef>
                        <a:buClr>
                          <a:schemeClr val="hlink"/>
                        </a:buClr>
                        <a:buSzPct val="55000"/>
                        <a:buFont typeface="Wingdings" pitchFamily="2" charset="2"/>
                        <a:defRPr sz="2400">
                          <a:solidFill>
                            <a:schemeClr val="tx1"/>
                          </a:solidFill>
                          <a:latin typeface="Tahoma" pitchFamily="34" charset="0"/>
                          <a:ea typeface="宋体" pitchFamily="2" charset="-122"/>
                        </a:defRPr>
                      </a:lvl2pPr>
                      <a:lvl3pPr algn="l">
                        <a:spcBef>
                          <a:spcPct val="20000"/>
                        </a:spcBef>
                        <a:buClr>
                          <a:schemeClr val="folHlink"/>
                        </a:buClr>
                        <a:buSzPct val="50000"/>
                        <a:buFont typeface="Wingdings" pitchFamily="2" charset="2"/>
                        <a:defRPr sz="2000">
                          <a:solidFill>
                            <a:schemeClr val="tx1"/>
                          </a:solidFill>
                          <a:latin typeface="Tahoma" pitchFamily="34" charset="0"/>
                          <a:ea typeface="宋体" pitchFamily="2" charset="-122"/>
                        </a:defRPr>
                      </a:lvl3pPr>
                      <a:lvl4pPr algn="l">
                        <a:spcBef>
                          <a:spcPct val="20000"/>
                        </a:spcBef>
                        <a:buClr>
                          <a:schemeClr val="accent2"/>
                        </a:buClr>
                        <a:buSzPct val="55000"/>
                        <a:buFont typeface="Wingdings" pitchFamily="2" charset="2"/>
                        <a:defRPr>
                          <a:solidFill>
                            <a:schemeClr val="tx1"/>
                          </a:solidFill>
                          <a:latin typeface="Tahoma" pitchFamily="34" charset="0"/>
                          <a:ea typeface="宋体" pitchFamily="2" charset="-122"/>
                        </a:defRPr>
                      </a:lvl4pPr>
                      <a:lvl5pPr algn="l">
                        <a:spcBef>
                          <a:spcPct val="20000"/>
                        </a:spcBef>
                        <a:buClr>
                          <a:schemeClr val="accent1"/>
                        </a:buClr>
                        <a:buSzPct val="5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dirty="0">
                          <a:ln>
                            <a:noFill/>
                          </a:ln>
                          <a:solidFill>
                            <a:schemeClr val="tx1"/>
                          </a:solidFill>
                          <a:effectLst/>
                          <a:latin typeface="Tahoma" pitchFamily="34" charset="0"/>
                          <a:ea typeface="宋体" pitchFamily="2" charset="-122"/>
                        </a:rPr>
                        <a:t>S3</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lgn="l">
                        <a:spcBef>
                          <a:spcPct val="20000"/>
                        </a:spcBef>
                        <a:buClr>
                          <a:schemeClr val="hlink"/>
                        </a:buClr>
                        <a:buSzPct val="55000"/>
                        <a:buFont typeface="Wingdings" pitchFamily="2" charset="2"/>
                        <a:defRPr sz="2400">
                          <a:solidFill>
                            <a:schemeClr val="tx1"/>
                          </a:solidFill>
                          <a:latin typeface="Tahoma" pitchFamily="34" charset="0"/>
                          <a:ea typeface="宋体" pitchFamily="2" charset="-122"/>
                        </a:defRPr>
                      </a:lvl2pPr>
                      <a:lvl3pPr algn="l">
                        <a:spcBef>
                          <a:spcPct val="20000"/>
                        </a:spcBef>
                        <a:buClr>
                          <a:schemeClr val="folHlink"/>
                        </a:buClr>
                        <a:buSzPct val="50000"/>
                        <a:buFont typeface="Wingdings" pitchFamily="2" charset="2"/>
                        <a:defRPr sz="2000">
                          <a:solidFill>
                            <a:schemeClr val="tx1"/>
                          </a:solidFill>
                          <a:latin typeface="Tahoma" pitchFamily="34" charset="0"/>
                          <a:ea typeface="宋体" pitchFamily="2" charset="-122"/>
                        </a:defRPr>
                      </a:lvl3pPr>
                      <a:lvl4pPr algn="l">
                        <a:spcBef>
                          <a:spcPct val="20000"/>
                        </a:spcBef>
                        <a:buClr>
                          <a:schemeClr val="accent2"/>
                        </a:buClr>
                        <a:buSzPct val="55000"/>
                        <a:buFont typeface="Wingdings" pitchFamily="2" charset="2"/>
                        <a:defRPr>
                          <a:solidFill>
                            <a:schemeClr val="tx1"/>
                          </a:solidFill>
                          <a:latin typeface="Tahoma" pitchFamily="34" charset="0"/>
                          <a:ea typeface="宋体" pitchFamily="2" charset="-122"/>
                        </a:defRPr>
                      </a:lvl4pPr>
                      <a:lvl5pPr algn="l">
                        <a:spcBef>
                          <a:spcPct val="20000"/>
                        </a:spcBef>
                        <a:buClr>
                          <a:schemeClr val="accent1"/>
                        </a:buClr>
                        <a:buSzPct val="5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ahoma" pitchFamily="34" charset="0"/>
                          <a:ea typeface="宋体" pitchFamily="2" charset="-122"/>
                        </a:rPr>
                        <a:t>CS</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lgn="l">
                        <a:spcBef>
                          <a:spcPct val="20000"/>
                        </a:spcBef>
                        <a:buClr>
                          <a:schemeClr val="hlink"/>
                        </a:buClr>
                        <a:buSzPct val="55000"/>
                        <a:buFont typeface="Wingdings" pitchFamily="2" charset="2"/>
                        <a:defRPr sz="2400">
                          <a:solidFill>
                            <a:schemeClr val="tx1"/>
                          </a:solidFill>
                          <a:latin typeface="Tahoma" pitchFamily="34" charset="0"/>
                          <a:ea typeface="宋体" pitchFamily="2" charset="-122"/>
                        </a:defRPr>
                      </a:lvl2pPr>
                      <a:lvl3pPr algn="l">
                        <a:spcBef>
                          <a:spcPct val="20000"/>
                        </a:spcBef>
                        <a:buClr>
                          <a:schemeClr val="folHlink"/>
                        </a:buClr>
                        <a:buSzPct val="50000"/>
                        <a:buFont typeface="Wingdings" pitchFamily="2" charset="2"/>
                        <a:defRPr sz="2000">
                          <a:solidFill>
                            <a:schemeClr val="tx1"/>
                          </a:solidFill>
                          <a:latin typeface="Tahoma" pitchFamily="34" charset="0"/>
                          <a:ea typeface="宋体" pitchFamily="2" charset="-122"/>
                        </a:defRPr>
                      </a:lvl3pPr>
                      <a:lvl4pPr algn="l">
                        <a:spcBef>
                          <a:spcPct val="20000"/>
                        </a:spcBef>
                        <a:buClr>
                          <a:schemeClr val="accent2"/>
                        </a:buClr>
                        <a:buSzPct val="55000"/>
                        <a:buFont typeface="Wingdings" pitchFamily="2" charset="2"/>
                        <a:defRPr>
                          <a:solidFill>
                            <a:schemeClr val="tx1"/>
                          </a:solidFill>
                          <a:latin typeface="Tahoma" pitchFamily="34" charset="0"/>
                          <a:ea typeface="宋体" pitchFamily="2" charset="-122"/>
                        </a:defRPr>
                      </a:lvl4pPr>
                      <a:lvl5pPr algn="l">
                        <a:spcBef>
                          <a:spcPct val="20000"/>
                        </a:spcBef>
                        <a:buClr>
                          <a:schemeClr val="accent1"/>
                        </a:buClr>
                        <a:buSzPct val="5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dirty="0">
                          <a:ln>
                            <a:noFill/>
                          </a:ln>
                          <a:solidFill>
                            <a:schemeClr val="tx1"/>
                          </a:solidFill>
                          <a:effectLst/>
                          <a:latin typeface="Tahoma" pitchFamily="34" charset="0"/>
                          <a:ea typeface="宋体" pitchFamily="2" charset="-122"/>
                        </a:rPr>
                        <a:t>B01</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09625">
                <a:tc>
                  <a:txBody>
                    <a:bodyPr/>
                    <a:lstStyle>
                      <a:lvl1pPr algn="l">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lgn="l">
                        <a:spcBef>
                          <a:spcPct val="20000"/>
                        </a:spcBef>
                        <a:buClr>
                          <a:schemeClr val="hlink"/>
                        </a:buClr>
                        <a:buSzPct val="55000"/>
                        <a:buFont typeface="Wingdings" pitchFamily="2" charset="2"/>
                        <a:defRPr sz="2400">
                          <a:solidFill>
                            <a:schemeClr val="tx1"/>
                          </a:solidFill>
                          <a:latin typeface="Tahoma" pitchFamily="34" charset="0"/>
                          <a:ea typeface="宋体" pitchFamily="2" charset="-122"/>
                        </a:defRPr>
                      </a:lvl2pPr>
                      <a:lvl3pPr algn="l">
                        <a:spcBef>
                          <a:spcPct val="20000"/>
                        </a:spcBef>
                        <a:buClr>
                          <a:schemeClr val="folHlink"/>
                        </a:buClr>
                        <a:buSzPct val="50000"/>
                        <a:buFont typeface="Wingdings" pitchFamily="2" charset="2"/>
                        <a:defRPr sz="2000">
                          <a:solidFill>
                            <a:schemeClr val="tx1"/>
                          </a:solidFill>
                          <a:latin typeface="Tahoma" pitchFamily="34" charset="0"/>
                          <a:ea typeface="宋体" pitchFamily="2" charset="-122"/>
                        </a:defRPr>
                      </a:lvl3pPr>
                      <a:lvl4pPr algn="l">
                        <a:spcBef>
                          <a:spcPct val="20000"/>
                        </a:spcBef>
                        <a:buClr>
                          <a:schemeClr val="accent2"/>
                        </a:buClr>
                        <a:buSzPct val="55000"/>
                        <a:buFont typeface="Wingdings" pitchFamily="2" charset="2"/>
                        <a:defRPr>
                          <a:solidFill>
                            <a:schemeClr val="tx1"/>
                          </a:solidFill>
                          <a:latin typeface="Tahoma" pitchFamily="34" charset="0"/>
                          <a:ea typeface="宋体" pitchFamily="2" charset="-122"/>
                        </a:defRPr>
                      </a:lvl4pPr>
                      <a:lvl5pPr algn="l">
                        <a:spcBef>
                          <a:spcPct val="20000"/>
                        </a:spcBef>
                        <a:buClr>
                          <a:schemeClr val="accent1"/>
                        </a:buClr>
                        <a:buSzPct val="5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ahoma" pitchFamily="34" charset="0"/>
                          <a:ea typeface="宋体" pitchFamily="2" charset="-122"/>
                        </a:rPr>
                        <a:t>S100</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lgn="l">
                        <a:spcBef>
                          <a:spcPct val="20000"/>
                        </a:spcBef>
                        <a:buClr>
                          <a:schemeClr val="hlink"/>
                        </a:buClr>
                        <a:buSzPct val="55000"/>
                        <a:buFont typeface="Wingdings" pitchFamily="2" charset="2"/>
                        <a:defRPr sz="2400">
                          <a:solidFill>
                            <a:schemeClr val="tx1"/>
                          </a:solidFill>
                          <a:latin typeface="Tahoma" pitchFamily="34" charset="0"/>
                          <a:ea typeface="宋体" pitchFamily="2" charset="-122"/>
                        </a:defRPr>
                      </a:lvl2pPr>
                      <a:lvl3pPr algn="l">
                        <a:spcBef>
                          <a:spcPct val="20000"/>
                        </a:spcBef>
                        <a:buClr>
                          <a:schemeClr val="folHlink"/>
                        </a:buClr>
                        <a:buSzPct val="50000"/>
                        <a:buFont typeface="Wingdings" pitchFamily="2" charset="2"/>
                        <a:defRPr sz="2000">
                          <a:solidFill>
                            <a:schemeClr val="tx1"/>
                          </a:solidFill>
                          <a:latin typeface="Tahoma" pitchFamily="34" charset="0"/>
                          <a:ea typeface="宋体" pitchFamily="2" charset="-122"/>
                        </a:defRPr>
                      </a:lvl3pPr>
                      <a:lvl4pPr algn="l">
                        <a:spcBef>
                          <a:spcPct val="20000"/>
                        </a:spcBef>
                        <a:buClr>
                          <a:schemeClr val="accent2"/>
                        </a:buClr>
                        <a:buSzPct val="55000"/>
                        <a:buFont typeface="Wingdings" pitchFamily="2" charset="2"/>
                        <a:defRPr>
                          <a:solidFill>
                            <a:schemeClr val="tx1"/>
                          </a:solidFill>
                          <a:latin typeface="Tahoma" pitchFamily="34" charset="0"/>
                          <a:ea typeface="宋体" pitchFamily="2" charset="-122"/>
                        </a:defRPr>
                      </a:lvl4pPr>
                      <a:lvl5pPr algn="l">
                        <a:spcBef>
                          <a:spcPct val="20000"/>
                        </a:spcBef>
                        <a:buClr>
                          <a:schemeClr val="accent1"/>
                        </a:buClr>
                        <a:buSzPct val="5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ahoma" pitchFamily="34" charset="0"/>
                          <a:ea typeface="宋体" pitchFamily="2" charset="-122"/>
                        </a:rPr>
                        <a:t>MA</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lgn="l">
                        <a:spcBef>
                          <a:spcPct val="20000"/>
                        </a:spcBef>
                        <a:buClr>
                          <a:schemeClr val="hlink"/>
                        </a:buClr>
                        <a:buSzPct val="55000"/>
                        <a:buFont typeface="Wingdings" pitchFamily="2" charset="2"/>
                        <a:defRPr sz="2400">
                          <a:solidFill>
                            <a:schemeClr val="tx1"/>
                          </a:solidFill>
                          <a:latin typeface="Tahoma" pitchFamily="34" charset="0"/>
                          <a:ea typeface="宋体" pitchFamily="2" charset="-122"/>
                        </a:defRPr>
                      </a:lvl2pPr>
                      <a:lvl3pPr algn="l">
                        <a:spcBef>
                          <a:spcPct val="20000"/>
                        </a:spcBef>
                        <a:buClr>
                          <a:schemeClr val="folHlink"/>
                        </a:buClr>
                        <a:buSzPct val="50000"/>
                        <a:buFont typeface="Wingdings" pitchFamily="2" charset="2"/>
                        <a:defRPr sz="2000">
                          <a:solidFill>
                            <a:schemeClr val="tx1"/>
                          </a:solidFill>
                          <a:latin typeface="Tahoma" pitchFamily="34" charset="0"/>
                          <a:ea typeface="宋体" pitchFamily="2" charset="-122"/>
                        </a:defRPr>
                      </a:lvl3pPr>
                      <a:lvl4pPr algn="l">
                        <a:spcBef>
                          <a:spcPct val="20000"/>
                        </a:spcBef>
                        <a:buClr>
                          <a:schemeClr val="accent2"/>
                        </a:buClr>
                        <a:buSzPct val="55000"/>
                        <a:buFont typeface="Wingdings" pitchFamily="2" charset="2"/>
                        <a:defRPr>
                          <a:solidFill>
                            <a:schemeClr val="tx1"/>
                          </a:solidFill>
                          <a:latin typeface="Tahoma" pitchFamily="34" charset="0"/>
                          <a:ea typeface="宋体" pitchFamily="2" charset="-122"/>
                        </a:defRPr>
                      </a:lvl4pPr>
                      <a:lvl5pPr algn="l">
                        <a:spcBef>
                          <a:spcPct val="20000"/>
                        </a:spcBef>
                        <a:buClr>
                          <a:schemeClr val="accent1"/>
                        </a:buClr>
                        <a:buSzPct val="5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ahoma" pitchFamily="34" charset="0"/>
                          <a:ea typeface="宋体" pitchFamily="2" charset="-122"/>
                        </a:rPr>
                        <a:t>B02</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 name="页脚占位符 2">
            <a:extLst>
              <a:ext uri="{FF2B5EF4-FFF2-40B4-BE49-F238E27FC236}">
                <a16:creationId xmlns:a16="http://schemas.microsoft.com/office/drawing/2014/main" id="{5A1F785C-C518-DD71-BABE-8295ECAF9986}"/>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CFC2BD8B-F6E1-9905-CEA5-0720473E147E}"/>
              </a:ext>
            </a:extLst>
          </p:cNvPr>
          <p:cNvSpPr>
            <a:spLocks noGrp="1"/>
          </p:cNvSpPr>
          <p:nvPr>
            <p:ph type="sldNum" sz="quarter" idx="12"/>
          </p:nvPr>
        </p:nvSpPr>
        <p:spPr/>
        <p:txBody>
          <a:bodyPr/>
          <a:lstStyle/>
          <a:p>
            <a:fld id="{BF2121B0-14FC-4FF4-BE73-FB699D38FECB}" type="slidenum">
              <a:rPr lang="en-US" altLang="zh-CN" smtClean="0"/>
              <a:pPr/>
              <a:t>49</a:t>
            </a:fld>
            <a:r>
              <a:rPr lang="en-US" altLang="zh-CN"/>
              <a:t>/162</a:t>
            </a:r>
            <a:endParaRPr lang="en-US" altLang="zh-CN" dirty="0"/>
          </a:p>
        </p:txBody>
      </p:sp>
    </p:spTree>
    <p:extLst>
      <p:ext uri="{BB962C8B-B14F-4D97-AF65-F5344CB8AC3E}">
        <p14:creationId xmlns:p14="http://schemas.microsoft.com/office/powerpoint/2010/main" val="1341962188"/>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E8497DE0-9C2F-433F-84B6-990153EA4F73}" type="datetime1">
              <a:rPr lang="zh-CN" altLang="en-US" smtClean="0"/>
              <a:t>2025/11/6</a:t>
            </a:fld>
            <a:endParaRPr lang="en-US" altLang="zh-CN"/>
          </a:p>
        </p:txBody>
      </p:sp>
      <p:sp>
        <p:nvSpPr>
          <p:cNvPr id="284674" name="Rectangle 2"/>
          <p:cNvSpPr>
            <a:spLocks noGrp="1" noChangeArrowheads="1"/>
          </p:cNvSpPr>
          <p:nvPr>
            <p:ph type="title"/>
          </p:nvPr>
        </p:nvSpPr>
        <p:spPr/>
        <p:txBody>
          <a:bodyPr/>
          <a:lstStyle/>
          <a:p>
            <a:r>
              <a:rPr lang="en-US" altLang="zh-CN" dirty="0"/>
              <a:t>8.2.5 3NF</a:t>
            </a:r>
            <a:endParaRPr lang="zh-CN" altLang="en-US" dirty="0"/>
          </a:p>
        </p:txBody>
      </p:sp>
      <p:sp>
        <p:nvSpPr>
          <p:cNvPr id="284675" name="Rectangle 3"/>
          <p:cNvSpPr>
            <a:spLocks noGrp="1" noChangeArrowheads="1"/>
          </p:cNvSpPr>
          <p:nvPr>
            <p:ph type="body" idx="1"/>
          </p:nvPr>
        </p:nvSpPr>
        <p:spPr/>
        <p:txBody>
          <a:bodyPr/>
          <a:lstStyle/>
          <a:p>
            <a:r>
              <a:rPr lang="zh-CN" altLang="en-US" dirty="0"/>
              <a:t>解决方法，分解成小关系</a:t>
            </a:r>
          </a:p>
          <a:p>
            <a:pPr lvl="1">
              <a:spcBef>
                <a:spcPct val="60000"/>
              </a:spcBef>
            </a:pPr>
            <a:r>
              <a:rPr lang="en-US" altLang="zh-CN" dirty="0"/>
              <a:t>S-D(</a:t>
            </a:r>
            <a:r>
              <a:rPr lang="en-US" altLang="zh-CN" dirty="0" err="1"/>
              <a:t>Sno</a:t>
            </a:r>
            <a:r>
              <a:rPr lang="en-US" altLang="zh-CN" dirty="0"/>
              <a:t>, </a:t>
            </a:r>
            <a:r>
              <a:rPr lang="en-US" altLang="zh-CN" dirty="0" err="1"/>
              <a:t>Sdept</a:t>
            </a:r>
            <a:r>
              <a:rPr lang="en-US" altLang="zh-CN" dirty="0"/>
              <a:t>)</a:t>
            </a:r>
          </a:p>
          <a:p>
            <a:pPr lvl="1">
              <a:spcBef>
                <a:spcPct val="60000"/>
              </a:spcBef>
            </a:pPr>
            <a:r>
              <a:rPr lang="en-US" altLang="zh-CN" dirty="0"/>
              <a:t>D-L(</a:t>
            </a:r>
            <a:r>
              <a:rPr lang="en-US" altLang="zh-CN" dirty="0" err="1"/>
              <a:t>Sdept</a:t>
            </a:r>
            <a:r>
              <a:rPr lang="en-US" altLang="zh-CN" dirty="0"/>
              <a:t>, </a:t>
            </a:r>
            <a:r>
              <a:rPr lang="en-US" altLang="zh-CN" dirty="0" err="1"/>
              <a:t>Sloc</a:t>
            </a:r>
            <a:r>
              <a:rPr lang="en-US" altLang="zh-CN" dirty="0"/>
              <a:t>)</a:t>
            </a:r>
          </a:p>
          <a:p>
            <a:endParaRPr lang="zh-CN" altLang="en-US" dirty="0"/>
          </a:p>
        </p:txBody>
      </p:sp>
      <p:sp>
        <p:nvSpPr>
          <p:cNvPr id="3" name="页脚占位符 2">
            <a:extLst>
              <a:ext uri="{FF2B5EF4-FFF2-40B4-BE49-F238E27FC236}">
                <a16:creationId xmlns:a16="http://schemas.microsoft.com/office/drawing/2014/main" id="{BDEEA6F6-AFA1-CB5E-5F3C-E79A811745F0}"/>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AA0207DC-1F97-B8EB-2131-FB890E7927F6}"/>
              </a:ext>
            </a:extLst>
          </p:cNvPr>
          <p:cNvSpPr>
            <a:spLocks noGrp="1"/>
          </p:cNvSpPr>
          <p:nvPr>
            <p:ph type="sldNum" sz="quarter" idx="12"/>
          </p:nvPr>
        </p:nvSpPr>
        <p:spPr/>
        <p:txBody>
          <a:bodyPr/>
          <a:lstStyle/>
          <a:p>
            <a:fld id="{A2D74603-B40B-4D66-8F6E-41C870D48932}" type="slidenum">
              <a:rPr lang="en-US" altLang="zh-CN" smtClean="0"/>
              <a:pPr/>
              <a:t>50</a:t>
            </a:fld>
            <a:r>
              <a:rPr lang="en-US" altLang="zh-CN"/>
              <a:t>/162</a:t>
            </a:r>
            <a:endParaRPr lang="en-US" altLang="zh-CN" dirty="0"/>
          </a:p>
        </p:txBody>
      </p:sp>
    </p:spTree>
    <p:extLst>
      <p:ext uri="{BB962C8B-B14F-4D97-AF65-F5344CB8AC3E}">
        <p14:creationId xmlns:p14="http://schemas.microsoft.com/office/powerpoint/2010/main" val="1187568981"/>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A5C3802E-38B7-4933-A14E-75A43649214B}" type="datetime1">
              <a:rPr lang="zh-CN" altLang="en-US" smtClean="0"/>
              <a:t>2025/11/6</a:t>
            </a:fld>
            <a:endParaRPr lang="en-US" altLang="zh-CN"/>
          </a:p>
        </p:txBody>
      </p:sp>
      <p:sp>
        <p:nvSpPr>
          <p:cNvPr id="285698" name="Rectangle 2"/>
          <p:cNvSpPr>
            <a:spLocks noGrp="1" noChangeArrowheads="1"/>
          </p:cNvSpPr>
          <p:nvPr>
            <p:ph type="title"/>
          </p:nvPr>
        </p:nvSpPr>
        <p:spPr/>
        <p:txBody>
          <a:bodyPr/>
          <a:lstStyle/>
          <a:p>
            <a:r>
              <a:rPr lang="en-US" altLang="zh-CN" dirty="0"/>
              <a:t>8.2.6 BCNF</a:t>
            </a:r>
            <a:endParaRPr lang="zh-CN" altLang="en-US" dirty="0"/>
          </a:p>
        </p:txBody>
      </p:sp>
      <p:sp>
        <p:nvSpPr>
          <p:cNvPr id="12" name="Rectangle 3"/>
          <p:cNvSpPr txBox="1">
            <a:spLocks noChangeArrowheads="1"/>
          </p:cNvSpPr>
          <p:nvPr/>
        </p:nvSpPr>
        <p:spPr bwMode="auto">
          <a:xfrm>
            <a:off x="609600" y="1447800"/>
            <a:ext cx="8345488" cy="4684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fontAlgn="base">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r>
              <a:rPr kumimoji="0" lang="zh-CN" altLang="en-US" kern="0" dirty="0"/>
              <a:t>例：</a:t>
            </a:r>
            <a:endParaRPr kumimoji="0" lang="en-US" altLang="zh-CN" kern="0" dirty="0"/>
          </a:p>
          <a:p>
            <a:pPr marL="400050" lvl="1" indent="0">
              <a:buNone/>
            </a:pPr>
            <a:r>
              <a:rPr kumimoji="0" lang="en-US" altLang="zh-CN" kern="0" dirty="0"/>
              <a:t>1 </a:t>
            </a:r>
            <a:r>
              <a:rPr lang="zh-CN" altLang="en-US" dirty="0"/>
              <a:t>某公司有若干个仓库；</a:t>
            </a:r>
            <a:br>
              <a:rPr lang="zh-CN" altLang="en-US" dirty="0"/>
            </a:br>
            <a:r>
              <a:rPr lang="en-US" altLang="zh-CN" dirty="0"/>
              <a:t>2 </a:t>
            </a:r>
            <a:r>
              <a:rPr lang="zh-CN" altLang="en-US" b="1" dirty="0"/>
              <a:t>每个仓库</a:t>
            </a:r>
            <a:r>
              <a:rPr lang="zh-CN" altLang="en-US" dirty="0">
                <a:solidFill>
                  <a:schemeClr val="tx2"/>
                </a:solidFill>
              </a:rPr>
              <a:t>只能有</a:t>
            </a:r>
            <a:r>
              <a:rPr lang="zh-CN" altLang="en-US" dirty="0">
                <a:solidFill>
                  <a:srgbClr val="FF0000"/>
                </a:solidFill>
              </a:rPr>
              <a:t>一名管理员</a:t>
            </a:r>
            <a:r>
              <a:rPr lang="zh-CN" altLang="en-US" dirty="0"/>
              <a:t>，</a:t>
            </a:r>
            <a:r>
              <a:rPr lang="zh-CN" altLang="en-US" b="1" dirty="0"/>
              <a:t>一名管理员</a:t>
            </a:r>
            <a:r>
              <a:rPr lang="zh-CN" altLang="en-US" dirty="0">
                <a:solidFill>
                  <a:schemeClr val="tx2"/>
                </a:solidFill>
              </a:rPr>
              <a:t>只能在</a:t>
            </a:r>
            <a:r>
              <a:rPr lang="zh-CN" altLang="en-US" dirty="0">
                <a:solidFill>
                  <a:srgbClr val="FF0000"/>
                </a:solidFill>
              </a:rPr>
              <a:t>一个仓库</a:t>
            </a:r>
            <a:r>
              <a:rPr lang="zh-CN" altLang="en-US" dirty="0"/>
              <a:t>中工作；</a:t>
            </a:r>
            <a:br>
              <a:rPr lang="zh-CN" altLang="en-US" dirty="0"/>
            </a:br>
            <a:r>
              <a:rPr lang="en-US" altLang="zh-CN" dirty="0"/>
              <a:t>3 </a:t>
            </a:r>
            <a:r>
              <a:rPr lang="zh-CN" altLang="en-US" dirty="0"/>
              <a:t>一个仓库中可以存放</a:t>
            </a:r>
            <a:r>
              <a:rPr lang="zh-CN" altLang="en-US" dirty="0">
                <a:solidFill>
                  <a:schemeClr val="tx2"/>
                </a:solidFill>
              </a:rPr>
              <a:t>多种物品</a:t>
            </a:r>
            <a:r>
              <a:rPr lang="zh-CN" altLang="en-US" dirty="0"/>
              <a:t>，一种物品也可以</a:t>
            </a:r>
            <a:r>
              <a:rPr lang="zh-CN" altLang="en-US" dirty="0">
                <a:solidFill>
                  <a:schemeClr val="tx2"/>
                </a:solidFill>
              </a:rPr>
              <a:t>存放在不同的仓库</a:t>
            </a:r>
            <a:r>
              <a:rPr lang="zh-CN" altLang="en-US" dirty="0"/>
              <a:t>中。</a:t>
            </a:r>
            <a:r>
              <a:rPr lang="zh-CN" altLang="en-US" dirty="0">
                <a:solidFill>
                  <a:srgbClr val="0000FF"/>
                </a:solidFill>
              </a:rPr>
              <a:t>每种物品</a:t>
            </a:r>
            <a:r>
              <a:rPr lang="zh-CN" altLang="en-US" dirty="0"/>
              <a:t>在</a:t>
            </a:r>
            <a:r>
              <a:rPr lang="zh-CN" altLang="en-US" dirty="0">
                <a:solidFill>
                  <a:srgbClr val="0000FF"/>
                </a:solidFill>
              </a:rPr>
              <a:t>每个仓库</a:t>
            </a:r>
            <a:r>
              <a:rPr lang="zh-CN" altLang="en-US" dirty="0"/>
              <a:t>中都有</a:t>
            </a:r>
            <a:r>
              <a:rPr lang="zh-CN" altLang="en-US" dirty="0">
                <a:solidFill>
                  <a:srgbClr val="0000FF"/>
                </a:solidFill>
              </a:rPr>
              <a:t>对应的数量</a:t>
            </a:r>
            <a:r>
              <a:rPr lang="zh-CN" altLang="en-US" dirty="0"/>
              <a:t>。</a:t>
            </a:r>
          </a:p>
          <a:p>
            <a:r>
              <a:rPr lang="zh-CN" altLang="en-US" sz="2800" dirty="0"/>
              <a:t>那么</a:t>
            </a:r>
            <a:r>
              <a:rPr lang="zh-CN" altLang="en-US" sz="2800" b="1" dirty="0">
                <a:effectLst>
                  <a:outerShdw blurRad="38100" dist="38100" dir="2700000" algn="tl">
                    <a:srgbClr val="000000">
                      <a:alpha val="43137"/>
                    </a:srgbClr>
                  </a:outerShdw>
                </a:effectLst>
              </a:rPr>
              <a:t>关系模式</a:t>
            </a:r>
            <a:r>
              <a:rPr lang="zh-CN" altLang="en-US" sz="2800" dirty="0"/>
              <a:t> </a:t>
            </a:r>
            <a:r>
              <a:rPr lang="zh-CN" altLang="en-US" sz="2800" dirty="0">
                <a:solidFill>
                  <a:schemeClr val="tx2"/>
                </a:solidFill>
              </a:rPr>
              <a:t>仓库（仓库名，管理员，物品名，数量）</a:t>
            </a:r>
            <a:r>
              <a:rPr lang="zh-CN" altLang="en-US" sz="2800" dirty="0"/>
              <a:t> 属于</a:t>
            </a:r>
            <a:r>
              <a:rPr lang="zh-CN" altLang="en-US" sz="2800" b="1" dirty="0">
                <a:effectLst>
                  <a:outerShdw blurRad="38100" dist="38100" dir="2700000" algn="tl">
                    <a:srgbClr val="000000">
                      <a:alpha val="43137"/>
                    </a:srgbClr>
                  </a:outerShdw>
                </a:effectLst>
              </a:rPr>
              <a:t>哪一级范式</a:t>
            </a:r>
            <a:r>
              <a:rPr lang="zh-CN" altLang="en-US" sz="2800" dirty="0"/>
              <a:t>？</a:t>
            </a:r>
            <a:endParaRPr kumimoji="0" lang="zh-CN" altLang="en-US" sz="2800" kern="0" dirty="0"/>
          </a:p>
        </p:txBody>
      </p:sp>
      <p:sp>
        <p:nvSpPr>
          <p:cNvPr id="3" name="页脚占位符 2">
            <a:extLst>
              <a:ext uri="{FF2B5EF4-FFF2-40B4-BE49-F238E27FC236}">
                <a16:creationId xmlns:a16="http://schemas.microsoft.com/office/drawing/2014/main" id="{0CF17A83-79B3-3D69-BF7A-471FEA14B954}"/>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907068C2-180E-A4F1-B5A8-E94D106E01B2}"/>
              </a:ext>
            </a:extLst>
          </p:cNvPr>
          <p:cNvSpPr>
            <a:spLocks noGrp="1"/>
          </p:cNvSpPr>
          <p:nvPr>
            <p:ph type="sldNum" sz="quarter" idx="12"/>
          </p:nvPr>
        </p:nvSpPr>
        <p:spPr/>
        <p:txBody>
          <a:bodyPr/>
          <a:lstStyle/>
          <a:p>
            <a:fld id="{A2D74603-B40B-4D66-8F6E-41C870D48932}" type="slidenum">
              <a:rPr lang="en-US" altLang="zh-CN" smtClean="0"/>
              <a:pPr/>
              <a:t>51</a:t>
            </a:fld>
            <a:r>
              <a:rPr lang="en-US" altLang="zh-CN"/>
              <a:t>/162</a:t>
            </a:r>
            <a:endParaRPr lang="en-US" altLang="zh-CN" dirty="0"/>
          </a:p>
        </p:txBody>
      </p:sp>
    </p:spTree>
    <p:extLst>
      <p:ext uri="{BB962C8B-B14F-4D97-AF65-F5344CB8AC3E}">
        <p14:creationId xmlns:p14="http://schemas.microsoft.com/office/powerpoint/2010/main" val="1863687784"/>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DDE6B81D-F174-49F6-A921-4186E2585A23}" type="datetime1">
              <a:rPr lang="zh-CN" altLang="en-US" smtClean="0"/>
              <a:t>2025/11/6</a:t>
            </a:fld>
            <a:endParaRPr lang="en-US" altLang="zh-CN"/>
          </a:p>
        </p:txBody>
      </p:sp>
      <p:sp>
        <p:nvSpPr>
          <p:cNvPr id="285698" name="Rectangle 2"/>
          <p:cNvSpPr>
            <a:spLocks noGrp="1" noChangeArrowheads="1"/>
          </p:cNvSpPr>
          <p:nvPr>
            <p:ph type="title"/>
          </p:nvPr>
        </p:nvSpPr>
        <p:spPr/>
        <p:txBody>
          <a:bodyPr/>
          <a:lstStyle/>
          <a:p>
            <a:r>
              <a:rPr lang="en-US" altLang="zh-CN" dirty="0"/>
              <a:t>8.2.6 BCNF</a:t>
            </a:r>
            <a:endParaRPr lang="zh-CN" altLang="en-US" dirty="0"/>
          </a:p>
        </p:txBody>
      </p:sp>
      <p:sp>
        <p:nvSpPr>
          <p:cNvPr id="2" name="TextBox 1"/>
          <p:cNvSpPr txBox="1"/>
          <p:nvPr/>
        </p:nvSpPr>
        <p:spPr>
          <a:xfrm>
            <a:off x="685800" y="2000802"/>
            <a:ext cx="7696200" cy="3785652"/>
          </a:xfrm>
          <a:prstGeom prst="rect">
            <a:avLst/>
          </a:prstGeom>
          <a:noFill/>
        </p:spPr>
        <p:txBody>
          <a:bodyPr wrap="square" rtlCol="0">
            <a:spAutoFit/>
          </a:bodyPr>
          <a:lstStyle/>
          <a:p>
            <a:pPr algn="l"/>
            <a:r>
              <a:rPr lang="zh-CN" altLang="en-US" dirty="0"/>
              <a:t>已知函数依赖集：</a:t>
            </a:r>
            <a:r>
              <a:rPr lang="zh-CN" altLang="en-US" dirty="0">
                <a:solidFill>
                  <a:srgbClr val="0000FF"/>
                </a:solidFill>
              </a:rPr>
              <a:t>仓库名 → 管理员，管理员 → 仓库名</a:t>
            </a:r>
            <a:r>
              <a:rPr lang="zh-CN" altLang="en-US" dirty="0">
                <a:solidFill>
                  <a:srgbClr val="C00000"/>
                </a:solidFill>
              </a:rPr>
              <a:t>，（仓库名，物品名）→ </a:t>
            </a:r>
            <a:r>
              <a:rPr lang="zh-CN" altLang="en-US" b="1" dirty="0">
                <a:solidFill>
                  <a:srgbClr val="C00000"/>
                </a:solidFill>
              </a:rPr>
              <a:t>数量</a:t>
            </a:r>
            <a:endParaRPr lang="en-US" altLang="zh-CN" b="1" dirty="0">
              <a:solidFill>
                <a:srgbClr val="C00000"/>
              </a:solidFill>
            </a:endParaRPr>
          </a:p>
          <a:p>
            <a:pPr algn="l"/>
            <a:br>
              <a:rPr lang="zh-CN" altLang="en-US" dirty="0"/>
            </a:br>
            <a:r>
              <a:rPr lang="zh-CN" altLang="en-US" dirty="0">
                <a:solidFill>
                  <a:srgbClr val="0000FF"/>
                </a:solidFill>
              </a:rPr>
              <a:t>候选码</a:t>
            </a:r>
            <a:r>
              <a:rPr lang="zh-CN" altLang="en-US" dirty="0"/>
              <a:t>：（仓库名，物品名），（管理员，物品名）</a:t>
            </a:r>
            <a:endParaRPr lang="en-US" altLang="zh-CN" dirty="0"/>
          </a:p>
          <a:p>
            <a:pPr algn="l"/>
            <a:r>
              <a:rPr lang="zh-CN" altLang="en-US" dirty="0">
                <a:solidFill>
                  <a:schemeClr val="tx2"/>
                </a:solidFill>
              </a:rPr>
              <a:t>主属性</a:t>
            </a:r>
            <a:r>
              <a:rPr lang="zh-CN" altLang="en-US" dirty="0"/>
              <a:t>：</a:t>
            </a:r>
            <a:r>
              <a:rPr lang="zh-CN" altLang="en-US" b="1" dirty="0"/>
              <a:t>仓库名</a:t>
            </a:r>
            <a:r>
              <a:rPr lang="zh-CN" altLang="en-US" dirty="0"/>
              <a:t>、</a:t>
            </a:r>
            <a:r>
              <a:rPr lang="zh-CN" altLang="en-US" b="1" dirty="0"/>
              <a:t>管理员</a:t>
            </a:r>
            <a:r>
              <a:rPr lang="zh-CN" altLang="en-US" dirty="0"/>
              <a:t>、物品名</a:t>
            </a:r>
            <a:endParaRPr lang="en-US" altLang="zh-CN" dirty="0"/>
          </a:p>
          <a:p>
            <a:pPr algn="l"/>
            <a:r>
              <a:rPr lang="zh-CN" altLang="en-US" dirty="0">
                <a:solidFill>
                  <a:schemeClr val="tx2"/>
                </a:solidFill>
              </a:rPr>
              <a:t>非主属性</a:t>
            </a:r>
            <a:r>
              <a:rPr lang="zh-CN" altLang="en-US" dirty="0"/>
              <a:t>：</a:t>
            </a:r>
            <a:r>
              <a:rPr lang="zh-CN" altLang="en-US" b="1" dirty="0"/>
              <a:t>数量</a:t>
            </a:r>
            <a:endParaRPr lang="en-US" altLang="zh-CN" b="1" dirty="0"/>
          </a:p>
          <a:p>
            <a:pPr algn="l"/>
            <a:br>
              <a:rPr lang="zh-CN" altLang="en-US" dirty="0"/>
            </a:br>
            <a:r>
              <a:rPr lang="zh-CN" altLang="en-US" dirty="0"/>
              <a:t>∵ </a:t>
            </a:r>
            <a:r>
              <a:rPr lang="zh-CN" altLang="en-US" dirty="0">
                <a:solidFill>
                  <a:srgbClr val="FF0000"/>
                </a:solidFill>
              </a:rPr>
              <a:t>不存在</a:t>
            </a:r>
            <a:r>
              <a:rPr lang="zh-CN" altLang="en-US" dirty="0">
                <a:solidFill>
                  <a:schemeClr val="tx2"/>
                </a:solidFill>
              </a:rPr>
              <a:t>非主属性</a:t>
            </a:r>
            <a:r>
              <a:rPr lang="zh-CN" altLang="en-US" dirty="0"/>
              <a:t>对</a:t>
            </a:r>
            <a:r>
              <a:rPr lang="zh-CN" altLang="en-US" dirty="0">
                <a:solidFill>
                  <a:schemeClr val="tx2"/>
                </a:solidFill>
              </a:rPr>
              <a:t>码</a:t>
            </a:r>
            <a:r>
              <a:rPr lang="zh-CN" altLang="en-US" dirty="0"/>
              <a:t>的</a:t>
            </a:r>
            <a:r>
              <a:rPr lang="zh-CN" altLang="en-US" u="sng" dirty="0">
                <a:solidFill>
                  <a:schemeClr val="tx2"/>
                </a:solidFill>
              </a:rPr>
              <a:t>部分函数依赖</a:t>
            </a:r>
            <a:r>
              <a:rPr lang="zh-CN" altLang="en-US" u="sng" dirty="0"/>
              <a:t>和</a:t>
            </a:r>
            <a:r>
              <a:rPr lang="zh-CN" altLang="en-US" u="sng" dirty="0">
                <a:solidFill>
                  <a:schemeClr val="tx2"/>
                </a:solidFill>
              </a:rPr>
              <a:t>传递函数依赖</a:t>
            </a:r>
            <a:r>
              <a:rPr lang="zh-CN" altLang="en-US" dirty="0"/>
              <a:t>。∴ 此关系模式属于</a:t>
            </a:r>
            <a:r>
              <a:rPr lang="en-US" altLang="zh-CN" dirty="0">
                <a:solidFill>
                  <a:schemeClr val="tx2"/>
                </a:solidFill>
              </a:rPr>
              <a:t>3NF</a:t>
            </a:r>
            <a:r>
              <a:rPr lang="zh-CN" altLang="en-US" dirty="0"/>
              <a:t>。</a:t>
            </a:r>
          </a:p>
          <a:p>
            <a:pPr algn="l"/>
            <a:endParaRPr lang="zh-CN" altLang="en-US" dirty="0"/>
          </a:p>
        </p:txBody>
      </p:sp>
      <p:sp>
        <p:nvSpPr>
          <p:cNvPr id="7" name="矩形 6"/>
          <p:cNvSpPr/>
          <p:nvPr/>
        </p:nvSpPr>
        <p:spPr>
          <a:xfrm>
            <a:off x="5715008" y="2538707"/>
            <a:ext cx="3000396"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dirty="0"/>
              <a:t>管理员 </a:t>
            </a:r>
            <a:r>
              <a:rPr lang="en-US" altLang="zh-CN" dirty="0">
                <a:ea typeface="宋体" charset="-122"/>
              </a:rPr>
              <a:t>←</a:t>
            </a:r>
            <a:r>
              <a:rPr lang="zh-CN" altLang="en-US" dirty="0"/>
              <a:t>→ 仓库名</a:t>
            </a:r>
          </a:p>
        </p:txBody>
      </p:sp>
      <p:sp>
        <p:nvSpPr>
          <p:cNvPr id="8" name="矩形 7"/>
          <p:cNvSpPr/>
          <p:nvPr/>
        </p:nvSpPr>
        <p:spPr>
          <a:xfrm>
            <a:off x="1214430" y="1428736"/>
            <a:ext cx="5857900" cy="461665"/>
          </a:xfrm>
          <a:prstGeom prst="rect">
            <a:avLst/>
          </a:prstGeom>
        </p:spPr>
        <p:txBody>
          <a:bodyPr wrap="square">
            <a:spAutoFit/>
          </a:bodyPr>
          <a:lstStyle/>
          <a:p>
            <a:r>
              <a:rPr lang="zh-CN" altLang="en-US" b="1" dirty="0"/>
              <a:t>仓库（仓库名，管理员，物品名，数量）</a:t>
            </a:r>
          </a:p>
        </p:txBody>
      </p:sp>
      <p:sp>
        <p:nvSpPr>
          <p:cNvPr id="5" name="页脚占位符 4">
            <a:extLst>
              <a:ext uri="{FF2B5EF4-FFF2-40B4-BE49-F238E27FC236}">
                <a16:creationId xmlns:a16="http://schemas.microsoft.com/office/drawing/2014/main" id="{D332B790-8780-0634-D027-FD10CBAA3B35}"/>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70EA63D9-73F7-7A3D-7205-D3598CEE4C64}"/>
              </a:ext>
            </a:extLst>
          </p:cNvPr>
          <p:cNvSpPr>
            <a:spLocks noGrp="1"/>
          </p:cNvSpPr>
          <p:nvPr>
            <p:ph type="sldNum" sz="quarter" idx="12"/>
          </p:nvPr>
        </p:nvSpPr>
        <p:spPr/>
        <p:txBody>
          <a:bodyPr/>
          <a:lstStyle/>
          <a:p>
            <a:fld id="{A2D74603-B40B-4D66-8F6E-41C870D48932}" type="slidenum">
              <a:rPr lang="en-US" altLang="zh-CN" smtClean="0"/>
              <a:pPr/>
              <a:t>52</a:t>
            </a:fld>
            <a:r>
              <a:rPr lang="en-US" altLang="zh-CN"/>
              <a:t>/162</a:t>
            </a:r>
            <a:endParaRPr lang="en-US" altLang="zh-CN" dirty="0"/>
          </a:p>
        </p:txBody>
      </p:sp>
    </p:spTree>
    <p:extLst>
      <p:ext uri="{BB962C8B-B14F-4D97-AF65-F5344CB8AC3E}">
        <p14:creationId xmlns:p14="http://schemas.microsoft.com/office/powerpoint/2010/main" val="725818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amond(in)">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 calcmode="lin" valueType="num">
                                      <p:cBhvr additive="base">
                                        <p:cTn id="12"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
                                            <p:txEl>
                                              <p:pRg st="2" end="2"/>
                                            </p:txEl>
                                          </p:spTgt>
                                        </p:tgtEl>
                                        <p:attrNameLst>
                                          <p:attrName>style.visibility</p:attrName>
                                        </p:attrNameLst>
                                      </p:cBhvr>
                                      <p:to>
                                        <p:strVal val="visible"/>
                                      </p:to>
                                    </p:set>
                                    <p:anim calcmode="lin" valueType="num">
                                      <p:cBhvr additive="base">
                                        <p:cTn id="18"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2">
                                            <p:txEl>
                                              <p:pRg st="3" end="3"/>
                                            </p:txEl>
                                          </p:spTgt>
                                        </p:tgtEl>
                                        <p:attrNameLst>
                                          <p:attrName>style.visibility</p:attrName>
                                        </p:attrNameLst>
                                      </p:cBhvr>
                                      <p:to>
                                        <p:strVal val="visible"/>
                                      </p:to>
                                    </p:set>
                                    <p:anim calcmode="lin" valueType="num">
                                      <p:cBhvr additive="base">
                                        <p:cTn id="24"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2">
                                            <p:txEl>
                                              <p:pRg st="4" end="4"/>
                                            </p:txEl>
                                          </p:spTgt>
                                        </p:tgtEl>
                                        <p:attrNameLst>
                                          <p:attrName>style.visibility</p:attrName>
                                        </p:attrNameLst>
                                      </p:cBhvr>
                                      <p:to>
                                        <p:strVal val="visible"/>
                                      </p:to>
                                    </p:set>
                                    <p:anim calcmode="lin" valueType="num">
                                      <p:cBhvr additive="base">
                                        <p:cTn id="30"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C244F4C1-F70D-4DC1-8385-FD56280E5936}" type="datetime1">
              <a:rPr lang="zh-CN" altLang="en-US" smtClean="0"/>
              <a:t>2025/11/6</a:t>
            </a:fld>
            <a:endParaRPr lang="en-US" altLang="zh-CN"/>
          </a:p>
        </p:txBody>
      </p:sp>
      <p:sp>
        <p:nvSpPr>
          <p:cNvPr id="285698" name="Rectangle 2"/>
          <p:cNvSpPr>
            <a:spLocks noGrp="1" noChangeArrowheads="1"/>
          </p:cNvSpPr>
          <p:nvPr>
            <p:ph type="title"/>
          </p:nvPr>
        </p:nvSpPr>
        <p:spPr/>
        <p:txBody>
          <a:bodyPr/>
          <a:lstStyle/>
          <a:p>
            <a:r>
              <a:rPr lang="en-US" altLang="zh-CN" dirty="0"/>
              <a:t>8.2.6 BCNF</a:t>
            </a:r>
            <a:endParaRPr lang="zh-CN" altLang="en-US" dirty="0"/>
          </a:p>
        </p:txBody>
      </p:sp>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2375" y="1447800"/>
            <a:ext cx="6724650" cy="3152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矩形 1"/>
          <p:cNvSpPr/>
          <p:nvPr/>
        </p:nvSpPr>
        <p:spPr>
          <a:xfrm>
            <a:off x="990600" y="4800600"/>
            <a:ext cx="5257800" cy="461665"/>
          </a:xfrm>
          <a:prstGeom prst="rect">
            <a:avLst/>
          </a:prstGeom>
        </p:spPr>
        <p:txBody>
          <a:bodyPr wrap="square">
            <a:spAutoFit/>
          </a:bodyPr>
          <a:lstStyle/>
          <a:p>
            <a:r>
              <a:rPr lang="zh-CN" altLang="en-US" dirty="0"/>
              <a:t>那么这个关系模式是否存在问题呢？</a:t>
            </a:r>
          </a:p>
        </p:txBody>
      </p:sp>
      <p:sp>
        <p:nvSpPr>
          <p:cNvPr id="5" name="页脚占位符 4">
            <a:extLst>
              <a:ext uri="{FF2B5EF4-FFF2-40B4-BE49-F238E27FC236}">
                <a16:creationId xmlns:a16="http://schemas.microsoft.com/office/drawing/2014/main" id="{6F48C077-EA22-C1D6-E137-4FE4677FB8C6}"/>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95399568-6158-D2FC-45C1-B0B30DABFA99}"/>
              </a:ext>
            </a:extLst>
          </p:cNvPr>
          <p:cNvSpPr>
            <a:spLocks noGrp="1"/>
          </p:cNvSpPr>
          <p:nvPr>
            <p:ph type="sldNum" sz="quarter" idx="12"/>
          </p:nvPr>
        </p:nvSpPr>
        <p:spPr/>
        <p:txBody>
          <a:bodyPr/>
          <a:lstStyle/>
          <a:p>
            <a:fld id="{A2D74603-B40B-4D66-8F6E-41C870D48932}" type="slidenum">
              <a:rPr lang="en-US" altLang="zh-CN" smtClean="0"/>
              <a:pPr/>
              <a:t>53</a:t>
            </a:fld>
            <a:r>
              <a:rPr lang="en-US" altLang="zh-CN"/>
              <a:t>/162</a:t>
            </a:r>
            <a:endParaRPr lang="en-US" altLang="zh-CN" dirty="0"/>
          </a:p>
        </p:txBody>
      </p:sp>
    </p:spTree>
    <p:extLst>
      <p:ext uri="{BB962C8B-B14F-4D97-AF65-F5344CB8AC3E}">
        <p14:creationId xmlns:p14="http://schemas.microsoft.com/office/powerpoint/2010/main" val="39990637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19DB1EA1-7C9E-412A-BE7E-7FCF9DF5537F}" type="datetime1">
              <a:rPr lang="zh-CN" altLang="en-US" smtClean="0"/>
              <a:t>2025/11/6</a:t>
            </a:fld>
            <a:endParaRPr lang="en-US" altLang="zh-CN"/>
          </a:p>
        </p:txBody>
      </p:sp>
      <p:sp>
        <p:nvSpPr>
          <p:cNvPr id="285698" name="Rectangle 2"/>
          <p:cNvSpPr>
            <a:spLocks noGrp="1" noChangeArrowheads="1"/>
          </p:cNvSpPr>
          <p:nvPr>
            <p:ph type="title"/>
          </p:nvPr>
        </p:nvSpPr>
        <p:spPr/>
        <p:txBody>
          <a:bodyPr/>
          <a:lstStyle/>
          <a:p>
            <a:r>
              <a:rPr lang="en-US" altLang="zh-CN" dirty="0"/>
              <a:t>8.2.6 BCNF</a:t>
            </a:r>
            <a:endParaRPr lang="zh-CN" altLang="en-US" dirty="0"/>
          </a:p>
        </p:txBody>
      </p:sp>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2375" y="1447800"/>
            <a:ext cx="6724650" cy="3152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矩形 1"/>
          <p:cNvSpPr/>
          <p:nvPr/>
        </p:nvSpPr>
        <p:spPr>
          <a:xfrm>
            <a:off x="990600" y="4800600"/>
            <a:ext cx="7315200" cy="1938992"/>
          </a:xfrm>
          <a:prstGeom prst="rect">
            <a:avLst/>
          </a:prstGeom>
        </p:spPr>
        <p:txBody>
          <a:bodyPr wrap="square">
            <a:spAutoFit/>
          </a:bodyPr>
          <a:lstStyle/>
          <a:p>
            <a:r>
              <a:rPr lang="zh-CN" altLang="en-US" dirty="0"/>
              <a:t>想新增加一个仓库，但</a:t>
            </a:r>
            <a:r>
              <a:rPr lang="zh-CN" altLang="en-US" dirty="0">
                <a:solidFill>
                  <a:srgbClr val="FF0000"/>
                </a:solidFill>
              </a:rPr>
              <a:t>尚未存放任何物品</a:t>
            </a:r>
            <a:r>
              <a:rPr lang="zh-CN" altLang="en-US" dirty="0"/>
              <a:t>，是否可以？</a:t>
            </a:r>
            <a:endParaRPr lang="en-US" altLang="zh-CN" dirty="0"/>
          </a:p>
          <a:p>
            <a:endParaRPr lang="en-US" altLang="zh-CN" dirty="0"/>
          </a:p>
          <a:p>
            <a:r>
              <a:rPr lang="en-US" altLang="zh-CN" dirty="0"/>
              <a:t>——</a:t>
            </a:r>
            <a:r>
              <a:rPr lang="zh-CN" altLang="en-US" dirty="0">
                <a:solidFill>
                  <a:srgbClr val="C00000"/>
                </a:solidFill>
              </a:rPr>
              <a:t>不可以</a:t>
            </a:r>
            <a:r>
              <a:rPr lang="zh-CN" altLang="en-US" dirty="0"/>
              <a:t>，因为</a:t>
            </a:r>
            <a:r>
              <a:rPr lang="zh-CN" altLang="en-US" dirty="0">
                <a:solidFill>
                  <a:srgbClr val="C00000"/>
                </a:solidFill>
              </a:rPr>
              <a:t>物品名</a:t>
            </a:r>
            <a:r>
              <a:rPr lang="zh-CN" altLang="en-US" dirty="0"/>
              <a:t>也在</a:t>
            </a:r>
            <a:r>
              <a:rPr lang="zh-CN" altLang="en-US" dirty="0">
                <a:solidFill>
                  <a:srgbClr val="C00000"/>
                </a:solidFill>
              </a:rPr>
              <a:t>主码中</a:t>
            </a:r>
            <a:r>
              <a:rPr lang="zh-CN" altLang="en-US" dirty="0"/>
              <a:t>，根据实体完整性的要求，</a:t>
            </a:r>
            <a:r>
              <a:rPr lang="zh-CN" altLang="en-US" dirty="0">
                <a:solidFill>
                  <a:srgbClr val="C00000"/>
                </a:solidFill>
              </a:rPr>
              <a:t>主码任何属性都不能为空</a:t>
            </a:r>
            <a:r>
              <a:rPr lang="zh-CN" altLang="en-US" dirty="0"/>
              <a:t>。</a:t>
            </a:r>
            <a:br>
              <a:rPr lang="zh-CN" altLang="en-US" dirty="0"/>
            </a:br>
            <a:endParaRPr lang="zh-CN" altLang="en-US" dirty="0"/>
          </a:p>
        </p:txBody>
      </p:sp>
      <p:sp>
        <p:nvSpPr>
          <p:cNvPr id="5" name="页脚占位符 4">
            <a:extLst>
              <a:ext uri="{FF2B5EF4-FFF2-40B4-BE49-F238E27FC236}">
                <a16:creationId xmlns:a16="http://schemas.microsoft.com/office/drawing/2014/main" id="{4926705D-05FD-05F9-2A81-4EBA552E36A6}"/>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94B619F9-625E-B9FE-49CA-562E7D7A0A4C}"/>
              </a:ext>
            </a:extLst>
          </p:cNvPr>
          <p:cNvSpPr>
            <a:spLocks noGrp="1"/>
          </p:cNvSpPr>
          <p:nvPr>
            <p:ph type="sldNum" sz="quarter" idx="12"/>
          </p:nvPr>
        </p:nvSpPr>
        <p:spPr/>
        <p:txBody>
          <a:bodyPr/>
          <a:lstStyle/>
          <a:p>
            <a:fld id="{A2D74603-B40B-4D66-8F6E-41C870D48932}" type="slidenum">
              <a:rPr lang="en-US" altLang="zh-CN" smtClean="0"/>
              <a:pPr/>
              <a:t>54</a:t>
            </a:fld>
            <a:r>
              <a:rPr lang="en-US" altLang="zh-CN"/>
              <a:t>/162</a:t>
            </a:r>
            <a:endParaRPr lang="en-US" altLang="zh-CN" dirty="0"/>
          </a:p>
        </p:txBody>
      </p:sp>
    </p:spTree>
    <p:extLst>
      <p:ext uri="{BB962C8B-B14F-4D97-AF65-F5344CB8AC3E}">
        <p14:creationId xmlns:p14="http://schemas.microsoft.com/office/powerpoint/2010/main" val="35783285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C609B390-4A4D-43D6-B2B0-AEC88C25B4B1}" type="datetime1">
              <a:rPr lang="zh-CN" altLang="en-US" smtClean="0"/>
              <a:t>2025/11/6</a:t>
            </a:fld>
            <a:endParaRPr lang="en-US" altLang="zh-CN"/>
          </a:p>
        </p:txBody>
      </p:sp>
      <p:sp>
        <p:nvSpPr>
          <p:cNvPr id="285698" name="Rectangle 2"/>
          <p:cNvSpPr>
            <a:spLocks noGrp="1" noChangeArrowheads="1"/>
          </p:cNvSpPr>
          <p:nvPr>
            <p:ph type="title"/>
          </p:nvPr>
        </p:nvSpPr>
        <p:spPr/>
        <p:txBody>
          <a:bodyPr/>
          <a:lstStyle/>
          <a:p>
            <a:r>
              <a:rPr lang="en-US" altLang="zh-CN" dirty="0"/>
              <a:t>8.2.6 BCNF</a:t>
            </a:r>
            <a:endParaRPr lang="zh-CN" altLang="en-US" dirty="0"/>
          </a:p>
        </p:txBody>
      </p:sp>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2375" y="1447800"/>
            <a:ext cx="6724650" cy="3152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矩形 1"/>
          <p:cNvSpPr/>
          <p:nvPr/>
        </p:nvSpPr>
        <p:spPr>
          <a:xfrm>
            <a:off x="990600" y="4800600"/>
            <a:ext cx="7086600" cy="1569660"/>
          </a:xfrm>
          <a:prstGeom prst="rect">
            <a:avLst/>
          </a:prstGeom>
        </p:spPr>
        <p:txBody>
          <a:bodyPr wrap="square">
            <a:spAutoFit/>
          </a:bodyPr>
          <a:lstStyle/>
          <a:p>
            <a:r>
              <a:rPr lang="zh-CN" altLang="en-US" dirty="0"/>
              <a:t>某仓库被清空后，需要删除所有与这个仓库相关的物品存放记录，会带来什么问题？</a:t>
            </a:r>
            <a:endParaRPr lang="en-US" altLang="zh-CN" dirty="0"/>
          </a:p>
          <a:p>
            <a:r>
              <a:rPr lang="en-US" altLang="zh-CN" dirty="0"/>
              <a:t>——</a:t>
            </a:r>
            <a:r>
              <a:rPr lang="zh-CN" altLang="en-US" dirty="0">
                <a:solidFill>
                  <a:srgbClr val="0000FF"/>
                </a:solidFill>
              </a:rPr>
              <a:t>仓库本身与管理员的信息也被随之删除了</a:t>
            </a:r>
            <a:r>
              <a:rPr lang="zh-CN" altLang="en-US" dirty="0"/>
              <a:t>。</a:t>
            </a:r>
            <a:br>
              <a:rPr lang="zh-CN" altLang="en-US" dirty="0"/>
            </a:br>
            <a:endParaRPr lang="zh-CN" altLang="en-US" dirty="0"/>
          </a:p>
        </p:txBody>
      </p:sp>
      <p:sp>
        <p:nvSpPr>
          <p:cNvPr id="5" name="页脚占位符 4">
            <a:extLst>
              <a:ext uri="{FF2B5EF4-FFF2-40B4-BE49-F238E27FC236}">
                <a16:creationId xmlns:a16="http://schemas.microsoft.com/office/drawing/2014/main" id="{BAF1830F-9780-8ED4-CEB3-D76B846F57DF}"/>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B6B2976C-CC2D-3AB7-3592-5F850DCE1CE5}"/>
              </a:ext>
            </a:extLst>
          </p:cNvPr>
          <p:cNvSpPr>
            <a:spLocks noGrp="1"/>
          </p:cNvSpPr>
          <p:nvPr>
            <p:ph type="sldNum" sz="quarter" idx="12"/>
          </p:nvPr>
        </p:nvSpPr>
        <p:spPr/>
        <p:txBody>
          <a:bodyPr/>
          <a:lstStyle/>
          <a:p>
            <a:fld id="{A2D74603-B40B-4D66-8F6E-41C870D48932}" type="slidenum">
              <a:rPr lang="en-US" altLang="zh-CN" smtClean="0"/>
              <a:pPr/>
              <a:t>55</a:t>
            </a:fld>
            <a:r>
              <a:rPr lang="en-US" altLang="zh-CN"/>
              <a:t>/162</a:t>
            </a:r>
            <a:endParaRPr lang="en-US" altLang="zh-CN" dirty="0"/>
          </a:p>
        </p:txBody>
      </p:sp>
    </p:spTree>
    <p:extLst>
      <p:ext uri="{BB962C8B-B14F-4D97-AF65-F5344CB8AC3E}">
        <p14:creationId xmlns:p14="http://schemas.microsoft.com/office/powerpoint/2010/main" val="20885749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allAtOnce"/>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0D661DA9-3646-49F6-83FC-31BCFF288F1E}" type="datetime1">
              <a:rPr lang="zh-CN" altLang="en-US" smtClean="0"/>
              <a:t>2025/11/6</a:t>
            </a:fld>
            <a:endParaRPr lang="en-US" altLang="zh-CN"/>
          </a:p>
        </p:txBody>
      </p:sp>
      <p:sp>
        <p:nvSpPr>
          <p:cNvPr id="285698" name="Rectangle 2"/>
          <p:cNvSpPr>
            <a:spLocks noGrp="1" noChangeArrowheads="1"/>
          </p:cNvSpPr>
          <p:nvPr>
            <p:ph type="title"/>
          </p:nvPr>
        </p:nvSpPr>
        <p:spPr/>
        <p:txBody>
          <a:bodyPr/>
          <a:lstStyle/>
          <a:p>
            <a:r>
              <a:rPr lang="en-US" altLang="zh-CN" dirty="0"/>
              <a:t>8.2.6 BCNF</a:t>
            </a:r>
            <a:endParaRPr lang="zh-CN" altLang="en-US" dirty="0"/>
          </a:p>
        </p:txBody>
      </p:sp>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2375" y="1447800"/>
            <a:ext cx="6724650" cy="3152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矩形 1"/>
          <p:cNvSpPr/>
          <p:nvPr/>
        </p:nvSpPr>
        <p:spPr>
          <a:xfrm>
            <a:off x="990600" y="4800600"/>
            <a:ext cx="7391400" cy="1200329"/>
          </a:xfrm>
          <a:prstGeom prst="rect">
            <a:avLst/>
          </a:prstGeom>
        </p:spPr>
        <p:txBody>
          <a:bodyPr wrap="square">
            <a:spAutoFit/>
          </a:bodyPr>
          <a:lstStyle/>
          <a:p>
            <a:r>
              <a:rPr lang="zh-CN" altLang="en-US" dirty="0"/>
              <a:t>如果某仓库更换了管理员，会带来什么问题？</a:t>
            </a:r>
            <a:endParaRPr lang="en-US" altLang="zh-CN" dirty="0"/>
          </a:p>
          <a:p>
            <a:r>
              <a:rPr lang="en-US" altLang="zh-CN" dirty="0"/>
              <a:t>——</a:t>
            </a:r>
            <a:r>
              <a:rPr lang="zh-CN" altLang="en-US" dirty="0"/>
              <a:t>这个仓库有</a:t>
            </a:r>
            <a:r>
              <a:rPr lang="zh-CN" altLang="en-US" dirty="0">
                <a:solidFill>
                  <a:srgbClr val="0000FF"/>
                </a:solidFill>
              </a:rPr>
              <a:t>几条物品存放记录</a:t>
            </a:r>
            <a:r>
              <a:rPr lang="zh-CN" altLang="en-US" dirty="0"/>
              <a:t>，就要</a:t>
            </a:r>
            <a:r>
              <a:rPr lang="zh-CN" altLang="en-US" dirty="0">
                <a:solidFill>
                  <a:srgbClr val="0000FF"/>
                </a:solidFill>
              </a:rPr>
              <a:t>修改多少次管理员信息</a:t>
            </a:r>
            <a:r>
              <a:rPr lang="zh-CN" altLang="en-US" dirty="0"/>
              <a:t>。</a:t>
            </a:r>
          </a:p>
        </p:txBody>
      </p:sp>
      <p:sp>
        <p:nvSpPr>
          <p:cNvPr id="5" name="页脚占位符 4">
            <a:extLst>
              <a:ext uri="{FF2B5EF4-FFF2-40B4-BE49-F238E27FC236}">
                <a16:creationId xmlns:a16="http://schemas.microsoft.com/office/drawing/2014/main" id="{1CC7FC0A-559C-A76E-4B1F-0C563B8233A1}"/>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ECCDE7DE-3AF3-D83C-9594-97640DA98824}"/>
              </a:ext>
            </a:extLst>
          </p:cNvPr>
          <p:cNvSpPr>
            <a:spLocks noGrp="1"/>
          </p:cNvSpPr>
          <p:nvPr>
            <p:ph type="sldNum" sz="quarter" idx="12"/>
          </p:nvPr>
        </p:nvSpPr>
        <p:spPr/>
        <p:txBody>
          <a:bodyPr/>
          <a:lstStyle/>
          <a:p>
            <a:fld id="{A2D74603-B40B-4D66-8F6E-41C870D48932}" type="slidenum">
              <a:rPr lang="en-US" altLang="zh-CN" smtClean="0"/>
              <a:pPr/>
              <a:t>56</a:t>
            </a:fld>
            <a:r>
              <a:rPr lang="en-US" altLang="zh-CN"/>
              <a:t>/162</a:t>
            </a:r>
            <a:endParaRPr lang="en-US" altLang="zh-CN" dirty="0"/>
          </a:p>
        </p:txBody>
      </p:sp>
    </p:spTree>
    <p:extLst>
      <p:ext uri="{BB962C8B-B14F-4D97-AF65-F5344CB8AC3E}">
        <p14:creationId xmlns:p14="http://schemas.microsoft.com/office/powerpoint/2010/main" val="11998355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allAtOnce"/>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986B6A20-A789-4808-969B-438D24E5B308}" type="datetime1">
              <a:rPr lang="zh-CN" altLang="en-US" smtClean="0"/>
              <a:t>2025/11/6</a:t>
            </a:fld>
            <a:endParaRPr lang="en-US" altLang="zh-CN"/>
          </a:p>
        </p:txBody>
      </p:sp>
      <p:sp>
        <p:nvSpPr>
          <p:cNvPr id="285698" name="Rectangle 2"/>
          <p:cNvSpPr>
            <a:spLocks noGrp="1" noChangeArrowheads="1"/>
          </p:cNvSpPr>
          <p:nvPr>
            <p:ph type="title"/>
          </p:nvPr>
        </p:nvSpPr>
        <p:spPr/>
        <p:txBody>
          <a:bodyPr/>
          <a:lstStyle/>
          <a:p>
            <a:r>
              <a:rPr lang="en-US" altLang="zh-CN" dirty="0"/>
              <a:t>8.2.6 BCNF</a:t>
            </a:r>
            <a:endParaRPr lang="zh-CN" altLang="en-US" dirty="0"/>
          </a:p>
        </p:txBody>
      </p:sp>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2375" y="1447800"/>
            <a:ext cx="6724650" cy="3152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矩形 1"/>
          <p:cNvSpPr/>
          <p:nvPr/>
        </p:nvSpPr>
        <p:spPr>
          <a:xfrm>
            <a:off x="990600" y="4800600"/>
            <a:ext cx="7391400" cy="1200329"/>
          </a:xfrm>
          <a:prstGeom prst="rect">
            <a:avLst/>
          </a:prstGeom>
        </p:spPr>
        <p:txBody>
          <a:bodyPr wrap="square">
            <a:spAutoFit/>
          </a:bodyPr>
          <a:lstStyle/>
          <a:p>
            <a:r>
              <a:rPr lang="zh-CN" altLang="en-US" dirty="0"/>
              <a:t>从这里我们可以得出结论，在某些特殊情况下，即使关系模式符合 </a:t>
            </a:r>
            <a:r>
              <a:rPr lang="en-US" altLang="zh-CN" dirty="0"/>
              <a:t>3NF </a:t>
            </a:r>
            <a:r>
              <a:rPr lang="zh-CN" altLang="en-US" dirty="0"/>
              <a:t>的要求，仍然存在着插入异常，修改异常与删除异常的问题，仍然</a:t>
            </a:r>
            <a:r>
              <a:rPr lang="zh-CN" altLang="en-US" dirty="0">
                <a:solidFill>
                  <a:srgbClr val="FF0000"/>
                </a:solidFill>
              </a:rPr>
              <a:t>不是 “好” </a:t>
            </a:r>
            <a:r>
              <a:rPr lang="zh-CN" altLang="en-US" dirty="0"/>
              <a:t>的设计。</a:t>
            </a:r>
          </a:p>
        </p:txBody>
      </p:sp>
      <p:sp>
        <p:nvSpPr>
          <p:cNvPr id="5" name="页脚占位符 4">
            <a:extLst>
              <a:ext uri="{FF2B5EF4-FFF2-40B4-BE49-F238E27FC236}">
                <a16:creationId xmlns:a16="http://schemas.microsoft.com/office/drawing/2014/main" id="{2BD7A402-2420-9520-AB0C-AB5866A69D68}"/>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557D2B99-D5D9-F834-0425-CAC82134AF7A}"/>
              </a:ext>
            </a:extLst>
          </p:cNvPr>
          <p:cNvSpPr>
            <a:spLocks noGrp="1"/>
          </p:cNvSpPr>
          <p:nvPr>
            <p:ph type="sldNum" sz="quarter" idx="12"/>
          </p:nvPr>
        </p:nvSpPr>
        <p:spPr/>
        <p:txBody>
          <a:bodyPr/>
          <a:lstStyle/>
          <a:p>
            <a:fld id="{A2D74603-B40B-4D66-8F6E-41C870D48932}" type="slidenum">
              <a:rPr lang="en-US" altLang="zh-CN" smtClean="0"/>
              <a:pPr/>
              <a:t>57</a:t>
            </a:fld>
            <a:r>
              <a:rPr lang="en-US" altLang="zh-CN"/>
              <a:t>/162</a:t>
            </a:r>
            <a:endParaRPr lang="en-US" altLang="zh-CN" dirty="0"/>
          </a:p>
        </p:txBody>
      </p:sp>
    </p:spTree>
    <p:extLst>
      <p:ext uri="{BB962C8B-B14F-4D97-AF65-F5344CB8AC3E}">
        <p14:creationId xmlns:p14="http://schemas.microsoft.com/office/powerpoint/2010/main" val="544667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DDE6B81D-F174-49F6-A921-4186E2585A23}" type="datetime1">
              <a:rPr lang="zh-CN" altLang="en-US" smtClean="0"/>
              <a:t>2025/11/6</a:t>
            </a:fld>
            <a:endParaRPr lang="en-US" altLang="zh-CN"/>
          </a:p>
        </p:txBody>
      </p:sp>
      <p:sp>
        <p:nvSpPr>
          <p:cNvPr id="285698" name="Rectangle 2"/>
          <p:cNvSpPr>
            <a:spLocks noGrp="1" noChangeArrowheads="1"/>
          </p:cNvSpPr>
          <p:nvPr>
            <p:ph type="title"/>
          </p:nvPr>
        </p:nvSpPr>
        <p:spPr/>
        <p:txBody>
          <a:bodyPr/>
          <a:lstStyle/>
          <a:p>
            <a:r>
              <a:rPr lang="en-US" altLang="zh-CN" dirty="0"/>
              <a:t>8.2.6 BCNF</a:t>
            </a:r>
            <a:endParaRPr lang="zh-CN" altLang="en-US" dirty="0"/>
          </a:p>
        </p:txBody>
      </p:sp>
      <p:sp>
        <p:nvSpPr>
          <p:cNvPr id="2" name="TextBox 1"/>
          <p:cNvSpPr txBox="1"/>
          <p:nvPr/>
        </p:nvSpPr>
        <p:spPr>
          <a:xfrm>
            <a:off x="685800" y="2000802"/>
            <a:ext cx="7696200" cy="3785652"/>
          </a:xfrm>
          <a:prstGeom prst="rect">
            <a:avLst/>
          </a:prstGeom>
          <a:noFill/>
        </p:spPr>
        <p:txBody>
          <a:bodyPr wrap="square" rtlCol="0">
            <a:spAutoFit/>
          </a:bodyPr>
          <a:lstStyle/>
          <a:p>
            <a:pPr algn="l"/>
            <a:r>
              <a:rPr lang="zh-CN" altLang="en-US" dirty="0"/>
              <a:t>已知函数依赖集：</a:t>
            </a:r>
            <a:r>
              <a:rPr lang="zh-CN" altLang="en-US" dirty="0">
                <a:solidFill>
                  <a:srgbClr val="0000FF"/>
                </a:solidFill>
              </a:rPr>
              <a:t>仓库名 → 管理员，管理员 → 仓库名</a:t>
            </a:r>
            <a:r>
              <a:rPr lang="zh-CN" altLang="en-US" dirty="0">
                <a:solidFill>
                  <a:srgbClr val="C00000"/>
                </a:solidFill>
              </a:rPr>
              <a:t>，（仓库名，物品名）→ </a:t>
            </a:r>
            <a:r>
              <a:rPr lang="zh-CN" altLang="en-US" b="1" dirty="0">
                <a:solidFill>
                  <a:srgbClr val="C00000"/>
                </a:solidFill>
              </a:rPr>
              <a:t>数量</a:t>
            </a:r>
            <a:endParaRPr lang="en-US" altLang="zh-CN" b="1" dirty="0">
              <a:solidFill>
                <a:srgbClr val="C00000"/>
              </a:solidFill>
            </a:endParaRPr>
          </a:p>
          <a:p>
            <a:pPr algn="l"/>
            <a:br>
              <a:rPr lang="zh-CN" altLang="en-US" dirty="0"/>
            </a:br>
            <a:r>
              <a:rPr lang="zh-CN" altLang="en-US" dirty="0">
                <a:solidFill>
                  <a:srgbClr val="0000FF"/>
                </a:solidFill>
              </a:rPr>
              <a:t>候选码</a:t>
            </a:r>
            <a:r>
              <a:rPr lang="zh-CN" altLang="en-US" dirty="0"/>
              <a:t>：（仓库名，物品名），（管理员，物品名）</a:t>
            </a:r>
            <a:endParaRPr lang="en-US" altLang="zh-CN" dirty="0"/>
          </a:p>
          <a:p>
            <a:pPr algn="l"/>
            <a:r>
              <a:rPr lang="zh-CN" altLang="en-US" dirty="0">
                <a:solidFill>
                  <a:schemeClr val="tx2"/>
                </a:solidFill>
              </a:rPr>
              <a:t>主属性</a:t>
            </a:r>
            <a:r>
              <a:rPr lang="zh-CN" altLang="en-US" dirty="0"/>
              <a:t>：</a:t>
            </a:r>
            <a:r>
              <a:rPr lang="zh-CN" altLang="en-US" b="1" dirty="0"/>
              <a:t>仓库名</a:t>
            </a:r>
            <a:r>
              <a:rPr lang="zh-CN" altLang="en-US" dirty="0"/>
              <a:t>、</a:t>
            </a:r>
            <a:r>
              <a:rPr lang="zh-CN" altLang="en-US" b="1" dirty="0"/>
              <a:t>管理员</a:t>
            </a:r>
            <a:r>
              <a:rPr lang="zh-CN" altLang="en-US" dirty="0"/>
              <a:t>、物品名</a:t>
            </a:r>
            <a:endParaRPr lang="en-US" altLang="zh-CN" dirty="0"/>
          </a:p>
          <a:p>
            <a:pPr algn="l"/>
            <a:r>
              <a:rPr lang="zh-CN" altLang="en-US" dirty="0">
                <a:solidFill>
                  <a:schemeClr val="tx2"/>
                </a:solidFill>
              </a:rPr>
              <a:t>非主属性</a:t>
            </a:r>
            <a:r>
              <a:rPr lang="zh-CN" altLang="en-US" dirty="0"/>
              <a:t>：</a:t>
            </a:r>
            <a:r>
              <a:rPr lang="zh-CN" altLang="en-US" b="1" dirty="0"/>
              <a:t>数量</a:t>
            </a:r>
            <a:endParaRPr lang="en-US" altLang="zh-CN" b="1" dirty="0"/>
          </a:p>
          <a:p>
            <a:pPr algn="l"/>
            <a:br>
              <a:rPr lang="zh-CN" altLang="en-US" dirty="0"/>
            </a:br>
            <a:r>
              <a:rPr lang="zh-CN" altLang="en-US" dirty="0"/>
              <a:t>∵ </a:t>
            </a:r>
            <a:r>
              <a:rPr lang="zh-CN" altLang="en-US" dirty="0">
                <a:solidFill>
                  <a:srgbClr val="FF0000"/>
                </a:solidFill>
              </a:rPr>
              <a:t>不存在</a:t>
            </a:r>
            <a:r>
              <a:rPr lang="zh-CN" altLang="en-US" dirty="0">
                <a:solidFill>
                  <a:schemeClr val="tx2"/>
                </a:solidFill>
              </a:rPr>
              <a:t>非主属性</a:t>
            </a:r>
            <a:r>
              <a:rPr lang="zh-CN" altLang="en-US" dirty="0"/>
              <a:t>对</a:t>
            </a:r>
            <a:r>
              <a:rPr lang="zh-CN" altLang="en-US" dirty="0">
                <a:solidFill>
                  <a:schemeClr val="tx2"/>
                </a:solidFill>
              </a:rPr>
              <a:t>码</a:t>
            </a:r>
            <a:r>
              <a:rPr lang="zh-CN" altLang="en-US" dirty="0"/>
              <a:t>的</a:t>
            </a:r>
            <a:r>
              <a:rPr lang="zh-CN" altLang="en-US" u="sng" dirty="0">
                <a:solidFill>
                  <a:schemeClr val="tx2"/>
                </a:solidFill>
              </a:rPr>
              <a:t>部分函数依赖</a:t>
            </a:r>
            <a:r>
              <a:rPr lang="zh-CN" altLang="en-US" u="sng" dirty="0"/>
              <a:t>和</a:t>
            </a:r>
            <a:r>
              <a:rPr lang="zh-CN" altLang="en-US" u="sng" dirty="0">
                <a:solidFill>
                  <a:schemeClr val="tx2"/>
                </a:solidFill>
              </a:rPr>
              <a:t>传递函数依赖</a:t>
            </a:r>
            <a:r>
              <a:rPr lang="zh-CN" altLang="en-US" dirty="0"/>
              <a:t>。∴ 此关系模式属于</a:t>
            </a:r>
            <a:r>
              <a:rPr lang="en-US" altLang="zh-CN" dirty="0">
                <a:solidFill>
                  <a:schemeClr val="tx2"/>
                </a:solidFill>
              </a:rPr>
              <a:t>3NF</a:t>
            </a:r>
            <a:r>
              <a:rPr lang="zh-CN" altLang="en-US" dirty="0"/>
              <a:t>。</a:t>
            </a:r>
          </a:p>
          <a:p>
            <a:pPr algn="l"/>
            <a:endParaRPr lang="zh-CN" altLang="en-US" dirty="0"/>
          </a:p>
        </p:txBody>
      </p:sp>
      <p:sp>
        <p:nvSpPr>
          <p:cNvPr id="7" name="矩形 6"/>
          <p:cNvSpPr/>
          <p:nvPr/>
        </p:nvSpPr>
        <p:spPr>
          <a:xfrm>
            <a:off x="5715008" y="2538707"/>
            <a:ext cx="3000396"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dirty="0"/>
              <a:t>管理员 </a:t>
            </a:r>
            <a:r>
              <a:rPr lang="en-US" altLang="zh-CN" dirty="0">
                <a:ea typeface="宋体" charset="-122"/>
              </a:rPr>
              <a:t>←</a:t>
            </a:r>
            <a:r>
              <a:rPr lang="zh-CN" altLang="en-US" dirty="0"/>
              <a:t>→ 仓库名</a:t>
            </a:r>
          </a:p>
        </p:txBody>
      </p:sp>
      <p:sp>
        <p:nvSpPr>
          <p:cNvPr id="8" name="矩形 7"/>
          <p:cNvSpPr/>
          <p:nvPr/>
        </p:nvSpPr>
        <p:spPr>
          <a:xfrm>
            <a:off x="1214430" y="1428736"/>
            <a:ext cx="5857900" cy="461665"/>
          </a:xfrm>
          <a:prstGeom prst="rect">
            <a:avLst/>
          </a:prstGeom>
        </p:spPr>
        <p:txBody>
          <a:bodyPr wrap="square">
            <a:spAutoFit/>
          </a:bodyPr>
          <a:lstStyle/>
          <a:p>
            <a:r>
              <a:rPr lang="zh-CN" altLang="en-US" b="1" dirty="0"/>
              <a:t>仓库（仓库名，管理员，物品名，数量）</a:t>
            </a:r>
          </a:p>
        </p:txBody>
      </p:sp>
      <p:sp>
        <p:nvSpPr>
          <p:cNvPr id="5" name="页脚占位符 4">
            <a:extLst>
              <a:ext uri="{FF2B5EF4-FFF2-40B4-BE49-F238E27FC236}">
                <a16:creationId xmlns:a16="http://schemas.microsoft.com/office/drawing/2014/main" id="{D332B790-8780-0634-D027-FD10CBAA3B35}"/>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70EA63D9-73F7-7A3D-7205-D3598CEE4C64}"/>
              </a:ext>
            </a:extLst>
          </p:cNvPr>
          <p:cNvSpPr>
            <a:spLocks noGrp="1"/>
          </p:cNvSpPr>
          <p:nvPr>
            <p:ph type="sldNum" sz="quarter" idx="12"/>
          </p:nvPr>
        </p:nvSpPr>
        <p:spPr/>
        <p:txBody>
          <a:bodyPr/>
          <a:lstStyle/>
          <a:p>
            <a:fld id="{A2D74603-B40B-4D66-8F6E-41C870D48932}" type="slidenum">
              <a:rPr lang="en-US" altLang="zh-CN" smtClean="0"/>
              <a:pPr/>
              <a:t>58</a:t>
            </a:fld>
            <a:r>
              <a:rPr lang="en-US" altLang="zh-CN"/>
              <a:t>/162</a:t>
            </a:r>
            <a:endParaRPr lang="en-US" altLang="zh-CN" dirty="0"/>
          </a:p>
        </p:txBody>
      </p:sp>
    </p:spTree>
    <p:extLst>
      <p:ext uri="{BB962C8B-B14F-4D97-AF65-F5344CB8AC3E}">
        <p14:creationId xmlns:p14="http://schemas.microsoft.com/office/powerpoint/2010/main" val="4286546318"/>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20B6416-F870-4167-B8F4-77655D04A911}" type="datetime1">
              <a:rPr lang="zh-CN" altLang="en-US" smtClean="0"/>
              <a:t>2025/11/6</a:t>
            </a:fld>
            <a:endParaRPr lang="en-US" altLang="zh-CN"/>
          </a:p>
        </p:txBody>
      </p:sp>
      <p:sp>
        <p:nvSpPr>
          <p:cNvPr id="285698" name="Rectangle 2"/>
          <p:cNvSpPr>
            <a:spLocks noGrp="1" noChangeArrowheads="1"/>
          </p:cNvSpPr>
          <p:nvPr>
            <p:ph type="title"/>
          </p:nvPr>
        </p:nvSpPr>
        <p:spPr/>
        <p:txBody>
          <a:bodyPr/>
          <a:lstStyle/>
          <a:p>
            <a:r>
              <a:rPr lang="en-US" altLang="zh-CN" dirty="0"/>
              <a:t>8.2.6 BCNF</a:t>
            </a:r>
            <a:endParaRPr lang="zh-CN" altLang="en-US" dirty="0"/>
          </a:p>
        </p:txBody>
      </p:sp>
      <p:sp>
        <p:nvSpPr>
          <p:cNvPr id="2" name="矩形 1"/>
          <p:cNvSpPr/>
          <p:nvPr/>
        </p:nvSpPr>
        <p:spPr>
          <a:xfrm>
            <a:off x="838200" y="1524000"/>
            <a:ext cx="7848600" cy="4524315"/>
          </a:xfrm>
          <a:prstGeom prst="rect">
            <a:avLst/>
          </a:prstGeom>
        </p:spPr>
        <p:txBody>
          <a:bodyPr wrap="square">
            <a:spAutoFit/>
          </a:bodyPr>
          <a:lstStyle/>
          <a:p>
            <a:pPr algn="l"/>
            <a:r>
              <a:rPr lang="zh-CN" altLang="en-US" dirty="0"/>
              <a:t>造成此问题的原因：存在着</a:t>
            </a:r>
            <a:r>
              <a:rPr lang="zh-CN" altLang="en-US" b="1" dirty="0">
                <a:solidFill>
                  <a:srgbClr val="C00000"/>
                </a:solidFill>
              </a:rPr>
              <a:t>主属性</a:t>
            </a:r>
            <a:r>
              <a:rPr lang="zh-CN" altLang="en-US" dirty="0"/>
              <a:t>对于</a:t>
            </a:r>
            <a:r>
              <a:rPr lang="zh-CN" altLang="en-US" dirty="0">
                <a:solidFill>
                  <a:srgbClr val="C00000"/>
                </a:solidFill>
              </a:rPr>
              <a:t>码</a:t>
            </a:r>
            <a:r>
              <a:rPr lang="zh-CN" altLang="en-US" dirty="0"/>
              <a:t>的</a:t>
            </a:r>
            <a:r>
              <a:rPr lang="zh-CN" altLang="en-US" b="1" dirty="0">
                <a:solidFill>
                  <a:srgbClr val="C00000"/>
                </a:solidFill>
              </a:rPr>
              <a:t>部分</a:t>
            </a:r>
            <a:r>
              <a:rPr lang="zh-CN" altLang="en-US" dirty="0">
                <a:solidFill>
                  <a:srgbClr val="C00000"/>
                </a:solidFill>
              </a:rPr>
              <a:t>函数依赖</a:t>
            </a:r>
            <a:r>
              <a:rPr lang="zh-CN" altLang="en-US" dirty="0"/>
              <a:t>与</a:t>
            </a:r>
            <a:r>
              <a:rPr lang="zh-CN" altLang="en-US" dirty="0">
                <a:solidFill>
                  <a:srgbClr val="C00000"/>
                </a:solidFill>
              </a:rPr>
              <a:t>传递函数依赖</a:t>
            </a:r>
            <a:r>
              <a:rPr lang="zh-CN" altLang="en-US" dirty="0"/>
              <a:t>。（在此例中就是存在</a:t>
            </a:r>
            <a:r>
              <a:rPr lang="zh-CN" altLang="en-US" dirty="0">
                <a:solidFill>
                  <a:srgbClr val="0000FF"/>
                </a:solidFill>
              </a:rPr>
              <a:t>主属性</a:t>
            </a:r>
            <a:r>
              <a:rPr lang="en-US" altLang="zh-CN" dirty="0"/>
              <a:t>【</a:t>
            </a:r>
            <a:r>
              <a:rPr lang="zh-CN" altLang="en-US" dirty="0"/>
              <a:t>仓库名</a:t>
            </a:r>
            <a:r>
              <a:rPr lang="en-US" altLang="zh-CN" dirty="0"/>
              <a:t>】</a:t>
            </a:r>
            <a:r>
              <a:rPr lang="zh-CN" altLang="en-US" dirty="0">
                <a:solidFill>
                  <a:srgbClr val="0000FF"/>
                </a:solidFill>
              </a:rPr>
              <a:t>对于码</a:t>
            </a:r>
            <a:r>
              <a:rPr lang="en-US" altLang="zh-CN" dirty="0"/>
              <a:t>【</a:t>
            </a:r>
            <a:r>
              <a:rPr lang="zh-CN" altLang="en-US" dirty="0"/>
              <a:t>（管理员，物品名）</a:t>
            </a:r>
            <a:r>
              <a:rPr lang="en-US" altLang="zh-CN" dirty="0"/>
              <a:t>】</a:t>
            </a:r>
            <a:r>
              <a:rPr lang="zh-CN" altLang="en-US" dirty="0"/>
              <a:t>的</a:t>
            </a:r>
            <a:r>
              <a:rPr lang="zh-CN" altLang="en-US" dirty="0">
                <a:solidFill>
                  <a:srgbClr val="0000FF"/>
                </a:solidFill>
              </a:rPr>
              <a:t>部分函数依赖</a:t>
            </a:r>
            <a:r>
              <a:rPr lang="zh-CN" altLang="en-US" dirty="0"/>
              <a:t>。）</a:t>
            </a:r>
            <a:br>
              <a:rPr lang="zh-CN" altLang="en-US" dirty="0"/>
            </a:br>
            <a:br>
              <a:rPr lang="zh-CN" altLang="en-US" dirty="0"/>
            </a:br>
            <a:r>
              <a:rPr lang="zh-CN" altLang="en-US" dirty="0"/>
              <a:t>解决办法就是要在 </a:t>
            </a:r>
            <a:r>
              <a:rPr lang="en-US" altLang="zh-CN" dirty="0"/>
              <a:t>3NF </a:t>
            </a:r>
            <a:r>
              <a:rPr lang="zh-CN" altLang="en-US" dirty="0"/>
              <a:t>的基础上</a:t>
            </a:r>
            <a:r>
              <a:rPr lang="zh-CN" altLang="en-US" b="1" dirty="0">
                <a:solidFill>
                  <a:srgbClr val="FF0000"/>
                </a:solidFill>
              </a:rPr>
              <a:t>消除</a:t>
            </a:r>
            <a:r>
              <a:rPr lang="zh-CN" altLang="en-US" b="1" dirty="0">
                <a:solidFill>
                  <a:srgbClr val="0000FF"/>
                </a:solidFill>
              </a:rPr>
              <a:t>主属性</a:t>
            </a:r>
            <a:r>
              <a:rPr lang="zh-CN" altLang="en-US" dirty="0"/>
              <a:t>对于</a:t>
            </a:r>
            <a:r>
              <a:rPr lang="zh-CN" altLang="en-US" dirty="0">
                <a:solidFill>
                  <a:srgbClr val="0000FF"/>
                </a:solidFill>
              </a:rPr>
              <a:t>码的部分与传递函数依赖</a:t>
            </a:r>
            <a:r>
              <a:rPr lang="zh-CN" altLang="en-US" dirty="0"/>
              <a:t>。</a:t>
            </a:r>
            <a:br>
              <a:rPr lang="zh-CN" altLang="en-US" dirty="0"/>
            </a:br>
            <a:br>
              <a:rPr lang="zh-CN" altLang="en-US" dirty="0"/>
            </a:br>
            <a:r>
              <a:rPr lang="zh-CN" altLang="en-US" dirty="0"/>
              <a:t>仓库（仓库名，管理员）</a:t>
            </a:r>
            <a:br>
              <a:rPr lang="zh-CN" altLang="en-US" dirty="0"/>
            </a:br>
            <a:r>
              <a:rPr lang="zh-CN" altLang="en-US" dirty="0"/>
              <a:t>库存（仓库名，物品名，数量）</a:t>
            </a:r>
            <a:br>
              <a:rPr lang="zh-CN" altLang="en-US" dirty="0"/>
            </a:br>
            <a:br>
              <a:rPr lang="zh-CN" altLang="en-US" dirty="0"/>
            </a:br>
            <a:r>
              <a:rPr lang="zh-CN" altLang="en-US" dirty="0"/>
              <a:t>这样，之前的插入异常，修改异常与删除异常的问题就被解决了。</a:t>
            </a:r>
          </a:p>
        </p:txBody>
      </p:sp>
      <p:sp>
        <p:nvSpPr>
          <p:cNvPr id="5" name="页脚占位符 4">
            <a:extLst>
              <a:ext uri="{FF2B5EF4-FFF2-40B4-BE49-F238E27FC236}">
                <a16:creationId xmlns:a16="http://schemas.microsoft.com/office/drawing/2014/main" id="{621E9A69-C4F5-AB64-3893-323C985D1A6E}"/>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FC6291FC-AEE5-908D-2DCC-1C92038B41A8}"/>
              </a:ext>
            </a:extLst>
          </p:cNvPr>
          <p:cNvSpPr>
            <a:spLocks noGrp="1"/>
          </p:cNvSpPr>
          <p:nvPr>
            <p:ph type="sldNum" sz="quarter" idx="12"/>
          </p:nvPr>
        </p:nvSpPr>
        <p:spPr/>
        <p:txBody>
          <a:bodyPr/>
          <a:lstStyle/>
          <a:p>
            <a:fld id="{A2D74603-B40B-4D66-8F6E-41C870D48932}" type="slidenum">
              <a:rPr lang="en-US" altLang="zh-CN" smtClean="0"/>
              <a:pPr/>
              <a:t>59</a:t>
            </a:fld>
            <a:r>
              <a:rPr lang="en-US" altLang="zh-CN"/>
              <a:t>/162</a:t>
            </a:r>
            <a:endParaRPr lang="en-US" altLang="zh-CN" dirty="0"/>
          </a:p>
        </p:txBody>
      </p:sp>
    </p:spTree>
    <p:extLst>
      <p:ext uri="{BB962C8B-B14F-4D97-AF65-F5344CB8AC3E}">
        <p14:creationId xmlns:p14="http://schemas.microsoft.com/office/powerpoint/2010/main" val="4214737109"/>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8B8423A-D321-418E-93C2-B0928193FCB0}" type="datetime1">
              <a:rPr lang="zh-CN" altLang="en-US" smtClean="0"/>
              <a:t>2025/11/6</a:t>
            </a:fld>
            <a:endParaRPr lang="en-US" altLang="zh-CN"/>
          </a:p>
        </p:txBody>
      </p:sp>
      <p:sp>
        <p:nvSpPr>
          <p:cNvPr id="285698" name="Rectangle 2"/>
          <p:cNvSpPr>
            <a:spLocks noGrp="1" noChangeArrowheads="1"/>
          </p:cNvSpPr>
          <p:nvPr>
            <p:ph type="title"/>
          </p:nvPr>
        </p:nvSpPr>
        <p:spPr/>
        <p:txBody>
          <a:bodyPr/>
          <a:lstStyle/>
          <a:p>
            <a:r>
              <a:rPr lang="en-US" altLang="zh-CN" dirty="0"/>
              <a:t>8.2.6 BCNF</a:t>
            </a:r>
            <a:endParaRPr lang="zh-CN" altLang="en-US" dirty="0"/>
          </a:p>
        </p:txBody>
      </p:sp>
      <p:sp>
        <p:nvSpPr>
          <p:cNvPr id="285699" name="Rectangle 3"/>
          <p:cNvSpPr>
            <a:spLocks noGrp="1" noChangeArrowheads="1"/>
          </p:cNvSpPr>
          <p:nvPr>
            <p:ph type="body" idx="1"/>
          </p:nvPr>
        </p:nvSpPr>
        <p:spPr/>
        <p:txBody>
          <a:bodyPr/>
          <a:lstStyle/>
          <a:p>
            <a:pPr>
              <a:buFont typeface="Wingdings" pitchFamily="2" charset="2"/>
              <a:buNone/>
            </a:pPr>
            <a:r>
              <a:rPr lang="zh-CN" altLang="en-US" dirty="0"/>
              <a:t>由</a:t>
            </a:r>
            <a:r>
              <a:rPr lang="en-US" altLang="zh-CN" dirty="0"/>
              <a:t>Boyce</a:t>
            </a:r>
            <a:r>
              <a:rPr lang="zh-CN" altLang="en-US" dirty="0"/>
              <a:t>和</a:t>
            </a:r>
            <a:r>
              <a:rPr lang="en-US" altLang="zh-CN" dirty="0" err="1"/>
              <a:t>Codd</a:t>
            </a:r>
            <a:r>
              <a:rPr lang="zh-CN" altLang="en-US" dirty="0"/>
              <a:t>共同提出，属于</a:t>
            </a:r>
            <a:r>
              <a:rPr lang="zh-CN" altLang="en-US" dirty="0">
                <a:solidFill>
                  <a:srgbClr val="0000FF"/>
                </a:solidFill>
              </a:rPr>
              <a:t>修正的</a:t>
            </a:r>
            <a:r>
              <a:rPr lang="en-US" altLang="zh-CN" dirty="0">
                <a:solidFill>
                  <a:srgbClr val="0000FF"/>
                </a:solidFill>
              </a:rPr>
              <a:t>3NF</a:t>
            </a:r>
            <a:r>
              <a:rPr lang="zh-CN" altLang="en-US" dirty="0"/>
              <a:t>。</a:t>
            </a:r>
            <a:endParaRPr lang="zh-CN" altLang="en-US" sz="1000" dirty="0">
              <a:solidFill>
                <a:schemeClr val="hlink"/>
              </a:solidFill>
            </a:endParaRPr>
          </a:p>
        </p:txBody>
      </p:sp>
      <p:grpSp>
        <p:nvGrpSpPr>
          <p:cNvPr id="10" name="组合 9">
            <a:extLst>
              <a:ext uri="{FF2B5EF4-FFF2-40B4-BE49-F238E27FC236}">
                <a16:creationId xmlns:a16="http://schemas.microsoft.com/office/drawing/2014/main" id="{E06DAA68-14F5-CFEC-FAE4-D1A3D39FABFA}"/>
              </a:ext>
            </a:extLst>
          </p:cNvPr>
          <p:cNvGrpSpPr/>
          <p:nvPr/>
        </p:nvGrpSpPr>
        <p:grpSpPr>
          <a:xfrm>
            <a:off x="685800" y="2209800"/>
            <a:ext cx="8077200" cy="1569660"/>
            <a:chOff x="685800" y="2209800"/>
            <a:chExt cx="8077200" cy="1569660"/>
          </a:xfrm>
        </p:grpSpPr>
        <p:sp>
          <p:nvSpPr>
            <p:cNvPr id="2" name="矩形 1"/>
            <p:cNvSpPr/>
            <p:nvPr/>
          </p:nvSpPr>
          <p:spPr>
            <a:xfrm>
              <a:off x="685800" y="2209800"/>
              <a:ext cx="8077200" cy="1569660"/>
            </a:xfrm>
            <a:prstGeom prst="rect">
              <a:avLst/>
            </a:prstGeom>
          </p:spPr>
          <p:txBody>
            <a:bodyPr wrap="square">
              <a:spAutoFit/>
            </a:bodyPr>
            <a:lstStyle/>
            <a:p>
              <a:pPr algn="l"/>
              <a:r>
                <a:rPr lang="zh-CN" altLang="en-US" sz="3200" dirty="0">
                  <a:solidFill>
                    <a:schemeClr val="hlink"/>
                  </a:solidFill>
                  <a:latin typeface="+mn-lt"/>
                  <a:ea typeface="+mn-ea"/>
                  <a:cs typeface="+mn-cs"/>
                </a:rPr>
                <a:t>定义</a:t>
              </a:r>
              <a:r>
                <a:rPr lang="en-US" altLang="zh-CN" sz="3200" dirty="0">
                  <a:solidFill>
                    <a:schemeClr val="hlink"/>
                  </a:solidFill>
                  <a:latin typeface="+mn-lt"/>
                  <a:ea typeface="+mn-ea"/>
                  <a:cs typeface="+mn-cs"/>
                </a:rPr>
                <a:t>6.8   </a:t>
              </a:r>
              <a:r>
                <a:rPr lang="zh-CN" altLang="en-US" sz="3200" dirty="0"/>
                <a:t>关系模式</a:t>
              </a:r>
              <a:r>
                <a:rPr lang="en-US" altLang="zh-CN" sz="3200" dirty="0"/>
                <a:t>R&lt;U</a:t>
              </a:r>
              <a:r>
                <a:rPr lang="zh-CN" altLang="en-US" sz="3200" dirty="0"/>
                <a:t>，</a:t>
              </a:r>
              <a:r>
                <a:rPr lang="en-US" altLang="zh-CN" sz="3200" dirty="0"/>
                <a:t>F&gt;∈1NF</a:t>
              </a:r>
              <a:r>
                <a:rPr lang="zh-CN" altLang="en-US" sz="3200" dirty="0"/>
                <a:t>，若</a:t>
              </a:r>
              <a:r>
                <a:rPr lang="en-US" altLang="zh-CN" sz="3200" dirty="0">
                  <a:solidFill>
                    <a:srgbClr val="0000FF"/>
                  </a:solidFill>
                </a:rPr>
                <a:t>X→Y</a:t>
              </a:r>
              <a:r>
                <a:rPr lang="zh-CN" altLang="en-US" sz="3200" dirty="0">
                  <a:solidFill>
                    <a:srgbClr val="0000FF"/>
                  </a:solidFill>
                </a:rPr>
                <a:t>且</a:t>
              </a:r>
              <a:r>
                <a:rPr lang="en-US" altLang="zh-CN" sz="3200" dirty="0">
                  <a:solidFill>
                    <a:srgbClr val="0000FF"/>
                  </a:solidFill>
                </a:rPr>
                <a:t>Y</a:t>
              </a:r>
              <a:r>
                <a:rPr lang="en-US" altLang="zh-CN" sz="3200" b="1" dirty="0">
                  <a:solidFill>
                    <a:srgbClr val="0000FF"/>
                  </a:solidFill>
                  <a:sym typeface="Symbol" pitchFamily="18" charset="2"/>
                </a:rPr>
                <a:t> </a:t>
              </a:r>
              <a:r>
                <a:rPr lang="en-US" altLang="zh-CN" sz="3200" dirty="0">
                  <a:solidFill>
                    <a:srgbClr val="0000FF"/>
                  </a:solidFill>
                </a:rPr>
                <a:t> X</a:t>
              </a:r>
              <a:r>
                <a:rPr lang="zh-CN" altLang="en-US" sz="3200" dirty="0"/>
                <a:t>时</a:t>
              </a:r>
              <a:r>
                <a:rPr lang="en-US" altLang="zh-CN" sz="3200" b="1" dirty="0">
                  <a:solidFill>
                    <a:srgbClr val="C00000"/>
                  </a:solidFill>
                </a:rPr>
                <a:t>X</a:t>
              </a:r>
              <a:r>
                <a:rPr lang="zh-CN" altLang="en-US" sz="3200" b="1" dirty="0">
                  <a:solidFill>
                    <a:srgbClr val="C00000"/>
                  </a:solidFill>
                </a:rPr>
                <a:t>必含有码</a:t>
              </a:r>
              <a:r>
                <a:rPr lang="zh-CN" altLang="en-US" sz="3200" dirty="0"/>
                <a:t>，则</a:t>
              </a:r>
              <a:r>
                <a:rPr lang="en-US" altLang="zh-CN" sz="3200" dirty="0"/>
                <a:t>R&lt;U</a:t>
              </a:r>
              <a:r>
                <a:rPr lang="zh-CN" altLang="en-US" sz="3200" dirty="0"/>
                <a:t>，</a:t>
              </a:r>
              <a:r>
                <a:rPr lang="en-US" altLang="zh-CN" sz="3200" dirty="0"/>
                <a:t>F&gt; ∈BCNF</a:t>
              </a:r>
              <a:r>
                <a:rPr lang="zh-CN" altLang="en-US" sz="3200" dirty="0"/>
                <a:t>。</a:t>
              </a:r>
            </a:p>
          </p:txBody>
        </p:sp>
        <p:sp>
          <p:nvSpPr>
            <p:cNvPr id="9" name="Line 4"/>
            <p:cNvSpPr>
              <a:spLocks noChangeShapeType="1"/>
            </p:cNvSpPr>
            <p:nvPr/>
          </p:nvSpPr>
          <p:spPr bwMode="auto">
            <a:xfrm>
              <a:off x="1562100" y="2844329"/>
              <a:ext cx="215900" cy="360363"/>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 name="矩形 6"/>
          <p:cNvSpPr/>
          <p:nvPr/>
        </p:nvSpPr>
        <p:spPr>
          <a:xfrm>
            <a:off x="838200" y="4039903"/>
            <a:ext cx="7391400" cy="1077218"/>
          </a:xfrm>
          <a:prstGeom prst="rect">
            <a:avLst/>
          </a:prstGeom>
        </p:spPr>
        <p:txBody>
          <a:bodyPr wrap="square">
            <a:spAutoFit/>
          </a:bodyPr>
          <a:lstStyle/>
          <a:p>
            <a:pPr>
              <a:buFont typeface="Wingdings" pitchFamily="2" charset="2"/>
              <a:buNone/>
            </a:pPr>
            <a:r>
              <a:rPr lang="zh-CN" altLang="en-US" sz="3200" dirty="0"/>
              <a:t>若</a:t>
            </a:r>
            <a:r>
              <a:rPr lang="en-US" altLang="zh-CN" sz="3200" dirty="0"/>
              <a:t>R</a:t>
            </a:r>
            <a:r>
              <a:rPr lang="en-US" altLang="zh-CN" sz="3200" dirty="0">
                <a:sym typeface="Symbol" pitchFamily="18" charset="2"/>
              </a:rPr>
              <a:t></a:t>
            </a:r>
            <a:r>
              <a:rPr lang="en-US" altLang="zh-CN" sz="3200" dirty="0"/>
              <a:t>1NF</a:t>
            </a:r>
            <a:r>
              <a:rPr lang="zh-CN" altLang="en-US" sz="3200" dirty="0"/>
              <a:t>，对</a:t>
            </a:r>
            <a:r>
              <a:rPr lang="en-US" altLang="zh-CN" sz="3200" dirty="0"/>
              <a:t>R</a:t>
            </a:r>
            <a:r>
              <a:rPr lang="zh-CN" altLang="en-US" sz="3200" dirty="0"/>
              <a:t>中的每一个</a:t>
            </a:r>
            <a:r>
              <a:rPr lang="zh-CN" altLang="en-US" sz="3200" u="sng" dirty="0">
                <a:solidFill>
                  <a:srgbClr val="FF0000"/>
                </a:solidFill>
              </a:rPr>
              <a:t>非平凡的函数依赖</a:t>
            </a:r>
            <a:r>
              <a:rPr lang="en-US" altLang="zh-CN" sz="3200" u="sng" dirty="0">
                <a:solidFill>
                  <a:srgbClr val="FF0000"/>
                </a:solidFill>
              </a:rPr>
              <a:t>X</a:t>
            </a:r>
            <a:r>
              <a:rPr lang="en-US" altLang="zh-CN" sz="3200" u="sng" dirty="0">
                <a:solidFill>
                  <a:srgbClr val="FF0000"/>
                </a:solidFill>
                <a:latin typeface="宋体" pitchFamily="2" charset="-122"/>
              </a:rPr>
              <a:t>→</a:t>
            </a:r>
            <a:r>
              <a:rPr lang="en-US" altLang="zh-CN" sz="3200" u="sng" dirty="0">
                <a:solidFill>
                  <a:srgbClr val="FF0000"/>
                </a:solidFill>
              </a:rPr>
              <a:t>Y</a:t>
            </a:r>
            <a:r>
              <a:rPr lang="zh-CN" altLang="en-US" sz="3200" dirty="0"/>
              <a:t>，</a:t>
            </a:r>
            <a:r>
              <a:rPr lang="en-US" altLang="zh-CN" sz="3200" b="1" dirty="0">
                <a:solidFill>
                  <a:srgbClr val="0000FF"/>
                </a:solidFill>
              </a:rPr>
              <a:t>X</a:t>
            </a:r>
            <a:r>
              <a:rPr lang="zh-CN" altLang="en-US" sz="3200" b="1" dirty="0">
                <a:solidFill>
                  <a:srgbClr val="0000FF"/>
                </a:solidFill>
              </a:rPr>
              <a:t>中均含有码</a:t>
            </a:r>
            <a:r>
              <a:rPr lang="zh-CN" altLang="en-US" sz="3200" dirty="0"/>
              <a:t>，则</a:t>
            </a:r>
            <a:r>
              <a:rPr lang="en-US" altLang="zh-CN" sz="3200" dirty="0"/>
              <a:t>R</a:t>
            </a:r>
            <a:r>
              <a:rPr lang="en-US" altLang="zh-CN" sz="3200" dirty="0">
                <a:sym typeface="Symbol" pitchFamily="18" charset="2"/>
              </a:rPr>
              <a:t></a:t>
            </a:r>
            <a:r>
              <a:rPr lang="en-US" altLang="zh-CN" sz="3200" dirty="0"/>
              <a:t>BCNF</a:t>
            </a:r>
            <a:r>
              <a:rPr lang="zh-CN" altLang="en-US" sz="3200" dirty="0"/>
              <a:t>。</a:t>
            </a:r>
          </a:p>
        </p:txBody>
      </p:sp>
      <p:sp>
        <p:nvSpPr>
          <p:cNvPr id="8" name="矩形 7"/>
          <p:cNvSpPr/>
          <p:nvPr/>
        </p:nvSpPr>
        <p:spPr>
          <a:xfrm>
            <a:off x="853633" y="5283843"/>
            <a:ext cx="7467600" cy="584775"/>
          </a:xfrm>
          <a:prstGeom prst="rect">
            <a:avLst/>
          </a:prstGeom>
        </p:spPr>
        <p:txBody>
          <a:bodyPr wrap="square">
            <a:spAutoFit/>
          </a:bodyPr>
          <a:lstStyle/>
          <a:p>
            <a:pPr algn="l"/>
            <a:r>
              <a:rPr lang="zh-CN" altLang="en-US" sz="3200" b="1" u="sng" dirty="0">
                <a:effectLst>
                  <a:outerShdw blurRad="38100" dist="38100" dir="2700000" algn="tl">
                    <a:srgbClr val="000000">
                      <a:alpha val="43137"/>
                    </a:srgbClr>
                  </a:outerShdw>
                </a:effectLst>
              </a:rPr>
              <a:t>等价于</a:t>
            </a:r>
            <a:r>
              <a:rPr lang="zh-CN" altLang="en-US" sz="3200" b="1" dirty="0"/>
              <a:t>：每一个</a:t>
            </a:r>
            <a:r>
              <a:rPr lang="zh-CN" altLang="en-US" sz="3200" b="1" dirty="0">
                <a:solidFill>
                  <a:srgbClr val="C00000"/>
                </a:solidFill>
              </a:rPr>
              <a:t>决定属性因素</a:t>
            </a:r>
            <a:r>
              <a:rPr lang="zh-CN" altLang="en-US" sz="3200" b="1" dirty="0"/>
              <a:t>都包含码。</a:t>
            </a:r>
          </a:p>
        </p:txBody>
      </p:sp>
      <p:sp>
        <p:nvSpPr>
          <p:cNvPr id="5" name="页脚占位符 4">
            <a:extLst>
              <a:ext uri="{FF2B5EF4-FFF2-40B4-BE49-F238E27FC236}">
                <a16:creationId xmlns:a16="http://schemas.microsoft.com/office/drawing/2014/main" id="{DDE5BD51-BE33-A89E-9BCA-CBB91E15C0F5}"/>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B42611B5-BF05-EE9F-39DD-D411265B3B14}"/>
              </a:ext>
            </a:extLst>
          </p:cNvPr>
          <p:cNvSpPr>
            <a:spLocks noGrp="1"/>
          </p:cNvSpPr>
          <p:nvPr>
            <p:ph type="sldNum" sz="quarter" idx="12"/>
          </p:nvPr>
        </p:nvSpPr>
        <p:spPr/>
        <p:txBody>
          <a:bodyPr/>
          <a:lstStyle/>
          <a:p>
            <a:fld id="{A2D74603-B40B-4D66-8F6E-41C870D48932}" type="slidenum">
              <a:rPr lang="en-US" altLang="zh-CN" smtClean="0"/>
              <a:pPr/>
              <a:t>60</a:t>
            </a:fld>
            <a:r>
              <a:rPr lang="en-US" altLang="zh-CN"/>
              <a:t>/162</a:t>
            </a:r>
            <a:endParaRPr lang="en-US" altLang="zh-CN" dirty="0"/>
          </a:p>
        </p:txBody>
      </p:sp>
    </p:spTree>
    <p:extLst>
      <p:ext uri="{BB962C8B-B14F-4D97-AF65-F5344CB8AC3E}">
        <p14:creationId xmlns:p14="http://schemas.microsoft.com/office/powerpoint/2010/main" val="29695835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1683357-A0D5-4E90-9443-3D931DF6E2F0}" type="datetime1">
              <a:rPr lang="zh-CN" altLang="en-US" smtClean="0"/>
              <a:t>2025/11/6</a:t>
            </a:fld>
            <a:endParaRPr lang="en-US" altLang="zh-CN"/>
          </a:p>
        </p:txBody>
      </p:sp>
      <p:sp>
        <p:nvSpPr>
          <p:cNvPr id="285698" name="Rectangle 2"/>
          <p:cNvSpPr>
            <a:spLocks noGrp="1" noChangeArrowheads="1"/>
          </p:cNvSpPr>
          <p:nvPr>
            <p:ph type="title"/>
          </p:nvPr>
        </p:nvSpPr>
        <p:spPr/>
        <p:txBody>
          <a:bodyPr/>
          <a:lstStyle/>
          <a:p>
            <a:r>
              <a:rPr lang="en-US" altLang="zh-CN" dirty="0"/>
              <a:t>8.2.6 BCNF (</a:t>
            </a:r>
            <a:r>
              <a:rPr lang="zh-CN" altLang="en-US" dirty="0"/>
              <a:t>新教材</a:t>
            </a:r>
            <a:r>
              <a:rPr lang="en-US" altLang="zh-CN" dirty="0"/>
              <a:t>8.3.1)</a:t>
            </a:r>
            <a:endParaRPr lang="zh-CN" altLang="en-US" dirty="0"/>
          </a:p>
        </p:txBody>
      </p:sp>
      <p:sp>
        <p:nvSpPr>
          <p:cNvPr id="285699" name="Rectangle 3"/>
          <p:cNvSpPr>
            <a:spLocks noGrp="1" noChangeArrowheads="1"/>
          </p:cNvSpPr>
          <p:nvPr>
            <p:ph type="body" idx="1"/>
          </p:nvPr>
        </p:nvSpPr>
        <p:spPr/>
        <p:txBody>
          <a:bodyPr/>
          <a:lstStyle/>
          <a:p>
            <a:pPr>
              <a:buFont typeface="Wingdings" pitchFamily="2" charset="2"/>
              <a:buNone/>
            </a:pPr>
            <a:r>
              <a:rPr lang="zh-CN" altLang="en-US" dirty="0"/>
              <a:t>由</a:t>
            </a:r>
            <a:r>
              <a:rPr lang="en-US" altLang="zh-CN" dirty="0"/>
              <a:t>Boyce</a:t>
            </a:r>
            <a:r>
              <a:rPr lang="zh-CN" altLang="en-US" dirty="0"/>
              <a:t>和</a:t>
            </a:r>
            <a:r>
              <a:rPr lang="en-US" altLang="zh-CN" dirty="0" err="1"/>
              <a:t>Codd</a:t>
            </a:r>
            <a:r>
              <a:rPr lang="zh-CN" altLang="en-US" dirty="0"/>
              <a:t>共同提出，属于修正的</a:t>
            </a:r>
            <a:r>
              <a:rPr lang="en-US" altLang="zh-CN" dirty="0"/>
              <a:t>3NF</a:t>
            </a:r>
            <a:r>
              <a:rPr lang="zh-CN" altLang="en-US" dirty="0"/>
              <a:t>。</a:t>
            </a:r>
            <a:endParaRPr lang="zh-CN" altLang="en-US" sz="1000" dirty="0">
              <a:solidFill>
                <a:schemeClr val="hlink"/>
              </a:solidFill>
            </a:endParaRPr>
          </a:p>
        </p:txBody>
      </p:sp>
      <p:sp>
        <p:nvSpPr>
          <p:cNvPr id="2" name="矩形 1"/>
          <p:cNvSpPr/>
          <p:nvPr/>
        </p:nvSpPr>
        <p:spPr>
          <a:xfrm>
            <a:off x="685800" y="2209800"/>
            <a:ext cx="8077200" cy="3046988"/>
          </a:xfrm>
          <a:prstGeom prst="rect">
            <a:avLst/>
          </a:prstGeom>
        </p:spPr>
        <p:txBody>
          <a:bodyPr wrap="square">
            <a:spAutoFit/>
          </a:bodyPr>
          <a:lstStyle/>
          <a:p>
            <a:pPr algn="l"/>
            <a:r>
              <a:rPr lang="zh-CN" altLang="en-US" sz="3200" dirty="0">
                <a:solidFill>
                  <a:schemeClr val="hlink"/>
                </a:solidFill>
                <a:latin typeface="+mn-lt"/>
                <a:ea typeface="+mn-ea"/>
                <a:cs typeface="+mn-cs"/>
              </a:rPr>
              <a:t>定义</a:t>
            </a:r>
            <a:r>
              <a:rPr lang="en-US" altLang="zh-CN" sz="3200" dirty="0">
                <a:solidFill>
                  <a:schemeClr val="hlink"/>
                </a:solidFill>
                <a:latin typeface="+mn-lt"/>
                <a:ea typeface="+mn-ea"/>
                <a:cs typeface="+mn-cs"/>
              </a:rPr>
              <a:t>  </a:t>
            </a:r>
            <a:r>
              <a:rPr lang="zh-CN" altLang="en-US" sz="3200" dirty="0"/>
              <a:t>关系模式</a:t>
            </a:r>
            <a:r>
              <a:rPr lang="en-US" altLang="zh-CN" sz="3200" dirty="0"/>
              <a:t>R&lt;U</a:t>
            </a:r>
            <a:r>
              <a:rPr lang="zh-CN" altLang="en-US" sz="3200" dirty="0"/>
              <a:t>，</a:t>
            </a:r>
            <a:r>
              <a:rPr lang="en-US" altLang="zh-CN" sz="3200" dirty="0"/>
              <a:t>F&gt;∈1NF</a:t>
            </a:r>
            <a:r>
              <a:rPr lang="zh-CN" altLang="en-US" sz="3200" dirty="0"/>
              <a:t>，</a:t>
            </a:r>
            <a:r>
              <a:rPr lang="en-US" altLang="zh-CN" sz="3200" dirty="0"/>
              <a:t>R&lt;U</a:t>
            </a:r>
            <a:r>
              <a:rPr lang="zh-CN" altLang="en-US" sz="3200" dirty="0"/>
              <a:t>，</a:t>
            </a:r>
            <a:r>
              <a:rPr lang="en-US" altLang="zh-CN" sz="3200" dirty="0"/>
              <a:t>F&gt; ∈BCNF</a:t>
            </a:r>
            <a:r>
              <a:rPr lang="zh-CN" altLang="en-US" sz="3200" dirty="0"/>
              <a:t>的条件是，对于</a:t>
            </a:r>
            <a:r>
              <a:rPr lang="en-US" altLang="zh-CN" sz="3200" dirty="0">
                <a:solidFill>
                  <a:srgbClr val="0000FF"/>
                </a:solidFill>
              </a:rPr>
              <a:t>F</a:t>
            </a:r>
            <a:r>
              <a:rPr lang="en-US" altLang="zh-CN" sz="3200" baseline="30000" dirty="0">
                <a:solidFill>
                  <a:srgbClr val="0000FF"/>
                </a:solidFill>
              </a:rPr>
              <a:t>+</a:t>
            </a:r>
            <a:r>
              <a:rPr lang="zh-CN" altLang="en-US" sz="3200" dirty="0"/>
              <a:t>中所有的</a:t>
            </a:r>
            <a:r>
              <a:rPr lang="zh-CN" altLang="en-US" sz="3200" dirty="0">
                <a:solidFill>
                  <a:srgbClr val="FF0000"/>
                </a:solidFill>
              </a:rPr>
              <a:t>函数依赖</a:t>
            </a:r>
            <a:r>
              <a:rPr lang="en-US" altLang="zh-CN" sz="3200" dirty="0">
                <a:solidFill>
                  <a:srgbClr val="FF0000"/>
                </a:solidFill>
              </a:rPr>
              <a:t>X</a:t>
            </a:r>
            <a:r>
              <a:rPr lang="en-US" altLang="zh-CN" sz="3200" dirty="0">
                <a:solidFill>
                  <a:srgbClr val="FF0000"/>
                </a:solidFill>
                <a:latin typeface="宋体" pitchFamily="2" charset="-122"/>
              </a:rPr>
              <a:t>→</a:t>
            </a:r>
            <a:r>
              <a:rPr lang="en-US" altLang="zh-CN" sz="3200" dirty="0">
                <a:solidFill>
                  <a:srgbClr val="FF0000"/>
                </a:solidFill>
              </a:rPr>
              <a:t>Y</a:t>
            </a:r>
            <a:r>
              <a:rPr lang="zh-CN" altLang="en-US" sz="3200" dirty="0"/>
              <a:t>（</a:t>
            </a:r>
            <a:r>
              <a:rPr lang="en-US" altLang="zh-CN" sz="3200" dirty="0"/>
              <a:t>X</a:t>
            </a:r>
            <a:r>
              <a:rPr lang="en-US" altLang="zh-CN" sz="3200" b="1" dirty="0">
                <a:sym typeface="Symbol" pitchFamily="18" charset="2"/>
              </a:rPr>
              <a:t></a:t>
            </a:r>
            <a:r>
              <a:rPr lang="en-US" altLang="zh-CN" sz="3200" dirty="0"/>
              <a:t>R, Y</a:t>
            </a:r>
            <a:r>
              <a:rPr lang="en-US" altLang="zh-CN" sz="3200" b="1" dirty="0">
                <a:sym typeface="Symbol" pitchFamily="18" charset="2"/>
              </a:rPr>
              <a:t></a:t>
            </a:r>
            <a:r>
              <a:rPr lang="en-US" altLang="zh-CN" sz="3200" dirty="0"/>
              <a:t>R</a:t>
            </a:r>
            <a:r>
              <a:rPr lang="zh-CN" altLang="en-US" sz="3200" dirty="0"/>
              <a:t>），下面至少有一项成立：</a:t>
            </a:r>
            <a:endParaRPr lang="en-US" altLang="zh-CN" sz="3200" dirty="0"/>
          </a:p>
          <a:p>
            <a:pPr algn="l"/>
            <a:endParaRPr lang="en-US" altLang="zh-CN" sz="3200" dirty="0">
              <a:solidFill>
                <a:srgbClr val="0000FF"/>
              </a:solidFill>
            </a:endParaRPr>
          </a:p>
          <a:p>
            <a:pPr marL="914400" lvl="1" indent="-457200" algn="l">
              <a:buClr>
                <a:srgbClr val="FF0000"/>
              </a:buClr>
              <a:buSzPct val="50000"/>
              <a:buFont typeface="Wingdings" panose="05000000000000000000" pitchFamily="2" charset="2"/>
              <a:buChar char="n"/>
            </a:pPr>
            <a:r>
              <a:rPr lang="en-US" altLang="zh-CN" sz="3200" dirty="0">
                <a:solidFill>
                  <a:srgbClr val="0000FF"/>
                </a:solidFill>
              </a:rPr>
              <a:t>X</a:t>
            </a:r>
            <a:r>
              <a:rPr lang="en-US" altLang="zh-CN" sz="3200" dirty="0">
                <a:solidFill>
                  <a:srgbClr val="0000FF"/>
                </a:solidFill>
                <a:latin typeface="宋体" pitchFamily="2" charset="-122"/>
              </a:rPr>
              <a:t>→</a:t>
            </a:r>
            <a:r>
              <a:rPr lang="en-US" altLang="zh-CN" sz="3200" dirty="0">
                <a:solidFill>
                  <a:srgbClr val="0000FF"/>
                </a:solidFill>
              </a:rPr>
              <a:t>Y</a:t>
            </a:r>
            <a:r>
              <a:rPr lang="zh-CN" altLang="en-US" sz="3200" dirty="0">
                <a:solidFill>
                  <a:srgbClr val="0000FF"/>
                </a:solidFill>
              </a:rPr>
              <a:t>是平凡的函数依赖</a:t>
            </a:r>
            <a:r>
              <a:rPr lang="en-US" altLang="zh-CN" sz="3200" dirty="0">
                <a:solidFill>
                  <a:srgbClr val="0000FF"/>
                </a:solidFill>
              </a:rPr>
              <a:t>(</a:t>
            </a:r>
            <a:r>
              <a:rPr lang="zh-CN" altLang="en-US" sz="3200" dirty="0">
                <a:solidFill>
                  <a:srgbClr val="0000FF"/>
                </a:solidFill>
              </a:rPr>
              <a:t>即</a:t>
            </a:r>
            <a:r>
              <a:rPr lang="en-US" altLang="zh-CN" sz="3200" dirty="0">
                <a:solidFill>
                  <a:srgbClr val="0000FF"/>
                </a:solidFill>
              </a:rPr>
              <a:t>Y</a:t>
            </a:r>
            <a:r>
              <a:rPr lang="en-US" altLang="zh-CN" sz="3200" b="1" dirty="0">
                <a:solidFill>
                  <a:srgbClr val="0000FF"/>
                </a:solidFill>
                <a:sym typeface="Symbol" pitchFamily="18" charset="2"/>
              </a:rPr>
              <a:t></a:t>
            </a:r>
            <a:r>
              <a:rPr lang="en-US" altLang="zh-CN" sz="3200" dirty="0">
                <a:solidFill>
                  <a:srgbClr val="0000FF"/>
                </a:solidFill>
              </a:rPr>
              <a:t> X);</a:t>
            </a:r>
          </a:p>
          <a:p>
            <a:pPr marL="914400" lvl="1" indent="-457200" algn="l">
              <a:buClr>
                <a:srgbClr val="FF0000"/>
              </a:buClr>
              <a:buSzPct val="50000"/>
              <a:buFont typeface="Wingdings" panose="05000000000000000000" pitchFamily="2" charset="2"/>
              <a:buChar char="n"/>
            </a:pPr>
            <a:r>
              <a:rPr lang="en-US" altLang="zh-CN" sz="3200" dirty="0">
                <a:solidFill>
                  <a:srgbClr val="0000FF"/>
                </a:solidFill>
              </a:rPr>
              <a:t>X</a:t>
            </a:r>
            <a:r>
              <a:rPr lang="zh-CN" altLang="en-US" sz="3200" dirty="0">
                <a:solidFill>
                  <a:srgbClr val="0000FF"/>
                </a:solidFill>
              </a:rPr>
              <a:t>是模式</a:t>
            </a:r>
            <a:r>
              <a:rPr lang="en-US" altLang="zh-CN" sz="3200" dirty="0">
                <a:solidFill>
                  <a:srgbClr val="0000FF"/>
                </a:solidFill>
              </a:rPr>
              <a:t>R</a:t>
            </a:r>
            <a:r>
              <a:rPr lang="zh-CN" altLang="en-US" sz="3200" dirty="0">
                <a:solidFill>
                  <a:srgbClr val="0000FF"/>
                </a:solidFill>
              </a:rPr>
              <a:t>的超码。</a:t>
            </a:r>
            <a:endParaRPr lang="en-US" altLang="zh-CN" sz="3200" dirty="0">
              <a:solidFill>
                <a:srgbClr val="0000FF"/>
              </a:solidFill>
            </a:endParaRPr>
          </a:p>
        </p:txBody>
      </p:sp>
      <p:sp>
        <p:nvSpPr>
          <p:cNvPr id="5" name="文本框 4">
            <a:extLst>
              <a:ext uri="{FF2B5EF4-FFF2-40B4-BE49-F238E27FC236}">
                <a16:creationId xmlns:a16="http://schemas.microsoft.com/office/drawing/2014/main" id="{61766C5F-7942-DA77-22C6-7D6E897C24A6}"/>
              </a:ext>
            </a:extLst>
          </p:cNvPr>
          <p:cNvSpPr txBox="1"/>
          <p:nvPr/>
        </p:nvSpPr>
        <p:spPr>
          <a:xfrm>
            <a:off x="251520" y="5463818"/>
            <a:ext cx="8794395" cy="461665"/>
          </a:xfrm>
          <a:prstGeom prst="rect">
            <a:avLst/>
          </a:prstGeom>
          <a:noFill/>
        </p:spPr>
        <p:txBody>
          <a:bodyPr wrap="none" rtlCol="0">
            <a:spAutoFit/>
          </a:bodyPr>
          <a:lstStyle/>
          <a:p>
            <a:r>
              <a:rPr lang="zh-CN" altLang="en-US" dirty="0"/>
              <a:t>即：</a:t>
            </a:r>
            <a:r>
              <a:rPr lang="zh-CN" altLang="en-US" sz="2400" dirty="0"/>
              <a:t>对</a:t>
            </a:r>
            <a:r>
              <a:rPr lang="en-US" altLang="zh-CN" sz="2400" dirty="0"/>
              <a:t>R</a:t>
            </a:r>
            <a:r>
              <a:rPr lang="zh-CN" altLang="en-US" sz="2400" dirty="0"/>
              <a:t>中的每一个</a:t>
            </a:r>
            <a:r>
              <a:rPr lang="zh-CN" altLang="en-US" sz="2400" u="sng" dirty="0">
                <a:solidFill>
                  <a:srgbClr val="FF0000"/>
                </a:solidFill>
              </a:rPr>
              <a:t>非平凡的函数依赖</a:t>
            </a:r>
            <a:r>
              <a:rPr lang="en-US" altLang="zh-CN" sz="2400" u="sng" dirty="0">
                <a:solidFill>
                  <a:srgbClr val="FF0000"/>
                </a:solidFill>
              </a:rPr>
              <a:t>X</a:t>
            </a:r>
            <a:r>
              <a:rPr lang="en-US" altLang="zh-CN" sz="2400" u="sng" dirty="0">
                <a:solidFill>
                  <a:srgbClr val="FF0000"/>
                </a:solidFill>
                <a:latin typeface="宋体" pitchFamily="2" charset="-122"/>
              </a:rPr>
              <a:t>→</a:t>
            </a:r>
            <a:r>
              <a:rPr lang="en-US" altLang="zh-CN" sz="2400" u="sng" dirty="0">
                <a:solidFill>
                  <a:srgbClr val="FF0000"/>
                </a:solidFill>
              </a:rPr>
              <a:t>Y</a:t>
            </a:r>
            <a:r>
              <a:rPr lang="zh-CN" altLang="en-US" sz="2400" u="sng" dirty="0">
                <a:solidFill>
                  <a:srgbClr val="FF0000"/>
                </a:solidFill>
              </a:rPr>
              <a:t>，</a:t>
            </a:r>
            <a:r>
              <a:rPr lang="en-US" altLang="zh-CN" sz="2400" u="sng" dirty="0">
                <a:solidFill>
                  <a:srgbClr val="FF0000"/>
                </a:solidFill>
              </a:rPr>
              <a:t>X</a:t>
            </a:r>
            <a:r>
              <a:rPr lang="zh-CN" altLang="en-US" sz="2400" u="sng" dirty="0">
                <a:solidFill>
                  <a:srgbClr val="FF0000"/>
                </a:solidFill>
              </a:rPr>
              <a:t>是模式</a:t>
            </a:r>
            <a:r>
              <a:rPr lang="en-US" altLang="zh-CN" sz="2400" u="sng" dirty="0">
                <a:solidFill>
                  <a:srgbClr val="FF0000"/>
                </a:solidFill>
              </a:rPr>
              <a:t>R</a:t>
            </a:r>
            <a:r>
              <a:rPr lang="zh-CN" altLang="en-US" sz="2400" u="sng" dirty="0">
                <a:solidFill>
                  <a:srgbClr val="FF0000"/>
                </a:solidFill>
              </a:rPr>
              <a:t>的超码</a:t>
            </a:r>
            <a:r>
              <a:rPr lang="zh-CN" altLang="en-US" sz="2400" u="sng" dirty="0"/>
              <a:t>。</a:t>
            </a:r>
            <a:endParaRPr lang="zh-CN" altLang="en-US" dirty="0"/>
          </a:p>
        </p:txBody>
      </p:sp>
      <p:sp>
        <p:nvSpPr>
          <p:cNvPr id="6" name="页脚占位符 5">
            <a:extLst>
              <a:ext uri="{FF2B5EF4-FFF2-40B4-BE49-F238E27FC236}">
                <a16:creationId xmlns:a16="http://schemas.microsoft.com/office/drawing/2014/main" id="{80BE1141-B4BE-E745-E553-A0E960C7C581}"/>
              </a:ext>
            </a:extLst>
          </p:cNvPr>
          <p:cNvSpPr>
            <a:spLocks noGrp="1"/>
          </p:cNvSpPr>
          <p:nvPr>
            <p:ph type="ftr" sz="quarter" idx="11"/>
          </p:nvPr>
        </p:nvSpPr>
        <p:spPr/>
        <p:txBody>
          <a:bodyPr/>
          <a:lstStyle/>
          <a:p>
            <a:r>
              <a:rPr lang="en-US" altLang="zh-CN"/>
              <a:t>《数据库系统概论》- 第6章</a:t>
            </a:r>
          </a:p>
        </p:txBody>
      </p:sp>
      <p:sp>
        <p:nvSpPr>
          <p:cNvPr id="7" name="灯片编号占位符 6">
            <a:extLst>
              <a:ext uri="{FF2B5EF4-FFF2-40B4-BE49-F238E27FC236}">
                <a16:creationId xmlns:a16="http://schemas.microsoft.com/office/drawing/2014/main" id="{D98AF159-398E-59A8-303E-C9371720FB45}"/>
              </a:ext>
            </a:extLst>
          </p:cNvPr>
          <p:cNvSpPr>
            <a:spLocks noGrp="1"/>
          </p:cNvSpPr>
          <p:nvPr>
            <p:ph type="sldNum" sz="quarter" idx="12"/>
          </p:nvPr>
        </p:nvSpPr>
        <p:spPr/>
        <p:txBody>
          <a:bodyPr/>
          <a:lstStyle/>
          <a:p>
            <a:fld id="{A2D74603-B40B-4D66-8F6E-41C870D48932}" type="slidenum">
              <a:rPr lang="en-US" altLang="zh-CN" smtClean="0"/>
              <a:pPr/>
              <a:t>61</a:t>
            </a:fld>
            <a:r>
              <a:rPr lang="en-US" altLang="zh-CN"/>
              <a:t>/162</a:t>
            </a:r>
            <a:endParaRPr lang="en-US" altLang="zh-CN" dirty="0"/>
          </a:p>
        </p:txBody>
      </p:sp>
    </p:spTree>
    <p:extLst>
      <p:ext uri="{BB962C8B-B14F-4D97-AF65-F5344CB8AC3E}">
        <p14:creationId xmlns:p14="http://schemas.microsoft.com/office/powerpoint/2010/main" val="1592626629"/>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006717CB-B513-423C-94B7-AE75462D9930}" type="datetime1">
              <a:rPr lang="zh-CN" altLang="en-US" smtClean="0"/>
              <a:t>2025/11/6</a:t>
            </a:fld>
            <a:endParaRPr lang="en-US" altLang="zh-CN"/>
          </a:p>
        </p:txBody>
      </p:sp>
      <p:sp>
        <p:nvSpPr>
          <p:cNvPr id="284674" name="Rectangle 2"/>
          <p:cNvSpPr>
            <a:spLocks noGrp="1" noChangeArrowheads="1"/>
          </p:cNvSpPr>
          <p:nvPr>
            <p:ph type="title"/>
          </p:nvPr>
        </p:nvSpPr>
        <p:spPr/>
        <p:txBody>
          <a:bodyPr/>
          <a:lstStyle/>
          <a:p>
            <a:r>
              <a:rPr lang="en-US" altLang="zh-CN" dirty="0"/>
              <a:t>8.2.5 3NF</a:t>
            </a:r>
            <a:endParaRPr lang="zh-CN" altLang="en-US" dirty="0"/>
          </a:p>
        </p:txBody>
      </p:sp>
      <p:sp>
        <p:nvSpPr>
          <p:cNvPr id="8" name="Rectangle 3"/>
          <p:cNvSpPr txBox="1">
            <a:spLocks noChangeArrowheads="1"/>
          </p:cNvSpPr>
          <p:nvPr/>
        </p:nvSpPr>
        <p:spPr bwMode="auto">
          <a:xfrm>
            <a:off x="685800" y="1371600"/>
            <a:ext cx="8229600" cy="4914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fontAlgn="base">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r>
              <a:rPr kumimoji="0" lang="zh-CN" altLang="en-US" kern="0" dirty="0">
                <a:ea typeface="宋体" charset="-122"/>
              </a:rPr>
              <a:t>若</a:t>
            </a:r>
            <a:r>
              <a:rPr kumimoji="0" lang="en-US" altLang="zh-CN" kern="0" dirty="0">
                <a:ea typeface="宋体" charset="-122"/>
              </a:rPr>
              <a:t>R</a:t>
            </a:r>
            <a:r>
              <a:rPr kumimoji="0" lang="en-US" altLang="zh-CN" sz="2600" kern="0" dirty="0">
                <a:ea typeface="宋体" charset="-122"/>
              </a:rPr>
              <a:t>∈</a:t>
            </a:r>
            <a:r>
              <a:rPr kumimoji="0" lang="en-US" altLang="zh-CN" kern="0" dirty="0">
                <a:ea typeface="宋体" charset="-122"/>
              </a:rPr>
              <a:t>BCNF </a:t>
            </a:r>
          </a:p>
          <a:p>
            <a:pPr lvl="1"/>
            <a:r>
              <a:rPr kumimoji="0" lang="zh-CN" altLang="en-US" b="1" u="sng" kern="0" dirty="0">
                <a:effectLst>
                  <a:outerShdw blurRad="38100" dist="38100" dir="2700000" algn="tl">
                    <a:srgbClr val="000000">
                      <a:alpha val="43137"/>
                    </a:srgbClr>
                  </a:outerShdw>
                </a:effectLst>
                <a:ea typeface="宋体" charset="-122"/>
              </a:rPr>
              <a:t>所有</a:t>
            </a:r>
            <a:r>
              <a:rPr kumimoji="0" lang="zh-CN" altLang="en-US" b="1" kern="0" dirty="0">
                <a:solidFill>
                  <a:srgbClr val="C00000"/>
                </a:solidFill>
                <a:ea typeface="宋体" charset="-122"/>
              </a:rPr>
              <a:t>非主</a:t>
            </a:r>
            <a:r>
              <a:rPr kumimoji="0" lang="zh-CN" altLang="en-US" kern="0" dirty="0">
                <a:solidFill>
                  <a:schemeClr val="tx2"/>
                </a:solidFill>
                <a:ea typeface="宋体" charset="-122"/>
              </a:rPr>
              <a:t>属性</a:t>
            </a:r>
            <a:r>
              <a:rPr kumimoji="0" lang="zh-CN" altLang="en-US" kern="0" dirty="0">
                <a:ea typeface="宋体" charset="-122"/>
              </a:rPr>
              <a:t>对每一个</a:t>
            </a:r>
            <a:r>
              <a:rPr kumimoji="0" lang="zh-CN" altLang="en-US" kern="0" dirty="0">
                <a:solidFill>
                  <a:schemeClr val="tx2"/>
                </a:solidFill>
                <a:ea typeface="宋体" charset="-122"/>
              </a:rPr>
              <a:t>码</a:t>
            </a:r>
            <a:r>
              <a:rPr kumimoji="0" lang="zh-CN" altLang="en-US" kern="0" dirty="0">
                <a:ea typeface="宋体" charset="-122"/>
              </a:rPr>
              <a:t>都是</a:t>
            </a:r>
            <a:r>
              <a:rPr kumimoji="0" lang="zh-CN" altLang="en-US" kern="0" dirty="0">
                <a:solidFill>
                  <a:srgbClr val="C00000"/>
                </a:solidFill>
                <a:ea typeface="宋体" charset="-122"/>
              </a:rPr>
              <a:t>完全函数依赖</a:t>
            </a:r>
          </a:p>
          <a:p>
            <a:pPr lvl="1"/>
            <a:r>
              <a:rPr kumimoji="0" lang="zh-CN" altLang="en-US" b="1" u="sng" kern="0" dirty="0">
                <a:effectLst>
                  <a:outerShdw blurRad="38100" dist="38100" dir="2700000" algn="tl">
                    <a:srgbClr val="000000">
                      <a:alpha val="43137"/>
                    </a:srgbClr>
                  </a:outerShdw>
                </a:effectLst>
                <a:ea typeface="宋体" charset="-122"/>
              </a:rPr>
              <a:t>所有</a:t>
            </a:r>
            <a:r>
              <a:rPr kumimoji="0" lang="zh-CN" altLang="en-US" kern="0" dirty="0">
                <a:ea typeface="宋体" charset="-122"/>
              </a:rPr>
              <a:t>的</a:t>
            </a:r>
            <a:r>
              <a:rPr kumimoji="0" lang="zh-CN" altLang="en-US" b="1" kern="0" dirty="0">
                <a:solidFill>
                  <a:srgbClr val="C00000"/>
                </a:solidFill>
                <a:ea typeface="宋体" charset="-122"/>
              </a:rPr>
              <a:t>主</a:t>
            </a:r>
            <a:r>
              <a:rPr kumimoji="0" lang="zh-CN" altLang="en-US" kern="0" dirty="0">
                <a:solidFill>
                  <a:schemeClr val="tx2"/>
                </a:solidFill>
                <a:ea typeface="宋体" charset="-122"/>
              </a:rPr>
              <a:t>属性</a:t>
            </a:r>
            <a:r>
              <a:rPr kumimoji="0" lang="zh-CN" altLang="en-US" kern="0" dirty="0">
                <a:ea typeface="宋体" charset="-122"/>
              </a:rPr>
              <a:t>对每一个</a:t>
            </a:r>
            <a:r>
              <a:rPr kumimoji="0" lang="zh-CN" altLang="en-US" kern="0" dirty="0">
                <a:solidFill>
                  <a:schemeClr val="tx2"/>
                </a:solidFill>
                <a:ea typeface="宋体" charset="-122"/>
              </a:rPr>
              <a:t>不包含它的码</a:t>
            </a:r>
            <a:r>
              <a:rPr kumimoji="0" lang="zh-CN" altLang="en-US" kern="0" dirty="0">
                <a:ea typeface="宋体" charset="-122"/>
              </a:rPr>
              <a:t>，也是</a:t>
            </a:r>
            <a:r>
              <a:rPr kumimoji="0" lang="zh-CN" altLang="en-US" kern="0" dirty="0">
                <a:solidFill>
                  <a:srgbClr val="C00000"/>
                </a:solidFill>
                <a:ea typeface="宋体" charset="-122"/>
              </a:rPr>
              <a:t>完全函数依赖</a:t>
            </a:r>
          </a:p>
          <a:p>
            <a:pPr lvl="1"/>
            <a:r>
              <a:rPr kumimoji="0" lang="zh-CN" altLang="en-US" b="1" kern="0" dirty="0">
                <a:solidFill>
                  <a:srgbClr val="0000FF"/>
                </a:solidFill>
                <a:ea typeface="宋体" charset="-122"/>
              </a:rPr>
              <a:t>没有</a:t>
            </a:r>
            <a:r>
              <a:rPr kumimoji="0" lang="zh-CN" altLang="en-US" b="1" kern="0" dirty="0">
                <a:ea typeface="宋体" charset="-122"/>
              </a:rPr>
              <a:t>任何属性</a:t>
            </a:r>
            <a:r>
              <a:rPr kumimoji="0" lang="zh-CN" altLang="en-US" b="1" kern="0" dirty="0">
                <a:solidFill>
                  <a:srgbClr val="C00000"/>
                </a:solidFill>
                <a:ea typeface="宋体" charset="-122"/>
              </a:rPr>
              <a:t>完全函数依赖于</a:t>
            </a:r>
            <a:r>
              <a:rPr kumimoji="0" lang="zh-CN" altLang="en-US" b="1" kern="0" dirty="0">
                <a:solidFill>
                  <a:srgbClr val="0000FF"/>
                </a:solidFill>
                <a:ea typeface="宋体" charset="-122"/>
              </a:rPr>
              <a:t>非码</a:t>
            </a:r>
            <a:r>
              <a:rPr kumimoji="0" lang="zh-CN" altLang="en-US" kern="0" dirty="0">
                <a:ea typeface="宋体" charset="-122"/>
              </a:rPr>
              <a:t>的任何一组</a:t>
            </a:r>
            <a:r>
              <a:rPr kumimoji="0" lang="zh-CN" altLang="en-US" b="1" kern="0" dirty="0">
                <a:ea typeface="宋体" charset="-122"/>
              </a:rPr>
              <a:t>属性</a:t>
            </a:r>
            <a:endParaRPr kumimoji="0" lang="en-US" altLang="zh-CN" b="1" kern="0" dirty="0">
              <a:ea typeface="宋体" charset="-122"/>
            </a:endParaRPr>
          </a:p>
          <a:p>
            <a:pPr lvl="1"/>
            <a:r>
              <a:rPr kumimoji="0" lang="zh-CN" altLang="en-US" b="1" kern="0" dirty="0">
                <a:ea typeface="宋体" charset="-122"/>
              </a:rPr>
              <a:t>也即：</a:t>
            </a:r>
            <a:r>
              <a:rPr kumimoji="0" lang="en-US" altLang="zh-CN" kern="0" dirty="0">
                <a:ea typeface="宋体" charset="-122"/>
              </a:rPr>
              <a:t>BCNF</a:t>
            </a:r>
            <a:r>
              <a:rPr kumimoji="0" lang="zh-CN" altLang="en-US" kern="0" dirty="0">
                <a:ea typeface="宋体" charset="-122"/>
              </a:rPr>
              <a:t>消除了</a:t>
            </a:r>
            <a:r>
              <a:rPr kumimoji="0" lang="zh-CN" altLang="en-US" b="1" u="sng" kern="0" dirty="0">
                <a:effectLst>
                  <a:outerShdw blurRad="38100" dist="38100" dir="2700000" algn="tl">
                    <a:srgbClr val="000000">
                      <a:alpha val="43137"/>
                    </a:srgbClr>
                  </a:outerShdw>
                </a:effectLst>
                <a:ea typeface="宋体" charset="-122"/>
              </a:rPr>
              <a:t>任何属性</a:t>
            </a:r>
            <a:r>
              <a:rPr kumimoji="0" lang="zh-CN" altLang="en-US" kern="0" dirty="0">
                <a:ea typeface="宋体" charset="-122"/>
              </a:rPr>
              <a:t>对码的部分依赖与传递依赖</a:t>
            </a:r>
          </a:p>
          <a:p>
            <a:pPr>
              <a:lnSpc>
                <a:spcPct val="140000"/>
              </a:lnSpc>
            </a:pPr>
            <a:r>
              <a:rPr kumimoji="0" lang="en-US" altLang="zh-CN" kern="0" dirty="0">
                <a:ea typeface="宋体" charset="-122"/>
              </a:rPr>
              <a:t>R ∈BCNF                R ∈3NF</a:t>
            </a:r>
          </a:p>
        </p:txBody>
      </p:sp>
      <p:grpSp>
        <p:nvGrpSpPr>
          <p:cNvPr id="9" name="Group 9"/>
          <p:cNvGrpSpPr>
            <a:grpSpLocks/>
          </p:cNvGrpSpPr>
          <p:nvPr/>
        </p:nvGrpSpPr>
        <p:grpSpPr bwMode="auto">
          <a:xfrm>
            <a:off x="3177813" y="5430597"/>
            <a:ext cx="1439862" cy="719138"/>
            <a:chOff x="1655" y="3158"/>
            <a:chExt cx="907" cy="453"/>
          </a:xfrm>
        </p:grpSpPr>
        <p:sp>
          <p:nvSpPr>
            <p:cNvPr id="10" name="Line 4"/>
            <p:cNvSpPr>
              <a:spLocks noChangeShapeType="1"/>
            </p:cNvSpPr>
            <p:nvPr/>
          </p:nvSpPr>
          <p:spPr bwMode="auto">
            <a:xfrm>
              <a:off x="1655" y="3339"/>
              <a:ext cx="86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5"/>
            <p:cNvSpPr>
              <a:spLocks noChangeShapeType="1"/>
            </p:cNvSpPr>
            <p:nvPr/>
          </p:nvSpPr>
          <p:spPr bwMode="auto">
            <a:xfrm flipH="1">
              <a:off x="1655" y="3430"/>
              <a:ext cx="86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12" name="Line 6"/>
            <p:cNvSpPr>
              <a:spLocks noChangeShapeType="1"/>
            </p:cNvSpPr>
            <p:nvPr/>
          </p:nvSpPr>
          <p:spPr bwMode="auto">
            <a:xfrm flipH="1">
              <a:off x="2018" y="3385"/>
              <a:ext cx="136" cy="9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Rectangle 7"/>
            <p:cNvSpPr>
              <a:spLocks noChangeArrowheads="1"/>
            </p:cNvSpPr>
            <p:nvPr/>
          </p:nvSpPr>
          <p:spPr bwMode="auto">
            <a:xfrm>
              <a:off x="1655" y="3158"/>
              <a:ext cx="907"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spcBef>
                  <a:spcPct val="0"/>
                </a:spcBef>
                <a:defRPr kumimoji="1" sz="2400">
                  <a:solidFill>
                    <a:schemeClr val="tx1"/>
                  </a:solidFill>
                  <a:latin typeface="Times New Roman" pitchFamily="18" charset="0"/>
                  <a:ea typeface="宋体" charset="-122"/>
                </a:defRPr>
              </a:lvl1pPr>
              <a:lvl2pPr algn="l">
                <a:spcBef>
                  <a:spcPct val="0"/>
                </a:spcBef>
                <a:defRPr kumimoji="1" sz="2400">
                  <a:solidFill>
                    <a:schemeClr val="tx1"/>
                  </a:solidFill>
                  <a:latin typeface="Times New Roman" pitchFamily="18" charset="0"/>
                  <a:ea typeface="宋体" charset="-122"/>
                </a:defRPr>
              </a:lvl2pPr>
              <a:lvl3pPr algn="l">
                <a:spcBef>
                  <a:spcPct val="0"/>
                </a:spcBef>
                <a:defRPr kumimoji="1" sz="2400">
                  <a:solidFill>
                    <a:schemeClr val="tx1"/>
                  </a:solidFill>
                  <a:latin typeface="Times New Roman" pitchFamily="18" charset="0"/>
                  <a:ea typeface="宋体" charset="-122"/>
                </a:defRPr>
              </a:lvl3pPr>
              <a:lvl4pPr algn="l">
                <a:spcBef>
                  <a:spcPct val="0"/>
                </a:spcBef>
                <a:defRPr kumimoji="1" sz="2400">
                  <a:solidFill>
                    <a:schemeClr val="tx1"/>
                  </a:solidFill>
                  <a:latin typeface="Times New Roman" pitchFamily="18" charset="0"/>
                  <a:ea typeface="宋体" charset="-122"/>
                </a:defRPr>
              </a:lvl4pPr>
              <a:lvl5pPr algn="l">
                <a:spcBef>
                  <a:spcPct val="0"/>
                </a:spcBef>
                <a:defRPr kumimoji="1" sz="2400">
                  <a:solidFill>
                    <a:schemeClr val="tx1"/>
                  </a:solidFill>
                  <a:latin typeface="Times New Roman" pitchFamily="18" charset="0"/>
                  <a:ea typeface="宋体" charset="-122"/>
                </a:defRPr>
              </a:lvl5pPr>
              <a:lvl6pPr fontAlgn="base">
                <a:spcBef>
                  <a:spcPct val="0"/>
                </a:spcBef>
                <a:spcAft>
                  <a:spcPct val="0"/>
                </a:spcAft>
                <a:defRPr kumimoji="1" sz="2400">
                  <a:solidFill>
                    <a:schemeClr val="tx1"/>
                  </a:solidFill>
                  <a:latin typeface="Times New Roman" pitchFamily="18" charset="0"/>
                  <a:ea typeface="宋体" charset="-122"/>
                </a:defRPr>
              </a:lvl6pPr>
              <a:lvl7pPr fontAlgn="base">
                <a:spcBef>
                  <a:spcPct val="0"/>
                </a:spcBef>
                <a:spcAft>
                  <a:spcPct val="0"/>
                </a:spcAft>
                <a:defRPr kumimoji="1" sz="2400">
                  <a:solidFill>
                    <a:schemeClr val="tx1"/>
                  </a:solidFill>
                  <a:latin typeface="Times New Roman" pitchFamily="18" charset="0"/>
                  <a:ea typeface="宋体" charset="-122"/>
                </a:defRPr>
              </a:lvl7pPr>
              <a:lvl8pPr fontAlgn="base">
                <a:spcBef>
                  <a:spcPct val="0"/>
                </a:spcBef>
                <a:spcAft>
                  <a:spcPct val="0"/>
                </a:spcAft>
                <a:defRPr kumimoji="1" sz="2400">
                  <a:solidFill>
                    <a:schemeClr val="tx1"/>
                  </a:solidFill>
                  <a:latin typeface="Times New Roman" pitchFamily="18" charset="0"/>
                  <a:ea typeface="宋体" charset="-122"/>
                </a:defRPr>
              </a:lvl8pPr>
              <a:lvl9pPr fontAlgn="base">
                <a:spcBef>
                  <a:spcPct val="0"/>
                </a:spcBef>
                <a:spcAft>
                  <a:spcPct val="0"/>
                </a:spcAft>
                <a:defRPr kumimoji="1" sz="2400">
                  <a:solidFill>
                    <a:schemeClr val="tx1"/>
                  </a:solidFill>
                  <a:latin typeface="Times New Roman" pitchFamily="18" charset="0"/>
                  <a:ea typeface="宋体" charset="-122"/>
                </a:defRPr>
              </a:lvl9pPr>
            </a:lstStyle>
            <a:p>
              <a:pPr algn="ctr">
                <a:spcBef>
                  <a:spcPct val="20000"/>
                </a:spcBef>
              </a:pPr>
              <a:r>
                <a:rPr kumimoji="0" lang="zh-CN" altLang="en-US" sz="1800" dirty="0">
                  <a:latin typeface="Arial" charset="0"/>
                </a:rPr>
                <a:t>充分</a:t>
              </a:r>
            </a:p>
          </p:txBody>
        </p:sp>
        <p:sp>
          <p:nvSpPr>
            <p:cNvPr id="14" name="Rectangle 8"/>
            <p:cNvSpPr>
              <a:spLocks noChangeArrowheads="1"/>
            </p:cNvSpPr>
            <p:nvPr/>
          </p:nvSpPr>
          <p:spPr bwMode="auto">
            <a:xfrm>
              <a:off x="1655" y="3475"/>
              <a:ext cx="907"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a:spcBef>
                  <a:spcPct val="0"/>
                </a:spcBef>
                <a:defRPr kumimoji="1" sz="2400">
                  <a:solidFill>
                    <a:schemeClr val="tx1"/>
                  </a:solidFill>
                  <a:latin typeface="Times New Roman" pitchFamily="18" charset="0"/>
                  <a:ea typeface="宋体" charset="-122"/>
                </a:defRPr>
              </a:lvl1pPr>
              <a:lvl2pPr algn="l">
                <a:spcBef>
                  <a:spcPct val="0"/>
                </a:spcBef>
                <a:defRPr kumimoji="1" sz="2400">
                  <a:solidFill>
                    <a:schemeClr val="tx1"/>
                  </a:solidFill>
                  <a:latin typeface="Times New Roman" pitchFamily="18" charset="0"/>
                  <a:ea typeface="宋体" charset="-122"/>
                </a:defRPr>
              </a:lvl2pPr>
              <a:lvl3pPr algn="l">
                <a:spcBef>
                  <a:spcPct val="0"/>
                </a:spcBef>
                <a:defRPr kumimoji="1" sz="2400">
                  <a:solidFill>
                    <a:schemeClr val="tx1"/>
                  </a:solidFill>
                  <a:latin typeface="Times New Roman" pitchFamily="18" charset="0"/>
                  <a:ea typeface="宋体" charset="-122"/>
                </a:defRPr>
              </a:lvl3pPr>
              <a:lvl4pPr algn="l">
                <a:spcBef>
                  <a:spcPct val="0"/>
                </a:spcBef>
                <a:defRPr kumimoji="1" sz="2400">
                  <a:solidFill>
                    <a:schemeClr val="tx1"/>
                  </a:solidFill>
                  <a:latin typeface="Times New Roman" pitchFamily="18" charset="0"/>
                  <a:ea typeface="宋体" charset="-122"/>
                </a:defRPr>
              </a:lvl4pPr>
              <a:lvl5pPr algn="l">
                <a:spcBef>
                  <a:spcPct val="0"/>
                </a:spcBef>
                <a:defRPr kumimoji="1" sz="2400">
                  <a:solidFill>
                    <a:schemeClr val="tx1"/>
                  </a:solidFill>
                  <a:latin typeface="Times New Roman" pitchFamily="18" charset="0"/>
                  <a:ea typeface="宋体" charset="-122"/>
                </a:defRPr>
              </a:lvl5pPr>
              <a:lvl6pPr fontAlgn="base">
                <a:spcBef>
                  <a:spcPct val="0"/>
                </a:spcBef>
                <a:spcAft>
                  <a:spcPct val="0"/>
                </a:spcAft>
                <a:defRPr kumimoji="1" sz="2400">
                  <a:solidFill>
                    <a:schemeClr val="tx1"/>
                  </a:solidFill>
                  <a:latin typeface="Times New Roman" pitchFamily="18" charset="0"/>
                  <a:ea typeface="宋体" charset="-122"/>
                </a:defRPr>
              </a:lvl6pPr>
              <a:lvl7pPr fontAlgn="base">
                <a:spcBef>
                  <a:spcPct val="0"/>
                </a:spcBef>
                <a:spcAft>
                  <a:spcPct val="0"/>
                </a:spcAft>
                <a:defRPr kumimoji="1" sz="2400">
                  <a:solidFill>
                    <a:schemeClr val="tx1"/>
                  </a:solidFill>
                  <a:latin typeface="Times New Roman" pitchFamily="18" charset="0"/>
                  <a:ea typeface="宋体" charset="-122"/>
                </a:defRPr>
              </a:lvl7pPr>
              <a:lvl8pPr fontAlgn="base">
                <a:spcBef>
                  <a:spcPct val="0"/>
                </a:spcBef>
                <a:spcAft>
                  <a:spcPct val="0"/>
                </a:spcAft>
                <a:defRPr kumimoji="1" sz="2400">
                  <a:solidFill>
                    <a:schemeClr val="tx1"/>
                  </a:solidFill>
                  <a:latin typeface="Times New Roman" pitchFamily="18" charset="0"/>
                  <a:ea typeface="宋体" charset="-122"/>
                </a:defRPr>
              </a:lvl8pPr>
              <a:lvl9pPr fontAlgn="base">
                <a:spcBef>
                  <a:spcPct val="0"/>
                </a:spcBef>
                <a:spcAft>
                  <a:spcPct val="0"/>
                </a:spcAft>
                <a:defRPr kumimoji="1" sz="2400">
                  <a:solidFill>
                    <a:schemeClr val="tx1"/>
                  </a:solidFill>
                  <a:latin typeface="Times New Roman" pitchFamily="18" charset="0"/>
                  <a:ea typeface="宋体" charset="-122"/>
                </a:defRPr>
              </a:lvl9pPr>
            </a:lstStyle>
            <a:p>
              <a:pPr algn="ctr">
                <a:spcBef>
                  <a:spcPct val="20000"/>
                </a:spcBef>
              </a:pPr>
              <a:r>
                <a:rPr kumimoji="0" lang="zh-CN" altLang="en-US" sz="1800" dirty="0">
                  <a:latin typeface="Arial" charset="0"/>
                </a:rPr>
                <a:t>不必要</a:t>
              </a:r>
            </a:p>
          </p:txBody>
        </p:sp>
      </p:grpSp>
      <p:sp>
        <p:nvSpPr>
          <p:cNvPr id="3" name="页脚占位符 2">
            <a:extLst>
              <a:ext uri="{FF2B5EF4-FFF2-40B4-BE49-F238E27FC236}">
                <a16:creationId xmlns:a16="http://schemas.microsoft.com/office/drawing/2014/main" id="{7B82DBB3-7590-60C7-87FF-2880DE62A0D3}"/>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7DAA1E70-BA8B-0DF2-9030-2BFD469A1A05}"/>
              </a:ext>
            </a:extLst>
          </p:cNvPr>
          <p:cNvSpPr>
            <a:spLocks noGrp="1"/>
          </p:cNvSpPr>
          <p:nvPr>
            <p:ph type="sldNum" sz="quarter" idx="12"/>
          </p:nvPr>
        </p:nvSpPr>
        <p:spPr/>
        <p:txBody>
          <a:bodyPr/>
          <a:lstStyle/>
          <a:p>
            <a:fld id="{A2D74603-B40B-4D66-8F6E-41C870D48932}" type="slidenum">
              <a:rPr lang="en-US" altLang="zh-CN" smtClean="0"/>
              <a:pPr/>
              <a:t>62</a:t>
            </a:fld>
            <a:r>
              <a:rPr lang="en-US" altLang="zh-CN"/>
              <a:t>/162</a:t>
            </a:r>
            <a:endParaRPr lang="en-US" altLang="zh-CN" dirty="0"/>
          </a:p>
        </p:txBody>
      </p:sp>
    </p:spTree>
    <p:extLst>
      <p:ext uri="{BB962C8B-B14F-4D97-AF65-F5344CB8AC3E}">
        <p14:creationId xmlns:p14="http://schemas.microsoft.com/office/powerpoint/2010/main" val="6419476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5" end="5"/>
                                            </p:txEl>
                                          </p:spTgt>
                                        </p:tgtEl>
                                        <p:attrNameLst>
                                          <p:attrName>style.visibility</p:attrName>
                                        </p:attrNameLst>
                                      </p:cBhvr>
                                      <p:to>
                                        <p:strVal val="visible"/>
                                      </p:to>
                                    </p:set>
                                    <p:anim calcmode="lin" valueType="num">
                                      <p:cBhvr additive="base">
                                        <p:cTn id="7"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DD062184-1652-4EF5-9898-92CCC193032A}" type="datetime1">
              <a:rPr lang="zh-CN" altLang="en-US" smtClean="0"/>
              <a:t>2025/11/6</a:t>
            </a:fld>
            <a:endParaRPr lang="en-US" altLang="zh-CN"/>
          </a:p>
        </p:txBody>
      </p:sp>
      <p:sp>
        <p:nvSpPr>
          <p:cNvPr id="286722" name="Rectangle 2"/>
          <p:cNvSpPr>
            <a:spLocks noGrp="1" noChangeArrowheads="1"/>
          </p:cNvSpPr>
          <p:nvPr>
            <p:ph type="title"/>
          </p:nvPr>
        </p:nvSpPr>
        <p:spPr/>
        <p:txBody>
          <a:bodyPr/>
          <a:lstStyle/>
          <a:p>
            <a:r>
              <a:rPr lang="en-US" altLang="zh-CN" dirty="0"/>
              <a:t>8.2.6 BCNF</a:t>
            </a:r>
            <a:endParaRPr lang="zh-CN" altLang="en-US" dirty="0"/>
          </a:p>
        </p:txBody>
      </p:sp>
      <p:sp>
        <p:nvSpPr>
          <p:cNvPr id="286723" name="Rectangle 3"/>
          <p:cNvSpPr>
            <a:spLocks noGrp="1" noChangeArrowheads="1"/>
          </p:cNvSpPr>
          <p:nvPr>
            <p:ph type="body" idx="1"/>
          </p:nvPr>
        </p:nvSpPr>
        <p:spPr/>
        <p:txBody>
          <a:bodyPr/>
          <a:lstStyle/>
          <a:p>
            <a:r>
              <a:rPr lang="en-US" altLang="zh-CN" dirty="0"/>
              <a:t>BCNF</a:t>
            </a:r>
            <a:r>
              <a:rPr lang="zh-CN" altLang="en-US" dirty="0"/>
              <a:t>与</a:t>
            </a:r>
            <a:r>
              <a:rPr lang="en-US" altLang="zh-CN" dirty="0"/>
              <a:t>3NF</a:t>
            </a:r>
            <a:r>
              <a:rPr lang="zh-CN" altLang="en-US" dirty="0"/>
              <a:t>相比，条件更强。</a:t>
            </a:r>
          </a:p>
          <a:p>
            <a:pPr lvl="1">
              <a:spcBef>
                <a:spcPct val="30000"/>
              </a:spcBef>
            </a:pPr>
            <a:r>
              <a:rPr lang="zh-CN" altLang="en-US" b="1" dirty="0">
                <a:solidFill>
                  <a:schemeClr val="tx2"/>
                </a:solidFill>
              </a:rPr>
              <a:t>不允许</a:t>
            </a:r>
            <a:r>
              <a:rPr lang="zh-CN" altLang="en-US" dirty="0">
                <a:solidFill>
                  <a:srgbClr val="C00000"/>
                </a:solidFill>
              </a:rPr>
              <a:t>主属性</a:t>
            </a:r>
            <a:r>
              <a:rPr lang="zh-CN" altLang="en-US" dirty="0">
                <a:solidFill>
                  <a:srgbClr val="0000FF"/>
                </a:solidFill>
              </a:rPr>
              <a:t>对</a:t>
            </a:r>
            <a:r>
              <a:rPr lang="zh-CN" altLang="en-US" dirty="0">
                <a:solidFill>
                  <a:srgbClr val="C00000"/>
                </a:solidFill>
              </a:rPr>
              <a:t>码</a:t>
            </a:r>
            <a:r>
              <a:rPr lang="zh-CN" altLang="en-US" dirty="0"/>
              <a:t>的</a:t>
            </a:r>
            <a:r>
              <a:rPr lang="zh-CN" altLang="en-US" u="sng" dirty="0">
                <a:solidFill>
                  <a:schemeClr val="tx2"/>
                </a:solidFill>
              </a:rPr>
              <a:t>部分和传递</a:t>
            </a:r>
            <a:r>
              <a:rPr lang="zh-CN" altLang="en-US" u="sng" dirty="0"/>
              <a:t>函数依赖</a:t>
            </a:r>
            <a:r>
              <a:rPr lang="zh-CN" altLang="en-US" dirty="0"/>
              <a:t>。</a:t>
            </a:r>
          </a:p>
          <a:p>
            <a:endParaRPr lang="zh-CN" altLang="en-US" sz="1200" dirty="0"/>
          </a:p>
          <a:p>
            <a:r>
              <a:rPr lang="zh-CN" altLang="en-US" sz="2800" dirty="0"/>
              <a:t>如果一个关系数据库中的所有关系模式都属于</a:t>
            </a:r>
            <a:r>
              <a:rPr lang="en-US" altLang="zh-CN" sz="2800" dirty="0"/>
              <a:t>BCNF</a:t>
            </a:r>
            <a:r>
              <a:rPr lang="zh-CN" altLang="en-US" sz="2800" dirty="0"/>
              <a:t>，那么</a:t>
            </a:r>
            <a:r>
              <a:rPr lang="zh-CN" altLang="en-US" sz="2800" u="sng" dirty="0"/>
              <a:t>在函数依赖范畴内，它已实现了模式的彻底分解</a:t>
            </a:r>
            <a:r>
              <a:rPr lang="zh-CN" altLang="en-US" sz="2800" dirty="0"/>
              <a:t>，达到了</a:t>
            </a:r>
            <a:r>
              <a:rPr lang="zh-CN" altLang="en-US" sz="2800" u="sng" dirty="0">
                <a:solidFill>
                  <a:srgbClr val="0000FF"/>
                </a:solidFill>
              </a:rPr>
              <a:t>最高</a:t>
            </a:r>
            <a:r>
              <a:rPr lang="zh-CN" altLang="en-US" sz="2800" u="sng" dirty="0"/>
              <a:t>的规范化程度</a:t>
            </a:r>
            <a:r>
              <a:rPr lang="zh-CN" altLang="en-US" sz="2800" dirty="0"/>
              <a:t>，</a:t>
            </a:r>
            <a:r>
              <a:rPr lang="zh-CN" altLang="en-US" sz="2800" dirty="0">
                <a:solidFill>
                  <a:srgbClr val="0000FF"/>
                </a:solidFill>
              </a:rPr>
              <a:t>消除了插入异常和删除异常</a:t>
            </a:r>
            <a:r>
              <a:rPr lang="zh-CN" altLang="en-US" sz="2800" dirty="0"/>
              <a:t>。</a:t>
            </a:r>
          </a:p>
        </p:txBody>
      </p:sp>
      <p:sp>
        <p:nvSpPr>
          <p:cNvPr id="2" name="矩形 1"/>
          <p:cNvSpPr/>
          <p:nvPr/>
        </p:nvSpPr>
        <p:spPr>
          <a:xfrm>
            <a:off x="1751635" y="4572000"/>
            <a:ext cx="5562600" cy="1307281"/>
          </a:xfrm>
          <a:prstGeom prst="rect">
            <a:avLst/>
          </a:prstGeom>
        </p:spPr>
        <p:txBody>
          <a:bodyPr wrap="square">
            <a:spAutoFit/>
          </a:bodyPr>
          <a:lstStyle/>
          <a:p>
            <a:pPr>
              <a:lnSpc>
                <a:spcPct val="150000"/>
              </a:lnSpc>
            </a:pPr>
            <a:r>
              <a:rPr lang="zh-CN" altLang="en-US" sz="2800" dirty="0"/>
              <a:t>如果</a:t>
            </a:r>
            <a:r>
              <a:rPr lang="en-US" altLang="zh-CN" sz="2800" dirty="0"/>
              <a:t>R∈3NF</a:t>
            </a:r>
            <a:r>
              <a:rPr lang="zh-CN" altLang="en-US" sz="2800" dirty="0"/>
              <a:t>，且</a:t>
            </a:r>
            <a:r>
              <a:rPr lang="en-US" altLang="zh-CN" sz="2800" dirty="0"/>
              <a:t>R</a:t>
            </a:r>
            <a:r>
              <a:rPr lang="zh-CN" altLang="en-US" sz="2800" b="1" dirty="0">
                <a:solidFill>
                  <a:srgbClr val="C00000"/>
                </a:solidFill>
              </a:rPr>
              <a:t>只有一个候选码</a:t>
            </a:r>
          </a:p>
          <a:p>
            <a:pPr>
              <a:lnSpc>
                <a:spcPct val="150000"/>
              </a:lnSpc>
            </a:pPr>
            <a:r>
              <a:rPr lang="zh-CN" altLang="en-US" sz="2800" dirty="0"/>
              <a:t>    </a:t>
            </a:r>
            <a:r>
              <a:rPr lang="en-US" altLang="zh-CN" sz="2800" dirty="0"/>
              <a:t>R ∈BCNF                R ∈3NF</a:t>
            </a:r>
          </a:p>
        </p:txBody>
      </p:sp>
      <p:grpSp>
        <p:nvGrpSpPr>
          <p:cNvPr id="8" name="Group 16"/>
          <p:cNvGrpSpPr>
            <a:grpSpLocks/>
          </p:cNvGrpSpPr>
          <p:nvPr/>
        </p:nvGrpSpPr>
        <p:grpSpPr bwMode="auto">
          <a:xfrm>
            <a:off x="4114800" y="5275599"/>
            <a:ext cx="1439863" cy="719138"/>
            <a:chOff x="2018" y="2568"/>
            <a:chExt cx="907" cy="453"/>
          </a:xfrm>
        </p:grpSpPr>
        <p:sp>
          <p:nvSpPr>
            <p:cNvPr id="9" name="Line 11"/>
            <p:cNvSpPr>
              <a:spLocks noChangeShapeType="1"/>
            </p:cNvSpPr>
            <p:nvPr/>
          </p:nvSpPr>
          <p:spPr bwMode="auto">
            <a:xfrm>
              <a:off x="2018" y="2749"/>
              <a:ext cx="86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 name="Line 12"/>
            <p:cNvSpPr>
              <a:spLocks noChangeShapeType="1"/>
            </p:cNvSpPr>
            <p:nvPr/>
          </p:nvSpPr>
          <p:spPr bwMode="auto">
            <a:xfrm flipH="1">
              <a:off x="2018" y="2840"/>
              <a:ext cx="86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Rectangle 14"/>
            <p:cNvSpPr>
              <a:spLocks noChangeArrowheads="1"/>
            </p:cNvSpPr>
            <p:nvPr/>
          </p:nvSpPr>
          <p:spPr bwMode="auto">
            <a:xfrm>
              <a:off x="2018" y="2568"/>
              <a:ext cx="907"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buFont typeface="Wingdings" pitchFamily="2" charset="2"/>
                <a:buNone/>
              </a:pPr>
              <a:r>
                <a:rPr lang="zh-CN" altLang="en-US" sz="1800"/>
                <a:t>充分</a:t>
              </a:r>
            </a:p>
          </p:txBody>
        </p:sp>
        <p:sp>
          <p:nvSpPr>
            <p:cNvPr id="12" name="Rectangle 15"/>
            <p:cNvSpPr>
              <a:spLocks noChangeArrowheads="1"/>
            </p:cNvSpPr>
            <p:nvPr/>
          </p:nvSpPr>
          <p:spPr bwMode="auto">
            <a:xfrm>
              <a:off x="2018" y="2885"/>
              <a:ext cx="907"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buFont typeface="Wingdings" pitchFamily="2" charset="2"/>
                <a:buNone/>
              </a:pPr>
              <a:r>
                <a:rPr lang="zh-CN" altLang="en-US" sz="1800"/>
                <a:t>必要</a:t>
              </a:r>
            </a:p>
          </p:txBody>
        </p:sp>
      </p:grpSp>
      <p:sp>
        <p:nvSpPr>
          <p:cNvPr id="5" name="页脚占位符 4">
            <a:extLst>
              <a:ext uri="{FF2B5EF4-FFF2-40B4-BE49-F238E27FC236}">
                <a16:creationId xmlns:a16="http://schemas.microsoft.com/office/drawing/2014/main" id="{0ECF34DC-5A3F-C9DC-05F5-8AEDD0AFC26B}"/>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E2136538-E321-0D46-327F-72DE54B95BAA}"/>
              </a:ext>
            </a:extLst>
          </p:cNvPr>
          <p:cNvSpPr>
            <a:spLocks noGrp="1"/>
          </p:cNvSpPr>
          <p:nvPr>
            <p:ph type="sldNum" sz="quarter" idx="12"/>
          </p:nvPr>
        </p:nvSpPr>
        <p:spPr/>
        <p:txBody>
          <a:bodyPr/>
          <a:lstStyle/>
          <a:p>
            <a:fld id="{A2D74603-B40B-4D66-8F6E-41C870D48932}" type="slidenum">
              <a:rPr lang="en-US" altLang="zh-CN" smtClean="0"/>
              <a:pPr/>
              <a:t>63</a:t>
            </a:fld>
            <a:r>
              <a:rPr lang="en-US" altLang="zh-CN"/>
              <a:t>/162</a:t>
            </a:r>
            <a:endParaRPr lang="en-US" altLang="zh-CN" dirty="0"/>
          </a:p>
        </p:txBody>
      </p:sp>
    </p:spTree>
    <p:extLst>
      <p:ext uri="{BB962C8B-B14F-4D97-AF65-F5344CB8AC3E}">
        <p14:creationId xmlns:p14="http://schemas.microsoft.com/office/powerpoint/2010/main" val="14702185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F48097BF-0E9F-47F5-B278-02E75CCA6A4C}" type="datetime1">
              <a:rPr lang="zh-CN" altLang="en-US" smtClean="0"/>
              <a:t>2025/11/6</a:t>
            </a:fld>
            <a:endParaRPr lang="en-US" altLang="zh-CN"/>
          </a:p>
        </p:txBody>
      </p:sp>
      <p:sp>
        <p:nvSpPr>
          <p:cNvPr id="287746" name="Rectangle 2"/>
          <p:cNvSpPr>
            <a:spLocks noGrp="1" noChangeArrowheads="1"/>
          </p:cNvSpPr>
          <p:nvPr>
            <p:ph type="title"/>
          </p:nvPr>
        </p:nvSpPr>
        <p:spPr/>
        <p:txBody>
          <a:bodyPr/>
          <a:lstStyle/>
          <a:p>
            <a:r>
              <a:rPr lang="en-US" altLang="zh-CN" dirty="0"/>
              <a:t>8.2.6 BCNF</a:t>
            </a:r>
            <a:endParaRPr lang="zh-CN" altLang="en-US" dirty="0"/>
          </a:p>
        </p:txBody>
      </p:sp>
      <p:sp>
        <p:nvSpPr>
          <p:cNvPr id="287747" name="Rectangle 3"/>
          <p:cNvSpPr>
            <a:spLocks noGrp="1" noChangeArrowheads="1"/>
          </p:cNvSpPr>
          <p:nvPr>
            <p:ph type="body" idx="1"/>
          </p:nvPr>
        </p:nvSpPr>
        <p:spPr/>
        <p:txBody>
          <a:bodyPr/>
          <a:lstStyle/>
          <a:p>
            <a:r>
              <a:rPr lang="zh-CN" altLang="en-US" dirty="0"/>
              <a:t>例</a:t>
            </a:r>
            <a:r>
              <a:rPr lang="en-US" altLang="zh-CN" dirty="0"/>
              <a:t>6 </a:t>
            </a:r>
            <a:r>
              <a:rPr lang="zh-CN" altLang="en-US" dirty="0"/>
              <a:t>关系模式</a:t>
            </a:r>
            <a:r>
              <a:rPr lang="en-US" altLang="zh-CN" dirty="0"/>
              <a:t>S(</a:t>
            </a:r>
            <a:r>
              <a:rPr lang="en-US" altLang="zh-CN" dirty="0" err="1">
                <a:solidFill>
                  <a:srgbClr val="0000FF"/>
                </a:solidFill>
              </a:rPr>
              <a:t>Sno</a:t>
            </a:r>
            <a:r>
              <a:rPr lang="en-US" altLang="zh-CN" dirty="0" err="1"/>
              <a:t>,</a:t>
            </a:r>
            <a:r>
              <a:rPr lang="en-US" altLang="zh-CN" dirty="0" err="1">
                <a:solidFill>
                  <a:srgbClr val="0000FF"/>
                </a:solidFill>
              </a:rPr>
              <a:t>Sname</a:t>
            </a:r>
            <a:r>
              <a:rPr lang="en-US" altLang="zh-CN" dirty="0" err="1"/>
              <a:t>,Sdept,Sage</a:t>
            </a:r>
            <a:r>
              <a:rPr lang="en-US" altLang="zh-CN" dirty="0"/>
              <a:t>)</a:t>
            </a:r>
            <a:r>
              <a:rPr lang="zh-CN" altLang="en-US" dirty="0"/>
              <a:t>，</a:t>
            </a:r>
          </a:p>
          <a:p>
            <a:pPr lvl="1"/>
            <a:r>
              <a:rPr lang="zh-CN" altLang="en-US" dirty="0"/>
              <a:t>假定</a:t>
            </a:r>
            <a:r>
              <a:rPr lang="en-US" altLang="zh-CN" dirty="0" err="1">
                <a:solidFill>
                  <a:srgbClr val="0000FF"/>
                </a:solidFill>
              </a:rPr>
              <a:t>Sname</a:t>
            </a:r>
            <a:r>
              <a:rPr lang="zh-CN" altLang="en-US" dirty="0">
                <a:solidFill>
                  <a:srgbClr val="0000FF"/>
                </a:solidFill>
              </a:rPr>
              <a:t>也具有唯一性</a:t>
            </a:r>
            <a:r>
              <a:rPr lang="zh-CN" altLang="en-US" dirty="0"/>
              <a:t>，那么</a:t>
            </a:r>
            <a:r>
              <a:rPr lang="en-US" altLang="zh-CN" dirty="0"/>
              <a:t>S</a:t>
            </a:r>
            <a:r>
              <a:rPr lang="zh-CN" altLang="en-US" dirty="0"/>
              <a:t>就有</a:t>
            </a:r>
            <a:r>
              <a:rPr lang="zh-CN" altLang="en-US" dirty="0">
                <a:solidFill>
                  <a:srgbClr val="0000FF"/>
                </a:solidFill>
              </a:rPr>
              <a:t>两个码</a:t>
            </a:r>
            <a:r>
              <a:rPr lang="zh-CN" altLang="en-US" dirty="0"/>
              <a:t>，这</a:t>
            </a:r>
            <a:r>
              <a:rPr lang="zh-CN" altLang="en-US" dirty="0">
                <a:solidFill>
                  <a:srgbClr val="0000FF"/>
                </a:solidFill>
              </a:rPr>
              <a:t>两个码都由单个属性组成</a:t>
            </a:r>
            <a:r>
              <a:rPr lang="zh-CN" altLang="en-US" dirty="0"/>
              <a:t>，</a:t>
            </a:r>
            <a:r>
              <a:rPr lang="zh-CN" altLang="en-US" dirty="0">
                <a:solidFill>
                  <a:srgbClr val="0000FF"/>
                </a:solidFill>
              </a:rPr>
              <a:t>彼此</a:t>
            </a:r>
            <a:r>
              <a:rPr lang="zh-CN" altLang="en-US" b="1" dirty="0">
                <a:solidFill>
                  <a:srgbClr val="FF0000"/>
                </a:solidFill>
              </a:rPr>
              <a:t>不相交</a:t>
            </a:r>
            <a:r>
              <a:rPr lang="zh-CN" altLang="en-US" dirty="0"/>
              <a:t>。</a:t>
            </a:r>
          </a:p>
          <a:p>
            <a:pPr lvl="1"/>
            <a:r>
              <a:rPr lang="zh-CN" altLang="en-US" dirty="0">
                <a:solidFill>
                  <a:srgbClr val="0000FF"/>
                </a:solidFill>
              </a:rPr>
              <a:t>其他属性</a:t>
            </a:r>
            <a:r>
              <a:rPr lang="zh-CN" altLang="en-US" dirty="0"/>
              <a:t>不存在对码的传递依赖与部分依赖，所以</a:t>
            </a:r>
            <a:r>
              <a:rPr lang="en-US" altLang="zh-CN" dirty="0">
                <a:solidFill>
                  <a:srgbClr val="0000FF"/>
                </a:solidFill>
              </a:rPr>
              <a:t>S∈3NF</a:t>
            </a:r>
            <a:r>
              <a:rPr lang="zh-CN" altLang="en-US" dirty="0"/>
              <a:t>。</a:t>
            </a:r>
          </a:p>
          <a:p>
            <a:pPr lvl="1"/>
            <a:r>
              <a:rPr lang="zh-CN" altLang="en-US" dirty="0"/>
              <a:t>同时</a:t>
            </a:r>
            <a:r>
              <a:rPr lang="en-US" altLang="zh-CN" dirty="0"/>
              <a:t>S</a:t>
            </a:r>
            <a:r>
              <a:rPr lang="zh-CN" altLang="en-US" dirty="0"/>
              <a:t>中除</a:t>
            </a:r>
            <a:r>
              <a:rPr lang="en-US" altLang="zh-CN" dirty="0" err="1"/>
              <a:t>Sno</a:t>
            </a:r>
            <a:r>
              <a:rPr lang="zh-CN" altLang="en-US" dirty="0"/>
              <a:t>，</a:t>
            </a:r>
            <a:r>
              <a:rPr lang="en-US" altLang="zh-CN" dirty="0" err="1"/>
              <a:t>Sname</a:t>
            </a:r>
            <a:r>
              <a:rPr lang="zh-CN" altLang="en-US" dirty="0"/>
              <a:t>外</a:t>
            </a:r>
            <a:r>
              <a:rPr lang="zh-CN" altLang="en-US" b="1" u="sng" dirty="0"/>
              <a:t>没有其他决定因素</a:t>
            </a:r>
            <a:r>
              <a:rPr lang="zh-CN" altLang="en-US" dirty="0"/>
              <a:t>，所以</a:t>
            </a:r>
            <a:r>
              <a:rPr lang="en-US" altLang="zh-CN" dirty="0">
                <a:solidFill>
                  <a:srgbClr val="0000FF"/>
                </a:solidFill>
              </a:rPr>
              <a:t>S</a:t>
            </a:r>
            <a:r>
              <a:rPr lang="zh-CN" altLang="en-US" dirty="0">
                <a:solidFill>
                  <a:srgbClr val="0000FF"/>
                </a:solidFill>
              </a:rPr>
              <a:t>也属于</a:t>
            </a:r>
            <a:r>
              <a:rPr lang="en-US" altLang="zh-CN" dirty="0">
                <a:solidFill>
                  <a:srgbClr val="0000FF"/>
                </a:solidFill>
              </a:rPr>
              <a:t>BCNF</a:t>
            </a:r>
            <a:r>
              <a:rPr lang="zh-CN" altLang="en-US" dirty="0"/>
              <a:t>。</a:t>
            </a:r>
          </a:p>
        </p:txBody>
      </p:sp>
      <p:sp>
        <p:nvSpPr>
          <p:cNvPr id="3" name="页脚占位符 2">
            <a:extLst>
              <a:ext uri="{FF2B5EF4-FFF2-40B4-BE49-F238E27FC236}">
                <a16:creationId xmlns:a16="http://schemas.microsoft.com/office/drawing/2014/main" id="{290BA9B6-5399-20E5-DF01-A04B80BD22CF}"/>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5BE0B10D-4193-D6A0-1943-BD12391F286B}"/>
              </a:ext>
            </a:extLst>
          </p:cNvPr>
          <p:cNvSpPr>
            <a:spLocks noGrp="1"/>
          </p:cNvSpPr>
          <p:nvPr>
            <p:ph type="sldNum" sz="quarter" idx="12"/>
          </p:nvPr>
        </p:nvSpPr>
        <p:spPr/>
        <p:txBody>
          <a:bodyPr/>
          <a:lstStyle/>
          <a:p>
            <a:fld id="{A2D74603-B40B-4D66-8F6E-41C870D48932}" type="slidenum">
              <a:rPr lang="en-US" altLang="zh-CN" smtClean="0"/>
              <a:pPr/>
              <a:t>64</a:t>
            </a:fld>
            <a:r>
              <a:rPr lang="en-US" altLang="zh-CN"/>
              <a:t>/162</a:t>
            </a:r>
            <a:endParaRPr lang="en-US" altLang="zh-CN" dirty="0"/>
          </a:p>
        </p:txBody>
      </p:sp>
    </p:spTree>
    <p:extLst>
      <p:ext uri="{BB962C8B-B14F-4D97-AF65-F5344CB8AC3E}">
        <p14:creationId xmlns:p14="http://schemas.microsoft.com/office/powerpoint/2010/main" val="12220770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87747">
                                            <p:txEl>
                                              <p:pRg st="1" end="1"/>
                                            </p:txEl>
                                          </p:spTgt>
                                        </p:tgtEl>
                                        <p:attrNameLst>
                                          <p:attrName>style.visibility</p:attrName>
                                        </p:attrNameLst>
                                      </p:cBhvr>
                                      <p:to>
                                        <p:strVal val="visible"/>
                                      </p:to>
                                    </p:set>
                                    <p:anim calcmode="lin" valueType="num">
                                      <p:cBhvr additive="base">
                                        <p:cTn id="7" dur="500" fill="hold"/>
                                        <p:tgtEl>
                                          <p:spTgt spid="28774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774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87747">
                                            <p:txEl>
                                              <p:pRg st="2" end="2"/>
                                            </p:txEl>
                                          </p:spTgt>
                                        </p:tgtEl>
                                        <p:attrNameLst>
                                          <p:attrName>style.visibility</p:attrName>
                                        </p:attrNameLst>
                                      </p:cBhvr>
                                      <p:to>
                                        <p:strVal val="visible"/>
                                      </p:to>
                                    </p:set>
                                    <p:anim calcmode="lin" valueType="num">
                                      <p:cBhvr additive="base">
                                        <p:cTn id="13" dur="500" fill="hold"/>
                                        <p:tgtEl>
                                          <p:spTgt spid="28774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8774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87747">
                                            <p:txEl>
                                              <p:pRg st="3" end="3"/>
                                            </p:txEl>
                                          </p:spTgt>
                                        </p:tgtEl>
                                        <p:attrNameLst>
                                          <p:attrName>style.visibility</p:attrName>
                                        </p:attrNameLst>
                                      </p:cBhvr>
                                      <p:to>
                                        <p:strVal val="visible"/>
                                      </p:to>
                                    </p:set>
                                    <p:anim calcmode="lin" valueType="num">
                                      <p:cBhvr additive="base">
                                        <p:cTn id="19" dur="500" fill="hold"/>
                                        <p:tgtEl>
                                          <p:spTgt spid="28774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8774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FB9AC0F8-7807-4186-9240-7E87EDE0207D}" type="datetime1">
              <a:rPr lang="zh-CN" altLang="en-US" smtClean="0"/>
              <a:t>2025/11/6</a:t>
            </a:fld>
            <a:endParaRPr lang="en-US" altLang="zh-CN"/>
          </a:p>
        </p:txBody>
      </p:sp>
      <p:sp>
        <p:nvSpPr>
          <p:cNvPr id="287746" name="Rectangle 2"/>
          <p:cNvSpPr>
            <a:spLocks noGrp="1" noChangeArrowheads="1"/>
          </p:cNvSpPr>
          <p:nvPr>
            <p:ph type="title"/>
          </p:nvPr>
        </p:nvSpPr>
        <p:spPr/>
        <p:txBody>
          <a:bodyPr/>
          <a:lstStyle/>
          <a:p>
            <a:r>
              <a:rPr lang="en-US" altLang="zh-CN" dirty="0"/>
              <a:t>8.2.6 BCNF</a:t>
            </a:r>
            <a:endParaRPr lang="zh-CN" altLang="en-US" dirty="0"/>
          </a:p>
        </p:txBody>
      </p:sp>
      <p:sp>
        <p:nvSpPr>
          <p:cNvPr id="287747" name="Rectangle 3"/>
          <p:cNvSpPr>
            <a:spLocks noGrp="1" noChangeArrowheads="1"/>
          </p:cNvSpPr>
          <p:nvPr>
            <p:ph type="body" idx="1"/>
          </p:nvPr>
        </p:nvSpPr>
        <p:spPr/>
        <p:txBody>
          <a:bodyPr/>
          <a:lstStyle/>
          <a:p>
            <a:r>
              <a:rPr lang="zh-CN" altLang="en-US" dirty="0"/>
              <a:t>例</a:t>
            </a:r>
            <a:r>
              <a:rPr lang="en-US" altLang="zh-CN" dirty="0"/>
              <a:t>7 (BCNF</a:t>
            </a:r>
            <a:r>
              <a:rPr lang="zh-CN" altLang="en-US" dirty="0"/>
              <a:t>的例子</a:t>
            </a:r>
            <a:r>
              <a:rPr lang="en-US" altLang="zh-CN" dirty="0"/>
              <a:t>)</a:t>
            </a:r>
          </a:p>
          <a:p>
            <a:pPr lvl="1"/>
            <a:r>
              <a:rPr lang="zh-CN" altLang="en-US" dirty="0"/>
              <a:t>关系模式</a:t>
            </a:r>
            <a:r>
              <a:rPr lang="en-US" altLang="zh-CN" dirty="0"/>
              <a:t>SPJ</a:t>
            </a:r>
            <a:r>
              <a:rPr lang="zh-CN" altLang="en-US" dirty="0"/>
              <a:t>（学生，课程，名次）</a:t>
            </a:r>
          </a:p>
          <a:p>
            <a:pPr lvl="2"/>
            <a:r>
              <a:rPr lang="zh-CN" altLang="en-US" dirty="0"/>
              <a:t>每个学生选每门课程有一定名次</a:t>
            </a:r>
          </a:p>
          <a:p>
            <a:pPr lvl="2"/>
            <a:r>
              <a:rPr lang="zh-CN" altLang="en-US" dirty="0"/>
              <a:t>每门课程中每一名次只有一个学生</a:t>
            </a:r>
          </a:p>
        </p:txBody>
      </p:sp>
      <p:sp>
        <p:nvSpPr>
          <p:cNvPr id="3" name="页脚占位符 2">
            <a:extLst>
              <a:ext uri="{FF2B5EF4-FFF2-40B4-BE49-F238E27FC236}">
                <a16:creationId xmlns:a16="http://schemas.microsoft.com/office/drawing/2014/main" id="{92646FC9-837B-8B08-0309-580DF5349E14}"/>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288C492D-445F-9434-35E5-0EB7C917E890}"/>
              </a:ext>
            </a:extLst>
          </p:cNvPr>
          <p:cNvSpPr>
            <a:spLocks noGrp="1"/>
          </p:cNvSpPr>
          <p:nvPr>
            <p:ph type="sldNum" sz="quarter" idx="12"/>
          </p:nvPr>
        </p:nvSpPr>
        <p:spPr/>
        <p:txBody>
          <a:bodyPr/>
          <a:lstStyle/>
          <a:p>
            <a:fld id="{A2D74603-B40B-4D66-8F6E-41C870D48932}" type="slidenum">
              <a:rPr lang="en-US" altLang="zh-CN" smtClean="0"/>
              <a:pPr/>
              <a:t>65</a:t>
            </a:fld>
            <a:r>
              <a:rPr lang="en-US" altLang="zh-CN"/>
              <a:t>/162</a:t>
            </a:r>
            <a:endParaRPr lang="en-US" altLang="zh-CN" dirty="0"/>
          </a:p>
        </p:txBody>
      </p:sp>
    </p:spTree>
    <p:extLst>
      <p:ext uri="{BB962C8B-B14F-4D97-AF65-F5344CB8AC3E}">
        <p14:creationId xmlns:p14="http://schemas.microsoft.com/office/powerpoint/2010/main" val="1556956848"/>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p:cNvSpPr>
            <a:spLocks noGrp="1"/>
          </p:cNvSpPr>
          <p:nvPr>
            <p:ph type="dt" sz="half" idx="10"/>
          </p:nvPr>
        </p:nvSpPr>
        <p:spPr/>
        <p:txBody>
          <a:bodyPr/>
          <a:lstStyle/>
          <a:p>
            <a:fld id="{EE8EB299-35F5-4A98-AA71-F4263C55300B}" type="datetime1">
              <a:rPr lang="zh-CN" altLang="en-US" smtClean="0"/>
              <a:t>2025/11/6</a:t>
            </a:fld>
            <a:endParaRPr lang="en-US" altLang="zh-CN"/>
          </a:p>
        </p:txBody>
      </p:sp>
      <p:sp>
        <p:nvSpPr>
          <p:cNvPr id="289794" name="Rectangle 2"/>
          <p:cNvSpPr>
            <a:spLocks noGrp="1" noChangeArrowheads="1"/>
          </p:cNvSpPr>
          <p:nvPr>
            <p:ph type="title"/>
          </p:nvPr>
        </p:nvSpPr>
        <p:spPr/>
        <p:txBody>
          <a:bodyPr/>
          <a:lstStyle/>
          <a:p>
            <a:r>
              <a:rPr lang="en-US" altLang="zh-CN" dirty="0"/>
              <a:t>8.2.6 BCNF</a:t>
            </a:r>
            <a:endParaRPr lang="zh-CN" altLang="en-US" dirty="0"/>
          </a:p>
        </p:txBody>
      </p:sp>
      <p:sp>
        <p:nvSpPr>
          <p:cNvPr id="289795" name="Rectangle 3"/>
          <p:cNvSpPr>
            <a:spLocks noGrp="1" noChangeArrowheads="1"/>
          </p:cNvSpPr>
          <p:nvPr>
            <p:ph type="body" idx="1"/>
          </p:nvPr>
        </p:nvSpPr>
        <p:spPr/>
        <p:txBody>
          <a:bodyPr/>
          <a:lstStyle/>
          <a:p>
            <a:r>
              <a:rPr lang="zh-CN" altLang="en-US" dirty="0"/>
              <a:t>例</a:t>
            </a:r>
            <a:r>
              <a:rPr lang="en-US" altLang="zh-CN" dirty="0"/>
              <a:t>7 (</a:t>
            </a:r>
            <a:r>
              <a:rPr lang="en-US" altLang="zh-CN" dirty="0">
                <a:solidFill>
                  <a:srgbClr val="0000FF"/>
                </a:solidFill>
              </a:rPr>
              <a:t>BCNF</a:t>
            </a:r>
            <a:r>
              <a:rPr lang="zh-CN" altLang="en-US" dirty="0"/>
              <a:t>的例子</a:t>
            </a:r>
            <a:r>
              <a:rPr lang="en-US" altLang="zh-CN" dirty="0"/>
              <a:t>)</a:t>
            </a:r>
          </a:p>
          <a:p>
            <a:pPr lvl="1"/>
            <a:r>
              <a:rPr lang="zh-CN" altLang="en-US" dirty="0"/>
              <a:t>关系模式</a:t>
            </a:r>
            <a:r>
              <a:rPr lang="en-US" altLang="zh-CN" dirty="0"/>
              <a:t>SPJ</a:t>
            </a:r>
            <a:r>
              <a:rPr lang="zh-CN" altLang="en-US" dirty="0"/>
              <a:t>（学生，课程，名次）</a:t>
            </a:r>
          </a:p>
          <a:p>
            <a:pPr lvl="2"/>
            <a:r>
              <a:rPr lang="zh-CN" altLang="en-US" dirty="0"/>
              <a:t>每个学生选每门课程有一定名次</a:t>
            </a:r>
          </a:p>
          <a:p>
            <a:pPr lvl="2"/>
            <a:r>
              <a:rPr lang="zh-CN" altLang="en-US" dirty="0"/>
              <a:t>每门课程中每一名次</a:t>
            </a:r>
            <a:r>
              <a:rPr lang="zh-CN" altLang="en-US" b="1" dirty="0">
                <a:solidFill>
                  <a:schemeClr val="tx2"/>
                </a:solidFill>
              </a:rPr>
              <a:t>只有一个</a:t>
            </a:r>
            <a:r>
              <a:rPr lang="zh-CN" altLang="en-US" dirty="0"/>
              <a:t>学生</a:t>
            </a:r>
          </a:p>
        </p:txBody>
      </p:sp>
      <p:sp>
        <p:nvSpPr>
          <p:cNvPr id="289796" name="Line 4"/>
          <p:cNvSpPr>
            <a:spLocks noChangeShapeType="1"/>
          </p:cNvSpPr>
          <p:nvPr/>
        </p:nvSpPr>
        <p:spPr bwMode="auto">
          <a:xfrm flipH="1">
            <a:off x="2843213" y="2895600"/>
            <a:ext cx="865187" cy="8636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89797" name="Line 5"/>
          <p:cNvSpPr>
            <a:spLocks noChangeShapeType="1"/>
          </p:cNvSpPr>
          <p:nvPr/>
        </p:nvSpPr>
        <p:spPr bwMode="auto">
          <a:xfrm>
            <a:off x="4140200" y="3327400"/>
            <a:ext cx="863600" cy="4318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89798" name="Rectangle 6"/>
          <p:cNvSpPr>
            <a:spLocks noChangeArrowheads="1"/>
          </p:cNvSpPr>
          <p:nvPr/>
        </p:nvSpPr>
        <p:spPr bwMode="auto">
          <a:xfrm>
            <a:off x="827088" y="3759200"/>
            <a:ext cx="2735262" cy="863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t>(</a:t>
            </a:r>
            <a:r>
              <a:rPr lang="zh-CN" altLang="en-US" dirty="0"/>
              <a:t>学生</a:t>
            </a:r>
            <a:r>
              <a:rPr lang="en-US" altLang="zh-CN" dirty="0"/>
              <a:t>,</a:t>
            </a:r>
            <a:r>
              <a:rPr lang="zh-CN" altLang="en-US" dirty="0"/>
              <a:t>课程</a:t>
            </a:r>
            <a:r>
              <a:rPr lang="en-US" altLang="zh-CN" dirty="0"/>
              <a:t>)-&gt;</a:t>
            </a:r>
            <a:r>
              <a:rPr lang="zh-CN" altLang="en-US" dirty="0"/>
              <a:t>名次</a:t>
            </a:r>
          </a:p>
        </p:txBody>
      </p:sp>
      <p:sp>
        <p:nvSpPr>
          <p:cNvPr id="289799" name="Rectangle 7"/>
          <p:cNvSpPr>
            <a:spLocks noChangeArrowheads="1"/>
          </p:cNvSpPr>
          <p:nvPr/>
        </p:nvSpPr>
        <p:spPr bwMode="auto">
          <a:xfrm>
            <a:off x="4860925" y="3759200"/>
            <a:ext cx="2735263" cy="863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t>(</a:t>
            </a:r>
            <a:r>
              <a:rPr lang="zh-CN" altLang="en-US" dirty="0"/>
              <a:t>课程</a:t>
            </a:r>
            <a:r>
              <a:rPr lang="en-US" altLang="zh-CN" dirty="0"/>
              <a:t>,</a:t>
            </a:r>
            <a:r>
              <a:rPr lang="zh-CN" altLang="en-US" dirty="0"/>
              <a:t>名次</a:t>
            </a:r>
            <a:r>
              <a:rPr lang="en-US" altLang="zh-CN" dirty="0"/>
              <a:t>)-&gt;</a:t>
            </a:r>
            <a:r>
              <a:rPr lang="zh-CN" altLang="en-US" dirty="0"/>
              <a:t>学生</a:t>
            </a:r>
          </a:p>
        </p:txBody>
      </p:sp>
      <p:sp>
        <p:nvSpPr>
          <p:cNvPr id="3" name="页脚占位符 2">
            <a:extLst>
              <a:ext uri="{FF2B5EF4-FFF2-40B4-BE49-F238E27FC236}">
                <a16:creationId xmlns:a16="http://schemas.microsoft.com/office/drawing/2014/main" id="{155181D3-CF9B-252A-70D7-BC5E322B8D51}"/>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25B3F331-AC07-1F58-7872-2F5C081D0BC8}"/>
              </a:ext>
            </a:extLst>
          </p:cNvPr>
          <p:cNvSpPr>
            <a:spLocks noGrp="1"/>
          </p:cNvSpPr>
          <p:nvPr>
            <p:ph type="sldNum" sz="quarter" idx="12"/>
          </p:nvPr>
        </p:nvSpPr>
        <p:spPr/>
        <p:txBody>
          <a:bodyPr/>
          <a:lstStyle/>
          <a:p>
            <a:fld id="{A2D74603-B40B-4D66-8F6E-41C870D48932}" type="slidenum">
              <a:rPr lang="en-US" altLang="zh-CN" smtClean="0"/>
              <a:pPr/>
              <a:t>66</a:t>
            </a:fld>
            <a:r>
              <a:rPr lang="en-US" altLang="zh-CN"/>
              <a:t>/162</a:t>
            </a:r>
            <a:endParaRPr lang="en-US" altLang="zh-CN" dirty="0"/>
          </a:p>
        </p:txBody>
      </p:sp>
    </p:spTree>
    <p:extLst>
      <p:ext uri="{BB962C8B-B14F-4D97-AF65-F5344CB8AC3E}">
        <p14:creationId xmlns:p14="http://schemas.microsoft.com/office/powerpoint/2010/main" val="1302436428"/>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日期占位符 3"/>
          <p:cNvSpPr>
            <a:spLocks noGrp="1"/>
          </p:cNvSpPr>
          <p:nvPr>
            <p:ph type="dt" sz="half" idx="10"/>
          </p:nvPr>
        </p:nvSpPr>
        <p:spPr/>
        <p:txBody>
          <a:bodyPr/>
          <a:lstStyle/>
          <a:p>
            <a:fld id="{405F4365-718A-4CB8-9FE7-D1F990DB4B20}" type="datetime1">
              <a:rPr lang="zh-CN" altLang="en-US" smtClean="0"/>
              <a:t>2025/11/6</a:t>
            </a:fld>
            <a:endParaRPr lang="en-US" altLang="zh-CN"/>
          </a:p>
        </p:txBody>
      </p:sp>
      <p:sp>
        <p:nvSpPr>
          <p:cNvPr id="290818" name="Rectangle 2"/>
          <p:cNvSpPr>
            <a:spLocks noGrp="1" noChangeArrowheads="1"/>
          </p:cNvSpPr>
          <p:nvPr>
            <p:ph type="title"/>
          </p:nvPr>
        </p:nvSpPr>
        <p:spPr/>
        <p:txBody>
          <a:bodyPr/>
          <a:lstStyle/>
          <a:p>
            <a:r>
              <a:rPr lang="en-US" altLang="zh-CN" dirty="0"/>
              <a:t>8.2.6 BCNF</a:t>
            </a:r>
            <a:endParaRPr lang="zh-CN" altLang="en-US" dirty="0"/>
          </a:p>
        </p:txBody>
      </p:sp>
      <p:sp>
        <p:nvSpPr>
          <p:cNvPr id="290819" name="Rectangle 3"/>
          <p:cNvSpPr>
            <a:spLocks noGrp="1" noChangeArrowheads="1"/>
          </p:cNvSpPr>
          <p:nvPr>
            <p:ph type="body" idx="1"/>
          </p:nvPr>
        </p:nvSpPr>
        <p:spPr/>
        <p:txBody>
          <a:bodyPr/>
          <a:lstStyle/>
          <a:p>
            <a:r>
              <a:rPr lang="zh-CN" altLang="en-US" dirty="0"/>
              <a:t>例</a:t>
            </a:r>
            <a:r>
              <a:rPr lang="en-US" altLang="zh-CN" dirty="0"/>
              <a:t>7 (BCNF</a:t>
            </a:r>
            <a:r>
              <a:rPr lang="zh-CN" altLang="en-US" dirty="0"/>
              <a:t>的例子</a:t>
            </a:r>
            <a:r>
              <a:rPr lang="en-US" altLang="zh-CN" dirty="0"/>
              <a:t>)</a:t>
            </a:r>
          </a:p>
          <a:p>
            <a:pPr lvl="1"/>
            <a:r>
              <a:rPr lang="zh-CN" altLang="en-US" dirty="0"/>
              <a:t>关系模式</a:t>
            </a:r>
            <a:r>
              <a:rPr lang="en-US" altLang="zh-CN" dirty="0"/>
              <a:t>SPJ</a:t>
            </a:r>
            <a:r>
              <a:rPr lang="zh-CN" altLang="en-US" dirty="0"/>
              <a:t>（学生，课程，名次）</a:t>
            </a:r>
          </a:p>
          <a:p>
            <a:pPr lvl="2"/>
            <a:r>
              <a:rPr lang="zh-CN" altLang="en-US" dirty="0"/>
              <a:t>每个学生选每门课程有一定名次</a:t>
            </a:r>
          </a:p>
          <a:p>
            <a:pPr lvl="2"/>
            <a:r>
              <a:rPr lang="zh-CN" altLang="en-US" dirty="0"/>
              <a:t>每门课程中每一名次只有一个学生</a:t>
            </a:r>
          </a:p>
        </p:txBody>
      </p:sp>
      <p:sp>
        <p:nvSpPr>
          <p:cNvPr id="290820" name="Line 4"/>
          <p:cNvSpPr>
            <a:spLocks noChangeShapeType="1"/>
          </p:cNvSpPr>
          <p:nvPr/>
        </p:nvSpPr>
        <p:spPr bwMode="auto">
          <a:xfrm flipH="1">
            <a:off x="2843213" y="2898775"/>
            <a:ext cx="865187" cy="8636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90821" name="Line 5"/>
          <p:cNvSpPr>
            <a:spLocks noChangeShapeType="1"/>
          </p:cNvSpPr>
          <p:nvPr/>
        </p:nvSpPr>
        <p:spPr bwMode="auto">
          <a:xfrm>
            <a:off x="4140200" y="3330575"/>
            <a:ext cx="863600" cy="4318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90822" name="Rectangle 6"/>
          <p:cNvSpPr>
            <a:spLocks noChangeArrowheads="1"/>
          </p:cNvSpPr>
          <p:nvPr/>
        </p:nvSpPr>
        <p:spPr bwMode="auto">
          <a:xfrm>
            <a:off x="827088" y="3762375"/>
            <a:ext cx="2735262" cy="863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t>(</a:t>
            </a:r>
            <a:r>
              <a:rPr lang="zh-CN" altLang="en-US" dirty="0"/>
              <a:t>学生</a:t>
            </a:r>
            <a:r>
              <a:rPr lang="en-US" altLang="zh-CN" dirty="0"/>
              <a:t>, </a:t>
            </a:r>
            <a:r>
              <a:rPr lang="zh-CN" altLang="en-US" dirty="0"/>
              <a:t>课程</a:t>
            </a:r>
            <a:r>
              <a:rPr lang="en-US" altLang="zh-CN" dirty="0"/>
              <a:t>)-&gt;</a:t>
            </a:r>
            <a:r>
              <a:rPr lang="zh-CN" altLang="en-US" dirty="0"/>
              <a:t>名次</a:t>
            </a:r>
          </a:p>
        </p:txBody>
      </p:sp>
      <p:sp>
        <p:nvSpPr>
          <p:cNvPr id="290823" name="Rectangle 7"/>
          <p:cNvSpPr>
            <a:spLocks noChangeArrowheads="1"/>
          </p:cNvSpPr>
          <p:nvPr/>
        </p:nvSpPr>
        <p:spPr bwMode="auto">
          <a:xfrm>
            <a:off x="4860925" y="3762375"/>
            <a:ext cx="2735263" cy="863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t>(</a:t>
            </a:r>
            <a:r>
              <a:rPr lang="zh-CN" altLang="en-US" dirty="0"/>
              <a:t>课程</a:t>
            </a:r>
            <a:r>
              <a:rPr lang="en-US" altLang="zh-CN" dirty="0"/>
              <a:t>, </a:t>
            </a:r>
            <a:r>
              <a:rPr lang="zh-CN" altLang="en-US" dirty="0"/>
              <a:t>名次</a:t>
            </a:r>
            <a:r>
              <a:rPr lang="en-US" altLang="zh-CN" dirty="0"/>
              <a:t>)-&gt;</a:t>
            </a:r>
            <a:r>
              <a:rPr lang="zh-CN" altLang="en-US" dirty="0"/>
              <a:t>学生</a:t>
            </a:r>
          </a:p>
        </p:txBody>
      </p:sp>
      <p:sp>
        <p:nvSpPr>
          <p:cNvPr id="290824" name="Rectangle 8"/>
          <p:cNvSpPr>
            <a:spLocks noChangeArrowheads="1"/>
          </p:cNvSpPr>
          <p:nvPr/>
        </p:nvSpPr>
        <p:spPr bwMode="auto">
          <a:xfrm>
            <a:off x="3419475" y="4986338"/>
            <a:ext cx="1512888" cy="57626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a:solidFill>
                  <a:schemeClr val="tx2"/>
                </a:solidFill>
              </a:rPr>
              <a:t>候选码</a:t>
            </a:r>
          </a:p>
        </p:txBody>
      </p:sp>
      <p:sp>
        <p:nvSpPr>
          <p:cNvPr id="290825" name="Line 9"/>
          <p:cNvSpPr>
            <a:spLocks noChangeShapeType="1"/>
          </p:cNvSpPr>
          <p:nvPr/>
        </p:nvSpPr>
        <p:spPr bwMode="auto">
          <a:xfrm flipH="1" flipV="1">
            <a:off x="1763713" y="4410075"/>
            <a:ext cx="2016125" cy="5762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90826" name="Line 10"/>
          <p:cNvSpPr>
            <a:spLocks noChangeShapeType="1"/>
          </p:cNvSpPr>
          <p:nvPr/>
        </p:nvSpPr>
        <p:spPr bwMode="auto">
          <a:xfrm flipV="1">
            <a:off x="4284663" y="4410075"/>
            <a:ext cx="1439862" cy="5762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 name="页脚占位符 3">
            <a:extLst>
              <a:ext uri="{FF2B5EF4-FFF2-40B4-BE49-F238E27FC236}">
                <a16:creationId xmlns:a16="http://schemas.microsoft.com/office/drawing/2014/main" id="{C7F4D8E2-9E46-1A8B-A32F-F4CCEB0E4BB9}"/>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DB5EB694-AEC6-C0B8-AE51-19F9AB0A8468}"/>
              </a:ext>
            </a:extLst>
          </p:cNvPr>
          <p:cNvSpPr>
            <a:spLocks noGrp="1"/>
          </p:cNvSpPr>
          <p:nvPr>
            <p:ph type="sldNum" sz="quarter" idx="12"/>
          </p:nvPr>
        </p:nvSpPr>
        <p:spPr/>
        <p:txBody>
          <a:bodyPr/>
          <a:lstStyle/>
          <a:p>
            <a:fld id="{A2D74603-B40B-4D66-8F6E-41C870D48932}" type="slidenum">
              <a:rPr lang="en-US" altLang="zh-CN" smtClean="0"/>
              <a:pPr/>
              <a:t>67</a:t>
            </a:fld>
            <a:r>
              <a:rPr lang="en-US" altLang="zh-CN"/>
              <a:t>/162</a:t>
            </a:r>
            <a:endParaRPr lang="en-US" altLang="zh-CN" dirty="0"/>
          </a:p>
        </p:txBody>
      </p:sp>
      <p:sp>
        <p:nvSpPr>
          <p:cNvPr id="3" name="矩形 2"/>
          <p:cNvSpPr/>
          <p:nvPr/>
        </p:nvSpPr>
        <p:spPr>
          <a:xfrm>
            <a:off x="685800" y="5812713"/>
            <a:ext cx="8113712" cy="83099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a:spAutoFit/>
          </a:bodyPr>
          <a:lstStyle/>
          <a:p>
            <a:pPr algn="l"/>
            <a:r>
              <a:rPr lang="zh-CN" altLang="en-US" dirty="0">
                <a:solidFill>
                  <a:srgbClr val="FF0000"/>
                </a:solidFill>
              </a:rPr>
              <a:t>没有</a:t>
            </a:r>
            <a:r>
              <a:rPr lang="zh-CN" altLang="en-US" dirty="0">
                <a:solidFill>
                  <a:srgbClr val="0000FF"/>
                </a:solidFill>
              </a:rPr>
              <a:t>非主属性</a:t>
            </a:r>
            <a:r>
              <a:rPr lang="zh-CN" altLang="en-US" dirty="0"/>
              <a:t>对码传递依赖或部分依赖，</a:t>
            </a:r>
            <a:r>
              <a:rPr lang="en-US" altLang="zh-CN" dirty="0"/>
              <a:t> 3NF</a:t>
            </a:r>
            <a:endParaRPr lang="zh-CN" altLang="en-US" dirty="0"/>
          </a:p>
          <a:p>
            <a:pPr algn="l"/>
            <a:r>
              <a:rPr lang="zh-CN" altLang="en-US" dirty="0"/>
              <a:t>除</a:t>
            </a:r>
            <a:r>
              <a:rPr lang="en-US" altLang="zh-CN" b="1" dirty="0"/>
              <a:t>(S,J)</a:t>
            </a:r>
            <a:r>
              <a:rPr lang="zh-CN" altLang="en-US" dirty="0"/>
              <a:t>与</a:t>
            </a:r>
            <a:r>
              <a:rPr lang="en-US" altLang="zh-CN" b="1" dirty="0"/>
              <a:t>(J,P)</a:t>
            </a:r>
            <a:r>
              <a:rPr lang="zh-CN" altLang="en-US" dirty="0"/>
              <a:t>以外没有其他决定因素，所以 </a:t>
            </a:r>
            <a:r>
              <a:rPr lang="en-US" altLang="zh-CN" b="1" dirty="0"/>
              <a:t>SJP∈BCNF</a:t>
            </a:r>
            <a:endParaRPr lang="zh-CN" altLang="en-US" dirty="0"/>
          </a:p>
        </p:txBody>
      </p:sp>
    </p:spTree>
    <p:extLst>
      <p:ext uri="{BB962C8B-B14F-4D97-AF65-F5344CB8AC3E}">
        <p14:creationId xmlns:p14="http://schemas.microsoft.com/office/powerpoint/2010/main" val="31730633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A305114-AB15-48F9-B60D-2425B078C4F0}" type="datetime1">
              <a:rPr lang="zh-CN" altLang="en-US" smtClean="0"/>
              <a:t>2025/11/6</a:t>
            </a:fld>
            <a:endParaRPr lang="en-US" altLang="zh-CN"/>
          </a:p>
        </p:txBody>
      </p:sp>
      <p:sp>
        <p:nvSpPr>
          <p:cNvPr id="288770" name="Rectangle 2"/>
          <p:cNvSpPr>
            <a:spLocks noGrp="1" noChangeArrowheads="1"/>
          </p:cNvSpPr>
          <p:nvPr>
            <p:ph type="title"/>
          </p:nvPr>
        </p:nvSpPr>
        <p:spPr/>
        <p:txBody>
          <a:bodyPr/>
          <a:lstStyle/>
          <a:p>
            <a:r>
              <a:rPr lang="en-US" altLang="zh-CN" dirty="0"/>
              <a:t>8.2.6 BCNF</a:t>
            </a:r>
            <a:endParaRPr lang="zh-CN" altLang="en-US" dirty="0"/>
          </a:p>
        </p:txBody>
      </p:sp>
      <p:sp>
        <p:nvSpPr>
          <p:cNvPr id="288771" name="Rectangle 3"/>
          <p:cNvSpPr>
            <a:spLocks noGrp="1" noChangeArrowheads="1"/>
          </p:cNvSpPr>
          <p:nvPr>
            <p:ph type="body" idx="1"/>
          </p:nvPr>
        </p:nvSpPr>
        <p:spPr/>
        <p:txBody>
          <a:bodyPr/>
          <a:lstStyle/>
          <a:p>
            <a:r>
              <a:rPr lang="zh-CN" altLang="en-US" dirty="0"/>
              <a:t>例</a:t>
            </a:r>
            <a:r>
              <a:rPr lang="en-US" altLang="zh-CN" dirty="0"/>
              <a:t>8 (</a:t>
            </a:r>
            <a:r>
              <a:rPr lang="zh-CN" altLang="en-US" dirty="0">
                <a:solidFill>
                  <a:srgbClr val="0000FF"/>
                </a:solidFill>
              </a:rPr>
              <a:t>是</a:t>
            </a:r>
            <a:r>
              <a:rPr lang="en-US" altLang="zh-CN" dirty="0">
                <a:solidFill>
                  <a:srgbClr val="0000FF"/>
                </a:solidFill>
              </a:rPr>
              <a:t>3NF</a:t>
            </a:r>
            <a:r>
              <a:rPr lang="zh-CN" altLang="en-US" dirty="0">
                <a:solidFill>
                  <a:srgbClr val="0000FF"/>
                </a:solidFill>
              </a:rPr>
              <a:t>，但不是</a:t>
            </a:r>
            <a:r>
              <a:rPr lang="en-US" altLang="zh-CN" dirty="0">
                <a:solidFill>
                  <a:srgbClr val="0000FF"/>
                </a:solidFill>
              </a:rPr>
              <a:t>BCNF</a:t>
            </a:r>
            <a:r>
              <a:rPr lang="zh-CN" altLang="en-US" dirty="0"/>
              <a:t>的例子</a:t>
            </a:r>
            <a:r>
              <a:rPr lang="en-US" altLang="zh-CN" dirty="0"/>
              <a:t>)</a:t>
            </a:r>
          </a:p>
          <a:p>
            <a:pPr lvl="1"/>
            <a:r>
              <a:rPr lang="zh-CN" altLang="en-US" dirty="0"/>
              <a:t>关系模式</a:t>
            </a:r>
            <a:r>
              <a:rPr lang="en-US" altLang="zh-CN" dirty="0"/>
              <a:t>STJ</a:t>
            </a:r>
            <a:r>
              <a:rPr lang="zh-CN" altLang="en-US" dirty="0"/>
              <a:t>（学生，教师，课程）</a:t>
            </a:r>
          </a:p>
          <a:p>
            <a:pPr lvl="2"/>
            <a:r>
              <a:rPr lang="zh-CN" altLang="en-US" dirty="0"/>
              <a:t>每一教师只教一门课</a:t>
            </a:r>
          </a:p>
          <a:p>
            <a:pPr lvl="2"/>
            <a:r>
              <a:rPr lang="zh-CN" altLang="en-US" dirty="0"/>
              <a:t>一个学生选定某门课程，就对应一个固定的教师</a:t>
            </a:r>
          </a:p>
          <a:p>
            <a:endParaRPr lang="zh-CN" altLang="en-US" dirty="0"/>
          </a:p>
        </p:txBody>
      </p:sp>
      <p:sp>
        <p:nvSpPr>
          <p:cNvPr id="3" name="页脚占位符 2">
            <a:extLst>
              <a:ext uri="{FF2B5EF4-FFF2-40B4-BE49-F238E27FC236}">
                <a16:creationId xmlns:a16="http://schemas.microsoft.com/office/drawing/2014/main" id="{D25A14DF-48E1-EEFA-7FF3-648DA2B57E34}"/>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4FFCCE6D-3DEC-6B83-0BD6-C6719753F0A1}"/>
              </a:ext>
            </a:extLst>
          </p:cNvPr>
          <p:cNvSpPr>
            <a:spLocks noGrp="1"/>
          </p:cNvSpPr>
          <p:nvPr>
            <p:ph type="sldNum" sz="quarter" idx="12"/>
          </p:nvPr>
        </p:nvSpPr>
        <p:spPr/>
        <p:txBody>
          <a:bodyPr/>
          <a:lstStyle/>
          <a:p>
            <a:fld id="{A2D74603-B40B-4D66-8F6E-41C870D48932}" type="slidenum">
              <a:rPr lang="en-US" altLang="zh-CN" smtClean="0"/>
              <a:pPr/>
              <a:t>68</a:t>
            </a:fld>
            <a:r>
              <a:rPr lang="en-US" altLang="zh-CN"/>
              <a:t>/162</a:t>
            </a:r>
            <a:endParaRPr lang="en-US" altLang="zh-CN" dirty="0"/>
          </a:p>
        </p:txBody>
      </p:sp>
    </p:spTree>
    <p:extLst>
      <p:ext uri="{BB962C8B-B14F-4D97-AF65-F5344CB8AC3E}">
        <p14:creationId xmlns:p14="http://schemas.microsoft.com/office/powerpoint/2010/main" val="2372941774"/>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p:cNvSpPr>
            <a:spLocks noGrp="1"/>
          </p:cNvSpPr>
          <p:nvPr>
            <p:ph type="dt" sz="half" idx="10"/>
          </p:nvPr>
        </p:nvSpPr>
        <p:spPr/>
        <p:txBody>
          <a:bodyPr/>
          <a:lstStyle/>
          <a:p>
            <a:fld id="{C355F0D5-D44B-462F-B8E6-07050D5BAA0C}" type="datetime1">
              <a:rPr lang="zh-CN" altLang="en-US" smtClean="0"/>
              <a:t>2025/11/6</a:t>
            </a:fld>
            <a:endParaRPr lang="en-US" altLang="zh-CN"/>
          </a:p>
        </p:txBody>
      </p:sp>
      <p:sp>
        <p:nvSpPr>
          <p:cNvPr id="291842" name="Rectangle 2"/>
          <p:cNvSpPr>
            <a:spLocks noGrp="1" noChangeArrowheads="1"/>
          </p:cNvSpPr>
          <p:nvPr>
            <p:ph type="title"/>
          </p:nvPr>
        </p:nvSpPr>
        <p:spPr/>
        <p:txBody>
          <a:bodyPr/>
          <a:lstStyle/>
          <a:p>
            <a:r>
              <a:rPr lang="en-US" altLang="zh-CN" dirty="0"/>
              <a:t>8.2.6 BCNF</a:t>
            </a:r>
            <a:endParaRPr lang="zh-CN" altLang="en-US" dirty="0"/>
          </a:p>
        </p:txBody>
      </p:sp>
      <p:sp>
        <p:nvSpPr>
          <p:cNvPr id="291844" name="Line 4"/>
          <p:cNvSpPr>
            <a:spLocks noChangeShapeType="1"/>
          </p:cNvSpPr>
          <p:nvPr/>
        </p:nvSpPr>
        <p:spPr bwMode="auto">
          <a:xfrm flipH="1">
            <a:off x="2843213" y="2895600"/>
            <a:ext cx="865187" cy="8636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91845" name="Line 5"/>
          <p:cNvSpPr>
            <a:spLocks noChangeShapeType="1"/>
          </p:cNvSpPr>
          <p:nvPr/>
        </p:nvSpPr>
        <p:spPr bwMode="auto">
          <a:xfrm>
            <a:off x="4140200" y="3327400"/>
            <a:ext cx="863600" cy="4318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91846" name="Rectangle 6"/>
          <p:cNvSpPr>
            <a:spLocks noChangeArrowheads="1"/>
          </p:cNvSpPr>
          <p:nvPr/>
        </p:nvSpPr>
        <p:spPr bwMode="auto">
          <a:xfrm>
            <a:off x="827088" y="3759200"/>
            <a:ext cx="2735262" cy="863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dirty="0"/>
              <a:t>教师</a:t>
            </a:r>
            <a:r>
              <a:rPr lang="en-US" altLang="zh-CN" dirty="0"/>
              <a:t>-&gt;</a:t>
            </a:r>
            <a:r>
              <a:rPr lang="zh-CN" altLang="en-US" dirty="0"/>
              <a:t>课程</a:t>
            </a:r>
          </a:p>
        </p:txBody>
      </p:sp>
      <p:sp>
        <p:nvSpPr>
          <p:cNvPr id="291847" name="Rectangle 7"/>
          <p:cNvSpPr>
            <a:spLocks noChangeArrowheads="1"/>
          </p:cNvSpPr>
          <p:nvPr/>
        </p:nvSpPr>
        <p:spPr bwMode="auto">
          <a:xfrm>
            <a:off x="4860925" y="3759200"/>
            <a:ext cx="2735263" cy="863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t>(</a:t>
            </a:r>
            <a:r>
              <a:rPr lang="zh-CN" altLang="en-US" dirty="0"/>
              <a:t>学生</a:t>
            </a:r>
            <a:r>
              <a:rPr lang="en-US" altLang="zh-CN" dirty="0"/>
              <a:t>,</a:t>
            </a:r>
            <a:r>
              <a:rPr lang="zh-CN" altLang="en-US" dirty="0"/>
              <a:t>课程</a:t>
            </a:r>
            <a:r>
              <a:rPr lang="en-US" altLang="zh-CN" dirty="0"/>
              <a:t>)-&gt;</a:t>
            </a:r>
            <a:r>
              <a:rPr lang="zh-CN" altLang="en-US" dirty="0"/>
              <a:t>教师</a:t>
            </a:r>
          </a:p>
        </p:txBody>
      </p:sp>
      <p:sp>
        <p:nvSpPr>
          <p:cNvPr id="291843" name="Rectangle 3"/>
          <p:cNvSpPr>
            <a:spLocks noGrp="1" noChangeArrowheads="1"/>
          </p:cNvSpPr>
          <p:nvPr>
            <p:ph type="body" idx="1"/>
          </p:nvPr>
        </p:nvSpPr>
        <p:spPr/>
        <p:txBody>
          <a:bodyPr/>
          <a:lstStyle/>
          <a:p>
            <a:r>
              <a:rPr lang="zh-CN" altLang="en-US" dirty="0"/>
              <a:t>例</a:t>
            </a:r>
            <a:r>
              <a:rPr lang="en-US" altLang="zh-CN" dirty="0"/>
              <a:t>8 (</a:t>
            </a:r>
            <a:r>
              <a:rPr lang="zh-CN" altLang="en-US" dirty="0"/>
              <a:t>是</a:t>
            </a:r>
            <a:r>
              <a:rPr lang="en-US" altLang="zh-CN" dirty="0"/>
              <a:t>3NF</a:t>
            </a:r>
            <a:r>
              <a:rPr lang="zh-CN" altLang="en-US" dirty="0"/>
              <a:t>，但不是</a:t>
            </a:r>
            <a:r>
              <a:rPr lang="en-US" altLang="zh-CN" dirty="0"/>
              <a:t>BCNF</a:t>
            </a:r>
            <a:r>
              <a:rPr lang="zh-CN" altLang="en-US" dirty="0"/>
              <a:t>的例子</a:t>
            </a:r>
            <a:r>
              <a:rPr lang="en-US" altLang="zh-CN" dirty="0"/>
              <a:t>)</a:t>
            </a:r>
          </a:p>
          <a:p>
            <a:pPr lvl="1"/>
            <a:r>
              <a:rPr lang="zh-CN" altLang="en-US" dirty="0"/>
              <a:t>关系模式</a:t>
            </a:r>
            <a:r>
              <a:rPr lang="en-US" altLang="zh-CN" dirty="0"/>
              <a:t>STJ</a:t>
            </a:r>
            <a:r>
              <a:rPr lang="zh-CN" altLang="en-US" dirty="0"/>
              <a:t>（学生，教师，课程）</a:t>
            </a:r>
          </a:p>
          <a:p>
            <a:pPr lvl="2"/>
            <a:r>
              <a:rPr lang="zh-CN" altLang="en-US" dirty="0"/>
              <a:t>每一教师只教一门课</a:t>
            </a:r>
          </a:p>
          <a:p>
            <a:pPr lvl="2"/>
            <a:r>
              <a:rPr lang="zh-CN" altLang="en-US" dirty="0"/>
              <a:t>一个学生选定某门课程，就对应一个固定的教师</a:t>
            </a:r>
          </a:p>
          <a:p>
            <a:endParaRPr lang="zh-CN" altLang="en-US" dirty="0"/>
          </a:p>
        </p:txBody>
      </p:sp>
      <p:sp>
        <p:nvSpPr>
          <p:cNvPr id="3" name="页脚占位符 2">
            <a:extLst>
              <a:ext uri="{FF2B5EF4-FFF2-40B4-BE49-F238E27FC236}">
                <a16:creationId xmlns:a16="http://schemas.microsoft.com/office/drawing/2014/main" id="{3F01D1B3-2FDE-627B-8630-2F46296590C8}"/>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258D36B9-AE6C-87BE-C895-426ACB416A46}"/>
              </a:ext>
            </a:extLst>
          </p:cNvPr>
          <p:cNvSpPr>
            <a:spLocks noGrp="1"/>
          </p:cNvSpPr>
          <p:nvPr>
            <p:ph type="sldNum" sz="quarter" idx="12"/>
          </p:nvPr>
        </p:nvSpPr>
        <p:spPr/>
        <p:txBody>
          <a:bodyPr/>
          <a:lstStyle/>
          <a:p>
            <a:fld id="{A2D74603-B40B-4D66-8F6E-41C870D48932}" type="slidenum">
              <a:rPr lang="en-US" altLang="zh-CN" smtClean="0"/>
              <a:pPr/>
              <a:t>69</a:t>
            </a:fld>
            <a:r>
              <a:rPr lang="en-US" altLang="zh-CN"/>
              <a:t>/162</a:t>
            </a:r>
            <a:endParaRPr lang="en-US" altLang="zh-CN" dirty="0"/>
          </a:p>
        </p:txBody>
      </p:sp>
    </p:spTree>
    <p:extLst>
      <p:ext uri="{BB962C8B-B14F-4D97-AF65-F5344CB8AC3E}">
        <p14:creationId xmlns:p14="http://schemas.microsoft.com/office/powerpoint/2010/main" val="1362184722"/>
      </p:ext>
    </p:extLst>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日期占位符 3"/>
          <p:cNvSpPr>
            <a:spLocks noGrp="1"/>
          </p:cNvSpPr>
          <p:nvPr>
            <p:ph type="dt" sz="half" idx="10"/>
          </p:nvPr>
        </p:nvSpPr>
        <p:spPr/>
        <p:txBody>
          <a:bodyPr/>
          <a:lstStyle/>
          <a:p>
            <a:fld id="{928CF055-721C-42B8-B497-3F3030C53CBC}" type="datetime1">
              <a:rPr lang="zh-CN" altLang="en-US" smtClean="0"/>
              <a:t>2025/11/6</a:t>
            </a:fld>
            <a:endParaRPr lang="en-US" altLang="zh-CN"/>
          </a:p>
        </p:txBody>
      </p:sp>
      <p:sp>
        <p:nvSpPr>
          <p:cNvPr id="292866" name="Rectangle 2"/>
          <p:cNvSpPr>
            <a:spLocks noGrp="1" noChangeArrowheads="1"/>
          </p:cNvSpPr>
          <p:nvPr>
            <p:ph type="title"/>
          </p:nvPr>
        </p:nvSpPr>
        <p:spPr/>
        <p:txBody>
          <a:bodyPr/>
          <a:lstStyle/>
          <a:p>
            <a:r>
              <a:rPr lang="en-US" altLang="zh-CN" dirty="0"/>
              <a:t>8.2.6 BCNF</a:t>
            </a:r>
            <a:endParaRPr lang="zh-CN" altLang="en-US" dirty="0"/>
          </a:p>
        </p:txBody>
      </p:sp>
      <p:sp>
        <p:nvSpPr>
          <p:cNvPr id="292867" name="Rectangle 3"/>
          <p:cNvSpPr>
            <a:spLocks noGrp="1" noChangeArrowheads="1"/>
          </p:cNvSpPr>
          <p:nvPr>
            <p:ph type="body" idx="1"/>
          </p:nvPr>
        </p:nvSpPr>
        <p:spPr/>
        <p:txBody>
          <a:bodyPr/>
          <a:lstStyle/>
          <a:p>
            <a:r>
              <a:rPr lang="zh-CN" altLang="en-US" dirty="0"/>
              <a:t>例</a:t>
            </a:r>
            <a:r>
              <a:rPr lang="en-US" altLang="zh-CN" dirty="0"/>
              <a:t>8 (</a:t>
            </a:r>
            <a:r>
              <a:rPr lang="zh-CN" altLang="en-US" dirty="0"/>
              <a:t>是</a:t>
            </a:r>
            <a:r>
              <a:rPr lang="en-US" altLang="zh-CN" dirty="0"/>
              <a:t>3NF</a:t>
            </a:r>
            <a:r>
              <a:rPr lang="zh-CN" altLang="en-US" dirty="0"/>
              <a:t>，但不是</a:t>
            </a:r>
            <a:r>
              <a:rPr lang="en-US" altLang="zh-CN" dirty="0"/>
              <a:t>BCNF</a:t>
            </a:r>
            <a:r>
              <a:rPr lang="zh-CN" altLang="en-US" dirty="0"/>
              <a:t>的例子</a:t>
            </a:r>
            <a:r>
              <a:rPr lang="en-US" altLang="zh-CN" dirty="0"/>
              <a:t>)</a:t>
            </a:r>
          </a:p>
          <a:p>
            <a:pPr lvl="1"/>
            <a:r>
              <a:rPr lang="zh-CN" altLang="en-US" dirty="0"/>
              <a:t>关系模式</a:t>
            </a:r>
            <a:r>
              <a:rPr lang="en-US" altLang="zh-CN" dirty="0"/>
              <a:t>STJ</a:t>
            </a:r>
            <a:r>
              <a:rPr lang="zh-CN" altLang="en-US" dirty="0"/>
              <a:t>（学生，教师，课程）</a:t>
            </a:r>
          </a:p>
          <a:p>
            <a:pPr lvl="2"/>
            <a:r>
              <a:rPr lang="zh-CN" altLang="en-US" dirty="0"/>
              <a:t>每一教师只教一门课</a:t>
            </a:r>
          </a:p>
          <a:p>
            <a:pPr lvl="2"/>
            <a:r>
              <a:rPr lang="zh-CN" altLang="en-US" dirty="0"/>
              <a:t>一个学生选定某门课程，就对应一个固定的教师</a:t>
            </a:r>
          </a:p>
          <a:p>
            <a:endParaRPr lang="zh-CN" altLang="en-US" dirty="0"/>
          </a:p>
        </p:txBody>
      </p:sp>
      <p:sp>
        <p:nvSpPr>
          <p:cNvPr id="292872" name="Line 8"/>
          <p:cNvSpPr>
            <a:spLocks noChangeShapeType="1"/>
          </p:cNvSpPr>
          <p:nvPr/>
        </p:nvSpPr>
        <p:spPr bwMode="auto">
          <a:xfrm flipH="1">
            <a:off x="2843213" y="2895600"/>
            <a:ext cx="865187" cy="8636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92873" name="Line 9"/>
          <p:cNvSpPr>
            <a:spLocks noChangeShapeType="1"/>
          </p:cNvSpPr>
          <p:nvPr/>
        </p:nvSpPr>
        <p:spPr bwMode="auto">
          <a:xfrm>
            <a:off x="4140200" y="3327400"/>
            <a:ext cx="863600" cy="4318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92874" name="Rectangle 10"/>
          <p:cNvSpPr>
            <a:spLocks noChangeArrowheads="1"/>
          </p:cNvSpPr>
          <p:nvPr/>
        </p:nvSpPr>
        <p:spPr bwMode="auto">
          <a:xfrm>
            <a:off x="827088" y="3759200"/>
            <a:ext cx="2735262" cy="863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dirty="0">
                <a:solidFill>
                  <a:srgbClr val="C00000"/>
                </a:solidFill>
              </a:rPr>
              <a:t>教师</a:t>
            </a:r>
            <a:r>
              <a:rPr lang="en-US" altLang="zh-CN" dirty="0">
                <a:solidFill>
                  <a:srgbClr val="C00000"/>
                </a:solidFill>
              </a:rPr>
              <a:t>-&gt;</a:t>
            </a:r>
            <a:r>
              <a:rPr lang="zh-CN" altLang="en-US" dirty="0">
                <a:solidFill>
                  <a:srgbClr val="C00000"/>
                </a:solidFill>
              </a:rPr>
              <a:t>课程</a:t>
            </a:r>
          </a:p>
        </p:txBody>
      </p:sp>
      <p:sp>
        <p:nvSpPr>
          <p:cNvPr id="292875" name="Rectangle 11"/>
          <p:cNvSpPr>
            <a:spLocks noChangeArrowheads="1"/>
          </p:cNvSpPr>
          <p:nvPr/>
        </p:nvSpPr>
        <p:spPr bwMode="auto">
          <a:xfrm>
            <a:off x="4860925" y="3759200"/>
            <a:ext cx="2735263" cy="863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t>(</a:t>
            </a:r>
            <a:r>
              <a:rPr lang="zh-CN" altLang="en-US" dirty="0"/>
              <a:t>学生</a:t>
            </a:r>
            <a:r>
              <a:rPr lang="en-US" altLang="zh-CN" dirty="0"/>
              <a:t>,</a:t>
            </a:r>
            <a:r>
              <a:rPr lang="zh-CN" altLang="en-US" dirty="0"/>
              <a:t>课程</a:t>
            </a:r>
            <a:r>
              <a:rPr lang="en-US" altLang="zh-CN" dirty="0"/>
              <a:t>)-&gt;</a:t>
            </a:r>
            <a:r>
              <a:rPr lang="zh-CN" altLang="en-US" dirty="0"/>
              <a:t>教师</a:t>
            </a:r>
          </a:p>
        </p:txBody>
      </p:sp>
      <p:sp>
        <p:nvSpPr>
          <p:cNvPr id="16" name="Rectangle 12"/>
          <p:cNvSpPr>
            <a:spLocks noChangeArrowheads="1"/>
          </p:cNvSpPr>
          <p:nvPr/>
        </p:nvSpPr>
        <p:spPr bwMode="auto">
          <a:xfrm>
            <a:off x="4932363" y="5054600"/>
            <a:ext cx="1512887" cy="57626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a:solidFill>
                  <a:schemeClr val="tx2"/>
                </a:solidFill>
              </a:rPr>
              <a:t>候选码</a:t>
            </a:r>
          </a:p>
        </p:txBody>
      </p:sp>
      <p:sp>
        <p:nvSpPr>
          <p:cNvPr id="17" name="Line 13"/>
          <p:cNvSpPr>
            <a:spLocks noChangeShapeType="1"/>
          </p:cNvSpPr>
          <p:nvPr/>
        </p:nvSpPr>
        <p:spPr bwMode="auto">
          <a:xfrm flipV="1">
            <a:off x="5724525" y="4406900"/>
            <a:ext cx="0" cy="5762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 name="Line 14"/>
          <p:cNvSpPr>
            <a:spLocks noChangeShapeType="1"/>
          </p:cNvSpPr>
          <p:nvPr/>
        </p:nvSpPr>
        <p:spPr bwMode="auto">
          <a:xfrm>
            <a:off x="2124075" y="4622800"/>
            <a:ext cx="0" cy="3603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 name="Rectangle 15"/>
          <p:cNvSpPr>
            <a:spLocks noChangeArrowheads="1"/>
          </p:cNvSpPr>
          <p:nvPr/>
        </p:nvSpPr>
        <p:spPr bwMode="auto">
          <a:xfrm>
            <a:off x="1187450" y="4983163"/>
            <a:ext cx="1728788" cy="57626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dirty="0"/>
              <a:t>教师</a:t>
            </a:r>
            <a:r>
              <a:rPr lang="en-US" altLang="zh-CN" dirty="0"/>
              <a:t>,</a:t>
            </a:r>
            <a:r>
              <a:rPr lang="zh-CN" altLang="en-US" dirty="0"/>
              <a:t>学生</a:t>
            </a:r>
          </a:p>
        </p:txBody>
      </p:sp>
      <p:sp>
        <p:nvSpPr>
          <p:cNvPr id="20" name="Line 16"/>
          <p:cNvSpPr>
            <a:spLocks noChangeShapeType="1"/>
          </p:cNvSpPr>
          <p:nvPr/>
        </p:nvSpPr>
        <p:spPr bwMode="auto">
          <a:xfrm flipH="1">
            <a:off x="2700337" y="5272088"/>
            <a:ext cx="22320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 name="页脚占位符 2">
            <a:extLst>
              <a:ext uri="{FF2B5EF4-FFF2-40B4-BE49-F238E27FC236}">
                <a16:creationId xmlns:a16="http://schemas.microsoft.com/office/drawing/2014/main" id="{B791A99E-52EE-3D8F-172A-8DBD627E1781}"/>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BC9311F8-F86E-959F-ACF7-01D27C714E15}"/>
              </a:ext>
            </a:extLst>
          </p:cNvPr>
          <p:cNvSpPr>
            <a:spLocks noGrp="1"/>
          </p:cNvSpPr>
          <p:nvPr>
            <p:ph type="sldNum" sz="quarter" idx="12"/>
          </p:nvPr>
        </p:nvSpPr>
        <p:spPr/>
        <p:txBody>
          <a:bodyPr/>
          <a:lstStyle/>
          <a:p>
            <a:fld id="{A2D74603-B40B-4D66-8F6E-41C870D48932}" type="slidenum">
              <a:rPr lang="en-US" altLang="zh-CN" smtClean="0"/>
              <a:pPr/>
              <a:t>70</a:t>
            </a:fld>
            <a:r>
              <a:rPr lang="en-US" altLang="zh-CN"/>
              <a:t>/162</a:t>
            </a:r>
            <a:endParaRPr lang="en-US" altLang="zh-CN" dirty="0"/>
          </a:p>
        </p:txBody>
      </p:sp>
    </p:spTree>
    <p:extLst>
      <p:ext uri="{BB962C8B-B14F-4D97-AF65-F5344CB8AC3E}">
        <p14:creationId xmlns:p14="http://schemas.microsoft.com/office/powerpoint/2010/main" val="2562650233"/>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日期占位符 3"/>
          <p:cNvSpPr>
            <a:spLocks noGrp="1"/>
          </p:cNvSpPr>
          <p:nvPr>
            <p:ph type="dt" sz="half" idx="10"/>
          </p:nvPr>
        </p:nvSpPr>
        <p:spPr/>
        <p:txBody>
          <a:bodyPr/>
          <a:lstStyle/>
          <a:p>
            <a:fld id="{A4130A16-261B-4D27-8AE0-CB5E2FDF78D4}" type="datetime1">
              <a:rPr lang="zh-CN" altLang="en-US" smtClean="0"/>
              <a:t>2025/11/6</a:t>
            </a:fld>
            <a:endParaRPr lang="en-US" altLang="zh-CN"/>
          </a:p>
        </p:txBody>
      </p:sp>
      <p:sp>
        <p:nvSpPr>
          <p:cNvPr id="293890" name="Rectangle 2"/>
          <p:cNvSpPr>
            <a:spLocks noGrp="1" noChangeArrowheads="1"/>
          </p:cNvSpPr>
          <p:nvPr>
            <p:ph type="title"/>
          </p:nvPr>
        </p:nvSpPr>
        <p:spPr/>
        <p:txBody>
          <a:bodyPr/>
          <a:lstStyle/>
          <a:p>
            <a:r>
              <a:rPr lang="en-US" altLang="zh-CN" dirty="0"/>
              <a:t>8.2.6 BCNF</a:t>
            </a:r>
            <a:endParaRPr lang="zh-CN" altLang="en-US" dirty="0"/>
          </a:p>
        </p:txBody>
      </p:sp>
      <p:sp>
        <p:nvSpPr>
          <p:cNvPr id="293891" name="Rectangle 3"/>
          <p:cNvSpPr>
            <a:spLocks noGrp="1" noChangeArrowheads="1"/>
          </p:cNvSpPr>
          <p:nvPr>
            <p:ph type="body" idx="1"/>
          </p:nvPr>
        </p:nvSpPr>
        <p:spPr/>
        <p:txBody>
          <a:bodyPr/>
          <a:lstStyle/>
          <a:p>
            <a:r>
              <a:rPr lang="zh-CN" altLang="en-US" dirty="0"/>
              <a:t>例</a:t>
            </a:r>
            <a:r>
              <a:rPr lang="en-US" altLang="zh-CN" dirty="0"/>
              <a:t>8</a:t>
            </a:r>
            <a:r>
              <a:rPr lang="zh-CN" altLang="en-US" dirty="0"/>
              <a:t>存在的过度冗余</a:t>
            </a:r>
          </a:p>
          <a:p>
            <a:endParaRPr lang="zh-CN" altLang="en-US" dirty="0"/>
          </a:p>
        </p:txBody>
      </p:sp>
      <p:graphicFrame>
        <p:nvGraphicFramePr>
          <p:cNvPr id="293892" name="Group 4"/>
          <p:cNvGraphicFramePr>
            <a:graphicFrameLocks noGrp="1"/>
          </p:cNvGraphicFramePr>
          <p:nvPr/>
        </p:nvGraphicFramePr>
        <p:xfrm>
          <a:off x="5300663" y="2057400"/>
          <a:ext cx="3462337" cy="4248150"/>
        </p:xfrm>
        <a:graphic>
          <a:graphicData uri="http://schemas.openxmlformats.org/drawingml/2006/table">
            <a:tbl>
              <a:tblPr/>
              <a:tblGrid>
                <a:gridCol w="1154112">
                  <a:extLst>
                    <a:ext uri="{9D8B030D-6E8A-4147-A177-3AD203B41FA5}">
                      <a16:colId xmlns:a16="http://schemas.microsoft.com/office/drawing/2014/main" val="20000"/>
                    </a:ext>
                  </a:extLst>
                </a:gridCol>
                <a:gridCol w="1154113">
                  <a:extLst>
                    <a:ext uri="{9D8B030D-6E8A-4147-A177-3AD203B41FA5}">
                      <a16:colId xmlns:a16="http://schemas.microsoft.com/office/drawing/2014/main" val="20001"/>
                    </a:ext>
                  </a:extLst>
                </a:gridCol>
                <a:gridCol w="1154112">
                  <a:extLst>
                    <a:ext uri="{9D8B030D-6E8A-4147-A177-3AD203B41FA5}">
                      <a16:colId xmlns:a16="http://schemas.microsoft.com/office/drawing/2014/main" val="20002"/>
                    </a:ext>
                  </a:extLst>
                </a:gridCol>
              </a:tblGrid>
              <a:tr h="708025">
                <a:tc>
                  <a:txBody>
                    <a:bodyPr/>
                    <a:lstStyle>
                      <a:lvl1pPr algn="l">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lgn="l">
                        <a:spcBef>
                          <a:spcPct val="20000"/>
                        </a:spcBef>
                        <a:buClr>
                          <a:schemeClr val="hlink"/>
                        </a:buClr>
                        <a:buSzPct val="55000"/>
                        <a:buFont typeface="Wingdings" pitchFamily="2" charset="2"/>
                        <a:defRPr sz="2400">
                          <a:solidFill>
                            <a:schemeClr val="tx1"/>
                          </a:solidFill>
                          <a:latin typeface="Tahoma" pitchFamily="34" charset="0"/>
                          <a:ea typeface="宋体" pitchFamily="2" charset="-122"/>
                        </a:defRPr>
                      </a:lvl2pPr>
                      <a:lvl3pPr algn="l">
                        <a:spcBef>
                          <a:spcPct val="20000"/>
                        </a:spcBef>
                        <a:buClr>
                          <a:schemeClr val="folHlink"/>
                        </a:buClr>
                        <a:buSzPct val="50000"/>
                        <a:buFont typeface="Wingdings" pitchFamily="2" charset="2"/>
                        <a:defRPr sz="2000">
                          <a:solidFill>
                            <a:schemeClr val="tx1"/>
                          </a:solidFill>
                          <a:latin typeface="Tahoma" pitchFamily="34" charset="0"/>
                          <a:ea typeface="宋体" pitchFamily="2" charset="-122"/>
                        </a:defRPr>
                      </a:lvl3pPr>
                      <a:lvl4pPr algn="l">
                        <a:spcBef>
                          <a:spcPct val="20000"/>
                        </a:spcBef>
                        <a:buClr>
                          <a:schemeClr val="accent2"/>
                        </a:buClr>
                        <a:buSzPct val="55000"/>
                        <a:buFont typeface="Wingdings" pitchFamily="2" charset="2"/>
                        <a:defRPr>
                          <a:solidFill>
                            <a:schemeClr val="tx1"/>
                          </a:solidFill>
                          <a:latin typeface="Tahoma" pitchFamily="34" charset="0"/>
                          <a:ea typeface="宋体" pitchFamily="2" charset="-122"/>
                        </a:defRPr>
                      </a:lvl4pPr>
                      <a:lvl5pPr algn="l">
                        <a:spcBef>
                          <a:spcPct val="20000"/>
                        </a:spcBef>
                        <a:buClr>
                          <a:schemeClr val="accent1"/>
                        </a:buClr>
                        <a:buSzPct val="5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800" b="0" i="0" u="none" strike="noStrike" cap="none" normalizeH="0" baseline="0" dirty="0">
                          <a:ln>
                            <a:noFill/>
                          </a:ln>
                          <a:solidFill>
                            <a:srgbClr val="FF6600"/>
                          </a:solidFill>
                          <a:effectLst/>
                          <a:latin typeface="Tahoma" pitchFamily="34" charset="0"/>
                          <a:ea typeface="宋体" pitchFamily="2" charset="-122"/>
                        </a:rPr>
                        <a:t>教师</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lgn="l">
                        <a:spcBef>
                          <a:spcPct val="20000"/>
                        </a:spcBef>
                        <a:buClr>
                          <a:schemeClr val="hlink"/>
                        </a:buClr>
                        <a:buSzPct val="55000"/>
                        <a:buFont typeface="Wingdings" pitchFamily="2" charset="2"/>
                        <a:defRPr sz="2400">
                          <a:solidFill>
                            <a:schemeClr val="tx1"/>
                          </a:solidFill>
                          <a:latin typeface="Tahoma" pitchFamily="34" charset="0"/>
                          <a:ea typeface="宋体" pitchFamily="2" charset="-122"/>
                        </a:defRPr>
                      </a:lvl2pPr>
                      <a:lvl3pPr algn="l">
                        <a:spcBef>
                          <a:spcPct val="20000"/>
                        </a:spcBef>
                        <a:buClr>
                          <a:schemeClr val="folHlink"/>
                        </a:buClr>
                        <a:buSzPct val="50000"/>
                        <a:buFont typeface="Wingdings" pitchFamily="2" charset="2"/>
                        <a:defRPr sz="2000">
                          <a:solidFill>
                            <a:schemeClr val="tx1"/>
                          </a:solidFill>
                          <a:latin typeface="Tahoma" pitchFamily="34" charset="0"/>
                          <a:ea typeface="宋体" pitchFamily="2" charset="-122"/>
                        </a:defRPr>
                      </a:lvl3pPr>
                      <a:lvl4pPr algn="l">
                        <a:spcBef>
                          <a:spcPct val="20000"/>
                        </a:spcBef>
                        <a:buClr>
                          <a:schemeClr val="accent2"/>
                        </a:buClr>
                        <a:buSzPct val="55000"/>
                        <a:buFont typeface="Wingdings" pitchFamily="2" charset="2"/>
                        <a:defRPr>
                          <a:solidFill>
                            <a:schemeClr val="tx1"/>
                          </a:solidFill>
                          <a:latin typeface="Tahoma" pitchFamily="34" charset="0"/>
                          <a:ea typeface="宋体" pitchFamily="2" charset="-122"/>
                        </a:defRPr>
                      </a:lvl4pPr>
                      <a:lvl5pPr algn="l">
                        <a:spcBef>
                          <a:spcPct val="20000"/>
                        </a:spcBef>
                        <a:buClr>
                          <a:schemeClr val="accent1"/>
                        </a:buClr>
                        <a:buSzPct val="5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800" b="0" i="0" u="none" strike="noStrike" cap="none" normalizeH="0" baseline="0">
                          <a:ln>
                            <a:noFill/>
                          </a:ln>
                          <a:solidFill>
                            <a:srgbClr val="FF6600"/>
                          </a:solidFill>
                          <a:effectLst/>
                          <a:latin typeface="Tahoma" pitchFamily="34" charset="0"/>
                          <a:ea typeface="宋体" pitchFamily="2" charset="-122"/>
                        </a:rPr>
                        <a:t>学生</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lgn="l">
                        <a:spcBef>
                          <a:spcPct val="20000"/>
                        </a:spcBef>
                        <a:buClr>
                          <a:schemeClr val="hlink"/>
                        </a:buClr>
                        <a:buSzPct val="55000"/>
                        <a:buFont typeface="Wingdings" pitchFamily="2" charset="2"/>
                        <a:defRPr sz="2400">
                          <a:solidFill>
                            <a:schemeClr val="tx1"/>
                          </a:solidFill>
                          <a:latin typeface="Tahoma" pitchFamily="34" charset="0"/>
                          <a:ea typeface="宋体" pitchFamily="2" charset="-122"/>
                        </a:defRPr>
                      </a:lvl2pPr>
                      <a:lvl3pPr algn="l">
                        <a:spcBef>
                          <a:spcPct val="20000"/>
                        </a:spcBef>
                        <a:buClr>
                          <a:schemeClr val="folHlink"/>
                        </a:buClr>
                        <a:buSzPct val="50000"/>
                        <a:buFont typeface="Wingdings" pitchFamily="2" charset="2"/>
                        <a:defRPr sz="2000">
                          <a:solidFill>
                            <a:schemeClr val="tx1"/>
                          </a:solidFill>
                          <a:latin typeface="Tahoma" pitchFamily="34" charset="0"/>
                          <a:ea typeface="宋体" pitchFamily="2" charset="-122"/>
                        </a:defRPr>
                      </a:lvl3pPr>
                      <a:lvl4pPr algn="l">
                        <a:spcBef>
                          <a:spcPct val="20000"/>
                        </a:spcBef>
                        <a:buClr>
                          <a:schemeClr val="accent2"/>
                        </a:buClr>
                        <a:buSzPct val="55000"/>
                        <a:buFont typeface="Wingdings" pitchFamily="2" charset="2"/>
                        <a:defRPr>
                          <a:solidFill>
                            <a:schemeClr val="tx1"/>
                          </a:solidFill>
                          <a:latin typeface="Tahoma" pitchFamily="34" charset="0"/>
                          <a:ea typeface="宋体" pitchFamily="2" charset="-122"/>
                        </a:defRPr>
                      </a:lvl4pPr>
                      <a:lvl5pPr algn="l">
                        <a:spcBef>
                          <a:spcPct val="20000"/>
                        </a:spcBef>
                        <a:buClr>
                          <a:schemeClr val="accent1"/>
                        </a:buClr>
                        <a:buSzPct val="5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800" b="0" i="0" u="none" strike="noStrike" cap="none" normalizeH="0" baseline="0">
                          <a:ln>
                            <a:noFill/>
                          </a:ln>
                          <a:solidFill>
                            <a:srgbClr val="FF6600"/>
                          </a:solidFill>
                          <a:effectLst/>
                          <a:latin typeface="Tahoma" pitchFamily="34" charset="0"/>
                          <a:ea typeface="宋体" pitchFamily="2" charset="-122"/>
                        </a:rPr>
                        <a:t>课程</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08025">
                <a:tc>
                  <a:txBody>
                    <a:bodyPr/>
                    <a:lstStyle>
                      <a:lvl1pPr algn="l">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lgn="l">
                        <a:spcBef>
                          <a:spcPct val="20000"/>
                        </a:spcBef>
                        <a:buClr>
                          <a:schemeClr val="hlink"/>
                        </a:buClr>
                        <a:buSzPct val="55000"/>
                        <a:buFont typeface="Wingdings" pitchFamily="2" charset="2"/>
                        <a:defRPr sz="2400">
                          <a:solidFill>
                            <a:schemeClr val="tx1"/>
                          </a:solidFill>
                          <a:latin typeface="Tahoma" pitchFamily="34" charset="0"/>
                          <a:ea typeface="宋体" pitchFamily="2" charset="-122"/>
                        </a:defRPr>
                      </a:lvl2pPr>
                      <a:lvl3pPr algn="l">
                        <a:spcBef>
                          <a:spcPct val="20000"/>
                        </a:spcBef>
                        <a:buClr>
                          <a:schemeClr val="folHlink"/>
                        </a:buClr>
                        <a:buSzPct val="50000"/>
                        <a:buFont typeface="Wingdings" pitchFamily="2" charset="2"/>
                        <a:defRPr sz="2000">
                          <a:solidFill>
                            <a:schemeClr val="tx1"/>
                          </a:solidFill>
                          <a:latin typeface="Tahoma" pitchFamily="34" charset="0"/>
                          <a:ea typeface="宋体" pitchFamily="2" charset="-122"/>
                        </a:defRPr>
                      </a:lvl3pPr>
                      <a:lvl4pPr algn="l">
                        <a:spcBef>
                          <a:spcPct val="20000"/>
                        </a:spcBef>
                        <a:buClr>
                          <a:schemeClr val="accent2"/>
                        </a:buClr>
                        <a:buSzPct val="55000"/>
                        <a:buFont typeface="Wingdings" pitchFamily="2" charset="2"/>
                        <a:defRPr>
                          <a:solidFill>
                            <a:schemeClr val="tx1"/>
                          </a:solidFill>
                          <a:latin typeface="Tahoma" pitchFamily="34" charset="0"/>
                          <a:ea typeface="宋体" pitchFamily="2" charset="-122"/>
                        </a:defRPr>
                      </a:lvl4pPr>
                      <a:lvl5pPr algn="l">
                        <a:spcBef>
                          <a:spcPct val="20000"/>
                        </a:spcBef>
                        <a:buClr>
                          <a:schemeClr val="accent1"/>
                        </a:buClr>
                        <a:buSzPct val="5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dirty="0">
                          <a:ln>
                            <a:noFill/>
                          </a:ln>
                          <a:solidFill>
                            <a:schemeClr val="tx1"/>
                          </a:solidFill>
                          <a:effectLst/>
                          <a:latin typeface="Tahoma" pitchFamily="34" charset="0"/>
                          <a:ea typeface="宋体" pitchFamily="2" charset="-122"/>
                        </a:rPr>
                        <a:t>王红</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lgn="l">
                        <a:spcBef>
                          <a:spcPct val="20000"/>
                        </a:spcBef>
                        <a:buClr>
                          <a:schemeClr val="hlink"/>
                        </a:buClr>
                        <a:buSzPct val="55000"/>
                        <a:buFont typeface="Wingdings" pitchFamily="2" charset="2"/>
                        <a:defRPr sz="2400">
                          <a:solidFill>
                            <a:schemeClr val="tx1"/>
                          </a:solidFill>
                          <a:latin typeface="Tahoma" pitchFamily="34" charset="0"/>
                          <a:ea typeface="宋体" pitchFamily="2" charset="-122"/>
                        </a:defRPr>
                      </a:lvl2pPr>
                      <a:lvl3pPr algn="l">
                        <a:spcBef>
                          <a:spcPct val="20000"/>
                        </a:spcBef>
                        <a:buClr>
                          <a:schemeClr val="folHlink"/>
                        </a:buClr>
                        <a:buSzPct val="50000"/>
                        <a:buFont typeface="Wingdings" pitchFamily="2" charset="2"/>
                        <a:defRPr sz="2000">
                          <a:solidFill>
                            <a:schemeClr val="tx1"/>
                          </a:solidFill>
                          <a:latin typeface="Tahoma" pitchFamily="34" charset="0"/>
                          <a:ea typeface="宋体" pitchFamily="2" charset="-122"/>
                        </a:defRPr>
                      </a:lvl3pPr>
                      <a:lvl4pPr algn="l">
                        <a:spcBef>
                          <a:spcPct val="20000"/>
                        </a:spcBef>
                        <a:buClr>
                          <a:schemeClr val="accent2"/>
                        </a:buClr>
                        <a:buSzPct val="55000"/>
                        <a:buFont typeface="Wingdings" pitchFamily="2" charset="2"/>
                        <a:defRPr>
                          <a:solidFill>
                            <a:schemeClr val="tx1"/>
                          </a:solidFill>
                          <a:latin typeface="Tahoma" pitchFamily="34" charset="0"/>
                          <a:ea typeface="宋体" pitchFamily="2" charset="-122"/>
                        </a:defRPr>
                      </a:lvl4pPr>
                      <a:lvl5pPr algn="l">
                        <a:spcBef>
                          <a:spcPct val="20000"/>
                        </a:spcBef>
                        <a:buClr>
                          <a:schemeClr val="accent1"/>
                        </a:buClr>
                        <a:buSzPct val="5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dirty="0">
                          <a:ln>
                            <a:noFill/>
                          </a:ln>
                          <a:solidFill>
                            <a:schemeClr val="tx1"/>
                          </a:solidFill>
                          <a:effectLst/>
                          <a:latin typeface="Tahoma" pitchFamily="34" charset="0"/>
                          <a:ea typeface="宋体" pitchFamily="2" charset="-122"/>
                        </a:rPr>
                        <a:t>李明</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lgn="l">
                        <a:spcBef>
                          <a:spcPct val="20000"/>
                        </a:spcBef>
                        <a:buClr>
                          <a:schemeClr val="hlink"/>
                        </a:buClr>
                        <a:buSzPct val="55000"/>
                        <a:buFont typeface="Wingdings" pitchFamily="2" charset="2"/>
                        <a:defRPr sz="2400">
                          <a:solidFill>
                            <a:schemeClr val="tx1"/>
                          </a:solidFill>
                          <a:latin typeface="Tahoma" pitchFamily="34" charset="0"/>
                          <a:ea typeface="宋体" pitchFamily="2" charset="-122"/>
                        </a:defRPr>
                      </a:lvl2pPr>
                      <a:lvl3pPr algn="l">
                        <a:spcBef>
                          <a:spcPct val="20000"/>
                        </a:spcBef>
                        <a:buClr>
                          <a:schemeClr val="folHlink"/>
                        </a:buClr>
                        <a:buSzPct val="50000"/>
                        <a:buFont typeface="Wingdings" pitchFamily="2" charset="2"/>
                        <a:defRPr sz="2000">
                          <a:solidFill>
                            <a:schemeClr val="tx1"/>
                          </a:solidFill>
                          <a:latin typeface="Tahoma" pitchFamily="34" charset="0"/>
                          <a:ea typeface="宋体" pitchFamily="2" charset="-122"/>
                        </a:defRPr>
                      </a:lvl3pPr>
                      <a:lvl4pPr algn="l">
                        <a:spcBef>
                          <a:spcPct val="20000"/>
                        </a:spcBef>
                        <a:buClr>
                          <a:schemeClr val="accent2"/>
                        </a:buClr>
                        <a:buSzPct val="55000"/>
                        <a:buFont typeface="Wingdings" pitchFamily="2" charset="2"/>
                        <a:defRPr>
                          <a:solidFill>
                            <a:schemeClr val="tx1"/>
                          </a:solidFill>
                          <a:latin typeface="Tahoma" pitchFamily="34" charset="0"/>
                          <a:ea typeface="宋体" pitchFamily="2" charset="-122"/>
                        </a:defRPr>
                      </a:lvl4pPr>
                      <a:lvl5pPr algn="l">
                        <a:spcBef>
                          <a:spcPct val="20000"/>
                        </a:spcBef>
                        <a:buClr>
                          <a:schemeClr val="accent1"/>
                        </a:buClr>
                        <a:buSzPct val="5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dirty="0">
                          <a:ln>
                            <a:noFill/>
                          </a:ln>
                          <a:solidFill>
                            <a:schemeClr val="tx1"/>
                          </a:solidFill>
                          <a:effectLst/>
                          <a:latin typeface="Tahoma" pitchFamily="34" charset="0"/>
                          <a:ea typeface="宋体" pitchFamily="2" charset="-122"/>
                        </a:rPr>
                        <a:t>数据库</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08025">
                <a:tc>
                  <a:txBody>
                    <a:bodyPr/>
                    <a:lstStyle>
                      <a:lvl1pPr algn="l">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lgn="l">
                        <a:spcBef>
                          <a:spcPct val="20000"/>
                        </a:spcBef>
                        <a:buClr>
                          <a:schemeClr val="hlink"/>
                        </a:buClr>
                        <a:buSzPct val="55000"/>
                        <a:buFont typeface="Wingdings" pitchFamily="2" charset="2"/>
                        <a:defRPr sz="2400">
                          <a:solidFill>
                            <a:schemeClr val="tx1"/>
                          </a:solidFill>
                          <a:latin typeface="Tahoma" pitchFamily="34" charset="0"/>
                          <a:ea typeface="宋体" pitchFamily="2" charset="-122"/>
                        </a:defRPr>
                      </a:lvl2pPr>
                      <a:lvl3pPr algn="l">
                        <a:spcBef>
                          <a:spcPct val="20000"/>
                        </a:spcBef>
                        <a:buClr>
                          <a:schemeClr val="folHlink"/>
                        </a:buClr>
                        <a:buSzPct val="50000"/>
                        <a:buFont typeface="Wingdings" pitchFamily="2" charset="2"/>
                        <a:defRPr sz="2000">
                          <a:solidFill>
                            <a:schemeClr val="tx1"/>
                          </a:solidFill>
                          <a:latin typeface="Tahoma" pitchFamily="34" charset="0"/>
                          <a:ea typeface="宋体" pitchFamily="2" charset="-122"/>
                        </a:defRPr>
                      </a:lvl3pPr>
                      <a:lvl4pPr algn="l">
                        <a:spcBef>
                          <a:spcPct val="20000"/>
                        </a:spcBef>
                        <a:buClr>
                          <a:schemeClr val="accent2"/>
                        </a:buClr>
                        <a:buSzPct val="55000"/>
                        <a:buFont typeface="Wingdings" pitchFamily="2" charset="2"/>
                        <a:defRPr>
                          <a:solidFill>
                            <a:schemeClr val="tx1"/>
                          </a:solidFill>
                          <a:latin typeface="Tahoma" pitchFamily="34" charset="0"/>
                          <a:ea typeface="宋体" pitchFamily="2" charset="-122"/>
                        </a:defRPr>
                      </a:lvl4pPr>
                      <a:lvl5pPr algn="l">
                        <a:spcBef>
                          <a:spcPct val="20000"/>
                        </a:spcBef>
                        <a:buClr>
                          <a:schemeClr val="accent1"/>
                        </a:buClr>
                        <a:buSzPct val="5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dirty="0">
                          <a:ln>
                            <a:noFill/>
                          </a:ln>
                          <a:solidFill>
                            <a:schemeClr val="tx1"/>
                          </a:solidFill>
                          <a:effectLst/>
                          <a:latin typeface="Tahoma" pitchFamily="34" charset="0"/>
                          <a:ea typeface="宋体" pitchFamily="2" charset="-122"/>
                        </a:rPr>
                        <a:t>王红</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lgn="l">
                        <a:spcBef>
                          <a:spcPct val="20000"/>
                        </a:spcBef>
                        <a:buClr>
                          <a:schemeClr val="hlink"/>
                        </a:buClr>
                        <a:buSzPct val="55000"/>
                        <a:buFont typeface="Wingdings" pitchFamily="2" charset="2"/>
                        <a:defRPr sz="2400">
                          <a:solidFill>
                            <a:schemeClr val="tx1"/>
                          </a:solidFill>
                          <a:latin typeface="Tahoma" pitchFamily="34" charset="0"/>
                          <a:ea typeface="宋体" pitchFamily="2" charset="-122"/>
                        </a:defRPr>
                      </a:lvl2pPr>
                      <a:lvl3pPr algn="l">
                        <a:spcBef>
                          <a:spcPct val="20000"/>
                        </a:spcBef>
                        <a:buClr>
                          <a:schemeClr val="folHlink"/>
                        </a:buClr>
                        <a:buSzPct val="50000"/>
                        <a:buFont typeface="Wingdings" pitchFamily="2" charset="2"/>
                        <a:defRPr sz="2000">
                          <a:solidFill>
                            <a:schemeClr val="tx1"/>
                          </a:solidFill>
                          <a:latin typeface="Tahoma" pitchFamily="34" charset="0"/>
                          <a:ea typeface="宋体" pitchFamily="2" charset="-122"/>
                        </a:defRPr>
                      </a:lvl3pPr>
                      <a:lvl4pPr algn="l">
                        <a:spcBef>
                          <a:spcPct val="20000"/>
                        </a:spcBef>
                        <a:buClr>
                          <a:schemeClr val="accent2"/>
                        </a:buClr>
                        <a:buSzPct val="55000"/>
                        <a:buFont typeface="Wingdings" pitchFamily="2" charset="2"/>
                        <a:defRPr>
                          <a:solidFill>
                            <a:schemeClr val="tx1"/>
                          </a:solidFill>
                          <a:latin typeface="Tahoma" pitchFamily="34" charset="0"/>
                          <a:ea typeface="宋体" pitchFamily="2" charset="-122"/>
                        </a:defRPr>
                      </a:lvl4pPr>
                      <a:lvl5pPr algn="l">
                        <a:spcBef>
                          <a:spcPct val="20000"/>
                        </a:spcBef>
                        <a:buClr>
                          <a:schemeClr val="accent1"/>
                        </a:buClr>
                        <a:buSzPct val="5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dirty="0">
                          <a:ln>
                            <a:noFill/>
                          </a:ln>
                          <a:solidFill>
                            <a:schemeClr val="tx1"/>
                          </a:solidFill>
                          <a:effectLst/>
                          <a:latin typeface="Tahoma" pitchFamily="34" charset="0"/>
                          <a:ea typeface="宋体" pitchFamily="2" charset="-122"/>
                        </a:rPr>
                        <a:t>刘晨</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lgn="l">
                        <a:spcBef>
                          <a:spcPct val="20000"/>
                        </a:spcBef>
                        <a:buClr>
                          <a:schemeClr val="hlink"/>
                        </a:buClr>
                        <a:buSzPct val="55000"/>
                        <a:buFont typeface="Wingdings" pitchFamily="2" charset="2"/>
                        <a:defRPr sz="2400">
                          <a:solidFill>
                            <a:schemeClr val="tx1"/>
                          </a:solidFill>
                          <a:latin typeface="Tahoma" pitchFamily="34" charset="0"/>
                          <a:ea typeface="宋体" pitchFamily="2" charset="-122"/>
                        </a:defRPr>
                      </a:lvl2pPr>
                      <a:lvl3pPr algn="l">
                        <a:spcBef>
                          <a:spcPct val="20000"/>
                        </a:spcBef>
                        <a:buClr>
                          <a:schemeClr val="folHlink"/>
                        </a:buClr>
                        <a:buSzPct val="50000"/>
                        <a:buFont typeface="Wingdings" pitchFamily="2" charset="2"/>
                        <a:defRPr sz="2000">
                          <a:solidFill>
                            <a:schemeClr val="tx1"/>
                          </a:solidFill>
                          <a:latin typeface="Tahoma" pitchFamily="34" charset="0"/>
                          <a:ea typeface="宋体" pitchFamily="2" charset="-122"/>
                        </a:defRPr>
                      </a:lvl3pPr>
                      <a:lvl4pPr algn="l">
                        <a:spcBef>
                          <a:spcPct val="20000"/>
                        </a:spcBef>
                        <a:buClr>
                          <a:schemeClr val="accent2"/>
                        </a:buClr>
                        <a:buSzPct val="55000"/>
                        <a:buFont typeface="Wingdings" pitchFamily="2" charset="2"/>
                        <a:defRPr>
                          <a:solidFill>
                            <a:schemeClr val="tx1"/>
                          </a:solidFill>
                          <a:latin typeface="Tahoma" pitchFamily="34" charset="0"/>
                          <a:ea typeface="宋体" pitchFamily="2" charset="-122"/>
                        </a:defRPr>
                      </a:lvl4pPr>
                      <a:lvl5pPr algn="l">
                        <a:spcBef>
                          <a:spcPct val="20000"/>
                        </a:spcBef>
                        <a:buClr>
                          <a:schemeClr val="accent1"/>
                        </a:buClr>
                        <a:buSzPct val="5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dirty="0">
                          <a:ln>
                            <a:noFill/>
                          </a:ln>
                          <a:solidFill>
                            <a:schemeClr val="tx1"/>
                          </a:solidFill>
                          <a:effectLst/>
                          <a:latin typeface="Tahoma" pitchFamily="34" charset="0"/>
                          <a:ea typeface="宋体" pitchFamily="2" charset="-122"/>
                        </a:rPr>
                        <a:t>数据库</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08025">
                <a:tc>
                  <a:txBody>
                    <a:bodyPr/>
                    <a:lstStyle>
                      <a:lvl1pPr algn="l">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lgn="l">
                        <a:spcBef>
                          <a:spcPct val="20000"/>
                        </a:spcBef>
                        <a:buClr>
                          <a:schemeClr val="hlink"/>
                        </a:buClr>
                        <a:buSzPct val="55000"/>
                        <a:buFont typeface="Wingdings" pitchFamily="2" charset="2"/>
                        <a:defRPr sz="2400">
                          <a:solidFill>
                            <a:schemeClr val="tx1"/>
                          </a:solidFill>
                          <a:latin typeface="Tahoma" pitchFamily="34" charset="0"/>
                          <a:ea typeface="宋体" pitchFamily="2" charset="-122"/>
                        </a:defRPr>
                      </a:lvl2pPr>
                      <a:lvl3pPr algn="l">
                        <a:spcBef>
                          <a:spcPct val="20000"/>
                        </a:spcBef>
                        <a:buClr>
                          <a:schemeClr val="folHlink"/>
                        </a:buClr>
                        <a:buSzPct val="50000"/>
                        <a:buFont typeface="Wingdings" pitchFamily="2" charset="2"/>
                        <a:defRPr sz="2000">
                          <a:solidFill>
                            <a:schemeClr val="tx1"/>
                          </a:solidFill>
                          <a:latin typeface="Tahoma" pitchFamily="34" charset="0"/>
                          <a:ea typeface="宋体" pitchFamily="2" charset="-122"/>
                        </a:defRPr>
                      </a:lvl3pPr>
                      <a:lvl4pPr algn="l">
                        <a:spcBef>
                          <a:spcPct val="20000"/>
                        </a:spcBef>
                        <a:buClr>
                          <a:schemeClr val="accent2"/>
                        </a:buClr>
                        <a:buSzPct val="55000"/>
                        <a:buFont typeface="Wingdings" pitchFamily="2" charset="2"/>
                        <a:defRPr>
                          <a:solidFill>
                            <a:schemeClr val="tx1"/>
                          </a:solidFill>
                          <a:latin typeface="Tahoma" pitchFamily="34" charset="0"/>
                          <a:ea typeface="宋体" pitchFamily="2" charset="-122"/>
                        </a:defRPr>
                      </a:lvl4pPr>
                      <a:lvl5pPr algn="l">
                        <a:spcBef>
                          <a:spcPct val="20000"/>
                        </a:spcBef>
                        <a:buClr>
                          <a:schemeClr val="accent1"/>
                        </a:buClr>
                        <a:buSzPct val="5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itchFamily="34" charset="0"/>
                          <a:ea typeface="宋体" pitchFamily="2" charset="-122"/>
                        </a:rPr>
                        <a:t>王红</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lgn="l">
                        <a:spcBef>
                          <a:spcPct val="20000"/>
                        </a:spcBef>
                        <a:buClr>
                          <a:schemeClr val="hlink"/>
                        </a:buClr>
                        <a:buSzPct val="55000"/>
                        <a:buFont typeface="Wingdings" pitchFamily="2" charset="2"/>
                        <a:defRPr sz="2400">
                          <a:solidFill>
                            <a:schemeClr val="tx1"/>
                          </a:solidFill>
                          <a:latin typeface="Tahoma" pitchFamily="34" charset="0"/>
                          <a:ea typeface="宋体" pitchFamily="2" charset="-122"/>
                        </a:defRPr>
                      </a:lvl2pPr>
                      <a:lvl3pPr algn="l">
                        <a:spcBef>
                          <a:spcPct val="20000"/>
                        </a:spcBef>
                        <a:buClr>
                          <a:schemeClr val="folHlink"/>
                        </a:buClr>
                        <a:buSzPct val="50000"/>
                        <a:buFont typeface="Wingdings" pitchFamily="2" charset="2"/>
                        <a:defRPr sz="2000">
                          <a:solidFill>
                            <a:schemeClr val="tx1"/>
                          </a:solidFill>
                          <a:latin typeface="Tahoma" pitchFamily="34" charset="0"/>
                          <a:ea typeface="宋体" pitchFamily="2" charset="-122"/>
                        </a:defRPr>
                      </a:lvl3pPr>
                      <a:lvl4pPr algn="l">
                        <a:spcBef>
                          <a:spcPct val="20000"/>
                        </a:spcBef>
                        <a:buClr>
                          <a:schemeClr val="accent2"/>
                        </a:buClr>
                        <a:buSzPct val="55000"/>
                        <a:buFont typeface="Wingdings" pitchFamily="2" charset="2"/>
                        <a:defRPr>
                          <a:solidFill>
                            <a:schemeClr val="tx1"/>
                          </a:solidFill>
                          <a:latin typeface="Tahoma" pitchFamily="34" charset="0"/>
                          <a:ea typeface="宋体" pitchFamily="2" charset="-122"/>
                        </a:defRPr>
                      </a:lvl4pPr>
                      <a:lvl5pPr algn="l">
                        <a:spcBef>
                          <a:spcPct val="20000"/>
                        </a:spcBef>
                        <a:buClr>
                          <a:schemeClr val="accent1"/>
                        </a:buClr>
                        <a:buSzPct val="5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dirty="0">
                          <a:ln>
                            <a:noFill/>
                          </a:ln>
                          <a:solidFill>
                            <a:schemeClr val="tx1"/>
                          </a:solidFill>
                          <a:effectLst/>
                          <a:latin typeface="Tahoma" pitchFamily="34" charset="0"/>
                          <a:ea typeface="宋体" pitchFamily="2" charset="-122"/>
                        </a:rPr>
                        <a:t>王敏</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lgn="l">
                        <a:spcBef>
                          <a:spcPct val="20000"/>
                        </a:spcBef>
                        <a:buClr>
                          <a:schemeClr val="hlink"/>
                        </a:buClr>
                        <a:buSzPct val="55000"/>
                        <a:buFont typeface="Wingdings" pitchFamily="2" charset="2"/>
                        <a:defRPr sz="2400">
                          <a:solidFill>
                            <a:schemeClr val="tx1"/>
                          </a:solidFill>
                          <a:latin typeface="Tahoma" pitchFamily="34" charset="0"/>
                          <a:ea typeface="宋体" pitchFamily="2" charset="-122"/>
                        </a:defRPr>
                      </a:lvl2pPr>
                      <a:lvl3pPr algn="l">
                        <a:spcBef>
                          <a:spcPct val="20000"/>
                        </a:spcBef>
                        <a:buClr>
                          <a:schemeClr val="folHlink"/>
                        </a:buClr>
                        <a:buSzPct val="50000"/>
                        <a:buFont typeface="Wingdings" pitchFamily="2" charset="2"/>
                        <a:defRPr sz="2000">
                          <a:solidFill>
                            <a:schemeClr val="tx1"/>
                          </a:solidFill>
                          <a:latin typeface="Tahoma" pitchFamily="34" charset="0"/>
                          <a:ea typeface="宋体" pitchFamily="2" charset="-122"/>
                        </a:defRPr>
                      </a:lvl3pPr>
                      <a:lvl4pPr algn="l">
                        <a:spcBef>
                          <a:spcPct val="20000"/>
                        </a:spcBef>
                        <a:buClr>
                          <a:schemeClr val="accent2"/>
                        </a:buClr>
                        <a:buSzPct val="55000"/>
                        <a:buFont typeface="Wingdings" pitchFamily="2" charset="2"/>
                        <a:defRPr>
                          <a:solidFill>
                            <a:schemeClr val="tx1"/>
                          </a:solidFill>
                          <a:latin typeface="Tahoma" pitchFamily="34" charset="0"/>
                          <a:ea typeface="宋体" pitchFamily="2" charset="-122"/>
                        </a:defRPr>
                      </a:lvl4pPr>
                      <a:lvl5pPr algn="l">
                        <a:spcBef>
                          <a:spcPct val="20000"/>
                        </a:spcBef>
                        <a:buClr>
                          <a:schemeClr val="accent1"/>
                        </a:buClr>
                        <a:buSzPct val="5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dirty="0">
                          <a:ln>
                            <a:noFill/>
                          </a:ln>
                          <a:solidFill>
                            <a:schemeClr val="tx1"/>
                          </a:solidFill>
                          <a:effectLst/>
                          <a:latin typeface="Tahoma" pitchFamily="34" charset="0"/>
                          <a:ea typeface="宋体" pitchFamily="2" charset="-122"/>
                        </a:rPr>
                        <a:t>数据库</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08025">
                <a:tc>
                  <a:txBody>
                    <a:bodyPr/>
                    <a:lstStyle>
                      <a:lvl1pPr algn="l">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lgn="l">
                        <a:spcBef>
                          <a:spcPct val="20000"/>
                        </a:spcBef>
                        <a:buClr>
                          <a:schemeClr val="hlink"/>
                        </a:buClr>
                        <a:buSzPct val="55000"/>
                        <a:buFont typeface="Wingdings" pitchFamily="2" charset="2"/>
                        <a:defRPr sz="2400">
                          <a:solidFill>
                            <a:schemeClr val="tx1"/>
                          </a:solidFill>
                          <a:latin typeface="Tahoma" pitchFamily="34" charset="0"/>
                          <a:ea typeface="宋体" pitchFamily="2" charset="-122"/>
                        </a:defRPr>
                      </a:lvl2pPr>
                      <a:lvl3pPr algn="l">
                        <a:spcBef>
                          <a:spcPct val="20000"/>
                        </a:spcBef>
                        <a:buClr>
                          <a:schemeClr val="folHlink"/>
                        </a:buClr>
                        <a:buSzPct val="50000"/>
                        <a:buFont typeface="Wingdings" pitchFamily="2" charset="2"/>
                        <a:defRPr sz="2000">
                          <a:solidFill>
                            <a:schemeClr val="tx1"/>
                          </a:solidFill>
                          <a:latin typeface="Tahoma" pitchFamily="34" charset="0"/>
                          <a:ea typeface="宋体" pitchFamily="2" charset="-122"/>
                        </a:defRPr>
                      </a:lvl3pPr>
                      <a:lvl4pPr algn="l">
                        <a:spcBef>
                          <a:spcPct val="20000"/>
                        </a:spcBef>
                        <a:buClr>
                          <a:schemeClr val="accent2"/>
                        </a:buClr>
                        <a:buSzPct val="55000"/>
                        <a:buFont typeface="Wingdings" pitchFamily="2" charset="2"/>
                        <a:defRPr>
                          <a:solidFill>
                            <a:schemeClr val="tx1"/>
                          </a:solidFill>
                          <a:latin typeface="Tahoma" pitchFamily="34" charset="0"/>
                          <a:ea typeface="宋体" pitchFamily="2" charset="-122"/>
                        </a:defRPr>
                      </a:lvl4pPr>
                      <a:lvl5pPr algn="l">
                        <a:spcBef>
                          <a:spcPct val="20000"/>
                        </a:spcBef>
                        <a:buClr>
                          <a:schemeClr val="accent1"/>
                        </a:buClr>
                        <a:buSzPct val="5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dirty="0">
                          <a:ln>
                            <a:noFill/>
                          </a:ln>
                          <a:solidFill>
                            <a:schemeClr val="tx1"/>
                          </a:solidFill>
                          <a:effectLst/>
                          <a:latin typeface="Tahoma" pitchFamily="34" charset="0"/>
                          <a:ea typeface="宋体" pitchFamily="2" charset="-122"/>
                        </a:rPr>
                        <a:t>刘军</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lgn="l">
                        <a:spcBef>
                          <a:spcPct val="20000"/>
                        </a:spcBef>
                        <a:buClr>
                          <a:schemeClr val="hlink"/>
                        </a:buClr>
                        <a:buSzPct val="55000"/>
                        <a:buFont typeface="Wingdings" pitchFamily="2" charset="2"/>
                        <a:defRPr sz="2400">
                          <a:solidFill>
                            <a:schemeClr val="tx1"/>
                          </a:solidFill>
                          <a:latin typeface="Tahoma" pitchFamily="34" charset="0"/>
                          <a:ea typeface="宋体" pitchFamily="2" charset="-122"/>
                        </a:defRPr>
                      </a:lvl2pPr>
                      <a:lvl3pPr algn="l">
                        <a:spcBef>
                          <a:spcPct val="20000"/>
                        </a:spcBef>
                        <a:buClr>
                          <a:schemeClr val="folHlink"/>
                        </a:buClr>
                        <a:buSzPct val="50000"/>
                        <a:buFont typeface="Wingdings" pitchFamily="2" charset="2"/>
                        <a:defRPr sz="2000">
                          <a:solidFill>
                            <a:schemeClr val="tx1"/>
                          </a:solidFill>
                          <a:latin typeface="Tahoma" pitchFamily="34" charset="0"/>
                          <a:ea typeface="宋体" pitchFamily="2" charset="-122"/>
                        </a:defRPr>
                      </a:lvl3pPr>
                      <a:lvl4pPr algn="l">
                        <a:spcBef>
                          <a:spcPct val="20000"/>
                        </a:spcBef>
                        <a:buClr>
                          <a:schemeClr val="accent2"/>
                        </a:buClr>
                        <a:buSzPct val="55000"/>
                        <a:buFont typeface="Wingdings" pitchFamily="2" charset="2"/>
                        <a:defRPr>
                          <a:solidFill>
                            <a:schemeClr val="tx1"/>
                          </a:solidFill>
                          <a:latin typeface="Tahoma" pitchFamily="34" charset="0"/>
                          <a:ea typeface="宋体" pitchFamily="2" charset="-122"/>
                        </a:defRPr>
                      </a:lvl4pPr>
                      <a:lvl5pPr algn="l">
                        <a:spcBef>
                          <a:spcPct val="20000"/>
                        </a:spcBef>
                        <a:buClr>
                          <a:schemeClr val="accent1"/>
                        </a:buClr>
                        <a:buSzPct val="5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itchFamily="34" charset="0"/>
                          <a:ea typeface="宋体" pitchFamily="2" charset="-122"/>
                        </a:rPr>
                        <a:t>张立</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lgn="l">
                        <a:spcBef>
                          <a:spcPct val="20000"/>
                        </a:spcBef>
                        <a:buClr>
                          <a:schemeClr val="hlink"/>
                        </a:buClr>
                        <a:buSzPct val="55000"/>
                        <a:buFont typeface="Wingdings" pitchFamily="2" charset="2"/>
                        <a:defRPr sz="2400">
                          <a:solidFill>
                            <a:schemeClr val="tx1"/>
                          </a:solidFill>
                          <a:latin typeface="Tahoma" pitchFamily="34" charset="0"/>
                          <a:ea typeface="宋体" pitchFamily="2" charset="-122"/>
                        </a:defRPr>
                      </a:lvl2pPr>
                      <a:lvl3pPr algn="l">
                        <a:spcBef>
                          <a:spcPct val="20000"/>
                        </a:spcBef>
                        <a:buClr>
                          <a:schemeClr val="folHlink"/>
                        </a:buClr>
                        <a:buSzPct val="50000"/>
                        <a:buFont typeface="Wingdings" pitchFamily="2" charset="2"/>
                        <a:defRPr sz="2000">
                          <a:solidFill>
                            <a:schemeClr val="tx1"/>
                          </a:solidFill>
                          <a:latin typeface="Tahoma" pitchFamily="34" charset="0"/>
                          <a:ea typeface="宋体" pitchFamily="2" charset="-122"/>
                        </a:defRPr>
                      </a:lvl3pPr>
                      <a:lvl4pPr algn="l">
                        <a:spcBef>
                          <a:spcPct val="20000"/>
                        </a:spcBef>
                        <a:buClr>
                          <a:schemeClr val="accent2"/>
                        </a:buClr>
                        <a:buSzPct val="55000"/>
                        <a:buFont typeface="Wingdings" pitchFamily="2" charset="2"/>
                        <a:defRPr>
                          <a:solidFill>
                            <a:schemeClr val="tx1"/>
                          </a:solidFill>
                          <a:latin typeface="Tahoma" pitchFamily="34" charset="0"/>
                          <a:ea typeface="宋体" pitchFamily="2" charset="-122"/>
                        </a:defRPr>
                      </a:lvl4pPr>
                      <a:lvl5pPr algn="l">
                        <a:spcBef>
                          <a:spcPct val="20000"/>
                        </a:spcBef>
                        <a:buClr>
                          <a:schemeClr val="accent1"/>
                        </a:buClr>
                        <a:buSzPct val="5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C</a:t>
                      </a:r>
                      <a:r>
                        <a:rPr kumimoji="0" lang="zh-CN" altLang="en-US" sz="2400" b="0" i="0" u="none" strike="noStrike" cap="none" normalizeH="0" baseline="0">
                          <a:ln>
                            <a:noFill/>
                          </a:ln>
                          <a:solidFill>
                            <a:schemeClr val="tx1"/>
                          </a:solidFill>
                          <a:effectLst/>
                          <a:latin typeface="Tahoma" pitchFamily="34" charset="0"/>
                          <a:ea typeface="宋体" pitchFamily="2" charset="-122"/>
                        </a:rPr>
                        <a:t>语言</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08025">
                <a:tc>
                  <a:txBody>
                    <a:bodyPr/>
                    <a:lstStyle>
                      <a:lvl1pPr algn="l">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lgn="l">
                        <a:spcBef>
                          <a:spcPct val="20000"/>
                        </a:spcBef>
                        <a:buClr>
                          <a:schemeClr val="hlink"/>
                        </a:buClr>
                        <a:buSzPct val="55000"/>
                        <a:buFont typeface="Wingdings" pitchFamily="2" charset="2"/>
                        <a:defRPr sz="2400">
                          <a:solidFill>
                            <a:schemeClr val="tx1"/>
                          </a:solidFill>
                          <a:latin typeface="Tahoma" pitchFamily="34" charset="0"/>
                          <a:ea typeface="宋体" pitchFamily="2" charset="-122"/>
                        </a:defRPr>
                      </a:lvl2pPr>
                      <a:lvl3pPr algn="l">
                        <a:spcBef>
                          <a:spcPct val="20000"/>
                        </a:spcBef>
                        <a:buClr>
                          <a:schemeClr val="folHlink"/>
                        </a:buClr>
                        <a:buSzPct val="50000"/>
                        <a:buFont typeface="Wingdings" pitchFamily="2" charset="2"/>
                        <a:defRPr sz="2000">
                          <a:solidFill>
                            <a:schemeClr val="tx1"/>
                          </a:solidFill>
                          <a:latin typeface="Tahoma" pitchFamily="34" charset="0"/>
                          <a:ea typeface="宋体" pitchFamily="2" charset="-122"/>
                        </a:defRPr>
                      </a:lvl3pPr>
                      <a:lvl4pPr algn="l">
                        <a:spcBef>
                          <a:spcPct val="20000"/>
                        </a:spcBef>
                        <a:buClr>
                          <a:schemeClr val="accent2"/>
                        </a:buClr>
                        <a:buSzPct val="55000"/>
                        <a:buFont typeface="Wingdings" pitchFamily="2" charset="2"/>
                        <a:defRPr>
                          <a:solidFill>
                            <a:schemeClr val="tx1"/>
                          </a:solidFill>
                          <a:latin typeface="Tahoma" pitchFamily="34" charset="0"/>
                          <a:ea typeface="宋体" pitchFamily="2" charset="-122"/>
                        </a:defRPr>
                      </a:lvl4pPr>
                      <a:lvl5pPr algn="l">
                        <a:spcBef>
                          <a:spcPct val="20000"/>
                        </a:spcBef>
                        <a:buClr>
                          <a:schemeClr val="accent1"/>
                        </a:buClr>
                        <a:buSzPct val="5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itchFamily="34" charset="0"/>
                          <a:ea typeface="宋体" pitchFamily="2" charset="-122"/>
                        </a:rPr>
                        <a:t>刘军</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lgn="l">
                        <a:spcBef>
                          <a:spcPct val="20000"/>
                        </a:spcBef>
                        <a:buClr>
                          <a:schemeClr val="hlink"/>
                        </a:buClr>
                        <a:buSzPct val="55000"/>
                        <a:buFont typeface="Wingdings" pitchFamily="2" charset="2"/>
                        <a:defRPr sz="2400">
                          <a:solidFill>
                            <a:schemeClr val="tx1"/>
                          </a:solidFill>
                          <a:latin typeface="Tahoma" pitchFamily="34" charset="0"/>
                          <a:ea typeface="宋体" pitchFamily="2" charset="-122"/>
                        </a:defRPr>
                      </a:lvl2pPr>
                      <a:lvl3pPr algn="l">
                        <a:spcBef>
                          <a:spcPct val="20000"/>
                        </a:spcBef>
                        <a:buClr>
                          <a:schemeClr val="folHlink"/>
                        </a:buClr>
                        <a:buSzPct val="50000"/>
                        <a:buFont typeface="Wingdings" pitchFamily="2" charset="2"/>
                        <a:defRPr sz="2000">
                          <a:solidFill>
                            <a:schemeClr val="tx1"/>
                          </a:solidFill>
                          <a:latin typeface="Tahoma" pitchFamily="34" charset="0"/>
                          <a:ea typeface="宋体" pitchFamily="2" charset="-122"/>
                        </a:defRPr>
                      </a:lvl3pPr>
                      <a:lvl4pPr algn="l">
                        <a:spcBef>
                          <a:spcPct val="20000"/>
                        </a:spcBef>
                        <a:buClr>
                          <a:schemeClr val="accent2"/>
                        </a:buClr>
                        <a:buSzPct val="55000"/>
                        <a:buFont typeface="Wingdings" pitchFamily="2" charset="2"/>
                        <a:defRPr>
                          <a:solidFill>
                            <a:schemeClr val="tx1"/>
                          </a:solidFill>
                          <a:latin typeface="Tahoma" pitchFamily="34" charset="0"/>
                          <a:ea typeface="宋体" pitchFamily="2" charset="-122"/>
                        </a:defRPr>
                      </a:lvl4pPr>
                      <a:lvl5pPr algn="l">
                        <a:spcBef>
                          <a:spcPct val="20000"/>
                        </a:spcBef>
                        <a:buClr>
                          <a:schemeClr val="accent1"/>
                        </a:buClr>
                        <a:buSzPct val="5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dirty="0">
                          <a:ln>
                            <a:noFill/>
                          </a:ln>
                          <a:solidFill>
                            <a:schemeClr val="tx1"/>
                          </a:solidFill>
                          <a:effectLst/>
                          <a:latin typeface="Tahoma" pitchFamily="34" charset="0"/>
                          <a:ea typeface="宋体" pitchFamily="2" charset="-122"/>
                        </a:rPr>
                        <a:t>刘晨</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lgn="l">
                        <a:spcBef>
                          <a:spcPct val="20000"/>
                        </a:spcBef>
                        <a:buClr>
                          <a:schemeClr val="hlink"/>
                        </a:buClr>
                        <a:buSzPct val="55000"/>
                        <a:buFont typeface="Wingdings" pitchFamily="2" charset="2"/>
                        <a:defRPr sz="2400">
                          <a:solidFill>
                            <a:schemeClr val="tx1"/>
                          </a:solidFill>
                          <a:latin typeface="Tahoma" pitchFamily="34" charset="0"/>
                          <a:ea typeface="宋体" pitchFamily="2" charset="-122"/>
                        </a:defRPr>
                      </a:lvl2pPr>
                      <a:lvl3pPr algn="l">
                        <a:spcBef>
                          <a:spcPct val="20000"/>
                        </a:spcBef>
                        <a:buClr>
                          <a:schemeClr val="folHlink"/>
                        </a:buClr>
                        <a:buSzPct val="50000"/>
                        <a:buFont typeface="Wingdings" pitchFamily="2" charset="2"/>
                        <a:defRPr sz="2000">
                          <a:solidFill>
                            <a:schemeClr val="tx1"/>
                          </a:solidFill>
                          <a:latin typeface="Tahoma" pitchFamily="34" charset="0"/>
                          <a:ea typeface="宋体" pitchFamily="2" charset="-122"/>
                        </a:defRPr>
                      </a:lvl3pPr>
                      <a:lvl4pPr algn="l">
                        <a:spcBef>
                          <a:spcPct val="20000"/>
                        </a:spcBef>
                        <a:buClr>
                          <a:schemeClr val="accent2"/>
                        </a:buClr>
                        <a:buSzPct val="55000"/>
                        <a:buFont typeface="Wingdings" pitchFamily="2" charset="2"/>
                        <a:defRPr>
                          <a:solidFill>
                            <a:schemeClr val="tx1"/>
                          </a:solidFill>
                          <a:latin typeface="Tahoma" pitchFamily="34" charset="0"/>
                          <a:ea typeface="宋体" pitchFamily="2" charset="-122"/>
                        </a:defRPr>
                      </a:lvl4pPr>
                      <a:lvl5pPr algn="l">
                        <a:spcBef>
                          <a:spcPct val="20000"/>
                        </a:spcBef>
                        <a:buClr>
                          <a:schemeClr val="accent1"/>
                        </a:buClr>
                        <a:buSzPct val="5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C</a:t>
                      </a:r>
                      <a:r>
                        <a:rPr kumimoji="0" lang="zh-CN" altLang="en-US" sz="2400" b="0" i="0" u="none" strike="noStrike" cap="none" normalizeH="0" baseline="0" dirty="0">
                          <a:ln>
                            <a:noFill/>
                          </a:ln>
                          <a:solidFill>
                            <a:schemeClr val="tx1"/>
                          </a:solidFill>
                          <a:effectLst/>
                          <a:latin typeface="Tahoma" pitchFamily="34" charset="0"/>
                          <a:ea typeface="宋体" pitchFamily="2" charset="-122"/>
                        </a:rPr>
                        <a:t>语言</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93922" name="Rectangle 34"/>
          <p:cNvSpPr>
            <a:spLocks noChangeArrowheads="1"/>
          </p:cNvSpPr>
          <p:nvPr/>
        </p:nvSpPr>
        <p:spPr bwMode="auto">
          <a:xfrm>
            <a:off x="1484313" y="3005138"/>
            <a:ext cx="2808287" cy="11525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dirty="0">
                <a:latin typeface="Times New Roman"/>
              </a:rPr>
              <a:t>“</a:t>
            </a:r>
            <a:r>
              <a:rPr lang="zh-CN" altLang="en-US" u="sng" dirty="0"/>
              <a:t>每个教师上一门课</a:t>
            </a:r>
            <a:r>
              <a:rPr lang="zh-CN" altLang="en-US" dirty="0">
                <a:latin typeface="Times New Roman"/>
              </a:rPr>
              <a:t>”</a:t>
            </a:r>
            <a:endParaRPr lang="zh-CN" altLang="en-US" dirty="0"/>
          </a:p>
          <a:p>
            <a:r>
              <a:rPr lang="zh-CN" altLang="en-US" dirty="0"/>
              <a:t>随</a:t>
            </a:r>
            <a:r>
              <a:rPr lang="zh-CN" altLang="en-US" dirty="0">
                <a:solidFill>
                  <a:srgbClr val="0000FF"/>
                </a:solidFill>
              </a:rPr>
              <a:t>选课学生</a:t>
            </a:r>
            <a:r>
              <a:rPr lang="zh-CN" altLang="en-US" dirty="0"/>
              <a:t>的</a:t>
            </a:r>
            <a:r>
              <a:rPr lang="zh-CN" altLang="en-US" dirty="0">
                <a:solidFill>
                  <a:srgbClr val="0000FF"/>
                </a:solidFill>
              </a:rPr>
              <a:t>增加</a:t>
            </a:r>
          </a:p>
          <a:p>
            <a:r>
              <a:rPr lang="zh-CN" altLang="en-US" dirty="0"/>
              <a:t>而被</a:t>
            </a:r>
            <a:r>
              <a:rPr lang="zh-CN" altLang="en-US" dirty="0">
                <a:solidFill>
                  <a:srgbClr val="0000FF"/>
                </a:solidFill>
              </a:rPr>
              <a:t>重复存储</a:t>
            </a:r>
          </a:p>
        </p:txBody>
      </p:sp>
      <p:sp>
        <p:nvSpPr>
          <p:cNvPr id="293923" name="Line 35"/>
          <p:cNvSpPr>
            <a:spLocks noChangeShapeType="1"/>
          </p:cNvSpPr>
          <p:nvPr/>
        </p:nvSpPr>
        <p:spPr bwMode="auto">
          <a:xfrm flipV="1">
            <a:off x="4292600" y="3076575"/>
            <a:ext cx="1008063" cy="5048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93924" name="Line 36"/>
          <p:cNvSpPr>
            <a:spLocks noChangeShapeType="1"/>
          </p:cNvSpPr>
          <p:nvPr/>
        </p:nvSpPr>
        <p:spPr bwMode="auto">
          <a:xfrm>
            <a:off x="4292600" y="3725863"/>
            <a:ext cx="10080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93925" name="Line 37"/>
          <p:cNvSpPr>
            <a:spLocks noChangeShapeType="1"/>
          </p:cNvSpPr>
          <p:nvPr/>
        </p:nvSpPr>
        <p:spPr bwMode="auto">
          <a:xfrm>
            <a:off x="4292600" y="3868738"/>
            <a:ext cx="1008063" cy="5048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 name="页脚占位符 2">
            <a:extLst>
              <a:ext uri="{FF2B5EF4-FFF2-40B4-BE49-F238E27FC236}">
                <a16:creationId xmlns:a16="http://schemas.microsoft.com/office/drawing/2014/main" id="{BDE9F610-4846-FD24-5C34-1C119E93BD21}"/>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C8CA118D-D605-84F7-A719-960577FCC91C}"/>
              </a:ext>
            </a:extLst>
          </p:cNvPr>
          <p:cNvSpPr>
            <a:spLocks noGrp="1"/>
          </p:cNvSpPr>
          <p:nvPr>
            <p:ph type="sldNum" sz="quarter" idx="12"/>
          </p:nvPr>
        </p:nvSpPr>
        <p:spPr/>
        <p:txBody>
          <a:bodyPr/>
          <a:lstStyle/>
          <a:p>
            <a:fld id="{A2D74603-B40B-4D66-8F6E-41C870D48932}" type="slidenum">
              <a:rPr lang="en-US" altLang="zh-CN" smtClean="0"/>
              <a:pPr/>
              <a:t>71</a:t>
            </a:fld>
            <a:r>
              <a:rPr lang="en-US" altLang="zh-CN"/>
              <a:t>/162</a:t>
            </a:r>
            <a:endParaRPr lang="en-US" altLang="zh-CN" dirty="0"/>
          </a:p>
        </p:txBody>
      </p:sp>
    </p:spTree>
    <p:extLst>
      <p:ext uri="{BB962C8B-B14F-4D97-AF65-F5344CB8AC3E}">
        <p14:creationId xmlns:p14="http://schemas.microsoft.com/office/powerpoint/2010/main" val="4228650493"/>
      </p:ext>
    </p:extLst>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FAABAB8-0F35-4E1C-91CD-3067605B522C}" type="datetime1">
              <a:rPr lang="zh-CN" altLang="en-US" smtClean="0"/>
              <a:t>2025/11/6</a:t>
            </a:fld>
            <a:endParaRPr lang="en-US" altLang="zh-CN"/>
          </a:p>
        </p:txBody>
      </p:sp>
      <p:sp>
        <p:nvSpPr>
          <p:cNvPr id="294914" name="Rectangle 2"/>
          <p:cNvSpPr>
            <a:spLocks noGrp="1" noChangeArrowheads="1"/>
          </p:cNvSpPr>
          <p:nvPr>
            <p:ph type="title"/>
          </p:nvPr>
        </p:nvSpPr>
        <p:spPr/>
        <p:txBody>
          <a:bodyPr/>
          <a:lstStyle/>
          <a:p>
            <a:r>
              <a:rPr lang="en-US" altLang="zh-CN" dirty="0"/>
              <a:t>8.2.6 BCNF</a:t>
            </a:r>
            <a:endParaRPr lang="zh-CN" altLang="en-US" dirty="0"/>
          </a:p>
        </p:txBody>
      </p:sp>
      <p:sp>
        <p:nvSpPr>
          <p:cNvPr id="294915" name="Rectangle 3"/>
          <p:cNvSpPr>
            <a:spLocks noGrp="1" noChangeArrowheads="1"/>
          </p:cNvSpPr>
          <p:nvPr>
            <p:ph type="body" idx="1"/>
          </p:nvPr>
        </p:nvSpPr>
        <p:spPr/>
        <p:txBody>
          <a:bodyPr/>
          <a:lstStyle/>
          <a:p>
            <a:r>
              <a:rPr lang="zh-CN" altLang="en-US" dirty="0"/>
              <a:t>解决方法</a:t>
            </a:r>
            <a:r>
              <a:rPr lang="en-US" altLang="zh-CN" dirty="0">
                <a:latin typeface="Arial"/>
              </a:rPr>
              <a:t>——</a:t>
            </a:r>
            <a:r>
              <a:rPr lang="zh-CN" altLang="en-US" dirty="0"/>
              <a:t>还是</a:t>
            </a:r>
            <a:r>
              <a:rPr lang="zh-CN" altLang="en-US" dirty="0">
                <a:solidFill>
                  <a:srgbClr val="FF0000"/>
                </a:solidFill>
              </a:rPr>
              <a:t>分解</a:t>
            </a:r>
          </a:p>
          <a:p>
            <a:pPr lvl="1"/>
            <a:r>
              <a:rPr lang="zh-CN" altLang="en-US" dirty="0"/>
              <a:t>分解为两个小关系模式</a:t>
            </a:r>
            <a:r>
              <a:rPr lang="en-US" altLang="zh-CN" dirty="0"/>
              <a:t>(</a:t>
            </a:r>
            <a:r>
              <a:rPr lang="zh-CN" altLang="en-US" dirty="0"/>
              <a:t>都是</a:t>
            </a:r>
            <a:r>
              <a:rPr lang="en-US" altLang="zh-CN" dirty="0"/>
              <a:t>BCNF</a:t>
            </a:r>
            <a:r>
              <a:rPr lang="zh-CN" altLang="en-US" dirty="0"/>
              <a:t>的</a:t>
            </a:r>
            <a:r>
              <a:rPr lang="en-US" altLang="zh-CN" dirty="0"/>
              <a:t>)</a:t>
            </a:r>
          </a:p>
          <a:p>
            <a:pPr lvl="2">
              <a:spcBef>
                <a:spcPct val="40000"/>
              </a:spcBef>
            </a:pPr>
            <a:r>
              <a:rPr lang="en-US" altLang="zh-CN" dirty="0"/>
              <a:t>ST(</a:t>
            </a:r>
            <a:r>
              <a:rPr lang="zh-CN" altLang="en-US" dirty="0"/>
              <a:t>学生</a:t>
            </a:r>
            <a:r>
              <a:rPr lang="en-US" altLang="zh-CN" dirty="0"/>
              <a:t>,</a:t>
            </a:r>
            <a:r>
              <a:rPr lang="zh-CN" altLang="en-US" dirty="0"/>
              <a:t>教师</a:t>
            </a:r>
            <a:r>
              <a:rPr lang="en-US" altLang="zh-CN" dirty="0"/>
              <a:t>)</a:t>
            </a:r>
          </a:p>
          <a:p>
            <a:pPr lvl="2">
              <a:spcBef>
                <a:spcPct val="40000"/>
              </a:spcBef>
            </a:pPr>
            <a:r>
              <a:rPr lang="en-US" altLang="zh-CN" dirty="0"/>
              <a:t>TJ(</a:t>
            </a:r>
            <a:r>
              <a:rPr lang="zh-CN" altLang="en-US" dirty="0"/>
              <a:t>教师</a:t>
            </a:r>
            <a:r>
              <a:rPr lang="en-US" altLang="zh-CN" dirty="0"/>
              <a:t>,</a:t>
            </a:r>
            <a:r>
              <a:rPr lang="zh-CN" altLang="en-US" dirty="0"/>
              <a:t>课程</a:t>
            </a:r>
            <a:r>
              <a:rPr lang="en-US" altLang="zh-CN" dirty="0"/>
              <a:t>)</a:t>
            </a:r>
          </a:p>
          <a:p>
            <a:pPr lvl="2">
              <a:buFont typeface="Wingdings" pitchFamily="2" charset="2"/>
              <a:buNone/>
            </a:pPr>
            <a:r>
              <a:rPr lang="zh-CN" altLang="en-US" dirty="0"/>
              <a:t>或</a:t>
            </a:r>
          </a:p>
          <a:p>
            <a:pPr lvl="2">
              <a:spcBef>
                <a:spcPct val="40000"/>
              </a:spcBef>
            </a:pPr>
            <a:r>
              <a:rPr lang="en-US" altLang="zh-CN" dirty="0"/>
              <a:t>SJ(</a:t>
            </a:r>
            <a:r>
              <a:rPr lang="zh-CN" altLang="en-US" dirty="0"/>
              <a:t>学生</a:t>
            </a:r>
            <a:r>
              <a:rPr lang="en-US" altLang="zh-CN" dirty="0"/>
              <a:t>,</a:t>
            </a:r>
            <a:r>
              <a:rPr lang="zh-CN" altLang="en-US" dirty="0"/>
              <a:t>课程</a:t>
            </a:r>
            <a:r>
              <a:rPr lang="en-US" altLang="zh-CN" dirty="0"/>
              <a:t>)</a:t>
            </a:r>
          </a:p>
          <a:p>
            <a:pPr lvl="2">
              <a:spcBef>
                <a:spcPct val="40000"/>
              </a:spcBef>
            </a:pPr>
            <a:r>
              <a:rPr lang="en-US" altLang="zh-CN" dirty="0"/>
              <a:t>TJ(</a:t>
            </a:r>
            <a:r>
              <a:rPr lang="zh-CN" altLang="en-US" dirty="0"/>
              <a:t>教师</a:t>
            </a:r>
            <a:r>
              <a:rPr lang="en-US" altLang="zh-CN" dirty="0"/>
              <a:t>,</a:t>
            </a:r>
            <a:r>
              <a:rPr lang="zh-CN" altLang="en-US" dirty="0"/>
              <a:t>课程</a:t>
            </a:r>
            <a:r>
              <a:rPr lang="en-US" altLang="zh-CN" dirty="0"/>
              <a:t>)</a:t>
            </a:r>
          </a:p>
          <a:p>
            <a:pPr lvl="2"/>
            <a:endParaRPr lang="zh-CN" altLang="en-US" dirty="0"/>
          </a:p>
          <a:p>
            <a:endParaRPr lang="zh-CN" altLang="en-US" dirty="0"/>
          </a:p>
        </p:txBody>
      </p:sp>
      <p:sp>
        <p:nvSpPr>
          <p:cNvPr id="3" name="页脚占位符 2">
            <a:extLst>
              <a:ext uri="{FF2B5EF4-FFF2-40B4-BE49-F238E27FC236}">
                <a16:creationId xmlns:a16="http://schemas.microsoft.com/office/drawing/2014/main" id="{9CA01124-E4EA-C43E-5C58-2BFE56A509B4}"/>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75C19158-F573-7D22-986F-DF05574CD855}"/>
              </a:ext>
            </a:extLst>
          </p:cNvPr>
          <p:cNvSpPr>
            <a:spLocks noGrp="1"/>
          </p:cNvSpPr>
          <p:nvPr>
            <p:ph type="sldNum" sz="quarter" idx="12"/>
          </p:nvPr>
        </p:nvSpPr>
        <p:spPr/>
        <p:txBody>
          <a:bodyPr/>
          <a:lstStyle/>
          <a:p>
            <a:fld id="{A2D74603-B40B-4D66-8F6E-41C870D48932}" type="slidenum">
              <a:rPr lang="en-US" altLang="zh-CN" smtClean="0"/>
              <a:pPr/>
              <a:t>72</a:t>
            </a:fld>
            <a:r>
              <a:rPr lang="en-US" altLang="zh-CN"/>
              <a:t>/162</a:t>
            </a:r>
            <a:endParaRPr lang="en-US" altLang="zh-CN" dirty="0"/>
          </a:p>
        </p:txBody>
      </p:sp>
    </p:spTree>
    <p:extLst>
      <p:ext uri="{BB962C8B-B14F-4D97-AF65-F5344CB8AC3E}">
        <p14:creationId xmlns:p14="http://schemas.microsoft.com/office/powerpoint/2010/main" val="3421860091"/>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half" idx="10"/>
          </p:nvPr>
        </p:nvSpPr>
        <p:spPr/>
        <p:txBody>
          <a:bodyPr/>
          <a:lstStyle/>
          <a:p>
            <a:fld id="{E03DBF75-2A02-48F7-9FF2-C81AB9A3A181}" type="datetime1">
              <a:rPr lang="zh-CN" altLang="en-US" smtClean="0"/>
              <a:t>2025/11/6</a:t>
            </a:fld>
            <a:endParaRPr lang="en-US" altLang="zh-CN"/>
          </a:p>
        </p:txBody>
      </p:sp>
      <p:sp>
        <p:nvSpPr>
          <p:cNvPr id="295938" name="Rectangle 2"/>
          <p:cNvSpPr>
            <a:spLocks noGrp="1" noChangeArrowheads="1"/>
          </p:cNvSpPr>
          <p:nvPr>
            <p:ph type="title"/>
          </p:nvPr>
        </p:nvSpPr>
        <p:spPr/>
        <p:txBody>
          <a:bodyPr/>
          <a:lstStyle/>
          <a:p>
            <a:r>
              <a:rPr lang="en-US" altLang="zh-CN" dirty="0"/>
              <a:t>8.2.6 BCNF</a:t>
            </a:r>
            <a:endParaRPr lang="zh-CN" altLang="en-US" dirty="0"/>
          </a:p>
        </p:txBody>
      </p:sp>
      <p:sp>
        <p:nvSpPr>
          <p:cNvPr id="295939" name="Rectangle 3"/>
          <p:cNvSpPr>
            <a:spLocks noGrp="1" noChangeArrowheads="1"/>
          </p:cNvSpPr>
          <p:nvPr>
            <p:ph type="body" idx="1"/>
          </p:nvPr>
        </p:nvSpPr>
        <p:spPr/>
        <p:txBody>
          <a:bodyPr/>
          <a:lstStyle/>
          <a:p>
            <a:r>
              <a:rPr lang="zh-CN" altLang="en-US" dirty="0"/>
              <a:t>解决方法</a:t>
            </a:r>
            <a:r>
              <a:rPr lang="en-US" altLang="zh-CN" dirty="0">
                <a:latin typeface="Arial"/>
              </a:rPr>
              <a:t>——</a:t>
            </a:r>
            <a:r>
              <a:rPr lang="zh-CN" altLang="en-US" dirty="0"/>
              <a:t>还是</a:t>
            </a:r>
            <a:r>
              <a:rPr lang="zh-CN" altLang="en-US" dirty="0">
                <a:solidFill>
                  <a:srgbClr val="FF0000"/>
                </a:solidFill>
              </a:rPr>
              <a:t>分解</a:t>
            </a:r>
          </a:p>
          <a:p>
            <a:pPr lvl="1"/>
            <a:r>
              <a:rPr lang="zh-CN" altLang="en-US" dirty="0"/>
              <a:t>分解为两个小关系模式</a:t>
            </a:r>
            <a:r>
              <a:rPr lang="en-US" altLang="zh-CN" dirty="0"/>
              <a:t>(</a:t>
            </a:r>
            <a:r>
              <a:rPr lang="zh-CN" altLang="en-US" dirty="0"/>
              <a:t>都是</a:t>
            </a:r>
            <a:r>
              <a:rPr lang="en-US" altLang="zh-CN" dirty="0"/>
              <a:t>BCNF</a:t>
            </a:r>
            <a:r>
              <a:rPr lang="zh-CN" altLang="en-US" dirty="0"/>
              <a:t>的</a:t>
            </a:r>
            <a:r>
              <a:rPr lang="en-US" altLang="zh-CN" dirty="0"/>
              <a:t>)</a:t>
            </a:r>
          </a:p>
          <a:p>
            <a:pPr lvl="2">
              <a:spcBef>
                <a:spcPct val="40000"/>
              </a:spcBef>
            </a:pPr>
            <a:r>
              <a:rPr lang="en-US" altLang="zh-CN" dirty="0"/>
              <a:t>ST(</a:t>
            </a:r>
            <a:r>
              <a:rPr lang="zh-CN" altLang="en-US" dirty="0"/>
              <a:t>学生</a:t>
            </a:r>
            <a:r>
              <a:rPr lang="en-US" altLang="zh-CN" dirty="0"/>
              <a:t>,</a:t>
            </a:r>
            <a:r>
              <a:rPr lang="zh-CN" altLang="en-US" dirty="0"/>
              <a:t>教师</a:t>
            </a:r>
            <a:r>
              <a:rPr lang="en-US" altLang="zh-CN" dirty="0"/>
              <a:t>)</a:t>
            </a:r>
          </a:p>
          <a:p>
            <a:pPr lvl="2">
              <a:spcBef>
                <a:spcPct val="40000"/>
              </a:spcBef>
            </a:pPr>
            <a:r>
              <a:rPr lang="en-US" altLang="zh-CN" dirty="0"/>
              <a:t>TJ(</a:t>
            </a:r>
            <a:r>
              <a:rPr lang="zh-CN" altLang="en-US" dirty="0"/>
              <a:t>教师</a:t>
            </a:r>
            <a:r>
              <a:rPr lang="en-US" altLang="zh-CN" dirty="0"/>
              <a:t>,</a:t>
            </a:r>
            <a:r>
              <a:rPr lang="zh-CN" altLang="en-US" dirty="0"/>
              <a:t>课程</a:t>
            </a:r>
            <a:r>
              <a:rPr lang="en-US" altLang="zh-CN" dirty="0"/>
              <a:t>)</a:t>
            </a:r>
          </a:p>
          <a:p>
            <a:pPr lvl="2">
              <a:buFont typeface="Wingdings" pitchFamily="2" charset="2"/>
              <a:buNone/>
            </a:pPr>
            <a:r>
              <a:rPr lang="zh-CN" altLang="en-US" dirty="0"/>
              <a:t>或</a:t>
            </a:r>
          </a:p>
          <a:p>
            <a:pPr lvl="2">
              <a:spcBef>
                <a:spcPct val="40000"/>
              </a:spcBef>
            </a:pPr>
            <a:r>
              <a:rPr lang="en-US" altLang="zh-CN" dirty="0"/>
              <a:t>SJ(</a:t>
            </a:r>
            <a:r>
              <a:rPr lang="zh-CN" altLang="en-US" dirty="0"/>
              <a:t>学生</a:t>
            </a:r>
            <a:r>
              <a:rPr lang="en-US" altLang="zh-CN" dirty="0"/>
              <a:t>,</a:t>
            </a:r>
            <a:r>
              <a:rPr lang="zh-CN" altLang="en-US" dirty="0"/>
              <a:t>课程</a:t>
            </a:r>
            <a:r>
              <a:rPr lang="en-US" altLang="zh-CN" dirty="0"/>
              <a:t>)</a:t>
            </a:r>
          </a:p>
          <a:p>
            <a:pPr lvl="2">
              <a:spcBef>
                <a:spcPct val="40000"/>
              </a:spcBef>
            </a:pPr>
            <a:r>
              <a:rPr lang="en-US" altLang="zh-CN" dirty="0"/>
              <a:t>TJ(</a:t>
            </a:r>
            <a:r>
              <a:rPr lang="zh-CN" altLang="en-US" dirty="0"/>
              <a:t>教师</a:t>
            </a:r>
            <a:r>
              <a:rPr lang="en-US" altLang="zh-CN" dirty="0"/>
              <a:t>,</a:t>
            </a:r>
            <a:r>
              <a:rPr lang="zh-CN" altLang="en-US" dirty="0"/>
              <a:t>课程</a:t>
            </a:r>
            <a:r>
              <a:rPr lang="en-US" altLang="zh-CN" dirty="0"/>
              <a:t>)</a:t>
            </a:r>
          </a:p>
          <a:p>
            <a:pPr lvl="2"/>
            <a:endParaRPr lang="zh-CN" altLang="en-US" dirty="0"/>
          </a:p>
          <a:p>
            <a:endParaRPr lang="zh-CN" altLang="en-US" dirty="0"/>
          </a:p>
        </p:txBody>
      </p:sp>
      <p:sp>
        <p:nvSpPr>
          <p:cNvPr id="295940" name="Rectangle 4"/>
          <p:cNvSpPr>
            <a:spLocks noChangeArrowheads="1"/>
          </p:cNvSpPr>
          <p:nvPr/>
        </p:nvSpPr>
        <p:spPr bwMode="auto">
          <a:xfrm>
            <a:off x="4711700" y="2560638"/>
            <a:ext cx="2374900" cy="208756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dirty="0"/>
              <a:t>两种分解都损失</a:t>
            </a:r>
          </a:p>
          <a:p>
            <a:r>
              <a:rPr lang="zh-CN" altLang="en-US" dirty="0"/>
              <a:t>了：</a:t>
            </a:r>
            <a:r>
              <a:rPr lang="zh-CN" altLang="en-US" dirty="0">
                <a:latin typeface="Times New Roman"/>
              </a:rPr>
              <a:t>“</a:t>
            </a:r>
            <a:r>
              <a:rPr lang="zh-CN" altLang="en-US" dirty="0"/>
              <a:t>一个学生</a:t>
            </a:r>
          </a:p>
          <a:p>
            <a:r>
              <a:rPr lang="zh-CN" altLang="en-US" dirty="0"/>
              <a:t>选定某门课程，</a:t>
            </a:r>
          </a:p>
          <a:p>
            <a:r>
              <a:rPr lang="zh-CN" altLang="en-US" dirty="0"/>
              <a:t>就对应一个固定</a:t>
            </a:r>
          </a:p>
          <a:p>
            <a:r>
              <a:rPr lang="zh-CN" altLang="en-US" dirty="0"/>
              <a:t>的教师</a:t>
            </a:r>
            <a:r>
              <a:rPr lang="zh-CN" altLang="en-US" dirty="0">
                <a:latin typeface="Times New Roman"/>
              </a:rPr>
              <a:t>”</a:t>
            </a:r>
            <a:r>
              <a:rPr lang="zh-CN" altLang="en-US" dirty="0"/>
              <a:t>语义</a:t>
            </a:r>
          </a:p>
        </p:txBody>
      </p:sp>
      <p:sp>
        <p:nvSpPr>
          <p:cNvPr id="295941" name="Line 5"/>
          <p:cNvSpPr>
            <a:spLocks noChangeShapeType="1"/>
          </p:cNvSpPr>
          <p:nvPr/>
        </p:nvSpPr>
        <p:spPr bwMode="auto">
          <a:xfrm flipH="1">
            <a:off x="3846513" y="2921000"/>
            <a:ext cx="79216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95942" name="Line 6"/>
          <p:cNvSpPr>
            <a:spLocks noChangeShapeType="1"/>
          </p:cNvSpPr>
          <p:nvPr/>
        </p:nvSpPr>
        <p:spPr bwMode="auto">
          <a:xfrm flipH="1">
            <a:off x="3702050" y="3568700"/>
            <a:ext cx="1009650" cy="7921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 name="页脚占位符 2">
            <a:extLst>
              <a:ext uri="{FF2B5EF4-FFF2-40B4-BE49-F238E27FC236}">
                <a16:creationId xmlns:a16="http://schemas.microsoft.com/office/drawing/2014/main" id="{63D46584-9DCB-2512-6810-F97FE478602A}"/>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22127768-D499-8899-5B3E-C5BBFD692085}"/>
              </a:ext>
            </a:extLst>
          </p:cNvPr>
          <p:cNvSpPr>
            <a:spLocks noGrp="1"/>
          </p:cNvSpPr>
          <p:nvPr>
            <p:ph type="sldNum" sz="quarter" idx="12"/>
          </p:nvPr>
        </p:nvSpPr>
        <p:spPr/>
        <p:txBody>
          <a:bodyPr/>
          <a:lstStyle/>
          <a:p>
            <a:fld id="{A2D74603-B40B-4D66-8F6E-41C870D48932}" type="slidenum">
              <a:rPr lang="en-US" altLang="zh-CN" smtClean="0"/>
              <a:pPr/>
              <a:t>73</a:t>
            </a:fld>
            <a:r>
              <a:rPr lang="en-US" altLang="zh-CN"/>
              <a:t>/162</a:t>
            </a:r>
            <a:endParaRPr lang="en-US" altLang="zh-CN" dirty="0"/>
          </a:p>
        </p:txBody>
      </p:sp>
    </p:spTree>
    <p:extLst>
      <p:ext uri="{BB962C8B-B14F-4D97-AF65-F5344CB8AC3E}">
        <p14:creationId xmlns:p14="http://schemas.microsoft.com/office/powerpoint/2010/main" val="2526914340"/>
      </p:ext>
    </p:ext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日期占位符 3"/>
          <p:cNvSpPr>
            <a:spLocks noGrp="1"/>
          </p:cNvSpPr>
          <p:nvPr>
            <p:ph type="dt" sz="half" idx="10"/>
          </p:nvPr>
        </p:nvSpPr>
        <p:spPr/>
        <p:txBody>
          <a:bodyPr/>
          <a:lstStyle/>
          <a:p>
            <a:fld id="{93C594AD-8A9D-4490-80BA-5927061919BF}" type="datetime1">
              <a:rPr lang="zh-CN" altLang="en-US" smtClean="0"/>
              <a:t>2025/11/6</a:t>
            </a:fld>
            <a:endParaRPr lang="en-US" altLang="zh-CN"/>
          </a:p>
        </p:txBody>
      </p:sp>
      <p:sp>
        <p:nvSpPr>
          <p:cNvPr id="297986" name="Rectangle 2"/>
          <p:cNvSpPr>
            <a:spLocks noGrp="1" noChangeArrowheads="1"/>
          </p:cNvSpPr>
          <p:nvPr>
            <p:ph type="title"/>
          </p:nvPr>
        </p:nvSpPr>
        <p:spPr/>
        <p:txBody>
          <a:bodyPr/>
          <a:lstStyle/>
          <a:p>
            <a:r>
              <a:rPr lang="en-US" altLang="zh-CN" dirty="0"/>
              <a:t>8.2.6 BCNF</a:t>
            </a:r>
            <a:endParaRPr lang="zh-CN" altLang="en-US" dirty="0"/>
          </a:p>
        </p:txBody>
      </p:sp>
      <p:sp>
        <p:nvSpPr>
          <p:cNvPr id="297987" name="Rectangle 3"/>
          <p:cNvSpPr>
            <a:spLocks noGrp="1" noChangeArrowheads="1"/>
          </p:cNvSpPr>
          <p:nvPr>
            <p:ph type="body" idx="1"/>
          </p:nvPr>
        </p:nvSpPr>
        <p:spPr/>
        <p:txBody>
          <a:bodyPr/>
          <a:lstStyle/>
          <a:p>
            <a:r>
              <a:rPr lang="zh-CN" altLang="en-US" dirty="0"/>
              <a:t>解决方法</a:t>
            </a:r>
            <a:r>
              <a:rPr lang="en-US" altLang="zh-CN" dirty="0">
                <a:latin typeface="Arial"/>
              </a:rPr>
              <a:t>——</a:t>
            </a:r>
            <a:r>
              <a:rPr lang="zh-CN" altLang="en-US" dirty="0"/>
              <a:t>还是</a:t>
            </a:r>
            <a:r>
              <a:rPr lang="zh-CN" altLang="en-US" dirty="0">
                <a:solidFill>
                  <a:srgbClr val="FF0000"/>
                </a:solidFill>
              </a:rPr>
              <a:t>分解</a:t>
            </a:r>
          </a:p>
          <a:p>
            <a:pPr lvl="1"/>
            <a:r>
              <a:rPr lang="zh-CN" altLang="en-US" dirty="0"/>
              <a:t>分解为两个小关系模式</a:t>
            </a:r>
            <a:r>
              <a:rPr lang="en-US" altLang="zh-CN" dirty="0"/>
              <a:t>(</a:t>
            </a:r>
            <a:r>
              <a:rPr lang="zh-CN" altLang="en-US" dirty="0"/>
              <a:t>都是</a:t>
            </a:r>
            <a:r>
              <a:rPr lang="en-US" altLang="zh-CN" dirty="0"/>
              <a:t>BCNF</a:t>
            </a:r>
            <a:r>
              <a:rPr lang="zh-CN" altLang="en-US" dirty="0"/>
              <a:t>的</a:t>
            </a:r>
            <a:r>
              <a:rPr lang="en-US" altLang="zh-CN" dirty="0"/>
              <a:t>)</a:t>
            </a:r>
          </a:p>
          <a:p>
            <a:pPr lvl="2">
              <a:spcBef>
                <a:spcPct val="40000"/>
              </a:spcBef>
            </a:pPr>
            <a:r>
              <a:rPr lang="en-US" altLang="zh-CN" dirty="0"/>
              <a:t>ST(</a:t>
            </a:r>
            <a:r>
              <a:rPr lang="zh-CN" altLang="en-US" dirty="0"/>
              <a:t>学生</a:t>
            </a:r>
            <a:r>
              <a:rPr lang="en-US" altLang="zh-CN" dirty="0"/>
              <a:t>,</a:t>
            </a:r>
            <a:r>
              <a:rPr lang="zh-CN" altLang="en-US" dirty="0"/>
              <a:t>教师</a:t>
            </a:r>
            <a:r>
              <a:rPr lang="en-US" altLang="zh-CN" dirty="0"/>
              <a:t>)</a:t>
            </a:r>
          </a:p>
          <a:p>
            <a:pPr lvl="2">
              <a:spcBef>
                <a:spcPct val="40000"/>
              </a:spcBef>
            </a:pPr>
            <a:r>
              <a:rPr lang="en-US" altLang="zh-CN" dirty="0"/>
              <a:t>TJ(</a:t>
            </a:r>
            <a:r>
              <a:rPr lang="zh-CN" altLang="en-US" dirty="0"/>
              <a:t>教师</a:t>
            </a:r>
            <a:r>
              <a:rPr lang="en-US" altLang="zh-CN" dirty="0"/>
              <a:t>,</a:t>
            </a:r>
            <a:r>
              <a:rPr lang="zh-CN" altLang="en-US" dirty="0"/>
              <a:t>课程</a:t>
            </a:r>
            <a:r>
              <a:rPr lang="en-US" altLang="zh-CN" dirty="0"/>
              <a:t>)</a:t>
            </a:r>
          </a:p>
          <a:p>
            <a:pPr lvl="2">
              <a:buFont typeface="Wingdings" pitchFamily="2" charset="2"/>
              <a:buNone/>
            </a:pPr>
            <a:r>
              <a:rPr lang="zh-CN" altLang="en-US" dirty="0"/>
              <a:t>或</a:t>
            </a:r>
          </a:p>
          <a:p>
            <a:pPr lvl="2">
              <a:spcBef>
                <a:spcPct val="40000"/>
              </a:spcBef>
            </a:pPr>
            <a:r>
              <a:rPr lang="en-US" altLang="zh-CN" dirty="0"/>
              <a:t>SJ(</a:t>
            </a:r>
            <a:r>
              <a:rPr lang="zh-CN" altLang="en-US" dirty="0"/>
              <a:t>学生</a:t>
            </a:r>
            <a:r>
              <a:rPr lang="en-US" altLang="zh-CN" dirty="0"/>
              <a:t>,</a:t>
            </a:r>
            <a:r>
              <a:rPr lang="zh-CN" altLang="en-US" dirty="0"/>
              <a:t>课程</a:t>
            </a:r>
            <a:r>
              <a:rPr lang="en-US" altLang="zh-CN" dirty="0"/>
              <a:t>)</a:t>
            </a:r>
          </a:p>
          <a:p>
            <a:pPr lvl="2">
              <a:spcBef>
                <a:spcPct val="40000"/>
              </a:spcBef>
            </a:pPr>
            <a:r>
              <a:rPr lang="en-US" altLang="zh-CN" dirty="0"/>
              <a:t>TJ(</a:t>
            </a:r>
            <a:r>
              <a:rPr lang="zh-CN" altLang="en-US" dirty="0"/>
              <a:t>教师</a:t>
            </a:r>
            <a:r>
              <a:rPr lang="en-US" altLang="zh-CN" dirty="0"/>
              <a:t>,</a:t>
            </a:r>
            <a:r>
              <a:rPr lang="zh-CN" altLang="en-US" dirty="0"/>
              <a:t>课程</a:t>
            </a:r>
            <a:r>
              <a:rPr lang="en-US" altLang="zh-CN" dirty="0"/>
              <a:t>)</a:t>
            </a:r>
          </a:p>
          <a:p>
            <a:pPr lvl="2"/>
            <a:endParaRPr lang="zh-CN" altLang="en-US" dirty="0"/>
          </a:p>
          <a:p>
            <a:endParaRPr lang="zh-CN" altLang="en-US" dirty="0"/>
          </a:p>
        </p:txBody>
      </p:sp>
      <p:sp>
        <p:nvSpPr>
          <p:cNvPr id="297988" name="Rectangle 4"/>
          <p:cNvSpPr>
            <a:spLocks noChangeArrowheads="1"/>
          </p:cNvSpPr>
          <p:nvPr/>
        </p:nvSpPr>
        <p:spPr bwMode="auto">
          <a:xfrm>
            <a:off x="4711700" y="2560638"/>
            <a:ext cx="2374900" cy="208756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a:t>两种分解都损失</a:t>
            </a:r>
          </a:p>
          <a:p>
            <a:r>
              <a:rPr lang="zh-CN" altLang="en-US"/>
              <a:t>了：</a:t>
            </a:r>
            <a:r>
              <a:rPr lang="zh-CN" altLang="en-US">
                <a:latin typeface="Times New Roman"/>
              </a:rPr>
              <a:t>“</a:t>
            </a:r>
            <a:r>
              <a:rPr lang="zh-CN" altLang="en-US"/>
              <a:t>一个学生</a:t>
            </a:r>
          </a:p>
          <a:p>
            <a:r>
              <a:rPr lang="zh-CN" altLang="en-US"/>
              <a:t>选定某门课程，</a:t>
            </a:r>
          </a:p>
          <a:p>
            <a:r>
              <a:rPr lang="zh-CN" altLang="en-US"/>
              <a:t>就对应一个固定</a:t>
            </a:r>
          </a:p>
          <a:p>
            <a:r>
              <a:rPr lang="zh-CN" altLang="en-US"/>
              <a:t>的教师</a:t>
            </a:r>
            <a:r>
              <a:rPr lang="zh-CN" altLang="en-US">
                <a:latin typeface="Times New Roman"/>
              </a:rPr>
              <a:t>”</a:t>
            </a:r>
            <a:r>
              <a:rPr lang="zh-CN" altLang="en-US"/>
              <a:t>语义</a:t>
            </a:r>
          </a:p>
        </p:txBody>
      </p:sp>
      <p:sp>
        <p:nvSpPr>
          <p:cNvPr id="297989" name="Line 5"/>
          <p:cNvSpPr>
            <a:spLocks noChangeShapeType="1"/>
          </p:cNvSpPr>
          <p:nvPr/>
        </p:nvSpPr>
        <p:spPr bwMode="auto">
          <a:xfrm flipH="1">
            <a:off x="3846513" y="2921000"/>
            <a:ext cx="79216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97990" name="Line 6"/>
          <p:cNvSpPr>
            <a:spLocks noChangeShapeType="1"/>
          </p:cNvSpPr>
          <p:nvPr/>
        </p:nvSpPr>
        <p:spPr bwMode="auto">
          <a:xfrm flipH="1">
            <a:off x="3702050" y="3568700"/>
            <a:ext cx="1009650" cy="7921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97991" name="Line 7"/>
          <p:cNvSpPr>
            <a:spLocks noChangeShapeType="1"/>
          </p:cNvSpPr>
          <p:nvPr/>
        </p:nvSpPr>
        <p:spPr bwMode="auto">
          <a:xfrm>
            <a:off x="5924550" y="4648200"/>
            <a:ext cx="0" cy="358775"/>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97992" name="Rectangle 8"/>
          <p:cNvSpPr>
            <a:spLocks noChangeArrowheads="1"/>
          </p:cNvSpPr>
          <p:nvPr/>
        </p:nvSpPr>
        <p:spPr bwMode="auto">
          <a:xfrm>
            <a:off x="3621088" y="5078413"/>
            <a:ext cx="4608512" cy="86518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dirty="0">
                <a:solidFill>
                  <a:srgbClr val="FF0000"/>
                </a:solidFill>
              </a:rPr>
              <a:t>函数依赖</a:t>
            </a:r>
            <a:r>
              <a:rPr lang="zh-CN" altLang="en-US" dirty="0">
                <a:latin typeface="Times New Roman"/>
              </a:rPr>
              <a:t>“</a:t>
            </a:r>
            <a:r>
              <a:rPr lang="en-US" altLang="zh-CN" dirty="0"/>
              <a:t>(</a:t>
            </a:r>
            <a:r>
              <a:rPr lang="zh-CN" altLang="en-US" dirty="0"/>
              <a:t>学生</a:t>
            </a:r>
            <a:r>
              <a:rPr lang="en-US" altLang="zh-CN" dirty="0"/>
              <a:t>,</a:t>
            </a:r>
            <a:r>
              <a:rPr lang="zh-CN" altLang="en-US" dirty="0"/>
              <a:t>课程</a:t>
            </a:r>
            <a:r>
              <a:rPr lang="en-US" altLang="zh-CN" dirty="0"/>
              <a:t>)-&gt;</a:t>
            </a:r>
            <a:r>
              <a:rPr lang="zh-CN" altLang="en-US" dirty="0"/>
              <a:t>教师</a:t>
            </a:r>
            <a:r>
              <a:rPr lang="zh-CN" altLang="en-US" dirty="0">
                <a:latin typeface="Times New Roman"/>
              </a:rPr>
              <a:t>”</a:t>
            </a:r>
            <a:endParaRPr lang="zh-CN" altLang="en-US" dirty="0"/>
          </a:p>
          <a:p>
            <a:r>
              <a:rPr lang="zh-CN" altLang="en-US" dirty="0"/>
              <a:t>在分解后</a:t>
            </a:r>
            <a:r>
              <a:rPr lang="zh-CN" altLang="en-US" dirty="0">
                <a:solidFill>
                  <a:srgbClr val="FF0000"/>
                </a:solidFill>
              </a:rPr>
              <a:t>没有保持</a:t>
            </a:r>
            <a:r>
              <a:rPr lang="zh-CN" altLang="en-US" dirty="0"/>
              <a:t>！</a:t>
            </a:r>
          </a:p>
        </p:txBody>
      </p:sp>
      <p:sp>
        <p:nvSpPr>
          <p:cNvPr id="3" name="页脚占位符 2">
            <a:extLst>
              <a:ext uri="{FF2B5EF4-FFF2-40B4-BE49-F238E27FC236}">
                <a16:creationId xmlns:a16="http://schemas.microsoft.com/office/drawing/2014/main" id="{8BA93F0F-EEE3-C7B4-5345-9F3BC9EB4B6B}"/>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CAB44D56-8778-D4C6-6F3A-4E1EB30AEFE3}"/>
              </a:ext>
            </a:extLst>
          </p:cNvPr>
          <p:cNvSpPr>
            <a:spLocks noGrp="1"/>
          </p:cNvSpPr>
          <p:nvPr>
            <p:ph type="sldNum" sz="quarter" idx="12"/>
          </p:nvPr>
        </p:nvSpPr>
        <p:spPr/>
        <p:txBody>
          <a:bodyPr/>
          <a:lstStyle/>
          <a:p>
            <a:fld id="{A2D74603-B40B-4D66-8F6E-41C870D48932}" type="slidenum">
              <a:rPr lang="en-US" altLang="zh-CN" smtClean="0"/>
              <a:pPr/>
              <a:t>74</a:t>
            </a:fld>
            <a:r>
              <a:rPr lang="en-US" altLang="zh-CN"/>
              <a:t>/162</a:t>
            </a:r>
            <a:endParaRPr lang="en-US" altLang="zh-CN" dirty="0"/>
          </a:p>
        </p:txBody>
      </p:sp>
    </p:spTree>
    <p:extLst>
      <p:ext uri="{BB962C8B-B14F-4D97-AF65-F5344CB8AC3E}">
        <p14:creationId xmlns:p14="http://schemas.microsoft.com/office/powerpoint/2010/main" val="1051078637"/>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回顾</a:t>
            </a:r>
          </a:p>
        </p:txBody>
      </p:sp>
      <p:sp>
        <p:nvSpPr>
          <p:cNvPr id="4" name="日期占位符 3"/>
          <p:cNvSpPr>
            <a:spLocks noGrp="1"/>
          </p:cNvSpPr>
          <p:nvPr>
            <p:ph type="dt" sz="half" idx="10"/>
          </p:nvPr>
        </p:nvSpPr>
        <p:spPr/>
        <p:txBody>
          <a:bodyPr/>
          <a:lstStyle/>
          <a:p>
            <a:fld id="{3C463766-E9AC-4575-9823-ED3AB999B9D5}" type="datetime1">
              <a:rPr lang="zh-CN" altLang="en-US" smtClean="0"/>
              <a:t>2025/11/6</a:t>
            </a:fld>
            <a:endParaRPr lang="en-US" altLang="zh-CN" dirty="0"/>
          </a:p>
        </p:txBody>
      </p:sp>
      <p:sp>
        <p:nvSpPr>
          <p:cNvPr id="7" name="Rectangle 3"/>
          <p:cNvSpPr>
            <a:spLocks noGrp="1" noChangeArrowheads="1"/>
          </p:cNvSpPr>
          <p:nvPr>
            <p:ph idx="1"/>
          </p:nvPr>
        </p:nvSpPr>
        <p:spPr>
          <a:xfrm>
            <a:off x="533400" y="1524000"/>
            <a:ext cx="8071048" cy="3810000"/>
          </a:xfrm>
        </p:spPr>
        <p:txBody>
          <a:bodyPr/>
          <a:lstStyle/>
          <a:p>
            <a:pPr>
              <a:lnSpc>
                <a:spcPct val="80000"/>
              </a:lnSpc>
              <a:buNone/>
            </a:pPr>
            <a:r>
              <a:rPr lang="en-US" altLang="zh-CN" sz="2800" dirty="0"/>
              <a:t>   1NF</a:t>
            </a:r>
            <a:r>
              <a:rPr lang="zh-CN" altLang="en-US" sz="2800" dirty="0"/>
              <a:t>：每个分量是</a:t>
            </a:r>
            <a:r>
              <a:rPr lang="zh-CN" altLang="en-US" sz="2800" b="1" dirty="0">
                <a:solidFill>
                  <a:srgbClr val="C00000"/>
                </a:solidFill>
              </a:rPr>
              <a:t>不可分</a:t>
            </a:r>
            <a:r>
              <a:rPr lang="zh-CN" altLang="en-US" sz="2800" dirty="0"/>
              <a:t>的数据项。</a:t>
            </a:r>
          </a:p>
          <a:p>
            <a:pPr>
              <a:lnSpc>
                <a:spcPct val="80000"/>
              </a:lnSpc>
              <a:buNone/>
            </a:pPr>
            <a:r>
              <a:rPr lang="zh-CN" altLang="en-US" sz="2800" dirty="0"/>
              <a:t>	∪</a:t>
            </a:r>
          </a:p>
          <a:p>
            <a:pPr>
              <a:lnSpc>
                <a:spcPct val="80000"/>
              </a:lnSpc>
              <a:buNone/>
            </a:pPr>
            <a:r>
              <a:rPr lang="zh-CN" altLang="en-US" sz="2800" dirty="0"/>
              <a:t>	</a:t>
            </a:r>
            <a:r>
              <a:rPr lang="en-US" altLang="zh-CN" sz="2800" dirty="0"/>
              <a:t>2NF</a:t>
            </a:r>
            <a:r>
              <a:rPr lang="zh-CN" altLang="en-US" sz="2800" dirty="0"/>
              <a:t>：非主属性</a:t>
            </a:r>
            <a:r>
              <a:rPr lang="zh-CN" altLang="en-US" sz="2800" b="1" dirty="0">
                <a:solidFill>
                  <a:schemeClr val="tx2"/>
                </a:solidFill>
              </a:rPr>
              <a:t>完全函数依赖于</a:t>
            </a:r>
            <a:r>
              <a:rPr lang="zh-CN" altLang="en-US" sz="2800" b="1" dirty="0">
                <a:solidFill>
                  <a:srgbClr val="C00000"/>
                </a:solidFill>
              </a:rPr>
              <a:t>码</a:t>
            </a:r>
            <a:r>
              <a:rPr lang="zh-CN" altLang="en-US" sz="2800" dirty="0"/>
              <a:t>。</a:t>
            </a:r>
          </a:p>
          <a:p>
            <a:pPr>
              <a:lnSpc>
                <a:spcPct val="80000"/>
              </a:lnSpc>
              <a:buNone/>
            </a:pPr>
            <a:r>
              <a:rPr lang="zh-CN" altLang="en-US" sz="2800" dirty="0"/>
              <a:t>	∪</a:t>
            </a:r>
          </a:p>
          <a:p>
            <a:pPr>
              <a:lnSpc>
                <a:spcPct val="80000"/>
              </a:lnSpc>
              <a:buNone/>
            </a:pPr>
            <a:r>
              <a:rPr lang="zh-CN" altLang="en-US" sz="2800" dirty="0"/>
              <a:t>	</a:t>
            </a:r>
            <a:r>
              <a:rPr lang="en-US" altLang="zh-CN" sz="2800" dirty="0"/>
              <a:t>3NF</a:t>
            </a:r>
            <a:r>
              <a:rPr lang="zh-CN" altLang="en-US" sz="2800" dirty="0"/>
              <a:t>：非主属性</a:t>
            </a:r>
            <a:r>
              <a:rPr lang="zh-CN" altLang="en-US" sz="2800" b="1" dirty="0">
                <a:solidFill>
                  <a:srgbClr val="FF0000"/>
                </a:solidFill>
              </a:rPr>
              <a:t>既不</a:t>
            </a:r>
            <a:r>
              <a:rPr lang="zh-CN" altLang="en-US" sz="2800" b="1" dirty="0">
                <a:solidFill>
                  <a:schemeClr val="tx2"/>
                </a:solidFill>
              </a:rPr>
              <a:t>部分依赖于</a:t>
            </a:r>
            <a:r>
              <a:rPr lang="zh-CN" altLang="en-US" sz="2800" b="1" dirty="0">
                <a:solidFill>
                  <a:srgbClr val="0000FF"/>
                </a:solidFill>
              </a:rPr>
              <a:t>码</a:t>
            </a:r>
            <a:r>
              <a:rPr lang="zh-CN" altLang="en-US" sz="2800" b="1" dirty="0">
                <a:solidFill>
                  <a:srgbClr val="FF0000"/>
                </a:solidFill>
              </a:rPr>
              <a:t>也不</a:t>
            </a:r>
            <a:r>
              <a:rPr lang="zh-CN" altLang="en-US" sz="2800" b="1" dirty="0">
                <a:solidFill>
                  <a:schemeClr val="tx2"/>
                </a:solidFill>
              </a:rPr>
              <a:t>传递依赖于</a:t>
            </a:r>
            <a:r>
              <a:rPr lang="zh-CN" altLang="en-US" sz="2800" b="1" dirty="0">
                <a:solidFill>
                  <a:srgbClr val="C00000"/>
                </a:solidFill>
              </a:rPr>
              <a:t>码</a:t>
            </a:r>
            <a:r>
              <a:rPr lang="zh-CN" altLang="en-US" sz="2800" dirty="0"/>
              <a:t>。</a:t>
            </a:r>
          </a:p>
          <a:p>
            <a:pPr>
              <a:lnSpc>
                <a:spcPct val="80000"/>
              </a:lnSpc>
              <a:buNone/>
            </a:pPr>
            <a:r>
              <a:rPr lang="zh-CN" altLang="en-US" sz="2800" dirty="0"/>
              <a:t>	∪</a:t>
            </a:r>
          </a:p>
          <a:p>
            <a:pPr>
              <a:lnSpc>
                <a:spcPct val="80000"/>
              </a:lnSpc>
              <a:buNone/>
            </a:pPr>
            <a:r>
              <a:rPr lang="zh-CN" altLang="en-US" sz="2800" dirty="0"/>
              <a:t>	</a:t>
            </a:r>
            <a:r>
              <a:rPr lang="en-US" altLang="zh-CN" sz="2800" dirty="0"/>
              <a:t>BCNF</a:t>
            </a:r>
            <a:r>
              <a:rPr lang="zh-CN" altLang="en-US" sz="2800" dirty="0"/>
              <a:t>：</a:t>
            </a:r>
            <a:r>
              <a:rPr lang="zh-CN" altLang="en-US" sz="2800" b="1" dirty="0"/>
              <a:t>所有属性</a:t>
            </a:r>
            <a:r>
              <a:rPr lang="zh-CN" altLang="en-US" sz="2800" dirty="0"/>
              <a:t>都</a:t>
            </a:r>
            <a:r>
              <a:rPr lang="zh-CN" altLang="en-US" sz="2800" b="1" dirty="0">
                <a:solidFill>
                  <a:srgbClr val="FF0000"/>
                </a:solidFill>
              </a:rPr>
              <a:t>不</a:t>
            </a:r>
            <a:r>
              <a:rPr lang="zh-CN" altLang="en-US" sz="2800" b="1" dirty="0">
                <a:solidFill>
                  <a:schemeClr val="tx2"/>
                </a:solidFill>
              </a:rPr>
              <a:t>部分依赖于码也</a:t>
            </a:r>
            <a:r>
              <a:rPr lang="zh-CN" altLang="en-US" sz="2800" b="1" dirty="0">
                <a:solidFill>
                  <a:srgbClr val="FF0000"/>
                </a:solidFill>
              </a:rPr>
              <a:t>不</a:t>
            </a:r>
            <a:r>
              <a:rPr lang="zh-CN" altLang="en-US" sz="2800" b="1" dirty="0">
                <a:solidFill>
                  <a:schemeClr val="tx2"/>
                </a:solidFill>
              </a:rPr>
              <a:t>传递依赖于码</a:t>
            </a:r>
            <a:r>
              <a:rPr lang="zh-CN" altLang="en-US" sz="2800" dirty="0"/>
              <a:t>。</a:t>
            </a:r>
            <a:r>
              <a:rPr lang="zh-CN" altLang="en-US" sz="2800" b="1" dirty="0">
                <a:solidFill>
                  <a:srgbClr val="C00000"/>
                </a:solidFill>
              </a:rPr>
              <a:t>所有决定因素</a:t>
            </a:r>
            <a:r>
              <a:rPr lang="en-US" altLang="zh-CN" sz="2800" b="1" dirty="0">
                <a:solidFill>
                  <a:srgbClr val="C00000"/>
                </a:solidFill>
              </a:rPr>
              <a:t>(</a:t>
            </a:r>
            <a:r>
              <a:rPr lang="zh-CN" altLang="en-US" sz="2800" b="1" dirty="0">
                <a:solidFill>
                  <a:srgbClr val="C00000"/>
                </a:solidFill>
              </a:rPr>
              <a:t>属性集</a:t>
            </a:r>
            <a:r>
              <a:rPr lang="en-US" altLang="zh-CN" sz="2800" b="1" dirty="0">
                <a:solidFill>
                  <a:srgbClr val="C00000"/>
                </a:solidFill>
              </a:rPr>
              <a:t>)</a:t>
            </a:r>
            <a:r>
              <a:rPr lang="zh-CN" altLang="en-US" sz="2800" b="1" dirty="0">
                <a:solidFill>
                  <a:srgbClr val="C00000"/>
                </a:solidFill>
              </a:rPr>
              <a:t>都包含</a:t>
            </a:r>
            <a:r>
              <a:rPr lang="zh-CN" altLang="en-US" sz="2800" b="1" u="sng" dirty="0">
                <a:solidFill>
                  <a:srgbClr val="C00000"/>
                </a:solidFill>
              </a:rPr>
              <a:t>码</a:t>
            </a:r>
            <a:r>
              <a:rPr lang="zh-CN" altLang="en-US" sz="2800" dirty="0"/>
              <a:t>。</a:t>
            </a:r>
          </a:p>
        </p:txBody>
      </p:sp>
      <p:sp>
        <p:nvSpPr>
          <p:cNvPr id="9" name="Text Box 3"/>
          <p:cNvSpPr txBox="1">
            <a:spLocks noChangeArrowheads="1"/>
          </p:cNvSpPr>
          <p:nvPr/>
        </p:nvSpPr>
        <p:spPr bwMode="auto">
          <a:xfrm>
            <a:off x="1793875" y="6051550"/>
            <a:ext cx="733425"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9pPr>
          </a:lstStyle>
          <a:p>
            <a:pPr algn="l" eaLnBrk="1" hangingPunct="1">
              <a:lnSpc>
                <a:spcPct val="100000"/>
              </a:lnSpc>
              <a:spcBef>
                <a:spcPct val="0"/>
              </a:spcBef>
              <a:buClrTx/>
              <a:buFontTx/>
              <a:buNone/>
            </a:pPr>
            <a:r>
              <a:rPr kumimoji="1" lang="en-US" altLang="zh-CN" sz="2000">
                <a:latin typeface="Times New Roman" pitchFamily="18" charset="0"/>
              </a:rPr>
              <a:t>…</a:t>
            </a:r>
            <a:endParaRPr kumimoji="1" lang="en-US" altLang="zh-CN" sz="3200">
              <a:latin typeface="Times New Roman" pitchFamily="18" charset="0"/>
            </a:endParaRPr>
          </a:p>
          <a:p>
            <a:pPr algn="l">
              <a:lnSpc>
                <a:spcPct val="100000"/>
              </a:lnSpc>
              <a:spcBef>
                <a:spcPct val="0"/>
              </a:spcBef>
              <a:buClrTx/>
              <a:buFontTx/>
              <a:buNone/>
            </a:pPr>
            <a:endParaRPr kumimoji="1" lang="en-US" altLang="zh-CN" sz="6000">
              <a:latin typeface="Times New Roman" pitchFamily="18" charset="0"/>
            </a:endParaRPr>
          </a:p>
        </p:txBody>
      </p:sp>
      <p:sp>
        <p:nvSpPr>
          <p:cNvPr id="5" name="页脚占位符 4">
            <a:extLst>
              <a:ext uri="{FF2B5EF4-FFF2-40B4-BE49-F238E27FC236}">
                <a16:creationId xmlns:a16="http://schemas.microsoft.com/office/drawing/2014/main" id="{0C70711C-1EED-AF0D-13C7-0E2DD626A1B3}"/>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8AEDA9C2-05DB-46EE-05B8-B8E42B7E8C3A}"/>
              </a:ext>
            </a:extLst>
          </p:cNvPr>
          <p:cNvSpPr>
            <a:spLocks noGrp="1"/>
          </p:cNvSpPr>
          <p:nvPr>
            <p:ph type="sldNum" sz="quarter" idx="12"/>
          </p:nvPr>
        </p:nvSpPr>
        <p:spPr/>
        <p:txBody>
          <a:bodyPr/>
          <a:lstStyle/>
          <a:p>
            <a:fld id="{A2D74603-B40B-4D66-8F6E-41C870D48932}" type="slidenum">
              <a:rPr lang="en-US" altLang="zh-CN" smtClean="0"/>
              <a:pPr/>
              <a:t>75</a:t>
            </a:fld>
            <a:r>
              <a:rPr lang="en-US" altLang="zh-CN"/>
              <a:t>/162</a:t>
            </a:r>
            <a:endParaRPr lang="en-US" altLang="zh-CN" dirty="0"/>
          </a:p>
        </p:txBody>
      </p:sp>
    </p:spTree>
    <p:extLst>
      <p:ext uri="{BB962C8B-B14F-4D97-AF65-F5344CB8AC3E}">
        <p14:creationId xmlns:p14="http://schemas.microsoft.com/office/powerpoint/2010/main" val="1006308194"/>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2AACC264-0698-471E-AC6D-BB7DD06B1AC7}" type="datetime1">
              <a:rPr lang="zh-CN" altLang="en-US" smtClean="0"/>
              <a:t>2025/11/6</a:t>
            </a:fld>
            <a:endParaRPr lang="en-US" altLang="zh-CN"/>
          </a:p>
        </p:txBody>
      </p:sp>
      <p:sp>
        <p:nvSpPr>
          <p:cNvPr id="296962" name="Rectangle 2"/>
          <p:cNvSpPr>
            <a:spLocks noGrp="1" noChangeArrowheads="1"/>
          </p:cNvSpPr>
          <p:nvPr>
            <p:ph type="title"/>
          </p:nvPr>
        </p:nvSpPr>
        <p:spPr/>
        <p:txBody>
          <a:bodyPr/>
          <a:lstStyle/>
          <a:p>
            <a:r>
              <a:rPr lang="en-US" altLang="zh-CN" dirty="0"/>
              <a:t>8.2.6 BCNF</a:t>
            </a:r>
            <a:endParaRPr lang="zh-CN" altLang="en-US" dirty="0"/>
          </a:p>
        </p:txBody>
      </p:sp>
      <p:sp>
        <p:nvSpPr>
          <p:cNvPr id="296963" name="Rectangle 3"/>
          <p:cNvSpPr>
            <a:spLocks noGrp="1" noChangeArrowheads="1"/>
          </p:cNvSpPr>
          <p:nvPr>
            <p:ph type="body" idx="1"/>
          </p:nvPr>
        </p:nvSpPr>
        <p:spPr>
          <a:xfrm>
            <a:off x="609600" y="1371600"/>
            <a:ext cx="8345488" cy="5410200"/>
          </a:xfrm>
          <a:solidFill>
            <a:schemeClr val="bg1"/>
          </a:solidFill>
        </p:spPr>
        <p:txBody>
          <a:bodyPr/>
          <a:lstStyle/>
          <a:p>
            <a:r>
              <a:rPr lang="zh-CN" altLang="en-US" dirty="0"/>
              <a:t>到</a:t>
            </a:r>
            <a:r>
              <a:rPr lang="en-US" altLang="zh-CN" dirty="0"/>
              <a:t>BCNF</a:t>
            </a:r>
            <a:r>
              <a:rPr lang="zh-CN" altLang="en-US" dirty="0"/>
              <a:t>为止，我们都是在函数依赖的范畴内讨论数据依赖。</a:t>
            </a:r>
            <a:endParaRPr lang="en-US" altLang="zh-CN" dirty="0"/>
          </a:p>
          <a:p>
            <a:r>
              <a:rPr lang="zh-CN" altLang="en-US" dirty="0"/>
              <a:t>属于</a:t>
            </a:r>
            <a:r>
              <a:rPr lang="en-US" altLang="zh-CN" dirty="0"/>
              <a:t>BCNF</a:t>
            </a:r>
            <a:r>
              <a:rPr lang="zh-CN" altLang="en-US" dirty="0"/>
              <a:t>范式的关系模式是否就很完美了呢？</a:t>
            </a:r>
            <a:endParaRPr lang="en-US" altLang="zh-CN" dirty="0"/>
          </a:p>
          <a:p>
            <a:r>
              <a:rPr lang="zh-CN" altLang="en-US" dirty="0"/>
              <a:t>事实上，关系模式即使到了</a:t>
            </a:r>
            <a:r>
              <a:rPr lang="en-US" altLang="zh-CN" dirty="0"/>
              <a:t>BCNF</a:t>
            </a:r>
            <a:r>
              <a:rPr lang="zh-CN" altLang="en-US" dirty="0"/>
              <a:t>，</a:t>
            </a:r>
            <a:r>
              <a:rPr lang="zh-CN" altLang="en-US" dirty="0">
                <a:solidFill>
                  <a:srgbClr val="C00000"/>
                </a:solidFill>
              </a:rPr>
              <a:t>还可能</a:t>
            </a:r>
            <a:r>
              <a:rPr lang="zh-CN" altLang="en-US" dirty="0"/>
              <a:t>存在由于</a:t>
            </a:r>
            <a:r>
              <a:rPr lang="zh-CN" altLang="en-US" u="sng" dirty="0">
                <a:solidFill>
                  <a:srgbClr val="0000FF"/>
                </a:solidFill>
              </a:rPr>
              <a:t>非函数依赖</a:t>
            </a:r>
            <a:r>
              <a:rPr lang="zh-CN" altLang="en-US" dirty="0"/>
              <a:t>带来的</a:t>
            </a:r>
            <a:r>
              <a:rPr lang="zh-CN" altLang="en-US" u="sng" dirty="0"/>
              <a:t>冗余及三类异常</a:t>
            </a:r>
            <a:r>
              <a:rPr lang="zh-CN" altLang="en-US" dirty="0"/>
              <a:t>。这些数据依赖有</a:t>
            </a:r>
            <a:r>
              <a:rPr lang="zh-CN" altLang="en-US" dirty="0">
                <a:solidFill>
                  <a:srgbClr val="0000FF"/>
                </a:solidFill>
              </a:rPr>
              <a:t>多值依赖</a:t>
            </a:r>
            <a:r>
              <a:rPr lang="zh-CN" altLang="en-US" dirty="0"/>
              <a:t>和</a:t>
            </a:r>
            <a:r>
              <a:rPr lang="zh-CN" altLang="en-US" dirty="0">
                <a:solidFill>
                  <a:srgbClr val="0000FF"/>
                </a:solidFill>
              </a:rPr>
              <a:t>连接依赖</a:t>
            </a:r>
            <a:r>
              <a:rPr lang="zh-CN" altLang="en-US" dirty="0"/>
              <a:t>。我们只简单介绍</a:t>
            </a:r>
            <a:r>
              <a:rPr lang="zh-CN" altLang="en-US" u="sng" dirty="0">
                <a:solidFill>
                  <a:srgbClr val="C00000"/>
                </a:solidFill>
              </a:rPr>
              <a:t>多值依赖</a:t>
            </a:r>
            <a:r>
              <a:rPr lang="zh-CN" altLang="en-US" dirty="0"/>
              <a:t>。</a:t>
            </a:r>
          </a:p>
          <a:p>
            <a:pPr lvl="1">
              <a:spcBef>
                <a:spcPct val="40000"/>
              </a:spcBef>
            </a:pPr>
            <a:r>
              <a:rPr lang="zh-CN" altLang="en-US" dirty="0"/>
              <a:t>在</a:t>
            </a:r>
            <a:r>
              <a:rPr lang="zh-CN" altLang="en-US" dirty="0">
                <a:solidFill>
                  <a:srgbClr val="0000FF"/>
                </a:solidFill>
              </a:rPr>
              <a:t>多个实体</a:t>
            </a:r>
            <a:r>
              <a:rPr lang="zh-CN" altLang="en-US" dirty="0"/>
              <a:t>间联系为</a:t>
            </a:r>
            <a:r>
              <a:rPr lang="en-US" altLang="zh-CN" b="1" dirty="0">
                <a:solidFill>
                  <a:srgbClr val="FF0000"/>
                </a:solidFill>
              </a:rPr>
              <a:t>1</a:t>
            </a:r>
            <a:r>
              <a:rPr lang="zh-CN" altLang="en-US" b="1" dirty="0">
                <a:solidFill>
                  <a:srgbClr val="FF0000"/>
                </a:solidFill>
              </a:rPr>
              <a:t>对多</a:t>
            </a:r>
            <a:r>
              <a:rPr lang="zh-CN" altLang="en-US" dirty="0">
                <a:solidFill>
                  <a:srgbClr val="0000FF"/>
                </a:solidFill>
              </a:rPr>
              <a:t>联系</a:t>
            </a:r>
            <a:r>
              <a:rPr lang="zh-CN" altLang="en-US" dirty="0"/>
              <a:t>时可能出现</a:t>
            </a:r>
            <a:r>
              <a:rPr lang="zh-CN" altLang="en-US" dirty="0">
                <a:solidFill>
                  <a:srgbClr val="C00000"/>
                </a:solidFill>
              </a:rPr>
              <a:t>多值依赖</a:t>
            </a:r>
            <a:r>
              <a:rPr lang="zh-CN" altLang="en-US" dirty="0"/>
              <a:t>带来的问题。</a:t>
            </a:r>
          </a:p>
          <a:p>
            <a:endParaRPr lang="zh-CN" altLang="en-US" dirty="0"/>
          </a:p>
        </p:txBody>
      </p:sp>
      <p:sp>
        <p:nvSpPr>
          <p:cNvPr id="3" name="页脚占位符 2">
            <a:extLst>
              <a:ext uri="{FF2B5EF4-FFF2-40B4-BE49-F238E27FC236}">
                <a16:creationId xmlns:a16="http://schemas.microsoft.com/office/drawing/2014/main" id="{00846519-E170-4475-A38B-34D98D9F52E0}"/>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2F8B3E3E-FF8C-B171-44C4-C8F71F739406}"/>
              </a:ext>
            </a:extLst>
          </p:cNvPr>
          <p:cNvSpPr>
            <a:spLocks noGrp="1"/>
          </p:cNvSpPr>
          <p:nvPr>
            <p:ph type="sldNum" sz="quarter" idx="12"/>
          </p:nvPr>
        </p:nvSpPr>
        <p:spPr/>
        <p:txBody>
          <a:bodyPr/>
          <a:lstStyle/>
          <a:p>
            <a:fld id="{A2D74603-B40B-4D66-8F6E-41C870D48932}" type="slidenum">
              <a:rPr lang="en-US" altLang="zh-CN" smtClean="0"/>
              <a:pPr/>
              <a:t>76</a:t>
            </a:fld>
            <a:r>
              <a:rPr lang="en-US" altLang="zh-CN"/>
              <a:t>/162</a:t>
            </a:r>
            <a:endParaRPr lang="en-US" altLang="zh-CN" dirty="0"/>
          </a:p>
        </p:txBody>
      </p:sp>
    </p:spTree>
    <p:extLst>
      <p:ext uri="{BB962C8B-B14F-4D97-AF65-F5344CB8AC3E}">
        <p14:creationId xmlns:p14="http://schemas.microsoft.com/office/powerpoint/2010/main" val="3882085383"/>
      </p:ext>
    </p:extLst>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8.2.7 </a:t>
            </a:r>
            <a:r>
              <a:rPr lang="zh-CN" altLang="en-US" dirty="0"/>
              <a:t>多值依赖</a:t>
            </a:r>
          </a:p>
        </p:txBody>
      </p:sp>
      <p:sp>
        <p:nvSpPr>
          <p:cNvPr id="4" name="日期占位符 3"/>
          <p:cNvSpPr>
            <a:spLocks noGrp="1"/>
          </p:cNvSpPr>
          <p:nvPr>
            <p:ph type="dt" sz="half" idx="10"/>
          </p:nvPr>
        </p:nvSpPr>
        <p:spPr/>
        <p:txBody>
          <a:bodyPr/>
          <a:lstStyle/>
          <a:p>
            <a:fld id="{2ADCB44D-931B-4FFD-B037-1BA36289917E}" type="datetime1">
              <a:rPr lang="zh-CN" altLang="en-US" smtClean="0"/>
              <a:t>2025/11/6</a:t>
            </a:fld>
            <a:endParaRPr lang="en-US" altLang="zh-CN"/>
          </a:p>
        </p:txBody>
      </p:sp>
      <p:sp>
        <p:nvSpPr>
          <p:cNvPr id="7" name="Rectangle 3"/>
          <p:cNvSpPr>
            <a:spLocks noGrp="1" noChangeArrowheads="1"/>
          </p:cNvSpPr>
          <p:nvPr>
            <p:ph idx="1"/>
          </p:nvPr>
        </p:nvSpPr>
        <p:spPr>
          <a:xfrm>
            <a:off x="381000" y="1371600"/>
            <a:ext cx="8345488" cy="4684713"/>
          </a:xfrm>
        </p:spPr>
        <p:txBody>
          <a:bodyPr/>
          <a:lstStyle/>
          <a:p>
            <a:pPr lvl="1" eaLnBrk="1" hangingPunct="1">
              <a:buFont typeface="Wingdings" pitchFamily="2" charset="2"/>
              <a:buNone/>
            </a:pPr>
            <a:r>
              <a:rPr lang="en-US" altLang="zh-CN" sz="2400" dirty="0">
                <a:ea typeface="宋体" charset="-122"/>
              </a:rPr>
              <a:t>[</a:t>
            </a:r>
            <a:r>
              <a:rPr lang="zh-CN" altLang="en-US" sz="2400" dirty="0">
                <a:ea typeface="宋体" charset="-122"/>
              </a:rPr>
              <a:t>例</a:t>
            </a:r>
            <a:r>
              <a:rPr lang="en-US" altLang="zh-CN" sz="2400" dirty="0">
                <a:ea typeface="宋体" charset="-122"/>
              </a:rPr>
              <a:t>9] </a:t>
            </a:r>
            <a:r>
              <a:rPr lang="zh-CN" altLang="en-US" sz="2400" dirty="0">
                <a:ea typeface="宋体" charset="-122"/>
              </a:rPr>
              <a:t>学校中某</a:t>
            </a:r>
            <a:r>
              <a:rPr lang="zh-CN" altLang="en-US" sz="2400" dirty="0">
                <a:solidFill>
                  <a:srgbClr val="0000FF"/>
                </a:solidFill>
                <a:ea typeface="宋体" charset="-122"/>
              </a:rPr>
              <a:t>一门</a:t>
            </a:r>
            <a:r>
              <a:rPr lang="zh-CN" altLang="en-US" sz="2400" dirty="0">
                <a:ea typeface="宋体" charset="-122"/>
              </a:rPr>
              <a:t>课程由</a:t>
            </a:r>
            <a:r>
              <a:rPr lang="zh-CN" altLang="en-US" sz="2400" dirty="0">
                <a:solidFill>
                  <a:srgbClr val="0000FF"/>
                </a:solidFill>
                <a:ea typeface="宋体" charset="-122"/>
              </a:rPr>
              <a:t>多个</a:t>
            </a:r>
            <a:r>
              <a:rPr lang="zh-CN" altLang="en-US" sz="2400" dirty="0">
                <a:ea typeface="宋体" charset="-122"/>
              </a:rPr>
              <a:t>教师讲授，他们使用相同的</a:t>
            </a:r>
            <a:r>
              <a:rPr lang="zh-CN" altLang="en-US" sz="2400" dirty="0">
                <a:solidFill>
                  <a:srgbClr val="0000FF"/>
                </a:solidFill>
                <a:ea typeface="宋体" charset="-122"/>
              </a:rPr>
              <a:t>一套</a:t>
            </a:r>
            <a:r>
              <a:rPr lang="zh-CN" altLang="en-US" sz="2400" dirty="0">
                <a:ea typeface="宋体" charset="-122"/>
              </a:rPr>
              <a:t>参考书。</a:t>
            </a:r>
            <a:r>
              <a:rPr lang="zh-CN" altLang="en-US" sz="2400" dirty="0">
                <a:solidFill>
                  <a:srgbClr val="0000FF"/>
                </a:solidFill>
                <a:ea typeface="宋体" charset="-122"/>
              </a:rPr>
              <a:t>每个</a:t>
            </a:r>
            <a:r>
              <a:rPr lang="zh-CN" altLang="en-US" sz="2400" dirty="0">
                <a:ea typeface="宋体" charset="-122"/>
              </a:rPr>
              <a:t>教员可以讲授</a:t>
            </a:r>
            <a:r>
              <a:rPr lang="zh-CN" altLang="en-US" sz="2400" dirty="0">
                <a:solidFill>
                  <a:srgbClr val="0000FF"/>
                </a:solidFill>
                <a:ea typeface="宋体" charset="-122"/>
              </a:rPr>
              <a:t>多门</a:t>
            </a:r>
            <a:r>
              <a:rPr lang="zh-CN" altLang="en-US" sz="2400" dirty="0">
                <a:ea typeface="宋体" charset="-122"/>
              </a:rPr>
              <a:t>课程，</a:t>
            </a:r>
            <a:r>
              <a:rPr lang="zh-CN" altLang="en-US" sz="2400" dirty="0">
                <a:solidFill>
                  <a:srgbClr val="0000FF"/>
                </a:solidFill>
                <a:ea typeface="宋体" charset="-122"/>
              </a:rPr>
              <a:t>每种</a:t>
            </a:r>
            <a:r>
              <a:rPr lang="zh-CN" altLang="en-US" sz="2400" dirty="0">
                <a:ea typeface="宋体" charset="-122"/>
              </a:rPr>
              <a:t>参考书可以供</a:t>
            </a:r>
            <a:r>
              <a:rPr lang="zh-CN" altLang="en-US" sz="2400" dirty="0">
                <a:solidFill>
                  <a:srgbClr val="0000FF"/>
                </a:solidFill>
                <a:ea typeface="宋体" charset="-122"/>
              </a:rPr>
              <a:t>多门</a:t>
            </a:r>
            <a:r>
              <a:rPr lang="zh-CN" altLang="en-US" sz="2400" dirty="0">
                <a:ea typeface="宋体" charset="-122"/>
              </a:rPr>
              <a:t>课程使用。</a:t>
            </a:r>
          </a:p>
          <a:p>
            <a:pPr lvl="1" eaLnBrk="1" hangingPunct="1">
              <a:buFont typeface="Wingdings" pitchFamily="2" charset="2"/>
              <a:buNone/>
            </a:pPr>
            <a:endParaRPr lang="zh-CN" altLang="en-US" sz="2400" dirty="0">
              <a:ea typeface="宋体" charset="-122"/>
            </a:endParaRPr>
          </a:p>
          <a:p>
            <a:pPr lvl="1" eaLnBrk="1" hangingPunct="1">
              <a:buFont typeface="Wingdings" pitchFamily="2" charset="2"/>
              <a:buNone/>
            </a:pPr>
            <a:r>
              <a:rPr lang="zh-CN" altLang="en-US" sz="2400" dirty="0">
                <a:ea typeface="宋体" charset="-122"/>
              </a:rPr>
              <a:t>	</a:t>
            </a:r>
          </a:p>
        </p:txBody>
      </p:sp>
      <p:sp>
        <p:nvSpPr>
          <p:cNvPr id="8" name="Text Box 2"/>
          <p:cNvSpPr txBox="1">
            <a:spLocks noChangeArrowheads="1"/>
          </p:cNvSpPr>
          <p:nvPr/>
        </p:nvSpPr>
        <p:spPr bwMode="auto">
          <a:xfrm>
            <a:off x="3952875" y="5980112"/>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9pPr>
          </a:lstStyle>
          <a:p>
            <a:pPr algn="l" eaLnBrk="1" hangingPunct="1">
              <a:lnSpc>
                <a:spcPct val="100000"/>
              </a:lnSpc>
              <a:spcBef>
                <a:spcPct val="0"/>
              </a:spcBef>
              <a:buClrTx/>
              <a:buFontTx/>
              <a:buNone/>
            </a:pPr>
            <a:r>
              <a:rPr kumimoji="1" lang="en-US" altLang="zh-CN" sz="2000">
                <a:latin typeface="Times New Roman" pitchFamily="18" charset="0"/>
              </a:rPr>
              <a:t>…</a:t>
            </a:r>
            <a:endParaRPr kumimoji="1" lang="en-US" altLang="zh-CN" sz="3200">
              <a:latin typeface="Times New Roman" pitchFamily="18" charset="0"/>
            </a:endParaRPr>
          </a:p>
          <a:p>
            <a:pPr algn="l">
              <a:lnSpc>
                <a:spcPct val="100000"/>
              </a:lnSpc>
              <a:spcBef>
                <a:spcPct val="0"/>
              </a:spcBef>
              <a:buClrTx/>
              <a:buFontTx/>
              <a:buNone/>
            </a:pPr>
            <a:endParaRPr kumimoji="1" lang="en-US" altLang="zh-CN" sz="6000">
              <a:latin typeface="Times New Roman" pitchFamily="18" charset="0"/>
            </a:endParaRPr>
          </a:p>
        </p:txBody>
      </p:sp>
      <p:sp>
        <p:nvSpPr>
          <p:cNvPr id="9" name="Text Box 3"/>
          <p:cNvSpPr txBox="1">
            <a:spLocks noChangeArrowheads="1"/>
          </p:cNvSpPr>
          <p:nvPr/>
        </p:nvSpPr>
        <p:spPr bwMode="auto">
          <a:xfrm>
            <a:off x="1793875" y="6051550"/>
            <a:ext cx="733425"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9pPr>
          </a:lstStyle>
          <a:p>
            <a:pPr algn="l" eaLnBrk="1" hangingPunct="1">
              <a:lnSpc>
                <a:spcPct val="100000"/>
              </a:lnSpc>
              <a:spcBef>
                <a:spcPct val="0"/>
              </a:spcBef>
              <a:buClrTx/>
              <a:buFontTx/>
              <a:buNone/>
            </a:pPr>
            <a:r>
              <a:rPr kumimoji="1" lang="en-US" altLang="zh-CN" sz="2000">
                <a:latin typeface="Times New Roman" pitchFamily="18" charset="0"/>
              </a:rPr>
              <a:t>…</a:t>
            </a:r>
            <a:endParaRPr kumimoji="1" lang="en-US" altLang="zh-CN" sz="3200">
              <a:latin typeface="Times New Roman" pitchFamily="18" charset="0"/>
            </a:endParaRPr>
          </a:p>
          <a:p>
            <a:pPr algn="l">
              <a:lnSpc>
                <a:spcPct val="100000"/>
              </a:lnSpc>
              <a:spcBef>
                <a:spcPct val="0"/>
              </a:spcBef>
              <a:buClrTx/>
              <a:buFontTx/>
              <a:buNone/>
            </a:pPr>
            <a:endParaRPr kumimoji="1" lang="en-US" altLang="zh-CN" sz="6000">
              <a:latin typeface="Times New Roman" pitchFamily="18" charset="0"/>
            </a:endParaRPr>
          </a:p>
        </p:txBody>
      </p:sp>
      <p:sp>
        <p:nvSpPr>
          <p:cNvPr id="10" name="Text Box 4"/>
          <p:cNvSpPr txBox="1">
            <a:spLocks noChangeArrowheads="1"/>
          </p:cNvSpPr>
          <p:nvPr/>
        </p:nvSpPr>
        <p:spPr bwMode="auto">
          <a:xfrm>
            <a:off x="6113463" y="6122987"/>
            <a:ext cx="609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9pPr>
          </a:lstStyle>
          <a:p>
            <a:pPr algn="l" eaLnBrk="1" hangingPunct="1">
              <a:lnSpc>
                <a:spcPct val="100000"/>
              </a:lnSpc>
              <a:spcBef>
                <a:spcPct val="0"/>
              </a:spcBef>
              <a:buClrTx/>
              <a:buFontTx/>
              <a:buNone/>
            </a:pPr>
            <a:r>
              <a:rPr kumimoji="1" lang="en-US" altLang="zh-CN" sz="2000">
                <a:latin typeface="Times New Roman" pitchFamily="18" charset="0"/>
              </a:rPr>
              <a:t>…</a:t>
            </a:r>
            <a:endParaRPr kumimoji="1" lang="en-US" altLang="zh-CN" sz="3200">
              <a:latin typeface="Times New Roman" pitchFamily="18" charset="0"/>
            </a:endParaRPr>
          </a:p>
        </p:txBody>
      </p:sp>
      <p:grpSp>
        <p:nvGrpSpPr>
          <p:cNvPr id="11" name="Group 5"/>
          <p:cNvGrpSpPr>
            <a:grpSpLocks/>
          </p:cNvGrpSpPr>
          <p:nvPr/>
        </p:nvGrpSpPr>
        <p:grpSpPr bwMode="auto">
          <a:xfrm>
            <a:off x="3810000" y="3170237"/>
            <a:ext cx="685800" cy="533400"/>
            <a:chOff x="4266" y="7241"/>
            <a:chExt cx="644" cy="345"/>
          </a:xfrm>
        </p:grpSpPr>
        <p:sp>
          <p:nvSpPr>
            <p:cNvPr id="12" name="AutoShape 6"/>
            <p:cNvSpPr>
              <a:spLocks/>
            </p:cNvSpPr>
            <p:nvPr/>
          </p:nvSpPr>
          <p:spPr bwMode="auto">
            <a:xfrm>
              <a:off x="4266" y="7249"/>
              <a:ext cx="60" cy="337"/>
            </a:xfrm>
            <a:prstGeom prst="leftBrace">
              <a:avLst>
                <a:gd name="adj1" fmla="val 46806"/>
                <a:gd name="adj2" fmla="val 50000"/>
              </a:avLst>
            </a:prstGeom>
            <a:noFill/>
            <a:ln w="63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9pPr>
            </a:lstStyle>
            <a:p>
              <a:pPr eaLnBrk="1" hangingPunct="1"/>
              <a:endParaRPr lang="zh-CN" altLang="en-US" sz="1200"/>
            </a:p>
          </p:txBody>
        </p:sp>
        <p:sp>
          <p:nvSpPr>
            <p:cNvPr id="13" name="AutoShape 7"/>
            <p:cNvSpPr>
              <a:spLocks/>
            </p:cNvSpPr>
            <p:nvPr/>
          </p:nvSpPr>
          <p:spPr bwMode="auto">
            <a:xfrm rot="10800000">
              <a:off x="4850" y="7241"/>
              <a:ext cx="60" cy="337"/>
            </a:xfrm>
            <a:prstGeom prst="leftBrace">
              <a:avLst>
                <a:gd name="adj1" fmla="val 46806"/>
                <a:gd name="adj2" fmla="val 50000"/>
              </a:avLst>
            </a:prstGeom>
            <a:noFill/>
            <a:ln w="63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9pPr>
            </a:lstStyle>
            <a:p>
              <a:pPr eaLnBrk="1" hangingPunct="1"/>
              <a:endParaRPr lang="zh-CN" altLang="en-US" sz="1200"/>
            </a:p>
          </p:txBody>
        </p:sp>
      </p:grpSp>
      <p:grpSp>
        <p:nvGrpSpPr>
          <p:cNvPr id="14" name="Group 8"/>
          <p:cNvGrpSpPr>
            <a:grpSpLocks/>
          </p:cNvGrpSpPr>
          <p:nvPr/>
        </p:nvGrpSpPr>
        <p:grpSpPr bwMode="auto">
          <a:xfrm>
            <a:off x="3767138" y="4235450"/>
            <a:ext cx="762000" cy="447675"/>
            <a:chOff x="4267" y="8180"/>
            <a:chExt cx="644" cy="345"/>
          </a:xfrm>
        </p:grpSpPr>
        <p:sp>
          <p:nvSpPr>
            <p:cNvPr id="15" name="AutoShape 9"/>
            <p:cNvSpPr>
              <a:spLocks/>
            </p:cNvSpPr>
            <p:nvPr/>
          </p:nvSpPr>
          <p:spPr bwMode="auto">
            <a:xfrm>
              <a:off x="4267" y="8188"/>
              <a:ext cx="60" cy="337"/>
            </a:xfrm>
            <a:prstGeom prst="leftBrace">
              <a:avLst>
                <a:gd name="adj1" fmla="val 46806"/>
                <a:gd name="adj2" fmla="val 50000"/>
              </a:avLst>
            </a:prstGeom>
            <a:noFill/>
            <a:ln w="63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9pPr>
            </a:lstStyle>
            <a:p>
              <a:pPr eaLnBrk="1" hangingPunct="1"/>
              <a:endParaRPr lang="zh-CN" altLang="en-US" sz="1200"/>
            </a:p>
          </p:txBody>
        </p:sp>
        <p:sp>
          <p:nvSpPr>
            <p:cNvPr id="16" name="AutoShape 10"/>
            <p:cNvSpPr>
              <a:spLocks/>
            </p:cNvSpPr>
            <p:nvPr/>
          </p:nvSpPr>
          <p:spPr bwMode="auto">
            <a:xfrm rot="10800000">
              <a:off x="4851" y="8180"/>
              <a:ext cx="60" cy="337"/>
            </a:xfrm>
            <a:prstGeom prst="leftBrace">
              <a:avLst>
                <a:gd name="adj1" fmla="val 46806"/>
                <a:gd name="adj2" fmla="val 50000"/>
              </a:avLst>
            </a:prstGeom>
            <a:noFill/>
            <a:ln w="63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9pPr>
            </a:lstStyle>
            <a:p>
              <a:pPr eaLnBrk="1" hangingPunct="1"/>
              <a:endParaRPr lang="zh-CN" altLang="en-US" sz="1200"/>
            </a:p>
          </p:txBody>
        </p:sp>
      </p:grpSp>
      <p:grpSp>
        <p:nvGrpSpPr>
          <p:cNvPr id="17" name="Group 11"/>
          <p:cNvGrpSpPr>
            <a:grpSpLocks/>
          </p:cNvGrpSpPr>
          <p:nvPr/>
        </p:nvGrpSpPr>
        <p:grpSpPr bwMode="auto">
          <a:xfrm>
            <a:off x="3767138" y="5187950"/>
            <a:ext cx="762000" cy="609600"/>
            <a:chOff x="4274" y="9139"/>
            <a:chExt cx="644" cy="345"/>
          </a:xfrm>
        </p:grpSpPr>
        <p:sp>
          <p:nvSpPr>
            <p:cNvPr id="18" name="AutoShape 12"/>
            <p:cNvSpPr>
              <a:spLocks/>
            </p:cNvSpPr>
            <p:nvPr/>
          </p:nvSpPr>
          <p:spPr bwMode="auto">
            <a:xfrm>
              <a:off x="4274" y="9147"/>
              <a:ext cx="60" cy="337"/>
            </a:xfrm>
            <a:prstGeom prst="leftBrace">
              <a:avLst>
                <a:gd name="adj1" fmla="val 46806"/>
                <a:gd name="adj2" fmla="val 50000"/>
              </a:avLst>
            </a:prstGeom>
            <a:noFill/>
            <a:ln w="63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9pPr>
            </a:lstStyle>
            <a:p>
              <a:pPr eaLnBrk="1" hangingPunct="1"/>
              <a:endParaRPr lang="zh-CN" altLang="en-US" sz="1200"/>
            </a:p>
          </p:txBody>
        </p:sp>
        <p:sp>
          <p:nvSpPr>
            <p:cNvPr id="19" name="AutoShape 13"/>
            <p:cNvSpPr>
              <a:spLocks/>
            </p:cNvSpPr>
            <p:nvPr/>
          </p:nvSpPr>
          <p:spPr bwMode="auto">
            <a:xfrm rot="10800000">
              <a:off x="4858" y="9139"/>
              <a:ext cx="60" cy="337"/>
            </a:xfrm>
            <a:prstGeom prst="leftBrace">
              <a:avLst>
                <a:gd name="adj1" fmla="val 46806"/>
                <a:gd name="adj2" fmla="val 50000"/>
              </a:avLst>
            </a:prstGeom>
            <a:noFill/>
            <a:ln w="63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9pPr>
            </a:lstStyle>
            <a:p>
              <a:pPr eaLnBrk="1" hangingPunct="1"/>
              <a:endParaRPr lang="zh-CN" altLang="en-US" sz="1200"/>
            </a:p>
          </p:txBody>
        </p:sp>
      </p:grpSp>
      <p:grpSp>
        <p:nvGrpSpPr>
          <p:cNvPr id="20" name="Group 14"/>
          <p:cNvGrpSpPr>
            <a:grpSpLocks/>
          </p:cNvGrpSpPr>
          <p:nvPr/>
        </p:nvGrpSpPr>
        <p:grpSpPr bwMode="auto">
          <a:xfrm>
            <a:off x="5753100" y="3170237"/>
            <a:ext cx="1371600" cy="838200"/>
            <a:chOff x="5965" y="7255"/>
            <a:chExt cx="1007" cy="619"/>
          </a:xfrm>
        </p:grpSpPr>
        <p:sp>
          <p:nvSpPr>
            <p:cNvPr id="21" name="AutoShape 15"/>
            <p:cNvSpPr>
              <a:spLocks noChangeAspect="1"/>
            </p:cNvSpPr>
            <p:nvPr/>
          </p:nvSpPr>
          <p:spPr bwMode="auto">
            <a:xfrm>
              <a:off x="5965" y="7257"/>
              <a:ext cx="81" cy="617"/>
            </a:xfrm>
            <a:prstGeom prst="leftBrace">
              <a:avLst>
                <a:gd name="adj1" fmla="val 63477"/>
                <a:gd name="adj2" fmla="val 50000"/>
              </a:avLst>
            </a:prstGeom>
            <a:noFill/>
            <a:ln w="63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9pPr>
            </a:lstStyle>
            <a:p>
              <a:pPr eaLnBrk="1" hangingPunct="1"/>
              <a:endParaRPr lang="zh-CN" altLang="en-US"/>
            </a:p>
          </p:txBody>
        </p:sp>
        <p:sp>
          <p:nvSpPr>
            <p:cNvPr id="22" name="AutoShape 16"/>
            <p:cNvSpPr>
              <a:spLocks noChangeAspect="1"/>
            </p:cNvSpPr>
            <p:nvPr/>
          </p:nvSpPr>
          <p:spPr bwMode="auto">
            <a:xfrm rot="10800000">
              <a:off x="6891" y="7255"/>
              <a:ext cx="81" cy="617"/>
            </a:xfrm>
            <a:prstGeom prst="leftBrace">
              <a:avLst>
                <a:gd name="adj1" fmla="val 63477"/>
                <a:gd name="adj2" fmla="val 50000"/>
              </a:avLst>
            </a:prstGeom>
            <a:noFill/>
            <a:ln w="63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9pPr>
            </a:lstStyle>
            <a:p>
              <a:pPr eaLnBrk="1" hangingPunct="1"/>
              <a:endParaRPr lang="zh-CN" altLang="en-US"/>
            </a:p>
          </p:txBody>
        </p:sp>
      </p:grpSp>
      <p:grpSp>
        <p:nvGrpSpPr>
          <p:cNvPr id="23" name="Group 17"/>
          <p:cNvGrpSpPr>
            <a:grpSpLocks/>
          </p:cNvGrpSpPr>
          <p:nvPr/>
        </p:nvGrpSpPr>
        <p:grpSpPr bwMode="auto">
          <a:xfrm>
            <a:off x="5830888" y="4106862"/>
            <a:ext cx="1219200" cy="838200"/>
            <a:chOff x="5965" y="8198"/>
            <a:chExt cx="959" cy="619"/>
          </a:xfrm>
        </p:grpSpPr>
        <p:sp>
          <p:nvSpPr>
            <p:cNvPr id="24" name="AutoShape 18"/>
            <p:cNvSpPr>
              <a:spLocks noChangeAspect="1"/>
            </p:cNvSpPr>
            <p:nvPr/>
          </p:nvSpPr>
          <p:spPr bwMode="auto">
            <a:xfrm>
              <a:off x="5965" y="8200"/>
              <a:ext cx="81" cy="617"/>
            </a:xfrm>
            <a:prstGeom prst="leftBrace">
              <a:avLst>
                <a:gd name="adj1" fmla="val 63477"/>
                <a:gd name="adj2" fmla="val 50000"/>
              </a:avLst>
            </a:prstGeom>
            <a:noFill/>
            <a:ln w="63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9pPr>
            </a:lstStyle>
            <a:p>
              <a:pPr eaLnBrk="1" hangingPunct="1"/>
              <a:endParaRPr lang="zh-CN" altLang="en-US"/>
            </a:p>
          </p:txBody>
        </p:sp>
        <p:sp>
          <p:nvSpPr>
            <p:cNvPr id="25" name="AutoShape 19"/>
            <p:cNvSpPr>
              <a:spLocks noChangeAspect="1"/>
            </p:cNvSpPr>
            <p:nvPr/>
          </p:nvSpPr>
          <p:spPr bwMode="auto">
            <a:xfrm rot="10800000">
              <a:off x="6843" y="8198"/>
              <a:ext cx="81" cy="617"/>
            </a:xfrm>
            <a:prstGeom prst="leftBrace">
              <a:avLst>
                <a:gd name="adj1" fmla="val 63477"/>
                <a:gd name="adj2" fmla="val 50000"/>
              </a:avLst>
            </a:prstGeom>
            <a:noFill/>
            <a:ln w="63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9pPr>
            </a:lstStyle>
            <a:p>
              <a:pPr eaLnBrk="1" hangingPunct="1"/>
              <a:endParaRPr lang="zh-CN" altLang="en-US"/>
            </a:p>
          </p:txBody>
        </p:sp>
      </p:grpSp>
      <p:grpSp>
        <p:nvGrpSpPr>
          <p:cNvPr id="26" name="Group 20"/>
          <p:cNvGrpSpPr>
            <a:grpSpLocks/>
          </p:cNvGrpSpPr>
          <p:nvPr/>
        </p:nvGrpSpPr>
        <p:grpSpPr bwMode="auto">
          <a:xfrm>
            <a:off x="5835650" y="5187950"/>
            <a:ext cx="1143000" cy="762000"/>
            <a:chOff x="5988" y="9130"/>
            <a:chExt cx="911" cy="619"/>
          </a:xfrm>
        </p:grpSpPr>
        <p:sp>
          <p:nvSpPr>
            <p:cNvPr id="27" name="AutoShape 21"/>
            <p:cNvSpPr>
              <a:spLocks noChangeAspect="1"/>
            </p:cNvSpPr>
            <p:nvPr/>
          </p:nvSpPr>
          <p:spPr bwMode="auto">
            <a:xfrm>
              <a:off x="5988" y="9132"/>
              <a:ext cx="81" cy="617"/>
            </a:xfrm>
            <a:prstGeom prst="leftBrace">
              <a:avLst>
                <a:gd name="adj1" fmla="val 63477"/>
                <a:gd name="adj2" fmla="val 50000"/>
              </a:avLst>
            </a:prstGeom>
            <a:noFill/>
            <a:ln w="63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9pPr>
            </a:lstStyle>
            <a:p>
              <a:pPr eaLnBrk="1" hangingPunct="1"/>
              <a:endParaRPr lang="zh-CN" altLang="en-US"/>
            </a:p>
          </p:txBody>
        </p:sp>
        <p:sp>
          <p:nvSpPr>
            <p:cNvPr id="28" name="AutoShape 22"/>
            <p:cNvSpPr>
              <a:spLocks noChangeAspect="1"/>
            </p:cNvSpPr>
            <p:nvPr/>
          </p:nvSpPr>
          <p:spPr bwMode="auto">
            <a:xfrm rot="10800000">
              <a:off x="6818" y="9130"/>
              <a:ext cx="81" cy="617"/>
            </a:xfrm>
            <a:prstGeom prst="leftBrace">
              <a:avLst>
                <a:gd name="adj1" fmla="val 63477"/>
                <a:gd name="adj2" fmla="val 50000"/>
              </a:avLst>
            </a:prstGeom>
            <a:noFill/>
            <a:ln w="63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9pPr>
            </a:lstStyle>
            <a:p>
              <a:pPr eaLnBrk="1" hangingPunct="1"/>
              <a:endParaRPr lang="zh-CN" altLang="en-US"/>
            </a:p>
          </p:txBody>
        </p:sp>
      </p:grpSp>
      <p:grpSp>
        <p:nvGrpSpPr>
          <p:cNvPr id="29" name="Group 25"/>
          <p:cNvGrpSpPr>
            <a:grpSpLocks/>
          </p:cNvGrpSpPr>
          <p:nvPr/>
        </p:nvGrpSpPr>
        <p:grpSpPr bwMode="auto">
          <a:xfrm>
            <a:off x="1441450" y="2674937"/>
            <a:ext cx="1619250" cy="423863"/>
            <a:chOff x="0" y="0"/>
            <a:chExt cx="596" cy="355"/>
          </a:xfrm>
        </p:grpSpPr>
        <p:sp>
          <p:nvSpPr>
            <p:cNvPr id="30" name="Rectangle 26"/>
            <p:cNvSpPr>
              <a:spLocks noChangeArrowheads="1"/>
            </p:cNvSpPr>
            <p:nvPr/>
          </p:nvSpPr>
          <p:spPr bwMode="auto">
            <a:xfrm>
              <a:off x="43" y="0"/>
              <a:ext cx="510"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9pPr>
            </a:lstStyle>
            <a:p>
              <a:pPr algn="ctr" eaLnBrk="1" hangingPunct="1">
                <a:lnSpc>
                  <a:spcPct val="100000"/>
                </a:lnSpc>
                <a:spcBef>
                  <a:spcPct val="0"/>
                </a:spcBef>
                <a:buClrTx/>
                <a:buFontTx/>
                <a:buNone/>
              </a:pPr>
              <a:r>
                <a:rPr kumimoji="1" lang="zh-CN" altLang="en-US" sz="2000" b="1">
                  <a:latin typeface="Times New Roman" pitchFamily="18" charset="0"/>
                </a:rPr>
                <a:t>课  程  </a:t>
              </a:r>
              <a:r>
                <a:rPr kumimoji="1" lang="en-US" altLang="zh-CN" sz="2000" b="1">
                  <a:latin typeface="Times New Roman" pitchFamily="18" charset="0"/>
                </a:rPr>
                <a:t>C</a:t>
              </a:r>
              <a:endParaRPr kumimoji="1" lang="en-US" altLang="zh-CN" sz="3200" b="1">
                <a:latin typeface="Times New Roman" pitchFamily="18" charset="0"/>
              </a:endParaRPr>
            </a:p>
            <a:p>
              <a:pPr algn="ctr">
                <a:lnSpc>
                  <a:spcPct val="100000"/>
                </a:lnSpc>
                <a:spcBef>
                  <a:spcPct val="0"/>
                </a:spcBef>
                <a:buClrTx/>
                <a:buFontTx/>
                <a:buNone/>
              </a:pPr>
              <a:endParaRPr kumimoji="1" lang="en-US" altLang="zh-CN" sz="2400" b="1">
                <a:latin typeface="Times New Roman" pitchFamily="18" charset="0"/>
              </a:endParaRPr>
            </a:p>
          </p:txBody>
        </p:sp>
        <p:sp>
          <p:nvSpPr>
            <p:cNvPr id="31" name="Rectangle 27"/>
            <p:cNvSpPr>
              <a:spLocks noChangeArrowheads="1"/>
            </p:cNvSpPr>
            <p:nvPr/>
          </p:nvSpPr>
          <p:spPr bwMode="auto">
            <a:xfrm>
              <a:off x="0" y="0"/>
              <a:ext cx="596" cy="355"/>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9pPr>
            </a:lstStyle>
            <a:p>
              <a:pPr eaLnBrk="1" hangingPunct="1"/>
              <a:endParaRPr lang="zh-CN" altLang="en-US"/>
            </a:p>
          </p:txBody>
        </p:sp>
      </p:grpSp>
      <p:grpSp>
        <p:nvGrpSpPr>
          <p:cNvPr id="32" name="Group 28"/>
          <p:cNvGrpSpPr>
            <a:grpSpLocks/>
          </p:cNvGrpSpPr>
          <p:nvPr/>
        </p:nvGrpSpPr>
        <p:grpSpPr bwMode="auto">
          <a:xfrm>
            <a:off x="3060700" y="2674937"/>
            <a:ext cx="2232025" cy="423863"/>
            <a:chOff x="596" y="0"/>
            <a:chExt cx="822" cy="355"/>
          </a:xfrm>
        </p:grpSpPr>
        <p:sp>
          <p:nvSpPr>
            <p:cNvPr id="33" name="Rectangle 29"/>
            <p:cNvSpPr>
              <a:spLocks noChangeArrowheads="1"/>
            </p:cNvSpPr>
            <p:nvPr/>
          </p:nvSpPr>
          <p:spPr bwMode="auto">
            <a:xfrm>
              <a:off x="639" y="0"/>
              <a:ext cx="736"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9pPr>
            </a:lstStyle>
            <a:p>
              <a:pPr algn="ctr" eaLnBrk="1" hangingPunct="1">
                <a:lnSpc>
                  <a:spcPct val="100000"/>
                </a:lnSpc>
                <a:spcBef>
                  <a:spcPct val="0"/>
                </a:spcBef>
                <a:buClrTx/>
                <a:buFontTx/>
                <a:buNone/>
              </a:pPr>
              <a:r>
                <a:rPr kumimoji="1" lang="zh-CN" altLang="en-US" sz="2000" b="1">
                  <a:latin typeface="Times New Roman" pitchFamily="18" charset="0"/>
                </a:rPr>
                <a:t>教  员  </a:t>
              </a:r>
              <a:r>
                <a:rPr kumimoji="1" lang="en-US" altLang="zh-CN" sz="2000" b="1">
                  <a:latin typeface="Times New Roman" pitchFamily="18" charset="0"/>
                </a:rPr>
                <a:t>T</a:t>
              </a:r>
            </a:p>
            <a:p>
              <a:pPr algn="ctr">
                <a:lnSpc>
                  <a:spcPct val="100000"/>
                </a:lnSpc>
                <a:spcBef>
                  <a:spcPct val="0"/>
                </a:spcBef>
                <a:buClrTx/>
                <a:buFontTx/>
                <a:buNone/>
              </a:pPr>
              <a:endParaRPr kumimoji="1" lang="en-US" altLang="zh-CN" sz="2000" b="1">
                <a:latin typeface="Times New Roman" pitchFamily="18" charset="0"/>
              </a:endParaRPr>
            </a:p>
          </p:txBody>
        </p:sp>
        <p:sp>
          <p:nvSpPr>
            <p:cNvPr id="34" name="Rectangle 30"/>
            <p:cNvSpPr>
              <a:spLocks noChangeArrowheads="1"/>
            </p:cNvSpPr>
            <p:nvPr/>
          </p:nvSpPr>
          <p:spPr bwMode="auto">
            <a:xfrm>
              <a:off x="596" y="0"/>
              <a:ext cx="822" cy="355"/>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9pPr>
            </a:lstStyle>
            <a:p>
              <a:pPr eaLnBrk="1" hangingPunct="1"/>
              <a:endParaRPr lang="zh-CN" altLang="en-US"/>
            </a:p>
          </p:txBody>
        </p:sp>
      </p:grpSp>
      <p:grpSp>
        <p:nvGrpSpPr>
          <p:cNvPr id="35" name="Group 31"/>
          <p:cNvGrpSpPr>
            <a:grpSpLocks/>
          </p:cNvGrpSpPr>
          <p:nvPr/>
        </p:nvGrpSpPr>
        <p:grpSpPr bwMode="auto">
          <a:xfrm>
            <a:off x="5292725" y="2674937"/>
            <a:ext cx="2319338" cy="423863"/>
            <a:chOff x="1418" y="0"/>
            <a:chExt cx="854" cy="355"/>
          </a:xfrm>
        </p:grpSpPr>
        <p:sp>
          <p:nvSpPr>
            <p:cNvPr id="36" name="Rectangle 32"/>
            <p:cNvSpPr>
              <a:spLocks noChangeArrowheads="1"/>
            </p:cNvSpPr>
            <p:nvPr/>
          </p:nvSpPr>
          <p:spPr bwMode="auto">
            <a:xfrm>
              <a:off x="1461" y="0"/>
              <a:ext cx="768"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9pPr>
            </a:lstStyle>
            <a:p>
              <a:pPr algn="ctr" eaLnBrk="1" hangingPunct="1">
                <a:lnSpc>
                  <a:spcPct val="100000"/>
                </a:lnSpc>
                <a:spcBef>
                  <a:spcPct val="0"/>
                </a:spcBef>
                <a:buClrTx/>
                <a:buFontTx/>
                <a:buNone/>
              </a:pPr>
              <a:r>
                <a:rPr kumimoji="1" lang="zh-CN" altLang="en-US" sz="2000" b="1">
                  <a:latin typeface="Times New Roman" pitchFamily="18" charset="0"/>
                </a:rPr>
                <a:t>参 考 书 </a:t>
              </a:r>
              <a:r>
                <a:rPr kumimoji="1" lang="en-US" altLang="zh-CN" sz="2000" b="1">
                  <a:latin typeface="Times New Roman" pitchFamily="18" charset="0"/>
                </a:rPr>
                <a:t>B</a:t>
              </a:r>
            </a:p>
          </p:txBody>
        </p:sp>
        <p:sp>
          <p:nvSpPr>
            <p:cNvPr id="37" name="Rectangle 33"/>
            <p:cNvSpPr>
              <a:spLocks noChangeArrowheads="1"/>
            </p:cNvSpPr>
            <p:nvPr/>
          </p:nvSpPr>
          <p:spPr bwMode="auto">
            <a:xfrm>
              <a:off x="1418" y="0"/>
              <a:ext cx="854" cy="355"/>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9pPr>
            </a:lstStyle>
            <a:p>
              <a:pPr eaLnBrk="1" hangingPunct="1"/>
              <a:endParaRPr lang="zh-CN" altLang="en-US"/>
            </a:p>
          </p:txBody>
        </p:sp>
      </p:grpSp>
      <p:grpSp>
        <p:nvGrpSpPr>
          <p:cNvPr id="38" name="Group 34"/>
          <p:cNvGrpSpPr>
            <a:grpSpLocks/>
          </p:cNvGrpSpPr>
          <p:nvPr/>
        </p:nvGrpSpPr>
        <p:grpSpPr bwMode="auto">
          <a:xfrm>
            <a:off x="1441450" y="3098800"/>
            <a:ext cx="1619250" cy="3522662"/>
            <a:chOff x="0" y="355"/>
            <a:chExt cx="596" cy="1255"/>
          </a:xfrm>
        </p:grpSpPr>
        <p:sp>
          <p:nvSpPr>
            <p:cNvPr id="39" name="Rectangle 35"/>
            <p:cNvSpPr>
              <a:spLocks noChangeArrowheads="1"/>
            </p:cNvSpPr>
            <p:nvPr/>
          </p:nvSpPr>
          <p:spPr bwMode="auto">
            <a:xfrm>
              <a:off x="43" y="355"/>
              <a:ext cx="510" cy="1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9pPr>
            </a:lstStyle>
            <a:p>
              <a:pPr algn="ctr" eaLnBrk="1" hangingPunct="1">
                <a:lnSpc>
                  <a:spcPct val="100000"/>
                </a:lnSpc>
                <a:spcBef>
                  <a:spcPct val="0"/>
                </a:spcBef>
                <a:buClrTx/>
                <a:buFontTx/>
                <a:buNone/>
              </a:pPr>
              <a:r>
                <a:rPr kumimoji="1" lang="en-US" altLang="zh-CN" sz="700" b="1" dirty="0">
                  <a:latin typeface="Times New Roman" pitchFamily="18" charset="0"/>
                </a:rPr>
                <a:t> </a:t>
              </a:r>
              <a:endParaRPr kumimoji="1" lang="en-US" altLang="zh-CN" sz="1000" b="1" dirty="0">
                <a:latin typeface="Times New Roman" pitchFamily="18" charset="0"/>
              </a:endParaRPr>
            </a:p>
            <a:p>
              <a:pPr algn="ctr">
                <a:lnSpc>
                  <a:spcPct val="100000"/>
                </a:lnSpc>
                <a:spcBef>
                  <a:spcPct val="0"/>
                </a:spcBef>
                <a:buClrTx/>
                <a:buFontTx/>
                <a:buNone/>
              </a:pPr>
              <a:r>
                <a:rPr kumimoji="1" lang="en-US" altLang="zh-CN" sz="700" b="1" dirty="0">
                  <a:latin typeface="Times New Roman" pitchFamily="18" charset="0"/>
                </a:rPr>
                <a:t> </a:t>
              </a:r>
              <a:endParaRPr kumimoji="1" lang="en-US" altLang="zh-CN" sz="1000" b="1" dirty="0">
                <a:latin typeface="Times New Roman" pitchFamily="18" charset="0"/>
              </a:endParaRPr>
            </a:p>
            <a:p>
              <a:pPr algn="ctr">
                <a:lnSpc>
                  <a:spcPct val="100000"/>
                </a:lnSpc>
                <a:spcBef>
                  <a:spcPct val="0"/>
                </a:spcBef>
                <a:buClrTx/>
                <a:buFontTx/>
                <a:buNone/>
              </a:pPr>
              <a:r>
                <a:rPr kumimoji="1" lang="zh-CN" altLang="en-US" sz="2000" b="1" dirty="0">
                  <a:latin typeface="Times New Roman" pitchFamily="18" charset="0"/>
                </a:rPr>
                <a:t>物理</a:t>
              </a:r>
              <a:br>
                <a:rPr kumimoji="1" lang="zh-CN" altLang="en-US" sz="2000" b="1" dirty="0">
                  <a:latin typeface="Times New Roman" pitchFamily="18" charset="0"/>
                </a:rPr>
              </a:br>
              <a:br>
                <a:rPr kumimoji="1" lang="zh-CN" altLang="en-US" sz="2000" b="1" dirty="0">
                  <a:latin typeface="Times New Roman" pitchFamily="18" charset="0"/>
                </a:rPr>
              </a:br>
              <a:endParaRPr kumimoji="1" lang="zh-CN" altLang="en-US" sz="2000" b="1" dirty="0">
                <a:latin typeface="Times New Roman" pitchFamily="18" charset="0"/>
              </a:endParaRPr>
            </a:p>
            <a:p>
              <a:pPr algn="ctr">
                <a:lnSpc>
                  <a:spcPct val="100000"/>
                </a:lnSpc>
                <a:spcBef>
                  <a:spcPct val="0"/>
                </a:spcBef>
                <a:buClrTx/>
                <a:buFontTx/>
                <a:buNone/>
              </a:pPr>
              <a:r>
                <a:rPr kumimoji="1" lang="zh-CN" altLang="en-US" sz="2000" b="1" dirty="0">
                  <a:latin typeface="Times New Roman" pitchFamily="18" charset="0"/>
                </a:rPr>
                <a:t>数学</a:t>
              </a:r>
            </a:p>
            <a:p>
              <a:pPr algn="ctr">
                <a:lnSpc>
                  <a:spcPct val="100000"/>
                </a:lnSpc>
                <a:spcBef>
                  <a:spcPct val="0"/>
                </a:spcBef>
                <a:buClrTx/>
                <a:buFontTx/>
                <a:buNone/>
              </a:pPr>
              <a:r>
                <a:rPr kumimoji="1" lang="zh-CN" altLang="en-US" sz="2000" b="1" dirty="0">
                  <a:latin typeface="Times New Roman" pitchFamily="18" charset="0"/>
                </a:rPr>
                <a:t> </a:t>
              </a:r>
              <a:endParaRPr kumimoji="1" lang="zh-CN" altLang="en-US" sz="3200" b="1" dirty="0">
                <a:latin typeface="Times New Roman" pitchFamily="18" charset="0"/>
              </a:endParaRPr>
            </a:p>
            <a:p>
              <a:pPr algn="ctr">
                <a:lnSpc>
                  <a:spcPct val="100000"/>
                </a:lnSpc>
                <a:spcBef>
                  <a:spcPct val="0"/>
                </a:spcBef>
                <a:buClrTx/>
                <a:buFontTx/>
                <a:buNone/>
              </a:pPr>
              <a:endParaRPr kumimoji="1" lang="zh-CN" altLang="en-US" sz="2000" b="1" dirty="0">
                <a:latin typeface="Times New Roman" pitchFamily="18" charset="0"/>
              </a:endParaRPr>
            </a:p>
            <a:p>
              <a:pPr algn="ctr">
                <a:lnSpc>
                  <a:spcPct val="100000"/>
                </a:lnSpc>
                <a:spcBef>
                  <a:spcPct val="0"/>
                </a:spcBef>
                <a:buClrTx/>
                <a:buFontTx/>
                <a:buNone/>
              </a:pPr>
              <a:endParaRPr kumimoji="1" lang="zh-CN" altLang="en-US" sz="500" b="1" dirty="0">
                <a:latin typeface="Times New Roman" pitchFamily="18" charset="0"/>
              </a:endParaRPr>
            </a:p>
            <a:p>
              <a:pPr algn="ctr">
                <a:lnSpc>
                  <a:spcPct val="100000"/>
                </a:lnSpc>
                <a:spcBef>
                  <a:spcPct val="0"/>
                </a:spcBef>
                <a:buClrTx/>
                <a:buFontTx/>
                <a:buNone/>
              </a:pPr>
              <a:r>
                <a:rPr kumimoji="1" lang="zh-CN" altLang="en-US" sz="2000" b="1" dirty="0">
                  <a:latin typeface="Times New Roman" pitchFamily="18" charset="0"/>
                </a:rPr>
                <a:t>计算数学</a:t>
              </a:r>
              <a:endParaRPr kumimoji="1" lang="zh-CN" altLang="en-US" sz="6000" b="1" dirty="0">
                <a:latin typeface="Times New Roman" pitchFamily="18" charset="0"/>
              </a:endParaRPr>
            </a:p>
          </p:txBody>
        </p:sp>
        <p:sp>
          <p:nvSpPr>
            <p:cNvPr id="40" name="Rectangle 36"/>
            <p:cNvSpPr>
              <a:spLocks noChangeArrowheads="1"/>
            </p:cNvSpPr>
            <p:nvPr/>
          </p:nvSpPr>
          <p:spPr bwMode="auto">
            <a:xfrm>
              <a:off x="0" y="355"/>
              <a:ext cx="596" cy="1255"/>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9pPr>
            </a:lstStyle>
            <a:p>
              <a:pPr eaLnBrk="1" hangingPunct="1"/>
              <a:endParaRPr lang="zh-CN" altLang="en-US"/>
            </a:p>
          </p:txBody>
        </p:sp>
      </p:grpSp>
      <p:grpSp>
        <p:nvGrpSpPr>
          <p:cNvPr id="41" name="Group 37"/>
          <p:cNvGrpSpPr>
            <a:grpSpLocks/>
          </p:cNvGrpSpPr>
          <p:nvPr/>
        </p:nvGrpSpPr>
        <p:grpSpPr bwMode="auto">
          <a:xfrm>
            <a:off x="3060700" y="3098800"/>
            <a:ext cx="2232025" cy="3522662"/>
            <a:chOff x="596" y="355"/>
            <a:chExt cx="822" cy="1255"/>
          </a:xfrm>
        </p:grpSpPr>
        <p:sp>
          <p:nvSpPr>
            <p:cNvPr id="42" name="Rectangle 38"/>
            <p:cNvSpPr>
              <a:spLocks noChangeArrowheads="1"/>
            </p:cNvSpPr>
            <p:nvPr/>
          </p:nvSpPr>
          <p:spPr bwMode="auto">
            <a:xfrm>
              <a:off x="639" y="355"/>
              <a:ext cx="736" cy="1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9pPr>
            </a:lstStyle>
            <a:p>
              <a:pPr algn="ctr" eaLnBrk="1" hangingPunct="1">
                <a:lnSpc>
                  <a:spcPct val="100000"/>
                </a:lnSpc>
                <a:spcBef>
                  <a:spcPct val="0"/>
                </a:spcBef>
                <a:buClrTx/>
                <a:buFontTx/>
                <a:buNone/>
              </a:pPr>
              <a:r>
                <a:rPr kumimoji="1" lang="zh-CN" altLang="en-US" sz="2000" b="1" dirty="0">
                  <a:solidFill>
                    <a:srgbClr val="0000FF"/>
                  </a:solidFill>
                  <a:latin typeface="Times New Roman" pitchFamily="18" charset="0"/>
                </a:rPr>
                <a:t>李 勇</a:t>
              </a:r>
              <a:endParaRPr kumimoji="1" lang="zh-CN" altLang="en-US" sz="3200" b="1" dirty="0">
                <a:solidFill>
                  <a:srgbClr val="0000FF"/>
                </a:solidFill>
                <a:latin typeface="Times New Roman" pitchFamily="18" charset="0"/>
              </a:endParaRPr>
            </a:p>
            <a:p>
              <a:pPr algn="ctr">
                <a:lnSpc>
                  <a:spcPct val="100000"/>
                </a:lnSpc>
                <a:spcBef>
                  <a:spcPct val="0"/>
                </a:spcBef>
                <a:buClrTx/>
                <a:buFontTx/>
                <a:buNone/>
              </a:pPr>
              <a:r>
                <a:rPr kumimoji="1" lang="zh-CN" altLang="en-US" sz="2000" b="1" dirty="0">
                  <a:latin typeface="Times New Roman" pitchFamily="18" charset="0"/>
                </a:rPr>
                <a:t>王 军</a:t>
              </a:r>
              <a:r>
                <a:rPr kumimoji="1" lang="zh-CN" altLang="en-US" sz="700" b="1" dirty="0">
                  <a:latin typeface="Times New Roman" pitchFamily="18" charset="0"/>
                </a:rPr>
                <a:t> </a:t>
              </a:r>
              <a:endParaRPr kumimoji="1" lang="zh-CN" altLang="en-US" sz="1000" b="1" dirty="0">
                <a:latin typeface="Times New Roman" pitchFamily="18" charset="0"/>
              </a:endParaRPr>
            </a:p>
            <a:p>
              <a:pPr algn="ctr">
                <a:lnSpc>
                  <a:spcPct val="100000"/>
                </a:lnSpc>
                <a:spcBef>
                  <a:spcPct val="0"/>
                </a:spcBef>
                <a:buClrTx/>
                <a:buFontTx/>
                <a:buNone/>
              </a:pPr>
              <a:r>
                <a:rPr kumimoji="1" lang="zh-CN" altLang="en-US" b="1" dirty="0">
                  <a:latin typeface="Times New Roman" pitchFamily="18" charset="0"/>
                </a:rPr>
                <a:t> </a:t>
              </a:r>
            </a:p>
            <a:p>
              <a:pPr algn="ctr">
                <a:lnSpc>
                  <a:spcPct val="100000"/>
                </a:lnSpc>
                <a:spcBef>
                  <a:spcPct val="0"/>
                </a:spcBef>
                <a:buClrTx/>
                <a:buFontTx/>
                <a:buNone/>
              </a:pPr>
              <a:endParaRPr kumimoji="1" lang="zh-CN" altLang="en-US" sz="1000" b="1" dirty="0">
                <a:latin typeface="Times New Roman" pitchFamily="18" charset="0"/>
              </a:endParaRPr>
            </a:p>
            <a:p>
              <a:pPr algn="ctr">
                <a:lnSpc>
                  <a:spcPct val="100000"/>
                </a:lnSpc>
                <a:spcBef>
                  <a:spcPct val="0"/>
                </a:spcBef>
                <a:buClrTx/>
                <a:buFontTx/>
                <a:buNone/>
              </a:pPr>
              <a:r>
                <a:rPr kumimoji="1" lang="zh-CN" altLang="en-US" sz="1800" b="1" dirty="0">
                  <a:solidFill>
                    <a:srgbClr val="0000FF"/>
                  </a:solidFill>
                  <a:latin typeface="Times New Roman" pitchFamily="18" charset="0"/>
                </a:rPr>
                <a:t>李 勇</a:t>
              </a:r>
              <a:endParaRPr kumimoji="1" lang="zh-CN" altLang="en-US" sz="2000" b="1" dirty="0">
                <a:solidFill>
                  <a:srgbClr val="0000FF"/>
                </a:solidFill>
                <a:latin typeface="Times New Roman" pitchFamily="18" charset="0"/>
              </a:endParaRPr>
            </a:p>
            <a:p>
              <a:pPr algn="ctr">
                <a:lnSpc>
                  <a:spcPct val="100000"/>
                </a:lnSpc>
                <a:spcBef>
                  <a:spcPct val="0"/>
                </a:spcBef>
                <a:buClrTx/>
                <a:buFontTx/>
                <a:buNone/>
              </a:pPr>
              <a:r>
                <a:rPr kumimoji="1" lang="zh-CN" altLang="en-US" sz="1800" b="1" dirty="0">
                  <a:latin typeface="Times New Roman" pitchFamily="18" charset="0"/>
                </a:rPr>
                <a:t>张 平</a:t>
              </a:r>
            </a:p>
            <a:p>
              <a:pPr algn="ctr">
                <a:lnSpc>
                  <a:spcPct val="100000"/>
                </a:lnSpc>
                <a:spcBef>
                  <a:spcPct val="0"/>
                </a:spcBef>
                <a:buClrTx/>
                <a:buFontTx/>
                <a:buNone/>
              </a:pPr>
              <a:endParaRPr kumimoji="1" lang="zh-CN" altLang="en-US" sz="2000" b="1" dirty="0">
                <a:latin typeface="Times New Roman" pitchFamily="18" charset="0"/>
              </a:endParaRPr>
            </a:p>
            <a:p>
              <a:pPr algn="ctr">
                <a:lnSpc>
                  <a:spcPct val="100000"/>
                </a:lnSpc>
                <a:spcBef>
                  <a:spcPct val="0"/>
                </a:spcBef>
                <a:buClrTx/>
                <a:buFontTx/>
                <a:buNone/>
              </a:pPr>
              <a:r>
                <a:rPr kumimoji="1" lang="zh-CN" altLang="en-US" sz="300" b="1" dirty="0">
                  <a:latin typeface="Times New Roman" pitchFamily="18" charset="0"/>
                </a:rPr>
                <a:t> </a:t>
              </a:r>
            </a:p>
            <a:p>
              <a:pPr algn="ctr">
                <a:lnSpc>
                  <a:spcPct val="100000"/>
                </a:lnSpc>
                <a:spcBef>
                  <a:spcPct val="0"/>
                </a:spcBef>
                <a:buClrTx/>
                <a:buFontTx/>
                <a:buNone/>
              </a:pPr>
              <a:r>
                <a:rPr kumimoji="1" lang="zh-CN" altLang="en-US" sz="1800" b="1" dirty="0">
                  <a:latin typeface="Times New Roman" pitchFamily="18" charset="0"/>
                </a:rPr>
                <a:t>张 平</a:t>
              </a:r>
              <a:endParaRPr kumimoji="1" lang="zh-CN" altLang="en-US" sz="2000" b="1" dirty="0">
                <a:latin typeface="Times New Roman" pitchFamily="18" charset="0"/>
              </a:endParaRPr>
            </a:p>
            <a:p>
              <a:pPr algn="ctr">
                <a:lnSpc>
                  <a:spcPct val="100000"/>
                </a:lnSpc>
                <a:spcBef>
                  <a:spcPct val="0"/>
                </a:spcBef>
                <a:buClrTx/>
                <a:buFontTx/>
                <a:buNone/>
              </a:pPr>
              <a:r>
                <a:rPr kumimoji="1" lang="zh-CN" altLang="en-US" sz="1800" b="1" dirty="0">
                  <a:latin typeface="Times New Roman" pitchFamily="18" charset="0"/>
                </a:rPr>
                <a:t>   周 峰</a:t>
              </a:r>
              <a:r>
                <a:rPr kumimoji="1" lang="zh-CN" altLang="en-US" b="1" dirty="0">
                  <a:latin typeface="Times New Roman" pitchFamily="18" charset="0"/>
                </a:rPr>
                <a:t>			</a:t>
              </a:r>
              <a:endParaRPr kumimoji="1" lang="zh-CN" altLang="en-US" sz="5400" b="1" dirty="0">
                <a:latin typeface="Times New Roman" pitchFamily="18" charset="0"/>
              </a:endParaRPr>
            </a:p>
          </p:txBody>
        </p:sp>
        <p:sp>
          <p:nvSpPr>
            <p:cNvPr id="43" name="Rectangle 39"/>
            <p:cNvSpPr>
              <a:spLocks noChangeArrowheads="1"/>
            </p:cNvSpPr>
            <p:nvPr/>
          </p:nvSpPr>
          <p:spPr bwMode="auto">
            <a:xfrm>
              <a:off x="596" y="355"/>
              <a:ext cx="822" cy="1255"/>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9pPr>
            </a:lstStyle>
            <a:p>
              <a:pPr eaLnBrk="1" hangingPunct="1"/>
              <a:endParaRPr lang="zh-CN" altLang="en-US"/>
            </a:p>
          </p:txBody>
        </p:sp>
      </p:grpSp>
      <p:grpSp>
        <p:nvGrpSpPr>
          <p:cNvPr id="44" name="Group 40"/>
          <p:cNvGrpSpPr>
            <a:grpSpLocks/>
          </p:cNvGrpSpPr>
          <p:nvPr/>
        </p:nvGrpSpPr>
        <p:grpSpPr bwMode="auto">
          <a:xfrm>
            <a:off x="5292725" y="3098800"/>
            <a:ext cx="2319338" cy="3522662"/>
            <a:chOff x="1418" y="355"/>
            <a:chExt cx="854" cy="1255"/>
          </a:xfrm>
        </p:grpSpPr>
        <p:sp>
          <p:nvSpPr>
            <p:cNvPr id="45" name="Rectangle 41"/>
            <p:cNvSpPr>
              <a:spLocks noChangeArrowheads="1"/>
            </p:cNvSpPr>
            <p:nvPr/>
          </p:nvSpPr>
          <p:spPr bwMode="auto">
            <a:xfrm>
              <a:off x="1461" y="355"/>
              <a:ext cx="768" cy="1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9pPr>
            </a:lstStyle>
            <a:p>
              <a:pPr algn="ctr" eaLnBrk="1" hangingPunct="1">
                <a:lnSpc>
                  <a:spcPct val="110000"/>
                </a:lnSpc>
                <a:spcBef>
                  <a:spcPct val="0"/>
                </a:spcBef>
                <a:buClrTx/>
                <a:buFontTx/>
                <a:buNone/>
              </a:pPr>
              <a:r>
                <a:rPr kumimoji="1" lang="en-US" altLang="zh-CN" sz="600" b="1" dirty="0">
                  <a:latin typeface="Times New Roman" pitchFamily="18" charset="0"/>
                </a:rPr>
                <a:t>  </a:t>
              </a:r>
              <a:r>
                <a:rPr kumimoji="1" lang="zh-CN" altLang="en-US" sz="1800" b="1" dirty="0">
                  <a:latin typeface="Times New Roman" pitchFamily="18" charset="0"/>
                </a:rPr>
                <a:t>普通物理学</a:t>
              </a:r>
              <a:endParaRPr kumimoji="1" lang="zh-CN" altLang="en-US" sz="2000" b="1" dirty="0">
                <a:latin typeface="Times New Roman" pitchFamily="18" charset="0"/>
              </a:endParaRPr>
            </a:p>
            <a:p>
              <a:pPr algn="ctr">
                <a:lnSpc>
                  <a:spcPct val="110000"/>
                </a:lnSpc>
                <a:spcBef>
                  <a:spcPct val="0"/>
                </a:spcBef>
                <a:buClrTx/>
                <a:buFontTx/>
                <a:buNone/>
              </a:pPr>
              <a:r>
                <a:rPr kumimoji="1" lang="zh-CN" altLang="en-US" sz="1800" b="1" dirty="0">
                  <a:latin typeface="Times New Roman" pitchFamily="18" charset="0"/>
                </a:rPr>
                <a:t>光学原理</a:t>
              </a:r>
            </a:p>
            <a:p>
              <a:pPr algn="ctr">
                <a:lnSpc>
                  <a:spcPct val="70000"/>
                </a:lnSpc>
                <a:spcBef>
                  <a:spcPct val="0"/>
                </a:spcBef>
                <a:buClrTx/>
                <a:buFontTx/>
                <a:buNone/>
              </a:pPr>
              <a:r>
                <a:rPr kumimoji="1" lang="zh-CN" altLang="en-US" sz="1800" b="1" dirty="0">
                  <a:latin typeface="Times New Roman" pitchFamily="18" charset="0"/>
                </a:rPr>
                <a:t> 物理习题集</a:t>
              </a:r>
            </a:p>
            <a:p>
              <a:pPr algn="ctr">
                <a:lnSpc>
                  <a:spcPct val="70000"/>
                </a:lnSpc>
                <a:spcBef>
                  <a:spcPct val="0"/>
                </a:spcBef>
                <a:buClrTx/>
                <a:buFontTx/>
                <a:buNone/>
              </a:pPr>
              <a:br>
                <a:rPr kumimoji="1" lang="zh-CN" altLang="en-US" sz="1800" b="1" dirty="0">
                  <a:latin typeface="Times New Roman" pitchFamily="18" charset="0"/>
                </a:rPr>
              </a:br>
              <a:r>
                <a:rPr kumimoji="1" lang="zh-CN" altLang="en-US" sz="1800" b="1" dirty="0">
                  <a:solidFill>
                    <a:srgbClr val="0000FF"/>
                  </a:solidFill>
                  <a:latin typeface="Times New Roman" pitchFamily="18" charset="0"/>
                </a:rPr>
                <a:t>数学分析</a:t>
              </a:r>
              <a:endParaRPr kumimoji="1" lang="zh-CN" altLang="en-US" sz="2000" b="1" dirty="0">
                <a:solidFill>
                  <a:srgbClr val="0000FF"/>
                </a:solidFill>
                <a:latin typeface="Times New Roman" pitchFamily="18" charset="0"/>
              </a:endParaRPr>
            </a:p>
            <a:p>
              <a:pPr algn="ctr">
                <a:lnSpc>
                  <a:spcPct val="100000"/>
                </a:lnSpc>
                <a:spcBef>
                  <a:spcPct val="0"/>
                </a:spcBef>
                <a:buClrTx/>
                <a:buFontTx/>
                <a:buNone/>
              </a:pPr>
              <a:r>
                <a:rPr kumimoji="1" lang="zh-CN" altLang="en-US" sz="1800" b="1" dirty="0">
                  <a:latin typeface="Times New Roman" pitchFamily="18" charset="0"/>
                </a:rPr>
                <a:t>微分方程</a:t>
              </a:r>
              <a:endParaRPr kumimoji="1" lang="zh-CN" altLang="en-US" sz="2000" b="1" dirty="0">
                <a:latin typeface="Times New Roman" pitchFamily="18" charset="0"/>
              </a:endParaRPr>
            </a:p>
            <a:p>
              <a:pPr algn="ctr">
                <a:lnSpc>
                  <a:spcPct val="100000"/>
                </a:lnSpc>
                <a:spcBef>
                  <a:spcPct val="0"/>
                </a:spcBef>
                <a:buClrTx/>
                <a:buFontTx/>
                <a:buNone/>
              </a:pPr>
              <a:r>
                <a:rPr kumimoji="1" lang="zh-CN" altLang="en-US" sz="1800" b="1" dirty="0">
                  <a:latin typeface="Times New Roman" pitchFamily="18" charset="0"/>
                </a:rPr>
                <a:t>高等代数</a:t>
              </a:r>
              <a:br>
                <a:rPr kumimoji="1" lang="zh-CN" altLang="en-US" sz="1800" b="1" dirty="0">
                  <a:latin typeface="Times New Roman" pitchFamily="18" charset="0"/>
                </a:rPr>
              </a:br>
              <a:endParaRPr kumimoji="1" lang="zh-CN" altLang="en-US" sz="1200" b="1" dirty="0">
                <a:latin typeface="Times New Roman" pitchFamily="18" charset="0"/>
              </a:endParaRPr>
            </a:p>
            <a:p>
              <a:pPr algn="ctr">
                <a:lnSpc>
                  <a:spcPct val="100000"/>
                </a:lnSpc>
                <a:spcBef>
                  <a:spcPct val="0"/>
                </a:spcBef>
                <a:buClrTx/>
                <a:buFontTx/>
                <a:buNone/>
              </a:pPr>
              <a:r>
                <a:rPr kumimoji="1" lang="zh-CN" altLang="en-US" sz="1800" b="1" dirty="0">
                  <a:solidFill>
                    <a:srgbClr val="0000FF"/>
                  </a:solidFill>
                  <a:latin typeface="Times New Roman" pitchFamily="18" charset="0"/>
                </a:rPr>
                <a:t>数学分析</a:t>
              </a:r>
              <a:endParaRPr kumimoji="1" lang="zh-CN" altLang="en-US" sz="2000" b="1" dirty="0">
                <a:solidFill>
                  <a:srgbClr val="0000FF"/>
                </a:solidFill>
                <a:latin typeface="Times New Roman" pitchFamily="18" charset="0"/>
              </a:endParaRPr>
            </a:p>
            <a:p>
              <a:pPr algn="ctr">
                <a:lnSpc>
                  <a:spcPct val="70000"/>
                </a:lnSpc>
                <a:spcBef>
                  <a:spcPct val="0"/>
                </a:spcBef>
                <a:buClrTx/>
                <a:buFontTx/>
                <a:buNone/>
              </a:pPr>
              <a:r>
                <a:rPr kumimoji="1" lang="en-US" altLang="zh-CN" sz="1800" b="1" dirty="0">
                  <a:latin typeface="Times New Roman" pitchFamily="18" charset="0"/>
                </a:rPr>
                <a:t>...</a:t>
              </a:r>
            </a:p>
            <a:p>
              <a:pPr algn="ctr">
                <a:lnSpc>
                  <a:spcPct val="70000"/>
                </a:lnSpc>
                <a:spcBef>
                  <a:spcPct val="0"/>
                </a:spcBef>
                <a:buClrTx/>
                <a:buFontTx/>
                <a:buNone/>
              </a:pPr>
              <a:r>
                <a:rPr kumimoji="1" lang="en-US" altLang="zh-CN" sz="2000" b="1" dirty="0">
                  <a:latin typeface="Times New Roman" pitchFamily="18" charset="0"/>
                </a:rPr>
                <a:t>…</a:t>
              </a:r>
            </a:p>
            <a:p>
              <a:pPr algn="ctr">
                <a:lnSpc>
                  <a:spcPct val="100000"/>
                </a:lnSpc>
                <a:spcBef>
                  <a:spcPct val="0"/>
                </a:spcBef>
                <a:buClrTx/>
                <a:buFontTx/>
                <a:buNone/>
              </a:pPr>
              <a:r>
                <a:rPr kumimoji="1" lang="en-US" altLang="zh-CN" sz="600" b="1" dirty="0">
                  <a:latin typeface="Times New Roman" pitchFamily="18" charset="0"/>
                </a:rPr>
                <a:t> </a:t>
              </a:r>
              <a:endParaRPr kumimoji="1" lang="en-US" altLang="zh-CN" sz="900" b="1" dirty="0">
                <a:latin typeface="Times New Roman" pitchFamily="18" charset="0"/>
              </a:endParaRPr>
            </a:p>
            <a:p>
              <a:pPr algn="ctr">
                <a:lnSpc>
                  <a:spcPct val="100000"/>
                </a:lnSpc>
                <a:spcBef>
                  <a:spcPct val="0"/>
                </a:spcBef>
                <a:buClrTx/>
                <a:buFontTx/>
                <a:buNone/>
              </a:pPr>
              <a:r>
                <a:rPr kumimoji="1" lang="en-US" altLang="zh-CN" sz="600" b="1" dirty="0">
                  <a:latin typeface="Times New Roman" pitchFamily="18" charset="0"/>
                </a:rPr>
                <a:t> </a:t>
              </a:r>
              <a:endParaRPr kumimoji="1" lang="en-US" altLang="zh-CN" sz="900" b="1" dirty="0">
                <a:latin typeface="Times New Roman" pitchFamily="18" charset="0"/>
              </a:endParaRPr>
            </a:p>
            <a:p>
              <a:pPr algn="ctr">
                <a:lnSpc>
                  <a:spcPct val="100000"/>
                </a:lnSpc>
                <a:spcBef>
                  <a:spcPct val="0"/>
                </a:spcBef>
                <a:buClrTx/>
                <a:buFontTx/>
                <a:buNone/>
              </a:pPr>
              <a:r>
                <a:rPr kumimoji="1" lang="en-US" altLang="zh-CN" sz="900" b="1" dirty="0">
                  <a:latin typeface="Times New Roman" pitchFamily="18" charset="0"/>
                </a:rPr>
                <a:t> </a:t>
              </a:r>
            </a:p>
            <a:p>
              <a:pPr algn="ctr">
                <a:lnSpc>
                  <a:spcPct val="100000"/>
                </a:lnSpc>
                <a:spcBef>
                  <a:spcPct val="0"/>
                </a:spcBef>
                <a:buClrTx/>
                <a:buFontTx/>
                <a:buNone/>
              </a:pPr>
              <a:endParaRPr kumimoji="1" lang="en-US" altLang="zh-CN" sz="2000" b="1" dirty="0">
                <a:latin typeface="Times New Roman" pitchFamily="18" charset="0"/>
              </a:endParaRPr>
            </a:p>
          </p:txBody>
        </p:sp>
        <p:sp>
          <p:nvSpPr>
            <p:cNvPr id="46" name="Rectangle 42"/>
            <p:cNvSpPr>
              <a:spLocks noChangeArrowheads="1"/>
            </p:cNvSpPr>
            <p:nvPr/>
          </p:nvSpPr>
          <p:spPr bwMode="auto">
            <a:xfrm>
              <a:off x="1418" y="355"/>
              <a:ext cx="854" cy="1255"/>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9pPr>
            </a:lstStyle>
            <a:p>
              <a:pPr eaLnBrk="1" hangingPunct="1"/>
              <a:endParaRPr lang="zh-CN" altLang="en-US" sz="2000"/>
            </a:p>
          </p:txBody>
        </p:sp>
      </p:grpSp>
      <p:sp>
        <p:nvSpPr>
          <p:cNvPr id="47" name="Rectangle 43"/>
          <p:cNvSpPr>
            <a:spLocks noChangeArrowheads="1"/>
          </p:cNvSpPr>
          <p:nvPr/>
        </p:nvSpPr>
        <p:spPr bwMode="auto">
          <a:xfrm>
            <a:off x="1433513" y="2706960"/>
            <a:ext cx="6186487" cy="3962400"/>
          </a:xfrm>
          <a:prstGeom prst="rect">
            <a:avLst/>
          </a:prstGeom>
          <a:noFill/>
          <a:ln w="11112">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9pPr>
          </a:lstStyle>
          <a:p>
            <a:pPr eaLnBrk="1" hangingPunct="1"/>
            <a:endParaRPr lang="zh-CN" altLang="en-US"/>
          </a:p>
        </p:txBody>
      </p:sp>
      <p:sp>
        <p:nvSpPr>
          <p:cNvPr id="48" name="矩形 47"/>
          <p:cNvSpPr/>
          <p:nvPr/>
        </p:nvSpPr>
        <p:spPr>
          <a:xfrm>
            <a:off x="554802" y="3853932"/>
            <a:ext cx="878711" cy="1200329"/>
          </a:xfrm>
          <a:prstGeom prst="rect">
            <a:avLst/>
          </a:prstGeom>
        </p:spPr>
        <p:txBody>
          <a:bodyPr wrap="square">
            <a:spAutoFit/>
          </a:bodyPr>
          <a:lstStyle/>
          <a:p>
            <a:pPr>
              <a:buClr>
                <a:schemeClr val="accent1"/>
              </a:buClr>
            </a:pPr>
            <a:r>
              <a:rPr lang="zh-CN" altLang="en-US" b="1" dirty="0">
                <a:solidFill>
                  <a:schemeClr val="tx2"/>
                </a:solidFill>
                <a:latin typeface="Times New Roman" pitchFamily="18" charset="0"/>
              </a:rPr>
              <a:t>非规范化关系</a:t>
            </a:r>
          </a:p>
        </p:txBody>
      </p:sp>
      <p:sp>
        <p:nvSpPr>
          <p:cNvPr id="5" name="页脚占位符 4">
            <a:extLst>
              <a:ext uri="{FF2B5EF4-FFF2-40B4-BE49-F238E27FC236}">
                <a16:creationId xmlns:a16="http://schemas.microsoft.com/office/drawing/2014/main" id="{2B709A52-6196-54B8-5A9D-2566B010E8B4}"/>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2D883DC7-64A4-E14B-201E-50D5357F29D8}"/>
              </a:ext>
            </a:extLst>
          </p:cNvPr>
          <p:cNvSpPr>
            <a:spLocks noGrp="1"/>
          </p:cNvSpPr>
          <p:nvPr>
            <p:ph type="sldNum" sz="quarter" idx="12"/>
          </p:nvPr>
        </p:nvSpPr>
        <p:spPr/>
        <p:txBody>
          <a:bodyPr/>
          <a:lstStyle/>
          <a:p>
            <a:fld id="{A2D74603-B40B-4D66-8F6E-41C870D48932}" type="slidenum">
              <a:rPr lang="en-US" altLang="zh-CN" smtClean="0"/>
              <a:pPr/>
              <a:t>77</a:t>
            </a:fld>
            <a:r>
              <a:rPr lang="en-US" altLang="zh-CN"/>
              <a:t>/162</a:t>
            </a:r>
            <a:endParaRPr lang="en-US" altLang="zh-CN" dirty="0"/>
          </a:p>
        </p:txBody>
      </p:sp>
    </p:spTree>
    <p:extLst>
      <p:ext uri="{BB962C8B-B14F-4D97-AF65-F5344CB8AC3E}">
        <p14:creationId xmlns:p14="http://schemas.microsoft.com/office/powerpoint/2010/main" val="40153294"/>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8.2.7 </a:t>
            </a:r>
            <a:r>
              <a:rPr lang="zh-CN" altLang="en-US" dirty="0"/>
              <a:t>多值依赖</a:t>
            </a:r>
          </a:p>
        </p:txBody>
      </p:sp>
      <p:sp>
        <p:nvSpPr>
          <p:cNvPr id="4" name="日期占位符 3"/>
          <p:cNvSpPr>
            <a:spLocks noGrp="1"/>
          </p:cNvSpPr>
          <p:nvPr>
            <p:ph type="dt" sz="half" idx="10"/>
          </p:nvPr>
        </p:nvSpPr>
        <p:spPr/>
        <p:txBody>
          <a:bodyPr/>
          <a:lstStyle/>
          <a:p>
            <a:fld id="{457BFE32-2348-41EF-A875-0412ADEDCCA1}" type="datetime1">
              <a:rPr lang="zh-CN" altLang="en-US" smtClean="0"/>
              <a:t>2025/11/6</a:t>
            </a:fld>
            <a:endParaRPr lang="en-US" altLang="zh-CN"/>
          </a:p>
        </p:txBody>
      </p:sp>
      <p:sp>
        <p:nvSpPr>
          <p:cNvPr id="3" name="内容占位符 2"/>
          <p:cNvSpPr>
            <a:spLocks noGrp="1"/>
          </p:cNvSpPr>
          <p:nvPr>
            <p:ph idx="1"/>
          </p:nvPr>
        </p:nvSpPr>
        <p:spPr/>
        <p:txBody>
          <a:bodyPr/>
          <a:lstStyle/>
          <a:p>
            <a:r>
              <a:rPr lang="zh-CN" altLang="en-US" dirty="0"/>
              <a:t>用二维表表示</a:t>
            </a:r>
            <a:r>
              <a:rPr lang="en-US" altLang="zh-CN" dirty="0"/>
              <a:t>Teaching</a:t>
            </a:r>
          </a:p>
          <a:p>
            <a:endParaRPr lang="zh-CN" altLang="en-US" dirty="0"/>
          </a:p>
        </p:txBody>
      </p:sp>
      <p:grpSp>
        <p:nvGrpSpPr>
          <p:cNvPr id="8" name="Group 2"/>
          <p:cNvGrpSpPr>
            <a:grpSpLocks/>
          </p:cNvGrpSpPr>
          <p:nvPr/>
        </p:nvGrpSpPr>
        <p:grpSpPr bwMode="auto">
          <a:xfrm>
            <a:off x="1611312" y="2060575"/>
            <a:ext cx="5932488" cy="4264025"/>
            <a:chOff x="1344" y="1296"/>
            <a:chExt cx="3888" cy="2881"/>
          </a:xfrm>
        </p:grpSpPr>
        <p:sp>
          <p:nvSpPr>
            <p:cNvPr id="9" name="Rectangle 3"/>
            <p:cNvSpPr>
              <a:spLocks noChangeArrowheads="1"/>
            </p:cNvSpPr>
            <p:nvPr/>
          </p:nvSpPr>
          <p:spPr bwMode="auto">
            <a:xfrm>
              <a:off x="3936" y="1623"/>
              <a:ext cx="1296" cy="255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lnSpc>
                  <a:spcPct val="100000"/>
                </a:lnSpc>
                <a:spcBef>
                  <a:spcPct val="0"/>
                </a:spcBef>
                <a:buFont typeface="Wingdings" pitchFamily="2" charset="2"/>
                <a:buNone/>
              </a:pPr>
              <a:r>
                <a:rPr lang="zh-CN" altLang="en-US" sz="1800" b="1" dirty="0"/>
                <a:t>普通物理学</a:t>
              </a:r>
            </a:p>
            <a:p>
              <a:pPr algn="ctr">
                <a:lnSpc>
                  <a:spcPct val="100000"/>
                </a:lnSpc>
                <a:spcBef>
                  <a:spcPct val="0"/>
                </a:spcBef>
                <a:buFont typeface="Wingdings" pitchFamily="2" charset="2"/>
                <a:buNone/>
              </a:pPr>
              <a:r>
                <a:rPr lang="zh-CN" altLang="en-US" sz="1800" b="1" dirty="0"/>
                <a:t>光学原理</a:t>
              </a:r>
            </a:p>
            <a:p>
              <a:pPr algn="ctr">
                <a:lnSpc>
                  <a:spcPct val="100000"/>
                </a:lnSpc>
                <a:spcBef>
                  <a:spcPct val="0"/>
                </a:spcBef>
                <a:buFont typeface="Wingdings" pitchFamily="2" charset="2"/>
                <a:buNone/>
              </a:pPr>
              <a:r>
                <a:rPr lang="zh-CN" altLang="en-US" sz="1800" b="1" dirty="0"/>
                <a:t>物理习题集</a:t>
              </a:r>
            </a:p>
            <a:p>
              <a:pPr algn="ctr">
                <a:lnSpc>
                  <a:spcPct val="100000"/>
                </a:lnSpc>
                <a:spcBef>
                  <a:spcPct val="0"/>
                </a:spcBef>
                <a:buFont typeface="Wingdings" pitchFamily="2" charset="2"/>
                <a:buNone/>
              </a:pPr>
              <a:r>
                <a:rPr lang="zh-CN" altLang="en-US" sz="1800" b="1" dirty="0"/>
                <a:t>普通物理学</a:t>
              </a:r>
            </a:p>
            <a:p>
              <a:pPr algn="ctr">
                <a:lnSpc>
                  <a:spcPct val="100000"/>
                </a:lnSpc>
                <a:spcBef>
                  <a:spcPct val="0"/>
                </a:spcBef>
                <a:buFont typeface="Wingdings" pitchFamily="2" charset="2"/>
                <a:buNone/>
              </a:pPr>
              <a:r>
                <a:rPr lang="zh-CN" altLang="en-US" sz="1800" b="1" dirty="0"/>
                <a:t>光学原理</a:t>
              </a:r>
            </a:p>
            <a:p>
              <a:pPr algn="ctr">
                <a:lnSpc>
                  <a:spcPct val="100000"/>
                </a:lnSpc>
                <a:spcBef>
                  <a:spcPct val="0"/>
                </a:spcBef>
                <a:buFont typeface="Wingdings" pitchFamily="2" charset="2"/>
                <a:buNone/>
              </a:pPr>
              <a:r>
                <a:rPr lang="zh-CN" altLang="en-US" sz="1800" b="1" dirty="0"/>
                <a:t>物理习题集</a:t>
              </a:r>
            </a:p>
            <a:p>
              <a:pPr algn="ctr">
                <a:lnSpc>
                  <a:spcPct val="100000"/>
                </a:lnSpc>
                <a:spcBef>
                  <a:spcPct val="0"/>
                </a:spcBef>
                <a:buFont typeface="Wingdings" pitchFamily="2" charset="2"/>
                <a:buNone/>
              </a:pPr>
              <a:r>
                <a:rPr lang="zh-CN" altLang="en-US" sz="1800" b="1" dirty="0"/>
                <a:t>数学分析</a:t>
              </a:r>
            </a:p>
            <a:p>
              <a:pPr algn="ctr">
                <a:lnSpc>
                  <a:spcPct val="100000"/>
                </a:lnSpc>
                <a:spcBef>
                  <a:spcPct val="0"/>
                </a:spcBef>
                <a:buFont typeface="Wingdings" pitchFamily="2" charset="2"/>
                <a:buNone/>
              </a:pPr>
              <a:r>
                <a:rPr lang="zh-CN" altLang="en-US" sz="1800" b="1" dirty="0"/>
                <a:t>微分方程</a:t>
              </a:r>
            </a:p>
            <a:p>
              <a:pPr algn="ctr">
                <a:lnSpc>
                  <a:spcPct val="100000"/>
                </a:lnSpc>
                <a:spcBef>
                  <a:spcPct val="0"/>
                </a:spcBef>
                <a:buFont typeface="Wingdings" pitchFamily="2" charset="2"/>
                <a:buNone/>
              </a:pPr>
              <a:r>
                <a:rPr lang="zh-CN" altLang="en-US" sz="1800" b="1" dirty="0"/>
                <a:t>高等代数</a:t>
              </a:r>
            </a:p>
            <a:p>
              <a:pPr algn="ctr">
                <a:lnSpc>
                  <a:spcPct val="100000"/>
                </a:lnSpc>
                <a:spcBef>
                  <a:spcPct val="0"/>
                </a:spcBef>
                <a:buFont typeface="Wingdings" pitchFamily="2" charset="2"/>
                <a:buNone/>
              </a:pPr>
              <a:r>
                <a:rPr lang="zh-CN" altLang="en-US" sz="1800" b="1" dirty="0"/>
                <a:t>数学分析</a:t>
              </a:r>
            </a:p>
            <a:p>
              <a:pPr algn="ctr">
                <a:lnSpc>
                  <a:spcPct val="100000"/>
                </a:lnSpc>
                <a:spcBef>
                  <a:spcPct val="0"/>
                </a:spcBef>
                <a:buFont typeface="Wingdings" pitchFamily="2" charset="2"/>
                <a:buNone/>
              </a:pPr>
              <a:r>
                <a:rPr lang="zh-CN" altLang="en-US" sz="1800" b="1" dirty="0"/>
                <a:t>微分方程</a:t>
              </a:r>
            </a:p>
            <a:p>
              <a:pPr algn="ctr">
                <a:lnSpc>
                  <a:spcPct val="100000"/>
                </a:lnSpc>
                <a:spcBef>
                  <a:spcPct val="0"/>
                </a:spcBef>
                <a:buFont typeface="Wingdings" pitchFamily="2" charset="2"/>
                <a:buNone/>
              </a:pPr>
              <a:r>
                <a:rPr lang="zh-CN" altLang="en-US" sz="1800" b="1" dirty="0"/>
                <a:t>高等代数</a:t>
              </a:r>
            </a:p>
            <a:p>
              <a:pPr algn="ctr">
                <a:lnSpc>
                  <a:spcPct val="100000"/>
                </a:lnSpc>
                <a:spcBef>
                  <a:spcPct val="0"/>
                </a:spcBef>
                <a:buClrTx/>
                <a:buFontTx/>
                <a:buNone/>
              </a:pPr>
              <a:r>
                <a:rPr lang="en-US" altLang="zh-CN" sz="1800" b="1" dirty="0"/>
                <a:t>…</a:t>
              </a:r>
            </a:p>
          </p:txBody>
        </p:sp>
        <p:sp>
          <p:nvSpPr>
            <p:cNvPr id="10" name="Rectangle 4"/>
            <p:cNvSpPr>
              <a:spLocks noChangeArrowheads="1"/>
            </p:cNvSpPr>
            <p:nvPr/>
          </p:nvSpPr>
          <p:spPr bwMode="auto">
            <a:xfrm>
              <a:off x="2640" y="1623"/>
              <a:ext cx="1296" cy="255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lnSpc>
                  <a:spcPct val="100000"/>
                </a:lnSpc>
                <a:spcBef>
                  <a:spcPct val="0"/>
                </a:spcBef>
                <a:buFont typeface="Wingdings" pitchFamily="2" charset="2"/>
                <a:buNone/>
              </a:pPr>
              <a:r>
                <a:rPr lang="zh-CN" altLang="en-US" sz="1800" b="1" dirty="0">
                  <a:solidFill>
                    <a:srgbClr val="6600FF"/>
                  </a:solidFill>
                </a:rPr>
                <a:t>李 勇</a:t>
              </a:r>
              <a:endParaRPr lang="zh-CN" altLang="en-US" sz="1800" b="1" dirty="0"/>
            </a:p>
            <a:p>
              <a:pPr algn="ctr">
                <a:lnSpc>
                  <a:spcPct val="100000"/>
                </a:lnSpc>
                <a:spcBef>
                  <a:spcPct val="0"/>
                </a:spcBef>
                <a:buFont typeface="Wingdings" pitchFamily="2" charset="2"/>
                <a:buNone/>
              </a:pPr>
              <a:r>
                <a:rPr lang="zh-CN" altLang="en-US" sz="1800" b="1" dirty="0"/>
                <a:t>李 勇</a:t>
              </a:r>
            </a:p>
            <a:p>
              <a:pPr algn="ctr">
                <a:lnSpc>
                  <a:spcPct val="100000"/>
                </a:lnSpc>
                <a:spcBef>
                  <a:spcPct val="0"/>
                </a:spcBef>
                <a:buFont typeface="Wingdings" pitchFamily="2" charset="2"/>
                <a:buNone/>
              </a:pPr>
              <a:r>
                <a:rPr lang="zh-CN" altLang="en-US" sz="1800" b="1" dirty="0"/>
                <a:t>李 勇</a:t>
              </a:r>
            </a:p>
            <a:p>
              <a:pPr algn="ctr">
                <a:lnSpc>
                  <a:spcPct val="100000"/>
                </a:lnSpc>
                <a:spcBef>
                  <a:spcPct val="0"/>
                </a:spcBef>
                <a:buFont typeface="Wingdings" pitchFamily="2" charset="2"/>
                <a:buNone/>
              </a:pPr>
              <a:r>
                <a:rPr lang="zh-CN" altLang="en-US" sz="1800" b="1" dirty="0">
                  <a:solidFill>
                    <a:srgbClr val="6600FF"/>
                  </a:solidFill>
                </a:rPr>
                <a:t>王 军</a:t>
              </a:r>
              <a:endParaRPr lang="zh-CN" altLang="en-US" sz="1800" b="1" dirty="0"/>
            </a:p>
            <a:p>
              <a:pPr algn="ctr">
                <a:lnSpc>
                  <a:spcPct val="100000"/>
                </a:lnSpc>
                <a:spcBef>
                  <a:spcPct val="0"/>
                </a:spcBef>
                <a:buFont typeface="Wingdings" pitchFamily="2" charset="2"/>
                <a:buNone/>
              </a:pPr>
              <a:r>
                <a:rPr lang="zh-CN" altLang="en-US" sz="1800" b="1" dirty="0"/>
                <a:t>王 军</a:t>
              </a:r>
            </a:p>
            <a:p>
              <a:pPr algn="ctr">
                <a:lnSpc>
                  <a:spcPct val="100000"/>
                </a:lnSpc>
                <a:spcBef>
                  <a:spcPct val="0"/>
                </a:spcBef>
                <a:buFont typeface="Wingdings" pitchFamily="2" charset="2"/>
                <a:buNone/>
              </a:pPr>
              <a:r>
                <a:rPr lang="zh-CN" altLang="en-US" sz="1800" b="1" dirty="0"/>
                <a:t>王 军</a:t>
              </a:r>
            </a:p>
            <a:p>
              <a:pPr algn="ctr">
                <a:lnSpc>
                  <a:spcPct val="100000"/>
                </a:lnSpc>
                <a:spcBef>
                  <a:spcPct val="0"/>
                </a:spcBef>
                <a:buFont typeface="Wingdings" pitchFamily="2" charset="2"/>
                <a:buNone/>
              </a:pPr>
              <a:r>
                <a:rPr lang="zh-CN" altLang="en-US" sz="1800" b="1" dirty="0"/>
                <a:t>李 勇</a:t>
              </a:r>
            </a:p>
            <a:p>
              <a:pPr algn="ctr">
                <a:lnSpc>
                  <a:spcPct val="100000"/>
                </a:lnSpc>
                <a:spcBef>
                  <a:spcPct val="0"/>
                </a:spcBef>
                <a:buFont typeface="Wingdings" pitchFamily="2" charset="2"/>
                <a:buNone/>
              </a:pPr>
              <a:r>
                <a:rPr lang="zh-CN" altLang="en-US" sz="1800" b="1" dirty="0"/>
                <a:t>李 勇</a:t>
              </a:r>
            </a:p>
            <a:p>
              <a:pPr algn="ctr">
                <a:lnSpc>
                  <a:spcPct val="100000"/>
                </a:lnSpc>
                <a:spcBef>
                  <a:spcPct val="0"/>
                </a:spcBef>
                <a:buFont typeface="Wingdings" pitchFamily="2" charset="2"/>
                <a:buNone/>
              </a:pPr>
              <a:r>
                <a:rPr lang="zh-CN" altLang="en-US" sz="1800" b="1" dirty="0"/>
                <a:t>李 勇</a:t>
              </a:r>
            </a:p>
            <a:p>
              <a:pPr algn="ctr">
                <a:lnSpc>
                  <a:spcPct val="100000"/>
                </a:lnSpc>
                <a:spcBef>
                  <a:spcPct val="0"/>
                </a:spcBef>
                <a:buFont typeface="Wingdings" pitchFamily="2" charset="2"/>
                <a:buNone/>
              </a:pPr>
              <a:r>
                <a:rPr lang="zh-CN" altLang="en-US" sz="1800" b="1" dirty="0"/>
                <a:t>张 平</a:t>
              </a:r>
            </a:p>
            <a:p>
              <a:pPr algn="ctr">
                <a:lnSpc>
                  <a:spcPct val="100000"/>
                </a:lnSpc>
                <a:spcBef>
                  <a:spcPct val="0"/>
                </a:spcBef>
                <a:buFont typeface="Wingdings" pitchFamily="2" charset="2"/>
                <a:buNone/>
              </a:pPr>
              <a:r>
                <a:rPr lang="zh-CN" altLang="en-US" sz="1800" b="1" dirty="0"/>
                <a:t>张 平</a:t>
              </a:r>
            </a:p>
            <a:p>
              <a:pPr algn="ctr">
                <a:lnSpc>
                  <a:spcPct val="100000"/>
                </a:lnSpc>
                <a:spcBef>
                  <a:spcPct val="0"/>
                </a:spcBef>
                <a:buFont typeface="Wingdings" pitchFamily="2" charset="2"/>
                <a:buNone/>
              </a:pPr>
              <a:r>
                <a:rPr lang="zh-CN" altLang="en-US" sz="1800" b="1" dirty="0"/>
                <a:t>张 平</a:t>
              </a:r>
            </a:p>
            <a:p>
              <a:pPr algn="ctr">
                <a:lnSpc>
                  <a:spcPct val="100000"/>
                </a:lnSpc>
                <a:spcBef>
                  <a:spcPct val="0"/>
                </a:spcBef>
                <a:buClrTx/>
                <a:buFontTx/>
                <a:buNone/>
              </a:pPr>
              <a:r>
                <a:rPr lang="zh-CN" altLang="en-US" sz="1800" b="1" dirty="0"/>
                <a:t> </a:t>
              </a:r>
              <a:r>
                <a:rPr lang="en-US" altLang="zh-CN" sz="1800" b="1" dirty="0"/>
                <a:t>…</a:t>
              </a:r>
              <a:endParaRPr lang="en-US" altLang="zh-CN" sz="1800" dirty="0"/>
            </a:p>
          </p:txBody>
        </p:sp>
        <p:sp>
          <p:nvSpPr>
            <p:cNvPr id="11" name="Rectangle 5"/>
            <p:cNvSpPr>
              <a:spLocks noChangeArrowheads="1"/>
            </p:cNvSpPr>
            <p:nvPr/>
          </p:nvSpPr>
          <p:spPr bwMode="auto">
            <a:xfrm>
              <a:off x="1344" y="1623"/>
              <a:ext cx="1296" cy="255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lnSpc>
                  <a:spcPct val="100000"/>
                </a:lnSpc>
                <a:spcBef>
                  <a:spcPct val="0"/>
                </a:spcBef>
                <a:buFont typeface="Wingdings" pitchFamily="2" charset="2"/>
                <a:buNone/>
              </a:pPr>
              <a:r>
                <a:rPr lang="zh-CN" altLang="en-US" sz="1800" b="1" dirty="0">
                  <a:solidFill>
                    <a:srgbClr val="C00000"/>
                  </a:solidFill>
                </a:rPr>
                <a:t>物 理</a:t>
              </a:r>
            </a:p>
            <a:p>
              <a:pPr algn="ctr">
                <a:lnSpc>
                  <a:spcPct val="100000"/>
                </a:lnSpc>
                <a:spcBef>
                  <a:spcPct val="0"/>
                </a:spcBef>
                <a:buFont typeface="Wingdings" pitchFamily="2" charset="2"/>
                <a:buNone/>
              </a:pPr>
              <a:r>
                <a:rPr lang="zh-CN" altLang="en-US" sz="1800" b="1" dirty="0">
                  <a:solidFill>
                    <a:srgbClr val="C00000"/>
                  </a:solidFill>
                </a:rPr>
                <a:t>物 理</a:t>
              </a:r>
            </a:p>
            <a:p>
              <a:pPr algn="ctr">
                <a:lnSpc>
                  <a:spcPct val="100000"/>
                </a:lnSpc>
                <a:spcBef>
                  <a:spcPct val="0"/>
                </a:spcBef>
                <a:buFont typeface="Wingdings" pitchFamily="2" charset="2"/>
                <a:buNone/>
              </a:pPr>
              <a:r>
                <a:rPr lang="zh-CN" altLang="en-US" sz="1800" b="1" dirty="0">
                  <a:solidFill>
                    <a:srgbClr val="C00000"/>
                  </a:solidFill>
                </a:rPr>
                <a:t>物 理</a:t>
              </a:r>
            </a:p>
            <a:p>
              <a:pPr algn="ctr">
                <a:lnSpc>
                  <a:spcPct val="100000"/>
                </a:lnSpc>
                <a:spcBef>
                  <a:spcPct val="0"/>
                </a:spcBef>
                <a:buFont typeface="Wingdings" pitchFamily="2" charset="2"/>
                <a:buNone/>
              </a:pPr>
              <a:r>
                <a:rPr lang="zh-CN" altLang="en-US" sz="1800" b="1" dirty="0">
                  <a:solidFill>
                    <a:srgbClr val="C00000"/>
                  </a:solidFill>
                </a:rPr>
                <a:t>物 理</a:t>
              </a:r>
            </a:p>
            <a:p>
              <a:pPr algn="ctr">
                <a:lnSpc>
                  <a:spcPct val="100000"/>
                </a:lnSpc>
                <a:spcBef>
                  <a:spcPct val="0"/>
                </a:spcBef>
                <a:buFont typeface="Wingdings" pitchFamily="2" charset="2"/>
                <a:buNone/>
              </a:pPr>
              <a:r>
                <a:rPr lang="zh-CN" altLang="en-US" sz="1800" b="1" dirty="0">
                  <a:solidFill>
                    <a:srgbClr val="C00000"/>
                  </a:solidFill>
                </a:rPr>
                <a:t>物 理</a:t>
              </a:r>
            </a:p>
            <a:p>
              <a:pPr algn="ctr">
                <a:lnSpc>
                  <a:spcPct val="100000"/>
                </a:lnSpc>
                <a:spcBef>
                  <a:spcPct val="0"/>
                </a:spcBef>
                <a:buClrTx/>
                <a:buFontTx/>
                <a:buNone/>
              </a:pPr>
              <a:r>
                <a:rPr lang="zh-CN" altLang="en-US" sz="1800" b="1" dirty="0">
                  <a:solidFill>
                    <a:srgbClr val="C00000"/>
                  </a:solidFill>
                </a:rPr>
                <a:t>物 理</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en-US" altLang="zh-CN" sz="1800" b="1" dirty="0"/>
                <a:t>… </a:t>
              </a:r>
            </a:p>
          </p:txBody>
        </p:sp>
        <p:sp>
          <p:nvSpPr>
            <p:cNvPr id="12" name="Rectangle 6"/>
            <p:cNvSpPr>
              <a:spLocks noChangeArrowheads="1"/>
            </p:cNvSpPr>
            <p:nvPr/>
          </p:nvSpPr>
          <p:spPr bwMode="auto">
            <a:xfrm>
              <a:off x="3936" y="1296"/>
              <a:ext cx="1296" cy="327"/>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100000"/>
                </a:lnSpc>
                <a:buFont typeface="Wingdings" pitchFamily="2" charset="2"/>
                <a:buNone/>
              </a:pPr>
              <a:r>
                <a:rPr lang="zh-CN" altLang="en-US" sz="2200"/>
                <a:t>参考书</a:t>
              </a:r>
              <a:r>
                <a:rPr lang="en-US" altLang="zh-CN" sz="2200"/>
                <a:t>B</a:t>
              </a:r>
            </a:p>
          </p:txBody>
        </p:sp>
        <p:sp>
          <p:nvSpPr>
            <p:cNvPr id="13" name="Rectangle 7"/>
            <p:cNvSpPr>
              <a:spLocks noChangeArrowheads="1"/>
            </p:cNvSpPr>
            <p:nvPr/>
          </p:nvSpPr>
          <p:spPr bwMode="auto">
            <a:xfrm>
              <a:off x="2640" y="1296"/>
              <a:ext cx="1296" cy="327"/>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100000"/>
                </a:lnSpc>
                <a:buFont typeface="Wingdings" pitchFamily="2" charset="2"/>
                <a:buNone/>
              </a:pPr>
              <a:r>
                <a:rPr lang="zh-CN" altLang="en-US" sz="2200"/>
                <a:t>教员</a:t>
              </a:r>
              <a:r>
                <a:rPr lang="en-US" altLang="zh-CN" sz="2200"/>
                <a:t>T</a:t>
              </a:r>
            </a:p>
          </p:txBody>
        </p:sp>
        <p:sp>
          <p:nvSpPr>
            <p:cNvPr id="14" name="Rectangle 8"/>
            <p:cNvSpPr>
              <a:spLocks noChangeArrowheads="1"/>
            </p:cNvSpPr>
            <p:nvPr/>
          </p:nvSpPr>
          <p:spPr bwMode="auto">
            <a:xfrm>
              <a:off x="1344" y="1296"/>
              <a:ext cx="1296" cy="327"/>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100000"/>
                </a:lnSpc>
                <a:buFont typeface="Wingdings" pitchFamily="2" charset="2"/>
                <a:buNone/>
              </a:pPr>
              <a:r>
                <a:rPr lang="zh-CN" altLang="en-US" sz="2200"/>
                <a:t>课程</a:t>
              </a:r>
              <a:r>
                <a:rPr lang="en-US" altLang="zh-CN" sz="2200"/>
                <a:t>C</a:t>
              </a:r>
            </a:p>
          </p:txBody>
        </p:sp>
        <p:sp>
          <p:nvSpPr>
            <p:cNvPr id="15" name="Line 9"/>
            <p:cNvSpPr>
              <a:spLocks noChangeShapeType="1"/>
            </p:cNvSpPr>
            <p:nvPr/>
          </p:nvSpPr>
          <p:spPr bwMode="auto">
            <a:xfrm>
              <a:off x="1344" y="1296"/>
              <a:ext cx="3888"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16" name="Line 10"/>
            <p:cNvSpPr>
              <a:spLocks noChangeShapeType="1"/>
            </p:cNvSpPr>
            <p:nvPr/>
          </p:nvSpPr>
          <p:spPr bwMode="auto">
            <a:xfrm>
              <a:off x="1344" y="1623"/>
              <a:ext cx="388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17" name="Line 11"/>
            <p:cNvSpPr>
              <a:spLocks noChangeShapeType="1"/>
            </p:cNvSpPr>
            <p:nvPr/>
          </p:nvSpPr>
          <p:spPr bwMode="auto">
            <a:xfrm>
              <a:off x="1344" y="4177"/>
              <a:ext cx="3888"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18" name="Line 12"/>
            <p:cNvSpPr>
              <a:spLocks noChangeShapeType="1"/>
            </p:cNvSpPr>
            <p:nvPr/>
          </p:nvSpPr>
          <p:spPr bwMode="auto">
            <a:xfrm>
              <a:off x="2640" y="1296"/>
              <a:ext cx="0" cy="288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19" name="Line 13"/>
            <p:cNvSpPr>
              <a:spLocks noChangeShapeType="1"/>
            </p:cNvSpPr>
            <p:nvPr/>
          </p:nvSpPr>
          <p:spPr bwMode="auto">
            <a:xfrm>
              <a:off x="3936" y="1296"/>
              <a:ext cx="0" cy="288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20" name="Line 14"/>
            <p:cNvSpPr>
              <a:spLocks noChangeShapeType="1"/>
            </p:cNvSpPr>
            <p:nvPr/>
          </p:nvSpPr>
          <p:spPr bwMode="auto">
            <a:xfrm>
              <a:off x="5232" y="1296"/>
              <a:ext cx="0" cy="2881"/>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21" name="Line 15"/>
            <p:cNvSpPr>
              <a:spLocks noChangeShapeType="1"/>
            </p:cNvSpPr>
            <p:nvPr/>
          </p:nvSpPr>
          <p:spPr bwMode="auto">
            <a:xfrm>
              <a:off x="1344" y="1623"/>
              <a:ext cx="0" cy="255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22" name="Line 16"/>
            <p:cNvSpPr>
              <a:spLocks noChangeShapeType="1"/>
            </p:cNvSpPr>
            <p:nvPr/>
          </p:nvSpPr>
          <p:spPr bwMode="auto">
            <a:xfrm>
              <a:off x="1344" y="1296"/>
              <a:ext cx="0" cy="327"/>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sp>
        <p:nvSpPr>
          <p:cNvPr id="23" name="AutoShape 16"/>
          <p:cNvSpPr>
            <a:spLocks noChangeAspect="1"/>
          </p:cNvSpPr>
          <p:nvPr/>
        </p:nvSpPr>
        <p:spPr bwMode="auto">
          <a:xfrm rot="10800000">
            <a:off x="7162800" y="2590800"/>
            <a:ext cx="241801" cy="847139"/>
          </a:xfrm>
          <a:prstGeom prst="leftBrace">
            <a:avLst>
              <a:gd name="adj1" fmla="val 43793"/>
              <a:gd name="adj2" fmla="val 50000"/>
            </a:avLst>
          </a:prstGeom>
          <a:noFill/>
          <a:ln w="34925">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6pPr>
            <a:lvl7pPr marL="29718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7pPr>
            <a:lvl8pPr marL="34290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8pPr>
            <a:lvl9pPr marL="3886200" indent="-228600" algn="just" eaLnBrk="0" fontAlgn="base" hangingPunct="0">
              <a:lnSpc>
                <a:spcPct val="90000"/>
              </a:lnSpc>
              <a:spcBef>
                <a:spcPct val="20000"/>
              </a:spcBef>
              <a:spcAft>
                <a:spcPct val="0"/>
              </a:spcAft>
              <a:buClr>
                <a:schemeClr val="hlink"/>
              </a:buClr>
              <a:buFont typeface="Wingdings" pitchFamily="2" charset="2"/>
              <a:defRPr>
                <a:solidFill>
                  <a:schemeClr val="tx1"/>
                </a:solidFill>
                <a:latin typeface="Arial" charset="0"/>
                <a:ea typeface="宋体" charset="-122"/>
              </a:defRPr>
            </a:lvl9pPr>
          </a:lstStyle>
          <a:p>
            <a:pPr eaLnBrk="1" hangingPunct="1"/>
            <a:endParaRPr lang="zh-CN" altLang="en-US"/>
          </a:p>
        </p:txBody>
      </p:sp>
      <p:sp>
        <p:nvSpPr>
          <p:cNvPr id="5" name="页脚占位符 4">
            <a:extLst>
              <a:ext uri="{FF2B5EF4-FFF2-40B4-BE49-F238E27FC236}">
                <a16:creationId xmlns:a16="http://schemas.microsoft.com/office/drawing/2014/main" id="{99CAB020-4B72-E117-EFBB-740717BF2012}"/>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7340F538-B58E-F469-20A4-BCB395AC742B}"/>
              </a:ext>
            </a:extLst>
          </p:cNvPr>
          <p:cNvSpPr>
            <a:spLocks noGrp="1"/>
          </p:cNvSpPr>
          <p:nvPr>
            <p:ph type="sldNum" sz="quarter" idx="12"/>
          </p:nvPr>
        </p:nvSpPr>
        <p:spPr/>
        <p:txBody>
          <a:bodyPr/>
          <a:lstStyle/>
          <a:p>
            <a:fld id="{A2D74603-B40B-4D66-8F6E-41C870D48932}" type="slidenum">
              <a:rPr lang="en-US" altLang="zh-CN" smtClean="0"/>
              <a:pPr/>
              <a:t>78</a:t>
            </a:fld>
            <a:r>
              <a:rPr lang="en-US" altLang="zh-CN"/>
              <a:t>/162</a:t>
            </a:r>
            <a:endParaRPr lang="en-US" altLang="zh-CN" dirty="0"/>
          </a:p>
        </p:txBody>
      </p:sp>
    </p:spTree>
    <p:extLst>
      <p:ext uri="{BB962C8B-B14F-4D97-AF65-F5344CB8AC3E}">
        <p14:creationId xmlns:p14="http://schemas.microsoft.com/office/powerpoint/2010/main" val="28678982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down)">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8.2.7 </a:t>
            </a:r>
            <a:r>
              <a:rPr lang="zh-CN" altLang="en-US" dirty="0"/>
              <a:t>多值依赖</a:t>
            </a:r>
          </a:p>
        </p:txBody>
      </p:sp>
      <p:sp>
        <p:nvSpPr>
          <p:cNvPr id="4" name="日期占位符 3"/>
          <p:cNvSpPr>
            <a:spLocks noGrp="1"/>
          </p:cNvSpPr>
          <p:nvPr>
            <p:ph type="dt" sz="half" idx="10"/>
          </p:nvPr>
        </p:nvSpPr>
        <p:spPr/>
        <p:txBody>
          <a:bodyPr/>
          <a:lstStyle/>
          <a:p>
            <a:fld id="{94048E24-41D3-4895-A572-ADDAD72B3763}" type="datetime1">
              <a:rPr lang="zh-CN" altLang="en-US" smtClean="0"/>
              <a:t>2025/11/6</a:t>
            </a:fld>
            <a:endParaRPr lang="en-US" altLang="zh-CN"/>
          </a:p>
        </p:txBody>
      </p:sp>
      <p:sp>
        <p:nvSpPr>
          <p:cNvPr id="3" name="内容占位符 2"/>
          <p:cNvSpPr>
            <a:spLocks noGrp="1"/>
          </p:cNvSpPr>
          <p:nvPr>
            <p:ph idx="1"/>
          </p:nvPr>
        </p:nvSpPr>
        <p:spPr/>
        <p:txBody>
          <a:bodyPr/>
          <a:lstStyle/>
          <a:p>
            <a:r>
              <a:rPr lang="en-US" altLang="zh-CN" sz="2800" dirty="0"/>
              <a:t>Teaching</a:t>
            </a:r>
            <a:r>
              <a:rPr lang="zh-CN" altLang="en-US" sz="2800" dirty="0"/>
              <a:t>具有</a:t>
            </a:r>
            <a:r>
              <a:rPr lang="zh-CN" altLang="en-US" sz="2800" dirty="0">
                <a:solidFill>
                  <a:srgbClr val="0000FF"/>
                </a:solidFill>
              </a:rPr>
              <a:t>唯一候选码</a:t>
            </a:r>
            <a:r>
              <a:rPr lang="en-US" altLang="zh-CN" sz="2800" dirty="0">
                <a:solidFill>
                  <a:srgbClr val="0000FF"/>
                </a:solidFill>
              </a:rPr>
              <a:t>(</a:t>
            </a:r>
            <a:r>
              <a:rPr lang="en-US" altLang="zh-CN" sz="2800" b="1" dirty="0">
                <a:solidFill>
                  <a:srgbClr val="0000FF"/>
                </a:solidFill>
              </a:rPr>
              <a:t>C</a:t>
            </a:r>
            <a:r>
              <a:rPr lang="zh-CN" altLang="en-US" sz="2800" b="1" dirty="0">
                <a:solidFill>
                  <a:srgbClr val="0000FF"/>
                </a:solidFill>
              </a:rPr>
              <a:t>，</a:t>
            </a:r>
            <a:r>
              <a:rPr lang="en-US" altLang="zh-CN" sz="2800" b="1" dirty="0">
                <a:solidFill>
                  <a:srgbClr val="0000FF"/>
                </a:solidFill>
              </a:rPr>
              <a:t>T</a:t>
            </a:r>
            <a:r>
              <a:rPr lang="zh-CN" altLang="en-US" sz="2800" b="1" dirty="0">
                <a:solidFill>
                  <a:srgbClr val="0000FF"/>
                </a:solidFill>
              </a:rPr>
              <a:t>，</a:t>
            </a:r>
            <a:r>
              <a:rPr lang="en-US" altLang="zh-CN" sz="2800" b="1" dirty="0">
                <a:solidFill>
                  <a:srgbClr val="0000FF"/>
                </a:solidFill>
              </a:rPr>
              <a:t>B</a:t>
            </a:r>
            <a:r>
              <a:rPr lang="en-US" altLang="zh-CN" sz="2800" dirty="0">
                <a:solidFill>
                  <a:srgbClr val="0000FF"/>
                </a:solidFill>
              </a:rPr>
              <a:t>)</a:t>
            </a:r>
            <a:r>
              <a:rPr lang="zh-CN" altLang="en-US" sz="2800" dirty="0"/>
              <a:t>， 即</a:t>
            </a:r>
            <a:r>
              <a:rPr lang="zh-CN" altLang="en-US" sz="2800" b="1" dirty="0">
                <a:solidFill>
                  <a:srgbClr val="C00000"/>
                </a:solidFill>
              </a:rPr>
              <a:t>全码</a:t>
            </a:r>
            <a:endParaRPr lang="en-US" altLang="zh-CN" sz="2800" b="1" dirty="0">
              <a:solidFill>
                <a:srgbClr val="C00000"/>
              </a:solidFill>
            </a:endParaRPr>
          </a:p>
          <a:p>
            <a:r>
              <a:rPr lang="en-US" altLang="zh-CN" sz="2800" dirty="0" err="1"/>
              <a:t>Teaching∈BCNF</a:t>
            </a:r>
            <a:endParaRPr lang="en-US" altLang="zh-CN" sz="2800" dirty="0"/>
          </a:p>
          <a:p>
            <a:endParaRPr lang="en-US" altLang="zh-CN" sz="2800" dirty="0">
              <a:solidFill>
                <a:srgbClr val="0000FF"/>
              </a:solidFill>
            </a:endParaRPr>
          </a:p>
          <a:p>
            <a:endParaRPr lang="en-US" altLang="zh-CN" sz="2800" dirty="0"/>
          </a:p>
          <a:p>
            <a:r>
              <a:rPr lang="en-US" altLang="zh-CN" sz="2800" dirty="0"/>
              <a:t>Teaching</a:t>
            </a:r>
            <a:r>
              <a:rPr lang="zh-CN" altLang="en-US" sz="2800" dirty="0"/>
              <a:t>模式中存在的问题</a:t>
            </a:r>
          </a:p>
          <a:p>
            <a:pPr lvl="1"/>
            <a:r>
              <a:rPr lang="en-US" altLang="zh-CN" sz="2400" dirty="0"/>
              <a:t>(1) </a:t>
            </a:r>
            <a:r>
              <a:rPr lang="zh-CN" altLang="en-US" sz="2400" b="1" dirty="0">
                <a:solidFill>
                  <a:srgbClr val="0000FF"/>
                </a:solidFill>
              </a:rPr>
              <a:t>数据冗余度大 </a:t>
            </a:r>
          </a:p>
          <a:p>
            <a:pPr lvl="1"/>
            <a:r>
              <a:rPr lang="en-US" altLang="zh-CN" sz="2400" dirty="0"/>
              <a:t>(2) </a:t>
            </a:r>
            <a:r>
              <a:rPr lang="zh-CN" altLang="en-US" sz="2400" dirty="0"/>
              <a:t>插入操作复杂</a:t>
            </a:r>
          </a:p>
          <a:p>
            <a:pPr lvl="1"/>
            <a:r>
              <a:rPr lang="en-US" altLang="zh-CN" sz="2400" dirty="0"/>
              <a:t>(3) </a:t>
            </a:r>
            <a:r>
              <a:rPr lang="zh-CN" altLang="en-US" sz="2400" dirty="0"/>
              <a:t>删除操作复杂</a:t>
            </a:r>
          </a:p>
          <a:p>
            <a:pPr lvl="1"/>
            <a:r>
              <a:rPr lang="en-US" altLang="zh-CN" sz="2400" dirty="0"/>
              <a:t>(4) </a:t>
            </a:r>
            <a:r>
              <a:rPr lang="zh-CN" altLang="en-US" sz="2400" dirty="0"/>
              <a:t>修改操作复杂</a:t>
            </a:r>
          </a:p>
          <a:p>
            <a:endParaRPr lang="zh-CN" altLang="en-US" sz="2800" dirty="0"/>
          </a:p>
          <a:p>
            <a:endParaRPr lang="zh-CN" altLang="en-US" sz="2800" dirty="0"/>
          </a:p>
        </p:txBody>
      </p:sp>
      <p:sp>
        <p:nvSpPr>
          <p:cNvPr id="5" name="页脚占位符 4">
            <a:extLst>
              <a:ext uri="{FF2B5EF4-FFF2-40B4-BE49-F238E27FC236}">
                <a16:creationId xmlns:a16="http://schemas.microsoft.com/office/drawing/2014/main" id="{898A8E14-C6EA-9791-5F2A-07FD353E8815}"/>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6AB963F1-26E2-4098-931F-F21A47F97B9F}"/>
              </a:ext>
            </a:extLst>
          </p:cNvPr>
          <p:cNvSpPr>
            <a:spLocks noGrp="1"/>
          </p:cNvSpPr>
          <p:nvPr>
            <p:ph type="sldNum" sz="quarter" idx="12"/>
          </p:nvPr>
        </p:nvSpPr>
        <p:spPr/>
        <p:txBody>
          <a:bodyPr/>
          <a:lstStyle/>
          <a:p>
            <a:fld id="{A2D74603-B40B-4D66-8F6E-41C870D48932}" type="slidenum">
              <a:rPr lang="en-US" altLang="zh-CN" smtClean="0"/>
              <a:pPr/>
              <a:t>79</a:t>
            </a:fld>
            <a:r>
              <a:rPr lang="en-US" altLang="zh-CN"/>
              <a:t>/162</a:t>
            </a:r>
            <a:endParaRPr lang="en-US" altLang="zh-CN" dirty="0"/>
          </a:p>
        </p:txBody>
      </p:sp>
    </p:spTree>
    <p:extLst>
      <p:ext uri="{BB962C8B-B14F-4D97-AF65-F5344CB8AC3E}">
        <p14:creationId xmlns:p14="http://schemas.microsoft.com/office/powerpoint/2010/main" val="11646250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8.2.7 </a:t>
            </a:r>
            <a:r>
              <a:rPr lang="zh-CN" altLang="en-US" dirty="0"/>
              <a:t>多值依赖</a:t>
            </a:r>
          </a:p>
        </p:txBody>
      </p:sp>
      <p:sp>
        <p:nvSpPr>
          <p:cNvPr id="4" name="日期占位符 3"/>
          <p:cNvSpPr>
            <a:spLocks noGrp="1"/>
          </p:cNvSpPr>
          <p:nvPr>
            <p:ph type="dt" sz="half" idx="10"/>
          </p:nvPr>
        </p:nvSpPr>
        <p:spPr/>
        <p:txBody>
          <a:bodyPr/>
          <a:lstStyle/>
          <a:p>
            <a:fld id="{F379FE14-26D8-4910-A63E-A5AF74257486}" type="datetime1">
              <a:rPr lang="zh-CN" altLang="en-US" smtClean="0"/>
              <a:t>2025/11/6</a:t>
            </a:fld>
            <a:endParaRPr lang="en-US" altLang="zh-CN"/>
          </a:p>
        </p:txBody>
      </p:sp>
      <p:sp>
        <p:nvSpPr>
          <p:cNvPr id="3" name="内容占位符 2"/>
          <p:cNvSpPr>
            <a:spLocks noGrp="1"/>
          </p:cNvSpPr>
          <p:nvPr>
            <p:ph idx="1"/>
          </p:nvPr>
        </p:nvSpPr>
        <p:spPr/>
        <p:txBody>
          <a:bodyPr/>
          <a:lstStyle/>
          <a:p>
            <a:r>
              <a:rPr lang="zh-CN" altLang="en-US" dirty="0"/>
              <a:t>用二维表表示</a:t>
            </a:r>
            <a:r>
              <a:rPr lang="en-US" altLang="zh-CN" dirty="0"/>
              <a:t>Teaching</a:t>
            </a:r>
          </a:p>
          <a:p>
            <a:endParaRPr lang="zh-CN" altLang="en-US" dirty="0"/>
          </a:p>
        </p:txBody>
      </p:sp>
      <p:grpSp>
        <p:nvGrpSpPr>
          <p:cNvPr id="8" name="Group 2"/>
          <p:cNvGrpSpPr>
            <a:grpSpLocks/>
          </p:cNvGrpSpPr>
          <p:nvPr/>
        </p:nvGrpSpPr>
        <p:grpSpPr bwMode="auto">
          <a:xfrm>
            <a:off x="1611312" y="2060575"/>
            <a:ext cx="5932488" cy="4264025"/>
            <a:chOff x="1344" y="1296"/>
            <a:chExt cx="3888" cy="2881"/>
          </a:xfrm>
        </p:grpSpPr>
        <p:sp>
          <p:nvSpPr>
            <p:cNvPr id="9" name="Rectangle 3"/>
            <p:cNvSpPr>
              <a:spLocks noChangeArrowheads="1"/>
            </p:cNvSpPr>
            <p:nvPr/>
          </p:nvSpPr>
          <p:spPr bwMode="auto">
            <a:xfrm>
              <a:off x="3936" y="1623"/>
              <a:ext cx="1296" cy="255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lnSpc>
                  <a:spcPct val="100000"/>
                </a:lnSpc>
                <a:spcBef>
                  <a:spcPct val="0"/>
                </a:spcBef>
                <a:buFont typeface="Wingdings" pitchFamily="2" charset="2"/>
                <a:buNone/>
              </a:pPr>
              <a:r>
                <a:rPr lang="zh-CN" altLang="en-US" sz="1800" b="1" dirty="0"/>
                <a:t>普通物理学</a:t>
              </a:r>
            </a:p>
            <a:p>
              <a:pPr algn="ctr">
                <a:lnSpc>
                  <a:spcPct val="100000"/>
                </a:lnSpc>
                <a:spcBef>
                  <a:spcPct val="0"/>
                </a:spcBef>
                <a:buFont typeface="Wingdings" pitchFamily="2" charset="2"/>
                <a:buNone/>
              </a:pPr>
              <a:r>
                <a:rPr lang="zh-CN" altLang="en-US" sz="1800" b="1" dirty="0"/>
                <a:t>光学原理</a:t>
              </a:r>
            </a:p>
            <a:p>
              <a:pPr algn="ctr">
                <a:lnSpc>
                  <a:spcPct val="100000"/>
                </a:lnSpc>
                <a:spcBef>
                  <a:spcPct val="0"/>
                </a:spcBef>
                <a:buFont typeface="Wingdings" pitchFamily="2" charset="2"/>
                <a:buNone/>
              </a:pPr>
              <a:r>
                <a:rPr lang="zh-CN" altLang="en-US" sz="1800" b="1" dirty="0"/>
                <a:t>物理习题集</a:t>
              </a:r>
            </a:p>
            <a:p>
              <a:pPr algn="ctr">
                <a:lnSpc>
                  <a:spcPct val="100000"/>
                </a:lnSpc>
                <a:spcBef>
                  <a:spcPct val="0"/>
                </a:spcBef>
                <a:buFont typeface="Wingdings" pitchFamily="2" charset="2"/>
                <a:buNone/>
              </a:pPr>
              <a:r>
                <a:rPr lang="zh-CN" altLang="en-US" sz="1800" b="1" dirty="0"/>
                <a:t>普通物理学</a:t>
              </a:r>
            </a:p>
            <a:p>
              <a:pPr algn="ctr">
                <a:lnSpc>
                  <a:spcPct val="100000"/>
                </a:lnSpc>
                <a:spcBef>
                  <a:spcPct val="0"/>
                </a:spcBef>
                <a:buFont typeface="Wingdings" pitchFamily="2" charset="2"/>
                <a:buNone/>
              </a:pPr>
              <a:r>
                <a:rPr lang="zh-CN" altLang="en-US" sz="1800" b="1" dirty="0"/>
                <a:t>光学原理</a:t>
              </a:r>
            </a:p>
            <a:p>
              <a:pPr algn="ctr">
                <a:lnSpc>
                  <a:spcPct val="100000"/>
                </a:lnSpc>
                <a:spcBef>
                  <a:spcPct val="0"/>
                </a:spcBef>
                <a:buFont typeface="Wingdings" pitchFamily="2" charset="2"/>
                <a:buNone/>
              </a:pPr>
              <a:r>
                <a:rPr lang="zh-CN" altLang="en-US" sz="1800" b="1" dirty="0"/>
                <a:t>物理习题集</a:t>
              </a:r>
            </a:p>
            <a:p>
              <a:pPr algn="ctr">
                <a:lnSpc>
                  <a:spcPct val="100000"/>
                </a:lnSpc>
                <a:spcBef>
                  <a:spcPct val="0"/>
                </a:spcBef>
                <a:buFont typeface="Wingdings" pitchFamily="2" charset="2"/>
                <a:buNone/>
              </a:pPr>
              <a:r>
                <a:rPr lang="zh-CN" altLang="en-US" sz="1800" b="1" dirty="0"/>
                <a:t>数学分析</a:t>
              </a:r>
            </a:p>
            <a:p>
              <a:pPr algn="ctr">
                <a:lnSpc>
                  <a:spcPct val="100000"/>
                </a:lnSpc>
                <a:spcBef>
                  <a:spcPct val="0"/>
                </a:spcBef>
                <a:buFont typeface="Wingdings" pitchFamily="2" charset="2"/>
                <a:buNone/>
              </a:pPr>
              <a:r>
                <a:rPr lang="zh-CN" altLang="en-US" sz="1800" b="1" dirty="0"/>
                <a:t>微分方程</a:t>
              </a:r>
            </a:p>
            <a:p>
              <a:pPr algn="ctr">
                <a:lnSpc>
                  <a:spcPct val="100000"/>
                </a:lnSpc>
                <a:spcBef>
                  <a:spcPct val="0"/>
                </a:spcBef>
                <a:buFont typeface="Wingdings" pitchFamily="2" charset="2"/>
                <a:buNone/>
              </a:pPr>
              <a:r>
                <a:rPr lang="zh-CN" altLang="en-US" sz="1800" b="1" dirty="0"/>
                <a:t>高等代数</a:t>
              </a:r>
            </a:p>
            <a:p>
              <a:pPr algn="ctr">
                <a:lnSpc>
                  <a:spcPct val="100000"/>
                </a:lnSpc>
                <a:spcBef>
                  <a:spcPct val="0"/>
                </a:spcBef>
                <a:buFont typeface="Wingdings" pitchFamily="2" charset="2"/>
                <a:buNone/>
              </a:pPr>
              <a:r>
                <a:rPr lang="zh-CN" altLang="en-US" sz="1800" b="1" dirty="0"/>
                <a:t>数学分析</a:t>
              </a:r>
            </a:p>
            <a:p>
              <a:pPr algn="ctr">
                <a:lnSpc>
                  <a:spcPct val="100000"/>
                </a:lnSpc>
                <a:spcBef>
                  <a:spcPct val="0"/>
                </a:spcBef>
                <a:buFont typeface="Wingdings" pitchFamily="2" charset="2"/>
                <a:buNone/>
              </a:pPr>
              <a:r>
                <a:rPr lang="zh-CN" altLang="en-US" sz="1800" b="1" dirty="0"/>
                <a:t>微分方程</a:t>
              </a:r>
            </a:p>
            <a:p>
              <a:pPr algn="ctr">
                <a:lnSpc>
                  <a:spcPct val="100000"/>
                </a:lnSpc>
                <a:spcBef>
                  <a:spcPct val="0"/>
                </a:spcBef>
                <a:buFont typeface="Wingdings" pitchFamily="2" charset="2"/>
                <a:buNone/>
              </a:pPr>
              <a:r>
                <a:rPr lang="zh-CN" altLang="en-US" sz="1800" b="1" dirty="0"/>
                <a:t>高等代数</a:t>
              </a:r>
            </a:p>
            <a:p>
              <a:pPr algn="ctr">
                <a:lnSpc>
                  <a:spcPct val="100000"/>
                </a:lnSpc>
                <a:spcBef>
                  <a:spcPct val="0"/>
                </a:spcBef>
                <a:buClrTx/>
                <a:buFontTx/>
                <a:buNone/>
              </a:pPr>
              <a:r>
                <a:rPr lang="en-US" altLang="zh-CN" sz="1800" b="1" dirty="0"/>
                <a:t>…</a:t>
              </a:r>
            </a:p>
          </p:txBody>
        </p:sp>
        <p:sp>
          <p:nvSpPr>
            <p:cNvPr id="10" name="Rectangle 4"/>
            <p:cNvSpPr>
              <a:spLocks noChangeArrowheads="1"/>
            </p:cNvSpPr>
            <p:nvPr/>
          </p:nvSpPr>
          <p:spPr bwMode="auto">
            <a:xfrm>
              <a:off x="2640" y="1623"/>
              <a:ext cx="1296" cy="255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lnSpc>
                  <a:spcPct val="100000"/>
                </a:lnSpc>
                <a:spcBef>
                  <a:spcPct val="0"/>
                </a:spcBef>
                <a:buFont typeface="Wingdings" pitchFamily="2" charset="2"/>
                <a:buNone/>
              </a:pPr>
              <a:r>
                <a:rPr lang="zh-CN" altLang="en-US" sz="1800" b="1" dirty="0">
                  <a:solidFill>
                    <a:srgbClr val="6600FF"/>
                  </a:solidFill>
                </a:rPr>
                <a:t>李 勇</a:t>
              </a:r>
              <a:endParaRPr lang="zh-CN" altLang="en-US" sz="1800" b="1" dirty="0"/>
            </a:p>
            <a:p>
              <a:pPr algn="ctr">
                <a:lnSpc>
                  <a:spcPct val="100000"/>
                </a:lnSpc>
                <a:spcBef>
                  <a:spcPct val="0"/>
                </a:spcBef>
                <a:buFont typeface="Wingdings" pitchFamily="2" charset="2"/>
                <a:buNone/>
              </a:pPr>
              <a:r>
                <a:rPr lang="zh-CN" altLang="en-US" sz="1800" b="1" dirty="0"/>
                <a:t>李 勇</a:t>
              </a:r>
            </a:p>
            <a:p>
              <a:pPr algn="ctr">
                <a:lnSpc>
                  <a:spcPct val="100000"/>
                </a:lnSpc>
                <a:spcBef>
                  <a:spcPct val="0"/>
                </a:spcBef>
                <a:buFont typeface="Wingdings" pitchFamily="2" charset="2"/>
                <a:buNone/>
              </a:pPr>
              <a:r>
                <a:rPr lang="zh-CN" altLang="en-US" sz="1800" b="1" dirty="0"/>
                <a:t>李 勇</a:t>
              </a:r>
            </a:p>
            <a:p>
              <a:pPr algn="ctr">
                <a:lnSpc>
                  <a:spcPct val="100000"/>
                </a:lnSpc>
                <a:spcBef>
                  <a:spcPct val="0"/>
                </a:spcBef>
                <a:buFont typeface="Wingdings" pitchFamily="2" charset="2"/>
                <a:buNone/>
              </a:pPr>
              <a:r>
                <a:rPr lang="zh-CN" altLang="en-US" sz="1800" b="1" dirty="0">
                  <a:solidFill>
                    <a:srgbClr val="6600FF"/>
                  </a:solidFill>
                </a:rPr>
                <a:t>王 军</a:t>
              </a:r>
              <a:endParaRPr lang="zh-CN" altLang="en-US" sz="1800" b="1" dirty="0"/>
            </a:p>
            <a:p>
              <a:pPr algn="ctr">
                <a:lnSpc>
                  <a:spcPct val="100000"/>
                </a:lnSpc>
                <a:spcBef>
                  <a:spcPct val="0"/>
                </a:spcBef>
                <a:buFont typeface="Wingdings" pitchFamily="2" charset="2"/>
                <a:buNone/>
              </a:pPr>
              <a:r>
                <a:rPr lang="zh-CN" altLang="en-US" sz="1800" b="1" dirty="0"/>
                <a:t>王 军</a:t>
              </a:r>
            </a:p>
            <a:p>
              <a:pPr algn="ctr">
                <a:lnSpc>
                  <a:spcPct val="100000"/>
                </a:lnSpc>
                <a:spcBef>
                  <a:spcPct val="0"/>
                </a:spcBef>
                <a:buFont typeface="Wingdings" pitchFamily="2" charset="2"/>
                <a:buNone/>
              </a:pPr>
              <a:r>
                <a:rPr lang="zh-CN" altLang="en-US" sz="1800" b="1" dirty="0"/>
                <a:t>王 军</a:t>
              </a:r>
            </a:p>
            <a:p>
              <a:pPr algn="ctr">
                <a:lnSpc>
                  <a:spcPct val="100000"/>
                </a:lnSpc>
                <a:spcBef>
                  <a:spcPct val="0"/>
                </a:spcBef>
                <a:buFont typeface="Wingdings" pitchFamily="2" charset="2"/>
                <a:buNone/>
              </a:pPr>
              <a:r>
                <a:rPr lang="zh-CN" altLang="en-US" sz="1800" b="1" dirty="0"/>
                <a:t>李 勇</a:t>
              </a:r>
            </a:p>
            <a:p>
              <a:pPr algn="ctr">
                <a:lnSpc>
                  <a:spcPct val="100000"/>
                </a:lnSpc>
                <a:spcBef>
                  <a:spcPct val="0"/>
                </a:spcBef>
                <a:buFont typeface="Wingdings" pitchFamily="2" charset="2"/>
                <a:buNone/>
              </a:pPr>
              <a:r>
                <a:rPr lang="zh-CN" altLang="en-US" sz="1800" b="1" dirty="0"/>
                <a:t>李 勇</a:t>
              </a:r>
            </a:p>
            <a:p>
              <a:pPr algn="ctr">
                <a:lnSpc>
                  <a:spcPct val="100000"/>
                </a:lnSpc>
                <a:spcBef>
                  <a:spcPct val="0"/>
                </a:spcBef>
                <a:buFont typeface="Wingdings" pitchFamily="2" charset="2"/>
                <a:buNone/>
              </a:pPr>
              <a:r>
                <a:rPr lang="zh-CN" altLang="en-US" sz="1800" b="1" dirty="0"/>
                <a:t>李 勇</a:t>
              </a:r>
            </a:p>
            <a:p>
              <a:pPr algn="ctr">
                <a:lnSpc>
                  <a:spcPct val="100000"/>
                </a:lnSpc>
                <a:spcBef>
                  <a:spcPct val="0"/>
                </a:spcBef>
                <a:buFont typeface="Wingdings" pitchFamily="2" charset="2"/>
                <a:buNone/>
              </a:pPr>
              <a:r>
                <a:rPr lang="zh-CN" altLang="en-US" sz="1800" b="1" dirty="0"/>
                <a:t>张 平</a:t>
              </a:r>
            </a:p>
            <a:p>
              <a:pPr algn="ctr">
                <a:lnSpc>
                  <a:spcPct val="100000"/>
                </a:lnSpc>
                <a:spcBef>
                  <a:spcPct val="0"/>
                </a:spcBef>
                <a:buFont typeface="Wingdings" pitchFamily="2" charset="2"/>
                <a:buNone/>
              </a:pPr>
              <a:r>
                <a:rPr lang="zh-CN" altLang="en-US" sz="1800" b="1" dirty="0"/>
                <a:t>张 平</a:t>
              </a:r>
            </a:p>
            <a:p>
              <a:pPr algn="ctr">
                <a:lnSpc>
                  <a:spcPct val="100000"/>
                </a:lnSpc>
                <a:spcBef>
                  <a:spcPct val="0"/>
                </a:spcBef>
                <a:buFont typeface="Wingdings" pitchFamily="2" charset="2"/>
                <a:buNone/>
              </a:pPr>
              <a:r>
                <a:rPr lang="zh-CN" altLang="en-US" sz="1800" b="1" dirty="0"/>
                <a:t>张 平</a:t>
              </a:r>
            </a:p>
            <a:p>
              <a:pPr algn="ctr">
                <a:lnSpc>
                  <a:spcPct val="100000"/>
                </a:lnSpc>
                <a:spcBef>
                  <a:spcPct val="0"/>
                </a:spcBef>
                <a:buClrTx/>
                <a:buFontTx/>
                <a:buNone/>
              </a:pPr>
              <a:r>
                <a:rPr lang="zh-CN" altLang="en-US" sz="1800" b="1" dirty="0"/>
                <a:t> </a:t>
              </a:r>
              <a:r>
                <a:rPr lang="en-US" altLang="zh-CN" sz="1800" b="1" dirty="0"/>
                <a:t>…</a:t>
              </a:r>
              <a:endParaRPr lang="en-US" altLang="zh-CN" sz="1800" dirty="0"/>
            </a:p>
          </p:txBody>
        </p:sp>
        <p:sp>
          <p:nvSpPr>
            <p:cNvPr id="11" name="Rectangle 5"/>
            <p:cNvSpPr>
              <a:spLocks noChangeArrowheads="1"/>
            </p:cNvSpPr>
            <p:nvPr/>
          </p:nvSpPr>
          <p:spPr bwMode="auto">
            <a:xfrm>
              <a:off x="1344" y="1623"/>
              <a:ext cx="1296" cy="255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lnSpc>
                  <a:spcPct val="100000"/>
                </a:lnSpc>
                <a:spcBef>
                  <a:spcPct val="0"/>
                </a:spcBef>
                <a:buFont typeface="Wingdings" pitchFamily="2" charset="2"/>
                <a:buNone/>
              </a:pPr>
              <a:r>
                <a:rPr lang="zh-CN" altLang="en-US" sz="1800" b="1" dirty="0">
                  <a:solidFill>
                    <a:srgbClr val="C00000"/>
                  </a:solidFill>
                </a:rPr>
                <a:t>物 理</a:t>
              </a:r>
            </a:p>
            <a:p>
              <a:pPr algn="ctr">
                <a:lnSpc>
                  <a:spcPct val="100000"/>
                </a:lnSpc>
                <a:spcBef>
                  <a:spcPct val="0"/>
                </a:spcBef>
                <a:buFont typeface="Wingdings" pitchFamily="2" charset="2"/>
                <a:buNone/>
              </a:pPr>
              <a:r>
                <a:rPr lang="zh-CN" altLang="en-US" sz="1800" b="1" dirty="0">
                  <a:solidFill>
                    <a:srgbClr val="C00000"/>
                  </a:solidFill>
                </a:rPr>
                <a:t>物 理</a:t>
              </a:r>
            </a:p>
            <a:p>
              <a:pPr algn="ctr">
                <a:lnSpc>
                  <a:spcPct val="100000"/>
                </a:lnSpc>
                <a:spcBef>
                  <a:spcPct val="0"/>
                </a:spcBef>
                <a:buFont typeface="Wingdings" pitchFamily="2" charset="2"/>
                <a:buNone/>
              </a:pPr>
              <a:r>
                <a:rPr lang="zh-CN" altLang="en-US" sz="1800" b="1" dirty="0">
                  <a:solidFill>
                    <a:srgbClr val="C00000"/>
                  </a:solidFill>
                </a:rPr>
                <a:t>物 理</a:t>
              </a:r>
            </a:p>
            <a:p>
              <a:pPr algn="ctr">
                <a:lnSpc>
                  <a:spcPct val="100000"/>
                </a:lnSpc>
                <a:spcBef>
                  <a:spcPct val="0"/>
                </a:spcBef>
                <a:buFont typeface="Wingdings" pitchFamily="2" charset="2"/>
                <a:buNone/>
              </a:pPr>
              <a:r>
                <a:rPr lang="zh-CN" altLang="en-US" sz="1800" b="1" dirty="0">
                  <a:solidFill>
                    <a:srgbClr val="C00000"/>
                  </a:solidFill>
                </a:rPr>
                <a:t>物 理</a:t>
              </a:r>
            </a:p>
            <a:p>
              <a:pPr algn="ctr">
                <a:lnSpc>
                  <a:spcPct val="100000"/>
                </a:lnSpc>
                <a:spcBef>
                  <a:spcPct val="0"/>
                </a:spcBef>
                <a:buFont typeface="Wingdings" pitchFamily="2" charset="2"/>
                <a:buNone/>
              </a:pPr>
              <a:r>
                <a:rPr lang="zh-CN" altLang="en-US" sz="1800" b="1" dirty="0">
                  <a:solidFill>
                    <a:srgbClr val="C00000"/>
                  </a:solidFill>
                </a:rPr>
                <a:t>物 理</a:t>
              </a:r>
            </a:p>
            <a:p>
              <a:pPr algn="ctr">
                <a:lnSpc>
                  <a:spcPct val="100000"/>
                </a:lnSpc>
                <a:spcBef>
                  <a:spcPct val="0"/>
                </a:spcBef>
                <a:buClrTx/>
                <a:buFontTx/>
                <a:buNone/>
              </a:pPr>
              <a:r>
                <a:rPr lang="zh-CN" altLang="en-US" sz="1800" b="1" dirty="0">
                  <a:solidFill>
                    <a:srgbClr val="C00000"/>
                  </a:solidFill>
                </a:rPr>
                <a:t>物 理</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en-US" altLang="zh-CN" sz="1800" b="1" dirty="0"/>
                <a:t>… </a:t>
              </a:r>
            </a:p>
          </p:txBody>
        </p:sp>
        <p:sp>
          <p:nvSpPr>
            <p:cNvPr id="12" name="Rectangle 6"/>
            <p:cNvSpPr>
              <a:spLocks noChangeArrowheads="1"/>
            </p:cNvSpPr>
            <p:nvPr/>
          </p:nvSpPr>
          <p:spPr bwMode="auto">
            <a:xfrm>
              <a:off x="3936" y="1296"/>
              <a:ext cx="1296" cy="327"/>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100000"/>
                </a:lnSpc>
                <a:buFont typeface="Wingdings" pitchFamily="2" charset="2"/>
                <a:buNone/>
              </a:pPr>
              <a:r>
                <a:rPr lang="zh-CN" altLang="en-US" sz="2200"/>
                <a:t>参考书</a:t>
              </a:r>
              <a:r>
                <a:rPr lang="en-US" altLang="zh-CN" sz="2200"/>
                <a:t>B</a:t>
              </a:r>
            </a:p>
          </p:txBody>
        </p:sp>
        <p:sp>
          <p:nvSpPr>
            <p:cNvPr id="13" name="Rectangle 7"/>
            <p:cNvSpPr>
              <a:spLocks noChangeArrowheads="1"/>
            </p:cNvSpPr>
            <p:nvPr/>
          </p:nvSpPr>
          <p:spPr bwMode="auto">
            <a:xfrm>
              <a:off x="2640" y="1296"/>
              <a:ext cx="1296" cy="327"/>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100000"/>
                </a:lnSpc>
                <a:buFont typeface="Wingdings" pitchFamily="2" charset="2"/>
                <a:buNone/>
              </a:pPr>
              <a:r>
                <a:rPr lang="zh-CN" altLang="en-US" sz="2200"/>
                <a:t>教员</a:t>
              </a:r>
              <a:r>
                <a:rPr lang="en-US" altLang="zh-CN" sz="2200"/>
                <a:t>T</a:t>
              </a:r>
            </a:p>
          </p:txBody>
        </p:sp>
        <p:sp>
          <p:nvSpPr>
            <p:cNvPr id="14" name="Rectangle 8"/>
            <p:cNvSpPr>
              <a:spLocks noChangeArrowheads="1"/>
            </p:cNvSpPr>
            <p:nvPr/>
          </p:nvSpPr>
          <p:spPr bwMode="auto">
            <a:xfrm>
              <a:off x="1344" y="1296"/>
              <a:ext cx="1296" cy="327"/>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100000"/>
                </a:lnSpc>
                <a:buFont typeface="Wingdings" pitchFamily="2" charset="2"/>
                <a:buNone/>
              </a:pPr>
              <a:r>
                <a:rPr lang="zh-CN" altLang="en-US" sz="2200"/>
                <a:t>课程</a:t>
              </a:r>
              <a:r>
                <a:rPr lang="en-US" altLang="zh-CN" sz="2200"/>
                <a:t>C</a:t>
              </a:r>
            </a:p>
          </p:txBody>
        </p:sp>
        <p:sp>
          <p:nvSpPr>
            <p:cNvPr id="15" name="Line 9"/>
            <p:cNvSpPr>
              <a:spLocks noChangeShapeType="1"/>
            </p:cNvSpPr>
            <p:nvPr/>
          </p:nvSpPr>
          <p:spPr bwMode="auto">
            <a:xfrm>
              <a:off x="1344" y="1296"/>
              <a:ext cx="3888"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16" name="Line 10"/>
            <p:cNvSpPr>
              <a:spLocks noChangeShapeType="1"/>
            </p:cNvSpPr>
            <p:nvPr/>
          </p:nvSpPr>
          <p:spPr bwMode="auto">
            <a:xfrm>
              <a:off x="1344" y="1623"/>
              <a:ext cx="388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17" name="Line 11"/>
            <p:cNvSpPr>
              <a:spLocks noChangeShapeType="1"/>
            </p:cNvSpPr>
            <p:nvPr/>
          </p:nvSpPr>
          <p:spPr bwMode="auto">
            <a:xfrm>
              <a:off x="1344" y="4177"/>
              <a:ext cx="3888"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18" name="Line 12"/>
            <p:cNvSpPr>
              <a:spLocks noChangeShapeType="1"/>
            </p:cNvSpPr>
            <p:nvPr/>
          </p:nvSpPr>
          <p:spPr bwMode="auto">
            <a:xfrm>
              <a:off x="2640" y="1296"/>
              <a:ext cx="0" cy="288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19" name="Line 13"/>
            <p:cNvSpPr>
              <a:spLocks noChangeShapeType="1"/>
            </p:cNvSpPr>
            <p:nvPr/>
          </p:nvSpPr>
          <p:spPr bwMode="auto">
            <a:xfrm>
              <a:off x="3936" y="1296"/>
              <a:ext cx="0" cy="288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20" name="Line 14"/>
            <p:cNvSpPr>
              <a:spLocks noChangeShapeType="1"/>
            </p:cNvSpPr>
            <p:nvPr/>
          </p:nvSpPr>
          <p:spPr bwMode="auto">
            <a:xfrm>
              <a:off x="5232" y="1296"/>
              <a:ext cx="0" cy="2881"/>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21" name="Line 15"/>
            <p:cNvSpPr>
              <a:spLocks noChangeShapeType="1"/>
            </p:cNvSpPr>
            <p:nvPr/>
          </p:nvSpPr>
          <p:spPr bwMode="auto">
            <a:xfrm>
              <a:off x="1344" y="1623"/>
              <a:ext cx="0" cy="255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22" name="Line 16"/>
            <p:cNvSpPr>
              <a:spLocks noChangeShapeType="1"/>
            </p:cNvSpPr>
            <p:nvPr/>
          </p:nvSpPr>
          <p:spPr bwMode="auto">
            <a:xfrm>
              <a:off x="1344" y="1296"/>
              <a:ext cx="0" cy="327"/>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sp>
        <p:nvSpPr>
          <p:cNvPr id="7" name="圆角矩形标注 6"/>
          <p:cNvSpPr/>
          <p:nvPr/>
        </p:nvSpPr>
        <p:spPr bwMode="auto">
          <a:xfrm>
            <a:off x="5702300" y="304800"/>
            <a:ext cx="3289299" cy="1328023"/>
          </a:xfrm>
          <a:prstGeom prst="wedgeRoundRectCallout">
            <a:avLst>
              <a:gd name="adj1" fmla="val -48886"/>
              <a:gd name="adj2" fmla="val 79714"/>
              <a:gd name="adj3" fmla="val 16667"/>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r>
              <a:rPr lang="en-US" altLang="zh-CN" dirty="0"/>
              <a:t>(1)</a:t>
            </a:r>
            <a:r>
              <a:rPr lang="zh-CN" altLang="en-US" dirty="0">
                <a:solidFill>
                  <a:srgbClr val="FF0000"/>
                </a:solidFill>
              </a:rPr>
              <a:t>数据冗余</a:t>
            </a:r>
            <a:r>
              <a:rPr lang="zh-CN" altLang="en-US" dirty="0"/>
              <a:t>度大：有</a:t>
            </a:r>
            <a:r>
              <a:rPr lang="zh-CN" altLang="en-US" dirty="0">
                <a:solidFill>
                  <a:srgbClr val="0000FF"/>
                </a:solidFill>
              </a:rPr>
              <a:t>多少名</a:t>
            </a:r>
            <a:r>
              <a:rPr lang="zh-CN" altLang="en-US" dirty="0">
                <a:solidFill>
                  <a:schemeClr val="tx2"/>
                </a:solidFill>
              </a:rPr>
              <a:t>任课教师</a:t>
            </a:r>
            <a:r>
              <a:rPr lang="zh-CN" altLang="en-US" dirty="0"/>
              <a:t>，</a:t>
            </a:r>
            <a:r>
              <a:rPr lang="zh-CN" altLang="en-US" u="sng" dirty="0"/>
              <a:t>参考书</a:t>
            </a:r>
            <a:r>
              <a:rPr lang="zh-CN" altLang="en-US" dirty="0"/>
              <a:t>就要</a:t>
            </a:r>
            <a:r>
              <a:rPr lang="zh-CN" altLang="en-US" dirty="0">
                <a:solidFill>
                  <a:schemeClr val="tx2"/>
                </a:solidFill>
              </a:rPr>
              <a:t>存储</a:t>
            </a:r>
            <a:r>
              <a:rPr lang="zh-CN" altLang="en-US" dirty="0">
                <a:solidFill>
                  <a:srgbClr val="0000FF"/>
                </a:solidFill>
              </a:rPr>
              <a:t>多少次</a:t>
            </a:r>
            <a:r>
              <a:rPr lang="zh-CN" altLang="en-US" dirty="0"/>
              <a:t>。</a:t>
            </a:r>
            <a:endParaRPr kumimoji="1" lang="zh-CN" altLang="en-US" sz="2400" b="0" i="0" u="none" strike="noStrike" cap="none" normalizeH="0" baseline="0" dirty="0">
              <a:ln>
                <a:noFill/>
              </a:ln>
              <a:solidFill>
                <a:schemeClr val="tx1"/>
              </a:solidFill>
              <a:effectLst/>
              <a:latin typeface="Tahoma" pitchFamily="34" charset="0"/>
              <a:ea typeface="宋体" pitchFamily="2" charset="-122"/>
              <a:cs typeface="Arial" charset="0"/>
            </a:endParaRPr>
          </a:p>
        </p:txBody>
      </p:sp>
      <p:sp>
        <p:nvSpPr>
          <p:cNvPr id="5" name="页脚占位符 4">
            <a:extLst>
              <a:ext uri="{FF2B5EF4-FFF2-40B4-BE49-F238E27FC236}">
                <a16:creationId xmlns:a16="http://schemas.microsoft.com/office/drawing/2014/main" id="{950291EB-4F05-3DA0-1191-6D2FABEAE854}"/>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5CB6F604-085D-95D9-6213-829BB1CCF821}"/>
              </a:ext>
            </a:extLst>
          </p:cNvPr>
          <p:cNvSpPr>
            <a:spLocks noGrp="1"/>
          </p:cNvSpPr>
          <p:nvPr>
            <p:ph type="sldNum" sz="quarter" idx="12"/>
          </p:nvPr>
        </p:nvSpPr>
        <p:spPr/>
        <p:txBody>
          <a:bodyPr/>
          <a:lstStyle/>
          <a:p>
            <a:fld id="{A2D74603-B40B-4D66-8F6E-41C870D48932}" type="slidenum">
              <a:rPr lang="en-US" altLang="zh-CN" smtClean="0"/>
              <a:pPr/>
              <a:t>80</a:t>
            </a:fld>
            <a:r>
              <a:rPr lang="en-US" altLang="zh-CN"/>
              <a:t>/162</a:t>
            </a:r>
            <a:endParaRPr lang="en-US" altLang="zh-CN" dirty="0"/>
          </a:p>
        </p:txBody>
      </p:sp>
    </p:spTree>
    <p:extLst>
      <p:ext uri="{BB962C8B-B14F-4D97-AF65-F5344CB8AC3E}">
        <p14:creationId xmlns:p14="http://schemas.microsoft.com/office/powerpoint/2010/main" val="4256950398"/>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8.2.7 </a:t>
            </a:r>
            <a:r>
              <a:rPr lang="zh-CN" altLang="en-US" dirty="0"/>
              <a:t>多值依赖</a:t>
            </a:r>
          </a:p>
        </p:txBody>
      </p:sp>
      <p:sp>
        <p:nvSpPr>
          <p:cNvPr id="4" name="日期占位符 3"/>
          <p:cNvSpPr>
            <a:spLocks noGrp="1"/>
          </p:cNvSpPr>
          <p:nvPr>
            <p:ph type="dt" sz="half" idx="10"/>
          </p:nvPr>
        </p:nvSpPr>
        <p:spPr/>
        <p:txBody>
          <a:bodyPr/>
          <a:lstStyle/>
          <a:p>
            <a:fld id="{811B5C0C-4C8F-4734-884A-A9EFDD542F3E}" type="datetime1">
              <a:rPr lang="zh-CN" altLang="en-US" smtClean="0"/>
              <a:t>2025/11/6</a:t>
            </a:fld>
            <a:endParaRPr lang="en-US" altLang="zh-CN"/>
          </a:p>
        </p:txBody>
      </p:sp>
      <p:sp>
        <p:nvSpPr>
          <p:cNvPr id="3" name="内容占位符 2"/>
          <p:cNvSpPr>
            <a:spLocks noGrp="1"/>
          </p:cNvSpPr>
          <p:nvPr>
            <p:ph idx="1"/>
          </p:nvPr>
        </p:nvSpPr>
        <p:spPr/>
        <p:txBody>
          <a:bodyPr/>
          <a:lstStyle/>
          <a:p>
            <a:r>
              <a:rPr lang="zh-CN" altLang="en-US" dirty="0"/>
              <a:t>用二维表表示</a:t>
            </a:r>
            <a:r>
              <a:rPr lang="en-US" altLang="zh-CN" dirty="0"/>
              <a:t>Teaching</a:t>
            </a:r>
          </a:p>
          <a:p>
            <a:endParaRPr lang="zh-CN" altLang="en-US" dirty="0"/>
          </a:p>
        </p:txBody>
      </p:sp>
      <p:grpSp>
        <p:nvGrpSpPr>
          <p:cNvPr id="8" name="Group 2"/>
          <p:cNvGrpSpPr>
            <a:grpSpLocks/>
          </p:cNvGrpSpPr>
          <p:nvPr/>
        </p:nvGrpSpPr>
        <p:grpSpPr bwMode="auto">
          <a:xfrm>
            <a:off x="1611312" y="2060575"/>
            <a:ext cx="5932488" cy="4264025"/>
            <a:chOff x="1344" y="1296"/>
            <a:chExt cx="3888" cy="2881"/>
          </a:xfrm>
        </p:grpSpPr>
        <p:sp>
          <p:nvSpPr>
            <p:cNvPr id="9" name="Rectangle 3"/>
            <p:cNvSpPr>
              <a:spLocks noChangeArrowheads="1"/>
            </p:cNvSpPr>
            <p:nvPr/>
          </p:nvSpPr>
          <p:spPr bwMode="auto">
            <a:xfrm>
              <a:off x="3936" y="1623"/>
              <a:ext cx="1296" cy="255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lnSpc>
                  <a:spcPct val="100000"/>
                </a:lnSpc>
                <a:spcBef>
                  <a:spcPct val="0"/>
                </a:spcBef>
                <a:buFont typeface="Wingdings" pitchFamily="2" charset="2"/>
                <a:buNone/>
              </a:pPr>
              <a:r>
                <a:rPr lang="zh-CN" altLang="en-US" sz="1800" b="1" dirty="0"/>
                <a:t>普通物理学</a:t>
              </a:r>
            </a:p>
            <a:p>
              <a:pPr algn="ctr">
                <a:lnSpc>
                  <a:spcPct val="100000"/>
                </a:lnSpc>
                <a:spcBef>
                  <a:spcPct val="0"/>
                </a:spcBef>
                <a:buFont typeface="Wingdings" pitchFamily="2" charset="2"/>
                <a:buNone/>
              </a:pPr>
              <a:r>
                <a:rPr lang="zh-CN" altLang="en-US" sz="1800" b="1" dirty="0"/>
                <a:t>光学原理</a:t>
              </a:r>
            </a:p>
            <a:p>
              <a:pPr algn="ctr">
                <a:lnSpc>
                  <a:spcPct val="100000"/>
                </a:lnSpc>
                <a:spcBef>
                  <a:spcPct val="0"/>
                </a:spcBef>
                <a:buFont typeface="Wingdings" pitchFamily="2" charset="2"/>
                <a:buNone/>
              </a:pPr>
              <a:r>
                <a:rPr lang="zh-CN" altLang="en-US" sz="1800" b="1" dirty="0"/>
                <a:t>物理习题集</a:t>
              </a:r>
            </a:p>
            <a:p>
              <a:pPr algn="ctr">
                <a:lnSpc>
                  <a:spcPct val="100000"/>
                </a:lnSpc>
                <a:spcBef>
                  <a:spcPct val="0"/>
                </a:spcBef>
                <a:buFont typeface="Wingdings" pitchFamily="2" charset="2"/>
                <a:buNone/>
              </a:pPr>
              <a:r>
                <a:rPr lang="zh-CN" altLang="en-US" sz="1800" b="1" dirty="0"/>
                <a:t>普通物理学</a:t>
              </a:r>
            </a:p>
            <a:p>
              <a:pPr algn="ctr">
                <a:lnSpc>
                  <a:spcPct val="100000"/>
                </a:lnSpc>
                <a:spcBef>
                  <a:spcPct val="0"/>
                </a:spcBef>
                <a:buFont typeface="Wingdings" pitchFamily="2" charset="2"/>
                <a:buNone/>
              </a:pPr>
              <a:r>
                <a:rPr lang="zh-CN" altLang="en-US" sz="1800" b="1" dirty="0"/>
                <a:t>光学原理</a:t>
              </a:r>
            </a:p>
            <a:p>
              <a:pPr algn="ctr">
                <a:lnSpc>
                  <a:spcPct val="100000"/>
                </a:lnSpc>
                <a:spcBef>
                  <a:spcPct val="0"/>
                </a:spcBef>
                <a:buFont typeface="Wingdings" pitchFamily="2" charset="2"/>
                <a:buNone/>
              </a:pPr>
              <a:r>
                <a:rPr lang="zh-CN" altLang="en-US" sz="1800" b="1" dirty="0"/>
                <a:t>物理习题集</a:t>
              </a:r>
            </a:p>
            <a:p>
              <a:pPr algn="ctr">
                <a:lnSpc>
                  <a:spcPct val="100000"/>
                </a:lnSpc>
                <a:spcBef>
                  <a:spcPct val="0"/>
                </a:spcBef>
                <a:buFont typeface="Wingdings" pitchFamily="2" charset="2"/>
                <a:buNone/>
              </a:pPr>
              <a:r>
                <a:rPr lang="zh-CN" altLang="en-US" sz="1800" b="1" dirty="0"/>
                <a:t>数学分析</a:t>
              </a:r>
            </a:p>
            <a:p>
              <a:pPr algn="ctr">
                <a:lnSpc>
                  <a:spcPct val="100000"/>
                </a:lnSpc>
                <a:spcBef>
                  <a:spcPct val="0"/>
                </a:spcBef>
                <a:buFont typeface="Wingdings" pitchFamily="2" charset="2"/>
                <a:buNone/>
              </a:pPr>
              <a:r>
                <a:rPr lang="zh-CN" altLang="en-US" sz="1800" b="1" dirty="0"/>
                <a:t>微分方程</a:t>
              </a:r>
            </a:p>
            <a:p>
              <a:pPr algn="ctr">
                <a:lnSpc>
                  <a:spcPct val="100000"/>
                </a:lnSpc>
                <a:spcBef>
                  <a:spcPct val="0"/>
                </a:spcBef>
                <a:buFont typeface="Wingdings" pitchFamily="2" charset="2"/>
                <a:buNone/>
              </a:pPr>
              <a:r>
                <a:rPr lang="zh-CN" altLang="en-US" sz="1800" b="1" dirty="0"/>
                <a:t>高等代数</a:t>
              </a:r>
            </a:p>
            <a:p>
              <a:pPr algn="ctr">
                <a:lnSpc>
                  <a:spcPct val="100000"/>
                </a:lnSpc>
                <a:spcBef>
                  <a:spcPct val="0"/>
                </a:spcBef>
                <a:buFont typeface="Wingdings" pitchFamily="2" charset="2"/>
                <a:buNone/>
              </a:pPr>
              <a:r>
                <a:rPr lang="zh-CN" altLang="en-US" sz="1800" b="1" dirty="0"/>
                <a:t>数学分析</a:t>
              </a:r>
            </a:p>
            <a:p>
              <a:pPr algn="ctr">
                <a:lnSpc>
                  <a:spcPct val="100000"/>
                </a:lnSpc>
                <a:spcBef>
                  <a:spcPct val="0"/>
                </a:spcBef>
                <a:buFont typeface="Wingdings" pitchFamily="2" charset="2"/>
                <a:buNone/>
              </a:pPr>
              <a:r>
                <a:rPr lang="zh-CN" altLang="en-US" sz="1800" b="1" dirty="0"/>
                <a:t>微分方程</a:t>
              </a:r>
            </a:p>
            <a:p>
              <a:pPr algn="ctr">
                <a:lnSpc>
                  <a:spcPct val="100000"/>
                </a:lnSpc>
                <a:spcBef>
                  <a:spcPct val="0"/>
                </a:spcBef>
                <a:buFont typeface="Wingdings" pitchFamily="2" charset="2"/>
                <a:buNone/>
              </a:pPr>
              <a:r>
                <a:rPr lang="zh-CN" altLang="en-US" sz="1800" b="1" dirty="0"/>
                <a:t>高等代数</a:t>
              </a:r>
            </a:p>
            <a:p>
              <a:pPr algn="ctr">
                <a:lnSpc>
                  <a:spcPct val="100000"/>
                </a:lnSpc>
                <a:spcBef>
                  <a:spcPct val="0"/>
                </a:spcBef>
                <a:buClrTx/>
                <a:buFontTx/>
                <a:buNone/>
              </a:pPr>
              <a:r>
                <a:rPr lang="en-US" altLang="zh-CN" sz="1800" b="1" dirty="0"/>
                <a:t>…</a:t>
              </a:r>
            </a:p>
          </p:txBody>
        </p:sp>
        <p:sp>
          <p:nvSpPr>
            <p:cNvPr id="10" name="Rectangle 4"/>
            <p:cNvSpPr>
              <a:spLocks noChangeArrowheads="1"/>
            </p:cNvSpPr>
            <p:nvPr/>
          </p:nvSpPr>
          <p:spPr bwMode="auto">
            <a:xfrm>
              <a:off x="2640" y="1623"/>
              <a:ext cx="1296" cy="255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lnSpc>
                  <a:spcPct val="100000"/>
                </a:lnSpc>
                <a:spcBef>
                  <a:spcPct val="0"/>
                </a:spcBef>
                <a:buFont typeface="Wingdings" pitchFamily="2" charset="2"/>
                <a:buNone/>
              </a:pPr>
              <a:r>
                <a:rPr lang="zh-CN" altLang="en-US" sz="1800" b="1" dirty="0">
                  <a:solidFill>
                    <a:srgbClr val="6600FF"/>
                  </a:solidFill>
                </a:rPr>
                <a:t>李 勇</a:t>
              </a:r>
              <a:endParaRPr lang="zh-CN" altLang="en-US" sz="1800" b="1" dirty="0"/>
            </a:p>
            <a:p>
              <a:pPr algn="ctr">
                <a:lnSpc>
                  <a:spcPct val="100000"/>
                </a:lnSpc>
                <a:spcBef>
                  <a:spcPct val="0"/>
                </a:spcBef>
                <a:buFont typeface="Wingdings" pitchFamily="2" charset="2"/>
                <a:buNone/>
              </a:pPr>
              <a:r>
                <a:rPr lang="zh-CN" altLang="en-US" sz="1800" b="1" dirty="0"/>
                <a:t>李 勇</a:t>
              </a:r>
            </a:p>
            <a:p>
              <a:pPr algn="ctr">
                <a:lnSpc>
                  <a:spcPct val="100000"/>
                </a:lnSpc>
                <a:spcBef>
                  <a:spcPct val="0"/>
                </a:spcBef>
                <a:buFont typeface="Wingdings" pitchFamily="2" charset="2"/>
                <a:buNone/>
              </a:pPr>
              <a:r>
                <a:rPr lang="zh-CN" altLang="en-US" sz="1800" b="1" dirty="0"/>
                <a:t>李 勇</a:t>
              </a:r>
            </a:p>
            <a:p>
              <a:pPr algn="ctr">
                <a:lnSpc>
                  <a:spcPct val="100000"/>
                </a:lnSpc>
                <a:spcBef>
                  <a:spcPct val="0"/>
                </a:spcBef>
                <a:buFont typeface="Wingdings" pitchFamily="2" charset="2"/>
                <a:buNone/>
              </a:pPr>
              <a:r>
                <a:rPr lang="zh-CN" altLang="en-US" sz="1800" b="1" dirty="0">
                  <a:solidFill>
                    <a:srgbClr val="6600FF"/>
                  </a:solidFill>
                </a:rPr>
                <a:t>王 军</a:t>
              </a:r>
              <a:endParaRPr lang="zh-CN" altLang="en-US" sz="1800" b="1" dirty="0"/>
            </a:p>
            <a:p>
              <a:pPr algn="ctr">
                <a:lnSpc>
                  <a:spcPct val="100000"/>
                </a:lnSpc>
                <a:spcBef>
                  <a:spcPct val="0"/>
                </a:spcBef>
                <a:buFont typeface="Wingdings" pitchFamily="2" charset="2"/>
                <a:buNone/>
              </a:pPr>
              <a:r>
                <a:rPr lang="zh-CN" altLang="en-US" sz="1800" b="1" dirty="0"/>
                <a:t>王 军</a:t>
              </a:r>
            </a:p>
            <a:p>
              <a:pPr algn="ctr">
                <a:lnSpc>
                  <a:spcPct val="100000"/>
                </a:lnSpc>
                <a:spcBef>
                  <a:spcPct val="0"/>
                </a:spcBef>
                <a:buFont typeface="Wingdings" pitchFamily="2" charset="2"/>
                <a:buNone/>
              </a:pPr>
              <a:r>
                <a:rPr lang="zh-CN" altLang="en-US" sz="1800" b="1" dirty="0"/>
                <a:t>王 军</a:t>
              </a:r>
            </a:p>
            <a:p>
              <a:pPr algn="ctr">
                <a:lnSpc>
                  <a:spcPct val="100000"/>
                </a:lnSpc>
                <a:spcBef>
                  <a:spcPct val="0"/>
                </a:spcBef>
                <a:buFont typeface="Wingdings" pitchFamily="2" charset="2"/>
                <a:buNone/>
              </a:pPr>
              <a:r>
                <a:rPr lang="zh-CN" altLang="en-US" sz="1800" b="1" dirty="0"/>
                <a:t>李 勇</a:t>
              </a:r>
            </a:p>
            <a:p>
              <a:pPr algn="ctr">
                <a:lnSpc>
                  <a:spcPct val="100000"/>
                </a:lnSpc>
                <a:spcBef>
                  <a:spcPct val="0"/>
                </a:spcBef>
                <a:buFont typeface="Wingdings" pitchFamily="2" charset="2"/>
                <a:buNone/>
              </a:pPr>
              <a:r>
                <a:rPr lang="zh-CN" altLang="en-US" sz="1800" b="1" dirty="0"/>
                <a:t>李 勇</a:t>
              </a:r>
            </a:p>
            <a:p>
              <a:pPr algn="ctr">
                <a:lnSpc>
                  <a:spcPct val="100000"/>
                </a:lnSpc>
                <a:spcBef>
                  <a:spcPct val="0"/>
                </a:spcBef>
                <a:buFont typeface="Wingdings" pitchFamily="2" charset="2"/>
                <a:buNone/>
              </a:pPr>
              <a:r>
                <a:rPr lang="zh-CN" altLang="en-US" sz="1800" b="1" dirty="0"/>
                <a:t>李 勇</a:t>
              </a:r>
            </a:p>
            <a:p>
              <a:pPr algn="ctr">
                <a:lnSpc>
                  <a:spcPct val="100000"/>
                </a:lnSpc>
                <a:spcBef>
                  <a:spcPct val="0"/>
                </a:spcBef>
                <a:buFont typeface="Wingdings" pitchFamily="2" charset="2"/>
                <a:buNone/>
              </a:pPr>
              <a:r>
                <a:rPr lang="zh-CN" altLang="en-US" sz="1800" b="1" dirty="0"/>
                <a:t>张 平</a:t>
              </a:r>
            </a:p>
            <a:p>
              <a:pPr algn="ctr">
                <a:lnSpc>
                  <a:spcPct val="100000"/>
                </a:lnSpc>
                <a:spcBef>
                  <a:spcPct val="0"/>
                </a:spcBef>
                <a:buFont typeface="Wingdings" pitchFamily="2" charset="2"/>
                <a:buNone/>
              </a:pPr>
              <a:r>
                <a:rPr lang="zh-CN" altLang="en-US" sz="1800" b="1" dirty="0"/>
                <a:t>张 平</a:t>
              </a:r>
            </a:p>
            <a:p>
              <a:pPr algn="ctr">
                <a:lnSpc>
                  <a:spcPct val="100000"/>
                </a:lnSpc>
                <a:spcBef>
                  <a:spcPct val="0"/>
                </a:spcBef>
                <a:buFont typeface="Wingdings" pitchFamily="2" charset="2"/>
                <a:buNone/>
              </a:pPr>
              <a:r>
                <a:rPr lang="zh-CN" altLang="en-US" sz="1800" b="1" dirty="0"/>
                <a:t>张 平</a:t>
              </a:r>
            </a:p>
            <a:p>
              <a:pPr algn="ctr">
                <a:lnSpc>
                  <a:spcPct val="100000"/>
                </a:lnSpc>
                <a:spcBef>
                  <a:spcPct val="0"/>
                </a:spcBef>
                <a:buClrTx/>
                <a:buFontTx/>
                <a:buNone/>
              </a:pPr>
              <a:r>
                <a:rPr lang="zh-CN" altLang="en-US" sz="1800" b="1" dirty="0"/>
                <a:t> </a:t>
              </a:r>
              <a:r>
                <a:rPr lang="en-US" altLang="zh-CN" sz="1800" b="1" dirty="0"/>
                <a:t>…</a:t>
              </a:r>
              <a:endParaRPr lang="en-US" altLang="zh-CN" sz="1800" dirty="0"/>
            </a:p>
          </p:txBody>
        </p:sp>
        <p:sp>
          <p:nvSpPr>
            <p:cNvPr id="11" name="Rectangle 5"/>
            <p:cNvSpPr>
              <a:spLocks noChangeArrowheads="1"/>
            </p:cNvSpPr>
            <p:nvPr/>
          </p:nvSpPr>
          <p:spPr bwMode="auto">
            <a:xfrm>
              <a:off x="1344" y="1623"/>
              <a:ext cx="1296" cy="255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lnSpc>
                  <a:spcPct val="100000"/>
                </a:lnSpc>
                <a:spcBef>
                  <a:spcPct val="0"/>
                </a:spcBef>
                <a:buFont typeface="Wingdings" pitchFamily="2" charset="2"/>
                <a:buNone/>
              </a:pPr>
              <a:r>
                <a:rPr lang="zh-CN" altLang="en-US" sz="1800" b="1" dirty="0">
                  <a:solidFill>
                    <a:srgbClr val="C00000"/>
                  </a:solidFill>
                </a:rPr>
                <a:t>物 理</a:t>
              </a:r>
            </a:p>
            <a:p>
              <a:pPr algn="ctr">
                <a:lnSpc>
                  <a:spcPct val="100000"/>
                </a:lnSpc>
                <a:spcBef>
                  <a:spcPct val="0"/>
                </a:spcBef>
                <a:buFont typeface="Wingdings" pitchFamily="2" charset="2"/>
                <a:buNone/>
              </a:pPr>
              <a:r>
                <a:rPr lang="zh-CN" altLang="en-US" sz="1800" b="1" dirty="0">
                  <a:solidFill>
                    <a:srgbClr val="C00000"/>
                  </a:solidFill>
                </a:rPr>
                <a:t>物 理</a:t>
              </a:r>
            </a:p>
            <a:p>
              <a:pPr algn="ctr">
                <a:lnSpc>
                  <a:spcPct val="100000"/>
                </a:lnSpc>
                <a:spcBef>
                  <a:spcPct val="0"/>
                </a:spcBef>
                <a:buFont typeface="Wingdings" pitchFamily="2" charset="2"/>
                <a:buNone/>
              </a:pPr>
              <a:r>
                <a:rPr lang="zh-CN" altLang="en-US" sz="1800" b="1" dirty="0">
                  <a:solidFill>
                    <a:srgbClr val="C00000"/>
                  </a:solidFill>
                </a:rPr>
                <a:t>物 理</a:t>
              </a:r>
            </a:p>
            <a:p>
              <a:pPr algn="ctr">
                <a:lnSpc>
                  <a:spcPct val="100000"/>
                </a:lnSpc>
                <a:spcBef>
                  <a:spcPct val="0"/>
                </a:spcBef>
                <a:buFont typeface="Wingdings" pitchFamily="2" charset="2"/>
                <a:buNone/>
              </a:pPr>
              <a:r>
                <a:rPr lang="zh-CN" altLang="en-US" sz="1800" b="1" dirty="0">
                  <a:solidFill>
                    <a:srgbClr val="C00000"/>
                  </a:solidFill>
                </a:rPr>
                <a:t>物 理</a:t>
              </a:r>
            </a:p>
            <a:p>
              <a:pPr algn="ctr">
                <a:lnSpc>
                  <a:spcPct val="100000"/>
                </a:lnSpc>
                <a:spcBef>
                  <a:spcPct val="0"/>
                </a:spcBef>
                <a:buFont typeface="Wingdings" pitchFamily="2" charset="2"/>
                <a:buNone/>
              </a:pPr>
              <a:r>
                <a:rPr lang="zh-CN" altLang="en-US" sz="1800" b="1" dirty="0">
                  <a:solidFill>
                    <a:srgbClr val="C00000"/>
                  </a:solidFill>
                </a:rPr>
                <a:t>物 理</a:t>
              </a:r>
            </a:p>
            <a:p>
              <a:pPr algn="ctr">
                <a:lnSpc>
                  <a:spcPct val="100000"/>
                </a:lnSpc>
                <a:spcBef>
                  <a:spcPct val="0"/>
                </a:spcBef>
                <a:buClrTx/>
                <a:buFontTx/>
                <a:buNone/>
              </a:pPr>
              <a:r>
                <a:rPr lang="zh-CN" altLang="en-US" sz="1800" b="1" dirty="0">
                  <a:solidFill>
                    <a:srgbClr val="C00000"/>
                  </a:solidFill>
                </a:rPr>
                <a:t>物 理</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en-US" altLang="zh-CN" sz="1800" b="1" dirty="0"/>
                <a:t>… </a:t>
              </a:r>
            </a:p>
          </p:txBody>
        </p:sp>
        <p:sp>
          <p:nvSpPr>
            <p:cNvPr id="12" name="Rectangle 6"/>
            <p:cNvSpPr>
              <a:spLocks noChangeArrowheads="1"/>
            </p:cNvSpPr>
            <p:nvPr/>
          </p:nvSpPr>
          <p:spPr bwMode="auto">
            <a:xfrm>
              <a:off x="3936" y="1296"/>
              <a:ext cx="1296" cy="327"/>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100000"/>
                </a:lnSpc>
                <a:buFont typeface="Wingdings" pitchFamily="2" charset="2"/>
                <a:buNone/>
              </a:pPr>
              <a:r>
                <a:rPr lang="zh-CN" altLang="en-US" sz="2200"/>
                <a:t>参考书</a:t>
              </a:r>
              <a:r>
                <a:rPr lang="en-US" altLang="zh-CN" sz="2200"/>
                <a:t>B</a:t>
              </a:r>
            </a:p>
          </p:txBody>
        </p:sp>
        <p:sp>
          <p:nvSpPr>
            <p:cNvPr id="13" name="Rectangle 7"/>
            <p:cNvSpPr>
              <a:spLocks noChangeArrowheads="1"/>
            </p:cNvSpPr>
            <p:nvPr/>
          </p:nvSpPr>
          <p:spPr bwMode="auto">
            <a:xfrm>
              <a:off x="2640" y="1296"/>
              <a:ext cx="1296" cy="327"/>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100000"/>
                </a:lnSpc>
                <a:buFont typeface="Wingdings" pitchFamily="2" charset="2"/>
                <a:buNone/>
              </a:pPr>
              <a:r>
                <a:rPr lang="zh-CN" altLang="en-US" sz="2200"/>
                <a:t>教员</a:t>
              </a:r>
              <a:r>
                <a:rPr lang="en-US" altLang="zh-CN" sz="2200"/>
                <a:t>T</a:t>
              </a:r>
            </a:p>
          </p:txBody>
        </p:sp>
        <p:sp>
          <p:nvSpPr>
            <p:cNvPr id="14" name="Rectangle 8"/>
            <p:cNvSpPr>
              <a:spLocks noChangeArrowheads="1"/>
            </p:cNvSpPr>
            <p:nvPr/>
          </p:nvSpPr>
          <p:spPr bwMode="auto">
            <a:xfrm>
              <a:off x="1344" y="1296"/>
              <a:ext cx="1296" cy="327"/>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100000"/>
                </a:lnSpc>
                <a:buFont typeface="Wingdings" pitchFamily="2" charset="2"/>
                <a:buNone/>
              </a:pPr>
              <a:r>
                <a:rPr lang="zh-CN" altLang="en-US" sz="2200"/>
                <a:t>课程</a:t>
              </a:r>
              <a:r>
                <a:rPr lang="en-US" altLang="zh-CN" sz="2200"/>
                <a:t>C</a:t>
              </a:r>
            </a:p>
          </p:txBody>
        </p:sp>
        <p:sp>
          <p:nvSpPr>
            <p:cNvPr id="15" name="Line 9"/>
            <p:cNvSpPr>
              <a:spLocks noChangeShapeType="1"/>
            </p:cNvSpPr>
            <p:nvPr/>
          </p:nvSpPr>
          <p:spPr bwMode="auto">
            <a:xfrm>
              <a:off x="1344" y="1296"/>
              <a:ext cx="3888"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16" name="Line 10"/>
            <p:cNvSpPr>
              <a:spLocks noChangeShapeType="1"/>
            </p:cNvSpPr>
            <p:nvPr/>
          </p:nvSpPr>
          <p:spPr bwMode="auto">
            <a:xfrm>
              <a:off x="1344" y="1623"/>
              <a:ext cx="388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17" name="Line 11"/>
            <p:cNvSpPr>
              <a:spLocks noChangeShapeType="1"/>
            </p:cNvSpPr>
            <p:nvPr/>
          </p:nvSpPr>
          <p:spPr bwMode="auto">
            <a:xfrm>
              <a:off x="1344" y="4177"/>
              <a:ext cx="3888"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18" name="Line 12"/>
            <p:cNvSpPr>
              <a:spLocks noChangeShapeType="1"/>
            </p:cNvSpPr>
            <p:nvPr/>
          </p:nvSpPr>
          <p:spPr bwMode="auto">
            <a:xfrm>
              <a:off x="2640" y="1296"/>
              <a:ext cx="0" cy="288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19" name="Line 13"/>
            <p:cNvSpPr>
              <a:spLocks noChangeShapeType="1"/>
            </p:cNvSpPr>
            <p:nvPr/>
          </p:nvSpPr>
          <p:spPr bwMode="auto">
            <a:xfrm>
              <a:off x="3936" y="1296"/>
              <a:ext cx="0" cy="288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20" name="Line 14"/>
            <p:cNvSpPr>
              <a:spLocks noChangeShapeType="1"/>
            </p:cNvSpPr>
            <p:nvPr/>
          </p:nvSpPr>
          <p:spPr bwMode="auto">
            <a:xfrm>
              <a:off x="5232" y="1296"/>
              <a:ext cx="0" cy="2881"/>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21" name="Line 15"/>
            <p:cNvSpPr>
              <a:spLocks noChangeShapeType="1"/>
            </p:cNvSpPr>
            <p:nvPr/>
          </p:nvSpPr>
          <p:spPr bwMode="auto">
            <a:xfrm>
              <a:off x="1344" y="1623"/>
              <a:ext cx="0" cy="255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22" name="Line 16"/>
            <p:cNvSpPr>
              <a:spLocks noChangeShapeType="1"/>
            </p:cNvSpPr>
            <p:nvPr/>
          </p:nvSpPr>
          <p:spPr bwMode="auto">
            <a:xfrm>
              <a:off x="1344" y="1296"/>
              <a:ext cx="0" cy="327"/>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sp>
        <p:nvSpPr>
          <p:cNvPr id="23" name="圆角矩形标注 22"/>
          <p:cNvSpPr/>
          <p:nvPr/>
        </p:nvSpPr>
        <p:spPr bwMode="auto">
          <a:xfrm>
            <a:off x="4876800" y="0"/>
            <a:ext cx="4267199" cy="1736646"/>
          </a:xfrm>
          <a:prstGeom prst="wedgeRoundRectCallout">
            <a:avLst>
              <a:gd name="adj1" fmla="val -35791"/>
              <a:gd name="adj2" fmla="val 68013"/>
              <a:gd name="adj3" fmla="val 16667"/>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r>
              <a:rPr lang="en-US" altLang="zh-CN" dirty="0"/>
              <a:t>(2)</a:t>
            </a:r>
            <a:r>
              <a:rPr lang="zh-CN" altLang="en-US" dirty="0">
                <a:solidFill>
                  <a:srgbClr val="FF0000"/>
                </a:solidFill>
              </a:rPr>
              <a:t>增加</a:t>
            </a:r>
            <a:r>
              <a:rPr lang="zh-CN" altLang="en-US" dirty="0"/>
              <a:t>操作复杂：当某一课程</a:t>
            </a:r>
            <a:r>
              <a:rPr lang="zh-CN" altLang="en-US" dirty="0">
                <a:solidFill>
                  <a:srgbClr val="0000FF"/>
                </a:solidFill>
              </a:rPr>
              <a:t>增加一名</a:t>
            </a:r>
            <a:r>
              <a:rPr lang="zh-CN" altLang="en-US" dirty="0">
                <a:solidFill>
                  <a:schemeClr val="tx2"/>
                </a:solidFill>
              </a:rPr>
              <a:t>任课教师</a:t>
            </a:r>
            <a:r>
              <a:rPr lang="zh-CN" altLang="en-US" dirty="0"/>
              <a:t>时，该课程有</a:t>
            </a:r>
            <a:r>
              <a:rPr lang="zh-CN" altLang="en-US" dirty="0">
                <a:solidFill>
                  <a:srgbClr val="0000FF"/>
                </a:solidFill>
              </a:rPr>
              <a:t>多少本</a:t>
            </a:r>
            <a:r>
              <a:rPr lang="zh-CN" altLang="en-US" dirty="0">
                <a:solidFill>
                  <a:schemeClr val="tx2"/>
                </a:solidFill>
              </a:rPr>
              <a:t>参照书</a:t>
            </a:r>
            <a:r>
              <a:rPr lang="zh-CN" altLang="en-US" dirty="0"/>
              <a:t>，就必须</a:t>
            </a:r>
            <a:r>
              <a:rPr lang="zh-CN" altLang="en-US" dirty="0">
                <a:solidFill>
                  <a:schemeClr val="tx2"/>
                </a:solidFill>
              </a:rPr>
              <a:t>插入</a:t>
            </a:r>
            <a:r>
              <a:rPr lang="zh-CN" altLang="en-US" u="sng" dirty="0">
                <a:solidFill>
                  <a:srgbClr val="0000FF"/>
                </a:solidFill>
              </a:rPr>
              <a:t>多少个元组</a:t>
            </a:r>
            <a:r>
              <a:rPr lang="zh-CN" altLang="en-US" dirty="0"/>
              <a:t>。</a:t>
            </a:r>
            <a:endParaRPr kumimoji="1" lang="zh-CN" altLang="en-US" sz="2400" b="0" i="0" u="none" strike="noStrike" cap="none" normalizeH="0" baseline="0" dirty="0">
              <a:ln>
                <a:noFill/>
              </a:ln>
              <a:solidFill>
                <a:schemeClr val="tx1"/>
              </a:solidFill>
              <a:effectLst/>
              <a:latin typeface="Tahoma" pitchFamily="34" charset="0"/>
              <a:ea typeface="宋体" pitchFamily="2" charset="-122"/>
              <a:cs typeface="Arial" charset="0"/>
            </a:endParaRPr>
          </a:p>
        </p:txBody>
      </p:sp>
      <p:sp>
        <p:nvSpPr>
          <p:cNvPr id="5" name="页脚占位符 4">
            <a:extLst>
              <a:ext uri="{FF2B5EF4-FFF2-40B4-BE49-F238E27FC236}">
                <a16:creationId xmlns:a16="http://schemas.microsoft.com/office/drawing/2014/main" id="{2B24F1DF-65FB-2A19-2BF9-68CC8D64442B}"/>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54FB3EA5-747F-C827-6B22-EB0CEB9DC80A}"/>
              </a:ext>
            </a:extLst>
          </p:cNvPr>
          <p:cNvSpPr>
            <a:spLocks noGrp="1"/>
          </p:cNvSpPr>
          <p:nvPr>
            <p:ph type="sldNum" sz="quarter" idx="12"/>
          </p:nvPr>
        </p:nvSpPr>
        <p:spPr/>
        <p:txBody>
          <a:bodyPr/>
          <a:lstStyle/>
          <a:p>
            <a:fld id="{A2D74603-B40B-4D66-8F6E-41C870D48932}" type="slidenum">
              <a:rPr lang="en-US" altLang="zh-CN" smtClean="0"/>
              <a:pPr/>
              <a:t>81</a:t>
            </a:fld>
            <a:r>
              <a:rPr lang="en-US" altLang="zh-CN"/>
              <a:t>/162</a:t>
            </a:r>
            <a:endParaRPr lang="en-US" altLang="zh-CN" dirty="0"/>
          </a:p>
        </p:txBody>
      </p:sp>
    </p:spTree>
    <p:extLst>
      <p:ext uri="{BB962C8B-B14F-4D97-AF65-F5344CB8AC3E}">
        <p14:creationId xmlns:p14="http://schemas.microsoft.com/office/powerpoint/2010/main" val="1135078950"/>
      </p:ext>
    </p:extLst>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8.2.7 </a:t>
            </a:r>
            <a:r>
              <a:rPr lang="zh-CN" altLang="en-US" dirty="0"/>
              <a:t>多值依赖</a:t>
            </a:r>
          </a:p>
        </p:txBody>
      </p:sp>
      <p:sp>
        <p:nvSpPr>
          <p:cNvPr id="4" name="日期占位符 3"/>
          <p:cNvSpPr>
            <a:spLocks noGrp="1"/>
          </p:cNvSpPr>
          <p:nvPr>
            <p:ph type="dt" sz="half" idx="10"/>
          </p:nvPr>
        </p:nvSpPr>
        <p:spPr/>
        <p:txBody>
          <a:bodyPr/>
          <a:lstStyle/>
          <a:p>
            <a:fld id="{EA3EA80F-0C61-4C57-B140-68418D79D3A5}" type="datetime1">
              <a:rPr lang="zh-CN" altLang="en-US" smtClean="0"/>
              <a:t>2025/11/6</a:t>
            </a:fld>
            <a:endParaRPr lang="en-US" altLang="zh-CN"/>
          </a:p>
        </p:txBody>
      </p:sp>
      <p:sp>
        <p:nvSpPr>
          <p:cNvPr id="3" name="内容占位符 2"/>
          <p:cNvSpPr>
            <a:spLocks noGrp="1"/>
          </p:cNvSpPr>
          <p:nvPr>
            <p:ph idx="1"/>
          </p:nvPr>
        </p:nvSpPr>
        <p:spPr/>
        <p:txBody>
          <a:bodyPr/>
          <a:lstStyle/>
          <a:p>
            <a:r>
              <a:rPr lang="zh-CN" altLang="en-US" dirty="0"/>
              <a:t>用二维表表示</a:t>
            </a:r>
            <a:r>
              <a:rPr lang="en-US" altLang="zh-CN" dirty="0"/>
              <a:t>Teaching</a:t>
            </a:r>
          </a:p>
          <a:p>
            <a:endParaRPr lang="zh-CN" altLang="en-US" dirty="0"/>
          </a:p>
        </p:txBody>
      </p:sp>
      <p:grpSp>
        <p:nvGrpSpPr>
          <p:cNvPr id="8" name="Group 2"/>
          <p:cNvGrpSpPr>
            <a:grpSpLocks/>
          </p:cNvGrpSpPr>
          <p:nvPr/>
        </p:nvGrpSpPr>
        <p:grpSpPr bwMode="auto">
          <a:xfrm>
            <a:off x="1611312" y="2060575"/>
            <a:ext cx="5932488" cy="4264025"/>
            <a:chOff x="1344" y="1296"/>
            <a:chExt cx="3888" cy="2881"/>
          </a:xfrm>
        </p:grpSpPr>
        <p:sp>
          <p:nvSpPr>
            <p:cNvPr id="9" name="Rectangle 3"/>
            <p:cNvSpPr>
              <a:spLocks noChangeArrowheads="1"/>
            </p:cNvSpPr>
            <p:nvPr/>
          </p:nvSpPr>
          <p:spPr bwMode="auto">
            <a:xfrm>
              <a:off x="3936" y="1623"/>
              <a:ext cx="1296" cy="255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lnSpc>
                  <a:spcPct val="100000"/>
                </a:lnSpc>
                <a:spcBef>
                  <a:spcPct val="0"/>
                </a:spcBef>
                <a:buFont typeface="Wingdings" pitchFamily="2" charset="2"/>
                <a:buNone/>
              </a:pPr>
              <a:r>
                <a:rPr lang="zh-CN" altLang="en-US" sz="1800" b="1" dirty="0"/>
                <a:t>普通物理学</a:t>
              </a:r>
            </a:p>
            <a:p>
              <a:pPr algn="ctr">
                <a:lnSpc>
                  <a:spcPct val="100000"/>
                </a:lnSpc>
                <a:spcBef>
                  <a:spcPct val="0"/>
                </a:spcBef>
                <a:buFont typeface="Wingdings" pitchFamily="2" charset="2"/>
                <a:buNone/>
              </a:pPr>
              <a:r>
                <a:rPr lang="zh-CN" altLang="en-US" sz="1800" b="1" dirty="0"/>
                <a:t>光学原理</a:t>
              </a:r>
            </a:p>
            <a:p>
              <a:pPr algn="ctr">
                <a:lnSpc>
                  <a:spcPct val="100000"/>
                </a:lnSpc>
                <a:spcBef>
                  <a:spcPct val="0"/>
                </a:spcBef>
                <a:buFont typeface="Wingdings" pitchFamily="2" charset="2"/>
                <a:buNone/>
              </a:pPr>
              <a:r>
                <a:rPr lang="zh-CN" altLang="en-US" sz="1800" b="1" dirty="0"/>
                <a:t>物理习题集</a:t>
              </a:r>
            </a:p>
            <a:p>
              <a:pPr algn="ctr">
                <a:lnSpc>
                  <a:spcPct val="100000"/>
                </a:lnSpc>
                <a:spcBef>
                  <a:spcPct val="0"/>
                </a:spcBef>
                <a:buFont typeface="Wingdings" pitchFamily="2" charset="2"/>
                <a:buNone/>
              </a:pPr>
              <a:r>
                <a:rPr lang="zh-CN" altLang="en-US" sz="1800" b="1" dirty="0"/>
                <a:t>普通物理学</a:t>
              </a:r>
            </a:p>
            <a:p>
              <a:pPr algn="ctr">
                <a:lnSpc>
                  <a:spcPct val="100000"/>
                </a:lnSpc>
                <a:spcBef>
                  <a:spcPct val="0"/>
                </a:spcBef>
                <a:buFont typeface="Wingdings" pitchFamily="2" charset="2"/>
                <a:buNone/>
              </a:pPr>
              <a:r>
                <a:rPr lang="zh-CN" altLang="en-US" sz="1800" b="1" dirty="0"/>
                <a:t>光学原理</a:t>
              </a:r>
            </a:p>
            <a:p>
              <a:pPr algn="ctr">
                <a:lnSpc>
                  <a:spcPct val="100000"/>
                </a:lnSpc>
                <a:spcBef>
                  <a:spcPct val="0"/>
                </a:spcBef>
                <a:buFont typeface="Wingdings" pitchFamily="2" charset="2"/>
                <a:buNone/>
              </a:pPr>
              <a:r>
                <a:rPr lang="zh-CN" altLang="en-US" sz="1800" b="1" dirty="0"/>
                <a:t>物理习题集</a:t>
              </a:r>
            </a:p>
            <a:p>
              <a:pPr algn="ctr">
                <a:lnSpc>
                  <a:spcPct val="100000"/>
                </a:lnSpc>
                <a:spcBef>
                  <a:spcPct val="0"/>
                </a:spcBef>
                <a:buFont typeface="Wingdings" pitchFamily="2" charset="2"/>
                <a:buNone/>
              </a:pPr>
              <a:r>
                <a:rPr lang="zh-CN" altLang="en-US" sz="1800" b="1" dirty="0"/>
                <a:t>数学分析</a:t>
              </a:r>
            </a:p>
            <a:p>
              <a:pPr algn="ctr">
                <a:lnSpc>
                  <a:spcPct val="100000"/>
                </a:lnSpc>
                <a:spcBef>
                  <a:spcPct val="0"/>
                </a:spcBef>
                <a:buFont typeface="Wingdings" pitchFamily="2" charset="2"/>
                <a:buNone/>
              </a:pPr>
              <a:r>
                <a:rPr lang="zh-CN" altLang="en-US" sz="1800" b="1" dirty="0"/>
                <a:t>微分方程</a:t>
              </a:r>
            </a:p>
            <a:p>
              <a:pPr algn="ctr">
                <a:lnSpc>
                  <a:spcPct val="100000"/>
                </a:lnSpc>
                <a:spcBef>
                  <a:spcPct val="0"/>
                </a:spcBef>
                <a:buFont typeface="Wingdings" pitchFamily="2" charset="2"/>
                <a:buNone/>
              </a:pPr>
              <a:r>
                <a:rPr lang="zh-CN" altLang="en-US" sz="1800" b="1" dirty="0"/>
                <a:t>高等代数</a:t>
              </a:r>
            </a:p>
            <a:p>
              <a:pPr algn="ctr">
                <a:lnSpc>
                  <a:spcPct val="100000"/>
                </a:lnSpc>
                <a:spcBef>
                  <a:spcPct val="0"/>
                </a:spcBef>
                <a:buFont typeface="Wingdings" pitchFamily="2" charset="2"/>
                <a:buNone/>
              </a:pPr>
              <a:r>
                <a:rPr lang="zh-CN" altLang="en-US" sz="1800" b="1" dirty="0"/>
                <a:t>数学分析</a:t>
              </a:r>
            </a:p>
            <a:p>
              <a:pPr algn="ctr">
                <a:lnSpc>
                  <a:spcPct val="100000"/>
                </a:lnSpc>
                <a:spcBef>
                  <a:spcPct val="0"/>
                </a:spcBef>
                <a:buFont typeface="Wingdings" pitchFamily="2" charset="2"/>
                <a:buNone/>
              </a:pPr>
              <a:r>
                <a:rPr lang="zh-CN" altLang="en-US" sz="1800" b="1" dirty="0"/>
                <a:t>微分方程</a:t>
              </a:r>
            </a:p>
            <a:p>
              <a:pPr algn="ctr">
                <a:lnSpc>
                  <a:spcPct val="100000"/>
                </a:lnSpc>
                <a:spcBef>
                  <a:spcPct val="0"/>
                </a:spcBef>
                <a:buFont typeface="Wingdings" pitchFamily="2" charset="2"/>
                <a:buNone/>
              </a:pPr>
              <a:r>
                <a:rPr lang="zh-CN" altLang="en-US" sz="1800" b="1" dirty="0"/>
                <a:t>高等代数</a:t>
              </a:r>
            </a:p>
            <a:p>
              <a:pPr algn="ctr">
                <a:lnSpc>
                  <a:spcPct val="100000"/>
                </a:lnSpc>
                <a:spcBef>
                  <a:spcPct val="0"/>
                </a:spcBef>
                <a:buClrTx/>
                <a:buFontTx/>
                <a:buNone/>
              </a:pPr>
              <a:r>
                <a:rPr lang="en-US" altLang="zh-CN" sz="1800" b="1" dirty="0"/>
                <a:t>…</a:t>
              </a:r>
            </a:p>
          </p:txBody>
        </p:sp>
        <p:sp>
          <p:nvSpPr>
            <p:cNvPr id="10" name="Rectangle 4"/>
            <p:cNvSpPr>
              <a:spLocks noChangeArrowheads="1"/>
            </p:cNvSpPr>
            <p:nvPr/>
          </p:nvSpPr>
          <p:spPr bwMode="auto">
            <a:xfrm>
              <a:off x="2640" y="1623"/>
              <a:ext cx="1296" cy="255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lnSpc>
                  <a:spcPct val="100000"/>
                </a:lnSpc>
                <a:spcBef>
                  <a:spcPct val="0"/>
                </a:spcBef>
                <a:buFont typeface="Wingdings" pitchFamily="2" charset="2"/>
                <a:buNone/>
              </a:pPr>
              <a:r>
                <a:rPr lang="zh-CN" altLang="en-US" sz="1800" b="1" dirty="0">
                  <a:solidFill>
                    <a:srgbClr val="6600FF"/>
                  </a:solidFill>
                </a:rPr>
                <a:t>李 勇</a:t>
              </a:r>
              <a:endParaRPr lang="zh-CN" altLang="en-US" sz="1800" b="1" dirty="0"/>
            </a:p>
            <a:p>
              <a:pPr algn="ctr">
                <a:lnSpc>
                  <a:spcPct val="100000"/>
                </a:lnSpc>
                <a:spcBef>
                  <a:spcPct val="0"/>
                </a:spcBef>
                <a:buFont typeface="Wingdings" pitchFamily="2" charset="2"/>
                <a:buNone/>
              </a:pPr>
              <a:r>
                <a:rPr lang="zh-CN" altLang="en-US" sz="1800" b="1" dirty="0"/>
                <a:t>李 勇</a:t>
              </a:r>
            </a:p>
            <a:p>
              <a:pPr algn="ctr">
                <a:lnSpc>
                  <a:spcPct val="100000"/>
                </a:lnSpc>
                <a:spcBef>
                  <a:spcPct val="0"/>
                </a:spcBef>
                <a:buFont typeface="Wingdings" pitchFamily="2" charset="2"/>
                <a:buNone/>
              </a:pPr>
              <a:r>
                <a:rPr lang="zh-CN" altLang="en-US" sz="1800" b="1" dirty="0"/>
                <a:t>李 勇</a:t>
              </a:r>
            </a:p>
            <a:p>
              <a:pPr algn="ctr">
                <a:lnSpc>
                  <a:spcPct val="100000"/>
                </a:lnSpc>
                <a:spcBef>
                  <a:spcPct val="0"/>
                </a:spcBef>
                <a:buFont typeface="Wingdings" pitchFamily="2" charset="2"/>
                <a:buNone/>
              </a:pPr>
              <a:r>
                <a:rPr lang="zh-CN" altLang="en-US" sz="1800" b="1" dirty="0">
                  <a:solidFill>
                    <a:srgbClr val="6600FF"/>
                  </a:solidFill>
                </a:rPr>
                <a:t>王 军</a:t>
              </a:r>
              <a:endParaRPr lang="zh-CN" altLang="en-US" sz="1800" b="1" dirty="0"/>
            </a:p>
            <a:p>
              <a:pPr algn="ctr">
                <a:lnSpc>
                  <a:spcPct val="100000"/>
                </a:lnSpc>
                <a:spcBef>
                  <a:spcPct val="0"/>
                </a:spcBef>
                <a:buFont typeface="Wingdings" pitchFamily="2" charset="2"/>
                <a:buNone/>
              </a:pPr>
              <a:r>
                <a:rPr lang="zh-CN" altLang="en-US" sz="1800" b="1" dirty="0"/>
                <a:t>王 军</a:t>
              </a:r>
            </a:p>
            <a:p>
              <a:pPr algn="ctr">
                <a:lnSpc>
                  <a:spcPct val="100000"/>
                </a:lnSpc>
                <a:spcBef>
                  <a:spcPct val="0"/>
                </a:spcBef>
                <a:buFont typeface="Wingdings" pitchFamily="2" charset="2"/>
                <a:buNone/>
              </a:pPr>
              <a:r>
                <a:rPr lang="zh-CN" altLang="en-US" sz="1800" b="1" dirty="0"/>
                <a:t>王 军</a:t>
              </a:r>
            </a:p>
            <a:p>
              <a:pPr algn="ctr">
                <a:lnSpc>
                  <a:spcPct val="100000"/>
                </a:lnSpc>
                <a:spcBef>
                  <a:spcPct val="0"/>
                </a:spcBef>
                <a:buFont typeface="Wingdings" pitchFamily="2" charset="2"/>
                <a:buNone/>
              </a:pPr>
              <a:r>
                <a:rPr lang="zh-CN" altLang="en-US" sz="1800" b="1" dirty="0"/>
                <a:t>李 勇</a:t>
              </a:r>
            </a:p>
            <a:p>
              <a:pPr algn="ctr">
                <a:lnSpc>
                  <a:spcPct val="100000"/>
                </a:lnSpc>
                <a:spcBef>
                  <a:spcPct val="0"/>
                </a:spcBef>
                <a:buFont typeface="Wingdings" pitchFamily="2" charset="2"/>
                <a:buNone/>
              </a:pPr>
              <a:r>
                <a:rPr lang="zh-CN" altLang="en-US" sz="1800" b="1" dirty="0"/>
                <a:t>李 勇</a:t>
              </a:r>
            </a:p>
            <a:p>
              <a:pPr algn="ctr">
                <a:lnSpc>
                  <a:spcPct val="100000"/>
                </a:lnSpc>
                <a:spcBef>
                  <a:spcPct val="0"/>
                </a:spcBef>
                <a:buFont typeface="Wingdings" pitchFamily="2" charset="2"/>
                <a:buNone/>
              </a:pPr>
              <a:r>
                <a:rPr lang="zh-CN" altLang="en-US" sz="1800" b="1" dirty="0"/>
                <a:t>李 勇</a:t>
              </a:r>
            </a:p>
            <a:p>
              <a:pPr algn="ctr">
                <a:lnSpc>
                  <a:spcPct val="100000"/>
                </a:lnSpc>
                <a:spcBef>
                  <a:spcPct val="0"/>
                </a:spcBef>
                <a:buFont typeface="Wingdings" pitchFamily="2" charset="2"/>
                <a:buNone/>
              </a:pPr>
              <a:r>
                <a:rPr lang="zh-CN" altLang="en-US" sz="1800" b="1" dirty="0"/>
                <a:t>张 平</a:t>
              </a:r>
            </a:p>
            <a:p>
              <a:pPr algn="ctr">
                <a:lnSpc>
                  <a:spcPct val="100000"/>
                </a:lnSpc>
                <a:spcBef>
                  <a:spcPct val="0"/>
                </a:spcBef>
                <a:buFont typeface="Wingdings" pitchFamily="2" charset="2"/>
                <a:buNone/>
              </a:pPr>
              <a:r>
                <a:rPr lang="zh-CN" altLang="en-US" sz="1800" b="1" dirty="0"/>
                <a:t>张 平</a:t>
              </a:r>
            </a:p>
            <a:p>
              <a:pPr algn="ctr">
                <a:lnSpc>
                  <a:spcPct val="100000"/>
                </a:lnSpc>
                <a:spcBef>
                  <a:spcPct val="0"/>
                </a:spcBef>
                <a:buFont typeface="Wingdings" pitchFamily="2" charset="2"/>
                <a:buNone/>
              </a:pPr>
              <a:r>
                <a:rPr lang="zh-CN" altLang="en-US" sz="1800" b="1" dirty="0"/>
                <a:t>张 平</a:t>
              </a:r>
            </a:p>
            <a:p>
              <a:pPr algn="ctr">
                <a:lnSpc>
                  <a:spcPct val="100000"/>
                </a:lnSpc>
                <a:spcBef>
                  <a:spcPct val="0"/>
                </a:spcBef>
                <a:buClrTx/>
                <a:buFontTx/>
                <a:buNone/>
              </a:pPr>
              <a:r>
                <a:rPr lang="zh-CN" altLang="en-US" sz="1800" b="1" dirty="0"/>
                <a:t> </a:t>
              </a:r>
              <a:r>
                <a:rPr lang="en-US" altLang="zh-CN" sz="1800" b="1" dirty="0"/>
                <a:t>…</a:t>
              </a:r>
              <a:endParaRPr lang="en-US" altLang="zh-CN" sz="1800" dirty="0"/>
            </a:p>
          </p:txBody>
        </p:sp>
        <p:sp>
          <p:nvSpPr>
            <p:cNvPr id="11" name="Rectangle 5"/>
            <p:cNvSpPr>
              <a:spLocks noChangeArrowheads="1"/>
            </p:cNvSpPr>
            <p:nvPr/>
          </p:nvSpPr>
          <p:spPr bwMode="auto">
            <a:xfrm>
              <a:off x="1344" y="1623"/>
              <a:ext cx="1296" cy="255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lnSpc>
                  <a:spcPct val="100000"/>
                </a:lnSpc>
                <a:spcBef>
                  <a:spcPct val="0"/>
                </a:spcBef>
                <a:buFont typeface="Wingdings" pitchFamily="2" charset="2"/>
                <a:buNone/>
              </a:pPr>
              <a:r>
                <a:rPr lang="zh-CN" altLang="en-US" sz="1800" b="1" dirty="0">
                  <a:solidFill>
                    <a:srgbClr val="C00000"/>
                  </a:solidFill>
                </a:rPr>
                <a:t>物 理</a:t>
              </a:r>
            </a:p>
            <a:p>
              <a:pPr algn="ctr">
                <a:lnSpc>
                  <a:spcPct val="100000"/>
                </a:lnSpc>
                <a:spcBef>
                  <a:spcPct val="0"/>
                </a:spcBef>
                <a:buFont typeface="Wingdings" pitchFamily="2" charset="2"/>
                <a:buNone/>
              </a:pPr>
              <a:r>
                <a:rPr lang="zh-CN" altLang="en-US" sz="1800" b="1" dirty="0">
                  <a:solidFill>
                    <a:srgbClr val="C00000"/>
                  </a:solidFill>
                </a:rPr>
                <a:t>物 理</a:t>
              </a:r>
            </a:p>
            <a:p>
              <a:pPr algn="ctr">
                <a:lnSpc>
                  <a:spcPct val="100000"/>
                </a:lnSpc>
                <a:spcBef>
                  <a:spcPct val="0"/>
                </a:spcBef>
                <a:buFont typeface="Wingdings" pitchFamily="2" charset="2"/>
                <a:buNone/>
              </a:pPr>
              <a:r>
                <a:rPr lang="zh-CN" altLang="en-US" sz="1800" b="1" dirty="0">
                  <a:solidFill>
                    <a:srgbClr val="C00000"/>
                  </a:solidFill>
                </a:rPr>
                <a:t>物 理</a:t>
              </a:r>
            </a:p>
            <a:p>
              <a:pPr algn="ctr">
                <a:lnSpc>
                  <a:spcPct val="100000"/>
                </a:lnSpc>
                <a:spcBef>
                  <a:spcPct val="0"/>
                </a:spcBef>
                <a:buFont typeface="Wingdings" pitchFamily="2" charset="2"/>
                <a:buNone/>
              </a:pPr>
              <a:r>
                <a:rPr lang="zh-CN" altLang="en-US" sz="1800" b="1" dirty="0">
                  <a:solidFill>
                    <a:srgbClr val="C00000"/>
                  </a:solidFill>
                </a:rPr>
                <a:t>物 理</a:t>
              </a:r>
            </a:p>
            <a:p>
              <a:pPr algn="ctr">
                <a:lnSpc>
                  <a:spcPct val="100000"/>
                </a:lnSpc>
                <a:spcBef>
                  <a:spcPct val="0"/>
                </a:spcBef>
                <a:buFont typeface="Wingdings" pitchFamily="2" charset="2"/>
                <a:buNone/>
              </a:pPr>
              <a:r>
                <a:rPr lang="zh-CN" altLang="en-US" sz="1800" b="1" dirty="0">
                  <a:solidFill>
                    <a:srgbClr val="C00000"/>
                  </a:solidFill>
                </a:rPr>
                <a:t>物 理</a:t>
              </a:r>
            </a:p>
            <a:p>
              <a:pPr algn="ctr">
                <a:lnSpc>
                  <a:spcPct val="100000"/>
                </a:lnSpc>
                <a:spcBef>
                  <a:spcPct val="0"/>
                </a:spcBef>
                <a:buClrTx/>
                <a:buFontTx/>
                <a:buNone/>
              </a:pPr>
              <a:r>
                <a:rPr lang="zh-CN" altLang="en-US" sz="1800" b="1" dirty="0">
                  <a:solidFill>
                    <a:srgbClr val="C00000"/>
                  </a:solidFill>
                </a:rPr>
                <a:t>物 理</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en-US" altLang="zh-CN" sz="1800" b="1" dirty="0"/>
                <a:t>… </a:t>
              </a:r>
            </a:p>
          </p:txBody>
        </p:sp>
        <p:sp>
          <p:nvSpPr>
            <p:cNvPr id="12" name="Rectangle 6"/>
            <p:cNvSpPr>
              <a:spLocks noChangeArrowheads="1"/>
            </p:cNvSpPr>
            <p:nvPr/>
          </p:nvSpPr>
          <p:spPr bwMode="auto">
            <a:xfrm>
              <a:off x="3936" y="1296"/>
              <a:ext cx="1296" cy="327"/>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100000"/>
                </a:lnSpc>
                <a:buFont typeface="Wingdings" pitchFamily="2" charset="2"/>
                <a:buNone/>
              </a:pPr>
              <a:r>
                <a:rPr lang="zh-CN" altLang="en-US" sz="2200"/>
                <a:t>参考书</a:t>
              </a:r>
              <a:r>
                <a:rPr lang="en-US" altLang="zh-CN" sz="2200"/>
                <a:t>B</a:t>
              </a:r>
            </a:p>
          </p:txBody>
        </p:sp>
        <p:sp>
          <p:nvSpPr>
            <p:cNvPr id="13" name="Rectangle 7"/>
            <p:cNvSpPr>
              <a:spLocks noChangeArrowheads="1"/>
            </p:cNvSpPr>
            <p:nvPr/>
          </p:nvSpPr>
          <p:spPr bwMode="auto">
            <a:xfrm>
              <a:off x="2640" y="1296"/>
              <a:ext cx="1296" cy="327"/>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100000"/>
                </a:lnSpc>
                <a:buFont typeface="Wingdings" pitchFamily="2" charset="2"/>
                <a:buNone/>
              </a:pPr>
              <a:r>
                <a:rPr lang="zh-CN" altLang="en-US" sz="2200"/>
                <a:t>教员</a:t>
              </a:r>
              <a:r>
                <a:rPr lang="en-US" altLang="zh-CN" sz="2200"/>
                <a:t>T</a:t>
              </a:r>
            </a:p>
          </p:txBody>
        </p:sp>
        <p:sp>
          <p:nvSpPr>
            <p:cNvPr id="14" name="Rectangle 8"/>
            <p:cNvSpPr>
              <a:spLocks noChangeArrowheads="1"/>
            </p:cNvSpPr>
            <p:nvPr/>
          </p:nvSpPr>
          <p:spPr bwMode="auto">
            <a:xfrm>
              <a:off x="1344" y="1296"/>
              <a:ext cx="1296" cy="327"/>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100000"/>
                </a:lnSpc>
                <a:buFont typeface="Wingdings" pitchFamily="2" charset="2"/>
                <a:buNone/>
              </a:pPr>
              <a:r>
                <a:rPr lang="zh-CN" altLang="en-US" sz="2200"/>
                <a:t>课程</a:t>
              </a:r>
              <a:r>
                <a:rPr lang="en-US" altLang="zh-CN" sz="2200"/>
                <a:t>C</a:t>
              </a:r>
            </a:p>
          </p:txBody>
        </p:sp>
        <p:sp>
          <p:nvSpPr>
            <p:cNvPr id="15" name="Line 9"/>
            <p:cNvSpPr>
              <a:spLocks noChangeShapeType="1"/>
            </p:cNvSpPr>
            <p:nvPr/>
          </p:nvSpPr>
          <p:spPr bwMode="auto">
            <a:xfrm>
              <a:off x="1344" y="1296"/>
              <a:ext cx="3888"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16" name="Line 10"/>
            <p:cNvSpPr>
              <a:spLocks noChangeShapeType="1"/>
            </p:cNvSpPr>
            <p:nvPr/>
          </p:nvSpPr>
          <p:spPr bwMode="auto">
            <a:xfrm>
              <a:off x="1344" y="1623"/>
              <a:ext cx="388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17" name="Line 11"/>
            <p:cNvSpPr>
              <a:spLocks noChangeShapeType="1"/>
            </p:cNvSpPr>
            <p:nvPr/>
          </p:nvSpPr>
          <p:spPr bwMode="auto">
            <a:xfrm>
              <a:off x="1344" y="4177"/>
              <a:ext cx="3888"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18" name="Line 12"/>
            <p:cNvSpPr>
              <a:spLocks noChangeShapeType="1"/>
            </p:cNvSpPr>
            <p:nvPr/>
          </p:nvSpPr>
          <p:spPr bwMode="auto">
            <a:xfrm>
              <a:off x="2640" y="1296"/>
              <a:ext cx="0" cy="288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19" name="Line 13"/>
            <p:cNvSpPr>
              <a:spLocks noChangeShapeType="1"/>
            </p:cNvSpPr>
            <p:nvPr/>
          </p:nvSpPr>
          <p:spPr bwMode="auto">
            <a:xfrm>
              <a:off x="3936" y="1296"/>
              <a:ext cx="0" cy="288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20" name="Line 14"/>
            <p:cNvSpPr>
              <a:spLocks noChangeShapeType="1"/>
            </p:cNvSpPr>
            <p:nvPr/>
          </p:nvSpPr>
          <p:spPr bwMode="auto">
            <a:xfrm>
              <a:off x="5232" y="1296"/>
              <a:ext cx="0" cy="2881"/>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21" name="Line 15"/>
            <p:cNvSpPr>
              <a:spLocks noChangeShapeType="1"/>
            </p:cNvSpPr>
            <p:nvPr/>
          </p:nvSpPr>
          <p:spPr bwMode="auto">
            <a:xfrm>
              <a:off x="1344" y="1623"/>
              <a:ext cx="0" cy="255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22" name="Line 16"/>
            <p:cNvSpPr>
              <a:spLocks noChangeShapeType="1"/>
            </p:cNvSpPr>
            <p:nvPr/>
          </p:nvSpPr>
          <p:spPr bwMode="auto">
            <a:xfrm>
              <a:off x="1344" y="1296"/>
              <a:ext cx="0" cy="327"/>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sp>
        <p:nvSpPr>
          <p:cNvPr id="23" name="圆角矩形标注 22"/>
          <p:cNvSpPr/>
          <p:nvPr/>
        </p:nvSpPr>
        <p:spPr bwMode="auto">
          <a:xfrm>
            <a:off x="4876800" y="0"/>
            <a:ext cx="4267199" cy="1736646"/>
          </a:xfrm>
          <a:prstGeom prst="wedgeRoundRectCallout">
            <a:avLst>
              <a:gd name="adj1" fmla="val -35791"/>
              <a:gd name="adj2" fmla="val 68013"/>
              <a:gd name="adj3" fmla="val 16667"/>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r>
              <a:rPr lang="en-US" altLang="zh-CN" dirty="0"/>
              <a:t>(3)</a:t>
            </a:r>
            <a:r>
              <a:rPr lang="zh-CN" altLang="en-US" dirty="0">
                <a:solidFill>
                  <a:srgbClr val="FF0000"/>
                </a:solidFill>
              </a:rPr>
              <a:t>删除</a:t>
            </a:r>
            <a:r>
              <a:rPr lang="zh-CN" altLang="en-US" dirty="0"/>
              <a:t>操作复杂：某一门课要</a:t>
            </a:r>
            <a:r>
              <a:rPr lang="zh-CN" altLang="en-US" dirty="0">
                <a:solidFill>
                  <a:srgbClr val="0000FF"/>
                </a:solidFill>
              </a:rPr>
              <a:t>去掉一本</a:t>
            </a:r>
            <a:r>
              <a:rPr lang="zh-CN" altLang="en-US" dirty="0">
                <a:solidFill>
                  <a:schemeClr val="tx2"/>
                </a:solidFill>
              </a:rPr>
              <a:t>参考书</a:t>
            </a:r>
            <a:r>
              <a:rPr lang="zh-CN" altLang="en-US" dirty="0"/>
              <a:t>，该课程有</a:t>
            </a:r>
            <a:r>
              <a:rPr lang="zh-CN" altLang="en-US" dirty="0">
                <a:solidFill>
                  <a:srgbClr val="0000FF"/>
                </a:solidFill>
              </a:rPr>
              <a:t>多少名</a:t>
            </a:r>
            <a:r>
              <a:rPr lang="zh-CN" altLang="en-US" dirty="0">
                <a:solidFill>
                  <a:schemeClr val="tx2"/>
                </a:solidFill>
              </a:rPr>
              <a:t>教师</a:t>
            </a:r>
            <a:r>
              <a:rPr lang="zh-CN" altLang="en-US" dirty="0"/>
              <a:t>，就必须</a:t>
            </a:r>
            <a:r>
              <a:rPr lang="zh-CN" altLang="en-US" dirty="0">
                <a:solidFill>
                  <a:schemeClr val="tx2"/>
                </a:solidFill>
              </a:rPr>
              <a:t>删除</a:t>
            </a:r>
            <a:r>
              <a:rPr lang="zh-CN" altLang="en-US" dirty="0">
                <a:solidFill>
                  <a:srgbClr val="0000FF"/>
                </a:solidFill>
              </a:rPr>
              <a:t>多少个元组</a:t>
            </a:r>
            <a:r>
              <a:rPr lang="zh-CN" altLang="en-US" dirty="0"/>
              <a:t>。</a:t>
            </a:r>
            <a:endParaRPr kumimoji="1" lang="zh-CN" altLang="en-US" sz="2400" b="0" i="0" u="none" strike="noStrike" cap="none" normalizeH="0" baseline="0" dirty="0">
              <a:ln>
                <a:noFill/>
              </a:ln>
              <a:solidFill>
                <a:schemeClr val="tx1"/>
              </a:solidFill>
              <a:effectLst/>
              <a:latin typeface="Tahoma" pitchFamily="34" charset="0"/>
              <a:ea typeface="宋体" pitchFamily="2" charset="-122"/>
              <a:cs typeface="Arial" charset="0"/>
            </a:endParaRPr>
          </a:p>
        </p:txBody>
      </p:sp>
      <p:sp>
        <p:nvSpPr>
          <p:cNvPr id="5" name="页脚占位符 4">
            <a:extLst>
              <a:ext uri="{FF2B5EF4-FFF2-40B4-BE49-F238E27FC236}">
                <a16:creationId xmlns:a16="http://schemas.microsoft.com/office/drawing/2014/main" id="{22D4A231-267B-AFD3-394E-812528CC82C1}"/>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C27FD944-0D6E-6A32-D983-61119B0DCE5F}"/>
              </a:ext>
            </a:extLst>
          </p:cNvPr>
          <p:cNvSpPr>
            <a:spLocks noGrp="1"/>
          </p:cNvSpPr>
          <p:nvPr>
            <p:ph type="sldNum" sz="quarter" idx="12"/>
          </p:nvPr>
        </p:nvSpPr>
        <p:spPr/>
        <p:txBody>
          <a:bodyPr/>
          <a:lstStyle/>
          <a:p>
            <a:fld id="{A2D74603-B40B-4D66-8F6E-41C870D48932}" type="slidenum">
              <a:rPr lang="en-US" altLang="zh-CN" smtClean="0"/>
              <a:pPr/>
              <a:t>82</a:t>
            </a:fld>
            <a:r>
              <a:rPr lang="en-US" altLang="zh-CN"/>
              <a:t>/162</a:t>
            </a:r>
            <a:endParaRPr lang="en-US" altLang="zh-CN" dirty="0"/>
          </a:p>
        </p:txBody>
      </p:sp>
    </p:spTree>
    <p:extLst>
      <p:ext uri="{BB962C8B-B14F-4D97-AF65-F5344CB8AC3E}">
        <p14:creationId xmlns:p14="http://schemas.microsoft.com/office/powerpoint/2010/main" val="1335307134"/>
      </p:ext>
    </p:extLst>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8.2.7 </a:t>
            </a:r>
            <a:r>
              <a:rPr lang="zh-CN" altLang="en-US" dirty="0"/>
              <a:t>多值依赖</a:t>
            </a:r>
          </a:p>
        </p:txBody>
      </p:sp>
      <p:sp>
        <p:nvSpPr>
          <p:cNvPr id="4" name="日期占位符 3"/>
          <p:cNvSpPr>
            <a:spLocks noGrp="1"/>
          </p:cNvSpPr>
          <p:nvPr>
            <p:ph type="dt" sz="half" idx="10"/>
          </p:nvPr>
        </p:nvSpPr>
        <p:spPr/>
        <p:txBody>
          <a:bodyPr/>
          <a:lstStyle/>
          <a:p>
            <a:fld id="{E0447473-7202-4672-B613-5C9B12DD3626}" type="datetime1">
              <a:rPr lang="zh-CN" altLang="en-US" smtClean="0"/>
              <a:t>2025/11/6</a:t>
            </a:fld>
            <a:endParaRPr lang="en-US" altLang="zh-CN"/>
          </a:p>
        </p:txBody>
      </p:sp>
      <p:sp>
        <p:nvSpPr>
          <p:cNvPr id="3" name="内容占位符 2"/>
          <p:cNvSpPr>
            <a:spLocks noGrp="1"/>
          </p:cNvSpPr>
          <p:nvPr>
            <p:ph idx="1"/>
          </p:nvPr>
        </p:nvSpPr>
        <p:spPr/>
        <p:txBody>
          <a:bodyPr/>
          <a:lstStyle/>
          <a:p>
            <a:r>
              <a:rPr lang="zh-CN" altLang="en-US" dirty="0"/>
              <a:t>用二维表表示</a:t>
            </a:r>
            <a:r>
              <a:rPr lang="en-US" altLang="zh-CN" dirty="0"/>
              <a:t>Teaching</a:t>
            </a:r>
          </a:p>
          <a:p>
            <a:endParaRPr lang="zh-CN" altLang="en-US" dirty="0"/>
          </a:p>
        </p:txBody>
      </p:sp>
      <p:grpSp>
        <p:nvGrpSpPr>
          <p:cNvPr id="8" name="Group 2"/>
          <p:cNvGrpSpPr>
            <a:grpSpLocks/>
          </p:cNvGrpSpPr>
          <p:nvPr/>
        </p:nvGrpSpPr>
        <p:grpSpPr bwMode="auto">
          <a:xfrm>
            <a:off x="1611312" y="2060575"/>
            <a:ext cx="5932488" cy="4264025"/>
            <a:chOff x="1344" y="1296"/>
            <a:chExt cx="3888" cy="2881"/>
          </a:xfrm>
        </p:grpSpPr>
        <p:sp>
          <p:nvSpPr>
            <p:cNvPr id="9" name="Rectangle 3"/>
            <p:cNvSpPr>
              <a:spLocks noChangeArrowheads="1"/>
            </p:cNvSpPr>
            <p:nvPr/>
          </p:nvSpPr>
          <p:spPr bwMode="auto">
            <a:xfrm>
              <a:off x="3936" y="1623"/>
              <a:ext cx="1296" cy="255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lnSpc>
                  <a:spcPct val="100000"/>
                </a:lnSpc>
                <a:spcBef>
                  <a:spcPct val="0"/>
                </a:spcBef>
                <a:buFont typeface="Wingdings" pitchFamily="2" charset="2"/>
                <a:buNone/>
              </a:pPr>
              <a:r>
                <a:rPr lang="zh-CN" altLang="en-US" sz="1800" b="1" dirty="0"/>
                <a:t>普通物理学</a:t>
              </a:r>
            </a:p>
            <a:p>
              <a:pPr algn="ctr">
                <a:lnSpc>
                  <a:spcPct val="100000"/>
                </a:lnSpc>
                <a:spcBef>
                  <a:spcPct val="0"/>
                </a:spcBef>
                <a:buFont typeface="Wingdings" pitchFamily="2" charset="2"/>
                <a:buNone/>
              </a:pPr>
              <a:r>
                <a:rPr lang="zh-CN" altLang="en-US" sz="1800" b="1" dirty="0"/>
                <a:t>光学原理</a:t>
              </a:r>
            </a:p>
            <a:p>
              <a:pPr algn="ctr">
                <a:lnSpc>
                  <a:spcPct val="100000"/>
                </a:lnSpc>
                <a:spcBef>
                  <a:spcPct val="0"/>
                </a:spcBef>
                <a:buFont typeface="Wingdings" pitchFamily="2" charset="2"/>
                <a:buNone/>
              </a:pPr>
              <a:r>
                <a:rPr lang="zh-CN" altLang="en-US" sz="1800" b="1" dirty="0"/>
                <a:t>物理习题集</a:t>
              </a:r>
            </a:p>
            <a:p>
              <a:pPr algn="ctr">
                <a:lnSpc>
                  <a:spcPct val="100000"/>
                </a:lnSpc>
                <a:spcBef>
                  <a:spcPct val="0"/>
                </a:spcBef>
                <a:buFont typeface="Wingdings" pitchFamily="2" charset="2"/>
                <a:buNone/>
              </a:pPr>
              <a:r>
                <a:rPr lang="zh-CN" altLang="en-US" sz="1800" b="1" dirty="0"/>
                <a:t>普通物理学</a:t>
              </a:r>
            </a:p>
            <a:p>
              <a:pPr algn="ctr">
                <a:lnSpc>
                  <a:spcPct val="100000"/>
                </a:lnSpc>
                <a:spcBef>
                  <a:spcPct val="0"/>
                </a:spcBef>
                <a:buFont typeface="Wingdings" pitchFamily="2" charset="2"/>
                <a:buNone/>
              </a:pPr>
              <a:r>
                <a:rPr lang="zh-CN" altLang="en-US" sz="1800" b="1" dirty="0"/>
                <a:t>光学原理</a:t>
              </a:r>
            </a:p>
            <a:p>
              <a:pPr algn="ctr">
                <a:lnSpc>
                  <a:spcPct val="100000"/>
                </a:lnSpc>
                <a:spcBef>
                  <a:spcPct val="0"/>
                </a:spcBef>
                <a:buFont typeface="Wingdings" pitchFamily="2" charset="2"/>
                <a:buNone/>
              </a:pPr>
              <a:r>
                <a:rPr lang="zh-CN" altLang="en-US" sz="1800" b="1" dirty="0"/>
                <a:t>物理习题集</a:t>
              </a:r>
            </a:p>
            <a:p>
              <a:pPr algn="ctr">
                <a:lnSpc>
                  <a:spcPct val="100000"/>
                </a:lnSpc>
                <a:spcBef>
                  <a:spcPct val="0"/>
                </a:spcBef>
                <a:buFont typeface="Wingdings" pitchFamily="2" charset="2"/>
                <a:buNone/>
              </a:pPr>
              <a:r>
                <a:rPr lang="zh-CN" altLang="en-US" sz="1800" b="1" dirty="0"/>
                <a:t>数学分析</a:t>
              </a:r>
            </a:p>
            <a:p>
              <a:pPr algn="ctr">
                <a:lnSpc>
                  <a:spcPct val="100000"/>
                </a:lnSpc>
                <a:spcBef>
                  <a:spcPct val="0"/>
                </a:spcBef>
                <a:buFont typeface="Wingdings" pitchFamily="2" charset="2"/>
                <a:buNone/>
              </a:pPr>
              <a:r>
                <a:rPr lang="zh-CN" altLang="en-US" sz="1800" b="1" dirty="0"/>
                <a:t>微分方程</a:t>
              </a:r>
            </a:p>
            <a:p>
              <a:pPr algn="ctr">
                <a:lnSpc>
                  <a:spcPct val="100000"/>
                </a:lnSpc>
                <a:spcBef>
                  <a:spcPct val="0"/>
                </a:spcBef>
                <a:buFont typeface="Wingdings" pitchFamily="2" charset="2"/>
                <a:buNone/>
              </a:pPr>
              <a:r>
                <a:rPr lang="zh-CN" altLang="en-US" sz="1800" b="1" dirty="0"/>
                <a:t>高等代数</a:t>
              </a:r>
            </a:p>
            <a:p>
              <a:pPr algn="ctr">
                <a:lnSpc>
                  <a:spcPct val="100000"/>
                </a:lnSpc>
                <a:spcBef>
                  <a:spcPct val="0"/>
                </a:spcBef>
                <a:buFont typeface="Wingdings" pitchFamily="2" charset="2"/>
                <a:buNone/>
              </a:pPr>
              <a:r>
                <a:rPr lang="zh-CN" altLang="en-US" sz="1800" b="1" dirty="0"/>
                <a:t>数学分析</a:t>
              </a:r>
            </a:p>
            <a:p>
              <a:pPr algn="ctr">
                <a:lnSpc>
                  <a:spcPct val="100000"/>
                </a:lnSpc>
                <a:spcBef>
                  <a:spcPct val="0"/>
                </a:spcBef>
                <a:buFont typeface="Wingdings" pitchFamily="2" charset="2"/>
                <a:buNone/>
              </a:pPr>
              <a:r>
                <a:rPr lang="zh-CN" altLang="en-US" sz="1800" b="1" dirty="0"/>
                <a:t>微分方程</a:t>
              </a:r>
            </a:p>
            <a:p>
              <a:pPr algn="ctr">
                <a:lnSpc>
                  <a:spcPct val="100000"/>
                </a:lnSpc>
                <a:spcBef>
                  <a:spcPct val="0"/>
                </a:spcBef>
                <a:buFont typeface="Wingdings" pitchFamily="2" charset="2"/>
                <a:buNone/>
              </a:pPr>
              <a:r>
                <a:rPr lang="zh-CN" altLang="en-US" sz="1800" b="1" dirty="0"/>
                <a:t>高等代数</a:t>
              </a:r>
            </a:p>
            <a:p>
              <a:pPr algn="ctr">
                <a:lnSpc>
                  <a:spcPct val="100000"/>
                </a:lnSpc>
                <a:spcBef>
                  <a:spcPct val="0"/>
                </a:spcBef>
                <a:buClrTx/>
                <a:buFontTx/>
                <a:buNone/>
              </a:pPr>
              <a:r>
                <a:rPr lang="en-US" altLang="zh-CN" sz="1800" b="1" dirty="0"/>
                <a:t>…</a:t>
              </a:r>
            </a:p>
          </p:txBody>
        </p:sp>
        <p:sp>
          <p:nvSpPr>
            <p:cNvPr id="10" name="Rectangle 4"/>
            <p:cNvSpPr>
              <a:spLocks noChangeArrowheads="1"/>
            </p:cNvSpPr>
            <p:nvPr/>
          </p:nvSpPr>
          <p:spPr bwMode="auto">
            <a:xfrm>
              <a:off x="2640" y="1623"/>
              <a:ext cx="1296" cy="255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lnSpc>
                  <a:spcPct val="100000"/>
                </a:lnSpc>
                <a:spcBef>
                  <a:spcPct val="0"/>
                </a:spcBef>
                <a:buFont typeface="Wingdings" pitchFamily="2" charset="2"/>
                <a:buNone/>
              </a:pPr>
              <a:r>
                <a:rPr lang="zh-CN" altLang="en-US" sz="1800" b="1" dirty="0">
                  <a:solidFill>
                    <a:srgbClr val="6600FF"/>
                  </a:solidFill>
                </a:rPr>
                <a:t>李 勇</a:t>
              </a:r>
              <a:endParaRPr lang="zh-CN" altLang="en-US" sz="1800" b="1" dirty="0"/>
            </a:p>
            <a:p>
              <a:pPr algn="ctr">
                <a:lnSpc>
                  <a:spcPct val="100000"/>
                </a:lnSpc>
                <a:spcBef>
                  <a:spcPct val="0"/>
                </a:spcBef>
                <a:buFont typeface="Wingdings" pitchFamily="2" charset="2"/>
                <a:buNone/>
              </a:pPr>
              <a:r>
                <a:rPr lang="zh-CN" altLang="en-US" sz="1800" b="1" dirty="0"/>
                <a:t>李 勇</a:t>
              </a:r>
            </a:p>
            <a:p>
              <a:pPr algn="ctr">
                <a:lnSpc>
                  <a:spcPct val="100000"/>
                </a:lnSpc>
                <a:spcBef>
                  <a:spcPct val="0"/>
                </a:spcBef>
                <a:buFont typeface="Wingdings" pitchFamily="2" charset="2"/>
                <a:buNone/>
              </a:pPr>
              <a:r>
                <a:rPr lang="zh-CN" altLang="en-US" sz="1800" b="1" dirty="0"/>
                <a:t>李 勇</a:t>
              </a:r>
            </a:p>
            <a:p>
              <a:pPr algn="ctr">
                <a:lnSpc>
                  <a:spcPct val="100000"/>
                </a:lnSpc>
                <a:spcBef>
                  <a:spcPct val="0"/>
                </a:spcBef>
                <a:buFont typeface="Wingdings" pitchFamily="2" charset="2"/>
                <a:buNone/>
              </a:pPr>
              <a:r>
                <a:rPr lang="zh-CN" altLang="en-US" sz="1800" b="1" dirty="0">
                  <a:solidFill>
                    <a:srgbClr val="6600FF"/>
                  </a:solidFill>
                </a:rPr>
                <a:t>王 军</a:t>
              </a:r>
              <a:endParaRPr lang="zh-CN" altLang="en-US" sz="1800" b="1" dirty="0"/>
            </a:p>
            <a:p>
              <a:pPr algn="ctr">
                <a:lnSpc>
                  <a:spcPct val="100000"/>
                </a:lnSpc>
                <a:spcBef>
                  <a:spcPct val="0"/>
                </a:spcBef>
                <a:buFont typeface="Wingdings" pitchFamily="2" charset="2"/>
                <a:buNone/>
              </a:pPr>
              <a:r>
                <a:rPr lang="zh-CN" altLang="en-US" sz="1800" b="1" dirty="0"/>
                <a:t>王 军</a:t>
              </a:r>
            </a:p>
            <a:p>
              <a:pPr algn="ctr">
                <a:lnSpc>
                  <a:spcPct val="100000"/>
                </a:lnSpc>
                <a:spcBef>
                  <a:spcPct val="0"/>
                </a:spcBef>
                <a:buFont typeface="Wingdings" pitchFamily="2" charset="2"/>
                <a:buNone/>
              </a:pPr>
              <a:r>
                <a:rPr lang="zh-CN" altLang="en-US" sz="1800" b="1" dirty="0"/>
                <a:t>王 军</a:t>
              </a:r>
            </a:p>
            <a:p>
              <a:pPr algn="ctr">
                <a:lnSpc>
                  <a:spcPct val="100000"/>
                </a:lnSpc>
                <a:spcBef>
                  <a:spcPct val="0"/>
                </a:spcBef>
                <a:buFont typeface="Wingdings" pitchFamily="2" charset="2"/>
                <a:buNone/>
              </a:pPr>
              <a:r>
                <a:rPr lang="zh-CN" altLang="en-US" sz="1800" b="1" dirty="0"/>
                <a:t>李 勇</a:t>
              </a:r>
            </a:p>
            <a:p>
              <a:pPr algn="ctr">
                <a:lnSpc>
                  <a:spcPct val="100000"/>
                </a:lnSpc>
                <a:spcBef>
                  <a:spcPct val="0"/>
                </a:spcBef>
                <a:buFont typeface="Wingdings" pitchFamily="2" charset="2"/>
                <a:buNone/>
              </a:pPr>
              <a:r>
                <a:rPr lang="zh-CN" altLang="en-US" sz="1800" b="1" dirty="0"/>
                <a:t>李 勇</a:t>
              </a:r>
            </a:p>
            <a:p>
              <a:pPr algn="ctr">
                <a:lnSpc>
                  <a:spcPct val="100000"/>
                </a:lnSpc>
                <a:spcBef>
                  <a:spcPct val="0"/>
                </a:spcBef>
                <a:buFont typeface="Wingdings" pitchFamily="2" charset="2"/>
                <a:buNone/>
              </a:pPr>
              <a:r>
                <a:rPr lang="zh-CN" altLang="en-US" sz="1800" b="1" dirty="0"/>
                <a:t>李 勇</a:t>
              </a:r>
            </a:p>
            <a:p>
              <a:pPr algn="ctr">
                <a:lnSpc>
                  <a:spcPct val="100000"/>
                </a:lnSpc>
                <a:spcBef>
                  <a:spcPct val="0"/>
                </a:spcBef>
                <a:buFont typeface="Wingdings" pitchFamily="2" charset="2"/>
                <a:buNone/>
              </a:pPr>
              <a:r>
                <a:rPr lang="zh-CN" altLang="en-US" sz="1800" b="1" dirty="0"/>
                <a:t>张 平</a:t>
              </a:r>
            </a:p>
            <a:p>
              <a:pPr algn="ctr">
                <a:lnSpc>
                  <a:spcPct val="100000"/>
                </a:lnSpc>
                <a:spcBef>
                  <a:spcPct val="0"/>
                </a:spcBef>
                <a:buFont typeface="Wingdings" pitchFamily="2" charset="2"/>
                <a:buNone/>
              </a:pPr>
              <a:r>
                <a:rPr lang="zh-CN" altLang="en-US" sz="1800" b="1" dirty="0"/>
                <a:t>张 平</a:t>
              </a:r>
            </a:p>
            <a:p>
              <a:pPr algn="ctr">
                <a:lnSpc>
                  <a:spcPct val="100000"/>
                </a:lnSpc>
                <a:spcBef>
                  <a:spcPct val="0"/>
                </a:spcBef>
                <a:buFont typeface="Wingdings" pitchFamily="2" charset="2"/>
                <a:buNone/>
              </a:pPr>
              <a:r>
                <a:rPr lang="zh-CN" altLang="en-US" sz="1800" b="1" dirty="0"/>
                <a:t>张 平</a:t>
              </a:r>
            </a:p>
            <a:p>
              <a:pPr algn="ctr">
                <a:lnSpc>
                  <a:spcPct val="100000"/>
                </a:lnSpc>
                <a:spcBef>
                  <a:spcPct val="0"/>
                </a:spcBef>
                <a:buClrTx/>
                <a:buFontTx/>
                <a:buNone/>
              </a:pPr>
              <a:r>
                <a:rPr lang="zh-CN" altLang="en-US" sz="1800" b="1" dirty="0"/>
                <a:t> </a:t>
              </a:r>
              <a:r>
                <a:rPr lang="en-US" altLang="zh-CN" sz="1800" b="1" dirty="0"/>
                <a:t>…</a:t>
              </a:r>
              <a:endParaRPr lang="en-US" altLang="zh-CN" sz="1800" dirty="0"/>
            </a:p>
          </p:txBody>
        </p:sp>
        <p:sp>
          <p:nvSpPr>
            <p:cNvPr id="11" name="Rectangle 5"/>
            <p:cNvSpPr>
              <a:spLocks noChangeArrowheads="1"/>
            </p:cNvSpPr>
            <p:nvPr/>
          </p:nvSpPr>
          <p:spPr bwMode="auto">
            <a:xfrm>
              <a:off x="1344" y="1623"/>
              <a:ext cx="1296" cy="255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lnSpc>
                  <a:spcPct val="100000"/>
                </a:lnSpc>
                <a:spcBef>
                  <a:spcPct val="0"/>
                </a:spcBef>
                <a:buFont typeface="Wingdings" pitchFamily="2" charset="2"/>
                <a:buNone/>
              </a:pPr>
              <a:r>
                <a:rPr lang="zh-CN" altLang="en-US" sz="1800" b="1" dirty="0">
                  <a:solidFill>
                    <a:srgbClr val="C00000"/>
                  </a:solidFill>
                </a:rPr>
                <a:t>物 理</a:t>
              </a:r>
            </a:p>
            <a:p>
              <a:pPr algn="ctr">
                <a:lnSpc>
                  <a:spcPct val="100000"/>
                </a:lnSpc>
                <a:spcBef>
                  <a:spcPct val="0"/>
                </a:spcBef>
                <a:buFont typeface="Wingdings" pitchFamily="2" charset="2"/>
                <a:buNone/>
              </a:pPr>
              <a:r>
                <a:rPr lang="zh-CN" altLang="en-US" sz="1800" b="1" dirty="0">
                  <a:solidFill>
                    <a:srgbClr val="C00000"/>
                  </a:solidFill>
                </a:rPr>
                <a:t>物 理</a:t>
              </a:r>
            </a:p>
            <a:p>
              <a:pPr algn="ctr">
                <a:lnSpc>
                  <a:spcPct val="100000"/>
                </a:lnSpc>
                <a:spcBef>
                  <a:spcPct val="0"/>
                </a:spcBef>
                <a:buFont typeface="Wingdings" pitchFamily="2" charset="2"/>
                <a:buNone/>
              </a:pPr>
              <a:r>
                <a:rPr lang="zh-CN" altLang="en-US" sz="1800" b="1" dirty="0">
                  <a:solidFill>
                    <a:srgbClr val="C00000"/>
                  </a:solidFill>
                </a:rPr>
                <a:t>物 理</a:t>
              </a:r>
            </a:p>
            <a:p>
              <a:pPr algn="ctr">
                <a:lnSpc>
                  <a:spcPct val="100000"/>
                </a:lnSpc>
                <a:spcBef>
                  <a:spcPct val="0"/>
                </a:spcBef>
                <a:buFont typeface="Wingdings" pitchFamily="2" charset="2"/>
                <a:buNone/>
              </a:pPr>
              <a:r>
                <a:rPr lang="zh-CN" altLang="en-US" sz="1800" b="1" dirty="0">
                  <a:solidFill>
                    <a:srgbClr val="C00000"/>
                  </a:solidFill>
                </a:rPr>
                <a:t>物 理</a:t>
              </a:r>
            </a:p>
            <a:p>
              <a:pPr algn="ctr">
                <a:lnSpc>
                  <a:spcPct val="100000"/>
                </a:lnSpc>
                <a:spcBef>
                  <a:spcPct val="0"/>
                </a:spcBef>
                <a:buFont typeface="Wingdings" pitchFamily="2" charset="2"/>
                <a:buNone/>
              </a:pPr>
              <a:r>
                <a:rPr lang="zh-CN" altLang="en-US" sz="1800" b="1" dirty="0">
                  <a:solidFill>
                    <a:srgbClr val="C00000"/>
                  </a:solidFill>
                </a:rPr>
                <a:t>物 理</a:t>
              </a:r>
            </a:p>
            <a:p>
              <a:pPr algn="ctr">
                <a:lnSpc>
                  <a:spcPct val="100000"/>
                </a:lnSpc>
                <a:spcBef>
                  <a:spcPct val="0"/>
                </a:spcBef>
                <a:buClrTx/>
                <a:buFontTx/>
                <a:buNone/>
              </a:pPr>
              <a:r>
                <a:rPr lang="zh-CN" altLang="en-US" sz="1800" b="1" dirty="0">
                  <a:solidFill>
                    <a:srgbClr val="C00000"/>
                  </a:solidFill>
                </a:rPr>
                <a:t>物 理</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en-US" altLang="zh-CN" sz="1800" b="1" dirty="0"/>
                <a:t>… </a:t>
              </a:r>
            </a:p>
          </p:txBody>
        </p:sp>
        <p:sp>
          <p:nvSpPr>
            <p:cNvPr id="12" name="Rectangle 6"/>
            <p:cNvSpPr>
              <a:spLocks noChangeArrowheads="1"/>
            </p:cNvSpPr>
            <p:nvPr/>
          </p:nvSpPr>
          <p:spPr bwMode="auto">
            <a:xfrm>
              <a:off x="3936" y="1296"/>
              <a:ext cx="1296" cy="327"/>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100000"/>
                </a:lnSpc>
                <a:buFont typeface="Wingdings" pitchFamily="2" charset="2"/>
                <a:buNone/>
              </a:pPr>
              <a:r>
                <a:rPr lang="zh-CN" altLang="en-US" sz="2200"/>
                <a:t>参考书</a:t>
              </a:r>
              <a:r>
                <a:rPr lang="en-US" altLang="zh-CN" sz="2200"/>
                <a:t>B</a:t>
              </a:r>
            </a:p>
          </p:txBody>
        </p:sp>
        <p:sp>
          <p:nvSpPr>
            <p:cNvPr id="13" name="Rectangle 7"/>
            <p:cNvSpPr>
              <a:spLocks noChangeArrowheads="1"/>
            </p:cNvSpPr>
            <p:nvPr/>
          </p:nvSpPr>
          <p:spPr bwMode="auto">
            <a:xfrm>
              <a:off x="2640" y="1296"/>
              <a:ext cx="1296" cy="327"/>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100000"/>
                </a:lnSpc>
                <a:buFont typeface="Wingdings" pitchFamily="2" charset="2"/>
                <a:buNone/>
              </a:pPr>
              <a:r>
                <a:rPr lang="zh-CN" altLang="en-US" sz="2200"/>
                <a:t>教员</a:t>
              </a:r>
              <a:r>
                <a:rPr lang="en-US" altLang="zh-CN" sz="2200"/>
                <a:t>T</a:t>
              </a:r>
            </a:p>
          </p:txBody>
        </p:sp>
        <p:sp>
          <p:nvSpPr>
            <p:cNvPr id="14" name="Rectangle 8"/>
            <p:cNvSpPr>
              <a:spLocks noChangeArrowheads="1"/>
            </p:cNvSpPr>
            <p:nvPr/>
          </p:nvSpPr>
          <p:spPr bwMode="auto">
            <a:xfrm>
              <a:off x="1344" y="1296"/>
              <a:ext cx="1296" cy="327"/>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100000"/>
                </a:lnSpc>
                <a:buFont typeface="Wingdings" pitchFamily="2" charset="2"/>
                <a:buNone/>
              </a:pPr>
              <a:r>
                <a:rPr lang="zh-CN" altLang="en-US" sz="2200"/>
                <a:t>课程</a:t>
              </a:r>
              <a:r>
                <a:rPr lang="en-US" altLang="zh-CN" sz="2200"/>
                <a:t>C</a:t>
              </a:r>
            </a:p>
          </p:txBody>
        </p:sp>
        <p:sp>
          <p:nvSpPr>
            <p:cNvPr id="15" name="Line 9"/>
            <p:cNvSpPr>
              <a:spLocks noChangeShapeType="1"/>
            </p:cNvSpPr>
            <p:nvPr/>
          </p:nvSpPr>
          <p:spPr bwMode="auto">
            <a:xfrm>
              <a:off x="1344" y="1296"/>
              <a:ext cx="3888"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16" name="Line 10"/>
            <p:cNvSpPr>
              <a:spLocks noChangeShapeType="1"/>
            </p:cNvSpPr>
            <p:nvPr/>
          </p:nvSpPr>
          <p:spPr bwMode="auto">
            <a:xfrm>
              <a:off x="1344" y="1623"/>
              <a:ext cx="388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17" name="Line 11"/>
            <p:cNvSpPr>
              <a:spLocks noChangeShapeType="1"/>
            </p:cNvSpPr>
            <p:nvPr/>
          </p:nvSpPr>
          <p:spPr bwMode="auto">
            <a:xfrm>
              <a:off x="1344" y="4177"/>
              <a:ext cx="3888"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18" name="Line 12"/>
            <p:cNvSpPr>
              <a:spLocks noChangeShapeType="1"/>
            </p:cNvSpPr>
            <p:nvPr/>
          </p:nvSpPr>
          <p:spPr bwMode="auto">
            <a:xfrm>
              <a:off x="2640" y="1296"/>
              <a:ext cx="0" cy="288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19" name="Line 13"/>
            <p:cNvSpPr>
              <a:spLocks noChangeShapeType="1"/>
            </p:cNvSpPr>
            <p:nvPr/>
          </p:nvSpPr>
          <p:spPr bwMode="auto">
            <a:xfrm>
              <a:off x="3936" y="1296"/>
              <a:ext cx="0" cy="288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20" name="Line 14"/>
            <p:cNvSpPr>
              <a:spLocks noChangeShapeType="1"/>
            </p:cNvSpPr>
            <p:nvPr/>
          </p:nvSpPr>
          <p:spPr bwMode="auto">
            <a:xfrm>
              <a:off x="5232" y="1296"/>
              <a:ext cx="0" cy="2881"/>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21" name="Line 15"/>
            <p:cNvSpPr>
              <a:spLocks noChangeShapeType="1"/>
            </p:cNvSpPr>
            <p:nvPr/>
          </p:nvSpPr>
          <p:spPr bwMode="auto">
            <a:xfrm>
              <a:off x="1344" y="1623"/>
              <a:ext cx="0" cy="255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22" name="Line 16"/>
            <p:cNvSpPr>
              <a:spLocks noChangeShapeType="1"/>
            </p:cNvSpPr>
            <p:nvPr/>
          </p:nvSpPr>
          <p:spPr bwMode="auto">
            <a:xfrm>
              <a:off x="1344" y="1296"/>
              <a:ext cx="0" cy="327"/>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sp>
        <p:nvSpPr>
          <p:cNvPr id="23" name="圆角矩形标注 22"/>
          <p:cNvSpPr/>
          <p:nvPr/>
        </p:nvSpPr>
        <p:spPr bwMode="auto">
          <a:xfrm>
            <a:off x="4876800" y="0"/>
            <a:ext cx="4267199" cy="1736646"/>
          </a:xfrm>
          <a:prstGeom prst="wedgeRoundRectCallout">
            <a:avLst>
              <a:gd name="adj1" fmla="val -35791"/>
              <a:gd name="adj2" fmla="val 68013"/>
              <a:gd name="adj3" fmla="val 16667"/>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r>
              <a:rPr lang="en-US" altLang="zh-CN" dirty="0"/>
              <a:t>(4)</a:t>
            </a:r>
            <a:r>
              <a:rPr lang="zh-CN" altLang="en-US" dirty="0">
                <a:solidFill>
                  <a:srgbClr val="FF0000"/>
                </a:solidFill>
              </a:rPr>
              <a:t>修改</a:t>
            </a:r>
            <a:r>
              <a:rPr lang="zh-CN" altLang="en-US" dirty="0"/>
              <a:t>操作复杂：某一门课要</a:t>
            </a:r>
            <a:r>
              <a:rPr lang="zh-CN" altLang="en-US" dirty="0">
                <a:solidFill>
                  <a:srgbClr val="0000FF"/>
                </a:solidFill>
              </a:rPr>
              <a:t>修改一本</a:t>
            </a:r>
            <a:r>
              <a:rPr lang="zh-CN" altLang="en-US" dirty="0">
                <a:solidFill>
                  <a:schemeClr val="tx2"/>
                </a:solidFill>
              </a:rPr>
              <a:t>参考书</a:t>
            </a:r>
            <a:r>
              <a:rPr lang="zh-CN" altLang="en-US" dirty="0"/>
              <a:t>，该课程有</a:t>
            </a:r>
            <a:r>
              <a:rPr lang="zh-CN" altLang="en-US" dirty="0">
                <a:solidFill>
                  <a:srgbClr val="0000FF"/>
                </a:solidFill>
              </a:rPr>
              <a:t>多少名</a:t>
            </a:r>
            <a:r>
              <a:rPr lang="zh-CN" altLang="en-US" dirty="0">
                <a:solidFill>
                  <a:schemeClr val="tx2"/>
                </a:solidFill>
              </a:rPr>
              <a:t>教师</a:t>
            </a:r>
            <a:r>
              <a:rPr lang="zh-CN" altLang="en-US" dirty="0"/>
              <a:t>，就必须</a:t>
            </a:r>
            <a:r>
              <a:rPr lang="zh-CN" altLang="en-US" dirty="0">
                <a:solidFill>
                  <a:schemeClr val="tx2"/>
                </a:solidFill>
              </a:rPr>
              <a:t>修改</a:t>
            </a:r>
            <a:r>
              <a:rPr lang="zh-CN" altLang="en-US" dirty="0">
                <a:solidFill>
                  <a:srgbClr val="0000FF"/>
                </a:solidFill>
              </a:rPr>
              <a:t>多少个元组</a:t>
            </a:r>
            <a:r>
              <a:rPr lang="zh-CN" altLang="en-US" dirty="0"/>
              <a:t>。</a:t>
            </a:r>
            <a:endParaRPr kumimoji="1" lang="zh-CN" altLang="en-US" sz="2400" b="0" i="0" u="none" strike="noStrike" cap="none" normalizeH="0" baseline="0" dirty="0">
              <a:ln>
                <a:noFill/>
              </a:ln>
              <a:solidFill>
                <a:schemeClr val="tx1"/>
              </a:solidFill>
              <a:effectLst/>
              <a:latin typeface="Tahoma" pitchFamily="34" charset="0"/>
              <a:ea typeface="宋体" pitchFamily="2" charset="-122"/>
              <a:cs typeface="Arial" charset="0"/>
            </a:endParaRPr>
          </a:p>
        </p:txBody>
      </p:sp>
      <p:sp>
        <p:nvSpPr>
          <p:cNvPr id="5" name="页脚占位符 4">
            <a:extLst>
              <a:ext uri="{FF2B5EF4-FFF2-40B4-BE49-F238E27FC236}">
                <a16:creationId xmlns:a16="http://schemas.microsoft.com/office/drawing/2014/main" id="{0BEB7A45-FFD2-AC18-3FA9-1EEFD83DDC2A}"/>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0BA7FD8D-6DAC-A523-2978-376816995984}"/>
              </a:ext>
            </a:extLst>
          </p:cNvPr>
          <p:cNvSpPr>
            <a:spLocks noGrp="1"/>
          </p:cNvSpPr>
          <p:nvPr>
            <p:ph type="sldNum" sz="quarter" idx="12"/>
          </p:nvPr>
        </p:nvSpPr>
        <p:spPr/>
        <p:txBody>
          <a:bodyPr/>
          <a:lstStyle/>
          <a:p>
            <a:fld id="{A2D74603-B40B-4D66-8F6E-41C870D48932}" type="slidenum">
              <a:rPr lang="en-US" altLang="zh-CN" smtClean="0"/>
              <a:pPr/>
              <a:t>83</a:t>
            </a:fld>
            <a:r>
              <a:rPr lang="en-US" altLang="zh-CN"/>
              <a:t>/162</a:t>
            </a:r>
            <a:endParaRPr lang="en-US" altLang="zh-CN" dirty="0"/>
          </a:p>
        </p:txBody>
      </p:sp>
    </p:spTree>
    <p:extLst>
      <p:ext uri="{BB962C8B-B14F-4D97-AF65-F5344CB8AC3E}">
        <p14:creationId xmlns:p14="http://schemas.microsoft.com/office/powerpoint/2010/main" val="3705851716"/>
      </p:ext>
    </p:extLst>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8.2.7 </a:t>
            </a:r>
            <a:r>
              <a:rPr lang="zh-CN" altLang="en-US" dirty="0"/>
              <a:t>多值依赖</a:t>
            </a:r>
          </a:p>
        </p:txBody>
      </p:sp>
      <p:sp>
        <p:nvSpPr>
          <p:cNvPr id="4" name="日期占位符 3"/>
          <p:cNvSpPr>
            <a:spLocks noGrp="1"/>
          </p:cNvSpPr>
          <p:nvPr>
            <p:ph type="dt" sz="half" idx="10"/>
          </p:nvPr>
        </p:nvSpPr>
        <p:spPr/>
        <p:txBody>
          <a:bodyPr/>
          <a:lstStyle/>
          <a:p>
            <a:fld id="{FE599A09-09C5-4AC7-B834-BEEE12C040C1}" type="datetime1">
              <a:rPr lang="zh-CN" altLang="en-US" smtClean="0"/>
              <a:t>2025/11/6</a:t>
            </a:fld>
            <a:endParaRPr lang="en-US" altLang="zh-CN"/>
          </a:p>
        </p:txBody>
      </p:sp>
      <p:sp>
        <p:nvSpPr>
          <p:cNvPr id="3" name="内容占位符 2"/>
          <p:cNvSpPr>
            <a:spLocks noGrp="1"/>
          </p:cNvSpPr>
          <p:nvPr>
            <p:ph idx="1"/>
          </p:nvPr>
        </p:nvSpPr>
        <p:spPr/>
        <p:txBody>
          <a:bodyPr/>
          <a:lstStyle/>
          <a:p>
            <a:r>
              <a:rPr lang="en-US" altLang="zh-CN" sz="2800" dirty="0"/>
              <a:t>Teaching</a:t>
            </a:r>
            <a:r>
              <a:rPr lang="zh-CN" altLang="en-US" sz="2800" dirty="0"/>
              <a:t>具有</a:t>
            </a:r>
            <a:r>
              <a:rPr lang="zh-CN" altLang="en-US" sz="2800" dirty="0">
                <a:solidFill>
                  <a:srgbClr val="0000FF"/>
                </a:solidFill>
              </a:rPr>
              <a:t>唯一候选码</a:t>
            </a:r>
            <a:r>
              <a:rPr lang="en-US" altLang="zh-CN" sz="2800" dirty="0">
                <a:solidFill>
                  <a:srgbClr val="0000FF"/>
                </a:solidFill>
              </a:rPr>
              <a:t>(C</a:t>
            </a:r>
            <a:r>
              <a:rPr lang="zh-CN" altLang="en-US" sz="2800" dirty="0">
                <a:solidFill>
                  <a:srgbClr val="0000FF"/>
                </a:solidFill>
              </a:rPr>
              <a:t>，</a:t>
            </a:r>
            <a:r>
              <a:rPr lang="en-US" altLang="zh-CN" sz="2800" dirty="0">
                <a:solidFill>
                  <a:srgbClr val="0000FF"/>
                </a:solidFill>
              </a:rPr>
              <a:t>T</a:t>
            </a:r>
            <a:r>
              <a:rPr lang="zh-CN" altLang="en-US" sz="2800" dirty="0">
                <a:solidFill>
                  <a:srgbClr val="0000FF"/>
                </a:solidFill>
              </a:rPr>
              <a:t>，</a:t>
            </a:r>
            <a:r>
              <a:rPr lang="en-US" altLang="zh-CN" sz="2800" dirty="0">
                <a:solidFill>
                  <a:srgbClr val="0000FF"/>
                </a:solidFill>
              </a:rPr>
              <a:t>B)</a:t>
            </a:r>
            <a:r>
              <a:rPr lang="zh-CN" altLang="en-US" sz="2800" dirty="0"/>
              <a:t>， 即</a:t>
            </a:r>
            <a:r>
              <a:rPr lang="zh-CN" altLang="en-US" sz="2800" dirty="0">
                <a:solidFill>
                  <a:srgbClr val="C00000"/>
                </a:solidFill>
              </a:rPr>
              <a:t>全码</a:t>
            </a:r>
            <a:endParaRPr lang="en-US" altLang="zh-CN" sz="2800" dirty="0">
              <a:solidFill>
                <a:srgbClr val="C00000"/>
              </a:solidFill>
            </a:endParaRPr>
          </a:p>
          <a:p>
            <a:r>
              <a:rPr lang="en-US" altLang="zh-CN" sz="2800" dirty="0" err="1"/>
              <a:t>Teaching∈BCNF</a:t>
            </a:r>
            <a:endParaRPr lang="en-US" altLang="zh-CN" sz="2800" dirty="0"/>
          </a:p>
          <a:p>
            <a:endParaRPr lang="en-US" altLang="zh-CN" sz="2800" dirty="0">
              <a:solidFill>
                <a:srgbClr val="0000FF"/>
              </a:solidFill>
            </a:endParaRPr>
          </a:p>
          <a:p>
            <a:endParaRPr lang="en-US" altLang="zh-CN" sz="2800" dirty="0"/>
          </a:p>
          <a:p>
            <a:r>
              <a:rPr lang="en-US" altLang="zh-CN" sz="2800" dirty="0"/>
              <a:t>Teaching</a:t>
            </a:r>
            <a:r>
              <a:rPr lang="zh-CN" altLang="en-US" sz="2800" dirty="0"/>
              <a:t>模式中存在的问题</a:t>
            </a:r>
          </a:p>
          <a:p>
            <a:pPr lvl="1"/>
            <a:r>
              <a:rPr lang="en-US" altLang="zh-CN" sz="2400" dirty="0"/>
              <a:t>(1) </a:t>
            </a:r>
            <a:r>
              <a:rPr lang="zh-CN" altLang="en-US" sz="2400" dirty="0"/>
              <a:t>数据冗余度大 </a:t>
            </a:r>
          </a:p>
          <a:p>
            <a:pPr lvl="1"/>
            <a:r>
              <a:rPr lang="en-US" altLang="zh-CN" sz="2400" dirty="0"/>
              <a:t>(2) </a:t>
            </a:r>
            <a:r>
              <a:rPr lang="zh-CN" altLang="en-US" sz="2400" dirty="0"/>
              <a:t>插入操作复杂</a:t>
            </a:r>
          </a:p>
          <a:p>
            <a:pPr lvl="1"/>
            <a:r>
              <a:rPr lang="en-US" altLang="zh-CN" sz="2400" dirty="0"/>
              <a:t>(3) </a:t>
            </a:r>
            <a:r>
              <a:rPr lang="zh-CN" altLang="en-US" sz="2400" dirty="0"/>
              <a:t>删除操作复杂</a:t>
            </a:r>
          </a:p>
          <a:p>
            <a:pPr lvl="1"/>
            <a:r>
              <a:rPr lang="en-US" altLang="zh-CN" sz="2400" dirty="0"/>
              <a:t>(4) </a:t>
            </a:r>
            <a:r>
              <a:rPr lang="zh-CN" altLang="en-US" sz="2400" dirty="0"/>
              <a:t>修改操作复杂</a:t>
            </a:r>
          </a:p>
          <a:p>
            <a:endParaRPr lang="zh-CN" altLang="en-US" sz="2800" dirty="0"/>
          </a:p>
          <a:p>
            <a:endParaRPr lang="zh-CN" altLang="en-US" sz="2800" dirty="0"/>
          </a:p>
        </p:txBody>
      </p:sp>
      <p:sp>
        <p:nvSpPr>
          <p:cNvPr id="8" name="AutoShape 4"/>
          <p:cNvSpPr>
            <a:spLocks noChangeArrowheads="1"/>
          </p:cNvSpPr>
          <p:nvPr/>
        </p:nvSpPr>
        <p:spPr bwMode="auto">
          <a:xfrm>
            <a:off x="5334000" y="2659987"/>
            <a:ext cx="3638108" cy="1655762"/>
          </a:xfrm>
          <a:prstGeom prst="cloudCallout">
            <a:avLst>
              <a:gd name="adj1" fmla="val -88604"/>
              <a:gd name="adj2" fmla="val 80117"/>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buFont typeface="Wingdings" pitchFamily="2" charset="2"/>
              <a:buNone/>
            </a:pPr>
            <a:r>
              <a:rPr lang="zh-CN" altLang="en-US" dirty="0"/>
              <a:t>存在</a:t>
            </a:r>
            <a:r>
              <a:rPr lang="zh-CN" altLang="en-US" dirty="0">
                <a:solidFill>
                  <a:srgbClr val="0000FF"/>
                </a:solidFill>
              </a:rPr>
              <a:t>多值依赖</a:t>
            </a:r>
            <a:r>
              <a:rPr lang="zh-CN" altLang="en-US" dirty="0"/>
              <a:t>的数据依赖</a:t>
            </a:r>
          </a:p>
        </p:txBody>
      </p:sp>
      <p:sp>
        <p:nvSpPr>
          <p:cNvPr id="5" name="页脚占位符 4">
            <a:extLst>
              <a:ext uri="{FF2B5EF4-FFF2-40B4-BE49-F238E27FC236}">
                <a16:creationId xmlns:a16="http://schemas.microsoft.com/office/drawing/2014/main" id="{0432FF82-E9BB-B5A8-3982-65E3A5E6739E}"/>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C957A069-F00A-9D65-0EFB-24BDDC9AA336}"/>
              </a:ext>
            </a:extLst>
          </p:cNvPr>
          <p:cNvSpPr>
            <a:spLocks noGrp="1"/>
          </p:cNvSpPr>
          <p:nvPr>
            <p:ph type="sldNum" sz="quarter" idx="12"/>
          </p:nvPr>
        </p:nvSpPr>
        <p:spPr/>
        <p:txBody>
          <a:bodyPr/>
          <a:lstStyle/>
          <a:p>
            <a:fld id="{A2D74603-B40B-4D66-8F6E-41C870D48932}" type="slidenum">
              <a:rPr lang="en-US" altLang="zh-CN" smtClean="0"/>
              <a:pPr/>
              <a:t>84</a:t>
            </a:fld>
            <a:r>
              <a:rPr lang="en-US" altLang="zh-CN"/>
              <a:t>/162</a:t>
            </a:r>
            <a:endParaRPr lang="en-US" altLang="zh-CN" dirty="0"/>
          </a:p>
        </p:txBody>
      </p:sp>
    </p:spTree>
    <p:extLst>
      <p:ext uri="{BB962C8B-B14F-4D97-AF65-F5344CB8AC3E}">
        <p14:creationId xmlns:p14="http://schemas.microsoft.com/office/powerpoint/2010/main" val="34411215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7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0AAE35B2-964A-437A-AD42-B9BC48DDB2A3}" type="datetime1">
              <a:rPr lang="zh-CN" altLang="en-US" smtClean="0"/>
              <a:t>2025/11/6</a:t>
            </a:fld>
            <a:endParaRPr lang="en-US" altLang="zh-CN"/>
          </a:p>
        </p:txBody>
      </p:sp>
      <p:sp>
        <p:nvSpPr>
          <p:cNvPr id="299010" name="Rectangle 2"/>
          <p:cNvSpPr>
            <a:spLocks noGrp="1" noChangeArrowheads="1"/>
          </p:cNvSpPr>
          <p:nvPr>
            <p:ph type="title"/>
          </p:nvPr>
        </p:nvSpPr>
        <p:spPr/>
        <p:txBody>
          <a:bodyPr/>
          <a:lstStyle/>
          <a:p>
            <a:r>
              <a:rPr lang="en-US" altLang="zh-CN" dirty="0"/>
              <a:t>8.2.7 </a:t>
            </a:r>
            <a:r>
              <a:rPr lang="zh-CN" altLang="en-US" dirty="0"/>
              <a:t>多值依赖</a:t>
            </a:r>
          </a:p>
        </p:txBody>
      </p:sp>
      <p:sp>
        <p:nvSpPr>
          <p:cNvPr id="299011" name="Rectangle 3"/>
          <p:cNvSpPr>
            <a:spLocks noGrp="1" noChangeArrowheads="1"/>
          </p:cNvSpPr>
          <p:nvPr>
            <p:ph type="body" idx="1"/>
          </p:nvPr>
        </p:nvSpPr>
        <p:spPr/>
        <p:txBody>
          <a:bodyPr/>
          <a:lstStyle/>
          <a:p>
            <a:pPr>
              <a:lnSpc>
                <a:spcPct val="90000"/>
              </a:lnSpc>
              <a:buFont typeface="Wingdings" pitchFamily="2" charset="2"/>
              <a:buNone/>
            </a:pPr>
            <a:r>
              <a:rPr lang="zh-CN" altLang="en-US" dirty="0">
                <a:solidFill>
                  <a:schemeClr val="hlink"/>
                </a:solidFill>
              </a:rPr>
              <a:t>多值依赖定义</a:t>
            </a:r>
            <a:r>
              <a:rPr lang="zh-CN" altLang="en-US" b="1" dirty="0"/>
              <a:t>：</a:t>
            </a:r>
          </a:p>
          <a:p>
            <a:r>
              <a:rPr lang="zh-CN" altLang="en-US" sz="3000" dirty="0"/>
              <a:t>设有关系模式</a:t>
            </a:r>
            <a:r>
              <a:rPr lang="en-US" altLang="zh-CN" sz="3000" b="1" dirty="0"/>
              <a:t>R(U)</a:t>
            </a:r>
            <a:r>
              <a:rPr lang="zh-CN" altLang="en-US" sz="3000" dirty="0"/>
              <a:t>，</a:t>
            </a:r>
            <a:r>
              <a:rPr lang="en-US" altLang="zh-CN" sz="3000" dirty="0"/>
              <a:t>X, Y, Z</a:t>
            </a:r>
            <a:r>
              <a:rPr lang="zh-CN" altLang="en-US" sz="3000" dirty="0"/>
              <a:t>是</a:t>
            </a:r>
            <a:r>
              <a:rPr lang="en-US" altLang="zh-CN" sz="3000" dirty="0"/>
              <a:t>U</a:t>
            </a:r>
            <a:r>
              <a:rPr lang="zh-CN" altLang="en-US" sz="3000" dirty="0"/>
              <a:t>的</a:t>
            </a:r>
            <a:r>
              <a:rPr lang="zh-CN" altLang="en-US" sz="3000" b="1" u="sng" dirty="0">
                <a:solidFill>
                  <a:schemeClr val="tx2"/>
                </a:solidFill>
              </a:rPr>
              <a:t>非空子集</a:t>
            </a:r>
            <a:r>
              <a:rPr lang="zh-CN" altLang="en-US" sz="3000" dirty="0">
                <a:solidFill>
                  <a:schemeClr val="tx2"/>
                </a:solidFill>
              </a:rPr>
              <a:t>，</a:t>
            </a:r>
            <a:r>
              <a:rPr lang="zh-CN" altLang="en-US" sz="3000" dirty="0"/>
              <a:t>并且</a:t>
            </a:r>
            <a:r>
              <a:rPr lang="en-US" altLang="zh-CN" sz="3000" b="1" dirty="0"/>
              <a:t>Z=U-X-Y</a:t>
            </a:r>
            <a:r>
              <a:rPr lang="zh-CN" altLang="en-US" sz="3000" dirty="0"/>
              <a:t>。对于</a:t>
            </a:r>
            <a:r>
              <a:rPr lang="en-US" altLang="zh-CN" sz="3000" dirty="0"/>
              <a:t>R</a:t>
            </a:r>
            <a:r>
              <a:rPr lang="zh-CN" altLang="en-US" sz="3000" dirty="0"/>
              <a:t>的任一关系</a:t>
            </a:r>
            <a:r>
              <a:rPr lang="en-US" altLang="zh-CN" sz="3000" dirty="0"/>
              <a:t>r</a:t>
            </a:r>
            <a:r>
              <a:rPr lang="zh-CN" altLang="en-US" sz="3000" dirty="0"/>
              <a:t>，给定</a:t>
            </a:r>
            <a:r>
              <a:rPr lang="zh-CN" altLang="en-US" sz="3000" b="1" dirty="0">
                <a:solidFill>
                  <a:srgbClr val="C00000"/>
                </a:solidFill>
              </a:rPr>
              <a:t>一对</a:t>
            </a:r>
            <a:r>
              <a:rPr lang="en-US" altLang="zh-CN" sz="3000" b="1" dirty="0">
                <a:solidFill>
                  <a:schemeClr val="tx2"/>
                </a:solidFill>
              </a:rPr>
              <a:t>(x, z)</a:t>
            </a:r>
            <a:r>
              <a:rPr lang="zh-CN" altLang="en-US" sz="3000" b="1" dirty="0">
                <a:solidFill>
                  <a:schemeClr val="tx2"/>
                </a:solidFill>
              </a:rPr>
              <a:t>值</a:t>
            </a:r>
            <a:r>
              <a:rPr lang="zh-CN" altLang="en-US" sz="3000" dirty="0"/>
              <a:t>，就有</a:t>
            </a:r>
            <a:r>
              <a:rPr lang="zh-CN" altLang="en-US" sz="3000" b="1" dirty="0">
                <a:solidFill>
                  <a:srgbClr val="C00000"/>
                </a:solidFill>
              </a:rPr>
              <a:t>一组</a:t>
            </a:r>
            <a:r>
              <a:rPr lang="en-US" altLang="zh-CN" sz="3000" b="1" dirty="0">
                <a:solidFill>
                  <a:schemeClr val="tx2"/>
                </a:solidFill>
              </a:rPr>
              <a:t>Y</a:t>
            </a:r>
            <a:r>
              <a:rPr lang="zh-CN" altLang="en-US" sz="3000" b="1" dirty="0">
                <a:solidFill>
                  <a:schemeClr val="tx2"/>
                </a:solidFill>
              </a:rPr>
              <a:t>的值</a:t>
            </a:r>
            <a:r>
              <a:rPr lang="zh-CN" altLang="en-US" sz="3000" dirty="0">
                <a:solidFill>
                  <a:schemeClr val="tx2"/>
                </a:solidFill>
              </a:rPr>
              <a:t>与之对应</a:t>
            </a:r>
            <a:r>
              <a:rPr lang="zh-CN" altLang="en-US" sz="3000" dirty="0"/>
              <a:t>，这</a:t>
            </a:r>
            <a:r>
              <a:rPr lang="zh-CN" altLang="en-US" sz="3000" dirty="0">
                <a:solidFill>
                  <a:srgbClr val="C00000"/>
                </a:solidFill>
              </a:rPr>
              <a:t>组值</a:t>
            </a:r>
            <a:r>
              <a:rPr lang="zh-CN" altLang="en-US" sz="3000" b="1" dirty="0">
                <a:solidFill>
                  <a:schemeClr val="tx2"/>
                </a:solidFill>
                <a:highlight>
                  <a:srgbClr val="FFFF00"/>
                </a:highlight>
              </a:rPr>
              <a:t>仅仅</a:t>
            </a:r>
            <a:r>
              <a:rPr lang="zh-CN" altLang="en-US" sz="3000" b="1" dirty="0">
                <a:solidFill>
                  <a:schemeClr val="tx2"/>
                </a:solidFill>
              </a:rPr>
              <a:t>决定于</a:t>
            </a:r>
            <a:r>
              <a:rPr lang="en-US" altLang="zh-CN" sz="3000" b="1" dirty="0">
                <a:solidFill>
                  <a:schemeClr val="tx2"/>
                </a:solidFill>
              </a:rPr>
              <a:t>x</a:t>
            </a:r>
            <a:r>
              <a:rPr lang="zh-CN" altLang="en-US" sz="3000" b="1" dirty="0">
                <a:solidFill>
                  <a:schemeClr val="tx2"/>
                </a:solidFill>
              </a:rPr>
              <a:t>值</a:t>
            </a:r>
            <a:r>
              <a:rPr lang="zh-CN" altLang="en-US" sz="3000" dirty="0"/>
              <a:t>而</a:t>
            </a:r>
            <a:r>
              <a:rPr lang="zh-CN" altLang="en-US" sz="3000" b="1" dirty="0">
                <a:solidFill>
                  <a:schemeClr val="tx2"/>
                </a:solidFill>
              </a:rPr>
              <a:t>与</a:t>
            </a:r>
            <a:r>
              <a:rPr lang="en-US" altLang="zh-CN" sz="3000" b="1" dirty="0">
                <a:solidFill>
                  <a:schemeClr val="tx2"/>
                </a:solidFill>
              </a:rPr>
              <a:t>z</a:t>
            </a:r>
            <a:r>
              <a:rPr lang="zh-CN" altLang="en-US" sz="3000" b="1" dirty="0">
                <a:solidFill>
                  <a:schemeClr val="tx2"/>
                </a:solidFill>
              </a:rPr>
              <a:t>值无关</a:t>
            </a:r>
            <a:r>
              <a:rPr lang="zh-CN" altLang="en-US" sz="3000" dirty="0"/>
              <a:t>，则称</a:t>
            </a:r>
            <a:r>
              <a:rPr lang="zh-CN" altLang="en-US" sz="3000" dirty="0">
                <a:latin typeface="Arial"/>
              </a:rPr>
              <a:t>“</a:t>
            </a:r>
            <a:r>
              <a:rPr lang="en-US" altLang="zh-CN" sz="3000" dirty="0">
                <a:solidFill>
                  <a:srgbClr val="C00000"/>
                </a:solidFill>
              </a:rPr>
              <a:t>Y</a:t>
            </a:r>
            <a:r>
              <a:rPr lang="zh-CN" altLang="en-US" sz="3000" dirty="0">
                <a:solidFill>
                  <a:srgbClr val="C00000"/>
                </a:solidFill>
              </a:rPr>
              <a:t>多值依赖于</a:t>
            </a:r>
            <a:r>
              <a:rPr lang="en-US" altLang="zh-CN" sz="3000" dirty="0">
                <a:solidFill>
                  <a:srgbClr val="C00000"/>
                </a:solidFill>
              </a:rPr>
              <a:t>X</a:t>
            </a:r>
            <a:r>
              <a:rPr lang="en-US" altLang="zh-CN" sz="3000" dirty="0">
                <a:latin typeface="Arial"/>
              </a:rPr>
              <a:t>”</a:t>
            </a:r>
            <a:r>
              <a:rPr lang="zh-CN" altLang="en-US" sz="3000" dirty="0"/>
              <a:t>或</a:t>
            </a:r>
            <a:r>
              <a:rPr lang="zh-CN" altLang="en-US" sz="3000" dirty="0">
                <a:latin typeface="Arial"/>
              </a:rPr>
              <a:t>“</a:t>
            </a:r>
            <a:r>
              <a:rPr lang="en-US" altLang="zh-CN" sz="3000" dirty="0">
                <a:solidFill>
                  <a:srgbClr val="C00000"/>
                </a:solidFill>
              </a:rPr>
              <a:t>X</a:t>
            </a:r>
            <a:r>
              <a:rPr lang="zh-CN" altLang="en-US" sz="3000" dirty="0">
                <a:solidFill>
                  <a:srgbClr val="C00000"/>
                </a:solidFill>
              </a:rPr>
              <a:t>多值决定</a:t>
            </a:r>
            <a:r>
              <a:rPr lang="en-US" altLang="zh-CN" sz="3000" dirty="0">
                <a:solidFill>
                  <a:srgbClr val="C00000"/>
                </a:solidFill>
              </a:rPr>
              <a:t>Y</a:t>
            </a:r>
            <a:r>
              <a:rPr lang="en-US" altLang="zh-CN" sz="3000" dirty="0">
                <a:latin typeface="Arial"/>
              </a:rPr>
              <a:t>”</a:t>
            </a:r>
            <a:r>
              <a:rPr lang="zh-CN" altLang="en-US" sz="3000" dirty="0"/>
              <a:t>。记作</a:t>
            </a:r>
            <a:r>
              <a:rPr lang="en-US" altLang="zh-CN" sz="3000" dirty="0"/>
              <a:t>X</a:t>
            </a:r>
            <a:r>
              <a:rPr lang="en-US" altLang="zh-CN" sz="3000" dirty="0">
                <a:solidFill>
                  <a:srgbClr val="C00000"/>
                </a:solidFill>
              </a:rPr>
              <a:t>→→</a:t>
            </a:r>
            <a:r>
              <a:rPr lang="en-US" altLang="zh-CN" sz="3000" dirty="0"/>
              <a:t>Y</a:t>
            </a:r>
            <a:r>
              <a:rPr lang="zh-CN" altLang="en-US" sz="3000" dirty="0"/>
              <a:t>。</a:t>
            </a:r>
          </a:p>
          <a:p>
            <a:pPr>
              <a:lnSpc>
                <a:spcPct val="90000"/>
              </a:lnSpc>
            </a:pPr>
            <a:r>
              <a:rPr lang="zh-CN" altLang="en-US" sz="3000" dirty="0"/>
              <a:t>或记忆为：设有关系模式</a:t>
            </a:r>
            <a:r>
              <a:rPr lang="en-US" altLang="zh-CN" sz="3000" dirty="0"/>
              <a:t>R(U)</a:t>
            </a:r>
            <a:r>
              <a:rPr lang="zh-CN" altLang="en-US" sz="3000" dirty="0"/>
              <a:t>，</a:t>
            </a:r>
            <a:r>
              <a:rPr lang="en-US" altLang="zh-CN" sz="3000" dirty="0"/>
              <a:t>X, Y, Z</a:t>
            </a:r>
            <a:r>
              <a:rPr lang="zh-CN" altLang="en-US" sz="3000" dirty="0"/>
              <a:t>是</a:t>
            </a:r>
            <a:r>
              <a:rPr lang="en-US" altLang="zh-CN" sz="3000" dirty="0"/>
              <a:t>U</a:t>
            </a:r>
            <a:r>
              <a:rPr lang="zh-CN" altLang="en-US" sz="3000" dirty="0"/>
              <a:t>的非空子集。对</a:t>
            </a:r>
            <a:r>
              <a:rPr lang="en-US" altLang="zh-CN" sz="3000" dirty="0"/>
              <a:t>R(U)</a:t>
            </a:r>
            <a:r>
              <a:rPr lang="zh-CN" altLang="en-US" sz="3000" dirty="0"/>
              <a:t>的任一关系</a:t>
            </a:r>
            <a:r>
              <a:rPr lang="en-US" altLang="zh-CN" sz="3000" dirty="0"/>
              <a:t>r</a:t>
            </a:r>
            <a:r>
              <a:rPr lang="zh-CN" altLang="en-US" sz="3000" dirty="0"/>
              <a:t>，任意两元组</a:t>
            </a:r>
            <a:r>
              <a:rPr lang="en-US" altLang="zh-CN" sz="3000" dirty="0"/>
              <a:t>s</a:t>
            </a:r>
            <a:r>
              <a:rPr lang="zh-CN" altLang="en-US" sz="3000" dirty="0"/>
              <a:t>和</a:t>
            </a:r>
            <a:r>
              <a:rPr lang="en-US" altLang="zh-CN" sz="3000" dirty="0"/>
              <a:t>t</a:t>
            </a:r>
            <a:r>
              <a:rPr lang="zh-CN" altLang="en-US" sz="3000" dirty="0"/>
              <a:t>，</a:t>
            </a:r>
            <a:r>
              <a:rPr lang="zh-CN" altLang="en-US" sz="3000" dirty="0">
                <a:solidFill>
                  <a:srgbClr val="0000FF"/>
                </a:solidFill>
              </a:rPr>
              <a:t>如果</a:t>
            </a:r>
            <a:r>
              <a:rPr lang="en-US" altLang="zh-CN" sz="3000" dirty="0">
                <a:solidFill>
                  <a:srgbClr val="0000FF"/>
                </a:solidFill>
              </a:rPr>
              <a:t>s[X]=t[X]</a:t>
            </a:r>
            <a:r>
              <a:rPr lang="zh-CN" altLang="en-US" sz="3000" dirty="0"/>
              <a:t>，则</a:t>
            </a:r>
            <a:r>
              <a:rPr lang="zh-CN" altLang="en-US" sz="3000" dirty="0">
                <a:solidFill>
                  <a:srgbClr val="FF0000"/>
                </a:solidFill>
              </a:rPr>
              <a:t>交换</a:t>
            </a:r>
            <a:r>
              <a:rPr lang="en-US" altLang="zh-CN" sz="3000" dirty="0">
                <a:solidFill>
                  <a:srgbClr val="FF0000"/>
                </a:solidFill>
              </a:rPr>
              <a:t>s</a:t>
            </a:r>
            <a:r>
              <a:rPr lang="zh-CN" altLang="en-US" sz="3000" dirty="0">
                <a:solidFill>
                  <a:srgbClr val="FF0000"/>
                </a:solidFill>
              </a:rPr>
              <a:t>和</a:t>
            </a:r>
            <a:r>
              <a:rPr lang="en-US" altLang="zh-CN" sz="3000" dirty="0">
                <a:solidFill>
                  <a:srgbClr val="FF0000"/>
                </a:solidFill>
              </a:rPr>
              <a:t>t</a:t>
            </a:r>
            <a:r>
              <a:rPr lang="zh-CN" altLang="en-US" sz="3000" dirty="0">
                <a:solidFill>
                  <a:srgbClr val="FF0000"/>
                </a:solidFill>
              </a:rPr>
              <a:t>的</a:t>
            </a:r>
            <a:r>
              <a:rPr lang="en-US" altLang="zh-CN" sz="3000" dirty="0">
                <a:solidFill>
                  <a:srgbClr val="FF0000"/>
                </a:solidFill>
              </a:rPr>
              <a:t>Y</a:t>
            </a:r>
            <a:r>
              <a:rPr lang="zh-CN" altLang="en-US" sz="3000" dirty="0">
                <a:solidFill>
                  <a:srgbClr val="FF0000"/>
                </a:solidFill>
              </a:rPr>
              <a:t>值</a:t>
            </a:r>
            <a:r>
              <a:rPr lang="zh-CN" altLang="en-US" sz="3000" dirty="0"/>
              <a:t>所得两个</a:t>
            </a:r>
            <a:r>
              <a:rPr lang="zh-CN" altLang="en-US" sz="3000" dirty="0">
                <a:solidFill>
                  <a:srgbClr val="C00000"/>
                </a:solidFill>
              </a:rPr>
              <a:t>新</a:t>
            </a:r>
            <a:r>
              <a:rPr lang="zh-CN" altLang="en-US" sz="3000" dirty="0"/>
              <a:t>元组</a:t>
            </a:r>
            <a:r>
              <a:rPr lang="zh-CN" altLang="en-US" sz="3000" dirty="0">
                <a:solidFill>
                  <a:srgbClr val="FF0000"/>
                </a:solidFill>
              </a:rPr>
              <a:t>必在</a:t>
            </a:r>
            <a:r>
              <a:rPr lang="en-US" altLang="zh-CN" sz="3000" dirty="0">
                <a:solidFill>
                  <a:srgbClr val="FF0000"/>
                </a:solidFill>
              </a:rPr>
              <a:t>r</a:t>
            </a:r>
            <a:r>
              <a:rPr lang="zh-CN" altLang="en-US" sz="3000" dirty="0">
                <a:solidFill>
                  <a:srgbClr val="FF0000"/>
                </a:solidFill>
              </a:rPr>
              <a:t>中</a:t>
            </a:r>
            <a:r>
              <a:rPr lang="zh-CN" altLang="en-US" sz="3000" dirty="0"/>
              <a:t>。</a:t>
            </a:r>
          </a:p>
        </p:txBody>
      </p:sp>
      <p:sp>
        <p:nvSpPr>
          <p:cNvPr id="7" name="椭圆 6"/>
          <p:cNvSpPr/>
          <p:nvPr/>
        </p:nvSpPr>
        <p:spPr bwMode="auto">
          <a:xfrm>
            <a:off x="5652120" y="3717032"/>
            <a:ext cx="1680592" cy="687247"/>
          </a:xfrm>
          <a:prstGeom prst="ellipse">
            <a:avLst/>
          </a:prstGeom>
          <a:no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sp>
        <p:nvSpPr>
          <p:cNvPr id="3" name="页脚占位符 2">
            <a:extLst>
              <a:ext uri="{FF2B5EF4-FFF2-40B4-BE49-F238E27FC236}">
                <a16:creationId xmlns:a16="http://schemas.microsoft.com/office/drawing/2014/main" id="{2422A789-2584-5624-9A4B-F4C517194D09}"/>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6B6D9FD9-C947-5E00-260E-338AC2EEB74C}"/>
              </a:ext>
            </a:extLst>
          </p:cNvPr>
          <p:cNvSpPr>
            <a:spLocks noGrp="1"/>
          </p:cNvSpPr>
          <p:nvPr>
            <p:ph type="sldNum" sz="quarter" idx="12"/>
          </p:nvPr>
        </p:nvSpPr>
        <p:spPr/>
        <p:txBody>
          <a:bodyPr/>
          <a:lstStyle/>
          <a:p>
            <a:fld id="{A2D74603-B40B-4D66-8F6E-41C870D48932}" type="slidenum">
              <a:rPr lang="en-US" altLang="zh-CN" smtClean="0"/>
              <a:pPr/>
              <a:t>85</a:t>
            </a:fld>
            <a:r>
              <a:rPr lang="en-US" altLang="zh-CN"/>
              <a:t>/162</a:t>
            </a:r>
            <a:endParaRPr lang="en-US" altLang="zh-CN" dirty="0"/>
          </a:p>
        </p:txBody>
      </p:sp>
    </p:spTree>
    <p:extLst>
      <p:ext uri="{BB962C8B-B14F-4D97-AF65-F5344CB8AC3E}">
        <p14:creationId xmlns:p14="http://schemas.microsoft.com/office/powerpoint/2010/main" val="18494069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99011">
                                            <p:txEl>
                                              <p:pRg st="2" end="2"/>
                                            </p:txEl>
                                          </p:spTgt>
                                        </p:tgtEl>
                                        <p:attrNameLst>
                                          <p:attrName>style.visibility</p:attrName>
                                        </p:attrNameLst>
                                      </p:cBhvr>
                                      <p:to>
                                        <p:strVal val="visible"/>
                                      </p:to>
                                    </p:set>
                                    <p:anim calcmode="lin" valueType="num">
                                      <p:cBhvr additive="base">
                                        <p:cTn id="12" dur="500" fill="hold"/>
                                        <p:tgtEl>
                                          <p:spTgt spid="299011">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9901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BA087715-D81C-4F3B-80C7-8F5DFEFA2C9E}" type="datetime1">
              <a:rPr lang="zh-CN" altLang="en-US" smtClean="0"/>
              <a:t>2025/11/6</a:t>
            </a:fld>
            <a:endParaRPr lang="en-US" altLang="zh-CN"/>
          </a:p>
        </p:txBody>
      </p:sp>
      <p:sp>
        <p:nvSpPr>
          <p:cNvPr id="301058" name="Rectangle 2"/>
          <p:cNvSpPr>
            <a:spLocks noGrp="1" noChangeArrowheads="1"/>
          </p:cNvSpPr>
          <p:nvPr>
            <p:ph type="title"/>
          </p:nvPr>
        </p:nvSpPr>
        <p:spPr/>
        <p:txBody>
          <a:bodyPr/>
          <a:lstStyle/>
          <a:p>
            <a:r>
              <a:rPr lang="en-US" altLang="zh-CN" dirty="0"/>
              <a:t>8.2.7 </a:t>
            </a:r>
            <a:r>
              <a:rPr lang="zh-CN" altLang="en-US" dirty="0"/>
              <a:t>多值依赖</a:t>
            </a:r>
          </a:p>
        </p:txBody>
      </p:sp>
      <p:sp>
        <p:nvSpPr>
          <p:cNvPr id="301059" name="Rectangle 3"/>
          <p:cNvSpPr>
            <a:spLocks noGrp="1" noChangeArrowheads="1"/>
          </p:cNvSpPr>
          <p:nvPr>
            <p:ph type="body" idx="1"/>
          </p:nvPr>
        </p:nvSpPr>
        <p:spPr/>
        <p:txBody>
          <a:bodyPr/>
          <a:lstStyle/>
          <a:p>
            <a:r>
              <a:rPr lang="zh-CN" altLang="en-US" dirty="0">
                <a:ea typeface="宋体" charset="-122"/>
              </a:rPr>
              <a:t>对于一个（</a:t>
            </a:r>
            <a:r>
              <a:rPr lang="zh-CN" altLang="en-US" dirty="0">
                <a:solidFill>
                  <a:srgbClr val="006600"/>
                </a:solidFill>
                <a:ea typeface="宋体" charset="-122"/>
              </a:rPr>
              <a:t>物理，光学原理</a:t>
            </a:r>
            <a:r>
              <a:rPr lang="zh-CN" altLang="en-US" dirty="0">
                <a:ea typeface="宋体" charset="-122"/>
              </a:rPr>
              <a:t>）</a:t>
            </a:r>
            <a:r>
              <a:rPr lang="zh-CN" altLang="en-US" dirty="0">
                <a:solidFill>
                  <a:schemeClr val="tx2"/>
                </a:solidFill>
                <a:ea typeface="宋体" charset="-122"/>
              </a:rPr>
              <a:t>有</a:t>
            </a:r>
            <a:r>
              <a:rPr lang="zh-CN" altLang="en-US" b="1" dirty="0">
                <a:solidFill>
                  <a:srgbClr val="C00000"/>
                </a:solidFill>
                <a:ea typeface="宋体" charset="-122"/>
              </a:rPr>
              <a:t>一组</a:t>
            </a:r>
            <a:r>
              <a:rPr lang="en-US" altLang="zh-CN" dirty="0">
                <a:solidFill>
                  <a:srgbClr val="C00000"/>
                </a:solidFill>
                <a:ea typeface="宋体" charset="-122"/>
              </a:rPr>
              <a:t>T</a:t>
            </a:r>
            <a:r>
              <a:rPr lang="zh-CN" altLang="en-US" dirty="0">
                <a:solidFill>
                  <a:srgbClr val="C00000"/>
                </a:solidFill>
                <a:ea typeface="宋体" charset="-122"/>
              </a:rPr>
              <a:t>值</a:t>
            </a:r>
            <a:r>
              <a:rPr lang="zh-CN" altLang="en-US" dirty="0">
                <a:solidFill>
                  <a:schemeClr val="tx2"/>
                </a:solidFill>
                <a:ea typeface="宋体" charset="-122"/>
              </a:rPr>
              <a:t>｛</a:t>
            </a:r>
            <a:r>
              <a:rPr lang="zh-CN" altLang="en-US" b="1" dirty="0">
                <a:solidFill>
                  <a:schemeClr val="tx2"/>
                </a:solidFill>
                <a:ea typeface="宋体" charset="-122"/>
              </a:rPr>
              <a:t>李勇，王军</a:t>
            </a:r>
            <a:r>
              <a:rPr lang="zh-CN" altLang="en-US" dirty="0">
                <a:solidFill>
                  <a:schemeClr val="tx2"/>
                </a:solidFill>
                <a:ea typeface="宋体" charset="-122"/>
              </a:rPr>
              <a:t>｝，</a:t>
            </a:r>
            <a:r>
              <a:rPr lang="zh-CN" altLang="en-US" dirty="0">
                <a:ea typeface="宋体" charset="-122"/>
              </a:rPr>
              <a:t>这组值仅由</a:t>
            </a:r>
            <a:r>
              <a:rPr lang="zh-CN" altLang="en-US" dirty="0">
                <a:solidFill>
                  <a:srgbClr val="C00000"/>
                </a:solidFill>
                <a:ea typeface="宋体" charset="-122"/>
              </a:rPr>
              <a:t>课程</a:t>
            </a:r>
            <a:r>
              <a:rPr lang="en-US" altLang="zh-CN" dirty="0">
                <a:solidFill>
                  <a:srgbClr val="C00000"/>
                </a:solidFill>
                <a:ea typeface="宋体" charset="-122"/>
              </a:rPr>
              <a:t>C</a:t>
            </a:r>
            <a:r>
              <a:rPr lang="zh-CN" altLang="en-US" dirty="0">
                <a:solidFill>
                  <a:schemeClr val="tx2"/>
                </a:solidFill>
                <a:ea typeface="宋体" charset="-122"/>
              </a:rPr>
              <a:t>上</a:t>
            </a:r>
            <a:r>
              <a:rPr lang="zh-CN" altLang="en-US" dirty="0">
                <a:ea typeface="宋体" charset="-122"/>
              </a:rPr>
              <a:t>的值</a:t>
            </a:r>
            <a:r>
              <a:rPr lang="zh-CN" altLang="en-US" dirty="0">
                <a:solidFill>
                  <a:schemeClr val="tx2"/>
                </a:solidFill>
                <a:ea typeface="宋体" charset="-122"/>
              </a:rPr>
              <a:t>（物理）决定；</a:t>
            </a:r>
            <a:endParaRPr lang="en-US" altLang="zh-CN" dirty="0">
              <a:solidFill>
                <a:schemeClr val="tx2"/>
              </a:solidFill>
              <a:ea typeface="宋体" charset="-122"/>
            </a:endParaRPr>
          </a:p>
          <a:p>
            <a:r>
              <a:rPr lang="zh-CN" altLang="en-US" dirty="0">
                <a:ea typeface="宋体" charset="-122"/>
              </a:rPr>
              <a:t>对于另一个</a:t>
            </a:r>
            <a:r>
              <a:rPr lang="zh-CN" altLang="en-US" dirty="0">
                <a:solidFill>
                  <a:schemeClr val="tx2"/>
                </a:solidFill>
                <a:ea typeface="宋体" charset="-122"/>
              </a:rPr>
              <a:t>（</a:t>
            </a:r>
            <a:r>
              <a:rPr lang="zh-CN" altLang="en-US" dirty="0">
                <a:solidFill>
                  <a:srgbClr val="006600"/>
                </a:solidFill>
                <a:ea typeface="宋体" charset="-122"/>
              </a:rPr>
              <a:t>物理，物理习题集</a:t>
            </a:r>
            <a:r>
              <a:rPr lang="zh-CN" altLang="en-US" dirty="0">
                <a:solidFill>
                  <a:schemeClr val="tx2"/>
                </a:solidFill>
                <a:ea typeface="宋体" charset="-122"/>
              </a:rPr>
              <a:t>）</a:t>
            </a:r>
            <a:r>
              <a:rPr lang="zh-CN" altLang="en-US" dirty="0">
                <a:ea typeface="宋体" charset="-122"/>
              </a:rPr>
              <a:t>对应的</a:t>
            </a:r>
            <a:r>
              <a:rPr lang="en-US" altLang="zh-CN" dirty="0">
                <a:ea typeface="宋体" charset="-122"/>
              </a:rPr>
              <a:t>T</a:t>
            </a:r>
            <a:r>
              <a:rPr lang="zh-CN" altLang="en-US" dirty="0">
                <a:ea typeface="宋体" charset="-122"/>
              </a:rPr>
              <a:t>值仍是</a:t>
            </a:r>
            <a:r>
              <a:rPr lang="zh-CN" altLang="en-US" dirty="0">
                <a:solidFill>
                  <a:schemeClr val="tx2"/>
                </a:solidFill>
                <a:ea typeface="宋体" charset="-122"/>
              </a:rPr>
              <a:t>｛李勇，王军｝，因此</a:t>
            </a:r>
            <a:r>
              <a:rPr lang="en-US" altLang="zh-CN" b="1" dirty="0">
                <a:solidFill>
                  <a:srgbClr val="C00000"/>
                </a:solidFill>
                <a:ea typeface="宋体" charset="-122"/>
              </a:rPr>
              <a:t>T</a:t>
            </a:r>
            <a:r>
              <a:rPr lang="zh-CN" altLang="en-US" b="1" dirty="0">
                <a:solidFill>
                  <a:srgbClr val="C00000"/>
                </a:solidFill>
                <a:ea typeface="宋体" charset="-122"/>
              </a:rPr>
              <a:t>多值依赖于</a:t>
            </a:r>
            <a:r>
              <a:rPr lang="en-US" altLang="zh-CN" b="1" dirty="0">
                <a:solidFill>
                  <a:srgbClr val="C00000"/>
                </a:solidFill>
                <a:ea typeface="宋体" charset="-122"/>
              </a:rPr>
              <a:t>C</a:t>
            </a:r>
            <a:r>
              <a:rPr lang="zh-CN" altLang="en-US" b="1" dirty="0">
                <a:solidFill>
                  <a:srgbClr val="C00000"/>
                </a:solidFill>
                <a:ea typeface="宋体" charset="-122"/>
              </a:rPr>
              <a:t>，</a:t>
            </a:r>
            <a:r>
              <a:rPr lang="zh-CN" altLang="en-US" b="1" dirty="0">
                <a:ea typeface="宋体" charset="-122"/>
              </a:rPr>
              <a:t>即</a:t>
            </a:r>
            <a:r>
              <a:rPr lang="en-US" altLang="zh-CN" dirty="0">
                <a:solidFill>
                  <a:srgbClr val="C00000"/>
                </a:solidFill>
                <a:ea typeface="宋体" charset="-122"/>
              </a:rPr>
              <a:t>C</a:t>
            </a:r>
            <a:r>
              <a:rPr lang="en-US" altLang="zh-CN" dirty="0">
                <a:solidFill>
                  <a:srgbClr val="C00000"/>
                </a:solidFill>
              </a:rPr>
              <a:t>→→T</a:t>
            </a:r>
            <a:endParaRPr lang="en-US" altLang="zh-CN" dirty="0"/>
          </a:p>
          <a:p>
            <a:r>
              <a:rPr lang="zh-CN" altLang="en-US" dirty="0"/>
              <a:t>衣着 （姓名，衣服，裤子）类似，可称为 </a:t>
            </a:r>
            <a:r>
              <a:rPr lang="zh-CN" altLang="en-US" dirty="0">
                <a:solidFill>
                  <a:schemeClr val="hlink"/>
                </a:solidFill>
              </a:rPr>
              <a:t>完全搭配依赖</a:t>
            </a:r>
          </a:p>
          <a:p>
            <a:endParaRPr lang="zh-CN" altLang="en-US" sz="1000" dirty="0"/>
          </a:p>
          <a:p>
            <a:endParaRPr lang="zh-CN" altLang="en-US" dirty="0"/>
          </a:p>
        </p:txBody>
      </p:sp>
      <p:grpSp>
        <p:nvGrpSpPr>
          <p:cNvPr id="7" name="Group 2"/>
          <p:cNvGrpSpPr>
            <a:grpSpLocks/>
          </p:cNvGrpSpPr>
          <p:nvPr/>
        </p:nvGrpSpPr>
        <p:grpSpPr bwMode="auto">
          <a:xfrm>
            <a:off x="2895600" y="4114800"/>
            <a:ext cx="5932488" cy="4264025"/>
            <a:chOff x="1344" y="1296"/>
            <a:chExt cx="3888" cy="2881"/>
          </a:xfrm>
        </p:grpSpPr>
        <p:sp>
          <p:nvSpPr>
            <p:cNvPr id="8" name="Rectangle 3"/>
            <p:cNvSpPr>
              <a:spLocks noChangeArrowheads="1"/>
            </p:cNvSpPr>
            <p:nvPr/>
          </p:nvSpPr>
          <p:spPr bwMode="auto">
            <a:xfrm>
              <a:off x="3936" y="1623"/>
              <a:ext cx="1296" cy="2554"/>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lnSpc>
                  <a:spcPct val="100000"/>
                </a:lnSpc>
                <a:spcBef>
                  <a:spcPct val="0"/>
                </a:spcBef>
                <a:buFont typeface="Wingdings" pitchFamily="2" charset="2"/>
                <a:buNone/>
              </a:pPr>
              <a:r>
                <a:rPr lang="zh-CN" altLang="en-US" sz="1800" b="1" dirty="0"/>
                <a:t>普通物理学</a:t>
              </a:r>
            </a:p>
            <a:p>
              <a:pPr algn="ctr">
                <a:lnSpc>
                  <a:spcPct val="100000"/>
                </a:lnSpc>
                <a:spcBef>
                  <a:spcPct val="0"/>
                </a:spcBef>
                <a:buFont typeface="Wingdings" pitchFamily="2" charset="2"/>
                <a:buNone/>
              </a:pPr>
              <a:r>
                <a:rPr lang="zh-CN" altLang="en-US" sz="1800" b="1" dirty="0">
                  <a:solidFill>
                    <a:srgbClr val="0000FF"/>
                  </a:solidFill>
                </a:rPr>
                <a:t>光学原理</a:t>
              </a:r>
            </a:p>
            <a:p>
              <a:pPr algn="ctr">
                <a:lnSpc>
                  <a:spcPct val="100000"/>
                </a:lnSpc>
                <a:spcBef>
                  <a:spcPct val="0"/>
                </a:spcBef>
                <a:buFont typeface="Wingdings" pitchFamily="2" charset="2"/>
                <a:buNone/>
              </a:pPr>
              <a:r>
                <a:rPr lang="zh-CN" altLang="en-US" sz="1800" b="1" dirty="0"/>
                <a:t>物理习题集</a:t>
              </a:r>
            </a:p>
            <a:p>
              <a:pPr algn="ctr">
                <a:lnSpc>
                  <a:spcPct val="100000"/>
                </a:lnSpc>
                <a:spcBef>
                  <a:spcPct val="0"/>
                </a:spcBef>
                <a:buFont typeface="Wingdings" pitchFamily="2" charset="2"/>
                <a:buNone/>
              </a:pPr>
              <a:r>
                <a:rPr lang="zh-CN" altLang="en-US" sz="1800" b="1" dirty="0"/>
                <a:t>普通物理学</a:t>
              </a:r>
            </a:p>
            <a:p>
              <a:pPr algn="ctr">
                <a:lnSpc>
                  <a:spcPct val="100000"/>
                </a:lnSpc>
                <a:spcBef>
                  <a:spcPct val="0"/>
                </a:spcBef>
                <a:buFont typeface="Wingdings" pitchFamily="2" charset="2"/>
                <a:buNone/>
              </a:pPr>
              <a:r>
                <a:rPr lang="zh-CN" altLang="en-US" sz="1800" b="1" dirty="0">
                  <a:solidFill>
                    <a:srgbClr val="0000FF"/>
                  </a:solidFill>
                </a:rPr>
                <a:t>光学原理</a:t>
              </a:r>
            </a:p>
            <a:p>
              <a:pPr algn="ctr">
                <a:lnSpc>
                  <a:spcPct val="100000"/>
                </a:lnSpc>
                <a:spcBef>
                  <a:spcPct val="0"/>
                </a:spcBef>
                <a:buFont typeface="Wingdings" pitchFamily="2" charset="2"/>
                <a:buNone/>
              </a:pPr>
              <a:r>
                <a:rPr lang="zh-CN" altLang="en-US" sz="1800" b="1" dirty="0"/>
                <a:t>物理习题集</a:t>
              </a:r>
            </a:p>
            <a:p>
              <a:pPr algn="ctr">
                <a:lnSpc>
                  <a:spcPct val="100000"/>
                </a:lnSpc>
                <a:spcBef>
                  <a:spcPct val="0"/>
                </a:spcBef>
                <a:buFont typeface="Wingdings" pitchFamily="2" charset="2"/>
                <a:buNone/>
              </a:pPr>
              <a:r>
                <a:rPr lang="zh-CN" altLang="en-US" sz="1800" b="1" dirty="0"/>
                <a:t>数学分析</a:t>
              </a:r>
            </a:p>
            <a:p>
              <a:pPr algn="ctr">
                <a:lnSpc>
                  <a:spcPct val="100000"/>
                </a:lnSpc>
                <a:spcBef>
                  <a:spcPct val="0"/>
                </a:spcBef>
                <a:buFont typeface="Wingdings" pitchFamily="2" charset="2"/>
                <a:buNone/>
              </a:pPr>
              <a:r>
                <a:rPr lang="zh-CN" altLang="en-US" sz="1800" b="1" dirty="0"/>
                <a:t>微分方程</a:t>
              </a:r>
            </a:p>
            <a:p>
              <a:pPr algn="ctr">
                <a:lnSpc>
                  <a:spcPct val="100000"/>
                </a:lnSpc>
                <a:spcBef>
                  <a:spcPct val="0"/>
                </a:spcBef>
                <a:buFont typeface="Wingdings" pitchFamily="2" charset="2"/>
                <a:buNone/>
              </a:pPr>
              <a:r>
                <a:rPr lang="zh-CN" altLang="en-US" sz="1800" b="1" dirty="0"/>
                <a:t>高等代数</a:t>
              </a:r>
            </a:p>
            <a:p>
              <a:pPr algn="ctr">
                <a:lnSpc>
                  <a:spcPct val="100000"/>
                </a:lnSpc>
                <a:spcBef>
                  <a:spcPct val="0"/>
                </a:spcBef>
                <a:buFont typeface="Wingdings" pitchFamily="2" charset="2"/>
                <a:buNone/>
              </a:pPr>
              <a:r>
                <a:rPr lang="zh-CN" altLang="en-US" sz="1800" b="1" dirty="0"/>
                <a:t>数学分析</a:t>
              </a:r>
            </a:p>
            <a:p>
              <a:pPr algn="ctr">
                <a:lnSpc>
                  <a:spcPct val="100000"/>
                </a:lnSpc>
                <a:spcBef>
                  <a:spcPct val="0"/>
                </a:spcBef>
                <a:buFont typeface="Wingdings" pitchFamily="2" charset="2"/>
                <a:buNone/>
              </a:pPr>
              <a:r>
                <a:rPr lang="zh-CN" altLang="en-US" sz="1800" b="1" dirty="0"/>
                <a:t>微分方程</a:t>
              </a:r>
            </a:p>
            <a:p>
              <a:pPr algn="ctr">
                <a:lnSpc>
                  <a:spcPct val="100000"/>
                </a:lnSpc>
                <a:spcBef>
                  <a:spcPct val="0"/>
                </a:spcBef>
                <a:buFont typeface="Wingdings" pitchFamily="2" charset="2"/>
                <a:buNone/>
              </a:pPr>
              <a:r>
                <a:rPr lang="zh-CN" altLang="en-US" sz="1800" b="1" dirty="0"/>
                <a:t>高等代数</a:t>
              </a:r>
            </a:p>
            <a:p>
              <a:pPr algn="ctr">
                <a:lnSpc>
                  <a:spcPct val="100000"/>
                </a:lnSpc>
                <a:spcBef>
                  <a:spcPct val="0"/>
                </a:spcBef>
                <a:buClrTx/>
                <a:buFontTx/>
                <a:buNone/>
              </a:pPr>
              <a:r>
                <a:rPr lang="en-US" altLang="zh-CN" sz="1800" b="1" dirty="0"/>
                <a:t>…</a:t>
              </a:r>
            </a:p>
          </p:txBody>
        </p:sp>
        <p:sp>
          <p:nvSpPr>
            <p:cNvPr id="9" name="Rectangle 4"/>
            <p:cNvSpPr>
              <a:spLocks noChangeArrowheads="1"/>
            </p:cNvSpPr>
            <p:nvPr/>
          </p:nvSpPr>
          <p:spPr bwMode="auto">
            <a:xfrm>
              <a:off x="2640" y="1623"/>
              <a:ext cx="1296" cy="2554"/>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lnSpc>
                  <a:spcPct val="100000"/>
                </a:lnSpc>
                <a:spcBef>
                  <a:spcPct val="0"/>
                </a:spcBef>
                <a:buFont typeface="Wingdings" pitchFamily="2" charset="2"/>
                <a:buNone/>
              </a:pPr>
              <a:r>
                <a:rPr lang="zh-CN" altLang="en-US" sz="1800" b="1" dirty="0"/>
                <a:t>李 勇</a:t>
              </a:r>
            </a:p>
            <a:p>
              <a:pPr algn="ctr">
                <a:lnSpc>
                  <a:spcPct val="100000"/>
                </a:lnSpc>
                <a:spcBef>
                  <a:spcPct val="0"/>
                </a:spcBef>
                <a:buFont typeface="Wingdings" pitchFamily="2" charset="2"/>
                <a:buNone/>
              </a:pPr>
              <a:r>
                <a:rPr lang="zh-CN" altLang="en-US" sz="1800" b="1" dirty="0">
                  <a:solidFill>
                    <a:srgbClr val="006600"/>
                  </a:solidFill>
                </a:rPr>
                <a:t>李 勇</a:t>
              </a:r>
            </a:p>
            <a:p>
              <a:pPr algn="ctr">
                <a:lnSpc>
                  <a:spcPct val="100000"/>
                </a:lnSpc>
                <a:spcBef>
                  <a:spcPct val="0"/>
                </a:spcBef>
                <a:buFont typeface="Wingdings" pitchFamily="2" charset="2"/>
                <a:buNone/>
              </a:pPr>
              <a:r>
                <a:rPr lang="zh-CN" altLang="en-US" sz="1800" b="1" dirty="0"/>
                <a:t>李 勇</a:t>
              </a:r>
            </a:p>
            <a:p>
              <a:pPr algn="ctr">
                <a:lnSpc>
                  <a:spcPct val="100000"/>
                </a:lnSpc>
                <a:spcBef>
                  <a:spcPct val="0"/>
                </a:spcBef>
                <a:buFont typeface="Wingdings" pitchFamily="2" charset="2"/>
                <a:buNone/>
              </a:pPr>
              <a:r>
                <a:rPr lang="zh-CN" altLang="en-US" sz="1800" b="1" dirty="0"/>
                <a:t>王 军</a:t>
              </a:r>
            </a:p>
            <a:p>
              <a:pPr algn="ctr">
                <a:lnSpc>
                  <a:spcPct val="100000"/>
                </a:lnSpc>
                <a:spcBef>
                  <a:spcPct val="0"/>
                </a:spcBef>
                <a:buFont typeface="Wingdings" pitchFamily="2" charset="2"/>
                <a:buNone/>
              </a:pPr>
              <a:r>
                <a:rPr lang="zh-CN" altLang="en-US" sz="1800" b="1" dirty="0">
                  <a:solidFill>
                    <a:srgbClr val="006600"/>
                  </a:solidFill>
                </a:rPr>
                <a:t>王 军</a:t>
              </a:r>
            </a:p>
            <a:p>
              <a:pPr algn="ctr">
                <a:lnSpc>
                  <a:spcPct val="100000"/>
                </a:lnSpc>
                <a:spcBef>
                  <a:spcPct val="0"/>
                </a:spcBef>
                <a:buFont typeface="Wingdings" pitchFamily="2" charset="2"/>
                <a:buNone/>
              </a:pPr>
              <a:r>
                <a:rPr lang="zh-CN" altLang="en-US" sz="1800" b="1" dirty="0"/>
                <a:t>王 军</a:t>
              </a:r>
            </a:p>
            <a:p>
              <a:pPr algn="ctr">
                <a:lnSpc>
                  <a:spcPct val="100000"/>
                </a:lnSpc>
                <a:spcBef>
                  <a:spcPct val="0"/>
                </a:spcBef>
                <a:buFont typeface="Wingdings" pitchFamily="2" charset="2"/>
                <a:buNone/>
              </a:pPr>
              <a:r>
                <a:rPr lang="zh-CN" altLang="en-US" sz="1800" b="1" dirty="0"/>
                <a:t>李 勇</a:t>
              </a:r>
            </a:p>
            <a:p>
              <a:pPr algn="ctr">
                <a:lnSpc>
                  <a:spcPct val="100000"/>
                </a:lnSpc>
                <a:spcBef>
                  <a:spcPct val="0"/>
                </a:spcBef>
                <a:buFont typeface="Wingdings" pitchFamily="2" charset="2"/>
                <a:buNone/>
              </a:pPr>
              <a:r>
                <a:rPr lang="zh-CN" altLang="en-US" sz="1800" b="1" dirty="0"/>
                <a:t>李 勇</a:t>
              </a:r>
            </a:p>
            <a:p>
              <a:pPr algn="ctr">
                <a:lnSpc>
                  <a:spcPct val="100000"/>
                </a:lnSpc>
                <a:spcBef>
                  <a:spcPct val="0"/>
                </a:spcBef>
                <a:buFont typeface="Wingdings" pitchFamily="2" charset="2"/>
                <a:buNone/>
              </a:pPr>
              <a:r>
                <a:rPr lang="zh-CN" altLang="en-US" sz="1800" b="1" dirty="0"/>
                <a:t>李 勇</a:t>
              </a:r>
            </a:p>
            <a:p>
              <a:pPr algn="ctr">
                <a:lnSpc>
                  <a:spcPct val="100000"/>
                </a:lnSpc>
                <a:spcBef>
                  <a:spcPct val="0"/>
                </a:spcBef>
                <a:buFont typeface="Wingdings" pitchFamily="2" charset="2"/>
                <a:buNone/>
              </a:pPr>
              <a:r>
                <a:rPr lang="zh-CN" altLang="en-US" sz="1800" b="1" dirty="0"/>
                <a:t>张 平</a:t>
              </a:r>
            </a:p>
            <a:p>
              <a:pPr algn="ctr">
                <a:lnSpc>
                  <a:spcPct val="100000"/>
                </a:lnSpc>
                <a:spcBef>
                  <a:spcPct val="0"/>
                </a:spcBef>
                <a:buFont typeface="Wingdings" pitchFamily="2" charset="2"/>
                <a:buNone/>
              </a:pPr>
              <a:r>
                <a:rPr lang="zh-CN" altLang="en-US" sz="1800" b="1" dirty="0"/>
                <a:t>张 平</a:t>
              </a:r>
            </a:p>
            <a:p>
              <a:pPr algn="ctr">
                <a:lnSpc>
                  <a:spcPct val="100000"/>
                </a:lnSpc>
                <a:spcBef>
                  <a:spcPct val="0"/>
                </a:spcBef>
                <a:buFont typeface="Wingdings" pitchFamily="2" charset="2"/>
                <a:buNone/>
              </a:pPr>
              <a:r>
                <a:rPr lang="zh-CN" altLang="en-US" sz="1800" b="1" dirty="0"/>
                <a:t>张 平</a:t>
              </a:r>
            </a:p>
            <a:p>
              <a:pPr algn="ctr">
                <a:lnSpc>
                  <a:spcPct val="100000"/>
                </a:lnSpc>
                <a:spcBef>
                  <a:spcPct val="0"/>
                </a:spcBef>
                <a:buClrTx/>
                <a:buFontTx/>
                <a:buNone/>
              </a:pPr>
              <a:r>
                <a:rPr lang="zh-CN" altLang="en-US" sz="1800" b="1" dirty="0"/>
                <a:t> </a:t>
              </a:r>
              <a:r>
                <a:rPr lang="en-US" altLang="zh-CN" sz="1800" b="1" dirty="0"/>
                <a:t>…</a:t>
              </a:r>
              <a:endParaRPr lang="en-US" altLang="zh-CN" sz="1800" dirty="0"/>
            </a:p>
          </p:txBody>
        </p:sp>
        <p:sp>
          <p:nvSpPr>
            <p:cNvPr id="10" name="Rectangle 5"/>
            <p:cNvSpPr>
              <a:spLocks noChangeArrowheads="1"/>
            </p:cNvSpPr>
            <p:nvPr/>
          </p:nvSpPr>
          <p:spPr bwMode="auto">
            <a:xfrm>
              <a:off x="1344" y="1623"/>
              <a:ext cx="1296" cy="2554"/>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lnSpc>
                  <a:spcPct val="100000"/>
                </a:lnSpc>
                <a:spcBef>
                  <a:spcPct val="0"/>
                </a:spcBef>
                <a:buFont typeface="Wingdings" pitchFamily="2" charset="2"/>
                <a:buNone/>
              </a:pPr>
              <a:r>
                <a:rPr lang="zh-CN" altLang="en-US" sz="1800" b="1" dirty="0">
                  <a:solidFill>
                    <a:srgbClr val="C00000"/>
                  </a:solidFill>
                </a:rPr>
                <a:t>物 理</a:t>
              </a:r>
            </a:p>
            <a:p>
              <a:pPr algn="ctr">
                <a:lnSpc>
                  <a:spcPct val="100000"/>
                </a:lnSpc>
                <a:spcBef>
                  <a:spcPct val="0"/>
                </a:spcBef>
                <a:buFont typeface="Wingdings" pitchFamily="2" charset="2"/>
                <a:buNone/>
              </a:pPr>
              <a:r>
                <a:rPr lang="zh-CN" altLang="en-US" sz="1800" b="1" dirty="0">
                  <a:solidFill>
                    <a:srgbClr val="C00000"/>
                  </a:solidFill>
                </a:rPr>
                <a:t>物 理</a:t>
              </a:r>
            </a:p>
            <a:p>
              <a:pPr algn="ctr">
                <a:lnSpc>
                  <a:spcPct val="100000"/>
                </a:lnSpc>
                <a:spcBef>
                  <a:spcPct val="0"/>
                </a:spcBef>
                <a:buFont typeface="Wingdings" pitchFamily="2" charset="2"/>
                <a:buNone/>
              </a:pPr>
              <a:r>
                <a:rPr lang="zh-CN" altLang="en-US" sz="1800" b="1" dirty="0">
                  <a:solidFill>
                    <a:srgbClr val="C00000"/>
                  </a:solidFill>
                </a:rPr>
                <a:t>物 理</a:t>
              </a:r>
            </a:p>
            <a:p>
              <a:pPr algn="ctr">
                <a:lnSpc>
                  <a:spcPct val="100000"/>
                </a:lnSpc>
                <a:spcBef>
                  <a:spcPct val="0"/>
                </a:spcBef>
                <a:buFont typeface="Wingdings" pitchFamily="2" charset="2"/>
                <a:buNone/>
              </a:pPr>
              <a:r>
                <a:rPr lang="zh-CN" altLang="en-US" sz="1800" b="1" dirty="0">
                  <a:solidFill>
                    <a:srgbClr val="C00000"/>
                  </a:solidFill>
                </a:rPr>
                <a:t>物 理</a:t>
              </a:r>
            </a:p>
            <a:p>
              <a:pPr algn="ctr">
                <a:lnSpc>
                  <a:spcPct val="100000"/>
                </a:lnSpc>
                <a:spcBef>
                  <a:spcPct val="0"/>
                </a:spcBef>
                <a:buFont typeface="Wingdings" pitchFamily="2" charset="2"/>
                <a:buNone/>
              </a:pPr>
              <a:r>
                <a:rPr lang="zh-CN" altLang="en-US" sz="1800" b="1" dirty="0">
                  <a:solidFill>
                    <a:srgbClr val="C00000"/>
                  </a:solidFill>
                </a:rPr>
                <a:t>物 理</a:t>
              </a:r>
            </a:p>
            <a:p>
              <a:pPr algn="ctr">
                <a:lnSpc>
                  <a:spcPct val="100000"/>
                </a:lnSpc>
                <a:spcBef>
                  <a:spcPct val="0"/>
                </a:spcBef>
                <a:buClrTx/>
                <a:buFontTx/>
                <a:buNone/>
              </a:pPr>
              <a:r>
                <a:rPr lang="zh-CN" altLang="en-US" sz="1800" b="1" dirty="0">
                  <a:solidFill>
                    <a:srgbClr val="C00000"/>
                  </a:solidFill>
                </a:rPr>
                <a:t>物 理</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zh-CN" altLang="en-US" sz="1800" b="1" dirty="0"/>
                <a:t>数 学</a:t>
              </a:r>
            </a:p>
            <a:p>
              <a:pPr algn="ctr">
                <a:lnSpc>
                  <a:spcPct val="100000"/>
                </a:lnSpc>
                <a:spcBef>
                  <a:spcPct val="0"/>
                </a:spcBef>
                <a:buClrTx/>
                <a:buFontTx/>
                <a:buNone/>
              </a:pPr>
              <a:r>
                <a:rPr lang="en-US" altLang="zh-CN" sz="1800" b="1" dirty="0"/>
                <a:t>… </a:t>
              </a:r>
            </a:p>
          </p:txBody>
        </p:sp>
        <p:sp>
          <p:nvSpPr>
            <p:cNvPr id="11" name="Rectangle 6"/>
            <p:cNvSpPr>
              <a:spLocks noChangeArrowheads="1"/>
            </p:cNvSpPr>
            <p:nvPr/>
          </p:nvSpPr>
          <p:spPr bwMode="auto">
            <a:xfrm>
              <a:off x="3936" y="1296"/>
              <a:ext cx="1296" cy="327"/>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100000"/>
                </a:lnSpc>
                <a:buFont typeface="Wingdings" pitchFamily="2" charset="2"/>
                <a:buNone/>
              </a:pPr>
              <a:r>
                <a:rPr lang="zh-CN" altLang="en-US" sz="2200"/>
                <a:t>参考书</a:t>
              </a:r>
              <a:r>
                <a:rPr lang="en-US" altLang="zh-CN" sz="2200"/>
                <a:t>B</a:t>
              </a:r>
            </a:p>
          </p:txBody>
        </p:sp>
        <p:sp>
          <p:nvSpPr>
            <p:cNvPr id="12" name="Rectangle 7"/>
            <p:cNvSpPr>
              <a:spLocks noChangeArrowheads="1"/>
            </p:cNvSpPr>
            <p:nvPr/>
          </p:nvSpPr>
          <p:spPr bwMode="auto">
            <a:xfrm>
              <a:off x="2640" y="1296"/>
              <a:ext cx="1296" cy="327"/>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100000"/>
                </a:lnSpc>
                <a:buFont typeface="Wingdings" pitchFamily="2" charset="2"/>
                <a:buNone/>
              </a:pPr>
              <a:r>
                <a:rPr lang="zh-CN" altLang="en-US" sz="2200"/>
                <a:t>教员</a:t>
              </a:r>
              <a:r>
                <a:rPr lang="en-US" altLang="zh-CN" sz="2200"/>
                <a:t>T</a:t>
              </a:r>
            </a:p>
          </p:txBody>
        </p:sp>
        <p:sp>
          <p:nvSpPr>
            <p:cNvPr id="13" name="Rectangle 8"/>
            <p:cNvSpPr>
              <a:spLocks noChangeArrowheads="1"/>
            </p:cNvSpPr>
            <p:nvPr/>
          </p:nvSpPr>
          <p:spPr bwMode="auto">
            <a:xfrm>
              <a:off x="1344" y="1296"/>
              <a:ext cx="1296" cy="327"/>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lIns="90000" tIns="46800" rIns="90000" bIns="46800"/>
            <a:lstStyle>
              <a:lvl1pPr algn="l" eaLnBrk="0" hangingPunct="0">
                <a:buChar char="v"/>
                <a:defRPr sz="2800">
                  <a:solidFill>
                    <a:schemeClr val="tx1"/>
                  </a:solidFill>
                  <a:latin typeface="Arial" charset="0"/>
                </a:defRPr>
              </a:lvl1pPr>
              <a:lvl2pPr marL="742950" indent="-285750" algn="l" eaLnBrk="0" hangingPunct="0">
                <a:buClr>
                  <a:schemeClr val="accent1"/>
                </a:buClr>
                <a:buChar char="§"/>
                <a:defRPr sz="2400">
                  <a:solidFill>
                    <a:schemeClr val="tx1"/>
                  </a:solidFill>
                  <a:latin typeface="Arial" charset="0"/>
                </a:defRPr>
              </a:lvl2pPr>
              <a:lvl3pPr marL="1143000" indent="-228600" algn="l" eaLnBrk="0" hangingPunct="0">
                <a:buClr>
                  <a:schemeClr val="tx1"/>
                </a:buClr>
                <a:buChar char="•"/>
                <a:defRPr sz="2200">
                  <a:solidFill>
                    <a:schemeClr val="tx1"/>
                  </a:solidFill>
                  <a:latin typeface="Arial" charset="0"/>
                </a:defRPr>
              </a:lvl3pPr>
              <a:lvl4pPr marL="1600200" indent="-228600" algn="l" eaLnBrk="0" hangingPunct="0">
                <a:buChar char="–"/>
                <a:defRPr sz="20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100000"/>
                </a:lnSpc>
                <a:buFont typeface="Wingdings" pitchFamily="2" charset="2"/>
                <a:buNone/>
              </a:pPr>
              <a:r>
                <a:rPr lang="zh-CN" altLang="en-US" sz="2200"/>
                <a:t>课程</a:t>
              </a:r>
              <a:r>
                <a:rPr lang="en-US" altLang="zh-CN" sz="2200"/>
                <a:t>C</a:t>
              </a:r>
            </a:p>
          </p:txBody>
        </p:sp>
        <p:sp>
          <p:nvSpPr>
            <p:cNvPr id="14" name="Line 9"/>
            <p:cNvSpPr>
              <a:spLocks noChangeShapeType="1"/>
            </p:cNvSpPr>
            <p:nvPr/>
          </p:nvSpPr>
          <p:spPr bwMode="auto">
            <a:xfrm>
              <a:off x="1344" y="1296"/>
              <a:ext cx="3888" cy="0"/>
            </a:xfrm>
            <a:prstGeom prst="line">
              <a:avLst/>
            </a:prstGeom>
            <a:ln/>
          </p:spPr>
          <p:style>
            <a:lnRef idx="2">
              <a:schemeClr val="accent1"/>
            </a:lnRef>
            <a:fillRef idx="1">
              <a:schemeClr val="lt1"/>
            </a:fillRef>
            <a:effectRef idx="0">
              <a:schemeClr val="accent1"/>
            </a:effectRef>
            <a:fontRef idx="minor">
              <a:schemeClr val="dk1"/>
            </a:fontRef>
          </p:style>
          <p:txBody>
            <a:bodyPr wrap="none" lIns="90000" tIns="46800" rIns="90000" bIns="46800" anchor="ctr"/>
            <a:lstStyle/>
            <a:p>
              <a:endParaRPr lang="zh-CN" altLang="en-US"/>
            </a:p>
          </p:txBody>
        </p:sp>
        <p:sp>
          <p:nvSpPr>
            <p:cNvPr id="15" name="Line 10"/>
            <p:cNvSpPr>
              <a:spLocks noChangeShapeType="1"/>
            </p:cNvSpPr>
            <p:nvPr/>
          </p:nvSpPr>
          <p:spPr bwMode="auto">
            <a:xfrm>
              <a:off x="1344" y="1623"/>
              <a:ext cx="3888" cy="0"/>
            </a:xfrm>
            <a:prstGeom prst="line">
              <a:avLst/>
            </a:prstGeom>
            <a:ln>
              <a:headEnd/>
              <a:tailEnd/>
            </a:ln>
          </p:spPr>
          <p:style>
            <a:lnRef idx="2">
              <a:schemeClr val="accent1"/>
            </a:lnRef>
            <a:fillRef idx="1">
              <a:schemeClr val="lt1"/>
            </a:fillRef>
            <a:effectRef idx="0">
              <a:schemeClr val="accent1"/>
            </a:effectRef>
            <a:fontRef idx="minor">
              <a:schemeClr val="dk1"/>
            </a:fontRef>
          </p:style>
          <p:txBody>
            <a:bodyPr wrap="none" lIns="90000" tIns="46800" rIns="90000" bIns="46800" anchor="ctr"/>
            <a:lstStyle/>
            <a:p>
              <a:endParaRPr lang="zh-CN" altLang="en-US"/>
            </a:p>
          </p:txBody>
        </p:sp>
        <p:sp>
          <p:nvSpPr>
            <p:cNvPr id="16" name="Line 11"/>
            <p:cNvSpPr>
              <a:spLocks noChangeShapeType="1"/>
            </p:cNvSpPr>
            <p:nvPr/>
          </p:nvSpPr>
          <p:spPr bwMode="auto">
            <a:xfrm>
              <a:off x="1344" y="4177"/>
              <a:ext cx="3888" cy="0"/>
            </a:xfrm>
            <a:prstGeom prst="line">
              <a:avLst/>
            </a:prstGeom>
            <a:ln>
              <a:headEnd/>
              <a:tailEnd/>
            </a:ln>
          </p:spPr>
          <p:style>
            <a:lnRef idx="2">
              <a:schemeClr val="accent1"/>
            </a:lnRef>
            <a:fillRef idx="1">
              <a:schemeClr val="lt1"/>
            </a:fillRef>
            <a:effectRef idx="0">
              <a:schemeClr val="accent1"/>
            </a:effectRef>
            <a:fontRef idx="minor">
              <a:schemeClr val="dk1"/>
            </a:fontRef>
          </p:style>
          <p:txBody>
            <a:bodyPr wrap="none" lIns="90000" tIns="46800" rIns="90000" bIns="46800" anchor="ctr"/>
            <a:lstStyle/>
            <a:p>
              <a:endParaRPr lang="zh-CN" altLang="en-US"/>
            </a:p>
          </p:txBody>
        </p:sp>
        <p:sp>
          <p:nvSpPr>
            <p:cNvPr id="17" name="Line 12"/>
            <p:cNvSpPr>
              <a:spLocks noChangeShapeType="1"/>
            </p:cNvSpPr>
            <p:nvPr/>
          </p:nvSpPr>
          <p:spPr bwMode="auto">
            <a:xfrm>
              <a:off x="2640" y="1296"/>
              <a:ext cx="0" cy="2881"/>
            </a:xfrm>
            <a:prstGeom prst="line">
              <a:avLst/>
            </a:prstGeom>
            <a:ln>
              <a:headEnd/>
              <a:tailEnd/>
            </a:ln>
          </p:spPr>
          <p:style>
            <a:lnRef idx="2">
              <a:schemeClr val="accent1"/>
            </a:lnRef>
            <a:fillRef idx="1">
              <a:schemeClr val="lt1"/>
            </a:fillRef>
            <a:effectRef idx="0">
              <a:schemeClr val="accent1"/>
            </a:effectRef>
            <a:fontRef idx="minor">
              <a:schemeClr val="dk1"/>
            </a:fontRef>
          </p:style>
          <p:txBody>
            <a:bodyPr wrap="none" lIns="90000" tIns="46800" rIns="90000" bIns="46800" anchor="ctr"/>
            <a:lstStyle/>
            <a:p>
              <a:endParaRPr lang="zh-CN" altLang="en-US"/>
            </a:p>
          </p:txBody>
        </p:sp>
        <p:sp>
          <p:nvSpPr>
            <p:cNvPr id="18" name="Line 13"/>
            <p:cNvSpPr>
              <a:spLocks noChangeShapeType="1"/>
            </p:cNvSpPr>
            <p:nvPr/>
          </p:nvSpPr>
          <p:spPr bwMode="auto">
            <a:xfrm>
              <a:off x="3936" y="1296"/>
              <a:ext cx="0" cy="2881"/>
            </a:xfrm>
            <a:prstGeom prst="line">
              <a:avLst/>
            </a:prstGeom>
            <a:ln>
              <a:headEnd/>
              <a:tailEnd/>
            </a:ln>
          </p:spPr>
          <p:style>
            <a:lnRef idx="2">
              <a:schemeClr val="accent1"/>
            </a:lnRef>
            <a:fillRef idx="1">
              <a:schemeClr val="lt1"/>
            </a:fillRef>
            <a:effectRef idx="0">
              <a:schemeClr val="accent1"/>
            </a:effectRef>
            <a:fontRef idx="minor">
              <a:schemeClr val="dk1"/>
            </a:fontRef>
          </p:style>
          <p:txBody>
            <a:bodyPr wrap="none" lIns="90000" tIns="46800" rIns="90000" bIns="46800" anchor="ctr"/>
            <a:lstStyle/>
            <a:p>
              <a:endParaRPr lang="zh-CN" altLang="en-US"/>
            </a:p>
          </p:txBody>
        </p:sp>
        <p:sp>
          <p:nvSpPr>
            <p:cNvPr id="19" name="Line 14"/>
            <p:cNvSpPr>
              <a:spLocks noChangeShapeType="1"/>
            </p:cNvSpPr>
            <p:nvPr/>
          </p:nvSpPr>
          <p:spPr bwMode="auto">
            <a:xfrm>
              <a:off x="5232" y="1296"/>
              <a:ext cx="0" cy="2881"/>
            </a:xfrm>
            <a:prstGeom prst="line">
              <a:avLst/>
            </a:prstGeom>
            <a:ln>
              <a:headEnd/>
              <a:tailEnd/>
            </a:ln>
          </p:spPr>
          <p:style>
            <a:lnRef idx="2">
              <a:schemeClr val="accent1"/>
            </a:lnRef>
            <a:fillRef idx="1">
              <a:schemeClr val="lt1"/>
            </a:fillRef>
            <a:effectRef idx="0">
              <a:schemeClr val="accent1"/>
            </a:effectRef>
            <a:fontRef idx="minor">
              <a:schemeClr val="dk1"/>
            </a:fontRef>
          </p:style>
          <p:txBody>
            <a:bodyPr wrap="none" lIns="90000" tIns="46800" rIns="90000" bIns="46800" anchor="ctr"/>
            <a:lstStyle/>
            <a:p>
              <a:endParaRPr lang="zh-CN" altLang="en-US"/>
            </a:p>
          </p:txBody>
        </p:sp>
        <p:sp>
          <p:nvSpPr>
            <p:cNvPr id="20" name="Line 15"/>
            <p:cNvSpPr>
              <a:spLocks noChangeShapeType="1"/>
            </p:cNvSpPr>
            <p:nvPr/>
          </p:nvSpPr>
          <p:spPr bwMode="auto">
            <a:xfrm>
              <a:off x="1344" y="1623"/>
              <a:ext cx="0" cy="2554"/>
            </a:xfrm>
            <a:prstGeom prst="line">
              <a:avLst/>
            </a:prstGeom>
            <a:ln>
              <a:headEnd/>
              <a:tailEnd/>
            </a:ln>
          </p:spPr>
          <p:style>
            <a:lnRef idx="2">
              <a:schemeClr val="accent1"/>
            </a:lnRef>
            <a:fillRef idx="1">
              <a:schemeClr val="lt1"/>
            </a:fillRef>
            <a:effectRef idx="0">
              <a:schemeClr val="accent1"/>
            </a:effectRef>
            <a:fontRef idx="minor">
              <a:schemeClr val="dk1"/>
            </a:fontRef>
          </p:style>
          <p:txBody>
            <a:bodyPr wrap="none" lIns="90000" tIns="46800" rIns="90000" bIns="46800" anchor="ctr"/>
            <a:lstStyle/>
            <a:p>
              <a:endParaRPr lang="zh-CN" altLang="en-US"/>
            </a:p>
          </p:txBody>
        </p:sp>
        <p:sp>
          <p:nvSpPr>
            <p:cNvPr id="21" name="Line 16"/>
            <p:cNvSpPr>
              <a:spLocks noChangeShapeType="1"/>
            </p:cNvSpPr>
            <p:nvPr/>
          </p:nvSpPr>
          <p:spPr bwMode="auto">
            <a:xfrm>
              <a:off x="1344" y="1296"/>
              <a:ext cx="0" cy="327"/>
            </a:xfrm>
            <a:prstGeom prst="line">
              <a:avLst/>
            </a:prstGeom>
            <a:ln>
              <a:headEnd/>
              <a:tailEnd/>
            </a:ln>
          </p:spPr>
          <p:style>
            <a:lnRef idx="2">
              <a:schemeClr val="accent1"/>
            </a:lnRef>
            <a:fillRef idx="1">
              <a:schemeClr val="lt1"/>
            </a:fillRef>
            <a:effectRef idx="0">
              <a:schemeClr val="accent1"/>
            </a:effectRef>
            <a:fontRef idx="minor">
              <a:schemeClr val="dk1"/>
            </a:fontRef>
          </p:style>
          <p:txBody>
            <a:bodyPr wrap="none" lIns="90000" tIns="46800" rIns="90000" bIns="46800" anchor="ctr"/>
            <a:lstStyle/>
            <a:p>
              <a:endParaRPr lang="zh-CN" altLang="en-US"/>
            </a:p>
          </p:txBody>
        </p:sp>
      </p:grpSp>
      <p:sp>
        <p:nvSpPr>
          <p:cNvPr id="3" name="页脚占位符 2">
            <a:extLst>
              <a:ext uri="{FF2B5EF4-FFF2-40B4-BE49-F238E27FC236}">
                <a16:creationId xmlns:a16="http://schemas.microsoft.com/office/drawing/2014/main" id="{3AFDF7BF-FD49-11A0-61F0-0038F7292CFF}"/>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410D4B21-5F44-C632-0EB4-4AFE0F483038}"/>
              </a:ext>
            </a:extLst>
          </p:cNvPr>
          <p:cNvSpPr>
            <a:spLocks noGrp="1"/>
          </p:cNvSpPr>
          <p:nvPr>
            <p:ph type="sldNum" sz="quarter" idx="12"/>
          </p:nvPr>
        </p:nvSpPr>
        <p:spPr/>
        <p:txBody>
          <a:bodyPr/>
          <a:lstStyle/>
          <a:p>
            <a:fld id="{A2D74603-B40B-4D66-8F6E-41C870D48932}" type="slidenum">
              <a:rPr lang="en-US" altLang="zh-CN" smtClean="0"/>
              <a:pPr/>
              <a:t>86</a:t>
            </a:fld>
            <a:r>
              <a:rPr lang="en-US" altLang="zh-CN"/>
              <a:t>/162</a:t>
            </a:r>
            <a:endParaRPr lang="en-US" altLang="zh-CN" dirty="0"/>
          </a:p>
        </p:txBody>
      </p:sp>
    </p:spTree>
    <p:extLst>
      <p:ext uri="{BB962C8B-B14F-4D97-AF65-F5344CB8AC3E}">
        <p14:creationId xmlns:p14="http://schemas.microsoft.com/office/powerpoint/2010/main" val="41591618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B6FC502-877F-4D32-B9D8-4E483DBD16EE}" type="datetime1">
              <a:rPr lang="zh-CN" altLang="en-US" smtClean="0"/>
              <a:t>2025/11/6</a:t>
            </a:fld>
            <a:endParaRPr lang="en-US" altLang="zh-CN"/>
          </a:p>
        </p:txBody>
      </p:sp>
      <p:sp>
        <p:nvSpPr>
          <p:cNvPr id="302082" name="Rectangle 2"/>
          <p:cNvSpPr>
            <a:spLocks noGrp="1" noChangeArrowheads="1"/>
          </p:cNvSpPr>
          <p:nvPr>
            <p:ph type="title"/>
          </p:nvPr>
        </p:nvSpPr>
        <p:spPr/>
        <p:txBody>
          <a:bodyPr/>
          <a:lstStyle/>
          <a:p>
            <a:r>
              <a:rPr lang="en-US" altLang="zh-CN" dirty="0"/>
              <a:t>8.2.7 </a:t>
            </a:r>
            <a:r>
              <a:rPr lang="zh-CN" altLang="en-US" dirty="0"/>
              <a:t>多值依赖</a:t>
            </a:r>
          </a:p>
        </p:txBody>
      </p:sp>
      <p:sp>
        <p:nvSpPr>
          <p:cNvPr id="302083" name="Rectangle 3"/>
          <p:cNvSpPr>
            <a:spLocks noGrp="1" noChangeArrowheads="1"/>
          </p:cNvSpPr>
          <p:nvPr>
            <p:ph type="body" idx="1"/>
          </p:nvPr>
        </p:nvSpPr>
        <p:spPr/>
        <p:txBody>
          <a:bodyPr/>
          <a:lstStyle/>
          <a:p>
            <a:r>
              <a:rPr lang="zh-CN" altLang="en-US" dirty="0"/>
              <a:t>不是多值依赖的例子：</a:t>
            </a:r>
          </a:p>
          <a:p>
            <a:pPr lvl="1"/>
            <a:r>
              <a:rPr lang="zh-CN" altLang="en-US" dirty="0"/>
              <a:t>学生选课表</a:t>
            </a:r>
            <a:r>
              <a:rPr lang="en-US" altLang="zh-CN" dirty="0"/>
              <a:t>SC</a:t>
            </a:r>
            <a:r>
              <a:rPr lang="zh-CN" altLang="en-US" dirty="0"/>
              <a:t>（</a:t>
            </a:r>
            <a:r>
              <a:rPr lang="en-US" altLang="zh-CN" dirty="0" err="1"/>
              <a:t>Sno</a:t>
            </a:r>
            <a:r>
              <a:rPr lang="zh-CN" altLang="en-US" dirty="0"/>
              <a:t>，</a:t>
            </a:r>
            <a:r>
              <a:rPr lang="en-US" altLang="zh-CN" dirty="0" err="1"/>
              <a:t>Cno</a:t>
            </a:r>
            <a:r>
              <a:rPr lang="zh-CN" altLang="en-US" dirty="0"/>
              <a:t>，</a:t>
            </a:r>
            <a:r>
              <a:rPr lang="en-US" altLang="zh-CN" dirty="0"/>
              <a:t>G</a:t>
            </a:r>
            <a:r>
              <a:rPr lang="zh-CN" altLang="en-US" dirty="0"/>
              <a:t>）中</a:t>
            </a:r>
          </a:p>
          <a:p>
            <a:pPr lvl="2">
              <a:spcBef>
                <a:spcPct val="35000"/>
              </a:spcBef>
            </a:pPr>
            <a:r>
              <a:rPr lang="zh-CN" altLang="en-US" sz="2800" dirty="0"/>
              <a:t>一个</a:t>
            </a:r>
            <a:r>
              <a:rPr lang="en-US" altLang="zh-CN" sz="2800" dirty="0" err="1"/>
              <a:t>Sno</a:t>
            </a:r>
            <a:r>
              <a:rPr lang="zh-CN" altLang="en-US" sz="2800" dirty="0"/>
              <a:t>（一个学生）有一组</a:t>
            </a:r>
            <a:r>
              <a:rPr lang="en-US" altLang="zh-CN" sz="2800" dirty="0" err="1"/>
              <a:t>Cno</a:t>
            </a:r>
            <a:r>
              <a:rPr lang="zh-CN" altLang="en-US" sz="2800" dirty="0"/>
              <a:t>（选了一组课程）和一组</a:t>
            </a:r>
            <a:r>
              <a:rPr lang="en-US" altLang="zh-CN" sz="2800" dirty="0"/>
              <a:t>G</a:t>
            </a:r>
            <a:r>
              <a:rPr lang="zh-CN" altLang="en-US" sz="2800" dirty="0"/>
              <a:t>（有一组成绩），但</a:t>
            </a:r>
            <a:r>
              <a:rPr lang="en-US" altLang="zh-CN" sz="2800" dirty="0" err="1">
                <a:solidFill>
                  <a:srgbClr val="0000FF"/>
                </a:solidFill>
              </a:rPr>
              <a:t>Cno</a:t>
            </a:r>
            <a:r>
              <a:rPr lang="zh-CN" altLang="en-US" sz="2800" dirty="0">
                <a:solidFill>
                  <a:srgbClr val="0000FF"/>
                </a:solidFill>
              </a:rPr>
              <a:t>与</a:t>
            </a:r>
            <a:r>
              <a:rPr lang="en-US" altLang="zh-CN" sz="2800" dirty="0">
                <a:solidFill>
                  <a:srgbClr val="0000FF"/>
                </a:solidFill>
              </a:rPr>
              <a:t>G</a:t>
            </a:r>
            <a:r>
              <a:rPr lang="zh-CN" altLang="en-US" sz="2800" b="1" dirty="0">
                <a:solidFill>
                  <a:schemeClr val="tx2"/>
                </a:solidFill>
              </a:rPr>
              <a:t>有关</a:t>
            </a:r>
            <a:r>
              <a:rPr lang="zh-CN" altLang="en-US" sz="2800" dirty="0"/>
              <a:t>（</a:t>
            </a:r>
            <a:r>
              <a:rPr lang="zh-CN" altLang="en-US" sz="2800" dirty="0">
                <a:solidFill>
                  <a:srgbClr val="0000FF"/>
                </a:solidFill>
              </a:rPr>
              <a:t>成绩与课程有关</a:t>
            </a:r>
            <a:r>
              <a:rPr lang="zh-CN" altLang="en-US" sz="2800" dirty="0"/>
              <a:t>），所以</a:t>
            </a:r>
            <a:r>
              <a:rPr lang="zh-CN" altLang="en-US" sz="2800" b="1" dirty="0">
                <a:solidFill>
                  <a:srgbClr val="C00000"/>
                </a:solidFill>
              </a:rPr>
              <a:t>没有</a:t>
            </a:r>
            <a:r>
              <a:rPr lang="en-US" altLang="zh-CN" sz="2800" dirty="0" err="1"/>
              <a:t>Sno</a:t>
            </a:r>
            <a:r>
              <a:rPr lang="en-US" altLang="zh-CN" dirty="0"/>
              <a:t>→→</a:t>
            </a:r>
            <a:r>
              <a:rPr lang="en-US" altLang="zh-CN" dirty="0" err="1"/>
              <a:t>Cno</a:t>
            </a:r>
            <a:r>
              <a:rPr lang="zh-CN" altLang="en-US" dirty="0"/>
              <a:t>，以及</a:t>
            </a:r>
            <a:r>
              <a:rPr lang="en-US" altLang="zh-CN" dirty="0" err="1"/>
              <a:t>Sno</a:t>
            </a:r>
            <a:r>
              <a:rPr lang="en-US" altLang="zh-CN" dirty="0"/>
              <a:t>→→G</a:t>
            </a:r>
            <a:r>
              <a:rPr lang="zh-CN" altLang="en-US" dirty="0"/>
              <a:t>。</a:t>
            </a:r>
          </a:p>
          <a:p>
            <a:pPr lvl="2">
              <a:spcBef>
                <a:spcPct val="35000"/>
              </a:spcBef>
            </a:pPr>
            <a:r>
              <a:rPr lang="zh-CN" altLang="en-US" sz="2800" dirty="0"/>
              <a:t>也就是说一个学生选的一组</a:t>
            </a:r>
            <a:r>
              <a:rPr lang="zh-CN" altLang="en-US" sz="2800" dirty="0">
                <a:solidFill>
                  <a:srgbClr val="FF0000"/>
                </a:solidFill>
              </a:rPr>
              <a:t>课程</a:t>
            </a:r>
            <a:r>
              <a:rPr lang="zh-CN" altLang="en-US" sz="2800" dirty="0"/>
              <a:t>和一组</a:t>
            </a:r>
            <a:r>
              <a:rPr lang="zh-CN" altLang="en-US" sz="2800" dirty="0">
                <a:solidFill>
                  <a:srgbClr val="FF0000"/>
                </a:solidFill>
              </a:rPr>
              <a:t>成绩没有形成完全搭配</a:t>
            </a:r>
            <a:r>
              <a:rPr lang="zh-CN" altLang="en-US" sz="2800" dirty="0"/>
              <a:t>。</a:t>
            </a:r>
          </a:p>
          <a:p>
            <a:endParaRPr lang="zh-CN" altLang="en-US" dirty="0"/>
          </a:p>
        </p:txBody>
      </p:sp>
      <p:sp>
        <p:nvSpPr>
          <p:cNvPr id="3" name="页脚占位符 2">
            <a:extLst>
              <a:ext uri="{FF2B5EF4-FFF2-40B4-BE49-F238E27FC236}">
                <a16:creationId xmlns:a16="http://schemas.microsoft.com/office/drawing/2014/main" id="{3120EA23-D577-2E5B-AD37-41F6BA807095}"/>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4FAA63F6-0DCD-9B7C-61B1-DC0BA5EBAE93}"/>
              </a:ext>
            </a:extLst>
          </p:cNvPr>
          <p:cNvSpPr>
            <a:spLocks noGrp="1"/>
          </p:cNvSpPr>
          <p:nvPr>
            <p:ph type="sldNum" sz="quarter" idx="12"/>
          </p:nvPr>
        </p:nvSpPr>
        <p:spPr/>
        <p:txBody>
          <a:bodyPr/>
          <a:lstStyle/>
          <a:p>
            <a:fld id="{A2D74603-B40B-4D66-8F6E-41C870D48932}" type="slidenum">
              <a:rPr lang="en-US" altLang="zh-CN" smtClean="0"/>
              <a:pPr/>
              <a:t>87</a:t>
            </a:fld>
            <a:r>
              <a:rPr lang="en-US" altLang="zh-CN"/>
              <a:t>/162</a:t>
            </a:r>
            <a:endParaRPr lang="en-US" altLang="zh-CN" dirty="0"/>
          </a:p>
        </p:txBody>
      </p:sp>
    </p:spTree>
    <p:extLst>
      <p:ext uri="{BB962C8B-B14F-4D97-AF65-F5344CB8AC3E}">
        <p14:creationId xmlns:p14="http://schemas.microsoft.com/office/powerpoint/2010/main" val="3465879934"/>
      </p:ext>
    </p:extLst>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E7339C1F-E7E2-420E-96DF-1803F74779F9}" type="datetime1">
              <a:rPr lang="zh-CN" altLang="en-US" smtClean="0"/>
              <a:t>2025/11/6</a:t>
            </a:fld>
            <a:endParaRPr lang="en-US" altLang="zh-CN"/>
          </a:p>
        </p:txBody>
      </p:sp>
      <p:sp>
        <p:nvSpPr>
          <p:cNvPr id="303106" name="Rectangle 2"/>
          <p:cNvSpPr>
            <a:spLocks noGrp="1" noChangeArrowheads="1"/>
          </p:cNvSpPr>
          <p:nvPr>
            <p:ph type="title"/>
          </p:nvPr>
        </p:nvSpPr>
        <p:spPr/>
        <p:txBody>
          <a:bodyPr/>
          <a:lstStyle/>
          <a:p>
            <a:r>
              <a:rPr lang="en-US" altLang="zh-CN" dirty="0"/>
              <a:t>8.2.7 </a:t>
            </a:r>
            <a:r>
              <a:rPr lang="zh-CN" altLang="en-US" dirty="0"/>
              <a:t>多值依赖</a:t>
            </a:r>
          </a:p>
        </p:txBody>
      </p:sp>
      <p:sp>
        <p:nvSpPr>
          <p:cNvPr id="303107" name="Rectangle 3"/>
          <p:cNvSpPr>
            <a:spLocks noGrp="1" noChangeArrowheads="1"/>
          </p:cNvSpPr>
          <p:nvPr>
            <p:ph type="body" idx="1"/>
          </p:nvPr>
        </p:nvSpPr>
        <p:spPr/>
        <p:txBody>
          <a:bodyPr/>
          <a:lstStyle/>
          <a:p>
            <a:pPr>
              <a:lnSpc>
                <a:spcPct val="90000"/>
              </a:lnSpc>
              <a:buFont typeface="Wingdings" pitchFamily="2" charset="2"/>
              <a:buNone/>
            </a:pPr>
            <a:r>
              <a:rPr lang="zh-CN" altLang="en-US" sz="2800" b="1" dirty="0"/>
              <a:t>平凡的多值依赖：</a:t>
            </a:r>
          </a:p>
          <a:p>
            <a:pPr>
              <a:lnSpc>
                <a:spcPct val="90000"/>
              </a:lnSpc>
              <a:buFont typeface="Wingdings" pitchFamily="2" charset="2"/>
              <a:buNone/>
            </a:pPr>
            <a:r>
              <a:rPr lang="zh-CN" altLang="en-US" sz="2400" dirty="0"/>
              <a:t>	若</a:t>
            </a:r>
            <a:r>
              <a:rPr lang="en-US" altLang="zh-CN" sz="2400" dirty="0"/>
              <a:t>X→→Y</a:t>
            </a:r>
            <a:r>
              <a:rPr lang="zh-CN" altLang="en-US" sz="2400" dirty="0"/>
              <a:t>，而</a:t>
            </a:r>
            <a:r>
              <a:rPr lang="en-US" altLang="zh-CN" sz="2400" b="1" dirty="0">
                <a:solidFill>
                  <a:srgbClr val="FF0000"/>
                </a:solidFill>
              </a:rPr>
              <a:t>Z=</a:t>
            </a:r>
            <a:r>
              <a:rPr lang="en-US" altLang="zh-CN" sz="2400" b="1" dirty="0">
                <a:solidFill>
                  <a:srgbClr val="FF0000"/>
                </a:solidFill>
                <a:sym typeface="Symbol" pitchFamily="18" charset="2"/>
              </a:rPr>
              <a:t></a:t>
            </a:r>
            <a:r>
              <a:rPr lang="zh-CN" altLang="en-US" sz="2400" dirty="0">
                <a:sym typeface="Symbol" pitchFamily="18" charset="2"/>
              </a:rPr>
              <a:t>；则称</a:t>
            </a:r>
            <a:r>
              <a:rPr lang="en-US" altLang="zh-CN" sz="2400" dirty="0">
                <a:sym typeface="Symbol" pitchFamily="18" charset="2"/>
              </a:rPr>
              <a:t>X </a:t>
            </a:r>
            <a:r>
              <a:rPr lang="en-US" altLang="zh-CN" sz="2400" dirty="0"/>
              <a:t>→→Y</a:t>
            </a:r>
            <a:r>
              <a:rPr lang="zh-CN" altLang="en-US" sz="2400" dirty="0">
                <a:sym typeface="Symbol" pitchFamily="18" charset="2"/>
              </a:rPr>
              <a:t>是</a:t>
            </a:r>
            <a:r>
              <a:rPr lang="zh-CN" altLang="en-US" sz="2400" u="sng" dirty="0">
                <a:solidFill>
                  <a:srgbClr val="C00000"/>
                </a:solidFill>
                <a:sym typeface="Symbol" pitchFamily="18" charset="2"/>
              </a:rPr>
              <a:t>平凡</a:t>
            </a:r>
            <a:r>
              <a:rPr lang="zh-CN" altLang="en-US" sz="2400" u="sng" dirty="0">
                <a:sym typeface="Symbol" pitchFamily="18" charset="2"/>
              </a:rPr>
              <a:t>的多值依赖</a:t>
            </a:r>
            <a:r>
              <a:rPr lang="zh-CN" altLang="en-US" sz="2400" dirty="0">
                <a:sym typeface="Symbol" pitchFamily="18" charset="2"/>
              </a:rPr>
              <a:t>。</a:t>
            </a:r>
          </a:p>
          <a:p>
            <a:pPr>
              <a:lnSpc>
                <a:spcPct val="90000"/>
              </a:lnSpc>
              <a:spcBef>
                <a:spcPct val="60000"/>
              </a:spcBef>
              <a:buFont typeface="Wingdings" pitchFamily="2" charset="2"/>
              <a:buNone/>
            </a:pPr>
            <a:r>
              <a:rPr lang="zh-CN" altLang="en-US" sz="2800" b="1" dirty="0">
                <a:sym typeface="Symbol" pitchFamily="18" charset="2"/>
              </a:rPr>
              <a:t>多值依赖的性质：</a:t>
            </a:r>
          </a:p>
          <a:p>
            <a:pPr>
              <a:lnSpc>
                <a:spcPct val="90000"/>
              </a:lnSpc>
              <a:spcBef>
                <a:spcPct val="30000"/>
              </a:spcBef>
              <a:buFont typeface="Wingdings" pitchFamily="2" charset="2"/>
              <a:buNone/>
            </a:pPr>
            <a:r>
              <a:rPr lang="en-US" altLang="zh-CN" sz="2400" dirty="0">
                <a:sym typeface="Symbol" pitchFamily="18" charset="2"/>
              </a:rPr>
              <a:t>1</a:t>
            </a:r>
            <a:r>
              <a:rPr lang="zh-CN" altLang="en-US" sz="2400" dirty="0">
                <a:sym typeface="Symbol" pitchFamily="18" charset="2"/>
              </a:rPr>
              <a:t>、</a:t>
            </a:r>
            <a:r>
              <a:rPr lang="zh-CN" altLang="en-US" sz="2400" dirty="0">
                <a:solidFill>
                  <a:srgbClr val="0000FF"/>
                </a:solidFill>
                <a:sym typeface="Symbol" pitchFamily="18" charset="2"/>
              </a:rPr>
              <a:t>对称</a:t>
            </a:r>
            <a:r>
              <a:rPr lang="en-US" altLang="zh-CN" sz="2400" dirty="0">
                <a:solidFill>
                  <a:srgbClr val="0000FF"/>
                </a:solidFill>
                <a:sym typeface="Symbol" pitchFamily="18" charset="2"/>
              </a:rPr>
              <a:t>(</a:t>
            </a:r>
            <a:r>
              <a:rPr lang="zh-CN" altLang="en-US" sz="2400" dirty="0">
                <a:solidFill>
                  <a:srgbClr val="0000FF"/>
                </a:solidFill>
                <a:sym typeface="Symbol" pitchFamily="18" charset="2"/>
              </a:rPr>
              <a:t>互补</a:t>
            </a:r>
            <a:r>
              <a:rPr lang="en-US" altLang="zh-CN" sz="2400" dirty="0">
                <a:solidFill>
                  <a:srgbClr val="0000FF"/>
                </a:solidFill>
                <a:sym typeface="Symbol" pitchFamily="18" charset="2"/>
              </a:rPr>
              <a:t>)</a:t>
            </a:r>
            <a:r>
              <a:rPr lang="zh-CN" altLang="en-US" sz="2400" dirty="0">
                <a:solidFill>
                  <a:srgbClr val="0000FF"/>
                </a:solidFill>
                <a:sym typeface="Symbol" pitchFamily="18" charset="2"/>
              </a:rPr>
              <a:t>性</a:t>
            </a:r>
            <a:r>
              <a:rPr lang="zh-CN" altLang="en-US" sz="2400" dirty="0">
                <a:sym typeface="Symbol" pitchFamily="18" charset="2"/>
              </a:rPr>
              <a:t>：若</a:t>
            </a:r>
            <a:r>
              <a:rPr lang="en-US" altLang="zh-CN" sz="2400" dirty="0">
                <a:sym typeface="Symbol" pitchFamily="18" charset="2"/>
              </a:rPr>
              <a:t>X </a:t>
            </a:r>
            <a:r>
              <a:rPr lang="en-US" altLang="zh-CN" sz="2400" dirty="0"/>
              <a:t>→→</a:t>
            </a:r>
            <a:r>
              <a:rPr lang="en-US" altLang="zh-CN" sz="2400" dirty="0">
                <a:sym typeface="Symbol" pitchFamily="18" charset="2"/>
              </a:rPr>
              <a:t> Y</a:t>
            </a:r>
            <a:r>
              <a:rPr lang="zh-CN" altLang="en-US" sz="2400" dirty="0">
                <a:sym typeface="Symbol" pitchFamily="18" charset="2"/>
              </a:rPr>
              <a:t>；</a:t>
            </a:r>
            <a:r>
              <a:rPr lang="zh-CN" altLang="en-US" sz="2400" dirty="0">
                <a:solidFill>
                  <a:srgbClr val="C00000"/>
                </a:solidFill>
                <a:sym typeface="Symbol" pitchFamily="18" charset="2"/>
              </a:rPr>
              <a:t>则</a:t>
            </a:r>
            <a:r>
              <a:rPr lang="en-US" altLang="zh-CN" sz="2400" dirty="0">
                <a:sym typeface="Symbol" pitchFamily="18" charset="2"/>
              </a:rPr>
              <a:t>X </a:t>
            </a:r>
            <a:r>
              <a:rPr lang="en-US" altLang="zh-CN" sz="2400" dirty="0"/>
              <a:t>→→</a:t>
            </a:r>
            <a:r>
              <a:rPr lang="en-US" altLang="zh-CN" sz="2400" dirty="0">
                <a:sym typeface="Symbol" pitchFamily="18" charset="2"/>
              </a:rPr>
              <a:t> Z</a:t>
            </a:r>
            <a:r>
              <a:rPr lang="zh-CN" altLang="en-US" sz="2400" dirty="0">
                <a:sym typeface="Symbol" pitchFamily="18" charset="2"/>
              </a:rPr>
              <a:t>，其中</a:t>
            </a:r>
            <a:r>
              <a:rPr lang="en-US" altLang="zh-CN" sz="2400" dirty="0">
                <a:solidFill>
                  <a:srgbClr val="C00000"/>
                </a:solidFill>
                <a:sym typeface="Symbol" pitchFamily="18" charset="2"/>
              </a:rPr>
              <a:t>Z=U-X-Y</a:t>
            </a:r>
            <a:r>
              <a:rPr lang="zh-CN" altLang="en-US" sz="2400" dirty="0">
                <a:sym typeface="Symbol" pitchFamily="18" charset="2"/>
              </a:rPr>
              <a:t>。</a:t>
            </a:r>
          </a:p>
          <a:p>
            <a:pPr>
              <a:lnSpc>
                <a:spcPct val="90000"/>
              </a:lnSpc>
              <a:spcBef>
                <a:spcPct val="30000"/>
              </a:spcBef>
              <a:buFont typeface="Wingdings" pitchFamily="2" charset="2"/>
              <a:buNone/>
            </a:pPr>
            <a:r>
              <a:rPr lang="en-US" altLang="zh-CN" sz="2400" dirty="0">
                <a:sym typeface="Symbol" pitchFamily="18" charset="2"/>
              </a:rPr>
              <a:t>2</a:t>
            </a:r>
            <a:r>
              <a:rPr lang="zh-CN" altLang="en-US" sz="2400" dirty="0">
                <a:sym typeface="Symbol" pitchFamily="18" charset="2"/>
              </a:rPr>
              <a:t>、</a:t>
            </a:r>
            <a:r>
              <a:rPr lang="zh-CN" altLang="en-US" sz="2400" dirty="0">
                <a:solidFill>
                  <a:srgbClr val="0000FF"/>
                </a:solidFill>
                <a:sym typeface="Symbol" pitchFamily="18" charset="2"/>
              </a:rPr>
              <a:t>传递性</a:t>
            </a:r>
            <a:r>
              <a:rPr lang="zh-CN" altLang="en-US" sz="2400" dirty="0">
                <a:sym typeface="Symbol" pitchFamily="18" charset="2"/>
              </a:rPr>
              <a:t>：若</a:t>
            </a:r>
            <a:r>
              <a:rPr lang="en-US" altLang="zh-CN" sz="2400" dirty="0">
                <a:sym typeface="Symbol" pitchFamily="18" charset="2"/>
              </a:rPr>
              <a:t>X </a:t>
            </a:r>
            <a:r>
              <a:rPr lang="en-US" altLang="zh-CN" sz="2400" dirty="0"/>
              <a:t>→→</a:t>
            </a:r>
            <a:r>
              <a:rPr lang="en-US" altLang="zh-CN" sz="2400" dirty="0">
                <a:sym typeface="Symbol" pitchFamily="18" charset="2"/>
              </a:rPr>
              <a:t> Y</a:t>
            </a:r>
            <a:r>
              <a:rPr lang="zh-CN" altLang="en-US" sz="2400" dirty="0">
                <a:sym typeface="Symbol" pitchFamily="18" charset="2"/>
              </a:rPr>
              <a:t>，</a:t>
            </a:r>
            <a:r>
              <a:rPr lang="en-US" altLang="zh-CN" sz="2400" dirty="0">
                <a:sym typeface="Symbol" pitchFamily="18" charset="2"/>
              </a:rPr>
              <a:t>Y </a:t>
            </a:r>
            <a:r>
              <a:rPr lang="en-US" altLang="zh-CN" sz="2400" dirty="0"/>
              <a:t>→→</a:t>
            </a:r>
            <a:r>
              <a:rPr lang="en-US" altLang="zh-CN" sz="2400" dirty="0">
                <a:sym typeface="Symbol" pitchFamily="18" charset="2"/>
              </a:rPr>
              <a:t> Z</a:t>
            </a:r>
            <a:r>
              <a:rPr lang="zh-CN" altLang="en-US" sz="2400" dirty="0">
                <a:sym typeface="Symbol" pitchFamily="18" charset="2"/>
              </a:rPr>
              <a:t>；则</a:t>
            </a:r>
            <a:r>
              <a:rPr lang="en-US" altLang="zh-CN" sz="2400" dirty="0">
                <a:sym typeface="Symbol" pitchFamily="18" charset="2"/>
              </a:rPr>
              <a:t>X </a:t>
            </a:r>
            <a:r>
              <a:rPr lang="en-US" altLang="zh-CN" sz="2400" dirty="0"/>
              <a:t>→→</a:t>
            </a:r>
            <a:r>
              <a:rPr lang="en-US" altLang="zh-CN" sz="2400" dirty="0">
                <a:sym typeface="Symbol" pitchFamily="18" charset="2"/>
              </a:rPr>
              <a:t> </a:t>
            </a:r>
            <a:r>
              <a:rPr lang="en-US" altLang="zh-CN" sz="2400" b="1" dirty="0">
                <a:solidFill>
                  <a:schemeClr val="tx2"/>
                </a:solidFill>
                <a:sym typeface="Symbol" pitchFamily="18" charset="2"/>
              </a:rPr>
              <a:t>Z-Y</a:t>
            </a:r>
            <a:r>
              <a:rPr lang="zh-CN" altLang="en-US" sz="2400" dirty="0">
                <a:sym typeface="Symbol" pitchFamily="18" charset="2"/>
              </a:rPr>
              <a:t>。</a:t>
            </a:r>
          </a:p>
          <a:p>
            <a:pPr>
              <a:lnSpc>
                <a:spcPct val="90000"/>
              </a:lnSpc>
              <a:spcBef>
                <a:spcPct val="30000"/>
              </a:spcBef>
              <a:buFont typeface="Wingdings" pitchFamily="2" charset="2"/>
              <a:buNone/>
            </a:pPr>
            <a:r>
              <a:rPr lang="en-US" altLang="zh-CN" sz="2400" dirty="0">
                <a:sym typeface="Symbol" pitchFamily="18" charset="2"/>
              </a:rPr>
              <a:t>3</a:t>
            </a:r>
            <a:r>
              <a:rPr lang="zh-CN" altLang="en-US" sz="2400" dirty="0">
                <a:sym typeface="Symbol" pitchFamily="18" charset="2"/>
              </a:rPr>
              <a:t>、</a:t>
            </a:r>
            <a:r>
              <a:rPr lang="zh-CN" altLang="en-US" sz="2400" b="1" dirty="0">
                <a:solidFill>
                  <a:srgbClr val="FF0000"/>
                </a:solidFill>
                <a:sym typeface="Symbol" pitchFamily="18" charset="2"/>
              </a:rPr>
              <a:t>函数依赖</a:t>
            </a:r>
            <a:r>
              <a:rPr lang="zh-CN" altLang="en-US" sz="2400" dirty="0">
                <a:solidFill>
                  <a:srgbClr val="FF0000"/>
                </a:solidFill>
                <a:sym typeface="Symbol" pitchFamily="18" charset="2"/>
              </a:rPr>
              <a:t>是多值依赖的特殊情况</a:t>
            </a:r>
            <a:r>
              <a:rPr lang="zh-CN" altLang="en-US" sz="2400" dirty="0">
                <a:sym typeface="Symbol" pitchFamily="18" charset="2"/>
              </a:rPr>
              <a:t>：若</a:t>
            </a:r>
            <a:r>
              <a:rPr lang="en-US" altLang="zh-CN" sz="2400" dirty="0">
                <a:sym typeface="Symbol" pitchFamily="18" charset="2"/>
              </a:rPr>
              <a:t>X </a:t>
            </a:r>
            <a:r>
              <a:rPr lang="en-US" altLang="zh-CN" sz="2400" dirty="0"/>
              <a:t>→</a:t>
            </a:r>
            <a:r>
              <a:rPr lang="en-US" altLang="zh-CN" sz="2400" dirty="0">
                <a:sym typeface="Symbol" pitchFamily="18" charset="2"/>
              </a:rPr>
              <a:t>Y</a:t>
            </a:r>
            <a:r>
              <a:rPr lang="zh-CN" altLang="en-US" sz="2400" dirty="0">
                <a:sym typeface="Symbol" pitchFamily="18" charset="2"/>
              </a:rPr>
              <a:t>，则</a:t>
            </a:r>
            <a:r>
              <a:rPr lang="en-US" altLang="zh-CN" sz="2400" dirty="0">
                <a:sym typeface="Symbol" pitchFamily="18" charset="2"/>
              </a:rPr>
              <a:t>X </a:t>
            </a:r>
            <a:r>
              <a:rPr lang="en-US" altLang="zh-CN" sz="2400" dirty="0"/>
              <a:t>→→Y</a:t>
            </a:r>
            <a:r>
              <a:rPr lang="zh-CN" altLang="en-US" sz="2400" dirty="0"/>
              <a:t>。</a:t>
            </a:r>
          </a:p>
          <a:p>
            <a:pPr>
              <a:spcBef>
                <a:spcPct val="30000"/>
              </a:spcBef>
              <a:buFont typeface="Wingdings" pitchFamily="2" charset="2"/>
              <a:buNone/>
            </a:pPr>
            <a:r>
              <a:rPr lang="en-US" altLang="zh-CN" sz="2400" dirty="0"/>
              <a:t>4</a:t>
            </a:r>
            <a:r>
              <a:rPr lang="zh-CN" altLang="en-US" sz="2400" dirty="0"/>
              <a:t>、若</a:t>
            </a:r>
            <a:r>
              <a:rPr lang="en-US" altLang="zh-CN" sz="2400" dirty="0">
                <a:sym typeface="Symbol" pitchFamily="18" charset="2"/>
              </a:rPr>
              <a:t>X </a:t>
            </a:r>
            <a:r>
              <a:rPr lang="en-US" altLang="zh-CN" sz="2400" dirty="0"/>
              <a:t>→→</a:t>
            </a:r>
            <a:r>
              <a:rPr lang="en-US" altLang="zh-CN" sz="2400" dirty="0">
                <a:sym typeface="Symbol" pitchFamily="18" charset="2"/>
              </a:rPr>
              <a:t> Y</a:t>
            </a:r>
            <a:r>
              <a:rPr lang="zh-CN" altLang="en-US" sz="2400" dirty="0">
                <a:sym typeface="Symbol" pitchFamily="18" charset="2"/>
              </a:rPr>
              <a:t>，</a:t>
            </a:r>
            <a:r>
              <a:rPr lang="en-US" altLang="zh-CN" sz="2400" dirty="0">
                <a:sym typeface="Symbol" pitchFamily="18" charset="2"/>
              </a:rPr>
              <a:t>X </a:t>
            </a:r>
            <a:r>
              <a:rPr lang="en-US" altLang="zh-CN" sz="2400" dirty="0"/>
              <a:t>→→</a:t>
            </a:r>
            <a:r>
              <a:rPr lang="en-US" altLang="zh-CN" sz="2400" dirty="0">
                <a:sym typeface="Symbol" pitchFamily="18" charset="2"/>
              </a:rPr>
              <a:t> Z</a:t>
            </a:r>
            <a:r>
              <a:rPr lang="zh-CN" altLang="en-US" sz="2400" dirty="0">
                <a:sym typeface="Symbol" pitchFamily="18" charset="2"/>
              </a:rPr>
              <a:t>；则</a:t>
            </a:r>
            <a:r>
              <a:rPr lang="en-US" altLang="zh-CN" sz="2400" dirty="0">
                <a:sym typeface="Symbol" pitchFamily="18" charset="2"/>
              </a:rPr>
              <a:t>X </a:t>
            </a:r>
            <a:r>
              <a:rPr lang="en-US" altLang="zh-CN" sz="2400" dirty="0"/>
              <a:t>→→</a:t>
            </a:r>
            <a:r>
              <a:rPr lang="en-US" altLang="zh-CN" sz="2400" dirty="0">
                <a:sym typeface="Symbol" pitchFamily="18" charset="2"/>
              </a:rPr>
              <a:t> </a:t>
            </a:r>
            <a:r>
              <a:rPr lang="en-US" altLang="zh-CN" sz="2400" dirty="0">
                <a:solidFill>
                  <a:srgbClr val="C00000"/>
                </a:solidFill>
                <a:sym typeface="Symbol" pitchFamily="18" charset="2"/>
              </a:rPr>
              <a:t>YZ</a:t>
            </a:r>
            <a:r>
              <a:rPr lang="zh-CN" altLang="en-US" sz="2400" dirty="0">
                <a:sym typeface="Symbol" pitchFamily="18" charset="2"/>
              </a:rPr>
              <a:t>，</a:t>
            </a:r>
            <a:r>
              <a:rPr lang="en-US" altLang="zh-CN" sz="2400" dirty="0">
                <a:sym typeface="Symbol" pitchFamily="18" charset="2"/>
              </a:rPr>
              <a:t>X </a:t>
            </a:r>
            <a:r>
              <a:rPr lang="en-US" altLang="zh-CN" sz="2400" dirty="0"/>
              <a:t>→→</a:t>
            </a:r>
            <a:r>
              <a:rPr lang="en-US" altLang="zh-CN" sz="2400" dirty="0">
                <a:sym typeface="Symbol" pitchFamily="18" charset="2"/>
              </a:rPr>
              <a:t> </a:t>
            </a:r>
            <a:r>
              <a:rPr lang="en-US" altLang="zh-CN" sz="2400" dirty="0">
                <a:solidFill>
                  <a:srgbClr val="C00000"/>
                </a:solidFill>
                <a:sym typeface="Symbol" pitchFamily="18" charset="2"/>
              </a:rPr>
              <a:t>Z-Y</a:t>
            </a:r>
            <a:r>
              <a:rPr lang="zh-CN" altLang="en-US" sz="2400" dirty="0">
                <a:sym typeface="Symbol" pitchFamily="18" charset="2"/>
              </a:rPr>
              <a:t>，</a:t>
            </a:r>
            <a:r>
              <a:rPr lang="en-US" altLang="zh-CN" sz="2400" dirty="0">
                <a:sym typeface="Symbol" pitchFamily="18" charset="2"/>
              </a:rPr>
              <a:t>X</a:t>
            </a:r>
            <a:r>
              <a:rPr lang="en-US" altLang="zh-CN" sz="2400" dirty="0"/>
              <a:t>→→</a:t>
            </a:r>
            <a:r>
              <a:rPr lang="en-US" altLang="zh-CN" sz="2400" dirty="0">
                <a:solidFill>
                  <a:srgbClr val="C00000"/>
                </a:solidFill>
              </a:rPr>
              <a:t>Y-Z</a:t>
            </a:r>
            <a:r>
              <a:rPr lang="zh-CN" altLang="en-US" sz="2400" dirty="0"/>
              <a:t>， </a:t>
            </a:r>
            <a:r>
              <a:rPr lang="en-US" altLang="zh-CN" sz="2400" dirty="0">
                <a:sym typeface="Symbol" pitchFamily="18" charset="2"/>
              </a:rPr>
              <a:t>X </a:t>
            </a:r>
            <a:r>
              <a:rPr lang="en-US" altLang="zh-CN" sz="2400" dirty="0"/>
              <a:t>→→</a:t>
            </a:r>
            <a:r>
              <a:rPr lang="en-US" altLang="zh-CN" sz="2400" dirty="0">
                <a:solidFill>
                  <a:srgbClr val="C00000"/>
                </a:solidFill>
              </a:rPr>
              <a:t>Y∩Z</a:t>
            </a:r>
            <a:r>
              <a:rPr lang="zh-CN" altLang="en-US" sz="2400" dirty="0"/>
              <a:t>。</a:t>
            </a:r>
            <a:endParaRPr lang="en-US" altLang="zh-CN" sz="2400" dirty="0"/>
          </a:p>
          <a:p>
            <a:pPr>
              <a:lnSpc>
                <a:spcPct val="90000"/>
              </a:lnSpc>
              <a:spcBef>
                <a:spcPct val="30000"/>
              </a:spcBef>
              <a:buFont typeface="Wingdings" pitchFamily="2" charset="2"/>
              <a:buNone/>
            </a:pPr>
            <a:endParaRPr lang="en-US" altLang="zh-CN" sz="2400" dirty="0"/>
          </a:p>
          <a:p>
            <a:pPr>
              <a:lnSpc>
                <a:spcPct val="90000"/>
              </a:lnSpc>
              <a:spcBef>
                <a:spcPct val="30000"/>
              </a:spcBef>
              <a:buNone/>
            </a:pPr>
            <a:r>
              <a:rPr lang="zh-CN" altLang="en-US" sz="2400" dirty="0"/>
              <a:t>       注：为了简单起见，用</a:t>
            </a:r>
            <a:r>
              <a:rPr lang="en-US" altLang="zh-CN" sz="2400" dirty="0">
                <a:solidFill>
                  <a:srgbClr val="0000FF"/>
                </a:solidFill>
                <a:sym typeface="Symbol" pitchFamily="18" charset="2"/>
              </a:rPr>
              <a:t>YZ</a:t>
            </a:r>
            <a:r>
              <a:rPr lang="zh-CN" altLang="en-US" sz="2400" dirty="0">
                <a:solidFill>
                  <a:srgbClr val="0000FF"/>
                </a:solidFill>
                <a:sym typeface="Symbol" pitchFamily="18" charset="2"/>
              </a:rPr>
              <a:t>代表</a:t>
            </a:r>
            <a:r>
              <a:rPr lang="en-US" altLang="zh-CN" sz="2400" dirty="0">
                <a:solidFill>
                  <a:srgbClr val="0000FF"/>
                </a:solidFill>
                <a:sym typeface="Symbol" pitchFamily="18" charset="2"/>
              </a:rPr>
              <a:t>Y</a:t>
            </a:r>
            <a:r>
              <a:rPr lang="en-US" altLang="zh-CN" sz="2400" b="1" dirty="0">
                <a:solidFill>
                  <a:srgbClr val="0000FF"/>
                </a:solidFill>
                <a:latin typeface="Times New Roman" pitchFamily="18" charset="0"/>
              </a:rPr>
              <a:t>∪</a:t>
            </a:r>
            <a:r>
              <a:rPr lang="en-US" altLang="zh-CN" sz="2400" dirty="0">
                <a:solidFill>
                  <a:srgbClr val="0000FF"/>
                </a:solidFill>
                <a:sym typeface="Symbol" pitchFamily="18" charset="2"/>
              </a:rPr>
              <a:t>Z</a:t>
            </a:r>
            <a:endParaRPr lang="zh-CN" altLang="en-US" sz="2400" dirty="0">
              <a:solidFill>
                <a:srgbClr val="0000FF"/>
              </a:solidFill>
            </a:endParaRPr>
          </a:p>
        </p:txBody>
      </p:sp>
      <p:sp>
        <p:nvSpPr>
          <p:cNvPr id="3" name="页脚占位符 2">
            <a:extLst>
              <a:ext uri="{FF2B5EF4-FFF2-40B4-BE49-F238E27FC236}">
                <a16:creationId xmlns:a16="http://schemas.microsoft.com/office/drawing/2014/main" id="{665F1F9C-8709-57F4-1D68-96E15AD538A8}"/>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DBC117E4-1AFD-4270-7CE4-F4B87A7AA6DD}"/>
              </a:ext>
            </a:extLst>
          </p:cNvPr>
          <p:cNvSpPr>
            <a:spLocks noGrp="1"/>
          </p:cNvSpPr>
          <p:nvPr>
            <p:ph type="sldNum" sz="quarter" idx="12"/>
          </p:nvPr>
        </p:nvSpPr>
        <p:spPr/>
        <p:txBody>
          <a:bodyPr/>
          <a:lstStyle/>
          <a:p>
            <a:fld id="{A2D74603-B40B-4D66-8F6E-41C870D48932}" type="slidenum">
              <a:rPr lang="en-US" altLang="zh-CN" smtClean="0"/>
              <a:pPr/>
              <a:t>88</a:t>
            </a:fld>
            <a:r>
              <a:rPr lang="en-US" altLang="zh-CN"/>
              <a:t>/162</a:t>
            </a:r>
            <a:endParaRPr lang="en-US" altLang="zh-CN" dirty="0"/>
          </a:p>
        </p:txBody>
      </p:sp>
    </p:spTree>
    <p:extLst>
      <p:ext uri="{BB962C8B-B14F-4D97-AF65-F5344CB8AC3E}">
        <p14:creationId xmlns:p14="http://schemas.microsoft.com/office/powerpoint/2010/main" val="18112900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3107">
                                            <p:txEl>
                                              <p:pRg st="3" end="3"/>
                                            </p:txEl>
                                          </p:spTgt>
                                        </p:tgtEl>
                                        <p:attrNameLst>
                                          <p:attrName>style.visibility</p:attrName>
                                        </p:attrNameLst>
                                      </p:cBhvr>
                                      <p:to>
                                        <p:strVal val="visible"/>
                                      </p:to>
                                    </p:set>
                                    <p:anim calcmode="lin" valueType="num">
                                      <p:cBhvr additive="base">
                                        <p:cTn id="7" dur="500" fill="hold"/>
                                        <p:tgtEl>
                                          <p:spTgt spid="30310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31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03107">
                                            <p:txEl>
                                              <p:pRg st="4" end="4"/>
                                            </p:txEl>
                                          </p:spTgt>
                                        </p:tgtEl>
                                        <p:attrNameLst>
                                          <p:attrName>style.visibility</p:attrName>
                                        </p:attrNameLst>
                                      </p:cBhvr>
                                      <p:to>
                                        <p:strVal val="visible"/>
                                      </p:to>
                                    </p:set>
                                    <p:anim calcmode="lin" valueType="num">
                                      <p:cBhvr additive="base">
                                        <p:cTn id="13" dur="500" fill="hold"/>
                                        <p:tgtEl>
                                          <p:spTgt spid="303107">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0310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03107">
                                            <p:txEl>
                                              <p:pRg st="5" end="5"/>
                                            </p:txEl>
                                          </p:spTgt>
                                        </p:tgtEl>
                                        <p:attrNameLst>
                                          <p:attrName>style.visibility</p:attrName>
                                        </p:attrNameLst>
                                      </p:cBhvr>
                                      <p:to>
                                        <p:strVal val="visible"/>
                                      </p:to>
                                    </p:set>
                                    <p:anim calcmode="lin" valueType="num">
                                      <p:cBhvr additive="base">
                                        <p:cTn id="19" dur="500" fill="hold"/>
                                        <p:tgtEl>
                                          <p:spTgt spid="303107">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0310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03107">
                                            <p:txEl>
                                              <p:pRg st="6" end="6"/>
                                            </p:txEl>
                                          </p:spTgt>
                                        </p:tgtEl>
                                        <p:attrNameLst>
                                          <p:attrName>style.visibility</p:attrName>
                                        </p:attrNameLst>
                                      </p:cBhvr>
                                      <p:to>
                                        <p:strVal val="visible"/>
                                      </p:to>
                                    </p:set>
                                    <p:anim calcmode="lin" valueType="num">
                                      <p:cBhvr additive="base">
                                        <p:cTn id="25" dur="500" fill="hold"/>
                                        <p:tgtEl>
                                          <p:spTgt spid="303107">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03107">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03107">
                                            <p:txEl>
                                              <p:pRg st="8" end="8"/>
                                            </p:txEl>
                                          </p:spTgt>
                                        </p:tgtEl>
                                        <p:attrNameLst>
                                          <p:attrName>style.visibility</p:attrName>
                                        </p:attrNameLst>
                                      </p:cBhvr>
                                      <p:to>
                                        <p:strVal val="visible"/>
                                      </p:to>
                                    </p:set>
                                    <p:anim calcmode="lin" valueType="num">
                                      <p:cBhvr additive="base">
                                        <p:cTn id="29" dur="500" fill="hold"/>
                                        <p:tgtEl>
                                          <p:spTgt spid="303107">
                                            <p:txEl>
                                              <p:pRg st="8" end="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03107">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8.2.7 </a:t>
            </a:r>
            <a:r>
              <a:rPr lang="zh-CN" altLang="en-US" dirty="0"/>
              <a:t>多值依赖</a:t>
            </a:r>
          </a:p>
        </p:txBody>
      </p:sp>
      <p:sp>
        <p:nvSpPr>
          <p:cNvPr id="3" name="日期占位符 2"/>
          <p:cNvSpPr>
            <a:spLocks noGrp="1"/>
          </p:cNvSpPr>
          <p:nvPr>
            <p:ph type="dt" sz="half" idx="10"/>
          </p:nvPr>
        </p:nvSpPr>
        <p:spPr/>
        <p:txBody>
          <a:bodyPr/>
          <a:lstStyle/>
          <a:p>
            <a:fld id="{A7CFE1E0-624E-4955-905B-0A025FE661BC}" type="datetime1">
              <a:rPr lang="zh-CN" altLang="en-US" smtClean="0"/>
              <a:t>2025/11/6</a:t>
            </a:fld>
            <a:endParaRPr lang="en-US" altLang="zh-CN"/>
          </a:p>
        </p:txBody>
      </p:sp>
      <p:sp>
        <p:nvSpPr>
          <p:cNvPr id="6" name="Rectangle 3"/>
          <p:cNvSpPr txBox="1">
            <a:spLocks noChangeArrowheads="1"/>
          </p:cNvSpPr>
          <p:nvPr/>
        </p:nvSpPr>
        <p:spPr>
          <a:xfrm>
            <a:off x="609600" y="1447800"/>
            <a:ext cx="8345488" cy="4684713"/>
          </a:xfrm>
          <a:prstGeom prst="rect">
            <a:avLst/>
          </a:prstGeom>
        </p:spPr>
        <p:txBody>
          <a:bodyPr/>
          <a:lstStyle>
            <a:lvl1pPr marL="342900" indent="-342900" algn="l" rtl="0" fontAlgn="base">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fontAlgn="base">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r>
              <a:rPr kumimoji="0" lang="zh-CN" altLang="en-US" sz="2800" kern="0" dirty="0">
                <a:ea typeface="宋体" charset="-122"/>
              </a:rPr>
              <a:t>对于一个（</a:t>
            </a:r>
            <a:r>
              <a:rPr kumimoji="0" lang="zh-CN" altLang="en-US" sz="2800" kern="0" dirty="0">
                <a:solidFill>
                  <a:schemeClr val="tx2"/>
                </a:solidFill>
                <a:ea typeface="宋体" charset="-122"/>
              </a:rPr>
              <a:t>物理</a:t>
            </a:r>
            <a:r>
              <a:rPr kumimoji="0" lang="zh-CN" altLang="en-US" sz="2800" kern="0" dirty="0">
                <a:ea typeface="宋体" charset="-122"/>
              </a:rPr>
              <a:t>，光学原理）有</a:t>
            </a:r>
            <a:r>
              <a:rPr kumimoji="0" lang="zh-CN" altLang="en-US" sz="2800" b="1" kern="0" dirty="0">
                <a:solidFill>
                  <a:srgbClr val="C00000"/>
                </a:solidFill>
                <a:ea typeface="宋体" charset="-122"/>
              </a:rPr>
              <a:t>一组</a:t>
            </a:r>
            <a:r>
              <a:rPr kumimoji="0" lang="en-US" altLang="zh-CN" sz="2800" b="1" kern="0" dirty="0">
                <a:solidFill>
                  <a:srgbClr val="C00000"/>
                </a:solidFill>
                <a:ea typeface="宋体" charset="-122"/>
              </a:rPr>
              <a:t>T</a:t>
            </a:r>
            <a:r>
              <a:rPr kumimoji="0" lang="zh-CN" altLang="en-US" sz="2800" b="1" kern="0" dirty="0">
                <a:solidFill>
                  <a:srgbClr val="C00000"/>
                </a:solidFill>
                <a:ea typeface="宋体" charset="-122"/>
              </a:rPr>
              <a:t>值</a:t>
            </a:r>
            <a:r>
              <a:rPr kumimoji="0" lang="zh-CN" altLang="en-US" sz="2800" kern="0" dirty="0">
                <a:solidFill>
                  <a:schemeClr val="tx2"/>
                </a:solidFill>
                <a:ea typeface="宋体" charset="-122"/>
              </a:rPr>
              <a:t>｛</a:t>
            </a:r>
            <a:r>
              <a:rPr kumimoji="0" lang="zh-CN" altLang="en-US" sz="2800" b="1" kern="0" dirty="0">
                <a:solidFill>
                  <a:schemeClr val="tx2"/>
                </a:solidFill>
                <a:ea typeface="宋体" charset="-122"/>
              </a:rPr>
              <a:t>李勇，王军</a:t>
            </a:r>
            <a:r>
              <a:rPr kumimoji="0" lang="zh-CN" altLang="en-US" sz="2800" kern="0" dirty="0">
                <a:solidFill>
                  <a:schemeClr val="tx2"/>
                </a:solidFill>
                <a:ea typeface="宋体" charset="-122"/>
              </a:rPr>
              <a:t>｝，</a:t>
            </a:r>
            <a:r>
              <a:rPr kumimoji="0" lang="zh-CN" altLang="en-US" sz="2800" kern="0" dirty="0">
                <a:ea typeface="宋体" charset="-122"/>
              </a:rPr>
              <a:t>这组值仅由</a:t>
            </a:r>
            <a:r>
              <a:rPr kumimoji="0" lang="zh-CN" altLang="en-US" sz="2800" kern="0" dirty="0">
                <a:solidFill>
                  <a:schemeClr val="tx2"/>
                </a:solidFill>
                <a:ea typeface="宋体" charset="-122"/>
              </a:rPr>
              <a:t>课程</a:t>
            </a:r>
            <a:r>
              <a:rPr kumimoji="0" lang="en-US" altLang="zh-CN" sz="2800" b="1" kern="0" dirty="0">
                <a:solidFill>
                  <a:schemeClr val="tx2"/>
                </a:solidFill>
                <a:ea typeface="宋体" charset="-122"/>
              </a:rPr>
              <a:t>C</a:t>
            </a:r>
            <a:r>
              <a:rPr kumimoji="0" lang="zh-CN" altLang="en-US" sz="2800" b="1" kern="0" dirty="0">
                <a:solidFill>
                  <a:schemeClr val="tx2"/>
                </a:solidFill>
                <a:ea typeface="宋体" charset="-122"/>
              </a:rPr>
              <a:t>上的值（物理）</a:t>
            </a:r>
            <a:r>
              <a:rPr kumimoji="0" lang="zh-CN" altLang="en-US" sz="2800" kern="0" dirty="0">
                <a:ea typeface="宋体" charset="-122"/>
              </a:rPr>
              <a:t>决定，对于另一个</a:t>
            </a:r>
            <a:r>
              <a:rPr kumimoji="0" lang="zh-CN" altLang="en-US" sz="2800" kern="0" dirty="0">
                <a:solidFill>
                  <a:schemeClr val="tx2"/>
                </a:solidFill>
                <a:ea typeface="宋体" charset="-122"/>
              </a:rPr>
              <a:t>（物理，</a:t>
            </a:r>
            <a:r>
              <a:rPr kumimoji="0" lang="zh-CN" altLang="en-US" sz="2800" kern="0" dirty="0">
                <a:ea typeface="宋体" charset="-122"/>
              </a:rPr>
              <a:t>物理习题集</a:t>
            </a:r>
            <a:r>
              <a:rPr kumimoji="0" lang="zh-CN" altLang="en-US" sz="2800" kern="0" dirty="0">
                <a:solidFill>
                  <a:schemeClr val="tx2"/>
                </a:solidFill>
                <a:ea typeface="宋体" charset="-122"/>
              </a:rPr>
              <a:t>）</a:t>
            </a:r>
            <a:r>
              <a:rPr kumimoji="0" lang="zh-CN" altLang="en-US" sz="2800" kern="0" dirty="0">
                <a:ea typeface="宋体" charset="-122"/>
              </a:rPr>
              <a:t>对应的</a:t>
            </a:r>
            <a:r>
              <a:rPr kumimoji="0" lang="en-US" altLang="zh-CN" sz="2800" b="1" kern="0" dirty="0">
                <a:solidFill>
                  <a:srgbClr val="C00000"/>
                </a:solidFill>
                <a:ea typeface="宋体" charset="-122"/>
              </a:rPr>
              <a:t>T</a:t>
            </a:r>
            <a:r>
              <a:rPr kumimoji="0" lang="zh-CN" altLang="en-US" sz="2800" b="1" kern="0" dirty="0">
                <a:solidFill>
                  <a:srgbClr val="C00000"/>
                </a:solidFill>
                <a:ea typeface="宋体" charset="-122"/>
              </a:rPr>
              <a:t>值</a:t>
            </a:r>
            <a:r>
              <a:rPr kumimoji="0" lang="zh-CN" altLang="en-US" sz="2800" kern="0" dirty="0">
                <a:ea typeface="宋体" charset="-122"/>
              </a:rPr>
              <a:t>仍是</a:t>
            </a:r>
            <a:r>
              <a:rPr kumimoji="0" lang="zh-CN" altLang="en-US" sz="2800" kern="0" dirty="0">
                <a:solidFill>
                  <a:schemeClr val="tx2"/>
                </a:solidFill>
                <a:ea typeface="宋体" charset="-122"/>
              </a:rPr>
              <a:t>｛李勇，王军｝，因此</a:t>
            </a:r>
            <a:r>
              <a:rPr kumimoji="0" lang="en-US" altLang="zh-CN" sz="2800" b="1" kern="0" dirty="0">
                <a:solidFill>
                  <a:srgbClr val="C00000"/>
                </a:solidFill>
                <a:ea typeface="宋体" charset="-122"/>
              </a:rPr>
              <a:t>T</a:t>
            </a:r>
            <a:r>
              <a:rPr kumimoji="0" lang="zh-CN" altLang="en-US" sz="2800" b="1" kern="0" dirty="0">
                <a:solidFill>
                  <a:srgbClr val="C00000"/>
                </a:solidFill>
                <a:ea typeface="宋体" charset="-122"/>
              </a:rPr>
              <a:t>多值依赖于</a:t>
            </a:r>
            <a:r>
              <a:rPr kumimoji="0" lang="en-US" altLang="zh-CN" sz="2800" b="1" kern="0" dirty="0">
                <a:solidFill>
                  <a:srgbClr val="C00000"/>
                </a:solidFill>
                <a:ea typeface="宋体" charset="-122"/>
              </a:rPr>
              <a:t>C,</a:t>
            </a:r>
            <a:r>
              <a:rPr kumimoji="0" lang="zh-CN" altLang="en-US" sz="2800" b="1" kern="0" dirty="0">
                <a:solidFill>
                  <a:srgbClr val="C00000"/>
                </a:solidFill>
                <a:ea typeface="宋体" charset="-122"/>
              </a:rPr>
              <a:t>即</a:t>
            </a:r>
            <a:r>
              <a:rPr kumimoji="0" lang="en-US" altLang="zh-CN" sz="2800" b="1" kern="0" dirty="0">
                <a:solidFill>
                  <a:srgbClr val="C00000"/>
                </a:solidFill>
                <a:ea typeface="宋体" charset="-122"/>
              </a:rPr>
              <a:t>C →→</a:t>
            </a:r>
            <a:r>
              <a:rPr kumimoji="0" lang="en-US" altLang="zh-CN" sz="2800" b="1" kern="0" dirty="0">
                <a:solidFill>
                  <a:srgbClr val="C00000"/>
                </a:solidFill>
                <a:ea typeface="宋体" charset="-122"/>
                <a:sym typeface="Symbol" pitchFamily="18" charset="2"/>
              </a:rPr>
              <a:t> T</a:t>
            </a:r>
            <a:endParaRPr kumimoji="0" lang="en-US" altLang="zh-CN" sz="2800" b="1" kern="0" dirty="0">
              <a:solidFill>
                <a:srgbClr val="C00000"/>
              </a:solidFill>
              <a:ea typeface="宋体" charset="-122"/>
            </a:endParaRPr>
          </a:p>
          <a:p>
            <a:r>
              <a:rPr kumimoji="0" lang="zh-CN" altLang="en-US" sz="2800" kern="0" dirty="0">
                <a:ea typeface="宋体" charset="-122"/>
              </a:rPr>
              <a:t>对于一个</a:t>
            </a:r>
            <a:r>
              <a:rPr kumimoji="0" lang="zh-CN" altLang="en-US" sz="2800" kern="0" dirty="0">
                <a:solidFill>
                  <a:schemeClr val="tx2"/>
                </a:solidFill>
                <a:ea typeface="宋体" charset="-122"/>
              </a:rPr>
              <a:t>（物理，</a:t>
            </a:r>
            <a:r>
              <a:rPr kumimoji="0" lang="zh-CN" altLang="en-US" sz="2800" kern="0" dirty="0">
                <a:ea typeface="宋体" charset="-122"/>
              </a:rPr>
              <a:t>李勇</a:t>
            </a:r>
            <a:r>
              <a:rPr kumimoji="0" lang="zh-CN" altLang="en-US" sz="2800" kern="0" dirty="0">
                <a:solidFill>
                  <a:schemeClr val="tx2"/>
                </a:solidFill>
                <a:ea typeface="宋体" charset="-122"/>
              </a:rPr>
              <a:t>）</a:t>
            </a:r>
            <a:r>
              <a:rPr kumimoji="0" lang="zh-CN" altLang="en-US" sz="2800" kern="0" dirty="0">
                <a:ea typeface="宋体" charset="-122"/>
              </a:rPr>
              <a:t>有</a:t>
            </a:r>
            <a:r>
              <a:rPr kumimoji="0" lang="zh-CN" altLang="en-US" sz="2800" b="1" kern="0" dirty="0">
                <a:solidFill>
                  <a:srgbClr val="C00000"/>
                </a:solidFill>
                <a:ea typeface="宋体" charset="-122"/>
              </a:rPr>
              <a:t>一组</a:t>
            </a:r>
            <a:r>
              <a:rPr kumimoji="0" lang="en-US" altLang="zh-CN" sz="2800" b="1" kern="0" dirty="0">
                <a:solidFill>
                  <a:srgbClr val="C00000"/>
                </a:solidFill>
                <a:ea typeface="宋体" charset="-122"/>
              </a:rPr>
              <a:t>B</a:t>
            </a:r>
            <a:r>
              <a:rPr kumimoji="0" lang="zh-CN" altLang="en-US" sz="2800" kern="0" dirty="0">
                <a:solidFill>
                  <a:srgbClr val="C00000"/>
                </a:solidFill>
                <a:ea typeface="宋体" charset="-122"/>
              </a:rPr>
              <a:t>值</a:t>
            </a:r>
            <a:r>
              <a:rPr kumimoji="0" lang="zh-CN" altLang="en-US" sz="2800" kern="0" dirty="0">
                <a:solidFill>
                  <a:schemeClr val="tx2"/>
                </a:solidFill>
                <a:ea typeface="宋体" charset="-122"/>
              </a:rPr>
              <a:t>｛</a:t>
            </a:r>
            <a:r>
              <a:rPr kumimoji="0" lang="zh-CN" altLang="en-US" sz="2800" b="1" kern="0" dirty="0">
                <a:solidFill>
                  <a:schemeClr val="tx2"/>
                </a:solidFill>
                <a:ea typeface="宋体" charset="-122"/>
              </a:rPr>
              <a:t>普通物理学，光学原理，物理习题集</a:t>
            </a:r>
            <a:r>
              <a:rPr kumimoji="0" lang="zh-CN" altLang="en-US" sz="2800" kern="0" dirty="0">
                <a:solidFill>
                  <a:schemeClr val="tx2"/>
                </a:solidFill>
                <a:ea typeface="宋体" charset="-122"/>
              </a:rPr>
              <a:t>｝，</a:t>
            </a:r>
            <a:r>
              <a:rPr kumimoji="0" lang="zh-CN" altLang="en-US" sz="2800" kern="0" dirty="0">
                <a:ea typeface="宋体" charset="-122"/>
              </a:rPr>
              <a:t>这组值</a:t>
            </a:r>
            <a:r>
              <a:rPr kumimoji="0" lang="zh-CN" altLang="en-US" sz="2800" kern="0" dirty="0">
                <a:solidFill>
                  <a:schemeClr val="tx2"/>
                </a:solidFill>
                <a:ea typeface="宋体" charset="-122"/>
              </a:rPr>
              <a:t>仅由课程</a:t>
            </a:r>
            <a:r>
              <a:rPr kumimoji="0" lang="en-US" altLang="zh-CN" sz="2800" b="1" kern="0" dirty="0">
                <a:solidFill>
                  <a:schemeClr val="tx2"/>
                </a:solidFill>
                <a:ea typeface="宋体" charset="-122"/>
              </a:rPr>
              <a:t>C</a:t>
            </a:r>
            <a:r>
              <a:rPr kumimoji="0" lang="zh-CN" altLang="en-US" sz="2800" b="1" kern="0" dirty="0">
                <a:solidFill>
                  <a:schemeClr val="tx2"/>
                </a:solidFill>
                <a:ea typeface="宋体" charset="-122"/>
              </a:rPr>
              <a:t>上的值（物理）</a:t>
            </a:r>
            <a:r>
              <a:rPr kumimoji="0" lang="zh-CN" altLang="en-US" sz="2800" kern="0" dirty="0">
                <a:ea typeface="宋体" charset="-122"/>
              </a:rPr>
              <a:t>决定，对于另一个</a:t>
            </a:r>
            <a:r>
              <a:rPr kumimoji="0" lang="zh-CN" altLang="en-US" sz="2800" kern="0" dirty="0">
                <a:solidFill>
                  <a:schemeClr val="tx2"/>
                </a:solidFill>
                <a:ea typeface="宋体" charset="-122"/>
              </a:rPr>
              <a:t>（物理，王军）</a:t>
            </a:r>
            <a:r>
              <a:rPr kumimoji="0" lang="zh-CN" altLang="en-US" sz="2800" kern="0" dirty="0">
                <a:ea typeface="宋体" charset="-122"/>
              </a:rPr>
              <a:t>对应的</a:t>
            </a:r>
            <a:r>
              <a:rPr kumimoji="0" lang="en-US" altLang="zh-CN" sz="2800" b="1" kern="0" dirty="0">
                <a:solidFill>
                  <a:srgbClr val="C00000"/>
                </a:solidFill>
                <a:ea typeface="宋体" charset="-122"/>
              </a:rPr>
              <a:t>B</a:t>
            </a:r>
            <a:r>
              <a:rPr kumimoji="0" lang="zh-CN" altLang="en-US" sz="2800" b="1" kern="0" dirty="0">
                <a:solidFill>
                  <a:srgbClr val="C00000"/>
                </a:solidFill>
                <a:ea typeface="宋体" charset="-122"/>
              </a:rPr>
              <a:t>值</a:t>
            </a:r>
            <a:r>
              <a:rPr kumimoji="0" lang="zh-CN" altLang="en-US" sz="2800" kern="0" dirty="0">
                <a:ea typeface="宋体" charset="-122"/>
              </a:rPr>
              <a:t>仍是</a:t>
            </a:r>
            <a:r>
              <a:rPr kumimoji="0" lang="zh-CN" altLang="en-US" sz="2800" kern="0" dirty="0">
                <a:solidFill>
                  <a:schemeClr val="tx2"/>
                </a:solidFill>
                <a:ea typeface="宋体" charset="-122"/>
              </a:rPr>
              <a:t>｛</a:t>
            </a:r>
            <a:r>
              <a:rPr kumimoji="0" lang="zh-CN" altLang="en-US" sz="2800" b="1" kern="0" dirty="0">
                <a:solidFill>
                  <a:schemeClr val="tx2"/>
                </a:solidFill>
                <a:ea typeface="宋体" charset="-122"/>
              </a:rPr>
              <a:t>普通物理学，光学原理，物理习题集</a:t>
            </a:r>
            <a:r>
              <a:rPr kumimoji="0" lang="zh-CN" altLang="en-US" sz="2800" kern="0" dirty="0">
                <a:solidFill>
                  <a:schemeClr val="tx2"/>
                </a:solidFill>
                <a:ea typeface="宋体" charset="-122"/>
              </a:rPr>
              <a:t>｝，</a:t>
            </a:r>
            <a:r>
              <a:rPr kumimoji="0" lang="zh-CN" altLang="en-US" sz="2800" kern="0" dirty="0">
                <a:ea typeface="宋体" charset="-122"/>
              </a:rPr>
              <a:t>因此</a:t>
            </a:r>
            <a:r>
              <a:rPr kumimoji="0" lang="en-US" altLang="zh-CN" sz="2800" b="1" kern="0" dirty="0">
                <a:solidFill>
                  <a:srgbClr val="C00000"/>
                </a:solidFill>
                <a:ea typeface="宋体" charset="-122"/>
              </a:rPr>
              <a:t>B</a:t>
            </a:r>
            <a:r>
              <a:rPr kumimoji="0" lang="zh-CN" altLang="en-US" sz="2800" b="1" kern="0" dirty="0">
                <a:solidFill>
                  <a:srgbClr val="C00000"/>
                </a:solidFill>
                <a:ea typeface="宋体" charset="-122"/>
              </a:rPr>
              <a:t>多值依赖于</a:t>
            </a:r>
            <a:r>
              <a:rPr kumimoji="0" lang="en-US" altLang="zh-CN" sz="2800" b="1" kern="0" dirty="0">
                <a:solidFill>
                  <a:srgbClr val="C00000"/>
                </a:solidFill>
                <a:ea typeface="宋体" charset="-122"/>
              </a:rPr>
              <a:t>C, </a:t>
            </a:r>
            <a:r>
              <a:rPr kumimoji="0" lang="zh-CN" altLang="en-US" sz="2800" b="1" kern="0" dirty="0">
                <a:solidFill>
                  <a:srgbClr val="C00000"/>
                </a:solidFill>
                <a:ea typeface="宋体" charset="-122"/>
              </a:rPr>
              <a:t>即</a:t>
            </a:r>
            <a:r>
              <a:rPr kumimoji="0" lang="en-US" altLang="zh-CN" sz="2800" b="1" kern="0" dirty="0">
                <a:solidFill>
                  <a:srgbClr val="C00000"/>
                </a:solidFill>
                <a:ea typeface="宋体" charset="-122"/>
              </a:rPr>
              <a:t>C →→</a:t>
            </a:r>
            <a:r>
              <a:rPr kumimoji="0" lang="en-US" altLang="zh-CN" sz="2800" b="1" kern="0" dirty="0">
                <a:solidFill>
                  <a:srgbClr val="C00000"/>
                </a:solidFill>
                <a:ea typeface="宋体" charset="-122"/>
                <a:sym typeface="Symbol" pitchFamily="18" charset="2"/>
              </a:rPr>
              <a:t> B</a:t>
            </a:r>
            <a:endParaRPr kumimoji="0" lang="en-US" altLang="zh-CN" sz="2800" b="1" kern="0" dirty="0">
              <a:solidFill>
                <a:srgbClr val="C00000"/>
              </a:solidFill>
              <a:ea typeface="宋体" charset="-122"/>
            </a:endParaRPr>
          </a:p>
          <a:p>
            <a:endParaRPr kumimoji="0" lang="en-US" altLang="zh-CN" sz="2800" b="1" kern="0" dirty="0">
              <a:solidFill>
                <a:srgbClr val="C00000"/>
              </a:solidFill>
              <a:ea typeface="宋体" charset="-122"/>
            </a:endParaRPr>
          </a:p>
          <a:p>
            <a:endParaRPr kumimoji="0" lang="en-US" altLang="zh-CN" sz="2800" b="1" kern="0" dirty="0">
              <a:solidFill>
                <a:srgbClr val="C00000"/>
              </a:solidFill>
              <a:ea typeface="宋体" charset="-122"/>
            </a:endParaRPr>
          </a:p>
          <a:p>
            <a:endParaRPr kumimoji="0" lang="zh-CN" altLang="en-US" sz="900" kern="0" dirty="0"/>
          </a:p>
          <a:p>
            <a:endParaRPr kumimoji="0" lang="zh-CN" altLang="en-US" sz="2800" kern="0" dirty="0"/>
          </a:p>
        </p:txBody>
      </p:sp>
      <p:sp>
        <p:nvSpPr>
          <p:cNvPr id="7" name="TextBox 6"/>
          <p:cNvSpPr txBox="1"/>
          <p:nvPr/>
        </p:nvSpPr>
        <p:spPr>
          <a:xfrm>
            <a:off x="5776773" y="762000"/>
            <a:ext cx="1239443" cy="461665"/>
          </a:xfrm>
          <a:prstGeom prst="rect">
            <a:avLst/>
          </a:prstGeom>
          <a:noFill/>
        </p:spPr>
        <p:txBody>
          <a:bodyPr wrap="none" rtlCol="0">
            <a:spAutoFit/>
          </a:bodyPr>
          <a:lstStyle/>
          <a:p>
            <a:r>
              <a:rPr lang="en-US" altLang="zh-CN" b="1" dirty="0"/>
              <a:t>C  T   B</a:t>
            </a:r>
            <a:endParaRPr lang="zh-CN" altLang="en-US" b="1" dirty="0"/>
          </a:p>
        </p:txBody>
      </p:sp>
      <p:sp>
        <p:nvSpPr>
          <p:cNvPr id="4" name="页脚占位符 3">
            <a:extLst>
              <a:ext uri="{FF2B5EF4-FFF2-40B4-BE49-F238E27FC236}">
                <a16:creationId xmlns:a16="http://schemas.microsoft.com/office/drawing/2014/main" id="{69D8BC03-C382-9110-74DB-5A2EE01BF0E9}"/>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FB124927-87AF-E606-0A39-6FD0216529B6}"/>
              </a:ext>
            </a:extLst>
          </p:cNvPr>
          <p:cNvSpPr>
            <a:spLocks noGrp="1"/>
          </p:cNvSpPr>
          <p:nvPr>
            <p:ph type="sldNum" sz="quarter" idx="12"/>
          </p:nvPr>
        </p:nvSpPr>
        <p:spPr/>
        <p:txBody>
          <a:bodyPr/>
          <a:lstStyle/>
          <a:p>
            <a:fld id="{20EA4E5F-2FB2-46CB-BBC2-637528EFB5F7}" type="slidenum">
              <a:rPr lang="en-US" altLang="zh-CN" smtClean="0"/>
              <a:pPr/>
              <a:t>89</a:t>
            </a:fld>
            <a:r>
              <a:rPr lang="en-US" altLang="zh-CN"/>
              <a:t>/162</a:t>
            </a:r>
            <a:endParaRPr lang="en-US" altLang="zh-CN" dirty="0"/>
          </a:p>
        </p:txBody>
      </p:sp>
    </p:spTree>
    <p:extLst>
      <p:ext uri="{BB962C8B-B14F-4D97-AF65-F5344CB8AC3E}">
        <p14:creationId xmlns:p14="http://schemas.microsoft.com/office/powerpoint/2010/main" val="20185000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圆角矩形标注 9"/>
          <p:cNvSpPr/>
          <p:nvPr/>
        </p:nvSpPr>
        <p:spPr bwMode="auto">
          <a:xfrm>
            <a:off x="4715069" y="311819"/>
            <a:ext cx="3657403" cy="919401"/>
          </a:xfrm>
          <a:prstGeom prst="wedgeRoundRectCallout">
            <a:avLst>
              <a:gd name="adj1" fmla="val -119995"/>
              <a:gd name="adj2" fmla="val 242724"/>
              <a:gd name="adj3" fmla="val 16667"/>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r>
              <a:rPr lang="en-US" altLang="zh-CN" b="1" dirty="0">
                <a:solidFill>
                  <a:schemeClr val="tx2"/>
                </a:solidFill>
              </a:rPr>
              <a:t>4NF</a:t>
            </a:r>
            <a:r>
              <a:rPr lang="zh-CN" altLang="en-US" dirty="0">
                <a:solidFill>
                  <a:schemeClr val="tx2"/>
                </a:solidFill>
              </a:rPr>
              <a:t>所允许的非平凡的多值依赖</a:t>
            </a:r>
            <a:r>
              <a:rPr lang="zh-CN" altLang="en-US" b="1" dirty="0">
                <a:solidFill>
                  <a:schemeClr val="tx2"/>
                </a:solidFill>
              </a:rPr>
              <a:t>实际上</a:t>
            </a:r>
            <a:r>
              <a:rPr lang="zh-CN" altLang="en-US" dirty="0">
                <a:solidFill>
                  <a:schemeClr val="tx2"/>
                </a:solidFill>
              </a:rPr>
              <a:t>是</a:t>
            </a:r>
            <a:r>
              <a:rPr lang="zh-CN" altLang="en-US" b="1" dirty="0">
                <a:solidFill>
                  <a:schemeClr val="tx2"/>
                </a:solidFill>
              </a:rPr>
              <a:t>函数依赖</a:t>
            </a:r>
            <a:endParaRPr kumimoji="1" lang="zh-CN" altLang="en-US" sz="2400" b="1" i="0" u="none" strike="noStrike" cap="none" normalizeH="0" baseline="0" dirty="0">
              <a:ln>
                <a:noFill/>
              </a:ln>
              <a:solidFill>
                <a:schemeClr val="tx2"/>
              </a:solidFill>
              <a:effectLst/>
            </a:endParaRPr>
          </a:p>
        </p:txBody>
      </p:sp>
      <p:sp>
        <p:nvSpPr>
          <p:cNvPr id="4" name="日期占位符 3"/>
          <p:cNvSpPr>
            <a:spLocks noGrp="1"/>
          </p:cNvSpPr>
          <p:nvPr>
            <p:ph type="dt" sz="half" idx="10"/>
          </p:nvPr>
        </p:nvSpPr>
        <p:spPr/>
        <p:txBody>
          <a:bodyPr/>
          <a:lstStyle/>
          <a:p>
            <a:fld id="{D81C3AD1-DC39-462F-9EC9-658BBB5E72E5}" type="datetime1">
              <a:rPr lang="zh-CN" altLang="en-US" smtClean="0"/>
              <a:t>2025/11/6</a:t>
            </a:fld>
            <a:endParaRPr lang="en-US" altLang="zh-CN"/>
          </a:p>
        </p:txBody>
      </p:sp>
      <p:sp>
        <p:nvSpPr>
          <p:cNvPr id="304130" name="Rectangle 2"/>
          <p:cNvSpPr>
            <a:spLocks noGrp="1" noChangeArrowheads="1"/>
          </p:cNvSpPr>
          <p:nvPr>
            <p:ph type="title"/>
          </p:nvPr>
        </p:nvSpPr>
        <p:spPr/>
        <p:txBody>
          <a:bodyPr/>
          <a:lstStyle/>
          <a:p>
            <a:r>
              <a:rPr lang="en-US" altLang="zh-CN" dirty="0"/>
              <a:t>8.2.8 4NF</a:t>
            </a:r>
            <a:endParaRPr lang="zh-CN" altLang="en-US" dirty="0"/>
          </a:p>
        </p:txBody>
      </p:sp>
      <p:sp>
        <p:nvSpPr>
          <p:cNvPr id="304131" name="Rectangle 3"/>
          <p:cNvSpPr>
            <a:spLocks noGrp="1" noChangeArrowheads="1"/>
          </p:cNvSpPr>
          <p:nvPr>
            <p:ph type="body" idx="1"/>
          </p:nvPr>
        </p:nvSpPr>
        <p:spPr>
          <a:xfrm>
            <a:off x="609600" y="1295400"/>
            <a:ext cx="8345488" cy="5334000"/>
          </a:xfrm>
        </p:spPr>
        <p:txBody>
          <a:bodyPr/>
          <a:lstStyle/>
          <a:p>
            <a:pPr>
              <a:buFont typeface="Wingdings" pitchFamily="2" charset="2"/>
              <a:buNone/>
            </a:pPr>
            <a:r>
              <a:rPr lang="zh-CN" altLang="en-US" dirty="0">
                <a:solidFill>
                  <a:schemeClr val="hlink"/>
                </a:solidFill>
              </a:rPr>
              <a:t>定义</a:t>
            </a:r>
            <a:r>
              <a:rPr lang="en-US" altLang="zh-CN" dirty="0">
                <a:solidFill>
                  <a:schemeClr val="hlink"/>
                </a:solidFill>
              </a:rPr>
              <a:t>8.10</a:t>
            </a:r>
            <a:r>
              <a:rPr lang="en-US" altLang="zh-CN" dirty="0"/>
              <a:t> </a:t>
            </a:r>
            <a:r>
              <a:rPr lang="zh-CN" altLang="en-US" dirty="0"/>
              <a:t>若关系模式</a:t>
            </a:r>
            <a:r>
              <a:rPr lang="en-US" altLang="zh-CN" dirty="0"/>
              <a:t>R</a:t>
            </a:r>
            <a:r>
              <a:rPr lang="zh-CN" altLang="en-US" dirty="0"/>
              <a:t>（</a:t>
            </a:r>
            <a:r>
              <a:rPr lang="en-US" altLang="zh-CN" dirty="0"/>
              <a:t>U</a:t>
            </a:r>
            <a:r>
              <a:rPr lang="zh-CN" altLang="en-US" dirty="0"/>
              <a:t>，</a:t>
            </a:r>
            <a:r>
              <a:rPr lang="en-US" altLang="zh-CN" dirty="0"/>
              <a:t>F</a:t>
            </a:r>
            <a:r>
              <a:rPr lang="zh-CN" altLang="en-US" dirty="0"/>
              <a:t>）∈</a:t>
            </a:r>
            <a:r>
              <a:rPr lang="en-US" altLang="zh-CN" dirty="0"/>
              <a:t>1NF</a:t>
            </a:r>
            <a:r>
              <a:rPr lang="zh-CN" altLang="en-US" dirty="0"/>
              <a:t>，如果对于</a:t>
            </a:r>
            <a:r>
              <a:rPr lang="en-US" altLang="zh-CN" dirty="0"/>
              <a:t>R</a:t>
            </a:r>
            <a:r>
              <a:rPr lang="zh-CN" altLang="en-US" dirty="0"/>
              <a:t>的每个</a:t>
            </a:r>
            <a:r>
              <a:rPr lang="zh-CN" altLang="en-US" b="1" dirty="0">
                <a:solidFill>
                  <a:srgbClr val="FF0000"/>
                </a:solidFill>
              </a:rPr>
              <a:t>非平凡</a:t>
            </a:r>
            <a:r>
              <a:rPr lang="zh-CN" altLang="en-US" b="1" dirty="0">
                <a:solidFill>
                  <a:srgbClr val="0000FF"/>
                </a:solidFill>
              </a:rPr>
              <a:t>多值依赖</a:t>
            </a:r>
            <a:r>
              <a:rPr lang="en-US" altLang="zh-CN" dirty="0">
                <a:solidFill>
                  <a:srgbClr val="C00000"/>
                </a:solidFill>
              </a:rPr>
              <a:t>X →→ Y</a:t>
            </a:r>
            <a:r>
              <a:rPr lang="zh-CN" altLang="en-US" dirty="0"/>
              <a:t>（</a:t>
            </a:r>
            <a:r>
              <a:rPr lang="en-US" altLang="zh-CN" dirty="0"/>
              <a:t>Y</a:t>
            </a:r>
            <a:r>
              <a:rPr lang="zh-CN" altLang="en-US" dirty="0">
                <a:solidFill>
                  <a:srgbClr val="0000FF"/>
                </a:solidFill>
              </a:rPr>
              <a:t>不包含于</a:t>
            </a:r>
            <a:r>
              <a:rPr lang="en-US" altLang="zh-CN" dirty="0"/>
              <a:t>X</a:t>
            </a:r>
            <a:r>
              <a:rPr lang="zh-CN" altLang="en-US" dirty="0"/>
              <a:t>），</a:t>
            </a:r>
            <a:r>
              <a:rPr lang="en-US" altLang="zh-CN" b="1" u="sng" dirty="0">
                <a:solidFill>
                  <a:schemeClr val="tx2"/>
                </a:solidFill>
              </a:rPr>
              <a:t>X</a:t>
            </a:r>
            <a:r>
              <a:rPr lang="zh-CN" altLang="en-US" b="1" u="sng" dirty="0">
                <a:solidFill>
                  <a:schemeClr val="tx2"/>
                </a:solidFill>
              </a:rPr>
              <a:t>都含有码</a:t>
            </a:r>
            <a:r>
              <a:rPr lang="zh-CN" altLang="en-US" dirty="0"/>
              <a:t>，则称</a:t>
            </a:r>
            <a:r>
              <a:rPr lang="en-US" altLang="zh-CN" dirty="0"/>
              <a:t>R</a:t>
            </a:r>
            <a:r>
              <a:rPr lang="zh-CN" altLang="en-US" dirty="0"/>
              <a:t>（</a:t>
            </a:r>
            <a:r>
              <a:rPr lang="en-US" altLang="zh-CN" dirty="0"/>
              <a:t>U</a:t>
            </a:r>
            <a:r>
              <a:rPr lang="zh-CN" altLang="en-US" dirty="0"/>
              <a:t>，</a:t>
            </a:r>
            <a:r>
              <a:rPr lang="en-US" altLang="zh-CN" dirty="0"/>
              <a:t>F</a:t>
            </a:r>
            <a:r>
              <a:rPr lang="zh-CN" altLang="en-US" dirty="0"/>
              <a:t>）∈</a:t>
            </a:r>
            <a:r>
              <a:rPr lang="en-US" altLang="zh-CN" dirty="0"/>
              <a:t>4NF</a:t>
            </a:r>
            <a:r>
              <a:rPr lang="zh-CN" altLang="en-US" dirty="0"/>
              <a:t>。</a:t>
            </a:r>
          </a:p>
          <a:p>
            <a:r>
              <a:rPr lang="en-US" altLang="zh-CN" dirty="0"/>
              <a:t>Teaching</a:t>
            </a:r>
            <a:r>
              <a:rPr lang="zh-CN" altLang="en-US" dirty="0"/>
              <a:t>中，</a:t>
            </a:r>
            <a:r>
              <a:rPr lang="en-US" altLang="zh-CN" b="1" dirty="0">
                <a:solidFill>
                  <a:srgbClr val="C00000"/>
                </a:solidFill>
                <a:ea typeface="宋体" charset="-122"/>
              </a:rPr>
              <a:t>C →→</a:t>
            </a:r>
            <a:r>
              <a:rPr lang="en-US" altLang="zh-CN" b="1" dirty="0">
                <a:solidFill>
                  <a:srgbClr val="C00000"/>
                </a:solidFill>
                <a:ea typeface="宋体" charset="-122"/>
                <a:sym typeface="Symbol" pitchFamily="18" charset="2"/>
              </a:rPr>
              <a:t> T</a:t>
            </a:r>
            <a:r>
              <a:rPr lang="zh-CN" altLang="en-US" b="1" dirty="0">
                <a:solidFill>
                  <a:srgbClr val="C00000"/>
                </a:solidFill>
                <a:ea typeface="宋体" charset="-122"/>
                <a:sym typeface="Symbol" pitchFamily="18" charset="2"/>
              </a:rPr>
              <a:t>，</a:t>
            </a:r>
            <a:r>
              <a:rPr lang="en-US" altLang="zh-CN" b="1" dirty="0">
                <a:solidFill>
                  <a:srgbClr val="C00000"/>
                </a:solidFill>
                <a:ea typeface="宋体" charset="-122"/>
                <a:sym typeface="Symbol" pitchFamily="18" charset="2"/>
              </a:rPr>
              <a:t> </a:t>
            </a:r>
            <a:r>
              <a:rPr lang="en-US" altLang="zh-CN" b="1" dirty="0">
                <a:solidFill>
                  <a:srgbClr val="C00000"/>
                </a:solidFill>
                <a:ea typeface="宋体" charset="-122"/>
              </a:rPr>
              <a:t>C →→</a:t>
            </a:r>
            <a:r>
              <a:rPr lang="en-US" altLang="zh-CN" b="1" dirty="0">
                <a:solidFill>
                  <a:srgbClr val="C00000"/>
                </a:solidFill>
                <a:ea typeface="宋体" charset="-122"/>
                <a:sym typeface="Symbol" pitchFamily="18" charset="2"/>
              </a:rPr>
              <a:t> B</a:t>
            </a:r>
            <a:r>
              <a:rPr lang="zh-CN" altLang="en-US" b="1" dirty="0">
                <a:solidFill>
                  <a:srgbClr val="C00000"/>
                </a:solidFill>
                <a:ea typeface="宋体" charset="-122"/>
                <a:sym typeface="Symbol" pitchFamily="18" charset="2"/>
              </a:rPr>
              <a:t>，</a:t>
            </a:r>
            <a:r>
              <a:rPr lang="zh-CN" altLang="en-US" dirty="0"/>
              <a:t>都是</a:t>
            </a:r>
            <a:r>
              <a:rPr lang="zh-CN" altLang="en-US" dirty="0">
                <a:solidFill>
                  <a:srgbClr val="C00000"/>
                </a:solidFill>
              </a:rPr>
              <a:t>非平凡多值依赖；</a:t>
            </a:r>
            <a:r>
              <a:rPr lang="en-US" altLang="zh-CN" dirty="0"/>
              <a:t> </a:t>
            </a:r>
            <a:r>
              <a:rPr lang="zh-CN" altLang="en-US" dirty="0"/>
              <a:t>但</a:t>
            </a:r>
            <a:r>
              <a:rPr lang="en-US" altLang="zh-CN" dirty="0"/>
              <a:t>C</a:t>
            </a:r>
            <a:r>
              <a:rPr lang="zh-CN" altLang="en-US" dirty="0"/>
              <a:t>不是码，</a:t>
            </a:r>
            <a:r>
              <a:rPr lang="en-US" altLang="zh-CN" dirty="0"/>
              <a:t>Teaching</a:t>
            </a:r>
            <a:r>
              <a:rPr lang="zh-CN" altLang="en-US" dirty="0"/>
              <a:t>的码是</a:t>
            </a:r>
            <a:r>
              <a:rPr lang="en-US" altLang="zh-CN" dirty="0"/>
              <a:t>(C</a:t>
            </a:r>
            <a:r>
              <a:rPr lang="zh-CN" altLang="en-US" dirty="0"/>
              <a:t>，</a:t>
            </a:r>
            <a:r>
              <a:rPr lang="en-US" altLang="zh-CN" dirty="0"/>
              <a:t>T</a:t>
            </a:r>
            <a:r>
              <a:rPr lang="zh-CN" altLang="en-US" dirty="0"/>
              <a:t>，</a:t>
            </a:r>
            <a:r>
              <a:rPr lang="en-US" altLang="zh-CN" dirty="0"/>
              <a:t>B)</a:t>
            </a:r>
            <a:r>
              <a:rPr lang="zh-CN" altLang="en-US" dirty="0"/>
              <a:t>， 即</a:t>
            </a:r>
            <a:r>
              <a:rPr lang="zh-CN" altLang="en-US" b="1" dirty="0">
                <a:solidFill>
                  <a:schemeClr val="tx2"/>
                </a:solidFill>
              </a:rPr>
              <a:t>全码</a:t>
            </a:r>
            <a:r>
              <a:rPr lang="zh-CN" altLang="en-US" dirty="0"/>
              <a:t>。</a:t>
            </a:r>
            <a:r>
              <a:rPr lang="en-US" altLang="zh-CN" dirty="0"/>
              <a:t> </a:t>
            </a:r>
            <a:r>
              <a:rPr lang="en-US" altLang="zh-CN" dirty="0">
                <a:solidFill>
                  <a:srgbClr val="C00000"/>
                </a:solidFill>
              </a:rPr>
              <a:t>Teaching</a:t>
            </a:r>
            <a:r>
              <a:rPr lang="zh-CN" altLang="en-US" dirty="0">
                <a:solidFill>
                  <a:srgbClr val="C00000"/>
                </a:solidFill>
              </a:rPr>
              <a:t>∈</a:t>
            </a:r>
            <a:r>
              <a:rPr lang="en-US" altLang="zh-CN" dirty="0">
                <a:solidFill>
                  <a:srgbClr val="C00000"/>
                </a:solidFill>
              </a:rPr>
              <a:t>4NF</a:t>
            </a:r>
            <a:r>
              <a:rPr lang="zh-CN" altLang="en-US" dirty="0"/>
              <a:t>。</a:t>
            </a:r>
            <a:endParaRPr lang="en-US" altLang="zh-CN" b="1" dirty="0">
              <a:solidFill>
                <a:srgbClr val="C00000"/>
              </a:solidFill>
              <a:ea typeface="宋体" charset="-122"/>
            </a:endParaRPr>
          </a:p>
          <a:p>
            <a:pPr marL="0" indent="0">
              <a:buNone/>
            </a:pPr>
            <a:r>
              <a:rPr lang="en-US" altLang="zh-CN" dirty="0"/>
              <a:t>     CT(C, T) ∈ 4NF</a:t>
            </a:r>
            <a:r>
              <a:rPr lang="zh-CN" altLang="en-US" dirty="0"/>
              <a:t>，</a:t>
            </a:r>
            <a:r>
              <a:rPr lang="en-US" altLang="zh-CN" dirty="0"/>
              <a:t> CB(C, B) ∈ 4NF</a:t>
            </a:r>
          </a:p>
          <a:p>
            <a:pPr marL="0" indent="0">
              <a:buNone/>
            </a:pPr>
            <a:r>
              <a:rPr lang="en-US" altLang="zh-CN" dirty="0"/>
              <a:t>     C→→T</a:t>
            </a:r>
            <a:r>
              <a:rPr lang="zh-CN" altLang="en-US" dirty="0"/>
              <a:t>， </a:t>
            </a:r>
            <a:r>
              <a:rPr lang="en-US" altLang="zh-CN" dirty="0"/>
              <a:t>C→→B</a:t>
            </a:r>
            <a:r>
              <a:rPr lang="zh-CN" altLang="en-US" dirty="0"/>
              <a:t>是</a:t>
            </a:r>
            <a:r>
              <a:rPr lang="zh-CN" altLang="en-US" b="1" dirty="0">
                <a:solidFill>
                  <a:srgbClr val="0000FF"/>
                </a:solidFill>
              </a:rPr>
              <a:t>平凡</a:t>
            </a:r>
            <a:r>
              <a:rPr lang="zh-CN" altLang="en-US" dirty="0"/>
              <a:t>多值依赖</a:t>
            </a:r>
            <a:r>
              <a:rPr lang="en-US" altLang="zh-CN" dirty="0"/>
              <a:t>(</a:t>
            </a:r>
            <a:r>
              <a:rPr lang="en-US" altLang="zh-CN" dirty="0">
                <a:solidFill>
                  <a:srgbClr val="FF0000"/>
                </a:solidFill>
              </a:rPr>
              <a:t>Z=</a:t>
            </a:r>
            <a:r>
              <a:rPr lang="en-US" altLang="zh-CN" dirty="0">
                <a:solidFill>
                  <a:srgbClr val="FF0000"/>
                </a:solidFill>
                <a:sym typeface="Symbol" pitchFamily="18" charset="2"/>
              </a:rPr>
              <a:t></a:t>
            </a:r>
            <a:r>
              <a:rPr lang="en-US" altLang="zh-CN" dirty="0"/>
              <a:t>)</a:t>
            </a:r>
            <a:endParaRPr lang="zh-CN" altLang="en-US" dirty="0"/>
          </a:p>
          <a:p>
            <a:pPr algn="ctr">
              <a:buFont typeface="Wingdings" pitchFamily="2" charset="2"/>
              <a:buNone/>
            </a:pPr>
            <a:r>
              <a:rPr lang="zh-CN" altLang="en-US" sz="2800" dirty="0">
                <a:solidFill>
                  <a:srgbClr val="FF0000"/>
                </a:solidFill>
              </a:rPr>
              <a:t>      </a:t>
            </a:r>
            <a:endParaRPr lang="zh-CN" altLang="en-US" dirty="0"/>
          </a:p>
        </p:txBody>
      </p:sp>
      <p:sp>
        <p:nvSpPr>
          <p:cNvPr id="7" name="Line 4"/>
          <p:cNvSpPr>
            <a:spLocks noChangeShapeType="1"/>
          </p:cNvSpPr>
          <p:nvPr/>
        </p:nvSpPr>
        <p:spPr bwMode="auto">
          <a:xfrm>
            <a:off x="7315200" y="4419600"/>
            <a:ext cx="215900" cy="360363"/>
          </a:xfrm>
          <a:prstGeom prst="line">
            <a:avLst/>
          </a:prstGeom>
          <a:noFill/>
          <a:ln w="2540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圆角矩形标注 2"/>
          <p:cNvSpPr/>
          <p:nvPr/>
        </p:nvSpPr>
        <p:spPr bwMode="auto">
          <a:xfrm>
            <a:off x="5302168" y="2895600"/>
            <a:ext cx="1403431" cy="546547"/>
          </a:xfrm>
          <a:prstGeom prst="wedgeRoundRectCallout">
            <a:avLst>
              <a:gd name="adj1" fmla="val -87941"/>
              <a:gd name="adj2" fmla="val -64567"/>
              <a:gd name="adj3" fmla="val 16667"/>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r>
              <a:rPr lang="en-US" altLang="zh-CN" b="1" dirty="0">
                <a:solidFill>
                  <a:srgbClr val="C00000"/>
                </a:solidFill>
              </a:rPr>
              <a:t>X→Y</a:t>
            </a:r>
            <a:endParaRPr kumimoji="1" lang="zh-CN" altLang="en-US" sz="2400" b="1" i="0" u="none" strike="noStrike" cap="none" normalizeH="0" baseline="0" dirty="0">
              <a:ln>
                <a:noFill/>
              </a:ln>
              <a:solidFill>
                <a:srgbClr val="C00000"/>
              </a:solidFill>
              <a:effectLst/>
            </a:endParaRPr>
          </a:p>
        </p:txBody>
      </p:sp>
      <p:sp>
        <p:nvSpPr>
          <p:cNvPr id="6" name="页脚占位符 5">
            <a:extLst>
              <a:ext uri="{FF2B5EF4-FFF2-40B4-BE49-F238E27FC236}">
                <a16:creationId xmlns:a16="http://schemas.microsoft.com/office/drawing/2014/main" id="{5625652F-7B2F-B97B-DC13-6F0DD214C279}"/>
              </a:ext>
            </a:extLst>
          </p:cNvPr>
          <p:cNvSpPr>
            <a:spLocks noGrp="1"/>
          </p:cNvSpPr>
          <p:nvPr>
            <p:ph type="ftr" sz="quarter" idx="11"/>
          </p:nvPr>
        </p:nvSpPr>
        <p:spPr/>
        <p:txBody>
          <a:bodyPr/>
          <a:lstStyle/>
          <a:p>
            <a:r>
              <a:rPr lang="en-US" altLang="zh-CN"/>
              <a:t>《数据库系统概论》- 第6章</a:t>
            </a:r>
          </a:p>
        </p:txBody>
      </p:sp>
      <p:sp>
        <p:nvSpPr>
          <p:cNvPr id="8" name="灯片编号占位符 7">
            <a:extLst>
              <a:ext uri="{FF2B5EF4-FFF2-40B4-BE49-F238E27FC236}">
                <a16:creationId xmlns:a16="http://schemas.microsoft.com/office/drawing/2014/main" id="{560EFC6F-CF5A-39DF-B2A7-237840FAF0E9}"/>
              </a:ext>
            </a:extLst>
          </p:cNvPr>
          <p:cNvSpPr>
            <a:spLocks noGrp="1"/>
          </p:cNvSpPr>
          <p:nvPr>
            <p:ph type="sldNum" sz="quarter" idx="12"/>
          </p:nvPr>
        </p:nvSpPr>
        <p:spPr/>
        <p:txBody>
          <a:bodyPr/>
          <a:lstStyle/>
          <a:p>
            <a:fld id="{A2D74603-B40B-4D66-8F6E-41C870D48932}" type="slidenum">
              <a:rPr lang="en-US" altLang="zh-CN" smtClean="0"/>
              <a:pPr/>
              <a:t>90</a:t>
            </a:fld>
            <a:r>
              <a:rPr lang="en-US" altLang="zh-CN"/>
              <a:t>/162</a:t>
            </a:r>
            <a:endParaRPr lang="en-US" altLang="zh-CN" dirty="0"/>
          </a:p>
        </p:txBody>
      </p:sp>
      <p:sp>
        <p:nvSpPr>
          <p:cNvPr id="5" name="矩形 4"/>
          <p:cNvSpPr/>
          <p:nvPr/>
        </p:nvSpPr>
        <p:spPr>
          <a:xfrm>
            <a:off x="2070743" y="6091238"/>
            <a:ext cx="5415265" cy="584775"/>
          </a:xfrm>
          <a:prstGeom prst="rect">
            <a:avLst/>
          </a:prstGeom>
          <a:solidFill>
            <a:schemeClr val="bg1"/>
          </a:solidFill>
        </p:spPr>
        <p:txBody>
          <a:bodyPr wrap="none">
            <a:spAutoFit/>
          </a:bodyPr>
          <a:lstStyle/>
          <a:p>
            <a:r>
              <a:rPr lang="zh-CN" altLang="en-US" sz="3200" dirty="0">
                <a:solidFill>
                  <a:srgbClr val="FF0000"/>
                </a:solidFill>
              </a:rPr>
              <a:t>实质上</a:t>
            </a:r>
            <a:r>
              <a:rPr lang="en-US" altLang="zh-CN" sz="3200" dirty="0">
                <a:solidFill>
                  <a:srgbClr val="FF0000"/>
                </a:solidFill>
              </a:rPr>
              <a:t>4NF</a:t>
            </a:r>
            <a:r>
              <a:rPr lang="zh-CN" altLang="en-US" sz="3200" b="1" dirty="0">
                <a:solidFill>
                  <a:srgbClr val="FF0000"/>
                </a:solidFill>
              </a:rPr>
              <a:t>消除</a:t>
            </a:r>
            <a:r>
              <a:rPr lang="zh-CN" altLang="en-US" sz="3200" dirty="0">
                <a:solidFill>
                  <a:srgbClr val="FF0000"/>
                </a:solidFill>
              </a:rPr>
              <a:t>了多值依赖</a:t>
            </a:r>
            <a:r>
              <a:rPr lang="zh-CN" altLang="en-US" sz="3200" dirty="0"/>
              <a:t>。</a:t>
            </a:r>
          </a:p>
        </p:txBody>
      </p:sp>
    </p:spTree>
    <p:extLst>
      <p:ext uri="{BB962C8B-B14F-4D97-AF65-F5344CB8AC3E}">
        <p14:creationId xmlns:p14="http://schemas.microsoft.com/office/powerpoint/2010/main" val="37678749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4131">
                                            <p:txEl>
                                              <p:pRg st="1" end="1"/>
                                            </p:txEl>
                                          </p:spTgt>
                                        </p:tgtEl>
                                        <p:attrNameLst>
                                          <p:attrName>style.visibility</p:attrName>
                                        </p:attrNameLst>
                                      </p:cBhvr>
                                      <p:to>
                                        <p:strVal val="visible"/>
                                      </p:to>
                                    </p:set>
                                    <p:anim calcmode="lin" valueType="num">
                                      <p:cBhvr additive="base">
                                        <p:cTn id="7" dur="500" fill="hold"/>
                                        <p:tgtEl>
                                          <p:spTgt spid="30413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4131">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heel(1)">
                                      <p:cBhvr>
                                        <p:cTn id="17" dur="10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heel(1)">
                                      <p:cBhvr>
                                        <p:cTn id="22" dur="10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04131">
                                            <p:txEl>
                                              <p:pRg st="2" end="2"/>
                                            </p:txEl>
                                          </p:spTgt>
                                        </p:tgtEl>
                                        <p:attrNameLst>
                                          <p:attrName>style.visibility</p:attrName>
                                        </p:attrNameLst>
                                      </p:cBhvr>
                                      <p:to>
                                        <p:strVal val="visible"/>
                                      </p:to>
                                    </p:set>
                                    <p:anim calcmode="lin" valueType="num">
                                      <p:cBhvr additive="base">
                                        <p:cTn id="27" dur="500" fill="hold"/>
                                        <p:tgtEl>
                                          <p:spTgt spid="304131">
                                            <p:txEl>
                                              <p:pRg st="2" end="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0413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04131">
                                            <p:txEl>
                                              <p:pRg st="3" end="3"/>
                                            </p:txEl>
                                          </p:spTgt>
                                        </p:tgtEl>
                                        <p:attrNameLst>
                                          <p:attrName>style.visibility</p:attrName>
                                        </p:attrNameLst>
                                      </p:cBhvr>
                                      <p:to>
                                        <p:strVal val="visible"/>
                                      </p:to>
                                    </p:set>
                                    <p:anim calcmode="lin" valueType="num">
                                      <p:cBhvr additive="base">
                                        <p:cTn id="33" dur="500" fill="hold"/>
                                        <p:tgtEl>
                                          <p:spTgt spid="304131">
                                            <p:txEl>
                                              <p:pRg st="3" end="3"/>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0413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04131">
                                            <p:txEl>
                                              <p:pRg st="4" end="4"/>
                                            </p:txEl>
                                          </p:spTgt>
                                        </p:tgtEl>
                                        <p:attrNameLst>
                                          <p:attrName>style.visibility</p:attrName>
                                        </p:attrNameLst>
                                      </p:cBhvr>
                                      <p:to>
                                        <p:strVal val="visible"/>
                                      </p:to>
                                    </p:set>
                                    <p:anim calcmode="lin" valueType="num">
                                      <p:cBhvr additive="base">
                                        <p:cTn id="39" dur="500" fill="hold"/>
                                        <p:tgtEl>
                                          <p:spTgt spid="304131">
                                            <p:txEl>
                                              <p:pRg st="4" end="4"/>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0413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6" presetClass="entr" presetSubtype="21" fill="hold" grpId="0" nodeType="click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barn(inVertical)">
                                      <p:cBhvr>
                                        <p:cTn id="4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7" grpId="0" animBg="1"/>
      <p:bldP spid="3" grpId="0" animBg="1"/>
      <p:bldP spid="5"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2B6C6858-92D0-4942-BE6B-A46DB63F16E2}" type="datetime1">
              <a:rPr lang="zh-CN" altLang="en-US" smtClean="0"/>
              <a:t>2025/11/6</a:t>
            </a:fld>
            <a:endParaRPr lang="en-US" altLang="zh-CN"/>
          </a:p>
        </p:txBody>
      </p:sp>
      <p:sp>
        <p:nvSpPr>
          <p:cNvPr id="305154" name="Rectangle 2"/>
          <p:cNvSpPr>
            <a:spLocks noGrp="1" noChangeArrowheads="1"/>
          </p:cNvSpPr>
          <p:nvPr>
            <p:ph type="title"/>
          </p:nvPr>
        </p:nvSpPr>
        <p:spPr/>
        <p:txBody>
          <a:bodyPr/>
          <a:lstStyle/>
          <a:p>
            <a:r>
              <a:rPr lang="en-US" altLang="zh-CN" dirty="0"/>
              <a:t>8.2.9 </a:t>
            </a:r>
            <a:r>
              <a:rPr lang="zh-CN" altLang="en-US" dirty="0"/>
              <a:t>规范化小结</a:t>
            </a:r>
          </a:p>
        </p:txBody>
      </p:sp>
      <p:sp>
        <p:nvSpPr>
          <p:cNvPr id="305155" name="Rectangle 3"/>
          <p:cNvSpPr>
            <a:spLocks noGrp="1" noChangeArrowheads="1"/>
          </p:cNvSpPr>
          <p:nvPr>
            <p:ph type="body" idx="1"/>
          </p:nvPr>
        </p:nvSpPr>
        <p:spPr/>
        <p:txBody>
          <a:bodyPr/>
          <a:lstStyle/>
          <a:p>
            <a:pPr>
              <a:lnSpc>
                <a:spcPct val="80000"/>
              </a:lnSpc>
              <a:buFont typeface="Wingdings" pitchFamily="2" charset="2"/>
              <a:buNone/>
            </a:pPr>
            <a:r>
              <a:rPr lang="en-US" altLang="zh-CN" sz="2800" dirty="0"/>
              <a:t>	1NF</a:t>
            </a:r>
            <a:r>
              <a:rPr lang="zh-CN" altLang="en-US" sz="2800" dirty="0"/>
              <a:t>：每个分量是</a:t>
            </a:r>
            <a:r>
              <a:rPr lang="zh-CN" altLang="en-US" sz="2800" b="1" dirty="0">
                <a:solidFill>
                  <a:srgbClr val="C00000"/>
                </a:solidFill>
              </a:rPr>
              <a:t>不可分</a:t>
            </a:r>
            <a:r>
              <a:rPr lang="zh-CN" altLang="en-US" sz="2800" dirty="0"/>
              <a:t>的数据项。</a:t>
            </a:r>
          </a:p>
          <a:p>
            <a:pPr>
              <a:lnSpc>
                <a:spcPct val="80000"/>
              </a:lnSpc>
              <a:buFont typeface="Wingdings" pitchFamily="2" charset="2"/>
              <a:buNone/>
            </a:pPr>
            <a:r>
              <a:rPr lang="zh-CN" altLang="en-US" sz="2800" dirty="0"/>
              <a:t>	∪</a:t>
            </a:r>
          </a:p>
          <a:p>
            <a:pPr>
              <a:lnSpc>
                <a:spcPct val="80000"/>
              </a:lnSpc>
              <a:buFont typeface="Wingdings" pitchFamily="2" charset="2"/>
              <a:buNone/>
            </a:pPr>
            <a:r>
              <a:rPr lang="zh-CN" altLang="en-US" sz="2800" dirty="0"/>
              <a:t>	</a:t>
            </a:r>
            <a:r>
              <a:rPr lang="en-US" altLang="zh-CN" sz="2800" dirty="0"/>
              <a:t>2NF</a:t>
            </a:r>
            <a:r>
              <a:rPr lang="zh-CN" altLang="en-US" sz="2800" dirty="0"/>
              <a:t>：非主属性</a:t>
            </a:r>
            <a:r>
              <a:rPr lang="zh-CN" altLang="en-US" sz="2800" b="1" dirty="0">
                <a:solidFill>
                  <a:schemeClr val="tx2"/>
                </a:solidFill>
              </a:rPr>
              <a:t>完全函数依赖于</a:t>
            </a:r>
            <a:r>
              <a:rPr lang="zh-CN" altLang="en-US" sz="2800" b="1" dirty="0">
                <a:solidFill>
                  <a:srgbClr val="C00000"/>
                </a:solidFill>
              </a:rPr>
              <a:t>码</a:t>
            </a:r>
            <a:r>
              <a:rPr lang="zh-CN" altLang="en-US" sz="2800" dirty="0"/>
              <a:t>。</a:t>
            </a:r>
          </a:p>
          <a:p>
            <a:pPr>
              <a:lnSpc>
                <a:spcPct val="80000"/>
              </a:lnSpc>
              <a:buFont typeface="Wingdings" pitchFamily="2" charset="2"/>
              <a:buNone/>
            </a:pPr>
            <a:r>
              <a:rPr lang="zh-CN" altLang="en-US" sz="2800" dirty="0"/>
              <a:t>	∪</a:t>
            </a:r>
          </a:p>
          <a:p>
            <a:pPr>
              <a:lnSpc>
                <a:spcPct val="80000"/>
              </a:lnSpc>
              <a:buFont typeface="Wingdings" pitchFamily="2" charset="2"/>
              <a:buNone/>
            </a:pPr>
            <a:r>
              <a:rPr lang="zh-CN" altLang="en-US" sz="2800" dirty="0"/>
              <a:t>	</a:t>
            </a:r>
            <a:r>
              <a:rPr lang="en-US" altLang="zh-CN" sz="2800" dirty="0"/>
              <a:t>3NF</a:t>
            </a:r>
            <a:r>
              <a:rPr lang="zh-CN" altLang="en-US" sz="2800" dirty="0"/>
              <a:t>：非主属性</a:t>
            </a:r>
            <a:r>
              <a:rPr lang="zh-CN" altLang="en-US" sz="2800" b="1" dirty="0">
                <a:solidFill>
                  <a:schemeClr val="tx2"/>
                </a:solidFill>
              </a:rPr>
              <a:t>既不部分依赖于</a:t>
            </a:r>
            <a:r>
              <a:rPr lang="zh-CN" altLang="en-US" sz="2800" b="1" dirty="0">
                <a:solidFill>
                  <a:srgbClr val="C00000"/>
                </a:solidFill>
              </a:rPr>
              <a:t>码</a:t>
            </a:r>
            <a:r>
              <a:rPr lang="zh-CN" altLang="en-US" sz="2800" b="1" dirty="0">
                <a:solidFill>
                  <a:schemeClr val="tx2"/>
                </a:solidFill>
              </a:rPr>
              <a:t>也不传递依赖于</a:t>
            </a:r>
            <a:r>
              <a:rPr lang="zh-CN" altLang="en-US" sz="2800" b="1" dirty="0">
                <a:solidFill>
                  <a:srgbClr val="C00000"/>
                </a:solidFill>
              </a:rPr>
              <a:t>码</a:t>
            </a:r>
            <a:r>
              <a:rPr lang="zh-CN" altLang="en-US" sz="2800" dirty="0"/>
              <a:t>。</a:t>
            </a:r>
          </a:p>
          <a:p>
            <a:pPr>
              <a:lnSpc>
                <a:spcPct val="80000"/>
              </a:lnSpc>
              <a:buFont typeface="Wingdings" pitchFamily="2" charset="2"/>
              <a:buNone/>
            </a:pPr>
            <a:r>
              <a:rPr lang="zh-CN" altLang="en-US" sz="2800" dirty="0"/>
              <a:t>	∪</a:t>
            </a:r>
          </a:p>
          <a:p>
            <a:pPr>
              <a:lnSpc>
                <a:spcPct val="80000"/>
              </a:lnSpc>
              <a:buFont typeface="Wingdings" pitchFamily="2" charset="2"/>
              <a:buNone/>
            </a:pPr>
            <a:r>
              <a:rPr lang="zh-CN" altLang="en-US" sz="2800" dirty="0"/>
              <a:t>	</a:t>
            </a:r>
            <a:r>
              <a:rPr lang="en-US" altLang="zh-CN" sz="2800" dirty="0"/>
              <a:t>BCNF</a:t>
            </a:r>
            <a:r>
              <a:rPr lang="zh-CN" altLang="en-US" sz="2800" dirty="0"/>
              <a:t>：</a:t>
            </a:r>
            <a:r>
              <a:rPr lang="zh-CN" altLang="en-US" sz="2800" b="1" dirty="0"/>
              <a:t>所有属性</a:t>
            </a:r>
            <a:r>
              <a:rPr lang="zh-CN" altLang="en-US" sz="2800" dirty="0"/>
              <a:t>都</a:t>
            </a:r>
            <a:r>
              <a:rPr lang="zh-CN" altLang="en-US" sz="2800" b="1" dirty="0">
                <a:solidFill>
                  <a:schemeClr val="tx2"/>
                </a:solidFill>
              </a:rPr>
              <a:t>不部分依赖于码也不传递依赖于码</a:t>
            </a:r>
            <a:r>
              <a:rPr lang="zh-CN" altLang="en-US" sz="2800" dirty="0"/>
              <a:t>。</a:t>
            </a:r>
            <a:r>
              <a:rPr lang="zh-CN" altLang="en-US" sz="2800" b="1" dirty="0">
                <a:solidFill>
                  <a:srgbClr val="C00000"/>
                </a:solidFill>
              </a:rPr>
              <a:t>所有决定因素</a:t>
            </a:r>
            <a:r>
              <a:rPr lang="en-US" altLang="zh-CN" sz="2800" b="1" dirty="0">
                <a:solidFill>
                  <a:srgbClr val="C00000"/>
                </a:solidFill>
              </a:rPr>
              <a:t>(</a:t>
            </a:r>
            <a:r>
              <a:rPr lang="zh-CN" altLang="en-US" sz="2800" b="1" dirty="0">
                <a:solidFill>
                  <a:srgbClr val="C00000"/>
                </a:solidFill>
              </a:rPr>
              <a:t>属性集</a:t>
            </a:r>
            <a:r>
              <a:rPr lang="en-US" altLang="zh-CN" sz="2800" b="1" dirty="0">
                <a:solidFill>
                  <a:srgbClr val="C00000"/>
                </a:solidFill>
              </a:rPr>
              <a:t>)</a:t>
            </a:r>
            <a:r>
              <a:rPr lang="zh-CN" altLang="en-US" sz="2800" b="1" dirty="0">
                <a:solidFill>
                  <a:srgbClr val="C00000"/>
                </a:solidFill>
              </a:rPr>
              <a:t>都包含</a:t>
            </a:r>
            <a:r>
              <a:rPr lang="zh-CN" altLang="en-US" sz="2800" b="1" u="sng" dirty="0">
                <a:solidFill>
                  <a:srgbClr val="C00000"/>
                </a:solidFill>
              </a:rPr>
              <a:t>码</a:t>
            </a:r>
            <a:r>
              <a:rPr lang="zh-CN" altLang="en-US" sz="2800" dirty="0"/>
              <a:t>。</a:t>
            </a:r>
          </a:p>
          <a:p>
            <a:pPr>
              <a:lnSpc>
                <a:spcPct val="80000"/>
              </a:lnSpc>
              <a:buFont typeface="Wingdings" pitchFamily="2" charset="2"/>
              <a:buNone/>
            </a:pPr>
            <a:r>
              <a:rPr lang="zh-CN" altLang="en-US" sz="2800" dirty="0"/>
              <a:t>	∪</a:t>
            </a:r>
          </a:p>
          <a:p>
            <a:pPr>
              <a:lnSpc>
                <a:spcPct val="80000"/>
              </a:lnSpc>
              <a:buFont typeface="Wingdings" pitchFamily="2" charset="2"/>
              <a:buNone/>
            </a:pPr>
            <a:r>
              <a:rPr lang="zh-CN" altLang="en-US" sz="2800" dirty="0"/>
              <a:t>	</a:t>
            </a:r>
            <a:r>
              <a:rPr lang="en-US" altLang="zh-CN" sz="2800" dirty="0"/>
              <a:t>4NF</a:t>
            </a:r>
            <a:r>
              <a:rPr lang="zh-CN" altLang="en-US" sz="2800" dirty="0"/>
              <a:t>：所有</a:t>
            </a:r>
            <a:r>
              <a:rPr lang="zh-CN" altLang="en-US" sz="2800" b="1" dirty="0">
                <a:solidFill>
                  <a:schemeClr val="tx2"/>
                </a:solidFill>
              </a:rPr>
              <a:t>非平凡的多值依赖</a:t>
            </a:r>
            <a:r>
              <a:rPr lang="zh-CN" altLang="en-US" sz="2800" dirty="0"/>
              <a:t>都是</a:t>
            </a:r>
            <a:r>
              <a:rPr lang="zh-CN" altLang="en-US" sz="2800" b="1" dirty="0">
                <a:solidFill>
                  <a:schemeClr val="tx2"/>
                </a:solidFill>
              </a:rPr>
              <a:t>函数依赖</a:t>
            </a:r>
            <a:r>
              <a:rPr lang="zh-CN" altLang="en-US" sz="2800" dirty="0"/>
              <a:t>。</a:t>
            </a:r>
          </a:p>
          <a:p>
            <a:pPr>
              <a:lnSpc>
                <a:spcPct val="80000"/>
              </a:lnSpc>
            </a:pPr>
            <a:endParaRPr lang="zh-CN" altLang="en-US" sz="2800" dirty="0"/>
          </a:p>
        </p:txBody>
      </p:sp>
      <p:sp>
        <p:nvSpPr>
          <p:cNvPr id="3" name="页脚占位符 2">
            <a:extLst>
              <a:ext uri="{FF2B5EF4-FFF2-40B4-BE49-F238E27FC236}">
                <a16:creationId xmlns:a16="http://schemas.microsoft.com/office/drawing/2014/main" id="{281B2ADF-8A71-DCC1-E5D6-160D42998294}"/>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C041E69D-FE5B-D9B7-A915-CFD13D2D5B56}"/>
              </a:ext>
            </a:extLst>
          </p:cNvPr>
          <p:cNvSpPr>
            <a:spLocks noGrp="1"/>
          </p:cNvSpPr>
          <p:nvPr>
            <p:ph type="sldNum" sz="quarter" idx="12"/>
          </p:nvPr>
        </p:nvSpPr>
        <p:spPr/>
        <p:txBody>
          <a:bodyPr/>
          <a:lstStyle/>
          <a:p>
            <a:fld id="{A2D74603-B40B-4D66-8F6E-41C870D48932}" type="slidenum">
              <a:rPr lang="en-US" altLang="zh-CN" smtClean="0"/>
              <a:pPr/>
              <a:t>91</a:t>
            </a:fld>
            <a:r>
              <a:rPr lang="en-US" altLang="zh-CN"/>
              <a:t>/162</a:t>
            </a:r>
            <a:endParaRPr lang="en-US" altLang="zh-CN" dirty="0"/>
          </a:p>
        </p:txBody>
      </p:sp>
    </p:spTree>
    <p:extLst>
      <p:ext uri="{BB962C8B-B14F-4D97-AF65-F5344CB8AC3E}">
        <p14:creationId xmlns:p14="http://schemas.microsoft.com/office/powerpoint/2010/main" val="154610128"/>
      </p:ext>
    </p:extLst>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9C823743-CC92-449D-8EBB-8CE7809AF6F1}" type="datetime1">
              <a:rPr lang="zh-CN" altLang="en-US" smtClean="0"/>
              <a:t>2025/11/6</a:t>
            </a:fld>
            <a:endParaRPr lang="en-US" altLang="zh-CN"/>
          </a:p>
        </p:txBody>
      </p:sp>
      <p:sp>
        <p:nvSpPr>
          <p:cNvPr id="305154" name="Rectangle 2"/>
          <p:cNvSpPr>
            <a:spLocks noGrp="1" noChangeArrowheads="1"/>
          </p:cNvSpPr>
          <p:nvPr>
            <p:ph type="title"/>
          </p:nvPr>
        </p:nvSpPr>
        <p:spPr/>
        <p:txBody>
          <a:bodyPr/>
          <a:lstStyle/>
          <a:p>
            <a:r>
              <a:rPr lang="en-US" altLang="zh-CN" dirty="0"/>
              <a:t>8.2.9 </a:t>
            </a:r>
            <a:r>
              <a:rPr lang="zh-CN" altLang="en-US" dirty="0"/>
              <a:t>规范化小结</a:t>
            </a:r>
          </a:p>
        </p:txBody>
      </p:sp>
      <p:sp>
        <p:nvSpPr>
          <p:cNvPr id="305155" name="Rectangle 3"/>
          <p:cNvSpPr>
            <a:spLocks noGrp="1" noChangeArrowheads="1"/>
          </p:cNvSpPr>
          <p:nvPr>
            <p:ph type="body" idx="1"/>
          </p:nvPr>
        </p:nvSpPr>
        <p:spPr/>
        <p:txBody>
          <a:bodyPr/>
          <a:lstStyle/>
          <a:p>
            <a:r>
              <a:rPr lang="zh-CN" altLang="en-US" dirty="0"/>
              <a:t>在关系数据库中，对关系模式的</a:t>
            </a:r>
            <a:r>
              <a:rPr lang="zh-CN" altLang="en-US" dirty="0">
                <a:solidFill>
                  <a:srgbClr val="0000FF"/>
                </a:solidFill>
              </a:rPr>
              <a:t>基本要求是满足第一范式</a:t>
            </a:r>
            <a:r>
              <a:rPr lang="zh-CN" altLang="en-US" dirty="0"/>
              <a:t>。</a:t>
            </a:r>
          </a:p>
          <a:p>
            <a:r>
              <a:rPr lang="zh-CN" altLang="en-US" dirty="0"/>
              <a:t>规范化程度</a:t>
            </a:r>
            <a:r>
              <a:rPr lang="zh-CN" altLang="en-US" dirty="0">
                <a:solidFill>
                  <a:srgbClr val="0000FF"/>
                </a:solidFill>
              </a:rPr>
              <a:t>过低</a:t>
            </a:r>
            <a:r>
              <a:rPr lang="zh-CN" altLang="en-US" dirty="0"/>
              <a:t>的关系</a:t>
            </a:r>
            <a:r>
              <a:rPr lang="zh-CN" altLang="en-US" dirty="0">
                <a:solidFill>
                  <a:srgbClr val="0000FF"/>
                </a:solidFill>
              </a:rPr>
              <a:t>不一定能够很好地描述现实世界</a:t>
            </a:r>
          </a:p>
          <a:p>
            <a:pPr lvl="1"/>
            <a:r>
              <a:rPr lang="zh-CN" altLang="en-US" dirty="0"/>
              <a:t>可能存在插入异常、删除异常、修改复杂、数据冗余等问题</a:t>
            </a:r>
          </a:p>
          <a:p>
            <a:pPr lvl="1"/>
            <a:r>
              <a:rPr lang="zh-CN" altLang="en-US" dirty="0">
                <a:solidFill>
                  <a:srgbClr val="0000FF"/>
                </a:solidFill>
              </a:rPr>
              <a:t>解决方法</a:t>
            </a:r>
            <a:r>
              <a:rPr lang="zh-CN" altLang="en-US" dirty="0"/>
              <a:t>就是对其</a:t>
            </a:r>
            <a:r>
              <a:rPr lang="zh-CN" altLang="en-US" dirty="0">
                <a:solidFill>
                  <a:srgbClr val="C00000"/>
                </a:solidFill>
              </a:rPr>
              <a:t>进行规范化</a:t>
            </a:r>
            <a:r>
              <a:rPr lang="zh-CN" altLang="en-US" dirty="0"/>
              <a:t>，转换成</a:t>
            </a:r>
            <a:r>
              <a:rPr lang="zh-CN" altLang="en-US" dirty="0">
                <a:solidFill>
                  <a:srgbClr val="0000FF"/>
                </a:solidFill>
              </a:rPr>
              <a:t>高级</a:t>
            </a:r>
            <a:r>
              <a:rPr lang="zh-CN" altLang="en-US" dirty="0"/>
              <a:t>范式。</a:t>
            </a:r>
          </a:p>
        </p:txBody>
      </p:sp>
      <p:sp>
        <p:nvSpPr>
          <p:cNvPr id="3" name="页脚占位符 2">
            <a:extLst>
              <a:ext uri="{FF2B5EF4-FFF2-40B4-BE49-F238E27FC236}">
                <a16:creationId xmlns:a16="http://schemas.microsoft.com/office/drawing/2014/main" id="{5B0A3985-D437-C07D-49B1-54D3BD50148D}"/>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2F202720-4038-BB48-1BBB-00B76A25A773}"/>
              </a:ext>
            </a:extLst>
          </p:cNvPr>
          <p:cNvSpPr>
            <a:spLocks noGrp="1"/>
          </p:cNvSpPr>
          <p:nvPr>
            <p:ph type="sldNum" sz="quarter" idx="12"/>
          </p:nvPr>
        </p:nvSpPr>
        <p:spPr/>
        <p:txBody>
          <a:bodyPr/>
          <a:lstStyle/>
          <a:p>
            <a:fld id="{A2D74603-B40B-4D66-8F6E-41C870D48932}" type="slidenum">
              <a:rPr lang="en-US" altLang="zh-CN" smtClean="0"/>
              <a:pPr/>
              <a:t>92</a:t>
            </a:fld>
            <a:r>
              <a:rPr lang="en-US" altLang="zh-CN"/>
              <a:t>/162</a:t>
            </a:r>
            <a:endParaRPr lang="en-US" altLang="zh-CN" dirty="0"/>
          </a:p>
        </p:txBody>
      </p:sp>
    </p:spTree>
    <p:extLst>
      <p:ext uri="{BB962C8B-B14F-4D97-AF65-F5344CB8AC3E}">
        <p14:creationId xmlns:p14="http://schemas.microsoft.com/office/powerpoint/2010/main" val="3616966055"/>
      </p:ext>
    </p:extLst>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0C1857A-3815-4D84-831F-351F90F75758}" type="datetime1">
              <a:rPr lang="zh-CN" altLang="en-US" smtClean="0"/>
              <a:t>2025/11/6</a:t>
            </a:fld>
            <a:endParaRPr lang="en-US" altLang="zh-CN"/>
          </a:p>
        </p:txBody>
      </p:sp>
      <p:sp>
        <p:nvSpPr>
          <p:cNvPr id="305154" name="Rectangle 2"/>
          <p:cNvSpPr>
            <a:spLocks noGrp="1" noChangeArrowheads="1"/>
          </p:cNvSpPr>
          <p:nvPr>
            <p:ph type="title"/>
          </p:nvPr>
        </p:nvSpPr>
        <p:spPr/>
        <p:txBody>
          <a:bodyPr/>
          <a:lstStyle/>
          <a:p>
            <a:r>
              <a:rPr lang="en-US" altLang="zh-CN" dirty="0"/>
              <a:t>8.2.9 </a:t>
            </a:r>
            <a:r>
              <a:rPr lang="zh-CN" altLang="en-US" dirty="0"/>
              <a:t>规范化小结</a:t>
            </a:r>
          </a:p>
        </p:txBody>
      </p:sp>
      <p:sp>
        <p:nvSpPr>
          <p:cNvPr id="305155" name="Rectangle 3"/>
          <p:cNvSpPr>
            <a:spLocks noGrp="1" noChangeArrowheads="1"/>
          </p:cNvSpPr>
          <p:nvPr>
            <p:ph type="body" idx="1"/>
          </p:nvPr>
        </p:nvSpPr>
        <p:spPr/>
        <p:txBody>
          <a:bodyPr/>
          <a:lstStyle/>
          <a:p>
            <a:pPr>
              <a:lnSpc>
                <a:spcPct val="80000"/>
              </a:lnSpc>
              <a:buFont typeface="Wingdings" pitchFamily="2" charset="2"/>
              <a:buNone/>
            </a:pPr>
            <a:r>
              <a:rPr lang="en-US" altLang="zh-CN" sz="2800" dirty="0"/>
              <a:t>	1NF</a:t>
            </a:r>
            <a:r>
              <a:rPr lang="zh-CN" altLang="en-US" sz="2800" dirty="0"/>
              <a:t>：每个分量是</a:t>
            </a:r>
            <a:r>
              <a:rPr lang="zh-CN" altLang="en-US" sz="2800" b="1" dirty="0">
                <a:solidFill>
                  <a:srgbClr val="C00000"/>
                </a:solidFill>
              </a:rPr>
              <a:t>不可分</a:t>
            </a:r>
            <a:r>
              <a:rPr lang="zh-CN" altLang="en-US" sz="2800" dirty="0"/>
              <a:t>的数据项。</a:t>
            </a:r>
          </a:p>
          <a:p>
            <a:pPr>
              <a:lnSpc>
                <a:spcPct val="80000"/>
              </a:lnSpc>
              <a:buFont typeface="Wingdings" pitchFamily="2" charset="2"/>
              <a:buNone/>
            </a:pPr>
            <a:r>
              <a:rPr lang="zh-CN" altLang="en-US" sz="2800" dirty="0"/>
              <a:t>	∪</a:t>
            </a:r>
          </a:p>
          <a:p>
            <a:pPr>
              <a:lnSpc>
                <a:spcPct val="80000"/>
              </a:lnSpc>
              <a:buFont typeface="Wingdings" pitchFamily="2" charset="2"/>
              <a:buNone/>
            </a:pPr>
            <a:r>
              <a:rPr lang="zh-CN" altLang="en-US" sz="2800" dirty="0"/>
              <a:t>	</a:t>
            </a:r>
            <a:r>
              <a:rPr lang="en-US" altLang="zh-CN" sz="2800" dirty="0"/>
              <a:t>2NF</a:t>
            </a:r>
            <a:r>
              <a:rPr lang="zh-CN" altLang="en-US" sz="2800" dirty="0"/>
              <a:t>：非主属性</a:t>
            </a:r>
            <a:r>
              <a:rPr lang="zh-CN" altLang="en-US" sz="2800" b="1" dirty="0">
                <a:solidFill>
                  <a:schemeClr val="tx2"/>
                </a:solidFill>
              </a:rPr>
              <a:t>完全函数依赖于</a:t>
            </a:r>
            <a:r>
              <a:rPr lang="zh-CN" altLang="en-US" sz="2800" b="1" dirty="0">
                <a:solidFill>
                  <a:srgbClr val="C00000"/>
                </a:solidFill>
              </a:rPr>
              <a:t>码</a:t>
            </a:r>
            <a:r>
              <a:rPr lang="zh-CN" altLang="en-US" sz="2800" dirty="0"/>
              <a:t>。</a:t>
            </a:r>
          </a:p>
          <a:p>
            <a:pPr>
              <a:lnSpc>
                <a:spcPct val="80000"/>
              </a:lnSpc>
              <a:buFont typeface="Wingdings" pitchFamily="2" charset="2"/>
              <a:buNone/>
            </a:pPr>
            <a:r>
              <a:rPr lang="zh-CN" altLang="en-US" sz="2800" dirty="0"/>
              <a:t>	∪</a:t>
            </a:r>
          </a:p>
          <a:p>
            <a:pPr>
              <a:lnSpc>
                <a:spcPct val="80000"/>
              </a:lnSpc>
              <a:buFont typeface="Wingdings" pitchFamily="2" charset="2"/>
              <a:buNone/>
            </a:pPr>
            <a:r>
              <a:rPr lang="zh-CN" altLang="en-US" sz="2800" dirty="0"/>
              <a:t>	</a:t>
            </a:r>
            <a:r>
              <a:rPr lang="en-US" altLang="zh-CN" sz="2800" dirty="0"/>
              <a:t>3NF</a:t>
            </a:r>
            <a:r>
              <a:rPr lang="zh-CN" altLang="en-US" sz="2800" dirty="0"/>
              <a:t>：非主属性</a:t>
            </a:r>
            <a:r>
              <a:rPr lang="zh-CN" altLang="en-US" sz="2800" b="1" dirty="0">
                <a:solidFill>
                  <a:schemeClr val="tx2"/>
                </a:solidFill>
              </a:rPr>
              <a:t>既不部分依赖于</a:t>
            </a:r>
            <a:r>
              <a:rPr lang="zh-CN" altLang="en-US" sz="2800" b="1" dirty="0">
                <a:solidFill>
                  <a:srgbClr val="C00000"/>
                </a:solidFill>
              </a:rPr>
              <a:t>码</a:t>
            </a:r>
            <a:r>
              <a:rPr lang="zh-CN" altLang="en-US" sz="2800" b="1" dirty="0">
                <a:solidFill>
                  <a:schemeClr val="tx2"/>
                </a:solidFill>
              </a:rPr>
              <a:t>也不传递依赖于</a:t>
            </a:r>
            <a:r>
              <a:rPr lang="zh-CN" altLang="en-US" sz="2800" b="1" dirty="0">
                <a:solidFill>
                  <a:srgbClr val="C00000"/>
                </a:solidFill>
              </a:rPr>
              <a:t>码</a:t>
            </a:r>
            <a:r>
              <a:rPr lang="zh-CN" altLang="en-US" sz="2800" dirty="0"/>
              <a:t>。</a:t>
            </a:r>
          </a:p>
          <a:p>
            <a:pPr>
              <a:lnSpc>
                <a:spcPct val="80000"/>
              </a:lnSpc>
              <a:buFont typeface="Wingdings" pitchFamily="2" charset="2"/>
              <a:buNone/>
            </a:pPr>
            <a:r>
              <a:rPr lang="zh-CN" altLang="en-US" sz="2800" dirty="0"/>
              <a:t>	∪</a:t>
            </a:r>
          </a:p>
          <a:p>
            <a:pPr>
              <a:lnSpc>
                <a:spcPct val="80000"/>
              </a:lnSpc>
              <a:buFont typeface="Wingdings" pitchFamily="2" charset="2"/>
              <a:buNone/>
            </a:pPr>
            <a:r>
              <a:rPr lang="zh-CN" altLang="en-US" sz="2800" dirty="0"/>
              <a:t>	</a:t>
            </a:r>
            <a:r>
              <a:rPr lang="en-US" altLang="zh-CN" sz="2800" dirty="0"/>
              <a:t>BCNF</a:t>
            </a:r>
            <a:r>
              <a:rPr lang="zh-CN" altLang="en-US" sz="2800" dirty="0"/>
              <a:t>：</a:t>
            </a:r>
            <a:r>
              <a:rPr lang="zh-CN" altLang="en-US" sz="2800" b="1" dirty="0"/>
              <a:t>所有属性</a:t>
            </a:r>
            <a:r>
              <a:rPr lang="zh-CN" altLang="en-US" sz="2800" dirty="0"/>
              <a:t>都</a:t>
            </a:r>
            <a:r>
              <a:rPr lang="zh-CN" altLang="en-US" sz="2800" b="1" dirty="0">
                <a:solidFill>
                  <a:schemeClr val="tx2"/>
                </a:solidFill>
              </a:rPr>
              <a:t>不部分依赖于码也不传递依赖于码</a:t>
            </a:r>
            <a:r>
              <a:rPr lang="zh-CN" altLang="en-US" sz="2800" dirty="0"/>
              <a:t>。</a:t>
            </a:r>
            <a:r>
              <a:rPr lang="zh-CN" altLang="en-US" sz="2800" b="1" dirty="0">
                <a:solidFill>
                  <a:srgbClr val="C00000"/>
                </a:solidFill>
              </a:rPr>
              <a:t>所有决定因素</a:t>
            </a:r>
            <a:r>
              <a:rPr lang="en-US" altLang="zh-CN" sz="2800" b="1" dirty="0">
                <a:solidFill>
                  <a:srgbClr val="C00000"/>
                </a:solidFill>
              </a:rPr>
              <a:t>(</a:t>
            </a:r>
            <a:r>
              <a:rPr lang="zh-CN" altLang="en-US" sz="2800" b="1" dirty="0">
                <a:solidFill>
                  <a:srgbClr val="C00000"/>
                </a:solidFill>
              </a:rPr>
              <a:t>属性集</a:t>
            </a:r>
            <a:r>
              <a:rPr lang="en-US" altLang="zh-CN" sz="2800" b="1" dirty="0">
                <a:solidFill>
                  <a:srgbClr val="C00000"/>
                </a:solidFill>
              </a:rPr>
              <a:t>)</a:t>
            </a:r>
            <a:r>
              <a:rPr lang="zh-CN" altLang="en-US" sz="2800" b="1" dirty="0">
                <a:solidFill>
                  <a:srgbClr val="C00000"/>
                </a:solidFill>
              </a:rPr>
              <a:t>都包含</a:t>
            </a:r>
            <a:r>
              <a:rPr lang="zh-CN" altLang="en-US" sz="2800" b="1" u="sng" dirty="0">
                <a:solidFill>
                  <a:srgbClr val="C00000"/>
                </a:solidFill>
              </a:rPr>
              <a:t>码</a:t>
            </a:r>
            <a:r>
              <a:rPr lang="zh-CN" altLang="en-US" sz="2800" dirty="0"/>
              <a:t>。</a:t>
            </a:r>
          </a:p>
          <a:p>
            <a:pPr>
              <a:lnSpc>
                <a:spcPct val="80000"/>
              </a:lnSpc>
              <a:buFont typeface="Wingdings" pitchFamily="2" charset="2"/>
              <a:buNone/>
            </a:pPr>
            <a:r>
              <a:rPr lang="zh-CN" altLang="en-US" sz="2800" dirty="0"/>
              <a:t>	∪</a:t>
            </a:r>
          </a:p>
          <a:p>
            <a:pPr>
              <a:lnSpc>
                <a:spcPct val="80000"/>
              </a:lnSpc>
              <a:buFont typeface="Wingdings" pitchFamily="2" charset="2"/>
              <a:buNone/>
            </a:pPr>
            <a:r>
              <a:rPr lang="zh-CN" altLang="en-US" sz="2800" dirty="0"/>
              <a:t>	</a:t>
            </a:r>
            <a:r>
              <a:rPr lang="en-US" altLang="zh-CN" sz="2800" dirty="0"/>
              <a:t>4NF</a:t>
            </a:r>
            <a:r>
              <a:rPr lang="zh-CN" altLang="en-US" sz="2800" dirty="0"/>
              <a:t>：所有</a:t>
            </a:r>
            <a:r>
              <a:rPr lang="zh-CN" altLang="en-US" sz="2800" dirty="0">
                <a:solidFill>
                  <a:schemeClr val="tx2"/>
                </a:solidFill>
              </a:rPr>
              <a:t>非平凡的多值依赖</a:t>
            </a:r>
            <a:r>
              <a:rPr lang="zh-CN" altLang="en-US" sz="2800" dirty="0"/>
              <a:t>都是</a:t>
            </a:r>
            <a:r>
              <a:rPr lang="zh-CN" altLang="en-US" sz="2800" dirty="0">
                <a:solidFill>
                  <a:schemeClr val="tx2"/>
                </a:solidFill>
              </a:rPr>
              <a:t>函数依赖</a:t>
            </a:r>
            <a:r>
              <a:rPr lang="zh-CN" altLang="en-US" sz="2800" dirty="0"/>
              <a:t>。</a:t>
            </a:r>
          </a:p>
          <a:p>
            <a:pPr>
              <a:lnSpc>
                <a:spcPct val="80000"/>
              </a:lnSpc>
            </a:pPr>
            <a:endParaRPr lang="zh-CN" altLang="en-US" sz="2800" dirty="0"/>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63" y="1447800"/>
            <a:ext cx="8895637" cy="4838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页脚占位符 2">
            <a:extLst>
              <a:ext uri="{FF2B5EF4-FFF2-40B4-BE49-F238E27FC236}">
                <a16:creationId xmlns:a16="http://schemas.microsoft.com/office/drawing/2014/main" id="{E23A254C-4A7D-3933-8CB1-EB58646E798E}"/>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1434052F-FCB7-024F-1C09-F3EBA3BDBCF2}"/>
              </a:ext>
            </a:extLst>
          </p:cNvPr>
          <p:cNvSpPr>
            <a:spLocks noGrp="1"/>
          </p:cNvSpPr>
          <p:nvPr>
            <p:ph type="sldNum" sz="quarter" idx="12"/>
          </p:nvPr>
        </p:nvSpPr>
        <p:spPr/>
        <p:txBody>
          <a:bodyPr/>
          <a:lstStyle/>
          <a:p>
            <a:fld id="{A2D74603-B40B-4D66-8F6E-41C870D48932}" type="slidenum">
              <a:rPr lang="en-US" altLang="zh-CN" smtClean="0"/>
              <a:pPr/>
              <a:t>93</a:t>
            </a:fld>
            <a:r>
              <a:rPr lang="en-US" altLang="zh-CN"/>
              <a:t>/162</a:t>
            </a:r>
            <a:endParaRPr lang="en-US" altLang="zh-CN" dirty="0"/>
          </a:p>
        </p:txBody>
      </p:sp>
    </p:spTree>
    <p:extLst>
      <p:ext uri="{BB962C8B-B14F-4D97-AF65-F5344CB8AC3E}">
        <p14:creationId xmlns:p14="http://schemas.microsoft.com/office/powerpoint/2010/main" val="2554878781"/>
      </p:ext>
    </p:extLst>
  </p:cSld>
  <p:clrMapOvr>
    <a:masterClrMapping/>
  </p:clrMapOvr>
  <p:transition>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7188162-CA14-40AB-A96C-DE91660B6BD4}" type="datetime1">
              <a:rPr lang="zh-CN" altLang="en-US" smtClean="0"/>
              <a:t>2025/11/6</a:t>
            </a:fld>
            <a:endParaRPr lang="en-US" altLang="zh-CN"/>
          </a:p>
        </p:txBody>
      </p:sp>
      <p:sp>
        <p:nvSpPr>
          <p:cNvPr id="305154" name="Rectangle 2"/>
          <p:cNvSpPr>
            <a:spLocks noGrp="1" noChangeArrowheads="1"/>
          </p:cNvSpPr>
          <p:nvPr>
            <p:ph type="title"/>
          </p:nvPr>
        </p:nvSpPr>
        <p:spPr/>
        <p:txBody>
          <a:bodyPr/>
          <a:lstStyle/>
          <a:p>
            <a:r>
              <a:rPr lang="en-US" altLang="zh-CN" dirty="0"/>
              <a:t>8.2.9 </a:t>
            </a:r>
            <a:r>
              <a:rPr lang="zh-CN" altLang="en-US" dirty="0"/>
              <a:t>规范化小结</a:t>
            </a:r>
          </a:p>
        </p:txBody>
      </p:sp>
      <p:sp>
        <p:nvSpPr>
          <p:cNvPr id="305155" name="Rectangle 3"/>
          <p:cNvSpPr>
            <a:spLocks noGrp="1" noChangeArrowheads="1"/>
          </p:cNvSpPr>
          <p:nvPr>
            <p:ph type="body" idx="1"/>
          </p:nvPr>
        </p:nvSpPr>
        <p:spPr/>
        <p:txBody>
          <a:bodyPr/>
          <a:lstStyle/>
          <a:p>
            <a:r>
              <a:rPr lang="zh-CN" altLang="en-US" dirty="0"/>
              <a:t>一个</a:t>
            </a:r>
            <a:r>
              <a:rPr lang="zh-CN" altLang="en-US" dirty="0">
                <a:solidFill>
                  <a:srgbClr val="0000FF"/>
                </a:solidFill>
              </a:rPr>
              <a:t>低一级</a:t>
            </a:r>
            <a:r>
              <a:rPr lang="zh-CN" altLang="en-US" dirty="0"/>
              <a:t>范式的关系模式，通过</a:t>
            </a:r>
            <a:r>
              <a:rPr lang="zh-CN" altLang="en-US" dirty="0">
                <a:solidFill>
                  <a:srgbClr val="0000FF"/>
                </a:solidFill>
              </a:rPr>
              <a:t>模式分解</a:t>
            </a:r>
            <a:r>
              <a:rPr lang="zh-CN" altLang="en-US" dirty="0"/>
              <a:t>可以转换为若干个</a:t>
            </a:r>
            <a:r>
              <a:rPr lang="zh-CN" altLang="en-US" dirty="0">
                <a:solidFill>
                  <a:srgbClr val="0000FF"/>
                </a:solidFill>
              </a:rPr>
              <a:t>高一级</a:t>
            </a:r>
            <a:r>
              <a:rPr lang="zh-CN" altLang="en-US" dirty="0"/>
              <a:t>范式的关系模式集合，这种过程就叫</a:t>
            </a:r>
            <a:r>
              <a:rPr lang="zh-CN" altLang="en-US" dirty="0">
                <a:solidFill>
                  <a:srgbClr val="0000FF"/>
                </a:solidFill>
              </a:rPr>
              <a:t>关系模式的规范化</a:t>
            </a:r>
            <a:r>
              <a:rPr lang="zh-CN" altLang="en-US" dirty="0"/>
              <a:t>。</a:t>
            </a:r>
          </a:p>
          <a:p>
            <a:r>
              <a:rPr lang="zh-CN" altLang="en-US" dirty="0"/>
              <a:t>关系数据库的</a:t>
            </a:r>
            <a:r>
              <a:rPr lang="zh-CN" altLang="en-US" dirty="0">
                <a:solidFill>
                  <a:srgbClr val="C00000"/>
                </a:solidFill>
              </a:rPr>
              <a:t>规范化理论</a:t>
            </a:r>
            <a:r>
              <a:rPr lang="zh-CN" altLang="en-US" dirty="0"/>
              <a:t>是数据库逻辑设计的工具。</a:t>
            </a:r>
          </a:p>
        </p:txBody>
      </p:sp>
      <p:sp>
        <p:nvSpPr>
          <p:cNvPr id="3" name="页脚占位符 2">
            <a:extLst>
              <a:ext uri="{FF2B5EF4-FFF2-40B4-BE49-F238E27FC236}">
                <a16:creationId xmlns:a16="http://schemas.microsoft.com/office/drawing/2014/main" id="{84AEF0BA-8B2F-151F-8284-225AA4F21723}"/>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E3C650B5-ADCC-313A-69D0-40F16062C569}"/>
              </a:ext>
            </a:extLst>
          </p:cNvPr>
          <p:cNvSpPr>
            <a:spLocks noGrp="1"/>
          </p:cNvSpPr>
          <p:nvPr>
            <p:ph type="sldNum" sz="quarter" idx="12"/>
          </p:nvPr>
        </p:nvSpPr>
        <p:spPr/>
        <p:txBody>
          <a:bodyPr/>
          <a:lstStyle/>
          <a:p>
            <a:fld id="{A2D74603-B40B-4D66-8F6E-41C870D48932}" type="slidenum">
              <a:rPr lang="en-US" altLang="zh-CN" smtClean="0"/>
              <a:pPr/>
              <a:t>94</a:t>
            </a:fld>
            <a:r>
              <a:rPr lang="en-US" altLang="zh-CN"/>
              <a:t>/162</a:t>
            </a:r>
            <a:endParaRPr lang="en-US" altLang="zh-CN" dirty="0"/>
          </a:p>
        </p:txBody>
      </p:sp>
    </p:spTree>
    <p:extLst>
      <p:ext uri="{BB962C8B-B14F-4D97-AF65-F5344CB8AC3E}">
        <p14:creationId xmlns:p14="http://schemas.microsoft.com/office/powerpoint/2010/main" val="1351406970"/>
      </p:ext>
    </p:extLst>
  </p:cSld>
  <p:clrMapOvr>
    <a:masterClrMapping/>
  </p:clrMapOvr>
  <p:transition>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342E822D-A870-40F4-BC7A-70D0F4B403FB}" type="datetime1">
              <a:rPr lang="zh-CN" altLang="en-US" smtClean="0"/>
              <a:t>2025/11/6</a:t>
            </a:fld>
            <a:endParaRPr lang="en-US" altLang="zh-CN"/>
          </a:p>
        </p:txBody>
      </p:sp>
      <p:sp>
        <p:nvSpPr>
          <p:cNvPr id="305154" name="Rectangle 2"/>
          <p:cNvSpPr>
            <a:spLocks noGrp="1" noChangeArrowheads="1"/>
          </p:cNvSpPr>
          <p:nvPr>
            <p:ph type="title"/>
          </p:nvPr>
        </p:nvSpPr>
        <p:spPr/>
        <p:txBody>
          <a:bodyPr/>
          <a:lstStyle/>
          <a:p>
            <a:r>
              <a:rPr lang="en-US" altLang="zh-CN" dirty="0"/>
              <a:t>8.2.9 </a:t>
            </a:r>
            <a:r>
              <a:rPr lang="zh-CN" altLang="en-US" dirty="0"/>
              <a:t>规范化小结</a:t>
            </a:r>
          </a:p>
        </p:txBody>
      </p:sp>
      <p:sp>
        <p:nvSpPr>
          <p:cNvPr id="305155" name="Rectangle 3"/>
          <p:cNvSpPr>
            <a:spLocks noGrp="1" noChangeArrowheads="1"/>
          </p:cNvSpPr>
          <p:nvPr>
            <p:ph type="body" idx="1"/>
          </p:nvPr>
        </p:nvSpPr>
        <p:spPr/>
        <p:txBody>
          <a:bodyPr/>
          <a:lstStyle/>
          <a:p>
            <a:r>
              <a:rPr lang="zh-CN" altLang="en-US" dirty="0"/>
              <a:t>规范化的基本思想</a:t>
            </a:r>
          </a:p>
          <a:p>
            <a:pPr lvl="1"/>
            <a:r>
              <a:rPr lang="zh-CN" altLang="en-US" dirty="0"/>
              <a:t>是</a:t>
            </a:r>
            <a:r>
              <a:rPr lang="zh-CN" altLang="en-US" dirty="0">
                <a:solidFill>
                  <a:srgbClr val="0000FF"/>
                </a:solidFill>
              </a:rPr>
              <a:t>逐步</a:t>
            </a:r>
            <a:r>
              <a:rPr lang="zh-CN" altLang="en-US" b="1" dirty="0">
                <a:solidFill>
                  <a:srgbClr val="0000FF"/>
                </a:solidFill>
              </a:rPr>
              <a:t>消除</a:t>
            </a:r>
            <a:r>
              <a:rPr lang="zh-CN" altLang="en-US" dirty="0"/>
              <a:t>数据依赖中</a:t>
            </a:r>
            <a:r>
              <a:rPr lang="zh-CN" altLang="en-US" b="1" dirty="0">
                <a:solidFill>
                  <a:srgbClr val="0000FF"/>
                </a:solidFill>
              </a:rPr>
              <a:t>不合适</a:t>
            </a:r>
            <a:r>
              <a:rPr lang="zh-CN" altLang="en-US" dirty="0">
                <a:solidFill>
                  <a:srgbClr val="0000FF"/>
                </a:solidFill>
              </a:rPr>
              <a:t>的部分</a:t>
            </a:r>
            <a:r>
              <a:rPr lang="zh-CN" altLang="en-US" dirty="0"/>
              <a:t>，使模式中的</a:t>
            </a:r>
            <a:r>
              <a:rPr lang="zh-CN" altLang="en-US" b="1" dirty="0"/>
              <a:t>各关系模式</a:t>
            </a:r>
            <a:r>
              <a:rPr lang="zh-CN" altLang="en-US" dirty="0"/>
              <a:t>达到</a:t>
            </a:r>
            <a:r>
              <a:rPr lang="zh-CN" altLang="en-US" u="sng" dirty="0"/>
              <a:t>某种程度的</a:t>
            </a:r>
            <a:r>
              <a:rPr lang="zh-CN" altLang="en-US" dirty="0"/>
              <a:t>“</a:t>
            </a:r>
            <a:r>
              <a:rPr lang="zh-CN" altLang="en-US" b="1" dirty="0">
                <a:solidFill>
                  <a:srgbClr val="0000FF"/>
                </a:solidFill>
                <a:effectLst>
                  <a:outerShdw blurRad="38100" dist="38100" dir="2700000" algn="tl">
                    <a:srgbClr val="000000">
                      <a:alpha val="43137"/>
                    </a:srgbClr>
                  </a:outerShdw>
                </a:effectLst>
              </a:rPr>
              <a:t>分离</a:t>
            </a:r>
            <a:r>
              <a:rPr lang="zh-CN" altLang="en-US" dirty="0"/>
              <a:t>”。</a:t>
            </a:r>
          </a:p>
          <a:p>
            <a:pPr lvl="1"/>
            <a:r>
              <a:rPr lang="zh-CN" altLang="en-US" dirty="0"/>
              <a:t>即采用“</a:t>
            </a:r>
            <a:r>
              <a:rPr lang="zh-CN" altLang="en-US" b="1" dirty="0"/>
              <a:t>一事一地</a:t>
            </a:r>
            <a:r>
              <a:rPr lang="zh-CN" altLang="en-US" dirty="0"/>
              <a:t>”的模式设计原则</a:t>
            </a:r>
          </a:p>
          <a:p>
            <a:pPr lvl="2"/>
            <a:r>
              <a:rPr lang="zh-CN" altLang="en-US" dirty="0"/>
              <a:t>让</a:t>
            </a:r>
            <a:r>
              <a:rPr lang="zh-CN" altLang="en-US" b="1" dirty="0"/>
              <a:t>一个关系</a:t>
            </a:r>
            <a:r>
              <a:rPr lang="zh-CN" altLang="en-US" dirty="0"/>
              <a:t>描述</a:t>
            </a:r>
            <a:r>
              <a:rPr lang="zh-CN" altLang="en-US" dirty="0">
                <a:solidFill>
                  <a:srgbClr val="0000FF"/>
                </a:solidFill>
              </a:rPr>
              <a:t>一个概念</a:t>
            </a:r>
            <a:r>
              <a:rPr lang="zh-CN" altLang="en-US" dirty="0"/>
              <a:t>、</a:t>
            </a:r>
            <a:r>
              <a:rPr lang="zh-CN" altLang="en-US" dirty="0">
                <a:solidFill>
                  <a:srgbClr val="0000FF"/>
                </a:solidFill>
              </a:rPr>
              <a:t>一个实体</a:t>
            </a:r>
            <a:r>
              <a:rPr lang="zh-CN" altLang="en-US" dirty="0"/>
              <a:t>或者</a:t>
            </a:r>
            <a:r>
              <a:rPr lang="zh-CN" altLang="en-US" dirty="0">
                <a:solidFill>
                  <a:srgbClr val="0000FF"/>
                </a:solidFill>
              </a:rPr>
              <a:t>实体间的一种联系</a:t>
            </a:r>
            <a:r>
              <a:rPr lang="zh-CN" altLang="en-US" dirty="0"/>
              <a:t>。</a:t>
            </a:r>
          </a:p>
          <a:p>
            <a:pPr lvl="2"/>
            <a:r>
              <a:rPr lang="zh-CN" altLang="en-US" dirty="0"/>
              <a:t>若</a:t>
            </a:r>
            <a:r>
              <a:rPr lang="zh-CN" altLang="en-US" dirty="0">
                <a:solidFill>
                  <a:srgbClr val="0000FF"/>
                </a:solidFill>
              </a:rPr>
              <a:t>多于一个概念</a:t>
            </a:r>
            <a:r>
              <a:rPr lang="zh-CN" altLang="en-US" dirty="0"/>
              <a:t>就把它“</a:t>
            </a:r>
            <a:r>
              <a:rPr lang="zh-CN" altLang="en-US" dirty="0">
                <a:solidFill>
                  <a:srgbClr val="0000FF"/>
                </a:solidFill>
              </a:rPr>
              <a:t>分离</a:t>
            </a:r>
            <a:r>
              <a:rPr lang="zh-CN" altLang="en-US" dirty="0"/>
              <a:t>”出去。</a:t>
            </a:r>
          </a:p>
          <a:p>
            <a:pPr lvl="1"/>
            <a:r>
              <a:rPr lang="zh-CN" altLang="en-US" dirty="0"/>
              <a:t>因此 </a:t>
            </a:r>
            <a:r>
              <a:rPr lang="zh-CN" altLang="en-US" u="sng" dirty="0"/>
              <a:t>规范化实质上是</a:t>
            </a:r>
            <a:r>
              <a:rPr lang="zh-CN" altLang="en-US" u="sng" dirty="0">
                <a:solidFill>
                  <a:srgbClr val="C00000"/>
                </a:solidFill>
              </a:rPr>
              <a:t>概念的单一化</a:t>
            </a:r>
            <a:r>
              <a:rPr lang="zh-CN" altLang="en-US" dirty="0"/>
              <a:t>。</a:t>
            </a:r>
          </a:p>
        </p:txBody>
      </p:sp>
      <p:sp>
        <p:nvSpPr>
          <p:cNvPr id="3" name="页脚占位符 2">
            <a:extLst>
              <a:ext uri="{FF2B5EF4-FFF2-40B4-BE49-F238E27FC236}">
                <a16:creationId xmlns:a16="http://schemas.microsoft.com/office/drawing/2014/main" id="{C2F946B8-75EB-4CAD-785C-20479F1C643E}"/>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54741C35-4154-71DA-38CE-D0E7D09CFC4E}"/>
              </a:ext>
            </a:extLst>
          </p:cNvPr>
          <p:cNvSpPr>
            <a:spLocks noGrp="1"/>
          </p:cNvSpPr>
          <p:nvPr>
            <p:ph type="sldNum" sz="quarter" idx="12"/>
          </p:nvPr>
        </p:nvSpPr>
        <p:spPr/>
        <p:txBody>
          <a:bodyPr/>
          <a:lstStyle/>
          <a:p>
            <a:fld id="{A2D74603-B40B-4D66-8F6E-41C870D48932}" type="slidenum">
              <a:rPr lang="en-US" altLang="zh-CN" smtClean="0"/>
              <a:pPr/>
              <a:t>95</a:t>
            </a:fld>
            <a:r>
              <a:rPr lang="en-US" altLang="zh-CN"/>
              <a:t>/162</a:t>
            </a:r>
            <a:endParaRPr lang="en-US" altLang="zh-CN" dirty="0"/>
          </a:p>
        </p:txBody>
      </p:sp>
    </p:spTree>
    <p:extLst>
      <p:ext uri="{BB962C8B-B14F-4D97-AF65-F5344CB8AC3E}">
        <p14:creationId xmlns:p14="http://schemas.microsoft.com/office/powerpoint/2010/main" val="13662052"/>
      </p:ext>
    </p:extLst>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B21A72F9-CBF9-4258-9F58-EF35DAC462E4}" type="datetime1">
              <a:rPr lang="zh-CN" altLang="en-US" smtClean="0"/>
              <a:t>2025/11/6</a:t>
            </a:fld>
            <a:endParaRPr lang="en-US" altLang="zh-CN"/>
          </a:p>
        </p:txBody>
      </p:sp>
      <p:sp>
        <p:nvSpPr>
          <p:cNvPr id="305154" name="Rectangle 2"/>
          <p:cNvSpPr>
            <a:spLocks noGrp="1" noChangeArrowheads="1"/>
          </p:cNvSpPr>
          <p:nvPr>
            <p:ph type="title"/>
          </p:nvPr>
        </p:nvSpPr>
        <p:spPr/>
        <p:txBody>
          <a:bodyPr/>
          <a:lstStyle/>
          <a:p>
            <a:r>
              <a:rPr lang="en-US" altLang="zh-CN" dirty="0"/>
              <a:t>8.2.9 </a:t>
            </a:r>
            <a:r>
              <a:rPr lang="zh-CN" altLang="en-US" dirty="0"/>
              <a:t>规范化小结</a:t>
            </a:r>
          </a:p>
        </p:txBody>
      </p:sp>
      <p:sp>
        <p:nvSpPr>
          <p:cNvPr id="305155" name="Rectangle 3"/>
          <p:cNvSpPr>
            <a:spLocks noGrp="1" noChangeArrowheads="1"/>
          </p:cNvSpPr>
          <p:nvPr>
            <p:ph type="body" idx="1"/>
          </p:nvPr>
        </p:nvSpPr>
        <p:spPr/>
        <p:txBody>
          <a:bodyPr/>
          <a:lstStyle/>
          <a:p>
            <a:r>
              <a:rPr lang="zh-CN" altLang="en-US" dirty="0">
                <a:solidFill>
                  <a:srgbClr val="0000FF"/>
                </a:solidFill>
              </a:rPr>
              <a:t>不能说</a:t>
            </a:r>
            <a:r>
              <a:rPr lang="zh-CN" altLang="en-US" dirty="0"/>
              <a:t>规范化程度</a:t>
            </a:r>
            <a:r>
              <a:rPr lang="zh-CN" altLang="en-US" dirty="0">
                <a:solidFill>
                  <a:srgbClr val="0000FF"/>
                </a:solidFill>
              </a:rPr>
              <a:t>越高</a:t>
            </a:r>
            <a:r>
              <a:rPr lang="zh-CN" altLang="en-US" dirty="0"/>
              <a:t>的关系模式就</a:t>
            </a:r>
            <a:r>
              <a:rPr lang="zh-CN" altLang="en-US" dirty="0">
                <a:solidFill>
                  <a:srgbClr val="0000FF"/>
                </a:solidFill>
              </a:rPr>
              <a:t>越好</a:t>
            </a:r>
            <a:r>
              <a:rPr lang="zh-CN" altLang="en-US" dirty="0"/>
              <a:t>。</a:t>
            </a:r>
          </a:p>
          <a:p>
            <a:pPr lvl="1"/>
            <a:r>
              <a:rPr lang="zh-CN" altLang="en-US" dirty="0"/>
              <a:t>必须对</a:t>
            </a:r>
            <a:r>
              <a:rPr lang="zh-CN" altLang="en-US" dirty="0">
                <a:solidFill>
                  <a:srgbClr val="0000FF"/>
                </a:solidFill>
              </a:rPr>
              <a:t>现实世界的实际情况</a:t>
            </a:r>
            <a:r>
              <a:rPr lang="zh-CN" altLang="en-US" dirty="0"/>
              <a:t>和</a:t>
            </a:r>
            <a:r>
              <a:rPr lang="zh-CN" altLang="en-US" dirty="0">
                <a:solidFill>
                  <a:srgbClr val="0000FF"/>
                </a:solidFill>
              </a:rPr>
              <a:t>用户应用需求</a:t>
            </a:r>
            <a:r>
              <a:rPr lang="zh-CN" altLang="en-US" dirty="0"/>
              <a:t>作进一步分析，确定一个合适的、能够反映现实世界的模式。</a:t>
            </a:r>
          </a:p>
          <a:p>
            <a:pPr lvl="1"/>
            <a:r>
              <a:rPr lang="zh-CN" altLang="en-US" dirty="0"/>
              <a:t>上面的规范化步骤</a:t>
            </a:r>
            <a:r>
              <a:rPr lang="zh-CN" altLang="en-US" b="1" dirty="0"/>
              <a:t>可以</a:t>
            </a:r>
            <a:r>
              <a:rPr lang="zh-CN" altLang="en-US" dirty="0"/>
              <a:t>在其中</a:t>
            </a:r>
            <a:r>
              <a:rPr lang="zh-CN" altLang="en-US" b="1" dirty="0"/>
              <a:t>任何一步终止</a:t>
            </a:r>
            <a:r>
              <a:rPr lang="zh-CN" altLang="en-US" dirty="0"/>
              <a:t>。</a:t>
            </a:r>
            <a:endParaRPr lang="en-US" altLang="zh-CN" dirty="0"/>
          </a:p>
          <a:p>
            <a:r>
              <a:rPr lang="zh-CN" altLang="en-US" dirty="0">
                <a:solidFill>
                  <a:srgbClr val="0000FF"/>
                </a:solidFill>
              </a:rPr>
              <a:t>另外，模式分解也不是唯一</a:t>
            </a:r>
            <a:endParaRPr lang="en-US" altLang="zh-CN" dirty="0">
              <a:solidFill>
                <a:srgbClr val="0000FF"/>
              </a:solidFill>
            </a:endParaRPr>
          </a:p>
          <a:p>
            <a:pPr lvl="1"/>
            <a:r>
              <a:rPr lang="zh-CN" altLang="en-US" dirty="0"/>
              <a:t>分解后的关系模式与原关系模式是否“</a:t>
            </a:r>
            <a:r>
              <a:rPr lang="zh-CN" altLang="en-US" dirty="0">
                <a:solidFill>
                  <a:srgbClr val="0000FF"/>
                </a:solidFill>
              </a:rPr>
              <a:t>等价</a:t>
            </a:r>
            <a:r>
              <a:rPr lang="zh-CN" altLang="en-US" dirty="0"/>
              <a:t>”？</a:t>
            </a:r>
            <a:endParaRPr lang="en-US" altLang="zh-CN" dirty="0"/>
          </a:p>
          <a:p>
            <a:pPr lvl="1"/>
            <a:r>
              <a:rPr lang="zh-CN" altLang="en-US" b="1" dirty="0"/>
              <a:t>分解算法</a:t>
            </a:r>
          </a:p>
        </p:txBody>
      </p:sp>
      <p:sp>
        <p:nvSpPr>
          <p:cNvPr id="3" name="页脚占位符 2">
            <a:extLst>
              <a:ext uri="{FF2B5EF4-FFF2-40B4-BE49-F238E27FC236}">
                <a16:creationId xmlns:a16="http://schemas.microsoft.com/office/drawing/2014/main" id="{19B1FF18-FADE-999D-6FEF-4A13D9E8CF2E}"/>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3332295D-3EE2-1E57-E36A-EFF75D1A60F7}"/>
              </a:ext>
            </a:extLst>
          </p:cNvPr>
          <p:cNvSpPr>
            <a:spLocks noGrp="1"/>
          </p:cNvSpPr>
          <p:nvPr>
            <p:ph type="sldNum" sz="quarter" idx="12"/>
          </p:nvPr>
        </p:nvSpPr>
        <p:spPr/>
        <p:txBody>
          <a:bodyPr/>
          <a:lstStyle/>
          <a:p>
            <a:fld id="{A2D74603-B40B-4D66-8F6E-41C870D48932}" type="slidenum">
              <a:rPr lang="en-US" altLang="zh-CN" smtClean="0"/>
              <a:pPr/>
              <a:t>96</a:t>
            </a:fld>
            <a:r>
              <a:rPr lang="en-US" altLang="zh-CN"/>
              <a:t>/162</a:t>
            </a:r>
            <a:endParaRPr lang="en-US" altLang="zh-CN" dirty="0"/>
          </a:p>
        </p:txBody>
      </p:sp>
    </p:spTree>
    <p:extLst>
      <p:ext uri="{BB962C8B-B14F-4D97-AF65-F5344CB8AC3E}">
        <p14:creationId xmlns:p14="http://schemas.microsoft.com/office/powerpoint/2010/main" val="3445974573"/>
      </p:ext>
    </p:extLst>
  </p:cSld>
  <p:clrMapOvr>
    <a:masterClrMapping/>
  </p:clrMapOvr>
  <p:transition>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half" idx="10"/>
          </p:nvPr>
        </p:nvSpPr>
        <p:spPr/>
        <p:txBody>
          <a:bodyPr/>
          <a:lstStyle/>
          <a:p>
            <a:fld id="{98628C6F-37D0-48BF-A02B-71C4322D558D}" type="datetime1">
              <a:rPr lang="zh-CN" altLang="en-US" smtClean="0"/>
              <a:t>2025/11/6</a:t>
            </a:fld>
            <a:endParaRPr lang="en-US" altLang="zh-CN"/>
          </a:p>
        </p:txBody>
      </p:sp>
      <p:sp>
        <p:nvSpPr>
          <p:cNvPr id="338946" name="Rectangle 2"/>
          <p:cNvSpPr>
            <a:spLocks noGrp="1" noChangeArrowheads="1"/>
          </p:cNvSpPr>
          <p:nvPr>
            <p:ph type="title"/>
          </p:nvPr>
        </p:nvSpPr>
        <p:spPr/>
        <p:txBody>
          <a:bodyPr/>
          <a:lstStyle/>
          <a:p>
            <a:r>
              <a:rPr lang="zh-CN" altLang="en-US"/>
              <a:t>本章目录</a:t>
            </a:r>
          </a:p>
        </p:txBody>
      </p:sp>
      <p:sp>
        <p:nvSpPr>
          <p:cNvPr id="338947" name="Rectangle 3"/>
          <p:cNvSpPr>
            <a:spLocks noGrp="1" noChangeArrowheads="1"/>
          </p:cNvSpPr>
          <p:nvPr>
            <p:ph type="body" idx="1"/>
          </p:nvPr>
        </p:nvSpPr>
        <p:spPr>
          <a:xfrm>
            <a:off x="1371600" y="1639888"/>
            <a:ext cx="7232848" cy="2797224"/>
          </a:xfrm>
        </p:spPr>
        <p:txBody>
          <a:bodyPr/>
          <a:lstStyle/>
          <a:p>
            <a:r>
              <a:rPr lang="en-US" altLang="zh-CN" dirty="0"/>
              <a:t>8.1 </a:t>
            </a:r>
            <a:r>
              <a:rPr lang="zh-CN" altLang="en-US" dirty="0"/>
              <a:t>问题的提出</a:t>
            </a:r>
          </a:p>
          <a:p>
            <a:r>
              <a:rPr lang="en-US" altLang="zh-CN" dirty="0"/>
              <a:t>8.2 </a:t>
            </a:r>
            <a:r>
              <a:rPr lang="zh-CN" altLang="en-US" dirty="0"/>
              <a:t>规范化</a:t>
            </a:r>
            <a:endParaRPr lang="zh-CN" altLang="en-US" dirty="0">
              <a:solidFill>
                <a:srgbClr val="CC0000"/>
              </a:solidFill>
            </a:endParaRPr>
          </a:p>
          <a:p>
            <a:r>
              <a:rPr lang="en-US" altLang="zh-CN" dirty="0"/>
              <a:t>8.3 </a:t>
            </a:r>
            <a:r>
              <a:rPr lang="zh-CN" altLang="en-US" dirty="0">
                <a:solidFill>
                  <a:srgbClr val="0000FF"/>
                </a:solidFill>
              </a:rPr>
              <a:t>数据依赖</a:t>
            </a:r>
            <a:r>
              <a:rPr lang="zh-CN" altLang="en-US" dirty="0"/>
              <a:t>的公理系统</a:t>
            </a:r>
          </a:p>
          <a:p>
            <a:r>
              <a:rPr lang="en-US" altLang="zh-CN" dirty="0"/>
              <a:t>8.4 </a:t>
            </a:r>
            <a:r>
              <a:rPr lang="zh-CN" altLang="en-US" dirty="0"/>
              <a:t>模式的分解</a:t>
            </a:r>
            <a:endParaRPr lang="zh-CN" altLang="en-US" dirty="0">
              <a:solidFill>
                <a:srgbClr val="CC0000"/>
              </a:solidFill>
            </a:endParaRPr>
          </a:p>
        </p:txBody>
      </p:sp>
      <p:sp>
        <p:nvSpPr>
          <p:cNvPr id="338948" name="AutoShape 4"/>
          <p:cNvSpPr>
            <a:spLocks noChangeArrowheads="1"/>
          </p:cNvSpPr>
          <p:nvPr/>
        </p:nvSpPr>
        <p:spPr bwMode="auto">
          <a:xfrm>
            <a:off x="838200" y="2895600"/>
            <a:ext cx="457200" cy="457200"/>
          </a:xfrm>
          <a:prstGeom prst="rightArrow">
            <a:avLst>
              <a:gd name="adj1" fmla="val 50000"/>
              <a:gd name="adj2" fmla="val 40278"/>
            </a:avLst>
          </a:prstGeom>
          <a:solidFill>
            <a:srgbClr val="FFCC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页脚占位符 2">
            <a:extLst>
              <a:ext uri="{FF2B5EF4-FFF2-40B4-BE49-F238E27FC236}">
                <a16:creationId xmlns:a16="http://schemas.microsoft.com/office/drawing/2014/main" id="{525B5200-7710-8F3F-FE7D-CA0AAE93D7A4}"/>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876638CB-197A-1687-37B6-27FED8998E17}"/>
              </a:ext>
            </a:extLst>
          </p:cNvPr>
          <p:cNvSpPr>
            <a:spLocks noGrp="1"/>
          </p:cNvSpPr>
          <p:nvPr>
            <p:ph type="sldNum" sz="quarter" idx="12"/>
          </p:nvPr>
        </p:nvSpPr>
        <p:spPr/>
        <p:txBody>
          <a:bodyPr/>
          <a:lstStyle/>
          <a:p>
            <a:fld id="{A2D74603-B40B-4D66-8F6E-41C870D48932}" type="slidenum">
              <a:rPr lang="en-US" altLang="zh-CN" smtClean="0"/>
              <a:pPr/>
              <a:t>97</a:t>
            </a:fld>
            <a:r>
              <a:rPr lang="en-US" altLang="zh-CN"/>
              <a:t>/162</a:t>
            </a:r>
            <a:endParaRPr lang="en-US" altLang="zh-CN" dirty="0"/>
          </a:p>
        </p:txBody>
      </p:sp>
    </p:spTree>
    <p:extLst>
      <p:ext uri="{BB962C8B-B14F-4D97-AF65-F5344CB8AC3E}">
        <p14:creationId xmlns:p14="http://schemas.microsoft.com/office/powerpoint/2010/main" val="3425685579"/>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38948"/>
                                        </p:tgtEl>
                                        <p:attrNameLst>
                                          <p:attrName>style.visibility</p:attrName>
                                        </p:attrNameLst>
                                      </p:cBhvr>
                                      <p:to>
                                        <p:strVal val="visible"/>
                                      </p:to>
                                    </p:set>
                                    <p:anim calcmode="lin" valueType="num">
                                      <p:cBhvr additive="base">
                                        <p:cTn id="7" dur="500" fill="hold"/>
                                        <p:tgtEl>
                                          <p:spTgt spid="338948"/>
                                        </p:tgtEl>
                                        <p:attrNameLst>
                                          <p:attrName>ppt_x</p:attrName>
                                        </p:attrNameLst>
                                      </p:cBhvr>
                                      <p:tavLst>
                                        <p:tav tm="0">
                                          <p:val>
                                            <p:strVal val="0-#ppt_w/2"/>
                                          </p:val>
                                        </p:tav>
                                        <p:tav tm="100000">
                                          <p:val>
                                            <p:strVal val="#ppt_x"/>
                                          </p:val>
                                        </p:tav>
                                      </p:tavLst>
                                    </p:anim>
                                    <p:anim calcmode="lin" valueType="num">
                                      <p:cBhvr additive="base">
                                        <p:cTn id="8" dur="500" fill="hold"/>
                                        <p:tgtEl>
                                          <p:spTgt spid="3389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948"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C40469A-5BFE-48C0-BD73-90B0301F6F1F}" type="datetime1">
              <a:rPr lang="zh-CN" altLang="en-US" smtClean="0"/>
              <a:t>2025/11/6</a:t>
            </a:fld>
            <a:endParaRPr lang="en-US" altLang="zh-CN"/>
          </a:p>
        </p:txBody>
      </p:sp>
      <p:sp>
        <p:nvSpPr>
          <p:cNvPr id="306178" name="Rectangle 2"/>
          <p:cNvSpPr>
            <a:spLocks noGrp="1" noChangeArrowheads="1"/>
          </p:cNvSpPr>
          <p:nvPr>
            <p:ph type="title"/>
          </p:nvPr>
        </p:nvSpPr>
        <p:spPr/>
        <p:txBody>
          <a:bodyPr/>
          <a:lstStyle/>
          <a:p>
            <a:r>
              <a:rPr lang="zh-CN" altLang="en-US" b="1" dirty="0"/>
              <a:t>函数依赖</a:t>
            </a:r>
            <a:r>
              <a:rPr lang="zh-CN" altLang="en-US" dirty="0"/>
              <a:t>公理系统的背景</a:t>
            </a:r>
          </a:p>
        </p:txBody>
      </p:sp>
      <p:sp>
        <p:nvSpPr>
          <p:cNvPr id="306179" name="Rectangle 3"/>
          <p:cNvSpPr>
            <a:spLocks noGrp="1" noChangeArrowheads="1"/>
          </p:cNvSpPr>
          <p:nvPr>
            <p:ph type="body" idx="1"/>
          </p:nvPr>
        </p:nvSpPr>
        <p:spPr>
          <a:xfrm>
            <a:off x="609600" y="1447801"/>
            <a:ext cx="8210872" cy="3925416"/>
          </a:xfrm>
        </p:spPr>
        <p:txBody>
          <a:bodyPr/>
          <a:lstStyle/>
          <a:p>
            <a:r>
              <a:rPr lang="zh-CN" altLang="en-US" dirty="0"/>
              <a:t>为了以下目的，需要建立</a:t>
            </a:r>
            <a:r>
              <a:rPr lang="zh-CN" altLang="en-US" dirty="0">
                <a:solidFill>
                  <a:srgbClr val="C00000"/>
                </a:solidFill>
              </a:rPr>
              <a:t>函数依赖</a:t>
            </a:r>
            <a:r>
              <a:rPr lang="zh-CN" altLang="en-US" dirty="0"/>
              <a:t>的</a:t>
            </a:r>
            <a:r>
              <a:rPr lang="zh-CN" altLang="en-US" dirty="0">
                <a:solidFill>
                  <a:srgbClr val="C00000"/>
                </a:solidFill>
              </a:rPr>
              <a:t>推理系统</a:t>
            </a:r>
            <a:r>
              <a:rPr lang="zh-CN" altLang="en-US" dirty="0"/>
              <a:t>:</a:t>
            </a:r>
          </a:p>
          <a:p>
            <a:pPr lvl="1">
              <a:buNone/>
            </a:pPr>
            <a:r>
              <a:rPr lang="zh-CN" altLang="en-US" dirty="0">
                <a:latin typeface="Times New Roman" pitchFamily="18" charset="0"/>
                <a:ea typeface="宋体" charset="-122"/>
              </a:rPr>
              <a:t>(1) </a:t>
            </a:r>
            <a:r>
              <a:rPr lang="zh-CN" altLang="en-US" dirty="0">
                <a:solidFill>
                  <a:schemeClr val="tx2"/>
                </a:solidFill>
                <a:latin typeface="Times New Roman" pitchFamily="18" charset="0"/>
                <a:ea typeface="宋体" charset="-122"/>
              </a:rPr>
              <a:t>求</a:t>
            </a:r>
            <a:r>
              <a:rPr lang="zh-CN" altLang="en-US" dirty="0">
                <a:latin typeface="Times New Roman" pitchFamily="18" charset="0"/>
                <a:ea typeface="宋体" charset="-122"/>
              </a:rPr>
              <a:t>关系模式的</a:t>
            </a:r>
            <a:r>
              <a:rPr lang="zh-CN" altLang="en-US" dirty="0">
                <a:solidFill>
                  <a:srgbClr val="C00000"/>
                </a:solidFill>
                <a:latin typeface="Times New Roman" pitchFamily="18" charset="0"/>
                <a:ea typeface="宋体" charset="-122"/>
              </a:rPr>
              <a:t>候选码</a:t>
            </a:r>
          </a:p>
          <a:p>
            <a:pPr lvl="1">
              <a:buNone/>
            </a:pPr>
            <a:r>
              <a:rPr lang="zh-CN" altLang="en-US" dirty="0">
                <a:latin typeface="Times New Roman" pitchFamily="18" charset="0"/>
                <a:ea typeface="宋体" charset="-122"/>
              </a:rPr>
              <a:t>(2) </a:t>
            </a:r>
            <a:r>
              <a:rPr lang="zh-CN" altLang="en-US" dirty="0">
                <a:solidFill>
                  <a:schemeClr val="tx2"/>
                </a:solidFill>
                <a:latin typeface="Times New Roman" pitchFamily="18" charset="0"/>
                <a:ea typeface="宋体" charset="-122"/>
              </a:rPr>
              <a:t>判断</a:t>
            </a:r>
            <a:r>
              <a:rPr lang="zh-CN" altLang="en-US" dirty="0">
                <a:latin typeface="Times New Roman" pitchFamily="18" charset="0"/>
                <a:ea typeface="宋体" charset="-122"/>
              </a:rPr>
              <a:t>关系模式的</a:t>
            </a:r>
            <a:r>
              <a:rPr lang="zh-CN" altLang="en-US" dirty="0">
                <a:solidFill>
                  <a:srgbClr val="C00000"/>
                </a:solidFill>
                <a:latin typeface="Times New Roman" pitchFamily="18" charset="0"/>
                <a:ea typeface="宋体" charset="-122"/>
              </a:rPr>
              <a:t>范式级别</a:t>
            </a:r>
          </a:p>
          <a:p>
            <a:pPr lvl="1">
              <a:buNone/>
            </a:pPr>
            <a:r>
              <a:rPr lang="zh-CN" altLang="en-US" dirty="0">
                <a:latin typeface="Times New Roman" pitchFamily="18" charset="0"/>
                <a:ea typeface="宋体" charset="-122"/>
              </a:rPr>
              <a:t>(3) 给定一组函数依赖，需要</a:t>
            </a:r>
            <a:r>
              <a:rPr lang="zh-CN" altLang="en-US" dirty="0">
                <a:solidFill>
                  <a:srgbClr val="0000FF"/>
                </a:solidFill>
                <a:latin typeface="Times New Roman" pitchFamily="18" charset="0"/>
                <a:ea typeface="宋体" charset="-122"/>
              </a:rPr>
              <a:t>导出</a:t>
            </a:r>
            <a:r>
              <a:rPr lang="zh-CN" altLang="en-US" dirty="0">
                <a:latin typeface="Times New Roman" pitchFamily="18" charset="0"/>
                <a:ea typeface="宋体" charset="-122"/>
              </a:rPr>
              <a:t>另外一些函数依赖，或</a:t>
            </a:r>
            <a:r>
              <a:rPr lang="zh-CN" altLang="en-US" dirty="0">
                <a:solidFill>
                  <a:srgbClr val="0000FF"/>
                </a:solidFill>
                <a:latin typeface="Times New Roman" pitchFamily="18" charset="0"/>
                <a:ea typeface="宋体" charset="-122"/>
              </a:rPr>
              <a:t>判断另外的函数依赖</a:t>
            </a:r>
            <a:r>
              <a:rPr lang="zh-CN" altLang="en-US" dirty="0">
                <a:latin typeface="Times New Roman" pitchFamily="18" charset="0"/>
                <a:ea typeface="宋体" charset="-122"/>
              </a:rPr>
              <a:t>是否成立。</a:t>
            </a:r>
          </a:p>
        </p:txBody>
      </p:sp>
      <p:sp>
        <p:nvSpPr>
          <p:cNvPr id="3" name="页脚占位符 2">
            <a:extLst>
              <a:ext uri="{FF2B5EF4-FFF2-40B4-BE49-F238E27FC236}">
                <a16:creationId xmlns:a16="http://schemas.microsoft.com/office/drawing/2014/main" id="{1D02A2A7-E406-D9CC-6E4F-F819605F8924}"/>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8F51F74C-61CF-E55B-1B94-8705C76524AC}"/>
              </a:ext>
            </a:extLst>
          </p:cNvPr>
          <p:cNvSpPr>
            <a:spLocks noGrp="1"/>
          </p:cNvSpPr>
          <p:nvPr>
            <p:ph type="sldNum" sz="quarter" idx="12"/>
          </p:nvPr>
        </p:nvSpPr>
        <p:spPr/>
        <p:txBody>
          <a:bodyPr/>
          <a:lstStyle/>
          <a:p>
            <a:fld id="{A2D74603-B40B-4D66-8F6E-41C870D48932}" type="slidenum">
              <a:rPr lang="en-US" altLang="zh-CN" smtClean="0"/>
              <a:pPr/>
              <a:t>98</a:t>
            </a:fld>
            <a:r>
              <a:rPr lang="en-US" altLang="zh-CN"/>
              <a:t>/162</a:t>
            </a:r>
            <a:endParaRPr lang="en-US" altLang="zh-CN" dirty="0"/>
          </a:p>
        </p:txBody>
      </p:sp>
    </p:spTree>
    <p:extLst>
      <p:ext uri="{BB962C8B-B14F-4D97-AF65-F5344CB8AC3E}">
        <p14:creationId xmlns:p14="http://schemas.microsoft.com/office/powerpoint/2010/main" val="3986024273"/>
      </p:ext>
    </p:extLst>
  </p:cSld>
  <p:clrMapOvr>
    <a:masterClrMapping/>
  </p:clrMapOvr>
  <p:transition>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B09F319-893D-49F4-B8DA-66FFADE59CF7}" type="datetime1">
              <a:rPr lang="zh-CN" altLang="en-US" smtClean="0"/>
              <a:t>2025/11/6</a:t>
            </a:fld>
            <a:endParaRPr lang="en-US" altLang="zh-CN"/>
          </a:p>
        </p:txBody>
      </p:sp>
      <p:sp>
        <p:nvSpPr>
          <p:cNvPr id="306178" name="Rectangle 2"/>
          <p:cNvSpPr>
            <a:spLocks noGrp="1" noChangeArrowheads="1"/>
          </p:cNvSpPr>
          <p:nvPr>
            <p:ph type="title"/>
          </p:nvPr>
        </p:nvSpPr>
        <p:spPr/>
        <p:txBody>
          <a:bodyPr/>
          <a:lstStyle/>
          <a:p>
            <a:r>
              <a:rPr lang="zh-CN" altLang="en-US" b="1" dirty="0"/>
              <a:t>函数依赖</a:t>
            </a:r>
            <a:r>
              <a:rPr lang="zh-CN" altLang="en-US" dirty="0"/>
              <a:t>公理系统的背景</a:t>
            </a:r>
          </a:p>
        </p:txBody>
      </p:sp>
      <p:sp>
        <p:nvSpPr>
          <p:cNvPr id="306179" name="Rectangle 3"/>
          <p:cNvSpPr>
            <a:spLocks noGrp="1" noChangeArrowheads="1"/>
          </p:cNvSpPr>
          <p:nvPr>
            <p:ph type="body" idx="1"/>
          </p:nvPr>
        </p:nvSpPr>
        <p:spPr>
          <a:xfrm>
            <a:off x="609600" y="1447800"/>
            <a:ext cx="8334375" cy="4684713"/>
          </a:xfrm>
        </p:spPr>
        <p:txBody>
          <a:bodyPr/>
          <a:lstStyle/>
          <a:p>
            <a:r>
              <a:rPr lang="zh-CN" altLang="en-US" sz="2800" u="sng" dirty="0"/>
              <a:t>为了</a:t>
            </a:r>
            <a:r>
              <a:rPr lang="zh-CN" altLang="en-US" sz="2800" u="sng" dirty="0">
                <a:solidFill>
                  <a:schemeClr val="hlink"/>
                </a:solidFill>
              </a:rPr>
              <a:t>求得</a:t>
            </a:r>
            <a:r>
              <a:rPr lang="zh-CN" altLang="en-US" sz="2800" u="sng" dirty="0"/>
              <a:t>给定关系模式的</a:t>
            </a:r>
            <a:r>
              <a:rPr lang="zh-CN" altLang="en-US" sz="2800" u="sng" dirty="0">
                <a:solidFill>
                  <a:schemeClr val="hlink"/>
                </a:solidFill>
              </a:rPr>
              <a:t>码</a:t>
            </a:r>
            <a:r>
              <a:rPr lang="zh-CN" altLang="en-US" sz="2800" dirty="0">
                <a:solidFill>
                  <a:schemeClr val="hlink"/>
                </a:solidFill>
              </a:rPr>
              <a:t>，</a:t>
            </a:r>
            <a:r>
              <a:rPr lang="zh-CN" altLang="en-US" sz="2800" u="sng" dirty="0"/>
              <a:t>为了</a:t>
            </a:r>
            <a:r>
              <a:rPr lang="zh-CN" altLang="en-US" sz="2800" u="sng" dirty="0">
                <a:solidFill>
                  <a:schemeClr val="tx2"/>
                </a:solidFill>
              </a:rPr>
              <a:t>从一组函数依赖</a:t>
            </a:r>
            <a:r>
              <a:rPr lang="zh-CN" altLang="en-US" sz="2800" u="sng" dirty="0">
                <a:solidFill>
                  <a:srgbClr val="FF0000"/>
                </a:solidFill>
              </a:rPr>
              <a:t>求得</a:t>
            </a:r>
            <a:r>
              <a:rPr lang="zh-CN" altLang="en-US" sz="2800" b="1" u="sng" dirty="0">
                <a:solidFill>
                  <a:schemeClr val="tx2"/>
                </a:solidFill>
              </a:rPr>
              <a:t>蕴含</a:t>
            </a:r>
            <a:r>
              <a:rPr lang="zh-CN" altLang="en-US" sz="2800" u="sng" dirty="0">
                <a:solidFill>
                  <a:schemeClr val="tx2"/>
                </a:solidFill>
              </a:rPr>
              <a:t>的函数依赖</a:t>
            </a:r>
            <a:r>
              <a:rPr lang="zh-CN" altLang="en-US" sz="2800" dirty="0"/>
              <a:t>，例如已知</a:t>
            </a:r>
            <a:r>
              <a:rPr lang="zh-CN" altLang="en-US" sz="2800" u="sng" dirty="0"/>
              <a:t>函数依赖集</a:t>
            </a:r>
            <a:r>
              <a:rPr lang="en-US" altLang="zh-CN" sz="2800" u="sng" dirty="0"/>
              <a:t>F</a:t>
            </a:r>
            <a:r>
              <a:rPr lang="zh-CN" altLang="en-US" sz="2800" dirty="0"/>
              <a:t>，要问</a:t>
            </a:r>
            <a:r>
              <a:rPr lang="en-US" altLang="zh-CN" sz="2800" u="sng" dirty="0"/>
              <a:t>X→Y</a:t>
            </a:r>
            <a:r>
              <a:rPr lang="zh-CN" altLang="en-US" sz="2800" u="sng" dirty="0"/>
              <a:t>是否为</a:t>
            </a:r>
            <a:r>
              <a:rPr lang="en-US" altLang="zh-CN" sz="2800" u="sng" dirty="0"/>
              <a:t>F</a:t>
            </a:r>
            <a:r>
              <a:rPr lang="zh-CN" altLang="en-US" sz="2800" u="sng" dirty="0"/>
              <a:t>所蕴含</a:t>
            </a:r>
            <a:r>
              <a:rPr lang="zh-CN" altLang="en-US" sz="2800" dirty="0"/>
              <a:t>，就</a:t>
            </a:r>
            <a:r>
              <a:rPr lang="zh-CN" altLang="en-US" sz="2800" b="1" dirty="0">
                <a:solidFill>
                  <a:schemeClr val="hlink"/>
                </a:solidFill>
              </a:rPr>
              <a:t>需要一套推理规则</a:t>
            </a:r>
            <a:r>
              <a:rPr lang="zh-CN" altLang="en-US" sz="2800" dirty="0"/>
              <a:t>，这组推理规则是</a:t>
            </a:r>
            <a:r>
              <a:rPr lang="en-US" altLang="zh-CN" sz="2800" dirty="0"/>
              <a:t>1974</a:t>
            </a:r>
            <a:r>
              <a:rPr lang="zh-CN" altLang="en-US" sz="2800" dirty="0"/>
              <a:t>年首先由</a:t>
            </a:r>
            <a:r>
              <a:rPr lang="en-US" altLang="zh-CN" sz="2800" dirty="0"/>
              <a:t>Armstrong</a:t>
            </a:r>
            <a:r>
              <a:rPr lang="zh-CN" altLang="en-US" sz="2800" dirty="0"/>
              <a:t>提出来的。它是</a:t>
            </a:r>
            <a:r>
              <a:rPr lang="zh-CN" altLang="en-US" sz="2800" b="1" u="sng" dirty="0">
                <a:solidFill>
                  <a:schemeClr val="tx2"/>
                </a:solidFill>
              </a:rPr>
              <a:t>关系模式分解算法</a:t>
            </a:r>
            <a:r>
              <a:rPr lang="zh-CN" altLang="en-US" sz="2800" dirty="0"/>
              <a:t>的</a:t>
            </a:r>
            <a:r>
              <a:rPr lang="zh-CN" altLang="en-US" sz="2800" u="sng" dirty="0"/>
              <a:t>理论基础</a:t>
            </a:r>
            <a:r>
              <a:rPr lang="zh-CN" altLang="en-US" sz="2800" dirty="0"/>
              <a:t>。</a:t>
            </a:r>
          </a:p>
          <a:p>
            <a:pPr>
              <a:spcBef>
                <a:spcPct val="50000"/>
              </a:spcBef>
            </a:pPr>
            <a:r>
              <a:rPr lang="zh-CN" altLang="en-US" sz="2800" b="1" dirty="0"/>
              <a:t>要求得给定</a:t>
            </a:r>
            <a:r>
              <a:rPr lang="zh-CN" altLang="en-US" sz="2800" u="sng" dirty="0">
                <a:solidFill>
                  <a:schemeClr val="tx2"/>
                </a:solidFill>
              </a:rPr>
              <a:t>关系模式的所有候选码，</a:t>
            </a:r>
            <a:r>
              <a:rPr lang="zh-CN" altLang="en-US" sz="2800" dirty="0"/>
              <a:t>对于</a:t>
            </a:r>
            <a:r>
              <a:rPr lang="zh-CN" altLang="en-US" sz="2800" u="sng" dirty="0"/>
              <a:t>关系模式的</a:t>
            </a:r>
            <a:r>
              <a:rPr lang="zh-CN" altLang="en-US" sz="2800" b="1" u="sng" dirty="0">
                <a:solidFill>
                  <a:srgbClr val="FF0000"/>
                </a:solidFill>
              </a:rPr>
              <a:t>范式级别判定</a:t>
            </a:r>
            <a:r>
              <a:rPr lang="zh-CN" altLang="en-US" sz="2800" dirty="0"/>
              <a:t>具有决定作用：</a:t>
            </a:r>
          </a:p>
          <a:p>
            <a:pPr lvl="1"/>
            <a:r>
              <a:rPr lang="zh-CN" altLang="en-US" sz="2400" b="1" dirty="0">
                <a:solidFill>
                  <a:schemeClr val="tx2"/>
                </a:solidFill>
              </a:rPr>
              <a:t>范式级别的判定</a:t>
            </a:r>
            <a:r>
              <a:rPr lang="zh-CN" altLang="en-US" sz="2400" dirty="0"/>
              <a:t>需要知道关系模式的</a:t>
            </a:r>
            <a:r>
              <a:rPr lang="zh-CN" altLang="en-US" sz="2400" b="1" u="sng" dirty="0"/>
              <a:t>所有候选码</a:t>
            </a:r>
            <a:r>
              <a:rPr lang="zh-CN" altLang="en-US" sz="2400" dirty="0"/>
              <a:t>；</a:t>
            </a:r>
          </a:p>
          <a:p>
            <a:pPr lvl="1"/>
            <a:r>
              <a:rPr lang="zh-CN" altLang="en-US" sz="2400" dirty="0"/>
              <a:t>有的范式级别还需确定</a:t>
            </a:r>
            <a:r>
              <a:rPr lang="zh-CN" altLang="en-US" sz="2400" b="1" u="sng" dirty="0"/>
              <a:t>主属性和非主属性</a:t>
            </a:r>
            <a:r>
              <a:rPr lang="zh-CN" altLang="en-US" sz="2400" dirty="0"/>
              <a:t>，也需要知道所有候选码。</a:t>
            </a:r>
          </a:p>
        </p:txBody>
      </p:sp>
      <p:sp>
        <p:nvSpPr>
          <p:cNvPr id="3" name="页脚占位符 2">
            <a:extLst>
              <a:ext uri="{FF2B5EF4-FFF2-40B4-BE49-F238E27FC236}">
                <a16:creationId xmlns:a16="http://schemas.microsoft.com/office/drawing/2014/main" id="{E0454185-9A29-3D0C-E658-D0A89F3D7EA2}"/>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3BE090E3-92DF-2516-6A46-E1995310324B}"/>
              </a:ext>
            </a:extLst>
          </p:cNvPr>
          <p:cNvSpPr>
            <a:spLocks noGrp="1"/>
          </p:cNvSpPr>
          <p:nvPr>
            <p:ph type="sldNum" sz="quarter" idx="12"/>
          </p:nvPr>
        </p:nvSpPr>
        <p:spPr/>
        <p:txBody>
          <a:bodyPr/>
          <a:lstStyle/>
          <a:p>
            <a:fld id="{A2D74603-B40B-4D66-8F6E-41C870D48932}" type="slidenum">
              <a:rPr lang="en-US" altLang="zh-CN" smtClean="0"/>
              <a:pPr/>
              <a:t>99</a:t>
            </a:fld>
            <a:r>
              <a:rPr lang="en-US" altLang="zh-CN"/>
              <a:t>/162</a:t>
            </a:r>
            <a:endParaRPr lang="en-US" altLang="zh-CN" dirty="0"/>
          </a:p>
        </p:txBody>
      </p:sp>
    </p:spTree>
    <p:extLst>
      <p:ext uri="{BB962C8B-B14F-4D97-AF65-F5344CB8AC3E}">
        <p14:creationId xmlns:p14="http://schemas.microsoft.com/office/powerpoint/2010/main" val="2670166941"/>
      </p:ext>
    </p:extLst>
  </p:cSld>
  <p:clrMapOvr>
    <a:masterClrMapping/>
  </p:clrMapOvr>
  <p:transition>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894B99E-3ABA-47A9-9171-14DE73AE761B}" type="datetime1">
              <a:rPr lang="zh-CN" altLang="en-US" smtClean="0"/>
              <a:t>2025/11/6</a:t>
            </a:fld>
            <a:endParaRPr lang="en-US" altLang="zh-CN"/>
          </a:p>
        </p:txBody>
      </p:sp>
      <p:sp>
        <p:nvSpPr>
          <p:cNvPr id="307202" name="Rectangle 2"/>
          <p:cNvSpPr>
            <a:spLocks noGrp="1" noChangeArrowheads="1"/>
          </p:cNvSpPr>
          <p:nvPr>
            <p:ph type="title"/>
          </p:nvPr>
        </p:nvSpPr>
        <p:spPr/>
        <p:txBody>
          <a:bodyPr/>
          <a:lstStyle/>
          <a:p>
            <a:r>
              <a:rPr lang="zh-CN" altLang="en-US"/>
              <a:t>数据依赖的公理系统</a:t>
            </a:r>
          </a:p>
        </p:txBody>
      </p:sp>
      <p:sp>
        <p:nvSpPr>
          <p:cNvPr id="307203" name="Rectangle 3"/>
          <p:cNvSpPr>
            <a:spLocks noGrp="1" noChangeArrowheads="1"/>
          </p:cNvSpPr>
          <p:nvPr>
            <p:ph type="body" idx="1"/>
          </p:nvPr>
        </p:nvSpPr>
        <p:spPr>
          <a:xfrm>
            <a:off x="609600" y="1447800"/>
            <a:ext cx="8345488" cy="4933527"/>
          </a:xfrm>
        </p:spPr>
        <p:txBody>
          <a:bodyPr/>
          <a:lstStyle/>
          <a:p>
            <a:r>
              <a:rPr lang="zh-CN" altLang="en-US" b="1" dirty="0">
                <a:solidFill>
                  <a:srgbClr val="C00000"/>
                </a:solidFill>
              </a:rPr>
              <a:t>逻辑蕴含</a:t>
            </a:r>
            <a:r>
              <a:rPr lang="zh-CN" altLang="en-US" dirty="0"/>
              <a:t>定义：</a:t>
            </a:r>
          </a:p>
          <a:p>
            <a:pPr>
              <a:buFont typeface="Wingdings" pitchFamily="2" charset="2"/>
              <a:buNone/>
            </a:pPr>
            <a:r>
              <a:rPr lang="zh-CN" altLang="en-US" dirty="0"/>
              <a:t>	</a:t>
            </a:r>
            <a:r>
              <a:rPr lang="zh-CN" altLang="en-US" b="1" dirty="0">
                <a:solidFill>
                  <a:srgbClr val="339933"/>
                </a:solidFill>
              </a:rPr>
              <a:t>定义</a:t>
            </a:r>
            <a:r>
              <a:rPr lang="en-US" altLang="zh-CN" dirty="0">
                <a:solidFill>
                  <a:srgbClr val="339933"/>
                </a:solidFill>
              </a:rPr>
              <a:t>6.11</a:t>
            </a:r>
            <a:r>
              <a:rPr lang="en-US" altLang="zh-CN" dirty="0"/>
              <a:t> </a:t>
            </a:r>
            <a:r>
              <a:rPr lang="zh-CN" altLang="en-US" dirty="0"/>
              <a:t>对于</a:t>
            </a:r>
            <a:r>
              <a:rPr lang="zh-CN" altLang="en-US" dirty="0">
                <a:solidFill>
                  <a:srgbClr val="C00000"/>
                </a:solidFill>
              </a:rPr>
              <a:t>满足</a:t>
            </a:r>
            <a:r>
              <a:rPr lang="zh-CN" altLang="en-US" dirty="0"/>
              <a:t>一组</a:t>
            </a:r>
            <a:r>
              <a:rPr lang="zh-CN" altLang="en-US" b="1" dirty="0">
                <a:solidFill>
                  <a:schemeClr val="tx2"/>
                </a:solidFill>
              </a:rPr>
              <a:t>函数依赖</a:t>
            </a:r>
            <a:r>
              <a:rPr lang="en-US" altLang="zh-CN" b="1" dirty="0">
                <a:solidFill>
                  <a:srgbClr val="FF0000"/>
                </a:solidFill>
              </a:rPr>
              <a:t>F</a:t>
            </a:r>
            <a:r>
              <a:rPr lang="zh-CN" altLang="en-US" dirty="0"/>
              <a:t>的关系模式</a:t>
            </a:r>
            <a:r>
              <a:rPr lang="en-US" altLang="zh-CN" dirty="0"/>
              <a:t>R&lt;U</a:t>
            </a:r>
            <a:r>
              <a:rPr lang="zh-CN" altLang="en-US" dirty="0"/>
              <a:t>，</a:t>
            </a:r>
            <a:r>
              <a:rPr lang="en-US" altLang="zh-CN" dirty="0">
                <a:solidFill>
                  <a:srgbClr val="FF0000"/>
                </a:solidFill>
              </a:rPr>
              <a:t>F</a:t>
            </a:r>
            <a:r>
              <a:rPr lang="en-US" altLang="zh-CN" dirty="0"/>
              <a:t>&gt;</a:t>
            </a:r>
            <a:r>
              <a:rPr lang="zh-CN" altLang="en-US" dirty="0"/>
              <a:t>，其</a:t>
            </a:r>
            <a:r>
              <a:rPr lang="zh-CN" altLang="en-US" dirty="0">
                <a:solidFill>
                  <a:srgbClr val="0000FF"/>
                </a:solidFill>
              </a:rPr>
              <a:t>任何一个关系</a:t>
            </a:r>
            <a:r>
              <a:rPr lang="en-US" altLang="zh-CN" dirty="0">
                <a:solidFill>
                  <a:srgbClr val="0000FF"/>
                </a:solidFill>
              </a:rPr>
              <a:t>r</a:t>
            </a:r>
            <a:r>
              <a:rPr lang="zh-CN" altLang="en-US" dirty="0"/>
              <a:t>，若函数依赖</a:t>
            </a:r>
            <a:r>
              <a:rPr lang="en-US" altLang="zh-CN" b="1" dirty="0">
                <a:solidFill>
                  <a:srgbClr val="0000FF"/>
                </a:solidFill>
              </a:rPr>
              <a:t>X→Y</a:t>
            </a:r>
            <a:r>
              <a:rPr lang="zh-CN" altLang="en-US" b="1" dirty="0"/>
              <a:t>都成立</a:t>
            </a:r>
            <a:r>
              <a:rPr lang="zh-CN" altLang="en-US" dirty="0"/>
              <a:t>（即</a:t>
            </a:r>
            <a:r>
              <a:rPr lang="en-US" altLang="zh-CN" dirty="0"/>
              <a:t>r</a:t>
            </a:r>
            <a:r>
              <a:rPr lang="zh-CN" altLang="en-US" dirty="0"/>
              <a:t>中任意两元组</a:t>
            </a:r>
            <a:r>
              <a:rPr lang="en-US" altLang="zh-CN" dirty="0"/>
              <a:t>s,</a:t>
            </a:r>
            <a:r>
              <a:rPr lang="zh-CN" altLang="en-US" dirty="0"/>
              <a:t> </a:t>
            </a:r>
            <a:r>
              <a:rPr lang="en-US" altLang="zh-CN" dirty="0"/>
              <a:t>t</a:t>
            </a:r>
            <a:r>
              <a:rPr lang="zh-CN" altLang="en-US" dirty="0"/>
              <a:t>，若</a:t>
            </a:r>
            <a:r>
              <a:rPr lang="en-US" altLang="zh-CN" dirty="0"/>
              <a:t>t[X]=s[X]</a:t>
            </a:r>
            <a:r>
              <a:rPr lang="zh-CN" altLang="en-US" dirty="0"/>
              <a:t>，则</a:t>
            </a:r>
            <a:r>
              <a:rPr lang="en-US" altLang="zh-CN" dirty="0"/>
              <a:t>t[Y]=s[Y]</a:t>
            </a:r>
            <a:r>
              <a:rPr lang="zh-CN" altLang="en-US" dirty="0"/>
              <a:t>），则称</a:t>
            </a:r>
            <a:r>
              <a:rPr lang="zh-CN" altLang="en-US" dirty="0">
                <a:solidFill>
                  <a:schemeClr val="tx2"/>
                </a:solidFill>
              </a:rPr>
              <a:t>函数依赖集</a:t>
            </a:r>
            <a:r>
              <a:rPr lang="en-US" altLang="zh-CN" b="1" dirty="0">
                <a:solidFill>
                  <a:schemeClr val="tx2"/>
                </a:solidFill>
              </a:rPr>
              <a:t>F</a:t>
            </a:r>
            <a:r>
              <a:rPr lang="en-US" altLang="zh-CN" dirty="0">
                <a:solidFill>
                  <a:schemeClr val="tx2"/>
                </a:solidFill>
              </a:rPr>
              <a:t> </a:t>
            </a:r>
            <a:r>
              <a:rPr lang="zh-CN" altLang="en-US" b="1" dirty="0">
                <a:solidFill>
                  <a:srgbClr val="FF0000"/>
                </a:solidFill>
              </a:rPr>
              <a:t>逻辑蕴含 </a:t>
            </a:r>
            <a:r>
              <a:rPr lang="en-US" altLang="zh-CN" b="1" dirty="0">
                <a:solidFill>
                  <a:srgbClr val="0000FF"/>
                </a:solidFill>
              </a:rPr>
              <a:t>X→Y</a:t>
            </a:r>
            <a:r>
              <a:rPr lang="zh-CN" altLang="en-US" dirty="0"/>
              <a:t>。</a:t>
            </a:r>
          </a:p>
          <a:p>
            <a:r>
              <a:rPr lang="zh-CN" altLang="en-US" dirty="0"/>
              <a:t>也即：给定一个关系模式</a:t>
            </a:r>
            <a:r>
              <a:rPr lang="en-US" altLang="zh-CN" dirty="0"/>
              <a:t>r(R),</a:t>
            </a:r>
            <a:r>
              <a:rPr lang="zh-CN" altLang="en-US" dirty="0"/>
              <a:t>如果关系</a:t>
            </a:r>
            <a:r>
              <a:rPr lang="en-US" altLang="zh-CN" dirty="0"/>
              <a:t>r(R)</a:t>
            </a:r>
            <a:r>
              <a:rPr lang="zh-CN" altLang="en-US" dirty="0"/>
              <a:t>的每一个满足</a:t>
            </a:r>
            <a:r>
              <a:rPr lang="en-US" altLang="zh-CN" dirty="0"/>
              <a:t>F</a:t>
            </a:r>
            <a:r>
              <a:rPr lang="zh-CN" altLang="en-US" dirty="0"/>
              <a:t>的实例也满足</a:t>
            </a:r>
            <a:r>
              <a:rPr lang="en-US" altLang="zh-CN" b="1" dirty="0">
                <a:solidFill>
                  <a:schemeClr val="tx2"/>
                </a:solidFill>
              </a:rPr>
              <a:t>X→Y</a:t>
            </a:r>
            <a:r>
              <a:rPr lang="zh-CN" altLang="en-US" b="1" dirty="0">
                <a:solidFill>
                  <a:schemeClr val="tx2"/>
                </a:solidFill>
              </a:rPr>
              <a:t>，则</a:t>
            </a:r>
            <a:r>
              <a:rPr lang="en-US" altLang="zh-CN" b="1" dirty="0">
                <a:solidFill>
                  <a:schemeClr val="tx2"/>
                </a:solidFill>
              </a:rPr>
              <a:t>X→Y</a:t>
            </a:r>
            <a:r>
              <a:rPr lang="zh-CN" altLang="en-US" b="1" dirty="0">
                <a:solidFill>
                  <a:schemeClr val="tx2"/>
                </a:solidFill>
              </a:rPr>
              <a:t>被</a:t>
            </a:r>
            <a:r>
              <a:rPr lang="en-US" altLang="zh-CN" dirty="0"/>
              <a:t>R</a:t>
            </a:r>
            <a:r>
              <a:rPr lang="zh-CN" altLang="en-US" dirty="0"/>
              <a:t>上的函数依赖集</a:t>
            </a:r>
            <a:r>
              <a:rPr lang="en-US" altLang="zh-CN" dirty="0">
                <a:solidFill>
                  <a:srgbClr val="FF0000"/>
                </a:solidFill>
              </a:rPr>
              <a:t>F</a:t>
            </a:r>
            <a:r>
              <a:rPr lang="zh-CN" altLang="en-US" dirty="0">
                <a:solidFill>
                  <a:srgbClr val="0000FF"/>
                </a:solidFill>
              </a:rPr>
              <a:t>所逻辑蕴涵</a:t>
            </a:r>
            <a:r>
              <a:rPr lang="zh-CN" altLang="en-US" dirty="0"/>
              <a:t>。</a:t>
            </a:r>
          </a:p>
        </p:txBody>
      </p:sp>
      <p:sp>
        <p:nvSpPr>
          <p:cNvPr id="3" name="页脚占位符 2">
            <a:extLst>
              <a:ext uri="{FF2B5EF4-FFF2-40B4-BE49-F238E27FC236}">
                <a16:creationId xmlns:a16="http://schemas.microsoft.com/office/drawing/2014/main" id="{97FBAEA6-D492-5171-36E1-BC6ED4A0C24C}"/>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EF95FC99-7E27-2F27-A19A-5463DFD6E830}"/>
              </a:ext>
            </a:extLst>
          </p:cNvPr>
          <p:cNvSpPr>
            <a:spLocks noGrp="1"/>
          </p:cNvSpPr>
          <p:nvPr>
            <p:ph type="sldNum" sz="quarter" idx="12"/>
          </p:nvPr>
        </p:nvSpPr>
        <p:spPr/>
        <p:txBody>
          <a:bodyPr/>
          <a:lstStyle/>
          <a:p>
            <a:fld id="{A2D74603-B40B-4D66-8F6E-41C870D48932}" type="slidenum">
              <a:rPr lang="en-US" altLang="zh-CN" smtClean="0"/>
              <a:pPr/>
              <a:t>100</a:t>
            </a:fld>
            <a:r>
              <a:rPr lang="en-US" altLang="zh-CN"/>
              <a:t>/162</a:t>
            </a:r>
            <a:endParaRPr lang="en-US" altLang="zh-CN" dirty="0"/>
          </a:p>
        </p:txBody>
      </p:sp>
    </p:spTree>
    <p:extLst>
      <p:ext uri="{BB962C8B-B14F-4D97-AF65-F5344CB8AC3E}">
        <p14:creationId xmlns:p14="http://schemas.microsoft.com/office/powerpoint/2010/main" val="2669459897"/>
      </p:ext>
    </p:extLst>
  </p:cSld>
  <p:clrMapOvr>
    <a:masterClrMapping/>
  </p:clrMapOvr>
  <p:transition>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1A33D2C4-2DDC-4788-BFAC-338029428F30}" type="datetime1">
              <a:rPr lang="zh-CN" altLang="en-US" smtClean="0"/>
              <a:t>2025/11/6</a:t>
            </a:fld>
            <a:endParaRPr lang="en-US" altLang="zh-CN"/>
          </a:p>
        </p:txBody>
      </p:sp>
      <p:sp>
        <p:nvSpPr>
          <p:cNvPr id="307202" name="Rectangle 2"/>
          <p:cNvSpPr>
            <a:spLocks noGrp="1" noChangeArrowheads="1"/>
          </p:cNvSpPr>
          <p:nvPr>
            <p:ph type="title"/>
          </p:nvPr>
        </p:nvSpPr>
        <p:spPr/>
        <p:txBody>
          <a:bodyPr/>
          <a:lstStyle/>
          <a:p>
            <a:r>
              <a:rPr lang="zh-CN" altLang="en-US"/>
              <a:t>数据依赖的公理系统</a:t>
            </a:r>
          </a:p>
        </p:txBody>
      </p:sp>
      <p:sp>
        <p:nvSpPr>
          <p:cNvPr id="307203" name="Rectangle 3"/>
          <p:cNvSpPr>
            <a:spLocks noGrp="1" noChangeArrowheads="1"/>
          </p:cNvSpPr>
          <p:nvPr>
            <p:ph type="body" idx="1"/>
          </p:nvPr>
        </p:nvSpPr>
        <p:spPr>
          <a:xfrm>
            <a:off x="609600" y="1447800"/>
            <a:ext cx="8345488" cy="4933528"/>
          </a:xfrm>
        </p:spPr>
        <p:txBody>
          <a:bodyPr/>
          <a:lstStyle/>
          <a:p>
            <a:r>
              <a:rPr lang="zh-CN" altLang="en-US" dirty="0"/>
              <a:t>假设给定关系模式</a:t>
            </a:r>
            <a:r>
              <a:rPr lang="en-US" altLang="zh-CN" dirty="0"/>
              <a:t>R(A,B,C,G,H,I)</a:t>
            </a:r>
            <a:r>
              <a:rPr lang="zh-CN" altLang="en-US" dirty="0"/>
              <a:t>及其函数依赖集</a:t>
            </a:r>
            <a:r>
              <a:rPr lang="en-US" altLang="zh-CN" dirty="0">
                <a:solidFill>
                  <a:srgbClr val="0000FF"/>
                </a:solidFill>
              </a:rPr>
              <a:t>F: {A→B, A→C, CG→H, CG→I, B→H}</a:t>
            </a:r>
            <a:endParaRPr lang="en-US" altLang="zh-CN" dirty="0"/>
          </a:p>
          <a:p>
            <a:pPr marL="0" indent="0">
              <a:buNone/>
            </a:pPr>
            <a:r>
              <a:rPr lang="en-US" altLang="zh-CN" dirty="0"/>
              <a:t>      </a:t>
            </a:r>
            <a:r>
              <a:rPr lang="zh-CN" altLang="en-US" dirty="0">
                <a:solidFill>
                  <a:srgbClr val="FF0000"/>
                </a:solidFill>
              </a:rPr>
              <a:t>那么</a:t>
            </a:r>
            <a:r>
              <a:rPr lang="en-US" altLang="zh-CN" dirty="0">
                <a:solidFill>
                  <a:srgbClr val="FF0000"/>
                </a:solidFill>
              </a:rPr>
              <a:t> A→H </a:t>
            </a:r>
            <a:r>
              <a:rPr lang="zh-CN" altLang="en-US" dirty="0">
                <a:solidFill>
                  <a:srgbClr val="FF0000"/>
                </a:solidFill>
              </a:rPr>
              <a:t>是被</a:t>
            </a:r>
            <a:r>
              <a:rPr lang="en-US" altLang="zh-CN" dirty="0">
                <a:solidFill>
                  <a:srgbClr val="FF0000"/>
                </a:solidFill>
              </a:rPr>
              <a:t>F</a:t>
            </a:r>
            <a:r>
              <a:rPr lang="zh-CN" altLang="en-US" dirty="0">
                <a:solidFill>
                  <a:srgbClr val="FF0000"/>
                </a:solidFill>
              </a:rPr>
              <a:t>逻辑蕴涵的</a:t>
            </a:r>
            <a:r>
              <a:rPr lang="zh-CN" altLang="en-US" dirty="0"/>
              <a:t>。</a:t>
            </a:r>
            <a:endParaRPr lang="en-US" altLang="zh-CN" dirty="0"/>
          </a:p>
          <a:p>
            <a:pPr marL="0" indent="0">
              <a:buNone/>
            </a:pPr>
            <a:endParaRPr lang="en-US" altLang="zh-CN" dirty="0"/>
          </a:p>
          <a:p>
            <a:pPr marL="0" indent="0">
              <a:buNone/>
            </a:pPr>
            <a:r>
              <a:rPr lang="zh-CN" altLang="en-US" b="1" dirty="0"/>
              <a:t>如何分析证明？</a:t>
            </a:r>
            <a:endParaRPr lang="en-US" altLang="zh-CN" b="1" dirty="0"/>
          </a:p>
          <a:p>
            <a:pPr marL="0" indent="0">
              <a:buNone/>
            </a:pPr>
            <a:r>
              <a:rPr lang="en-US" altLang="zh-CN" dirty="0"/>
              <a:t>    </a:t>
            </a:r>
            <a:r>
              <a:rPr lang="zh-CN" altLang="en-US" dirty="0"/>
              <a:t>如果我们可以证明一个关系实例</a:t>
            </a:r>
            <a:r>
              <a:rPr lang="zh-CN" altLang="en-US" dirty="0">
                <a:solidFill>
                  <a:srgbClr val="0000FF"/>
                </a:solidFill>
              </a:rPr>
              <a:t>只要满足</a:t>
            </a:r>
            <a:r>
              <a:rPr lang="zh-CN" altLang="en-US" dirty="0"/>
              <a:t>给定的函数依赖集</a:t>
            </a:r>
            <a:r>
              <a:rPr lang="en-US" altLang="zh-CN" dirty="0">
                <a:solidFill>
                  <a:srgbClr val="0000FF"/>
                </a:solidFill>
              </a:rPr>
              <a:t>F</a:t>
            </a:r>
            <a:r>
              <a:rPr lang="zh-CN" altLang="en-US" dirty="0"/>
              <a:t>，这个关系实例</a:t>
            </a:r>
            <a:r>
              <a:rPr lang="zh-CN" altLang="en-US" dirty="0">
                <a:solidFill>
                  <a:srgbClr val="0000FF"/>
                </a:solidFill>
              </a:rPr>
              <a:t>就一定满足</a:t>
            </a:r>
            <a:r>
              <a:rPr lang="en-US" altLang="zh-CN" dirty="0">
                <a:solidFill>
                  <a:srgbClr val="0000FF"/>
                </a:solidFill>
              </a:rPr>
              <a:t>A→H</a:t>
            </a:r>
            <a:r>
              <a:rPr lang="zh-CN" altLang="en-US" dirty="0"/>
              <a:t>，即可。</a:t>
            </a:r>
          </a:p>
        </p:txBody>
      </p:sp>
      <p:sp>
        <p:nvSpPr>
          <p:cNvPr id="3" name="页脚占位符 2">
            <a:extLst>
              <a:ext uri="{FF2B5EF4-FFF2-40B4-BE49-F238E27FC236}">
                <a16:creationId xmlns:a16="http://schemas.microsoft.com/office/drawing/2014/main" id="{06447E55-B26A-F5B4-A746-A7D42CACEE05}"/>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177AC448-2B9F-EE00-9C1A-2310773E6F74}"/>
              </a:ext>
            </a:extLst>
          </p:cNvPr>
          <p:cNvSpPr>
            <a:spLocks noGrp="1"/>
          </p:cNvSpPr>
          <p:nvPr>
            <p:ph type="sldNum" sz="quarter" idx="12"/>
          </p:nvPr>
        </p:nvSpPr>
        <p:spPr/>
        <p:txBody>
          <a:bodyPr/>
          <a:lstStyle/>
          <a:p>
            <a:fld id="{A2D74603-B40B-4D66-8F6E-41C870D48932}" type="slidenum">
              <a:rPr lang="en-US" altLang="zh-CN" smtClean="0"/>
              <a:pPr/>
              <a:t>101</a:t>
            </a:fld>
            <a:r>
              <a:rPr lang="en-US" altLang="zh-CN"/>
              <a:t>/162</a:t>
            </a:r>
            <a:endParaRPr lang="en-US" altLang="zh-CN" dirty="0"/>
          </a:p>
        </p:txBody>
      </p:sp>
    </p:spTree>
    <p:extLst>
      <p:ext uri="{BB962C8B-B14F-4D97-AF65-F5344CB8AC3E}">
        <p14:creationId xmlns:p14="http://schemas.microsoft.com/office/powerpoint/2010/main" val="235068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07203">
                                            <p:txEl>
                                              <p:pRg st="3" end="3"/>
                                            </p:txEl>
                                          </p:spTgt>
                                        </p:tgtEl>
                                        <p:attrNameLst>
                                          <p:attrName>style.visibility</p:attrName>
                                        </p:attrNameLst>
                                      </p:cBhvr>
                                      <p:to>
                                        <p:strVal val="visible"/>
                                      </p:to>
                                    </p:set>
                                    <p:animEffect transition="in" filter="barn(inVertical)">
                                      <p:cBhvr>
                                        <p:cTn id="7" dur="500"/>
                                        <p:tgtEl>
                                          <p:spTgt spid="30720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07203">
                                            <p:txEl>
                                              <p:pRg st="4" end="4"/>
                                            </p:txEl>
                                          </p:spTgt>
                                        </p:tgtEl>
                                        <p:attrNameLst>
                                          <p:attrName>style.visibility</p:attrName>
                                        </p:attrNameLst>
                                      </p:cBhvr>
                                      <p:to>
                                        <p:strVal val="visible"/>
                                      </p:to>
                                    </p:set>
                                    <p:anim calcmode="lin" valueType="num">
                                      <p:cBhvr additive="base">
                                        <p:cTn id="12" dur="500" fill="hold"/>
                                        <p:tgtEl>
                                          <p:spTgt spid="307203">
                                            <p:txEl>
                                              <p:pRg st="4" end="4"/>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0720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4A11579-5972-4364-8D3B-9754645A838B}" type="datetime1">
              <a:rPr lang="zh-CN" altLang="en-US" smtClean="0"/>
              <a:t>2025/11/6</a:t>
            </a:fld>
            <a:endParaRPr lang="en-US" altLang="zh-CN"/>
          </a:p>
        </p:txBody>
      </p:sp>
      <p:sp>
        <p:nvSpPr>
          <p:cNvPr id="307202" name="Rectangle 2"/>
          <p:cNvSpPr>
            <a:spLocks noGrp="1" noChangeArrowheads="1"/>
          </p:cNvSpPr>
          <p:nvPr>
            <p:ph type="title"/>
          </p:nvPr>
        </p:nvSpPr>
        <p:spPr/>
        <p:txBody>
          <a:bodyPr/>
          <a:lstStyle/>
          <a:p>
            <a:r>
              <a:rPr lang="zh-CN" altLang="en-US"/>
              <a:t>数据依赖的公理系统</a:t>
            </a:r>
          </a:p>
        </p:txBody>
      </p:sp>
      <p:sp>
        <p:nvSpPr>
          <p:cNvPr id="307203" name="Rectangle 3"/>
          <p:cNvSpPr>
            <a:spLocks noGrp="1" noChangeArrowheads="1"/>
          </p:cNvSpPr>
          <p:nvPr>
            <p:ph type="body" idx="1"/>
          </p:nvPr>
        </p:nvSpPr>
        <p:spPr>
          <a:xfrm>
            <a:off x="609600" y="1447800"/>
            <a:ext cx="8345488" cy="4933528"/>
          </a:xfrm>
        </p:spPr>
        <p:txBody>
          <a:bodyPr/>
          <a:lstStyle/>
          <a:p>
            <a:r>
              <a:rPr lang="en-US" altLang="zh-CN" dirty="0">
                <a:solidFill>
                  <a:srgbClr val="0000FF"/>
                </a:solidFill>
              </a:rPr>
              <a:t>F: {A→B, A→C, CG→H, CG→I, B→H}</a:t>
            </a:r>
          </a:p>
          <a:p>
            <a:pPr marL="0" indent="0">
              <a:buNone/>
            </a:pPr>
            <a:r>
              <a:rPr lang="en-US" altLang="zh-CN" dirty="0"/>
              <a:t>    </a:t>
            </a:r>
            <a:r>
              <a:rPr lang="zh-CN" altLang="en-US" dirty="0">
                <a:solidFill>
                  <a:srgbClr val="FF0000"/>
                </a:solidFill>
              </a:rPr>
              <a:t>那么</a:t>
            </a:r>
            <a:r>
              <a:rPr lang="en-US" altLang="zh-CN" dirty="0">
                <a:solidFill>
                  <a:srgbClr val="FF0000"/>
                </a:solidFill>
              </a:rPr>
              <a:t> A→H</a:t>
            </a:r>
            <a:r>
              <a:rPr lang="zh-CN" altLang="en-US" dirty="0">
                <a:solidFill>
                  <a:srgbClr val="FF0000"/>
                </a:solidFill>
              </a:rPr>
              <a:t>是被逻辑蕴涵的</a:t>
            </a:r>
            <a:r>
              <a:rPr lang="zh-CN" altLang="en-US" dirty="0"/>
              <a:t>。</a:t>
            </a:r>
            <a:endParaRPr lang="en-US" altLang="zh-CN" dirty="0"/>
          </a:p>
          <a:p>
            <a:pPr marL="0" indent="0">
              <a:buNone/>
            </a:pPr>
            <a:r>
              <a:rPr lang="zh-CN" altLang="en-US" sz="2800" dirty="0"/>
              <a:t>假设元组</a:t>
            </a:r>
            <a:r>
              <a:rPr lang="en-US" altLang="zh-CN" sz="2800" dirty="0"/>
              <a:t>t1, t2</a:t>
            </a:r>
            <a:r>
              <a:rPr lang="zh-CN" altLang="en-US" sz="2800" dirty="0"/>
              <a:t>满足：</a:t>
            </a:r>
            <a:r>
              <a:rPr lang="en-US" altLang="zh-CN" sz="2800" dirty="0">
                <a:solidFill>
                  <a:srgbClr val="FF0000"/>
                </a:solidFill>
              </a:rPr>
              <a:t>t1[A]=t2[A],</a:t>
            </a:r>
          </a:p>
          <a:p>
            <a:pPr marL="0" indent="0">
              <a:buNone/>
            </a:pPr>
            <a:r>
              <a:rPr lang="zh-CN" altLang="en-US" sz="2800" dirty="0"/>
              <a:t>由于我们己知</a:t>
            </a:r>
            <a:r>
              <a:rPr lang="en-US" altLang="zh-CN" sz="2800" dirty="0">
                <a:solidFill>
                  <a:srgbClr val="0000FF"/>
                </a:solidFill>
              </a:rPr>
              <a:t>A→B</a:t>
            </a:r>
            <a:r>
              <a:rPr lang="zh-CN" altLang="en-US" sz="2800" dirty="0"/>
              <a:t>，从该函数依赖的定义可以推出：     </a:t>
            </a:r>
            <a:r>
              <a:rPr lang="en-US" altLang="zh-CN" sz="2800" dirty="0">
                <a:solidFill>
                  <a:srgbClr val="006600"/>
                </a:solidFill>
              </a:rPr>
              <a:t>t1[B]=t2[B]</a:t>
            </a:r>
            <a:r>
              <a:rPr lang="zh-CN" altLang="en-US" sz="2800" dirty="0"/>
              <a:t>，</a:t>
            </a:r>
            <a:endParaRPr lang="en-US" altLang="zh-CN" sz="2800" dirty="0"/>
          </a:p>
          <a:p>
            <a:pPr marL="0" indent="0">
              <a:buNone/>
            </a:pPr>
            <a:r>
              <a:rPr lang="zh-CN" altLang="en-US" sz="2800" dirty="0"/>
              <a:t>又由于我们已知</a:t>
            </a:r>
            <a:r>
              <a:rPr lang="en-US" altLang="zh-CN" sz="2800" dirty="0">
                <a:solidFill>
                  <a:srgbClr val="0000FF"/>
                </a:solidFill>
              </a:rPr>
              <a:t>B→H</a:t>
            </a:r>
            <a:r>
              <a:rPr lang="zh-CN" altLang="en-US" sz="2800" dirty="0"/>
              <a:t>，从该函数依赖的定义可以推出：</a:t>
            </a:r>
            <a:r>
              <a:rPr lang="en-US" altLang="zh-CN" sz="2800" dirty="0"/>
              <a:t> </a:t>
            </a:r>
            <a:r>
              <a:rPr lang="en-US" altLang="zh-CN" sz="2800" dirty="0">
                <a:solidFill>
                  <a:srgbClr val="FF0000"/>
                </a:solidFill>
              </a:rPr>
              <a:t>t1[H]=t2[H]</a:t>
            </a:r>
            <a:r>
              <a:rPr lang="zh-CN" altLang="en-US" sz="2800" dirty="0"/>
              <a:t>，</a:t>
            </a:r>
            <a:br>
              <a:rPr lang="en-US" altLang="zh-CN" sz="2800" dirty="0"/>
            </a:br>
            <a:r>
              <a:rPr lang="zh-CN" altLang="en-US" sz="2800" dirty="0"/>
              <a:t>因此，我们已经证明了：</a:t>
            </a:r>
            <a:r>
              <a:rPr lang="zh-CN" altLang="en-US" sz="2800" u="sng" dirty="0"/>
              <a:t>对于两个元组</a:t>
            </a:r>
            <a:r>
              <a:rPr lang="en-US" altLang="zh-CN" sz="2800" u="sng" dirty="0"/>
              <a:t>t1, t2</a:t>
            </a:r>
            <a:r>
              <a:rPr lang="zh-CN" altLang="en-US" sz="2800" u="sng" dirty="0"/>
              <a:t>，只要</a:t>
            </a:r>
            <a:r>
              <a:rPr lang="en-US" altLang="zh-CN" sz="2800" u="sng" dirty="0"/>
              <a:t>t1[A]=t2[A], </a:t>
            </a:r>
            <a:r>
              <a:rPr lang="zh-CN" altLang="en-US" sz="2800" u="sng" dirty="0"/>
              <a:t>则一定有</a:t>
            </a:r>
            <a:r>
              <a:rPr lang="en-US" altLang="zh-CN" sz="2800" u="sng" dirty="0"/>
              <a:t>t1[H]=t2[H]</a:t>
            </a:r>
            <a:r>
              <a:rPr lang="zh-CN" altLang="en-US" sz="2800" dirty="0"/>
              <a:t>。</a:t>
            </a:r>
            <a:endParaRPr lang="en-US" altLang="zh-CN" sz="2800" dirty="0"/>
          </a:p>
          <a:p>
            <a:pPr marL="0" indent="0">
              <a:buNone/>
            </a:pPr>
            <a:r>
              <a:rPr lang="zh-CN" altLang="en-US" sz="2800" dirty="0"/>
              <a:t>即是</a:t>
            </a:r>
            <a:r>
              <a:rPr lang="en-US" altLang="zh-CN" sz="2800" dirty="0">
                <a:solidFill>
                  <a:srgbClr val="FF0000"/>
                </a:solidFill>
              </a:rPr>
              <a:t>A→H</a:t>
            </a:r>
            <a:r>
              <a:rPr lang="zh-CN" altLang="en-US" sz="2800" dirty="0">
                <a:solidFill>
                  <a:srgbClr val="FF0000"/>
                </a:solidFill>
              </a:rPr>
              <a:t>的定义。</a:t>
            </a:r>
            <a:endParaRPr lang="zh-CN" altLang="en-US" sz="2800" dirty="0"/>
          </a:p>
          <a:p>
            <a:pPr marL="0" indent="0">
              <a:buNone/>
            </a:pPr>
            <a:endParaRPr lang="en-US" altLang="zh-CN" dirty="0"/>
          </a:p>
        </p:txBody>
      </p:sp>
      <p:sp>
        <p:nvSpPr>
          <p:cNvPr id="3" name="页脚占位符 2">
            <a:extLst>
              <a:ext uri="{FF2B5EF4-FFF2-40B4-BE49-F238E27FC236}">
                <a16:creationId xmlns:a16="http://schemas.microsoft.com/office/drawing/2014/main" id="{4D474428-948E-0D11-633E-F670417CB858}"/>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D134A3E6-362B-2EE6-6C22-1F9DABD08E31}"/>
              </a:ext>
            </a:extLst>
          </p:cNvPr>
          <p:cNvSpPr>
            <a:spLocks noGrp="1"/>
          </p:cNvSpPr>
          <p:nvPr>
            <p:ph type="sldNum" sz="quarter" idx="12"/>
          </p:nvPr>
        </p:nvSpPr>
        <p:spPr/>
        <p:txBody>
          <a:bodyPr/>
          <a:lstStyle/>
          <a:p>
            <a:fld id="{A2D74603-B40B-4D66-8F6E-41C870D48932}" type="slidenum">
              <a:rPr lang="en-US" altLang="zh-CN" smtClean="0"/>
              <a:pPr/>
              <a:t>102</a:t>
            </a:fld>
            <a:r>
              <a:rPr lang="en-US" altLang="zh-CN"/>
              <a:t>/162</a:t>
            </a:r>
            <a:endParaRPr lang="en-US" altLang="zh-CN" dirty="0"/>
          </a:p>
        </p:txBody>
      </p:sp>
    </p:spTree>
    <p:extLst>
      <p:ext uri="{BB962C8B-B14F-4D97-AF65-F5344CB8AC3E}">
        <p14:creationId xmlns:p14="http://schemas.microsoft.com/office/powerpoint/2010/main" val="3145423433"/>
      </p:ext>
    </p:extLst>
  </p:cSld>
  <p:clrMapOvr>
    <a:masterClrMapping/>
  </p:clrMapOvr>
  <p:transition>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F5A8239C-A1B9-46B4-BCB6-93CCB7BA84DF}" type="datetime1">
              <a:rPr lang="zh-CN" altLang="en-US" smtClean="0"/>
              <a:t>2025/11/6</a:t>
            </a:fld>
            <a:endParaRPr lang="en-US" altLang="zh-CN"/>
          </a:p>
        </p:txBody>
      </p:sp>
      <p:sp>
        <p:nvSpPr>
          <p:cNvPr id="310274" name="Rectangle 2"/>
          <p:cNvSpPr>
            <a:spLocks noGrp="1" noChangeArrowheads="1"/>
          </p:cNvSpPr>
          <p:nvPr>
            <p:ph type="title"/>
          </p:nvPr>
        </p:nvSpPr>
        <p:spPr/>
        <p:txBody>
          <a:bodyPr/>
          <a:lstStyle/>
          <a:p>
            <a:r>
              <a:rPr lang="en-US" altLang="zh-CN" dirty="0"/>
              <a:t>Armstrong </a:t>
            </a:r>
            <a:r>
              <a:rPr lang="zh-CN" altLang="en-US" dirty="0"/>
              <a:t>公理系统</a:t>
            </a:r>
          </a:p>
        </p:txBody>
      </p:sp>
      <p:sp>
        <p:nvSpPr>
          <p:cNvPr id="310275" name="Rectangle 3"/>
          <p:cNvSpPr>
            <a:spLocks noGrp="1" noChangeArrowheads="1"/>
          </p:cNvSpPr>
          <p:nvPr>
            <p:ph type="body" idx="1"/>
          </p:nvPr>
        </p:nvSpPr>
        <p:spPr>
          <a:xfrm>
            <a:off x="609600" y="1447800"/>
            <a:ext cx="7922840" cy="4684713"/>
          </a:xfrm>
        </p:spPr>
        <p:txBody>
          <a:bodyPr/>
          <a:lstStyle/>
          <a:p>
            <a:pPr>
              <a:buNone/>
            </a:pPr>
            <a:r>
              <a:rPr lang="zh-CN" altLang="en-US" dirty="0"/>
              <a:t>定义</a:t>
            </a:r>
            <a:r>
              <a:rPr lang="en-US" altLang="zh-CN" dirty="0"/>
              <a:t>6.12 (</a:t>
            </a:r>
            <a:r>
              <a:rPr lang="zh-CN" altLang="en-US" dirty="0"/>
              <a:t>函数依赖集</a:t>
            </a:r>
            <a:r>
              <a:rPr lang="zh-CN" altLang="en-US" dirty="0">
                <a:solidFill>
                  <a:srgbClr val="0000FF"/>
                </a:solidFill>
              </a:rPr>
              <a:t>闭包</a:t>
            </a:r>
            <a:r>
              <a:rPr lang="en-US" altLang="zh-CN" dirty="0"/>
              <a:t>) F</a:t>
            </a:r>
            <a:r>
              <a:rPr lang="zh-CN" altLang="en-US" dirty="0"/>
              <a:t>的</a:t>
            </a:r>
            <a:r>
              <a:rPr lang="zh-CN" altLang="en-US" dirty="0">
                <a:solidFill>
                  <a:schemeClr val="hlink"/>
                </a:solidFill>
              </a:rPr>
              <a:t>闭包</a:t>
            </a:r>
            <a:r>
              <a:rPr lang="zh-CN" altLang="en-US" dirty="0"/>
              <a:t>：</a:t>
            </a:r>
            <a:r>
              <a:rPr lang="zh-CN" altLang="en-US" b="1" dirty="0">
                <a:solidFill>
                  <a:schemeClr val="tx2"/>
                </a:solidFill>
              </a:rPr>
              <a:t>函数集闭包 </a:t>
            </a:r>
            <a:r>
              <a:rPr lang="en-US" altLang="zh-CN" dirty="0"/>
              <a:t>(</a:t>
            </a:r>
            <a:r>
              <a:rPr lang="zh-CN" altLang="en-US" dirty="0"/>
              <a:t>找亲戚的亲戚</a:t>
            </a:r>
            <a:r>
              <a:rPr lang="en-US" altLang="zh-CN" dirty="0"/>
              <a:t>)</a:t>
            </a:r>
          </a:p>
          <a:p>
            <a:pPr>
              <a:buFont typeface="Wingdings" pitchFamily="2" charset="2"/>
              <a:buNone/>
            </a:pPr>
            <a:r>
              <a:rPr lang="en-US" altLang="zh-CN" dirty="0"/>
              <a:t>	</a:t>
            </a:r>
            <a:r>
              <a:rPr lang="zh-CN" altLang="en-US" dirty="0"/>
              <a:t>在关系模式</a:t>
            </a:r>
            <a:r>
              <a:rPr lang="en-US" altLang="zh-CN" dirty="0"/>
              <a:t>R&lt;U</a:t>
            </a:r>
            <a:r>
              <a:rPr lang="zh-CN" altLang="en-US" dirty="0"/>
              <a:t>，</a:t>
            </a:r>
            <a:r>
              <a:rPr lang="en-US" altLang="zh-CN" dirty="0">
                <a:solidFill>
                  <a:srgbClr val="FF0000"/>
                </a:solidFill>
              </a:rPr>
              <a:t>F</a:t>
            </a:r>
            <a:r>
              <a:rPr lang="en-US" altLang="zh-CN" dirty="0"/>
              <a:t>&gt;</a:t>
            </a:r>
            <a:r>
              <a:rPr lang="zh-CN" altLang="en-US" dirty="0"/>
              <a:t>中为</a:t>
            </a:r>
            <a:r>
              <a:rPr lang="en-US" altLang="zh-CN" dirty="0">
                <a:solidFill>
                  <a:srgbClr val="FF0000"/>
                </a:solidFill>
              </a:rPr>
              <a:t>F</a:t>
            </a:r>
            <a:r>
              <a:rPr lang="zh-CN" altLang="en-US" dirty="0"/>
              <a:t>所</a:t>
            </a:r>
            <a:r>
              <a:rPr lang="zh-CN" altLang="en-US" b="1" u="sng" dirty="0">
                <a:solidFill>
                  <a:srgbClr val="C00000"/>
                </a:solidFill>
              </a:rPr>
              <a:t>逻辑蕴含</a:t>
            </a:r>
            <a:r>
              <a:rPr lang="zh-CN" altLang="en-US" dirty="0"/>
              <a:t>的</a:t>
            </a:r>
            <a:r>
              <a:rPr lang="zh-CN" altLang="en-US" b="1" dirty="0">
                <a:solidFill>
                  <a:schemeClr val="tx2"/>
                </a:solidFill>
              </a:rPr>
              <a:t>函数依赖</a:t>
            </a:r>
            <a:r>
              <a:rPr lang="zh-CN" altLang="en-US" dirty="0"/>
              <a:t>的</a:t>
            </a:r>
            <a:r>
              <a:rPr lang="zh-CN" altLang="en-US" b="1" dirty="0">
                <a:solidFill>
                  <a:schemeClr val="tx2"/>
                </a:solidFill>
              </a:rPr>
              <a:t>全体</a:t>
            </a:r>
            <a:r>
              <a:rPr lang="zh-CN" altLang="en-US" dirty="0"/>
              <a:t>叫做</a:t>
            </a:r>
            <a:r>
              <a:rPr lang="en-US" altLang="zh-CN" dirty="0">
                <a:solidFill>
                  <a:schemeClr val="tx2"/>
                </a:solidFill>
              </a:rPr>
              <a:t>F</a:t>
            </a:r>
            <a:r>
              <a:rPr lang="zh-CN" altLang="en-US" b="1" dirty="0">
                <a:solidFill>
                  <a:schemeClr val="tx2"/>
                </a:solidFill>
              </a:rPr>
              <a:t>的闭包</a:t>
            </a:r>
            <a:r>
              <a:rPr lang="zh-CN" altLang="en-US" dirty="0"/>
              <a:t>，记作</a:t>
            </a:r>
            <a:r>
              <a:rPr lang="en-US" altLang="zh-CN" dirty="0">
                <a:solidFill>
                  <a:srgbClr val="FF0000"/>
                </a:solidFill>
              </a:rPr>
              <a:t>F</a:t>
            </a:r>
            <a:r>
              <a:rPr lang="en-US" altLang="zh-CN" baseline="30000" dirty="0">
                <a:solidFill>
                  <a:srgbClr val="FF0000"/>
                </a:solidFill>
              </a:rPr>
              <a:t>+</a:t>
            </a:r>
            <a:r>
              <a:rPr lang="zh-CN" altLang="en-US" dirty="0"/>
              <a:t>。</a:t>
            </a:r>
            <a:endParaRPr lang="en-US" altLang="zh-CN" dirty="0"/>
          </a:p>
          <a:p>
            <a:pPr>
              <a:buFont typeface="Wingdings" pitchFamily="2" charset="2"/>
              <a:buNone/>
            </a:pPr>
            <a:r>
              <a:rPr lang="en-US" altLang="zh-CN" dirty="0"/>
              <a:t>  </a:t>
            </a:r>
          </a:p>
          <a:p>
            <a:pPr>
              <a:buFont typeface="Wingdings" pitchFamily="2" charset="2"/>
              <a:buNone/>
            </a:pPr>
            <a:r>
              <a:rPr lang="zh-CN" altLang="en-US" dirty="0"/>
              <a:t>如何计算</a:t>
            </a:r>
            <a:r>
              <a:rPr lang="en-US" altLang="zh-CN" dirty="0">
                <a:solidFill>
                  <a:srgbClr val="FF0000"/>
                </a:solidFill>
              </a:rPr>
              <a:t>F</a:t>
            </a:r>
            <a:r>
              <a:rPr lang="en-US" altLang="zh-CN" baseline="30000" dirty="0">
                <a:solidFill>
                  <a:srgbClr val="FF0000"/>
                </a:solidFill>
              </a:rPr>
              <a:t>+</a:t>
            </a:r>
            <a:r>
              <a:rPr lang="zh-CN" altLang="en-US" dirty="0">
                <a:solidFill>
                  <a:srgbClr val="FF0000"/>
                </a:solidFill>
                <a:latin typeface="Arial" panose="020B0604020202020204" pitchFamily="34" charset="0"/>
                <a:cs typeface="Arial" panose="020B0604020202020204" pitchFamily="34" charset="0"/>
              </a:rPr>
              <a:t>？</a:t>
            </a:r>
            <a:endParaRPr lang="en-US" altLang="zh-CN" dirty="0">
              <a:latin typeface="Arial" panose="020B0604020202020204" pitchFamily="34" charset="0"/>
              <a:cs typeface="Arial" panose="020B0604020202020204" pitchFamily="34" charset="0"/>
            </a:endParaRPr>
          </a:p>
          <a:p>
            <a:pPr>
              <a:buFont typeface="Wingdings" pitchFamily="2" charset="2"/>
              <a:buNone/>
            </a:pPr>
            <a:r>
              <a:rPr lang="zh-CN" altLang="en-US" dirty="0"/>
              <a:t>   根据前面的推导分析可以计算</a:t>
            </a:r>
            <a:r>
              <a:rPr lang="en-US" altLang="zh-CN" dirty="0"/>
              <a:t>F</a:t>
            </a:r>
            <a:r>
              <a:rPr lang="en-US" altLang="zh-CN" baseline="30000" dirty="0"/>
              <a:t>+</a:t>
            </a:r>
            <a:r>
              <a:rPr lang="zh-CN" altLang="en-US" dirty="0"/>
              <a:t>。但如果</a:t>
            </a:r>
            <a:r>
              <a:rPr lang="en-US" altLang="zh-CN" dirty="0"/>
              <a:t>F</a:t>
            </a:r>
            <a:r>
              <a:rPr lang="zh-CN" altLang="en-US" dirty="0"/>
              <a:t>很大，则这个过程将会很长而且很难。</a:t>
            </a:r>
            <a:endParaRPr lang="en-US" altLang="zh-CN" dirty="0"/>
          </a:p>
        </p:txBody>
      </p:sp>
      <p:sp>
        <p:nvSpPr>
          <p:cNvPr id="3" name="页脚占位符 2">
            <a:extLst>
              <a:ext uri="{FF2B5EF4-FFF2-40B4-BE49-F238E27FC236}">
                <a16:creationId xmlns:a16="http://schemas.microsoft.com/office/drawing/2014/main" id="{2DDA2B10-38DC-C131-F03C-415D8FE3BA59}"/>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8897B85F-0F98-CCB2-0C27-5515FADCF5CA}"/>
              </a:ext>
            </a:extLst>
          </p:cNvPr>
          <p:cNvSpPr>
            <a:spLocks noGrp="1"/>
          </p:cNvSpPr>
          <p:nvPr>
            <p:ph type="sldNum" sz="quarter" idx="12"/>
          </p:nvPr>
        </p:nvSpPr>
        <p:spPr/>
        <p:txBody>
          <a:bodyPr/>
          <a:lstStyle/>
          <a:p>
            <a:fld id="{A2D74603-B40B-4D66-8F6E-41C870D48932}" type="slidenum">
              <a:rPr lang="en-US" altLang="zh-CN" smtClean="0"/>
              <a:pPr/>
              <a:t>103</a:t>
            </a:fld>
            <a:r>
              <a:rPr lang="en-US" altLang="zh-CN"/>
              <a:t>/162</a:t>
            </a:r>
            <a:endParaRPr lang="en-US" altLang="zh-CN" dirty="0"/>
          </a:p>
        </p:txBody>
      </p:sp>
    </p:spTree>
    <p:extLst>
      <p:ext uri="{BB962C8B-B14F-4D97-AF65-F5344CB8AC3E}">
        <p14:creationId xmlns:p14="http://schemas.microsoft.com/office/powerpoint/2010/main" val="12430988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10275">
                                            <p:txEl>
                                              <p:pRg st="3" end="3"/>
                                            </p:txEl>
                                          </p:spTgt>
                                        </p:tgtEl>
                                        <p:attrNameLst>
                                          <p:attrName>style.visibility</p:attrName>
                                        </p:attrNameLst>
                                      </p:cBhvr>
                                      <p:to>
                                        <p:strVal val="visible"/>
                                      </p:to>
                                    </p:set>
                                    <p:animEffect transition="in" filter="barn(inVertical)">
                                      <p:cBhvr>
                                        <p:cTn id="7" dur="500"/>
                                        <p:tgtEl>
                                          <p:spTgt spid="310275">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10275">
                                            <p:txEl>
                                              <p:pRg st="4" end="4"/>
                                            </p:txEl>
                                          </p:spTgt>
                                        </p:tgtEl>
                                        <p:attrNameLst>
                                          <p:attrName>style.visibility</p:attrName>
                                        </p:attrNameLst>
                                      </p:cBhvr>
                                      <p:to>
                                        <p:strVal val="visible"/>
                                      </p:to>
                                    </p:set>
                                    <p:anim calcmode="lin" valueType="num">
                                      <p:cBhvr additive="base">
                                        <p:cTn id="12" dur="500" fill="hold"/>
                                        <p:tgtEl>
                                          <p:spTgt spid="310275">
                                            <p:txEl>
                                              <p:pRg st="4" end="4"/>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1027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03DA5FB-5EE3-44F4-B085-DCD53AE2D116}" type="datetime1">
              <a:rPr lang="zh-CN" altLang="en-US" smtClean="0"/>
              <a:t>2025/11/6</a:t>
            </a:fld>
            <a:endParaRPr lang="en-US" altLang="zh-CN"/>
          </a:p>
        </p:txBody>
      </p:sp>
      <p:sp>
        <p:nvSpPr>
          <p:cNvPr id="308226" name="Rectangle 2"/>
          <p:cNvSpPr>
            <a:spLocks noGrp="1" noChangeArrowheads="1"/>
          </p:cNvSpPr>
          <p:nvPr>
            <p:ph type="title"/>
          </p:nvPr>
        </p:nvSpPr>
        <p:spPr/>
        <p:txBody>
          <a:bodyPr/>
          <a:lstStyle/>
          <a:p>
            <a:r>
              <a:rPr lang="en-US" altLang="zh-CN" dirty="0"/>
              <a:t>Armstrong (</a:t>
            </a:r>
            <a:r>
              <a:rPr lang="zh-CN" altLang="en-US" dirty="0"/>
              <a:t>阿姆斯特朗</a:t>
            </a:r>
            <a:r>
              <a:rPr lang="en-US" altLang="zh-CN" dirty="0"/>
              <a:t>)</a:t>
            </a:r>
            <a:r>
              <a:rPr lang="zh-CN" altLang="en-US" dirty="0"/>
              <a:t>公理系统</a:t>
            </a:r>
          </a:p>
        </p:txBody>
      </p:sp>
      <p:sp>
        <p:nvSpPr>
          <p:cNvPr id="308227" name="Rectangle 3"/>
          <p:cNvSpPr>
            <a:spLocks noGrp="1" noChangeArrowheads="1"/>
          </p:cNvSpPr>
          <p:nvPr>
            <p:ph type="body" idx="1"/>
          </p:nvPr>
        </p:nvSpPr>
        <p:spPr>
          <a:xfrm>
            <a:off x="609600" y="1447800"/>
            <a:ext cx="8426896" cy="4684713"/>
          </a:xfrm>
        </p:spPr>
        <p:txBody>
          <a:bodyPr/>
          <a:lstStyle/>
          <a:p>
            <a:r>
              <a:rPr lang="zh-CN" altLang="en-US" sz="3000" dirty="0"/>
              <a:t>对关系模式</a:t>
            </a:r>
            <a:r>
              <a:rPr lang="en-US" altLang="zh-CN" sz="3000" dirty="0">
                <a:solidFill>
                  <a:srgbClr val="C00000"/>
                </a:solidFill>
              </a:rPr>
              <a:t>R</a:t>
            </a:r>
            <a:r>
              <a:rPr lang="en-US" altLang="zh-CN" sz="3000" dirty="0"/>
              <a:t> &lt;</a:t>
            </a:r>
            <a:r>
              <a:rPr lang="en-US" altLang="zh-CN" sz="3000" dirty="0">
                <a:solidFill>
                  <a:srgbClr val="FF0000"/>
                </a:solidFill>
              </a:rPr>
              <a:t>U</a:t>
            </a:r>
            <a:r>
              <a:rPr lang="zh-CN" altLang="en-US" sz="3000" dirty="0"/>
              <a:t>，</a:t>
            </a:r>
            <a:r>
              <a:rPr lang="en-US" altLang="zh-CN" sz="3000" dirty="0">
                <a:solidFill>
                  <a:srgbClr val="FF0000"/>
                </a:solidFill>
              </a:rPr>
              <a:t>F</a:t>
            </a:r>
            <a:r>
              <a:rPr lang="en-US" altLang="zh-CN" sz="3000" dirty="0"/>
              <a:t> &gt;</a:t>
            </a:r>
            <a:r>
              <a:rPr lang="zh-CN" altLang="en-US" sz="3000" dirty="0"/>
              <a:t>来说有以下的</a:t>
            </a:r>
            <a:r>
              <a:rPr lang="zh-CN" altLang="en-US" sz="3000" b="1" dirty="0">
                <a:solidFill>
                  <a:srgbClr val="FF0000"/>
                </a:solidFill>
              </a:rPr>
              <a:t>推理规则</a:t>
            </a:r>
            <a:r>
              <a:rPr lang="zh-CN" altLang="en-US" sz="3000" dirty="0"/>
              <a:t>：</a:t>
            </a:r>
            <a:endParaRPr lang="en-US" altLang="zh-CN" sz="3000" dirty="0"/>
          </a:p>
          <a:p>
            <a:pPr lvl="1"/>
            <a:r>
              <a:rPr lang="en-US" altLang="zh-CN" dirty="0"/>
              <a:t>A1 </a:t>
            </a:r>
            <a:r>
              <a:rPr lang="zh-CN" altLang="en-US" b="1" dirty="0">
                <a:solidFill>
                  <a:schemeClr val="hlink"/>
                </a:solidFill>
              </a:rPr>
              <a:t>自反律</a:t>
            </a:r>
            <a:r>
              <a:rPr lang="zh-CN" altLang="en-US" dirty="0"/>
              <a:t> 若</a:t>
            </a:r>
            <a:r>
              <a:rPr lang="en-US" altLang="zh-CN" dirty="0"/>
              <a:t>Y </a:t>
            </a:r>
            <a:r>
              <a:rPr lang="en-US" altLang="zh-CN" dirty="0">
                <a:solidFill>
                  <a:srgbClr val="000080"/>
                </a:solidFill>
                <a:sym typeface="Symbol" pitchFamily="18" charset="2"/>
              </a:rPr>
              <a:t></a:t>
            </a:r>
            <a:r>
              <a:rPr lang="en-US" altLang="zh-CN" dirty="0"/>
              <a:t> X </a:t>
            </a:r>
            <a:r>
              <a:rPr lang="en-US" altLang="zh-CN" dirty="0">
                <a:solidFill>
                  <a:srgbClr val="000080"/>
                </a:solidFill>
                <a:sym typeface="Symbol" pitchFamily="18" charset="2"/>
              </a:rPr>
              <a:t></a:t>
            </a:r>
            <a:r>
              <a:rPr lang="en-US" altLang="zh-CN" dirty="0"/>
              <a:t> U</a:t>
            </a:r>
            <a:r>
              <a:rPr lang="zh-CN" altLang="en-US" dirty="0"/>
              <a:t>，则</a:t>
            </a:r>
            <a:r>
              <a:rPr lang="en-US" altLang="zh-CN" b="1" dirty="0">
                <a:solidFill>
                  <a:schemeClr val="tx2"/>
                </a:solidFill>
              </a:rPr>
              <a:t>X</a:t>
            </a:r>
            <a:r>
              <a:rPr lang="en-US" altLang="zh-CN" b="1" dirty="0">
                <a:solidFill>
                  <a:schemeClr val="tx2"/>
                </a:solidFill>
                <a:latin typeface="宋体" pitchFamily="2" charset="-122"/>
              </a:rPr>
              <a:t>→</a:t>
            </a:r>
            <a:r>
              <a:rPr lang="en-US" altLang="zh-CN" b="1" dirty="0">
                <a:solidFill>
                  <a:schemeClr val="tx2"/>
                </a:solidFill>
              </a:rPr>
              <a:t>Y</a:t>
            </a:r>
            <a:r>
              <a:rPr lang="zh-CN" altLang="en-US" dirty="0"/>
              <a:t>为</a:t>
            </a:r>
            <a:r>
              <a:rPr lang="en-US" altLang="zh-CN" b="1" dirty="0">
                <a:solidFill>
                  <a:srgbClr val="FF0000"/>
                </a:solidFill>
              </a:rPr>
              <a:t>F</a:t>
            </a:r>
            <a:r>
              <a:rPr lang="zh-CN" altLang="en-US" dirty="0"/>
              <a:t>所</a:t>
            </a:r>
            <a:r>
              <a:rPr lang="zh-CN" altLang="en-US" b="1" dirty="0">
                <a:solidFill>
                  <a:schemeClr val="tx2"/>
                </a:solidFill>
              </a:rPr>
              <a:t>蕴含</a:t>
            </a:r>
            <a:r>
              <a:rPr lang="en-US" altLang="zh-CN" dirty="0"/>
              <a:t>(</a:t>
            </a:r>
            <a:r>
              <a:rPr lang="zh-CN" altLang="en-US" dirty="0"/>
              <a:t>给出</a:t>
            </a:r>
            <a:r>
              <a:rPr lang="zh-CN" altLang="en-US" b="1" dirty="0">
                <a:solidFill>
                  <a:srgbClr val="C00000"/>
                </a:solidFill>
              </a:rPr>
              <a:t>平凡</a:t>
            </a:r>
            <a:r>
              <a:rPr lang="zh-CN" altLang="en-US" b="1" dirty="0">
                <a:solidFill>
                  <a:schemeClr val="tx2"/>
                </a:solidFill>
              </a:rPr>
              <a:t>的函数依赖</a:t>
            </a:r>
            <a:r>
              <a:rPr lang="en-US" altLang="zh-CN" dirty="0"/>
              <a:t>)</a:t>
            </a:r>
            <a:r>
              <a:rPr lang="zh-CN" altLang="en-US" dirty="0"/>
              <a:t>。</a:t>
            </a:r>
          </a:p>
          <a:p>
            <a:pPr lvl="1"/>
            <a:r>
              <a:rPr lang="en-US" altLang="zh-CN" dirty="0"/>
              <a:t>A2 </a:t>
            </a:r>
            <a:r>
              <a:rPr lang="zh-CN" altLang="en-US" b="1" dirty="0">
                <a:solidFill>
                  <a:schemeClr val="hlink"/>
                </a:solidFill>
              </a:rPr>
              <a:t>增广</a:t>
            </a:r>
            <a:r>
              <a:rPr lang="en-US" altLang="zh-CN" b="1" dirty="0">
                <a:solidFill>
                  <a:schemeClr val="hlink"/>
                </a:solidFill>
              </a:rPr>
              <a:t>(</a:t>
            </a:r>
            <a:r>
              <a:rPr lang="zh-CN" altLang="en-US" b="1" dirty="0">
                <a:solidFill>
                  <a:schemeClr val="hlink"/>
                </a:solidFill>
              </a:rPr>
              <a:t>补</a:t>
            </a:r>
            <a:r>
              <a:rPr lang="en-US" altLang="zh-CN" b="1" dirty="0">
                <a:solidFill>
                  <a:schemeClr val="hlink"/>
                </a:solidFill>
              </a:rPr>
              <a:t>)</a:t>
            </a:r>
            <a:r>
              <a:rPr lang="zh-CN" altLang="en-US" b="1" dirty="0">
                <a:solidFill>
                  <a:schemeClr val="hlink"/>
                </a:solidFill>
              </a:rPr>
              <a:t>律</a:t>
            </a:r>
            <a:r>
              <a:rPr lang="zh-CN" altLang="en-US" dirty="0"/>
              <a:t>  若</a:t>
            </a:r>
            <a:r>
              <a:rPr lang="en-US" altLang="zh-CN" u="sng" dirty="0"/>
              <a:t>X→Y</a:t>
            </a:r>
            <a:r>
              <a:rPr lang="zh-CN" altLang="en-US" u="sng" dirty="0"/>
              <a:t>为</a:t>
            </a:r>
            <a:r>
              <a:rPr lang="en-US" altLang="zh-CN" u="sng" dirty="0"/>
              <a:t>F</a:t>
            </a:r>
            <a:r>
              <a:rPr lang="zh-CN" altLang="en-US" u="sng" dirty="0"/>
              <a:t>所蕴含</a:t>
            </a:r>
            <a:r>
              <a:rPr lang="zh-CN" altLang="en-US" dirty="0"/>
              <a:t>，且</a:t>
            </a:r>
            <a:r>
              <a:rPr lang="en-US" altLang="zh-CN" dirty="0"/>
              <a:t>Z</a:t>
            </a:r>
            <a:r>
              <a:rPr lang="en-US" altLang="zh-CN" dirty="0">
                <a:solidFill>
                  <a:srgbClr val="000080"/>
                </a:solidFill>
                <a:sym typeface="Symbol" pitchFamily="18" charset="2"/>
              </a:rPr>
              <a:t></a:t>
            </a:r>
            <a:r>
              <a:rPr lang="en-US" altLang="zh-CN" dirty="0"/>
              <a:t>U</a:t>
            </a:r>
            <a:r>
              <a:rPr lang="zh-CN" altLang="en-US" dirty="0"/>
              <a:t>，则</a:t>
            </a:r>
            <a:r>
              <a:rPr lang="en-US" altLang="zh-CN" dirty="0">
                <a:solidFill>
                  <a:schemeClr val="tx2"/>
                </a:solidFill>
              </a:rPr>
              <a:t>X</a:t>
            </a:r>
            <a:r>
              <a:rPr lang="en-US" altLang="zh-CN" dirty="0">
                <a:solidFill>
                  <a:srgbClr val="FF0000"/>
                </a:solidFill>
              </a:rPr>
              <a:t>Z</a:t>
            </a:r>
            <a:r>
              <a:rPr lang="en-US" altLang="zh-CN" dirty="0">
                <a:solidFill>
                  <a:schemeClr val="tx2"/>
                </a:solidFill>
              </a:rPr>
              <a:t>→Y</a:t>
            </a:r>
            <a:r>
              <a:rPr lang="en-US" altLang="zh-CN" dirty="0">
                <a:solidFill>
                  <a:srgbClr val="FF0000"/>
                </a:solidFill>
              </a:rPr>
              <a:t>Z</a:t>
            </a:r>
            <a:r>
              <a:rPr lang="zh-CN" altLang="en-US" dirty="0"/>
              <a:t>为</a:t>
            </a:r>
            <a:r>
              <a:rPr lang="en-US" altLang="zh-CN" b="1" dirty="0">
                <a:solidFill>
                  <a:srgbClr val="FF0000"/>
                </a:solidFill>
              </a:rPr>
              <a:t>F</a:t>
            </a:r>
            <a:r>
              <a:rPr lang="zh-CN" altLang="en-US" dirty="0"/>
              <a:t>所</a:t>
            </a:r>
            <a:r>
              <a:rPr lang="zh-CN" altLang="en-US" b="1" dirty="0">
                <a:solidFill>
                  <a:schemeClr val="tx2"/>
                </a:solidFill>
              </a:rPr>
              <a:t>蕴含</a:t>
            </a:r>
            <a:r>
              <a:rPr lang="zh-CN" altLang="en-US" dirty="0"/>
              <a:t>。</a:t>
            </a:r>
          </a:p>
          <a:p>
            <a:pPr lvl="1"/>
            <a:r>
              <a:rPr lang="en-US" altLang="zh-CN" dirty="0"/>
              <a:t>A3 </a:t>
            </a:r>
            <a:r>
              <a:rPr lang="zh-CN" altLang="en-US" b="1" dirty="0">
                <a:solidFill>
                  <a:schemeClr val="hlink"/>
                </a:solidFill>
              </a:rPr>
              <a:t>传递律</a:t>
            </a:r>
            <a:r>
              <a:rPr lang="zh-CN" altLang="en-US" dirty="0"/>
              <a:t> 如</a:t>
            </a:r>
            <a:r>
              <a:rPr lang="en-US" altLang="zh-CN" u="sng" dirty="0"/>
              <a:t>X→Y</a:t>
            </a:r>
            <a:r>
              <a:rPr lang="zh-CN" altLang="en-US" u="sng" dirty="0"/>
              <a:t>及</a:t>
            </a:r>
            <a:r>
              <a:rPr lang="en-US" altLang="zh-CN" u="sng" dirty="0"/>
              <a:t>Y→Z</a:t>
            </a:r>
            <a:r>
              <a:rPr lang="zh-CN" altLang="en-US" u="sng" dirty="0"/>
              <a:t>为</a:t>
            </a:r>
            <a:r>
              <a:rPr lang="en-US" altLang="zh-CN" u="sng" dirty="0"/>
              <a:t>F</a:t>
            </a:r>
            <a:r>
              <a:rPr lang="zh-CN" altLang="en-US" u="sng" dirty="0"/>
              <a:t>所蕴含</a:t>
            </a:r>
            <a:r>
              <a:rPr lang="zh-CN" altLang="en-US" dirty="0"/>
              <a:t>，则</a:t>
            </a:r>
            <a:r>
              <a:rPr lang="en-US" altLang="zh-CN" dirty="0">
                <a:solidFill>
                  <a:schemeClr val="tx2"/>
                </a:solidFill>
              </a:rPr>
              <a:t>X→Z</a:t>
            </a:r>
            <a:r>
              <a:rPr lang="zh-CN" altLang="en-US" dirty="0"/>
              <a:t>为</a:t>
            </a:r>
            <a:r>
              <a:rPr lang="en-US" altLang="zh-CN" b="1" dirty="0">
                <a:solidFill>
                  <a:srgbClr val="FF0000"/>
                </a:solidFill>
              </a:rPr>
              <a:t>F</a:t>
            </a:r>
            <a:r>
              <a:rPr lang="zh-CN" altLang="en-US" dirty="0"/>
              <a:t>所</a:t>
            </a:r>
            <a:r>
              <a:rPr lang="zh-CN" altLang="en-US" b="1" dirty="0">
                <a:solidFill>
                  <a:schemeClr val="tx2"/>
                </a:solidFill>
              </a:rPr>
              <a:t>蕴含</a:t>
            </a:r>
            <a:r>
              <a:rPr lang="zh-CN" altLang="en-US" dirty="0"/>
              <a:t>。</a:t>
            </a:r>
          </a:p>
          <a:p>
            <a:pPr marL="0" indent="0">
              <a:buNone/>
            </a:pPr>
            <a:r>
              <a:rPr lang="zh-CN" altLang="en-US" sz="2800" dirty="0">
                <a:solidFill>
                  <a:srgbClr val="003300"/>
                </a:solidFill>
              </a:rPr>
              <a:t>   </a:t>
            </a:r>
            <a:r>
              <a:rPr lang="zh-CN" altLang="en-US" sz="2800" u="sng" dirty="0">
                <a:solidFill>
                  <a:srgbClr val="003300"/>
                </a:solidFill>
              </a:rPr>
              <a:t>注：为了简单起见，用</a:t>
            </a:r>
            <a:r>
              <a:rPr lang="en-US" altLang="zh-CN" sz="2800" u="sng" dirty="0">
                <a:solidFill>
                  <a:srgbClr val="003300"/>
                </a:solidFill>
              </a:rPr>
              <a:t>YZ</a:t>
            </a:r>
            <a:r>
              <a:rPr lang="zh-CN" altLang="en-US" sz="2800" u="sng" dirty="0">
                <a:solidFill>
                  <a:srgbClr val="003300"/>
                </a:solidFill>
              </a:rPr>
              <a:t>代表</a:t>
            </a:r>
            <a:r>
              <a:rPr lang="en-US" altLang="zh-CN" sz="2800" u="sng" dirty="0">
                <a:solidFill>
                  <a:srgbClr val="003300"/>
                </a:solidFill>
              </a:rPr>
              <a:t>Y∪Z</a:t>
            </a:r>
          </a:p>
          <a:p>
            <a:r>
              <a:rPr lang="zh-CN" altLang="en-US" dirty="0"/>
              <a:t>证明见 定理</a:t>
            </a:r>
            <a:r>
              <a:rPr lang="en-US" altLang="zh-CN" dirty="0"/>
              <a:t>6.1</a:t>
            </a:r>
            <a:r>
              <a:rPr lang="zh-CN" altLang="en-US" dirty="0"/>
              <a:t>：</a:t>
            </a:r>
            <a:r>
              <a:rPr lang="en-US" altLang="zh-CN" sz="2800" b="1" dirty="0">
                <a:solidFill>
                  <a:srgbClr val="006600"/>
                </a:solidFill>
              </a:rPr>
              <a:t>Armstrong</a:t>
            </a:r>
            <a:r>
              <a:rPr lang="zh-CN" altLang="en-US" sz="2800" b="1" dirty="0">
                <a:solidFill>
                  <a:srgbClr val="006600"/>
                </a:solidFill>
              </a:rPr>
              <a:t>推理规则是正确的</a:t>
            </a:r>
            <a:r>
              <a:rPr lang="zh-CN" altLang="en-US" sz="2800" dirty="0"/>
              <a:t>。</a:t>
            </a:r>
            <a:endParaRPr lang="zh-CN" altLang="en-US" dirty="0"/>
          </a:p>
          <a:p>
            <a:endParaRPr lang="en-US" altLang="zh-CN" dirty="0"/>
          </a:p>
        </p:txBody>
      </p:sp>
      <p:sp>
        <p:nvSpPr>
          <p:cNvPr id="3" name="页脚占位符 2">
            <a:extLst>
              <a:ext uri="{FF2B5EF4-FFF2-40B4-BE49-F238E27FC236}">
                <a16:creationId xmlns:a16="http://schemas.microsoft.com/office/drawing/2014/main" id="{B5805073-0993-121A-2B3A-FFB7D2B244A5}"/>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99A693BB-0C9A-C1BE-C00C-BCC37E0F794F}"/>
              </a:ext>
            </a:extLst>
          </p:cNvPr>
          <p:cNvSpPr>
            <a:spLocks noGrp="1"/>
          </p:cNvSpPr>
          <p:nvPr>
            <p:ph type="sldNum" sz="quarter" idx="12"/>
          </p:nvPr>
        </p:nvSpPr>
        <p:spPr/>
        <p:txBody>
          <a:bodyPr/>
          <a:lstStyle/>
          <a:p>
            <a:fld id="{A2D74603-B40B-4D66-8F6E-41C870D48932}" type="slidenum">
              <a:rPr lang="en-US" altLang="zh-CN" smtClean="0"/>
              <a:pPr/>
              <a:t>104</a:t>
            </a:fld>
            <a:r>
              <a:rPr lang="en-US" altLang="zh-CN"/>
              <a:t>/162</a:t>
            </a:r>
            <a:endParaRPr lang="en-US" altLang="zh-CN" dirty="0"/>
          </a:p>
        </p:txBody>
      </p:sp>
    </p:spTree>
    <p:extLst>
      <p:ext uri="{BB962C8B-B14F-4D97-AF65-F5344CB8AC3E}">
        <p14:creationId xmlns:p14="http://schemas.microsoft.com/office/powerpoint/2010/main" val="11240971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8227">
                                            <p:txEl>
                                              <p:pRg st="1" end="1"/>
                                            </p:txEl>
                                          </p:spTgt>
                                        </p:tgtEl>
                                        <p:attrNameLst>
                                          <p:attrName>style.visibility</p:attrName>
                                        </p:attrNameLst>
                                      </p:cBhvr>
                                      <p:to>
                                        <p:strVal val="visible"/>
                                      </p:to>
                                    </p:set>
                                    <p:anim calcmode="lin" valueType="num">
                                      <p:cBhvr additive="base">
                                        <p:cTn id="7" dur="500" fill="hold"/>
                                        <p:tgtEl>
                                          <p:spTgt spid="30822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82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08227">
                                            <p:txEl>
                                              <p:pRg st="2" end="2"/>
                                            </p:txEl>
                                          </p:spTgt>
                                        </p:tgtEl>
                                        <p:attrNameLst>
                                          <p:attrName>style.visibility</p:attrName>
                                        </p:attrNameLst>
                                      </p:cBhvr>
                                      <p:to>
                                        <p:strVal val="visible"/>
                                      </p:to>
                                    </p:set>
                                    <p:anim calcmode="lin" valueType="num">
                                      <p:cBhvr additive="base">
                                        <p:cTn id="13" dur="500" fill="hold"/>
                                        <p:tgtEl>
                                          <p:spTgt spid="30822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082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08227">
                                            <p:txEl>
                                              <p:pRg st="3" end="3"/>
                                            </p:txEl>
                                          </p:spTgt>
                                        </p:tgtEl>
                                        <p:attrNameLst>
                                          <p:attrName>style.visibility</p:attrName>
                                        </p:attrNameLst>
                                      </p:cBhvr>
                                      <p:to>
                                        <p:strVal val="visible"/>
                                      </p:to>
                                    </p:set>
                                    <p:anim calcmode="lin" valueType="num">
                                      <p:cBhvr additive="base">
                                        <p:cTn id="19" dur="500" fill="hold"/>
                                        <p:tgtEl>
                                          <p:spTgt spid="30822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0822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08227">
                                            <p:txEl>
                                              <p:pRg st="4" end="4"/>
                                            </p:txEl>
                                          </p:spTgt>
                                        </p:tgtEl>
                                        <p:attrNameLst>
                                          <p:attrName>style.visibility</p:attrName>
                                        </p:attrNameLst>
                                      </p:cBhvr>
                                      <p:to>
                                        <p:strVal val="visible"/>
                                      </p:to>
                                    </p:set>
                                    <p:anim calcmode="lin" valueType="num">
                                      <p:cBhvr additive="base">
                                        <p:cTn id="25" dur="500" fill="hold"/>
                                        <p:tgtEl>
                                          <p:spTgt spid="30822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0822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08227">
                                            <p:txEl>
                                              <p:pRg st="5" end="5"/>
                                            </p:txEl>
                                          </p:spTgt>
                                        </p:tgtEl>
                                        <p:attrNameLst>
                                          <p:attrName>style.visibility</p:attrName>
                                        </p:attrNameLst>
                                      </p:cBhvr>
                                      <p:to>
                                        <p:strVal val="visible"/>
                                      </p:to>
                                    </p:set>
                                    <p:anim calcmode="lin" valueType="num">
                                      <p:cBhvr additive="base">
                                        <p:cTn id="31" dur="500" fill="hold"/>
                                        <p:tgtEl>
                                          <p:spTgt spid="30822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0822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EE9DF99-B057-469D-AD46-D68C931C450D}" type="datetime1">
              <a:rPr lang="zh-CN" altLang="en-US" smtClean="0"/>
              <a:t>2025/11/6</a:t>
            </a:fld>
            <a:endParaRPr lang="en-US" altLang="zh-CN"/>
          </a:p>
        </p:txBody>
      </p:sp>
      <p:sp>
        <p:nvSpPr>
          <p:cNvPr id="309250" name="Rectangle 2"/>
          <p:cNvSpPr>
            <a:spLocks noGrp="1" noChangeArrowheads="1"/>
          </p:cNvSpPr>
          <p:nvPr>
            <p:ph type="title"/>
          </p:nvPr>
        </p:nvSpPr>
        <p:spPr/>
        <p:txBody>
          <a:bodyPr/>
          <a:lstStyle/>
          <a:p>
            <a:r>
              <a:rPr lang="en-US" altLang="zh-CN" dirty="0"/>
              <a:t>Armstrong </a:t>
            </a:r>
            <a:r>
              <a:rPr lang="zh-CN" altLang="en-US" dirty="0"/>
              <a:t>公理系统</a:t>
            </a:r>
          </a:p>
        </p:txBody>
      </p:sp>
      <p:sp>
        <p:nvSpPr>
          <p:cNvPr id="309251" name="Rectangle 3"/>
          <p:cNvSpPr>
            <a:spLocks noGrp="1" noChangeArrowheads="1"/>
          </p:cNvSpPr>
          <p:nvPr>
            <p:ph type="body" idx="1"/>
          </p:nvPr>
        </p:nvSpPr>
        <p:spPr/>
        <p:txBody>
          <a:bodyPr/>
          <a:lstStyle/>
          <a:p>
            <a:r>
              <a:rPr lang="en-US" altLang="zh-CN" dirty="0"/>
              <a:t>Armstrong</a:t>
            </a:r>
            <a:r>
              <a:rPr lang="zh-CN" altLang="en-US" dirty="0"/>
              <a:t>公理的</a:t>
            </a:r>
            <a:r>
              <a:rPr lang="zh-CN" altLang="en-US" b="1" dirty="0">
                <a:solidFill>
                  <a:srgbClr val="FF0000"/>
                </a:solidFill>
              </a:rPr>
              <a:t>推论</a:t>
            </a:r>
            <a:r>
              <a:rPr lang="zh-CN" altLang="en-US" dirty="0"/>
              <a:t>：</a:t>
            </a:r>
          </a:p>
          <a:p>
            <a:pPr lvl="1"/>
            <a:r>
              <a:rPr lang="zh-CN" altLang="en-US" b="1" dirty="0">
                <a:solidFill>
                  <a:schemeClr val="tx2"/>
                </a:solidFill>
              </a:rPr>
              <a:t>合并规则</a:t>
            </a:r>
            <a:r>
              <a:rPr lang="zh-CN" altLang="en-US" dirty="0"/>
              <a:t>：若</a:t>
            </a:r>
            <a:r>
              <a:rPr lang="en-US" altLang="zh-CN" dirty="0"/>
              <a:t>X → Y</a:t>
            </a:r>
            <a:r>
              <a:rPr lang="zh-CN" altLang="en-US" dirty="0"/>
              <a:t>，</a:t>
            </a:r>
            <a:r>
              <a:rPr lang="en-US" altLang="zh-CN" dirty="0"/>
              <a:t>X → Z</a:t>
            </a:r>
            <a:r>
              <a:rPr lang="zh-CN" altLang="en-US" dirty="0"/>
              <a:t>，有</a:t>
            </a:r>
            <a:r>
              <a:rPr lang="en-US" altLang="zh-CN" dirty="0"/>
              <a:t>X→YZ</a:t>
            </a:r>
            <a:r>
              <a:rPr lang="zh-CN" altLang="en-US" dirty="0"/>
              <a:t>。</a:t>
            </a:r>
          </a:p>
          <a:p>
            <a:pPr lvl="1"/>
            <a:r>
              <a:rPr lang="zh-CN" altLang="en-US" b="1" dirty="0">
                <a:solidFill>
                  <a:schemeClr val="tx2"/>
                </a:solidFill>
              </a:rPr>
              <a:t>分解规则</a:t>
            </a:r>
            <a:r>
              <a:rPr lang="zh-CN" altLang="en-US" dirty="0"/>
              <a:t>：由</a:t>
            </a:r>
            <a:r>
              <a:rPr lang="en-US" altLang="zh-CN" dirty="0"/>
              <a:t>X →Y</a:t>
            </a:r>
            <a:r>
              <a:rPr lang="zh-CN" altLang="en-US" dirty="0"/>
              <a:t>及</a:t>
            </a:r>
            <a:r>
              <a:rPr lang="en-US" altLang="zh-CN" dirty="0">
                <a:solidFill>
                  <a:srgbClr val="0000FF"/>
                </a:solidFill>
              </a:rPr>
              <a:t>Z</a:t>
            </a:r>
            <a:r>
              <a:rPr lang="en-US" altLang="zh-CN" b="1" dirty="0">
                <a:solidFill>
                  <a:srgbClr val="0000FF"/>
                </a:solidFill>
                <a:sym typeface="Symbol" pitchFamily="18" charset="2"/>
              </a:rPr>
              <a:t></a:t>
            </a:r>
            <a:r>
              <a:rPr lang="en-US" altLang="zh-CN" dirty="0">
                <a:solidFill>
                  <a:srgbClr val="0000FF"/>
                </a:solidFill>
              </a:rPr>
              <a:t>Y</a:t>
            </a:r>
            <a:r>
              <a:rPr lang="zh-CN" altLang="en-US" dirty="0"/>
              <a:t>，有</a:t>
            </a:r>
            <a:r>
              <a:rPr lang="en-US" altLang="zh-CN" dirty="0"/>
              <a:t>X→Z</a:t>
            </a:r>
            <a:r>
              <a:rPr lang="zh-CN" altLang="en-US" dirty="0"/>
              <a:t>。</a:t>
            </a:r>
          </a:p>
          <a:p>
            <a:pPr lvl="1"/>
            <a:r>
              <a:rPr lang="zh-CN" altLang="en-US" b="1" dirty="0">
                <a:solidFill>
                  <a:schemeClr val="tx2"/>
                </a:solidFill>
              </a:rPr>
              <a:t>伪传递规则</a:t>
            </a:r>
            <a:r>
              <a:rPr lang="zh-CN" altLang="en-US" dirty="0"/>
              <a:t>：若</a:t>
            </a:r>
            <a:r>
              <a:rPr lang="en-US" altLang="zh-CN" dirty="0"/>
              <a:t>X → Y</a:t>
            </a:r>
            <a:r>
              <a:rPr lang="zh-CN" altLang="en-US" dirty="0"/>
              <a:t>，</a:t>
            </a:r>
            <a:r>
              <a:rPr lang="en-US" altLang="zh-CN" dirty="0"/>
              <a:t>WY → Z</a:t>
            </a:r>
            <a:r>
              <a:rPr lang="zh-CN" altLang="en-US" dirty="0"/>
              <a:t>，有</a:t>
            </a:r>
            <a:r>
              <a:rPr lang="en-US" altLang="zh-CN" dirty="0"/>
              <a:t>XW→Z</a:t>
            </a:r>
            <a:r>
              <a:rPr lang="zh-CN" altLang="en-US" dirty="0"/>
              <a:t>。</a:t>
            </a:r>
          </a:p>
        </p:txBody>
      </p:sp>
      <p:pic>
        <p:nvPicPr>
          <p:cNvPr id="5" name="图片 4">
            <a:extLst>
              <a:ext uri="{FF2B5EF4-FFF2-40B4-BE49-F238E27FC236}">
                <a16:creationId xmlns:a16="http://schemas.microsoft.com/office/drawing/2014/main" id="{2D86334D-235F-94A6-2BE2-8F5244F13757}"/>
              </a:ext>
            </a:extLst>
          </p:cNvPr>
          <p:cNvPicPr>
            <a:picLocks noChangeAspect="1"/>
          </p:cNvPicPr>
          <p:nvPr/>
        </p:nvPicPr>
        <p:blipFill>
          <a:blip r:embed="rId2"/>
          <a:stretch>
            <a:fillRect/>
          </a:stretch>
        </p:blipFill>
        <p:spPr>
          <a:xfrm>
            <a:off x="547436" y="3790156"/>
            <a:ext cx="8353927" cy="2526606"/>
          </a:xfrm>
          <a:prstGeom prst="rect">
            <a:avLst/>
          </a:prstGeom>
        </p:spPr>
      </p:pic>
      <p:cxnSp>
        <p:nvCxnSpPr>
          <p:cNvPr id="10" name="直接连接符 9">
            <a:extLst>
              <a:ext uri="{FF2B5EF4-FFF2-40B4-BE49-F238E27FC236}">
                <a16:creationId xmlns:a16="http://schemas.microsoft.com/office/drawing/2014/main" id="{D9DFA269-CFF3-F218-8864-3130008A8E01}"/>
              </a:ext>
            </a:extLst>
          </p:cNvPr>
          <p:cNvCxnSpPr/>
          <p:nvPr/>
        </p:nvCxnSpPr>
        <p:spPr bwMode="auto">
          <a:xfrm>
            <a:off x="5436096" y="4741909"/>
            <a:ext cx="648072" cy="0"/>
          </a:xfrm>
          <a:prstGeom prst="line">
            <a:avLst/>
          </a:prstGeom>
          <a:solidFill>
            <a:schemeClr val="accent1"/>
          </a:solidFill>
          <a:ln w="28575" cap="flat" cmpd="sng" algn="ctr">
            <a:solidFill>
              <a:srgbClr val="FF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直接连接符 10">
            <a:extLst>
              <a:ext uri="{FF2B5EF4-FFF2-40B4-BE49-F238E27FC236}">
                <a16:creationId xmlns:a16="http://schemas.microsoft.com/office/drawing/2014/main" id="{E83DFFB9-3A29-45E1-9A59-60389711A80C}"/>
              </a:ext>
            </a:extLst>
          </p:cNvPr>
          <p:cNvCxnSpPr/>
          <p:nvPr/>
        </p:nvCxnSpPr>
        <p:spPr bwMode="auto">
          <a:xfrm>
            <a:off x="547436" y="4437112"/>
            <a:ext cx="2296372" cy="0"/>
          </a:xfrm>
          <a:prstGeom prst="line">
            <a:avLst/>
          </a:prstGeom>
          <a:solidFill>
            <a:schemeClr val="accent1"/>
          </a:solidFill>
          <a:ln w="28575" cap="flat" cmpd="sng" algn="ctr">
            <a:solidFill>
              <a:srgbClr val="FF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椭圆 14">
            <a:extLst>
              <a:ext uri="{FF2B5EF4-FFF2-40B4-BE49-F238E27FC236}">
                <a16:creationId xmlns:a16="http://schemas.microsoft.com/office/drawing/2014/main" id="{EBCB466F-A030-DB44-2C82-CD058B65AA09}"/>
              </a:ext>
            </a:extLst>
          </p:cNvPr>
          <p:cNvSpPr/>
          <p:nvPr/>
        </p:nvSpPr>
        <p:spPr bwMode="auto">
          <a:xfrm>
            <a:off x="1115616" y="4453881"/>
            <a:ext cx="936104" cy="288028"/>
          </a:xfrm>
          <a:prstGeom prst="ellipse">
            <a:avLst/>
          </a:prstGeom>
          <a:noFill/>
          <a:ln w="19050" cap="flat" cmpd="sng" algn="ctr">
            <a:solidFill>
              <a:srgbClr val="0000FF"/>
            </a:solidFill>
            <a:prstDash val="dashDot"/>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sp>
        <p:nvSpPr>
          <p:cNvPr id="16" name="椭圆 15">
            <a:extLst>
              <a:ext uri="{FF2B5EF4-FFF2-40B4-BE49-F238E27FC236}">
                <a16:creationId xmlns:a16="http://schemas.microsoft.com/office/drawing/2014/main" id="{E3FE889E-5EF7-086E-3218-F2F962DB5743}"/>
              </a:ext>
            </a:extLst>
          </p:cNvPr>
          <p:cNvSpPr/>
          <p:nvPr/>
        </p:nvSpPr>
        <p:spPr bwMode="auto">
          <a:xfrm>
            <a:off x="1094048" y="5038723"/>
            <a:ext cx="1101688" cy="371475"/>
          </a:xfrm>
          <a:prstGeom prst="ellipse">
            <a:avLst/>
          </a:prstGeom>
          <a:noFill/>
          <a:ln w="19050" cap="flat" cmpd="sng" algn="ctr">
            <a:solidFill>
              <a:srgbClr val="0000FF"/>
            </a:solidFill>
            <a:prstDash val="dashDot"/>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sp>
        <p:nvSpPr>
          <p:cNvPr id="17" name="椭圆 16">
            <a:extLst>
              <a:ext uri="{FF2B5EF4-FFF2-40B4-BE49-F238E27FC236}">
                <a16:creationId xmlns:a16="http://schemas.microsoft.com/office/drawing/2014/main" id="{2ED8BB82-F450-E6F9-4055-E0F813AEFC6B}"/>
              </a:ext>
            </a:extLst>
          </p:cNvPr>
          <p:cNvSpPr/>
          <p:nvPr/>
        </p:nvSpPr>
        <p:spPr bwMode="auto">
          <a:xfrm>
            <a:off x="1055059" y="5343523"/>
            <a:ext cx="1101688" cy="371475"/>
          </a:xfrm>
          <a:prstGeom prst="ellipse">
            <a:avLst/>
          </a:prstGeom>
          <a:noFill/>
          <a:ln w="19050" cap="flat" cmpd="sng" algn="ctr">
            <a:solidFill>
              <a:srgbClr val="0000FF"/>
            </a:solidFill>
            <a:prstDash val="dashDot"/>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cxnSp>
        <p:nvCxnSpPr>
          <p:cNvPr id="19" name="直接连接符 18">
            <a:extLst>
              <a:ext uri="{FF2B5EF4-FFF2-40B4-BE49-F238E27FC236}">
                <a16:creationId xmlns:a16="http://schemas.microsoft.com/office/drawing/2014/main" id="{6AA9E1EC-7C6B-CD02-D239-C6DEB3FCADB1}"/>
              </a:ext>
            </a:extLst>
          </p:cNvPr>
          <p:cNvCxnSpPr/>
          <p:nvPr/>
        </p:nvCxnSpPr>
        <p:spPr bwMode="auto">
          <a:xfrm>
            <a:off x="5747678" y="5343523"/>
            <a:ext cx="648072" cy="0"/>
          </a:xfrm>
          <a:prstGeom prst="line">
            <a:avLst/>
          </a:prstGeom>
          <a:solidFill>
            <a:schemeClr val="accent1"/>
          </a:solidFill>
          <a:ln w="28575" cap="flat" cmpd="sng" algn="ctr">
            <a:solidFill>
              <a:srgbClr val="FF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连接符 19">
            <a:extLst>
              <a:ext uri="{FF2B5EF4-FFF2-40B4-BE49-F238E27FC236}">
                <a16:creationId xmlns:a16="http://schemas.microsoft.com/office/drawing/2014/main" id="{D382B3AC-F229-7810-293E-BC272477D70D}"/>
              </a:ext>
            </a:extLst>
          </p:cNvPr>
          <p:cNvCxnSpPr/>
          <p:nvPr/>
        </p:nvCxnSpPr>
        <p:spPr bwMode="auto">
          <a:xfrm>
            <a:off x="5423642" y="5661248"/>
            <a:ext cx="876550" cy="0"/>
          </a:xfrm>
          <a:prstGeom prst="line">
            <a:avLst/>
          </a:prstGeom>
          <a:solidFill>
            <a:schemeClr val="accent1"/>
          </a:solidFill>
          <a:ln w="28575" cap="flat" cmpd="sng" algn="ctr">
            <a:solidFill>
              <a:srgbClr val="FF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接连接符 21">
            <a:extLst>
              <a:ext uri="{FF2B5EF4-FFF2-40B4-BE49-F238E27FC236}">
                <a16:creationId xmlns:a16="http://schemas.microsoft.com/office/drawing/2014/main" id="{0ACA2439-C568-2D78-2A7F-407326B2E3F9}"/>
              </a:ext>
            </a:extLst>
          </p:cNvPr>
          <p:cNvCxnSpPr/>
          <p:nvPr/>
        </p:nvCxnSpPr>
        <p:spPr bwMode="auto">
          <a:xfrm>
            <a:off x="6804248" y="6021288"/>
            <a:ext cx="876550" cy="0"/>
          </a:xfrm>
          <a:prstGeom prst="line">
            <a:avLst/>
          </a:prstGeom>
          <a:solidFill>
            <a:schemeClr val="accent1"/>
          </a:solidFill>
          <a:ln w="28575" cap="flat" cmpd="sng" algn="ctr">
            <a:solidFill>
              <a:srgbClr val="FF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直接连接符 22">
            <a:extLst>
              <a:ext uri="{FF2B5EF4-FFF2-40B4-BE49-F238E27FC236}">
                <a16:creationId xmlns:a16="http://schemas.microsoft.com/office/drawing/2014/main" id="{3A759639-86D3-7B6B-4C24-010C003B8F9C}"/>
              </a:ext>
            </a:extLst>
          </p:cNvPr>
          <p:cNvCxnSpPr/>
          <p:nvPr/>
        </p:nvCxnSpPr>
        <p:spPr bwMode="auto">
          <a:xfrm>
            <a:off x="4208571" y="6309320"/>
            <a:ext cx="876550" cy="0"/>
          </a:xfrm>
          <a:prstGeom prst="line">
            <a:avLst/>
          </a:prstGeom>
          <a:solidFill>
            <a:schemeClr val="accent1"/>
          </a:solidFill>
          <a:ln w="28575" cap="flat" cmpd="sng" algn="ctr">
            <a:solidFill>
              <a:srgbClr val="FF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页脚占位符 2">
            <a:extLst>
              <a:ext uri="{FF2B5EF4-FFF2-40B4-BE49-F238E27FC236}">
                <a16:creationId xmlns:a16="http://schemas.microsoft.com/office/drawing/2014/main" id="{0E69B07C-E0E5-1220-9AD0-806B33DC59CB}"/>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6BAE1C41-933E-329F-ADC5-C3FB0BE9110D}"/>
              </a:ext>
            </a:extLst>
          </p:cNvPr>
          <p:cNvSpPr>
            <a:spLocks noGrp="1"/>
          </p:cNvSpPr>
          <p:nvPr>
            <p:ph type="sldNum" sz="quarter" idx="12"/>
          </p:nvPr>
        </p:nvSpPr>
        <p:spPr/>
        <p:txBody>
          <a:bodyPr/>
          <a:lstStyle/>
          <a:p>
            <a:fld id="{A2D74603-B40B-4D66-8F6E-41C870D48932}" type="slidenum">
              <a:rPr lang="en-US" altLang="zh-CN" smtClean="0"/>
              <a:pPr/>
              <a:t>105</a:t>
            </a:fld>
            <a:r>
              <a:rPr lang="en-US" altLang="zh-CN"/>
              <a:t>/162</a:t>
            </a:r>
            <a:endParaRPr lang="en-US" altLang="zh-CN" dirty="0"/>
          </a:p>
        </p:txBody>
      </p:sp>
    </p:spTree>
    <p:extLst>
      <p:ext uri="{BB962C8B-B14F-4D97-AF65-F5344CB8AC3E}">
        <p14:creationId xmlns:p14="http://schemas.microsoft.com/office/powerpoint/2010/main" val="29154884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9251">
                                            <p:txEl>
                                              <p:pRg st="1" end="1"/>
                                            </p:txEl>
                                          </p:spTgt>
                                        </p:tgtEl>
                                        <p:attrNameLst>
                                          <p:attrName>style.visibility</p:attrName>
                                        </p:attrNameLst>
                                      </p:cBhvr>
                                      <p:to>
                                        <p:strVal val="visible"/>
                                      </p:to>
                                    </p:set>
                                    <p:anim calcmode="lin" valueType="num">
                                      <p:cBhvr additive="base">
                                        <p:cTn id="7" dur="500" fill="hold"/>
                                        <p:tgtEl>
                                          <p:spTgt spid="30925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92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09251">
                                            <p:txEl>
                                              <p:pRg st="2" end="2"/>
                                            </p:txEl>
                                          </p:spTgt>
                                        </p:tgtEl>
                                        <p:attrNameLst>
                                          <p:attrName>style.visibility</p:attrName>
                                        </p:attrNameLst>
                                      </p:cBhvr>
                                      <p:to>
                                        <p:strVal val="visible"/>
                                      </p:to>
                                    </p:set>
                                    <p:anim calcmode="lin" valueType="num">
                                      <p:cBhvr additive="base">
                                        <p:cTn id="13" dur="500" fill="hold"/>
                                        <p:tgtEl>
                                          <p:spTgt spid="30925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0925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09251">
                                            <p:txEl>
                                              <p:pRg st="3" end="3"/>
                                            </p:txEl>
                                          </p:spTgt>
                                        </p:tgtEl>
                                        <p:attrNameLst>
                                          <p:attrName>style.visibility</p:attrName>
                                        </p:attrNameLst>
                                      </p:cBhvr>
                                      <p:to>
                                        <p:strVal val="visible"/>
                                      </p:to>
                                    </p:set>
                                    <p:anim calcmode="lin" valueType="num">
                                      <p:cBhvr additive="base">
                                        <p:cTn id="19" dur="500" fill="hold"/>
                                        <p:tgtEl>
                                          <p:spTgt spid="30925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0925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barn(inVertical)">
                                      <p:cBhvr>
                                        <p:cTn id="25" dur="500"/>
                                        <p:tgtEl>
                                          <p:spTgt spid="5"/>
                                        </p:tgtEl>
                                      </p:cBhvr>
                                    </p:animEffect>
                                  </p:childTnLst>
                                </p:cTn>
                              </p:par>
                              <p:par>
                                <p:cTn id="26" presetID="14" presetClass="entr" presetSubtype="1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randombar(horizontal)">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circle(in)">
                                      <p:cBhvr>
                                        <p:cTn id="33" dur="20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6" presetID="14" presetClass="entr" presetSubtype="10" fill="hold"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randombar(horizontal)">
                                      <p:cBhvr>
                                        <p:cTn id="38" dur="5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6" presetClass="entr" presetSubtype="16"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circle(in)">
                                      <p:cBhvr>
                                        <p:cTn id="43" dur="2000"/>
                                        <p:tgtEl>
                                          <p:spTgt spid="16"/>
                                        </p:tgtEl>
                                      </p:cBhvr>
                                    </p:animEffect>
                                  </p:childTnLst>
                                </p:cTn>
                              </p:par>
                            </p:childTnLst>
                          </p:cTn>
                        </p:par>
                      </p:childTnLst>
                    </p:cTn>
                  </p:par>
                  <p:par>
                    <p:cTn id="44" fill="hold">
                      <p:stCondLst>
                        <p:cond delay="indefinite"/>
                      </p:stCondLst>
                      <p:childTnLst>
                        <p:par>
                          <p:cTn id="45" fill="hold">
                            <p:stCondLst>
                              <p:cond delay="0"/>
                            </p:stCondLst>
                            <p:childTnLst>
                              <p:par>
                                <p:cTn id="46" presetID="14" presetClass="entr" presetSubtype="10" fill="hold" nodeType="click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randombar(horizontal)">
                                      <p:cBhvr>
                                        <p:cTn id="48" dur="500"/>
                                        <p:tgtEl>
                                          <p:spTgt spid="19"/>
                                        </p:tgtEl>
                                      </p:cBhvr>
                                    </p:animEffect>
                                  </p:childTnLst>
                                </p:cTn>
                              </p:par>
                            </p:childTnLst>
                          </p:cTn>
                        </p:par>
                      </p:childTnLst>
                    </p:cTn>
                  </p:par>
                  <p:par>
                    <p:cTn id="49" fill="hold">
                      <p:stCondLst>
                        <p:cond delay="indefinite"/>
                      </p:stCondLst>
                      <p:childTnLst>
                        <p:par>
                          <p:cTn id="50" fill="hold">
                            <p:stCondLst>
                              <p:cond delay="0"/>
                            </p:stCondLst>
                            <p:childTnLst>
                              <p:par>
                                <p:cTn id="51" presetID="6" presetClass="entr" presetSubtype="16" fill="hold" grpId="0" nodeType="click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circle(in)">
                                      <p:cBhvr>
                                        <p:cTn id="53" dur="2000"/>
                                        <p:tgtEl>
                                          <p:spTgt spid="17"/>
                                        </p:tgtEl>
                                      </p:cBhvr>
                                    </p:animEffect>
                                  </p:childTnLst>
                                </p:cTn>
                              </p:par>
                            </p:childTnLst>
                          </p:cTn>
                        </p:par>
                      </p:childTnLst>
                    </p:cTn>
                  </p:par>
                  <p:par>
                    <p:cTn id="54" fill="hold">
                      <p:stCondLst>
                        <p:cond delay="indefinite"/>
                      </p:stCondLst>
                      <p:childTnLst>
                        <p:par>
                          <p:cTn id="55" fill="hold">
                            <p:stCondLst>
                              <p:cond delay="0"/>
                            </p:stCondLst>
                            <p:childTnLst>
                              <p:par>
                                <p:cTn id="56" presetID="14" presetClass="entr" presetSubtype="10" fill="hold"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randombar(horizontal)">
                                      <p:cBhvr>
                                        <p:cTn id="58" dur="5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4" presetClass="entr" presetSubtype="10" fill="hold"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randombar(horizontal)">
                                      <p:cBhvr>
                                        <p:cTn id="63" dur="500"/>
                                        <p:tgtEl>
                                          <p:spTgt spid="22"/>
                                        </p:tgtEl>
                                      </p:cBhvr>
                                    </p:animEffect>
                                  </p:childTnLst>
                                </p:cTn>
                              </p:par>
                            </p:childTnLst>
                          </p:cTn>
                        </p:par>
                      </p:childTnLst>
                    </p:cTn>
                  </p:par>
                  <p:par>
                    <p:cTn id="64" fill="hold">
                      <p:stCondLst>
                        <p:cond delay="indefinite"/>
                      </p:stCondLst>
                      <p:childTnLst>
                        <p:par>
                          <p:cTn id="65" fill="hold">
                            <p:stCondLst>
                              <p:cond delay="0"/>
                            </p:stCondLst>
                            <p:childTnLst>
                              <p:par>
                                <p:cTn id="66" presetID="14" presetClass="entr" presetSubtype="10" fill="hold" nodeType="click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randombar(horizontal)">
                                      <p:cBhvr>
                                        <p:cTn id="6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380C3E0C-6CD2-45F2-B1F1-ACF8DBB7FCAC}" type="datetime1">
              <a:rPr lang="zh-CN" altLang="en-US" smtClean="0"/>
              <a:t>2025/11/6</a:t>
            </a:fld>
            <a:endParaRPr lang="en-US" altLang="zh-CN" dirty="0"/>
          </a:p>
        </p:txBody>
      </p:sp>
      <p:sp>
        <p:nvSpPr>
          <p:cNvPr id="309250" name="Rectangle 2"/>
          <p:cNvSpPr>
            <a:spLocks noGrp="1" noChangeArrowheads="1"/>
          </p:cNvSpPr>
          <p:nvPr>
            <p:ph type="title"/>
          </p:nvPr>
        </p:nvSpPr>
        <p:spPr/>
        <p:txBody>
          <a:bodyPr/>
          <a:lstStyle/>
          <a:p>
            <a:r>
              <a:rPr lang="en-US" altLang="zh-CN" dirty="0"/>
              <a:t>Armstrong </a:t>
            </a:r>
            <a:r>
              <a:rPr lang="zh-CN" altLang="en-US" dirty="0"/>
              <a:t>公理系统</a:t>
            </a:r>
          </a:p>
        </p:txBody>
      </p:sp>
      <p:sp>
        <p:nvSpPr>
          <p:cNvPr id="309251" name="Rectangle 3"/>
          <p:cNvSpPr>
            <a:spLocks noGrp="1" noChangeArrowheads="1"/>
          </p:cNvSpPr>
          <p:nvPr>
            <p:ph type="body" idx="1"/>
          </p:nvPr>
        </p:nvSpPr>
        <p:spPr/>
        <p:txBody>
          <a:bodyPr/>
          <a:lstStyle/>
          <a:p>
            <a:r>
              <a:rPr lang="en-US" altLang="zh-CN" dirty="0"/>
              <a:t>Armstrong</a:t>
            </a:r>
            <a:r>
              <a:rPr lang="zh-CN" altLang="en-US" dirty="0"/>
              <a:t>公理的</a:t>
            </a:r>
            <a:r>
              <a:rPr lang="zh-CN" altLang="en-US" b="1" dirty="0">
                <a:solidFill>
                  <a:srgbClr val="FF0000"/>
                </a:solidFill>
              </a:rPr>
              <a:t>推论</a:t>
            </a:r>
            <a:r>
              <a:rPr lang="zh-CN" altLang="en-US" dirty="0"/>
              <a:t>：</a:t>
            </a:r>
          </a:p>
          <a:p>
            <a:pPr lvl="1"/>
            <a:r>
              <a:rPr lang="zh-CN" altLang="en-US" b="1" dirty="0">
                <a:solidFill>
                  <a:schemeClr val="tx2"/>
                </a:solidFill>
              </a:rPr>
              <a:t>合并规则</a:t>
            </a:r>
            <a:r>
              <a:rPr lang="zh-CN" altLang="en-US" dirty="0"/>
              <a:t>：若</a:t>
            </a:r>
            <a:r>
              <a:rPr lang="en-US" altLang="zh-CN" dirty="0"/>
              <a:t>X → Y</a:t>
            </a:r>
            <a:r>
              <a:rPr lang="zh-CN" altLang="en-US" dirty="0"/>
              <a:t>，</a:t>
            </a:r>
            <a:r>
              <a:rPr lang="en-US" altLang="zh-CN" dirty="0"/>
              <a:t>X → Z</a:t>
            </a:r>
            <a:r>
              <a:rPr lang="zh-CN" altLang="en-US" dirty="0"/>
              <a:t>，有</a:t>
            </a:r>
            <a:r>
              <a:rPr lang="en-US" altLang="zh-CN" dirty="0"/>
              <a:t>X→YZ</a:t>
            </a:r>
            <a:r>
              <a:rPr lang="zh-CN" altLang="en-US" dirty="0"/>
              <a:t>。</a:t>
            </a:r>
          </a:p>
          <a:p>
            <a:pPr lvl="1"/>
            <a:r>
              <a:rPr lang="zh-CN" altLang="en-US" b="1" dirty="0">
                <a:solidFill>
                  <a:schemeClr val="tx2"/>
                </a:solidFill>
              </a:rPr>
              <a:t>分解规则</a:t>
            </a:r>
            <a:r>
              <a:rPr lang="zh-CN" altLang="en-US" dirty="0"/>
              <a:t>：由</a:t>
            </a:r>
            <a:r>
              <a:rPr lang="en-US" altLang="zh-CN" dirty="0"/>
              <a:t>X →Y</a:t>
            </a:r>
            <a:r>
              <a:rPr lang="zh-CN" altLang="en-US" dirty="0"/>
              <a:t>及</a:t>
            </a:r>
            <a:r>
              <a:rPr lang="en-US" altLang="zh-CN" dirty="0">
                <a:solidFill>
                  <a:srgbClr val="0000FF"/>
                </a:solidFill>
              </a:rPr>
              <a:t>Z</a:t>
            </a:r>
            <a:r>
              <a:rPr lang="en-US" altLang="zh-CN" b="1" dirty="0">
                <a:solidFill>
                  <a:srgbClr val="0000FF"/>
                </a:solidFill>
                <a:sym typeface="Symbol" pitchFamily="18" charset="2"/>
              </a:rPr>
              <a:t></a:t>
            </a:r>
            <a:r>
              <a:rPr lang="en-US" altLang="zh-CN" dirty="0">
                <a:solidFill>
                  <a:srgbClr val="0000FF"/>
                </a:solidFill>
              </a:rPr>
              <a:t>Y</a:t>
            </a:r>
            <a:r>
              <a:rPr lang="zh-CN" altLang="en-US" dirty="0"/>
              <a:t>，有</a:t>
            </a:r>
            <a:r>
              <a:rPr lang="en-US" altLang="zh-CN" dirty="0"/>
              <a:t>X→Z</a:t>
            </a:r>
            <a:r>
              <a:rPr lang="zh-CN" altLang="en-US" dirty="0"/>
              <a:t>。</a:t>
            </a:r>
          </a:p>
          <a:p>
            <a:pPr lvl="1"/>
            <a:r>
              <a:rPr lang="zh-CN" altLang="en-US" b="1" dirty="0">
                <a:solidFill>
                  <a:schemeClr val="tx2"/>
                </a:solidFill>
              </a:rPr>
              <a:t>伪传递规则</a:t>
            </a:r>
            <a:r>
              <a:rPr lang="zh-CN" altLang="en-US" dirty="0"/>
              <a:t>：若</a:t>
            </a:r>
            <a:r>
              <a:rPr lang="en-US" altLang="zh-CN" dirty="0"/>
              <a:t>X → Y</a:t>
            </a:r>
            <a:r>
              <a:rPr lang="zh-CN" altLang="en-US" dirty="0"/>
              <a:t>，</a:t>
            </a:r>
            <a:r>
              <a:rPr lang="en-US" altLang="zh-CN" dirty="0"/>
              <a:t>WY → Z</a:t>
            </a:r>
            <a:r>
              <a:rPr lang="zh-CN" altLang="en-US" dirty="0"/>
              <a:t>，有</a:t>
            </a:r>
            <a:r>
              <a:rPr lang="en-US" altLang="zh-CN" dirty="0"/>
              <a:t>XW→Z</a:t>
            </a:r>
            <a:r>
              <a:rPr lang="zh-CN" altLang="en-US" dirty="0"/>
              <a:t>。</a:t>
            </a:r>
          </a:p>
          <a:p>
            <a:r>
              <a:rPr lang="zh-CN" altLang="en-US" dirty="0"/>
              <a:t>根据</a:t>
            </a:r>
            <a:r>
              <a:rPr lang="zh-CN" altLang="en-US" u="sng" dirty="0"/>
              <a:t>合并规则和分解规则</a:t>
            </a:r>
            <a:r>
              <a:rPr lang="zh-CN" altLang="en-US" dirty="0"/>
              <a:t>，得到一个重要事实：</a:t>
            </a:r>
          </a:p>
          <a:p>
            <a:pPr>
              <a:buFont typeface="Wingdings" pitchFamily="2" charset="2"/>
              <a:buNone/>
            </a:pPr>
            <a:r>
              <a:rPr lang="zh-CN" altLang="en-US" dirty="0"/>
              <a:t>	</a:t>
            </a:r>
            <a:r>
              <a:rPr lang="zh-CN" altLang="en-US" b="1" dirty="0">
                <a:solidFill>
                  <a:srgbClr val="FF0000"/>
                </a:solidFill>
              </a:rPr>
              <a:t>引理</a:t>
            </a:r>
            <a:r>
              <a:rPr lang="en-US" altLang="zh-CN" b="1" dirty="0">
                <a:solidFill>
                  <a:srgbClr val="FF0000"/>
                </a:solidFill>
              </a:rPr>
              <a:t>1 </a:t>
            </a:r>
            <a:r>
              <a:rPr lang="en-US" altLang="zh-CN" dirty="0"/>
              <a:t>X → A</a:t>
            </a:r>
            <a:r>
              <a:rPr lang="en-US" altLang="zh-CN" baseline="-25000" dirty="0"/>
              <a:t>1</a:t>
            </a:r>
            <a:r>
              <a:rPr lang="en-US" altLang="zh-CN" dirty="0"/>
              <a:t>A</a:t>
            </a:r>
            <a:r>
              <a:rPr lang="en-US" altLang="zh-CN" baseline="-25000" dirty="0"/>
              <a:t>2</a:t>
            </a:r>
            <a:r>
              <a:rPr lang="en-US" altLang="zh-CN" dirty="0">
                <a:latin typeface="Arial"/>
              </a:rPr>
              <a:t>…</a:t>
            </a:r>
            <a:r>
              <a:rPr lang="en-US" altLang="zh-CN" dirty="0"/>
              <a:t>A</a:t>
            </a:r>
            <a:r>
              <a:rPr lang="en-US" altLang="zh-CN" baseline="-25000" dirty="0"/>
              <a:t>K</a:t>
            </a:r>
            <a:r>
              <a:rPr lang="zh-CN" altLang="en-US" dirty="0"/>
              <a:t>成立的</a:t>
            </a:r>
            <a:r>
              <a:rPr lang="zh-CN" altLang="en-US" b="1" dirty="0">
                <a:solidFill>
                  <a:srgbClr val="FF0000"/>
                </a:solidFill>
              </a:rPr>
              <a:t>充分必要条件</a:t>
            </a:r>
            <a:r>
              <a:rPr lang="zh-CN" altLang="en-US" dirty="0"/>
              <a:t>是</a:t>
            </a:r>
            <a:r>
              <a:rPr lang="en-US" altLang="zh-CN" dirty="0" err="1"/>
              <a:t>X→A</a:t>
            </a:r>
            <a:r>
              <a:rPr lang="en-US" altLang="zh-CN" baseline="-25000" dirty="0" err="1"/>
              <a:t>i</a:t>
            </a:r>
            <a:r>
              <a:rPr lang="en-US" altLang="zh-CN" baseline="-25000" dirty="0"/>
              <a:t> </a:t>
            </a:r>
            <a:r>
              <a:rPr lang="en-US" altLang="zh-CN" dirty="0"/>
              <a:t>(</a:t>
            </a:r>
            <a:r>
              <a:rPr lang="en-US" altLang="zh-CN" dirty="0" err="1"/>
              <a:t>i</a:t>
            </a:r>
            <a:r>
              <a:rPr lang="en-US" altLang="zh-CN" dirty="0"/>
              <a:t>=1, 2,</a:t>
            </a:r>
            <a:r>
              <a:rPr lang="en-US" altLang="zh-CN" dirty="0">
                <a:latin typeface="Arial"/>
              </a:rPr>
              <a:t>…</a:t>
            </a:r>
            <a:r>
              <a:rPr lang="en-US" altLang="zh-CN" dirty="0"/>
              <a:t>, k)</a:t>
            </a:r>
            <a:r>
              <a:rPr lang="zh-CN" altLang="en-US" dirty="0"/>
              <a:t>成立。</a:t>
            </a:r>
          </a:p>
        </p:txBody>
      </p:sp>
      <p:sp>
        <p:nvSpPr>
          <p:cNvPr id="3" name="文本框 2">
            <a:extLst>
              <a:ext uri="{FF2B5EF4-FFF2-40B4-BE49-F238E27FC236}">
                <a16:creationId xmlns:a16="http://schemas.microsoft.com/office/drawing/2014/main" id="{C5E20057-0CB5-B8E4-1340-3A04D3308B4A}"/>
              </a:ext>
            </a:extLst>
          </p:cNvPr>
          <p:cNvSpPr txBox="1"/>
          <p:nvPr/>
        </p:nvSpPr>
        <p:spPr>
          <a:xfrm>
            <a:off x="3422203" y="5784163"/>
            <a:ext cx="2648482" cy="46166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dirty="0"/>
              <a:t>说明</a:t>
            </a:r>
            <a:r>
              <a:rPr lang="en-US" altLang="zh-CN" dirty="0"/>
              <a:t>F</a:t>
            </a:r>
            <a:r>
              <a:rPr lang="en-US" altLang="zh-CN" baseline="30000" dirty="0"/>
              <a:t>+</a:t>
            </a:r>
            <a:r>
              <a:rPr lang="zh-CN" altLang="en-US" dirty="0"/>
              <a:t>计算复杂。</a:t>
            </a:r>
          </a:p>
        </p:txBody>
      </p:sp>
      <p:sp>
        <p:nvSpPr>
          <p:cNvPr id="5" name="页脚占位符 4">
            <a:extLst>
              <a:ext uri="{FF2B5EF4-FFF2-40B4-BE49-F238E27FC236}">
                <a16:creationId xmlns:a16="http://schemas.microsoft.com/office/drawing/2014/main" id="{69BBC8EB-04FD-3809-402E-E20F371978C8}"/>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648BE029-E153-A5E6-E8B5-36BC356B4212}"/>
              </a:ext>
            </a:extLst>
          </p:cNvPr>
          <p:cNvSpPr>
            <a:spLocks noGrp="1"/>
          </p:cNvSpPr>
          <p:nvPr>
            <p:ph type="sldNum" sz="quarter" idx="12"/>
          </p:nvPr>
        </p:nvSpPr>
        <p:spPr/>
        <p:txBody>
          <a:bodyPr/>
          <a:lstStyle/>
          <a:p>
            <a:fld id="{A2D74603-B40B-4D66-8F6E-41C870D48932}" type="slidenum">
              <a:rPr lang="en-US" altLang="zh-CN" smtClean="0"/>
              <a:pPr/>
              <a:t>106</a:t>
            </a:fld>
            <a:r>
              <a:rPr lang="en-US" altLang="zh-CN"/>
              <a:t>/162</a:t>
            </a:r>
            <a:endParaRPr lang="en-US" altLang="zh-CN" dirty="0"/>
          </a:p>
        </p:txBody>
      </p:sp>
    </p:spTree>
    <p:extLst>
      <p:ext uri="{BB962C8B-B14F-4D97-AF65-F5344CB8AC3E}">
        <p14:creationId xmlns:p14="http://schemas.microsoft.com/office/powerpoint/2010/main" val="18838759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9251">
                                            <p:txEl>
                                              <p:pRg st="4" end="4"/>
                                            </p:txEl>
                                          </p:spTgt>
                                        </p:tgtEl>
                                        <p:attrNameLst>
                                          <p:attrName>style.visibility</p:attrName>
                                        </p:attrNameLst>
                                      </p:cBhvr>
                                      <p:to>
                                        <p:strVal val="visible"/>
                                      </p:to>
                                    </p:set>
                                    <p:anim calcmode="lin" valueType="num">
                                      <p:cBhvr additive="base">
                                        <p:cTn id="7" dur="500" fill="hold"/>
                                        <p:tgtEl>
                                          <p:spTgt spid="309251">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925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09251">
                                            <p:txEl>
                                              <p:pRg st="5" end="5"/>
                                            </p:txEl>
                                          </p:spTgt>
                                        </p:tgtEl>
                                        <p:attrNameLst>
                                          <p:attrName>style.visibility</p:attrName>
                                        </p:attrNameLst>
                                      </p:cBhvr>
                                      <p:to>
                                        <p:strVal val="visible"/>
                                      </p:to>
                                    </p:set>
                                    <p:anim calcmode="lin" valueType="num">
                                      <p:cBhvr additive="base">
                                        <p:cTn id="13" dur="500" fill="hold"/>
                                        <p:tgtEl>
                                          <p:spTgt spid="309251">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0925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barn(inVertical)">
                                      <p:cBhvr>
                                        <p:cTn id="1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4587D37-4DFC-448C-BB1A-8B1DE6C96F82}" type="datetime1">
              <a:rPr lang="zh-CN" altLang="en-US" smtClean="0"/>
              <a:t>2025/11/6</a:t>
            </a:fld>
            <a:endParaRPr lang="en-US" altLang="zh-CN"/>
          </a:p>
        </p:txBody>
      </p:sp>
      <p:sp>
        <p:nvSpPr>
          <p:cNvPr id="312322" name="Rectangle 2"/>
          <p:cNvSpPr>
            <a:spLocks noGrp="1" noChangeArrowheads="1"/>
          </p:cNvSpPr>
          <p:nvPr>
            <p:ph type="title"/>
          </p:nvPr>
        </p:nvSpPr>
        <p:spPr/>
        <p:txBody>
          <a:bodyPr/>
          <a:lstStyle/>
          <a:p>
            <a:r>
              <a:rPr lang="zh-CN" altLang="en-US" dirty="0"/>
              <a:t>算法</a:t>
            </a:r>
            <a:r>
              <a:rPr lang="en-US" altLang="zh-CN" dirty="0"/>
              <a:t>1 </a:t>
            </a:r>
            <a:r>
              <a:rPr lang="zh-CN" altLang="en-US" dirty="0"/>
              <a:t>求</a:t>
            </a:r>
            <a:r>
              <a:rPr lang="en-US" altLang="zh-CN" dirty="0"/>
              <a:t>F</a:t>
            </a:r>
            <a:r>
              <a:rPr lang="en-US" altLang="zh-CN" baseline="30000" dirty="0"/>
              <a:t>+</a:t>
            </a:r>
            <a:r>
              <a:rPr lang="zh-CN" altLang="en-US" dirty="0"/>
              <a:t>的方法</a:t>
            </a:r>
            <a:r>
              <a:rPr lang="en-US" altLang="zh-CN" dirty="0"/>
              <a:t>(</a:t>
            </a:r>
            <a:r>
              <a:rPr lang="zh-CN" altLang="en-US" dirty="0"/>
              <a:t>了解</a:t>
            </a:r>
            <a:r>
              <a:rPr lang="en-US" altLang="zh-CN" dirty="0"/>
              <a:t>)</a:t>
            </a:r>
            <a:r>
              <a:rPr lang="zh-CN" altLang="en-US" dirty="0"/>
              <a:t> </a:t>
            </a:r>
          </a:p>
        </p:txBody>
      </p:sp>
      <p:sp>
        <p:nvSpPr>
          <p:cNvPr id="312323" name="Rectangle 3"/>
          <p:cNvSpPr>
            <a:spLocks noGrp="1" noChangeArrowheads="1"/>
          </p:cNvSpPr>
          <p:nvPr>
            <p:ph type="body" idx="1"/>
          </p:nvPr>
        </p:nvSpPr>
        <p:spPr>
          <a:xfrm>
            <a:off x="609600" y="1447800"/>
            <a:ext cx="8345488" cy="5029200"/>
          </a:xfrm>
        </p:spPr>
        <p:txBody>
          <a:bodyPr/>
          <a:lstStyle/>
          <a:p>
            <a:r>
              <a:rPr lang="zh-CN" altLang="en-US" sz="3400" dirty="0">
                <a:solidFill>
                  <a:schemeClr val="tx1">
                    <a:lumMod val="65000"/>
                    <a:lumOff val="35000"/>
                  </a:schemeClr>
                </a:solidFill>
                <a:sym typeface="Greek Symbols" pitchFamily="18" charset="2"/>
              </a:rPr>
              <a:t>计算 </a:t>
            </a:r>
            <a:r>
              <a:rPr lang="en-US" altLang="zh-CN" sz="3400" dirty="0">
                <a:solidFill>
                  <a:schemeClr val="tx1">
                    <a:lumMod val="65000"/>
                    <a:lumOff val="35000"/>
                  </a:schemeClr>
                </a:solidFill>
                <a:sym typeface="Greek Symbols" pitchFamily="18" charset="2"/>
              </a:rPr>
              <a:t>F</a:t>
            </a:r>
            <a:r>
              <a:rPr lang="en-US" altLang="zh-CN" sz="3400" baseline="30000" dirty="0">
                <a:solidFill>
                  <a:schemeClr val="tx1">
                    <a:lumMod val="65000"/>
                    <a:lumOff val="35000"/>
                  </a:schemeClr>
                </a:solidFill>
                <a:sym typeface="Greek Symbols" pitchFamily="18" charset="2"/>
              </a:rPr>
              <a:t>+</a:t>
            </a:r>
          </a:p>
          <a:p>
            <a:pPr marL="400050" lvl="1" indent="0">
              <a:buNone/>
            </a:pPr>
            <a:r>
              <a:rPr lang="en-US" altLang="zh-CN" sz="2000" i="1" dirty="0">
                <a:sym typeface="Greek Symbols" pitchFamily="18" charset="2"/>
              </a:rPr>
              <a:t> </a:t>
            </a:r>
          </a:p>
          <a:p>
            <a:pPr marL="400050" lvl="1" indent="0">
              <a:buNone/>
            </a:pPr>
            <a:r>
              <a:rPr lang="en-US" altLang="zh-CN" sz="2000" dirty="0">
                <a:sym typeface="Greek Symbols" pitchFamily="18" charset="2"/>
              </a:rPr>
              <a:t>F</a:t>
            </a:r>
            <a:r>
              <a:rPr lang="en-US" altLang="zh-CN" sz="2000" baseline="30000" dirty="0">
                <a:sym typeface="Greek Symbols" pitchFamily="18" charset="2"/>
              </a:rPr>
              <a:t>+</a:t>
            </a:r>
            <a:r>
              <a:rPr lang="en-US" altLang="zh-CN" sz="2000" dirty="0">
                <a:sym typeface="Greek Symbols" pitchFamily="18" charset="2"/>
              </a:rPr>
              <a:t>=F</a:t>
            </a:r>
            <a:endParaRPr lang="en-US" altLang="zh-CN" sz="2000" i="1" dirty="0">
              <a:sym typeface="Greek Symbols" pitchFamily="18" charset="2"/>
            </a:endParaRPr>
          </a:p>
          <a:p>
            <a:pPr marL="400050" lvl="1" indent="0">
              <a:buNone/>
            </a:pPr>
            <a:r>
              <a:rPr lang="zh-CN" altLang="en-US" sz="2000" dirty="0">
                <a:sym typeface="Greek Symbols" pitchFamily="18" charset="2"/>
              </a:rPr>
              <a:t>应用</a:t>
            </a:r>
            <a:r>
              <a:rPr lang="zh-CN" altLang="en-US" sz="2000" dirty="0">
                <a:solidFill>
                  <a:srgbClr val="0000FF"/>
                </a:solidFill>
                <a:sym typeface="Greek Symbols" pitchFamily="18" charset="2"/>
              </a:rPr>
              <a:t>自反律</a:t>
            </a:r>
            <a:r>
              <a:rPr lang="en-US" altLang="zh-CN" sz="2000" dirty="0">
                <a:sym typeface="Greek Symbols" pitchFamily="18" charset="2"/>
              </a:rPr>
              <a:t>/* </a:t>
            </a:r>
            <a:r>
              <a:rPr lang="zh-CN" altLang="en-US" sz="2000" dirty="0">
                <a:sym typeface="Greek Symbols" pitchFamily="18" charset="2"/>
              </a:rPr>
              <a:t>生成所有的平凡依赖*</a:t>
            </a:r>
            <a:r>
              <a:rPr lang="en-US" altLang="zh-CN" sz="2000" dirty="0">
                <a:sym typeface="Greek Symbols" pitchFamily="18" charset="2"/>
              </a:rPr>
              <a:t>/</a:t>
            </a:r>
          </a:p>
          <a:p>
            <a:pPr marL="400050" lvl="1" indent="0">
              <a:buNone/>
            </a:pPr>
            <a:r>
              <a:rPr lang="en-US" altLang="zh-CN" sz="2000" b="1" dirty="0">
                <a:sym typeface="Greek Symbols" pitchFamily="18" charset="2"/>
              </a:rPr>
              <a:t>repeat</a:t>
            </a:r>
          </a:p>
          <a:p>
            <a:pPr lvl="2">
              <a:buNone/>
            </a:pPr>
            <a:r>
              <a:rPr lang="en-US" altLang="zh-CN" sz="2000" dirty="0">
                <a:sym typeface="Greek Symbols" pitchFamily="18" charset="2"/>
              </a:rPr>
              <a:t>for each F</a:t>
            </a:r>
            <a:r>
              <a:rPr lang="en-US" altLang="zh-CN" sz="2000" baseline="30000" dirty="0">
                <a:sym typeface="Greek Symbols" pitchFamily="18" charset="2"/>
              </a:rPr>
              <a:t>+</a:t>
            </a:r>
            <a:r>
              <a:rPr lang="zh-CN" altLang="en-US" sz="2000" dirty="0">
                <a:sym typeface="Greek Symbols" pitchFamily="18" charset="2"/>
              </a:rPr>
              <a:t>中的函数依赖 </a:t>
            </a:r>
            <a:r>
              <a:rPr lang="en-US" altLang="zh-CN" sz="2000" dirty="0">
                <a:sym typeface="Greek Symbols" pitchFamily="18" charset="2"/>
              </a:rPr>
              <a:t>X</a:t>
            </a:r>
            <a:r>
              <a:rPr lang="en-US" altLang="zh-CN" sz="2000" dirty="0">
                <a:solidFill>
                  <a:schemeClr val="tx2"/>
                </a:solidFill>
                <a:sym typeface="Symbol" pitchFamily="18" charset="2"/>
              </a:rPr>
              <a:t></a:t>
            </a:r>
            <a:r>
              <a:rPr lang="en-US" altLang="zh-CN" sz="2000" dirty="0">
                <a:sym typeface="Greek Symbols" pitchFamily="18" charset="2"/>
              </a:rPr>
              <a:t>Y</a:t>
            </a:r>
          </a:p>
          <a:p>
            <a:pPr lvl="2">
              <a:buNone/>
            </a:pPr>
            <a:r>
              <a:rPr lang="zh-CN" altLang="en-US" sz="2000" dirty="0">
                <a:sym typeface="Greek Symbols" pitchFamily="18" charset="2"/>
              </a:rPr>
              <a:t>    应用</a:t>
            </a:r>
            <a:r>
              <a:rPr lang="zh-CN" altLang="en-US" sz="2000" dirty="0">
                <a:solidFill>
                  <a:srgbClr val="0000FF"/>
                </a:solidFill>
                <a:sym typeface="Greek Symbols" pitchFamily="18" charset="2"/>
              </a:rPr>
              <a:t>增补律</a:t>
            </a:r>
            <a:endParaRPr lang="en-US" altLang="zh-CN" sz="2000" dirty="0">
              <a:solidFill>
                <a:srgbClr val="0000FF"/>
              </a:solidFill>
              <a:sym typeface="Greek Symbols" pitchFamily="18" charset="2"/>
            </a:endParaRPr>
          </a:p>
          <a:p>
            <a:pPr lvl="2">
              <a:buNone/>
            </a:pPr>
            <a:r>
              <a:rPr lang="en-US" altLang="zh-CN" sz="2000" dirty="0">
                <a:sym typeface="Greek Symbols" pitchFamily="18" charset="2"/>
              </a:rPr>
              <a:t>    </a:t>
            </a:r>
            <a:r>
              <a:rPr lang="zh-CN" altLang="en-US" sz="2000" dirty="0">
                <a:sym typeface="Greek Symbols" pitchFamily="18" charset="2"/>
              </a:rPr>
              <a:t>将函数依赖的结果加入</a:t>
            </a:r>
            <a:r>
              <a:rPr lang="en-US" altLang="zh-CN" sz="2000" dirty="0">
                <a:sym typeface="Greek Symbols" pitchFamily="18" charset="2"/>
              </a:rPr>
              <a:t>F</a:t>
            </a:r>
            <a:r>
              <a:rPr lang="en-US" altLang="zh-CN" sz="2000" baseline="30000" dirty="0">
                <a:sym typeface="Greek Symbols" pitchFamily="18" charset="2"/>
              </a:rPr>
              <a:t>+</a:t>
            </a:r>
            <a:r>
              <a:rPr lang="zh-CN" altLang="en-US" sz="2000" dirty="0">
                <a:sym typeface="Greek Symbols" pitchFamily="18" charset="2"/>
              </a:rPr>
              <a:t>中</a:t>
            </a:r>
            <a:endParaRPr lang="en-US" altLang="zh-CN" sz="2000" dirty="0">
              <a:sym typeface="Greek Symbols" pitchFamily="18" charset="2"/>
            </a:endParaRPr>
          </a:p>
          <a:p>
            <a:pPr lvl="2">
              <a:buNone/>
            </a:pPr>
            <a:r>
              <a:rPr lang="en-US" altLang="zh-CN" sz="2000" dirty="0">
                <a:sym typeface="Greek Symbols" pitchFamily="18" charset="2"/>
              </a:rPr>
              <a:t>for each F</a:t>
            </a:r>
            <a:r>
              <a:rPr lang="en-US" altLang="zh-CN" sz="2000" baseline="30000" dirty="0">
                <a:sym typeface="Greek Symbols" pitchFamily="18" charset="2"/>
              </a:rPr>
              <a:t>+</a:t>
            </a:r>
            <a:r>
              <a:rPr lang="zh-CN" altLang="en-US" sz="2000" dirty="0">
                <a:sym typeface="Greek Symbols" pitchFamily="18" charset="2"/>
              </a:rPr>
              <a:t>中的一对函数依赖</a:t>
            </a:r>
            <a:r>
              <a:rPr lang="en-US" altLang="zh-CN" sz="2000" dirty="0">
                <a:sym typeface="Greek Symbols" pitchFamily="18" charset="2"/>
              </a:rPr>
              <a:t>X</a:t>
            </a:r>
            <a:r>
              <a:rPr lang="en-US" altLang="zh-CN" sz="2000" dirty="0">
                <a:solidFill>
                  <a:schemeClr val="tx2"/>
                </a:solidFill>
                <a:sym typeface="Symbol" pitchFamily="18" charset="2"/>
              </a:rPr>
              <a:t></a:t>
            </a:r>
            <a:r>
              <a:rPr lang="en-US" altLang="zh-CN" sz="2000" dirty="0">
                <a:sym typeface="Greek Symbols" pitchFamily="18" charset="2"/>
              </a:rPr>
              <a:t>Y</a:t>
            </a:r>
            <a:r>
              <a:rPr lang="zh-CN" altLang="en-US" sz="2000" dirty="0">
                <a:sym typeface="Greek Symbols" pitchFamily="18" charset="2"/>
              </a:rPr>
              <a:t>和</a:t>
            </a:r>
            <a:r>
              <a:rPr lang="en-US" altLang="zh-CN" sz="2000" dirty="0">
                <a:sym typeface="Greek Symbols" pitchFamily="18" charset="2"/>
              </a:rPr>
              <a:t>V</a:t>
            </a:r>
            <a:r>
              <a:rPr lang="en-US" altLang="zh-CN" sz="2000" dirty="0">
                <a:solidFill>
                  <a:schemeClr val="tx2"/>
                </a:solidFill>
                <a:sym typeface="Symbol" pitchFamily="18" charset="2"/>
              </a:rPr>
              <a:t></a:t>
            </a:r>
            <a:r>
              <a:rPr lang="en-US" altLang="zh-CN" sz="2000" dirty="0">
                <a:sym typeface="Greek Symbols" pitchFamily="18" charset="2"/>
              </a:rPr>
              <a:t>W</a:t>
            </a:r>
            <a:r>
              <a:rPr lang="zh-CN" altLang="en-US" sz="2000" dirty="0">
                <a:sym typeface="Greek Symbols" pitchFamily="18" charset="2"/>
              </a:rPr>
              <a:t>，</a:t>
            </a:r>
            <a:endParaRPr lang="en-US" altLang="zh-CN" sz="2000" dirty="0">
              <a:sym typeface="Greek Symbols" pitchFamily="18" charset="2"/>
            </a:endParaRPr>
          </a:p>
          <a:p>
            <a:pPr lvl="2">
              <a:buNone/>
            </a:pPr>
            <a:r>
              <a:rPr lang="zh-CN" altLang="en-US" sz="2000" dirty="0">
                <a:sym typeface="Greek Symbols" pitchFamily="18" charset="2"/>
              </a:rPr>
              <a:t>    </a:t>
            </a:r>
            <a:r>
              <a:rPr lang="zh-CN" altLang="en-US" sz="2000" dirty="0">
                <a:solidFill>
                  <a:srgbClr val="0000FF"/>
                </a:solidFill>
                <a:sym typeface="Greek Symbols" pitchFamily="18" charset="2"/>
              </a:rPr>
              <a:t>如果</a:t>
            </a:r>
            <a:r>
              <a:rPr lang="zh-CN" altLang="en-US" sz="2000" dirty="0">
                <a:sym typeface="Greek Symbols" pitchFamily="18" charset="2"/>
              </a:rPr>
              <a:t>可以使用</a:t>
            </a:r>
            <a:r>
              <a:rPr lang="zh-CN" altLang="en-US" sz="2000" dirty="0">
                <a:solidFill>
                  <a:srgbClr val="0000FF"/>
                </a:solidFill>
                <a:sym typeface="Greek Symbols" pitchFamily="18" charset="2"/>
              </a:rPr>
              <a:t>传递律进行结合</a:t>
            </a:r>
            <a:endParaRPr lang="en-US" altLang="zh-CN" sz="2000" dirty="0">
              <a:solidFill>
                <a:srgbClr val="0000FF"/>
              </a:solidFill>
              <a:sym typeface="Greek Symbols" pitchFamily="18" charset="2"/>
            </a:endParaRPr>
          </a:p>
          <a:p>
            <a:pPr lvl="2">
              <a:buNone/>
            </a:pPr>
            <a:r>
              <a:rPr lang="zh-CN" altLang="en-US" sz="2000" dirty="0">
                <a:sym typeface="Greek Symbols" pitchFamily="18" charset="2"/>
              </a:rPr>
              <a:t>    将函数依赖的结果加入</a:t>
            </a:r>
            <a:r>
              <a:rPr lang="en-US" altLang="zh-CN" sz="2000" dirty="0">
                <a:sym typeface="Greek Symbols" pitchFamily="18" charset="2"/>
              </a:rPr>
              <a:t>F</a:t>
            </a:r>
            <a:r>
              <a:rPr lang="en-US" altLang="zh-CN" sz="2000" baseline="30000" dirty="0">
                <a:sym typeface="Greek Symbols" pitchFamily="18" charset="2"/>
              </a:rPr>
              <a:t>+</a:t>
            </a:r>
            <a:r>
              <a:rPr lang="zh-CN" altLang="en-US" sz="2000" dirty="0">
                <a:sym typeface="Greek Symbols" pitchFamily="18" charset="2"/>
              </a:rPr>
              <a:t>中</a:t>
            </a:r>
            <a:endParaRPr lang="en-US" altLang="zh-CN" sz="2000" dirty="0">
              <a:sym typeface="Greek Symbols" pitchFamily="18" charset="2"/>
            </a:endParaRPr>
          </a:p>
          <a:p>
            <a:pPr lvl="1">
              <a:buNone/>
            </a:pPr>
            <a:r>
              <a:rPr lang="en-US" altLang="zh-CN" sz="2000" b="1" dirty="0">
                <a:sym typeface="Greek Symbols" pitchFamily="18" charset="2"/>
              </a:rPr>
              <a:t>until</a:t>
            </a:r>
            <a:r>
              <a:rPr lang="en-US" altLang="zh-CN" sz="2000" dirty="0">
                <a:sym typeface="Greek Symbols" pitchFamily="18" charset="2"/>
              </a:rPr>
              <a:t> F</a:t>
            </a:r>
            <a:r>
              <a:rPr lang="en-US" altLang="zh-CN" sz="2000" baseline="30000" dirty="0">
                <a:sym typeface="Greek Symbols" pitchFamily="18" charset="2"/>
              </a:rPr>
              <a:t>+</a:t>
            </a:r>
            <a:r>
              <a:rPr lang="zh-CN" altLang="en-US" sz="2000" dirty="0">
                <a:sym typeface="Greek Symbols" pitchFamily="18" charset="2"/>
              </a:rPr>
              <a:t>不再发生变化</a:t>
            </a:r>
            <a:endParaRPr lang="en-US" altLang="zh-CN" sz="2000" dirty="0"/>
          </a:p>
        </p:txBody>
      </p:sp>
      <p:sp>
        <p:nvSpPr>
          <p:cNvPr id="2" name="页脚占位符 1">
            <a:extLst>
              <a:ext uri="{FF2B5EF4-FFF2-40B4-BE49-F238E27FC236}">
                <a16:creationId xmlns:a16="http://schemas.microsoft.com/office/drawing/2014/main" id="{26B639E9-F9A1-E492-F001-BA12D93ADD35}"/>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40DD800A-FEAE-CC45-D64E-98439F5C8C3F}"/>
              </a:ext>
            </a:extLst>
          </p:cNvPr>
          <p:cNvSpPr>
            <a:spLocks noGrp="1"/>
          </p:cNvSpPr>
          <p:nvPr>
            <p:ph type="sldNum" sz="quarter" idx="12"/>
          </p:nvPr>
        </p:nvSpPr>
        <p:spPr/>
        <p:txBody>
          <a:bodyPr/>
          <a:lstStyle/>
          <a:p>
            <a:fld id="{A2D74603-B40B-4D66-8F6E-41C870D48932}" type="slidenum">
              <a:rPr lang="en-US" altLang="zh-CN" smtClean="0"/>
              <a:pPr/>
              <a:t>107</a:t>
            </a:fld>
            <a:r>
              <a:rPr lang="en-US" altLang="zh-CN"/>
              <a:t>/162</a:t>
            </a:r>
            <a:endParaRPr lang="en-US" altLang="zh-CN" dirty="0"/>
          </a:p>
        </p:txBody>
      </p:sp>
      <p:sp>
        <p:nvSpPr>
          <p:cNvPr id="7" name="文本框 6">
            <a:extLst>
              <a:ext uri="{FF2B5EF4-FFF2-40B4-BE49-F238E27FC236}">
                <a16:creationId xmlns:a16="http://schemas.microsoft.com/office/drawing/2014/main" id="{43936793-2593-E900-9DE4-534BB4E72D04}"/>
              </a:ext>
            </a:extLst>
          </p:cNvPr>
          <p:cNvSpPr txBox="1"/>
          <p:nvPr/>
        </p:nvSpPr>
        <p:spPr>
          <a:xfrm>
            <a:off x="6172200" y="3546901"/>
            <a:ext cx="2391742" cy="83099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dirty="0"/>
              <a:t>应用</a:t>
            </a:r>
            <a:r>
              <a:rPr lang="en-US" altLang="zh-CN" dirty="0"/>
              <a:t>Armstrong </a:t>
            </a:r>
            <a:r>
              <a:rPr lang="zh-CN" altLang="en-US" dirty="0"/>
              <a:t>公理</a:t>
            </a:r>
          </a:p>
        </p:txBody>
      </p:sp>
    </p:spTree>
    <p:extLst>
      <p:ext uri="{BB962C8B-B14F-4D97-AF65-F5344CB8AC3E}">
        <p14:creationId xmlns:p14="http://schemas.microsoft.com/office/powerpoint/2010/main" val="11261716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1832926-C3A4-4F84-9CEC-EEBD1BF98903}" type="datetime1">
              <a:rPr lang="zh-CN" altLang="en-US" smtClean="0"/>
              <a:t>2025/11/6</a:t>
            </a:fld>
            <a:endParaRPr lang="en-US" altLang="zh-CN"/>
          </a:p>
        </p:txBody>
      </p:sp>
      <p:sp>
        <p:nvSpPr>
          <p:cNvPr id="311298" name="Rectangle 2"/>
          <p:cNvSpPr>
            <a:spLocks noGrp="1" noChangeArrowheads="1"/>
          </p:cNvSpPr>
          <p:nvPr>
            <p:ph type="title"/>
          </p:nvPr>
        </p:nvSpPr>
        <p:spPr/>
        <p:txBody>
          <a:bodyPr/>
          <a:lstStyle/>
          <a:p>
            <a:r>
              <a:rPr lang="en-US" altLang="zh-CN"/>
              <a:t>Armstrong </a:t>
            </a:r>
            <a:r>
              <a:rPr lang="zh-CN" altLang="en-US"/>
              <a:t>公理系统</a:t>
            </a:r>
          </a:p>
        </p:txBody>
      </p:sp>
      <p:sp>
        <p:nvSpPr>
          <p:cNvPr id="311299" name="Rectangle 3"/>
          <p:cNvSpPr>
            <a:spLocks noGrp="1" noChangeArrowheads="1"/>
          </p:cNvSpPr>
          <p:nvPr>
            <p:ph type="body" idx="1"/>
          </p:nvPr>
        </p:nvSpPr>
        <p:spPr/>
        <p:txBody>
          <a:bodyPr/>
          <a:lstStyle/>
          <a:p>
            <a:pPr>
              <a:buNone/>
            </a:pPr>
            <a:r>
              <a:rPr lang="zh-CN" altLang="en-US" b="1" dirty="0"/>
              <a:t>定义</a:t>
            </a:r>
            <a:r>
              <a:rPr lang="en-US" altLang="zh-CN" dirty="0"/>
              <a:t>6.13 (</a:t>
            </a:r>
            <a:r>
              <a:rPr lang="zh-CN" altLang="en-US" dirty="0">
                <a:solidFill>
                  <a:srgbClr val="0000FF"/>
                </a:solidFill>
              </a:rPr>
              <a:t>属性集</a:t>
            </a:r>
            <a:r>
              <a:rPr lang="zh-CN" altLang="en-US" dirty="0">
                <a:solidFill>
                  <a:srgbClr val="FF0000"/>
                </a:solidFill>
              </a:rPr>
              <a:t>闭包</a:t>
            </a:r>
            <a:r>
              <a:rPr lang="en-US" altLang="zh-CN" dirty="0"/>
              <a:t>) </a:t>
            </a:r>
            <a:r>
              <a:rPr lang="en-US" altLang="zh-CN" b="1" dirty="0">
                <a:solidFill>
                  <a:srgbClr val="FF0000"/>
                </a:solidFill>
              </a:rPr>
              <a:t>X</a:t>
            </a:r>
            <a:r>
              <a:rPr lang="en-US" altLang="zh-CN" b="1" baseline="-25000" dirty="0">
                <a:solidFill>
                  <a:srgbClr val="FF0000"/>
                </a:solidFill>
              </a:rPr>
              <a:t>F</a:t>
            </a:r>
            <a:r>
              <a:rPr lang="en-US" altLang="zh-CN" b="1" baseline="30000" dirty="0">
                <a:solidFill>
                  <a:srgbClr val="FF0000"/>
                </a:solidFill>
              </a:rPr>
              <a:t>+</a:t>
            </a:r>
            <a:r>
              <a:rPr lang="zh-CN" altLang="en-US" b="1" dirty="0">
                <a:solidFill>
                  <a:srgbClr val="FF0000"/>
                </a:solidFill>
              </a:rPr>
              <a:t>的定义</a:t>
            </a:r>
            <a:endParaRPr lang="en-US" altLang="zh-CN" b="1" dirty="0">
              <a:solidFill>
                <a:srgbClr val="FF0000"/>
              </a:solidFill>
            </a:endParaRPr>
          </a:p>
          <a:p>
            <a:pPr>
              <a:buNone/>
            </a:pPr>
            <a:endParaRPr lang="en-US" altLang="zh-CN" b="1" dirty="0">
              <a:solidFill>
                <a:srgbClr val="FF0000"/>
              </a:solidFill>
            </a:endParaRPr>
          </a:p>
          <a:p>
            <a:pPr>
              <a:buNone/>
            </a:pPr>
            <a:r>
              <a:rPr lang="zh-CN" altLang="en-US" b="1" dirty="0">
                <a:solidFill>
                  <a:srgbClr val="FF0000"/>
                </a:solidFill>
              </a:rPr>
              <a:t> 如果</a:t>
            </a:r>
            <a:r>
              <a:rPr lang="en-US" altLang="zh-CN" dirty="0"/>
              <a:t>X→Y</a:t>
            </a:r>
            <a:r>
              <a:rPr lang="zh-CN" altLang="en-US" dirty="0"/>
              <a:t>，即称 </a:t>
            </a:r>
            <a:r>
              <a:rPr lang="zh-CN" altLang="en-US" dirty="0">
                <a:solidFill>
                  <a:srgbClr val="0000FF"/>
                </a:solidFill>
              </a:rPr>
              <a:t>属性</a:t>
            </a:r>
            <a:r>
              <a:rPr lang="en-US" altLang="zh-CN" dirty="0">
                <a:solidFill>
                  <a:srgbClr val="0000FF"/>
                </a:solidFill>
              </a:rPr>
              <a:t>Y </a:t>
            </a:r>
            <a:r>
              <a:rPr lang="zh-CN" altLang="en-US" dirty="0"/>
              <a:t>被 </a:t>
            </a:r>
            <a:r>
              <a:rPr lang="en-US" altLang="zh-CN" dirty="0">
                <a:solidFill>
                  <a:srgbClr val="0000FF"/>
                </a:solidFill>
              </a:rPr>
              <a:t>X</a:t>
            </a:r>
            <a:r>
              <a:rPr lang="en-US" altLang="zh-CN" dirty="0"/>
              <a:t> </a:t>
            </a:r>
            <a:r>
              <a:rPr lang="zh-CN" altLang="en-US" b="1" dirty="0"/>
              <a:t>函数决定</a:t>
            </a:r>
            <a:r>
              <a:rPr lang="zh-CN" altLang="en-US" dirty="0"/>
              <a:t>。</a:t>
            </a:r>
            <a:endParaRPr lang="en-US" altLang="zh-CN" dirty="0"/>
          </a:p>
          <a:p>
            <a:pPr>
              <a:spcBef>
                <a:spcPts val="1200"/>
              </a:spcBef>
              <a:buNone/>
            </a:pPr>
            <a:r>
              <a:rPr lang="en-US" altLang="zh-CN" dirty="0"/>
              <a:t> </a:t>
            </a:r>
            <a:r>
              <a:rPr lang="zh-CN" altLang="en-US" dirty="0"/>
              <a:t>那么给定关系模式</a:t>
            </a:r>
            <a:r>
              <a:rPr lang="en-US" altLang="zh-CN" dirty="0"/>
              <a:t>R(U, F), </a:t>
            </a:r>
            <a:r>
              <a:rPr lang="zh-CN" altLang="en-US" dirty="0"/>
              <a:t>在这个关系模式上</a:t>
            </a:r>
            <a:r>
              <a:rPr lang="zh-CN" altLang="en-US" b="1" dirty="0"/>
              <a:t>是否</a:t>
            </a:r>
            <a:r>
              <a:rPr lang="zh-CN" altLang="en-US" dirty="0"/>
              <a:t>可以</a:t>
            </a:r>
            <a:r>
              <a:rPr lang="zh-CN" altLang="en-US" b="1" dirty="0">
                <a:solidFill>
                  <a:srgbClr val="0000FF"/>
                </a:solidFill>
              </a:rPr>
              <a:t>计算</a:t>
            </a:r>
            <a:r>
              <a:rPr lang="zh-CN" altLang="en-US" dirty="0"/>
              <a:t>出</a:t>
            </a:r>
            <a:r>
              <a:rPr lang="en-US" altLang="zh-CN" dirty="0">
                <a:solidFill>
                  <a:srgbClr val="0000FF"/>
                </a:solidFill>
              </a:rPr>
              <a:t>X</a:t>
            </a:r>
            <a:r>
              <a:rPr lang="zh-CN" altLang="en-US" b="1" dirty="0">
                <a:solidFill>
                  <a:srgbClr val="FF0000"/>
                </a:solidFill>
              </a:rPr>
              <a:t>能决定的</a:t>
            </a:r>
            <a:r>
              <a:rPr lang="zh-CN" altLang="en-US" dirty="0">
                <a:solidFill>
                  <a:srgbClr val="0000FF"/>
                </a:solidFill>
              </a:rPr>
              <a:t>属性集</a:t>
            </a:r>
            <a:r>
              <a:rPr lang="zh-CN" altLang="en-US" dirty="0"/>
              <a:t>？</a:t>
            </a:r>
            <a:endParaRPr lang="en-US" altLang="zh-CN" dirty="0"/>
          </a:p>
          <a:p>
            <a:pPr>
              <a:buNone/>
            </a:pPr>
            <a:r>
              <a:rPr lang="en-US" altLang="zh-CN" dirty="0"/>
              <a:t> </a:t>
            </a:r>
            <a:r>
              <a:rPr lang="zh-CN" altLang="en-US" dirty="0"/>
              <a:t>如果已知</a:t>
            </a:r>
            <a:r>
              <a:rPr lang="en-US" altLang="zh-CN" dirty="0">
                <a:solidFill>
                  <a:srgbClr val="FF0000"/>
                </a:solidFill>
              </a:rPr>
              <a:t>F</a:t>
            </a:r>
            <a:r>
              <a:rPr lang="en-US" altLang="zh-CN" baseline="30000" dirty="0">
                <a:solidFill>
                  <a:srgbClr val="FF0000"/>
                </a:solidFill>
              </a:rPr>
              <a:t>+</a:t>
            </a:r>
            <a:r>
              <a:rPr lang="zh-CN" altLang="en-US" dirty="0"/>
              <a:t>，那么找出</a:t>
            </a:r>
            <a:r>
              <a:rPr lang="zh-CN" altLang="en-US" dirty="0">
                <a:solidFill>
                  <a:srgbClr val="0000FF"/>
                </a:solidFill>
              </a:rPr>
              <a:t>所有左侧为</a:t>
            </a:r>
            <a:r>
              <a:rPr lang="en-US" altLang="zh-CN" dirty="0">
                <a:solidFill>
                  <a:srgbClr val="0000FF"/>
                </a:solidFill>
              </a:rPr>
              <a:t>X</a:t>
            </a:r>
            <a:r>
              <a:rPr lang="zh-CN" altLang="en-US" dirty="0">
                <a:solidFill>
                  <a:srgbClr val="0000FF"/>
                </a:solidFill>
              </a:rPr>
              <a:t>的函数依赖</a:t>
            </a:r>
            <a:r>
              <a:rPr lang="zh-CN" altLang="en-US" dirty="0"/>
              <a:t>，然后</a:t>
            </a:r>
            <a:r>
              <a:rPr lang="zh-CN" altLang="en-US" u="sng" dirty="0"/>
              <a:t>合并所有这些函数依赖的右侧</a:t>
            </a:r>
            <a:r>
              <a:rPr lang="zh-CN" altLang="en-US" dirty="0"/>
              <a:t>即可。</a:t>
            </a:r>
            <a:endParaRPr lang="zh-CN" altLang="en-US" b="1" baseline="30000" dirty="0">
              <a:solidFill>
                <a:srgbClr val="FF0000"/>
              </a:solidFill>
            </a:endParaRPr>
          </a:p>
        </p:txBody>
      </p:sp>
      <p:sp>
        <p:nvSpPr>
          <p:cNvPr id="3" name="文本框 2">
            <a:extLst>
              <a:ext uri="{FF2B5EF4-FFF2-40B4-BE49-F238E27FC236}">
                <a16:creationId xmlns:a16="http://schemas.microsoft.com/office/drawing/2014/main" id="{A8532C1C-D944-6C78-CB59-F75417A38AD1}"/>
              </a:ext>
            </a:extLst>
          </p:cNvPr>
          <p:cNvSpPr txBox="1"/>
          <p:nvPr/>
        </p:nvSpPr>
        <p:spPr>
          <a:xfrm>
            <a:off x="6578877" y="5405838"/>
            <a:ext cx="1415773" cy="46166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dirty="0"/>
              <a:t>合并规则</a:t>
            </a:r>
          </a:p>
        </p:txBody>
      </p:sp>
      <p:sp>
        <p:nvSpPr>
          <p:cNvPr id="5" name="文本框 4">
            <a:extLst>
              <a:ext uri="{FF2B5EF4-FFF2-40B4-BE49-F238E27FC236}">
                <a16:creationId xmlns:a16="http://schemas.microsoft.com/office/drawing/2014/main" id="{037BBEEC-EA76-0931-F7FD-1FCD8B524B9B}"/>
              </a:ext>
            </a:extLst>
          </p:cNvPr>
          <p:cNvSpPr txBox="1"/>
          <p:nvPr/>
        </p:nvSpPr>
        <p:spPr>
          <a:xfrm>
            <a:off x="683568" y="5589240"/>
            <a:ext cx="4496744" cy="46166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dirty="0"/>
              <a:t>计算</a:t>
            </a:r>
            <a:r>
              <a:rPr lang="en-US" altLang="zh-CN" dirty="0"/>
              <a:t>F</a:t>
            </a:r>
            <a:r>
              <a:rPr lang="en-US" altLang="zh-CN" baseline="30000" dirty="0"/>
              <a:t>+</a:t>
            </a:r>
            <a:r>
              <a:rPr lang="zh-CN" altLang="en-US" dirty="0"/>
              <a:t>开销很大，</a:t>
            </a:r>
            <a:r>
              <a:rPr lang="en-US" altLang="zh-CN" dirty="0"/>
              <a:t>F</a:t>
            </a:r>
            <a:r>
              <a:rPr lang="en-US" altLang="zh-CN" baseline="30000" dirty="0"/>
              <a:t>+</a:t>
            </a:r>
            <a:r>
              <a:rPr lang="zh-CN" altLang="en-US" dirty="0"/>
              <a:t>可能很大。</a:t>
            </a:r>
          </a:p>
        </p:txBody>
      </p:sp>
      <p:sp>
        <p:nvSpPr>
          <p:cNvPr id="6" name="页脚占位符 5">
            <a:extLst>
              <a:ext uri="{FF2B5EF4-FFF2-40B4-BE49-F238E27FC236}">
                <a16:creationId xmlns:a16="http://schemas.microsoft.com/office/drawing/2014/main" id="{6426F5CF-8D14-701E-899E-47F3DBB92527}"/>
              </a:ext>
            </a:extLst>
          </p:cNvPr>
          <p:cNvSpPr>
            <a:spLocks noGrp="1"/>
          </p:cNvSpPr>
          <p:nvPr>
            <p:ph type="ftr" sz="quarter" idx="11"/>
          </p:nvPr>
        </p:nvSpPr>
        <p:spPr/>
        <p:txBody>
          <a:bodyPr/>
          <a:lstStyle/>
          <a:p>
            <a:r>
              <a:rPr lang="en-US" altLang="zh-CN"/>
              <a:t>《数据库系统概论》- 第6章</a:t>
            </a:r>
          </a:p>
        </p:txBody>
      </p:sp>
      <p:sp>
        <p:nvSpPr>
          <p:cNvPr id="7" name="灯片编号占位符 6">
            <a:extLst>
              <a:ext uri="{FF2B5EF4-FFF2-40B4-BE49-F238E27FC236}">
                <a16:creationId xmlns:a16="http://schemas.microsoft.com/office/drawing/2014/main" id="{1EF3394B-160B-75DC-7680-189CAEE96F47}"/>
              </a:ext>
            </a:extLst>
          </p:cNvPr>
          <p:cNvSpPr>
            <a:spLocks noGrp="1"/>
          </p:cNvSpPr>
          <p:nvPr>
            <p:ph type="sldNum" sz="quarter" idx="12"/>
          </p:nvPr>
        </p:nvSpPr>
        <p:spPr/>
        <p:txBody>
          <a:bodyPr/>
          <a:lstStyle/>
          <a:p>
            <a:fld id="{A2D74603-B40B-4D66-8F6E-41C870D48932}" type="slidenum">
              <a:rPr lang="en-US" altLang="zh-CN" smtClean="0"/>
              <a:pPr/>
              <a:t>108</a:t>
            </a:fld>
            <a:r>
              <a:rPr lang="en-US" altLang="zh-CN"/>
              <a:t>/162</a:t>
            </a:r>
            <a:endParaRPr lang="en-US" altLang="zh-CN" dirty="0"/>
          </a:p>
        </p:txBody>
      </p:sp>
    </p:spTree>
    <p:extLst>
      <p:ext uri="{BB962C8B-B14F-4D97-AF65-F5344CB8AC3E}">
        <p14:creationId xmlns:p14="http://schemas.microsoft.com/office/powerpoint/2010/main" val="25339946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11299">
                                            <p:txEl>
                                              <p:pRg st="4" end="4"/>
                                            </p:txEl>
                                          </p:spTgt>
                                        </p:tgtEl>
                                        <p:attrNameLst>
                                          <p:attrName>style.visibility</p:attrName>
                                        </p:attrNameLst>
                                      </p:cBhvr>
                                      <p:to>
                                        <p:strVal val="visible"/>
                                      </p:to>
                                    </p:set>
                                    <p:animEffect transition="in" filter="fade">
                                      <p:cBhvr>
                                        <p:cTn id="7" dur="1000"/>
                                        <p:tgtEl>
                                          <p:spTgt spid="311299">
                                            <p:txEl>
                                              <p:pRg st="4" end="4"/>
                                            </p:txEl>
                                          </p:spTgt>
                                        </p:tgtEl>
                                      </p:cBhvr>
                                    </p:animEffect>
                                    <p:anim calcmode="lin" valueType="num">
                                      <p:cBhvr>
                                        <p:cTn id="8" dur="1000" fill="hold"/>
                                        <p:tgtEl>
                                          <p:spTgt spid="311299">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31129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circle(in)">
                                      <p:cBhvr>
                                        <p:cTn id="14" dur="20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arn(inVertical)">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A9E55748-AD2E-407F-B1EC-FD58FF684E88}" type="datetime1">
              <a:rPr lang="zh-CN" altLang="en-US" smtClean="0"/>
              <a:t>2025/11/6</a:t>
            </a:fld>
            <a:endParaRPr lang="en-US" altLang="zh-CN"/>
          </a:p>
        </p:txBody>
      </p:sp>
      <p:sp>
        <p:nvSpPr>
          <p:cNvPr id="311298" name="Rectangle 2"/>
          <p:cNvSpPr>
            <a:spLocks noGrp="1" noChangeArrowheads="1"/>
          </p:cNvSpPr>
          <p:nvPr>
            <p:ph type="title"/>
          </p:nvPr>
        </p:nvSpPr>
        <p:spPr/>
        <p:txBody>
          <a:bodyPr/>
          <a:lstStyle/>
          <a:p>
            <a:r>
              <a:rPr lang="en-US" altLang="zh-CN"/>
              <a:t>Armstrong </a:t>
            </a:r>
            <a:r>
              <a:rPr lang="zh-CN" altLang="en-US"/>
              <a:t>公理系统</a:t>
            </a:r>
          </a:p>
        </p:txBody>
      </p:sp>
      <p:sp>
        <p:nvSpPr>
          <p:cNvPr id="311299" name="Rectangle 3"/>
          <p:cNvSpPr>
            <a:spLocks noGrp="1" noChangeArrowheads="1"/>
          </p:cNvSpPr>
          <p:nvPr>
            <p:ph type="body" idx="1"/>
          </p:nvPr>
        </p:nvSpPr>
        <p:spPr/>
        <p:txBody>
          <a:bodyPr/>
          <a:lstStyle/>
          <a:p>
            <a:pPr>
              <a:buNone/>
            </a:pPr>
            <a:r>
              <a:rPr lang="zh-CN" altLang="en-US" b="1" dirty="0"/>
              <a:t>定义</a:t>
            </a:r>
            <a:r>
              <a:rPr lang="en-US" altLang="zh-CN" dirty="0"/>
              <a:t>6.13 (</a:t>
            </a:r>
            <a:r>
              <a:rPr lang="zh-CN" altLang="en-US" dirty="0">
                <a:solidFill>
                  <a:srgbClr val="0000FF"/>
                </a:solidFill>
              </a:rPr>
              <a:t>属性集</a:t>
            </a:r>
            <a:r>
              <a:rPr lang="zh-CN" altLang="en-US" dirty="0">
                <a:solidFill>
                  <a:srgbClr val="FF0000"/>
                </a:solidFill>
              </a:rPr>
              <a:t>闭包</a:t>
            </a:r>
            <a:r>
              <a:rPr lang="en-US" altLang="zh-CN" dirty="0"/>
              <a:t>) </a:t>
            </a:r>
            <a:r>
              <a:rPr lang="en-US" altLang="zh-CN" b="1" dirty="0">
                <a:solidFill>
                  <a:srgbClr val="FF0000"/>
                </a:solidFill>
              </a:rPr>
              <a:t>X</a:t>
            </a:r>
            <a:r>
              <a:rPr lang="en-US" altLang="zh-CN" b="1" baseline="-25000" dirty="0">
                <a:solidFill>
                  <a:srgbClr val="FF0000"/>
                </a:solidFill>
              </a:rPr>
              <a:t>F</a:t>
            </a:r>
            <a:r>
              <a:rPr lang="en-US" altLang="zh-CN" b="1" baseline="30000" dirty="0">
                <a:solidFill>
                  <a:srgbClr val="FF0000"/>
                </a:solidFill>
              </a:rPr>
              <a:t>+</a:t>
            </a:r>
            <a:r>
              <a:rPr lang="zh-CN" altLang="en-US" b="1" dirty="0">
                <a:solidFill>
                  <a:srgbClr val="FF0000"/>
                </a:solidFill>
              </a:rPr>
              <a:t>的定义 </a:t>
            </a:r>
            <a:endParaRPr lang="en-US" altLang="zh-CN" b="1" dirty="0">
              <a:solidFill>
                <a:srgbClr val="FF0000"/>
              </a:solidFill>
            </a:endParaRPr>
          </a:p>
          <a:p>
            <a:pPr>
              <a:buNone/>
            </a:pPr>
            <a:r>
              <a:rPr lang="en-US" altLang="zh-CN" dirty="0"/>
              <a:t>  </a:t>
            </a:r>
            <a:r>
              <a:rPr lang="zh-CN" altLang="en-US" dirty="0"/>
              <a:t>给定关系模式</a:t>
            </a:r>
            <a:r>
              <a:rPr lang="en-US" altLang="zh-CN" dirty="0"/>
              <a:t>R(U, </a:t>
            </a:r>
            <a:r>
              <a:rPr lang="en-US" altLang="zh-CN" dirty="0">
                <a:solidFill>
                  <a:srgbClr val="0000FF"/>
                </a:solidFill>
              </a:rPr>
              <a:t>F</a:t>
            </a:r>
            <a:r>
              <a:rPr lang="en-US" altLang="zh-CN" dirty="0"/>
              <a:t>), </a:t>
            </a:r>
            <a:r>
              <a:rPr lang="en-US" altLang="zh-CN" dirty="0">
                <a:solidFill>
                  <a:srgbClr val="FF0000"/>
                </a:solidFill>
              </a:rPr>
              <a:t>X </a:t>
            </a:r>
            <a:r>
              <a:rPr lang="en-US" altLang="zh-CN" dirty="0">
                <a:solidFill>
                  <a:srgbClr val="FF0000"/>
                </a:solidFill>
                <a:sym typeface="Symbol" pitchFamily="18" charset="2"/>
              </a:rPr>
              <a:t> U</a:t>
            </a:r>
            <a:r>
              <a:rPr lang="en-US" altLang="zh-CN" dirty="0">
                <a:sym typeface="Symbol" pitchFamily="18" charset="2"/>
              </a:rPr>
              <a:t>, </a:t>
            </a:r>
            <a:r>
              <a:rPr lang="zh-CN" altLang="en-US" dirty="0">
                <a:sym typeface="Symbol" pitchFamily="18" charset="2"/>
              </a:rPr>
              <a:t>我们将</a:t>
            </a:r>
            <a:r>
              <a:rPr lang="en-US" altLang="zh-CN" dirty="0"/>
              <a:t>X</a:t>
            </a:r>
            <a:r>
              <a:rPr lang="zh-CN" altLang="en-US" b="1" dirty="0">
                <a:solidFill>
                  <a:srgbClr val="006600"/>
                </a:solidFill>
              </a:rPr>
              <a:t>所能函数决定</a:t>
            </a:r>
            <a:r>
              <a:rPr lang="zh-CN" altLang="en-US" dirty="0"/>
              <a:t>的</a:t>
            </a:r>
            <a:r>
              <a:rPr lang="zh-CN" altLang="en-US" dirty="0">
                <a:solidFill>
                  <a:srgbClr val="0000FF"/>
                </a:solidFill>
              </a:rPr>
              <a:t>全体属性的集合，</a:t>
            </a:r>
            <a:r>
              <a:rPr lang="zh-CN" altLang="en-US" dirty="0"/>
              <a:t>称作</a:t>
            </a:r>
            <a:r>
              <a:rPr lang="en-US" altLang="zh-CN" dirty="0">
                <a:solidFill>
                  <a:srgbClr val="0000FF"/>
                </a:solidFill>
              </a:rPr>
              <a:t>F</a:t>
            </a:r>
            <a:r>
              <a:rPr lang="zh-CN" altLang="en-US" dirty="0"/>
              <a:t>下属性集</a:t>
            </a:r>
            <a:r>
              <a:rPr lang="en-US" altLang="zh-CN" dirty="0">
                <a:solidFill>
                  <a:srgbClr val="0000FF"/>
                </a:solidFill>
              </a:rPr>
              <a:t>X</a:t>
            </a:r>
            <a:r>
              <a:rPr lang="zh-CN" altLang="en-US" dirty="0">
                <a:solidFill>
                  <a:srgbClr val="0000FF"/>
                </a:solidFill>
              </a:rPr>
              <a:t>的闭包</a:t>
            </a:r>
            <a:r>
              <a:rPr lang="zh-CN" altLang="en-US" dirty="0">
                <a:solidFill>
                  <a:schemeClr val="tx2"/>
                </a:solidFill>
              </a:rPr>
              <a:t>，表示为</a:t>
            </a:r>
            <a:r>
              <a:rPr lang="en-US" altLang="zh-CN" dirty="0">
                <a:solidFill>
                  <a:srgbClr val="FF6600"/>
                </a:solidFill>
              </a:rPr>
              <a:t>X</a:t>
            </a:r>
            <a:r>
              <a:rPr lang="en-US" altLang="zh-CN" baseline="-25000" dirty="0">
                <a:solidFill>
                  <a:srgbClr val="FF6600"/>
                </a:solidFill>
              </a:rPr>
              <a:t>F</a:t>
            </a:r>
            <a:r>
              <a:rPr lang="en-US" altLang="zh-CN" baseline="30000" dirty="0">
                <a:solidFill>
                  <a:srgbClr val="FF6600"/>
                </a:solidFill>
              </a:rPr>
              <a:t>+</a:t>
            </a:r>
            <a:r>
              <a:rPr lang="zh-CN" altLang="en-US" dirty="0">
                <a:solidFill>
                  <a:srgbClr val="000080"/>
                </a:solidFill>
                <a:sym typeface="Symbol" pitchFamily="18" charset="2"/>
              </a:rPr>
              <a:t>。</a:t>
            </a:r>
            <a:endParaRPr lang="en-US" altLang="zh-CN" dirty="0">
              <a:solidFill>
                <a:srgbClr val="000080"/>
              </a:solidFill>
              <a:sym typeface="Symbol" pitchFamily="18" charset="2"/>
            </a:endParaRPr>
          </a:p>
          <a:p>
            <a:pPr>
              <a:buFont typeface="Wingdings" pitchFamily="2" charset="2"/>
              <a:buNone/>
            </a:pPr>
            <a:endParaRPr lang="en-US" altLang="zh-CN" dirty="0">
              <a:solidFill>
                <a:srgbClr val="FF0000"/>
              </a:solidFill>
            </a:endParaRPr>
          </a:p>
        </p:txBody>
      </p:sp>
      <p:sp>
        <p:nvSpPr>
          <p:cNvPr id="5" name="文本框 4">
            <a:extLst>
              <a:ext uri="{FF2B5EF4-FFF2-40B4-BE49-F238E27FC236}">
                <a16:creationId xmlns:a16="http://schemas.microsoft.com/office/drawing/2014/main" id="{722C5FE5-C245-0050-A231-40B89D080120}"/>
              </a:ext>
            </a:extLst>
          </p:cNvPr>
          <p:cNvSpPr txBox="1"/>
          <p:nvPr/>
        </p:nvSpPr>
        <p:spPr>
          <a:xfrm>
            <a:off x="729954" y="3717032"/>
            <a:ext cx="8104779" cy="1569660"/>
          </a:xfrm>
          <a:prstGeom prst="rect">
            <a:avLst/>
          </a:prstGeom>
          <a:noFill/>
        </p:spPr>
        <p:txBody>
          <a:bodyPr wrap="square">
            <a:spAutoFit/>
          </a:bodyPr>
          <a:lstStyle/>
          <a:p>
            <a:pPr algn="l">
              <a:buNone/>
            </a:pPr>
            <a:r>
              <a:rPr lang="zh-CN" altLang="en-US" sz="3200" b="1" dirty="0">
                <a:solidFill>
                  <a:srgbClr val="FF6600"/>
                </a:solidFill>
              </a:rPr>
              <a:t>也即：</a:t>
            </a:r>
            <a:r>
              <a:rPr lang="en-US" altLang="zh-CN" sz="3200" b="1" dirty="0">
                <a:solidFill>
                  <a:srgbClr val="FF6600"/>
                </a:solidFill>
              </a:rPr>
              <a:t>X</a:t>
            </a:r>
            <a:r>
              <a:rPr lang="en-US" altLang="zh-CN" sz="3200" b="1" baseline="-25000" dirty="0">
                <a:solidFill>
                  <a:srgbClr val="FF6600"/>
                </a:solidFill>
              </a:rPr>
              <a:t>F</a:t>
            </a:r>
            <a:r>
              <a:rPr lang="en-US" altLang="zh-CN" sz="3200" b="1" baseline="30000" dirty="0">
                <a:solidFill>
                  <a:srgbClr val="FF6600"/>
                </a:solidFill>
              </a:rPr>
              <a:t>+</a:t>
            </a:r>
            <a:r>
              <a:rPr lang="en-US" altLang="zh-CN" sz="3200" dirty="0">
                <a:solidFill>
                  <a:srgbClr val="000080"/>
                </a:solidFill>
                <a:sym typeface="Symbol" pitchFamily="18" charset="2"/>
              </a:rPr>
              <a:t> </a:t>
            </a:r>
            <a:r>
              <a:rPr lang="zh-CN" altLang="en-US" sz="3200" dirty="0">
                <a:sym typeface="Symbol" pitchFamily="18" charset="2"/>
              </a:rPr>
              <a:t>＝ </a:t>
            </a:r>
            <a:r>
              <a:rPr lang="en-US" altLang="zh-CN" sz="3200" dirty="0">
                <a:sym typeface="Symbol" pitchFamily="18" charset="2"/>
              </a:rPr>
              <a:t>{</a:t>
            </a:r>
            <a:r>
              <a:rPr lang="en-US" altLang="zh-CN" sz="3200" dirty="0">
                <a:solidFill>
                  <a:schemeClr val="tx2"/>
                </a:solidFill>
                <a:sym typeface="Symbol" pitchFamily="18" charset="2"/>
              </a:rPr>
              <a:t>A</a:t>
            </a:r>
            <a:r>
              <a:rPr lang="en-US" altLang="zh-CN" sz="3200" dirty="0">
                <a:sym typeface="Symbol" pitchFamily="18" charset="2"/>
              </a:rPr>
              <a:t>|</a:t>
            </a:r>
            <a:r>
              <a:rPr lang="en-US" altLang="zh-CN" sz="3200" dirty="0">
                <a:solidFill>
                  <a:srgbClr val="FF0000"/>
                </a:solidFill>
                <a:sym typeface="Symbol" pitchFamily="18" charset="2"/>
              </a:rPr>
              <a:t>X</a:t>
            </a:r>
            <a:r>
              <a:rPr lang="en-US" altLang="zh-CN" sz="3200" dirty="0">
                <a:solidFill>
                  <a:srgbClr val="FF0000"/>
                </a:solidFill>
                <a:latin typeface="宋体" pitchFamily="2" charset="-122"/>
              </a:rPr>
              <a:t>→</a:t>
            </a:r>
            <a:r>
              <a:rPr lang="en-US" altLang="zh-CN" sz="3200" dirty="0">
                <a:solidFill>
                  <a:schemeClr val="tx2"/>
                </a:solidFill>
                <a:sym typeface="Symbol" pitchFamily="18" charset="2"/>
              </a:rPr>
              <a:t>A</a:t>
            </a:r>
            <a:r>
              <a:rPr lang="zh-CN" altLang="en-US" sz="3200" dirty="0">
                <a:sym typeface="Symbol" pitchFamily="18" charset="2"/>
              </a:rPr>
              <a:t>能</a:t>
            </a:r>
            <a:r>
              <a:rPr lang="zh-CN" altLang="en-US" sz="3200" dirty="0">
                <a:solidFill>
                  <a:srgbClr val="0000FF"/>
                </a:solidFill>
                <a:sym typeface="Symbol" pitchFamily="18" charset="2"/>
              </a:rPr>
              <a:t>由</a:t>
            </a:r>
            <a:r>
              <a:rPr lang="en-US" altLang="zh-CN" sz="3200" dirty="0">
                <a:solidFill>
                  <a:srgbClr val="C00000"/>
                </a:solidFill>
                <a:sym typeface="Symbol" pitchFamily="18" charset="2"/>
              </a:rPr>
              <a:t>F</a:t>
            </a:r>
            <a:r>
              <a:rPr lang="zh-CN" altLang="en-US" sz="3200" dirty="0">
                <a:solidFill>
                  <a:srgbClr val="0000FF"/>
                </a:solidFill>
                <a:sym typeface="Symbol" pitchFamily="18" charset="2"/>
              </a:rPr>
              <a:t>根据</a:t>
            </a:r>
            <a:r>
              <a:rPr lang="en-US" altLang="zh-CN" sz="3200" dirty="0">
                <a:solidFill>
                  <a:srgbClr val="0000FF"/>
                </a:solidFill>
                <a:sym typeface="Symbol" pitchFamily="18" charset="2"/>
              </a:rPr>
              <a:t>Armstrong</a:t>
            </a:r>
            <a:r>
              <a:rPr lang="zh-CN" altLang="en-US" sz="3200" dirty="0">
                <a:solidFill>
                  <a:srgbClr val="0000FF"/>
                </a:solidFill>
                <a:sym typeface="Symbol" pitchFamily="18" charset="2"/>
              </a:rPr>
              <a:t>公理</a:t>
            </a:r>
            <a:r>
              <a:rPr lang="zh-CN" altLang="en-US" sz="3200" dirty="0">
                <a:solidFill>
                  <a:srgbClr val="C00000"/>
                </a:solidFill>
                <a:sym typeface="Symbol" pitchFamily="18" charset="2"/>
              </a:rPr>
              <a:t>导出</a:t>
            </a:r>
            <a:r>
              <a:rPr lang="en-US" altLang="zh-CN" sz="3200" dirty="0">
                <a:sym typeface="Symbol" pitchFamily="18" charset="2"/>
              </a:rPr>
              <a:t>}</a:t>
            </a:r>
            <a:r>
              <a:rPr lang="zh-CN" altLang="en-US" sz="3200" dirty="0">
                <a:sym typeface="Symbol" pitchFamily="18" charset="2"/>
              </a:rPr>
              <a:t>，</a:t>
            </a:r>
            <a:r>
              <a:rPr lang="en-US" altLang="zh-CN" sz="3200" dirty="0">
                <a:solidFill>
                  <a:srgbClr val="FF6600"/>
                </a:solidFill>
              </a:rPr>
              <a:t> X</a:t>
            </a:r>
            <a:r>
              <a:rPr lang="en-US" altLang="zh-CN" sz="3200" baseline="-25000" dirty="0">
                <a:solidFill>
                  <a:srgbClr val="FF6600"/>
                </a:solidFill>
              </a:rPr>
              <a:t>F</a:t>
            </a:r>
            <a:r>
              <a:rPr lang="en-US" altLang="zh-CN" sz="3200" baseline="30000" dirty="0">
                <a:solidFill>
                  <a:srgbClr val="FF6600"/>
                </a:solidFill>
              </a:rPr>
              <a:t>+ </a:t>
            </a:r>
            <a:r>
              <a:rPr lang="zh-CN" altLang="en-US" sz="3200" dirty="0">
                <a:solidFill>
                  <a:srgbClr val="FF6600"/>
                </a:solidFill>
              </a:rPr>
              <a:t>亦</a:t>
            </a:r>
            <a:r>
              <a:rPr lang="zh-CN" altLang="en-US" sz="3200" dirty="0"/>
              <a:t>称为</a:t>
            </a:r>
            <a:r>
              <a:rPr lang="zh-CN" altLang="en-US" sz="3200" dirty="0">
                <a:solidFill>
                  <a:schemeClr val="tx2"/>
                </a:solidFill>
              </a:rPr>
              <a:t>属性集</a:t>
            </a:r>
            <a:r>
              <a:rPr lang="en-US" altLang="zh-CN" sz="3200" dirty="0">
                <a:solidFill>
                  <a:schemeClr val="tx2"/>
                </a:solidFill>
              </a:rPr>
              <a:t>X</a:t>
            </a:r>
            <a:r>
              <a:rPr lang="zh-CN" altLang="en-US" sz="3200" u="sng" dirty="0"/>
              <a:t>关于函数依赖集</a:t>
            </a:r>
            <a:r>
              <a:rPr lang="en-US" altLang="zh-CN" sz="3200" u="sng" dirty="0"/>
              <a:t>F</a:t>
            </a:r>
            <a:r>
              <a:rPr lang="zh-CN" altLang="en-US" sz="3200" dirty="0"/>
              <a:t>的</a:t>
            </a:r>
            <a:r>
              <a:rPr lang="zh-CN" altLang="en-US" sz="3200" dirty="0">
                <a:solidFill>
                  <a:schemeClr val="tx2"/>
                </a:solidFill>
              </a:rPr>
              <a:t>闭包</a:t>
            </a:r>
            <a:r>
              <a:rPr lang="zh-CN" altLang="en-US" sz="3200" dirty="0"/>
              <a:t>。</a:t>
            </a:r>
            <a:endParaRPr lang="en-US" altLang="zh-CN" sz="3200" dirty="0"/>
          </a:p>
        </p:txBody>
      </p:sp>
      <p:sp>
        <p:nvSpPr>
          <p:cNvPr id="3" name="页脚占位符 2">
            <a:extLst>
              <a:ext uri="{FF2B5EF4-FFF2-40B4-BE49-F238E27FC236}">
                <a16:creationId xmlns:a16="http://schemas.microsoft.com/office/drawing/2014/main" id="{C523D616-7284-34B9-2B99-FC4C509F357E}"/>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79204E6A-3055-0134-F24A-DF20B4E031E1}"/>
              </a:ext>
            </a:extLst>
          </p:cNvPr>
          <p:cNvSpPr>
            <a:spLocks noGrp="1"/>
          </p:cNvSpPr>
          <p:nvPr>
            <p:ph type="sldNum" sz="quarter" idx="12"/>
          </p:nvPr>
        </p:nvSpPr>
        <p:spPr/>
        <p:txBody>
          <a:bodyPr/>
          <a:lstStyle/>
          <a:p>
            <a:fld id="{A2D74603-B40B-4D66-8F6E-41C870D48932}" type="slidenum">
              <a:rPr lang="en-US" altLang="zh-CN" smtClean="0"/>
              <a:pPr/>
              <a:t>109</a:t>
            </a:fld>
            <a:r>
              <a:rPr lang="en-US" altLang="zh-CN"/>
              <a:t>/162</a:t>
            </a:r>
            <a:endParaRPr lang="en-US" altLang="zh-CN" dirty="0"/>
          </a:p>
        </p:txBody>
      </p:sp>
    </p:spTree>
    <p:extLst>
      <p:ext uri="{BB962C8B-B14F-4D97-AF65-F5344CB8AC3E}">
        <p14:creationId xmlns:p14="http://schemas.microsoft.com/office/powerpoint/2010/main" val="12939819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1299">
                                            <p:txEl>
                                              <p:pRg st="1" end="1"/>
                                            </p:txEl>
                                          </p:spTgt>
                                        </p:tgtEl>
                                        <p:attrNameLst>
                                          <p:attrName>style.visibility</p:attrName>
                                        </p:attrNameLst>
                                      </p:cBhvr>
                                      <p:to>
                                        <p:strVal val="visible"/>
                                      </p:to>
                                    </p:set>
                                    <p:anim calcmode="lin" valueType="num">
                                      <p:cBhvr additive="base">
                                        <p:cTn id="7" dur="500" fill="hold"/>
                                        <p:tgtEl>
                                          <p:spTgt spid="31129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12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3D90949-7180-4888-9260-FD1594115FF0}" type="datetime1">
              <a:rPr lang="zh-CN" altLang="en-US" smtClean="0"/>
              <a:t>2025/11/6</a:t>
            </a:fld>
            <a:endParaRPr lang="en-US" altLang="zh-CN"/>
          </a:p>
        </p:txBody>
      </p:sp>
      <p:sp>
        <p:nvSpPr>
          <p:cNvPr id="312322" name="Rectangle 2"/>
          <p:cNvSpPr>
            <a:spLocks noGrp="1" noChangeArrowheads="1"/>
          </p:cNvSpPr>
          <p:nvPr>
            <p:ph type="title"/>
          </p:nvPr>
        </p:nvSpPr>
        <p:spPr/>
        <p:txBody>
          <a:bodyPr/>
          <a:lstStyle/>
          <a:p>
            <a:r>
              <a:rPr lang="zh-CN" altLang="en-US" dirty="0"/>
              <a:t>算法</a:t>
            </a:r>
            <a:r>
              <a:rPr lang="en-US" altLang="zh-CN" dirty="0"/>
              <a:t>2 </a:t>
            </a:r>
            <a:r>
              <a:rPr lang="zh-CN" altLang="en-US" dirty="0"/>
              <a:t>求</a:t>
            </a:r>
            <a:r>
              <a:rPr lang="en-US" altLang="zh-CN" dirty="0"/>
              <a:t>X</a:t>
            </a:r>
            <a:r>
              <a:rPr lang="en-US" altLang="zh-CN" baseline="-25000" dirty="0"/>
              <a:t>F</a:t>
            </a:r>
            <a:r>
              <a:rPr lang="en-US" altLang="zh-CN" baseline="30000" dirty="0"/>
              <a:t>+</a:t>
            </a:r>
            <a:r>
              <a:rPr lang="zh-CN" altLang="en-US" dirty="0"/>
              <a:t>的方法 </a:t>
            </a:r>
            <a:r>
              <a:rPr lang="en-US" altLang="zh-CN" dirty="0"/>
              <a:t>-- </a:t>
            </a:r>
            <a:r>
              <a:rPr lang="zh-CN" altLang="en-US" dirty="0"/>
              <a:t>非常重要</a:t>
            </a:r>
          </a:p>
        </p:txBody>
      </p:sp>
      <p:sp>
        <p:nvSpPr>
          <p:cNvPr id="312323" name="Rectangle 3"/>
          <p:cNvSpPr>
            <a:spLocks noGrp="1" noChangeArrowheads="1"/>
          </p:cNvSpPr>
          <p:nvPr>
            <p:ph type="body" idx="1"/>
          </p:nvPr>
        </p:nvSpPr>
        <p:spPr/>
        <p:txBody>
          <a:bodyPr/>
          <a:lstStyle/>
          <a:p>
            <a:r>
              <a:rPr lang="zh-CN" altLang="en-US" sz="3400" dirty="0">
                <a:sym typeface="Greek Symbols" pitchFamily="18" charset="2"/>
              </a:rPr>
              <a:t>计算 </a:t>
            </a:r>
            <a:r>
              <a:rPr lang="en-US" altLang="zh-CN" sz="3400" dirty="0">
                <a:sym typeface="Greek Symbols" pitchFamily="18" charset="2"/>
              </a:rPr>
              <a:t>X</a:t>
            </a:r>
            <a:r>
              <a:rPr lang="en-US" altLang="zh-CN" sz="3400" baseline="-25000" dirty="0">
                <a:sym typeface="Greek Symbols" pitchFamily="18" charset="2"/>
              </a:rPr>
              <a:t>F</a:t>
            </a:r>
            <a:r>
              <a:rPr lang="en-US" altLang="zh-CN" sz="3400" baseline="30000" dirty="0">
                <a:sym typeface="Greek Symbols" pitchFamily="18" charset="2"/>
              </a:rPr>
              <a:t>+</a:t>
            </a:r>
            <a:r>
              <a:rPr lang="zh-CN" altLang="en-US" sz="3400" dirty="0">
                <a:sym typeface="Greek Symbols" pitchFamily="18" charset="2"/>
              </a:rPr>
              <a:t>，</a:t>
            </a:r>
            <a:r>
              <a:rPr lang="zh-CN" altLang="en-US" sz="3400" dirty="0">
                <a:solidFill>
                  <a:srgbClr val="FF3300"/>
                </a:solidFill>
                <a:sym typeface="Greek Symbols" pitchFamily="18" charset="2"/>
              </a:rPr>
              <a:t>滚雪球算法</a:t>
            </a:r>
          </a:p>
          <a:p>
            <a:pPr>
              <a:buFont typeface="Wingdings" pitchFamily="2" charset="2"/>
              <a:buNone/>
            </a:pPr>
            <a:endParaRPr lang="en-US" altLang="zh-CN" sz="2400" i="1" dirty="0">
              <a:sym typeface="Greek Symbols" pitchFamily="18" charset="2"/>
            </a:endParaRPr>
          </a:p>
          <a:p>
            <a:pPr>
              <a:buNone/>
            </a:pPr>
            <a:r>
              <a:rPr lang="en-US" altLang="zh-CN" sz="2400" dirty="0">
                <a:solidFill>
                  <a:srgbClr val="C00000"/>
                </a:solidFill>
                <a:sym typeface="Greek Symbols" pitchFamily="18" charset="2"/>
              </a:rPr>
              <a:t>result</a:t>
            </a:r>
            <a:r>
              <a:rPr lang="en-US" altLang="zh-CN" sz="2400" i="1" dirty="0">
                <a:sym typeface="Greek Symbols" pitchFamily="18" charset="2"/>
              </a:rPr>
              <a:t> </a:t>
            </a:r>
            <a:r>
              <a:rPr lang="en-US" altLang="zh-CN" sz="2400" dirty="0">
                <a:sym typeface="Greek Symbols" pitchFamily="18" charset="2"/>
              </a:rPr>
              <a:t>:= X;  </a:t>
            </a:r>
            <a:r>
              <a:rPr lang="en-US" altLang="zh-CN" sz="2400" dirty="0">
                <a:solidFill>
                  <a:srgbClr val="FF3300"/>
                </a:solidFill>
                <a:sym typeface="Greek Symbols" pitchFamily="18" charset="2"/>
              </a:rPr>
              <a:t>//</a:t>
            </a:r>
            <a:r>
              <a:rPr lang="zh-CN" altLang="en-US" sz="2400" dirty="0">
                <a:sym typeface="Greek Symbols" pitchFamily="18" charset="2"/>
              </a:rPr>
              <a:t>从</a:t>
            </a:r>
            <a:r>
              <a:rPr lang="en-US" altLang="zh-CN" sz="2400" dirty="0">
                <a:sym typeface="Greek Symbols" pitchFamily="18" charset="2"/>
              </a:rPr>
              <a:t>X </a:t>
            </a:r>
            <a:r>
              <a:rPr lang="zh-CN" altLang="en-US" sz="2400" dirty="0">
                <a:sym typeface="Greek Symbols" pitchFamily="18" charset="2"/>
              </a:rPr>
              <a:t>开始</a:t>
            </a:r>
            <a:r>
              <a:rPr lang="en-US" altLang="zh-CN" sz="2400" dirty="0">
                <a:sym typeface="Greek Symbols" pitchFamily="18" charset="2"/>
              </a:rPr>
              <a:t>, </a:t>
            </a:r>
            <a:r>
              <a:rPr lang="en-US" altLang="zh-CN" sz="2400" dirty="0">
                <a:solidFill>
                  <a:srgbClr val="FF3300"/>
                </a:solidFill>
                <a:sym typeface="Greek Symbols" pitchFamily="18" charset="2"/>
              </a:rPr>
              <a:t>X</a:t>
            </a:r>
            <a:r>
              <a:rPr lang="en-US" altLang="zh-CN" sz="2400" dirty="0">
                <a:solidFill>
                  <a:schemeClr val="tx2"/>
                </a:solidFill>
                <a:sym typeface="Symbol" pitchFamily="18" charset="2"/>
              </a:rPr>
              <a:t>X</a:t>
            </a:r>
            <a:endParaRPr lang="zh-CN" altLang="en-US" sz="2400" dirty="0">
              <a:solidFill>
                <a:srgbClr val="FF3300"/>
              </a:solidFill>
              <a:sym typeface="Greek Symbols" pitchFamily="18" charset="2"/>
            </a:endParaRPr>
          </a:p>
          <a:p>
            <a:pPr>
              <a:buNone/>
            </a:pPr>
            <a:r>
              <a:rPr lang="en-US" altLang="zh-CN" sz="2400" b="1" dirty="0">
                <a:sym typeface="Greek Symbols" pitchFamily="18" charset="2"/>
              </a:rPr>
              <a:t>while</a:t>
            </a:r>
            <a:r>
              <a:rPr lang="en-US" altLang="zh-CN" sz="2400" dirty="0">
                <a:sym typeface="Greek Symbols" pitchFamily="18" charset="2"/>
              </a:rPr>
              <a:t> (changes to </a:t>
            </a:r>
            <a:r>
              <a:rPr lang="en-US" altLang="zh-CN" sz="2400" dirty="0">
                <a:solidFill>
                  <a:srgbClr val="C00000"/>
                </a:solidFill>
                <a:sym typeface="Greek Symbols" pitchFamily="18" charset="2"/>
              </a:rPr>
              <a:t>result</a:t>
            </a:r>
            <a:r>
              <a:rPr lang="en-US" altLang="zh-CN" sz="2400" i="1" dirty="0">
                <a:solidFill>
                  <a:srgbClr val="C00000"/>
                </a:solidFill>
                <a:sym typeface="Greek Symbols" pitchFamily="18" charset="2"/>
              </a:rPr>
              <a:t> </a:t>
            </a:r>
            <a:r>
              <a:rPr lang="en-US" altLang="zh-CN" sz="2400" dirty="0">
                <a:sym typeface="Greek Symbols" pitchFamily="18" charset="2"/>
              </a:rPr>
              <a:t>)  </a:t>
            </a:r>
            <a:r>
              <a:rPr lang="en-US" altLang="zh-CN" sz="2400" b="1" dirty="0">
                <a:sym typeface="Greek Symbols" pitchFamily="18" charset="2"/>
              </a:rPr>
              <a:t>do</a:t>
            </a:r>
            <a:br>
              <a:rPr lang="en-US" altLang="zh-CN" sz="2400" b="1" dirty="0">
                <a:sym typeface="Greek Symbols" pitchFamily="18" charset="2"/>
              </a:rPr>
            </a:br>
            <a:r>
              <a:rPr lang="en-US" altLang="zh-CN" sz="2400" b="1" dirty="0">
                <a:sym typeface="Greek Symbols" pitchFamily="18" charset="2"/>
              </a:rPr>
              <a:t>for </a:t>
            </a:r>
            <a:r>
              <a:rPr lang="en-US" altLang="zh-CN" sz="2400" b="1" dirty="0">
                <a:solidFill>
                  <a:srgbClr val="339933"/>
                </a:solidFill>
                <a:sym typeface="Greek Symbols" pitchFamily="18" charset="2"/>
              </a:rPr>
              <a:t>each</a:t>
            </a:r>
            <a:r>
              <a:rPr lang="en-US" altLang="zh-CN" sz="2400" b="1" dirty="0">
                <a:sym typeface="Greek Symbols" pitchFamily="18" charset="2"/>
              </a:rPr>
              <a:t> </a:t>
            </a:r>
            <a:r>
              <a:rPr lang="en-US" altLang="zh-CN" sz="2400" dirty="0">
                <a:solidFill>
                  <a:srgbClr val="0000FF"/>
                </a:solidFill>
                <a:sym typeface="Symbol" pitchFamily="18" charset="2"/>
              </a:rPr>
              <a:t>VW</a:t>
            </a:r>
            <a:r>
              <a:rPr lang="en-US" altLang="zh-CN" sz="2400" dirty="0">
                <a:solidFill>
                  <a:srgbClr val="339933"/>
                </a:solidFill>
                <a:sym typeface="Greek Symbols" pitchFamily="18" charset="2"/>
              </a:rPr>
              <a:t> </a:t>
            </a:r>
            <a:r>
              <a:rPr lang="en-US" altLang="zh-CN" sz="2400" b="1" dirty="0">
                <a:solidFill>
                  <a:srgbClr val="FF0000"/>
                </a:solidFill>
                <a:sym typeface="Greek Symbols" pitchFamily="18" charset="2"/>
              </a:rPr>
              <a:t>in</a:t>
            </a:r>
            <a:r>
              <a:rPr lang="en-US" altLang="zh-CN" sz="2400" i="1" dirty="0">
                <a:solidFill>
                  <a:schemeClr val="tx2"/>
                </a:solidFill>
                <a:sym typeface="Greek Symbols" pitchFamily="18" charset="2"/>
              </a:rPr>
              <a:t> </a:t>
            </a:r>
            <a:r>
              <a:rPr lang="en-US" altLang="zh-CN" sz="2400" dirty="0">
                <a:solidFill>
                  <a:srgbClr val="0000FF"/>
                </a:solidFill>
                <a:sym typeface="Greek Symbols" pitchFamily="18" charset="2"/>
              </a:rPr>
              <a:t>F</a:t>
            </a:r>
            <a:r>
              <a:rPr lang="en-US" altLang="zh-CN" sz="2400" b="1" dirty="0">
                <a:solidFill>
                  <a:srgbClr val="0000FF"/>
                </a:solidFill>
                <a:sym typeface="Greek Symbols" pitchFamily="18" charset="2"/>
              </a:rPr>
              <a:t> </a:t>
            </a:r>
            <a:r>
              <a:rPr lang="en-US" altLang="zh-CN" sz="2400" b="1" dirty="0">
                <a:sym typeface="Greek Symbols" pitchFamily="18" charset="2"/>
              </a:rPr>
              <a:t>do</a:t>
            </a:r>
            <a:br>
              <a:rPr lang="en-US" altLang="zh-CN" sz="2400" b="1" dirty="0">
                <a:sym typeface="Greek Symbols" pitchFamily="18" charset="2"/>
              </a:rPr>
            </a:br>
            <a:r>
              <a:rPr lang="en-US" altLang="zh-CN" sz="2400" b="1" dirty="0">
                <a:sym typeface="Greek Symbols" pitchFamily="18" charset="2"/>
              </a:rPr>
              <a:t>begin</a:t>
            </a:r>
            <a:br>
              <a:rPr lang="en-US" altLang="zh-CN" sz="2400" b="1" dirty="0">
                <a:sym typeface="Greek Symbols" pitchFamily="18" charset="2"/>
              </a:rPr>
            </a:br>
            <a:r>
              <a:rPr lang="en-US" altLang="zh-CN" sz="2400" b="1" dirty="0">
                <a:sym typeface="Greek Symbols" pitchFamily="18" charset="2"/>
              </a:rPr>
              <a:t>	if </a:t>
            </a:r>
            <a:r>
              <a:rPr lang="en-US" altLang="zh-CN" sz="2400" dirty="0">
                <a:sym typeface="Symbol" pitchFamily="18" charset="2"/>
              </a:rPr>
              <a:t>V</a:t>
            </a:r>
            <a:r>
              <a:rPr lang="en-US" altLang="zh-CN" sz="2400" b="1" dirty="0">
                <a:solidFill>
                  <a:srgbClr val="FF0000"/>
                </a:solidFill>
                <a:sym typeface="Symbol" pitchFamily="18" charset="2"/>
              </a:rPr>
              <a:t></a:t>
            </a:r>
            <a:r>
              <a:rPr lang="en-US" altLang="zh-CN" sz="2400" dirty="0">
                <a:sym typeface="Symbol" pitchFamily="18" charset="2"/>
              </a:rPr>
              <a:t> </a:t>
            </a:r>
            <a:r>
              <a:rPr lang="en-US" altLang="zh-CN" sz="2400" i="1" dirty="0">
                <a:sym typeface="Symbol" pitchFamily="18" charset="2"/>
              </a:rPr>
              <a:t>result</a:t>
            </a:r>
            <a:r>
              <a:rPr lang="en-US" altLang="zh-CN" sz="2400" b="1" dirty="0">
                <a:sym typeface="Symbol" pitchFamily="18" charset="2"/>
              </a:rPr>
              <a:t>   </a:t>
            </a:r>
            <a:r>
              <a:rPr lang="en-US" altLang="zh-CN" sz="2000" dirty="0">
                <a:sym typeface="Symbol" pitchFamily="18" charset="2"/>
              </a:rPr>
              <a:t>//</a:t>
            </a:r>
            <a:r>
              <a:rPr lang="zh-CN" altLang="en-US" sz="1800" dirty="0">
                <a:sym typeface="Symbol" pitchFamily="18" charset="2"/>
              </a:rPr>
              <a:t>只要</a:t>
            </a:r>
            <a:r>
              <a:rPr lang="en-US" altLang="zh-CN" sz="1800" dirty="0">
                <a:sym typeface="Symbol" pitchFamily="18" charset="2"/>
              </a:rPr>
              <a:t>V</a:t>
            </a:r>
            <a:r>
              <a:rPr lang="zh-CN" altLang="en-US" sz="1800" dirty="0">
                <a:sym typeface="Symbol" pitchFamily="18" charset="2"/>
              </a:rPr>
              <a:t>是</a:t>
            </a:r>
            <a:r>
              <a:rPr lang="en-US" altLang="zh-CN" sz="1800" dirty="0">
                <a:sym typeface="Symbol" pitchFamily="18" charset="2"/>
              </a:rPr>
              <a:t>X</a:t>
            </a:r>
            <a:r>
              <a:rPr lang="zh-CN" altLang="en-US" sz="1800" dirty="0">
                <a:sym typeface="Symbol" pitchFamily="18" charset="2"/>
              </a:rPr>
              <a:t>的子集，通过增广率可以得到</a:t>
            </a:r>
            <a:r>
              <a:rPr lang="en-US" altLang="zh-CN" sz="1800" dirty="0">
                <a:solidFill>
                  <a:srgbClr val="0000FF"/>
                </a:solidFill>
                <a:sym typeface="Symbol" pitchFamily="18" charset="2"/>
              </a:rPr>
              <a:t>X</a:t>
            </a:r>
            <a:r>
              <a:rPr lang="en-US" altLang="zh-CN" sz="1800" dirty="0">
                <a:solidFill>
                  <a:schemeClr val="tx2"/>
                </a:solidFill>
                <a:sym typeface="Symbol" pitchFamily="18" charset="2"/>
              </a:rPr>
              <a:t></a:t>
            </a:r>
            <a:r>
              <a:rPr lang="en-US" altLang="zh-CN" sz="1800" dirty="0">
                <a:solidFill>
                  <a:srgbClr val="0000FF"/>
                </a:solidFill>
                <a:sym typeface="Symbol" pitchFamily="18" charset="2"/>
              </a:rPr>
              <a:t>W</a:t>
            </a:r>
            <a:r>
              <a:rPr lang="en-US" altLang="zh-CN" sz="1800" dirty="0">
                <a:solidFill>
                  <a:schemeClr val="tx2"/>
                </a:solidFill>
                <a:sym typeface="Symbol" pitchFamily="18" charset="2"/>
              </a:rPr>
              <a:t>(X-V)</a:t>
            </a:r>
            <a:endParaRPr lang="en-US" altLang="zh-CN" sz="2400" dirty="0">
              <a:sym typeface="Symbol" pitchFamily="18" charset="2"/>
            </a:endParaRPr>
          </a:p>
          <a:p>
            <a:pPr>
              <a:buFont typeface="Wingdings" pitchFamily="2" charset="2"/>
              <a:buNone/>
            </a:pPr>
            <a:r>
              <a:rPr lang="en-US" altLang="zh-CN" sz="2400" b="1" dirty="0">
                <a:sym typeface="Symbol" pitchFamily="18" charset="2"/>
              </a:rPr>
              <a:t>          then </a:t>
            </a:r>
            <a:r>
              <a:rPr lang="en-US" altLang="zh-CN" sz="2400" i="1" dirty="0">
                <a:sym typeface="Symbol" pitchFamily="18" charset="2"/>
              </a:rPr>
              <a:t> result </a:t>
            </a:r>
            <a:r>
              <a:rPr lang="en-US" altLang="zh-CN" sz="2400" dirty="0">
                <a:sym typeface="Symbol" pitchFamily="18" charset="2"/>
              </a:rPr>
              <a:t>:= </a:t>
            </a:r>
            <a:r>
              <a:rPr lang="en-US" altLang="zh-CN" sz="2400" i="1" dirty="0">
                <a:sym typeface="Symbol" pitchFamily="18" charset="2"/>
              </a:rPr>
              <a:t>result </a:t>
            </a:r>
            <a:r>
              <a:rPr lang="en-US" altLang="zh-CN" sz="2400" b="1" dirty="0">
                <a:solidFill>
                  <a:srgbClr val="C00000"/>
                </a:solidFill>
                <a:sym typeface="Symbol" pitchFamily="18" charset="2"/>
              </a:rPr>
              <a:t></a:t>
            </a:r>
            <a:r>
              <a:rPr lang="en-US" altLang="zh-CN" sz="2400" dirty="0">
                <a:sym typeface="Greek Symbols" pitchFamily="18" charset="2"/>
              </a:rPr>
              <a:t> </a:t>
            </a:r>
            <a:r>
              <a:rPr lang="en-US" altLang="zh-CN" sz="2400" dirty="0">
                <a:sym typeface="Symbol" pitchFamily="18" charset="2"/>
              </a:rPr>
              <a:t>W</a:t>
            </a:r>
            <a:r>
              <a:rPr lang="en-US" altLang="zh-CN" sz="2400" dirty="0">
                <a:sym typeface="Greek Symbols" pitchFamily="18" charset="2"/>
              </a:rPr>
              <a:t> </a:t>
            </a:r>
            <a:br>
              <a:rPr lang="en-US" altLang="zh-CN" sz="2400" dirty="0">
                <a:sym typeface="Greek Symbols" pitchFamily="18" charset="2"/>
              </a:rPr>
            </a:br>
            <a:r>
              <a:rPr lang="en-US" altLang="zh-CN" sz="2400" b="1" dirty="0">
                <a:sym typeface="Greek Symbols" pitchFamily="18" charset="2"/>
              </a:rPr>
              <a:t>end</a:t>
            </a:r>
          </a:p>
          <a:p>
            <a:pPr>
              <a:buFont typeface="Wingdings" pitchFamily="2" charset="2"/>
              <a:buNone/>
            </a:pPr>
            <a:r>
              <a:rPr lang="en-US" altLang="zh-CN" sz="2400" b="1" dirty="0">
                <a:sym typeface="Greek Symbols" pitchFamily="18" charset="2"/>
              </a:rPr>
              <a:t>return </a:t>
            </a:r>
            <a:r>
              <a:rPr lang="en-US" altLang="zh-CN" sz="2400" dirty="0">
                <a:solidFill>
                  <a:srgbClr val="C00000"/>
                </a:solidFill>
                <a:sym typeface="Greek Symbols" pitchFamily="18" charset="2"/>
              </a:rPr>
              <a:t>result</a:t>
            </a:r>
            <a:endParaRPr lang="en-US" altLang="zh-CN" sz="2400" dirty="0">
              <a:solidFill>
                <a:srgbClr val="C00000"/>
              </a:solidFill>
            </a:endParaRPr>
          </a:p>
        </p:txBody>
      </p:sp>
      <p:sp>
        <p:nvSpPr>
          <p:cNvPr id="2" name="TextBox 1"/>
          <p:cNvSpPr txBox="1"/>
          <p:nvPr/>
        </p:nvSpPr>
        <p:spPr>
          <a:xfrm>
            <a:off x="5508104" y="3501008"/>
            <a:ext cx="1107997" cy="461665"/>
          </a:xfrm>
          <a:prstGeom prst="rect">
            <a:avLst/>
          </a:prstGeom>
          <a:noFill/>
        </p:spPr>
        <p:txBody>
          <a:bodyPr wrap="none" rtlCol="0">
            <a:spAutoFit/>
          </a:bodyPr>
          <a:lstStyle/>
          <a:p>
            <a:r>
              <a:rPr lang="zh-CN" altLang="en-US" b="1" dirty="0">
                <a:solidFill>
                  <a:schemeClr val="tx2"/>
                </a:solidFill>
              </a:rPr>
              <a:t>增广律</a:t>
            </a:r>
          </a:p>
        </p:txBody>
      </p:sp>
      <p:sp>
        <p:nvSpPr>
          <p:cNvPr id="6" name="文本框 5">
            <a:extLst>
              <a:ext uri="{FF2B5EF4-FFF2-40B4-BE49-F238E27FC236}">
                <a16:creationId xmlns:a16="http://schemas.microsoft.com/office/drawing/2014/main" id="{020160D6-1E3D-3ABE-C0F1-A5EF6437E5FB}"/>
              </a:ext>
            </a:extLst>
          </p:cNvPr>
          <p:cNvSpPr txBox="1"/>
          <p:nvPr/>
        </p:nvSpPr>
        <p:spPr>
          <a:xfrm>
            <a:off x="6435357" y="3501008"/>
            <a:ext cx="2508618" cy="461665"/>
          </a:xfrm>
          <a:prstGeom prst="rect">
            <a:avLst/>
          </a:prstGeom>
          <a:noFill/>
        </p:spPr>
        <p:txBody>
          <a:bodyPr wrap="square">
            <a:spAutoFit/>
          </a:bodyPr>
          <a:lstStyle/>
          <a:p>
            <a:r>
              <a:rPr lang="en-US" altLang="zh-CN" sz="2400" dirty="0">
                <a:solidFill>
                  <a:srgbClr val="FF0000"/>
                </a:solidFill>
                <a:sym typeface="Symbol" pitchFamily="18" charset="2"/>
              </a:rPr>
              <a:t>V</a:t>
            </a:r>
            <a:r>
              <a:rPr lang="en-US" altLang="zh-CN" sz="2400" dirty="0">
                <a:solidFill>
                  <a:schemeClr val="tx2"/>
                </a:solidFill>
                <a:sym typeface="Symbol" pitchFamily="18" charset="2"/>
              </a:rPr>
              <a:t>(</a:t>
            </a:r>
            <a:r>
              <a:rPr lang="en-US" altLang="zh-CN" sz="2400" dirty="0">
                <a:solidFill>
                  <a:srgbClr val="0000FF"/>
                </a:solidFill>
                <a:sym typeface="Symbol" pitchFamily="18" charset="2"/>
              </a:rPr>
              <a:t>X</a:t>
            </a:r>
            <a:r>
              <a:rPr lang="en-US" altLang="zh-CN" sz="2400" dirty="0">
                <a:solidFill>
                  <a:schemeClr val="tx2"/>
                </a:solidFill>
                <a:sym typeface="Symbol" pitchFamily="18" charset="2"/>
              </a:rPr>
              <a:t>-V</a:t>
            </a:r>
            <a:r>
              <a:rPr lang="en-US" altLang="zh-CN" dirty="0">
                <a:solidFill>
                  <a:schemeClr val="tx2"/>
                </a:solidFill>
                <a:sym typeface="Symbol" pitchFamily="18" charset="2"/>
              </a:rPr>
              <a:t>)</a:t>
            </a:r>
            <a:r>
              <a:rPr lang="en-US" altLang="zh-CN" dirty="0">
                <a:solidFill>
                  <a:srgbClr val="FF0000"/>
                </a:solidFill>
                <a:sym typeface="Symbol" pitchFamily="18" charset="2"/>
              </a:rPr>
              <a:t>W</a:t>
            </a:r>
            <a:r>
              <a:rPr lang="en-US" altLang="zh-CN" dirty="0">
                <a:solidFill>
                  <a:schemeClr val="tx2"/>
                </a:solidFill>
                <a:sym typeface="Symbol" pitchFamily="18" charset="2"/>
              </a:rPr>
              <a:t>(</a:t>
            </a:r>
            <a:r>
              <a:rPr lang="en-US" altLang="zh-CN" dirty="0">
                <a:solidFill>
                  <a:srgbClr val="0000FF"/>
                </a:solidFill>
                <a:sym typeface="Symbol" pitchFamily="18" charset="2"/>
              </a:rPr>
              <a:t>X</a:t>
            </a:r>
            <a:r>
              <a:rPr lang="en-US" altLang="zh-CN" dirty="0">
                <a:solidFill>
                  <a:schemeClr val="tx2"/>
                </a:solidFill>
                <a:sym typeface="Symbol" pitchFamily="18" charset="2"/>
              </a:rPr>
              <a:t>-V)</a:t>
            </a:r>
            <a:endParaRPr lang="en-US" altLang="zh-CN" sz="3200" dirty="0">
              <a:sym typeface="Symbol" pitchFamily="18" charset="2"/>
            </a:endParaRPr>
          </a:p>
        </p:txBody>
      </p:sp>
      <p:sp>
        <p:nvSpPr>
          <p:cNvPr id="5" name="页脚占位符 4">
            <a:extLst>
              <a:ext uri="{FF2B5EF4-FFF2-40B4-BE49-F238E27FC236}">
                <a16:creationId xmlns:a16="http://schemas.microsoft.com/office/drawing/2014/main" id="{C5DA98DC-9D23-737A-5609-42B38F610D50}"/>
              </a:ext>
            </a:extLst>
          </p:cNvPr>
          <p:cNvSpPr>
            <a:spLocks noGrp="1"/>
          </p:cNvSpPr>
          <p:nvPr>
            <p:ph type="ftr" sz="quarter" idx="11"/>
          </p:nvPr>
        </p:nvSpPr>
        <p:spPr/>
        <p:txBody>
          <a:bodyPr/>
          <a:lstStyle/>
          <a:p>
            <a:r>
              <a:rPr lang="en-US" altLang="zh-CN"/>
              <a:t>《数据库系统概论》- 第6章</a:t>
            </a:r>
          </a:p>
        </p:txBody>
      </p:sp>
      <p:sp>
        <p:nvSpPr>
          <p:cNvPr id="7" name="灯片编号占位符 6">
            <a:extLst>
              <a:ext uri="{FF2B5EF4-FFF2-40B4-BE49-F238E27FC236}">
                <a16:creationId xmlns:a16="http://schemas.microsoft.com/office/drawing/2014/main" id="{10415B59-476E-E0EA-7C21-006AEDDABFE2}"/>
              </a:ext>
            </a:extLst>
          </p:cNvPr>
          <p:cNvSpPr>
            <a:spLocks noGrp="1"/>
          </p:cNvSpPr>
          <p:nvPr>
            <p:ph type="sldNum" sz="quarter" idx="12"/>
          </p:nvPr>
        </p:nvSpPr>
        <p:spPr/>
        <p:txBody>
          <a:bodyPr/>
          <a:lstStyle/>
          <a:p>
            <a:fld id="{A2D74603-B40B-4D66-8F6E-41C870D48932}" type="slidenum">
              <a:rPr lang="en-US" altLang="zh-CN" smtClean="0"/>
              <a:pPr/>
              <a:t>110</a:t>
            </a:fld>
            <a:r>
              <a:rPr lang="en-US" altLang="zh-CN"/>
              <a:t>/162</a:t>
            </a:r>
            <a:endParaRPr lang="en-US" altLang="zh-CN" dirty="0"/>
          </a:p>
        </p:txBody>
      </p:sp>
    </p:spTree>
    <p:extLst>
      <p:ext uri="{BB962C8B-B14F-4D97-AF65-F5344CB8AC3E}">
        <p14:creationId xmlns:p14="http://schemas.microsoft.com/office/powerpoint/2010/main" val="19756627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arn(inVertical)">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A808D8CC-843E-49ED-AC09-831F9D75B93D}" type="datetime1">
              <a:rPr lang="zh-CN" altLang="en-US" smtClean="0"/>
              <a:t>2025/11/6</a:t>
            </a:fld>
            <a:endParaRPr lang="en-US" altLang="zh-CN" dirty="0"/>
          </a:p>
        </p:txBody>
      </p:sp>
      <p:sp>
        <p:nvSpPr>
          <p:cNvPr id="313346" name="Rectangle 2"/>
          <p:cNvSpPr>
            <a:spLocks noGrp="1" noChangeArrowheads="1"/>
          </p:cNvSpPr>
          <p:nvPr>
            <p:ph type="title"/>
          </p:nvPr>
        </p:nvSpPr>
        <p:spPr/>
        <p:txBody>
          <a:bodyPr/>
          <a:lstStyle/>
          <a:p>
            <a:r>
              <a:rPr lang="zh-CN" altLang="en-US"/>
              <a:t>例</a:t>
            </a:r>
          </a:p>
        </p:txBody>
      </p:sp>
      <p:sp>
        <p:nvSpPr>
          <p:cNvPr id="313347" name="Rectangle 3"/>
          <p:cNvSpPr>
            <a:spLocks noGrp="1" noChangeArrowheads="1"/>
          </p:cNvSpPr>
          <p:nvPr>
            <p:ph type="body" idx="1"/>
          </p:nvPr>
        </p:nvSpPr>
        <p:spPr/>
        <p:txBody>
          <a:bodyPr/>
          <a:lstStyle/>
          <a:p>
            <a:r>
              <a:rPr lang="zh-CN" altLang="en-US" sz="2800" dirty="0"/>
              <a:t>例</a:t>
            </a:r>
            <a:r>
              <a:rPr lang="en-US" altLang="zh-CN" sz="2800" dirty="0"/>
              <a:t>1 </a:t>
            </a:r>
            <a:r>
              <a:rPr lang="zh-CN" altLang="en-US" sz="2800" dirty="0"/>
              <a:t>关系模式</a:t>
            </a:r>
            <a:r>
              <a:rPr lang="en-US" altLang="zh-CN" sz="2800" dirty="0"/>
              <a:t>R&lt;U,F&gt;,U={A,B,C,D,E}, F={ </a:t>
            </a:r>
            <a:r>
              <a:rPr lang="en-US" altLang="zh-CN" sz="2800" dirty="0">
                <a:solidFill>
                  <a:schemeClr val="tx2"/>
                </a:solidFill>
              </a:rPr>
              <a:t>AB</a:t>
            </a:r>
            <a:r>
              <a:rPr lang="en-US" altLang="zh-CN" sz="2800" dirty="0">
                <a:solidFill>
                  <a:schemeClr val="tx2"/>
                </a:solidFill>
                <a:latin typeface="宋体" pitchFamily="2" charset="-122"/>
              </a:rPr>
              <a:t>→</a:t>
            </a:r>
            <a:r>
              <a:rPr lang="en-US" altLang="zh-CN" sz="2800" dirty="0">
                <a:solidFill>
                  <a:schemeClr val="tx2"/>
                </a:solidFill>
              </a:rPr>
              <a:t>C</a:t>
            </a:r>
            <a:r>
              <a:rPr lang="en-US" altLang="zh-CN" sz="2800" dirty="0"/>
              <a:t>, </a:t>
            </a:r>
            <a:r>
              <a:rPr lang="en-US" altLang="zh-CN" sz="2800" dirty="0">
                <a:solidFill>
                  <a:schemeClr val="tx2"/>
                </a:solidFill>
              </a:rPr>
              <a:t>B</a:t>
            </a:r>
            <a:r>
              <a:rPr lang="en-US" altLang="zh-CN" sz="2800" dirty="0">
                <a:solidFill>
                  <a:schemeClr val="tx2"/>
                </a:solidFill>
                <a:latin typeface="宋体" pitchFamily="2" charset="-122"/>
              </a:rPr>
              <a:t>→</a:t>
            </a:r>
            <a:r>
              <a:rPr lang="en-US" altLang="zh-CN" sz="2800" dirty="0">
                <a:solidFill>
                  <a:schemeClr val="tx2"/>
                </a:solidFill>
              </a:rPr>
              <a:t>D</a:t>
            </a:r>
            <a:r>
              <a:rPr lang="en-US" altLang="zh-CN" sz="2800" dirty="0"/>
              <a:t>, </a:t>
            </a:r>
            <a:r>
              <a:rPr lang="en-US" altLang="zh-CN" sz="2800" u="sng" dirty="0">
                <a:solidFill>
                  <a:srgbClr val="C00000"/>
                </a:solidFill>
              </a:rPr>
              <a:t>C</a:t>
            </a:r>
            <a:r>
              <a:rPr lang="en-US" altLang="zh-CN" sz="2800" u="sng" dirty="0">
                <a:solidFill>
                  <a:srgbClr val="C00000"/>
                </a:solidFill>
                <a:latin typeface="宋体" pitchFamily="2" charset="-122"/>
              </a:rPr>
              <a:t>→</a:t>
            </a:r>
            <a:r>
              <a:rPr lang="en-US" altLang="zh-CN" sz="2800" u="sng" dirty="0">
                <a:solidFill>
                  <a:srgbClr val="C00000"/>
                </a:solidFill>
              </a:rPr>
              <a:t>E</a:t>
            </a:r>
            <a:r>
              <a:rPr lang="en-US" altLang="zh-CN" sz="2800" dirty="0"/>
              <a:t>, </a:t>
            </a:r>
            <a:r>
              <a:rPr lang="en-US" altLang="zh-CN" sz="2800" u="sng" dirty="0">
                <a:solidFill>
                  <a:srgbClr val="C00000"/>
                </a:solidFill>
              </a:rPr>
              <a:t>EC→B</a:t>
            </a:r>
            <a:r>
              <a:rPr lang="en-US" altLang="zh-CN" sz="2800" dirty="0"/>
              <a:t>, </a:t>
            </a:r>
            <a:r>
              <a:rPr lang="en-US" altLang="zh-CN" sz="2800" u="sng" dirty="0">
                <a:solidFill>
                  <a:srgbClr val="C00000"/>
                </a:solidFill>
              </a:rPr>
              <a:t>AC</a:t>
            </a:r>
            <a:r>
              <a:rPr lang="en-US" altLang="zh-CN" sz="2800" u="sng" dirty="0">
                <a:solidFill>
                  <a:srgbClr val="C00000"/>
                </a:solidFill>
                <a:latin typeface="宋体" pitchFamily="2" charset="-122"/>
              </a:rPr>
              <a:t>→</a:t>
            </a:r>
            <a:r>
              <a:rPr lang="en-US" altLang="zh-CN" sz="2800" u="sng" dirty="0">
                <a:solidFill>
                  <a:srgbClr val="C00000"/>
                </a:solidFill>
              </a:rPr>
              <a:t>B</a:t>
            </a:r>
            <a:r>
              <a:rPr lang="en-US" altLang="zh-CN" sz="2800" dirty="0"/>
              <a:t>}, </a:t>
            </a:r>
            <a:r>
              <a:rPr lang="zh-CN" altLang="en-US" sz="2800" dirty="0"/>
              <a:t>求</a:t>
            </a:r>
            <a:r>
              <a:rPr lang="en-US" altLang="zh-CN" sz="2800" dirty="0">
                <a:solidFill>
                  <a:srgbClr val="0000FF"/>
                </a:solidFill>
                <a:sym typeface="Greek Symbols" pitchFamily="18" charset="2"/>
              </a:rPr>
              <a:t>(AC)</a:t>
            </a:r>
            <a:r>
              <a:rPr lang="en-US" altLang="zh-CN" sz="2800" baseline="-25000" dirty="0">
                <a:solidFill>
                  <a:srgbClr val="0000FF"/>
                </a:solidFill>
                <a:sym typeface="Greek Symbols" pitchFamily="18" charset="2"/>
              </a:rPr>
              <a:t>F</a:t>
            </a:r>
            <a:r>
              <a:rPr lang="en-US" altLang="zh-CN" sz="2800" baseline="30000" dirty="0">
                <a:solidFill>
                  <a:srgbClr val="0000FF"/>
                </a:solidFill>
                <a:sym typeface="Greek Symbols" pitchFamily="18" charset="2"/>
              </a:rPr>
              <a:t>+</a:t>
            </a:r>
            <a:endParaRPr lang="en-US" altLang="zh-CN" sz="2800" dirty="0">
              <a:solidFill>
                <a:srgbClr val="0000FF"/>
              </a:solidFill>
            </a:endParaRPr>
          </a:p>
          <a:p>
            <a:pPr lvl="1"/>
            <a:r>
              <a:rPr lang="en-US" altLang="zh-CN" sz="2400" dirty="0"/>
              <a:t>0. </a:t>
            </a:r>
            <a:r>
              <a:rPr lang="zh-CN" altLang="en-US" sz="2400" dirty="0"/>
              <a:t>初始化 令</a:t>
            </a:r>
            <a:r>
              <a:rPr lang="en-US" altLang="zh-CN" sz="2400" dirty="0"/>
              <a:t>result</a:t>
            </a:r>
            <a:r>
              <a:rPr lang="zh-CN" altLang="en-US" sz="2400" dirty="0"/>
              <a:t>＝</a:t>
            </a:r>
            <a:r>
              <a:rPr lang="en-US" altLang="zh-CN" sz="2400" dirty="0">
                <a:solidFill>
                  <a:srgbClr val="0000FF"/>
                </a:solidFill>
              </a:rPr>
              <a:t>AC</a:t>
            </a:r>
          </a:p>
          <a:p>
            <a:pPr lvl="1"/>
            <a:r>
              <a:rPr lang="en-US" altLang="zh-CN" sz="2400" dirty="0"/>
              <a:t>1. </a:t>
            </a:r>
            <a:r>
              <a:rPr lang="zh-CN" altLang="en-US" sz="2400" dirty="0"/>
              <a:t>第一次循环 计算</a:t>
            </a:r>
            <a:r>
              <a:rPr lang="en-US" altLang="zh-CN" sz="2400" dirty="0"/>
              <a:t>result =AC</a:t>
            </a:r>
            <a:r>
              <a:rPr lang="en-US" altLang="zh-CN" sz="2400" dirty="0">
                <a:solidFill>
                  <a:srgbClr val="0000FF"/>
                </a:solidFill>
              </a:rPr>
              <a:t>EB</a:t>
            </a:r>
            <a:r>
              <a:rPr lang="en-US" altLang="zh-CN" sz="2400" dirty="0"/>
              <a:t>=ABCE</a:t>
            </a:r>
          </a:p>
          <a:p>
            <a:pPr lvl="1"/>
            <a:r>
              <a:rPr lang="en-US" altLang="zh-CN" sz="2400" dirty="0"/>
              <a:t>2. </a:t>
            </a:r>
            <a:r>
              <a:rPr lang="zh-CN" altLang="en-US" sz="2400" dirty="0"/>
              <a:t>第二次循环 计算</a:t>
            </a:r>
            <a:r>
              <a:rPr lang="en-US" altLang="zh-CN" sz="2400" dirty="0"/>
              <a:t>result = ABC</a:t>
            </a:r>
            <a:r>
              <a:rPr lang="en-US" altLang="zh-CN" sz="2400" dirty="0">
                <a:solidFill>
                  <a:srgbClr val="0000FF"/>
                </a:solidFill>
              </a:rPr>
              <a:t>D</a:t>
            </a:r>
            <a:r>
              <a:rPr lang="en-US" altLang="zh-CN" sz="2400" dirty="0"/>
              <a:t>E</a:t>
            </a:r>
            <a:r>
              <a:rPr lang="en-US" altLang="zh-CN" sz="2400" dirty="0">
                <a:solidFill>
                  <a:srgbClr val="FF0000"/>
                </a:solidFill>
              </a:rPr>
              <a:t>=U</a:t>
            </a:r>
          </a:p>
          <a:p>
            <a:pPr>
              <a:buFont typeface="Wingdings" pitchFamily="2" charset="2"/>
              <a:buNone/>
            </a:pPr>
            <a:r>
              <a:rPr lang="zh-CN" altLang="en-US" sz="2800" dirty="0"/>
              <a:t>即得结果。</a:t>
            </a:r>
          </a:p>
          <a:p>
            <a:pPr>
              <a:buFont typeface="Wingdings" pitchFamily="2" charset="2"/>
              <a:buNone/>
            </a:pPr>
            <a:endParaRPr lang="zh-CN" altLang="en-US" sz="2800" dirty="0"/>
          </a:p>
        </p:txBody>
      </p:sp>
      <p:sp>
        <p:nvSpPr>
          <p:cNvPr id="3" name="页脚占位符 2">
            <a:extLst>
              <a:ext uri="{FF2B5EF4-FFF2-40B4-BE49-F238E27FC236}">
                <a16:creationId xmlns:a16="http://schemas.microsoft.com/office/drawing/2014/main" id="{524E5241-5BF4-C2F5-2794-9F477660DE6A}"/>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C560C19C-71DE-251E-2FFF-E59CE740E10C}"/>
              </a:ext>
            </a:extLst>
          </p:cNvPr>
          <p:cNvSpPr>
            <a:spLocks noGrp="1"/>
          </p:cNvSpPr>
          <p:nvPr>
            <p:ph type="sldNum" sz="quarter" idx="12"/>
          </p:nvPr>
        </p:nvSpPr>
        <p:spPr/>
        <p:txBody>
          <a:bodyPr/>
          <a:lstStyle/>
          <a:p>
            <a:fld id="{A2D74603-B40B-4D66-8F6E-41C870D48932}" type="slidenum">
              <a:rPr lang="en-US" altLang="zh-CN" smtClean="0"/>
              <a:pPr/>
              <a:t>111</a:t>
            </a:fld>
            <a:r>
              <a:rPr lang="en-US" altLang="zh-CN"/>
              <a:t>/162</a:t>
            </a:r>
            <a:endParaRPr lang="en-US" altLang="zh-CN" dirty="0"/>
          </a:p>
        </p:txBody>
      </p:sp>
    </p:spTree>
    <p:extLst>
      <p:ext uri="{BB962C8B-B14F-4D97-AF65-F5344CB8AC3E}">
        <p14:creationId xmlns:p14="http://schemas.microsoft.com/office/powerpoint/2010/main" val="37704660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3347">
                                            <p:txEl>
                                              <p:pRg st="1" end="1"/>
                                            </p:txEl>
                                          </p:spTgt>
                                        </p:tgtEl>
                                        <p:attrNameLst>
                                          <p:attrName>style.visibility</p:attrName>
                                        </p:attrNameLst>
                                      </p:cBhvr>
                                      <p:to>
                                        <p:strVal val="visible"/>
                                      </p:to>
                                    </p:set>
                                    <p:anim calcmode="lin" valueType="num">
                                      <p:cBhvr additive="base">
                                        <p:cTn id="7" dur="500" fill="hold"/>
                                        <p:tgtEl>
                                          <p:spTgt spid="31334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334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13347">
                                            <p:txEl>
                                              <p:pRg st="2" end="2"/>
                                            </p:txEl>
                                          </p:spTgt>
                                        </p:tgtEl>
                                        <p:attrNameLst>
                                          <p:attrName>style.visibility</p:attrName>
                                        </p:attrNameLst>
                                      </p:cBhvr>
                                      <p:to>
                                        <p:strVal val="visible"/>
                                      </p:to>
                                    </p:set>
                                    <p:anim calcmode="lin" valueType="num">
                                      <p:cBhvr additive="base">
                                        <p:cTn id="13" dur="500" fill="hold"/>
                                        <p:tgtEl>
                                          <p:spTgt spid="31334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1334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13347">
                                            <p:txEl>
                                              <p:pRg st="3" end="3"/>
                                            </p:txEl>
                                          </p:spTgt>
                                        </p:tgtEl>
                                        <p:attrNameLst>
                                          <p:attrName>style.visibility</p:attrName>
                                        </p:attrNameLst>
                                      </p:cBhvr>
                                      <p:to>
                                        <p:strVal val="visible"/>
                                      </p:to>
                                    </p:set>
                                    <p:anim calcmode="lin" valueType="num">
                                      <p:cBhvr additive="base">
                                        <p:cTn id="19" dur="500" fill="hold"/>
                                        <p:tgtEl>
                                          <p:spTgt spid="31334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1334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13347">
                                            <p:txEl>
                                              <p:pRg st="4" end="4"/>
                                            </p:txEl>
                                          </p:spTgt>
                                        </p:tgtEl>
                                        <p:attrNameLst>
                                          <p:attrName>style.visibility</p:attrName>
                                        </p:attrNameLst>
                                      </p:cBhvr>
                                      <p:to>
                                        <p:strVal val="visible"/>
                                      </p:to>
                                    </p:set>
                                    <p:anim calcmode="lin" valueType="num">
                                      <p:cBhvr additive="base">
                                        <p:cTn id="25" dur="500" fill="hold"/>
                                        <p:tgtEl>
                                          <p:spTgt spid="31334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1334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AFE1FBF7-3377-47C4-9542-0751D69E9A5C}" type="datetime1">
              <a:rPr lang="zh-CN" altLang="en-US" smtClean="0"/>
              <a:t>2025/11/6</a:t>
            </a:fld>
            <a:endParaRPr lang="en-US" altLang="zh-CN" dirty="0"/>
          </a:p>
        </p:txBody>
      </p:sp>
      <p:sp>
        <p:nvSpPr>
          <p:cNvPr id="313346" name="Rectangle 2"/>
          <p:cNvSpPr>
            <a:spLocks noGrp="1" noChangeArrowheads="1"/>
          </p:cNvSpPr>
          <p:nvPr>
            <p:ph type="title"/>
          </p:nvPr>
        </p:nvSpPr>
        <p:spPr/>
        <p:txBody>
          <a:bodyPr/>
          <a:lstStyle/>
          <a:p>
            <a:r>
              <a:rPr lang="zh-CN" altLang="en-US" sz="3200" dirty="0"/>
              <a:t>算法</a:t>
            </a:r>
            <a:r>
              <a:rPr lang="en-US" altLang="zh-CN" sz="3200" dirty="0"/>
              <a:t>2</a:t>
            </a:r>
            <a:r>
              <a:rPr lang="zh-CN" altLang="en-US" sz="3200" dirty="0"/>
              <a:t>用处</a:t>
            </a:r>
            <a:endParaRPr lang="zh-CN" altLang="en-US" dirty="0"/>
          </a:p>
        </p:txBody>
      </p:sp>
      <p:sp>
        <p:nvSpPr>
          <p:cNvPr id="313347" name="Rectangle 3"/>
          <p:cNvSpPr>
            <a:spLocks noGrp="1" noChangeArrowheads="1"/>
          </p:cNvSpPr>
          <p:nvPr>
            <p:ph type="body" idx="1"/>
          </p:nvPr>
        </p:nvSpPr>
        <p:spPr/>
        <p:txBody>
          <a:bodyPr/>
          <a:lstStyle/>
          <a:p>
            <a:r>
              <a:rPr lang="zh-CN" altLang="en-US" sz="2800" dirty="0"/>
              <a:t>算法</a:t>
            </a:r>
            <a:r>
              <a:rPr lang="en-US" altLang="zh-CN" sz="2800" dirty="0"/>
              <a:t>2</a:t>
            </a:r>
            <a:r>
              <a:rPr lang="zh-CN" altLang="en-US" sz="2800" dirty="0"/>
              <a:t>非常重要。</a:t>
            </a:r>
            <a:endParaRPr lang="en-US" altLang="zh-CN" sz="2800" dirty="0"/>
          </a:p>
          <a:p>
            <a:pPr lvl="1"/>
            <a:r>
              <a:rPr lang="zh-CN" altLang="en-US" sz="2400" dirty="0">
                <a:solidFill>
                  <a:srgbClr val="FF0000"/>
                </a:solidFill>
              </a:rPr>
              <a:t>可用于</a:t>
            </a:r>
            <a:r>
              <a:rPr lang="zh-CN" altLang="en-US" sz="2400" b="1" dirty="0">
                <a:solidFill>
                  <a:srgbClr val="FF0000"/>
                </a:solidFill>
              </a:rPr>
              <a:t>求码</a:t>
            </a:r>
            <a:endParaRPr lang="en-US" altLang="zh-CN" sz="2400" b="1" dirty="0">
              <a:solidFill>
                <a:srgbClr val="FF0000"/>
              </a:solidFill>
            </a:endParaRPr>
          </a:p>
          <a:p>
            <a:pPr marL="457200" lvl="1" indent="0">
              <a:buNone/>
            </a:pPr>
            <a:r>
              <a:rPr lang="zh-CN" altLang="en-US" sz="2400" dirty="0"/>
              <a:t>给定</a:t>
            </a:r>
            <a:r>
              <a:rPr lang="en-US" altLang="zh-CN" sz="2400" dirty="0"/>
              <a:t>R(</a:t>
            </a:r>
            <a:r>
              <a:rPr lang="en-US" altLang="zh-CN" sz="2400" dirty="0">
                <a:solidFill>
                  <a:srgbClr val="0000FF"/>
                </a:solidFill>
              </a:rPr>
              <a:t>U</a:t>
            </a:r>
            <a:r>
              <a:rPr lang="en-US" altLang="zh-CN" sz="2400" dirty="0"/>
              <a:t>, F), K</a:t>
            </a:r>
            <a:r>
              <a:rPr lang="en-US" altLang="zh-CN" sz="2400" dirty="0">
                <a:sym typeface="Symbol" pitchFamily="18" charset="2"/>
              </a:rPr>
              <a:t>U</a:t>
            </a:r>
            <a:r>
              <a:rPr lang="en-US" altLang="zh-CN" sz="2400" dirty="0">
                <a:solidFill>
                  <a:srgbClr val="FF0000"/>
                </a:solidFill>
                <a:sym typeface="Symbol" pitchFamily="18" charset="2"/>
              </a:rPr>
              <a:t>, </a:t>
            </a:r>
            <a:r>
              <a:rPr lang="zh-CN" altLang="en-US" sz="2400" dirty="0">
                <a:solidFill>
                  <a:srgbClr val="C00000"/>
                </a:solidFill>
                <a:sym typeface="Symbol" pitchFamily="18" charset="2"/>
              </a:rPr>
              <a:t>则</a:t>
            </a:r>
            <a:r>
              <a:rPr lang="zh-CN" altLang="en-US" sz="2400" dirty="0">
                <a:solidFill>
                  <a:srgbClr val="C00000"/>
                </a:solidFill>
              </a:rPr>
              <a:t>如</a:t>
            </a:r>
            <a:r>
              <a:rPr lang="en-US" altLang="zh-CN" sz="2400" dirty="0">
                <a:solidFill>
                  <a:srgbClr val="0000FF"/>
                </a:solidFill>
              </a:rPr>
              <a:t>K</a:t>
            </a:r>
            <a:r>
              <a:rPr lang="en-US" altLang="zh-CN" sz="2400" baseline="-25000" dirty="0">
                <a:solidFill>
                  <a:schemeClr val="tx2"/>
                </a:solidFill>
              </a:rPr>
              <a:t>F</a:t>
            </a:r>
            <a:r>
              <a:rPr lang="en-US" altLang="zh-CN" sz="2400" baseline="30000" dirty="0">
                <a:solidFill>
                  <a:schemeClr val="tx2"/>
                </a:solidFill>
              </a:rPr>
              <a:t>+</a:t>
            </a:r>
            <a:r>
              <a:rPr lang="en-US" altLang="zh-CN" sz="2400" dirty="0">
                <a:solidFill>
                  <a:schemeClr val="tx2"/>
                </a:solidFill>
              </a:rPr>
              <a:t>= </a:t>
            </a:r>
            <a:r>
              <a:rPr lang="en-US" altLang="zh-CN" sz="2400" dirty="0">
                <a:solidFill>
                  <a:srgbClr val="0000FF"/>
                </a:solidFill>
              </a:rPr>
              <a:t>U</a:t>
            </a:r>
            <a:r>
              <a:rPr lang="en-US" altLang="zh-CN" sz="2400" dirty="0">
                <a:solidFill>
                  <a:schemeClr val="tx2"/>
                </a:solidFill>
              </a:rPr>
              <a:t>, </a:t>
            </a:r>
            <a:r>
              <a:rPr lang="zh-CN" altLang="en-US" sz="2400" dirty="0">
                <a:solidFill>
                  <a:schemeClr val="tx2"/>
                </a:solidFill>
              </a:rPr>
              <a:t>则</a:t>
            </a:r>
            <a:r>
              <a:rPr lang="en-US" altLang="zh-CN" sz="2400" dirty="0">
                <a:solidFill>
                  <a:schemeClr val="tx2"/>
                </a:solidFill>
              </a:rPr>
              <a:t>K</a:t>
            </a:r>
            <a:r>
              <a:rPr lang="zh-CN" altLang="en-US" sz="2400" dirty="0">
                <a:solidFill>
                  <a:schemeClr val="tx2"/>
                </a:solidFill>
              </a:rPr>
              <a:t>为</a:t>
            </a:r>
            <a:r>
              <a:rPr lang="zh-CN" altLang="en-US" sz="2400" dirty="0">
                <a:solidFill>
                  <a:srgbClr val="0000FF"/>
                </a:solidFill>
              </a:rPr>
              <a:t>超码</a:t>
            </a:r>
            <a:r>
              <a:rPr lang="zh-CN" altLang="en-US" sz="2400" dirty="0">
                <a:solidFill>
                  <a:schemeClr val="tx2"/>
                </a:solidFill>
              </a:rPr>
              <a:t>；</a:t>
            </a:r>
            <a:endParaRPr lang="en-US" altLang="zh-CN" sz="2400" dirty="0">
              <a:solidFill>
                <a:schemeClr val="tx2"/>
              </a:solidFill>
            </a:endParaRPr>
          </a:p>
          <a:p>
            <a:pPr marL="457200" lvl="1" indent="0">
              <a:buNone/>
            </a:pPr>
            <a:r>
              <a:rPr lang="zh-CN" altLang="en-US" sz="2400" dirty="0">
                <a:solidFill>
                  <a:schemeClr val="tx2"/>
                </a:solidFill>
              </a:rPr>
              <a:t>而若</a:t>
            </a:r>
            <a:r>
              <a:rPr lang="en-US" altLang="zh-CN" sz="2400" dirty="0">
                <a:solidFill>
                  <a:srgbClr val="0000FF"/>
                </a:solidFill>
              </a:rPr>
              <a:t>K</a:t>
            </a:r>
            <a:r>
              <a:rPr lang="en-US" altLang="zh-CN" sz="2400" dirty="0">
                <a:solidFill>
                  <a:srgbClr val="0000FF"/>
                </a:solidFill>
                <a:latin typeface="Arial"/>
              </a:rPr>
              <a:t>’</a:t>
            </a:r>
            <a:r>
              <a:rPr lang="en-US" altLang="zh-CN" sz="2400" baseline="-25000" dirty="0">
                <a:solidFill>
                  <a:schemeClr val="tx2"/>
                </a:solidFill>
              </a:rPr>
              <a:t>F</a:t>
            </a:r>
            <a:r>
              <a:rPr lang="en-US" altLang="zh-CN" sz="2400" baseline="30000" dirty="0">
                <a:solidFill>
                  <a:schemeClr val="tx2"/>
                </a:solidFill>
              </a:rPr>
              <a:t>+</a:t>
            </a:r>
            <a:r>
              <a:rPr lang="en-US" altLang="zh-CN" sz="2400" dirty="0">
                <a:solidFill>
                  <a:srgbClr val="FF0000"/>
                </a:solidFill>
              </a:rPr>
              <a:t>!=</a:t>
            </a:r>
            <a:r>
              <a:rPr lang="en-US" altLang="zh-CN" sz="2400" dirty="0">
                <a:solidFill>
                  <a:schemeClr val="tx2"/>
                </a:solidFill>
              </a:rPr>
              <a:t> </a:t>
            </a:r>
            <a:r>
              <a:rPr lang="en-US" altLang="zh-CN" sz="2400" dirty="0">
                <a:solidFill>
                  <a:srgbClr val="0000FF"/>
                </a:solidFill>
              </a:rPr>
              <a:t>U</a:t>
            </a:r>
            <a:r>
              <a:rPr lang="zh-CN" altLang="en-US" sz="2400" dirty="0"/>
              <a:t>，则</a:t>
            </a:r>
            <a:r>
              <a:rPr lang="en-US" altLang="zh-CN" sz="2400" dirty="0">
                <a:solidFill>
                  <a:schemeClr val="tx2"/>
                </a:solidFill>
              </a:rPr>
              <a:t>K</a:t>
            </a:r>
            <a:r>
              <a:rPr lang="zh-CN" altLang="en-US" sz="2400" dirty="0">
                <a:solidFill>
                  <a:schemeClr val="tx2"/>
                </a:solidFill>
              </a:rPr>
              <a:t>为候选码</a:t>
            </a:r>
            <a:r>
              <a:rPr lang="zh-CN" altLang="en-US" sz="2400" dirty="0"/>
              <a:t>。</a:t>
            </a:r>
          </a:p>
          <a:p>
            <a:pPr lvl="1"/>
            <a:r>
              <a:rPr lang="zh-CN" altLang="en-US" sz="2400" dirty="0"/>
              <a:t>用于判断一个函数依赖是否成立，也即是否属于</a:t>
            </a:r>
            <a:r>
              <a:rPr lang="en-US" altLang="zh-CN" sz="2400" dirty="0"/>
              <a:t>F</a:t>
            </a:r>
            <a:r>
              <a:rPr lang="en-US" altLang="zh-CN" sz="2400" baseline="30000" dirty="0"/>
              <a:t>+</a:t>
            </a:r>
          </a:p>
          <a:p>
            <a:pPr marL="457200" lvl="1" indent="0">
              <a:buNone/>
            </a:pPr>
            <a:r>
              <a:rPr lang="zh-CN" altLang="en-US" sz="2400" dirty="0"/>
              <a:t>设</a:t>
            </a:r>
            <a:r>
              <a:rPr lang="en-US" altLang="zh-CN" sz="2400" dirty="0"/>
              <a:t>F</a:t>
            </a:r>
            <a:r>
              <a:rPr lang="zh-CN" altLang="en-US" sz="2400" dirty="0"/>
              <a:t>为属性集</a:t>
            </a:r>
            <a:r>
              <a:rPr lang="en-US" altLang="zh-CN" sz="2400" dirty="0"/>
              <a:t>U</a:t>
            </a:r>
            <a:r>
              <a:rPr lang="zh-CN" altLang="en-US" sz="2400" dirty="0"/>
              <a:t>上的一组函数依赖，</a:t>
            </a:r>
            <a:r>
              <a:rPr lang="en-US" altLang="zh-CN" sz="2400" dirty="0"/>
              <a:t>X</a:t>
            </a:r>
            <a:r>
              <a:rPr lang="zh-CN" altLang="en-US" sz="2400" dirty="0"/>
              <a:t>，</a:t>
            </a:r>
            <a:r>
              <a:rPr lang="en-US" altLang="zh-CN" sz="2400" dirty="0"/>
              <a:t>Y </a:t>
            </a:r>
            <a:r>
              <a:rPr lang="en-US" altLang="zh-CN" sz="2400" dirty="0">
                <a:sym typeface="Symbol" pitchFamily="18" charset="2"/>
              </a:rPr>
              <a:t> U</a:t>
            </a:r>
            <a:r>
              <a:rPr lang="zh-CN" altLang="en-US" sz="2400" dirty="0">
                <a:sym typeface="Symbol" pitchFamily="18" charset="2"/>
              </a:rPr>
              <a:t>，</a:t>
            </a:r>
            <a:r>
              <a:rPr lang="en-US" altLang="zh-CN" sz="2400" dirty="0">
                <a:sym typeface="Symbol" pitchFamily="18" charset="2"/>
              </a:rPr>
              <a:t>X</a:t>
            </a:r>
            <a:r>
              <a:rPr lang="en-US" altLang="zh-CN" sz="2400" dirty="0">
                <a:latin typeface="宋体" pitchFamily="2" charset="-122"/>
              </a:rPr>
              <a:t>→</a:t>
            </a:r>
            <a:r>
              <a:rPr lang="en-US" altLang="zh-CN" sz="2400" dirty="0">
                <a:sym typeface="Symbol" pitchFamily="18" charset="2"/>
              </a:rPr>
              <a:t>Y</a:t>
            </a:r>
            <a:r>
              <a:rPr lang="zh-CN" altLang="en-US" sz="2400" b="1" dirty="0">
                <a:solidFill>
                  <a:srgbClr val="003300"/>
                </a:solidFill>
                <a:sym typeface="Symbol" pitchFamily="18" charset="2"/>
              </a:rPr>
              <a:t>能由</a:t>
            </a:r>
            <a:r>
              <a:rPr lang="en-US" altLang="zh-CN" sz="2400" dirty="0">
                <a:sym typeface="Symbol" pitchFamily="18" charset="2"/>
              </a:rPr>
              <a:t>F</a:t>
            </a:r>
            <a:r>
              <a:rPr lang="zh-CN" altLang="en-US" sz="2400" dirty="0">
                <a:sym typeface="Symbol" pitchFamily="18" charset="2"/>
              </a:rPr>
              <a:t>根据</a:t>
            </a:r>
            <a:r>
              <a:rPr lang="en-US" altLang="zh-CN" sz="2400" dirty="0">
                <a:sym typeface="Symbol" pitchFamily="18" charset="2"/>
              </a:rPr>
              <a:t>Armstrong</a:t>
            </a:r>
            <a:r>
              <a:rPr lang="zh-CN" altLang="en-US" sz="2400" dirty="0">
                <a:sym typeface="Symbol" pitchFamily="18" charset="2"/>
              </a:rPr>
              <a:t>公理导出的</a:t>
            </a:r>
            <a:r>
              <a:rPr lang="zh-CN" altLang="en-US" sz="2400" b="1" dirty="0">
                <a:solidFill>
                  <a:srgbClr val="000080"/>
                </a:solidFill>
                <a:sym typeface="Symbol" pitchFamily="18" charset="2"/>
              </a:rPr>
              <a:t>充分必要条件</a:t>
            </a:r>
            <a:r>
              <a:rPr lang="zh-CN" altLang="en-US" sz="2400" dirty="0">
                <a:solidFill>
                  <a:srgbClr val="000080"/>
                </a:solidFill>
                <a:sym typeface="Symbol" pitchFamily="18" charset="2"/>
              </a:rPr>
              <a:t>是</a:t>
            </a:r>
            <a:r>
              <a:rPr lang="en-US" altLang="zh-CN" sz="2400" dirty="0">
                <a:solidFill>
                  <a:srgbClr val="FF0000"/>
                </a:solidFill>
                <a:sym typeface="Symbol" pitchFamily="18" charset="2"/>
              </a:rPr>
              <a:t>Y</a:t>
            </a:r>
            <a:r>
              <a:rPr lang="en-US" altLang="zh-CN" sz="2400" b="1" dirty="0">
                <a:solidFill>
                  <a:srgbClr val="FF0000"/>
                </a:solidFill>
              </a:rPr>
              <a:t>X</a:t>
            </a:r>
            <a:r>
              <a:rPr lang="en-US" altLang="zh-CN" sz="2400" b="1" baseline="-25000" dirty="0">
                <a:solidFill>
                  <a:srgbClr val="FF0000"/>
                </a:solidFill>
              </a:rPr>
              <a:t>F</a:t>
            </a:r>
            <a:r>
              <a:rPr lang="en-US" altLang="zh-CN" sz="2400" b="1" baseline="30000" dirty="0">
                <a:solidFill>
                  <a:srgbClr val="FF0000"/>
                </a:solidFill>
              </a:rPr>
              <a:t>+</a:t>
            </a:r>
            <a:endParaRPr lang="en-US" altLang="zh-CN" sz="2400" b="1" dirty="0">
              <a:solidFill>
                <a:schemeClr val="tx2"/>
              </a:solidFill>
            </a:endParaRPr>
          </a:p>
          <a:p>
            <a:pPr lvl="1"/>
            <a:r>
              <a:rPr lang="zh-CN" altLang="en-US" sz="2400" dirty="0"/>
              <a:t>给了另一种计算</a:t>
            </a:r>
            <a:r>
              <a:rPr lang="en-US" altLang="zh-CN" sz="2400" dirty="0"/>
              <a:t>F</a:t>
            </a:r>
            <a:r>
              <a:rPr lang="en-US" altLang="zh-CN" sz="2400" baseline="30000" dirty="0"/>
              <a:t>+</a:t>
            </a:r>
            <a:r>
              <a:rPr lang="zh-CN" altLang="en-US" sz="2400" dirty="0"/>
              <a:t>的可替代方法</a:t>
            </a:r>
            <a:endParaRPr lang="en-US" altLang="zh-CN" sz="2400" dirty="0"/>
          </a:p>
          <a:p>
            <a:pPr marL="457200" lvl="1" indent="0">
              <a:buNone/>
            </a:pPr>
            <a:r>
              <a:rPr lang="zh-CN" altLang="en-US" sz="2400" dirty="0"/>
              <a:t>对于</a:t>
            </a:r>
            <a:r>
              <a:rPr lang="zh-CN" altLang="en-US" sz="2400" dirty="0">
                <a:solidFill>
                  <a:srgbClr val="0000FF"/>
                </a:solidFill>
              </a:rPr>
              <a:t>任意的</a:t>
            </a:r>
            <a:r>
              <a:rPr lang="en-US" altLang="zh-CN" sz="2400" dirty="0">
                <a:solidFill>
                  <a:srgbClr val="0000FF"/>
                </a:solidFill>
              </a:rPr>
              <a:t>X</a:t>
            </a:r>
            <a:r>
              <a:rPr lang="en-US" altLang="zh-CN" sz="2400" dirty="0">
                <a:sym typeface="Symbol" pitchFamily="18" charset="2"/>
              </a:rPr>
              <a:t>U </a:t>
            </a:r>
            <a:r>
              <a:rPr lang="zh-CN" altLang="en-US" sz="2400" dirty="0"/>
              <a:t>，找出</a:t>
            </a:r>
            <a:r>
              <a:rPr lang="zh-CN" altLang="en-US" sz="2400" dirty="0">
                <a:solidFill>
                  <a:srgbClr val="0000FF"/>
                </a:solidFill>
              </a:rPr>
              <a:t>闭包</a:t>
            </a:r>
            <a:r>
              <a:rPr lang="en-US" altLang="zh-CN" sz="2400" b="1" dirty="0">
                <a:solidFill>
                  <a:srgbClr val="FF0000"/>
                </a:solidFill>
              </a:rPr>
              <a:t>X</a:t>
            </a:r>
            <a:r>
              <a:rPr lang="en-US" altLang="zh-CN" sz="2400" b="1" baseline="-25000" dirty="0">
                <a:solidFill>
                  <a:srgbClr val="FF0000"/>
                </a:solidFill>
              </a:rPr>
              <a:t>F</a:t>
            </a:r>
            <a:r>
              <a:rPr lang="en-US" altLang="zh-CN" sz="2400" b="1" baseline="30000" dirty="0">
                <a:solidFill>
                  <a:srgbClr val="FF0000"/>
                </a:solidFill>
              </a:rPr>
              <a:t>+ </a:t>
            </a:r>
            <a:r>
              <a:rPr lang="zh-CN" altLang="en-US" sz="2400" dirty="0"/>
              <a:t>，则对于</a:t>
            </a:r>
            <a:r>
              <a:rPr lang="zh-CN" altLang="en-US" sz="2400" dirty="0">
                <a:solidFill>
                  <a:srgbClr val="0000FF"/>
                </a:solidFill>
              </a:rPr>
              <a:t>任意的</a:t>
            </a:r>
            <a:r>
              <a:rPr lang="en-US" altLang="zh-CN" sz="2400" dirty="0">
                <a:solidFill>
                  <a:srgbClr val="0000FF"/>
                </a:solidFill>
              </a:rPr>
              <a:t>Y</a:t>
            </a:r>
            <a:r>
              <a:rPr lang="en-US" altLang="zh-CN" sz="2400" dirty="0">
                <a:solidFill>
                  <a:srgbClr val="FF0000"/>
                </a:solidFill>
                <a:sym typeface="Symbol" pitchFamily="18" charset="2"/>
              </a:rPr>
              <a:t></a:t>
            </a:r>
            <a:r>
              <a:rPr lang="en-US" altLang="zh-CN" sz="2400" b="1" dirty="0">
                <a:solidFill>
                  <a:srgbClr val="FF0000"/>
                </a:solidFill>
              </a:rPr>
              <a:t>X</a:t>
            </a:r>
            <a:r>
              <a:rPr lang="en-US" altLang="zh-CN" sz="2400" b="1" baseline="-25000" dirty="0">
                <a:solidFill>
                  <a:srgbClr val="FF0000"/>
                </a:solidFill>
              </a:rPr>
              <a:t>F</a:t>
            </a:r>
            <a:r>
              <a:rPr lang="en-US" altLang="zh-CN" sz="2400" b="1" baseline="30000" dirty="0">
                <a:solidFill>
                  <a:srgbClr val="FF0000"/>
                </a:solidFill>
              </a:rPr>
              <a:t>+ </a:t>
            </a:r>
            <a:r>
              <a:rPr lang="zh-CN" altLang="en-US" sz="2400" dirty="0"/>
              <a:t>，可以</a:t>
            </a:r>
            <a:r>
              <a:rPr lang="zh-CN" altLang="en-US" sz="2400" dirty="0">
                <a:solidFill>
                  <a:srgbClr val="FF0000"/>
                </a:solidFill>
              </a:rPr>
              <a:t>输出</a:t>
            </a:r>
            <a:r>
              <a:rPr lang="zh-CN" altLang="en-US" sz="2400" dirty="0"/>
              <a:t>一个函数依赖</a:t>
            </a:r>
            <a:r>
              <a:rPr lang="en-US" altLang="zh-CN" sz="2400" dirty="0">
                <a:solidFill>
                  <a:srgbClr val="0000FF"/>
                </a:solidFill>
                <a:sym typeface="Symbol" pitchFamily="18" charset="2"/>
              </a:rPr>
              <a:t>X</a:t>
            </a:r>
            <a:r>
              <a:rPr lang="en-US" altLang="zh-CN" sz="2400" dirty="0">
                <a:solidFill>
                  <a:srgbClr val="0000FF"/>
                </a:solidFill>
                <a:latin typeface="宋体" pitchFamily="2" charset="-122"/>
              </a:rPr>
              <a:t>→</a:t>
            </a:r>
            <a:r>
              <a:rPr lang="en-US" altLang="zh-CN" sz="2400" dirty="0">
                <a:solidFill>
                  <a:srgbClr val="0000FF"/>
                </a:solidFill>
                <a:sym typeface="Symbol" pitchFamily="18" charset="2"/>
              </a:rPr>
              <a:t>Y</a:t>
            </a:r>
            <a:endParaRPr lang="zh-CN" altLang="en-US" sz="2400" dirty="0">
              <a:solidFill>
                <a:srgbClr val="0000FF"/>
              </a:solidFill>
            </a:endParaRPr>
          </a:p>
        </p:txBody>
      </p:sp>
      <p:sp>
        <p:nvSpPr>
          <p:cNvPr id="5" name="文本框 4">
            <a:extLst>
              <a:ext uri="{FF2B5EF4-FFF2-40B4-BE49-F238E27FC236}">
                <a16:creationId xmlns:a16="http://schemas.microsoft.com/office/drawing/2014/main" id="{25F9940F-B948-7C08-D0BF-55D57E777886}"/>
              </a:ext>
            </a:extLst>
          </p:cNvPr>
          <p:cNvSpPr txBox="1"/>
          <p:nvPr/>
        </p:nvSpPr>
        <p:spPr>
          <a:xfrm>
            <a:off x="4139952" y="1812374"/>
            <a:ext cx="3692770" cy="461665"/>
          </a:xfrm>
          <a:prstGeom prst="rect">
            <a:avLst/>
          </a:prstGeom>
          <a:noFill/>
        </p:spPr>
        <p:txBody>
          <a:bodyPr wrap="square">
            <a:spAutoFit/>
          </a:bodyPr>
          <a:lstStyle/>
          <a:p>
            <a:r>
              <a:rPr lang="zh-CN" altLang="en-US" sz="2400" dirty="0">
                <a:solidFill>
                  <a:schemeClr val="tx2"/>
                </a:solidFill>
              </a:rPr>
              <a:t>备注：</a:t>
            </a:r>
            <a:r>
              <a:rPr lang="en-US" altLang="zh-CN" sz="2400" dirty="0">
                <a:solidFill>
                  <a:schemeClr val="tx2"/>
                </a:solidFill>
              </a:rPr>
              <a:t>K</a:t>
            </a:r>
            <a:r>
              <a:rPr lang="en-US" altLang="zh-CN" sz="2400" dirty="0">
                <a:solidFill>
                  <a:schemeClr val="tx2"/>
                </a:solidFill>
                <a:latin typeface="Arial"/>
              </a:rPr>
              <a:t>’</a:t>
            </a:r>
            <a:r>
              <a:rPr lang="zh-CN" altLang="en-US" sz="2400" dirty="0">
                <a:solidFill>
                  <a:schemeClr val="tx2"/>
                </a:solidFill>
                <a:latin typeface="Arial"/>
              </a:rPr>
              <a:t>表示</a:t>
            </a:r>
            <a:r>
              <a:rPr lang="en-US" altLang="zh-CN" sz="2400" dirty="0">
                <a:solidFill>
                  <a:schemeClr val="tx2"/>
                </a:solidFill>
                <a:latin typeface="Arial"/>
              </a:rPr>
              <a:t>K</a:t>
            </a:r>
            <a:r>
              <a:rPr lang="zh-CN" altLang="en-US" sz="2400" dirty="0">
                <a:solidFill>
                  <a:schemeClr val="tx2"/>
                </a:solidFill>
                <a:latin typeface="Arial"/>
              </a:rPr>
              <a:t>的真子集。</a:t>
            </a:r>
            <a:endParaRPr lang="zh-CN" altLang="en-US" dirty="0"/>
          </a:p>
        </p:txBody>
      </p:sp>
      <p:sp>
        <p:nvSpPr>
          <p:cNvPr id="3" name="页脚占位符 2">
            <a:extLst>
              <a:ext uri="{FF2B5EF4-FFF2-40B4-BE49-F238E27FC236}">
                <a16:creationId xmlns:a16="http://schemas.microsoft.com/office/drawing/2014/main" id="{BC4FCD46-82EA-B182-0F5D-3E3D9E3A4705}"/>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393CFE01-AA28-DEF2-7AFA-53055DC6ECB5}"/>
              </a:ext>
            </a:extLst>
          </p:cNvPr>
          <p:cNvSpPr>
            <a:spLocks noGrp="1"/>
          </p:cNvSpPr>
          <p:nvPr>
            <p:ph type="sldNum" sz="quarter" idx="12"/>
          </p:nvPr>
        </p:nvSpPr>
        <p:spPr/>
        <p:txBody>
          <a:bodyPr/>
          <a:lstStyle/>
          <a:p>
            <a:fld id="{A2D74603-B40B-4D66-8F6E-41C870D48932}" type="slidenum">
              <a:rPr lang="en-US" altLang="zh-CN" smtClean="0"/>
              <a:pPr/>
              <a:t>112</a:t>
            </a:fld>
            <a:r>
              <a:rPr lang="en-US" altLang="zh-CN"/>
              <a:t>/162</a:t>
            </a:r>
            <a:endParaRPr lang="en-US" altLang="zh-CN" dirty="0"/>
          </a:p>
        </p:txBody>
      </p:sp>
    </p:spTree>
    <p:extLst>
      <p:ext uri="{BB962C8B-B14F-4D97-AF65-F5344CB8AC3E}">
        <p14:creationId xmlns:p14="http://schemas.microsoft.com/office/powerpoint/2010/main" val="18670995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13347">
                                            <p:txEl>
                                              <p:pRg st="2" end="2"/>
                                            </p:txEl>
                                          </p:spTgt>
                                        </p:tgtEl>
                                        <p:attrNameLst>
                                          <p:attrName>style.visibility</p:attrName>
                                        </p:attrNameLst>
                                      </p:cBhvr>
                                      <p:to>
                                        <p:strVal val="visible"/>
                                      </p:to>
                                    </p:set>
                                    <p:animEffect transition="in" filter="fade">
                                      <p:cBhvr>
                                        <p:cTn id="7" dur="1000"/>
                                        <p:tgtEl>
                                          <p:spTgt spid="313347">
                                            <p:txEl>
                                              <p:pRg st="2" end="2"/>
                                            </p:txEl>
                                          </p:spTgt>
                                        </p:tgtEl>
                                      </p:cBhvr>
                                    </p:animEffect>
                                    <p:anim calcmode="lin" valueType="num">
                                      <p:cBhvr>
                                        <p:cTn id="8" dur="1000" fill="hold"/>
                                        <p:tgtEl>
                                          <p:spTgt spid="313347">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1334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13347">
                                            <p:txEl>
                                              <p:pRg st="3" end="3"/>
                                            </p:txEl>
                                          </p:spTgt>
                                        </p:tgtEl>
                                        <p:attrNameLst>
                                          <p:attrName>style.visibility</p:attrName>
                                        </p:attrNameLst>
                                      </p:cBhvr>
                                      <p:to>
                                        <p:strVal val="visible"/>
                                      </p:to>
                                    </p:set>
                                    <p:animEffect transition="in" filter="fade">
                                      <p:cBhvr>
                                        <p:cTn id="14" dur="1000"/>
                                        <p:tgtEl>
                                          <p:spTgt spid="313347">
                                            <p:txEl>
                                              <p:pRg st="3" end="3"/>
                                            </p:txEl>
                                          </p:spTgt>
                                        </p:tgtEl>
                                      </p:cBhvr>
                                    </p:animEffect>
                                    <p:anim calcmode="lin" valueType="num">
                                      <p:cBhvr>
                                        <p:cTn id="15" dur="1000" fill="hold"/>
                                        <p:tgtEl>
                                          <p:spTgt spid="313347">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1334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barn(inVertical)">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13347">
                                            <p:txEl>
                                              <p:pRg st="4" end="4"/>
                                            </p:txEl>
                                          </p:spTgt>
                                        </p:tgtEl>
                                        <p:attrNameLst>
                                          <p:attrName>style.visibility</p:attrName>
                                        </p:attrNameLst>
                                      </p:cBhvr>
                                      <p:to>
                                        <p:strVal val="visible"/>
                                      </p:to>
                                    </p:set>
                                    <p:animEffect transition="in" filter="fade">
                                      <p:cBhvr>
                                        <p:cTn id="26" dur="1000"/>
                                        <p:tgtEl>
                                          <p:spTgt spid="313347">
                                            <p:txEl>
                                              <p:pRg st="4" end="4"/>
                                            </p:txEl>
                                          </p:spTgt>
                                        </p:tgtEl>
                                      </p:cBhvr>
                                    </p:animEffect>
                                    <p:anim calcmode="lin" valueType="num">
                                      <p:cBhvr>
                                        <p:cTn id="27" dur="1000" fill="hold"/>
                                        <p:tgtEl>
                                          <p:spTgt spid="313347">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31334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13347">
                                            <p:txEl>
                                              <p:pRg st="5" end="5"/>
                                            </p:txEl>
                                          </p:spTgt>
                                        </p:tgtEl>
                                        <p:attrNameLst>
                                          <p:attrName>style.visibility</p:attrName>
                                        </p:attrNameLst>
                                      </p:cBhvr>
                                      <p:to>
                                        <p:strVal val="visible"/>
                                      </p:to>
                                    </p:set>
                                    <p:animEffect transition="in" filter="fade">
                                      <p:cBhvr>
                                        <p:cTn id="33" dur="1000"/>
                                        <p:tgtEl>
                                          <p:spTgt spid="313347">
                                            <p:txEl>
                                              <p:pRg st="5" end="5"/>
                                            </p:txEl>
                                          </p:spTgt>
                                        </p:tgtEl>
                                      </p:cBhvr>
                                    </p:animEffect>
                                    <p:anim calcmode="lin" valueType="num">
                                      <p:cBhvr>
                                        <p:cTn id="34" dur="1000" fill="hold"/>
                                        <p:tgtEl>
                                          <p:spTgt spid="313347">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31334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313347">
                                            <p:txEl>
                                              <p:pRg st="6" end="6"/>
                                            </p:txEl>
                                          </p:spTgt>
                                        </p:tgtEl>
                                        <p:attrNameLst>
                                          <p:attrName>style.visibility</p:attrName>
                                        </p:attrNameLst>
                                      </p:cBhvr>
                                      <p:to>
                                        <p:strVal val="visible"/>
                                      </p:to>
                                    </p:set>
                                    <p:animEffect transition="in" filter="fade">
                                      <p:cBhvr>
                                        <p:cTn id="40" dur="1000"/>
                                        <p:tgtEl>
                                          <p:spTgt spid="313347">
                                            <p:txEl>
                                              <p:pRg st="6" end="6"/>
                                            </p:txEl>
                                          </p:spTgt>
                                        </p:tgtEl>
                                      </p:cBhvr>
                                    </p:animEffect>
                                    <p:anim calcmode="lin" valueType="num">
                                      <p:cBhvr>
                                        <p:cTn id="41" dur="1000" fill="hold"/>
                                        <p:tgtEl>
                                          <p:spTgt spid="313347">
                                            <p:txEl>
                                              <p:pRg st="6" end="6"/>
                                            </p:txEl>
                                          </p:spTgt>
                                        </p:tgtEl>
                                        <p:attrNameLst>
                                          <p:attrName>ppt_x</p:attrName>
                                        </p:attrNameLst>
                                      </p:cBhvr>
                                      <p:tavLst>
                                        <p:tav tm="0">
                                          <p:val>
                                            <p:strVal val="#ppt_x"/>
                                          </p:val>
                                        </p:tav>
                                        <p:tav tm="100000">
                                          <p:val>
                                            <p:strVal val="#ppt_x"/>
                                          </p:val>
                                        </p:tav>
                                      </p:tavLst>
                                    </p:anim>
                                    <p:anim calcmode="lin" valueType="num">
                                      <p:cBhvr>
                                        <p:cTn id="42" dur="1000" fill="hold"/>
                                        <p:tgtEl>
                                          <p:spTgt spid="31334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313347">
                                            <p:txEl>
                                              <p:pRg st="7" end="7"/>
                                            </p:txEl>
                                          </p:spTgt>
                                        </p:tgtEl>
                                        <p:attrNameLst>
                                          <p:attrName>style.visibility</p:attrName>
                                        </p:attrNameLst>
                                      </p:cBhvr>
                                      <p:to>
                                        <p:strVal val="visible"/>
                                      </p:to>
                                    </p:set>
                                    <p:animEffect transition="in" filter="fade">
                                      <p:cBhvr>
                                        <p:cTn id="47" dur="1000"/>
                                        <p:tgtEl>
                                          <p:spTgt spid="313347">
                                            <p:txEl>
                                              <p:pRg st="7" end="7"/>
                                            </p:txEl>
                                          </p:spTgt>
                                        </p:tgtEl>
                                      </p:cBhvr>
                                    </p:animEffect>
                                    <p:anim calcmode="lin" valueType="num">
                                      <p:cBhvr>
                                        <p:cTn id="48" dur="1000" fill="hold"/>
                                        <p:tgtEl>
                                          <p:spTgt spid="313347">
                                            <p:txEl>
                                              <p:pRg st="7" end="7"/>
                                            </p:txEl>
                                          </p:spTgt>
                                        </p:tgtEl>
                                        <p:attrNameLst>
                                          <p:attrName>ppt_x</p:attrName>
                                        </p:attrNameLst>
                                      </p:cBhvr>
                                      <p:tavLst>
                                        <p:tav tm="0">
                                          <p:val>
                                            <p:strVal val="#ppt_x"/>
                                          </p:val>
                                        </p:tav>
                                        <p:tav tm="100000">
                                          <p:val>
                                            <p:strVal val="#ppt_x"/>
                                          </p:val>
                                        </p:tav>
                                      </p:tavLst>
                                    </p:anim>
                                    <p:anim calcmode="lin" valueType="num">
                                      <p:cBhvr>
                                        <p:cTn id="49" dur="1000" fill="hold"/>
                                        <p:tgtEl>
                                          <p:spTgt spid="31334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2A562FFB-F12E-41C2-80E9-120A6995DBCD}" type="datetime1">
              <a:rPr lang="zh-CN" altLang="en-US" smtClean="0"/>
              <a:t>2025/11/6</a:t>
            </a:fld>
            <a:endParaRPr lang="en-US" altLang="zh-CN"/>
          </a:p>
        </p:txBody>
      </p:sp>
      <p:sp>
        <p:nvSpPr>
          <p:cNvPr id="314370" name="Rectangle 2"/>
          <p:cNvSpPr>
            <a:spLocks noGrp="1" noChangeArrowheads="1"/>
          </p:cNvSpPr>
          <p:nvPr>
            <p:ph type="title"/>
          </p:nvPr>
        </p:nvSpPr>
        <p:spPr/>
        <p:txBody>
          <a:bodyPr/>
          <a:lstStyle/>
          <a:p>
            <a:r>
              <a:rPr lang="zh-CN" altLang="en-US" dirty="0"/>
              <a:t>求候选码方法要点</a:t>
            </a:r>
            <a:r>
              <a:rPr lang="en-US" altLang="zh-CN" dirty="0"/>
              <a:t>(</a:t>
            </a:r>
            <a:r>
              <a:rPr lang="zh-CN" altLang="en-US" dirty="0"/>
              <a:t>自己的总结</a:t>
            </a:r>
            <a:r>
              <a:rPr lang="en-US" altLang="zh-CN" dirty="0"/>
              <a:t>)</a:t>
            </a:r>
            <a:endParaRPr lang="zh-CN" altLang="en-US" dirty="0"/>
          </a:p>
        </p:txBody>
      </p:sp>
      <p:sp>
        <p:nvSpPr>
          <p:cNvPr id="314371" name="Rectangle 3"/>
          <p:cNvSpPr>
            <a:spLocks noGrp="1" noChangeArrowheads="1"/>
          </p:cNvSpPr>
          <p:nvPr>
            <p:ph type="body" idx="1"/>
          </p:nvPr>
        </p:nvSpPr>
        <p:spPr/>
        <p:txBody>
          <a:bodyPr/>
          <a:lstStyle/>
          <a:p>
            <a:pPr marL="609600" indent="-609600">
              <a:buFontTx/>
              <a:buAutoNum type="arabicPeriod"/>
            </a:pPr>
            <a:r>
              <a:rPr lang="zh-CN" altLang="en-US" dirty="0"/>
              <a:t>找出</a:t>
            </a:r>
            <a:r>
              <a:rPr lang="zh-CN" altLang="en-US" b="1" u="sng" dirty="0">
                <a:solidFill>
                  <a:schemeClr val="tx2"/>
                </a:solidFill>
              </a:rPr>
              <a:t>不出现</a:t>
            </a:r>
            <a:r>
              <a:rPr lang="zh-CN" altLang="en-US" u="sng" dirty="0"/>
              <a:t>在</a:t>
            </a:r>
            <a:r>
              <a:rPr lang="zh-CN" altLang="en-US" u="sng" dirty="0">
                <a:solidFill>
                  <a:srgbClr val="C00000"/>
                </a:solidFill>
              </a:rPr>
              <a:t>非平凡函数依赖</a:t>
            </a:r>
            <a:r>
              <a:rPr lang="zh-CN" altLang="en-US" b="1" u="sng" dirty="0">
                <a:solidFill>
                  <a:schemeClr val="tx2"/>
                </a:solidFill>
              </a:rPr>
              <a:t>右部</a:t>
            </a:r>
            <a:r>
              <a:rPr lang="zh-CN" altLang="en-US" dirty="0"/>
              <a:t>的</a:t>
            </a:r>
            <a:r>
              <a:rPr lang="zh-CN" altLang="en-US" b="1" dirty="0">
                <a:solidFill>
                  <a:srgbClr val="C00000"/>
                </a:solidFill>
              </a:rPr>
              <a:t>属性组</a:t>
            </a:r>
            <a:r>
              <a:rPr lang="en-US" altLang="zh-CN" b="1" dirty="0">
                <a:solidFill>
                  <a:srgbClr val="C00000"/>
                </a:solidFill>
              </a:rPr>
              <a:t>X</a:t>
            </a:r>
            <a:r>
              <a:rPr lang="zh-CN" altLang="en-US" dirty="0"/>
              <a:t>，它们一定</a:t>
            </a:r>
            <a:r>
              <a:rPr lang="zh-CN" altLang="en-US" b="1" dirty="0">
                <a:solidFill>
                  <a:schemeClr val="tx2"/>
                </a:solidFill>
              </a:rPr>
              <a:t>包含</a:t>
            </a:r>
            <a:r>
              <a:rPr lang="zh-CN" altLang="en-US" b="1" dirty="0">
                <a:solidFill>
                  <a:srgbClr val="0000FF"/>
                </a:solidFill>
              </a:rPr>
              <a:t>于</a:t>
            </a:r>
            <a:r>
              <a:rPr lang="zh-CN" altLang="en-US" dirty="0"/>
              <a:t>所有</a:t>
            </a:r>
            <a:r>
              <a:rPr lang="zh-CN" altLang="en-US" b="1" dirty="0">
                <a:solidFill>
                  <a:schemeClr val="tx2"/>
                </a:solidFill>
              </a:rPr>
              <a:t>候选码</a:t>
            </a:r>
            <a:r>
              <a:rPr lang="zh-CN" altLang="en-US" dirty="0"/>
              <a:t>。</a:t>
            </a:r>
          </a:p>
          <a:p>
            <a:pPr marL="609600" indent="-609600">
              <a:buFontTx/>
              <a:buAutoNum type="arabicPeriod"/>
            </a:pPr>
            <a:r>
              <a:rPr lang="zh-CN" altLang="en-US" dirty="0"/>
              <a:t>求</a:t>
            </a:r>
            <a:r>
              <a:rPr lang="en-US" altLang="zh-CN" dirty="0"/>
              <a:t>X</a:t>
            </a:r>
            <a:r>
              <a:rPr lang="en-US" altLang="zh-CN" baseline="-25000" dirty="0"/>
              <a:t>F</a:t>
            </a:r>
            <a:r>
              <a:rPr lang="en-US" altLang="zh-CN" baseline="30000" dirty="0"/>
              <a:t>+</a:t>
            </a:r>
            <a:r>
              <a:rPr lang="zh-CN" altLang="en-US" dirty="0"/>
              <a:t>，判断＝</a:t>
            </a:r>
            <a:r>
              <a:rPr lang="en-US" altLang="zh-CN" dirty="0">
                <a:solidFill>
                  <a:srgbClr val="C00000"/>
                </a:solidFill>
              </a:rPr>
              <a:t>U</a:t>
            </a:r>
            <a:r>
              <a:rPr lang="zh-CN" altLang="en-US" dirty="0"/>
              <a:t>？成立结束，否则转</a:t>
            </a:r>
            <a:r>
              <a:rPr lang="en-US" altLang="zh-CN" dirty="0"/>
              <a:t>3</a:t>
            </a:r>
            <a:r>
              <a:rPr lang="zh-CN" altLang="en-US" dirty="0"/>
              <a:t>。</a:t>
            </a:r>
          </a:p>
          <a:p>
            <a:pPr marL="609600" indent="-609600">
              <a:buFontTx/>
              <a:buAutoNum type="arabicPeriod"/>
            </a:pPr>
            <a:r>
              <a:rPr lang="en-US" altLang="zh-CN" dirty="0"/>
              <a:t>(</a:t>
            </a:r>
            <a:r>
              <a:rPr lang="zh-CN" altLang="en-US" dirty="0"/>
              <a:t>自底向上</a:t>
            </a:r>
            <a:r>
              <a:rPr lang="en-US" altLang="zh-CN" dirty="0"/>
              <a:t>)</a:t>
            </a:r>
            <a:r>
              <a:rPr lang="zh-CN" altLang="en-US" b="1" dirty="0">
                <a:solidFill>
                  <a:schemeClr val="tx2"/>
                </a:solidFill>
              </a:rPr>
              <a:t>扩展</a:t>
            </a:r>
            <a:r>
              <a:rPr lang="en-US" altLang="zh-CN" dirty="0"/>
              <a:t>X</a:t>
            </a:r>
            <a:r>
              <a:rPr lang="zh-CN" altLang="en-US" dirty="0"/>
              <a:t>的</a:t>
            </a:r>
            <a:r>
              <a:rPr lang="en-US" altLang="zh-CN" dirty="0"/>
              <a:t>X</a:t>
            </a:r>
            <a:r>
              <a:rPr lang="en-US" altLang="zh-CN" dirty="0">
                <a:latin typeface="Arial"/>
              </a:rPr>
              <a:t>’’</a:t>
            </a:r>
            <a:r>
              <a:rPr lang="zh-CN" altLang="en-US" dirty="0"/>
              <a:t>，求</a:t>
            </a:r>
            <a:r>
              <a:rPr lang="en-US" altLang="zh-CN" dirty="0"/>
              <a:t>X</a:t>
            </a:r>
            <a:r>
              <a:rPr lang="en-US" altLang="zh-CN" dirty="0">
                <a:latin typeface="Arial"/>
              </a:rPr>
              <a:t>’’</a:t>
            </a:r>
            <a:r>
              <a:rPr lang="en-US" altLang="zh-CN" baseline="-25000" dirty="0"/>
              <a:t>F</a:t>
            </a:r>
            <a:r>
              <a:rPr lang="en-US" altLang="zh-CN" baseline="30000" dirty="0"/>
              <a:t>+</a:t>
            </a:r>
            <a:r>
              <a:rPr lang="zh-CN" altLang="en-US" dirty="0"/>
              <a:t>，判断＝</a:t>
            </a:r>
            <a:r>
              <a:rPr lang="en-US" altLang="zh-CN" dirty="0"/>
              <a:t>U</a:t>
            </a:r>
            <a:r>
              <a:rPr lang="zh-CN" altLang="en-US" dirty="0"/>
              <a:t>？直到</a:t>
            </a:r>
            <a:r>
              <a:rPr lang="zh-CN" altLang="en-US" b="1" dirty="0">
                <a:solidFill>
                  <a:schemeClr val="tx2"/>
                </a:solidFill>
              </a:rPr>
              <a:t>所有情况</a:t>
            </a:r>
            <a:r>
              <a:rPr lang="zh-CN" altLang="en-US" dirty="0"/>
              <a:t>找完为止。</a:t>
            </a:r>
          </a:p>
        </p:txBody>
      </p:sp>
      <p:sp>
        <p:nvSpPr>
          <p:cNvPr id="3" name="页脚占位符 2">
            <a:extLst>
              <a:ext uri="{FF2B5EF4-FFF2-40B4-BE49-F238E27FC236}">
                <a16:creationId xmlns:a16="http://schemas.microsoft.com/office/drawing/2014/main" id="{53EC5C6B-C6CB-98BF-CF5F-A19E855B64B3}"/>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EA393A24-C77C-0C79-586E-3F1DD500BDB2}"/>
              </a:ext>
            </a:extLst>
          </p:cNvPr>
          <p:cNvSpPr>
            <a:spLocks noGrp="1"/>
          </p:cNvSpPr>
          <p:nvPr>
            <p:ph type="sldNum" sz="quarter" idx="12"/>
          </p:nvPr>
        </p:nvSpPr>
        <p:spPr/>
        <p:txBody>
          <a:bodyPr/>
          <a:lstStyle/>
          <a:p>
            <a:fld id="{A2D74603-B40B-4D66-8F6E-41C870D48932}" type="slidenum">
              <a:rPr lang="en-US" altLang="zh-CN" smtClean="0"/>
              <a:pPr/>
              <a:t>113</a:t>
            </a:fld>
            <a:r>
              <a:rPr lang="en-US" altLang="zh-CN"/>
              <a:t>/162</a:t>
            </a:r>
            <a:endParaRPr lang="en-US" altLang="zh-CN" dirty="0"/>
          </a:p>
        </p:txBody>
      </p:sp>
    </p:spTree>
    <p:extLst>
      <p:ext uri="{BB962C8B-B14F-4D97-AF65-F5344CB8AC3E}">
        <p14:creationId xmlns:p14="http://schemas.microsoft.com/office/powerpoint/2010/main" val="2500145871"/>
      </p:ext>
    </p:extLst>
  </p:cSld>
  <p:clrMapOvr>
    <a:masterClrMapping/>
  </p:clrMapOvr>
  <p:transition>
    <p:fad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E7999B23-9930-46A0-8C75-1942B91DFC1E}" type="datetime1">
              <a:rPr lang="zh-CN" altLang="en-US" smtClean="0"/>
              <a:t>2025/11/6</a:t>
            </a:fld>
            <a:endParaRPr lang="en-US" altLang="zh-CN"/>
          </a:p>
        </p:txBody>
      </p:sp>
      <p:sp>
        <p:nvSpPr>
          <p:cNvPr id="315394" name="Rectangle 2"/>
          <p:cNvSpPr>
            <a:spLocks noGrp="1" noChangeArrowheads="1"/>
          </p:cNvSpPr>
          <p:nvPr>
            <p:ph type="title"/>
          </p:nvPr>
        </p:nvSpPr>
        <p:spPr/>
        <p:txBody>
          <a:bodyPr/>
          <a:lstStyle/>
          <a:p>
            <a:r>
              <a:rPr lang="zh-CN" altLang="en-US"/>
              <a:t>例</a:t>
            </a:r>
          </a:p>
        </p:txBody>
      </p:sp>
      <p:sp>
        <p:nvSpPr>
          <p:cNvPr id="315395" name="Rectangle 3"/>
          <p:cNvSpPr>
            <a:spLocks noGrp="1" noChangeArrowheads="1"/>
          </p:cNvSpPr>
          <p:nvPr>
            <p:ph type="body" idx="1"/>
          </p:nvPr>
        </p:nvSpPr>
        <p:spPr/>
        <p:txBody>
          <a:bodyPr/>
          <a:lstStyle/>
          <a:p>
            <a:r>
              <a:rPr lang="zh-CN" altLang="en-US" sz="2800" dirty="0"/>
              <a:t>对于前面的例</a:t>
            </a:r>
            <a:r>
              <a:rPr lang="en-US" altLang="zh-CN" sz="2800" dirty="0"/>
              <a:t>1</a:t>
            </a:r>
            <a:r>
              <a:rPr lang="zh-CN" altLang="en-US" sz="2800" dirty="0"/>
              <a:t>，求所有候选码</a:t>
            </a:r>
          </a:p>
          <a:p>
            <a:r>
              <a:rPr lang="zh-CN" altLang="en-US" sz="2800" dirty="0"/>
              <a:t>要点：</a:t>
            </a:r>
          </a:p>
          <a:p>
            <a:pPr lvl="1"/>
            <a:r>
              <a:rPr lang="zh-CN" altLang="en-US" sz="2400" dirty="0">
                <a:solidFill>
                  <a:schemeClr val="tx2"/>
                </a:solidFill>
              </a:rPr>
              <a:t>不出现</a:t>
            </a:r>
            <a:r>
              <a:rPr lang="zh-CN" altLang="en-US" sz="2400" dirty="0"/>
              <a:t>在任何</a:t>
            </a:r>
            <a:r>
              <a:rPr lang="zh-CN" altLang="en-US" sz="2400" dirty="0">
                <a:solidFill>
                  <a:schemeClr val="tx2"/>
                </a:solidFill>
              </a:rPr>
              <a:t>函数依赖右部</a:t>
            </a:r>
            <a:r>
              <a:rPr lang="zh-CN" altLang="en-US" sz="2400" dirty="0"/>
              <a:t>的只有</a:t>
            </a:r>
            <a:r>
              <a:rPr lang="en-US" altLang="zh-CN" sz="2400" b="1" dirty="0">
                <a:solidFill>
                  <a:srgbClr val="C00000"/>
                </a:solidFill>
              </a:rPr>
              <a:t>A</a:t>
            </a:r>
            <a:r>
              <a:rPr lang="zh-CN" altLang="en-US" sz="2400" dirty="0"/>
              <a:t>；</a:t>
            </a:r>
          </a:p>
          <a:p>
            <a:pPr lvl="1"/>
            <a:r>
              <a:rPr lang="zh-CN" altLang="en-US" sz="2400" dirty="0"/>
              <a:t>求</a:t>
            </a:r>
            <a:r>
              <a:rPr lang="en-US" altLang="zh-CN" sz="2400" dirty="0"/>
              <a:t>A</a:t>
            </a:r>
            <a:r>
              <a:rPr lang="en-US" altLang="zh-CN" sz="2400" baseline="-25000" dirty="0"/>
              <a:t>F</a:t>
            </a:r>
            <a:r>
              <a:rPr lang="en-US" altLang="zh-CN" sz="2400" baseline="30000" dirty="0"/>
              <a:t>+</a:t>
            </a:r>
            <a:r>
              <a:rPr lang="zh-CN" altLang="en-US" sz="2400" dirty="0"/>
              <a:t>＝</a:t>
            </a:r>
            <a:r>
              <a:rPr lang="en-US" altLang="zh-CN" sz="2400" dirty="0"/>
              <a:t>A</a:t>
            </a:r>
            <a:r>
              <a:rPr lang="zh-CN" altLang="en-US" sz="2400" dirty="0"/>
              <a:t>；</a:t>
            </a:r>
          </a:p>
          <a:p>
            <a:pPr lvl="1"/>
            <a:r>
              <a:rPr lang="zh-CN" altLang="en-US" sz="2400" dirty="0"/>
              <a:t>扩展</a:t>
            </a:r>
          </a:p>
          <a:p>
            <a:pPr lvl="2"/>
            <a:r>
              <a:rPr lang="en-US" altLang="zh-CN" sz="2000" dirty="0"/>
              <a:t>AB</a:t>
            </a:r>
            <a:r>
              <a:rPr lang="zh-CN" altLang="en-US" sz="2000" dirty="0"/>
              <a:t>，</a:t>
            </a:r>
            <a:r>
              <a:rPr lang="en-US" altLang="zh-CN" sz="2000" dirty="0"/>
              <a:t>AB</a:t>
            </a:r>
            <a:r>
              <a:rPr lang="en-US" altLang="zh-CN" sz="2000" baseline="-25000" dirty="0"/>
              <a:t>F</a:t>
            </a:r>
            <a:r>
              <a:rPr lang="en-US" altLang="zh-CN" sz="2000" baseline="30000" dirty="0"/>
              <a:t>+</a:t>
            </a:r>
            <a:r>
              <a:rPr lang="zh-CN" altLang="en-US" sz="2000" dirty="0"/>
              <a:t>＝</a:t>
            </a:r>
            <a:r>
              <a:rPr lang="en-US" altLang="zh-CN" sz="2000" dirty="0"/>
              <a:t>U</a:t>
            </a:r>
            <a:r>
              <a:rPr lang="zh-CN" altLang="en-US" sz="2000" dirty="0"/>
              <a:t>；</a:t>
            </a:r>
          </a:p>
          <a:p>
            <a:pPr lvl="2"/>
            <a:r>
              <a:rPr lang="en-US" altLang="zh-CN" sz="2000" dirty="0"/>
              <a:t>AC</a:t>
            </a:r>
            <a:r>
              <a:rPr lang="zh-CN" altLang="en-US" sz="2000" dirty="0"/>
              <a:t>，</a:t>
            </a:r>
            <a:r>
              <a:rPr lang="en-US" altLang="zh-CN" sz="2000" dirty="0"/>
              <a:t>AC</a:t>
            </a:r>
            <a:r>
              <a:rPr lang="en-US" altLang="zh-CN" sz="2000" baseline="-25000" dirty="0"/>
              <a:t>F</a:t>
            </a:r>
            <a:r>
              <a:rPr lang="en-US" altLang="zh-CN" sz="2000" baseline="30000" dirty="0"/>
              <a:t>+</a:t>
            </a:r>
            <a:r>
              <a:rPr lang="zh-CN" altLang="en-US" sz="2000" dirty="0"/>
              <a:t>＝</a:t>
            </a:r>
            <a:r>
              <a:rPr lang="en-US" altLang="zh-CN" sz="2000" dirty="0"/>
              <a:t>U</a:t>
            </a:r>
            <a:r>
              <a:rPr lang="zh-CN" altLang="en-US" sz="2000" dirty="0"/>
              <a:t>；</a:t>
            </a:r>
          </a:p>
          <a:p>
            <a:pPr lvl="2"/>
            <a:r>
              <a:rPr lang="en-US" altLang="zh-CN" sz="2000" dirty="0"/>
              <a:t>AD</a:t>
            </a:r>
            <a:r>
              <a:rPr lang="zh-CN" altLang="en-US" sz="2000" dirty="0"/>
              <a:t>，</a:t>
            </a:r>
            <a:r>
              <a:rPr lang="en-US" altLang="zh-CN" sz="2000" dirty="0"/>
              <a:t>AD</a:t>
            </a:r>
            <a:r>
              <a:rPr lang="en-US" altLang="zh-CN" sz="2000" baseline="-25000" dirty="0"/>
              <a:t>F</a:t>
            </a:r>
            <a:r>
              <a:rPr lang="en-US" altLang="zh-CN" sz="2000" baseline="30000" dirty="0"/>
              <a:t>+</a:t>
            </a:r>
            <a:r>
              <a:rPr lang="en-US" altLang="zh-CN" sz="2000" dirty="0"/>
              <a:t> </a:t>
            </a:r>
            <a:r>
              <a:rPr lang="zh-CN" altLang="en-US" sz="2000" dirty="0"/>
              <a:t>！＝</a:t>
            </a:r>
            <a:r>
              <a:rPr lang="en-US" altLang="zh-CN" sz="2000" dirty="0"/>
              <a:t>U</a:t>
            </a:r>
            <a:r>
              <a:rPr lang="zh-CN" altLang="en-US" sz="2000" dirty="0"/>
              <a:t>；（需再扩展）</a:t>
            </a:r>
          </a:p>
          <a:p>
            <a:pPr lvl="2"/>
            <a:r>
              <a:rPr lang="en-US" altLang="zh-CN" sz="2000" dirty="0"/>
              <a:t>AE</a:t>
            </a:r>
            <a:r>
              <a:rPr lang="zh-CN" altLang="en-US" sz="2000" dirty="0"/>
              <a:t>， </a:t>
            </a:r>
            <a:r>
              <a:rPr lang="en-US" altLang="zh-CN" sz="2000" dirty="0"/>
              <a:t>AE</a:t>
            </a:r>
            <a:r>
              <a:rPr lang="en-US" altLang="zh-CN" sz="2000" baseline="-25000" dirty="0"/>
              <a:t>F</a:t>
            </a:r>
            <a:r>
              <a:rPr lang="en-US" altLang="zh-CN" sz="2000" baseline="30000" dirty="0"/>
              <a:t>+</a:t>
            </a:r>
            <a:r>
              <a:rPr lang="en-US" altLang="zh-CN" sz="2000" dirty="0"/>
              <a:t> </a:t>
            </a:r>
            <a:r>
              <a:rPr lang="zh-CN" altLang="en-US" sz="2000" dirty="0"/>
              <a:t>！＝</a:t>
            </a:r>
            <a:r>
              <a:rPr lang="en-US" altLang="zh-CN" sz="2000" dirty="0"/>
              <a:t>U</a:t>
            </a:r>
            <a:r>
              <a:rPr lang="zh-CN" altLang="en-US" sz="2000" dirty="0"/>
              <a:t>；（需再扩展）</a:t>
            </a:r>
          </a:p>
          <a:p>
            <a:pPr lvl="2"/>
            <a:r>
              <a:rPr lang="zh-CN" altLang="en-US" sz="2000" dirty="0"/>
              <a:t>再扩展</a:t>
            </a:r>
          </a:p>
          <a:p>
            <a:pPr lvl="3"/>
            <a:r>
              <a:rPr lang="en-US" altLang="zh-CN" dirty="0"/>
              <a:t>ADE</a:t>
            </a:r>
            <a:r>
              <a:rPr lang="zh-CN" altLang="en-US" dirty="0"/>
              <a:t>，</a:t>
            </a:r>
            <a:r>
              <a:rPr lang="en-US" altLang="zh-CN" dirty="0"/>
              <a:t>ADE</a:t>
            </a:r>
            <a:r>
              <a:rPr lang="en-US" altLang="zh-CN" baseline="-25000" dirty="0"/>
              <a:t>F</a:t>
            </a:r>
            <a:r>
              <a:rPr lang="en-US" altLang="zh-CN" baseline="30000" dirty="0"/>
              <a:t>+</a:t>
            </a:r>
            <a:r>
              <a:rPr lang="en-US" altLang="zh-CN" dirty="0"/>
              <a:t> </a:t>
            </a:r>
            <a:r>
              <a:rPr lang="zh-CN" altLang="en-US" dirty="0"/>
              <a:t>！＝</a:t>
            </a:r>
            <a:r>
              <a:rPr lang="en-US" altLang="zh-CN" dirty="0"/>
              <a:t>U</a:t>
            </a:r>
            <a:endParaRPr lang="zh-CN" altLang="en-US" sz="1800" dirty="0"/>
          </a:p>
        </p:txBody>
      </p:sp>
      <p:sp>
        <p:nvSpPr>
          <p:cNvPr id="2" name="右大括号 1"/>
          <p:cNvSpPr/>
          <p:nvPr/>
        </p:nvSpPr>
        <p:spPr bwMode="auto">
          <a:xfrm>
            <a:off x="3505200" y="3733800"/>
            <a:ext cx="152400" cy="764232"/>
          </a:xfrm>
          <a:prstGeom prst="rightBrace">
            <a:avLst>
              <a:gd name="adj1" fmla="val 75000"/>
              <a:gd name="adj2" fmla="val 48485"/>
            </a:avLst>
          </a:prstGeom>
          <a:ln>
            <a:solidFill>
              <a:schemeClr val="tx2"/>
            </a:solidFill>
            <a:headEnd type="none" w="med" len="med"/>
            <a:tailEnd type="none" w="med" len="med"/>
          </a:ln>
        </p:spPr>
        <p:style>
          <a:lnRef idx="2">
            <a:schemeClr val="dk1"/>
          </a:lnRef>
          <a:fillRef idx="0">
            <a:schemeClr val="dk1"/>
          </a:fillRef>
          <a:effectRef idx="1">
            <a:schemeClr val="dk1"/>
          </a:effectRef>
          <a:fontRef idx="minor">
            <a:schemeClr val="tx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sp>
        <p:nvSpPr>
          <p:cNvPr id="3" name="TextBox 2"/>
          <p:cNvSpPr txBox="1"/>
          <p:nvPr/>
        </p:nvSpPr>
        <p:spPr>
          <a:xfrm>
            <a:off x="3657600" y="3885083"/>
            <a:ext cx="1723549" cy="461665"/>
          </a:xfrm>
          <a:prstGeom prst="rect">
            <a:avLst/>
          </a:prstGeom>
          <a:noFill/>
        </p:spPr>
        <p:txBody>
          <a:bodyPr wrap="none" rtlCol="0">
            <a:spAutoFit/>
          </a:bodyPr>
          <a:lstStyle/>
          <a:p>
            <a:r>
              <a:rPr lang="zh-CN" altLang="en-US" dirty="0">
                <a:solidFill>
                  <a:schemeClr val="tx2"/>
                </a:solidFill>
              </a:rPr>
              <a:t>两个候选码</a:t>
            </a:r>
          </a:p>
        </p:txBody>
      </p:sp>
      <p:sp>
        <p:nvSpPr>
          <p:cNvPr id="7" name="矩形 6"/>
          <p:cNvSpPr/>
          <p:nvPr/>
        </p:nvSpPr>
        <p:spPr>
          <a:xfrm>
            <a:off x="1850020" y="304800"/>
            <a:ext cx="6934200" cy="830997"/>
          </a:xfrm>
          <a:prstGeom prst="rect">
            <a:avLst/>
          </a:prstGeom>
        </p:spPr>
        <p:txBody>
          <a:bodyPr wrap="square">
            <a:spAutoFit/>
          </a:bodyPr>
          <a:lstStyle/>
          <a:p>
            <a:r>
              <a:rPr lang="zh-CN" altLang="en-US" dirty="0"/>
              <a:t>例</a:t>
            </a:r>
            <a:r>
              <a:rPr lang="en-US" altLang="zh-CN" dirty="0"/>
              <a:t>1 </a:t>
            </a:r>
            <a:r>
              <a:rPr lang="zh-CN" altLang="en-US" dirty="0"/>
              <a:t>关系模式</a:t>
            </a:r>
            <a:r>
              <a:rPr lang="en-US" altLang="zh-CN" dirty="0"/>
              <a:t>R&lt;U,F&gt;,U={A,B,C,D,E}, F={ </a:t>
            </a:r>
            <a:r>
              <a:rPr lang="en-US" altLang="zh-CN" dirty="0">
                <a:solidFill>
                  <a:schemeClr val="tx2"/>
                </a:solidFill>
              </a:rPr>
              <a:t>AB</a:t>
            </a:r>
            <a:r>
              <a:rPr lang="en-US" altLang="zh-CN" dirty="0">
                <a:solidFill>
                  <a:schemeClr val="tx2"/>
                </a:solidFill>
                <a:latin typeface="宋体" pitchFamily="2" charset="-122"/>
              </a:rPr>
              <a:t>→</a:t>
            </a:r>
            <a:r>
              <a:rPr lang="en-US" altLang="zh-CN" dirty="0">
                <a:solidFill>
                  <a:schemeClr val="tx2"/>
                </a:solidFill>
              </a:rPr>
              <a:t>C</a:t>
            </a:r>
            <a:r>
              <a:rPr lang="en-US" altLang="zh-CN" dirty="0"/>
              <a:t>, </a:t>
            </a:r>
            <a:r>
              <a:rPr lang="en-US" altLang="zh-CN" dirty="0">
                <a:solidFill>
                  <a:schemeClr val="tx2"/>
                </a:solidFill>
              </a:rPr>
              <a:t>B</a:t>
            </a:r>
            <a:r>
              <a:rPr lang="en-US" altLang="zh-CN" dirty="0">
                <a:solidFill>
                  <a:schemeClr val="tx2"/>
                </a:solidFill>
                <a:latin typeface="宋体" pitchFamily="2" charset="-122"/>
              </a:rPr>
              <a:t>→</a:t>
            </a:r>
            <a:r>
              <a:rPr lang="en-US" altLang="zh-CN" dirty="0">
                <a:solidFill>
                  <a:schemeClr val="tx2"/>
                </a:solidFill>
              </a:rPr>
              <a:t>D</a:t>
            </a:r>
            <a:r>
              <a:rPr lang="en-US" altLang="zh-CN" dirty="0"/>
              <a:t>, </a:t>
            </a:r>
            <a:r>
              <a:rPr lang="en-US" altLang="zh-CN" u="sng" dirty="0">
                <a:solidFill>
                  <a:srgbClr val="C00000"/>
                </a:solidFill>
              </a:rPr>
              <a:t>C</a:t>
            </a:r>
            <a:r>
              <a:rPr lang="en-US" altLang="zh-CN" u="sng" dirty="0">
                <a:solidFill>
                  <a:srgbClr val="C00000"/>
                </a:solidFill>
                <a:latin typeface="宋体" pitchFamily="2" charset="-122"/>
              </a:rPr>
              <a:t>→</a:t>
            </a:r>
            <a:r>
              <a:rPr lang="en-US" altLang="zh-CN" u="sng" dirty="0">
                <a:solidFill>
                  <a:srgbClr val="C00000"/>
                </a:solidFill>
              </a:rPr>
              <a:t>E</a:t>
            </a:r>
            <a:r>
              <a:rPr lang="en-US" altLang="zh-CN" dirty="0"/>
              <a:t>, </a:t>
            </a:r>
            <a:r>
              <a:rPr lang="en-US" altLang="zh-CN" dirty="0">
                <a:solidFill>
                  <a:schemeClr val="tx2"/>
                </a:solidFill>
              </a:rPr>
              <a:t>EC</a:t>
            </a:r>
            <a:r>
              <a:rPr lang="en-US" altLang="zh-CN" dirty="0">
                <a:solidFill>
                  <a:schemeClr val="tx2"/>
                </a:solidFill>
                <a:latin typeface="宋体" pitchFamily="2" charset="-122"/>
              </a:rPr>
              <a:t>→</a:t>
            </a:r>
            <a:r>
              <a:rPr lang="en-US" altLang="zh-CN" dirty="0">
                <a:solidFill>
                  <a:schemeClr val="tx2"/>
                </a:solidFill>
              </a:rPr>
              <a:t>B</a:t>
            </a:r>
            <a:r>
              <a:rPr lang="en-US" altLang="zh-CN" dirty="0"/>
              <a:t>, </a:t>
            </a:r>
            <a:r>
              <a:rPr lang="en-US" altLang="zh-CN" u="sng" dirty="0">
                <a:solidFill>
                  <a:srgbClr val="C00000"/>
                </a:solidFill>
              </a:rPr>
              <a:t>AC</a:t>
            </a:r>
            <a:r>
              <a:rPr lang="en-US" altLang="zh-CN" u="sng" dirty="0">
                <a:solidFill>
                  <a:srgbClr val="C00000"/>
                </a:solidFill>
                <a:latin typeface="宋体" pitchFamily="2" charset="-122"/>
              </a:rPr>
              <a:t>→</a:t>
            </a:r>
            <a:r>
              <a:rPr lang="en-US" altLang="zh-CN" u="sng" dirty="0">
                <a:solidFill>
                  <a:srgbClr val="C00000"/>
                </a:solidFill>
              </a:rPr>
              <a:t>B</a:t>
            </a:r>
            <a:r>
              <a:rPr lang="en-US" altLang="zh-CN" dirty="0"/>
              <a:t>}, </a:t>
            </a:r>
            <a:r>
              <a:rPr lang="zh-CN" altLang="en-US" dirty="0"/>
              <a:t>求</a:t>
            </a:r>
            <a:r>
              <a:rPr lang="en-US" altLang="zh-CN" dirty="0">
                <a:sym typeface="Greek Symbols" pitchFamily="18" charset="2"/>
              </a:rPr>
              <a:t>(AC)</a:t>
            </a:r>
            <a:r>
              <a:rPr lang="en-US" altLang="zh-CN" baseline="-25000" dirty="0">
                <a:sym typeface="Greek Symbols" pitchFamily="18" charset="2"/>
              </a:rPr>
              <a:t>F</a:t>
            </a:r>
            <a:r>
              <a:rPr lang="en-US" altLang="zh-CN" baseline="30000" dirty="0">
                <a:sym typeface="Greek Symbols" pitchFamily="18" charset="2"/>
              </a:rPr>
              <a:t>+</a:t>
            </a:r>
            <a:endParaRPr lang="en-US" altLang="zh-CN" dirty="0"/>
          </a:p>
        </p:txBody>
      </p:sp>
      <p:sp>
        <p:nvSpPr>
          <p:cNvPr id="5" name="页脚占位符 4">
            <a:extLst>
              <a:ext uri="{FF2B5EF4-FFF2-40B4-BE49-F238E27FC236}">
                <a16:creationId xmlns:a16="http://schemas.microsoft.com/office/drawing/2014/main" id="{18CB51AB-E46C-BDE4-1839-2DCDD9343D66}"/>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CC1E06E3-7499-3065-EFFF-C37C77B184D9}"/>
              </a:ext>
            </a:extLst>
          </p:cNvPr>
          <p:cNvSpPr>
            <a:spLocks noGrp="1"/>
          </p:cNvSpPr>
          <p:nvPr>
            <p:ph type="sldNum" sz="quarter" idx="12"/>
          </p:nvPr>
        </p:nvSpPr>
        <p:spPr/>
        <p:txBody>
          <a:bodyPr/>
          <a:lstStyle/>
          <a:p>
            <a:fld id="{A2D74603-B40B-4D66-8F6E-41C870D48932}" type="slidenum">
              <a:rPr lang="en-US" altLang="zh-CN" smtClean="0"/>
              <a:pPr/>
              <a:t>114</a:t>
            </a:fld>
            <a:r>
              <a:rPr lang="en-US" altLang="zh-CN"/>
              <a:t>/162</a:t>
            </a:r>
            <a:endParaRPr lang="en-US" altLang="zh-CN" dirty="0"/>
          </a:p>
        </p:txBody>
      </p:sp>
    </p:spTree>
    <p:extLst>
      <p:ext uri="{BB962C8B-B14F-4D97-AF65-F5344CB8AC3E}">
        <p14:creationId xmlns:p14="http://schemas.microsoft.com/office/powerpoint/2010/main" val="33309757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circle(in)">
                                      <p:cBhvr>
                                        <p:cTn id="13" dur="750"/>
                                        <p:tgtEl>
                                          <p:spTgt spid="3"/>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circle(in)">
                                      <p:cBhvr>
                                        <p:cTn id="16" dur="7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7"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31D2D94B-0FB7-475F-BA13-4B3DA27FA7BA}" type="datetime1">
              <a:rPr lang="zh-CN" altLang="en-US" smtClean="0"/>
              <a:t>2025/11/6</a:t>
            </a:fld>
            <a:endParaRPr lang="en-US" altLang="zh-CN"/>
          </a:p>
        </p:txBody>
      </p:sp>
      <p:sp>
        <p:nvSpPr>
          <p:cNvPr id="310274" name="Rectangle 2"/>
          <p:cNvSpPr>
            <a:spLocks noGrp="1" noChangeArrowheads="1"/>
          </p:cNvSpPr>
          <p:nvPr>
            <p:ph type="title"/>
          </p:nvPr>
        </p:nvSpPr>
        <p:spPr/>
        <p:txBody>
          <a:bodyPr/>
          <a:lstStyle/>
          <a:p>
            <a:r>
              <a:rPr lang="en-US" altLang="zh-CN" dirty="0"/>
              <a:t>Armstrong </a:t>
            </a:r>
            <a:r>
              <a:rPr lang="zh-CN" altLang="en-US" dirty="0"/>
              <a:t>公理系统</a:t>
            </a:r>
          </a:p>
        </p:txBody>
      </p:sp>
      <p:sp>
        <p:nvSpPr>
          <p:cNvPr id="310275" name="Rectangle 3"/>
          <p:cNvSpPr>
            <a:spLocks noGrp="1" noChangeArrowheads="1"/>
          </p:cNvSpPr>
          <p:nvPr>
            <p:ph type="body" idx="1"/>
          </p:nvPr>
        </p:nvSpPr>
        <p:spPr>
          <a:xfrm>
            <a:off x="609600" y="1447800"/>
            <a:ext cx="8345488" cy="5053034"/>
          </a:xfrm>
        </p:spPr>
        <p:txBody>
          <a:bodyPr/>
          <a:lstStyle/>
          <a:p>
            <a:pPr>
              <a:buNone/>
            </a:pPr>
            <a:r>
              <a:rPr lang="zh-CN" altLang="en-US" sz="2800" dirty="0"/>
              <a:t>把</a:t>
            </a:r>
            <a:r>
              <a:rPr lang="zh-CN" altLang="en-US" sz="2800" dirty="0">
                <a:solidFill>
                  <a:srgbClr val="0000FF"/>
                </a:solidFill>
              </a:rPr>
              <a:t>自反律、传递率</a:t>
            </a:r>
            <a:r>
              <a:rPr lang="zh-CN" altLang="en-US" sz="2800" dirty="0"/>
              <a:t>和</a:t>
            </a:r>
            <a:r>
              <a:rPr lang="zh-CN" altLang="en-US" sz="2800" dirty="0">
                <a:solidFill>
                  <a:srgbClr val="0000FF"/>
                </a:solidFill>
              </a:rPr>
              <a:t>增广律</a:t>
            </a:r>
            <a:r>
              <a:rPr lang="zh-CN" altLang="en-US" sz="2800" dirty="0"/>
              <a:t>称为</a:t>
            </a:r>
            <a:r>
              <a:rPr lang="en-US" altLang="zh-CN" sz="2800" dirty="0">
                <a:solidFill>
                  <a:srgbClr val="C00000"/>
                </a:solidFill>
              </a:rPr>
              <a:t>Armstrong</a:t>
            </a:r>
            <a:r>
              <a:rPr lang="zh-CN" altLang="en-US" sz="2800" dirty="0">
                <a:solidFill>
                  <a:srgbClr val="C00000"/>
                </a:solidFill>
              </a:rPr>
              <a:t>公理系统</a:t>
            </a:r>
          </a:p>
          <a:p>
            <a:pPr>
              <a:buFont typeface="Wingdings" pitchFamily="2" charset="2"/>
              <a:buNone/>
            </a:pPr>
            <a:endParaRPr lang="en-US" altLang="zh-CN" sz="2800" dirty="0"/>
          </a:p>
          <a:p>
            <a:pPr>
              <a:buFont typeface="Wingdings" pitchFamily="2" charset="2"/>
              <a:buNone/>
            </a:pPr>
            <a:r>
              <a:rPr lang="en-US" altLang="zh-CN" sz="2800" dirty="0"/>
              <a:t>Armstrong</a:t>
            </a:r>
            <a:r>
              <a:rPr lang="zh-CN" altLang="en-US" sz="2800" dirty="0"/>
              <a:t>公理是</a:t>
            </a:r>
            <a:r>
              <a:rPr lang="zh-CN" altLang="en-US" sz="2800" b="1" dirty="0">
                <a:solidFill>
                  <a:schemeClr val="tx2"/>
                </a:solidFill>
              </a:rPr>
              <a:t>有效的，完备的。</a:t>
            </a:r>
            <a:endParaRPr lang="zh-CN" altLang="en-US" sz="2800" dirty="0"/>
          </a:p>
          <a:p>
            <a:pPr>
              <a:buFont typeface="Wingdings" pitchFamily="2" charset="2"/>
              <a:buNone/>
            </a:pPr>
            <a:r>
              <a:rPr lang="zh-CN" altLang="en-US" sz="2800" dirty="0">
                <a:solidFill>
                  <a:srgbClr val="FF0000"/>
                </a:solidFill>
              </a:rPr>
              <a:t>有效性</a:t>
            </a:r>
            <a:r>
              <a:rPr lang="zh-CN" altLang="en-US" sz="2800" dirty="0"/>
              <a:t>：由</a:t>
            </a:r>
            <a:r>
              <a:rPr lang="en-US" altLang="zh-CN" sz="2800" dirty="0">
                <a:solidFill>
                  <a:srgbClr val="FF0000"/>
                </a:solidFill>
              </a:rPr>
              <a:t>F</a:t>
            </a:r>
            <a:r>
              <a:rPr lang="zh-CN" altLang="en-US" sz="2800" dirty="0"/>
              <a:t>出发根据</a:t>
            </a:r>
            <a:r>
              <a:rPr lang="en-US" altLang="zh-CN" sz="2800" dirty="0">
                <a:solidFill>
                  <a:srgbClr val="C00000"/>
                </a:solidFill>
              </a:rPr>
              <a:t>Armstrong</a:t>
            </a:r>
            <a:r>
              <a:rPr lang="zh-CN" altLang="en-US" sz="2800" dirty="0"/>
              <a:t>公理</a:t>
            </a:r>
            <a:r>
              <a:rPr lang="zh-CN" altLang="en-US" sz="2800" dirty="0">
                <a:solidFill>
                  <a:srgbClr val="C00000"/>
                </a:solidFill>
              </a:rPr>
              <a:t>推</a:t>
            </a:r>
            <a:r>
              <a:rPr lang="zh-CN" altLang="en-US" sz="2800" b="1" dirty="0">
                <a:solidFill>
                  <a:srgbClr val="C00000"/>
                </a:solidFill>
              </a:rPr>
              <a:t>导</a:t>
            </a:r>
            <a:r>
              <a:rPr lang="zh-CN" altLang="en-US" sz="2800" b="1" dirty="0"/>
              <a:t>出</a:t>
            </a:r>
            <a:r>
              <a:rPr lang="zh-CN" altLang="en-US" sz="2800" dirty="0"/>
              <a:t>来的</a:t>
            </a:r>
            <a:r>
              <a:rPr lang="zh-CN" altLang="en-US" sz="2800" dirty="0">
                <a:solidFill>
                  <a:srgbClr val="FF0000"/>
                </a:solidFill>
              </a:rPr>
              <a:t>每个函数依赖</a:t>
            </a:r>
            <a:r>
              <a:rPr lang="zh-CN" altLang="en-US" sz="2800" dirty="0"/>
              <a:t>一定在</a:t>
            </a:r>
            <a:r>
              <a:rPr lang="en-US" altLang="zh-CN" sz="2800" dirty="0">
                <a:solidFill>
                  <a:srgbClr val="FF0000"/>
                </a:solidFill>
              </a:rPr>
              <a:t>F</a:t>
            </a:r>
            <a:r>
              <a:rPr lang="en-US" altLang="zh-CN" sz="2800" baseline="30000" dirty="0">
                <a:solidFill>
                  <a:srgbClr val="FF0000"/>
                </a:solidFill>
              </a:rPr>
              <a:t>+</a:t>
            </a:r>
            <a:r>
              <a:rPr lang="zh-CN" altLang="en-US" sz="2800" dirty="0"/>
              <a:t>中 。</a:t>
            </a:r>
          </a:p>
          <a:p>
            <a:pPr>
              <a:buFont typeface="Wingdings" pitchFamily="2" charset="2"/>
              <a:buNone/>
            </a:pPr>
            <a:r>
              <a:rPr lang="zh-CN" altLang="en-US" sz="2800" dirty="0"/>
              <a:t>	有效性的证明书上</a:t>
            </a:r>
            <a:r>
              <a:rPr lang="zh-CN" altLang="en-US" sz="2800" u="sng" dirty="0"/>
              <a:t>定理</a:t>
            </a:r>
            <a:r>
              <a:rPr lang="en-US" altLang="zh-CN" sz="2800" u="sng" dirty="0"/>
              <a:t>6.1</a:t>
            </a:r>
            <a:r>
              <a:rPr lang="en-US" altLang="zh-CN" sz="2800" u="sng" dirty="0">
                <a:latin typeface="Arial"/>
              </a:rPr>
              <a:t>“</a:t>
            </a:r>
            <a:r>
              <a:rPr lang="en-US" altLang="zh-CN" sz="2800" u="sng" dirty="0"/>
              <a:t>Armstrong</a:t>
            </a:r>
            <a:r>
              <a:rPr lang="zh-CN" altLang="en-US" sz="2800" u="sng" dirty="0"/>
              <a:t>推理规则是正确的</a:t>
            </a:r>
            <a:r>
              <a:rPr lang="zh-CN" altLang="en-US" sz="2800" u="sng" dirty="0">
                <a:latin typeface="Arial"/>
              </a:rPr>
              <a:t>”</a:t>
            </a:r>
            <a:r>
              <a:rPr lang="zh-CN" altLang="en-US" sz="2800" dirty="0"/>
              <a:t>可直接得证。</a:t>
            </a:r>
          </a:p>
          <a:p>
            <a:pPr>
              <a:buFont typeface="Wingdings" pitchFamily="2" charset="2"/>
              <a:buNone/>
            </a:pPr>
            <a:r>
              <a:rPr lang="zh-CN" altLang="en-US" sz="2800" dirty="0">
                <a:solidFill>
                  <a:srgbClr val="C00000"/>
                </a:solidFill>
              </a:rPr>
              <a:t>完备性</a:t>
            </a:r>
            <a:r>
              <a:rPr lang="zh-CN" altLang="en-US" sz="2800" dirty="0"/>
              <a:t>： </a:t>
            </a:r>
            <a:r>
              <a:rPr lang="en-US" altLang="zh-CN" sz="2800" dirty="0">
                <a:solidFill>
                  <a:srgbClr val="FF0000"/>
                </a:solidFill>
              </a:rPr>
              <a:t>F</a:t>
            </a:r>
            <a:r>
              <a:rPr lang="en-US" altLang="zh-CN" sz="2800" baseline="30000" dirty="0">
                <a:solidFill>
                  <a:srgbClr val="FF0000"/>
                </a:solidFill>
              </a:rPr>
              <a:t>+ </a:t>
            </a:r>
            <a:r>
              <a:rPr lang="zh-CN" altLang="en-US" sz="2800" dirty="0"/>
              <a:t>中的</a:t>
            </a:r>
            <a:r>
              <a:rPr lang="zh-CN" altLang="en-US" sz="2800" dirty="0">
                <a:solidFill>
                  <a:srgbClr val="FF0000"/>
                </a:solidFill>
              </a:rPr>
              <a:t>每一个</a:t>
            </a:r>
            <a:r>
              <a:rPr lang="zh-CN" altLang="en-US" sz="2800" dirty="0"/>
              <a:t>函数依赖</a:t>
            </a:r>
            <a:r>
              <a:rPr lang="zh-CN" altLang="en-US" sz="2800" dirty="0">
                <a:solidFill>
                  <a:srgbClr val="FF0000"/>
                </a:solidFill>
              </a:rPr>
              <a:t>，必定</a:t>
            </a:r>
            <a:r>
              <a:rPr lang="zh-CN" altLang="en-US" sz="2800" dirty="0"/>
              <a:t>可以</a:t>
            </a:r>
            <a:r>
              <a:rPr lang="zh-CN" altLang="en-US" sz="2800" dirty="0">
                <a:solidFill>
                  <a:srgbClr val="0000FF"/>
                </a:solidFill>
              </a:rPr>
              <a:t>由</a:t>
            </a:r>
            <a:r>
              <a:rPr lang="en-US" altLang="zh-CN" sz="2800" dirty="0">
                <a:solidFill>
                  <a:srgbClr val="0000FF"/>
                </a:solidFill>
              </a:rPr>
              <a:t>F</a:t>
            </a:r>
            <a:r>
              <a:rPr lang="zh-CN" altLang="en-US" sz="2800" dirty="0">
                <a:solidFill>
                  <a:srgbClr val="0000FF"/>
                </a:solidFill>
              </a:rPr>
              <a:t>出发</a:t>
            </a:r>
            <a:r>
              <a:rPr lang="zh-CN" altLang="en-US" sz="2800" dirty="0">
                <a:solidFill>
                  <a:srgbClr val="FF0000"/>
                </a:solidFill>
              </a:rPr>
              <a:t>根据</a:t>
            </a:r>
            <a:r>
              <a:rPr lang="en-US" altLang="zh-CN" sz="2800" dirty="0">
                <a:solidFill>
                  <a:srgbClr val="FF0000"/>
                </a:solidFill>
              </a:rPr>
              <a:t>Armstrong</a:t>
            </a:r>
            <a:r>
              <a:rPr lang="zh-CN" altLang="en-US" sz="2800" dirty="0">
                <a:solidFill>
                  <a:srgbClr val="FF0000"/>
                </a:solidFill>
              </a:rPr>
              <a:t>公理</a:t>
            </a:r>
            <a:r>
              <a:rPr lang="zh-CN" altLang="en-US" sz="2800" b="1" dirty="0">
                <a:solidFill>
                  <a:schemeClr val="tx2"/>
                </a:solidFill>
              </a:rPr>
              <a:t>推导出来</a:t>
            </a:r>
            <a:r>
              <a:rPr lang="zh-CN" altLang="en-US" sz="2800" dirty="0"/>
              <a:t>。</a:t>
            </a:r>
          </a:p>
          <a:p>
            <a:pPr>
              <a:buFont typeface="Wingdings" pitchFamily="2" charset="2"/>
              <a:buNone/>
            </a:pPr>
            <a:r>
              <a:rPr lang="zh-CN" altLang="en-US" sz="2800" dirty="0"/>
              <a:t>    经典证明</a:t>
            </a:r>
          </a:p>
        </p:txBody>
      </p:sp>
      <p:sp>
        <p:nvSpPr>
          <p:cNvPr id="7" name="椭圆 6"/>
          <p:cNvSpPr/>
          <p:nvPr/>
        </p:nvSpPr>
        <p:spPr bwMode="auto">
          <a:xfrm>
            <a:off x="2071670" y="4786322"/>
            <a:ext cx="609600" cy="609600"/>
          </a:xfrm>
          <a:prstGeom prst="ellipse">
            <a:avLst/>
          </a:prstGeom>
          <a:noFill/>
          <a:ln w="28575" cap="flat" cmpd="sng" algn="ctr">
            <a:solidFill>
              <a:srgbClr val="0033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sp>
        <p:nvSpPr>
          <p:cNvPr id="3" name="页脚占位符 2">
            <a:extLst>
              <a:ext uri="{FF2B5EF4-FFF2-40B4-BE49-F238E27FC236}">
                <a16:creationId xmlns:a16="http://schemas.microsoft.com/office/drawing/2014/main" id="{FD8EA1D3-1394-E3B5-F8CC-42BEEC92EA70}"/>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B26FF735-85F0-AC5D-C486-B64A478C1D0F}"/>
              </a:ext>
            </a:extLst>
          </p:cNvPr>
          <p:cNvSpPr>
            <a:spLocks noGrp="1"/>
          </p:cNvSpPr>
          <p:nvPr>
            <p:ph type="sldNum" sz="quarter" idx="12"/>
          </p:nvPr>
        </p:nvSpPr>
        <p:spPr/>
        <p:txBody>
          <a:bodyPr/>
          <a:lstStyle/>
          <a:p>
            <a:fld id="{A2D74603-B40B-4D66-8F6E-41C870D48932}" type="slidenum">
              <a:rPr lang="en-US" altLang="zh-CN" smtClean="0"/>
              <a:pPr/>
              <a:t>115</a:t>
            </a:fld>
            <a:r>
              <a:rPr lang="en-US" altLang="zh-CN"/>
              <a:t>/162</a:t>
            </a:r>
            <a:endParaRPr lang="en-US" altLang="zh-CN" dirty="0"/>
          </a:p>
        </p:txBody>
      </p:sp>
    </p:spTree>
    <p:extLst>
      <p:ext uri="{BB962C8B-B14F-4D97-AF65-F5344CB8AC3E}">
        <p14:creationId xmlns:p14="http://schemas.microsoft.com/office/powerpoint/2010/main" val="30639479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0275">
                                            <p:txEl>
                                              <p:pRg st="2" end="2"/>
                                            </p:txEl>
                                          </p:spTgt>
                                        </p:tgtEl>
                                        <p:attrNameLst>
                                          <p:attrName>style.visibility</p:attrName>
                                        </p:attrNameLst>
                                      </p:cBhvr>
                                      <p:to>
                                        <p:strVal val="visible"/>
                                      </p:to>
                                    </p:set>
                                    <p:anim calcmode="lin" valueType="num">
                                      <p:cBhvr additive="base">
                                        <p:cTn id="7" dur="500" fill="hold"/>
                                        <p:tgtEl>
                                          <p:spTgt spid="31027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02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10275">
                                            <p:txEl>
                                              <p:pRg st="3" end="3"/>
                                            </p:txEl>
                                          </p:spTgt>
                                        </p:tgtEl>
                                        <p:attrNameLst>
                                          <p:attrName>style.visibility</p:attrName>
                                        </p:attrNameLst>
                                      </p:cBhvr>
                                      <p:to>
                                        <p:strVal val="visible"/>
                                      </p:to>
                                    </p:set>
                                    <p:anim calcmode="lin" valueType="num">
                                      <p:cBhvr additive="base">
                                        <p:cTn id="13" dur="500" fill="hold"/>
                                        <p:tgtEl>
                                          <p:spTgt spid="31027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1027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10275">
                                            <p:txEl>
                                              <p:pRg st="4" end="4"/>
                                            </p:txEl>
                                          </p:spTgt>
                                        </p:tgtEl>
                                        <p:attrNameLst>
                                          <p:attrName>style.visibility</p:attrName>
                                        </p:attrNameLst>
                                      </p:cBhvr>
                                      <p:to>
                                        <p:strVal val="visible"/>
                                      </p:to>
                                    </p:set>
                                    <p:anim calcmode="lin" valueType="num">
                                      <p:cBhvr additive="base">
                                        <p:cTn id="19" dur="500" fill="hold"/>
                                        <p:tgtEl>
                                          <p:spTgt spid="31027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1027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10275">
                                            <p:txEl>
                                              <p:pRg st="5" end="5"/>
                                            </p:txEl>
                                          </p:spTgt>
                                        </p:tgtEl>
                                        <p:attrNameLst>
                                          <p:attrName>style.visibility</p:attrName>
                                        </p:attrNameLst>
                                      </p:cBhvr>
                                      <p:to>
                                        <p:strVal val="visible"/>
                                      </p:to>
                                    </p:set>
                                    <p:anim calcmode="lin" valueType="num">
                                      <p:cBhvr additive="base">
                                        <p:cTn id="25" dur="500" fill="hold"/>
                                        <p:tgtEl>
                                          <p:spTgt spid="310275">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1027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1" presetClass="entr" presetSubtype="1"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heel(1)">
                                      <p:cBhvr>
                                        <p:cTn id="31" dur="500"/>
                                        <p:tgtEl>
                                          <p:spTgt spid="7"/>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310275">
                                            <p:txEl>
                                              <p:pRg st="6" end="6"/>
                                            </p:txEl>
                                          </p:spTgt>
                                        </p:tgtEl>
                                        <p:attrNameLst>
                                          <p:attrName>style.visibility</p:attrName>
                                        </p:attrNameLst>
                                      </p:cBhvr>
                                      <p:to>
                                        <p:strVal val="visible"/>
                                      </p:to>
                                    </p:set>
                                    <p:anim calcmode="lin" valueType="num">
                                      <p:cBhvr additive="base">
                                        <p:cTn id="36" dur="500" fill="hold"/>
                                        <p:tgtEl>
                                          <p:spTgt spid="310275">
                                            <p:txEl>
                                              <p:pRg st="6" end="6"/>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1027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A13A05F3-2BD1-4CB5-B423-0F2CED95A451}" type="datetime1">
              <a:rPr lang="zh-CN" altLang="en-US" smtClean="0"/>
              <a:t>2025/11/6</a:t>
            </a:fld>
            <a:endParaRPr lang="en-US" altLang="zh-CN"/>
          </a:p>
        </p:txBody>
      </p:sp>
      <p:sp>
        <p:nvSpPr>
          <p:cNvPr id="310274" name="Rectangle 2"/>
          <p:cNvSpPr>
            <a:spLocks noGrp="1" noChangeArrowheads="1"/>
          </p:cNvSpPr>
          <p:nvPr>
            <p:ph type="title"/>
          </p:nvPr>
        </p:nvSpPr>
        <p:spPr/>
        <p:txBody>
          <a:bodyPr/>
          <a:lstStyle/>
          <a:p>
            <a:r>
              <a:rPr lang="en-US" altLang="zh-CN" dirty="0"/>
              <a:t>Armstrong </a:t>
            </a:r>
            <a:r>
              <a:rPr lang="zh-CN" altLang="en-US" dirty="0"/>
              <a:t>公理系统</a:t>
            </a:r>
            <a:r>
              <a:rPr lang="en-US" altLang="zh-CN" dirty="0"/>
              <a:t>(</a:t>
            </a:r>
            <a:r>
              <a:rPr lang="zh-CN" altLang="en-US" dirty="0"/>
              <a:t>了解</a:t>
            </a:r>
            <a:r>
              <a:rPr lang="en-US" altLang="zh-CN" dirty="0"/>
              <a:t>)</a:t>
            </a:r>
            <a:endParaRPr lang="zh-CN" altLang="en-US" dirty="0"/>
          </a:p>
        </p:txBody>
      </p:sp>
      <p:sp>
        <p:nvSpPr>
          <p:cNvPr id="310275" name="Rectangle 3"/>
          <p:cNvSpPr>
            <a:spLocks noGrp="1" noChangeArrowheads="1"/>
          </p:cNvSpPr>
          <p:nvPr>
            <p:ph type="body" idx="1"/>
          </p:nvPr>
        </p:nvSpPr>
        <p:spPr/>
        <p:txBody>
          <a:bodyPr/>
          <a:lstStyle/>
          <a:p>
            <a:pPr>
              <a:buNone/>
            </a:pPr>
            <a:r>
              <a:rPr lang="zh-CN" altLang="en-US" sz="2800" u="sng" dirty="0">
                <a:solidFill>
                  <a:schemeClr val="tx1">
                    <a:lumMod val="50000"/>
                    <a:lumOff val="50000"/>
                  </a:schemeClr>
                </a:solidFill>
              </a:rPr>
              <a:t>把自反律、传递率和增广律称为</a:t>
            </a:r>
            <a:r>
              <a:rPr lang="en-US" altLang="zh-CN" sz="2800" u="sng" dirty="0">
                <a:solidFill>
                  <a:schemeClr val="tx1">
                    <a:lumMod val="50000"/>
                    <a:lumOff val="50000"/>
                  </a:schemeClr>
                </a:solidFill>
              </a:rPr>
              <a:t>Armstrong</a:t>
            </a:r>
            <a:r>
              <a:rPr lang="zh-CN" altLang="en-US" sz="2800" u="sng" dirty="0">
                <a:solidFill>
                  <a:schemeClr val="tx1">
                    <a:lumMod val="50000"/>
                    <a:lumOff val="50000"/>
                  </a:schemeClr>
                </a:solidFill>
              </a:rPr>
              <a:t>公理系统</a:t>
            </a:r>
          </a:p>
          <a:p>
            <a:pPr>
              <a:buFont typeface="Wingdings" pitchFamily="2" charset="2"/>
              <a:buNone/>
            </a:pPr>
            <a:r>
              <a:rPr lang="en-US" altLang="zh-CN" dirty="0">
                <a:solidFill>
                  <a:schemeClr val="tx1">
                    <a:lumMod val="50000"/>
                    <a:lumOff val="50000"/>
                  </a:schemeClr>
                </a:solidFill>
              </a:rPr>
              <a:t>Armstrong</a:t>
            </a:r>
            <a:r>
              <a:rPr lang="zh-CN" altLang="en-US" dirty="0">
                <a:solidFill>
                  <a:schemeClr val="tx1">
                    <a:lumMod val="50000"/>
                    <a:lumOff val="50000"/>
                  </a:schemeClr>
                </a:solidFill>
              </a:rPr>
              <a:t>公理是</a:t>
            </a:r>
            <a:r>
              <a:rPr lang="zh-CN" altLang="en-US" b="1" dirty="0">
                <a:solidFill>
                  <a:schemeClr val="tx1">
                    <a:lumMod val="50000"/>
                    <a:lumOff val="50000"/>
                  </a:schemeClr>
                </a:solidFill>
              </a:rPr>
              <a:t>有效的，完备的</a:t>
            </a:r>
            <a:r>
              <a:rPr lang="zh-CN" altLang="en-US" dirty="0">
                <a:solidFill>
                  <a:schemeClr val="tx1">
                    <a:lumMod val="50000"/>
                    <a:lumOff val="50000"/>
                  </a:schemeClr>
                </a:solidFill>
              </a:rPr>
              <a:t>：</a:t>
            </a:r>
          </a:p>
          <a:p>
            <a:pPr>
              <a:buFont typeface="Wingdings" pitchFamily="2" charset="2"/>
              <a:buNone/>
            </a:pPr>
            <a:r>
              <a:rPr lang="zh-CN" altLang="en-US" dirty="0">
                <a:solidFill>
                  <a:schemeClr val="tx1">
                    <a:lumMod val="50000"/>
                    <a:lumOff val="50000"/>
                  </a:schemeClr>
                </a:solidFill>
              </a:rPr>
              <a:t>有效性：由</a:t>
            </a:r>
            <a:r>
              <a:rPr lang="en-US" altLang="zh-CN" dirty="0">
                <a:solidFill>
                  <a:schemeClr val="tx1">
                    <a:lumMod val="50000"/>
                    <a:lumOff val="50000"/>
                  </a:schemeClr>
                </a:solidFill>
              </a:rPr>
              <a:t>F</a:t>
            </a:r>
            <a:r>
              <a:rPr lang="zh-CN" altLang="en-US" dirty="0">
                <a:solidFill>
                  <a:schemeClr val="tx1">
                    <a:lumMod val="50000"/>
                    <a:lumOff val="50000"/>
                  </a:schemeClr>
                </a:solidFill>
              </a:rPr>
              <a:t>出发根据</a:t>
            </a:r>
            <a:r>
              <a:rPr lang="en-US" altLang="zh-CN" dirty="0">
                <a:solidFill>
                  <a:schemeClr val="tx1">
                    <a:lumMod val="50000"/>
                    <a:lumOff val="50000"/>
                  </a:schemeClr>
                </a:solidFill>
              </a:rPr>
              <a:t>Armstrong</a:t>
            </a:r>
            <a:r>
              <a:rPr lang="zh-CN" altLang="en-US" dirty="0">
                <a:solidFill>
                  <a:schemeClr val="tx1">
                    <a:lumMod val="50000"/>
                    <a:lumOff val="50000"/>
                  </a:schemeClr>
                </a:solidFill>
              </a:rPr>
              <a:t>公理推导出来的每个函数依赖一定在</a:t>
            </a:r>
            <a:r>
              <a:rPr lang="en-US" altLang="zh-CN" dirty="0">
                <a:solidFill>
                  <a:schemeClr val="tx1">
                    <a:lumMod val="50000"/>
                    <a:lumOff val="50000"/>
                  </a:schemeClr>
                </a:solidFill>
              </a:rPr>
              <a:t>F</a:t>
            </a:r>
            <a:r>
              <a:rPr lang="en-US" altLang="zh-CN" baseline="30000" dirty="0">
                <a:solidFill>
                  <a:schemeClr val="tx1">
                    <a:lumMod val="50000"/>
                    <a:lumOff val="50000"/>
                  </a:schemeClr>
                </a:solidFill>
              </a:rPr>
              <a:t>+</a:t>
            </a:r>
            <a:r>
              <a:rPr lang="zh-CN" altLang="en-US" dirty="0">
                <a:solidFill>
                  <a:schemeClr val="tx1">
                    <a:lumMod val="50000"/>
                    <a:lumOff val="50000"/>
                  </a:schemeClr>
                </a:solidFill>
              </a:rPr>
              <a:t>中 。</a:t>
            </a:r>
          </a:p>
          <a:p>
            <a:pPr>
              <a:buFont typeface="Wingdings" pitchFamily="2" charset="2"/>
              <a:buNone/>
            </a:pPr>
            <a:r>
              <a:rPr lang="zh-CN" altLang="en-US" dirty="0">
                <a:solidFill>
                  <a:schemeClr val="tx1">
                    <a:lumMod val="50000"/>
                    <a:lumOff val="50000"/>
                  </a:schemeClr>
                </a:solidFill>
              </a:rPr>
              <a:t>	有效性的证明书上定理</a:t>
            </a:r>
            <a:r>
              <a:rPr lang="en-US" altLang="zh-CN" dirty="0">
                <a:solidFill>
                  <a:schemeClr val="tx1">
                    <a:lumMod val="50000"/>
                    <a:lumOff val="50000"/>
                  </a:schemeClr>
                </a:solidFill>
              </a:rPr>
              <a:t>6.1</a:t>
            </a:r>
            <a:r>
              <a:rPr lang="en-US" altLang="zh-CN" dirty="0">
                <a:solidFill>
                  <a:schemeClr val="tx1">
                    <a:lumMod val="50000"/>
                    <a:lumOff val="50000"/>
                  </a:schemeClr>
                </a:solidFill>
                <a:latin typeface="Arial"/>
              </a:rPr>
              <a:t>“</a:t>
            </a:r>
            <a:r>
              <a:rPr lang="en-US" altLang="zh-CN" dirty="0">
                <a:solidFill>
                  <a:schemeClr val="tx1">
                    <a:lumMod val="50000"/>
                    <a:lumOff val="50000"/>
                  </a:schemeClr>
                </a:solidFill>
              </a:rPr>
              <a:t>Armstrong</a:t>
            </a:r>
            <a:r>
              <a:rPr lang="zh-CN" altLang="en-US" dirty="0">
                <a:solidFill>
                  <a:schemeClr val="tx1">
                    <a:lumMod val="50000"/>
                    <a:lumOff val="50000"/>
                  </a:schemeClr>
                </a:solidFill>
              </a:rPr>
              <a:t>推理规则是正确的</a:t>
            </a:r>
            <a:r>
              <a:rPr lang="zh-CN" altLang="en-US" dirty="0">
                <a:solidFill>
                  <a:schemeClr val="tx1">
                    <a:lumMod val="50000"/>
                    <a:lumOff val="50000"/>
                  </a:schemeClr>
                </a:solidFill>
                <a:latin typeface="Arial"/>
              </a:rPr>
              <a:t>”</a:t>
            </a:r>
            <a:r>
              <a:rPr lang="zh-CN" altLang="en-US" dirty="0">
                <a:solidFill>
                  <a:schemeClr val="tx1">
                    <a:lumMod val="50000"/>
                    <a:lumOff val="50000"/>
                  </a:schemeClr>
                </a:solidFill>
              </a:rPr>
              <a:t>可直接得证。</a:t>
            </a:r>
          </a:p>
          <a:p>
            <a:pPr>
              <a:buFont typeface="Wingdings" pitchFamily="2" charset="2"/>
              <a:buNone/>
            </a:pPr>
            <a:r>
              <a:rPr lang="zh-CN" altLang="en-US" sz="2800" dirty="0">
                <a:solidFill>
                  <a:srgbClr val="C00000"/>
                </a:solidFill>
              </a:rPr>
              <a:t>完备性</a:t>
            </a:r>
            <a:r>
              <a:rPr lang="zh-CN" altLang="en-US" sz="2800" dirty="0"/>
              <a:t>： </a:t>
            </a:r>
            <a:r>
              <a:rPr lang="en-US" altLang="zh-CN" sz="2800" dirty="0">
                <a:solidFill>
                  <a:srgbClr val="FF0000"/>
                </a:solidFill>
              </a:rPr>
              <a:t>F</a:t>
            </a:r>
            <a:r>
              <a:rPr lang="en-US" altLang="zh-CN" sz="2800" baseline="30000" dirty="0">
                <a:solidFill>
                  <a:srgbClr val="FF0000"/>
                </a:solidFill>
              </a:rPr>
              <a:t>+ </a:t>
            </a:r>
            <a:r>
              <a:rPr lang="zh-CN" altLang="en-US" sz="2800" dirty="0"/>
              <a:t>中的每一个</a:t>
            </a:r>
            <a:r>
              <a:rPr lang="zh-CN" altLang="en-US" sz="2800" dirty="0">
                <a:solidFill>
                  <a:srgbClr val="FF0000"/>
                </a:solidFill>
              </a:rPr>
              <a:t>函数依赖，</a:t>
            </a:r>
            <a:r>
              <a:rPr lang="zh-CN" altLang="en-US" sz="2800" dirty="0"/>
              <a:t>必定可以</a:t>
            </a:r>
            <a:r>
              <a:rPr lang="zh-CN" altLang="en-US" sz="2800" dirty="0">
                <a:solidFill>
                  <a:srgbClr val="FF0000"/>
                </a:solidFill>
              </a:rPr>
              <a:t>由</a:t>
            </a:r>
            <a:r>
              <a:rPr lang="en-US" altLang="zh-CN" sz="2800" dirty="0">
                <a:solidFill>
                  <a:srgbClr val="FF0000"/>
                </a:solidFill>
              </a:rPr>
              <a:t>F</a:t>
            </a:r>
            <a:r>
              <a:rPr lang="zh-CN" altLang="en-US" sz="2800" dirty="0">
                <a:solidFill>
                  <a:srgbClr val="FF0000"/>
                </a:solidFill>
              </a:rPr>
              <a:t>出发根据</a:t>
            </a:r>
            <a:r>
              <a:rPr lang="en-US" altLang="zh-CN" sz="2800" dirty="0">
                <a:solidFill>
                  <a:srgbClr val="FF0000"/>
                </a:solidFill>
              </a:rPr>
              <a:t>Armstrong</a:t>
            </a:r>
            <a:r>
              <a:rPr lang="zh-CN" altLang="en-US" sz="2800" dirty="0">
                <a:solidFill>
                  <a:srgbClr val="FF0000"/>
                </a:solidFill>
              </a:rPr>
              <a:t>公理推导出来</a:t>
            </a:r>
            <a:r>
              <a:rPr lang="zh-CN" altLang="en-US" sz="2800" dirty="0"/>
              <a:t>。</a:t>
            </a:r>
          </a:p>
          <a:p>
            <a:pPr>
              <a:buFont typeface="Wingdings" pitchFamily="2" charset="2"/>
              <a:buNone/>
            </a:pPr>
            <a:r>
              <a:rPr lang="zh-CN" altLang="en-US" sz="2800" dirty="0"/>
              <a:t>    经典证明</a:t>
            </a:r>
          </a:p>
        </p:txBody>
      </p:sp>
      <p:sp>
        <p:nvSpPr>
          <p:cNvPr id="2" name="矩形 1"/>
          <p:cNvSpPr/>
          <p:nvPr/>
        </p:nvSpPr>
        <p:spPr>
          <a:xfrm>
            <a:off x="685800" y="2325239"/>
            <a:ext cx="8029604" cy="224676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l">
              <a:spcBef>
                <a:spcPct val="40000"/>
              </a:spcBef>
            </a:pPr>
            <a:r>
              <a:rPr lang="zh-CN" altLang="en-US" sz="2800" dirty="0">
                <a:solidFill>
                  <a:schemeClr val="hlink"/>
                </a:solidFill>
                <a:sym typeface="Symbol" pitchFamily="18" charset="2"/>
              </a:rPr>
              <a:t>要证明完备性</a:t>
            </a:r>
            <a:r>
              <a:rPr lang="zh-CN" altLang="en-US" sz="2800" dirty="0">
                <a:sym typeface="Symbol" pitchFamily="18" charset="2"/>
              </a:rPr>
              <a:t>，必须要</a:t>
            </a:r>
            <a:r>
              <a:rPr lang="zh-CN" altLang="en-US" sz="2800" b="1" dirty="0">
                <a:solidFill>
                  <a:srgbClr val="0000FF"/>
                </a:solidFill>
                <a:sym typeface="Symbol" pitchFamily="18" charset="2"/>
              </a:rPr>
              <a:t>计算集合</a:t>
            </a:r>
            <a:r>
              <a:rPr lang="en-US" altLang="zh-CN" sz="2800" b="1" dirty="0">
                <a:solidFill>
                  <a:srgbClr val="0000FF"/>
                </a:solidFill>
              </a:rPr>
              <a:t>F</a:t>
            </a:r>
            <a:r>
              <a:rPr lang="en-US" altLang="zh-CN" sz="2800" b="1" baseline="28000" dirty="0">
                <a:solidFill>
                  <a:srgbClr val="0000FF"/>
                </a:solidFill>
              </a:rPr>
              <a:t>+</a:t>
            </a:r>
            <a:r>
              <a:rPr lang="en-US" altLang="zh-CN" sz="2800" b="1" dirty="0"/>
              <a:t>，</a:t>
            </a:r>
            <a:r>
              <a:rPr lang="zh-CN" altLang="en-US" sz="2800" dirty="0"/>
              <a:t>但这是一个</a:t>
            </a:r>
            <a:r>
              <a:rPr lang="en-US" altLang="zh-CN" sz="2800" dirty="0"/>
              <a:t>NP</a:t>
            </a:r>
            <a:r>
              <a:rPr lang="zh-CN" altLang="en-US" sz="2800" dirty="0"/>
              <a:t>完全问题。比如从</a:t>
            </a:r>
            <a:r>
              <a:rPr lang="en-US" altLang="zh-CN" sz="2800" dirty="0"/>
              <a:t>F={X</a:t>
            </a:r>
            <a:r>
              <a:rPr lang="en-US" altLang="zh-CN" sz="2800" dirty="0">
                <a:sym typeface="Symbol" pitchFamily="18" charset="2"/>
              </a:rPr>
              <a:t>A</a:t>
            </a:r>
            <a:r>
              <a:rPr lang="en-US" altLang="zh-CN" sz="2800" baseline="-25000" dirty="0">
                <a:sym typeface="Symbol" pitchFamily="18" charset="2"/>
              </a:rPr>
              <a:t>1</a:t>
            </a:r>
            <a:r>
              <a:rPr lang="en-US" altLang="zh-CN" sz="2800" dirty="0">
                <a:sym typeface="Symbol" pitchFamily="18" charset="2"/>
              </a:rPr>
              <a:t>,…,</a:t>
            </a:r>
            <a:r>
              <a:rPr lang="en-US" altLang="zh-CN" sz="2800" dirty="0" err="1"/>
              <a:t>X</a:t>
            </a:r>
            <a:r>
              <a:rPr lang="en-US" altLang="zh-CN" sz="2800" dirty="0" err="1">
                <a:sym typeface="Symbol" pitchFamily="18" charset="2"/>
              </a:rPr>
              <a:t>A</a:t>
            </a:r>
            <a:r>
              <a:rPr lang="en-US" altLang="zh-CN" sz="2800" baseline="-25000" dirty="0" err="1">
                <a:sym typeface="Symbol" pitchFamily="18" charset="2"/>
              </a:rPr>
              <a:t>n</a:t>
            </a:r>
            <a:r>
              <a:rPr lang="en-US" altLang="zh-CN" sz="2800" dirty="0">
                <a:sym typeface="Symbol" pitchFamily="18" charset="2"/>
              </a:rPr>
              <a:t>}</a:t>
            </a:r>
            <a:r>
              <a:rPr lang="zh-CN" altLang="en-US" sz="2800" dirty="0">
                <a:sym typeface="Symbol" pitchFamily="18" charset="2"/>
              </a:rPr>
              <a:t>出发，至少可以推导出</a:t>
            </a:r>
            <a:r>
              <a:rPr lang="zh-CN" altLang="en-US" sz="2800" dirty="0">
                <a:solidFill>
                  <a:srgbClr val="0000FF"/>
                </a:solidFill>
                <a:sym typeface="Symbol" pitchFamily="18" charset="2"/>
              </a:rPr>
              <a:t>2</a:t>
            </a:r>
            <a:r>
              <a:rPr lang="en-US" altLang="zh-CN" sz="2800" baseline="30000" dirty="0">
                <a:solidFill>
                  <a:srgbClr val="0000FF"/>
                </a:solidFill>
                <a:sym typeface="Symbol" pitchFamily="18" charset="2"/>
              </a:rPr>
              <a:t>n</a:t>
            </a:r>
            <a:r>
              <a:rPr lang="zh-CN" altLang="en-US" sz="2800" dirty="0">
                <a:sym typeface="Symbol" pitchFamily="18" charset="2"/>
              </a:rPr>
              <a:t>个不同的函数依赖。（</a:t>
            </a:r>
            <a:r>
              <a:rPr lang="zh-CN" altLang="en-US" sz="2800" dirty="0"/>
              <a:t>如果能</a:t>
            </a:r>
            <a:r>
              <a:rPr lang="zh-CN" altLang="en-US" sz="2800" b="1" u="sng" dirty="0">
                <a:solidFill>
                  <a:schemeClr val="tx2"/>
                </a:solidFill>
              </a:rPr>
              <a:t>求出这个</a:t>
            </a:r>
            <a:r>
              <a:rPr lang="zh-CN" altLang="en-US" sz="2800" b="1" u="sng" dirty="0">
                <a:solidFill>
                  <a:srgbClr val="C00000"/>
                </a:solidFill>
              </a:rPr>
              <a:t>集合</a:t>
            </a:r>
            <a:r>
              <a:rPr lang="zh-CN" altLang="en-US" sz="2800" dirty="0"/>
              <a:t>就很容易判断，但是求这样的集合是一个</a:t>
            </a:r>
            <a:r>
              <a:rPr lang="en-US" altLang="zh-CN" sz="2800" dirty="0">
                <a:solidFill>
                  <a:schemeClr val="hlink"/>
                </a:solidFill>
              </a:rPr>
              <a:t>NP</a:t>
            </a:r>
            <a:r>
              <a:rPr lang="zh-CN" altLang="en-US" sz="2800" dirty="0">
                <a:solidFill>
                  <a:schemeClr val="hlink"/>
                </a:solidFill>
              </a:rPr>
              <a:t>完全问题</a:t>
            </a:r>
            <a:r>
              <a:rPr lang="zh-CN" altLang="en-US" sz="2800" dirty="0">
                <a:sym typeface="Symbol" pitchFamily="18" charset="2"/>
              </a:rPr>
              <a:t>）</a:t>
            </a:r>
          </a:p>
        </p:txBody>
      </p:sp>
      <p:sp>
        <p:nvSpPr>
          <p:cNvPr id="7" name="椭圆 6"/>
          <p:cNvSpPr/>
          <p:nvPr/>
        </p:nvSpPr>
        <p:spPr bwMode="auto">
          <a:xfrm>
            <a:off x="2071670" y="4605350"/>
            <a:ext cx="609600" cy="609600"/>
          </a:xfrm>
          <a:prstGeom prst="ellipse">
            <a:avLst/>
          </a:prstGeom>
          <a:noFill/>
          <a:ln w="28575" cap="flat" cmpd="sng" algn="ctr">
            <a:solidFill>
              <a:srgbClr val="0033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sp>
        <p:nvSpPr>
          <p:cNvPr id="5" name="页脚占位符 4">
            <a:extLst>
              <a:ext uri="{FF2B5EF4-FFF2-40B4-BE49-F238E27FC236}">
                <a16:creationId xmlns:a16="http://schemas.microsoft.com/office/drawing/2014/main" id="{EF24D58A-8F4D-B68C-FF73-C6C9E23E700F}"/>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562A26D2-6451-871E-315D-806124223961}"/>
              </a:ext>
            </a:extLst>
          </p:cNvPr>
          <p:cNvSpPr>
            <a:spLocks noGrp="1"/>
          </p:cNvSpPr>
          <p:nvPr>
            <p:ph type="sldNum" sz="quarter" idx="12"/>
          </p:nvPr>
        </p:nvSpPr>
        <p:spPr/>
        <p:txBody>
          <a:bodyPr/>
          <a:lstStyle/>
          <a:p>
            <a:fld id="{A2D74603-B40B-4D66-8F6E-41C870D48932}" type="slidenum">
              <a:rPr lang="en-US" altLang="zh-CN" smtClean="0"/>
              <a:pPr/>
              <a:t>116</a:t>
            </a:fld>
            <a:r>
              <a:rPr lang="en-US" altLang="zh-CN"/>
              <a:t>/162</a:t>
            </a:r>
            <a:endParaRPr lang="en-US" altLang="zh-CN" dirty="0"/>
          </a:p>
        </p:txBody>
      </p:sp>
    </p:spTree>
    <p:extLst>
      <p:ext uri="{BB962C8B-B14F-4D97-AF65-F5344CB8AC3E}">
        <p14:creationId xmlns:p14="http://schemas.microsoft.com/office/powerpoint/2010/main" val="1433797742"/>
      </p:ext>
    </p:extLst>
  </p:cSld>
  <p:clrMapOvr>
    <a:masterClrMapping/>
  </p:clrMapOvr>
  <p:transition>
    <p:fade/>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B889F1C-C533-4965-A557-5FD1997C247B}" type="datetime1">
              <a:rPr lang="zh-CN" altLang="en-US" smtClean="0"/>
              <a:t>2025/11/6</a:t>
            </a:fld>
            <a:endParaRPr lang="en-US" altLang="zh-CN"/>
          </a:p>
        </p:txBody>
      </p:sp>
      <p:sp>
        <p:nvSpPr>
          <p:cNvPr id="316418" name="Rectangle 2"/>
          <p:cNvSpPr>
            <a:spLocks noGrp="1" noChangeArrowheads="1"/>
          </p:cNvSpPr>
          <p:nvPr>
            <p:ph type="title"/>
          </p:nvPr>
        </p:nvSpPr>
        <p:spPr/>
        <p:txBody>
          <a:bodyPr/>
          <a:lstStyle/>
          <a:p>
            <a:r>
              <a:rPr lang="en-US" altLang="zh-CN" dirty="0"/>
              <a:t>8.3 </a:t>
            </a:r>
            <a:r>
              <a:rPr lang="zh-CN" altLang="en-US" dirty="0"/>
              <a:t>数据依赖的公理系统</a:t>
            </a:r>
          </a:p>
        </p:txBody>
      </p:sp>
      <p:sp>
        <p:nvSpPr>
          <p:cNvPr id="316419" name="Rectangle 3"/>
          <p:cNvSpPr>
            <a:spLocks noGrp="1" noChangeArrowheads="1"/>
          </p:cNvSpPr>
          <p:nvPr>
            <p:ph type="body" idx="1"/>
          </p:nvPr>
        </p:nvSpPr>
        <p:spPr/>
        <p:txBody>
          <a:bodyPr/>
          <a:lstStyle/>
          <a:p>
            <a:r>
              <a:rPr lang="zh-CN" altLang="en-US" sz="2800" dirty="0"/>
              <a:t>证明</a:t>
            </a:r>
            <a:r>
              <a:rPr lang="zh-CN" altLang="en-US" sz="2800" dirty="0">
                <a:solidFill>
                  <a:schemeClr val="tx2"/>
                </a:solidFill>
              </a:rPr>
              <a:t>完备性</a:t>
            </a:r>
            <a:r>
              <a:rPr lang="zh-CN" altLang="en-US" sz="2800" dirty="0"/>
              <a:t>转换为证明它的</a:t>
            </a:r>
            <a:r>
              <a:rPr lang="zh-CN" altLang="en-US" sz="2800" dirty="0">
                <a:solidFill>
                  <a:schemeClr val="tx2"/>
                </a:solidFill>
              </a:rPr>
              <a:t>逆否命题为真</a:t>
            </a:r>
            <a:r>
              <a:rPr lang="zh-CN" altLang="en-US" sz="2800" dirty="0"/>
              <a:t>。</a:t>
            </a:r>
            <a:r>
              <a:rPr lang="zh-CN" altLang="en-US" sz="2800" dirty="0">
                <a:solidFill>
                  <a:schemeClr val="tx2"/>
                </a:solidFill>
              </a:rPr>
              <a:t>即若函数依赖</a:t>
            </a:r>
            <a:r>
              <a:rPr lang="zh-CN" altLang="en-US" sz="2800" dirty="0">
                <a:solidFill>
                  <a:srgbClr val="C00000"/>
                </a:solidFill>
              </a:rPr>
              <a:t>不能</a:t>
            </a:r>
            <a:r>
              <a:rPr lang="zh-CN" altLang="en-US" sz="2800" dirty="0"/>
              <a:t>由</a:t>
            </a:r>
            <a:r>
              <a:rPr lang="en-US" altLang="zh-CN" sz="2800" dirty="0">
                <a:solidFill>
                  <a:schemeClr val="tx2"/>
                </a:solidFill>
              </a:rPr>
              <a:t>F</a:t>
            </a:r>
            <a:r>
              <a:rPr lang="zh-CN" altLang="en-US" sz="2800" dirty="0">
                <a:solidFill>
                  <a:schemeClr val="tx2"/>
                </a:solidFill>
              </a:rPr>
              <a:t>从</a:t>
            </a:r>
            <a:r>
              <a:rPr lang="en-US" altLang="zh-CN" sz="2800" dirty="0">
                <a:solidFill>
                  <a:schemeClr val="tx2"/>
                </a:solidFill>
              </a:rPr>
              <a:t>Armstrong</a:t>
            </a:r>
            <a:r>
              <a:rPr lang="zh-CN" altLang="en-US" sz="2800" dirty="0">
                <a:solidFill>
                  <a:schemeClr val="tx2"/>
                </a:solidFill>
              </a:rPr>
              <a:t>公理导出</a:t>
            </a:r>
            <a:r>
              <a:rPr lang="zh-CN" altLang="en-US" sz="2800" dirty="0"/>
              <a:t>，那么它必然</a:t>
            </a:r>
            <a:r>
              <a:rPr lang="zh-CN" altLang="en-US" sz="2800" dirty="0">
                <a:solidFill>
                  <a:srgbClr val="C00000"/>
                </a:solidFill>
              </a:rPr>
              <a:t>不为</a:t>
            </a:r>
            <a:r>
              <a:rPr lang="en-US" altLang="zh-CN" sz="2800" dirty="0">
                <a:solidFill>
                  <a:srgbClr val="C00000"/>
                </a:solidFill>
              </a:rPr>
              <a:t>F</a:t>
            </a:r>
            <a:r>
              <a:rPr lang="zh-CN" altLang="en-US" sz="2800" dirty="0">
                <a:solidFill>
                  <a:srgbClr val="C00000"/>
                </a:solidFill>
              </a:rPr>
              <a:t>所蕴含</a:t>
            </a:r>
            <a:r>
              <a:rPr lang="zh-CN" altLang="en-US" sz="2800" dirty="0"/>
              <a:t>。证明分</a:t>
            </a:r>
            <a:r>
              <a:rPr lang="en-US" altLang="zh-CN" sz="2800" dirty="0"/>
              <a:t>3</a:t>
            </a:r>
            <a:r>
              <a:rPr lang="zh-CN" altLang="en-US" sz="2800" dirty="0"/>
              <a:t>步（略）证明用到了构造</a:t>
            </a:r>
            <a:r>
              <a:rPr lang="en-US" altLang="zh-CN" sz="2800" dirty="0"/>
              <a:t>(</a:t>
            </a:r>
            <a:r>
              <a:rPr lang="zh-CN" altLang="en-US" sz="2800" dirty="0"/>
              <a:t>特殊的二维表</a:t>
            </a:r>
            <a:r>
              <a:rPr lang="en-US" altLang="zh-CN" sz="2800" dirty="0"/>
              <a:t>)</a:t>
            </a:r>
            <a:r>
              <a:rPr lang="zh-CN" altLang="en-US" sz="2800" dirty="0"/>
              <a:t>、反证，十分巧妙。</a:t>
            </a:r>
          </a:p>
        </p:txBody>
      </p:sp>
      <p:sp>
        <p:nvSpPr>
          <p:cNvPr id="2" name="矩形 1"/>
          <p:cNvSpPr/>
          <p:nvPr/>
        </p:nvSpPr>
        <p:spPr>
          <a:xfrm>
            <a:off x="1981200" y="0"/>
            <a:ext cx="7086600" cy="127419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l">
              <a:lnSpc>
                <a:spcPct val="80000"/>
              </a:lnSpc>
              <a:buFont typeface="Wingdings" pitchFamily="2" charset="2"/>
              <a:buNone/>
            </a:pPr>
            <a:r>
              <a:rPr lang="zh-CN" altLang="en-US" dirty="0">
                <a:solidFill>
                  <a:srgbClr val="FF0000"/>
                </a:solidFill>
              </a:rPr>
              <a:t>有效性</a:t>
            </a:r>
            <a:r>
              <a:rPr lang="zh-CN" altLang="en-US" dirty="0"/>
              <a:t>：</a:t>
            </a:r>
            <a:r>
              <a:rPr lang="zh-CN" altLang="en-US" dirty="0">
                <a:solidFill>
                  <a:schemeClr val="tx1"/>
                </a:solidFill>
              </a:rPr>
              <a:t>由</a:t>
            </a:r>
            <a:r>
              <a:rPr lang="en-US" altLang="zh-CN" dirty="0">
                <a:solidFill>
                  <a:schemeClr val="tx1"/>
                </a:solidFill>
              </a:rPr>
              <a:t>F</a:t>
            </a:r>
            <a:r>
              <a:rPr lang="zh-CN" altLang="en-US" dirty="0">
                <a:solidFill>
                  <a:schemeClr val="tx1"/>
                </a:solidFill>
              </a:rPr>
              <a:t>出发根据</a:t>
            </a:r>
            <a:r>
              <a:rPr lang="en-US" altLang="zh-CN" dirty="0">
                <a:solidFill>
                  <a:schemeClr val="tx1"/>
                </a:solidFill>
              </a:rPr>
              <a:t>Armstrong</a:t>
            </a:r>
            <a:r>
              <a:rPr lang="zh-CN" altLang="en-US" dirty="0">
                <a:solidFill>
                  <a:schemeClr val="tx1"/>
                </a:solidFill>
              </a:rPr>
              <a:t>公理推导出来的每个函数依赖一定在</a:t>
            </a:r>
            <a:r>
              <a:rPr lang="en-US" altLang="zh-CN" dirty="0">
                <a:solidFill>
                  <a:schemeClr val="tx1"/>
                </a:solidFill>
              </a:rPr>
              <a:t>F</a:t>
            </a:r>
            <a:r>
              <a:rPr lang="en-US" altLang="zh-CN" baseline="30000" dirty="0">
                <a:solidFill>
                  <a:schemeClr val="tx1"/>
                </a:solidFill>
              </a:rPr>
              <a:t>+</a:t>
            </a:r>
            <a:r>
              <a:rPr lang="zh-CN" altLang="en-US" dirty="0">
                <a:solidFill>
                  <a:schemeClr val="tx1"/>
                </a:solidFill>
              </a:rPr>
              <a:t>中 。</a:t>
            </a:r>
          </a:p>
          <a:p>
            <a:pPr algn="l">
              <a:lnSpc>
                <a:spcPct val="80000"/>
              </a:lnSpc>
              <a:buFont typeface="Wingdings" pitchFamily="2" charset="2"/>
              <a:buNone/>
            </a:pPr>
            <a:r>
              <a:rPr lang="zh-CN" altLang="en-US" dirty="0">
                <a:solidFill>
                  <a:srgbClr val="FF0000"/>
                </a:solidFill>
              </a:rPr>
              <a:t>完备性</a:t>
            </a:r>
            <a:r>
              <a:rPr lang="zh-CN" altLang="en-US" dirty="0"/>
              <a:t>： </a:t>
            </a:r>
            <a:r>
              <a:rPr lang="en-US" altLang="zh-CN" dirty="0">
                <a:solidFill>
                  <a:schemeClr val="tx1"/>
                </a:solidFill>
              </a:rPr>
              <a:t>F</a:t>
            </a:r>
            <a:r>
              <a:rPr lang="en-US" altLang="zh-CN" baseline="30000" dirty="0">
                <a:solidFill>
                  <a:schemeClr val="tx1"/>
                </a:solidFill>
              </a:rPr>
              <a:t> +</a:t>
            </a:r>
            <a:r>
              <a:rPr lang="en-US" altLang="zh-CN" dirty="0">
                <a:solidFill>
                  <a:schemeClr val="tx1"/>
                </a:solidFill>
              </a:rPr>
              <a:t> </a:t>
            </a:r>
            <a:r>
              <a:rPr lang="zh-CN" altLang="en-US" dirty="0">
                <a:solidFill>
                  <a:schemeClr val="tx1"/>
                </a:solidFill>
              </a:rPr>
              <a:t>中的每一个函数依赖，必定可以由</a:t>
            </a:r>
            <a:r>
              <a:rPr lang="en-US" altLang="zh-CN" dirty="0">
                <a:solidFill>
                  <a:schemeClr val="tx1"/>
                </a:solidFill>
              </a:rPr>
              <a:t>F</a:t>
            </a:r>
            <a:r>
              <a:rPr lang="zh-CN" altLang="en-US" dirty="0">
                <a:solidFill>
                  <a:schemeClr val="tx1"/>
                </a:solidFill>
              </a:rPr>
              <a:t>出发根据</a:t>
            </a:r>
            <a:r>
              <a:rPr lang="en-US" altLang="zh-CN" dirty="0">
                <a:solidFill>
                  <a:schemeClr val="tx1"/>
                </a:solidFill>
              </a:rPr>
              <a:t>Armstrong</a:t>
            </a:r>
            <a:r>
              <a:rPr lang="zh-CN" altLang="en-US" dirty="0">
                <a:solidFill>
                  <a:schemeClr val="tx1"/>
                </a:solidFill>
              </a:rPr>
              <a:t>公理推导出来。</a:t>
            </a:r>
          </a:p>
        </p:txBody>
      </p:sp>
      <p:sp>
        <p:nvSpPr>
          <p:cNvPr id="5" name="页脚占位符 4">
            <a:extLst>
              <a:ext uri="{FF2B5EF4-FFF2-40B4-BE49-F238E27FC236}">
                <a16:creationId xmlns:a16="http://schemas.microsoft.com/office/drawing/2014/main" id="{615244AE-A382-E83E-3931-8DF4217E640F}"/>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F32843F3-4170-907F-3770-C6E20006E32F}"/>
              </a:ext>
            </a:extLst>
          </p:cNvPr>
          <p:cNvSpPr>
            <a:spLocks noGrp="1"/>
          </p:cNvSpPr>
          <p:nvPr>
            <p:ph type="sldNum" sz="quarter" idx="12"/>
          </p:nvPr>
        </p:nvSpPr>
        <p:spPr/>
        <p:txBody>
          <a:bodyPr/>
          <a:lstStyle/>
          <a:p>
            <a:fld id="{A2D74603-B40B-4D66-8F6E-41C870D48932}" type="slidenum">
              <a:rPr lang="en-US" altLang="zh-CN" smtClean="0"/>
              <a:pPr/>
              <a:t>117</a:t>
            </a:fld>
            <a:r>
              <a:rPr lang="en-US" altLang="zh-CN"/>
              <a:t>/162</a:t>
            </a:r>
            <a:endParaRPr lang="en-US" altLang="zh-CN"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D5148EC1-16DC-4378-AE49-63D3A6E7B160}" type="datetime1">
              <a:rPr lang="zh-CN" altLang="en-US" smtClean="0"/>
              <a:t>2025/11/6</a:t>
            </a:fld>
            <a:endParaRPr lang="en-US" altLang="zh-CN"/>
          </a:p>
        </p:txBody>
      </p:sp>
      <p:sp>
        <p:nvSpPr>
          <p:cNvPr id="317442" name="Rectangle 2"/>
          <p:cNvSpPr>
            <a:spLocks noGrp="1" noChangeArrowheads="1"/>
          </p:cNvSpPr>
          <p:nvPr>
            <p:ph type="title"/>
          </p:nvPr>
        </p:nvSpPr>
        <p:spPr/>
        <p:txBody>
          <a:bodyPr/>
          <a:lstStyle/>
          <a:p>
            <a:r>
              <a:rPr lang="en-US" altLang="zh-CN" dirty="0"/>
              <a:t>8.3 </a:t>
            </a:r>
            <a:r>
              <a:rPr lang="zh-CN" altLang="en-US" dirty="0"/>
              <a:t>数据依赖的公理系统</a:t>
            </a:r>
          </a:p>
        </p:txBody>
      </p:sp>
      <p:sp>
        <p:nvSpPr>
          <p:cNvPr id="317443" name="Rectangle 3"/>
          <p:cNvSpPr>
            <a:spLocks noGrp="1" noChangeArrowheads="1"/>
          </p:cNvSpPr>
          <p:nvPr>
            <p:ph type="body" idx="1"/>
          </p:nvPr>
        </p:nvSpPr>
        <p:spPr/>
        <p:txBody>
          <a:bodyPr/>
          <a:lstStyle/>
          <a:p>
            <a:r>
              <a:rPr lang="zh-CN" altLang="en-US" dirty="0">
                <a:solidFill>
                  <a:schemeClr val="tx1">
                    <a:lumMod val="50000"/>
                    <a:lumOff val="50000"/>
                  </a:schemeClr>
                </a:solidFill>
              </a:rPr>
              <a:t>完备性证明（自学了解）</a:t>
            </a:r>
          </a:p>
          <a:p>
            <a:pPr lvl="1"/>
            <a:r>
              <a:rPr lang="zh-CN" altLang="en-US" dirty="0"/>
              <a:t>要证原命题，只需证明其逆否命题：若函数依赖</a:t>
            </a:r>
            <a:r>
              <a:rPr lang="en-US" altLang="zh-CN" dirty="0"/>
              <a:t>X</a:t>
            </a:r>
            <a:r>
              <a:rPr lang="en-US" altLang="zh-CN" dirty="0">
                <a:latin typeface="宋体" pitchFamily="2" charset="-122"/>
              </a:rPr>
              <a:t>→</a:t>
            </a:r>
            <a:r>
              <a:rPr lang="en-US" altLang="zh-CN" dirty="0"/>
              <a:t>Y</a:t>
            </a:r>
            <a:r>
              <a:rPr lang="zh-CN" altLang="en-US" dirty="0"/>
              <a:t>不能由</a:t>
            </a:r>
            <a:r>
              <a:rPr lang="en-US" altLang="zh-CN" dirty="0"/>
              <a:t>F</a:t>
            </a:r>
            <a:r>
              <a:rPr lang="zh-CN" altLang="en-US" dirty="0"/>
              <a:t>出发从</a:t>
            </a:r>
            <a:r>
              <a:rPr lang="en-US" altLang="zh-CN" dirty="0"/>
              <a:t>Armstrong</a:t>
            </a:r>
            <a:r>
              <a:rPr lang="zh-CN" altLang="en-US" dirty="0"/>
              <a:t>公理导出，则它本身不为</a:t>
            </a:r>
            <a:r>
              <a:rPr lang="en-US" altLang="zh-CN" dirty="0"/>
              <a:t>F</a:t>
            </a:r>
            <a:r>
              <a:rPr lang="zh-CN" altLang="en-US" dirty="0"/>
              <a:t>所蕴含。</a:t>
            </a:r>
          </a:p>
          <a:p>
            <a:pPr lvl="1">
              <a:spcBef>
                <a:spcPct val="50000"/>
              </a:spcBef>
            </a:pPr>
            <a:r>
              <a:rPr lang="zh-CN" altLang="en-US" dirty="0"/>
              <a:t>（</a:t>
            </a:r>
            <a:r>
              <a:rPr lang="en-US" altLang="zh-CN" dirty="0"/>
              <a:t>1</a:t>
            </a:r>
            <a:r>
              <a:rPr lang="zh-CN" altLang="en-US" dirty="0"/>
              <a:t>）若</a:t>
            </a:r>
            <a:r>
              <a:rPr lang="en-US" altLang="zh-CN" dirty="0"/>
              <a:t>V</a:t>
            </a:r>
            <a:r>
              <a:rPr lang="en-US" altLang="zh-CN" dirty="0">
                <a:latin typeface="宋体" pitchFamily="2" charset="-122"/>
              </a:rPr>
              <a:t>→</a:t>
            </a:r>
            <a:r>
              <a:rPr lang="en-US" altLang="zh-CN" dirty="0"/>
              <a:t>W</a:t>
            </a:r>
            <a:r>
              <a:rPr lang="zh-CN" altLang="en-US" dirty="0"/>
              <a:t>成立，且</a:t>
            </a:r>
            <a:r>
              <a:rPr lang="en-US" altLang="zh-CN" dirty="0"/>
              <a:t>V </a:t>
            </a:r>
            <a:r>
              <a:rPr lang="en-US" altLang="zh-CN" dirty="0">
                <a:solidFill>
                  <a:srgbClr val="000080"/>
                </a:solidFill>
                <a:sym typeface="Symbol" pitchFamily="18" charset="2"/>
              </a:rPr>
              <a:t></a:t>
            </a:r>
            <a:r>
              <a:rPr lang="en-US" altLang="zh-CN" dirty="0"/>
              <a:t> X</a:t>
            </a:r>
            <a:r>
              <a:rPr lang="en-US" altLang="zh-CN" baseline="-25000" dirty="0"/>
              <a:t>F</a:t>
            </a:r>
            <a:r>
              <a:rPr lang="en-US" altLang="zh-CN" baseline="30000" dirty="0"/>
              <a:t>+</a:t>
            </a:r>
            <a:r>
              <a:rPr lang="en-US" altLang="zh-CN" dirty="0"/>
              <a:t> </a:t>
            </a:r>
            <a:r>
              <a:rPr lang="zh-CN" altLang="en-US" dirty="0"/>
              <a:t>，</a:t>
            </a:r>
            <a:r>
              <a:rPr lang="zh-CN" altLang="en-US" dirty="0">
                <a:solidFill>
                  <a:srgbClr val="C00000"/>
                </a:solidFill>
              </a:rPr>
              <a:t>则</a:t>
            </a:r>
            <a:r>
              <a:rPr lang="en-US" altLang="zh-CN" dirty="0">
                <a:solidFill>
                  <a:srgbClr val="C00000"/>
                </a:solidFill>
              </a:rPr>
              <a:t>W </a:t>
            </a:r>
            <a:r>
              <a:rPr lang="en-US" altLang="zh-CN" dirty="0">
                <a:solidFill>
                  <a:srgbClr val="C00000"/>
                </a:solidFill>
                <a:sym typeface="Symbol" pitchFamily="18" charset="2"/>
              </a:rPr>
              <a:t></a:t>
            </a:r>
            <a:r>
              <a:rPr lang="en-US" altLang="zh-CN" dirty="0">
                <a:solidFill>
                  <a:srgbClr val="C00000"/>
                </a:solidFill>
              </a:rPr>
              <a:t> X</a:t>
            </a:r>
            <a:r>
              <a:rPr lang="en-US" altLang="zh-CN" baseline="-25000" dirty="0">
                <a:solidFill>
                  <a:srgbClr val="C00000"/>
                </a:solidFill>
              </a:rPr>
              <a:t>F</a:t>
            </a:r>
            <a:r>
              <a:rPr lang="en-US" altLang="zh-CN" baseline="30000" dirty="0">
                <a:solidFill>
                  <a:srgbClr val="C00000"/>
                </a:solidFill>
              </a:rPr>
              <a:t>+</a:t>
            </a:r>
            <a:r>
              <a:rPr lang="en-US" altLang="zh-CN" dirty="0">
                <a:solidFill>
                  <a:srgbClr val="C00000"/>
                </a:solidFill>
              </a:rPr>
              <a:t> </a:t>
            </a:r>
            <a:r>
              <a:rPr lang="zh-CN" altLang="en-US" dirty="0"/>
              <a:t>。</a:t>
            </a:r>
          </a:p>
          <a:p>
            <a:pPr lvl="2"/>
            <a:r>
              <a:rPr lang="en-US" altLang="zh-CN" dirty="0"/>
              <a:t>V </a:t>
            </a:r>
            <a:r>
              <a:rPr lang="en-US" altLang="zh-CN" dirty="0">
                <a:solidFill>
                  <a:srgbClr val="000080"/>
                </a:solidFill>
                <a:sym typeface="Symbol" pitchFamily="18" charset="2"/>
              </a:rPr>
              <a:t></a:t>
            </a:r>
            <a:r>
              <a:rPr lang="en-US" altLang="zh-CN" dirty="0"/>
              <a:t> X</a:t>
            </a:r>
            <a:r>
              <a:rPr lang="en-US" altLang="zh-CN" baseline="-25000" dirty="0"/>
              <a:t>F</a:t>
            </a:r>
            <a:r>
              <a:rPr lang="en-US" altLang="zh-CN" dirty="0"/>
              <a:t> </a:t>
            </a:r>
            <a:r>
              <a:rPr lang="en-US" altLang="zh-CN" baseline="30000" dirty="0"/>
              <a:t>+</a:t>
            </a:r>
            <a:r>
              <a:rPr lang="zh-CN" altLang="en-US" dirty="0"/>
              <a:t>，则由引理</a:t>
            </a:r>
            <a:r>
              <a:rPr lang="en-US" altLang="zh-CN" dirty="0"/>
              <a:t>6.2</a:t>
            </a:r>
            <a:r>
              <a:rPr lang="zh-CN" altLang="en-US" dirty="0"/>
              <a:t>，有</a:t>
            </a:r>
            <a:r>
              <a:rPr lang="en-US" altLang="zh-CN" b="1" dirty="0">
                <a:solidFill>
                  <a:srgbClr val="FF0000"/>
                </a:solidFill>
              </a:rPr>
              <a:t>X</a:t>
            </a:r>
            <a:r>
              <a:rPr lang="en-US" altLang="zh-CN" dirty="0">
                <a:latin typeface="宋体" pitchFamily="2" charset="-122"/>
              </a:rPr>
              <a:t>→</a:t>
            </a:r>
            <a:r>
              <a:rPr lang="en-US" altLang="zh-CN" dirty="0"/>
              <a:t>V</a:t>
            </a:r>
            <a:r>
              <a:rPr lang="zh-CN" altLang="en-US" dirty="0"/>
              <a:t>。</a:t>
            </a:r>
          </a:p>
          <a:p>
            <a:pPr lvl="2"/>
            <a:r>
              <a:rPr lang="zh-CN" altLang="en-US" dirty="0"/>
              <a:t>由</a:t>
            </a:r>
            <a:r>
              <a:rPr lang="en-US" altLang="zh-CN" dirty="0"/>
              <a:t>X</a:t>
            </a:r>
            <a:r>
              <a:rPr lang="en-US" altLang="zh-CN" dirty="0">
                <a:latin typeface="宋体" pitchFamily="2" charset="-122"/>
              </a:rPr>
              <a:t>→</a:t>
            </a:r>
            <a:r>
              <a:rPr lang="en-US" altLang="zh-CN" dirty="0"/>
              <a:t>V</a:t>
            </a:r>
            <a:r>
              <a:rPr lang="zh-CN" altLang="en-US" dirty="0"/>
              <a:t>，</a:t>
            </a:r>
            <a:r>
              <a:rPr lang="en-US" altLang="zh-CN" dirty="0"/>
              <a:t>V</a:t>
            </a:r>
            <a:r>
              <a:rPr lang="en-US" altLang="zh-CN" dirty="0">
                <a:latin typeface="宋体" pitchFamily="2" charset="-122"/>
              </a:rPr>
              <a:t>→</a:t>
            </a:r>
            <a:r>
              <a:rPr lang="en-US" altLang="zh-CN" dirty="0"/>
              <a:t>W</a:t>
            </a:r>
            <a:r>
              <a:rPr lang="zh-CN" altLang="en-US" dirty="0"/>
              <a:t>，有</a:t>
            </a:r>
            <a:r>
              <a:rPr lang="en-US" altLang="zh-CN" dirty="0"/>
              <a:t>X</a:t>
            </a:r>
            <a:r>
              <a:rPr lang="en-US" altLang="zh-CN" dirty="0">
                <a:latin typeface="宋体" pitchFamily="2" charset="-122"/>
              </a:rPr>
              <a:t>→</a:t>
            </a:r>
            <a:r>
              <a:rPr lang="en-US" altLang="zh-CN" dirty="0"/>
              <a:t>W</a:t>
            </a:r>
            <a:r>
              <a:rPr lang="zh-CN" altLang="en-US" dirty="0"/>
              <a:t>。</a:t>
            </a:r>
          </a:p>
          <a:p>
            <a:pPr lvl="2"/>
            <a:r>
              <a:rPr lang="zh-CN" altLang="en-US" dirty="0">
                <a:solidFill>
                  <a:srgbClr val="FF0000"/>
                </a:solidFill>
              </a:rPr>
              <a:t>再</a:t>
            </a:r>
            <a:r>
              <a:rPr lang="zh-CN" altLang="en-US" dirty="0"/>
              <a:t>由引理</a:t>
            </a:r>
            <a:r>
              <a:rPr lang="en-US" altLang="zh-CN" dirty="0"/>
              <a:t>6.2</a:t>
            </a:r>
            <a:r>
              <a:rPr lang="zh-CN" altLang="en-US" dirty="0"/>
              <a:t>，有</a:t>
            </a:r>
            <a:r>
              <a:rPr lang="en-US" altLang="zh-CN" dirty="0"/>
              <a:t>W </a:t>
            </a:r>
            <a:r>
              <a:rPr lang="en-US" altLang="zh-CN" dirty="0">
                <a:solidFill>
                  <a:srgbClr val="FF0000"/>
                </a:solidFill>
                <a:sym typeface="Symbol" pitchFamily="18" charset="2"/>
              </a:rPr>
              <a:t></a:t>
            </a:r>
            <a:r>
              <a:rPr lang="en-US" altLang="zh-CN" dirty="0">
                <a:solidFill>
                  <a:srgbClr val="FF0000"/>
                </a:solidFill>
              </a:rPr>
              <a:t> X</a:t>
            </a:r>
            <a:r>
              <a:rPr lang="en-US" altLang="zh-CN" baseline="-25000" dirty="0">
                <a:solidFill>
                  <a:srgbClr val="FF0000"/>
                </a:solidFill>
              </a:rPr>
              <a:t>F</a:t>
            </a:r>
            <a:r>
              <a:rPr lang="en-US" altLang="zh-CN" baseline="30000" dirty="0">
                <a:solidFill>
                  <a:srgbClr val="FF0000"/>
                </a:solidFill>
              </a:rPr>
              <a:t>+</a:t>
            </a:r>
            <a:r>
              <a:rPr lang="en-US" altLang="zh-CN" dirty="0">
                <a:solidFill>
                  <a:srgbClr val="FF0000"/>
                </a:solidFill>
              </a:rPr>
              <a:t> </a:t>
            </a:r>
            <a:r>
              <a:rPr lang="zh-CN" altLang="en-US" dirty="0"/>
              <a:t>。</a:t>
            </a:r>
          </a:p>
          <a:p>
            <a:endParaRPr lang="zh-CN" altLang="en-US" dirty="0"/>
          </a:p>
        </p:txBody>
      </p:sp>
      <p:sp>
        <p:nvSpPr>
          <p:cNvPr id="8" name="矩形 7"/>
          <p:cNvSpPr/>
          <p:nvPr/>
        </p:nvSpPr>
        <p:spPr>
          <a:xfrm>
            <a:off x="1981200" y="0"/>
            <a:ext cx="7086600" cy="120032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l">
              <a:buFont typeface="Wingdings" pitchFamily="2" charset="2"/>
              <a:buNone/>
            </a:pPr>
            <a:r>
              <a:rPr lang="zh-CN" altLang="en-US" dirty="0">
                <a:solidFill>
                  <a:srgbClr val="FF0000"/>
                </a:solidFill>
              </a:rPr>
              <a:t>引理</a:t>
            </a:r>
            <a:r>
              <a:rPr lang="en-US" altLang="zh-CN" dirty="0">
                <a:solidFill>
                  <a:srgbClr val="FF0000"/>
                </a:solidFill>
              </a:rPr>
              <a:t>6.2</a:t>
            </a:r>
            <a:r>
              <a:rPr lang="en-US" altLang="zh-CN" dirty="0"/>
              <a:t> </a:t>
            </a:r>
            <a:r>
              <a:rPr lang="zh-CN" altLang="en-US" dirty="0"/>
              <a:t>设</a:t>
            </a:r>
            <a:r>
              <a:rPr lang="en-US" altLang="zh-CN" dirty="0"/>
              <a:t>F</a:t>
            </a:r>
            <a:r>
              <a:rPr lang="zh-CN" altLang="en-US" dirty="0"/>
              <a:t>为属性集</a:t>
            </a:r>
            <a:r>
              <a:rPr lang="en-US" altLang="zh-CN" dirty="0"/>
              <a:t>U</a:t>
            </a:r>
            <a:r>
              <a:rPr lang="zh-CN" altLang="en-US" dirty="0"/>
              <a:t>上的一组函数依赖，</a:t>
            </a:r>
            <a:r>
              <a:rPr lang="en-US" altLang="zh-CN" dirty="0"/>
              <a:t>X</a:t>
            </a:r>
            <a:r>
              <a:rPr lang="zh-CN" altLang="en-US" dirty="0"/>
              <a:t>，</a:t>
            </a:r>
            <a:r>
              <a:rPr lang="en-US" altLang="zh-CN" dirty="0"/>
              <a:t>Y </a:t>
            </a:r>
            <a:r>
              <a:rPr lang="en-US" altLang="zh-CN" dirty="0">
                <a:sym typeface="Symbol" pitchFamily="18" charset="2"/>
              </a:rPr>
              <a:t> U</a:t>
            </a:r>
            <a:r>
              <a:rPr lang="zh-CN" altLang="en-US" dirty="0">
                <a:sym typeface="Symbol" pitchFamily="18" charset="2"/>
              </a:rPr>
              <a:t>，</a:t>
            </a:r>
            <a:r>
              <a:rPr lang="en-US" altLang="zh-CN" b="1" dirty="0">
                <a:solidFill>
                  <a:srgbClr val="C00000"/>
                </a:solidFill>
                <a:sym typeface="Symbol" pitchFamily="18" charset="2"/>
              </a:rPr>
              <a:t>X</a:t>
            </a:r>
            <a:r>
              <a:rPr lang="en-US" altLang="zh-CN" dirty="0">
                <a:latin typeface="宋体" pitchFamily="2" charset="-122"/>
              </a:rPr>
              <a:t>→</a:t>
            </a:r>
            <a:r>
              <a:rPr lang="en-US" altLang="zh-CN" b="1" dirty="0">
                <a:solidFill>
                  <a:schemeClr val="tx2"/>
                </a:solidFill>
                <a:sym typeface="Symbol" pitchFamily="18" charset="2"/>
              </a:rPr>
              <a:t>Y</a:t>
            </a:r>
            <a:r>
              <a:rPr lang="zh-CN" altLang="en-US" dirty="0">
                <a:sym typeface="Symbol" pitchFamily="18" charset="2"/>
              </a:rPr>
              <a:t>能由</a:t>
            </a:r>
            <a:r>
              <a:rPr lang="en-US" altLang="zh-CN" dirty="0">
                <a:sym typeface="Symbol" pitchFamily="18" charset="2"/>
              </a:rPr>
              <a:t>F</a:t>
            </a:r>
            <a:r>
              <a:rPr lang="zh-CN" altLang="en-US" dirty="0">
                <a:sym typeface="Symbol" pitchFamily="18" charset="2"/>
              </a:rPr>
              <a:t>根据</a:t>
            </a:r>
            <a:r>
              <a:rPr lang="en-US" altLang="zh-CN" dirty="0">
                <a:solidFill>
                  <a:srgbClr val="000080"/>
                </a:solidFill>
                <a:sym typeface="Symbol" pitchFamily="18" charset="2"/>
              </a:rPr>
              <a:t>Armstrong</a:t>
            </a:r>
            <a:r>
              <a:rPr lang="zh-CN" altLang="en-US" dirty="0">
                <a:solidFill>
                  <a:srgbClr val="000080"/>
                </a:solidFill>
                <a:sym typeface="Symbol" pitchFamily="18" charset="2"/>
              </a:rPr>
              <a:t>公理导出的</a:t>
            </a:r>
            <a:r>
              <a:rPr lang="zh-CN" altLang="en-US" b="1" dirty="0">
                <a:solidFill>
                  <a:srgbClr val="000080"/>
                </a:solidFill>
                <a:sym typeface="Symbol" pitchFamily="18" charset="2"/>
              </a:rPr>
              <a:t>充分必要条件</a:t>
            </a:r>
            <a:r>
              <a:rPr lang="zh-CN" altLang="en-US" dirty="0">
                <a:solidFill>
                  <a:srgbClr val="000080"/>
                </a:solidFill>
                <a:sym typeface="Symbol" pitchFamily="18" charset="2"/>
              </a:rPr>
              <a:t>是</a:t>
            </a:r>
            <a:r>
              <a:rPr lang="en-US" altLang="zh-CN" b="1" dirty="0">
                <a:solidFill>
                  <a:schemeClr val="tx2"/>
                </a:solidFill>
                <a:sym typeface="Symbol" pitchFamily="18" charset="2"/>
              </a:rPr>
              <a:t>Y </a:t>
            </a:r>
            <a:r>
              <a:rPr lang="en-US" altLang="zh-CN" dirty="0">
                <a:solidFill>
                  <a:srgbClr val="FF0000"/>
                </a:solidFill>
                <a:sym typeface="Symbol" pitchFamily="18" charset="2"/>
              </a:rPr>
              <a:t> </a:t>
            </a:r>
            <a:r>
              <a:rPr lang="en-US" altLang="zh-CN" b="1" dirty="0">
                <a:solidFill>
                  <a:srgbClr val="FF0000"/>
                </a:solidFill>
              </a:rPr>
              <a:t>X</a:t>
            </a:r>
            <a:r>
              <a:rPr lang="en-US" altLang="zh-CN" b="1" baseline="-25000" dirty="0">
                <a:solidFill>
                  <a:srgbClr val="FF0000"/>
                </a:solidFill>
              </a:rPr>
              <a:t>F</a:t>
            </a:r>
            <a:r>
              <a:rPr lang="en-US" altLang="zh-CN" b="1" baseline="30000" dirty="0">
                <a:solidFill>
                  <a:srgbClr val="FF0000"/>
                </a:solidFill>
              </a:rPr>
              <a:t>+</a:t>
            </a:r>
            <a:endParaRPr lang="zh-CN" altLang="en-US" b="1" baseline="30000" dirty="0">
              <a:solidFill>
                <a:srgbClr val="FF0000"/>
              </a:solidFill>
            </a:endParaRPr>
          </a:p>
        </p:txBody>
      </p:sp>
      <p:sp>
        <p:nvSpPr>
          <p:cNvPr id="3" name="页脚占位符 2">
            <a:extLst>
              <a:ext uri="{FF2B5EF4-FFF2-40B4-BE49-F238E27FC236}">
                <a16:creationId xmlns:a16="http://schemas.microsoft.com/office/drawing/2014/main" id="{AB4D05BD-E135-4EC9-A2A2-C33E70BF26FE}"/>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1A818363-D6D2-2CD2-78E4-C0C4D528CA49}"/>
              </a:ext>
            </a:extLst>
          </p:cNvPr>
          <p:cNvSpPr>
            <a:spLocks noGrp="1"/>
          </p:cNvSpPr>
          <p:nvPr>
            <p:ph type="sldNum" sz="quarter" idx="12"/>
          </p:nvPr>
        </p:nvSpPr>
        <p:spPr/>
        <p:txBody>
          <a:bodyPr/>
          <a:lstStyle/>
          <a:p>
            <a:fld id="{A2D74603-B40B-4D66-8F6E-41C870D48932}" type="slidenum">
              <a:rPr lang="en-US" altLang="zh-CN" smtClean="0"/>
              <a:pPr/>
              <a:t>118</a:t>
            </a:fld>
            <a:r>
              <a:rPr lang="en-US" altLang="zh-CN"/>
              <a:t>/162</a:t>
            </a:r>
            <a:endParaRPr lang="en-US" altLang="zh-CN"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7443">
                                            <p:txEl>
                                              <p:pRg st="3" end="3"/>
                                            </p:txEl>
                                          </p:spTgt>
                                        </p:tgtEl>
                                        <p:attrNameLst>
                                          <p:attrName>style.visibility</p:attrName>
                                        </p:attrNameLst>
                                      </p:cBhvr>
                                      <p:to>
                                        <p:strVal val="visible"/>
                                      </p:to>
                                    </p:set>
                                    <p:anim calcmode="lin" valueType="num">
                                      <p:cBhvr additive="base">
                                        <p:cTn id="7" dur="500" fill="hold"/>
                                        <p:tgtEl>
                                          <p:spTgt spid="31744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744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3"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1+#ppt_w/2"/>
                                          </p:val>
                                        </p:tav>
                                        <p:tav tm="100000">
                                          <p:val>
                                            <p:strVal val="#ppt_x"/>
                                          </p:val>
                                        </p:tav>
                                      </p:tavLst>
                                    </p:anim>
                                    <p:anim calcmode="lin" valueType="num">
                                      <p:cBhvr additive="base">
                                        <p:cTn id="14" dur="500" fill="hold"/>
                                        <p:tgtEl>
                                          <p:spTgt spid="8"/>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17443">
                                            <p:txEl>
                                              <p:pRg st="4" end="4"/>
                                            </p:txEl>
                                          </p:spTgt>
                                        </p:tgtEl>
                                        <p:attrNameLst>
                                          <p:attrName>style.visibility</p:attrName>
                                        </p:attrNameLst>
                                      </p:cBhvr>
                                      <p:to>
                                        <p:strVal val="visible"/>
                                      </p:to>
                                    </p:set>
                                    <p:anim calcmode="lin" valueType="num">
                                      <p:cBhvr additive="base">
                                        <p:cTn id="19" dur="500" fill="hold"/>
                                        <p:tgtEl>
                                          <p:spTgt spid="31744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1744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17443">
                                            <p:txEl>
                                              <p:pRg st="5" end="5"/>
                                            </p:txEl>
                                          </p:spTgt>
                                        </p:tgtEl>
                                        <p:attrNameLst>
                                          <p:attrName>style.visibility</p:attrName>
                                        </p:attrNameLst>
                                      </p:cBhvr>
                                      <p:to>
                                        <p:strVal val="visible"/>
                                      </p:to>
                                    </p:set>
                                    <p:anim calcmode="lin" valueType="num">
                                      <p:cBhvr additive="base">
                                        <p:cTn id="25" dur="500" fill="hold"/>
                                        <p:tgtEl>
                                          <p:spTgt spid="31744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1744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half" idx="10"/>
          </p:nvPr>
        </p:nvSpPr>
        <p:spPr/>
        <p:txBody>
          <a:bodyPr/>
          <a:lstStyle/>
          <a:p>
            <a:fld id="{97108865-B8E6-4E09-B04A-0242FC56D768}" type="datetime1">
              <a:rPr lang="zh-CN" altLang="en-US" smtClean="0"/>
              <a:t>2025/11/6</a:t>
            </a:fld>
            <a:endParaRPr lang="en-US" altLang="zh-CN"/>
          </a:p>
        </p:txBody>
      </p:sp>
      <p:sp>
        <p:nvSpPr>
          <p:cNvPr id="318466" name="Rectangle 2"/>
          <p:cNvSpPr>
            <a:spLocks noGrp="1" noChangeArrowheads="1"/>
          </p:cNvSpPr>
          <p:nvPr>
            <p:ph type="title"/>
          </p:nvPr>
        </p:nvSpPr>
        <p:spPr/>
        <p:txBody>
          <a:bodyPr/>
          <a:lstStyle/>
          <a:p>
            <a:r>
              <a:rPr lang="en-US" altLang="zh-CN" dirty="0"/>
              <a:t>8.3 </a:t>
            </a:r>
            <a:r>
              <a:rPr lang="zh-CN" altLang="en-US" dirty="0"/>
              <a:t>数据依赖的公理系统</a:t>
            </a:r>
            <a:r>
              <a:rPr lang="en-US" altLang="zh-CN" dirty="0"/>
              <a:t>(</a:t>
            </a:r>
            <a:r>
              <a:rPr lang="zh-CN" altLang="en-US" dirty="0"/>
              <a:t>了解</a:t>
            </a:r>
            <a:r>
              <a:rPr lang="en-US" altLang="zh-CN" dirty="0"/>
              <a:t>)</a:t>
            </a:r>
            <a:endParaRPr lang="zh-CN" altLang="en-US" dirty="0"/>
          </a:p>
        </p:txBody>
      </p:sp>
      <p:sp>
        <p:nvSpPr>
          <p:cNvPr id="318467" name="Rectangle 3"/>
          <p:cNvSpPr>
            <a:spLocks noGrp="1" noChangeArrowheads="1"/>
          </p:cNvSpPr>
          <p:nvPr>
            <p:ph type="body" idx="1"/>
          </p:nvPr>
        </p:nvSpPr>
        <p:spPr/>
        <p:txBody>
          <a:bodyPr/>
          <a:lstStyle/>
          <a:p>
            <a:pPr lvl="1"/>
            <a:r>
              <a:rPr lang="zh-CN" altLang="en-US" dirty="0"/>
              <a:t>（</a:t>
            </a:r>
            <a:r>
              <a:rPr lang="en-US" altLang="zh-CN" dirty="0"/>
              <a:t>2</a:t>
            </a:r>
            <a:r>
              <a:rPr lang="zh-CN" altLang="en-US" dirty="0"/>
              <a:t>）</a:t>
            </a:r>
            <a:r>
              <a:rPr lang="zh-CN" altLang="en-US" dirty="0">
                <a:solidFill>
                  <a:srgbClr val="FF0000"/>
                </a:solidFill>
              </a:rPr>
              <a:t>构造</a:t>
            </a:r>
            <a:r>
              <a:rPr lang="zh-CN" altLang="en-US" dirty="0"/>
              <a:t>如下二维表</a:t>
            </a:r>
            <a:r>
              <a:rPr lang="en-US" altLang="zh-CN" dirty="0"/>
              <a:t>r</a:t>
            </a:r>
            <a:r>
              <a:rPr lang="zh-CN" altLang="en-US" dirty="0"/>
              <a:t>，</a:t>
            </a:r>
            <a:r>
              <a:rPr lang="zh-CN" altLang="en-US" dirty="0">
                <a:solidFill>
                  <a:srgbClr val="FF0000"/>
                </a:solidFill>
              </a:rPr>
              <a:t>证明</a:t>
            </a:r>
            <a:r>
              <a:rPr lang="en-US" altLang="zh-CN" dirty="0"/>
              <a:t>r</a:t>
            </a:r>
            <a:r>
              <a:rPr lang="zh-CN" altLang="en-US" dirty="0"/>
              <a:t>必是</a:t>
            </a:r>
            <a:r>
              <a:rPr lang="en-US" altLang="zh-CN" dirty="0"/>
              <a:t>R&lt;U, F&gt;</a:t>
            </a:r>
            <a:r>
              <a:rPr lang="zh-CN" altLang="en-US" dirty="0"/>
              <a:t>的一个关系。用</a:t>
            </a:r>
            <a:r>
              <a:rPr lang="zh-CN" altLang="en-US" dirty="0">
                <a:solidFill>
                  <a:srgbClr val="FF0000"/>
                </a:solidFill>
              </a:rPr>
              <a:t>反证</a:t>
            </a:r>
            <a:r>
              <a:rPr lang="zh-CN" altLang="en-US" dirty="0"/>
              <a:t>法。</a:t>
            </a:r>
          </a:p>
          <a:p>
            <a:pPr lvl="1">
              <a:buFont typeface="Wingdings" pitchFamily="2" charset="2"/>
              <a:buNone/>
            </a:pPr>
            <a:r>
              <a:rPr lang="zh-CN" altLang="en-US" dirty="0"/>
              <a:t>          </a:t>
            </a:r>
            <a:r>
              <a:rPr lang="en-US" altLang="zh-CN" dirty="0"/>
              <a:t>X</a:t>
            </a:r>
            <a:r>
              <a:rPr lang="en-US" altLang="zh-CN" baseline="-25000" dirty="0"/>
              <a:t>F</a:t>
            </a:r>
            <a:r>
              <a:rPr lang="en-US" altLang="zh-CN" baseline="30000" dirty="0"/>
              <a:t>+                      </a:t>
            </a:r>
            <a:r>
              <a:rPr lang="en-US" altLang="zh-CN" dirty="0"/>
              <a:t>U</a:t>
            </a:r>
            <a:r>
              <a:rPr lang="zh-CN" altLang="en-US" dirty="0"/>
              <a:t>－</a:t>
            </a:r>
            <a:r>
              <a:rPr lang="en-US" altLang="zh-CN" dirty="0"/>
              <a:t>X</a:t>
            </a:r>
            <a:r>
              <a:rPr lang="en-US" altLang="zh-CN" baseline="-25000" dirty="0"/>
              <a:t>F</a:t>
            </a:r>
            <a:r>
              <a:rPr lang="en-US" altLang="zh-CN" baseline="30000" dirty="0"/>
              <a:t>+</a:t>
            </a:r>
            <a:r>
              <a:rPr lang="en-US" altLang="zh-CN" dirty="0"/>
              <a:t> </a:t>
            </a:r>
          </a:p>
          <a:p>
            <a:pPr lvl="1">
              <a:buFont typeface="Wingdings" pitchFamily="2" charset="2"/>
              <a:buNone/>
            </a:pPr>
            <a:r>
              <a:rPr lang="zh-CN" altLang="en-US" dirty="0"/>
              <a:t>－－－－－－－－－－－－－</a:t>
            </a:r>
          </a:p>
          <a:p>
            <a:pPr>
              <a:buFont typeface="Wingdings" pitchFamily="2" charset="2"/>
              <a:buNone/>
            </a:pPr>
            <a:r>
              <a:rPr lang="zh-CN" altLang="en-US" sz="2800" dirty="0"/>
              <a:t>        </a:t>
            </a:r>
            <a:r>
              <a:rPr lang="en-US" altLang="zh-CN" sz="2800" dirty="0"/>
              <a:t>11</a:t>
            </a:r>
            <a:r>
              <a:rPr lang="en-US" altLang="zh-CN" sz="2800" dirty="0">
                <a:latin typeface="Arial"/>
              </a:rPr>
              <a:t>……</a:t>
            </a:r>
            <a:r>
              <a:rPr lang="en-US" altLang="zh-CN" sz="2800" dirty="0"/>
              <a:t>. 1          00 </a:t>
            </a:r>
            <a:r>
              <a:rPr lang="en-US" altLang="zh-CN" sz="2800" dirty="0">
                <a:latin typeface="Arial"/>
              </a:rPr>
              <a:t>…</a:t>
            </a:r>
            <a:r>
              <a:rPr lang="en-US" altLang="zh-CN" sz="2800" dirty="0"/>
              <a:t> </a:t>
            </a:r>
            <a:r>
              <a:rPr lang="en-US" altLang="zh-CN" sz="2800" dirty="0">
                <a:latin typeface="Arial"/>
              </a:rPr>
              <a:t>…</a:t>
            </a:r>
            <a:r>
              <a:rPr lang="en-US" altLang="zh-CN" sz="2800" dirty="0"/>
              <a:t> 0</a:t>
            </a:r>
          </a:p>
          <a:p>
            <a:pPr>
              <a:buFont typeface="Wingdings" pitchFamily="2" charset="2"/>
              <a:buNone/>
            </a:pPr>
            <a:r>
              <a:rPr lang="en-US" altLang="zh-CN" sz="2800" dirty="0"/>
              <a:t>        11</a:t>
            </a:r>
            <a:r>
              <a:rPr lang="en-US" altLang="zh-CN" sz="2800" dirty="0">
                <a:latin typeface="Arial"/>
              </a:rPr>
              <a:t>……</a:t>
            </a:r>
            <a:r>
              <a:rPr lang="en-US" altLang="zh-CN" sz="2800" dirty="0"/>
              <a:t>. 1          11</a:t>
            </a:r>
            <a:r>
              <a:rPr lang="en-US" altLang="zh-CN" sz="2800" dirty="0">
                <a:latin typeface="Arial"/>
              </a:rPr>
              <a:t>…</a:t>
            </a:r>
            <a:r>
              <a:rPr lang="en-US" altLang="zh-CN" sz="2800" dirty="0"/>
              <a:t> </a:t>
            </a:r>
            <a:r>
              <a:rPr lang="en-US" altLang="zh-CN" sz="2800" dirty="0">
                <a:latin typeface="Arial"/>
              </a:rPr>
              <a:t>…</a:t>
            </a:r>
            <a:r>
              <a:rPr lang="en-US" altLang="zh-CN" sz="2800" dirty="0"/>
              <a:t> 1</a:t>
            </a:r>
          </a:p>
          <a:p>
            <a:pPr lvl="2"/>
            <a:r>
              <a:rPr lang="zh-CN" altLang="en-US" sz="2000" dirty="0"/>
              <a:t>若</a:t>
            </a:r>
            <a:r>
              <a:rPr lang="en-US" altLang="zh-CN" sz="2000" dirty="0"/>
              <a:t>r</a:t>
            </a:r>
            <a:r>
              <a:rPr lang="zh-CN" altLang="en-US" sz="2000" dirty="0"/>
              <a:t>不是</a:t>
            </a:r>
            <a:r>
              <a:rPr lang="en-US" altLang="zh-CN" sz="2000" dirty="0"/>
              <a:t>R&lt;U, F&gt;</a:t>
            </a:r>
            <a:r>
              <a:rPr lang="zh-CN" altLang="en-US" sz="2000" dirty="0"/>
              <a:t>的关系，必是由</a:t>
            </a:r>
            <a:r>
              <a:rPr lang="en-US" altLang="zh-CN" sz="2000" dirty="0"/>
              <a:t>F</a:t>
            </a:r>
            <a:r>
              <a:rPr lang="zh-CN" altLang="en-US" sz="2000" dirty="0"/>
              <a:t>中的某个函数依赖</a:t>
            </a:r>
            <a:r>
              <a:rPr lang="en-US" altLang="zh-CN" sz="2000" dirty="0"/>
              <a:t>V</a:t>
            </a:r>
            <a:r>
              <a:rPr lang="en-US" altLang="zh-CN" sz="2000" dirty="0">
                <a:latin typeface="宋体" pitchFamily="2" charset="-122"/>
              </a:rPr>
              <a:t>→</a:t>
            </a:r>
            <a:r>
              <a:rPr lang="en-US" altLang="zh-CN" sz="2000" dirty="0"/>
              <a:t>W</a:t>
            </a:r>
            <a:r>
              <a:rPr lang="zh-CN" altLang="en-US" sz="2000" dirty="0"/>
              <a:t>在</a:t>
            </a:r>
            <a:r>
              <a:rPr lang="en-US" altLang="zh-CN" sz="2000" dirty="0"/>
              <a:t>r</a:t>
            </a:r>
            <a:r>
              <a:rPr lang="zh-CN" altLang="en-US" sz="2000" dirty="0"/>
              <a:t>上不成立所致。</a:t>
            </a:r>
          </a:p>
          <a:p>
            <a:pPr lvl="2"/>
            <a:r>
              <a:rPr lang="zh-CN" altLang="en-US" sz="2000" dirty="0"/>
              <a:t>观察</a:t>
            </a:r>
            <a:r>
              <a:rPr lang="en-US" altLang="zh-CN" sz="2000" dirty="0"/>
              <a:t>r</a:t>
            </a:r>
            <a:r>
              <a:rPr lang="zh-CN" altLang="en-US" sz="2000" dirty="0"/>
              <a:t>，</a:t>
            </a:r>
            <a:r>
              <a:rPr lang="en-US" altLang="zh-CN" sz="2000" dirty="0"/>
              <a:t>V </a:t>
            </a:r>
            <a:r>
              <a:rPr lang="en-US" altLang="zh-CN" dirty="0">
                <a:solidFill>
                  <a:srgbClr val="000080"/>
                </a:solidFill>
                <a:sym typeface="Symbol" pitchFamily="18" charset="2"/>
              </a:rPr>
              <a:t></a:t>
            </a:r>
            <a:r>
              <a:rPr lang="en-US" altLang="zh-CN" dirty="0"/>
              <a:t> X</a:t>
            </a:r>
            <a:r>
              <a:rPr lang="en-US" altLang="zh-CN" baseline="-25000" dirty="0"/>
              <a:t>F</a:t>
            </a:r>
            <a:r>
              <a:rPr lang="en-US" altLang="zh-CN" dirty="0"/>
              <a:t> </a:t>
            </a:r>
            <a:r>
              <a:rPr lang="en-US" altLang="zh-CN" baseline="30000" dirty="0"/>
              <a:t>+</a:t>
            </a:r>
            <a:r>
              <a:rPr lang="en-US" altLang="zh-CN" dirty="0"/>
              <a:t> </a:t>
            </a:r>
            <a:r>
              <a:rPr lang="zh-CN" altLang="en-US" dirty="0"/>
              <a:t>，而</a:t>
            </a:r>
            <a:r>
              <a:rPr lang="en-US" altLang="zh-CN" dirty="0"/>
              <a:t>W </a:t>
            </a:r>
            <a:r>
              <a:rPr lang="en-US" altLang="zh-CN" dirty="0">
                <a:solidFill>
                  <a:srgbClr val="000080"/>
                </a:solidFill>
                <a:sym typeface="Symbol" pitchFamily="18" charset="2"/>
              </a:rPr>
              <a:t></a:t>
            </a:r>
            <a:r>
              <a:rPr lang="en-US" altLang="zh-CN" dirty="0"/>
              <a:t> X</a:t>
            </a:r>
            <a:r>
              <a:rPr lang="en-US" altLang="zh-CN" baseline="-25000" dirty="0"/>
              <a:t>F</a:t>
            </a:r>
            <a:r>
              <a:rPr lang="en-US" altLang="zh-CN" dirty="0"/>
              <a:t> </a:t>
            </a:r>
            <a:r>
              <a:rPr lang="en-US" altLang="zh-CN" baseline="30000" dirty="0"/>
              <a:t>+</a:t>
            </a:r>
            <a:r>
              <a:rPr lang="en-US" altLang="zh-CN" dirty="0"/>
              <a:t> </a:t>
            </a:r>
            <a:r>
              <a:rPr lang="zh-CN" altLang="en-US" dirty="0"/>
              <a:t>。</a:t>
            </a:r>
          </a:p>
          <a:p>
            <a:pPr lvl="2"/>
            <a:r>
              <a:rPr lang="zh-CN" altLang="en-US" sz="2000" dirty="0"/>
              <a:t>与（</a:t>
            </a:r>
            <a:r>
              <a:rPr lang="en-US" altLang="zh-CN" sz="2000" dirty="0"/>
              <a:t>1</a:t>
            </a:r>
            <a:r>
              <a:rPr lang="zh-CN" altLang="en-US" sz="2000" dirty="0"/>
              <a:t>）矛盾。</a:t>
            </a:r>
          </a:p>
        </p:txBody>
      </p:sp>
      <p:sp>
        <p:nvSpPr>
          <p:cNvPr id="318468" name="Line 4"/>
          <p:cNvSpPr>
            <a:spLocks noChangeShapeType="1"/>
          </p:cNvSpPr>
          <p:nvPr/>
        </p:nvSpPr>
        <p:spPr bwMode="auto">
          <a:xfrm>
            <a:off x="4924428" y="5232400"/>
            <a:ext cx="762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 name="页脚占位符 2">
            <a:extLst>
              <a:ext uri="{FF2B5EF4-FFF2-40B4-BE49-F238E27FC236}">
                <a16:creationId xmlns:a16="http://schemas.microsoft.com/office/drawing/2014/main" id="{3A3E69C0-EA3E-EFF7-8702-A4BA063672C4}"/>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6722FA73-0AEB-6A84-45F9-581AA8FA80FB}"/>
              </a:ext>
            </a:extLst>
          </p:cNvPr>
          <p:cNvSpPr>
            <a:spLocks noGrp="1"/>
          </p:cNvSpPr>
          <p:nvPr>
            <p:ph type="sldNum" sz="quarter" idx="12"/>
          </p:nvPr>
        </p:nvSpPr>
        <p:spPr/>
        <p:txBody>
          <a:bodyPr/>
          <a:lstStyle/>
          <a:p>
            <a:fld id="{A2D74603-B40B-4D66-8F6E-41C870D48932}" type="slidenum">
              <a:rPr lang="en-US" altLang="zh-CN" smtClean="0"/>
              <a:pPr/>
              <a:t>119</a:t>
            </a:fld>
            <a:r>
              <a:rPr lang="en-US" altLang="zh-CN"/>
              <a:t>/162</a:t>
            </a:r>
            <a:endParaRPr lang="en-US" altLang="zh-CN" dirty="0"/>
          </a:p>
        </p:txBody>
      </p:sp>
    </p:spTree>
  </p:cSld>
  <p:clrMapOvr>
    <a:masterClrMapping/>
  </p:clrMapOvr>
  <p:transition>
    <p:fade/>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2D62FEE6-2749-4625-9D2D-2EF6A18A8C28}" type="datetime1">
              <a:rPr lang="zh-CN" altLang="en-US" smtClean="0"/>
              <a:t>2025/11/6</a:t>
            </a:fld>
            <a:endParaRPr lang="en-US" altLang="zh-CN"/>
          </a:p>
        </p:txBody>
      </p:sp>
      <p:sp>
        <p:nvSpPr>
          <p:cNvPr id="319490" name="Rectangle 2"/>
          <p:cNvSpPr>
            <a:spLocks noGrp="1" noChangeArrowheads="1"/>
          </p:cNvSpPr>
          <p:nvPr>
            <p:ph type="title"/>
          </p:nvPr>
        </p:nvSpPr>
        <p:spPr/>
        <p:txBody>
          <a:bodyPr/>
          <a:lstStyle/>
          <a:p>
            <a:r>
              <a:rPr lang="en-US" altLang="zh-CN" dirty="0"/>
              <a:t>8.3 </a:t>
            </a:r>
            <a:r>
              <a:rPr lang="zh-CN" altLang="en-US" dirty="0"/>
              <a:t>数据依赖的公理系统</a:t>
            </a:r>
            <a:r>
              <a:rPr lang="en-US" altLang="zh-CN" dirty="0"/>
              <a:t>(</a:t>
            </a:r>
            <a:r>
              <a:rPr lang="zh-CN" altLang="en-US" dirty="0"/>
              <a:t>了解</a:t>
            </a:r>
            <a:r>
              <a:rPr lang="en-US" altLang="zh-CN" dirty="0"/>
              <a:t>)</a:t>
            </a:r>
            <a:endParaRPr lang="zh-CN" altLang="en-US" dirty="0"/>
          </a:p>
        </p:txBody>
      </p:sp>
      <p:sp>
        <p:nvSpPr>
          <p:cNvPr id="319491" name="Rectangle 3"/>
          <p:cNvSpPr>
            <a:spLocks noGrp="1" noChangeArrowheads="1"/>
          </p:cNvSpPr>
          <p:nvPr>
            <p:ph type="body" idx="1"/>
          </p:nvPr>
        </p:nvSpPr>
        <p:spPr/>
        <p:txBody>
          <a:bodyPr/>
          <a:lstStyle/>
          <a:p>
            <a:pPr lvl="1"/>
            <a:r>
              <a:rPr lang="zh-CN" altLang="en-US" dirty="0"/>
              <a:t>（</a:t>
            </a:r>
            <a:r>
              <a:rPr lang="en-US" altLang="zh-CN" dirty="0"/>
              <a:t>3</a:t>
            </a:r>
            <a:r>
              <a:rPr lang="zh-CN" altLang="en-US" dirty="0"/>
              <a:t>）若</a:t>
            </a:r>
            <a:r>
              <a:rPr lang="en-US" altLang="zh-CN" dirty="0"/>
              <a:t>X</a:t>
            </a:r>
            <a:r>
              <a:rPr lang="en-US" altLang="zh-CN" dirty="0">
                <a:latin typeface="宋体" pitchFamily="2" charset="-122"/>
              </a:rPr>
              <a:t>→</a:t>
            </a:r>
            <a:r>
              <a:rPr lang="en-US" altLang="zh-CN" dirty="0"/>
              <a:t>Y</a:t>
            </a:r>
            <a:r>
              <a:rPr lang="zh-CN" altLang="en-US" dirty="0"/>
              <a:t>不能由</a:t>
            </a:r>
            <a:r>
              <a:rPr lang="en-US" altLang="zh-CN" dirty="0"/>
              <a:t>Armstrong</a:t>
            </a:r>
            <a:r>
              <a:rPr lang="zh-CN" altLang="en-US" dirty="0"/>
              <a:t>公理导出</a:t>
            </a:r>
          </a:p>
          <a:p>
            <a:pPr lvl="2"/>
            <a:r>
              <a:rPr lang="zh-CN" altLang="en-US" dirty="0"/>
              <a:t>则</a:t>
            </a:r>
            <a:r>
              <a:rPr lang="en-US" altLang="zh-CN" dirty="0"/>
              <a:t>Y</a:t>
            </a:r>
            <a:r>
              <a:rPr lang="zh-CN" altLang="en-US" dirty="0"/>
              <a:t>不是</a:t>
            </a:r>
            <a:r>
              <a:rPr lang="en-US" altLang="zh-CN" dirty="0"/>
              <a:t>X</a:t>
            </a:r>
            <a:r>
              <a:rPr lang="en-US" altLang="zh-CN" baseline="-25000" dirty="0"/>
              <a:t>F</a:t>
            </a:r>
            <a:r>
              <a:rPr lang="en-US" altLang="zh-CN" baseline="30000" dirty="0"/>
              <a:t>+</a:t>
            </a:r>
            <a:r>
              <a:rPr lang="en-US" altLang="zh-CN" dirty="0"/>
              <a:t> </a:t>
            </a:r>
            <a:r>
              <a:rPr lang="zh-CN" altLang="en-US" dirty="0"/>
              <a:t>的子集，必有</a:t>
            </a:r>
            <a:r>
              <a:rPr lang="en-US" altLang="zh-CN" dirty="0"/>
              <a:t>Y</a:t>
            </a:r>
            <a:r>
              <a:rPr lang="en-US" altLang="zh-CN" dirty="0">
                <a:latin typeface="Arial"/>
              </a:rPr>
              <a:t>’</a:t>
            </a:r>
            <a:r>
              <a:rPr lang="en-US" altLang="zh-CN" dirty="0"/>
              <a:t> </a:t>
            </a:r>
            <a:r>
              <a:rPr lang="en-US" altLang="zh-CN" dirty="0">
                <a:solidFill>
                  <a:srgbClr val="000080"/>
                </a:solidFill>
                <a:sym typeface="Symbol" pitchFamily="18" charset="2"/>
              </a:rPr>
              <a:t></a:t>
            </a:r>
            <a:r>
              <a:rPr lang="en-US" altLang="zh-CN" dirty="0"/>
              <a:t> Y</a:t>
            </a:r>
            <a:r>
              <a:rPr lang="zh-CN" altLang="en-US" dirty="0"/>
              <a:t>，且</a:t>
            </a:r>
            <a:r>
              <a:rPr lang="en-US" altLang="zh-CN" dirty="0"/>
              <a:t>Y</a:t>
            </a:r>
            <a:r>
              <a:rPr lang="en-US" altLang="zh-CN" dirty="0">
                <a:latin typeface="Arial"/>
              </a:rPr>
              <a:t>’</a:t>
            </a:r>
            <a:r>
              <a:rPr lang="en-US" altLang="zh-CN" dirty="0"/>
              <a:t> </a:t>
            </a:r>
            <a:r>
              <a:rPr lang="en-US" altLang="zh-CN" dirty="0">
                <a:solidFill>
                  <a:srgbClr val="000080"/>
                </a:solidFill>
                <a:sym typeface="Symbol" pitchFamily="18" charset="2"/>
              </a:rPr>
              <a:t></a:t>
            </a:r>
            <a:r>
              <a:rPr lang="en-US" altLang="zh-CN" dirty="0"/>
              <a:t> U</a:t>
            </a:r>
            <a:r>
              <a:rPr lang="zh-CN" altLang="en-US" dirty="0"/>
              <a:t>－</a:t>
            </a:r>
            <a:r>
              <a:rPr lang="en-US" altLang="zh-CN" dirty="0"/>
              <a:t>X</a:t>
            </a:r>
            <a:r>
              <a:rPr lang="en-US" altLang="zh-CN" baseline="-25000" dirty="0"/>
              <a:t>F</a:t>
            </a:r>
            <a:r>
              <a:rPr lang="en-US" altLang="zh-CN" dirty="0"/>
              <a:t> </a:t>
            </a:r>
            <a:r>
              <a:rPr lang="en-US" altLang="zh-CN" baseline="30000" dirty="0"/>
              <a:t>+</a:t>
            </a:r>
            <a:r>
              <a:rPr lang="zh-CN" altLang="en-US" dirty="0"/>
              <a:t>。（</a:t>
            </a:r>
            <a:r>
              <a:rPr lang="zh-CN" altLang="en-US" dirty="0">
                <a:solidFill>
                  <a:srgbClr val="FF0000"/>
                </a:solidFill>
              </a:rPr>
              <a:t>推</a:t>
            </a:r>
            <a:r>
              <a:rPr lang="zh-CN" altLang="en-US" dirty="0"/>
              <a:t>）</a:t>
            </a:r>
            <a:r>
              <a:rPr lang="en-US" altLang="zh-CN" dirty="0"/>
              <a:t>X→Y</a:t>
            </a:r>
            <a:r>
              <a:rPr lang="zh-CN" altLang="en-US" dirty="0"/>
              <a:t>在</a:t>
            </a:r>
            <a:r>
              <a:rPr lang="en-US" altLang="zh-CN" dirty="0"/>
              <a:t>r</a:t>
            </a:r>
            <a:r>
              <a:rPr lang="zh-CN" altLang="en-US" dirty="0"/>
              <a:t>中不成立。</a:t>
            </a:r>
          </a:p>
          <a:p>
            <a:pPr lvl="2"/>
            <a:r>
              <a:rPr lang="zh-CN" altLang="en-US" dirty="0"/>
              <a:t> </a:t>
            </a:r>
            <a:r>
              <a:rPr lang="en-US" altLang="zh-CN" dirty="0"/>
              <a:t>X</a:t>
            </a:r>
            <a:r>
              <a:rPr lang="en-US" altLang="zh-CN" dirty="0">
                <a:latin typeface="宋体" pitchFamily="2" charset="-122"/>
              </a:rPr>
              <a:t>→</a:t>
            </a:r>
            <a:r>
              <a:rPr lang="en-US" altLang="zh-CN" dirty="0"/>
              <a:t>Y</a:t>
            </a:r>
            <a:r>
              <a:rPr lang="zh-CN" altLang="en-US" dirty="0"/>
              <a:t>本身不为</a:t>
            </a:r>
            <a:r>
              <a:rPr lang="en-US" altLang="zh-CN" dirty="0"/>
              <a:t>F</a:t>
            </a:r>
            <a:r>
              <a:rPr lang="zh-CN" altLang="en-US" dirty="0"/>
              <a:t>所蕴含。（</a:t>
            </a:r>
            <a:r>
              <a:rPr lang="zh-CN" altLang="en-US" dirty="0">
                <a:solidFill>
                  <a:srgbClr val="FF0000"/>
                </a:solidFill>
              </a:rPr>
              <a:t>观察</a:t>
            </a:r>
            <a:r>
              <a:rPr lang="en-US" altLang="zh-CN" dirty="0"/>
              <a:t>r</a:t>
            </a:r>
            <a:r>
              <a:rPr lang="zh-CN" altLang="en-US" dirty="0"/>
              <a:t>）</a:t>
            </a:r>
          </a:p>
          <a:p>
            <a:pPr lvl="2"/>
            <a:r>
              <a:rPr lang="zh-CN" altLang="en-US" dirty="0"/>
              <a:t>得证。</a:t>
            </a:r>
          </a:p>
          <a:p>
            <a:endParaRPr lang="zh-CN" altLang="en-US" dirty="0"/>
          </a:p>
        </p:txBody>
      </p:sp>
      <p:sp>
        <p:nvSpPr>
          <p:cNvPr id="3" name="页脚占位符 2">
            <a:extLst>
              <a:ext uri="{FF2B5EF4-FFF2-40B4-BE49-F238E27FC236}">
                <a16:creationId xmlns:a16="http://schemas.microsoft.com/office/drawing/2014/main" id="{9EF56CDA-5AF2-80A9-DFC1-DE7725F41B01}"/>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343F1771-F303-6496-F8AC-E5CCECA32554}"/>
              </a:ext>
            </a:extLst>
          </p:cNvPr>
          <p:cNvSpPr>
            <a:spLocks noGrp="1"/>
          </p:cNvSpPr>
          <p:nvPr>
            <p:ph type="sldNum" sz="quarter" idx="12"/>
          </p:nvPr>
        </p:nvSpPr>
        <p:spPr/>
        <p:txBody>
          <a:bodyPr/>
          <a:lstStyle/>
          <a:p>
            <a:fld id="{A2D74603-B40B-4D66-8F6E-41C870D48932}" type="slidenum">
              <a:rPr lang="en-US" altLang="zh-CN" smtClean="0"/>
              <a:pPr/>
              <a:t>120</a:t>
            </a:fld>
            <a:r>
              <a:rPr lang="en-US" altLang="zh-CN"/>
              <a:t>/162</a:t>
            </a:r>
            <a:endParaRPr lang="en-US" altLang="zh-CN" dirty="0"/>
          </a:p>
        </p:txBody>
      </p:sp>
    </p:spTree>
  </p:cSld>
  <p:clrMapOvr>
    <a:masterClrMapping/>
  </p:clrMapOvr>
  <p:transition>
    <p:fade/>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9D3909B8-CD21-4A22-8397-AC9CB1B684DB}" type="datetime1">
              <a:rPr lang="zh-CN" altLang="en-US" smtClean="0"/>
              <a:t>2025/11/6</a:t>
            </a:fld>
            <a:endParaRPr lang="en-US" altLang="zh-CN"/>
          </a:p>
        </p:txBody>
      </p:sp>
      <p:sp>
        <p:nvSpPr>
          <p:cNvPr id="319490" name="Rectangle 2"/>
          <p:cNvSpPr>
            <a:spLocks noGrp="1" noChangeArrowheads="1"/>
          </p:cNvSpPr>
          <p:nvPr>
            <p:ph type="title"/>
          </p:nvPr>
        </p:nvSpPr>
        <p:spPr/>
        <p:txBody>
          <a:bodyPr/>
          <a:lstStyle/>
          <a:p>
            <a:r>
              <a:rPr lang="en-US" altLang="zh-CN" dirty="0"/>
              <a:t>8.3 </a:t>
            </a:r>
            <a:r>
              <a:rPr lang="zh-CN" altLang="en-US" dirty="0"/>
              <a:t>数据依赖的公理系统</a:t>
            </a:r>
          </a:p>
        </p:txBody>
      </p:sp>
      <p:sp>
        <p:nvSpPr>
          <p:cNvPr id="10" name="Rectangle 6"/>
          <p:cNvSpPr>
            <a:spLocks noGrp="1" noChangeArrowheads="1"/>
          </p:cNvSpPr>
          <p:nvPr>
            <p:ph idx="1"/>
          </p:nvPr>
        </p:nvSpPr>
        <p:spPr bwMode="auto">
          <a:xfrm>
            <a:off x="609600" y="1447800"/>
            <a:ext cx="8345488" cy="3662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92100" indent="-292100" algn="l">
              <a:spcBef>
                <a:spcPct val="0"/>
              </a:spcBef>
              <a:defRPr kumimoji="1" sz="2400">
                <a:solidFill>
                  <a:schemeClr val="tx1"/>
                </a:solidFill>
                <a:latin typeface="Times New Roman" pitchFamily="18" charset="0"/>
                <a:ea typeface="宋体" charset="-122"/>
              </a:defRPr>
            </a:lvl1pPr>
            <a:lvl2pPr marL="758825" indent="-276225" algn="l">
              <a:spcBef>
                <a:spcPct val="0"/>
              </a:spcBef>
              <a:defRPr kumimoji="1" sz="2400">
                <a:solidFill>
                  <a:schemeClr val="tx1"/>
                </a:solidFill>
                <a:latin typeface="Times New Roman" pitchFamily="18" charset="0"/>
                <a:ea typeface="宋体" charset="-122"/>
              </a:defRPr>
            </a:lvl2pPr>
            <a:lvl3pPr marL="949325" algn="l">
              <a:spcBef>
                <a:spcPct val="0"/>
              </a:spcBef>
              <a:defRPr kumimoji="1" sz="2400">
                <a:solidFill>
                  <a:schemeClr val="tx1"/>
                </a:solidFill>
                <a:latin typeface="Times New Roman" pitchFamily="18" charset="0"/>
                <a:ea typeface="宋体" charset="-122"/>
              </a:defRPr>
            </a:lvl3pPr>
            <a:lvl4pPr algn="l">
              <a:spcBef>
                <a:spcPct val="0"/>
              </a:spcBef>
              <a:defRPr kumimoji="1" sz="2400">
                <a:solidFill>
                  <a:schemeClr val="tx1"/>
                </a:solidFill>
                <a:latin typeface="Times New Roman" pitchFamily="18" charset="0"/>
                <a:ea typeface="宋体" charset="-122"/>
              </a:defRPr>
            </a:lvl4pPr>
            <a:lvl5pPr algn="l">
              <a:spcBef>
                <a:spcPct val="0"/>
              </a:spcBef>
              <a:defRPr kumimoji="1" sz="2400">
                <a:solidFill>
                  <a:schemeClr val="tx1"/>
                </a:solidFill>
                <a:latin typeface="Times New Roman" pitchFamily="18" charset="0"/>
                <a:ea typeface="宋体" charset="-122"/>
              </a:defRPr>
            </a:lvl5pPr>
            <a:lvl6pPr fontAlgn="base">
              <a:spcBef>
                <a:spcPct val="0"/>
              </a:spcBef>
              <a:spcAft>
                <a:spcPct val="0"/>
              </a:spcAft>
              <a:defRPr kumimoji="1" sz="2400">
                <a:solidFill>
                  <a:schemeClr val="tx1"/>
                </a:solidFill>
                <a:latin typeface="Times New Roman" pitchFamily="18" charset="0"/>
                <a:ea typeface="宋体" charset="-122"/>
              </a:defRPr>
            </a:lvl6pPr>
            <a:lvl7pPr fontAlgn="base">
              <a:spcBef>
                <a:spcPct val="0"/>
              </a:spcBef>
              <a:spcAft>
                <a:spcPct val="0"/>
              </a:spcAft>
              <a:defRPr kumimoji="1" sz="2400">
                <a:solidFill>
                  <a:schemeClr val="tx1"/>
                </a:solidFill>
                <a:latin typeface="Times New Roman" pitchFamily="18" charset="0"/>
                <a:ea typeface="宋体" charset="-122"/>
              </a:defRPr>
            </a:lvl7pPr>
            <a:lvl8pPr fontAlgn="base">
              <a:spcBef>
                <a:spcPct val="0"/>
              </a:spcBef>
              <a:spcAft>
                <a:spcPct val="0"/>
              </a:spcAft>
              <a:defRPr kumimoji="1" sz="2400">
                <a:solidFill>
                  <a:schemeClr val="tx1"/>
                </a:solidFill>
                <a:latin typeface="Times New Roman" pitchFamily="18" charset="0"/>
                <a:ea typeface="宋体" charset="-122"/>
              </a:defRPr>
            </a:lvl8pPr>
            <a:lvl9pPr fontAlgn="base">
              <a:spcBef>
                <a:spcPct val="0"/>
              </a:spcBef>
              <a:spcAft>
                <a:spcPct val="0"/>
              </a:spcAft>
              <a:defRPr kumimoji="1" sz="2400">
                <a:solidFill>
                  <a:schemeClr val="tx1"/>
                </a:solidFill>
                <a:latin typeface="Times New Roman" pitchFamily="18" charset="0"/>
                <a:ea typeface="宋体" charset="-122"/>
              </a:defRPr>
            </a:lvl9pPr>
          </a:lstStyle>
          <a:p>
            <a:pPr algn="just">
              <a:lnSpc>
                <a:spcPct val="95000"/>
              </a:lnSpc>
              <a:spcBef>
                <a:spcPct val="20000"/>
              </a:spcBef>
              <a:buClr>
                <a:schemeClr val="folHlink"/>
              </a:buClr>
              <a:buSzPct val="55000"/>
              <a:buFont typeface="Wingdings" pitchFamily="2" charset="2"/>
              <a:buChar char="n"/>
            </a:pPr>
            <a:r>
              <a:rPr lang="zh-CN" altLang="en-US" sz="3200" dirty="0">
                <a:latin typeface="+mn-lt"/>
                <a:ea typeface="+mn-ea"/>
              </a:rPr>
              <a:t>公理的有效性和完备性说明了</a:t>
            </a:r>
            <a:r>
              <a:rPr lang="zh-CN" altLang="en-US" sz="3200" dirty="0">
                <a:solidFill>
                  <a:schemeClr val="tx2"/>
                </a:solidFill>
                <a:latin typeface="+mn-lt"/>
                <a:ea typeface="+mn-ea"/>
              </a:rPr>
              <a:t>“导出”与“蕴涵”</a:t>
            </a:r>
            <a:r>
              <a:rPr lang="zh-CN" altLang="en-US" sz="3200" dirty="0">
                <a:latin typeface="+mn-lt"/>
                <a:ea typeface="+mn-ea"/>
              </a:rPr>
              <a:t>是两个</a:t>
            </a:r>
            <a:r>
              <a:rPr lang="zh-CN" altLang="en-US" sz="3200" b="1" dirty="0">
                <a:solidFill>
                  <a:schemeClr val="tx2"/>
                </a:solidFill>
                <a:latin typeface="+mn-lt"/>
                <a:ea typeface="+mn-ea"/>
              </a:rPr>
              <a:t>完全等价</a:t>
            </a:r>
            <a:r>
              <a:rPr lang="zh-CN" altLang="en-US" sz="3200" dirty="0">
                <a:latin typeface="+mn-lt"/>
                <a:ea typeface="+mn-ea"/>
              </a:rPr>
              <a:t>的概念:</a:t>
            </a:r>
          </a:p>
          <a:p>
            <a:pPr algn="just">
              <a:lnSpc>
                <a:spcPct val="95000"/>
              </a:lnSpc>
              <a:spcBef>
                <a:spcPct val="20000"/>
              </a:spcBef>
              <a:buClr>
                <a:schemeClr val="hlink"/>
              </a:buClr>
              <a:buSzPct val="55000"/>
              <a:buFont typeface="Wingdings" pitchFamily="2" charset="2"/>
              <a:buNone/>
            </a:pPr>
            <a:r>
              <a:rPr lang="en-US" altLang="zh-CN" sz="3200" dirty="0">
                <a:solidFill>
                  <a:schemeClr val="hlink"/>
                </a:solidFill>
                <a:latin typeface="+mn-lt"/>
                <a:ea typeface="+mn-ea"/>
              </a:rPr>
              <a:t>        X</a:t>
            </a:r>
            <a:r>
              <a:rPr lang="en-US" altLang="zh-CN" sz="3200" dirty="0">
                <a:solidFill>
                  <a:schemeClr val="hlink"/>
                </a:solidFill>
                <a:latin typeface="+mn-lt"/>
                <a:ea typeface="+mn-ea"/>
                <a:sym typeface="Symbol" pitchFamily="18" charset="2"/>
              </a:rPr>
              <a:t>Y</a:t>
            </a:r>
            <a:r>
              <a:rPr lang="zh-CN" altLang="en-US" sz="3200" dirty="0">
                <a:latin typeface="+mn-lt"/>
                <a:ea typeface="+mn-ea"/>
                <a:sym typeface="Symbol" pitchFamily="18" charset="2"/>
              </a:rPr>
              <a:t>为</a:t>
            </a:r>
            <a:r>
              <a:rPr lang="en-US" altLang="zh-CN" sz="3200" dirty="0">
                <a:solidFill>
                  <a:schemeClr val="hlink"/>
                </a:solidFill>
                <a:latin typeface="+mn-lt"/>
                <a:ea typeface="+mn-ea"/>
                <a:sym typeface="Symbol" pitchFamily="18" charset="2"/>
              </a:rPr>
              <a:t>F</a:t>
            </a:r>
            <a:r>
              <a:rPr lang="zh-CN" altLang="en-US" sz="3200" dirty="0">
                <a:latin typeface="+mn-lt"/>
                <a:ea typeface="+mn-ea"/>
                <a:sym typeface="Symbol" pitchFamily="18" charset="2"/>
              </a:rPr>
              <a:t>所</a:t>
            </a:r>
            <a:r>
              <a:rPr lang="zh-CN" altLang="en-US" sz="3200" b="1" dirty="0">
                <a:solidFill>
                  <a:schemeClr val="hlink"/>
                </a:solidFill>
                <a:latin typeface="+mn-lt"/>
                <a:ea typeface="+mn-ea"/>
                <a:sym typeface="Symbol" pitchFamily="18" charset="2"/>
              </a:rPr>
              <a:t>蕴涵</a:t>
            </a:r>
            <a:r>
              <a:rPr lang="zh-CN" altLang="en-US" sz="3200" dirty="0">
                <a:solidFill>
                  <a:schemeClr val="hlink"/>
                </a:solidFill>
                <a:latin typeface="+mn-lt"/>
                <a:ea typeface="+mn-ea"/>
                <a:sym typeface="Symbol" pitchFamily="18" charset="2"/>
              </a:rPr>
              <a:t>(即</a:t>
            </a:r>
            <a:r>
              <a:rPr lang="en-US" altLang="zh-CN" sz="3200" dirty="0">
                <a:solidFill>
                  <a:schemeClr val="hlink"/>
                </a:solidFill>
                <a:latin typeface="+mn-lt"/>
                <a:ea typeface="+mn-ea"/>
                <a:sym typeface="Symbol" pitchFamily="18" charset="2"/>
              </a:rPr>
              <a:t>X→Y∈F</a:t>
            </a:r>
            <a:r>
              <a:rPr lang="en-US" altLang="zh-CN" sz="3200" baseline="30000" dirty="0">
                <a:solidFill>
                  <a:schemeClr val="hlink"/>
                </a:solidFill>
                <a:latin typeface="+mn-lt"/>
                <a:ea typeface="+mn-ea"/>
                <a:sym typeface="Symbol" pitchFamily="18" charset="2"/>
              </a:rPr>
              <a:t>+</a:t>
            </a:r>
            <a:r>
              <a:rPr lang="en-US" altLang="zh-CN" sz="3200" dirty="0">
                <a:solidFill>
                  <a:schemeClr val="hlink"/>
                </a:solidFill>
                <a:latin typeface="+mn-lt"/>
                <a:ea typeface="+mn-ea"/>
                <a:sym typeface="Symbol" pitchFamily="18" charset="2"/>
              </a:rPr>
              <a:t>) </a:t>
            </a:r>
          </a:p>
          <a:p>
            <a:pPr algn="just">
              <a:lnSpc>
                <a:spcPct val="95000"/>
              </a:lnSpc>
              <a:spcBef>
                <a:spcPct val="20000"/>
              </a:spcBef>
              <a:buClr>
                <a:schemeClr val="folHlink"/>
              </a:buClr>
              <a:buSzPct val="55000"/>
              <a:buFont typeface="Wingdings" pitchFamily="2" charset="2"/>
              <a:buNone/>
            </a:pPr>
            <a:r>
              <a:rPr lang="en-US" altLang="zh-CN" sz="3200" dirty="0">
                <a:solidFill>
                  <a:schemeClr val="hlink"/>
                </a:solidFill>
                <a:latin typeface="+mn-lt"/>
                <a:ea typeface="+mn-ea"/>
                <a:sym typeface="Symbol" pitchFamily="18" charset="2"/>
              </a:rPr>
              <a:t>   ≡ </a:t>
            </a:r>
            <a:r>
              <a:rPr lang="en-US" altLang="zh-CN" sz="3200" dirty="0">
                <a:solidFill>
                  <a:schemeClr val="hlink"/>
                </a:solidFill>
                <a:latin typeface="+mn-lt"/>
                <a:ea typeface="+mn-ea"/>
              </a:rPr>
              <a:t>X</a:t>
            </a:r>
            <a:r>
              <a:rPr lang="en-US" altLang="zh-CN" sz="3200" dirty="0">
                <a:solidFill>
                  <a:schemeClr val="hlink"/>
                </a:solidFill>
                <a:latin typeface="+mn-lt"/>
                <a:ea typeface="+mn-ea"/>
                <a:sym typeface="Symbol" pitchFamily="18" charset="2"/>
              </a:rPr>
              <a:t>Y</a:t>
            </a:r>
            <a:r>
              <a:rPr lang="zh-CN" altLang="en-US" sz="3200" dirty="0">
                <a:latin typeface="+mn-lt"/>
                <a:ea typeface="+mn-ea"/>
                <a:sym typeface="Symbol" pitchFamily="18" charset="2"/>
              </a:rPr>
              <a:t>可由</a:t>
            </a:r>
            <a:r>
              <a:rPr lang="en-US" altLang="zh-CN" sz="3200" dirty="0">
                <a:solidFill>
                  <a:schemeClr val="hlink"/>
                </a:solidFill>
                <a:latin typeface="+mn-lt"/>
                <a:ea typeface="+mn-ea"/>
                <a:sym typeface="Symbol" pitchFamily="18" charset="2"/>
              </a:rPr>
              <a:t>F</a:t>
            </a:r>
            <a:r>
              <a:rPr lang="zh-CN" altLang="en-US" sz="3200" dirty="0">
                <a:latin typeface="+mn-lt"/>
                <a:ea typeface="+mn-ea"/>
                <a:sym typeface="Symbol" pitchFamily="18" charset="2"/>
              </a:rPr>
              <a:t>出发</a:t>
            </a:r>
            <a:r>
              <a:rPr lang="zh-CN" altLang="en-US" sz="3200" dirty="0">
                <a:solidFill>
                  <a:schemeClr val="hlink"/>
                </a:solidFill>
                <a:latin typeface="+mn-lt"/>
                <a:ea typeface="+mn-ea"/>
                <a:sym typeface="Symbol" pitchFamily="18" charset="2"/>
              </a:rPr>
              <a:t>根据</a:t>
            </a:r>
            <a:r>
              <a:rPr lang="en-US" altLang="zh-CN" sz="3200" dirty="0">
                <a:solidFill>
                  <a:schemeClr val="hlink"/>
                </a:solidFill>
                <a:latin typeface="+mn-lt"/>
                <a:ea typeface="+mn-ea"/>
                <a:sym typeface="Symbol" pitchFamily="18" charset="2"/>
              </a:rPr>
              <a:t>Armstrong</a:t>
            </a:r>
            <a:r>
              <a:rPr lang="zh-CN" altLang="en-US" sz="3200" dirty="0">
                <a:solidFill>
                  <a:schemeClr val="hlink"/>
                </a:solidFill>
                <a:latin typeface="+mn-lt"/>
                <a:ea typeface="+mn-ea"/>
                <a:sym typeface="Symbol" pitchFamily="18" charset="2"/>
              </a:rPr>
              <a:t>公理</a:t>
            </a:r>
            <a:r>
              <a:rPr lang="zh-CN" altLang="en-US" sz="3200" b="1" dirty="0">
                <a:solidFill>
                  <a:schemeClr val="hlink"/>
                </a:solidFill>
                <a:latin typeface="+mn-lt"/>
                <a:ea typeface="+mn-ea"/>
                <a:sym typeface="Symbol" pitchFamily="18" charset="2"/>
              </a:rPr>
              <a:t>导出</a:t>
            </a:r>
            <a:br>
              <a:rPr lang="en-US" altLang="zh-CN" sz="3200" dirty="0">
                <a:solidFill>
                  <a:schemeClr val="hlink"/>
                </a:solidFill>
                <a:latin typeface="+mn-lt"/>
                <a:ea typeface="+mn-ea"/>
                <a:sym typeface="Symbol" pitchFamily="18" charset="2"/>
              </a:rPr>
            </a:br>
            <a:endParaRPr lang="en-US" altLang="zh-CN" sz="3200" dirty="0">
              <a:solidFill>
                <a:schemeClr val="hlink"/>
              </a:solidFill>
              <a:latin typeface="+mn-lt"/>
              <a:ea typeface="+mn-ea"/>
              <a:sym typeface="Symbol" pitchFamily="18" charset="2"/>
            </a:endParaRPr>
          </a:p>
          <a:p>
            <a:pPr algn="just">
              <a:lnSpc>
                <a:spcPct val="95000"/>
              </a:lnSpc>
              <a:spcBef>
                <a:spcPct val="20000"/>
              </a:spcBef>
              <a:buSzPct val="55000"/>
            </a:pPr>
            <a:r>
              <a:rPr lang="en-US" altLang="zh-CN" sz="3200" dirty="0">
                <a:solidFill>
                  <a:schemeClr val="hlink"/>
                </a:solidFill>
                <a:latin typeface="+mn-lt"/>
                <a:ea typeface="+mn-ea"/>
              </a:rPr>
              <a:t>F</a:t>
            </a:r>
            <a:r>
              <a:rPr lang="en-US" altLang="zh-CN" sz="3200" baseline="30000" dirty="0">
                <a:solidFill>
                  <a:schemeClr val="hlink"/>
                </a:solidFill>
                <a:latin typeface="+mn-lt"/>
                <a:ea typeface="+mn-ea"/>
              </a:rPr>
              <a:t>+</a:t>
            </a:r>
            <a:r>
              <a:rPr lang="zh-CN" altLang="en-US" sz="3200" dirty="0">
                <a:solidFill>
                  <a:schemeClr val="bg2"/>
                </a:solidFill>
                <a:latin typeface="+mn-lt"/>
                <a:ea typeface="+mn-ea"/>
              </a:rPr>
              <a:t>也可以说成是</a:t>
            </a:r>
            <a:r>
              <a:rPr lang="zh-CN" altLang="en-US" sz="3200" dirty="0">
                <a:solidFill>
                  <a:schemeClr val="hlink"/>
                </a:solidFill>
                <a:latin typeface="+mn-lt"/>
                <a:ea typeface="+mn-ea"/>
              </a:rPr>
              <a:t>由</a:t>
            </a:r>
            <a:r>
              <a:rPr lang="en-US" altLang="zh-CN" sz="3200" dirty="0">
                <a:solidFill>
                  <a:schemeClr val="hlink"/>
                </a:solidFill>
                <a:latin typeface="+mn-lt"/>
                <a:ea typeface="+mn-ea"/>
              </a:rPr>
              <a:t>F</a:t>
            </a:r>
            <a:r>
              <a:rPr lang="zh-CN" altLang="en-US" sz="3200" dirty="0">
                <a:solidFill>
                  <a:schemeClr val="hlink"/>
                </a:solidFill>
                <a:latin typeface="+mn-lt"/>
                <a:ea typeface="+mn-ea"/>
              </a:rPr>
              <a:t>出发</a:t>
            </a:r>
            <a:r>
              <a:rPr lang="zh-CN" altLang="en-US" sz="3200" dirty="0">
                <a:solidFill>
                  <a:schemeClr val="tx2"/>
                </a:solidFill>
                <a:latin typeface="+mn-lt"/>
                <a:ea typeface="+mn-ea"/>
              </a:rPr>
              <a:t>借助</a:t>
            </a:r>
            <a:r>
              <a:rPr lang="en-US" altLang="zh-CN" sz="3200" dirty="0">
                <a:solidFill>
                  <a:schemeClr val="bg2"/>
                </a:solidFill>
                <a:sym typeface="Symbol" pitchFamily="18" charset="2"/>
              </a:rPr>
              <a:t>Armstrong</a:t>
            </a:r>
            <a:r>
              <a:rPr lang="zh-CN" altLang="en-US" sz="3200" dirty="0">
                <a:solidFill>
                  <a:schemeClr val="bg2"/>
                </a:solidFill>
                <a:sym typeface="Symbol" pitchFamily="18" charset="2"/>
              </a:rPr>
              <a:t>公理</a:t>
            </a:r>
            <a:r>
              <a:rPr lang="zh-CN" altLang="en-US" sz="3200" dirty="0">
                <a:solidFill>
                  <a:schemeClr val="hlink"/>
                </a:solidFill>
                <a:sym typeface="Symbol" pitchFamily="18" charset="2"/>
              </a:rPr>
              <a:t>导出</a:t>
            </a:r>
            <a:r>
              <a:rPr lang="zh-CN" altLang="en-US" sz="3200" dirty="0">
                <a:solidFill>
                  <a:schemeClr val="bg2"/>
                </a:solidFill>
                <a:sym typeface="Symbol" pitchFamily="18" charset="2"/>
              </a:rPr>
              <a:t>的函数依赖的集合</a:t>
            </a:r>
            <a:r>
              <a:rPr lang="zh-CN" altLang="en-US" sz="3200" dirty="0">
                <a:solidFill>
                  <a:schemeClr val="hlink"/>
                </a:solidFill>
                <a:sym typeface="Symbol" pitchFamily="18" charset="2"/>
              </a:rPr>
              <a:t>。</a:t>
            </a:r>
            <a:endParaRPr lang="zh-CN" altLang="en-US" sz="3200" dirty="0">
              <a:solidFill>
                <a:schemeClr val="hlink"/>
              </a:solidFill>
              <a:latin typeface="+mn-lt"/>
              <a:ea typeface="+mn-ea"/>
              <a:sym typeface="Symbol" pitchFamily="18" charset="2"/>
            </a:endParaRPr>
          </a:p>
        </p:txBody>
      </p:sp>
      <p:sp>
        <p:nvSpPr>
          <p:cNvPr id="3" name="页脚占位符 2">
            <a:extLst>
              <a:ext uri="{FF2B5EF4-FFF2-40B4-BE49-F238E27FC236}">
                <a16:creationId xmlns:a16="http://schemas.microsoft.com/office/drawing/2014/main" id="{E9CC72DC-364B-1C6F-5325-56BF721D32AF}"/>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9491271F-F477-7AFB-AC9F-4D96368817ED}"/>
              </a:ext>
            </a:extLst>
          </p:cNvPr>
          <p:cNvSpPr>
            <a:spLocks noGrp="1"/>
          </p:cNvSpPr>
          <p:nvPr>
            <p:ph type="sldNum" sz="quarter" idx="12"/>
          </p:nvPr>
        </p:nvSpPr>
        <p:spPr/>
        <p:txBody>
          <a:bodyPr/>
          <a:lstStyle/>
          <a:p>
            <a:fld id="{A2D74603-B40B-4D66-8F6E-41C870D48932}" type="slidenum">
              <a:rPr lang="en-US" altLang="zh-CN" smtClean="0"/>
              <a:pPr/>
              <a:t>121</a:t>
            </a:fld>
            <a:r>
              <a:rPr lang="en-US" altLang="zh-CN"/>
              <a:t>/162</a:t>
            </a:r>
            <a:endParaRPr lang="en-US" altLang="zh-CN" dirty="0"/>
          </a:p>
        </p:txBody>
      </p:sp>
    </p:spTree>
    <p:extLst>
      <p:ext uri="{BB962C8B-B14F-4D97-AF65-F5344CB8AC3E}">
        <p14:creationId xmlns:p14="http://schemas.microsoft.com/office/powerpoint/2010/main" val="3512741676"/>
      </p:ext>
    </p:extLst>
  </p:cSld>
  <p:clrMapOvr>
    <a:masterClrMapping/>
  </p:clrMapOvr>
  <p:transition>
    <p:fade/>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F481B05A-D51A-4C84-B1C7-F614783BCF11}" type="datetime1">
              <a:rPr lang="zh-CN" altLang="en-US" smtClean="0"/>
              <a:t>2025/11/6</a:t>
            </a:fld>
            <a:endParaRPr lang="en-US" altLang="zh-CN"/>
          </a:p>
        </p:txBody>
      </p:sp>
      <p:sp>
        <p:nvSpPr>
          <p:cNvPr id="320514" name="Rectangle 2"/>
          <p:cNvSpPr>
            <a:spLocks noGrp="1" noChangeArrowheads="1"/>
          </p:cNvSpPr>
          <p:nvPr>
            <p:ph type="title"/>
          </p:nvPr>
        </p:nvSpPr>
        <p:spPr/>
        <p:txBody>
          <a:bodyPr/>
          <a:lstStyle/>
          <a:p>
            <a:r>
              <a:rPr lang="en-US" altLang="zh-CN" dirty="0"/>
              <a:t>8.3 </a:t>
            </a:r>
            <a:r>
              <a:rPr lang="zh-CN" altLang="en-US" dirty="0"/>
              <a:t>数据依赖公理系统</a:t>
            </a:r>
            <a:r>
              <a:rPr lang="en-US" altLang="zh-CN" dirty="0"/>
              <a:t>(</a:t>
            </a:r>
            <a:r>
              <a:rPr lang="zh-CN" altLang="en-US" dirty="0"/>
              <a:t>教材</a:t>
            </a:r>
            <a:r>
              <a:rPr lang="en-US" altLang="zh-CN" dirty="0"/>
              <a:t>8.4.3 </a:t>
            </a:r>
            <a:r>
              <a:rPr lang="zh-CN" altLang="en-US" dirty="0"/>
              <a:t>正则覆盖</a:t>
            </a:r>
            <a:r>
              <a:rPr lang="en-US" altLang="zh-CN" dirty="0"/>
              <a:t>)</a:t>
            </a:r>
            <a:endParaRPr lang="zh-CN" altLang="en-US" dirty="0"/>
          </a:p>
        </p:txBody>
      </p:sp>
      <p:sp>
        <p:nvSpPr>
          <p:cNvPr id="320515" name="Rectangle 3"/>
          <p:cNvSpPr>
            <a:spLocks noGrp="1" noChangeArrowheads="1"/>
          </p:cNvSpPr>
          <p:nvPr>
            <p:ph type="body" idx="1"/>
          </p:nvPr>
        </p:nvSpPr>
        <p:spPr>
          <a:xfrm>
            <a:off x="609600" y="1412776"/>
            <a:ext cx="8345488" cy="5005536"/>
          </a:xfrm>
        </p:spPr>
        <p:txBody>
          <a:bodyPr/>
          <a:lstStyle/>
          <a:p>
            <a:pPr>
              <a:lnSpc>
                <a:spcPct val="90000"/>
              </a:lnSpc>
              <a:buFont typeface="Wingdings" pitchFamily="2" charset="2"/>
              <a:buNone/>
            </a:pPr>
            <a:r>
              <a:rPr lang="zh-CN" altLang="en-US" dirty="0"/>
              <a:t>定义</a:t>
            </a:r>
            <a:r>
              <a:rPr lang="en-US" altLang="zh-CN" dirty="0"/>
              <a:t>6.14 </a:t>
            </a:r>
            <a:r>
              <a:rPr lang="zh-CN" altLang="en-US" dirty="0">
                <a:solidFill>
                  <a:srgbClr val="FF0000"/>
                </a:solidFill>
              </a:rPr>
              <a:t>函数依赖集</a:t>
            </a:r>
            <a:r>
              <a:rPr lang="zh-CN" altLang="en-US" dirty="0">
                <a:solidFill>
                  <a:srgbClr val="0000FF"/>
                </a:solidFill>
              </a:rPr>
              <a:t>等价</a:t>
            </a:r>
            <a:r>
              <a:rPr lang="zh-CN" altLang="en-US" dirty="0"/>
              <a:t>：如果</a:t>
            </a:r>
            <a:r>
              <a:rPr lang="en-US" altLang="zh-CN" dirty="0"/>
              <a:t>G</a:t>
            </a:r>
            <a:r>
              <a:rPr lang="en-US" altLang="zh-CN" baseline="30000" dirty="0"/>
              <a:t>+</a:t>
            </a:r>
            <a:r>
              <a:rPr lang="en-US" altLang="zh-CN" dirty="0"/>
              <a:t>=F</a:t>
            </a:r>
            <a:r>
              <a:rPr lang="en-US" altLang="zh-CN" baseline="30000" dirty="0"/>
              <a:t>+</a:t>
            </a:r>
            <a:r>
              <a:rPr lang="en-US" altLang="zh-CN" dirty="0"/>
              <a:t> </a:t>
            </a:r>
            <a:r>
              <a:rPr lang="zh-CN" altLang="en-US" dirty="0"/>
              <a:t>，就说函数依赖集</a:t>
            </a:r>
            <a:r>
              <a:rPr lang="en-US" altLang="zh-CN" dirty="0">
                <a:solidFill>
                  <a:schemeClr val="tx2"/>
                </a:solidFill>
              </a:rPr>
              <a:t>F</a:t>
            </a:r>
            <a:r>
              <a:rPr lang="zh-CN" altLang="en-US" dirty="0">
                <a:solidFill>
                  <a:schemeClr val="tx2"/>
                </a:solidFill>
              </a:rPr>
              <a:t>覆盖</a:t>
            </a:r>
            <a:r>
              <a:rPr lang="en-US" altLang="zh-CN" dirty="0">
                <a:solidFill>
                  <a:schemeClr val="tx2"/>
                </a:solidFill>
              </a:rPr>
              <a:t>G</a:t>
            </a:r>
            <a:r>
              <a:rPr lang="zh-CN" altLang="en-US" dirty="0"/>
              <a:t>（</a:t>
            </a:r>
            <a:r>
              <a:rPr lang="en-US" altLang="zh-CN" dirty="0"/>
              <a:t>F</a:t>
            </a:r>
            <a:r>
              <a:rPr lang="zh-CN" altLang="en-US" dirty="0"/>
              <a:t>是</a:t>
            </a:r>
            <a:r>
              <a:rPr lang="en-US" altLang="zh-CN" dirty="0"/>
              <a:t>G</a:t>
            </a:r>
            <a:r>
              <a:rPr lang="zh-CN" altLang="en-US" dirty="0"/>
              <a:t>的覆盖或</a:t>
            </a:r>
            <a:r>
              <a:rPr lang="en-US" altLang="zh-CN" dirty="0"/>
              <a:t>G</a:t>
            </a:r>
            <a:r>
              <a:rPr lang="zh-CN" altLang="en-US" dirty="0"/>
              <a:t>是</a:t>
            </a:r>
            <a:r>
              <a:rPr lang="en-US" altLang="zh-CN" dirty="0"/>
              <a:t>F</a:t>
            </a:r>
            <a:r>
              <a:rPr lang="zh-CN" altLang="en-US" dirty="0"/>
              <a:t>的覆盖），或 </a:t>
            </a:r>
            <a:r>
              <a:rPr lang="en-US" altLang="zh-CN" dirty="0">
                <a:solidFill>
                  <a:srgbClr val="FF0000"/>
                </a:solidFill>
              </a:rPr>
              <a:t>F</a:t>
            </a:r>
            <a:r>
              <a:rPr lang="zh-CN" altLang="en-US" dirty="0">
                <a:solidFill>
                  <a:srgbClr val="FF0000"/>
                </a:solidFill>
              </a:rPr>
              <a:t>与</a:t>
            </a:r>
            <a:r>
              <a:rPr lang="en-US" altLang="zh-CN" dirty="0">
                <a:solidFill>
                  <a:srgbClr val="FF0000"/>
                </a:solidFill>
              </a:rPr>
              <a:t>G</a:t>
            </a:r>
            <a:r>
              <a:rPr lang="zh-CN" altLang="en-US" dirty="0">
                <a:solidFill>
                  <a:schemeClr val="hlink"/>
                </a:solidFill>
              </a:rPr>
              <a:t>等价</a:t>
            </a:r>
            <a:r>
              <a:rPr lang="zh-CN" altLang="en-US" dirty="0"/>
              <a:t>。</a:t>
            </a:r>
          </a:p>
          <a:p>
            <a:pPr>
              <a:lnSpc>
                <a:spcPct val="90000"/>
              </a:lnSpc>
              <a:buFont typeface="Wingdings" pitchFamily="2" charset="2"/>
              <a:buNone/>
            </a:pPr>
            <a:r>
              <a:rPr lang="zh-CN" altLang="en-US" dirty="0"/>
              <a:t>	有相应的判定算法。</a:t>
            </a:r>
          </a:p>
          <a:p>
            <a:pPr>
              <a:lnSpc>
                <a:spcPct val="90000"/>
              </a:lnSpc>
              <a:buFont typeface="Wingdings" pitchFamily="2" charset="2"/>
              <a:buNone/>
            </a:pPr>
            <a:endParaRPr lang="zh-CN" altLang="en-US" dirty="0"/>
          </a:p>
          <a:p>
            <a:pPr>
              <a:lnSpc>
                <a:spcPct val="90000"/>
              </a:lnSpc>
              <a:buFont typeface="Wingdings" pitchFamily="2" charset="2"/>
              <a:buNone/>
            </a:pPr>
            <a:r>
              <a:rPr lang="zh-CN" altLang="en-US" dirty="0">
                <a:solidFill>
                  <a:srgbClr val="006600"/>
                </a:solidFill>
              </a:rPr>
              <a:t>引理</a:t>
            </a:r>
            <a:r>
              <a:rPr lang="en-US" altLang="zh-CN" dirty="0">
                <a:solidFill>
                  <a:srgbClr val="006600"/>
                </a:solidFill>
              </a:rPr>
              <a:t>6.3</a:t>
            </a:r>
            <a:r>
              <a:rPr lang="en-US" altLang="zh-CN" dirty="0"/>
              <a:t> F</a:t>
            </a:r>
            <a:r>
              <a:rPr lang="en-US" altLang="zh-CN" baseline="30000" dirty="0"/>
              <a:t>+ </a:t>
            </a:r>
            <a:r>
              <a:rPr lang="en-US" altLang="zh-CN" dirty="0"/>
              <a:t>=G</a:t>
            </a:r>
            <a:r>
              <a:rPr lang="en-US" altLang="zh-CN" baseline="30000" dirty="0"/>
              <a:t>+</a:t>
            </a:r>
            <a:r>
              <a:rPr lang="zh-CN" altLang="en-US" dirty="0"/>
              <a:t>的</a:t>
            </a:r>
            <a:r>
              <a:rPr lang="zh-CN" altLang="en-US" b="1" dirty="0">
                <a:solidFill>
                  <a:schemeClr val="tx2"/>
                </a:solidFill>
              </a:rPr>
              <a:t>充分必要条件</a:t>
            </a:r>
            <a:r>
              <a:rPr lang="zh-CN" altLang="en-US" dirty="0"/>
              <a:t>是 </a:t>
            </a:r>
            <a:r>
              <a:rPr lang="en-US" altLang="zh-CN" dirty="0"/>
              <a:t>F </a:t>
            </a:r>
            <a:r>
              <a:rPr lang="en-US" altLang="zh-CN" dirty="0">
                <a:solidFill>
                  <a:srgbClr val="000080"/>
                </a:solidFill>
                <a:sym typeface="Symbol" pitchFamily="18" charset="2"/>
              </a:rPr>
              <a:t> </a:t>
            </a:r>
            <a:r>
              <a:rPr lang="en-US" altLang="zh-CN" dirty="0"/>
              <a:t>G</a:t>
            </a:r>
            <a:r>
              <a:rPr lang="en-US" altLang="zh-CN" baseline="30000" dirty="0"/>
              <a:t>+</a:t>
            </a:r>
            <a:r>
              <a:rPr lang="en-US" altLang="zh-CN" dirty="0"/>
              <a:t> </a:t>
            </a:r>
            <a:r>
              <a:rPr lang="zh-CN" altLang="en-US" dirty="0"/>
              <a:t>，和</a:t>
            </a:r>
            <a:r>
              <a:rPr lang="en-US" altLang="zh-CN" dirty="0"/>
              <a:t>G </a:t>
            </a:r>
            <a:r>
              <a:rPr lang="en-US" altLang="zh-CN" dirty="0">
                <a:solidFill>
                  <a:srgbClr val="000080"/>
                </a:solidFill>
                <a:sym typeface="Symbol" pitchFamily="18" charset="2"/>
              </a:rPr>
              <a:t> </a:t>
            </a:r>
            <a:r>
              <a:rPr lang="en-US" altLang="zh-CN" dirty="0"/>
              <a:t>F</a:t>
            </a:r>
            <a:r>
              <a:rPr lang="en-US" altLang="zh-CN" baseline="30000" dirty="0"/>
              <a:t>+</a:t>
            </a:r>
            <a:r>
              <a:rPr lang="en-US" altLang="zh-CN" dirty="0"/>
              <a:t> </a:t>
            </a:r>
            <a:r>
              <a:rPr lang="zh-CN" altLang="en-US" dirty="0"/>
              <a:t>。</a:t>
            </a:r>
            <a:endParaRPr lang="en-US" altLang="zh-CN" dirty="0"/>
          </a:p>
          <a:p>
            <a:pPr>
              <a:lnSpc>
                <a:spcPct val="90000"/>
              </a:lnSpc>
              <a:buNone/>
            </a:pPr>
            <a:r>
              <a:rPr lang="zh-CN" altLang="en-US" dirty="0"/>
              <a:t>  证明</a:t>
            </a:r>
            <a:r>
              <a:rPr lang="en-US" altLang="zh-CN" dirty="0"/>
              <a:t>:  </a:t>
            </a:r>
            <a:r>
              <a:rPr lang="zh-CN" altLang="en-US" dirty="0"/>
              <a:t>略</a:t>
            </a:r>
          </a:p>
          <a:p>
            <a:pPr>
              <a:lnSpc>
                <a:spcPct val="90000"/>
              </a:lnSpc>
              <a:buNone/>
            </a:pPr>
            <a:r>
              <a:rPr lang="zh-CN" altLang="en-US" dirty="0"/>
              <a:t>引理</a:t>
            </a:r>
            <a:r>
              <a:rPr lang="en-US" altLang="zh-CN" dirty="0"/>
              <a:t>6.3</a:t>
            </a:r>
            <a:r>
              <a:rPr lang="zh-CN" altLang="en-US" dirty="0"/>
              <a:t>实际上给出了判断两函数依赖集等价的方法。</a:t>
            </a:r>
          </a:p>
          <a:p>
            <a:pPr>
              <a:lnSpc>
                <a:spcPct val="90000"/>
              </a:lnSpc>
              <a:buFont typeface="Wingdings" pitchFamily="2" charset="2"/>
              <a:buNone/>
            </a:pPr>
            <a:endParaRPr lang="zh-CN" altLang="en-US" dirty="0"/>
          </a:p>
        </p:txBody>
      </p:sp>
      <p:sp>
        <p:nvSpPr>
          <p:cNvPr id="3" name="页脚占位符 2">
            <a:extLst>
              <a:ext uri="{FF2B5EF4-FFF2-40B4-BE49-F238E27FC236}">
                <a16:creationId xmlns:a16="http://schemas.microsoft.com/office/drawing/2014/main" id="{61DE9B2D-9982-7C60-9682-D18DA7165039}"/>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60F2EF70-0FF7-E69B-FA0C-B4E982C4336D}"/>
              </a:ext>
            </a:extLst>
          </p:cNvPr>
          <p:cNvSpPr>
            <a:spLocks noGrp="1"/>
          </p:cNvSpPr>
          <p:nvPr>
            <p:ph type="sldNum" sz="quarter" idx="12"/>
          </p:nvPr>
        </p:nvSpPr>
        <p:spPr/>
        <p:txBody>
          <a:bodyPr/>
          <a:lstStyle/>
          <a:p>
            <a:fld id="{A2D74603-B40B-4D66-8F6E-41C870D48932}" type="slidenum">
              <a:rPr lang="en-US" altLang="zh-CN" smtClean="0"/>
              <a:pPr/>
              <a:t>122</a:t>
            </a:fld>
            <a:r>
              <a:rPr lang="en-US" altLang="zh-CN"/>
              <a:t>/162</a:t>
            </a:r>
            <a:endParaRPr lang="en-US" altLang="zh-CN" dirty="0"/>
          </a:p>
        </p:txBody>
      </p:sp>
    </p:spTree>
    <p:extLst>
      <p:ext uri="{BB962C8B-B14F-4D97-AF65-F5344CB8AC3E}">
        <p14:creationId xmlns:p14="http://schemas.microsoft.com/office/powerpoint/2010/main" val="6540265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0515">
                                            <p:txEl>
                                              <p:pRg st="3" end="3"/>
                                            </p:txEl>
                                          </p:spTgt>
                                        </p:tgtEl>
                                        <p:attrNameLst>
                                          <p:attrName>style.visibility</p:attrName>
                                        </p:attrNameLst>
                                      </p:cBhvr>
                                      <p:to>
                                        <p:strVal val="visible"/>
                                      </p:to>
                                    </p:set>
                                    <p:anim calcmode="lin" valueType="num">
                                      <p:cBhvr additive="base">
                                        <p:cTn id="7" dur="500" fill="hold"/>
                                        <p:tgtEl>
                                          <p:spTgt spid="32051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0515">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20515">
                                            <p:txEl>
                                              <p:pRg st="4" end="4"/>
                                            </p:txEl>
                                          </p:spTgt>
                                        </p:tgtEl>
                                        <p:attrNameLst>
                                          <p:attrName>style.visibility</p:attrName>
                                        </p:attrNameLst>
                                      </p:cBhvr>
                                      <p:to>
                                        <p:strVal val="visible"/>
                                      </p:to>
                                    </p:set>
                                    <p:anim calcmode="lin" valueType="num">
                                      <p:cBhvr additive="base">
                                        <p:cTn id="11" dur="500" fill="hold"/>
                                        <p:tgtEl>
                                          <p:spTgt spid="320515">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205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20515">
                                            <p:txEl>
                                              <p:pRg st="5" end="5"/>
                                            </p:txEl>
                                          </p:spTgt>
                                        </p:tgtEl>
                                        <p:attrNameLst>
                                          <p:attrName>style.visibility</p:attrName>
                                        </p:attrNameLst>
                                      </p:cBhvr>
                                      <p:to>
                                        <p:strVal val="visible"/>
                                      </p:to>
                                    </p:set>
                                    <p:anim calcmode="lin" valueType="num">
                                      <p:cBhvr additive="base">
                                        <p:cTn id="17" dur="500" fill="hold"/>
                                        <p:tgtEl>
                                          <p:spTgt spid="320515">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2051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207F2B7-1610-4286-95A9-D868C087EE46}" type="datetime1">
              <a:rPr lang="zh-CN" altLang="en-US" smtClean="0"/>
              <a:t>2025/11/6</a:t>
            </a:fld>
            <a:endParaRPr lang="en-US" altLang="zh-CN"/>
          </a:p>
        </p:txBody>
      </p:sp>
      <p:sp>
        <p:nvSpPr>
          <p:cNvPr id="321538" name="Rectangle 2"/>
          <p:cNvSpPr>
            <a:spLocks noGrp="1" noChangeArrowheads="1"/>
          </p:cNvSpPr>
          <p:nvPr>
            <p:ph type="title"/>
          </p:nvPr>
        </p:nvSpPr>
        <p:spPr/>
        <p:txBody>
          <a:bodyPr/>
          <a:lstStyle/>
          <a:p>
            <a:r>
              <a:rPr lang="en-US" altLang="zh-CN" dirty="0"/>
              <a:t>8.3 </a:t>
            </a:r>
            <a:r>
              <a:rPr lang="zh-CN" altLang="en-US" dirty="0"/>
              <a:t>数据依赖公理系统</a:t>
            </a:r>
            <a:r>
              <a:rPr lang="en-US" altLang="zh-CN" dirty="0"/>
              <a:t>(</a:t>
            </a:r>
            <a:r>
              <a:rPr lang="zh-CN" altLang="en-US" dirty="0"/>
              <a:t>教材</a:t>
            </a:r>
            <a:r>
              <a:rPr lang="en-US" altLang="zh-CN" dirty="0"/>
              <a:t>8.4.3 </a:t>
            </a:r>
            <a:r>
              <a:rPr lang="zh-CN" altLang="en-US" dirty="0"/>
              <a:t>正则覆盖</a:t>
            </a:r>
            <a:r>
              <a:rPr lang="en-US" altLang="zh-CN" dirty="0"/>
              <a:t>)</a:t>
            </a:r>
            <a:endParaRPr lang="zh-CN" altLang="en-US" dirty="0"/>
          </a:p>
        </p:txBody>
      </p:sp>
      <p:sp>
        <p:nvSpPr>
          <p:cNvPr id="321539" name="Rectangle 3"/>
          <p:cNvSpPr>
            <a:spLocks noGrp="1" noChangeArrowheads="1"/>
          </p:cNvSpPr>
          <p:nvPr>
            <p:ph type="body" idx="1"/>
          </p:nvPr>
        </p:nvSpPr>
        <p:spPr>
          <a:xfrm>
            <a:off x="609600" y="1447800"/>
            <a:ext cx="8334375" cy="5253038"/>
          </a:xfrm>
          <a:solidFill>
            <a:schemeClr val="bg1"/>
          </a:solidFill>
        </p:spPr>
        <p:txBody>
          <a:bodyPr/>
          <a:lstStyle/>
          <a:p>
            <a:pPr>
              <a:buNone/>
            </a:pPr>
            <a:r>
              <a:rPr lang="zh-CN" altLang="en-US" b="1" dirty="0"/>
              <a:t>定义</a:t>
            </a:r>
            <a:r>
              <a:rPr lang="en-US" altLang="zh-CN" b="1" dirty="0"/>
              <a:t>6.15 </a:t>
            </a:r>
            <a:r>
              <a:rPr lang="zh-CN" altLang="en-US" dirty="0">
                <a:solidFill>
                  <a:schemeClr val="hlink"/>
                </a:solidFill>
              </a:rPr>
              <a:t>最小依赖集  </a:t>
            </a:r>
            <a:r>
              <a:rPr lang="zh-CN" altLang="en-US" dirty="0"/>
              <a:t>满足下列条件的函数依赖集</a:t>
            </a:r>
            <a:r>
              <a:rPr lang="en-US" altLang="zh-CN" dirty="0">
                <a:solidFill>
                  <a:srgbClr val="C00000"/>
                </a:solidFill>
              </a:rPr>
              <a:t>F</a:t>
            </a:r>
            <a:r>
              <a:rPr lang="zh-CN" altLang="en-US" dirty="0"/>
              <a:t>称为</a:t>
            </a:r>
            <a:r>
              <a:rPr lang="zh-CN" altLang="en-US" dirty="0">
                <a:solidFill>
                  <a:schemeClr val="hlink"/>
                </a:solidFill>
              </a:rPr>
              <a:t>最小覆盖</a:t>
            </a:r>
            <a:r>
              <a:rPr lang="en-US" altLang="zh-CN" dirty="0"/>
              <a:t>(</a:t>
            </a:r>
            <a:r>
              <a:rPr lang="zh-CN" altLang="en-US" dirty="0">
                <a:solidFill>
                  <a:schemeClr val="hlink"/>
                </a:solidFill>
              </a:rPr>
              <a:t>最小依赖集</a:t>
            </a:r>
            <a:r>
              <a:rPr lang="en-US" altLang="zh-CN" dirty="0">
                <a:solidFill>
                  <a:schemeClr val="hlink"/>
                </a:solidFill>
              </a:rPr>
              <a:t>, </a:t>
            </a:r>
            <a:r>
              <a:rPr lang="zh-CN" altLang="en-US" dirty="0">
                <a:solidFill>
                  <a:schemeClr val="hlink"/>
                </a:solidFill>
              </a:rPr>
              <a:t>极小依赖集</a:t>
            </a:r>
            <a:r>
              <a:rPr lang="en-US" altLang="zh-CN" dirty="0">
                <a:solidFill>
                  <a:schemeClr val="hlink"/>
                </a:solidFill>
              </a:rPr>
              <a:t>, </a:t>
            </a:r>
            <a:r>
              <a:rPr lang="zh-CN" altLang="en-US" dirty="0">
                <a:solidFill>
                  <a:schemeClr val="hlink"/>
                </a:solidFill>
              </a:rPr>
              <a:t>正则覆盖</a:t>
            </a:r>
            <a:r>
              <a:rPr lang="en-US" altLang="zh-CN" dirty="0"/>
              <a:t>)</a:t>
            </a:r>
            <a:r>
              <a:rPr lang="zh-CN" altLang="en-US" dirty="0"/>
              <a:t>，记作</a:t>
            </a:r>
            <a:r>
              <a:rPr lang="en-US" altLang="zh-CN" dirty="0" err="1">
                <a:solidFill>
                  <a:srgbClr val="C00000"/>
                </a:solidFill>
              </a:rPr>
              <a:t>F</a:t>
            </a:r>
            <a:r>
              <a:rPr lang="en-US" altLang="zh-CN" baseline="-25000" dirty="0" err="1">
                <a:solidFill>
                  <a:srgbClr val="C00000"/>
                </a:solidFill>
              </a:rPr>
              <a:t>m</a:t>
            </a:r>
            <a:endParaRPr lang="zh-CN" altLang="en-US" dirty="0">
              <a:solidFill>
                <a:srgbClr val="C00000"/>
              </a:solidFill>
            </a:endParaRPr>
          </a:p>
          <a:p>
            <a:pPr lvl="1"/>
            <a:r>
              <a:rPr lang="zh-CN" altLang="en-US" dirty="0"/>
              <a:t>右部</a:t>
            </a:r>
            <a:r>
              <a:rPr lang="zh-CN" altLang="en-US" dirty="0">
                <a:solidFill>
                  <a:srgbClr val="0000FF"/>
                </a:solidFill>
              </a:rPr>
              <a:t>唯一</a:t>
            </a:r>
            <a:r>
              <a:rPr lang="en-US" altLang="zh-CN" dirty="0"/>
              <a:t>(</a:t>
            </a:r>
            <a:r>
              <a:rPr lang="zh-CN" altLang="en-US" dirty="0">
                <a:solidFill>
                  <a:srgbClr val="FF0000"/>
                </a:solidFill>
              </a:rPr>
              <a:t>单属性</a:t>
            </a:r>
            <a:r>
              <a:rPr lang="en-US" altLang="zh-CN" dirty="0"/>
              <a:t>)</a:t>
            </a:r>
            <a:endParaRPr lang="zh-CN" altLang="en-US" dirty="0"/>
          </a:p>
          <a:p>
            <a:pPr lvl="1"/>
            <a:r>
              <a:rPr lang="zh-CN" altLang="en-US" dirty="0"/>
              <a:t>无</a:t>
            </a:r>
            <a:r>
              <a:rPr lang="zh-CN" altLang="en-US" b="1" dirty="0">
                <a:solidFill>
                  <a:srgbClr val="FF0000"/>
                </a:solidFill>
              </a:rPr>
              <a:t>多余</a:t>
            </a:r>
            <a:r>
              <a:rPr lang="zh-CN" altLang="en-US" dirty="0"/>
              <a:t>函数依赖</a:t>
            </a:r>
            <a:r>
              <a:rPr lang="en-US" altLang="zh-CN" dirty="0"/>
              <a:t>(</a:t>
            </a:r>
            <a:r>
              <a:rPr lang="zh-CN" altLang="en-US" dirty="0">
                <a:solidFill>
                  <a:schemeClr val="hlink"/>
                </a:solidFill>
                <a:latin typeface="Times New Roman" pitchFamily="18" charset="0"/>
                <a:ea typeface="宋体" charset="-122"/>
              </a:rPr>
              <a:t>无冗余性</a:t>
            </a:r>
            <a:r>
              <a:rPr lang="en-US" altLang="zh-CN" dirty="0"/>
              <a:t>)</a:t>
            </a:r>
            <a:endParaRPr lang="zh-CN" altLang="en-US" dirty="0"/>
          </a:p>
          <a:p>
            <a:pPr lvl="1"/>
            <a:r>
              <a:rPr lang="zh-CN" altLang="en-US" dirty="0"/>
              <a:t>无</a:t>
            </a:r>
            <a:r>
              <a:rPr lang="zh-CN" altLang="en-US" b="1" dirty="0">
                <a:solidFill>
                  <a:srgbClr val="FF0000"/>
                </a:solidFill>
              </a:rPr>
              <a:t>部分</a:t>
            </a:r>
            <a:r>
              <a:rPr lang="zh-CN" altLang="en-US" dirty="0"/>
              <a:t>函数依赖</a:t>
            </a:r>
            <a:r>
              <a:rPr lang="en-US" altLang="zh-CN" dirty="0"/>
              <a:t>(</a:t>
            </a:r>
            <a:r>
              <a:rPr lang="zh-CN" altLang="en-US" dirty="0">
                <a:solidFill>
                  <a:schemeClr val="hlink"/>
                </a:solidFill>
                <a:latin typeface="Times New Roman" pitchFamily="18" charset="0"/>
                <a:ea typeface="宋体" charset="-122"/>
              </a:rPr>
              <a:t>既约性</a:t>
            </a:r>
            <a:r>
              <a:rPr lang="en-US" altLang="zh-CN" dirty="0"/>
              <a:t>)</a:t>
            </a:r>
            <a:endParaRPr lang="zh-CN" altLang="en-US" dirty="0"/>
          </a:p>
          <a:p>
            <a:pPr>
              <a:buFont typeface="Wingdings" pitchFamily="2" charset="2"/>
              <a:buNone/>
            </a:pPr>
            <a:r>
              <a:rPr lang="zh-CN" altLang="en-US" b="1" dirty="0"/>
              <a:t>定理</a:t>
            </a:r>
            <a:r>
              <a:rPr lang="en-US" altLang="zh-CN" b="1" dirty="0"/>
              <a:t>6.3 </a:t>
            </a:r>
            <a:r>
              <a:rPr lang="zh-CN" altLang="en-US" dirty="0"/>
              <a:t>每一个函数依赖集都</a:t>
            </a:r>
            <a:r>
              <a:rPr lang="zh-CN" altLang="en-US" b="1" dirty="0">
                <a:solidFill>
                  <a:srgbClr val="FF0000"/>
                </a:solidFill>
              </a:rPr>
              <a:t>等价</a:t>
            </a:r>
            <a:r>
              <a:rPr lang="zh-CN" altLang="en-US" dirty="0">
                <a:solidFill>
                  <a:srgbClr val="FF0000"/>
                </a:solidFill>
              </a:rPr>
              <a:t>于</a:t>
            </a:r>
            <a:r>
              <a:rPr lang="zh-CN" altLang="en-US" dirty="0"/>
              <a:t>一个</a:t>
            </a:r>
            <a:r>
              <a:rPr lang="zh-CN" altLang="en-US" dirty="0">
                <a:solidFill>
                  <a:srgbClr val="0000FF"/>
                </a:solidFill>
              </a:rPr>
              <a:t>极小</a:t>
            </a:r>
            <a:r>
              <a:rPr lang="zh-CN" altLang="en-US" dirty="0"/>
              <a:t>函数依赖集</a:t>
            </a:r>
            <a:r>
              <a:rPr lang="en-US" altLang="zh-CN" dirty="0" err="1"/>
              <a:t>F</a:t>
            </a:r>
            <a:r>
              <a:rPr lang="en-US" altLang="zh-CN" baseline="-25000" dirty="0" err="1"/>
              <a:t>m</a:t>
            </a:r>
            <a:r>
              <a:rPr lang="en-US" altLang="zh-CN" dirty="0"/>
              <a:t> (</a:t>
            </a:r>
            <a:r>
              <a:rPr lang="en-US" altLang="zh-CN" dirty="0" err="1">
                <a:solidFill>
                  <a:srgbClr val="FF0000"/>
                </a:solidFill>
              </a:rPr>
              <a:t>F</a:t>
            </a:r>
            <a:r>
              <a:rPr lang="en-US" altLang="zh-CN" baseline="-25000" dirty="0" err="1">
                <a:solidFill>
                  <a:srgbClr val="FF0000"/>
                </a:solidFill>
              </a:rPr>
              <a:t>m</a:t>
            </a:r>
            <a:r>
              <a:rPr lang="zh-CN" altLang="en-US" dirty="0">
                <a:solidFill>
                  <a:srgbClr val="FF0000"/>
                </a:solidFill>
              </a:rPr>
              <a:t>一定存在，可能不唯一</a:t>
            </a:r>
            <a:r>
              <a:rPr lang="en-US" altLang="zh-CN" dirty="0"/>
              <a:t>)</a:t>
            </a:r>
            <a:r>
              <a:rPr lang="zh-CN" altLang="en-US" dirty="0"/>
              <a:t>。</a:t>
            </a:r>
            <a:endParaRPr lang="en-US" altLang="zh-CN" dirty="0"/>
          </a:p>
          <a:p>
            <a:pPr>
              <a:buFont typeface="Wingdings" pitchFamily="2" charset="2"/>
              <a:buNone/>
            </a:pPr>
            <a:r>
              <a:rPr lang="zh-CN" altLang="en-US" dirty="0"/>
              <a:t>定理</a:t>
            </a:r>
            <a:r>
              <a:rPr lang="en-US" altLang="zh-CN" dirty="0"/>
              <a:t>6.3</a:t>
            </a:r>
            <a:r>
              <a:rPr lang="zh-CN" altLang="en-US" dirty="0"/>
              <a:t>的证明过程给出了检验</a:t>
            </a:r>
            <a:r>
              <a:rPr lang="en-US" altLang="zh-CN" dirty="0"/>
              <a:t>(</a:t>
            </a:r>
            <a:r>
              <a:rPr lang="zh-CN" altLang="en-US" dirty="0"/>
              <a:t>或</a:t>
            </a:r>
            <a:r>
              <a:rPr lang="zh-CN" altLang="en-US" dirty="0">
                <a:solidFill>
                  <a:srgbClr val="FF0000"/>
                </a:solidFill>
              </a:rPr>
              <a:t>构造</a:t>
            </a:r>
            <a:r>
              <a:rPr lang="en-US" altLang="zh-CN" dirty="0"/>
              <a:t>)</a:t>
            </a:r>
            <a:r>
              <a:rPr lang="en-US" altLang="zh-CN" dirty="0" err="1"/>
              <a:t>F</a:t>
            </a:r>
            <a:r>
              <a:rPr lang="en-US" altLang="zh-CN" baseline="-25000" dirty="0" err="1"/>
              <a:t>m</a:t>
            </a:r>
            <a:r>
              <a:rPr lang="zh-CN" altLang="en-US" dirty="0"/>
              <a:t>的方法。</a:t>
            </a:r>
          </a:p>
        </p:txBody>
      </p:sp>
      <p:sp>
        <p:nvSpPr>
          <p:cNvPr id="3" name="页脚占位符 2">
            <a:extLst>
              <a:ext uri="{FF2B5EF4-FFF2-40B4-BE49-F238E27FC236}">
                <a16:creationId xmlns:a16="http://schemas.microsoft.com/office/drawing/2014/main" id="{E89AF4F2-755A-F4A1-CC79-781F275BC4A4}"/>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1790D342-FF04-949F-6C22-A81C3C8F244E}"/>
              </a:ext>
            </a:extLst>
          </p:cNvPr>
          <p:cNvSpPr>
            <a:spLocks noGrp="1"/>
          </p:cNvSpPr>
          <p:nvPr>
            <p:ph type="sldNum" sz="quarter" idx="12"/>
          </p:nvPr>
        </p:nvSpPr>
        <p:spPr/>
        <p:txBody>
          <a:bodyPr/>
          <a:lstStyle/>
          <a:p>
            <a:fld id="{A2D74603-B40B-4D66-8F6E-41C870D48932}" type="slidenum">
              <a:rPr lang="en-US" altLang="zh-CN" smtClean="0"/>
              <a:pPr/>
              <a:t>123</a:t>
            </a:fld>
            <a:r>
              <a:rPr lang="en-US" altLang="zh-CN"/>
              <a:t>/162</a:t>
            </a:r>
            <a:endParaRPr lang="en-US" altLang="zh-CN"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1539">
                                            <p:txEl>
                                              <p:pRg st="4" end="4"/>
                                            </p:txEl>
                                          </p:spTgt>
                                        </p:tgtEl>
                                        <p:attrNameLst>
                                          <p:attrName>style.visibility</p:attrName>
                                        </p:attrNameLst>
                                      </p:cBhvr>
                                      <p:to>
                                        <p:strVal val="visible"/>
                                      </p:to>
                                    </p:set>
                                    <p:anim calcmode="lin" valueType="num">
                                      <p:cBhvr additive="base">
                                        <p:cTn id="7" dur="500" fill="hold"/>
                                        <p:tgtEl>
                                          <p:spTgt spid="321539">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153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21539">
                                            <p:txEl>
                                              <p:pRg st="5" end="5"/>
                                            </p:txEl>
                                          </p:spTgt>
                                        </p:tgtEl>
                                        <p:attrNameLst>
                                          <p:attrName>style.visibility</p:attrName>
                                        </p:attrNameLst>
                                      </p:cBhvr>
                                      <p:to>
                                        <p:strVal val="visible"/>
                                      </p:to>
                                    </p:set>
                                    <p:anim calcmode="lin" valueType="num">
                                      <p:cBhvr additive="base">
                                        <p:cTn id="13" dur="500" fill="hold"/>
                                        <p:tgtEl>
                                          <p:spTgt spid="321539">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2153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FD2DF1C5-BF69-43AE-90F7-D8FEF2B17A32}" type="datetime1">
              <a:rPr lang="zh-CN" altLang="en-US" smtClean="0"/>
              <a:t>2025/11/6</a:t>
            </a:fld>
            <a:endParaRPr lang="en-US" altLang="zh-CN"/>
          </a:p>
        </p:txBody>
      </p:sp>
      <p:sp>
        <p:nvSpPr>
          <p:cNvPr id="320514" name="Rectangle 2"/>
          <p:cNvSpPr>
            <a:spLocks noGrp="1" noChangeArrowheads="1"/>
          </p:cNvSpPr>
          <p:nvPr>
            <p:ph type="title"/>
          </p:nvPr>
        </p:nvSpPr>
        <p:spPr/>
        <p:txBody>
          <a:bodyPr/>
          <a:lstStyle/>
          <a:p>
            <a:r>
              <a:rPr lang="en-US" altLang="zh-CN" dirty="0"/>
              <a:t>8.3 </a:t>
            </a:r>
            <a:r>
              <a:rPr lang="zh-CN" altLang="en-US" dirty="0"/>
              <a:t>数据依赖公理系统</a:t>
            </a:r>
            <a:r>
              <a:rPr lang="en-US" altLang="zh-CN" dirty="0"/>
              <a:t>(</a:t>
            </a:r>
            <a:r>
              <a:rPr lang="zh-CN" altLang="en-US" dirty="0"/>
              <a:t>教材</a:t>
            </a:r>
            <a:r>
              <a:rPr lang="en-US" altLang="zh-CN" dirty="0"/>
              <a:t>8.4.3 </a:t>
            </a:r>
            <a:r>
              <a:rPr lang="zh-CN" altLang="en-US" dirty="0"/>
              <a:t>正则覆盖</a:t>
            </a:r>
            <a:r>
              <a:rPr lang="en-US" altLang="zh-CN" dirty="0"/>
              <a:t>)</a:t>
            </a:r>
            <a:endParaRPr lang="zh-CN" altLang="en-US" dirty="0"/>
          </a:p>
        </p:txBody>
      </p:sp>
      <p:sp>
        <p:nvSpPr>
          <p:cNvPr id="3" name="Rectangle 6">
            <a:extLst>
              <a:ext uri="{FF2B5EF4-FFF2-40B4-BE49-F238E27FC236}">
                <a16:creationId xmlns:a16="http://schemas.microsoft.com/office/drawing/2014/main" id="{001AC1E8-89A0-8966-0001-7428DE50304E}"/>
              </a:ext>
            </a:extLst>
          </p:cNvPr>
          <p:cNvSpPr>
            <a:spLocks noGrp="1" noChangeArrowheads="1"/>
          </p:cNvSpPr>
          <p:nvPr>
            <p:ph idx="1"/>
          </p:nvPr>
        </p:nvSpPr>
        <p:spPr bwMode="auto">
          <a:xfrm>
            <a:off x="609600" y="1447800"/>
            <a:ext cx="8105774" cy="4955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292100" indent="-292100" algn="l">
              <a:spcBef>
                <a:spcPct val="0"/>
              </a:spcBef>
              <a:defRPr kumimoji="1" sz="2400">
                <a:solidFill>
                  <a:schemeClr val="tx1"/>
                </a:solidFill>
                <a:latin typeface="Times New Roman" pitchFamily="18" charset="0"/>
                <a:ea typeface="宋体" charset="-122"/>
              </a:defRPr>
            </a:lvl1pPr>
            <a:lvl2pPr marL="758825" indent="-276225" algn="l">
              <a:spcBef>
                <a:spcPct val="0"/>
              </a:spcBef>
              <a:defRPr kumimoji="1" sz="2400">
                <a:solidFill>
                  <a:schemeClr val="tx1"/>
                </a:solidFill>
                <a:latin typeface="Times New Roman" pitchFamily="18" charset="0"/>
                <a:ea typeface="宋体" charset="-122"/>
              </a:defRPr>
            </a:lvl2pPr>
            <a:lvl3pPr marL="949325" algn="l">
              <a:spcBef>
                <a:spcPct val="0"/>
              </a:spcBef>
              <a:defRPr kumimoji="1" sz="2400">
                <a:solidFill>
                  <a:schemeClr val="tx1"/>
                </a:solidFill>
                <a:latin typeface="Times New Roman" pitchFamily="18" charset="0"/>
                <a:ea typeface="宋体" charset="-122"/>
              </a:defRPr>
            </a:lvl3pPr>
            <a:lvl4pPr algn="l">
              <a:spcBef>
                <a:spcPct val="0"/>
              </a:spcBef>
              <a:defRPr kumimoji="1" sz="2400">
                <a:solidFill>
                  <a:schemeClr val="tx1"/>
                </a:solidFill>
                <a:latin typeface="Times New Roman" pitchFamily="18" charset="0"/>
                <a:ea typeface="宋体" charset="-122"/>
              </a:defRPr>
            </a:lvl4pPr>
            <a:lvl5pPr algn="l">
              <a:spcBef>
                <a:spcPct val="0"/>
              </a:spcBef>
              <a:defRPr kumimoji="1" sz="2400">
                <a:solidFill>
                  <a:schemeClr val="tx1"/>
                </a:solidFill>
                <a:latin typeface="Times New Roman" pitchFamily="18" charset="0"/>
                <a:ea typeface="宋体" charset="-122"/>
              </a:defRPr>
            </a:lvl5pPr>
            <a:lvl6pPr fontAlgn="base">
              <a:spcBef>
                <a:spcPct val="0"/>
              </a:spcBef>
              <a:spcAft>
                <a:spcPct val="0"/>
              </a:spcAft>
              <a:defRPr kumimoji="1" sz="2400">
                <a:solidFill>
                  <a:schemeClr val="tx1"/>
                </a:solidFill>
                <a:latin typeface="Times New Roman" pitchFamily="18" charset="0"/>
                <a:ea typeface="宋体" charset="-122"/>
              </a:defRPr>
            </a:lvl6pPr>
            <a:lvl7pPr fontAlgn="base">
              <a:spcBef>
                <a:spcPct val="0"/>
              </a:spcBef>
              <a:spcAft>
                <a:spcPct val="0"/>
              </a:spcAft>
              <a:defRPr kumimoji="1" sz="2400">
                <a:solidFill>
                  <a:schemeClr val="tx1"/>
                </a:solidFill>
                <a:latin typeface="Times New Roman" pitchFamily="18" charset="0"/>
                <a:ea typeface="宋体" charset="-122"/>
              </a:defRPr>
            </a:lvl7pPr>
            <a:lvl8pPr fontAlgn="base">
              <a:spcBef>
                <a:spcPct val="0"/>
              </a:spcBef>
              <a:spcAft>
                <a:spcPct val="0"/>
              </a:spcAft>
              <a:defRPr kumimoji="1" sz="2400">
                <a:solidFill>
                  <a:schemeClr val="tx1"/>
                </a:solidFill>
                <a:latin typeface="Times New Roman" pitchFamily="18" charset="0"/>
                <a:ea typeface="宋体" charset="-122"/>
              </a:defRPr>
            </a:lvl8pPr>
            <a:lvl9pPr fontAlgn="base">
              <a:spcBef>
                <a:spcPct val="0"/>
              </a:spcBef>
              <a:spcAft>
                <a:spcPct val="0"/>
              </a:spcAft>
              <a:defRPr kumimoji="1" sz="2400">
                <a:solidFill>
                  <a:schemeClr val="tx1"/>
                </a:solidFill>
                <a:latin typeface="Times New Roman" pitchFamily="18" charset="0"/>
                <a:ea typeface="宋体" charset="-122"/>
              </a:defRPr>
            </a:lvl9pPr>
          </a:lstStyle>
          <a:p>
            <a:pPr algn="just">
              <a:lnSpc>
                <a:spcPct val="95000"/>
              </a:lnSpc>
              <a:spcBef>
                <a:spcPct val="20000"/>
              </a:spcBef>
              <a:buSzPct val="55000"/>
            </a:pPr>
            <a:r>
              <a:rPr lang="zh-CN" altLang="en-US" sz="3000" dirty="0">
                <a:solidFill>
                  <a:srgbClr val="0000FF"/>
                </a:solidFill>
                <a:sym typeface="Symbol" pitchFamily="18" charset="2"/>
              </a:rPr>
              <a:t>无关属性</a:t>
            </a:r>
            <a:r>
              <a:rPr lang="en-US" altLang="zh-CN" sz="3000" dirty="0">
                <a:sym typeface="Symbol" pitchFamily="18" charset="2"/>
              </a:rPr>
              <a:t>(extraneous attribute)</a:t>
            </a:r>
            <a:r>
              <a:rPr lang="zh-CN" altLang="en-US" sz="3000" dirty="0">
                <a:sym typeface="Symbol" pitchFamily="18" charset="2"/>
              </a:rPr>
              <a:t>，考虑一个函数依赖集</a:t>
            </a:r>
            <a:r>
              <a:rPr lang="en-US" altLang="zh-CN" sz="3000" dirty="0">
                <a:solidFill>
                  <a:srgbClr val="0000FF"/>
                </a:solidFill>
                <a:sym typeface="Symbol" pitchFamily="18" charset="2"/>
              </a:rPr>
              <a:t>F</a:t>
            </a:r>
            <a:r>
              <a:rPr lang="zh-CN" altLang="en-US" sz="3000" dirty="0">
                <a:sym typeface="Symbol" pitchFamily="18" charset="2"/>
              </a:rPr>
              <a:t>以及其中的一个函数依赖</a:t>
            </a:r>
            <a:r>
              <a:rPr lang="en-US" altLang="zh-CN" sz="3000" b="1" dirty="0">
                <a:solidFill>
                  <a:srgbClr val="0000FF"/>
                </a:solidFill>
                <a:sym typeface="Symbol" pitchFamily="18" charset="2"/>
              </a:rPr>
              <a:t>X→Y</a:t>
            </a:r>
            <a:r>
              <a:rPr lang="zh-CN" altLang="en-US" sz="3000" dirty="0">
                <a:sym typeface="Symbol" pitchFamily="18" charset="2"/>
              </a:rPr>
              <a:t>，</a:t>
            </a:r>
            <a:endParaRPr lang="en-US" altLang="zh-CN" sz="3000" dirty="0">
              <a:sym typeface="Symbol" pitchFamily="18" charset="2"/>
            </a:endParaRPr>
          </a:p>
          <a:p>
            <a:pPr lvl="1" algn="just">
              <a:lnSpc>
                <a:spcPct val="95000"/>
              </a:lnSpc>
              <a:spcBef>
                <a:spcPct val="20000"/>
              </a:spcBef>
            </a:pPr>
            <a:r>
              <a:rPr lang="zh-CN" altLang="en-US" sz="2600" b="1" dirty="0">
                <a:latin typeface="+mn-lt"/>
                <a:ea typeface="+mn-ea"/>
                <a:sym typeface="Symbol" pitchFamily="18" charset="2"/>
              </a:rPr>
              <a:t>从</a:t>
            </a:r>
            <a:r>
              <a:rPr lang="zh-CN" altLang="en-US" sz="2600" b="1" u="sng" dirty="0">
                <a:effectLst>
                  <a:outerShdw blurRad="38100" dist="38100" dir="2700000" algn="tl">
                    <a:srgbClr val="000000">
                      <a:alpha val="43137"/>
                    </a:srgbClr>
                  </a:outerShdw>
                </a:effectLst>
                <a:latin typeface="+mn-lt"/>
                <a:ea typeface="+mn-ea"/>
                <a:sym typeface="Symbol" pitchFamily="18" charset="2"/>
              </a:rPr>
              <a:t>左侧</a:t>
            </a:r>
            <a:r>
              <a:rPr lang="zh-CN" altLang="en-US" sz="2600" b="1" dirty="0">
                <a:latin typeface="+mn-lt"/>
                <a:ea typeface="+mn-ea"/>
                <a:sym typeface="Symbol" pitchFamily="18" charset="2"/>
              </a:rPr>
              <a:t>移除</a:t>
            </a:r>
            <a:r>
              <a:rPr lang="zh-CN" altLang="en-US" sz="2600" dirty="0">
                <a:latin typeface="+mn-lt"/>
                <a:ea typeface="+mn-ea"/>
                <a:sym typeface="Symbol" pitchFamily="18" charset="2"/>
              </a:rPr>
              <a:t>：如果</a:t>
            </a:r>
            <a:r>
              <a:rPr lang="en-US" altLang="zh-CN" sz="2600" dirty="0">
                <a:latin typeface="+mn-lt"/>
                <a:ea typeface="+mn-ea"/>
                <a:sym typeface="Symbol" pitchFamily="18" charset="2"/>
              </a:rPr>
              <a:t>A</a:t>
            </a:r>
            <a:r>
              <a:rPr lang="en-US" altLang="zh-CN" sz="2600" dirty="0">
                <a:solidFill>
                  <a:srgbClr val="000080"/>
                </a:solidFill>
                <a:sym typeface="Symbol" pitchFamily="18" charset="2"/>
              </a:rPr>
              <a:t></a:t>
            </a:r>
            <a:r>
              <a:rPr lang="en-US" altLang="zh-CN" sz="2600" dirty="0">
                <a:solidFill>
                  <a:srgbClr val="0000FF"/>
                </a:solidFill>
                <a:sym typeface="Symbol" pitchFamily="18" charset="2"/>
              </a:rPr>
              <a:t>X</a:t>
            </a:r>
            <a:r>
              <a:rPr lang="zh-CN" altLang="en-US" sz="2600" dirty="0">
                <a:solidFill>
                  <a:srgbClr val="000080"/>
                </a:solidFill>
                <a:sym typeface="Symbol" pitchFamily="18" charset="2"/>
              </a:rPr>
              <a:t>，</a:t>
            </a:r>
            <a:r>
              <a:rPr lang="zh-CN" altLang="en-US" sz="2600" dirty="0">
                <a:sym typeface="Symbol" pitchFamily="18" charset="2"/>
              </a:rPr>
              <a:t>并且</a:t>
            </a:r>
            <a:r>
              <a:rPr lang="en-US" altLang="zh-CN" sz="2600" dirty="0">
                <a:solidFill>
                  <a:srgbClr val="0000FF"/>
                </a:solidFill>
                <a:sym typeface="Symbol" pitchFamily="18" charset="2"/>
              </a:rPr>
              <a:t>F</a:t>
            </a:r>
            <a:r>
              <a:rPr lang="zh-CN" altLang="en-US" sz="2600" dirty="0">
                <a:sym typeface="Symbol" pitchFamily="18" charset="2"/>
              </a:rPr>
              <a:t>逻辑蕴涵</a:t>
            </a:r>
            <a:r>
              <a:rPr lang="en-US" altLang="zh-CN" sz="2600" dirty="0">
                <a:solidFill>
                  <a:srgbClr val="000080"/>
                </a:solidFill>
                <a:sym typeface="Symbol" pitchFamily="18" charset="2"/>
              </a:rPr>
              <a:t>(F-{</a:t>
            </a:r>
            <a:r>
              <a:rPr lang="en-US" altLang="zh-CN" sz="2600" dirty="0">
                <a:sym typeface="Symbol" pitchFamily="18" charset="2"/>
              </a:rPr>
              <a:t>X→Y</a:t>
            </a:r>
            <a:r>
              <a:rPr lang="en-US" altLang="zh-CN" sz="2600" dirty="0">
                <a:solidFill>
                  <a:srgbClr val="000080"/>
                </a:solidFill>
                <a:sym typeface="Symbol" pitchFamily="18" charset="2"/>
              </a:rPr>
              <a:t>}) </a:t>
            </a:r>
            <a:r>
              <a:rPr lang="en-US" altLang="zh-CN" sz="2600" dirty="0">
                <a:solidFill>
                  <a:srgbClr val="0000FF"/>
                </a:solidFill>
              </a:rPr>
              <a:t>∪</a:t>
            </a:r>
            <a:r>
              <a:rPr lang="en-US" altLang="zh-CN" sz="2600" dirty="0">
                <a:solidFill>
                  <a:srgbClr val="000080"/>
                </a:solidFill>
                <a:sym typeface="Symbol" pitchFamily="18" charset="2"/>
              </a:rPr>
              <a:t>{(</a:t>
            </a:r>
            <a:r>
              <a:rPr lang="en-US" altLang="zh-CN" sz="2600" dirty="0">
                <a:sym typeface="Symbol" pitchFamily="18" charset="2"/>
              </a:rPr>
              <a:t>X-A)→Y</a:t>
            </a:r>
            <a:r>
              <a:rPr lang="en-US" altLang="zh-CN" sz="2600" dirty="0">
                <a:solidFill>
                  <a:srgbClr val="000080"/>
                </a:solidFill>
                <a:sym typeface="Symbol" pitchFamily="18" charset="2"/>
              </a:rPr>
              <a:t>}</a:t>
            </a:r>
            <a:r>
              <a:rPr lang="zh-CN" altLang="en-US" sz="2600" dirty="0">
                <a:solidFill>
                  <a:srgbClr val="000080"/>
                </a:solidFill>
                <a:sym typeface="Symbol" pitchFamily="18" charset="2"/>
              </a:rPr>
              <a:t>，</a:t>
            </a:r>
            <a:r>
              <a:rPr lang="zh-CN" altLang="en-US" sz="2600" dirty="0">
                <a:sym typeface="Symbol" pitchFamily="18" charset="2"/>
              </a:rPr>
              <a:t>则</a:t>
            </a:r>
            <a:r>
              <a:rPr lang="en-US" altLang="zh-CN" sz="2600" dirty="0">
                <a:solidFill>
                  <a:srgbClr val="FF0000"/>
                </a:solidFill>
                <a:sym typeface="Symbol" pitchFamily="18" charset="2"/>
              </a:rPr>
              <a:t>A</a:t>
            </a:r>
            <a:r>
              <a:rPr lang="zh-CN" altLang="en-US" sz="2600" dirty="0">
                <a:solidFill>
                  <a:srgbClr val="FF0000"/>
                </a:solidFill>
                <a:sym typeface="Symbol" pitchFamily="18" charset="2"/>
              </a:rPr>
              <a:t>在</a:t>
            </a:r>
            <a:r>
              <a:rPr lang="en-US" altLang="zh-CN" sz="2600" dirty="0">
                <a:solidFill>
                  <a:srgbClr val="FF0000"/>
                </a:solidFill>
                <a:sym typeface="Symbol" pitchFamily="18" charset="2"/>
              </a:rPr>
              <a:t>X</a:t>
            </a:r>
            <a:r>
              <a:rPr lang="zh-CN" altLang="en-US" sz="2600" dirty="0">
                <a:solidFill>
                  <a:srgbClr val="FF0000"/>
                </a:solidFill>
                <a:sym typeface="Symbol" pitchFamily="18" charset="2"/>
              </a:rPr>
              <a:t>中是无关的</a:t>
            </a:r>
            <a:r>
              <a:rPr lang="zh-CN" altLang="en-US" sz="2600" dirty="0">
                <a:solidFill>
                  <a:srgbClr val="000080"/>
                </a:solidFill>
                <a:sym typeface="Symbol" pitchFamily="18" charset="2"/>
              </a:rPr>
              <a:t>；</a:t>
            </a:r>
            <a:endParaRPr lang="en-US" altLang="zh-CN" sz="2600" dirty="0">
              <a:latin typeface="+mn-lt"/>
              <a:ea typeface="+mn-ea"/>
              <a:sym typeface="Symbol" pitchFamily="18" charset="2"/>
            </a:endParaRPr>
          </a:p>
          <a:p>
            <a:pPr lvl="2" algn="just">
              <a:lnSpc>
                <a:spcPct val="95000"/>
              </a:lnSpc>
              <a:spcBef>
                <a:spcPct val="20000"/>
              </a:spcBef>
              <a:spcAft>
                <a:spcPts val="600"/>
              </a:spcAft>
            </a:pPr>
            <a:r>
              <a:rPr lang="zh-CN" altLang="en-US" dirty="0">
                <a:latin typeface="+mn-lt"/>
                <a:ea typeface="+mn-ea"/>
                <a:sym typeface="Symbol" pitchFamily="18" charset="2"/>
              </a:rPr>
              <a:t>从一个函数依赖的</a:t>
            </a:r>
            <a:r>
              <a:rPr lang="zh-CN" altLang="en-US" dirty="0">
                <a:solidFill>
                  <a:srgbClr val="0000FF"/>
                </a:solidFill>
                <a:latin typeface="+mn-lt"/>
                <a:ea typeface="+mn-ea"/>
                <a:sym typeface="Symbol" pitchFamily="18" charset="2"/>
              </a:rPr>
              <a:t>左侧</a:t>
            </a:r>
            <a:r>
              <a:rPr lang="zh-CN" altLang="en-US" dirty="0">
                <a:latin typeface="+mn-lt"/>
                <a:ea typeface="+mn-ea"/>
                <a:sym typeface="Symbol" pitchFamily="18" charset="2"/>
              </a:rPr>
              <a:t>移除一个属性可以使其成为</a:t>
            </a:r>
            <a:r>
              <a:rPr lang="zh-CN" altLang="en-US" b="1" dirty="0">
                <a:solidFill>
                  <a:srgbClr val="0000FF"/>
                </a:solidFill>
                <a:latin typeface="+mn-lt"/>
                <a:ea typeface="+mn-ea"/>
                <a:sym typeface="Symbol" pitchFamily="18" charset="2"/>
              </a:rPr>
              <a:t>更强</a:t>
            </a:r>
            <a:r>
              <a:rPr lang="zh-CN" altLang="en-US" dirty="0">
                <a:latin typeface="+mn-lt"/>
                <a:ea typeface="+mn-ea"/>
                <a:sym typeface="Symbol" pitchFamily="18" charset="2"/>
              </a:rPr>
              <a:t>的约束。</a:t>
            </a:r>
          </a:p>
          <a:p>
            <a:pPr marL="720725" lvl="2" indent="0" algn="just">
              <a:lnSpc>
                <a:spcPct val="95000"/>
              </a:lnSpc>
              <a:spcBef>
                <a:spcPct val="20000"/>
              </a:spcBef>
              <a:buNone/>
            </a:pPr>
            <a:r>
              <a:rPr lang="zh-CN" altLang="en-US" sz="2000" b="1" dirty="0">
                <a:latin typeface="+mn-lt"/>
                <a:ea typeface="+mn-ea"/>
                <a:sym typeface="Symbol" pitchFamily="18" charset="2"/>
              </a:rPr>
              <a:t>例</a:t>
            </a:r>
            <a:r>
              <a:rPr lang="en-US" altLang="zh-CN" sz="2000" dirty="0">
                <a:latin typeface="+mn-lt"/>
                <a:ea typeface="+mn-ea"/>
                <a:sym typeface="Symbol" pitchFamily="18" charset="2"/>
              </a:rPr>
              <a:t>: </a:t>
            </a:r>
            <a:r>
              <a:rPr lang="zh-CN" altLang="en-US" sz="2000" b="1" u="sng" dirty="0">
                <a:effectLst>
                  <a:outerShdw blurRad="38100" dist="38100" dir="2700000" algn="tl">
                    <a:srgbClr val="000000">
                      <a:alpha val="43137"/>
                    </a:srgbClr>
                  </a:outerShdw>
                </a:effectLst>
                <a:latin typeface="+mn-lt"/>
                <a:ea typeface="+mn-ea"/>
                <a:sym typeface="Symbol" pitchFamily="18" charset="2"/>
              </a:rPr>
              <a:t>如果</a:t>
            </a:r>
            <a:r>
              <a:rPr lang="zh-CN" altLang="en-US" sz="2000" dirty="0">
                <a:latin typeface="+mn-lt"/>
                <a:ea typeface="+mn-ea"/>
                <a:sym typeface="Symbol" pitchFamily="18" charset="2"/>
              </a:rPr>
              <a:t>有</a:t>
            </a:r>
            <a:r>
              <a:rPr lang="en-US" altLang="zh-CN" sz="2000" dirty="0">
                <a:latin typeface="+mn-lt"/>
                <a:ea typeface="+mn-ea"/>
                <a:sym typeface="Symbol" pitchFamily="18" charset="2"/>
              </a:rPr>
              <a:t>AB</a:t>
            </a:r>
            <a:r>
              <a:rPr lang="en-US" altLang="zh-CN" sz="2000" dirty="0">
                <a:sym typeface="Symbol" pitchFamily="18" charset="2"/>
              </a:rPr>
              <a:t>→</a:t>
            </a:r>
            <a:r>
              <a:rPr lang="en-US" altLang="zh-CN" sz="2000" dirty="0">
                <a:latin typeface="+mn-lt"/>
                <a:ea typeface="+mn-ea"/>
                <a:sym typeface="Symbol" pitchFamily="18" charset="2"/>
              </a:rPr>
              <a:t>C</a:t>
            </a:r>
            <a:r>
              <a:rPr lang="zh-CN" altLang="en-US" sz="2000" dirty="0">
                <a:latin typeface="+mn-lt"/>
                <a:ea typeface="+mn-ea"/>
                <a:sym typeface="Symbol" pitchFamily="18" charset="2"/>
              </a:rPr>
              <a:t>并删除</a:t>
            </a:r>
            <a:r>
              <a:rPr lang="en-US" altLang="zh-CN" sz="2000" dirty="0">
                <a:latin typeface="+mn-lt"/>
                <a:ea typeface="+mn-ea"/>
                <a:sym typeface="Symbol" pitchFamily="18" charset="2"/>
              </a:rPr>
              <a:t>B</a:t>
            </a:r>
            <a:r>
              <a:rPr lang="zh-CN" altLang="en-US" sz="2000" dirty="0">
                <a:latin typeface="+mn-lt"/>
                <a:ea typeface="+mn-ea"/>
                <a:sym typeface="Symbol" pitchFamily="18" charset="2"/>
              </a:rPr>
              <a:t>，则得到可能</a:t>
            </a:r>
            <a:r>
              <a:rPr lang="zh-CN" altLang="en-US" sz="2000" dirty="0">
                <a:solidFill>
                  <a:srgbClr val="0000FF"/>
                </a:solidFill>
                <a:latin typeface="+mn-lt"/>
                <a:ea typeface="+mn-ea"/>
                <a:sym typeface="Symbol" pitchFamily="18" charset="2"/>
              </a:rPr>
              <a:t>更强的结果</a:t>
            </a:r>
            <a:r>
              <a:rPr lang="en-US" altLang="zh-CN" sz="2000" dirty="0">
                <a:solidFill>
                  <a:srgbClr val="0000FF"/>
                </a:solidFill>
                <a:latin typeface="+mn-lt"/>
                <a:ea typeface="+mn-ea"/>
                <a:sym typeface="Symbol" pitchFamily="18" charset="2"/>
              </a:rPr>
              <a:t>A</a:t>
            </a:r>
            <a:r>
              <a:rPr lang="en-US" altLang="zh-CN" sz="2000" dirty="0">
                <a:solidFill>
                  <a:srgbClr val="0000FF"/>
                </a:solidFill>
                <a:sym typeface="Symbol" pitchFamily="18" charset="2"/>
              </a:rPr>
              <a:t>→</a:t>
            </a:r>
            <a:r>
              <a:rPr lang="en-US" altLang="zh-CN" sz="2000" dirty="0">
                <a:solidFill>
                  <a:srgbClr val="0000FF"/>
                </a:solidFill>
                <a:latin typeface="+mn-lt"/>
                <a:ea typeface="+mn-ea"/>
                <a:sym typeface="Symbol" pitchFamily="18" charset="2"/>
              </a:rPr>
              <a:t>C</a:t>
            </a:r>
            <a:r>
              <a:rPr lang="en-US" altLang="zh-CN" sz="2000" dirty="0">
                <a:latin typeface="+mn-lt"/>
                <a:ea typeface="+mn-ea"/>
                <a:sym typeface="Symbol" pitchFamily="18" charset="2"/>
              </a:rPr>
              <a:t>;</a:t>
            </a:r>
            <a:r>
              <a:rPr lang="zh-CN" altLang="en-US" sz="2000" dirty="0">
                <a:latin typeface="+mn-lt"/>
                <a:ea typeface="+mn-ea"/>
                <a:sym typeface="Symbol" pitchFamily="18" charset="2"/>
              </a:rPr>
              <a:t> 更强的原因是因为</a:t>
            </a:r>
            <a:r>
              <a:rPr lang="en-US" altLang="zh-CN" sz="2000" u="sng" dirty="0">
                <a:solidFill>
                  <a:srgbClr val="0000FF"/>
                </a:solidFill>
                <a:latin typeface="+mn-lt"/>
                <a:ea typeface="+mn-ea"/>
                <a:sym typeface="Symbol" pitchFamily="18" charset="2"/>
              </a:rPr>
              <a:t>A</a:t>
            </a:r>
            <a:r>
              <a:rPr lang="en-US" altLang="zh-CN" sz="1600" u="sng" dirty="0">
                <a:solidFill>
                  <a:srgbClr val="0000FF"/>
                </a:solidFill>
                <a:sym typeface="Symbol" pitchFamily="18" charset="2"/>
              </a:rPr>
              <a:t>→</a:t>
            </a:r>
            <a:r>
              <a:rPr lang="en-US" altLang="zh-CN" sz="2000" u="sng" dirty="0">
                <a:solidFill>
                  <a:srgbClr val="0000FF"/>
                </a:solidFill>
                <a:latin typeface="+mn-lt"/>
                <a:ea typeface="+mn-ea"/>
                <a:sym typeface="Symbol" pitchFamily="18" charset="2"/>
              </a:rPr>
              <a:t>C</a:t>
            </a:r>
            <a:r>
              <a:rPr lang="zh-CN" altLang="en-US" sz="2000" u="sng" dirty="0">
                <a:solidFill>
                  <a:srgbClr val="0000FF"/>
                </a:solidFill>
                <a:latin typeface="+mn-lt"/>
                <a:ea typeface="+mn-ea"/>
                <a:sym typeface="Symbol" pitchFamily="18" charset="2"/>
              </a:rPr>
              <a:t>逻辑蕴涵了</a:t>
            </a:r>
            <a:r>
              <a:rPr lang="en-US" altLang="zh-CN" sz="2000" u="sng" dirty="0">
                <a:solidFill>
                  <a:srgbClr val="0000FF"/>
                </a:solidFill>
                <a:latin typeface="+mn-lt"/>
                <a:ea typeface="+mn-ea"/>
                <a:sym typeface="Symbol" pitchFamily="18" charset="2"/>
              </a:rPr>
              <a:t>AB</a:t>
            </a:r>
            <a:r>
              <a:rPr lang="en-US" altLang="zh-CN" sz="1600" u="sng" dirty="0">
                <a:solidFill>
                  <a:srgbClr val="0000FF"/>
                </a:solidFill>
                <a:sym typeface="Symbol" pitchFamily="18" charset="2"/>
              </a:rPr>
              <a:t>→</a:t>
            </a:r>
            <a:r>
              <a:rPr lang="en-US" altLang="zh-CN" sz="2000" u="sng" dirty="0">
                <a:solidFill>
                  <a:srgbClr val="0000FF"/>
                </a:solidFill>
                <a:latin typeface="+mn-lt"/>
                <a:ea typeface="+mn-ea"/>
                <a:sym typeface="Symbol" pitchFamily="18" charset="2"/>
              </a:rPr>
              <a:t>C</a:t>
            </a:r>
            <a:r>
              <a:rPr lang="en-US" altLang="zh-CN" sz="2000" dirty="0">
                <a:latin typeface="+mn-lt"/>
                <a:ea typeface="+mn-ea"/>
                <a:sym typeface="Symbol" pitchFamily="18" charset="2"/>
              </a:rPr>
              <a:t>; </a:t>
            </a:r>
            <a:r>
              <a:rPr lang="zh-CN" altLang="en-US" sz="2000" dirty="0">
                <a:latin typeface="+mn-lt"/>
                <a:ea typeface="+mn-ea"/>
                <a:sym typeface="Symbol" pitchFamily="18" charset="2"/>
              </a:rPr>
              <a:t>但</a:t>
            </a:r>
            <a:r>
              <a:rPr lang="en-US" altLang="zh-CN" sz="2000" u="sng" dirty="0">
                <a:latin typeface="+mn-lt"/>
                <a:ea typeface="+mn-ea"/>
                <a:sym typeface="Symbol" pitchFamily="18" charset="2"/>
              </a:rPr>
              <a:t>AB</a:t>
            </a:r>
            <a:r>
              <a:rPr lang="en-US" altLang="zh-CN" sz="1600" u="sng" dirty="0">
                <a:sym typeface="Symbol" pitchFamily="18" charset="2"/>
              </a:rPr>
              <a:t>→</a:t>
            </a:r>
            <a:r>
              <a:rPr lang="en-US" altLang="zh-CN" sz="2000" u="sng" dirty="0">
                <a:latin typeface="+mn-lt"/>
                <a:ea typeface="+mn-ea"/>
                <a:sym typeface="Symbol" pitchFamily="18" charset="2"/>
              </a:rPr>
              <a:t>C</a:t>
            </a:r>
            <a:r>
              <a:rPr lang="zh-CN" altLang="en-US" sz="2000" u="sng" dirty="0">
                <a:latin typeface="+mn-lt"/>
                <a:ea typeface="+mn-ea"/>
                <a:sym typeface="Symbol" pitchFamily="18" charset="2"/>
              </a:rPr>
              <a:t>却并不逻辑蕴含</a:t>
            </a:r>
            <a:r>
              <a:rPr lang="en-US" altLang="zh-CN" sz="2000" u="sng" dirty="0">
                <a:latin typeface="+mn-lt"/>
                <a:ea typeface="+mn-ea"/>
                <a:sym typeface="Symbol" pitchFamily="18" charset="2"/>
              </a:rPr>
              <a:t>A</a:t>
            </a:r>
            <a:r>
              <a:rPr lang="en-US" altLang="zh-CN" sz="2000" u="sng" dirty="0">
                <a:sym typeface="Symbol" pitchFamily="18" charset="2"/>
              </a:rPr>
              <a:t>→</a:t>
            </a:r>
            <a:r>
              <a:rPr lang="en-US" altLang="zh-CN" sz="2000" u="sng" dirty="0">
                <a:latin typeface="+mn-lt"/>
                <a:ea typeface="+mn-ea"/>
                <a:sym typeface="Symbol" pitchFamily="18" charset="2"/>
              </a:rPr>
              <a:t>C</a:t>
            </a:r>
            <a:r>
              <a:rPr lang="zh-CN" altLang="en-US" sz="2000" dirty="0">
                <a:latin typeface="+mn-lt"/>
                <a:ea typeface="+mn-ea"/>
                <a:sym typeface="Symbol" pitchFamily="18" charset="2"/>
              </a:rPr>
              <a:t>。</a:t>
            </a:r>
            <a:endParaRPr lang="en-US" altLang="zh-CN" sz="2000" dirty="0">
              <a:latin typeface="+mn-lt"/>
              <a:ea typeface="+mn-ea"/>
              <a:sym typeface="Symbol" pitchFamily="18" charset="2"/>
            </a:endParaRPr>
          </a:p>
          <a:p>
            <a:pPr marL="720725" lvl="2" indent="0" algn="just">
              <a:lnSpc>
                <a:spcPct val="95000"/>
              </a:lnSpc>
              <a:spcBef>
                <a:spcPct val="20000"/>
              </a:spcBef>
              <a:buNone/>
            </a:pPr>
            <a:r>
              <a:rPr lang="zh-CN" altLang="en-US" sz="2000" dirty="0">
                <a:latin typeface="+mn-lt"/>
                <a:ea typeface="+mn-ea"/>
                <a:sym typeface="Symbol" pitchFamily="18" charset="2"/>
              </a:rPr>
              <a:t>但是，从</a:t>
            </a:r>
            <a:r>
              <a:rPr lang="en-US" altLang="zh-CN" sz="2000" dirty="0">
                <a:latin typeface="+mn-lt"/>
                <a:ea typeface="+mn-ea"/>
                <a:sym typeface="Symbol" pitchFamily="18" charset="2"/>
              </a:rPr>
              <a:t>AB</a:t>
            </a:r>
            <a:r>
              <a:rPr lang="en-US" altLang="zh-CN" sz="2000" dirty="0">
                <a:sym typeface="Symbol" pitchFamily="18" charset="2"/>
              </a:rPr>
              <a:t>→</a:t>
            </a:r>
            <a:r>
              <a:rPr lang="en-US" altLang="zh-CN" sz="2000" dirty="0">
                <a:latin typeface="+mn-lt"/>
                <a:ea typeface="+mn-ea"/>
                <a:sym typeface="Symbol" pitchFamily="18" charset="2"/>
              </a:rPr>
              <a:t>C</a:t>
            </a:r>
            <a:r>
              <a:rPr lang="zh-CN" altLang="en-US" sz="2000" dirty="0">
                <a:latin typeface="+mn-lt"/>
                <a:ea typeface="+mn-ea"/>
                <a:sym typeface="Symbol" pitchFamily="18" charset="2"/>
              </a:rPr>
              <a:t>中删除</a:t>
            </a:r>
            <a:r>
              <a:rPr lang="en-US" altLang="zh-CN" sz="2000" dirty="0">
                <a:latin typeface="+mn-lt"/>
                <a:ea typeface="+mn-ea"/>
                <a:sym typeface="Symbol" pitchFamily="18" charset="2"/>
              </a:rPr>
              <a:t>B</a:t>
            </a:r>
            <a:r>
              <a:rPr lang="zh-CN" altLang="en-US" sz="2000" dirty="0">
                <a:latin typeface="+mn-lt"/>
                <a:ea typeface="+mn-ea"/>
                <a:sym typeface="Symbol" pitchFamily="18" charset="2"/>
              </a:rPr>
              <a:t>得到</a:t>
            </a:r>
            <a:r>
              <a:rPr lang="en-US" altLang="zh-CN" sz="2000" dirty="0">
                <a:latin typeface="+mn-lt"/>
                <a:ea typeface="+mn-ea"/>
                <a:sym typeface="Symbol" pitchFamily="18" charset="2"/>
              </a:rPr>
              <a:t>A</a:t>
            </a:r>
            <a:r>
              <a:rPr lang="en-US" altLang="zh-CN" sz="2000" dirty="0">
                <a:sym typeface="Symbol" pitchFamily="18" charset="2"/>
              </a:rPr>
              <a:t>→</a:t>
            </a:r>
            <a:r>
              <a:rPr lang="en-US" altLang="zh-CN" sz="2000" dirty="0">
                <a:latin typeface="+mn-lt"/>
                <a:ea typeface="+mn-ea"/>
                <a:sym typeface="Symbol" pitchFamily="18" charset="2"/>
              </a:rPr>
              <a:t>C</a:t>
            </a:r>
            <a:r>
              <a:rPr lang="zh-CN" altLang="en-US" sz="2000" dirty="0">
                <a:latin typeface="+mn-lt"/>
                <a:ea typeface="+mn-ea"/>
                <a:sym typeface="Symbol" pitchFamily="18" charset="2"/>
              </a:rPr>
              <a:t>成立，</a:t>
            </a:r>
            <a:r>
              <a:rPr lang="zh-CN" altLang="en-US" sz="2000" b="1" dirty="0">
                <a:latin typeface="+mn-lt"/>
                <a:ea typeface="+mn-ea"/>
                <a:sym typeface="Symbol" pitchFamily="18" charset="2"/>
              </a:rPr>
              <a:t>取决于已有的函数依赖集</a:t>
            </a:r>
            <a:r>
              <a:rPr lang="zh-CN" altLang="en-US" sz="2000" dirty="0">
                <a:latin typeface="+mn-lt"/>
                <a:ea typeface="+mn-ea"/>
                <a:sym typeface="Symbol" pitchFamily="18" charset="2"/>
              </a:rPr>
              <a:t>到底包含哪些函数依赖。</a:t>
            </a:r>
            <a:endParaRPr lang="en-US" altLang="zh-CN" sz="2000" dirty="0">
              <a:latin typeface="+mn-lt"/>
              <a:ea typeface="+mn-ea"/>
              <a:sym typeface="Symbol" pitchFamily="18" charset="2"/>
            </a:endParaRPr>
          </a:p>
          <a:p>
            <a:pPr marL="720725" lvl="2" indent="0" algn="just">
              <a:lnSpc>
                <a:spcPct val="95000"/>
              </a:lnSpc>
              <a:spcBef>
                <a:spcPct val="20000"/>
              </a:spcBef>
              <a:buNone/>
            </a:pPr>
            <a:endParaRPr lang="en-US" altLang="zh-CN" sz="2000" dirty="0">
              <a:latin typeface="+mn-lt"/>
              <a:ea typeface="+mn-ea"/>
              <a:sym typeface="Symbol" pitchFamily="18" charset="2"/>
            </a:endParaRPr>
          </a:p>
          <a:p>
            <a:pPr marL="720725" lvl="2" indent="0" algn="just">
              <a:lnSpc>
                <a:spcPct val="95000"/>
              </a:lnSpc>
              <a:spcBef>
                <a:spcPct val="20000"/>
              </a:spcBef>
              <a:buNone/>
            </a:pPr>
            <a:r>
              <a:rPr lang="zh-CN" altLang="en-US" sz="2000" b="1" dirty="0">
                <a:latin typeface="+mn-lt"/>
                <a:ea typeface="+mn-ea"/>
                <a:sym typeface="Symbol" pitchFamily="18" charset="2"/>
              </a:rPr>
              <a:t>例如，</a:t>
            </a:r>
            <a:r>
              <a:rPr lang="zh-CN" altLang="en-US" sz="2000" dirty="0">
                <a:latin typeface="+mn-lt"/>
                <a:ea typeface="+mn-ea"/>
                <a:sym typeface="Symbol" pitchFamily="18" charset="2"/>
              </a:rPr>
              <a:t>假设集合</a:t>
            </a:r>
            <a:r>
              <a:rPr lang="en-US" altLang="zh-CN" sz="2000" b="1" dirty="0">
                <a:solidFill>
                  <a:srgbClr val="0000FF"/>
                </a:solidFill>
                <a:latin typeface="+mn-lt"/>
                <a:ea typeface="+mn-ea"/>
                <a:sym typeface="Symbol" pitchFamily="18" charset="2"/>
              </a:rPr>
              <a:t>F</a:t>
            </a:r>
            <a:r>
              <a:rPr lang="en-US" altLang="zh-CN" sz="2000" dirty="0">
                <a:latin typeface="+mn-lt"/>
                <a:ea typeface="+mn-ea"/>
                <a:sym typeface="Symbol" pitchFamily="18" charset="2"/>
              </a:rPr>
              <a:t>={AB</a:t>
            </a:r>
            <a:r>
              <a:rPr lang="en-US" altLang="zh-CN" sz="2000" dirty="0">
                <a:sym typeface="Symbol" pitchFamily="18" charset="2"/>
              </a:rPr>
              <a:t>→</a:t>
            </a:r>
            <a:r>
              <a:rPr lang="en-US" altLang="zh-CN" sz="2000" dirty="0">
                <a:latin typeface="+mn-lt"/>
                <a:ea typeface="+mn-ea"/>
                <a:sym typeface="Symbol" pitchFamily="18" charset="2"/>
              </a:rPr>
              <a:t>C, </a:t>
            </a:r>
            <a:r>
              <a:rPr lang="en-US" altLang="zh-CN" sz="2000" dirty="0">
                <a:solidFill>
                  <a:srgbClr val="800080"/>
                </a:solidFill>
                <a:latin typeface="+mn-lt"/>
                <a:ea typeface="+mn-ea"/>
                <a:sym typeface="Symbol" pitchFamily="18" charset="2"/>
              </a:rPr>
              <a:t>A</a:t>
            </a:r>
            <a:r>
              <a:rPr lang="en-US" altLang="zh-CN" sz="2000" dirty="0">
                <a:solidFill>
                  <a:srgbClr val="800080"/>
                </a:solidFill>
                <a:sym typeface="Symbol" pitchFamily="18" charset="2"/>
              </a:rPr>
              <a:t>→</a:t>
            </a:r>
            <a:r>
              <a:rPr lang="en-US" altLang="zh-CN" sz="2000" dirty="0">
                <a:solidFill>
                  <a:srgbClr val="800080"/>
                </a:solidFill>
                <a:latin typeface="+mn-lt"/>
                <a:ea typeface="+mn-ea"/>
                <a:sym typeface="Symbol" pitchFamily="18" charset="2"/>
              </a:rPr>
              <a:t>D,</a:t>
            </a:r>
            <a:r>
              <a:rPr lang="zh-CN" altLang="en-US" sz="2000" dirty="0">
                <a:solidFill>
                  <a:srgbClr val="800080"/>
                </a:solidFill>
                <a:latin typeface="+mn-lt"/>
                <a:ea typeface="+mn-ea"/>
                <a:sym typeface="Symbol" pitchFamily="18" charset="2"/>
              </a:rPr>
              <a:t> </a:t>
            </a:r>
            <a:r>
              <a:rPr lang="en-US" altLang="zh-CN" sz="2000" dirty="0">
                <a:solidFill>
                  <a:srgbClr val="800080"/>
                </a:solidFill>
                <a:latin typeface="+mn-lt"/>
                <a:ea typeface="+mn-ea"/>
                <a:sym typeface="Symbol" pitchFamily="18" charset="2"/>
              </a:rPr>
              <a:t>D</a:t>
            </a:r>
            <a:r>
              <a:rPr lang="en-US" altLang="zh-CN" sz="2000" dirty="0">
                <a:solidFill>
                  <a:srgbClr val="800080"/>
                </a:solidFill>
                <a:sym typeface="Symbol" pitchFamily="18" charset="2"/>
              </a:rPr>
              <a:t>→</a:t>
            </a:r>
            <a:r>
              <a:rPr lang="en-US" altLang="zh-CN" sz="2000" dirty="0">
                <a:solidFill>
                  <a:srgbClr val="800080"/>
                </a:solidFill>
                <a:latin typeface="+mn-lt"/>
                <a:ea typeface="+mn-ea"/>
                <a:sym typeface="Symbol" pitchFamily="18" charset="2"/>
              </a:rPr>
              <a:t>C</a:t>
            </a:r>
            <a:r>
              <a:rPr lang="en-US" altLang="zh-CN" sz="2000" dirty="0">
                <a:latin typeface="+mn-lt"/>
                <a:ea typeface="+mn-ea"/>
                <a:sym typeface="Symbol" pitchFamily="18" charset="2"/>
              </a:rPr>
              <a:t>}</a:t>
            </a:r>
            <a:r>
              <a:rPr lang="zh-CN" altLang="en-US" sz="2000" dirty="0">
                <a:latin typeface="+mn-lt"/>
                <a:ea typeface="+mn-ea"/>
                <a:sym typeface="Symbol" pitchFamily="18" charset="2"/>
              </a:rPr>
              <a:t>。那么我们可以证明</a:t>
            </a:r>
            <a:r>
              <a:rPr lang="en-US" altLang="zh-CN" sz="2000" dirty="0">
                <a:latin typeface="+mn-lt"/>
                <a:ea typeface="+mn-ea"/>
                <a:sym typeface="Symbol" pitchFamily="18" charset="2"/>
              </a:rPr>
              <a:t>F</a:t>
            </a:r>
            <a:r>
              <a:rPr lang="zh-CN" altLang="en-US" sz="2000" dirty="0">
                <a:latin typeface="+mn-lt"/>
                <a:ea typeface="+mn-ea"/>
                <a:sym typeface="Symbol" pitchFamily="18" charset="2"/>
              </a:rPr>
              <a:t>逻辑蕴含</a:t>
            </a:r>
            <a:r>
              <a:rPr lang="en-US" altLang="zh-CN" sz="2000" dirty="0">
                <a:latin typeface="+mn-lt"/>
                <a:ea typeface="+mn-ea"/>
                <a:sym typeface="Symbol" pitchFamily="18" charset="2"/>
              </a:rPr>
              <a:t>A</a:t>
            </a:r>
            <a:r>
              <a:rPr lang="en-US" altLang="zh-CN" sz="2000" dirty="0">
                <a:sym typeface="Symbol" pitchFamily="18" charset="2"/>
              </a:rPr>
              <a:t>→</a:t>
            </a:r>
            <a:r>
              <a:rPr lang="en-US" altLang="zh-CN" sz="2000" dirty="0">
                <a:latin typeface="+mn-lt"/>
                <a:ea typeface="+mn-ea"/>
                <a:sym typeface="Symbol" pitchFamily="18" charset="2"/>
              </a:rPr>
              <a:t>C</a:t>
            </a:r>
            <a:r>
              <a:rPr lang="zh-CN" altLang="en-US" sz="2000" dirty="0">
                <a:latin typeface="+mn-lt"/>
                <a:ea typeface="+mn-ea"/>
                <a:sym typeface="Symbol" pitchFamily="18" charset="2"/>
              </a:rPr>
              <a:t>，这使得</a:t>
            </a:r>
            <a:r>
              <a:rPr lang="en-US" altLang="zh-CN" sz="2000" b="1" dirty="0">
                <a:solidFill>
                  <a:srgbClr val="0000FF"/>
                </a:solidFill>
                <a:latin typeface="+mn-lt"/>
                <a:ea typeface="+mn-ea"/>
                <a:sym typeface="Symbol" pitchFamily="18" charset="2"/>
              </a:rPr>
              <a:t>B</a:t>
            </a:r>
            <a:r>
              <a:rPr lang="zh-CN" altLang="en-US" sz="2000" b="1" dirty="0">
                <a:solidFill>
                  <a:srgbClr val="0000FF"/>
                </a:solidFill>
                <a:latin typeface="+mn-lt"/>
                <a:ea typeface="+mn-ea"/>
                <a:sym typeface="Symbol" pitchFamily="18" charset="2"/>
              </a:rPr>
              <a:t>在</a:t>
            </a:r>
            <a:r>
              <a:rPr lang="en-US" altLang="zh-CN" sz="2000" b="1" dirty="0">
                <a:solidFill>
                  <a:srgbClr val="0000FF"/>
                </a:solidFill>
                <a:latin typeface="+mn-lt"/>
                <a:ea typeface="+mn-ea"/>
                <a:sym typeface="Symbol" pitchFamily="18" charset="2"/>
              </a:rPr>
              <a:t>AB</a:t>
            </a:r>
            <a:r>
              <a:rPr lang="en-US" altLang="zh-CN" sz="2000" b="1" dirty="0">
                <a:solidFill>
                  <a:srgbClr val="0000FF"/>
                </a:solidFill>
                <a:sym typeface="Symbol" pitchFamily="18" charset="2"/>
              </a:rPr>
              <a:t>→</a:t>
            </a:r>
            <a:r>
              <a:rPr lang="en-US" altLang="zh-CN" sz="2000" b="1" dirty="0">
                <a:solidFill>
                  <a:srgbClr val="0000FF"/>
                </a:solidFill>
                <a:latin typeface="+mn-lt"/>
                <a:ea typeface="+mn-ea"/>
                <a:sym typeface="Symbol" pitchFamily="18" charset="2"/>
              </a:rPr>
              <a:t>C</a:t>
            </a:r>
            <a:r>
              <a:rPr lang="zh-CN" altLang="en-US" sz="2000" b="1" dirty="0">
                <a:solidFill>
                  <a:srgbClr val="0000FF"/>
                </a:solidFill>
                <a:latin typeface="+mn-lt"/>
                <a:ea typeface="+mn-ea"/>
                <a:sym typeface="Symbol" pitchFamily="18" charset="2"/>
              </a:rPr>
              <a:t>中是无关的</a:t>
            </a:r>
            <a:r>
              <a:rPr lang="zh-CN" altLang="en-US" sz="2000" dirty="0">
                <a:latin typeface="+mn-lt"/>
                <a:ea typeface="+mn-ea"/>
                <a:sym typeface="Symbol" pitchFamily="18" charset="2"/>
              </a:rPr>
              <a:t>。</a:t>
            </a:r>
            <a:endParaRPr lang="zh-CN" altLang="en-US" sz="3200" dirty="0">
              <a:latin typeface="+mn-lt"/>
              <a:ea typeface="+mn-ea"/>
              <a:sym typeface="Symbol" pitchFamily="18" charset="2"/>
            </a:endParaRPr>
          </a:p>
        </p:txBody>
      </p:sp>
      <p:sp>
        <p:nvSpPr>
          <p:cNvPr id="5" name="页脚占位符 4">
            <a:extLst>
              <a:ext uri="{FF2B5EF4-FFF2-40B4-BE49-F238E27FC236}">
                <a16:creationId xmlns:a16="http://schemas.microsoft.com/office/drawing/2014/main" id="{02B0C422-B488-7889-3BAD-8F4C600B18C9}"/>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3485651A-2DC1-DDDD-0AF0-B2A2DA76E940}"/>
              </a:ext>
            </a:extLst>
          </p:cNvPr>
          <p:cNvSpPr>
            <a:spLocks noGrp="1"/>
          </p:cNvSpPr>
          <p:nvPr>
            <p:ph type="sldNum" sz="quarter" idx="12"/>
          </p:nvPr>
        </p:nvSpPr>
        <p:spPr/>
        <p:txBody>
          <a:bodyPr/>
          <a:lstStyle/>
          <a:p>
            <a:fld id="{A2D74603-B40B-4D66-8F6E-41C870D48932}" type="slidenum">
              <a:rPr lang="en-US" altLang="zh-CN" smtClean="0"/>
              <a:pPr/>
              <a:t>124</a:t>
            </a:fld>
            <a:r>
              <a:rPr lang="en-US" altLang="zh-CN"/>
              <a:t>/162</a:t>
            </a:r>
            <a:endParaRPr lang="en-US" altLang="zh-CN" dirty="0"/>
          </a:p>
        </p:txBody>
      </p:sp>
    </p:spTree>
    <p:extLst>
      <p:ext uri="{BB962C8B-B14F-4D97-AF65-F5344CB8AC3E}">
        <p14:creationId xmlns:p14="http://schemas.microsoft.com/office/powerpoint/2010/main" val="25138065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3FD2A5-7304-4391-8EEA-C5548572C749}" type="datetime1">
              <a:rPr lang="zh-CN" altLang="en-US" smtClean="0"/>
              <a:t>2025/11/6</a:t>
            </a:fld>
            <a:endParaRPr lang="en-US" altLang="zh-CN"/>
          </a:p>
        </p:txBody>
      </p:sp>
      <p:sp>
        <p:nvSpPr>
          <p:cNvPr id="320514" name="Rectangle 2"/>
          <p:cNvSpPr>
            <a:spLocks noGrp="1" noChangeArrowheads="1"/>
          </p:cNvSpPr>
          <p:nvPr>
            <p:ph type="title"/>
          </p:nvPr>
        </p:nvSpPr>
        <p:spPr/>
        <p:txBody>
          <a:bodyPr/>
          <a:lstStyle/>
          <a:p>
            <a:r>
              <a:rPr lang="en-US" altLang="zh-CN" dirty="0"/>
              <a:t>8.3 </a:t>
            </a:r>
            <a:r>
              <a:rPr lang="zh-CN" altLang="en-US" dirty="0"/>
              <a:t>数据依赖公理系统</a:t>
            </a:r>
            <a:r>
              <a:rPr lang="en-US" altLang="zh-CN" dirty="0"/>
              <a:t>(</a:t>
            </a:r>
            <a:r>
              <a:rPr lang="zh-CN" altLang="en-US" dirty="0"/>
              <a:t>教材</a:t>
            </a:r>
            <a:r>
              <a:rPr lang="en-US" altLang="zh-CN" dirty="0"/>
              <a:t>8.4.3 </a:t>
            </a:r>
            <a:r>
              <a:rPr lang="zh-CN" altLang="en-US" dirty="0"/>
              <a:t>正则覆盖</a:t>
            </a:r>
            <a:r>
              <a:rPr lang="en-US" altLang="zh-CN" dirty="0"/>
              <a:t>)</a:t>
            </a:r>
            <a:endParaRPr lang="zh-CN" altLang="en-US" dirty="0"/>
          </a:p>
        </p:txBody>
      </p:sp>
      <p:sp>
        <p:nvSpPr>
          <p:cNvPr id="5" name="页脚占位符 4">
            <a:extLst>
              <a:ext uri="{FF2B5EF4-FFF2-40B4-BE49-F238E27FC236}">
                <a16:creationId xmlns:a16="http://schemas.microsoft.com/office/drawing/2014/main" id="{81304C0B-0A86-3D42-5338-00986794478F}"/>
              </a:ext>
            </a:extLst>
          </p:cNvPr>
          <p:cNvSpPr>
            <a:spLocks noGrp="1"/>
          </p:cNvSpPr>
          <p:nvPr>
            <p:ph type="ftr" sz="quarter" idx="11"/>
          </p:nvPr>
        </p:nvSpPr>
        <p:spPr/>
        <p:txBody>
          <a:bodyPr/>
          <a:lstStyle/>
          <a:p>
            <a:r>
              <a:rPr lang="en-US" altLang="zh-CN" dirty="0"/>
              <a:t>《</a:t>
            </a:r>
            <a:r>
              <a:rPr lang="en-US" altLang="zh-CN" dirty="0" err="1"/>
              <a:t>数据库系统概论</a:t>
            </a:r>
            <a:r>
              <a:rPr lang="en-US" altLang="zh-CN" dirty="0"/>
              <a:t>》- 第6章</a:t>
            </a:r>
          </a:p>
        </p:txBody>
      </p:sp>
      <p:sp>
        <p:nvSpPr>
          <p:cNvPr id="6" name="灯片编号占位符 5">
            <a:extLst>
              <a:ext uri="{FF2B5EF4-FFF2-40B4-BE49-F238E27FC236}">
                <a16:creationId xmlns:a16="http://schemas.microsoft.com/office/drawing/2014/main" id="{FF295A44-681E-6C89-D78F-6E8EB0037654}"/>
              </a:ext>
            </a:extLst>
          </p:cNvPr>
          <p:cNvSpPr>
            <a:spLocks noGrp="1"/>
          </p:cNvSpPr>
          <p:nvPr>
            <p:ph type="sldNum" sz="quarter" idx="12"/>
          </p:nvPr>
        </p:nvSpPr>
        <p:spPr/>
        <p:txBody>
          <a:bodyPr/>
          <a:lstStyle/>
          <a:p>
            <a:fld id="{A2D74603-B40B-4D66-8F6E-41C870D48932}" type="slidenum">
              <a:rPr lang="en-US" altLang="zh-CN" smtClean="0"/>
              <a:pPr/>
              <a:t>125</a:t>
            </a:fld>
            <a:r>
              <a:rPr lang="en-US" altLang="zh-CN"/>
              <a:t>/162</a:t>
            </a:r>
            <a:endParaRPr lang="en-US" altLang="zh-CN" dirty="0"/>
          </a:p>
        </p:txBody>
      </p:sp>
      <p:sp>
        <p:nvSpPr>
          <p:cNvPr id="3" name="Rectangle 6">
            <a:extLst>
              <a:ext uri="{FF2B5EF4-FFF2-40B4-BE49-F238E27FC236}">
                <a16:creationId xmlns:a16="http://schemas.microsoft.com/office/drawing/2014/main" id="{001AC1E8-89A0-8966-0001-7428DE50304E}"/>
              </a:ext>
            </a:extLst>
          </p:cNvPr>
          <p:cNvSpPr>
            <a:spLocks noGrp="1" noChangeArrowheads="1"/>
          </p:cNvSpPr>
          <p:nvPr>
            <p:ph idx="1"/>
          </p:nvPr>
        </p:nvSpPr>
        <p:spPr bwMode="auto">
          <a:xfrm>
            <a:off x="609600" y="1447800"/>
            <a:ext cx="8105774" cy="5349157"/>
          </a:xfrm>
          <a:prstGeom prst="rect">
            <a:avLst/>
          </a:prstGeom>
          <a:solidFill>
            <a:schemeClr val="bg1"/>
          </a:solidFill>
          <a:ln>
            <a:noFill/>
          </a:ln>
          <a:effectLst/>
        </p:spPr>
        <p:txBody>
          <a:bodyPr wrap="square">
            <a:spAutoFit/>
          </a:bodyPr>
          <a:lstStyle>
            <a:lvl1pPr marL="292100" indent="-292100" algn="l">
              <a:spcBef>
                <a:spcPct val="0"/>
              </a:spcBef>
              <a:defRPr kumimoji="1" sz="2400">
                <a:solidFill>
                  <a:schemeClr val="tx1"/>
                </a:solidFill>
                <a:latin typeface="Times New Roman" pitchFamily="18" charset="0"/>
                <a:ea typeface="宋体" charset="-122"/>
              </a:defRPr>
            </a:lvl1pPr>
            <a:lvl2pPr marL="758825" indent="-276225" algn="l">
              <a:spcBef>
                <a:spcPct val="0"/>
              </a:spcBef>
              <a:defRPr kumimoji="1" sz="2400">
                <a:solidFill>
                  <a:schemeClr val="tx1"/>
                </a:solidFill>
                <a:latin typeface="Times New Roman" pitchFamily="18" charset="0"/>
                <a:ea typeface="宋体" charset="-122"/>
              </a:defRPr>
            </a:lvl2pPr>
            <a:lvl3pPr marL="949325" algn="l">
              <a:spcBef>
                <a:spcPct val="0"/>
              </a:spcBef>
              <a:defRPr kumimoji="1" sz="2400">
                <a:solidFill>
                  <a:schemeClr val="tx1"/>
                </a:solidFill>
                <a:latin typeface="Times New Roman" pitchFamily="18" charset="0"/>
                <a:ea typeface="宋体" charset="-122"/>
              </a:defRPr>
            </a:lvl3pPr>
            <a:lvl4pPr algn="l">
              <a:spcBef>
                <a:spcPct val="0"/>
              </a:spcBef>
              <a:defRPr kumimoji="1" sz="2400">
                <a:solidFill>
                  <a:schemeClr val="tx1"/>
                </a:solidFill>
                <a:latin typeface="Times New Roman" pitchFamily="18" charset="0"/>
                <a:ea typeface="宋体" charset="-122"/>
              </a:defRPr>
            </a:lvl4pPr>
            <a:lvl5pPr algn="l">
              <a:spcBef>
                <a:spcPct val="0"/>
              </a:spcBef>
              <a:defRPr kumimoji="1" sz="2400">
                <a:solidFill>
                  <a:schemeClr val="tx1"/>
                </a:solidFill>
                <a:latin typeface="Times New Roman" pitchFamily="18" charset="0"/>
                <a:ea typeface="宋体" charset="-122"/>
              </a:defRPr>
            </a:lvl5pPr>
            <a:lvl6pPr fontAlgn="base">
              <a:spcBef>
                <a:spcPct val="0"/>
              </a:spcBef>
              <a:spcAft>
                <a:spcPct val="0"/>
              </a:spcAft>
              <a:defRPr kumimoji="1" sz="2400">
                <a:solidFill>
                  <a:schemeClr val="tx1"/>
                </a:solidFill>
                <a:latin typeface="Times New Roman" pitchFamily="18" charset="0"/>
                <a:ea typeface="宋体" charset="-122"/>
              </a:defRPr>
            </a:lvl6pPr>
            <a:lvl7pPr fontAlgn="base">
              <a:spcBef>
                <a:spcPct val="0"/>
              </a:spcBef>
              <a:spcAft>
                <a:spcPct val="0"/>
              </a:spcAft>
              <a:defRPr kumimoji="1" sz="2400">
                <a:solidFill>
                  <a:schemeClr val="tx1"/>
                </a:solidFill>
                <a:latin typeface="Times New Roman" pitchFamily="18" charset="0"/>
                <a:ea typeface="宋体" charset="-122"/>
              </a:defRPr>
            </a:lvl7pPr>
            <a:lvl8pPr fontAlgn="base">
              <a:spcBef>
                <a:spcPct val="0"/>
              </a:spcBef>
              <a:spcAft>
                <a:spcPct val="0"/>
              </a:spcAft>
              <a:defRPr kumimoji="1" sz="2400">
                <a:solidFill>
                  <a:schemeClr val="tx1"/>
                </a:solidFill>
                <a:latin typeface="Times New Roman" pitchFamily="18" charset="0"/>
                <a:ea typeface="宋体" charset="-122"/>
              </a:defRPr>
            </a:lvl8pPr>
            <a:lvl9pPr fontAlgn="base">
              <a:spcBef>
                <a:spcPct val="0"/>
              </a:spcBef>
              <a:spcAft>
                <a:spcPct val="0"/>
              </a:spcAft>
              <a:defRPr kumimoji="1" sz="2400">
                <a:solidFill>
                  <a:schemeClr val="tx1"/>
                </a:solidFill>
                <a:latin typeface="Times New Roman" pitchFamily="18" charset="0"/>
                <a:ea typeface="宋体" charset="-122"/>
              </a:defRPr>
            </a:lvl9pPr>
          </a:lstStyle>
          <a:p>
            <a:pPr algn="just">
              <a:lnSpc>
                <a:spcPct val="95000"/>
              </a:lnSpc>
              <a:spcBef>
                <a:spcPct val="20000"/>
              </a:spcBef>
              <a:buSzPct val="55000"/>
            </a:pPr>
            <a:r>
              <a:rPr lang="zh-CN" altLang="en-US" sz="3000" dirty="0">
                <a:solidFill>
                  <a:srgbClr val="0000FF"/>
                </a:solidFill>
                <a:sym typeface="Symbol" pitchFamily="18" charset="2"/>
              </a:rPr>
              <a:t>无关属性</a:t>
            </a:r>
            <a:r>
              <a:rPr lang="en-US" altLang="zh-CN" sz="3000" dirty="0">
                <a:sym typeface="Symbol" pitchFamily="18" charset="2"/>
              </a:rPr>
              <a:t>(extraneous attribute)</a:t>
            </a:r>
            <a:r>
              <a:rPr lang="zh-CN" altLang="en-US" sz="3000" dirty="0">
                <a:sym typeface="Symbol" pitchFamily="18" charset="2"/>
              </a:rPr>
              <a:t>，考虑一个函数依赖集</a:t>
            </a:r>
            <a:r>
              <a:rPr lang="en-US" altLang="zh-CN" sz="3000" dirty="0">
                <a:solidFill>
                  <a:srgbClr val="0000FF"/>
                </a:solidFill>
                <a:sym typeface="Symbol" pitchFamily="18" charset="2"/>
              </a:rPr>
              <a:t>F</a:t>
            </a:r>
            <a:r>
              <a:rPr lang="zh-CN" altLang="en-US" sz="3000" dirty="0">
                <a:sym typeface="Symbol" pitchFamily="18" charset="2"/>
              </a:rPr>
              <a:t>以及其中的一个函数依赖</a:t>
            </a:r>
            <a:r>
              <a:rPr lang="en-US" altLang="zh-CN" sz="3000" b="1" dirty="0">
                <a:solidFill>
                  <a:srgbClr val="0000FF"/>
                </a:solidFill>
                <a:sym typeface="Symbol" pitchFamily="18" charset="2"/>
              </a:rPr>
              <a:t>X→Y</a:t>
            </a:r>
            <a:r>
              <a:rPr lang="zh-CN" altLang="en-US" sz="3000" dirty="0">
                <a:sym typeface="Symbol" pitchFamily="18" charset="2"/>
              </a:rPr>
              <a:t>，</a:t>
            </a:r>
            <a:endParaRPr lang="en-US" altLang="zh-CN" sz="3000" dirty="0">
              <a:sym typeface="Symbol" pitchFamily="18" charset="2"/>
            </a:endParaRPr>
          </a:p>
          <a:p>
            <a:pPr lvl="1" algn="just">
              <a:lnSpc>
                <a:spcPct val="95000"/>
              </a:lnSpc>
              <a:spcBef>
                <a:spcPct val="20000"/>
              </a:spcBef>
            </a:pPr>
            <a:r>
              <a:rPr lang="zh-CN" altLang="en-US" sz="2600" b="1" dirty="0">
                <a:latin typeface="+mn-lt"/>
                <a:ea typeface="+mn-ea"/>
                <a:sym typeface="Symbol" pitchFamily="18" charset="2"/>
              </a:rPr>
              <a:t>从</a:t>
            </a:r>
            <a:r>
              <a:rPr lang="zh-CN" altLang="en-US" sz="2600" b="1" u="sng" dirty="0">
                <a:effectLst>
                  <a:outerShdw blurRad="38100" dist="38100" dir="2700000" algn="tl">
                    <a:srgbClr val="000000">
                      <a:alpha val="43137"/>
                    </a:srgbClr>
                  </a:outerShdw>
                </a:effectLst>
                <a:latin typeface="+mn-lt"/>
                <a:ea typeface="+mn-ea"/>
                <a:sym typeface="Symbol" pitchFamily="18" charset="2"/>
              </a:rPr>
              <a:t>右侧</a:t>
            </a:r>
            <a:r>
              <a:rPr lang="zh-CN" altLang="en-US" sz="2600" b="1" dirty="0">
                <a:latin typeface="+mn-lt"/>
                <a:ea typeface="+mn-ea"/>
                <a:sym typeface="Symbol" pitchFamily="18" charset="2"/>
              </a:rPr>
              <a:t>移除</a:t>
            </a:r>
            <a:r>
              <a:rPr lang="zh-CN" altLang="en-US" sz="2600" dirty="0">
                <a:latin typeface="+mn-lt"/>
                <a:ea typeface="+mn-ea"/>
                <a:sym typeface="Symbol" pitchFamily="18" charset="2"/>
              </a:rPr>
              <a:t>：如果</a:t>
            </a:r>
            <a:r>
              <a:rPr lang="en-US" altLang="zh-CN" sz="2600" dirty="0">
                <a:latin typeface="+mn-lt"/>
                <a:ea typeface="+mn-ea"/>
                <a:sym typeface="Symbol" pitchFamily="18" charset="2"/>
              </a:rPr>
              <a:t>A</a:t>
            </a:r>
            <a:r>
              <a:rPr lang="en-US" altLang="zh-CN" sz="2600" dirty="0">
                <a:solidFill>
                  <a:srgbClr val="000080"/>
                </a:solidFill>
                <a:sym typeface="Symbol" pitchFamily="18" charset="2"/>
              </a:rPr>
              <a:t></a:t>
            </a:r>
            <a:r>
              <a:rPr lang="en-US" altLang="zh-CN" sz="2600" dirty="0">
                <a:solidFill>
                  <a:srgbClr val="0000FF"/>
                </a:solidFill>
                <a:sym typeface="Symbol" pitchFamily="18" charset="2"/>
              </a:rPr>
              <a:t>Y</a:t>
            </a:r>
            <a:r>
              <a:rPr lang="zh-CN" altLang="en-US" sz="2600" dirty="0">
                <a:solidFill>
                  <a:srgbClr val="000080"/>
                </a:solidFill>
                <a:sym typeface="Symbol" pitchFamily="18" charset="2"/>
              </a:rPr>
              <a:t>，</a:t>
            </a:r>
            <a:r>
              <a:rPr lang="zh-CN" altLang="en-US" sz="2600" dirty="0">
                <a:sym typeface="Symbol" pitchFamily="18" charset="2"/>
              </a:rPr>
              <a:t>并且</a:t>
            </a:r>
            <a:r>
              <a:rPr lang="zh-CN" altLang="en-US" sz="2600" dirty="0">
                <a:solidFill>
                  <a:srgbClr val="0000FF"/>
                </a:solidFill>
                <a:sym typeface="Symbol" pitchFamily="18" charset="2"/>
              </a:rPr>
              <a:t>函数依赖集</a:t>
            </a:r>
            <a:r>
              <a:rPr lang="en-US" altLang="zh-CN" sz="2600" dirty="0">
                <a:sym typeface="Symbol" pitchFamily="18" charset="2"/>
              </a:rPr>
              <a:t>(</a:t>
            </a:r>
            <a:r>
              <a:rPr lang="en-US" altLang="zh-CN" sz="2600" dirty="0">
                <a:solidFill>
                  <a:srgbClr val="000080"/>
                </a:solidFill>
                <a:sym typeface="Symbol" pitchFamily="18" charset="2"/>
              </a:rPr>
              <a:t>F-{</a:t>
            </a:r>
            <a:r>
              <a:rPr lang="en-US" altLang="zh-CN" sz="2600" dirty="0">
                <a:sym typeface="Symbol" pitchFamily="18" charset="2"/>
              </a:rPr>
              <a:t>X→Y</a:t>
            </a:r>
            <a:r>
              <a:rPr lang="en-US" altLang="zh-CN" sz="2600" dirty="0">
                <a:solidFill>
                  <a:srgbClr val="000080"/>
                </a:solidFill>
                <a:sym typeface="Symbol" pitchFamily="18" charset="2"/>
              </a:rPr>
              <a:t>}) </a:t>
            </a:r>
            <a:r>
              <a:rPr lang="en-US" altLang="zh-CN" sz="2600" dirty="0">
                <a:solidFill>
                  <a:srgbClr val="0000FF"/>
                </a:solidFill>
              </a:rPr>
              <a:t>∪</a:t>
            </a:r>
            <a:r>
              <a:rPr lang="en-US" altLang="zh-CN" sz="2600" dirty="0">
                <a:solidFill>
                  <a:srgbClr val="000080"/>
                </a:solidFill>
                <a:sym typeface="Symbol" pitchFamily="18" charset="2"/>
              </a:rPr>
              <a:t>{</a:t>
            </a:r>
            <a:r>
              <a:rPr lang="en-US" altLang="zh-CN" sz="2600" dirty="0">
                <a:sym typeface="Symbol" pitchFamily="18" charset="2"/>
              </a:rPr>
              <a:t>X→(Y-A)</a:t>
            </a:r>
            <a:r>
              <a:rPr lang="en-US" altLang="zh-CN" sz="2600" dirty="0">
                <a:solidFill>
                  <a:srgbClr val="000080"/>
                </a:solidFill>
                <a:sym typeface="Symbol" pitchFamily="18" charset="2"/>
              </a:rPr>
              <a:t>}</a:t>
            </a:r>
            <a:r>
              <a:rPr lang="zh-CN" altLang="en-US" sz="2600" b="1" dirty="0">
                <a:solidFill>
                  <a:srgbClr val="000080"/>
                </a:solidFill>
                <a:effectLst>
                  <a:outerShdw blurRad="38100" dist="38100" dir="2700000" algn="tl">
                    <a:srgbClr val="000000">
                      <a:alpha val="43137"/>
                    </a:srgbClr>
                  </a:outerShdw>
                </a:effectLst>
                <a:sym typeface="Symbol" pitchFamily="18" charset="2"/>
              </a:rPr>
              <a:t>逻辑蕴涵</a:t>
            </a:r>
            <a:r>
              <a:rPr lang="en-US" altLang="zh-CN" sz="2600" dirty="0">
                <a:solidFill>
                  <a:srgbClr val="0000FF"/>
                </a:solidFill>
                <a:sym typeface="Symbol" pitchFamily="18" charset="2"/>
              </a:rPr>
              <a:t>F</a:t>
            </a:r>
            <a:r>
              <a:rPr lang="zh-CN" altLang="en-US" sz="2600" dirty="0">
                <a:solidFill>
                  <a:srgbClr val="000080"/>
                </a:solidFill>
                <a:sym typeface="Symbol" pitchFamily="18" charset="2"/>
              </a:rPr>
              <a:t>，则</a:t>
            </a:r>
            <a:r>
              <a:rPr lang="en-US" altLang="zh-CN" sz="2600" dirty="0">
                <a:solidFill>
                  <a:srgbClr val="000080"/>
                </a:solidFill>
                <a:sym typeface="Symbol" pitchFamily="18" charset="2"/>
              </a:rPr>
              <a:t>A</a:t>
            </a:r>
            <a:r>
              <a:rPr lang="zh-CN" altLang="en-US" sz="2600" dirty="0">
                <a:solidFill>
                  <a:srgbClr val="FF0000"/>
                </a:solidFill>
                <a:sym typeface="Symbol" pitchFamily="18" charset="2"/>
              </a:rPr>
              <a:t>在</a:t>
            </a:r>
            <a:r>
              <a:rPr lang="en-US" altLang="zh-CN" sz="2600" dirty="0">
                <a:solidFill>
                  <a:srgbClr val="FF0000"/>
                </a:solidFill>
                <a:sym typeface="Symbol" pitchFamily="18" charset="2"/>
              </a:rPr>
              <a:t>Y</a:t>
            </a:r>
            <a:r>
              <a:rPr lang="zh-CN" altLang="en-US" sz="2600" dirty="0">
                <a:solidFill>
                  <a:srgbClr val="FF0000"/>
                </a:solidFill>
                <a:sym typeface="Symbol" pitchFamily="18" charset="2"/>
              </a:rPr>
              <a:t>中是无关的</a:t>
            </a:r>
            <a:r>
              <a:rPr lang="zh-CN" altLang="en-US" sz="2600" dirty="0">
                <a:solidFill>
                  <a:srgbClr val="000080"/>
                </a:solidFill>
                <a:sym typeface="Symbol" pitchFamily="18" charset="2"/>
              </a:rPr>
              <a:t>；</a:t>
            </a:r>
            <a:endParaRPr lang="en-US" altLang="zh-CN" sz="2600" dirty="0">
              <a:solidFill>
                <a:srgbClr val="000080"/>
              </a:solidFill>
              <a:sym typeface="Symbol" pitchFamily="18" charset="2"/>
            </a:endParaRPr>
          </a:p>
          <a:p>
            <a:pPr lvl="2" algn="just">
              <a:lnSpc>
                <a:spcPct val="95000"/>
              </a:lnSpc>
              <a:spcBef>
                <a:spcPct val="20000"/>
              </a:spcBef>
            </a:pPr>
            <a:r>
              <a:rPr lang="zh-CN" altLang="en-US" dirty="0">
                <a:latin typeface="+mn-lt"/>
                <a:ea typeface="+mn-ea"/>
                <a:sym typeface="Symbol" pitchFamily="18" charset="2"/>
              </a:rPr>
              <a:t>从一个函数依赖的</a:t>
            </a:r>
            <a:r>
              <a:rPr lang="zh-CN" altLang="en-US" dirty="0">
                <a:solidFill>
                  <a:srgbClr val="0000FF"/>
                </a:solidFill>
                <a:latin typeface="+mn-lt"/>
                <a:ea typeface="+mn-ea"/>
                <a:sym typeface="Symbol" pitchFamily="18" charset="2"/>
              </a:rPr>
              <a:t>右侧</a:t>
            </a:r>
            <a:r>
              <a:rPr lang="zh-CN" altLang="en-US" dirty="0">
                <a:latin typeface="+mn-lt"/>
                <a:ea typeface="+mn-ea"/>
                <a:sym typeface="Symbol" pitchFamily="18" charset="2"/>
              </a:rPr>
              <a:t>删除一个属性可以使其成为更弱的约束。</a:t>
            </a:r>
            <a:endParaRPr lang="en-US" altLang="zh-CN" dirty="0">
              <a:latin typeface="+mn-lt"/>
              <a:ea typeface="+mn-ea"/>
              <a:sym typeface="Symbol" pitchFamily="18" charset="2"/>
            </a:endParaRPr>
          </a:p>
          <a:p>
            <a:pPr marL="530225" lvl="1" indent="0" algn="just">
              <a:lnSpc>
                <a:spcPct val="95000"/>
              </a:lnSpc>
              <a:spcBef>
                <a:spcPct val="20000"/>
              </a:spcBef>
              <a:buNone/>
            </a:pPr>
            <a:r>
              <a:rPr lang="zh-CN" altLang="en-US" sz="2000" b="1" dirty="0">
                <a:latin typeface="+mn-lt"/>
                <a:ea typeface="+mn-ea"/>
                <a:sym typeface="Symbol" pitchFamily="18" charset="2"/>
              </a:rPr>
              <a:t>例：</a:t>
            </a:r>
            <a:r>
              <a:rPr lang="zh-CN" altLang="en-US" sz="2000" dirty="0">
                <a:latin typeface="+mn-lt"/>
                <a:ea typeface="+mn-ea"/>
                <a:sym typeface="Symbol" pitchFamily="18" charset="2"/>
              </a:rPr>
              <a:t>如果有</a:t>
            </a:r>
            <a:r>
              <a:rPr lang="en-US" altLang="zh-CN" sz="2000" dirty="0">
                <a:latin typeface="+mn-lt"/>
                <a:ea typeface="+mn-ea"/>
                <a:sym typeface="Symbol" pitchFamily="18" charset="2"/>
              </a:rPr>
              <a:t>AB</a:t>
            </a:r>
            <a:r>
              <a:rPr lang="en-US" altLang="zh-CN" sz="2000" dirty="0">
                <a:sym typeface="Symbol" pitchFamily="18" charset="2"/>
              </a:rPr>
              <a:t>→</a:t>
            </a:r>
            <a:r>
              <a:rPr lang="en-US" altLang="zh-CN" sz="2000" dirty="0">
                <a:latin typeface="+mn-lt"/>
                <a:ea typeface="+mn-ea"/>
                <a:sym typeface="Symbol" pitchFamily="18" charset="2"/>
              </a:rPr>
              <a:t>CD,</a:t>
            </a:r>
            <a:r>
              <a:rPr lang="zh-CN" altLang="en-US" sz="2000" dirty="0">
                <a:latin typeface="+mn-lt"/>
                <a:ea typeface="+mn-ea"/>
                <a:sym typeface="Symbol" pitchFamily="18" charset="2"/>
              </a:rPr>
              <a:t> 删除</a:t>
            </a:r>
            <a:r>
              <a:rPr lang="en-US" altLang="zh-CN" sz="2000" dirty="0">
                <a:latin typeface="+mn-lt"/>
                <a:ea typeface="+mn-ea"/>
                <a:sym typeface="Symbol" pitchFamily="18" charset="2"/>
              </a:rPr>
              <a:t>C</a:t>
            </a:r>
            <a:r>
              <a:rPr lang="zh-CN" altLang="en-US" sz="2000" dirty="0">
                <a:latin typeface="+mn-lt"/>
                <a:ea typeface="+mn-ea"/>
                <a:sym typeface="Symbol" pitchFamily="18" charset="2"/>
              </a:rPr>
              <a:t>，则得到可能</a:t>
            </a:r>
            <a:r>
              <a:rPr lang="zh-CN" altLang="en-US" sz="2000" dirty="0">
                <a:solidFill>
                  <a:srgbClr val="0000FF"/>
                </a:solidFill>
                <a:latin typeface="+mn-lt"/>
                <a:ea typeface="+mn-ea"/>
                <a:sym typeface="Symbol" pitchFamily="18" charset="2"/>
              </a:rPr>
              <a:t>更弱</a:t>
            </a:r>
            <a:r>
              <a:rPr lang="zh-CN" altLang="en-US" sz="2000" dirty="0">
                <a:latin typeface="+mn-lt"/>
                <a:ea typeface="+mn-ea"/>
                <a:sym typeface="Symbol" pitchFamily="18" charset="2"/>
              </a:rPr>
              <a:t>的结果</a:t>
            </a:r>
            <a:r>
              <a:rPr lang="en-US" altLang="zh-CN" sz="2000" dirty="0">
                <a:latin typeface="+mn-lt"/>
                <a:ea typeface="+mn-ea"/>
                <a:sym typeface="Symbol" pitchFamily="18" charset="2"/>
              </a:rPr>
              <a:t>AB</a:t>
            </a:r>
            <a:r>
              <a:rPr lang="en-US" altLang="zh-CN" sz="2000" dirty="0">
                <a:sym typeface="Symbol" pitchFamily="18" charset="2"/>
              </a:rPr>
              <a:t>→</a:t>
            </a:r>
            <a:r>
              <a:rPr lang="en-US" altLang="zh-CN" sz="2000" dirty="0">
                <a:latin typeface="+mn-lt"/>
                <a:ea typeface="+mn-ea"/>
                <a:sym typeface="Symbol" pitchFamily="18" charset="2"/>
              </a:rPr>
              <a:t>D</a:t>
            </a:r>
            <a:r>
              <a:rPr lang="zh-CN" altLang="en-US" sz="2000" dirty="0">
                <a:latin typeface="+mn-lt"/>
                <a:ea typeface="+mn-ea"/>
                <a:sym typeface="Symbol" pitchFamily="18" charset="2"/>
              </a:rPr>
              <a:t>。它可能</a:t>
            </a:r>
            <a:r>
              <a:rPr lang="zh-CN" altLang="en-US" sz="2000" b="1" dirty="0">
                <a:solidFill>
                  <a:srgbClr val="800080"/>
                </a:solidFill>
                <a:latin typeface="+mn-lt"/>
                <a:ea typeface="+mn-ea"/>
                <a:sym typeface="Symbol" pitchFamily="18" charset="2"/>
              </a:rPr>
              <a:t>更弱</a:t>
            </a:r>
            <a:r>
              <a:rPr lang="zh-CN" altLang="en-US" sz="2000" dirty="0">
                <a:latin typeface="+mn-lt"/>
                <a:ea typeface="+mn-ea"/>
                <a:sym typeface="Symbol" pitchFamily="18" charset="2"/>
              </a:rPr>
              <a:t>是因为</a:t>
            </a:r>
            <a:r>
              <a:rPr lang="zh-CN" altLang="en-US" sz="2000" dirty="0">
                <a:solidFill>
                  <a:srgbClr val="0000FF"/>
                </a:solidFill>
                <a:latin typeface="+mn-lt"/>
                <a:ea typeface="+mn-ea"/>
                <a:sym typeface="Symbol" pitchFamily="18" charset="2"/>
              </a:rPr>
              <a:t>仅使用</a:t>
            </a:r>
            <a:r>
              <a:rPr lang="en-US" altLang="zh-CN" sz="2000" dirty="0">
                <a:solidFill>
                  <a:srgbClr val="0000FF"/>
                </a:solidFill>
                <a:latin typeface="+mn-lt"/>
                <a:ea typeface="+mn-ea"/>
                <a:sym typeface="Symbol" pitchFamily="18" charset="2"/>
              </a:rPr>
              <a:t>AB</a:t>
            </a:r>
            <a:r>
              <a:rPr lang="en-US" altLang="zh-CN" sz="2000" dirty="0">
                <a:solidFill>
                  <a:srgbClr val="0000FF"/>
                </a:solidFill>
                <a:sym typeface="Symbol" pitchFamily="18" charset="2"/>
              </a:rPr>
              <a:t>→</a:t>
            </a:r>
            <a:r>
              <a:rPr lang="en-US" altLang="zh-CN" sz="2000" dirty="0">
                <a:solidFill>
                  <a:srgbClr val="0000FF"/>
                </a:solidFill>
                <a:latin typeface="+mn-lt"/>
                <a:ea typeface="+mn-ea"/>
                <a:sym typeface="Symbol" pitchFamily="18" charset="2"/>
              </a:rPr>
              <a:t>D</a:t>
            </a:r>
            <a:r>
              <a:rPr lang="zh-CN" altLang="en-US" sz="2000" dirty="0">
                <a:latin typeface="+mn-lt"/>
                <a:ea typeface="+mn-ea"/>
                <a:sym typeface="Symbol" pitchFamily="18" charset="2"/>
              </a:rPr>
              <a:t>，我们</a:t>
            </a:r>
            <a:r>
              <a:rPr lang="zh-CN" altLang="en-US" sz="2000" dirty="0">
                <a:solidFill>
                  <a:srgbClr val="0000FF"/>
                </a:solidFill>
                <a:latin typeface="+mn-lt"/>
                <a:ea typeface="+mn-ea"/>
                <a:sym typeface="Symbol" pitchFamily="18" charset="2"/>
              </a:rPr>
              <a:t>可能不再能推断出</a:t>
            </a:r>
            <a:r>
              <a:rPr lang="en-US" altLang="zh-CN" sz="2000" dirty="0">
                <a:solidFill>
                  <a:srgbClr val="0000FF"/>
                </a:solidFill>
                <a:latin typeface="+mn-lt"/>
                <a:ea typeface="+mn-ea"/>
                <a:sym typeface="Symbol" pitchFamily="18" charset="2"/>
              </a:rPr>
              <a:t>AB</a:t>
            </a:r>
            <a:r>
              <a:rPr lang="en-US" altLang="zh-CN" sz="2000" dirty="0">
                <a:solidFill>
                  <a:srgbClr val="0000FF"/>
                </a:solidFill>
                <a:sym typeface="Symbol" pitchFamily="18" charset="2"/>
              </a:rPr>
              <a:t>→</a:t>
            </a:r>
            <a:r>
              <a:rPr lang="en-US" altLang="zh-CN" sz="2000" dirty="0">
                <a:solidFill>
                  <a:srgbClr val="0000FF"/>
                </a:solidFill>
                <a:latin typeface="+mn-lt"/>
                <a:ea typeface="+mn-ea"/>
                <a:sym typeface="Symbol" pitchFamily="18" charset="2"/>
              </a:rPr>
              <a:t>C</a:t>
            </a:r>
            <a:r>
              <a:rPr lang="zh-CN" altLang="en-US" sz="2000" dirty="0">
                <a:latin typeface="+mn-lt"/>
                <a:ea typeface="+mn-ea"/>
                <a:sym typeface="Symbol" pitchFamily="18" charset="2"/>
              </a:rPr>
              <a:t>。</a:t>
            </a:r>
            <a:endParaRPr lang="en-US" altLang="zh-CN" sz="2000" dirty="0">
              <a:latin typeface="+mn-lt"/>
              <a:ea typeface="+mn-ea"/>
              <a:sym typeface="Symbol" pitchFamily="18" charset="2"/>
            </a:endParaRPr>
          </a:p>
          <a:p>
            <a:pPr marL="530225" lvl="1" indent="0" algn="just">
              <a:lnSpc>
                <a:spcPct val="95000"/>
              </a:lnSpc>
              <a:spcBef>
                <a:spcPct val="20000"/>
              </a:spcBef>
              <a:buNone/>
            </a:pPr>
            <a:r>
              <a:rPr lang="zh-CN" altLang="en-US" sz="2000" dirty="0">
                <a:latin typeface="+mn-lt"/>
                <a:ea typeface="+mn-ea"/>
                <a:sym typeface="Symbol" pitchFamily="18" charset="2"/>
              </a:rPr>
              <a:t>但是，根据</a:t>
            </a:r>
            <a:r>
              <a:rPr lang="zh-CN" altLang="en-US" sz="2000" dirty="0">
                <a:solidFill>
                  <a:srgbClr val="0000FF"/>
                </a:solidFill>
                <a:latin typeface="+mn-lt"/>
                <a:ea typeface="+mn-ea"/>
                <a:sym typeface="Symbol" pitchFamily="18" charset="2"/>
              </a:rPr>
              <a:t>已有函数依赖集</a:t>
            </a:r>
            <a:r>
              <a:rPr lang="en-US" altLang="zh-CN" sz="2000" dirty="0">
                <a:solidFill>
                  <a:srgbClr val="0000FF"/>
                </a:solidFill>
                <a:latin typeface="+mn-lt"/>
                <a:ea typeface="+mn-ea"/>
                <a:sym typeface="Symbol" pitchFamily="18" charset="2"/>
              </a:rPr>
              <a:t>F</a:t>
            </a:r>
            <a:r>
              <a:rPr lang="zh-CN" altLang="en-US" sz="2000" dirty="0">
                <a:latin typeface="+mn-lt"/>
                <a:ea typeface="+mn-ea"/>
                <a:sym typeface="Symbol" pitchFamily="18" charset="2"/>
              </a:rPr>
              <a:t>的情況，有可能可以安全地</a:t>
            </a:r>
            <a:r>
              <a:rPr lang="en-US" altLang="zh-CN" sz="2000" dirty="0">
                <a:latin typeface="+mn-lt"/>
                <a:ea typeface="+mn-ea"/>
                <a:sym typeface="Symbol" pitchFamily="18" charset="2"/>
              </a:rPr>
              <a:t>AB</a:t>
            </a:r>
            <a:r>
              <a:rPr lang="en-US" altLang="zh-CN" sz="2000" dirty="0">
                <a:sym typeface="Symbol" pitchFamily="18" charset="2"/>
              </a:rPr>
              <a:t>→</a:t>
            </a:r>
            <a:r>
              <a:rPr lang="en-US" altLang="zh-CN" sz="2000" dirty="0">
                <a:latin typeface="+mn-lt"/>
                <a:ea typeface="+mn-ea"/>
                <a:sym typeface="Symbol" pitchFamily="18" charset="2"/>
              </a:rPr>
              <a:t>CD</a:t>
            </a:r>
            <a:r>
              <a:rPr lang="zh-CN" altLang="en-US" sz="2000" dirty="0">
                <a:latin typeface="+mn-lt"/>
                <a:ea typeface="+mn-ea"/>
                <a:sym typeface="Symbol" pitchFamily="18" charset="2"/>
              </a:rPr>
              <a:t>中删除</a:t>
            </a:r>
            <a:r>
              <a:rPr lang="en-US" altLang="zh-CN" sz="2000" dirty="0">
                <a:latin typeface="+mn-lt"/>
                <a:ea typeface="+mn-ea"/>
                <a:sym typeface="Symbol" pitchFamily="18" charset="2"/>
              </a:rPr>
              <a:t>C</a:t>
            </a:r>
            <a:r>
              <a:rPr lang="zh-CN" altLang="en-US" sz="2000" dirty="0">
                <a:latin typeface="+mn-lt"/>
                <a:ea typeface="+mn-ea"/>
                <a:sym typeface="Symbol" pitchFamily="18" charset="2"/>
              </a:rPr>
              <a:t>。</a:t>
            </a:r>
            <a:endParaRPr lang="en-US" altLang="zh-CN" sz="2000" dirty="0">
              <a:latin typeface="+mn-lt"/>
              <a:ea typeface="+mn-ea"/>
              <a:sym typeface="Symbol" pitchFamily="18" charset="2"/>
            </a:endParaRPr>
          </a:p>
          <a:p>
            <a:pPr marL="530225" lvl="1" indent="0" algn="just">
              <a:lnSpc>
                <a:spcPct val="95000"/>
              </a:lnSpc>
              <a:spcBef>
                <a:spcPct val="20000"/>
              </a:spcBef>
              <a:buNone/>
            </a:pPr>
            <a:r>
              <a:rPr lang="zh-CN" altLang="en-US" sz="2000" b="1" dirty="0">
                <a:latin typeface="+mn-lt"/>
                <a:ea typeface="+mn-ea"/>
                <a:sym typeface="Symbol" pitchFamily="18" charset="2"/>
              </a:rPr>
              <a:t>例如</a:t>
            </a:r>
            <a:r>
              <a:rPr lang="zh-CN" altLang="en-US" sz="2000" dirty="0">
                <a:latin typeface="+mn-lt"/>
                <a:ea typeface="+mn-ea"/>
                <a:sym typeface="Symbol" pitchFamily="18" charset="2"/>
              </a:rPr>
              <a:t>，假设</a:t>
            </a:r>
            <a:r>
              <a:rPr lang="en-US" altLang="zh-CN" sz="2000" dirty="0">
                <a:latin typeface="+mn-lt"/>
                <a:ea typeface="+mn-ea"/>
                <a:sym typeface="Symbol" pitchFamily="18" charset="2"/>
              </a:rPr>
              <a:t>F={AB</a:t>
            </a:r>
            <a:r>
              <a:rPr lang="en-US" altLang="zh-CN" sz="2000" dirty="0">
                <a:sym typeface="Symbol" pitchFamily="18" charset="2"/>
              </a:rPr>
              <a:t>→</a:t>
            </a:r>
            <a:r>
              <a:rPr lang="en-US" altLang="zh-CN" sz="2000" dirty="0">
                <a:latin typeface="+mn-lt"/>
                <a:ea typeface="+mn-ea"/>
                <a:sym typeface="Symbol" pitchFamily="18" charset="2"/>
              </a:rPr>
              <a:t>CD, A</a:t>
            </a:r>
            <a:r>
              <a:rPr lang="en-US" altLang="zh-CN" sz="2000" dirty="0">
                <a:sym typeface="Symbol" pitchFamily="18" charset="2"/>
              </a:rPr>
              <a:t>→</a:t>
            </a:r>
            <a:r>
              <a:rPr lang="en-US" altLang="zh-CN" sz="2000" dirty="0">
                <a:latin typeface="+mn-lt"/>
                <a:ea typeface="+mn-ea"/>
                <a:sym typeface="Symbol" pitchFamily="18" charset="2"/>
              </a:rPr>
              <a:t>C}</a:t>
            </a:r>
            <a:r>
              <a:rPr lang="zh-CN" altLang="en-US" sz="2000" dirty="0">
                <a:latin typeface="+mn-lt"/>
                <a:ea typeface="+mn-ea"/>
                <a:sym typeface="Symbol" pitchFamily="18" charset="2"/>
              </a:rPr>
              <a:t>。那么可以证明，即使用</a:t>
            </a:r>
            <a:r>
              <a:rPr lang="en-US" altLang="zh-CN" sz="2000" dirty="0">
                <a:latin typeface="+mn-lt"/>
                <a:ea typeface="+mn-ea"/>
                <a:sym typeface="Symbol" pitchFamily="18" charset="2"/>
              </a:rPr>
              <a:t>AB</a:t>
            </a:r>
            <a:r>
              <a:rPr lang="en-US" altLang="zh-CN" sz="2000" dirty="0">
                <a:sym typeface="Symbol" pitchFamily="18" charset="2"/>
              </a:rPr>
              <a:t>→</a:t>
            </a:r>
            <a:r>
              <a:rPr lang="en-US" altLang="zh-CN" sz="2000" dirty="0">
                <a:latin typeface="+mn-lt"/>
                <a:ea typeface="+mn-ea"/>
                <a:sym typeface="Symbol" pitchFamily="18" charset="2"/>
              </a:rPr>
              <a:t>D</a:t>
            </a:r>
            <a:r>
              <a:rPr lang="zh-CN" altLang="en-US" sz="2000" dirty="0">
                <a:latin typeface="+mn-lt"/>
                <a:ea typeface="+mn-ea"/>
                <a:sym typeface="Symbol" pitchFamily="18" charset="2"/>
              </a:rPr>
              <a:t>去替换</a:t>
            </a:r>
            <a:r>
              <a:rPr lang="en-US" altLang="zh-CN" sz="2000" dirty="0">
                <a:latin typeface="+mn-lt"/>
                <a:ea typeface="+mn-ea"/>
                <a:sym typeface="Symbol" pitchFamily="18" charset="2"/>
              </a:rPr>
              <a:t>AB</a:t>
            </a:r>
            <a:r>
              <a:rPr lang="en-US" altLang="zh-CN" sz="2000" dirty="0">
                <a:sym typeface="Symbol" pitchFamily="18" charset="2"/>
              </a:rPr>
              <a:t>→</a:t>
            </a:r>
            <a:r>
              <a:rPr lang="en-US" altLang="zh-CN" sz="2000" dirty="0">
                <a:latin typeface="+mn-lt"/>
                <a:ea typeface="+mn-ea"/>
                <a:sym typeface="Symbol" pitchFamily="18" charset="2"/>
              </a:rPr>
              <a:t>CD</a:t>
            </a:r>
            <a:r>
              <a:rPr lang="zh-CN" altLang="en-US" sz="2000" dirty="0">
                <a:latin typeface="+mn-lt"/>
                <a:ea typeface="+mn-ea"/>
                <a:sym typeface="Symbol" pitchFamily="18" charset="2"/>
              </a:rPr>
              <a:t>，仍然可以推断出</a:t>
            </a:r>
            <a:r>
              <a:rPr lang="en-US" altLang="zh-CN" sz="2000" dirty="0">
                <a:latin typeface="+mn-lt"/>
                <a:ea typeface="+mn-ea"/>
                <a:sym typeface="Symbol" pitchFamily="18" charset="2"/>
              </a:rPr>
              <a:t>AB</a:t>
            </a:r>
            <a:r>
              <a:rPr lang="en-US" altLang="zh-CN" sz="2000" dirty="0">
                <a:sym typeface="Symbol" pitchFamily="18" charset="2"/>
              </a:rPr>
              <a:t>→</a:t>
            </a:r>
            <a:r>
              <a:rPr lang="en-US" altLang="zh-CN" sz="2000" dirty="0">
                <a:latin typeface="+mn-lt"/>
                <a:ea typeface="+mn-ea"/>
                <a:sym typeface="Symbol" pitchFamily="18" charset="2"/>
              </a:rPr>
              <a:t>C</a:t>
            </a:r>
            <a:r>
              <a:rPr lang="zh-CN" altLang="en-US" sz="2000" dirty="0">
                <a:latin typeface="+mn-lt"/>
                <a:ea typeface="+mn-ea"/>
                <a:sym typeface="Symbol" pitchFamily="18" charset="2"/>
              </a:rPr>
              <a:t>，并进而推断</a:t>
            </a:r>
            <a:r>
              <a:rPr lang="en-US" altLang="zh-CN" sz="2000" dirty="0">
                <a:latin typeface="+mn-lt"/>
                <a:ea typeface="+mn-ea"/>
                <a:sym typeface="Symbol" pitchFamily="18" charset="2"/>
              </a:rPr>
              <a:t>AB</a:t>
            </a:r>
            <a:r>
              <a:rPr lang="en-US" altLang="zh-CN" sz="2000" dirty="0">
                <a:sym typeface="Symbol" pitchFamily="18" charset="2"/>
              </a:rPr>
              <a:t>→</a:t>
            </a:r>
            <a:r>
              <a:rPr lang="en-US" altLang="zh-CN" sz="2000" dirty="0">
                <a:latin typeface="+mn-lt"/>
                <a:ea typeface="+mn-ea"/>
                <a:sym typeface="Symbol" pitchFamily="18" charset="2"/>
              </a:rPr>
              <a:t>CD</a:t>
            </a:r>
            <a:r>
              <a:rPr lang="zh-CN" altLang="en-US" sz="2000" dirty="0">
                <a:latin typeface="+mn-lt"/>
                <a:ea typeface="+mn-ea"/>
                <a:sym typeface="Symbol" pitchFamily="18" charset="2"/>
              </a:rPr>
              <a:t>。</a:t>
            </a:r>
            <a:r>
              <a:rPr lang="en-US" altLang="zh-CN" sz="2000" dirty="0">
                <a:solidFill>
                  <a:srgbClr val="0000FF"/>
                </a:solidFill>
                <a:latin typeface="+mn-lt"/>
                <a:ea typeface="+mn-ea"/>
                <a:sym typeface="Symbol" pitchFamily="18" charset="2"/>
              </a:rPr>
              <a:t>C</a:t>
            </a:r>
            <a:r>
              <a:rPr lang="zh-CN" altLang="en-US" sz="2000" dirty="0">
                <a:solidFill>
                  <a:srgbClr val="0000FF"/>
                </a:solidFill>
                <a:latin typeface="+mn-lt"/>
                <a:ea typeface="+mn-ea"/>
                <a:sym typeface="Symbol" pitchFamily="18" charset="2"/>
              </a:rPr>
              <a:t>在</a:t>
            </a:r>
            <a:r>
              <a:rPr lang="en-US" altLang="zh-CN" sz="2000" dirty="0">
                <a:solidFill>
                  <a:srgbClr val="0000FF"/>
                </a:solidFill>
                <a:latin typeface="+mn-lt"/>
                <a:ea typeface="+mn-ea"/>
                <a:sym typeface="Symbol" pitchFamily="18" charset="2"/>
              </a:rPr>
              <a:t>AB</a:t>
            </a:r>
            <a:r>
              <a:rPr lang="en-US" altLang="zh-CN" sz="2000" dirty="0">
                <a:solidFill>
                  <a:srgbClr val="0000FF"/>
                </a:solidFill>
                <a:sym typeface="Symbol" pitchFamily="18" charset="2"/>
              </a:rPr>
              <a:t>→</a:t>
            </a:r>
            <a:r>
              <a:rPr lang="en-US" altLang="zh-CN" sz="2000" dirty="0">
                <a:solidFill>
                  <a:srgbClr val="0000FF"/>
                </a:solidFill>
                <a:latin typeface="+mn-lt"/>
                <a:ea typeface="+mn-ea"/>
                <a:sym typeface="Symbol" pitchFamily="18" charset="2"/>
              </a:rPr>
              <a:t>CD</a:t>
            </a:r>
            <a:r>
              <a:rPr lang="zh-CN" altLang="en-US" sz="2000" dirty="0">
                <a:solidFill>
                  <a:srgbClr val="0000FF"/>
                </a:solidFill>
                <a:latin typeface="+mn-lt"/>
                <a:ea typeface="+mn-ea"/>
                <a:sym typeface="Symbol" pitchFamily="18" charset="2"/>
              </a:rPr>
              <a:t>中无关</a:t>
            </a:r>
            <a:r>
              <a:rPr lang="zh-CN" altLang="en-US" sz="2000" dirty="0">
                <a:latin typeface="+mn-lt"/>
                <a:ea typeface="+mn-ea"/>
                <a:sym typeface="Symbol" pitchFamily="18" charset="2"/>
              </a:rPr>
              <a:t>的。</a:t>
            </a:r>
          </a:p>
        </p:txBody>
      </p:sp>
    </p:spTree>
    <p:extLst>
      <p:ext uri="{BB962C8B-B14F-4D97-AF65-F5344CB8AC3E}">
        <p14:creationId xmlns:p14="http://schemas.microsoft.com/office/powerpoint/2010/main" val="16243293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3FD2A5-7304-4391-8EEA-C5548572C749}" type="datetime1">
              <a:rPr lang="zh-CN" altLang="en-US" smtClean="0"/>
              <a:t>2025/11/6</a:t>
            </a:fld>
            <a:endParaRPr lang="en-US" altLang="zh-CN"/>
          </a:p>
        </p:txBody>
      </p:sp>
      <p:sp>
        <p:nvSpPr>
          <p:cNvPr id="320514" name="Rectangle 2"/>
          <p:cNvSpPr>
            <a:spLocks noGrp="1" noChangeArrowheads="1"/>
          </p:cNvSpPr>
          <p:nvPr>
            <p:ph type="title"/>
          </p:nvPr>
        </p:nvSpPr>
        <p:spPr/>
        <p:txBody>
          <a:bodyPr/>
          <a:lstStyle/>
          <a:p>
            <a:r>
              <a:rPr lang="en-US" altLang="zh-CN" dirty="0"/>
              <a:t>8.3 </a:t>
            </a:r>
            <a:r>
              <a:rPr lang="zh-CN" altLang="en-US" dirty="0"/>
              <a:t>数据依赖公理系统</a:t>
            </a:r>
            <a:r>
              <a:rPr lang="en-US" altLang="zh-CN" dirty="0"/>
              <a:t>(</a:t>
            </a:r>
            <a:r>
              <a:rPr lang="zh-CN" altLang="en-US" dirty="0"/>
              <a:t>教材</a:t>
            </a:r>
            <a:r>
              <a:rPr lang="en-US" altLang="zh-CN" dirty="0"/>
              <a:t>8.4.3 </a:t>
            </a:r>
            <a:r>
              <a:rPr lang="zh-CN" altLang="en-US" dirty="0"/>
              <a:t>正则覆盖</a:t>
            </a:r>
            <a:r>
              <a:rPr lang="en-US" altLang="zh-CN" dirty="0"/>
              <a:t>)</a:t>
            </a:r>
            <a:endParaRPr lang="zh-CN" altLang="en-US" dirty="0"/>
          </a:p>
        </p:txBody>
      </p:sp>
      <p:sp>
        <p:nvSpPr>
          <p:cNvPr id="5" name="页脚占位符 4">
            <a:extLst>
              <a:ext uri="{FF2B5EF4-FFF2-40B4-BE49-F238E27FC236}">
                <a16:creationId xmlns:a16="http://schemas.microsoft.com/office/drawing/2014/main" id="{81304C0B-0A86-3D42-5338-00986794478F}"/>
              </a:ext>
            </a:extLst>
          </p:cNvPr>
          <p:cNvSpPr>
            <a:spLocks noGrp="1"/>
          </p:cNvSpPr>
          <p:nvPr>
            <p:ph type="ftr" sz="quarter" idx="11"/>
          </p:nvPr>
        </p:nvSpPr>
        <p:spPr/>
        <p:txBody>
          <a:bodyPr/>
          <a:lstStyle/>
          <a:p>
            <a:r>
              <a:rPr lang="en-US" altLang="zh-CN" dirty="0"/>
              <a:t>《</a:t>
            </a:r>
            <a:r>
              <a:rPr lang="en-US" altLang="zh-CN" dirty="0" err="1"/>
              <a:t>数据库系统概论</a:t>
            </a:r>
            <a:r>
              <a:rPr lang="en-US" altLang="zh-CN" dirty="0"/>
              <a:t>》- 第6章</a:t>
            </a:r>
          </a:p>
        </p:txBody>
      </p:sp>
      <p:sp>
        <p:nvSpPr>
          <p:cNvPr id="6" name="灯片编号占位符 5">
            <a:extLst>
              <a:ext uri="{FF2B5EF4-FFF2-40B4-BE49-F238E27FC236}">
                <a16:creationId xmlns:a16="http://schemas.microsoft.com/office/drawing/2014/main" id="{FF295A44-681E-6C89-D78F-6E8EB0037654}"/>
              </a:ext>
            </a:extLst>
          </p:cNvPr>
          <p:cNvSpPr>
            <a:spLocks noGrp="1"/>
          </p:cNvSpPr>
          <p:nvPr>
            <p:ph type="sldNum" sz="quarter" idx="12"/>
          </p:nvPr>
        </p:nvSpPr>
        <p:spPr/>
        <p:txBody>
          <a:bodyPr/>
          <a:lstStyle/>
          <a:p>
            <a:fld id="{A2D74603-B40B-4D66-8F6E-41C870D48932}" type="slidenum">
              <a:rPr lang="en-US" altLang="zh-CN" smtClean="0"/>
              <a:pPr/>
              <a:t>126</a:t>
            </a:fld>
            <a:r>
              <a:rPr lang="en-US" altLang="zh-CN"/>
              <a:t>/162</a:t>
            </a:r>
            <a:endParaRPr lang="en-US" altLang="zh-CN" dirty="0"/>
          </a:p>
        </p:txBody>
      </p:sp>
      <p:sp>
        <p:nvSpPr>
          <p:cNvPr id="3" name="Rectangle 6">
            <a:extLst>
              <a:ext uri="{FF2B5EF4-FFF2-40B4-BE49-F238E27FC236}">
                <a16:creationId xmlns:a16="http://schemas.microsoft.com/office/drawing/2014/main" id="{001AC1E8-89A0-8966-0001-7428DE50304E}"/>
              </a:ext>
            </a:extLst>
          </p:cNvPr>
          <p:cNvSpPr>
            <a:spLocks noGrp="1" noChangeArrowheads="1"/>
          </p:cNvSpPr>
          <p:nvPr>
            <p:ph idx="1"/>
          </p:nvPr>
        </p:nvSpPr>
        <p:spPr bwMode="auto">
          <a:xfrm>
            <a:off x="609600" y="1447800"/>
            <a:ext cx="8105774" cy="5253038"/>
          </a:xfrm>
          <a:prstGeom prst="rect">
            <a:avLst/>
          </a:prstGeom>
          <a:solidFill>
            <a:schemeClr val="bg1"/>
          </a:solidFill>
          <a:ln>
            <a:noFill/>
          </a:ln>
          <a:effectLst/>
        </p:spPr>
        <p:txBody>
          <a:bodyPr wrap="square">
            <a:noAutofit/>
          </a:bodyPr>
          <a:lstStyle>
            <a:lvl1pPr marL="292100" indent="-292100" algn="l">
              <a:spcBef>
                <a:spcPct val="0"/>
              </a:spcBef>
              <a:defRPr kumimoji="1" sz="2400">
                <a:solidFill>
                  <a:schemeClr val="tx1"/>
                </a:solidFill>
                <a:latin typeface="Times New Roman" pitchFamily="18" charset="0"/>
                <a:ea typeface="宋体" charset="-122"/>
              </a:defRPr>
            </a:lvl1pPr>
            <a:lvl2pPr marL="758825" indent="-276225" algn="l">
              <a:spcBef>
                <a:spcPct val="0"/>
              </a:spcBef>
              <a:defRPr kumimoji="1" sz="2400">
                <a:solidFill>
                  <a:schemeClr val="tx1"/>
                </a:solidFill>
                <a:latin typeface="Times New Roman" pitchFamily="18" charset="0"/>
                <a:ea typeface="宋体" charset="-122"/>
              </a:defRPr>
            </a:lvl2pPr>
            <a:lvl3pPr marL="949325" algn="l">
              <a:spcBef>
                <a:spcPct val="0"/>
              </a:spcBef>
              <a:defRPr kumimoji="1" sz="2400">
                <a:solidFill>
                  <a:schemeClr val="tx1"/>
                </a:solidFill>
                <a:latin typeface="Times New Roman" pitchFamily="18" charset="0"/>
                <a:ea typeface="宋体" charset="-122"/>
              </a:defRPr>
            </a:lvl3pPr>
            <a:lvl4pPr algn="l">
              <a:spcBef>
                <a:spcPct val="0"/>
              </a:spcBef>
              <a:defRPr kumimoji="1" sz="2400">
                <a:solidFill>
                  <a:schemeClr val="tx1"/>
                </a:solidFill>
                <a:latin typeface="Times New Roman" pitchFamily="18" charset="0"/>
                <a:ea typeface="宋体" charset="-122"/>
              </a:defRPr>
            </a:lvl4pPr>
            <a:lvl5pPr algn="l">
              <a:spcBef>
                <a:spcPct val="0"/>
              </a:spcBef>
              <a:defRPr kumimoji="1" sz="2400">
                <a:solidFill>
                  <a:schemeClr val="tx1"/>
                </a:solidFill>
                <a:latin typeface="Times New Roman" pitchFamily="18" charset="0"/>
                <a:ea typeface="宋体" charset="-122"/>
              </a:defRPr>
            </a:lvl5pPr>
            <a:lvl6pPr fontAlgn="base">
              <a:spcBef>
                <a:spcPct val="0"/>
              </a:spcBef>
              <a:spcAft>
                <a:spcPct val="0"/>
              </a:spcAft>
              <a:defRPr kumimoji="1" sz="2400">
                <a:solidFill>
                  <a:schemeClr val="tx1"/>
                </a:solidFill>
                <a:latin typeface="Times New Roman" pitchFamily="18" charset="0"/>
                <a:ea typeface="宋体" charset="-122"/>
              </a:defRPr>
            </a:lvl6pPr>
            <a:lvl7pPr fontAlgn="base">
              <a:spcBef>
                <a:spcPct val="0"/>
              </a:spcBef>
              <a:spcAft>
                <a:spcPct val="0"/>
              </a:spcAft>
              <a:defRPr kumimoji="1" sz="2400">
                <a:solidFill>
                  <a:schemeClr val="tx1"/>
                </a:solidFill>
                <a:latin typeface="Times New Roman" pitchFamily="18" charset="0"/>
                <a:ea typeface="宋体" charset="-122"/>
              </a:defRPr>
            </a:lvl7pPr>
            <a:lvl8pPr fontAlgn="base">
              <a:spcBef>
                <a:spcPct val="0"/>
              </a:spcBef>
              <a:spcAft>
                <a:spcPct val="0"/>
              </a:spcAft>
              <a:defRPr kumimoji="1" sz="2400">
                <a:solidFill>
                  <a:schemeClr val="tx1"/>
                </a:solidFill>
                <a:latin typeface="Times New Roman" pitchFamily="18" charset="0"/>
                <a:ea typeface="宋体" charset="-122"/>
              </a:defRPr>
            </a:lvl8pPr>
            <a:lvl9pPr fontAlgn="base">
              <a:spcBef>
                <a:spcPct val="0"/>
              </a:spcBef>
              <a:spcAft>
                <a:spcPct val="0"/>
              </a:spcAft>
              <a:defRPr kumimoji="1" sz="2400">
                <a:solidFill>
                  <a:schemeClr val="tx1"/>
                </a:solidFill>
                <a:latin typeface="Times New Roman" pitchFamily="18" charset="0"/>
                <a:ea typeface="宋体" charset="-122"/>
              </a:defRPr>
            </a:lvl9pPr>
          </a:lstStyle>
          <a:p>
            <a:pPr algn="just">
              <a:lnSpc>
                <a:spcPct val="95000"/>
              </a:lnSpc>
              <a:spcBef>
                <a:spcPct val="20000"/>
              </a:spcBef>
              <a:buSzPct val="55000"/>
            </a:pPr>
            <a:r>
              <a:rPr lang="zh-CN" altLang="en-US" sz="3000" dirty="0">
                <a:solidFill>
                  <a:srgbClr val="0000FF"/>
                </a:solidFill>
                <a:sym typeface="Symbol" pitchFamily="18" charset="2"/>
              </a:rPr>
              <a:t>无关属性</a:t>
            </a:r>
            <a:r>
              <a:rPr lang="en-US" altLang="zh-CN" sz="3000" dirty="0">
                <a:sym typeface="Symbol" pitchFamily="18" charset="2"/>
              </a:rPr>
              <a:t>(extraneous attribute)</a:t>
            </a:r>
            <a:r>
              <a:rPr lang="zh-CN" altLang="en-US" sz="3000" dirty="0">
                <a:sym typeface="Symbol" pitchFamily="18" charset="2"/>
              </a:rPr>
              <a:t>，考虑一个函数依赖集</a:t>
            </a:r>
            <a:r>
              <a:rPr lang="en-US" altLang="zh-CN" sz="3000" dirty="0">
                <a:solidFill>
                  <a:srgbClr val="0000FF"/>
                </a:solidFill>
                <a:sym typeface="Symbol" pitchFamily="18" charset="2"/>
              </a:rPr>
              <a:t>F</a:t>
            </a:r>
            <a:r>
              <a:rPr lang="zh-CN" altLang="en-US" sz="3000" dirty="0">
                <a:sym typeface="Symbol" pitchFamily="18" charset="2"/>
              </a:rPr>
              <a:t>以及其中的一个函数依赖</a:t>
            </a:r>
            <a:r>
              <a:rPr lang="en-US" altLang="zh-CN" sz="3000" dirty="0">
                <a:solidFill>
                  <a:srgbClr val="0000FF"/>
                </a:solidFill>
                <a:sym typeface="Symbol" pitchFamily="18" charset="2"/>
              </a:rPr>
              <a:t>X→Y</a:t>
            </a:r>
            <a:r>
              <a:rPr lang="zh-CN" altLang="en-US" sz="3000" dirty="0">
                <a:sym typeface="Symbol" pitchFamily="18" charset="2"/>
              </a:rPr>
              <a:t>，</a:t>
            </a:r>
            <a:endParaRPr lang="en-US" altLang="zh-CN" sz="3000" dirty="0">
              <a:sym typeface="Symbol" pitchFamily="18" charset="2"/>
            </a:endParaRPr>
          </a:p>
          <a:p>
            <a:pPr lvl="1" algn="just">
              <a:lnSpc>
                <a:spcPct val="95000"/>
              </a:lnSpc>
              <a:spcBef>
                <a:spcPct val="20000"/>
              </a:spcBef>
            </a:pPr>
            <a:r>
              <a:rPr lang="zh-CN" altLang="en-US" b="1" dirty="0">
                <a:sym typeface="Symbol" pitchFamily="18" charset="2"/>
              </a:rPr>
              <a:t>从</a:t>
            </a:r>
            <a:r>
              <a:rPr lang="zh-CN" altLang="en-US" b="1" u="sng" dirty="0">
                <a:effectLst>
                  <a:outerShdw blurRad="38100" dist="38100" dir="2700000" algn="tl">
                    <a:srgbClr val="000000">
                      <a:alpha val="43137"/>
                    </a:srgbClr>
                  </a:outerShdw>
                </a:effectLst>
                <a:latin typeface="+mn-lt"/>
                <a:ea typeface="+mn-ea"/>
                <a:sym typeface="Symbol" pitchFamily="18" charset="2"/>
              </a:rPr>
              <a:t>左侧</a:t>
            </a:r>
            <a:r>
              <a:rPr lang="zh-CN" altLang="en-US" b="1" dirty="0">
                <a:sym typeface="Symbol" pitchFamily="18" charset="2"/>
              </a:rPr>
              <a:t>移除</a:t>
            </a:r>
            <a:r>
              <a:rPr lang="zh-CN" altLang="en-US" dirty="0">
                <a:sym typeface="Symbol" pitchFamily="18" charset="2"/>
              </a:rPr>
              <a:t>：如果</a:t>
            </a:r>
            <a:r>
              <a:rPr lang="en-US" altLang="zh-CN" dirty="0">
                <a:sym typeface="Symbol" pitchFamily="18" charset="2"/>
              </a:rPr>
              <a:t>A</a:t>
            </a:r>
            <a:r>
              <a:rPr lang="en-US" altLang="zh-CN" dirty="0">
                <a:solidFill>
                  <a:srgbClr val="000080"/>
                </a:solidFill>
                <a:sym typeface="Symbol" pitchFamily="18" charset="2"/>
              </a:rPr>
              <a:t></a:t>
            </a:r>
            <a:r>
              <a:rPr lang="en-US" altLang="zh-CN" dirty="0">
                <a:solidFill>
                  <a:srgbClr val="0000FF"/>
                </a:solidFill>
                <a:sym typeface="Symbol" pitchFamily="18" charset="2"/>
              </a:rPr>
              <a:t>X</a:t>
            </a:r>
            <a:r>
              <a:rPr lang="zh-CN" altLang="en-US" dirty="0">
                <a:solidFill>
                  <a:srgbClr val="000080"/>
                </a:solidFill>
                <a:sym typeface="Symbol" pitchFamily="18" charset="2"/>
              </a:rPr>
              <a:t>，</a:t>
            </a:r>
            <a:r>
              <a:rPr lang="zh-CN" altLang="en-US" dirty="0">
                <a:sym typeface="Symbol" pitchFamily="18" charset="2"/>
              </a:rPr>
              <a:t>并且</a:t>
            </a:r>
            <a:r>
              <a:rPr lang="en-US" altLang="zh-CN" dirty="0">
                <a:solidFill>
                  <a:srgbClr val="0000FF"/>
                </a:solidFill>
                <a:sym typeface="Symbol" pitchFamily="18" charset="2"/>
              </a:rPr>
              <a:t>F</a:t>
            </a:r>
            <a:r>
              <a:rPr lang="zh-CN" altLang="en-US" dirty="0">
                <a:sym typeface="Symbol" pitchFamily="18" charset="2"/>
              </a:rPr>
              <a:t>逻辑蕴涵</a:t>
            </a:r>
            <a:r>
              <a:rPr lang="en-US" altLang="zh-CN" dirty="0">
                <a:solidFill>
                  <a:srgbClr val="000080"/>
                </a:solidFill>
                <a:sym typeface="Symbol" pitchFamily="18" charset="2"/>
              </a:rPr>
              <a:t>(F-{</a:t>
            </a:r>
            <a:r>
              <a:rPr lang="en-US" altLang="zh-CN" dirty="0">
                <a:sym typeface="Symbol" pitchFamily="18" charset="2"/>
              </a:rPr>
              <a:t>X→Y</a:t>
            </a:r>
            <a:r>
              <a:rPr lang="en-US" altLang="zh-CN" dirty="0">
                <a:solidFill>
                  <a:srgbClr val="000080"/>
                </a:solidFill>
                <a:sym typeface="Symbol" pitchFamily="18" charset="2"/>
              </a:rPr>
              <a:t>}) </a:t>
            </a:r>
            <a:r>
              <a:rPr lang="en-US" altLang="zh-CN" dirty="0">
                <a:solidFill>
                  <a:srgbClr val="0000FF"/>
                </a:solidFill>
              </a:rPr>
              <a:t>∪</a:t>
            </a:r>
            <a:r>
              <a:rPr lang="en-US" altLang="zh-CN" dirty="0">
                <a:solidFill>
                  <a:srgbClr val="000080"/>
                </a:solidFill>
                <a:sym typeface="Symbol" pitchFamily="18" charset="2"/>
              </a:rPr>
              <a:t>{(</a:t>
            </a:r>
            <a:r>
              <a:rPr lang="en-US" altLang="zh-CN" dirty="0">
                <a:sym typeface="Symbol" pitchFamily="18" charset="2"/>
              </a:rPr>
              <a:t>X-A)→Y</a:t>
            </a:r>
            <a:r>
              <a:rPr lang="en-US" altLang="zh-CN" dirty="0">
                <a:solidFill>
                  <a:srgbClr val="000080"/>
                </a:solidFill>
                <a:sym typeface="Symbol" pitchFamily="18" charset="2"/>
              </a:rPr>
              <a:t>}</a:t>
            </a:r>
            <a:r>
              <a:rPr lang="zh-CN" altLang="en-US" dirty="0">
                <a:solidFill>
                  <a:srgbClr val="000080"/>
                </a:solidFill>
                <a:sym typeface="Symbol" pitchFamily="18" charset="2"/>
              </a:rPr>
              <a:t>，</a:t>
            </a:r>
            <a:r>
              <a:rPr lang="zh-CN" altLang="en-US" dirty="0">
                <a:sym typeface="Symbol" pitchFamily="18" charset="2"/>
              </a:rPr>
              <a:t>则</a:t>
            </a:r>
            <a:r>
              <a:rPr lang="en-US" altLang="zh-CN" dirty="0">
                <a:solidFill>
                  <a:srgbClr val="FF0000"/>
                </a:solidFill>
                <a:sym typeface="Symbol" pitchFamily="18" charset="2"/>
              </a:rPr>
              <a:t>A</a:t>
            </a:r>
            <a:r>
              <a:rPr lang="zh-CN" altLang="en-US" dirty="0">
                <a:solidFill>
                  <a:srgbClr val="FF0000"/>
                </a:solidFill>
                <a:sym typeface="Symbol" pitchFamily="18" charset="2"/>
              </a:rPr>
              <a:t>在</a:t>
            </a:r>
            <a:r>
              <a:rPr lang="en-US" altLang="zh-CN" dirty="0">
                <a:solidFill>
                  <a:srgbClr val="FF0000"/>
                </a:solidFill>
                <a:sym typeface="Symbol" pitchFamily="18" charset="2"/>
              </a:rPr>
              <a:t>X</a:t>
            </a:r>
            <a:r>
              <a:rPr lang="zh-CN" altLang="en-US" dirty="0">
                <a:solidFill>
                  <a:srgbClr val="FF0000"/>
                </a:solidFill>
                <a:sym typeface="Symbol" pitchFamily="18" charset="2"/>
              </a:rPr>
              <a:t>中是无关的</a:t>
            </a:r>
            <a:r>
              <a:rPr lang="zh-CN" altLang="en-US" dirty="0">
                <a:solidFill>
                  <a:srgbClr val="000080"/>
                </a:solidFill>
                <a:sym typeface="Symbol" pitchFamily="18" charset="2"/>
              </a:rPr>
              <a:t>；</a:t>
            </a:r>
            <a:endParaRPr lang="en-US" altLang="zh-CN" dirty="0">
              <a:sym typeface="Symbol" pitchFamily="18" charset="2"/>
            </a:endParaRPr>
          </a:p>
          <a:p>
            <a:pPr lvl="1" algn="just">
              <a:lnSpc>
                <a:spcPct val="95000"/>
              </a:lnSpc>
              <a:spcBef>
                <a:spcPct val="20000"/>
              </a:spcBef>
              <a:spcAft>
                <a:spcPts val="600"/>
              </a:spcAft>
            </a:pPr>
            <a:r>
              <a:rPr lang="zh-CN" altLang="en-US" b="1" dirty="0">
                <a:latin typeface="+mn-lt"/>
                <a:ea typeface="+mn-ea"/>
                <a:sym typeface="Symbol" pitchFamily="18" charset="2"/>
              </a:rPr>
              <a:t>从</a:t>
            </a:r>
            <a:r>
              <a:rPr lang="zh-CN" altLang="en-US" b="1" u="sng" dirty="0">
                <a:effectLst>
                  <a:outerShdw blurRad="38100" dist="38100" dir="2700000" algn="tl">
                    <a:srgbClr val="000000">
                      <a:alpha val="43137"/>
                    </a:srgbClr>
                  </a:outerShdw>
                </a:effectLst>
                <a:latin typeface="+mn-lt"/>
                <a:ea typeface="+mn-ea"/>
                <a:sym typeface="Symbol" pitchFamily="18" charset="2"/>
              </a:rPr>
              <a:t>右侧</a:t>
            </a:r>
            <a:r>
              <a:rPr lang="zh-CN" altLang="en-US" b="1" dirty="0">
                <a:latin typeface="+mn-lt"/>
                <a:ea typeface="+mn-ea"/>
                <a:sym typeface="Symbol" pitchFamily="18" charset="2"/>
              </a:rPr>
              <a:t>移除</a:t>
            </a:r>
            <a:r>
              <a:rPr lang="zh-CN" altLang="en-US" dirty="0">
                <a:latin typeface="+mn-lt"/>
                <a:ea typeface="+mn-ea"/>
                <a:sym typeface="Symbol" pitchFamily="18" charset="2"/>
              </a:rPr>
              <a:t>：如果</a:t>
            </a:r>
            <a:r>
              <a:rPr lang="en-US" altLang="zh-CN" dirty="0">
                <a:latin typeface="+mn-lt"/>
                <a:ea typeface="+mn-ea"/>
                <a:sym typeface="Symbol" pitchFamily="18" charset="2"/>
              </a:rPr>
              <a:t>A</a:t>
            </a:r>
            <a:r>
              <a:rPr lang="en-US" altLang="zh-CN" dirty="0">
                <a:solidFill>
                  <a:srgbClr val="000080"/>
                </a:solidFill>
                <a:sym typeface="Symbol" pitchFamily="18" charset="2"/>
              </a:rPr>
              <a:t></a:t>
            </a:r>
            <a:r>
              <a:rPr lang="en-US" altLang="zh-CN" dirty="0">
                <a:solidFill>
                  <a:srgbClr val="0000FF"/>
                </a:solidFill>
                <a:sym typeface="Symbol" pitchFamily="18" charset="2"/>
              </a:rPr>
              <a:t>Y</a:t>
            </a:r>
            <a:r>
              <a:rPr lang="zh-CN" altLang="en-US" dirty="0">
                <a:solidFill>
                  <a:srgbClr val="000080"/>
                </a:solidFill>
                <a:sym typeface="Symbol" pitchFamily="18" charset="2"/>
              </a:rPr>
              <a:t>，</a:t>
            </a:r>
            <a:r>
              <a:rPr lang="zh-CN" altLang="en-US" dirty="0">
                <a:sym typeface="Symbol" pitchFamily="18" charset="2"/>
              </a:rPr>
              <a:t>并且</a:t>
            </a:r>
            <a:r>
              <a:rPr lang="zh-CN" altLang="en-US" dirty="0">
                <a:solidFill>
                  <a:srgbClr val="0000FF"/>
                </a:solidFill>
                <a:sym typeface="Symbol" pitchFamily="18" charset="2"/>
              </a:rPr>
              <a:t>函数依赖集</a:t>
            </a:r>
            <a:r>
              <a:rPr lang="en-US" altLang="zh-CN" dirty="0">
                <a:sym typeface="Symbol" pitchFamily="18" charset="2"/>
              </a:rPr>
              <a:t>(</a:t>
            </a:r>
            <a:r>
              <a:rPr lang="en-US" altLang="zh-CN" dirty="0">
                <a:solidFill>
                  <a:srgbClr val="000080"/>
                </a:solidFill>
                <a:sym typeface="Symbol" pitchFamily="18" charset="2"/>
              </a:rPr>
              <a:t>F-{</a:t>
            </a:r>
            <a:r>
              <a:rPr lang="en-US" altLang="zh-CN" dirty="0">
                <a:sym typeface="Symbol" pitchFamily="18" charset="2"/>
              </a:rPr>
              <a:t>X→Y</a:t>
            </a:r>
            <a:r>
              <a:rPr lang="en-US" altLang="zh-CN" dirty="0">
                <a:solidFill>
                  <a:srgbClr val="000080"/>
                </a:solidFill>
                <a:sym typeface="Symbol" pitchFamily="18" charset="2"/>
              </a:rPr>
              <a:t>}) </a:t>
            </a:r>
            <a:r>
              <a:rPr lang="en-US" altLang="zh-CN" dirty="0">
                <a:solidFill>
                  <a:srgbClr val="0000FF"/>
                </a:solidFill>
              </a:rPr>
              <a:t>∪</a:t>
            </a:r>
            <a:r>
              <a:rPr lang="en-US" altLang="zh-CN" dirty="0">
                <a:solidFill>
                  <a:srgbClr val="000080"/>
                </a:solidFill>
                <a:sym typeface="Symbol" pitchFamily="18" charset="2"/>
              </a:rPr>
              <a:t>{</a:t>
            </a:r>
            <a:r>
              <a:rPr lang="en-US" altLang="zh-CN" dirty="0">
                <a:sym typeface="Symbol" pitchFamily="18" charset="2"/>
              </a:rPr>
              <a:t>X→(Y-A)</a:t>
            </a:r>
            <a:r>
              <a:rPr lang="en-US" altLang="zh-CN" dirty="0">
                <a:solidFill>
                  <a:srgbClr val="000080"/>
                </a:solidFill>
                <a:sym typeface="Symbol" pitchFamily="18" charset="2"/>
              </a:rPr>
              <a:t>}</a:t>
            </a:r>
            <a:r>
              <a:rPr lang="zh-CN" altLang="en-US" dirty="0">
                <a:solidFill>
                  <a:srgbClr val="000080"/>
                </a:solidFill>
                <a:sym typeface="Symbol" pitchFamily="18" charset="2"/>
              </a:rPr>
              <a:t>逻辑蕴涵</a:t>
            </a:r>
            <a:r>
              <a:rPr lang="en-US" altLang="zh-CN" dirty="0">
                <a:solidFill>
                  <a:srgbClr val="0000FF"/>
                </a:solidFill>
                <a:sym typeface="Symbol" pitchFamily="18" charset="2"/>
              </a:rPr>
              <a:t>F</a:t>
            </a:r>
            <a:r>
              <a:rPr lang="zh-CN" altLang="en-US" dirty="0">
                <a:solidFill>
                  <a:srgbClr val="000080"/>
                </a:solidFill>
                <a:sym typeface="Symbol" pitchFamily="18" charset="2"/>
              </a:rPr>
              <a:t>，则</a:t>
            </a:r>
            <a:r>
              <a:rPr lang="en-US" altLang="zh-CN" dirty="0">
                <a:solidFill>
                  <a:srgbClr val="000080"/>
                </a:solidFill>
                <a:sym typeface="Symbol" pitchFamily="18" charset="2"/>
              </a:rPr>
              <a:t>A</a:t>
            </a:r>
            <a:r>
              <a:rPr lang="zh-CN" altLang="en-US" dirty="0">
                <a:solidFill>
                  <a:srgbClr val="FF0000"/>
                </a:solidFill>
                <a:sym typeface="Symbol" pitchFamily="18" charset="2"/>
              </a:rPr>
              <a:t>在</a:t>
            </a:r>
            <a:r>
              <a:rPr lang="en-US" altLang="zh-CN" dirty="0">
                <a:solidFill>
                  <a:srgbClr val="FF0000"/>
                </a:solidFill>
                <a:sym typeface="Symbol" pitchFamily="18" charset="2"/>
              </a:rPr>
              <a:t>Y</a:t>
            </a:r>
            <a:r>
              <a:rPr lang="zh-CN" altLang="en-US" dirty="0">
                <a:solidFill>
                  <a:srgbClr val="FF0000"/>
                </a:solidFill>
                <a:sym typeface="Symbol" pitchFamily="18" charset="2"/>
              </a:rPr>
              <a:t>中是无关的</a:t>
            </a:r>
            <a:r>
              <a:rPr lang="zh-CN" altLang="en-US" dirty="0">
                <a:solidFill>
                  <a:srgbClr val="000080"/>
                </a:solidFill>
                <a:sym typeface="Symbol" pitchFamily="18" charset="2"/>
              </a:rPr>
              <a:t>；</a:t>
            </a:r>
            <a:endParaRPr lang="en-US" altLang="zh-CN" dirty="0">
              <a:solidFill>
                <a:srgbClr val="000080"/>
              </a:solidFill>
              <a:sym typeface="Symbol" pitchFamily="18" charset="2"/>
            </a:endParaRPr>
          </a:p>
          <a:p>
            <a:pPr marL="530225" lvl="1" indent="0" algn="just">
              <a:lnSpc>
                <a:spcPct val="95000"/>
              </a:lnSpc>
              <a:spcBef>
                <a:spcPct val="20000"/>
              </a:spcBef>
              <a:buNone/>
            </a:pPr>
            <a:r>
              <a:rPr lang="zh-CN" altLang="en-US" sz="2000" b="1" dirty="0">
                <a:solidFill>
                  <a:schemeClr val="bg1">
                    <a:lumMod val="50000"/>
                  </a:schemeClr>
                </a:solidFill>
                <a:latin typeface="+mn-lt"/>
                <a:ea typeface="+mn-ea"/>
                <a:sym typeface="Symbol" pitchFamily="18" charset="2"/>
              </a:rPr>
              <a:t>例如</a:t>
            </a:r>
            <a:r>
              <a:rPr lang="zh-CN" altLang="en-US" sz="2000" dirty="0">
                <a:solidFill>
                  <a:schemeClr val="bg1">
                    <a:lumMod val="50000"/>
                  </a:schemeClr>
                </a:solidFill>
                <a:latin typeface="+mn-lt"/>
                <a:ea typeface="+mn-ea"/>
                <a:sym typeface="Symbol" pitchFamily="18" charset="2"/>
              </a:rPr>
              <a:t>，假设</a:t>
            </a:r>
            <a:r>
              <a:rPr lang="en-US" altLang="zh-CN" sz="2000" dirty="0">
                <a:solidFill>
                  <a:schemeClr val="bg1">
                    <a:lumMod val="50000"/>
                  </a:schemeClr>
                </a:solidFill>
                <a:latin typeface="+mn-lt"/>
                <a:ea typeface="+mn-ea"/>
                <a:sym typeface="Symbol" pitchFamily="18" charset="2"/>
              </a:rPr>
              <a:t>F={AB</a:t>
            </a:r>
            <a:r>
              <a:rPr lang="en-US" altLang="zh-CN" sz="2000" dirty="0">
                <a:solidFill>
                  <a:schemeClr val="bg1">
                    <a:lumMod val="50000"/>
                  </a:schemeClr>
                </a:solidFill>
                <a:sym typeface="Symbol" pitchFamily="18" charset="2"/>
              </a:rPr>
              <a:t>→</a:t>
            </a:r>
            <a:r>
              <a:rPr lang="en-US" altLang="zh-CN" sz="2000" dirty="0">
                <a:solidFill>
                  <a:schemeClr val="bg1">
                    <a:lumMod val="50000"/>
                  </a:schemeClr>
                </a:solidFill>
                <a:latin typeface="+mn-lt"/>
                <a:ea typeface="+mn-ea"/>
                <a:sym typeface="Symbol" pitchFamily="18" charset="2"/>
              </a:rPr>
              <a:t>CD, A</a:t>
            </a:r>
            <a:r>
              <a:rPr lang="en-US" altLang="zh-CN" sz="2000" dirty="0">
                <a:solidFill>
                  <a:schemeClr val="bg1">
                    <a:lumMod val="50000"/>
                  </a:schemeClr>
                </a:solidFill>
                <a:sym typeface="Symbol" pitchFamily="18" charset="2"/>
              </a:rPr>
              <a:t>→</a:t>
            </a:r>
            <a:r>
              <a:rPr lang="en-US" altLang="zh-CN" sz="2000" dirty="0">
                <a:solidFill>
                  <a:schemeClr val="bg1">
                    <a:lumMod val="50000"/>
                  </a:schemeClr>
                </a:solidFill>
                <a:latin typeface="+mn-lt"/>
                <a:ea typeface="+mn-ea"/>
                <a:sym typeface="Symbol" pitchFamily="18" charset="2"/>
              </a:rPr>
              <a:t>C}</a:t>
            </a:r>
            <a:r>
              <a:rPr lang="zh-CN" altLang="en-US" sz="2000" dirty="0">
                <a:solidFill>
                  <a:schemeClr val="bg1">
                    <a:lumMod val="50000"/>
                  </a:schemeClr>
                </a:solidFill>
                <a:latin typeface="+mn-lt"/>
                <a:ea typeface="+mn-ea"/>
                <a:sym typeface="Symbol" pitchFamily="18" charset="2"/>
              </a:rPr>
              <a:t>。那么可以证明，即使用</a:t>
            </a:r>
            <a:r>
              <a:rPr lang="en-US" altLang="zh-CN" sz="2000" dirty="0">
                <a:solidFill>
                  <a:schemeClr val="bg1">
                    <a:lumMod val="50000"/>
                  </a:schemeClr>
                </a:solidFill>
                <a:latin typeface="+mn-lt"/>
                <a:ea typeface="+mn-ea"/>
                <a:sym typeface="Symbol" pitchFamily="18" charset="2"/>
              </a:rPr>
              <a:t>AB</a:t>
            </a:r>
            <a:r>
              <a:rPr lang="en-US" altLang="zh-CN" sz="2000" dirty="0">
                <a:solidFill>
                  <a:schemeClr val="bg1">
                    <a:lumMod val="50000"/>
                  </a:schemeClr>
                </a:solidFill>
                <a:sym typeface="Symbol" pitchFamily="18" charset="2"/>
              </a:rPr>
              <a:t>→</a:t>
            </a:r>
            <a:r>
              <a:rPr lang="en-US" altLang="zh-CN" sz="2000" dirty="0">
                <a:solidFill>
                  <a:schemeClr val="bg1">
                    <a:lumMod val="50000"/>
                  </a:schemeClr>
                </a:solidFill>
                <a:latin typeface="+mn-lt"/>
                <a:ea typeface="+mn-ea"/>
                <a:sym typeface="Symbol" pitchFamily="18" charset="2"/>
              </a:rPr>
              <a:t>D</a:t>
            </a:r>
            <a:r>
              <a:rPr lang="zh-CN" altLang="en-US" sz="2000" dirty="0">
                <a:solidFill>
                  <a:schemeClr val="bg1">
                    <a:lumMod val="50000"/>
                  </a:schemeClr>
                </a:solidFill>
                <a:latin typeface="+mn-lt"/>
                <a:ea typeface="+mn-ea"/>
                <a:sym typeface="Symbol" pitchFamily="18" charset="2"/>
              </a:rPr>
              <a:t>去替换</a:t>
            </a:r>
            <a:r>
              <a:rPr lang="en-US" altLang="zh-CN" sz="2000" dirty="0">
                <a:solidFill>
                  <a:schemeClr val="bg1">
                    <a:lumMod val="50000"/>
                  </a:schemeClr>
                </a:solidFill>
                <a:latin typeface="+mn-lt"/>
                <a:ea typeface="+mn-ea"/>
                <a:sym typeface="Symbol" pitchFamily="18" charset="2"/>
              </a:rPr>
              <a:t>AB</a:t>
            </a:r>
            <a:r>
              <a:rPr lang="en-US" altLang="zh-CN" sz="2000" dirty="0">
                <a:solidFill>
                  <a:schemeClr val="bg1">
                    <a:lumMod val="50000"/>
                  </a:schemeClr>
                </a:solidFill>
                <a:sym typeface="Symbol" pitchFamily="18" charset="2"/>
              </a:rPr>
              <a:t>→</a:t>
            </a:r>
            <a:r>
              <a:rPr lang="en-US" altLang="zh-CN" sz="2000" dirty="0">
                <a:solidFill>
                  <a:schemeClr val="bg1">
                    <a:lumMod val="50000"/>
                  </a:schemeClr>
                </a:solidFill>
                <a:latin typeface="+mn-lt"/>
                <a:ea typeface="+mn-ea"/>
                <a:sym typeface="Symbol" pitchFamily="18" charset="2"/>
              </a:rPr>
              <a:t>CD</a:t>
            </a:r>
            <a:r>
              <a:rPr lang="zh-CN" altLang="en-US" sz="2000" dirty="0">
                <a:solidFill>
                  <a:schemeClr val="bg1">
                    <a:lumMod val="50000"/>
                  </a:schemeClr>
                </a:solidFill>
                <a:latin typeface="+mn-lt"/>
                <a:ea typeface="+mn-ea"/>
                <a:sym typeface="Symbol" pitchFamily="18" charset="2"/>
              </a:rPr>
              <a:t>，仍然可以推断出</a:t>
            </a:r>
            <a:r>
              <a:rPr lang="en-US" altLang="zh-CN" sz="2000" dirty="0">
                <a:solidFill>
                  <a:schemeClr val="bg1">
                    <a:lumMod val="50000"/>
                  </a:schemeClr>
                </a:solidFill>
                <a:latin typeface="+mn-lt"/>
                <a:ea typeface="+mn-ea"/>
                <a:sym typeface="Symbol" pitchFamily="18" charset="2"/>
              </a:rPr>
              <a:t>AB</a:t>
            </a:r>
            <a:r>
              <a:rPr lang="en-US" altLang="zh-CN" sz="2000" dirty="0">
                <a:solidFill>
                  <a:schemeClr val="bg1">
                    <a:lumMod val="50000"/>
                  </a:schemeClr>
                </a:solidFill>
                <a:sym typeface="Symbol" pitchFamily="18" charset="2"/>
              </a:rPr>
              <a:t>→</a:t>
            </a:r>
            <a:r>
              <a:rPr lang="en-US" altLang="zh-CN" sz="2000" dirty="0">
                <a:solidFill>
                  <a:schemeClr val="bg1">
                    <a:lumMod val="50000"/>
                  </a:schemeClr>
                </a:solidFill>
                <a:latin typeface="+mn-lt"/>
                <a:ea typeface="+mn-ea"/>
                <a:sym typeface="Symbol" pitchFamily="18" charset="2"/>
              </a:rPr>
              <a:t>C</a:t>
            </a:r>
            <a:r>
              <a:rPr lang="zh-CN" altLang="en-US" sz="2000" dirty="0">
                <a:solidFill>
                  <a:schemeClr val="bg1">
                    <a:lumMod val="50000"/>
                  </a:schemeClr>
                </a:solidFill>
                <a:latin typeface="+mn-lt"/>
                <a:ea typeface="+mn-ea"/>
                <a:sym typeface="Symbol" pitchFamily="18" charset="2"/>
              </a:rPr>
              <a:t>，并进而推断</a:t>
            </a:r>
            <a:r>
              <a:rPr lang="en-US" altLang="zh-CN" sz="2000" dirty="0">
                <a:solidFill>
                  <a:schemeClr val="bg1">
                    <a:lumMod val="50000"/>
                  </a:schemeClr>
                </a:solidFill>
                <a:latin typeface="+mn-lt"/>
                <a:ea typeface="+mn-ea"/>
                <a:sym typeface="Symbol" pitchFamily="18" charset="2"/>
              </a:rPr>
              <a:t>AB</a:t>
            </a:r>
            <a:r>
              <a:rPr lang="en-US" altLang="zh-CN" sz="2000" dirty="0">
                <a:solidFill>
                  <a:schemeClr val="bg1">
                    <a:lumMod val="50000"/>
                  </a:schemeClr>
                </a:solidFill>
                <a:sym typeface="Symbol" pitchFamily="18" charset="2"/>
              </a:rPr>
              <a:t>→</a:t>
            </a:r>
            <a:r>
              <a:rPr lang="en-US" altLang="zh-CN" sz="2000" dirty="0">
                <a:solidFill>
                  <a:schemeClr val="bg1">
                    <a:lumMod val="50000"/>
                  </a:schemeClr>
                </a:solidFill>
                <a:latin typeface="+mn-lt"/>
                <a:ea typeface="+mn-ea"/>
                <a:sym typeface="Symbol" pitchFamily="18" charset="2"/>
              </a:rPr>
              <a:t>CD</a:t>
            </a:r>
            <a:r>
              <a:rPr lang="zh-CN" altLang="en-US" sz="2000" dirty="0">
                <a:solidFill>
                  <a:schemeClr val="bg1">
                    <a:lumMod val="50000"/>
                  </a:schemeClr>
                </a:solidFill>
                <a:latin typeface="+mn-lt"/>
                <a:ea typeface="+mn-ea"/>
                <a:sym typeface="Symbol" pitchFamily="18" charset="2"/>
              </a:rPr>
              <a:t>。</a:t>
            </a:r>
            <a:r>
              <a:rPr lang="en-US" altLang="zh-CN" sz="2000" dirty="0">
                <a:solidFill>
                  <a:schemeClr val="bg1">
                    <a:lumMod val="50000"/>
                  </a:schemeClr>
                </a:solidFill>
                <a:latin typeface="+mn-lt"/>
                <a:ea typeface="+mn-ea"/>
                <a:sym typeface="Symbol" pitchFamily="18" charset="2"/>
              </a:rPr>
              <a:t>C</a:t>
            </a:r>
            <a:r>
              <a:rPr lang="zh-CN" altLang="en-US" sz="2000" dirty="0">
                <a:solidFill>
                  <a:schemeClr val="bg1">
                    <a:lumMod val="50000"/>
                  </a:schemeClr>
                </a:solidFill>
                <a:latin typeface="+mn-lt"/>
                <a:ea typeface="+mn-ea"/>
                <a:sym typeface="Symbol" pitchFamily="18" charset="2"/>
              </a:rPr>
              <a:t>在</a:t>
            </a:r>
            <a:r>
              <a:rPr lang="en-US" altLang="zh-CN" sz="2000" dirty="0">
                <a:solidFill>
                  <a:schemeClr val="bg1">
                    <a:lumMod val="50000"/>
                  </a:schemeClr>
                </a:solidFill>
                <a:sym typeface="Symbol" pitchFamily="18" charset="2"/>
              </a:rPr>
              <a:t>AB→CD</a:t>
            </a:r>
            <a:r>
              <a:rPr lang="zh-CN" altLang="en-US" sz="2000" dirty="0">
                <a:solidFill>
                  <a:schemeClr val="bg1">
                    <a:lumMod val="50000"/>
                  </a:schemeClr>
                </a:solidFill>
                <a:sym typeface="Symbol" pitchFamily="18" charset="2"/>
              </a:rPr>
              <a:t>中无关的。</a:t>
            </a:r>
            <a:endParaRPr lang="en-US" altLang="zh-CN" sz="2000" dirty="0">
              <a:solidFill>
                <a:schemeClr val="bg1">
                  <a:lumMod val="50000"/>
                </a:schemeClr>
              </a:solidFill>
              <a:sym typeface="Symbol" pitchFamily="18" charset="2"/>
            </a:endParaRPr>
          </a:p>
          <a:p>
            <a:pPr marL="530225" lvl="1" indent="0" algn="just">
              <a:lnSpc>
                <a:spcPct val="95000"/>
              </a:lnSpc>
              <a:spcBef>
                <a:spcPct val="20000"/>
              </a:spcBef>
              <a:buNone/>
            </a:pPr>
            <a:r>
              <a:rPr lang="zh-CN" altLang="en-US" sz="2000" dirty="0">
                <a:sym typeface="Symbol" pitchFamily="18" charset="2"/>
              </a:rPr>
              <a:t>对于以上呢，实际上</a:t>
            </a:r>
            <a:r>
              <a:rPr lang="zh-CN" altLang="en-US" sz="2000" dirty="0">
                <a:latin typeface="+mn-lt"/>
                <a:ea typeface="+mn-ea"/>
                <a:sym typeface="Symbol" pitchFamily="18" charset="2"/>
              </a:rPr>
              <a:t>由</a:t>
            </a:r>
            <a:r>
              <a:rPr lang="en-US" altLang="zh-CN" sz="2000" dirty="0">
                <a:latin typeface="+mn-lt"/>
                <a:ea typeface="+mn-ea"/>
                <a:sym typeface="Symbol" pitchFamily="18" charset="2"/>
              </a:rPr>
              <a:t>AB→CD</a:t>
            </a:r>
            <a:r>
              <a:rPr lang="zh-CN" altLang="en-US" sz="2000" dirty="0">
                <a:latin typeface="+mn-lt"/>
                <a:ea typeface="+mn-ea"/>
                <a:sym typeface="Symbol" pitchFamily="18" charset="2"/>
              </a:rPr>
              <a:t>，可由分解规则得到</a:t>
            </a:r>
            <a:r>
              <a:rPr lang="en-US" altLang="zh-CN" sz="2000" dirty="0">
                <a:latin typeface="+mn-lt"/>
                <a:ea typeface="+mn-ea"/>
                <a:sym typeface="Symbol" pitchFamily="18" charset="2"/>
              </a:rPr>
              <a:t>AB→C, AB→D; </a:t>
            </a:r>
            <a:r>
              <a:rPr lang="zh-CN" altLang="en-US" sz="2000" dirty="0">
                <a:latin typeface="+mn-lt"/>
                <a:ea typeface="+mn-ea"/>
                <a:sym typeface="Symbol" pitchFamily="18" charset="2"/>
              </a:rPr>
              <a:t>也即</a:t>
            </a:r>
            <a:r>
              <a:rPr lang="en-US" altLang="zh-CN" sz="2000" dirty="0">
                <a:latin typeface="+mn-lt"/>
                <a:ea typeface="+mn-ea"/>
                <a:sym typeface="Symbol" pitchFamily="18" charset="2"/>
              </a:rPr>
              <a:t>F={AB→C, AB→D, A→C}, </a:t>
            </a:r>
            <a:r>
              <a:rPr lang="zh-CN" altLang="en-US" sz="2000" dirty="0">
                <a:latin typeface="+mn-lt"/>
                <a:ea typeface="+mn-ea"/>
                <a:sym typeface="Symbol" pitchFamily="18" charset="2"/>
              </a:rPr>
              <a:t>对于此时</a:t>
            </a:r>
            <a:r>
              <a:rPr lang="en-US" altLang="zh-CN" sz="2000" dirty="0">
                <a:latin typeface="+mn-lt"/>
                <a:ea typeface="+mn-ea"/>
                <a:sym typeface="Symbol" pitchFamily="18" charset="2"/>
              </a:rPr>
              <a:t>F</a:t>
            </a:r>
            <a:r>
              <a:rPr lang="zh-CN" altLang="en-US" sz="2000" dirty="0">
                <a:latin typeface="+mn-lt"/>
                <a:ea typeface="+mn-ea"/>
                <a:sym typeface="Symbol" pitchFamily="18" charset="2"/>
              </a:rPr>
              <a:t>来说，</a:t>
            </a:r>
            <a:r>
              <a:rPr lang="en-US" altLang="zh-CN" sz="2000" dirty="0">
                <a:latin typeface="+mn-lt"/>
                <a:ea typeface="+mn-ea"/>
                <a:sym typeface="Symbol" pitchFamily="18" charset="2"/>
              </a:rPr>
              <a:t>AB→C</a:t>
            </a:r>
            <a:r>
              <a:rPr lang="zh-CN" altLang="en-US" sz="2000" dirty="0">
                <a:latin typeface="+mn-lt"/>
                <a:ea typeface="+mn-ea"/>
                <a:sym typeface="Symbol" pitchFamily="18" charset="2"/>
              </a:rPr>
              <a:t>中左侧</a:t>
            </a:r>
            <a:r>
              <a:rPr lang="en-US" altLang="zh-CN" sz="2000" dirty="0">
                <a:latin typeface="+mn-lt"/>
                <a:ea typeface="+mn-ea"/>
                <a:sym typeface="Symbol" pitchFamily="18" charset="2"/>
              </a:rPr>
              <a:t>B</a:t>
            </a:r>
            <a:r>
              <a:rPr lang="zh-CN" altLang="en-US" sz="2000" dirty="0">
                <a:sym typeface="Symbol" pitchFamily="18" charset="2"/>
              </a:rPr>
              <a:t>是否是无关？显然是的。</a:t>
            </a:r>
            <a:endParaRPr lang="en-US" altLang="zh-CN" sz="2000" dirty="0">
              <a:sym typeface="Symbol" pitchFamily="18" charset="2"/>
            </a:endParaRPr>
          </a:p>
          <a:p>
            <a:pPr marL="530225" lvl="1" indent="0" algn="just">
              <a:lnSpc>
                <a:spcPct val="95000"/>
              </a:lnSpc>
              <a:spcBef>
                <a:spcPct val="20000"/>
              </a:spcBef>
              <a:buNone/>
            </a:pPr>
            <a:r>
              <a:rPr lang="zh-CN" altLang="en-US" sz="2000" u="sng" dirty="0">
                <a:sym typeface="Symbol" pitchFamily="18" charset="2"/>
              </a:rPr>
              <a:t>所以右侧移除，可以先通过分解率把</a:t>
            </a:r>
            <a:r>
              <a:rPr lang="zh-CN" altLang="en-US" sz="2000" b="1" u="sng" dirty="0">
                <a:solidFill>
                  <a:srgbClr val="FF0000"/>
                </a:solidFill>
                <a:sym typeface="Symbol" pitchFamily="18" charset="2"/>
              </a:rPr>
              <a:t>右侧都分解为单属性</a:t>
            </a:r>
            <a:r>
              <a:rPr lang="zh-CN" altLang="en-US" sz="2000" u="sng" dirty="0">
                <a:sym typeface="Symbol" pitchFamily="18" charset="2"/>
              </a:rPr>
              <a:t>，再来逐个分析函数依赖</a:t>
            </a:r>
            <a:r>
              <a:rPr lang="zh-CN" altLang="en-US" sz="2000" u="sng" dirty="0">
                <a:solidFill>
                  <a:srgbClr val="0000FF"/>
                </a:solidFill>
                <a:sym typeface="Symbol" pitchFamily="18" charset="2"/>
              </a:rPr>
              <a:t>左侧是否有无关属性</a:t>
            </a:r>
            <a:r>
              <a:rPr lang="zh-CN" altLang="en-US" sz="2000" u="sng" dirty="0">
                <a:sym typeface="Symbol" pitchFamily="18" charset="2"/>
              </a:rPr>
              <a:t>来实现</a:t>
            </a:r>
            <a:r>
              <a:rPr lang="zh-CN" altLang="en-US" sz="2000" dirty="0">
                <a:sym typeface="Symbol" pitchFamily="18" charset="2"/>
              </a:rPr>
              <a:t>。</a:t>
            </a:r>
            <a:endParaRPr lang="zh-CN" altLang="en-US" sz="2000" dirty="0">
              <a:latin typeface="+mn-lt"/>
              <a:ea typeface="+mn-ea"/>
              <a:sym typeface="Symbol" pitchFamily="18" charset="2"/>
            </a:endParaRPr>
          </a:p>
        </p:txBody>
      </p:sp>
      <p:sp>
        <p:nvSpPr>
          <p:cNvPr id="2" name="椭圆 1">
            <a:extLst>
              <a:ext uri="{FF2B5EF4-FFF2-40B4-BE49-F238E27FC236}">
                <a16:creationId xmlns:a16="http://schemas.microsoft.com/office/drawing/2014/main" id="{716FC900-E300-27BD-D7FD-1B5FA8BB5DD2}"/>
              </a:ext>
            </a:extLst>
          </p:cNvPr>
          <p:cNvSpPr/>
          <p:nvPr/>
        </p:nvSpPr>
        <p:spPr bwMode="auto">
          <a:xfrm>
            <a:off x="3798456" y="5234265"/>
            <a:ext cx="936104" cy="351870"/>
          </a:xfrm>
          <a:prstGeom prst="ellipse">
            <a:avLst/>
          </a:prstGeom>
          <a:noFill/>
          <a:ln w="28575" cap="flat" cmpd="sng" algn="ctr">
            <a:solidFill>
              <a:srgbClr val="FF0000"/>
            </a:solidFill>
            <a:prstDash val="sysDot"/>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spTree>
    <p:extLst>
      <p:ext uri="{BB962C8B-B14F-4D97-AF65-F5344CB8AC3E}">
        <p14:creationId xmlns:p14="http://schemas.microsoft.com/office/powerpoint/2010/main" val="13268719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4" end="4"/>
                                            </p:txEl>
                                          </p:spTgt>
                                        </p:tgtEl>
                                        <p:attrNameLst>
                                          <p:attrName>style.visibility</p:attrName>
                                        </p:attrNameLst>
                                      </p:cBhvr>
                                      <p:to>
                                        <p:strVal val="visible"/>
                                      </p:to>
                                    </p:set>
                                    <p:animEffect transition="in" filter="fade">
                                      <p:cBhvr>
                                        <p:cTn id="14" dur="1000"/>
                                        <p:tgtEl>
                                          <p:spTgt spid="3">
                                            <p:txEl>
                                              <p:pRg st="4" end="4"/>
                                            </p:txEl>
                                          </p:spTgt>
                                        </p:tgtEl>
                                      </p:cBhvr>
                                    </p:animEffect>
                                    <p:anim calcmode="lin" valueType="num">
                                      <p:cBhvr>
                                        <p:cTn id="1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1000"/>
                                        <p:tgtEl>
                                          <p:spTgt spid="3">
                                            <p:txEl>
                                              <p:pRg st="5" end="5"/>
                                            </p:txEl>
                                          </p:spTgt>
                                        </p:tgtEl>
                                      </p:cBhvr>
                                    </p:animEffect>
                                    <p:anim calcmode="lin" valueType="num">
                                      <p:cBhvr>
                                        <p:cTn id="22"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heel(1)">
                                      <p:cBhvr>
                                        <p:cTn id="28"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80AF2BF-C229-4CB6-B557-5FC7FD32B717}" type="datetime1">
              <a:rPr lang="zh-CN" altLang="en-US" smtClean="0"/>
              <a:t>2025/11/6</a:t>
            </a:fld>
            <a:endParaRPr lang="en-US" altLang="zh-CN"/>
          </a:p>
        </p:txBody>
      </p:sp>
      <p:sp>
        <p:nvSpPr>
          <p:cNvPr id="340994" name="Rectangle 2"/>
          <p:cNvSpPr>
            <a:spLocks noGrp="1" noChangeArrowheads="1"/>
          </p:cNvSpPr>
          <p:nvPr>
            <p:ph type="title"/>
          </p:nvPr>
        </p:nvSpPr>
        <p:spPr/>
        <p:txBody>
          <a:bodyPr/>
          <a:lstStyle/>
          <a:p>
            <a:r>
              <a:rPr lang="zh-CN" altLang="en-US"/>
              <a:t>求解极小函数依赖集的过程</a:t>
            </a:r>
          </a:p>
        </p:txBody>
      </p:sp>
      <p:sp>
        <p:nvSpPr>
          <p:cNvPr id="340995" name="Rectangle 3"/>
          <p:cNvSpPr>
            <a:spLocks noGrp="1" noChangeArrowheads="1"/>
          </p:cNvSpPr>
          <p:nvPr>
            <p:ph type="body" idx="1"/>
          </p:nvPr>
        </p:nvSpPr>
        <p:spPr/>
        <p:txBody>
          <a:bodyPr/>
          <a:lstStyle/>
          <a:p>
            <a:pPr marL="533400" indent="-533400">
              <a:lnSpc>
                <a:spcPct val="90000"/>
              </a:lnSpc>
              <a:buFont typeface="Wingdings" pitchFamily="2" charset="2"/>
              <a:buAutoNum type="arabicPeriod"/>
            </a:pPr>
            <a:r>
              <a:rPr lang="zh-CN" altLang="en-US" sz="2800" dirty="0"/>
              <a:t>用</a:t>
            </a:r>
            <a:r>
              <a:rPr lang="zh-CN" altLang="en-US" sz="2800" b="1" dirty="0">
                <a:solidFill>
                  <a:srgbClr val="FF0000"/>
                </a:solidFill>
              </a:rPr>
              <a:t>分解规则</a:t>
            </a:r>
            <a:r>
              <a:rPr lang="zh-CN" altLang="en-US" sz="2800" dirty="0"/>
              <a:t>将</a:t>
            </a:r>
            <a:r>
              <a:rPr lang="en-US" altLang="zh-CN" sz="2800" dirty="0"/>
              <a:t>F</a:t>
            </a:r>
            <a:r>
              <a:rPr lang="zh-CN" altLang="en-US" sz="2800" dirty="0"/>
              <a:t>中每一函数依赖</a:t>
            </a:r>
            <a:r>
              <a:rPr lang="zh-CN" altLang="en-US" sz="2800" u="sng" dirty="0">
                <a:solidFill>
                  <a:schemeClr val="tx2"/>
                </a:solidFill>
              </a:rPr>
              <a:t>分解</a:t>
            </a:r>
            <a:r>
              <a:rPr lang="zh-CN" altLang="en-US" sz="2800" u="sng" dirty="0"/>
              <a:t>为</a:t>
            </a:r>
            <a:r>
              <a:rPr lang="zh-CN" altLang="en-US" sz="2800" u="sng" dirty="0">
                <a:solidFill>
                  <a:schemeClr val="tx2"/>
                </a:solidFill>
              </a:rPr>
              <a:t>若干个</a:t>
            </a:r>
            <a:r>
              <a:rPr lang="zh-CN" altLang="en-US" sz="2800" u="sng" dirty="0">
                <a:solidFill>
                  <a:srgbClr val="C00000"/>
                </a:solidFill>
              </a:rPr>
              <a:t>右部唯一</a:t>
            </a:r>
            <a:r>
              <a:rPr lang="zh-CN" altLang="en-US" sz="2800" u="sng" dirty="0"/>
              <a:t>的</a:t>
            </a:r>
            <a:r>
              <a:rPr lang="zh-CN" altLang="en-US" sz="2800" u="sng" dirty="0">
                <a:solidFill>
                  <a:schemeClr val="tx2"/>
                </a:solidFill>
              </a:rPr>
              <a:t>函数依赖</a:t>
            </a:r>
            <a:r>
              <a:rPr lang="zh-CN" altLang="en-US" sz="2800" dirty="0"/>
              <a:t>，</a:t>
            </a:r>
            <a:r>
              <a:rPr lang="zh-CN" altLang="en-US" sz="2800" b="1" dirty="0">
                <a:solidFill>
                  <a:srgbClr val="FF0000"/>
                </a:solidFill>
              </a:rPr>
              <a:t>新</a:t>
            </a:r>
            <a:r>
              <a:rPr lang="zh-CN" altLang="en-US" sz="2800" b="1" dirty="0"/>
              <a:t>函数依赖集</a:t>
            </a:r>
            <a:r>
              <a:rPr lang="zh-CN" altLang="en-US" sz="2800" dirty="0"/>
              <a:t>仍命名为</a:t>
            </a:r>
            <a:r>
              <a:rPr lang="en-US" altLang="zh-CN" sz="2800" b="1" dirty="0">
                <a:solidFill>
                  <a:srgbClr val="FF0000"/>
                </a:solidFill>
              </a:rPr>
              <a:t>F</a:t>
            </a:r>
            <a:r>
              <a:rPr lang="zh-CN" altLang="en-US" sz="2800" dirty="0"/>
              <a:t>。</a:t>
            </a:r>
          </a:p>
        </p:txBody>
      </p:sp>
      <p:sp>
        <p:nvSpPr>
          <p:cNvPr id="2" name="椭圆形标注 1"/>
          <p:cNvSpPr/>
          <p:nvPr/>
        </p:nvSpPr>
        <p:spPr bwMode="auto">
          <a:xfrm>
            <a:off x="685800" y="2743200"/>
            <a:ext cx="4800600" cy="2207240"/>
          </a:xfrm>
          <a:prstGeom prst="wedgeEllipseCallout">
            <a:avLst>
              <a:gd name="adj1" fmla="val -481"/>
              <a:gd name="adj2" fmla="val -73525"/>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r>
              <a:rPr lang="en-US" altLang="zh-CN" dirty="0">
                <a:solidFill>
                  <a:srgbClr val="C00000"/>
                </a:solidFill>
              </a:rPr>
              <a:t>1. </a:t>
            </a:r>
            <a:r>
              <a:rPr lang="zh-CN" altLang="en-US" dirty="0">
                <a:solidFill>
                  <a:srgbClr val="C00000"/>
                </a:solidFill>
              </a:rPr>
              <a:t>单属性</a:t>
            </a:r>
            <a:r>
              <a:rPr lang="zh-CN" altLang="en-US" dirty="0"/>
              <a:t>：逐个检查 </a:t>
            </a:r>
            <a:r>
              <a:rPr lang="en-US" altLang="zh-CN" dirty="0"/>
              <a:t>F </a:t>
            </a:r>
            <a:r>
              <a:rPr lang="zh-CN" altLang="en-US" dirty="0"/>
              <a:t>中的各函数依赖：</a:t>
            </a:r>
            <a:r>
              <a:rPr lang="en-US" altLang="zh-CN" dirty="0"/>
              <a:t>X→Y</a:t>
            </a:r>
            <a:r>
              <a:rPr lang="zh-CN" altLang="en-US" dirty="0"/>
              <a:t>，若</a:t>
            </a:r>
            <a:r>
              <a:rPr lang="en-US" altLang="zh-CN" dirty="0"/>
              <a:t>Y=A</a:t>
            </a:r>
            <a:r>
              <a:rPr lang="en-US" altLang="zh-CN" baseline="-25000" dirty="0"/>
              <a:t>1</a:t>
            </a:r>
            <a:r>
              <a:rPr lang="en-US" altLang="zh-CN" dirty="0"/>
              <a:t> A</a:t>
            </a:r>
            <a:r>
              <a:rPr lang="en-US" altLang="zh-CN" baseline="-25000" dirty="0"/>
              <a:t>2</a:t>
            </a:r>
            <a:r>
              <a:rPr lang="en-US" altLang="zh-CN" dirty="0"/>
              <a:t> ….</a:t>
            </a:r>
            <a:r>
              <a:rPr lang="en-US" altLang="zh-CN" dirty="0" err="1"/>
              <a:t>A</a:t>
            </a:r>
            <a:r>
              <a:rPr lang="en-US" altLang="zh-CN" baseline="-25000" dirty="0" err="1"/>
              <a:t>k</a:t>
            </a:r>
            <a:r>
              <a:rPr lang="en-US" altLang="zh-CN" dirty="0"/>
              <a:t> </a:t>
            </a:r>
            <a:r>
              <a:rPr lang="zh-CN" altLang="en-US" dirty="0"/>
              <a:t>，</a:t>
            </a:r>
            <a:r>
              <a:rPr lang="en-US" altLang="zh-CN" dirty="0"/>
              <a:t>k≥2</a:t>
            </a:r>
            <a:r>
              <a:rPr lang="zh-CN" altLang="en-US" dirty="0"/>
              <a:t>，则用诸 </a:t>
            </a:r>
            <a:r>
              <a:rPr lang="en-US" altLang="zh-CN" dirty="0" err="1"/>
              <a:t>X→A</a:t>
            </a:r>
            <a:r>
              <a:rPr lang="en-US" altLang="zh-CN" baseline="-25000" dirty="0" err="1"/>
              <a:t>i</a:t>
            </a:r>
            <a:r>
              <a:rPr lang="en-US" altLang="zh-CN" dirty="0"/>
              <a:t> </a:t>
            </a:r>
            <a:r>
              <a:rPr lang="zh-CN" altLang="en-US" dirty="0"/>
              <a:t>代替 </a:t>
            </a:r>
            <a:r>
              <a:rPr lang="en-US" altLang="zh-CN" dirty="0"/>
              <a:t>X→Y</a:t>
            </a:r>
            <a:r>
              <a:rPr lang="zh-CN" altLang="en-US" dirty="0"/>
              <a:t>。</a:t>
            </a:r>
          </a:p>
        </p:txBody>
      </p:sp>
      <p:sp>
        <p:nvSpPr>
          <p:cNvPr id="5" name="页脚占位符 4">
            <a:extLst>
              <a:ext uri="{FF2B5EF4-FFF2-40B4-BE49-F238E27FC236}">
                <a16:creationId xmlns:a16="http://schemas.microsoft.com/office/drawing/2014/main" id="{2B07C7F2-AA2E-E547-BDDF-3B6979370D6A}"/>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76356E75-4394-FB0A-E08F-F477090A52A9}"/>
              </a:ext>
            </a:extLst>
          </p:cNvPr>
          <p:cNvSpPr>
            <a:spLocks noGrp="1"/>
          </p:cNvSpPr>
          <p:nvPr>
            <p:ph type="sldNum" sz="quarter" idx="12"/>
          </p:nvPr>
        </p:nvSpPr>
        <p:spPr/>
        <p:txBody>
          <a:bodyPr/>
          <a:lstStyle/>
          <a:p>
            <a:fld id="{A2D74603-B40B-4D66-8F6E-41C870D48932}" type="slidenum">
              <a:rPr lang="en-US" altLang="zh-CN" smtClean="0"/>
              <a:pPr/>
              <a:t>127</a:t>
            </a:fld>
            <a:r>
              <a:rPr lang="en-US" altLang="zh-CN"/>
              <a:t>/162</a:t>
            </a:r>
            <a:endParaRPr lang="en-US" altLang="zh-CN"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40995">
                                            <p:txEl>
                                              <p:pRg st="0" end="0"/>
                                            </p:txEl>
                                          </p:spTgt>
                                        </p:tgtEl>
                                        <p:attrNameLst>
                                          <p:attrName>style.visibility</p:attrName>
                                        </p:attrNameLst>
                                      </p:cBhvr>
                                      <p:to>
                                        <p:strVal val="visible"/>
                                      </p:to>
                                    </p:set>
                                    <p:anim calcmode="lin" valueType="num">
                                      <p:cBhvr additive="base">
                                        <p:cTn id="7" dur="500" fill="hold"/>
                                        <p:tgtEl>
                                          <p:spTgt spid="3409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099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FAF55C3D-E182-426D-8FEA-E27B33238C07}" type="datetime1">
              <a:rPr lang="zh-CN" altLang="en-US" smtClean="0"/>
              <a:t>2025/11/6</a:t>
            </a:fld>
            <a:endParaRPr lang="en-US" altLang="zh-CN"/>
          </a:p>
        </p:txBody>
      </p:sp>
      <p:sp>
        <p:nvSpPr>
          <p:cNvPr id="340994" name="Rectangle 2"/>
          <p:cNvSpPr>
            <a:spLocks noGrp="1" noChangeArrowheads="1"/>
          </p:cNvSpPr>
          <p:nvPr>
            <p:ph type="title"/>
          </p:nvPr>
        </p:nvSpPr>
        <p:spPr/>
        <p:txBody>
          <a:bodyPr/>
          <a:lstStyle/>
          <a:p>
            <a:r>
              <a:rPr lang="zh-CN" altLang="en-US"/>
              <a:t>求解极小函数依赖集的过程</a:t>
            </a:r>
          </a:p>
        </p:txBody>
      </p:sp>
      <p:sp>
        <p:nvSpPr>
          <p:cNvPr id="340995" name="Rectangle 3"/>
          <p:cNvSpPr>
            <a:spLocks noGrp="1" noChangeArrowheads="1"/>
          </p:cNvSpPr>
          <p:nvPr>
            <p:ph type="body" idx="1"/>
          </p:nvPr>
        </p:nvSpPr>
        <p:spPr/>
        <p:txBody>
          <a:bodyPr/>
          <a:lstStyle/>
          <a:p>
            <a:pPr marL="533400" indent="-533400">
              <a:lnSpc>
                <a:spcPct val="90000"/>
              </a:lnSpc>
              <a:buFont typeface="Wingdings" pitchFamily="2" charset="2"/>
              <a:buAutoNum type="arabicPeriod"/>
            </a:pPr>
            <a:r>
              <a:rPr lang="zh-CN" altLang="en-US" sz="2800" dirty="0">
                <a:solidFill>
                  <a:schemeClr val="bg1">
                    <a:lumMod val="50000"/>
                  </a:schemeClr>
                </a:solidFill>
              </a:rPr>
              <a:t>用分解规则将</a:t>
            </a:r>
            <a:r>
              <a:rPr lang="en-US" altLang="zh-CN" sz="2800" dirty="0">
                <a:solidFill>
                  <a:schemeClr val="bg1">
                    <a:lumMod val="50000"/>
                  </a:schemeClr>
                </a:solidFill>
              </a:rPr>
              <a:t>F</a:t>
            </a:r>
            <a:r>
              <a:rPr lang="zh-CN" altLang="en-US" sz="2800" dirty="0">
                <a:solidFill>
                  <a:schemeClr val="bg1">
                    <a:lumMod val="50000"/>
                  </a:schemeClr>
                </a:solidFill>
              </a:rPr>
              <a:t>中每一函数依赖</a:t>
            </a:r>
            <a:r>
              <a:rPr lang="zh-CN" altLang="en-US" sz="2800" u="sng" dirty="0">
                <a:solidFill>
                  <a:schemeClr val="bg1">
                    <a:lumMod val="50000"/>
                  </a:schemeClr>
                </a:solidFill>
              </a:rPr>
              <a:t>分解为若干个右部唯一的函数依赖</a:t>
            </a:r>
            <a:r>
              <a:rPr lang="zh-CN" altLang="en-US" sz="2800" dirty="0">
                <a:solidFill>
                  <a:schemeClr val="bg1">
                    <a:lumMod val="50000"/>
                  </a:schemeClr>
                </a:solidFill>
              </a:rPr>
              <a:t>，新函数依赖集仍命名为</a:t>
            </a:r>
            <a:r>
              <a:rPr lang="en-US" altLang="zh-CN" sz="2800" dirty="0">
                <a:solidFill>
                  <a:schemeClr val="bg1">
                    <a:lumMod val="50000"/>
                  </a:schemeClr>
                </a:solidFill>
              </a:rPr>
              <a:t>F</a:t>
            </a:r>
            <a:r>
              <a:rPr lang="zh-CN" altLang="en-US" sz="2800" dirty="0">
                <a:solidFill>
                  <a:schemeClr val="bg1">
                    <a:lumMod val="50000"/>
                  </a:schemeClr>
                </a:solidFill>
              </a:rPr>
              <a:t>。</a:t>
            </a:r>
          </a:p>
          <a:p>
            <a:pPr marL="533400" indent="-533400">
              <a:lnSpc>
                <a:spcPct val="90000"/>
              </a:lnSpc>
              <a:spcBef>
                <a:spcPct val="30000"/>
              </a:spcBef>
              <a:buFont typeface="Wingdings" pitchFamily="2" charset="2"/>
              <a:buAutoNum type="arabicPeriod"/>
            </a:pPr>
            <a:r>
              <a:rPr lang="zh-CN" altLang="en-US" sz="2800" dirty="0">
                <a:solidFill>
                  <a:srgbClr val="C00000"/>
                </a:solidFill>
              </a:rPr>
              <a:t>判断</a:t>
            </a:r>
            <a:r>
              <a:rPr lang="zh-CN" altLang="en-US" sz="2800" dirty="0"/>
              <a:t>当前</a:t>
            </a:r>
            <a:r>
              <a:rPr lang="en-US" altLang="zh-CN" sz="2800" dirty="0"/>
              <a:t>F</a:t>
            </a:r>
            <a:r>
              <a:rPr lang="zh-CN" altLang="en-US" sz="2800" dirty="0"/>
              <a:t>中</a:t>
            </a:r>
            <a:r>
              <a:rPr lang="zh-CN" altLang="en-US" sz="2800" u="sng" dirty="0">
                <a:solidFill>
                  <a:schemeClr val="tx2"/>
                </a:solidFill>
              </a:rPr>
              <a:t>有没有</a:t>
            </a:r>
            <a:r>
              <a:rPr lang="zh-CN" altLang="en-US" sz="2800" u="sng" dirty="0">
                <a:solidFill>
                  <a:srgbClr val="FF0000"/>
                </a:solidFill>
              </a:rPr>
              <a:t>多余</a:t>
            </a:r>
            <a:r>
              <a:rPr lang="zh-CN" altLang="en-US" sz="2800" u="sng" dirty="0"/>
              <a:t>的函数依赖</a:t>
            </a:r>
            <a:r>
              <a:rPr lang="zh-CN" altLang="en-US" sz="2800" dirty="0"/>
              <a:t>。</a:t>
            </a:r>
            <a:endParaRPr lang="en-US" altLang="zh-CN" sz="2800" dirty="0"/>
          </a:p>
          <a:p>
            <a:pPr marL="0" indent="0">
              <a:lnSpc>
                <a:spcPct val="90000"/>
              </a:lnSpc>
              <a:spcBef>
                <a:spcPct val="30000"/>
              </a:spcBef>
              <a:buNone/>
            </a:pPr>
            <a:r>
              <a:rPr lang="zh-CN" altLang="en-US" sz="2800" dirty="0"/>
              <a:t>注意，检查</a:t>
            </a:r>
            <a:r>
              <a:rPr lang="en-US" altLang="zh-CN" sz="2800" dirty="0"/>
              <a:t>X→A</a:t>
            </a:r>
            <a:r>
              <a:rPr lang="zh-CN" altLang="en-US" sz="2800" dirty="0"/>
              <a:t>，要在</a:t>
            </a:r>
            <a:r>
              <a:rPr lang="en-US" altLang="zh-CN" sz="2800" dirty="0">
                <a:solidFill>
                  <a:srgbClr val="0000FF"/>
                </a:solidFill>
              </a:rPr>
              <a:t>G</a:t>
            </a:r>
            <a:r>
              <a:rPr lang="zh-CN" altLang="en-US" sz="2800" dirty="0"/>
              <a:t>集</a:t>
            </a:r>
            <a:r>
              <a:rPr lang="en-US" altLang="zh-CN" sz="2800" dirty="0"/>
              <a:t>(</a:t>
            </a:r>
            <a:r>
              <a:rPr lang="zh-CN" altLang="en-US" sz="2800" dirty="0"/>
              <a:t>其中</a:t>
            </a:r>
            <a:r>
              <a:rPr lang="en-US" altLang="zh-CN" sz="2800" dirty="0">
                <a:solidFill>
                  <a:srgbClr val="0000FF"/>
                </a:solidFill>
              </a:rPr>
              <a:t>G=</a:t>
            </a:r>
            <a:r>
              <a:rPr lang="en-US" altLang="zh-CN" sz="2800" dirty="0">
                <a:solidFill>
                  <a:srgbClr val="FF0000"/>
                </a:solidFill>
              </a:rPr>
              <a:t>F-{X→A}</a:t>
            </a:r>
            <a:r>
              <a:rPr lang="en-US" altLang="zh-CN" sz="2800" dirty="0"/>
              <a:t>)</a:t>
            </a:r>
            <a:r>
              <a:rPr lang="zh-CN" altLang="en-US" sz="2800" dirty="0"/>
              <a:t>下考察</a:t>
            </a:r>
            <a:r>
              <a:rPr lang="en-US" altLang="zh-CN" sz="2800" dirty="0">
                <a:solidFill>
                  <a:srgbClr val="0000FF"/>
                </a:solidFill>
              </a:rPr>
              <a:t>X→A</a:t>
            </a:r>
            <a:r>
              <a:rPr lang="zh-CN" altLang="en-US" sz="2800" dirty="0">
                <a:solidFill>
                  <a:srgbClr val="C00000"/>
                </a:solidFill>
              </a:rPr>
              <a:t>是否被蕴含</a:t>
            </a:r>
            <a:r>
              <a:rPr lang="en-US" altLang="zh-CN" sz="2800" dirty="0"/>
              <a:t>(G</a:t>
            </a:r>
            <a:r>
              <a:rPr lang="zh-CN" altLang="en-US" sz="2800" dirty="0"/>
              <a:t>集下计算</a:t>
            </a:r>
            <a:r>
              <a:rPr lang="en-US" altLang="zh-CN" sz="2800" dirty="0">
                <a:solidFill>
                  <a:srgbClr val="C00000"/>
                </a:solidFill>
              </a:rPr>
              <a:t>X</a:t>
            </a:r>
            <a:r>
              <a:rPr lang="en-US" altLang="zh-CN" sz="2800" b="1" baseline="-25000" dirty="0">
                <a:solidFill>
                  <a:srgbClr val="0000FF"/>
                </a:solidFill>
              </a:rPr>
              <a:t>G</a:t>
            </a:r>
            <a:r>
              <a:rPr lang="en-US" altLang="zh-CN" sz="2800" baseline="30000" dirty="0">
                <a:solidFill>
                  <a:srgbClr val="C00000"/>
                </a:solidFill>
              </a:rPr>
              <a:t>+</a:t>
            </a:r>
            <a:r>
              <a:rPr lang="zh-CN" altLang="en-US" sz="2800" dirty="0"/>
              <a:t>，看</a:t>
            </a:r>
            <a:r>
              <a:rPr lang="en-US" altLang="zh-CN" sz="2800" dirty="0">
                <a:solidFill>
                  <a:srgbClr val="C00000"/>
                </a:solidFill>
              </a:rPr>
              <a:t>A</a:t>
            </a:r>
            <a:r>
              <a:rPr lang="zh-CN" altLang="en-US" sz="2800" dirty="0">
                <a:solidFill>
                  <a:srgbClr val="C00000"/>
                </a:solidFill>
              </a:rPr>
              <a:t>是否包含在其中</a:t>
            </a:r>
            <a:r>
              <a:rPr lang="en-US" altLang="zh-CN" sz="2800" dirty="0">
                <a:solidFill>
                  <a:srgbClr val="C00000"/>
                </a:solidFill>
              </a:rPr>
              <a:t>,</a:t>
            </a:r>
            <a:r>
              <a:rPr lang="zh-CN" altLang="en-US" sz="2800" dirty="0">
                <a:solidFill>
                  <a:srgbClr val="C00000"/>
                </a:solidFill>
              </a:rPr>
              <a:t>若是</a:t>
            </a:r>
            <a:r>
              <a:rPr lang="zh-CN" altLang="en-US" sz="2800" dirty="0"/>
              <a:t>则</a:t>
            </a:r>
            <a:r>
              <a:rPr lang="zh-CN" altLang="en-US" sz="2800" dirty="0">
                <a:sym typeface="Symbol" pitchFamily="18" charset="2"/>
              </a:rPr>
              <a:t>从 </a:t>
            </a:r>
            <a:r>
              <a:rPr lang="en-US" altLang="zh-CN" sz="2800" dirty="0">
                <a:sym typeface="Symbol" pitchFamily="18" charset="2"/>
              </a:rPr>
              <a:t>F </a:t>
            </a:r>
            <a:r>
              <a:rPr lang="zh-CN" altLang="en-US" sz="2800" dirty="0">
                <a:sym typeface="Symbol" pitchFamily="18" charset="2"/>
              </a:rPr>
              <a:t>中</a:t>
            </a:r>
            <a:r>
              <a:rPr lang="zh-CN" altLang="en-US" sz="2800" dirty="0">
                <a:solidFill>
                  <a:srgbClr val="C00000"/>
                </a:solidFill>
                <a:latin typeface="Times New Roman" pitchFamily="18" charset="0"/>
                <a:ea typeface="宋体" charset="-122"/>
                <a:sym typeface="Symbol" pitchFamily="18" charset="2"/>
              </a:rPr>
              <a:t>去掉</a:t>
            </a:r>
            <a:r>
              <a:rPr lang="zh-CN" altLang="en-US" sz="2800" dirty="0">
                <a:latin typeface="Times New Roman" pitchFamily="18" charset="0"/>
                <a:ea typeface="宋体" charset="-122"/>
                <a:sym typeface="Symbol" pitchFamily="18" charset="2"/>
              </a:rPr>
              <a:t>该函数依赖</a:t>
            </a:r>
            <a:r>
              <a:rPr lang="en-US" altLang="zh-CN" sz="2800" dirty="0"/>
              <a:t>)</a:t>
            </a:r>
            <a:r>
              <a:rPr lang="zh-CN" altLang="en-US" sz="2800" dirty="0"/>
              <a:t>。处理后的函数依赖集不妨仍命名为</a:t>
            </a:r>
            <a:r>
              <a:rPr lang="en-US" altLang="zh-CN" sz="2800" dirty="0">
                <a:solidFill>
                  <a:srgbClr val="FF0000"/>
                </a:solidFill>
              </a:rPr>
              <a:t>F</a:t>
            </a:r>
            <a:r>
              <a:rPr lang="zh-CN" altLang="en-US" sz="2800" dirty="0"/>
              <a:t>。</a:t>
            </a:r>
          </a:p>
        </p:txBody>
      </p:sp>
      <p:sp>
        <p:nvSpPr>
          <p:cNvPr id="7" name="椭圆形标注 6"/>
          <p:cNvSpPr/>
          <p:nvPr/>
        </p:nvSpPr>
        <p:spPr bwMode="auto">
          <a:xfrm>
            <a:off x="2514600" y="1600200"/>
            <a:ext cx="2743200" cy="649188"/>
          </a:xfrm>
          <a:prstGeom prst="wedgeEllipseCallout">
            <a:avLst>
              <a:gd name="adj1" fmla="val -2522"/>
              <a:gd name="adj2" fmla="val 72358"/>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r>
              <a:rPr lang="zh-CN" altLang="en-US" dirty="0">
                <a:solidFill>
                  <a:schemeClr val="hlink"/>
                </a:solidFill>
                <a:latin typeface="Times New Roman" pitchFamily="18" charset="0"/>
                <a:ea typeface="宋体" charset="-122"/>
              </a:rPr>
              <a:t>2. 无冗余性</a:t>
            </a:r>
            <a:endParaRPr lang="zh-CN" altLang="en-US" dirty="0"/>
          </a:p>
        </p:txBody>
      </p:sp>
      <p:sp>
        <p:nvSpPr>
          <p:cNvPr id="3" name="页脚占位符 2">
            <a:extLst>
              <a:ext uri="{FF2B5EF4-FFF2-40B4-BE49-F238E27FC236}">
                <a16:creationId xmlns:a16="http://schemas.microsoft.com/office/drawing/2014/main" id="{8F0C28DA-0DF5-10D4-F36C-5FA1E3363FC7}"/>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918EEDFA-A93E-1C16-40F4-C6DDA0CC5C23}"/>
              </a:ext>
            </a:extLst>
          </p:cNvPr>
          <p:cNvSpPr>
            <a:spLocks noGrp="1"/>
          </p:cNvSpPr>
          <p:nvPr>
            <p:ph type="sldNum" sz="quarter" idx="12"/>
          </p:nvPr>
        </p:nvSpPr>
        <p:spPr/>
        <p:txBody>
          <a:bodyPr/>
          <a:lstStyle/>
          <a:p>
            <a:fld id="{A2D74603-B40B-4D66-8F6E-41C870D48932}" type="slidenum">
              <a:rPr lang="en-US" altLang="zh-CN" smtClean="0"/>
              <a:pPr/>
              <a:t>128</a:t>
            </a:fld>
            <a:r>
              <a:rPr lang="en-US" altLang="zh-CN"/>
              <a:t>/162</a:t>
            </a:r>
            <a:endParaRPr lang="en-US" altLang="zh-CN" dirty="0"/>
          </a:p>
        </p:txBody>
      </p:sp>
    </p:spTree>
    <p:extLst>
      <p:ext uri="{BB962C8B-B14F-4D97-AF65-F5344CB8AC3E}">
        <p14:creationId xmlns:p14="http://schemas.microsoft.com/office/powerpoint/2010/main" val="35271742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40995">
                                            <p:txEl>
                                              <p:pRg st="1" end="1"/>
                                            </p:txEl>
                                          </p:spTgt>
                                        </p:tgtEl>
                                        <p:attrNameLst>
                                          <p:attrName>style.visibility</p:attrName>
                                        </p:attrNameLst>
                                      </p:cBhvr>
                                      <p:to>
                                        <p:strVal val="visible"/>
                                      </p:to>
                                    </p:set>
                                    <p:anim calcmode="lin" valueType="num">
                                      <p:cBhvr additive="base">
                                        <p:cTn id="7" dur="500" fill="hold"/>
                                        <p:tgtEl>
                                          <p:spTgt spid="34099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099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40995">
                                            <p:txEl>
                                              <p:pRg st="2" end="2"/>
                                            </p:txEl>
                                          </p:spTgt>
                                        </p:tgtEl>
                                        <p:attrNameLst>
                                          <p:attrName>style.visibility</p:attrName>
                                        </p:attrNameLst>
                                      </p:cBhvr>
                                      <p:to>
                                        <p:strVal val="visible"/>
                                      </p:to>
                                    </p:set>
                                    <p:anim calcmode="lin" valueType="num">
                                      <p:cBhvr additive="base">
                                        <p:cTn id="13" dur="500" fill="hold"/>
                                        <p:tgtEl>
                                          <p:spTgt spid="34099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4099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D378ED3B-50BA-4F21-9378-D07F61187739}" type="datetime1">
              <a:rPr lang="zh-CN" altLang="en-US" smtClean="0"/>
              <a:t>2025/11/6</a:t>
            </a:fld>
            <a:endParaRPr lang="en-US" altLang="zh-CN"/>
          </a:p>
        </p:txBody>
      </p:sp>
      <p:sp>
        <p:nvSpPr>
          <p:cNvPr id="340994" name="Rectangle 2"/>
          <p:cNvSpPr>
            <a:spLocks noGrp="1" noChangeArrowheads="1"/>
          </p:cNvSpPr>
          <p:nvPr>
            <p:ph type="title"/>
          </p:nvPr>
        </p:nvSpPr>
        <p:spPr/>
        <p:txBody>
          <a:bodyPr/>
          <a:lstStyle/>
          <a:p>
            <a:r>
              <a:rPr lang="zh-CN" altLang="en-US" dirty="0"/>
              <a:t>求解极小函数依赖集的过程</a:t>
            </a:r>
          </a:p>
        </p:txBody>
      </p:sp>
      <p:sp>
        <p:nvSpPr>
          <p:cNvPr id="340995" name="Rectangle 3"/>
          <p:cNvSpPr>
            <a:spLocks noGrp="1" noChangeArrowheads="1"/>
          </p:cNvSpPr>
          <p:nvPr>
            <p:ph type="body" idx="1"/>
          </p:nvPr>
        </p:nvSpPr>
        <p:spPr>
          <a:xfrm>
            <a:off x="539552" y="1484784"/>
            <a:ext cx="8426896" cy="5149552"/>
          </a:xfrm>
          <a:solidFill>
            <a:schemeClr val="accent3"/>
          </a:solidFill>
        </p:spPr>
        <p:txBody>
          <a:bodyPr/>
          <a:lstStyle/>
          <a:p>
            <a:pPr marL="533400" indent="-533400">
              <a:lnSpc>
                <a:spcPct val="90000"/>
              </a:lnSpc>
              <a:buFont typeface="Wingdings" pitchFamily="2" charset="2"/>
              <a:buAutoNum type="arabicPeriod"/>
            </a:pPr>
            <a:r>
              <a:rPr lang="zh-CN" altLang="en-US" sz="2800" dirty="0">
                <a:solidFill>
                  <a:schemeClr val="bg1">
                    <a:lumMod val="50000"/>
                  </a:schemeClr>
                </a:solidFill>
              </a:rPr>
              <a:t>用分解规则将</a:t>
            </a:r>
            <a:r>
              <a:rPr lang="en-US" altLang="zh-CN" sz="2800" dirty="0">
                <a:solidFill>
                  <a:schemeClr val="bg1">
                    <a:lumMod val="50000"/>
                  </a:schemeClr>
                </a:solidFill>
              </a:rPr>
              <a:t>F</a:t>
            </a:r>
            <a:r>
              <a:rPr lang="zh-CN" altLang="en-US" sz="2800" dirty="0">
                <a:solidFill>
                  <a:schemeClr val="bg1">
                    <a:lumMod val="50000"/>
                  </a:schemeClr>
                </a:solidFill>
              </a:rPr>
              <a:t>中每一函数依赖</a:t>
            </a:r>
            <a:r>
              <a:rPr lang="zh-CN" altLang="en-US" sz="2800" u="sng" dirty="0">
                <a:solidFill>
                  <a:schemeClr val="bg1">
                    <a:lumMod val="50000"/>
                  </a:schemeClr>
                </a:solidFill>
              </a:rPr>
              <a:t>分解为若干个右部唯一的函数依赖</a:t>
            </a:r>
            <a:r>
              <a:rPr lang="zh-CN" altLang="en-US" sz="2800" dirty="0">
                <a:solidFill>
                  <a:schemeClr val="bg1">
                    <a:lumMod val="50000"/>
                  </a:schemeClr>
                </a:solidFill>
              </a:rPr>
              <a:t>，新函数依赖集仍命名为</a:t>
            </a:r>
            <a:r>
              <a:rPr lang="en-US" altLang="zh-CN" sz="2800" dirty="0">
                <a:solidFill>
                  <a:schemeClr val="bg1">
                    <a:lumMod val="50000"/>
                  </a:schemeClr>
                </a:solidFill>
              </a:rPr>
              <a:t>F</a:t>
            </a:r>
            <a:r>
              <a:rPr lang="zh-CN" altLang="en-US" sz="2800" dirty="0">
                <a:solidFill>
                  <a:schemeClr val="bg1">
                    <a:lumMod val="50000"/>
                  </a:schemeClr>
                </a:solidFill>
              </a:rPr>
              <a:t>。</a:t>
            </a:r>
          </a:p>
          <a:p>
            <a:pPr marL="533400" indent="-533400">
              <a:lnSpc>
                <a:spcPct val="90000"/>
              </a:lnSpc>
              <a:spcBef>
                <a:spcPct val="30000"/>
              </a:spcBef>
              <a:buFont typeface="Wingdings" pitchFamily="2" charset="2"/>
              <a:buAutoNum type="arabicPeriod"/>
            </a:pPr>
            <a:r>
              <a:rPr lang="zh-CN" altLang="en-US" sz="2800" dirty="0">
                <a:solidFill>
                  <a:schemeClr val="bg1">
                    <a:lumMod val="50000"/>
                  </a:schemeClr>
                </a:solidFill>
              </a:rPr>
              <a:t>判断当前</a:t>
            </a:r>
            <a:r>
              <a:rPr lang="en-US" altLang="zh-CN" sz="2800" dirty="0">
                <a:solidFill>
                  <a:schemeClr val="bg1">
                    <a:lumMod val="50000"/>
                  </a:schemeClr>
                </a:solidFill>
              </a:rPr>
              <a:t>F</a:t>
            </a:r>
            <a:r>
              <a:rPr lang="zh-CN" altLang="en-US" sz="2800" dirty="0">
                <a:solidFill>
                  <a:schemeClr val="bg1">
                    <a:lumMod val="50000"/>
                  </a:schemeClr>
                </a:solidFill>
              </a:rPr>
              <a:t>中</a:t>
            </a:r>
            <a:r>
              <a:rPr lang="zh-CN" altLang="en-US" sz="2800" u="sng" dirty="0">
                <a:solidFill>
                  <a:schemeClr val="bg1">
                    <a:lumMod val="50000"/>
                  </a:schemeClr>
                </a:solidFill>
              </a:rPr>
              <a:t>有没有多余的函数依赖</a:t>
            </a:r>
            <a:r>
              <a:rPr lang="zh-CN" altLang="en-US" sz="2800" dirty="0">
                <a:solidFill>
                  <a:schemeClr val="bg1">
                    <a:lumMod val="50000"/>
                  </a:schemeClr>
                </a:solidFill>
              </a:rPr>
              <a:t>。</a:t>
            </a:r>
            <a:endParaRPr lang="en-US" altLang="zh-CN" sz="2800" dirty="0">
              <a:solidFill>
                <a:schemeClr val="bg1">
                  <a:lumMod val="50000"/>
                </a:schemeClr>
              </a:solidFill>
            </a:endParaRPr>
          </a:p>
          <a:p>
            <a:pPr marL="0" indent="0">
              <a:lnSpc>
                <a:spcPct val="90000"/>
              </a:lnSpc>
              <a:spcBef>
                <a:spcPct val="30000"/>
              </a:spcBef>
              <a:buNone/>
            </a:pPr>
            <a:r>
              <a:rPr lang="zh-CN" altLang="en-US" sz="2800" dirty="0">
                <a:solidFill>
                  <a:schemeClr val="bg1">
                    <a:lumMod val="50000"/>
                  </a:schemeClr>
                </a:solidFill>
              </a:rPr>
              <a:t>注意，检查</a:t>
            </a:r>
            <a:r>
              <a:rPr lang="en-US" altLang="zh-CN" sz="2800" dirty="0">
                <a:solidFill>
                  <a:schemeClr val="bg1">
                    <a:lumMod val="50000"/>
                  </a:schemeClr>
                </a:solidFill>
              </a:rPr>
              <a:t>X→A</a:t>
            </a:r>
            <a:r>
              <a:rPr lang="zh-CN" altLang="en-US" sz="2800" dirty="0">
                <a:solidFill>
                  <a:schemeClr val="bg1">
                    <a:lumMod val="50000"/>
                  </a:schemeClr>
                </a:solidFill>
              </a:rPr>
              <a:t>，要在</a:t>
            </a:r>
            <a:r>
              <a:rPr lang="en-US" altLang="zh-CN" sz="2800" dirty="0">
                <a:solidFill>
                  <a:schemeClr val="bg1">
                    <a:lumMod val="50000"/>
                  </a:schemeClr>
                </a:solidFill>
              </a:rPr>
              <a:t>G</a:t>
            </a:r>
            <a:r>
              <a:rPr lang="zh-CN" altLang="en-US" sz="2800" dirty="0">
                <a:solidFill>
                  <a:schemeClr val="bg1">
                    <a:lumMod val="50000"/>
                  </a:schemeClr>
                </a:solidFill>
              </a:rPr>
              <a:t>集</a:t>
            </a:r>
            <a:r>
              <a:rPr lang="en-US" altLang="zh-CN" sz="2800" dirty="0">
                <a:solidFill>
                  <a:schemeClr val="bg1">
                    <a:lumMod val="50000"/>
                  </a:schemeClr>
                </a:solidFill>
              </a:rPr>
              <a:t>(</a:t>
            </a:r>
            <a:r>
              <a:rPr lang="zh-CN" altLang="en-US" sz="2800" dirty="0">
                <a:solidFill>
                  <a:schemeClr val="bg1">
                    <a:lumMod val="50000"/>
                  </a:schemeClr>
                </a:solidFill>
              </a:rPr>
              <a:t>其中</a:t>
            </a:r>
            <a:r>
              <a:rPr lang="en-US" altLang="zh-CN" sz="2800" dirty="0">
                <a:solidFill>
                  <a:schemeClr val="bg1">
                    <a:lumMod val="50000"/>
                  </a:schemeClr>
                </a:solidFill>
              </a:rPr>
              <a:t>G=F-{X→A})</a:t>
            </a:r>
            <a:r>
              <a:rPr lang="zh-CN" altLang="en-US" sz="2800" dirty="0">
                <a:solidFill>
                  <a:schemeClr val="bg1">
                    <a:lumMod val="50000"/>
                  </a:schemeClr>
                </a:solidFill>
              </a:rPr>
              <a:t>下考察</a:t>
            </a:r>
            <a:r>
              <a:rPr lang="en-US" altLang="zh-CN" sz="2800" dirty="0">
                <a:solidFill>
                  <a:schemeClr val="bg1">
                    <a:lumMod val="50000"/>
                  </a:schemeClr>
                </a:solidFill>
              </a:rPr>
              <a:t>X→A</a:t>
            </a:r>
            <a:r>
              <a:rPr lang="zh-CN" altLang="en-US" sz="2800" dirty="0">
                <a:solidFill>
                  <a:schemeClr val="bg1">
                    <a:lumMod val="50000"/>
                  </a:schemeClr>
                </a:solidFill>
              </a:rPr>
              <a:t>是否被蕴含</a:t>
            </a:r>
            <a:r>
              <a:rPr lang="en-US" altLang="zh-CN" sz="2800" dirty="0">
                <a:solidFill>
                  <a:schemeClr val="bg1">
                    <a:lumMod val="50000"/>
                  </a:schemeClr>
                </a:solidFill>
              </a:rPr>
              <a:t>(G</a:t>
            </a:r>
            <a:r>
              <a:rPr lang="zh-CN" altLang="en-US" sz="2800" dirty="0">
                <a:solidFill>
                  <a:schemeClr val="bg1">
                    <a:lumMod val="50000"/>
                  </a:schemeClr>
                </a:solidFill>
              </a:rPr>
              <a:t>集下计算</a:t>
            </a:r>
            <a:r>
              <a:rPr lang="en-US" altLang="zh-CN" sz="2800" dirty="0">
                <a:solidFill>
                  <a:schemeClr val="bg1">
                    <a:lumMod val="50000"/>
                  </a:schemeClr>
                </a:solidFill>
              </a:rPr>
              <a:t>X</a:t>
            </a:r>
            <a:r>
              <a:rPr lang="en-US" altLang="zh-CN" sz="2800" b="1" baseline="-25000" dirty="0">
                <a:solidFill>
                  <a:schemeClr val="bg1">
                    <a:lumMod val="50000"/>
                  </a:schemeClr>
                </a:solidFill>
              </a:rPr>
              <a:t>G</a:t>
            </a:r>
            <a:r>
              <a:rPr lang="en-US" altLang="zh-CN" sz="2800" baseline="30000" dirty="0">
                <a:solidFill>
                  <a:schemeClr val="bg1">
                    <a:lumMod val="50000"/>
                  </a:schemeClr>
                </a:solidFill>
              </a:rPr>
              <a:t>+</a:t>
            </a:r>
            <a:r>
              <a:rPr lang="zh-CN" altLang="en-US" sz="2800" dirty="0">
                <a:solidFill>
                  <a:schemeClr val="bg1">
                    <a:lumMod val="50000"/>
                  </a:schemeClr>
                </a:solidFill>
              </a:rPr>
              <a:t>，看</a:t>
            </a:r>
            <a:r>
              <a:rPr lang="en-US" altLang="zh-CN" sz="2800" dirty="0">
                <a:solidFill>
                  <a:schemeClr val="bg1">
                    <a:lumMod val="50000"/>
                  </a:schemeClr>
                </a:solidFill>
              </a:rPr>
              <a:t>A</a:t>
            </a:r>
            <a:r>
              <a:rPr lang="zh-CN" altLang="en-US" sz="2800" dirty="0">
                <a:solidFill>
                  <a:schemeClr val="bg1">
                    <a:lumMod val="50000"/>
                  </a:schemeClr>
                </a:solidFill>
              </a:rPr>
              <a:t>是否包含在其中</a:t>
            </a:r>
            <a:r>
              <a:rPr lang="en-US" altLang="zh-CN" sz="2800" dirty="0">
                <a:solidFill>
                  <a:schemeClr val="bg1">
                    <a:lumMod val="50000"/>
                  </a:schemeClr>
                </a:solidFill>
              </a:rPr>
              <a:t>,</a:t>
            </a:r>
            <a:r>
              <a:rPr lang="zh-CN" altLang="en-US" sz="2800" dirty="0">
                <a:solidFill>
                  <a:schemeClr val="bg1">
                    <a:lumMod val="50000"/>
                  </a:schemeClr>
                </a:solidFill>
              </a:rPr>
              <a:t>若是则</a:t>
            </a:r>
            <a:r>
              <a:rPr lang="zh-CN" altLang="en-US" sz="2800" dirty="0">
                <a:solidFill>
                  <a:schemeClr val="bg1">
                    <a:lumMod val="50000"/>
                  </a:schemeClr>
                </a:solidFill>
                <a:sym typeface="Symbol" pitchFamily="18" charset="2"/>
              </a:rPr>
              <a:t>从 </a:t>
            </a:r>
            <a:r>
              <a:rPr lang="en-US" altLang="zh-CN" sz="2800" dirty="0">
                <a:solidFill>
                  <a:schemeClr val="bg1">
                    <a:lumMod val="50000"/>
                  </a:schemeClr>
                </a:solidFill>
                <a:sym typeface="Symbol" pitchFamily="18" charset="2"/>
              </a:rPr>
              <a:t>F </a:t>
            </a:r>
            <a:r>
              <a:rPr lang="zh-CN" altLang="en-US" sz="2800" dirty="0">
                <a:solidFill>
                  <a:schemeClr val="bg1">
                    <a:lumMod val="50000"/>
                  </a:schemeClr>
                </a:solidFill>
                <a:sym typeface="Symbol" pitchFamily="18" charset="2"/>
              </a:rPr>
              <a:t>中</a:t>
            </a:r>
            <a:r>
              <a:rPr lang="zh-CN" altLang="en-US" sz="2800" dirty="0">
                <a:solidFill>
                  <a:schemeClr val="bg1">
                    <a:lumMod val="50000"/>
                  </a:schemeClr>
                </a:solidFill>
                <a:latin typeface="Times New Roman" pitchFamily="18" charset="0"/>
                <a:ea typeface="宋体" charset="-122"/>
                <a:sym typeface="Symbol" pitchFamily="18" charset="2"/>
              </a:rPr>
              <a:t>去掉该函数依赖</a:t>
            </a:r>
            <a:r>
              <a:rPr lang="en-US" altLang="zh-CN" sz="2800" dirty="0">
                <a:solidFill>
                  <a:schemeClr val="bg1">
                    <a:lumMod val="50000"/>
                  </a:schemeClr>
                </a:solidFill>
              </a:rPr>
              <a:t>)</a:t>
            </a:r>
            <a:r>
              <a:rPr lang="zh-CN" altLang="en-US" sz="2800" dirty="0">
                <a:solidFill>
                  <a:schemeClr val="bg1">
                    <a:lumMod val="50000"/>
                  </a:schemeClr>
                </a:solidFill>
              </a:rPr>
              <a:t>。处理后的函数依赖集不妨仍命名为</a:t>
            </a:r>
            <a:r>
              <a:rPr lang="en-US" altLang="zh-CN" sz="2800" dirty="0">
                <a:solidFill>
                  <a:schemeClr val="bg1">
                    <a:lumMod val="50000"/>
                  </a:schemeClr>
                </a:solidFill>
              </a:rPr>
              <a:t>F</a:t>
            </a:r>
            <a:r>
              <a:rPr lang="zh-CN" altLang="en-US" sz="2800" dirty="0">
                <a:solidFill>
                  <a:schemeClr val="bg1">
                    <a:lumMod val="50000"/>
                  </a:schemeClr>
                </a:solidFill>
              </a:rPr>
              <a:t>。</a:t>
            </a:r>
          </a:p>
          <a:p>
            <a:pPr marL="533400" indent="-533400">
              <a:lnSpc>
                <a:spcPct val="90000"/>
              </a:lnSpc>
              <a:spcBef>
                <a:spcPct val="30000"/>
              </a:spcBef>
              <a:buFont typeface="+mj-lt"/>
              <a:buAutoNum type="arabicPeriod" startAt="3"/>
            </a:pPr>
            <a:r>
              <a:rPr lang="zh-CN" altLang="en-US" sz="2800" dirty="0">
                <a:solidFill>
                  <a:srgbClr val="C00000"/>
                </a:solidFill>
              </a:rPr>
              <a:t>判断</a:t>
            </a:r>
            <a:r>
              <a:rPr lang="zh-CN" altLang="en-US" sz="2800" dirty="0"/>
              <a:t>当前</a:t>
            </a:r>
            <a:r>
              <a:rPr lang="en-US" altLang="zh-CN" sz="2800" dirty="0"/>
              <a:t>F</a:t>
            </a:r>
            <a:r>
              <a:rPr lang="zh-CN" altLang="en-US" sz="2800" dirty="0"/>
              <a:t>中每一函数依赖</a:t>
            </a:r>
            <a:r>
              <a:rPr lang="zh-CN" altLang="en-US" sz="2800" u="sng" dirty="0">
                <a:solidFill>
                  <a:srgbClr val="C00000"/>
                </a:solidFill>
              </a:rPr>
              <a:t>左部</a:t>
            </a:r>
            <a:r>
              <a:rPr lang="zh-CN" altLang="en-US" sz="2800" u="sng" dirty="0">
                <a:solidFill>
                  <a:schemeClr val="tx2"/>
                </a:solidFill>
              </a:rPr>
              <a:t>有没有多余的属性</a:t>
            </a:r>
            <a:r>
              <a:rPr lang="zh-CN" altLang="en-US" sz="2800" dirty="0"/>
              <a:t>。</a:t>
            </a:r>
            <a:endParaRPr lang="en-US" altLang="zh-CN" sz="2800" dirty="0"/>
          </a:p>
          <a:p>
            <a:pPr marL="0" indent="0">
              <a:lnSpc>
                <a:spcPct val="90000"/>
              </a:lnSpc>
              <a:spcBef>
                <a:spcPct val="30000"/>
              </a:spcBef>
              <a:buNone/>
            </a:pPr>
            <a:r>
              <a:rPr lang="zh-CN" altLang="en-US" sz="2800" dirty="0"/>
              <a:t>注意，检查</a:t>
            </a:r>
            <a:r>
              <a:rPr lang="en-US" altLang="zh-CN" sz="2800" dirty="0">
                <a:solidFill>
                  <a:srgbClr val="0000FF"/>
                </a:solidFill>
              </a:rPr>
              <a:t>AB</a:t>
            </a:r>
            <a:r>
              <a:rPr lang="en-US" altLang="zh-CN" sz="2800" dirty="0"/>
              <a:t>→Y</a:t>
            </a:r>
            <a:r>
              <a:rPr lang="zh-CN" altLang="en-US" sz="2800" dirty="0"/>
              <a:t>中</a:t>
            </a:r>
            <a:r>
              <a:rPr lang="en-US" altLang="zh-CN" sz="2800" dirty="0"/>
              <a:t>B</a:t>
            </a:r>
            <a:r>
              <a:rPr lang="zh-CN" altLang="en-US" sz="2800" dirty="0"/>
              <a:t>是否多余时，需要考察</a:t>
            </a:r>
            <a:r>
              <a:rPr lang="en-US" altLang="zh-CN" sz="2800" dirty="0"/>
              <a:t>A→Y</a:t>
            </a:r>
            <a:r>
              <a:rPr lang="zh-CN" altLang="en-US" sz="2800" dirty="0"/>
              <a:t>是否为</a:t>
            </a:r>
            <a:r>
              <a:rPr lang="en-US" altLang="zh-CN" sz="2800" dirty="0">
                <a:solidFill>
                  <a:srgbClr val="0000FF"/>
                </a:solidFill>
              </a:rPr>
              <a:t>F</a:t>
            </a:r>
            <a:r>
              <a:rPr lang="zh-CN" altLang="en-US" sz="2800" dirty="0"/>
              <a:t>所蕴含</a:t>
            </a:r>
            <a:r>
              <a:rPr lang="en-US" altLang="zh-CN" sz="2800" dirty="0"/>
              <a:t>(F</a:t>
            </a:r>
            <a:r>
              <a:rPr lang="zh-CN" altLang="en-US" sz="2800" dirty="0"/>
              <a:t>集下计算</a:t>
            </a:r>
            <a:r>
              <a:rPr lang="en-US" altLang="zh-CN" sz="2800" dirty="0"/>
              <a:t>A</a:t>
            </a:r>
            <a:r>
              <a:rPr lang="en-US" altLang="zh-CN" sz="2800" b="1" baseline="-25000" dirty="0">
                <a:solidFill>
                  <a:srgbClr val="C00000"/>
                </a:solidFill>
              </a:rPr>
              <a:t>F</a:t>
            </a:r>
            <a:r>
              <a:rPr lang="en-US" altLang="zh-CN" sz="2800" baseline="30000" dirty="0"/>
              <a:t>+</a:t>
            </a:r>
            <a:r>
              <a:rPr lang="zh-CN" altLang="en-US" sz="2800" dirty="0"/>
              <a:t>，看</a:t>
            </a:r>
            <a:r>
              <a:rPr lang="en-US" altLang="zh-CN" sz="2800" dirty="0"/>
              <a:t>Y</a:t>
            </a:r>
            <a:r>
              <a:rPr lang="zh-CN" altLang="en-US" sz="2800" dirty="0"/>
              <a:t>是否包含在其中，是用</a:t>
            </a:r>
            <a:r>
              <a:rPr lang="en-US" altLang="zh-CN" sz="2800" dirty="0"/>
              <a:t>A→Y</a:t>
            </a:r>
            <a:r>
              <a:rPr lang="zh-CN" altLang="en-US" sz="2800" b="1" dirty="0">
                <a:solidFill>
                  <a:srgbClr val="C00000"/>
                </a:solidFill>
              </a:rPr>
              <a:t>代替</a:t>
            </a:r>
            <a:r>
              <a:rPr lang="en-US" altLang="zh-CN" sz="2800" dirty="0"/>
              <a:t>AB→Y)</a:t>
            </a:r>
            <a:r>
              <a:rPr lang="zh-CN" altLang="en-US" sz="2800" dirty="0"/>
              <a:t>。最后得到</a:t>
            </a:r>
            <a:r>
              <a:rPr lang="en-US" altLang="zh-CN" sz="2800" dirty="0"/>
              <a:t>F</a:t>
            </a:r>
            <a:r>
              <a:rPr lang="zh-CN" altLang="en-US" sz="2800" dirty="0"/>
              <a:t>的函数依赖集</a:t>
            </a:r>
            <a:r>
              <a:rPr lang="en-US" altLang="zh-CN" sz="2800" dirty="0" err="1"/>
              <a:t>F</a:t>
            </a:r>
            <a:r>
              <a:rPr lang="en-US" altLang="zh-CN" sz="2800" baseline="-25000" dirty="0" err="1"/>
              <a:t>m</a:t>
            </a:r>
            <a:r>
              <a:rPr lang="zh-CN" altLang="en-US" sz="2800" dirty="0"/>
              <a:t>。 </a:t>
            </a:r>
          </a:p>
        </p:txBody>
      </p:sp>
      <p:sp>
        <p:nvSpPr>
          <p:cNvPr id="7" name="椭圆形标注 6"/>
          <p:cNvSpPr/>
          <p:nvPr/>
        </p:nvSpPr>
        <p:spPr bwMode="auto">
          <a:xfrm>
            <a:off x="5724128" y="3212976"/>
            <a:ext cx="2743200" cy="1168539"/>
          </a:xfrm>
          <a:prstGeom prst="wedgeEllipseCallout">
            <a:avLst>
              <a:gd name="adj1" fmla="val -2522"/>
              <a:gd name="adj2" fmla="val 72358"/>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r>
              <a:rPr lang="en-US" altLang="zh-CN" dirty="0">
                <a:solidFill>
                  <a:schemeClr val="hlink"/>
                </a:solidFill>
                <a:latin typeface="Times New Roman" pitchFamily="18" charset="0"/>
                <a:ea typeface="宋体" charset="-122"/>
              </a:rPr>
              <a:t>3</a:t>
            </a:r>
            <a:r>
              <a:rPr lang="zh-CN" altLang="en-US" dirty="0">
                <a:solidFill>
                  <a:schemeClr val="hlink"/>
                </a:solidFill>
                <a:latin typeface="Times New Roman" pitchFamily="18" charset="0"/>
                <a:ea typeface="宋体" charset="-122"/>
              </a:rPr>
              <a:t>.无部分函数依赖</a:t>
            </a:r>
            <a:r>
              <a:rPr lang="en-US" altLang="zh-CN" dirty="0">
                <a:solidFill>
                  <a:schemeClr val="hlink"/>
                </a:solidFill>
                <a:latin typeface="Times New Roman" pitchFamily="18" charset="0"/>
                <a:ea typeface="宋体" charset="-122"/>
              </a:rPr>
              <a:t>(</a:t>
            </a:r>
            <a:r>
              <a:rPr lang="zh-CN" altLang="en-US" dirty="0">
                <a:solidFill>
                  <a:schemeClr val="hlink"/>
                </a:solidFill>
                <a:latin typeface="Times New Roman" pitchFamily="18" charset="0"/>
                <a:ea typeface="宋体" charset="-122"/>
              </a:rPr>
              <a:t>既约性</a:t>
            </a:r>
            <a:r>
              <a:rPr lang="en-US" altLang="zh-CN" dirty="0">
                <a:solidFill>
                  <a:schemeClr val="hlink"/>
                </a:solidFill>
                <a:latin typeface="Times New Roman" pitchFamily="18" charset="0"/>
                <a:ea typeface="宋体" charset="-122"/>
              </a:rPr>
              <a:t>)</a:t>
            </a:r>
          </a:p>
        </p:txBody>
      </p:sp>
      <p:sp>
        <p:nvSpPr>
          <p:cNvPr id="3" name="页脚占位符 2">
            <a:extLst>
              <a:ext uri="{FF2B5EF4-FFF2-40B4-BE49-F238E27FC236}">
                <a16:creationId xmlns:a16="http://schemas.microsoft.com/office/drawing/2014/main" id="{C889A4FE-4C47-A118-27D9-48EF187150DB}"/>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600EE8E1-E60F-E630-78C7-387F631D2D3D}"/>
              </a:ext>
            </a:extLst>
          </p:cNvPr>
          <p:cNvSpPr>
            <a:spLocks noGrp="1"/>
          </p:cNvSpPr>
          <p:nvPr>
            <p:ph type="sldNum" sz="quarter" idx="12"/>
          </p:nvPr>
        </p:nvSpPr>
        <p:spPr/>
        <p:txBody>
          <a:bodyPr/>
          <a:lstStyle/>
          <a:p>
            <a:fld id="{A2D74603-B40B-4D66-8F6E-41C870D48932}" type="slidenum">
              <a:rPr lang="en-US" altLang="zh-CN" smtClean="0"/>
              <a:pPr/>
              <a:t>129</a:t>
            </a:fld>
            <a:r>
              <a:rPr lang="en-US" altLang="zh-CN"/>
              <a:t>/162</a:t>
            </a:r>
            <a:endParaRPr lang="en-US" altLang="zh-CN" dirty="0"/>
          </a:p>
        </p:txBody>
      </p:sp>
    </p:spTree>
    <p:extLst>
      <p:ext uri="{BB962C8B-B14F-4D97-AF65-F5344CB8AC3E}">
        <p14:creationId xmlns:p14="http://schemas.microsoft.com/office/powerpoint/2010/main" val="36725790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1A4019FC-DAB9-4C4D-9686-C4E06D2C8237}" type="datetime1">
              <a:rPr lang="zh-CN" altLang="en-US" smtClean="0"/>
              <a:t>2025/11/6</a:t>
            </a:fld>
            <a:endParaRPr lang="en-US" altLang="zh-CN"/>
          </a:p>
        </p:txBody>
      </p:sp>
      <p:sp>
        <p:nvSpPr>
          <p:cNvPr id="322562" name="Rectangle 2"/>
          <p:cNvSpPr>
            <a:spLocks noGrp="1" noChangeArrowheads="1"/>
          </p:cNvSpPr>
          <p:nvPr>
            <p:ph type="title"/>
          </p:nvPr>
        </p:nvSpPr>
        <p:spPr/>
        <p:txBody>
          <a:bodyPr/>
          <a:lstStyle/>
          <a:p>
            <a:r>
              <a:rPr lang="en-US" altLang="zh-CN" dirty="0"/>
              <a:t>8.3 </a:t>
            </a:r>
            <a:r>
              <a:rPr lang="zh-CN" altLang="en-US" dirty="0"/>
              <a:t>数据依赖的公理系统</a:t>
            </a:r>
          </a:p>
        </p:txBody>
      </p:sp>
      <p:sp>
        <p:nvSpPr>
          <p:cNvPr id="322563" name="Rectangle 3"/>
          <p:cNvSpPr>
            <a:spLocks noGrp="1" noChangeArrowheads="1"/>
          </p:cNvSpPr>
          <p:nvPr>
            <p:ph type="body" idx="1"/>
          </p:nvPr>
        </p:nvSpPr>
        <p:spPr>
          <a:xfrm>
            <a:off x="609600" y="1447801"/>
            <a:ext cx="8345488" cy="2866890"/>
          </a:xfrm>
        </p:spPr>
        <p:txBody>
          <a:bodyPr/>
          <a:lstStyle/>
          <a:p>
            <a:pPr>
              <a:buFont typeface="Wingdings" pitchFamily="2" charset="2"/>
              <a:buNone/>
            </a:pPr>
            <a:r>
              <a:rPr lang="zh-CN" altLang="en-US" dirty="0"/>
              <a:t>例子：设</a:t>
            </a:r>
            <a:r>
              <a:rPr lang="en-US" altLang="zh-CN" dirty="0"/>
              <a:t>F</a:t>
            </a:r>
            <a:r>
              <a:rPr lang="zh-CN" altLang="en-US" dirty="0"/>
              <a:t>＝</a:t>
            </a:r>
            <a:r>
              <a:rPr lang="en-US" altLang="zh-CN" dirty="0"/>
              <a:t>{</a:t>
            </a:r>
            <a:r>
              <a:rPr lang="en-US" altLang="zh-CN" dirty="0">
                <a:solidFill>
                  <a:srgbClr val="339933"/>
                </a:solidFill>
              </a:rPr>
              <a:t>AB</a:t>
            </a:r>
            <a:r>
              <a:rPr lang="en-US" altLang="zh-CN" dirty="0">
                <a:solidFill>
                  <a:srgbClr val="339933"/>
                </a:solidFill>
                <a:latin typeface="宋体" pitchFamily="2" charset="-122"/>
              </a:rPr>
              <a:t>→</a:t>
            </a:r>
            <a:r>
              <a:rPr lang="en-US" altLang="zh-CN" dirty="0">
                <a:solidFill>
                  <a:srgbClr val="339933"/>
                </a:solidFill>
              </a:rPr>
              <a:t>C</a:t>
            </a:r>
            <a:r>
              <a:rPr lang="zh-CN" altLang="en-US" dirty="0"/>
              <a:t>，</a:t>
            </a:r>
            <a:r>
              <a:rPr lang="en-US" altLang="zh-CN" dirty="0"/>
              <a:t>A</a:t>
            </a:r>
            <a:r>
              <a:rPr lang="en-US" altLang="zh-CN" dirty="0">
                <a:latin typeface="宋体" pitchFamily="2" charset="-122"/>
              </a:rPr>
              <a:t>→</a:t>
            </a:r>
            <a:r>
              <a:rPr lang="en-US" altLang="zh-CN" dirty="0"/>
              <a:t>B}</a:t>
            </a:r>
            <a:r>
              <a:rPr lang="zh-CN" altLang="en-US" dirty="0"/>
              <a:t>，求</a:t>
            </a:r>
            <a:r>
              <a:rPr lang="en-US" altLang="zh-CN" dirty="0" err="1"/>
              <a:t>F</a:t>
            </a:r>
            <a:r>
              <a:rPr lang="en-US" altLang="zh-CN" baseline="-25000" dirty="0" err="1"/>
              <a:t>m</a:t>
            </a:r>
            <a:r>
              <a:rPr lang="zh-CN" altLang="en-US" dirty="0"/>
              <a:t>。</a:t>
            </a:r>
          </a:p>
          <a:p>
            <a:pPr>
              <a:buFont typeface="Wingdings" pitchFamily="2" charset="2"/>
              <a:buNone/>
            </a:pPr>
            <a:r>
              <a:rPr lang="en-US" altLang="zh-CN" dirty="0" err="1"/>
              <a:t>F</a:t>
            </a:r>
            <a:r>
              <a:rPr lang="en-US" altLang="zh-CN" baseline="-25000" dirty="0" err="1"/>
              <a:t>m</a:t>
            </a:r>
            <a:r>
              <a:rPr lang="zh-CN" altLang="en-US" dirty="0"/>
              <a:t>＝</a:t>
            </a:r>
            <a:r>
              <a:rPr lang="en-US" altLang="zh-CN" dirty="0"/>
              <a:t>{</a:t>
            </a:r>
            <a:r>
              <a:rPr lang="en-US" altLang="zh-CN" dirty="0">
                <a:solidFill>
                  <a:srgbClr val="0000FF"/>
                </a:solidFill>
              </a:rPr>
              <a:t>B</a:t>
            </a:r>
            <a:r>
              <a:rPr lang="en-US" altLang="zh-CN" dirty="0">
                <a:solidFill>
                  <a:srgbClr val="0000FF"/>
                </a:solidFill>
                <a:latin typeface="宋体" pitchFamily="2" charset="-122"/>
              </a:rPr>
              <a:t>→</a:t>
            </a:r>
            <a:r>
              <a:rPr lang="en-US" altLang="zh-CN" dirty="0">
                <a:solidFill>
                  <a:srgbClr val="0000FF"/>
                </a:solidFill>
              </a:rPr>
              <a:t>C</a:t>
            </a:r>
            <a:r>
              <a:rPr lang="zh-CN" altLang="en-US" dirty="0"/>
              <a:t>，</a:t>
            </a:r>
            <a:r>
              <a:rPr lang="en-US" altLang="zh-CN" dirty="0"/>
              <a:t>A</a:t>
            </a:r>
            <a:r>
              <a:rPr lang="en-US" altLang="zh-CN" dirty="0">
                <a:latin typeface="宋体" pitchFamily="2" charset="-122"/>
              </a:rPr>
              <a:t>→</a:t>
            </a:r>
            <a:r>
              <a:rPr lang="en-US" altLang="zh-CN" dirty="0"/>
              <a:t>B} </a:t>
            </a:r>
          </a:p>
          <a:p>
            <a:pPr>
              <a:buFont typeface="Wingdings" pitchFamily="2" charset="2"/>
              <a:buNone/>
            </a:pPr>
            <a:r>
              <a:rPr lang="zh-CN" altLang="en-US" dirty="0"/>
              <a:t>对不对？为什么？</a:t>
            </a:r>
          </a:p>
          <a:p>
            <a:pPr>
              <a:buFont typeface="Wingdings" pitchFamily="2" charset="2"/>
              <a:buNone/>
            </a:pPr>
            <a:endParaRPr lang="zh-CN" altLang="en-US" i="1" dirty="0"/>
          </a:p>
        </p:txBody>
      </p:sp>
      <p:sp>
        <p:nvSpPr>
          <p:cNvPr id="2" name="矩形 1">
            <a:extLst>
              <a:ext uri="{FF2B5EF4-FFF2-40B4-BE49-F238E27FC236}">
                <a16:creationId xmlns:a16="http://schemas.microsoft.com/office/drawing/2014/main" id="{2E4E3C4A-FD46-49D8-A066-8013CCF3E09B}"/>
              </a:ext>
            </a:extLst>
          </p:cNvPr>
          <p:cNvSpPr/>
          <p:nvPr/>
        </p:nvSpPr>
        <p:spPr>
          <a:xfrm>
            <a:off x="1016604" y="3391322"/>
            <a:ext cx="5643628" cy="584775"/>
          </a:xfrm>
          <a:prstGeom prst="rect">
            <a:avLst/>
          </a:prstGeom>
        </p:spPr>
        <p:txBody>
          <a:bodyPr wrap="square">
            <a:spAutoFit/>
          </a:bodyPr>
          <a:lstStyle/>
          <a:p>
            <a:pPr>
              <a:buFont typeface="Wingdings" pitchFamily="2" charset="2"/>
              <a:buNone/>
            </a:pPr>
            <a:r>
              <a:rPr lang="zh-CN" altLang="en-US" sz="3200" dirty="0"/>
              <a:t>上面的</a:t>
            </a:r>
            <a:r>
              <a:rPr lang="en-US" altLang="zh-CN" sz="3200" dirty="0"/>
              <a:t>F</a:t>
            </a:r>
            <a:r>
              <a:rPr lang="zh-CN" altLang="en-US" sz="3200" dirty="0"/>
              <a:t>与</a:t>
            </a:r>
            <a:r>
              <a:rPr lang="en-US" altLang="zh-CN" sz="3200" dirty="0" err="1"/>
              <a:t>F</a:t>
            </a:r>
            <a:r>
              <a:rPr lang="en-US" altLang="zh-CN" sz="3200" baseline="-25000" dirty="0" err="1"/>
              <a:t>m</a:t>
            </a:r>
            <a:r>
              <a:rPr lang="zh-CN" altLang="en-US" sz="3200" dirty="0"/>
              <a:t>根本不等价。</a:t>
            </a:r>
          </a:p>
        </p:txBody>
      </p:sp>
      <p:sp>
        <p:nvSpPr>
          <p:cNvPr id="5" name="文本框 4">
            <a:extLst>
              <a:ext uri="{FF2B5EF4-FFF2-40B4-BE49-F238E27FC236}">
                <a16:creationId xmlns:a16="http://schemas.microsoft.com/office/drawing/2014/main" id="{E3047B4F-74B7-5DB6-AAAC-65F1884E990C}"/>
              </a:ext>
            </a:extLst>
          </p:cNvPr>
          <p:cNvSpPr txBox="1"/>
          <p:nvPr/>
        </p:nvSpPr>
        <p:spPr>
          <a:xfrm>
            <a:off x="684312" y="4314690"/>
            <a:ext cx="5540299" cy="461665"/>
          </a:xfrm>
          <a:prstGeom prst="rect">
            <a:avLst/>
          </a:prstGeom>
          <a:noFill/>
        </p:spPr>
        <p:txBody>
          <a:bodyPr wrap="none" rtlCol="0">
            <a:spAutoFit/>
          </a:bodyPr>
          <a:lstStyle/>
          <a:p>
            <a:r>
              <a:rPr lang="zh-CN" altLang="en-US" dirty="0"/>
              <a:t>由</a:t>
            </a:r>
            <a:r>
              <a:rPr lang="en-US" altLang="zh-CN" dirty="0"/>
              <a:t>AB</a:t>
            </a:r>
            <a:r>
              <a:rPr lang="en-US" altLang="zh-CN" dirty="0">
                <a:latin typeface="宋体" pitchFamily="2" charset="-122"/>
              </a:rPr>
              <a:t>→</a:t>
            </a:r>
            <a:r>
              <a:rPr lang="en-US" altLang="zh-CN" dirty="0"/>
              <a:t>C, A</a:t>
            </a:r>
            <a:r>
              <a:rPr lang="en-US" altLang="zh-CN" dirty="0">
                <a:latin typeface="宋体" pitchFamily="2" charset="-122"/>
              </a:rPr>
              <a:t>→</a:t>
            </a:r>
            <a:r>
              <a:rPr lang="en-US" altLang="zh-CN" dirty="0"/>
              <a:t>B</a:t>
            </a:r>
            <a:r>
              <a:rPr lang="zh-CN" altLang="en-US" dirty="0"/>
              <a:t>可否能推导得到 </a:t>
            </a:r>
            <a:r>
              <a:rPr lang="en-US" altLang="zh-CN" dirty="0">
                <a:solidFill>
                  <a:srgbClr val="0000FF"/>
                </a:solidFill>
              </a:rPr>
              <a:t>B</a:t>
            </a:r>
            <a:r>
              <a:rPr lang="en-US" altLang="zh-CN" dirty="0">
                <a:solidFill>
                  <a:srgbClr val="0000FF"/>
                </a:solidFill>
                <a:latin typeface="宋体" pitchFamily="2" charset="-122"/>
              </a:rPr>
              <a:t>→</a:t>
            </a:r>
            <a:r>
              <a:rPr lang="en-US" altLang="zh-CN" dirty="0">
                <a:solidFill>
                  <a:srgbClr val="0000FF"/>
                </a:solidFill>
              </a:rPr>
              <a:t>C</a:t>
            </a:r>
            <a:r>
              <a:rPr lang="zh-CN" altLang="en-US" dirty="0"/>
              <a:t>？ </a:t>
            </a:r>
          </a:p>
        </p:txBody>
      </p:sp>
      <p:sp>
        <p:nvSpPr>
          <p:cNvPr id="8" name="文本框 7">
            <a:extLst>
              <a:ext uri="{FF2B5EF4-FFF2-40B4-BE49-F238E27FC236}">
                <a16:creationId xmlns:a16="http://schemas.microsoft.com/office/drawing/2014/main" id="{C8143FE1-1DC3-6C20-4255-38B6A4F077F7}"/>
              </a:ext>
            </a:extLst>
          </p:cNvPr>
          <p:cNvSpPr txBox="1"/>
          <p:nvPr/>
        </p:nvSpPr>
        <p:spPr>
          <a:xfrm>
            <a:off x="684312" y="4839851"/>
            <a:ext cx="7776120" cy="830997"/>
          </a:xfrm>
          <a:prstGeom prst="rect">
            <a:avLst/>
          </a:prstGeom>
          <a:noFill/>
        </p:spPr>
        <p:txBody>
          <a:bodyPr wrap="square">
            <a:spAutoFit/>
          </a:bodyPr>
          <a:lstStyle/>
          <a:p>
            <a:pPr algn="l"/>
            <a:r>
              <a:rPr lang="zh-CN" altLang="en-US" dirty="0"/>
              <a:t>也即：</a:t>
            </a:r>
            <a:r>
              <a:rPr lang="zh-CN" altLang="en-US" sz="2400" dirty="0"/>
              <a:t>检查</a:t>
            </a:r>
            <a:r>
              <a:rPr lang="en-US" altLang="zh-CN" sz="2400" dirty="0">
                <a:solidFill>
                  <a:srgbClr val="0000FF"/>
                </a:solidFill>
              </a:rPr>
              <a:t>AB</a:t>
            </a:r>
            <a:r>
              <a:rPr lang="en-US" altLang="zh-CN" sz="2400" dirty="0"/>
              <a:t>→C</a:t>
            </a:r>
            <a:r>
              <a:rPr lang="zh-CN" altLang="en-US" sz="2400" dirty="0"/>
              <a:t>中</a:t>
            </a:r>
            <a:r>
              <a:rPr lang="en-US" altLang="zh-CN" sz="2400" dirty="0">
                <a:solidFill>
                  <a:srgbClr val="0000FF"/>
                </a:solidFill>
              </a:rPr>
              <a:t>A</a:t>
            </a:r>
            <a:r>
              <a:rPr lang="zh-CN" altLang="en-US" sz="2400" dirty="0">
                <a:solidFill>
                  <a:srgbClr val="0000FF"/>
                </a:solidFill>
              </a:rPr>
              <a:t>是否多余</a:t>
            </a:r>
            <a:r>
              <a:rPr lang="zh-CN" altLang="en-US" sz="2400" dirty="0"/>
              <a:t>，那需要考察</a:t>
            </a:r>
            <a:r>
              <a:rPr lang="en-US" altLang="zh-CN" sz="2400" dirty="0"/>
              <a:t>B→C</a:t>
            </a:r>
            <a:r>
              <a:rPr lang="zh-CN" altLang="en-US" sz="2400" dirty="0"/>
              <a:t>是否为</a:t>
            </a:r>
            <a:r>
              <a:rPr lang="en-US" altLang="zh-CN" sz="2400" dirty="0"/>
              <a:t>F</a:t>
            </a:r>
            <a:r>
              <a:rPr lang="zh-CN" altLang="en-US" sz="2400" dirty="0"/>
              <a:t>所蕴含</a:t>
            </a:r>
            <a:r>
              <a:rPr lang="en-US" altLang="zh-CN" sz="2400" dirty="0"/>
              <a:t>, F</a:t>
            </a:r>
            <a:r>
              <a:rPr lang="zh-CN" altLang="en-US" sz="2400" dirty="0"/>
              <a:t>集下计算</a:t>
            </a:r>
            <a:r>
              <a:rPr lang="en-US" altLang="zh-CN" sz="2400" dirty="0"/>
              <a:t>B</a:t>
            </a:r>
            <a:r>
              <a:rPr lang="en-US" altLang="zh-CN" sz="2400" b="1" baseline="-25000" dirty="0">
                <a:solidFill>
                  <a:srgbClr val="C00000"/>
                </a:solidFill>
              </a:rPr>
              <a:t>F</a:t>
            </a:r>
            <a:r>
              <a:rPr lang="en-US" altLang="zh-CN" sz="2400" baseline="30000" dirty="0"/>
              <a:t>+</a:t>
            </a:r>
            <a:r>
              <a:rPr lang="en-US" altLang="zh-CN" sz="2400" dirty="0"/>
              <a:t>, </a:t>
            </a:r>
            <a:r>
              <a:rPr lang="zh-CN" altLang="en-US" sz="2400" dirty="0"/>
              <a:t>看</a:t>
            </a:r>
            <a:r>
              <a:rPr lang="en-US" altLang="zh-CN" sz="2400" dirty="0"/>
              <a:t>C</a:t>
            </a:r>
            <a:r>
              <a:rPr lang="zh-CN" altLang="en-US" sz="2400" dirty="0"/>
              <a:t>是否包含其中。</a:t>
            </a:r>
            <a:endParaRPr lang="zh-CN" altLang="en-US" dirty="0"/>
          </a:p>
        </p:txBody>
      </p:sp>
      <p:sp>
        <p:nvSpPr>
          <p:cNvPr id="11" name="文本框 10">
            <a:extLst>
              <a:ext uri="{FF2B5EF4-FFF2-40B4-BE49-F238E27FC236}">
                <a16:creationId xmlns:a16="http://schemas.microsoft.com/office/drawing/2014/main" id="{230AF72D-0970-196D-5D99-4F76373B70B2}"/>
              </a:ext>
            </a:extLst>
          </p:cNvPr>
          <p:cNvSpPr txBox="1"/>
          <p:nvPr/>
        </p:nvSpPr>
        <p:spPr>
          <a:xfrm>
            <a:off x="2893787" y="5691814"/>
            <a:ext cx="1905000" cy="461665"/>
          </a:xfrm>
          <a:prstGeom prst="rect">
            <a:avLst/>
          </a:prstGeom>
          <a:noFill/>
        </p:spPr>
        <p:txBody>
          <a:bodyPr wrap="square">
            <a:spAutoFit/>
          </a:bodyPr>
          <a:lstStyle/>
          <a:p>
            <a:r>
              <a:rPr lang="en-US" altLang="zh-CN" sz="2400" dirty="0"/>
              <a:t>B</a:t>
            </a:r>
            <a:r>
              <a:rPr lang="en-US" altLang="zh-CN" sz="2400" b="1" baseline="-25000" dirty="0">
                <a:solidFill>
                  <a:srgbClr val="C00000"/>
                </a:solidFill>
              </a:rPr>
              <a:t>F</a:t>
            </a:r>
            <a:r>
              <a:rPr lang="en-US" altLang="zh-CN" sz="2400" baseline="30000" dirty="0"/>
              <a:t>+</a:t>
            </a:r>
            <a:r>
              <a:rPr lang="en-US" altLang="zh-CN" dirty="0"/>
              <a:t>={}</a:t>
            </a:r>
            <a:endParaRPr lang="zh-CN" altLang="en-US" dirty="0"/>
          </a:p>
        </p:txBody>
      </p:sp>
      <p:sp>
        <p:nvSpPr>
          <p:cNvPr id="6" name="十字形 5">
            <a:extLst>
              <a:ext uri="{FF2B5EF4-FFF2-40B4-BE49-F238E27FC236}">
                <a16:creationId xmlns:a16="http://schemas.microsoft.com/office/drawing/2014/main" id="{A6B180AD-FB80-3FEE-34A9-989EA5198FF5}"/>
              </a:ext>
            </a:extLst>
          </p:cNvPr>
          <p:cNvSpPr/>
          <p:nvPr/>
        </p:nvSpPr>
        <p:spPr bwMode="auto">
          <a:xfrm rot="2770964">
            <a:off x="5991022" y="4223201"/>
            <a:ext cx="616605" cy="625080"/>
          </a:xfrm>
          <a:prstGeom prst="plus">
            <a:avLst>
              <a:gd name="adj" fmla="val 41618"/>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sp>
        <p:nvSpPr>
          <p:cNvPr id="3" name="页脚占位符 2">
            <a:extLst>
              <a:ext uri="{FF2B5EF4-FFF2-40B4-BE49-F238E27FC236}">
                <a16:creationId xmlns:a16="http://schemas.microsoft.com/office/drawing/2014/main" id="{89CD7553-84BC-E6D9-94CB-04DF89E6D6AA}"/>
              </a:ext>
            </a:extLst>
          </p:cNvPr>
          <p:cNvSpPr>
            <a:spLocks noGrp="1"/>
          </p:cNvSpPr>
          <p:nvPr>
            <p:ph type="ftr" sz="quarter" idx="11"/>
          </p:nvPr>
        </p:nvSpPr>
        <p:spPr/>
        <p:txBody>
          <a:bodyPr/>
          <a:lstStyle/>
          <a:p>
            <a:r>
              <a:rPr lang="en-US" altLang="zh-CN"/>
              <a:t>《数据库系统概论》- 第6章</a:t>
            </a:r>
          </a:p>
        </p:txBody>
      </p:sp>
      <p:sp>
        <p:nvSpPr>
          <p:cNvPr id="10" name="灯片编号占位符 9">
            <a:extLst>
              <a:ext uri="{FF2B5EF4-FFF2-40B4-BE49-F238E27FC236}">
                <a16:creationId xmlns:a16="http://schemas.microsoft.com/office/drawing/2014/main" id="{3E843173-2C2C-24AD-F2A7-B7111AA70695}"/>
              </a:ext>
            </a:extLst>
          </p:cNvPr>
          <p:cNvSpPr>
            <a:spLocks noGrp="1"/>
          </p:cNvSpPr>
          <p:nvPr>
            <p:ph type="sldNum" sz="quarter" idx="12"/>
          </p:nvPr>
        </p:nvSpPr>
        <p:spPr/>
        <p:txBody>
          <a:bodyPr/>
          <a:lstStyle/>
          <a:p>
            <a:fld id="{A2D74603-B40B-4D66-8F6E-41C870D48932}" type="slidenum">
              <a:rPr lang="en-US" altLang="zh-CN" smtClean="0"/>
              <a:pPr/>
              <a:t>130</a:t>
            </a:fld>
            <a:r>
              <a:rPr lang="en-US" altLang="zh-CN"/>
              <a:t>/162</a:t>
            </a:r>
            <a:endParaRPr lang="en-US" altLang="zh-CN" dirty="0"/>
          </a:p>
        </p:txBody>
      </p:sp>
    </p:spTree>
    <p:extLst>
      <p:ext uri="{BB962C8B-B14F-4D97-AF65-F5344CB8AC3E}">
        <p14:creationId xmlns:p14="http://schemas.microsoft.com/office/powerpoint/2010/main" val="31611831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ppt_x"/>
                                          </p:val>
                                        </p:tav>
                                        <p:tav tm="100000">
                                          <p:val>
                                            <p:strVal val="#ppt_x"/>
                                          </p:val>
                                        </p:tav>
                                      </p:tavLst>
                                    </p:anim>
                                    <p:anim calcmode="lin" valueType="num">
                                      <p:cBhvr additive="base">
                                        <p:cTn id="19"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ppt_x"/>
                                          </p:val>
                                        </p:tav>
                                        <p:tav tm="100000">
                                          <p:val>
                                            <p:strVal val="#ppt_x"/>
                                          </p:val>
                                        </p:tav>
                                      </p:tavLst>
                                    </p:anim>
                                    <p:anim calcmode="lin" valueType="num">
                                      <p:cBhvr additive="base">
                                        <p:cTn id="25"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down)">
                                      <p:cBhvr>
                                        <p:cTn id="3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8" grpId="0"/>
      <p:bldP spid="11" grpId="0"/>
      <p:bldP spid="6"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B5FB5461-772B-46A8-A9E3-09BB1D24345F}" type="datetime1">
              <a:rPr lang="zh-CN" altLang="en-US" smtClean="0"/>
              <a:t>2025/11/6</a:t>
            </a:fld>
            <a:endParaRPr lang="en-US" altLang="zh-CN"/>
          </a:p>
        </p:txBody>
      </p:sp>
      <p:sp>
        <p:nvSpPr>
          <p:cNvPr id="322562" name="Rectangle 2"/>
          <p:cNvSpPr>
            <a:spLocks noGrp="1" noChangeArrowheads="1"/>
          </p:cNvSpPr>
          <p:nvPr>
            <p:ph type="title"/>
          </p:nvPr>
        </p:nvSpPr>
        <p:spPr/>
        <p:txBody>
          <a:bodyPr/>
          <a:lstStyle/>
          <a:p>
            <a:r>
              <a:rPr lang="en-US" altLang="zh-CN" dirty="0"/>
              <a:t>8.3 </a:t>
            </a:r>
            <a:r>
              <a:rPr lang="zh-CN" altLang="en-US" dirty="0"/>
              <a:t>数据依赖的公理系统</a:t>
            </a:r>
          </a:p>
        </p:txBody>
      </p:sp>
      <p:sp>
        <p:nvSpPr>
          <p:cNvPr id="322563" name="Rectangle 3"/>
          <p:cNvSpPr>
            <a:spLocks noGrp="1" noChangeArrowheads="1"/>
          </p:cNvSpPr>
          <p:nvPr>
            <p:ph type="body" idx="1"/>
          </p:nvPr>
        </p:nvSpPr>
        <p:spPr>
          <a:xfrm>
            <a:off x="609600" y="1447801"/>
            <a:ext cx="8345488" cy="2866890"/>
          </a:xfrm>
        </p:spPr>
        <p:txBody>
          <a:bodyPr/>
          <a:lstStyle/>
          <a:p>
            <a:pPr>
              <a:buFont typeface="Wingdings" pitchFamily="2" charset="2"/>
              <a:buNone/>
            </a:pPr>
            <a:r>
              <a:rPr lang="zh-CN" altLang="en-US" dirty="0"/>
              <a:t>例子：设</a:t>
            </a:r>
            <a:r>
              <a:rPr lang="en-US" altLang="zh-CN" dirty="0"/>
              <a:t>F</a:t>
            </a:r>
            <a:r>
              <a:rPr lang="zh-CN" altLang="en-US" dirty="0"/>
              <a:t>＝</a:t>
            </a:r>
            <a:r>
              <a:rPr lang="en-US" altLang="zh-CN" dirty="0"/>
              <a:t>{</a:t>
            </a:r>
            <a:r>
              <a:rPr lang="en-US" altLang="zh-CN" dirty="0">
                <a:solidFill>
                  <a:srgbClr val="339933"/>
                </a:solidFill>
              </a:rPr>
              <a:t>AB</a:t>
            </a:r>
            <a:r>
              <a:rPr lang="en-US" altLang="zh-CN" dirty="0">
                <a:solidFill>
                  <a:srgbClr val="339933"/>
                </a:solidFill>
                <a:latin typeface="宋体" pitchFamily="2" charset="-122"/>
              </a:rPr>
              <a:t>→</a:t>
            </a:r>
            <a:r>
              <a:rPr lang="en-US" altLang="zh-CN" dirty="0">
                <a:solidFill>
                  <a:srgbClr val="339933"/>
                </a:solidFill>
              </a:rPr>
              <a:t>C</a:t>
            </a:r>
            <a:r>
              <a:rPr lang="zh-CN" altLang="en-US" dirty="0"/>
              <a:t>，</a:t>
            </a:r>
            <a:r>
              <a:rPr lang="en-US" altLang="zh-CN" dirty="0"/>
              <a:t>A</a:t>
            </a:r>
            <a:r>
              <a:rPr lang="en-US" altLang="zh-CN" dirty="0">
                <a:latin typeface="宋体" pitchFamily="2" charset="-122"/>
              </a:rPr>
              <a:t>→</a:t>
            </a:r>
            <a:r>
              <a:rPr lang="en-US" altLang="zh-CN" dirty="0"/>
              <a:t>B}</a:t>
            </a:r>
            <a:r>
              <a:rPr lang="zh-CN" altLang="en-US" dirty="0"/>
              <a:t>，求</a:t>
            </a:r>
            <a:r>
              <a:rPr lang="en-US" altLang="zh-CN" dirty="0" err="1"/>
              <a:t>F</a:t>
            </a:r>
            <a:r>
              <a:rPr lang="en-US" altLang="zh-CN" baseline="-25000" dirty="0" err="1"/>
              <a:t>m</a:t>
            </a:r>
            <a:r>
              <a:rPr lang="zh-CN" altLang="en-US" dirty="0"/>
              <a:t>。</a:t>
            </a:r>
          </a:p>
          <a:p>
            <a:pPr>
              <a:buFont typeface="Wingdings" pitchFamily="2" charset="2"/>
              <a:buNone/>
            </a:pPr>
            <a:r>
              <a:rPr lang="en-US" altLang="zh-CN" dirty="0" err="1"/>
              <a:t>F</a:t>
            </a:r>
            <a:r>
              <a:rPr lang="en-US" altLang="zh-CN" baseline="-25000" dirty="0" err="1"/>
              <a:t>m</a:t>
            </a:r>
            <a:r>
              <a:rPr lang="zh-CN" altLang="en-US" dirty="0"/>
              <a:t>＝</a:t>
            </a:r>
            <a:r>
              <a:rPr lang="en-US" altLang="zh-CN" dirty="0"/>
              <a:t>{</a:t>
            </a:r>
            <a:r>
              <a:rPr lang="en-US" altLang="zh-CN" dirty="0">
                <a:solidFill>
                  <a:srgbClr val="0000FF"/>
                </a:solidFill>
              </a:rPr>
              <a:t>B</a:t>
            </a:r>
            <a:r>
              <a:rPr lang="en-US" altLang="zh-CN" dirty="0">
                <a:solidFill>
                  <a:srgbClr val="0000FF"/>
                </a:solidFill>
                <a:latin typeface="宋体" pitchFamily="2" charset="-122"/>
              </a:rPr>
              <a:t>→</a:t>
            </a:r>
            <a:r>
              <a:rPr lang="en-US" altLang="zh-CN" dirty="0">
                <a:solidFill>
                  <a:srgbClr val="0000FF"/>
                </a:solidFill>
              </a:rPr>
              <a:t>C</a:t>
            </a:r>
            <a:r>
              <a:rPr lang="zh-CN" altLang="en-US" dirty="0"/>
              <a:t>，</a:t>
            </a:r>
            <a:r>
              <a:rPr lang="en-US" altLang="zh-CN" dirty="0"/>
              <a:t>A</a:t>
            </a:r>
            <a:r>
              <a:rPr lang="en-US" altLang="zh-CN" dirty="0">
                <a:latin typeface="宋体" pitchFamily="2" charset="-122"/>
              </a:rPr>
              <a:t>→</a:t>
            </a:r>
            <a:r>
              <a:rPr lang="en-US" altLang="zh-CN" dirty="0"/>
              <a:t>B} </a:t>
            </a:r>
          </a:p>
          <a:p>
            <a:pPr>
              <a:buFont typeface="Wingdings" pitchFamily="2" charset="2"/>
              <a:buNone/>
            </a:pPr>
            <a:r>
              <a:rPr lang="zh-CN" altLang="en-US" dirty="0"/>
              <a:t>对不对？为什么？</a:t>
            </a:r>
          </a:p>
          <a:p>
            <a:pPr>
              <a:buFont typeface="Wingdings" pitchFamily="2" charset="2"/>
              <a:buNone/>
            </a:pPr>
            <a:endParaRPr lang="zh-CN" altLang="en-US" i="1" dirty="0"/>
          </a:p>
        </p:txBody>
      </p:sp>
      <p:sp>
        <p:nvSpPr>
          <p:cNvPr id="2" name="矩形 1">
            <a:extLst>
              <a:ext uri="{FF2B5EF4-FFF2-40B4-BE49-F238E27FC236}">
                <a16:creationId xmlns:a16="http://schemas.microsoft.com/office/drawing/2014/main" id="{2E4E3C4A-FD46-49D8-A066-8013CCF3E09B}"/>
              </a:ext>
            </a:extLst>
          </p:cNvPr>
          <p:cNvSpPr/>
          <p:nvPr/>
        </p:nvSpPr>
        <p:spPr>
          <a:xfrm>
            <a:off x="1115616" y="3392448"/>
            <a:ext cx="5643628" cy="584775"/>
          </a:xfrm>
          <a:prstGeom prst="rect">
            <a:avLst/>
          </a:prstGeom>
        </p:spPr>
        <p:txBody>
          <a:bodyPr wrap="square">
            <a:spAutoFit/>
          </a:bodyPr>
          <a:lstStyle/>
          <a:p>
            <a:pPr>
              <a:buFont typeface="Wingdings" pitchFamily="2" charset="2"/>
              <a:buNone/>
            </a:pPr>
            <a:r>
              <a:rPr lang="zh-CN" altLang="en-US" sz="3200" dirty="0"/>
              <a:t>上面的</a:t>
            </a:r>
            <a:r>
              <a:rPr lang="en-US" altLang="zh-CN" sz="3200" dirty="0"/>
              <a:t>F</a:t>
            </a:r>
            <a:r>
              <a:rPr lang="zh-CN" altLang="en-US" sz="3200" dirty="0"/>
              <a:t>与</a:t>
            </a:r>
            <a:r>
              <a:rPr lang="en-US" altLang="zh-CN" sz="3200" dirty="0" err="1"/>
              <a:t>F</a:t>
            </a:r>
            <a:r>
              <a:rPr lang="en-US" altLang="zh-CN" sz="3200" baseline="-25000" dirty="0" err="1"/>
              <a:t>m</a:t>
            </a:r>
            <a:r>
              <a:rPr lang="zh-CN" altLang="en-US" sz="3200" dirty="0"/>
              <a:t>根本不等价。</a:t>
            </a:r>
          </a:p>
        </p:txBody>
      </p:sp>
      <p:sp>
        <p:nvSpPr>
          <p:cNvPr id="3" name="矩形 2">
            <a:extLst>
              <a:ext uri="{FF2B5EF4-FFF2-40B4-BE49-F238E27FC236}">
                <a16:creationId xmlns:a16="http://schemas.microsoft.com/office/drawing/2014/main" id="{58C227AD-79EF-4258-AC4C-918643DE00F3}"/>
              </a:ext>
            </a:extLst>
          </p:cNvPr>
          <p:cNvSpPr/>
          <p:nvPr/>
        </p:nvSpPr>
        <p:spPr>
          <a:xfrm>
            <a:off x="5435780" y="2562841"/>
            <a:ext cx="3212739" cy="523220"/>
          </a:xfrm>
          <a:prstGeom prst="rect">
            <a:avLst/>
          </a:prstGeom>
        </p:spPr>
        <p:txBody>
          <a:bodyPr wrap="none">
            <a:spAutoFit/>
          </a:bodyPr>
          <a:lstStyle/>
          <a:p>
            <a:pPr>
              <a:buFont typeface="Wingdings" pitchFamily="2" charset="2"/>
              <a:buNone/>
            </a:pPr>
            <a:r>
              <a:rPr lang="en-US" altLang="zh-CN" sz="2800" dirty="0" err="1"/>
              <a:t>F</a:t>
            </a:r>
            <a:r>
              <a:rPr lang="en-US" altLang="zh-CN" sz="2800" baseline="-25000" dirty="0" err="1"/>
              <a:t>m</a:t>
            </a:r>
            <a:r>
              <a:rPr lang="zh-CN" altLang="en-US" sz="2800" dirty="0"/>
              <a:t>＝</a:t>
            </a:r>
            <a:r>
              <a:rPr lang="en-US" altLang="zh-CN" sz="2800" dirty="0"/>
              <a:t>{A</a:t>
            </a:r>
            <a:r>
              <a:rPr lang="en-US" altLang="zh-CN" sz="2800" dirty="0">
                <a:latin typeface="宋体" pitchFamily="2" charset="-122"/>
              </a:rPr>
              <a:t>→</a:t>
            </a:r>
            <a:r>
              <a:rPr lang="en-US" altLang="zh-CN" sz="2800" dirty="0"/>
              <a:t>C</a:t>
            </a:r>
            <a:r>
              <a:rPr lang="zh-CN" altLang="en-US" sz="2800" dirty="0"/>
              <a:t>，</a:t>
            </a:r>
            <a:r>
              <a:rPr lang="en-US" altLang="zh-CN" sz="2800" dirty="0"/>
              <a:t>A</a:t>
            </a:r>
            <a:r>
              <a:rPr lang="en-US" altLang="zh-CN" sz="2800" dirty="0">
                <a:latin typeface="宋体" pitchFamily="2" charset="-122"/>
              </a:rPr>
              <a:t>→</a:t>
            </a:r>
            <a:r>
              <a:rPr lang="en-US" altLang="zh-CN" sz="2800" dirty="0"/>
              <a:t>B}</a:t>
            </a:r>
          </a:p>
        </p:txBody>
      </p:sp>
      <p:sp>
        <p:nvSpPr>
          <p:cNvPr id="5" name="文本框 4">
            <a:extLst>
              <a:ext uri="{FF2B5EF4-FFF2-40B4-BE49-F238E27FC236}">
                <a16:creationId xmlns:a16="http://schemas.microsoft.com/office/drawing/2014/main" id="{E3047B4F-74B7-5DB6-AAAC-65F1884E990C}"/>
              </a:ext>
            </a:extLst>
          </p:cNvPr>
          <p:cNvSpPr txBox="1"/>
          <p:nvPr/>
        </p:nvSpPr>
        <p:spPr>
          <a:xfrm>
            <a:off x="684312" y="4314690"/>
            <a:ext cx="5540299" cy="461665"/>
          </a:xfrm>
          <a:prstGeom prst="rect">
            <a:avLst/>
          </a:prstGeom>
          <a:noFill/>
        </p:spPr>
        <p:txBody>
          <a:bodyPr wrap="none" rtlCol="0">
            <a:spAutoFit/>
          </a:bodyPr>
          <a:lstStyle/>
          <a:p>
            <a:r>
              <a:rPr lang="zh-CN" altLang="en-US" dirty="0"/>
              <a:t>由</a:t>
            </a:r>
            <a:r>
              <a:rPr lang="en-US" altLang="zh-CN" dirty="0"/>
              <a:t>AB</a:t>
            </a:r>
            <a:r>
              <a:rPr lang="en-US" altLang="zh-CN" dirty="0">
                <a:latin typeface="宋体" pitchFamily="2" charset="-122"/>
              </a:rPr>
              <a:t>→</a:t>
            </a:r>
            <a:r>
              <a:rPr lang="en-US" altLang="zh-CN" dirty="0"/>
              <a:t>C, A</a:t>
            </a:r>
            <a:r>
              <a:rPr lang="en-US" altLang="zh-CN" dirty="0">
                <a:latin typeface="宋体" pitchFamily="2" charset="-122"/>
              </a:rPr>
              <a:t>→</a:t>
            </a:r>
            <a:r>
              <a:rPr lang="en-US" altLang="zh-CN" dirty="0"/>
              <a:t>B</a:t>
            </a:r>
            <a:r>
              <a:rPr lang="zh-CN" altLang="en-US" dirty="0"/>
              <a:t>可否能推导得到 </a:t>
            </a:r>
            <a:r>
              <a:rPr lang="en-US" altLang="zh-CN" dirty="0">
                <a:solidFill>
                  <a:srgbClr val="0000FF"/>
                </a:solidFill>
              </a:rPr>
              <a:t>A</a:t>
            </a:r>
            <a:r>
              <a:rPr lang="en-US" altLang="zh-CN" dirty="0">
                <a:solidFill>
                  <a:srgbClr val="0000FF"/>
                </a:solidFill>
                <a:latin typeface="宋体" pitchFamily="2" charset="-122"/>
              </a:rPr>
              <a:t>→</a:t>
            </a:r>
            <a:r>
              <a:rPr lang="en-US" altLang="zh-CN" dirty="0">
                <a:solidFill>
                  <a:srgbClr val="0000FF"/>
                </a:solidFill>
              </a:rPr>
              <a:t>C</a:t>
            </a:r>
            <a:r>
              <a:rPr lang="zh-CN" altLang="en-US" dirty="0"/>
              <a:t>？ </a:t>
            </a:r>
          </a:p>
        </p:txBody>
      </p:sp>
      <p:sp>
        <p:nvSpPr>
          <p:cNvPr id="8" name="文本框 7">
            <a:extLst>
              <a:ext uri="{FF2B5EF4-FFF2-40B4-BE49-F238E27FC236}">
                <a16:creationId xmlns:a16="http://schemas.microsoft.com/office/drawing/2014/main" id="{C8143FE1-1DC3-6C20-4255-38B6A4F077F7}"/>
              </a:ext>
            </a:extLst>
          </p:cNvPr>
          <p:cNvSpPr txBox="1"/>
          <p:nvPr/>
        </p:nvSpPr>
        <p:spPr>
          <a:xfrm>
            <a:off x="684312" y="4839851"/>
            <a:ext cx="7776120" cy="830997"/>
          </a:xfrm>
          <a:prstGeom prst="rect">
            <a:avLst/>
          </a:prstGeom>
          <a:noFill/>
        </p:spPr>
        <p:txBody>
          <a:bodyPr wrap="square">
            <a:spAutoFit/>
          </a:bodyPr>
          <a:lstStyle/>
          <a:p>
            <a:pPr algn="l"/>
            <a:r>
              <a:rPr lang="zh-CN" altLang="en-US" dirty="0"/>
              <a:t>也即：</a:t>
            </a:r>
            <a:r>
              <a:rPr lang="zh-CN" altLang="en-US" sz="2400" dirty="0"/>
              <a:t>检查</a:t>
            </a:r>
            <a:r>
              <a:rPr lang="en-US" altLang="zh-CN" sz="2400" dirty="0">
                <a:solidFill>
                  <a:srgbClr val="0000FF"/>
                </a:solidFill>
              </a:rPr>
              <a:t>AB</a:t>
            </a:r>
            <a:r>
              <a:rPr lang="en-US" altLang="zh-CN" sz="2400" dirty="0"/>
              <a:t>→C</a:t>
            </a:r>
            <a:r>
              <a:rPr lang="zh-CN" altLang="en-US" sz="2400" dirty="0"/>
              <a:t>中</a:t>
            </a:r>
            <a:r>
              <a:rPr lang="en-US" altLang="zh-CN" sz="2400" dirty="0">
                <a:solidFill>
                  <a:srgbClr val="0000FF"/>
                </a:solidFill>
              </a:rPr>
              <a:t>B</a:t>
            </a:r>
            <a:r>
              <a:rPr lang="zh-CN" altLang="en-US" sz="2400" dirty="0">
                <a:solidFill>
                  <a:srgbClr val="0000FF"/>
                </a:solidFill>
              </a:rPr>
              <a:t>是否多余</a:t>
            </a:r>
            <a:r>
              <a:rPr lang="zh-CN" altLang="en-US" sz="2400" dirty="0"/>
              <a:t>，那需要考察</a:t>
            </a:r>
            <a:r>
              <a:rPr lang="en-US" altLang="zh-CN" sz="2400" dirty="0"/>
              <a:t>A→C</a:t>
            </a:r>
            <a:r>
              <a:rPr lang="zh-CN" altLang="en-US" sz="2400" dirty="0"/>
              <a:t>是否为</a:t>
            </a:r>
            <a:r>
              <a:rPr lang="en-US" altLang="zh-CN" sz="2400" dirty="0"/>
              <a:t>F</a:t>
            </a:r>
            <a:r>
              <a:rPr lang="zh-CN" altLang="en-US" sz="2400" dirty="0"/>
              <a:t>所蕴含</a:t>
            </a:r>
            <a:r>
              <a:rPr lang="en-US" altLang="zh-CN" sz="2400" dirty="0"/>
              <a:t>, F</a:t>
            </a:r>
            <a:r>
              <a:rPr lang="zh-CN" altLang="en-US" sz="2400" dirty="0"/>
              <a:t>集下计算</a:t>
            </a:r>
            <a:r>
              <a:rPr lang="en-US" altLang="zh-CN" sz="2400" dirty="0"/>
              <a:t>A</a:t>
            </a:r>
            <a:r>
              <a:rPr lang="en-US" altLang="zh-CN" sz="2400" b="1" baseline="-25000" dirty="0"/>
              <a:t>F</a:t>
            </a:r>
            <a:r>
              <a:rPr lang="en-US" altLang="zh-CN" sz="2400" baseline="30000" dirty="0"/>
              <a:t>+</a:t>
            </a:r>
            <a:r>
              <a:rPr lang="en-US" altLang="zh-CN" sz="2400" dirty="0"/>
              <a:t>, </a:t>
            </a:r>
            <a:r>
              <a:rPr lang="zh-CN" altLang="en-US" sz="2400" dirty="0"/>
              <a:t>看</a:t>
            </a:r>
            <a:r>
              <a:rPr lang="en-US" altLang="zh-CN" sz="2400" dirty="0"/>
              <a:t>C</a:t>
            </a:r>
            <a:r>
              <a:rPr lang="zh-CN" altLang="en-US" sz="2400" dirty="0"/>
              <a:t>是否包含其中。</a:t>
            </a:r>
            <a:endParaRPr lang="zh-CN" altLang="en-US" dirty="0"/>
          </a:p>
        </p:txBody>
      </p:sp>
      <p:sp>
        <p:nvSpPr>
          <p:cNvPr id="11" name="文本框 10">
            <a:extLst>
              <a:ext uri="{FF2B5EF4-FFF2-40B4-BE49-F238E27FC236}">
                <a16:creationId xmlns:a16="http://schemas.microsoft.com/office/drawing/2014/main" id="{230AF72D-0970-196D-5D99-4F76373B70B2}"/>
              </a:ext>
            </a:extLst>
          </p:cNvPr>
          <p:cNvSpPr txBox="1"/>
          <p:nvPr/>
        </p:nvSpPr>
        <p:spPr>
          <a:xfrm>
            <a:off x="941550" y="5710544"/>
            <a:ext cx="7510862" cy="461665"/>
          </a:xfrm>
          <a:prstGeom prst="rect">
            <a:avLst/>
          </a:prstGeom>
          <a:noFill/>
        </p:spPr>
        <p:txBody>
          <a:bodyPr wrap="square">
            <a:spAutoFit/>
          </a:bodyPr>
          <a:lstStyle/>
          <a:p>
            <a:r>
              <a:rPr lang="en-US" altLang="zh-CN" sz="2400" dirty="0"/>
              <a:t>A</a:t>
            </a:r>
            <a:r>
              <a:rPr lang="en-US" altLang="zh-CN" sz="2400" b="1" baseline="-25000" dirty="0"/>
              <a:t>F</a:t>
            </a:r>
            <a:r>
              <a:rPr lang="en-US" altLang="zh-CN" sz="2400" baseline="30000" dirty="0"/>
              <a:t>+</a:t>
            </a:r>
            <a:r>
              <a:rPr lang="en-US" altLang="zh-CN" dirty="0"/>
              <a:t>={A, B, C}</a:t>
            </a:r>
            <a:r>
              <a:rPr lang="zh-CN" altLang="en-US" dirty="0"/>
              <a:t>，</a:t>
            </a:r>
            <a:r>
              <a:rPr lang="en-US" altLang="zh-CN" dirty="0"/>
              <a:t>B</a:t>
            </a:r>
            <a:r>
              <a:rPr lang="zh-CN" altLang="en-US" dirty="0"/>
              <a:t>是多余的，用</a:t>
            </a:r>
            <a:r>
              <a:rPr lang="en-US" altLang="zh-CN" sz="2400" dirty="0">
                <a:solidFill>
                  <a:srgbClr val="0000FF"/>
                </a:solidFill>
              </a:rPr>
              <a:t>A</a:t>
            </a:r>
            <a:r>
              <a:rPr lang="en-US" altLang="zh-CN" sz="2400" dirty="0">
                <a:solidFill>
                  <a:srgbClr val="0000FF"/>
                </a:solidFill>
                <a:latin typeface="宋体" pitchFamily="2" charset="-122"/>
              </a:rPr>
              <a:t>→</a:t>
            </a:r>
            <a:r>
              <a:rPr lang="en-US" altLang="zh-CN" sz="2400" dirty="0">
                <a:solidFill>
                  <a:srgbClr val="0000FF"/>
                </a:solidFill>
              </a:rPr>
              <a:t>C</a:t>
            </a:r>
            <a:r>
              <a:rPr lang="zh-CN" altLang="en-US" sz="2400" dirty="0"/>
              <a:t>替代</a:t>
            </a:r>
            <a:r>
              <a:rPr lang="en-US" altLang="zh-CN" dirty="0">
                <a:solidFill>
                  <a:srgbClr val="0000FF"/>
                </a:solidFill>
              </a:rPr>
              <a:t>AB</a:t>
            </a:r>
            <a:r>
              <a:rPr lang="en-US" altLang="zh-CN" dirty="0">
                <a:solidFill>
                  <a:srgbClr val="0000FF"/>
                </a:solidFill>
                <a:latin typeface="宋体" pitchFamily="2" charset="-122"/>
              </a:rPr>
              <a:t>→</a:t>
            </a:r>
            <a:r>
              <a:rPr lang="en-US" altLang="zh-CN" dirty="0">
                <a:solidFill>
                  <a:srgbClr val="0000FF"/>
                </a:solidFill>
              </a:rPr>
              <a:t>C</a:t>
            </a:r>
            <a:endParaRPr lang="zh-CN" altLang="en-US" dirty="0">
              <a:solidFill>
                <a:srgbClr val="0000FF"/>
              </a:solidFill>
            </a:endParaRPr>
          </a:p>
        </p:txBody>
      </p:sp>
      <p:sp>
        <p:nvSpPr>
          <p:cNvPr id="6" name="页脚占位符 5">
            <a:extLst>
              <a:ext uri="{FF2B5EF4-FFF2-40B4-BE49-F238E27FC236}">
                <a16:creationId xmlns:a16="http://schemas.microsoft.com/office/drawing/2014/main" id="{6199F050-A478-65AF-7BB9-45DADAF12BBE}"/>
              </a:ext>
            </a:extLst>
          </p:cNvPr>
          <p:cNvSpPr>
            <a:spLocks noGrp="1"/>
          </p:cNvSpPr>
          <p:nvPr>
            <p:ph type="ftr" sz="quarter" idx="11"/>
          </p:nvPr>
        </p:nvSpPr>
        <p:spPr/>
        <p:txBody>
          <a:bodyPr/>
          <a:lstStyle/>
          <a:p>
            <a:r>
              <a:rPr lang="en-US" altLang="zh-CN"/>
              <a:t>《数据库系统概论》- 第6章</a:t>
            </a:r>
          </a:p>
        </p:txBody>
      </p:sp>
      <p:sp>
        <p:nvSpPr>
          <p:cNvPr id="10" name="灯片编号占位符 9">
            <a:extLst>
              <a:ext uri="{FF2B5EF4-FFF2-40B4-BE49-F238E27FC236}">
                <a16:creationId xmlns:a16="http://schemas.microsoft.com/office/drawing/2014/main" id="{85A8653E-59F4-8ECF-2BA5-8F25564965F9}"/>
              </a:ext>
            </a:extLst>
          </p:cNvPr>
          <p:cNvSpPr>
            <a:spLocks noGrp="1"/>
          </p:cNvSpPr>
          <p:nvPr>
            <p:ph type="sldNum" sz="quarter" idx="12"/>
          </p:nvPr>
        </p:nvSpPr>
        <p:spPr/>
        <p:txBody>
          <a:bodyPr/>
          <a:lstStyle/>
          <a:p>
            <a:fld id="{A2D74603-B40B-4D66-8F6E-41C870D48932}" type="slidenum">
              <a:rPr lang="en-US" altLang="zh-CN" smtClean="0"/>
              <a:pPr/>
              <a:t>131</a:t>
            </a:fld>
            <a:r>
              <a:rPr lang="en-US" altLang="zh-CN"/>
              <a:t>/162</a:t>
            </a:r>
            <a:endParaRPr lang="en-US" altLang="zh-CN"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1000"/>
                                        <p:tgtEl>
                                          <p:spTgt spid="11"/>
                                        </p:tgtEl>
                                      </p:cBhvr>
                                    </p:animEffect>
                                    <p:anim calcmode="lin" valueType="num">
                                      <p:cBhvr>
                                        <p:cTn id="19" dur="1000" fill="hold"/>
                                        <p:tgtEl>
                                          <p:spTgt spid="11"/>
                                        </p:tgtEl>
                                        <p:attrNameLst>
                                          <p:attrName>ppt_x</p:attrName>
                                        </p:attrNameLst>
                                      </p:cBhvr>
                                      <p:tavLst>
                                        <p:tav tm="0">
                                          <p:val>
                                            <p:strVal val="#ppt_x"/>
                                          </p:val>
                                        </p:tav>
                                        <p:tav tm="100000">
                                          <p:val>
                                            <p:strVal val="#ppt_x"/>
                                          </p:val>
                                        </p:tav>
                                      </p:tavLst>
                                    </p:anim>
                                    <p:anim calcmode="lin" valueType="num">
                                      <p:cBhvr>
                                        <p:cTn id="2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11" grpId="0"/>
    </p:bldLst>
  </p:timing>
</p:sld>
</file>

<file path=ppt/slides/slide1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r>
              <a:rPr lang="zh-CN" altLang="en-US" dirty="0"/>
              <a:t>计算最小函数依赖集</a:t>
            </a:r>
            <a:r>
              <a:rPr lang="en-US" altLang="zh-CN" dirty="0" err="1"/>
              <a:t>F</a:t>
            </a:r>
            <a:r>
              <a:rPr lang="en-US" altLang="zh-CN" baseline="-16000" dirty="0" err="1"/>
              <a:t>m</a:t>
            </a:r>
            <a:r>
              <a:rPr lang="en-US" altLang="zh-CN" dirty="0"/>
              <a:t>:  </a:t>
            </a:r>
            <a:r>
              <a:rPr lang="zh-CN" altLang="en-US" dirty="0"/>
              <a:t>例1</a:t>
            </a:r>
          </a:p>
        </p:txBody>
      </p:sp>
      <p:sp>
        <p:nvSpPr>
          <p:cNvPr id="65539" name="Rectangle 3"/>
          <p:cNvSpPr>
            <a:spLocks noGrp="1" noChangeArrowheads="1"/>
          </p:cNvSpPr>
          <p:nvPr>
            <p:ph type="body" idx="1"/>
          </p:nvPr>
        </p:nvSpPr>
        <p:spPr>
          <a:xfrm>
            <a:off x="188913" y="1371600"/>
            <a:ext cx="8802687" cy="1143000"/>
          </a:xfrm>
        </p:spPr>
        <p:txBody>
          <a:bodyPr/>
          <a:lstStyle/>
          <a:p>
            <a:pPr>
              <a:lnSpc>
                <a:spcPct val="110000"/>
              </a:lnSpc>
            </a:pPr>
            <a:r>
              <a:rPr lang="en-US" altLang="zh-CN" sz="2800" dirty="0">
                <a:solidFill>
                  <a:schemeClr val="hlink"/>
                </a:solidFill>
                <a:latin typeface="Times New Roman" pitchFamily="18" charset="0"/>
                <a:ea typeface="宋体" charset="-122"/>
              </a:rPr>
              <a:t>F = {A</a:t>
            </a:r>
            <a:r>
              <a:rPr lang="en-US" altLang="zh-CN" sz="2800" dirty="0">
                <a:solidFill>
                  <a:schemeClr val="hlink"/>
                </a:solidFill>
                <a:latin typeface="Times New Roman" pitchFamily="18" charset="0"/>
                <a:ea typeface="宋体" charset="-122"/>
                <a:sym typeface="Symbol" pitchFamily="18" charset="2"/>
              </a:rPr>
              <a:t>B，BA，AC，BC}</a:t>
            </a:r>
            <a:r>
              <a:rPr lang="en-US" altLang="zh-CN" sz="2800" dirty="0">
                <a:latin typeface="Times New Roman" pitchFamily="18" charset="0"/>
                <a:ea typeface="宋体" charset="-122"/>
                <a:sym typeface="Symbol" pitchFamily="18" charset="2"/>
              </a:rPr>
              <a:t>，</a:t>
            </a:r>
            <a:r>
              <a:rPr lang="zh-CN" altLang="en-US" sz="2800" dirty="0">
                <a:latin typeface="Times New Roman" pitchFamily="18" charset="0"/>
                <a:ea typeface="宋体" charset="-122"/>
                <a:sym typeface="Symbol" pitchFamily="18" charset="2"/>
              </a:rPr>
              <a:t>求</a:t>
            </a:r>
            <a:r>
              <a:rPr lang="en-US" altLang="zh-CN" sz="2800" b="1" dirty="0" err="1">
                <a:solidFill>
                  <a:srgbClr val="0000FF"/>
                </a:solidFill>
                <a:latin typeface="Times New Roman" pitchFamily="18" charset="0"/>
                <a:ea typeface="宋体" charset="-122"/>
              </a:rPr>
              <a:t>F</a:t>
            </a:r>
            <a:r>
              <a:rPr lang="en-US" altLang="zh-CN" sz="2800" b="1" baseline="-16000" dirty="0" err="1">
                <a:solidFill>
                  <a:srgbClr val="0000FF"/>
                </a:solidFill>
                <a:latin typeface="Times New Roman" pitchFamily="18" charset="0"/>
                <a:ea typeface="宋体" charset="-122"/>
              </a:rPr>
              <a:t>min</a:t>
            </a:r>
            <a:r>
              <a:rPr lang="en-US" altLang="zh-CN" sz="2800" baseline="-16000" dirty="0">
                <a:latin typeface="Times New Roman" pitchFamily="18" charset="0"/>
                <a:ea typeface="宋体" charset="-122"/>
              </a:rPr>
              <a:t> </a:t>
            </a:r>
            <a:r>
              <a:rPr lang="zh-CN" altLang="en-US" dirty="0">
                <a:latin typeface="Times New Roman" pitchFamily="18" charset="0"/>
                <a:ea typeface="宋体" charset="-122"/>
              </a:rPr>
              <a:t>。</a:t>
            </a:r>
            <a:endParaRPr lang="en-US" altLang="zh-CN" sz="2800" dirty="0">
              <a:latin typeface="Times New Roman" pitchFamily="18" charset="0"/>
              <a:ea typeface="宋体" charset="-122"/>
            </a:endParaRPr>
          </a:p>
          <a:p>
            <a:pPr marL="735013" lvl="1" indent="-277813">
              <a:lnSpc>
                <a:spcPct val="110000"/>
              </a:lnSpc>
            </a:pPr>
            <a:r>
              <a:rPr lang="en-US" altLang="zh-CN" dirty="0">
                <a:latin typeface="Times New Roman" pitchFamily="18" charset="0"/>
                <a:ea typeface="宋体" charset="-122"/>
              </a:rPr>
              <a:t>F</a:t>
            </a:r>
            <a:r>
              <a:rPr lang="zh-CN" altLang="en-US" dirty="0">
                <a:latin typeface="Times New Roman" pitchFamily="18" charset="0"/>
                <a:ea typeface="宋体" charset="-122"/>
              </a:rPr>
              <a:t>是</a:t>
            </a:r>
            <a:r>
              <a:rPr lang="zh-CN" altLang="en-US" b="1" dirty="0">
                <a:solidFill>
                  <a:srgbClr val="0000FF"/>
                </a:solidFill>
                <a:latin typeface="Times New Roman" pitchFamily="18" charset="0"/>
                <a:ea typeface="宋体" charset="-122"/>
              </a:rPr>
              <a:t>单属性</a:t>
            </a:r>
            <a:r>
              <a:rPr lang="zh-CN" altLang="en-US" dirty="0">
                <a:latin typeface="Times New Roman" pitchFamily="18" charset="0"/>
                <a:ea typeface="宋体" charset="-122"/>
              </a:rPr>
              <a:t>的，</a:t>
            </a:r>
            <a:r>
              <a:rPr lang="zh-CN" altLang="en-US" dirty="0">
                <a:solidFill>
                  <a:schemeClr val="tx2"/>
                </a:solidFill>
                <a:latin typeface="Times New Roman" pitchFamily="18" charset="0"/>
                <a:ea typeface="宋体" charset="-122"/>
              </a:rPr>
              <a:t>既约性</a:t>
            </a:r>
            <a:r>
              <a:rPr lang="zh-CN" altLang="en-US" dirty="0">
                <a:latin typeface="Times New Roman" pitchFamily="18" charset="0"/>
                <a:ea typeface="宋体" charset="-122"/>
              </a:rPr>
              <a:t>的，</a:t>
            </a:r>
            <a:r>
              <a:rPr lang="zh-CN" altLang="en-US" u="sng" dirty="0">
                <a:latin typeface="Times New Roman" pitchFamily="18" charset="0"/>
                <a:ea typeface="宋体" charset="-122"/>
              </a:rPr>
              <a:t>只检查冗余性</a:t>
            </a:r>
            <a:r>
              <a:rPr lang="zh-CN" altLang="en-US" dirty="0">
                <a:latin typeface="Times New Roman" pitchFamily="18" charset="0"/>
                <a:ea typeface="宋体" charset="-122"/>
              </a:rPr>
              <a:t>。</a:t>
            </a:r>
          </a:p>
        </p:txBody>
      </p:sp>
      <p:grpSp>
        <p:nvGrpSpPr>
          <p:cNvPr id="65545" name="Group 9"/>
          <p:cNvGrpSpPr>
            <a:grpSpLocks/>
          </p:cNvGrpSpPr>
          <p:nvPr/>
        </p:nvGrpSpPr>
        <p:grpSpPr bwMode="auto">
          <a:xfrm>
            <a:off x="188913" y="2725738"/>
            <a:ext cx="8802687" cy="1084262"/>
            <a:chOff x="119" y="1488"/>
            <a:chExt cx="5545" cy="683"/>
          </a:xfrm>
        </p:grpSpPr>
        <p:sp>
          <p:nvSpPr>
            <p:cNvPr id="65544" name="Rectangle 8"/>
            <p:cNvSpPr>
              <a:spLocks noChangeArrowheads="1"/>
            </p:cNvSpPr>
            <p:nvPr/>
          </p:nvSpPr>
          <p:spPr bwMode="auto">
            <a:xfrm>
              <a:off x="119" y="1488"/>
              <a:ext cx="5545"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0"/>
                </a:spcBef>
                <a:defRPr kumimoji="1" sz="2400">
                  <a:solidFill>
                    <a:schemeClr val="tx1"/>
                  </a:solidFill>
                  <a:latin typeface="Times New Roman" pitchFamily="18" charset="0"/>
                  <a:ea typeface="宋体" charset="-122"/>
                </a:defRPr>
              </a:lvl1pPr>
              <a:lvl2pPr marL="735013" indent="-277813" algn="l">
                <a:spcBef>
                  <a:spcPct val="0"/>
                </a:spcBef>
                <a:defRPr kumimoji="1" sz="2400">
                  <a:solidFill>
                    <a:schemeClr val="tx1"/>
                  </a:solidFill>
                  <a:latin typeface="Times New Roman" pitchFamily="18" charset="0"/>
                  <a:ea typeface="宋体" charset="-122"/>
                </a:defRPr>
              </a:lvl2pPr>
              <a:lvl3pPr marL="1189038" indent="-228600" algn="l">
                <a:spcBef>
                  <a:spcPct val="0"/>
                </a:spcBef>
                <a:defRPr kumimoji="1" sz="2400">
                  <a:solidFill>
                    <a:schemeClr val="tx1"/>
                  </a:solidFill>
                  <a:latin typeface="Times New Roman" pitchFamily="18" charset="0"/>
                  <a:ea typeface="宋体" charset="-122"/>
                </a:defRPr>
              </a:lvl3pPr>
              <a:lvl4pPr marL="1608138" indent="-228600" algn="l">
                <a:spcBef>
                  <a:spcPct val="0"/>
                </a:spcBef>
                <a:defRPr kumimoji="1" sz="2400">
                  <a:solidFill>
                    <a:schemeClr val="tx1"/>
                  </a:solidFill>
                  <a:latin typeface="Times New Roman" pitchFamily="18" charset="0"/>
                  <a:ea typeface="宋体" charset="-122"/>
                </a:defRPr>
              </a:lvl4pPr>
              <a:lvl5pPr marL="2057400" indent="-228600" algn="l">
                <a:spcBef>
                  <a:spcPct val="0"/>
                </a:spcBef>
                <a:defRPr kumimoji="1" sz="2400">
                  <a:solidFill>
                    <a:schemeClr val="tx1"/>
                  </a:solidFill>
                  <a:latin typeface="Times New Roman" pitchFamily="18" charset="0"/>
                  <a:ea typeface="宋体" charset="-122"/>
                </a:defRPr>
              </a:lvl5pPr>
              <a:lvl6pPr marL="2514600" indent="-228600" fontAlgn="base">
                <a:spcBef>
                  <a:spcPct val="0"/>
                </a:spcBef>
                <a:spcAft>
                  <a:spcPct val="0"/>
                </a:spcAft>
                <a:defRPr kumimoji="1" sz="2400">
                  <a:solidFill>
                    <a:schemeClr val="tx1"/>
                  </a:solidFill>
                  <a:latin typeface="Times New Roman" pitchFamily="18" charset="0"/>
                  <a:ea typeface="宋体" charset="-122"/>
                </a:defRPr>
              </a:lvl6pPr>
              <a:lvl7pPr marL="2971800" indent="-228600" fontAlgn="base">
                <a:spcBef>
                  <a:spcPct val="0"/>
                </a:spcBef>
                <a:spcAft>
                  <a:spcPct val="0"/>
                </a:spcAft>
                <a:defRPr kumimoji="1" sz="2400">
                  <a:solidFill>
                    <a:schemeClr val="tx1"/>
                  </a:solidFill>
                  <a:latin typeface="Times New Roman" pitchFamily="18" charset="0"/>
                  <a:ea typeface="宋体" charset="-122"/>
                </a:defRPr>
              </a:lvl7pPr>
              <a:lvl8pPr marL="3429000" indent="-228600" fontAlgn="base">
                <a:spcBef>
                  <a:spcPct val="0"/>
                </a:spcBef>
                <a:spcAft>
                  <a:spcPct val="0"/>
                </a:spcAft>
                <a:defRPr kumimoji="1" sz="2400">
                  <a:solidFill>
                    <a:schemeClr val="tx1"/>
                  </a:solidFill>
                  <a:latin typeface="Times New Roman" pitchFamily="18" charset="0"/>
                  <a:ea typeface="宋体" charset="-122"/>
                </a:defRPr>
              </a:lvl8pPr>
              <a:lvl9pPr marL="3886200" indent="-228600" fontAlgn="base">
                <a:spcBef>
                  <a:spcPct val="0"/>
                </a:spcBef>
                <a:spcAft>
                  <a:spcPct val="0"/>
                </a:spcAft>
                <a:defRPr kumimoji="1" sz="2400">
                  <a:solidFill>
                    <a:schemeClr val="tx1"/>
                  </a:solidFill>
                  <a:latin typeface="Times New Roman" pitchFamily="18" charset="0"/>
                  <a:ea typeface="宋体" charset="-122"/>
                </a:defRPr>
              </a:lvl9pPr>
            </a:lstStyle>
            <a:p>
              <a:pPr lvl="1" algn="just">
                <a:lnSpc>
                  <a:spcPct val="110000"/>
                </a:lnSpc>
                <a:spcBef>
                  <a:spcPct val="20000"/>
                </a:spcBef>
                <a:buClr>
                  <a:schemeClr val="hlink"/>
                </a:buClr>
                <a:buSzPct val="55000"/>
                <a:buFont typeface="Wingdings" pitchFamily="2" charset="2"/>
                <a:buChar char="n"/>
              </a:pPr>
              <a:r>
                <a:rPr lang="zh-CN" altLang="en-US" sz="2800" dirty="0"/>
                <a:t>检查</a:t>
              </a:r>
              <a:r>
                <a:rPr lang="en-US" altLang="zh-CN" sz="2800" dirty="0"/>
                <a:t>A</a:t>
              </a:r>
              <a:r>
                <a:rPr lang="en-US" altLang="zh-CN" sz="2800" dirty="0">
                  <a:sym typeface="Symbol" pitchFamily="18" charset="2"/>
                </a:rPr>
                <a:t>B, ∵</a:t>
              </a:r>
              <a:r>
                <a:rPr lang="en-US" altLang="zh-CN" sz="2800" dirty="0">
                  <a:solidFill>
                    <a:srgbClr val="FF0000"/>
                  </a:solidFill>
                  <a:sym typeface="Symbol" pitchFamily="18" charset="2"/>
                </a:rPr>
                <a:t>G</a:t>
              </a:r>
              <a:r>
                <a:rPr lang="en-US" altLang="zh-CN" sz="2800" dirty="0">
                  <a:sym typeface="Symbol" pitchFamily="18" charset="2"/>
                </a:rPr>
                <a:t>=F{</a:t>
              </a:r>
              <a:r>
                <a:rPr lang="en-US" altLang="zh-CN" sz="2800" dirty="0"/>
                <a:t>A</a:t>
              </a:r>
              <a:r>
                <a:rPr lang="en-US" altLang="zh-CN" sz="2800" dirty="0">
                  <a:sym typeface="Symbol" pitchFamily="18" charset="2"/>
                </a:rPr>
                <a:t>B}={BA, AC, BC}         	  ={A, C}，</a:t>
              </a:r>
              <a:r>
                <a:rPr lang="en-US" altLang="zh-CN" sz="2800" dirty="0">
                  <a:solidFill>
                    <a:srgbClr val="FF0000"/>
                  </a:solidFill>
                  <a:sym typeface="Symbol" pitchFamily="18" charset="2"/>
                </a:rPr>
                <a:t>B{A, C}, </a:t>
              </a:r>
              <a:r>
                <a:rPr lang="en-US" altLang="zh-CN" sz="2800" dirty="0">
                  <a:sym typeface="Symbol" pitchFamily="18" charset="2"/>
                </a:rPr>
                <a:t>∴</a:t>
              </a:r>
              <a:r>
                <a:rPr lang="en-US" altLang="zh-CN" sz="2800" dirty="0"/>
                <a:t>A</a:t>
              </a:r>
              <a:r>
                <a:rPr lang="en-US" altLang="zh-CN" sz="2800" dirty="0">
                  <a:sym typeface="Symbol" pitchFamily="18" charset="2"/>
                </a:rPr>
                <a:t>B </a:t>
              </a:r>
              <a:r>
                <a:rPr lang="zh-CN" altLang="en-US" sz="2800" dirty="0">
                  <a:solidFill>
                    <a:srgbClr val="FF0000"/>
                  </a:solidFill>
                  <a:sym typeface="Symbol" pitchFamily="18" charset="2"/>
                </a:rPr>
                <a:t>不冗余</a:t>
              </a:r>
              <a:r>
                <a:rPr lang="zh-CN" altLang="en-US" sz="2800" dirty="0">
                  <a:sym typeface="Symbol" pitchFamily="18" charset="2"/>
                </a:rPr>
                <a:t>。</a:t>
              </a:r>
            </a:p>
          </p:txBody>
        </p:sp>
        <p:graphicFrame>
          <p:nvGraphicFramePr>
            <p:cNvPr id="65540" name="Object 4"/>
            <p:cNvGraphicFramePr>
              <a:graphicFrameLocks noChangeAspect="1"/>
            </p:cNvGraphicFramePr>
            <p:nvPr/>
          </p:nvGraphicFramePr>
          <p:xfrm>
            <a:off x="336" y="1776"/>
            <a:ext cx="537" cy="395"/>
          </p:xfrm>
          <a:graphic>
            <a:graphicData uri="http://schemas.openxmlformats.org/presentationml/2006/ole">
              <mc:AlternateContent xmlns:mc="http://schemas.openxmlformats.org/markup-compatibility/2006">
                <mc:Choice xmlns:v="urn:schemas-microsoft-com:vml" Requires="v">
                  <p:oleObj name="公式" r:id="rId2" imgW="330057" imgH="241195" progId="Equation.3">
                    <p:embed/>
                  </p:oleObj>
                </mc:Choice>
                <mc:Fallback>
                  <p:oleObj name="公式" r:id="rId2" imgW="330057" imgH="241195" progId="Equation.3">
                    <p:embed/>
                    <p:pic>
                      <p:nvPicPr>
                        <p:cNvPr id="0" name="Picture 68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 y="1776"/>
                          <a:ext cx="537" cy="3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65547" name="Group 11"/>
          <p:cNvGrpSpPr>
            <a:grpSpLocks/>
          </p:cNvGrpSpPr>
          <p:nvPr/>
        </p:nvGrpSpPr>
        <p:grpSpPr bwMode="auto">
          <a:xfrm>
            <a:off x="188913" y="3810000"/>
            <a:ext cx="8802687" cy="1676400"/>
            <a:chOff x="119" y="2160"/>
            <a:chExt cx="5545" cy="1056"/>
          </a:xfrm>
        </p:grpSpPr>
        <p:sp>
          <p:nvSpPr>
            <p:cNvPr id="65546" name="Rectangle 10"/>
            <p:cNvSpPr>
              <a:spLocks noChangeArrowheads="1"/>
            </p:cNvSpPr>
            <p:nvPr/>
          </p:nvSpPr>
          <p:spPr bwMode="auto">
            <a:xfrm>
              <a:off x="119" y="2160"/>
              <a:ext cx="5545" cy="1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0"/>
                </a:spcBef>
                <a:defRPr kumimoji="1" sz="2400">
                  <a:solidFill>
                    <a:schemeClr val="tx1"/>
                  </a:solidFill>
                  <a:latin typeface="Times New Roman" pitchFamily="18" charset="0"/>
                  <a:ea typeface="宋体" charset="-122"/>
                </a:defRPr>
              </a:lvl1pPr>
              <a:lvl2pPr marL="735013" indent="-277813" algn="l">
                <a:spcBef>
                  <a:spcPct val="0"/>
                </a:spcBef>
                <a:defRPr kumimoji="1" sz="2400">
                  <a:solidFill>
                    <a:schemeClr val="tx1"/>
                  </a:solidFill>
                  <a:latin typeface="Times New Roman" pitchFamily="18" charset="0"/>
                  <a:ea typeface="宋体" charset="-122"/>
                </a:defRPr>
              </a:lvl2pPr>
              <a:lvl3pPr marL="1189038" indent="-228600" algn="l">
                <a:spcBef>
                  <a:spcPct val="0"/>
                </a:spcBef>
                <a:defRPr kumimoji="1" sz="2400">
                  <a:solidFill>
                    <a:schemeClr val="tx1"/>
                  </a:solidFill>
                  <a:latin typeface="Times New Roman" pitchFamily="18" charset="0"/>
                  <a:ea typeface="宋体" charset="-122"/>
                </a:defRPr>
              </a:lvl3pPr>
              <a:lvl4pPr marL="1608138" indent="-228600" algn="l">
                <a:spcBef>
                  <a:spcPct val="0"/>
                </a:spcBef>
                <a:defRPr kumimoji="1" sz="2400">
                  <a:solidFill>
                    <a:schemeClr val="tx1"/>
                  </a:solidFill>
                  <a:latin typeface="Times New Roman" pitchFamily="18" charset="0"/>
                  <a:ea typeface="宋体" charset="-122"/>
                </a:defRPr>
              </a:lvl4pPr>
              <a:lvl5pPr marL="2057400" indent="-228600" algn="l">
                <a:spcBef>
                  <a:spcPct val="0"/>
                </a:spcBef>
                <a:defRPr kumimoji="1" sz="2400">
                  <a:solidFill>
                    <a:schemeClr val="tx1"/>
                  </a:solidFill>
                  <a:latin typeface="Times New Roman" pitchFamily="18" charset="0"/>
                  <a:ea typeface="宋体" charset="-122"/>
                </a:defRPr>
              </a:lvl5pPr>
              <a:lvl6pPr marL="2514600" indent="-228600" fontAlgn="base">
                <a:spcBef>
                  <a:spcPct val="0"/>
                </a:spcBef>
                <a:spcAft>
                  <a:spcPct val="0"/>
                </a:spcAft>
                <a:defRPr kumimoji="1" sz="2400">
                  <a:solidFill>
                    <a:schemeClr val="tx1"/>
                  </a:solidFill>
                  <a:latin typeface="Times New Roman" pitchFamily="18" charset="0"/>
                  <a:ea typeface="宋体" charset="-122"/>
                </a:defRPr>
              </a:lvl6pPr>
              <a:lvl7pPr marL="2971800" indent="-228600" fontAlgn="base">
                <a:spcBef>
                  <a:spcPct val="0"/>
                </a:spcBef>
                <a:spcAft>
                  <a:spcPct val="0"/>
                </a:spcAft>
                <a:defRPr kumimoji="1" sz="2400">
                  <a:solidFill>
                    <a:schemeClr val="tx1"/>
                  </a:solidFill>
                  <a:latin typeface="Times New Roman" pitchFamily="18" charset="0"/>
                  <a:ea typeface="宋体" charset="-122"/>
                </a:defRPr>
              </a:lvl7pPr>
              <a:lvl8pPr marL="3429000" indent="-228600" fontAlgn="base">
                <a:spcBef>
                  <a:spcPct val="0"/>
                </a:spcBef>
                <a:spcAft>
                  <a:spcPct val="0"/>
                </a:spcAft>
                <a:defRPr kumimoji="1" sz="2400">
                  <a:solidFill>
                    <a:schemeClr val="tx1"/>
                  </a:solidFill>
                  <a:latin typeface="Times New Roman" pitchFamily="18" charset="0"/>
                  <a:ea typeface="宋体" charset="-122"/>
                </a:defRPr>
              </a:lvl8pPr>
              <a:lvl9pPr marL="3886200" indent="-228600" fontAlgn="base">
                <a:spcBef>
                  <a:spcPct val="0"/>
                </a:spcBef>
                <a:spcAft>
                  <a:spcPct val="0"/>
                </a:spcAft>
                <a:defRPr kumimoji="1" sz="2400">
                  <a:solidFill>
                    <a:schemeClr val="tx1"/>
                  </a:solidFill>
                  <a:latin typeface="Times New Roman" pitchFamily="18" charset="0"/>
                  <a:ea typeface="宋体" charset="-122"/>
                </a:defRPr>
              </a:lvl9pPr>
            </a:lstStyle>
            <a:p>
              <a:pPr lvl="1" algn="just">
                <a:lnSpc>
                  <a:spcPct val="110000"/>
                </a:lnSpc>
                <a:spcBef>
                  <a:spcPct val="20000"/>
                </a:spcBef>
                <a:buClr>
                  <a:schemeClr val="hlink"/>
                </a:buClr>
                <a:buSzPct val="55000"/>
                <a:buFont typeface="Wingdings" pitchFamily="2" charset="2"/>
                <a:buChar char="n"/>
              </a:pPr>
              <a:r>
                <a:rPr lang="zh-CN" altLang="en-US" sz="2800" dirty="0"/>
                <a:t>检查</a:t>
              </a:r>
              <a:r>
                <a:rPr lang="en-US" altLang="zh-CN" sz="2800" dirty="0"/>
                <a:t>A</a:t>
              </a:r>
              <a:r>
                <a:rPr lang="en-US" altLang="zh-CN" sz="2800" dirty="0">
                  <a:sym typeface="Symbol" pitchFamily="18" charset="2"/>
                </a:rPr>
                <a:t>C,∵G=F{</a:t>
              </a:r>
              <a:r>
                <a:rPr lang="en-US" altLang="zh-CN" sz="2800" dirty="0"/>
                <a:t>A</a:t>
              </a:r>
              <a:r>
                <a:rPr lang="en-US" altLang="zh-CN" sz="2800" dirty="0">
                  <a:sym typeface="Symbol" pitchFamily="18" charset="2"/>
                </a:rPr>
                <a:t>C}={AB, BA, BC}	</a:t>
              </a:r>
            </a:p>
            <a:p>
              <a:pPr lvl="1" algn="just">
                <a:lnSpc>
                  <a:spcPct val="110000"/>
                </a:lnSpc>
                <a:spcBef>
                  <a:spcPct val="20000"/>
                </a:spcBef>
                <a:buClr>
                  <a:schemeClr val="hlink"/>
                </a:buClr>
                <a:buSzPct val="55000"/>
                <a:buFont typeface="Wingdings" pitchFamily="2" charset="2"/>
                <a:buNone/>
              </a:pPr>
              <a:r>
                <a:rPr lang="en-US" altLang="zh-CN" sz="2800" dirty="0">
                  <a:sym typeface="Symbol" pitchFamily="18" charset="2"/>
                </a:rPr>
                <a:t>      ={A, B, C}，C</a:t>
              </a:r>
              <a:r>
                <a:rPr lang="en-US" altLang="zh-CN" sz="2800" dirty="0">
                  <a:solidFill>
                    <a:srgbClr val="FF0000"/>
                  </a:solidFill>
                  <a:sym typeface="Symbol" pitchFamily="18" charset="2"/>
                </a:rPr>
                <a:t>∈</a:t>
              </a:r>
              <a:r>
                <a:rPr lang="en-US" altLang="zh-CN" sz="2800" dirty="0">
                  <a:sym typeface="Symbol" pitchFamily="18" charset="2"/>
                </a:rPr>
                <a:t>{A, B, C}, ∴</a:t>
              </a:r>
              <a:r>
                <a:rPr lang="en-US" altLang="zh-CN" sz="2800" dirty="0"/>
                <a:t>A</a:t>
              </a:r>
              <a:r>
                <a:rPr lang="en-US" altLang="zh-CN" sz="2800" dirty="0">
                  <a:sym typeface="Symbol" pitchFamily="18" charset="2"/>
                </a:rPr>
                <a:t>C</a:t>
              </a:r>
              <a:r>
                <a:rPr lang="zh-CN" altLang="en-US" sz="2800" dirty="0">
                  <a:solidFill>
                    <a:srgbClr val="FF0000"/>
                  </a:solidFill>
                </a:rPr>
                <a:t>冗余</a:t>
              </a:r>
              <a:r>
                <a:rPr lang="zh-CN" altLang="en-US" sz="2800" dirty="0"/>
                <a:t>, </a:t>
              </a:r>
              <a:r>
                <a:rPr lang="zh-CN" altLang="en-US" sz="2800" dirty="0">
                  <a:sym typeface="Symbol" pitchFamily="18" charset="2"/>
                </a:rPr>
                <a:t>从</a:t>
              </a:r>
              <a:r>
                <a:rPr lang="en-US" altLang="zh-CN" sz="2800" dirty="0">
                  <a:sym typeface="Symbol" pitchFamily="18" charset="2"/>
                </a:rPr>
                <a:t>F</a:t>
              </a:r>
              <a:r>
                <a:rPr lang="zh-CN" altLang="en-US" sz="2800" dirty="0">
                  <a:sym typeface="Symbol" pitchFamily="18" charset="2"/>
                </a:rPr>
                <a:t>中删除</a:t>
              </a:r>
              <a:r>
                <a:rPr lang="en-US" altLang="zh-CN" sz="2800" dirty="0"/>
                <a:t>A</a:t>
              </a:r>
              <a:r>
                <a:rPr lang="en-US" altLang="zh-CN" sz="2800" dirty="0">
                  <a:sym typeface="Symbol" pitchFamily="18" charset="2"/>
                </a:rPr>
                <a:t>C。</a:t>
              </a:r>
              <a:r>
                <a:rPr lang="en-US" altLang="zh-CN" sz="2800" dirty="0"/>
                <a:t>	</a:t>
              </a:r>
              <a:endParaRPr lang="en-US" altLang="zh-CN" sz="2800" dirty="0">
                <a:solidFill>
                  <a:schemeClr val="hlink"/>
                </a:solidFill>
                <a:sym typeface="Symbol" pitchFamily="18" charset="2"/>
              </a:endParaRPr>
            </a:p>
          </p:txBody>
        </p:sp>
        <p:graphicFrame>
          <p:nvGraphicFramePr>
            <p:cNvPr id="65541" name="Object 5"/>
            <p:cNvGraphicFramePr>
              <a:graphicFrameLocks noChangeAspect="1"/>
            </p:cNvGraphicFramePr>
            <p:nvPr/>
          </p:nvGraphicFramePr>
          <p:xfrm>
            <a:off x="279" y="2485"/>
            <a:ext cx="537" cy="395"/>
          </p:xfrm>
          <a:graphic>
            <a:graphicData uri="http://schemas.openxmlformats.org/presentationml/2006/ole">
              <mc:AlternateContent xmlns:mc="http://schemas.openxmlformats.org/markup-compatibility/2006">
                <mc:Choice xmlns:v="urn:schemas-microsoft-com:vml" Requires="v">
                  <p:oleObj name="公式" r:id="rId2" imgW="330057" imgH="241195" progId="Equation.3">
                    <p:embed/>
                  </p:oleObj>
                </mc:Choice>
                <mc:Fallback>
                  <p:oleObj name="公式" r:id="rId2" imgW="330057" imgH="241195" progId="Equation.3">
                    <p:embed/>
                    <p:pic>
                      <p:nvPicPr>
                        <p:cNvPr id="0" name="Picture 68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 y="2485"/>
                          <a:ext cx="537" cy="3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65548" name="Rectangle 12"/>
          <p:cNvSpPr>
            <a:spLocks noChangeArrowheads="1"/>
          </p:cNvSpPr>
          <p:nvPr/>
        </p:nvSpPr>
        <p:spPr bwMode="auto">
          <a:xfrm>
            <a:off x="457200" y="5410200"/>
            <a:ext cx="8458200" cy="406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85000"/>
              </a:lnSpc>
              <a:buClr>
                <a:schemeClr val="folHlink"/>
              </a:buClr>
              <a:buSzPct val="60000"/>
              <a:buFont typeface="Wingdings" pitchFamily="2" charset="2"/>
              <a:buNone/>
            </a:pPr>
            <a:r>
              <a:rPr lang="zh-CN" altLang="en-US" dirty="0">
                <a:solidFill>
                  <a:schemeClr val="tx1"/>
                </a:solidFill>
              </a:rPr>
              <a:t>于是：</a:t>
            </a:r>
            <a:r>
              <a:rPr lang="en-US" altLang="zh-CN" dirty="0">
                <a:solidFill>
                  <a:schemeClr val="tx1"/>
                </a:solidFill>
              </a:rPr>
              <a:t> </a:t>
            </a:r>
            <a:r>
              <a:rPr lang="en-US" altLang="zh-CN" dirty="0" err="1"/>
              <a:t>F</a:t>
            </a:r>
            <a:r>
              <a:rPr lang="en-US" altLang="zh-CN" baseline="-16000" dirty="0" err="1"/>
              <a:t>min</a:t>
            </a:r>
            <a:r>
              <a:rPr lang="en-US" altLang="zh-CN" baseline="-16000" dirty="0"/>
              <a:t> </a:t>
            </a:r>
            <a:r>
              <a:rPr lang="en-US" altLang="zh-CN" dirty="0">
                <a:sym typeface="Symbol" pitchFamily="18" charset="2"/>
              </a:rPr>
              <a:t>= </a:t>
            </a:r>
            <a:r>
              <a:rPr lang="en-US" altLang="zh-CN" dirty="0"/>
              <a:t>{</a:t>
            </a:r>
            <a:r>
              <a:rPr lang="en-US" altLang="zh-CN" dirty="0">
                <a:solidFill>
                  <a:srgbClr val="C00000"/>
                </a:solidFill>
              </a:rPr>
              <a:t>A</a:t>
            </a:r>
            <a:r>
              <a:rPr lang="en-US" altLang="zh-CN" dirty="0">
                <a:solidFill>
                  <a:srgbClr val="C00000"/>
                </a:solidFill>
                <a:sym typeface="Symbol" pitchFamily="18" charset="2"/>
              </a:rPr>
              <a:t>B，BA，BC</a:t>
            </a:r>
            <a:r>
              <a:rPr lang="en-US" altLang="zh-CN" dirty="0">
                <a:sym typeface="Symbol" pitchFamily="18" charset="2"/>
              </a:rPr>
              <a:t>}</a:t>
            </a:r>
          </a:p>
        </p:txBody>
      </p:sp>
      <p:sp>
        <p:nvSpPr>
          <p:cNvPr id="2" name="日期占位符 1"/>
          <p:cNvSpPr>
            <a:spLocks noGrp="1"/>
          </p:cNvSpPr>
          <p:nvPr>
            <p:ph type="dt" sz="half" idx="10"/>
          </p:nvPr>
        </p:nvSpPr>
        <p:spPr/>
        <p:txBody>
          <a:bodyPr/>
          <a:lstStyle/>
          <a:p>
            <a:fld id="{1750DD5A-EFB6-47B0-93F1-0AA46F419C58}" type="datetime1">
              <a:rPr lang="zh-CN" altLang="en-US" smtClean="0"/>
              <a:t>2025/11/6</a:t>
            </a:fld>
            <a:endParaRPr lang="en-US" altLang="zh-CN"/>
          </a:p>
        </p:txBody>
      </p:sp>
      <p:sp>
        <p:nvSpPr>
          <p:cNvPr id="65542" name="AutoShape 6"/>
          <p:cNvSpPr>
            <a:spLocks noChangeArrowheads="1"/>
          </p:cNvSpPr>
          <p:nvPr/>
        </p:nvSpPr>
        <p:spPr bwMode="auto">
          <a:xfrm>
            <a:off x="381000" y="6019800"/>
            <a:ext cx="8458200" cy="685800"/>
          </a:xfrm>
          <a:prstGeom prst="wedgeRoundRectCallout">
            <a:avLst>
              <a:gd name="adj1" fmla="val -20606"/>
              <a:gd name="adj2" fmla="val -41435"/>
              <a:gd name="adj3" fmla="val 1666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lstStyle/>
          <a:p>
            <a:pPr algn="l">
              <a:spcBef>
                <a:spcPct val="0"/>
              </a:spcBef>
              <a:buClr>
                <a:schemeClr val="hlink"/>
              </a:buClr>
              <a:buFont typeface="Wingdings" pitchFamily="2" charset="2"/>
              <a:buChar char="Ø"/>
            </a:pPr>
            <a:r>
              <a:rPr lang="zh-CN" altLang="en-US" sz="2800" dirty="0">
                <a:solidFill>
                  <a:schemeClr val="tx1"/>
                </a:solidFill>
                <a:latin typeface="华文新魏" pitchFamily="2" charset="-122"/>
              </a:rPr>
              <a:t>实际上，因为有</a:t>
            </a:r>
            <a:r>
              <a:rPr lang="en-US" altLang="zh-CN" sz="2800" dirty="0">
                <a:solidFill>
                  <a:srgbClr val="FF0000"/>
                </a:solidFill>
                <a:latin typeface="华文新魏" pitchFamily="2" charset="-122"/>
              </a:rPr>
              <a:t>A</a:t>
            </a:r>
            <a:r>
              <a:rPr lang="en-US" altLang="zh-CN" sz="2800" dirty="0">
                <a:solidFill>
                  <a:srgbClr val="FF0000"/>
                </a:solidFill>
                <a:latin typeface="华文新魏" pitchFamily="2" charset="-122"/>
                <a:sym typeface="Symbol" pitchFamily="18" charset="2"/>
              </a:rPr>
              <a:t></a:t>
            </a:r>
            <a:r>
              <a:rPr lang="en-US" altLang="zh-CN" sz="2800" dirty="0">
                <a:solidFill>
                  <a:srgbClr val="FF0000"/>
                </a:solidFill>
                <a:latin typeface="华文新魏" pitchFamily="2" charset="-122"/>
              </a:rPr>
              <a:t>B，B</a:t>
            </a:r>
            <a:r>
              <a:rPr lang="en-US" altLang="zh-CN" sz="2800" dirty="0">
                <a:solidFill>
                  <a:srgbClr val="FF0000"/>
                </a:solidFill>
                <a:latin typeface="华文新魏" pitchFamily="2" charset="-122"/>
                <a:sym typeface="Symbol" pitchFamily="18" charset="2"/>
              </a:rPr>
              <a:t></a:t>
            </a:r>
            <a:r>
              <a:rPr lang="en-US" altLang="zh-CN" sz="2800" dirty="0">
                <a:solidFill>
                  <a:srgbClr val="FF0000"/>
                </a:solidFill>
                <a:latin typeface="华文新魏" pitchFamily="2" charset="-122"/>
              </a:rPr>
              <a:t>C</a:t>
            </a:r>
            <a:r>
              <a:rPr lang="en-US" altLang="zh-CN" sz="2800" dirty="0">
                <a:solidFill>
                  <a:schemeClr val="tx1"/>
                </a:solidFill>
                <a:latin typeface="华文新魏" pitchFamily="2" charset="-122"/>
              </a:rPr>
              <a:t>， </a:t>
            </a:r>
            <a:r>
              <a:rPr lang="zh-CN" altLang="en-US" sz="2800" dirty="0">
                <a:solidFill>
                  <a:schemeClr val="tx1"/>
                </a:solidFill>
                <a:latin typeface="华文新魏" pitchFamily="2" charset="-122"/>
              </a:rPr>
              <a:t>从而 </a:t>
            </a:r>
            <a:r>
              <a:rPr lang="en-US" altLang="zh-CN" sz="2800" dirty="0">
                <a:solidFill>
                  <a:srgbClr val="FF0000"/>
                </a:solidFill>
                <a:latin typeface="华文新魏" pitchFamily="2" charset="-122"/>
              </a:rPr>
              <a:t>A</a:t>
            </a:r>
            <a:r>
              <a:rPr lang="en-US" altLang="zh-CN" sz="2800" dirty="0">
                <a:solidFill>
                  <a:srgbClr val="FF0000"/>
                </a:solidFill>
                <a:latin typeface="华文新魏" pitchFamily="2" charset="-122"/>
                <a:sym typeface="Symbol" pitchFamily="18" charset="2"/>
              </a:rPr>
              <a:t></a:t>
            </a:r>
            <a:r>
              <a:rPr lang="en-US" altLang="zh-CN" sz="2800" dirty="0">
                <a:solidFill>
                  <a:srgbClr val="FF0000"/>
                </a:solidFill>
                <a:latin typeface="华文新魏" pitchFamily="2" charset="-122"/>
              </a:rPr>
              <a:t>C</a:t>
            </a:r>
            <a:r>
              <a:rPr lang="zh-CN" altLang="en-US" sz="2800" dirty="0">
                <a:solidFill>
                  <a:schemeClr val="tx1"/>
                </a:solidFill>
                <a:latin typeface="华文新魏" pitchFamily="2" charset="-122"/>
              </a:rPr>
              <a:t>冗余</a:t>
            </a:r>
          </a:p>
        </p:txBody>
      </p:sp>
      <p:sp>
        <p:nvSpPr>
          <p:cNvPr id="4" name="页脚占位符 3">
            <a:extLst>
              <a:ext uri="{FF2B5EF4-FFF2-40B4-BE49-F238E27FC236}">
                <a16:creationId xmlns:a16="http://schemas.microsoft.com/office/drawing/2014/main" id="{C69190BE-01A5-2DED-EC93-E30D0DCDBB34}"/>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AE5F1C9E-7BF1-D67D-5D00-2759516B3570}"/>
              </a:ext>
            </a:extLst>
          </p:cNvPr>
          <p:cNvSpPr>
            <a:spLocks noGrp="1"/>
          </p:cNvSpPr>
          <p:nvPr>
            <p:ph type="sldNum" sz="quarter" idx="12"/>
          </p:nvPr>
        </p:nvSpPr>
        <p:spPr/>
        <p:txBody>
          <a:bodyPr/>
          <a:lstStyle/>
          <a:p>
            <a:fld id="{A2D74603-B40B-4D66-8F6E-41C870D48932}" type="slidenum">
              <a:rPr lang="en-US" altLang="zh-CN" smtClean="0"/>
              <a:pPr/>
              <a:t>132</a:t>
            </a:fld>
            <a:r>
              <a:rPr lang="en-US" altLang="zh-CN"/>
              <a:t>/162</a:t>
            </a:r>
            <a:endParaRPr lang="en-US" altLang="zh-CN" dirty="0"/>
          </a:p>
        </p:txBody>
      </p:sp>
    </p:spTree>
    <p:extLst>
      <p:ext uri="{BB962C8B-B14F-4D97-AF65-F5344CB8AC3E}">
        <p14:creationId xmlns:p14="http://schemas.microsoft.com/office/powerpoint/2010/main" val="1374241005"/>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animEffect transition="in" filter="checkerboard(across)">
                                      <p:cBhvr>
                                        <p:cTn id="7" dur="500"/>
                                        <p:tgtEl>
                                          <p:spTgt spid="655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5539">
                                            <p:txEl>
                                              <p:pRg st="1" end="1"/>
                                            </p:txEl>
                                          </p:spTgt>
                                        </p:tgtEl>
                                        <p:attrNameLst>
                                          <p:attrName>style.visibility</p:attrName>
                                        </p:attrNameLst>
                                      </p:cBhvr>
                                      <p:to>
                                        <p:strVal val="visible"/>
                                      </p:to>
                                    </p:set>
                                    <p:animEffect transition="in" filter="checkerboard(across)">
                                      <p:cBhvr>
                                        <p:cTn id="12" dur="500"/>
                                        <p:tgtEl>
                                          <p:spTgt spid="655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5545"/>
                                        </p:tgtEl>
                                        <p:attrNameLst>
                                          <p:attrName>style.visibility</p:attrName>
                                        </p:attrNameLst>
                                      </p:cBhvr>
                                      <p:to>
                                        <p:strVal val="visible"/>
                                      </p:to>
                                    </p:set>
                                    <p:animEffect transition="in" filter="blinds(horizontal)">
                                      <p:cBhvr>
                                        <p:cTn id="17" dur="500"/>
                                        <p:tgtEl>
                                          <p:spTgt spid="6554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5547"/>
                                        </p:tgtEl>
                                        <p:attrNameLst>
                                          <p:attrName>style.visibility</p:attrName>
                                        </p:attrNameLst>
                                      </p:cBhvr>
                                      <p:to>
                                        <p:strVal val="visible"/>
                                      </p:to>
                                    </p:set>
                                    <p:animEffect transition="in" filter="blinds(horizontal)">
                                      <p:cBhvr>
                                        <p:cTn id="22" dur="500"/>
                                        <p:tgtEl>
                                          <p:spTgt spid="6554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42" fill="hold" grpId="0" nodeType="clickEffect">
                                  <p:stCondLst>
                                    <p:cond delay="0"/>
                                  </p:stCondLst>
                                  <p:childTnLst>
                                    <p:set>
                                      <p:cBhvr>
                                        <p:cTn id="26" dur="1" fill="hold">
                                          <p:stCondLst>
                                            <p:cond delay="0"/>
                                          </p:stCondLst>
                                        </p:cTn>
                                        <p:tgtEl>
                                          <p:spTgt spid="65548"/>
                                        </p:tgtEl>
                                        <p:attrNameLst>
                                          <p:attrName>style.visibility</p:attrName>
                                        </p:attrNameLst>
                                      </p:cBhvr>
                                      <p:to>
                                        <p:strVal val="visible"/>
                                      </p:to>
                                    </p:set>
                                    <p:animEffect transition="in" filter="barn(outHorizontal)">
                                      <p:cBhvr>
                                        <p:cTn id="27" dur="500"/>
                                        <p:tgtEl>
                                          <p:spTgt spid="6554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5542"/>
                                        </p:tgtEl>
                                        <p:attrNameLst>
                                          <p:attrName>style.visibility</p:attrName>
                                        </p:attrNameLst>
                                      </p:cBhvr>
                                      <p:to>
                                        <p:strVal val="visible"/>
                                      </p:to>
                                    </p:set>
                                    <p:animEffect transition="in" filter="blinds(horizontal)">
                                      <p:cBhvr>
                                        <p:cTn id="32" dur="500"/>
                                        <p:tgtEl>
                                          <p:spTgt spid="655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uild="p" bldLvl="2" autoUpdateAnimBg="0"/>
      <p:bldP spid="65548" grpId="0" autoUpdateAnimBg="0"/>
      <p:bldP spid="65542" grpId="0" animBg="1" autoUpdateAnimBg="0"/>
    </p:bldLst>
  </p:timing>
</p:sld>
</file>

<file path=ppt/slides/slide1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3586" name="Rectangle 2"/>
          <p:cNvSpPr>
            <a:spLocks noGrp="1" noChangeArrowheads="1"/>
          </p:cNvSpPr>
          <p:nvPr>
            <p:ph type="title"/>
          </p:nvPr>
        </p:nvSpPr>
        <p:spPr/>
        <p:txBody>
          <a:bodyPr/>
          <a:lstStyle/>
          <a:p>
            <a:r>
              <a:rPr lang="zh-CN" altLang="en-US" dirty="0"/>
              <a:t>计算最小函数依赖集</a:t>
            </a:r>
            <a:r>
              <a:rPr lang="en-US" altLang="zh-CN" dirty="0" err="1"/>
              <a:t>F</a:t>
            </a:r>
            <a:r>
              <a:rPr lang="en-US" altLang="zh-CN" baseline="-16000" dirty="0" err="1"/>
              <a:t>m</a:t>
            </a:r>
            <a:r>
              <a:rPr lang="en-US" altLang="zh-CN" baseline="-16000" dirty="0"/>
              <a:t> </a:t>
            </a:r>
            <a:r>
              <a:rPr lang="en-US" altLang="zh-CN" sz="3900" dirty="0"/>
              <a:t>: </a:t>
            </a:r>
            <a:r>
              <a:rPr lang="zh-CN" altLang="en-US" sz="3900" dirty="0"/>
              <a:t>例1(续)</a:t>
            </a:r>
          </a:p>
        </p:txBody>
      </p:sp>
      <p:sp>
        <p:nvSpPr>
          <p:cNvPr id="323587" name="Rectangle 3"/>
          <p:cNvSpPr>
            <a:spLocks noGrp="1" noChangeArrowheads="1"/>
          </p:cNvSpPr>
          <p:nvPr>
            <p:ph type="body" idx="1"/>
          </p:nvPr>
        </p:nvSpPr>
        <p:spPr>
          <a:xfrm>
            <a:off x="417513" y="1447800"/>
            <a:ext cx="8497887" cy="4876800"/>
          </a:xfrm>
        </p:spPr>
        <p:txBody>
          <a:bodyPr/>
          <a:lstStyle/>
          <a:p>
            <a:pPr>
              <a:lnSpc>
                <a:spcPct val="95000"/>
              </a:lnSpc>
            </a:pPr>
            <a:r>
              <a:rPr lang="en-US" altLang="zh-CN" dirty="0"/>
              <a:t>F = {A</a:t>
            </a:r>
            <a:r>
              <a:rPr lang="en-US" altLang="zh-CN" dirty="0">
                <a:sym typeface="Symbol" pitchFamily="18" charset="2"/>
              </a:rPr>
              <a:t>B，BA，AC，BC}，</a:t>
            </a:r>
            <a:r>
              <a:rPr lang="zh-CN" altLang="en-US" dirty="0">
                <a:sym typeface="Symbol" pitchFamily="18" charset="2"/>
              </a:rPr>
              <a:t>求</a:t>
            </a:r>
            <a:r>
              <a:rPr lang="en-US" altLang="zh-CN" dirty="0" err="1"/>
              <a:t>F</a:t>
            </a:r>
            <a:r>
              <a:rPr lang="en-US" altLang="zh-CN" baseline="-16000" dirty="0" err="1"/>
              <a:t>min</a:t>
            </a:r>
            <a:endParaRPr lang="en-US" altLang="zh-CN" dirty="0"/>
          </a:p>
          <a:p>
            <a:pPr>
              <a:lnSpc>
                <a:spcPct val="95000"/>
              </a:lnSpc>
              <a:buFont typeface="Wingdings" pitchFamily="2" charset="2"/>
              <a:buNone/>
            </a:pPr>
            <a:r>
              <a:rPr lang="en-US" altLang="zh-CN" sz="3600" dirty="0"/>
              <a:t>	</a:t>
            </a:r>
            <a:r>
              <a:rPr lang="zh-CN" altLang="en-US" dirty="0"/>
              <a:t>已经求出：</a:t>
            </a:r>
            <a:r>
              <a:rPr lang="en-US" altLang="zh-CN" sz="3600" dirty="0"/>
              <a:t> </a:t>
            </a:r>
          </a:p>
          <a:p>
            <a:pPr marL="655638" lvl="1" indent="-198438">
              <a:lnSpc>
                <a:spcPct val="95000"/>
              </a:lnSpc>
              <a:buFont typeface="Wingdings" pitchFamily="2" charset="2"/>
              <a:buNone/>
            </a:pPr>
            <a:r>
              <a:rPr lang="en-US" altLang="zh-CN" sz="3200" dirty="0"/>
              <a:t> </a:t>
            </a:r>
            <a:r>
              <a:rPr lang="en-US" altLang="zh-CN" sz="3200" dirty="0" err="1">
                <a:solidFill>
                  <a:schemeClr val="hlink"/>
                </a:solidFill>
              </a:rPr>
              <a:t>F</a:t>
            </a:r>
            <a:r>
              <a:rPr lang="en-US" altLang="zh-CN" sz="3200" baseline="-16000" dirty="0" err="1">
                <a:solidFill>
                  <a:schemeClr val="hlink"/>
                </a:solidFill>
              </a:rPr>
              <a:t>min</a:t>
            </a:r>
            <a:r>
              <a:rPr lang="en-US" altLang="zh-CN" sz="3200" baseline="-16000" dirty="0">
                <a:solidFill>
                  <a:schemeClr val="hlink"/>
                </a:solidFill>
              </a:rPr>
              <a:t> </a:t>
            </a:r>
            <a:r>
              <a:rPr lang="en-US" altLang="zh-CN" sz="3200" dirty="0">
                <a:solidFill>
                  <a:schemeClr val="hlink"/>
                </a:solidFill>
                <a:sym typeface="Symbol" pitchFamily="18" charset="2"/>
              </a:rPr>
              <a:t>= </a:t>
            </a:r>
            <a:r>
              <a:rPr lang="en-US" altLang="zh-CN" sz="3200" dirty="0">
                <a:solidFill>
                  <a:schemeClr val="hlink"/>
                </a:solidFill>
              </a:rPr>
              <a:t>{A</a:t>
            </a:r>
            <a:r>
              <a:rPr lang="en-US" altLang="zh-CN" sz="3200" dirty="0">
                <a:solidFill>
                  <a:schemeClr val="hlink"/>
                </a:solidFill>
                <a:sym typeface="Symbol" pitchFamily="18" charset="2"/>
              </a:rPr>
              <a:t>B，BA，</a:t>
            </a:r>
            <a:r>
              <a:rPr lang="en-US" altLang="zh-CN" sz="3200" dirty="0">
                <a:solidFill>
                  <a:srgbClr val="0000FF"/>
                </a:solidFill>
                <a:sym typeface="Symbol" pitchFamily="18" charset="2"/>
              </a:rPr>
              <a:t>BC</a:t>
            </a:r>
            <a:r>
              <a:rPr lang="en-US" altLang="zh-CN" sz="3200" dirty="0">
                <a:solidFill>
                  <a:schemeClr val="hlink"/>
                </a:solidFill>
                <a:sym typeface="Symbol" pitchFamily="18" charset="2"/>
              </a:rPr>
              <a:t>}</a:t>
            </a:r>
          </a:p>
          <a:p>
            <a:pPr marL="655638" lvl="1" indent="-198438">
              <a:lnSpc>
                <a:spcPct val="95000"/>
              </a:lnSpc>
              <a:buFont typeface="Wingdings" pitchFamily="2" charset="2"/>
              <a:buNone/>
            </a:pPr>
            <a:r>
              <a:rPr lang="zh-CN" altLang="en-US" sz="3200" dirty="0">
                <a:sym typeface="Symbol" pitchFamily="18" charset="2"/>
              </a:rPr>
              <a:t>也可以是以下结果：</a:t>
            </a:r>
          </a:p>
          <a:p>
            <a:pPr marL="655638" lvl="1" indent="-198438">
              <a:lnSpc>
                <a:spcPct val="95000"/>
              </a:lnSpc>
              <a:buFont typeface="Wingdings" pitchFamily="2" charset="2"/>
              <a:buNone/>
            </a:pPr>
            <a:r>
              <a:rPr lang="zh-CN" altLang="en-US" sz="3200" dirty="0"/>
              <a:t>	</a:t>
            </a:r>
            <a:r>
              <a:rPr lang="en-US" altLang="zh-CN" sz="3200" dirty="0" err="1">
                <a:solidFill>
                  <a:schemeClr val="hlink"/>
                </a:solidFill>
              </a:rPr>
              <a:t>F</a:t>
            </a:r>
            <a:r>
              <a:rPr lang="en-US" altLang="zh-CN" sz="3200" baseline="-16000" dirty="0" err="1">
                <a:solidFill>
                  <a:schemeClr val="hlink"/>
                </a:solidFill>
              </a:rPr>
              <a:t>min</a:t>
            </a:r>
            <a:r>
              <a:rPr lang="en-US" altLang="zh-CN" sz="3200" baseline="-16000" dirty="0">
                <a:solidFill>
                  <a:schemeClr val="hlink"/>
                </a:solidFill>
              </a:rPr>
              <a:t> </a:t>
            </a:r>
            <a:r>
              <a:rPr lang="en-US" altLang="zh-CN" sz="3200" dirty="0">
                <a:solidFill>
                  <a:schemeClr val="hlink"/>
                </a:solidFill>
                <a:sym typeface="Symbol" pitchFamily="18" charset="2"/>
              </a:rPr>
              <a:t>= </a:t>
            </a:r>
            <a:r>
              <a:rPr lang="en-US" altLang="zh-CN" sz="3200" dirty="0">
                <a:solidFill>
                  <a:schemeClr val="hlink"/>
                </a:solidFill>
              </a:rPr>
              <a:t>{A</a:t>
            </a:r>
            <a:r>
              <a:rPr lang="en-US" altLang="zh-CN" sz="3200" dirty="0">
                <a:solidFill>
                  <a:schemeClr val="hlink"/>
                </a:solidFill>
                <a:sym typeface="Symbol" pitchFamily="18" charset="2"/>
              </a:rPr>
              <a:t>B，BA，</a:t>
            </a:r>
            <a:r>
              <a:rPr lang="en-US" altLang="zh-CN" sz="3200" dirty="0">
                <a:solidFill>
                  <a:srgbClr val="0000FF"/>
                </a:solidFill>
                <a:sym typeface="Symbol" pitchFamily="18" charset="2"/>
              </a:rPr>
              <a:t>AC</a:t>
            </a:r>
            <a:r>
              <a:rPr lang="en-US" altLang="zh-CN" sz="3200" dirty="0">
                <a:solidFill>
                  <a:schemeClr val="hlink"/>
                </a:solidFill>
                <a:sym typeface="Symbol" pitchFamily="18" charset="2"/>
              </a:rPr>
              <a:t>}</a:t>
            </a:r>
          </a:p>
          <a:p>
            <a:pPr marL="655638" lvl="1" indent="-198438">
              <a:lnSpc>
                <a:spcPct val="95000"/>
              </a:lnSpc>
              <a:buFont typeface="Wingdings" pitchFamily="2" charset="2"/>
              <a:buNone/>
            </a:pPr>
            <a:endParaRPr lang="en-US" altLang="zh-CN" sz="3200" dirty="0">
              <a:solidFill>
                <a:schemeClr val="hlink"/>
              </a:solidFill>
              <a:sym typeface="Symbol" pitchFamily="18" charset="2"/>
            </a:endParaRPr>
          </a:p>
          <a:p>
            <a:pPr>
              <a:lnSpc>
                <a:spcPct val="95000"/>
              </a:lnSpc>
            </a:pPr>
            <a:r>
              <a:rPr lang="zh-CN" altLang="en-US" b="1" dirty="0">
                <a:sym typeface="Symbol" pitchFamily="18" charset="2"/>
              </a:rPr>
              <a:t>注意: </a:t>
            </a:r>
            <a:r>
              <a:rPr lang="zh-CN" altLang="en-US" dirty="0">
                <a:solidFill>
                  <a:schemeClr val="hlink"/>
                </a:solidFill>
                <a:sym typeface="Symbol" pitchFamily="18" charset="2"/>
              </a:rPr>
              <a:t>函数依赖集的最小依赖集可能不唯一。</a:t>
            </a:r>
            <a:r>
              <a:rPr lang="zh-CN" altLang="en-US" dirty="0"/>
              <a:t>与</a:t>
            </a:r>
            <a:r>
              <a:rPr lang="zh-CN" altLang="en-US" dirty="0">
                <a:solidFill>
                  <a:schemeClr val="tx2"/>
                </a:solidFill>
              </a:rPr>
              <a:t>考察的函数依赖的顺序</a:t>
            </a:r>
            <a:r>
              <a:rPr lang="zh-CN" altLang="en-US" dirty="0"/>
              <a:t>有关。</a:t>
            </a:r>
            <a:endParaRPr lang="en-US" altLang="zh-CN" dirty="0"/>
          </a:p>
        </p:txBody>
      </p:sp>
      <p:sp>
        <p:nvSpPr>
          <p:cNvPr id="2" name="日期占位符 1"/>
          <p:cNvSpPr>
            <a:spLocks noGrp="1"/>
          </p:cNvSpPr>
          <p:nvPr>
            <p:ph type="dt" sz="half" idx="10"/>
          </p:nvPr>
        </p:nvSpPr>
        <p:spPr/>
        <p:txBody>
          <a:bodyPr/>
          <a:lstStyle/>
          <a:p>
            <a:fld id="{9F7051F3-6AC7-4142-82FB-D3E1CE27FED5}" type="datetime1">
              <a:rPr lang="zh-CN" altLang="en-US" smtClean="0"/>
              <a:t>2025/11/6</a:t>
            </a:fld>
            <a:endParaRPr lang="en-US" altLang="zh-CN"/>
          </a:p>
        </p:txBody>
      </p:sp>
      <p:sp>
        <p:nvSpPr>
          <p:cNvPr id="4" name="页脚占位符 3">
            <a:extLst>
              <a:ext uri="{FF2B5EF4-FFF2-40B4-BE49-F238E27FC236}">
                <a16:creationId xmlns:a16="http://schemas.microsoft.com/office/drawing/2014/main" id="{AA1595D7-F61E-98A7-A8E8-AFD6094DB980}"/>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B0CE5951-8B3B-2C83-8E75-99C810FCBF96}"/>
              </a:ext>
            </a:extLst>
          </p:cNvPr>
          <p:cNvSpPr>
            <a:spLocks noGrp="1"/>
          </p:cNvSpPr>
          <p:nvPr>
            <p:ph type="sldNum" sz="quarter" idx="12"/>
          </p:nvPr>
        </p:nvSpPr>
        <p:spPr/>
        <p:txBody>
          <a:bodyPr/>
          <a:lstStyle/>
          <a:p>
            <a:fld id="{A2D74603-B40B-4D66-8F6E-41C870D48932}" type="slidenum">
              <a:rPr lang="en-US" altLang="zh-CN" smtClean="0"/>
              <a:pPr/>
              <a:t>133</a:t>
            </a:fld>
            <a:r>
              <a:rPr lang="en-US" altLang="zh-CN"/>
              <a:t>/162</a:t>
            </a:r>
            <a:endParaRPr lang="en-US" altLang="zh-CN" dirty="0"/>
          </a:p>
        </p:txBody>
      </p:sp>
    </p:spTree>
    <p:extLst>
      <p:ext uri="{BB962C8B-B14F-4D97-AF65-F5344CB8AC3E}">
        <p14:creationId xmlns:p14="http://schemas.microsoft.com/office/powerpoint/2010/main" val="3704402400"/>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323587">
                                            <p:txEl>
                                              <p:pRg st="0" end="0"/>
                                            </p:txEl>
                                          </p:spTgt>
                                        </p:tgtEl>
                                        <p:attrNameLst>
                                          <p:attrName>style.visibility</p:attrName>
                                        </p:attrNameLst>
                                      </p:cBhvr>
                                      <p:to>
                                        <p:strVal val="visible"/>
                                      </p:to>
                                    </p:set>
                                    <p:animEffect transition="in" filter="barn(outHorizontal)">
                                      <p:cBhvr>
                                        <p:cTn id="7" dur="500"/>
                                        <p:tgtEl>
                                          <p:spTgt spid="3235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323587">
                                            <p:txEl>
                                              <p:pRg st="1" end="1"/>
                                            </p:txEl>
                                          </p:spTgt>
                                        </p:tgtEl>
                                        <p:attrNameLst>
                                          <p:attrName>style.visibility</p:attrName>
                                        </p:attrNameLst>
                                      </p:cBhvr>
                                      <p:to>
                                        <p:strVal val="visible"/>
                                      </p:to>
                                    </p:set>
                                    <p:animEffect transition="in" filter="barn(outHorizontal)">
                                      <p:cBhvr>
                                        <p:cTn id="12" dur="500"/>
                                        <p:tgtEl>
                                          <p:spTgt spid="32358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323587">
                                            <p:txEl>
                                              <p:pRg st="2" end="2"/>
                                            </p:txEl>
                                          </p:spTgt>
                                        </p:tgtEl>
                                        <p:attrNameLst>
                                          <p:attrName>style.visibility</p:attrName>
                                        </p:attrNameLst>
                                      </p:cBhvr>
                                      <p:to>
                                        <p:strVal val="visible"/>
                                      </p:to>
                                    </p:set>
                                    <p:animEffect transition="in" filter="barn(outHorizontal)">
                                      <p:cBhvr>
                                        <p:cTn id="17" dur="500"/>
                                        <p:tgtEl>
                                          <p:spTgt spid="32358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323587">
                                            <p:txEl>
                                              <p:pRg st="3" end="3"/>
                                            </p:txEl>
                                          </p:spTgt>
                                        </p:tgtEl>
                                        <p:attrNameLst>
                                          <p:attrName>style.visibility</p:attrName>
                                        </p:attrNameLst>
                                      </p:cBhvr>
                                      <p:to>
                                        <p:strVal val="visible"/>
                                      </p:to>
                                    </p:set>
                                    <p:animEffect transition="in" filter="barn(outHorizontal)">
                                      <p:cBhvr>
                                        <p:cTn id="22" dur="500"/>
                                        <p:tgtEl>
                                          <p:spTgt spid="32358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42" fill="hold" grpId="0" nodeType="clickEffect">
                                  <p:stCondLst>
                                    <p:cond delay="0"/>
                                  </p:stCondLst>
                                  <p:childTnLst>
                                    <p:set>
                                      <p:cBhvr>
                                        <p:cTn id="26" dur="1" fill="hold">
                                          <p:stCondLst>
                                            <p:cond delay="0"/>
                                          </p:stCondLst>
                                        </p:cTn>
                                        <p:tgtEl>
                                          <p:spTgt spid="323587">
                                            <p:txEl>
                                              <p:pRg st="4" end="4"/>
                                            </p:txEl>
                                          </p:spTgt>
                                        </p:tgtEl>
                                        <p:attrNameLst>
                                          <p:attrName>style.visibility</p:attrName>
                                        </p:attrNameLst>
                                      </p:cBhvr>
                                      <p:to>
                                        <p:strVal val="visible"/>
                                      </p:to>
                                    </p:set>
                                    <p:animEffect transition="in" filter="barn(outHorizontal)">
                                      <p:cBhvr>
                                        <p:cTn id="27" dur="500"/>
                                        <p:tgtEl>
                                          <p:spTgt spid="32358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42" fill="hold" grpId="0" nodeType="clickEffect">
                                  <p:stCondLst>
                                    <p:cond delay="0"/>
                                  </p:stCondLst>
                                  <p:childTnLst>
                                    <p:set>
                                      <p:cBhvr>
                                        <p:cTn id="31" dur="1" fill="hold">
                                          <p:stCondLst>
                                            <p:cond delay="0"/>
                                          </p:stCondLst>
                                        </p:cTn>
                                        <p:tgtEl>
                                          <p:spTgt spid="323587">
                                            <p:txEl>
                                              <p:pRg st="6" end="6"/>
                                            </p:txEl>
                                          </p:spTgt>
                                        </p:tgtEl>
                                        <p:attrNameLst>
                                          <p:attrName>style.visibility</p:attrName>
                                        </p:attrNameLst>
                                      </p:cBhvr>
                                      <p:to>
                                        <p:strVal val="visible"/>
                                      </p:to>
                                    </p:set>
                                    <p:animEffect transition="in" filter="barn(outHorizontal)">
                                      <p:cBhvr>
                                        <p:cTn id="32" dur="500"/>
                                        <p:tgtEl>
                                          <p:spTgt spid="32358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3587" grpId="0" build="p" bldLvl="2" autoUpdateAnimBg="0"/>
    </p:bldLst>
  </p:timing>
</p:sld>
</file>

<file path=ppt/slides/slide1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r>
              <a:rPr lang="zh-CN" altLang="en-US" dirty="0"/>
              <a:t>计算最小函数依赖集</a:t>
            </a:r>
            <a:r>
              <a:rPr lang="en-US" altLang="zh-CN" dirty="0" err="1"/>
              <a:t>F</a:t>
            </a:r>
            <a:r>
              <a:rPr lang="en-US" altLang="zh-CN" baseline="-16000" dirty="0" err="1"/>
              <a:t>m</a:t>
            </a:r>
            <a:r>
              <a:rPr lang="en-US" altLang="zh-CN" baseline="-16000" dirty="0"/>
              <a:t> </a:t>
            </a:r>
            <a:r>
              <a:rPr lang="en-US" altLang="zh-CN" sz="3900" dirty="0"/>
              <a:t>: </a:t>
            </a:r>
            <a:r>
              <a:rPr lang="zh-CN" altLang="en-US" sz="3900" dirty="0"/>
              <a:t>例2</a:t>
            </a:r>
          </a:p>
        </p:txBody>
      </p:sp>
      <p:sp>
        <p:nvSpPr>
          <p:cNvPr id="66563" name="Rectangle 3"/>
          <p:cNvSpPr>
            <a:spLocks noGrp="1" noChangeArrowheads="1"/>
          </p:cNvSpPr>
          <p:nvPr>
            <p:ph type="body" idx="1"/>
          </p:nvPr>
        </p:nvSpPr>
        <p:spPr>
          <a:xfrm>
            <a:off x="265113" y="1371600"/>
            <a:ext cx="8802687" cy="1676400"/>
          </a:xfrm>
        </p:spPr>
        <p:txBody>
          <a:bodyPr/>
          <a:lstStyle/>
          <a:p>
            <a:r>
              <a:rPr lang="en-US" altLang="zh-CN" dirty="0"/>
              <a:t>F = {C</a:t>
            </a:r>
            <a:r>
              <a:rPr lang="en-US" altLang="zh-CN" dirty="0">
                <a:sym typeface="Symbol" pitchFamily="18" charset="2"/>
              </a:rPr>
              <a:t>A，AG，CGB，BA}，</a:t>
            </a:r>
            <a:r>
              <a:rPr lang="zh-CN" altLang="en-US" dirty="0">
                <a:sym typeface="Symbol" pitchFamily="18" charset="2"/>
              </a:rPr>
              <a:t>求</a:t>
            </a:r>
            <a:r>
              <a:rPr lang="en-US" altLang="zh-CN" sz="3000" dirty="0" err="1"/>
              <a:t>F</a:t>
            </a:r>
            <a:r>
              <a:rPr lang="en-US" altLang="zh-CN" sz="3000" baseline="-16000" dirty="0" err="1"/>
              <a:t>min</a:t>
            </a:r>
            <a:endParaRPr lang="en-US" altLang="zh-CN" sz="3000" dirty="0"/>
          </a:p>
          <a:p>
            <a:pPr lvl="1"/>
            <a:r>
              <a:rPr lang="en-US" altLang="zh-CN" dirty="0">
                <a:latin typeface="Times New Roman" pitchFamily="18" charset="0"/>
                <a:ea typeface="宋体" charset="-122"/>
              </a:rPr>
              <a:t>F</a:t>
            </a:r>
            <a:r>
              <a:rPr lang="zh-CN" altLang="en-US" dirty="0">
                <a:latin typeface="Times New Roman" pitchFamily="18" charset="0"/>
                <a:ea typeface="宋体" charset="-122"/>
              </a:rPr>
              <a:t>已是单属性的；</a:t>
            </a:r>
          </a:p>
          <a:p>
            <a:pPr lvl="1"/>
            <a:r>
              <a:rPr lang="zh-CN" altLang="en-US" dirty="0">
                <a:latin typeface="Times New Roman" pitchFamily="18" charset="0"/>
                <a:ea typeface="宋体" charset="-122"/>
              </a:rPr>
              <a:t>判断</a:t>
            </a:r>
            <a:r>
              <a:rPr lang="en-US" altLang="zh-CN" dirty="0">
                <a:latin typeface="Times New Roman" pitchFamily="18" charset="0"/>
                <a:ea typeface="宋体" charset="-122"/>
                <a:sym typeface="Symbol" pitchFamily="18" charset="2"/>
              </a:rPr>
              <a:t>CGB</a:t>
            </a:r>
            <a:r>
              <a:rPr lang="zh-CN" altLang="en-US" dirty="0">
                <a:latin typeface="Times New Roman" pitchFamily="18" charset="0"/>
                <a:ea typeface="宋体" charset="-122"/>
                <a:sym typeface="Symbol" pitchFamily="18" charset="2"/>
              </a:rPr>
              <a:t>的</a:t>
            </a:r>
            <a:r>
              <a:rPr lang="zh-CN" altLang="en-US" b="1" dirty="0">
                <a:solidFill>
                  <a:srgbClr val="0000FF"/>
                </a:solidFill>
                <a:latin typeface="Times New Roman" pitchFamily="18" charset="0"/>
                <a:ea typeface="宋体" charset="-122"/>
                <a:sym typeface="Symbol" pitchFamily="18" charset="2"/>
              </a:rPr>
              <a:t>既约性:</a:t>
            </a:r>
          </a:p>
        </p:txBody>
      </p:sp>
      <p:grpSp>
        <p:nvGrpSpPr>
          <p:cNvPr id="66571" name="Group 11"/>
          <p:cNvGrpSpPr>
            <a:grpSpLocks/>
          </p:cNvGrpSpPr>
          <p:nvPr/>
        </p:nvGrpSpPr>
        <p:grpSpPr bwMode="auto">
          <a:xfrm>
            <a:off x="265113" y="3113088"/>
            <a:ext cx="8802687" cy="620712"/>
            <a:chOff x="119" y="1728"/>
            <a:chExt cx="5545" cy="391"/>
          </a:xfrm>
        </p:grpSpPr>
        <p:sp>
          <p:nvSpPr>
            <p:cNvPr id="66570" name="Rectangle 10"/>
            <p:cNvSpPr>
              <a:spLocks noChangeArrowheads="1"/>
            </p:cNvSpPr>
            <p:nvPr/>
          </p:nvSpPr>
          <p:spPr bwMode="auto">
            <a:xfrm>
              <a:off x="119" y="1728"/>
              <a:ext cx="554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0"/>
                </a:spcBef>
                <a:defRPr kumimoji="1" sz="2400">
                  <a:solidFill>
                    <a:schemeClr val="tx1"/>
                  </a:solidFill>
                  <a:latin typeface="Times New Roman" pitchFamily="18" charset="0"/>
                  <a:ea typeface="宋体" charset="-122"/>
                </a:defRPr>
              </a:lvl1pPr>
              <a:lvl2pPr marL="742950" indent="-285750" algn="l">
                <a:spcBef>
                  <a:spcPct val="0"/>
                </a:spcBef>
                <a:defRPr kumimoji="1" sz="2400">
                  <a:solidFill>
                    <a:schemeClr val="tx1"/>
                  </a:solidFill>
                  <a:latin typeface="Times New Roman" pitchFamily="18" charset="0"/>
                  <a:ea typeface="宋体" charset="-122"/>
                </a:defRPr>
              </a:lvl2pPr>
              <a:lvl3pPr marL="1143000" indent="-228600" algn="l">
                <a:spcBef>
                  <a:spcPct val="0"/>
                </a:spcBef>
                <a:defRPr kumimoji="1" sz="2400">
                  <a:solidFill>
                    <a:schemeClr val="tx1"/>
                  </a:solidFill>
                  <a:latin typeface="Times New Roman" pitchFamily="18" charset="0"/>
                  <a:ea typeface="宋体" charset="-122"/>
                </a:defRPr>
              </a:lvl3pPr>
              <a:lvl4pPr marL="1600200" indent="-228600" algn="l">
                <a:spcBef>
                  <a:spcPct val="0"/>
                </a:spcBef>
                <a:defRPr kumimoji="1" sz="2400">
                  <a:solidFill>
                    <a:schemeClr val="tx1"/>
                  </a:solidFill>
                  <a:latin typeface="Times New Roman" pitchFamily="18" charset="0"/>
                  <a:ea typeface="宋体" charset="-122"/>
                </a:defRPr>
              </a:lvl4pPr>
              <a:lvl5pPr marL="2057400" indent="-228600" algn="l">
                <a:spcBef>
                  <a:spcPct val="0"/>
                </a:spcBef>
                <a:defRPr kumimoji="1" sz="2400">
                  <a:solidFill>
                    <a:schemeClr val="tx1"/>
                  </a:solidFill>
                  <a:latin typeface="Times New Roman" pitchFamily="18" charset="0"/>
                  <a:ea typeface="宋体" charset="-122"/>
                </a:defRPr>
              </a:lvl5pPr>
              <a:lvl6pPr marL="2514600" indent="-228600" fontAlgn="base">
                <a:spcBef>
                  <a:spcPct val="0"/>
                </a:spcBef>
                <a:spcAft>
                  <a:spcPct val="0"/>
                </a:spcAft>
                <a:defRPr kumimoji="1" sz="2400">
                  <a:solidFill>
                    <a:schemeClr val="tx1"/>
                  </a:solidFill>
                  <a:latin typeface="Times New Roman" pitchFamily="18" charset="0"/>
                  <a:ea typeface="宋体" charset="-122"/>
                </a:defRPr>
              </a:lvl6pPr>
              <a:lvl7pPr marL="2971800" indent="-228600" fontAlgn="base">
                <a:spcBef>
                  <a:spcPct val="0"/>
                </a:spcBef>
                <a:spcAft>
                  <a:spcPct val="0"/>
                </a:spcAft>
                <a:defRPr kumimoji="1" sz="2400">
                  <a:solidFill>
                    <a:schemeClr val="tx1"/>
                  </a:solidFill>
                  <a:latin typeface="Times New Roman" pitchFamily="18" charset="0"/>
                  <a:ea typeface="宋体" charset="-122"/>
                </a:defRPr>
              </a:lvl7pPr>
              <a:lvl8pPr marL="3429000" indent="-228600" fontAlgn="base">
                <a:spcBef>
                  <a:spcPct val="0"/>
                </a:spcBef>
                <a:spcAft>
                  <a:spcPct val="0"/>
                </a:spcAft>
                <a:defRPr kumimoji="1" sz="2400">
                  <a:solidFill>
                    <a:schemeClr val="tx1"/>
                  </a:solidFill>
                  <a:latin typeface="Times New Roman" pitchFamily="18" charset="0"/>
                  <a:ea typeface="宋体" charset="-122"/>
                </a:defRPr>
              </a:lvl8pPr>
              <a:lvl9pPr marL="3886200" indent="-228600" fontAlgn="base">
                <a:spcBef>
                  <a:spcPct val="0"/>
                </a:spcBef>
                <a:spcAft>
                  <a:spcPct val="0"/>
                </a:spcAft>
                <a:defRPr kumimoji="1" sz="2400">
                  <a:solidFill>
                    <a:schemeClr val="tx1"/>
                  </a:solidFill>
                  <a:latin typeface="Times New Roman" pitchFamily="18" charset="0"/>
                  <a:ea typeface="宋体" charset="-122"/>
                </a:defRPr>
              </a:lvl9pPr>
            </a:lstStyle>
            <a:p>
              <a:pPr lvl="1" algn="just">
                <a:spcBef>
                  <a:spcPct val="20000"/>
                </a:spcBef>
                <a:buClr>
                  <a:schemeClr val="hlink"/>
                </a:buClr>
                <a:buSzPct val="55000"/>
                <a:buFont typeface="Wingdings" pitchFamily="2" charset="2"/>
                <a:buNone/>
              </a:pPr>
              <a:r>
                <a:rPr lang="en-US" altLang="zh-CN" sz="2800">
                  <a:latin typeface="Tahoma" pitchFamily="34" charset="0"/>
                  <a:ea typeface="华文新魏" pitchFamily="2" charset="-122"/>
                </a:rPr>
                <a:t>∵	                    =          = {G}</a:t>
              </a:r>
            </a:p>
          </p:txBody>
        </p:sp>
        <p:graphicFrame>
          <p:nvGraphicFramePr>
            <p:cNvPr id="66564" name="Object 4"/>
            <p:cNvGraphicFramePr>
              <a:graphicFrameLocks noChangeAspect="1"/>
            </p:cNvGraphicFramePr>
            <p:nvPr/>
          </p:nvGraphicFramePr>
          <p:xfrm>
            <a:off x="828" y="1728"/>
            <a:ext cx="1115" cy="377"/>
          </p:xfrm>
          <a:graphic>
            <a:graphicData uri="http://schemas.openxmlformats.org/presentationml/2006/ole">
              <mc:AlternateContent xmlns:mc="http://schemas.openxmlformats.org/markup-compatibility/2006">
                <mc:Choice xmlns:v="urn:schemas-microsoft-com:vml" Requires="v">
                  <p:oleObj name="公式" r:id="rId2" imgW="685800" imgH="228600" progId="Equation.3">
                    <p:embed/>
                  </p:oleObj>
                </mc:Choice>
                <mc:Fallback>
                  <p:oleObj name="公式" r:id="rId2" imgW="685800" imgH="228600" progId="Equation.3">
                    <p:embed/>
                    <p:pic>
                      <p:nvPicPr>
                        <p:cNvPr id="0" name="Picture 206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8" y="1728"/>
                          <a:ext cx="1115" cy="3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565" name="Object 5"/>
            <p:cNvGraphicFramePr>
              <a:graphicFrameLocks noChangeAspect="1"/>
            </p:cNvGraphicFramePr>
            <p:nvPr/>
          </p:nvGraphicFramePr>
          <p:xfrm>
            <a:off x="2277" y="1742"/>
            <a:ext cx="555" cy="377"/>
          </p:xfrm>
          <a:graphic>
            <a:graphicData uri="http://schemas.openxmlformats.org/presentationml/2006/ole">
              <mc:AlternateContent xmlns:mc="http://schemas.openxmlformats.org/markup-compatibility/2006">
                <mc:Choice xmlns:v="urn:schemas-microsoft-com:vml" Requires="v">
                  <p:oleObj name="公式" r:id="rId4" imgW="342751" imgH="228501" progId="Equation.3">
                    <p:embed/>
                  </p:oleObj>
                </mc:Choice>
                <mc:Fallback>
                  <p:oleObj name="公式" r:id="rId4" imgW="342751" imgH="228501" progId="Equation.3">
                    <p:embed/>
                    <p:pic>
                      <p:nvPicPr>
                        <p:cNvPr id="0" name="Picture 206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77" y="1742"/>
                          <a:ext cx="555" cy="3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66575" name="Group 15"/>
          <p:cNvGrpSpPr>
            <a:grpSpLocks/>
          </p:cNvGrpSpPr>
          <p:nvPr/>
        </p:nvGrpSpPr>
        <p:grpSpPr bwMode="auto">
          <a:xfrm>
            <a:off x="265113" y="4343400"/>
            <a:ext cx="8802687" cy="609600"/>
            <a:chOff x="119" y="2496"/>
            <a:chExt cx="5545" cy="384"/>
          </a:xfrm>
        </p:grpSpPr>
        <p:sp>
          <p:nvSpPr>
            <p:cNvPr id="66574" name="Rectangle 14"/>
            <p:cNvSpPr>
              <a:spLocks noChangeArrowheads="1"/>
            </p:cNvSpPr>
            <p:nvPr/>
          </p:nvSpPr>
          <p:spPr bwMode="auto">
            <a:xfrm>
              <a:off x="119" y="2544"/>
              <a:ext cx="5545"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0"/>
                </a:spcBef>
                <a:defRPr kumimoji="1" sz="2400">
                  <a:solidFill>
                    <a:schemeClr val="tx1"/>
                  </a:solidFill>
                  <a:latin typeface="Times New Roman" pitchFamily="18" charset="0"/>
                  <a:ea typeface="宋体" charset="-122"/>
                </a:defRPr>
              </a:lvl1pPr>
              <a:lvl2pPr marL="742950" indent="-285750" algn="l">
                <a:spcBef>
                  <a:spcPct val="0"/>
                </a:spcBef>
                <a:defRPr kumimoji="1" sz="2400">
                  <a:solidFill>
                    <a:schemeClr val="tx1"/>
                  </a:solidFill>
                  <a:latin typeface="Times New Roman" pitchFamily="18" charset="0"/>
                  <a:ea typeface="宋体" charset="-122"/>
                </a:defRPr>
              </a:lvl2pPr>
              <a:lvl3pPr marL="1143000" indent="-228600" algn="l">
                <a:spcBef>
                  <a:spcPct val="0"/>
                </a:spcBef>
                <a:defRPr kumimoji="1" sz="2400">
                  <a:solidFill>
                    <a:schemeClr val="tx1"/>
                  </a:solidFill>
                  <a:latin typeface="Times New Roman" pitchFamily="18" charset="0"/>
                  <a:ea typeface="宋体" charset="-122"/>
                </a:defRPr>
              </a:lvl3pPr>
              <a:lvl4pPr marL="1600200" indent="-228600" algn="l">
                <a:spcBef>
                  <a:spcPct val="0"/>
                </a:spcBef>
                <a:defRPr kumimoji="1" sz="2400">
                  <a:solidFill>
                    <a:schemeClr val="tx1"/>
                  </a:solidFill>
                  <a:latin typeface="Times New Roman" pitchFamily="18" charset="0"/>
                  <a:ea typeface="宋体" charset="-122"/>
                </a:defRPr>
              </a:lvl4pPr>
              <a:lvl5pPr marL="2057400" indent="-228600" algn="l">
                <a:spcBef>
                  <a:spcPct val="0"/>
                </a:spcBef>
                <a:defRPr kumimoji="1" sz="2400">
                  <a:solidFill>
                    <a:schemeClr val="tx1"/>
                  </a:solidFill>
                  <a:latin typeface="Times New Roman" pitchFamily="18" charset="0"/>
                  <a:ea typeface="宋体" charset="-122"/>
                </a:defRPr>
              </a:lvl5pPr>
              <a:lvl6pPr marL="2514600" indent="-228600" fontAlgn="base">
                <a:spcBef>
                  <a:spcPct val="0"/>
                </a:spcBef>
                <a:spcAft>
                  <a:spcPct val="0"/>
                </a:spcAft>
                <a:defRPr kumimoji="1" sz="2400">
                  <a:solidFill>
                    <a:schemeClr val="tx1"/>
                  </a:solidFill>
                  <a:latin typeface="Times New Roman" pitchFamily="18" charset="0"/>
                  <a:ea typeface="宋体" charset="-122"/>
                </a:defRPr>
              </a:lvl6pPr>
              <a:lvl7pPr marL="2971800" indent="-228600" fontAlgn="base">
                <a:spcBef>
                  <a:spcPct val="0"/>
                </a:spcBef>
                <a:spcAft>
                  <a:spcPct val="0"/>
                </a:spcAft>
                <a:defRPr kumimoji="1" sz="2400">
                  <a:solidFill>
                    <a:schemeClr val="tx1"/>
                  </a:solidFill>
                  <a:latin typeface="Times New Roman" pitchFamily="18" charset="0"/>
                  <a:ea typeface="宋体" charset="-122"/>
                </a:defRPr>
              </a:lvl7pPr>
              <a:lvl8pPr marL="3429000" indent="-228600" fontAlgn="base">
                <a:spcBef>
                  <a:spcPct val="0"/>
                </a:spcBef>
                <a:spcAft>
                  <a:spcPct val="0"/>
                </a:spcAft>
                <a:defRPr kumimoji="1" sz="2400">
                  <a:solidFill>
                    <a:schemeClr val="tx1"/>
                  </a:solidFill>
                  <a:latin typeface="Times New Roman" pitchFamily="18" charset="0"/>
                  <a:ea typeface="宋体" charset="-122"/>
                </a:defRPr>
              </a:lvl8pPr>
              <a:lvl9pPr marL="3886200" indent="-228600" fontAlgn="base">
                <a:spcBef>
                  <a:spcPct val="0"/>
                </a:spcBef>
                <a:spcAft>
                  <a:spcPct val="0"/>
                </a:spcAft>
                <a:defRPr kumimoji="1" sz="2400">
                  <a:solidFill>
                    <a:schemeClr val="tx1"/>
                  </a:solidFill>
                  <a:latin typeface="Times New Roman" pitchFamily="18" charset="0"/>
                  <a:ea typeface="宋体" charset="-122"/>
                </a:defRPr>
              </a:lvl9pPr>
            </a:lstStyle>
            <a:p>
              <a:pPr lvl="1" algn="just">
                <a:spcBef>
                  <a:spcPct val="45000"/>
                </a:spcBef>
                <a:buClr>
                  <a:schemeClr val="hlink"/>
                </a:buClr>
                <a:buSzPct val="55000"/>
                <a:buFont typeface="Wingdings" pitchFamily="2" charset="2"/>
                <a:buNone/>
              </a:pPr>
              <a:r>
                <a:rPr lang="en-US" altLang="zh-CN" sz="2800" dirty="0"/>
                <a:t>∵	                        =                = {C, A, G, B}</a:t>
              </a:r>
            </a:p>
          </p:txBody>
        </p:sp>
        <p:graphicFrame>
          <p:nvGraphicFramePr>
            <p:cNvPr id="66566" name="Object 6"/>
            <p:cNvGraphicFramePr>
              <a:graphicFrameLocks noChangeAspect="1"/>
            </p:cNvGraphicFramePr>
            <p:nvPr/>
          </p:nvGraphicFramePr>
          <p:xfrm>
            <a:off x="864" y="2496"/>
            <a:ext cx="1115" cy="377"/>
          </p:xfrm>
          <a:graphic>
            <a:graphicData uri="http://schemas.openxmlformats.org/presentationml/2006/ole">
              <mc:AlternateContent xmlns:mc="http://schemas.openxmlformats.org/markup-compatibility/2006">
                <mc:Choice xmlns:v="urn:schemas-microsoft-com:vml" Requires="v">
                  <p:oleObj name="公式" r:id="rId6" imgW="685800" imgH="228600" progId="Equation.3">
                    <p:embed/>
                  </p:oleObj>
                </mc:Choice>
                <mc:Fallback>
                  <p:oleObj name="公式" r:id="rId6" imgW="685800" imgH="228600" progId="Equation.3">
                    <p:embed/>
                    <p:pic>
                      <p:nvPicPr>
                        <p:cNvPr id="0" name="Picture 206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4" y="2496"/>
                          <a:ext cx="1115" cy="3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567" name="Object 7"/>
            <p:cNvGraphicFramePr>
              <a:graphicFrameLocks noChangeAspect="1"/>
            </p:cNvGraphicFramePr>
            <p:nvPr/>
          </p:nvGraphicFramePr>
          <p:xfrm>
            <a:off x="2391" y="2496"/>
            <a:ext cx="537" cy="377"/>
          </p:xfrm>
          <a:graphic>
            <a:graphicData uri="http://schemas.openxmlformats.org/presentationml/2006/ole">
              <mc:AlternateContent xmlns:mc="http://schemas.openxmlformats.org/markup-compatibility/2006">
                <mc:Choice xmlns:v="urn:schemas-microsoft-com:vml" Requires="v">
                  <p:oleObj name="公式" r:id="rId8" imgW="330200" imgH="228600" progId="Equation.3">
                    <p:embed/>
                  </p:oleObj>
                </mc:Choice>
                <mc:Fallback>
                  <p:oleObj name="公式" r:id="rId8" imgW="330200" imgH="228600" progId="Equation.3">
                    <p:embed/>
                    <p:pic>
                      <p:nvPicPr>
                        <p:cNvPr id="0" name="Picture 206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91" y="2496"/>
                          <a:ext cx="537" cy="3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66573" name="Group 13"/>
          <p:cNvGrpSpPr>
            <a:grpSpLocks/>
          </p:cNvGrpSpPr>
          <p:nvPr/>
        </p:nvGrpSpPr>
        <p:grpSpPr bwMode="auto">
          <a:xfrm>
            <a:off x="265113" y="3733800"/>
            <a:ext cx="8802687" cy="685800"/>
            <a:chOff x="119" y="2112"/>
            <a:chExt cx="5545" cy="432"/>
          </a:xfrm>
        </p:grpSpPr>
        <p:sp>
          <p:nvSpPr>
            <p:cNvPr id="66572" name="Rectangle 12"/>
            <p:cNvSpPr>
              <a:spLocks noChangeArrowheads="1"/>
            </p:cNvSpPr>
            <p:nvPr/>
          </p:nvSpPr>
          <p:spPr bwMode="auto">
            <a:xfrm>
              <a:off x="119" y="2112"/>
              <a:ext cx="5545"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0"/>
                </a:spcBef>
                <a:defRPr kumimoji="1" sz="2400">
                  <a:solidFill>
                    <a:schemeClr val="tx1"/>
                  </a:solidFill>
                  <a:latin typeface="Times New Roman" pitchFamily="18" charset="0"/>
                  <a:ea typeface="宋体" charset="-122"/>
                </a:defRPr>
              </a:lvl1pPr>
              <a:lvl2pPr marL="742950" indent="-285750" algn="l">
                <a:spcBef>
                  <a:spcPct val="0"/>
                </a:spcBef>
                <a:defRPr kumimoji="1" sz="2400">
                  <a:solidFill>
                    <a:schemeClr val="tx1"/>
                  </a:solidFill>
                  <a:latin typeface="Times New Roman" pitchFamily="18" charset="0"/>
                  <a:ea typeface="宋体" charset="-122"/>
                </a:defRPr>
              </a:lvl2pPr>
              <a:lvl3pPr marL="1143000" indent="-228600" algn="l">
                <a:spcBef>
                  <a:spcPct val="0"/>
                </a:spcBef>
                <a:defRPr kumimoji="1" sz="2400">
                  <a:solidFill>
                    <a:schemeClr val="tx1"/>
                  </a:solidFill>
                  <a:latin typeface="Times New Roman" pitchFamily="18" charset="0"/>
                  <a:ea typeface="宋体" charset="-122"/>
                </a:defRPr>
              </a:lvl3pPr>
              <a:lvl4pPr marL="1600200" indent="-228600" algn="l">
                <a:spcBef>
                  <a:spcPct val="0"/>
                </a:spcBef>
                <a:defRPr kumimoji="1" sz="2400">
                  <a:solidFill>
                    <a:schemeClr val="tx1"/>
                  </a:solidFill>
                  <a:latin typeface="Times New Roman" pitchFamily="18" charset="0"/>
                  <a:ea typeface="宋体" charset="-122"/>
                </a:defRPr>
              </a:lvl4pPr>
              <a:lvl5pPr marL="2057400" indent="-228600" algn="l">
                <a:spcBef>
                  <a:spcPct val="0"/>
                </a:spcBef>
                <a:defRPr kumimoji="1" sz="2400">
                  <a:solidFill>
                    <a:schemeClr val="tx1"/>
                  </a:solidFill>
                  <a:latin typeface="Times New Roman" pitchFamily="18" charset="0"/>
                  <a:ea typeface="宋体" charset="-122"/>
                </a:defRPr>
              </a:lvl5pPr>
              <a:lvl6pPr marL="2514600" indent="-228600" fontAlgn="base">
                <a:spcBef>
                  <a:spcPct val="0"/>
                </a:spcBef>
                <a:spcAft>
                  <a:spcPct val="0"/>
                </a:spcAft>
                <a:defRPr kumimoji="1" sz="2400">
                  <a:solidFill>
                    <a:schemeClr val="tx1"/>
                  </a:solidFill>
                  <a:latin typeface="Times New Roman" pitchFamily="18" charset="0"/>
                  <a:ea typeface="宋体" charset="-122"/>
                </a:defRPr>
              </a:lvl6pPr>
              <a:lvl7pPr marL="2971800" indent="-228600" fontAlgn="base">
                <a:spcBef>
                  <a:spcPct val="0"/>
                </a:spcBef>
                <a:spcAft>
                  <a:spcPct val="0"/>
                </a:spcAft>
                <a:defRPr kumimoji="1" sz="2400">
                  <a:solidFill>
                    <a:schemeClr val="tx1"/>
                  </a:solidFill>
                  <a:latin typeface="Times New Roman" pitchFamily="18" charset="0"/>
                  <a:ea typeface="宋体" charset="-122"/>
                </a:defRPr>
              </a:lvl7pPr>
              <a:lvl8pPr marL="3429000" indent="-228600" fontAlgn="base">
                <a:spcBef>
                  <a:spcPct val="0"/>
                </a:spcBef>
                <a:spcAft>
                  <a:spcPct val="0"/>
                </a:spcAft>
                <a:defRPr kumimoji="1" sz="2400">
                  <a:solidFill>
                    <a:schemeClr val="tx1"/>
                  </a:solidFill>
                  <a:latin typeface="Times New Roman" pitchFamily="18" charset="0"/>
                  <a:ea typeface="宋体" charset="-122"/>
                </a:defRPr>
              </a:lvl8pPr>
              <a:lvl9pPr marL="3886200" indent="-228600" fontAlgn="base">
                <a:spcBef>
                  <a:spcPct val="0"/>
                </a:spcBef>
                <a:spcAft>
                  <a:spcPct val="0"/>
                </a:spcAft>
                <a:defRPr kumimoji="1" sz="2400">
                  <a:solidFill>
                    <a:schemeClr val="tx1"/>
                  </a:solidFill>
                  <a:latin typeface="Times New Roman" pitchFamily="18" charset="0"/>
                  <a:ea typeface="宋体" charset="-122"/>
                </a:defRPr>
              </a:lvl9pPr>
            </a:lstStyle>
            <a:p>
              <a:pPr lvl="1" algn="just">
                <a:spcBef>
                  <a:spcPct val="45000"/>
                </a:spcBef>
                <a:buClr>
                  <a:schemeClr val="hlink"/>
                </a:buClr>
                <a:buSzPct val="55000"/>
                <a:buFont typeface="Wingdings" pitchFamily="2" charset="2"/>
                <a:buNone/>
              </a:pPr>
              <a:r>
                <a:rPr lang="en-US" altLang="zh-CN" sz="2800" dirty="0">
                  <a:sym typeface="Symbol" pitchFamily="18" charset="2"/>
                </a:rPr>
                <a:t>	B                         ∴ </a:t>
              </a:r>
              <a:r>
                <a:rPr lang="en-US" altLang="zh-CN" sz="2800" dirty="0">
                  <a:solidFill>
                    <a:srgbClr val="0000FF"/>
                  </a:solidFill>
                  <a:sym typeface="Symbol" pitchFamily="18" charset="2"/>
                </a:rPr>
                <a:t>C</a:t>
              </a:r>
              <a:r>
                <a:rPr lang="zh-CN" altLang="en-US" sz="2800" dirty="0">
                  <a:solidFill>
                    <a:srgbClr val="0000FF"/>
                  </a:solidFill>
                  <a:sym typeface="Symbol" pitchFamily="18" charset="2"/>
                </a:rPr>
                <a:t>不可去</a:t>
              </a:r>
              <a:endParaRPr lang="zh-CN" altLang="en-US" sz="2800" dirty="0">
                <a:solidFill>
                  <a:srgbClr val="0000FF"/>
                </a:solidFill>
              </a:endParaRPr>
            </a:p>
          </p:txBody>
        </p:sp>
        <p:graphicFrame>
          <p:nvGraphicFramePr>
            <p:cNvPr id="66568" name="Object 8"/>
            <p:cNvGraphicFramePr>
              <a:graphicFrameLocks noChangeAspect="1"/>
            </p:cNvGraphicFramePr>
            <p:nvPr/>
          </p:nvGraphicFramePr>
          <p:xfrm>
            <a:off x="997" y="2112"/>
            <a:ext cx="1115" cy="377"/>
          </p:xfrm>
          <a:graphic>
            <a:graphicData uri="http://schemas.openxmlformats.org/presentationml/2006/ole">
              <mc:AlternateContent xmlns:mc="http://schemas.openxmlformats.org/markup-compatibility/2006">
                <mc:Choice xmlns:v="urn:schemas-microsoft-com:vml" Requires="v">
                  <p:oleObj name="公式" r:id="rId10" imgW="685800" imgH="228600" progId="Equation.3">
                    <p:embed/>
                  </p:oleObj>
                </mc:Choice>
                <mc:Fallback>
                  <p:oleObj name="公式" r:id="rId10" imgW="685800" imgH="228600" progId="Equation.3">
                    <p:embed/>
                    <p:pic>
                      <p:nvPicPr>
                        <p:cNvPr id="0" name="Picture 207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7" y="2112"/>
                          <a:ext cx="1115" cy="3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66577" name="Group 17"/>
          <p:cNvGrpSpPr>
            <a:grpSpLocks/>
          </p:cNvGrpSpPr>
          <p:nvPr/>
        </p:nvGrpSpPr>
        <p:grpSpPr bwMode="auto">
          <a:xfrm>
            <a:off x="265113" y="4953000"/>
            <a:ext cx="8802687" cy="685800"/>
            <a:chOff x="119" y="2880"/>
            <a:chExt cx="5545" cy="432"/>
          </a:xfrm>
        </p:grpSpPr>
        <p:sp>
          <p:nvSpPr>
            <p:cNvPr id="66576" name="Rectangle 16"/>
            <p:cNvSpPr>
              <a:spLocks noChangeArrowheads="1"/>
            </p:cNvSpPr>
            <p:nvPr/>
          </p:nvSpPr>
          <p:spPr bwMode="auto">
            <a:xfrm>
              <a:off x="119" y="2880"/>
              <a:ext cx="5545"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0"/>
                </a:spcBef>
                <a:defRPr kumimoji="1" sz="2400">
                  <a:solidFill>
                    <a:schemeClr val="tx1"/>
                  </a:solidFill>
                  <a:latin typeface="Times New Roman" pitchFamily="18" charset="0"/>
                  <a:ea typeface="宋体" charset="-122"/>
                </a:defRPr>
              </a:lvl1pPr>
              <a:lvl2pPr marL="742950" indent="-285750" algn="l">
                <a:spcBef>
                  <a:spcPct val="0"/>
                </a:spcBef>
                <a:defRPr kumimoji="1" sz="2400">
                  <a:solidFill>
                    <a:schemeClr val="tx1"/>
                  </a:solidFill>
                  <a:latin typeface="Times New Roman" pitchFamily="18" charset="0"/>
                  <a:ea typeface="宋体" charset="-122"/>
                </a:defRPr>
              </a:lvl2pPr>
              <a:lvl3pPr marL="1143000" indent="-228600" algn="l">
                <a:spcBef>
                  <a:spcPct val="0"/>
                </a:spcBef>
                <a:defRPr kumimoji="1" sz="2400">
                  <a:solidFill>
                    <a:schemeClr val="tx1"/>
                  </a:solidFill>
                  <a:latin typeface="Times New Roman" pitchFamily="18" charset="0"/>
                  <a:ea typeface="宋体" charset="-122"/>
                </a:defRPr>
              </a:lvl3pPr>
              <a:lvl4pPr marL="1600200" indent="-228600" algn="l">
                <a:spcBef>
                  <a:spcPct val="0"/>
                </a:spcBef>
                <a:defRPr kumimoji="1" sz="2400">
                  <a:solidFill>
                    <a:schemeClr val="tx1"/>
                  </a:solidFill>
                  <a:latin typeface="Times New Roman" pitchFamily="18" charset="0"/>
                  <a:ea typeface="宋体" charset="-122"/>
                </a:defRPr>
              </a:lvl4pPr>
              <a:lvl5pPr marL="2057400" indent="-228600" algn="l">
                <a:spcBef>
                  <a:spcPct val="0"/>
                </a:spcBef>
                <a:defRPr kumimoji="1" sz="2400">
                  <a:solidFill>
                    <a:schemeClr val="tx1"/>
                  </a:solidFill>
                  <a:latin typeface="Times New Roman" pitchFamily="18" charset="0"/>
                  <a:ea typeface="宋体" charset="-122"/>
                </a:defRPr>
              </a:lvl5pPr>
              <a:lvl6pPr marL="2514600" indent="-228600" fontAlgn="base">
                <a:spcBef>
                  <a:spcPct val="0"/>
                </a:spcBef>
                <a:spcAft>
                  <a:spcPct val="0"/>
                </a:spcAft>
                <a:defRPr kumimoji="1" sz="2400">
                  <a:solidFill>
                    <a:schemeClr val="tx1"/>
                  </a:solidFill>
                  <a:latin typeface="Times New Roman" pitchFamily="18" charset="0"/>
                  <a:ea typeface="宋体" charset="-122"/>
                </a:defRPr>
              </a:lvl6pPr>
              <a:lvl7pPr marL="2971800" indent="-228600" fontAlgn="base">
                <a:spcBef>
                  <a:spcPct val="0"/>
                </a:spcBef>
                <a:spcAft>
                  <a:spcPct val="0"/>
                </a:spcAft>
                <a:defRPr kumimoji="1" sz="2400">
                  <a:solidFill>
                    <a:schemeClr val="tx1"/>
                  </a:solidFill>
                  <a:latin typeface="Times New Roman" pitchFamily="18" charset="0"/>
                  <a:ea typeface="宋体" charset="-122"/>
                </a:defRPr>
              </a:lvl7pPr>
              <a:lvl8pPr marL="3429000" indent="-228600" fontAlgn="base">
                <a:spcBef>
                  <a:spcPct val="0"/>
                </a:spcBef>
                <a:spcAft>
                  <a:spcPct val="0"/>
                </a:spcAft>
                <a:defRPr kumimoji="1" sz="2400">
                  <a:solidFill>
                    <a:schemeClr val="tx1"/>
                  </a:solidFill>
                  <a:latin typeface="Times New Roman" pitchFamily="18" charset="0"/>
                  <a:ea typeface="宋体" charset="-122"/>
                </a:defRPr>
              </a:lvl8pPr>
              <a:lvl9pPr marL="3886200" indent="-228600" fontAlgn="base">
                <a:spcBef>
                  <a:spcPct val="0"/>
                </a:spcBef>
                <a:spcAft>
                  <a:spcPct val="0"/>
                </a:spcAft>
                <a:defRPr kumimoji="1" sz="2400">
                  <a:solidFill>
                    <a:schemeClr val="tx1"/>
                  </a:solidFill>
                  <a:latin typeface="Times New Roman" pitchFamily="18" charset="0"/>
                  <a:ea typeface="宋体" charset="-122"/>
                </a:defRPr>
              </a:lvl9pPr>
            </a:lstStyle>
            <a:p>
              <a:pPr lvl="1" algn="just">
                <a:spcBef>
                  <a:spcPct val="45000"/>
                </a:spcBef>
                <a:buClr>
                  <a:schemeClr val="hlink"/>
                </a:buClr>
                <a:buSzPct val="55000"/>
                <a:buFont typeface="Wingdings" pitchFamily="2" charset="2"/>
                <a:buNone/>
              </a:pPr>
              <a:r>
                <a:rPr lang="en-US" altLang="zh-CN" sz="2800" dirty="0">
                  <a:sym typeface="Symbol" pitchFamily="18" charset="2"/>
                </a:rPr>
                <a:t>	B                       ，∴ </a:t>
              </a:r>
              <a:r>
                <a:rPr lang="en-US" altLang="zh-CN" sz="2800" dirty="0">
                  <a:solidFill>
                    <a:srgbClr val="0000FF"/>
                  </a:solidFill>
                  <a:sym typeface="Symbol" pitchFamily="18" charset="2"/>
                </a:rPr>
                <a:t>G</a:t>
              </a:r>
              <a:r>
                <a:rPr lang="zh-CN" altLang="en-US" sz="2800" dirty="0">
                  <a:solidFill>
                    <a:srgbClr val="0000FF"/>
                  </a:solidFill>
                  <a:sym typeface="Symbol" pitchFamily="18" charset="2"/>
                </a:rPr>
                <a:t>冗余，去掉</a:t>
              </a:r>
              <a:r>
                <a:rPr lang="zh-CN" altLang="en-US" sz="2800" dirty="0">
                  <a:sym typeface="Symbol" pitchFamily="18" charset="2"/>
                </a:rPr>
                <a:t>，以</a:t>
              </a:r>
              <a:r>
                <a:rPr lang="en-US" altLang="zh-CN" sz="2800" dirty="0">
                  <a:sym typeface="Symbol" pitchFamily="18" charset="2"/>
                </a:rPr>
                <a:t>C</a:t>
              </a:r>
              <a:r>
                <a:rPr lang="zh-CN" altLang="en-US" sz="2800" dirty="0">
                  <a:sym typeface="Symbol" pitchFamily="18" charset="2"/>
                </a:rPr>
                <a:t>代替</a:t>
              </a:r>
              <a:r>
                <a:rPr lang="en-US" altLang="zh-CN" sz="2800" dirty="0">
                  <a:sym typeface="Symbol" pitchFamily="18" charset="2"/>
                </a:rPr>
                <a:t>CG</a:t>
              </a:r>
            </a:p>
          </p:txBody>
        </p:sp>
        <p:graphicFrame>
          <p:nvGraphicFramePr>
            <p:cNvPr id="66569" name="Object 9"/>
            <p:cNvGraphicFramePr>
              <a:graphicFrameLocks noChangeAspect="1"/>
            </p:cNvGraphicFramePr>
            <p:nvPr/>
          </p:nvGraphicFramePr>
          <p:xfrm>
            <a:off x="1093" y="2880"/>
            <a:ext cx="1115" cy="377"/>
          </p:xfrm>
          <a:graphic>
            <a:graphicData uri="http://schemas.openxmlformats.org/presentationml/2006/ole">
              <mc:AlternateContent xmlns:mc="http://schemas.openxmlformats.org/markup-compatibility/2006">
                <mc:Choice xmlns:v="urn:schemas-microsoft-com:vml" Requires="v">
                  <p:oleObj name="公式" r:id="rId11" imgW="685800" imgH="228600" progId="Equation.3">
                    <p:embed/>
                  </p:oleObj>
                </mc:Choice>
                <mc:Fallback>
                  <p:oleObj name="公式" r:id="rId11" imgW="685800" imgH="228600" progId="Equation.3">
                    <p:embed/>
                    <p:pic>
                      <p:nvPicPr>
                        <p:cNvPr id="0" name="Picture 207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93" y="2880"/>
                          <a:ext cx="1115" cy="3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日期占位符 1"/>
          <p:cNvSpPr>
            <a:spLocks noGrp="1"/>
          </p:cNvSpPr>
          <p:nvPr>
            <p:ph type="dt" sz="half" idx="10"/>
          </p:nvPr>
        </p:nvSpPr>
        <p:spPr/>
        <p:txBody>
          <a:bodyPr/>
          <a:lstStyle/>
          <a:p>
            <a:fld id="{1255492F-9286-41DF-82D3-391CBE63383B}" type="datetime1">
              <a:rPr lang="zh-CN" altLang="en-US" smtClean="0"/>
              <a:t>2025/11/6</a:t>
            </a:fld>
            <a:endParaRPr lang="en-US" altLang="zh-CN"/>
          </a:p>
        </p:txBody>
      </p:sp>
      <p:sp>
        <p:nvSpPr>
          <p:cNvPr id="66578" name="Rectangle 18"/>
          <p:cNvSpPr>
            <a:spLocks noChangeArrowheads="1"/>
          </p:cNvSpPr>
          <p:nvPr/>
        </p:nvSpPr>
        <p:spPr bwMode="auto">
          <a:xfrm>
            <a:off x="265113" y="5562600"/>
            <a:ext cx="8802687" cy="1219200"/>
          </a:xfrm>
          <a:prstGeom prst="rect">
            <a:avLst/>
          </a:prstGeom>
          <a:solidFill>
            <a:schemeClr val="accent3"/>
          </a:solidFill>
          <a:ln>
            <a:noFill/>
          </a:ln>
          <a:effectLst/>
        </p:spPr>
        <p:txBody>
          <a:bodyPr/>
          <a:lstStyle>
            <a:lvl1pPr marL="342900" indent="-342900" algn="l">
              <a:spcBef>
                <a:spcPct val="0"/>
              </a:spcBef>
              <a:defRPr kumimoji="1" sz="2400">
                <a:solidFill>
                  <a:schemeClr val="tx1"/>
                </a:solidFill>
                <a:latin typeface="Times New Roman" pitchFamily="18" charset="0"/>
                <a:ea typeface="宋体" charset="-122"/>
              </a:defRPr>
            </a:lvl1pPr>
            <a:lvl2pPr marL="742950" indent="-285750" algn="l">
              <a:spcBef>
                <a:spcPct val="0"/>
              </a:spcBef>
              <a:defRPr kumimoji="1" sz="2400">
                <a:solidFill>
                  <a:schemeClr val="tx1"/>
                </a:solidFill>
                <a:latin typeface="Times New Roman" pitchFamily="18" charset="0"/>
                <a:ea typeface="宋体" charset="-122"/>
              </a:defRPr>
            </a:lvl2pPr>
            <a:lvl3pPr marL="1143000" indent="-228600" algn="l">
              <a:spcBef>
                <a:spcPct val="0"/>
              </a:spcBef>
              <a:defRPr kumimoji="1" sz="2400">
                <a:solidFill>
                  <a:schemeClr val="tx1"/>
                </a:solidFill>
                <a:latin typeface="Times New Roman" pitchFamily="18" charset="0"/>
                <a:ea typeface="宋体" charset="-122"/>
              </a:defRPr>
            </a:lvl3pPr>
            <a:lvl4pPr marL="1600200" indent="-228600" algn="l">
              <a:spcBef>
                <a:spcPct val="0"/>
              </a:spcBef>
              <a:defRPr kumimoji="1" sz="2400">
                <a:solidFill>
                  <a:schemeClr val="tx1"/>
                </a:solidFill>
                <a:latin typeface="Times New Roman" pitchFamily="18" charset="0"/>
                <a:ea typeface="宋体" charset="-122"/>
              </a:defRPr>
            </a:lvl4pPr>
            <a:lvl5pPr marL="2057400" indent="-228600" algn="l">
              <a:spcBef>
                <a:spcPct val="0"/>
              </a:spcBef>
              <a:defRPr kumimoji="1" sz="2400">
                <a:solidFill>
                  <a:schemeClr val="tx1"/>
                </a:solidFill>
                <a:latin typeface="Times New Roman" pitchFamily="18" charset="0"/>
                <a:ea typeface="宋体" charset="-122"/>
              </a:defRPr>
            </a:lvl5pPr>
            <a:lvl6pPr marL="2514600" indent="-228600" fontAlgn="base">
              <a:spcBef>
                <a:spcPct val="0"/>
              </a:spcBef>
              <a:spcAft>
                <a:spcPct val="0"/>
              </a:spcAft>
              <a:defRPr kumimoji="1" sz="2400">
                <a:solidFill>
                  <a:schemeClr val="tx1"/>
                </a:solidFill>
                <a:latin typeface="Times New Roman" pitchFamily="18" charset="0"/>
                <a:ea typeface="宋体" charset="-122"/>
              </a:defRPr>
            </a:lvl6pPr>
            <a:lvl7pPr marL="2971800" indent="-228600" fontAlgn="base">
              <a:spcBef>
                <a:spcPct val="0"/>
              </a:spcBef>
              <a:spcAft>
                <a:spcPct val="0"/>
              </a:spcAft>
              <a:defRPr kumimoji="1" sz="2400">
                <a:solidFill>
                  <a:schemeClr val="tx1"/>
                </a:solidFill>
                <a:latin typeface="Times New Roman" pitchFamily="18" charset="0"/>
                <a:ea typeface="宋体" charset="-122"/>
              </a:defRPr>
            </a:lvl7pPr>
            <a:lvl8pPr marL="3429000" indent="-228600" fontAlgn="base">
              <a:spcBef>
                <a:spcPct val="0"/>
              </a:spcBef>
              <a:spcAft>
                <a:spcPct val="0"/>
              </a:spcAft>
              <a:defRPr kumimoji="1" sz="2400">
                <a:solidFill>
                  <a:schemeClr val="tx1"/>
                </a:solidFill>
                <a:latin typeface="Times New Roman" pitchFamily="18" charset="0"/>
                <a:ea typeface="宋体" charset="-122"/>
              </a:defRPr>
            </a:lvl8pPr>
            <a:lvl9pPr marL="3886200" indent="-228600" fontAlgn="base">
              <a:spcBef>
                <a:spcPct val="0"/>
              </a:spcBef>
              <a:spcAft>
                <a:spcPct val="0"/>
              </a:spcAft>
              <a:defRPr kumimoji="1" sz="2400">
                <a:solidFill>
                  <a:schemeClr val="tx1"/>
                </a:solidFill>
                <a:latin typeface="Times New Roman" pitchFamily="18" charset="0"/>
                <a:ea typeface="宋体" charset="-122"/>
              </a:defRPr>
            </a:lvl9pPr>
          </a:lstStyle>
          <a:p>
            <a:pPr lvl="1" algn="just">
              <a:lnSpc>
                <a:spcPct val="95000"/>
              </a:lnSpc>
              <a:spcBef>
                <a:spcPct val="45000"/>
              </a:spcBef>
              <a:buClr>
                <a:schemeClr val="hlink"/>
              </a:buClr>
              <a:buSzPct val="55000"/>
              <a:buFont typeface="Wingdings" pitchFamily="2" charset="2"/>
              <a:buNone/>
            </a:pPr>
            <a:r>
              <a:rPr lang="zh-CN" altLang="en-US" sz="2800" dirty="0"/>
              <a:t>得</a:t>
            </a:r>
            <a:r>
              <a:rPr lang="en-US" altLang="zh-CN" sz="2800" dirty="0"/>
              <a:t>F</a:t>
            </a:r>
            <a:r>
              <a:rPr lang="en-US" altLang="zh-CN" sz="2800" baseline="-16000" dirty="0"/>
              <a:t> </a:t>
            </a:r>
            <a:r>
              <a:rPr lang="en-US" altLang="zh-CN" sz="2800" dirty="0">
                <a:sym typeface="Symbol" pitchFamily="18" charset="2"/>
              </a:rPr>
              <a:t>= </a:t>
            </a:r>
            <a:r>
              <a:rPr lang="en-US" altLang="zh-CN" sz="2800" dirty="0"/>
              <a:t>{</a:t>
            </a:r>
            <a:r>
              <a:rPr lang="en-US" altLang="zh-CN" sz="2800" dirty="0">
                <a:solidFill>
                  <a:srgbClr val="339933"/>
                </a:solidFill>
              </a:rPr>
              <a:t>C</a:t>
            </a:r>
            <a:r>
              <a:rPr lang="en-US" altLang="zh-CN" sz="2800" dirty="0">
                <a:solidFill>
                  <a:srgbClr val="339933"/>
                </a:solidFill>
                <a:sym typeface="Symbol" pitchFamily="18" charset="2"/>
              </a:rPr>
              <a:t>A</a:t>
            </a:r>
            <a:r>
              <a:rPr lang="en-US" altLang="zh-CN" sz="2800" dirty="0">
                <a:sym typeface="Symbol" pitchFamily="18" charset="2"/>
              </a:rPr>
              <a:t>，AG，</a:t>
            </a:r>
            <a:r>
              <a:rPr lang="en-US" altLang="zh-CN" sz="2800" dirty="0">
                <a:solidFill>
                  <a:srgbClr val="0000FF"/>
                </a:solidFill>
                <a:sym typeface="Symbol" pitchFamily="18" charset="2"/>
              </a:rPr>
              <a:t>CB，</a:t>
            </a:r>
            <a:r>
              <a:rPr lang="en-US" altLang="zh-CN" sz="2800" dirty="0">
                <a:sym typeface="Symbol" pitchFamily="18" charset="2"/>
              </a:rPr>
              <a:t>BA}</a:t>
            </a:r>
            <a:endParaRPr lang="en-US" altLang="zh-CN" sz="2800" dirty="0"/>
          </a:p>
          <a:p>
            <a:pPr lvl="1" algn="just">
              <a:lnSpc>
                <a:spcPct val="95000"/>
              </a:lnSpc>
              <a:spcBef>
                <a:spcPct val="45000"/>
              </a:spcBef>
              <a:buClr>
                <a:schemeClr val="hlink"/>
              </a:buClr>
              <a:buSzPct val="55000"/>
              <a:buFont typeface="Wingdings" pitchFamily="2" charset="2"/>
              <a:buNone/>
            </a:pPr>
            <a:r>
              <a:rPr lang="zh-CN" altLang="en-US" sz="2800" dirty="0"/>
              <a:t>再去掉 </a:t>
            </a:r>
            <a:r>
              <a:rPr lang="en-US" altLang="zh-CN" sz="2800" dirty="0"/>
              <a:t>C</a:t>
            </a:r>
            <a:r>
              <a:rPr lang="en-US" altLang="zh-CN" sz="2800" dirty="0">
                <a:sym typeface="Symbol" pitchFamily="18" charset="2"/>
              </a:rPr>
              <a:t>A</a:t>
            </a:r>
            <a:r>
              <a:rPr lang="zh-CN" altLang="en-US" sz="2800" dirty="0"/>
              <a:t> 得，</a:t>
            </a:r>
            <a:r>
              <a:rPr lang="en-US" altLang="zh-CN" sz="2800" dirty="0" err="1">
                <a:solidFill>
                  <a:schemeClr val="hlink"/>
                </a:solidFill>
              </a:rPr>
              <a:t>F</a:t>
            </a:r>
            <a:r>
              <a:rPr lang="en-US" altLang="zh-CN" sz="2800" baseline="-16000" dirty="0" err="1">
                <a:solidFill>
                  <a:schemeClr val="hlink"/>
                </a:solidFill>
              </a:rPr>
              <a:t>min</a:t>
            </a:r>
            <a:r>
              <a:rPr lang="en-US" altLang="zh-CN" sz="2800" baseline="-16000" dirty="0">
                <a:solidFill>
                  <a:schemeClr val="hlink"/>
                </a:solidFill>
              </a:rPr>
              <a:t> </a:t>
            </a:r>
            <a:r>
              <a:rPr lang="en-US" altLang="zh-CN" sz="2800" dirty="0">
                <a:solidFill>
                  <a:schemeClr val="hlink"/>
                </a:solidFill>
                <a:sym typeface="Symbol" pitchFamily="18" charset="2"/>
              </a:rPr>
              <a:t>= </a:t>
            </a:r>
            <a:r>
              <a:rPr lang="en-US" altLang="zh-CN" sz="2800" dirty="0">
                <a:solidFill>
                  <a:schemeClr val="hlink"/>
                </a:solidFill>
              </a:rPr>
              <a:t>{</a:t>
            </a:r>
            <a:r>
              <a:rPr lang="en-US" altLang="zh-CN" sz="2800" dirty="0">
                <a:solidFill>
                  <a:schemeClr val="hlink"/>
                </a:solidFill>
                <a:sym typeface="Symbol" pitchFamily="18" charset="2"/>
              </a:rPr>
              <a:t>AG，CB，BA}</a:t>
            </a:r>
          </a:p>
        </p:txBody>
      </p:sp>
      <p:cxnSp>
        <p:nvCxnSpPr>
          <p:cNvPr id="6" name="直接连接符 5">
            <a:extLst>
              <a:ext uri="{FF2B5EF4-FFF2-40B4-BE49-F238E27FC236}">
                <a16:creationId xmlns:a16="http://schemas.microsoft.com/office/drawing/2014/main" id="{FC90CF56-7B57-91AB-266D-086036B8810B}"/>
              </a:ext>
            </a:extLst>
          </p:cNvPr>
          <p:cNvCxnSpPr/>
          <p:nvPr/>
        </p:nvCxnSpPr>
        <p:spPr bwMode="auto">
          <a:xfrm>
            <a:off x="4283968" y="6021288"/>
            <a:ext cx="2088232" cy="0"/>
          </a:xfrm>
          <a:prstGeom prst="line">
            <a:avLst/>
          </a:prstGeom>
          <a:solidFill>
            <a:schemeClr val="accent1"/>
          </a:solidFill>
          <a:ln w="31750" cap="flat" cmpd="sng" algn="ctr">
            <a:solidFill>
              <a:srgbClr val="00B05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页脚占位符 3">
            <a:extLst>
              <a:ext uri="{FF2B5EF4-FFF2-40B4-BE49-F238E27FC236}">
                <a16:creationId xmlns:a16="http://schemas.microsoft.com/office/drawing/2014/main" id="{2DBF1C5D-144B-D991-D460-DD36175B27D0}"/>
              </a:ext>
            </a:extLst>
          </p:cNvPr>
          <p:cNvSpPr>
            <a:spLocks noGrp="1"/>
          </p:cNvSpPr>
          <p:nvPr>
            <p:ph type="ftr" sz="quarter" idx="11"/>
          </p:nvPr>
        </p:nvSpPr>
        <p:spPr/>
        <p:txBody>
          <a:bodyPr/>
          <a:lstStyle/>
          <a:p>
            <a:r>
              <a:rPr lang="en-US" altLang="zh-CN"/>
              <a:t>《数据库系统概论》- 第6章</a:t>
            </a:r>
          </a:p>
        </p:txBody>
      </p:sp>
      <p:sp>
        <p:nvSpPr>
          <p:cNvPr id="7" name="灯片编号占位符 6">
            <a:extLst>
              <a:ext uri="{FF2B5EF4-FFF2-40B4-BE49-F238E27FC236}">
                <a16:creationId xmlns:a16="http://schemas.microsoft.com/office/drawing/2014/main" id="{5F4411AC-2E2E-C3FF-BD67-9C404C800B86}"/>
              </a:ext>
            </a:extLst>
          </p:cNvPr>
          <p:cNvSpPr>
            <a:spLocks noGrp="1"/>
          </p:cNvSpPr>
          <p:nvPr>
            <p:ph type="sldNum" sz="quarter" idx="12"/>
          </p:nvPr>
        </p:nvSpPr>
        <p:spPr/>
        <p:txBody>
          <a:bodyPr/>
          <a:lstStyle/>
          <a:p>
            <a:fld id="{A2D74603-B40B-4D66-8F6E-41C870D48932}" type="slidenum">
              <a:rPr lang="en-US" altLang="zh-CN" smtClean="0"/>
              <a:pPr/>
              <a:t>134</a:t>
            </a:fld>
            <a:r>
              <a:rPr lang="en-US" altLang="zh-CN"/>
              <a:t>/162</a:t>
            </a:r>
            <a:endParaRPr lang="en-US" altLang="zh-CN" dirty="0"/>
          </a:p>
        </p:txBody>
      </p:sp>
    </p:spTree>
    <p:extLst>
      <p:ext uri="{BB962C8B-B14F-4D97-AF65-F5344CB8AC3E}">
        <p14:creationId xmlns:p14="http://schemas.microsoft.com/office/powerpoint/2010/main" val="3268483220"/>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animEffect transition="in" filter="blinds(horizontal)">
                                      <p:cBhvr>
                                        <p:cTn id="7" dur="500"/>
                                        <p:tgtEl>
                                          <p:spTgt spid="665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6563">
                                            <p:txEl>
                                              <p:pRg st="1" end="1"/>
                                            </p:txEl>
                                          </p:spTgt>
                                        </p:tgtEl>
                                        <p:attrNameLst>
                                          <p:attrName>style.visibility</p:attrName>
                                        </p:attrNameLst>
                                      </p:cBhvr>
                                      <p:to>
                                        <p:strVal val="visible"/>
                                      </p:to>
                                    </p:set>
                                    <p:animEffect transition="in" filter="blinds(horizontal)">
                                      <p:cBhvr>
                                        <p:cTn id="12" dur="500"/>
                                        <p:tgtEl>
                                          <p:spTgt spid="6656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6563">
                                            <p:txEl>
                                              <p:pRg st="2" end="2"/>
                                            </p:txEl>
                                          </p:spTgt>
                                        </p:tgtEl>
                                        <p:attrNameLst>
                                          <p:attrName>style.visibility</p:attrName>
                                        </p:attrNameLst>
                                      </p:cBhvr>
                                      <p:to>
                                        <p:strVal val="visible"/>
                                      </p:to>
                                    </p:set>
                                    <p:animEffect transition="in" filter="blinds(horizontal)">
                                      <p:cBhvr>
                                        <p:cTn id="17" dur="500"/>
                                        <p:tgtEl>
                                          <p:spTgt spid="6656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66571"/>
                                        </p:tgtEl>
                                        <p:attrNameLst>
                                          <p:attrName>style.visibility</p:attrName>
                                        </p:attrNameLst>
                                      </p:cBhvr>
                                      <p:to>
                                        <p:strVal val="visible"/>
                                      </p:to>
                                    </p:set>
                                    <p:animEffect transition="in" filter="checkerboard(across)">
                                      <p:cBhvr>
                                        <p:cTn id="22" dur="500"/>
                                        <p:tgtEl>
                                          <p:spTgt spid="6657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6573"/>
                                        </p:tgtEl>
                                        <p:attrNameLst>
                                          <p:attrName>style.visibility</p:attrName>
                                        </p:attrNameLst>
                                      </p:cBhvr>
                                      <p:to>
                                        <p:strVal val="visible"/>
                                      </p:to>
                                    </p:set>
                                    <p:animEffect transition="in" filter="blinds(horizontal)">
                                      <p:cBhvr>
                                        <p:cTn id="27" dur="500"/>
                                        <p:tgtEl>
                                          <p:spTgt spid="6657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66575"/>
                                        </p:tgtEl>
                                        <p:attrNameLst>
                                          <p:attrName>style.visibility</p:attrName>
                                        </p:attrNameLst>
                                      </p:cBhvr>
                                      <p:to>
                                        <p:strVal val="visible"/>
                                      </p:to>
                                    </p:set>
                                    <p:animEffect transition="in" filter="blinds(horizontal)">
                                      <p:cBhvr>
                                        <p:cTn id="32" dur="500"/>
                                        <p:tgtEl>
                                          <p:spTgt spid="6657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66577"/>
                                        </p:tgtEl>
                                        <p:attrNameLst>
                                          <p:attrName>style.visibility</p:attrName>
                                        </p:attrNameLst>
                                      </p:cBhvr>
                                      <p:to>
                                        <p:strVal val="visible"/>
                                      </p:to>
                                    </p:set>
                                    <p:animEffect transition="in" filter="blinds(horizontal)">
                                      <p:cBhvr>
                                        <p:cTn id="37" dur="500"/>
                                        <p:tgtEl>
                                          <p:spTgt spid="6657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66578">
                                            <p:txEl>
                                              <p:pRg st="0" end="0"/>
                                            </p:txEl>
                                          </p:spTgt>
                                        </p:tgtEl>
                                        <p:attrNameLst>
                                          <p:attrName>style.visibility</p:attrName>
                                        </p:attrNameLst>
                                      </p:cBhvr>
                                      <p:to>
                                        <p:strVal val="visible"/>
                                      </p:to>
                                    </p:set>
                                    <p:animEffect transition="in" filter="blinds(horizontal)">
                                      <p:cBhvr>
                                        <p:cTn id="42" dur="500"/>
                                        <p:tgtEl>
                                          <p:spTgt spid="66578">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66578">
                                            <p:txEl>
                                              <p:pRg st="1" end="1"/>
                                            </p:txEl>
                                          </p:spTgt>
                                        </p:tgtEl>
                                        <p:attrNameLst>
                                          <p:attrName>style.visibility</p:attrName>
                                        </p:attrNameLst>
                                      </p:cBhvr>
                                      <p:to>
                                        <p:strVal val="visible"/>
                                      </p:to>
                                    </p:set>
                                    <p:animEffect transition="in" filter="blinds(horizontal)">
                                      <p:cBhvr>
                                        <p:cTn id="47" dur="500"/>
                                        <p:tgtEl>
                                          <p:spTgt spid="66578">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6"/>
                                        </p:tgtEl>
                                        <p:attrNameLst>
                                          <p:attrName>style.visibility</p:attrName>
                                        </p:attrNameLst>
                                      </p:cBhvr>
                                      <p:to>
                                        <p:strVal val="visible"/>
                                      </p:to>
                                    </p:set>
                                    <p:anim calcmode="lin" valueType="num">
                                      <p:cBhvr additive="base">
                                        <p:cTn id="52" dur="500" fill="hold"/>
                                        <p:tgtEl>
                                          <p:spTgt spid="6"/>
                                        </p:tgtEl>
                                        <p:attrNameLst>
                                          <p:attrName>ppt_x</p:attrName>
                                        </p:attrNameLst>
                                      </p:cBhvr>
                                      <p:tavLst>
                                        <p:tav tm="0">
                                          <p:val>
                                            <p:strVal val="#ppt_x"/>
                                          </p:val>
                                        </p:tav>
                                        <p:tav tm="100000">
                                          <p:val>
                                            <p:strVal val="#ppt_x"/>
                                          </p:val>
                                        </p:tav>
                                      </p:tavLst>
                                    </p:anim>
                                    <p:anim calcmode="lin" valueType="num">
                                      <p:cBhvr additive="base">
                                        <p:cTn id="5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build="p" bldLvl="2" autoUpdateAnimBg="0"/>
      <p:bldP spid="66578" grpId="0" build="p" bldLvl="2" autoUpdateAnimBg="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half" idx="10"/>
          </p:nvPr>
        </p:nvSpPr>
        <p:spPr/>
        <p:txBody>
          <a:bodyPr/>
          <a:lstStyle/>
          <a:p>
            <a:fld id="{84C4010E-0D43-4857-A7FC-17370478AF00}" type="datetime1">
              <a:rPr lang="zh-CN" altLang="en-US" smtClean="0"/>
              <a:t>2025/11/6</a:t>
            </a:fld>
            <a:endParaRPr lang="en-US" altLang="zh-CN"/>
          </a:p>
        </p:txBody>
      </p:sp>
      <p:sp>
        <p:nvSpPr>
          <p:cNvPr id="339970" name="Rectangle 2"/>
          <p:cNvSpPr>
            <a:spLocks noGrp="1" noChangeArrowheads="1"/>
          </p:cNvSpPr>
          <p:nvPr>
            <p:ph type="title"/>
          </p:nvPr>
        </p:nvSpPr>
        <p:spPr/>
        <p:txBody>
          <a:bodyPr/>
          <a:lstStyle/>
          <a:p>
            <a:r>
              <a:rPr lang="zh-CN" altLang="en-US"/>
              <a:t>本章目录</a:t>
            </a:r>
          </a:p>
        </p:txBody>
      </p:sp>
      <p:sp>
        <p:nvSpPr>
          <p:cNvPr id="339971" name="Rectangle 3"/>
          <p:cNvSpPr>
            <a:spLocks noGrp="1" noChangeArrowheads="1"/>
          </p:cNvSpPr>
          <p:nvPr>
            <p:ph type="body" idx="1"/>
          </p:nvPr>
        </p:nvSpPr>
        <p:spPr>
          <a:xfrm>
            <a:off x="1371600" y="1639888"/>
            <a:ext cx="7583488" cy="4532312"/>
          </a:xfrm>
        </p:spPr>
        <p:txBody>
          <a:bodyPr/>
          <a:lstStyle/>
          <a:p>
            <a:r>
              <a:rPr lang="en-US" altLang="zh-CN" dirty="0"/>
              <a:t>8.1 </a:t>
            </a:r>
            <a:r>
              <a:rPr lang="zh-CN" altLang="en-US" dirty="0"/>
              <a:t>问题的提出</a:t>
            </a:r>
          </a:p>
          <a:p>
            <a:r>
              <a:rPr lang="en-US" altLang="zh-CN" dirty="0"/>
              <a:t>8.2 </a:t>
            </a:r>
            <a:r>
              <a:rPr lang="zh-CN" altLang="en-US" dirty="0"/>
              <a:t>规范化</a:t>
            </a:r>
            <a:endParaRPr lang="zh-CN" altLang="en-US" dirty="0">
              <a:solidFill>
                <a:srgbClr val="CC0000"/>
              </a:solidFill>
            </a:endParaRPr>
          </a:p>
          <a:p>
            <a:r>
              <a:rPr lang="en-US" altLang="zh-CN" dirty="0"/>
              <a:t>8.3 </a:t>
            </a:r>
            <a:r>
              <a:rPr lang="zh-CN" altLang="en-US" dirty="0"/>
              <a:t>数据依赖的公理系统</a:t>
            </a:r>
          </a:p>
          <a:p>
            <a:r>
              <a:rPr lang="en-US" altLang="zh-CN" dirty="0"/>
              <a:t>8.4 </a:t>
            </a:r>
            <a:r>
              <a:rPr lang="zh-CN" altLang="en-US" dirty="0"/>
              <a:t>模式的分解</a:t>
            </a:r>
            <a:endParaRPr lang="zh-CN" altLang="en-US" dirty="0">
              <a:solidFill>
                <a:srgbClr val="CC0000"/>
              </a:solidFill>
            </a:endParaRPr>
          </a:p>
        </p:txBody>
      </p:sp>
      <p:sp>
        <p:nvSpPr>
          <p:cNvPr id="339972" name="AutoShape 4"/>
          <p:cNvSpPr>
            <a:spLocks noChangeArrowheads="1"/>
          </p:cNvSpPr>
          <p:nvPr/>
        </p:nvSpPr>
        <p:spPr bwMode="auto">
          <a:xfrm>
            <a:off x="838200" y="3505200"/>
            <a:ext cx="457200" cy="457200"/>
          </a:xfrm>
          <a:prstGeom prst="rightArrow">
            <a:avLst>
              <a:gd name="adj1" fmla="val 50000"/>
              <a:gd name="adj2" fmla="val 40278"/>
            </a:avLst>
          </a:prstGeom>
          <a:solidFill>
            <a:srgbClr val="FFCC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页脚占位符 2">
            <a:extLst>
              <a:ext uri="{FF2B5EF4-FFF2-40B4-BE49-F238E27FC236}">
                <a16:creationId xmlns:a16="http://schemas.microsoft.com/office/drawing/2014/main" id="{7133A0A0-B855-63DA-0E27-C8CE59F70792}"/>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CBCC960F-1BC9-425C-2630-FEED300859C1}"/>
              </a:ext>
            </a:extLst>
          </p:cNvPr>
          <p:cNvSpPr>
            <a:spLocks noGrp="1"/>
          </p:cNvSpPr>
          <p:nvPr>
            <p:ph type="sldNum" sz="quarter" idx="12"/>
          </p:nvPr>
        </p:nvSpPr>
        <p:spPr/>
        <p:txBody>
          <a:bodyPr/>
          <a:lstStyle/>
          <a:p>
            <a:fld id="{A2D74603-B40B-4D66-8F6E-41C870D48932}" type="slidenum">
              <a:rPr lang="en-US" altLang="zh-CN" smtClean="0"/>
              <a:pPr/>
              <a:t>135</a:t>
            </a:fld>
            <a:r>
              <a:rPr lang="en-US" altLang="zh-CN"/>
              <a:t>/162</a:t>
            </a:r>
            <a:endParaRPr lang="en-US" altLang="zh-CN"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39972"/>
                                        </p:tgtEl>
                                        <p:attrNameLst>
                                          <p:attrName>style.visibility</p:attrName>
                                        </p:attrNameLst>
                                      </p:cBhvr>
                                      <p:to>
                                        <p:strVal val="visible"/>
                                      </p:to>
                                    </p:set>
                                    <p:anim calcmode="lin" valueType="num">
                                      <p:cBhvr additive="base">
                                        <p:cTn id="7" dur="500" fill="hold"/>
                                        <p:tgtEl>
                                          <p:spTgt spid="339972"/>
                                        </p:tgtEl>
                                        <p:attrNameLst>
                                          <p:attrName>ppt_x</p:attrName>
                                        </p:attrNameLst>
                                      </p:cBhvr>
                                      <p:tavLst>
                                        <p:tav tm="0">
                                          <p:val>
                                            <p:strVal val="0-#ppt_w/2"/>
                                          </p:val>
                                        </p:tav>
                                        <p:tav tm="100000">
                                          <p:val>
                                            <p:strVal val="#ppt_x"/>
                                          </p:val>
                                        </p:tav>
                                      </p:tavLst>
                                    </p:anim>
                                    <p:anim calcmode="lin" valueType="num">
                                      <p:cBhvr additive="base">
                                        <p:cTn id="8" dur="500" fill="hold"/>
                                        <p:tgtEl>
                                          <p:spTgt spid="33997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9972"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88A774F-0CB3-478E-B45E-D803B47D5169}" type="datetime1">
              <a:rPr lang="zh-CN" altLang="en-US" smtClean="0"/>
              <a:t>2025/11/6</a:t>
            </a:fld>
            <a:endParaRPr lang="en-US" altLang="zh-CN"/>
          </a:p>
        </p:txBody>
      </p:sp>
      <p:sp>
        <p:nvSpPr>
          <p:cNvPr id="324610" name="Rectangle 2"/>
          <p:cNvSpPr>
            <a:spLocks noGrp="1" noChangeArrowheads="1"/>
          </p:cNvSpPr>
          <p:nvPr>
            <p:ph type="title"/>
          </p:nvPr>
        </p:nvSpPr>
        <p:spPr/>
        <p:txBody>
          <a:bodyPr/>
          <a:lstStyle/>
          <a:p>
            <a:r>
              <a:rPr lang="en-US" altLang="zh-CN" dirty="0"/>
              <a:t>8.4 </a:t>
            </a:r>
            <a:r>
              <a:rPr lang="zh-CN" altLang="en-US" dirty="0"/>
              <a:t>模式的分解</a:t>
            </a:r>
          </a:p>
        </p:txBody>
      </p:sp>
      <p:sp>
        <p:nvSpPr>
          <p:cNvPr id="324611" name="Rectangle 3"/>
          <p:cNvSpPr>
            <a:spLocks noGrp="1" noChangeArrowheads="1"/>
          </p:cNvSpPr>
          <p:nvPr>
            <p:ph type="body" idx="1"/>
          </p:nvPr>
        </p:nvSpPr>
        <p:spPr/>
        <p:txBody>
          <a:bodyPr/>
          <a:lstStyle/>
          <a:p>
            <a:r>
              <a:rPr lang="zh-CN" altLang="en-US" dirty="0"/>
              <a:t>要求</a:t>
            </a:r>
            <a:r>
              <a:rPr lang="zh-CN" altLang="en-US" dirty="0">
                <a:solidFill>
                  <a:srgbClr val="FF0000"/>
                </a:solidFill>
              </a:rPr>
              <a:t>了解</a:t>
            </a:r>
          </a:p>
          <a:p>
            <a:r>
              <a:rPr lang="zh-CN" altLang="en-US" dirty="0"/>
              <a:t>前面我们为了解决设计得不好</a:t>
            </a:r>
            <a:r>
              <a:rPr lang="en-US" altLang="zh-CN" dirty="0"/>
              <a:t>(</a:t>
            </a:r>
            <a:r>
              <a:rPr lang="zh-CN" altLang="en-US" dirty="0"/>
              <a:t>范式级别不够高</a:t>
            </a:r>
            <a:r>
              <a:rPr lang="en-US" altLang="zh-CN" dirty="0"/>
              <a:t>)</a:t>
            </a:r>
            <a:r>
              <a:rPr lang="zh-CN" altLang="en-US" dirty="0"/>
              <a:t>的数据库模式带来的问题，我们采用了</a:t>
            </a:r>
            <a:r>
              <a:rPr lang="zh-CN" altLang="en-US" dirty="0">
                <a:solidFill>
                  <a:schemeClr val="tx2"/>
                </a:solidFill>
              </a:rPr>
              <a:t>大关系分解为小关系</a:t>
            </a:r>
            <a:r>
              <a:rPr lang="zh-CN" altLang="en-US" dirty="0"/>
              <a:t>的方法来</a:t>
            </a:r>
            <a:r>
              <a:rPr lang="zh-CN" altLang="en-US" dirty="0">
                <a:solidFill>
                  <a:schemeClr val="tx2"/>
                </a:solidFill>
              </a:rPr>
              <a:t>提高范式级别</a:t>
            </a:r>
            <a:r>
              <a:rPr lang="zh-CN" altLang="en-US" dirty="0"/>
              <a:t>。本节给出</a:t>
            </a:r>
            <a:r>
              <a:rPr lang="zh-CN" altLang="en-US" b="1" dirty="0">
                <a:solidFill>
                  <a:srgbClr val="C00000"/>
                </a:solidFill>
              </a:rPr>
              <a:t>分解的理论指导</a:t>
            </a:r>
            <a:r>
              <a:rPr lang="zh-CN" altLang="en-US" dirty="0"/>
              <a:t>。</a:t>
            </a:r>
          </a:p>
          <a:p>
            <a:endParaRPr lang="zh-CN" altLang="en-US" dirty="0"/>
          </a:p>
        </p:txBody>
      </p:sp>
      <p:sp>
        <p:nvSpPr>
          <p:cNvPr id="3" name="页脚占位符 2">
            <a:extLst>
              <a:ext uri="{FF2B5EF4-FFF2-40B4-BE49-F238E27FC236}">
                <a16:creationId xmlns:a16="http://schemas.microsoft.com/office/drawing/2014/main" id="{630503C0-D12F-DF7B-E6F7-24B6EAAD636F}"/>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546E74D2-117D-0C29-E7FF-DE9564F9EDC3}"/>
              </a:ext>
            </a:extLst>
          </p:cNvPr>
          <p:cNvSpPr>
            <a:spLocks noGrp="1"/>
          </p:cNvSpPr>
          <p:nvPr>
            <p:ph type="sldNum" sz="quarter" idx="12"/>
          </p:nvPr>
        </p:nvSpPr>
        <p:spPr/>
        <p:txBody>
          <a:bodyPr/>
          <a:lstStyle/>
          <a:p>
            <a:fld id="{A2D74603-B40B-4D66-8F6E-41C870D48932}" type="slidenum">
              <a:rPr lang="en-US" altLang="zh-CN" smtClean="0"/>
              <a:pPr/>
              <a:t>136</a:t>
            </a:fld>
            <a:r>
              <a:rPr lang="en-US" altLang="zh-CN"/>
              <a:t>/162</a:t>
            </a:r>
            <a:endParaRPr lang="en-US" altLang="zh-CN" dirty="0"/>
          </a:p>
        </p:txBody>
      </p:sp>
    </p:spTree>
  </p:cSld>
  <p:clrMapOvr>
    <a:masterClrMapping/>
  </p:clrMapOvr>
  <p:transition>
    <p:fade/>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E360E766-F587-446B-BD1F-4BB7B54A5132}" type="datetime1">
              <a:rPr lang="zh-CN" altLang="en-US" smtClean="0"/>
              <a:t>2025/11/6</a:t>
            </a:fld>
            <a:endParaRPr lang="en-US" altLang="zh-CN"/>
          </a:p>
        </p:txBody>
      </p:sp>
      <p:sp>
        <p:nvSpPr>
          <p:cNvPr id="325634" name="Rectangle 2"/>
          <p:cNvSpPr>
            <a:spLocks noGrp="1" noChangeArrowheads="1"/>
          </p:cNvSpPr>
          <p:nvPr>
            <p:ph type="title"/>
          </p:nvPr>
        </p:nvSpPr>
        <p:spPr/>
        <p:txBody>
          <a:bodyPr/>
          <a:lstStyle/>
          <a:p>
            <a:r>
              <a:rPr lang="en-US" altLang="zh-CN" dirty="0"/>
              <a:t>8.4.1 </a:t>
            </a:r>
            <a:r>
              <a:rPr lang="zh-CN" altLang="en-US" dirty="0"/>
              <a:t>模式分解的三个定义</a:t>
            </a:r>
          </a:p>
        </p:txBody>
      </p:sp>
      <p:sp>
        <p:nvSpPr>
          <p:cNvPr id="325635" name="Rectangle 3"/>
          <p:cNvSpPr>
            <a:spLocks noGrp="1" noChangeArrowheads="1"/>
          </p:cNvSpPr>
          <p:nvPr>
            <p:ph type="body" idx="1"/>
          </p:nvPr>
        </p:nvSpPr>
        <p:spPr/>
        <p:txBody>
          <a:bodyPr/>
          <a:lstStyle/>
          <a:p>
            <a:r>
              <a:rPr lang="zh-CN" altLang="en-US" dirty="0"/>
              <a:t>对一个模式的分解是不唯一的，但是</a:t>
            </a:r>
            <a:r>
              <a:rPr lang="zh-CN" altLang="en-US" dirty="0">
                <a:solidFill>
                  <a:srgbClr val="FF0000"/>
                </a:solidFill>
              </a:rPr>
              <a:t>分解前后</a:t>
            </a:r>
            <a:r>
              <a:rPr lang="zh-CN" altLang="en-US" dirty="0"/>
              <a:t>的</a:t>
            </a:r>
            <a:r>
              <a:rPr lang="zh-CN" altLang="en-US" dirty="0">
                <a:solidFill>
                  <a:srgbClr val="C00000"/>
                </a:solidFill>
              </a:rPr>
              <a:t>两个模式</a:t>
            </a:r>
            <a:r>
              <a:rPr lang="zh-CN" altLang="en-US" dirty="0">
                <a:solidFill>
                  <a:srgbClr val="0000FF"/>
                </a:solidFill>
              </a:rPr>
              <a:t>应</a:t>
            </a:r>
            <a:r>
              <a:rPr lang="zh-CN" altLang="en-US" b="1" dirty="0">
                <a:solidFill>
                  <a:srgbClr val="FF0000"/>
                </a:solidFill>
              </a:rPr>
              <a:t>等价</a:t>
            </a:r>
            <a:r>
              <a:rPr lang="zh-CN" altLang="en-US" dirty="0"/>
              <a:t>。</a:t>
            </a:r>
          </a:p>
          <a:p>
            <a:r>
              <a:rPr lang="zh-CN" altLang="en-US" dirty="0"/>
              <a:t>对“等价”的概念有</a:t>
            </a:r>
            <a:r>
              <a:rPr lang="zh-CN" altLang="en-US" b="1" dirty="0">
                <a:solidFill>
                  <a:srgbClr val="FF0000"/>
                </a:solidFill>
              </a:rPr>
              <a:t>三种</a:t>
            </a:r>
            <a:r>
              <a:rPr lang="zh-CN" altLang="en-US" dirty="0"/>
              <a:t>不同的定义</a:t>
            </a:r>
            <a:r>
              <a:rPr lang="en-US" altLang="zh-CN" dirty="0"/>
              <a:t>(</a:t>
            </a:r>
            <a:r>
              <a:rPr lang="zh-CN" altLang="en-US" dirty="0"/>
              <a:t>也称</a:t>
            </a:r>
            <a:r>
              <a:rPr lang="zh-CN" altLang="en-US" u="sng" dirty="0">
                <a:solidFill>
                  <a:srgbClr val="C00000"/>
                </a:solidFill>
              </a:rPr>
              <a:t>分解的标准</a:t>
            </a:r>
            <a:r>
              <a:rPr lang="zh-CN" altLang="en-US" dirty="0"/>
              <a:t>、分解的特性或分解的</a:t>
            </a:r>
            <a:r>
              <a:rPr lang="zh-CN" altLang="en-US" dirty="0">
                <a:solidFill>
                  <a:srgbClr val="C00000"/>
                </a:solidFill>
              </a:rPr>
              <a:t>目标</a:t>
            </a:r>
            <a:r>
              <a:rPr lang="en-US" altLang="zh-CN" dirty="0"/>
              <a:t>):</a:t>
            </a:r>
          </a:p>
          <a:p>
            <a:pPr marL="609600" indent="-609600">
              <a:buFont typeface="Wingdings" pitchFamily="2" charset="2"/>
              <a:buAutoNum type="arabicPeriod"/>
            </a:pPr>
            <a:r>
              <a:rPr lang="zh-CN" altLang="en-US" dirty="0"/>
              <a:t>具有</a:t>
            </a:r>
            <a:r>
              <a:rPr lang="zh-CN" altLang="en-US" dirty="0">
                <a:solidFill>
                  <a:schemeClr val="hlink"/>
                </a:solidFill>
              </a:rPr>
              <a:t>无损连接性：</a:t>
            </a:r>
            <a:r>
              <a:rPr lang="zh-CN" altLang="en-US" dirty="0"/>
              <a:t>分解后的</a:t>
            </a:r>
            <a:r>
              <a:rPr lang="en-US" altLang="zh-CN" dirty="0"/>
              <a:t>(</a:t>
            </a:r>
            <a:r>
              <a:rPr lang="zh-CN" altLang="en-US" dirty="0"/>
              <a:t>几个</a:t>
            </a:r>
            <a:r>
              <a:rPr lang="en-US" altLang="zh-CN" dirty="0"/>
              <a:t>)</a:t>
            </a:r>
            <a:r>
              <a:rPr lang="zh-CN" altLang="en-US" dirty="0"/>
              <a:t>小模式可</a:t>
            </a:r>
            <a:r>
              <a:rPr lang="zh-CN" altLang="en-US" b="1" u="sng" dirty="0">
                <a:solidFill>
                  <a:schemeClr val="tx2"/>
                </a:solidFill>
              </a:rPr>
              <a:t>自然连接恢复</a:t>
            </a:r>
            <a:r>
              <a:rPr lang="zh-CN" altLang="en-US" dirty="0"/>
              <a:t>为原来的模式。 </a:t>
            </a:r>
          </a:p>
          <a:p>
            <a:pPr marL="609600" indent="-609600">
              <a:buFont typeface="Wingdings" pitchFamily="2" charset="2"/>
              <a:buAutoNum type="arabicPeriod"/>
            </a:pPr>
            <a:r>
              <a:rPr lang="zh-CN" altLang="en-US" dirty="0"/>
              <a:t>保持</a:t>
            </a:r>
            <a:r>
              <a:rPr lang="zh-CN" altLang="en-US" dirty="0">
                <a:solidFill>
                  <a:schemeClr val="hlink"/>
                </a:solidFill>
              </a:rPr>
              <a:t>函数依赖：</a:t>
            </a:r>
            <a:r>
              <a:rPr lang="zh-CN" altLang="en-US" dirty="0"/>
              <a:t>分解前后</a:t>
            </a:r>
            <a:r>
              <a:rPr lang="zh-CN" altLang="en-US" b="1" u="sng" dirty="0">
                <a:solidFill>
                  <a:schemeClr val="tx2"/>
                </a:solidFill>
              </a:rPr>
              <a:t>函数依赖集</a:t>
            </a:r>
            <a:r>
              <a:rPr lang="zh-CN" altLang="en-US" b="1" u="sng" dirty="0">
                <a:solidFill>
                  <a:srgbClr val="0000FF"/>
                </a:solidFill>
              </a:rPr>
              <a:t>等价</a:t>
            </a:r>
          </a:p>
          <a:p>
            <a:pPr marL="609600" indent="-609600">
              <a:buFont typeface="Wingdings" pitchFamily="2" charset="2"/>
              <a:buAutoNum type="arabicPeriod"/>
            </a:pPr>
            <a:r>
              <a:rPr lang="zh-CN" altLang="en-US" dirty="0"/>
              <a:t>既</a:t>
            </a:r>
            <a:r>
              <a:rPr lang="zh-CN" altLang="en-US" b="1" dirty="0">
                <a:solidFill>
                  <a:schemeClr val="tx2"/>
                </a:solidFill>
              </a:rPr>
              <a:t>保持无损连接</a:t>
            </a:r>
            <a:r>
              <a:rPr lang="zh-CN" altLang="en-US" dirty="0"/>
              <a:t>，又</a:t>
            </a:r>
            <a:r>
              <a:rPr lang="zh-CN" altLang="en-US" b="1" dirty="0">
                <a:solidFill>
                  <a:schemeClr val="tx2"/>
                </a:solidFill>
              </a:rPr>
              <a:t>保持函数依赖</a:t>
            </a:r>
            <a:r>
              <a:rPr lang="zh-CN" altLang="en-US" dirty="0"/>
              <a:t>。</a:t>
            </a:r>
            <a:r>
              <a:rPr lang="en-US" altLang="zh-CN" dirty="0"/>
              <a:t>(</a:t>
            </a:r>
            <a:r>
              <a:rPr lang="zh-CN" altLang="en-US" dirty="0"/>
              <a:t>理想情况</a:t>
            </a:r>
            <a:r>
              <a:rPr lang="en-US" altLang="zh-CN" dirty="0"/>
              <a:t>)</a:t>
            </a:r>
          </a:p>
          <a:p>
            <a:pPr marL="609600" indent="-609600"/>
            <a:endParaRPr lang="zh-CN" altLang="en-US" dirty="0"/>
          </a:p>
        </p:txBody>
      </p:sp>
      <p:sp>
        <p:nvSpPr>
          <p:cNvPr id="3" name="页脚占位符 2">
            <a:extLst>
              <a:ext uri="{FF2B5EF4-FFF2-40B4-BE49-F238E27FC236}">
                <a16:creationId xmlns:a16="http://schemas.microsoft.com/office/drawing/2014/main" id="{83147DE9-5E79-AD8C-6630-D0492EE17293}"/>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E98E8C8C-B730-C748-431B-3161C2579E9D}"/>
              </a:ext>
            </a:extLst>
          </p:cNvPr>
          <p:cNvSpPr>
            <a:spLocks noGrp="1"/>
          </p:cNvSpPr>
          <p:nvPr>
            <p:ph type="sldNum" sz="quarter" idx="12"/>
          </p:nvPr>
        </p:nvSpPr>
        <p:spPr/>
        <p:txBody>
          <a:bodyPr/>
          <a:lstStyle/>
          <a:p>
            <a:fld id="{A2D74603-B40B-4D66-8F6E-41C870D48932}" type="slidenum">
              <a:rPr lang="en-US" altLang="zh-CN" smtClean="0"/>
              <a:pPr/>
              <a:t>137</a:t>
            </a:fld>
            <a:r>
              <a:rPr lang="en-US" altLang="zh-CN"/>
              <a:t>/162</a:t>
            </a:r>
            <a:endParaRPr lang="en-US" altLang="zh-CN"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5635">
                                            <p:txEl>
                                              <p:pRg st="2" end="2"/>
                                            </p:txEl>
                                          </p:spTgt>
                                        </p:tgtEl>
                                        <p:attrNameLst>
                                          <p:attrName>style.visibility</p:attrName>
                                        </p:attrNameLst>
                                      </p:cBhvr>
                                      <p:to>
                                        <p:strVal val="visible"/>
                                      </p:to>
                                    </p:set>
                                    <p:anim calcmode="lin" valueType="num">
                                      <p:cBhvr additive="base">
                                        <p:cTn id="7" dur="500" fill="hold"/>
                                        <p:tgtEl>
                                          <p:spTgt spid="32563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56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25635">
                                            <p:txEl>
                                              <p:pRg st="3" end="3"/>
                                            </p:txEl>
                                          </p:spTgt>
                                        </p:tgtEl>
                                        <p:attrNameLst>
                                          <p:attrName>style.visibility</p:attrName>
                                        </p:attrNameLst>
                                      </p:cBhvr>
                                      <p:to>
                                        <p:strVal val="visible"/>
                                      </p:to>
                                    </p:set>
                                    <p:anim calcmode="lin" valueType="num">
                                      <p:cBhvr additive="base">
                                        <p:cTn id="13" dur="500" fill="hold"/>
                                        <p:tgtEl>
                                          <p:spTgt spid="32563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256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25635">
                                            <p:txEl>
                                              <p:pRg st="4" end="4"/>
                                            </p:txEl>
                                          </p:spTgt>
                                        </p:tgtEl>
                                        <p:attrNameLst>
                                          <p:attrName>style.visibility</p:attrName>
                                        </p:attrNameLst>
                                      </p:cBhvr>
                                      <p:to>
                                        <p:strVal val="visible"/>
                                      </p:to>
                                    </p:set>
                                    <p:anim calcmode="lin" valueType="num">
                                      <p:cBhvr additive="base">
                                        <p:cTn id="19" dur="500" fill="hold"/>
                                        <p:tgtEl>
                                          <p:spTgt spid="32563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2563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half" idx="10"/>
          </p:nvPr>
        </p:nvSpPr>
        <p:spPr/>
        <p:txBody>
          <a:bodyPr/>
          <a:lstStyle/>
          <a:p>
            <a:fld id="{D670CE19-C4A1-4E89-9211-29F252B1C159}" type="datetime1">
              <a:rPr lang="zh-CN" altLang="en-US" smtClean="0"/>
              <a:t>2025/11/6</a:t>
            </a:fld>
            <a:endParaRPr lang="en-US" altLang="zh-CN"/>
          </a:p>
        </p:txBody>
      </p:sp>
      <p:sp>
        <p:nvSpPr>
          <p:cNvPr id="326658" name="Rectangle 2"/>
          <p:cNvSpPr>
            <a:spLocks noGrp="1" noChangeArrowheads="1"/>
          </p:cNvSpPr>
          <p:nvPr>
            <p:ph type="title"/>
          </p:nvPr>
        </p:nvSpPr>
        <p:spPr/>
        <p:txBody>
          <a:bodyPr/>
          <a:lstStyle/>
          <a:p>
            <a:r>
              <a:rPr lang="en-US" altLang="zh-CN" dirty="0"/>
              <a:t>8.4.2 </a:t>
            </a:r>
            <a:r>
              <a:rPr lang="zh-CN" altLang="en-US" dirty="0"/>
              <a:t>分解的无损连接性和保持函数依赖性</a:t>
            </a:r>
          </a:p>
        </p:txBody>
      </p:sp>
      <p:sp>
        <p:nvSpPr>
          <p:cNvPr id="2" name="矩形 1"/>
          <p:cNvSpPr/>
          <p:nvPr/>
        </p:nvSpPr>
        <p:spPr>
          <a:xfrm>
            <a:off x="533400" y="1371600"/>
            <a:ext cx="8382000" cy="3862596"/>
          </a:xfrm>
          <a:prstGeom prst="rect">
            <a:avLst/>
          </a:prstGeom>
          <a:solidFill>
            <a:schemeClr val="bg1"/>
          </a:solidFill>
        </p:spPr>
        <p:txBody>
          <a:bodyPr wrap="square">
            <a:spAutoFit/>
          </a:bodyPr>
          <a:lstStyle/>
          <a:p>
            <a:pPr algn="l">
              <a:spcBef>
                <a:spcPct val="25000"/>
              </a:spcBef>
            </a:pPr>
            <a:r>
              <a:rPr lang="zh-CN" altLang="en-US" sz="2800" b="1" u="sng" dirty="0">
                <a:latin typeface="+mn-lt"/>
              </a:rPr>
              <a:t>定义</a:t>
            </a:r>
            <a:r>
              <a:rPr lang="en-US" altLang="zh-CN" sz="2800" b="1" u="sng" dirty="0">
                <a:latin typeface="+mn-lt"/>
              </a:rPr>
              <a:t>6</a:t>
            </a:r>
            <a:r>
              <a:rPr lang="zh-CN" altLang="en-US" sz="2800" b="1" u="sng" dirty="0">
                <a:latin typeface="+mn-lt"/>
              </a:rPr>
              <a:t>.16</a:t>
            </a:r>
            <a:r>
              <a:rPr lang="zh-CN" altLang="en-US" sz="2800" dirty="0">
                <a:solidFill>
                  <a:srgbClr val="FF66CC"/>
                </a:solidFill>
                <a:latin typeface="+mn-lt"/>
              </a:rPr>
              <a:t> </a:t>
            </a:r>
            <a:r>
              <a:rPr lang="zh-CN" altLang="en-US" sz="2800" dirty="0">
                <a:latin typeface="+mn-lt"/>
              </a:rPr>
              <a:t>关系模式</a:t>
            </a:r>
            <a:r>
              <a:rPr lang="en-US" altLang="zh-CN" sz="2800" dirty="0">
                <a:solidFill>
                  <a:srgbClr val="C00000"/>
                </a:solidFill>
                <a:latin typeface="+mn-lt"/>
              </a:rPr>
              <a:t>R&lt;U, F&gt;</a:t>
            </a:r>
            <a:r>
              <a:rPr lang="zh-CN" altLang="en-US" sz="2800" dirty="0">
                <a:latin typeface="+mn-lt"/>
              </a:rPr>
              <a:t>的一个</a:t>
            </a:r>
            <a:r>
              <a:rPr lang="zh-CN" altLang="en-US" sz="2800" dirty="0">
                <a:solidFill>
                  <a:srgbClr val="C00000"/>
                </a:solidFill>
                <a:latin typeface="+mn-lt"/>
              </a:rPr>
              <a:t>分解</a:t>
            </a:r>
            <a:r>
              <a:rPr lang="zh-CN" altLang="en-US" sz="2800" b="1" dirty="0">
                <a:solidFill>
                  <a:schemeClr val="hlink"/>
                </a:solidFill>
                <a:sym typeface="Symbol" pitchFamily="18" charset="2"/>
              </a:rPr>
              <a:t></a:t>
            </a:r>
            <a:r>
              <a:rPr lang="zh-CN" altLang="en-US" sz="2800" dirty="0">
                <a:latin typeface="+mn-lt"/>
              </a:rPr>
              <a:t>是指：</a:t>
            </a:r>
          </a:p>
          <a:p>
            <a:pPr algn="l">
              <a:spcBef>
                <a:spcPct val="25000"/>
              </a:spcBef>
              <a:buFont typeface="Wingdings" pitchFamily="2" charset="2"/>
              <a:buNone/>
            </a:pPr>
            <a:r>
              <a:rPr lang="zh-CN" altLang="en-US" sz="2800" b="1" dirty="0">
                <a:solidFill>
                  <a:schemeClr val="hlink"/>
                </a:solidFill>
                <a:latin typeface="+mn-lt"/>
                <a:sym typeface="Symbol" pitchFamily="18" charset="2"/>
              </a:rPr>
              <a:t></a:t>
            </a:r>
            <a:r>
              <a:rPr lang="zh-CN" altLang="en-US" sz="2800" dirty="0">
                <a:solidFill>
                  <a:schemeClr val="hlink"/>
                </a:solidFill>
                <a:latin typeface="+mn-lt"/>
                <a:sym typeface="Symbol" pitchFamily="18" charset="2"/>
              </a:rPr>
              <a:t> =</a:t>
            </a:r>
            <a:r>
              <a:rPr lang="zh-CN" altLang="en-US" sz="2800" dirty="0">
                <a:solidFill>
                  <a:schemeClr val="hlink"/>
                </a:solidFill>
                <a:latin typeface="+mn-lt"/>
              </a:rPr>
              <a:t> </a:t>
            </a:r>
            <a:r>
              <a:rPr lang="zh-CN" altLang="en-US" sz="2800" dirty="0">
                <a:solidFill>
                  <a:schemeClr val="tx2"/>
                </a:solidFill>
                <a:latin typeface="+mn-lt"/>
              </a:rPr>
              <a:t>{</a:t>
            </a:r>
            <a:r>
              <a:rPr lang="en-US" altLang="zh-CN" sz="2800" dirty="0">
                <a:solidFill>
                  <a:schemeClr val="tx2"/>
                </a:solidFill>
                <a:latin typeface="+mn-lt"/>
              </a:rPr>
              <a:t>R</a:t>
            </a:r>
            <a:r>
              <a:rPr lang="en-US" altLang="zh-CN" sz="2800" baseline="-16000" dirty="0">
                <a:solidFill>
                  <a:schemeClr val="tx2"/>
                </a:solidFill>
                <a:latin typeface="+mn-lt"/>
              </a:rPr>
              <a:t>1</a:t>
            </a:r>
            <a:r>
              <a:rPr lang="en-US" altLang="zh-CN" sz="2800" dirty="0">
                <a:solidFill>
                  <a:schemeClr val="tx2"/>
                </a:solidFill>
                <a:latin typeface="+mn-lt"/>
              </a:rPr>
              <a:t>&lt;U</a:t>
            </a:r>
            <a:r>
              <a:rPr lang="en-US" altLang="zh-CN" sz="2800" baseline="-16000" dirty="0">
                <a:solidFill>
                  <a:schemeClr val="tx2"/>
                </a:solidFill>
                <a:latin typeface="+mn-lt"/>
              </a:rPr>
              <a:t>1 </a:t>
            </a:r>
            <a:r>
              <a:rPr lang="en-US" altLang="zh-CN" sz="2800" dirty="0">
                <a:solidFill>
                  <a:schemeClr val="tx2"/>
                </a:solidFill>
                <a:latin typeface="+mn-lt"/>
              </a:rPr>
              <a:t>, F</a:t>
            </a:r>
            <a:r>
              <a:rPr lang="en-US" altLang="zh-CN" sz="2800" baseline="-16000" dirty="0">
                <a:solidFill>
                  <a:schemeClr val="tx2"/>
                </a:solidFill>
                <a:latin typeface="+mn-lt"/>
              </a:rPr>
              <a:t>1</a:t>
            </a:r>
            <a:r>
              <a:rPr lang="en-US" altLang="zh-CN" sz="2800" dirty="0">
                <a:solidFill>
                  <a:schemeClr val="tx2"/>
                </a:solidFill>
                <a:latin typeface="+mn-lt"/>
              </a:rPr>
              <a:t>&gt;, R</a:t>
            </a:r>
            <a:r>
              <a:rPr lang="en-US" altLang="zh-CN" sz="2800" baseline="-16000" dirty="0">
                <a:solidFill>
                  <a:schemeClr val="tx2"/>
                </a:solidFill>
                <a:latin typeface="+mn-lt"/>
              </a:rPr>
              <a:t>2</a:t>
            </a:r>
            <a:r>
              <a:rPr lang="en-US" altLang="zh-CN" sz="2800" dirty="0">
                <a:solidFill>
                  <a:schemeClr val="tx2"/>
                </a:solidFill>
                <a:latin typeface="+mn-lt"/>
              </a:rPr>
              <a:t>&lt;U</a:t>
            </a:r>
            <a:r>
              <a:rPr lang="en-US" altLang="zh-CN" sz="2800" baseline="-16000" dirty="0">
                <a:solidFill>
                  <a:schemeClr val="tx2"/>
                </a:solidFill>
                <a:latin typeface="+mn-lt"/>
              </a:rPr>
              <a:t>2 </a:t>
            </a:r>
            <a:r>
              <a:rPr lang="en-US" altLang="zh-CN" sz="2800" dirty="0">
                <a:solidFill>
                  <a:schemeClr val="tx2"/>
                </a:solidFill>
                <a:latin typeface="+mn-lt"/>
              </a:rPr>
              <a:t>, F</a:t>
            </a:r>
            <a:r>
              <a:rPr lang="en-US" altLang="zh-CN" sz="2800" baseline="-16000" dirty="0">
                <a:solidFill>
                  <a:schemeClr val="tx2"/>
                </a:solidFill>
                <a:latin typeface="+mn-lt"/>
              </a:rPr>
              <a:t>2</a:t>
            </a:r>
            <a:r>
              <a:rPr lang="en-US" altLang="zh-CN" sz="2800" dirty="0">
                <a:solidFill>
                  <a:schemeClr val="tx2"/>
                </a:solidFill>
                <a:latin typeface="+mn-lt"/>
              </a:rPr>
              <a:t>&gt;, … ,</a:t>
            </a:r>
            <a:r>
              <a:rPr lang="en-US" altLang="zh-CN" sz="2800" dirty="0" err="1">
                <a:solidFill>
                  <a:schemeClr val="tx2"/>
                </a:solidFill>
                <a:latin typeface="+mn-lt"/>
              </a:rPr>
              <a:t>R</a:t>
            </a:r>
            <a:r>
              <a:rPr lang="en-US" altLang="zh-CN" sz="2800" baseline="-16000" dirty="0" err="1">
                <a:solidFill>
                  <a:schemeClr val="tx2"/>
                </a:solidFill>
                <a:latin typeface="+mn-lt"/>
              </a:rPr>
              <a:t>k</a:t>
            </a:r>
            <a:r>
              <a:rPr lang="en-US" altLang="zh-CN" sz="2800" dirty="0">
                <a:solidFill>
                  <a:schemeClr val="tx2"/>
                </a:solidFill>
                <a:latin typeface="+mn-lt"/>
              </a:rPr>
              <a:t>&lt;</a:t>
            </a:r>
            <a:r>
              <a:rPr lang="en-US" altLang="zh-CN" sz="2800" dirty="0" err="1">
                <a:solidFill>
                  <a:schemeClr val="tx2"/>
                </a:solidFill>
                <a:latin typeface="+mn-lt"/>
              </a:rPr>
              <a:t>U</a:t>
            </a:r>
            <a:r>
              <a:rPr lang="en-US" altLang="zh-CN" sz="2800" baseline="-16000" dirty="0" err="1">
                <a:solidFill>
                  <a:schemeClr val="tx2"/>
                </a:solidFill>
                <a:latin typeface="+mn-lt"/>
              </a:rPr>
              <a:t>k</a:t>
            </a:r>
            <a:r>
              <a:rPr lang="en-US" altLang="zh-CN" sz="2800" baseline="-16000" dirty="0">
                <a:solidFill>
                  <a:schemeClr val="tx2"/>
                </a:solidFill>
                <a:latin typeface="+mn-lt"/>
              </a:rPr>
              <a:t> </a:t>
            </a:r>
            <a:r>
              <a:rPr lang="en-US" altLang="zh-CN" sz="2800" dirty="0">
                <a:solidFill>
                  <a:schemeClr val="tx2"/>
                </a:solidFill>
                <a:latin typeface="+mn-lt"/>
              </a:rPr>
              <a:t>, </a:t>
            </a:r>
            <a:r>
              <a:rPr lang="en-US" altLang="zh-CN" sz="2800" dirty="0" err="1">
                <a:solidFill>
                  <a:schemeClr val="tx2"/>
                </a:solidFill>
                <a:latin typeface="+mn-lt"/>
              </a:rPr>
              <a:t>F</a:t>
            </a:r>
            <a:r>
              <a:rPr lang="en-US" altLang="zh-CN" sz="2800" baseline="-25000" dirty="0" err="1">
                <a:solidFill>
                  <a:schemeClr val="tx2"/>
                </a:solidFill>
                <a:latin typeface="+mn-lt"/>
              </a:rPr>
              <a:t>k</a:t>
            </a:r>
            <a:r>
              <a:rPr lang="en-US" altLang="zh-CN" sz="2800" dirty="0">
                <a:solidFill>
                  <a:schemeClr val="tx2"/>
                </a:solidFill>
                <a:latin typeface="+mn-lt"/>
              </a:rPr>
              <a:t>&gt;}</a:t>
            </a:r>
          </a:p>
          <a:p>
            <a:pPr algn="l">
              <a:lnSpc>
                <a:spcPct val="150000"/>
              </a:lnSpc>
              <a:spcBef>
                <a:spcPct val="25000"/>
              </a:spcBef>
              <a:buFont typeface="Wingdings" pitchFamily="2" charset="2"/>
              <a:buNone/>
            </a:pPr>
            <a:r>
              <a:rPr lang="zh-CN" altLang="en-US" sz="2800" dirty="0">
                <a:latin typeface="+mn-lt"/>
              </a:rPr>
              <a:t>其中</a:t>
            </a:r>
            <a:r>
              <a:rPr lang="en-US" altLang="zh-CN" sz="2800" dirty="0">
                <a:solidFill>
                  <a:srgbClr val="FF0000"/>
                </a:solidFill>
                <a:latin typeface="+mn-lt"/>
              </a:rPr>
              <a:t>U =   </a:t>
            </a:r>
            <a:r>
              <a:rPr lang="en-US" altLang="zh-CN" sz="2800" dirty="0">
                <a:latin typeface="+mn-lt"/>
              </a:rPr>
              <a:t>U</a:t>
            </a:r>
            <a:r>
              <a:rPr lang="en-US" altLang="zh-CN" sz="2800" baseline="-16000" dirty="0">
                <a:latin typeface="+mn-lt"/>
              </a:rPr>
              <a:t>i</a:t>
            </a:r>
            <a:r>
              <a:rPr lang="en-US" altLang="zh-CN" sz="2800" dirty="0">
                <a:latin typeface="+mn-lt"/>
              </a:rPr>
              <a:t> ，</a:t>
            </a:r>
            <a:r>
              <a:rPr lang="zh-CN" altLang="en-US" sz="2800" dirty="0">
                <a:latin typeface="+mn-lt"/>
              </a:rPr>
              <a:t>并且</a:t>
            </a:r>
            <a:r>
              <a:rPr lang="zh-CN" altLang="en-US" sz="2800" b="1" dirty="0">
                <a:solidFill>
                  <a:srgbClr val="FF0000"/>
                </a:solidFill>
                <a:latin typeface="+mn-lt"/>
              </a:rPr>
              <a:t>没有</a:t>
            </a:r>
            <a:r>
              <a:rPr lang="en-US" altLang="zh-CN" sz="2800" b="1" dirty="0">
                <a:solidFill>
                  <a:srgbClr val="FF0000"/>
                </a:solidFill>
                <a:latin typeface="+mn-lt"/>
              </a:rPr>
              <a:t>U</a:t>
            </a:r>
            <a:r>
              <a:rPr lang="en-US" altLang="zh-CN" sz="2800" b="1" baseline="-16000" dirty="0">
                <a:solidFill>
                  <a:srgbClr val="FF0000"/>
                </a:solidFill>
                <a:latin typeface="+mn-lt"/>
              </a:rPr>
              <a:t>i</a:t>
            </a:r>
            <a:r>
              <a:rPr lang="en-US" altLang="zh-CN" sz="2800" b="1" dirty="0">
                <a:solidFill>
                  <a:srgbClr val="FF0000"/>
                </a:solidFill>
                <a:latin typeface="+mn-lt"/>
              </a:rPr>
              <a:t> </a:t>
            </a:r>
            <a:r>
              <a:rPr lang="en-US" altLang="zh-CN" sz="2800" b="1" dirty="0">
                <a:solidFill>
                  <a:srgbClr val="FF0000"/>
                </a:solidFill>
                <a:latin typeface="+mn-lt"/>
                <a:sym typeface="Symbol" pitchFamily="18" charset="2"/>
              </a:rPr>
              <a:t> </a:t>
            </a:r>
            <a:r>
              <a:rPr lang="en-US" altLang="zh-CN" sz="2800" b="1" dirty="0" err="1">
                <a:solidFill>
                  <a:srgbClr val="FF0000"/>
                </a:solidFill>
                <a:latin typeface="+mn-lt"/>
              </a:rPr>
              <a:t>U</a:t>
            </a:r>
            <a:r>
              <a:rPr lang="en-US" altLang="zh-CN" sz="2800" b="1" baseline="-16000" dirty="0" err="1">
                <a:solidFill>
                  <a:srgbClr val="FF0000"/>
                </a:solidFill>
                <a:latin typeface="+mn-lt"/>
              </a:rPr>
              <a:t>j</a:t>
            </a:r>
            <a:r>
              <a:rPr lang="en-US" altLang="zh-CN" sz="2800" b="1" dirty="0">
                <a:solidFill>
                  <a:srgbClr val="FF0000"/>
                </a:solidFill>
                <a:latin typeface="+mn-lt"/>
                <a:sym typeface="Symbol" pitchFamily="18" charset="2"/>
              </a:rPr>
              <a:t> </a:t>
            </a:r>
            <a:r>
              <a:rPr lang="en-US" altLang="zh-CN" sz="2800" dirty="0">
                <a:latin typeface="+mn-lt"/>
                <a:sym typeface="Symbol" pitchFamily="18" charset="2"/>
              </a:rPr>
              <a:t>，1≤i，j ≤k， </a:t>
            </a:r>
            <a:r>
              <a:rPr lang="en-US" altLang="zh-CN" sz="2800" dirty="0">
                <a:latin typeface="+mn-lt"/>
              </a:rPr>
              <a:t>     </a:t>
            </a:r>
            <a:r>
              <a:rPr lang="en-US" altLang="zh-CN" sz="2800" dirty="0">
                <a:solidFill>
                  <a:srgbClr val="0000FF"/>
                </a:solidFill>
                <a:latin typeface="+mn-lt"/>
              </a:rPr>
              <a:t>F</a:t>
            </a:r>
            <a:r>
              <a:rPr lang="en-US" altLang="zh-CN" sz="2800" baseline="-16000" dirty="0">
                <a:solidFill>
                  <a:srgbClr val="0000FF"/>
                </a:solidFill>
                <a:latin typeface="+mn-lt"/>
              </a:rPr>
              <a:t>i</a:t>
            </a:r>
            <a:r>
              <a:rPr lang="zh-CN" altLang="en-US" sz="2800" dirty="0">
                <a:latin typeface="+mn-lt"/>
                <a:sym typeface="Symbol" pitchFamily="18" charset="2"/>
              </a:rPr>
              <a:t>是</a:t>
            </a:r>
            <a:r>
              <a:rPr lang="en-US" altLang="zh-CN" sz="2800" dirty="0">
                <a:solidFill>
                  <a:srgbClr val="C00000"/>
                </a:solidFill>
                <a:latin typeface="+mn-lt"/>
                <a:sym typeface="Symbol" pitchFamily="18" charset="2"/>
              </a:rPr>
              <a:t>F</a:t>
            </a:r>
            <a:r>
              <a:rPr lang="zh-CN" altLang="en-US" sz="2800" dirty="0">
                <a:solidFill>
                  <a:srgbClr val="C00000"/>
                </a:solidFill>
                <a:latin typeface="+mn-lt"/>
                <a:sym typeface="Symbol" pitchFamily="18" charset="2"/>
              </a:rPr>
              <a:t>在</a:t>
            </a:r>
            <a:r>
              <a:rPr lang="en-US" altLang="zh-CN" sz="2800" dirty="0" err="1">
                <a:solidFill>
                  <a:srgbClr val="C00000"/>
                </a:solidFill>
                <a:latin typeface="+mn-lt"/>
                <a:sym typeface="Symbol" pitchFamily="18" charset="2"/>
              </a:rPr>
              <a:t>U</a:t>
            </a:r>
            <a:r>
              <a:rPr lang="en-US" altLang="zh-CN" sz="2800" baseline="-16000" dirty="0" err="1">
                <a:solidFill>
                  <a:srgbClr val="C00000"/>
                </a:solidFill>
                <a:latin typeface="+mn-lt"/>
              </a:rPr>
              <a:t>i</a:t>
            </a:r>
            <a:r>
              <a:rPr lang="zh-CN" altLang="en-US" sz="2800" dirty="0">
                <a:solidFill>
                  <a:srgbClr val="C00000"/>
                </a:solidFill>
                <a:latin typeface="+mn-lt"/>
              </a:rPr>
              <a:t>上</a:t>
            </a:r>
            <a:r>
              <a:rPr lang="zh-CN" altLang="en-US" sz="2800" dirty="0">
                <a:latin typeface="+mn-lt"/>
              </a:rPr>
              <a:t>的</a:t>
            </a:r>
            <a:r>
              <a:rPr lang="zh-CN" altLang="en-US" sz="2800" b="1" u="sng" dirty="0">
                <a:solidFill>
                  <a:srgbClr val="0000FF"/>
                </a:solidFill>
                <a:latin typeface="+mn-lt"/>
              </a:rPr>
              <a:t>投影</a:t>
            </a:r>
            <a:r>
              <a:rPr lang="en-US" altLang="zh-CN" sz="2800" b="1" u="sng" dirty="0">
                <a:solidFill>
                  <a:srgbClr val="0000FF"/>
                </a:solidFill>
                <a:latin typeface="+mn-lt"/>
              </a:rPr>
              <a:t>/</a:t>
            </a:r>
            <a:r>
              <a:rPr lang="zh-CN" altLang="en-US" sz="2800" b="1" u="sng" dirty="0">
                <a:solidFill>
                  <a:srgbClr val="0000FF"/>
                </a:solidFill>
                <a:latin typeface="+mn-lt"/>
              </a:rPr>
              <a:t>限定</a:t>
            </a:r>
            <a:r>
              <a:rPr lang="zh-CN" altLang="en-US" sz="2800" dirty="0">
                <a:latin typeface="+mn-lt"/>
              </a:rPr>
              <a:t>。</a:t>
            </a:r>
          </a:p>
          <a:p>
            <a:pPr algn="l">
              <a:spcBef>
                <a:spcPct val="25000"/>
              </a:spcBef>
            </a:pPr>
            <a:r>
              <a:rPr lang="zh-CN" altLang="en-US" sz="2800" b="1" u="sng" dirty="0">
                <a:latin typeface="+mn-lt"/>
                <a:sym typeface="Symbol" pitchFamily="18" charset="2"/>
              </a:rPr>
              <a:t>定义</a:t>
            </a:r>
            <a:r>
              <a:rPr lang="en-US" altLang="zh-CN" sz="2800" b="1" u="sng" dirty="0">
                <a:latin typeface="+mn-lt"/>
                <a:sym typeface="Symbol" pitchFamily="18" charset="2"/>
              </a:rPr>
              <a:t>6</a:t>
            </a:r>
            <a:r>
              <a:rPr lang="zh-CN" altLang="en-US" sz="2800" b="1" u="sng" dirty="0">
                <a:latin typeface="+mn-lt"/>
                <a:sym typeface="Symbol" pitchFamily="18" charset="2"/>
              </a:rPr>
              <a:t>.17</a:t>
            </a:r>
            <a:r>
              <a:rPr lang="zh-CN" altLang="en-US" sz="2800" b="1" dirty="0">
                <a:latin typeface="+mn-lt"/>
                <a:sym typeface="Symbol" pitchFamily="18" charset="2"/>
              </a:rPr>
              <a:t>  </a:t>
            </a:r>
            <a:r>
              <a:rPr lang="zh-CN" altLang="en-US" sz="2800" dirty="0">
                <a:latin typeface="+mn-lt"/>
                <a:sym typeface="Symbol" pitchFamily="18" charset="2"/>
              </a:rPr>
              <a:t>函数依赖集合</a:t>
            </a:r>
            <a:r>
              <a:rPr lang="en-US" altLang="zh-CN" sz="2800" dirty="0">
                <a:latin typeface="+mn-lt"/>
              </a:rPr>
              <a:t>F</a:t>
            </a:r>
            <a:r>
              <a:rPr lang="en-US" altLang="zh-CN" sz="2800" baseline="-16000" dirty="0">
                <a:latin typeface="+mn-lt"/>
              </a:rPr>
              <a:t>i</a:t>
            </a:r>
            <a:r>
              <a:rPr lang="en-US" altLang="zh-CN" sz="2800" dirty="0">
                <a:latin typeface="+mn-lt"/>
                <a:sym typeface="Symbol" pitchFamily="18" charset="2"/>
              </a:rPr>
              <a:t> = {XY | </a:t>
            </a:r>
            <a:r>
              <a:rPr lang="en-US" altLang="zh-CN" sz="2800" dirty="0">
                <a:solidFill>
                  <a:schemeClr val="tx2"/>
                </a:solidFill>
                <a:latin typeface="+mn-lt"/>
                <a:sym typeface="Symbol" pitchFamily="18" charset="2"/>
              </a:rPr>
              <a:t>XY</a:t>
            </a:r>
            <a:r>
              <a:rPr lang="en-US" altLang="zh-CN" sz="2800" b="1" dirty="0">
                <a:solidFill>
                  <a:srgbClr val="FF0000"/>
                </a:solidFill>
                <a:latin typeface="+mn-lt"/>
                <a:sym typeface="Symbol" pitchFamily="18" charset="2"/>
              </a:rPr>
              <a:t>F</a:t>
            </a:r>
            <a:r>
              <a:rPr lang="en-US" altLang="zh-CN" sz="2800" b="1" baseline="30000" dirty="0">
                <a:solidFill>
                  <a:srgbClr val="FF0000"/>
                </a:solidFill>
                <a:latin typeface="+mn-lt"/>
                <a:sym typeface="Symbol" pitchFamily="18" charset="2"/>
              </a:rPr>
              <a:t>+</a:t>
            </a:r>
            <a:r>
              <a:rPr lang="en-US" altLang="zh-CN" sz="2800" b="1" dirty="0">
                <a:solidFill>
                  <a:srgbClr val="FF0000"/>
                </a:solidFill>
                <a:latin typeface="+mn-lt"/>
                <a:sym typeface="Symbol" pitchFamily="18" charset="2"/>
              </a:rPr>
              <a:t> </a:t>
            </a:r>
            <a:r>
              <a:rPr lang="en-US" altLang="zh-CN" sz="2800" b="1" dirty="0">
                <a:solidFill>
                  <a:srgbClr val="0000FF"/>
                </a:solidFill>
                <a:effectLst>
                  <a:outerShdw blurRad="38100" dist="38100" dir="2700000" algn="tl">
                    <a:srgbClr val="000000">
                      <a:alpha val="43137"/>
                    </a:srgbClr>
                  </a:outerShdw>
                </a:effectLst>
                <a:latin typeface="+mn-lt"/>
                <a:sym typeface="Symbol" pitchFamily="18" charset="2"/>
              </a:rPr>
              <a:t></a:t>
            </a:r>
            <a:r>
              <a:rPr lang="en-US" altLang="zh-CN" sz="2800" dirty="0">
                <a:latin typeface="+mn-lt"/>
                <a:sym typeface="Symbol" pitchFamily="18" charset="2"/>
              </a:rPr>
              <a:t> </a:t>
            </a:r>
            <a:r>
              <a:rPr lang="en-US" altLang="zh-CN" sz="2800" dirty="0">
                <a:solidFill>
                  <a:srgbClr val="FF0000"/>
                </a:solidFill>
                <a:latin typeface="+mn-lt"/>
                <a:sym typeface="Symbol" pitchFamily="18" charset="2"/>
              </a:rPr>
              <a:t>XY</a:t>
            </a:r>
            <a:r>
              <a:rPr lang="en-US" altLang="zh-CN" sz="2800" dirty="0">
                <a:solidFill>
                  <a:schemeClr val="tx2"/>
                </a:solidFill>
                <a:latin typeface="+mn-lt"/>
                <a:sym typeface="Symbol" pitchFamily="18" charset="2"/>
              </a:rPr>
              <a:t>  </a:t>
            </a:r>
            <a:r>
              <a:rPr lang="en-US" altLang="zh-CN" sz="2800" dirty="0" err="1">
                <a:solidFill>
                  <a:srgbClr val="FF0000"/>
                </a:solidFill>
                <a:latin typeface="+mn-lt"/>
                <a:sym typeface="Symbol" pitchFamily="18" charset="2"/>
              </a:rPr>
              <a:t>U</a:t>
            </a:r>
            <a:r>
              <a:rPr lang="en-US" altLang="zh-CN" sz="2800" baseline="-16000" dirty="0" err="1">
                <a:solidFill>
                  <a:srgbClr val="FF0000"/>
                </a:solidFill>
                <a:latin typeface="+mn-lt"/>
              </a:rPr>
              <a:t>i</a:t>
            </a:r>
            <a:r>
              <a:rPr lang="en-US" altLang="zh-CN" sz="2800" dirty="0">
                <a:latin typeface="+mn-lt"/>
              </a:rPr>
              <a:t>}，</a:t>
            </a:r>
            <a:r>
              <a:rPr lang="zh-CN" altLang="en-US" sz="2800" dirty="0">
                <a:latin typeface="+mn-lt"/>
              </a:rPr>
              <a:t>称为</a:t>
            </a:r>
            <a:r>
              <a:rPr lang="en-US" altLang="zh-CN" sz="2800" dirty="0">
                <a:solidFill>
                  <a:srgbClr val="0000FF"/>
                </a:solidFill>
                <a:latin typeface="+mn-lt"/>
                <a:sym typeface="Symbol" pitchFamily="18" charset="2"/>
              </a:rPr>
              <a:t>F</a:t>
            </a:r>
            <a:r>
              <a:rPr lang="zh-CN" altLang="en-US" sz="2800" dirty="0">
                <a:solidFill>
                  <a:srgbClr val="0000FF"/>
                </a:solidFill>
                <a:latin typeface="+mn-lt"/>
                <a:sym typeface="Symbol" pitchFamily="18" charset="2"/>
              </a:rPr>
              <a:t>在</a:t>
            </a:r>
            <a:r>
              <a:rPr lang="en-US" altLang="zh-CN" sz="2800" dirty="0" err="1">
                <a:solidFill>
                  <a:srgbClr val="0000FF"/>
                </a:solidFill>
                <a:latin typeface="+mn-lt"/>
                <a:sym typeface="Symbol" pitchFamily="18" charset="2"/>
              </a:rPr>
              <a:t>U</a:t>
            </a:r>
            <a:r>
              <a:rPr lang="en-US" altLang="zh-CN" sz="2800" baseline="-16000" dirty="0" err="1">
                <a:solidFill>
                  <a:srgbClr val="0000FF"/>
                </a:solidFill>
                <a:latin typeface="+mn-lt"/>
              </a:rPr>
              <a:t>i</a:t>
            </a:r>
            <a:r>
              <a:rPr lang="zh-CN" altLang="en-US" sz="2800" dirty="0">
                <a:solidFill>
                  <a:srgbClr val="0000FF"/>
                </a:solidFill>
                <a:latin typeface="+mn-lt"/>
              </a:rPr>
              <a:t>上的投影</a:t>
            </a:r>
            <a:r>
              <a:rPr lang="zh-CN" altLang="en-US" sz="2800" dirty="0">
                <a:solidFill>
                  <a:schemeClr val="hlink"/>
                </a:solidFill>
                <a:latin typeface="+mn-lt"/>
              </a:rPr>
              <a:t>，也即</a:t>
            </a:r>
            <a:r>
              <a:rPr lang="en-US" altLang="zh-CN" sz="2800" dirty="0">
                <a:solidFill>
                  <a:srgbClr val="0000FF"/>
                </a:solidFill>
              </a:rPr>
              <a:t>F</a:t>
            </a:r>
            <a:r>
              <a:rPr lang="en-US" altLang="zh-CN" sz="2800" baseline="-16000" dirty="0">
                <a:solidFill>
                  <a:srgbClr val="0000FF"/>
                </a:solidFill>
              </a:rPr>
              <a:t>i</a:t>
            </a:r>
            <a:r>
              <a:rPr lang="zh-CN" altLang="en-US" sz="2800" dirty="0">
                <a:solidFill>
                  <a:srgbClr val="0000FF"/>
                </a:solidFill>
              </a:rPr>
              <a:t>是</a:t>
            </a:r>
            <a:r>
              <a:rPr lang="en-US" altLang="zh-CN" sz="2800" dirty="0">
                <a:solidFill>
                  <a:srgbClr val="FF0000"/>
                </a:solidFill>
                <a:sym typeface="Symbol" pitchFamily="18" charset="2"/>
              </a:rPr>
              <a:t>F</a:t>
            </a:r>
            <a:r>
              <a:rPr lang="en-US" altLang="zh-CN" sz="2800" baseline="30000" dirty="0">
                <a:solidFill>
                  <a:srgbClr val="FF0000"/>
                </a:solidFill>
                <a:sym typeface="Symbol" pitchFamily="18" charset="2"/>
              </a:rPr>
              <a:t>+</a:t>
            </a:r>
            <a:r>
              <a:rPr lang="zh-CN" altLang="en-US" sz="2800" dirty="0">
                <a:solidFill>
                  <a:srgbClr val="FF0000"/>
                </a:solidFill>
                <a:sym typeface="Symbol" pitchFamily="18" charset="2"/>
              </a:rPr>
              <a:t>中</a:t>
            </a:r>
            <a:r>
              <a:rPr lang="zh-CN" altLang="en-US" sz="2800" b="1" u="sng" dirty="0">
                <a:solidFill>
                  <a:srgbClr val="0000FF"/>
                </a:solidFill>
                <a:sym typeface="Symbol" pitchFamily="18" charset="2"/>
              </a:rPr>
              <a:t>只包含</a:t>
            </a:r>
            <a:r>
              <a:rPr lang="en-US" altLang="zh-CN" sz="2800" dirty="0">
                <a:solidFill>
                  <a:srgbClr val="FF0000"/>
                </a:solidFill>
                <a:sym typeface="Symbol" pitchFamily="18" charset="2"/>
              </a:rPr>
              <a:t>R</a:t>
            </a:r>
            <a:r>
              <a:rPr lang="en-US" altLang="zh-CN" sz="2800" baseline="-25000" dirty="0">
                <a:solidFill>
                  <a:srgbClr val="FF0000"/>
                </a:solidFill>
                <a:sym typeface="Symbol" pitchFamily="18" charset="2"/>
              </a:rPr>
              <a:t>i</a:t>
            </a:r>
            <a:r>
              <a:rPr lang="zh-CN" altLang="en-US" sz="2800" b="1" dirty="0">
                <a:solidFill>
                  <a:srgbClr val="FF0000"/>
                </a:solidFill>
                <a:sym typeface="Symbol" pitchFamily="18" charset="2"/>
              </a:rPr>
              <a:t>中属性的所有函数依赖的集合。</a:t>
            </a:r>
            <a:endParaRPr lang="en-US" altLang="zh-CN" sz="2800" dirty="0">
              <a:solidFill>
                <a:schemeClr val="hlink"/>
              </a:solidFill>
              <a:latin typeface="+mn-lt"/>
            </a:endParaRPr>
          </a:p>
        </p:txBody>
      </p:sp>
      <p:grpSp>
        <p:nvGrpSpPr>
          <p:cNvPr id="12" name="Group 4"/>
          <p:cNvGrpSpPr>
            <a:grpSpLocks/>
          </p:cNvGrpSpPr>
          <p:nvPr/>
        </p:nvGrpSpPr>
        <p:grpSpPr bwMode="auto">
          <a:xfrm>
            <a:off x="1908180" y="2514600"/>
            <a:ext cx="593726" cy="693738"/>
            <a:chOff x="1371" y="2617"/>
            <a:chExt cx="374" cy="437"/>
          </a:xfrm>
        </p:grpSpPr>
        <p:sp>
          <p:nvSpPr>
            <p:cNvPr id="13" name="Rectangle 5"/>
            <p:cNvSpPr>
              <a:spLocks noChangeArrowheads="1"/>
            </p:cNvSpPr>
            <p:nvPr/>
          </p:nvSpPr>
          <p:spPr bwMode="auto">
            <a:xfrm>
              <a:off x="1688" y="2918"/>
              <a:ext cx="5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pPr>
              <a:r>
                <a:rPr lang="zh-CN" altLang="en-US" sz="1400" b="1">
                  <a:solidFill>
                    <a:srgbClr val="000000"/>
                  </a:solidFill>
                  <a:latin typeface="Times New Roman" pitchFamily="18" charset="0"/>
                  <a:ea typeface="宋体" charset="-122"/>
                </a:rPr>
                <a:t>1</a:t>
              </a:r>
              <a:endParaRPr lang="zh-CN" altLang="en-US" sz="3200" b="1">
                <a:solidFill>
                  <a:schemeClr val="tx1"/>
                </a:solidFill>
                <a:ea typeface="宋体" charset="-122"/>
              </a:endParaRPr>
            </a:p>
          </p:txBody>
        </p:sp>
        <p:grpSp>
          <p:nvGrpSpPr>
            <p:cNvPr id="14" name="Group 6"/>
            <p:cNvGrpSpPr>
              <a:grpSpLocks/>
            </p:cNvGrpSpPr>
            <p:nvPr/>
          </p:nvGrpSpPr>
          <p:grpSpPr bwMode="auto">
            <a:xfrm>
              <a:off x="1371" y="2617"/>
              <a:ext cx="321" cy="437"/>
              <a:chOff x="1371" y="2617"/>
              <a:chExt cx="321" cy="437"/>
            </a:xfrm>
          </p:grpSpPr>
          <p:sp>
            <p:nvSpPr>
              <p:cNvPr id="15" name="Rectangle 7"/>
              <p:cNvSpPr>
                <a:spLocks noChangeArrowheads="1"/>
              </p:cNvSpPr>
              <p:nvPr/>
            </p:nvSpPr>
            <p:spPr bwMode="auto">
              <a:xfrm>
                <a:off x="1586" y="2918"/>
                <a:ext cx="3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pPr>
                <a:r>
                  <a:rPr lang="en-US" altLang="zh-CN" sz="1400" b="1" i="1">
                    <a:solidFill>
                      <a:srgbClr val="000000"/>
                    </a:solidFill>
                    <a:latin typeface="Times New Roman" pitchFamily="18" charset="0"/>
                    <a:ea typeface="宋体" charset="-122"/>
                  </a:rPr>
                  <a:t>i</a:t>
                </a:r>
                <a:endParaRPr lang="en-US" altLang="zh-CN" sz="3200" b="1">
                  <a:solidFill>
                    <a:schemeClr val="tx1"/>
                  </a:solidFill>
                  <a:ea typeface="宋体" charset="-122"/>
                </a:endParaRPr>
              </a:p>
            </p:txBody>
          </p:sp>
          <p:grpSp>
            <p:nvGrpSpPr>
              <p:cNvPr id="16" name="Group 8"/>
              <p:cNvGrpSpPr>
                <a:grpSpLocks/>
              </p:cNvGrpSpPr>
              <p:nvPr/>
            </p:nvGrpSpPr>
            <p:grpSpPr bwMode="auto">
              <a:xfrm>
                <a:off x="1371" y="2617"/>
                <a:ext cx="321" cy="428"/>
                <a:chOff x="1371" y="2617"/>
                <a:chExt cx="321" cy="428"/>
              </a:xfrm>
            </p:grpSpPr>
            <p:sp>
              <p:nvSpPr>
                <p:cNvPr id="17" name="Rectangle 9"/>
                <p:cNvSpPr>
                  <a:spLocks noChangeArrowheads="1"/>
                </p:cNvSpPr>
                <p:nvPr/>
              </p:nvSpPr>
              <p:spPr bwMode="auto">
                <a:xfrm>
                  <a:off x="1371" y="2659"/>
                  <a:ext cx="260"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pPr>
                  <a:r>
                    <a:rPr lang="en-US" altLang="zh-CN" sz="3200" b="1" dirty="0">
                      <a:solidFill>
                        <a:srgbClr val="339933"/>
                      </a:solidFill>
                      <a:ea typeface="宋体" charset="-122"/>
                    </a:rPr>
                    <a:t>∪</a:t>
                  </a:r>
                </a:p>
              </p:txBody>
            </p:sp>
            <p:grpSp>
              <p:nvGrpSpPr>
                <p:cNvPr id="18" name="Group 10"/>
                <p:cNvGrpSpPr>
                  <a:grpSpLocks/>
                </p:cNvGrpSpPr>
                <p:nvPr/>
              </p:nvGrpSpPr>
              <p:grpSpPr bwMode="auto">
                <a:xfrm>
                  <a:off x="1629" y="2617"/>
                  <a:ext cx="63" cy="428"/>
                  <a:chOff x="1629" y="2617"/>
                  <a:chExt cx="63" cy="428"/>
                </a:xfrm>
              </p:grpSpPr>
              <p:sp>
                <p:nvSpPr>
                  <p:cNvPr id="19" name="Rectangle 11"/>
                  <p:cNvSpPr>
                    <a:spLocks noChangeArrowheads="1"/>
                  </p:cNvSpPr>
                  <p:nvPr/>
                </p:nvSpPr>
                <p:spPr bwMode="auto">
                  <a:xfrm>
                    <a:off x="1633" y="2617"/>
                    <a:ext cx="5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pPr>
                    <a:r>
                      <a:rPr lang="en-US" altLang="zh-CN" sz="1400" b="1" i="1" dirty="0">
                        <a:solidFill>
                          <a:srgbClr val="000000"/>
                        </a:solidFill>
                        <a:latin typeface="Times New Roman" pitchFamily="18" charset="0"/>
                        <a:ea typeface="宋体" charset="-122"/>
                      </a:rPr>
                      <a:t>k</a:t>
                    </a:r>
                    <a:endParaRPr lang="en-US" altLang="zh-CN" sz="3200" b="1" dirty="0">
                      <a:solidFill>
                        <a:schemeClr val="tx1"/>
                      </a:solidFill>
                      <a:ea typeface="宋体" charset="-122"/>
                    </a:endParaRPr>
                  </a:p>
                </p:txBody>
              </p:sp>
              <p:sp>
                <p:nvSpPr>
                  <p:cNvPr id="20" name="Rectangle 12"/>
                  <p:cNvSpPr>
                    <a:spLocks noChangeArrowheads="1"/>
                  </p:cNvSpPr>
                  <p:nvPr/>
                </p:nvSpPr>
                <p:spPr bwMode="auto">
                  <a:xfrm>
                    <a:off x="1629" y="2909"/>
                    <a:ext cx="63"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pPr>
                    <a:r>
                      <a:rPr lang="zh-CN" altLang="en-US" sz="1400" b="1" dirty="0">
                        <a:solidFill>
                          <a:srgbClr val="000000"/>
                        </a:solidFill>
                        <a:latin typeface="Symbol" pitchFamily="18" charset="2"/>
                        <a:ea typeface="宋体" charset="-122"/>
                      </a:rPr>
                      <a:t>=</a:t>
                    </a:r>
                    <a:endParaRPr lang="zh-CN" altLang="en-US" sz="3200" b="1" dirty="0">
                      <a:solidFill>
                        <a:schemeClr val="tx1"/>
                      </a:solidFill>
                      <a:ea typeface="宋体" charset="-122"/>
                    </a:endParaRPr>
                  </a:p>
                </p:txBody>
              </p:sp>
            </p:grpSp>
          </p:grpSp>
        </p:grpSp>
      </p:grpSp>
      <p:sp>
        <p:nvSpPr>
          <p:cNvPr id="4" name="页脚占位符 3">
            <a:extLst>
              <a:ext uri="{FF2B5EF4-FFF2-40B4-BE49-F238E27FC236}">
                <a16:creationId xmlns:a16="http://schemas.microsoft.com/office/drawing/2014/main" id="{9791FEA2-DDBC-91FA-0B1B-B2B47A5FE039}"/>
              </a:ext>
            </a:extLst>
          </p:cNvPr>
          <p:cNvSpPr>
            <a:spLocks noGrp="1"/>
          </p:cNvSpPr>
          <p:nvPr>
            <p:ph type="ftr" sz="quarter" idx="11"/>
          </p:nvPr>
        </p:nvSpPr>
        <p:spPr/>
        <p:txBody>
          <a:bodyPr/>
          <a:lstStyle/>
          <a:p>
            <a:r>
              <a:rPr lang="en-US" altLang="zh-CN"/>
              <a:t>《数据库系统概论》- 第6章</a:t>
            </a:r>
          </a:p>
        </p:txBody>
      </p:sp>
      <p:sp>
        <p:nvSpPr>
          <p:cNvPr id="9" name="灯片编号占位符 8">
            <a:extLst>
              <a:ext uri="{FF2B5EF4-FFF2-40B4-BE49-F238E27FC236}">
                <a16:creationId xmlns:a16="http://schemas.microsoft.com/office/drawing/2014/main" id="{0F72BC35-46F9-703A-1AB5-0741C904E294}"/>
              </a:ext>
            </a:extLst>
          </p:cNvPr>
          <p:cNvSpPr>
            <a:spLocks noGrp="1"/>
          </p:cNvSpPr>
          <p:nvPr>
            <p:ph type="sldNum" sz="quarter" idx="12"/>
          </p:nvPr>
        </p:nvSpPr>
        <p:spPr/>
        <p:txBody>
          <a:bodyPr/>
          <a:lstStyle/>
          <a:p>
            <a:fld id="{A2D74603-B40B-4D66-8F6E-41C870D48932}" type="slidenum">
              <a:rPr lang="en-US" altLang="zh-CN" smtClean="0"/>
              <a:pPr/>
              <a:t>138</a:t>
            </a:fld>
            <a:r>
              <a:rPr lang="en-US" altLang="zh-CN"/>
              <a:t>/162</a:t>
            </a:r>
            <a:endParaRPr lang="en-US" altLang="zh-CN" dirty="0"/>
          </a:p>
        </p:txBody>
      </p:sp>
      <p:sp>
        <p:nvSpPr>
          <p:cNvPr id="6" name="文本框 5">
            <a:extLst>
              <a:ext uri="{FF2B5EF4-FFF2-40B4-BE49-F238E27FC236}">
                <a16:creationId xmlns:a16="http://schemas.microsoft.com/office/drawing/2014/main" id="{4BA9856E-D5B6-F174-A4C3-86FE764B392A}"/>
              </a:ext>
            </a:extLst>
          </p:cNvPr>
          <p:cNvSpPr txBox="1"/>
          <p:nvPr/>
        </p:nvSpPr>
        <p:spPr>
          <a:xfrm>
            <a:off x="533399" y="5298930"/>
            <a:ext cx="8410575" cy="1400383"/>
          </a:xfrm>
          <a:prstGeom prst="rect">
            <a:avLst/>
          </a:prstGeom>
          <a:solidFill>
            <a:schemeClr val="bg1"/>
          </a:solidFill>
        </p:spPr>
        <p:txBody>
          <a:bodyPr wrap="square">
            <a:spAutoFit/>
          </a:bodyPr>
          <a:lstStyle/>
          <a:p>
            <a:pPr algn="l">
              <a:spcAft>
                <a:spcPts val="600"/>
              </a:spcAft>
            </a:pPr>
            <a:r>
              <a:rPr lang="zh-CN" altLang="en-US" sz="2000" b="1" u="sng" dirty="0"/>
              <a:t>请注意，</a:t>
            </a:r>
            <a:r>
              <a:rPr lang="zh-CN" altLang="en-US" sz="2000" u="sng" dirty="0"/>
              <a:t>定义</a:t>
            </a:r>
            <a:r>
              <a:rPr lang="en-US" altLang="zh-CN" sz="2000" u="sng" dirty="0">
                <a:solidFill>
                  <a:srgbClr val="0000FF"/>
                </a:solidFill>
                <a:latin typeface="+mn-lt"/>
              </a:rPr>
              <a:t>F</a:t>
            </a:r>
            <a:r>
              <a:rPr lang="en-US" altLang="zh-CN" sz="2000" u="sng" baseline="-16000" dirty="0">
                <a:solidFill>
                  <a:srgbClr val="0000FF"/>
                </a:solidFill>
                <a:latin typeface="+mn-lt"/>
              </a:rPr>
              <a:t>i</a:t>
            </a:r>
            <a:r>
              <a:rPr lang="zh-CN" altLang="en-US" sz="2000" u="sng" dirty="0"/>
              <a:t>时用到的是</a:t>
            </a:r>
            <a:r>
              <a:rPr lang="en-US" altLang="zh-CN" sz="2000" b="1" u="sng" dirty="0">
                <a:solidFill>
                  <a:srgbClr val="FF0000"/>
                </a:solidFill>
                <a:sym typeface="Symbol" pitchFamily="18" charset="2"/>
              </a:rPr>
              <a:t>F</a:t>
            </a:r>
            <a:r>
              <a:rPr lang="en-US" altLang="zh-CN" sz="2000" b="1" u="sng" baseline="30000" dirty="0">
                <a:solidFill>
                  <a:srgbClr val="FF0000"/>
                </a:solidFill>
                <a:sym typeface="Symbol" pitchFamily="18" charset="2"/>
              </a:rPr>
              <a:t>+</a:t>
            </a:r>
            <a:r>
              <a:rPr lang="zh-CN" altLang="en-US" sz="2000" u="sng" dirty="0"/>
              <a:t>中的所有依赖，而不仅仅是</a:t>
            </a:r>
            <a:r>
              <a:rPr lang="en-US" altLang="zh-CN" sz="2000" u="sng" dirty="0"/>
              <a:t>F</a:t>
            </a:r>
            <a:r>
              <a:rPr lang="zh-CN" altLang="en-US" sz="2000" u="sng" dirty="0"/>
              <a:t>中的那些。</a:t>
            </a:r>
            <a:endParaRPr lang="en-US" altLang="zh-CN" sz="2000" u="sng" dirty="0"/>
          </a:p>
          <a:p>
            <a:pPr algn="l"/>
            <a:r>
              <a:rPr lang="zh-CN" altLang="en-US" sz="2000" dirty="0"/>
              <a:t>例如，假设</a:t>
            </a:r>
            <a:r>
              <a:rPr lang="en-US" altLang="zh-CN" sz="2000" dirty="0"/>
              <a:t>R(U, F), U={A,B,C}, F</a:t>
            </a:r>
            <a:r>
              <a:rPr lang="zh-CN" altLang="en-US" sz="2000" dirty="0"/>
              <a:t>=</a:t>
            </a:r>
            <a:r>
              <a:rPr lang="en-US" altLang="zh-CN" sz="2000" dirty="0"/>
              <a:t>{</a:t>
            </a:r>
            <a:r>
              <a:rPr lang="en-US" altLang="zh-CN" sz="2000" dirty="0">
                <a:solidFill>
                  <a:srgbClr val="339933"/>
                </a:solidFill>
                <a:latin typeface="+mn-lt"/>
                <a:sym typeface="Symbol" pitchFamily="18" charset="2"/>
              </a:rPr>
              <a:t>AB</a:t>
            </a:r>
            <a:r>
              <a:rPr lang="en-US" altLang="zh-CN" sz="2000" dirty="0">
                <a:latin typeface="+mn-lt"/>
                <a:sym typeface="Symbol" pitchFamily="18" charset="2"/>
              </a:rPr>
              <a:t>, BC</a:t>
            </a:r>
            <a:r>
              <a:rPr lang="en-US" altLang="zh-CN" sz="2000" dirty="0"/>
              <a:t>}, </a:t>
            </a:r>
            <a:r>
              <a:rPr lang="zh-CN" altLang="en-US" sz="2000" dirty="0"/>
              <a:t>并且有一个到</a:t>
            </a:r>
            <a:r>
              <a:rPr lang="en-US" altLang="zh-CN" sz="2000" dirty="0">
                <a:solidFill>
                  <a:srgbClr val="0000FF"/>
                </a:solidFill>
              </a:rPr>
              <a:t>R</a:t>
            </a:r>
            <a:r>
              <a:rPr lang="en-US" altLang="zh-CN" sz="2000" baseline="-25000" dirty="0">
                <a:solidFill>
                  <a:srgbClr val="0000FF"/>
                </a:solidFill>
              </a:rPr>
              <a:t>1</a:t>
            </a:r>
            <a:r>
              <a:rPr lang="en-US" altLang="zh-CN" sz="2000" dirty="0">
                <a:solidFill>
                  <a:srgbClr val="0000FF"/>
                </a:solidFill>
              </a:rPr>
              <a:t>(</a:t>
            </a:r>
            <a:r>
              <a:rPr lang="zh-CN" altLang="en-US" sz="2000" dirty="0">
                <a:solidFill>
                  <a:srgbClr val="0000FF"/>
                </a:solidFill>
              </a:rPr>
              <a:t>AC</a:t>
            </a:r>
            <a:r>
              <a:rPr lang="en-US" altLang="zh-CN" sz="2000" dirty="0">
                <a:solidFill>
                  <a:srgbClr val="0000FF"/>
                </a:solidFill>
              </a:rPr>
              <a:t>)</a:t>
            </a:r>
            <a:r>
              <a:rPr lang="zh-CN" altLang="en-US" sz="2000" dirty="0"/>
              <a:t>和</a:t>
            </a:r>
            <a:r>
              <a:rPr lang="en-US" altLang="zh-CN" sz="2000" dirty="0">
                <a:solidFill>
                  <a:srgbClr val="339933"/>
                </a:solidFill>
              </a:rPr>
              <a:t>R</a:t>
            </a:r>
            <a:r>
              <a:rPr lang="en-US" altLang="zh-CN" sz="2000" baseline="-25000" dirty="0">
                <a:solidFill>
                  <a:srgbClr val="339933"/>
                </a:solidFill>
              </a:rPr>
              <a:t>2</a:t>
            </a:r>
            <a:r>
              <a:rPr lang="en-US" altLang="zh-CN" sz="2000" dirty="0">
                <a:solidFill>
                  <a:srgbClr val="339933"/>
                </a:solidFill>
              </a:rPr>
              <a:t>(A</a:t>
            </a:r>
            <a:r>
              <a:rPr lang="zh-CN" altLang="en-US" sz="2000" dirty="0">
                <a:solidFill>
                  <a:srgbClr val="339933"/>
                </a:solidFill>
              </a:rPr>
              <a:t>B</a:t>
            </a:r>
            <a:r>
              <a:rPr lang="en-US" altLang="zh-CN" sz="2000" dirty="0">
                <a:solidFill>
                  <a:srgbClr val="339933"/>
                </a:solidFill>
              </a:rPr>
              <a:t>)</a:t>
            </a:r>
            <a:r>
              <a:rPr lang="zh-CN" altLang="en-US" sz="2000" dirty="0"/>
              <a:t>的分解。则在</a:t>
            </a:r>
            <a:r>
              <a:rPr lang="en-US" altLang="zh-CN" sz="2000" dirty="0"/>
              <a:t>R</a:t>
            </a:r>
            <a:r>
              <a:rPr lang="en-US" altLang="zh-CN" sz="2000" baseline="-25000" dirty="0"/>
              <a:t>1</a:t>
            </a:r>
            <a:r>
              <a:rPr lang="en-US" altLang="zh-CN" sz="2000" dirty="0"/>
              <a:t>(</a:t>
            </a:r>
            <a:r>
              <a:rPr lang="zh-CN" altLang="en-US" sz="2000" dirty="0"/>
              <a:t>AC</a:t>
            </a:r>
            <a:r>
              <a:rPr lang="en-US" altLang="zh-CN" sz="2000" dirty="0"/>
              <a:t>)</a:t>
            </a:r>
            <a:r>
              <a:rPr lang="zh-CN" altLang="en-US" sz="2000" dirty="0"/>
              <a:t>的</a:t>
            </a:r>
            <a:r>
              <a:rPr lang="en-US" altLang="zh-CN" sz="2000" dirty="0"/>
              <a:t>F</a:t>
            </a:r>
            <a:r>
              <a:rPr lang="en-US" altLang="zh-CN" sz="2000" baseline="-25000" dirty="0"/>
              <a:t>1</a:t>
            </a:r>
            <a:r>
              <a:rPr lang="zh-CN" altLang="en-US" sz="2000" dirty="0"/>
              <a:t>包含</a:t>
            </a:r>
            <a:r>
              <a:rPr lang="en-US" altLang="zh-CN" sz="2000" dirty="0">
                <a:latin typeface="+mn-lt"/>
                <a:sym typeface="Symbol" pitchFamily="18" charset="2"/>
              </a:rPr>
              <a:t>A</a:t>
            </a:r>
            <a:r>
              <a:rPr lang="zh-CN" altLang="en-US" sz="2000" dirty="0"/>
              <a:t>C，因为</a:t>
            </a:r>
            <a:r>
              <a:rPr lang="en-US" altLang="zh-CN" sz="2000" dirty="0">
                <a:latin typeface="+mn-lt"/>
                <a:sym typeface="Symbol" pitchFamily="18" charset="2"/>
              </a:rPr>
              <a:t>A</a:t>
            </a:r>
            <a:r>
              <a:rPr lang="zh-CN" altLang="en-US" sz="2000" dirty="0"/>
              <a:t>C属于</a:t>
            </a:r>
            <a:r>
              <a:rPr lang="en-US" altLang="zh-CN" sz="2000" b="1" dirty="0">
                <a:solidFill>
                  <a:srgbClr val="FF0000"/>
                </a:solidFill>
                <a:sym typeface="Symbol" pitchFamily="18" charset="2"/>
              </a:rPr>
              <a:t>F</a:t>
            </a:r>
            <a:r>
              <a:rPr lang="en-US" altLang="zh-CN" sz="2000" b="1" baseline="30000" dirty="0">
                <a:solidFill>
                  <a:srgbClr val="FF0000"/>
                </a:solidFill>
                <a:sym typeface="Symbol" pitchFamily="18" charset="2"/>
              </a:rPr>
              <a:t>+</a:t>
            </a:r>
            <a:r>
              <a:rPr lang="zh-CN" altLang="en-US" sz="2000" dirty="0"/>
              <a:t>，尽管它并没有在F中。也即</a:t>
            </a:r>
            <a:r>
              <a:rPr lang="en-US" altLang="zh-CN" sz="2000" dirty="0"/>
              <a:t>F</a:t>
            </a:r>
            <a:r>
              <a:rPr lang="en-US" altLang="zh-CN" sz="2000" baseline="-25000" dirty="0"/>
              <a:t>1</a:t>
            </a:r>
            <a:r>
              <a:rPr lang="en-US" altLang="zh-CN" sz="2000" dirty="0"/>
              <a:t>={</a:t>
            </a:r>
            <a:r>
              <a:rPr lang="en-US" altLang="zh-CN" sz="2000" dirty="0">
                <a:latin typeface="+mn-lt"/>
                <a:sym typeface="Symbol" pitchFamily="18" charset="2"/>
              </a:rPr>
              <a:t>A</a:t>
            </a:r>
            <a:r>
              <a:rPr lang="zh-CN" altLang="en-US" sz="2000" dirty="0"/>
              <a:t>C</a:t>
            </a:r>
            <a:r>
              <a:rPr lang="en-US" altLang="zh-CN" sz="2000" dirty="0"/>
              <a:t>},</a:t>
            </a:r>
            <a:r>
              <a:rPr lang="zh-CN" altLang="en-US" sz="2000" dirty="0"/>
              <a:t> </a:t>
            </a:r>
            <a:r>
              <a:rPr lang="en-US" altLang="zh-CN" sz="2000" dirty="0"/>
              <a:t>F</a:t>
            </a:r>
            <a:r>
              <a:rPr lang="en-US" altLang="zh-CN" sz="2000" baseline="-25000" dirty="0"/>
              <a:t>2</a:t>
            </a:r>
            <a:r>
              <a:rPr lang="en-US" altLang="zh-CN" sz="2000" dirty="0"/>
              <a:t>={</a:t>
            </a:r>
            <a:r>
              <a:rPr lang="en-US" altLang="zh-CN" sz="2000" dirty="0">
                <a:solidFill>
                  <a:srgbClr val="339933"/>
                </a:solidFill>
                <a:latin typeface="+mn-lt"/>
                <a:sym typeface="Symbol" pitchFamily="18" charset="2"/>
              </a:rPr>
              <a:t>AB</a:t>
            </a:r>
            <a:r>
              <a:rPr lang="en-US" altLang="zh-CN" sz="2000" dirty="0"/>
              <a:t>}, </a:t>
            </a:r>
            <a:r>
              <a:rPr lang="zh-CN" altLang="en-US" sz="2000" dirty="0"/>
              <a:t>那么</a:t>
            </a:r>
            <a:r>
              <a:rPr lang="en-US" altLang="zh-CN" sz="2000" b="1" u="sng" dirty="0"/>
              <a:t>F’=F</a:t>
            </a:r>
            <a:r>
              <a:rPr lang="en-US" altLang="zh-CN" sz="2000" b="1" u="sng" baseline="-25000" dirty="0"/>
              <a:t>1</a:t>
            </a:r>
            <a:r>
              <a:rPr lang="en-US" altLang="zh-CN" sz="2000" b="1" u="sng" dirty="0"/>
              <a:t>U F</a:t>
            </a:r>
            <a:r>
              <a:rPr lang="en-US" altLang="zh-CN" sz="2000" b="1" u="sng" baseline="-25000" dirty="0"/>
              <a:t>2</a:t>
            </a:r>
            <a:r>
              <a:rPr lang="zh-CN" altLang="en-US" sz="2000" b="1" u="sng" dirty="0">
                <a:solidFill>
                  <a:srgbClr val="0000FF"/>
                </a:solidFill>
              </a:rPr>
              <a:t>是否等价于</a:t>
            </a:r>
            <a:r>
              <a:rPr lang="en-US" altLang="zh-CN" sz="2000" b="1" u="sng" dirty="0"/>
              <a:t>F</a:t>
            </a:r>
            <a:r>
              <a:rPr lang="zh-CN" altLang="en-US" sz="2000" dirty="0"/>
              <a:t>？</a:t>
            </a:r>
          </a:p>
        </p:txBody>
      </p:sp>
      <p:cxnSp>
        <p:nvCxnSpPr>
          <p:cNvPr id="8" name="直接连接符 7">
            <a:extLst>
              <a:ext uri="{FF2B5EF4-FFF2-40B4-BE49-F238E27FC236}">
                <a16:creationId xmlns:a16="http://schemas.microsoft.com/office/drawing/2014/main" id="{A30F165D-02F1-D9D9-CB3D-0DD44F2F8965}"/>
              </a:ext>
            </a:extLst>
          </p:cNvPr>
          <p:cNvCxnSpPr/>
          <p:nvPr/>
        </p:nvCxnSpPr>
        <p:spPr bwMode="auto">
          <a:xfrm>
            <a:off x="4572000" y="6309320"/>
            <a:ext cx="720080" cy="0"/>
          </a:xfrm>
          <a:prstGeom prst="line">
            <a:avLst/>
          </a:prstGeom>
          <a:solidFill>
            <a:schemeClr val="accent1"/>
          </a:solidFill>
          <a:ln w="31750" cap="flat" cmpd="sng" algn="ctr">
            <a:solidFill>
              <a:srgbClr val="00B05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5052912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 calcmode="lin" valueType="num">
                                      <p:cBhvr additive="base">
                                        <p:cTn id="7"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half" idx="10"/>
          </p:nvPr>
        </p:nvSpPr>
        <p:spPr/>
        <p:txBody>
          <a:bodyPr/>
          <a:lstStyle/>
          <a:p>
            <a:fld id="{6472964A-7EC4-4AB7-A8D9-DFF57C1E7283}" type="datetime1">
              <a:rPr lang="zh-CN" altLang="en-US" smtClean="0"/>
              <a:t>2025/11/6</a:t>
            </a:fld>
            <a:endParaRPr lang="en-US" altLang="zh-CN"/>
          </a:p>
        </p:txBody>
      </p:sp>
      <p:sp>
        <p:nvSpPr>
          <p:cNvPr id="326658" name="Rectangle 2"/>
          <p:cNvSpPr>
            <a:spLocks noGrp="1" noChangeArrowheads="1"/>
          </p:cNvSpPr>
          <p:nvPr>
            <p:ph type="title"/>
          </p:nvPr>
        </p:nvSpPr>
        <p:spPr/>
        <p:txBody>
          <a:bodyPr/>
          <a:lstStyle/>
          <a:p>
            <a:r>
              <a:rPr lang="en-US" altLang="zh-CN" dirty="0"/>
              <a:t>8.4.2 </a:t>
            </a:r>
            <a:r>
              <a:rPr lang="zh-CN" altLang="en-US" dirty="0"/>
              <a:t>分解的无损连接性和保持函数依赖性</a:t>
            </a:r>
          </a:p>
        </p:txBody>
      </p:sp>
      <p:sp>
        <p:nvSpPr>
          <p:cNvPr id="4" name="页脚占位符 3">
            <a:extLst>
              <a:ext uri="{FF2B5EF4-FFF2-40B4-BE49-F238E27FC236}">
                <a16:creationId xmlns:a16="http://schemas.microsoft.com/office/drawing/2014/main" id="{A1E06FE6-3052-91EC-0C13-B3018EEA663C}"/>
              </a:ext>
            </a:extLst>
          </p:cNvPr>
          <p:cNvSpPr>
            <a:spLocks noGrp="1"/>
          </p:cNvSpPr>
          <p:nvPr>
            <p:ph type="ftr" sz="quarter" idx="11"/>
          </p:nvPr>
        </p:nvSpPr>
        <p:spPr/>
        <p:txBody>
          <a:bodyPr/>
          <a:lstStyle/>
          <a:p>
            <a:r>
              <a:rPr lang="en-US" altLang="zh-CN" dirty="0"/>
              <a:t>《</a:t>
            </a:r>
            <a:r>
              <a:rPr lang="en-US" altLang="zh-CN" dirty="0" err="1"/>
              <a:t>数据库系统概论</a:t>
            </a:r>
            <a:r>
              <a:rPr lang="en-US" altLang="zh-CN" dirty="0"/>
              <a:t>》- 第6章</a:t>
            </a:r>
          </a:p>
        </p:txBody>
      </p:sp>
      <p:sp>
        <p:nvSpPr>
          <p:cNvPr id="6" name="灯片编号占位符 5">
            <a:extLst>
              <a:ext uri="{FF2B5EF4-FFF2-40B4-BE49-F238E27FC236}">
                <a16:creationId xmlns:a16="http://schemas.microsoft.com/office/drawing/2014/main" id="{A836414F-C910-19E6-6CC4-8B36CA29B1A8}"/>
              </a:ext>
            </a:extLst>
          </p:cNvPr>
          <p:cNvSpPr>
            <a:spLocks noGrp="1"/>
          </p:cNvSpPr>
          <p:nvPr>
            <p:ph type="sldNum" sz="quarter" idx="12"/>
          </p:nvPr>
        </p:nvSpPr>
        <p:spPr/>
        <p:txBody>
          <a:bodyPr/>
          <a:lstStyle/>
          <a:p>
            <a:fld id="{A2D74603-B40B-4D66-8F6E-41C870D48932}" type="slidenum">
              <a:rPr lang="en-US" altLang="zh-CN" smtClean="0"/>
              <a:pPr/>
              <a:t>139</a:t>
            </a:fld>
            <a:r>
              <a:rPr lang="en-US" altLang="zh-CN"/>
              <a:t>/162</a:t>
            </a:r>
            <a:endParaRPr lang="en-US" altLang="zh-CN" dirty="0"/>
          </a:p>
        </p:txBody>
      </p:sp>
      <p:grpSp>
        <p:nvGrpSpPr>
          <p:cNvPr id="3" name="组合 2">
            <a:extLst>
              <a:ext uri="{FF2B5EF4-FFF2-40B4-BE49-F238E27FC236}">
                <a16:creationId xmlns:a16="http://schemas.microsoft.com/office/drawing/2014/main" id="{1375C9A7-3DD1-DF7C-9C83-152B481730A1}"/>
              </a:ext>
            </a:extLst>
          </p:cNvPr>
          <p:cNvGrpSpPr/>
          <p:nvPr/>
        </p:nvGrpSpPr>
        <p:grpSpPr>
          <a:xfrm>
            <a:off x="616496" y="1700808"/>
            <a:ext cx="8382000" cy="1492716"/>
            <a:chOff x="533400" y="3672533"/>
            <a:chExt cx="8382000" cy="1492716"/>
          </a:xfrm>
        </p:grpSpPr>
        <p:sp>
          <p:nvSpPr>
            <p:cNvPr id="2" name="矩形 1"/>
            <p:cNvSpPr/>
            <p:nvPr/>
          </p:nvSpPr>
          <p:spPr>
            <a:xfrm>
              <a:off x="533400" y="3672533"/>
              <a:ext cx="8382000" cy="1492716"/>
            </a:xfrm>
            <a:prstGeom prst="rect">
              <a:avLst/>
            </a:prstGeom>
            <a:solidFill>
              <a:schemeClr val="bg1"/>
            </a:solidFill>
          </p:spPr>
          <p:txBody>
            <a:bodyPr wrap="square">
              <a:spAutoFit/>
            </a:bodyPr>
            <a:lstStyle/>
            <a:p>
              <a:pPr algn="l">
                <a:spcBef>
                  <a:spcPct val="25000"/>
                </a:spcBef>
              </a:pPr>
              <a:r>
                <a:rPr lang="zh-CN" altLang="en-US" sz="2800" dirty="0">
                  <a:solidFill>
                    <a:srgbClr val="FF0000"/>
                  </a:solidFill>
                </a:rPr>
                <a:t>记号：</a:t>
              </a:r>
              <a:r>
                <a:rPr lang="en-US" altLang="zh-CN" sz="2800" dirty="0"/>
                <a:t> r </a:t>
              </a:r>
              <a:r>
                <a:rPr lang="zh-CN" altLang="en-US" sz="2800" dirty="0"/>
                <a:t>是</a:t>
              </a:r>
              <a:r>
                <a:rPr lang="en-US" altLang="zh-CN" sz="2800" dirty="0"/>
                <a:t>R&lt;U,F&gt;</a:t>
              </a:r>
              <a:r>
                <a:rPr lang="zh-CN" altLang="en-US" sz="2800" dirty="0"/>
                <a:t>的一个关系，定义：</a:t>
              </a:r>
              <a:endParaRPr lang="en-US" altLang="zh-CN" sz="2800" dirty="0"/>
            </a:p>
            <a:p>
              <a:pPr algn="l">
                <a:spcBef>
                  <a:spcPct val="25000"/>
                </a:spcBef>
              </a:pPr>
              <a:r>
                <a:rPr lang="zh-CN" altLang="en-US" sz="2800" dirty="0"/>
                <a:t> </a:t>
              </a:r>
              <a:r>
                <a:rPr lang="en-US" altLang="zh-CN" sz="2800" dirty="0" err="1">
                  <a:solidFill>
                    <a:srgbClr val="0000FF"/>
                  </a:solidFill>
                </a:rPr>
                <a:t>m</a:t>
              </a:r>
              <a:r>
                <a:rPr lang="en-US" altLang="zh-CN" sz="2800" baseline="-25000" dirty="0" err="1">
                  <a:solidFill>
                    <a:srgbClr val="0000FF"/>
                  </a:solidFill>
                </a:rPr>
                <a:t>ρ</a:t>
              </a:r>
              <a:r>
                <a:rPr lang="en-US" altLang="zh-CN" sz="2800" dirty="0">
                  <a:solidFill>
                    <a:srgbClr val="0000FF"/>
                  </a:solidFill>
                </a:rPr>
                <a:t>(r)</a:t>
              </a:r>
              <a:r>
                <a:rPr lang="zh-CN" altLang="en-US" sz="2800" dirty="0"/>
                <a:t>＝</a:t>
              </a:r>
              <a:r>
                <a:rPr lang="en-US" altLang="zh-CN" sz="2800" dirty="0"/>
                <a:t>π</a:t>
              </a:r>
              <a:r>
                <a:rPr lang="en-US" altLang="zh-CN" sz="2800" baseline="-25000" dirty="0"/>
                <a:t>R1 </a:t>
              </a:r>
              <a:r>
                <a:rPr lang="en-US" altLang="zh-CN" sz="2800" dirty="0"/>
                <a:t>(r)       π</a:t>
              </a:r>
              <a:r>
                <a:rPr lang="en-US" altLang="zh-CN" sz="2800" baseline="-25000" dirty="0"/>
                <a:t>R2</a:t>
              </a:r>
              <a:r>
                <a:rPr lang="en-US" altLang="zh-CN" sz="2800" dirty="0"/>
                <a:t>(r)       …      π</a:t>
              </a:r>
              <a:r>
                <a:rPr lang="en-US" altLang="zh-CN" sz="2800" baseline="-25000" dirty="0" err="1"/>
                <a:t>Rk</a:t>
              </a:r>
              <a:r>
                <a:rPr lang="en-US" altLang="zh-CN" sz="2800" dirty="0"/>
                <a:t>(r) </a:t>
              </a:r>
              <a:r>
                <a:rPr lang="zh-CN" altLang="en-US" sz="2800" dirty="0"/>
                <a:t>，即</a:t>
              </a:r>
              <a:r>
                <a:rPr lang="en-US" altLang="zh-CN" sz="2800" dirty="0"/>
                <a:t>r</a:t>
              </a:r>
              <a:r>
                <a:rPr lang="zh-CN" altLang="en-US" sz="2800" dirty="0"/>
                <a:t>在</a:t>
              </a:r>
              <a:r>
                <a:rPr lang="en-US" altLang="zh-CN" sz="2800" dirty="0">
                  <a:solidFill>
                    <a:srgbClr val="FF0000"/>
                  </a:solidFill>
                </a:rPr>
                <a:t>ρ</a:t>
              </a:r>
              <a:r>
                <a:rPr lang="zh-CN" altLang="en-US" sz="2800" dirty="0"/>
                <a:t>中</a:t>
              </a:r>
              <a:r>
                <a:rPr lang="zh-CN" altLang="en-US" sz="2800" u="sng" dirty="0">
                  <a:solidFill>
                    <a:srgbClr val="0000FF"/>
                  </a:solidFill>
                </a:rPr>
                <a:t>各子关系模式</a:t>
              </a:r>
              <a:r>
                <a:rPr lang="zh-CN" altLang="en-US" sz="2800" u="sng" dirty="0"/>
                <a:t>上</a:t>
              </a:r>
              <a:r>
                <a:rPr lang="zh-CN" altLang="en-US" sz="2800" b="1" u="sng" dirty="0">
                  <a:solidFill>
                    <a:srgbClr val="0000FF"/>
                  </a:solidFill>
                </a:rPr>
                <a:t>投影</a:t>
              </a:r>
              <a:r>
                <a:rPr lang="zh-CN" altLang="en-US" sz="2800" b="1" u="sng" dirty="0"/>
                <a:t>的</a:t>
              </a:r>
              <a:r>
                <a:rPr lang="zh-CN" altLang="en-US" sz="2800" b="1" u="sng" dirty="0">
                  <a:solidFill>
                    <a:srgbClr val="0000FF"/>
                  </a:solidFill>
                </a:rPr>
                <a:t>连接</a:t>
              </a:r>
              <a:r>
                <a:rPr lang="zh-CN" altLang="en-US" sz="2800" dirty="0"/>
                <a:t>。</a:t>
              </a:r>
              <a:endParaRPr lang="zh-CN" altLang="en-US" sz="2800" dirty="0">
                <a:solidFill>
                  <a:schemeClr val="hlink"/>
                </a:solidFill>
                <a:latin typeface="+mn-lt"/>
              </a:endParaRPr>
            </a:p>
          </p:txBody>
        </p:sp>
        <p:sp>
          <p:nvSpPr>
            <p:cNvPr id="21" name="AutoShape 4"/>
            <p:cNvSpPr>
              <a:spLocks noChangeArrowheads="1"/>
            </p:cNvSpPr>
            <p:nvPr/>
          </p:nvSpPr>
          <p:spPr bwMode="auto">
            <a:xfrm rot="5521025">
              <a:off x="3149553" y="4327350"/>
              <a:ext cx="228600" cy="381000"/>
            </a:xfrm>
            <a:prstGeom prst="flowChartCollate">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AutoShape 5"/>
            <p:cNvSpPr>
              <a:spLocks noChangeArrowheads="1"/>
            </p:cNvSpPr>
            <p:nvPr/>
          </p:nvSpPr>
          <p:spPr bwMode="auto">
            <a:xfrm rot="5521025">
              <a:off x="4821183" y="4367547"/>
              <a:ext cx="228600" cy="381000"/>
            </a:xfrm>
            <a:prstGeom prst="flowChartCollate">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AutoShape 6"/>
            <p:cNvSpPr>
              <a:spLocks noChangeArrowheads="1"/>
            </p:cNvSpPr>
            <p:nvPr/>
          </p:nvSpPr>
          <p:spPr bwMode="auto">
            <a:xfrm rot="5521025">
              <a:off x="5863495" y="4367547"/>
              <a:ext cx="228600" cy="381000"/>
            </a:xfrm>
            <a:prstGeom prst="flowChartCollate">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 name="Rectangle 3">
            <a:extLst>
              <a:ext uri="{FF2B5EF4-FFF2-40B4-BE49-F238E27FC236}">
                <a16:creationId xmlns:a16="http://schemas.microsoft.com/office/drawing/2014/main" id="{176288B1-60F8-5017-1C05-135A2F399C4D}"/>
              </a:ext>
            </a:extLst>
          </p:cNvPr>
          <p:cNvSpPr txBox="1">
            <a:spLocks noChangeArrowheads="1"/>
          </p:cNvSpPr>
          <p:nvPr/>
        </p:nvSpPr>
        <p:spPr bwMode="auto">
          <a:xfrm>
            <a:off x="631581" y="3429000"/>
            <a:ext cx="8345488" cy="2341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fontAlgn="base">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a:buFont typeface="Wingdings" pitchFamily="2" charset="2"/>
              <a:buNone/>
            </a:pPr>
            <a:r>
              <a:rPr kumimoji="0" lang="zh-CN" altLang="en-US" kern="0" dirty="0"/>
              <a:t>定义</a:t>
            </a:r>
            <a:r>
              <a:rPr kumimoji="0" lang="en-US" altLang="zh-CN" kern="0" dirty="0"/>
              <a:t>6.18 ρ</a:t>
            </a:r>
            <a:r>
              <a:rPr kumimoji="0" lang="zh-CN" altLang="en-US" kern="0" dirty="0"/>
              <a:t>＝</a:t>
            </a:r>
            <a:r>
              <a:rPr kumimoji="0" lang="en-US" altLang="zh-CN" kern="0" dirty="0"/>
              <a:t>{R</a:t>
            </a:r>
            <a:r>
              <a:rPr kumimoji="0" lang="en-US" altLang="zh-CN" kern="0" baseline="-25000" dirty="0"/>
              <a:t>1</a:t>
            </a:r>
            <a:r>
              <a:rPr kumimoji="0" lang="en-US" altLang="zh-CN" kern="0" dirty="0"/>
              <a:t>&lt;U</a:t>
            </a:r>
            <a:r>
              <a:rPr kumimoji="0" lang="en-US" altLang="zh-CN" kern="0" baseline="-25000" dirty="0"/>
              <a:t>1</a:t>
            </a:r>
            <a:r>
              <a:rPr kumimoji="0" lang="en-US" altLang="zh-CN" kern="0" dirty="0"/>
              <a:t>,F</a:t>
            </a:r>
            <a:r>
              <a:rPr kumimoji="0" lang="en-US" altLang="zh-CN" kern="0" baseline="-25000" dirty="0"/>
              <a:t>1</a:t>
            </a:r>
            <a:r>
              <a:rPr kumimoji="0" lang="en-US" altLang="zh-CN" kern="0" dirty="0"/>
              <a:t>&gt;</a:t>
            </a:r>
            <a:r>
              <a:rPr kumimoji="0" lang="zh-CN" altLang="en-US" kern="0" dirty="0"/>
              <a:t>，</a:t>
            </a:r>
            <a:r>
              <a:rPr kumimoji="0" lang="en-US" altLang="zh-CN" kern="0" dirty="0"/>
              <a:t>R</a:t>
            </a:r>
            <a:r>
              <a:rPr kumimoji="0" lang="en-US" altLang="zh-CN" kern="0" baseline="-25000" dirty="0"/>
              <a:t>2</a:t>
            </a:r>
            <a:r>
              <a:rPr kumimoji="0" lang="en-US" altLang="zh-CN" kern="0" dirty="0"/>
              <a:t>&lt;U</a:t>
            </a:r>
            <a:r>
              <a:rPr kumimoji="0" lang="en-US" altLang="zh-CN" kern="0" baseline="-25000" dirty="0"/>
              <a:t>2</a:t>
            </a:r>
            <a:r>
              <a:rPr kumimoji="0" lang="en-US" altLang="zh-CN" kern="0" dirty="0"/>
              <a:t>,F</a:t>
            </a:r>
            <a:r>
              <a:rPr kumimoji="0" lang="en-US" altLang="zh-CN" kern="0" baseline="-25000" dirty="0"/>
              <a:t>2</a:t>
            </a:r>
            <a:r>
              <a:rPr kumimoji="0" lang="en-US" altLang="zh-CN" kern="0" dirty="0"/>
              <a:t>&gt;… </a:t>
            </a:r>
            <a:r>
              <a:rPr kumimoji="0" lang="en-US" altLang="zh-CN" kern="0" dirty="0" err="1"/>
              <a:t>R</a:t>
            </a:r>
            <a:r>
              <a:rPr kumimoji="0" lang="en-US" altLang="zh-CN" kern="0" baseline="-25000" dirty="0" err="1"/>
              <a:t>k</a:t>
            </a:r>
            <a:r>
              <a:rPr kumimoji="0" lang="en-US" altLang="zh-CN" kern="0" dirty="0"/>
              <a:t>&lt;U</a:t>
            </a:r>
            <a:r>
              <a:rPr kumimoji="0" lang="en-US" altLang="zh-CN" kern="0" baseline="-25000" dirty="0"/>
              <a:t>K</a:t>
            </a:r>
            <a:r>
              <a:rPr kumimoji="0" lang="en-US" altLang="zh-CN" kern="0" dirty="0"/>
              <a:t>,F</a:t>
            </a:r>
            <a:r>
              <a:rPr kumimoji="0" lang="en-US" altLang="zh-CN" kern="0" baseline="-25000" dirty="0"/>
              <a:t>K</a:t>
            </a:r>
            <a:r>
              <a:rPr kumimoji="0" lang="en-US" altLang="zh-CN" kern="0" dirty="0"/>
              <a:t>&gt;}</a:t>
            </a:r>
            <a:r>
              <a:rPr kumimoji="0" lang="zh-CN" altLang="en-US" kern="0" dirty="0"/>
              <a:t>是</a:t>
            </a:r>
            <a:r>
              <a:rPr kumimoji="0" lang="en-US" altLang="zh-CN" kern="0" dirty="0"/>
              <a:t>R&lt;U,F&gt;</a:t>
            </a:r>
            <a:r>
              <a:rPr kumimoji="0" lang="zh-CN" altLang="en-US" kern="0" dirty="0"/>
              <a:t>上的一个分解，若对于</a:t>
            </a:r>
            <a:r>
              <a:rPr kumimoji="0" lang="en-US" altLang="zh-CN" kern="0" dirty="0"/>
              <a:t>R&lt;U,F&gt;</a:t>
            </a:r>
            <a:r>
              <a:rPr kumimoji="0" lang="zh-CN" altLang="en-US" kern="0" dirty="0"/>
              <a:t>的</a:t>
            </a:r>
            <a:r>
              <a:rPr kumimoji="0" lang="zh-CN" altLang="en-US" kern="0" dirty="0">
                <a:solidFill>
                  <a:srgbClr val="0000FF"/>
                </a:solidFill>
              </a:rPr>
              <a:t>任一关系</a:t>
            </a:r>
            <a:r>
              <a:rPr kumimoji="0" lang="en-US" altLang="zh-CN" kern="0" dirty="0">
                <a:solidFill>
                  <a:srgbClr val="0000FF"/>
                </a:solidFill>
              </a:rPr>
              <a:t>r</a:t>
            </a:r>
            <a:r>
              <a:rPr kumimoji="0" lang="zh-CN" altLang="en-US" kern="0" dirty="0"/>
              <a:t>，均有</a:t>
            </a:r>
            <a:r>
              <a:rPr kumimoji="0" lang="en-US" altLang="zh-CN" kern="0" dirty="0">
                <a:solidFill>
                  <a:srgbClr val="FF0000"/>
                </a:solidFill>
              </a:rPr>
              <a:t>r</a:t>
            </a:r>
            <a:r>
              <a:rPr kumimoji="0" lang="zh-CN" altLang="en-US" kern="0" dirty="0">
                <a:solidFill>
                  <a:srgbClr val="FF0000"/>
                </a:solidFill>
              </a:rPr>
              <a:t>＝</a:t>
            </a:r>
            <a:r>
              <a:rPr kumimoji="0" lang="en-US" altLang="zh-CN" kern="0" dirty="0" err="1">
                <a:solidFill>
                  <a:srgbClr val="FF0000"/>
                </a:solidFill>
              </a:rPr>
              <a:t>m</a:t>
            </a:r>
            <a:r>
              <a:rPr kumimoji="0" lang="en-US" altLang="zh-CN" kern="0" baseline="-25000" dirty="0" err="1">
                <a:solidFill>
                  <a:srgbClr val="FF0000"/>
                </a:solidFill>
              </a:rPr>
              <a:t>ρ</a:t>
            </a:r>
            <a:r>
              <a:rPr kumimoji="0" lang="en-US" altLang="zh-CN" kern="0" dirty="0">
                <a:solidFill>
                  <a:srgbClr val="FF0000"/>
                </a:solidFill>
              </a:rPr>
              <a:t>(r)</a:t>
            </a:r>
            <a:r>
              <a:rPr kumimoji="0" lang="zh-CN" altLang="en-US" kern="0" dirty="0"/>
              <a:t>成立，则</a:t>
            </a:r>
            <a:r>
              <a:rPr kumimoji="0" lang="en-US" altLang="zh-CN" kern="0" dirty="0">
                <a:solidFill>
                  <a:schemeClr val="tx2"/>
                </a:solidFill>
              </a:rPr>
              <a:t>ρ</a:t>
            </a:r>
            <a:r>
              <a:rPr kumimoji="0" lang="zh-CN" altLang="en-US" kern="0" dirty="0">
                <a:solidFill>
                  <a:schemeClr val="tx2"/>
                </a:solidFill>
              </a:rPr>
              <a:t>具有</a:t>
            </a:r>
            <a:r>
              <a:rPr kumimoji="0" lang="zh-CN" altLang="en-US" b="1" kern="0" dirty="0">
                <a:solidFill>
                  <a:srgbClr val="FF0000"/>
                </a:solidFill>
              </a:rPr>
              <a:t>无损连接性</a:t>
            </a:r>
            <a:r>
              <a:rPr kumimoji="0" lang="zh-CN" altLang="en-US" kern="0" dirty="0"/>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13A3DEB-8200-4254-97D1-BB68948B4634}" type="datetime1">
              <a:rPr lang="zh-CN" altLang="en-US" smtClean="0"/>
              <a:t>2025/11/6</a:t>
            </a:fld>
            <a:endParaRPr lang="en-US" altLang="zh-CN"/>
          </a:p>
        </p:txBody>
      </p:sp>
      <p:sp>
        <p:nvSpPr>
          <p:cNvPr id="7" name="Rectangle 3"/>
          <p:cNvSpPr txBox="1">
            <a:spLocks noChangeArrowheads="1"/>
          </p:cNvSpPr>
          <p:nvPr/>
        </p:nvSpPr>
        <p:spPr bwMode="auto">
          <a:xfrm>
            <a:off x="395536" y="1124744"/>
            <a:ext cx="2038350" cy="627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fontAlgn="base">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algn="ctr">
              <a:buFont typeface="Wingdings" pitchFamily="2" charset="2"/>
              <a:buNone/>
            </a:pPr>
            <a:r>
              <a:rPr kumimoji="0" lang="en-US" altLang="zh-CN" sz="2800" kern="0" dirty="0">
                <a:latin typeface="Times New Roman" panose="02020603050405020304" pitchFamily="18" charset="0"/>
                <a:cs typeface="Times New Roman" panose="02020603050405020304" pitchFamily="18" charset="0"/>
              </a:rPr>
              <a:t>R(A, B, C)</a:t>
            </a:r>
          </a:p>
        </p:txBody>
      </p:sp>
      <p:graphicFrame>
        <p:nvGraphicFramePr>
          <p:cNvPr id="8" name="Group 4"/>
          <p:cNvGraphicFramePr>
            <a:graphicFrameLocks noGrp="1"/>
          </p:cNvGraphicFramePr>
          <p:nvPr/>
        </p:nvGraphicFramePr>
        <p:xfrm>
          <a:off x="381000" y="1600200"/>
          <a:ext cx="2000250" cy="1371600"/>
        </p:xfrm>
        <a:graphic>
          <a:graphicData uri="http://schemas.openxmlformats.org/drawingml/2006/table">
            <a:tbl>
              <a:tblPr/>
              <a:tblGrid>
                <a:gridCol w="666750">
                  <a:extLst>
                    <a:ext uri="{9D8B030D-6E8A-4147-A177-3AD203B41FA5}">
                      <a16:colId xmlns:a16="http://schemas.microsoft.com/office/drawing/2014/main" val="20000"/>
                    </a:ext>
                  </a:extLst>
                </a:gridCol>
                <a:gridCol w="666750">
                  <a:extLst>
                    <a:ext uri="{9D8B030D-6E8A-4147-A177-3AD203B41FA5}">
                      <a16:colId xmlns:a16="http://schemas.microsoft.com/office/drawing/2014/main" val="20001"/>
                    </a:ext>
                  </a:extLst>
                </a:gridCol>
                <a:gridCol w="666750">
                  <a:extLst>
                    <a:ext uri="{9D8B030D-6E8A-4147-A177-3AD203B41FA5}">
                      <a16:colId xmlns:a16="http://schemas.microsoft.com/office/drawing/2014/main" val="20002"/>
                    </a:ext>
                  </a:extLst>
                </a:gridCol>
              </a:tblGrid>
              <a:tr h="165100">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华文新魏" pitchFamily="2"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华文新魏"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华文新魏" pitchFamily="2" charset="-122"/>
                        </a:rPr>
                        <a:t>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65100">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65100">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dirty="0">
                          <a:ln>
                            <a:noFill/>
                          </a:ln>
                          <a:solidFill>
                            <a:schemeClr val="tx1"/>
                          </a:solidFill>
                          <a:effectLst/>
                          <a:latin typeface="Tahoma" pitchFamily="34" charset="0"/>
                          <a:ea typeface="华文新魏"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9" name="Group 22"/>
          <p:cNvGraphicFramePr>
            <a:graphicFrameLocks noGrp="1"/>
          </p:cNvGraphicFramePr>
          <p:nvPr/>
        </p:nvGraphicFramePr>
        <p:xfrm>
          <a:off x="2838450" y="1600200"/>
          <a:ext cx="1333500" cy="1371600"/>
        </p:xfrm>
        <a:graphic>
          <a:graphicData uri="http://schemas.openxmlformats.org/drawingml/2006/table">
            <a:tbl>
              <a:tblPr/>
              <a:tblGrid>
                <a:gridCol w="685800">
                  <a:extLst>
                    <a:ext uri="{9D8B030D-6E8A-4147-A177-3AD203B41FA5}">
                      <a16:colId xmlns:a16="http://schemas.microsoft.com/office/drawing/2014/main" val="20000"/>
                    </a:ext>
                  </a:extLst>
                </a:gridCol>
                <a:gridCol w="647700">
                  <a:extLst>
                    <a:ext uri="{9D8B030D-6E8A-4147-A177-3AD203B41FA5}">
                      <a16:colId xmlns:a16="http://schemas.microsoft.com/office/drawing/2014/main" val="20001"/>
                    </a:ext>
                  </a:extLst>
                </a:gridCol>
              </a:tblGrid>
              <a:tr h="165100">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华文新魏" pitchFamily="2"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华文新魏" pitchFamily="2" charset="-122"/>
                        </a:rPr>
                        <a:t>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65100">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65100">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0" name="Group 36"/>
          <p:cNvGraphicFramePr>
            <a:graphicFrameLocks noGrp="1"/>
          </p:cNvGraphicFramePr>
          <p:nvPr/>
        </p:nvGraphicFramePr>
        <p:xfrm>
          <a:off x="4705350" y="1600200"/>
          <a:ext cx="1333500" cy="1371600"/>
        </p:xfrm>
        <a:graphic>
          <a:graphicData uri="http://schemas.openxmlformats.org/drawingml/2006/table">
            <a:tbl>
              <a:tblPr/>
              <a:tblGrid>
                <a:gridCol w="666750">
                  <a:extLst>
                    <a:ext uri="{9D8B030D-6E8A-4147-A177-3AD203B41FA5}">
                      <a16:colId xmlns:a16="http://schemas.microsoft.com/office/drawing/2014/main" val="20000"/>
                    </a:ext>
                  </a:extLst>
                </a:gridCol>
                <a:gridCol w="666750">
                  <a:extLst>
                    <a:ext uri="{9D8B030D-6E8A-4147-A177-3AD203B41FA5}">
                      <a16:colId xmlns:a16="http://schemas.microsoft.com/office/drawing/2014/main" val="20001"/>
                    </a:ext>
                  </a:extLst>
                </a:gridCol>
              </a:tblGrid>
              <a:tr h="165100">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华文新魏" pitchFamily="2" charset="-122"/>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华文新魏" pitchFamily="2" charset="-122"/>
                        </a:rPr>
                        <a:t>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65100">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65100">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1" name="Group 50"/>
          <p:cNvGraphicFramePr>
            <a:graphicFrameLocks noGrp="1"/>
          </p:cNvGraphicFramePr>
          <p:nvPr/>
        </p:nvGraphicFramePr>
        <p:xfrm>
          <a:off x="6648450" y="1600200"/>
          <a:ext cx="2000250" cy="1371600"/>
        </p:xfrm>
        <a:graphic>
          <a:graphicData uri="http://schemas.openxmlformats.org/drawingml/2006/table">
            <a:tbl>
              <a:tblPr/>
              <a:tblGrid>
                <a:gridCol w="666750">
                  <a:extLst>
                    <a:ext uri="{9D8B030D-6E8A-4147-A177-3AD203B41FA5}">
                      <a16:colId xmlns:a16="http://schemas.microsoft.com/office/drawing/2014/main" val="20000"/>
                    </a:ext>
                  </a:extLst>
                </a:gridCol>
                <a:gridCol w="666750">
                  <a:extLst>
                    <a:ext uri="{9D8B030D-6E8A-4147-A177-3AD203B41FA5}">
                      <a16:colId xmlns:a16="http://schemas.microsoft.com/office/drawing/2014/main" val="20001"/>
                    </a:ext>
                  </a:extLst>
                </a:gridCol>
                <a:gridCol w="666750">
                  <a:extLst>
                    <a:ext uri="{9D8B030D-6E8A-4147-A177-3AD203B41FA5}">
                      <a16:colId xmlns:a16="http://schemas.microsoft.com/office/drawing/2014/main" val="20002"/>
                    </a:ext>
                  </a:extLst>
                </a:gridCol>
              </a:tblGrid>
              <a:tr h="165100">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华文新魏" pitchFamily="2"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华文新魏"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华文新魏" pitchFamily="2" charset="-122"/>
                        </a:rPr>
                        <a:t>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65100">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65100">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2" name="Rectangle 68"/>
          <p:cNvSpPr>
            <a:spLocks noChangeArrowheads="1"/>
          </p:cNvSpPr>
          <p:nvPr/>
        </p:nvSpPr>
        <p:spPr bwMode="auto">
          <a:xfrm>
            <a:off x="2609850" y="1066800"/>
            <a:ext cx="1828800"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lgn="l">
              <a:spcBef>
                <a:spcPct val="0"/>
              </a:spcBef>
              <a:defRPr kumimoji="1" sz="2400">
                <a:solidFill>
                  <a:schemeClr val="tx1"/>
                </a:solidFill>
                <a:latin typeface="Times New Roman" pitchFamily="18" charset="0"/>
                <a:ea typeface="宋体" charset="-122"/>
              </a:defRPr>
            </a:lvl1pPr>
            <a:lvl2pPr marL="742950" indent="-285750" algn="l">
              <a:spcBef>
                <a:spcPct val="0"/>
              </a:spcBef>
              <a:defRPr kumimoji="1" sz="2400">
                <a:solidFill>
                  <a:schemeClr val="tx1"/>
                </a:solidFill>
                <a:latin typeface="Times New Roman" pitchFamily="18" charset="0"/>
                <a:ea typeface="宋体" charset="-122"/>
              </a:defRPr>
            </a:lvl2pPr>
            <a:lvl3pPr marL="1143000" indent="-228600" algn="l">
              <a:spcBef>
                <a:spcPct val="0"/>
              </a:spcBef>
              <a:defRPr kumimoji="1" sz="2400">
                <a:solidFill>
                  <a:schemeClr val="tx1"/>
                </a:solidFill>
                <a:latin typeface="Times New Roman" pitchFamily="18" charset="0"/>
                <a:ea typeface="宋体" charset="-122"/>
              </a:defRPr>
            </a:lvl3pPr>
            <a:lvl4pPr marL="1600200" indent="-228600" algn="l">
              <a:spcBef>
                <a:spcPct val="0"/>
              </a:spcBef>
              <a:defRPr kumimoji="1" sz="2400">
                <a:solidFill>
                  <a:schemeClr val="tx1"/>
                </a:solidFill>
                <a:latin typeface="Times New Roman" pitchFamily="18" charset="0"/>
                <a:ea typeface="宋体" charset="-122"/>
              </a:defRPr>
            </a:lvl4pPr>
            <a:lvl5pPr marL="2057400" indent="-228600" algn="l">
              <a:spcBef>
                <a:spcPct val="0"/>
              </a:spcBef>
              <a:defRPr kumimoji="1" sz="2400">
                <a:solidFill>
                  <a:schemeClr val="tx1"/>
                </a:solidFill>
                <a:latin typeface="Times New Roman" pitchFamily="18" charset="0"/>
                <a:ea typeface="宋体" charset="-122"/>
              </a:defRPr>
            </a:lvl5pPr>
            <a:lvl6pPr marL="2514600" indent="-228600" fontAlgn="base">
              <a:spcBef>
                <a:spcPct val="0"/>
              </a:spcBef>
              <a:spcAft>
                <a:spcPct val="0"/>
              </a:spcAft>
              <a:defRPr kumimoji="1" sz="2400">
                <a:solidFill>
                  <a:schemeClr val="tx1"/>
                </a:solidFill>
                <a:latin typeface="Times New Roman" pitchFamily="18" charset="0"/>
                <a:ea typeface="宋体" charset="-122"/>
              </a:defRPr>
            </a:lvl6pPr>
            <a:lvl7pPr marL="2971800" indent="-228600" fontAlgn="base">
              <a:spcBef>
                <a:spcPct val="0"/>
              </a:spcBef>
              <a:spcAft>
                <a:spcPct val="0"/>
              </a:spcAft>
              <a:defRPr kumimoji="1" sz="2400">
                <a:solidFill>
                  <a:schemeClr val="tx1"/>
                </a:solidFill>
                <a:latin typeface="Times New Roman" pitchFamily="18" charset="0"/>
                <a:ea typeface="宋体" charset="-122"/>
              </a:defRPr>
            </a:lvl7pPr>
            <a:lvl8pPr marL="3429000" indent="-228600" fontAlgn="base">
              <a:spcBef>
                <a:spcPct val="0"/>
              </a:spcBef>
              <a:spcAft>
                <a:spcPct val="0"/>
              </a:spcAft>
              <a:defRPr kumimoji="1" sz="2400">
                <a:solidFill>
                  <a:schemeClr val="tx1"/>
                </a:solidFill>
                <a:latin typeface="Times New Roman" pitchFamily="18" charset="0"/>
                <a:ea typeface="宋体" charset="-122"/>
              </a:defRPr>
            </a:lvl8pPr>
            <a:lvl9pPr marL="3886200" indent="-228600" fontAlgn="base">
              <a:spcBef>
                <a:spcPct val="0"/>
              </a:spcBef>
              <a:spcAft>
                <a:spcPct val="0"/>
              </a:spcAft>
              <a:defRPr kumimoji="1" sz="2400">
                <a:solidFill>
                  <a:schemeClr val="tx1"/>
                </a:solidFill>
                <a:latin typeface="Times New Roman" pitchFamily="18" charset="0"/>
                <a:ea typeface="宋体" charset="-122"/>
              </a:defRPr>
            </a:lvl9pPr>
          </a:lstStyle>
          <a:p>
            <a:pPr algn="ctr">
              <a:spcBef>
                <a:spcPct val="20000"/>
              </a:spcBef>
              <a:buClr>
                <a:schemeClr val="bg2"/>
              </a:buClr>
              <a:buFont typeface="Monotype Sorts" pitchFamily="2" charset="2"/>
              <a:buNone/>
            </a:pPr>
            <a:r>
              <a:rPr lang="zh-CN" altLang="en-US" sz="2800" b="0" dirty="0">
                <a:ea typeface="楷体_GB2312" pitchFamily="49" charset="-122"/>
              </a:rPr>
              <a:t>∏</a:t>
            </a:r>
            <a:r>
              <a:rPr lang="en-US" altLang="zh-CN" sz="2800" b="0" baseline="-16000" dirty="0">
                <a:ea typeface="楷体_GB2312" pitchFamily="49" charset="-122"/>
              </a:rPr>
              <a:t>AB</a:t>
            </a:r>
            <a:r>
              <a:rPr lang="en-US" altLang="zh-CN" sz="2800" b="0" dirty="0">
                <a:ea typeface="楷体_GB2312" pitchFamily="49" charset="-122"/>
              </a:rPr>
              <a:t>(R)</a:t>
            </a:r>
          </a:p>
        </p:txBody>
      </p:sp>
      <p:sp>
        <p:nvSpPr>
          <p:cNvPr id="13" name="Rectangle 69"/>
          <p:cNvSpPr>
            <a:spLocks noChangeArrowheads="1"/>
          </p:cNvSpPr>
          <p:nvPr/>
        </p:nvSpPr>
        <p:spPr bwMode="auto">
          <a:xfrm>
            <a:off x="4438650" y="1066800"/>
            <a:ext cx="1828800"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lgn="l">
              <a:spcBef>
                <a:spcPct val="0"/>
              </a:spcBef>
              <a:defRPr kumimoji="1" sz="2400">
                <a:solidFill>
                  <a:schemeClr val="tx1"/>
                </a:solidFill>
                <a:latin typeface="Times New Roman" pitchFamily="18" charset="0"/>
                <a:ea typeface="宋体" charset="-122"/>
              </a:defRPr>
            </a:lvl1pPr>
            <a:lvl2pPr marL="742950" indent="-285750" algn="l">
              <a:spcBef>
                <a:spcPct val="0"/>
              </a:spcBef>
              <a:defRPr kumimoji="1" sz="2400">
                <a:solidFill>
                  <a:schemeClr val="tx1"/>
                </a:solidFill>
                <a:latin typeface="Times New Roman" pitchFamily="18" charset="0"/>
                <a:ea typeface="宋体" charset="-122"/>
              </a:defRPr>
            </a:lvl2pPr>
            <a:lvl3pPr marL="1143000" indent="-228600" algn="l">
              <a:spcBef>
                <a:spcPct val="0"/>
              </a:spcBef>
              <a:defRPr kumimoji="1" sz="2400">
                <a:solidFill>
                  <a:schemeClr val="tx1"/>
                </a:solidFill>
                <a:latin typeface="Times New Roman" pitchFamily="18" charset="0"/>
                <a:ea typeface="宋体" charset="-122"/>
              </a:defRPr>
            </a:lvl3pPr>
            <a:lvl4pPr marL="1600200" indent="-228600" algn="l">
              <a:spcBef>
                <a:spcPct val="0"/>
              </a:spcBef>
              <a:defRPr kumimoji="1" sz="2400">
                <a:solidFill>
                  <a:schemeClr val="tx1"/>
                </a:solidFill>
                <a:latin typeface="Times New Roman" pitchFamily="18" charset="0"/>
                <a:ea typeface="宋体" charset="-122"/>
              </a:defRPr>
            </a:lvl4pPr>
            <a:lvl5pPr marL="2057400" indent="-228600" algn="l">
              <a:spcBef>
                <a:spcPct val="0"/>
              </a:spcBef>
              <a:defRPr kumimoji="1" sz="2400">
                <a:solidFill>
                  <a:schemeClr val="tx1"/>
                </a:solidFill>
                <a:latin typeface="Times New Roman" pitchFamily="18" charset="0"/>
                <a:ea typeface="宋体" charset="-122"/>
              </a:defRPr>
            </a:lvl5pPr>
            <a:lvl6pPr marL="2514600" indent="-228600" fontAlgn="base">
              <a:spcBef>
                <a:spcPct val="0"/>
              </a:spcBef>
              <a:spcAft>
                <a:spcPct val="0"/>
              </a:spcAft>
              <a:defRPr kumimoji="1" sz="2400">
                <a:solidFill>
                  <a:schemeClr val="tx1"/>
                </a:solidFill>
                <a:latin typeface="Times New Roman" pitchFamily="18" charset="0"/>
                <a:ea typeface="宋体" charset="-122"/>
              </a:defRPr>
            </a:lvl6pPr>
            <a:lvl7pPr marL="2971800" indent="-228600" fontAlgn="base">
              <a:spcBef>
                <a:spcPct val="0"/>
              </a:spcBef>
              <a:spcAft>
                <a:spcPct val="0"/>
              </a:spcAft>
              <a:defRPr kumimoji="1" sz="2400">
                <a:solidFill>
                  <a:schemeClr val="tx1"/>
                </a:solidFill>
                <a:latin typeface="Times New Roman" pitchFamily="18" charset="0"/>
                <a:ea typeface="宋体" charset="-122"/>
              </a:defRPr>
            </a:lvl7pPr>
            <a:lvl8pPr marL="3429000" indent="-228600" fontAlgn="base">
              <a:spcBef>
                <a:spcPct val="0"/>
              </a:spcBef>
              <a:spcAft>
                <a:spcPct val="0"/>
              </a:spcAft>
              <a:defRPr kumimoji="1" sz="2400">
                <a:solidFill>
                  <a:schemeClr val="tx1"/>
                </a:solidFill>
                <a:latin typeface="Times New Roman" pitchFamily="18" charset="0"/>
                <a:ea typeface="宋体" charset="-122"/>
              </a:defRPr>
            </a:lvl8pPr>
            <a:lvl9pPr marL="3886200" indent="-228600" fontAlgn="base">
              <a:spcBef>
                <a:spcPct val="0"/>
              </a:spcBef>
              <a:spcAft>
                <a:spcPct val="0"/>
              </a:spcAft>
              <a:defRPr kumimoji="1" sz="2400">
                <a:solidFill>
                  <a:schemeClr val="tx1"/>
                </a:solidFill>
                <a:latin typeface="Times New Roman" pitchFamily="18" charset="0"/>
                <a:ea typeface="宋体" charset="-122"/>
              </a:defRPr>
            </a:lvl9pPr>
          </a:lstStyle>
          <a:p>
            <a:pPr algn="ctr">
              <a:spcBef>
                <a:spcPct val="20000"/>
              </a:spcBef>
              <a:buClr>
                <a:schemeClr val="bg2"/>
              </a:buClr>
              <a:buFont typeface="Monotype Sorts" pitchFamily="2" charset="2"/>
              <a:buNone/>
            </a:pPr>
            <a:r>
              <a:rPr lang="zh-CN" altLang="en-US" sz="2800" b="0" dirty="0">
                <a:ea typeface="楷体_GB2312" pitchFamily="49" charset="-122"/>
              </a:rPr>
              <a:t>∏</a:t>
            </a:r>
            <a:r>
              <a:rPr lang="en-US" altLang="zh-CN" sz="2800" b="0" baseline="-16000" dirty="0">
                <a:ea typeface="楷体_GB2312" pitchFamily="49" charset="-122"/>
              </a:rPr>
              <a:t>BC</a:t>
            </a:r>
            <a:r>
              <a:rPr lang="en-US" altLang="zh-CN" sz="2800" b="0" dirty="0">
                <a:ea typeface="楷体_GB2312" pitchFamily="49" charset="-122"/>
              </a:rPr>
              <a:t>(R)</a:t>
            </a:r>
          </a:p>
        </p:txBody>
      </p:sp>
      <p:grpSp>
        <p:nvGrpSpPr>
          <p:cNvPr id="14" name="Group 70"/>
          <p:cNvGrpSpPr>
            <a:grpSpLocks/>
          </p:cNvGrpSpPr>
          <p:nvPr/>
        </p:nvGrpSpPr>
        <p:grpSpPr bwMode="auto">
          <a:xfrm>
            <a:off x="6019801" y="1066800"/>
            <a:ext cx="3052763" cy="609600"/>
            <a:chOff x="3792" y="672"/>
            <a:chExt cx="1923" cy="384"/>
          </a:xfrm>
        </p:grpSpPr>
        <p:sp>
          <p:nvSpPr>
            <p:cNvPr id="15" name="Rectangle 71"/>
            <p:cNvSpPr>
              <a:spLocks noChangeArrowheads="1"/>
            </p:cNvSpPr>
            <p:nvPr/>
          </p:nvSpPr>
          <p:spPr bwMode="auto">
            <a:xfrm>
              <a:off x="3792" y="672"/>
              <a:ext cx="1152" cy="3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lgn="l">
                <a:spcBef>
                  <a:spcPct val="0"/>
                </a:spcBef>
                <a:defRPr kumimoji="1" sz="2400">
                  <a:solidFill>
                    <a:schemeClr val="tx1"/>
                  </a:solidFill>
                  <a:latin typeface="Times New Roman" pitchFamily="18" charset="0"/>
                  <a:ea typeface="宋体" charset="-122"/>
                </a:defRPr>
              </a:lvl1pPr>
              <a:lvl2pPr marL="742950" indent="-285750" algn="l">
                <a:spcBef>
                  <a:spcPct val="0"/>
                </a:spcBef>
                <a:defRPr kumimoji="1" sz="2400">
                  <a:solidFill>
                    <a:schemeClr val="tx1"/>
                  </a:solidFill>
                  <a:latin typeface="Times New Roman" pitchFamily="18" charset="0"/>
                  <a:ea typeface="宋体" charset="-122"/>
                </a:defRPr>
              </a:lvl2pPr>
              <a:lvl3pPr marL="1143000" indent="-228600" algn="l">
                <a:spcBef>
                  <a:spcPct val="0"/>
                </a:spcBef>
                <a:defRPr kumimoji="1" sz="2400">
                  <a:solidFill>
                    <a:schemeClr val="tx1"/>
                  </a:solidFill>
                  <a:latin typeface="Times New Roman" pitchFamily="18" charset="0"/>
                  <a:ea typeface="宋体" charset="-122"/>
                </a:defRPr>
              </a:lvl3pPr>
              <a:lvl4pPr marL="1600200" indent="-228600" algn="l">
                <a:spcBef>
                  <a:spcPct val="0"/>
                </a:spcBef>
                <a:defRPr kumimoji="1" sz="2400">
                  <a:solidFill>
                    <a:schemeClr val="tx1"/>
                  </a:solidFill>
                  <a:latin typeface="Times New Roman" pitchFamily="18" charset="0"/>
                  <a:ea typeface="宋体" charset="-122"/>
                </a:defRPr>
              </a:lvl4pPr>
              <a:lvl5pPr marL="2057400" indent="-228600" algn="l">
                <a:spcBef>
                  <a:spcPct val="0"/>
                </a:spcBef>
                <a:defRPr kumimoji="1" sz="2400">
                  <a:solidFill>
                    <a:schemeClr val="tx1"/>
                  </a:solidFill>
                  <a:latin typeface="Times New Roman" pitchFamily="18" charset="0"/>
                  <a:ea typeface="宋体" charset="-122"/>
                </a:defRPr>
              </a:lvl5pPr>
              <a:lvl6pPr marL="2514600" indent="-228600" fontAlgn="base">
                <a:spcBef>
                  <a:spcPct val="0"/>
                </a:spcBef>
                <a:spcAft>
                  <a:spcPct val="0"/>
                </a:spcAft>
                <a:defRPr kumimoji="1" sz="2400">
                  <a:solidFill>
                    <a:schemeClr val="tx1"/>
                  </a:solidFill>
                  <a:latin typeface="Times New Roman" pitchFamily="18" charset="0"/>
                  <a:ea typeface="宋体" charset="-122"/>
                </a:defRPr>
              </a:lvl6pPr>
              <a:lvl7pPr marL="2971800" indent="-228600" fontAlgn="base">
                <a:spcBef>
                  <a:spcPct val="0"/>
                </a:spcBef>
                <a:spcAft>
                  <a:spcPct val="0"/>
                </a:spcAft>
                <a:defRPr kumimoji="1" sz="2400">
                  <a:solidFill>
                    <a:schemeClr val="tx1"/>
                  </a:solidFill>
                  <a:latin typeface="Times New Roman" pitchFamily="18" charset="0"/>
                  <a:ea typeface="宋体" charset="-122"/>
                </a:defRPr>
              </a:lvl7pPr>
              <a:lvl8pPr marL="3429000" indent="-228600" fontAlgn="base">
                <a:spcBef>
                  <a:spcPct val="0"/>
                </a:spcBef>
                <a:spcAft>
                  <a:spcPct val="0"/>
                </a:spcAft>
                <a:defRPr kumimoji="1" sz="2400">
                  <a:solidFill>
                    <a:schemeClr val="tx1"/>
                  </a:solidFill>
                  <a:latin typeface="Times New Roman" pitchFamily="18" charset="0"/>
                  <a:ea typeface="宋体" charset="-122"/>
                </a:defRPr>
              </a:lvl8pPr>
              <a:lvl9pPr marL="3886200" indent="-228600" fontAlgn="base">
                <a:spcBef>
                  <a:spcPct val="0"/>
                </a:spcBef>
                <a:spcAft>
                  <a:spcPct val="0"/>
                </a:spcAft>
                <a:defRPr kumimoji="1" sz="2400">
                  <a:solidFill>
                    <a:schemeClr val="tx1"/>
                  </a:solidFill>
                  <a:latin typeface="Times New Roman" pitchFamily="18" charset="0"/>
                  <a:ea typeface="宋体" charset="-122"/>
                </a:defRPr>
              </a:lvl9pPr>
            </a:lstStyle>
            <a:p>
              <a:pPr algn="ctr">
                <a:spcBef>
                  <a:spcPct val="20000"/>
                </a:spcBef>
                <a:buClr>
                  <a:schemeClr val="bg2"/>
                </a:buClr>
                <a:buFont typeface="Monotype Sorts" pitchFamily="2" charset="2"/>
                <a:buNone/>
              </a:pPr>
              <a:r>
                <a:rPr lang="zh-CN" altLang="en-US" sz="2800" b="0">
                  <a:ea typeface="楷体_GB2312" pitchFamily="49" charset="-122"/>
                </a:rPr>
                <a:t>∏</a:t>
              </a:r>
              <a:r>
                <a:rPr lang="en-US" altLang="zh-CN" sz="2800" b="0" baseline="-16000">
                  <a:ea typeface="楷体_GB2312" pitchFamily="49" charset="-122"/>
                </a:rPr>
                <a:t>AB</a:t>
              </a:r>
              <a:r>
                <a:rPr lang="en-US" altLang="zh-CN" sz="2800" b="0">
                  <a:ea typeface="楷体_GB2312" pitchFamily="49" charset="-122"/>
                </a:rPr>
                <a:t>(R)</a:t>
              </a:r>
            </a:p>
          </p:txBody>
        </p:sp>
        <p:sp>
          <p:nvSpPr>
            <p:cNvPr id="16" name="Rectangle 72"/>
            <p:cNvSpPr>
              <a:spLocks noChangeArrowheads="1"/>
            </p:cNvSpPr>
            <p:nvPr/>
          </p:nvSpPr>
          <p:spPr bwMode="auto">
            <a:xfrm>
              <a:off x="4911" y="672"/>
              <a:ext cx="804" cy="3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lgn="l">
                <a:spcBef>
                  <a:spcPct val="0"/>
                </a:spcBef>
                <a:defRPr kumimoji="1" sz="2400">
                  <a:solidFill>
                    <a:schemeClr val="tx1"/>
                  </a:solidFill>
                  <a:latin typeface="Times New Roman" pitchFamily="18" charset="0"/>
                  <a:ea typeface="宋体" charset="-122"/>
                </a:defRPr>
              </a:lvl1pPr>
              <a:lvl2pPr marL="742950" indent="-285750" algn="l">
                <a:spcBef>
                  <a:spcPct val="0"/>
                </a:spcBef>
                <a:defRPr kumimoji="1" sz="2400">
                  <a:solidFill>
                    <a:schemeClr val="tx1"/>
                  </a:solidFill>
                  <a:latin typeface="Times New Roman" pitchFamily="18" charset="0"/>
                  <a:ea typeface="宋体" charset="-122"/>
                </a:defRPr>
              </a:lvl2pPr>
              <a:lvl3pPr marL="1143000" indent="-228600" algn="l">
                <a:spcBef>
                  <a:spcPct val="0"/>
                </a:spcBef>
                <a:defRPr kumimoji="1" sz="2400">
                  <a:solidFill>
                    <a:schemeClr val="tx1"/>
                  </a:solidFill>
                  <a:latin typeface="Times New Roman" pitchFamily="18" charset="0"/>
                  <a:ea typeface="宋体" charset="-122"/>
                </a:defRPr>
              </a:lvl3pPr>
              <a:lvl4pPr marL="1600200" indent="-228600" algn="l">
                <a:spcBef>
                  <a:spcPct val="0"/>
                </a:spcBef>
                <a:defRPr kumimoji="1" sz="2400">
                  <a:solidFill>
                    <a:schemeClr val="tx1"/>
                  </a:solidFill>
                  <a:latin typeface="Times New Roman" pitchFamily="18" charset="0"/>
                  <a:ea typeface="宋体" charset="-122"/>
                </a:defRPr>
              </a:lvl4pPr>
              <a:lvl5pPr marL="2057400" indent="-228600" algn="l">
                <a:spcBef>
                  <a:spcPct val="0"/>
                </a:spcBef>
                <a:defRPr kumimoji="1" sz="2400">
                  <a:solidFill>
                    <a:schemeClr val="tx1"/>
                  </a:solidFill>
                  <a:latin typeface="Times New Roman" pitchFamily="18" charset="0"/>
                  <a:ea typeface="宋体" charset="-122"/>
                </a:defRPr>
              </a:lvl5pPr>
              <a:lvl6pPr marL="2514600" indent="-228600" fontAlgn="base">
                <a:spcBef>
                  <a:spcPct val="0"/>
                </a:spcBef>
                <a:spcAft>
                  <a:spcPct val="0"/>
                </a:spcAft>
                <a:defRPr kumimoji="1" sz="2400">
                  <a:solidFill>
                    <a:schemeClr val="tx1"/>
                  </a:solidFill>
                  <a:latin typeface="Times New Roman" pitchFamily="18" charset="0"/>
                  <a:ea typeface="宋体" charset="-122"/>
                </a:defRPr>
              </a:lvl6pPr>
              <a:lvl7pPr marL="2971800" indent="-228600" fontAlgn="base">
                <a:spcBef>
                  <a:spcPct val="0"/>
                </a:spcBef>
                <a:spcAft>
                  <a:spcPct val="0"/>
                </a:spcAft>
                <a:defRPr kumimoji="1" sz="2400">
                  <a:solidFill>
                    <a:schemeClr val="tx1"/>
                  </a:solidFill>
                  <a:latin typeface="Times New Roman" pitchFamily="18" charset="0"/>
                  <a:ea typeface="宋体" charset="-122"/>
                </a:defRPr>
              </a:lvl7pPr>
              <a:lvl8pPr marL="3429000" indent="-228600" fontAlgn="base">
                <a:spcBef>
                  <a:spcPct val="0"/>
                </a:spcBef>
                <a:spcAft>
                  <a:spcPct val="0"/>
                </a:spcAft>
                <a:defRPr kumimoji="1" sz="2400">
                  <a:solidFill>
                    <a:schemeClr val="tx1"/>
                  </a:solidFill>
                  <a:latin typeface="Times New Roman" pitchFamily="18" charset="0"/>
                  <a:ea typeface="宋体" charset="-122"/>
                </a:defRPr>
              </a:lvl8pPr>
              <a:lvl9pPr marL="3886200" indent="-228600" fontAlgn="base">
                <a:spcBef>
                  <a:spcPct val="0"/>
                </a:spcBef>
                <a:spcAft>
                  <a:spcPct val="0"/>
                </a:spcAft>
                <a:defRPr kumimoji="1" sz="2400">
                  <a:solidFill>
                    <a:schemeClr val="tx1"/>
                  </a:solidFill>
                  <a:latin typeface="Times New Roman" pitchFamily="18" charset="0"/>
                  <a:ea typeface="宋体" charset="-122"/>
                </a:defRPr>
              </a:lvl9pPr>
            </a:lstStyle>
            <a:p>
              <a:pPr algn="ctr">
                <a:spcBef>
                  <a:spcPct val="20000"/>
                </a:spcBef>
                <a:buClr>
                  <a:schemeClr val="bg2"/>
                </a:buClr>
                <a:buFont typeface="Monotype Sorts" pitchFamily="2" charset="2"/>
                <a:buNone/>
              </a:pPr>
              <a:r>
                <a:rPr lang="zh-CN" altLang="en-US" sz="2800" b="0" dirty="0">
                  <a:ea typeface="楷体_GB2312" pitchFamily="49" charset="-122"/>
                </a:rPr>
                <a:t>∏</a:t>
              </a:r>
              <a:r>
                <a:rPr lang="en-US" altLang="zh-CN" sz="2800" b="0" baseline="-16000" dirty="0">
                  <a:ea typeface="楷体_GB2312" pitchFamily="49" charset="-122"/>
                </a:rPr>
                <a:t>BC</a:t>
              </a:r>
              <a:r>
                <a:rPr lang="en-US" altLang="zh-CN" sz="2800" b="0" dirty="0">
                  <a:ea typeface="楷体_GB2312" pitchFamily="49" charset="-122"/>
                </a:rPr>
                <a:t>(R)</a:t>
              </a:r>
            </a:p>
          </p:txBody>
        </p:sp>
        <p:sp>
          <p:nvSpPr>
            <p:cNvPr id="17" name="AutoShape 73"/>
            <p:cNvSpPr>
              <a:spLocks noChangeArrowheads="1"/>
            </p:cNvSpPr>
            <p:nvPr/>
          </p:nvSpPr>
          <p:spPr bwMode="auto">
            <a:xfrm rot="5400000">
              <a:off x="4764" y="732"/>
              <a:ext cx="144" cy="216"/>
            </a:xfrm>
            <a:prstGeom prst="flowChartCollate">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8" name="Rectangle 74"/>
          <p:cNvSpPr>
            <a:spLocks noChangeArrowheads="1"/>
          </p:cNvSpPr>
          <p:nvPr/>
        </p:nvSpPr>
        <p:spPr bwMode="auto">
          <a:xfrm>
            <a:off x="476250" y="3662363"/>
            <a:ext cx="1828800"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lgn="l">
              <a:spcBef>
                <a:spcPct val="0"/>
              </a:spcBef>
              <a:defRPr kumimoji="1" sz="2400">
                <a:solidFill>
                  <a:schemeClr val="tx1"/>
                </a:solidFill>
                <a:latin typeface="Times New Roman" pitchFamily="18" charset="0"/>
                <a:ea typeface="宋体" charset="-122"/>
              </a:defRPr>
            </a:lvl1pPr>
            <a:lvl2pPr marL="742950" indent="-285750" algn="l">
              <a:spcBef>
                <a:spcPct val="0"/>
              </a:spcBef>
              <a:defRPr kumimoji="1" sz="2400">
                <a:solidFill>
                  <a:schemeClr val="tx1"/>
                </a:solidFill>
                <a:latin typeface="Times New Roman" pitchFamily="18" charset="0"/>
                <a:ea typeface="宋体" charset="-122"/>
              </a:defRPr>
            </a:lvl2pPr>
            <a:lvl3pPr marL="1143000" indent="-228600" algn="l">
              <a:spcBef>
                <a:spcPct val="0"/>
              </a:spcBef>
              <a:defRPr kumimoji="1" sz="2400">
                <a:solidFill>
                  <a:schemeClr val="tx1"/>
                </a:solidFill>
                <a:latin typeface="Times New Roman" pitchFamily="18" charset="0"/>
                <a:ea typeface="宋体" charset="-122"/>
              </a:defRPr>
            </a:lvl3pPr>
            <a:lvl4pPr marL="1600200" indent="-228600" algn="l">
              <a:spcBef>
                <a:spcPct val="0"/>
              </a:spcBef>
              <a:defRPr kumimoji="1" sz="2400">
                <a:solidFill>
                  <a:schemeClr val="tx1"/>
                </a:solidFill>
                <a:latin typeface="Times New Roman" pitchFamily="18" charset="0"/>
                <a:ea typeface="宋体" charset="-122"/>
              </a:defRPr>
            </a:lvl4pPr>
            <a:lvl5pPr marL="2057400" indent="-228600" algn="l">
              <a:spcBef>
                <a:spcPct val="0"/>
              </a:spcBef>
              <a:defRPr kumimoji="1" sz="2400">
                <a:solidFill>
                  <a:schemeClr val="tx1"/>
                </a:solidFill>
                <a:latin typeface="Times New Roman" pitchFamily="18" charset="0"/>
                <a:ea typeface="宋体" charset="-122"/>
              </a:defRPr>
            </a:lvl5pPr>
            <a:lvl6pPr marL="2514600" indent="-228600" fontAlgn="base">
              <a:spcBef>
                <a:spcPct val="0"/>
              </a:spcBef>
              <a:spcAft>
                <a:spcPct val="0"/>
              </a:spcAft>
              <a:defRPr kumimoji="1" sz="2400">
                <a:solidFill>
                  <a:schemeClr val="tx1"/>
                </a:solidFill>
                <a:latin typeface="Times New Roman" pitchFamily="18" charset="0"/>
                <a:ea typeface="宋体" charset="-122"/>
              </a:defRPr>
            </a:lvl6pPr>
            <a:lvl7pPr marL="2971800" indent="-228600" fontAlgn="base">
              <a:spcBef>
                <a:spcPct val="0"/>
              </a:spcBef>
              <a:spcAft>
                <a:spcPct val="0"/>
              </a:spcAft>
              <a:defRPr kumimoji="1" sz="2400">
                <a:solidFill>
                  <a:schemeClr val="tx1"/>
                </a:solidFill>
                <a:latin typeface="Times New Roman" pitchFamily="18" charset="0"/>
                <a:ea typeface="宋体" charset="-122"/>
              </a:defRPr>
            </a:lvl7pPr>
            <a:lvl8pPr marL="3429000" indent="-228600" fontAlgn="base">
              <a:spcBef>
                <a:spcPct val="0"/>
              </a:spcBef>
              <a:spcAft>
                <a:spcPct val="0"/>
              </a:spcAft>
              <a:defRPr kumimoji="1" sz="2400">
                <a:solidFill>
                  <a:schemeClr val="tx1"/>
                </a:solidFill>
                <a:latin typeface="Times New Roman" pitchFamily="18" charset="0"/>
                <a:ea typeface="宋体" charset="-122"/>
              </a:defRPr>
            </a:lvl8pPr>
            <a:lvl9pPr marL="3886200" indent="-228600" fontAlgn="base">
              <a:spcBef>
                <a:spcPct val="0"/>
              </a:spcBef>
              <a:spcAft>
                <a:spcPct val="0"/>
              </a:spcAft>
              <a:defRPr kumimoji="1" sz="2400">
                <a:solidFill>
                  <a:schemeClr val="tx1"/>
                </a:solidFill>
                <a:latin typeface="Times New Roman" pitchFamily="18" charset="0"/>
                <a:ea typeface="宋体" charset="-122"/>
              </a:defRPr>
            </a:lvl9pPr>
          </a:lstStyle>
          <a:p>
            <a:pPr algn="ctr">
              <a:spcBef>
                <a:spcPct val="20000"/>
              </a:spcBef>
              <a:buClr>
                <a:schemeClr val="bg2"/>
              </a:buClr>
              <a:buFont typeface="Monotype Sorts" pitchFamily="2" charset="2"/>
              <a:buNone/>
            </a:pPr>
            <a:r>
              <a:rPr lang="en-US" altLang="zh-CN" sz="2800" b="0" dirty="0">
                <a:ea typeface="楷体_GB2312" pitchFamily="49" charset="-122"/>
              </a:rPr>
              <a:t>R(A, B, C)</a:t>
            </a:r>
          </a:p>
        </p:txBody>
      </p:sp>
      <p:graphicFrame>
        <p:nvGraphicFramePr>
          <p:cNvPr id="19" name="Group 75"/>
          <p:cNvGraphicFramePr>
            <a:graphicFrameLocks noGrp="1"/>
          </p:cNvGraphicFramePr>
          <p:nvPr/>
        </p:nvGraphicFramePr>
        <p:xfrm>
          <a:off x="381000" y="4271963"/>
          <a:ext cx="2000250" cy="1371600"/>
        </p:xfrm>
        <a:graphic>
          <a:graphicData uri="http://schemas.openxmlformats.org/drawingml/2006/table">
            <a:tbl>
              <a:tblPr/>
              <a:tblGrid>
                <a:gridCol w="666750">
                  <a:extLst>
                    <a:ext uri="{9D8B030D-6E8A-4147-A177-3AD203B41FA5}">
                      <a16:colId xmlns:a16="http://schemas.microsoft.com/office/drawing/2014/main" val="20000"/>
                    </a:ext>
                  </a:extLst>
                </a:gridCol>
                <a:gridCol w="666750">
                  <a:extLst>
                    <a:ext uri="{9D8B030D-6E8A-4147-A177-3AD203B41FA5}">
                      <a16:colId xmlns:a16="http://schemas.microsoft.com/office/drawing/2014/main" val="20001"/>
                    </a:ext>
                  </a:extLst>
                </a:gridCol>
                <a:gridCol w="666750">
                  <a:extLst>
                    <a:ext uri="{9D8B030D-6E8A-4147-A177-3AD203B41FA5}">
                      <a16:colId xmlns:a16="http://schemas.microsoft.com/office/drawing/2014/main" val="20002"/>
                    </a:ext>
                  </a:extLst>
                </a:gridCol>
              </a:tblGrid>
              <a:tr h="165100">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华文新魏" pitchFamily="2"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华文新魏"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华文新魏" pitchFamily="2" charset="-122"/>
                        </a:rPr>
                        <a:t>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65100">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65100">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0" name="Group 93"/>
          <p:cNvGraphicFramePr>
            <a:graphicFrameLocks noGrp="1"/>
          </p:cNvGraphicFramePr>
          <p:nvPr/>
        </p:nvGraphicFramePr>
        <p:xfrm>
          <a:off x="2838450" y="4271963"/>
          <a:ext cx="1333500" cy="1371600"/>
        </p:xfrm>
        <a:graphic>
          <a:graphicData uri="http://schemas.openxmlformats.org/drawingml/2006/table">
            <a:tbl>
              <a:tblPr/>
              <a:tblGrid>
                <a:gridCol w="685800">
                  <a:extLst>
                    <a:ext uri="{9D8B030D-6E8A-4147-A177-3AD203B41FA5}">
                      <a16:colId xmlns:a16="http://schemas.microsoft.com/office/drawing/2014/main" val="20000"/>
                    </a:ext>
                  </a:extLst>
                </a:gridCol>
                <a:gridCol w="647700">
                  <a:extLst>
                    <a:ext uri="{9D8B030D-6E8A-4147-A177-3AD203B41FA5}">
                      <a16:colId xmlns:a16="http://schemas.microsoft.com/office/drawing/2014/main" val="20001"/>
                    </a:ext>
                  </a:extLst>
                </a:gridCol>
              </a:tblGrid>
              <a:tr h="165100">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华文新魏" pitchFamily="2"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华文新魏" pitchFamily="2" charset="-122"/>
                        </a:rPr>
                        <a:t>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65100">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65100">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1" name="Group 107"/>
          <p:cNvGraphicFramePr>
            <a:graphicFrameLocks noGrp="1"/>
          </p:cNvGraphicFramePr>
          <p:nvPr/>
        </p:nvGraphicFramePr>
        <p:xfrm>
          <a:off x="4705350" y="4271963"/>
          <a:ext cx="1333500" cy="1371600"/>
        </p:xfrm>
        <a:graphic>
          <a:graphicData uri="http://schemas.openxmlformats.org/drawingml/2006/table">
            <a:tbl>
              <a:tblPr/>
              <a:tblGrid>
                <a:gridCol w="666750">
                  <a:extLst>
                    <a:ext uri="{9D8B030D-6E8A-4147-A177-3AD203B41FA5}">
                      <a16:colId xmlns:a16="http://schemas.microsoft.com/office/drawing/2014/main" val="20000"/>
                    </a:ext>
                  </a:extLst>
                </a:gridCol>
                <a:gridCol w="666750">
                  <a:extLst>
                    <a:ext uri="{9D8B030D-6E8A-4147-A177-3AD203B41FA5}">
                      <a16:colId xmlns:a16="http://schemas.microsoft.com/office/drawing/2014/main" val="20001"/>
                    </a:ext>
                  </a:extLst>
                </a:gridCol>
              </a:tblGrid>
              <a:tr h="165100">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华文新魏" pitchFamily="2" charset="-122"/>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华文新魏" pitchFamily="2" charset="-122"/>
                        </a:rPr>
                        <a:t>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65100">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65100">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3" name="Rectangle 147"/>
          <p:cNvSpPr>
            <a:spLocks noChangeArrowheads="1"/>
          </p:cNvSpPr>
          <p:nvPr/>
        </p:nvSpPr>
        <p:spPr bwMode="auto">
          <a:xfrm>
            <a:off x="2609850" y="3738563"/>
            <a:ext cx="1828800"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lgn="l">
              <a:spcBef>
                <a:spcPct val="0"/>
              </a:spcBef>
              <a:defRPr kumimoji="1" sz="2400">
                <a:solidFill>
                  <a:schemeClr val="tx1"/>
                </a:solidFill>
                <a:latin typeface="Times New Roman" pitchFamily="18" charset="0"/>
                <a:ea typeface="宋体" charset="-122"/>
              </a:defRPr>
            </a:lvl1pPr>
            <a:lvl2pPr marL="742950" indent="-285750" algn="l">
              <a:spcBef>
                <a:spcPct val="0"/>
              </a:spcBef>
              <a:defRPr kumimoji="1" sz="2400">
                <a:solidFill>
                  <a:schemeClr val="tx1"/>
                </a:solidFill>
                <a:latin typeface="Times New Roman" pitchFamily="18" charset="0"/>
                <a:ea typeface="宋体" charset="-122"/>
              </a:defRPr>
            </a:lvl2pPr>
            <a:lvl3pPr marL="1143000" indent="-228600" algn="l">
              <a:spcBef>
                <a:spcPct val="0"/>
              </a:spcBef>
              <a:defRPr kumimoji="1" sz="2400">
                <a:solidFill>
                  <a:schemeClr val="tx1"/>
                </a:solidFill>
                <a:latin typeface="Times New Roman" pitchFamily="18" charset="0"/>
                <a:ea typeface="宋体" charset="-122"/>
              </a:defRPr>
            </a:lvl3pPr>
            <a:lvl4pPr marL="1600200" indent="-228600" algn="l">
              <a:spcBef>
                <a:spcPct val="0"/>
              </a:spcBef>
              <a:defRPr kumimoji="1" sz="2400">
                <a:solidFill>
                  <a:schemeClr val="tx1"/>
                </a:solidFill>
                <a:latin typeface="Times New Roman" pitchFamily="18" charset="0"/>
                <a:ea typeface="宋体" charset="-122"/>
              </a:defRPr>
            </a:lvl4pPr>
            <a:lvl5pPr marL="2057400" indent="-228600" algn="l">
              <a:spcBef>
                <a:spcPct val="0"/>
              </a:spcBef>
              <a:defRPr kumimoji="1" sz="2400">
                <a:solidFill>
                  <a:schemeClr val="tx1"/>
                </a:solidFill>
                <a:latin typeface="Times New Roman" pitchFamily="18" charset="0"/>
                <a:ea typeface="宋体" charset="-122"/>
              </a:defRPr>
            </a:lvl5pPr>
            <a:lvl6pPr marL="2514600" indent="-228600" fontAlgn="base">
              <a:spcBef>
                <a:spcPct val="0"/>
              </a:spcBef>
              <a:spcAft>
                <a:spcPct val="0"/>
              </a:spcAft>
              <a:defRPr kumimoji="1" sz="2400">
                <a:solidFill>
                  <a:schemeClr val="tx1"/>
                </a:solidFill>
                <a:latin typeface="Times New Roman" pitchFamily="18" charset="0"/>
                <a:ea typeface="宋体" charset="-122"/>
              </a:defRPr>
            </a:lvl6pPr>
            <a:lvl7pPr marL="2971800" indent="-228600" fontAlgn="base">
              <a:spcBef>
                <a:spcPct val="0"/>
              </a:spcBef>
              <a:spcAft>
                <a:spcPct val="0"/>
              </a:spcAft>
              <a:defRPr kumimoji="1" sz="2400">
                <a:solidFill>
                  <a:schemeClr val="tx1"/>
                </a:solidFill>
                <a:latin typeface="Times New Roman" pitchFamily="18" charset="0"/>
                <a:ea typeface="宋体" charset="-122"/>
              </a:defRPr>
            </a:lvl7pPr>
            <a:lvl8pPr marL="3429000" indent="-228600" fontAlgn="base">
              <a:spcBef>
                <a:spcPct val="0"/>
              </a:spcBef>
              <a:spcAft>
                <a:spcPct val="0"/>
              </a:spcAft>
              <a:defRPr kumimoji="1" sz="2400">
                <a:solidFill>
                  <a:schemeClr val="tx1"/>
                </a:solidFill>
                <a:latin typeface="Times New Roman" pitchFamily="18" charset="0"/>
                <a:ea typeface="宋体" charset="-122"/>
              </a:defRPr>
            </a:lvl8pPr>
            <a:lvl9pPr marL="3886200" indent="-228600" fontAlgn="base">
              <a:spcBef>
                <a:spcPct val="0"/>
              </a:spcBef>
              <a:spcAft>
                <a:spcPct val="0"/>
              </a:spcAft>
              <a:defRPr kumimoji="1" sz="2400">
                <a:solidFill>
                  <a:schemeClr val="tx1"/>
                </a:solidFill>
                <a:latin typeface="Times New Roman" pitchFamily="18" charset="0"/>
                <a:ea typeface="宋体" charset="-122"/>
              </a:defRPr>
            </a:lvl9pPr>
          </a:lstStyle>
          <a:p>
            <a:pPr algn="ctr">
              <a:spcBef>
                <a:spcPct val="20000"/>
              </a:spcBef>
              <a:buClr>
                <a:schemeClr val="bg2"/>
              </a:buClr>
              <a:buFont typeface="Monotype Sorts" pitchFamily="2" charset="2"/>
              <a:buNone/>
            </a:pPr>
            <a:r>
              <a:rPr lang="zh-CN" altLang="en-US" sz="2800" b="0">
                <a:ea typeface="楷体_GB2312" pitchFamily="49" charset="-122"/>
              </a:rPr>
              <a:t>∏</a:t>
            </a:r>
            <a:r>
              <a:rPr lang="en-US" altLang="zh-CN" sz="2800" b="0" baseline="-16000">
                <a:ea typeface="楷体_GB2312" pitchFamily="49" charset="-122"/>
              </a:rPr>
              <a:t>AB</a:t>
            </a:r>
            <a:r>
              <a:rPr lang="en-US" altLang="zh-CN" sz="2800" b="0">
                <a:ea typeface="楷体_GB2312" pitchFamily="49" charset="-122"/>
              </a:rPr>
              <a:t>(R)</a:t>
            </a:r>
          </a:p>
        </p:txBody>
      </p:sp>
      <p:sp>
        <p:nvSpPr>
          <p:cNvPr id="24" name="Rectangle 148"/>
          <p:cNvSpPr>
            <a:spLocks noChangeArrowheads="1"/>
          </p:cNvSpPr>
          <p:nvPr/>
        </p:nvSpPr>
        <p:spPr bwMode="auto">
          <a:xfrm>
            <a:off x="4438650" y="3738563"/>
            <a:ext cx="1828800"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lgn="l">
              <a:spcBef>
                <a:spcPct val="0"/>
              </a:spcBef>
              <a:defRPr kumimoji="1" sz="2400">
                <a:solidFill>
                  <a:schemeClr val="tx1"/>
                </a:solidFill>
                <a:latin typeface="Times New Roman" pitchFamily="18" charset="0"/>
                <a:ea typeface="宋体" charset="-122"/>
              </a:defRPr>
            </a:lvl1pPr>
            <a:lvl2pPr marL="742950" indent="-285750" algn="l">
              <a:spcBef>
                <a:spcPct val="0"/>
              </a:spcBef>
              <a:defRPr kumimoji="1" sz="2400">
                <a:solidFill>
                  <a:schemeClr val="tx1"/>
                </a:solidFill>
                <a:latin typeface="Times New Roman" pitchFamily="18" charset="0"/>
                <a:ea typeface="宋体" charset="-122"/>
              </a:defRPr>
            </a:lvl2pPr>
            <a:lvl3pPr marL="1143000" indent="-228600" algn="l">
              <a:spcBef>
                <a:spcPct val="0"/>
              </a:spcBef>
              <a:defRPr kumimoji="1" sz="2400">
                <a:solidFill>
                  <a:schemeClr val="tx1"/>
                </a:solidFill>
                <a:latin typeface="Times New Roman" pitchFamily="18" charset="0"/>
                <a:ea typeface="宋体" charset="-122"/>
              </a:defRPr>
            </a:lvl3pPr>
            <a:lvl4pPr marL="1600200" indent="-228600" algn="l">
              <a:spcBef>
                <a:spcPct val="0"/>
              </a:spcBef>
              <a:defRPr kumimoji="1" sz="2400">
                <a:solidFill>
                  <a:schemeClr val="tx1"/>
                </a:solidFill>
                <a:latin typeface="Times New Roman" pitchFamily="18" charset="0"/>
                <a:ea typeface="宋体" charset="-122"/>
              </a:defRPr>
            </a:lvl4pPr>
            <a:lvl5pPr marL="2057400" indent="-228600" algn="l">
              <a:spcBef>
                <a:spcPct val="0"/>
              </a:spcBef>
              <a:defRPr kumimoji="1" sz="2400">
                <a:solidFill>
                  <a:schemeClr val="tx1"/>
                </a:solidFill>
                <a:latin typeface="Times New Roman" pitchFamily="18" charset="0"/>
                <a:ea typeface="宋体" charset="-122"/>
              </a:defRPr>
            </a:lvl5pPr>
            <a:lvl6pPr marL="2514600" indent="-228600" fontAlgn="base">
              <a:spcBef>
                <a:spcPct val="0"/>
              </a:spcBef>
              <a:spcAft>
                <a:spcPct val="0"/>
              </a:spcAft>
              <a:defRPr kumimoji="1" sz="2400">
                <a:solidFill>
                  <a:schemeClr val="tx1"/>
                </a:solidFill>
                <a:latin typeface="Times New Roman" pitchFamily="18" charset="0"/>
                <a:ea typeface="宋体" charset="-122"/>
              </a:defRPr>
            </a:lvl6pPr>
            <a:lvl7pPr marL="2971800" indent="-228600" fontAlgn="base">
              <a:spcBef>
                <a:spcPct val="0"/>
              </a:spcBef>
              <a:spcAft>
                <a:spcPct val="0"/>
              </a:spcAft>
              <a:defRPr kumimoji="1" sz="2400">
                <a:solidFill>
                  <a:schemeClr val="tx1"/>
                </a:solidFill>
                <a:latin typeface="Times New Roman" pitchFamily="18" charset="0"/>
                <a:ea typeface="宋体" charset="-122"/>
              </a:defRPr>
            </a:lvl7pPr>
            <a:lvl8pPr marL="3429000" indent="-228600" fontAlgn="base">
              <a:spcBef>
                <a:spcPct val="0"/>
              </a:spcBef>
              <a:spcAft>
                <a:spcPct val="0"/>
              </a:spcAft>
              <a:defRPr kumimoji="1" sz="2400">
                <a:solidFill>
                  <a:schemeClr val="tx1"/>
                </a:solidFill>
                <a:latin typeface="Times New Roman" pitchFamily="18" charset="0"/>
                <a:ea typeface="宋体" charset="-122"/>
              </a:defRPr>
            </a:lvl8pPr>
            <a:lvl9pPr marL="3886200" indent="-228600" fontAlgn="base">
              <a:spcBef>
                <a:spcPct val="0"/>
              </a:spcBef>
              <a:spcAft>
                <a:spcPct val="0"/>
              </a:spcAft>
              <a:defRPr kumimoji="1" sz="2400">
                <a:solidFill>
                  <a:schemeClr val="tx1"/>
                </a:solidFill>
                <a:latin typeface="Times New Roman" pitchFamily="18" charset="0"/>
                <a:ea typeface="宋体" charset="-122"/>
              </a:defRPr>
            </a:lvl9pPr>
          </a:lstStyle>
          <a:p>
            <a:pPr algn="ctr">
              <a:spcBef>
                <a:spcPct val="20000"/>
              </a:spcBef>
              <a:buClr>
                <a:schemeClr val="bg2"/>
              </a:buClr>
              <a:buFont typeface="Monotype Sorts" pitchFamily="2" charset="2"/>
              <a:buNone/>
            </a:pPr>
            <a:r>
              <a:rPr lang="zh-CN" altLang="en-US" sz="2800" b="0">
                <a:ea typeface="楷体_GB2312" pitchFamily="49" charset="-122"/>
              </a:rPr>
              <a:t>∏</a:t>
            </a:r>
            <a:r>
              <a:rPr lang="en-US" altLang="zh-CN" sz="2800" b="0" baseline="-16000">
                <a:ea typeface="楷体_GB2312" pitchFamily="49" charset="-122"/>
              </a:rPr>
              <a:t>BC</a:t>
            </a:r>
            <a:r>
              <a:rPr lang="en-US" altLang="zh-CN" sz="2800" b="0">
                <a:ea typeface="楷体_GB2312" pitchFamily="49" charset="-122"/>
              </a:rPr>
              <a:t>(R)</a:t>
            </a:r>
          </a:p>
        </p:txBody>
      </p:sp>
      <p:grpSp>
        <p:nvGrpSpPr>
          <p:cNvPr id="25" name="Group 149"/>
          <p:cNvGrpSpPr>
            <a:grpSpLocks/>
          </p:cNvGrpSpPr>
          <p:nvPr/>
        </p:nvGrpSpPr>
        <p:grpSpPr bwMode="auto">
          <a:xfrm>
            <a:off x="6019801" y="3738563"/>
            <a:ext cx="3052763" cy="609600"/>
            <a:chOff x="3792" y="2355"/>
            <a:chExt cx="1923" cy="384"/>
          </a:xfrm>
        </p:grpSpPr>
        <p:sp>
          <p:nvSpPr>
            <p:cNvPr id="26" name="Rectangle 150"/>
            <p:cNvSpPr>
              <a:spLocks noChangeArrowheads="1"/>
            </p:cNvSpPr>
            <p:nvPr/>
          </p:nvSpPr>
          <p:spPr bwMode="auto">
            <a:xfrm>
              <a:off x="3792" y="2355"/>
              <a:ext cx="1152" cy="3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lgn="l">
                <a:spcBef>
                  <a:spcPct val="0"/>
                </a:spcBef>
                <a:defRPr kumimoji="1" sz="2400">
                  <a:solidFill>
                    <a:schemeClr val="tx1"/>
                  </a:solidFill>
                  <a:latin typeface="Times New Roman" pitchFamily="18" charset="0"/>
                  <a:ea typeface="宋体" charset="-122"/>
                </a:defRPr>
              </a:lvl1pPr>
              <a:lvl2pPr marL="742950" indent="-285750" algn="l">
                <a:spcBef>
                  <a:spcPct val="0"/>
                </a:spcBef>
                <a:defRPr kumimoji="1" sz="2400">
                  <a:solidFill>
                    <a:schemeClr val="tx1"/>
                  </a:solidFill>
                  <a:latin typeface="Times New Roman" pitchFamily="18" charset="0"/>
                  <a:ea typeface="宋体" charset="-122"/>
                </a:defRPr>
              </a:lvl2pPr>
              <a:lvl3pPr marL="1143000" indent="-228600" algn="l">
                <a:spcBef>
                  <a:spcPct val="0"/>
                </a:spcBef>
                <a:defRPr kumimoji="1" sz="2400">
                  <a:solidFill>
                    <a:schemeClr val="tx1"/>
                  </a:solidFill>
                  <a:latin typeface="Times New Roman" pitchFamily="18" charset="0"/>
                  <a:ea typeface="宋体" charset="-122"/>
                </a:defRPr>
              </a:lvl3pPr>
              <a:lvl4pPr marL="1600200" indent="-228600" algn="l">
                <a:spcBef>
                  <a:spcPct val="0"/>
                </a:spcBef>
                <a:defRPr kumimoji="1" sz="2400">
                  <a:solidFill>
                    <a:schemeClr val="tx1"/>
                  </a:solidFill>
                  <a:latin typeface="Times New Roman" pitchFamily="18" charset="0"/>
                  <a:ea typeface="宋体" charset="-122"/>
                </a:defRPr>
              </a:lvl4pPr>
              <a:lvl5pPr marL="2057400" indent="-228600" algn="l">
                <a:spcBef>
                  <a:spcPct val="0"/>
                </a:spcBef>
                <a:defRPr kumimoji="1" sz="2400">
                  <a:solidFill>
                    <a:schemeClr val="tx1"/>
                  </a:solidFill>
                  <a:latin typeface="Times New Roman" pitchFamily="18" charset="0"/>
                  <a:ea typeface="宋体" charset="-122"/>
                </a:defRPr>
              </a:lvl5pPr>
              <a:lvl6pPr marL="2514600" indent="-228600" fontAlgn="base">
                <a:spcBef>
                  <a:spcPct val="0"/>
                </a:spcBef>
                <a:spcAft>
                  <a:spcPct val="0"/>
                </a:spcAft>
                <a:defRPr kumimoji="1" sz="2400">
                  <a:solidFill>
                    <a:schemeClr val="tx1"/>
                  </a:solidFill>
                  <a:latin typeface="Times New Roman" pitchFamily="18" charset="0"/>
                  <a:ea typeface="宋体" charset="-122"/>
                </a:defRPr>
              </a:lvl6pPr>
              <a:lvl7pPr marL="2971800" indent="-228600" fontAlgn="base">
                <a:spcBef>
                  <a:spcPct val="0"/>
                </a:spcBef>
                <a:spcAft>
                  <a:spcPct val="0"/>
                </a:spcAft>
                <a:defRPr kumimoji="1" sz="2400">
                  <a:solidFill>
                    <a:schemeClr val="tx1"/>
                  </a:solidFill>
                  <a:latin typeface="Times New Roman" pitchFamily="18" charset="0"/>
                  <a:ea typeface="宋体" charset="-122"/>
                </a:defRPr>
              </a:lvl7pPr>
              <a:lvl8pPr marL="3429000" indent="-228600" fontAlgn="base">
                <a:spcBef>
                  <a:spcPct val="0"/>
                </a:spcBef>
                <a:spcAft>
                  <a:spcPct val="0"/>
                </a:spcAft>
                <a:defRPr kumimoji="1" sz="2400">
                  <a:solidFill>
                    <a:schemeClr val="tx1"/>
                  </a:solidFill>
                  <a:latin typeface="Times New Roman" pitchFamily="18" charset="0"/>
                  <a:ea typeface="宋体" charset="-122"/>
                </a:defRPr>
              </a:lvl8pPr>
              <a:lvl9pPr marL="3886200" indent="-228600" fontAlgn="base">
                <a:spcBef>
                  <a:spcPct val="0"/>
                </a:spcBef>
                <a:spcAft>
                  <a:spcPct val="0"/>
                </a:spcAft>
                <a:defRPr kumimoji="1" sz="2400">
                  <a:solidFill>
                    <a:schemeClr val="tx1"/>
                  </a:solidFill>
                  <a:latin typeface="Times New Roman" pitchFamily="18" charset="0"/>
                  <a:ea typeface="宋体" charset="-122"/>
                </a:defRPr>
              </a:lvl9pPr>
            </a:lstStyle>
            <a:p>
              <a:pPr algn="ctr">
                <a:spcBef>
                  <a:spcPct val="20000"/>
                </a:spcBef>
                <a:buClr>
                  <a:schemeClr val="bg2"/>
                </a:buClr>
                <a:buFont typeface="Monotype Sorts" pitchFamily="2" charset="2"/>
                <a:buNone/>
              </a:pPr>
              <a:r>
                <a:rPr lang="zh-CN" altLang="en-US" sz="2800" b="0">
                  <a:ea typeface="楷体_GB2312" pitchFamily="49" charset="-122"/>
                </a:rPr>
                <a:t>∏</a:t>
              </a:r>
              <a:r>
                <a:rPr lang="en-US" altLang="zh-CN" sz="2800" b="0" baseline="-16000">
                  <a:ea typeface="楷体_GB2312" pitchFamily="49" charset="-122"/>
                </a:rPr>
                <a:t>AB</a:t>
              </a:r>
              <a:r>
                <a:rPr lang="en-US" altLang="zh-CN" sz="2800" b="0">
                  <a:ea typeface="楷体_GB2312" pitchFamily="49" charset="-122"/>
                </a:rPr>
                <a:t>(R)</a:t>
              </a:r>
            </a:p>
          </p:txBody>
        </p:sp>
        <p:sp>
          <p:nvSpPr>
            <p:cNvPr id="27" name="Rectangle 151"/>
            <p:cNvSpPr>
              <a:spLocks noChangeArrowheads="1"/>
            </p:cNvSpPr>
            <p:nvPr/>
          </p:nvSpPr>
          <p:spPr bwMode="auto">
            <a:xfrm>
              <a:off x="4911" y="2355"/>
              <a:ext cx="804" cy="3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lgn="l">
                <a:spcBef>
                  <a:spcPct val="0"/>
                </a:spcBef>
                <a:defRPr kumimoji="1" sz="2400">
                  <a:solidFill>
                    <a:schemeClr val="tx1"/>
                  </a:solidFill>
                  <a:latin typeface="Times New Roman" pitchFamily="18" charset="0"/>
                  <a:ea typeface="宋体" charset="-122"/>
                </a:defRPr>
              </a:lvl1pPr>
              <a:lvl2pPr marL="742950" indent="-285750" algn="l">
                <a:spcBef>
                  <a:spcPct val="0"/>
                </a:spcBef>
                <a:defRPr kumimoji="1" sz="2400">
                  <a:solidFill>
                    <a:schemeClr val="tx1"/>
                  </a:solidFill>
                  <a:latin typeface="Times New Roman" pitchFamily="18" charset="0"/>
                  <a:ea typeface="宋体" charset="-122"/>
                </a:defRPr>
              </a:lvl2pPr>
              <a:lvl3pPr marL="1143000" indent="-228600" algn="l">
                <a:spcBef>
                  <a:spcPct val="0"/>
                </a:spcBef>
                <a:defRPr kumimoji="1" sz="2400">
                  <a:solidFill>
                    <a:schemeClr val="tx1"/>
                  </a:solidFill>
                  <a:latin typeface="Times New Roman" pitchFamily="18" charset="0"/>
                  <a:ea typeface="宋体" charset="-122"/>
                </a:defRPr>
              </a:lvl3pPr>
              <a:lvl4pPr marL="1600200" indent="-228600" algn="l">
                <a:spcBef>
                  <a:spcPct val="0"/>
                </a:spcBef>
                <a:defRPr kumimoji="1" sz="2400">
                  <a:solidFill>
                    <a:schemeClr val="tx1"/>
                  </a:solidFill>
                  <a:latin typeface="Times New Roman" pitchFamily="18" charset="0"/>
                  <a:ea typeface="宋体" charset="-122"/>
                </a:defRPr>
              </a:lvl4pPr>
              <a:lvl5pPr marL="2057400" indent="-228600" algn="l">
                <a:spcBef>
                  <a:spcPct val="0"/>
                </a:spcBef>
                <a:defRPr kumimoji="1" sz="2400">
                  <a:solidFill>
                    <a:schemeClr val="tx1"/>
                  </a:solidFill>
                  <a:latin typeface="Times New Roman" pitchFamily="18" charset="0"/>
                  <a:ea typeface="宋体" charset="-122"/>
                </a:defRPr>
              </a:lvl5pPr>
              <a:lvl6pPr marL="2514600" indent="-228600" fontAlgn="base">
                <a:spcBef>
                  <a:spcPct val="0"/>
                </a:spcBef>
                <a:spcAft>
                  <a:spcPct val="0"/>
                </a:spcAft>
                <a:defRPr kumimoji="1" sz="2400">
                  <a:solidFill>
                    <a:schemeClr val="tx1"/>
                  </a:solidFill>
                  <a:latin typeface="Times New Roman" pitchFamily="18" charset="0"/>
                  <a:ea typeface="宋体" charset="-122"/>
                </a:defRPr>
              </a:lvl6pPr>
              <a:lvl7pPr marL="2971800" indent="-228600" fontAlgn="base">
                <a:spcBef>
                  <a:spcPct val="0"/>
                </a:spcBef>
                <a:spcAft>
                  <a:spcPct val="0"/>
                </a:spcAft>
                <a:defRPr kumimoji="1" sz="2400">
                  <a:solidFill>
                    <a:schemeClr val="tx1"/>
                  </a:solidFill>
                  <a:latin typeface="Times New Roman" pitchFamily="18" charset="0"/>
                  <a:ea typeface="宋体" charset="-122"/>
                </a:defRPr>
              </a:lvl7pPr>
              <a:lvl8pPr marL="3429000" indent="-228600" fontAlgn="base">
                <a:spcBef>
                  <a:spcPct val="0"/>
                </a:spcBef>
                <a:spcAft>
                  <a:spcPct val="0"/>
                </a:spcAft>
                <a:defRPr kumimoji="1" sz="2400">
                  <a:solidFill>
                    <a:schemeClr val="tx1"/>
                  </a:solidFill>
                  <a:latin typeface="Times New Roman" pitchFamily="18" charset="0"/>
                  <a:ea typeface="宋体" charset="-122"/>
                </a:defRPr>
              </a:lvl8pPr>
              <a:lvl9pPr marL="3886200" indent="-228600" fontAlgn="base">
                <a:spcBef>
                  <a:spcPct val="0"/>
                </a:spcBef>
                <a:spcAft>
                  <a:spcPct val="0"/>
                </a:spcAft>
                <a:defRPr kumimoji="1" sz="2400">
                  <a:solidFill>
                    <a:schemeClr val="tx1"/>
                  </a:solidFill>
                  <a:latin typeface="Times New Roman" pitchFamily="18" charset="0"/>
                  <a:ea typeface="宋体" charset="-122"/>
                </a:defRPr>
              </a:lvl9pPr>
            </a:lstStyle>
            <a:p>
              <a:pPr algn="ctr">
                <a:spcBef>
                  <a:spcPct val="20000"/>
                </a:spcBef>
                <a:buClr>
                  <a:schemeClr val="bg2"/>
                </a:buClr>
                <a:buFont typeface="Monotype Sorts" pitchFamily="2" charset="2"/>
                <a:buNone/>
              </a:pPr>
              <a:r>
                <a:rPr lang="zh-CN" altLang="en-US" sz="2800" b="0" dirty="0">
                  <a:ea typeface="楷体_GB2312" pitchFamily="49" charset="-122"/>
                </a:rPr>
                <a:t>∏</a:t>
              </a:r>
              <a:r>
                <a:rPr lang="en-US" altLang="zh-CN" sz="2800" b="0" baseline="-16000" dirty="0">
                  <a:ea typeface="楷体_GB2312" pitchFamily="49" charset="-122"/>
                </a:rPr>
                <a:t>BC</a:t>
              </a:r>
              <a:r>
                <a:rPr lang="en-US" altLang="zh-CN" sz="2800" b="0" dirty="0">
                  <a:ea typeface="楷体_GB2312" pitchFamily="49" charset="-122"/>
                </a:rPr>
                <a:t>(R)</a:t>
              </a:r>
            </a:p>
          </p:txBody>
        </p:sp>
        <p:sp>
          <p:nvSpPr>
            <p:cNvPr id="28" name="AutoShape 152"/>
            <p:cNvSpPr>
              <a:spLocks noChangeArrowheads="1"/>
            </p:cNvSpPr>
            <p:nvPr/>
          </p:nvSpPr>
          <p:spPr bwMode="auto">
            <a:xfrm rot="5400000">
              <a:off x="4764" y="2415"/>
              <a:ext cx="144" cy="216"/>
            </a:xfrm>
            <a:prstGeom prst="flowChartCollate">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9" name="AutoShape 153"/>
          <p:cNvSpPr>
            <a:spLocks noChangeArrowheads="1"/>
          </p:cNvSpPr>
          <p:nvPr/>
        </p:nvSpPr>
        <p:spPr bwMode="auto">
          <a:xfrm>
            <a:off x="457200" y="6019800"/>
            <a:ext cx="1905000" cy="533400"/>
          </a:xfrm>
          <a:prstGeom prst="wedgeRoundRectCallout">
            <a:avLst>
              <a:gd name="adj1" fmla="val 128377"/>
              <a:gd name="adj2" fmla="val -104376"/>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bg2"/>
              </a:buClr>
              <a:buFont typeface="Monotype Sorts" pitchFamily="2" charset="2"/>
              <a:buNone/>
            </a:pPr>
            <a:r>
              <a:rPr lang="zh-CN" altLang="en-US" sz="2800">
                <a:solidFill>
                  <a:schemeClr val="tx1"/>
                </a:solidFill>
                <a:latin typeface="Times New Roman" pitchFamily="18" charset="0"/>
                <a:ea typeface="楷体_GB2312" pitchFamily="49" charset="-122"/>
              </a:rPr>
              <a:t>有损分解</a:t>
            </a:r>
          </a:p>
          <a:p>
            <a:pPr eaLnBrk="0" hangingPunct="0">
              <a:spcBef>
                <a:spcPct val="0"/>
              </a:spcBef>
            </a:pPr>
            <a:endParaRPr lang="zh-CN" altLang="en-US" sz="2400" b="0">
              <a:solidFill>
                <a:schemeClr val="tx1"/>
              </a:solidFill>
              <a:latin typeface="Times New Roman" pitchFamily="18" charset="0"/>
              <a:ea typeface="宋体" charset="-122"/>
            </a:endParaRPr>
          </a:p>
        </p:txBody>
      </p:sp>
      <p:sp>
        <p:nvSpPr>
          <p:cNvPr id="30" name="AutoShape 154"/>
          <p:cNvSpPr>
            <a:spLocks noChangeArrowheads="1"/>
          </p:cNvSpPr>
          <p:nvPr/>
        </p:nvSpPr>
        <p:spPr bwMode="auto">
          <a:xfrm>
            <a:off x="6575311" y="456235"/>
            <a:ext cx="1828800" cy="533400"/>
          </a:xfrm>
          <a:prstGeom prst="wedgeRoundRectCallout">
            <a:avLst>
              <a:gd name="adj1" fmla="val -163753"/>
              <a:gd name="adj2" fmla="val 66545"/>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bg2"/>
              </a:buClr>
              <a:buFont typeface="Monotype Sorts" pitchFamily="2" charset="2"/>
              <a:buNone/>
            </a:pPr>
            <a:r>
              <a:rPr lang="zh-CN" altLang="en-US" sz="2800">
                <a:solidFill>
                  <a:schemeClr val="tx1"/>
                </a:solidFill>
                <a:latin typeface="Times New Roman" pitchFamily="18" charset="0"/>
                <a:ea typeface="楷体_GB2312" pitchFamily="49" charset="-122"/>
              </a:rPr>
              <a:t>无损分解</a:t>
            </a:r>
            <a:endParaRPr lang="zh-CN" altLang="en-US" sz="2400" b="0">
              <a:solidFill>
                <a:schemeClr val="tx1"/>
              </a:solidFill>
              <a:latin typeface="Times New Roman" pitchFamily="18" charset="0"/>
              <a:ea typeface="宋体" charset="-122"/>
            </a:endParaRPr>
          </a:p>
        </p:txBody>
      </p:sp>
      <p:sp>
        <p:nvSpPr>
          <p:cNvPr id="32" name="AutoShape 154"/>
          <p:cNvSpPr>
            <a:spLocks noChangeArrowheads="1"/>
          </p:cNvSpPr>
          <p:nvPr/>
        </p:nvSpPr>
        <p:spPr bwMode="auto">
          <a:xfrm>
            <a:off x="5000628" y="3071810"/>
            <a:ext cx="3643338" cy="533400"/>
          </a:xfrm>
          <a:prstGeom prst="wedgeRoundRectCallout">
            <a:avLst>
              <a:gd name="adj1" fmla="val -523"/>
              <a:gd name="adj2" fmla="val -85051"/>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sz="2800" dirty="0"/>
              <a:t>分解前后信息无丢失</a:t>
            </a:r>
          </a:p>
        </p:txBody>
      </p:sp>
      <p:sp>
        <p:nvSpPr>
          <p:cNvPr id="3" name="页脚占位符 2">
            <a:extLst>
              <a:ext uri="{FF2B5EF4-FFF2-40B4-BE49-F238E27FC236}">
                <a16:creationId xmlns:a16="http://schemas.microsoft.com/office/drawing/2014/main" id="{357FE63C-E4F2-947C-8773-BE7F47D7D028}"/>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010AEF44-A101-F436-F649-4E191B9C74B7}"/>
              </a:ext>
            </a:extLst>
          </p:cNvPr>
          <p:cNvSpPr>
            <a:spLocks noGrp="1"/>
          </p:cNvSpPr>
          <p:nvPr>
            <p:ph type="sldNum" sz="quarter" idx="12"/>
          </p:nvPr>
        </p:nvSpPr>
        <p:spPr/>
        <p:txBody>
          <a:bodyPr/>
          <a:lstStyle/>
          <a:p>
            <a:fld id="{A2D74603-B40B-4D66-8F6E-41C870D48932}" type="slidenum">
              <a:rPr lang="en-US" altLang="zh-CN" smtClean="0"/>
              <a:pPr/>
              <a:t>140</a:t>
            </a:fld>
            <a:r>
              <a:rPr lang="en-US" altLang="zh-CN"/>
              <a:t>/162</a:t>
            </a:r>
            <a:endParaRPr lang="en-US" altLang="zh-CN" dirty="0"/>
          </a:p>
        </p:txBody>
      </p:sp>
      <p:sp>
        <p:nvSpPr>
          <p:cNvPr id="33" name="AutoShape 154"/>
          <p:cNvSpPr>
            <a:spLocks noChangeArrowheads="1"/>
          </p:cNvSpPr>
          <p:nvPr/>
        </p:nvSpPr>
        <p:spPr bwMode="auto">
          <a:xfrm>
            <a:off x="2927350" y="6158935"/>
            <a:ext cx="3643338" cy="533400"/>
          </a:xfrm>
          <a:prstGeom prst="wedgeRoundRectCallout">
            <a:avLst>
              <a:gd name="adj1" fmla="val 56072"/>
              <a:gd name="adj2" fmla="val -160484"/>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sz="2800" dirty="0"/>
              <a:t>分解前后信息</a:t>
            </a:r>
            <a:r>
              <a:rPr lang="zh-CN" altLang="en-US" sz="2800" b="1" dirty="0">
                <a:solidFill>
                  <a:srgbClr val="FF0000"/>
                </a:solidFill>
              </a:rPr>
              <a:t>不一致</a:t>
            </a:r>
          </a:p>
        </p:txBody>
      </p:sp>
      <p:graphicFrame>
        <p:nvGraphicFramePr>
          <p:cNvPr id="22" name="Group 121"/>
          <p:cNvGraphicFramePr>
            <a:graphicFrameLocks noGrp="1"/>
          </p:cNvGraphicFramePr>
          <p:nvPr/>
        </p:nvGraphicFramePr>
        <p:xfrm>
          <a:off x="6648450" y="4271963"/>
          <a:ext cx="2000250" cy="2286000"/>
        </p:xfrm>
        <a:graphic>
          <a:graphicData uri="http://schemas.openxmlformats.org/drawingml/2006/table">
            <a:tbl>
              <a:tblPr/>
              <a:tblGrid>
                <a:gridCol w="666750">
                  <a:extLst>
                    <a:ext uri="{9D8B030D-6E8A-4147-A177-3AD203B41FA5}">
                      <a16:colId xmlns:a16="http://schemas.microsoft.com/office/drawing/2014/main" val="20000"/>
                    </a:ext>
                  </a:extLst>
                </a:gridCol>
                <a:gridCol w="666750">
                  <a:extLst>
                    <a:ext uri="{9D8B030D-6E8A-4147-A177-3AD203B41FA5}">
                      <a16:colId xmlns:a16="http://schemas.microsoft.com/office/drawing/2014/main" val="20001"/>
                    </a:ext>
                  </a:extLst>
                </a:gridCol>
                <a:gridCol w="666750">
                  <a:extLst>
                    <a:ext uri="{9D8B030D-6E8A-4147-A177-3AD203B41FA5}">
                      <a16:colId xmlns:a16="http://schemas.microsoft.com/office/drawing/2014/main" val="20002"/>
                    </a:ext>
                  </a:extLst>
                </a:gridCol>
              </a:tblGrid>
              <a:tr h="165100">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dirty="0">
                          <a:ln>
                            <a:noFill/>
                          </a:ln>
                          <a:solidFill>
                            <a:schemeClr val="tx1"/>
                          </a:solidFill>
                          <a:effectLst/>
                          <a:latin typeface="Tahoma" pitchFamily="34" charset="0"/>
                          <a:ea typeface="华文新魏" pitchFamily="2"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华文新魏"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华文新魏" pitchFamily="2" charset="-122"/>
                        </a:rPr>
                        <a:t>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65100">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65100">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dirty="0">
                          <a:ln>
                            <a:noFill/>
                          </a:ln>
                          <a:solidFill>
                            <a:schemeClr val="hlink"/>
                          </a:solidFill>
                          <a:effectLst/>
                          <a:latin typeface="Tahoma" pitchFamily="34" charset="0"/>
                          <a:ea typeface="华文新魏"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hlink"/>
                          </a:solidFill>
                          <a:effectLst/>
                          <a:latin typeface="Tahoma" pitchFamily="34" charset="0"/>
                          <a:ea typeface="华文新魏"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hlink"/>
                          </a:solidFill>
                          <a:effectLst/>
                          <a:latin typeface="Tahoma" pitchFamily="34" charset="0"/>
                          <a:ea typeface="华文新魏" pitchFamily="2" charset="-122"/>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65100">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hlink"/>
                          </a:solidFill>
                          <a:effectLst/>
                          <a:latin typeface="Tahoma" pitchFamily="34" charset="0"/>
                          <a:ea typeface="华文新魏" pitchFamily="2"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hlink"/>
                          </a:solidFill>
                          <a:effectLst/>
                          <a:latin typeface="Tahoma" pitchFamily="34" charset="0"/>
                          <a:ea typeface="华文新魏"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hlink"/>
                          </a:solidFill>
                          <a:effectLst/>
                          <a:latin typeface="Tahoma" pitchFamily="34" charset="0"/>
                          <a:ea typeface="华文新魏"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65100">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华文新魏"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buClr>
                          <a:schemeClr val="folHlink"/>
                        </a:buClr>
                        <a:buSzPct val="60000"/>
                        <a:buFont typeface="Wingdings" pitchFamily="2" charset="2"/>
                        <a:defRPr kumimoji="1" sz="2800" b="1">
                          <a:solidFill>
                            <a:schemeClr val="tx1"/>
                          </a:solidFill>
                          <a:latin typeface="Tahoma" pitchFamily="34" charset="0"/>
                          <a:ea typeface="华文新魏" pitchFamily="2" charset="-122"/>
                        </a:defRPr>
                      </a:lvl1pPr>
                      <a:lvl2pPr algn="just">
                        <a:spcBef>
                          <a:spcPct val="20000"/>
                        </a:spcBef>
                        <a:buClr>
                          <a:schemeClr val="hlink"/>
                        </a:buClr>
                        <a:buSzPct val="55000"/>
                        <a:buFont typeface="Wingdings" pitchFamily="2" charset="2"/>
                        <a:defRPr kumimoji="1" sz="2400" b="1">
                          <a:solidFill>
                            <a:schemeClr val="tx1"/>
                          </a:solidFill>
                          <a:latin typeface="Tahoma" pitchFamily="34" charset="0"/>
                          <a:ea typeface="华文新魏" pitchFamily="2" charset="-122"/>
                        </a:defRPr>
                      </a:lvl2pPr>
                      <a:lvl3pPr algn="just">
                        <a:spcBef>
                          <a:spcPct val="20000"/>
                        </a:spcBef>
                        <a:buClr>
                          <a:schemeClr val="folHlink"/>
                        </a:buClr>
                        <a:buSzPct val="50000"/>
                        <a:buFont typeface="Wingdings" pitchFamily="2" charset="2"/>
                        <a:defRPr kumimoji="1" sz="2000" b="1">
                          <a:solidFill>
                            <a:schemeClr val="tx1"/>
                          </a:solidFill>
                          <a:latin typeface="Tahoma" pitchFamily="34" charset="0"/>
                          <a:ea typeface="华文新魏" pitchFamily="2" charset="-122"/>
                        </a:defRPr>
                      </a:lvl3pPr>
                      <a:lvl4pPr algn="just">
                        <a:spcBef>
                          <a:spcPct val="20000"/>
                        </a:spcBef>
                        <a:buClr>
                          <a:schemeClr val="accent2"/>
                        </a:buClr>
                        <a:buSzPct val="55000"/>
                        <a:buFont typeface="Wingdings" pitchFamily="2" charset="2"/>
                        <a:defRPr kumimoji="1" b="1">
                          <a:solidFill>
                            <a:schemeClr val="tx1"/>
                          </a:solidFill>
                          <a:latin typeface="Tahoma" pitchFamily="34" charset="0"/>
                          <a:ea typeface="华文新魏" pitchFamily="2" charset="-122"/>
                        </a:defRPr>
                      </a:lvl4pPr>
                      <a:lvl5pPr algn="just">
                        <a:spcBef>
                          <a:spcPct val="20000"/>
                        </a:spcBef>
                        <a:buClr>
                          <a:schemeClr val="accent1"/>
                        </a:buClr>
                        <a:buSzPct val="50000"/>
                        <a:buFont typeface="Wingdings" pitchFamily="2" charset="2"/>
                        <a:defRPr kumimoji="1" b="1">
                          <a:solidFill>
                            <a:schemeClr val="tx1"/>
                          </a:solidFill>
                          <a:latin typeface="Tahoma" pitchFamily="34" charset="0"/>
                          <a:ea typeface="华文新魏" pitchFamily="2" charset="-122"/>
                        </a:defRPr>
                      </a:lvl5pPr>
                      <a:lvl6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6pPr>
                      <a:lvl7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7pPr>
                      <a:lvl8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8pPr>
                      <a:lvl9pPr algn="just" fontAlgn="base">
                        <a:spcBef>
                          <a:spcPct val="20000"/>
                        </a:spcBef>
                        <a:spcAft>
                          <a:spcPct val="0"/>
                        </a:spcAft>
                        <a:buClr>
                          <a:schemeClr val="accent1"/>
                        </a:buClr>
                        <a:buSzPct val="50000"/>
                        <a:buFont typeface="Wingdings" pitchFamily="2" charset="2"/>
                        <a:defRPr kumimoji="1" b="1">
                          <a:solidFill>
                            <a:schemeClr val="tx1"/>
                          </a:solidFill>
                          <a:latin typeface="Tahoma" pitchFamily="34" charset="0"/>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dirty="0">
                          <a:ln>
                            <a:noFill/>
                          </a:ln>
                          <a:solidFill>
                            <a:schemeClr val="tx1"/>
                          </a:solidFill>
                          <a:effectLst/>
                          <a:latin typeface="Tahoma" pitchFamily="34" charset="0"/>
                          <a:ea typeface="华文新魏" pitchFamily="2" charset="-122"/>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83898789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par>
                          <p:cTn id="8" fill="hold">
                            <p:stCondLst>
                              <p:cond delay="500"/>
                            </p:stCondLst>
                            <p:childTnLst>
                              <p:par>
                                <p:cTn id="9" presetID="5" presetClass="entr" presetSubtype="1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checkerboard(across)">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blinds(horizontal)">
                                      <p:cBhvr>
                                        <p:cTn id="16" dur="500"/>
                                        <p:tgtEl>
                                          <p:spTgt spid="12"/>
                                        </p:tgtEl>
                                      </p:cBhvr>
                                    </p:animEffect>
                                  </p:childTnLst>
                                </p:cTn>
                              </p:par>
                            </p:childTnLst>
                          </p:cTn>
                        </p:par>
                        <p:par>
                          <p:cTn id="17" fill="hold">
                            <p:stCondLst>
                              <p:cond delay="500"/>
                            </p:stCondLst>
                            <p:childTnLst>
                              <p:par>
                                <p:cTn id="18" presetID="5" presetClass="entr" presetSubtype="10" fill="hold"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checkerboard(across)">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blinds(horizontal)">
                                      <p:cBhvr>
                                        <p:cTn id="25" dur="500"/>
                                        <p:tgtEl>
                                          <p:spTgt spid="13"/>
                                        </p:tgtEl>
                                      </p:cBhvr>
                                    </p:animEffect>
                                  </p:childTnLst>
                                </p:cTn>
                              </p:par>
                            </p:childTnLst>
                          </p:cTn>
                        </p:par>
                        <p:par>
                          <p:cTn id="26" fill="hold">
                            <p:stCondLst>
                              <p:cond delay="500"/>
                            </p:stCondLst>
                            <p:childTnLst>
                              <p:par>
                                <p:cTn id="27" presetID="5" presetClass="entr" presetSubtype="10" fill="hold"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checkerboard(across)">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blinds(horizontal)">
                                      <p:cBhvr>
                                        <p:cTn id="34" dur="500"/>
                                        <p:tgtEl>
                                          <p:spTgt spid="14"/>
                                        </p:tgtEl>
                                      </p:cBhvr>
                                    </p:animEffect>
                                  </p:childTnLst>
                                </p:cTn>
                              </p:par>
                            </p:childTnLst>
                          </p:cTn>
                        </p:par>
                        <p:par>
                          <p:cTn id="35" fill="hold">
                            <p:stCondLst>
                              <p:cond delay="500"/>
                            </p:stCondLst>
                            <p:childTnLst>
                              <p:par>
                                <p:cTn id="36" presetID="5" presetClass="entr" presetSubtype="10" fill="hold"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checkerboard(across)">
                                      <p:cBhvr>
                                        <p:cTn id="38" dur="500"/>
                                        <p:tgtEl>
                                          <p:spTgt spid="11"/>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blinds(horizontal)">
                                      <p:cBhvr>
                                        <p:cTn id="43" dur="500"/>
                                        <p:tgtEl>
                                          <p:spTgt spid="32"/>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blinds(horizontal)">
                                      <p:cBhvr>
                                        <p:cTn id="48" dur="500"/>
                                        <p:tgtEl>
                                          <p:spTgt spid="30"/>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blinds(horizontal)">
                                      <p:cBhvr>
                                        <p:cTn id="53" dur="500"/>
                                        <p:tgtEl>
                                          <p:spTgt spid="18"/>
                                        </p:tgtEl>
                                      </p:cBhvr>
                                    </p:animEffect>
                                  </p:childTnLst>
                                </p:cTn>
                              </p:par>
                            </p:childTnLst>
                          </p:cTn>
                        </p:par>
                        <p:par>
                          <p:cTn id="54" fill="hold">
                            <p:stCondLst>
                              <p:cond delay="500"/>
                            </p:stCondLst>
                            <p:childTnLst>
                              <p:par>
                                <p:cTn id="55" presetID="5" presetClass="entr" presetSubtype="10" fill="hold" nodeType="after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checkerboard(across)">
                                      <p:cBhvr>
                                        <p:cTn id="57" dur="500"/>
                                        <p:tgtEl>
                                          <p:spTgt spid="19"/>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blinds(horizontal)">
                                      <p:cBhvr>
                                        <p:cTn id="62" dur="500"/>
                                        <p:tgtEl>
                                          <p:spTgt spid="23"/>
                                        </p:tgtEl>
                                      </p:cBhvr>
                                    </p:animEffect>
                                  </p:childTnLst>
                                </p:cTn>
                              </p:par>
                            </p:childTnLst>
                          </p:cTn>
                        </p:par>
                        <p:par>
                          <p:cTn id="63" fill="hold">
                            <p:stCondLst>
                              <p:cond delay="500"/>
                            </p:stCondLst>
                            <p:childTnLst>
                              <p:par>
                                <p:cTn id="64" presetID="5" presetClass="entr" presetSubtype="10" fill="hold" nodeType="afterEffect">
                                  <p:stCondLst>
                                    <p:cond delay="0"/>
                                  </p:stCondLst>
                                  <p:childTnLst>
                                    <p:set>
                                      <p:cBhvr>
                                        <p:cTn id="65" dur="1" fill="hold">
                                          <p:stCondLst>
                                            <p:cond delay="0"/>
                                          </p:stCondLst>
                                        </p:cTn>
                                        <p:tgtEl>
                                          <p:spTgt spid="20"/>
                                        </p:tgtEl>
                                        <p:attrNameLst>
                                          <p:attrName>style.visibility</p:attrName>
                                        </p:attrNameLst>
                                      </p:cBhvr>
                                      <p:to>
                                        <p:strVal val="visible"/>
                                      </p:to>
                                    </p:set>
                                    <p:animEffect transition="in" filter="checkerboard(across)">
                                      <p:cBhvr>
                                        <p:cTn id="66" dur="500"/>
                                        <p:tgtEl>
                                          <p:spTgt spid="20"/>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blinds(horizontal)">
                                      <p:cBhvr>
                                        <p:cTn id="71" dur="500"/>
                                        <p:tgtEl>
                                          <p:spTgt spid="24"/>
                                        </p:tgtEl>
                                      </p:cBhvr>
                                    </p:animEffect>
                                  </p:childTnLst>
                                </p:cTn>
                              </p:par>
                            </p:childTnLst>
                          </p:cTn>
                        </p:par>
                        <p:par>
                          <p:cTn id="72" fill="hold">
                            <p:stCondLst>
                              <p:cond delay="500"/>
                            </p:stCondLst>
                            <p:childTnLst>
                              <p:par>
                                <p:cTn id="73" presetID="5" presetClass="entr" presetSubtype="10" fill="hold" nodeType="afterEffect">
                                  <p:stCondLst>
                                    <p:cond delay="0"/>
                                  </p:stCondLst>
                                  <p:childTnLst>
                                    <p:set>
                                      <p:cBhvr>
                                        <p:cTn id="74" dur="1" fill="hold">
                                          <p:stCondLst>
                                            <p:cond delay="0"/>
                                          </p:stCondLst>
                                        </p:cTn>
                                        <p:tgtEl>
                                          <p:spTgt spid="21"/>
                                        </p:tgtEl>
                                        <p:attrNameLst>
                                          <p:attrName>style.visibility</p:attrName>
                                        </p:attrNameLst>
                                      </p:cBhvr>
                                      <p:to>
                                        <p:strVal val="visible"/>
                                      </p:to>
                                    </p:set>
                                    <p:animEffect transition="in" filter="checkerboard(across)">
                                      <p:cBhvr>
                                        <p:cTn id="75" dur="500"/>
                                        <p:tgtEl>
                                          <p:spTgt spid="21"/>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nodeType="clickEffect">
                                  <p:stCondLst>
                                    <p:cond delay="0"/>
                                  </p:stCondLst>
                                  <p:childTnLst>
                                    <p:set>
                                      <p:cBhvr>
                                        <p:cTn id="79" dur="1" fill="hold">
                                          <p:stCondLst>
                                            <p:cond delay="0"/>
                                          </p:stCondLst>
                                        </p:cTn>
                                        <p:tgtEl>
                                          <p:spTgt spid="25"/>
                                        </p:tgtEl>
                                        <p:attrNameLst>
                                          <p:attrName>style.visibility</p:attrName>
                                        </p:attrNameLst>
                                      </p:cBhvr>
                                      <p:to>
                                        <p:strVal val="visible"/>
                                      </p:to>
                                    </p:set>
                                    <p:animEffect transition="in" filter="blinds(horizontal)">
                                      <p:cBhvr>
                                        <p:cTn id="80" dur="500"/>
                                        <p:tgtEl>
                                          <p:spTgt spid="25"/>
                                        </p:tgtEl>
                                      </p:cBhvr>
                                    </p:animEffect>
                                  </p:childTnLst>
                                </p:cTn>
                              </p:par>
                            </p:childTnLst>
                          </p:cTn>
                        </p:par>
                        <p:par>
                          <p:cTn id="81" fill="hold">
                            <p:stCondLst>
                              <p:cond delay="500"/>
                            </p:stCondLst>
                            <p:childTnLst>
                              <p:par>
                                <p:cTn id="82" presetID="5" presetClass="entr" presetSubtype="10" fill="hold" nodeType="afterEffect">
                                  <p:stCondLst>
                                    <p:cond delay="0"/>
                                  </p:stCondLst>
                                  <p:childTnLst>
                                    <p:set>
                                      <p:cBhvr>
                                        <p:cTn id="83" dur="1" fill="hold">
                                          <p:stCondLst>
                                            <p:cond delay="0"/>
                                          </p:stCondLst>
                                        </p:cTn>
                                        <p:tgtEl>
                                          <p:spTgt spid="22"/>
                                        </p:tgtEl>
                                        <p:attrNameLst>
                                          <p:attrName>style.visibility</p:attrName>
                                        </p:attrNameLst>
                                      </p:cBhvr>
                                      <p:to>
                                        <p:strVal val="visible"/>
                                      </p:to>
                                    </p:set>
                                    <p:animEffect transition="in" filter="checkerboard(across)">
                                      <p:cBhvr>
                                        <p:cTn id="84" dur="500"/>
                                        <p:tgtEl>
                                          <p:spTgt spid="22"/>
                                        </p:tgtEl>
                                      </p:cBhvr>
                                    </p:animEffect>
                                  </p:childTnLst>
                                </p:cTn>
                              </p:par>
                            </p:childTnLst>
                          </p:cTn>
                        </p:par>
                      </p:childTnLst>
                    </p:cTn>
                  </p:par>
                  <p:par>
                    <p:cTn id="85" fill="hold">
                      <p:stCondLst>
                        <p:cond delay="indefinite"/>
                      </p:stCondLst>
                      <p:childTnLst>
                        <p:par>
                          <p:cTn id="86" fill="hold">
                            <p:stCondLst>
                              <p:cond delay="0"/>
                            </p:stCondLst>
                            <p:childTnLst>
                              <p:par>
                                <p:cTn id="87" presetID="3" presetClass="entr" presetSubtype="10" fill="hold" grpId="0" nodeType="clickEffect">
                                  <p:stCondLst>
                                    <p:cond delay="0"/>
                                  </p:stCondLst>
                                  <p:childTnLst>
                                    <p:set>
                                      <p:cBhvr>
                                        <p:cTn id="88" dur="1" fill="hold">
                                          <p:stCondLst>
                                            <p:cond delay="0"/>
                                          </p:stCondLst>
                                        </p:cTn>
                                        <p:tgtEl>
                                          <p:spTgt spid="33"/>
                                        </p:tgtEl>
                                        <p:attrNameLst>
                                          <p:attrName>style.visibility</p:attrName>
                                        </p:attrNameLst>
                                      </p:cBhvr>
                                      <p:to>
                                        <p:strVal val="visible"/>
                                      </p:to>
                                    </p:set>
                                    <p:animEffect transition="in" filter="blinds(horizontal)">
                                      <p:cBhvr>
                                        <p:cTn id="89" dur="500"/>
                                        <p:tgtEl>
                                          <p:spTgt spid="33"/>
                                        </p:tgtEl>
                                      </p:cBhvr>
                                    </p:animEffect>
                                  </p:childTnLst>
                                </p:cTn>
                              </p:par>
                            </p:childTnLst>
                          </p:cTn>
                        </p:par>
                      </p:childTnLst>
                    </p:cTn>
                  </p:par>
                  <p:par>
                    <p:cTn id="90" fill="hold">
                      <p:stCondLst>
                        <p:cond delay="indefinite"/>
                      </p:stCondLst>
                      <p:childTnLst>
                        <p:par>
                          <p:cTn id="91" fill="hold">
                            <p:stCondLst>
                              <p:cond delay="0"/>
                            </p:stCondLst>
                            <p:childTnLst>
                              <p:par>
                                <p:cTn id="92" presetID="3" presetClass="entr" presetSubtype="10" fill="hold" grpId="0" nodeType="clickEffect">
                                  <p:stCondLst>
                                    <p:cond delay="0"/>
                                  </p:stCondLst>
                                  <p:childTnLst>
                                    <p:set>
                                      <p:cBhvr>
                                        <p:cTn id="93" dur="1" fill="hold">
                                          <p:stCondLst>
                                            <p:cond delay="0"/>
                                          </p:stCondLst>
                                        </p:cTn>
                                        <p:tgtEl>
                                          <p:spTgt spid="29"/>
                                        </p:tgtEl>
                                        <p:attrNameLst>
                                          <p:attrName>style.visibility</p:attrName>
                                        </p:attrNameLst>
                                      </p:cBhvr>
                                      <p:to>
                                        <p:strVal val="visible"/>
                                      </p:to>
                                    </p:set>
                                    <p:animEffect transition="in" filter="blinds(horizontal)">
                                      <p:cBhvr>
                                        <p:cTn id="94"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utoUpdateAnimBg="0"/>
      <p:bldP spid="12" grpId="0" autoUpdateAnimBg="0"/>
      <p:bldP spid="13" grpId="0" autoUpdateAnimBg="0"/>
      <p:bldP spid="18" grpId="0" autoUpdateAnimBg="0"/>
      <p:bldP spid="23" grpId="0" autoUpdateAnimBg="0"/>
      <p:bldP spid="24" grpId="0" autoUpdateAnimBg="0"/>
      <p:bldP spid="29" grpId="0" animBg="1" autoUpdateAnimBg="0"/>
      <p:bldP spid="30" grpId="0" animBg="1" autoUpdateAnimBg="0"/>
      <p:bldP spid="32" grpId="0" animBg="1" autoUpdateAnimBg="0"/>
      <p:bldP spid="33" grpId="0" animBg="1" autoUpdateAnimBg="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half" idx="10"/>
          </p:nvPr>
        </p:nvSpPr>
        <p:spPr/>
        <p:txBody>
          <a:bodyPr/>
          <a:lstStyle/>
          <a:p>
            <a:fld id="{08F19E67-6913-452D-8FB6-C57ACFC560D2}" type="datetime1">
              <a:rPr lang="zh-CN" altLang="en-US" smtClean="0"/>
              <a:t>2025/11/6</a:t>
            </a:fld>
            <a:endParaRPr lang="en-US" altLang="zh-CN"/>
          </a:p>
        </p:txBody>
      </p:sp>
      <p:sp>
        <p:nvSpPr>
          <p:cNvPr id="326658" name="Rectangle 2"/>
          <p:cNvSpPr>
            <a:spLocks noGrp="1" noChangeArrowheads="1"/>
          </p:cNvSpPr>
          <p:nvPr>
            <p:ph type="title"/>
          </p:nvPr>
        </p:nvSpPr>
        <p:spPr/>
        <p:txBody>
          <a:bodyPr/>
          <a:lstStyle/>
          <a:p>
            <a:r>
              <a:rPr lang="en-US" altLang="zh-CN" dirty="0"/>
              <a:t>8.4.2 </a:t>
            </a:r>
            <a:r>
              <a:rPr lang="zh-CN" altLang="en-US" dirty="0"/>
              <a:t>分解的无损连接性和保持函数依赖性</a:t>
            </a:r>
          </a:p>
        </p:txBody>
      </p:sp>
      <p:sp>
        <p:nvSpPr>
          <p:cNvPr id="326659" name="Rectangle 3"/>
          <p:cNvSpPr>
            <a:spLocks noGrp="1" noChangeArrowheads="1"/>
          </p:cNvSpPr>
          <p:nvPr>
            <p:ph type="body" idx="1"/>
          </p:nvPr>
        </p:nvSpPr>
        <p:spPr/>
        <p:txBody>
          <a:bodyPr/>
          <a:lstStyle/>
          <a:p>
            <a:pPr>
              <a:buFont typeface="Wingdings" pitchFamily="2" charset="2"/>
              <a:buNone/>
            </a:pPr>
            <a:r>
              <a:rPr lang="zh-CN" altLang="en-US" dirty="0"/>
              <a:t>定义</a:t>
            </a:r>
            <a:r>
              <a:rPr lang="en-US" altLang="zh-CN" dirty="0"/>
              <a:t>6.18 ρ</a:t>
            </a:r>
            <a:r>
              <a:rPr lang="zh-CN" altLang="en-US" dirty="0"/>
              <a:t>＝</a:t>
            </a:r>
            <a:r>
              <a:rPr lang="en-US" altLang="zh-CN" dirty="0"/>
              <a:t>{R</a:t>
            </a:r>
            <a:r>
              <a:rPr lang="en-US" altLang="zh-CN" baseline="-25000" dirty="0"/>
              <a:t>1</a:t>
            </a:r>
            <a:r>
              <a:rPr lang="en-US" altLang="zh-CN" dirty="0"/>
              <a:t>&lt;U</a:t>
            </a:r>
            <a:r>
              <a:rPr lang="en-US" altLang="zh-CN" baseline="-25000" dirty="0"/>
              <a:t>1</a:t>
            </a:r>
            <a:r>
              <a:rPr lang="en-US" altLang="zh-CN" dirty="0"/>
              <a:t>,F</a:t>
            </a:r>
            <a:r>
              <a:rPr lang="en-US" altLang="zh-CN" baseline="-25000" dirty="0"/>
              <a:t>1</a:t>
            </a:r>
            <a:r>
              <a:rPr lang="en-US" altLang="zh-CN" dirty="0"/>
              <a:t>&gt;</a:t>
            </a:r>
            <a:r>
              <a:rPr lang="zh-CN" altLang="en-US" dirty="0"/>
              <a:t>，</a:t>
            </a:r>
            <a:r>
              <a:rPr lang="en-US" altLang="zh-CN" dirty="0"/>
              <a:t>R</a:t>
            </a:r>
            <a:r>
              <a:rPr lang="en-US" altLang="zh-CN" baseline="-25000" dirty="0"/>
              <a:t>2</a:t>
            </a:r>
            <a:r>
              <a:rPr lang="en-US" altLang="zh-CN" dirty="0"/>
              <a:t>&lt;U</a:t>
            </a:r>
            <a:r>
              <a:rPr lang="en-US" altLang="zh-CN" baseline="-25000" dirty="0"/>
              <a:t>2</a:t>
            </a:r>
            <a:r>
              <a:rPr lang="en-US" altLang="zh-CN" dirty="0"/>
              <a:t>,F</a:t>
            </a:r>
            <a:r>
              <a:rPr lang="en-US" altLang="zh-CN" baseline="-25000" dirty="0"/>
              <a:t>2</a:t>
            </a:r>
            <a:r>
              <a:rPr lang="en-US" altLang="zh-CN" dirty="0"/>
              <a:t>&gt;… </a:t>
            </a:r>
            <a:r>
              <a:rPr lang="en-US" altLang="zh-CN" dirty="0" err="1"/>
              <a:t>R</a:t>
            </a:r>
            <a:r>
              <a:rPr lang="en-US" altLang="zh-CN" baseline="-25000" dirty="0" err="1"/>
              <a:t>k</a:t>
            </a:r>
            <a:r>
              <a:rPr lang="en-US" altLang="zh-CN" dirty="0"/>
              <a:t>&lt;U</a:t>
            </a:r>
            <a:r>
              <a:rPr lang="en-US" altLang="zh-CN" baseline="-25000" dirty="0"/>
              <a:t>K</a:t>
            </a:r>
            <a:r>
              <a:rPr lang="en-US" altLang="zh-CN" dirty="0"/>
              <a:t>,F</a:t>
            </a:r>
            <a:r>
              <a:rPr lang="en-US" altLang="zh-CN" baseline="-25000" dirty="0"/>
              <a:t>K</a:t>
            </a:r>
            <a:r>
              <a:rPr lang="en-US" altLang="zh-CN" dirty="0"/>
              <a:t>&gt;}</a:t>
            </a:r>
            <a:r>
              <a:rPr lang="zh-CN" altLang="en-US" dirty="0"/>
              <a:t>是</a:t>
            </a:r>
            <a:r>
              <a:rPr lang="en-US" altLang="zh-CN" dirty="0"/>
              <a:t>R&lt;U,F&gt;</a:t>
            </a:r>
            <a:r>
              <a:rPr lang="zh-CN" altLang="en-US" dirty="0"/>
              <a:t>上的一个分解，若对于</a:t>
            </a:r>
            <a:r>
              <a:rPr lang="en-US" altLang="zh-CN" dirty="0"/>
              <a:t>R&lt;U,F&gt;</a:t>
            </a:r>
            <a:r>
              <a:rPr lang="zh-CN" altLang="en-US" dirty="0"/>
              <a:t>的</a:t>
            </a:r>
            <a:r>
              <a:rPr lang="zh-CN" altLang="en-US" b="1" dirty="0">
                <a:solidFill>
                  <a:srgbClr val="0000FF"/>
                </a:solidFill>
                <a:effectLst>
                  <a:outerShdw blurRad="38100" dist="38100" dir="2700000" algn="tl">
                    <a:srgbClr val="000000">
                      <a:alpha val="43137"/>
                    </a:srgbClr>
                  </a:outerShdw>
                </a:effectLst>
              </a:rPr>
              <a:t>任一关系</a:t>
            </a:r>
            <a:r>
              <a:rPr lang="en-US" altLang="zh-CN" b="1" dirty="0">
                <a:solidFill>
                  <a:srgbClr val="0000FF"/>
                </a:solidFill>
                <a:effectLst>
                  <a:outerShdw blurRad="38100" dist="38100" dir="2700000" algn="tl">
                    <a:srgbClr val="000000">
                      <a:alpha val="43137"/>
                    </a:srgbClr>
                  </a:outerShdw>
                </a:effectLst>
              </a:rPr>
              <a:t>r</a:t>
            </a:r>
            <a:r>
              <a:rPr lang="zh-CN" altLang="en-US" dirty="0"/>
              <a:t>，均有</a:t>
            </a:r>
            <a:r>
              <a:rPr lang="en-US" altLang="zh-CN" dirty="0"/>
              <a:t>r</a:t>
            </a:r>
            <a:r>
              <a:rPr lang="zh-CN" altLang="en-US" dirty="0"/>
              <a:t>＝ </a:t>
            </a:r>
            <a:r>
              <a:rPr lang="en-US" altLang="zh-CN" dirty="0" err="1"/>
              <a:t>m</a:t>
            </a:r>
            <a:r>
              <a:rPr lang="en-US" altLang="zh-CN" baseline="-25000" dirty="0" err="1"/>
              <a:t>ρ</a:t>
            </a:r>
            <a:r>
              <a:rPr lang="en-US" altLang="zh-CN" dirty="0"/>
              <a:t>(r)</a:t>
            </a:r>
            <a:r>
              <a:rPr lang="zh-CN" altLang="en-US" dirty="0"/>
              <a:t>成立，则</a:t>
            </a:r>
            <a:r>
              <a:rPr lang="en-US" altLang="zh-CN" dirty="0">
                <a:solidFill>
                  <a:schemeClr val="tx2"/>
                </a:solidFill>
              </a:rPr>
              <a:t>ρ</a:t>
            </a:r>
            <a:r>
              <a:rPr lang="zh-CN" altLang="en-US" dirty="0">
                <a:solidFill>
                  <a:schemeClr val="tx2"/>
                </a:solidFill>
              </a:rPr>
              <a:t>具有</a:t>
            </a:r>
            <a:r>
              <a:rPr lang="zh-CN" altLang="en-US" b="1" dirty="0">
                <a:solidFill>
                  <a:srgbClr val="FF0000"/>
                </a:solidFill>
              </a:rPr>
              <a:t>无损连接性</a:t>
            </a:r>
            <a:r>
              <a:rPr lang="zh-CN" altLang="en-US" dirty="0"/>
              <a:t>。</a:t>
            </a:r>
          </a:p>
          <a:p>
            <a:pPr>
              <a:buFont typeface="Wingdings" pitchFamily="2" charset="2"/>
              <a:buNone/>
            </a:pPr>
            <a:endParaRPr lang="en-US" altLang="zh-CN" dirty="0">
              <a:solidFill>
                <a:srgbClr val="FF0000"/>
              </a:solidFill>
            </a:endParaRPr>
          </a:p>
          <a:p>
            <a:pPr>
              <a:buFont typeface="Wingdings" pitchFamily="2" charset="2"/>
              <a:buNone/>
            </a:pPr>
            <a:endParaRPr lang="en-US" altLang="zh-CN" dirty="0"/>
          </a:p>
          <a:p>
            <a:pPr>
              <a:buFont typeface="Wingdings" pitchFamily="2" charset="2"/>
              <a:buNone/>
            </a:pPr>
            <a:r>
              <a:rPr lang="zh-CN" altLang="en-US" dirty="0"/>
              <a:t>此定义无法用于判断，无损连接性只能通过</a:t>
            </a:r>
            <a:r>
              <a:rPr lang="zh-CN" altLang="en-US" u="sng" dirty="0">
                <a:solidFill>
                  <a:schemeClr val="tx2"/>
                </a:solidFill>
              </a:rPr>
              <a:t>算法</a:t>
            </a:r>
            <a:r>
              <a:rPr lang="en-US" altLang="zh-CN" u="sng" dirty="0">
                <a:solidFill>
                  <a:schemeClr val="tx2"/>
                </a:solidFill>
              </a:rPr>
              <a:t>6.2</a:t>
            </a:r>
            <a:r>
              <a:rPr lang="zh-CN" altLang="en-US" u="sng" dirty="0"/>
              <a:t>或</a:t>
            </a:r>
            <a:r>
              <a:rPr lang="zh-CN" altLang="en-US" u="sng" dirty="0">
                <a:solidFill>
                  <a:schemeClr val="tx2"/>
                </a:solidFill>
              </a:rPr>
              <a:t>定理</a:t>
            </a:r>
            <a:r>
              <a:rPr lang="en-US" altLang="zh-CN" u="sng" dirty="0">
                <a:solidFill>
                  <a:schemeClr val="tx2"/>
                </a:solidFill>
              </a:rPr>
              <a:t>6.5</a:t>
            </a:r>
            <a:r>
              <a:rPr lang="zh-CN" altLang="en-US" dirty="0"/>
              <a:t>来判断。</a:t>
            </a:r>
          </a:p>
        </p:txBody>
      </p:sp>
      <p:grpSp>
        <p:nvGrpSpPr>
          <p:cNvPr id="3" name="组合 2">
            <a:extLst>
              <a:ext uri="{FF2B5EF4-FFF2-40B4-BE49-F238E27FC236}">
                <a16:creationId xmlns:a16="http://schemas.microsoft.com/office/drawing/2014/main" id="{67132EA8-E870-E516-F331-9BA5FEEF45A1}"/>
              </a:ext>
            </a:extLst>
          </p:cNvPr>
          <p:cNvGrpSpPr/>
          <p:nvPr/>
        </p:nvGrpSpPr>
        <p:grpSpPr>
          <a:xfrm>
            <a:off x="1331640" y="3790156"/>
            <a:ext cx="6038056" cy="461665"/>
            <a:chOff x="838200" y="4093842"/>
            <a:chExt cx="6038056" cy="461665"/>
          </a:xfrm>
        </p:grpSpPr>
        <p:sp>
          <p:nvSpPr>
            <p:cNvPr id="5" name="文本框 4">
              <a:extLst>
                <a:ext uri="{FF2B5EF4-FFF2-40B4-BE49-F238E27FC236}">
                  <a16:creationId xmlns:a16="http://schemas.microsoft.com/office/drawing/2014/main" id="{FFE13313-0D6E-1914-B39E-D98FD3A8968A}"/>
                </a:ext>
              </a:extLst>
            </p:cNvPr>
            <p:cNvSpPr txBox="1"/>
            <p:nvPr/>
          </p:nvSpPr>
          <p:spPr>
            <a:xfrm>
              <a:off x="838200" y="4093842"/>
              <a:ext cx="6038056" cy="461665"/>
            </a:xfrm>
            <a:prstGeom prst="rect">
              <a:avLst/>
            </a:prstGeom>
            <a:noFill/>
          </p:spPr>
          <p:txBody>
            <a:bodyPr wrap="square">
              <a:spAutoFit/>
            </a:bodyPr>
            <a:lstStyle/>
            <a:p>
              <a:r>
                <a:rPr lang="zh-CN" altLang="en-US" sz="2400" dirty="0"/>
                <a:t>即：</a:t>
              </a:r>
              <a:r>
                <a:rPr lang="en-US" altLang="zh-CN" sz="2400" dirty="0"/>
                <a:t>π</a:t>
              </a:r>
              <a:r>
                <a:rPr lang="en-US" altLang="zh-CN" sz="2400" baseline="-25000" dirty="0"/>
                <a:t>R1 </a:t>
              </a:r>
              <a:r>
                <a:rPr lang="en-US" altLang="zh-CN" sz="2400" dirty="0"/>
                <a:t>(r)       π</a:t>
              </a:r>
              <a:r>
                <a:rPr lang="en-US" altLang="zh-CN" sz="2400" baseline="-25000" dirty="0"/>
                <a:t>R2</a:t>
              </a:r>
              <a:r>
                <a:rPr lang="en-US" altLang="zh-CN" sz="2400" dirty="0"/>
                <a:t>(r)       …       π</a:t>
              </a:r>
              <a:r>
                <a:rPr lang="en-US" altLang="zh-CN" sz="2400" baseline="-25000" dirty="0" err="1"/>
                <a:t>Rk</a:t>
              </a:r>
              <a:r>
                <a:rPr lang="en-US" altLang="zh-CN" sz="2400" dirty="0"/>
                <a:t>(r) = </a:t>
              </a:r>
              <a:r>
                <a:rPr lang="en-US" altLang="zh-CN" sz="2400" dirty="0">
                  <a:solidFill>
                    <a:srgbClr val="0000FF"/>
                  </a:solidFill>
                </a:rPr>
                <a:t>r</a:t>
              </a:r>
              <a:r>
                <a:rPr lang="en-US" altLang="zh-CN" sz="2400" dirty="0"/>
                <a:t> </a:t>
              </a:r>
              <a:endParaRPr lang="zh-CN" altLang="en-US" dirty="0"/>
            </a:p>
          </p:txBody>
        </p:sp>
        <p:sp>
          <p:nvSpPr>
            <p:cNvPr id="6" name="AutoShape 4">
              <a:extLst>
                <a:ext uri="{FF2B5EF4-FFF2-40B4-BE49-F238E27FC236}">
                  <a16:creationId xmlns:a16="http://schemas.microsoft.com/office/drawing/2014/main" id="{1E3D8A39-8B28-489E-422A-F6E89BF0E575}"/>
                </a:ext>
              </a:extLst>
            </p:cNvPr>
            <p:cNvSpPr>
              <a:spLocks noChangeArrowheads="1"/>
            </p:cNvSpPr>
            <p:nvPr/>
          </p:nvSpPr>
          <p:spPr bwMode="auto">
            <a:xfrm rot="5521025">
              <a:off x="2707890" y="4164585"/>
              <a:ext cx="228600" cy="381000"/>
            </a:xfrm>
            <a:prstGeom prst="flowChartCollate">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AutoShape 5">
              <a:extLst>
                <a:ext uri="{FF2B5EF4-FFF2-40B4-BE49-F238E27FC236}">
                  <a16:creationId xmlns:a16="http://schemas.microsoft.com/office/drawing/2014/main" id="{150EB5C3-EA18-9A88-2435-CCF2A61E7008}"/>
                </a:ext>
              </a:extLst>
            </p:cNvPr>
            <p:cNvSpPr>
              <a:spLocks noChangeArrowheads="1"/>
            </p:cNvSpPr>
            <p:nvPr/>
          </p:nvSpPr>
          <p:spPr bwMode="auto">
            <a:xfrm rot="5521025">
              <a:off x="4076042" y="4204782"/>
              <a:ext cx="228600" cy="381000"/>
            </a:xfrm>
            <a:prstGeom prst="flowChartCollate">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AutoShape 6">
              <a:extLst>
                <a:ext uri="{FF2B5EF4-FFF2-40B4-BE49-F238E27FC236}">
                  <a16:creationId xmlns:a16="http://schemas.microsoft.com/office/drawing/2014/main" id="{AAC9CC81-1ABA-AD00-1028-640333889965}"/>
                </a:ext>
              </a:extLst>
            </p:cNvPr>
            <p:cNvSpPr>
              <a:spLocks noChangeArrowheads="1"/>
            </p:cNvSpPr>
            <p:nvPr/>
          </p:nvSpPr>
          <p:spPr bwMode="auto">
            <a:xfrm rot="5521025">
              <a:off x="5012146" y="4204782"/>
              <a:ext cx="228600" cy="381000"/>
            </a:xfrm>
            <a:prstGeom prst="flowChartCollate">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 name="页脚占位符 9">
            <a:extLst>
              <a:ext uri="{FF2B5EF4-FFF2-40B4-BE49-F238E27FC236}">
                <a16:creationId xmlns:a16="http://schemas.microsoft.com/office/drawing/2014/main" id="{C989B636-38E4-259A-1007-38581ABD0A03}"/>
              </a:ext>
            </a:extLst>
          </p:cNvPr>
          <p:cNvSpPr>
            <a:spLocks noGrp="1"/>
          </p:cNvSpPr>
          <p:nvPr>
            <p:ph type="ftr" sz="quarter" idx="11"/>
          </p:nvPr>
        </p:nvSpPr>
        <p:spPr/>
        <p:txBody>
          <a:bodyPr/>
          <a:lstStyle/>
          <a:p>
            <a:r>
              <a:rPr lang="en-US" altLang="zh-CN"/>
              <a:t>《数据库系统概论》- 第6章</a:t>
            </a:r>
          </a:p>
        </p:txBody>
      </p:sp>
      <p:sp>
        <p:nvSpPr>
          <p:cNvPr id="11" name="灯片编号占位符 10">
            <a:extLst>
              <a:ext uri="{FF2B5EF4-FFF2-40B4-BE49-F238E27FC236}">
                <a16:creationId xmlns:a16="http://schemas.microsoft.com/office/drawing/2014/main" id="{4A794EC6-AAE9-AAF9-5CA8-27CEE94407EE}"/>
              </a:ext>
            </a:extLst>
          </p:cNvPr>
          <p:cNvSpPr>
            <a:spLocks noGrp="1"/>
          </p:cNvSpPr>
          <p:nvPr>
            <p:ph type="sldNum" sz="quarter" idx="12"/>
          </p:nvPr>
        </p:nvSpPr>
        <p:spPr/>
        <p:txBody>
          <a:bodyPr/>
          <a:lstStyle/>
          <a:p>
            <a:fld id="{A2D74603-B40B-4D66-8F6E-41C870D48932}" type="slidenum">
              <a:rPr lang="en-US" altLang="zh-CN" smtClean="0"/>
              <a:pPr/>
              <a:t>141</a:t>
            </a:fld>
            <a:r>
              <a:rPr lang="en-US" altLang="zh-CN"/>
              <a:t>/162</a:t>
            </a:r>
            <a:endParaRPr lang="en-US" altLang="zh-CN" dirty="0"/>
          </a:p>
        </p:txBody>
      </p:sp>
    </p:spTree>
    <p:extLst>
      <p:ext uri="{BB962C8B-B14F-4D97-AF65-F5344CB8AC3E}">
        <p14:creationId xmlns:p14="http://schemas.microsoft.com/office/powerpoint/2010/main" val="38413448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26659">
                                            <p:txEl>
                                              <p:pRg st="3" end="3"/>
                                            </p:txEl>
                                          </p:spTgt>
                                        </p:tgtEl>
                                        <p:attrNameLst>
                                          <p:attrName>style.visibility</p:attrName>
                                        </p:attrNameLst>
                                      </p:cBhvr>
                                      <p:to>
                                        <p:strVal val="visible"/>
                                      </p:to>
                                    </p:set>
                                    <p:anim calcmode="lin" valueType="num">
                                      <p:cBhvr additive="base">
                                        <p:cTn id="14" dur="500" fill="hold"/>
                                        <p:tgtEl>
                                          <p:spTgt spid="326659">
                                            <p:txEl>
                                              <p:pRg st="3" end="3"/>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2665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358CE3BB-C0A1-471D-8C4B-3794ACFA475C}" type="datetime1">
              <a:rPr lang="zh-CN" altLang="en-US" smtClean="0"/>
              <a:t>2025/11/6</a:t>
            </a:fld>
            <a:endParaRPr lang="en-US" altLang="zh-CN"/>
          </a:p>
        </p:txBody>
      </p:sp>
      <p:sp>
        <p:nvSpPr>
          <p:cNvPr id="327682" name="Rectangle 2"/>
          <p:cNvSpPr>
            <a:spLocks noGrp="1" noChangeArrowheads="1"/>
          </p:cNvSpPr>
          <p:nvPr>
            <p:ph type="title"/>
          </p:nvPr>
        </p:nvSpPr>
        <p:spPr/>
        <p:txBody>
          <a:bodyPr/>
          <a:lstStyle/>
          <a:p>
            <a:r>
              <a:rPr lang="en-US" altLang="zh-CN" dirty="0"/>
              <a:t>8.4.2 </a:t>
            </a:r>
            <a:r>
              <a:rPr lang="zh-CN" altLang="en-US" dirty="0"/>
              <a:t>分解的无损连接性和保持函数依赖性</a:t>
            </a:r>
          </a:p>
        </p:txBody>
      </p:sp>
      <p:sp>
        <p:nvSpPr>
          <p:cNvPr id="327683" name="Rectangle 3"/>
          <p:cNvSpPr>
            <a:spLocks noGrp="1" noChangeArrowheads="1"/>
          </p:cNvSpPr>
          <p:nvPr>
            <p:ph type="body" idx="1"/>
          </p:nvPr>
        </p:nvSpPr>
        <p:spPr>
          <a:xfrm>
            <a:off x="609600" y="1376362"/>
            <a:ext cx="8345488" cy="5481638"/>
          </a:xfrm>
          <a:solidFill>
            <a:schemeClr val="bg1"/>
          </a:solidFill>
        </p:spPr>
        <p:txBody>
          <a:bodyPr/>
          <a:lstStyle/>
          <a:p>
            <a:pPr>
              <a:lnSpc>
                <a:spcPct val="80000"/>
              </a:lnSpc>
              <a:buFont typeface="Wingdings" pitchFamily="2" charset="2"/>
              <a:buNone/>
            </a:pPr>
            <a:r>
              <a:rPr lang="zh-CN" altLang="en-US" sz="2400" dirty="0">
                <a:solidFill>
                  <a:srgbClr val="0000FF"/>
                </a:solidFill>
              </a:rPr>
              <a:t>算法</a:t>
            </a:r>
            <a:r>
              <a:rPr lang="en-US" altLang="zh-CN" sz="2400" dirty="0">
                <a:solidFill>
                  <a:srgbClr val="0000FF"/>
                </a:solidFill>
              </a:rPr>
              <a:t>6.2</a:t>
            </a:r>
            <a:r>
              <a:rPr lang="en-US" altLang="zh-CN" sz="2400" dirty="0"/>
              <a:t> </a:t>
            </a:r>
            <a:r>
              <a:rPr lang="zh-CN" altLang="en-US" sz="2400" dirty="0">
                <a:solidFill>
                  <a:srgbClr val="FF0000"/>
                </a:solidFill>
              </a:rPr>
              <a:t>判断</a:t>
            </a:r>
            <a:r>
              <a:rPr lang="zh-CN" altLang="en-US" sz="2400" dirty="0"/>
              <a:t>一个分解的</a:t>
            </a:r>
            <a:r>
              <a:rPr lang="zh-CN" altLang="en-US" sz="2400" b="1" dirty="0">
                <a:solidFill>
                  <a:schemeClr val="tx2"/>
                </a:solidFill>
              </a:rPr>
              <a:t>无损连接性</a:t>
            </a:r>
            <a:r>
              <a:rPr lang="zh-CN" altLang="en-US" sz="2400" dirty="0"/>
              <a:t>。</a:t>
            </a:r>
            <a:r>
              <a:rPr lang="en-US" altLang="zh-CN" sz="2400" dirty="0"/>
              <a:t>(</a:t>
            </a:r>
            <a:r>
              <a:rPr lang="zh-CN" altLang="en-US" sz="2400" dirty="0"/>
              <a:t>了解，通过例子来学习</a:t>
            </a:r>
            <a:r>
              <a:rPr lang="en-US" altLang="zh-CN" sz="2400" dirty="0"/>
              <a:t>)</a:t>
            </a:r>
          </a:p>
          <a:p>
            <a:pPr>
              <a:lnSpc>
                <a:spcPct val="80000"/>
              </a:lnSpc>
              <a:buNone/>
            </a:pPr>
            <a:r>
              <a:rPr lang="zh-CN" altLang="en-US" sz="2400" dirty="0"/>
              <a:t>例</a:t>
            </a:r>
            <a:r>
              <a:rPr lang="en-US" altLang="zh-CN" sz="2400" dirty="0"/>
              <a:t>1 R(</a:t>
            </a:r>
            <a:r>
              <a:rPr lang="en-US" altLang="zh-CN" sz="2400" dirty="0">
                <a:solidFill>
                  <a:srgbClr val="800080"/>
                </a:solidFill>
              </a:rPr>
              <a:t>U</a:t>
            </a:r>
            <a:r>
              <a:rPr lang="en-US" altLang="zh-CN" sz="2400" dirty="0"/>
              <a:t>, </a:t>
            </a:r>
            <a:r>
              <a:rPr lang="en-US" altLang="zh-CN" sz="2400" dirty="0">
                <a:solidFill>
                  <a:srgbClr val="0000FF"/>
                </a:solidFill>
              </a:rPr>
              <a:t>F</a:t>
            </a:r>
            <a:r>
              <a:rPr lang="en-US" altLang="zh-CN" sz="2400" dirty="0"/>
              <a:t>), U={</a:t>
            </a:r>
            <a:r>
              <a:rPr lang="en-US" altLang="zh-CN" sz="2400" dirty="0">
                <a:solidFill>
                  <a:srgbClr val="800080"/>
                </a:solidFill>
              </a:rPr>
              <a:t>S</a:t>
            </a:r>
            <a:r>
              <a:rPr lang="zh-CN" altLang="en-US" sz="2400" dirty="0">
                <a:solidFill>
                  <a:srgbClr val="800080"/>
                </a:solidFill>
              </a:rPr>
              <a:t>，</a:t>
            </a:r>
            <a:r>
              <a:rPr lang="en-US" altLang="zh-CN" sz="2400" dirty="0">
                <a:solidFill>
                  <a:srgbClr val="800080"/>
                </a:solidFill>
              </a:rPr>
              <a:t>A</a:t>
            </a:r>
            <a:r>
              <a:rPr lang="zh-CN" altLang="en-US" sz="2400" dirty="0">
                <a:solidFill>
                  <a:srgbClr val="800080"/>
                </a:solidFill>
              </a:rPr>
              <a:t>，</a:t>
            </a:r>
            <a:r>
              <a:rPr lang="en-US" altLang="zh-CN" sz="2400" dirty="0">
                <a:solidFill>
                  <a:srgbClr val="800080"/>
                </a:solidFill>
              </a:rPr>
              <a:t>I</a:t>
            </a:r>
            <a:r>
              <a:rPr lang="zh-CN" altLang="en-US" sz="2400" dirty="0">
                <a:solidFill>
                  <a:srgbClr val="800080"/>
                </a:solidFill>
              </a:rPr>
              <a:t>，</a:t>
            </a:r>
            <a:r>
              <a:rPr lang="en-US" altLang="zh-CN" sz="2400" dirty="0">
                <a:solidFill>
                  <a:srgbClr val="800080"/>
                </a:solidFill>
              </a:rPr>
              <a:t>P</a:t>
            </a:r>
            <a:r>
              <a:rPr lang="en-US" altLang="zh-CN" sz="2400" dirty="0"/>
              <a:t>}, F </a:t>
            </a:r>
            <a:r>
              <a:rPr lang="zh-CN" altLang="en-US" sz="2400" dirty="0"/>
              <a:t>＝ </a:t>
            </a:r>
            <a:r>
              <a:rPr lang="en-US" altLang="zh-CN" sz="2400" dirty="0"/>
              <a:t>{</a:t>
            </a:r>
            <a:r>
              <a:rPr lang="en-US" altLang="zh-CN" sz="2400" dirty="0">
                <a:solidFill>
                  <a:srgbClr val="0000FF"/>
                </a:solidFill>
              </a:rPr>
              <a:t>S</a:t>
            </a:r>
            <a:r>
              <a:rPr lang="en-US" altLang="zh-CN" sz="2400" dirty="0">
                <a:solidFill>
                  <a:srgbClr val="0000FF"/>
                </a:solidFill>
                <a:latin typeface="宋体" pitchFamily="2" charset="-122"/>
              </a:rPr>
              <a:t>→</a:t>
            </a:r>
            <a:r>
              <a:rPr lang="en-US" altLang="zh-CN" sz="2400" dirty="0">
                <a:solidFill>
                  <a:srgbClr val="0000FF"/>
                </a:solidFill>
              </a:rPr>
              <a:t>A, SI</a:t>
            </a:r>
            <a:r>
              <a:rPr lang="en-US" altLang="zh-CN" sz="2400" dirty="0">
                <a:solidFill>
                  <a:srgbClr val="0000FF"/>
                </a:solidFill>
                <a:latin typeface="宋体" pitchFamily="2" charset="-122"/>
              </a:rPr>
              <a:t>→</a:t>
            </a:r>
            <a:r>
              <a:rPr lang="en-US" altLang="zh-CN" sz="2400" dirty="0">
                <a:solidFill>
                  <a:srgbClr val="0000FF"/>
                </a:solidFill>
              </a:rPr>
              <a:t>P</a:t>
            </a:r>
            <a:r>
              <a:rPr lang="en-US" altLang="zh-CN" sz="2400" dirty="0"/>
              <a:t>}, R</a:t>
            </a:r>
            <a:r>
              <a:rPr lang="zh-CN" altLang="en-US" sz="2400" dirty="0"/>
              <a:t>的一个分解为</a:t>
            </a:r>
            <a:r>
              <a:rPr lang="en-US" altLang="zh-CN" sz="2400" u="sng" dirty="0"/>
              <a:t>R1(S</a:t>
            </a:r>
            <a:r>
              <a:rPr lang="zh-CN" altLang="en-US" sz="2400" u="sng" dirty="0"/>
              <a:t>，</a:t>
            </a:r>
            <a:r>
              <a:rPr lang="en-US" altLang="zh-CN" sz="2400" u="sng" dirty="0"/>
              <a:t>A)</a:t>
            </a:r>
            <a:r>
              <a:rPr lang="zh-CN" altLang="en-US" sz="2400" u="sng" dirty="0"/>
              <a:t>，</a:t>
            </a:r>
            <a:r>
              <a:rPr lang="en-US" altLang="zh-CN" sz="2400" u="sng" dirty="0"/>
              <a:t>R2(S</a:t>
            </a:r>
            <a:r>
              <a:rPr lang="zh-CN" altLang="en-US" sz="2400" u="sng" dirty="0"/>
              <a:t>，</a:t>
            </a:r>
            <a:r>
              <a:rPr lang="en-US" altLang="zh-CN" sz="2400" u="sng" dirty="0"/>
              <a:t>I</a:t>
            </a:r>
            <a:r>
              <a:rPr lang="zh-CN" altLang="en-US" sz="2400" u="sng" dirty="0"/>
              <a:t>，</a:t>
            </a:r>
            <a:r>
              <a:rPr lang="en-US" altLang="zh-CN" sz="2400" u="sng" dirty="0"/>
              <a:t>P)</a:t>
            </a:r>
            <a:r>
              <a:rPr lang="zh-CN" altLang="en-US" sz="2400" dirty="0"/>
              <a:t>。</a:t>
            </a:r>
            <a:endParaRPr lang="en-US" altLang="zh-CN" sz="2400" dirty="0"/>
          </a:p>
          <a:p>
            <a:pPr>
              <a:lnSpc>
                <a:spcPct val="80000"/>
              </a:lnSpc>
              <a:buFont typeface="Wingdings" pitchFamily="2" charset="2"/>
              <a:buNone/>
            </a:pPr>
            <a:endParaRPr lang="en-US" altLang="zh-CN" sz="2400" dirty="0"/>
          </a:p>
          <a:p>
            <a:pPr>
              <a:lnSpc>
                <a:spcPct val="80000"/>
              </a:lnSpc>
              <a:buFont typeface="Wingdings" pitchFamily="2" charset="2"/>
              <a:buNone/>
            </a:pPr>
            <a:r>
              <a:rPr lang="en-US" altLang="zh-CN" sz="2400" dirty="0">
                <a:solidFill>
                  <a:srgbClr val="0000FF"/>
                </a:solidFill>
              </a:rPr>
              <a:t>S     A     I     P</a:t>
            </a:r>
          </a:p>
          <a:p>
            <a:pPr>
              <a:lnSpc>
                <a:spcPct val="80000"/>
              </a:lnSpc>
              <a:buFont typeface="Wingdings" pitchFamily="2" charset="2"/>
              <a:buNone/>
            </a:pPr>
            <a:r>
              <a:rPr lang="en-US" altLang="zh-CN" sz="2400" dirty="0"/>
              <a:t>a1   a2   b13 b14</a:t>
            </a:r>
          </a:p>
          <a:p>
            <a:pPr>
              <a:lnSpc>
                <a:spcPct val="80000"/>
              </a:lnSpc>
              <a:buFont typeface="Wingdings" pitchFamily="2" charset="2"/>
              <a:buNone/>
            </a:pPr>
            <a:r>
              <a:rPr lang="en-US" altLang="zh-CN" sz="2400" dirty="0"/>
              <a:t>a1   b22 a3   a4</a:t>
            </a:r>
          </a:p>
          <a:p>
            <a:pPr>
              <a:lnSpc>
                <a:spcPct val="80000"/>
              </a:lnSpc>
              <a:spcBef>
                <a:spcPct val="50000"/>
              </a:spcBef>
              <a:buFont typeface="Wingdings" pitchFamily="2" charset="2"/>
              <a:buNone/>
            </a:pPr>
            <a:endParaRPr lang="zh-CN" altLang="en-US" sz="2400" dirty="0"/>
          </a:p>
        </p:txBody>
      </p:sp>
      <p:cxnSp>
        <p:nvCxnSpPr>
          <p:cNvPr id="3" name="直接箭头连接符 2"/>
          <p:cNvCxnSpPr/>
          <p:nvPr/>
        </p:nvCxnSpPr>
        <p:spPr bwMode="auto">
          <a:xfrm>
            <a:off x="609600" y="3090858"/>
            <a:ext cx="0" cy="129540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接箭头连接符 8"/>
          <p:cNvCxnSpPr/>
          <p:nvPr/>
        </p:nvCxnSpPr>
        <p:spPr bwMode="auto">
          <a:xfrm>
            <a:off x="609600" y="3016891"/>
            <a:ext cx="2667000" cy="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TextBox 9"/>
          <p:cNvSpPr txBox="1"/>
          <p:nvPr/>
        </p:nvSpPr>
        <p:spPr>
          <a:xfrm>
            <a:off x="350453" y="4109017"/>
            <a:ext cx="255199" cy="461665"/>
          </a:xfrm>
          <a:prstGeom prst="rect">
            <a:avLst/>
          </a:prstGeom>
          <a:noFill/>
        </p:spPr>
        <p:txBody>
          <a:bodyPr wrap="none" rtlCol="0">
            <a:spAutoFit/>
          </a:bodyPr>
          <a:lstStyle/>
          <a:p>
            <a:r>
              <a:rPr lang="en-US" altLang="zh-CN" dirty="0" err="1">
                <a:solidFill>
                  <a:schemeClr val="tx2"/>
                </a:solidFill>
              </a:rPr>
              <a:t>i</a:t>
            </a:r>
            <a:endParaRPr lang="zh-CN" altLang="en-US" dirty="0">
              <a:solidFill>
                <a:schemeClr val="tx2"/>
              </a:solidFill>
            </a:endParaRPr>
          </a:p>
        </p:txBody>
      </p:sp>
      <p:sp>
        <p:nvSpPr>
          <p:cNvPr id="14" name="TextBox 13"/>
          <p:cNvSpPr txBox="1"/>
          <p:nvPr/>
        </p:nvSpPr>
        <p:spPr>
          <a:xfrm>
            <a:off x="3344786" y="2786058"/>
            <a:ext cx="271228" cy="461665"/>
          </a:xfrm>
          <a:prstGeom prst="rect">
            <a:avLst/>
          </a:prstGeom>
          <a:noFill/>
        </p:spPr>
        <p:txBody>
          <a:bodyPr wrap="none" rtlCol="0">
            <a:spAutoFit/>
          </a:bodyPr>
          <a:lstStyle/>
          <a:p>
            <a:r>
              <a:rPr lang="en-US" altLang="zh-CN" dirty="0">
                <a:solidFill>
                  <a:schemeClr val="tx2"/>
                </a:solidFill>
              </a:rPr>
              <a:t>j</a:t>
            </a:r>
            <a:endParaRPr lang="zh-CN" altLang="en-US" dirty="0">
              <a:solidFill>
                <a:schemeClr val="tx2"/>
              </a:solidFill>
            </a:endParaRPr>
          </a:p>
        </p:txBody>
      </p:sp>
      <p:sp>
        <p:nvSpPr>
          <p:cNvPr id="13" name="TextBox 12"/>
          <p:cNvSpPr txBox="1"/>
          <p:nvPr/>
        </p:nvSpPr>
        <p:spPr>
          <a:xfrm>
            <a:off x="3065051" y="3357562"/>
            <a:ext cx="1406668" cy="461665"/>
          </a:xfrm>
          <a:prstGeom prst="rect">
            <a:avLst/>
          </a:prstGeom>
          <a:noFill/>
        </p:spPr>
        <p:txBody>
          <a:bodyPr wrap="none" rtlCol="0">
            <a:spAutoFit/>
          </a:bodyPr>
          <a:lstStyle/>
          <a:p>
            <a:r>
              <a:rPr lang="en-US" altLang="zh-CN" dirty="0">
                <a:solidFill>
                  <a:srgbClr val="FF0000"/>
                </a:solidFill>
              </a:rPr>
              <a:t>U</a:t>
            </a:r>
            <a:r>
              <a:rPr lang="en-US" altLang="zh-CN" baseline="-25000" dirty="0">
                <a:solidFill>
                  <a:srgbClr val="FF0000"/>
                </a:solidFill>
              </a:rPr>
              <a:t>1</a:t>
            </a:r>
            <a:r>
              <a:rPr lang="en-US" altLang="zh-CN" dirty="0">
                <a:solidFill>
                  <a:srgbClr val="FF0000"/>
                </a:solidFill>
              </a:rPr>
              <a:t>=(S,A)</a:t>
            </a:r>
            <a:endParaRPr lang="zh-CN" altLang="en-US" dirty="0">
              <a:solidFill>
                <a:srgbClr val="FF0000"/>
              </a:solidFill>
            </a:endParaRPr>
          </a:p>
        </p:txBody>
      </p:sp>
      <p:sp>
        <p:nvSpPr>
          <p:cNvPr id="17" name="TextBox 16"/>
          <p:cNvSpPr txBox="1"/>
          <p:nvPr/>
        </p:nvSpPr>
        <p:spPr>
          <a:xfrm>
            <a:off x="3071802" y="3714752"/>
            <a:ext cx="1600631" cy="707886"/>
          </a:xfrm>
          <a:prstGeom prst="rect">
            <a:avLst/>
          </a:prstGeom>
          <a:noFill/>
        </p:spPr>
        <p:txBody>
          <a:bodyPr wrap="none" rtlCol="0">
            <a:spAutoFit/>
          </a:bodyPr>
          <a:lstStyle/>
          <a:p>
            <a:r>
              <a:rPr lang="en-US" altLang="zh-CN" dirty="0">
                <a:solidFill>
                  <a:srgbClr val="FF0000"/>
                </a:solidFill>
              </a:rPr>
              <a:t>U</a:t>
            </a:r>
            <a:r>
              <a:rPr lang="en-US" altLang="zh-CN" baseline="-25000" dirty="0">
                <a:solidFill>
                  <a:srgbClr val="FF0000"/>
                </a:solidFill>
              </a:rPr>
              <a:t>2</a:t>
            </a:r>
            <a:r>
              <a:rPr lang="en-US" altLang="zh-CN" dirty="0">
                <a:solidFill>
                  <a:srgbClr val="FF0000"/>
                </a:solidFill>
              </a:rPr>
              <a:t>=(S,I,P)</a:t>
            </a:r>
            <a:endParaRPr lang="zh-CN" altLang="en-US" dirty="0">
              <a:solidFill>
                <a:srgbClr val="FF0000"/>
              </a:solidFill>
            </a:endParaRPr>
          </a:p>
          <a:p>
            <a:endParaRPr lang="zh-CN" altLang="en-US" baseline="-25000" dirty="0">
              <a:solidFill>
                <a:srgbClr val="FF0000"/>
              </a:solidFill>
            </a:endParaRPr>
          </a:p>
        </p:txBody>
      </p:sp>
      <p:sp>
        <p:nvSpPr>
          <p:cNvPr id="16" name="矩形 15"/>
          <p:cNvSpPr/>
          <p:nvPr/>
        </p:nvSpPr>
        <p:spPr>
          <a:xfrm>
            <a:off x="571472" y="3214686"/>
            <a:ext cx="2428870" cy="387798"/>
          </a:xfrm>
          <a:prstGeom prst="rect">
            <a:avLst/>
          </a:prstGeom>
        </p:spPr>
        <p:txBody>
          <a:bodyPr wrap="none">
            <a:spAutoFit/>
          </a:bodyPr>
          <a:lstStyle/>
          <a:p>
            <a:pPr>
              <a:lnSpc>
                <a:spcPct val="80000"/>
              </a:lnSpc>
              <a:buFont typeface="Wingdings" pitchFamily="2" charset="2"/>
              <a:buNone/>
            </a:pPr>
            <a:r>
              <a:rPr lang="en-US" altLang="zh-CN" dirty="0"/>
              <a:t>--------------------</a:t>
            </a:r>
          </a:p>
        </p:txBody>
      </p:sp>
      <p:sp>
        <p:nvSpPr>
          <p:cNvPr id="5" name="页脚占位符 4">
            <a:extLst>
              <a:ext uri="{FF2B5EF4-FFF2-40B4-BE49-F238E27FC236}">
                <a16:creationId xmlns:a16="http://schemas.microsoft.com/office/drawing/2014/main" id="{243B330B-0A51-7DBF-E2B6-60C672CA60F6}"/>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078A5EF5-8276-65E4-7F62-AF02A4AAF824}"/>
              </a:ext>
            </a:extLst>
          </p:cNvPr>
          <p:cNvSpPr>
            <a:spLocks noGrp="1"/>
          </p:cNvSpPr>
          <p:nvPr>
            <p:ph type="sldNum" sz="quarter" idx="12"/>
          </p:nvPr>
        </p:nvSpPr>
        <p:spPr/>
        <p:txBody>
          <a:bodyPr/>
          <a:lstStyle/>
          <a:p>
            <a:fld id="{A2D74603-B40B-4D66-8F6E-41C870D48932}" type="slidenum">
              <a:rPr lang="en-US" altLang="zh-CN" smtClean="0"/>
              <a:pPr/>
              <a:t>142</a:t>
            </a:fld>
            <a:r>
              <a:rPr lang="en-US" altLang="zh-CN"/>
              <a:t>/162</a:t>
            </a:r>
            <a:endParaRPr lang="en-US" altLang="zh-CN" dirty="0"/>
          </a:p>
        </p:txBody>
      </p:sp>
      <p:sp>
        <p:nvSpPr>
          <p:cNvPr id="7" name="TextBox 1">
            <a:extLst>
              <a:ext uri="{FF2B5EF4-FFF2-40B4-BE49-F238E27FC236}">
                <a16:creationId xmlns:a16="http://schemas.microsoft.com/office/drawing/2014/main" id="{F1809A74-ADFB-36D6-EEC8-4F3DDF28A3D3}"/>
              </a:ext>
            </a:extLst>
          </p:cNvPr>
          <p:cNvSpPr txBox="1"/>
          <p:nvPr/>
        </p:nvSpPr>
        <p:spPr>
          <a:xfrm>
            <a:off x="4803980" y="2822430"/>
            <a:ext cx="4189236" cy="132343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pPr algn="l"/>
            <a:r>
              <a:rPr lang="zh-CN" altLang="en-US" sz="2000" dirty="0"/>
              <a:t>建立一个</a:t>
            </a:r>
            <a:r>
              <a:rPr lang="en-US" altLang="zh-CN" sz="2000" dirty="0">
                <a:solidFill>
                  <a:srgbClr val="0000FF"/>
                </a:solidFill>
              </a:rPr>
              <a:t>n</a:t>
            </a:r>
            <a:r>
              <a:rPr lang="zh-CN" altLang="en-US" sz="2000" dirty="0">
                <a:solidFill>
                  <a:srgbClr val="0000FF"/>
                </a:solidFill>
              </a:rPr>
              <a:t>列</a:t>
            </a:r>
            <a:r>
              <a:rPr lang="en-US" altLang="zh-CN" sz="2000" dirty="0">
                <a:solidFill>
                  <a:srgbClr val="0000FF"/>
                </a:solidFill>
              </a:rPr>
              <a:t>k</a:t>
            </a:r>
            <a:r>
              <a:rPr lang="zh-CN" altLang="en-US" sz="2000" dirty="0">
                <a:solidFill>
                  <a:srgbClr val="0000FF"/>
                </a:solidFill>
              </a:rPr>
              <a:t>行</a:t>
            </a:r>
            <a:r>
              <a:rPr lang="zh-CN" altLang="en-US" sz="2000" dirty="0"/>
              <a:t>的表，每一列对应一个属性，每一行对应分解中的一个关系模式</a:t>
            </a:r>
            <a:r>
              <a:rPr lang="en-US" altLang="zh-CN" sz="2000" dirty="0"/>
              <a:t>; n=4(</a:t>
            </a:r>
            <a:r>
              <a:rPr lang="zh-CN" altLang="en-US" sz="2000" dirty="0"/>
              <a:t>属性列个数</a:t>
            </a:r>
            <a:r>
              <a:rPr lang="en-US" altLang="zh-CN" sz="2000" dirty="0"/>
              <a:t>)</a:t>
            </a:r>
            <a:r>
              <a:rPr lang="zh-CN" altLang="en-US" sz="2000" dirty="0"/>
              <a:t>，</a:t>
            </a:r>
            <a:r>
              <a:rPr lang="en-US" altLang="zh-CN" sz="2000" dirty="0"/>
              <a:t>k=2(</a:t>
            </a:r>
            <a:r>
              <a:rPr lang="zh-CN" altLang="en-US" sz="2000" dirty="0"/>
              <a:t>分解后关系模式个数</a:t>
            </a:r>
            <a:r>
              <a:rPr lang="en-US" altLang="zh-CN" sz="2000" dirty="0"/>
              <a:t>)</a:t>
            </a:r>
            <a:endParaRPr lang="zh-CN" altLang="en-US" sz="2000" dirty="0"/>
          </a:p>
        </p:txBody>
      </p:sp>
      <p:sp>
        <p:nvSpPr>
          <p:cNvPr id="8" name="TextBox 1">
            <a:extLst>
              <a:ext uri="{FF2B5EF4-FFF2-40B4-BE49-F238E27FC236}">
                <a16:creationId xmlns:a16="http://schemas.microsoft.com/office/drawing/2014/main" id="{F0F33880-77E2-4001-81AE-6B16484D50E0}"/>
              </a:ext>
            </a:extLst>
          </p:cNvPr>
          <p:cNvSpPr txBox="1"/>
          <p:nvPr/>
        </p:nvSpPr>
        <p:spPr>
          <a:xfrm>
            <a:off x="893639" y="4351003"/>
            <a:ext cx="7557588" cy="461665"/>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zh-CN" altLang="en-US" dirty="0"/>
              <a:t>初始化：</a:t>
            </a:r>
            <a:r>
              <a:rPr lang="en-US" altLang="zh-CN" dirty="0"/>
              <a:t>If </a:t>
            </a:r>
            <a:r>
              <a:rPr lang="zh-CN" altLang="en-US" dirty="0"/>
              <a:t>属性</a:t>
            </a:r>
            <a:r>
              <a:rPr lang="en-US" altLang="zh-CN" dirty="0" err="1"/>
              <a:t>A</a:t>
            </a:r>
            <a:r>
              <a:rPr lang="en-US" altLang="zh-CN" baseline="-25000" dirty="0" err="1"/>
              <a:t>j</a:t>
            </a:r>
            <a:r>
              <a:rPr kumimoji="0" lang="en-US" altLang="zh-CN" kern="0" dirty="0" err="1">
                <a:ea typeface="宋体" charset="-122"/>
              </a:rPr>
              <a:t>∈U</a:t>
            </a:r>
            <a:r>
              <a:rPr kumimoji="0" lang="en-US" altLang="zh-CN" kern="0" baseline="-25000" dirty="0" err="1">
                <a:ea typeface="宋体" charset="-122"/>
              </a:rPr>
              <a:t>i</a:t>
            </a:r>
            <a:r>
              <a:rPr kumimoji="0" lang="en-US" altLang="zh-CN" kern="0" baseline="-25000" dirty="0">
                <a:ea typeface="宋体" charset="-122"/>
              </a:rPr>
              <a:t>,</a:t>
            </a:r>
            <a:r>
              <a:rPr kumimoji="0" lang="zh-CN" altLang="en-US" b="1" kern="0" dirty="0">
                <a:ea typeface="宋体" charset="-122"/>
              </a:rPr>
              <a:t>则</a:t>
            </a:r>
            <a:r>
              <a:rPr kumimoji="0" lang="zh-CN" altLang="en-US" kern="0" dirty="0">
                <a:ea typeface="宋体" charset="-122"/>
              </a:rPr>
              <a:t>第</a:t>
            </a:r>
            <a:r>
              <a:rPr kumimoji="0" lang="en-US" altLang="zh-CN" kern="0" dirty="0" err="1">
                <a:ea typeface="宋体" charset="-122"/>
              </a:rPr>
              <a:t>i</a:t>
            </a:r>
            <a:r>
              <a:rPr kumimoji="0" lang="zh-CN" altLang="en-US" kern="0" dirty="0">
                <a:ea typeface="宋体" charset="-122"/>
              </a:rPr>
              <a:t>行</a:t>
            </a:r>
            <a:r>
              <a:rPr kumimoji="0" lang="en-US" altLang="zh-CN" kern="0" dirty="0">
                <a:ea typeface="宋体" charset="-122"/>
              </a:rPr>
              <a:t>j</a:t>
            </a:r>
            <a:r>
              <a:rPr kumimoji="0" lang="zh-CN" altLang="en-US" kern="0" dirty="0">
                <a:ea typeface="宋体" charset="-122"/>
              </a:rPr>
              <a:t>列赋值</a:t>
            </a:r>
            <a:r>
              <a:rPr kumimoji="0" lang="en-US" altLang="zh-CN" kern="0" dirty="0" err="1">
                <a:solidFill>
                  <a:srgbClr val="FF0000"/>
                </a:solidFill>
                <a:ea typeface="宋体" charset="-122"/>
              </a:rPr>
              <a:t>a</a:t>
            </a:r>
            <a:r>
              <a:rPr kumimoji="0" lang="en-US" altLang="zh-CN" kern="0" baseline="-25000" dirty="0" err="1">
                <a:solidFill>
                  <a:srgbClr val="FF0000"/>
                </a:solidFill>
                <a:ea typeface="宋体" charset="-122"/>
              </a:rPr>
              <a:t>j</a:t>
            </a:r>
            <a:r>
              <a:rPr kumimoji="0" lang="zh-CN" altLang="en-US" kern="0" baseline="-25000" dirty="0">
                <a:ea typeface="宋体" charset="-122"/>
              </a:rPr>
              <a:t>，</a:t>
            </a:r>
            <a:r>
              <a:rPr kumimoji="0" lang="zh-CN" altLang="en-US" b="1" kern="0" dirty="0">
                <a:ea typeface="宋体" charset="-122"/>
              </a:rPr>
              <a:t>否则</a:t>
            </a:r>
            <a:r>
              <a:rPr kumimoji="0" lang="zh-CN" altLang="en-US" kern="0" dirty="0">
                <a:ea typeface="宋体" charset="-122"/>
              </a:rPr>
              <a:t>赋值</a:t>
            </a:r>
            <a:r>
              <a:rPr kumimoji="0" lang="en-US" altLang="zh-CN" kern="0" dirty="0" err="1">
                <a:solidFill>
                  <a:srgbClr val="0000FF"/>
                </a:solidFill>
                <a:ea typeface="宋体" charset="-122"/>
              </a:rPr>
              <a:t>b</a:t>
            </a:r>
            <a:r>
              <a:rPr kumimoji="0" lang="en-US" altLang="zh-CN" kern="0" baseline="-25000" dirty="0" err="1">
                <a:solidFill>
                  <a:srgbClr val="0000FF"/>
                </a:solidFill>
                <a:ea typeface="宋体" charset="-122"/>
              </a:rPr>
              <a:t>ij</a:t>
            </a:r>
            <a:endParaRPr lang="zh-CN" altLang="en-US" baseline="-25000" dirty="0">
              <a:solidFill>
                <a:srgbClr val="0000FF"/>
              </a:solidFill>
            </a:endParaRPr>
          </a:p>
        </p:txBody>
      </p:sp>
    </p:spTree>
    <p:extLst>
      <p:ext uri="{BB962C8B-B14F-4D97-AF65-F5344CB8AC3E}">
        <p14:creationId xmlns:p14="http://schemas.microsoft.com/office/powerpoint/2010/main" val="6723569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27683">
                                            <p:txEl>
                                              <p:pRg st="3" end="3"/>
                                            </p:txEl>
                                          </p:spTgt>
                                        </p:tgtEl>
                                        <p:attrNameLst>
                                          <p:attrName>style.visibility</p:attrName>
                                        </p:attrNameLst>
                                      </p:cBhvr>
                                      <p:to>
                                        <p:strVal val="visible"/>
                                      </p:to>
                                    </p:set>
                                    <p:animEffect transition="in" filter="fade">
                                      <p:cBhvr>
                                        <p:cTn id="7" dur="1000"/>
                                        <p:tgtEl>
                                          <p:spTgt spid="327683">
                                            <p:txEl>
                                              <p:pRg st="3" end="3"/>
                                            </p:txEl>
                                          </p:spTgt>
                                        </p:tgtEl>
                                      </p:cBhvr>
                                    </p:animEffect>
                                    <p:anim calcmode="lin" valueType="num">
                                      <p:cBhvr>
                                        <p:cTn id="8" dur="1000" fill="hold"/>
                                        <p:tgtEl>
                                          <p:spTgt spid="32768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27683">
                                            <p:txEl>
                                              <p:pRg st="3" end="3"/>
                                            </p:txEl>
                                          </p:spTgt>
                                        </p:tgtEl>
                                        <p:attrNameLst>
                                          <p:attrName>ppt_y</p:attrName>
                                        </p:attrNameLst>
                                      </p:cBhvr>
                                      <p:tavLst>
                                        <p:tav tm="0">
                                          <p:val>
                                            <p:strVal val="#ppt_y+.1"/>
                                          </p:val>
                                        </p:tav>
                                        <p:tav tm="100000">
                                          <p:val>
                                            <p:strVal val="#ppt_y"/>
                                          </p:val>
                                        </p:tav>
                                      </p:tavLst>
                                    </p:anim>
                                  </p:childTnLst>
                                </p:cTn>
                              </p:par>
                              <p:par>
                                <p:cTn id="10" presetID="2" presetClass="entr" presetSubtype="4" fill="hold" grpId="0" nodeType="withEffect">
                                  <p:stCondLst>
                                    <p:cond delay="0"/>
                                  </p:stCondLst>
                                  <p:childTnLst>
                                    <p:set>
                                      <p:cBhvr>
                                        <p:cTn id="11" dur="1" fill="hold">
                                          <p:stCondLst>
                                            <p:cond delay="0"/>
                                          </p:stCondLst>
                                        </p:cTn>
                                        <p:tgtEl>
                                          <p:spTgt spid="16"/>
                                        </p:tgtEl>
                                        <p:attrNameLst>
                                          <p:attrName>style.visibility</p:attrName>
                                        </p:attrNameLst>
                                      </p:cBhvr>
                                      <p:to>
                                        <p:strVal val="visible"/>
                                      </p:to>
                                    </p:set>
                                    <p:anim calcmode="lin" valueType="num">
                                      <p:cBhvr additive="base">
                                        <p:cTn id="12" dur="500" fill="hold"/>
                                        <p:tgtEl>
                                          <p:spTgt spid="16"/>
                                        </p:tgtEl>
                                        <p:attrNameLst>
                                          <p:attrName>ppt_x</p:attrName>
                                        </p:attrNameLst>
                                      </p:cBhvr>
                                      <p:tavLst>
                                        <p:tav tm="0">
                                          <p:val>
                                            <p:strVal val="#ppt_x"/>
                                          </p:val>
                                        </p:tav>
                                        <p:tav tm="100000">
                                          <p:val>
                                            <p:strVal val="#ppt_x"/>
                                          </p:val>
                                        </p:tav>
                                      </p:tavLst>
                                    </p:anim>
                                    <p:anim calcmode="lin" valueType="num">
                                      <p:cBhvr additive="base">
                                        <p:cTn id="13"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additive="base">
                                        <p:cTn id="18" dur="500" fill="hold"/>
                                        <p:tgtEl>
                                          <p:spTgt spid="13"/>
                                        </p:tgtEl>
                                        <p:attrNameLst>
                                          <p:attrName>ppt_x</p:attrName>
                                        </p:attrNameLst>
                                      </p:cBhvr>
                                      <p:tavLst>
                                        <p:tav tm="0">
                                          <p:val>
                                            <p:strVal val="#ppt_x"/>
                                          </p:val>
                                        </p:tav>
                                        <p:tav tm="100000">
                                          <p:val>
                                            <p:strVal val="#ppt_x"/>
                                          </p:val>
                                        </p:tav>
                                      </p:tavLst>
                                    </p:anim>
                                    <p:anim calcmode="lin" valueType="num">
                                      <p:cBhvr additive="base">
                                        <p:cTn id="19"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 calcmode="lin" valueType="num">
                                      <p:cBhvr additive="base">
                                        <p:cTn id="24" dur="500" fill="hold"/>
                                        <p:tgtEl>
                                          <p:spTgt spid="17"/>
                                        </p:tgtEl>
                                        <p:attrNameLst>
                                          <p:attrName>ppt_x</p:attrName>
                                        </p:attrNameLst>
                                      </p:cBhvr>
                                      <p:tavLst>
                                        <p:tav tm="0">
                                          <p:val>
                                            <p:strVal val="#ppt_x"/>
                                          </p:val>
                                        </p:tav>
                                        <p:tav tm="100000">
                                          <p:val>
                                            <p:strVal val="#ppt_x"/>
                                          </p:val>
                                        </p:tav>
                                      </p:tavLst>
                                    </p:anim>
                                    <p:anim calcmode="lin" valueType="num">
                                      <p:cBhvr additive="base">
                                        <p:cTn id="25" dur="500" fill="hold"/>
                                        <p:tgtEl>
                                          <p:spTgt spid="17"/>
                                        </p:tgtEl>
                                        <p:attrNameLst>
                                          <p:attrName>ppt_y</p:attrName>
                                        </p:attrNameLst>
                                      </p:cBhvr>
                                      <p:tavLst>
                                        <p:tav tm="0">
                                          <p:val>
                                            <p:strVal val="1+#ppt_h/2"/>
                                          </p:val>
                                        </p:tav>
                                        <p:tav tm="100000">
                                          <p:val>
                                            <p:strVal val="#ppt_y"/>
                                          </p:val>
                                        </p:tav>
                                      </p:tavLst>
                                    </p:anim>
                                  </p:childTnLst>
                                </p:cTn>
                              </p:par>
                              <p:par>
                                <p:cTn id="26" presetID="2" presetClass="entr" presetSubtype="2"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1+#ppt_w/2"/>
                                          </p:val>
                                        </p:tav>
                                        <p:tav tm="100000">
                                          <p:val>
                                            <p:strVal val="#ppt_x"/>
                                          </p:val>
                                        </p:tav>
                                      </p:tavLst>
                                    </p:anim>
                                    <p:anim calcmode="lin" valueType="num">
                                      <p:cBhvr additive="base">
                                        <p:cTn id="29"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327683">
                                            <p:txEl>
                                              <p:pRg st="4" end="4"/>
                                            </p:txEl>
                                          </p:spTgt>
                                        </p:tgtEl>
                                        <p:attrNameLst>
                                          <p:attrName>style.visibility</p:attrName>
                                        </p:attrNameLst>
                                      </p:cBhvr>
                                      <p:to>
                                        <p:strVal val="visible"/>
                                      </p:to>
                                    </p:set>
                                    <p:animEffect transition="in" filter="fade">
                                      <p:cBhvr>
                                        <p:cTn id="34" dur="1000"/>
                                        <p:tgtEl>
                                          <p:spTgt spid="327683">
                                            <p:txEl>
                                              <p:pRg st="4" end="4"/>
                                            </p:txEl>
                                          </p:spTgt>
                                        </p:tgtEl>
                                      </p:cBhvr>
                                    </p:animEffect>
                                    <p:anim calcmode="lin" valueType="num">
                                      <p:cBhvr>
                                        <p:cTn id="35" dur="1000" fill="hold"/>
                                        <p:tgtEl>
                                          <p:spTgt spid="327683">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327683">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27683">
                                            <p:txEl>
                                              <p:pRg st="5" end="5"/>
                                            </p:txEl>
                                          </p:spTgt>
                                        </p:tgtEl>
                                        <p:attrNameLst>
                                          <p:attrName>style.visibility</p:attrName>
                                        </p:attrNameLst>
                                      </p:cBhvr>
                                      <p:to>
                                        <p:strVal val="visible"/>
                                      </p:to>
                                    </p:set>
                                    <p:animEffect transition="in" filter="fade">
                                      <p:cBhvr>
                                        <p:cTn id="39" dur="1000"/>
                                        <p:tgtEl>
                                          <p:spTgt spid="327683">
                                            <p:txEl>
                                              <p:pRg st="5" end="5"/>
                                            </p:txEl>
                                          </p:spTgt>
                                        </p:tgtEl>
                                      </p:cBhvr>
                                    </p:animEffect>
                                    <p:anim calcmode="lin" valueType="num">
                                      <p:cBhvr>
                                        <p:cTn id="40" dur="1000" fill="hold"/>
                                        <p:tgtEl>
                                          <p:spTgt spid="327683">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32768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2" fill="hold" grpId="0" nodeType="clickEffect">
                                  <p:stCondLst>
                                    <p:cond delay="0"/>
                                  </p:stCondLst>
                                  <p:childTnLst>
                                    <p:set>
                                      <p:cBhvr>
                                        <p:cTn id="45" dur="1" fill="hold">
                                          <p:stCondLst>
                                            <p:cond delay="0"/>
                                          </p:stCondLst>
                                        </p:cTn>
                                        <p:tgtEl>
                                          <p:spTgt spid="8"/>
                                        </p:tgtEl>
                                        <p:attrNameLst>
                                          <p:attrName>style.visibility</p:attrName>
                                        </p:attrNameLst>
                                      </p:cBhvr>
                                      <p:to>
                                        <p:strVal val="visible"/>
                                      </p:to>
                                    </p:set>
                                    <p:anim calcmode="lin" valueType="num">
                                      <p:cBhvr additive="base">
                                        <p:cTn id="46" dur="500" fill="hold"/>
                                        <p:tgtEl>
                                          <p:spTgt spid="8"/>
                                        </p:tgtEl>
                                        <p:attrNameLst>
                                          <p:attrName>ppt_x</p:attrName>
                                        </p:attrNameLst>
                                      </p:cBhvr>
                                      <p:tavLst>
                                        <p:tav tm="0">
                                          <p:val>
                                            <p:strVal val="1+#ppt_w/2"/>
                                          </p:val>
                                        </p:tav>
                                        <p:tav tm="100000">
                                          <p:val>
                                            <p:strVal val="#ppt_x"/>
                                          </p:val>
                                        </p:tav>
                                      </p:tavLst>
                                    </p:anim>
                                    <p:anim calcmode="lin" valueType="num">
                                      <p:cBhvr additive="base">
                                        <p:cTn id="47"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7" grpId="0"/>
      <p:bldP spid="16" grpId="0"/>
      <p:bldP spid="7" grpId="0" animBg="1"/>
      <p:bldP spid="8" grpId="0" animBg="1"/>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358CE3BB-C0A1-471D-8C4B-3794ACFA475C}" type="datetime1">
              <a:rPr lang="zh-CN" altLang="en-US" smtClean="0"/>
              <a:t>2025/11/6</a:t>
            </a:fld>
            <a:endParaRPr lang="en-US" altLang="zh-CN"/>
          </a:p>
        </p:txBody>
      </p:sp>
      <p:sp>
        <p:nvSpPr>
          <p:cNvPr id="327682" name="Rectangle 2"/>
          <p:cNvSpPr>
            <a:spLocks noGrp="1" noChangeArrowheads="1"/>
          </p:cNvSpPr>
          <p:nvPr>
            <p:ph type="title"/>
          </p:nvPr>
        </p:nvSpPr>
        <p:spPr/>
        <p:txBody>
          <a:bodyPr/>
          <a:lstStyle/>
          <a:p>
            <a:r>
              <a:rPr lang="en-US" altLang="zh-CN" dirty="0"/>
              <a:t>8.4.2 </a:t>
            </a:r>
            <a:r>
              <a:rPr lang="zh-CN" altLang="en-US" dirty="0"/>
              <a:t>分解的无损连接性和保持函数依赖性</a:t>
            </a:r>
          </a:p>
        </p:txBody>
      </p:sp>
      <p:sp>
        <p:nvSpPr>
          <p:cNvPr id="327683" name="Rectangle 3"/>
          <p:cNvSpPr>
            <a:spLocks noGrp="1" noChangeArrowheads="1"/>
          </p:cNvSpPr>
          <p:nvPr>
            <p:ph type="body" idx="1"/>
          </p:nvPr>
        </p:nvSpPr>
        <p:spPr>
          <a:xfrm>
            <a:off x="609600" y="1376362"/>
            <a:ext cx="8345488" cy="5481638"/>
          </a:xfrm>
          <a:solidFill>
            <a:schemeClr val="bg1"/>
          </a:solidFill>
        </p:spPr>
        <p:txBody>
          <a:bodyPr/>
          <a:lstStyle/>
          <a:p>
            <a:pPr>
              <a:lnSpc>
                <a:spcPct val="80000"/>
              </a:lnSpc>
              <a:buFont typeface="Wingdings" pitchFamily="2" charset="2"/>
              <a:buNone/>
            </a:pPr>
            <a:r>
              <a:rPr lang="zh-CN" altLang="en-US" sz="2400" dirty="0">
                <a:solidFill>
                  <a:srgbClr val="0000FF"/>
                </a:solidFill>
              </a:rPr>
              <a:t>算法</a:t>
            </a:r>
            <a:r>
              <a:rPr lang="en-US" altLang="zh-CN" sz="2400" dirty="0">
                <a:solidFill>
                  <a:srgbClr val="0000FF"/>
                </a:solidFill>
              </a:rPr>
              <a:t>6.2</a:t>
            </a:r>
            <a:r>
              <a:rPr lang="en-US" altLang="zh-CN" sz="2400" dirty="0"/>
              <a:t> </a:t>
            </a:r>
            <a:r>
              <a:rPr lang="zh-CN" altLang="en-US" sz="2400" dirty="0">
                <a:solidFill>
                  <a:srgbClr val="FF0000"/>
                </a:solidFill>
              </a:rPr>
              <a:t>判断</a:t>
            </a:r>
            <a:r>
              <a:rPr lang="zh-CN" altLang="en-US" sz="2400" dirty="0"/>
              <a:t>一个分解的</a:t>
            </a:r>
            <a:r>
              <a:rPr lang="zh-CN" altLang="en-US" sz="2400" b="1" dirty="0">
                <a:solidFill>
                  <a:schemeClr val="tx2"/>
                </a:solidFill>
              </a:rPr>
              <a:t>无损连接性</a:t>
            </a:r>
            <a:r>
              <a:rPr lang="zh-CN" altLang="en-US" sz="2400" dirty="0"/>
              <a:t>。</a:t>
            </a:r>
            <a:r>
              <a:rPr lang="en-US" altLang="zh-CN" sz="2400" dirty="0"/>
              <a:t>(</a:t>
            </a:r>
            <a:r>
              <a:rPr lang="zh-CN" altLang="en-US" sz="2400" dirty="0"/>
              <a:t>了解，通过例子来学习</a:t>
            </a:r>
            <a:r>
              <a:rPr lang="en-US" altLang="zh-CN" sz="2400" dirty="0"/>
              <a:t>)</a:t>
            </a:r>
          </a:p>
          <a:p>
            <a:pPr>
              <a:lnSpc>
                <a:spcPct val="80000"/>
              </a:lnSpc>
              <a:buNone/>
            </a:pPr>
            <a:r>
              <a:rPr lang="zh-CN" altLang="en-US" sz="2400" dirty="0"/>
              <a:t>例</a:t>
            </a:r>
            <a:r>
              <a:rPr lang="en-US" altLang="zh-CN" sz="2400" dirty="0"/>
              <a:t>1 R(</a:t>
            </a:r>
            <a:r>
              <a:rPr lang="en-US" altLang="zh-CN" sz="2400" dirty="0">
                <a:solidFill>
                  <a:srgbClr val="800080"/>
                </a:solidFill>
              </a:rPr>
              <a:t>U</a:t>
            </a:r>
            <a:r>
              <a:rPr lang="en-US" altLang="zh-CN" sz="2400" dirty="0"/>
              <a:t>, </a:t>
            </a:r>
            <a:r>
              <a:rPr lang="en-US" altLang="zh-CN" sz="2400" dirty="0">
                <a:solidFill>
                  <a:srgbClr val="0000FF"/>
                </a:solidFill>
              </a:rPr>
              <a:t>F</a:t>
            </a:r>
            <a:r>
              <a:rPr lang="en-US" altLang="zh-CN" sz="2400" dirty="0"/>
              <a:t>), U={</a:t>
            </a:r>
            <a:r>
              <a:rPr lang="en-US" altLang="zh-CN" sz="2400" dirty="0">
                <a:solidFill>
                  <a:srgbClr val="800080"/>
                </a:solidFill>
              </a:rPr>
              <a:t>S</a:t>
            </a:r>
            <a:r>
              <a:rPr lang="zh-CN" altLang="en-US" sz="2400" dirty="0">
                <a:solidFill>
                  <a:srgbClr val="800080"/>
                </a:solidFill>
              </a:rPr>
              <a:t>，</a:t>
            </a:r>
            <a:r>
              <a:rPr lang="en-US" altLang="zh-CN" sz="2400" dirty="0">
                <a:solidFill>
                  <a:srgbClr val="800080"/>
                </a:solidFill>
              </a:rPr>
              <a:t>A</a:t>
            </a:r>
            <a:r>
              <a:rPr lang="zh-CN" altLang="en-US" sz="2400" dirty="0">
                <a:solidFill>
                  <a:srgbClr val="800080"/>
                </a:solidFill>
              </a:rPr>
              <a:t>，</a:t>
            </a:r>
            <a:r>
              <a:rPr lang="en-US" altLang="zh-CN" sz="2400" dirty="0">
                <a:solidFill>
                  <a:srgbClr val="800080"/>
                </a:solidFill>
              </a:rPr>
              <a:t>I</a:t>
            </a:r>
            <a:r>
              <a:rPr lang="zh-CN" altLang="en-US" sz="2400" dirty="0">
                <a:solidFill>
                  <a:srgbClr val="800080"/>
                </a:solidFill>
              </a:rPr>
              <a:t>，</a:t>
            </a:r>
            <a:r>
              <a:rPr lang="en-US" altLang="zh-CN" sz="2400" dirty="0">
                <a:solidFill>
                  <a:srgbClr val="800080"/>
                </a:solidFill>
              </a:rPr>
              <a:t>P</a:t>
            </a:r>
            <a:r>
              <a:rPr lang="en-US" altLang="zh-CN" sz="2400" dirty="0"/>
              <a:t>}, F </a:t>
            </a:r>
            <a:r>
              <a:rPr lang="zh-CN" altLang="en-US" sz="2400" dirty="0"/>
              <a:t>＝ </a:t>
            </a:r>
            <a:r>
              <a:rPr lang="en-US" altLang="zh-CN" sz="2400" dirty="0"/>
              <a:t>{</a:t>
            </a:r>
            <a:r>
              <a:rPr lang="en-US" altLang="zh-CN" sz="2400" dirty="0">
                <a:solidFill>
                  <a:srgbClr val="0000FF"/>
                </a:solidFill>
              </a:rPr>
              <a:t>S</a:t>
            </a:r>
            <a:r>
              <a:rPr lang="en-US" altLang="zh-CN" sz="2400" dirty="0">
                <a:solidFill>
                  <a:srgbClr val="0000FF"/>
                </a:solidFill>
                <a:latin typeface="宋体" pitchFamily="2" charset="-122"/>
              </a:rPr>
              <a:t>→</a:t>
            </a:r>
            <a:r>
              <a:rPr lang="en-US" altLang="zh-CN" sz="2400" dirty="0">
                <a:solidFill>
                  <a:srgbClr val="0000FF"/>
                </a:solidFill>
              </a:rPr>
              <a:t>A, SI</a:t>
            </a:r>
            <a:r>
              <a:rPr lang="en-US" altLang="zh-CN" sz="2400" dirty="0">
                <a:solidFill>
                  <a:srgbClr val="0000FF"/>
                </a:solidFill>
                <a:latin typeface="宋体" pitchFamily="2" charset="-122"/>
              </a:rPr>
              <a:t>→</a:t>
            </a:r>
            <a:r>
              <a:rPr lang="en-US" altLang="zh-CN" sz="2400" dirty="0">
                <a:solidFill>
                  <a:srgbClr val="0000FF"/>
                </a:solidFill>
              </a:rPr>
              <a:t>P</a:t>
            </a:r>
            <a:r>
              <a:rPr lang="en-US" altLang="zh-CN" sz="2400" dirty="0"/>
              <a:t>}, R</a:t>
            </a:r>
            <a:r>
              <a:rPr lang="zh-CN" altLang="en-US" sz="2400" dirty="0"/>
              <a:t>的一个分解为</a:t>
            </a:r>
            <a:r>
              <a:rPr lang="en-US" altLang="zh-CN" sz="2400" u="sng" dirty="0"/>
              <a:t>R1(S</a:t>
            </a:r>
            <a:r>
              <a:rPr lang="zh-CN" altLang="en-US" sz="2400" u="sng" dirty="0"/>
              <a:t>，</a:t>
            </a:r>
            <a:r>
              <a:rPr lang="en-US" altLang="zh-CN" sz="2400" u="sng" dirty="0"/>
              <a:t>A)</a:t>
            </a:r>
            <a:r>
              <a:rPr lang="zh-CN" altLang="en-US" sz="2400" u="sng" dirty="0"/>
              <a:t>，</a:t>
            </a:r>
            <a:r>
              <a:rPr lang="en-US" altLang="zh-CN" sz="2400" u="sng" dirty="0"/>
              <a:t>R2(S</a:t>
            </a:r>
            <a:r>
              <a:rPr lang="zh-CN" altLang="en-US" sz="2400" u="sng" dirty="0"/>
              <a:t>，</a:t>
            </a:r>
            <a:r>
              <a:rPr lang="en-US" altLang="zh-CN" sz="2400" u="sng" dirty="0"/>
              <a:t>I</a:t>
            </a:r>
            <a:r>
              <a:rPr lang="zh-CN" altLang="en-US" sz="2400" u="sng" dirty="0"/>
              <a:t>，</a:t>
            </a:r>
            <a:r>
              <a:rPr lang="en-US" altLang="zh-CN" sz="2400" u="sng" dirty="0"/>
              <a:t>P)</a:t>
            </a:r>
            <a:r>
              <a:rPr lang="zh-CN" altLang="en-US" sz="2400" dirty="0"/>
              <a:t>。</a:t>
            </a:r>
            <a:endParaRPr lang="en-US" altLang="zh-CN" sz="2400" dirty="0"/>
          </a:p>
          <a:p>
            <a:pPr>
              <a:lnSpc>
                <a:spcPct val="80000"/>
              </a:lnSpc>
              <a:buFont typeface="Wingdings" pitchFamily="2" charset="2"/>
              <a:buNone/>
            </a:pPr>
            <a:endParaRPr lang="en-US" altLang="zh-CN" sz="2400" dirty="0"/>
          </a:p>
          <a:p>
            <a:pPr>
              <a:lnSpc>
                <a:spcPct val="80000"/>
              </a:lnSpc>
              <a:buFont typeface="Wingdings" pitchFamily="2" charset="2"/>
              <a:buNone/>
            </a:pPr>
            <a:r>
              <a:rPr lang="en-US" altLang="zh-CN" sz="2400" dirty="0">
                <a:solidFill>
                  <a:srgbClr val="0000FF"/>
                </a:solidFill>
              </a:rPr>
              <a:t>S     A     I     P</a:t>
            </a:r>
          </a:p>
          <a:p>
            <a:pPr>
              <a:lnSpc>
                <a:spcPct val="80000"/>
              </a:lnSpc>
              <a:buFont typeface="Wingdings" pitchFamily="2" charset="2"/>
              <a:buNone/>
            </a:pPr>
            <a:r>
              <a:rPr lang="en-US" altLang="zh-CN" sz="2400" dirty="0"/>
              <a:t>a1   a2   b13 b14</a:t>
            </a:r>
          </a:p>
          <a:p>
            <a:pPr>
              <a:lnSpc>
                <a:spcPct val="80000"/>
              </a:lnSpc>
              <a:buFont typeface="Wingdings" pitchFamily="2" charset="2"/>
              <a:buNone/>
            </a:pPr>
            <a:r>
              <a:rPr lang="en-US" altLang="zh-CN" sz="2400" dirty="0"/>
              <a:t>a1   b22 a3   a4</a:t>
            </a:r>
          </a:p>
          <a:p>
            <a:pPr>
              <a:lnSpc>
                <a:spcPct val="80000"/>
              </a:lnSpc>
              <a:spcBef>
                <a:spcPct val="50000"/>
              </a:spcBef>
              <a:buFont typeface="Wingdings" pitchFamily="2" charset="2"/>
              <a:buNone/>
            </a:pPr>
            <a:r>
              <a:rPr lang="zh-CN" altLang="en-US" sz="2400" dirty="0"/>
              <a:t>对</a:t>
            </a:r>
            <a:r>
              <a:rPr lang="en-US" altLang="zh-CN" sz="2400" dirty="0"/>
              <a:t>F</a:t>
            </a:r>
            <a:r>
              <a:rPr lang="zh-CN" altLang="en-US" sz="2400" dirty="0"/>
              <a:t>当中的</a:t>
            </a:r>
            <a:r>
              <a:rPr lang="zh-CN" altLang="en-US" sz="2400" b="1" dirty="0">
                <a:solidFill>
                  <a:srgbClr val="0000FF"/>
                </a:solidFill>
              </a:rPr>
              <a:t>每一个</a:t>
            </a:r>
            <a:r>
              <a:rPr lang="zh-CN" altLang="en-US" sz="2400" b="1" dirty="0">
                <a:solidFill>
                  <a:srgbClr val="006600"/>
                </a:solidFill>
                <a:effectLst>
                  <a:outerShdw blurRad="38100" dist="38100" dir="2700000" algn="tl">
                    <a:srgbClr val="000000">
                      <a:alpha val="43137"/>
                    </a:srgbClr>
                  </a:outerShdw>
                </a:effectLst>
              </a:rPr>
              <a:t>函数依赖</a:t>
            </a:r>
            <a:r>
              <a:rPr lang="zh-CN" altLang="en-US" sz="2400" dirty="0"/>
              <a:t>做</a:t>
            </a:r>
            <a:r>
              <a:rPr lang="zh-CN" altLang="en-US" sz="2400" b="1" dirty="0"/>
              <a:t>如下操作</a:t>
            </a:r>
            <a:r>
              <a:rPr lang="zh-CN" altLang="en-US" sz="2400" dirty="0"/>
              <a:t>：</a:t>
            </a:r>
            <a:endParaRPr lang="en-US" altLang="zh-CN" sz="2400" dirty="0"/>
          </a:p>
          <a:p>
            <a:pPr>
              <a:lnSpc>
                <a:spcPct val="80000"/>
              </a:lnSpc>
              <a:spcBef>
                <a:spcPct val="50000"/>
              </a:spcBef>
              <a:buFont typeface="Wingdings" pitchFamily="2" charset="2"/>
              <a:buNone/>
            </a:pPr>
            <a:r>
              <a:rPr lang="zh-CN" altLang="en-US" sz="2400" dirty="0"/>
              <a:t>由于有</a:t>
            </a:r>
            <a:r>
              <a:rPr lang="en-US" altLang="zh-CN" sz="2400" dirty="0"/>
              <a:t>S</a:t>
            </a:r>
            <a:r>
              <a:rPr lang="en-US" altLang="zh-CN" sz="2400" dirty="0">
                <a:latin typeface="宋体" pitchFamily="2" charset="-122"/>
              </a:rPr>
              <a:t>→</a:t>
            </a:r>
            <a:r>
              <a:rPr lang="en-US" altLang="zh-CN" sz="2400" dirty="0"/>
              <a:t>A</a:t>
            </a:r>
            <a:r>
              <a:rPr lang="zh-CN" altLang="en-US" sz="2400" dirty="0"/>
              <a:t>，使第二行第二列变成</a:t>
            </a:r>
            <a:r>
              <a:rPr lang="en-US" altLang="zh-CN" sz="2400" dirty="0"/>
              <a:t>a2</a:t>
            </a:r>
            <a:r>
              <a:rPr lang="zh-CN" altLang="en-US" sz="2400" dirty="0"/>
              <a:t>。</a:t>
            </a:r>
          </a:p>
          <a:p>
            <a:pPr>
              <a:lnSpc>
                <a:spcPct val="80000"/>
              </a:lnSpc>
              <a:buFont typeface="Wingdings" pitchFamily="2" charset="2"/>
              <a:buNone/>
            </a:pPr>
            <a:r>
              <a:rPr lang="en-US" altLang="zh-CN" sz="2400" dirty="0"/>
              <a:t>S     A     I     P</a:t>
            </a:r>
          </a:p>
          <a:p>
            <a:pPr>
              <a:lnSpc>
                <a:spcPct val="80000"/>
              </a:lnSpc>
              <a:buFont typeface="Wingdings" pitchFamily="2" charset="2"/>
              <a:buNone/>
            </a:pPr>
            <a:r>
              <a:rPr lang="en-US" altLang="zh-CN" sz="2400" dirty="0"/>
              <a:t>--------------------</a:t>
            </a:r>
          </a:p>
          <a:p>
            <a:pPr>
              <a:lnSpc>
                <a:spcPct val="80000"/>
              </a:lnSpc>
              <a:buFont typeface="Wingdings" pitchFamily="2" charset="2"/>
              <a:buNone/>
            </a:pPr>
            <a:r>
              <a:rPr lang="en-US" altLang="zh-CN" sz="2400" dirty="0"/>
              <a:t>a1   a2   b13 b14</a:t>
            </a:r>
          </a:p>
          <a:p>
            <a:pPr>
              <a:lnSpc>
                <a:spcPct val="80000"/>
              </a:lnSpc>
              <a:buFont typeface="Wingdings" pitchFamily="2" charset="2"/>
              <a:buNone/>
            </a:pPr>
            <a:r>
              <a:rPr lang="en-US" altLang="zh-CN" sz="2400" dirty="0"/>
              <a:t>a1   a2    a3   a4</a:t>
            </a:r>
            <a:endParaRPr lang="zh-CN" altLang="en-US" sz="2400" dirty="0"/>
          </a:p>
        </p:txBody>
      </p:sp>
      <p:cxnSp>
        <p:nvCxnSpPr>
          <p:cNvPr id="3" name="直接箭头连接符 2"/>
          <p:cNvCxnSpPr/>
          <p:nvPr/>
        </p:nvCxnSpPr>
        <p:spPr bwMode="auto">
          <a:xfrm>
            <a:off x="609600" y="3090858"/>
            <a:ext cx="0" cy="129540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接箭头连接符 8"/>
          <p:cNvCxnSpPr/>
          <p:nvPr/>
        </p:nvCxnSpPr>
        <p:spPr bwMode="auto">
          <a:xfrm>
            <a:off x="609600" y="3016891"/>
            <a:ext cx="2667000" cy="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TextBox 9"/>
          <p:cNvSpPr txBox="1"/>
          <p:nvPr/>
        </p:nvSpPr>
        <p:spPr>
          <a:xfrm>
            <a:off x="398999" y="3698225"/>
            <a:ext cx="255199" cy="461665"/>
          </a:xfrm>
          <a:prstGeom prst="rect">
            <a:avLst/>
          </a:prstGeom>
          <a:noFill/>
        </p:spPr>
        <p:txBody>
          <a:bodyPr wrap="none" rtlCol="0">
            <a:spAutoFit/>
          </a:bodyPr>
          <a:lstStyle/>
          <a:p>
            <a:r>
              <a:rPr lang="en-US" altLang="zh-CN" dirty="0" err="1">
                <a:solidFill>
                  <a:schemeClr val="tx2"/>
                </a:solidFill>
              </a:rPr>
              <a:t>i</a:t>
            </a:r>
            <a:endParaRPr lang="zh-CN" altLang="en-US" dirty="0">
              <a:solidFill>
                <a:schemeClr val="tx2"/>
              </a:solidFill>
            </a:endParaRPr>
          </a:p>
        </p:txBody>
      </p:sp>
      <p:sp>
        <p:nvSpPr>
          <p:cNvPr id="14" name="TextBox 13"/>
          <p:cNvSpPr txBox="1"/>
          <p:nvPr/>
        </p:nvSpPr>
        <p:spPr>
          <a:xfrm>
            <a:off x="3344786" y="2786058"/>
            <a:ext cx="271228" cy="461665"/>
          </a:xfrm>
          <a:prstGeom prst="rect">
            <a:avLst/>
          </a:prstGeom>
          <a:noFill/>
        </p:spPr>
        <p:txBody>
          <a:bodyPr wrap="none" rtlCol="0">
            <a:spAutoFit/>
          </a:bodyPr>
          <a:lstStyle/>
          <a:p>
            <a:r>
              <a:rPr lang="en-US" altLang="zh-CN" dirty="0">
                <a:solidFill>
                  <a:schemeClr val="tx2"/>
                </a:solidFill>
              </a:rPr>
              <a:t>j</a:t>
            </a:r>
            <a:endParaRPr lang="zh-CN" altLang="en-US" dirty="0">
              <a:solidFill>
                <a:schemeClr val="tx2"/>
              </a:solidFill>
            </a:endParaRPr>
          </a:p>
        </p:txBody>
      </p:sp>
      <p:sp>
        <p:nvSpPr>
          <p:cNvPr id="13" name="TextBox 12"/>
          <p:cNvSpPr txBox="1"/>
          <p:nvPr/>
        </p:nvSpPr>
        <p:spPr>
          <a:xfrm>
            <a:off x="3065051" y="3357562"/>
            <a:ext cx="1406668" cy="461665"/>
          </a:xfrm>
          <a:prstGeom prst="rect">
            <a:avLst/>
          </a:prstGeom>
          <a:noFill/>
        </p:spPr>
        <p:txBody>
          <a:bodyPr wrap="none" rtlCol="0">
            <a:spAutoFit/>
          </a:bodyPr>
          <a:lstStyle/>
          <a:p>
            <a:r>
              <a:rPr lang="en-US" altLang="zh-CN" dirty="0">
                <a:solidFill>
                  <a:srgbClr val="FF0000"/>
                </a:solidFill>
              </a:rPr>
              <a:t>U</a:t>
            </a:r>
            <a:r>
              <a:rPr lang="en-US" altLang="zh-CN" baseline="-25000" dirty="0">
                <a:solidFill>
                  <a:srgbClr val="FF0000"/>
                </a:solidFill>
              </a:rPr>
              <a:t>1</a:t>
            </a:r>
            <a:r>
              <a:rPr lang="en-US" altLang="zh-CN" dirty="0">
                <a:solidFill>
                  <a:srgbClr val="FF0000"/>
                </a:solidFill>
              </a:rPr>
              <a:t>=(S,A)</a:t>
            </a:r>
            <a:endParaRPr lang="zh-CN" altLang="en-US" dirty="0">
              <a:solidFill>
                <a:srgbClr val="FF0000"/>
              </a:solidFill>
            </a:endParaRPr>
          </a:p>
        </p:txBody>
      </p:sp>
      <p:sp>
        <p:nvSpPr>
          <p:cNvPr id="17" name="TextBox 16"/>
          <p:cNvSpPr txBox="1"/>
          <p:nvPr/>
        </p:nvSpPr>
        <p:spPr>
          <a:xfrm>
            <a:off x="3071802" y="3714752"/>
            <a:ext cx="1600631" cy="707886"/>
          </a:xfrm>
          <a:prstGeom prst="rect">
            <a:avLst/>
          </a:prstGeom>
          <a:noFill/>
        </p:spPr>
        <p:txBody>
          <a:bodyPr wrap="none" rtlCol="0">
            <a:spAutoFit/>
          </a:bodyPr>
          <a:lstStyle/>
          <a:p>
            <a:r>
              <a:rPr lang="en-US" altLang="zh-CN" dirty="0">
                <a:solidFill>
                  <a:srgbClr val="FF0000"/>
                </a:solidFill>
              </a:rPr>
              <a:t>U</a:t>
            </a:r>
            <a:r>
              <a:rPr lang="en-US" altLang="zh-CN" baseline="-25000" dirty="0">
                <a:solidFill>
                  <a:srgbClr val="FF0000"/>
                </a:solidFill>
              </a:rPr>
              <a:t>2</a:t>
            </a:r>
            <a:r>
              <a:rPr lang="en-US" altLang="zh-CN" dirty="0">
                <a:solidFill>
                  <a:srgbClr val="FF0000"/>
                </a:solidFill>
              </a:rPr>
              <a:t>=(S,I,P)</a:t>
            </a:r>
            <a:endParaRPr lang="zh-CN" altLang="en-US" dirty="0">
              <a:solidFill>
                <a:srgbClr val="FF0000"/>
              </a:solidFill>
            </a:endParaRPr>
          </a:p>
          <a:p>
            <a:endParaRPr lang="zh-CN" altLang="en-US" baseline="-25000" dirty="0">
              <a:solidFill>
                <a:srgbClr val="FF0000"/>
              </a:solidFill>
            </a:endParaRPr>
          </a:p>
        </p:txBody>
      </p:sp>
      <p:sp>
        <p:nvSpPr>
          <p:cNvPr id="15" name="矩形 14"/>
          <p:cNvSpPr/>
          <p:nvPr/>
        </p:nvSpPr>
        <p:spPr>
          <a:xfrm>
            <a:off x="3595254" y="5434266"/>
            <a:ext cx="4736681" cy="830997"/>
          </a:xfrm>
          <a:prstGeom prst="rect">
            <a:avLst/>
          </a:prstGeom>
          <a:solidFill>
            <a:schemeClr val="bg1"/>
          </a:solidFill>
        </p:spPr>
        <p:txBody>
          <a:bodyPr wrap="square">
            <a:spAutoFit/>
          </a:bodyPr>
          <a:lstStyle/>
          <a:p>
            <a:r>
              <a:rPr lang="zh-CN" altLang="en-US" b="1" dirty="0"/>
              <a:t>如果终止时，表中有</a:t>
            </a:r>
            <a:r>
              <a:rPr lang="zh-CN" altLang="en-US" b="1" dirty="0">
                <a:solidFill>
                  <a:srgbClr val="0000FF"/>
                </a:solidFill>
              </a:rPr>
              <a:t>一行出现</a:t>
            </a:r>
            <a:endParaRPr lang="en-US" altLang="zh-CN" b="1" dirty="0">
              <a:solidFill>
                <a:srgbClr val="0000FF"/>
              </a:solidFill>
            </a:endParaRPr>
          </a:p>
          <a:p>
            <a:r>
              <a:rPr lang="en-US" altLang="zh-CN" b="1" dirty="0">
                <a:solidFill>
                  <a:srgbClr val="0000FF"/>
                </a:solidFill>
              </a:rPr>
              <a:t>a</a:t>
            </a:r>
            <a:r>
              <a:rPr lang="en-US" altLang="zh-CN" b="1" baseline="-25000" dirty="0">
                <a:solidFill>
                  <a:srgbClr val="0000FF"/>
                </a:solidFill>
              </a:rPr>
              <a:t>1</a:t>
            </a:r>
            <a:r>
              <a:rPr lang="en-US" altLang="zh-CN" b="1" dirty="0">
                <a:solidFill>
                  <a:srgbClr val="0000FF"/>
                </a:solidFill>
              </a:rPr>
              <a:t>, a</a:t>
            </a:r>
            <a:r>
              <a:rPr lang="en-US" altLang="zh-CN" b="1" baseline="-25000" dirty="0">
                <a:solidFill>
                  <a:srgbClr val="0000FF"/>
                </a:solidFill>
              </a:rPr>
              <a:t>2</a:t>
            </a:r>
            <a:r>
              <a:rPr lang="en-US" altLang="zh-CN" b="1" dirty="0">
                <a:solidFill>
                  <a:srgbClr val="0000FF"/>
                </a:solidFill>
              </a:rPr>
              <a:t>…a</a:t>
            </a:r>
            <a:r>
              <a:rPr lang="en-US" altLang="zh-CN" b="1" baseline="-25000" dirty="0">
                <a:solidFill>
                  <a:srgbClr val="0000FF"/>
                </a:solidFill>
              </a:rPr>
              <a:t>n</a:t>
            </a:r>
            <a:r>
              <a:rPr lang="zh-CN" altLang="en-US" b="1" dirty="0"/>
              <a:t>，分解具有</a:t>
            </a:r>
            <a:r>
              <a:rPr lang="zh-CN" altLang="en-US" b="1" dirty="0">
                <a:solidFill>
                  <a:srgbClr val="FF0000"/>
                </a:solidFill>
              </a:rPr>
              <a:t>无损连接性</a:t>
            </a:r>
          </a:p>
        </p:txBody>
      </p:sp>
      <p:sp>
        <p:nvSpPr>
          <p:cNvPr id="16" name="矩形 15"/>
          <p:cNvSpPr/>
          <p:nvPr/>
        </p:nvSpPr>
        <p:spPr>
          <a:xfrm>
            <a:off x="571472" y="3214686"/>
            <a:ext cx="2428870" cy="387798"/>
          </a:xfrm>
          <a:prstGeom prst="rect">
            <a:avLst/>
          </a:prstGeom>
        </p:spPr>
        <p:txBody>
          <a:bodyPr wrap="none">
            <a:spAutoFit/>
          </a:bodyPr>
          <a:lstStyle/>
          <a:p>
            <a:pPr>
              <a:lnSpc>
                <a:spcPct val="80000"/>
              </a:lnSpc>
              <a:buFont typeface="Wingdings" pitchFamily="2" charset="2"/>
              <a:buNone/>
            </a:pPr>
            <a:r>
              <a:rPr lang="en-US" altLang="zh-CN" dirty="0"/>
              <a:t>--------------------</a:t>
            </a:r>
          </a:p>
        </p:txBody>
      </p:sp>
      <p:sp>
        <p:nvSpPr>
          <p:cNvPr id="18" name="椭圆 17"/>
          <p:cNvSpPr/>
          <p:nvPr/>
        </p:nvSpPr>
        <p:spPr bwMode="auto">
          <a:xfrm>
            <a:off x="571472" y="3357562"/>
            <a:ext cx="609600" cy="785818"/>
          </a:xfrm>
          <a:prstGeom prst="ellipse">
            <a:avLst/>
          </a:prstGeom>
          <a:noFill/>
          <a:ln w="28575" cap="flat" cmpd="sng" algn="ctr">
            <a:solidFill>
              <a:srgbClr val="0000FF"/>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sp>
        <p:nvSpPr>
          <p:cNvPr id="19" name="椭圆 18"/>
          <p:cNvSpPr/>
          <p:nvPr/>
        </p:nvSpPr>
        <p:spPr bwMode="auto">
          <a:xfrm>
            <a:off x="1176318" y="3429000"/>
            <a:ext cx="766782" cy="714380"/>
          </a:xfrm>
          <a:prstGeom prst="ellipse">
            <a:avLst/>
          </a:prstGeom>
          <a:noFill/>
          <a:ln w="28575" cap="flat" cmpd="sng" algn="ctr">
            <a:solidFill>
              <a:srgbClr val="0000FF"/>
            </a:solidFill>
            <a:prstDash val="sysDot"/>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sp>
        <p:nvSpPr>
          <p:cNvPr id="5" name="页脚占位符 4">
            <a:extLst>
              <a:ext uri="{FF2B5EF4-FFF2-40B4-BE49-F238E27FC236}">
                <a16:creationId xmlns:a16="http://schemas.microsoft.com/office/drawing/2014/main" id="{243B330B-0A51-7DBF-E2B6-60C672CA60F6}"/>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078A5EF5-8276-65E4-7F62-AF02A4AAF824}"/>
              </a:ext>
            </a:extLst>
          </p:cNvPr>
          <p:cNvSpPr>
            <a:spLocks noGrp="1"/>
          </p:cNvSpPr>
          <p:nvPr>
            <p:ph type="sldNum" sz="quarter" idx="12"/>
          </p:nvPr>
        </p:nvSpPr>
        <p:spPr/>
        <p:txBody>
          <a:bodyPr/>
          <a:lstStyle/>
          <a:p>
            <a:fld id="{A2D74603-B40B-4D66-8F6E-41C870D48932}" type="slidenum">
              <a:rPr lang="en-US" altLang="zh-CN" smtClean="0"/>
              <a:pPr/>
              <a:t>143</a:t>
            </a:fld>
            <a:r>
              <a:rPr lang="en-US" altLang="zh-CN" dirty="0"/>
              <a:t>/162</a:t>
            </a:r>
          </a:p>
        </p:txBody>
      </p:sp>
      <p:sp>
        <p:nvSpPr>
          <p:cNvPr id="11" name="TextBox 1">
            <a:extLst>
              <a:ext uri="{FF2B5EF4-FFF2-40B4-BE49-F238E27FC236}">
                <a16:creationId xmlns:a16="http://schemas.microsoft.com/office/drawing/2014/main" id="{A593E31E-2BA7-5093-BF8A-62E2FB1EB916}"/>
              </a:ext>
            </a:extLst>
          </p:cNvPr>
          <p:cNvSpPr txBox="1"/>
          <p:nvPr/>
        </p:nvSpPr>
        <p:spPr>
          <a:xfrm>
            <a:off x="4907513" y="3013102"/>
            <a:ext cx="3825053" cy="1015663"/>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rtlCol="0">
            <a:spAutoFit/>
          </a:bodyPr>
          <a:lstStyle/>
          <a:p>
            <a:r>
              <a:rPr lang="zh-CN" altLang="en-US" sz="2000" dirty="0"/>
              <a:t>如果被决定的属性列存在</a:t>
            </a:r>
            <a:r>
              <a:rPr lang="en-US" altLang="zh-CN" sz="2000" dirty="0" err="1"/>
              <a:t>a</a:t>
            </a:r>
            <a:r>
              <a:rPr lang="en-US" altLang="zh-CN" sz="2000" baseline="-25000" dirty="0" err="1"/>
              <a:t>j</a:t>
            </a:r>
            <a:r>
              <a:rPr lang="zh-CN" altLang="en-US" sz="2000" dirty="0"/>
              <a:t>，则把对应其它行分量取值统一为</a:t>
            </a:r>
            <a:r>
              <a:rPr lang="en-US" altLang="zh-CN" sz="2000" dirty="0" err="1"/>
              <a:t>a</a:t>
            </a:r>
            <a:r>
              <a:rPr lang="en-US" altLang="zh-CN" sz="2000" baseline="-25000" dirty="0" err="1"/>
              <a:t>j</a:t>
            </a:r>
            <a:r>
              <a:rPr lang="zh-CN" altLang="en-US" sz="2000" dirty="0"/>
              <a:t>；</a:t>
            </a:r>
            <a:endParaRPr lang="en-US" altLang="zh-CN" sz="2000" dirty="0"/>
          </a:p>
          <a:p>
            <a:pPr algn="l"/>
            <a:r>
              <a:rPr lang="zh-CN" altLang="en-US" sz="2000" dirty="0"/>
              <a:t>否则，统一为</a:t>
            </a:r>
            <a:r>
              <a:rPr lang="en-US" altLang="zh-CN" sz="2000" dirty="0" err="1"/>
              <a:t>i</a:t>
            </a:r>
            <a:r>
              <a:rPr lang="zh-CN" altLang="en-US" sz="2000" dirty="0"/>
              <a:t>最小的</a:t>
            </a:r>
            <a:r>
              <a:rPr lang="en-US" altLang="zh-CN" sz="2000" dirty="0" err="1"/>
              <a:t>b</a:t>
            </a:r>
            <a:r>
              <a:rPr lang="en-US" altLang="zh-CN" sz="2000" baseline="-25000" dirty="0" err="1"/>
              <a:t>ij</a:t>
            </a:r>
            <a:r>
              <a:rPr lang="zh-CN" altLang="en-US" sz="2000" dirty="0"/>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27683">
                                            <p:txEl>
                                              <p:pRg st="6" end="6"/>
                                            </p:txEl>
                                          </p:spTgt>
                                        </p:tgtEl>
                                        <p:attrNameLst>
                                          <p:attrName>style.visibility</p:attrName>
                                        </p:attrNameLst>
                                      </p:cBhvr>
                                      <p:to>
                                        <p:strVal val="visible"/>
                                      </p:to>
                                    </p:set>
                                    <p:animEffect transition="in" filter="fade">
                                      <p:cBhvr>
                                        <p:cTn id="7" dur="1000"/>
                                        <p:tgtEl>
                                          <p:spTgt spid="327683">
                                            <p:txEl>
                                              <p:pRg st="6" end="6"/>
                                            </p:txEl>
                                          </p:spTgt>
                                        </p:tgtEl>
                                      </p:cBhvr>
                                    </p:animEffect>
                                    <p:anim calcmode="lin" valueType="num">
                                      <p:cBhvr>
                                        <p:cTn id="8" dur="1000" fill="hold"/>
                                        <p:tgtEl>
                                          <p:spTgt spid="327683">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32768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27683">
                                            <p:txEl>
                                              <p:pRg st="7" end="7"/>
                                            </p:txEl>
                                          </p:spTgt>
                                        </p:tgtEl>
                                        <p:attrNameLst>
                                          <p:attrName>style.visibility</p:attrName>
                                        </p:attrNameLst>
                                      </p:cBhvr>
                                      <p:to>
                                        <p:strVal val="visible"/>
                                      </p:to>
                                    </p:set>
                                    <p:animEffect transition="in" filter="fade">
                                      <p:cBhvr>
                                        <p:cTn id="14" dur="1000"/>
                                        <p:tgtEl>
                                          <p:spTgt spid="327683">
                                            <p:txEl>
                                              <p:pRg st="7" end="7"/>
                                            </p:txEl>
                                          </p:spTgt>
                                        </p:tgtEl>
                                      </p:cBhvr>
                                    </p:animEffect>
                                    <p:anim calcmode="lin" valueType="num">
                                      <p:cBhvr>
                                        <p:cTn id="15" dur="1000" fill="hold"/>
                                        <p:tgtEl>
                                          <p:spTgt spid="327683">
                                            <p:txEl>
                                              <p:pRg st="7" end="7"/>
                                            </p:txEl>
                                          </p:spTgt>
                                        </p:tgtEl>
                                        <p:attrNameLst>
                                          <p:attrName>ppt_x</p:attrName>
                                        </p:attrNameLst>
                                      </p:cBhvr>
                                      <p:tavLst>
                                        <p:tav tm="0">
                                          <p:val>
                                            <p:strVal val="#ppt_x"/>
                                          </p:val>
                                        </p:tav>
                                        <p:tav tm="100000">
                                          <p:val>
                                            <p:strVal val="#ppt_x"/>
                                          </p:val>
                                        </p:tav>
                                      </p:tavLst>
                                    </p:anim>
                                    <p:anim calcmode="lin" valueType="num">
                                      <p:cBhvr>
                                        <p:cTn id="16" dur="1000" fill="hold"/>
                                        <p:tgtEl>
                                          <p:spTgt spid="327683">
                                            <p:txEl>
                                              <p:pRg st="7" end="7"/>
                                            </p:txEl>
                                          </p:spTgt>
                                        </p:tgtEl>
                                        <p:attrNameLst>
                                          <p:attrName>ppt_y</p:attrName>
                                        </p:attrNameLst>
                                      </p:cBhvr>
                                      <p:tavLst>
                                        <p:tav tm="0">
                                          <p:val>
                                            <p:strVal val="#ppt_y+.1"/>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1+#ppt_w/2"/>
                                          </p:val>
                                        </p:tav>
                                        <p:tav tm="100000">
                                          <p:val>
                                            <p:strVal val="#ppt_x"/>
                                          </p:val>
                                        </p:tav>
                                      </p:tavLst>
                                    </p:anim>
                                    <p:anim calcmode="lin" valueType="num">
                                      <p:cBhvr additive="base">
                                        <p:cTn id="20"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heel(1)">
                                      <p:cBhvr>
                                        <p:cTn id="25"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21" presetClass="entr" presetSubtype="1"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wheel(1)">
                                      <p:cBhvr>
                                        <p:cTn id="30" dur="5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27683">
                                            <p:txEl>
                                              <p:pRg st="8" end="8"/>
                                            </p:txEl>
                                          </p:spTgt>
                                        </p:tgtEl>
                                        <p:attrNameLst>
                                          <p:attrName>style.visibility</p:attrName>
                                        </p:attrNameLst>
                                      </p:cBhvr>
                                      <p:to>
                                        <p:strVal val="visible"/>
                                      </p:to>
                                    </p:set>
                                    <p:animEffect transition="in" filter="fade">
                                      <p:cBhvr>
                                        <p:cTn id="35" dur="1000"/>
                                        <p:tgtEl>
                                          <p:spTgt spid="327683">
                                            <p:txEl>
                                              <p:pRg st="8" end="8"/>
                                            </p:txEl>
                                          </p:spTgt>
                                        </p:tgtEl>
                                      </p:cBhvr>
                                    </p:animEffect>
                                    <p:anim calcmode="lin" valueType="num">
                                      <p:cBhvr>
                                        <p:cTn id="36" dur="1000" fill="hold"/>
                                        <p:tgtEl>
                                          <p:spTgt spid="327683">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327683">
                                            <p:txEl>
                                              <p:pRg st="8" end="8"/>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327683">
                                            <p:txEl>
                                              <p:pRg st="9" end="9"/>
                                            </p:txEl>
                                          </p:spTgt>
                                        </p:tgtEl>
                                        <p:attrNameLst>
                                          <p:attrName>style.visibility</p:attrName>
                                        </p:attrNameLst>
                                      </p:cBhvr>
                                      <p:to>
                                        <p:strVal val="visible"/>
                                      </p:to>
                                    </p:set>
                                    <p:animEffect transition="in" filter="fade">
                                      <p:cBhvr>
                                        <p:cTn id="40" dur="1000"/>
                                        <p:tgtEl>
                                          <p:spTgt spid="327683">
                                            <p:txEl>
                                              <p:pRg st="9" end="9"/>
                                            </p:txEl>
                                          </p:spTgt>
                                        </p:tgtEl>
                                      </p:cBhvr>
                                    </p:animEffect>
                                    <p:anim calcmode="lin" valueType="num">
                                      <p:cBhvr>
                                        <p:cTn id="41" dur="1000" fill="hold"/>
                                        <p:tgtEl>
                                          <p:spTgt spid="327683">
                                            <p:txEl>
                                              <p:pRg st="9" end="9"/>
                                            </p:txEl>
                                          </p:spTgt>
                                        </p:tgtEl>
                                        <p:attrNameLst>
                                          <p:attrName>ppt_x</p:attrName>
                                        </p:attrNameLst>
                                      </p:cBhvr>
                                      <p:tavLst>
                                        <p:tav tm="0">
                                          <p:val>
                                            <p:strVal val="#ppt_x"/>
                                          </p:val>
                                        </p:tav>
                                        <p:tav tm="100000">
                                          <p:val>
                                            <p:strVal val="#ppt_x"/>
                                          </p:val>
                                        </p:tav>
                                      </p:tavLst>
                                    </p:anim>
                                    <p:anim calcmode="lin" valueType="num">
                                      <p:cBhvr>
                                        <p:cTn id="42" dur="1000" fill="hold"/>
                                        <p:tgtEl>
                                          <p:spTgt spid="327683">
                                            <p:txEl>
                                              <p:pRg st="9" end="9"/>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327683">
                                            <p:txEl>
                                              <p:pRg st="10" end="10"/>
                                            </p:txEl>
                                          </p:spTgt>
                                        </p:tgtEl>
                                        <p:attrNameLst>
                                          <p:attrName>style.visibility</p:attrName>
                                        </p:attrNameLst>
                                      </p:cBhvr>
                                      <p:to>
                                        <p:strVal val="visible"/>
                                      </p:to>
                                    </p:set>
                                    <p:animEffect transition="in" filter="fade">
                                      <p:cBhvr>
                                        <p:cTn id="45" dur="1000"/>
                                        <p:tgtEl>
                                          <p:spTgt spid="327683">
                                            <p:txEl>
                                              <p:pRg st="10" end="10"/>
                                            </p:txEl>
                                          </p:spTgt>
                                        </p:tgtEl>
                                      </p:cBhvr>
                                    </p:animEffect>
                                    <p:anim calcmode="lin" valueType="num">
                                      <p:cBhvr>
                                        <p:cTn id="46" dur="1000" fill="hold"/>
                                        <p:tgtEl>
                                          <p:spTgt spid="327683">
                                            <p:txEl>
                                              <p:pRg st="10" end="10"/>
                                            </p:txEl>
                                          </p:spTgt>
                                        </p:tgtEl>
                                        <p:attrNameLst>
                                          <p:attrName>ppt_x</p:attrName>
                                        </p:attrNameLst>
                                      </p:cBhvr>
                                      <p:tavLst>
                                        <p:tav tm="0">
                                          <p:val>
                                            <p:strVal val="#ppt_x"/>
                                          </p:val>
                                        </p:tav>
                                        <p:tav tm="100000">
                                          <p:val>
                                            <p:strVal val="#ppt_x"/>
                                          </p:val>
                                        </p:tav>
                                      </p:tavLst>
                                    </p:anim>
                                    <p:anim calcmode="lin" valueType="num">
                                      <p:cBhvr>
                                        <p:cTn id="47" dur="1000" fill="hold"/>
                                        <p:tgtEl>
                                          <p:spTgt spid="327683">
                                            <p:txEl>
                                              <p:pRg st="10" end="10"/>
                                            </p:txEl>
                                          </p:spTgt>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327683">
                                            <p:txEl>
                                              <p:pRg st="11" end="11"/>
                                            </p:txEl>
                                          </p:spTgt>
                                        </p:tgtEl>
                                        <p:attrNameLst>
                                          <p:attrName>style.visibility</p:attrName>
                                        </p:attrNameLst>
                                      </p:cBhvr>
                                      <p:to>
                                        <p:strVal val="visible"/>
                                      </p:to>
                                    </p:set>
                                    <p:animEffect transition="in" filter="fade">
                                      <p:cBhvr>
                                        <p:cTn id="50" dur="1000"/>
                                        <p:tgtEl>
                                          <p:spTgt spid="327683">
                                            <p:txEl>
                                              <p:pRg st="11" end="11"/>
                                            </p:txEl>
                                          </p:spTgt>
                                        </p:tgtEl>
                                      </p:cBhvr>
                                    </p:animEffect>
                                    <p:anim calcmode="lin" valueType="num">
                                      <p:cBhvr>
                                        <p:cTn id="51" dur="1000" fill="hold"/>
                                        <p:tgtEl>
                                          <p:spTgt spid="327683">
                                            <p:txEl>
                                              <p:pRg st="11" end="11"/>
                                            </p:txEl>
                                          </p:spTgt>
                                        </p:tgtEl>
                                        <p:attrNameLst>
                                          <p:attrName>ppt_x</p:attrName>
                                        </p:attrNameLst>
                                      </p:cBhvr>
                                      <p:tavLst>
                                        <p:tav tm="0">
                                          <p:val>
                                            <p:strVal val="#ppt_x"/>
                                          </p:val>
                                        </p:tav>
                                        <p:tav tm="100000">
                                          <p:val>
                                            <p:strVal val="#ppt_x"/>
                                          </p:val>
                                        </p:tav>
                                      </p:tavLst>
                                    </p:anim>
                                    <p:anim calcmode="lin" valueType="num">
                                      <p:cBhvr>
                                        <p:cTn id="52" dur="1000" fill="hold"/>
                                        <p:tgtEl>
                                          <p:spTgt spid="32768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3" presetClass="emph" presetSubtype="2" fill="hold" nodeType="clickEffect">
                                  <p:stCondLst>
                                    <p:cond delay="0"/>
                                  </p:stCondLst>
                                  <p:childTnLst>
                                    <p:animClr clrSpc="rgb" dir="cw">
                                      <p:cBhvr override="childStyle">
                                        <p:cTn id="56" dur="2000" fill="hold"/>
                                        <p:tgtEl>
                                          <p:spTgt spid="327683">
                                            <p:txEl>
                                              <p:pRg st="11" end="11"/>
                                            </p:txEl>
                                          </p:spTgt>
                                        </p:tgtEl>
                                        <p:attrNameLst>
                                          <p:attrName>style.color</p:attrName>
                                        </p:attrNameLst>
                                      </p:cBhvr>
                                      <p:to>
                                        <a:srgbClr val="C00000"/>
                                      </p:to>
                                    </p:animClr>
                                  </p:childTnLst>
                                </p:cTn>
                              </p:par>
                            </p:childTnLst>
                          </p:cTn>
                        </p:par>
                      </p:childTnLst>
                    </p:cTn>
                  </p:par>
                  <p:par>
                    <p:cTn id="57" fill="hold">
                      <p:stCondLst>
                        <p:cond delay="indefinite"/>
                      </p:stCondLst>
                      <p:childTnLst>
                        <p:par>
                          <p:cTn id="58" fill="hold">
                            <p:stCondLst>
                              <p:cond delay="0"/>
                            </p:stCondLst>
                            <p:childTnLst>
                              <p:par>
                                <p:cTn id="59" presetID="21" presetClass="entr" presetSubtype="1" fill="hold" grpId="0" nodeType="click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wheel(1)">
                                      <p:cBhvr>
                                        <p:cTn id="61"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animBg="1"/>
      <p:bldP spid="19" grpId="0" animBg="1"/>
      <p:bldP spid="11" grpId="0" animBg="1"/>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D80B7C27-267E-46A8-8FDA-C12A94B42F01}" type="datetime1">
              <a:rPr lang="zh-CN" altLang="en-US" smtClean="0"/>
              <a:t>2025/11/6</a:t>
            </a:fld>
            <a:endParaRPr lang="en-US" altLang="zh-CN"/>
          </a:p>
        </p:txBody>
      </p:sp>
      <p:sp>
        <p:nvSpPr>
          <p:cNvPr id="328706" name="Rectangle 2"/>
          <p:cNvSpPr>
            <a:spLocks noGrp="1" noChangeArrowheads="1"/>
          </p:cNvSpPr>
          <p:nvPr>
            <p:ph type="title"/>
          </p:nvPr>
        </p:nvSpPr>
        <p:spPr/>
        <p:txBody>
          <a:bodyPr/>
          <a:lstStyle/>
          <a:p>
            <a:r>
              <a:rPr lang="en-US" altLang="zh-CN" dirty="0"/>
              <a:t>8.4.2 </a:t>
            </a:r>
            <a:r>
              <a:rPr lang="zh-CN" altLang="en-US" dirty="0"/>
              <a:t>分解的无损连接性和保持函数依赖性</a:t>
            </a:r>
          </a:p>
        </p:txBody>
      </p:sp>
      <p:sp>
        <p:nvSpPr>
          <p:cNvPr id="328707" name="Rectangle 3"/>
          <p:cNvSpPr>
            <a:spLocks noGrp="1" noChangeArrowheads="1"/>
          </p:cNvSpPr>
          <p:nvPr>
            <p:ph type="body" idx="1"/>
          </p:nvPr>
        </p:nvSpPr>
        <p:spPr/>
        <p:txBody>
          <a:bodyPr/>
          <a:lstStyle/>
          <a:p>
            <a:pPr>
              <a:lnSpc>
                <a:spcPct val="80000"/>
              </a:lnSpc>
              <a:buNone/>
            </a:pPr>
            <a:r>
              <a:rPr lang="zh-CN" altLang="en-US" sz="2400" dirty="0"/>
              <a:t>补充例 </a:t>
            </a:r>
            <a:r>
              <a:rPr lang="en-US" altLang="zh-CN" sz="2400" dirty="0"/>
              <a:t>R(A</a:t>
            </a:r>
            <a:r>
              <a:rPr lang="zh-CN" altLang="en-US" sz="2400" dirty="0"/>
              <a:t>，</a:t>
            </a:r>
            <a:r>
              <a:rPr lang="en-US" altLang="zh-CN" sz="2400" dirty="0"/>
              <a:t>B</a:t>
            </a:r>
            <a:r>
              <a:rPr lang="zh-CN" altLang="en-US" sz="2400" dirty="0"/>
              <a:t>，</a:t>
            </a:r>
            <a:r>
              <a:rPr lang="en-US" altLang="zh-CN" sz="2400" dirty="0"/>
              <a:t>C</a:t>
            </a:r>
            <a:r>
              <a:rPr lang="zh-CN" altLang="en-US" sz="2400" dirty="0"/>
              <a:t>，</a:t>
            </a:r>
            <a:r>
              <a:rPr lang="en-US" altLang="zh-CN" sz="2400" dirty="0"/>
              <a:t>D</a:t>
            </a:r>
            <a:r>
              <a:rPr lang="zh-CN" altLang="en-US" sz="2400" dirty="0"/>
              <a:t>，</a:t>
            </a:r>
            <a:r>
              <a:rPr lang="en-US" altLang="zh-CN" sz="2400" dirty="0"/>
              <a:t>E)</a:t>
            </a:r>
            <a:r>
              <a:rPr lang="zh-CN" altLang="en-US" sz="2400" dirty="0"/>
              <a:t>，</a:t>
            </a:r>
            <a:r>
              <a:rPr lang="en-US" altLang="zh-CN" sz="2400" dirty="0"/>
              <a:t>F={A</a:t>
            </a:r>
            <a:r>
              <a:rPr lang="en-US" altLang="zh-CN" sz="2400" dirty="0">
                <a:latin typeface="宋体" pitchFamily="2" charset="-122"/>
              </a:rPr>
              <a:t>→</a:t>
            </a:r>
            <a:r>
              <a:rPr lang="en-US" altLang="zh-CN" sz="2400" dirty="0"/>
              <a:t>C, B</a:t>
            </a:r>
            <a:r>
              <a:rPr lang="en-US" altLang="zh-CN" sz="2400" dirty="0">
                <a:latin typeface="宋体" pitchFamily="2" charset="-122"/>
              </a:rPr>
              <a:t>→</a:t>
            </a:r>
            <a:r>
              <a:rPr lang="en-US" altLang="zh-CN" sz="2400" dirty="0"/>
              <a:t>C, C</a:t>
            </a:r>
            <a:r>
              <a:rPr lang="en-US" altLang="zh-CN" sz="2400" dirty="0">
                <a:latin typeface="宋体" pitchFamily="2" charset="-122"/>
              </a:rPr>
              <a:t>→</a:t>
            </a:r>
            <a:r>
              <a:rPr lang="en-US" altLang="zh-CN" sz="2400" dirty="0"/>
              <a:t>D, DE</a:t>
            </a:r>
            <a:r>
              <a:rPr lang="en-US" altLang="zh-CN" sz="2400" dirty="0">
                <a:latin typeface="宋体" pitchFamily="2" charset="-122"/>
              </a:rPr>
              <a:t>→</a:t>
            </a:r>
            <a:r>
              <a:rPr lang="en-US" altLang="zh-CN" sz="2400" dirty="0"/>
              <a:t>C, CE</a:t>
            </a:r>
            <a:r>
              <a:rPr lang="en-US" altLang="zh-CN" sz="2400" dirty="0">
                <a:latin typeface="宋体" pitchFamily="2" charset="-122"/>
              </a:rPr>
              <a:t>→</a:t>
            </a:r>
            <a:r>
              <a:rPr lang="en-US" altLang="zh-CN" sz="2400" dirty="0"/>
              <a:t>A}</a:t>
            </a:r>
            <a:r>
              <a:rPr lang="zh-CN" altLang="en-US" sz="2400" dirty="0"/>
              <a:t>，分解</a:t>
            </a:r>
            <a:r>
              <a:rPr lang="en-US" altLang="zh-CN" sz="2400" dirty="0">
                <a:solidFill>
                  <a:schemeClr val="tx2"/>
                </a:solidFill>
              </a:rPr>
              <a:t>R1=AD,R2=AB, R3=BE, R4=CDE, R5=AE</a:t>
            </a:r>
            <a:endParaRPr lang="en-US" altLang="zh-CN" sz="2400" dirty="0"/>
          </a:p>
          <a:p>
            <a:pPr>
              <a:lnSpc>
                <a:spcPct val="80000"/>
              </a:lnSpc>
              <a:buFont typeface="Wingdings" pitchFamily="2" charset="2"/>
              <a:buNone/>
            </a:pPr>
            <a:r>
              <a:rPr lang="en-US" altLang="zh-CN" sz="2400" dirty="0"/>
              <a:t>A         B           C         D         E</a:t>
            </a:r>
          </a:p>
          <a:p>
            <a:pPr>
              <a:lnSpc>
                <a:spcPct val="80000"/>
              </a:lnSpc>
              <a:buFont typeface="Wingdings" pitchFamily="2" charset="2"/>
              <a:buNone/>
            </a:pPr>
            <a:r>
              <a:rPr lang="en-US" altLang="zh-CN" sz="2400" dirty="0"/>
              <a:t>--------------------------------------------</a:t>
            </a:r>
          </a:p>
          <a:p>
            <a:pPr>
              <a:lnSpc>
                <a:spcPct val="80000"/>
              </a:lnSpc>
              <a:buFont typeface="Wingdings" pitchFamily="2" charset="2"/>
              <a:buNone/>
            </a:pPr>
            <a:r>
              <a:rPr lang="en-US" altLang="zh-CN" sz="2400" dirty="0">
                <a:solidFill>
                  <a:schemeClr val="tx2"/>
                </a:solidFill>
              </a:rPr>
              <a:t>a1</a:t>
            </a:r>
            <a:r>
              <a:rPr lang="en-US" altLang="zh-CN" sz="2400" dirty="0"/>
              <a:t>        b12       b13     </a:t>
            </a:r>
            <a:r>
              <a:rPr lang="en-US" altLang="zh-CN" sz="2400" dirty="0">
                <a:solidFill>
                  <a:schemeClr val="tx2"/>
                </a:solidFill>
              </a:rPr>
              <a:t>a4</a:t>
            </a:r>
            <a:r>
              <a:rPr lang="en-US" altLang="zh-CN" sz="2400" dirty="0"/>
              <a:t>        b15</a:t>
            </a:r>
          </a:p>
          <a:p>
            <a:pPr>
              <a:lnSpc>
                <a:spcPct val="80000"/>
              </a:lnSpc>
              <a:buFont typeface="Wingdings" pitchFamily="2" charset="2"/>
              <a:buNone/>
            </a:pPr>
            <a:r>
              <a:rPr lang="en-US" altLang="zh-CN" sz="2400" dirty="0">
                <a:solidFill>
                  <a:schemeClr val="tx2"/>
                </a:solidFill>
              </a:rPr>
              <a:t>a1        a2         </a:t>
            </a:r>
            <a:r>
              <a:rPr lang="en-US" altLang="zh-CN" sz="2400" dirty="0"/>
              <a:t>b23     b24      b25</a:t>
            </a:r>
          </a:p>
          <a:p>
            <a:pPr>
              <a:lnSpc>
                <a:spcPct val="80000"/>
              </a:lnSpc>
              <a:buFont typeface="Wingdings" pitchFamily="2" charset="2"/>
              <a:buNone/>
            </a:pPr>
            <a:r>
              <a:rPr lang="en-US" altLang="zh-CN" sz="2400" dirty="0"/>
              <a:t>b31      </a:t>
            </a:r>
            <a:r>
              <a:rPr lang="en-US" altLang="zh-CN" sz="2400" dirty="0">
                <a:solidFill>
                  <a:schemeClr val="tx2"/>
                </a:solidFill>
              </a:rPr>
              <a:t>a2</a:t>
            </a:r>
            <a:r>
              <a:rPr lang="en-US" altLang="zh-CN" sz="2400" dirty="0"/>
              <a:t>         b33     b34      </a:t>
            </a:r>
            <a:r>
              <a:rPr lang="en-US" altLang="zh-CN" sz="2400" dirty="0">
                <a:solidFill>
                  <a:schemeClr val="tx2"/>
                </a:solidFill>
              </a:rPr>
              <a:t>a5</a:t>
            </a:r>
          </a:p>
          <a:p>
            <a:pPr>
              <a:lnSpc>
                <a:spcPct val="80000"/>
              </a:lnSpc>
              <a:buFont typeface="Wingdings" pitchFamily="2" charset="2"/>
              <a:buNone/>
            </a:pPr>
            <a:r>
              <a:rPr lang="en-US" altLang="zh-CN" sz="2400" dirty="0"/>
              <a:t>b41      b42       </a:t>
            </a:r>
            <a:r>
              <a:rPr lang="en-US" altLang="zh-CN" sz="2400" dirty="0">
                <a:solidFill>
                  <a:schemeClr val="tx2"/>
                </a:solidFill>
              </a:rPr>
              <a:t>a3       a4        a5</a:t>
            </a:r>
          </a:p>
          <a:p>
            <a:pPr>
              <a:lnSpc>
                <a:spcPct val="80000"/>
              </a:lnSpc>
              <a:buFont typeface="Wingdings" pitchFamily="2" charset="2"/>
              <a:buNone/>
            </a:pPr>
            <a:r>
              <a:rPr lang="en-US" altLang="zh-CN" sz="2400" dirty="0">
                <a:solidFill>
                  <a:schemeClr val="tx2"/>
                </a:solidFill>
              </a:rPr>
              <a:t>a1</a:t>
            </a:r>
            <a:r>
              <a:rPr lang="en-US" altLang="zh-CN" sz="2400" dirty="0"/>
              <a:t>        b52       b53     b54      </a:t>
            </a:r>
            <a:r>
              <a:rPr lang="en-US" altLang="zh-CN" sz="2400" dirty="0">
                <a:solidFill>
                  <a:schemeClr val="tx2"/>
                </a:solidFill>
              </a:rPr>
              <a:t>a5</a:t>
            </a:r>
          </a:p>
          <a:p>
            <a:pPr>
              <a:lnSpc>
                <a:spcPct val="80000"/>
              </a:lnSpc>
              <a:buFont typeface="Wingdings" pitchFamily="2" charset="2"/>
              <a:buNone/>
            </a:pPr>
            <a:endParaRPr lang="en-US" altLang="zh-CN" sz="2400" dirty="0"/>
          </a:p>
        </p:txBody>
      </p:sp>
      <p:sp>
        <p:nvSpPr>
          <p:cNvPr id="3" name="页脚占位符 2">
            <a:extLst>
              <a:ext uri="{FF2B5EF4-FFF2-40B4-BE49-F238E27FC236}">
                <a16:creationId xmlns:a16="http://schemas.microsoft.com/office/drawing/2014/main" id="{3536782D-A976-25B9-4181-41CF7629E3C6}"/>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3CFFAD64-8623-42C1-7D77-F1AA1A418373}"/>
              </a:ext>
            </a:extLst>
          </p:cNvPr>
          <p:cNvSpPr>
            <a:spLocks noGrp="1"/>
          </p:cNvSpPr>
          <p:nvPr>
            <p:ph type="sldNum" sz="quarter" idx="12"/>
          </p:nvPr>
        </p:nvSpPr>
        <p:spPr/>
        <p:txBody>
          <a:bodyPr/>
          <a:lstStyle/>
          <a:p>
            <a:fld id="{A2D74603-B40B-4D66-8F6E-41C870D48932}" type="slidenum">
              <a:rPr lang="en-US" altLang="zh-CN" smtClean="0"/>
              <a:pPr/>
              <a:t>144</a:t>
            </a:fld>
            <a:r>
              <a:rPr lang="en-US" altLang="zh-CN"/>
              <a:t>/162</a:t>
            </a:r>
            <a:endParaRPr lang="en-US" altLang="zh-CN" dirty="0"/>
          </a:p>
        </p:txBody>
      </p:sp>
    </p:spTree>
    <p:extLst>
      <p:ext uri="{BB962C8B-B14F-4D97-AF65-F5344CB8AC3E}">
        <p14:creationId xmlns:p14="http://schemas.microsoft.com/office/powerpoint/2010/main" val="138034756"/>
      </p:ext>
    </p:extLst>
  </p:cSld>
  <p:clrMapOvr>
    <a:masterClrMapping/>
  </p:clrMapOvr>
  <p:transition>
    <p:fade/>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A302782-2F1A-4D86-B139-E6D8580E9C66}" type="datetime1">
              <a:rPr lang="zh-CN" altLang="en-US" smtClean="0"/>
              <a:t>2025/11/6</a:t>
            </a:fld>
            <a:endParaRPr lang="en-US" altLang="zh-CN"/>
          </a:p>
        </p:txBody>
      </p:sp>
      <p:sp>
        <p:nvSpPr>
          <p:cNvPr id="328706" name="Rectangle 2"/>
          <p:cNvSpPr>
            <a:spLocks noGrp="1" noChangeArrowheads="1"/>
          </p:cNvSpPr>
          <p:nvPr>
            <p:ph type="title"/>
          </p:nvPr>
        </p:nvSpPr>
        <p:spPr/>
        <p:txBody>
          <a:bodyPr/>
          <a:lstStyle/>
          <a:p>
            <a:r>
              <a:rPr lang="en-US" altLang="zh-CN" dirty="0"/>
              <a:t>8.4.2 </a:t>
            </a:r>
            <a:r>
              <a:rPr lang="zh-CN" altLang="en-US" dirty="0"/>
              <a:t>分解的无损连接性和保持函数依赖性</a:t>
            </a:r>
          </a:p>
        </p:txBody>
      </p:sp>
      <p:sp>
        <p:nvSpPr>
          <p:cNvPr id="328707" name="Rectangle 3"/>
          <p:cNvSpPr>
            <a:spLocks noGrp="1" noChangeArrowheads="1"/>
          </p:cNvSpPr>
          <p:nvPr>
            <p:ph type="body" idx="1"/>
          </p:nvPr>
        </p:nvSpPr>
        <p:spPr/>
        <p:txBody>
          <a:bodyPr/>
          <a:lstStyle/>
          <a:p>
            <a:pPr>
              <a:lnSpc>
                <a:spcPct val="80000"/>
              </a:lnSpc>
              <a:buNone/>
            </a:pPr>
            <a:r>
              <a:rPr lang="zh-CN" altLang="en-US" sz="2400" dirty="0"/>
              <a:t>补充例 </a:t>
            </a:r>
            <a:r>
              <a:rPr lang="en-US" altLang="zh-CN" sz="2400" dirty="0"/>
              <a:t>R(A</a:t>
            </a:r>
            <a:r>
              <a:rPr lang="zh-CN" altLang="en-US" sz="2400" dirty="0"/>
              <a:t>，</a:t>
            </a:r>
            <a:r>
              <a:rPr lang="en-US" altLang="zh-CN" sz="2400" dirty="0"/>
              <a:t>B</a:t>
            </a:r>
            <a:r>
              <a:rPr lang="zh-CN" altLang="en-US" sz="2400" dirty="0"/>
              <a:t>，</a:t>
            </a:r>
            <a:r>
              <a:rPr lang="en-US" altLang="zh-CN" sz="2400" dirty="0"/>
              <a:t>C</a:t>
            </a:r>
            <a:r>
              <a:rPr lang="zh-CN" altLang="en-US" sz="2400" dirty="0"/>
              <a:t>，</a:t>
            </a:r>
            <a:r>
              <a:rPr lang="en-US" altLang="zh-CN" sz="2400" dirty="0"/>
              <a:t>D</a:t>
            </a:r>
            <a:r>
              <a:rPr lang="zh-CN" altLang="en-US" sz="2400" dirty="0"/>
              <a:t>，</a:t>
            </a:r>
            <a:r>
              <a:rPr lang="en-US" altLang="zh-CN" sz="2400" dirty="0"/>
              <a:t>E)</a:t>
            </a:r>
            <a:r>
              <a:rPr lang="zh-CN" altLang="en-US" sz="2400" dirty="0"/>
              <a:t>，</a:t>
            </a:r>
            <a:r>
              <a:rPr lang="en-US" altLang="zh-CN" sz="2400" dirty="0"/>
              <a:t>F={</a:t>
            </a:r>
            <a:r>
              <a:rPr lang="en-US" altLang="zh-CN" sz="2400" dirty="0">
                <a:solidFill>
                  <a:srgbClr val="C00000"/>
                </a:solidFill>
              </a:rPr>
              <a:t>A</a:t>
            </a:r>
            <a:r>
              <a:rPr lang="en-US" altLang="zh-CN" sz="2400" dirty="0">
                <a:solidFill>
                  <a:srgbClr val="C00000"/>
                </a:solidFill>
                <a:latin typeface="宋体" pitchFamily="2" charset="-122"/>
              </a:rPr>
              <a:t>→</a:t>
            </a:r>
            <a:r>
              <a:rPr lang="en-US" altLang="zh-CN" sz="2400" dirty="0">
                <a:solidFill>
                  <a:srgbClr val="C00000"/>
                </a:solidFill>
              </a:rPr>
              <a:t>C</a:t>
            </a:r>
            <a:r>
              <a:rPr lang="en-US" altLang="zh-CN" sz="2400" dirty="0"/>
              <a:t>, B</a:t>
            </a:r>
            <a:r>
              <a:rPr lang="en-US" altLang="zh-CN" sz="2400" dirty="0">
                <a:latin typeface="宋体" pitchFamily="2" charset="-122"/>
              </a:rPr>
              <a:t>→</a:t>
            </a:r>
            <a:r>
              <a:rPr lang="en-US" altLang="zh-CN" sz="2400" dirty="0"/>
              <a:t>C, C</a:t>
            </a:r>
            <a:r>
              <a:rPr lang="en-US" altLang="zh-CN" sz="2400" dirty="0">
                <a:latin typeface="宋体" pitchFamily="2" charset="-122"/>
              </a:rPr>
              <a:t>→</a:t>
            </a:r>
            <a:r>
              <a:rPr lang="en-US" altLang="zh-CN" sz="2400" dirty="0"/>
              <a:t>D, DE</a:t>
            </a:r>
            <a:r>
              <a:rPr lang="en-US" altLang="zh-CN" sz="2400" dirty="0">
                <a:latin typeface="宋体" pitchFamily="2" charset="-122"/>
              </a:rPr>
              <a:t>→</a:t>
            </a:r>
            <a:r>
              <a:rPr lang="en-US" altLang="zh-CN" sz="2400" dirty="0"/>
              <a:t>C, CE</a:t>
            </a:r>
            <a:r>
              <a:rPr lang="en-US" altLang="zh-CN" sz="2400" dirty="0">
                <a:latin typeface="宋体" pitchFamily="2" charset="-122"/>
              </a:rPr>
              <a:t>→</a:t>
            </a:r>
            <a:r>
              <a:rPr lang="en-US" altLang="zh-CN" sz="2400" dirty="0"/>
              <a:t>A}</a:t>
            </a:r>
            <a:r>
              <a:rPr lang="zh-CN" altLang="en-US" sz="2400" dirty="0"/>
              <a:t>，分解</a:t>
            </a:r>
            <a:r>
              <a:rPr lang="en-US" altLang="zh-CN" sz="2400" dirty="0">
                <a:solidFill>
                  <a:schemeClr val="bg2"/>
                </a:solidFill>
              </a:rPr>
              <a:t>R1=AD,R2=AB, R3=BE, R4=CDE, R5=AE </a:t>
            </a:r>
            <a:endParaRPr lang="en-US" altLang="zh-CN" sz="2400" dirty="0"/>
          </a:p>
          <a:p>
            <a:pPr>
              <a:lnSpc>
                <a:spcPct val="80000"/>
              </a:lnSpc>
              <a:buFont typeface="Wingdings" pitchFamily="2" charset="2"/>
              <a:buNone/>
            </a:pPr>
            <a:r>
              <a:rPr lang="en-US" altLang="zh-CN" sz="2400" dirty="0"/>
              <a:t>A         B           C         D         E</a:t>
            </a:r>
          </a:p>
          <a:p>
            <a:pPr>
              <a:lnSpc>
                <a:spcPct val="80000"/>
              </a:lnSpc>
              <a:buFont typeface="Wingdings" pitchFamily="2" charset="2"/>
              <a:buNone/>
            </a:pPr>
            <a:r>
              <a:rPr lang="en-US" altLang="zh-CN" sz="2400" dirty="0"/>
              <a:t>--------------------------------------------</a:t>
            </a:r>
          </a:p>
          <a:p>
            <a:pPr>
              <a:lnSpc>
                <a:spcPct val="80000"/>
              </a:lnSpc>
              <a:buFont typeface="Wingdings" pitchFamily="2" charset="2"/>
              <a:buNone/>
            </a:pPr>
            <a:r>
              <a:rPr lang="en-US" altLang="zh-CN" sz="2400" dirty="0">
                <a:solidFill>
                  <a:srgbClr val="C00000"/>
                </a:solidFill>
              </a:rPr>
              <a:t>a1</a:t>
            </a:r>
            <a:r>
              <a:rPr lang="en-US" altLang="zh-CN" sz="2400" dirty="0"/>
              <a:t>        b12       b13     a4        b15</a:t>
            </a:r>
          </a:p>
          <a:p>
            <a:pPr>
              <a:lnSpc>
                <a:spcPct val="80000"/>
              </a:lnSpc>
              <a:buFont typeface="Wingdings" pitchFamily="2" charset="2"/>
              <a:buNone/>
            </a:pPr>
            <a:r>
              <a:rPr lang="en-US" altLang="zh-CN" sz="2400" dirty="0">
                <a:solidFill>
                  <a:srgbClr val="C00000"/>
                </a:solidFill>
              </a:rPr>
              <a:t>a1</a:t>
            </a:r>
            <a:r>
              <a:rPr lang="en-US" altLang="zh-CN" sz="2400" dirty="0"/>
              <a:t>        a2         b23     b24      b25</a:t>
            </a:r>
          </a:p>
          <a:p>
            <a:pPr>
              <a:lnSpc>
                <a:spcPct val="80000"/>
              </a:lnSpc>
              <a:buFont typeface="Wingdings" pitchFamily="2" charset="2"/>
              <a:buNone/>
            </a:pPr>
            <a:r>
              <a:rPr lang="en-US" altLang="zh-CN" sz="2400" dirty="0"/>
              <a:t>b31      a2         b33     b34      a5</a:t>
            </a:r>
          </a:p>
          <a:p>
            <a:pPr>
              <a:lnSpc>
                <a:spcPct val="80000"/>
              </a:lnSpc>
              <a:buFont typeface="Wingdings" pitchFamily="2" charset="2"/>
              <a:buNone/>
            </a:pPr>
            <a:r>
              <a:rPr lang="en-US" altLang="zh-CN" sz="2400" dirty="0"/>
              <a:t>b41      b42       a3       a4        a5</a:t>
            </a:r>
          </a:p>
          <a:p>
            <a:pPr>
              <a:lnSpc>
                <a:spcPct val="80000"/>
              </a:lnSpc>
              <a:buFont typeface="Wingdings" pitchFamily="2" charset="2"/>
              <a:buNone/>
            </a:pPr>
            <a:r>
              <a:rPr lang="en-US" altLang="zh-CN" sz="2400" dirty="0">
                <a:solidFill>
                  <a:srgbClr val="C00000"/>
                </a:solidFill>
              </a:rPr>
              <a:t>a1</a:t>
            </a:r>
            <a:r>
              <a:rPr lang="en-US" altLang="zh-CN" sz="2400" dirty="0"/>
              <a:t>        b52       b53     b54      a5</a:t>
            </a:r>
          </a:p>
          <a:p>
            <a:pPr>
              <a:lnSpc>
                <a:spcPct val="80000"/>
              </a:lnSpc>
              <a:buFont typeface="Wingdings" pitchFamily="2" charset="2"/>
              <a:buNone/>
            </a:pPr>
            <a:endParaRPr lang="en-US" altLang="zh-CN" sz="2400" dirty="0"/>
          </a:p>
        </p:txBody>
      </p:sp>
      <p:sp>
        <p:nvSpPr>
          <p:cNvPr id="7" name="椭圆 6"/>
          <p:cNvSpPr/>
          <p:nvPr/>
        </p:nvSpPr>
        <p:spPr bwMode="auto">
          <a:xfrm>
            <a:off x="2862943" y="2737757"/>
            <a:ext cx="609600" cy="495300"/>
          </a:xfrm>
          <a:prstGeom prst="ellipse">
            <a:avLst/>
          </a:prstGeom>
          <a:noFill/>
          <a:ln w="28575" cap="flat" cmpd="sng" algn="ctr">
            <a:solidFill>
              <a:srgbClr val="C0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sp>
        <p:nvSpPr>
          <p:cNvPr id="3" name="TextBox 2"/>
          <p:cNvSpPr txBox="1"/>
          <p:nvPr/>
        </p:nvSpPr>
        <p:spPr>
          <a:xfrm>
            <a:off x="226924" y="5137233"/>
            <a:ext cx="8933857" cy="830997"/>
          </a:xfrm>
          <a:prstGeom prst="rect">
            <a:avLst/>
          </a:prstGeom>
          <a:noFill/>
        </p:spPr>
        <p:txBody>
          <a:bodyPr wrap="none" rtlCol="0">
            <a:spAutoFit/>
          </a:bodyPr>
          <a:lstStyle/>
          <a:p>
            <a:r>
              <a:rPr lang="zh-CN" altLang="en-US" dirty="0"/>
              <a:t>如果被决定的属性列存在</a:t>
            </a:r>
            <a:r>
              <a:rPr lang="en-US" altLang="zh-CN" dirty="0" err="1"/>
              <a:t>a</a:t>
            </a:r>
            <a:r>
              <a:rPr lang="en-US" altLang="zh-CN" baseline="-25000" dirty="0" err="1"/>
              <a:t>j</a:t>
            </a:r>
            <a:r>
              <a:rPr lang="zh-CN" altLang="en-US" dirty="0"/>
              <a:t>，则把对应其它行分量取值统一为</a:t>
            </a:r>
            <a:r>
              <a:rPr lang="en-US" altLang="zh-CN" dirty="0" err="1"/>
              <a:t>a</a:t>
            </a:r>
            <a:r>
              <a:rPr lang="en-US" altLang="zh-CN" baseline="-25000" dirty="0" err="1"/>
              <a:t>j</a:t>
            </a:r>
            <a:r>
              <a:rPr lang="zh-CN" altLang="en-US" dirty="0"/>
              <a:t>；</a:t>
            </a:r>
            <a:endParaRPr lang="en-US" altLang="zh-CN" dirty="0"/>
          </a:p>
          <a:p>
            <a:pPr algn="l"/>
            <a:r>
              <a:rPr lang="zh-CN" altLang="en-US" dirty="0"/>
              <a:t>否则，统一为</a:t>
            </a:r>
            <a:r>
              <a:rPr lang="en-US" altLang="zh-CN" dirty="0" err="1"/>
              <a:t>i</a:t>
            </a:r>
            <a:r>
              <a:rPr lang="zh-CN" altLang="en-US" dirty="0"/>
              <a:t>最小的</a:t>
            </a:r>
            <a:r>
              <a:rPr lang="en-US" altLang="zh-CN" dirty="0" err="1"/>
              <a:t>b</a:t>
            </a:r>
            <a:r>
              <a:rPr lang="en-US" altLang="zh-CN" baseline="-25000" dirty="0" err="1"/>
              <a:t>ij</a:t>
            </a:r>
            <a:r>
              <a:rPr lang="zh-CN" altLang="en-US" dirty="0"/>
              <a:t>。</a:t>
            </a:r>
          </a:p>
        </p:txBody>
      </p:sp>
      <p:sp>
        <p:nvSpPr>
          <p:cNvPr id="5" name="页脚占位符 4">
            <a:extLst>
              <a:ext uri="{FF2B5EF4-FFF2-40B4-BE49-F238E27FC236}">
                <a16:creationId xmlns:a16="http://schemas.microsoft.com/office/drawing/2014/main" id="{3DBCDBCB-26A8-F8EE-E464-447344A5C653}"/>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3CAEAC45-8A69-3CD1-C0D0-6B95D018B21C}"/>
              </a:ext>
            </a:extLst>
          </p:cNvPr>
          <p:cNvSpPr>
            <a:spLocks noGrp="1"/>
          </p:cNvSpPr>
          <p:nvPr>
            <p:ph type="sldNum" sz="quarter" idx="12"/>
          </p:nvPr>
        </p:nvSpPr>
        <p:spPr/>
        <p:txBody>
          <a:bodyPr/>
          <a:lstStyle/>
          <a:p>
            <a:fld id="{A2D74603-B40B-4D66-8F6E-41C870D48932}" type="slidenum">
              <a:rPr lang="en-US" altLang="zh-CN" smtClean="0"/>
              <a:pPr/>
              <a:t>145</a:t>
            </a:fld>
            <a:r>
              <a:rPr lang="en-US" altLang="zh-CN"/>
              <a:t>/162</a:t>
            </a:r>
            <a:endParaRPr lang="en-US" altLang="zh-CN"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7EABA43-2393-4F1F-9EC9-3E8EF09B0490}" type="datetime1">
              <a:rPr lang="zh-CN" altLang="en-US" smtClean="0"/>
              <a:t>2025/11/6</a:t>
            </a:fld>
            <a:endParaRPr lang="en-US" altLang="zh-CN"/>
          </a:p>
        </p:txBody>
      </p:sp>
      <p:sp>
        <p:nvSpPr>
          <p:cNvPr id="328706" name="Rectangle 2"/>
          <p:cNvSpPr>
            <a:spLocks noGrp="1" noChangeArrowheads="1"/>
          </p:cNvSpPr>
          <p:nvPr>
            <p:ph type="title"/>
          </p:nvPr>
        </p:nvSpPr>
        <p:spPr/>
        <p:txBody>
          <a:bodyPr/>
          <a:lstStyle/>
          <a:p>
            <a:r>
              <a:rPr lang="en-US" altLang="zh-CN" dirty="0"/>
              <a:t>8.4.2 </a:t>
            </a:r>
            <a:r>
              <a:rPr lang="zh-CN" altLang="en-US" dirty="0"/>
              <a:t>分解的无损连接性和保持函数依赖性</a:t>
            </a:r>
          </a:p>
        </p:txBody>
      </p:sp>
      <p:sp>
        <p:nvSpPr>
          <p:cNvPr id="328707" name="Rectangle 3"/>
          <p:cNvSpPr>
            <a:spLocks noGrp="1" noChangeArrowheads="1"/>
          </p:cNvSpPr>
          <p:nvPr>
            <p:ph type="body" idx="1"/>
          </p:nvPr>
        </p:nvSpPr>
        <p:spPr/>
        <p:txBody>
          <a:bodyPr/>
          <a:lstStyle/>
          <a:p>
            <a:pPr>
              <a:lnSpc>
                <a:spcPct val="80000"/>
              </a:lnSpc>
              <a:buNone/>
            </a:pPr>
            <a:r>
              <a:rPr lang="zh-CN" altLang="en-US" sz="2400" dirty="0"/>
              <a:t>补充例 </a:t>
            </a:r>
            <a:r>
              <a:rPr lang="en-US" altLang="zh-CN" sz="2400" dirty="0"/>
              <a:t>R(A</a:t>
            </a:r>
            <a:r>
              <a:rPr lang="zh-CN" altLang="en-US" sz="2400" dirty="0"/>
              <a:t>，</a:t>
            </a:r>
            <a:r>
              <a:rPr lang="en-US" altLang="zh-CN" sz="2400" dirty="0"/>
              <a:t>B</a:t>
            </a:r>
            <a:r>
              <a:rPr lang="zh-CN" altLang="en-US" sz="2400" dirty="0"/>
              <a:t>，</a:t>
            </a:r>
            <a:r>
              <a:rPr lang="en-US" altLang="zh-CN" sz="2400" dirty="0"/>
              <a:t>C</a:t>
            </a:r>
            <a:r>
              <a:rPr lang="zh-CN" altLang="en-US" sz="2400" dirty="0"/>
              <a:t>，</a:t>
            </a:r>
            <a:r>
              <a:rPr lang="en-US" altLang="zh-CN" sz="2400" dirty="0"/>
              <a:t>D</a:t>
            </a:r>
            <a:r>
              <a:rPr lang="zh-CN" altLang="en-US" sz="2400" dirty="0"/>
              <a:t>，</a:t>
            </a:r>
            <a:r>
              <a:rPr lang="en-US" altLang="zh-CN" sz="2400" dirty="0"/>
              <a:t>E)</a:t>
            </a:r>
            <a:r>
              <a:rPr lang="zh-CN" altLang="en-US" sz="2400" dirty="0"/>
              <a:t>，</a:t>
            </a:r>
            <a:r>
              <a:rPr lang="en-US" altLang="zh-CN" sz="2400" dirty="0"/>
              <a:t>F={A</a:t>
            </a:r>
            <a:r>
              <a:rPr lang="en-US" altLang="zh-CN" sz="2400" dirty="0">
                <a:latin typeface="宋体" pitchFamily="2" charset="-122"/>
              </a:rPr>
              <a:t>→</a:t>
            </a:r>
            <a:r>
              <a:rPr lang="en-US" altLang="zh-CN" sz="2400" dirty="0"/>
              <a:t>C, </a:t>
            </a:r>
            <a:r>
              <a:rPr lang="en-US" altLang="zh-CN" sz="2400" dirty="0">
                <a:solidFill>
                  <a:srgbClr val="C00000"/>
                </a:solidFill>
              </a:rPr>
              <a:t>B</a:t>
            </a:r>
            <a:r>
              <a:rPr lang="en-US" altLang="zh-CN" sz="2400" dirty="0">
                <a:solidFill>
                  <a:srgbClr val="C00000"/>
                </a:solidFill>
                <a:latin typeface="宋体" pitchFamily="2" charset="-122"/>
              </a:rPr>
              <a:t>→</a:t>
            </a:r>
            <a:r>
              <a:rPr lang="en-US" altLang="zh-CN" sz="2400" dirty="0">
                <a:solidFill>
                  <a:srgbClr val="C00000"/>
                </a:solidFill>
              </a:rPr>
              <a:t>C</a:t>
            </a:r>
            <a:r>
              <a:rPr lang="en-US" altLang="zh-CN" sz="2400" dirty="0"/>
              <a:t>, C</a:t>
            </a:r>
            <a:r>
              <a:rPr lang="en-US" altLang="zh-CN" sz="2400" dirty="0">
                <a:latin typeface="宋体" pitchFamily="2" charset="-122"/>
              </a:rPr>
              <a:t>→</a:t>
            </a:r>
            <a:r>
              <a:rPr lang="en-US" altLang="zh-CN" sz="2400" dirty="0"/>
              <a:t>D, DE</a:t>
            </a:r>
            <a:r>
              <a:rPr lang="en-US" altLang="zh-CN" sz="2400" dirty="0">
                <a:latin typeface="宋体" pitchFamily="2" charset="-122"/>
              </a:rPr>
              <a:t>→</a:t>
            </a:r>
            <a:r>
              <a:rPr lang="en-US" altLang="zh-CN" sz="2400" dirty="0"/>
              <a:t>C, CE</a:t>
            </a:r>
            <a:r>
              <a:rPr lang="en-US" altLang="zh-CN" sz="2400" dirty="0">
                <a:latin typeface="宋体" pitchFamily="2" charset="-122"/>
              </a:rPr>
              <a:t>→</a:t>
            </a:r>
            <a:r>
              <a:rPr lang="en-US" altLang="zh-CN" sz="2400" dirty="0"/>
              <a:t>A}</a:t>
            </a:r>
            <a:r>
              <a:rPr lang="zh-CN" altLang="en-US" sz="2400" dirty="0"/>
              <a:t>，分解</a:t>
            </a:r>
            <a:r>
              <a:rPr lang="en-US" altLang="zh-CN" sz="2400" dirty="0"/>
              <a:t>R1=AD,R2=AB, R3=BE, R4=CDE, R5=AE</a:t>
            </a:r>
          </a:p>
          <a:p>
            <a:pPr>
              <a:lnSpc>
                <a:spcPct val="80000"/>
              </a:lnSpc>
              <a:buFont typeface="Wingdings" pitchFamily="2" charset="2"/>
              <a:buNone/>
            </a:pPr>
            <a:r>
              <a:rPr lang="en-US" altLang="zh-CN" sz="2400" dirty="0"/>
              <a:t>A         B           C         D         E</a:t>
            </a:r>
          </a:p>
          <a:p>
            <a:pPr>
              <a:lnSpc>
                <a:spcPct val="80000"/>
              </a:lnSpc>
              <a:buFont typeface="Wingdings" pitchFamily="2" charset="2"/>
              <a:buNone/>
            </a:pPr>
            <a:r>
              <a:rPr lang="en-US" altLang="zh-CN" sz="2400" dirty="0"/>
              <a:t>--------------------------------------------</a:t>
            </a:r>
          </a:p>
          <a:p>
            <a:pPr>
              <a:lnSpc>
                <a:spcPct val="80000"/>
              </a:lnSpc>
              <a:buFont typeface="Wingdings" pitchFamily="2" charset="2"/>
              <a:buNone/>
            </a:pPr>
            <a:r>
              <a:rPr lang="en-US" altLang="zh-CN" sz="2400" dirty="0">
                <a:solidFill>
                  <a:srgbClr val="C00000"/>
                </a:solidFill>
              </a:rPr>
              <a:t>a1</a:t>
            </a:r>
            <a:r>
              <a:rPr lang="en-US" altLang="zh-CN" sz="2400" dirty="0"/>
              <a:t>        b12       b13     a4        b15</a:t>
            </a:r>
          </a:p>
          <a:p>
            <a:pPr>
              <a:lnSpc>
                <a:spcPct val="80000"/>
              </a:lnSpc>
              <a:buFont typeface="Wingdings" pitchFamily="2" charset="2"/>
              <a:buNone/>
            </a:pPr>
            <a:r>
              <a:rPr lang="en-US" altLang="zh-CN" sz="2400" dirty="0">
                <a:solidFill>
                  <a:srgbClr val="C00000"/>
                </a:solidFill>
              </a:rPr>
              <a:t>a1</a:t>
            </a:r>
            <a:r>
              <a:rPr lang="en-US" altLang="zh-CN" sz="2400" dirty="0"/>
              <a:t>        a2         </a:t>
            </a:r>
            <a:r>
              <a:rPr lang="en-US" altLang="zh-CN" sz="2400" dirty="0">
                <a:solidFill>
                  <a:schemeClr val="tx2"/>
                </a:solidFill>
              </a:rPr>
              <a:t>b13</a:t>
            </a:r>
            <a:r>
              <a:rPr lang="en-US" altLang="zh-CN" sz="2400" dirty="0"/>
              <a:t>     b24      b25</a:t>
            </a:r>
          </a:p>
          <a:p>
            <a:pPr>
              <a:lnSpc>
                <a:spcPct val="80000"/>
              </a:lnSpc>
              <a:buFont typeface="Wingdings" pitchFamily="2" charset="2"/>
              <a:buNone/>
            </a:pPr>
            <a:r>
              <a:rPr lang="en-US" altLang="zh-CN" sz="2400" dirty="0"/>
              <a:t>b31      a2         b33     b34      a5</a:t>
            </a:r>
          </a:p>
          <a:p>
            <a:pPr>
              <a:lnSpc>
                <a:spcPct val="80000"/>
              </a:lnSpc>
              <a:buFont typeface="Wingdings" pitchFamily="2" charset="2"/>
              <a:buNone/>
            </a:pPr>
            <a:r>
              <a:rPr lang="en-US" altLang="zh-CN" sz="2400" dirty="0"/>
              <a:t>b41      b42       a3       a4        a5</a:t>
            </a:r>
          </a:p>
          <a:p>
            <a:pPr>
              <a:lnSpc>
                <a:spcPct val="80000"/>
              </a:lnSpc>
              <a:buFont typeface="Wingdings" pitchFamily="2" charset="2"/>
              <a:buNone/>
            </a:pPr>
            <a:r>
              <a:rPr lang="en-US" altLang="zh-CN" sz="2400" dirty="0">
                <a:solidFill>
                  <a:srgbClr val="C00000"/>
                </a:solidFill>
              </a:rPr>
              <a:t>a1</a:t>
            </a:r>
            <a:r>
              <a:rPr lang="en-US" altLang="zh-CN" sz="2400" dirty="0"/>
              <a:t>        b52       </a:t>
            </a:r>
            <a:r>
              <a:rPr lang="en-US" altLang="zh-CN" sz="2400" dirty="0">
                <a:solidFill>
                  <a:schemeClr val="tx2"/>
                </a:solidFill>
              </a:rPr>
              <a:t>b13</a:t>
            </a:r>
            <a:r>
              <a:rPr lang="en-US" altLang="zh-CN" sz="2400" dirty="0"/>
              <a:t>     b54      a5</a:t>
            </a:r>
          </a:p>
          <a:p>
            <a:pPr>
              <a:lnSpc>
                <a:spcPct val="80000"/>
              </a:lnSpc>
              <a:buFont typeface="Wingdings" pitchFamily="2" charset="2"/>
              <a:buNone/>
            </a:pPr>
            <a:endParaRPr lang="en-US" altLang="zh-CN" sz="2400" dirty="0"/>
          </a:p>
          <a:p>
            <a:pPr>
              <a:lnSpc>
                <a:spcPct val="80000"/>
              </a:lnSpc>
              <a:buFont typeface="Wingdings" pitchFamily="2" charset="2"/>
              <a:buNone/>
            </a:pPr>
            <a:r>
              <a:rPr lang="en-US" altLang="zh-CN" sz="2400" dirty="0"/>
              <a:t>A</a:t>
            </a:r>
            <a:r>
              <a:rPr lang="en-US" altLang="zh-CN" sz="2400" dirty="0">
                <a:latin typeface="宋体" pitchFamily="2" charset="-122"/>
              </a:rPr>
              <a:t>→</a:t>
            </a:r>
            <a:r>
              <a:rPr lang="en-US" altLang="zh-CN" sz="2400" dirty="0"/>
              <a:t>C (b23</a:t>
            </a:r>
            <a:r>
              <a:rPr lang="zh-CN" altLang="en-US" sz="2400" dirty="0"/>
              <a:t>变</a:t>
            </a:r>
            <a:r>
              <a:rPr lang="en-US" altLang="zh-CN" sz="2400" dirty="0"/>
              <a:t>b13</a:t>
            </a:r>
            <a:r>
              <a:rPr lang="zh-CN" altLang="en-US" sz="2400" dirty="0"/>
              <a:t>，</a:t>
            </a:r>
            <a:r>
              <a:rPr lang="en-US" altLang="zh-CN" sz="2400" dirty="0"/>
              <a:t>b53</a:t>
            </a:r>
            <a:r>
              <a:rPr lang="zh-CN" altLang="en-US" sz="2400" dirty="0"/>
              <a:t>变</a:t>
            </a:r>
            <a:r>
              <a:rPr lang="en-US" altLang="zh-CN" sz="2400" dirty="0"/>
              <a:t>b13)</a:t>
            </a:r>
            <a:endParaRPr lang="zh-CN" altLang="en-US" sz="2400" dirty="0"/>
          </a:p>
        </p:txBody>
      </p:sp>
      <p:sp>
        <p:nvSpPr>
          <p:cNvPr id="3" name="椭圆 2"/>
          <p:cNvSpPr/>
          <p:nvPr/>
        </p:nvSpPr>
        <p:spPr bwMode="auto">
          <a:xfrm>
            <a:off x="1676400" y="3124200"/>
            <a:ext cx="609600" cy="838200"/>
          </a:xfrm>
          <a:prstGeom prst="ellipse">
            <a:avLst/>
          </a:prstGeom>
          <a:noFill/>
          <a:ln w="28575" cap="flat" cmpd="sng" algn="ctr">
            <a:solidFill>
              <a:srgbClr val="C0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sp>
        <p:nvSpPr>
          <p:cNvPr id="5" name="页脚占位符 4">
            <a:extLst>
              <a:ext uri="{FF2B5EF4-FFF2-40B4-BE49-F238E27FC236}">
                <a16:creationId xmlns:a16="http://schemas.microsoft.com/office/drawing/2014/main" id="{B53E9FAF-E820-0AEF-42FD-A3A8552B5525}"/>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D85E19CF-E29C-5322-FD38-BC1FC6E25798}"/>
              </a:ext>
            </a:extLst>
          </p:cNvPr>
          <p:cNvSpPr>
            <a:spLocks noGrp="1"/>
          </p:cNvSpPr>
          <p:nvPr>
            <p:ph type="sldNum" sz="quarter" idx="12"/>
          </p:nvPr>
        </p:nvSpPr>
        <p:spPr/>
        <p:txBody>
          <a:bodyPr/>
          <a:lstStyle/>
          <a:p>
            <a:fld id="{A2D74603-B40B-4D66-8F6E-41C870D48932}" type="slidenum">
              <a:rPr lang="en-US" altLang="zh-CN" smtClean="0"/>
              <a:pPr/>
              <a:t>146</a:t>
            </a:fld>
            <a:r>
              <a:rPr lang="en-US" altLang="zh-CN"/>
              <a:t>/162</a:t>
            </a:r>
            <a:endParaRPr lang="en-US" altLang="zh-CN" dirty="0"/>
          </a:p>
        </p:txBody>
      </p:sp>
    </p:spTree>
    <p:extLst>
      <p:ext uri="{BB962C8B-B14F-4D97-AF65-F5344CB8AC3E}">
        <p14:creationId xmlns:p14="http://schemas.microsoft.com/office/powerpoint/2010/main" val="15775907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A6F1613-F0F1-4569-814A-7DCC9580332A}" type="datetime1">
              <a:rPr lang="zh-CN" altLang="en-US" smtClean="0"/>
              <a:t>2025/11/6</a:t>
            </a:fld>
            <a:endParaRPr lang="en-US" altLang="zh-CN"/>
          </a:p>
        </p:txBody>
      </p:sp>
      <p:sp>
        <p:nvSpPr>
          <p:cNvPr id="328706" name="Rectangle 2"/>
          <p:cNvSpPr>
            <a:spLocks noGrp="1" noChangeArrowheads="1"/>
          </p:cNvSpPr>
          <p:nvPr>
            <p:ph type="title"/>
          </p:nvPr>
        </p:nvSpPr>
        <p:spPr/>
        <p:txBody>
          <a:bodyPr/>
          <a:lstStyle/>
          <a:p>
            <a:r>
              <a:rPr lang="en-US" altLang="zh-CN" dirty="0"/>
              <a:t>8.4.2 </a:t>
            </a:r>
            <a:r>
              <a:rPr lang="zh-CN" altLang="en-US" dirty="0"/>
              <a:t>分解的无损连接性和保持函数依赖性</a:t>
            </a:r>
          </a:p>
        </p:txBody>
      </p:sp>
      <p:sp>
        <p:nvSpPr>
          <p:cNvPr id="328707" name="Rectangle 3"/>
          <p:cNvSpPr>
            <a:spLocks noGrp="1" noChangeArrowheads="1"/>
          </p:cNvSpPr>
          <p:nvPr>
            <p:ph type="body" idx="1"/>
          </p:nvPr>
        </p:nvSpPr>
        <p:spPr/>
        <p:txBody>
          <a:bodyPr/>
          <a:lstStyle/>
          <a:p>
            <a:pPr>
              <a:lnSpc>
                <a:spcPct val="80000"/>
              </a:lnSpc>
              <a:buNone/>
            </a:pPr>
            <a:r>
              <a:rPr lang="zh-CN" altLang="en-US" sz="2400" dirty="0"/>
              <a:t>补充例 </a:t>
            </a:r>
            <a:r>
              <a:rPr lang="en-US" altLang="zh-CN" sz="2400" dirty="0"/>
              <a:t>R(A</a:t>
            </a:r>
            <a:r>
              <a:rPr lang="zh-CN" altLang="en-US" sz="2400" dirty="0"/>
              <a:t>，</a:t>
            </a:r>
            <a:r>
              <a:rPr lang="en-US" altLang="zh-CN" sz="2400" dirty="0"/>
              <a:t>B</a:t>
            </a:r>
            <a:r>
              <a:rPr lang="zh-CN" altLang="en-US" sz="2400" dirty="0"/>
              <a:t>，</a:t>
            </a:r>
            <a:r>
              <a:rPr lang="en-US" altLang="zh-CN" sz="2400" dirty="0"/>
              <a:t>C</a:t>
            </a:r>
            <a:r>
              <a:rPr lang="zh-CN" altLang="en-US" sz="2400" dirty="0"/>
              <a:t>，</a:t>
            </a:r>
            <a:r>
              <a:rPr lang="en-US" altLang="zh-CN" sz="2400" dirty="0"/>
              <a:t>D</a:t>
            </a:r>
            <a:r>
              <a:rPr lang="zh-CN" altLang="en-US" sz="2400" dirty="0"/>
              <a:t>，</a:t>
            </a:r>
            <a:r>
              <a:rPr lang="en-US" altLang="zh-CN" sz="2400" dirty="0"/>
              <a:t>E)</a:t>
            </a:r>
            <a:r>
              <a:rPr lang="zh-CN" altLang="en-US" sz="2400" dirty="0"/>
              <a:t>，</a:t>
            </a:r>
            <a:r>
              <a:rPr lang="en-US" altLang="zh-CN" sz="2400" dirty="0"/>
              <a:t>F={A</a:t>
            </a:r>
            <a:r>
              <a:rPr lang="en-US" altLang="zh-CN" sz="2400" dirty="0">
                <a:latin typeface="宋体" pitchFamily="2" charset="-122"/>
              </a:rPr>
              <a:t>→</a:t>
            </a:r>
            <a:r>
              <a:rPr lang="en-US" altLang="zh-CN" sz="2400" dirty="0"/>
              <a:t>C, B</a:t>
            </a:r>
            <a:r>
              <a:rPr lang="en-US" altLang="zh-CN" sz="2400" dirty="0">
                <a:latin typeface="宋体" pitchFamily="2" charset="-122"/>
              </a:rPr>
              <a:t>→</a:t>
            </a:r>
            <a:r>
              <a:rPr lang="en-US" altLang="zh-CN" sz="2400" dirty="0"/>
              <a:t>C, </a:t>
            </a:r>
            <a:r>
              <a:rPr lang="en-US" altLang="zh-CN" sz="2400" dirty="0">
                <a:solidFill>
                  <a:srgbClr val="C00000"/>
                </a:solidFill>
              </a:rPr>
              <a:t>C</a:t>
            </a:r>
            <a:r>
              <a:rPr lang="en-US" altLang="zh-CN" sz="2400" dirty="0">
                <a:solidFill>
                  <a:srgbClr val="C00000"/>
                </a:solidFill>
                <a:latin typeface="宋体" pitchFamily="2" charset="-122"/>
              </a:rPr>
              <a:t>→</a:t>
            </a:r>
            <a:r>
              <a:rPr lang="en-US" altLang="zh-CN" sz="2400" dirty="0">
                <a:solidFill>
                  <a:srgbClr val="C00000"/>
                </a:solidFill>
              </a:rPr>
              <a:t>D</a:t>
            </a:r>
            <a:r>
              <a:rPr lang="en-US" altLang="zh-CN" sz="2400" dirty="0"/>
              <a:t>, DE</a:t>
            </a:r>
            <a:r>
              <a:rPr lang="en-US" altLang="zh-CN" sz="2400" dirty="0">
                <a:latin typeface="宋体" pitchFamily="2" charset="-122"/>
              </a:rPr>
              <a:t>→</a:t>
            </a:r>
            <a:r>
              <a:rPr lang="en-US" altLang="zh-CN" sz="2400" dirty="0"/>
              <a:t>C, CE</a:t>
            </a:r>
            <a:r>
              <a:rPr lang="en-US" altLang="zh-CN" sz="2400" dirty="0">
                <a:latin typeface="宋体" pitchFamily="2" charset="-122"/>
              </a:rPr>
              <a:t>→</a:t>
            </a:r>
            <a:r>
              <a:rPr lang="en-US" altLang="zh-CN" sz="2400" dirty="0"/>
              <a:t>A}</a:t>
            </a:r>
            <a:r>
              <a:rPr lang="zh-CN" altLang="en-US" sz="2400" dirty="0"/>
              <a:t>，分解</a:t>
            </a:r>
            <a:r>
              <a:rPr lang="en-US" altLang="zh-CN" sz="2400" dirty="0"/>
              <a:t>R1=AD,R2=AB, R3=BE, R4=CDE, R5=AE</a:t>
            </a:r>
          </a:p>
          <a:p>
            <a:pPr>
              <a:lnSpc>
                <a:spcPct val="80000"/>
              </a:lnSpc>
              <a:buFont typeface="Wingdings" pitchFamily="2" charset="2"/>
              <a:buNone/>
            </a:pPr>
            <a:r>
              <a:rPr lang="en-US" altLang="zh-CN" sz="2400" dirty="0"/>
              <a:t>A         B           C         D         E</a:t>
            </a:r>
          </a:p>
          <a:p>
            <a:pPr>
              <a:lnSpc>
                <a:spcPct val="80000"/>
              </a:lnSpc>
              <a:buFont typeface="Wingdings" pitchFamily="2" charset="2"/>
              <a:buNone/>
            </a:pPr>
            <a:r>
              <a:rPr lang="en-US" altLang="zh-CN" sz="2400" dirty="0"/>
              <a:t>--------------------------------------------</a:t>
            </a:r>
          </a:p>
          <a:p>
            <a:pPr>
              <a:lnSpc>
                <a:spcPct val="80000"/>
              </a:lnSpc>
              <a:buFont typeface="Wingdings" pitchFamily="2" charset="2"/>
              <a:buNone/>
            </a:pPr>
            <a:r>
              <a:rPr lang="en-US" altLang="zh-CN" sz="2400" dirty="0"/>
              <a:t>a1        b12       b13     a4        b15</a:t>
            </a:r>
          </a:p>
          <a:p>
            <a:pPr>
              <a:lnSpc>
                <a:spcPct val="80000"/>
              </a:lnSpc>
              <a:buFont typeface="Wingdings" pitchFamily="2" charset="2"/>
              <a:buNone/>
            </a:pPr>
            <a:r>
              <a:rPr lang="en-US" altLang="zh-CN" sz="2400" dirty="0"/>
              <a:t>a1        a2         </a:t>
            </a:r>
            <a:r>
              <a:rPr lang="en-US" altLang="zh-CN" sz="2400" dirty="0">
                <a:solidFill>
                  <a:schemeClr val="tx2"/>
                </a:solidFill>
              </a:rPr>
              <a:t>b13</a:t>
            </a:r>
            <a:r>
              <a:rPr lang="en-US" altLang="zh-CN" sz="2400" dirty="0"/>
              <a:t>     b24      b25</a:t>
            </a:r>
          </a:p>
          <a:p>
            <a:pPr>
              <a:lnSpc>
                <a:spcPct val="80000"/>
              </a:lnSpc>
              <a:buFont typeface="Wingdings" pitchFamily="2" charset="2"/>
              <a:buNone/>
            </a:pPr>
            <a:r>
              <a:rPr lang="en-US" altLang="zh-CN" sz="2400" dirty="0"/>
              <a:t>b31      a2         </a:t>
            </a:r>
            <a:r>
              <a:rPr lang="en-US" altLang="zh-CN" sz="2400" dirty="0">
                <a:solidFill>
                  <a:schemeClr val="tx2"/>
                </a:solidFill>
              </a:rPr>
              <a:t>b13</a:t>
            </a:r>
            <a:r>
              <a:rPr lang="en-US" altLang="zh-CN" sz="2400" dirty="0"/>
              <a:t>     b34      a5</a:t>
            </a:r>
          </a:p>
          <a:p>
            <a:pPr>
              <a:lnSpc>
                <a:spcPct val="80000"/>
              </a:lnSpc>
              <a:buFont typeface="Wingdings" pitchFamily="2" charset="2"/>
              <a:buNone/>
            </a:pPr>
            <a:r>
              <a:rPr lang="en-US" altLang="zh-CN" sz="2400" dirty="0"/>
              <a:t>b41      b42       a3       a4        a5</a:t>
            </a:r>
          </a:p>
          <a:p>
            <a:pPr>
              <a:lnSpc>
                <a:spcPct val="80000"/>
              </a:lnSpc>
              <a:buFont typeface="Wingdings" pitchFamily="2" charset="2"/>
              <a:buNone/>
            </a:pPr>
            <a:r>
              <a:rPr lang="en-US" altLang="zh-CN" sz="2400" dirty="0"/>
              <a:t>a1        b52       </a:t>
            </a:r>
            <a:r>
              <a:rPr lang="en-US" altLang="zh-CN" sz="2400" dirty="0">
                <a:solidFill>
                  <a:schemeClr val="tx2"/>
                </a:solidFill>
              </a:rPr>
              <a:t>b13</a:t>
            </a:r>
            <a:r>
              <a:rPr lang="en-US" altLang="zh-CN" sz="2400" dirty="0"/>
              <a:t>     b54      a5</a:t>
            </a:r>
          </a:p>
          <a:p>
            <a:pPr>
              <a:lnSpc>
                <a:spcPct val="80000"/>
              </a:lnSpc>
              <a:buFont typeface="Wingdings" pitchFamily="2" charset="2"/>
              <a:buNone/>
            </a:pPr>
            <a:endParaRPr lang="en-US" altLang="zh-CN" sz="2400" dirty="0"/>
          </a:p>
          <a:p>
            <a:pPr>
              <a:lnSpc>
                <a:spcPct val="80000"/>
              </a:lnSpc>
              <a:buNone/>
            </a:pPr>
            <a:r>
              <a:rPr lang="en-US" altLang="zh-CN" sz="2400" dirty="0"/>
              <a:t>A</a:t>
            </a:r>
            <a:r>
              <a:rPr lang="en-US" altLang="zh-CN" sz="2400" dirty="0">
                <a:latin typeface="宋体" pitchFamily="2" charset="-122"/>
              </a:rPr>
              <a:t>→</a:t>
            </a:r>
            <a:r>
              <a:rPr lang="en-US" altLang="zh-CN" sz="2400" dirty="0"/>
              <a:t>C (b23</a:t>
            </a:r>
            <a:r>
              <a:rPr lang="zh-CN" altLang="en-US" sz="2400" dirty="0"/>
              <a:t>变</a:t>
            </a:r>
            <a:r>
              <a:rPr lang="en-US" altLang="zh-CN" sz="2400" dirty="0"/>
              <a:t>b13</a:t>
            </a:r>
            <a:r>
              <a:rPr lang="zh-CN" altLang="en-US" sz="2400" dirty="0"/>
              <a:t>，</a:t>
            </a:r>
            <a:r>
              <a:rPr lang="en-US" altLang="zh-CN" sz="2400" dirty="0"/>
              <a:t>b53</a:t>
            </a:r>
            <a:r>
              <a:rPr lang="zh-CN" altLang="en-US" sz="2400" dirty="0"/>
              <a:t>变</a:t>
            </a:r>
            <a:r>
              <a:rPr lang="en-US" altLang="zh-CN" sz="2400" dirty="0"/>
              <a:t>b13) B</a:t>
            </a:r>
            <a:r>
              <a:rPr lang="en-US" altLang="zh-CN" sz="2400" dirty="0">
                <a:latin typeface="宋体" pitchFamily="2" charset="-122"/>
              </a:rPr>
              <a:t>→</a:t>
            </a:r>
            <a:r>
              <a:rPr lang="en-US" altLang="zh-CN" sz="2400" dirty="0"/>
              <a:t>C (b33</a:t>
            </a:r>
            <a:r>
              <a:rPr lang="zh-CN" altLang="en-US" sz="2400" dirty="0"/>
              <a:t>变</a:t>
            </a:r>
            <a:r>
              <a:rPr lang="en-US" altLang="zh-CN" sz="2400" dirty="0"/>
              <a:t>b13), </a:t>
            </a:r>
            <a:endParaRPr lang="zh-CN" altLang="en-US" sz="2400" dirty="0"/>
          </a:p>
        </p:txBody>
      </p:sp>
      <p:sp>
        <p:nvSpPr>
          <p:cNvPr id="7" name="椭圆 6"/>
          <p:cNvSpPr/>
          <p:nvPr/>
        </p:nvSpPr>
        <p:spPr bwMode="auto">
          <a:xfrm>
            <a:off x="3810000" y="2715986"/>
            <a:ext cx="609600" cy="495300"/>
          </a:xfrm>
          <a:prstGeom prst="ellipse">
            <a:avLst/>
          </a:prstGeom>
          <a:noFill/>
          <a:ln w="28575" cap="flat" cmpd="sng" algn="ctr">
            <a:solidFill>
              <a:srgbClr val="C0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sp>
        <p:nvSpPr>
          <p:cNvPr id="3" name="页脚占位符 2">
            <a:extLst>
              <a:ext uri="{FF2B5EF4-FFF2-40B4-BE49-F238E27FC236}">
                <a16:creationId xmlns:a16="http://schemas.microsoft.com/office/drawing/2014/main" id="{CBA211D6-DF16-4278-488D-8D5A41BA80EB}"/>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0D8C0A2D-B206-395B-92C9-8E17DD0428BC}"/>
              </a:ext>
            </a:extLst>
          </p:cNvPr>
          <p:cNvSpPr>
            <a:spLocks noGrp="1"/>
          </p:cNvSpPr>
          <p:nvPr>
            <p:ph type="sldNum" sz="quarter" idx="12"/>
          </p:nvPr>
        </p:nvSpPr>
        <p:spPr/>
        <p:txBody>
          <a:bodyPr/>
          <a:lstStyle/>
          <a:p>
            <a:fld id="{A2D74603-B40B-4D66-8F6E-41C870D48932}" type="slidenum">
              <a:rPr lang="en-US" altLang="zh-CN" smtClean="0"/>
              <a:pPr/>
              <a:t>147</a:t>
            </a:fld>
            <a:r>
              <a:rPr lang="en-US" altLang="zh-CN"/>
              <a:t>/162</a:t>
            </a:r>
            <a:endParaRPr lang="en-US" altLang="zh-CN" dirty="0"/>
          </a:p>
        </p:txBody>
      </p:sp>
    </p:spTree>
    <p:extLst>
      <p:ext uri="{BB962C8B-B14F-4D97-AF65-F5344CB8AC3E}">
        <p14:creationId xmlns:p14="http://schemas.microsoft.com/office/powerpoint/2010/main" val="31362098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34737298-9E38-4EE6-9D9A-DC8D98B192A1}" type="datetime1">
              <a:rPr lang="zh-CN" altLang="en-US" smtClean="0"/>
              <a:t>2025/11/6</a:t>
            </a:fld>
            <a:endParaRPr lang="en-US" altLang="zh-CN"/>
          </a:p>
        </p:txBody>
      </p:sp>
      <p:sp>
        <p:nvSpPr>
          <p:cNvPr id="328706" name="Rectangle 2"/>
          <p:cNvSpPr>
            <a:spLocks noGrp="1" noChangeArrowheads="1"/>
          </p:cNvSpPr>
          <p:nvPr>
            <p:ph type="title"/>
          </p:nvPr>
        </p:nvSpPr>
        <p:spPr/>
        <p:txBody>
          <a:bodyPr/>
          <a:lstStyle/>
          <a:p>
            <a:r>
              <a:rPr lang="en-US" altLang="zh-CN" dirty="0"/>
              <a:t>8.4.2 </a:t>
            </a:r>
            <a:r>
              <a:rPr lang="zh-CN" altLang="en-US" dirty="0"/>
              <a:t>分解的无损连接性和保持函数依赖性</a:t>
            </a:r>
          </a:p>
        </p:txBody>
      </p:sp>
      <p:sp>
        <p:nvSpPr>
          <p:cNvPr id="328707" name="Rectangle 3"/>
          <p:cNvSpPr>
            <a:spLocks noGrp="1" noChangeArrowheads="1"/>
          </p:cNvSpPr>
          <p:nvPr>
            <p:ph type="body" idx="1"/>
          </p:nvPr>
        </p:nvSpPr>
        <p:spPr/>
        <p:txBody>
          <a:bodyPr/>
          <a:lstStyle/>
          <a:p>
            <a:pPr>
              <a:lnSpc>
                <a:spcPct val="80000"/>
              </a:lnSpc>
              <a:buNone/>
            </a:pPr>
            <a:r>
              <a:rPr lang="zh-CN" altLang="en-US" sz="2400" dirty="0"/>
              <a:t>补充例 </a:t>
            </a:r>
            <a:r>
              <a:rPr lang="en-US" altLang="zh-CN" sz="2400" dirty="0"/>
              <a:t>R(A</a:t>
            </a:r>
            <a:r>
              <a:rPr lang="zh-CN" altLang="en-US" sz="2400" dirty="0"/>
              <a:t>，</a:t>
            </a:r>
            <a:r>
              <a:rPr lang="en-US" altLang="zh-CN" sz="2400" dirty="0"/>
              <a:t>B</a:t>
            </a:r>
            <a:r>
              <a:rPr lang="zh-CN" altLang="en-US" sz="2400" dirty="0"/>
              <a:t>，</a:t>
            </a:r>
            <a:r>
              <a:rPr lang="en-US" altLang="zh-CN" sz="2400" dirty="0"/>
              <a:t>C</a:t>
            </a:r>
            <a:r>
              <a:rPr lang="zh-CN" altLang="en-US" sz="2400" dirty="0"/>
              <a:t>，</a:t>
            </a:r>
            <a:r>
              <a:rPr lang="en-US" altLang="zh-CN" sz="2400" dirty="0"/>
              <a:t>D</a:t>
            </a:r>
            <a:r>
              <a:rPr lang="zh-CN" altLang="en-US" sz="2400" dirty="0"/>
              <a:t>，</a:t>
            </a:r>
            <a:r>
              <a:rPr lang="en-US" altLang="zh-CN" sz="2400" dirty="0"/>
              <a:t>E)</a:t>
            </a:r>
            <a:r>
              <a:rPr lang="zh-CN" altLang="en-US" sz="2400" dirty="0"/>
              <a:t>，</a:t>
            </a:r>
            <a:r>
              <a:rPr lang="en-US" altLang="zh-CN" sz="2400" dirty="0"/>
              <a:t>F={A</a:t>
            </a:r>
            <a:r>
              <a:rPr lang="en-US" altLang="zh-CN" sz="2400" dirty="0">
                <a:latin typeface="宋体" pitchFamily="2" charset="-122"/>
              </a:rPr>
              <a:t>→</a:t>
            </a:r>
            <a:r>
              <a:rPr lang="en-US" altLang="zh-CN" sz="2400" dirty="0"/>
              <a:t>C, B</a:t>
            </a:r>
            <a:r>
              <a:rPr lang="en-US" altLang="zh-CN" sz="2400" dirty="0">
                <a:latin typeface="宋体" pitchFamily="2" charset="-122"/>
              </a:rPr>
              <a:t>→</a:t>
            </a:r>
            <a:r>
              <a:rPr lang="en-US" altLang="zh-CN" sz="2400" dirty="0"/>
              <a:t>C, C</a:t>
            </a:r>
            <a:r>
              <a:rPr lang="en-US" altLang="zh-CN" sz="2400" dirty="0">
                <a:latin typeface="宋体" pitchFamily="2" charset="-122"/>
              </a:rPr>
              <a:t>→</a:t>
            </a:r>
            <a:r>
              <a:rPr lang="en-US" altLang="zh-CN" sz="2400" dirty="0"/>
              <a:t>D, </a:t>
            </a:r>
            <a:r>
              <a:rPr lang="en-US" altLang="zh-CN" sz="2400" dirty="0">
                <a:solidFill>
                  <a:srgbClr val="C00000"/>
                </a:solidFill>
              </a:rPr>
              <a:t>DE</a:t>
            </a:r>
            <a:r>
              <a:rPr lang="en-US" altLang="zh-CN" sz="2400" dirty="0">
                <a:solidFill>
                  <a:srgbClr val="C00000"/>
                </a:solidFill>
                <a:latin typeface="宋体" pitchFamily="2" charset="-122"/>
              </a:rPr>
              <a:t>→</a:t>
            </a:r>
            <a:r>
              <a:rPr lang="en-US" altLang="zh-CN" sz="2400" dirty="0">
                <a:solidFill>
                  <a:srgbClr val="C00000"/>
                </a:solidFill>
              </a:rPr>
              <a:t>C</a:t>
            </a:r>
            <a:r>
              <a:rPr lang="en-US" altLang="zh-CN" sz="2400" dirty="0"/>
              <a:t>, CE</a:t>
            </a:r>
            <a:r>
              <a:rPr lang="en-US" altLang="zh-CN" sz="2400" dirty="0">
                <a:latin typeface="宋体" pitchFamily="2" charset="-122"/>
              </a:rPr>
              <a:t>→</a:t>
            </a:r>
            <a:r>
              <a:rPr lang="en-US" altLang="zh-CN" sz="2400" dirty="0"/>
              <a:t>A}</a:t>
            </a:r>
            <a:r>
              <a:rPr lang="zh-CN" altLang="en-US" sz="2400" dirty="0"/>
              <a:t>，分解</a:t>
            </a:r>
            <a:r>
              <a:rPr lang="en-US" altLang="zh-CN" sz="2400" dirty="0"/>
              <a:t>R1=AD,R2=AB, R3=BE, R4=CDE, R5=AE</a:t>
            </a:r>
          </a:p>
          <a:p>
            <a:pPr>
              <a:lnSpc>
                <a:spcPct val="80000"/>
              </a:lnSpc>
              <a:buFont typeface="Wingdings" pitchFamily="2" charset="2"/>
              <a:buNone/>
            </a:pPr>
            <a:r>
              <a:rPr lang="en-US" altLang="zh-CN" sz="2400" dirty="0"/>
              <a:t>A         B           C         D         E</a:t>
            </a:r>
          </a:p>
          <a:p>
            <a:pPr>
              <a:lnSpc>
                <a:spcPct val="80000"/>
              </a:lnSpc>
              <a:buFont typeface="Wingdings" pitchFamily="2" charset="2"/>
              <a:buNone/>
            </a:pPr>
            <a:r>
              <a:rPr lang="en-US" altLang="zh-CN" sz="2400" dirty="0"/>
              <a:t>--------------------------------------------</a:t>
            </a:r>
          </a:p>
          <a:p>
            <a:pPr>
              <a:lnSpc>
                <a:spcPct val="80000"/>
              </a:lnSpc>
              <a:buFont typeface="Wingdings" pitchFamily="2" charset="2"/>
              <a:buNone/>
            </a:pPr>
            <a:r>
              <a:rPr lang="en-US" altLang="zh-CN" sz="2400" dirty="0"/>
              <a:t>a1        b12       b13     a4        b15</a:t>
            </a:r>
          </a:p>
          <a:p>
            <a:pPr>
              <a:lnSpc>
                <a:spcPct val="80000"/>
              </a:lnSpc>
              <a:buNone/>
            </a:pPr>
            <a:r>
              <a:rPr lang="en-US" altLang="zh-CN" sz="2400" dirty="0"/>
              <a:t>a1        a2         </a:t>
            </a:r>
            <a:r>
              <a:rPr lang="en-US" altLang="zh-CN" sz="2400" dirty="0">
                <a:solidFill>
                  <a:schemeClr val="tx2"/>
                </a:solidFill>
              </a:rPr>
              <a:t>b13</a:t>
            </a:r>
            <a:r>
              <a:rPr lang="en-US" altLang="zh-CN" sz="2400" dirty="0"/>
              <a:t>     </a:t>
            </a:r>
            <a:r>
              <a:rPr lang="en-US" altLang="zh-CN" sz="2400" dirty="0">
                <a:solidFill>
                  <a:schemeClr val="tx2"/>
                </a:solidFill>
              </a:rPr>
              <a:t>a4        </a:t>
            </a:r>
            <a:r>
              <a:rPr lang="en-US" altLang="zh-CN" sz="2400" dirty="0"/>
              <a:t>b25</a:t>
            </a:r>
            <a:endParaRPr lang="en-US" altLang="zh-CN" sz="2400" dirty="0">
              <a:solidFill>
                <a:schemeClr val="tx2"/>
              </a:solidFill>
            </a:endParaRPr>
          </a:p>
          <a:p>
            <a:pPr>
              <a:lnSpc>
                <a:spcPct val="80000"/>
              </a:lnSpc>
              <a:buFont typeface="Wingdings" pitchFamily="2" charset="2"/>
              <a:buNone/>
            </a:pPr>
            <a:r>
              <a:rPr lang="en-US" altLang="zh-CN" sz="2400" dirty="0"/>
              <a:t>b31      a2         </a:t>
            </a:r>
            <a:r>
              <a:rPr lang="en-US" altLang="zh-CN" sz="2400" dirty="0">
                <a:solidFill>
                  <a:schemeClr val="tx2"/>
                </a:solidFill>
              </a:rPr>
              <a:t>b13</a:t>
            </a:r>
            <a:r>
              <a:rPr lang="en-US" altLang="zh-CN" sz="2400" dirty="0"/>
              <a:t>     </a:t>
            </a:r>
            <a:r>
              <a:rPr lang="en-US" altLang="zh-CN" sz="2400" dirty="0">
                <a:solidFill>
                  <a:schemeClr val="tx2"/>
                </a:solidFill>
              </a:rPr>
              <a:t>a4</a:t>
            </a:r>
            <a:r>
              <a:rPr lang="en-US" altLang="zh-CN" sz="2400" dirty="0"/>
              <a:t>        a5</a:t>
            </a:r>
          </a:p>
          <a:p>
            <a:pPr>
              <a:lnSpc>
                <a:spcPct val="80000"/>
              </a:lnSpc>
              <a:buFont typeface="Wingdings" pitchFamily="2" charset="2"/>
              <a:buNone/>
            </a:pPr>
            <a:r>
              <a:rPr lang="en-US" altLang="zh-CN" sz="2400" dirty="0"/>
              <a:t>b41      b42       a3       a4        a5</a:t>
            </a:r>
          </a:p>
          <a:p>
            <a:pPr>
              <a:lnSpc>
                <a:spcPct val="80000"/>
              </a:lnSpc>
              <a:buFont typeface="Wingdings" pitchFamily="2" charset="2"/>
              <a:buNone/>
            </a:pPr>
            <a:r>
              <a:rPr lang="en-US" altLang="zh-CN" sz="2400" dirty="0"/>
              <a:t>a1        b52       </a:t>
            </a:r>
            <a:r>
              <a:rPr lang="en-US" altLang="zh-CN" sz="2400" dirty="0">
                <a:solidFill>
                  <a:schemeClr val="tx2"/>
                </a:solidFill>
              </a:rPr>
              <a:t>b13</a:t>
            </a:r>
            <a:r>
              <a:rPr lang="en-US" altLang="zh-CN" sz="2400" dirty="0"/>
              <a:t>     </a:t>
            </a:r>
            <a:r>
              <a:rPr lang="en-US" altLang="zh-CN" sz="2400" dirty="0">
                <a:solidFill>
                  <a:schemeClr val="tx2"/>
                </a:solidFill>
              </a:rPr>
              <a:t>a4</a:t>
            </a:r>
            <a:r>
              <a:rPr lang="en-US" altLang="zh-CN" sz="2400" dirty="0"/>
              <a:t>        a5</a:t>
            </a:r>
          </a:p>
          <a:p>
            <a:pPr>
              <a:lnSpc>
                <a:spcPct val="80000"/>
              </a:lnSpc>
              <a:buFont typeface="Wingdings" pitchFamily="2" charset="2"/>
              <a:buNone/>
            </a:pPr>
            <a:endParaRPr lang="en-US" altLang="zh-CN" sz="2400" dirty="0"/>
          </a:p>
          <a:p>
            <a:pPr>
              <a:lnSpc>
                <a:spcPct val="80000"/>
              </a:lnSpc>
              <a:buNone/>
            </a:pPr>
            <a:r>
              <a:rPr lang="en-US" altLang="zh-CN" sz="2400" dirty="0"/>
              <a:t>A</a:t>
            </a:r>
            <a:r>
              <a:rPr lang="en-US" altLang="zh-CN" sz="2400" dirty="0">
                <a:latin typeface="宋体" pitchFamily="2" charset="-122"/>
              </a:rPr>
              <a:t>→</a:t>
            </a:r>
            <a:r>
              <a:rPr lang="en-US" altLang="zh-CN" sz="2400" dirty="0"/>
              <a:t>C (b23</a:t>
            </a:r>
            <a:r>
              <a:rPr lang="zh-CN" altLang="en-US" sz="2400" dirty="0"/>
              <a:t>变</a:t>
            </a:r>
            <a:r>
              <a:rPr lang="en-US" altLang="zh-CN" sz="2400" dirty="0"/>
              <a:t>b13</a:t>
            </a:r>
            <a:r>
              <a:rPr lang="zh-CN" altLang="en-US" sz="2400" dirty="0"/>
              <a:t>，</a:t>
            </a:r>
            <a:r>
              <a:rPr lang="en-US" altLang="zh-CN" sz="2400" dirty="0"/>
              <a:t>b53</a:t>
            </a:r>
            <a:r>
              <a:rPr lang="zh-CN" altLang="en-US" sz="2400" dirty="0"/>
              <a:t>变</a:t>
            </a:r>
            <a:r>
              <a:rPr lang="en-US" altLang="zh-CN" sz="2400" dirty="0"/>
              <a:t>b13) B</a:t>
            </a:r>
            <a:r>
              <a:rPr lang="en-US" altLang="zh-CN" sz="2400" dirty="0">
                <a:latin typeface="宋体" pitchFamily="2" charset="-122"/>
              </a:rPr>
              <a:t>→</a:t>
            </a:r>
            <a:r>
              <a:rPr lang="en-US" altLang="zh-CN" sz="2400" dirty="0"/>
              <a:t>C (b33</a:t>
            </a:r>
            <a:r>
              <a:rPr lang="zh-CN" altLang="en-US" sz="2400" dirty="0"/>
              <a:t>变</a:t>
            </a:r>
            <a:r>
              <a:rPr lang="en-US" altLang="zh-CN" sz="2400" dirty="0"/>
              <a:t>b13), C</a:t>
            </a:r>
            <a:r>
              <a:rPr lang="en-US" altLang="zh-CN" sz="2400" dirty="0">
                <a:latin typeface="宋体" charset="-122"/>
              </a:rPr>
              <a:t>→</a:t>
            </a:r>
            <a:r>
              <a:rPr lang="en-US" altLang="zh-CN" sz="2400" dirty="0"/>
              <a:t>D (b24,b34,b54</a:t>
            </a:r>
            <a:r>
              <a:rPr lang="zh-CN" altLang="en-US" sz="2400" dirty="0"/>
              <a:t>变</a:t>
            </a:r>
            <a:r>
              <a:rPr lang="en-US" altLang="zh-CN" sz="2400" dirty="0"/>
              <a:t>a4), </a:t>
            </a:r>
            <a:endParaRPr lang="zh-CN" altLang="en-US" sz="2400" dirty="0"/>
          </a:p>
        </p:txBody>
      </p:sp>
      <p:sp>
        <p:nvSpPr>
          <p:cNvPr id="7" name="椭圆 6"/>
          <p:cNvSpPr/>
          <p:nvPr/>
        </p:nvSpPr>
        <p:spPr bwMode="auto">
          <a:xfrm>
            <a:off x="3571868" y="3457584"/>
            <a:ext cx="2133600" cy="1257300"/>
          </a:xfrm>
          <a:prstGeom prst="ellipse">
            <a:avLst/>
          </a:prstGeom>
          <a:noFill/>
          <a:ln w="28575" cap="flat" cmpd="sng" algn="ctr">
            <a:solidFill>
              <a:srgbClr val="C0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sp>
        <p:nvSpPr>
          <p:cNvPr id="8" name="椭圆 7"/>
          <p:cNvSpPr/>
          <p:nvPr/>
        </p:nvSpPr>
        <p:spPr bwMode="auto">
          <a:xfrm>
            <a:off x="2819400" y="3886200"/>
            <a:ext cx="609600" cy="495300"/>
          </a:xfrm>
          <a:prstGeom prst="ellipse">
            <a:avLst/>
          </a:prstGeom>
          <a:noFill/>
          <a:ln w="28575" cap="flat" cmpd="sng" algn="ctr">
            <a:solidFill>
              <a:srgbClr val="C0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sp>
        <p:nvSpPr>
          <p:cNvPr id="3" name="页脚占位符 2">
            <a:extLst>
              <a:ext uri="{FF2B5EF4-FFF2-40B4-BE49-F238E27FC236}">
                <a16:creationId xmlns:a16="http://schemas.microsoft.com/office/drawing/2014/main" id="{BDE6D1BD-776E-A047-69C2-3862838FA49E}"/>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48FF996F-D69B-5FAB-B10B-8390B00905EB}"/>
              </a:ext>
            </a:extLst>
          </p:cNvPr>
          <p:cNvSpPr>
            <a:spLocks noGrp="1"/>
          </p:cNvSpPr>
          <p:nvPr>
            <p:ph type="sldNum" sz="quarter" idx="12"/>
          </p:nvPr>
        </p:nvSpPr>
        <p:spPr/>
        <p:txBody>
          <a:bodyPr/>
          <a:lstStyle/>
          <a:p>
            <a:fld id="{A2D74603-B40B-4D66-8F6E-41C870D48932}" type="slidenum">
              <a:rPr lang="en-US" altLang="zh-CN" smtClean="0"/>
              <a:pPr/>
              <a:t>148</a:t>
            </a:fld>
            <a:r>
              <a:rPr lang="en-US" altLang="zh-CN"/>
              <a:t>/162</a:t>
            </a:r>
            <a:endParaRPr lang="en-US" altLang="zh-CN" dirty="0"/>
          </a:p>
        </p:txBody>
      </p:sp>
    </p:spTree>
    <p:extLst>
      <p:ext uri="{BB962C8B-B14F-4D97-AF65-F5344CB8AC3E}">
        <p14:creationId xmlns:p14="http://schemas.microsoft.com/office/powerpoint/2010/main" val="20663118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heel(1)">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3180051-43C1-43B5-849F-DBC1A3B175F4}" type="datetime1">
              <a:rPr lang="zh-CN" altLang="en-US" smtClean="0"/>
              <a:t>2025/11/6</a:t>
            </a:fld>
            <a:endParaRPr lang="en-US" altLang="zh-CN"/>
          </a:p>
        </p:txBody>
      </p:sp>
      <p:sp>
        <p:nvSpPr>
          <p:cNvPr id="328706" name="Rectangle 2"/>
          <p:cNvSpPr>
            <a:spLocks noGrp="1" noChangeArrowheads="1"/>
          </p:cNvSpPr>
          <p:nvPr>
            <p:ph type="title"/>
          </p:nvPr>
        </p:nvSpPr>
        <p:spPr/>
        <p:txBody>
          <a:bodyPr/>
          <a:lstStyle/>
          <a:p>
            <a:r>
              <a:rPr lang="en-US" altLang="zh-CN" dirty="0"/>
              <a:t>8.4.2 </a:t>
            </a:r>
            <a:r>
              <a:rPr lang="zh-CN" altLang="en-US" dirty="0"/>
              <a:t>分解的无损连接性和保持函数依赖性</a:t>
            </a:r>
          </a:p>
        </p:txBody>
      </p:sp>
      <p:sp>
        <p:nvSpPr>
          <p:cNvPr id="328707" name="Rectangle 3"/>
          <p:cNvSpPr>
            <a:spLocks noGrp="1" noChangeArrowheads="1"/>
          </p:cNvSpPr>
          <p:nvPr>
            <p:ph type="body" idx="1"/>
          </p:nvPr>
        </p:nvSpPr>
        <p:spPr/>
        <p:txBody>
          <a:bodyPr/>
          <a:lstStyle/>
          <a:p>
            <a:pPr>
              <a:lnSpc>
                <a:spcPct val="80000"/>
              </a:lnSpc>
              <a:buNone/>
            </a:pPr>
            <a:r>
              <a:rPr lang="zh-CN" altLang="en-US" sz="2400" dirty="0"/>
              <a:t>补充例 </a:t>
            </a:r>
            <a:r>
              <a:rPr lang="en-US" altLang="zh-CN" sz="2400" dirty="0"/>
              <a:t>R(A</a:t>
            </a:r>
            <a:r>
              <a:rPr lang="zh-CN" altLang="en-US" sz="2400" dirty="0"/>
              <a:t>，</a:t>
            </a:r>
            <a:r>
              <a:rPr lang="en-US" altLang="zh-CN" sz="2400" dirty="0"/>
              <a:t>B</a:t>
            </a:r>
            <a:r>
              <a:rPr lang="zh-CN" altLang="en-US" sz="2400" dirty="0"/>
              <a:t>，</a:t>
            </a:r>
            <a:r>
              <a:rPr lang="en-US" altLang="zh-CN" sz="2400" dirty="0"/>
              <a:t>C</a:t>
            </a:r>
            <a:r>
              <a:rPr lang="zh-CN" altLang="en-US" sz="2400" dirty="0"/>
              <a:t>，</a:t>
            </a:r>
            <a:r>
              <a:rPr lang="en-US" altLang="zh-CN" sz="2400" dirty="0"/>
              <a:t>D</a:t>
            </a:r>
            <a:r>
              <a:rPr lang="zh-CN" altLang="en-US" sz="2400" dirty="0"/>
              <a:t>，</a:t>
            </a:r>
            <a:r>
              <a:rPr lang="en-US" altLang="zh-CN" sz="2400" dirty="0"/>
              <a:t>E)</a:t>
            </a:r>
            <a:r>
              <a:rPr lang="zh-CN" altLang="en-US" sz="2400" dirty="0"/>
              <a:t>，</a:t>
            </a:r>
            <a:r>
              <a:rPr lang="en-US" altLang="zh-CN" sz="2400" dirty="0"/>
              <a:t>F={A</a:t>
            </a:r>
            <a:r>
              <a:rPr lang="en-US" altLang="zh-CN" sz="2400" dirty="0">
                <a:latin typeface="宋体" pitchFamily="2" charset="-122"/>
              </a:rPr>
              <a:t>→</a:t>
            </a:r>
            <a:r>
              <a:rPr lang="en-US" altLang="zh-CN" sz="2400" dirty="0"/>
              <a:t>C, B</a:t>
            </a:r>
            <a:r>
              <a:rPr lang="en-US" altLang="zh-CN" sz="2400" dirty="0">
                <a:latin typeface="宋体" pitchFamily="2" charset="-122"/>
              </a:rPr>
              <a:t>→</a:t>
            </a:r>
            <a:r>
              <a:rPr lang="en-US" altLang="zh-CN" sz="2400" dirty="0"/>
              <a:t>C, C</a:t>
            </a:r>
            <a:r>
              <a:rPr lang="en-US" altLang="zh-CN" sz="2400" dirty="0">
                <a:latin typeface="宋体" pitchFamily="2" charset="-122"/>
              </a:rPr>
              <a:t>→</a:t>
            </a:r>
            <a:r>
              <a:rPr lang="en-US" altLang="zh-CN" sz="2400" dirty="0"/>
              <a:t>D, DE</a:t>
            </a:r>
            <a:r>
              <a:rPr lang="en-US" altLang="zh-CN" sz="2400" dirty="0">
                <a:latin typeface="宋体" pitchFamily="2" charset="-122"/>
              </a:rPr>
              <a:t>→</a:t>
            </a:r>
            <a:r>
              <a:rPr lang="en-US" altLang="zh-CN" sz="2400" dirty="0"/>
              <a:t>C, </a:t>
            </a:r>
            <a:r>
              <a:rPr lang="en-US" altLang="zh-CN" sz="2400" dirty="0">
                <a:solidFill>
                  <a:srgbClr val="C00000"/>
                </a:solidFill>
              </a:rPr>
              <a:t>CE</a:t>
            </a:r>
            <a:r>
              <a:rPr lang="en-US" altLang="zh-CN" sz="2400" dirty="0">
                <a:solidFill>
                  <a:srgbClr val="C00000"/>
                </a:solidFill>
                <a:latin typeface="宋体" pitchFamily="2" charset="-122"/>
              </a:rPr>
              <a:t>→</a:t>
            </a:r>
            <a:r>
              <a:rPr lang="en-US" altLang="zh-CN" sz="2400" dirty="0">
                <a:solidFill>
                  <a:srgbClr val="C00000"/>
                </a:solidFill>
              </a:rPr>
              <a:t>A</a:t>
            </a:r>
            <a:r>
              <a:rPr lang="en-US" altLang="zh-CN" sz="2400" dirty="0"/>
              <a:t>}</a:t>
            </a:r>
            <a:r>
              <a:rPr lang="zh-CN" altLang="en-US" sz="2400" dirty="0"/>
              <a:t>，分解</a:t>
            </a:r>
            <a:r>
              <a:rPr lang="en-US" altLang="zh-CN" sz="2400" dirty="0"/>
              <a:t>R1=AD,R2=AB, R3=BE, R4=CDE, R5=AE</a:t>
            </a:r>
          </a:p>
          <a:p>
            <a:pPr>
              <a:lnSpc>
                <a:spcPct val="80000"/>
              </a:lnSpc>
              <a:buFont typeface="Wingdings" pitchFamily="2" charset="2"/>
              <a:buNone/>
            </a:pPr>
            <a:r>
              <a:rPr lang="en-US" altLang="zh-CN" sz="2400" dirty="0"/>
              <a:t>A         B           C         D         E</a:t>
            </a:r>
          </a:p>
          <a:p>
            <a:pPr>
              <a:lnSpc>
                <a:spcPct val="80000"/>
              </a:lnSpc>
              <a:buFont typeface="Wingdings" pitchFamily="2" charset="2"/>
              <a:buNone/>
            </a:pPr>
            <a:r>
              <a:rPr lang="en-US" altLang="zh-CN" sz="2400" dirty="0"/>
              <a:t>--------------------------------------------</a:t>
            </a:r>
          </a:p>
          <a:p>
            <a:pPr>
              <a:lnSpc>
                <a:spcPct val="80000"/>
              </a:lnSpc>
              <a:buFont typeface="Wingdings" pitchFamily="2" charset="2"/>
              <a:buNone/>
            </a:pPr>
            <a:r>
              <a:rPr lang="en-US" altLang="zh-CN" sz="2400" dirty="0"/>
              <a:t>a1        b12       b1</a:t>
            </a:r>
            <a:r>
              <a:rPr lang="en-US" altLang="zh-CN" sz="2400" dirty="0">
                <a:solidFill>
                  <a:schemeClr val="tx2"/>
                </a:solidFill>
              </a:rPr>
              <a:t>3</a:t>
            </a:r>
            <a:r>
              <a:rPr lang="en-US" altLang="zh-CN" sz="2400" dirty="0"/>
              <a:t>     a4        b15</a:t>
            </a:r>
          </a:p>
          <a:p>
            <a:pPr>
              <a:lnSpc>
                <a:spcPct val="80000"/>
              </a:lnSpc>
              <a:buNone/>
            </a:pPr>
            <a:r>
              <a:rPr lang="en-US" altLang="zh-CN" sz="2400" dirty="0"/>
              <a:t>a1        a2         b1</a:t>
            </a:r>
            <a:r>
              <a:rPr lang="en-US" altLang="zh-CN" sz="2400" dirty="0">
                <a:solidFill>
                  <a:schemeClr val="tx2"/>
                </a:solidFill>
              </a:rPr>
              <a:t>3</a:t>
            </a:r>
            <a:r>
              <a:rPr lang="en-US" altLang="zh-CN" sz="2400" dirty="0"/>
              <a:t>     </a:t>
            </a:r>
            <a:r>
              <a:rPr lang="en-US" altLang="zh-CN" sz="2400" dirty="0">
                <a:solidFill>
                  <a:schemeClr val="tx2"/>
                </a:solidFill>
              </a:rPr>
              <a:t>a4        </a:t>
            </a:r>
            <a:r>
              <a:rPr lang="en-US" altLang="zh-CN" sz="2400" dirty="0"/>
              <a:t>b25</a:t>
            </a:r>
            <a:endParaRPr lang="en-US" altLang="zh-CN" sz="2400" dirty="0">
              <a:solidFill>
                <a:schemeClr val="tx2"/>
              </a:solidFill>
            </a:endParaRPr>
          </a:p>
          <a:p>
            <a:pPr>
              <a:lnSpc>
                <a:spcPct val="80000"/>
              </a:lnSpc>
              <a:buFont typeface="Wingdings" pitchFamily="2" charset="2"/>
              <a:buNone/>
            </a:pPr>
            <a:r>
              <a:rPr lang="en-US" altLang="zh-CN" sz="2400" dirty="0"/>
              <a:t>b31      a2         </a:t>
            </a:r>
            <a:r>
              <a:rPr lang="en-US" altLang="zh-CN" sz="2400" dirty="0">
                <a:solidFill>
                  <a:schemeClr val="tx2"/>
                </a:solidFill>
              </a:rPr>
              <a:t>a3</a:t>
            </a:r>
            <a:r>
              <a:rPr lang="en-US" altLang="zh-CN" sz="2400" dirty="0"/>
              <a:t>       </a:t>
            </a:r>
            <a:r>
              <a:rPr lang="en-US" altLang="zh-CN" sz="2400" dirty="0">
                <a:solidFill>
                  <a:schemeClr val="tx2"/>
                </a:solidFill>
              </a:rPr>
              <a:t>a4</a:t>
            </a:r>
            <a:r>
              <a:rPr lang="en-US" altLang="zh-CN" sz="2400" dirty="0"/>
              <a:t>        a5</a:t>
            </a:r>
          </a:p>
          <a:p>
            <a:pPr>
              <a:lnSpc>
                <a:spcPct val="80000"/>
              </a:lnSpc>
              <a:buFont typeface="Wingdings" pitchFamily="2" charset="2"/>
              <a:buNone/>
            </a:pPr>
            <a:r>
              <a:rPr lang="en-US" altLang="zh-CN" sz="2400" dirty="0"/>
              <a:t>b41      b42       </a:t>
            </a:r>
            <a:r>
              <a:rPr lang="en-US" altLang="zh-CN" sz="2400" dirty="0">
                <a:solidFill>
                  <a:schemeClr val="tx2"/>
                </a:solidFill>
              </a:rPr>
              <a:t>a3</a:t>
            </a:r>
            <a:r>
              <a:rPr lang="en-US" altLang="zh-CN" sz="2400" dirty="0"/>
              <a:t>       a4        a5</a:t>
            </a:r>
          </a:p>
          <a:p>
            <a:pPr>
              <a:lnSpc>
                <a:spcPct val="80000"/>
              </a:lnSpc>
              <a:buFont typeface="Wingdings" pitchFamily="2" charset="2"/>
              <a:buNone/>
            </a:pPr>
            <a:r>
              <a:rPr lang="en-US" altLang="zh-CN" sz="2400" dirty="0"/>
              <a:t>a1        b52       </a:t>
            </a:r>
            <a:r>
              <a:rPr lang="en-US" altLang="zh-CN" sz="2400" dirty="0">
                <a:solidFill>
                  <a:schemeClr val="tx2"/>
                </a:solidFill>
              </a:rPr>
              <a:t>a3</a:t>
            </a:r>
            <a:r>
              <a:rPr lang="en-US" altLang="zh-CN" sz="2400" dirty="0"/>
              <a:t>       </a:t>
            </a:r>
            <a:r>
              <a:rPr lang="en-US" altLang="zh-CN" sz="2400" dirty="0">
                <a:solidFill>
                  <a:schemeClr val="tx2"/>
                </a:solidFill>
              </a:rPr>
              <a:t>a4</a:t>
            </a:r>
            <a:r>
              <a:rPr lang="en-US" altLang="zh-CN" sz="2400" dirty="0"/>
              <a:t>        a5</a:t>
            </a:r>
          </a:p>
          <a:p>
            <a:pPr>
              <a:lnSpc>
                <a:spcPct val="80000"/>
              </a:lnSpc>
              <a:buFont typeface="Wingdings" pitchFamily="2" charset="2"/>
              <a:buNone/>
            </a:pPr>
            <a:endParaRPr lang="en-US" altLang="zh-CN" sz="2400" dirty="0"/>
          </a:p>
          <a:p>
            <a:pPr>
              <a:lnSpc>
                <a:spcPct val="80000"/>
              </a:lnSpc>
              <a:buNone/>
            </a:pPr>
            <a:r>
              <a:rPr lang="en-US" altLang="zh-CN" sz="2400" dirty="0"/>
              <a:t>A</a:t>
            </a:r>
            <a:r>
              <a:rPr lang="en-US" altLang="zh-CN" sz="2400" dirty="0">
                <a:latin typeface="宋体" pitchFamily="2" charset="-122"/>
              </a:rPr>
              <a:t>→</a:t>
            </a:r>
            <a:r>
              <a:rPr lang="en-US" altLang="zh-CN" sz="2400" dirty="0"/>
              <a:t>C (b23</a:t>
            </a:r>
            <a:r>
              <a:rPr lang="zh-CN" altLang="en-US" sz="2400" dirty="0"/>
              <a:t>变</a:t>
            </a:r>
            <a:r>
              <a:rPr lang="en-US" altLang="zh-CN" sz="2400" dirty="0"/>
              <a:t>b13</a:t>
            </a:r>
            <a:r>
              <a:rPr lang="zh-CN" altLang="en-US" sz="2400" dirty="0"/>
              <a:t>，</a:t>
            </a:r>
            <a:r>
              <a:rPr lang="en-US" altLang="zh-CN" sz="2400" dirty="0"/>
              <a:t>b53</a:t>
            </a:r>
            <a:r>
              <a:rPr lang="zh-CN" altLang="en-US" sz="2400" dirty="0"/>
              <a:t>变</a:t>
            </a:r>
            <a:r>
              <a:rPr lang="en-US" altLang="zh-CN" sz="2400" dirty="0"/>
              <a:t>b13) B</a:t>
            </a:r>
            <a:r>
              <a:rPr lang="en-US" altLang="zh-CN" sz="2400" dirty="0">
                <a:latin typeface="宋体" pitchFamily="2" charset="-122"/>
              </a:rPr>
              <a:t>→</a:t>
            </a:r>
            <a:r>
              <a:rPr lang="en-US" altLang="zh-CN" sz="2400" dirty="0"/>
              <a:t>C (b33</a:t>
            </a:r>
            <a:r>
              <a:rPr lang="zh-CN" altLang="en-US" sz="2400" dirty="0"/>
              <a:t>变</a:t>
            </a:r>
            <a:r>
              <a:rPr lang="en-US" altLang="zh-CN" sz="2400" dirty="0"/>
              <a:t>b13), C</a:t>
            </a:r>
            <a:r>
              <a:rPr lang="en-US" altLang="zh-CN" sz="2400" dirty="0">
                <a:latin typeface="宋体" charset="-122"/>
              </a:rPr>
              <a:t>→</a:t>
            </a:r>
            <a:r>
              <a:rPr lang="en-US" altLang="zh-CN" sz="2400" dirty="0"/>
              <a:t>D (b24,b34,b54</a:t>
            </a:r>
            <a:r>
              <a:rPr lang="zh-CN" altLang="en-US" sz="2400" dirty="0"/>
              <a:t>变</a:t>
            </a:r>
            <a:r>
              <a:rPr lang="en-US" altLang="zh-CN" sz="2400" dirty="0"/>
              <a:t>a4), DE</a:t>
            </a:r>
            <a:r>
              <a:rPr lang="en-US" altLang="zh-CN" sz="2400" dirty="0">
                <a:latin typeface="宋体" charset="-122"/>
              </a:rPr>
              <a:t>→</a:t>
            </a:r>
            <a:r>
              <a:rPr lang="en-US" altLang="zh-CN" sz="2400" dirty="0"/>
              <a:t>C(C</a:t>
            </a:r>
            <a:r>
              <a:rPr lang="zh-CN" altLang="en-US" sz="2400" dirty="0"/>
              <a:t>列变</a:t>
            </a:r>
            <a:r>
              <a:rPr lang="en-US" altLang="zh-CN" sz="2400" dirty="0"/>
              <a:t>a3)</a:t>
            </a:r>
          </a:p>
          <a:p>
            <a:pPr>
              <a:lnSpc>
                <a:spcPct val="80000"/>
              </a:lnSpc>
              <a:buNone/>
            </a:pPr>
            <a:endParaRPr lang="zh-CN" altLang="en-US" sz="2400" dirty="0"/>
          </a:p>
        </p:txBody>
      </p:sp>
      <p:sp>
        <p:nvSpPr>
          <p:cNvPr id="7" name="椭圆 6"/>
          <p:cNvSpPr/>
          <p:nvPr/>
        </p:nvSpPr>
        <p:spPr bwMode="auto">
          <a:xfrm>
            <a:off x="2667000" y="3581400"/>
            <a:ext cx="914400" cy="1181100"/>
          </a:xfrm>
          <a:prstGeom prst="ellipse">
            <a:avLst/>
          </a:prstGeom>
          <a:noFill/>
          <a:ln w="28575" cap="flat" cmpd="sng" algn="ctr">
            <a:solidFill>
              <a:srgbClr val="C0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sp>
        <p:nvSpPr>
          <p:cNvPr id="8" name="椭圆 7"/>
          <p:cNvSpPr/>
          <p:nvPr/>
        </p:nvSpPr>
        <p:spPr bwMode="auto">
          <a:xfrm>
            <a:off x="4714876" y="3500438"/>
            <a:ext cx="914400" cy="1181100"/>
          </a:xfrm>
          <a:prstGeom prst="ellipse">
            <a:avLst/>
          </a:prstGeom>
          <a:noFill/>
          <a:ln w="28575" cap="flat" cmpd="sng" algn="ctr">
            <a:solidFill>
              <a:srgbClr val="C0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sp>
        <p:nvSpPr>
          <p:cNvPr id="9" name="椭圆 8"/>
          <p:cNvSpPr/>
          <p:nvPr/>
        </p:nvSpPr>
        <p:spPr bwMode="auto">
          <a:xfrm>
            <a:off x="500034" y="3500438"/>
            <a:ext cx="914400" cy="1181100"/>
          </a:xfrm>
          <a:prstGeom prst="ellipse">
            <a:avLst/>
          </a:prstGeom>
          <a:noFill/>
          <a:ln w="28575" cap="flat" cmpd="sng" algn="ctr">
            <a:solidFill>
              <a:srgbClr val="0000FF"/>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sp>
        <p:nvSpPr>
          <p:cNvPr id="3" name="页脚占位符 2">
            <a:extLst>
              <a:ext uri="{FF2B5EF4-FFF2-40B4-BE49-F238E27FC236}">
                <a16:creationId xmlns:a16="http://schemas.microsoft.com/office/drawing/2014/main" id="{84B91B17-DADC-29EB-C70A-DE81C23EA2B9}"/>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3DEEE840-A388-0A5A-AE2C-F4B9AE71C6B0}"/>
              </a:ext>
            </a:extLst>
          </p:cNvPr>
          <p:cNvSpPr>
            <a:spLocks noGrp="1"/>
          </p:cNvSpPr>
          <p:nvPr>
            <p:ph type="sldNum" sz="quarter" idx="12"/>
          </p:nvPr>
        </p:nvSpPr>
        <p:spPr/>
        <p:txBody>
          <a:bodyPr/>
          <a:lstStyle/>
          <a:p>
            <a:fld id="{A2D74603-B40B-4D66-8F6E-41C870D48932}" type="slidenum">
              <a:rPr lang="en-US" altLang="zh-CN" smtClean="0"/>
              <a:pPr/>
              <a:t>149</a:t>
            </a:fld>
            <a:r>
              <a:rPr lang="en-US" altLang="zh-CN"/>
              <a:t>/162</a:t>
            </a:r>
            <a:endParaRPr lang="en-US" altLang="zh-CN" dirty="0"/>
          </a:p>
        </p:txBody>
      </p:sp>
    </p:spTree>
    <p:extLst>
      <p:ext uri="{BB962C8B-B14F-4D97-AF65-F5344CB8AC3E}">
        <p14:creationId xmlns:p14="http://schemas.microsoft.com/office/powerpoint/2010/main" val="17313580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500"/>
                                        <p:tgtEl>
                                          <p:spTgt spid="7"/>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heel(1)">
                                      <p:cBhvr>
                                        <p:cTn id="10" dur="500"/>
                                        <p:tgtEl>
                                          <p:spTgt spid="8"/>
                                        </p:tgtEl>
                                      </p:cBhvr>
                                    </p:animEffect>
                                  </p:childTnLst>
                                </p:cTn>
                              </p:par>
                            </p:childTnLst>
                          </p:cTn>
                        </p:par>
                        <p:par>
                          <p:cTn id="11" fill="hold">
                            <p:stCondLst>
                              <p:cond delay="500"/>
                            </p:stCondLst>
                            <p:childTnLst>
                              <p:par>
                                <p:cTn id="12" presetID="21" presetClass="entr" presetSubtype="1"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heel(1)">
                                      <p:cBhvr>
                                        <p:cTn id="1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90BECB66-EDB7-4456-8780-B864B49C4516}" type="datetime1">
              <a:rPr lang="zh-CN" altLang="en-US" smtClean="0"/>
              <a:t>2025/11/6</a:t>
            </a:fld>
            <a:endParaRPr lang="en-US" altLang="zh-CN"/>
          </a:p>
        </p:txBody>
      </p:sp>
      <p:sp>
        <p:nvSpPr>
          <p:cNvPr id="328706" name="Rectangle 2"/>
          <p:cNvSpPr>
            <a:spLocks noGrp="1" noChangeArrowheads="1"/>
          </p:cNvSpPr>
          <p:nvPr>
            <p:ph type="title"/>
          </p:nvPr>
        </p:nvSpPr>
        <p:spPr/>
        <p:txBody>
          <a:bodyPr/>
          <a:lstStyle/>
          <a:p>
            <a:r>
              <a:rPr lang="en-US" altLang="zh-CN" dirty="0"/>
              <a:t>8.4.2 </a:t>
            </a:r>
            <a:r>
              <a:rPr lang="zh-CN" altLang="en-US" dirty="0"/>
              <a:t>分解的无损连接性和保持函数依赖性</a:t>
            </a:r>
          </a:p>
        </p:txBody>
      </p:sp>
      <p:sp>
        <p:nvSpPr>
          <p:cNvPr id="328707" name="Rectangle 3"/>
          <p:cNvSpPr>
            <a:spLocks noGrp="1" noChangeArrowheads="1"/>
          </p:cNvSpPr>
          <p:nvPr>
            <p:ph type="body" idx="1"/>
          </p:nvPr>
        </p:nvSpPr>
        <p:spPr/>
        <p:txBody>
          <a:bodyPr/>
          <a:lstStyle/>
          <a:p>
            <a:pPr>
              <a:lnSpc>
                <a:spcPct val="80000"/>
              </a:lnSpc>
              <a:buNone/>
            </a:pPr>
            <a:r>
              <a:rPr lang="zh-CN" altLang="en-US" sz="2400" dirty="0"/>
              <a:t>补充例 </a:t>
            </a:r>
            <a:r>
              <a:rPr lang="en-US" altLang="zh-CN" sz="2400" dirty="0"/>
              <a:t>R(A</a:t>
            </a:r>
            <a:r>
              <a:rPr lang="zh-CN" altLang="en-US" sz="2400" dirty="0"/>
              <a:t>，</a:t>
            </a:r>
            <a:r>
              <a:rPr lang="en-US" altLang="zh-CN" sz="2400" dirty="0"/>
              <a:t>B</a:t>
            </a:r>
            <a:r>
              <a:rPr lang="zh-CN" altLang="en-US" sz="2400" dirty="0"/>
              <a:t>，</a:t>
            </a:r>
            <a:r>
              <a:rPr lang="en-US" altLang="zh-CN" sz="2400" dirty="0"/>
              <a:t>C</a:t>
            </a:r>
            <a:r>
              <a:rPr lang="zh-CN" altLang="en-US" sz="2400" dirty="0"/>
              <a:t>，</a:t>
            </a:r>
            <a:r>
              <a:rPr lang="en-US" altLang="zh-CN" sz="2400" dirty="0"/>
              <a:t>D</a:t>
            </a:r>
            <a:r>
              <a:rPr lang="zh-CN" altLang="en-US" sz="2400" dirty="0"/>
              <a:t>，</a:t>
            </a:r>
            <a:r>
              <a:rPr lang="en-US" altLang="zh-CN" sz="2400" dirty="0"/>
              <a:t>E)</a:t>
            </a:r>
            <a:r>
              <a:rPr lang="zh-CN" altLang="en-US" sz="2400" dirty="0"/>
              <a:t>，</a:t>
            </a:r>
            <a:r>
              <a:rPr lang="en-US" altLang="zh-CN" sz="2400" dirty="0"/>
              <a:t>F={A</a:t>
            </a:r>
            <a:r>
              <a:rPr lang="en-US" altLang="zh-CN" sz="2400" dirty="0">
                <a:latin typeface="宋体" pitchFamily="2" charset="-122"/>
              </a:rPr>
              <a:t>→</a:t>
            </a:r>
            <a:r>
              <a:rPr lang="en-US" altLang="zh-CN" sz="2400" dirty="0"/>
              <a:t>C, B</a:t>
            </a:r>
            <a:r>
              <a:rPr lang="en-US" altLang="zh-CN" sz="2400" dirty="0">
                <a:latin typeface="宋体" pitchFamily="2" charset="-122"/>
              </a:rPr>
              <a:t>→</a:t>
            </a:r>
            <a:r>
              <a:rPr lang="en-US" altLang="zh-CN" sz="2400" dirty="0"/>
              <a:t>C, C</a:t>
            </a:r>
            <a:r>
              <a:rPr lang="en-US" altLang="zh-CN" sz="2400" dirty="0">
                <a:latin typeface="宋体" pitchFamily="2" charset="-122"/>
              </a:rPr>
              <a:t>→</a:t>
            </a:r>
            <a:r>
              <a:rPr lang="en-US" altLang="zh-CN" sz="2400" dirty="0"/>
              <a:t>D, DE</a:t>
            </a:r>
            <a:r>
              <a:rPr lang="en-US" altLang="zh-CN" sz="2400" dirty="0">
                <a:latin typeface="宋体" pitchFamily="2" charset="-122"/>
              </a:rPr>
              <a:t>→</a:t>
            </a:r>
            <a:r>
              <a:rPr lang="en-US" altLang="zh-CN" sz="2400" dirty="0"/>
              <a:t>C, CE</a:t>
            </a:r>
            <a:r>
              <a:rPr lang="en-US" altLang="zh-CN" sz="2400" dirty="0">
                <a:latin typeface="宋体" pitchFamily="2" charset="-122"/>
              </a:rPr>
              <a:t>→</a:t>
            </a:r>
            <a:r>
              <a:rPr lang="en-US" altLang="zh-CN" sz="2400" dirty="0"/>
              <a:t>A}</a:t>
            </a:r>
            <a:r>
              <a:rPr lang="zh-CN" altLang="en-US" sz="2400" dirty="0"/>
              <a:t>，分解</a:t>
            </a:r>
            <a:r>
              <a:rPr lang="en-US" altLang="zh-CN" sz="2400" dirty="0"/>
              <a:t>R1=AD,R2=AB, R3=BE, R4=CDE, R5=AE</a:t>
            </a:r>
          </a:p>
          <a:p>
            <a:pPr>
              <a:lnSpc>
                <a:spcPct val="80000"/>
              </a:lnSpc>
              <a:buFont typeface="Wingdings" pitchFamily="2" charset="2"/>
              <a:buNone/>
            </a:pPr>
            <a:r>
              <a:rPr lang="en-US" altLang="zh-CN" sz="2400" dirty="0"/>
              <a:t>A         B           C         D         E</a:t>
            </a:r>
          </a:p>
          <a:p>
            <a:pPr>
              <a:lnSpc>
                <a:spcPct val="80000"/>
              </a:lnSpc>
              <a:buFont typeface="Wingdings" pitchFamily="2" charset="2"/>
              <a:buNone/>
            </a:pPr>
            <a:r>
              <a:rPr lang="en-US" altLang="zh-CN" sz="2400" dirty="0"/>
              <a:t>--------------------------------------------</a:t>
            </a:r>
          </a:p>
          <a:p>
            <a:pPr>
              <a:lnSpc>
                <a:spcPct val="80000"/>
              </a:lnSpc>
              <a:buNone/>
            </a:pPr>
            <a:r>
              <a:rPr lang="en-US" altLang="zh-CN" sz="2400" dirty="0"/>
              <a:t>a1        b12       b1</a:t>
            </a:r>
            <a:r>
              <a:rPr lang="en-US" altLang="zh-CN" sz="2400" dirty="0">
                <a:solidFill>
                  <a:schemeClr val="tx2"/>
                </a:solidFill>
              </a:rPr>
              <a:t>3</a:t>
            </a:r>
            <a:r>
              <a:rPr lang="en-US" altLang="zh-CN" sz="2400" dirty="0"/>
              <a:t>       a4        b15</a:t>
            </a:r>
          </a:p>
          <a:p>
            <a:pPr>
              <a:lnSpc>
                <a:spcPct val="80000"/>
              </a:lnSpc>
              <a:buNone/>
            </a:pPr>
            <a:r>
              <a:rPr lang="en-US" altLang="zh-CN" sz="2400" dirty="0"/>
              <a:t>a1        a2         b1</a:t>
            </a:r>
            <a:r>
              <a:rPr lang="en-US" altLang="zh-CN" sz="2400" dirty="0">
                <a:solidFill>
                  <a:schemeClr val="tx2"/>
                </a:solidFill>
              </a:rPr>
              <a:t>3</a:t>
            </a:r>
            <a:r>
              <a:rPr lang="en-US" altLang="zh-CN" sz="2400" dirty="0"/>
              <a:t>       </a:t>
            </a:r>
            <a:r>
              <a:rPr lang="en-US" altLang="zh-CN" sz="2400" dirty="0">
                <a:solidFill>
                  <a:schemeClr val="tx2"/>
                </a:solidFill>
              </a:rPr>
              <a:t>a4        </a:t>
            </a:r>
            <a:r>
              <a:rPr lang="en-US" altLang="zh-CN" sz="2400" dirty="0"/>
              <a:t>b25</a:t>
            </a:r>
            <a:endParaRPr lang="en-US" altLang="zh-CN" sz="2400" dirty="0">
              <a:solidFill>
                <a:schemeClr val="tx2"/>
              </a:solidFill>
            </a:endParaRPr>
          </a:p>
          <a:p>
            <a:pPr>
              <a:lnSpc>
                <a:spcPct val="80000"/>
              </a:lnSpc>
              <a:buNone/>
            </a:pPr>
            <a:r>
              <a:rPr lang="en-US" altLang="zh-CN" sz="2400" dirty="0">
                <a:solidFill>
                  <a:schemeClr val="tx2"/>
                </a:solidFill>
              </a:rPr>
              <a:t>a1</a:t>
            </a:r>
            <a:r>
              <a:rPr lang="en-US" altLang="zh-CN" sz="2400" dirty="0"/>
              <a:t>        a2         </a:t>
            </a:r>
            <a:r>
              <a:rPr lang="en-US" altLang="zh-CN" sz="2400" dirty="0">
                <a:solidFill>
                  <a:schemeClr val="tx2"/>
                </a:solidFill>
              </a:rPr>
              <a:t>a3</a:t>
            </a:r>
            <a:r>
              <a:rPr lang="en-US" altLang="zh-CN" sz="2400" dirty="0"/>
              <a:t>       </a:t>
            </a:r>
            <a:r>
              <a:rPr lang="en-US" altLang="zh-CN" sz="2400" dirty="0">
                <a:solidFill>
                  <a:schemeClr val="tx2"/>
                </a:solidFill>
              </a:rPr>
              <a:t>a4</a:t>
            </a:r>
            <a:r>
              <a:rPr lang="en-US" altLang="zh-CN" sz="2400" dirty="0"/>
              <a:t>        a5</a:t>
            </a:r>
          </a:p>
          <a:p>
            <a:pPr>
              <a:lnSpc>
                <a:spcPct val="80000"/>
              </a:lnSpc>
              <a:buNone/>
            </a:pPr>
            <a:r>
              <a:rPr lang="en-US" altLang="zh-CN" sz="2400" dirty="0">
                <a:solidFill>
                  <a:schemeClr val="tx2"/>
                </a:solidFill>
              </a:rPr>
              <a:t>a1</a:t>
            </a:r>
            <a:r>
              <a:rPr lang="en-US" altLang="zh-CN" sz="2400" dirty="0"/>
              <a:t>        b42       </a:t>
            </a:r>
            <a:r>
              <a:rPr lang="en-US" altLang="zh-CN" sz="2400" dirty="0">
                <a:solidFill>
                  <a:schemeClr val="tx2"/>
                </a:solidFill>
              </a:rPr>
              <a:t>a3</a:t>
            </a:r>
            <a:r>
              <a:rPr lang="en-US" altLang="zh-CN" sz="2400" dirty="0"/>
              <a:t>       a4        a5</a:t>
            </a:r>
          </a:p>
          <a:p>
            <a:pPr>
              <a:lnSpc>
                <a:spcPct val="80000"/>
              </a:lnSpc>
              <a:buNone/>
            </a:pPr>
            <a:r>
              <a:rPr lang="en-US" altLang="zh-CN" sz="2400" dirty="0"/>
              <a:t>a1        b52       </a:t>
            </a:r>
            <a:r>
              <a:rPr lang="en-US" altLang="zh-CN" sz="2400" dirty="0">
                <a:solidFill>
                  <a:schemeClr val="tx2"/>
                </a:solidFill>
              </a:rPr>
              <a:t>a3</a:t>
            </a:r>
            <a:r>
              <a:rPr lang="en-US" altLang="zh-CN" sz="2400" dirty="0"/>
              <a:t>       </a:t>
            </a:r>
            <a:r>
              <a:rPr lang="en-US" altLang="zh-CN" sz="2400" dirty="0">
                <a:solidFill>
                  <a:schemeClr val="tx2"/>
                </a:solidFill>
              </a:rPr>
              <a:t>a4</a:t>
            </a:r>
            <a:r>
              <a:rPr lang="en-US" altLang="zh-CN" sz="2400" dirty="0"/>
              <a:t>        a5</a:t>
            </a:r>
          </a:p>
          <a:p>
            <a:pPr>
              <a:lnSpc>
                <a:spcPct val="80000"/>
              </a:lnSpc>
              <a:buFont typeface="Wingdings" pitchFamily="2" charset="2"/>
              <a:buNone/>
            </a:pPr>
            <a:endParaRPr lang="en-US" altLang="zh-CN" sz="2400" dirty="0"/>
          </a:p>
          <a:p>
            <a:pPr>
              <a:lnSpc>
                <a:spcPct val="80000"/>
              </a:lnSpc>
              <a:buNone/>
            </a:pPr>
            <a:r>
              <a:rPr lang="en-US" altLang="zh-CN" sz="2400" dirty="0"/>
              <a:t>A</a:t>
            </a:r>
            <a:r>
              <a:rPr lang="en-US" altLang="zh-CN" sz="2400" dirty="0">
                <a:latin typeface="宋体" pitchFamily="2" charset="-122"/>
              </a:rPr>
              <a:t>→</a:t>
            </a:r>
            <a:r>
              <a:rPr lang="en-US" altLang="zh-CN" sz="2400" dirty="0"/>
              <a:t>C (b23</a:t>
            </a:r>
            <a:r>
              <a:rPr lang="zh-CN" altLang="en-US" sz="2400" dirty="0"/>
              <a:t>变</a:t>
            </a:r>
            <a:r>
              <a:rPr lang="en-US" altLang="zh-CN" sz="2400" dirty="0"/>
              <a:t>b13</a:t>
            </a:r>
            <a:r>
              <a:rPr lang="zh-CN" altLang="en-US" sz="2400" dirty="0"/>
              <a:t>，</a:t>
            </a:r>
            <a:r>
              <a:rPr lang="en-US" altLang="zh-CN" sz="2400" dirty="0"/>
              <a:t>b53</a:t>
            </a:r>
            <a:r>
              <a:rPr lang="zh-CN" altLang="en-US" sz="2400" dirty="0"/>
              <a:t>变</a:t>
            </a:r>
            <a:r>
              <a:rPr lang="en-US" altLang="zh-CN" sz="2400" dirty="0"/>
              <a:t>b13) B</a:t>
            </a:r>
            <a:r>
              <a:rPr lang="en-US" altLang="zh-CN" sz="2400" dirty="0">
                <a:latin typeface="宋体" pitchFamily="2" charset="-122"/>
              </a:rPr>
              <a:t>→</a:t>
            </a:r>
            <a:r>
              <a:rPr lang="en-US" altLang="zh-CN" sz="2400" dirty="0"/>
              <a:t>C (b33</a:t>
            </a:r>
            <a:r>
              <a:rPr lang="zh-CN" altLang="en-US" sz="2400" dirty="0"/>
              <a:t>变</a:t>
            </a:r>
            <a:r>
              <a:rPr lang="en-US" altLang="zh-CN" sz="2400" dirty="0"/>
              <a:t>b13), C</a:t>
            </a:r>
            <a:r>
              <a:rPr lang="en-US" altLang="zh-CN" sz="2400" dirty="0">
                <a:latin typeface="宋体" charset="-122"/>
              </a:rPr>
              <a:t>→</a:t>
            </a:r>
            <a:r>
              <a:rPr lang="en-US" altLang="zh-CN" sz="2400" dirty="0"/>
              <a:t>D (b24,b34,b54</a:t>
            </a:r>
            <a:r>
              <a:rPr lang="zh-CN" altLang="en-US" sz="2400" dirty="0"/>
              <a:t>变</a:t>
            </a:r>
            <a:r>
              <a:rPr lang="en-US" altLang="zh-CN" sz="2400" dirty="0"/>
              <a:t>a4), DE</a:t>
            </a:r>
            <a:r>
              <a:rPr lang="en-US" altLang="zh-CN" sz="2400" dirty="0">
                <a:latin typeface="宋体" charset="-122"/>
              </a:rPr>
              <a:t>→</a:t>
            </a:r>
            <a:r>
              <a:rPr lang="en-US" altLang="zh-CN" sz="2400" dirty="0"/>
              <a:t>C(C</a:t>
            </a:r>
            <a:r>
              <a:rPr lang="zh-CN" altLang="en-US" sz="2400" dirty="0"/>
              <a:t>列变</a:t>
            </a:r>
            <a:r>
              <a:rPr lang="en-US" altLang="zh-CN" sz="2400" dirty="0"/>
              <a:t>a3)</a:t>
            </a:r>
          </a:p>
          <a:p>
            <a:pPr>
              <a:lnSpc>
                <a:spcPct val="80000"/>
              </a:lnSpc>
              <a:buNone/>
            </a:pPr>
            <a:r>
              <a:rPr lang="en-US" altLang="zh-CN" sz="2400" dirty="0"/>
              <a:t>CE</a:t>
            </a:r>
            <a:r>
              <a:rPr lang="en-US" altLang="zh-CN" sz="2400" dirty="0">
                <a:latin typeface="宋体" charset="-122"/>
              </a:rPr>
              <a:t>→</a:t>
            </a:r>
            <a:r>
              <a:rPr lang="en-US" altLang="zh-CN" sz="2400" dirty="0"/>
              <a:t>A(A</a:t>
            </a:r>
            <a:r>
              <a:rPr lang="zh-CN" altLang="en-US" sz="2400" dirty="0"/>
              <a:t>列变</a:t>
            </a:r>
            <a:r>
              <a:rPr lang="en-US" altLang="zh-CN" sz="2400" dirty="0"/>
              <a:t>a1) </a:t>
            </a:r>
            <a:r>
              <a:rPr lang="zh-CN" altLang="en-US" sz="2400" dirty="0">
                <a:solidFill>
                  <a:schemeClr val="tx2"/>
                </a:solidFill>
              </a:rPr>
              <a:t>第三行出现了</a:t>
            </a:r>
            <a:r>
              <a:rPr lang="en-US" altLang="zh-CN" sz="2400" dirty="0">
                <a:solidFill>
                  <a:schemeClr val="tx2"/>
                </a:solidFill>
              </a:rPr>
              <a:t>a1</a:t>
            </a:r>
            <a:r>
              <a:rPr lang="zh-CN" altLang="en-US" sz="2400" dirty="0">
                <a:solidFill>
                  <a:schemeClr val="tx2"/>
                </a:solidFill>
              </a:rPr>
              <a:t>到</a:t>
            </a:r>
            <a:r>
              <a:rPr lang="en-US" altLang="zh-CN" sz="2400" dirty="0">
                <a:solidFill>
                  <a:schemeClr val="tx2"/>
                </a:solidFill>
              </a:rPr>
              <a:t>a5</a:t>
            </a:r>
            <a:r>
              <a:rPr lang="en-US" altLang="zh-CN" sz="2400" dirty="0"/>
              <a:t>.</a:t>
            </a:r>
            <a:endParaRPr lang="zh-CN" altLang="en-US" sz="2400" dirty="0"/>
          </a:p>
          <a:p>
            <a:pPr>
              <a:lnSpc>
                <a:spcPct val="80000"/>
              </a:lnSpc>
              <a:buNone/>
            </a:pPr>
            <a:endParaRPr lang="zh-CN" altLang="en-US" sz="2400" dirty="0"/>
          </a:p>
        </p:txBody>
      </p:sp>
      <p:sp>
        <p:nvSpPr>
          <p:cNvPr id="8" name="矩形 7"/>
          <p:cNvSpPr/>
          <p:nvPr/>
        </p:nvSpPr>
        <p:spPr bwMode="auto">
          <a:xfrm>
            <a:off x="571472" y="3500438"/>
            <a:ext cx="5000660" cy="428628"/>
          </a:xfrm>
          <a:prstGeom prst="rect">
            <a:avLst/>
          </a:prstGeom>
          <a:noFill/>
          <a:ln w="28575"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sp>
        <p:nvSpPr>
          <p:cNvPr id="3" name="页脚占位符 2">
            <a:extLst>
              <a:ext uri="{FF2B5EF4-FFF2-40B4-BE49-F238E27FC236}">
                <a16:creationId xmlns:a16="http://schemas.microsoft.com/office/drawing/2014/main" id="{E759D4C2-7C42-4092-CA15-F4F6F2806B2C}"/>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16790EF4-667A-7B06-FEB9-91A52D82FEBF}"/>
              </a:ext>
            </a:extLst>
          </p:cNvPr>
          <p:cNvSpPr>
            <a:spLocks noGrp="1"/>
          </p:cNvSpPr>
          <p:nvPr>
            <p:ph type="sldNum" sz="quarter" idx="12"/>
          </p:nvPr>
        </p:nvSpPr>
        <p:spPr/>
        <p:txBody>
          <a:bodyPr/>
          <a:lstStyle/>
          <a:p>
            <a:fld id="{A2D74603-B40B-4D66-8F6E-41C870D48932}" type="slidenum">
              <a:rPr lang="en-US" altLang="zh-CN" smtClean="0"/>
              <a:pPr/>
              <a:t>150</a:t>
            </a:fld>
            <a:r>
              <a:rPr lang="en-US" altLang="zh-CN"/>
              <a:t>/162</a:t>
            </a:r>
            <a:endParaRPr lang="en-US" altLang="zh-CN" dirty="0"/>
          </a:p>
        </p:txBody>
      </p:sp>
    </p:spTree>
    <p:extLst>
      <p:ext uri="{BB962C8B-B14F-4D97-AF65-F5344CB8AC3E}">
        <p14:creationId xmlns:p14="http://schemas.microsoft.com/office/powerpoint/2010/main" val="24475195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3333677A-508A-4D06-B884-E190C78AF28E}" type="datetime1">
              <a:rPr lang="zh-CN" altLang="en-US" smtClean="0"/>
              <a:t>2025/11/6</a:t>
            </a:fld>
            <a:endParaRPr lang="en-US" altLang="zh-CN"/>
          </a:p>
        </p:txBody>
      </p:sp>
      <p:sp>
        <p:nvSpPr>
          <p:cNvPr id="329730" name="Rectangle 2"/>
          <p:cNvSpPr>
            <a:spLocks noGrp="1" noChangeArrowheads="1"/>
          </p:cNvSpPr>
          <p:nvPr>
            <p:ph type="title"/>
          </p:nvPr>
        </p:nvSpPr>
        <p:spPr/>
        <p:txBody>
          <a:bodyPr/>
          <a:lstStyle/>
          <a:p>
            <a:r>
              <a:rPr lang="en-US" altLang="zh-CN" dirty="0"/>
              <a:t>8.4.2 </a:t>
            </a:r>
            <a:r>
              <a:rPr lang="zh-CN" altLang="en-US" dirty="0"/>
              <a:t>分解的无损连接性和保持函数依赖性</a:t>
            </a:r>
          </a:p>
        </p:txBody>
      </p:sp>
      <p:sp>
        <p:nvSpPr>
          <p:cNvPr id="329731" name="Rectangle 3"/>
          <p:cNvSpPr>
            <a:spLocks noGrp="1" noChangeArrowheads="1"/>
          </p:cNvSpPr>
          <p:nvPr>
            <p:ph type="body" idx="1"/>
          </p:nvPr>
        </p:nvSpPr>
        <p:spPr/>
        <p:txBody>
          <a:bodyPr/>
          <a:lstStyle/>
          <a:p>
            <a:pPr>
              <a:lnSpc>
                <a:spcPct val="90000"/>
              </a:lnSpc>
              <a:buNone/>
            </a:pPr>
            <a:r>
              <a:rPr lang="zh-CN" altLang="en-US" dirty="0">
                <a:solidFill>
                  <a:srgbClr val="FF0000"/>
                </a:solidFill>
              </a:rPr>
              <a:t>可用于简单情况</a:t>
            </a:r>
            <a:r>
              <a:rPr lang="en-US" altLang="zh-CN" dirty="0"/>
              <a:t>(</a:t>
            </a:r>
            <a:r>
              <a:rPr lang="zh-CN" altLang="en-US" dirty="0"/>
              <a:t>分解为</a:t>
            </a:r>
            <a:r>
              <a:rPr lang="zh-CN" altLang="en-US" b="1" dirty="0">
                <a:solidFill>
                  <a:srgbClr val="0000FF"/>
                </a:solidFill>
              </a:rPr>
              <a:t>两个小关系模式</a:t>
            </a:r>
            <a:r>
              <a:rPr lang="en-US" altLang="zh-CN" dirty="0"/>
              <a:t>)</a:t>
            </a:r>
            <a:r>
              <a:rPr lang="zh-CN" altLang="en-US" dirty="0"/>
              <a:t>的快速</a:t>
            </a:r>
            <a:r>
              <a:rPr lang="zh-CN" altLang="en-US" dirty="0">
                <a:solidFill>
                  <a:srgbClr val="FF0000"/>
                </a:solidFill>
              </a:rPr>
              <a:t>判断</a:t>
            </a:r>
            <a:r>
              <a:rPr lang="zh-CN" altLang="en-US" dirty="0"/>
              <a:t>。</a:t>
            </a:r>
          </a:p>
          <a:p>
            <a:pPr>
              <a:lnSpc>
                <a:spcPct val="90000"/>
              </a:lnSpc>
              <a:buFont typeface="Wingdings" pitchFamily="2" charset="2"/>
              <a:buNone/>
            </a:pPr>
            <a:r>
              <a:rPr lang="zh-CN" altLang="en-US" b="1" dirty="0"/>
              <a:t>定理</a:t>
            </a:r>
            <a:r>
              <a:rPr lang="en-US" altLang="zh-CN" b="1" dirty="0"/>
              <a:t>6.5</a:t>
            </a:r>
            <a:r>
              <a:rPr lang="en-US" altLang="zh-CN" dirty="0"/>
              <a:t>  R&lt;U,F&gt;</a:t>
            </a:r>
            <a:r>
              <a:rPr lang="zh-CN" altLang="en-US" dirty="0"/>
              <a:t>的一个分解</a:t>
            </a:r>
            <a:r>
              <a:rPr lang="en-US" altLang="zh-CN" dirty="0"/>
              <a:t>ρ</a:t>
            </a:r>
            <a:r>
              <a:rPr lang="zh-CN" altLang="en-US" dirty="0"/>
              <a:t>＝</a:t>
            </a:r>
            <a:r>
              <a:rPr lang="en-US" altLang="zh-CN" dirty="0"/>
              <a:t>{</a:t>
            </a:r>
            <a:r>
              <a:rPr lang="en-US" altLang="zh-CN" dirty="0">
                <a:latin typeface="+mj-lt"/>
              </a:rPr>
              <a:t>R</a:t>
            </a:r>
            <a:r>
              <a:rPr lang="en-US" altLang="zh-CN" baseline="-25000" dirty="0">
                <a:latin typeface="+mj-lt"/>
              </a:rPr>
              <a:t>1</a:t>
            </a:r>
            <a:r>
              <a:rPr lang="en-US" altLang="zh-CN" dirty="0">
                <a:latin typeface="+mj-lt"/>
              </a:rPr>
              <a:t>&lt;U</a:t>
            </a:r>
            <a:r>
              <a:rPr lang="en-US" altLang="zh-CN" baseline="-25000" dirty="0">
                <a:latin typeface="+mj-lt"/>
              </a:rPr>
              <a:t>1</a:t>
            </a:r>
            <a:r>
              <a:rPr lang="en-US" altLang="zh-CN" dirty="0">
                <a:latin typeface="+mj-lt"/>
              </a:rPr>
              <a:t>,F</a:t>
            </a:r>
            <a:r>
              <a:rPr lang="en-US" altLang="zh-CN" baseline="-25000" dirty="0">
                <a:latin typeface="+mj-lt"/>
              </a:rPr>
              <a:t>1</a:t>
            </a:r>
            <a:r>
              <a:rPr lang="en-US" altLang="zh-CN" dirty="0">
                <a:latin typeface="+mj-lt"/>
              </a:rPr>
              <a:t>&gt;</a:t>
            </a:r>
            <a:r>
              <a:rPr lang="zh-CN" altLang="en-US" dirty="0"/>
              <a:t>，</a:t>
            </a:r>
            <a:r>
              <a:rPr lang="en-US" altLang="zh-CN" dirty="0">
                <a:latin typeface="+mj-lt"/>
              </a:rPr>
              <a:t>R</a:t>
            </a:r>
            <a:r>
              <a:rPr lang="en-US" altLang="zh-CN" baseline="-25000" dirty="0">
                <a:latin typeface="+mj-lt"/>
              </a:rPr>
              <a:t>2</a:t>
            </a:r>
            <a:r>
              <a:rPr lang="en-US" altLang="zh-CN" dirty="0">
                <a:latin typeface="+mj-lt"/>
              </a:rPr>
              <a:t>&lt;U</a:t>
            </a:r>
            <a:r>
              <a:rPr lang="en-US" altLang="zh-CN" baseline="-25000" dirty="0">
                <a:latin typeface="+mj-lt"/>
              </a:rPr>
              <a:t>2</a:t>
            </a:r>
            <a:r>
              <a:rPr lang="en-US" altLang="zh-CN" dirty="0">
                <a:latin typeface="+mj-lt"/>
              </a:rPr>
              <a:t>,F</a:t>
            </a:r>
            <a:r>
              <a:rPr lang="en-US" altLang="zh-CN" baseline="-25000" dirty="0">
                <a:latin typeface="+mj-lt"/>
              </a:rPr>
              <a:t>2</a:t>
            </a:r>
            <a:r>
              <a:rPr lang="en-US" altLang="zh-CN" dirty="0">
                <a:latin typeface="+mj-lt"/>
              </a:rPr>
              <a:t>&gt;</a:t>
            </a:r>
            <a:r>
              <a:rPr lang="en-US" altLang="zh-CN" dirty="0"/>
              <a:t>}</a:t>
            </a:r>
            <a:r>
              <a:rPr lang="zh-CN" altLang="en-US" dirty="0"/>
              <a:t>具有</a:t>
            </a:r>
            <a:r>
              <a:rPr lang="zh-CN" altLang="en-US" dirty="0">
                <a:solidFill>
                  <a:srgbClr val="C00000"/>
                </a:solidFill>
              </a:rPr>
              <a:t>无损连接性</a:t>
            </a:r>
            <a:r>
              <a:rPr lang="zh-CN" altLang="en-US" dirty="0"/>
              <a:t>的</a:t>
            </a:r>
            <a:r>
              <a:rPr lang="zh-CN" altLang="en-US" b="1" dirty="0">
                <a:solidFill>
                  <a:schemeClr val="tx2"/>
                </a:solidFill>
              </a:rPr>
              <a:t>充分必要条件</a:t>
            </a:r>
            <a:r>
              <a:rPr lang="zh-CN" altLang="en-US" dirty="0"/>
              <a:t>是</a:t>
            </a:r>
            <a:r>
              <a:rPr lang="en-US" altLang="zh-CN" sz="2800" dirty="0">
                <a:solidFill>
                  <a:srgbClr val="0000FF"/>
                </a:solidFill>
                <a:latin typeface="+mj-lt"/>
              </a:rPr>
              <a:t>U</a:t>
            </a:r>
            <a:r>
              <a:rPr lang="en-US" altLang="zh-CN" sz="2800" baseline="-25000" dirty="0">
                <a:solidFill>
                  <a:srgbClr val="0000FF"/>
                </a:solidFill>
                <a:latin typeface="+mj-lt"/>
              </a:rPr>
              <a:t>1</a:t>
            </a:r>
            <a:r>
              <a:rPr lang="en-US" altLang="zh-CN" sz="2800" dirty="0">
                <a:solidFill>
                  <a:srgbClr val="0000FF"/>
                </a:solidFill>
                <a:latin typeface="+mj-lt"/>
              </a:rPr>
              <a:t>∩U</a:t>
            </a:r>
            <a:r>
              <a:rPr lang="en-US" altLang="zh-CN" sz="2800" baseline="-25000" dirty="0">
                <a:solidFill>
                  <a:srgbClr val="0000FF"/>
                </a:solidFill>
                <a:latin typeface="+mj-lt"/>
              </a:rPr>
              <a:t>2 </a:t>
            </a:r>
            <a:r>
              <a:rPr lang="en-US" altLang="zh-CN" sz="2800" dirty="0">
                <a:solidFill>
                  <a:srgbClr val="0000FF"/>
                </a:solidFill>
                <a:latin typeface="+mj-lt"/>
              </a:rPr>
              <a:t>→</a:t>
            </a:r>
            <a:r>
              <a:rPr lang="en-US" altLang="zh-CN" sz="2800" baseline="-25000" dirty="0">
                <a:solidFill>
                  <a:srgbClr val="0000FF"/>
                </a:solidFill>
                <a:latin typeface="+mj-lt"/>
              </a:rPr>
              <a:t> </a:t>
            </a:r>
            <a:r>
              <a:rPr lang="en-US" altLang="zh-CN" sz="2800" dirty="0">
                <a:solidFill>
                  <a:srgbClr val="0000FF"/>
                </a:solidFill>
                <a:latin typeface="+mj-lt"/>
              </a:rPr>
              <a:t>U</a:t>
            </a:r>
            <a:r>
              <a:rPr lang="en-US" altLang="zh-CN" sz="2800" baseline="-25000" dirty="0">
                <a:solidFill>
                  <a:srgbClr val="0000FF"/>
                </a:solidFill>
                <a:latin typeface="+mj-lt"/>
              </a:rPr>
              <a:t>1</a:t>
            </a:r>
            <a:r>
              <a:rPr lang="zh-CN" altLang="en-US" sz="2800" dirty="0">
                <a:solidFill>
                  <a:srgbClr val="0000FF"/>
                </a:solidFill>
                <a:latin typeface="+mj-lt"/>
              </a:rPr>
              <a:t>－</a:t>
            </a:r>
            <a:r>
              <a:rPr lang="en-US" altLang="zh-CN" sz="2800" dirty="0">
                <a:solidFill>
                  <a:srgbClr val="0000FF"/>
                </a:solidFill>
                <a:latin typeface="+mj-lt"/>
              </a:rPr>
              <a:t>U</a:t>
            </a:r>
            <a:r>
              <a:rPr lang="en-US" altLang="zh-CN" sz="2800" baseline="-25000" dirty="0">
                <a:solidFill>
                  <a:srgbClr val="0000FF"/>
                </a:solidFill>
                <a:latin typeface="+mj-lt"/>
              </a:rPr>
              <a:t>2</a:t>
            </a:r>
            <a:r>
              <a:rPr lang="en-US" altLang="zh-CN" sz="2800" dirty="0">
                <a:solidFill>
                  <a:srgbClr val="FF0000"/>
                </a:solidFill>
                <a:latin typeface="+mj-lt"/>
              </a:rPr>
              <a:t>∈</a:t>
            </a:r>
            <a:r>
              <a:rPr lang="en-US" altLang="zh-CN" sz="2800" dirty="0">
                <a:solidFill>
                  <a:srgbClr val="0000FF"/>
                </a:solidFill>
                <a:latin typeface="+mj-lt"/>
              </a:rPr>
              <a:t>F</a:t>
            </a:r>
            <a:r>
              <a:rPr lang="en-US" altLang="zh-CN" sz="2800" baseline="30000" dirty="0">
                <a:solidFill>
                  <a:srgbClr val="0000FF"/>
                </a:solidFill>
                <a:latin typeface="+mj-lt"/>
              </a:rPr>
              <a:t>+ </a:t>
            </a:r>
            <a:r>
              <a:rPr lang="zh-CN" altLang="en-US" sz="2800" b="1" dirty="0">
                <a:latin typeface="+mj-lt"/>
              </a:rPr>
              <a:t>或 </a:t>
            </a:r>
            <a:r>
              <a:rPr lang="en-US" altLang="zh-CN" sz="2800" dirty="0">
                <a:solidFill>
                  <a:srgbClr val="0000FF"/>
                </a:solidFill>
                <a:latin typeface="+mj-lt"/>
              </a:rPr>
              <a:t>U</a:t>
            </a:r>
            <a:r>
              <a:rPr lang="en-US" altLang="zh-CN" sz="2800" baseline="-25000" dirty="0">
                <a:solidFill>
                  <a:srgbClr val="0000FF"/>
                </a:solidFill>
                <a:latin typeface="+mj-lt"/>
              </a:rPr>
              <a:t>1</a:t>
            </a:r>
            <a:r>
              <a:rPr lang="en-US" altLang="zh-CN" sz="2800" dirty="0">
                <a:solidFill>
                  <a:srgbClr val="0000FF"/>
                </a:solidFill>
                <a:latin typeface="+mj-lt"/>
              </a:rPr>
              <a:t>∩U</a:t>
            </a:r>
            <a:r>
              <a:rPr lang="en-US" altLang="zh-CN" sz="2800" baseline="-25000" dirty="0">
                <a:solidFill>
                  <a:srgbClr val="0000FF"/>
                </a:solidFill>
                <a:latin typeface="+mj-lt"/>
              </a:rPr>
              <a:t>2 </a:t>
            </a:r>
            <a:r>
              <a:rPr lang="en-US" altLang="zh-CN" sz="2800" dirty="0">
                <a:solidFill>
                  <a:srgbClr val="0000FF"/>
                </a:solidFill>
                <a:latin typeface="+mj-lt"/>
              </a:rPr>
              <a:t>→ U</a:t>
            </a:r>
            <a:r>
              <a:rPr lang="en-US" altLang="zh-CN" sz="2800" baseline="-25000" dirty="0">
                <a:solidFill>
                  <a:srgbClr val="0000FF"/>
                </a:solidFill>
                <a:latin typeface="+mj-lt"/>
              </a:rPr>
              <a:t>2</a:t>
            </a:r>
            <a:r>
              <a:rPr lang="zh-CN" altLang="en-US" sz="2800" dirty="0">
                <a:solidFill>
                  <a:srgbClr val="0000FF"/>
                </a:solidFill>
                <a:latin typeface="+mj-lt"/>
              </a:rPr>
              <a:t>－</a:t>
            </a:r>
            <a:r>
              <a:rPr lang="en-US" altLang="zh-CN" sz="2800" dirty="0">
                <a:solidFill>
                  <a:srgbClr val="0000FF"/>
                </a:solidFill>
                <a:latin typeface="+mj-lt"/>
              </a:rPr>
              <a:t>U</a:t>
            </a:r>
            <a:r>
              <a:rPr lang="en-US" altLang="zh-CN" sz="2800" baseline="-25000" dirty="0">
                <a:solidFill>
                  <a:srgbClr val="0000FF"/>
                </a:solidFill>
                <a:latin typeface="+mj-lt"/>
              </a:rPr>
              <a:t>1</a:t>
            </a:r>
            <a:r>
              <a:rPr lang="en-US" altLang="zh-CN" sz="2800" dirty="0">
                <a:solidFill>
                  <a:srgbClr val="FF0000"/>
                </a:solidFill>
                <a:latin typeface="+mj-lt"/>
              </a:rPr>
              <a:t>∈</a:t>
            </a:r>
            <a:r>
              <a:rPr lang="en-US" altLang="zh-CN" sz="2800" dirty="0">
                <a:solidFill>
                  <a:srgbClr val="0000FF"/>
                </a:solidFill>
                <a:latin typeface="+mj-lt"/>
              </a:rPr>
              <a:t>F</a:t>
            </a:r>
            <a:r>
              <a:rPr lang="en-US" altLang="zh-CN" sz="2800" baseline="30000" dirty="0">
                <a:solidFill>
                  <a:srgbClr val="0000FF"/>
                </a:solidFill>
                <a:latin typeface="+mj-lt"/>
              </a:rPr>
              <a:t>+</a:t>
            </a:r>
            <a:r>
              <a:rPr lang="en-US" altLang="zh-CN" dirty="0">
                <a:latin typeface="+mj-lt"/>
              </a:rPr>
              <a:t> </a:t>
            </a:r>
            <a:r>
              <a:rPr lang="zh-CN" altLang="en-US" sz="2800" baseline="-25000" dirty="0">
                <a:latin typeface="宋体" pitchFamily="2" charset="-122"/>
              </a:rPr>
              <a:t>。</a:t>
            </a:r>
          </a:p>
          <a:p>
            <a:pPr>
              <a:lnSpc>
                <a:spcPct val="90000"/>
              </a:lnSpc>
              <a:buFont typeface="Wingdings" pitchFamily="2" charset="2"/>
              <a:buNone/>
            </a:pPr>
            <a:endParaRPr lang="en-US" altLang="zh-CN" dirty="0"/>
          </a:p>
          <a:p>
            <a:pPr>
              <a:lnSpc>
                <a:spcPct val="90000"/>
              </a:lnSpc>
              <a:buFont typeface="Wingdings" pitchFamily="2" charset="2"/>
              <a:buNone/>
            </a:pPr>
            <a:r>
              <a:rPr lang="zh-CN" altLang="en-US" dirty="0"/>
              <a:t>例如：</a:t>
            </a:r>
            <a:r>
              <a:rPr lang="en-US" altLang="zh-CN" dirty="0"/>
              <a:t>R(U, F), U</a:t>
            </a:r>
            <a:r>
              <a:rPr lang="zh-CN" altLang="en-US" dirty="0"/>
              <a:t>＝</a:t>
            </a:r>
            <a:r>
              <a:rPr lang="en-US" altLang="zh-CN" dirty="0"/>
              <a:t>ABC, F={A</a:t>
            </a:r>
            <a:r>
              <a:rPr lang="en-US" altLang="zh-CN" dirty="0">
                <a:latin typeface="宋体" pitchFamily="2" charset="-122"/>
              </a:rPr>
              <a:t>→</a:t>
            </a:r>
            <a:r>
              <a:rPr lang="en-US" altLang="zh-CN" dirty="0"/>
              <a:t>B,B</a:t>
            </a:r>
            <a:r>
              <a:rPr lang="en-US" altLang="zh-CN" dirty="0">
                <a:latin typeface="宋体" pitchFamily="2" charset="-122"/>
              </a:rPr>
              <a:t>→</a:t>
            </a:r>
            <a:r>
              <a:rPr lang="en-US" altLang="zh-CN" dirty="0"/>
              <a:t>C}</a:t>
            </a:r>
          </a:p>
          <a:p>
            <a:pPr>
              <a:lnSpc>
                <a:spcPct val="90000"/>
              </a:lnSpc>
              <a:buFont typeface="Wingdings" pitchFamily="2" charset="2"/>
              <a:buNone/>
            </a:pPr>
            <a:r>
              <a:rPr lang="en-US" altLang="zh-CN" dirty="0">
                <a:solidFill>
                  <a:srgbClr val="800080"/>
                </a:solidFill>
              </a:rPr>
              <a:t>R1</a:t>
            </a:r>
            <a:r>
              <a:rPr lang="en-US" altLang="zh-CN" dirty="0"/>
              <a:t>=AB, F1={A</a:t>
            </a:r>
            <a:r>
              <a:rPr lang="en-US" altLang="zh-CN" dirty="0">
                <a:latin typeface="宋体" pitchFamily="2" charset="-122"/>
              </a:rPr>
              <a:t>→</a:t>
            </a:r>
            <a:r>
              <a:rPr lang="en-US" altLang="zh-CN" dirty="0"/>
              <a:t>B},  </a:t>
            </a:r>
            <a:r>
              <a:rPr lang="en-US" altLang="zh-CN" dirty="0">
                <a:solidFill>
                  <a:srgbClr val="800080"/>
                </a:solidFill>
              </a:rPr>
              <a:t>R2</a:t>
            </a:r>
            <a:r>
              <a:rPr lang="en-US" altLang="zh-CN" dirty="0"/>
              <a:t>=AC, F2={A</a:t>
            </a:r>
            <a:r>
              <a:rPr lang="en-US" altLang="zh-CN" dirty="0">
                <a:latin typeface="宋体" pitchFamily="2" charset="-122"/>
              </a:rPr>
              <a:t>→</a:t>
            </a:r>
            <a:r>
              <a:rPr lang="en-US" altLang="zh-CN" dirty="0"/>
              <a:t>C}</a:t>
            </a:r>
          </a:p>
          <a:p>
            <a:pPr>
              <a:lnSpc>
                <a:spcPct val="90000"/>
              </a:lnSpc>
              <a:buFont typeface="Wingdings" pitchFamily="2" charset="2"/>
              <a:buNone/>
            </a:pPr>
            <a:r>
              <a:rPr lang="en-US" altLang="zh-CN" dirty="0"/>
              <a:t>      U</a:t>
            </a:r>
            <a:r>
              <a:rPr lang="en-US" altLang="zh-CN" baseline="-25000" dirty="0">
                <a:latin typeface="宋体" pitchFamily="2" charset="-122"/>
              </a:rPr>
              <a:t>1</a:t>
            </a:r>
            <a:r>
              <a:rPr lang="en-US" altLang="zh-CN" dirty="0"/>
              <a:t>∩U</a:t>
            </a:r>
            <a:r>
              <a:rPr lang="en-US" altLang="zh-CN" baseline="-25000" dirty="0">
                <a:latin typeface="宋体" pitchFamily="2" charset="-122"/>
              </a:rPr>
              <a:t>2 </a:t>
            </a:r>
            <a:r>
              <a:rPr lang="en-US" altLang="zh-CN" dirty="0">
                <a:latin typeface="宋体" pitchFamily="2" charset="-122"/>
              </a:rPr>
              <a:t>→</a:t>
            </a:r>
            <a:r>
              <a:rPr lang="en-US" altLang="zh-CN" baseline="-25000" dirty="0">
                <a:latin typeface="宋体" pitchFamily="2" charset="-122"/>
              </a:rPr>
              <a:t> </a:t>
            </a:r>
            <a:r>
              <a:rPr lang="en-US" altLang="zh-CN" dirty="0"/>
              <a:t>U</a:t>
            </a:r>
            <a:r>
              <a:rPr lang="en-US" altLang="zh-CN" baseline="-25000" dirty="0">
                <a:latin typeface="宋体" pitchFamily="2" charset="-122"/>
              </a:rPr>
              <a:t>1</a:t>
            </a:r>
            <a:r>
              <a:rPr lang="en-US" altLang="zh-CN" dirty="0">
                <a:latin typeface="宋体" pitchFamily="2" charset="-122"/>
              </a:rPr>
              <a:t>-</a:t>
            </a:r>
            <a:r>
              <a:rPr lang="en-US" altLang="zh-CN" dirty="0"/>
              <a:t>U</a:t>
            </a:r>
            <a:r>
              <a:rPr lang="en-US" altLang="zh-CN" baseline="-25000" dirty="0">
                <a:latin typeface="宋体" pitchFamily="2" charset="-122"/>
              </a:rPr>
              <a:t>2 </a:t>
            </a:r>
            <a:r>
              <a:rPr lang="zh-CN" altLang="en-US" dirty="0"/>
              <a:t>即</a:t>
            </a:r>
            <a:r>
              <a:rPr lang="en-US" altLang="zh-CN" dirty="0"/>
              <a:t>A</a:t>
            </a:r>
            <a:r>
              <a:rPr lang="en-US" altLang="zh-CN" dirty="0">
                <a:latin typeface="宋体" pitchFamily="2" charset="-122"/>
              </a:rPr>
              <a:t>→</a:t>
            </a:r>
            <a:r>
              <a:rPr lang="en-US" altLang="zh-CN" dirty="0"/>
              <a:t>B</a:t>
            </a:r>
            <a:r>
              <a:rPr lang="zh-CN" altLang="en-US" dirty="0"/>
              <a:t>为</a:t>
            </a:r>
            <a:r>
              <a:rPr lang="en-US" altLang="zh-CN" dirty="0"/>
              <a:t>F</a:t>
            </a:r>
            <a:r>
              <a:rPr lang="zh-CN" altLang="en-US" dirty="0"/>
              <a:t>所蕴含。</a:t>
            </a:r>
          </a:p>
        </p:txBody>
      </p:sp>
      <p:sp>
        <p:nvSpPr>
          <p:cNvPr id="3" name="页脚占位符 2">
            <a:extLst>
              <a:ext uri="{FF2B5EF4-FFF2-40B4-BE49-F238E27FC236}">
                <a16:creationId xmlns:a16="http://schemas.microsoft.com/office/drawing/2014/main" id="{04890438-7FB9-7B70-A3D5-60B32FB01AE6}"/>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A4275BC7-367D-EDFD-2DC1-0E4F9802598F}"/>
              </a:ext>
            </a:extLst>
          </p:cNvPr>
          <p:cNvSpPr>
            <a:spLocks noGrp="1"/>
          </p:cNvSpPr>
          <p:nvPr>
            <p:ph type="sldNum" sz="quarter" idx="12"/>
          </p:nvPr>
        </p:nvSpPr>
        <p:spPr/>
        <p:txBody>
          <a:bodyPr/>
          <a:lstStyle/>
          <a:p>
            <a:fld id="{A2D74603-B40B-4D66-8F6E-41C870D48932}" type="slidenum">
              <a:rPr lang="en-US" altLang="zh-CN" smtClean="0"/>
              <a:pPr/>
              <a:t>151</a:t>
            </a:fld>
            <a:r>
              <a:rPr lang="en-US" altLang="zh-CN"/>
              <a:t>/162</a:t>
            </a:r>
            <a:endParaRPr lang="en-US" altLang="zh-CN"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9731">
                                            <p:txEl>
                                              <p:pRg st="3" end="3"/>
                                            </p:txEl>
                                          </p:spTgt>
                                        </p:tgtEl>
                                        <p:attrNameLst>
                                          <p:attrName>style.visibility</p:attrName>
                                        </p:attrNameLst>
                                      </p:cBhvr>
                                      <p:to>
                                        <p:strVal val="visible"/>
                                      </p:to>
                                    </p:set>
                                    <p:anim calcmode="lin" valueType="num">
                                      <p:cBhvr additive="base">
                                        <p:cTn id="7" dur="500" fill="hold"/>
                                        <p:tgtEl>
                                          <p:spTgt spid="329731">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9731">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29731">
                                            <p:txEl>
                                              <p:pRg st="4" end="4"/>
                                            </p:txEl>
                                          </p:spTgt>
                                        </p:tgtEl>
                                        <p:attrNameLst>
                                          <p:attrName>style.visibility</p:attrName>
                                        </p:attrNameLst>
                                      </p:cBhvr>
                                      <p:to>
                                        <p:strVal val="visible"/>
                                      </p:to>
                                    </p:set>
                                    <p:anim calcmode="lin" valueType="num">
                                      <p:cBhvr additive="base">
                                        <p:cTn id="11" dur="500" fill="hold"/>
                                        <p:tgtEl>
                                          <p:spTgt spid="329731">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29731">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29731">
                                            <p:txEl>
                                              <p:pRg st="5" end="5"/>
                                            </p:txEl>
                                          </p:spTgt>
                                        </p:tgtEl>
                                        <p:attrNameLst>
                                          <p:attrName>style.visibility</p:attrName>
                                        </p:attrNameLst>
                                      </p:cBhvr>
                                      <p:to>
                                        <p:strVal val="visible"/>
                                      </p:to>
                                    </p:set>
                                    <p:anim calcmode="lin" valueType="num">
                                      <p:cBhvr additive="base">
                                        <p:cTn id="15" dur="500" fill="hold"/>
                                        <p:tgtEl>
                                          <p:spTgt spid="329731">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2973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38521C93-A25F-42A4-B9A2-877F916D01BD}" type="datetime1">
              <a:rPr lang="zh-CN" altLang="en-US" smtClean="0"/>
              <a:t>2025/11/6</a:t>
            </a:fld>
            <a:endParaRPr lang="en-US" altLang="zh-CN"/>
          </a:p>
        </p:txBody>
      </p:sp>
      <p:sp>
        <p:nvSpPr>
          <p:cNvPr id="330754" name="Rectangle 2"/>
          <p:cNvSpPr>
            <a:spLocks noGrp="1" noChangeArrowheads="1"/>
          </p:cNvSpPr>
          <p:nvPr>
            <p:ph type="title"/>
          </p:nvPr>
        </p:nvSpPr>
        <p:spPr/>
        <p:txBody>
          <a:bodyPr/>
          <a:lstStyle/>
          <a:p>
            <a:r>
              <a:rPr lang="en-US" altLang="zh-CN" dirty="0"/>
              <a:t>8.4.2 </a:t>
            </a:r>
            <a:r>
              <a:rPr lang="zh-CN" altLang="en-US" dirty="0"/>
              <a:t>分解的无损连接性和保持函数依赖性</a:t>
            </a:r>
          </a:p>
        </p:txBody>
      </p:sp>
      <p:sp>
        <p:nvSpPr>
          <p:cNvPr id="330755" name="Rectangle 3"/>
          <p:cNvSpPr>
            <a:spLocks noGrp="1" noChangeArrowheads="1"/>
          </p:cNvSpPr>
          <p:nvPr>
            <p:ph type="body" idx="1"/>
          </p:nvPr>
        </p:nvSpPr>
        <p:spPr/>
        <p:txBody>
          <a:bodyPr/>
          <a:lstStyle/>
          <a:p>
            <a:pPr>
              <a:buFont typeface="Wingdings" pitchFamily="2" charset="2"/>
              <a:buNone/>
            </a:pPr>
            <a:r>
              <a:rPr lang="zh-CN" altLang="en-US" b="1" dirty="0"/>
              <a:t>定义</a:t>
            </a:r>
            <a:r>
              <a:rPr lang="en-US" altLang="zh-CN" b="1" dirty="0"/>
              <a:t>6.19</a:t>
            </a:r>
            <a:r>
              <a:rPr lang="en-US" altLang="zh-CN" dirty="0"/>
              <a:t> (</a:t>
            </a:r>
            <a:r>
              <a:rPr lang="zh-CN" altLang="en-US" dirty="0">
                <a:solidFill>
                  <a:srgbClr val="C00000"/>
                </a:solidFill>
              </a:rPr>
              <a:t>保持函数依赖</a:t>
            </a:r>
            <a:r>
              <a:rPr lang="zh-CN" altLang="en-US" dirty="0"/>
              <a:t>的定义</a:t>
            </a:r>
            <a:r>
              <a:rPr lang="en-US" altLang="zh-CN" dirty="0"/>
              <a:t>) </a:t>
            </a:r>
            <a:r>
              <a:rPr lang="zh-CN" altLang="en-US" dirty="0"/>
              <a:t>若</a:t>
            </a:r>
            <a:r>
              <a:rPr lang="en-US" altLang="zh-CN" dirty="0">
                <a:solidFill>
                  <a:srgbClr val="FF0000"/>
                </a:solidFill>
              </a:rPr>
              <a:t>F</a:t>
            </a:r>
            <a:r>
              <a:rPr lang="zh-CN" altLang="en-US" baseline="30000" dirty="0"/>
              <a:t>＋</a:t>
            </a:r>
            <a:r>
              <a:rPr lang="zh-CN" altLang="en-US" dirty="0"/>
              <a:t>＝</a:t>
            </a:r>
            <a:r>
              <a:rPr lang="en-US" altLang="zh-CN" dirty="0"/>
              <a:t>(</a:t>
            </a:r>
            <a:r>
              <a:rPr lang="en-US" altLang="zh-CN" dirty="0">
                <a:solidFill>
                  <a:srgbClr val="0000FF"/>
                </a:solidFill>
              </a:rPr>
              <a:t>F</a:t>
            </a:r>
            <a:r>
              <a:rPr lang="en-US" altLang="zh-CN" baseline="-25000" dirty="0">
                <a:solidFill>
                  <a:srgbClr val="0000FF"/>
                </a:solidFill>
              </a:rPr>
              <a:t>1</a:t>
            </a:r>
            <a:r>
              <a:rPr lang="en-US" altLang="zh-CN" dirty="0">
                <a:solidFill>
                  <a:srgbClr val="0000FF"/>
                </a:solidFill>
              </a:rPr>
              <a:t>∪F</a:t>
            </a:r>
            <a:r>
              <a:rPr lang="en-US" altLang="zh-CN" baseline="-25000" dirty="0">
                <a:solidFill>
                  <a:srgbClr val="0000FF"/>
                </a:solidFill>
              </a:rPr>
              <a:t>2</a:t>
            </a:r>
            <a:r>
              <a:rPr lang="en-US" altLang="zh-CN" dirty="0">
                <a:solidFill>
                  <a:srgbClr val="0000FF"/>
                </a:solidFill>
              </a:rPr>
              <a:t> ∪ … ∪</a:t>
            </a:r>
            <a:r>
              <a:rPr lang="en-US" altLang="zh-CN" dirty="0" err="1">
                <a:solidFill>
                  <a:srgbClr val="0000FF"/>
                </a:solidFill>
              </a:rPr>
              <a:t>F</a:t>
            </a:r>
            <a:r>
              <a:rPr lang="en-US" altLang="zh-CN" baseline="-25000" dirty="0" err="1">
                <a:solidFill>
                  <a:srgbClr val="0000FF"/>
                </a:solidFill>
              </a:rPr>
              <a:t>k</a:t>
            </a:r>
            <a:r>
              <a:rPr lang="en-US" altLang="zh-CN" dirty="0"/>
              <a:t>)</a:t>
            </a:r>
            <a:r>
              <a:rPr lang="en-US" altLang="zh-CN" baseline="30000" dirty="0"/>
              <a:t>+</a:t>
            </a:r>
            <a:r>
              <a:rPr lang="en-US" altLang="zh-CN" dirty="0"/>
              <a:t>,</a:t>
            </a:r>
            <a:r>
              <a:rPr lang="zh-CN" altLang="en-US" dirty="0"/>
              <a:t>则</a:t>
            </a:r>
            <a:r>
              <a:rPr lang="en-US" altLang="zh-CN" dirty="0"/>
              <a:t>R&lt;U,F&gt;</a:t>
            </a:r>
            <a:r>
              <a:rPr lang="zh-CN" altLang="en-US" dirty="0"/>
              <a:t>的分解</a:t>
            </a:r>
            <a:r>
              <a:rPr lang="en-US" altLang="zh-CN" dirty="0"/>
              <a:t>ρ</a:t>
            </a:r>
            <a:r>
              <a:rPr lang="zh-CN" altLang="en-US" dirty="0"/>
              <a:t>＝</a:t>
            </a:r>
            <a:r>
              <a:rPr lang="en-US" altLang="zh-CN" dirty="0"/>
              <a:t>{R</a:t>
            </a:r>
            <a:r>
              <a:rPr lang="en-US" altLang="zh-CN" baseline="-25000" dirty="0"/>
              <a:t>1</a:t>
            </a:r>
            <a:r>
              <a:rPr lang="en-US" altLang="zh-CN" dirty="0"/>
              <a:t>&lt;U</a:t>
            </a:r>
            <a:r>
              <a:rPr lang="en-US" altLang="zh-CN" baseline="-25000" dirty="0"/>
              <a:t>1</a:t>
            </a:r>
            <a:r>
              <a:rPr lang="en-US" altLang="zh-CN" dirty="0"/>
              <a:t>,F</a:t>
            </a:r>
            <a:r>
              <a:rPr lang="en-US" altLang="zh-CN" baseline="-25000" dirty="0"/>
              <a:t>1</a:t>
            </a:r>
            <a:r>
              <a:rPr lang="en-US" altLang="zh-CN" dirty="0"/>
              <a:t>&gt;</a:t>
            </a:r>
            <a:r>
              <a:rPr lang="zh-CN" altLang="en-US" dirty="0"/>
              <a:t>，</a:t>
            </a:r>
            <a:r>
              <a:rPr lang="en-US" altLang="zh-CN" dirty="0"/>
              <a:t>R</a:t>
            </a:r>
            <a:r>
              <a:rPr lang="en-US" altLang="zh-CN" baseline="-25000" dirty="0"/>
              <a:t>2</a:t>
            </a:r>
            <a:r>
              <a:rPr lang="en-US" altLang="zh-CN" dirty="0"/>
              <a:t>&lt;U</a:t>
            </a:r>
            <a:r>
              <a:rPr lang="en-US" altLang="zh-CN" baseline="-25000" dirty="0"/>
              <a:t>2</a:t>
            </a:r>
            <a:r>
              <a:rPr lang="en-US" altLang="zh-CN" dirty="0"/>
              <a:t>,F</a:t>
            </a:r>
            <a:r>
              <a:rPr lang="en-US" altLang="zh-CN" baseline="-25000" dirty="0"/>
              <a:t>2</a:t>
            </a:r>
            <a:r>
              <a:rPr lang="en-US" altLang="zh-CN" dirty="0"/>
              <a:t>&gt;… </a:t>
            </a:r>
            <a:r>
              <a:rPr lang="en-US" altLang="zh-CN" dirty="0" err="1"/>
              <a:t>R</a:t>
            </a:r>
            <a:r>
              <a:rPr lang="en-US" altLang="zh-CN" baseline="-25000" dirty="0" err="1"/>
              <a:t>k</a:t>
            </a:r>
            <a:r>
              <a:rPr lang="en-US" altLang="zh-CN" dirty="0"/>
              <a:t>&lt;U</a:t>
            </a:r>
            <a:r>
              <a:rPr lang="en-US" altLang="zh-CN" baseline="-25000" dirty="0"/>
              <a:t>K</a:t>
            </a:r>
            <a:r>
              <a:rPr lang="en-US" altLang="zh-CN" dirty="0"/>
              <a:t>,F</a:t>
            </a:r>
            <a:r>
              <a:rPr lang="en-US" altLang="zh-CN" baseline="-25000" dirty="0"/>
              <a:t>K&gt;</a:t>
            </a:r>
            <a:r>
              <a:rPr lang="en-US" altLang="zh-CN" dirty="0"/>
              <a:t>}</a:t>
            </a:r>
            <a:r>
              <a:rPr lang="zh-CN" altLang="en-US" b="1" dirty="0">
                <a:solidFill>
                  <a:schemeClr val="tx2"/>
                </a:solidFill>
              </a:rPr>
              <a:t>保持函数依赖</a:t>
            </a:r>
            <a:r>
              <a:rPr lang="zh-CN" altLang="en-US" dirty="0"/>
              <a:t>。</a:t>
            </a:r>
          </a:p>
          <a:p>
            <a:pPr>
              <a:buFont typeface="Wingdings" pitchFamily="2" charset="2"/>
              <a:buNone/>
            </a:pPr>
            <a:endParaRPr lang="zh-CN" altLang="en-US" dirty="0"/>
          </a:p>
          <a:p>
            <a:pPr>
              <a:buFont typeface="Wingdings" pitchFamily="2" charset="2"/>
              <a:buNone/>
            </a:pPr>
            <a:r>
              <a:rPr lang="zh-CN" altLang="en-US" dirty="0"/>
              <a:t>注：实际上</a:t>
            </a:r>
            <a:r>
              <a:rPr lang="zh-CN" altLang="en-US" b="1" dirty="0">
                <a:solidFill>
                  <a:schemeClr val="tx2"/>
                </a:solidFill>
              </a:rPr>
              <a:t>只需判断</a:t>
            </a:r>
            <a:r>
              <a:rPr lang="zh-CN" altLang="en-US" dirty="0"/>
              <a:t>分解后</a:t>
            </a:r>
            <a:r>
              <a:rPr lang="zh-CN" altLang="en-US" b="1" dirty="0">
                <a:solidFill>
                  <a:srgbClr val="C00000"/>
                </a:solidFill>
              </a:rPr>
              <a:t>是否有函数依赖的</a:t>
            </a:r>
            <a:r>
              <a:rPr lang="zh-CN" altLang="en-US" b="1" dirty="0">
                <a:solidFill>
                  <a:srgbClr val="0000FF"/>
                </a:solidFill>
              </a:rPr>
              <a:t>损失</a:t>
            </a:r>
            <a:r>
              <a:rPr lang="zh-CN" altLang="en-US" dirty="0"/>
              <a:t>，</a:t>
            </a:r>
            <a:r>
              <a:rPr lang="zh-CN" altLang="en-US" b="1" dirty="0">
                <a:solidFill>
                  <a:srgbClr val="FF0000"/>
                </a:solidFill>
              </a:rPr>
              <a:t>只需判断</a:t>
            </a:r>
            <a:r>
              <a:rPr lang="en-US" altLang="zh-CN" dirty="0"/>
              <a:t>F </a:t>
            </a:r>
            <a:r>
              <a:rPr lang="en-US" altLang="zh-CN" b="1" dirty="0">
                <a:solidFill>
                  <a:srgbClr val="000080"/>
                </a:solidFill>
                <a:sym typeface="Symbol" pitchFamily="18" charset="2"/>
              </a:rPr>
              <a:t></a:t>
            </a:r>
            <a:r>
              <a:rPr lang="en-US" altLang="zh-CN" dirty="0"/>
              <a:t>(F</a:t>
            </a:r>
            <a:r>
              <a:rPr lang="en-US" altLang="zh-CN" baseline="-25000" dirty="0"/>
              <a:t>1</a:t>
            </a:r>
            <a:r>
              <a:rPr lang="en-US" altLang="zh-CN" dirty="0"/>
              <a:t>∪F</a:t>
            </a:r>
            <a:r>
              <a:rPr lang="en-US" altLang="zh-CN" baseline="-25000" dirty="0"/>
              <a:t>2</a:t>
            </a:r>
            <a:r>
              <a:rPr lang="en-US" altLang="zh-CN" dirty="0"/>
              <a:t> ∪ </a:t>
            </a:r>
            <a:r>
              <a:rPr lang="en-US" altLang="zh-CN" dirty="0">
                <a:latin typeface="Arial"/>
              </a:rPr>
              <a:t>…</a:t>
            </a:r>
            <a:r>
              <a:rPr lang="en-US" altLang="zh-CN" dirty="0"/>
              <a:t> ∪</a:t>
            </a:r>
            <a:r>
              <a:rPr lang="en-US" altLang="zh-CN" dirty="0" err="1"/>
              <a:t>F</a:t>
            </a:r>
            <a:r>
              <a:rPr lang="en-US" altLang="zh-CN" baseline="-25000" dirty="0" err="1"/>
              <a:t>k</a:t>
            </a:r>
            <a:r>
              <a:rPr lang="en-US" altLang="zh-CN" baseline="-25000" dirty="0"/>
              <a:t> </a:t>
            </a:r>
            <a:r>
              <a:rPr lang="en-US" altLang="zh-CN" dirty="0"/>
              <a:t>)</a:t>
            </a:r>
            <a:r>
              <a:rPr lang="en-US" altLang="zh-CN" baseline="30000" dirty="0"/>
              <a:t>+</a:t>
            </a:r>
          </a:p>
          <a:p>
            <a:endParaRPr lang="zh-CN" altLang="en-US" dirty="0"/>
          </a:p>
        </p:txBody>
      </p:sp>
      <p:sp>
        <p:nvSpPr>
          <p:cNvPr id="3" name="文本框 2">
            <a:extLst>
              <a:ext uri="{FF2B5EF4-FFF2-40B4-BE49-F238E27FC236}">
                <a16:creationId xmlns:a16="http://schemas.microsoft.com/office/drawing/2014/main" id="{961B9DB9-5088-E3D9-10E8-FDD8FA1FDECB}"/>
              </a:ext>
            </a:extLst>
          </p:cNvPr>
          <p:cNvSpPr txBox="1"/>
          <p:nvPr/>
        </p:nvSpPr>
        <p:spPr>
          <a:xfrm>
            <a:off x="971600" y="5315459"/>
            <a:ext cx="5384807" cy="584775"/>
          </a:xfrm>
          <a:prstGeom prst="rect">
            <a:avLst/>
          </a:prstGeom>
          <a:noFill/>
        </p:spPr>
        <p:txBody>
          <a:bodyPr wrap="none" rtlCol="0">
            <a:spAutoFit/>
          </a:bodyPr>
          <a:lstStyle/>
          <a:p>
            <a:r>
              <a:rPr lang="zh-CN" altLang="en-US" sz="3200" dirty="0"/>
              <a:t>记号：</a:t>
            </a:r>
            <a:r>
              <a:rPr lang="en-US" altLang="zh-CN" sz="3200" b="1" dirty="0">
                <a:solidFill>
                  <a:srgbClr val="FF0000"/>
                </a:solidFill>
              </a:rPr>
              <a:t>F’</a:t>
            </a:r>
            <a:r>
              <a:rPr lang="en-US" altLang="zh-CN" sz="3200" dirty="0"/>
              <a:t>= F</a:t>
            </a:r>
            <a:r>
              <a:rPr lang="en-US" altLang="zh-CN" sz="3200" baseline="-25000" dirty="0"/>
              <a:t>1</a:t>
            </a:r>
            <a:r>
              <a:rPr lang="en-US" altLang="zh-CN" sz="3200" dirty="0"/>
              <a:t>∪F</a:t>
            </a:r>
            <a:r>
              <a:rPr lang="en-US" altLang="zh-CN" sz="3200" baseline="-25000" dirty="0"/>
              <a:t>2</a:t>
            </a:r>
            <a:r>
              <a:rPr lang="en-US" altLang="zh-CN" sz="3200" dirty="0"/>
              <a:t> ∪ </a:t>
            </a:r>
            <a:r>
              <a:rPr lang="en-US" altLang="zh-CN" sz="3200" dirty="0">
                <a:latin typeface="Arial"/>
              </a:rPr>
              <a:t>…</a:t>
            </a:r>
            <a:r>
              <a:rPr lang="en-US" altLang="zh-CN" sz="3200" dirty="0"/>
              <a:t> ∪</a:t>
            </a:r>
            <a:r>
              <a:rPr lang="en-US" altLang="zh-CN" sz="3200" dirty="0" err="1"/>
              <a:t>F</a:t>
            </a:r>
            <a:r>
              <a:rPr lang="en-US" altLang="zh-CN" sz="3200" baseline="-25000" dirty="0" err="1"/>
              <a:t>k</a:t>
            </a:r>
            <a:r>
              <a:rPr lang="en-US" altLang="zh-CN" sz="3200" baseline="-25000" dirty="0"/>
              <a:t> </a:t>
            </a:r>
            <a:endParaRPr lang="zh-CN" altLang="en-US" sz="3200" dirty="0"/>
          </a:p>
        </p:txBody>
      </p:sp>
      <p:sp>
        <p:nvSpPr>
          <p:cNvPr id="5" name="页脚占位符 4">
            <a:extLst>
              <a:ext uri="{FF2B5EF4-FFF2-40B4-BE49-F238E27FC236}">
                <a16:creationId xmlns:a16="http://schemas.microsoft.com/office/drawing/2014/main" id="{69D4A64D-3250-ECAB-5B40-F3BF7B314211}"/>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4B80A060-C5A4-F3CB-0692-092371D619AF}"/>
              </a:ext>
            </a:extLst>
          </p:cNvPr>
          <p:cNvSpPr>
            <a:spLocks noGrp="1"/>
          </p:cNvSpPr>
          <p:nvPr>
            <p:ph type="sldNum" sz="quarter" idx="12"/>
          </p:nvPr>
        </p:nvSpPr>
        <p:spPr/>
        <p:txBody>
          <a:bodyPr/>
          <a:lstStyle/>
          <a:p>
            <a:fld id="{A2D74603-B40B-4D66-8F6E-41C870D48932}" type="slidenum">
              <a:rPr lang="en-US" altLang="zh-CN" smtClean="0"/>
              <a:pPr/>
              <a:t>152</a:t>
            </a:fld>
            <a:r>
              <a:rPr lang="en-US" altLang="zh-CN"/>
              <a:t>/162</a:t>
            </a:r>
            <a:endParaRPr lang="en-US" altLang="zh-CN" dirty="0"/>
          </a:p>
        </p:txBody>
      </p:sp>
    </p:spTree>
    <p:extLst>
      <p:ext uri="{BB962C8B-B14F-4D97-AF65-F5344CB8AC3E}">
        <p14:creationId xmlns:p14="http://schemas.microsoft.com/office/powerpoint/2010/main" val="232608358"/>
      </p:ext>
    </p:extLst>
  </p:cSld>
  <p:clrMapOvr>
    <a:masterClrMapping/>
  </p:clrMapOvr>
  <p:transition>
    <p:fade/>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06988D17-6EC9-4D7F-A949-447369895EA2}" type="datetime1">
              <a:rPr lang="zh-CN" altLang="en-US" smtClean="0"/>
              <a:t>2025/11/6</a:t>
            </a:fld>
            <a:endParaRPr lang="en-US" altLang="zh-CN"/>
          </a:p>
        </p:txBody>
      </p:sp>
      <p:sp>
        <p:nvSpPr>
          <p:cNvPr id="330754" name="Rectangle 2"/>
          <p:cNvSpPr>
            <a:spLocks noGrp="1" noChangeArrowheads="1"/>
          </p:cNvSpPr>
          <p:nvPr>
            <p:ph type="title"/>
          </p:nvPr>
        </p:nvSpPr>
        <p:spPr/>
        <p:txBody>
          <a:bodyPr/>
          <a:lstStyle/>
          <a:p>
            <a:r>
              <a:rPr lang="en-US" altLang="zh-CN" dirty="0"/>
              <a:t>8.4.2 </a:t>
            </a:r>
            <a:r>
              <a:rPr lang="zh-CN" altLang="en-US" dirty="0"/>
              <a:t>分解的无损连接性和保持函数依赖性</a:t>
            </a:r>
          </a:p>
        </p:txBody>
      </p:sp>
      <p:sp>
        <p:nvSpPr>
          <p:cNvPr id="330755" name="Rectangle 3"/>
          <p:cNvSpPr>
            <a:spLocks noGrp="1" noChangeArrowheads="1"/>
          </p:cNvSpPr>
          <p:nvPr>
            <p:ph type="body" idx="1"/>
          </p:nvPr>
        </p:nvSpPr>
        <p:spPr>
          <a:xfrm>
            <a:off x="609600" y="1447800"/>
            <a:ext cx="8210872" cy="4501480"/>
          </a:xfrm>
        </p:spPr>
        <p:txBody>
          <a:bodyPr/>
          <a:lstStyle/>
          <a:p>
            <a:r>
              <a:rPr lang="zh-CN" altLang="en-US" sz="2800" dirty="0"/>
              <a:t>怎么判断？</a:t>
            </a:r>
            <a:endParaRPr lang="en-US" altLang="zh-CN" sz="2800" dirty="0"/>
          </a:p>
          <a:p>
            <a:pPr lvl="1"/>
            <a:r>
              <a:rPr lang="zh-CN" altLang="en-US" sz="2400" dirty="0"/>
              <a:t>首先，请注意如果</a:t>
            </a:r>
            <a:r>
              <a:rPr lang="en-US" altLang="zh-CN" sz="2400" dirty="0">
                <a:solidFill>
                  <a:srgbClr val="0000FF"/>
                </a:solidFill>
              </a:rPr>
              <a:t>F</a:t>
            </a:r>
            <a:r>
              <a:rPr lang="zh-CN" altLang="en-US" sz="2400" dirty="0">
                <a:solidFill>
                  <a:srgbClr val="0000FF"/>
                </a:solidFill>
              </a:rPr>
              <a:t>中的每一个函数依赖</a:t>
            </a:r>
            <a:r>
              <a:rPr lang="zh-CN" altLang="en-US" sz="2400" dirty="0"/>
              <a:t>都可以在</a:t>
            </a:r>
            <a:r>
              <a:rPr lang="zh-CN" altLang="en-US" sz="2400" dirty="0">
                <a:solidFill>
                  <a:srgbClr val="0000FF"/>
                </a:solidFill>
              </a:rPr>
              <a:t>分解后的一个关系上</a:t>
            </a:r>
            <a:r>
              <a:rPr lang="zh-CN" altLang="en-US" sz="2400" dirty="0"/>
              <a:t>得到验证，那么这个分解就是保持依赖的。这是一种简单的验证保持依赖的方式。</a:t>
            </a:r>
            <a:endParaRPr lang="en-US" altLang="zh-CN" sz="2400" dirty="0"/>
          </a:p>
          <a:p>
            <a:pPr lvl="1"/>
            <a:r>
              <a:rPr lang="zh-CN" altLang="en-US" sz="2400" dirty="0"/>
              <a:t>但是，它</a:t>
            </a:r>
            <a:r>
              <a:rPr lang="zh-CN" altLang="en-US" sz="2400" dirty="0">
                <a:solidFill>
                  <a:srgbClr val="FF0000"/>
                </a:solidFill>
              </a:rPr>
              <a:t>并不总是有效</a:t>
            </a:r>
            <a:r>
              <a:rPr lang="zh-CN" altLang="en-US" sz="2400" dirty="0"/>
              <a:t>。存在这样的情况：尽管这个分解是保特依赖的，但是在</a:t>
            </a:r>
            <a:r>
              <a:rPr lang="en-US" altLang="zh-CN" sz="2400" dirty="0">
                <a:solidFill>
                  <a:srgbClr val="FF0000"/>
                </a:solidFill>
              </a:rPr>
              <a:t>F</a:t>
            </a:r>
            <a:r>
              <a:rPr lang="zh-CN" altLang="en-US" sz="2400" dirty="0">
                <a:solidFill>
                  <a:srgbClr val="FF0000"/>
                </a:solidFill>
              </a:rPr>
              <a:t>中存在一个依赖</a:t>
            </a:r>
            <a:r>
              <a:rPr lang="zh-CN" altLang="en-US" sz="2400" dirty="0"/>
              <a:t>，它</a:t>
            </a:r>
            <a:r>
              <a:rPr lang="zh-CN" altLang="en-US" sz="2400" dirty="0">
                <a:solidFill>
                  <a:srgbClr val="FF0000"/>
                </a:solidFill>
              </a:rPr>
              <a:t>无法</a:t>
            </a:r>
            <a:r>
              <a:rPr lang="zh-CN" altLang="en-US" sz="2400" dirty="0">
                <a:solidFill>
                  <a:srgbClr val="0000FF"/>
                </a:solidFill>
              </a:rPr>
              <a:t>在分解后的任意一个关系上被验证</a:t>
            </a:r>
            <a:r>
              <a:rPr lang="zh-CN" altLang="en-US" sz="2400" dirty="0"/>
              <a:t>。</a:t>
            </a:r>
            <a:endParaRPr lang="en-US" altLang="zh-CN" sz="2400" dirty="0"/>
          </a:p>
          <a:p>
            <a:pPr lvl="1"/>
            <a:r>
              <a:rPr lang="zh-CN" altLang="en-US" sz="2400" dirty="0"/>
              <a:t>所以这种可替代的验证方式只能被用作易于检查的一个</a:t>
            </a:r>
            <a:r>
              <a:rPr lang="zh-CN" altLang="en-US" sz="2400" dirty="0">
                <a:solidFill>
                  <a:srgbClr val="0000FF"/>
                </a:solidFill>
              </a:rPr>
              <a:t>充分条件</a:t>
            </a:r>
            <a:r>
              <a:rPr lang="zh-CN" altLang="en-US" sz="2400" dirty="0"/>
              <a:t>，如果它验证失败我们也不能断定这个分解就不是保持依赖的，相反我们将不得不采用通用的验证方式。</a:t>
            </a:r>
          </a:p>
        </p:txBody>
      </p:sp>
      <p:sp>
        <p:nvSpPr>
          <p:cNvPr id="3" name="页脚占位符 2">
            <a:extLst>
              <a:ext uri="{FF2B5EF4-FFF2-40B4-BE49-F238E27FC236}">
                <a16:creationId xmlns:a16="http://schemas.microsoft.com/office/drawing/2014/main" id="{1A8A249A-5A82-8FB5-BDC3-59E7AC104B15}"/>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9EF3FEF6-01D0-DD3D-A6C7-3514982EAE02}"/>
              </a:ext>
            </a:extLst>
          </p:cNvPr>
          <p:cNvSpPr>
            <a:spLocks noGrp="1"/>
          </p:cNvSpPr>
          <p:nvPr>
            <p:ph type="sldNum" sz="quarter" idx="12"/>
          </p:nvPr>
        </p:nvSpPr>
        <p:spPr/>
        <p:txBody>
          <a:bodyPr/>
          <a:lstStyle/>
          <a:p>
            <a:fld id="{A2D74603-B40B-4D66-8F6E-41C870D48932}" type="slidenum">
              <a:rPr lang="en-US" altLang="zh-CN" smtClean="0"/>
              <a:pPr/>
              <a:t>153</a:t>
            </a:fld>
            <a:r>
              <a:rPr lang="en-US" altLang="zh-CN"/>
              <a:t>/162</a:t>
            </a:r>
            <a:endParaRPr lang="en-US" altLang="zh-CN" dirty="0"/>
          </a:p>
        </p:txBody>
      </p:sp>
    </p:spTree>
  </p:cSld>
  <p:clrMapOvr>
    <a:masterClrMapping/>
  </p:clrMapOvr>
  <p:transition>
    <p:fade/>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页脚占位符 11">
            <a:extLst>
              <a:ext uri="{FF2B5EF4-FFF2-40B4-BE49-F238E27FC236}">
                <a16:creationId xmlns:a16="http://schemas.microsoft.com/office/drawing/2014/main" id="{57D9433F-6BF7-E9C0-745B-B547E7F69397}"/>
              </a:ext>
            </a:extLst>
          </p:cNvPr>
          <p:cNvSpPr>
            <a:spLocks noGrp="1"/>
          </p:cNvSpPr>
          <p:nvPr>
            <p:ph type="ftr" sz="quarter" idx="11"/>
          </p:nvPr>
        </p:nvSpPr>
        <p:spPr/>
        <p:txBody>
          <a:bodyPr/>
          <a:lstStyle/>
          <a:p>
            <a:r>
              <a:rPr lang="en-US" altLang="zh-CN" dirty="0"/>
              <a:t>《</a:t>
            </a:r>
            <a:r>
              <a:rPr lang="en-US" altLang="zh-CN" dirty="0" err="1"/>
              <a:t>数据库系统概论</a:t>
            </a:r>
            <a:r>
              <a:rPr lang="en-US" altLang="zh-CN" dirty="0"/>
              <a:t>》- 第6章</a:t>
            </a:r>
          </a:p>
        </p:txBody>
      </p:sp>
      <p:sp>
        <p:nvSpPr>
          <p:cNvPr id="4" name="日期占位符 3"/>
          <p:cNvSpPr>
            <a:spLocks noGrp="1"/>
          </p:cNvSpPr>
          <p:nvPr>
            <p:ph type="dt" sz="half" idx="10"/>
          </p:nvPr>
        </p:nvSpPr>
        <p:spPr/>
        <p:txBody>
          <a:bodyPr/>
          <a:lstStyle/>
          <a:p>
            <a:fld id="{E144C313-615D-4AE6-AA70-879AECE8A1B6}" type="datetime1">
              <a:rPr lang="zh-CN" altLang="en-US" smtClean="0"/>
              <a:t>2025/11/6</a:t>
            </a:fld>
            <a:endParaRPr lang="en-US" altLang="zh-CN"/>
          </a:p>
        </p:txBody>
      </p:sp>
      <p:sp>
        <p:nvSpPr>
          <p:cNvPr id="330754" name="Rectangle 2"/>
          <p:cNvSpPr>
            <a:spLocks noGrp="1" noChangeArrowheads="1"/>
          </p:cNvSpPr>
          <p:nvPr>
            <p:ph type="title"/>
          </p:nvPr>
        </p:nvSpPr>
        <p:spPr/>
        <p:txBody>
          <a:bodyPr/>
          <a:lstStyle/>
          <a:p>
            <a:r>
              <a:rPr lang="en-US" altLang="zh-CN" dirty="0"/>
              <a:t>8.4.2 </a:t>
            </a:r>
            <a:r>
              <a:rPr lang="zh-CN" altLang="en-US" dirty="0"/>
              <a:t>分解的无损连接性和保持函数依赖性</a:t>
            </a:r>
          </a:p>
        </p:txBody>
      </p:sp>
      <p:sp>
        <p:nvSpPr>
          <p:cNvPr id="330755" name="Rectangle 3"/>
          <p:cNvSpPr>
            <a:spLocks noGrp="1" noChangeArrowheads="1"/>
          </p:cNvSpPr>
          <p:nvPr>
            <p:ph type="body" idx="1"/>
          </p:nvPr>
        </p:nvSpPr>
        <p:spPr>
          <a:xfrm>
            <a:off x="609600" y="1447800"/>
            <a:ext cx="8345488" cy="4933528"/>
          </a:xfrm>
        </p:spPr>
        <p:txBody>
          <a:bodyPr/>
          <a:lstStyle/>
          <a:p>
            <a:r>
              <a:rPr lang="zh-CN" altLang="en-US" sz="2400" dirty="0"/>
              <a:t>通用验证方式</a:t>
            </a:r>
            <a:endParaRPr lang="en-US" altLang="zh-CN" sz="2400" dirty="0"/>
          </a:p>
          <a:p>
            <a:pPr lvl="1"/>
            <a:r>
              <a:rPr lang="zh-CN" altLang="en-US" sz="2000" dirty="0"/>
              <a:t>验证</a:t>
            </a:r>
            <a:r>
              <a:rPr lang="en-US" altLang="zh-CN" sz="2000" dirty="0"/>
              <a:t>F</a:t>
            </a:r>
            <a:r>
              <a:rPr lang="zh-CN" altLang="en-US" sz="2000" dirty="0"/>
              <a:t>中的</a:t>
            </a:r>
            <a:r>
              <a:rPr lang="zh-CN" altLang="en-US" sz="2000" dirty="0">
                <a:solidFill>
                  <a:srgbClr val="FF0000"/>
                </a:solidFill>
              </a:rPr>
              <a:t>每一个</a:t>
            </a:r>
            <a:r>
              <a:rPr lang="en-US" altLang="zh-CN" sz="2000" dirty="0"/>
              <a:t>X</a:t>
            </a:r>
            <a:r>
              <a:rPr lang="en-US" altLang="zh-CN" sz="2000" dirty="0">
                <a:latin typeface="宋体" pitchFamily="2" charset="-122"/>
              </a:rPr>
              <a:t>→</a:t>
            </a:r>
            <a:r>
              <a:rPr lang="en-US" altLang="zh-CN" sz="2000" dirty="0"/>
              <a:t>Y</a:t>
            </a:r>
            <a:r>
              <a:rPr lang="zh-CN" altLang="en-US" sz="2000" dirty="0"/>
              <a:t>，看它是否在</a:t>
            </a:r>
            <a:r>
              <a:rPr lang="en-US" altLang="zh-CN" sz="2000" dirty="0"/>
              <a:t>F’</a:t>
            </a:r>
            <a:r>
              <a:rPr lang="zh-CN" altLang="en-US" sz="2000" dirty="0"/>
              <a:t>中被保持；即：通过计算</a:t>
            </a:r>
            <a:r>
              <a:rPr lang="en-US" altLang="zh-CN" sz="2000" dirty="0"/>
              <a:t>F’</a:t>
            </a:r>
            <a:r>
              <a:rPr lang="zh-CN" altLang="en-US" sz="2000" dirty="0"/>
              <a:t>下</a:t>
            </a:r>
            <a:r>
              <a:rPr lang="en-US" altLang="zh-CN" sz="2000" dirty="0"/>
              <a:t>X</a:t>
            </a:r>
            <a:r>
              <a:rPr lang="zh-CN" altLang="en-US" sz="2000" dirty="0"/>
              <a:t>的属性集闭包，看该闭包是否包含</a:t>
            </a:r>
            <a:r>
              <a:rPr lang="en-US" altLang="zh-CN" sz="2000" dirty="0"/>
              <a:t>Y</a:t>
            </a:r>
            <a:r>
              <a:rPr lang="zh-CN" altLang="en-US" sz="2000" dirty="0"/>
              <a:t>来判定。当且仅当</a:t>
            </a:r>
            <a:r>
              <a:rPr lang="en-US" altLang="zh-CN" sz="2000" dirty="0"/>
              <a:t>F</a:t>
            </a:r>
            <a:r>
              <a:rPr lang="zh-CN" altLang="en-US" sz="2000" dirty="0"/>
              <a:t>中所有的依赖都被证明是保持的，该分解是保持函数依赖的。</a:t>
            </a:r>
            <a:endParaRPr lang="en-US" altLang="zh-CN" sz="2000" dirty="0"/>
          </a:p>
          <a:p>
            <a:pPr lvl="1"/>
            <a:r>
              <a:rPr lang="zh-CN" altLang="en-US" sz="2000" dirty="0"/>
              <a:t>使用</a:t>
            </a:r>
            <a:r>
              <a:rPr lang="zh-CN" altLang="en-US" sz="2000" dirty="0">
                <a:solidFill>
                  <a:srgbClr val="0000FF"/>
                </a:solidFill>
              </a:rPr>
              <a:t>修改后的属性集闭包算法</a:t>
            </a:r>
            <a:r>
              <a:rPr lang="zh-CN" altLang="en-US" sz="2000" dirty="0"/>
              <a:t>来计算</a:t>
            </a:r>
            <a:r>
              <a:rPr lang="en-US" altLang="zh-CN" sz="2000" dirty="0"/>
              <a:t>F’</a:t>
            </a:r>
            <a:r>
              <a:rPr lang="zh-CN" altLang="en-US" sz="2000" dirty="0"/>
              <a:t>下的闭包，而不用先真正计算出</a:t>
            </a:r>
            <a:r>
              <a:rPr lang="en-US" altLang="zh-CN" sz="2000" dirty="0"/>
              <a:t>F’</a:t>
            </a:r>
            <a:r>
              <a:rPr lang="zh-CN" altLang="en-US" sz="2000" dirty="0"/>
              <a:t>，以避免</a:t>
            </a:r>
            <a:r>
              <a:rPr lang="en-US" altLang="zh-CN" sz="2000" dirty="0"/>
              <a:t>F’</a:t>
            </a:r>
            <a:r>
              <a:rPr lang="zh-CN" altLang="en-US" sz="2000" dirty="0"/>
              <a:t>的计算开销。如下所示，对于</a:t>
            </a:r>
            <a:r>
              <a:rPr lang="en-US" altLang="zh-CN" sz="2000" dirty="0"/>
              <a:t>F</a:t>
            </a:r>
            <a:r>
              <a:rPr lang="zh-CN" altLang="en-US" sz="2000" dirty="0"/>
              <a:t>中的</a:t>
            </a:r>
            <a:r>
              <a:rPr lang="zh-CN" altLang="en-US" sz="2000" dirty="0">
                <a:solidFill>
                  <a:srgbClr val="FF0000"/>
                </a:solidFill>
              </a:rPr>
              <a:t>每一个</a:t>
            </a:r>
            <a:r>
              <a:rPr lang="en-US" altLang="zh-CN" sz="2000" dirty="0"/>
              <a:t>X</a:t>
            </a:r>
            <a:r>
              <a:rPr lang="en-US" altLang="zh-CN" sz="2000" dirty="0">
                <a:latin typeface="宋体" pitchFamily="2" charset="-122"/>
              </a:rPr>
              <a:t>→</a:t>
            </a:r>
            <a:r>
              <a:rPr lang="en-US" altLang="zh-CN" sz="2000" dirty="0"/>
              <a:t>Y</a:t>
            </a:r>
            <a:r>
              <a:rPr lang="zh-CN" altLang="en-US" sz="2000" dirty="0"/>
              <a:t>，使用下述过程计算属性集</a:t>
            </a:r>
            <a:r>
              <a:rPr lang="en-US" altLang="zh-CN" sz="2000" dirty="0"/>
              <a:t>X</a:t>
            </a:r>
            <a:r>
              <a:rPr lang="zh-CN" altLang="en-US" sz="2000" dirty="0"/>
              <a:t>的闭包</a:t>
            </a:r>
            <a:r>
              <a:rPr lang="en-US" altLang="zh-CN" sz="2000" dirty="0"/>
              <a:t>result</a:t>
            </a:r>
            <a:r>
              <a:rPr lang="zh-CN" altLang="en-US" sz="2000" dirty="0"/>
              <a:t>（注意此处闭包是在函数依赖集</a:t>
            </a:r>
            <a:r>
              <a:rPr lang="en-US" altLang="zh-CN" sz="2000" dirty="0"/>
              <a:t>F</a:t>
            </a:r>
            <a:r>
              <a:rPr lang="zh-CN" altLang="en-US" sz="2000" dirty="0"/>
              <a:t>下计算）。如果</a:t>
            </a:r>
            <a:r>
              <a:rPr lang="en-US" altLang="zh-CN" sz="2000" dirty="0"/>
              <a:t>result</a:t>
            </a:r>
            <a:r>
              <a:rPr lang="zh-CN" altLang="en-US" sz="2000" dirty="0"/>
              <a:t>包含了</a:t>
            </a:r>
            <a:r>
              <a:rPr lang="en-US" altLang="zh-CN" sz="2000" dirty="0"/>
              <a:t>Y</a:t>
            </a:r>
            <a:r>
              <a:rPr lang="zh-CN" altLang="en-US" sz="2000" dirty="0"/>
              <a:t>，则函数依赖</a:t>
            </a:r>
            <a:r>
              <a:rPr lang="en-US" altLang="zh-CN" sz="2000" dirty="0"/>
              <a:t>X</a:t>
            </a:r>
            <a:r>
              <a:rPr lang="en-US" altLang="zh-CN" sz="2000" dirty="0">
                <a:latin typeface="宋体" pitchFamily="2" charset="-122"/>
              </a:rPr>
              <a:t>→</a:t>
            </a:r>
            <a:r>
              <a:rPr lang="en-US" altLang="zh-CN" sz="2000" dirty="0"/>
              <a:t>Y</a:t>
            </a:r>
            <a:r>
              <a:rPr lang="zh-CN" altLang="en-US" sz="2000" dirty="0"/>
              <a:t>被保持。当且仅当该过程表明</a:t>
            </a:r>
            <a:r>
              <a:rPr lang="en-US" altLang="zh-CN" sz="2000" dirty="0"/>
              <a:t>F</a:t>
            </a:r>
            <a:r>
              <a:rPr lang="zh-CN" altLang="en-US" sz="2000" dirty="0"/>
              <a:t>中所有的依赖都被保持的，该分解是保持函数依赖的。</a:t>
            </a:r>
            <a:endParaRPr lang="en-US" altLang="zh-CN" sz="2000" dirty="0"/>
          </a:p>
          <a:p>
            <a:pPr lvl="1"/>
            <a:endParaRPr lang="zh-CN" altLang="en-US" sz="2000" dirty="0"/>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F0F8732D-F9E5-656D-B1D1-AC712D189F40}"/>
                  </a:ext>
                </a:extLst>
              </p:cNvPr>
              <p:cNvSpPr txBox="1"/>
              <p:nvPr/>
            </p:nvSpPr>
            <p:spPr>
              <a:xfrm>
                <a:off x="3530154" y="4509120"/>
                <a:ext cx="4464496" cy="2308324"/>
              </a:xfrm>
              <a:prstGeom prst="rect">
                <a:avLst/>
              </a:prstGeom>
              <a:solidFill>
                <a:schemeClr val="bg1"/>
              </a:solidFill>
            </p:spPr>
            <p:txBody>
              <a:bodyPr wrap="square" rtlCol="0">
                <a:spAutoFit/>
              </a:bodyPr>
              <a:lstStyle/>
              <a:p>
                <a:pPr algn="l"/>
                <a:r>
                  <a:rPr lang="en-US" altLang="zh-CN" dirty="0"/>
                  <a:t>result = X</a:t>
                </a:r>
              </a:p>
              <a:p>
                <a:pPr algn="l"/>
                <a:r>
                  <a:rPr lang="en-US" altLang="zh-CN" sz="2400" dirty="0">
                    <a:sym typeface="Greek Symbols" pitchFamily="18" charset="2"/>
                  </a:rPr>
                  <a:t>while (changes to </a:t>
                </a:r>
                <a:r>
                  <a:rPr lang="en-US" altLang="zh-CN" sz="2400" i="1" dirty="0">
                    <a:sym typeface="Greek Symbols" pitchFamily="18" charset="2"/>
                  </a:rPr>
                  <a:t>result </a:t>
                </a:r>
                <a:r>
                  <a:rPr lang="en-US" altLang="zh-CN" sz="2400" dirty="0">
                    <a:sym typeface="Greek Symbols" pitchFamily="18" charset="2"/>
                  </a:rPr>
                  <a:t>)  do</a:t>
                </a:r>
              </a:p>
              <a:p>
                <a:pPr algn="l"/>
                <a:r>
                  <a:rPr lang="en-US" altLang="zh-CN" dirty="0">
                    <a:sym typeface="Greek Symbols" pitchFamily="18" charset="2"/>
                  </a:rPr>
                  <a:t>     </a:t>
                </a:r>
                <a:r>
                  <a:rPr lang="en-US" altLang="zh-CN" dirty="0">
                    <a:solidFill>
                      <a:srgbClr val="0000FF"/>
                    </a:solidFill>
                    <a:sym typeface="Greek Symbols" pitchFamily="18" charset="2"/>
                  </a:rPr>
                  <a:t>for each </a:t>
                </a:r>
                <a:r>
                  <a:rPr lang="zh-CN" altLang="en-US" dirty="0">
                    <a:solidFill>
                      <a:srgbClr val="0000FF"/>
                    </a:solidFill>
                    <a:sym typeface="Greek Symbols" pitchFamily="18" charset="2"/>
                  </a:rPr>
                  <a:t>分解后</a:t>
                </a:r>
                <a:r>
                  <a:rPr lang="en-US" altLang="zh-CN" dirty="0">
                    <a:solidFill>
                      <a:srgbClr val="0000FF"/>
                    </a:solidFill>
                    <a:sym typeface="Greek Symbols" pitchFamily="18" charset="2"/>
                  </a:rPr>
                  <a:t>R</a:t>
                </a:r>
                <a:r>
                  <a:rPr lang="en-US" altLang="zh-CN" baseline="-25000" dirty="0">
                    <a:solidFill>
                      <a:srgbClr val="0000FF"/>
                    </a:solidFill>
                    <a:sym typeface="Greek Symbols" pitchFamily="18" charset="2"/>
                  </a:rPr>
                  <a:t>i</a:t>
                </a:r>
              </a:p>
              <a:p>
                <a:pPr algn="l"/>
                <a:r>
                  <a:rPr lang="en-US" altLang="zh-CN" dirty="0">
                    <a:sym typeface="Greek Symbols" pitchFamily="18" charset="2"/>
                  </a:rPr>
                  <a:t>           </a:t>
                </a:r>
                <a:r>
                  <a:rPr lang="en-US" altLang="zh-CN" dirty="0">
                    <a:solidFill>
                      <a:srgbClr val="FF0000"/>
                    </a:solidFill>
                    <a:sym typeface="Greek Symbols" pitchFamily="18" charset="2"/>
                  </a:rPr>
                  <a:t>t</a:t>
                </a:r>
                <a:r>
                  <a:rPr lang="en-US" altLang="zh-CN" dirty="0">
                    <a:sym typeface="Greek Symbols" pitchFamily="18" charset="2"/>
                  </a:rPr>
                  <a:t> = (result ∩ U</a:t>
                </a:r>
                <a:r>
                  <a:rPr lang="en-US" altLang="zh-CN" baseline="-25000" dirty="0">
                    <a:sym typeface="Greek Symbols" pitchFamily="18" charset="2"/>
                  </a:rPr>
                  <a:t>i</a:t>
                </a:r>
                <a:r>
                  <a:rPr lang="en-US" altLang="zh-CN" dirty="0">
                    <a:sym typeface="Greek Symbols" pitchFamily="18" charset="2"/>
                  </a:rPr>
                  <a:t>)</a:t>
                </a:r>
                <a:r>
                  <a:rPr lang="en-US" altLang="zh-CN" baseline="-25000" dirty="0">
                    <a:solidFill>
                      <a:srgbClr val="0000FF"/>
                    </a:solidFill>
                    <a:sym typeface="Greek Symbols" pitchFamily="18" charset="2"/>
                  </a:rPr>
                  <a:t>F</a:t>
                </a:r>
                <a:r>
                  <a:rPr lang="en-US" altLang="zh-CN" baseline="30000" dirty="0">
                    <a:sym typeface="Greek Symbols" pitchFamily="18" charset="2"/>
                  </a:rPr>
                  <a:t>+</a:t>
                </a:r>
                <a:r>
                  <a:rPr lang="en-US" altLang="zh-CN" dirty="0">
                    <a:sym typeface="Greek Symbols" pitchFamily="18" charset="2"/>
                  </a:rPr>
                  <a:t> ∩ U</a:t>
                </a:r>
                <a:r>
                  <a:rPr lang="en-US" altLang="zh-CN" baseline="-25000" dirty="0">
                    <a:sym typeface="Greek Symbols" pitchFamily="18" charset="2"/>
                  </a:rPr>
                  <a:t>i</a:t>
                </a:r>
              </a:p>
              <a:p>
                <a:pPr algn="l"/>
                <a:r>
                  <a:rPr lang="en-US" altLang="zh-CN" baseline="-25000" dirty="0">
                    <a:sym typeface="Greek Symbols" pitchFamily="18" charset="2"/>
                  </a:rPr>
                  <a:t>                 </a:t>
                </a:r>
                <a:r>
                  <a:rPr lang="en-US" altLang="zh-CN" dirty="0">
                    <a:sym typeface="Greek Symbols" pitchFamily="18" charset="2"/>
                  </a:rPr>
                  <a:t>result = result </a:t>
                </a:r>
                <a14:m>
                  <m:oMath xmlns:m="http://schemas.openxmlformats.org/officeDocument/2006/math">
                    <m:r>
                      <a:rPr lang="en-US" altLang="zh-CN" b="0" i="1" smtClean="0">
                        <a:solidFill>
                          <a:srgbClr val="0000FF"/>
                        </a:solidFill>
                        <a:latin typeface="Cambria Math" panose="02040503050406030204" pitchFamily="18" charset="0"/>
                        <a:sym typeface="Greek Symbols" pitchFamily="18" charset="2"/>
                      </a:rPr>
                      <m:t>∪</m:t>
                    </m:r>
                  </m:oMath>
                </a14:m>
                <a:r>
                  <a:rPr lang="en-US" altLang="zh-CN" dirty="0">
                    <a:sym typeface="Greek Symbols" pitchFamily="18" charset="2"/>
                  </a:rPr>
                  <a:t> </a:t>
                </a:r>
                <a:r>
                  <a:rPr lang="en-US" altLang="zh-CN" dirty="0">
                    <a:solidFill>
                      <a:srgbClr val="FF0000"/>
                    </a:solidFill>
                    <a:sym typeface="Greek Symbols" pitchFamily="18" charset="2"/>
                  </a:rPr>
                  <a:t>t</a:t>
                </a:r>
              </a:p>
              <a:p>
                <a:pPr algn="l"/>
                <a:r>
                  <a:rPr lang="en-US" altLang="zh-CN" dirty="0">
                    <a:sym typeface="Greek Symbols" pitchFamily="18" charset="2"/>
                  </a:rPr>
                  <a:t> return result</a:t>
                </a:r>
              </a:p>
            </p:txBody>
          </p:sp>
        </mc:Choice>
        <mc:Fallback xmlns="">
          <p:sp>
            <p:nvSpPr>
              <p:cNvPr id="5" name="文本框 4">
                <a:extLst>
                  <a:ext uri="{FF2B5EF4-FFF2-40B4-BE49-F238E27FC236}">
                    <a16:creationId xmlns:a16="http://schemas.microsoft.com/office/drawing/2014/main" id="{F0F8732D-F9E5-656D-B1D1-AC712D189F40}"/>
                  </a:ext>
                </a:extLst>
              </p:cNvPr>
              <p:cNvSpPr txBox="1">
                <a:spLocks noRot="1" noChangeAspect="1" noMove="1" noResize="1" noEditPoints="1" noAdjustHandles="1" noChangeArrowheads="1" noChangeShapeType="1" noTextEdit="1"/>
              </p:cNvSpPr>
              <p:nvPr/>
            </p:nvSpPr>
            <p:spPr>
              <a:xfrm>
                <a:off x="3530154" y="4509120"/>
                <a:ext cx="4464496" cy="2308324"/>
              </a:xfrm>
              <a:prstGeom prst="rect">
                <a:avLst/>
              </a:prstGeom>
              <a:blipFill>
                <a:blip r:embed="rId3"/>
                <a:stretch>
                  <a:fillRect l="-2049" t="-2116" b="-5291"/>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EBA2FDE6-E038-262E-324E-2AF680B1770D}"/>
              </a:ext>
            </a:extLst>
          </p:cNvPr>
          <p:cNvSpPr txBox="1"/>
          <p:nvPr/>
        </p:nvSpPr>
        <p:spPr>
          <a:xfrm>
            <a:off x="878925" y="5800856"/>
            <a:ext cx="3368167" cy="40011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sz="2000" dirty="0"/>
              <a:t>等价于计算</a:t>
            </a:r>
            <a:r>
              <a:rPr lang="en-US" altLang="zh-CN" sz="2000" dirty="0"/>
              <a:t>F</a:t>
            </a:r>
            <a:r>
              <a:rPr lang="en-US" altLang="zh-CN" sz="2000" baseline="-25000" dirty="0"/>
              <a:t>i</a:t>
            </a:r>
            <a:r>
              <a:rPr lang="zh-CN" altLang="en-US" sz="2000" dirty="0"/>
              <a:t>下的</a:t>
            </a:r>
            <a:r>
              <a:rPr lang="en-US" altLang="zh-CN" sz="2000" dirty="0"/>
              <a:t>result</a:t>
            </a:r>
            <a:r>
              <a:rPr lang="zh-CN" altLang="en-US" sz="2000" dirty="0"/>
              <a:t>闭包</a:t>
            </a:r>
          </a:p>
        </p:txBody>
      </p:sp>
      <p:sp>
        <p:nvSpPr>
          <p:cNvPr id="8" name="箭头: 左右 7">
            <a:extLst>
              <a:ext uri="{FF2B5EF4-FFF2-40B4-BE49-F238E27FC236}">
                <a16:creationId xmlns:a16="http://schemas.microsoft.com/office/drawing/2014/main" id="{AA8ABD93-7C7C-CA5E-AD61-F9C50008CA6C}"/>
              </a:ext>
            </a:extLst>
          </p:cNvPr>
          <p:cNvSpPr/>
          <p:nvPr/>
        </p:nvSpPr>
        <p:spPr bwMode="auto">
          <a:xfrm>
            <a:off x="4278965" y="5856357"/>
            <a:ext cx="361912" cy="270675"/>
          </a:xfrm>
          <a:prstGeom prst="lef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charset="0"/>
            </a:endParaRPr>
          </a:p>
        </p:txBody>
      </p:sp>
      <p:sp>
        <p:nvSpPr>
          <p:cNvPr id="11" name="对话气泡: 圆角矩形 10">
            <a:extLst>
              <a:ext uri="{FF2B5EF4-FFF2-40B4-BE49-F238E27FC236}">
                <a16:creationId xmlns:a16="http://schemas.microsoft.com/office/drawing/2014/main" id="{70D989BB-ACFC-D63C-0E54-B7917D345C97}"/>
              </a:ext>
            </a:extLst>
          </p:cNvPr>
          <p:cNvSpPr/>
          <p:nvPr/>
        </p:nvSpPr>
        <p:spPr bwMode="auto">
          <a:xfrm>
            <a:off x="400781" y="4905405"/>
            <a:ext cx="3096345" cy="715089"/>
          </a:xfrm>
          <a:prstGeom prst="wedgeRoundRectCallout">
            <a:avLst>
              <a:gd name="adj1" fmla="val 68485"/>
              <a:gd name="adj2" fmla="val 29309"/>
              <a:gd name="adj3" fmla="val 16667"/>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dirty="0">
                <a:ln>
                  <a:noFill/>
                </a:ln>
                <a:solidFill>
                  <a:schemeClr val="tx1"/>
                </a:solidFill>
                <a:effectLst/>
              </a:rPr>
              <a:t>在</a:t>
            </a:r>
            <a:r>
              <a:rPr kumimoji="1" lang="en-US" altLang="zh-CN" sz="1800" b="0" i="0" u="none" strike="noStrike" cap="none" normalizeH="0" baseline="0" dirty="0">
                <a:ln>
                  <a:noFill/>
                </a:ln>
                <a:solidFill>
                  <a:schemeClr val="tx1"/>
                </a:solidFill>
                <a:effectLst/>
              </a:rPr>
              <a:t>while</a:t>
            </a:r>
            <a:r>
              <a:rPr kumimoji="1" lang="zh-CN" altLang="en-US" sz="1800" b="0" i="0" u="none" strike="noStrike" cap="none" normalizeH="0" baseline="0" dirty="0">
                <a:ln>
                  <a:noFill/>
                </a:ln>
                <a:solidFill>
                  <a:schemeClr val="tx1"/>
                </a:solidFill>
                <a:effectLst/>
              </a:rPr>
              <a:t>循环中对每个</a:t>
            </a:r>
            <a:r>
              <a:rPr kumimoji="1" lang="en-US" altLang="zh-CN" sz="1800" b="0" i="0" u="none" strike="noStrike" cap="none" normalizeH="0" baseline="0" dirty="0" err="1">
                <a:ln>
                  <a:noFill/>
                </a:ln>
                <a:solidFill>
                  <a:schemeClr val="tx1"/>
                </a:solidFill>
                <a:effectLst/>
              </a:rPr>
              <a:t>i</a:t>
            </a:r>
            <a:r>
              <a:rPr kumimoji="1" lang="zh-CN" altLang="en-US" sz="1800" b="0" i="0" u="none" strike="noStrike" cap="none" normalizeH="0" baseline="0" dirty="0">
                <a:ln>
                  <a:noFill/>
                </a:ln>
                <a:solidFill>
                  <a:schemeClr val="tx1"/>
                </a:solidFill>
                <a:effectLst/>
              </a:rPr>
              <a:t>重复该步骤就可得到</a:t>
            </a:r>
            <a:r>
              <a:rPr kumimoji="1" lang="en-US" altLang="zh-CN" sz="1800" b="0" i="0" u="none" strike="noStrike" cap="none" normalizeH="0" baseline="0" dirty="0">
                <a:ln>
                  <a:noFill/>
                </a:ln>
                <a:solidFill>
                  <a:schemeClr val="tx1"/>
                </a:solidFill>
                <a:effectLst/>
              </a:rPr>
              <a:t>F</a:t>
            </a:r>
            <a:r>
              <a:rPr lang="en-US" altLang="zh-CN" sz="1800" dirty="0"/>
              <a:t>’</a:t>
            </a:r>
            <a:r>
              <a:rPr lang="zh-CN" altLang="en-US" sz="1800" dirty="0"/>
              <a:t>下的闭包</a:t>
            </a:r>
            <a:endParaRPr kumimoji="1" lang="zh-CN" altLang="en-US" sz="1800" b="0" i="0" u="none" strike="noStrike" cap="none" normalizeH="0" baseline="0" dirty="0">
              <a:ln>
                <a:noFill/>
              </a:ln>
              <a:solidFill>
                <a:schemeClr val="tx1"/>
              </a:solidFill>
              <a:effectLst/>
            </a:endParaRPr>
          </a:p>
        </p:txBody>
      </p:sp>
      <p:sp>
        <p:nvSpPr>
          <p:cNvPr id="13" name="灯片编号占位符 12">
            <a:extLst>
              <a:ext uri="{FF2B5EF4-FFF2-40B4-BE49-F238E27FC236}">
                <a16:creationId xmlns:a16="http://schemas.microsoft.com/office/drawing/2014/main" id="{8C73ADD1-417D-F735-36C2-8E04B9FCE1B2}"/>
              </a:ext>
            </a:extLst>
          </p:cNvPr>
          <p:cNvSpPr>
            <a:spLocks noGrp="1"/>
          </p:cNvSpPr>
          <p:nvPr>
            <p:ph type="sldNum" sz="quarter" idx="12"/>
          </p:nvPr>
        </p:nvSpPr>
        <p:spPr/>
        <p:txBody>
          <a:bodyPr/>
          <a:lstStyle/>
          <a:p>
            <a:fld id="{A2D74603-B40B-4D66-8F6E-41C870D48932}" type="slidenum">
              <a:rPr lang="en-US" altLang="zh-CN" smtClean="0"/>
              <a:pPr/>
              <a:t>154</a:t>
            </a:fld>
            <a:r>
              <a:rPr lang="en-US" altLang="zh-CN"/>
              <a:t>/162</a:t>
            </a:r>
            <a:endParaRPr lang="en-US" altLang="zh-CN" dirty="0"/>
          </a:p>
        </p:txBody>
      </p:sp>
    </p:spTree>
    <p:extLst>
      <p:ext uri="{BB962C8B-B14F-4D97-AF65-F5344CB8AC3E}">
        <p14:creationId xmlns:p14="http://schemas.microsoft.com/office/powerpoint/2010/main" val="29272875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0755">
                                            <p:txEl>
                                              <p:pRg st="1" end="1"/>
                                            </p:txEl>
                                          </p:spTgt>
                                        </p:tgtEl>
                                        <p:attrNameLst>
                                          <p:attrName>style.visibility</p:attrName>
                                        </p:attrNameLst>
                                      </p:cBhvr>
                                      <p:to>
                                        <p:strVal val="visible"/>
                                      </p:to>
                                    </p:set>
                                    <p:anim calcmode="lin" valueType="num">
                                      <p:cBhvr additive="base">
                                        <p:cTn id="7" dur="500" fill="hold"/>
                                        <p:tgtEl>
                                          <p:spTgt spid="33075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3075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30755">
                                            <p:txEl>
                                              <p:pRg st="2" end="2"/>
                                            </p:txEl>
                                          </p:spTgt>
                                        </p:tgtEl>
                                        <p:attrNameLst>
                                          <p:attrName>style.visibility</p:attrName>
                                        </p:attrNameLst>
                                      </p:cBhvr>
                                      <p:to>
                                        <p:strVal val="visible"/>
                                      </p:to>
                                    </p:set>
                                    <p:anim calcmode="lin" valueType="num">
                                      <p:cBhvr additive="base">
                                        <p:cTn id="13" dur="500" fill="hold"/>
                                        <p:tgtEl>
                                          <p:spTgt spid="33075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3075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barn(inVertical)">
                                      <p:cBhvr>
                                        <p:cTn id="25" dur="500"/>
                                        <p:tgtEl>
                                          <p:spTgt spid="6"/>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barn(inVertical)">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barn(inVertical)">
                                      <p:cBhvr>
                                        <p:cTn id="3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11" grpId="0" animBg="1"/>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C39E403-E0F9-4C84-8A29-B3FAB52F7A51}" type="datetime1">
              <a:rPr lang="zh-CN" altLang="en-US" smtClean="0"/>
              <a:t>2025/11/6</a:t>
            </a:fld>
            <a:endParaRPr lang="en-US" altLang="zh-CN"/>
          </a:p>
        </p:txBody>
      </p:sp>
      <p:sp>
        <p:nvSpPr>
          <p:cNvPr id="330754" name="Rectangle 2"/>
          <p:cNvSpPr>
            <a:spLocks noGrp="1" noChangeArrowheads="1"/>
          </p:cNvSpPr>
          <p:nvPr>
            <p:ph type="title"/>
          </p:nvPr>
        </p:nvSpPr>
        <p:spPr/>
        <p:txBody>
          <a:bodyPr/>
          <a:lstStyle/>
          <a:p>
            <a:r>
              <a:rPr lang="en-US" altLang="zh-CN" dirty="0"/>
              <a:t>8.4.2 </a:t>
            </a:r>
            <a:r>
              <a:rPr lang="zh-CN" altLang="en-US" dirty="0"/>
              <a:t>分解的无损连接性和保持函数依赖性</a:t>
            </a:r>
          </a:p>
        </p:txBody>
      </p:sp>
      <p:sp>
        <p:nvSpPr>
          <p:cNvPr id="3" name="页脚占位符 2">
            <a:extLst>
              <a:ext uri="{FF2B5EF4-FFF2-40B4-BE49-F238E27FC236}">
                <a16:creationId xmlns:a16="http://schemas.microsoft.com/office/drawing/2014/main" id="{A10E780D-9321-44D9-6A0B-C9876440D02E}"/>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D0BB2185-FCCE-1AA1-40F9-00C3A0B2F56B}"/>
              </a:ext>
            </a:extLst>
          </p:cNvPr>
          <p:cNvSpPr>
            <a:spLocks noGrp="1"/>
          </p:cNvSpPr>
          <p:nvPr>
            <p:ph type="sldNum" sz="quarter" idx="12"/>
          </p:nvPr>
        </p:nvSpPr>
        <p:spPr/>
        <p:txBody>
          <a:bodyPr/>
          <a:lstStyle/>
          <a:p>
            <a:fld id="{A2D74603-B40B-4D66-8F6E-41C870D48932}" type="slidenum">
              <a:rPr lang="en-US" altLang="zh-CN" smtClean="0"/>
              <a:pPr/>
              <a:t>155</a:t>
            </a:fld>
            <a:r>
              <a:rPr lang="en-US" altLang="zh-CN"/>
              <a:t>/162</a:t>
            </a:r>
            <a:endParaRPr lang="en-US" altLang="zh-CN" dirty="0"/>
          </a:p>
        </p:txBody>
      </p:sp>
      <p:sp>
        <p:nvSpPr>
          <p:cNvPr id="8" name="Rectangle 1027"/>
          <p:cNvSpPr txBox="1">
            <a:spLocks noChangeArrowheads="1"/>
          </p:cNvSpPr>
          <p:nvPr/>
        </p:nvSpPr>
        <p:spPr bwMode="auto">
          <a:xfrm>
            <a:off x="569913" y="1447800"/>
            <a:ext cx="8574087" cy="5253038"/>
          </a:xfrm>
          <a:prstGeom prst="rect">
            <a:avLst/>
          </a:prstGeom>
          <a:solidFill>
            <a:schemeClr val="bg1"/>
          </a:solidFill>
          <a:ln>
            <a:noFill/>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fontAlgn="base">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a:lnSpc>
                <a:spcPct val="95000"/>
              </a:lnSpc>
            </a:pPr>
            <a:r>
              <a:rPr kumimoji="0" lang="zh-CN" altLang="en-US" kern="0" dirty="0"/>
              <a:t>例：设关系模式</a:t>
            </a:r>
            <a:r>
              <a:rPr kumimoji="0" lang="en-US" altLang="zh-CN" kern="0" dirty="0"/>
              <a:t>R&lt;U, F&gt;，U = {C, S, Z},</a:t>
            </a:r>
          </a:p>
          <a:p>
            <a:pPr lvl="1">
              <a:lnSpc>
                <a:spcPct val="95000"/>
              </a:lnSpc>
              <a:buFont typeface="Wingdings" pitchFamily="2" charset="2"/>
              <a:buNone/>
            </a:pPr>
            <a:r>
              <a:rPr kumimoji="0" lang="en-US" altLang="zh-CN" sz="3200" kern="0" dirty="0"/>
              <a:t>         F = {CS </a:t>
            </a:r>
            <a:r>
              <a:rPr kumimoji="0" lang="en-US" altLang="zh-CN" sz="3200" kern="0" dirty="0">
                <a:sym typeface="Symbol" pitchFamily="18" charset="2"/>
              </a:rPr>
              <a:t></a:t>
            </a:r>
            <a:r>
              <a:rPr kumimoji="0" lang="en-US" altLang="zh-CN" sz="3200" kern="0" dirty="0"/>
              <a:t> Z, Z </a:t>
            </a:r>
            <a:r>
              <a:rPr kumimoji="0" lang="en-US" altLang="zh-CN" sz="3200" kern="0" dirty="0">
                <a:sym typeface="Symbol" pitchFamily="18" charset="2"/>
              </a:rPr>
              <a:t></a:t>
            </a:r>
            <a:r>
              <a:rPr kumimoji="0" lang="en-US" altLang="zh-CN" sz="3200" kern="0" dirty="0"/>
              <a:t> C}，</a:t>
            </a:r>
          </a:p>
          <a:p>
            <a:pPr lvl="1">
              <a:lnSpc>
                <a:spcPct val="95000"/>
              </a:lnSpc>
              <a:buFont typeface="Wingdings" pitchFamily="2" charset="2"/>
              <a:buNone/>
            </a:pPr>
            <a:r>
              <a:rPr kumimoji="0" lang="en-US" altLang="zh-CN" sz="3200" kern="0" dirty="0">
                <a:sym typeface="Symbol" pitchFamily="18" charset="2"/>
              </a:rPr>
              <a:t>        </a:t>
            </a:r>
            <a:r>
              <a:rPr kumimoji="0" lang="en-US" altLang="zh-CN" sz="3200" kern="0" dirty="0">
                <a:solidFill>
                  <a:schemeClr val="hlink"/>
                </a:solidFill>
                <a:sym typeface="Symbol" pitchFamily="18" charset="2"/>
              </a:rPr>
              <a:t>ρ= { </a:t>
            </a:r>
            <a:r>
              <a:rPr kumimoji="0" lang="en-US" altLang="zh-CN" sz="3200" kern="0" dirty="0">
                <a:solidFill>
                  <a:schemeClr val="hlink"/>
                </a:solidFill>
              </a:rPr>
              <a:t>R</a:t>
            </a:r>
            <a:r>
              <a:rPr kumimoji="0" lang="en-US" altLang="zh-CN" sz="3200" kern="0" baseline="-16000" dirty="0">
                <a:solidFill>
                  <a:schemeClr val="hlink"/>
                </a:solidFill>
              </a:rPr>
              <a:t>1</a:t>
            </a:r>
            <a:r>
              <a:rPr kumimoji="0" lang="en-US" altLang="zh-CN" sz="3200" kern="0" dirty="0">
                <a:solidFill>
                  <a:schemeClr val="hlink"/>
                </a:solidFill>
                <a:sym typeface="Symbol" pitchFamily="18" charset="2"/>
              </a:rPr>
              <a:t>(S, Z), </a:t>
            </a:r>
            <a:r>
              <a:rPr kumimoji="0" lang="en-US" altLang="zh-CN" sz="3200" kern="0" dirty="0">
                <a:solidFill>
                  <a:schemeClr val="hlink"/>
                </a:solidFill>
              </a:rPr>
              <a:t>R</a:t>
            </a:r>
            <a:r>
              <a:rPr kumimoji="0" lang="en-US" altLang="zh-CN" sz="3200" kern="0" baseline="-16000" dirty="0">
                <a:solidFill>
                  <a:schemeClr val="hlink"/>
                </a:solidFill>
              </a:rPr>
              <a:t>2</a:t>
            </a:r>
            <a:r>
              <a:rPr kumimoji="0" lang="en-US" altLang="zh-CN" sz="3200" kern="0" dirty="0">
                <a:solidFill>
                  <a:schemeClr val="hlink"/>
                </a:solidFill>
                <a:sym typeface="Symbol" pitchFamily="18" charset="2"/>
              </a:rPr>
              <a:t>(C, Z) }</a:t>
            </a:r>
          </a:p>
          <a:p>
            <a:pPr lvl="1">
              <a:lnSpc>
                <a:spcPct val="95000"/>
              </a:lnSpc>
            </a:pPr>
            <a:r>
              <a:rPr kumimoji="0" lang="en-US" altLang="zh-CN" sz="3200" kern="0" dirty="0"/>
              <a:t>R</a:t>
            </a:r>
            <a:r>
              <a:rPr kumimoji="0" lang="en-US" altLang="zh-CN" sz="3200" kern="0" baseline="-16000" dirty="0"/>
              <a:t>1</a:t>
            </a:r>
            <a:r>
              <a:rPr kumimoji="0" lang="en-US" altLang="zh-CN" sz="3200" kern="0" dirty="0"/>
              <a:t>∩R</a:t>
            </a:r>
            <a:r>
              <a:rPr kumimoji="0" lang="en-US" altLang="zh-CN" sz="3200" kern="0" baseline="-16000" dirty="0"/>
              <a:t>2</a:t>
            </a:r>
            <a:r>
              <a:rPr kumimoji="0" lang="en-US" altLang="zh-CN" sz="3200" kern="0" dirty="0">
                <a:sym typeface="Symbol" pitchFamily="18" charset="2"/>
              </a:rPr>
              <a:t> = Z,   </a:t>
            </a:r>
            <a:r>
              <a:rPr kumimoji="0" lang="en-US" altLang="zh-CN" sz="3200" kern="0" dirty="0"/>
              <a:t>R</a:t>
            </a:r>
            <a:r>
              <a:rPr kumimoji="0" lang="en-US" altLang="zh-CN" sz="3200" kern="0" baseline="-16000" dirty="0"/>
              <a:t>2</a:t>
            </a:r>
            <a:r>
              <a:rPr kumimoji="0" lang="en-US" altLang="zh-CN" sz="3200" kern="0" dirty="0"/>
              <a:t>－R</a:t>
            </a:r>
            <a:r>
              <a:rPr kumimoji="0" lang="en-US" altLang="zh-CN" sz="3200" kern="0" baseline="-16000" dirty="0"/>
              <a:t>1</a:t>
            </a:r>
            <a:r>
              <a:rPr kumimoji="0" lang="en-US" altLang="zh-CN" sz="3200" kern="0" dirty="0">
                <a:sym typeface="Symbol" pitchFamily="18" charset="2"/>
              </a:rPr>
              <a:t> = C </a:t>
            </a:r>
          </a:p>
          <a:p>
            <a:pPr lvl="1">
              <a:lnSpc>
                <a:spcPct val="95000"/>
              </a:lnSpc>
              <a:buFont typeface="Wingdings" pitchFamily="2" charset="2"/>
              <a:buNone/>
            </a:pPr>
            <a:r>
              <a:rPr kumimoji="0" lang="en-US" altLang="zh-CN" sz="3200" kern="0" dirty="0">
                <a:sym typeface="Symbol" pitchFamily="18" charset="2"/>
              </a:rPr>
              <a:t>  ∵  </a:t>
            </a:r>
            <a:r>
              <a:rPr kumimoji="0" lang="en-US" altLang="zh-CN" sz="3200" kern="0" dirty="0"/>
              <a:t>R</a:t>
            </a:r>
            <a:r>
              <a:rPr kumimoji="0" lang="en-US" altLang="zh-CN" sz="3200" kern="0" baseline="-16000" dirty="0"/>
              <a:t>1</a:t>
            </a:r>
            <a:r>
              <a:rPr kumimoji="0" lang="en-US" altLang="zh-CN" sz="3200" kern="0" dirty="0"/>
              <a:t>∩R</a:t>
            </a:r>
            <a:r>
              <a:rPr kumimoji="0" lang="en-US" altLang="zh-CN" sz="3200" kern="0" baseline="-16000" dirty="0"/>
              <a:t>2</a:t>
            </a:r>
            <a:r>
              <a:rPr kumimoji="0" lang="en-US" altLang="zh-CN" sz="3200" kern="0" dirty="0">
                <a:sym typeface="Symbol" pitchFamily="18" charset="2"/>
              </a:rPr>
              <a:t>  </a:t>
            </a:r>
            <a:r>
              <a:rPr kumimoji="0" lang="en-US" altLang="zh-CN" sz="3200" kern="0" dirty="0"/>
              <a:t>R</a:t>
            </a:r>
            <a:r>
              <a:rPr kumimoji="0" lang="en-US" altLang="zh-CN" sz="3200" kern="0" baseline="-16000" dirty="0"/>
              <a:t>2</a:t>
            </a:r>
            <a:r>
              <a:rPr kumimoji="0" lang="en-US" altLang="zh-CN" sz="3200" kern="0" dirty="0"/>
              <a:t>－R</a:t>
            </a:r>
            <a:r>
              <a:rPr kumimoji="0" lang="en-US" altLang="zh-CN" sz="3200" kern="0" baseline="-16000" dirty="0"/>
              <a:t>1</a:t>
            </a:r>
            <a:r>
              <a:rPr kumimoji="0" lang="en-US" altLang="zh-CN" sz="3200" kern="0" dirty="0">
                <a:sym typeface="Symbol" pitchFamily="18" charset="2"/>
              </a:rPr>
              <a:t>   </a:t>
            </a:r>
            <a:r>
              <a:rPr kumimoji="0" lang="en-US" altLang="zh-CN" sz="3200" kern="0" dirty="0"/>
              <a:t>( </a:t>
            </a:r>
            <a:r>
              <a:rPr kumimoji="0" lang="zh-CN" altLang="en-US" sz="3200" kern="0" dirty="0"/>
              <a:t>即 </a:t>
            </a:r>
            <a:r>
              <a:rPr kumimoji="0" lang="en-US" altLang="zh-CN" sz="3200" kern="0" dirty="0"/>
              <a:t>Z </a:t>
            </a:r>
            <a:r>
              <a:rPr kumimoji="0" lang="en-US" altLang="zh-CN" sz="3200" kern="0" dirty="0">
                <a:sym typeface="Symbol" pitchFamily="18" charset="2"/>
              </a:rPr>
              <a:t></a:t>
            </a:r>
            <a:r>
              <a:rPr kumimoji="0" lang="en-US" altLang="zh-CN" sz="3200" kern="0" dirty="0"/>
              <a:t> C)</a:t>
            </a:r>
            <a:endParaRPr kumimoji="0" lang="en-US" altLang="zh-CN" sz="3200" kern="0" dirty="0">
              <a:sym typeface="Symbol" pitchFamily="18" charset="2"/>
            </a:endParaRPr>
          </a:p>
          <a:p>
            <a:pPr lvl="1">
              <a:lnSpc>
                <a:spcPct val="95000"/>
              </a:lnSpc>
              <a:buFont typeface="Symbol" pitchFamily="18" charset="2"/>
              <a:buNone/>
            </a:pPr>
            <a:r>
              <a:rPr kumimoji="0" lang="en-US" altLang="zh-CN" sz="3200" kern="0" dirty="0">
                <a:sym typeface="Symbol" pitchFamily="18" charset="2"/>
              </a:rPr>
              <a:t>  ∴ </a:t>
            </a:r>
            <a:r>
              <a:rPr kumimoji="0" lang="zh-CN" altLang="en-US" sz="3200" kern="0" dirty="0">
                <a:sym typeface="Symbol" pitchFamily="18" charset="2"/>
              </a:rPr>
              <a:t>分解是</a:t>
            </a:r>
            <a:r>
              <a:rPr kumimoji="0" lang="zh-CN" altLang="en-US" sz="3200" b="1" kern="0" dirty="0">
                <a:solidFill>
                  <a:srgbClr val="0000FF"/>
                </a:solidFill>
                <a:sym typeface="Symbol" pitchFamily="18" charset="2"/>
              </a:rPr>
              <a:t>无损的</a:t>
            </a:r>
            <a:r>
              <a:rPr kumimoji="0" lang="zh-CN" altLang="en-US" sz="3200" kern="0" dirty="0">
                <a:sym typeface="Symbol" pitchFamily="18" charset="2"/>
              </a:rPr>
              <a:t>。</a:t>
            </a:r>
          </a:p>
          <a:p>
            <a:pPr lvl="1">
              <a:lnSpc>
                <a:spcPct val="95000"/>
              </a:lnSpc>
            </a:pPr>
            <a:r>
              <a:rPr kumimoji="0" lang="en-US" altLang="zh-CN" sz="3200" kern="0" dirty="0">
                <a:sym typeface="Symbol" pitchFamily="18" charset="2"/>
              </a:rPr>
              <a:t>F</a:t>
            </a:r>
            <a:r>
              <a:rPr kumimoji="0" lang="en-US" altLang="zh-CN" sz="3200" kern="0" baseline="-25000" dirty="0">
                <a:sym typeface="Symbol" pitchFamily="18" charset="2"/>
              </a:rPr>
              <a:t>1</a:t>
            </a:r>
            <a:r>
              <a:rPr kumimoji="0" lang="en-US" altLang="zh-CN" sz="3200" kern="0" dirty="0">
                <a:sym typeface="Symbol" pitchFamily="18" charset="2"/>
              </a:rPr>
              <a:t>=</a:t>
            </a:r>
            <a:r>
              <a:rPr kumimoji="0" lang="zh-CN" altLang="en-US" sz="3200" kern="0" dirty="0">
                <a:sym typeface="Symbol" pitchFamily="18" charset="2"/>
              </a:rPr>
              <a:t>∏</a:t>
            </a:r>
            <a:r>
              <a:rPr kumimoji="0" lang="en-US" altLang="zh-CN" sz="3200" kern="0" baseline="-25000" dirty="0"/>
              <a:t>R1</a:t>
            </a:r>
            <a:r>
              <a:rPr kumimoji="0" lang="en-US" altLang="zh-CN" sz="3200" kern="0" dirty="0">
                <a:sym typeface="Symbol" pitchFamily="18" charset="2"/>
              </a:rPr>
              <a:t>(F) = { }， F</a:t>
            </a:r>
            <a:r>
              <a:rPr kumimoji="0" lang="en-US" altLang="zh-CN" sz="3200" kern="0" baseline="-25000" dirty="0">
                <a:sym typeface="Symbol" pitchFamily="18" charset="2"/>
              </a:rPr>
              <a:t>2</a:t>
            </a:r>
            <a:r>
              <a:rPr kumimoji="0" lang="en-US" altLang="zh-CN" sz="3200" kern="0" dirty="0">
                <a:sym typeface="Symbol" pitchFamily="18" charset="2"/>
              </a:rPr>
              <a:t>=∏ </a:t>
            </a:r>
            <a:r>
              <a:rPr kumimoji="0" lang="en-US" altLang="zh-CN" sz="3200" kern="0" baseline="-25000" dirty="0"/>
              <a:t>R2</a:t>
            </a:r>
            <a:r>
              <a:rPr kumimoji="0" lang="en-US" altLang="zh-CN" sz="3200" kern="0" dirty="0">
                <a:sym typeface="Symbol" pitchFamily="18" charset="2"/>
              </a:rPr>
              <a:t>(F) = { </a:t>
            </a:r>
            <a:r>
              <a:rPr kumimoji="0" lang="en-US" altLang="zh-CN" sz="3200" kern="0" dirty="0"/>
              <a:t>Z </a:t>
            </a:r>
            <a:r>
              <a:rPr kumimoji="0" lang="en-US" altLang="zh-CN" sz="3200" kern="0" dirty="0">
                <a:sym typeface="Symbol" pitchFamily="18" charset="2"/>
              </a:rPr>
              <a:t></a:t>
            </a:r>
            <a:r>
              <a:rPr kumimoji="0" lang="en-US" altLang="zh-CN" sz="3200" kern="0" dirty="0"/>
              <a:t> C }</a:t>
            </a:r>
          </a:p>
          <a:p>
            <a:pPr lvl="1">
              <a:lnSpc>
                <a:spcPct val="95000"/>
              </a:lnSpc>
              <a:buFont typeface="Symbol" pitchFamily="18" charset="2"/>
              <a:buNone/>
            </a:pPr>
            <a:r>
              <a:rPr kumimoji="0" lang="en-US" altLang="zh-CN" sz="3200" kern="0" dirty="0">
                <a:sym typeface="Symbol" pitchFamily="18" charset="2"/>
              </a:rPr>
              <a:t>   ∏ </a:t>
            </a:r>
            <a:r>
              <a:rPr kumimoji="0" lang="en-US" altLang="zh-CN" sz="3200" kern="0" baseline="-25000" dirty="0"/>
              <a:t>R1</a:t>
            </a:r>
            <a:r>
              <a:rPr kumimoji="0" lang="en-US" altLang="zh-CN" sz="3200" kern="0" dirty="0">
                <a:sym typeface="Symbol" pitchFamily="18" charset="2"/>
              </a:rPr>
              <a:t> (F) ∪ ∏ </a:t>
            </a:r>
            <a:r>
              <a:rPr kumimoji="0" lang="en-US" altLang="zh-CN" sz="3200" kern="0" baseline="-25000" dirty="0"/>
              <a:t>R2</a:t>
            </a:r>
            <a:r>
              <a:rPr kumimoji="0" lang="en-US" altLang="zh-CN" sz="3200" kern="0" dirty="0">
                <a:sym typeface="Symbol" pitchFamily="18" charset="2"/>
              </a:rPr>
              <a:t> (F) = { </a:t>
            </a:r>
            <a:r>
              <a:rPr kumimoji="0" lang="en-US" altLang="zh-CN" sz="3200" kern="0" dirty="0"/>
              <a:t>Z </a:t>
            </a:r>
            <a:r>
              <a:rPr kumimoji="0" lang="en-US" altLang="zh-CN" sz="3200" kern="0" dirty="0">
                <a:sym typeface="Symbol" pitchFamily="18" charset="2"/>
              </a:rPr>
              <a:t></a:t>
            </a:r>
            <a:r>
              <a:rPr kumimoji="0" lang="en-US" altLang="zh-CN" sz="3200" kern="0" dirty="0"/>
              <a:t> C }</a:t>
            </a:r>
          </a:p>
          <a:p>
            <a:pPr>
              <a:lnSpc>
                <a:spcPct val="95000"/>
              </a:lnSpc>
              <a:buFont typeface="Symbol" pitchFamily="18" charset="2"/>
              <a:buNone/>
            </a:pPr>
            <a:r>
              <a:rPr kumimoji="0" lang="zh-CN" altLang="en-US" kern="0" dirty="0">
                <a:solidFill>
                  <a:srgbClr val="0000FF"/>
                </a:solidFill>
              </a:rPr>
              <a:t>丢失了</a:t>
            </a:r>
            <a:r>
              <a:rPr kumimoji="0" lang="zh-CN" altLang="en-US" kern="0" dirty="0"/>
              <a:t>函数依赖 </a:t>
            </a:r>
            <a:r>
              <a:rPr kumimoji="0" lang="en-US" altLang="zh-CN" kern="0" dirty="0"/>
              <a:t>CS </a:t>
            </a:r>
            <a:r>
              <a:rPr kumimoji="0" lang="en-US" altLang="zh-CN" kern="0" dirty="0">
                <a:sym typeface="Symbol" pitchFamily="18" charset="2"/>
              </a:rPr>
              <a:t></a:t>
            </a:r>
            <a:r>
              <a:rPr kumimoji="0" lang="en-US" altLang="zh-CN" kern="0" dirty="0"/>
              <a:t> Z, </a:t>
            </a:r>
            <a:r>
              <a:rPr kumimoji="0" lang="zh-CN" altLang="en-US" kern="0" dirty="0">
                <a:sym typeface="Symbol" pitchFamily="18" charset="2"/>
              </a:rPr>
              <a:t>分解</a:t>
            </a:r>
            <a:r>
              <a:rPr kumimoji="0" lang="zh-CN" altLang="en-US" b="1" kern="0" dirty="0">
                <a:solidFill>
                  <a:srgbClr val="FF0000"/>
                </a:solidFill>
                <a:sym typeface="Symbol" pitchFamily="18" charset="2"/>
              </a:rPr>
              <a:t>不保持</a:t>
            </a:r>
            <a:r>
              <a:rPr kumimoji="0" lang="zh-CN" altLang="en-US" kern="0" dirty="0">
                <a:solidFill>
                  <a:schemeClr val="tx2"/>
                </a:solidFill>
                <a:sym typeface="Symbol" pitchFamily="18" charset="2"/>
              </a:rPr>
              <a:t>函数依赖</a:t>
            </a:r>
            <a:endParaRPr kumimoji="0" lang="en-US" altLang="zh-CN" kern="0" dirty="0">
              <a:solidFill>
                <a:schemeClr val="tx2"/>
              </a:solidFill>
              <a:sym typeface="Symbol" pitchFamily="18" charset="2"/>
            </a:endParaRPr>
          </a:p>
        </p:txBody>
      </p:sp>
    </p:spTree>
    <p:extLst>
      <p:ext uri="{BB962C8B-B14F-4D97-AF65-F5344CB8AC3E}">
        <p14:creationId xmlns:p14="http://schemas.microsoft.com/office/powerpoint/2010/main" val="39043997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left)">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wipe(left)">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wipe(left)">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wipe(left)">
                                      <p:cBhvr>
                                        <p:cTn id="27" dur="500"/>
                                        <p:tgtEl>
                                          <p:spTgt spid="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wipe(left)">
                                      <p:cBhvr>
                                        <p:cTn id="32" dur="500"/>
                                        <p:tgtEl>
                                          <p:spTgt spid="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Effect transition="in" filter="wipe(left)">
                                      <p:cBhvr>
                                        <p:cTn id="37" dur="500"/>
                                        <p:tgtEl>
                                          <p:spTgt spid="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8">
                                            <p:txEl>
                                              <p:pRg st="7" end="7"/>
                                            </p:txEl>
                                          </p:spTgt>
                                        </p:tgtEl>
                                        <p:attrNameLst>
                                          <p:attrName>style.visibility</p:attrName>
                                        </p:attrNameLst>
                                      </p:cBhvr>
                                      <p:to>
                                        <p:strVal val="visible"/>
                                      </p:to>
                                    </p:set>
                                    <p:animEffect transition="in" filter="wipe(left)">
                                      <p:cBhvr>
                                        <p:cTn id="42" dur="500"/>
                                        <p:tgtEl>
                                          <p:spTgt spid="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8">
                                            <p:txEl>
                                              <p:pRg st="8" end="8"/>
                                            </p:txEl>
                                          </p:spTgt>
                                        </p:tgtEl>
                                        <p:attrNameLst>
                                          <p:attrName>style.visibility</p:attrName>
                                        </p:attrNameLst>
                                      </p:cBhvr>
                                      <p:to>
                                        <p:strVal val="visible"/>
                                      </p:to>
                                    </p:set>
                                    <p:animEffect transition="in" filter="wipe(left)">
                                      <p:cBhvr>
                                        <p:cTn id="47" dur="500"/>
                                        <p:tgtEl>
                                          <p:spTgt spid="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bldLvl="2" autoUpdateAnimBg="0"/>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EE06B65-165F-4FCE-AF9E-A772896AC98A}" type="datetime1">
              <a:rPr lang="zh-CN" altLang="en-US" smtClean="0"/>
              <a:t>2025/11/6</a:t>
            </a:fld>
            <a:endParaRPr lang="en-US" altLang="zh-CN"/>
          </a:p>
        </p:txBody>
      </p:sp>
      <p:sp>
        <p:nvSpPr>
          <p:cNvPr id="331778" name="Rectangle 2"/>
          <p:cNvSpPr>
            <a:spLocks noGrp="1" noChangeArrowheads="1"/>
          </p:cNvSpPr>
          <p:nvPr>
            <p:ph type="title"/>
          </p:nvPr>
        </p:nvSpPr>
        <p:spPr/>
        <p:txBody>
          <a:bodyPr/>
          <a:lstStyle/>
          <a:p>
            <a:r>
              <a:rPr lang="en-US" altLang="zh-CN" dirty="0"/>
              <a:t>8.4.3 </a:t>
            </a:r>
            <a:r>
              <a:rPr lang="zh-CN" altLang="en-US" dirty="0"/>
              <a:t>模式分解算法</a:t>
            </a:r>
          </a:p>
        </p:txBody>
      </p:sp>
      <p:sp>
        <p:nvSpPr>
          <p:cNvPr id="331779" name="Rectangle 3"/>
          <p:cNvSpPr>
            <a:spLocks noGrp="1" noChangeArrowheads="1"/>
          </p:cNvSpPr>
          <p:nvPr>
            <p:ph type="body" idx="1"/>
          </p:nvPr>
        </p:nvSpPr>
        <p:spPr/>
        <p:txBody>
          <a:bodyPr/>
          <a:lstStyle/>
          <a:p>
            <a:pPr marL="609600" indent="-609600">
              <a:buFont typeface="Wingdings" pitchFamily="2" charset="2"/>
              <a:buNone/>
            </a:pPr>
            <a:r>
              <a:rPr lang="zh-CN" altLang="en-US" dirty="0"/>
              <a:t>要记住的三个事实</a:t>
            </a:r>
          </a:p>
          <a:p>
            <a:pPr marL="609600" indent="-609600">
              <a:buFontTx/>
              <a:buAutoNum type="arabicPeriod"/>
            </a:pPr>
            <a:r>
              <a:rPr lang="zh-CN" altLang="en-US" dirty="0"/>
              <a:t>要求分解</a:t>
            </a:r>
            <a:r>
              <a:rPr lang="zh-CN" altLang="en-US" b="1" u="sng" dirty="0">
                <a:solidFill>
                  <a:schemeClr val="tx2"/>
                </a:solidFill>
              </a:rPr>
              <a:t>保持</a:t>
            </a:r>
            <a:r>
              <a:rPr lang="zh-CN" altLang="en-US" u="sng" dirty="0">
                <a:solidFill>
                  <a:schemeClr val="tx2"/>
                </a:solidFill>
              </a:rPr>
              <a:t>函数依赖</a:t>
            </a:r>
            <a:r>
              <a:rPr lang="zh-CN" altLang="en-US" dirty="0"/>
              <a:t>，模式分解总</a:t>
            </a:r>
            <a:r>
              <a:rPr lang="zh-CN" altLang="en-US" dirty="0">
                <a:solidFill>
                  <a:schemeClr val="tx2"/>
                </a:solidFill>
              </a:rPr>
              <a:t>可以达到</a:t>
            </a:r>
            <a:r>
              <a:rPr lang="en-US" altLang="zh-CN" u="sng" dirty="0">
                <a:solidFill>
                  <a:srgbClr val="FF0000"/>
                </a:solidFill>
              </a:rPr>
              <a:t>3NF</a:t>
            </a:r>
            <a:r>
              <a:rPr lang="zh-CN" altLang="en-US" dirty="0"/>
              <a:t>，不一定能达到</a:t>
            </a:r>
            <a:r>
              <a:rPr lang="en-US" altLang="zh-CN" dirty="0"/>
              <a:t>BCNF</a:t>
            </a:r>
            <a:r>
              <a:rPr lang="zh-CN" altLang="en-US" dirty="0"/>
              <a:t>。</a:t>
            </a:r>
          </a:p>
          <a:p>
            <a:pPr marL="609600" indent="-609600">
              <a:buFontTx/>
              <a:buAutoNum type="arabicPeriod"/>
            </a:pPr>
            <a:r>
              <a:rPr lang="zh-CN" altLang="en-US" dirty="0"/>
              <a:t>要求分解</a:t>
            </a:r>
            <a:r>
              <a:rPr lang="zh-CN" altLang="en-US" b="1" dirty="0"/>
              <a:t>既</a:t>
            </a:r>
            <a:r>
              <a:rPr lang="zh-CN" altLang="en-US" b="1" u="sng" dirty="0">
                <a:solidFill>
                  <a:schemeClr val="tx2"/>
                </a:solidFill>
              </a:rPr>
              <a:t>保持函数依赖</a:t>
            </a:r>
            <a:r>
              <a:rPr lang="zh-CN" altLang="en-US" b="1" u="sng" dirty="0"/>
              <a:t>又</a:t>
            </a:r>
            <a:r>
              <a:rPr lang="zh-CN" altLang="en-US" b="1" u="sng" dirty="0">
                <a:solidFill>
                  <a:schemeClr val="tx2"/>
                </a:solidFill>
              </a:rPr>
              <a:t>具有无损连接性</a:t>
            </a:r>
            <a:r>
              <a:rPr lang="zh-CN" altLang="en-US" dirty="0"/>
              <a:t>，可以</a:t>
            </a:r>
            <a:r>
              <a:rPr lang="zh-CN" altLang="en-US" dirty="0">
                <a:solidFill>
                  <a:schemeClr val="tx2"/>
                </a:solidFill>
              </a:rPr>
              <a:t>达到</a:t>
            </a:r>
            <a:r>
              <a:rPr lang="en-US" altLang="zh-CN" u="sng" dirty="0">
                <a:solidFill>
                  <a:srgbClr val="FF0000"/>
                </a:solidFill>
              </a:rPr>
              <a:t>3NF</a:t>
            </a:r>
            <a:r>
              <a:rPr lang="zh-CN" altLang="en-US" dirty="0"/>
              <a:t>，不一定能达到</a:t>
            </a:r>
            <a:r>
              <a:rPr lang="en-US" altLang="zh-CN" dirty="0"/>
              <a:t>BCNF</a:t>
            </a:r>
            <a:r>
              <a:rPr lang="zh-CN" altLang="en-US" dirty="0"/>
              <a:t>。</a:t>
            </a:r>
          </a:p>
          <a:p>
            <a:pPr marL="609600" indent="-609600">
              <a:buFontTx/>
              <a:buAutoNum type="arabicPeriod"/>
            </a:pPr>
            <a:r>
              <a:rPr lang="zh-CN" altLang="en-US" dirty="0"/>
              <a:t>要求分解</a:t>
            </a:r>
            <a:r>
              <a:rPr lang="zh-CN" altLang="en-US" b="1" dirty="0">
                <a:solidFill>
                  <a:schemeClr val="tx2"/>
                </a:solidFill>
              </a:rPr>
              <a:t>具有无损连接性</a:t>
            </a:r>
            <a:r>
              <a:rPr lang="zh-CN" altLang="en-US" dirty="0"/>
              <a:t>，可以</a:t>
            </a:r>
            <a:r>
              <a:rPr lang="zh-CN" altLang="en-US" dirty="0">
                <a:solidFill>
                  <a:schemeClr val="tx2"/>
                </a:solidFill>
              </a:rPr>
              <a:t>达到</a:t>
            </a:r>
            <a:r>
              <a:rPr lang="en-US" altLang="zh-CN" dirty="0">
                <a:solidFill>
                  <a:schemeClr val="tx2"/>
                </a:solidFill>
              </a:rPr>
              <a:t>4NF</a:t>
            </a:r>
            <a:r>
              <a:rPr lang="zh-CN" altLang="en-US" dirty="0"/>
              <a:t>。</a:t>
            </a:r>
          </a:p>
          <a:p>
            <a:pPr marL="609600" indent="-609600">
              <a:buFontTx/>
              <a:buNone/>
            </a:pPr>
            <a:endParaRPr lang="en-US" altLang="zh-CN" sz="2800" b="1" dirty="0">
              <a:effectLst>
                <a:outerShdw blurRad="38100" dist="38100" dir="2700000" algn="tl">
                  <a:srgbClr val="000000">
                    <a:alpha val="43137"/>
                  </a:srgbClr>
                </a:outerShdw>
              </a:effectLst>
            </a:endParaRPr>
          </a:p>
          <a:p>
            <a:pPr marL="609600" indent="-609600">
              <a:buFontTx/>
              <a:buNone/>
            </a:pPr>
            <a:r>
              <a:rPr lang="zh-CN" altLang="en-US" sz="2800" b="1" dirty="0">
                <a:effectLst>
                  <a:outerShdw blurRad="38100" dist="38100" dir="2700000" algn="tl">
                    <a:srgbClr val="000000">
                      <a:alpha val="43137"/>
                    </a:srgbClr>
                  </a:outerShdw>
                </a:effectLst>
              </a:rPr>
              <a:t>分解算法</a:t>
            </a:r>
            <a:r>
              <a:rPr lang="zh-CN" altLang="en-US" sz="2800" dirty="0"/>
              <a:t>，要求掌握算法</a:t>
            </a:r>
            <a:r>
              <a:rPr lang="en-US" altLang="zh-CN" sz="2800" dirty="0"/>
              <a:t>6.3(</a:t>
            </a:r>
            <a:r>
              <a:rPr lang="zh-CN" altLang="en-US" sz="2800" dirty="0">
                <a:solidFill>
                  <a:schemeClr val="hlink"/>
                </a:solidFill>
              </a:rPr>
              <a:t>合成法</a:t>
            </a:r>
            <a:r>
              <a:rPr lang="en-US" altLang="zh-CN" sz="2800" dirty="0"/>
              <a:t>)</a:t>
            </a:r>
            <a:r>
              <a:rPr lang="zh-CN" altLang="en-US" sz="2800" dirty="0"/>
              <a:t>和</a:t>
            </a:r>
            <a:r>
              <a:rPr lang="en-US" altLang="zh-CN" sz="2800" dirty="0"/>
              <a:t>6.4</a:t>
            </a:r>
            <a:r>
              <a:rPr lang="zh-CN" altLang="en-US" sz="2800" dirty="0"/>
              <a:t>，</a:t>
            </a:r>
            <a:endParaRPr lang="en-US" altLang="zh-CN" sz="2800" dirty="0"/>
          </a:p>
          <a:p>
            <a:pPr marL="609600" indent="-609600">
              <a:buFontTx/>
              <a:buNone/>
            </a:pPr>
            <a:r>
              <a:rPr lang="en-US" altLang="zh-CN" sz="2800" dirty="0">
                <a:solidFill>
                  <a:schemeClr val="bg1">
                    <a:lumMod val="50000"/>
                  </a:schemeClr>
                </a:solidFill>
              </a:rPr>
              <a:t>BCNF</a:t>
            </a:r>
            <a:r>
              <a:rPr lang="zh-CN" altLang="en-US" sz="2800" dirty="0">
                <a:solidFill>
                  <a:schemeClr val="bg1">
                    <a:lumMod val="50000"/>
                  </a:schemeClr>
                </a:solidFill>
              </a:rPr>
              <a:t>分解法</a:t>
            </a:r>
            <a:r>
              <a:rPr lang="en-US" altLang="zh-CN" sz="2800" dirty="0">
                <a:solidFill>
                  <a:schemeClr val="bg1">
                    <a:lumMod val="50000"/>
                  </a:schemeClr>
                </a:solidFill>
              </a:rPr>
              <a:t>(</a:t>
            </a:r>
            <a:r>
              <a:rPr lang="zh-CN" altLang="en-US" sz="2800" dirty="0">
                <a:solidFill>
                  <a:schemeClr val="bg1">
                    <a:lumMod val="50000"/>
                  </a:schemeClr>
                </a:solidFill>
              </a:rPr>
              <a:t>了解</a:t>
            </a:r>
            <a:r>
              <a:rPr lang="en-US" altLang="zh-CN" sz="2800" dirty="0">
                <a:solidFill>
                  <a:schemeClr val="bg1">
                    <a:lumMod val="50000"/>
                  </a:schemeClr>
                </a:solidFill>
              </a:rPr>
              <a:t>)</a:t>
            </a:r>
            <a:r>
              <a:rPr lang="zh-CN" altLang="en-US" sz="2800" dirty="0">
                <a:solidFill>
                  <a:schemeClr val="bg1">
                    <a:lumMod val="50000"/>
                  </a:schemeClr>
                </a:solidFill>
              </a:rPr>
              <a:t> 、多值依赖分解算法</a:t>
            </a:r>
            <a:r>
              <a:rPr lang="en-US" altLang="zh-CN" sz="2800" dirty="0">
                <a:solidFill>
                  <a:schemeClr val="bg1">
                    <a:lumMod val="50000"/>
                  </a:schemeClr>
                </a:solidFill>
              </a:rPr>
              <a:t>(</a:t>
            </a:r>
            <a:r>
              <a:rPr lang="zh-CN" altLang="en-US" sz="2800" dirty="0">
                <a:solidFill>
                  <a:schemeClr val="bg1">
                    <a:lumMod val="50000"/>
                  </a:schemeClr>
                </a:solidFill>
              </a:rPr>
              <a:t>不做介绍</a:t>
            </a:r>
            <a:r>
              <a:rPr lang="en-US" altLang="zh-CN" sz="2800" dirty="0">
                <a:solidFill>
                  <a:schemeClr val="bg1">
                    <a:lumMod val="50000"/>
                  </a:schemeClr>
                </a:solidFill>
              </a:rPr>
              <a:t>)</a:t>
            </a:r>
            <a:endParaRPr lang="zh-CN" altLang="en-US" sz="2800" dirty="0">
              <a:solidFill>
                <a:schemeClr val="bg1">
                  <a:lumMod val="50000"/>
                </a:schemeClr>
              </a:solidFill>
            </a:endParaRPr>
          </a:p>
        </p:txBody>
      </p:sp>
      <p:sp>
        <p:nvSpPr>
          <p:cNvPr id="3" name="页脚占位符 2">
            <a:extLst>
              <a:ext uri="{FF2B5EF4-FFF2-40B4-BE49-F238E27FC236}">
                <a16:creationId xmlns:a16="http://schemas.microsoft.com/office/drawing/2014/main" id="{BC89A8FC-99D9-83AD-840E-8EE707DD98E0}"/>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AA0A63E9-CB13-79E9-0E57-C323FB896C68}"/>
              </a:ext>
            </a:extLst>
          </p:cNvPr>
          <p:cNvSpPr>
            <a:spLocks noGrp="1"/>
          </p:cNvSpPr>
          <p:nvPr>
            <p:ph type="sldNum" sz="quarter" idx="12"/>
          </p:nvPr>
        </p:nvSpPr>
        <p:spPr/>
        <p:txBody>
          <a:bodyPr/>
          <a:lstStyle/>
          <a:p>
            <a:fld id="{A2D74603-B40B-4D66-8F6E-41C870D48932}" type="slidenum">
              <a:rPr lang="en-US" altLang="zh-CN" smtClean="0"/>
              <a:pPr/>
              <a:t>156</a:t>
            </a:fld>
            <a:r>
              <a:rPr lang="en-US" altLang="zh-CN"/>
              <a:t>/162</a:t>
            </a:r>
            <a:endParaRPr lang="en-US" altLang="zh-CN" dirty="0"/>
          </a:p>
        </p:txBody>
      </p:sp>
    </p:spTree>
  </p:cSld>
  <p:clrMapOvr>
    <a:masterClrMapping/>
  </p:clrMapOvr>
  <p:transition>
    <p:fade/>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A882C563-7E57-45BA-AE71-11B422E882F9}" type="datetime1">
              <a:rPr lang="zh-CN" altLang="en-US" smtClean="0"/>
              <a:t>2025/11/6</a:t>
            </a:fld>
            <a:endParaRPr lang="en-US" altLang="zh-CN"/>
          </a:p>
        </p:txBody>
      </p:sp>
      <p:sp>
        <p:nvSpPr>
          <p:cNvPr id="332802" name="Rectangle 2"/>
          <p:cNvSpPr>
            <a:spLocks noGrp="1" noChangeArrowheads="1"/>
          </p:cNvSpPr>
          <p:nvPr>
            <p:ph type="title"/>
          </p:nvPr>
        </p:nvSpPr>
        <p:spPr/>
        <p:txBody>
          <a:bodyPr/>
          <a:lstStyle/>
          <a:p>
            <a:r>
              <a:rPr lang="en-US" altLang="zh-CN" dirty="0"/>
              <a:t>8.4.3 </a:t>
            </a:r>
            <a:r>
              <a:rPr lang="zh-CN" altLang="en-US" dirty="0"/>
              <a:t>模式分解算法</a:t>
            </a:r>
          </a:p>
        </p:txBody>
      </p:sp>
      <p:sp>
        <p:nvSpPr>
          <p:cNvPr id="3" name="页脚占位符 2">
            <a:extLst>
              <a:ext uri="{FF2B5EF4-FFF2-40B4-BE49-F238E27FC236}">
                <a16:creationId xmlns:a16="http://schemas.microsoft.com/office/drawing/2014/main" id="{ADE2B2A9-06A5-F386-2DE1-6EAB24F07A41}"/>
              </a:ext>
            </a:extLst>
          </p:cNvPr>
          <p:cNvSpPr>
            <a:spLocks noGrp="1"/>
          </p:cNvSpPr>
          <p:nvPr>
            <p:ph type="ftr" sz="quarter" idx="11"/>
          </p:nvPr>
        </p:nvSpPr>
        <p:spPr/>
        <p:txBody>
          <a:bodyPr/>
          <a:lstStyle/>
          <a:p>
            <a:r>
              <a:rPr lang="en-US" altLang="zh-CN"/>
              <a:t>《数据库系统概论》- 第6章</a:t>
            </a:r>
          </a:p>
        </p:txBody>
      </p:sp>
      <p:sp>
        <p:nvSpPr>
          <p:cNvPr id="5" name="灯片编号占位符 4">
            <a:extLst>
              <a:ext uri="{FF2B5EF4-FFF2-40B4-BE49-F238E27FC236}">
                <a16:creationId xmlns:a16="http://schemas.microsoft.com/office/drawing/2014/main" id="{FE755104-2C03-1E88-3AC1-332CE1B00E87}"/>
              </a:ext>
            </a:extLst>
          </p:cNvPr>
          <p:cNvSpPr>
            <a:spLocks noGrp="1"/>
          </p:cNvSpPr>
          <p:nvPr>
            <p:ph type="sldNum" sz="quarter" idx="12"/>
          </p:nvPr>
        </p:nvSpPr>
        <p:spPr/>
        <p:txBody>
          <a:bodyPr/>
          <a:lstStyle/>
          <a:p>
            <a:fld id="{A2D74603-B40B-4D66-8F6E-41C870D48932}" type="slidenum">
              <a:rPr lang="en-US" altLang="zh-CN" smtClean="0"/>
              <a:pPr/>
              <a:t>157</a:t>
            </a:fld>
            <a:r>
              <a:rPr lang="en-US" altLang="zh-CN"/>
              <a:t>/162</a:t>
            </a:r>
            <a:endParaRPr lang="en-US" altLang="zh-CN" dirty="0"/>
          </a:p>
        </p:txBody>
      </p:sp>
      <p:sp>
        <p:nvSpPr>
          <p:cNvPr id="332803" name="Rectangle 3"/>
          <p:cNvSpPr>
            <a:spLocks noGrp="1" noChangeArrowheads="1"/>
          </p:cNvSpPr>
          <p:nvPr>
            <p:ph type="body" idx="1"/>
          </p:nvPr>
        </p:nvSpPr>
        <p:spPr>
          <a:xfrm>
            <a:off x="357158" y="1447800"/>
            <a:ext cx="8748746" cy="5410200"/>
          </a:xfrm>
          <a:solidFill>
            <a:schemeClr val="bg1"/>
          </a:solidFill>
        </p:spPr>
        <p:txBody>
          <a:bodyPr/>
          <a:lstStyle/>
          <a:p>
            <a:pPr marL="609600" indent="-609600">
              <a:lnSpc>
                <a:spcPct val="90000"/>
              </a:lnSpc>
              <a:buNone/>
            </a:pPr>
            <a:r>
              <a:rPr lang="zh-CN" altLang="en-US" sz="2800" dirty="0">
                <a:solidFill>
                  <a:srgbClr val="FF0000"/>
                </a:solidFill>
              </a:rPr>
              <a:t>算法</a:t>
            </a:r>
            <a:r>
              <a:rPr lang="en-US" altLang="zh-CN" sz="2800" dirty="0">
                <a:solidFill>
                  <a:srgbClr val="FF0000"/>
                </a:solidFill>
              </a:rPr>
              <a:t>6.3</a:t>
            </a:r>
            <a:r>
              <a:rPr lang="zh-CN" altLang="en-US" sz="2800" dirty="0"/>
              <a:t>合成法</a:t>
            </a:r>
            <a:r>
              <a:rPr lang="en-US" altLang="zh-CN" sz="2800" dirty="0"/>
              <a:t>(R&lt;U,F&gt;</a:t>
            </a:r>
            <a:r>
              <a:rPr lang="zh-CN" altLang="en-US" sz="2800" dirty="0"/>
              <a:t>转换为</a:t>
            </a:r>
            <a:r>
              <a:rPr lang="en-US" altLang="zh-CN" sz="2800" u="sng" dirty="0">
                <a:solidFill>
                  <a:schemeClr val="tx2"/>
                </a:solidFill>
              </a:rPr>
              <a:t>3NF</a:t>
            </a:r>
            <a:r>
              <a:rPr lang="zh-CN" altLang="en-US" sz="2800" u="sng" dirty="0"/>
              <a:t>的</a:t>
            </a:r>
            <a:r>
              <a:rPr lang="zh-CN" altLang="en-US" sz="2800" b="1" u="sng" dirty="0">
                <a:solidFill>
                  <a:srgbClr val="0000FF"/>
                </a:solidFill>
              </a:rPr>
              <a:t>保持函数依赖</a:t>
            </a:r>
            <a:r>
              <a:rPr lang="zh-CN" altLang="en-US" sz="2800" dirty="0"/>
              <a:t>分解</a:t>
            </a:r>
            <a:r>
              <a:rPr lang="en-US" altLang="zh-CN" sz="2800" dirty="0"/>
              <a:t>)</a:t>
            </a:r>
            <a:r>
              <a:rPr lang="zh-CN" altLang="en-US" sz="2800" dirty="0"/>
              <a:t>要点</a:t>
            </a:r>
          </a:p>
          <a:p>
            <a:pPr marL="609600" indent="-609600">
              <a:lnSpc>
                <a:spcPct val="90000"/>
              </a:lnSpc>
              <a:buFontTx/>
              <a:buAutoNum type="arabicPeriod"/>
            </a:pPr>
            <a:r>
              <a:rPr lang="zh-CN" altLang="en-US" sz="2800" b="1" dirty="0">
                <a:solidFill>
                  <a:schemeClr val="tx2"/>
                </a:solidFill>
              </a:rPr>
              <a:t>函数依赖集极小化</a:t>
            </a:r>
            <a:r>
              <a:rPr lang="zh-CN" altLang="en-US" sz="2800" b="1" dirty="0"/>
              <a:t>处理 </a:t>
            </a:r>
            <a:r>
              <a:rPr lang="en-US" altLang="zh-CN" sz="2800" b="1" dirty="0">
                <a:solidFill>
                  <a:schemeClr val="tx2"/>
                </a:solidFill>
              </a:rPr>
              <a:t>F</a:t>
            </a:r>
            <a:r>
              <a:rPr lang="en-US" altLang="zh-CN" sz="2800" dirty="0">
                <a:solidFill>
                  <a:schemeClr val="tx2"/>
                </a:solidFill>
              </a:rPr>
              <a:t>(</a:t>
            </a:r>
            <a:r>
              <a:rPr lang="zh-CN" altLang="en-US" sz="2800" dirty="0">
                <a:solidFill>
                  <a:schemeClr val="tx2"/>
                </a:solidFill>
              </a:rPr>
              <a:t>处理后的函数依赖集仍记为</a:t>
            </a:r>
            <a:r>
              <a:rPr lang="en-US" altLang="zh-CN" sz="2800" dirty="0">
                <a:solidFill>
                  <a:schemeClr val="tx2"/>
                </a:solidFill>
              </a:rPr>
              <a:t>F)</a:t>
            </a:r>
            <a:endParaRPr lang="zh-CN" altLang="en-US" sz="2800" dirty="0">
              <a:solidFill>
                <a:schemeClr val="tx2"/>
              </a:solidFill>
            </a:endParaRPr>
          </a:p>
          <a:p>
            <a:pPr marL="609600" indent="-609600">
              <a:lnSpc>
                <a:spcPct val="90000"/>
              </a:lnSpc>
              <a:buFontTx/>
              <a:buAutoNum type="arabicPeriod"/>
            </a:pPr>
            <a:r>
              <a:rPr lang="zh-CN" altLang="en-US" sz="2800" b="1" dirty="0"/>
              <a:t>处理</a:t>
            </a:r>
            <a:r>
              <a:rPr lang="zh-CN" altLang="en-US" sz="2800" b="1" dirty="0">
                <a:solidFill>
                  <a:schemeClr val="tx2"/>
                </a:solidFill>
              </a:rPr>
              <a:t>不出现</a:t>
            </a:r>
            <a:r>
              <a:rPr lang="zh-CN" altLang="en-US" sz="2800" b="1" dirty="0"/>
              <a:t>在</a:t>
            </a:r>
            <a:r>
              <a:rPr lang="en-US" altLang="zh-CN" sz="2800" b="1" dirty="0">
                <a:solidFill>
                  <a:schemeClr val="tx2"/>
                </a:solidFill>
              </a:rPr>
              <a:t>F</a:t>
            </a:r>
            <a:r>
              <a:rPr lang="zh-CN" altLang="en-US" sz="2800" b="1" dirty="0">
                <a:solidFill>
                  <a:schemeClr val="tx2"/>
                </a:solidFill>
              </a:rPr>
              <a:t>中的属性</a:t>
            </a:r>
            <a:r>
              <a:rPr lang="en-US" altLang="zh-CN" sz="2800" b="1" dirty="0">
                <a:solidFill>
                  <a:schemeClr val="tx2"/>
                </a:solidFill>
              </a:rPr>
              <a:t>, </a:t>
            </a:r>
            <a:r>
              <a:rPr lang="zh-CN" altLang="en-US" sz="2800" b="1" dirty="0">
                <a:solidFill>
                  <a:schemeClr val="tx2"/>
                </a:solidFill>
              </a:rPr>
              <a:t>组成一个关系模式</a:t>
            </a:r>
            <a:r>
              <a:rPr lang="en-US" altLang="zh-CN" sz="2800" b="1" dirty="0">
                <a:solidFill>
                  <a:schemeClr val="tx2"/>
                </a:solidFill>
              </a:rPr>
              <a:t>R</a:t>
            </a:r>
            <a:r>
              <a:rPr lang="en-US" altLang="zh-CN" sz="2800" b="1" baseline="-25000" dirty="0">
                <a:solidFill>
                  <a:schemeClr val="tx2"/>
                </a:solidFill>
              </a:rPr>
              <a:t>0</a:t>
            </a:r>
          </a:p>
          <a:p>
            <a:pPr marL="609600" indent="-609600">
              <a:lnSpc>
                <a:spcPct val="90000"/>
              </a:lnSpc>
              <a:buFontTx/>
              <a:buAutoNum type="arabicPeriod"/>
            </a:pPr>
            <a:r>
              <a:rPr lang="zh-CN" altLang="en-US" sz="2800" b="1" dirty="0">
                <a:solidFill>
                  <a:schemeClr val="tx2"/>
                </a:solidFill>
              </a:rPr>
              <a:t>若有</a:t>
            </a:r>
            <a:r>
              <a:rPr lang="en-US" altLang="zh-CN" sz="2800" b="1" dirty="0">
                <a:solidFill>
                  <a:schemeClr val="tx2"/>
                </a:solidFill>
              </a:rPr>
              <a:t>X</a:t>
            </a:r>
            <a:r>
              <a:rPr lang="en-US" altLang="zh-CN" sz="2800" dirty="0">
                <a:sym typeface="Symbol" pitchFamily="18" charset="2"/>
              </a:rPr>
              <a:t>Y, </a:t>
            </a:r>
            <a:r>
              <a:rPr lang="zh-CN" altLang="en-US" sz="2800" dirty="0">
                <a:sym typeface="Symbol" pitchFamily="18" charset="2"/>
              </a:rPr>
              <a:t>且</a:t>
            </a:r>
            <a:r>
              <a:rPr lang="en-US" altLang="zh-CN" sz="2800" dirty="0">
                <a:sym typeface="Symbol" pitchFamily="18" charset="2"/>
              </a:rPr>
              <a:t>XY=U, </a:t>
            </a:r>
            <a:r>
              <a:rPr lang="zh-CN" altLang="en-US" sz="2800" dirty="0">
                <a:sym typeface="Symbol" pitchFamily="18" charset="2"/>
              </a:rPr>
              <a:t>则</a:t>
            </a:r>
            <a:r>
              <a:rPr lang="en-US" altLang="zh-CN" sz="2800" dirty="0">
                <a:solidFill>
                  <a:schemeClr val="hlink"/>
                </a:solidFill>
                <a:sym typeface="Symbol" pitchFamily="18" charset="2"/>
              </a:rPr>
              <a:t>ρ </a:t>
            </a:r>
            <a:r>
              <a:rPr lang="en-US" altLang="zh-CN" sz="2800" dirty="0">
                <a:sym typeface="Symbol" pitchFamily="18" charset="2"/>
              </a:rPr>
              <a:t>{R}</a:t>
            </a:r>
            <a:r>
              <a:rPr lang="zh-CN" altLang="en-US" sz="2800" dirty="0">
                <a:sym typeface="Symbol" pitchFamily="18" charset="2"/>
              </a:rPr>
              <a:t>算法终止</a:t>
            </a:r>
            <a:endParaRPr lang="zh-CN" altLang="en-US" sz="2800" b="1" dirty="0">
              <a:solidFill>
                <a:schemeClr val="tx2"/>
              </a:solidFill>
            </a:endParaRPr>
          </a:p>
          <a:p>
            <a:pPr marL="609600" indent="-609600">
              <a:lnSpc>
                <a:spcPct val="90000"/>
              </a:lnSpc>
              <a:buFontTx/>
              <a:buAutoNum type="arabicPeriod"/>
            </a:pPr>
            <a:r>
              <a:rPr lang="zh-CN" altLang="en-US" sz="2800" b="1" dirty="0"/>
              <a:t>否则，对</a:t>
            </a:r>
            <a:r>
              <a:rPr lang="en-US" altLang="zh-CN" sz="2800" b="1" dirty="0">
                <a:solidFill>
                  <a:schemeClr val="tx2"/>
                </a:solidFill>
              </a:rPr>
              <a:t>F</a:t>
            </a:r>
            <a:r>
              <a:rPr lang="zh-CN" altLang="en-US" sz="2800" b="1" dirty="0"/>
              <a:t>按</a:t>
            </a:r>
            <a:r>
              <a:rPr lang="zh-CN" altLang="en-US" sz="2800" b="1" dirty="0">
                <a:solidFill>
                  <a:srgbClr val="C00000"/>
                </a:solidFill>
              </a:rPr>
              <a:t>相同左部</a:t>
            </a:r>
            <a:r>
              <a:rPr lang="zh-CN" altLang="en-US" sz="2800" b="1" dirty="0"/>
              <a:t>原则</a:t>
            </a:r>
            <a:r>
              <a:rPr lang="zh-CN" altLang="en-US" sz="2800" b="1" dirty="0">
                <a:solidFill>
                  <a:srgbClr val="C00000"/>
                </a:solidFill>
              </a:rPr>
              <a:t>分组</a:t>
            </a:r>
            <a:r>
              <a:rPr lang="zh-CN" altLang="en-US" sz="2800" b="1" dirty="0"/>
              <a:t>，</a:t>
            </a:r>
            <a:r>
              <a:rPr lang="zh-CN" altLang="en-US" sz="2800" b="1" dirty="0">
                <a:solidFill>
                  <a:schemeClr val="tx2"/>
                </a:solidFill>
              </a:rPr>
              <a:t>每组</a:t>
            </a:r>
            <a:r>
              <a:rPr lang="zh-CN" altLang="en-US" sz="2800" b="1" dirty="0"/>
              <a:t>的</a:t>
            </a:r>
            <a:r>
              <a:rPr lang="zh-CN" altLang="en-US" sz="2800" b="1" dirty="0">
                <a:solidFill>
                  <a:schemeClr val="tx2"/>
                </a:solidFill>
              </a:rPr>
              <a:t>全部属性</a:t>
            </a:r>
            <a:r>
              <a:rPr lang="zh-CN" altLang="en-US" sz="2800" b="1" dirty="0"/>
              <a:t>为一个分解后的</a:t>
            </a:r>
            <a:r>
              <a:rPr lang="zh-CN" altLang="en-US" sz="2800" b="1" dirty="0">
                <a:solidFill>
                  <a:schemeClr val="tx2"/>
                </a:solidFill>
              </a:rPr>
              <a:t>关系模式</a:t>
            </a:r>
            <a:r>
              <a:rPr lang="en-US" altLang="zh-CN" sz="2800" dirty="0">
                <a:solidFill>
                  <a:schemeClr val="tx2"/>
                </a:solidFill>
              </a:rPr>
              <a:t>R</a:t>
            </a:r>
            <a:r>
              <a:rPr lang="en-US" altLang="zh-CN" sz="2800" baseline="-25000" dirty="0">
                <a:solidFill>
                  <a:schemeClr val="tx2"/>
                </a:solidFill>
              </a:rPr>
              <a:t>i</a:t>
            </a:r>
            <a:r>
              <a:rPr lang="zh-CN" altLang="en-US" sz="2800" dirty="0">
                <a:solidFill>
                  <a:schemeClr val="tx2"/>
                </a:solidFill>
              </a:rPr>
              <a:t>的</a:t>
            </a:r>
            <a:r>
              <a:rPr lang="en-US" altLang="zh-CN" sz="2800" dirty="0">
                <a:solidFill>
                  <a:schemeClr val="tx2"/>
                </a:solidFill>
              </a:rPr>
              <a:t>U</a:t>
            </a:r>
            <a:r>
              <a:rPr lang="en-US" altLang="zh-CN" sz="2800" baseline="-25000" dirty="0">
                <a:solidFill>
                  <a:schemeClr val="tx2"/>
                </a:solidFill>
              </a:rPr>
              <a:t>i</a:t>
            </a:r>
            <a:r>
              <a:rPr lang="zh-CN" altLang="en-US" sz="2800" dirty="0"/>
              <a:t>；</a:t>
            </a:r>
          </a:p>
          <a:p>
            <a:pPr marL="609600" indent="-609600">
              <a:lnSpc>
                <a:spcPct val="90000"/>
              </a:lnSpc>
              <a:buFontTx/>
              <a:buNone/>
            </a:pPr>
            <a:r>
              <a:rPr lang="zh-CN" altLang="en-US" sz="2800" dirty="0">
                <a:solidFill>
                  <a:srgbClr val="FF0000"/>
                </a:solidFill>
              </a:rPr>
              <a:t>算法</a:t>
            </a:r>
            <a:r>
              <a:rPr lang="en-US" altLang="zh-CN" sz="2800" dirty="0">
                <a:solidFill>
                  <a:srgbClr val="FF0000"/>
                </a:solidFill>
              </a:rPr>
              <a:t>6.4 </a:t>
            </a:r>
            <a:r>
              <a:rPr lang="zh-CN" altLang="en-US" sz="2800" dirty="0"/>
              <a:t>在合成法基础上进行调整</a:t>
            </a:r>
            <a:r>
              <a:rPr lang="en-US" altLang="zh-CN" sz="1800" dirty="0">
                <a:solidFill>
                  <a:schemeClr val="tx2"/>
                </a:solidFill>
              </a:rPr>
              <a:t>(</a:t>
            </a:r>
            <a:r>
              <a:rPr lang="en-US" altLang="zh-CN" sz="1800" b="1" u="sng" dirty="0">
                <a:solidFill>
                  <a:schemeClr val="tx2"/>
                </a:solidFill>
              </a:rPr>
              <a:t>3NF</a:t>
            </a:r>
            <a:r>
              <a:rPr lang="zh-CN" altLang="en-US" sz="1800" b="1" u="sng" dirty="0">
                <a:solidFill>
                  <a:srgbClr val="FF0000"/>
                </a:solidFill>
              </a:rPr>
              <a:t>既</a:t>
            </a:r>
            <a:r>
              <a:rPr lang="zh-CN" altLang="en-US" sz="1800" b="1" u="sng" dirty="0">
                <a:solidFill>
                  <a:srgbClr val="0000FF"/>
                </a:solidFill>
              </a:rPr>
              <a:t>具无损</a:t>
            </a:r>
            <a:r>
              <a:rPr lang="zh-CN" altLang="en-US" sz="1800" b="1" u="sng" dirty="0">
                <a:solidFill>
                  <a:srgbClr val="FF0000"/>
                </a:solidFill>
              </a:rPr>
              <a:t>又</a:t>
            </a:r>
            <a:r>
              <a:rPr lang="zh-CN" altLang="en-US" sz="1800" b="1" u="sng" dirty="0">
                <a:solidFill>
                  <a:srgbClr val="0000FF"/>
                </a:solidFill>
              </a:rPr>
              <a:t>保持函数依赖</a:t>
            </a:r>
            <a:r>
              <a:rPr lang="en-US" altLang="zh-CN" sz="1800" dirty="0">
                <a:solidFill>
                  <a:schemeClr val="tx2"/>
                </a:solidFill>
              </a:rPr>
              <a:t>)</a:t>
            </a:r>
            <a:endParaRPr lang="zh-CN" altLang="en-US" sz="2800" dirty="0">
              <a:solidFill>
                <a:schemeClr val="tx2"/>
              </a:solidFill>
            </a:endParaRPr>
          </a:p>
          <a:p>
            <a:pPr marL="609600" indent="-609600">
              <a:lnSpc>
                <a:spcPct val="90000"/>
              </a:lnSpc>
              <a:buFontTx/>
              <a:buNone/>
            </a:pPr>
            <a:r>
              <a:rPr lang="en-US" altLang="zh-CN" sz="2800" dirty="0"/>
              <a:t>1. </a:t>
            </a:r>
            <a:r>
              <a:rPr lang="zh-CN" altLang="en-US" sz="2800" dirty="0">
                <a:solidFill>
                  <a:schemeClr val="tx2"/>
                </a:solidFill>
              </a:rPr>
              <a:t>增加</a:t>
            </a:r>
            <a:r>
              <a:rPr lang="en-US" altLang="zh-CN" sz="2800" dirty="0">
                <a:solidFill>
                  <a:srgbClr val="0000FF"/>
                </a:solidFill>
              </a:rPr>
              <a:t>R*</a:t>
            </a:r>
            <a:r>
              <a:rPr lang="en-US" altLang="zh-CN" sz="2800" dirty="0"/>
              <a:t>(X</a:t>
            </a:r>
            <a:r>
              <a:rPr lang="zh-CN" altLang="en-US" sz="2800" dirty="0"/>
              <a:t>，</a:t>
            </a:r>
            <a:r>
              <a:rPr lang="en-US" altLang="zh-CN" sz="2800" dirty="0" err="1"/>
              <a:t>F</a:t>
            </a:r>
            <a:r>
              <a:rPr lang="en-US" altLang="zh-CN" sz="2800" baseline="-25000" dirty="0" err="1"/>
              <a:t>x</a:t>
            </a:r>
            <a:r>
              <a:rPr lang="en-US" altLang="zh-CN" sz="2800" dirty="0"/>
              <a:t>)   (</a:t>
            </a:r>
            <a:r>
              <a:rPr lang="en-US" altLang="zh-CN" sz="2800" dirty="0">
                <a:solidFill>
                  <a:srgbClr val="0000FF"/>
                </a:solidFill>
              </a:rPr>
              <a:t>X</a:t>
            </a:r>
            <a:r>
              <a:rPr lang="zh-CN" altLang="en-US" sz="2800" dirty="0"/>
              <a:t>是</a:t>
            </a:r>
            <a:r>
              <a:rPr lang="en-US" altLang="zh-CN" sz="2800" dirty="0"/>
              <a:t>R&lt;U</a:t>
            </a:r>
            <a:r>
              <a:rPr lang="zh-CN" altLang="en-US" sz="2800" dirty="0"/>
              <a:t>，</a:t>
            </a:r>
            <a:r>
              <a:rPr lang="en-US" altLang="zh-CN" sz="2800" dirty="0"/>
              <a:t>F&gt;</a:t>
            </a:r>
            <a:r>
              <a:rPr lang="zh-CN" altLang="en-US" sz="2800" dirty="0"/>
              <a:t>的</a:t>
            </a:r>
            <a:r>
              <a:rPr lang="zh-CN" altLang="en-US" sz="2800" b="1" dirty="0">
                <a:solidFill>
                  <a:srgbClr val="C00000"/>
                </a:solidFill>
              </a:rPr>
              <a:t>码</a:t>
            </a:r>
            <a:r>
              <a:rPr lang="zh-CN" altLang="en-US" sz="2800" dirty="0"/>
              <a:t>，构成码的属性</a:t>
            </a:r>
            <a:r>
              <a:rPr lang="en-US" altLang="zh-CN" sz="2800" dirty="0"/>
              <a:t>)</a:t>
            </a:r>
          </a:p>
          <a:p>
            <a:pPr marL="609600" indent="-609600">
              <a:lnSpc>
                <a:spcPct val="90000"/>
              </a:lnSpc>
              <a:buFontTx/>
              <a:buNone/>
            </a:pPr>
            <a:r>
              <a:rPr lang="en-US" altLang="zh-CN" sz="2800" dirty="0"/>
              <a:t>2. </a:t>
            </a:r>
            <a:r>
              <a:rPr lang="zh-CN" altLang="en-US" sz="2800" dirty="0"/>
              <a:t>如果分解后的</a:t>
            </a:r>
            <a:r>
              <a:rPr lang="zh-CN" altLang="en-US" sz="2800" b="1" dirty="0"/>
              <a:t>模式</a:t>
            </a:r>
            <a:r>
              <a:rPr lang="zh-CN" altLang="en-US" sz="2800" dirty="0"/>
              <a:t>有</a:t>
            </a:r>
            <a:r>
              <a:rPr lang="zh-CN" altLang="en-US" sz="2800" dirty="0">
                <a:solidFill>
                  <a:schemeClr val="tx2"/>
                </a:solidFill>
              </a:rPr>
              <a:t>属性包含</a:t>
            </a:r>
            <a:r>
              <a:rPr lang="en-US" altLang="zh-CN" sz="2800" dirty="0">
                <a:solidFill>
                  <a:schemeClr val="tx2"/>
                </a:solidFill>
              </a:rPr>
              <a:t>(</a:t>
            </a:r>
            <a:r>
              <a:rPr lang="zh-CN" altLang="en-US" sz="2800" dirty="0">
                <a:solidFill>
                  <a:srgbClr val="FF0000"/>
                </a:solidFill>
              </a:rPr>
              <a:t>包含码</a:t>
            </a:r>
            <a:r>
              <a:rPr lang="en-US" altLang="zh-CN" sz="2800" dirty="0">
                <a:solidFill>
                  <a:schemeClr val="tx2"/>
                </a:solidFill>
              </a:rPr>
              <a:t>)</a:t>
            </a:r>
            <a:r>
              <a:rPr lang="zh-CN" altLang="en-US" sz="2800" dirty="0"/>
              <a:t>的情况，只</a:t>
            </a:r>
            <a:r>
              <a:rPr lang="zh-CN" altLang="en-US" sz="2800" b="1" dirty="0">
                <a:solidFill>
                  <a:srgbClr val="FF0000"/>
                </a:solidFill>
              </a:rPr>
              <a:t>保留大</a:t>
            </a:r>
            <a:r>
              <a:rPr lang="zh-CN" altLang="en-US" sz="2800" dirty="0"/>
              <a:t>的（即若</a:t>
            </a:r>
            <a:r>
              <a:rPr lang="en-US" altLang="zh-CN" sz="2800" dirty="0"/>
              <a:t>X</a:t>
            </a:r>
            <a:r>
              <a:rPr lang="en-US" altLang="zh-CN" sz="2800" b="1" dirty="0">
                <a:solidFill>
                  <a:srgbClr val="000080"/>
                </a:solidFill>
                <a:sym typeface="Symbol" pitchFamily="18" charset="2"/>
              </a:rPr>
              <a:t>  </a:t>
            </a:r>
            <a:r>
              <a:rPr lang="en-US" altLang="zh-CN" sz="2800" dirty="0" err="1"/>
              <a:t>U</a:t>
            </a:r>
            <a:r>
              <a:rPr lang="en-US" altLang="zh-CN" sz="2800" baseline="-25000" dirty="0" err="1"/>
              <a:t>i</a:t>
            </a:r>
            <a:r>
              <a:rPr lang="zh-CN" altLang="en-US" sz="2800" dirty="0"/>
              <a:t>，保留</a:t>
            </a:r>
            <a:r>
              <a:rPr lang="en-US" altLang="zh-CN" sz="2800" dirty="0" err="1"/>
              <a:t>R</a:t>
            </a:r>
            <a:r>
              <a:rPr lang="en-US" altLang="zh-CN" sz="2800" baseline="-25000" dirty="0" err="1"/>
              <a:t>i</a:t>
            </a:r>
            <a:r>
              <a:rPr lang="en-US" altLang="zh-CN" sz="2800" dirty="0"/>
              <a:t>&lt;</a:t>
            </a:r>
            <a:r>
              <a:rPr lang="en-US" altLang="zh-CN" sz="2800" dirty="0" err="1"/>
              <a:t>U</a:t>
            </a:r>
            <a:r>
              <a:rPr lang="en-US" altLang="zh-CN" sz="2800" baseline="-25000" dirty="0" err="1"/>
              <a:t>i</a:t>
            </a:r>
            <a:r>
              <a:rPr lang="zh-CN" altLang="en-US" sz="2800" dirty="0"/>
              <a:t>，</a:t>
            </a:r>
            <a:r>
              <a:rPr lang="en-US" altLang="zh-CN" sz="2800" dirty="0"/>
              <a:t> F</a:t>
            </a:r>
            <a:r>
              <a:rPr lang="en-US" altLang="zh-CN" sz="2800" baseline="-25000" dirty="0"/>
              <a:t>i</a:t>
            </a:r>
            <a:r>
              <a:rPr lang="en-US" altLang="zh-CN" sz="2800" dirty="0"/>
              <a:t>&gt;</a:t>
            </a:r>
            <a:r>
              <a:rPr lang="zh-CN" altLang="en-US" sz="2800" dirty="0"/>
              <a:t>，去掉</a:t>
            </a:r>
            <a:r>
              <a:rPr lang="en-US" altLang="zh-CN" sz="2800" dirty="0"/>
              <a:t>R*</a:t>
            </a:r>
            <a:r>
              <a:rPr lang="zh-CN" altLang="en-US" sz="2800" dirty="0"/>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2803">
                                            <p:txEl>
                                              <p:pRg st="1" end="1"/>
                                            </p:txEl>
                                          </p:spTgt>
                                        </p:tgtEl>
                                        <p:attrNameLst>
                                          <p:attrName>style.visibility</p:attrName>
                                        </p:attrNameLst>
                                      </p:cBhvr>
                                      <p:to>
                                        <p:strVal val="visible"/>
                                      </p:to>
                                    </p:set>
                                    <p:anim calcmode="lin" valueType="num">
                                      <p:cBhvr additive="base">
                                        <p:cTn id="7" dur="500" fill="hold"/>
                                        <p:tgtEl>
                                          <p:spTgt spid="33280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32803">
                                            <p:txEl>
                                              <p:pRg st="1" end="1"/>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32803">
                                            <p:txEl>
                                              <p:pRg st="2" end="2"/>
                                            </p:txEl>
                                          </p:spTgt>
                                        </p:tgtEl>
                                        <p:attrNameLst>
                                          <p:attrName>style.visibility</p:attrName>
                                        </p:attrNameLst>
                                      </p:cBhvr>
                                      <p:to>
                                        <p:strVal val="visible"/>
                                      </p:to>
                                    </p:set>
                                    <p:anim calcmode="lin" valueType="num">
                                      <p:cBhvr additive="base">
                                        <p:cTn id="12" dur="500" fill="hold"/>
                                        <p:tgtEl>
                                          <p:spTgt spid="332803">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32803">
                                            <p:txEl>
                                              <p:pRg st="2" end="2"/>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332803">
                                            <p:txEl>
                                              <p:pRg st="3" end="3"/>
                                            </p:txEl>
                                          </p:spTgt>
                                        </p:tgtEl>
                                        <p:attrNameLst>
                                          <p:attrName>style.visibility</p:attrName>
                                        </p:attrNameLst>
                                      </p:cBhvr>
                                      <p:to>
                                        <p:strVal val="visible"/>
                                      </p:to>
                                    </p:set>
                                    <p:anim calcmode="lin" valueType="num">
                                      <p:cBhvr additive="base">
                                        <p:cTn id="17" dur="500" fill="hold"/>
                                        <p:tgtEl>
                                          <p:spTgt spid="33280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32803">
                                            <p:txEl>
                                              <p:pRg st="3" end="3"/>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332803">
                                            <p:txEl>
                                              <p:pRg st="4" end="4"/>
                                            </p:txEl>
                                          </p:spTgt>
                                        </p:tgtEl>
                                        <p:attrNameLst>
                                          <p:attrName>style.visibility</p:attrName>
                                        </p:attrNameLst>
                                      </p:cBhvr>
                                      <p:to>
                                        <p:strVal val="visible"/>
                                      </p:to>
                                    </p:set>
                                    <p:anim calcmode="lin" valueType="num">
                                      <p:cBhvr additive="base">
                                        <p:cTn id="22" dur="500" fill="hold"/>
                                        <p:tgtEl>
                                          <p:spTgt spid="332803">
                                            <p:txEl>
                                              <p:pRg st="4" end="4"/>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3280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332803">
                                            <p:txEl>
                                              <p:pRg st="5" end="5"/>
                                            </p:txEl>
                                          </p:spTgt>
                                        </p:tgtEl>
                                        <p:attrNameLst>
                                          <p:attrName>style.visibility</p:attrName>
                                        </p:attrNameLst>
                                      </p:cBhvr>
                                      <p:to>
                                        <p:strVal val="visible"/>
                                      </p:to>
                                    </p:set>
                                    <p:anim calcmode="lin" valueType="num">
                                      <p:cBhvr additive="base">
                                        <p:cTn id="28" dur="500" fill="hold"/>
                                        <p:tgtEl>
                                          <p:spTgt spid="332803">
                                            <p:txEl>
                                              <p:pRg st="5" end="5"/>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332803">
                                            <p:txEl>
                                              <p:pRg st="5" end="5"/>
                                            </p:txEl>
                                          </p:spTgt>
                                        </p:tgtEl>
                                        <p:attrNameLst>
                                          <p:attrName>ppt_y</p:attrName>
                                        </p:attrNameLst>
                                      </p:cBhvr>
                                      <p:tavLst>
                                        <p:tav tm="0">
                                          <p:val>
                                            <p:strVal val="1+#ppt_h/2"/>
                                          </p:val>
                                        </p:tav>
                                        <p:tav tm="100000">
                                          <p:val>
                                            <p:strVal val="#ppt_y"/>
                                          </p:val>
                                        </p:tav>
                                      </p:tavLst>
                                    </p:anim>
                                  </p:childTnLst>
                                </p:cTn>
                              </p:par>
                            </p:childTnLst>
                          </p:cTn>
                        </p:par>
                        <p:par>
                          <p:cTn id="30" fill="hold">
                            <p:stCondLst>
                              <p:cond delay="500"/>
                            </p:stCondLst>
                            <p:childTnLst>
                              <p:par>
                                <p:cTn id="31" presetID="2" presetClass="entr" presetSubtype="4" fill="hold" nodeType="afterEffect">
                                  <p:stCondLst>
                                    <p:cond delay="0"/>
                                  </p:stCondLst>
                                  <p:childTnLst>
                                    <p:set>
                                      <p:cBhvr>
                                        <p:cTn id="32" dur="1" fill="hold">
                                          <p:stCondLst>
                                            <p:cond delay="0"/>
                                          </p:stCondLst>
                                        </p:cTn>
                                        <p:tgtEl>
                                          <p:spTgt spid="332803">
                                            <p:txEl>
                                              <p:pRg st="6" end="6"/>
                                            </p:txEl>
                                          </p:spTgt>
                                        </p:tgtEl>
                                        <p:attrNameLst>
                                          <p:attrName>style.visibility</p:attrName>
                                        </p:attrNameLst>
                                      </p:cBhvr>
                                      <p:to>
                                        <p:strVal val="visible"/>
                                      </p:to>
                                    </p:set>
                                    <p:anim calcmode="lin" valueType="num">
                                      <p:cBhvr additive="base">
                                        <p:cTn id="33" dur="500" fill="hold"/>
                                        <p:tgtEl>
                                          <p:spTgt spid="33280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32803">
                                            <p:txEl>
                                              <p:pRg st="6" end="6"/>
                                            </p:txEl>
                                          </p:spTgt>
                                        </p:tgtEl>
                                        <p:attrNameLst>
                                          <p:attrName>ppt_y</p:attrName>
                                        </p:attrNameLst>
                                      </p:cBhvr>
                                      <p:tavLst>
                                        <p:tav tm="0">
                                          <p:val>
                                            <p:strVal val="1+#ppt_h/2"/>
                                          </p:val>
                                        </p:tav>
                                        <p:tav tm="100000">
                                          <p:val>
                                            <p:strVal val="#ppt_y"/>
                                          </p:val>
                                        </p:tav>
                                      </p:tavLst>
                                    </p:anim>
                                  </p:childTnLst>
                                </p:cTn>
                              </p:par>
                            </p:childTnLst>
                          </p:cTn>
                        </p:par>
                        <p:par>
                          <p:cTn id="35" fill="hold">
                            <p:stCondLst>
                              <p:cond delay="1000"/>
                            </p:stCondLst>
                            <p:childTnLst>
                              <p:par>
                                <p:cTn id="36" presetID="2" presetClass="entr" presetSubtype="4" fill="hold" nodeType="afterEffect">
                                  <p:stCondLst>
                                    <p:cond delay="0"/>
                                  </p:stCondLst>
                                  <p:childTnLst>
                                    <p:set>
                                      <p:cBhvr>
                                        <p:cTn id="37" dur="1" fill="hold">
                                          <p:stCondLst>
                                            <p:cond delay="0"/>
                                          </p:stCondLst>
                                        </p:cTn>
                                        <p:tgtEl>
                                          <p:spTgt spid="332803">
                                            <p:txEl>
                                              <p:pRg st="7" end="7"/>
                                            </p:txEl>
                                          </p:spTgt>
                                        </p:tgtEl>
                                        <p:attrNameLst>
                                          <p:attrName>style.visibility</p:attrName>
                                        </p:attrNameLst>
                                      </p:cBhvr>
                                      <p:to>
                                        <p:strVal val="visible"/>
                                      </p:to>
                                    </p:set>
                                    <p:anim calcmode="lin" valueType="num">
                                      <p:cBhvr additive="base">
                                        <p:cTn id="38" dur="500" fill="hold"/>
                                        <p:tgtEl>
                                          <p:spTgt spid="332803">
                                            <p:txEl>
                                              <p:pRg st="7" end="7"/>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33280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1474" name="Rectangle 2"/>
          <p:cNvSpPr>
            <a:spLocks noGrp="1" noChangeArrowheads="1"/>
          </p:cNvSpPr>
          <p:nvPr>
            <p:ph type="title"/>
          </p:nvPr>
        </p:nvSpPr>
        <p:spPr/>
        <p:txBody>
          <a:bodyPr/>
          <a:lstStyle/>
          <a:p>
            <a:r>
              <a:rPr lang="zh-CN" altLang="en-US" dirty="0">
                <a:solidFill>
                  <a:schemeClr val="tx1"/>
                </a:solidFill>
              </a:rPr>
              <a:t>达到</a:t>
            </a:r>
            <a:r>
              <a:rPr lang="zh-CN" altLang="en-US" dirty="0">
                <a:solidFill>
                  <a:srgbClr val="0000FF"/>
                </a:solidFill>
              </a:rPr>
              <a:t>3</a:t>
            </a:r>
            <a:r>
              <a:rPr lang="en-US" altLang="zh-CN" dirty="0">
                <a:solidFill>
                  <a:srgbClr val="0000FF"/>
                </a:solidFill>
              </a:rPr>
              <a:t>NF</a:t>
            </a:r>
            <a:r>
              <a:rPr lang="zh-CN" altLang="en-US" dirty="0">
                <a:solidFill>
                  <a:srgbClr val="0000FF"/>
                </a:solidFill>
              </a:rPr>
              <a:t>保持依赖</a:t>
            </a:r>
            <a:r>
              <a:rPr lang="zh-CN" altLang="en-US" dirty="0">
                <a:solidFill>
                  <a:schemeClr val="tx1"/>
                </a:solidFill>
              </a:rPr>
              <a:t>的分解: 例1</a:t>
            </a:r>
          </a:p>
        </p:txBody>
      </p:sp>
      <p:sp>
        <p:nvSpPr>
          <p:cNvPr id="361475" name="Rectangle 3"/>
          <p:cNvSpPr>
            <a:spLocks noGrp="1" noChangeArrowheads="1"/>
          </p:cNvSpPr>
          <p:nvPr>
            <p:ph type="body" idx="1"/>
          </p:nvPr>
        </p:nvSpPr>
        <p:spPr>
          <a:xfrm>
            <a:off x="417513" y="1447800"/>
            <a:ext cx="8574087" cy="5257800"/>
          </a:xfrm>
        </p:spPr>
        <p:txBody>
          <a:bodyPr/>
          <a:lstStyle/>
          <a:p>
            <a:pPr marL="0" indent="0">
              <a:buNone/>
            </a:pPr>
            <a:r>
              <a:rPr lang="zh-CN" altLang="en-US" dirty="0">
                <a:latin typeface="Times New Roman" pitchFamily="18" charset="0"/>
                <a:ea typeface="宋体" charset="-122"/>
              </a:rPr>
              <a:t>设 </a:t>
            </a:r>
            <a:r>
              <a:rPr lang="en-US" altLang="zh-CN" sz="2800" dirty="0">
                <a:latin typeface="Times New Roman" pitchFamily="18" charset="0"/>
                <a:ea typeface="宋体" charset="-122"/>
              </a:rPr>
              <a:t>U={S#，SD，MN，C#，G}</a:t>
            </a:r>
          </a:p>
          <a:p>
            <a:pPr marL="671512" lvl="1" indent="0">
              <a:lnSpc>
                <a:spcPct val="110000"/>
              </a:lnSpc>
              <a:spcBef>
                <a:spcPct val="25000"/>
              </a:spcBef>
              <a:buNone/>
            </a:pPr>
            <a:r>
              <a:rPr lang="en-US" altLang="zh-CN" dirty="0">
                <a:latin typeface="Times New Roman" pitchFamily="18" charset="0"/>
                <a:ea typeface="宋体" charset="-122"/>
              </a:rPr>
              <a:t> 	F={S#</a:t>
            </a:r>
            <a:r>
              <a:rPr lang="en-US" altLang="zh-CN" dirty="0">
                <a:latin typeface="Times New Roman" pitchFamily="18" charset="0"/>
                <a:ea typeface="宋体" charset="-122"/>
                <a:sym typeface="Symbol" pitchFamily="18" charset="2"/>
              </a:rPr>
              <a:t></a:t>
            </a:r>
            <a:r>
              <a:rPr lang="en-US" altLang="zh-CN" dirty="0">
                <a:latin typeface="Times New Roman" pitchFamily="18" charset="0"/>
                <a:ea typeface="宋体" charset="-122"/>
              </a:rPr>
              <a:t>SD,</a:t>
            </a:r>
            <a:r>
              <a:rPr lang="en-US" altLang="zh-CN" dirty="0">
                <a:solidFill>
                  <a:srgbClr val="0000FF"/>
                </a:solidFill>
                <a:latin typeface="Times New Roman" pitchFamily="18" charset="0"/>
                <a:ea typeface="宋体" charset="-122"/>
              </a:rPr>
              <a:t>S#</a:t>
            </a:r>
            <a:r>
              <a:rPr lang="en-US" altLang="zh-CN" dirty="0">
                <a:solidFill>
                  <a:srgbClr val="0000FF"/>
                </a:solidFill>
                <a:latin typeface="Times New Roman" pitchFamily="18" charset="0"/>
                <a:ea typeface="宋体" charset="-122"/>
                <a:sym typeface="Symbol" pitchFamily="18" charset="2"/>
              </a:rPr>
              <a:t></a:t>
            </a:r>
            <a:r>
              <a:rPr lang="en-US" altLang="zh-CN" dirty="0">
                <a:solidFill>
                  <a:srgbClr val="0000FF"/>
                </a:solidFill>
                <a:latin typeface="Times New Roman" pitchFamily="18" charset="0"/>
                <a:ea typeface="宋体" charset="-122"/>
              </a:rPr>
              <a:t>MN</a:t>
            </a:r>
            <a:r>
              <a:rPr lang="en-US" altLang="zh-CN" dirty="0">
                <a:latin typeface="Times New Roman" pitchFamily="18" charset="0"/>
                <a:ea typeface="宋体" charset="-122"/>
              </a:rPr>
              <a:t>,SD</a:t>
            </a:r>
            <a:r>
              <a:rPr lang="en-US" altLang="zh-CN" dirty="0">
                <a:latin typeface="Times New Roman" pitchFamily="18" charset="0"/>
                <a:ea typeface="宋体" charset="-122"/>
                <a:sym typeface="Symbol" pitchFamily="18" charset="2"/>
              </a:rPr>
              <a:t></a:t>
            </a:r>
            <a:r>
              <a:rPr lang="en-US" altLang="zh-CN" dirty="0">
                <a:latin typeface="Times New Roman" pitchFamily="18" charset="0"/>
                <a:ea typeface="宋体" charset="-122"/>
              </a:rPr>
              <a:t>MN,(S#,C#)</a:t>
            </a:r>
            <a:r>
              <a:rPr lang="en-US" altLang="zh-CN" dirty="0">
                <a:latin typeface="Times New Roman" pitchFamily="18" charset="0"/>
                <a:ea typeface="宋体" charset="-122"/>
                <a:sym typeface="Symbol" pitchFamily="18" charset="2"/>
              </a:rPr>
              <a:t></a:t>
            </a:r>
            <a:r>
              <a:rPr lang="en-US" altLang="zh-CN" dirty="0">
                <a:latin typeface="Times New Roman" pitchFamily="18" charset="0"/>
                <a:ea typeface="宋体" charset="-122"/>
              </a:rPr>
              <a:t>G}</a:t>
            </a:r>
          </a:p>
          <a:p>
            <a:pPr marL="671512" lvl="1" indent="0">
              <a:buNone/>
            </a:pPr>
            <a:r>
              <a:rPr lang="en-US" altLang="zh-CN" dirty="0">
                <a:latin typeface="Times New Roman" pitchFamily="18" charset="0"/>
                <a:ea typeface="宋体" charset="-122"/>
              </a:rPr>
              <a:t>1.  </a:t>
            </a:r>
            <a:r>
              <a:rPr lang="en-US" altLang="zh-CN" dirty="0" err="1">
                <a:latin typeface="Times New Roman" pitchFamily="18" charset="0"/>
                <a:ea typeface="宋体" charset="-122"/>
              </a:rPr>
              <a:t>F</a:t>
            </a:r>
            <a:r>
              <a:rPr lang="en-US" altLang="zh-CN" baseline="-25000" dirty="0" err="1">
                <a:latin typeface="Times New Roman" pitchFamily="18" charset="0"/>
                <a:ea typeface="宋体" charset="-122"/>
              </a:rPr>
              <a:t>min</a:t>
            </a:r>
            <a:r>
              <a:rPr lang="en-US" altLang="zh-CN" dirty="0">
                <a:latin typeface="Times New Roman" pitchFamily="18" charset="0"/>
                <a:ea typeface="宋体" charset="-122"/>
              </a:rPr>
              <a:t>={S#</a:t>
            </a:r>
            <a:r>
              <a:rPr lang="en-US" altLang="zh-CN" dirty="0">
                <a:latin typeface="Times New Roman" pitchFamily="18" charset="0"/>
                <a:ea typeface="宋体" charset="-122"/>
                <a:sym typeface="Symbol" pitchFamily="18" charset="2"/>
              </a:rPr>
              <a:t></a:t>
            </a:r>
            <a:r>
              <a:rPr lang="en-US" altLang="zh-CN" dirty="0">
                <a:latin typeface="Times New Roman" pitchFamily="18" charset="0"/>
                <a:ea typeface="宋体" charset="-122"/>
              </a:rPr>
              <a:t>SD，SD</a:t>
            </a:r>
            <a:r>
              <a:rPr lang="en-US" altLang="zh-CN" dirty="0">
                <a:latin typeface="Times New Roman" pitchFamily="18" charset="0"/>
                <a:ea typeface="宋体" charset="-122"/>
                <a:sym typeface="Symbol" pitchFamily="18" charset="2"/>
              </a:rPr>
              <a:t></a:t>
            </a:r>
            <a:r>
              <a:rPr lang="en-US" altLang="zh-CN" dirty="0">
                <a:latin typeface="Times New Roman" pitchFamily="18" charset="0"/>
                <a:ea typeface="宋体" charset="-122"/>
              </a:rPr>
              <a:t>MN ，(S#,C#)</a:t>
            </a:r>
            <a:r>
              <a:rPr lang="en-US" altLang="zh-CN" dirty="0">
                <a:latin typeface="Times New Roman" pitchFamily="18" charset="0"/>
                <a:ea typeface="宋体" charset="-122"/>
                <a:sym typeface="Symbol" pitchFamily="18" charset="2"/>
              </a:rPr>
              <a:t></a:t>
            </a:r>
            <a:r>
              <a:rPr lang="en-US" altLang="zh-CN" dirty="0">
                <a:latin typeface="Times New Roman" pitchFamily="18" charset="0"/>
                <a:ea typeface="宋体" charset="-122"/>
              </a:rPr>
              <a:t>G}</a:t>
            </a:r>
          </a:p>
          <a:p>
            <a:pPr marL="671512" lvl="1" indent="0">
              <a:buNone/>
            </a:pPr>
            <a:r>
              <a:rPr lang="en-US" altLang="zh-CN" dirty="0">
                <a:latin typeface="Times New Roman" pitchFamily="18" charset="0"/>
                <a:ea typeface="宋体" charset="-122"/>
              </a:rPr>
              <a:t>2.  </a:t>
            </a:r>
            <a:r>
              <a:rPr lang="zh-CN" altLang="en-US" dirty="0">
                <a:latin typeface="Times New Roman" pitchFamily="18" charset="0"/>
                <a:ea typeface="宋体" charset="-122"/>
              </a:rPr>
              <a:t>分解：</a:t>
            </a:r>
          </a:p>
          <a:p>
            <a:pPr marL="671512" lvl="1" indent="0">
              <a:lnSpc>
                <a:spcPct val="110000"/>
              </a:lnSpc>
              <a:spcBef>
                <a:spcPct val="25000"/>
              </a:spcBef>
              <a:buNone/>
            </a:pPr>
            <a:r>
              <a:rPr lang="zh-CN" altLang="en-US" dirty="0">
                <a:latin typeface="Times New Roman" pitchFamily="18" charset="0"/>
                <a:ea typeface="宋体" charset="-122"/>
              </a:rPr>
              <a:t>		＜(</a:t>
            </a:r>
            <a:r>
              <a:rPr lang="en-US" altLang="zh-CN" dirty="0">
                <a:latin typeface="Times New Roman" pitchFamily="18" charset="0"/>
                <a:ea typeface="宋体" charset="-122"/>
              </a:rPr>
              <a:t>S#，SD)，{ S#</a:t>
            </a:r>
            <a:r>
              <a:rPr lang="en-US" altLang="zh-CN" dirty="0">
                <a:latin typeface="Times New Roman" pitchFamily="18" charset="0"/>
                <a:ea typeface="宋体" charset="-122"/>
                <a:sym typeface="Symbol" pitchFamily="18" charset="2"/>
              </a:rPr>
              <a:t></a:t>
            </a:r>
            <a:r>
              <a:rPr lang="en-US" altLang="zh-CN" dirty="0">
                <a:latin typeface="Times New Roman" pitchFamily="18" charset="0"/>
                <a:ea typeface="宋体" charset="-122"/>
              </a:rPr>
              <a:t>SD }＞</a:t>
            </a:r>
          </a:p>
          <a:p>
            <a:pPr marL="671512" lvl="1" indent="0">
              <a:lnSpc>
                <a:spcPct val="110000"/>
              </a:lnSpc>
              <a:spcBef>
                <a:spcPct val="25000"/>
              </a:spcBef>
              <a:buNone/>
            </a:pPr>
            <a:r>
              <a:rPr lang="en-US" altLang="zh-CN" dirty="0">
                <a:latin typeface="Times New Roman" pitchFamily="18" charset="0"/>
                <a:ea typeface="宋体" charset="-122"/>
              </a:rPr>
              <a:t>		＜(SD，MN)，{ SD</a:t>
            </a:r>
            <a:r>
              <a:rPr lang="en-US" altLang="zh-CN" dirty="0">
                <a:latin typeface="Times New Roman" pitchFamily="18" charset="0"/>
                <a:ea typeface="宋体" charset="-122"/>
                <a:sym typeface="Symbol" pitchFamily="18" charset="2"/>
              </a:rPr>
              <a:t>MN </a:t>
            </a:r>
            <a:r>
              <a:rPr lang="en-US" altLang="zh-CN" dirty="0">
                <a:latin typeface="Times New Roman" pitchFamily="18" charset="0"/>
                <a:ea typeface="宋体" charset="-122"/>
              </a:rPr>
              <a:t>}＞</a:t>
            </a:r>
          </a:p>
          <a:p>
            <a:pPr marL="671512" lvl="1" indent="0">
              <a:lnSpc>
                <a:spcPct val="110000"/>
              </a:lnSpc>
              <a:spcBef>
                <a:spcPct val="25000"/>
              </a:spcBef>
              <a:buNone/>
            </a:pPr>
            <a:r>
              <a:rPr lang="en-US" altLang="zh-CN" dirty="0">
                <a:latin typeface="Times New Roman" pitchFamily="18" charset="0"/>
                <a:ea typeface="宋体" charset="-122"/>
              </a:rPr>
              <a:t>		＜(S#，C#，G)， { (S#,C#)</a:t>
            </a:r>
            <a:r>
              <a:rPr lang="en-US" altLang="zh-CN" dirty="0">
                <a:latin typeface="Times New Roman" pitchFamily="18" charset="0"/>
                <a:ea typeface="宋体" charset="-122"/>
                <a:sym typeface="Symbol" pitchFamily="18" charset="2"/>
              </a:rPr>
              <a:t></a:t>
            </a:r>
            <a:r>
              <a:rPr lang="en-US" altLang="zh-CN" dirty="0">
                <a:latin typeface="Times New Roman" pitchFamily="18" charset="0"/>
                <a:ea typeface="宋体" charset="-122"/>
              </a:rPr>
              <a:t>G }＞</a:t>
            </a:r>
          </a:p>
          <a:p>
            <a:pPr marL="671512" lvl="1" indent="0">
              <a:lnSpc>
                <a:spcPct val="110000"/>
              </a:lnSpc>
              <a:spcBef>
                <a:spcPct val="25000"/>
              </a:spcBef>
              <a:buNone/>
            </a:pPr>
            <a:r>
              <a:rPr lang="zh-CN" altLang="en-US" dirty="0">
                <a:latin typeface="Times New Roman" pitchFamily="18" charset="0"/>
                <a:ea typeface="宋体" charset="-122"/>
              </a:rPr>
              <a:t>是一个相对于</a:t>
            </a:r>
            <a:r>
              <a:rPr lang="en-US" altLang="zh-CN" dirty="0">
                <a:latin typeface="Times New Roman" pitchFamily="18" charset="0"/>
                <a:ea typeface="宋体" charset="-122"/>
              </a:rPr>
              <a:t>F</a:t>
            </a:r>
            <a:r>
              <a:rPr lang="zh-CN" altLang="en-US" dirty="0">
                <a:latin typeface="Times New Roman" pitchFamily="18" charset="0"/>
                <a:ea typeface="宋体" charset="-122"/>
              </a:rPr>
              <a:t>的</a:t>
            </a:r>
            <a:r>
              <a:rPr lang="zh-CN" altLang="en-US" dirty="0">
                <a:solidFill>
                  <a:schemeClr val="tx2"/>
                </a:solidFill>
                <a:latin typeface="Times New Roman" pitchFamily="18" charset="0"/>
                <a:ea typeface="宋体" charset="-122"/>
              </a:rPr>
              <a:t>保持函数依赖</a:t>
            </a:r>
            <a:r>
              <a:rPr lang="zh-CN" altLang="en-US" dirty="0">
                <a:latin typeface="Times New Roman" pitchFamily="18" charset="0"/>
                <a:ea typeface="宋体" charset="-122"/>
              </a:rPr>
              <a:t>的分解, 同时每个模式均是</a:t>
            </a:r>
            <a:r>
              <a:rPr lang="zh-CN" altLang="en-US" dirty="0">
                <a:solidFill>
                  <a:schemeClr val="tx2"/>
                </a:solidFill>
                <a:latin typeface="Times New Roman" pitchFamily="18" charset="0"/>
                <a:ea typeface="宋体" charset="-122"/>
              </a:rPr>
              <a:t>3</a:t>
            </a:r>
            <a:r>
              <a:rPr lang="en-US" altLang="zh-CN" dirty="0">
                <a:solidFill>
                  <a:schemeClr val="tx2"/>
                </a:solidFill>
                <a:latin typeface="Times New Roman" pitchFamily="18" charset="0"/>
                <a:ea typeface="宋体" charset="-122"/>
              </a:rPr>
              <a:t>NF</a:t>
            </a:r>
            <a:r>
              <a:rPr lang="zh-CN" altLang="en-US" dirty="0">
                <a:solidFill>
                  <a:schemeClr val="tx2"/>
                </a:solidFill>
                <a:latin typeface="Times New Roman" pitchFamily="18" charset="0"/>
                <a:ea typeface="宋体" charset="-122"/>
              </a:rPr>
              <a:t>模式</a:t>
            </a:r>
            <a:r>
              <a:rPr lang="zh-CN" altLang="en-US" dirty="0">
                <a:latin typeface="Times New Roman" pitchFamily="18" charset="0"/>
                <a:ea typeface="宋体" charset="-122"/>
              </a:rPr>
              <a:t>。</a:t>
            </a:r>
            <a:endParaRPr lang="en-US" altLang="zh-CN" dirty="0">
              <a:latin typeface="Times New Roman" pitchFamily="18" charset="0"/>
              <a:ea typeface="宋体" charset="-122"/>
            </a:endParaRPr>
          </a:p>
        </p:txBody>
      </p:sp>
      <p:sp>
        <p:nvSpPr>
          <p:cNvPr id="2" name="日期占位符 1"/>
          <p:cNvSpPr>
            <a:spLocks noGrp="1"/>
          </p:cNvSpPr>
          <p:nvPr>
            <p:ph type="dt" sz="half" idx="10"/>
          </p:nvPr>
        </p:nvSpPr>
        <p:spPr/>
        <p:txBody>
          <a:bodyPr/>
          <a:lstStyle/>
          <a:p>
            <a:fld id="{174D3B01-D495-4134-ABAF-89570CB0B20A}" type="datetime1">
              <a:rPr lang="zh-CN" altLang="en-US" smtClean="0"/>
              <a:t>2025/11/6</a:t>
            </a:fld>
            <a:endParaRPr lang="en-US" altLang="zh-CN"/>
          </a:p>
        </p:txBody>
      </p:sp>
      <p:sp>
        <p:nvSpPr>
          <p:cNvPr id="4" name="页脚占位符 3">
            <a:extLst>
              <a:ext uri="{FF2B5EF4-FFF2-40B4-BE49-F238E27FC236}">
                <a16:creationId xmlns:a16="http://schemas.microsoft.com/office/drawing/2014/main" id="{7F5E7DB6-C155-F0CE-E8BD-38DE701EF49E}"/>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EC680CEF-6B8A-3B78-B14F-981894EABED1}"/>
              </a:ext>
            </a:extLst>
          </p:cNvPr>
          <p:cNvSpPr>
            <a:spLocks noGrp="1"/>
          </p:cNvSpPr>
          <p:nvPr>
            <p:ph type="sldNum" sz="quarter" idx="12"/>
          </p:nvPr>
        </p:nvSpPr>
        <p:spPr/>
        <p:txBody>
          <a:bodyPr/>
          <a:lstStyle/>
          <a:p>
            <a:fld id="{A2D74603-B40B-4D66-8F6E-41C870D48932}" type="slidenum">
              <a:rPr lang="en-US" altLang="zh-CN" smtClean="0"/>
              <a:pPr/>
              <a:t>158</a:t>
            </a:fld>
            <a:r>
              <a:rPr lang="en-US" altLang="zh-CN"/>
              <a:t>/162</a:t>
            </a:r>
            <a:endParaRPr lang="en-US" altLang="zh-CN" dirty="0"/>
          </a:p>
        </p:txBody>
      </p:sp>
    </p:spTree>
    <p:extLst>
      <p:ext uri="{BB962C8B-B14F-4D97-AF65-F5344CB8AC3E}">
        <p14:creationId xmlns:p14="http://schemas.microsoft.com/office/powerpoint/2010/main" val="2201738061"/>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1475">
                                            <p:txEl>
                                              <p:pRg st="2" end="2"/>
                                            </p:txEl>
                                          </p:spTgt>
                                        </p:tgtEl>
                                        <p:attrNameLst>
                                          <p:attrName>style.visibility</p:attrName>
                                        </p:attrNameLst>
                                      </p:cBhvr>
                                      <p:to>
                                        <p:strVal val="visible"/>
                                      </p:to>
                                    </p:set>
                                    <p:animEffect transition="in" filter="wipe(left)">
                                      <p:cBhvr>
                                        <p:cTn id="7" dur="500"/>
                                        <p:tgtEl>
                                          <p:spTgt spid="361475">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1475">
                                            <p:txEl>
                                              <p:pRg st="3" end="3"/>
                                            </p:txEl>
                                          </p:spTgt>
                                        </p:tgtEl>
                                        <p:attrNameLst>
                                          <p:attrName>style.visibility</p:attrName>
                                        </p:attrNameLst>
                                      </p:cBhvr>
                                      <p:to>
                                        <p:strVal val="visible"/>
                                      </p:to>
                                    </p:set>
                                    <p:animEffect transition="in" filter="wipe(left)">
                                      <p:cBhvr>
                                        <p:cTn id="12" dur="500"/>
                                        <p:tgtEl>
                                          <p:spTgt spid="361475">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61475">
                                            <p:txEl>
                                              <p:pRg st="4" end="4"/>
                                            </p:txEl>
                                          </p:spTgt>
                                        </p:tgtEl>
                                        <p:attrNameLst>
                                          <p:attrName>style.visibility</p:attrName>
                                        </p:attrNameLst>
                                      </p:cBhvr>
                                      <p:to>
                                        <p:strVal val="visible"/>
                                      </p:to>
                                    </p:set>
                                    <p:animEffect transition="in" filter="wipe(left)">
                                      <p:cBhvr>
                                        <p:cTn id="17" dur="500"/>
                                        <p:tgtEl>
                                          <p:spTgt spid="361475">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61475">
                                            <p:txEl>
                                              <p:pRg st="5" end="5"/>
                                            </p:txEl>
                                          </p:spTgt>
                                        </p:tgtEl>
                                        <p:attrNameLst>
                                          <p:attrName>style.visibility</p:attrName>
                                        </p:attrNameLst>
                                      </p:cBhvr>
                                      <p:to>
                                        <p:strVal val="visible"/>
                                      </p:to>
                                    </p:set>
                                    <p:animEffect transition="in" filter="wipe(left)">
                                      <p:cBhvr>
                                        <p:cTn id="22" dur="500"/>
                                        <p:tgtEl>
                                          <p:spTgt spid="361475">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61475">
                                            <p:txEl>
                                              <p:pRg st="6" end="6"/>
                                            </p:txEl>
                                          </p:spTgt>
                                        </p:tgtEl>
                                        <p:attrNameLst>
                                          <p:attrName>style.visibility</p:attrName>
                                        </p:attrNameLst>
                                      </p:cBhvr>
                                      <p:to>
                                        <p:strVal val="visible"/>
                                      </p:to>
                                    </p:set>
                                    <p:animEffect transition="in" filter="wipe(left)">
                                      <p:cBhvr>
                                        <p:cTn id="27" dur="500"/>
                                        <p:tgtEl>
                                          <p:spTgt spid="361475">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61475">
                                            <p:txEl>
                                              <p:pRg st="7" end="7"/>
                                            </p:txEl>
                                          </p:spTgt>
                                        </p:tgtEl>
                                        <p:attrNameLst>
                                          <p:attrName>style.visibility</p:attrName>
                                        </p:attrNameLst>
                                      </p:cBhvr>
                                      <p:to>
                                        <p:strVal val="visible"/>
                                      </p:to>
                                    </p:set>
                                    <p:animEffect transition="in" filter="wipe(left)">
                                      <p:cBhvr>
                                        <p:cTn id="32" dur="500"/>
                                        <p:tgtEl>
                                          <p:spTgt spid="36147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475" grpId="0" uiExpand="1" build="p" bldLvl="2" autoUpdateAnimBg="0"/>
    </p:bldLst>
  </p:timing>
</p:sld>
</file>

<file path=ppt/slides/slide1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3522" name="Rectangle 2"/>
          <p:cNvSpPr>
            <a:spLocks noGrp="1" noChangeArrowheads="1"/>
          </p:cNvSpPr>
          <p:nvPr>
            <p:ph type="title"/>
          </p:nvPr>
        </p:nvSpPr>
        <p:spPr/>
        <p:txBody>
          <a:bodyPr/>
          <a:lstStyle/>
          <a:p>
            <a:r>
              <a:rPr lang="zh-CN" altLang="en-US" dirty="0">
                <a:solidFill>
                  <a:schemeClr val="tx1"/>
                </a:solidFill>
              </a:rPr>
              <a:t>达到</a:t>
            </a:r>
            <a:r>
              <a:rPr lang="zh-CN" altLang="en-US" dirty="0">
                <a:solidFill>
                  <a:srgbClr val="0000FF"/>
                </a:solidFill>
              </a:rPr>
              <a:t>3</a:t>
            </a:r>
            <a:r>
              <a:rPr lang="en-US" altLang="zh-CN" dirty="0">
                <a:solidFill>
                  <a:srgbClr val="0000FF"/>
                </a:solidFill>
              </a:rPr>
              <a:t>NF</a:t>
            </a:r>
            <a:r>
              <a:rPr lang="zh-CN" altLang="en-US" dirty="0">
                <a:solidFill>
                  <a:srgbClr val="0000FF"/>
                </a:solidFill>
              </a:rPr>
              <a:t>保持依赖</a:t>
            </a:r>
            <a:r>
              <a:rPr lang="zh-CN" altLang="en-US" dirty="0">
                <a:solidFill>
                  <a:srgbClr val="FF0000"/>
                </a:solidFill>
              </a:rPr>
              <a:t>无损连接</a:t>
            </a:r>
            <a:r>
              <a:rPr lang="zh-CN" altLang="en-US" dirty="0">
                <a:solidFill>
                  <a:schemeClr val="tx1"/>
                </a:solidFill>
              </a:rPr>
              <a:t>分解: 例</a:t>
            </a:r>
            <a:endParaRPr lang="en-US" altLang="zh-CN" dirty="0">
              <a:solidFill>
                <a:schemeClr val="tx1"/>
              </a:solidFill>
            </a:endParaRPr>
          </a:p>
        </p:txBody>
      </p:sp>
      <p:sp>
        <p:nvSpPr>
          <p:cNvPr id="2" name="日期占位符 1"/>
          <p:cNvSpPr>
            <a:spLocks noGrp="1"/>
          </p:cNvSpPr>
          <p:nvPr>
            <p:ph type="dt" sz="half" idx="10"/>
          </p:nvPr>
        </p:nvSpPr>
        <p:spPr/>
        <p:txBody>
          <a:bodyPr/>
          <a:lstStyle/>
          <a:p>
            <a:fld id="{F5B1F232-07D9-48C4-9A50-D6897FDFA097}" type="datetime1">
              <a:rPr lang="zh-CN" altLang="en-US" smtClean="0"/>
              <a:t>2025/11/6</a:t>
            </a:fld>
            <a:endParaRPr lang="en-US" altLang="zh-CN"/>
          </a:p>
        </p:txBody>
      </p:sp>
      <p:sp>
        <p:nvSpPr>
          <p:cNvPr id="363523" name="Rectangle 3"/>
          <p:cNvSpPr>
            <a:spLocks noGrp="1" noChangeArrowheads="1"/>
          </p:cNvSpPr>
          <p:nvPr>
            <p:ph type="body" idx="1"/>
          </p:nvPr>
        </p:nvSpPr>
        <p:spPr>
          <a:xfrm>
            <a:off x="228600" y="1447800"/>
            <a:ext cx="8650288" cy="5253038"/>
          </a:xfrm>
          <a:solidFill>
            <a:schemeClr val="accent3"/>
          </a:solidFill>
        </p:spPr>
        <p:txBody>
          <a:bodyPr/>
          <a:lstStyle/>
          <a:p>
            <a:pPr>
              <a:lnSpc>
                <a:spcPct val="105000"/>
              </a:lnSpc>
            </a:pPr>
            <a:r>
              <a:rPr lang="zh-CN" altLang="en-US" sz="2800" dirty="0">
                <a:latin typeface="Times New Roman" pitchFamily="18" charset="0"/>
                <a:ea typeface="宋体" charset="-122"/>
              </a:rPr>
              <a:t> 设关系模式</a:t>
            </a:r>
            <a:r>
              <a:rPr lang="en-US" altLang="zh-CN" sz="2800" dirty="0">
                <a:latin typeface="Times New Roman" pitchFamily="18" charset="0"/>
                <a:ea typeface="宋体" charset="-122"/>
              </a:rPr>
              <a:t>R(A, B, C, D), F</a:t>
            </a:r>
            <a:r>
              <a:rPr lang="zh-CN" altLang="en-US" sz="2800" dirty="0">
                <a:latin typeface="Times New Roman" pitchFamily="18" charset="0"/>
                <a:ea typeface="宋体" charset="-122"/>
              </a:rPr>
              <a:t>是</a:t>
            </a:r>
            <a:r>
              <a:rPr lang="en-US" altLang="zh-CN" sz="2800" dirty="0">
                <a:latin typeface="Times New Roman" pitchFamily="18" charset="0"/>
                <a:ea typeface="宋体" charset="-122"/>
              </a:rPr>
              <a:t>R</a:t>
            </a:r>
            <a:r>
              <a:rPr lang="zh-CN" altLang="en-US" sz="2800" dirty="0">
                <a:latin typeface="Times New Roman" pitchFamily="18" charset="0"/>
                <a:ea typeface="宋体" charset="-122"/>
              </a:rPr>
              <a:t>上成立的</a:t>
            </a:r>
            <a:r>
              <a:rPr lang="en-US" altLang="zh-CN" sz="2800" dirty="0">
                <a:latin typeface="Times New Roman" pitchFamily="18" charset="0"/>
                <a:ea typeface="宋体" charset="-122"/>
              </a:rPr>
              <a:t>FD</a:t>
            </a:r>
            <a:r>
              <a:rPr lang="zh-CN" altLang="en-US" sz="2800" dirty="0">
                <a:latin typeface="Times New Roman" pitchFamily="18" charset="0"/>
                <a:ea typeface="宋体" charset="-122"/>
              </a:rPr>
              <a:t>集, </a:t>
            </a:r>
            <a:r>
              <a:rPr lang="en-US" altLang="zh-CN" sz="2800" dirty="0">
                <a:latin typeface="Times New Roman" pitchFamily="18" charset="0"/>
                <a:ea typeface="宋体" charset="-122"/>
              </a:rPr>
              <a:t>F={ A→D, B→C }，</a:t>
            </a:r>
            <a:r>
              <a:rPr lang="zh-CN" altLang="en-US" sz="2800" dirty="0">
                <a:latin typeface="Times New Roman" pitchFamily="18" charset="0"/>
                <a:ea typeface="宋体" charset="-122"/>
              </a:rPr>
              <a:t>试把</a:t>
            </a:r>
            <a:r>
              <a:rPr lang="en-US" altLang="zh-CN" sz="2800" dirty="0">
                <a:latin typeface="Times New Roman" pitchFamily="18" charset="0"/>
                <a:ea typeface="宋体" charset="-122"/>
              </a:rPr>
              <a:t>R</a:t>
            </a:r>
            <a:r>
              <a:rPr lang="zh-CN" altLang="en-US" sz="2800" dirty="0">
                <a:latin typeface="Times New Roman" pitchFamily="18" charset="0"/>
                <a:ea typeface="宋体" charset="-122"/>
              </a:rPr>
              <a:t>相对于</a:t>
            </a:r>
            <a:r>
              <a:rPr lang="en-US" altLang="zh-CN" sz="2800" dirty="0">
                <a:latin typeface="Times New Roman" pitchFamily="18" charset="0"/>
                <a:ea typeface="宋体" charset="-122"/>
              </a:rPr>
              <a:t>F</a:t>
            </a:r>
            <a:r>
              <a:rPr lang="zh-CN" altLang="en-US" sz="2800" b="1" dirty="0">
                <a:solidFill>
                  <a:srgbClr val="0000FF"/>
                </a:solidFill>
                <a:latin typeface="Times New Roman" pitchFamily="18" charset="0"/>
                <a:ea typeface="宋体" charset="-122"/>
              </a:rPr>
              <a:t>无损连接地且保持函数依赖</a:t>
            </a:r>
            <a:r>
              <a:rPr lang="zh-CN" altLang="en-US" sz="2800" dirty="0">
                <a:latin typeface="Times New Roman" pitchFamily="18" charset="0"/>
                <a:ea typeface="宋体" charset="-122"/>
              </a:rPr>
              <a:t>地分解成3</a:t>
            </a:r>
            <a:r>
              <a:rPr lang="en-US" altLang="zh-CN" sz="2800" dirty="0">
                <a:latin typeface="Times New Roman" pitchFamily="18" charset="0"/>
                <a:ea typeface="宋体" charset="-122"/>
              </a:rPr>
              <a:t>NF</a:t>
            </a:r>
            <a:r>
              <a:rPr lang="zh-CN" altLang="en-US" sz="2800" dirty="0">
                <a:latin typeface="Times New Roman" pitchFamily="18" charset="0"/>
                <a:ea typeface="宋体" charset="-122"/>
              </a:rPr>
              <a:t>的模式集。</a:t>
            </a:r>
          </a:p>
          <a:p>
            <a:pPr lvl="1">
              <a:lnSpc>
                <a:spcPct val="105000"/>
              </a:lnSpc>
              <a:spcBef>
                <a:spcPct val="40000"/>
              </a:spcBef>
            </a:pPr>
            <a:r>
              <a:rPr lang="zh-CN" altLang="en-US" dirty="0">
                <a:latin typeface="Times New Roman" pitchFamily="18" charset="0"/>
                <a:ea typeface="宋体" charset="-122"/>
              </a:rPr>
              <a:t>解: 从</a:t>
            </a:r>
            <a:r>
              <a:rPr lang="en-US" altLang="zh-CN" dirty="0">
                <a:latin typeface="Times New Roman" pitchFamily="18" charset="0"/>
                <a:ea typeface="宋体" charset="-122"/>
              </a:rPr>
              <a:t>A→D</a:t>
            </a:r>
            <a:r>
              <a:rPr lang="zh-CN" altLang="en-US" dirty="0">
                <a:latin typeface="Times New Roman" pitchFamily="18" charset="0"/>
                <a:ea typeface="宋体" charset="-122"/>
              </a:rPr>
              <a:t>可设计一个关系子模式</a:t>
            </a:r>
            <a:r>
              <a:rPr lang="en-US" altLang="zh-CN" dirty="0">
                <a:latin typeface="Times New Roman" pitchFamily="18" charset="0"/>
                <a:ea typeface="宋体" charset="-122"/>
              </a:rPr>
              <a:t>AD</a:t>
            </a:r>
          </a:p>
          <a:p>
            <a:pPr lvl="1">
              <a:lnSpc>
                <a:spcPct val="105000"/>
              </a:lnSpc>
              <a:spcBef>
                <a:spcPct val="40000"/>
              </a:spcBef>
              <a:buFont typeface="Wingdings" pitchFamily="2" charset="2"/>
              <a:buNone/>
            </a:pPr>
            <a:r>
              <a:rPr lang="zh-CN" altLang="en-US" dirty="0">
                <a:latin typeface="Times New Roman" pitchFamily="18" charset="0"/>
                <a:ea typeface="宋体" charset="-122"/>
              </a:rPr>
              <a:t>        从</a:t>
            </a:r>
            <a:r>
              <a:rPr lang="en-US" altLang="zh-CN" dirty="0">
                <a:latin typeface="Times New Roman" pitchFamily="18" charset="0"/>
                <a:ea typeface="宋体" charset="-122"/>
              </a:rPr>
              <a:t>B→C</a:t>
            </a:r>
            <a:r>
              <a:rPr lang="zh-CN" altLang="en-US" dirty="0">
                <a:latin typeface="Times New Roman" pitchFamily="18" charset="0"/>
                <a:ea typeface="宋体" charset="-122"/>
              </a:rPr>
              <a:t>可设计一个关系子模式</a:t>
            </a:r>
            <a:r>
              <a:rPr lang="en-US" altLang="zh-CN" dirty="0">
                <a:latin typeface="Times New Roman" pitchFamily="18" charset="0"/>
                <a:ea typeface="宋体" charset="-122"/>
              </a:rPr>
              <a:t>BC</a:t>
            </a:r>
          </a:p>
          <a:p>
            <a:pPr lvl="1">
              <a:lnSpc>
                <a:spcPct val="105000"/>
              </a:lnSpc>
              <a:spcBef>
                <a:spcPct val="40000"/>
              </a:spcBef>
              <a:buFont typeface="Wingdings" pitchFamily="2" charset="2"/>
              <a:buNone/>
            </a:pPr>
            <a:r>
              <a:rPr lang="en-US" altLang="zh-CN" dirty="0">
                <a:latin typeface="Times New Roman" pitchFamily="18" charset="0"/>
                <a:ea typeface="宋体" charset="-122"/>
              </a:rPr>
              <a:t>   </a:t>
            </a:r>
            <a:r>
              <a:rPr lang="zh-CN" altLang="en-US" dirty="0">
                <a:latin typeface="Times New Roman" pitchFamily="18" charset="0"/>
                <a:ea typeface="宋体" charset="-122"/>
              </a:rPr>
              <a:t>关系模式</a:t>
            </a:r>
            <a:r>
              <a:rPr lang="en-US" altLang="zh-CN" dirty="0">
                <a:latin typeface="Times New Roman" pitchFamily="18" charset="0"/>
                <a:ea typeface="宋体" charset="-122"/>
              </a:rPr>
              <a:t>R(A, B, C, D)</a:t>
            </a:r>
            <a:r>
              <a:rPr lang="zh-CN" altLang="en-US" dirty="0">
                <a:latin typeface="Times New Roman" pitchFamily="18" charset="0"/>
                <a:ea typeface="宋体" charset="-122"/>
              </a:rPr>
              <a:t>的</a:t>
            </a:r>
            <a:r>
              <a:rPr lang="zh-CN" altLang="en-US" dirty="0">
                <a:solidFill>
                  <a:srgbClr val="C00000"/>
                </a:solidFill>
                <a:latin typeface="Times New Roman" pitchFamily="18" charset="0"/>
                <a:ea typeface="宋体" charset="-122"/>
              </a:rPr>
              <a:t>码</a:t>
            </a:r>
            <a:r>
              <a:rPr lang="zh-CN" altLang="en-US" dirty="0">
                <a:latin typeface="Times New Roman" pitchFamily="18" charset="0"/>
                <a:ea typeface="宋体" charset="-122"/>
              </a:rPr>
              <a:t>是</a:t>
            </a:r>
            <a:r>
              <a:rPr lang="en-US" altLang="zh-CN" dirty="0">
                <a:solidFill>
                  <a:srgbClr val="C00000"/>
                </a:solidFill>
                <a:latin typeface="Times New Roman" pitchFamily="18" charset="0"/>
                <a:ea typeface="宋体" charset="-122"/>
              </a:rPr>
              <a:t>AB</a:t>
            </a:r>
            <a:r>
              <a:rPr lang="en-US" altLang="zh-CN" dirty="0">
                <a:latin typeface="Times New Roman" pitchFamily="18" charset="0"/>
                <a:ea typeface="宋体" charset="-122"/>
              </a:rPr>
              <a:t>, </a:t>
            </a:r>
            <a:r>
              <a:rPr lang="zh-CN" altLang="en-US" dirty="0">
                <a:latin typeface="Times New Roman" pitchFamily="18" charset="0"/>
                <a:ea typeface="宋体" charset="-122"/>
              </a:rPr>
              <a:t>而</a:t>
            </a:r>
            <a:r>
              <a:rPr lang="en-US" altLang="zh-CN" dirty="0">
                <a:solidFill>
                  <a:schemeClr val="tx2"/>
                </a:solidFill>
                <a:latin typeface="Times New Roman" pitchFamily="18" charset="0"/>
                <a:ea typeface="宋体" charset="-122"/>
              </a:rPr>
              <a:t>AB</a:t>
            </a:r>
            <a:r>
              <a:rPr lang="zh-CN" altLang="en-US" dirty="0">
                <a:solidFill>
                  <a:schemeClr val="tx2"/>
                </a:solidFill>
                <a:latin typeface="Times New Roman" pitchFamily="18" charset="0"/>
                <a:ea typeface="宋体" charset="-122"/>
              </a:rPr>
              <a:t>在</a:t>
            </a:r>
            <a:r>
              <a:rPr lang="en-US" altLang="zh-CN" dirty="0">
                <a:solidFill>
                  <a:schemeClr val="tx2"/>
                </a:solidFill>
                <a:latin typeface="Times New Roman" pitchFamily="18" charset="0"/>
                <a:ea typeface="宋体" charset="-122"/>
              </a:rPr>
              <a:t>AD</a:t>
            </a:r>
            <a:r>
              <a:rPr lang="zh-CN" altLang="en-US" dirty="0">
                <a:solidFill>
                  <a:schemeClr val="tx2"/>
                </a:solidFill>
                <a:latin typeface="Times New Roman" pitchFamily="18" charset="0"/>
                <a:ea typeface="宋体" charset="-122"/>
              </a:rPr>
              <a:t>和</a:t>
            </a:r>
            <a:r>
              <a:rPr lang="en-US" altLang="zh-CN" dirty="0">
                <a:solidFill>
                  <a:schemeClr val="tx2"/>
                </a:solidFill>
                <a:latin typeface="Times New Roman" pitchFamily="18" charset="0"/>
                <a:ea typeface="宋体" charset="-122"/>
              </a:rPr>
              <a:t>BC</a:t>
            </a:r>
            <a:r>
              <a:rPr lang="zh-CN" altLang="en-US" dirty="0">
                <a:solidFill>
                  <a:schemeClr val="tx2"/>
                </a:solidFill>
                <a:latin typeface="Times New Roman" pitchFamily="18" charset="0"/>
                <a:ea typeface="宋体" charset="-122"/>
              </a:rPr>
              <a:t>中均未出现</a:t>
            </a:r>
            <a:r>
              <a:rPr lang="zh-CN" altLang="en-US" dirty="0">
                <a:latin typeface="Times New Roman" pitchFamily="18" charset="0"/>
                <a:ea typeface="宋体" charset="-122"/>
              </a:rPr>
              <a:t>, 因此</a:t>
            </a:r>
            <a:r>
              <a:rPr lang="en-US" altLang="zh-CN" dirty="0">
                <a:latin typeface="Times New Roman" pitchFamily="18" charset="0"/>
                <a:ea typeface="宋体" charset="-122"/>
              </a:rPr>
              <a:t>AB</a:t>
            </a:r>
            <a:r>
              <a:rPr lang="zh-CN" altLang="en-US" dirty="0">
                <a:latin typeface="Times New Roman" pitchFamily="18" charset="0"/>
                <a:ea typeface="宋体" charset="-122"/>
              </a:rPr>
              <a:t>也应作为一个关系子模式。</a:t>
            </a:r>
          </a:p>
          <a:p>
            <a:pPr lvl="1">
              <a:lnSpc>
                <a:spcPct val="105000"/>
              </a:lnSpc>
              <a:spcBef>
                <a:spcPct val="40000"/>
              </a:spcBef>
              <a:buFont typeface="Wingdings" pitchFamily="2" charset="2"/>
              <a:buNone/>
            </a:pPr>
            <a:r>
              <a:rPr lang="zh-CN" altLang="en-US" dirty="0">
                <a:latin typeface="Times New Roman" pitchFamily="18" charset="0"/>
                <a:ea typeface="宋体" charset="-122"/>
              </a:rPr>
              <a:t>       分解 </a:t>
            </a:r>
            <a:r>
              <a:rPr lang="zh-CN" altLang="en-US" dirty="0">
                <a:solidFill>
                  <a:schemeClr val="tx2"/>
                </a:solidFill>
                <a:latin typeface="Times New Roman" pitchFamily="18" charset="0"/>
                <a:ea typeface="宋体" charset="-122"/>
                <a:sym typeface="Symbol" pitchFamily="18" charset="2"/>
              </a:rPr>
              <a:t> = </a:t>
            </a:r>
            <a:r>
              <a:rPr lang="zh-CN" altLang="en-US" dirty="0">
                <a:solidFill>
                  <a:schemeClr val="tx2"/>
                </a:solidFill>
                <a:latin typeface="Times New Roman" pitchFamily="18" charset="0"/>
                <a:ea typeface="宋体" charset="-122"/>
              </a:rPr>
              <a:t>{</a:t>
            </a:r>
            <a:r>
              <a:rPr lang="en-US" altLang="zh-CN" dirty="0">
                <a:solidFill>
                  <a:schemeClr val="tx2"/>
                </a:solidFill>
                <a:latin typeface="Times New Roman" pitchFamily="18" charset="0"/>
                <a:ea typeface="宋体" charset="-122"/>
              </a:rPr>
              <a:t>AD, BC, AB}</a:t>
            </a:r>
            <a:r>
              <a:rPr lang="zh-CN" altLang="en-US" dirty="0">
                <a:latin typeface="Times New Roman" pitchFamily="18" charset="0"/>
                <a:ea typeface="宋体" charset="-122"/>
              </a:rPr>
              <a:t>就是相对于</a:t>
            </a:r>
            <a:r>
              <a:rPr lang="en-US" altLang="zh-CN" dirty="0">
                <a:latin typeface="Times New Roman" pitchFamily="18" charset="0"/>
                <a:ea typeface="宋体" charset="-122"/>
              </a:rPr>
              <a:t>F</a:t>
            </a:r>
            <a:r>
              <a:rPr lang="zh-CN" altLang="en-US" dirty="0">
                <a:latin typeface="Times New Roman" pitchFamily="18" charset="0"/>
                <a:ea typeface="宋体" charset="-122"/>
              </a:rPr>
              <a:t>的</a:t>
            </a:r>
            <a:r>
              <a:rPr lang="zh-CN" altLang="en-US" dirty="0">
                <a:solidFill>
                  <a:schemeClr val="tx2"/>
                </a:solidFill>
                <a:latin typeface="Times New Roman" pitchFamily="18" charset="0"/>
                <a:ea typeface="宋体" charset="-122"/>
              </a:rPr>
              <a:t>无损连接</a:t>
            </a:r>
            <a:r>
              <a:rPr lang="zh-CN" altLang="en-US" dirty="0">
                <a:latin typeface="Times New Roman" pitchFamily="18" charset="0"/>
                <a:ea typeface="宋体" charset="-122"/>
              </a:rPr>
              <a:t>且</a:t>
            </a:r>
            <a:r>
              <a:rPr lang="zh-CN" altLang="en-US" dirty="0">
                <a:solidFill>
                  <a:schemeClr val="tx2"/>
                </a:solidFill>
                <a:latin typeface="Times New Roman" pitchFamily="18" charset="0"/>
                <a:ea typeface="宋体" charset="-122"/>
              </a:rPr>
              <a:t>保持函数依赖</a:t>
            </a:r>
            <a:r>
              <a:rPr lang="zh-CN" altLang="en-US" dirty="0">
                <a:latin typeface="Times New Roman" pitchFamily="18" charset="0"/>
                <a:ea typeface="宋体" charset="-122"/>
              </a:rPr>
              <a:t>的分解, 同时</a:t>
            </a:r>
            <a:r>
              <a:rPr lang="en-US" altLang="zh-CN" dirty="0">
                <a:latin typeface="Times New Roman" pitchFamily="18" charset="0"/>
                <a:ea typeface="宋体" charset="-122"/>
              </a:rPr>
              <a:t>ρ</a:t>
            </a:r>
            <a:r>
              <a:rPr lang="zh-CN" altLang="en-US" dirty="0">
                <a:latin typeface="Times New Roman" pitchFamily="18" charset="0"/>
                <a:ea typeface="宋体" charset="-122"/>
              </a:rPr>
              <a:t>中每个模式均是</a:t>
            </a:r>
            <a:r>
              <a:rPr lang="zh-CN" altLang="en-US" dirty="0">
                <a:solidFill>
                  <a:schemeClr val="tx2"/>
                </a:solidFill>
                <a:latin typeface="Times New Roman" pitchFamily="18" charset="0"/>
                <a:ea typeface="宋体" charset="-122"/>
              </a:rPr>
              <a:t>3</a:t>
            </a:r>
            <a:r>
              <a:rPr lang="en-US" altLang="zh-CN" dirty="0">
                <a:solidFill>
                  <a:schemeClr val="tx2"/>
                </a:solidFill>
                <a:latin typeface="Times New Roman" pitchFamily="18" charset="0"/>
                <a:ea typeface="宋体" charset="-122"/>
              </a:rPr>
              <a:t>NF</a:t>
            </a:r>
            <a:r>
              <a:rPr lang="zh-CN" altLang="en-US" dirty="0">
                <a:solidFill>
                  <a:schemeClr val="tx2"/>
                </a:solidFill>
                <a:latin typeface="Times New Roman" pitchFamily="18" charset="0"/>
                <a:ea typeface="宋体" charset="-122"/>
              </a:rPr>
              <a:t>模式</a:t>
            </a:r>
            <a:r>
              <a:rPr lang="zh-CN" altLang="en-US" dirty="0">
                <a:latin typeface="Times New Roman" pitchFamily="18" charset="0"/>
                <a:ea typeface="宋体" charset="-122"/>
              </a:rPr>
              <a:t>。</a:t>
            </a:r>
          </a:p>
        </p:txBody>
      </p:sp>
      <p:sp>
        <p:nvSpPr>
          <p:cNvPr id="4" name="页脚占位符 3">
            <a:extLst>
              <a:ext uri="{FF2B5EF4-FFF2-40B4-BE49-F238E27FC236}">
                <a16:creationId xmlns:a16="http://schemas.microsoft.com/office/drawing/2014/main" id="{22BE4A45-66AE-759F-445D-769478D062D9}"/>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9A8F7529-2153-00C1-4681-C1E28C6594A9}"/>
              </a:ext>
            </a:extLst>
          </p:cNvPr>
          <p:cNvSpPr>
            <a:spLocks noGrp="1"/>
          </p:cNvSpPr>
          <p:nvPr>
            <p:ph type="sldNum" sz="quarter" idx="12"/>
          </p:nvPr>
        </p:nvSpPr>
        <p:spPr/>
        <p:txBody>
          <a:bodyPr/>
          <a:lstStyle/>
          <a:p>
            <a:fld id="{A2D74603-B40B-4D66-8F6E-41C870D48932}" type="slidenum">
              <a:rPr lang="en-US" altLang="zh-CN" smtClean="0"/>
              <a:pPr/>
              <a:t>159</a:t>
            </a:fld>
            <a:r>
              <a:rPr lang="en-US" altLang="zh-CN"/>
              <a:t>/162</a:t>
            </a:r>
            <a:endParaRPr lang="en-US" altLang="zh-CN" dirty="0"/>
          </a:p>
        </p:txBody>
      </p:sp>
    </p:spTree>
    <p:extLst>
      <p:ext uri="{BB962C8B-B14F-4D97-AF65-F5344CB8AC3E}">
        <p14:creationId xmlns:p14="http://schemas.microsoft.com/office/powerpoint/2010/main" val="1580704922"/>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363523">
                                            <p:txEl>
                                              <p:pRg st="0" end="0"/>
                                            </p:txEl>
                                          </p:spTgt>
                                        </p:tgtEl>
                                        <p:attrNameLst>
                                          <p:attrName>style.visibility</p:attrName>
                                        </p:attrNameLst>
                                      </p:cBhvr>
                                      <p:to>
                                        <p:strVal val="visible"/>
                                      </p:to>
                                    </p:set>
                                    <p:animEffect transition="in" filter="barn(outHorizontal)">
                                      <p:cBhvr>
                                        <p:cTn id="7" dur="500"/>
                                        <p:tgtEl>
                                          <p:spTgt spid="3635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363523">
                                            <p:txEl>
                                              <p:pRg st="1" end="1"/>
                                            </p:txEl>
                                          </p:spTgt>
                                        </p:tgtEl>
                                        <p:attrNameLst>
                                          <p:attrName>style.visibility</p:attrName>
                                        </p:attrNameLst>
                                      </p:cBhvr>
                                      <p:to>
                                        <p:strVal val="visible"/>
                                      </p:to>
                                    </p:set>
                                    <p:animEffect transition="in" filter="barn(outHorizontal)">
                                      <p:cBhvr>
                                        <p:cTn id="12" dur="500"/>
                                        <p:tgtEl>
                                          <p:spTgt spid="36352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363523">
                                            <p:txEl>
                                              <p:pRg st="2" end="2"/>
                                            </p:txEl>
                                          </p:spTgt>
                                        </p:tgtEl>
                                        <p:attrNameLst>
                                          <p:attrName>style.visibility</p:attrName>
                                        </p:attrNameLst>
                                      </p:cBhvr>
                                      <p:to>
                                        <p:strVal val="visible"/>
                                      </p:to>
                                    </p:set>
                                    <p:animEffect transition="in" filter="barn(outHorizontal)">
                                      <p:cBhvr>
                                        <p:cTn id="17" dur="500"/>
                                        <p:tgtEl>
                                          <p:spTgt spid="36352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363523">
                                            <p:txEl>
                                              <p:pRg st="3" end="3"/>
                                            </p:txEl>
                                          </p:spTgt>
                                        </p:tgtEl>
                                        <p:attrNameLst>
                                          <p:attrName>style.visibility</p:attrName>
                                        </p:attrNameLst>
                                      </p:cBhvr>
                                      <p:to>
                                        <p:strVal val="visible"/>
                                      </p:to>
                                    </p:set>
                                    <p:animEffect transition="in" filter="barn(outHorizontal)">
                                      <p:cBhvr>
                                        <p:cTn id="22" dur="500"/>
                                        <p:tgtEl>
                                          <p:spTgt spid="36352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42" fill="hold" grpId="0" nodeType="clickEffect">
                                  <p:stCondLst>
                                    <p:cond delay="0"/>
                                  </p:stCondLst>
                                  <p:childTnLst>
                                    <p:set>
                                      <p:cBhvr>
                                        <p:cTn id="26" dur="1" fill="hold">
                                          <p:stCondLst>
                                            <p:cond delay="0"/>
                                          </p:stCondLst>
                                        </p:cTn>
                                        <p:tgtEl>
                                          <p:spTgt spid="363523">
                                            <p:txEl>
                                              <p:pRg st="4" end="4"/>
                                            </p:txEl>
                                          </p:spTgt>
                                        </p:tgtEl>
                                        <p:attrNameLst>
                                          <p:attrName>style.visibility</p:attrName>
                                        </p:attrNameLst>
                                      </p:cBhvr>
                                      <p:to>
                                        <p:strVal val="visible"/>
                                      </p:to>
                                    </p:set>
                                    <p:animEffect transition="in" filter="barn(outHorizontal)">
                                      <p:cBhvr>
                                        <p:cTn id="27" dur="500"/>
                                        <p:tgtEl>
                                          <p:spTgt spid="3635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3" grpId="0" build="p" bldLvl="2" autoUpdateAnimBg="0"/>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DCC0DD49-2490-4A4F-BFED-7FBFA90B9E6A}" type="datetime1">
              <a:rPr lang="zh-CN" altLang="en-US" smtClean="0"/>
              <a:t>2025/11/6</a:t>
            </a:fld>
            <a:endParaRPr lang="en-US" altLang="zh-CN"/>
          </a:p>
        </p:txBody>
      </p:sp>
      <p:sp>
        <p:nvSpPr>
          <p:cNvPr id="332802" name="Rectangle 2"/>
          <p:cNvSpPr>
            <a:spLocks noGrp="1" noChangeArrowheads="1"/>
          </p:cNvSpPr>
          <p:nvPr>
            <p:ph type="title"/>
          </p:nvPr>
        </p:nvSpPr>
        <p:spPr/>
        <p:txBody>
          <a:bodyPr/>
          <a:lstStyle/>
          <a:p>
            <a:r>
              <a:rPr lang="en-US" altLang="zh-CN" dirty="0"/>
              <a:t>8.4.3 </a:t>
            </a:r>
            <a:r>
              <a:rPr lang="zh-CN" altLang="en-US" dirty="0"/>
              <a:t>模式分解算法</a:t>
            </a:r>
            <a:r>
              <a:rPr lang="en-US" altLang="zh-CN" dirty="0"/>
              <a:t>(</a:t>
            </a:r>
            <a:r>
              <a:rPr lang="zh-CN" altLang="en-US" sz="3200" dirty="0"/>
              <a:t>了解</a:t>
            </a:r>
            <a:r>
              <a:rPr lang="en-US" altLang="zh-CN" sz="3200" dirty="0"/>
              <a:t>) </a:t>
            </a:r>
            <a:endParaRPr lang="zh-CN" altLang="en-US" dirty="0"/>
          </a:p>
        </p:txBody>
      </p:sp>
      <p:sp>
        <p:nvSpPr>
          <p:cNvPr id="332803" name="Rectangle 3"/>
          <p:cNvSpPr>
            <a:spLocks noGrp="1" noChangeArrowheads="1"/>
          </p:cNvSpPr>
          <p:nvPr>
            <p:ph type="body" idx="1"/>
          </p:nvPr>
        </p:nvSpPr>
        <p:spPr>
          <a:xfrm>
            <a:off x="357158" y="1447800"/>
            <a:ext cx="8586817" cy="5029200"/>
          </a:xfrm>
          <a:solidFill>
            <a:schemeClr val="bg1"/>
          </a:solidFill>
        </p:spPr>
        <p:txBody>
          <a:bodyPr/>
          <a:lstStyle/>
          <a:p>
            <a:pPr marL="609600" indent="-609600">
              <a:lnSpc>
                <a:spcPct val="90000"/>
              </a:lnSpc>
              <a:buNone/>
            </a:pPr>
            <a:r>
              <a:rPr lang="zh-CN" altLang="en-US" sz="2800" dirty="0">
                <a:solidFill>
                  <a:srgbClr val="FF0000"/>
                </a:solidFill>
              </a:rPr>
              <a:t>算法</a:t>
            </a:r>
            <a:r>
              <a:rPr lang="en-US" altLang="zh-CN" sz="2800" dirty="0">
                <a:solidFill>
                  <a:srgbClr val="FF0000"/>
                </a:solidFill>
              </a:rPr>
              <a:t>6.5 BCNF</a:t>
            </a:r>
            <a:r>
              <a:rPr lang="zh-CN" altLang="en-US" sz="2800" dirty="0">
                <a:solidFill>
                  <a:srgbClr val="FF0000"/>
                </a:solidFill>
              </a:rPr>
              <a:t>分解法</a:t>
            </a:r>
            <a:r>
              <a:rPr lang="zh-CN" altLang="en-US" sz="2800" dirty="0"/>
              <a:t> </a:t>
            </a:r>
            <a:r>
              <a:rPr lang="en-US" altLang="zh-CN" sz="2800" dirty="0"/>
              <a:t>(R&lt;U,F&gt;</a:t>
            </a:r>
            <a:r>
              <a:rPr lang="zh-CN" altLang="en-US" sz="2800" dirty="0"/>
              <a:t>转换为</a:t>
            </a:r>
            <a:r>
              <a:rPr lang="en-US" altLang="zh-CN" sz="2800" u="sng" dirty="0">
                <a:solidFill>
                  <a:srgbClr val="0000FF"/>
                </a:solidFill>
              </a:rPr>
              <a:t>BCNF</a:t>
            </a:r>
            <a:r>
              <a:rPr lang="zh-CN" altLang="en-US" sz="2800" u="sng" dirty="0"/>
              <a:t>的</a:t>
            </a:r>
            <a:r>
              <a:rPr lang="zh-CN" altLang="en-US" sz="2800" u="sng" dirty="0">
                <a:solidFill>
                  <a:srgbClr val="0000FF"/>
                </a:solidFill>
              </a:rPr>
              <a:t>无损连接</a:t>
            </a:r>
            <a:r>
              <a:rPr lang="zh-CN" altLang="en-US" sz="2800" dirty="0"/>
              <a:t>分解</a:t>
            </a:r>
            <a:r>
              <a:rPr lang="en-US" altLang="zh-CN" sz="2800" dirty="0"/>
              <a:t>)</a:t>
            </a:r>
            <a:endParaRPr lang="zh-CN" altLang="en-US" sz="2800" dirty="0">
              <a:solidFill>
                <a:schemeClr val="tx2"/>
              </a:solidFill>
            </a:endParaRPr>
          </a:p>
          <a:p>
            <a:pPr marL="609600" indent="-609600">
              <a:lnSpc>
                <a:spcPct val="90000"/>
              </a:lnSpc>
              <a:buFontTx/>
              <a:buAutoNum type="arabicPeriod"/>
            </a:pPr>
            <a:r>
              <a:rPr lang="zh-CN" altLang="en-US" sz="2800" dirty="0"/>
              <a:t>令</a:t>
            </a:r>
            <a:r>
              <a:rPr lang="en-US" altLang="zh-CN" sz="2800" dirty="0">
                <a:solidFill>
                  <a:schemeClr val="hlink"/>
                </a:solidFill>
                <a:sym typeface="Symbol" pitchFamily="18" charset="2"/>
              </a:rPr>
              <a:t>ρ</a:t>
            </a:r>
            <a:r>
              <a:rPr lang="en-US" altLang="zh-CN" sz="2800" dirty="0"/>
              <a:t>={R&lt;U, F&gt;}</a:t>
            </a:r>
            <a:r>
              <a:rPr lang="zh-CN" altLang="en-US" sz="2800" dirty="0"/>
              <a:t>；</a:t>
            </a:r>
            <a:endParaRPr lang="en-US" altLang="zh-CN" sz="2800" dirty="0"/>
          </a:p>
          <a:p>
            <a:pPr marL="609600" indent="-609600">
              <a:lnSpc>
                <a:spcPct val="90000"/>
              </a:lnSpc>
              <a:buFontTx/>
              <a:buAutoNum type="arabicPeriod"/>
            </a:pPr>
            <a:r>
              <a:rPr lang="zh-CN" altLang="en-US" sz="2800" dirty="0">
                <a:solidFill>
                  <a:schemeClr val="tx2"/>
                </a:solidFill>
              </a:rPr>
              <a:t>检查</a:t>
            </a:r>
            <a:r>
              <a:rPr lang="en-US" altLang="zh-CN" sz="2800" dirty="0">
                <a:solidFill>
                  <a:schemeClr val="hlink"/>
                </a:solidFill>
                <a:sym typeface="Symbol" pitchFamily="18" charset="2"/>
              </a:rPr>
              <a:t>ρ</a:t>
            </a:r>
            <a:r>
              <a:rPr lang="zh-CN" altLang="en-US" sz="2800" dirty="0">
                <a:solidFill>
                  <a:schemeClr val="tx2"/>
                </a:solidFill>
              </a:rPr>
              <a:t>中各关系模式是否均属于</a:t>
            </a:r>
            <a:r>
              <a:rPr lang="en-US" altLang="zh-CN" sz="2800" dirty="0">
                <a:solidFill>
                  <a:schemeClr val="tx2"/>
                </a:solidFill>
              </a:rPr>
              <a:t>BCNF</a:t>
            </a:r>
            <a:r>
              <a:rPr lang="zh-CN" altLang="en-US" sz="2800" dirty="0">
                <a:solidFill>
                  <a:schemeClr val="tx2"/>
                </a:solidFill>
              </a:rPr>
              <a:t>。若是</a:t>
            </a:r>
            <a:r>
              <a:rPr lang="en-US" altLang="zh-CN" sz="2800" dirty="0">
                <a:solidFill>
                  <a:schemeClr val="tx2"/>
                </a:solidFill>
              </a:rPr>
              <a:t>,</a:t>
            </a:r>
            <a:r>
              <a:rPr lang="zh-CN" altLang="en-US" sz="2800" dirty="0">
                <a:solidFill>
                  <a:schemeClr val="tx2"/>
                </a:solidFill>
              </a:rPr>
              <a:t>则算法终止；</a:t>
            </a:r>
            <a:endParaRPr lang="en-US" altLang="zh-CN" sz="2800" dirty="0">
              <a:solidFill>
                <a:schemeClr val="tx2"/>
              </a:solidFill>
            </a:endParaRPr>
          </a:p>
          <a:p>
            <a:pPr marL="609600" indent="-609600">
              <a:lnSpc>
                <a:spcPct val="90000"/>
              </a:lnSpc>
              <a:buFontTx/>
              <a:buAutoNum type="arabicPeriod"/>
            </a:pPr>
            <a:r>
              <a:rPr lang="zh-CN" altLang="en-US" sz="2800" dirty="0">
                <a:sym typeface="Symbol" pitchFamily="18" charset="2"/>
              </a:rPr>
              <a:t>否则，若</a:t>
            </a:r>
            <a:r>
              <a:rPr lang="en-US" altLang="zh-CN" sz="2800" dirty="0">
                <a:solidFill>
                  <a:schemeClr val="hlink"/>
                </a:solidFill>
                <a:sym typeface="Symbol" pitchFamily="18" charset="2"/>
              </a:rPr>
              <a:t>ρ</a:t>
            </a:r>
            <a:r>
              <a:rPr lang="zh-CN" altLang="en-US" sz="2800" dirty="0"/>
              <a:t>中</a:t>
            </a:r>
            <a:r>
              <a:rPr lang="en-US" altLang="zh-CN" sz="2800" dirty="0"/>
              <a:t>R</a:t>
            </a:r>
            <a:r>
              <a:rPr lang="en-US" altLang="zh-CN" sz="2800" baseline="-25000" dirty="0"/>
              <a:t>i</a:t>
            </a:r>
            <a:r>
              <a:rPr lang="en-US" altLang="zh-CN" sz="2800" dirty="0"/>
              <a:t>&lt;U</a:t>
            </a:r>
            <a:r>
              <a:rPr lang="en-US" altLang="zh-CN" sz="2800" baseline="-25000" dirty="0"/>
              <a:t>i</a:t>
            </a:r>
            <a:r>
              <a:rPr lang="en-US" altLang="zh-CN" sz="2800" dirty="0"/>
              <a:t>, F</a:t>
            </a:r>
            <a:r>
              <a:rPr lang="en-US" altLang="zh-CN" sz="2800" baseline="-25000" dirty="0"/>
              <a:t>i</a:t>
            </a:r>
            <a:r>
              <a:rPr lang="en-US" altLang="zh-CN" sz="2800" dirty="0"/>
              <a:t>&gt;</a:t>
            </a:r>
            <a:r>
              <a:rPr lang="zh-CN" altLang="en-US" sz="2800" dirty="0">
                <a:solidFill>
                  <a:srgbClr val="0000FF"/>
                </a:solidFill>
              </a:rPr>
              <a:t>不属于</a:t>
            </a:r>
            <a:r>
              <a:rPr lang="en-US" altLang="zh-CN" sz="2800" dirty="0">
                <a:solidFill>
                  <a:srgbClr val="0000FF"/>
                </a:solidFill>
              </a:rPr>
              <a:t>BCNF</a:t>
            </a:r>
            <a:r>
              <a:rPr lang="en-US" altLang="zh-CN" sz="2800" dirty="0"/>
              <a:t>, </a:t>
            </a:r>
            <a:r>
              <a:rPr lang="zh-CN" altLang="en-US" sz="2800" dirty="0"/>
              <a:t>那么必有</a:t>
            </a:r>
            <a:r>
              <a:rPr lang="en-US" altLang="zh-CN" sz="2800" dirty="0" err="1"/>
              <a:t>X→A∈F</a:t>
            </a:r>
            <a:r>
              <a:rPr lang="en-US" altLang="zh-CN" sz="2800" baseline="-25000" dirty="0" err="1"/>
              <a:t>i</a:t>
            </a:r>
            <a:r>
              <a:rPr lang="en-US" altLang="zh-CN" sz="2800" baseline="30000" dirty="0"/>
              <a:t>+</a:t>
            </a:r>
            <a:r>
              <a:rPr lang="en-US" altLang="zh-CN" sz="2800" dirty="0"/>
              <a:t>, A</a:t>
            </a:r>
            <a:r>
              <a:rPr lang="en-US" altLang="zh-CN" sz="2800" b="1" dirty="0">
                <a:solidFill>
                  <a:srgbClr val="002060"/>
                </a:solidFill>
                <a:sym typeface="Symbol" pitchFamily="18" charset="2"/>
              </a:rPr>
              <a:t></a:t>
            </a:r>
            <a:r>
              <a:rPr lang="en-US" altLang="zh-CN" sz="2800" dirty="0"/>
              <a:t>X, </a:t>
            </a:r>
            <a:r>
              <a:rPr lang="zh-CN" altLang="en-US" sz="2800" dirty="0"/>
              <a:t>且</a:t>
            </a:r>
            <a:r>
              <a:rPr lang="en-US" altLang="zh-CN" sz="2800" dirty="0">
                <a:solidFill>
                  <a:srgbClr val="0000FF"/>
                </a:solidFill>
              </a:rPr>
              <a:t>X</a:t>
            </a:r>
            <a:r>
              <a:rPr lang="zh-CN" altLang="en-US" sz="2800" dirty="0">
                <a:solidFill>
                  <a:srgbClr val="FF0000"/>
                </a:solidFill>
              </a:rPr>
              <a:t>非</a:t>
            </a:r>
            <a:r>
              <a:rPr lang="en-US" altLang="zh-CN" sz="2800" dirty="0"/>
              <a:t>R</a:t>
            </a:r>
            <a:r>
              <a:rPr lang="en-US" altLang="zh-CN" sz="2800" baseline="-25000" dirty="0"/>
              <a:t>i</a:t>
            </a:r>
            <a:r>
              <a:rPr lang="zh-CN" altLang="en-US" sz="2800" dirty="0"/>
              <a:t>的</a:t>
            </a:r>
            <a:r>
              <a:rPr lang="zh-CN" altLang="en-US" sz="2800" dirty="0">
                <a:solidFill>
                  <a:srgbClr val="0000FF"/>
                </a:solidFill>
              </a:rPr>
              <a:t>码</a:t>
            </a:r>
            <a:r>
              <a:rPr lang="zh-CN" altLang="en-US" sz="2800" dirty="0"/>
              <a:t>，也即</a:t>
            </a:r>
            <a:r>
              <a:rPr lang="en-US" altLang="zh-CN" sz="2800" dirty="0" err="1"/>
              <a:t>X</a:t>
            </a:r>
            <a:r>
              <a:rPr lang="en-US" altLang="zh-CN" sz="2800" baseline="-25000" dirty="0" err="1"/>
              <a:t>Fi</a:t>
            </a:r>
            <a:r>
              <a:rPr lang="en-US" altLang="zh-CN" sz="2800" baseline="30000" dirty="0"/>
              <a:t>+</a:t>
            </a:r>
            <a:r>
              <a:rPr lang="zh-CN" altLang="en-US" sz="2800" dirty="0">
                <a:solidFill>
                  <a:srgbClr val="FF0000"/>
                </a:solidFill>
              </a:rPr>
              <a:t>不包含</a:t>
            </a:r>
            <a:r>
              <a:rPr lang="en-US" altLang="zh-CN" sz="2800" dirty="0"/>
              <a:t>U</a:t>
            </a:r>
            <a:r>
              <a:rPr lang="en-US" altLang="zh-CN" sz="2800" baseline="-25000" dirty="0"/>
              <a:t>i</a:t>
            </a:r>
            <a:r>
              <a:rPr lang="zh-CN" altLang="en-US" sz="2800" dirty="0"/>
              <a:t>。因此，</a:t>
            </a:r>
            <a:r>
              <a:rPr lang="en-US" altLang="zh-CN" sz="2800" dirty="0"/>
              <a:t>XA</a:t>
            </a:r>
            <a:r>
              <a:rPr lang="zh-CN" altLang="en-US" sz="2800" dirty="0"/>
              <a:t>是</a:t>
            </a:r>
            <a:r>
              <a:rPr lang="en-US" altLang="zh-CN" sz="2800" dirty="0"/>
              <a:t>U</a:t>
            </a:r>
            <a:r>
              <a:rPr lang="en-US" altLang="zh-CN" sz="2800" baseline="-25000" dirty="0"/>
              <a:t>i</a:t>
            </a:r>
            <a:r>
              <a:rPr lang="zh-CN" altLang="en-US" sz="2800" dirty="0"/>
              <a:t>的</a:t>
            </a:r>
            <a:r>
              <a:rPr lang="zh-CN" altLang="en-US" sz="2800" dirty="0">
                <a:solidFill>
                  <a:srgbClr val="0000FF"/>
                </a:solidFill>
              </a:rPr>
              <a:t>真子集</a:t>
            </a:r>
            <a:r>
              <a:rPr lang="zh-CN" altLang="en-US" sz="2800" dirty="0"/>
              <a:t>。对</a:t>
            </a:r>
            <a:r>
              <a:rPr lang="en-US" altLang="zh-CN" sz="2800" dirty="0"/>
              <a:t>R</a:t>
            </a:r>
            <a:r>
              <a:rPr lang="en-US" altLang="zh-CN" sz="2800" baseline="-25000" dirty="0"/>
              <a:t>i</a:t>
            </a:r>
            <a:r>
              <a:rPr lang="zh-CN" altLang="en-US" sz="2800" dirty="0"/>
              <a:t>进行分解</a:t>
            </a:r>
            <a:r>
              <a:rPr lang="en-US" altLang="zh-CN" sz="2800" dirty="0">
                <a:sym typeface="Symbol" panose="05050102010706020507" pitchFamily="18" charset="2"/>
              </a:rPr>
              <a:t></a:t>
            </a:r>
            <a:r>
              <a:rPr lang="en-US" altLang="zh-CN" sz="2800" dirty="0"/>
              <a:t>=(S1,S2)</a:t>
            </a:r>
            <a:r>
              <a:rPr lang="zh-CN" altLang="en-US" sz="2800" dirty="0"/>
              <a:t>，</a:t>
            </a:r>
            <a:r>
              <a:rPr lang="en-US" altLang="zh-CN" sz="2800" dirty="0"/>
              <a:t>U</a:t>
            </a:r>
            <a:r>
              <a:rPr lang="en-US" altLang="zh-CN" sz="2800" baseline="-25000" dirty="0"/>
              <a:t>s1</a:t>
            </a:r>
            <a:r>
              <a:rPr lang="en-US" altLang="zh-CN" sz="2800" dirty="0"/>
              <a:t>=</a:t>
            </a:r>
            <a:r>
              <a:rPr lang="en-US" altLang="zh-CN" sz="2800" dirty="0">
                <a:solidFill>
                  <a:srgbClr val="0000FF"/>
                </a:solidFill>
              </a:rPr>
              <a:t>XA</a:t>
            </a:r>
            <a:r>
              <a:rPr lang="zh-CN" altLang="en-US" sz="2800" dirty="0"/>
              <a:t>，</a:t>
            </a:r>
            <a:r>
              <a:rPr lang="en-US" altLang="zh-CN" sz="2800" dirty="0"/>
              <a:t>U</a:t>
            </a:r>
            <a:r>
              <a:rPr lang="en-US" altLang="zh-CN" sz="2800" baseline="-25000" dirty="0"/>
              <a:t>s2</a:t>
            </a:r>
            <a:r>
              <a:rPr lang="en-US" altLang="zh-CN" sz="2800" dirty="0"/>
              <a:t>=U</a:t>
            </a:r>
            <a:r>
              <a:rPr lang="en-US" altLang="zh-CN" sz="2800" baseline="-25000" dirty="0"/>
              <a:t>i</a:t>
            </a:r>
            <a:r>
              <a:rPr lang="en-US" altLang="zh-CN" sz="2800" dirty="0"/>
              <a:t>-{</a:t>
            </a:r>
            <a:r>
              <a:rPr lang="en-US" altLang="zh-CN" sz="2800" dirty="0">
                <a:solidFill>
                  <a:srgbClr val="0000FF"/>
                </a:solidFill>
              </a:rPr>
              <a:t>A</a:t>
            </a:r>
            <a:r>
              <a:rPr lang="en-US" altLang="zh-CN" sz="2800" dirty="0"/>
              <a:t>}</a:t>
            </a:r>
            <a:r>
              <a:rPr lang="zh-CN" altLang="en-US" sz="2800" dirty="0"/>
              <a:t>，然后以</a:t>
            </a:r>
            <a:r>
              <a:rPr lang="en-US" altLang="zh-CN" sz="2800" dirty="0">
                <a:sym typeface="Symbol" panose="05050102010706020507" pitchFamily="18" charset="2"/>
              </a:rPr>
              <a:t></a:t>
            </a:r>
            <a:r>
              <a:rPr lang="zh-CN" altLang="en-US" sz="2800" dirty="0">
                <a:solidFill>
                  <a:srgbClr val="FF0000"/>
                </a:solidFill>
              </a:rPr>
              <a:t>代替</a:t>
            </a:r>
            <a:r>
              <a:rPr lang="en-US" altLang="zh-CN" sz="2800" dirty="0"/>
              <a:t>R</a:t>
            </a:r>
            <a:r>
              <a:rPr lang="en-US" altLang="zh-CN" sz="2800" baseline="-25000" dirty="0"/>
              <a:t>i</a:t>
            </a:r>
            <a:r>
              <a:rPr lang="en-US" altLang="zh-CN" sz="2800" dirty="0"/>
              <a:t>&lt;U</a:t>
            </a:r>
            <a:r>
              <a:rPr lang="en-US" altLang="zh-CN" sz="2800" baseline="-25000" dirty="0"/>
              <a:t>i</a:t>
            </a:r>
            <a:r>
              <a:rPr lang="en-US" altLang="zh-CN" sz="2800" dirty="0"/>
              <a:t>, F</a:t>
            </a:r>
            <a:r>
              <a:rPr lang="en-US" altLang="zh-CN" sz="2800" baseline="-25000" dirty="0"/>
              <a:t>i</a:t>
            </a:r>
            <a:r>
              <a:rPr lang="en-US" altLang="zh-CN" sz="2800" dirty="0"/>
              <a:t>&gt;,</a:t>
            </a:r>
            <a:r>
              <a:rPr lang="zh-CN" altLang="en-US" sz="2800" dirty="0"/>
              <a:t>返回第</a:t>
            </a:r>
            <a:r>
              <a:rPr lang="en-US" altLang="zh-CN" sz="2800" dirty="0"/>
              <a:t>(2)</a:t>
            </a:r>
            <a:r>
              <a:rPr lang="zh-CN" altLang="en-US" sz="2800" dirty="0"/>
              <a:t>步。</a:t>
            </a:r>
            <a:endParaRPr lang="en-US" altLang="zh-CN" sz="2800" dirty="0"/>
          </a:p>
        </p:txBody>
      </p:sp>
      <p:sp>
        <p:nvSpPr>
          <p:cNvPr id="5" name="Line 8">
            <a:extLst>
              <a:ext uri="{FF2B5EF4-FFF2-40B4-BE49-F238E27FC236}">
                <a16:creationId xmlns:a16="http://schemas.microsoft.com/office/drawing/2014/main" id="{54567B80-A1BD-9CB4-6F6F-67081C560E0B}"/>
              </a:ext>
            </a:extLst>
          </p:cNvPr>
          <p:cNvSpPr>
            <a:spLocks noChangeShapeType="1"/>
          </p:cNvSpPr>
          <p:nvPr/>
        </p:nvSpPr>
        <p:spPr bwMode="auto">
          <a:xfrm>
            <a:off x="2987824" y="4077072"/>
            <a:ext cx="76200" cy="38100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 name="页脚占位符 5">
            <a:extLst>
              <a:ext uri="{FF2B5EF4-FFF2-40B4-BE49-F238E27FC236}">
                <a16:creationId xmlns:a16="http://schemas.microsoft.com/office/drawing/2014/main" id="{FB7CFCDE-57FF-8102-D911-A0518095434D}"/>
              </a:ext>
            </a:extLst>
          </p:cNvPr>
          <p:cNvSpPr>
            <a:spLocks noGrp="1"/>
          </p:cNvSpPr>
          <p:nvPr>
            <p:ph type="ftr" sz="quarter" idx="11"/>
          </p:nvPr>
        </p:nvSpPr>
        <p:spPr/>
        <p:txBody>
          <a:bodyPr/>
          <a:lstStyle/>
          <a:p>
            <a:r>
              <a:rPr lang="en-US" altLang="zh-CN"/>
              <a:t>《数据库系统概论》- 第6章</a:t>
            </a:r>
          </a:p>
        </p:txBody>
      </p:sp>
      <p:sp>
        <p:nvSpPr>
          <p:cNvPr id="8" name="灯片编号占位符 7">
            <a:extLst>
              <a:ext uri="{FF2B5EF4-FFF2-40B4-BE49-F238E27FC236}">
                <a16:creationId xmlns:a16="http://schemas.microsoft.com/office/drawing/2014/main" id="{8AFCBC56-A438-36C5-0B20-F8DB70838D7D}"/>
              </a:ext>
            </a:extLst>
          </p:cNvPr>
          <p:cNvSpPr>
            <a:spLocks noGrp="1"/>
          </p:cNvSpPr>
          <p:nvPr>
            <p:ph type="sldNum" sz="quarter" idx="12"/>
          </p:nvPr>
        </p:nvSpPr>
        <p:spPr/>
        <p:txBody>
          <a:bodyPr/>
          <a:lstStyle/>
          <a:p>
            <a:fld id="{A2D74603-B40B-4D66-8F6E-41C870D48932}" type="slidenum">
              <a:rPr lang="en-US" altLang="zh-CN" smtClean="0"/>
              <a:pPr/>
              <a:t>160</a:t>
            </a:fld>
            <a:r>
              <a:rPr lang="en-US" altLang="zh-CN"/>
              <a:t>/162</a:t>
            </a:r>
            <a:endParaRPr lang="en-US" altLang="zh-CN" dirty="0"/>
          </a:p>
        </p:txBody>
      </p:sp>
      <p:sp>
        <p:nvSpPr>
          <p:cNvPr id="3" name="文本框 2">
            <a:extLst>
              <a:ext uri="{FF2B5EF4-FFF2-40B4-BE49-F238E27FC236}">
                <a16:creationId xmlns:a16="http://schemas.microsoft.com/office/drawing/2014/main" id="{18C281A1-F75A-EB86-417F-F4CD06CA9E7F}"/>
              </a:ext>
            </a:extLst>
          </p:cNvPr>
          <p:cNvSpPr txBox="1"/>
          <p:nvPr/>
        </p:nvSpPr>
        <p:spPr>
          <a:xfrm>
            <a:off x="813420" y="5802672"/>
            <a:ext cx="7924800" cy="424732"/>
          </a:xfrm>
          <a:prstGeom prst="rect">
            <a:avLst/>
          </a:prstGeom>
          <a:noFill/>
        </p:spPr>
        <p:txBody>
          <a:bodyPr wrap="square">
            <a:spAutoFit/>
          </a:bodyPr>
          <a:lstStyle/>
          <a:p>
            <a:pPr marL="0" indent="0">
              <a:lnSpc>
                <a:spcPct val="90000"/>
              </a:lnSpc>
              <a:buNone/>
            </a:pPr>
            <a:r>
              <a:rPr lang="zh-CN" altLang="en-US" sz="2400" dirty="0"/>
              <a:t>由于</a:t>
            </a:r>
            <a:r>
              <a:rPr lang="en-US" altLang="zh-CN" sz="2400" dirty="0"/>
              <a:t>U</a:t>
            </a:r>
            <a:r>
              <a:rPr lang="zh-CN" altLang="en-US" sz="2400" dirty="0"/>
              <a:t>中属性有限</a:t>
            </a:r>
            <a:r>
              <a:rPr lang="en-US" altLang="zh-CN" sz="2400" dirty="0"/>
              <a:t>, </a:t>
            </a:r>
            <a:r>
              <a:rPr lang="zh-CN" altLang="en-US" sz="2400" dirty="0"/>
              <a:t>因而有限次循环后算法</a:t>
            </a:r>
            <a:r>
              <a:rPr lang="en-US" altLang="zh-CN" sz="2400" dirty="0"/>
              <a:t>6.5</a:t>
            </a:r>
            <a:r>
              <a:rPr lang="zh-CN" altLang="en-US" sz="2400" dirty="0"/>
              <a:t>一定会终止。</a:t>
            </a:r>
          </a:p>
        </p:txBody>
      </p:sp>
      <p:sp>
        <p:nvSpPr>
          <p:cNvPr id="2" name="矩形 1">
            <a:extLst>
              <a:ext uri="{FF2B5EF4-FFF2-40B4-BE49-F238E27FC236}">
                <a16:creationId xmlns:a16="http://schemas.microsoft.com/office/drawing/2014/main" id="{4E0B6F8C-B576-4B33-817E-9D0C31FA9A69}"/>
              </a:ext>
            </a:extLst>
          </p:cNvPr>
          <p:cNvSpPr/>
          <p:nvPr/>
        </p:nvSpPr>
        <p:spPr>
          <a:xfrm>
            <a:off x="1752600" y="103489"/>
            <a:ext cx="7391400" cy="1077218"/>
          </a:xfrm>
          <a:prstGeom prst="rect">
            <a:avLst/>
          </a:prstGeom>
          <a:solidFill>
            <a:schemeClr val="accent1">
              <a:lumMod val="60000"/>
              <a:lumOff val="40000"/>
            </a:schemeClr>
          </a:solidFill>
        </p:spPr>
        <p:txBody>
          <a:bodyPr wrap="square">
            <a:spAutoFit/>
          </a:bodyPr>
          <a:lstStyle/>
          <a:p>
            <a:pPr>
              <a:buFont typeface="Wingdings" pitchFamily="2" charset="2"/>
              <a:buNone/>
            </a:pPr>
            <a:r>
              <a:rPr lang="zh-CN" altLang="en-US" sz="3200" dirty="0"/>
              <a:t>若</a:t>
            </a:r>
            <a:r>
              <a:rPr lang="en-US" altLang="zh-CN" sz="3200" dirty="0"/>
              <a:t>R</a:t>
            </a:r>
            <a:r>
              <a:rPr lang="en-US" altLang="zh-CN" sz="3200" dirty="0">
                <a:sym typeface="Symbol" pitchFamily="18" charset="2"/>
              </a:rPr>
              <a:t></a:t>
            </a:r>
            <a:r>
              <a:rPr lang="en-US" altLang="zh-CN" sz="3200" dirty="0"/>
              <a:t>1NF</a:t>
            </a:r>
            <a:r>
              <a:rPr lang="zh-CN" altLang="en-US" sz="3200" dirty="0"/>
              <a:t>，对</a:t>
            </a:r>
            <a:r>
              <a:rPr lang="en-US" altLang="zh-CN" sz="3200" dirty="0"/>
              <a:t>R</a:t>
            </a:r>
            <a:r>
              <a:rPr lang="zh-CN" altLang="en-US" sz="3200" dirty="0"/>
              <a:t>中的每一个</a:t>
            </a:r>
            <a:r>
              <a:rPr lang="zh-CN" altLang="en-US" sz="3200" u="sng" dirty="0">
                <a:solidFill>
                  <a:srgbClr val="FF0000"/>
                </a:solidFill>
              </a:rPr>
              <a:t>非平凡的函数依赖</a:t>
            </a:r>
            <a:r>
              <a:rPr lang="en-US" altLang="zh-CN" sz="3200" u="sng" dirty="0">
                <a:solidFill>
                  <a:srgbClr val="FF0000"/>
                </a:solidFill>
              </a:rPr>
              <a:t>X</a:t>
            </a:r>
            <a:r>
              <a:rPr lang="en-US" altLang="zh-CN" sz="3200" u="sng" dirty="0">
                <a:solidFill>
                  <a:srgbClr val="FF0000"/>
                </a:solidFill>
                <a:latin typeface="宋体" pitchFamily="2" charset="-122"/>
              </a:rPr>
              <a:t>→</a:t>
            </a:r>
            <a:r>
              <a:rPr lang="en-US" altLang="zh-CN" sz="3200" u="sng" dirty="0">
                <a:solidFill>
                  <a:srgbClr val="FF0000"/>
                </a:solidFill>
              </a:rPr>
              <a:t>Y</a:t>
            </a:r>
            <a:r>
              <a:rPr lang="zh-CN" altLang="en-US" sz="3200" dirty="0"/>
              <a:t>，</a:t>
            </a:r>
            <a:r>
              <a:rPr lang="en-US" altLang="zh-CN" sz="3200" b="1" dirty="0">
                <a:solidFill>
                  <a:srgbClr val="0000FF"/>
                </a:solidFill>
              </a:rPr>
              <a:t>X</a:t>
            </a:r>
            <a:r>
              <a:rPr lang="zh-CN" altLang="en-US" sz="3200" b="1" dirty="0">
                <a:solidFill>
                  <a:srgbClr val="0000FF"/>
                </a:solidFill>
              </a:rPr>
              <a:t>中均含有码</a:t>
            </a:r>
            <a:r>
              <a:rPr lang="zh-CN" altLang="en-US" sz="3200" dirty="0"/>
              <a:t>，则</a:t>
            </a:r>
            <a:r>
              <a:rPr lang="en-US" altLang="zh-CN" sz="3200" dirty="0"/>
              <a:t>R</a:t>
            </a:r>
            <a:r>
              <a:rPr lang="en-US" altLang="zh-CN" sz="3200" dirty="0">
                <a:sym typeface="Symbol" pitchFamily="18" charset="2"/>
              </a:rPr>
              <a:t></a:t>
            </a:r>
            <a:r>
              <a:rPr lang="en-US" altLang="zh-CN" sz="3200" dirty="0"/>
              <a:t>BCNF</a:t>
            </a:r>
            <a:r>
              <a:rPr lang="zh-CN" altLang="en-US" sz="3200" dirty="0"/>
              <a:t>。</a:t>
            </a:r>
          </a:p>
        </p:txBody>
      </p:sp>
    </p:spTree>
    <p:extLst>
      <p:ext uri="{BB962C8B-B14F-4D97-AF65-F5344CB8AC3E}">
        <p14:creationId xmlns:p14="http://schemas.microsoft.com/office/powerpoint/2010/main" val="22526508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7874" name="Rectangle 2"/>
          <p:cNvSpPr>
            <a:spLocks noGrp="1" noChangeArrowheads="1"/>
          </p:cNvSpPr>
          <p:nvPr>
            <p:ph type="title"/>
          </p:nvPr>
        </p:nvSpPr>
        <p:spPr/>
        <p:txBody>
          <a:bodyPr/>
          <a:lstStyle/>
          <a:p>
            <a:r>
              <a:rPr lang="zh-CN" altLang="en-US" dirty="0"/>
              <a:t>第</a:t>
            </a:r>
            <a:r>
              <a:rPr lang="en-US" altLang="zh-CN" dirty="0"/>
              <a:t>8</a:t>
            </a:r>
            <a:r>
              <a:rPr lang="zh-CN" altLang="en-US" dirty="0"/>
              <a:t>章  小结(1)</a:t>
            </a:r>
          </a:p>
        </p:txBody>
      </p:sp>
      <p:sp>
        <p:nvSpPr>
          <p:cNvPr id="2" name="日期占位符 1"/>
          <p:cNvSpPr>
            <a:spLocks noGrp="1"/>
          </p:cNvSpPr>
          <p:nvPr>
            <p:ph type="dt" sz="half" idx="10"/>
          </p:nvPr>
        </p:nvSpPr>
        <p:spPr/>
        <p:txBody>
          <a:bodyPr/>
          <a:lstStyle/>
          <a:p>
            <a:fld id="{C190CB5A-85BD-43A3-BEB6-81A7450796C0}" type="datetime1">
              <a:rPr lang="zh-CN" altLang="en-US" smtClean="0"/>
              <a:t>2025/11/6</a:t>
            </a:fld>
            <a:endParaRPr lang="en-US" altLang="zh-CN"/>
          </a:p>
        </p:txBody>
      </p:sp>
      <p:sp>
        <p:nvSpPr>
          <p:cNvPr id="4" name="页脚占位符 3">
            <a:extLst>
              <a:ext uri="{FF2B5EF4-FFF2-40B4-BE49-F238E27FC236}">
                <a16:creationId xmlns:a16="http://schemas.microsoft.com/office/drawing/2014/main" id="{B23278ED-7768-6120-618A-198B8C2DC5E4}"/>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CF62729E-659F-92B3-17EF-0FD496E9C505}"/>
              </a:ext>
            </a:extLst>
          </p:cNvPr>
          <p:cNvSpPr>
            <a:spLocks noGrp="1"/>
          </p:cNvSpPr>
          <p:nvPr>
            <p:ph type="sldNum" sz="quarter" idx="12"/>
          </p:nvPr>
        </p:nvSpPr>
        <p:spPr/>
        <p:txBody>
          <a:bodyPr/>
          <a:lstStyle/>
          <a:p>
            <a:fld id="{A2D74603-B40B-4D66-8F6E-41C870D48932}" type="slidenum">
              <a:rPr lang="en-US" altLang="zh-CN" smtClean="0"/>
              <a:pPr/>
              <a:t>161</a:t>
            </a:fld>
            <a:r>
              <a:rPr lang="en-US" altLang="zh-CN"/>
              <a:t>/162</a:t>
            </a:r>
            <a:endParaRPr lang="en-US" altLang="zh-CN" dirty="0"/>
          </a:p>
        </p:txBody>
      </p:sp>
      <p:sp>
        <p:nvSpPr>
          <p:cNvPr id="207875" name="Rectangle 3"/>
          <p:cNvSpPr>
            <a:spLocks noGrp="1" noChangeArrowheads="1"/>
          </p:cNvSpPr>
          <p:nvPr>
            <p:ph type="body" idx="1"/>
          </p:nvPr>
        </p:nvSpPr>
        <p:spPr>
          <a:xfrm>
            <a:off x="152400" y="1371600"/>
            <a:ext cx="8991600" cy="5334000"/>
          </a:xfrm>
          <a:solidFill>
            <a:schemeClr val="accent3"/>
          </a:solidFill>
        </p:spPr>
        <p:txBody>
          <a:bodyPr/>
          <a:lstStyle/>
          <a:p>
            <a:r>
              <a:rPr lang="zh-CN" altLang="en-US" dirty="0">
                <a:latin typeface="华文新魏" pitchFamily="2" charset="-122"/>
              </a:rPr>
              <a:t>由数据库模式设计的问题提出关系数据库</a:t>
            </a:r>
            <a:r>
              <a:rPr lang="zh-CN" altLang="en-US" dirty="0">
                <a:solidFill>
                  <a:srgbClr val="C00000"/>
                </a:solidFill>
                <a:latin typeface="华文新魏" pitchFamily="2" charset="-122"/>
              </a:rPr>
              <a:t>规范化理论</a:t>
            </a:r>
            <a:r>
              <a:rPr lang="zh-CN" altLang="en-US" dirty="0">
                <a:latin typeface="华文新魏" pitchFamily="2" charset="-122"/>
              </a:rPr>
              <a:t>，三部分内容：</a:t>
            </a:r>
          </a:p>
          <a:p>
            <a:pPr lvl="1"/>
            <a:r>
              <a:rPr lang="zh-CN" altLang="en-US" dirty="0">
                <a:solidFill>
                  <a:srgbClr val="0000FF"/>
                </a:solidFill>
                <a:latin typeface="宋体" charset="-122"/>
                <a:ea typeface="宋体" charset="-122"/>
              </a:rPr>
              <a:t>数据依赖</a:t>
            </a:r>
            <a:r>
              <a:rPr lang="zh-CN" altLang="en-US" dirty="0">
                <a:latin typeface="宋体" charset="-122"/>
                <a:ea typeface="宋体" charset="-122"/>
              </a:rPr>
              <a:t>(函数依赖)、</a:t>
            </a:r>
            <a:r>
              <a:rPr lang="zh-CN" altLang="en-US" dirty="0">
                <a:solidFill>
                  <a:srgbClr val="C00000"/>
                </a:solidFill>
                <a:latin typeface="宋体" charset="-122"/>
                <a:ea typeface="宋体" charset="-122"/>
              </a:rPr>
              <a:t>范式</a:t>
            </a:r>
            <a:r>
              <a:rPr lang="zh-CN" altLang="en-US" dirty="0">
                <a:latin typeface="宋体" charset="-122"/>
                <a:ea typeface="宋体" charset="-122"/>
              </a:rPr>
              <a:t>、</a:t>
            </a:r>
            <a:r>
              <a:rPr lang="zh-CN" altLang="en-US" dirty="0">
                <a:solidFill>
                  <a:srgbClr val="C00000"/>
                </a:solidFill>
                <a:latin typeface="宋体" charset="-122"/>
                <a:ea typeface="宋体" charset="-122"/>
              </a:rPr>
              <a:t>模式分解</a:t>
            </a:r>
          </a:p>
          <a:p>
            <a:r>
              <a:rPr lang="zh-CN" altLang="en-US" dirty="0">
                <a:latin typeface="华文新魏" pitchFamily="2" charset="-122"/>
              </a:rPr>
              <a:t>模式的好坏：</a:t>
            </a:r>
          </a:p>
          <a:p>
            <a:pPr lvl="1"/>
            <a:r>
              <a:rPr lang="zh-CN" altLang="en-US" dirty="0">
                <a:latin typeface="宋体" charset="-122"/>
                <a:ea typeface="宋体" charset="-122"/>
              </a:rPr>
              <a:t>数据冗余、插入异常、删除异常、更新异常</a:t>
            </a:r>
          </a:p>
          <a:p>
            <a:r>
              <a:rPr lang="zh-CN" altLang="en-US" dirty="0">
                <a:latin typeface="华文新魏" pitchFamily="2" charset="-122"/>
              </a:rPr>
              <a:t>范式: 衡量关系模式达到的</a:t>
            </a:r>
            <a:r>
              <a:rPr lang="zh-CN" altLang="en-US" dirty="0">
                <a:solidFill>
                  <a:schemeClr val="tx2"/>
                </a:solidFill>
                <a:latin typeface="华文新魏" pitchFamily="2" charset="-122"/>
              </a:rPr>
              <a:t>数据依赖程度</a:t>
            </a:r>
            <a:r>
              <a:rPr lang="zh-CN" altLang="en-US" dirty="0">
                <a:latin typeface="华文新魏" pitchFamily="2" charset="-122"/>
              </a:rPr>
              <a:t>的标准</a:t>
            </a:r>
          </a:p>
          <a:p>
            <a:pPr lvl="1"/>
            <a:r>
              <a:rPr lang="zh-CN" altLang="en-US" dirty="0">
                <a:latin typeface="Times New Roman" pitchFamily="18" charset="0"/>
                <a:ea typeface="宋体" charset="-122"/>
              </a:rPr>
              <a:t>最低标准: 1</a:t>
            </a:r>
            <a:r>
              <a:rPr lang="en-US" altLang="zh-CN" dirty="0">
                <a:latin typeface="Times New Roman" pitchFamily="18" charset="0"/>
                <a:ea typeface="宋体" charset="-122"/>
              </a:rPr>
              <a:t>NF</a:t>
            </a:r>
            <a:endParaRPr lang="zh-CN" altLang="en-US" dirty="0">
              <a:latin typeface="Times New Roman" pitchFamily="18" charset="0"/>
              <a:ea typeface="宋体" charset="-122"/>
            </a:endParaRPr>
          </a:p>
          <a:p>
            <a:pPr lvl="1"/>
            <a:r>
              <a:rPr lang="zh-CN" altLang="en-US" dirty="0">
                <a:latin typeface="Times New Roman" pitchFamily="18" charset="0"/>
                <a:ea typeface="宋体" charset="-122"/>
              </a:rPr>
              <a:t>在函数依赖的范畴: </a:t>
            </a:r>
            <a:r>
              <a:rPr lang="en-US" altLang="zh-CN" dirty="0">
                <a:latin typeface="Times New Roman" pitchFamily="18" charset="0"/>
                <a:ea typeface="宋体" charset="-122"/>
              </a:rPr>
              <a:t>2NF、3NF、BCNF</a:t>
            </a:r>
          </a:p>
          <a:p>
            <a:pPr lvl="1"/>
            <a:r>
              <a:rPr lang="zh-CN" altLang="en-US" dirty="0">
                <a:latin typeface="Times New Roman" pitchFamily="18" charset="0"/>
                <a:ea typeface="宋体" charset="-122"/>
              </a:rPr>
              <a:t>在多值依赖的范畴: </a:t>
            </a:r>
            <a:r>
              <a:rPr lang="en-US" altLang="zh-CN" dirty="0">
                <a:latin typeface="Times New Roman" pitchFamily="18" charset="0"/>
                <a:ea typeface="宋体" charset="-122"/>
              </a:rPr>
              <a:t>4NF</a:t>
            </a:r>
          </a:p>
          <a:p>
            <a:pPr lvl="1"/>
            <a:r>
              <a:rPr lang="zh-CN" altLang="en-US" dirty="0">
                <a:latin typeface="Times New Roman" pitchFamily="18" charset="0"/>
                <a:ea typeface="宋体" charset="-122"/>
              </a:rPr>
              <a:t>各级范式的定义、判别以及它们之间的联系</a:t>
            </a:r>
          </a:p>
          <a:p>
            <a:endParaRPr lang="zh-CN" altLang="en-US" dirty="0">
              <a:latin typeface="华文新魏" pitchFamily="2" charset="-122"/>
            </a:endParaRPr>
          </a:p>
        </p:txBody>
      </p:sp>
    </p:spTree>
    <p:extLst>
      <p:ext uri="{BB962C8B-B14F-4D97-AF65-F5344CB8AC3E}">
        <p14:creationId xmlns:p14="http://schemas.microsoft.com/office/powerpoint/2010/main" val="1934837264"/>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7875">
                                            <p:txEl>
                                              <p:pRg st="0" end="0"/>
                                            </p:txEl>
                                          </p:spTgt>
                                        </p:tgtEl>
                                        <p:attrNameLst>
                                          <p:attrName>style.visibility</p:attrName>
                                        </p:attrNameLst>
                                      </p:cBhvr>
                                      <p:to>
                                        <p:strVal val="visible"/>
                                      </p:to>
                                    </p:set>
                                    <p:animEffect transition="in" filter="blinds(horizontal)">
                                      <p:cBhvr>
                                        <p:cTn id="7" dur="500"/>
                                        <p:tgtEl>
                                          <p:spTgt spid="2078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7875">
                                            <p:txEl>
                                              <p:pRg st="1" end="1"/>
                                            </p:txEl>
                                          </p:spTgt>
                                        </p:tgtEl>
                                        <p:attrNameLst>
                                          <p:attrName>style.visibility</p:attrName>
                                        </p:attrNameLst>
                                      </p:cBhvr>
                                      <p:to>
                                        <p:strVal val="visible"/>
                                      </p:to>
                                    </p:set>
                                    <p:animEffect transition="in" filter="blinds(horizontal)">
                                      <p:cBhvr>
                                        <p:cTn id="12" dur="500"/>
                                        <p:tgtEl>
                                          <p:spTgt spid="20787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07875">
                                            <p:txEl>
                                              <p:pRg st="2" end="2"/>
                                            </p:txEl>
                                          </p:spTgt>
                                        </p:tgtEl>
                                        <p:attrNameLst>
                                          <p:attrName>style.visibility</p:attrName>
                                        </p:attrNameLst>
                                      </p:cBhvr>
                                      <p:to>
                                        <p:strVal val="visible"/>
                                      </p:to>
                                    </p:set>
                                    <p:animEffect transition="in" filter="blinds(horizontal)">
                                      <p:cBhvr>
                                        <p:cTn id="17" dur="500"/>
                                        <p:tgtEl>
                                          <p:spTgt spid="20787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07875">
                                            <p:txEl>
                                              <p:pRg st="3" end="3"/>
                                            </p:txEl>
                                          </p:spTgt>
                                        </p:tgtEl>
                                        <p:attrNameLst>
                                          <p:attrName>style.visibility</p:attrName>
                                        </p:attrNameLst>
                                      </p:cBhvr>
                                      <p:to>
                                        <p:strVal val="visible"/>
                                      </p:to>
                                    </p:set>
                                    <p:animEffect transition="in" filter="blinds(horizontal)">
                                      <p:cBhvr>
                                        <p:cTn id="22" dur="500"/>
                                        <p:tgtEl>
                                          <p:spTgt spid="20787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07875">
                                            <p:txEl>
                                              <p:pRg st="4" end="4"/>
                                            </p:txEl>
                                          </p:spTgt>
                                        </p:tgtEl>
                                        <p:attrNameLst>
                                          <p:attrName>style.visibility</p:attrName>
                                        </p:attrNameLst>
                                      </p:cBhvr>
                                      <p:to>
                                        <p:strVal val="visible"/>
                                      </p:to>
                                    </p:set>
                                    <p:animEffect transition="in" filter="blinds(horizontal)">
                                      <p:cBhvr>
                                        <p:cTn id="27" dur="500"/>
                                        <p:tgtEl>
                                          <p:spTgt spid="20787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07875">
                                            <p:txEl>
                                              <p:pRg st="5" end="5"/>
                                            </p:txEl>
                                          </p:spTgt>
                                        </p:tgtEl>
                                        <p:attrNameLst>
                                          <p:attrName>style.visibility</p:attrName>
                                        </p:attrNameLst>
                                      </p:cBhvr>
                                      <p:to>
                                        <p:strVal val="visible"/>
                                      </p:to>
                                    </p:set>
                                    <p:animEffect transition="in" filter="blinds(horizontal)">
                                      <p:cBhvr>
                                        <p:cTn id="32" dur="500"/>
                                        <p:tgtEl>
                                          <p:spTgt spid="20787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07875">
                                            <p:txEl>
                                              <p:pRg st="6" end="6"/>
                                            </p:txEl>
                                          </p:spTgt>
                                        </p:tgtEl>
                                        <p:attrNameLst>
                                          <p:attrName>style.visibility</p:attrName>
                                        </p:attrNameLst>
                                      </p:cBhvr>
                                      <p:to>
                                        <p:strVal val="visible"/>
                                      </p:to>
                                    </p:set>
                                    <p:animEffect transition="in" filter="blinds(horizontal)">
                                      <p:cBhvr>
                                        <p:cTn id="37" dur="500"/>
                                        <p:tgtEl>
                                          <p:spTgt spid="20787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07875">
                                            <p:txEl>
                                              <p:pRg st="7" end="7"/>
                                            </p:txEl>
                                          </p:spTgt>
                                        </p:tgtEl>
                                        <p:attrNameLst>
                                          <p:attrName>style.visibility</p:attrName>
                                        </p:attrNameLst>
                                      </p:cBhvr>
                                      <p:to>
                                        <p:strVal val="visible"/>
                                      </p:to>
                                    </p:set>
                                    <p:animEffect transition="in" filter="blinds(horizontal)">
                                      <p:cBhvr>
                                        <p:cTn id="42" dur="500"/>
                                        <p:tgtEl>
                                          <p:spTgt spid="20787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07875">
                                            <p:txEl>
                                              <p:pRg st="8" end="8"/>
                                            </p:txEl>
                                          </p:spTgt>
                                        </p:tgtEl>
                                        <p:attrNameLst>
                                          <p:attrName>style.visibility</p:attrName>
                                        </p:attrNameLst>
                                      </p:cBhvr>
                                      <p:to>
                                        <p:strVal val="visible"/>
                                      </p:to>
                                    </p:set>
                                    <p:animEffect transition="in" filter="blinds(horizontal)">
                                      <p:cBhvr>
                                        <p:cTn id="47" dur="500"/>
                                        <p:tgtEl>
                                          <p:spTgt spid="20787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75" grpId="0" build="p" bldLvl="2" autoUpdateAnimBg="0"/>
    </p:bldLst>
  </p:timing>
</p:sld>
</file>

<file path=ppt/slides/slide1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5634" name="Rectangle 1026"/>
          <p:cNvSpPr>
            <a:spLocks noGrp="1" noChangeArrowheads="1"/>
          </p:cNvSpPr>
          <p:nvPr>
            <p:ph type="title"/>
          </p:nvPr>
        </p:nvSpPr>
        <p:spPr/>
        <p:txBody>
          <a:bodyPr/>
          <a:lstStyle/>
          <a:p>
            <a:r>
              <a:rPr lang="zh-CN" altLang="en-US" dirty="0"/>
              <a:t>第</a:t>
            </a:r>
            <a:r>
              <a:rPr lang="en-US" altLang="zh-CN" dirty="0"/>
              <a:t>8</a:t>
            </a:r>
            <a:r>
              <a:rPr lang="zh-CN" altLang="en-US" dirty="0"/>
              <a:t>章  小结(2)</a:t>
            </a:r>
          </a:p>
        </p:txBody>
      </p:sp>
      <p:sp>
        <p:nvSpPr>
          <p:cNvPr id="2" name="日期占位符 1"/>
          <p:cNvSpPr>
            <a:spLocks noGrp="1"/>
          </p:cNvSpPr>
          <p:nvPr>
            <p:ph type="dt" sz="half" idx="10"/>
          </p:nvPr>
        </p:nvSpPr>
        <p:spPr/>
        <p:txBody>
          <a:bodyPr/>
          <a:lstStyle/>
          <a:p>
            <a:fld id="{DAE7D5FE-AF8A-47BE-868B-6ECAFAC14157}" type="datetime1">
              <a:rPr lang="zh-CN" altLang="en-US" smtClean="0"/>
              <a:t>2025/11/6</a:t>
            </a:fld>
            <a:endParaRPr lang="en-US" altLang="zh-CN"/>
          </a:p>
        </p:txBody>
      </p:sp>
      <p:sp>
        <p:nvSpPr>
          <p:cNvPr id="4" name="页脚占位符 3">
            <a:extLst>
              <a:ext uri="{FF2B5EF4-FFF2-40B4-BE49-F238E27FC236}">
                <a16:creationId xmlns:a16="http://schemas.microsoft.com/office/drawing/2014/main" id="{F077D8FF-D388-9122-6731-42842191A612}"/>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DFEED08F-B2D5-3CD9-0F38-BB4B6D90FCBA}"/>
              </a:ext>
            </a:extLst>
          </p:cNvPr>
          <p:cNvSpPr>
            <a:spLocks noGrp="1"/>
          </p:cNvSpPr>
          <p:nvPr>
            <p:ph type="sldNum" sz="quarter" idx="12"/>
          </p:nvPr>
        </p:nvSpPr>
        <p:spPr/>
        <p:txBody>
          <a:bodyPr/>
          <a:lstStyle/>
          <a:p>
            <a:fld id="{A2D74603-B40B-4D66-8F6E-41C870D48932}" type="slidenum">
              <a:rPr lang="en-US" altLang="zh-CN" smtClean="0"/>
              <a:pPr/>
              <a:t>162</a:t>
            </a:fld>
            <a:r>
              <a:rPr lang="en-US" altLang="zh-CN"/>
              <a:t>/162</a:t>
            </a:r>
            <a:endParaRPr lang="en-US" altLang="zh-CN" dirty="0"/>
          </a:p>
        </p:txBody>
      </p:sp>
      <p:sp>
        <p:nvSpPr>
          <p:cNvPr id="325635" name="Rectangle 1027"/>
          <p:cNvSpPr>
            <a:spLocks noGrp="1" noChangeArrowheads="1"/>
          </p:cNvSpPr>
          <p:nvPr>
            <p:ph type="body" idx="1"/>
          </p:nvPr>
        </p:nvSpPr>
        <p:spPr>
          <a:xfrm>
            <a:off x="533400" y="1371600"/>
            <a:ext cx="8610600" cy="5257800"/>
          </a:xfrm>
          <a:solidFill>
            <a:schemeClr val="accent3"/>
          </a:solidFill>
        </p:spPr>
        <p:txBody>
          <a:bodyPr/>
          <a:lstStyle/>
          <a:p>
            <a:r>
              <a:rPr lang="zh-CN" altLang="en-US" dirty="0">
                <a:latin typeface="Times New Roman" pitchFamily="18" charset="0"/>
              </a:rPr>
              <a:t>函数依赖的推理规则</a:t>
            </a:r>
            <a:endParaRPr lang="en-US" altLang="zh-CN" dirty="0">
              <a:latin typeface="Times New Roman" pitchFamily="18" charset="0"/>
            </a:endParaRPr>
          </a:p>
          <a:p>
            <a:pPr lvl="1"/>
            <a:r>
              <a:rPr lang="zh-CN" altLang="en-US" dirty="0">
                <a:latin typeface="Times New Roman" pitchFamily="18" charset="0"/>
                <a:ea typeface="宋体" charset="-122"/>
              </a:rPr>
              <a:t>定义、逻辑蕴涵</a:t>
            </a:r>
            <a:endParaRPr lang="zh-CN" altLang="en-US" dirty="0">
              <a:latin typeface="Times New Roman" pitchFamily="18" charset="0"/>
            </a:endParaRPr>
          </a:p>
          <a:p>
            <a:pPr lvl="1"/>
            <a:r>
              <a:rPr lang="zh-CN" altLang="en-US" dirty="0">
                <a:latin typeface="Times New Roman" pitchFamily="18" charset="0"/>
                <a:ea typeface="宋体" charset="-122"/>
              </a:rPr>
              <a:t>自反律、增广律、传递律</a:t>
            </a:r>
            <a:endParaRPr lang="en-US" altLang="zh-CN" dirty="0">
              <a:latin typeface="Times New Roman" pitchFamily="18" charset="0"/>
              <a:ea typeface="宋体" charset="-122"/>
            </a:endParaRPr>
          </a:p>
          <a:p>
            <a:pPr lvl="1"/>
            <a:r>
              <a:rPr lang="zh-CN" altLang="en-US" dirty="0">
                <a:latin typeface="Times New Roman" pitchFamily="18" charset="0"/>
                <a:ea typeface="宋体" charset="-122"/>
              </a:rPr>
              <a:t>合并律、伪传递律、分解律</a:t>
            </a:r>
          </a:p>
          <a:p>
            <a:pPr lvl="1"/>
            <a:r>
              <a:rPr lang="zh-CN" altLang="en-US" dirty="0">
                <a:latin typeface="Times New Roman" pitchFamily="18" charset="0"/>
                <a:ea typeface="宋体" charset="-122"/>
              </a:rPr>
              <a:t>属性集</a:t>
            </a:r>
            <a:r>
              <a:rPr lang="en-US" altLang="zh-CN" dirty="0">
                <a:latin typeface="Times New Roman" pitchFamily="18" charset="0"/>
                <a:ea typeface="宋体" charset="-122"/>
              </a:rPr>
              <a:t>X</a:t>
            </a:r>
            <a:r>
              <a:rPr lang="zh-CN" altLang="en-US" dirty="0">
                <a:latin typeface="Times New Roman" pitchFamily="18" charset="0"/>
                <a:ea typeface="宋体" charset="-122"/>
              </a:rPr>
              <a:t>的闭包</a:t>
            </a:r>
            <a:r>
              <a:rPr lang="en-US" altLang="zh-CN" dirty="0">
                <a:solidFill>
                  <a:srgbClr val="C00000"/>
                </a:solidFill>
                <a:latin typeface="Times New Roman" pitchFamily="18" charset="0"/>
                <a:ea typeface="宋体" charset="-122"/>
              </a:rPr>
              <a:t>X</a:t>
            </a:r>
            <a:r>
              <a:rPr lang="en-US" altLang="zh-CN" baseline="-25000" dirty="0">
                <a:solidFill>
                  <a:srgbClr val="C00000"/>
                </a:solidFill>
                <a:latin typeface="Times New Roman" pitchFamily="18" charset="0"/>
                <a:ea typeface="宋体" charset="-122"/>
              </a:rPr>
              <a:t>F</a:t>
            </a:r>
            <a:r>
              <a:rPr lang="en-US" altLang="zh-CN" baseline="30000" dirty="0">
                <a:solidFill>
                  <a:srgbClr val="C00000"/>
                </a:solidFill>
                <a:latin typeface="Times New Roman" pitchFamily="18" charset="0"/>
                <a:ea typeface="宋体" charset="-122"/>
              </a:rPr>
              <a:t>+</a:t>
            </a:r>
            <a:r>
              <a:rPr lang="zh-CN" altLang="en-US" dirty="0">
                <a:latin typeface="Times New Roman" pitchFamily="18" charset="0"/>
                <a:ea typeface="宋体" charset="-122"/>
              </a:rPr>
              <a:t>及</a:t>
            </a:r>
            <a:r>
              <a:rPr lang="zh-CN" altLang="en-US" dirty="0">
                <a:solidFill>
                  <a:srgbClr val="0000FF"/>
                </a:solidFill>
                <a:latin typeface="Times New Roman" pitchFamily="18" charset="0"/>
                <a:ea typeface="宋体" charset="-122"/>
              </a:rPr>
              <a:t>计算</a:t>
            </a:r>
            <a:r>
              <a:rPr lang="zh-CN" altLang="en-US" dirty="0">
                <a:latin typeface="Times New Roman" pitchFamily="18" charset="0"/>
                <a:ea typeface="宋体" charset="-122"/>
              </a:rPr>
              <a:t>, 与</a:t>
            </a:r>
            <a:r>
              <a:rPr lang="en-US" altLang="zh-CN" dirty="0">
                <a:latin typeface="Times New Roman" pitchFamily="18" charset="0"/>
                <a:ea typeface="宋体" charset="-122"/>
              </a:rPr>
              <a:t>F</a:t>
            </a:r>
            <a:r>
              <a:rPr lang="en-US" altLang="zh-CN" baseline="30000" dirty="0">
                <a:latin typeface="Times New Roman" pitchFamily="18" charset="0"/>
                <a:ea typeface="宋体" charset="-122"/>
              </a:rPr>
              <a:t>+</a:t>
            </a:r>
            <a:r>
              <a:rPr lang="zh-CN" altLang="en-US" dirty="0">
                <a:latin typeface="Times New Roman" pitchFamily="18" charset="0"/>
                <a:ea typeface="宋体" charset="-122"/>
              </a:rPr>
              <a:t>的联系</a:t>
            </a:r>
            <a:endParaRPr lang="en-US" altLang="zh-CN" dirty="0">
              <a:latin typeface="Times New Roman" pitchFamily="18" charset="0"/>
              <a:ea typeface="宋体" charset="-122"/>
            </a:endParaRPr>
          </a:p>
          <a:p>
            <a:pPr lvl="1"/>
            <a:r>
              <a:rPr lang="en-US" altLang="zh-CN" dirty="0">
                <a:latin typeface="Times New Roman" pitchFamily="18" charset="0"/>
                <a:ea typeface="宋体" charset="-122"/>
              </a:rPr>
              <a:t>FD</a:t>
            </a:r>
            <a:r>
              <a:rPr lang="zh-CN" altLang="en-US" dirty="0">
                <a:latin typeface="Times New Roman" pitchFamily="18" charset="0"/>
                <a:ea typeface="宋体" charset="-122"/>
              </a:rPr>
              <a:t>集的闭包</a:t>
            </a:r>
            <a:r>
              <a:rPr lang="en-US" altLang="zh-CN" dirty="0">
                <a:latin typeface="Times New Roman" pitchFamily="18" charset="0"/>
                <a:ea typeface="宋体" charset="-122"/>
              </a:rPr>
              <a:t>F</a:t>
            </a:r>
            <a:r>
              <a:rPr lang="en-US" altLang="zh-CN" baseline="30000" dirty="0">
                <a:latin typeface="Times New Roman" pitchFamily="18" charset="0"/>
                <a:ea typeface="宋体" charset="-122"/>
              </a:rPr>
              <a:t>+</a:t>
            </a:r>
            <a:r>
              <a:rPr lang="en-US" altLang="zh-CN" dirty="0">
                <a:latin typeface="Times New Roman" pitchFamily="18" charset="0"/>
                <a:ea typeface="宋体" charset="-122"/>
              </a:rPr>
              <a:t>、</a:t>
            </a:r>
            <a:r>
              <a:rPr lang="zh-CN" altLang="en-US" dirty="0">
                <a:latin typeface="Times New Roman" pitchFamily="18" charset="0"/>
                <a:ea typeface="宋体" charset="-122"/>
              </a:rPr>
              <a:t>码及码的确定</a:t>
            </a:r>
          </a:p>
          <a:p>
            <a:pPr lvl="1"/>
            <a:r>
              <a:rPr lang="zh-CN" altLang="en-US" dirty="0">
                <a:latin typeface="Times New Roman" pitchFamily="18" charset="0"/>
                <a:ea typeface="宋体" charset="-122"/>
              </a:rPr>
              <a:t>函数依赖集的等价(覆盖)及判断</a:t>
            </a:r>
          </a:p>
          <a:p>
            <a:pPr lvl="1"/>
            <a:r>
              <a:rPr lang="zh-CN" altLang="en-US" dirty="0">
                <a:latin typeface="Times New Roman" pitchFamily="18" charset="0"/>
                <a:ea typeface="宋体" charset="-122"/>
              </a:rPr>
              <a:t>函数依赖集</a:t>
            </a:r>
            <a:r>
              <a:rPr lang="en-US" altLang="zh-CN" dirty="0">
                <a:latin typeface="Times New Roman" pitchFamily="18" charset="0"/>
                <a:ea typeface="宋体" charset="-122"/>
              </a:rPr>
              <a:t>F</a:t>
            </a:r>
            <a:r>
              <a:rPr lang="zh-CN" altLang="en-US" dirty="0">
                <a:latin typeface="Times New Roman" pitchFamily="18" charset="0"/>
                <a:ea typeface="宋体" charset="-122"/>
              </a:rPr>
              <a:t>的最小依赖</a:t>
            </a:r>
            <a:r>
              <a:rPr lang="en-US" altLang="zh-CN" dirty="0" err="1">
                <a:latin typeface="Times New Roman" pitchFamily="18" charset="0"/>
                <a:ea typeface="宋体" charset="-122"/>
              </a:rPr>
              <a:t>F</a:t>
            </a:r>
            <a:r>
              <a:rPr lang="en-US" altLang="zh-CN" baseline="-25000" dirty="0" err="1">
                <a:latin typeface="Times New Roman" pitchFamily="18" charset="0"/>
                <a:ea typeface="宋体" charset="-122"/>
              </a:rPr>
              <a:t>min</a:t>
            </a:r>
            <a:r>
              <a:rPr lang="zh-CN" altLang="en-US" dirty="0">
                <a:latin typeface="Times New Roman" pitchFamily="18" charset="0"/>
                <a:ea typeface="宋体" charset="-122"/>
              </a:rPr>
              <a:t>及计算</a:t>
            </a:r>
            <a:endParaRPr lang="en-US" altLang="zh-CN" dirty="0">
              <a:latin typeface="Times New Roman" pitchFamily="18" charset="0"/>
              <a:ea typeface="宋体" charset="-122"/>
            </a:endParaRPr>
          </a:p>
          <a:p>
            <a:r>
              <a:rPr lang="zh-CN" altLang="en-US" dirty="0">
                <a:latin typeface="Times New Roman" pitchFamily="18" charset="0"/>
                <a:ea typeface="宋体" charset="-122"/>
              </a:rPr>
              <a:t>模式分解</a:t>
            </a:r>
            <a:endParaRPr lang="en-US" altLang="zh-CN" dirty="0">
              <a:latin typeface="Times New Roman" pitchFamily="18" charset="0"/>
              <a:ea typeface="宋体" charset="-122"/>
            </a:endParaRPr>
          </a:p>
          <a:p>
            <a:pPr lvl="1"/>
            <a:r>
              <a:rPr lang="zh-CN" altLang="en-US" dirty="0"/>
              <a:t>分解的无损连接性和保持函数依赖性</a:t>
            </a:r>
            <a:endParaRPr lang="zh-CN" altLang="en-US" dirty="0">
              <a:latin typeface="Times New Roman" pitchFamily="18" charset="0"/>
              <a:ea typeface="宋体" charset="-122"/>
            </a:endParaRPr>
          </a:p>
        </p:txBody>
      </p:sp>
    </p:spTree>
    <p:extLst>
      <p:ext uri="{BB962C8B-B14F-4D97-AF65-F5344CB8AC3E}">
        <p14:creationId xmlns:p14="http://schemas.microsoft.com/office/powerpoint/2010/main" val="35203981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25635">
                                            <p:txEl>
                                              <p:pRg st="0" end="0"/>
                                            </p:txEl>
                                          </p:spTgt>
                                        </p:tgtEl>
                                        <p:attrNameLst>
                                          <p:attrName>style.visibility</p:attrName>
                                        </p:attrNameLst>
                                      </p:cBhvr>
                                      <p:to>
                                        <p:strVal val="visible"/>
                                      </p:to>
                                    </p:set>
                                    <p:animEffect transition="in" filter="checkerboard(across)">
                                      <p:cBhvr>
                                        <p:cTn id="7" dur="500"/>
                                        <p:tgtEl>
                                          <p:spTgt spid="3256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25635">
                                            <p:txEl>
                                              <p:pRg st="1" end="1"/>
                                            </p:txEl>
                                          </p:spTgt>
                                        </p:tgtEl>
                                        <p:attrNameLst>
                                          <p:attrName>style.visibility</p:attrName>
                                        </p:attrNameLst>
                                      </p:cBhvr>
                                      <p:to>
                                        <p:strVal val="visible"/>
                                      </p:to>
                                    </p:set>
                                    <p:animEffect transition="in" filter="checkerboard(across)">
                                      <p:cBhvr>
                                        <p:cTn id="12" dur="500"/>
                                        <p:tgtEl>
                                          <p:spTgt spid="3256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25635">
                                            <p:txEl>
                                              <p:pRg st="2" end="2"/>
                                            </p:txEl>
                                          </p:spTgt>
                                        </p:tgtEl>
                                        <p:attrNameLst>
                                          <p:attrName>style.visibility</p:attrName>
                                        </p:attrNameLst>
                                      </p:cBhvr>
                                      <p:to>
                                        <p:strVal val="visible"/>
                                      </p:to>
                                    </p:set>
                                    <p:animEffect transition="in" filter="checkerboard(across)">
                                      <p:cBhvr>
                                        <p:cTn id="17" dur="500"/>
                                        <p:tgtEl>
                                          <p:spTgt spid="32563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25635">
                                            <p:txEl>
                                              <p:pRg st="3" end="3"/>
                                            </p:txEl>
                                          </p:spTgt>
                                        </p:tgtEl>
                                        <p:attrNameLst>
                                          <p:attrName>style.visibility</p:attrName>
                                        </p:attrNameLst>
                                      </p:cBhvr>
                                      <p:to>
                                        <p:strVal val="visible"/>
                                      </p:to>
                                    </p:set>
                                    <p:animEffect transition="in" filter="checkerboard(across)">
                                      <p:cBhvr>
                                        <p:cTn id="22" dur="500"/>
                                        <p:tgtEl>
                                          <p:spTgt spid="32563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25635">
                                            <p:txEl>
                                              <p:pRg st="4" end="4"/>
                                            </p:txEl>
                                          </p:spTgt>
                                        </p:tgtEl>
                                        <p:attrNameLst>
                                          <p:attrName>style.visibility</p:attrName>
                                        </p:attrNameLst>
                                      </p:cBhvr>
                                      <p:to>
                                        <p:strVal val="visible"/>
                                      </p:to>
                                    </p:set>
                                    <p:animEffect transition="in" filter="checkerboard(across)">
                                      <p:cBhvr>
                                        <p:cTn id="27" dur="500"/>
                                        <p:tgtEl>
                                          <p:spTgt spid="32563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325635">
                                            <p:txEl>
                                              <p:pRg st="5" end="5"/>
                                            </p:txEl>
                                          </p:spTgt>
                                        </p:tgtEl>
                                        <p:attrNameLst>
                                          <p:attrName>style.visibility</p:attrName>
                                        </p:attrNameLst>
                                      </p:cBhvr>
                                      <p:to>
                                        <p:strVal val="visible"/>
                                      </p:to>
                                    </p:set>
                                    <p:animEffect transition="in" filter="checkerboard(across)">
                                      <p:cBhvr>
                                        <p:cTn id="32" dur="500"/>
                                        <p:tgtEl>
                                          <p:spTgt spid="32563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325635">
                                            <p:txEl>
                                              <p:pRg st="6" end="6"/>
                                            </p:txEl>
                                          </p:spTgt>
                                        </p:tgtEl>
                                        <p:attrNameLst>
                                          <p:attrName>style.visibility</p:attrName>
                                        </p:attrNameLst>
                                      </p:cBhvr>
                                      <p:to>
                                        <p:strVal val="visible"/>
                                      </p:to>
                                    </p:set>
                                    <p:animEffect transition="in" filter="checkerboard(across)">
                                      <p:cBhvr>
                                        <p:cTn id="37" dur="500"/>
                                        <p:tgtEl>
                                          <p:spTgt spid="325635">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325635">
                                            <p:txEl>
                                              <p:pRg st="7" end="7"/>
                                            </p:txEl>
                                          </p:spTgt>
                                        </p:tgtEl>
                                        <p:attrNameLst>
                                          <p:attrName>style.visibility</p:attrName>
                                        </p:attrNameLst>
                                      </p:cBhvr>
                                      <p:to>
                                        <p:strVal val="visible"/>
                                      </p:to>
                                    </p:set>
                                    <p:animEffect transition="in" filter="checkerboard(across)">
                                      <p:cBhvr>
                                        <p:cTn id="42" dur="500"/>
                                        <p:tgtEl>
                                          <p:spTgt spid="32563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325635">
                                            <p:txEl>
                                              <p:pRg st="8" end="8"/>
                                            </p:txEl>
                                          </p:spTgt>
                                        </p:tgtEl>
                                        <p:attrNameLst>
                                          <p:attrName>style.visibility</p:attrName>
                                        </p:attrNameLst>
                                      </p:cBhvr>
                                      <p:to>
                                        <p:strVal val="visible"/>
                                      </p:to>
                                    </p:set>
                                    <p:animEffect transition="in" filter="checkerboard(across)">
                                      <p:cBhvr>
                                        <p:cTn id="47" dur="500"/>
                                        <p:tgtEl>
                                          <p:spTgt spid="32563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325635">
                                            <p:txEl>
                                              <p:pRg st="9" end="9"/>
                                            </p:txEl>
                                          </p:spTgt>
                                        </p:tgtEl>
                                        <p:attrNameLst>
                                          <p:attrName>style.visibility</p:attrName>
                                        </p:attrNameLst>
                                      </p:cBhvr>
                                      <p:to>
                                        <p:strVal val="visible"/>
                                      </p:to>
                                    </p:set>
                                    <p:animEffect transition="in" filter="checkerboard(across)">
                                      <p:cBhvr>
                                        <p:cTn id="52" dur="500"/>
                                        <p:tgtEl>
                                          <p:spTgt spid="32563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5635" grpId="0" build="p" bldLvl="2" autoUpdateAnimBg="0"/>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half" idx="10"/>
          </p:nvPr>
        </p:nvSpPr>
        <p:spPr/>
        <p:txBody>
          <a:bodyPr/>
          <a:lstStyle/>
          <a:p>
            <a:fld id="{CAA9C928-4BC6-4E9A-9C8F-DD23284A9A5C}" type="datetime1">
              <a:rPr lang="zh-CN" altLang="en-US" smtClean="0"/>
              <a:t>2025/11/6</a:t>
            </a:fld>
            <a:endParaRPr lang="en-US" altLang="zh-CN"/>
          </a:p>
        </p:txBody>
      </p:sp>
      <p:sp>
        <p:nvSpPr>
          <p:cNvPr id="10242" name="Rectangle 2"/>
          <p:cNvSpPr>
            <a:spLocks noGrp="1" noChangeArrowheads="1"/>
          </p:cNvSpPr>
          <p:nvPr>
            <p:ph type="title"/>
          </p:nvPr>
        </p:nvSpPr>
        <p:spPr/>
        <p:txBody>
          <a:bodyPr/>
          <a:lstStyle/>
          <a:p>
            <a:r>
              <a:rPr lang="en-US" altLang="zh-CN" b="1">
                <a:latin typeface="Comic Sans MS" pitchFamily="66" charset="0"/>
              </a:rPr>
              <a:t>Any Question?</a:t>
            </a:r>
          </a:p>
        </p:txBody>
      </p:sp>
      <p:sp>
        <p:nvSpPr>
          <p:cNvPr id="10243" name="Text Box 3"/>
          <p:cNvSpPr txBox="1">
            <a:spLocks noChangeArrowheads="1"/>
          </p:cNvSpPr>
          <p:nvPr/>
        </p:nvSpPr>
        <p:spPr bwMode="auto">
          <a:xfrm>
            <a:off x="4140200" y="2781300"/>
            <a:ext cx="33020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0" lang="en-US" altLang="zh-CN" sz="4800" b="1" i="1">
                <a:solidFill>
                  <a:schemeClr val="hlink"/>
                </a:solidFill>
                <a:latin typeface="Times New Roman" pitchFamily="18" charset="0"/>
              </a:rPr>
              <a:t>Thank you !</a:t>
            </a:r>
          </a:p>
        </p:txBody>
      </p:sp>
      <p:pic>
        <p:nvPicPr>
          <p:cNvPr id="10244" name="Picture 4" descr="smi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133600"/>
            <a:ext cx="2209800" cy="2209800"/>
          </a:xfrm>
          <a:prstGeom prst="rect">
            <a:avLst/>
          </a:prstGeom>
          <a:noFill/>
          <a:extLst>
            <a:ext uri="{909E8E84-426E-40DD-AFC4-6F175D3DCCD1}">
              <a14:hiddenFill xmlns:a14="http://schemas.microsoft.com/office/drawing/2010/main">
                <a:solidFill>
                  <a:srgbClr val="FFFFFF"/>
                </a:solidFill>
              </a14:hiddenFill>
            </a:ext>
          </a:extLst>
        </p:spPr>
      </p:pic>
      <p:sp>
        <p:nvSpPr>
          <p:cNvPr id="3" name="页脚占位符 2">
            <a:extLst>
              <a:ext uri="{FF2B5EF4-FFF2-40B4-BE49-F238E27FC236}">
                <a16:creationId xmlns:a16="http://schemas.microsoft.com/office/drawing/2014/main" id="{9634FAFF-E41F-2CAA-E575-BD3353A4171E}"/>
              </a:ext>
            </a:extLst>
          </p:cNvPr>
          <p:cNvSpPr>
            <a:spLocks noGrp="1"/>
          </p:cNvSpPr>
          <p:nvPr>
            <p:ph type="ftr" sz="quarter" idx="11"/>
          </p:nvPr>
        </p:nvSpPr>
        <p:spPr/>
        <p:txBody>
          <a:bodyPr/>
          <a:lstStyle/>
          <a:p>
            <a:r>
              <a:rPr lang="en-US" altLang="zh-CN"/>
              <a:t>《数据库系统概论》- 第6章</a:t>
            </a:r>
          </a:p>
        </p:txBody>
      </p:sp>
      <p:sp>
        <p:nvSpPr>
          <p:cNvPr id="6" name="灯片编号占位符 5">
            <a:extLst>
              <a:ext uri="{FF2B5EF4-FFF2-40B4-BE49-F238E27FC236}">
                <a16:creationId xmlns:a16="http://schemas.microsoft.com/office/drawing/2014/main" id="{E697C1D2-78F8-F7EB-9B70-8CCE83A3F026}"/>
              </a:ext>
            </a:extLst>
          </p:cNvPr>
          <p:cNvSpPr>
            <a:spLocks noGrp="1"/>
          </p:cNvSpPr>
          <p:nvPr>
            <p:ph type="sldNum" sz="quarter" idx="12"/>
          </p:nvPr>
        </p:nvSpPr>
        <p:spPr/>
        <p:txBody>
          <a:bodyPr/>
          <a:lstStyle/>
          <a:p>
            <a:fld id="{A2D74603-B40B-4D66-8F6E-41C870D48932}" type="slidenum">
              <a:rPr lang="en-US" altLang="zh-CN" smtClean="0"/>
              <a:pPr/>
              <a:t>163</a:t>
            </a:fld>
            <a:r>
              <a:rPr lang="en-US" altLang="zh-CN"/>
              <a:t>/162</a:t>
            </a:r>
            <a:endParaRPr lang="en-US" altLang="zh-CN" dirty="0"/>
          </a:p>
        </p:txBody>
      </p:sp>
    </p:spTree>
  </p:cSld>
  <p:clrMapOvr>
    <a:masterClrMapping/>
  </p:clrMapOvr>
  <p:transition>
    <p:fade/>
  </p:transition>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CN" sz="2400" b="0" i="0" u="none" strike="noStrike" cap="none" normalizeH="0" baseline="0" smtClean="0">
            <a:ln>
              <a:noFill/>
            </a:ln>
            <a:solidFill>
              <a:schemeClr val="tx1"/>
            </a:solidFill>
            <a:effectLst/>
            <a:latin typeface="Tahoma" pitchFamily="34" charset="0"/>
            <a:ea typeface="宋体" pitchFamily="2" charset="-122"/>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CN" sz="2400" b="0" i="0" u="none" strike="noStrike" cap="none" normalizeH="0" baseline="0" smtClean="0">
            <a:ln>
              <a:noFill/>
            </a:ln>
            <a:solidFill>
              <a:schemeClr val="tx1"/>
            </a:solidFill>
            <a:effectLst/>
            <a:latin typeface="Tahoma" pitchFamily="34" charset="0"/>
            <a:ea typeface="宋体" pitchFamily="2" charset="-122"/>
            <a:cs typeface="Arial"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ld2009</Template>
  <TotalTime>12747</TotalTime>
  <Words>17954</Words>
  <Application>Microsoft Office PowerPoint</Application>
  <PresentationFormat>全屏显示(4:3)</PresentationFormat>
  <Paragraphs>2083</Paragraphs>
  <Slides>163</Slides>
  <Notes>47</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163</vt:i4>
      </vt:variant>
    </vt:vector>
  </HeadingPairs>
  <TitlesOfParts>
    <vt:vector size="178" baseType="lpstr">
      <vt:lpstr>Greek Symbols</vt:lpstr>
      <vt:lpstr>Monotype Sorts</vt:lpstr>
      <vt:lpstr>华文新魏</vt:lpstr>
      <vt:lpstr>楷体_GB2312</vt:lpstr>
      <vt:lpstr>宋体</vt:lpstr>
      <vt:lpstr>Arial</vt:lpstr>
      <vt:lpstr>Cambria Math</vt:lpstr>
      <vt:lpstr>Comic Sans MS</vt:lpstr>
      <vt:lpstr>Symbol</vt:lpstr>
      <vt:lpstr>Tahoma</vt:lpstr>
      <vt:lpstr>Times New Roman</vt:lpstr>
      <vt:lpstr>Wingdings</vt:lpstr>
      <vt:lpstr>Blends</vt:lpstr>
      <vt:lpstr>Clip</vt:lpstr>
      <vt:lpstr>公式</vt:lpstr>
      <vt:lpstr>数据库系统原理  Database System Principles</vt:lpstr>
      <vt:lpstr>第八章 关系数据库设计</vt:lpstr>
      <vt:lpstr>本章目录</vt:lpstr>
      <vt:lpstr>8.1 问题的提出－－什么是不好的数据库设计</vt:lpstr>
      <vt:lpstr>关系模式 回顾</vt:lpstr>
      <vt:lpstr>关系模式</vt:lpstr>
      <vt:lpstr>数据依赖</vt:lpstr>
      <vt:lpstr>函数依赖</vt:lpstr>
      <vt:lpstr>例：学生选课模型的关系模式</vt:lpstr>
      <vt:lpstr>冗余带来的问题</vt:lpstr>
      <vt:lpstr>解决冗余的方法</vt:lpstr>
      <vt:lpstr>问题的引出</vt:lpstr>
      <vt:lpstr>问题的引出</vt:lpstr>
      <vt:lpstr>本章目录</vt:lpstr>
      <vt:lpstr>8.2 规范化</vt:lpstr>
      <vt:lpstr>2.1.1 关系-码(回顾)</vt:lpstr>
      <vt:lpstr>8.2.1 函数依赖</vt:lpstr>
      <vt:lpstr>8.2.1 函数依赖</vt:lpstr>
      <vt:lpstr>8.2.1 函数依赖</vt:lpstr>
      <vt:lpstr>8.2.1 函数依赖</vt:lpstr>
      <vt:lpstr>8.2.1 函数依赖</vt:lpstr>
      <vt:lpstr>8.2.1 函数依赖</vt:lpstr>
      <vt:lpstr>8.2.1 函数依赖</vt:lpstr>
      <vt:lpstr>8.2.1 函数依赖</vt:lpstr>
      <vt:lpstr>8.2.1 函数依赖</vt:lpstr>
      <vt:lpstr>8.2.1 函数依赖</vt:lpstr>
      <vt:lpstr>2.1.1 关系-码(回顾)</vt:lpstr>
      <vt:lpstr>2.1.1 关系-码(回顾)</vt:lpstr>
      <vt:lpstr>8.2.1 码(函数依赖的概念)</vt:lpstr>
      <vt:lpstr>8.2.1 函数依赖---码</vt:lpstr>
      <vt:lpstr>8.2.1 函数依赖---码</vt:lpstr>
      <vt:lpstr>8.2.1 函数依赖</vt:lpstr>
      <vt:lpstr>8.2.1 函数依赖</vt:lpstr>
      <vt:lpstr>8.2.3 范式</vt:lpstr>
      <vt:lpstr>8.2.3 范式</vt:lpstr>
      <vt:lpstr>8.2.3 范式</vt:lpstr>
      <vt:lpstr>8.2.4 2NF</vt:lpstr>
      <vt:lpstr>8.2.4 2NF</vt:lpstr>
      <vt:lpstr>8.2.4 2NF</vt:lpstr>
      <vt:lpstr>8.2.4 2NF</vt:lpstr>
      <vt:lpstr>8.2.4 2NF</vt:lpstr>
      <vt:lpstr>8.2.4 2NF</vt:lpstr>
      <vt:lpstr>8.2.4 2NF</vt:lpstr>
      <vt:lpstr>8.2.5 3NF</vt:lpstr>
      <vt:lpstr>8.2.5 3NF</vt:lpstr>
      <vt:lpstr>8.2.5 3NF</vt:lpstr>
      <vt:lpstr>8.2.5 3NF</vt:lpstr>
      <vt:lpstr>8.2.5 3NF</vt:lpstr>
      <vt:lpstr>8.2.5 3NF</vt:lpstr>
      <vt:lpstr>8.2.5 3NF</vt:lpstr>
      <vt:lpstr>8.2.6 BCNF</vt:lpstr>
      <vt:lpstr>8.2.6 BCNF</vt:lpstr>
      <vt:lpstr>8.2.6 BCNF</vt:lpstr>
      <vt:lpstr>8.2.6 BCNF</vt:lpstr>
      <vt:lpstr>8.2.6 BCNF</vt:lpstr>
      <vt:lpstr>8.2.6 BCNF</vt:lpstr>
      <vt:lpstr>8.2.6 BCNF</vt:lpstr>
      <vt:lpstr>8.2.6 BCNF</vt:lpstr>
      <vt:lpstr>8.2.6 BCNF</vt:lpstr>
      <vt:lpstr>8.2.6 BCNF</vt:lpstr>
      <vt:lpstr>8.2.6 BCNF (新教材8.3.1)</vt:lpstr>
      <vt:lpstr>8.2.5 3NF</vt:lpstr>
      <vt:lpstr>8.2.6 BCNF</vt:lpstr>
      <vt:lpstr>8.2.6 BCNF</vt:lpstr>
      <vt:lpstr>8.2.6 BCNF</vt:lpstr>
      <vt:lpstr>8.2.6 BCNF</vt:lpstr>
      <vt:lpstr>8.2.6 BCNF</vt:lpstr>
      <vt:lpstr>8.2.6 BCNF</vt:lpstr>
      <vt:lpstr>8.2.6 BCNF</vt:lpstr>
      <vt:lpstr>8.2.6 BCNF</vt:lpstr>
      <vt:lpstr>8.2.6 BCNF</vt:lpstr>
      <vt:lpstr>8.2.6 BCNF</vt:lpstr>
      <vt:lpstr>8.2.6 BCNF</vt:lpstr>
      <vt:lpstr>8.2.6 BCNF</vt:lpstr>
      <vt:lpstr>回顾</vt:lpstr>
      <vt:lpstr>8.2.6 BCNF</vt:lpstr>
      <vt:lpstr>8.2.7 多值依赖</vt:lpstr>
      <vt:lpstr>8.2.7 多值依赖</vt:lpstr>
      <vt:lpstr>8.2.7 多值依赖</vt:lpstr>
      <vt:lpstr>8.2.7 多值依赖</vt:lpstr>
      <vt:lpstr>8.2.7 多值依赖</vt:lpstr>
      <vt:lpstr>8.2.7 多值依赖</vt:lpstr>
      <vt:lpstr>8.2.7 多值依赖</vt:lpstr>
      <vt:lpstr>8.2.7 多值依赖</vt:lpstr>
      <vt:lpstr>8.2.7 多值依赖</vt:lpstr>
      <vt:lpstr>8.2.7 多值依赖</vt:lpstr>
      <vt:lpstr>8.2.7 多值依赖</vt:lpstr>
      <vt:lpstr>8.2.7 多值依赖</vt:lpstr>
      <vt:lpstr>8.2.7 多值依赖</vt:lpstr>
      <vt:lpstr>8.2.8 4NF</vt:lpstr>
      <vt:lpstr>8.2.9 规范化小结</vt:lpstr>
      <vt:lpstr>8.2.9 规范化小结</vt:lpstr>
      <vt:lpstr>8.2.9 规范化小结</vt:lpstr>
      <vt:lpstr>8.2.9 规范化小结</vt:lpstr>
      <vt:lpstr>8.2.9 规范化小结</vt:lpstr>
      <vt:lpstr>8.2.9 规范化小结</vt:lpstr>
      <vt:lpstr>本章目录</vt:lpstr>
      <vt:lpstr>函数依赖公理系统的背景</vt:lpstr>
      <vt:lpstr>函数依赖公理系统的背景</vt:lpstr>
      <vt:lpstr>数据依赖的公理系统</vt:lpstr>
      <vt:lpstr>数据依赖的公理系统</vt:lpstr>
      <vt:lpstr>数据依赖的公理系统</vt:lpstr>
      <vt:lpstr>Armstrong 公理系统</vt:lpstr>
      <vt:lpstr>Armstrong (阿姆斯特朗)公理系统</vt:lpstr>
      <vt:lpstr>Armstrong 公理系统</vt:lpstr>
      <vt:lpstr>Armstrong 公理系统</vt:lpstr>
      <vt:lpstr>算法1 求F+的方法(了解) </vt:lpstr>
      <vt:lpstr>Armstrong 公理系统</vt:lpstr>
      <vt:lpstr>Armstrong 公理系统</vt:lpstr>
      <vt:lpstr>算法2 求XF+的方法 -- 非常重要</vt:lpstr>
      <vt:lpstr>例</vt:lpstr>
      <vt:lpstr>算法2用处</vt:lpstr>
      <vt:lpstr>求候选码方法要点(自己的总结)</vt:lpstr>
      <vt:lpstr>例</vt:lpstr>
      <vt:lpstr>Armstrong 公理系统</vt:lpstr>
      <vt:lpstr>Armstrong 公理系统(了解)</vt:lpstr>
      <vt:lpstr>8.3 数据依赖的公理系统</vt:lpstr>
      <vt:lpstr>8.3 数据依赖的公理系统</vt:lpstr>
      <vt:lpstr>8.3 数据依赖的公理系统(了解)</vt:lpstr>
      <vt:lpstr>8.3 数据依赖的公理系统(了解)</vt:lpstr>
      <vt:lpstr>8.3 数据依赖的公理系统</vt:lpstr>
      <vt:lpstr>8.3 数据依赖公理系统(教材8.4.3 正则覆盖)</vt:lpstr>
      <vt:lpstr>8.3 数据依赖公理系统(教材8.4.3 正则覆盖)</vt:lpstr>
      <vt:lpstr>8.3 数据依赖公理系统(教材8.4.3 正则覆盖)</vt:lpstr>
      <vt:lpstr>8.3 数据依赖公理系统(教材8.4.3 正则覆盖)</vt:lpstr>
      <vt:lpstr>8.3 数据依赖公理系统(教材8.4.3 正则覆盖)</vt:lpstr>
      <vt:lpstr>求解极小函数依赖集的过程</vt:lpstr>
      <vt:lpstr>求解极小函数依赖集的过程</vt:lpstr>
      <vt:lpstr>求解极小函数依赖集的过程</vt:lpstr>
      <vt:lpstr>8.3 数据依赖的公理系统</vt:lpstr>
      <vt:lpstr>8.3 数据依赖的公理系统</vt:lpstr>
      <vt:lpstr>计算最小函数依赖集Fm:  例1</vt:lpstr>
      <vt:lpstr>计算最小函数依赖集Fm : 例1(续)</vt:lpstr>
      <vt:lpstr>计算最小函数依赖集Fm : 例2</vt:lpstr>
      <vt:lpstr>本章目录</vt:lpstr>
      <vt:lpstr>8.4 模式的分解</vt:lpstr>
      <vt:lpstr>8.4.1 模式分解的三个定义</vt:lpstr>
      <vt:lpstr>8.4.2 分解的无损连接性和保持函数依赖性</vt:lpstr>
      <vt:lpstr>8.4.2 分解的无损连接性和保持函数依赖性</vt:lpstr>
      <vt:lpstr>PowerPoint 演示文稿</vt:lpstr>
      <vt:lpstr>8.4.2 分解的无损连接性和保持函数依赖性</vt:lpstr>
      <vt:lpstr>8.4.2 分解的无损连接性和保持函数依赖性</vt:lpstr>
      <vt:lpstr>8.4.2 分解的无损连接性和保持函数依赖性</vt:lpstr>
      <vt:lpstr>8.4.2 分解的无损连接性和保持函数依赖性</vt:lpstr>
      <vt:lpstr>8.4.2 分解的无损连接性和保持函数依赖性</vt:lpstr>
      <vt:lpstr>8.4.2 分解的无损连接性和保持函数依赖性</vt:lpstr>
      <vt:lpstr>8.4.2 分解的无损连接性和保持函数依赖性</vt:lpstr>
      <vt:lpstr>8.4.2 分解的无损连接性和保持函数依赖性</vt:lpstr>
      <vt:lpstr>8.4.2 分解的无损连接性和保持函数依赖性</vt:lpstr>
      <vt:lpstr>8.4.2 分解的无损连接性和保持函数依赖性</vt:lpstr>
      <vt:lpstr>8.4.2 分解的无损连接性和保持函数依赖性</vt:lpstr>
      <vt:lpstr>8.4.2 分解的无损连接性和保持函数依赖性</vt:lpstr>
      <vt:lpstr>8.4.2 分解的无损连接性和保持函数依赖性</vt:lpstr>
      <vt:lpstr>8.4.2 分解的无损连接性和保持函数依赖性</vt:lpstr>
      <vt:lpstr>8.4.2 分解的无损连接性和保持函数依赖性</vt:lpstr>
      <vt:lpstr>8.4.3 模式分解算法</vt:lpstr>
      <vt:lpstr>8.4.3 模式分解算法</vt:lpstr>
      <vt:lpstr>达到3NF保持依赖的分解: 例1</vt:lpstr>
      <vt:lpstr>达到3NF保持依赖无损连接分解: 例</vt:lpstr>
      <vt:lpstr>8.4.3 模式分解算法(了解) </vt:lpstr>
      <vt:lpstr>第8章  小结(1)</vt:lpstr>
      <vt:lpstr>第8章  小结(2)</vt:lpstr>
      <vt:lpstr>Any Question?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lei duan</dc:creator>
  <cp:lastModifiedBy>Administrator</cp:lastModifiedBy>
  <cp:revision>1873</cp:revision>
  <dcterms:created xsi:type="dcterms:W3CDTF">2009-08-07T14:32:50Z</dcterms:created>
  <dcterms:modified xsi:type="dcterms:W3CDTF">2025-11-06T03:06:48Z</dcterms:modified>
</cp:coreProperties>
</file>