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sldIdLst>
    <p:sldId id="258" r:id="rId2"/>
    <p:sldId id="259" r:id="rId3"/>
    <p:sldId id="620" r:id="rId4"/>
    <p:sldId id="621" r:id="rId5"/>
    <p:sldId id="600" r:id="rId6"/>
    <p:sldId id="625" r:id="rId7"/>
    <p:sldId id="374" r:id="rId8"/>
    <p:sldId id="375" r:id="rId9"/>
    <p:sldId id="376" r:id="rId10"/>
    <p:sldId id="377" r:id="rId11"/>
    <p:sldId id="379" r:id="rId12"/>
    <p:sldId id="380" r:id="rId13"/>
    <p:sldId id="601" r:id="rId14"/>
    <p:sldId id="383" r:id="rId15"/>
    <p:sldId id="384" r:id="rId16"/>
    <p:sldId id="385" r:id="rId17"/>
    <p:sldId id="629" r:id="rId18"/>
    <p:sldId id="557" r:id="rId19"/>
    <p:sldId id="602" r:id="rId20"/>
    <p:sldId id="388" r:id="rId21"/>
    <p:sldId id="389" r:id="rId22"/>
    <p:sldId id="628" r:id="rId23"/>
    <p:sldId id="370" r:id="rId24"/>
    <p:sldId id="371" r:id="rId25"/>
    <p:sldId id="372" r:id="rId26"/>
    <p:sldId id="560" r:id="rId27"/>
    <p:sldId id="373" r:id="rId28"/>
    <p:sldId id="260" r:id="rId29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800080"/>
    <a:srgbClr val="339933"/>
    <a:srgbClr val="0033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92" autoAdjust="0"/>
  </p:normalViewPr>
  <p:slideViewPr>
    <p:cSldViewPr>
      <p:cViewPr varScale="1">
        <p:scale>
          <a:sx n="128" d="100"/>
          <a:sy n="128" d="100"/>
        </p:scale>
        <p:origin x="87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zh-CN" alt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Arial" charset="0"/>
              </a:defRPr>
            </a:lvl1pPr>
          </a:lstStyle>
          <a:p>
            <a:fld id="{8D2A0377-D3B8-4BEF-997F-B4BEAF2D68F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027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47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732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1200" b="1" dirty="0"/>
              <a:t>然而，</a:t>
            </a:r>
            <a:r>
              <a:rPr lang="zh-CN" altLang="en-US" sz="1200" b="1" dirty="0">
                <a:solidFill>
                  <a:srgbClr val="0000FF"/>
                </a:solidFill>
              </a:rPr>
              <a:t>定长记录文件</a:t>
            </a:r>
            <a:r>
              <a:rPr lang="zh-CN" altLang="en-US" sz="1200" b="1" dirty="0"/>
              <a:t>比</a:t>
            </a:r>
            <a:r>
              <a:rPr lang="zh-CN" altLang="en-US" sz="1200" b="1" dirty="0">
                <a:solidFill>
                  <a:srgbClr val="0000FF"/>
                </a:solidFill>
              </a:rPr>
              <a:t>变长记录文件</a:t>
            </a:r>
            <a:r>
              <a:rPr lang="zh-CN" altLang="en-US" sz="1200" b="1" dirty="0"/>
              <a:t>更容易实现。用于定长记录文件的很多技术可以应用到变长的情况。</a:t>
            </a:r>
            <a:endParaRPr lang="en-US" altLang="zh-CN" sz="1200" b="1" dirty="0"/>
          </a:p>
          <a:p>
            <a:pPr eaLnBrk="1" hangingPunct="1"/>
            <a:r>
              <a:rPr lang="zh-CN" altLang="en-US" sz="1200" b="1" dirty="0"/>
              <a:t>因此，我们首先考虑定长记录文件，再考虑变长记录的存储。</a:t>
            </a:r>
            <a:endParaRPr lang="en-US" altLang="zh-CN" sz="1100" b="1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374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008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5056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488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A0377-D3B8-4BEF-997F-B4BEAF2D68FE}" type="slidenum">
              <a:rPr lang="zh-CN" altLang="en-US" smtClean="0"/>
              <a:pPr/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710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71600"/>
            <a:ext cx="7772400" cy="1462088"/>
          </a:xfrm>
        </p:spPr>
        <p:txBody>
          <a:bodyPr/>
          <a:lstStyle>
            <a:lvl1pPr algn="ctr"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6B972E8-801F-4B4B-8478-EDCCEF0F6081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n-lt"/>
              </a:defRPr>
            </a:lvl1pPr>
          </a:lstStyle>
          <a:p>
            <a:fld id="{312FA367-53EB-421A-9865-84257693BFC4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5127" name="Object 7"/>
          <p:cNvGraphicFramePr>
            <a:graphicFrameLocks/>
          </p:cNvGraphicFramePr>
          <p:nvPr/>
        </p:nvGraphicFramePr>
        <p:xfrm>
          <a:off x="533400" y="3124200"/>
          <a:ext cx="83058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6857143" imgH="48963" progId="">
                  <p:embed/>
                </p:oleObj>
              </mc:Choice>
              <mc:Fallback>
                <p:oleObj name="Clip" r:id="rId2" imgW="6857143" imgH="48963" progId="">
                  <p:embed/>
                  <p:pic>
                    <p:nvPicPr>
                      <p:cNvPr id="0" name="Picture 80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124200"/>
                        <a:ext cx="83058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ACD26E4-12E8-4EAF-B5E7-3A7E398801CB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D74603-B40B-4D66-8F6E-41C870D48932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89946547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54D2DB-7824-4A00-881D-5C7A76A0DE47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99EAD-2C86-4450-9625-7EF344D5772C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56576027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A86CD8-BF42-45C5-A832-C1E0C32F441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87144-5480-4896-B635-AD974A4EA320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26043353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16F77D-AD4E-4E48-9A40-9407D4AB933C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CB709F-E6EA-4776-AF6D-29A1A06E9FED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44493932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2E20A6-D0F2-43D4-9A49-13B607B3C0CA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A4E5F-2FB2-46CB-BBC2-637528EFB5F7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402069015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0CD398-8C73-4DD3-A57D-5CD6C4459D92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69B9C-F5BF-482C-A521-EB084A2A18BF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20161806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C0FE72-2196-4946-899D-5C78B5FF8C8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7E0AA9-64A8-4014-AB4B-12BF1DE67C2D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381594944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4C2ADB-A044-495A-8195-80153192F3C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F51E71-995A-45EF-AAB0-38D467D8AB85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700258146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DBAE25-2F4D-468A-83B7-6CB36E082CB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4DF839-432E-4533-990B-4B8F5CC2CF3F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173680904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69113" y="381000"/>
            <a:ext cx="2085975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6107113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8897F83-969D-4FD5-AC96-B09757F2E1E6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4E7352-D8BD-49EE-AC05-9CF28D786712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255718615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81000"/>
            <a:ext cx="8105775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95750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7750" y="1447800"/>
            <a:ext cx="4097338" cy="46847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5CC034D-D47F-4624-B5BF-DC0A2467130B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276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F2121B0-14FC-4FF4-BE73-FB699D38FECB}" type="slidenum">
              <a:rPr lang="en-US" altLang="zh-CN" smtClean="0"/>
              <a:pPr/>
              <a:t>‹#›</a:t>
            </a:fld>
            <a:r>
              <a:rPr lang="en-US" altLang="zh-CN" dirty="0"/>
              <a:t>/162</a:t>
            </a:r>
          </a:p>
        </p:txBody>
      </p:sp>
    </p:spTree>
    <p:extLst>
      <p:ext uri="{BB962C8B-B14F-4D97-AF65-F5344CB8AC3E}">
        <p14:creationId xmlns:p14="http://schemas.microsoft.com/office/powerpoint/2010/main" val="336982173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标题和两项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370013" y="1827213"/>
            <a:ext cx="3579812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3"/>
          </p:nvPr>
        </p:nvSpPr>
        <p:spPr>
          <a:xfrm>
            <a:off x="1370013" y="3960813"/>
            <a:ext cx="7313612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C93B2A8-67CE-A264-66FE-2530C66752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2EEE28A7-49AB-218F-8217-D132E7F11A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83A97D97-BAAA-A744-059C-458683A935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5DC6C-76E4-4B30-82D5-2E99AADC6C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6796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345488" cy="4684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0" sz="1400"/>
            </a:lvl1pPr>
          </a:lstStyle>
          <a:p>
            <a:fld id="{1BD1408B-FAE1-4555-A448-FC98764624D8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r>
              <a:rPr lang="en-US" altLang="zh-CN"/>
              <a:t>《数据库系统概论》- 第6章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Times New Roman" pitchFamily="18" charset="0"/>
              </a:defRPr>
            </a:lvl1pPr>
          </a:lstStyle>
          <a:p>
            <a:fld id="{E5D2F0E2-7A34-4EEA-8A4F-08B3FE24AFCA}" type="slidenum">
              <a:rPr lang="en-US" altLang="zh-CN" smtClean="0"/>
              <a:pPr/>
              <a:t>‹#›</a:t>
            </a:fld>
            <a:r>
              <a:rPr lang="en-US" altLang="zh-CN" dirty="0"/>
              <a:t>/151</a:t>
            </a:r>
          </a:p>
        </p:txBody>
      </p:sp>
      <p:pic>
        <p:nvPicPr>
          <p:cNvPr id="4103" name="Picture 7" descr="redBar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9200"/>
            <a:ext cx="7924800" cy="15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ransition>
    <p:fade/>
  </p:transition>
  <p:hf hdr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>
                <a:latin typeface="Times New Roman" pitchFamily="18" charset="0"/>
              </a:rPr>
              <a:t>数据库系统原理</a:t>
            </a:r>
            <a:br>
              <a:rPr lang="zh-CN" altLang="en-US" sz="4000">
                <a:latin typeface="Times New Roman" pitchFamily="18" charset="0"/>
              </a:rPr>
            </a:br>
            <a:br>
              <a:rPr lang="zh-CN" altLang="en-US" sz="900">
                <a:latin typeface="Times New Roman" pitchFamily="18" charset="0"/>
              </a:rPr>
            </a:br>
            <a:r>
              <a:rPr lang="en-US" altLang="zh-CN" sz="2800">
                <a:latin typeface="Times New Roman" pitchFamily="18" charset="0"/>
              </a:rPr>
              <a:t>Database System Principles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2438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四川大学计算机学院</a:t>
            </a:r>
          </a:p>
          <a:p>
            <a:pPr>
              <a:lnSpc>
                <a:spcPct val="90000"/>
              </a:lnSpc>
            </a:pP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</a:rPr>
              <a:t>郭际香</a:t>
            </a: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</a:rPr>
              <a:t>guojixiang@scu.edu.cn</a:t>
            </a:r>
          </a:p>
          <a:p>
            <a:pPr>
              <a:lnSpc>
                <a:spcPct val="90000"/>
              </a:lnSpc>
            </a:pPr>
            <a:endParaRPr lang="en-US" altLang="zh-CN" sz="2400" dirty="0">
              <a:latin typeface="Times New Roman" pitchFamily="18" charset="0"/>
              <a:ea typeface="楷体_GB2312" pitchFamily="49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itchFamily="18" charset="0"/>
              </a:rPr>
              <a:t>2025.11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838200"/>
            <a:ext cx="7772400" cy="1462088"/>
          </a:xfrm>
        </p:spPr>
        <p:txBody>
          <a:bodyPr/>
          <a:lstStyle/>
          <a:p>
            <a:r>
              <a:rPr lang="zh-CN" altLang="zh-CN" dirty="0"/>
              <a:t>第</a:t>
            </a:r>
            <a:r>
              <a:rPr lang="zh-CN" altLang="en-US" dirty="0"/>
              <a:t>十</a:t>
            </a:r>
            <a:r>
              <a:rPr lang="zh-CN" altLang="zh-CN" dirty="0"/>
              <a:t>章 </a:t>
            </a:r>
            <a:r>
              <a:rPr lang="zh-CN" altLang="en-US" dirty="0"/>
              <a:t>存储管理</a:t>
            </a:r>
            <a:endParaRPr lang="en-US" altLang="zh-CN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3505200"/>
            <a:ext cx="7162800" cy="2514600"/>
          </a:xfrm>
        </p:spPr>
        <p:txBody>
          <a:bodyPr/>
          <a:lstStyle/>
          <a:p>
            <a:pPr algn="l">
              <a:buFont typeface="Wingdings" pitchFamily="2" charset="2"/>
              <a:buChar char="n"/>
            </a:pPr>
            <a:r>
              <a:rPr lang="zh-CN" altLang="en-US" sz="2400" dirty="0">
                <a:latin typeface="Times New Roman" pitchFamily="18" charset="0"/>
              </a:rPr>
              <a:t>从底层存储介质角度，探讨如何通过使用多个存储设备创建高可靠性的存储结构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3BB01860-7BCF-5BA3-744A-CC703DD62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F5F134-DCA0-43F3-8060-41057745F705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CN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B884451E-A16C-65FA-1D0D-84041D79E0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chemeClr val="tx1"/>
                </a:solidFill>
              </a:rPr>
              <a:t>主要内容</a:t>
            </a:r>
          </a:p>
        </p:txBody>
      </p:sp>
      <p:sp>
        <p:nvSpPr>
          <p:cNvPr id="600067" name="Rectangle 3">
            <a:extLst>
              <a:ext uri="{FF2B5EF4-FFF2-40B4-BE49-F238E27FC236}">
                <a16:creationId xmlns:a16="http://schemas.microsoft.com/office/drawing/2014/main" id="{D1CA2504-87B1-4658-5745-BFA57850E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6787" y="1367135"/>
            <a:ext cx="7848600" cy="48768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存储器访问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/>
              <a:t>存储介质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文件组织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文件中记录组织</a:t>
            </a:r>
            <a:endParaRPr lang="en-US" altLang="zh-CN" b="1" dirty="0"/>
          </a:p>
          <a:p>
            <a:pPr eaLnBrk="1" hangingPunct="1">
              <a:lnSpc>
                <a:spcPct val="120000"/>
              </a:lnSpc>
            </a:pPr>
            <a:r>
              <a:rPr lang="zh-CN" altLang="en-US" b="1" dirty="0"/>
              <a:t>数据字典存储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数据库缓冲区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600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600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600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600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E3AFEBC8-C5BF-1664-2282-488475E6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52CBD0-9608-455C-B4EA-2A3F7082DDBA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CN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846F906C-549B-5222-5F6E-8382CB759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物理存储介质（自学</a:t>
            </a:r>
            <a:r>
              <a:rPr lang="en-US" altLang="zh-CN" b="1" dirty="0"/>
              <a:t>, </a:t>
            </a:r>
            <a:r>
              <a:rPr lang="zh-CN" altLang="en-US" b="1" dirty="0"/>
              <a:t>阅读第十章）</a:t>
            </a:r>
            <a:endParaRPr lang="en-US" altLang="zh-CN" b="1" dirty="0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CC6CBFE-7756-AC42-D626-C417DC1A6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422102"/>
            <a:ext cx="3384376" cy="5175250"/>
          </a:xfrm>
        </p:spPr>
        <p:txBody>
          <a:bodyPr/>
          <a:lstStyle/>
          <a:p>
            <a:pPr eaLnBrk="1" hangingPunct="1"/>
            <a:r>
              <a:rPr lang="zh-CN" altLang="en-US" sz="2500" b="1" dirty="0"/>
              <a:t>高速存储</a:t>
            </a:r>
            <a:r>
              <a:rPr lang="en-US" altLang="zh-CN" sz="2500" dirty="0"/>
              <a:t>(cache)</a:t>
            </a:r>
          </a:p>
          <a:p>
            <a:pPr eaLnBrk="1" hangingPunct="1"/>
            <a:r>
              <a:rPr lang="zh-CN" altLang="en-US" sz="2500" b="1" dirty="0">
                <a:solidFill>
                  <a:srgbClr val="0000FF"/>
                </a:solidFill>
              </a:rPr>
              <a:t>主存</a:t>
            </a:r>
            <a:r>
              <a:rPr lang="en-US" altLang="zh-CN" sz="2500" dirty="0"/>
              <a:t>(main memory)</a:t>
            </a:r>
          </a:p>
          <a:p>
            <a:r>
              <a:rPr lang="zh-CN" altLang="en-US" sz="2500" b="1" dirty="0"/>
              <a:t>闪存</a:t>
            </a:r>
            <a:r>
              <a:rPr lang="en-US" altLang="zh-CN" sz="2500" dirty="0"/>
              <a:t>(flash memory)</a:t>
            </a:r>
          </a:p>
          <a:p>
            <a:pPr eaLnBrk="1" hangingPunct="1"/>
            <a:r>
              <a:rPr lang="zh-CN" altLang="en-US" sz="2500" b="1" dirty="0">
                <a:solidFill>
                  <a:srgbClr val="0000FF"/>
                </a:solidFill>
              </a:rPr>
              <a:t>磁盘存储器</a:t>
            </a:r>
            <a:r>
              <a:rPr lang="en-US" altLang="zh-CN" sz="2500" dirty="0"/>
              <a:t>(magnetic dish)</a:t>
            </a:r>
          </a:p>
          <a:p>
            <a:pPr eaLnBrk="1" hangingPunct="1"/>
            <a:r>
              <a:rPr lang="zh-CN" altLang="en-US" sz="2500" b="1" dirty="0"/>
              <a:t>光学存储器</a:t>
            </a:r>
            <a:r>
              <a:rPr lang="en-US" altLang="zh-CN" sz="2500" dirty="0"/>
              <a:t>(optical disk)</a:t>
            </a:r>
          </a:p>
          <a:p>
            <a:pPr eaLnBrk="1" hangingPunct="1"/>
            <a:r>
              <a:rPr lang="zh-CN" altLang="en-US" sz="2500" b="1" dirty="0"/>
              <a:t>磁带存储器</a:t>
            </a:r>
            <a:r>
              <a:rPr lang="en-US" altLang="zh-CN" sz="2500" dirty="0"/>
              <a:t>(magnetic tapes)</a:t>
            </a:r>
            <a:endParaRPr lang="zh-CN" altLang="en-US" sz="2100" dirty="0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E889D71-36A3-2331-A629-8D3F3E679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3874" y="1789790"/>
            <a:ext cx="5190126" cy="44212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2BFDF5C-A4CC-23FB-172C-633692847F39}"/>
              </a:ext>
            </a:extLst>
          </p:cNvPr>
          <p:cNvSpPr txBox="1"/>
          <p:nvPr/>
        </p:nvSpPr>
        <p:spPr>
          <a:xfrm>
            <a:off x="7594540" y="21328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易失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5887D91-7E9B-CD72-244D-E965F5DFD147}"/>
              </a:ext>
            </a:extLst>
          </p:cNvPr>
          <p:cNvSpPr txBox="1"/>
          <p:nvPr/>
        </p:nvSpPr>
        <p:spPr>
          <a:xfrm>
            <a:off x="7740352" y="376956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非易失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370C8D-0CC9-85FE-0D3E-690CF0784CDB}"/>
              </a:ext>
            </a:extLst>
          </p:cNvPr>
          <p:cNvSpPr txBox="1"/>
          <p:nvPr/>
        </p:nvSpPr>
        <p:spPr>
          <a:xfrm>
            <a:off x="4225575" y="2204864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基本存储器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BDF0CF-6B92-00BB-9487-93EED502C7A1}"/>
              </a:ext>
            </a:extLst>
          </p:cNvPr>
          <p:cNvSpPr txBox="1"/>
          <p:nvPr/>
        </p:nvSpPr>
        <p:spPr>
          <a:xfrm>
            <a:off x="4029312" y="3778894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辅助存储器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C78CB0-EF0C-78F6-FD1F-73E8D1C6610D}"/>
              </a:ext>
            </a:extLst>
          </p:cNvPr>
          <p:cNvSpPr txBox="1"/>
          <p:nvPr/>
        </p:nvSpPr>
        <p:spPr>
          <a:xfrm>
            <a:off x="3710224" y="5352924"/>
            <a:ext cx="17235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三级存储器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A02A3E-FE60-0756-928A-07F18528950B}"/>
              </a:ext>
            </a:extLst>
          </p:cNvPr>
          <p:cNvSpPr txBox="1"/>
          <p:nvPr/>
        </p:nvSpPr>
        <p:spPr>
          <a:xfrm>
            <a:off x="5030154" y="1301878"/>
            <a:ext cx="29546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成本越贵、速度越快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E72748-9A06-5135-E996-9A00C062569E}"/>
              </a:ext>
            </a:extLst>
          </p:cNvPr>
          <p:cNvCxnSpPr/>
          <p:nvPr/>
        </p:nvCxnSpPr>
        <p:spPr bwMode="auto">
          <a:xfrm flipV="1">
            <a:off x="8021427" y="1340768"/>
            <a:ext cx="0" cy="5210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5443386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B01C0B10-542E-A429-C156-79F05CDE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D4AC2A-9AC4-4E08-9967-101DEB362BCD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474FB60-7B43-A2E1-2415-FD0A17E6F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AD0F4E20-F0E7-E953-5FD4-3C62900FAB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7588" y="1368152"/>
            <a:ext cx="7848600" cy="5445224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存储器访问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文件组织</a:t>
            </a:r>
            <a:endParaRPr lang="en-US" altLang="zh-CN" b="1" dirty="0">
              <a:solidFill>
                <a:srgbClr val="0000FF"/>
              </a:solidFill>
            </a:endParaRPr>
          </a:p>
          <a:p>
            <a:pPr lvl="1"/>
            <a:r>
              <a:rPr lang="zh-CN" altLang="en-US" b="1" dirty="0"/>
              <a:t>数据库文件块</a:t>
            </a:r>
          </a:p>
          <a:p>
            <a:pPr lvl="1" eaLnBrk="1" hangingPunct="1"/>
            <a:r>
              <a:rPr lang="zh-CN" altLang="en-US" b="1" dirty="0"/>
              <a:t>定长记录</a:t>
            </a:r>
          </a:p>
          <a:p>
            <a:pPr lvl="1" eaLnBrk="1" hangingPunct="1"/>
            <a:r>
              <a:rPr lang="zh-CN" altLang="en-US" b="1" dirty="0"/>
              <a:t>变长记录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文件中记录组织</a:t>
            </a:r>
            <a:endParaRPr lang="en-US" altLang="zh-CN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数据字典存储</a:t>
            </a:r>
            <a:endParaRPr lang="en-US" altLang="zh-CN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b="1" dirty="0"/>
              <a:t>数据库缓冲区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40293604-4167-3C51-F7F5-911C5BAF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8D359E-89DD-4520-AB71-EA4EC34D42C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CN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D29FD16-6869-F3AD-3B96-6525E4CF4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文件组织</a:t>
            </a:r>
            <a:endParaRPr lang="en-US" altLang="zh-CN" b="1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2B8B477-70BF-C583-AF94-A05A2B067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354366"/>
            <a:ext cx="8280920" cy="5387002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一个数据库</a:t>
            </a:r>
            <a:r>
              <a:rPr lang="zh-CN" altLang="en-US" sz="2400" b="1" dirty="0"/>
              <a:t>会被映射为</a:t>
            </a:r>
            <a:r>
              <a:rPr lang="zh-CN" altLang="en-US" sz="2400" b="1" dirty="0">
                <a:solidFill>
                  <a:srgbClr val="FF0000"/>
                </a:solidFill>
              </a:rPr>
              <a:t>多个</a:t>
            </a:r>
            <a:r>
              <a:rPr lang="zh-CN" altLang="en-US" sz="2400" b="1" dirty="0">
                <a:solidFill>
                  <a:srgbClr val="0000FF"/>
                </a:solidFill>
              </a:rPr>
              <a:t>不同的文件</a:t>
            </a:r>
            <a:r>
              <a:rPr lang="zh-CN" altLang="en-US" sz="2400" b="1" dirty="0"/>
              <a:t>，这些文件永久驻留在磁盘上，由底层的</a:t>
            </a:r>
            <a:r>
              <a:rPr lang="zh-CN" altLang="en-US" sz="2400" b="1" dirty="0">
                <a:solidFill>
                  <a:srgbClr val="0000FF"/>
                </a:solidFill>
              </a:rPr>
              <a:t>操作系统</a:t>
            </a:r>
            <a:r>
              <a:rPr lang="zh-CN" altLang="en-US" sz="2400" b="1" dirty="0"/>
              <a:t>来维护。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一个文件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0000FF"/>
                </a:solidFill>
              </a:rPr>
              <a:t>逻辑</a:t>
            </a:r>
            <a:r>
              <a:rPr lang="zh-CN" altLang="en-US" sz="2400" b="1" dirty="0"/>
              <a:t>上被组织为</a:t>
            </a:r>
            <a:r>
              <a:rPr lang="zh-CN" altLang="en-US" sz="2400" b="1" dirty="0">
                <a:solidFill>
                  <a:srgbClr val="0000FF"/>
                </a:solidFill>
              </a:rPr>
              <a:t>记录的一个序列</a:t>
            </a:r>
            <a:r>
              <a:rPr lang="zh-CN" altLang="en-US" sz="2400" b="1" dirty="0"/>
              <a:t>，这些</a:t>
            </a:r>
            <a:r>
              <a:rPr lang="zh-CN" altLang="en-US" sz="2400" b="1" dirty="0">
                <a:solidFill>
                  <a:srgbClr val="0000FF"/>
                </a:solidFill>
              </a:rPr>
              <a:t>记录</a:t>
            </a:r>
            <a:r>
              <a:rPr lang="zh-CN" altLang="en-US" sz="2400" b="1" dirty="0">
                <a:solidFill>
                  <a:srgbClr val="FF0000"/>
                </a:solidFill>
              </a:rPr>
              <a:t>被映射到</a:t>
            </a:r>
            <a:r>
              <a:rPr lang="zh-CN" altLang="en-US" sz="2400" b="1" dirty="0">
                <a:solidFill>
                  <a:srgbClr val="0000FF"/>
                </a:solidFill>
              </a:rPr>
              <a:t>磁盘块</a:t>
            </a:r>
            <a:r>
              <a:rPr lang="zh-CN" altLang="en-US" sz="2400" b="1" dirty="0"/>
              <a:t>上。</a:t>
            </a:r>
          </a:p>
          <a:p>
            <a:pPr eaLnBrk="1" hangingPunct="1"/>
            <a:r>
              <a:rPr lang="zh-CN" altLang="en-US" sz="2400" b="1" dirty="0"/>
              <a:t>每个文件分成</a:t>
            </a:r>
            <a:r>
              <a:rPr lang="zh-CN" altLang="en-US" sz="2400" b="1" dirty="0">
                <a:solidFill>
                  <a:srgbClr val="0000FF"/>
                </a:solidFill>
              </a:rPr>
              <a:t>定长</a:t>
            </a:r>
            <a:r>
              <a:rPr lang="zh-CN" altLang="en-US" sz="2400" b="1" dirty="0"/>
              <a:t>的存储单元，称为块</a:t>
            </a:r>
            <a:r>
              <a:rPr lang="en-US" altLang="zh-CN" sz="2400" b="1" dirty="0"/>
              <a:t>(block)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800080"/>
                </a:solidFill>
              </a:rPr>
              <a:t>块是存储分配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800080"/>
                </a:solidFill>
              </a:rPr>
              <a:t>数据传输的单位</a:t>
            </a:r>
            <a:r>
              <a:rPr lang="zh-CN" altLang="en-US" sz="2400" b="1" dirty="0"/>
              <a:t>；一个</a:t>
            </a:r>
            <a:r>
              <a:rPr lang="zh-CN" altLang="en-US" sz="2400" b="1" dirty="0">
                <a:solidFill>
                  <a:srgbClr val="0000FF"/>
                </a:solidFill>
              </a:rPr>
              <a:t>数据库文件</a:t>
            </a:r>
            <a:r>
              <a:rPr lang="zh-CN" altLang="en-US" sz="2400" b="1" dirty="0"/>
              <a:t>被分割成</a:t>
            </a:r>
            <a:r>
              <a:rPr lang="zh-CN" altLang="en-US" sz="2400" b="1" dirty="0">
                <a:solidFill>
                  <a:srgbClr val="0000FF"/>
                </a:solidFill>
              </a:rPr>
              <a:t>若干块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0000FF"/>
                </a:solidFill>
              </a:rPr>
              <a:t>一个块</a:t>
            </a:r>
            <a:r>
              <a:rPr lang="zh-CN" altLang="en-US" sz="2400" b="1" dirty="0"/>
              <a:t>可能包含</a:t>
            </a:r>
            <a:r>
              <a:rPr lang="zh-CN" altLang="en-US" sz="2400" b="1" dirty="0">
                <a:solidFill>
                  <a:srgbClr val="0000FF"/>
                </a:solidFill>
              </a:rPr>
              <a:t>多条记录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一般，要求</a:t>
            </a:r>
            <a:r>
              <a:rPr lang="zh-CN" altLang="en-US" sz="2400" b="1" dirty="0">
                <a:solidFill>
                  <a:srgbClr val="0000FF"/>
                </a:solidFill>
              </a:rPr>
              <a:t>每条记录</a:t>
            </a:r>
            <a:r>
              <a:rPr lang="zh-CN" altLang="en-US" sz="2400" b="1" dirty="0">
                <a:solidFill>
                  <a:srgbClr val="FF0000"/>
                </a:solidFill>
              </a:rPr>
              <a:t>被完整的</a:t>
            </a:r>
            <a:r>
              <a:rPr lang="zh-CN" altLang="en-US" sz="2400" b="1" dirty="0">
                <a:solidFill>
                  <a:srgbClr val="0000FF"/>
                </a:solidFill>
              </a:rPr>
              <a:t>保存在单个块</a:t>
            </a:r>
            <a:r>
              <a:rPr lang="zh-CN" altLang="en-US" sz="2400" b="1" dirty="0"/>
              <a:t>中，这个限制可</a:t>
            </a:r>
            <a:r>
              <a:rPr lang="zh-CN" altLang="en-US" sz="2400" b="1" dirty="0">
                <a:solidFill>
                  <a:srgbClr val="FF0000"/>
                </a:solidFill>
              </a:rPr>
              <a:t>加快</a:t>
            </a:r>
            <a:r>
              <a:rPr lang="zh-CN" altLang="en-US" sz="2400" b="1" dirty="0"/>
              <a:t>对</a:t>
            </a:r>
            <a:r>
              <a:rPr lang="zh-CN" altLang="en-US" sz="2400" b="1" dirty="0">
                <a:solidFill>
                  <a:srgbClr val="0000FF"/>
                </a:solidFill>
              </a:rPr>
              <a:t>数据项的访问</a:t>
            </a:r>
            <a:r>
              <a:rPr lang="zh-CN" altLang="en-US" sz="2400" b="1" dirty="0"/>
              <a:t>。</a:t>
            </a:r>
            <a:endParaRPr lang="en-US" altLang="zh-CN" sz="2400" b="1" dirty="0"/>
          </a:p>
          <a:p>
            <a:r>
              <a:rPr lang="zh-CN" altLang="en-US" sz="2400" b="1" dirty="0"/>
              <a:t>在关系数据库中，</a:t>
            </a:r>
            <a:r>
              <a:rPr lang="zh-CN" altLang="en-US" sz="2400" b="1" dirty="0">
                <a:solidFill>
                  <a:srgbClr val="0000FF"/>
                </a:solidFill>
              </a:rPr>
              <a:t>不同关系的元组</a:t>
            </a:r>
            <a:r>
              <a:rPr lang="zh-CN" altLang="en-US" sz="2400" b="1" dirty="0"/>
              <a:t>通常具有</a:t>
            </a:r>
            <a:r>
              <a:rPr lang="zh-CN" altLang="en-US" sz="2400" b="1" dirty="0">
                <a:solidFill>
                  <a:srgbClr val="0000FF"/>
                </a:solidFill>
              </a:rPr>
              <a:t>不同的规模</a:t>
            </a:r>
            <a:r>
              <a:rPr lang="zh-CN" altLang="en-US" sz="2400" b="1" dirty="0"/>
              <a:t>。把</a:t>
            </a:r>
            <a:r>
              <a:rPr lang="zh-CN" altLang="en-US" sz="2400" b="1" dirty="0">
                <a:solidFill>
                  <a:srgbClr val="0000FF"/>
                </a:solidFill>
              </a:rPr>
              <a:t>数据库</a:t>
            </a:r>
            <a:r>
              <a:rPr lang="zh-CN" altLang="en-US" sz="2400" b="1" dirty="0">
                <a:solidFill>
                  <a:srgbClr val="FF0000"/>
                </a:solidFill>
              </a:rPr>
              <a:t>映射到</a:t>
            </a:r>
            <a:r>
              <a:rPr lang="zh-CN" altLang="en-US" sz="2400" b="1" dirty="0">
                <a:solidFill>
                  <a:srgbClr val="0000FF"/>
                </a:solidFill>
              </a:rPr>
              <a:t>文件</a:t>
            </a:r>
            <a:r>
              <a:rPr lang="zh-CN" altLang="en-US" sz="2400" b="1" dirty="0"/>
              <a:t>的一种方法是使用</a:t>
            </a:r>
            <a:r>
              <a:rPr lang="zh-CN" altLang="en-US" sz="2400" b="1" dirty="0">
                <a:solidFill>
                  <a:srgbClr val="0000FF"/>
                </a:solidFill>
              </a:rPr>
              <a:t>多个文件</a:t>
            </a:r>
            <a:r>
              <a:rPr lang="zh-CN" altLang="en-US" sz="2400" b="1" dirty="0"/>
              <a:t>，在任意给定的</a:t>
            </a:r>
            <a:r>
              <a:rPr lang="zh-CN" altLang="en-US" sz="2400" b="1" dirty="0">
                <a:solidFill>
                  <a:srgbClr val="0000FF"/>
                </a:solidFill>
              </a:rPr>
              <a:t>文件</a:t>
            </a:r>
            <a:r>
              <a:rPr lang="zh-CN" altLang="en-US" sz="2400" b="1" dirty="0"/>
              <a:t>中</a:t>
            </a:r>
            <a:r>
              <a:rPr lang="zh-CN" altLang="en-US" sz="2400" b="1" dirty="0">
                <a:solidFill>
                  <a:srgbClr val="0000FF"/>
                </a:solidFill>
              </a:rPr>
              <a:t>只存储</a:t>
            </a:r>
            <a:r>
              <a:rPr lang="zh-CN" altLang="en-US" sz="2400" b="1" dirty="0">
                <a:solidFill>
                  <a:srgbClr val="FF0000"/>
                </a:solidFill>
              </a:rPr>
              <a:t>一种固定长度</a:t>
            </a:r>
            <a:r>
              <a:rPr lang="zh-CN" altLang="en-US" sz="2400" b="1" dirty="0">
                <a:solidFill>
                  <a:srgbClr val="0000FF"/>
                </a:solidFill>
              </a:rPr>
              <a:t>的记录</a:t>
            </a:r>
            <a:r>
              <a:rPr lang="zh-CN" altLang="en-US" sz="2400" b="1" dirty="0"/>
              <a:t>。另一种选择是构造自己的文件，使之能够</a:t>
            </a:r>
            <a:r>
              <a:rPr lang="zh-CN" altLang="en-US" sz="2400" b="1" dirty="0">
                <a:solidFill>
                  <a:srgbClr val="0000FF"/>
                </a:solidFill>
              </a:rPr>
              <a:t>容纳多种长度的记录</a:t>
            </a:r>
            <a:r>
              <a:rPr lang="zh-CN" altLang="en-US" sz="2400" b="1" dirty="0"/>
              <a:t>。       </a:t>
            </a:r>
            <a:r>
              <a:rPr lang="zh-CN" altLang="en-US" sz="1800" b="1" dirty="0"/>
              <a:t>（需要考虑用文件表示逻辑数据模型的不同方式）</a:t>
            </a: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335735288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40293604-4167-3C51-F7F5-911C5BAF9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8D359E-89DD-4520-AB71-EA4EC34D42C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4D29FD16-6869-F3AD-3B96-6525E4CF4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文件组织</a:t>
            </a:r>
            <a:endParaRPr lang="en-US" altLang="zh-CN" b="1"/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F2B8B477-70BF-C583-AF94-A05A2B0676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544" y="1354366"/>
            <a:ext cx="8280920" cy="3946841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文件分类</a:t>
            </a:r>
          </a:p>
          <a:p>
            <a:pPr lvl="1" eaLnBrk="1" hangingPunct="1"/>
            <a:r>
              <a:rPr lang="zh-CN" altLang="en-US" sz="2400" b="1" dirty="0"/>
              <a:t>如果</a:t>
            </a:r>
            <a:r>
              <a:rPr lang="zh-CN" altLang="en-US" sz="2400" b="1" dirty="0">
                <a:solidFill>
                  <a:srgbClr val="0000FF"/>
                </a:solidFill>
              </a:rPr>
              <a:t>每个文件</a:t>
            </a:r>
            <a:r>
              <a:rPr lang="zh-CN" altLang="en-US" sz="2400" b="1" dirty="0"/>
              <a:t>中，</a:t>
            </a:r>
            <a:r>
              <a:rPr lang="zh-CN" altLang="en-US" sz="2400" b="1" dirty="0">
                <a:solidFill>
                  <a:srgbClr val="0000FF"/>
                </a:solidFill>
              </a:rPr>
              <a:t>记录的长度</a:t>
            </a:r>
            <a:r>
              <a:rPr lang="zh-CN" altLang="en-US" sz="2400" b="1" dirty="0"/>
              <a:t>是</a:t>
            </a:r>
            <a:r>
              <a:rPr lang="zh-CN" altLang="en-US" sz="2400" b="1" dirty="0">
                <a:solidFill>
                  <a:srgbClr val="0000FF"/>
                </a:solidFill>
              </a:rPr>
              <a:t>固定</a:t>
            </a:r>
            <a:r>
              <a:rPr lang="zh-CN" altLang="en-US" sz="2400" b="1" dirty="0"/>
              <a:t>的，每个文件中只有</a:t>
            </a:r>
            <a:r>
              <a:rPr lang="zh-CN" altLang="en-US" sz="2400" b="1" dirty="0">
                <a:solidFill>
                  <a:srgbClr val="006600"/>
                </a:solidFill>
              </a:rPr>
              <a:t>一种类型的记录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0000FF"/>
                </a:solidFill>
              </a:rPr>
              <a:t>不同文件</a:t>
            </a:r>
            <a:r>
              <a:rPr lang="zh-CN" altLang="en-US" sz="2400" b="1" dirty="0">
                <a:solidFill>
                  <a:srgbClr val="006600"/>
                </a:solidFill>
              </a:rPr>
              <a:t>保存</a:t>
            </a:r>
            <a:r>
              <a:rPr lang="zh-CN" altLang="en-US" sz="2400" b="1" dirty="0">
                <a:solidFill>
                  <a:srgbClr val="0000FF"/>
                </a:solidFill>
              </a:rPr>
              <a:t>不同关系</a:t>
            </a:r>
            <a:r>
              <a:rPr lang="zh-CN" altLang="en-US" sz="2400" b="1" dirty="0"/>
              <a:t>，则称为</a:t>
            </a:r>
            <a:r>
              <a:rPr lang="zh-CN" altLang="en-US" sz="24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定长记录文件</a:t>
            </a:r>
          </a:p>
          <a:p>
            <a:pPr lvl="1" eaLnBrk="1" hangingPunct="1"/>
            <a:r>
              <a:rPr lang="zh-CN" altLang="en-US" sz="2400" b="1" dirty="0"/>
              <a:t>如果</a:t>
            </a:r>
            <a:r>
              <a:rPr lang="zh-CN" altLang="en-US" sz="2400" b="1" dirty="0">
                <a:solidFill>
                  <a:srgbClr val="0000FF"/>
                </a:solidFill>
              </a:rPr>
              <a:t>每个文件</a:t>
            </a:r>
            <a:r>
              <a:rPr lang="zh-CN" altLang="en-US" sz="2400" b="1" dirty="0"/>
              <a:t>中能够</a:t>
            </a:r>
            <a:r>
              <a:rPr lang="zh-CN" altLang="en-US" sz="2400" b="1" dirty="0">
                <a:solidFill>
                  <a:srgbClr val="0000FF"/>
                </a:solidFill>
              </a:rPr>
              <a:t>容纳不同长度的、不同类型的记录</a:t>
            </a:r>
            <a:r>
              <a:rPr lang="zh-CN" altLang="en-US" sz="2400" b="1" dirty="0"/>
              <a:t>，则称是</a:t>
            </a:r>
            <a:r>
              <a:rPr lang="zh-CN" altLang="en-US" sz="2400" b="1" u="sng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变长记录文件</a:t>
            </a:r>
            <a:endParaRPr lang="en-US" altLang="zh-CN" sz="2400" b="1" u="sng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2800" b="1" dirty="0"/>
              <a:t>数据库将</a:t>
            </a:r>
            <a:r>
              <a:rPr lang="zh-CN" altLang="en-US" sz="2800" b="1" dirty="0">
                <a:solidFill>
                  <a:srgbClr val="0000FF"/>
                </a:solidFill>
              </a:rPr>
              <a:t>数据</a:t>
            </a:r>
            <a:r>
              <a:rPr lang="zh-CN" altLang="en-US" sz="2800" b="1" dirty="0"/>
              <a:t>保存为</a:t>
            </a:r>
            <a:r>
              <a:rPr lang="zh-CN" altLang="en-US" sz="2800" b="1" dirty="0">
                <a:solidFill>
                  <a:srgbClr val="0000FF"/>
                </a:solidFill>
              </a:rPr>
              <a:t>若干文件</a:t>
            </a:r>
            <a:r>
              <a:rPr lang="zh-CN" altLang="en-US" sz="2800" b="1" dirty="0"/>
              <a:t>的集合，</a:t>
            </a:r>
            <a:r>
              <a:rPr lang="zh-CN" altLang="en-US" sz="2800" b="1" dirty="0">
                <a:solidFill>
                  <a:srgbClr val="0000FF"/>
                </a:solidFill>
              </a:rPr>
              <a:t>文件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FF3300"/>
                </a:solidFill>
              </a:rPr>
              <a:t>记录</a:t>
            </a:r>
            <a:r>
              <a:rPr lang="zh-CN" altLang="en-US" sz="2800" b="1" dirty="0"/>
              <a:t>的序列，</a:t>
            </a:r>
            <a:r>
              <a:rPr lang="zh-CN" altLang="en-US" sz="2800" b="1" dirty="0">
                <a:solidFill>
                  <a:srgbClr val="0000FF"/>
                </a:solidFill>
              </a:rPr>
              <a:t>记录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FF3300"/>
                </a:solidFill>
              </a:rPr>
              <a:t>字段</a:t>
            </a:r>
            <a:r>
              <a:rPr lang="zh-CN" altLang="en-US" sz="2800" b="1" dirty="0"/>
              <a:t>的序列。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>
            <a:extLst>
              <a:ext uri="{FF2B5EF4-FFF2-40B4-BE49-F238E27FC236}">
                <a16:creationId xmlns:a16="http://schemas.microsoft.com/office/drawing/2014/main" id="{B5D4B16B-BA7E-699A-17FC-6B9A0D27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7139F6-4BFA-4E62-9E35-F874561D3DF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CN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F44A82E6-39D9-F0B8-A387-6C49991D9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定长记录</a:t>
            </a:r>
            <a:endParaRPr lang="en-US" altLang="zh-CN" b="1" dirty="0"/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FB8E1CC6-0FD0-1D17-C331-D95D2F383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808" y="1432520"/>
            <a:ext cx="7848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简单方法</a:t>
            </a:r>
            <a:endParaRPr lang="en-US" altLang="zh-CN" sz="28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记录</a:t>
            </a:r>
            <a:r>
              <a:rPr lang="en-US" altLang="zh-CN" sz="2400" b="1" dirty="0" err="1">
                <a:solidFill>
                  <a:srgbClr val="0000FF"/>
                </a:solidFill>
              </a:rPr>
              <a:t>i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/>
              <a:t>从字节</a:t>
            </a:r>
            <a:r>
              <a:rPr lang="en-US" altLang="zh-CN" sz="2400" b="1" dirty="0">
                <a:sym typeface="Greek Symbols" pitchFamily="18" charset="2"/>
              </a:rPr>
              <a:t>n </a:t>
            </a:r>
            <a:r>
              <a:rPr lang="en-US" altLang="zh-CN" sz="2400" b="1" dirty="0">
                <a:sym typeface="Symbol" panose="05050102010706020507" pitchFamily="18" charset="2"/>
              </a:rPr>
              <a:t> </a:t>
            </a:r>
            <a:r>
              <a:rPr lang="en-US" altLang="zh-CN" sz="2400" b="1" dirty="0" err="1">
                <a:sym typeface="Symbol" panose="05050102010706020507" pitchFamily="18" charset="2"/>
              </a:rPr>
              <a:t>i</a:t>
            </a:r>
            <a:r>
              <a:rPr lang="zh-CN" altLang="en-US" sz="2400" b="1" dirty="0">
                <a:sym typeface="Symbol" panose="05050102010706020507" pitchFamily="18" charset="2"/>
              </a:rPr>
              <a:t>开始存储，其中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ym typeface="Symbol" panose="05050102010706020507" pitchFamily="18" charset="2"/>
              </a:rPr>
              <a:t>是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记录大小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ym typeface="Symbol" panose="05050102010706020507" pitchFamily="18" charset="2"/>
              </a:rPr>
              <a:t>存在的问题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>
                <a:sym typeface="Symbol" panose="05050102010706020507" pitchFamily="18" charset="2"/>
              </a:rPr>
              <a:t>记录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存取简单</a:t>
            </a:r>
            <a:r>
              <a:rPr lang="zh-CN" altLang="en-US" sz="2400" b="1" dirty="0">
                <a:sym typeface="Symbol" panose="05050102010706020507" pitchFamily="18" charset="2"/>
              </a:rPr>
              <a:t>，但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记录可能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   </a:t>
            </a:r>
            <a:r>
              <a:rPr lang="zh-CN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跨块</a:t>
            </a:r>
            <a:r>
              <a:rPr lang="zh-CN" altLang="en-US" sz="2400" b="1" dirty="0">
                <a:sym typeface="Symbol" panose="05050102010706020507" pitchFamily="18" charset="2"/>
              </a:rPr>
              <a:t>，读写需要两个块</a:t>
            </a:r>
            <a:endParaRPr lang="en-US" altLang="zh-CN" sz="2400" b="1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 dirty="0"/>
              <a:t>删除记录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可选方法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/>
              <a:t>将记录</a:t>
            </a:r>
            <a:r>
              <a:rPr lang="en-US" altLang="zh-CN" sz="2000" b="1" dirty="0"/>
              <a:t> </a:t>
            </a:r>
            <a:r>
              <a:rPr lang="en-US" altLang="zh-CN" sz="2000" b="1" i="1" dirty="0" err="1"/>
              <a:t>i</a:t>
            </a:r>
            <a:r>
              <a:rPr lang="en-US" altLang="zh-CN" sz="2000" b="1" dirty="0"/>
              <a:t> + 1, . . ., </a:t>
            </a:r>
            <a:r>
              <a:rPr lang="en-US" altLang="zh-CN" sz="2000" b="1" i="1" dirty="0"/>
              <a:t>n</a:t>
            </a:r>
            <a:r>
              <a:rPr lang="en-US" altLang="zh-CN" sz="2000" b="1" dirty="0"/>
              <a:t> </a:t>
            </a:r>
            <a:br>
              <a:rPr lang="en-US" altLang="zh-CN" sz="2000" b="1" dirty="0"/>
            </a:br>
            <a:r>
              <a:rPr lang="zh-CN" altLang="en-US" sz="2000" b="1" dirty="0">
                <a:solidFill>
                  <a:srgbClr val="0000FF"/>
                </a:solidFill>
              </a:rPr>
              <a:t>前移</a:t>
            </a:r>
            <a:r>
              <a:rPr lang="zh-CN" altLang="en-US" sz="2000" b="1" dirty="0"/>
              <a:t>成 </a:t>
            </a:r>
            <a:r>
              <a:rPr lang="en-US" altLang="zh-CN" sz="2000" b="1" i="1" dirty="0" err="1"/>
              <a:t>i</a:t>
            </a:r>
            <a:r>
              <a:rPr lang="en-US" altLang="zh-CN" sz="2000" b="1" i="1" dirty="0"/>
              <a:t>, . . . , n </a:t>
            </a:r>
            <a:r>
              <a:rPr lang="en-US" altLang="zh-CN" sz="2000" b="1" i="1" dirty="0">
                <a:latin typeface="Arial" panose="020B0604020202020204" pitchFamily="34" charset="0"/>
                <a:sym typeface="Symbol" panose="05050102010706020507" pitchFamily="18" charset="2"/>
              </a:rPr>
              <a:t>–</a:t>
            </a:r>
            <a:r>
              <a:rPr lang="en-US" altLang="zh-CN" sz="2000" b="1" i="1" dirty="0">
                <a:sym typeface="Symbol" panose="05050102010706020507" pitchFamily="18" charset="2"/>
              </a:rPr>
              <a:t> </a:t>
            </a:r>
            <a:r>
              <a:rPr lang="en-US" altLang="zh-CN" sz="2000" b="1" dirty="0">
                <a:sym typeface="Symbol" panose="05050102010706020507" pitchFamily="18" charset="2"/>
              </a:rPr>
              <a:t>1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ym typeface="Symbol" panose="05050102010706020507" pitchFamily="18" charset="2"/>
              </a:rPr>
              <a:t>将记录</a:t>
            </a:r>
            <a:r>
              <a:rPr lang="en-US" altLang="zh-CN" sz="2000" b="1" i="1" dirty="0">
                <a:sym typeface="Symbol" panose="05050102010706020507" pitchFamily="18" charset="2"/>
              </a:rPr>
              <a:t>n</a:t>
            </a:r>
            <a:r>
              <a:rPr lang="zh-CN" altLang="en-US" sz="2000" b="1" dirty="0">
                <a:solidFill>
                  <a:srgbClr val="0000FF"/>
                </a:solidFill>
              </a:rPr>
              <a:t>前移</a:t>
            </a:r>
            <a:r>
              <a:rPr lang="zh-CN" altLang="en-US" sz="2000" b="1" dirty="0"/>
              <a:t>到 </a:t>
            </a:r>
            <a:r>
              <a:rPr lang="en-US" altLang="zh-CN" sz="2000" b="1" i="1" dirty="0" err="1">
                <a:sym typeface="Symbol" panose="05050102010706020507" pitchFamily="18" charset="2"/>
              </a:rPr>
              <a:t>i</a:t>
            </a:r>
            <a:endParaRPr lang="en-US" altLang="zh-CN" sz="2000" b="1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b="1" dirty="0">
                <a:sym typeface="Symbol" panose="05050102010706020507" pitchFamily="18" charset="2"/>
              </a:rPr>
              <a:t>不移动记录，而是将所有</a:t>
            </a:r>
          </a:p>
          <a:p>
            <a:pPr lvl="2">
              <a:lnSpc>
                <a:spcPct val="90000"/>
              </a:lnSpc>
              <a:buNone/>
            </a:pPr>
            <a:r>
              <a:rPr lang="zh-CN" altLang="en-US" sz="2000" b="1" dirty="0">
                <a:sym typeface="Symbol" panose="05050102010706020507" pitchFamily="18" charset="2"/>
              </a:rPr>
              <a:t>  自由记录链成一条</a:t>
            </a:r>
            <a:r>
              <a:rPr lang="zh-CN" altLang="en-US" sz="2000" b="1" dirty="0">
                <a:solidFill>
                  <a:srgbClr val="0000FF"/>
                </a:solidFill>
                <a:sym typeface="Symbol" panose="05050102010706020507" pitchFamily="18" charset="2"/>
              </a:rPr>
              <a:t>自由链表</a:t>
            </a:r>
            <a:endParaRPr lang="en-US" altLang="zh-CN" sz="20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  <a:buNone/>
            </a:pP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   (</a:t>
            </a:r>
            <a:r>
              <a:rPr lang="zh-CN" altLang="en-US" sz="2000" b="1" u="sng" dirty="0"/>
              <a:t>便于插入数据</a:t>
            </a:r>
            <a:r>
              <a:rPr lang="en-US" altLang="zh-CN" sz="2000" b="1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endParaRPr lang="en-US" altLang="zh-CN" sz="2000" b="1" i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pic>
        <p:nvPicPr>
          <p:cNvPr id="17413" name="Picture 4">
            <a:extLst>
              <a:ext uri="{FF2B5EF4-FFF2-40B4-BE49-F238E27FC236}">
                <a16:creationId xmlns:a16="http://schemas.microsoft.com/office/drawing/2014/main" id="{7FFD4BF5-317A-D485-1DE7-D78DAD488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4" t="1505" r="2934" b="2107"/>
          <a:stretch>
            <a:fillRect/>
          </a:stretch>
        </p:blipFill>
        <p:spPr bwMode="auto">
          <a:xfrm>
            <a:off x="5060950" y="2765221"/>
            <a:ext cx="3883025" cy="347841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711AFBC4-0DD0-2381-C852-DBDC7ED4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FCE29D-96AC-444C-A44A-471E23F76C5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CN" sz="1200"/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FDCB577-1691-36AA-27A4-311F0779F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4531" y="1412776"/>
            <a:ext cx="8252619" cy="1857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在</a:t>
            </a:r>
            <a:r>
              <a:rPr lang="zh-CN" altLang="en-US" sz="2500" b="1" dirty="0">
                <a:solidFill>
                  <a:srgbClr val="0000FF"/>
                </a:solidFill>
              </a:rPr>
              <a:t>文件头</a:t>
            </a:r>
            <a:r>
              <a:rPr lang="zh-CN" altLang="en-US" sz="2500" b="1" dirty="0"/>
              <a:t>中</a:t>
            </a:r>
            <a:r>
              <a:rPr lang="zh-CN" altLang="en-US" sz="2500" b="1" u="sng" dirty="0">
                <a:solidFill>
                  <a:srgbClr val="FF0000"/>
                </a:solidFill>
              </a:rPr>
              <a:t>存储</a:t>
            </a:r>
            <a:r>
              <a:rPr lang="zh-CN" altLang="en-US" sz="2500" b="1" u="sng" dirty="0"/>
              <a:t>第一条</a:t>
            </a:r>
            <a:r>
              <a:rPr lang="zh-CN" altLang="en-US" sz="2500" b="1" u="sng" dirty="0">
                <a:solidFill>
                  <a:srgbClr val="0000FF"/>
                </a:solidFill>
              </a:rPr>
              <a:t>被删记录</a:t>
            </a:r>
            <a:r>
              <a:rPr lang="zh-CN" altLang="en-US" sz="2500" b="1" u="sng" dirty="0"/>
              <a:t>的</a:t>
            </a:r>
            <a:r>
              <a:rPr lang="zh-CN" altLang="en-US" sz="2500" b="1" u="sng" dirty="0">
                <a:solidFill>
                  <a:srgbClr val="0000FF"/>
                </a:solidFill>
              </a:rPr>
              <a:t>地址</a:t>
            </a:r>
            <a:endParaRPr lang="en-US" altLang="zh-CN" sz="2500" b="1" u="sng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在</a:t>
            </a:r>
            <a:r>
              <a:rPr lang="zh-CN" altLang="en-US" sz="2500" b="1" dirty="0">
                <a:solidFill>
                  <a:srgbClr val="0000FF"/>
                </a:solidFill>
              </a:rPr>
              <a:t>第一条被删记录</a:t>
            </a:r>
            <a:r>
              <a:rPr lang="zh-CN" altLang="en-US" sz="2500" b="1" dirty="0"/>
              <a:t>中</a:t>
            </a:r>
            <a:r>
              <a:rPr lang="zh-CN" altLang="en-US" sz="2500" b="1" dirty="0">
                <a:solidFill>
                  <a:srgbClr val="FF0000"/>
                </a:solidFill>
              </a:rPr>
              <a:t>存储</a:t>
            </a:r>
            <a:r>
              <a:rPr lang="zh-CN" altLang="en-US" sz="2500" b="1" u="sng" dirty="0"/>
              <a:t>第二条被删记录的地址</a:t>
            </a:r>
            <a:r>
              <a:rPr lang="zh-CN" altLang="en-US" sz="2500" b="1" dirty="0"/>
              <a:t>，等等</a:t>
            </a:r>
            <a:endParaRPr lang="en-US" altLang="zh-CN" sz="25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这些存储的地址可视为</a:t>
            </a:r>
            <a:r>
              <a:rPr lang="zh-CN" altLang="en-US" sz="2500" b="1" dirty="0">
                <a:solidFill>
                  <a:srgbClr val="FF3300"/>
                </a:solidFill>
              </a:rPr>
              <a:t>指针</a:t>
            </a:r>
            <a:r>
              <a:rPr lang="zh-CN" altLang="en-US" sz="2500" b="1" dirty="0">
                <a:solidFill>
                  <a:schemeClr val="tx2"/>
                </a:solidFill>
              </a:rPr>
              <a:t>，</a:t>
            </a:r>
            <a:r>
              <a:rPr lang="zh-CN" altLang="en-US" sz="2500" b="1" dirty="0"/>
              <a:t>因为它们</a:t>
            </a:r>
            <a:r>
              <a:rPr lang="en-US" altLang="zh-CN" sz="2500" b="1" dirty="0"/>
              <a:t> </a:t>
            </a:r>
            <a:r>
              <a:rPr lang="en-US" altLang="zh-CN" sz="2500" b="1" dirty="0">
                <a:latin typeface="Arial" panose="020B0604020202020204" pitchFamily="34" charset="0"/>
              </a:rPr>
              <a:t>“</a:t>
            </a:r>
            <a:r>
              <a:rPr lang="zh-CN" altLang="en-US" sz="2500" b="1" dirty="0"/>
              <a:t>指向</a:t>
            </a:r>
            <a:r>
              <a:rPr lang="en-US" altLang="zh-CN" sz="2500" b="1" dirty="0">
                <a:latin typeface="Arial" panose="020B0604020202020204" pitchFamily="34" charset="0"/>
              </a:rPr>
              <a:t>”</a:t>
            </a:r>
            <a:r>
              <a:rPr lang="zh-CN" altLang="en-US" sz="2500" b="1" dirty="0"/>
              <a:t>被删除记录的位置</a:t>
            </a:r>
            <a:endParaRPr lang="en-US" altLang="zh-CN" sz="2500" b="1" dirty="0"/>
          </a:p>
        </p:txBody>
      </p:sp>
      <p:pic>
        <p:nvPicPr>
          <p:cNvPr id="18437" name="Picture 4">
            <a:extLst>
              <a:ext uri="{FF2B5EF4-FFF2-40B4-BE49-F238E27FC236}">
                <a16:creationId xmlns:a16="http://schemas.microsoft.com/office/drawing/2014/main" id="{A00BC319-4ECF-4DFB-2234-061E7A22D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" t="6313" r="1993" b="6645"/>
          <a:stretch>
            <a:fillRect/>
          </a:stretch>
        </p:blipFill>
        <p:spPr bwMode="auto">
          <a:xfrm>
            <a:off x="2231109" y="3270151"/>
            <a:ext cx="4811041" cy="3254714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88BD41-A677-13C3-3DDE-BD7FD6A1B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b="1" kern="0" dirty="0"/>
              <a:t>定长记录删除方式：</a:t>
            </a:r>
            <a:r>
              <a:rPr kumimoji="0" lang="zh-CN" altLang="en-US" b="1" kern="0" dirty="0">
                <a:solidFill>
                  <a:srgbClr val="0000FF"/>
                </a:solidFill>
              </a:rPr>
              <a:t>自由链表</a:t>
            </a:r>
            <a:endParaRPr kumimoji="0" lang="en-US" altLang="zh-CN" b="1" kern="0" dirty="0">
              <a:solidFill>
                <a:srgbClr val="0000FF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41A7348-400E-E97D-7CD4-359E1852C766}"/>
              </a:ext>
            </a:extLst>
          </p:cNvPr>
          <p:cNvSpPr/>
          <p:nvPr/>
        </p:nvSpPr>
        <p:spPr bwMode="auto">
          <a:xfrm>
            <a:off x="1965548" y="3395911"/>
            <a:ext cx="1310308" cy="288032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6">
            <a:extLst>
              <a:ext uri="{FF2B5EF4-FFF2-40B4-BE49-F238E27FC236}">
                <a16:creationId xmlns:a16="http://schemas.microsoft.com/office/drawing/2014/main" id="{2E87ED19-430A-F897-0034-9DC6881F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12B1B5-0944-40CB-AF71-54F065A8EAD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CN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8CEECAF9-60E2-A864-C1B5-CC392D07D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8050" y="0"/>
            <a:ext cx="7313613" cy="1143000"/>
          </a:xfrm>
        </p:spPr>
        <p:txBody>
          <a:bodyPr/>
          <a:lstStyle/>
          <a:p>
            <a:pPr eaLnBrk="1" hangingPunct="1"/>
            <a:r>
              <a:rPr lang="zh-CN" altLang="en-US" b="1"/>
              <a:t>变长记录和字符串存储方法</a:t>
            </a:r>
            <a:endParaRPr lang="en-US" altLang="zh-CN" b="1"/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9BD64F5B-9561-73E5-853F-8BD8B26BBC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1662" y="1412776"/>
            <a:ext cx="8345488" cy="3386138"/>
          </a:xfrm>
        </p:spPr>
        <p:txBody>
          <a:bodyPr/>
          <a:lstStyle/>
          <a:p>
            <a:pPr eaLnBrk="1" hangingPunct="1"/>
            <a:r>
              <a:rPr lang="zh-CN" altLang="en-US" sz="2100" b="1" dirty="0"/>
              <a:t>数据库系统中在多种情况下需要</a:t>
            </a:r>
            <a:r>
              <a:rPr lang="zh-CN" altLang="en-US" sz="2100" b="1" dirty="0">
                <a:solidFill>
                  <a:srgbClr val="0000FF"/>
                </a:solidFill>
              </a:rPr>
              <a:t>变长记录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900" b="1" dirty="0"/>
              <a:t>支持</a:t>
            </a:r>
            <a:r>
              <a:rPr lang="zh-CN" altLang="en-US" sz="1900" b="1" dirty="0">
                <a:solidFill>
                  <a:srgbClr val="0000FF"/>
                </a:solidFill>
              </a:rPr>
              <a:t>变长的数据类型 </a:t>
            </a:r>
            <a:r>
              <a:rPr lang="en-US" altLang="zh-CN" sz="1900" b="1" dirty="0"/>
              <a:t>(</a:t>
            </a:r>
            <a:r>
              <a:rPr lang="en-US" altLang="zh-CN" sz="1900" dirty="0" err="1">
                <a:solidFill>
                  <a:srgbClr val="0000FF"/>
                </a:solidFill>
              </a:rPr>
              <a:t>VarChar</a:t>
            </a:r>
            <a:r>
              <a:rPr lang="en-US" altLang="zh-CN" sz="1900" b="1" dirty="0"/>
              <a:t>)</a:t>
            </a:r>
            <a:endParaRPr lang="zh-CN" altLang="en-US" sz="1900" b="1" dirty="0"/>
          </a:p>
          <a:p>
            <a:pPr lvl="1" eaLnBrk="1" hangingPunct="1"/>
            <a:r>
              <a:rPr lang="zh-CN" altLang="en-US" sz="1900" b="1" dirty="0"/>
              <a:t>一个文件中</a:t>
            </a:r>
            <a:r>
              <a:rPr lang="zh-CN" altLang="en-US" sz="1900" b="1" dirty="0">
                <a:solidFill>
                  <a:srgbClr val="FF0000"/>
                </a:solidFill>
              </a:rPr>
              <a:t>存储</a:t>
            </a:r>
            <a:r>
              <a:rPr lang="zh-CN" altLang="en-US" sz="1900" b="1" dirty="0"/>
              <a:t>多种记录类型</a:t>
            </a:r>
            <a:r>
              <a:rPr lang="en-US" altLang="zh-CN" sz="1900" b="1" dirty="0"/>
              <a:t>(</a:t>
            </a:r>
            <a:r>
              <a:rPr lang="zh-CN" altLang="en-US" sz="1900" b="1" dirty="0"/>
              <a:t>如采用聚簇存储的方式</a:t>
            </a:r>
            <a:r>
              <a:rPr lang="en-US" altLang="zh-CN" sz="1900" b="1" dirty="0"/>
              <a:t>)</a:t>
            </a:r>
          </a:p>
          <a:p>
            <a:pPr lvl="1" eaLnBrk="1" hangingPunct="1"/>
            <a:r>
              <a:rPr lang="zh-CN" altLang="en-US" sz="1900" b="1" dirty="0"/>
              <a:t>允许重复字段的记录类型</a:t>
            </a:r>
            <a:r>
              <a:rPr lang="en-US" altLang="zh-CN" sz="1900" b="1" dirty="0"/>
              <a:t> (</a:t>
            </a:r>
            <a:r>
              <a:rPr lang="zh-CN" altLang="en-US" sz="1900" b="1" dirty="0"/>
              <a:t>如数组或多重集合</a:t>
            </a:r>
            <a:r>
              <a:rPr lang="en-US" altLang="zh-CN" sz="1900" b="1" dirty="0"/>
              <a:t>)</a:t>
            </a:r>
          </a:p>
          <a:p>
            <a:pPr eaLnBrk="1" hangingPunct="1"/>
            <a:r>
              <a:rPr lang="zh-CN" altLang="en-US" sz="2100" b="1" dirty="0"/>
              <a:t>字节串存储方法</a:t>
            </a:r>
            <a:endParaRPr lang="en-US" altLang="zh-CN" sz="2100" b="1" dirty="0"/>
          </a:p>
          <a:p>
            <a:pPr lvl="1" eaLnBrk="1" hangingPunct="1"/>
            <a:r>
              <a:rPr lang="zh-CN" altLang="en-US" sz="1900" b="1" dirty="0"/>
              <a:t>在每条记录</a:t>
            </a:r>
            <a:r>
              <a:rPr lang="zh-CN" altLang="en-US" sz="1900" b="1" dirty="0">
                <a:solidFill>
                  <a:srgbClr val="0000FF"/>
                </a:solidFill>
              </a:rPr>
              <a:t>末尾</a:t>
            </a:r>
            <a:r>
              <a:rPr lang="zh-CN" altLang="en-US" sz="1900" b="1" dirty="0">
                <a:solidFill>
                  <a:srgbClr val="FF0000"/>
                </a:solidFill>
              </a:rPr>
              <a:t>附加</a:t>
            </a:r>
            <a:r>
              <a:rPr lang="zh-CN" altLang="en-US" sz="1900" b="1" dirty="0">
                <a:solidFill>
                  <a:srgbClr val="0000FF"/>
                </a:solidFill>
              </a:rPr>
              <a:t>控制字符</a:t>
            </a:r>
            <a:r>
              <a:rPr lang="en-US" altLang="zh-CN" sz="1900" b="1" i="1" dirty="0"/>
              <a:t>end-of-record</a:t>
            </a:r>
            <a:r>
              <a:rPr lang="en-US" altLang="zh-CN" sz="1900" b="1" dirty="0"/>
              <a:t> (</a:t>
            </a:r>
            <a:r>
              <a:rPr lang="en-US" altLang="zh-CN" sz="1900" b="1" dirty="0">
                <a:sym typeface="Symbol" panose="05050102010706020507" pitchFamily="18" charset="2"/>
              </a:rPr>
              <a:t>)</a:t>
            </a:r>
          </a:p>
          <a:p>
            <a:pPr lvl="1" eaLnBrk="1" hangingPunct="1"/>
            <a:r>
              <a:rPr lang="zh-CN" altLang="en-US" sz="1900" b="1" dirty="0">
                <a:sym typeface="Symbol" panose="05050102010706020507" pitchFamily="18" charset="2"/>
              </a:rPr>
              <a:t>难以删除</a:t>
            </a:r>
            <a:endParaRPr lang="en-US" altLang="zh-CN" sz="1900" b="1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sz="1900" b="1" dirty="0">
                <a:sym typeface="Symbol" panose="05050102010706020507" pitchFamily="18" charset="2"/>
              </a:rPr>
              <a:t>难以增长</a:t>
            </a:r>
          </a:p>
          <a:p>
            <a:pPr lvl="1" eaLnBrk="1" hangingPunct="1"/>
            <a:endParaRPr lang="en-US" altLang="zh-CN" sz="1900" b="1" dirty="0"/>
          </a:p>
        </p:txBody>
      </p:sp>
      <p:pic>
        <p:nvPicPr>
          <p:cNvPr id="19461" name="Picture 0">
            <a:extLst>
              <a:ext uri="{FF2B5EF4-FFF2-40B4-BE49-F238E27FC236}">
                <a16:creationId xmlns:a16="http://schemas.microsoft.com/office/drawing/2014/main" id="{4CD11CE7-0AEB-4B12-AD8B-27EE00E1650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" t="32181" r="998" b="32181"/>
          <a:stretch>
            <a:fillRect/>
          </a:stretch>
        </p:blipFill>
        <p:spPr>
          <a:xfrm>
            <a:off x="791369" y="4563220"/>
            <a:ext cx="7561262" cy="1916113"/>
          </a:xfr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6A780BE1-5758-CD29-0C06-4C64D5AE9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638BB7-8A91-4438-908C-E26CA534AA9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CN" sz="1200"/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6696A006-DCE3-F85B-55B8-BF59D2284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9458" y="3645024"/>
            <a:ext cx="7615237" cy="3096344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一种在</a:t>
            </a:r>
            <a:r>
              <a:rPr lang="zh-CN" altLang="en-US" sz="2400" b="1" dirty="0">
                <a:solidFill>
                  <a:srgbClr val="0000FF"/>
                </a:solidFill>
              </a:rPr>
              <a:t>块</a:t>
            </a:r>
            <a:r>
              <a:rPr lang="zh-CN" altLang="en-US" sz="2400" b="1" dirty="0"/>
              <a:t>中组织记录的方法：</a:t>
            </a:r>
            <a:r>
              <a:rPr lang="en-US" altLang="zh-CN" sz="2400" b="1" dirty="0">
                <a:solidFill>
                  <a:schemeClr val="tx2"/>
                </a:solidFill>
              </a:rPr>
              <a:t>Slotted page</a:t>
            </a:r>
            <a:r>
              <a:rPr lang="zh-CN" altLang="en-US" sz="2400" b="1" dirty="0">
                <a:solidFill>
                  <a:schemeClr val="tx2"/>
                </a:solidFill>
              </a:rPr>
              <a:t>（分槽的页结构）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，块头包含</a:t>
            </a:r>
            <a:endParaRPr lang="en-US" altLang="zh-CN" sz="2400" b="1" dirty="0"/>
          </a:p>
          <a:p>
            <a:pPr lvl="1" eaLnBrk="1" hangingPunct="1"/>
            <a:r>
              <a:rPr lang="zh-CN" altLang="en-US" sz="2400" b="1" dirty="0"/>
              <a:t>该块中</a:t>
            </a:r>
            <a:r>
              <a:rPr lang="zh-CN" altLang="en-US" sz="2400" b="1" dirty="0">
                <a:solidFill>
                  <a:srgbClr val="0000FF"/>
                </a:solidFill>
              </a:rPr>
              <a:t>记录个数</a:t>
            </a:r>
          </a:p>
          <a:p>
            <a:pPr lvl="1" eaLnBrk="1" hangingPunct="1"/>
            <a:r>
              <a:rPr lang="zh-CN" altLang="en-US" sz="2400" b="1" dirty="0"/>
              <a:t>该块中</a:t>
            </a:r>
            <a:r>
              <a:rPr lang="zh-CN" altLang="en-US" sz="2400" b="1" dirty="0">
                <a:solidFill>
                  <a:srgbClr val="0000FF"/>
                </a:solidFill>
              </a:rPr>
              <a:t>自由</a:t>
            </a:r>
            <a:r>
              <a:rPr lang="en-US" altLang="zh-CN" sz="2400" b="1" dirty="0">
                <a:solidFill>
                  <a:srgbClr val="0000FF"/>
                </a:solidFill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</a:rPr>
              <a:t>空闲空间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末端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400" b="1" dirty="0"/>
              <a:t>每条</a:t>
            </a:r>
            <a:r>
              <a:rPr lang="zh-CN" altLang="en-US" sz="2400" b="1" dirty="0">
                <a:solidFill>
                  <a:srgbClr val="0000FF"/>
                </a:solidFill>
              </a:rPr>
              <a:t>记录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位置和大小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400" b="1" dirty="0"/>
              <a:t>记录可以在页内</a:t>
            </a:r>
            <a:r>
              <a:rPr lang="zh-CN" altLang="en-US" sz="2400" b="1" dirty="0">
                <a:solidFill>
                  <a:srgbClr val="0000FF"/>
                </a:solidFill>
              </a:rPr>
              <a:t>移动</a:t>
            </a:r>
            <a:r>
              <a:rPr lang="zh-CN" altLang="en-US" sz="2400" b="1" dirty="0"/>
              <a:t>以便</a:t>
            </a:r>
            <a:r>
              <a:rPr lang="zh-CN" altLang="en-US" sz="2400" b="1" dirty="0">
                <a:solidFill>
                  <a:srgbClr val="0000FF"/>
                </a:solidFill>
              </a:rPr>
              <a:t>保持记录间</a:t>
            </a:r>
            <a:r>
              <a:rPr lang="zh-CN" altLang="en-US" sz="2400" b="1" dirty="0"/>
              <a:t>的连续存储</a:t>
            </a:r>
          </a:p>
          <a:p>
            <a:pPr lvl="1" eaLnBrk="1" hangingPunct="1"/>
            <a:r>
              <a:rPr lang="zh-CN" altLang="en-US" sz="2400" b="1" dirty="0"/>
              <a:t>页头中</a:t>
            </a:r>
            <a:r>
              <a:rPr lang="zh-CN" altLang="en-US" sz="2400" b="1" dirty="0">
                <a:solidFill>
                  <a:srgbClr val="0000FF"/>
                </a:solidFill>
              </a:rPr>
              <a:t>记录的位置信息</a:t>
            </a:r>
            <a:r>
              <a:rPr lang="zh-CN" altLang="en-US" sz="2400" b="1" dirty="0"/>
              <a:t>必须</a:t>
            </a:r>
            <a:r>
              <a:rPr lang="zh-CN" altLang="en-US" sz="2400" b="1" dirty="0">
                <a:solidFill>
                  <a:srgbClr val="0000FF"/>
                </a:solidFill>
              </a:rPr>
              <a:t>更新</a:t>
            </a:r>
            <a:r>
              <a:rPr lang="zh-CN" altLang="en-US" sz="2400" b="1" dirty="0"/>
              <a:t>，移动代价不高</a:t>
            </a:r>
            <a:endParaRPr lang="en-US" altLang="zh-CN" sz="2400" b="1" dirty="0"/>
          </a:p>
        </p:txBody>
      </p:sp>
      <p:pic>
        <p:nvPicPr>
          <p:cNvPr id="20485" name="Picture 4">
            <a:extLst>
              <a:ext uri="{FF2B5EF4-FFF2-40B4-BE49-F238E27FC236}">
                <a16:creationId xmlns:a16="http://schemas.microsoft.com/office/drawing/2014/main" id="{3B6D4B2A-3301-06A9-154E-AC13D61D2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" t="31725" r="2586" b="32069"/>
          <a:stretch>
            <a:fillRect/>
          </a:stretch>
        </p:blipFill>
        <p:spPr bwMode="auto">
          <a:xfrm>
            <a:off x="1169193" y="1630249"/>
            <a:ext cx="6805613" cy="172085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1A44DDE-AE57-53E8-B99D-E052B5D12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b="1" kern="0" dirty="0"/>
              <a:t>变长记录存储：</a:t>
            </a:r>
            <a:r>
              <a:rPr kumimoji="0" lang="en-US" altLang="zh-CN" b="1" kern="0" dirty="0"/>
              <a:t>Slotted Page </a:t>
            </a:r>
            <a:r>
              <a:rPr kumimoji="0" lang="zh-CN" altLang="en-US" b="1" kern="0" dirty="0"/>
              <a:t>结构</a:t>
            </a:r>
            <a:endParaRPr kumimoji="0" lang="en-US" altLang="zh-CN" b="1" kern="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7">
            <a:extLst>
              <a:ext uri="{FF2B5EF4-FFF2-40B4-BE49-F238E27FC236}">
                <a16:creationId xmlns:a16="http://schemas.microsoft.com/office/drawing/2014/main" id="{E379FC34-9E60-DA38-E7CF-521CA2BB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2581F7-DF7F-41EB-B23E-044E227703D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CN" sz="1200"/>
          </a:p>
        </p:txBody>
      </p:sp>
      <p:pic>
        <p:nvPicPr>
          <p:cNvPr id="21508" name="Picture 0">
            <a:extLst>
              <a:ext uri="{FF2B5EF4-FFF2-40B4-BE49-F238E27FC236}">
                <a16:creationId xmlns:a16="http://schemas.microsoft.com/office/drawing/2014/main" id="{2B6129DC-04E4-637C-9BD5-49103BC0EBEB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" t="13718" r="1404" b="14029"/>
          <a:stretch>
            <a:fillRect/>
          </a:stretch>
        </p:blipFill>
        <p:spPr>
          <a:xfrm>
            <a:off x="4788024" y="4293096"/>
            <a:ext cx="3813175" cy="2128837"/>
          </a:xfrm>
          <a:noFill/>
          <a:ln w="76200" cmpd="tri">
            <a:solidFill>
              <a:schemeClr val="tx2"/>
            </a:solidFill>
            <a:miter lim="800000"/>
            <a:headEnd/>
            <a:tailEnd/>
          </a:ln>
        </p:spPr>
      </p:pic>
      <p:sp>
        <p:nvSpPr>
          <p:cNvPr id="21509" name="Rectangle 3">
            <a:extLst>
              <a:ext uri="{FF2B5EF4-FFF2-40B4-BE49-F238E27FC236}">
                <a16:creationId xmlns:a16="http://schemas.microsoft.com/office/drawing/2014/main" id="{B8493DAE-E26E-DBDB-BFCA-68647156A04E}"/>
              </a:ext>
            </a:extLst>
          </p:cNvPr>
          <p:cNvSpPr>
            <a:spLocks noGrp="1" noChangeArrowheads="1"/>
          </p:cNvSpPr>
          <p:nvPr>
            <p:ph type="body" sz="half" idx="3"/>
          </p:nvPr>
        </p:nvSpPr>
        <p:spPr>
          <a:xfrm>
            <a:off x="568325" y="1412776"/>
            <a:ext cx="7848600" cy="2525712"/>
          </a:xfrm>
        </p:spPr>
        <p:txBody>
          <a:bodyPr/>
          <a:lstStyle/>
          <a:p>
            <a:pPr eaLnBrk="1" hangingPunct="1"/>
            <a:r>
              <a:rPr lang="zh-CN" altLang="en-US" sz="2100" b="1" dirty="0"/>
              <a:t>使用</a:t>
            </a:r>
            <a:r>
              <a:rPr lang="zh-CN" altLang="en-US" sz="2100" b="1" dirty="0">
                <a:solidFill>
                  <a:srgbClr val="0000FF"/>
                </a:solidFill>
              </a:rPr>
              <a:t>一个</a:t>
            </a:r>
            <a:r>
              <a:rPr lang="zh-CN" altLang="en-US" sz="2100" b="1" dirty="0"/>
              <a:t>或</a:t>
            </a:r>
            <a:r>
              <a:rPr lang="zh-CN" altLang="en-US" sz="2100" b="1" dirty="0">
                <a:solidFill>
                  <a:srgbClr val="0000FF"/>
                </a:solidFill>
              </a:rPr>
              <a:t>多个定长记录</a:t>
            </a:r>
            <a:r>
              <a:rPr lang="zh-CN" altLang="en-US" sz="2100" b="1" dirty="0"/>
              <a:t>表示一个</a:t>
            </a:r>
            <a:r>
              <a:rPr lang="zh-CN" altLang="en-US" sz="2100" b="1" dirty="0">
                <a:solidFill>
                  <a:srgbClr val="0000FF"/>
                </a:solidFill>
              </a:rPr>
              <a:t>变长记录</a:t>
            </a:r>
          </a:p>
          <a:p>
            <a:pPr eaLnBrk="1" hangingPunct="1"/>
            <a:r>
              <a:rPr lang="zh-CN" altLang="en-US" sz="2100" b="1" dirty="0"/>
              <a:t>定长表示法</a:t>
            </a:r>
            <a:endParaRPr lang="en-US" altLang="zh-CN" sz="2100" b="1" dirty="0"/>
          </a:p>
          <a:p>
            <a:pPr lvl="1" eaLnBrk="1" hangingPunct="1"/>
            <a:r>
              <a:rPr lang="zh-CN" altLang="en-US" sz="2100" b="1" dirty="0">
                <a:solidFill>
                  <a:srgbClr val="FF3300"/>
                </a:solidFill>
              </a:rPr>
              <a:t>预留空间法</a:t>
            </a:r>
          </a:p>
          <a:p>
            <a:pPr lvl="2" eaLnBrk="1" hangingPunct="1"/>
            <a:r>
              <a:rPr lang="zh-CN" altLang="en-US" sz="1900" b="1" dirty="0"/>
              <a:t>利用具有</a:t>
            </a:r>
            <a:r>
              <a:rPr lang="zh-CN" altLang="en-US" sz="1900" b="1" dirty="0">
                <a:solidFill>
                  <a:srgbClr val="0000FF"/>
                </a:solidFill>
              </a:rPr>
              <a:t>已知最大长度</a:t>
            </a:r>
            <a:r>
              <a:rPr lang="zh-CN" altLang="en-US" sz="1900" b="1" dirty="0"/>
              <a:t>的定长记录；较小记录中的</a:t>
            </a:r>
            <a:r>
              <a:rPr lang="zh-CN" altLang="en-US" sz="1900" b="1" dirty="0">
                <a:solidFill>
                  <a:srgbClr val="0000FF"/>
                </a:solidFill>
              </a:rPr>
              <a:t>未用空间</a:t>
            </a:r>
            <a:r>
              <a:rPr lang="zh-CN" altLang="en-US" sz="1900" b="1" dirty="0"/>
              <a:t>用</a:t>
            </a:r>
            <a:r>
              <a:rPr lang="en-US" altLang="zh-CN" sz="1900" b="1" dirty="0"/>
              <a:t>null</a:t>
            </a:r>
            <a:r>
              <a:rPr lang="zh-CN" altLang="en-US" sz="1900" b="1" dirty="0"/>
              <a:t>或 </a:t>
            </a:r>
            <a:r>
              <a:rPr lang="en-US" altLang="zh-CN" sz="1900" b="1" dirty="0"/>
              <a:t>end-of-record </a:t>
            </a:r>
            <a:r>
              <a:rPr lang="zh-CN" altLang="en-US" sz="1900" b="1" dirty="0">
                <a:solidFill>
                  <a:srgbClr val="0000FF"/>
                </a:solidFill>
              </a:rPr>
              <a:t>符号填充</a:t>
            </a:r>
            <a:endParaRPr lang="en-US" altLang="zh-CN" sz="19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>
                <a:solidFill>
                  <a:srgbClr val="FF3300"/>
                </a:solidFill>
              </a:rPr>
              <a:t>指针法</a:t>
            </a:r>
          </a:p>
          <a:p>
            <a:pPr lvl="2" eaLnBrk="1" hangingPunct="1"/>
            <a:r>
              <a:rPr lang="zh-CN" altLang="en-US" sz="1900" b="1" dirty="0"/>
              <a:t>变长记录用若干通过</a:t>
            </a:r>
            <a:r>
              <a:rPr lang="zh-CN" altLang="en-US" sz="1900" b="1" dirty="0">
                <a:solidFill>
                  <a:srgbClr val="0000FF"/>
                </a:solidFill>
              </a:rPr>
              <a:t>指针链</a:t>
            </a:r>
            <a:r>
              <a:rPr lang="zh-CN" altLang="en-US" sz="1900" b="1" dirty="0"/>
              <a:t>在一起的</a:t>
            </a:r>
            <a:r>
              <a:rPr lang="zh-CN" altLang="en-US" sz="1900" b="1" dirty="0">
                <a:solidFill>
                  <a:srgbClr val="0000FF"/>
                </a:solidFill>
              </a:rPr>
              <a:t>定长记录</a:t>
            </a:r>
            <a:r>
              <a:rPr lang="zh-CN" altLang="en-US" sz="1900" b="1" dirty="0"/>
              <a:t>表示</a:t>
            </a:r>
            <a:endParaRPr lang="en-US" altLang="zh-CN" sz="1900" b="1" dirty="0"/>
          </a:p>
        </p:txBody>
      </p:sp>
      <p:pic>
        <p:nvPicPr>
          <p:cNvPr id="21510" name="Picture 4">
            <a:extLst>
              <a:ext uri="{FF2B5EF4-FFF2-40B4-BE49-F238E27FC236}">
                <a16:creationId xmlns:a16="http://schemas.microsoft.com/office/drawing/2014/main" id="{AB1C9C4D-8BA5-E7F4-50C0-B6612EF3D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7" t="29597" r="1077" b="29886"/>
          <a:stretch>
            <a:fillRect/>
          </a:stretch>
        </p:blipFill>
        <p:spPr bwMode="auto">
          <a:xfrm>
            <a:off x="539552" y="4293096"/>
            <a:ext cx="3986213" cy="2133600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8C2E2E2C-DD01-D4D8-A2DC-9370339D0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kumimoji="0" lang="zh-CN" altLang="en-US" b="1" kern="0" dirty="0"/>
              <a:t>变长记录存储：定长表示法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68767A2D-86E7-6C71-29A5-D5A4D19D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C63312-6AFE-4052-9F99-33F2B95A2F61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CN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971A8FD-689D-3D74-01F3-8857239B5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主要内容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A5037553-FDDC-C41F-985C-03CBBFBAE9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9592" y="1412776"/>
            <a:ext cx="7848600" cy="508635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存储器访问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文件组织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文件中记录组织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b="1" dirty="0"/>
              <a:t>顺序文件组织</a:t>
            </a:r>
          </a:p>
          <a:p>
            <a:pPr lvl="1" eaLnBrk="1" hangingPunct="1">
              <a:lnSpc>
                <a:spcPct val="140000"/>
              </a:lnSpc>
            </a:pPr>
            <a:r>
              <a:rPr lang="zh-CN" altLang="en-US" b="1" dirty="0"/>
              <a:t>聚簇文件组织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数据字典存储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b="1" dirty="0"/>
              <a:t>数据库缓冲区</a:t>
            </a:r>
            <a:endParaRPr lang="en-US" altLang="zh-CN" b="1" dirty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>
            <a:extLst>
              <a:ext uri="{FF2B5EF4-FFF2-40B4-BE49-F238E27FC236}">
                <a16:creationId xmlns:a16="http://schemas.microsoft.com/office/drawing/2014/main" id="{2B448942-509D-06A1-75F8-3A447B00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AE4DFF-188E-4A45-8C48-B597B2690917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CN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A903A841-9EEF-F819-27A9-67A054B47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文件中的记录组织</a:t>
            </a:r>
            <a:endParaRPr lang="en-US" altLang="zh-CN" b="1" dirty="0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B06C62C-2F65-41C1-C27D-6306B255E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340768"/>
            <a:ext cx="8208912" cy="5360070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关系是</a:t>
            </a:r>
            <a:r>
              <a:rPr lang="zh-CN" altLang="en-US" sz="2800" b="1" dirty="0">
                <a:solidFill>
                  <a:srgbClr val="0000FF"/>
                </a:solidFill>
              </a:rPr>
              <a:t>记录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0000FF"/>
                </a:solidFill>
              </a:rPr>
              <a:t>集合</a:t>
            </a:r>
            <a:r>
              <a:rPr lang="zh-CN" altLang="en-US" sz="2800" b="1" dirty="0"/>
              <a:t>，给定一个记录的集合，如何在文件中组织它们，组织方式：</a:t>
            </a:r>
          </a:p>
          <a:p>
            <a:pPr lvl="1" eaLnBrk="1" hangingPunct="1"/>
            <a:r>
              <a:rPr lang="zh-CN" altLang="en-US" sz="2400" b="1" dirty="0">
                <a:solidFill>
                  <a:srgbClr val="FF3300"/>
                </a:solidFill>
              </a:rPr>
              <a:t>堆文件组织</a:t>
            </a:r>
            <a:r>
              <a:rPr lang="zh-CN" altLang="en-US" sz="2400" b="1" dirty="0">
                <a:solidFill>
                  <a:schemeClr val="tx2"/>
                </a:solidFill>
              </a:rPr>
              <a:t>：</a:t>
            </a:r>
            <a:r>
              <a:rPr lang="zh-CN" altLang="en-US" sz="2400" b="1" dirty="0"/>
              <a:t>记录可置于</a:t>
            </a:r>
            <a:r>
              <a:rPr lang="zh-CN" altLang="en-US" sz="2400" b="1" dirty="0">
                <a:solidFill>
                  <a:srgbClr val="0000FF"/>
                </a:solidFill>
              </a:rPr>
              <a:t>文件中任何有空间的地方</a:t>
            </a:r>
            <a:r>
              <a:rPr lang="en-US" altLang="zh-CN" sz="2400" b="1" dirty="0">
                <a:solidFill>
                  <a:srgbClr val="0000FF"/>
                </a:solidFill>
              </a:rPr>
              <a:t>(</a:t>
            </a:r>
            <a:r>
              <a:rPr lang="zh-CN" altLang="en-US" sz="2400" b="1" dirty="0">
                <a:solidFill>
                  <a:srgbClr val="0000FF"/>
                </a:solidFill>
              </a:rPr>
              <a:t>记录无顺序，通常一个关系一个单独的文件</a:t>
            </a:r>
            <a:r>
              <a:rPr lang="en-US" altLang="zh-CN" sz="2400" b="1" dirty="0">
                <a:solidFill>
                  <a:srgbClr val="0000FF"/>
                </a:solidFill>
              </a:rPr>
              <a:t>)</a:t>
            </a:r>
          </a:p>
          <a:p>
            <a:pPr lvl="1" eaLnBrk="1" hangingPunct="1"/>
            <a:r>
              <a:rPr lang="zh-CN" altLang="en-US" sz="2400" b="1" dirty="0">
                <a:solidFill>
                  <a:srgbClr val="0000FF"/>
                </a:solidFill>
              </a:rPr>
              <a:t>顺序文件</a:t>
            </a:r>
            <a:r>
              <a:rPr lang="zh-CN" altLang="en-US" sz="2400" b="1" dirty="0">
                <a:solidFill>
                  <a:srgbClr val="FF3300"/>
                </a:solidFill>
              </a:rPr>
              <a:t>组织</a:t>
            </a:r>
            <a:r>
              <a:rPr lang="zh-CN" altLang="en-US" sz="2400" b="1" dirty="0">
                <a:solidFill>
                  <a:schemeClr val="tx2"/>
                </a:solidFill>
              </a:rPr>
              <a:t>：</a:t>
            </a:r>
            <a:r>
              <a:rPr lang="zh-CN" altLang="en-US" sz="2400" b="1" dirty="0"/>
              <a:t>记录按</a:t>
            </a:r>
            <a:r>
              <a:rPr lang="zh-CN" altLang="en-US" sz="2400" b="1" dirty="0">
                <a:solidFill>
                  <a:srgbClr val="0000FF"/>
                </a:solidFill>
              </a:rPr>
              <a:t>顺序存储</a:t>
            </a:r>
            <a:r>
              <a:rPr lang="zh-CN" altLang="en-US" sz="2400" b="1" dirty="0"/>
              <a:t>，基于每条记录在</a:t>
            </a:r>
            <a:r>
              <a:rPr lang="zh-CN" altLang="en-US" sz="2400" b="1" dirty="0">
                <a:solidFill>
                  <a:srgbClr val="0000FF"/>
                </a:solidFill>
              </a:rPr>
              <a:t>搜索码</a:t>
            </a:r>
            <a:r>
              <a:rPr lang="zh-CN" altLang="en-US" sz="2400" b="1" dirty="0"/>
              <a:t>上的值</a:t>
            </a:r>
            <a:endParaRPr lang="en-US" altLang="zh-CN" sz="2400" b="1" dirty="0"/>
          </a:p>
          <a:p>
            <a:pPr lvl="1"/>
            <a:r>
              <a:rPr lang="zh-CN" altLang="en-US" sz="2400" b="1" dirty="0">
                <a:solidFill>
                  <a:srgbClr val="FF3300"/>
                </a:solidFill>
              </a:rPr>
              <a:t>散列文件组织</a:t>
            </a:r>
            <a:r>
              <a:rPr lang="zh-CN" altLang="en-US" sz="2400" b="1" dirty="0"/>
              <a:t>：针对记录的某属性计算</a:t>
            </a:r>
            <a:r>
              <a:rPr lang="zh-CN" altLang="en-US" sz="2400" b="1" dirty="0">
                <a:solidFill>
                  <a:srgbClr val="0000FF"/>
                </a:solidFill>
              </a:rPr>
              <a:t>散列函数值</a:t>
            </a:r>
            <a:r>
              <a:rPr lang="zh-CN" altLang="en-US" sz="2400" b="1" dirty="0"/>
              <a:t>，计算结果决定</a:t>
            </a:r>
            <a:r>
              <a:rPr lang="zh-CN" altLang="en-US" sz="2400" b="1" dirty="0">
                <a:solidFill>
                  <a:srgbClr val="0000FF"/>
                </a:solidFill>
              </a:rPr>
              <a:t>该记录</a:t>
            </a:r>
            <a:r>
              <a:rPr lang="zh-CN" altLang="en-US" sz="2400" b="1" dirty="0"/>
              <a:t>应该置于</a:t>
            </a:r>
            <a:r>
              <a:rPr lang="zh-CN" altLang="en-US" sz="2400" b="1" dirty="0">
                <a:solidFill>
                  <a:srgbClr val="0000FF"/>
                </a:solidFill>
              </a:rPr>
              <a:t>文件的哪个块中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endParaRPr lang="en-US" altLang="zh-CN" sz="2400" b="1" dirty="0">
              <a:solidFill>
                <a:srgbClr val="0000FF"/>
              </a:solidFill>
            </a:endParaRPr>
          </a:p>
          <a:p>
            <a:pPr lvl="1"/>
            <a:r>
              <a:rPr lang="zh-CN" altLang="en-US" sz="2400" b="1" dirty="0">
                <a:solidFill>
                  <a:srgbClr val="0000FF"/>
                </a:solidFill>
              </a:rPr>
              <a:t>多表</a:t>
            </a:r>
            <a:r>
              <a:rPr lang="zh-CN" altLang="en-US" sz="2400" b="1" dirty="0">
                <a:solidFill>
                  <a:srgbClr val="FF3300"/>
                </a:solidFill>
              </a:rPr>
              <a:t>簇文件组织</a:t>
            </a:r>
            <a:r>
              <a:rPr lang="zh-CN" altLang="en-US" sz="2000" b="1" dirty="0"/>
              <a:t>：</a:t>
            </a:r>
            <a:r>
              <a:rPr lang="zh-CN" altLang="en-US" sz="2400" b="1" dirty="0"/>
              <a:t>每个关系的记录可存储在单独的文件中，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但在</a:t>
            </a:r>
            <a:r>
              <a:rPr lang="zh-CN" altLang="en-US" sz="2400" b="1" dirty="0">
                <a:solidFill>
                  <a:srgbClr val="FF3300"/>
                </a:solidFill>
              </a:rPr>
              <a:t>聚簇文件组织</a:t>
            </a:r>
            <a:r>
              <a:rPr lang="zh-CN" altLang="en-US" sz="2400" b="1" dirty="0"/>
              <a:t>下，多个关系的记录可存储于同一文件中</a:t>
            </a:r>
            <a:endParaRPr lang="en-US" altLang="zh-CN" sz="2400" b="1" dirty="0"/>
          </a:p>
          <a:p>
            <a:pPr lvl="2"/>
            <a:r>
              <a:rPr lang="zh-CN" altLang="en-US" sz="2000" b="1" dirty="0"/>
              <a:t>动机：</a:t>
            </a:r>
            <a:r>
              <a:rPr lang="zh-CN" altLang="en-US" sz="2000" b="1" dirty="0">
                <a:solidFill>
                  <a:srgbClr val="0000FF"/>
                </a:solidFill>
              </a:rPr>
              <a:t>语义关联密切的记录存储</a:t>
            </a:r>
            <a:r>
              <a:rPr lang="zh-CN" altLang="en-US" sz="2000" b="1" dirty="0"/>
              <a:t>在同一块中可减少磁盘 </a:t>
            </a:r>
            <a:r>
              <a:rPr lang="en-US" altLang="zh-CN" sz="2000" b="1" dirty="0"/>
              <a:t>I/O</a:t>
            </a:r>
            <a:endParaRPr lang="en-US" altLang="zh-CN" sz="2400" b="1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3E85F0F9-09E5-EC93-3446-9C732D0C6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FB7E9D-8D65-4996-83C8-5FA963AB1862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CN" sz="120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54258AC-6437-3A04-13EA-056B59C74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713" y="1409396"/>
            <a:ext cx="8413750" cy="2595667"/>
          </a:xfrm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适用于</a:t>
            </a:r>
            <a:r>
              <a:rPr lang="zh-CN" altLang="en-US" sz="2400" b="1" dirty="0"/>
              <a:t>需要顺序地高效处理</a:t>
            </a:r>
            <a:r>
              <a:rPr lang="zh-CN" altLang="en-US" sz="2400" b="1" u="sng" dirty="0"/>
              <a:t>按照</a:t>
            </a:r>
            <a:r>
              <a:rPr lang="zh-CN" altLang="en-US" sz="2400" b="1" dirty="0"/>
              <a:t>某个</a:t>
            </a:r>
            <a:r>
              <a:rPr lang="zh-CN" altLang="en-US" sz="2400" b="1" dirty="0">
                <a:solidFill>
                  <a:srgbClr val="FF3300"/>
                </a:solidFill>
              </a:rPr>
              <a:t>搜索码</a:t>
            </a:r>
            <a:r>
              <a:rPr lang="zh-CN" altLang="en-US" sz="2400" b="1" dirty="0"/>
              <a:t>排列的整个文件的记录</a:t>
            </a:r>
            <a:endParaRPr lang="en-US" altLang="zh-CN" sz="2400" b="1" dirty="0"/>
          </a:p>
          <a:p>
            <a:pPr eaLnBrk="1" hangingPunct="1"/>
            <a:r>
              <a:rPr lang="zh-CN" altLang="en-US" sz="2400" b="1" dirty="0"/>
              <a:t>文件中的记录按</a:t>
            </a:r>
            <a:r>
              <a:rPr lang="zh-CN" altLang="en-US" sz="2400" b="1" dirty="0">
                <a:solidFill>
                  <a:srgbClr val="0000FF"/>
                </a:solidFill>
              </a:rPr>
              <a:t>搜索码</a:t>
            </a:r>
            <a:r>
              <a:rPr lang="zh-CN" altLang="en-US" sz="2400" b="1" dirty="0">
                <a:solidFill>
                  <a:srgbClr val="FF0000"/>
                </a:solidFill>
              </a:rPr>
              <a:t>排序</a:t>
            </a:r>
          </a:p>
          <a:p>
            <a:pPr eaLnBrk="1" hangingPunct="1"/>
            <a:r>
              <a:rPr lang="zh-CN" altLang="en-US" sz="2400" b="1" dirty="0">
                <a:solidFill>
                  <a:srgbClr val="0000FF"/>
                </a:solidFill>
              </a:rPr>
              <a:t>搜索码</a:t>
            </a:r>
            <a:r>
              <a:rPr lang="zh-CN" altLang="en-US" sz="2400" b="1" dirty="0"/>
              <a:t>一般是</a:t>
            </a:r>
            <a:r>
              <a:rPr lang="zh-CN" altLang="en-US" sz="2400" b="1" dirty="0">
                <a:solidFill>
                  <a:srgbClr val="FF3300"/>
                </a:solidFill>
              </a:rPr>
              <a:t>主码</a:t>
            </a:r>
            <a:r>
              <a:rPr lang="zh-CN" altLang="en-US" sz="2400" b="1" dirty="0"/>
              <a:t>，但是也可以是</a:t>
            </a:r>
            <a:r>
              <a:rPr lang="zh-CN" altLang="en-US" sz="2400" b="1" dirty="0">
                <a:solidFill>
                  <a:srgbClr val="0000FF"/>
                </a:solidFill>
              </a:rPr>
              <a:t>其它属性</a:t>
            </a:r>
            <a:r>
              <a:rPr lang="zh-CN" altLang="en-US" sz="2400" b="1" dirty="0"/>
              <a:t>（集合）</a:t>
            </a:r>
          </a:p>
          <a:p>
            <a:pPr eaLnBrk="1" hangingPunct="1"/>
            <a:r>
              <a:rPr lang="zh-CN" altLang="en-US" sz="2400" b="1" dirty="0"/>
              <a:t>通过指针，同时尽可能保证</a:t>
            </a:r>
            <a:r>
              <a:rPr lang="zh-CN" altLang="en-US" sz="2400" b="1" dirty="0">
                <a:solidFill>
                  <a:srgbClr val="0000FF"/>
                </a:solidFill>
              </a:rPr>
              <a:t>逻辑次序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00FF"/>
                </a:solidFill>
              </a:rPr>
              <a:t>物理次序</a:t>
            </a:r>
            <a:r>
              <a:rPr lang="zh-CN" altLang="en-US" sz="2400" b="1" dirty="0">
                <a:solidFill>
                  <a:srgbClr val="FF0000"/>
                </a:solidFill>
              </a:rPr>
              <a:t>保持一致</a:t>
            </a:r>
            <a:r>
              <a:rPr lang="zh-CN" altLang="en-US" sz="2400" b="1" dirty="0"/>
              <a:t>，</a:t>
            </a:r>
            <a:r>
              <a:rPr lang="zh-CN" altLang="en-US" sz="2400" b="1" dirty="0">
                <a:solidFill>
                  <a:srgbClr val="0000FF"/>
                </a:solidFill>
              </a:rPr>
              <a:t>减少可能的磁盘操作</a:t>
            </a:r>
          </a:p>
        </p:txBody>
      </p:sp>
      <p:pic>
        <p:nvPicPr>
          <p:cNvPr id="24581" name="Picture 4">
            <a:extLst>
              <a:ext uri="{FF2B5EF4-FFF2-40B4-BE49-F238E27FC236}">
                <a16:creationId xmlns:a16="http://schemas.microsoft.com/office/drawing/2014/main" id="{9DEE5349-2249-6DA2-E7FF-4B2CACFB7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" t="2777" r="1666" b="2777"/>
          <a:stretch>
            <a:fillRect/>
          </a:stretch>
        </p:blipFill>
        <p:spPr bwMode="auto">
          <a:xfrm>
            <a:off x="4015031" y="3759871"/>
            <a:ext cx="4013209" cy="2940967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084F7087-A0B5-6FA7-1A95-8B54E8E53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/>
              <a:t>顺序文件组织</a:t>
            </a:r>
            <a:endParaRPr kumimoji="0" lang="en-US" altLang="zh-CN" b="1" kern="0" dirty="0"/>
          </a:p>
        </p:txBody>
      </p:sp>
      <p:sp>
        <p:nvSpPr>
          <p:cNvPr id="3" name="下箭头 1">
            <a:extLst>
              <a:ext uri="{FF2B5EF4-FFF2-40B4-BE49-F238E27FC236}">
                <a16:creationId xmlns:a16="http://schemas.microsoft.com/office/drawing/2014/main" id="{C2F0ECCD-149E-3BAD-0E39-5704640B4F9C}"/>
              </a:ext>
            </a:extLst>
          </p:cNvPr>
          <p:cNvSpPr/>
          <p:nvPr/>
        </p:nvSpPr>
        <p:spPr bwMode="auto">
          <a:xfrm>
            <a:off x="5364088" y="3666443"/>
            <a:ext cx="504056" cy="18685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>
            <a:extLst>
              <a:ext uri="{FF2B5EF4-FFF2-40B4-BE49-F238E27FC236}">
                <a16:creationId xmlns:a16="http://schemas.microsoft.com/office/drawing/2014/main" id="{6CA11A6C-2033-F894-2426-975DCFA3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38DD87F-ACA0-49FB-9949-2A113AECF18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B430EECD-C373-E651-53EB-D0815EA53E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顺序文件组织的维护</a:t>
            </a:r>
            <a:endParaRPr lang="en-US" altLang="zh-CN" b="1" dirty="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719B102-0282-A3A3-5D23-308A3C940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7617" y="1406526"/>
            <a:ext cx="4475162" cy="5065712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维护</a:t>
            </a:r>
            <a:r>
              <a:rPr lang="zh-CN" altLang="en-US" sz="2400" b="1" dirty="0"/>
              <a:t>记录的</a:t>
            </a:r>
            <a:r>
              <a:rPr lang="zh-CN" altLang="en-US" sz="2400" b="1" dirty="0">
                <a:solidFill>
                  <a:srgbClr val="0000FF"/>
                </a:solidFill>
              </a:rPr>
              <a:t>物理顺序</a:t>
            </a:r>
            <a:r>
              <a:rPr lang="zh-CN" altLang="en-US" sz="2400" b="1" dirty="0">
                <a:solidFill>
                  <a:srgbClr val="FF0000"/>
                </a:solidFill>
              </a:rPr>
              <a:t>代价高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000" b="1" dirty="0"/>
              <a:t>删除：利用</a:t>
            </a:r>
            <a:r>
              <a:rPr lang="zh-CN" altLang="en-US" sz="2000" b="1" dirty="0">
                <a:solidFill>
                  <a:srgbClr val="0000FF"/>
                </a:solidFill>
              </a:rPr>
              <a:t>指针链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95000"/>
              </a:lnSpc>
            </a:pPr>
            <a:r>
              <a:rPr lang="zh-CN" altLang="en-US" sz="2000" b="1" dirty="0"/>
              <a:t>插入：确定</a:t>
            </a:r>
            <a:r>
              <a:rPr lang="zh-CN" altLang="en-US" sz="2000" b="1" dirty="0">
                <a:solidFill>
                  <a:srgbClr val="006600"/>
                </a:solidFill>
              </a:rPr>
              <a:t>待插入记录位置</a:t>
            </a:r>
            <a:endParaRPr lang="en-US" altLang="zh-CN" sz="2000" b="1" dirty="0">
              <a:solidFill>
                <a:srgbClr val="006600"/>
              </a:solidFill>
            </a:endParaRPr>
          </a:p>
          <a:p>
            <a:pPr lvl="2" eaLnBrk="1" hangingPunct="1">
              <a:lnSpc>
                <a:spcPct val="95000"/>
              </a:lnSpc>
            </a:pPr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0000FF"/>
                </a:solidFill>
              </a:rPr>
              <a:t>有自由空间</a:t>
            </a:r>
            <a:r>
              <a:rPr lang="zh-CN" altLang="en-US" sz="2000" b="1" dirty="0"/>
              <a:t>则在该处插入</a:t>
            </a:r>
            <a:endParaRPr lang="en-US" altLang="zh-CN" sz="2000" b="1" dirty="0"/>
          </a:p>
          <a:p>
            <a:pPr lvl="2" eaLnBrk="1" hangingPunct="1">
              <a:lnSpc>
                <a:spcPct val="95000"/>
              </a:lnSpc>
            </a:pPr>
            <a:r>
              <a:rPr lang="zh-CN" altLang="en-US" sz="2000" b="1" dirty="0"/>
              <a:t>若</a:t>
            </a:r>
            <a:r>
              <a:rPr lang="zh-CN" altLang="en-US" sz="2000" b="1" dirty="0">
                <a:solidFill>
                  <a:srgbClr val="0000FF"/>
                </a:solidFill>
              </a:rPr>
              <a:t>无自由空间</a:t>
            </a:r>
            <a:r>
              <a:rPr lang="zh-CN" altLang="en-US" sz="2000" b="1" dirty="0"/>
              <a:t>，插入到</a:t>
            </a:r>
            <a:r>
              <a:rPr lang="zh-CN" altLang="en-US" sz="2000" b="1" dirty="0">
                <a:solidFill>
                  <a:srgbClr val="FF0000"/>
                </a:solidFill>
              </a:rPr>
              <a:t>溢出块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pPr lvl="2" eaLnBrk="1" hangingPunct="1">
              <a:lnSpc>
                <a:spcPct val="95000"/>
              </a:lnSpc>
            </a:pPr>
            <a:r>
              <a:rPr lang="zh-CN" altLang="en-US" sz="2000" b="1" dirty="0"/>
              <a:t>两种情况都要</a:t>
            </a:r>
            <a:r>
              <a:rPr lang="zh-CN" altLang="en-US" sz="2000" b="1" dirty="0">
                <a:solidFill>
                  <a:srgbClr val="0000FF"/>
                </a:solidFill>
              </a:rPr>
              <a:t>更新指针链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95000"/>
              </a:lnSpc>
            </a:pPr>
            <a:r>
              <a:rPr lang="zh-CN" altLang="en-US" sz="2000" b="1" dirty="0"/>
              <a:t>如果溢出块中数据很多，则逻辑顺序和物理顺序存在很大不同，可能导致数据访问中</a:t>
            </a:r>
            <a:r>
              <a:rPr lang="en-US" altLang="zh-CN" sz="2000" b="1" dirty="0"/>
              <a:t>I/O</a:t>
            </a:r>
            <a:r>
              <a:rPr lang="zh-CN" altLang="en-US" sz="2000" b="1" dirty="0"/>
              <a:t>操作过多</a:t>
            </a:r>
          </a:p>
          <a:p>
            <a:pPr lvl="1" eaLnBrk="1" hangingPunct="1">
              <a:lnSpc>
                <a:spcPct val="95000"/>
              </a:lnSpc>
            </a:pPr>
            <a:r>
              <a:rPr lang="zh-CN" altLang="en-US" sz="2000" b="1" dirty="0"/>
              <a:t>需要</a:t>
            </a:r>
            <a:r>
              <a:rPr lang="zh-CN" altLang="en-US" sz="2000" b="1" dirty="0">
                <a:solidFill>
                  <a:srgbClr val="0000FF"/>
                </a:solidFill>
              </a:rPr>
              <a:t>不时重组文件</a:t>
            </a:r>
            <a:r>
              <a:rPr lang="zh-CN" altLang="en-US" sz="2000" b="1" dirty="0"/>
              <a:t>以</a:t>
            </a:r>
            <a:r>
              <a:rPr lang="zh-CN" altLang="en-US" sz="2000" b="1" dirty="0">
                <a:solidFill>
                  <a:srgbClr val="0000FF"/>
                </a:solidFill>
              </a:rPr>
              <a:t>恢复</a:t>
            </a:r>
            <a:br>
              <a:rPr lang="en-US" altLang="zh-CN" sz="2000" b="1" dirty="0">
                <a:solidFill>
                  <a:srgbClr val="0000FF"/>
                </a:solidFill>
              </a:rPr>
            </a:br>
            <a:r>
              <a:rPr lang="zh-CN" altLang="en-US" sz="2000" b="1" dirty="0">
                <a:solidFill>
                  <a:srgbClr val="0000FF"/>
                </a:solidFill>
              </a:rPr>
              <a:t>物理存储顺序</a:t>
            </a:r>
            <a:r>
              <a:rPr lang="zh-CN" altLang="en-US" sz="2000" b="1" dirty="0"/>
              <a:t>，重组</a:t>
            </a:r>
            <a:r>
              <a:rPr lang="zh-CN" altLang="en-US" sz="2000" b="1" dirty="0">
                <a:solidFill>
                  <a:srgbClr val="0000FF"/>
                </a:solidFill>
              </a:rPr>
              <a:t>代价高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pic>
        <p:nvPicPr>
          <p:cNvPr id="25605" name="Picture 4">
            <a:extLst>
              <a:ext uri="{FF2B5EF4-FFF2-40B4-BE49-F238E27FC236}">
                <a16:creationId xmlns:a16="http://schemas.microsoft.com/office/drawing/2014/main" id="{BAE34291-CFBC-B472-C6F8-4CC49E619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7" t="1578" r="5522" b="1840"/>
          <a:stretch>
            <a:fillRect/>
          </a:stretch>
        </p:blipFill>
        <p:spPr bwMode="auto">
          <a:xfrm>
            <a:off x="4781550" y="2222500"/>
            <a:ext cx="4256088" cy="3481388"/>
          </a:xfrm>
          <a:prstGeom prst="rect">
            <a:avLst/>
          </a:prstGeom>
          <a:noFill/>
          <a:ln w="76200" cmpd="tri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60F552EE-D8BD-7CF6-46EF-15A1DB691F6B}"/>
              </a:ext>
            </a:extLst>
          </p:cNvPr>
          <p:cNvSpPr/>
          <p:nvPr/>
        </p:nvSpPr>
        <p:spPr bwMode="auto">
          <a:xfrm>
            <a:off x="4781550" y="3144598"/>
            <a:ext cx="3417613" cy="288032"/>
          </a:xfrm>
          <a:prstGeom prst="roundRect">
            <a:avLst/>
          </a:prstGeom>
          <a:noFill/>
          <a:ln w="34925" cap="flat" cmpd="sng" algn="ctr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4DF6449-E91C-3FE1-DC36-B92A388D583D}"/>
              </a:ext>
            </a:extLst>
          </p:cNvPr>
          <p:cNvSpPr txBox="1"/>
          <p:nvPr/>
        </p:nvSpPr>
        <p:spPr>
          <a:xfrm>
            <a:off x="8034064" y="5291566"/>
            <a:ext cx="1303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</a:rPr>
              <a:t>溢出块</a:t>
            </a:r>
            <a:endParaRPr lang="zh-CN" altLang="en-US" sz="2000" dirty="0">
              <a:solidFill>
                <a:srgbClr val="0000FF"/>
              </a:solidFill>
            </a:endParaRPr>
          </a:p>
        </p:txBody>
      </p:sp>
      <p:sp>
        <p:nvSpPr>
          <p:cNvPr id="2" name="下箭头 1"/>
          <p:cNvSpPr/>
          <p:nvPr/>
        </p:nvSpPr>
        <p:spPr bwMode="auto">
          <a:xfrm>
            <a:off x="6012160" y="1916832"/>
            <a:ext cx="504056" cy="30566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2120" y="142534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搜索码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4B8A04A7-E8EB-D7C4-A892-82D37E612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376" y="3861048"/>
            <a:ext cx="4157832" cy="1676545"/>
          </a:xfrm>
          <a:prstGeom prst="rect">
            <a:avLst/>
          </a:prstGeom>
        </p:spPr>
      </p:pic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E565B2E4-2991-5A19-EBA5-AB2768A2A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7A3CF9-FD48-4E1F-95F6-7CD74AF51384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zh-CN" sz="1200"/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FDB8D2E-70F0-956A-A17E-FDB5E8078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0900" y="1338505"/>
            <a:ext cx="8096250" cy="1452563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利用</a:t>
            </a:r>
            <a:r>
              <a:rPr lang="zh-CN" altLang="en-US" sz="2400" b="1" dirty="0">
                <a:solidFill>
                  <a:srgbClr val="0000FF"/>
                </a:solidFill>
              </a:rPr>
              <a:t>聚簇文件组织</a:t>
            </a:r>
            <a:r>
              <a:rPr lang="zh-CN" altLang="en-US" sz="2400" b="1" dirty="0"/>
              <a:t>可以将</a:t>
            </a:r>
            <a:r>
              <a:rPr lang="zh-CN" altLang="en-US" sz="2400" b="1" dirty="0">
                <a:solidFill>
                  <a:srgbClr val="0000FF"/>
                </a:solidFill>
              </a:rPr>
              <a:t>多个关系</a:t>
            </a:r>
            <a:r>
              <a:rPr lang="zh-CN" altLang="en-US" sz="2400" b="1" dirty="0">
                <a:solidFill>
                  <a:srgbClr val="FF0000"/>
                </a:solidFill>
              </a:rPr>
              <a:t>存储</a:t>
            </a:r>
            <a:r>
              <a:rPr lang="zh-CN" altLang="en-US" sz="2400" b="1" dirty="0"/>
              <a:t>在</a:t>
            </a:r>
            <a:r>
              <a:rPr lang="zh-CN" altLang="en-US" sz="2400" b="1" dirty="0">
                <a:solidFill>
                  <a:srgbClr val="0000FF"/>
                </a:solidFill>
              </a:rPr>
              <a:t>一个文件</a:t>
            </a:r>
            <a:r>
              <a:rPr lang="zh-CN" altLang="en-US" sz="2400" b="1" dirty="0"/>
              <a:t>中</a:t>
            </a:r>
            <a:endParaRPr lang="en-US" altLang="zh-CN" sz="2400" b="1" dirty="0"/>
          </a:p>
          <a:p>
            <a:r>
              <a:rPr lang="zh-CN" altLang="en-US" sz="2400" b="1" dirty="0"/>
              <a:t>如：经常查询</a:t>
            </a:r>
            <a:r>
              <a:rPr kumimoji="0" lang="en-US" altLang="en-US" sz="2400" dirty="0"/>
              <a:t>department</a:t>
            </a:r>
            <a:r>
              <a:rPr lang="zh-CN" altLang="en-US" sz="2400" b="1" dirty="0"/>
              <a:t>与</a:t>
            </a:r>
            <a:r>
              <a:rPr kumimoji="0" lang="en-US" altLang="en-US" sz="2400" dirty="0"/>
              <a:t>instructor</a:t>
            </a:r>
            <a:r>
              <a:rPr lang="zh-CN" altLang="en-US" sz="2400" b="1" dirty="0"/>
              <a:t>的信息，则将</a:t>
            </a:r>
            <a:r>
              <a:rPr kumimoji="0" lang="en-US" altLang="en-US" sz="2400" dirty="0"/>
              <a:t>department</a:t>
            </a:r>
            <a:r>
              <a:rPr lang="zh-CN" altLang="en-US" sz="2400" b="1" dirty="0"/>
              <a:t>和</a:t>
            </a:r>
            <a:r>
              <a:rPr kumimoji="0" lang="en-US" altLang="en-US" sz="2400" dirty="0"/>
              <a:t>instructor</a:t>
            </a:r>
            <a:r>
              <a:rPr lang="zh-CN" altLang="en-US" sz="2400" b="1" dirty="0"/>
              <a:t>信息组织起来</a:t>
            </a:r>
            <a:endParaRPr lang="en-US" altLang="zh-CN" sz="2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82C715-1EB5-5711-ADEF-214EFB8931BF}"/>
              </a:ext>
            </a:extLst>
          </p:cNvPr>
          <p:cNvGrpSpPr/>
          <p:nvPr/>
        </p:nvGrpSpPr>
        <p:grpSpPr>
          <a:xfrm>
            <a:off x="837355" y="5522318"/>
            <a:ext cx="7249492" cy="1335682"/>
            <a:chOff x="1043608" y="5193306"/>
            <a:chExt cx="7249492" cy="1335682"/>
          </a:xfrm>
        </p:grpSpPr>
        <p:sp>
          <p:nvSpPr>
            <p:cNvPr id="26629" name="Rectangle 4">
              <a:extLst>
                <a:ext uri="{FF2B5EF4-FFF2-40B4-BE49-F238E27FC236}">
                  <a16:creationId xmlns:a16="http://schemas.microsoft.com/office/drawing/2014/main" id="{99CD7A48-BA45-8D5C-AE7B-CEAFC0004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608" y="5193306"/>
              <a:ext cx="7249492" cy="13356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800100" indent="-3429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1" algn="l">
                <a:spcBef>
                  <a:spcPct val="0"/>
                </a:spcBef>
                <a:buClr>
                  <a:schemeClr val="hlink"/>
                </a:buClr>
                <a:buSzPct val="40000"/>
                <a:buFont typeface="Wingdings" panose="05000000000000000000" pitchFamily="2" charset="2"/>
                <a:buChar char="n"/>
              </a:pP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有利于涉及 </a:t>
              </a:r>
              <a:r>
                <a:rPr kumimoji="0" lang="en-US" altLang="en-US" sz="2000" dirty="0"/>
                <a:t>department</a:t>
              </a:r>
              <a:r>
                <a:rPr lang="en-US" altLang="zh-CN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    </a:t>
              </a:r>
              <a:r>
                <a:rPr kumimoji="0" lang="en-US" altLang="en-US" sz="2000" dirty="0"/>
                <a:t>instructor</a:t>
              </a: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的查询</a:t>
              </a:r>
              <a:endParaRPr lang="en-US" altLang="zh-CN" sz="2000" b="1" dirty="0">
                <a:solidFill>
                  <a:srgbClr val="333300"/>
                </a:solidFill>
                <a:latin typeface="Helvetica" panose="020B0604020202020204" pitchFamily="34" charset="0"/>
              </a:endParaRPr>
            </a:p>
            <a:p>
              <a:pPr lvl="1" algn="l">
                <a:spcBef>
                  <a:spcPct val="0"/>
                </a:spcBef>
                <a:buClr>
                  <a:schemeClr val="hlink"/>
                </a:buClr>
                <a:buSzPct val="40000"/>
                <a:buFont typeface="Wingdings" panose="05000000000000000000" pitchFamily="2" charset="2"/>
                <a:buChar char="n"/>
              </a:pP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如果查询仅仅涉及到</a:t>
              </a:r>
              <a:r>
                <a:rPr kumimoji="0" lang="en-US" altLang="en-US" sz="2000" dirty="0"/>
                <a:t>instructor</a:t>
              </a: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的查询，则效率低下</a:t>
              </a:r>
            </a:p>
            <a:p>
              <a:pPr lvl="1" algn="l">
                <a:spcBef>
                  <a:spcPct val="0"/>
                </a:spcBef>
                <a:buClr>
                  <a:schemeClr val="hlink"/>
                </a:buClr>
                <a:buSzPct val="40000"/>
                <a:buFont typeface="Wingdings" panose="05000000000000000000" pitchFamily="2" charset="2"/>
                <a:buChar char="n"/>
              </a:pP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导致变长记录</a:t>
              </a:r>
            </a:p>
            <a:p>
              <a:pPr lvl="1" algn="l">
                <a:spcBef>
                  <a:spcPct val="0"/>
                </a:spcBef>
                <a:buClr>
                  <a:schemeClr val="hlink"/>
                </a:buClr>
                <a:buSzPct val="40000"/>
                <a:buFont typeface="Wingdings" panose="05000000000000000000" pitchFamily="2" charset="2"/>
                <a:buChar char="n"/>
              </a:pP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需要根据系统应用，</a:t>
              </a:r>
              <a:r>
                <a:rPr lang="zh-CN" altLang="en-US" sz="2000" b="1" dirty="0">
                  <a:solidFill>
                    <a:srgbClr val="FF0000"/>
                  </a:solidFill>
                  <a:latin typeface="Helvetica" panose="020B0604020202020204" pitchFamily="34" charset="0"/>
                </a:rPr>
                <a:t>谨慎设置</a:t>
              </a:r>
              <a:r>
                <a:rPr lang="zh-CN" altLang="en-US" sz="2000" b="1" dirty="0">
                  <a:solidFill>
                    <a:srgbClr val="333300"/>
                  </a:solidFill>
                  <a:latin typeface="Helvetica" panose="020B0604020202020204" pitchFamily="34" charset="0"/>
                </a:rPr>
                <a:t>是否允许按照聚簇存放</a:t>
              </a:r>
            </a:p>
          </p:txBody>
        </p:sp>
        <p:sp>
          <p:nvSpPr>
            <p:cNvPr id="26630" name="AutoShape 5">
              <a:extLst>
                <a:ext uri="{FF2B5EF4-FFF2-40B4-BE49-F238E27FC236}">
                  <a16:creationId xmlns:a16="http://schemas.microsoft.com/office/drawing/2014/main" id="{540C4EF4-71AC-9A01-8E92-E1ED9C48766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841258" y="5311837"/>
              <a:ext cx="158750" cy="192087"/>
            </a:xfrm>
            <a:prstGeom prst="flowChartCollat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¡"/>
                <a:defRPr sz="2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5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65000"/>
                <a:buFont typeface="Wingdings" panose="05000000000000000000" pitchFamily="2" charset="2"/>
                <a:buChar char="¡"/>
                <a:defRPr sz="22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60000"/>
                <a:buFont typeface="Wingdings" panose="05000000000000000000" pitchFamily="2" charset="2"/>
                <a:buChar char="¡"/>
                <a:defRPr sz="19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Helvetica" panose="020B0604020202020204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11274A2-CA06-8027-6F2B-25005D712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81000"/>
            <a:ext cx="8105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r>
              <a:rPr lang="zh-CN" altLang="en-US" b="1" dirty="0"/>
              <a:t>多表聚簇文件组织</a:t>
            </a:r>
            <a:endParaRPr kumimoji="0" lang="en-US" altLang="zh-CN" b="1" kern="0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23B1B52-C6B5-A82A-C540-A6BEC08852E8}"/>
              </a:ext>
            </a:extLst>
          </p:cNvPr>
          <p:cNvSpPr/>
          <p:nvPr/>
        </p:nvSpPr>
        <p:spPr bwMode="auto">
          <a:xfrm>
            <a:off x="2237110" y="3989915"/>
            <a:ext cx="1310308" cy="288032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4B2C2D22-6287-E2A0-02AA-98B0C882241C}"/>
              </a:ext>
            </a:extLst>
          </p:cNvPr>
          <p:cNvSpPr/>
          <p:nvPr/>
        </p:nvSpPr>
        <p:spPr bwMode="auto">
          <a:xfrm>
            <a:off x="4359292" y="4168568"/>
            <a:ext cx="1265072" cy="815670"/>
          </a:xfrm>
          <a:prstGeom prst="ellipse">
            <a:avLst/>
          </a:prstGeom>
          <a:noFill/>
          <a:ln w="38100" cap="flat" cmpd="sng" algn="ctr">
            <a:solidFill>
              <a:srgbClr val="0000FF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E00F3B2-F294-7676-A78F-A320CBA4C216}"/>
              </a:ext>
            </a:extLst>
          </p:cNvPr>
          <p:cNvSpPr/>
          <p:nvPr/>
        </p:nvSpPr>
        <p:spPr bwMode="auto">
          <a:xfrm>
            <a:off x="2195736" y="4894643"/>
            <a:ext cx="1310308" cy="288032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8FB528A-9057-6ADA-DFE9-5FC50468F8D3}"/>
              </a:ext>
            </a:extLst>
          </p:cNvPr>
          <p:cNvSpPr/>
          <p:nvPr/>
        </p:nvSpPr>
        <p:spPr bwMode="auto">
          <a:xfrm>
            <a:off x="4211960" y="5159477"/>
            <a:ext cx="1310308" cy="288032"/>
          </a:xfrm>
          <a:prstGeom prst="ellipse">
            <a:avLst/>
          </a:prstGeom>
          <a:noFill/>
          <a:ln w="38100" cap="flat" cmpd="sng" algn="ctr">
            <a:solidFill>
              <a:srgbClr val="C00000"/>
            </a:solidFill>
            <a:prstDash val="dashDot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5" name="下箭头 14"/>
          <p:cNvSpPr/>
          <p:nvPr/>
        </p:nvSpPr>
        <p:spPr bwMode="auto">
          <a:xfrm>
            <a:off x="6790122" y="2385095"/>
            <a:ext cx="504056" cy="30566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sp>
        <p:nvSpPr>
          <p:cNvPr id="16" name="下箭头 15"/>
          <p:cNvSpPr/>
          <p:nvPr/>
        </p:nvSpPr>
        <p:spPr bwMode="auto">
          <a:xfrm>
            <a:off x="1835696" y="2563617"/>
            <a:ext cx="504056" cy="30566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宋体" pitchFamily="2" charset="-122"/>
              <a:cs typeface="Arial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7018DA7-488C-CA7D-C3AE-79B1BAD3D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712" y="2690763"/>
            <a:ext cx="3383573" cy="12558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4B1DD85-BDC1-C9DF-42B4-E0032928E1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7547" y="2599483"/>
            <a:ext cx="3633531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756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>
            <a:extLst>
              <a:ext uri="{FF2B5EF4-FFF2-40B4-BE49-F238E27FC236}">
                <a16:creationId xmlns:a16="http://schemas.microsoft.com/office/drawing/2014/main" id="{F44019ED-1EC2-FC47-125E-E1D2E665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AE06CF-03C1-44B9-99B7-4819E4D1E8DF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7B262D5-C179-E79B-555F-D7A8BB852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关系数据库的文件选择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20779187-8701-52AC-DD7E-1E15D1B651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560" y="1340768"/>
            <a:ext cx="8188399" cy="5003800"/>
          </a:xfrm>
        </p:spPr>
        <p:txBody>
          <a:bodyPr/>
          <a:lstStyle/>
          <a:p>
            <a:pPr eaLnBrk="1" hangingPunct="1"/>
            <a:r>
              <a:rPr lang="zh-CN" altLang="en-US" sz="2800" b="1" dirty="0"/>
              <a:t>存储</a:t>
            </a:r>
            <a:r>
              <a:rPr lang="zh-CN" altLang="en-US" sz="2800" b="1" dirty="0">
                <a:solidFill>
                  <a:srgbClr val="0000FF"/>
                </a:solidFill>
              </a:rPr>
              <a:t>关系</a:t>
            </a:r>
            <a:r>
              <a:rPr lang="zh-CN" altLang="en-US" sz="2800" b="1" dirty="0"/>
              <a:t>到</a:t>
            </a:r>
            <a:r>
              <a:rPr lang="zh-CN" altLang="en-US" sz="2800" b="1" dirty="0">
                <a:solidFill>
                  <a:srgbClr val="0000FF"/>
                </a:solidFill>
              </a:rPr>
              <a:t>一个文件</a:t>
            </a:r>
          </a:p>
          <a:p>
            <a:pPr lvl="1" eaLnBrk="1" hangingPunct="1"/>
            <a:r>
              <a:rPr lang="en-US" altLang="zh-CN" sz="2400" b="1" dirty="0"/>
              <a:t>Advantage</a:t>
            </a:r>
          </a:p>
          <a:p>
            <a:pPr lvl="2" eaLnBrk="1" hangingPunct="1"/>
            <a:r>
              <a:rPr lang="zh-CN" altLang="en-US" sz="2000" b="1" dirty="0"/>
              <a:t>充分利用</a:t>
            </a:r>
            <a:r>
              <a:rPr lang="en-US" altLang="zh-CN" sz="2000" b="1" dirty="0"/>
              <a:t>OS</a:t>
            </a:r>
            <a:r>
              <a:rPr lang="zh-CN" altLang="en-US" sz="2000" b="1" dirty="0"/>
              <a:t>所提供的功能，减少</a:t>
            </a:r>
            <a:r>
              <a:rPr lang="en-US" altLang="zh-CN" sz="2000" b="1" dirty="0"/>
              <a:t>DBMS</a:t>
            </a:r>
            <a:r>
              <a:rPr lang="zh-CN" altLang="en-US" sz="2000" b="1" dirty="0"/>
              <a:t>处理的代价</a:t>
            </a:r>
          </a:p>
          <a:p>
            <a:pPr lvl="1" eaLnBrk="1" hangingPunct="1"/>
            <a:r>
              <a:rPr lang="en-US" altLang="zh-CN" sz="2400" b="1" dirty="0"/>
              <a:t>Disadvantage</a:t>
            </a:r>
          </a:p>
          <a:p>
            <a:pPr lvl="2" eaLnBrk="1" hangingPunct="1"/>
            <a:r>
              <a:rPr lang="en-US" altLang="zh-CN" sz="2000" b="1" dirty="0"/>
              <a:t>DBMS</a:t>
            </a:r>
            <a:r>
              <a:rPr lang="zh-CN" altLang="en-US" sz="2000" b="1" dirty="0"/>
              <a:t>的某些优化策略不支持</a:t>
            </a:r>
          </a:p>
          <a:p>
            <a:pPr eaLnBrk="1" hangingPunct="1"/>
            <a:r>
              <a:rPr lang="zh-CN" altLang="en-US" sz="2800" b="1" dirty="0"/>
              <a:t>存储</a:t>
            </a:r>
            <a:r>
              <a:rPr lang="zh-CN" altLang="en-US" sz="2800" b="1" dirty="0">
                <a:solidFill>
                  <a:srgbClr val="0000FF"/>
                </a:solidFill>
              </a:rPr>
              <a:t>多个关系</a:t>
            </a:r>
            <a:r>
              <a:rPr lang="zh-CN" altLang="en-US" sz="2800" b="1" dirty="0"/>
              <a:t>到</a:t>
            </a:r>
            <a:r>
              <a:rPr lang="zh-CN" altLang="en-US" sz="2800" b="1" dirty="0">
                <a:solidFill>
                  <a:srgbClr val="0000FF"/>
                </a:solidFill>
              </a:rPr>
              <a:t>一个文件</a:t>
            </a:r>
          </a:p>
          <a:p>
            <a:pPr lvl="1" eaLnBrk="1" hangingPunct="1"/>
            <a:r>
              <a:rPr lang="en-US" altLang="zh-CN" sz="2400" b="1" dirty="0"/>
              <a:t>Advantage</a:t>
            </a:r>
          </a:p>
          <a:p>
            <a:pPr lvl="2" eaLnBrk="1" hangingPunct="1"/>
            <a:r>
              <a:rPr lang="en-US" altLang="zh-CN" sz="2000" b="1" dirty="0"/>
              <a:t>DBMS</a:t>
            </a:r>
            <a:r>
              <a:rPr lang="zh-CN" altLang="en-US" sz="2000" b="1" dirty="0"/>
              <a:t>支持某些优化策略，可以在文件中设计复杂的结构</a:t>
            </a:r>
          </a:p>
          <a:p>
            <a:pPr lvl="1" eaLnBrk="1" hangingPunct="1"/>
            <a:r>
              <a:rPr lang="en-US" altLang="zh-CN" sz="2400" b="1" dirty="0"/>
              <a:t>Disadvantage</a:t>
            </a:r>
          </a:p>
          <a:p>
            <a:pPr lvl="2" eaLnBrk="1" hangingPunct="1"/>
            <a:r>
              <a:rPr lang="zh-CN" altLang="en-US" sz="2000" b="1" dirty="0"/>
              <a:t>增加了数据库实现的复杂性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F29D0802-6BD9-2F52-40C3-A9F87D3E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5506E0-A4EC-43FE-9ECE-A6B6B86B010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zh-CN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F1CCEDA-E2F0-F97D-940A-AF45A9441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0D72BC1-9E60-9514-D662-E4B8538CE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6787" y="1412776"/>
            <a:ext cx="7848600" cy="460702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存储器访问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文件组织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文件中记录组织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数据字典存储</a:t>
            </a:r>
            <a:endParaRPr lang="en-US" altLang="zh-CN" b="1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/>
              <a:t>数据库缓冲区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>
            <a:extLst>
              <a:ext uri="{FF2B5EF4-FFF2-40B4-BE49-F238E27FC236}">
                <a16:creationId xmlns:a16="http://schemas.microsoft.com/office/drawing/2014/main" id="{ACA00522-1491-65C0-C3E0-215E2F01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424F64-1436-4FC6-AB93-3BC805E9CABE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549975A-558E-BC37-E989-99ECE00129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数据字典</a:t>
            </a:r>
            <a:endParaRPr lang="en-US" altLang="zh-CN" b="1"/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568990B-E3D0-EB94-242C-1A9443B58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9559" y="1402764"/>
            <a:ext cx="8712968" cy="53197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500" b="1" dirty="0">
                <a:solidFill>
                  <a:srgbClr val="FF3300"/>
                </a:solidFill>
              </a:rPr>
              <a:t>数据字典</a:t>
            </a:r>
            <a:r>
              <a:rPr lang="en-US" altLang="zh-CN" sz="2500" b="1" dirty="0"/>
              <a:t>(</a:t>
            </a:r>
            <a:r>
              <a:rPr lang="zh-CN" altLang="en-US" sz="2500" b="1" dirty="0"/>
              <a:t>也称</a:t>
            </a:r>
            <a:r>
              <a:rPr lang="zh-CN" altLang="en-US" sz="2500" b="1" dirty="0">
                <a:solidFill>
                  <a:srgbClr val="FF3300"/>
                </a:solidFill>
              </a:rPr>
              <a:t>系统目录</a:t>
            </a:r>
            <a:r>
              <a:rPr lang="en-US" altLang="zh-CN" sz="2500" b="1" dirty="0"/>
              <a:t>) </a:t>
            </a:r>
            <a:r>
              <a:rPr lang="zh-CN" altLang="en-US" sz="2500" b="1" dirty="0"/>
              <a:t>保存</a:t>
            </a:r>
            <a:r>
              <a:rPr lang="zh-CN" altLang="en-US" sz="2500" b="1" dirty="0">
                <a:solidFill>
                  <a:srgbClr val="FF3300"/>
                </a:solidFill>
              </a:rPr>
              <a:t>元数据</a:t>
            </a:r>
            <a:r>
              <a:rPr lang="zh-CN" altLang="en-US" sz="2500" b="1" dirty="0">
                <a:solidFill>
                  <a:schemeClr val="tx2"/>
                </a:solidFill>
              </a:rPr>
              <a:t>：</a:t>
            </a:r>
            <a:r>
              <a:rPr lang="zh-CN" altLang="en-US" sz="2500" b="1" dirty="0"/>
              <a:t>即</a:t>
            </a:r>
            <a:r>
              <a:rPr lang="zh-CN" altLang="en-US" sz="2500" b="1" dirty="0">
                <a:solidFill>
                  <a:srgbClr val="0000FF"/>
                </a:solidFill>
              </a:rPr>
              <a:t>关于数据</a:t>
            </a:r>
            <a:r>
              <a:rPr lang="zh-CN" altLang="en-US" sz="2500" b="1" dirty="0"/>
              <a:t>的</a:t>
            </a:r>
            <a:r>
              <a:rPr lang="zh-CN" altLang="en-US" sz="2500" b="1" dirty="0">
                <a:solidFill>
                  <a:srgbClr val="0000FF"/>
                </a:solidFill>
              </a:rPr>
              <a:t>数据</a:t>
            </a:r>
            <a:endParaRPr lang="zh-CN" altLang="en-US" sz="2100" b="1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关系的信息，关系模式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关系名称</a:t>
            </a:r>
            <a:endParaRPr lang="en-US" altLang="zh-CN" sz="2000" b="1" dirty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每个关系中属性名称和属性类型</a:t>
            </a:r>
            <a:endParaRPr lang="en-US" altLang="zh-CN" sz="2000" b="1" dirty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视图的名称及其定义</a:t>
            </a:r>
            <a:endParaRPr lang="en-US" altLang="zh-CN" sz="2000" b="1" dirty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完整性约束（例如码约束）</a:t>
            </a:r>
            <a:endParaRPr lang="en-US" altLang="zh-CN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用户及账号信息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包括：口令，授权信息等</a:t>
            </a:r>
            <a:endParaRPr lang="en-US" altLang="zh-CN" sz="24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统计与描述数据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每个关系的元组数目</a:t>
            </a:r>
            <a:endParaRPr lang="en-US" altLang="zh-CN" sz="20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物理文件组织信息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关系如何存储</a:t>
            </a:r>
            <a:r>
              <a:rPr lang="en-US" altLang="zh-CN" sz="2000" b="1" dirty="0"/>
              <a:t> (</a:t>
            </a:r>
            <a:r>
              <a:rPr lang="zh-CN" altLang="en-US" sz="2000" b="1" dirty="0"/>
              <a:t>顺序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散列</a:t>
            </a:r>
            <a:r>
              <a:rPr lang="en-US" altLang="zh-CN" sz="2000" b="1" dirty="0"/>
              <a:t>/</a:t>
            </a:r>
            <a:r>
              <a:rPr lang="en-US" altLang="zh-CN" sz="2000" b="1" dirty="0">
                <a:latin typeface="Arial" panose="020B0604020202020204" pitchFamily="34" charset="0"/>
              </a:rPr>
              <a:t>…</a:t>
            </a:r>
            <a:r>
              <a:rPr lang="en-US" altLang="zh-CN" sz="2000" b="1" dirty="0"/>
              <a:t>)</a:t>
            </a:r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b="1" dirty="0"/>
              <a:t>关系的物理位置</a:t>
            </a:r>
            <a:endParaRPr lang="en-US" altLang="zh-CN" sz="2000" b="1" dirty="0"/>
          </a:p>
          <a:p>
            <a:pPr lvl="3" eaLnBrk="1" hangingPunct="1">
              <a:lnSpc>
                <a:spcPct val="80000"/>
              </a:lnSpc>
            </a:pPr>
            <a:r>
              <a:rPr lang="zh-CN" altLang="en-US" sz="1800" b="1" dirty="0"/>
              <a:t>操作系统文件名</a:t>
            </a:r>
            <a:endParaRPr lang="en-US" altLang="zh-CN" sz="1800" b="1" dirty="0"/>
          </a:p>
          <a:p>
            <a:pPr lvl="3" eaLnBrk="1" hangingPunct="1">
              <a:lnSpc>
                <a:spcPct val="80000"/>
              </a:lnSpc>
            </a:pPr>
            <a:r>
              <a:rPr lang="zh-CN" altLang="en-US" sz="1800" b="1" dirty="0"/>
              <a:t>包含关系记录的磁盘块地址</a:t>
            </a:r>
            <a:endParaRPr lang="en-US" altLang="zh-CN" sz="1800" b="1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1" dirty="0">
                <a:solidFill>
                  <a:srgbClr val="0000FF"/>
                </a:solidFill>
              </a:rPr>
              <a:t>索引信息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0FD3AFFF-EF4D-4EDA-118B-84262089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4DE2A8-15A0-4483-A4E9-67BD08CF4C7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zh-CN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2C83CE5-12AC-06AC-5C39-787AFDA805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数据字典的存储</a:t>
            </a:r>
            <a:r>
              <a:rPr lang="en-US" altLang="zh-CN" b="1"/>
              <a:t> 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9DE8817E-968F-D2E2-AECD-3EC9FDADF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1412776"/>
            <a:ext cx="7313612" cy="1762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可采用</a:t>
            </a:r>
            <a:endParaRPr lang="en-US" altLang="zh-CN" sz="25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为高效存取而设计的</a:t>
            </a:r>
            <a:r>
              <a:rPr lang="zh-CN" altLang="en-US" sz="2100" b="1" dirty="0">
                <a:solidFill>
                  <a:srgbClr val="0000FF"/>
                </a:solidFill>
              </a:rPr>
              <a:t>专门</a:t>
            </a:r>
            <a:r>
              <a:rPr lang="zh-CN" altLang="en-US" sz="2100" b="1" dirty="0"/>
              <a:t>的数据结构</a:t>
            </a:r>
            <a:endParaRPr lang="en-US" altLang="zh-CN" sz="2100" b="1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100" b="1" dirty="0"/>
              <a:t>关系集合，利用现有系统特性保证高效存取</a:t>
            </a:r>
            <a:endParaRPr lang="en-US" altLang="zh-CN" sz="21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500" b="1" dirty="0"/>
              <a:t>一种可能的目录结构</a:t>
            </a:r>
            <a:r>
              <a:rPr lang="en-US" altLang="zh-CN" sz="2500" i="1" dirty="0"/>
              <a:t>	</a:t>
            </a:r>
            <a:endParaRPr lang="en-US" altLang="zh-CN" sz="2500" dirty="0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E5DB1C80-FA32-8B06-F906-EC0B33BCE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963" y="3356992"/>
            <a:ext cx="8101012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tabLst>
                <a:tab pos="2795588" algn="l"/>
              </a:tabLst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2795588" algn="l"/>
              </a:tabLst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tabLst>
                <a:tab pos="2795588" algn="l"/>
              </a:tabLst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tabLst>
                <a:tab pos="2795588" algn="l"/>
              </a:tabLst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Helvetica" panose="020B0604020202020204" pitchFamily="34" charset="0"/>
              </a:rPr>
              <a:t>Relation-metadata = (</a:t>
            </a:r>
            <a:r>
              <a:rPr lang="en-US" altLang="zh-CN" sz="2000" u="sng" dirty="0">
                <a:latin typeface="Helvetica" panose="020B0604020202020204" pitchFamily="34" charset="0"/>
              </a:rPr>
              <a:t>relation-name</a:t>
            </a:r>
            <a:r>
              <a:rPr lang="en-US" altLang="zh-CN" sz="2000" dirty="0">
                <a:latin typeface="Helvetica" panose="020B0604020202020204" pitchFamily="34" charset="0"/>
              </a:rPr>
              <a:t>, number-of-attributes, </a:t>
            </a:r>
            <a:br>
              <a:rPr lang="en-US" altLang="zh-CN" sz="2000" dirty="0">
                <a:latin typeface="Helvetica" panose="020B0604020202020204" pitchFamily="34" charset="0"/>
              </a:rPr>
            </a:br>
            <a:r>
              <a:rPr lang="en-US" altLang="zh-CN" sz="2000" dirty="0">
                <a:latin typeface="Helvetica" panose="020B0604020202020204" pitchFamily="34" charset="0"/>
              </a:rPr>
              <a:t>                                   storage-organization, location)</a:t>
            </a:r>
            <a:br>
              <a:rPr lang="en-US" altLang="zh-CN" sz="2000" dirty="0">
                <a:latin typeface="Helvetica" panose="020B0604020202020204" pitchFamily="34" charset="0"/>
              </a:rPr>
            </a:br>
            <a:r>
              <a:rPr lang="en-US" altLang="zh-CN" sz="2000" dirty="0">
                <a:latin typeface="Helvetica" panose="020B0604020202020204" pitchFamily="34" charset="0"/>
              </a:rPr>
              <a:t>Attribute-metadata = (</a:t>
            </a:r>
            <a:r>
              <a:rPr lang="en-US" altLang="zh-CN" sz="2000" u="sng" dirty="0">
                <a:latin typeface="Helvetica" panose="020B0604020202020204" pitchFamily="34" charset="0"/>
              </a:rPr>
              <a:t>attribute-name, relation-name</a:t>
            </a:r>
            <a:r>
              <a:rPr lang="en-US" altLang="zh-CN" sz="2000" dirty="0">
                <a:latin typeface="Helvetica" panose="020B0604020202020204" pitchFamily="34" charset="0"/>
              </a:rPr>
              <a:t>, domain-type, </a:t>
            </a:r>
            <a:br>
              <a:rPr lang="en-US" altLang="zh-CN" sz="2000" dirty="0">
                <a:latin typeface="Helvetica" panose="020B0604020202020204" pitchFamily="34" charset="0"/>
              </a:rPr>
            </a:br>
            <a:r>
              <a:rPr lang="en-US" altLang="zh-CN" sz="2000" dirty="0">
                <a:latin typeface="Helvetica" panose="020B0604020202020204" pitchFamily="34" charset="0"/>
              </a:rPr>
              <a:t>	position, length)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Helvetica" panose="020B0604020202020204" pitchFamily="34" charset="0"/>
              </a:rPr>
              <a:t>User-metadata = (</a:t>
            </a:r>
            <a:r>
              <a:rPr lang="en-US" altLang="zh-CN" sz="2000" u="sng" dirty="0">
                <a:latin typeface="Helvetica" panose="020B0604020202020204" pitchFamily="34" charset="0"/>
              </a:rPr>
              <a:t>user-name</a:t>
            </a:r>
            <a:r>
              <a:rPr lang="en-US" altLang="zh-CN" sz="2000" dirty="0">
                <a:latin typeface="Helvetica" panose="020B0604020202020204" pitchFamily="34" charset="0"/>
              </a:rPr>
              <a:t>, encrypted-password, group)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Helvetica" panose="020B0604020202020204" pitchFamily="34" charset="0"/>
              </a:rPr>
              <a:t>Index-metadata = (</a:t>
            </a:r>
            <a:r>
              <a:rPr lang="en-US" altLang="zh-CN" sz="2000" u="sng" dirty="0">
                <a:latin typeface="Helvetica" panose="020B0604020202020204" pitchFamily="34" charset="0"/>
              </a:rPr>
              <a:t>index-name, relation-name</a:t>
            </a:r>
            <a:r>
              <a:rPr lang="en-US" altLang="zh-CN" sz="2000" dirty="0">
                <a:latin typeface="Helvetica" panose="020B0604020202020204" pitchFamily="34" charset="0"/>
              </a:rPr>
              <a:t>, index-type, </a:t>
            </a:r>
            <a:br>
              <a:rPr lang="en-US" altLang="zh-CN" sz="2000" dirty="0">
                <a:latin typeface="Helvetica" panose="020B0604020202020204" pitchFamily="34" charset="0"/>
              </a:rPr>
            </a:br>
            <a:r>
              <a:rPr lang="en-US" altLang="zh-CN" sz="2000" dirty="0">
                <a:latin typeface="Helvetica" panose="020B0604020202020204" pitchFamily="34" charset="0"/>
              </a:rPr>
              <a:t>	index-attributes)</a:t>
            </a:r>
          </a:p>
          <a:p>
            <a:pPr algn="l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Helvetica" panose="020B0604020202020204" pitchFamily="34" charset="0"/>
              </a:rPr>
              <a:t>View-metadata = (</a:t>
            </a:r>
            <a:r>
              <a:rPr lang="en-US" altLang="zh-CN" sz="2000" u="sng" dirty="0">
                <a:latin typeface="Helvetica" panose="020B0604020202020204" pitchFamily="34" charset="0"/>
              </a:rPr>
              <a:t>view-name</a:t>
            </a:r>
            <a:r>
              <a:rPr lang="en-US" altLang="zh-CN" sz="2000" dirty="0">
                <a:latin typeface="Helvetica" panose="020B0604020202020204" pitchFamily="34" charset="0"/>
              </a:rPr>
              <a:t>, definition) </a:t>
            </a:r>
            <a:endParaRPr lang="en-US" altLang="zh-CN" sz="2000" i="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F29D0802-6BD9-2F52-40C3-A9F87D3E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5506E0-A4EC-43FE-9ECE-A6B6B86B010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zh-CN" sz="12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EF1CCEDA-E2F0-F97D-940A-AF45A9441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主要内容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0D72BC1-9E60-9514-D662-E4B8538CE8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6787" y="1412776"/>
            <a:ext cx="7848600" cy="460702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存储器访问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文件组织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文件中记录组织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/>
              <a:t>数据字典存储</a:t>
            </a:r>
            <a:endParaRPr lang="en-US" altLang="zh-CN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数据库缓冲区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00244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87C49844-4500-E2AE-1489-E4B03958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20A665B-52ED-4471-872D-468D5A6893A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zh-CN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52BEB136-F077-272D-97D9-CA83BC1797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数据库缓冲区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244378F-8CE3-2762-4701-6DF80C2F48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3386" y="1412776"/>
            <a:ext cx="5492750" cy="5095007"/>
          </a:xfrm>
        </p:spPr>
        <p:txBody>
          <a:bodyPr/>
          <a:lstStyle/>
          <a:p>
            <a:pPr eaLnBrk="1" hangingPunct="1"/>
            <a:r>
              <a:rPr lang="zh-CN" altLang="en-US" sz="2000" b="1" dirty="0"/>
              <a:t>一个数据库会被映射为多个不同的文件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/>
              <a:t>一个数据库文件还被分割成若干定长的存储器单位：块。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</a:rPr>
              <a:t>块</a:t>
            </a:r>
            <a:r>
              <a:rPr lang="zh-CN" altLang="en-US" sz="2000" b="1" dirty="0"/>
              <a:t>是存储器分配和数据传输的单位</a:t>
            </a:r>
            <a:r>
              <a:rPr lang="en-US" altLang="zh-CN" sz="2000" b="1" dirty="0"/>
              <a:t> </a:t>
            </a:r>
          </a:p>
          <a:p>
            <a:pPr lvl="1" eaLnBrk="1" hangingPunct="1"/>
            <a:r>
              <a:rPr lang="zh-CN" altLang="en-US" sz="1800" b="1" dirty="0"/>
              <a:t>数据文件块</a:t>
            </a:r>
          </a:p>
          <a:p>
            <a:pPr lvl="1" eaLnBrk="1" hangingPunct="1"/>
            <a:r>
              <a:rPr lang="zh-CN" altLang="en-US" sz="1800" b="1" dirty="0"/>
              <a:t>索引文件块</a:t>
            </a:r>
          </a:p>
          <a:p>
            <a:pPr lvl="1" eaLnBrk="1" hangingPunct="1"/>
            <a:r>
              <a:rPr lang="zh-CN" altLang="en-US" sz="1800" b="1" dirty="0"/>
              <a:t>缓冲数据块</a:t>
            </a:r>
          </a:p>
          <a:p>
            <a:pPr eaLnBrk="1" hangingPunct="1"/>
            <a:r>
              <a:rPr lang="zh-CN" altLang="en-US" sz="2000" b="1" dirty="0"/>
              <a:t>数据库系统应</a:t>
            </a:r>
            <a:r>
              <a:rPr lang="zh-CN" altLang="en-US" sz="2000" b="1" dirty="0">
                <a:solidFill>
                  <a:srgbClr val="0000FF"/>
                </a:solidFill>
              </a:rPr>
              <a:t>尽量减少</a:t>
            </a:r>
            <a:r>
              <a:rPr lang="zh-CN" altLang="en-US" sz="2000" b="1" dirty="0">
                <a:solidFill>
                  <a:srgbClr val="FF0000"/>
                </a:solidFill>
              </a:rPr>
              <a:t>磁盘</a:t>
            </a:r>
            <a:r>
              <a:rPr lang="zh-CN" altLang="en-US" sz="2000" b="1" dirty="0"/>
              <a:t>与</a:t>
            </a:r>
            <a:r>
              <a:rPr lang="zh-CN" altLang="en-US" sz="2000" b="1" dirty="0">
                <a:solidFill>
                  <a:srgbClr val="FF0000"/>
                </a:solidFill>
              </a:rPr>
              <a:t>内存</a:t>
            </a:r>
            <a:r>
              <a:rPr lang="zh-CN" altLang="en-US" sz="2000" b="1" dirty="0"/>
              <a:t>间的</a:t>
            </a:r>
            <a:r>
              <a:rPr lang="zh-CN" altLang="en-US" sz="2000" b="1" dirty="0">
                <a:solidFill>
                  <a:srgbClr val="0000FF"/>
                </a:solidFill>
              </a:rPr>
              <a:t>块传输次数</a:t>
            </a:r>
            <a:r>
              <a:rPr lang="zh-CN" altLang="en-US" sz="2000" b="1" dirty="0"/>
              <a:t>：通过将尽可能多的块保持在</a:t>
            </a:r>
            <a:r>
              <a:rPr lang="zh-CN" altLang="en-US" sz="2000" b="1" dirty="0">
                <a:solidFill>
                  <a:srgbClr val="0000FF"/>
                </a:solidFill>
              </a:rPr>
              <a:t>主存</a:t>
            </a:r>
            <a:r>
              <a:rPr lang="zh-CN" altLang="en-US" sz="2000" b="1" dirty="0"/>
              <a:t>中</a:t>
            </a:r>
            <a:endParaRPr lang="en-US" altLang="zh-CN" sz="2000" b="1" dirty="0"/>
          </a:p>
          <a:p>
            <a:pPr eaLnBrk="1" hangingPunct="1"/>
            <a:r>
              <a:rPr lang="zh-CN" altLang="en-US" sz="2000" b="1" dirty="0">
                <a:solidFill>
                  <a:srgbClr val="FF3300"/>
                </a:solidFill>
              </a:rPr>
              <a:t>缓冲区</a:t>
            </a:r>
            <a:r>
              <a:rPr lang="zh-CN" altLang="en-US" sz="2000" b="1" dirty="0"/>
              <a:t>：用于</a:t>
            </a:r>
            <a:r>
              <a:rPr lang="zh-CN" altLang="en-US" sz="2000" b="1" dirty="0">
                <a:solidFill>
                  <a:srgbClr val="0000FF"/>
                </a:solidFill>
              </a:rPr>
              <a:t>保存</a:t>
            </a:r>
            <a:r>
              <a:rPr lang="zh-CN" altLang="en-US" sz="2000" b="1" dirty="0"/>
              <a:t>读入的磁盘块的</a:t>
            </a:r>
            <a:r>
              <a:rPr lang="zh-CN" altLang="en-US" sz="2000" b="1" dirty="0">
                <a:solidFill>
                  <a:srgbClr val="0000FF"/>
                </a:solidFill>
              </a:rPr>
              <a:t>主存空间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sz="2000" b="1" dirty="0">
                <a:solidFill>
                  <a:srgbClr val="FF3300"/>
                </a:solidFill>
              </a:rPr>
              <a:t>缓冲区</a:t>
            </a:r>
            <a:r>
              <a:rPr lang="zh-CN" altLang="en-US" sz="2000" b="1" dirty="0">
                <a:solidFill>
                  <a:srgbClr val="0000FF"/>
                </a:solidFill>
              </a:rPr>
              <a:t>管理器</a:t>
            </a:r>
            <a:r>
              <a:rPr lang="zh-CN" altLang="en-US" sz="2000" b="1" dirty="0">
                <a:solidFill>
                  <a:schemeClr val="tx2"/>
                </a:solidFill>
              </a:rPr>
              <a:t>：</a:t>
            </a:r>
            <a:r>
              <a:rPr lang="zh-CN" altLang="en-US" sz="2000" b="1" dirty="0"/>
              <a:t>负责分配缓冲区空间的</a:t>
            </a:r>
            <a:r>
              <a:rPr lang="zh-CN" altLang="en-US" sz="2000" b="1" dirty="0">
                <a:solidFill>
                  <a:srgbClr val="0000FF"/>
                </a:solidFill>
              </a:rPr>
              <a:t>子系统</a:t>
            </a:r>
            <a:endParaRPr lang="en-US" altLang="zh-CN" sz="20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1800" b="1" dirty="0"/>
              <a:t>类似于虚拟存储器的概念，但是充分考虑了数据库系统实现的特点</a:t>
            </a:r>
          </a:p>
        </p:txBody>
      </p:sp>
      <p:sp>
        <p:nvSpPr>
          <p:cNvPr id="10245" name="Rectangle 0">
            <a:extLst>
              <a:ext uri="{FF2B5EF4-FFF2-40B4-BE49-F238E27FC236}">
                <a16:creationId xmlns:a16="http://schemas.microsoft.com/office/drawing/2014/main" id="{B11F750B-6616-66FE-5094-563168CD3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096" y="2187575"/>
            <a:ext cx="23574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Query Optimization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and Execution</a:t>
            </a:r>
          </a:p>
        </p:txBody>
      </p:sp>
      <p:sp>
        <p:nvSpPr>
          <p:cNvPr id="10246" name="Rectangle 1">
            <a:extLst>
              <a:ext uri="{FF2B5EF4-FFF2-40B4-BE49-F238E27FC236}">
                <a16:creationId xmlns:a16="http://schemas.microsoft.com/office/drawing/2014/main" id="{80D03A32-1D0F-AB19-BE00-0AE588C94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9308" y="3017838"/>
            <a:ext cx="2513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Relational Operators</a:t>
            </a:r>
          </a:p>
        </p:txBody>
      </p:sp>
      <p:sp>
        <p:nvSpPr>
          <p:cNvPr id="10247" name="Rectangle 2">
            <a:extLst>
              <a:ext uri="{FF2B5EF4-FFF2-40B4-BE49-F238E27FC236}">
                <a16:creationId xmlns:a16="http://schemas.microsoft.com/office/drawing/2014/main" id="{FFEFEA67-F420-51D7-93A2-2325D85F2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1808" y="3527425"/>
            <a:ext cx="314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Files and Access Methods</a:t>
            </a:r>
          </a:p>
        </p:txBody>
      </p:sp>
      <p:sp>
        <p:nvSpPr>
          <p:cNvPr id="10248" name="Rectangle 3">
            <a:extLst>
              <a:ext uri="{FF2B5EF4-FFF2-40B4-BE49-F238E27FC236}">
                <a16:creationId xmlns:a16="http://schemas.microsoft.com/office/drawing/2014/main" id="{B951C1BC-7A85-6C5B-DEC4-5A83AE80C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786" y="4110038"/>
            <a:ext cx="2579232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i="0" dirty="0">
                <a:solidFill>
                  <a:schemeClr val="tx2"/>
                </a:solidFill>
                <a:latin typeface="Arial" panose="020B0604020202020204" pitchFamily="34" charset="0"/>
              </a:rPr>
              <a:t>Buffer Management</a:t>
            </a:r>
          </a:p>
        </p:txBody>
      </p:sp>
      <p:sp>
        <p:nvSpPr>
          <p:cNvPr id="10249" name="Rectangle 4">
            <a:extLst>
              <a:ext uri="{FF2B5EF4-FFF2-40B4-BE49-F238E27FC236}">
                <a16:creationId xmlns:a16="http://schemas.microsoft.com/office/drawing/2014/main" id="{7A701A74-61C7-45A5-DCEF-2225E429B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5308" y="4635500"/>
            <a:ext cx="3022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Disk Space Management</a:t>
            </a:r>
          </a:p>
        </p:txBody>
      </p:sp>
      <p:sp>
        <p:nvSpPr>
          <p:cNvPr id="10250" name="Rectangle 5">
            <a:extLst>
              <a:ext uri="{FF2B5EF4-FFF2-40B4-BE49-F238E27FC236}">
                <a16:creationId xmlns:a16="http://schemas.microsoft.com/office/drawing/2014/main" id="{4A371017-34DE-8523-49C8-B53EA5095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708" y="1528763"/>
            <a:ext cx="3222625" cy="3536950"/>
          </a:xfrm>
          <a:prstGeom prst="rect">
            <a:avLst/>
          </a:prstGeom>
          <a:noFill/>
          <a:ln w="508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600">
              <a:latin typeface="Helvetica" panose="020B0604020202020204" pitchFamily="34" charset="0"/>
            </a:endParaRPr>
          </a:p>
        </p:txBody>
      </p:sp>
      <p:sp>
        <p:nvSpPr>
          <p:cNvPr id="10251" name="Line 6">
            <a:extLst>
              <a:ext uri="{FF2B5EF4-FFF2-40B4-BE49-F238E27FC236}">
                <a16:creationId xmlns:a16="http://schemas.microsoft.com/office/drawing/2014/main" id="{F96EDA5D-9BD7-FFFD-5033-5E7C624388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8308" y="2957513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2" name="Line 7">
            <a:extLst>
              <a:ext uri="{FF2B5EF4-FFF2-40B4-BE49-F238E27FC236}">
                <a16:creationId xmlns:a16="http://schemas.microsoft.com/office/drawing/2014/main" id="{24E1A001-41FE-73C3-BB67-71DD6646A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8308" y="3490913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3" name="Line 8">
            <a:extLst>
              <a:ext uri="{FF2B5EF4-FFF2-40B4-BE49-F238E27FC236}">
                <a16:creationId xmlns:a16="http://schemas.microsoft.com/office/drawing/2014/main" id="{CFDF6455-34CD-A309-376B-768F20BEE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8308" y="3948113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4" name="Line 9">
            <a:extLst>
              <a:ext uri="{FF2B5EF4-FFF2-40B4-BE49-F238E27FC236}">
                <a16:creationId xmlns:a16="http://schemas.microsoft.com/office/drawing/2014/main" id="{E240DA2A-FF5B-2AEE-7955-3AA89EA12A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8308" y="4557713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5" name="Oval 10">
            <a:extLst>
              <a:ext uri="{FF2B5EF4-FFF2-40B4-BE49-F238E27FC236}">
                <a16:creationId xmlns:a16="http://schemas.microsoft.com/office/drawing/2014/main" id="{1AC1EF1C-D726-D24C-9D40-D19E07E71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808" y="5561013"/>
            <a:ext cx="1041400" cy="111125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0256" name="Line 11">
            <a:extLst>
              <a:ext uri="{FF2B5EF4-FFF2-40B4-BE49-F238E27FC236}">
                <a16:creationId xmlns:a16="http://schemas.microsoft.com/office/drawing/2014/main" id="{B5F7AB10-19C9-2E65-0CB5-4F507BC0E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1933" y="5613400"/>
            <a:ext cx="3175" cy="5746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7" name="Line 12">
            <a:extLst>
              <a:ext uri="{FF2B5EF4-FFF2-40B4-BE49-F238E27FC236}">
                <a16:creationId xmlns:a16="http://schemas.microsoft.com/office/drawing/2014/main" id="{1E9B5EBB-7482-1052-4E77-5048114C3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6780" y="5613400"/>
            <a:ext cx="12428" cy="574675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58" name="Oval 13">
            <a:extLst>
              <a:ext uri="{FF2B5EF4-FFF2-40B4-BE49-F238E27FC236}">
                <a16:creationId xmlns:a16="http://schemas.microsoft.com/office/drawing/2014/main" id="{C91D5E03-879C-7A02-CB29-2D7DDFBE9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808" y="6126187"/>
            <a:ext cx="1041400" cy="111125"/>
          </a:xfrm>
          <a:prstGeom prst="ellips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0259" name="Rectangle 14">
            <a:extLst>
              <a:ext uri="{FF2B5EF4-FFF2-40B4-BE49-F238E27FC236}">
                <a16:creationId xmlns:a16="http://schemas.microsoft.com/office/drawing/2014/main" id="{7C2903B4-E425-4800-6714-2A9D7BD61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446" y="5753100"/>
            <a:ext cx="501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0" dirty="0">
                <a:solidFill>
                  <a:srgbClr val="280049"/>
                </a:solidFill>
                <a:latin typeface="Arial" panose="020B0604020202020204" pitchFamily="34" charset="0"/>
              </a:rPr>
              <a:t>DB</a:t>
            </a:r>
          </a:p>
        </p:txBody>
      </p:sp>
      <p:sp>
        <p:nvSpPr>
          <p:cNvPr id="10260" name="Line 15">
            <a:extLst>
              <a:ext uri="{FF2B5EF4-FFF2-40B4-BE49-F238E27FC236}">
                <a16:creationId xmlns:a16="http://schemas.microsoft.com/office/drawing/2014/main" id="{DB2544FD-AE02-716F-F94B-2861A7EAF55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2308" y="5091113"/>
            <a:ext cx="0" cy="4572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1" name="Line 16">
            <a:extLst>
              <a:ext uri="{FF2B5EF4-FFF2-40B4-BE49-F238E27FC236}">
                <a16:creationId xmlns:a16="http://schemas.microsoft.com/office/drawing/2014/main" id="{C6E35B66-9B12-BDC8-B216-BC0A2FFCE9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9896" y="2173288"/>
            <a:ext cx="3276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62" name="Rectangle 17">
            <a:extLst>
              <a:ext uri="{FF2B5EF4-FFF2-40B4-BE49-F238E27FC236}">
                <a16:creationId xmlns:a16="http://schemas.microsoft.com/office/drawing/2014/main" id="{D0B9121D-7671-8B3F-15EC-86E7E7E5D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9358" y="1616075"/>
            <a:ext cx="17621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 dirty="0">
                <a:latin typeface="Arial" panose="020B0604020202020204" pitchFamily="34" charset="0"/>
              </a:rPr>
              <a:t>Query Parser </a:t>
            </a:r>
            <a:endParaRPr lang="zh-CN" altLang="en-US" sz="2000" i="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25483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E71172DF-0455-1693-7452-45C31B6B8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48FA3D-8AB0-4DBE-92C2-C1C526274C19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zh-CN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06F6A74-E110-B844-0E97-396045586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缓冲区管理器</a:t>
            </a:r>
            <a:endParaRPr lang="en-US" altLang="zh-CN" b="1"/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AEFF1B2-7929-1F73-B4B7-81270F866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412777"/>
            <a:ext cx="8568952" cy="4320480"/>
          </a:xfrm>
        </p:spPr>
        <p:txBody>
          <a:bodyPr/>
          <a:lstStyle/>
          <a:p>
            <a:pPr marL="533400" indent="-533400" eaLnBrk="1" hangingPunct="1"/>
            <a:r>
              <a:rPr lang="zh-CN" altLang="en-US" sz="2800" b="1" dirty="0"/>
              <a:t>当程序</a:t>
            </a:r>
            <a:r>
              <a:rPr lang="zh-CN" altLang="en-US" sz="2800" b="1" dirty="0">
                <a:solidFill>
                  <a:srgbClr val="0000FF"/>
                </a:solidFill>
              </a:rPr>
              <a:t>请求</a:t>
            </a:r>
            <a:r>
              <a:rPr lang="zh-CN" altLang="en-US" sz="2800" b="1" dirty="0">
                <a:solidFill>
                  <a:srgbClr val="FF0000"/>
                </a:solidFill>
              </a:rPr>
              <a:t>某数据文件块</a:t>
            </a:r>
            <a:r>
              <a:rPr lang="zh-CN" altLang="en-US" sz="2800" b="1" dirty="0"/>
              <a:t>时即</a:t>
            </a:r>
            <a:r>
              <a:rPr lang="zh-CN" altLang="en-US" sz="2800" b="1" dirty="0">
                <a:solidFill>
                  <a:srgbClr val="0000FF"/>
                </a:solidFill>
              </a:rPr>
              <a:t>调用缓冲区管理器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1.</a:t>
            </a:r>
            <a:r>
              <a:rPr lang="zh-CN" altLang="en-US" sz="2200" b="1" dirty="0"/>
              <a:t>如果该块</a:t>
            </a:r>
            <a:r>
              <a:rPr lang="zh-CN" altLang="en-US" sz="2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已经在</a:t>
            </a:r>
            <a:r>
              <a:rPr lang="zh-CN" altLang="en-US" sz="2200" b="1" dirty="0"/>
              <a:t>缓冲区中，则程序得到该块在</a:t>
            </a:r>
            <a:r>
              <a:rPr lang="zh-CN" altLang="en-US" sz="2200" b="1" dirty="0">
                <a:solidFill>
                  <a:srgbClr val="0000FF"/>
                </a:solidFill>
              </a:rPr>
              <a:t>主存中的地址</a:t>
            </a:r>
            <a:endParaRPr lang="en-US" altLang="zh-CN" sz="2200" b="1" dirty="0">
              <a:solidFill>
                <a:srgbClr val="0000FF"/>
              </a:solidFill>
            </a:endParaRPr>
          </a:p>
          <a:p>
            <a:pPr marL="914400" lvl="1" indent="-457200" eaLnBrk="1" hangingPunct="1">
              <a:buFont typeface="Wingdings" panose="05000000000000000000" pitchFamily="2" charset="2"/>
              <a:buNone/>
            </a:pPr>
            <a:r>
              <a:rPr lang="en-US" altLang="zh-CN" sz="2200" b="1" dirty="0"/>
              <a:t>2.</a:t>
            </a:r>
            <a:r>
              <a:rPr lang="zh-CN" altLang="en-US" sz="2200" b="1" dirty="0"/>
              <a:t>如果该块</a:t>
            </a:r>
            <a:r>
              <a:rPr lang="zh-CN" altLang="en-US" sz="22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不在</a:t>
            </a:r>
            <a:r>
              <a:rPr lang="zh-CN" altLang="en-US" sz="2200" b="1" dirty="0"/>
              <a:t>缓冲区中，则</a:t>
            </a:r>
          </a:p>
          <a:p>
            <a:pPr marL="1238250" lvl="2" indent="-323850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2-1 </a:t>
            </a:r>
            <a:r>
              <a:rPr lang="zh-CN" altLang="en-US" sz="2000" b="1" dirty="0"/>
              <a:t>缓冲区管理器为该块</a:t>
            </a:r>
            <a:r>
              <a:rPr lang="zh-CN" altLang="en-US" sz="2000" b="1" dirty="0">
                <a:solidFill>
                  <a:srgbClr val="0000FF"/>
                </a:solidFill>
              </a:rPr>
              <a:t>分配</a:t>
            </a:r>
            <a:r>
              <a:rPr lang="zh-CN" altLang="en-US" sz="2000" b="1" dirty="0"/>
              <a:t>缓冲区空间，如果有必要</a:t>
            </a:r>
            <a:r>
              <a:rPr lang="zh-CN" altLang="en-US" sz="2000" b="1" dirty="0">
                <a:solidFill>
                  <a:srgbClr val="0000FF"/>
                </a:solidFill>
              </a:rPr>
              <a:t>需换出其它块</a:t>
            </a:r>
            <a:r>
              <a:rPr lang="zh-CN" altLang="en-US" sz="2000" b="1" dirty="0"/>
              <a:t>来为该新块腾出空间</a:t>
            </a:r>
            <a:endParaRPr lang="en-US" altLang="zh-CN" sz="2000" b="1" dirty="0"/>
          </a:p>
          <a:p>
            <a:pPr marL="1238250" lvl="2" indent="-323850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2-2 </a:t>
            </a:r>
            <a:r>
              <a:rPr lang="zh-CN" altLang="en-US" sz="2000" b="1" dirty="0"/>
              <a:t>如果</a:t>
            </a:r>
            <a:r>
              <a:rPr lang="zh-CN" altLang="en-US" sz="2000" b="1" dirty="0">
                <a:solidFill>
                  <a:srgbClr val="0000FF"/>
                </a:solidFill>
              </a:rPr>
              <a:t>被换出的块</a:t>
            </a:r>
            <a:r>
              <a:rPr lang="zh-CN" altLang="en-US" sz="2000" b="1" dirty="0"/>
              <a:t>自从最近一次写回磁盘或从磁盘读入之后</a:t>
            </a:r>
            <a:r>
              <a:rPr lang="zh-CN" altLang="en-US" sz="2000" b="1" dirty="0">
                <a:solidFill>
                  <a:srgbClr val="FF0000"/>
                </a:solidFill>
              </a:rPr>
              <a:t>做过修改</a:t>
            </a:r>
            <a:r>
              <a:rPr lang="zh-CN" altLang="en-US" sz="2000" b="1" dirty="0"/>
              <a:t>，则</a:t>
            </a:r>
            <a:r>
              <a:rPr lang="zh-CN" altLang="en-US" sz="2000" b="1" dirty="0">
                <a:solidFill>
                  <a:srgbClr val="0000FF"/>
                </a:solidFill>
              </a:rPr>
              <a:t>需写回磁盘</a:t>
            </a:r>
            <a:r>
              <a:rPr lang="zh-CN" altLang="en-US" sz="2000" b="1" dirty="0"/>
              <a:t>；否则</a:t>
            </a:r>
            <a:r>
              <a:rPr lang="zh-CN" altLang="en-US" sz="2000" b="1" dirty="0">
                <a:solidFill>
                  <a:srgbClr val="0000FF"/>
                </a:solidFill>
              </a:rPr>
              <a:t>直接</a:t>
            </a:r>
            <a:r>
              <a:rPr lang="zh-CN" altLang="en-US" sz="20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替换</a:t>
            </a:r>
          </a:p>
          <a:p>
            <a:pPr marL="1238250" lvl="2" indent="-323850" eaLnBrk="1" hangingPunct="1">
              <a:buFont typeface="Wingdings" panose="05000000000000000000" pitchFamily="2" charset="2"/>
              <a:buNone/>
            </a:pPr>
            <a:r>
              <a:rPr lang="en-US" altLang="zh-CN" sz="2000" b="1" dirty="0"/>
              <a:t>2-3 </a:t>
            </a:r>
            <a:r>
              <a:rPr lang="zh-CN" altLang="en-US" sz="2000" b="1" dirty="0"/>
              <a:t>一旦在缓冲区中分配了空间，缓冲区管理器就从磁盘将该块</a:t>
            </a:r>
            <a:r>
              <a:rPr lang="zh-CN" altLang="en-US" sz="2000" b="1" dirty="0">
                <a:solidFill>
                  <a:srgbClr val="0000FF"/>
                </a:solidFill>
              </a:rPr>
              <a:t>读入缓冲区</a:t>
            </a:r>
            <a:r>
              <a:rPr lang="zh-CN" altLang="en-US" sz="2000" b="1" dirty="0"/>
              <a:t>，并将该块在</a:t>
            </a:r>
            <a:r>
              <a:rPr lang="zh-CN" altLang="en-US" sz="2000" b="1" dirty="0">
                <a:solidFill>
                  <a:srgbClr val="0000FF"/>
                </a:solidFill>
              </a:rPr>
              <a:t>主存中的地址</a:t>
            </a:r>
            <a:r>
              <a:rPr lang="zh-CN" altLang="en-US" sz="2000" b="1" dirty="0"/>
              <a:t>传给请求者</a:t>
            </a:r>
            <a:endParaRPr lang="en-US" altLang="zh-CN" sz="2000" b="1" dirty="0"/>
          </a:p>
          <a:p>
            <a:pPr marL="914400" lvl="1" indent="-457200">
              <a:buNone/>
            </a:pPr>
            <a:r>
              <a:rPr lang="en-US" altLang="zh-CN" sz="2200" b="1" dirty="0"/>
              <a:t>3.</a:t>
            </a:r>
            <a:r>
              <a:rPr lang="zh-CN" altLang="en-US" sz="2200" b="1" dirty="0"/>
              <a:t>上述替换操作</a:t>
            </a:r>
            <a:r>
              <a:rPr lang="zh-CN" altLang="en-US" sz="2200" b="1" u="sng" dirty="0">
                <a:solidFill>
                  <a:srgbClr val="0000FF"/>
                </a:solidFill>
              </a:rPr>
              <a:t>对于</a:t>
            </a:r>
            <a:r>
              <a:rPr lang="zh-CN" altLang="en-US" sz="2200" b="1" u="sng" dirty="0">
                <a:solidFill>
                  <a:srgbClr val="FF0000"/>
                </a:solidFill>
              </a:rPr>
              <a:t>查询执行</a:t>
            </a:r>
            <a:r>
              <a:rPr lang="zh-CN" altLang="en-US" sz="2200" b="1" u="sng" dirty="0">
                <a:solidFill>
                  <a:srgbClr val="0000FF"/>
                </a:solidFill>
              </a:rPr>
              <a:t>来讲是透明</a:t>
            </a:r>
            <a:r>
              <a:rPr lang="zh-CN" altLang="en-US" sz="2200" b="1" u="sng" dirty="0"/>
              <a:t>的</a:t>
            </a:r>
            <a:r>
              <a:rPr lang="zh-CN" altLang="en-US" sz="2200" b="1" dirty="0"/>
              <a:t>。通过缓冲区的管理，</a:t>
            </a:r>
            <a:r>
              <a:rPr lang="zh-CN" altLang="en-US" sz="2200" b="1" dirty="0">
                <a:solidFill>
                  <a:srgbClr val="0000FF"/>
                </a:solidFill>
              </a:rPr>
              <a:t>查询执行器</a:t>
            </a:r>
            <a:r>
              <a:rPr lang="zh-CN" altLang="en-US" sz="2200" b="1" dirty="0"/>
              <a:t>认为所有数据块都放在内存里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190634260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6AF9EC39-F4BE-3EF8-2D14-D8DA164D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00800"/>
            <a:ext cx="21336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A4DE7D-1E94-4F4E-AE18-E3C76BCAF503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zh-CN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009DD37-B943-55FF-0EB3-F9DF442E28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缓冲区替换策略</a:t>
            </a:r>
            <a:endParaRPr lang="en-US" altLang="zh-CN" b="1"/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D7E812C-B823-4EF1-262A-9A4A65719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2612" y="1356444"/>
            <a:ext cx="8361363" cy="5168900"/>
          </a:xfrm>
        </p:spPr>
        <p:txBody>
          <a:bodyPr/>
          <a:lstStyle/>
          <a:p>
            <a:pPr eaLnBrk="1" hangingPunct="1"/>
            <a:r>
              <a:rPr lang="zh-CN" altLang="en-US" sz="2400" b="1" dirty="0"/>
              <a:t>多数操作系统采用</a:t>
            </a:r>
            <a:r>
              <a:rPr lang="zh-CN" altLang="en-US" sz="2400" b="1" dirty="0">
                <a:solidFill>
                  <a:srgbClr val="FF3300"/>
                </a:solidFill>
              </a:rPr>
              <a:t>最近最少使用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FF3300"/>
                </a:solidFill>
              </a:rPr>
              <a:t>LRU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缓冲区</a:t>
            </a:r>
            <a:r>
              <a:rPr lang="zh-CN" altLang="en-US" sz="2400" b="1" dirty="0">
                <a:solidFill>
                  <a:srgbClr val="FF0000"/>
                </a:solidFill>
              </a:rPr>
              <a:t>替换</a:t>
            </a:r>
            <a:r>
              <a:rPr lang="zh-CN" altLang="en-US" sz="2400" b="1" dirty="0">
                <a:solidFill>
                  <a:srgbClr val="0000FF"/>
                </a:solidFill>
              </a:rPr>
              <a:t>策略</a:t>
            </a:r>
          </a:p>
          <a:p>
            <a:pPr lvl="1"/>
            <a:r>
              <a:rPr lang="zh-CN" altLang="en-US" sz="2000" b="1" dirty="0"/>
              <a:t>最近访问最少的块被写会磁盘，并从缓冲区移走</a:t>
            </a:r>
            <a:endParaRPr lang="en-US" altLang="zh-CN" sz="2000" b="1" dirty="0"/>
          </a:p>
          <a:p>
            <a:pPr eaLnBrk="1" hangingPunct="1"/>
            <a:r>
              <a:rPr lang="zh-CN" altLang="en-US" sz="2400" b="1" dirty="0"/>
              <a:t>在查询存取模式（如顺序扫描）时，</a:t>
            </a:r>
            <a:r>
              <a:rPr lang="zh-CN" altLang="en-US" sz="2400" b="1" dirty="0">
                <a:solidFill>
                  <a:srgbClr val="FF0000"/>
                </a:solidFill>
              </a:rPr>
              <a:t>数据库系统</a:t>
            </a:r>
            <a:r>
              <a:rPr lang="zh-CN" altLang="en-US" sz="2400" b="1" dirty="0"/>
              <a:t>可根据具体算法的执行，</a:t>
            </a:r>
            <a:r>
              <a:rPr lang="zh-CN" altLang="en-US" sz="2400" b="1" dirty="0">
                <a:solidFill>
                  <a:srgbClr val="FF0000"/>
                </a:solidFill>
              </a:rPr>
              <a:t>设置更加有效</a:t>
            </a:r>
            <a:r>
              <a:rPr lang="zh-CN" altLang="en-US" sz="2400" b="1" dirty="0"/>
              <a:t>的缓冲区替换策略</a:t>
            </a:r>
            <a:endParaRPr lang="en-US" altLang="zh-CN" sz="2400" b="1" dirty="0"/>
          </a:p>
          <a:p>
            <a:pPr lvl="1" eaLnBrk="1" hangingPunct="1"/>
            <a:r>
              <a:rPr lang="en-US" altLang="zh-CN" sz="2400" b="1" dirty="0"/>
              <a:t>LRU </a:t>
            </a:r>
            <a:r>
              <a:rPr lang="zh-CN" altLang="en-US" sz="2400" b="1" dirty="0"/>
              <a:t>对某些</a:t>
            </a:r>
            <a:r>
              <a:rPr lang="zh-CN" altLang="en-US" sz="2400" b="1" dirty="0">
                <a:solidFill>
                  <a:srgbClr val="0000FF"/>
                </a:solidFill>
              </a:rPr>
              <a:t>涉及</a:t>
            </a:r>
            <a:r>
              <a:rPr lang="zh-CN" altLang="en-US" sz="2400" b="1" dirty="0">
                <a:solidFill>
                  <a:srgbClr val="FF0000"/>
                </a:solidFill>
              </a:rPr>
              <a:t>重复扫描数据</a:t>
            </a:r>
            <a:r>
              <a:rPr lang="zh-CN" altLang="en-US" sz="2400" b="1" dirty="0"/>
              <a:t>的存取模式来说是</a:t>
            </a:r>
            <a:r>
              <a:rPr lang="zh-CN" altLang="en-US" sz="2400" b="1" dirty="0">
                <a:solidFill>
                  <a:srgbClr val="0000FF"/>
                </a:solidFill>
              </a:rPr>
              <a:t>很差</a:t>
            </a:r>
            <a:r>
              <a:rPr lang="zh-CN" altLang="en-US" sz="2400" b="1" dirty="0"/>
              <a:t>的策略</a:t>
            </a:r>
            <a:endParaRPr lang="en-US" altLang="zh-CN" sz="2400" b="1" dirty="0"/>
          </a:p>
          <a:p>
            <a:pPr lvl="2" eaLnBrk="1" hangingPunct="1"/>
            <a:r>
              <a:rPr lang="zh-CN" altLang="en-US" sz="2000" b="1" dirty="0"/>
              <a:t>例如当用嵌套循环算法计算两个关系</a:t>
            </a:r>
            <a:r>
              <a:rPr lang="en-US" altLang="zh-CN" sz="2000" b="1" dirty="0"/>
              <a:t> r </a:t>
            </a:r>
            <a:r>
              <a:rPr lang="zh-CN" altLang="en-US" sz="2000" b="1" dirty="0"/>
              <a:t>与</a:t>
            </a:r>
            <a:r>
              <a:rPr lang="en-US" altLang="zh-CN" sz="2000" b="1" dirty="0"/>
              <a:t>s </a:t>
            </a:r>
            <a:r>
              <a:rPr lang="zh-CN" altLang="en-US" sz="2000" b="1" dirty="0"/>
              <a:t>的连接时</a:t>
            </a:r>
            <a:br>
              <a:rPr lang="en-US" altLang="zh-CN" sz="2000" b="1" dirty="0"/>
            </a:br>
            <a:r>
              <a:rPr lang="en-US" altLang="zh-CN" b="1" dirty="0"/>
              <a:t>  for each tuple </a:t>
            </a:r>
            <a:r>
              <a:rPr lang="en-US" altLang="zh-CN" b="1" i="1" dirty="0"/>
              <a:t>tr</a:t>
            </a:r>
            <a:r>
              <a:rPr lang="en-US" altLang="zh-CN" b="1" dirty="0"/>
              <a:t> of </a:t>
            </a:r>
            <a:r>
              <a:rPr lang="en-US" altLang="zh-CN" b="1" i="1" dirty="0"/>
              <a:t>r</a:t>
            </a:r>
            <a:r>
              <a:rPr lang="en-US" altLang="zh-CN" b="1" dirty="0"/>
              <a:t> do </a:t>
            </a:r>
            <a:br>
              <a:rPr lang="en-US" altLang="zh-CN" b="1" dirty="0"/>
            </a:br>
            <a:r>
              <a:rPr lang="en-US" altLang="zh-CN" b="1" dirty="0"/>
              <a:t>     for each tuple </a:t>
            </a:r>
            <a:r>
              <a:rPr lang="en-US" altLang="zh-CN" b="1" i="1" dirty="0" err="1">
                <a:solidFill>
                  <a:srgbClr val="FF0000"/>
                </a:solidFill>
              </a:rPr>
              <a:t>ts</a:t>
            </a:r>
            <a:r>
              <a:rPr lang="en-US" altLang="zh-CN" b="1" dirty="0"/>
              <a:t> of </a:t>
            </a:r>
            <a:r>
              <a:rPr lang="en-US" altLang="zh-CN" b="1" i="1" dirty="0"/>
              <a:t>s</a:t>
            </a:r>
            <a:r>
              <a:rPr lang="en-US" altLang="zh-CN" b="1" dirty="0"/>
              <a:t> do </a:t>
            </a:r>
            <a:br>
              <a:rPr lang="en-US" altLang="zh-CN" b="1" dirty="0"/>
            </a:br>
            <a:r>
              <a:rPr lang="en-US" altLang="zh-CN" b="1" dirty="0"/>
              <a:t>       if the tuples </a:t>
            </a:r>
            <a:r>
              <a:rPr lang="en-US" altLang="zh-CN" b="1" i="1" dirty="0"/>
              <a:t>tr</a:t>
            </a:r>
            <a:r>
              <a:rPr lang="en-US" altLang="zh-CN" b="1" dirty="0"/>
              <a:t> and </a:t>
            </a:r>
            <a:r>
              <a:rPr lang="en-US" altLang="zh-CN" b="1" i="1" dirty="0" err="1"/>
              <a:t>ts</a:t>
            </a:r>
            <a:r>
              <a:rPr lang="en-US" altLang="zh-CN" b="1" dirty="0"/>
              <a:t> match </a:t>
            </a:r>
            <a:r>
              <a:rPr lang="en-US" altLang="zh-CN" b="1" dirty="0">
                <a:latin typeface="Arial" panose="020B0604020202020204" pitchFamily="34" charset="0"/>
              </a:rPr>
              <a:t>…</a:t>
            </a:r>
            <a:endParaRPr lang="en-US" altLang="zh-CN" b="1" dirty="0"/>
          </a:p>
          <a:p>
            <a:pPr lvl="1" eaLnBrk="1" hangingPunct="1"/>
            <a:r>
              <a:rPr lang="zh-CN" altLang="en-US" sz="2400" b="1" dirty="0"/>
              <a:t>由</a:t>
            </a:r>
            <a:r>
              <a:rPr lang="zh-CN" altLang="en-US" sz="2400" b="1" dirty="0">
                <a:solidFill>
                  <a:srgbClr val="FF0000"/>
                </a:solidFill>
              </a:rPr>
              <a:t>查询优化器</a:t>
            </a:r>
            <a:r>
              <a:rPr lang="zh-CN" altLang="en-US" sz="2400" b="1" dirty="0"/>
              <a:t>可以向缓冲区管理系统提供</a:t>
            </a:r>
            <a:r>
              <a:rPr lang="zh-CN" altLang="en-US" sz="2400" b="1" dirty="0">
                <a:solidFill>
                  <a:srgbClr val="FF3300"/>
                </a:solidFill>
              </a:rPr>
              <a:t>启发式知识</a:t>
            </a:r>
            <a:endParaRPr lang="en-US" altLang="zh-CN" sz="24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584817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DAE7943D-F70D-B2CA-415E-77997F4B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532D72-5925-4035-BC82-EA687569AD46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zh-CN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A4F8A01-F0B7-99E6-4B5B-4CF63DF58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缓冲替换策略示例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24CF37F-8840-07BE-0348-CD21341058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03648" y="1484784"/>
            <a:ext cx="7313612" cy="469900"/>
          </a:xfrm>
        </p:spPr>
        <p:txBody>
          <a:bodyPr/>
          <a:lstStyle/>
          <a:p>
            <a:pPr eaLnBrk="1" hangingPunct="1"/>
            <a:r>
              <a:rPr lang="en-US" altLang="zh-CN" dirty="0"/>
              <a:t>Borrower       Join     Customer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CE0A4134-E800-FD45-CCCB-F31E70982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5100" y="2085653"/>
            <a:ext cx="1109663" cy="333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18" name="Rectangle 5">
            <a:extLst>
              <a:ext uri="{FF2B5EF4-FFF2-40B4-BE49-F238E27FC236}">
                <a16:creationId xmlns:a16="http://schemas.microsoft.com/office/drawing/2014/main" id="{96075889-304B-A52E-3937-8267BC75F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633340"/>
            <a:ext cx="1109662" cy="333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19" name="Rectangle 6">
            <a:extLst>
              <a:ext uri="{FF2B5EF4-FFF2-40B4-BE49-F238E27FC236}">
                <a16:creationId xmlns:a16="http://schemas.microsoft.com/office/drawing/2014/main" id="{06DC2A87-5D4D-144D-2AD6-541163923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2400" y="3244528"/>
            <a:ext cx="1109663" cy="333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DB330696-5E93-1706-BD24-364745161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8" y="3792215"/>
            <a:ext cx="1109662" cy="3333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CF2BED3E-B246-30FF-4649-CA5778E47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2093590"/>
            <a:ext cx="1109663" cy="333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464B3F24-C25A-14DF-0E64-EAE6D71BC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888" y="2641278"/>
            <a:ext cx="1109662" cy="333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3" name="Rectangle 10">
            <a:extLst>
              <a:ext uri="{FF2B5EF4-FFF2-40B4-BE49-F238E27FC236}">
                <a16:creationId xmlns:a16="http://schemas.microsoft.com/office/drawing/2014/main" id="{9F4433B9-2147-6DE1-FAF8-8ACF40174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8950" y="3252465"/>
            <a:ext cx="1109663" cy="333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4" name="Rectangle 11">
            <a:extLst>
              <a:ext uri="{FF2B5EF4-FFF2-40B4-BE49-F238E27FC236}">
                <a16:creationId xmlns:a16="http://schemas.microsoft.com/office/drawing/2014/main" id="{E3F52413-74A6-BA3F-F5A2-68A9B802D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8" y="3800153"/>
            <a:ext cx="1109662" cy="3333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Helvetica" panose="020B0604020202020204" pitchFamily="34" charset="0"/>
            </a:endParaRPr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3EAC500B-0238-010C-6A8A-E17D8D189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84600" y="2223765"/>
            <a:ext cx="1774825" cy="509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26" name="Line 13">
            <a:extLst>
              <a:ext uri="{FF2B5EF4-FFF2-40B4-BE49-F238E27FC236}">
                <a16:creationId xmlns:a16="http://schemas.microsoft.com/office/drawing/2014/main" id="{CAE6CD2E-F32D-A95C-E208-053FFB6A1B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200" y="2746053"/>
            <a:ext cx="1841500" cy="73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27" name="Line 14">
            <a:extLst>
              <a:ext uri="{FF2B5EF4-FFF2-40B4-BE49-F238E27FC236}">
                <a16:creationId xmlns:a16="http://schemas.microsoft.com/office/drawing/2014/main" id="{06A242EF-084F-13AC-61AB-69474E9FF0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0788" y="2733353"/>
            <a:ext cx="1798637" cy="65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28" name="Line 15">
            <a:extLst>
              <a:ext uri="{FF2B5EF4-FFF2-40B4-BE49-F238E27FC236}">
                <a16:creationId xmlns:a16="http://schemas.microsoft.com/office/drawing/2014/main" id="{427DAA75-36B1-8E07-64CE-AA89C5E0A3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3175" y="2773040"/>
            <a:ext cx="1746250" cy="1182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29" name="Rectangle 16">
            <a:extLst>
              <a:ext uri="{FF2B5EF4-FFF2-40B4-BE49-F238E27FC236}">
                <a16:creationId xmlns:a16="http://schemas.microsoft.com/office/drawing/2014/main" id="{61EB0C34-B27D-455F-96FA-39449427B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" y="4441826"/>
            <a:ext cx="8188325" cy="2112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500" b="1" i="0" dirty="0"/>
              <a:t>Borrower</a:t>
            </a:r>
            <a:r>
              <a:rPr lang="zh-CN" altLang="en-US" sz="2500" b="1" i="0" dirty="0"/>
              <a:t>是循环的</a:t>
            </a:r>
            <a:r>
              <a:rPr lang="zh-CN" altLang="en-US" sz="2500" b="1" i="0" dirty="0">
                <a:solidFill>
                  <a:srgbClr val="0000FF"/>
                </a:solidFill>
              </a:rPr>
              <a:t>外层</a:t>
            </a:r>
            <a:r>
              <a:rPr lang="zh-CN" altLang="en-US" sz="2500" b="1" i="0" dirty="0"/>
              <a:t>，</a:t>
            </a:r>
            <a:r>
              <a:rPr lang="en-US" altLang="zh-CN" sz="2500" b="1" i="0" dirty="0"/>
              <a:t>Customer</a:t>
            </a:r>
            <a:r>
              <a:rPr lang="zh-CN" altLang="en-US" sz="2500" b="1" i="0" dirty="0"/>
              <a:t>是循环的</a:t>
            </a:r>
            <a:r>
              <a:rPr lang="zh-CN" altLang="en-US" sz="2500" b="1" i="0" dirty="0">
                <a:solidFill>
                  <a:srgbClr val="0000FF"/>
                </a:solidFill>
              </a:rPr>
              <a:t>内层</a:t>
            </a:r>
          </a:p>
          <a:p>
            <a:pPr algn="l" eaLnBrk="1" hangingPunct="1"/>
            <a:r>
              <a:rPr lang="zh-CN" altLang="en-US" sz="2500" b="1" i="0" dirty="0"/>
              <a:t>对于</a:t>
            </a:r>
            <a:r>
              <a:rPr lang="en-US" altLang="zh-CN" sz="2500" b="1" i="0" dirty="0"/>
              <a:t>Borrower</a:t>
            </a:r>
            <a:r>
              <a:rPr lang="zh-CN" altLang="en-US" sz="2500" b="1" i="0" dirty="0"/>
              <a:t>的块来讲，循环之后，就</a:t>
            </a:r>
            <a:r>
              <a:rPr lang="zh-CN" altLang="en-US" sz="2500" b="1" i="0" dirty="0">
                <a:solidFill>
                  <a:srgbClr val="0000FF"/>
                </a:solidFill>
              </a:rPr>
              <a:t>不再使用</a:t>
            </a:r>
          </a:p>
          <a:p>
            <a:pPr algn="l" eaLnBrk="1" hangingPunct="1"/>
            <a:r>
              <a:rPr lang="zh-CN" altLang="en-US" sz="2500" b="1" i="0" dirty="0"/>
              <a:t>对于</a:t>
            </a:r>
            <a:r>
              <a:rPr lang="en-US" altLang="zh-CN" sz="2500" b="1" i="0" dirty="0"/>
              <a:t>Customer</a:t>
            </a:r>
            <a:r>
              <a:rPr lang="zh-CN" altLang="en-US" sz="2500" b="1" i="0" dirty="0"/>
              <a:t>的块来讲，对于每个</a:t>
            </a:r>
            <a:r>
              <a:rPr lang="en-US" altLang="zh-CN" sz="2500" b="1" i="0" dirty="0"/>
              <a:t>Borrower</a:t>
            </a:r>
            <a:r>
              <a:rPr lang="zh-CN" altLang="en-US" sz="2500" b="1" i="0" dirty="0"/>
              <a:t>的块，</a:t>
            </a:r>
            <a:r>
              <a:rPr lang="en-US" altLang="zh-CN" sz="2500" b="1" i="0" dirty="0"/>
              <a:t> Customer</a:t>
            </a:r>
            <a:r>
              <a:rPr lang="zh-CN" altLang="en-US" sz="2500" b="1" i="0" dirty="0"/>
              <a:t>都要</a:t>
            </a:r>
            <a:r>
              <a:rPr lang="zh-CN" altLang="en-US" sz="2500" b="1" i="0" dirty="0">
                <a:solidFill>
                  <a:srgbClr val="0000FF"/>
                </a:solidFill>
              </a:rPr>
              <a:t>重新循环一次</a:t>
            </a:r>
            <a:r>
              <a:rPr lang="zh-CN" altLang="en-US" sz="2500" b="1" i="0" dirty="0"/>
              <a:t>。如果需要替换，则最好</a:t>
            </a:r>
            <a:r>
              <a:rPr lang="zh-CN" altLang="en-US" sz="2500" b="1" i="0" dirty="0">
                <a:solidFill>
                  <a:srgbClr val="FF0000"/>
                </a:solidFill>
              </a:rPr>
              <a:t>替换</a:t>
            </a:r>
            <a:r>
              <a:rPr lang="zh-CN" altLang="en-US" sz="2500" b="1" i="0" dirty="0">
                <a:solidFill>
                  <a:srgbClr val="0000FF"/>
                </a:solidFill>
              </a:rPr>
              <a:t>最近使用</a:t>
            </a:r>
            <a:r>
              <a:rPr lang="zh-CN" altLang="en-US" sz="2500" b="1" i="0" dirty="0"/>
              <a:t>的块</a:t>
            </a:r>
            <a:r>
              <a:rPr lang="en-US" altLang="zh-CN" sz="2500" b="1" i="0" dirty="0"/>
              <a:t>(MRU)</a:t>
            </a:r>
          </a:p>
        </p:txBody>
      </p:sp>
    </p:spTree>
    <p:extLst>
      <p:ext uri="{BB962C8B-B14F-4D97-AF65-F5344CB8AC3E}">
        <p14:creationId xmlns:p14="http://schemas.microsoft.com/office/powerpoint/2010/main" val="151613645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443CFA69-D0AE-0E24-0885-01D24396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sz="2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5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sz="2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sz="19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CE50C4-1938-463D-8DBA-E3CAC751553B}" type="slidenum">
              <a:rPr lang="zh-CN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zh-CN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F88898E-72F8-B1E0-F3F3-F55DF14B4F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缓冲区管理特点</a:t>
            </a:r>
            <a:endParaRPr lang="en-US" altLang="zh-CN" b="1"/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880DEF93-E1D0-DE28-F745-7218E8F49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4375" y="1412776"/>
            <a:ext cx="7981950" cy="5005388"/>
          </a:xfrm>
        </p:spPr>
        <p:txBody>
          <a:bodyPr/>
          <a:lstStyle/>
          <a:p>
            <a:pPr eaLnBrk="1" hangingPunct="1"/>
            <a:r>
              <a:rPr lang="zh-CN" altLang="en-US" sz="2500" b="1" dirty="0">
                <a:solidFill>
                  <a:schemeClr val="tx2"/>
                </a:solidFill>
              </a:rPr>
              <a:t>相对于操作系统中的虚拟存储系统</a:t>
            </a:r>
            <a:r>
              <a:rPr lang="zh-CN" altLang="en-US" sz="2500" b="1" dirty="0"/>
              <a:t>，</a:t>
            </a:r>
            <a:r>
              <a:rPr lang="zh-CN" altLang="en-US" sz="2500" b="1" dirty="0">
                <a:solidFill>
                  <a:schemeClr val="tx2"/>
                </a:solidFill>
              </a:rPr>
              <a:t>缓冲区管理支持更加复杂的功能</a:t>
            </a:r>
          </a:p>
          <a:p>
            <a:pPr lvl="1" eaLnBrk="1" hangingPunct="1"/>
            <a:r>
              <a:rPr lang="zh-CN" altLang="en-US" sz="2100" b="1" dirty="0"/>
              <a:t>支持</a:t>
            </a:r>
            <a:r>
              <a:rPr lang="zh-CN" altLang="en-US" sz="2100" b="1" dirty="0">
                <a:solidFill>
                  <a:srgbClr val="FF3300"/>
                </a:solidFill>
              </a:rPr>
              <a:t>钉住</a:t>
            </a:r>
            <a:r>
              <a:rPr lang="zh-CN" altLang="en-US" sz="2100" b="1" dirty="0">
                <a:solidFill>
                  <a:schemeClr val="tx2"/>
                </a:solidFill>
              </a:rPr>
              <a:t>(</a:t>
            </a:r>
            <a:r>
              <a:rPr lang="en-US" altLang="zh-CN" sz="2100" b="1" dirty="0">
                <a:solidFill>
                  <a:schemeClr val="tx2"/>
                </a:solidFill>
              </a:rPr>
              <a:t>Pinned)</a:t>
            </a:r>
            <a:r>
              <a:rPr lang="zh-CN" altLang="en-US" sz="2100" b="1" dirty="0">
                <a:solidFill>
                  <a:schemeClr val="tx2"/>
                </a:solidFill>
              </a:rPr>
              <a:t>：</a:t>
            </a:r>
            <a:r>
              <a:rPr lang="zh-CN" altLang="en-US" sz="2100" b="1" dirty="0"/>
              <a:t>不允许写回磁盘的内存块。如</a:t>
            </a:r>
            <a:r>
              <a:rPr lang="zh-CN" altLang="en-US" sz="2100" b="1" u="sng" dirty="0"/>
              <a:t>循环连接中</a:t>
            </a:r>
            <a:r>
              <a:rPr lang="zh-CN" altLang="en-US" sz="2100" b="1" dirty="0"/>
              <a:t>的</a:t>
            </a:r>
            <a:r>
              <a:rPr lang="zh-CN" altLang="en-US" sz="2100" b="1" dirty="0">
                <a:solidFill>
                  <a:srgbClr val="0000FF"/>
                </a:solidFill>
              </a:rPr>
              <a:t>内层循环中的数据块</a:t>
            </a:r>
          </a:p>
          <a:p>
            <a:pPr lvl="1" eaLnBrk="1" hangingPunct="1"/>
            <a:r>
              <a:rPr lang="zh-CN" altLang="en-US" sz="2100" b="1" dirty="0"/>
              <a:t>支持</a:t>
            </a:r>
            <a:r>
              <a:rPr lang="zh-CN" altLang="en-US" sz="2100" b="1" dirty="0">
                <a:solidFill>
                  <a:srgbClr val="FF3300"/>
                </a:solidFill>
              </a:rPr>
              <a:t>立即替换</a:t>
            </a:r>
            <a:r>
              <a:rPr lang="zh-CN" altLang="en-US" sz="2100" b="1" dirty="0">
                <a:solidFill>
                  <a:schemeClr val="tx2"/>
                </a:solidFill>
              </a:rPr>
              <a:t>(</a:t>
            </a:r>
            <a:r>
              <a:rPr lang="en-US" altLang="zh-CN" sz="2100" b="1" dirty="0">
                <a:solidFill>
                  <a:schemeClr val="tx2"/>
                </a:solidFill>
              </a:rPr>
              <a:t>Toss-immediate)</a:t>
            </a:r>
            <a:r>
              <a:rPr lang="zh-CN" altLang="en-US" sz="2100" b="1" dirty="0"/>
              <a:t>策略：如</a:t>
            </a:r>
            <a:r>
              <a:rPr lang="zh-CN" altLang="en-US" sz="2100" b="1" u="sng" dirty="0"/>
              <a:t>循环连接中</a:t>
            </a:r>
            <a:r>
              <a:rPr lang="zh-CN" altLang="en-US" sz="2100" b="1" dirty="0">
                <a:solidFill>
                  <a:srgbClr val="0000FF"/>
                </a:solidFill>
              </a:rPr>
              <a:t>外层循环中</a:t>
            </a:r>
            <a:r>
              <a:rPr lang="zh-CN" altLang="en-US" sz="2100" b="1" dirty="0"/>
              <a:t>数据库块中</a:t>
            </a:r>
            <a:r>
              <a:rPr lang="zh-CN" altLang="en-US" sz="2100" b="1" dirty="0">
                <a:solidFill>
                  <a:srgbClr val="0000FF"/>
                </a:solidFill>
              </a:rPr>
              <a:t>最后一条元组被处理完</a:t>
            </a:r>
            <a:r>
              <a:rPr lang="zh-CN" altLang="en-US" sz="2100" b="1" dirty="0"/>
              <a:t>就</a:t>
            </a:r>
            <a:r>
              <a:rPr lang="zh-CN" altLang="en-US" sz="2100" b="1" dirty="0">
                <a:solidFill>
                  <a:srgbClr val="FF0000"/>
                </a:solidFill>
              </a:rPr>
              <a:t>释放</a:t>
            </a:r>
            <a:r>
              <a:rPr lang="zh-CN" altLang="en-US" sz="2100" b="1" dirty="0">
                <a:solidFill>
                  <a:srgbClr val="0000FF"/>
                </a:solidFill>
              </a:rPr>
              <a:t>被该块所占用的空间</a:t>
            </a:r>
            <a:endParaRPr lang="en-US" altLang="zh-CN" sz="2100" b="1" dirty="0">
              <a:solidFill>
                <a:srgbClr val="0000FF"/>
              </a:solidFill>
            </a:endParaRPr>
          </a:p>
          <a:p>
            <a:pPr lvl="1" eaLnBrk="1" hangingPunct="1"/>
            <a:r>
              <a:rPr lang="zh-CN" altLang="en-US" sz="2100" b="1" dirty="0"/>
              <a:t>支持</a:t>
            </a:r>
            <a:r>
              <a:rPr lang="zh-CN" altLang="en-US" sz="2100" b="1" dirty="0">
                <a:solidFill>
                  <a:srgbClr val="FF3300"/>
                </a:solidFill>
              </a:rPr>
              <a:t>最近最常使用</a:t>
            </a:r>
            <a:r>
              <a:rPr lang="en-US" altLang="zh-CN" sz="2100" b="1" dirty="0">
                <a:solidFill>
                  <a:schemeClr val="tx2"/>
                </a:solidFill>
              </a:rPr>
              <a:t>(MRU) </a:t>
            </a:r>
            <a:r>
              <a:rPr lang="zh-CN" altLang="en-US" sz="2100" b="1" dirty="0"/>
              <a:t>策略：如循环连接中的</a:t>
            </a:r>
            <a:r>
              <a:rPr lang="zh-CN" altLang="en-US" sz="2100" b="1" dirty="0">
                <a:solidFill>
                  <a:srgbClr val="FF0000"/>
                </a:solidFill>
              </a:rPr>
              <a:t>外层循环数据块</a:t>
            </a:r>
            <a:endParaRPr lang="en-US" altLang="zh-CN" sz="21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2100" b="1" dirty="0"/>
              <a:t>支持某些</a:t>
            </a:r>
            <a:r>
              <a:rPr lang="zh-CN" altLang="en-US" sz="2100" b="1" dirty="0">
                <a:solidFill>
                  <a:srgbClr val="FF0000"/>
                </a:solidFill>
              </a:rPr>
              <a:t>数据长期存放到缓冲区</a:t>
            </a:r>
            <a:r>
              <a:rPr lang="zh-CN" altLang="en-US" sz="2100" b="1" dirty="0"/>
              <a:t>中，如尽可能将</a:t>
            </a:r>
            <a:r>
              <a:rPr lang="zh-CN" altLang="en-US" sz="2100" b="1" dirty="0">
                <a:solidFill>
                  <a:srgbClr val="0000FF"/>
                </a:solidFill>
              </a:rPr>
              <a:t>数据字典</a:t>
            </a:r>
            <a:r>
              <a:rPr lang="zh-CN" altLang="en-US" sz="2100" b="1" dirty="0"/>
              <a:t>块保存在缓冲区中</a:t>
            </a:r>
            <a:endParaRPr lang="en-US" altLang="zh-CN" sz="2100" b="1" dirty="0"/>
          </a:p>
          <a:p>
            <a:pPr lvl="1" eaLnBrk="1" hangingPunct="1"/>
            <a:r>
              <a:rPr lang="zh-CN" altLang="en-US" sz="2100" b="1" dirty="0"/>
              <a:t>为恢复目的，缓冲区管理器还支持块的</a:t>
            </a:r>
            <a:r>
              <a:rPr lang="zh-CN" altLang="en-US" sz="2100" b="1" dirty="0">
                <a:solidFill>
                  <a:srgbClr val="FF3300"/>
                </a:solidFill>
              </a:rPr>
              <a:t>强制输出</a:t>
            </a:r>
            <a:r>
              <a:rPr lang="zh-CN" altLang="en-US" sz="2100" b="1" dirty="0">
                <a:solidFill>
                  <a:schemeClr val="tx2"/>
                </a:solidFill>
              </a:rPr>
              <a:t>，</a:t>
            </a:r>
            <a:r>
              <a:rPr lang="zh-CN" altLang="en-US" sz="2100" b="1" dirty="0"/>
              <a:t>保证数据在系统崩溃时的可用性</a:t>
            </a:r>
          </a:p>
        </p:txBody>
      </p:sp>
    </p:spTree>
    <p:extLst>
      <p:ext uri="{BB962C8B-B14F-4D97-AF65-F5344CB8AC3E}">
        <p14:creationId xmlns:p14="http://schemas.microsoft.com/office/powerpoint/2010/main" val="38480639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9C928-4BC6-4E9A-9C8F-DD23284A9A5C}" type="datetime1">
              <a:rPr lang="zh-CN" altLang="en-US" smtClean="0"/>
              <a:t>2025/11/27</a:t>
            </a:fld>
            <a:endParaRPr lang="en-US" altLang="zh-CN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>
                <a:latin typeface="Comic Sans MS" pitchFamily="66" charset="0"/>
              </a:rPr>
              <a:t>Any Question?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4140200" y="2781300"/>
            <a:ext cx="3302000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0" lang="en-US" altLang="zh-CN" sz="4800" b="1" i="1">
                <a:solidFill>
                  <a:schemeClr val="hlink"/>
                </a:solidFill>
                <a:latin typeface="Times New Roman" pitchFamily="18" charset="0"/>
              </a:rPr>
              <a:t>Thank you !</a:t>
            </a:r>
          </a:p>
        </p:txBody>
      </p:sp>
      <p:pic>
        <p:nvPicPr>
          <p:cNvPr id="10244" name="Picture 4" descr="smi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133600"/>
            <a:ext cx="22098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34FAFF-E41F-2CAA-E575-BD3353A41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《数据库系统概论》- 第6章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97C1D2-78F8-F7EB-9B70-8CCE83A3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74603-B40B-4D66-8F6E-41C870D48932}" type="slidenum">
              <a:rPr lang="en-US" altLang="zh-CN" smtClean="0"/>
              <a:pPr/>
              <a:t>28</a:t>
            </a:fld>
            <a:r>
              <a:rPr lang="en-US" altLang="zh-CN"/>
              <a:t>/162</a:t>
            </a:r>
            <a:endParaRPr lang="en-US" altLang="zh-CN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  <a:cs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ld2009</Template>
  <TotalTime>18021</TotalTime>
  <Words>2120</Words>
  <Application>Microsoft Office PowerPoint</Application>
  <PresentationFormat>全屏显示(4:3)</PresentationFormat>
  <Paragraphs>260</Paragraphs>
  <Slides>28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Greek Symbols</vt:lpstr>
      <vt:lpstr>楷体_GB2312</vt:lpstr>
      <vt:lpstr>Arial</vt:lpstr>
      <vt:lpstr>Comic Sans MS</vt:lpstr>
      <vt:lpstr>Helvetica</vt:lpstr>
      <vt:lpstr>Symbol</vt:lpstr>
      <vt:lpstr>Tahoma</vt:lpstr>
      <vt:lpstr>Times New Roman</vt:lpstr>
      <vt:lpstr>Wingdings</vt:lpstr>
      <vt:lpstr>Blends</vt:lpstr>
      <vt:lpstr>Clip</vt:lpstr>
      <vt:lpstr>数据库系统原理  Database System Principles</vt:lpstr>
      <vt:lpstr>第十章 存储管理</vt:lpstr>
      <vt:lpstr>主要内容</vt:lpstr>
      <vt:lpstr>物理存储介质（自学, 阅读第十章）</vt:lpstr>
      <vt:lpstr>主要内容</vt:lpstr>
      <vt:lpstr>文件组织</vt:lpstr>
      <vt:lpstr>文件组织</vt:lpstr>
      <vt:lpstr>定长记录</vt:lpstr>
      <vt:lpstr>PowerPoint 演示文稿</vt:lpstr>
      <vt:lpstr>变长记录和字符串存储方法</vt:lpstr>
      <vt:lpstr>PowerPoint 演示文稿</vt:lpstr>
      <vt:lpstr>PowerPoint 演示文稿</vt:lpstr>
      <vt:lpstr>主要内容</vt:lpstr>
      <vt:lpstr>文件中的记录组织</vt:lpstr>
      <vt:lpstr>PowerPoint 演示文稿</vt:lpstr>
      <vt:lpstr>顺序文件组织的维护</vt:lpstr>
      <vt:lpstr>PowerPoint 演示文稿</vt:lpstr>
      <vt:lpstr>关系数据库的文件选择</vt:lpstr>
      <vt:lpstr>主要内容</vt:lpstr>
      <vt:lpstr>数据字典</vt:lpstr>
      <vt:lpstr>数据字典的存储 </vt:lpstr>
      <vt:lpstr>主要内容</vt:lpstr>
      <vt:lpstr>数据库缓冲区</vt:lpstr>
      <vt:lpstr>缓冲区管理器</vt:lpstr>
      <vt:lpstr>缓冲区替换策略</vt:lpstr>
      <vt:lpstr>缓冲替换策略示例</vt:lpstr>
      <vt:lpstr>缓冲区管理特点</vt:lpstr>
      <vt:lpstr>Any Question?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lei duan</dc:creator>
  <cp:lastModifiedBy>Administrator</cp:lastModifiedBy>
  <cp:revision>2024</cp:revision>
  <dcterms:created xsi:type="dcterms:W3CDTF">2009-08-07T14:32:50Z</dcterms:created>
  <dcterms:modified xsi:type="dcterms:W3CDTF">2025-11-27T03:51:37Z</dcterms:modified>
</cp:coreProperties>
</file>