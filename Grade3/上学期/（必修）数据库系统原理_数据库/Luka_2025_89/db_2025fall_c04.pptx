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141"/>
  </p:notesMasterIdLst>
  <p:handoutMasterIdLst>
    <p:handoutMasterId r:id="rId142"/>
  </p:handoutMasterIdLst>
  <p:sldIdLst>
    <p:sldId id="258" r:id="rId2"/>
    <p:sldId id="259" r:id="rId3"/>
    <p:sldId id="261" r:id="rId4"/>
    <p:sldId id="521" r:id="rId5"/>
    <p:sldId id="500" r:id="rId6"/>
    <p:sldId id="499" r:id="rId7"/>
    <p:sldId id="339" r:id="rId8"/>
    <p:sldId id="340" r:id="rId9"/>
    <p:sldId id="341" r:id="rId10"/>
    <p:sldId id="501" r:id="rId11"/>
    <p:sldId id="502" r:id="rId12"/>
    <p:sldId id="343" r:id="rId13"/>
    <p:sldId id="504" r:id="rId14"/>
    <p:sldId id="503" r:id="rId15"/>
    <p:sldId id="506" r:id="rId16"/>
    <p:sldId id="507" r:id="rId17"/>
    <p:sldId id="505" r:id="rId18"/>
    <p:sldId id="344" r:id="rId19"/>
    <p:sldId id="508" r:id="rId20"/>
    <p:sldId id="350" r:id="rId21"/>
    <p:sldId id="509" r:id="rId22"/>
    <p:sldId id="351" r:id="rId23"/>
    <p:sldId id="511" r:id="rId24"/>
    <p:sldId id="512" r:id="rId25"/>
    <p:sldId id="513" r:id="rId26"/>
    <p:sldId id="510" r:id="rId27"/>
    <p:sldId id="514" r:id="rId28"/>
    <p:sldId id="515" r:id="rId29"/>
    <p:sldId id="468" r:id="rId30"/>
    <p:sldId id="353" r:id="rId31"/>
    <p:sldId id="627" r:id="rId32"/>
    <p:sldId id="354" r:id="rId33"/>
    <p:sldId id="517" r:id="rId34"/>
    <p:sldId id="409" r:id="rId35"/>
    <p:sldId id="411" r:id="rId36"/>
    <p:sldId id="412" r:id="rId37"/>
    <p:sldId id="472" r:id="rId38"/>
    <p:sldId id="520" r:id="rId39"/>
    <p:sldId id="471" r:id="rId40"/>
    <p:sldId id="470" r:id="rId41"/>
    <p:sldId id="414" r:id="rId42"/>
    <p:sldId id="415" r:id="rId43"/>
    <p:sldId id="416" r:id="rId44"/>
    <p:sldId id="456" r:id="rId45"/>
    <p:sldId id="457" r:id="rId46"/>
    <p:sldId id="458" r:id="rId47"/>
    <p:sldId id="417" r:id="rId48"/>
    <p:sldId id="473" r:id="rId49"/>
    <p:sldId id="474" r:id="rId50"/>
    <p:sldId id="475" r:id="rId51"/>
    <p:sldId id="522" r:id="rId52"/>
    <p:sldId id="418" r:id="rId53"/>
    <p:sldId id="419" r:id="rId54"/>
    <p:sldId id="523" r:id="rId55"/>
    <p:sldId id="420" r:id="rId56"/>
    <p:sldId id="421" r:id="rId57"/>
    <p:sldId id="422" r:id="rId58"/>
    <p:sldId id="524" r:id="rId59"/>
    <p:sldId id="525" r:id="rId60"/>
    <p:sldId id="532" r:id="rId61"/>
    <p:sldId id="526" r:id="rId62"/>
    <p:sldId id="533" r:id="rId63"/>
    <p:sldId id="534" r:id="rId64"/>
    <p:sldId id="538" r:id="rId65"/>
    <p:sldId id="546" r:id="rId66"/>
    <p:sldId id="547" r:id="rId67"/>
    <p:sldId id="548" r:id="rId68"/>
    <p:sldId id="554" r:id="rId69"/>
    <p:sldId id="555" r:id="rId70"/>
    <p:sldId id="549" r:id="rId71"/>
    <p:sldId id="550" r:id="rId72"/>
    <p:sldId id="551" r:id="rId73"/>
    <p:sldId id="552" r:id="rId74"/>
    <p:sldId id="553" r:id="rId75"/>
    <p:sldId id="576" r:id="rId76"/>
    <p:sldId id="577" r:id="rId77"/>
    <p:sldId id="578" r:id="rId78"/>
    <p:sldId id="579" r:id="rId79"/>
    <p:sldId id="580" r:id="rId80"/>
    <p:sldId id="581" r:id="rId81"/>
    <p:sldId id="582" r:id="rId82"/>
    <p:sldId id="583" r:id="rId83"/>
    <p:sldId id="584" r:id="rId84"/>
    <p:sldId id="585" r:id="rId85"/>
    <p:sldId id="559" r:id="rId86"/>
    <p:sldId id="560" r:id="rId87"/>
    <p:sldId id="561" r:id="rId88"/>
    <p:sldId id="562" r:id="rId89"/>
    <p:sldId id="563" r:id="rId90"/>
    <p:sldId id="564" r:id="rId91"/>
    <p:sldId id="565" r:id="rId92"/>
    <p:sldId id="566" r:id="rId93"/>
    <p:sldId id="528" r:id="rId94"/>
    <p:sldId id="588" r:id="rId95"/>
    <p:sldId id="586" r:id="rId96"/>
    <p:sldId id="587" r:id="rId97"/>
    <p:sldId id="567" r:id="rId98"/>
    <p:sldId id="571" r:id="rId99"/>
    <p:sldId id="589" r:id="rId100"/>
    <p:sldId id="572" r:id="rId101"/>
    <p:sldId id="574" r:id="rId102"/>
    <p:sldId id="575" r:id="rId103"/>
    <p:sldId id="568" r:id="rId104"/>
    <p:sldId id="529" r:id="rId105"/>
    <p:sldId id="594" r:id="rId106"/>
    <p:sldId id="595" r:id="rId107"/>
    <p:sldId id="596" r:id="rId108"/>
    <p:sldId id="537" r:id="rId109"/>
    <p:sldId id="597" r:id="rId110"/>
    <p:sldId id="598" r:id="rId111"/>
    <p:sldId id="599" r:id="rId112"/>
    <p:sldId id="600" r:id="rId113"/>
    <p:sldId id="601" r:id="rId114"/>
    <p:sldId id="602" r:id="rId115"/>
    <p:sldId id="603" r:id="rId116"/>
    <p:sldId id="604" r:id="rId117"/>
    <p:sldId id="605" r:id="rId118"/>
    <p:sldId id="606" r:id="rId119"/>
    <p:sldId id="607" r:id="rId120"/>
    <p:sldId id="620" r:id="rId121"/>
    <p:sldId id="608" r:id="rId122"/>
    <p:sldId id="609" r:id="rId123"/>
    <p:sldId id="610" r:id="rId124"/>
    <p:sldId id="611" r:id="rId125"/>
    <p:sldId id="621" r:id="rId126"/>
    <p:sldId id="612" r:id="rId127"/>
    <p:sldId id="613" r:id="rId128"/>
    <p:sldId id="614" r:id="rId129"/>
    <p:sldId id="615" r:id="rId130"/>
    <p:sldId id="616" r:id="rId131"/>
    <p:sldId id="617" r:id="rId132"/>
    <p:sldId id="623" r:id="rId133"/>
    <p:sldId id="618" r:id="rId134"/>
    <p:sldId id="624" r:id="rId135"/>
    <p:sldId id="625" r:id="rId136"/>
    <p:sldId id="626" r:id="rId137"/>
    <p:sldId id="592" r:id="rId138"/>
    <p:sldId id="591" r:id="rId139"/>
    <p:sldId id="260" r:id="rId140"/>
  </p:sldIdLst>
  <p:sldSz cx="9144000" cy="6858000" type="screen4x3"/>
  <p:notesSz cx="6858000" cy="9144000"/>
  <p:defaultTextStyle>
    <a:defPPr>
      <a:defRPr lang="en-US"/>
    </a:defPPr>
    <a:lvl1pPr algn="ctr" rtl="0" fontAlgn="base">
      <a:spcBef>
        <a:spcPct val="0"/>
      </a:spcBef>
      <a:spcAft>
        <a:spcPct val="0"/>
      </a:spcAft>
      <a:defRPr kumimoji="1" sz="2400" kern="1200">
        <a:solidFill>
          <a:schemeClr val="tx1"/>
        </a:solidFill>
        <a:latin typeface="Tahoma" pitchFamily="34" charset="0"/>
        <a:ea typeface="宋体" pitchFamily="2" charset="-122"/>
        <a:cs typeface="+mn-cs"/>
      </a:defRPr>
    </a:lvl1pPr>
    <a:lvl2pPr marL="457200" algn="ctr" rtl="0" fontAlgn="base">
      <a:spcBef>
        <a:spcPct val="0"/>
      </a:spcBef>
      <a:spcAft>
        <a:spcPct val="0"/>
      </a:spcAft>
      <a:defRPr kumimoji="1" sz="2400" kern="1200">
        <a:solidFill>
          <a:schemeClr val="tx1"/>
        </a:solidFill>
        <a:latin typeface="Tahoma" pitchFamily="34" charset="0"/>
        <a:ea typeface="宋体" pitchFamily="2" charset="-122"/>
        <a:cs typeface="+mn-cs"/>
      </a:defRPr>
    </a:lvl2pPr>
    <a:lvl3pPr marL="914400" algn="ctr" rtl="0" fontAlgn="base">
      <a:spcBef>
        <a:spcPct val="0"/>
      </a:spcBef>
      <a:spcAft>
        <a:spcPct val="0"/>
      </a:spcAft>
      <a:defRPr kumimoji="1" sz="2400" kern="1200">
        <a:solidFill>
          <a:schemeClr val="tx1"/>
        </a:solidFill>
        <a:latin typeface="Tahoma" pitchFamily="34" charset="0"/>
        <a:ea typeface="宋体" pitchFamily="2" charset="-122"/>
        <a:cs typeface="+mn-cs"/>
      </a:defRPr>
    </a:lvl3pPr>
    <a:lvl4pPr marL="1371600" algn="ctr" rtl="0" fontAlgn="base">
      <a:spcBef>
        <a:spcPct val="0"/>
      </a:spcBef>
      <a:spcAft>
        <a:spcPct val="0"/>
      </a:spcAft>
      <a:defRPr kumimoji="1" sz="2400" kern="1200">
        <a:solidFill>
          <a:schemeClr val="tx1"/>
        </a:solidFill>
        <a:latin typeface="Tahoma" pitchFamily="34" charset="0"/>
        <a:ea typeface="宋体" pitchFamily="2" charset="-122"/>
        <a:cs typeface="+mn-cs"/>
      </a:defRPr>
    </a:lvl4pPr>
    <a:lvl5pPr marL="1828800" algn="ctr" rtl="0" fontAlgn="base">
      <a:spcBef>
        <a:spcPct val="0"/>
      </a:spcBef>
      <a:spcAft>
        <a:spcPct val="0"/>
      </a:spcAft>
      <a:defRPr kumimoji="1" sz="2400" kern="1200">
        <a:solidFill>
          <a:schemeClr val="tx1"/>
        </a:solidFill>
        <a:latin typeface="Tahoma" pitchFamily="34" charset="0"/>
        <a:ea typeface="宋体" pitchFamily="2" charset="-122"/>
        <a:cs typeface="+mn-cs"/>
      </a:defRPr>
    </a:lvl5pPr>
    <a:lvl6pPr marL="2286000" algn="l" defTabSz="914400" rtl="0" eaLnBrk="1" latinLnBrk="0" hangingPunct="1">
      <a:defRPr kumimoji="1" sz="2400" kern="1200">
        <a:solidFill>
          <a:schemeClr val="tx1"/>
        </a:solidFill>
        <a:latin typeface="Tahoma" pitchFamily="34" charset="0"/>
        <a:ea typeface="宋体" pitchFamily="2" charset="-122"/>
        <a:cs typeface="+mn-cs"/>
      </a:defRPr>
    </a:lvl6pPr>
    <a:lvl7pPr marL="2743200" algn="l" defTabSz="914400" rtl="0" eaLnBrk="1" latinLnBrk="0" hangingPunct="1">
      <a:defRPr kumimoji="1" sz="2400" kern="1200">
        <a:solidFill>
          <a:schemeClr val="tx1"/>
        </a:solidFill>
        <a:latin typeface="Tahoma" pitchFamily="34" charset="0"/>
        <a:ea typeface="宋体" pitchFamily="2" charset="-122"/>
        <a:cs typeface="+mn-cs"/>
      </a:defRPr>
    </a:lvl7pPr>
    <a:lvl8pPr marL="3200400" algn="l" defTabSz="914400" rtl="0" eaLnBrk="1" latinLnBrk="0" hangingPunct="1">
      <a:defRPr kumimoji="1" sz="2400" kern="1200">
        <a:solidFill>
          <a:schemeClr val="tx1"/>
        </a:solidFill>
        <a:latin typeface="Tahoma" pitchFamily="34" charset="0"/>
        <a:ea typeface="宋体" pitchFamily="2" charset="-122"/>
        <a:cs typeface="+mn-cs"/>
      </a:defRPr>
    </a:lvl8pPr>
    <a:lvl9pPr marL="3657600" algn="l" defTabSz="914400" rtl="0" eaLnBrk="1" latinLnBrk="0" hangingPunct="1">
      <a:defRPr kumimoji="1" sz="2400"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o Jixiang" initials="GJ"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00FF"/>
    <a:srgbClr val="660066"/>
    <a:srgbClr val="800080"/>
    <a:srgbClr val="FFC9C9"/>
    <a:srgbClr val="8B5A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2964" autoAdjust="0"/>
  </p:normalViewPr>
  <p:slideViewPr>
    <p:cSldViewPr>
      <p:cViewPr varScale="1">
        <p:scale>
          <a:sx n="120" d="100"/>
          <a:sy n="120" d="100"/>
        </p:scale>
        <p:origin x="576" y="9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50794"/>
    </p:cViewPr>
  </p:sorterViewPr>
  <p:notesViewPr>
    <p:cSldViewPr>
      <p:cViewPr varScale="1">
        <p:scale>
          <a:sx n="63" d="100"/>
          <a:sy n="63" d="100"/>
        </p:scale>
        <p:origin x="-2650" y="-7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notesMaster" Target="notesMasters/notesMaster1.xml"/><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E2842CA-DF83-4882-8FFF-BA3A85D16D38}" type="datetimeFigureOut">
              <a:rPr lang="zh-CN" altLang="en-US" smtClean="0"/>
              <a:pPr/>
              <a:t>2025/10/15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B5E344F-D534-46E9-8FE3-CD92B79C7350}" type="slidenum">
              <a:rPr lang="zh-CN" altLang="en-US" smtClean="0"/>
              <a:pPr/>
              <a:t>‹#›</a:t>
            </a:fld>
            <a:endParaRPr lang="zh-CN" altLang="en-US"/>
          </a:p>
        </p:txBody>
      </p:sp>
    </p:spTree>
    <p:extLst>
      <p:ext uri="{BB962C8B-B14F-4D97-AF65-F5344CB8AC3E}">
        <p14:creationId xmlns:p14="http://schemas.microsoft.com/office/powerpoint/2010/main" val="32153910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kumimoji="0" sz="1200" smtClean="0">
                <a:latin typeface="Arial" pitchFamily="34" charset="0"/>
                <a:cs typeface="Arial" pitchFamily="34" charset="0"/>
              </a:defRPr>
            </a:lvl1pPr>
          </a:lstStyle>
          <a:p>
            <a:pPr>
              <a:defRPr/>
            </a:pPr>
            <a:endParaRPr lang="zh-CN" altLang="en-US"/>
          </a:p>
        </p:txBody>
      </p:sp>
      <p:sp>
        <p:nvSpPr>
          <p:cNvPr id="1433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0" sz="1200" smtClean="0">
                <a:latin typeface="Arial" pitchFamily="34" charset="0"/>
                <a:cs typeface="Arial" pitchFamily="34" charset="0"/>
              </a:defRPr>
            </a:lvl1pPr>
          </a:lstStyle>
          <a:p>
            <a:pPr>
              <a:defRPr/>
            </a:pPr>
            <a:endParaRPr lang="en-US" altLang="zh-CN"/>
          </a:p>
        </p:txBody>
      </p:sp>
      <p:sp>
        <p:nvSpPr>
          <p:cNvPr id="2058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434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34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kumimoji="0" sz="1200" smtClean="0">
                <a:latin typeface="Arial" pitchFamily="34" charset="0"/>
                <a:cs typeface="Arial" pitchFamily="34" charset="0"/>
              </a:defRPr>
            </a:lvl1pPr>
          </a:lstStyle>
          <a:p>
            <a:pPr>
              <a:defRPr/>
            </a:pPr>
            <a:endParaRPr lang="en-US" altLang="zh-CN"/>
          </a:p>
        </p:txBody>
      </p:sp>
      <p:sp>
        <p:nvSpPr>
          <p:cNvPr id="1434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200" smtClean="0">
                <a:latin typeface="Arial" pitchFamily="34" charset="0"/>
                <a:cs typeface="Arial" pitchFamily="34" charset="0"/>
              </a:defRPr>
            </a:lvl1pPr>
          </a:lstStyle>
          <a:p>
            <a:pPr>
              <a:defRPr/>
            </a:pPr>
            <a:fld id="{4F53C07F-DE34-475F-A416-CA73C1AAA933}" type="slidenum">
              <a:rPr lang="zh-CN" altLang="en-US"/>
              <a:pPr>
                <a:defRPr/>
              </a:pPr>
              <a:t>‹#›</a:t>
            </a:fld>
            <a:endParaRPr lang="en-US" altLang="zh-CN"/>
          </a:p>
        </p:txBody>
      </p:sp>
    </p:spTree>
    <p:extLst>
      <p:ext uri="{BB962C8B-B14F-4D97-AF65-F5344CB8AC3E}">
        <p14:creationId xmlns:p14="http://schemas.microsoft.com/office/powerpoint/2010/main" val="9586838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baike.baidu.com/view/2444815.htm"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baike.baidu.com/view/694082.htm"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baike.baidu.com/view/2444815.htm"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baike.baidu.com/view/694082.htm"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1</a:t>
            </a:fld>
            <a:endParaRPr lang="en-US" altLang="zh-CN"/>
          </a:p>
        </p:txBody>
      </p:sp>
    </p:spTree>
    <p:extLst>
      <p:ext uri="{BB962C8B-B14F-4D97-AF65-F5344CB8AC3E}">
        <p14:creationId xmlns:p14="http://schemas.microsoft.com/office/powerpoint/2010/main" val="2627764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3</a:t>
            </a:fld>
            <a:endParaRPr lang="en-US" altLang="zh-CN"/>
          </a:p>
        </p:txBody>
      </p:sp>
    </p:spTree>
    <p:extLst>
      <p:ext uri="{BB962C8B-B14F-4D97-AF65-F5344CB8AC3E}">
        <p14:creationId xmlns:p14="http://schemas.microsoft.com/office/powerpoint/2010/main" val="2619310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13</a:t>
            </a:fld>
            <a:endParaRPr lang="en-US" altLang="zh-CN"/>
          </a:p>
        </p:txBody>
      </p:sp>
    </p:spTree>
    <p:extLst>
      <p:ext uri="{BB962C8B-B14F-4D97-AF65-F5344CB8AC3E}">
        <p14:creationId xmlns:p14="http://schemas.microsoft.com/office/powerpoint/2010/main" val="3623070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14</a:t>
            </a:fld>
            <a:endParaRPr lang="en-US" altLang="zh-CN"/>
          </a:p>
        </p:txBody>
      </p:sp>
    </p:spTree>
    <p:extLst>
      <p:ext uri="{BB962C8B-B14F-4D97-AF65-F5344CB8AC3E}">
        <p14:creationId xmlns:p14="http://schemas.microsoft.com/office/powerpoint/2010/main" val="15888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53C07F-DE34-475F-A416-CA73C1AAA933}" type="slidenum">
              <a:rPr lang="zh-CN" altLang="en-US" smtClean="0"/>
              <a:pPr>
                <a:defRPr/>
              </a:pPr>
              <a:t>15</a:t>
            </a:fld>
            <a:endParaRPr lang="en-US" altLang="zh-CN"/>
          </a:p>
        </p:txBody>
      </p:sp>
    </p:spTree>
    <p:extLst>
      <p:ext uri="{BB962C8B-B14F-4D97-AF65-F5344CB8AC3E}">
        <p14:creationId xmlns:p14="http://schemas.microsoft.com/office/powerpoint/2010/main" val="936565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F53C07F-DE34-475F-A416-CA73C1AAA933}" type="slidenum">
              <a:rPr lang="zh-CN" altLang="en-US" smtClean="0"/>
              <a:pPr>
                <a:defRPr/>
              </a:pPr>
              <a:t>16</a:t>
            </a:fld>
            <a:endParaRPr lang="en-US" altLang="zh-CN"/>
          </a:p>
        </p:txBody>
      </p:sp>
    </p:spTree>
    <p:extLst>
      <p:ext uri="{BB962C8B-B14F-4D97-AF65-F5344CB8AC3E}">
        <p14:creationId xmlns:p14="http://schemas.microsoft.com/office/powerpoint/2010/main" val="3796452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pitchFamily="34" charset="0"/>
                <a:ea typeface="+mn-ea"/>
                <a:cs typeface="Arial" pitchFamily="34" charset="0"/>
              </a:rPr>
              <a:t>内连接也叫连接，是最早的一种连接。还可以被称为普通连接或者</a:t>
            </a:r>
            <a:r>
              <a:rPr lang="zh-CN" altLang="en-US" sz="1200" b="0" i="0" u="none" strike="noStrike" kern="1200" dirty="0">
                <a:solidFill>
                  <a:schemeClr val="tx1"/>
                </a:solidFill>
                <a:effectLst/>
                <a:latin typeface="Arial" pitchFamily="34" charset="0"/>
                <a:ea typeface="+mn-ea"/>
                <a:cs typeface="Arial" pitchFamily="34" charset="0"/>
                <a:hlinkClick r:id="rId3"/>
              </a:rPr>
              <a:t>自然连接</a:t>
            </a:r>
            <a:r>
              <a:rPr lang="zh-CN" altLang="en-US" sz="1200" b="0" i="0" kern="1200" dirty="0">
                <a:solidFill>
                  <a:schemeClr val="tx1"/>
                </a:solidFill>
                <a:effectLst/>
                <a:latin typeface="Arial" pitchFamily="34" charset="0"/>
                <a:ea typeface="+mn-ea"/>
                <a:cs typeface="Arial" pitchFamily="34" charset="0"/>
              </a:rPr>
              <a:t>，内连接是从结果表中删除与其他被</a:t>
            </a:r>
            <a:r>
              <a:rPr lang="zh-CN" altLang="en-US" sz="1200" b="0" i="0" u="none" strike="noStrike" kern="1200" dirty="0">
                <a:solidFill>
                  <a:schemeClr val="tx1"/>
                </a:solidFill>
                <a:effectLst/>
                <a:latin typeface="Arial" pitchFamily="34" charset="0"/>
                <a:ea typeface="+mn-ea"/>
                <a:cs typeface="Arial" pitchFamily="34" charset="0"/>
                <a:hlinkClick r:id="rId4"/>
              </a:rPr>
              <a:t>连接表</a:t>
            </a:r>
            <a:r>
              <a:rPr lang="zh-CN" altLang="en-US" sz="1200" b="0" i="0" kern="1200" dirty="0">
                <a:solidFill>
                  <a:schemeClr val="tx1"/>
                </a:solidFill>
                <a:effectLst/>
                <a:latin typeface="Arial" pitchFamily="34" charset="0"/>
                <a:ea typeface="+mn-ea"/>
                <a:cs typeface="Arial" pitchFamily="34" charset="0"/>
              </a:rPr>
              <a:t>中没有匹配行的所有行，所以内连接可能会丢失信息。</a:t>
            </a:r>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18</a:t>
            </a:fld>
            <a:endParaRPr lang="en-US" altLang="zh-CN"/>
          </a:p>
        </p:txBody>
      </p:sp>
    </p:spTree>
    <p:extLst>
      <p:ext uri="{BB962C8B-B14F-4D97-AF65-F5344CB8AC3E}">
        <p14:creationId xmlns:p14="http://schemas.microsoft.com/office/powerpoint/2010/main" val="2904183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pitchFamily="34" charset="0"/>
                <a:ea typeface="+mn-ea"/>
                <a:cs typeface="Arial" pitchFamily="34" charset="0"/>
              </a:rPr>
              <a:t>内连接也叫连接，是最早的一种连接。还可以被称为普通连接或者</a:t>
            </a:r>
            <a:r>
              <a:rPr lang="zh-CN" altLang="en-US" sz="1200" b="0" i="0" u="none" strike="noStrike" kern="1200" dirty="0">
                <a:solidFill>
                  <a:schemeClr val="tx1"/>
                </a:solidFill>
                <a:effectLst/>
                <a:latin typeface="Arial" pitchFamily="34" charset="0"/>
                <a:ea typeface="+mn-ea"/>
                <a:cs typeface="Arial" pitchFamily="34" charset="0"/>
                <a:hlinkClick r:id="rId3"/>
              </a:rPr>
              <a:t>自然连接</a:t>
            </a:r>
            <a:r>
              <a:rPr lang="zh-CN" altLang="en-US" sz="1200" b="0" i="0" kern="1200" dirty="0">
                <a:solidFill>
                  <a:schemeClr val="tx1"/>
                </a:solidFill>
                <a:effectLst/>
                <a:latin typeface="Arial" pitchFamily="34" charset="0"/>
                <a:ea typeface="+mn-ea"/>
                <a:cs typeface="Arial" pitchFamily="34" charset="0"/>
              </a:rPr>
              <a:t>，内连接是从结果表中删除与其他被</a:t>
            </a:r>
            <a:r>
              <a:rPr lang="zh-CN" altLang="en-US" sz="1200" b="0" i="0" u="none" strike="noStrike" kern="1200" dirty="0">
                <a:solidFill>
                  <a:schemeClr val="tx1"/>
                </a:solidFill>
                <a:effectLst/>
                <a:latin typeface="Arial" pitchFamily="34" charset="0"/>
                <a:ea typeface="+mn-ea"/>
                <a:cs typeface="Arial" pitchFamily="34" charset="0"/>
                <a:hlinkClick r:id="rId4"/>
              </a:rPr>
              <a:t>连接表</a:t>
            </a:r>
            <a:r>
              <a:rPr lang="zh-CN" altLang="en-US" sz="1200" b="0" i="0" kern="1200" dirty="0">
                <a:solidFill>
                  <a:schemeClr val="tx1"/>
                </a:solidFill>
                <a:effectLst/>
                <a:latin typeface="Arial" pitchFamily="34" charset="0"/>
                <a:ea typeface="+mn-ea"/>
                <a:cs typeface="Arial" pitchFamily="34" charset="0"/>
              </a:rPr>
              <a:t>中没有匹配行的所有行，所以内连接可能会丢失信息。</a:t>
            </a:r>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19</a:t>
            </a:fld>
            <a:endParaRPr lang="en-US" altLang="zh-CN"/>
          </a:p>
        </p:txBody>
      </p:sp>
    </p:spTree>
    <p:extLst>
      <p:ext uri="{BB962C8B-B14F-4D97-AF65-F5344CB8AC3E}">
        <p14:creationId xmlns:p14="http://schemas.microsoft.com/office/powerpoint/2010/main" val="2276720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22</a:t>
            </a:fld>
            <a:endParaRPr lang="en-US" altLang="zh-CN"/>
          </a:p>
        </p:txBody>
      </p:sp>
    </p:spTree>
    <p:extLst>
      <p:ext uri="{BB962C8B-B14F-4D97-AF65-F5344CB8AC3E}">
        <p14:creationId xmlns:p14="http://schemas.microsoft.com/office/powerpoint/2010/main" val="1570738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23</a:t>
            </a:fld>
            <a:endParaRPr lang="en-US" altLang="zh-CN"/>
          </a:p>
        </p:txBody>
      </p:sp>
    </p:spTree>
    <p:extLst>
      <p:ext uri="{BB962C8B-B14F-4D97-AF65-F5344CB8AC3E}">
        <p14:creationId xmlns:p14="http://schemas.microsoft.com/office/powerpoint/2010/main" val="1570738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24</a:t>
            </a:fld>
            <a:endParaRPr lang="en-US" altLang="zh-CN"/>
          </a:p>
        </p:txBody>
      </p:sp>
    </p:spTree>
    <p:extLst>
      <p:ext uri="{BB962C8B-B14F-4D97-AF65-F5344CB8AC3E}">
        <p14:creationId xmlns:p14="http://schemas.microsoft.com/office/powerpoint/2010/main" val="1570738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25</a:t>
            </a:fld>
            <a:endParaRPr lang="en-US" altLang="zh-CN"/>
          </a:p>
        </p:txBody>
      </p:sp>
    </p:spTree>
    <p:extLst>
      <p:ext uri="{BB962C8B-B14F-4D97-AF65-F5344CB8AC3E}">
        <p14:creationId xmlns:p14="http://schemas.microsoft.com/office/powerpoint/2010/main" val="15707386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26</a:t>
            </a:fld>
            <a:endParaRPr lang="en-US" altLang="zh-CN"/>
          </a:p>
        </p:txBody>
      </p:sp>
    </p:spTree>
    <p:extLst>
      <p:ext uri="{BB962C8B-B14F-4D97-AF65-F5344CB8AC3E}">
        <p14:creationId xmlns:p14="http://schemas.microsoft.com/office/powerpoint/2010/main" val="15707386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27</a:t>
            </a:fld>
            <a:endParaRPr lang="en-US" altLang="zh-CN"/>
          </a:p>
        </p:txBody>
      </p:sp>
    </p:spTree>
    <p:extLst>
      <p:ext uri="{BB962C8B-B14F-4D97-AF65-F5344CB8AC3E}">
        <p14:creationId xmlns:p14="http://schemas.microsoft.com/office/powerpoint/2010/main" val="1570738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若在等值连接中把目标列中重复的属性列去掉则为自然连接</a:t>
            </a:r>
            <a:r>
              <a:rPr lang="en-US" altLang="zh-CN" dirty="0"/>
              <a:t>,</a:t>
            </a:r>
            <a:r>
              <a:rPr lang="zh-CN" altLang="en-US" dirty="0"/>
              <a:t>自然连接是一种特殊的等值连接，要求关系中进行比较的分量必须是相同的属性组。</a:t>
            </a:r>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29</a:t>
            </a:fld>
            <a:endParaRPr lang="en-US" altLang="zh-CN"/>
          </a:p>
        </p:txBody>
      </p:sp>
    </p:spTree>
    <p:extLst>
      <p:ext uri="{BB962C8B-B14F-4D97-AF65-F5344CB8AC3E}">
        <p14:creationId xmlns:p14="http://schemas.microsoft.com/office/powerpoint/2010/main" val="30065584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33</a:t>
            </a:fld>
            <a:endParaRPr lang="en-US" altLang="zh-CN"/>
          </a:p>
        </p:txBody>
      </p:sp>
    </p:spTree>
    <p:extLst>
      <p:ext uri="{BB962C8B-B14F-4D97-AF65-F5344CB8AC3E}">
        <p14:creationId xmlns:p14="http://schemas.microsoft.com/office/powerpoint/2010/main" val="26193107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43</a:t>
            </a:fld>
            <a:endParaRPr lang="en-US" altLang="zh-CN"/>
          </a:p>
        </p:txBody>
      </p:sp>
    </p:spTree>
    <p:extLst>
      <p:ext uri="{BB962C8B-B14F-4D97-AF65-F5344CB8AC3E}">
        <p14:creationId xmlns:p14="http://schemas.microsoft.com/office/powerpoint/2010/main" val="17041224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47</a:t>
            </a:fld>
            <a:endParaRPr lang="en-US" altLang="zh-CN"/>
          </a:p>
        </p:txBody>
      </p:sp>
    </p:spTree>
    <p:extLst>
      <p:ext uri="{BB962C8B-B14F-4D97-AF65-F5344CB8AC3E}">
        <p14:creationId xmlns:p14="http://schemas.microsoft.com/office/powerpoint/2010/main" val="15553588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48</a:t>
            </a:fld>
            <a:endParaRPr lang="en-US" altLang="zh-CN"/>
          </a:p>
        </p:txBody>
      </p:sp>
    </p:spTree>
    <p:extLst>
      <p:ext uri="{BB962C8B-B14F-4D97-AF65-F5344CB8AC3E}">
        <p14:creationId xmlns:p14="http://schemas.microsoft.com/office/powerpoint/2010/main" val="15553588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49</a:t>
            </a:fld>
            <a:endParaRPr lang="en-US" altLang="zh-CN"/>
          </a:p>
        </p:txBody>
      </p:sp>
    </p:spTree>
    <p:extLst>
      <p:ext uri="{BB962C8B-B14F-4D97-AF65-F5344CB8AC3E}">
        <p14:creationId xmlns:p14="http://schemas.microsoft.com/office/powerpoint/2010/main" val="15553588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50</a:t>
            </a:fld>
            <a:endParaRPr lang="en-US" altLang="zh-CN"/>
          </a:p>
        </p:txBody>
      </p:sp>
    </p:spTree>
    <p:extLst>
      <p:ext uri="{BB962C8B-B14F-4D97-AF65-F5344CB8AC3E}">
        <p14:creationId xmlns:p14="http://schemas.microsoft.com/office/powerpoint/2010/main" val="15553588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51</a:t>
            </a:fld>
            <a:endParaRPr lang="en-US" altLang="zh-CN"/>
          </a:p>
        </p:txBody>
      </p:sp>
    </p:spTree>
    <p:extLst>
      <p:ext uri="{BB962C8B-B14F-4D97-AF65-F5344CB8AC3E}">
        <p14:creationId xmlns:p14="http://schemas.microsoft.com/office/powerpoint/2010/main" val="15553588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59</a:t>
            </a:fld>
            <a:endParaRPr lang="en-US" altLang="zh-CN"/>
          </a:p>
        </p:txBody>
      </p:sp>
    </p:spTree>
    <p:extLst>
      <p:ext uri="{BB962C8B-B14F-4D97-AF65-F5344CB8AC3E}">
        <p14:creationId xmlns:p14="http://schemas.microsoft.com/office/powerpoint/2010/main" val="26193107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60</a:t>
            </a:fld>
            <a:endParaRPr lang="en-US" altLang="zh-CN"/>
          </a:p>
        </p:txBody>
      </p:sp>
    </p:spTree>
    <p:extLst>
      <p:ext uri="{BB962C8B-B14F-4D97-AF65-F5344CB8AC3E}">
        <p14:creationId xmlns:p14="http://schemas.microsoft.com/office/powerpoint/2010/main" val="29728787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61</a:t>
            </a:fld>
            <a:endParaRPr lang="en-US" altLang="zh-CN"/>
          </a:p>
        </p:txBody>
      </p:sp>
    </p:spTree>
    <p:extLst>
      <p:ext uri="{BB962C8B-B14F-4D97-AF65-F5344CB8AC3E}">
        <p14:creationId xmlns:p14="http://schemas.microsoft.com/office/powerpoint/2010/main" val="29728787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62</a:t>
            </a:fld>
            <a:endParaRPr lang="en-US" altLang="zh-CN"/>
          </a:p>
        </p:txBody>
      </p:sp>
    </p:spTree>
    <p:extLst>
      <p:ext uri="{BB962C8B-B14F-4D97-AF65-F5344CB8AC3E}">
        <p14:creationId xmlns:p14="http://schemas.microsoft.com/office/powerpoint/2010/main" val="26193107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63</a:t>
            </a:fld>
            <a:endParaRPr lang="en-US" altLang="zh-CN"/>
          </a:p>
        </p:txBody>
      </p:sp>
    </p:spTree>
    <p:extLst>
      <p:ext uri="{BB962C8B-B14F-4D97-AF65-F5344CB8AC3E}">
        <p14:creationId xmlns:p14="http://schemas.microsoft.com/office/powerpoint/2010/main" val="29728787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92</a:t>
            </a:fld>
            <a:endParaRPr lang="en-US" altLang="zh-CN"/>
          </a:p>
        </p:txBody>
      </p:sp>
    </p:spTree>
    <p:extLst>
      <p:ext uri="{BB962C8B-B14F-4D97-AF65-F5344CB8AC3E}">
        <p14:creationId xmlns:p14="http://schemas.microsoft.com/office/powerpoint/2010/main" val="26193107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93</a:t>
            </a:fld>
            <a:endParaRPr lang="en-US" altLang="zh-CN"/>
          </a:p>
        </p:txBody>
      </p:sp>
    </p:spTree>
    <p:extLst>
      <p:ext uri="{BB962C8B-B14F-4D97-AF65-F5344CB8AC3E}">
        <p14:creationId xmlns:p14="http://schemas.microsoft.com/office/powerpoint/2010/main" val="29728787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94</a:t>
            </a:fld>
            <a:endParaRPr lang="en-US" altLang="zh-CN"/>
          </a:p>
        </p:txBody>
      </p:sp>
    </p:spTree>
    <p:extLst>
      <p:ext uri="{BB962C8B-B14F-4D97-AF65-F5344CB8AC3E}">
        <p14:creationId xmlns:p14="http://schemas.microsoft.com/office/powerpoint/2010/main" val="29728787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95</a:t>
            </a:fld>
            <a:endParaRPr lang="en-US" altLang="zh-CN"/>
          </a:p>
        </p:txBody>
      </p:sp>
    </p:spTree>
    <p:extLst>
      <p:ext uri="{BB962C8B-B14F-4D97-AF65-F5344CB8AC3E}">
        <p14:creationId xmlns:p14="http://schemas.microsoft.com/office/powerpoint/2010/main" val="29728787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96</a:t>
            </a:fld>
            <a:endParaRPr lang="en-US" altLang="zh-CN"/>
          </a:p>
        </p:txBody>
      </p:sp>
    </p:spTree>
    <p:extLst>
      <p:ext uri="{BB962C8B-B14F-4D97-AF65-F5344CB8AC3E}">
        <p14:creationId xmlns:p14="http://schemas.microsoft.com/office/powerpoint/2010/main" val="29728787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97</a:t>
            </a:fld>
            <a:endParaRPr lang="en-US" altLang="zh-CN"/>
          </a:p>
        </p:txBody>
      </p:sp>
    </p:spTree>
    <p:extLst>
      <p:ext uri="{BB962C8B-B14F-4D97-AF65-F5344CB8AC3E}">
        <p14:creationId xmlns:p14="http://schemas.microsoft.com/office/powerpoint/2010/main" val="26193107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98</a:t>
            </a:fld>
            <a:endParaRPr lang="en-US" altLang="zh-CN"/>
          </a:p>
        </p:txBody>
      </p:sp>
    </p:spTree>
    <p:extLst>
      <p:ext uri="{BB962C8B-B14F-4D97-AF65-F5344CB8AC3E}">
        <p14:creationId xmlns:p14="http://schemas.microsoft.com/office/powerpoint/2010/main" val="29728787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99</a:t>
            </a:fld>
            <a:endParaRPr lang="en-US" altLang="zh-CN"/>
          </a:p>
        </p:txBody>
      </p:sp>
    </p:spTree>
    <p:extLst>
      <p:ext uri="{BB962C8B-B14F-4D97-AF65-F5344CB8AC3E}">
        <p14:creationId xmlns:p14="http://schemas.microsoft.com/office/powerpoint/2010/main" val="29728787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103</a:t>
            </a:fld>
            <a:endParaRPr lang="en-US" altLang="zh-CN"/>
          </a:p>
        </p:txBody>
      </p:sp>
    </p:spTree>
    <p:extLst>
      <p:ext uri="{BB962C8B-B14F-4D97-AF65-F5344CB8AC3E}">
        <p14:creationId xmlns:p14="http://schemas.microsoft.com/office/powerpoint/2010/main" val="26193107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104</a:t>
            </a:fld>
            <a:endParaRPr lang="en-US" altLang="zh-CN"/>
          </a:p>
        </p:txBody>
      </p:sp>
    </p:spTree>
    <p:extLst>
      <p:ext uri="{BB962C8B-B14F-4D97-AF65-F5344CB8AC3E}">
        <p14:creationId xmlns:p14="http://schemas.microsoft.com/office/powerpoint/2010/main" val="29728787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108</a:t>
            </a:fld>
            <a:endParaRPr lang="en-US" altLang="zh-CN"/>
          </a:p>
        </p:txBody>
      </p:sp>
    </p:spTree>
    <p:extLst>
      <p:ext uri="{BB962C8B-B14F-4D97-AF65-F5344CB8AC3E}">
        <p14:creationId xmlns:p14="http://schemas.microsoft.com/office/powerpoint/2010/main" val="29728787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125</a:t>
            </a:fld>
            <a:endParaRPr lang="en-US" altLang="zh-CN"/>
          </a:p>
        </p:txBody>
      </p:sp>
    </p:spTree>
    <p:extLst>
      <p:ext uri="{BB962C8B-B14F-4D97-AF65-F5344CB8AC3E}">
        <p14:creationId xmlns:p14="http://schemas.microsoft.com/office/powerpoint/2010/main" val="21320986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137</a:t>
            </a:fld>
            <a:endParaRPr lang="en-US" altLang="zh-CN"/>
          </a:p>
        </p:txBody>
      </p:sp>
    </p:spTree>
    <p:extLst>
      <p:ext uri="{BB962C8B-B14F-4D97-AF65-F5344CB8AC3E}">
        <p14:creationId xmlns:p14="http://schemas.microsoft.com/office/powerpoint/2010/main" val="29728787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138</a:t>
            </a:fld>
            <a:endParaRPr lang="en-US" altLang="zh-CN"/>
          </a:p>
        </p:txBody>
      </p:sp>
    </p:spTree>
    <p:extLst>
      <p:ext uri="{BB962C8B-B14F-4D97-AF65-F5344CB8AC3E}">
        <p14:creationId xmlns:p14="http://schemas.microsoft.com/office/powerpoint/2010/main" val="29728787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4F53C07F-DE34-475F-A416-CA73C1AAA933}" type="slidenum">
              <a:rPr lang="zh-CN" altLang="en-US" smtClean="0"/>
              <a:pPr>
                <a:defRPr/>
              </a:pPr>
              <a:t>139</a:t>
            </a:fld>
            <a:endParaRPr lang="en-US" altLang="zh-CN"/>
          </a:p>
        </p:txBody>
      </p:sp>
    </p:spTree>
    <p:extLst>
      <p:ext uri="{BB962C8B-B14F-4D97-AF65-F5344CB8AC3E}">
        <p14:creationId xmlns:p14="http://schemas.microsoft.com/office/powerpoint/2010/main" val="17861525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aphicFrame>
        <p:nvGraphicFramePr>
          <p:cNvPr id="4" name="Object 7"/>
          <p:cNvGraphicFramePr>
            <a:graphicFrameLocks/>
          </p:cNvGraphicFramePr>
          <p:nvPr/>
        </p:nvGraphicFramePr>
        <p:xfrm>
          <a:off x="533400" y="3124200"/>
          <a:ext cx="8305800" cy="76200"/>
        </p:xfrm>
        <a:graphic>
          <a:graphicData uri="http://schemas.openxmlformats.org/presentationml/2006/ole">
            <mc:AlternateContent xmlns:mc="http://schemas.openxmlformats.org/markup-compatibility/2006">
              <mc:Choice xmlns:v="urn:schemas-microsoft-com:vml" Requires="v">
                <p:oleObj name="Clip" r:id="rId2" imgW="6857143" imgH="48963" progId="">
                  <p:embed/>
                </p:oleObj>
              </mc:Choice>
              <mc:Fallback>
                <p:oleObj name="Clip" r:id="rId2" imgW="6857143" imgH="48963" progId="">
                  <p:embed/>
                  <p:pic>
                    <p:nvPicPr>
                      <p:cNvPr id="0" name="Picture 750"/>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124200"/>
                        <a:ext cx="8305800" cy="7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2" name="Rectangle 2"/>
          <p:cNvSpPr>
            <a:spLocks noGrp="1" noChangeArrowheads="1"/>
          </p:cNvSpPr>
          <p:nvPr>
            <p:ph type="ctrTitle"/>
          </p:nvPr>
        </p:nvSpPr>
        <p:spPr>
          <a:xfrm>
            <a:off x="838200" y="1371600"/>
            <a:ext cx="7772400" cy="1462088"/>
          </a:xfrm>
        </p:spPr>
        <p:txBody>
          <a:bodyPr/>
          <a:lstStyle>
            <a:lvl1pPr algn="ctr">
              <a:defRPr b="1"/>
            </a:lvl1pPr>
          </a:lstStyle>
          <a:p>
            <a:pPr lvl="0"/>
            <a:r>
              <a:rPr lang="zh-CN" altLang="en-US" noProof="0"/>
              <a:t>单击此处编辑母版标题样式</a:t>
            </a:r>
          </a:p>
        </p:txBody>
      </p:sp>
      <p:sp>
        <p:nvSpPr>
          <p:cNvPr id="5123" name="Rectangle 3"/>
          <p:cNvSpPr>
            <a:spLocks noGrp="1" noChangeArrowheads="1"/>
          </p:cNvSpPr>
          <p:nvPr>
            <p:ph type="subTitle" idx="1"/>
          </p:nvPr>
        </p:nvSpPr>
        <p:spPr>
          <a:xfrm>
            <a:off x="1371600" y="3657600"/>
            <a:ext cx="64008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5" name="Rectangle 4"/>
          <p:cNvSpPr>
            <a:spLocks noGrp="1" noChangeArrowheads="1"/>
          </p:cNvSpPr>
          <p:nvPr>
            <p:ph type="dt" sz="half" idx="10"/>
          </p:nvPr>
        </p:nvSpPr>
        <p:spPr>
          <a:xfrm>
            <a:off x="990600" y="6248400"/>
            <a:ext cx="1905000" cy="457200"/>
          </a:xfrm>
        </p:spPr>
        <p:txBody>
          <a:bodyPr/>
          <a:lstStyle>
            <a:lvl1pPr>
              <a:defRPr smtClean="0">
                <a:solidFill>
                  <a:schemeClr val="bg2"/>
                </a:solidFill>
              </a:defRPr>
            </a:lvl1pPr>
          </a:lstStyle>
          <a:p>
            <a:pPr>
              <a:defRPr/>
            </a:pPr>
            <a:fld id="{2D2475D9-9FD1-42AE-8CB0-0AEB0989F565}" type="datetime1">
              <a:rPr lang="zh-CN" altLang="en-US" smtClean="0"/>
              <a:t>2025/10/15</a:t>
            </a:fld>
            <a:endParaRPr lang="en-US" altLang="zh-CN"/>
          </a:p>
        </p:txBody>
      </p:sp>
      <p:sp>
        <p:nvSpPr>
          <p:cNvPr id="6" name="Rectangle 5"/>
          <p:cNvSpPr>
            <a:spLocks noGrp="1" noChangeArrowheads="1"/>
          </p:cNvSpPr>
          <p:nvPr>
            <p:ph type="ftr" sz="quarter" idx="11"/>
          </p:nvPr>
        </p:nvSpPr>
        <p:spPr>
          <a:xfrm>
            <a:off x="3429000" y="6248400"/>
            <a:ext cx="2895600" cy="457200"/>
          </a:xfrm>
        </p:spPr>
        <p:txBody>
          <a:bodyPr/>
          <a:lstStyle>
            <a:lvl1pPr>
              <a:defRPr smtClean="0">
                <a:solidFill>
                  <a:schemeClr val="bg2"/>
                </a:solidFill>
              </a:defRPr>
            </a:lvl1pPr>
          </a:lstStyle>
          <a:p>
            <a:pPr>
              <a:defRPr/>
            </a:pPr>
            <a:r>
              <a:rPr lang="en-US" altLang="zh-CN"/>
              <a:t>《数据库系统概论》- 第3章</a:t>
            </a:r>
          </a:p>
        </p:txBody>
      </p:sp>
      <p:sp>
        <p:nvSpPr>
          <p:cNvPr id="7" name="Rectangle 6"/>
          <p:cNvSpPr>
            <a:spLocks noGrp="1" noChangeArrowheads="1"/>
          </p:cNvSpPr>
          <p:nvPr>
            <p:ph type="sldNum" sz="quarter" idx="12"/>
          </p:nvPr>
        </p:nvSpPr>
        <p:spPr>
          <a:xfrm>
            <a:off x="6858000" y="6248400"/>
            <a:ext cx="1905000" cy="457200"/>
          </a:xfrm>
        </p:spPr>
        <p:txBody>
          <a:bodyPr/>
          <a:lstStyle>
            <a:lvl1pPr>
              <a:defRPr smtClean="0">
                <a:solidFill>
                  <a:schemeClr val="bg2"/>
                </a:solidFill>
              </a:defRPr>
            </a:lvl1pPr>
          </a:lstStyle>
          <a:p>
            <a:pPr>
              <a:defRPr/>
            </a:pPr>
            <a:fld id="{D3BF4510-0278-40CF-B611-0F02EF94E99C}" type="slidenum">
              <a:rPr lang="en-US" altLang="zh-CN"/>
              <a:pPr>
                <a:defRPr/>
              </a:pPr>
              <a:t>‹#›</a:t>
            </a:fld>
            <a:endParaRPr lang="en-US" altLang="zh-CN"/>
          </a:p>
        </p:txBody>
      </p:sp>
    </p:spTree>
    <p:extLst>
      <p:ext uri="{BB962C8B-B14F-4D97-AF65-F5344CB8AC3E}">
        <p14:creationId xmlns:p14="http://schemas.microsoft.com/office/powerpoint/2010/main" val="1291430734"/>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A5AB0390-C024-4815-A153-E6AB81BE8463}" type="datetime1">
              <a:rPr lang="zh-CN" altLang="en-US" smtClean="0"/>
              <a:t>2025/10/15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《数据库系统概论》- 第3章</a:t>
            </a:r>
          </a:p>
        </p:txBody>
      </p:sp>
      <p:sp>
        <p:nvSpPr>
          <p:cNvPr id="6" name="Rectangle 6"/>
          <p:cNvSpPr>
            <a:spLocks noGrp="1" noChangeArrowheads="1"/>
          </p:cNvSpPr>
          <p:nvPr>
            <p:ph type="sldNum" sz="quarter" idx="12"/>
          </p:nvPr>
        </p:nvSpPr>
        <p:spPr>
          <a:ln/>
        </p:spPr>
        <p:txBody>
          <a:bodyPr/>
          <a:lstStyle>
            <a:lvl1pPr>
              <a:defRPr/>
            </a:lvl1pPr>
          </a:lstStyle>
          <a:p>
            <a:pPr>
              <a:defRPr/>
            </a:pPr>
            <a:fld id="{E0CD82EA-F7BE-454B-A83E-18830F6C5424}" type="slidenum">
              <a:rPr lang="en-US" altLang="zh-CN" smtClean="0"/>
              <a:pPr>
                <a:defRPr/>
              </a:pPr>
              <a:t>‹#›</a:t>
            </a:fld>
            <a:r>
              <a:rPr lang="en-US" altLang="zh-CN" dirty="0"/>
              <a:t>/138</a:t>
            </a:r>
            <a:endParaRPr lang="zh-CN" altLang="en-US" dirty="0"/>
          </a:p>
        </p:txBody>
      </p:sp>
    </p:spTree>
    <p:extLst>
      <p:ext uri="{BB962C8B-B14F-4D97-AF65-F5344CB8AC3E}">
        <p14:creationId xmlns:p14="http://schemas.microsoft.com/office/powerpoint/2010/main" val="2522881747"/>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B208C40B-64FA-4892-85DE-D4D5C0729174}" type="datetime1">
              <a:rPr lang="zh-CN" altLang="en-US" smtClean="0"/>
              <a:t>2025/10/15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《数据库系统概论》- 第3章</a:t>
            </a:r>
          </a:p>
        </p:txBody>
      </p:sp>
      <p:sp>
        <p:nvSpPr>
          <p:cNvPr id="6" name="Rectangle 6"/>
          <p:cNvSpPr>
            <a:spLocks noGrp="1" noChangeArrowheads="1"/>
          </p:cNvSpPr>
          <p:nvPr>
            <p:ph type="sldNum" sz="quarter" idx="12"/>
          </p:nvPr>
        </p:nvSpPr>
        <p:spPr>
          <a:ln/>
        </p:spPr>
        <p:txBody>
          <a:bodyPr/>
          <a:lstStyle>
            <a:lvl1pPr>
              <a:defRPr/>
            </a:lvl1pPr>
          </a:lstStyle>
          <a:p>
            <a:pPr>
              <a:defRPr/>
            </a:pPr>
            <a:fld id="{2915701D-4886-4FC7-8299-13B5AF2EC3E5}" type="slidenum">
              <a:rPr lang="en-US" altLang="zh-CN" smtClean="0"/>
              <a:pPr>
                <a:defRPr/>
              </a:pPr>
              <a:t>‹#›</a:t>
            </a:fld>
            <a:r>
              <a:rPr lang="en-US" altLang="zh-CN" dirty="0"/>
              <a:t>/138</a:t>
            </a:r>
            <a:endParaRPr lang="zh-CN" altLang="en-US" dirty="0"/>
          </a:p>
        </p:txBody>
      </p:sp>
    </p:spTree>
    <p:extLst>
      <p:ext uri="{BB962C8B-B14F-4D97-AF65-F5344CB8AC3E}">
        <p14:creationId xmlns:p14="http://schemas.microsoft.com/office/powerpoint/2010/main" val="4754987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447800"/>
            <a:ext cx="4095750" cy="46847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57750" y="1447800"/>
            <a:ext cx="4097338" cy="46847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CFB01D09-980C-444C-B2B8-0088B2CA27FF}" type="datetime1">
              <a:rPr lang="zh-CN" altLang="en-US" smtClean="0"/>
              <a:t>2025/10/15</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《数据库系统概论》- 第3章</a:t>
            </a:r>
          </a:p>
        </p:txBody>
      </p:sp>
      <p:sp>
        <p:nvSpPr>
          <p:cNvPr id="7" name="Rectangle 6"/>
          <p:cNvSpPr>
            <a:spLocks noGrp="1" noChangeArrowheads="1"/>
          </p:cNvSpPr>
          <p:nvPr>
            <p:ph type="sldNum" sz="quarter" idx="12"/>
          </p:nvPr>
        </p:nvSpPr>
        <p:spPr>
          <a:ln/>
        </p:spPr>
        <p:txBody>
          <a:bodyPr/>
          <a:lstStyle>
            <a:lvl1pPr>
              <a:defRPr/>
            </a:lvl1pPr>
          </a:lstStyle>
          <a:p>
            <a:pPr>
              <a:defRPr/>
            </a:pPr>
            <a:fld id="{C0BFB5AF-00C3-4229-80FB-3644303542FA}" type="slidenum">
              <a:rPr lang="en-US" altLang="zh-CN" smtClean="0"/>
              <a:pPr>
                <a:defRPr/>
              </a:pPr>
              <a:t>‹#›</a:t>
            </a:fld>
            <a:r>
              <a:rPr lang="en-US" altLang="zh-CN" dirty="0"/>
              <a:t>/138</a:t>
            </a:r>
            <a:endParaRPr lang="zh-CN" altLang="en-US" dirty="0"/>
          </a:p>
        </p:txBody>
      </p:sp>
    </p:spTree>
    <p:extLst>
      <p:ext uri="{BB962C8B-B14F-4D97-AF65-F5344CB8AC3E}">
        <p14:creationId xmlns:p14="http://schemas.microsoft.com/office/powerpoint/2010/main" val="322608160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861D14AA-D2D1-4C08-8F54-ED48616EC107}" type="datetime1">
              <a:rPr lang="zh-CN" altLang="en-US" smtClean="0"/>
              <a:t>2025/10/15</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zh-CN"/>
              <a:t>《数据库系统概论》- 第3章</a:t>
            </a:r>
          </a:p>
        </p:txBody>
      </p:sp>
      <p:sp>
        <p:nvSpPr>
          <p:cNvPr id="9" name="Rectangle 6"/>
          <p:cNvSpPr>
            <a:spLocks noGrp="1" noChangeArrowheads="1"/>
          </p:cNvSpPr>
          <p:nvPr>
            <p:ph type="sldNum" sz="quarter" idx="12"/>
          </p:nvPr>
        </p:nvSpPr>
        <p:spPr>
          <a:ln/>
        </p:spPr>
        <p:txBody>
          <a:bodyPr/>
          <a:lstStyle>
            <a:lvl1pPr>
              <a:defRPr/>
            </a:lvl1pPr>
          </a:lstStyle>
          <a:p>
            <a:pPr>
              <a:defRPr/>
            </a:pPr>
            <a:fld id="{CF5CD1AB-7B24-4427-9E56-5032E9315002}" type="slidenum">
              <a:rPr lang="en-US" altLang="zh-CN" smtClean="0"/>
              <a:pPr>
                <a:defRPr/>
              </a:pPr>
              <a:t>‹#›</a:t>
            </a:fld>
            <a:r>
              <a:rPr lang="en-US" altLang="zh-CN" dirty="0"/>
              <a:t>/138</a:t>
            </a:r>
            <a:endParaRPr lang="zh-CN" altLang="en-US" dirty="0"/>
          </a:p>
        </p:txBody>
      </p:sp>
    </p:spTree>
    <p:extLst>
      <p:ext uri="{BB962C8B-B14F-4D97-AF65-F5344CB8AC3E}">
        <p14:creationId xmlns:p14="http://schemas.microsoft.com/office/powerpoint/2010/main" val="7003565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B072E235-FB07-4557-86E7-D7D1301168FB}" type="datetime1">
              <a:rPr lang="zh-CN" altLang="en-US" smtClean="0"/>
              <a:t>2025/10/15</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zh-CN"/>
              <a:t>《数据库系统概论》- 第3章</a:t>
            </a:r>
          </a:p>
        </p:txBody>
      </p:sp>
      <p:sp>
        <p:nvSpPr>
          <p:cNvPr id="5" name="Rectangle 6"/>
          <p:cNvSpPr>
            <a:spLocks noGrp="1" noChangeArrowheads="1"/>
          </p:cNvSpPr>
          <p:nvPr>
            <p:ph type="sldNum" sz="quarter" idx="12"/>
          </p:nvPr>
        </p:nvSpPr>
        <p:spPr>
          <a:ln/>
        </p:spPr>
        <p:txBody>
          <a:bodyPr/>
          <a:lstStyle>
            <a:lvl1pPr>
              <a:defRPr/>
            </a:lvl1pPr>
          </a:lstStyle>
          <a:p>
            <a:pPr>
              <a:defRPr/>
            </a:pPr>
            <a:fld id="{E49F6470-30F0-46F2-A9B4-347B3C250B99}" type="slidenum">
              <a:rPr lang="en-US" altLang="zh-CN" smtClean="0"/>
              <a:pPr>
                <a:defRPr/>
              </a:pPr>
              <a:t>‹#›</a:t>
            </a:fld>
            <a:r>
              <a:rPr lang="en-US" altLang="zh-CN" dirty="0"/>
              <a:t>/138</a:t>
            </a:r>
            <a:endParaRPr lang="zh-CN" altLang="en-US" dirty="0"/>
          </a:p>
        </p:txBody>
      </p:sp>
    </p:spTree>
    <p:extLst>
      <p:ext uri="{BB962C8B-B14F-4D97-AF65-F5344CB8AC3E}">
        <p14:creationId xmlns:p14="http://schemas.microsoft.com/office/powerpoint/2010/main" val="228240637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EAB78765-D16A-4DB2-9349-0D8314999A2E}" type="datetime1">
              <a:rPr lang="zh-CN" altLang="en-US" smtClean="0"/>
              <a:t>2025/10/15</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zh-CN"/>
              <a:t>《数据库系统概论》- 第3章</a:t>
            </a:r>
          </a:p>
        </p:txBody>
      </p:sp>
      <p:sp>
        <p:nvSpPr>
          <p:cNvPr id="4" name="Rectangle 6"/>
          <p:cNvSpPr>
            <a:spLocks noGrp="1" noChangeArrowheads="1"/>
          </p:cNvSpPr>
          <p:nvPr>
            <p:ph type="sldNum" sz="quarter" idx="12"/>
          </p:nvPr>
        </p:nvSpPr>
        <p:spPr>
          <a:ln/>
        </p:spPr>
        <p:txBody>
          <a:bodyPr/>
          <a:lstStyle>
            <a:lvl1pPr>
              <a:defRPr/>
            </a:lvl1pPr>
          </a:lstStyle>
          <a:p>
            <a:pPr>
              <a:defRPr/>
            </a:pPr>
            <a:fld id="{2CF3156E-B8C2-412F-AFBE-30E4CB8151DB}" type="slidenum">
              <a:rPr lang="en-US" altLang="zh-CN" smtClean="0"/>
              <a:pPr>
                <a:defRPr/>
              </a:pPr>
              <a:t>‹#›</a:t>
            </a:fld>
            <a:r>
              <a:rPr lang="en-US" altLang="zh-CN" dirty="0"/>
              <a:t>/138</a:t>
            </a:r>
            <a:endParaRPr lang="zh-CN" altLang="en-US" dirty="0"/>
          </a:p>
        </p:txBody>
      </p:sp>
    </p:spTree>
    <p:extLst>
      <p:ext uri="{BB962C8B-B14F-4D97-AF65-F5344CB8AC3E}">
        <p14:creationId xmlns:p14="http://schemas.microsoft.com/office/powerpoint/2010/main" val="36085680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0828659C-CCFE-4D85-BF95-B6384DAA8465}" type="datetime1">
              <a:rPr lang="zh-CN" altLang="en-US" smtClean="0"/>
              <a:t>2025/10/15</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《数据库系统概论》- 第3章</a:t>
            </a:r>
          </a:p>
        </p:txBody>
      </p:sp>
      <p:sp>
        <p:nvSpPr>
          <p:cNvPr id="7" name="Rectangle 6"/>
          <p:cNvSpPr>
            <a:spLocks noGrp="1" noChangeArrowheads="1"/>
          </p:cNvSpPr>
          <p:nvPr>
            <p:ph type="sldNum" sz="quarter" idx="12"/>
          </p:nvPr>
        </p:nvSpPr>
        <p:spPr>
          <a:ln/>
        </p:spPr>
        <p:txBody>
          <a:bodyPr/>
          <a:lstStyle>
            <a:lvl1pPr>
              <a:defRPr/>
            </a:lvl1pPr>
          </a:lstStyle>
          <a:p>
            <a:pPr>
              <a:defRPr/>
            </a:pPr>
            <a:fld id="{25CAF686-1E1A-4212-AE78-EDF5D1EE7E58}" type="slidenum">
              <a:rPr lang="en-US" altLang="zh-CN" smtClean="0"/>
              <a:pPr>
                <a:defRPr/>
              </a:pPr>
              <a:t>‹#›</a:t>
            </a:fld>
            <a:r>
              <a:rPr lang="en-US" altLang="zh-CN" dirty="0"/>
              <a:t>/225</a:t>
            </a:r>
            <a:endParaRPr lang="zh-CN" altLang="en-US" dirty="0"/>
          </a:p>
        </p:txBody>
      </p:sp>
    </p:spTree>
    <p:extLst>
      <p:ext uri="{BB962C8B-B14F-4D97-AF65-F5344CB8AC3E}">
        <p14:creationId xmlns:p14="http://schemas.microsoft.com/office/powerpoint/2010/main" val="73569471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2C4FBAB2-0C25-439A-A646-8FEC29DA85DB}" type="datetime1">
              <a:rPr lang="zh-CN" altLang="en-US" smtClean="0"/>
              <a:t>2025/10/15</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《数据库系统概论》- 第3章</a:t>
            </a:r>
          </a:p>
        </p:txBody>
      </p:sp>
      <p:sp>
        <p:nvSpPr>
          <p:cNvPr id="7" name="Rectangle 6"/>
          <p:cNvSpPr>
            <a:spLocks noGrp="1" noChangeArrowheads="1"/>
          </p:cNvSpPr>
          <p:nvPr>
            <p:ph type="sldNum" sz="quarter" idx="12"/>
          </p:nvPr>
        </p:nvSpPr>
        <p:spPr>
          <a:ln/>
        </p:spPr>
        <p:txBody>
          <a:bodyPr/>
          <a:lstStyle>
            <a:lvl1pPr>
              <a:defRPr/>
            </a:lvl1pPr>
          </a:lstStyle>
          <a:p>
            <a:pPr>
              <a:defRPr/>
            </a:pPr>
            <a:fld id="{5CD7E72A-BB86-4279-8871-E07E727D6110}" type="slidenum">
              <a:rPr lang="en-US" altLang="zh-CN" smtClean="0"/>
              <a:pPr>
                <a:defRPr/>
              </a:pPr>
              <a:t>‹#›</a:t>
            </a:fld>
            <a:r>
              <a:rPr lang="en-US" altLang="zh-CN" dirty="0"/>
              <a:t>/225</a:t>
            </a:r>
            <a:endParaRPr lang="zh-CN" altLang="en-US" dirty="0"/>
          </a:p>
        </p:txBody>
      </p:sp>
    </p:spTree>
    <p:extLst>
      <p:ext uri="{BB962C8B-B14F-4D97-AF65-F5344CB8AC3E}">
        <p14:creationId xmlns:p14="http://schemas.microsoft.com/office/powerpoint/2010/main" val="3409619767"/>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08EFC2F3-8627-4E05-98F9-1DEE3B343992}" type="datetime1">
              <a:rPr lang="zh-CN" altLang="en-US" smtClean="0"/>
              <a:t>2025/10/15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《数据库系统概论》- 第3章</a:t>
            </a:r>
          </a:p>
        </p:txBody>
      </p:sp>
      <p:sp>
        <p:nvSpPr>
          <p:cNvPr id="6" name="Rectangle 6"/>
          <p:cNvSpPr>
            <a:spLocks noGrp="1" noChangeArrowheads="1"/>
          </p:cNvSpPr>
          <p:nvPr>
            <p:ph type="sldNum" sz="quarter" idx="12"/>
          </p:nvPr>
        </p:nvSpPr>
        <p:spPr>
          <a:ln/>
        </p:spPr>
        <p:txBody>
          <a:bodyPr/>
          <a:lstStyle>
            <a:lvl1pPr>
              <a:defRPr/>
            </a:lvl1pPr>
          </a:lstStyle>
          <a:p>
            <a:pPr>
              <a:defRPr/>
            </a:pPr>
            <a:fld id="{21F8BAEB-9568-4D00-923C-5E9A8E058C22}" type="slidenum">
              <a:rPr lang="en-US" altLang="zh-CN" smtClean="0"/>
              <a:pPr>
                <a:defRPr/>
              </a:pPr>
              <a:t>‹#›</a:t>
            </a:fld>
            <a:r>
              <a:rPr lang="en-US" altLang="zh-CN" dirty="0"/>
              <a:t>/225</a:t>
            </a:r>
            <a:endParaRPr lang="zh-CN" altLang="en-US" dirty="0"/>
          </a:p>
        </p:txBody>
      </p:sp>
    </p:spTree>
    <p:extLst>
      <p:ext uri="{BB962C8B-B14F-4D97-AF65-F5344CB8AC3E}">
        <p14:creationId xmlns:p14="http://schemas.microsoft.com/office/powerpoint/2010/main" val="61945593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9113" y="381000"/>
            <a:ext cx="2085975" cy="57515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381000"/>
            <a:ext cx="6107113" cy="57515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31D1F5B1-87A6-4DD3-8420-98BC52093806}" type="datetime1">
              <a:rPr lang="zh-CN" altLang="en-US" smtClean="0"/>
              <a:t>2025/10/15</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zh-CN"/>
              <a:t>《数据库系统概论》- 第3章</a:t>
            </a:r>
          </a:p>
        </p:txBody>
      </p:sp>
      <p:sp>
        <p:nvSpPr>
          <p:cNvPr id="6" name="Rectangle 6"/>
          <p:cNvSpPr>
            <a:spLocks noGrp="1" noChangeArrowheads="1"/>
          </p:cNvSpPr>
          <p:nvPr>
            <p:ph type="sldNum" sz="quarter" idx="12"/>
          </p:nvPr>
        </p:nvSpPr>
        <p:spPr>
          <a:ln/>
        </p:spPr>
        <p:txBody>
          <a:bodyPr/>
          <a:lstStyle>
            <a:lvl1pPr>
              <a:defRPr/>
            </a:lvl1pPr>
          </a:lstStyle>
          <a:p>
            <a:pPr>
              <a:defRPr/>
            </a:pPr>
            <a:fld id="{6E1D7009-6F38-40C2-BE5D-B577DDD75D74}" type="slidenum">
              <a:rPr lang="en-US" altLang="zh-CN" smtClean="0"/>
              <a:pPr>
                <a:defRPr/>
              </a:pPr>
              <a:t>‹#›</a:t>
            </a:fld>
            <a:r>
              <a:rPr lang="en-US" altLang="zh-CN" dirty="0"/>
              <a:t>/225</a:t>
            </a:r>
            <a:endParaRPr lang="zh-CN" altLang="en-US" dirty="0"/>
          </a:p>
        </p:txBody>
      </p:sp>
    </p:spTree>
    <p:extLst>
      <p:ext uri="{BB962C8B-B14F-4D97-AF65-F5344CB8AC3E}">
        <p14:creationId xmlns:p14="http://schemas.microsoft.com/office/powerpoint/2010/main" val="1313397682"/>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81000"/>
            <a:ext cx="8105775" cy="762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447800"/>
            <a:ext cx="4095750" cy="46847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57750" y="1447800"/>
            <a:ext cx="4097338" cy="46847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0C509ADD-E75F-4FDF-9BD9-82D2AE229906}" type="datetime1">
              <a:rPr lang="zh-CN" altLang="en-US" smtClean="0"/>
              <a:t>2025/10/15</a:t>
            </a:fld>
            <a:endParaRPr lang="en-US" altLang="zh-CN" dirty="0"/>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zh-CN"/>
              <a:t>《数据库系统概论》- 第3章</a:t>
            </a:r>
          </a:p>
        </p:txBody>
      </p:sp>
      <p:sp>
        <p:nvSpPr>
          <p:cNvPr id="7" name="Rectangle 6"/>
          <p:cNvSpPr>
            <a:spLocks noGrp="1" noChangeArrowheads="1"/>
          </p:cNvSpPr>
          <p:nvPr>
            <p:ph type="sldNum" sz="quarter" idx="12"/>
          </p:nvPr>
        </p:nvSpPr>
        <p:spPr>
          <a:ln/>
        </p:spPr>
        <p:txBody>
          <a:bodyPr/>
          <a:lstStyle>
            <a:lvl1pPr>
              <a:defRPr/>
            </a:lvl1pPr>
          </a:lstStyle>
          <a:p>
            <a:pPr>
              <a:defRPr/>
            </a:pPr>
            <a:fld id="{F5B95F93-1FA0-4470-9C7E-0F02488CAEB5}" type="slidenum">
              <a:rPr lang="en-US" altLang="zh-CN" smtClean="0"/>
              <a:pPr>
                <a:defRPr/>
              </a:pPr>
              <a:t>‹#›</a:t>
            </a:fld>
            <a:r>
              <a:rPr lang="en-US" altLang="zh-CN" dirty="0"/>
              <a:t>/138</a:t>
            </a:r>
            <a:endParaRPr lang="zh-CN" altLang="en-US" dirty="0"/>
          </a:p>
        </p:txBody>
      </p:sp>
    </p:spTree>
    <p:extLst>
      <p:ext uri="{BB962C8B-B14F-4D97-AF65-F5344CB8AC3E}">
        <p14:creationId xmlns:p14="http://schemas.microsoft.com/office/powerpoint/2010/main" val="151578636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38200" y="381000"/>
            <a:ext cx="81057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09600" y="1447800"/>
            <a:ext cx="8345488" cy="468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0" name="Rectangle 4"/>
          <p:cNvSpPr>
            <a:spLocks noGrp="1" noChangeArrowheads="1"/>
          </p:cNvSpPr>
          <p:nvPr>
            <p:ph type="dt" sz="half" idx="2"/>
          </p:nvPr>
        </p:nvSpPr>
        <p:spPr bwMode="auto">
          <a:xfrm>
            <a:off x="6096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kumimoji="0" sz="1400" smtClean="0">
                <a:cs typeface="Arial" pitchFamily="34" charset="0"/>
              </a:defRPr>
            </a:lvl1pPr>
          </a:lstStyle>
          <a:p>
            <a:pPr>
              <a:defRPr/>
            </a:pPr>
            <a:fld id="{870341C4-9606-4DB1-9C12-6ABE083906B5}" type="datetime1">
              <a:rPr lang="zh-CN" altLang="en-US" smtClean="0"/>
              <a:t>2025/10/15</a:t>
            </a:fld>
            <a:endParaRPr lang="en-US" altLang="zh-CN"/>
          </a:p>
        </p:txBody>
      </p:sp>
      <p:sp>
        <p:nvSpPr>
          <p:cNvPr id="4101" name="Rectangle 5"/>
          <p:cNvSpPr>
            <a:spLocks noGrp="1" noChangeArrowheads="1"/>
          </p:cNvSpPr>
          <p:nvPr>
            <p:ph type="ftr" sz="quarter" idx="3"/>
          </p:nvPr>
        </p:nvSpPr>
        <p:spPr bwMode="auto">
          <a:xfrm>
            <a:off x="3276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0" sz="1400" smtClean="0">
                <a:cs typeface="Arial" pitchFamily="34" charset="0"/>
              </a:defRPr>
            </a:lvl1pPr>
          </a:lstStyle>
          <a:p>
            <a:pPr>
              <a:defRPr/>
            </a:pPr>
            <a:r>
              <a:rPr lang="en-US" altLang="zh-CN"/>
              <a:t>《数据库系统概论》- 第3章</a:t>
            </a:r>
          </a:p>
        </p:txBody>
      </p:sp>
      <p:sp>
        <p:nvSpPr>
          <p:cNvPr id="4102" name="Rectangle 6"/>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400" smtClean="0">
                <a:cs typeface="Arial" pitchFamily="34" charset="0"/>
              </a:defRPr>
            </a:lvl1pPr>
          </a:lstStyle>
          <a:p>
            <a:pPr>
              <a:defRPr/>
            </a:pPr>
            <a:fld id="{1D652F23-F222-4961-A4BB-131A6C79ADB7}" type="slidenum">
              <a:rPr lang="en-US" altLang="zh-CN" smtClean="0"/>
              <a:pPr>
                <a:defRPr/>
              </a:pPr>
              <a:t>‹#›</a:t>
            </a:fld>
            <a:r>
              <a:rPr lang="en-US" altLang="zh-CN" dirty="0"/>
              <a:t>/219</a:t>
            </a:r>
            <a:endParaRPr lang="zh-CN" altLang="en-US" dirty="0"/>
          </a:p>
        </p:txBody>
      </p:sp>
      <p:pic>
        <p:nvPicPr>
          <p:cNvPr id="1031" name="Picture 7" descr="redBa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38200" y="1219200"/>
            <a:ext cx="7924800" cy="1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4"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ransition>
    <p:fade/>
  </p:transition>
  <p:hf hdr="0"/>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Tahoma" pitchFamily="34" charset="0"/>
          <a:ea typeface="宋体" pitchFamily="2" charset="-122"/>
        </a:defRPr>
      </a:lvl2pPr>
      <a:lvl3pPr algn="l" rtl="0" eaLnBrk="0" fontAlgn="base" hangingPunct="0">
        <a:spcBef>
          <a:spcPct val="0"/>
        </a:spcBef>
        <a:spcAft>
          <a:spcPct val="0"/>
        </a:spcAft>
        <a:defRPr sz="3200">
          <a:solidFill>
            <a:schemeClr val="tx2"/>
          </a:solidFill>
          <a:latin typeface="Tahoma" pitchFamily="34" charset="0"/>
          <a:ea typeface="宋体" pitchFamily="2" charset="-122"/>
        </a:defRPr>
      </a:lvl3pPr>
      <a:lvl4pPr algn="l" rtl="0" eaLnBrk="0" fontAlgn="base" hangingPunct="0">
        <a:spcBef>
          <a:spcPct val="0"/>
        </a:spcBef>
        <a:spcAft>
          <a:spcPct val="0"/>
        </a:spcAft>
        <a:defRPr sz="3200">
          <a:solidFill>
            <a:schemeClr val="tx2"/>
          </a:solidFill>
          <a:latin typeface="Tahoma" pitchFamily="34" charset="0"/>
          <a:ea typeface="宋体" pitchFamily="2" charset="-122"/>
        </a:defRPr>
      </a:lvl4pPr>
      <a:lvl5pPr algn="l" rtl="0" eaLnBrk="0" fontAlgn="base" hangingPunct="0">
        <a:spcBef>
          <a:spcPct val="0"/>
        </a:spcBef>
        <a:spcAft>
          <a:spcPct val="0"/>
        </a:spcAft>
        <a:defRPr sz="3200">
          <a:solidFill>
            <a:schemeClr val="tx2"/>
          </a:solidFill>
          <a:latin typeface="Tahoma" pitchFamily="34" charset="0"/>
          <a:ea typeface="宋体" pitchFamily="2" charset="-122"/>
        </a:defRPr>
      </a:lvl5pPr>
      <a:lvl6pPr marL="457200" algn="l" rtl="0" fontAlgn="base">
        <a:spcBef>
          <a:spcPct val="0"/>
        </a:spcBef>
        <a:spcAft>
          <a:spcPct val="0"/>
        </a:spcAft>
        <a:defRPr sz="3200">
          <a:solidFill>
            <a:schemeClr val="tx2"/>
          </a:solidFill>
          <a:latin typeface="Tahoma" pitchFamily="34" charset="0"/>
          <a:ea typeface="宋体" pitchFamily="2" charset="-122"/>
        </a:defRPr>
      </a:lvl6pPr>
      <a:lvl7pPr marL="914400" algn="l" rtl="0" fontAlgn="base">
        <a:spcBef>
          <a:spcPct val="0"/>
        </a:spcBef>
        <a:spcAft>
          <a:spcPct val="0"/>
        </a:spcAft>
        <a:defRPr sz="3200">
          <a:solidFill>
            <a:schemeClr val="tx2"/>
          </a:solidFill>
          <a:latin typeface="Tahoma" pitchFamily="34" charset="0"/>
          <a:ea typeface="宋体" pitchFamily="2" charset="-122"/>
        </a:defRPr>
      </a:lvl7pPr>
      <a:lvl8pPr marL="1371600" algn="l" rtl="0" fontAlgn="base">
        <a:spcBef>
          <a:spcPct val="0"/>
        </a:spcBef>
        <a:spcAft>
          <a:spcPct val="0"/>
        </a:spcAft>
        <a:defRPr sz="3200">
          <a:solidFill>
            <a:schemeClr val="tx2"/>
          </a:solidFill>
          <a:latin typeface="Tahoma" pitchFamily="34" charset="0"/>
          <a:ea typeface="宋体" pitchFamily="2" charset="-122"/>
        </a:defRPr>
      </a:lvl8pPr>
      <a:lvl9pPr marL="1828800" algn="l" rtl="0" fontAlgn="base">
        <a:spcBef>
          <a:spcPct val="0"/>
        </a:spcBef>
        <a:spcAft>
          <a:spcPct val="0"/>
        </a:spcAft>
        <a:defRPr sz="32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baike.baidu.com/view/694082.ht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zh-CN" altLang="en-US" sz="4000">
                <a:latin typeface="Times New Roman" pitchFamily="18" charset="0"/>
              </a:rPr>
              <a:t>数据库系统原理</a:t>
            </a:r>
            <a:br>
              <a:rPr lang="zh-CN" altLang="en-US" sz="4000">
                <a:latin typeface="Times New Roman" pitchFamily="18" charset="0"/>
              </a:rPr>
            </a:br>
            <a:br>
              <a:rPr lang="zh-CN" altLang="en-US" sz="900">
                <a:latin typeface="Times New Roman" pitchFamily="18" charset="0"/>
              </a:rPr>
            </a:br>
            <a:r>
              <a:rPr lang="en-US" altLang="zh-CN" sz="2800">
                <a:latin typeface="Times New Roman" pitchFamily="18" charset="0"/>
              </a:rPr>
              <a:t>Database System Principles</a:t>
            </a:r>
          </a:p>
        </p:txBody>
      </p:sp>
      <p:sp>
        <p:nvSpPr>
          <p:cNvPr id="3075" name="Rectangle 3"/>
          <p:cNvSpPr>
            <a:spLocks noGrp="1" noChangeArrowheads="1"/>
          </p:cNvSpPr>
          <p:nvPr>
            <p:ph type="subTitle" idx="1"/>
          </p:nvPr>
        </p:nvSpPr>
        <p:spPr>
          <a:xfrm>
            <a:off x="1371600" y="3657600"/>
            <a:ext cx="6400800" cy="2438400"/>
          </a:xfrm>
        </p:spPr>
        <p:txBody>
          <a:bodyPr/>
          <a:lstStyle/>
          <a:p>
            <a:pPr eaLnBrk="1" hangingPunct="1">
              <a:lnSpc>
                <a:spcPct val="90000"/>
              </a:lnSpc>
            </a:pPr>
            <a:r>
              <a:rPr lang="zh-CN" altLang="en-US" sz="2400" dirty="0">
                <a:latin typeface="楷体_GB2312" pitchFamily="49" charset="-122"/>
                <a:ea typeface="楷体_GB2312" pitchFamily="49" charset="-122"/>
              </a:rPr>
              <a:t>四川大学计算机学院</a:t>
            </a:r>
          </a:p>
          <a:p>
            <a:pPr eaLnBrk="1" hangingPunct="1">
              <a:lnSpc>
                <a:spcPct val="90000"/>
              </a:lnSpc>
            </a:pPr>
            <a:endParaRPr lang="zh-CN" altLang="en-US" sz="2400" dirty="0">
              <a:latin typeface="楷体_GB2312" pitchFamily="49" charset="-122"/>
              <a:ea typeface="楷体_GB2312" pitchFamily="49" charset="-122"/>
            </a:endParaRPr>
          </a:p>
          <a:p>
            <a:pPr eaLnBrk="1" hangingPunct="1">
              <a:lnSpc>
                <a:spcPct val="90000"/>
              </a:lnSpc>
            </a:pPr>
            <a:r>
              <a:rPr lang="zh-CN" altLang="en-US" sz="2400" dirty="0">
                <a:latin typeface="楷体_GB2312" pitchFamily="49" charset="-122"/>
                <a:ea typeface="楷体_GB2312" pitchFamily="49" charset="-122"/>
              </a:rPr>
              <a:t>郭际香</a:t>
            </a:r>
          </a:p>
          <a:p>
            <a:pPr eaLnBrk="1" hangingPunct="1">
              <a:lnSpc>
                <a:spcPct val="90000"/>
              </a:lnSpc>
            </a:pPr>
            <a:r>
              <a:rPr lang="en-US" altLang="zh-CN" sz="2400" dirty="0">
                <a:latin typeface="Times New Roman" pitchFamily="18" charset="0"/>
                <a:ea typeface="楷体_GB2312" pitchFamily="49" charset="-122"/>
              </a:rPr>
              <a:t>guojixiang@scu.edu.cn</a:t>
            </a:r>
          </a:p>
          <a:p>
            <a:pPr eaLnBrk="1" hangingPunct="1">
              <a:lnSpc>
                <a:spcPct val="90000"/>
              </a:lnSpc>
            </a:pPr>
            <a:endParaRPr lang="en-US" altLang="zh-CN" sz="2400" dirty="0">
              <a:latin typeface="Times New Roman" pitchFamily="18" charset="0"/>
              <a:ea typeface="楷体_GB2312" pitchFamily="49" charset="-122"/>
            </a:endParaRPr>
          </a:p>
          <a:p>
            <a:pPr eaLnBrk="1" hangingPunct="1">
              <a:lnSpc>
                <a:spcPct val="90000"/>
              </a:lnSpc>
            </a:pPr>
            <a:r>
              <a:rPr lang="en-US" altLang="zh-CN" sz="2400" dirty="0">
                <a:latin typeface="Times New Roman" pitchFamily="18" charset="0"/>
              </a:rPr>
              <a:t>2025.10</a:t>
            </a:r>
          </a:p>
          <a:p>
            <a:pPr eaLnBrk="1" hangingPunct="1">
              <a:lnSpc>
                <a:spcPct val="90000"/>
              </a:lnSpc>
            </a:pPr>
            <a:endParaRPr lang="en-US" altLang="zh-CN" sz="2400" dirty="0">
              <a:latin typeface="Times New Roman" pitchFamily="18"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838200" y="838200"/>
            <a:ext cx="7772400" cy="1462088"/>
          </a:xfrm>
        </p:spPr>
        <p:txBody>
          <a:bodyPr/>
          <a:lstStyle/>
          <a:p>
            <a:pPr eaLnBrk="1" hangingPunct="1"/>
            <a:r>
              <a:rPr lang="zh-CN" altLang="zh-CN" dirty="0"/>
              <a:t>第</a:t>
            </a:r>
            <a:r>
              <a:rPr lang="en-US" altLang="zh-CN" b="0" dirty="0"/>
              <a:t>3-4</a:t>
            </a:r>
            <a:r>
              <a:rPr lang="zh-CN" altLang="zh-CN" dirty="0"/>
              <a:t>章 关系数据库标准语言SQL</a:t>
            </a:r>
            <a:endParaRPr lang="en-US" altLang="zh-CN" dirty="0"/>
          </a:p>
        </p:txBody>
      </p:sp>
      <p:sp>
        <p:nvSpPr>
          <p:cNvPr id="4099" name="Rectangle 3"/>
          <p:cNvSpPr>
            <a:spLocks noGrp="1" noChangeArrowheads="1"/>
          </p:cNvSpPr>
          <p:nvPr>
            <p:ph type="subTitle" idx="1"/>
          </p:nvPr>
        </p:nvSpPr>
        <p:spPr>
          <a:xfrm>
            <a:off x="838200" y="3505200"/>
            <a:ext cx="7924800" cy="2514600"/>
          </a:xfrm>
        </p:spPr>
        <p:txBody>
          <a:bodyPr/>
          <a:lstStyle/>
          <a:p>
            <a:pPr algn="l" eaLnBrk="1" hangingPunct="1">
              <a:lnSpc>
                <a:spcPct val="80000"/>
              </a:lnSpc>
              <a:buFont typeface="Wingdings" pitchFamily="2" charset="2"/>
              <a:buChar char="n"/>
            </a:pPr>
            <a:r>
              <a:rPr lang="en-US" altLang="zh-CN" sz="2400" dirty="0"/>
              <a:t> SQL</a:t>
            </a:r>
            <a:r>
              <a:rPr lang="zh-CN" altLang="en-US" sz="2400" dirty="0"/>
              <a:t>是</a:t>
            </a:r>
            <a:r>
              <a:rPr lang="en-US" altLang="zh-CN" sz="2400" dirty="0">
                <a:solidFill>
                  <a:srgbClr val="FF0000"/>
                </a:solidFill>
              </a:rPr>
              <a:t>Structured</a:t>
            </a:r>
            <a:r>
              <a:rPr lang="en-US" altLang="zh-CN" sz="2400" dirty="0"/>
              <a:t> Query Language</a:t>
            </a:r>
            <a:r>
              <a:rPr lang="zh-CN" altLang="en-US" sz="2400" dirty="0"/>
              <a:t>的缩写</a:t>
            </a:r>
          </a:p>
          <a:p>
            <a:pPr algn="l" eaLnBrk="1" hangingPunct="1">
              <a:lnSpc>
                <a:spcPct val="80000"/>
              </a:lnSpc>
              <a:buFont typeface="Wingdings" pitchFamily="2" charset="2"/>
              <a:buChar char="n"/>
            </a:pPr>
            <a:r>
              <a:rPr lang="zh-CN" altLang="en-US" sz="2400" dirty="0"/>
              <a:t> 最新的标准是</a:t>
            </a:r>
            <a:r>
              <a:rPr lang="en-US" altLang="zh-CN" sz="2400" dirty="0"/>
              <a:t>SQL2016</a:t>
            </a:r>
          </a:p>
          <a:p>
            <a:pPr algn="l" eaLnBrk="1" hangingPunct="1">
              <a:lnSpc>
                <a:spcPct val="80000"/>
              </a:lnSpc>
              <a:buFont typeface="Wingdings" pitchFamily="2" charset="2"/>
              <a:buChar char="n"/>
            </a:pPr>
            <a:r>
              <a:rPr lang="en-US" altLang="zh-CN" sz="2400" dirty="0"/>
              <a:t> </a:t>
            </a:r>
            <a:r>
              <a:rPr lang="zh-CN" altLang="en-US" sz="2400" dirty="0"/>
              <a:t>使用最广的标准是</a:t>
            </a:r>
            <a:r>
              <a:rPr lang="en-US" altLang="zh-CN" sz="2400" dirty="0"/>
              <a:t>SQL99</a:t>
            </a:r>
          </a:p>
          <a:p>
            <a:pPr marL="457200" lvl="1" indent="0" eaLnBrk="1" hangingPunct="1">
              <a:lnSpc>
                <a:spcPct val="80000"/>
              </a:lnSpc>
            </a:pPr>
            <a:r>
              <a:rPr lang="zh-CN" altLang="en-US" sz="2000" dirty="0"/>
              <a:t> 包含了很多核心</a:t>
            </a:r>
            <a:r>
              <a:rPr lang="en-US" altLang="zh-CN" sz="2000" dirty="0"/>
              <a:t>SQL</a:t>
            </a:r>
            <a:r>
              <a:rPr lang="zh-CN" altLang="en-US" sz="2000" dirty="0"/>
              <a:t>以外的包</a:t>
            </a:r>
          </a:p>
          <a:p>
            <a:pPr marL="457200" lvl="1" indent="0" eaLnBrk="1" hangingPunct="1">
              <a:lnSpc>
                <a:spcPct val="80000"/>
              </a:lnSpc>
            </a:pPr>
            <a:r>
              <a:rPr lang="zh-CN" altLang="en-US" sz="2000" dirty="0"/>
              <a:t> 增加对</a:t>
            </a:r>
            <a:r>
              <a:rPr lang="zh-CN" altLang="en-US" sz="2000" dirty="0">
                <a:solidFill>
                  <a:srgbClr val="006600"/>
                </a:solidFill>
              </a:rPr>
              <a:t>递归查询、临时视图</a:t>
            </a:r>
            <a:r>
              <a:rPr lang="zh-CN" altLang="en-US" sz="2000" dirty="0"/>
              <a:t>的支持</a:t>
            </a:r>
          </a:p>
          <a:p>
            <a:pPr marL="457200" lvl="1" indent="0" eaLnBrk="1" hangingPunct="1">
              <a:lnSpc>
                <a:spcPct val="80000"/>
              </a:lnSpc>
            </a:pPr>
            <a:r>
              <a:rPr lang="zh-CN" altLang="en-US" sz="2000" dirty="0"/>
              <a:t> 增加对</a:t>
            </a:r>
            <a:r>
              <a:rPr lang="zh-CN" altLang="en-US" sz="2000" dirty="0">
                <a:solidFill>
                  <a:srgbClr val="006600"/>
                </a:solidFill>
              </a:rPr>
              <a:t>触发器</a:t>
            </a:r>
            <a:r>
              <a:rPr lang="zh-CN" altLang="en-US" sz="2000" dirty="0"/>
              <a:t>的支持</a:t>
            </a:r>
          </a:p>
          <a:p>
            <a:pPr algn="l" eaLnBrk="1" hangingPunct="1">
              <a:lnSpc>
                <a:spcPct val="80000"/>
              </a:lnSpc>
              <a:buFont typeface="Wingdings" pitchFamily="2" charset="2"/>
              <a:buChar char="n"/>
            </a:pPr>
            <a:r>
              <a:rPr lang="zh-CN" altLang="en-US" sz="2400" dirty="0"/>
              <a:t> 现在商品化</a:t>
            </a:r>
            <a:r>
              <a:rPr lang="en-US" altLang="zh-CN" sz="2400" dirty="0"/>
              <a:t>DBMS</a:t>
            </a:r>
            <a:r>
              <a:rPr lang="zh-CN" altLang="en-US" sz="2400" dirty="0"/>
              <a:t>一般都支持</a:t>
            </a:r>
            <a:r>
              <a:rPr lang="en-US" altLang="zh-CN" sz="2400" dirty="0"/>
              <a:t>SQL92</a:t>
            </a:r>
            <a:r>
              <a:rPr lang="zh-CN" altLang="en-US" sz="2400" dirty="0"/>
              <a:t>规范的超集</a:t>
            </a:r>
            <a:r>
              <a:rPr lang="en-US" altLang="zh-CN" sz="2400" dirty="0"/>
              <a:t>/</a:t>
            </a:r>
            <a:r>
              <a:rPr lang="zh-CN" altLang="en-US" sz="2400" dirty="0"/>
              <a:t>子集。</a:t>
            </a:r>
          </a:p>
        </p:txBody>
      </p:sp>
      <p:sp>
        <p:nvSpPr>
          <p:cNvPr id="2" name="文本框 1">
            <a:extLst>
              <a:ext uri="{FF2B5EF4-FFF2-40B4-BE49-F238E27FC236}">
                <a16:creationId xmlns:a16="http://schemas.microsoft.com/office/drawing/2014/main" id="{4834396C-B184-24FF-EB51-1808B54A6850}"/>
              </a:ext>
            </a:extLst>
          </p:cNvPr>
          <p:cNvSpPr txBox="1"/>
          <p:nvPr/>
        </p:nvSpPr>
        <p:spPr>
          <a:xfrm>
            <a:off x="3411029" y="2514600"/>
            <a:ext cx="2223686" cy="461665"/>
          </a:xfrm>
          <a:prstGeom prst="rect">
            <a:avLst/>
          </a:prstGeom>
          <a:noFill/>
        </p:spPr>
        <p:txBody>
          <a:bodyPr wrap="none" rtlCol="0">
            <a:spAutoFit/>
          </a:bodyPr>
          <a:lstStyle/>
          <a:p>
            <a:r>
              <a:rPr lang="zh-CN" altLang="en-US" dirty="0"/>
              <a:t>第</a:t>
            </a:r>
            <a:r>
              <a:rPr lang="en-US" altLang="zh-CN" dirty="0"/>
              <a:t>4</a:t>
            </a:r>
            <a:r>
              <a:rPr lang="zh-CN" altLang="en-US" dirty="0"/>
              <a:t>章 中级</a:t>
            </a:r>
            <a:r>
              <a:rPr lang="en-US" altLang="zh-CN" dirty="0"/>
              <a:t>SQL</a:t>
            </a:r>
            <a:endParaRPr lang="zh-CN" altLang="en-US"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4FB5442F-2EB4-4444-9F00-6AF012E3085B}" type="datetime1">
              <a:rPr kumimoji="0" lang="zh-CN" altLang="en-US" sz="1400" smtClean="0"/>
              <a:t>2025/10/15</a:t>
            </a:fld>
            <a:endParaRPr kumimoji="0" lang="en-US" altLang="zh-CN" sz="1400"/>
          </a:p>
        </p:txBody>
      </p:sp>
      <p:sp>
        <p:nvSpPr>
          <p:cNvPr id="512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5125" name="Rectangle 2"/>
          <p:cNvSpPr>
            <a:spLocks noGrp="1" noChangeArrowheads="1"/>
          </p:cNvSpPr>
          <p:nvPr>
            <p:ph type="title"/>
          </p:nvPr>
        </p:nvSpPr>
        <p:spPr/>
        <p:txBody>
          <a:bodyPr/>
          <a:lstStyle/>
          <a:p>
            <a:pPr eaLnBrk="1" hangingPunct="1"/>
            <a:r>
              <a:rPr lang="zh-CN" altLang="en-US"/>
              <a:t>本章目录</a:t>
            </a:r>
          </a:p>
        </p:txBody>
      </p:sp>
      <p:sp>
        <p:nvSpPr>
          <p:cNvPr id="5126" name="Rectangle 3"/>
          <p:cNvSpPr>
            <a:spLocks noGrp="1" noChangeArrowheads="1"/>
          </p:cNvSpPr>
          <p:nvPr>
            <p:ph type="body" idx="1"/>
          </p:nvPr>
        </p:nvSpPr>
        <p:spPr>
          <a:xfrm>
            <a:off x="1371600" y="1600200"/>
            <a:ext cx="7583488" cy="4532313"/>
          </a:xfrm>
        </p:spPr>
        <p:txBody>
          <a:bodyPr/>
          <a:lstStyle/>
          <a:p>
            <a:pPr eaLnBrk="1" hangingPunct="1"/>
            <a:r>
              <a:rPr lang="en-US" altLang="zh-CN" dirty="0"/>
              <a:t>4.1 </a:t>
            </a:r>
            <a:r>
              <a:rPr lang="zh-CN" altLang="en-US" dirty="0"/>
              <a:t>连接查询</a:t>
            </a:r>
          </a:p>
          <a:p>
            <a:pPr eaLnBrk="1" hangingPunct="1"/>
            <a:r>
              <a:rPr lang="en-US" altLang="zh-CN" dirty="0"/>
              <a:t>4.2 </a:t>
            </a:r>
            <a:r>
              <a:rPr lang="zh-CN" altLang="en-US" dirty="0"/>
              <a:t>视图</a:t>
            </a:r>
          </a:p>
          <a:p>
            <a:pPr eaLnBrk="1" hangingPunct="1"/>
            <a:r>
              <a:rPr lang="en-US" altLang="zh-CN" dirty="0"/>
              <a:t>4.3 </a:t>
            </a:r>
            <a:r>
              <a:rPr lang="zh-CN" altLang="en-US" dirty="0"/>
              <a:t>事务</a:t>
            </a:r>
            <a:endParaRPr lang="en-US" altLang="zh-CN" dirty="0"/>
          </a:p>
          <a:p>
            <a:pPr eaLnBrk="1" hangingPunct="1"/>
            <a:r>
              <a:rPr lang="en-US" altLang="zh-CN" dirty="0"/>
              <a:t>4.4 </a:t>
            </a:r>
            <a:r>
              <a:rPr lang="zh-CN" altLang="en-US" dirty="0"/>
              <a:t>完整性约束</a:t>
            </a:r>
            <a:endParaRPr lang="en-US" altLang="zh-CN" dirty="0"/>
          </a:p>
          <a:p>
            <a:pPr eaLnBrk="1" hangingPunct="1"/>
            <a:r>
              <a:rPr lang="en-US" altLang="zh-CN" dirty="0"/>
              <a:t>4.5 SQL</a:t>
            </a:r>
            <a:r>
              <a:rPr lang="zh-CN" altLang="en-US" dirty="0"/>
              <a:t>数据类型与模式</a:t>
            </a:r>
            <a:endParaRPr lang="en-US" altLang="zh-CN" dirty="0"/>
          </a:p>
          <a:p>
            <a:pPr eaLnBrk="1" hangingPunct="1"/>
            <a:r>
              <a:rPr lang="en-US" altLang="zh-CN" dirty="0"/>
              <a:t>4.6 </a:t>
            </a:r>
            <a:r>
              <a:rPr lang="zh-CN" altLang="en-US" dirty="0"/>
              <a:t>索引</a:t>
            </a:r>
            <a:endParaRPr lang="en-US" altLang="zh-CN" dirty="0"/>
          </a:p>
          <a:p>
            <a:pPr eaLnBrk="1" hangingPunct="1"/>
            <a:r>
              <a:rPr lang="en-US" altLang="zh-CN" dirty="0"/>
              <a:t>4.7 </a:t>
            </a:r>
            <a:r>
              <a:rPr lang="zh-CN" altLang="en-US" dirty="0"/>
              <a:t>授权</a:t>
            </a:r>
          </a:p>
        </p:txBody>
      </p:sp>
      <p:sp>
        <p:nvSpPr>
          <p:cNvPr id="11268" name="AutoShape 4"/>
          <p:cNvSpPr>
            <a:spLocks noChangeArrowheads="1"/>
          </p:cNvSpPr>
          <p:nvPr/>
        </p:nvSpPr>
        <p:spPr bwMode="auto">
          <a:xfrm>
            <a:off x="838200" y="1752600"/>
            <a:ext cx="457200" cy="457200"/>
          </a:xfrm>
          <a:prstGeom prst="rightArrow">
            <a:avLst>
              <a:gd name="adj1" fmla="val 50000"/>
              <a:gd name="adj2" fmla="val 40278"/>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4" name="灯片编号占位符 3">
            <a:extLst>
              <a:ext uri="{FF2B5EF4-FFF2-40B4-BE49-F238E27FC236}">
                <a16:creationId xmlns:a16="http://schemas.microsoft.com/office/drawing/2014/main" id="{5D5ED169-8DCB-DA7B-D5AA-C411E2977B76}"/>
              </a:ext>
            </a:extLst>
          </p:cNvPr>
          <p:cNvSpPr>
            <a:spLocks noGrp="1"/>
          </p:cNvSpPr>
          <p:nvPr>
            <p:ph type="sldNum" sz="quarter" idx="12"/>
          </p:nvPr>
        </p:nvSpPr>
        <p:spPr/>
        <p:txBody>
          <a:bodyPr/>
          <a:lstStyle/>
          <a:p>
            <a:pPr>
              <a:defRPr/>
            </a:pPr>
            <a:fld id="{E0CD82EA-F7BE-454B-A83E-18830F6C5424}" type="slidenum">
              <a:rPr lang="en-US" altLang="zh-CN" smtClean="0"/>
              <a:pPr>
                <a:defRPr/>
              </a:pPr>
              <a:t>3</a:t>
            </a:fld>
            <a:r>
              <a:rPr lang="en-US" altLang="zh-CN"/>
              <a:t>/138</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268"/>
                                        </p:tgtEl>
                                        <p:attrNameLst>
                                          <p:attrName>style.visibility</p:attrName>
                                        </p:attrNameLst>
                                      </p:cBhvr>
                                      <p:to>
                                        <p:strVal val="visible"/>
                                      </p:to>
                                    </p:set>
                                    <p:anim calcmode="lin" valueType="num">
                                      <p:cBhvr additive="base">
                                        <p:cTn id="7" dur="500" fill="hold"/>
                                        <p:tgtEl>
                                          <p:spTgt spid="11268"/>
                                        </p:tgtEl>
                                        <p:attrNameLst>
                                          <p:attrName>ppt_x</p:attrName>
                                        </p:attrNameLst>
                                      </p:cBhvr>
                                      <p:tavLst>
                                        <p:tav tm="0">
                                          <p:val>
                                            <p:strVal val="0-#ppt_w/2"/>
                                          </p:val>
                                        </p:tav>
                                        <p:tav tm="100000">
                                          <p:val>
                                            <p:strVal val="#ppt_x"/>
                                          </p:val>
                                        </p:tav>
                                      </p:tavLst>
                                    </p:anim>
                                    <p:anim calcmode="lin" valueType="num">
                                      <p:cBhvr additive="base">
                                        <p:cTn id="8" dur="500" fill="hold"/>
                                        <p:tgtEl>
                                          <p:spTgt spid="112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a:defRPr/>
            </a:pPr>
            <a:fld id="{43F62789-FFB0-4857-AF22-F1BB7A456E09}" type="datetime1">
              <a:rPr lang="zh-CN" altLang="en-US" smtClean="0"/>
              <a:t>2025/10/15</a:t>
            </a:fld>
            <a:endParaRPr lang="en-US" altLang="zh-CN"/>
          </a:p>
        </p:txBody>
      </p:sp>
      <p:sp>
        <p:nvSpPr>
          <p:cNvPr id="4" name="页脚占位符 3"/>
          <p:cNvSpPr>
            <a:spLocks noGrp="1"/>
          </p:cNvSpPr>
          <p:nvPr>
            <p:ph type="ftr" sz="quarter" idx="11"/>
          </p:nvPr>
        </p:nvSpPr>
        <p:spPr/>
        <p:txBody>
          <a:bodyPr/>
          <a:lstStyle/>
          <a:p>
            <a:pPr>
              <a:defRPr/>
            </a:pPr>
            <a:r>
              <a:rPr lang="en-US" altLang="zh-CN"/>
              <a:t>《数据库系统概论》- 第3章</a:t>
            </a:r>
          </a:p>
        </p:txBody>
      </p:sp>
      <p:sp>
        <p:nvSpPr>
          <p:cNvPr id="6" name="文本框 2">
            <a:extLst>
              <a:ext uri="{FF2B5EF4-FFF2-40B4-BE49-F238E27FC236}">
                <a16:creationId xmlns:a16="http://schemas.microsoft.com/office/drawing/2014/main" id="{13F486C7-2DC5-767D-CFA7-AC1024F74C0F}"/>
              </a:ext>
            </a:extLst>
          </p:cNvPr>
          <p:cNvSpPr txBox="1"/>
          <p:nvPr/>
        </p:nvSpPr>
        <p:spPr>
          <a:xfrm>
            <a:off x="658532" y="995065"/>
            <a:ext cx="8489950" cy="3785652"/>
          </a:xfrm>
          <a:prstGeom prst="rect">
            <a:avLst/>
          </a:prstGeom>
          <a:solidFill>
            <a:schemeClr val="bg1"/>
          </a:solidFill>
        </p:spPr>
        <p:txBody>
          <a:bodyPr wrap="square">
            <a:spAutoFit/>
          </a:bodyPr>
          <a:lstStyle/>
          <a:p>
            <a:pPr algn="l"/>
            <a:r>
              <a:rPr lang="zh-CN" altLang="en-US" sz="2000" dirty="0"/>
              <a:t>classroom(</a:t>
            </a:r>
            <a:r>
              <a:rPr lang="zh-CN" altLang="en-US" sz="2000" u="sng" dirty="0">
                <a:solidFill>
                  <a:srgbClr val="FF0000"/>
                </a:solidFill>
              </a:rPr>
              <a:t>building</a:t>
            </a:r>
            <a:r>
              <a:rPr lang="zh-CN" altLang="en-US" sz="2000" dirty="0">
                <a:solidFill>
                  <a:srgbClr val="FF0000"/>
                </a:solidFill>
              </a:rPr>
              <a:t>, </a:t>
            </a:r>
            <a:r>
              <a:rPr lang="zh-CN" altLang="en-US" sz="2000" u="sng" dirty="0">
                <a:solidFill>
                  <a:srgbClr val="FF0000"/>
                </a:solidFill>
              </a:rPr>
              <a:t>room</a:t>
            </a:r>
            <a:r>
              <a:rPr lang="en-US" altLang="zh-CN" sz="2000" u="sng" dirty="0">
                <a:solidFill>
                  <a:srgbClr val="FF0000"/>
                </a:solidFill>
              </a:rPr>
              <a:t>_</a:t>
            </a:r>
            <a:r>
              <a:rPr lang="zh-CN" altLang="en-US" sz="2000" u="sng" dirty="0">
                <a:solidFill>
                  <a:srgbClr val="FF0000"/>
                </a:solidFill>
              </a:rPr>
              <a:t>number</a:t>
            </a:r>
            <a:r>
              <a:rPr lang="zh-CN" altLang="en-US" sz="2000" dirty="0"/>
              <a:t>, capacity) </a:t>
            </a:r>
            <a:r>
              <a:rPr lang="en-US" altLang="zh-CN" sz="2000" dirty="0"/>
              <a:t>//</a:t>
            </a:r>
            <a:r>
              <a:rPr lang="zh-CN" altLang="en-US" sz="2000" dirty="0"/>
              <a:t>教室</a:t>
            </a:r>
            <a:endParaRPr lang="en-US" altLang="zh-CN" sz="2000" dirty="0"/>
          </a:p>
          <a:p>
            <a:pPr algn="l"/>
            <a:r>
              <a:rPr lang="zh-CN" altLang="en-US" sz="2000" dirty="0"/>
              <a:t>department(</a:t>
            </a:r>
            <a:r>
              <a:rPr lang="zh-CN" altLang="en-US" sz="2000" u="sng" dirty="0">
                <a:solidFill>
                  <a:srgbClr val="FF0000"/>
                </a:solidFill>
              </a:rPr>
              <a:t>dept</a:t>
            </a:r>
            <a:r>
              <a:rPr lang="en-US" altLang="zh-CN" sz="2000" u="sng" dirty="0">
                <a:solidFill>
                  <a:srgbClr val="FF0000"/>
                </a:solidFill>
              </a:rPr>
              <a:t>_</a:t>
            </a:r>
            <a:r>
              <a:rPr lang="zh-CN" altLang="en-US" sz="2000" u="sng" dirty="0">
                <a:solidFill>
                  <a:srgbClr val="FF0000"/>
                </a:solidFill>
              </a:rPr>
              <a:t>name</a:t>
            </a:r>
            <a:r>
              <a:rPr lang="zh-CN" altLang="en-US" sz="2000" dirty="0"/>
              <a:t>, building, budget)</a:t>
            </a:r>
            <a:r>
              <a:rPr lang="en-US" altLang="zh-CN" sz="2000" dirty="0"/>
              <a:t>  //</a:t>
            </a:r>
            <a:r>
              <a:rPr lang="zh-CN" altLang="en-US" sz="2000" dirty="0"/>
              <a:t>系别</a:t>
            </a:r>
            <a:endParaRPr lang="en-US" altLang="zh-CN" sz="2000" dirty="0"/>
          </a:p>
          <a:p>
            <a:pPr algn="l"/>
            <a:r>
              <a:rPr lang="zh-CN" altLang="en-US" sz="2000" dirty="0">
                <a:solidFill>
                  <a:srgbClr val="800080"/>
                </a:solidFill>
              </a:rPr>
              <a:t>instructor</a:t>
            </a:r>
            <a:r>
              <a:rPr lang="zh-CN" altLang="en-US" sz="2000" dirty="0"/>
              <a:t>(</a:t>
            </a:r>
            <a:r>
              <a:rPr lang="zh-CN" altLang="en-US" sz="2000" u="sng" dirty="0"/>
              <a:t>ID</a:t>
            </a:r>
            <a:r>
              <a:rPr lang="zh-CN" altLang="en-US" sz="2000" dirty="0"/>
              <a:t>, name, </a:t>
            </a:r>
            <a:r>
              <a:rPr lang="zh-CN" altLang="en-US" sz="2000" dirty="0">
                <a:solidFill>
                  <a:srgbClr val="0000FF"/>
                </a:solidFill>
              </a:rPr>
              <a:t>dept</a:t>
            </a:r>
            <a:r>
              <a:rPr lang="en-US" altLang="zh-CN" sz="2000" dirty="0">
                <a:solidFill>
                  <a:srgbClr val="0000FF"/>
                </a:solidFill>
              </a:rPr>
              <a:t>_</a:t>
            </a:r>
            <a:r>
              <a:rPr lang="zh-CN" altLang="en-US" sz="2000" dirty="0">
                <a:solidFill>
                  <a:srgbClr val="0000FF"/>
                </a:solidFill>
              </a:rPr>
              <a:t>name</a:t>
            </a:r>
            <a:r>
              <a:rPr lang="zh-CN" altLang="en-US" sz="2000" dirty="0"/>
              <a:t>, salary)   </a:t>
            </a:r>
            <a:r>
              <a:rPr lang="en-US" altLang="zh-CN" sz="2000" dirty="0"/>
              <a:t>//</a:t>
            </a:r>
            <a:r>
              <a:rPr lang="zh-CN" altLang="en-US" sz="2000" dirty="0"/>
              <a:t>讲师</a:t>
            </a:r>
            <a:endParaRPr lang="en-US" altLang="zh-CN" sz="2000" dirty="0"/>
          </a:p>
          <a:p>
            <a:pPr algn="l"/>
            <a:r>
              <a:rPr lang="zh-CN" altLang="en-US" sz="2000" dirty="0">
                <a:solidFill>
                  <a:srgbClr val="800080"/>
                </a:solidFill>
              </a:rPr>
              <a:t>student</a:t>
            </a:r>
            <a:r>
              <a:rPr lang="zh-CN" altLang="en-US" sz="2000" dirty="0"/>
              <a:t>(</a:t>
            </a:r>
            <a:r>
              <a:rPr lang="zh-CN" altLang="en-US" sz="2000" u="sng" dirty="0"/>
              <a:t>ID</a:t>
            </a:r>
            <a:r>
              <a:rPr lang="zh-CN" altLang="en-US" sz="2000" dirty="0"/>
              <a:t>, name, dept</a:t>
            </a:r>
            <a:r>
              <a:rPr lang="en-US" altLang="zh-CN" sz="2000" dirty="0"/>
              <a:t>_</a:t>
            </a:r>
            <a:r>
              <a:rPr lang="zh-CN" altLang="en-US" sz="2000" dirty="0"/>
              <a:t>name, tot</a:t>
            </a:r>
            <a:r>
              <a:rPr lang="en-US" altLang="zh-CN" sz="2000" dirty="0"/>
              <a:t>_</a:t>
            </a:r>
            <a:r>
              <a:rPr lang="zh-CN" altLang="en-US" sz="2000" dirty="0"/>
              <a:t>cred)</a:t>
            </a:r>
            <a:r>
              <a:rPr lang="en-US" altLang="zh-CN" sz="2000" dirty="0"/>
              <a:t> //</a:t>
            </a:r>
            <a:r>
              <a:rPr lang="zh-CN" altLang="en-US" sz="2000" dirty="0"/>
              <a:t>学生</a:t>
            </a:r>
            <a:endParaRPr lang="en-US" altLang="zh-CN" sz="2000" dirty="0"/>
          </a:p>
          <a:p>
            <a:pPr algn="l"/>
            <a:r>
              <a:rPr lang="zh-CN" altLang="en-US" sz="2000" dirty="0">
                <a:solidFill>
                  <a:srgbClr val="800080"/>
                </a:solidFill>
              </a:rPr>
              <a:t>course</a:t>
            </a:r>
            <a:r>
              <a:rPr lang="zh-CN" altLang="en-US" sz="2000" dirty="0"/>
              <a:t>(</a:t>
            </a:r>
            <a:r>
              <a:rPr lang="zh-CN" altLang="en-US" sz="2000" u="sng" dirty="0"/>
              <a:t>course</a:t>
            </a:r>
            <a:r>
              <a:rPr lang="en-US" altLang="zh-CN" sz="2000" u="sng" dirty="0"/>
              <a:t>_</a:t>
            </a:r>
            <a:r>
              <a:rPr lang="zh-CN" altLang="en-US" sz="2000" u="sng" dirty="0"/>
              <a:t>id</a:t>
            </a:r>
            <a:r>
              <a:rPr lang="zh-CN" altLang="en-US" sz="2000" dirty="0"/>
              <a:t>, title, </a:t>
            </a:r>
            <a:r>
              <a:rPr lang="zh-CN" altLang="en-US" sz="2000" dirty="0">
                <a:solidFill>
                  <a:srgbClr val="0000FF"/>
                </a:solidFill>
              </a:rPr>
              <a:t>dept</a:t>
            </a:r>
            <a:r>
              <a:rPr lang="en-US" altLang="zh-CN" sz="2000" dirty="0">
                <a:solidFill>
                  <a:srgbClr val="0000FF"/>
                </a:solidFill>
              </a:rPr>
              <a:t>_</a:t>
            </a:r>
            <a:r>
              <a:rPr lang="zh-CN" altLang="en-US" sz="2000" dirty="0">
                <a:solidFill>
                  <a:srgbClr val="0000FF"/>
                </a:solidFill>
              </a:rPr>
              <a:t>name</a:t>
            </a:r>
            <a:r>
              <a:rPr lang="zh-CN" altLang="en-US" sz="2000" dirty="0"/>
              <a:t>, credits)</a:t>
            </a:r>
            <a:r>
              <a:rPr lang="en-US" altLang="zh-CN" sz="2000" dirty="0"/>
              <a:t>  //</a:t>
            </a:r>
            <a:r>
              <a:rPr lang="zh-CN" altLang="en-US" sz="2000" dirty="0"/>
              <a:t>课程</a:t>
            </a:r>
            <a:endParaRPr lang="en-US" altLang="zh-CN" sz="2000" dirty="0"/>
          </a:p>
          <a:p>
            <a:pPr algn="l"/>
            <a:r>
              <a:rPr lang="zh-CN" altLang="en-US" sz="2000" dirty="0"/>
              <a:t>section (</a:t>
            </a:r>
            <a:r>
              <a:rPr lang="zh-CN" altLang="en-US" sz="2000" u="sng" dirty="0"/>
              <a:t>course</a:t>
            </a:r>
            <a:r>
              <a:rPr lang="en-US" altLang="zh-CN" sz="2000" u="sng" dirty="0"/>
              <a:t>_</a:t>
            </a:r>
            <a:r>
              <a:rPr lang="zh-CN" altLang="en-US" sz="2000" u="sng" dirty="0"/>
              <a:t>id</a:t>
            </a:r>
            <a:r>
              <a:rPr lang="zh-CN" altLang="en-US" sz="2000" dirty="0"/>
              <a:t>, </a:t>
            </a:r>
            <a:r>
              <a:rPr lang="zh-CN" altLang="en-US" sz="2000" u="sng" dirty="0"/>
              <a:t>sec</a:t>
            </a:r>
            <a:r>
              <a:rPr lang="en-US" altLang="zh-CN" sz="2000" u="sng" dirty="0"/>
              <a:t>_</a:t>
            </a:r>
            <a:r>
              <a:rPr lang="zh-CN" altLang="en-US" sz="2000" u="sng" dirty="0"/>
              <a:t>id</a:t>
            </a:r>
            <a:r>
              <a:rPr lang="zh-CN" altLang="en-US" sz="2000" dirty="0"/>
              <a:t>, </a:t>
            </a:r>
            <a:r>
              <a:rPr lang="zh-CN" altLang="en-US" sz="2000" u="sng" dirty="0"/>
              <a:t>semester</a:t>
            </a:r>
            <a:r>
              <a:rPr lang="zh-CN" altLang="en-US" sz="2000" dirty="0"/>
              <a:t>, </a:t>
            </a:r>
            <a:r>
              <a:rPr lang="zh-CN" altLang="en-US" sz="2000" u="sng" dirty="0"/>
              <a:t>year</a:t>
            </a:r>
            <a:r>
              <a:rPr lang="zh-CN" altLang="en-US" sz="2000" dirty="0"/>
              <a:t>, </a:t>
            </a:r>
            <a:r>
              <a:rPr lang="zh-CN" altLang="en-US" sz="2000" dirty="0">
                <a:solidFill>
                  <a:srgbClr val="0000FF"/>
                </a:solidFill>
              </a:rPr>
              <a:t>building, room</a:t>
            </a:r>
            <a:r>
              <a:rPr lang="en-US" altLang="zh-CN" sz="2000" dirty="0">
                <a:solidFill>
                  <a:srgbClr val="0000FF"/>
                </a:solidFill>
              </a:rPr>
              <a:t>_</a:t>
            </a:r>
            <a:r>
              <a:rPr lang="zh-CN" altLang="en-US" sz="2000" dirty="0">
                <a:solidFill>
                  <a:srgbClr val="0000FF"/>
                </a:solidFill>
              </a:rPr>
              <a:t>number</a:t>
            </a:r>
            <a:r>
              <a:rPr lang="zh-CN" altLang="en-US" sz="2000" dirty="0"/>
              <a:t>, time</a:t>
            </a:r>
            <a:r>
              <a:rPr lang="en-US" altLang="zh-CN" sz="2000" dirty="0"/>
              <a:t>_</a:t>
            </a:r>
            <a:r>
              <a:rPr lang="zh-CN" altLang="en-US" sz="2000" dirty="0"/>
              <a:t>slot</a:t>
            </a:r>
            <a:r>
              <a:rPr lang="en-US" altLang="zh-CN" sz="2000" dirty="0"/>
              <a:t>_</a:t>
            </a:r>
            <a:r>
              <a:rPr lang="zh-CN" altLang="en-US" sz="2000" dirty="0"/>
              <a:t>id)</a:t>
            </a:r>
            <a:r>
              <a:rPr lang="en-US" altLang="zh-CN" sz="2000" dirty="0"/>
              <a:t> // </a:t>
            </a:r>
            <a:r>
              <a:rPr lang="zh-CN" altLang="en-US" sz="2000" dirty="0"/>
              <a:t>课程开设情况</a:t>
            </a:r>
            <a:r>
              <a:rPr lang="en-US" altLang="zh-CN" sz="2000" dirty="0"/>
              <a:t>(</a:t>
            </a:r>
            <a:r>
              <a:rPr lang="zh-CN" altLang="en-US" sz="2000" dirty="0"/>
              <a:t>课程段</a:t>
            </a:r>
            <a:r>
              <a:rPr lang="en-US" altLang="zh-CN" sz="2000" dirty="0"/>
              <a:t>)</a:t>
            </a:r>
          </a:p>
          <a:p>
            <a:pPr algn="l"/>
            <a:r>
              <a:rPr lang="zh-CN" altLang="en-US" sz="2000" dirty="0">
                <a:solidFill>
                  <a:srgbClr val="800080"/>
                </a:solidFill>
              </a:rPr>
              <a:t>teaches</a:t>
            </a:r>
            <a:r>
              <a:rPr lang="zh-CN" altLang="en-US" sz="2000" dirty="0"/>
              <a:t>(</a:t>
            </a:r>
            <a:r>
              <a:rPr lang="zh-CN" altLang="en-US" sz="2000" u="sng" dirty="0"/>
              <a:t>ID</a:t>
            </a:r>
            <a:r>
              <a:rPr lang="zh-CN" altLang="en-US" sz="2000" dirty="0"/>
              <a:t>, </a:t>
            </a:r>
            <a:r>
              <a:rPr lang="zh-CN" altLang="en-US" sz="2000" u="sng" dirty="0"/>
              <a:t>course</a:t>
            </a:r>
            <a:r>
              <a:rPr lang="en-US" altLang="zh-CN" sz="2000" u="sng" dirty="0"/>
              <a:t>_</a:t>
            </a:r>
            <a:r>
              <a:rPr lang="zh-CN" altLang="en-US" sz="2000" u="sng" dirty="0"/>
              <a:t>id</a:t>
            </a:r>
            <a:r>
              <a:rPr lang="zh-CN" altLang="en-US" sz="2000" dirty="0"/>
              <a:t>, </a:t>
            </a:r>
            <a:r>
              <a:rPr lang="zh-CN" altLang="en-US" sz="2000" u="sng" dirty="0"/>
              <a:t>sec</a:t>
            </a:r>
            <a:r>
              <a:rPr lang="en-US" altLang="zh-CN" sz="2000" u="sng" dirty="0"/>
              <a:t>_</a:t>
            </a:r>
            <a:r>
              <a:rPr lang="zh-CN" altLang="en-US" sz="2000" u="sng" dirty="0"/>
              <a:t>id</a:t>
            </a:r>
            <a:r>
              <a:rPr lang="zh-CN" altLang="en-US" sz="2000" dirty="0"/>
              <a:t>, </a:t>
            </a:r>
            <a:r>
              <a:rPr lang="zh-CN" altLang="en-US" sz="2000" u="sng" dirty="0"/>
              <a:t>semester</a:t>
            </a:r>
            <a:r>
              <a:rPr lang="zh-CN" altLang="en-US" sz="2000" dirty="0"/>
              <a:t>, </a:t>
            </a:r>
            <a:r>
              <a:rPr lang="zh-CN" altLang="en-US" sz="2000" u="sng" dirty="0"/>
              <a:t>year</a:t>
            </a:r>
            <a:r>
              <a:rPr lang="zh-CN" altLang="en-US" sz="2000" dirty="0"/>
              <a:t>)</a:t>
            </a:r>
            <a:r>
              <a:rPr lang="en-US" altLang="zh-CN" sz="2000" dirty="0"/>
              <a:t> //</a:t>
            </a:r>
            <a:r>
              <a:rPr lang="zh-CN" altLang="en-US" sz="2000" dirty="0"/>
              <a:t>授课</a:t>
            </a:r>
            <a:endParaRPr lang="en-US" altLang="zh-CN" sz="2000" dirty="0"/>
          </a:p>
          <a:p>
            <a:pPr algn="l"/>
            <a:r>
              <a:rPr lang="zh-CN" altLang="en-US" sz="2000" dirty="0">
                <a:solidFill>
                  <a:srgbClr val="800080"/>
                </a:solidFill>
              </a:rPr>
              <a:t>takes</a:t>
            </a:r>
            <a:r>
              <a:rPr lang="zh-CN" altLang="en-US" sz="2000" dirty="0"/>
              <a:t>(</a:t>
            </a:r>
            <a:r>
              <a:rPr lang="zh-CN" altLang="en-US" sz="2000" u="sng" dirty="0"/>
              <a:t>ID</a:t>
            </a:r>
            <a:r>
              <a:rPr lang="zh-CN" altLang="en-US" sz="2000" dirty="0"/>
              <a:t>, </a:t>
            </a:r>
            <a:r>
              <a:rPr lang="zh-CN" altLang="en-US" sz="2000" u="sng" dirty="0"/>
              <a:t>course</a:t>
            </a:r>
            <a:r>
              <a:rPr lang="en-US" altLang="zh-CN" sz="2000" u="sng" dirty="0"/>
              <a:t>_</a:t>
            </a:r>
            <a:r>
              <a:rPr lang="zh-CN" altLang="en-US" sz="2000" u="sng" dirty="0"/>
              <a:t>id</a:t>
            </a:r>
            <a:r>
              <a:rPr lang="zh-CN" altLang="en-US" sz="2000" dirty="0"/>
              <a:t>, </a:t>
            </a:r>
            <a:r>
              <a:rPr lang="zh-CN" altLang="en-US" sz="2000" u="sng" dirty="0"/>
              <a:t>sec</a:t>
            </a:r>
            <a:r>
              <a:rPr lang="en-US" altLang="zh-CN" sz="2000" u="sng" dirty="0"/>
              <a:t>_</a:t>
            </a:r>
            <a:r>
              <a:rPr lang="zh-CN" altLang="en-US" sz="2000" u="sng" dirty="0"/>
              <a:t>id</a:t>
            </a:r>
            <a:r>
              <a:rPr lang="zh-CN" altLang="en-US" sz="2000" dirty="0"/>
              <a:t>, </a:t>
            </a:r>
            <a:r>
              <a:rPr lang="zh-CN" altLang="en-US" sz="2000" u="sng" dirty="0"/>
              <a:t>semester</a:t>
            </a:r>
            <a:r>
              <a:rPr lang="zh-CN" altLang="en-US" sz="2000" dirty="0"/>
              <a:t>, </a:t>
            </a:r>
            <a:r>
              <a:rPr lang="zh-CN" altLang="en-US" sz="2000" u="sng" dirty="0"/>
              <a:t>year</a:t>
            </a:r>
            <a:r>
              <a:rPr lang="zh-CN" altLang="en-US" sz="2000" dirty="0"/>
              <a:t>, grade)</a:t>
            </a:r>
            <a:r>
              <a:rPr lang="en-US" altLang="zh-CN" sz="2000" dirty="0"/>
              <a:t> //</a:t>
            </a:r>
            <a:r>
              <a:rPr lang="zh-CN" altLang="en-US" sz="2000" dirty="0"/>
              <a:t>选课</a:t>
            </a:r>
            <a:endParaRPr lang="en-US" altLang="zh-CN" sz="2000" dirty="0"/>
          </a:p>
          <a:p>
            <a:pPr algn="l"/>
            <a:r>
              <a:rPr lang="zh-CN" altLang="en-US" sz="2000" dirty="0"/>
              <a:t>advisor(</a:t>
            </a:r>
            <a:r>
              <a:rPr lang="zh-CN" altLang="en-US" sz="2000" u="sng" dirty="0"/>
              <a:t>s</a:t>
            </a:r>
            <a:r>
              <a:rPr lang="en-US" altLang="zh-CN" sz="2000" u="sng" dirty="0"/>
              <a:t>_</a:t>
            </a:r>
            <a:r>
              <a:rPr lang="zh-CN" altLang="en-US" sz="2000" u="sng" dirty="0"/>
              <a:t>ID</a:t>
            </a:r>
            <a:r>
              <a:rPr lang="zh-CN" altLang="en-US" sz="2000" dirty="0"/>
              <a:t>, </a:t>
            </a:r>
            <a:r>
              <a:rPr lang="zh-CN" altLang="en-US" sz="2000" u="sng" dirty="0"/>
              <a:t>i</a:t>
            </a:r>
            <a:r>
              <a:rPr lang="en-US" altLang="zh-CN" sz="2000" u="sng" dirty="0"/>
              <a:t>_</a:t>
            </a:r>
            <a:r>
              <a:rPr lang="zh-CN" altLang="en-US" sz="2000" u="sng" dirty="0"/>
              <a:t>ID</a:t>
            </a:r>
            <a:r>
              <a:rPr lang="zh-CN" altLang="en-US" sz="2000" dirty="0"/>
              <a:t>)</a:t>
            </a:r>
            <a:r>
              <a:rPr lang="en-US" altLang="zh-CN" sz="2000" dirty="0"/>
              <a:t> //</a:t>
            </a:r>
            <a:r>
              <a:rPr lang="zh-CN" altLang="en-US" sz="2000" dirty="0"/>
              <a:t>指导老师</a:t>
            </a:r>
            <a:endParaRPr lang="en-US" altLang="zh-CN" sz="2000" dirty="0"/>
          </a:p>
          <a:p>
            <a:pPr algn="l"/>
            <a:r>
              <a:rPr lang="zh-CN" altLang="en-US" sz="2000" dirty="0"/>
              <a:t>time</a:t>
            </a:r>
            <a:r>
              <a:rPr lang="en-US" altLang="zh-CN" sz="2000" dirty="0"/>
              <a:t>_</a:t>
            </a:r>
            <a:r>
              <a:rPr lang="zh-CN" altLang="en-US" sz="2000" dirty="0"/>
              <a:t>slot (</a:t>
            </a:r>
            <a:r>
              <a:rPr lang="zh-CN" altLang="en-US" sz="2000" u="sng" dirty="0"/>
              <a:t>time</a:t>
            </a:r>
            <a:r>
              <a:rPr lang="en-US" altLang="zh-CN" sz="2000" u="sng" dirty="0"/>
              <a:t>_</a:t>
            </a:r>
            <a:r>
              <a:rPr lang="zh-CN" altLang="en-US" sz="2000" u="sng" dirty="0"/>
              <a:t>slot</a:t>
            </a:r>
            <a:r>
              <a:rPr lang="en-US" altLang="zh-CN" sz="2000" u="sng" dirty="0"/>
              <a:t>_</a:t>
            </a:r>
            <a:r>
              <a:rPr lang="zh-CN" altLang="en-US" sz="2000" u="sng" dirty="0"/>
              <a:t>id</a:t>
            </a:r>
            <a:r>
              <a:rPr lang="zh-CN" altLang="en-US" sz="2000" dirty="0"/>
              <a:t>, </a:t>
            </a:r>
            <a:r>
              <a:rPr lang="zh-CN" altLang="en-US" sz="2000" u="sng" dirty="0"/>
              <a:t>day</a:t>
            </a:r>
            <a:r>
              <a:rPr lang="zh-CN" altLang="en-US" sz="2000" dirty="0"/>
              <a:t>, </a:t>
            </a:r>
            <a:r>
              <a:rPr lang="zh-CN" altLang="en-US" sz="2000" u="sng" dirty="0"/>
              <a:t>start</a:t>
            </a:r>
            <a:r>
              <a:rPr lang="en-US" altLang="zh-CN" sz="2000" u="sng" dirty="0"/>
              <a:t>_</a:t>
            </a:r>
            <a:r>
              <a:rPr lang="zh-CN" altLang="en-US" sz="2000" u="sng" dirty="0"/>
              <a:t>time</a:t>
            </a:r>
            <a:r>
              <a:rPr lang="zh-CN" altLang="en-US" sz="2000" dirty="0"/>
              <a:t>, end</a:t>
            </a:r>
            <a:r>
              <a:rPr lang="en-US" altLang="zh-CN" sz="2000" dirty="0"/>
              <a:t>_</a:t>
            </a:r>
            <a:r>
              <a:rPr lang="zh-CN" altLang="en-US" sz="2000" dirty="0"/>
              <a:t>time)</a:t>
            </a:r>
            <a:r>
              <a:rPr lang="en-US" altLang="zh-CN" sz="2000" dirty="0"/>
              <a:t> // </a:t>
            </a:r>
            <a:r>
              <a:rPr lang="zh-CN" altLang="en-US" sz="2000" dirty="0"/>
              <a:t>课程时间片</a:t>
            </a:r>
            <a:endParaRPr lang="en-US" altLang="zh-CN" sz="2000" dirty="0"/>
          </a:p>
          <a:p>
            <a:pPr algn="l"/>
            <a:r>
              <a:rPr lang="zh-CN" altLang="en-US" sz="2000" dirty="0"/>
              <a:t>prereq( </a:t>
            </a:r>
            <a:r>
              <a:rPr lang="zh-CN" altLang="en-US" sz="2000" u="sng" dirty="0"/>
              <a:t>course</a:t>
            </a:r>
            <a:r>
              <a:rPr lang="en-US" altLang="zh-CN" sz="2000" u="sng" dirty="0"/>
              <a:t>_</a:t>
            </a:r>
            <a:r>
              <a:rPr lang="zh-CN" altLang="en-US" sz="2000" u="sng" dirty="0"/>
              <a:t>id</a:t>
            </a:r>
            <a:r>
              <a:rPr lang="zh-CN" altLang="en-US" sz="2000" dirty="0"/>
              <a:t>, </a:t>
            </a:r>
            <a:r>
              <a:rPr lang="zh-CN" altLang="en-US" sz="2000" u="sng" dirty="0"/>
              <a:t>prereq</a:t>
            </a:r>
            <a:r>
              <a:rPr lang="en-US" altLang="zh-CN" sz="2000" u="sng" dirty="0"/>
              <a:t>_</a:t>
            </a:r>
            <a:r>
              <a:rPr lang="zh-CN" altLang="en-US" sz="2000" u="sng" dirty="0"/>
              <a:t>la</a:t>
            </a:r>
            <a:r>
              <a:rPr lang="zh-CN" altLang="en-US" sz="2000" dirty="0"/>
              <a:t>) </a:t>
            </a:r>
            <a:r>
              <a:rPr lang="en-US" altLang="zh-CN" sz="2000" dirty="0"/>
              <a:t>//</a:t>
            </a:r>
            <a:r>
              <a:rPr lang="zh-CN" altLang="en-US" sz="2000" dirty="0"/>
              <a:t>先修课</a:t>
            </a:r>
          </a:p>
        </p:txBody>
      </p:sp>
      <p:sp>
        <p:nvSpPr>
          <p:cNvPr id="7" name="矩形 6"/>
          <p:cNvSpPr/>
          <p:nvPr/>
        </p:nvSpPr>
        <p:spPr>
          <a:xfrm>
            <a:off x="185166" y="5156537"/>
            <a:ext cx="7239000" cy="1015663"/>
          </a:xfrm>
          <a:prstGeom prst="rect">
            <a:avLst/>
          </a:prstGeom>
        </p:spPr>
        <p:txBody>
          <a:bodyPr wrap="square">
            <a:spAutoFit/>
          </a:bodyPr>
          <a:lstStyle/>
          <a:p>
            <a:pPr lvl="1" algn="l" eaLnBrk="1" hangingPunct="1"/>
            <a:r>
              <a:rPr lang="en-US" altLang="zh-CN" sz="2000" dirty="0"/>
              <a:t>Student(</a:t>
            </a:r>
            <a:r>
              <a:rPr lang="en-US" altLang="zh-CN" sz="2000" u="sng" dirty="0" err="1">
                <a:solidFill>
                  <a:srgbClr val="FF0000"/>
                </a:solidFill>
              </a:rPr>
              <a:t>Sno</a:t>
            </a:r>
            <a:r>
              <a:rPr lang="en-US" altLang="zh-CN" sz="2000" dirty="0"/>
              <a:t>, </a:t>
            </a:r>
            <a:r>
              <a:rPr lang="en-US" altLang="zh-CN" sz="2000" dirty="0" err="1"/>
              <a:t>Sname</a:t>
            </a:r>
            <a:r>
              <a:rPr lang="en-US" altLang="zh-CN" sz="2000" dirty="0"/>
              <a:t>, </a:t>
            </a:r>
            <a:r>
              <a:rPr lang="en-US" altLang="zh-CN" sz="2000" dirty="0" err="1"/>
              <a:t>Sgender</a:t>
            </a:r>
            <a:r>
              <a:rPr lang="en-US" altLang="zh-CN" sz="2000" dirty="0"/>
              <a:t>, Sage, </a:t>
            </a:r>
            <a:r>
              <a:rPr lang="en-US" altLang="zh-CN" sz="2000" dirty="0" err="1"/>
              <a:t>Sdept</a:t>
            </a:r>
            <a:r>
              <a:rPr lang="en-US" altLang="zh-CN" sz="2000" dirty="0"/>
              <a:t>) //</a:t>
            </a:r>
            <a:r>
              <a:rPr lang="zh-CN" altLang="en-US" sz="2000" dirty="0"/>
              <a:t>学生</a:t>
            </a:r>
          </a:p>
          <a:p>
            <a:pPr lvl="1" algn="l" eaLnBrk="1" hangingPunct="1"/>
            <a:r>
              <a:rPr lang="en-US" altLang="zh-CN" sz="2000" dirty="0"/>
              <a:t>Course(</a:t>
            </a:r>
            <a:r>
              <a:rPr lang="en-US" altLang="zh-CN" sz="2000" u="sng" dirty="0" err="1">
                <a:solidFill>
                  <a:srgbClr val="FF0000"/>
                </a:solidFill>
              </a:rPr>
              <a:t>Cno</a:t>
            </a:r>
            <a:r>
              <a:rPr lang="en-US" altLang="zh-CN" sz="2000" dirty="0"/>
              <a:t>, </a:t>
            </a:r>
            <a:r>
              <a:rPr lang="en-US" altLang="zh-CN" sz="2000" dirty="0" err="1"/>
              <a:t>Cname</a:t>
            </a:r>
            <a:r>
              <a:rPr lang="en-US" altLang="zh-CN" sz="2000" dirty="0"/>
              <a:t>, </a:t>
            </a:r>
            <a:r>
              <a:rPr lang="en-US" altLang="zh-CN" sz="2000" dirty="0" err="1"/>
              <a:t>Cpno</a:t>
            </a:r>
            <a:r>
              <a:rPr lang="en-US" altLang="zh-CN" sz="2000" dirty="0"/>
              <a:t>, </a:t>
            </a:r>
            <a:r>
              <a:rPr lang="en-US" altLang="zh-CN" sz="2000" dirty="0" err="1"/>
              <a:t>Ccredit</a:t>
            </a:r>
            <a:r>
              <a:rPr lang="en-US" altLang="zh-CN" sz="2000" dirty="0"/>
              <a:t>) //</a:t>
            </a:r>
            <a:r>
              <a:rPr lang="zh-CN" altLang="en-US" sz="2000" dirty="0"/>
              <a:t>课程</a:t>
            </a:r>
          </a:p>
          <a:p>
            <a:pPr lvl="1" algn="l" eaLnBrk="1" hangingPunct="1"/>
            <a:r>
              <a:rPr lang="en-US" altLang="zh-CN" sz="2000" dirty="0"/>
              <a:t>SC(</a:t>
            </a:r>
            <a:r>
              <a:rPr lang="en-US" altLang="zh-CN" sz="2000" u="sng" dirty="0" err="1">
                <a:solidFill>
                  <a:srgbClr val="0000FF"/>
                </a:solidFill>
              </a:rPr>
              <a:t>Sno</a:t>
            </a:r>
            <a:r>
              <a:rPr lang="en-US" altLang="zh-CN" sz="2000" u="sng" dirty="0">
                <a:solidFill>
                  <a:srgbClr val="0000FF"/>
                </a:solidFill>
              </a:rPr>
              <a:t>, </a:t>
            </a:r>
            <a:r>
              <a:rPr lang="en-US" altLang="zh-CN" sz="2000" u="sng" dirty="0" err="1">
                <a:solidFill>
                  <a:srgbClr val="0000FF"/>
                </a:solidFill>
              </a:rPr>
              <a:t>Cno</a:t>
            </a:r>
            <a:r>
              <a:rPr lang="en-US" altLang="zh-CN" sz="2000" u="sng" dirty="0"/>
              <a:t>,</a:t>
            </a:r>
            <a:r>
              <a:rPr lang="en-US" altLang="zh-CN" sz="2000" dirty="0"/>
              <a:t> Grade) //</a:t>
            </a:r>
            <a:r>
              <a:rPr lang="zh-CN" altLang="en-US" sz="2000" dirty="0"/>
              <a:t>选课</a:t>
            </a:r>
            <a:endParaRPr lang="en-US" altLang="zh-CN" sz="2000" dirty="0"/>
          </a:p>
        </p:txBody>
      </p:sp>
      <p:sp>
        <p:nvSpPr>
          <p:cNvPr id="8" name="TextBox 7"/>
          <p:cNvSpPr txBox="1"/>
          <p:nvPr/>
        </p:nvSpPr>
        <p:spPr>
          <a:xfrm>
            <a:off x="483286" y="609600"/>
            <a:ext cx="1891865" cy="461665"/>
          </a:xfrm>
          <a:prstGeom prst="rect">
            <a:avLst/>
          </a:prstGeom>
          <a:noFill/>
        </p:spPr>
        <p:txBody>
          <a:bodyPr wrap="none" rtlCol="0">
            <a:spAutoFit/>
          </a:bodyPr>
          <a:lstStyle/>
          <a:p>
            <a:r>
              <a:rPr lang="zh-CN" altLang="en-US" dirty="0"/>
              <a:t>数据库模式</a:t>
            </a:r>
            <a:r>
              <a:rPr lang="en-US" altLang="zh-CN" dirty="0"/>
              <a:t>1</a:t>
            </a:r>
            <a:endParaRPr lang="zh-CN" altLang="en-US" dirty="0"/>
          </a:p>
        </p:txBody>
      </p:sp>
      <p:sp>
        <p:nvSpPr>
          <p:cNvPr id="9" name="TextBox 8"/>
          <p:cNvSpPr txBox="1"/>
          <p:nvPr/>
        </p:nvSpPr>
        <p:spPr>
          <a:xfrm>
            <a:off x="483286" y="4772030"/>
            <a:ext cx="1891865" cy="461665"/>
          </a:xfrm>
          <a:prstGeom prst="rect">
            <a:avLst/>
          </a:prstGeom>
          <a:noFill/>
        </p:spPr>
        <p:txBody>
          <a:bodyPr wrap="none" rtlCol="0">
            <a:spAutoFit/>
          </a:bodyPr>
          <a:lstStyle/>
          <a:p>
            <a:r>
              <a:rPr lang="zh-CN" altLang="en-US" dirty="0"/>
              <a:t>数据库模式</a:t>
            </a:r>
            <a:r>
              <a:rPr lang="en-US" altLang="zh-CN" dirty="0"/>
              <a:t>2</a:t>
            </a:r>
            <a:endParaRPr lang="zh-CN" altLang="en-US" dirty="0"/>
          </a:p>
        </p:txBody>
      </p:sp>
      <p:sp>
        <p:nvSpPr>
          <p:cNvPr id="2" name="TextBox 1"/>
          <p:cNvSpPr txBox="1"/>
          <p:nvPr/>
        </p:nvSpPr>
        <p:spPr>
          <a:xfrm>
            <a:off x="13447" y="47108"/>
            <a:ext cx="1415772" cy="46166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dirty="0"/>
              <a:t>两个例子</a:t>
            </a:r>
          </a:p>
        </p:txBody>
      </p:sp>
      <p:sp>
        <p:nvSpPr>
          <p:cNvPr id="11" name="灯片编号占位符 10">
            <a:extLst>
              <a:ext uri="{FF2B5EF4-FFF2-40B4-BE49-F238E27FC236}">
                <a16:creationId xmlns:a16="http://schemas.microsoft.com/office/drawing/2014/main" id="{258F004B-2DD7-4880-9491-31C2FDCF8988}"/>
              </a:ext>
            </a:extLst>
          </p:cNvPr>
          <p:cNvSpPr>
            <a:spLocks noGrp="1"/>
          </p:cNvSpPr>
          <p:nvPr>
            <p:ph type="sldNum" sz="quarter" idx="12"/>
          </p:nvPr>
        </p:nvSpPr>
        <p:spPr/>
        <p:txBody>
          <a:bodyPr/>
          <a:lstStyle/>
          <a:p>
            <a:pPr>
              <a:defRPr/>
            </a:pPr>
            <a:fld id="{E49F6470-30F0-46F2-A9B4-347B3C250B99}" type="slidenum">
              <a:rPr lang="en-US" altLang="zh-CN" smtClean="0"/>
              <a:pPr>
                <a:defRPr/>
              </a:pPr>
              <a:t>4</a:t>
            </a:fld>
            <a:r>
              <a:rPr lang="en-US" altLang="zh-CN"/>
              <a:t>/138</a:t>
            </a:r>
            <a:endParaRPr lang="zh-CN" altLang="en-US" dirty="0"/>
          </a:p>
        </p:txBody>
      </p:sp>
    </p:spTree>
    <p:extLst>
      <p:ext uri="{BB962C8B-B14F-4D97-AF65-F5344CB8AC3E}">
        <p14:creationId xmlns:p14="http://schemas.microsoft.com/office/powerpoint/2010/main" val="4988122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4EF14615-9BF4-1031-B888-BE900BB37605}"/>
              </a:ext>
            </a:extLst>
          </p:cNvPr>
          <p:cNvPicPr>
            <a:picLocks noChangeAspect="1"/>
          </p:cNvPicPr>
          <p:nvPr/>
        </p:nvPicPr>
        <p:blipFill>
          <a:blip r:embed="rId2"/>
          <a:stretch>
            <a:fillRect/>
          </a:stretch>
        </p:blipFill>
        <p:spPr>
          <a:xfrm>
            <a:off x="287814" y="1376235"/>
            <a:ext cx="2895851" cy="2706859"/>
          </a:xfrm>
          <a:prstGeom prst="rect">
            <a:avLst/>
          </a:prstGeom>
        </p:spPr>
      </p:pic>
      <p:pic>
        <p:nvPicPr>
          <p:cNvPr id="2" name="图片 1">
            <a:extLst>
              <a:ext uri="{FF2B5EF4-FFF2-40B4-BE49-F238E27FC236}">
                <a16:creationId xmlns:a16="http://schemas.microsoft.com/office/drawing/2014/main" id="{C12A9A29-5718-1239-8091-5357EA81B19A}"/>
              </a:ext>
            </a:extLst>
          </p:cNvPr>
          <p:cNvPicPr>
            <a:picLocks noChangeAspect="1"/>
          </p:cNvPicPr>
          <p:nvPr/>
        </p:nvPicPr>
        <p:blipFill>
          <a:blip r:embed="rId3"/>
          <a:stretch>
            <a:fillRect/>
          </a:stretch>
        </p:blipFill>
        <p:spPr>
          <a:xfrm>
            <a:off x="3287462" y="1382227"/>
            <a:ext cx="2780941" cy="3294063"/>
          </a:xfrm>
          <a:prstGeom prst="rect">
            <a:avLst/>
          </a:prstGeom>
        </p:spPr>
      </p:pic>
      <p:sp>
        <p:nvSpPr>
          <p:cNvPr id="93186"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67497A09-ACFE-48C7-929D-FBB51FBF81B3}" type="datetime1">
              <a:rPr kumimoji="0" lang="zh-CN" altLang="en-US" sz="1400" smtClean="0"/>
              <a:t>2025/10/15</a:t>
            </a:fld>
            <a:endParaRPr kumimoji="0" lang="en-US" altLang="zh-CN" sz="1400"/>
          </a:p>
        </p:txBody>
      </p:sp>
      <p:sp>
        <p:nvSpPr>
          <p:cNvPr id="93187"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93189"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11" name="文本框 10">
            <a:extLst>
              <a:ext uri="{FF2B5EF4-FFF2-40B4-BE49-F238E27FC236}">
                <a16:creationId xmlns:a16="http://schemas.microsoft.com/office/drawing/2014/main" id="{D254F888-3F50-9CAD-EAAB-AD9125854A6D}"/>
              </a:ext>
            </a:extLst>
          </p:cNvPr>
          <p:cNvSpPr txBox="1"/>
          <p:nvPr/>
        </p:nvSpPr>
        <p:spPr>
          <a:xfrm>
            <a:off x="788764" y="4007305"/>
            <a:ext cx="1545615" cy="400110"/>
          </a:xfrm>
          <a:prstGeom prst="rect">
            <a:avLst/>
          </a:prstGeom>
          <a:noFill/>
        </p:spPr>
        <p:txBody>
          <a:bodyPr wrap="none" rtlCol="0">
            <a:spAutoFit/>
          </a:bodyPr>
          <a:lstStyle/>
          <a:p>
            <a:r>
              <a:rPr lang="en-US" altLang="zh-CN" sz="2000" dirty="0"/>
              <a:t>student</a:t>
            </a:r>
            <a:r>
              <a:rPr lang="zh-CN" altLang="en-US" sz="2000" dirty="0"/>
              <a:t>关系</a:t>
            </a:r>
          </a:p>
        </p:txBody>
      </p:sp>
      <p:sp>
        <p:nvSpPr>
          <p:cNvPr id="12" name="文本框 11">
            <a:extLst>
              <a:ext uri="{FF2B5EF4-FFF2-40B4-BE49-F238E27FC236}">
                <a16:creationId xmlns:a16="http://schemas.microsoft.com/office/drawing/2014/main" id="{F8A044EE-A3EF-D159-F107-F7BA49CE3601}"/>
              </a:ext>
            </a:extLst>
          </p:cNvPr>
          <p:cNvSpPr txBox="1"/>
          <p:nvPr/>
        </p:nvSpPr>
        <p:spPr>
          <a:xfrm>
            <a:off x="4131723" y="4601255"/>
            <a:ext cx="1293304" cy="400110"/>
          </a:xfrm>
          <a:prstGeom prst="rect">
            <a:avLst/>
          </a:prstGeom>
          <a:noFill/>
        </p:spPr>
        <p:txBody>
          <a:bodyPr wrap="none" rtlCol="0">
            <a:spAutoFit/>
          </a:bodyPr>
          <a:lstStyle/>
          <a:p>
            <a:r>
              <a:rPr lang="en-US" altLang="zh-CN" sz="2000" dirty="0"/>
              <a:t>takes</a:t>
            </a:r>
            <a:r>
              <a:rPr lang="zh-CN" altLang="en-US" sz="2000" dirty="0"/>
              <a:t>关系</a:t>
            </a:r>
          </a:p>
        </p:txBody>
      </p:sp>
      <p:sp>
        <p:nvSpPr>
          <p:cNvPr id="13" name="椭圆 12">
            <a:extLst>
              <a:ext uri="{FF2B5EF4-FFF2-40B4-BE49-F238E27FC236}">
                <a16:creationId xmlns:a16="http://schemas.microsoft.com/office/drawing/2014/main" id="{10BF3F11-41C0-43D1-A52D-C40F477D2871}"/>
              </a:ext>
            </a:extLst>
          </p:cNvPr>
          <p:cNvSpPr/>
          <p:nvPr/>
        </p:nvSpPr>
        <p:spPr bwMode="auto">
          <a:xfrm>
            <a:off x="5544619" y="4430729"/>
            <a:ext cx="457200" cy="282574"/>
          </a:xfrm>
          <a:prstGeom prst="ellipse">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sp>
        <p:nvSpPr>
          <p:cNvPr id="15" name="Rectangle 3">
            <a:extLst>
              <a:ext uri="{FF2B5EF4-FFF2-40B4-BE49-F238E27FC236}">
                <a16:creationId xmlns:a16="http://schemas.microsoft.com/office/drawing/2014/main" id="{A40CD616-FFD1-B0D4-F419-194D1126738B}"/>
              </a:ext>
            </a:extLst>
          </p:cNvPr>
          <p:cNvSpPr txBox="1">
            <a:spLocks noChangeArrowheads="1"/>
          </p:cNvSpPr>
          <p:nvPr/>
        </p:nvSpPr>
        <p:spPr bwMode="auto">
          <a:xfrm>
            <a:off x="1438275" y="5076102"/>
            <a:ext cx="6680200" cy="1330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marL="0" indent="0" eaLnBrk="1" hangingPunct="1">
              <a:spcBef>
                <a:spcPts val="0"/>
              </a:spcBef>
              <a:buNone/>
            </a:pPr>
            <a:r>
              <a:rPr kumimoji="0" lang="zh-CN" altLang="en-US" sz="2000" kern="0" dirty="0"/>
              <a:t>学生表 </a:t>
            </a:r>
            <a:r>
              <a:rPr kumimoji="0" lang="en-US" altLang="zh-CN" sz="1800" kern="0" dirty="0"/>
              <a:t>Student(</a:t>
            </a:r>
            <a:r>
              <a:rPr kumimoji="0" lang="en-US" altLang="zh-CN" sz="1800" u="sng" kern="0" dirty="0" err="1"/>
              <a:t>Sno</a:t>
            </a:r>
            <a:r>
              <a:rPr kumimoji="0" lang="en-US" altLang="zh-CN" sz="1800" kern="0" dirty="0"/>
              <a:t>, </a:t>
            </a:r>
            <a:r>
              <a:rPr kumimoji="0" lang="en-US" altLang="zh-CN" sz="1800" kern="0" dirty="0" err="1"/>
              <a:t>Sname</a:t>
            </a:r>
            <a:r>
              <a:rPr kumimoji="0" lang="en-US" altLang="zh-CN" sz="1800" kern="0" dirty="0"/>
              <a:t>, </a:t>
            </a:r>
            <a:r>
              <a:rPr kumimoji="0" lang="en-US" altLang="zh-CN" sz="1800" kern="0" dirty="0" err="1"/>
              <a:t>Sgender</a:t>
            </a:r>
            <a:r>
              <a:rPr kumimoji="0" lang="en-US" altLang="zh-CN" sz="1800" kern="0" dirty="0"/>
              <a:t>, Sage, </a:t>
            </a:r>
            <a:r>
              <a:rPr kumimoji="0" lang="en-US" altLang="zh-CN" sz="1800" kern="0" dirty="0" err="1"/>
              <a:t>Sdept</a:t>
            </a:r>
            <a:r>
              <a:rPr kumimoji="0" lang="en-US" altLang="zh-CN" sz="1800" kern="0" dirty="0"/>
              <a:t>)</a:t>
            </a:r>
          </a:p>
          <a:p>
            <a:pPr marL="0" indent="0" eaLnBrk="1" hangingPunct="1">
              <a:spcBef>
                <a:spcPts val="0"/>
              </a:spcBef>
              <a:buNone/>
            </a:pPr>
            <a:endParaRPr kumimoji="0" lang="zh-CN" altLang="en-US" sz="600" kern="0" dirty="0"/>
          </a:p>
          <a:p>
            <a:pPr marL="0" indent="0" eaLnBrk="1" hangingPunct="1">
              <a:spcBef>
                <a:spcPts val="0"/>
              </a:spcBef>
              <a:buNone/>
            </a:pPr>
            <a:r>
              <a:rPr kumimoji="0" lang="zh-CN" altLang="en-US" sz="2000" kern="0" dirty="0"/>
              <a:t>课程表 </a:t>
            </a:r>
            <a:r>
              <a:rPr kumimoji="0" lang="en-US" altLang="zh-CN" sz="1800" kern="0" dirty="0"/>
              <a:t>Course(</a:t>
            </a:r>
            <a:r>
              <a:rPr kumimoji="0" lang="en-US" altLang="zh-CN" sz="1800" u="sng" kern="0" dirty="0" err="1"/>
              <a:t>Cno</a:t>
            </a:r>
            <a:r>
              <a:rPr kumimoji="0" lang="en-US" altLang="zh-CN" sz="1800" kern="0" dirty="0"/>
              <a:t>, </a:t>
            </a:r>
            <a:r>
              <a:rPr kumimoji="0" lang="en-US" altLang="zh-CN" sz="1800" kern="0" dirty="0" err="1"/>
              <a:t>Cname</a:t>
            </a:r>
            <a:r>
              <a:rPr kumimoji="0" lang="en-US" altLang="zh-CN" sz="1800" kern="0" dirty="0"/>
              <a:t>, </a:t>
            </a:r>
            <a:r>
              <a:rPr kumimoji="0" lang="en-US" altLang="zh-CN" sz="1800" kern="0" dirty="0" err="1"/>
              <a:t>Cpno</a:t>
            </a:r>
            <a:r>
              <a:rPr kumimoji="0" lang="en-US" altLang="zh-CN" sz="1800" kern="0" dirty="0"/>
              <a:t>, </a:t>
            </a:r>
            <a:r>
              <a:rPr kumimoji="0" lang="en-US" altLang="zh-CN" sz="1800" kern="0" dirty="0" err="1"/>
              <a:t>Ccredit</a:t>
            </a:r>
            <a:r>
              <a:rPr kumimoji="0" lang="en-US" altLang="zh-CN" sz="1800" kern="0" dirty="0"/>
              <a:t>)</a:t>
            </a:r>
          </a:p>
          <a:p>
            <a:pPr marL="0" indent="0" eaLnBrk="1" hangingPunct="1">
              <a:spcBef>
                <a:spcPts val="0"/>
              </a:spcBef>
              <a:buNone/>
            </a:pPr>
            <a:endParaRPr kumimoji="0" lang="zh-CN" altLang="en-US" sz="600" kern="0" dirty="0"/>
          </a:p>
          <a:p>
            <a:pPr marL="0" indent="0" eaLnBrk="1" hangingPunct="1">
              <a:spcBef>
                <a:spcPts val="0"/>
              </a:spcBef>
              <a:buNone/>
            </a:pPr>
            <a:r>
              <a:rPr kumimoji="0" lang="zh-CN" altLang="en-US" sz="2000" kern="0" dirty="0"/>
              <a:t>选课表 </a:t>
            </a:r>
            <a:r>
              <a:rPr kumimoji="0" lang="en-US" altLang="zh-CN" sz="1800" kern="0" dirty="0"/>
              <a:t>SC(</a:t>
            </a:r>
            <a:r>
              <a:rPr kumimoji="0" lang="en-US" altLang="zh-CN" sz="1800" u="sng" kern="0" dirty="0" err="1"/>
              <a:t>Sno</a:t>
            </a:r>
            <a:r>
              <a:rPr kumimoji="0" lang="en-US" altLang="zh-CN" sz="1800" u="sng" kern="0" dirty="0"/>
              <a:t>, </a:t>
            </a:r>
            <a:r>
              <a:rPr kumimoji="0" lang="en-US" altLang="zh-CN" sz="1800" u="sng" kern="0" dirty="0" err="1"/>
              <a:t>Cno</a:t>
            </a:r>
            <a:r>
              <a:rPr kumimoji="0" lang="en-US" altLang="zh-CN" sz="1800" kern="0" dirty="0"/>
              <a:t>, Grade)</a:t>
            </a:r>
            <a:endParaRPr kumimoji="0" lang="zh-CN" altLang="en-US" sz="2000" kern="0" dirty="0"/>
          </a:p>
        </p:txBody>
      </p:sp>
      <p:sp>
        <p:nvSpPr>
          <p:cNvPr id="4" name="文本框 3">
            <a:extLst>
              <a:ext uri="{FF2B5EF4-FFF2-40B4-BE49-F238E27FC236}">
                <a16:creationId xmlns:a16="http://schemas.microsoft.com/office/drawing/2014/main" id="{1A9C7E90-A60E-1977-B7F2-AC14589E6D42}"/>
              </a:ext>
            </a:extLst>
          </p:cNvPr>
          <p:cNvSpPr txBox="1"/>
          <p:nvPr/>
        </p:nvSpPr>
        <p:spPr>
          <a:xfrm>
            <a:off x="6172200" y="1697900"/>
            <a:ext cx="2819400" cy="2308324"/>
          </a:xfrm>
          <a:prstGeom prst="rect">
            <a:avLst/>
          </a:prstGeom>
          <a:noFill/>
        </p:spPr>
        <p:txBody>
          <a:bodyPr wrap="square">
            <a:spAutoFit/>
          </a:bodyPr>
          <a:lstStyle/>
          <a:p>
            <a:pPr algn="l"/>
            <a:r>
              <a:rPr lang="en-US" altLang="zh-CN" sz="1800" b="0" u="none" strike="noStrike" baseline="0" dirty="0">
                <a:latin typeface="+mn-lt"/>
              </a:rPr>
              <a:t>create table </a:t>
            </a:r>
            <a:r>
              <a:rPr lang="en-US" altLang="zh-CN" sz="1800" b="1" u="none" strike="noStrike" baseline="0" dirty="0">
                <a:solidFill>
                  <a:srgbClr val="660066"/>
                </a:solidFill>
                <a:latin typeface="+mn-lt"/>
              </a:rPr>
              <a:t>course</a:t>
            </a:r>
          </a:p>
          <a:p>
            <a:pPr algn="l"/>
            <a:r>
              <a:rPr lang="en-US" altLang="zh-CN" sz="1800" b="0" u="none" strike="noStrike" baseline="0" dirty="0">
                <a:latin typeface="+mn-lt"/>
              </a:rPr>
              <a:t>(</a:t>
            </a:r>
            <a:r>
              <a:rPr lang="en-US" altLang="zh-CN" sz="1800" b="0" u="sng" strike="noStrike" baseline="0" dirty="0" err="1">
                <a:latin typeface="+mn-lt"/>
              </a:rPr>
              <a:t>course_id</a:t>
            </a:r>
            <a:r>
              <a:rPr lang="en-US" altLang="zh-CN" sz="1800" b="0" u="sng" strike="noStrike" baseline="0" dirty="0">
                <a:latin typeface="+mn-lt"/>
              </a:rPr>
              <a:t> </a:t>
            </a:r>
            <a:r>
              <a:rPr lang="en-US" altLang="zh-CN" sz="1800" b="0" u="none" strike="noStrike" baseline="0" dirty="0">
                <a:latin typeface="+mn-lt"/>
              </a:rPr>
              <a:t>varchar (7),</a:t>
            </a:r>
          </a:p>
          <a:p>
            <a:pPr algn="l"/>
            <a:r>
              <a:rPr lang="en-US" altLang="zh-CN" sz="1800" b="0" u="none" strike="noStrike" baseline="0" dirty="0">
                <a:latin typeface="+mn-lt"/>
              </a:rPr>
              <a:t>title varchar (50),</a:t>
            </a:r>
          </a:p>
          <a:p>
            <a:pPr algn="l"/>
            <a:r>
              <a:rPr lang="en-US" altLang="zh-CN" sz="1800" b="0" u="none" strike="noStrike" baseline="0" dirty="0" err="1">
                <a:latin typeface="+mn-lt"/>
              </a:rPr>
              <a:t>dept_name</a:t>
            </a:r>
            <a:r>
              <a:rPr lang="en-US" altLang="zh-CN" sz="1800" b="0" u="none" strike="noStrike" baseline="0" dirty="0">
                <a:latin typeface="+mn-lt"/>
              </a:rPr>
              <a:t> varchar (20),</a:t>
            </a:r>
          </a:p>
          <a:p>
            <a:pPr algn="l"/>
            <a:r>
              <a:rPr lang="en-US" altLang="zh-CN" sz="1800" b="0" u="none" strike="noStrike" baseline="0" dirty="0">
                <a:latin typeface="+mn-lt"/>
              </a:rPr>
              <a:t>credits numeric (2,0),</a:t>
            </a:r>
          </a:p>
          <a:p>
            <a:pPr algn="l"/>
            <a:r>
              <a:rPr lang="en-US" altLang="zh-CN" sz="1800" b="0" u="none" strike="noStrike" baseline="0" dirty="0">
                <a:latin typeface="+mn-lt"/>
              </a:rPr>
              <a:t>primary key (</a:t>
            </a:r>
            <a:r>
              <a:rPr lang="en-US" altLang="zh-CN" sz="1800" b="0" u="none" strike="noStrike" baseline="0" dirty="0" err="1">
                <a:latin typeface="+mn-lt"/>
              </a:rPr>
              <a:t>course_id</a:t>
            </a:r>
            <a:r>
              <a:rPr lang="en-US" altLang="zh-CN" sz="1800" b="0" u="none" strike="noStrike" baseline="0" dirty="0">
                <a:latin typeface="+mn-lt"/>
              </a:rPr>
              <a:t>),</a:t>
            </a:r>
          </a:p>
          <a:p>
            <a:pPr algn="l"/>
            <a:r>
              <a:rPr lang="en-US" altLang="zh-CN" sz="1800" b="0" u="none" strike="noStrike" baseline="0" dirty="0">
                <a:latin typeface="+mn-lt"/>
              </a:rPr>
              <a:t>foreign key (</a:t>
            </a:r>
            <a:r>
              <a:rPr lang="en-US" altLang="zh-CN" sz="1800" b="0" u="none" strike="noStrike" baseline="0" dirty="0" err="1">
                <a:latin typeface="+mn-lt"/>
              </a:rPr>
              <a:t>dept_name</a:t>
            </a:r>
            <a:r>
              <a:rPr lang="en-US" altLang="zh-CN" sz="1800" b="0" u="none" strike="noStrike" baseline="0" dirty="0">
                <a:latin typeface="+mn-lt"/>
              </a:rPr>
              <a:t>) references department);</a:t>
            </a:r>
            <a:endParaRPr lang="zh-CN" altLang="en-US" sz="1800" dirty="0">
              <a:latin typeface="+mn-lt"/>
            </a:endParaRPr>
          </a:p>
        </p:txBody>
      </p:sp>
      <p:sp>
        <p:nvSpPr>
          <p:cNvPr id="5" name="椭圆 4">
            <a:extLst>
              <a:ext uri="{FF2B5EF4-FFF2-40B4-BE49-F238E27FC236}">
                <a16:creationId xmlns:a16="http://schemas.microsoft.com/office/drawing/2014/main" id="{AEF719C7-D805-9EBA-50D7-127A02198ADB}"/>
              </a:ext>
            </a:extLst>
          </p:cNvPr>
          <p:cNvSpPr/>
          <p:nvPr/>
        </p:nvSpPr>
        <p:spPr bwMode="auto">
          <a:xfrm>
            <a:off x="195130" y="1360332"/>
            <a:ext cx="457200" cy="282574"/>
          </a:xfrm>
          <a:prstGeom prst="ellipse">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sp>
        <p:nvSpPr>
          <p:cNvPr id="7" name="椭圆 6">
            <a:extLst>
              <a:ext uri="{FF2B5EF4-FFF2-40B4-BE49-F238E27FC236}">
                <a16:creationId xmlns:a16="http://schemas.microsoft.com/office/drawing/2014/main" id="{31BD4031-FCDB-16EF-4DB8-6C9481F2DB9A}"/>
              </a:ext>
            </a:extLst>
          </p:cNvPr>
          <p:cNvSpPr/>
          <p:nvPr/>
        </p:nvSpPr>
        <p:spPr bwMode="auto">
          <a:xfrm>
            <a:off x="3183665" y="1322516"/>
            <a:ext cx="457200" cy="282574"/>
          </a:xfrm>
          <a:prstGeom prst="ellipse">
            <a:avLst/>
          </a:prstGeom>
          <a:noFill/>
          <a:ln w="95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sp>
        <p:nvSpPr>
          <p:cNvPr id="9" name="椭圆 8">
            <a:extLst>
              <a:ext uri="{FF2B5EF4-FFF2-40B4-BE49-F238E27FC236}">
                <a16:creationId xmlns:a16="http://schemas.microsoft.com/office/drawing/2014/main" id="{C100A7B3-F8F8-04D6-538E-D7F2CBBA5D65}"/>
              </a:ext>
            </a:extLst>
          </p:cNvPr>
          <p:cNvSpPr/>
          <p:nvPr/>
        </p:nvSpPr>
        <p:spPr bwMode="auto">
          <a:xfrm>
            <a:off x="3810000" y="1337823"/>
            <a:ext cx="457200" cy="282574"/>
          </a:xfrm>
          <a:prstGeom prst="ellipse">
            <a:avLst/>
          </a:prstGeom>
          <a:noFill/>
          <a:ln w="952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sp>
        <p:nvSpPr>
          <p:cNvPr id="14" name="椭圆 13">
            <a:extLst>
              <a:ext uri="{FF2B5EF4-FFF2-40B4-BE49-F238E27FC236}">
                <a16:creationId xmlns:a16="http://schemas.microsoft.com/office/drawing/2014/main" id="{B13E0A69-9677-D1F0-A1C8-033AA9EFA187}"/>
              </a:ext>
            </a:extLst>
          </p:cNvPr>
          <p:cNvSpPr/>
          <p:nvPr/>
        </p:nvSpPr>
        <p:spPr bwMode="auto">
          <a:xfrm>
            <a:off x="6172200" y="1961807"/>
            <a:ext cx="1219200" cy="381000"/>
          </a:xfrm>
          <a:prstGeom prst="ellipse">
            <a:avLst/>
          </a:prstGeom>
          <a:noFill/>
          <a:ln w="9525" cap="flat" cmpd="sng" algn="ctr">
            <a:solidFill>
              <a:srgbClr val="0000FF"/>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sp>
        <p:nvSpPr>
          <p:cNvPr id="6" name="灯片编号占位符 5">
            <a:extLst>
              <a:ext uri="{FF2B5EF4-FFF2-40B4-BE49-F238E27FC236}">
                <a16:creationId xmlns:a16="http://schemas.microsoft.com/office/drawing/2014/main" id="{0E62F486-4F6D-F72A-FDED-A4EA462288FE}"/>
              </a:ext>
            </a:extLst>
          </p:cNvPr>
          <p:cNvSpPr>
            <a:spLocks noGrp="1"/>
          </p:cNvSpPr>
          <p:nvPr>
            <p:ph type="sldNum" sz="quarter" idx="12"/>
          </p:nvPr>
        </p:nvSpPr>
        <p:spPr/>
        <p:txBody>
          <a:bodyPr/>
          <a:lstStyle/>
          <a:p>
            <a:pPr>
              <a:defRPr/>
            </a:pPr>
            <a:fld id="{E0CD82EA-F7BE-454B-A83E-18830F6C5424}" type="slidenum">
              <a:rPr lang="en-US" altLang="zh-CN" smtClean="0"/>
              <a:pPr>
                <a:defRPr/>
              </a:pPr>
              <a:t>5</a:t>
            </a:fld>
            <a:r>
              <a:rPr lang="en-US" altLang="zh-CN"/>
              <a:t>/138</a:t>
            </a:r>
            <a:endParaRPr lang="zh-CN" altLang="en-US" dirty="0"/>
          </a:p>
        </p:txBody>
      </p:sp>
    </p:spTree>
    <p:extLst>
      <p:ext uri="{BB962C8B-B14F-4D97-AF65-F5344CB8AC3E}">
        <p14:creationId xmlns:p14="http://schemas.microsoft.com/office/powerpoint/2010/main" val="331538157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C32FB0B3-4983-42D0-B563-450E6591B82C}" type="datetime1">
              <a:rPr kumimoji="0" lang="zh-CN" altLang="en-US" sz="1400" smtClean="0"/>
              <a:t>2025/10/15</a:t>
            </a:fld>
            <a:endParaRPr kumimoji="0" lang="en-US" altLang="zh-CN" sz="1400"/>
          </a:p>
        </p:txBody>
      </p:sp>
      <p:sp>
        <p:nvSpPr>
          <p:cNvPr id="93187"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93189"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93190" name="Rectangle 3"/>
          <p:cNvSpPr>
            <a:spLocks noGrp="1" noChangeArrowheads="1"/>
          </p:cNvSpPr>
          <p:nvPr>
            <p:ph type="body" idx="1"/>
          </p:nvPr>
        </p:nvSpPr>
        <p:spPr/>
        <p:txBody>
          <a:bodyPr/>
          <a:lstStyle/>
          <a:p>
            <a:pPr eaLnBrk="1" hangingPunct="1"/>
            <a:r>
              <a:rPr lang="zh-CN" altLang="en-US" sz="2800" dirty="0"/>
              <a:t>一个数据库中的</a:t>
            </a:r>
            <a:r>
              <a:rPr lang="zh-CN" altLang="en-US" sz="2800" u="sng" dirty="0">
                <a:solidFill>
                  <a:srgbClr val="0000FF"/>
                </a:solidFill>
              </a:rPr>
              <a:t>多个表之间</a:t>
            </a:r>
            <a:r>
              <a:rPr lang="zh-CN" altLang="en-US" sz="2800" u="sng" dirty="0"/>
              <a:t>一般都存在某种</a:t>
            </a:r>
            <a:r>
              <a:rPr lang="zh-CN" altLang="en-US" sz="2800" u="sng" dirty="0">
                <a:solidFill>
                  <a:srgbClr val="0000FF"/>
                </a:solidFill>
              </a:rPr>
              <a:t>内在联系</a:t>
            </a:r>
            <a:r>
              <a:rPr lang="zh-CN" altLang="en-US" sz="2800" dirty="0"/>
              <a:t>，它们共同提供有用的信息。</a:t>
            </a:r>
            <a:endParaRPr lang="en-US" altLang="zh-CN" sz="2800" dirty="0"/>
          </a:p>
          <a:p>
            <a:pPr eaLnBrk="1" hangingPunct="1"/>
            <a:r>
              <a:rPr lang="zh-CN" altLang="en-US" sz="2800" dirty="0"/>
              <a:t>连接查询主要包括</a:t>
            </a:r>
            <a:r>
              <a:rPr lang="zh-CN" altLang="en-US" sz="2800" dirty="0">
                <a:solidFill>
                  <a:srgbClr val="0000FF"/>
                </a:solidFill>
              </a:rPr>
              <a:t>自然连接、等值连接</a:t>
            </a:r>
            <a:r>
              <a:rPr lang="zh-CN" altLang="en-US" sz="2800" dirty="0"/>
              <a:t>、</a:t>
            </a:r>
            <a:r>
              <a:rPr lang="zh-CN" altLang="en-US" sz="2800" dirty="0">
                <a:solidFill>
                  <a:srgbClr val="0000FF"/>
                </a:solidFill>
              </a:rPr>
              <a:t>非等值连接查询</a:t>
            </a:r>
            <a:r>
              <a:rPr lang="zh-CN" altLang="en-US" sz="2800" dirty="0"/>
              <a:t>、</a:t>
            </a:r>
            <a:r>
              <a:rPr lang="zh-CN" altLang="en-US" sz="2800" dirty="0">
                <a:solidFill>
                  <a:srgbClr val="0000FF"/>
                </a:solidFill>
              </a:rPr>
              <a:t>自身连接查询</a:t>
            </a:r>
            <a:r>
              <a:rPr lang="zh-CN" altLang="en-US" sz="2800" dirty="0"/>
              <a:t>、</a:t>
            </a:r>
            <a:r>
              <a:rPr lang="zh-CN" altLang="en-US" sz="2800" dirty="0">
                <a:solidFill>
                  <a:srgbClr val="0000FF"/>
                </a:solidFill>
              </a:rPr>
              <a:t>外连接查询</a:t>
            </a:r>
            <a:r>
              <a:rPr lang="zh-CN" altLang="en-US" sz="2800" dirty="0"/>
              <a:t>和</a:t>
            </a:r>
            <a:r>
              <a:rPr lang="zh-CN" altLang="en-US" sz="2800" dirty="0">
                <a:solidFill>
                  <a:srgbClr val="0000FF"/>
                </a:solidFill>
              </a:rPr>
              <a:t>复合条件连接查询。</a:t>
            </a:r>
            <a:endParaRPr lang="en-US" altLang="zh-CN" sz="2800" dirty="0">
              <a:solidFill>
                <a:srgbClr val="0000FF"/>
              </a:solidFill>
            </a:endParaRPr>
          </a:p>
          <a:p>
            <a:pPr eaLnBrk="1" hangingPunct="1"/>
            <a:endParaRPr lang="zh-CN" altLang="en-US" sz="2800" dirty="0"/>
          </a:p>
        </p:txBody>
      </p:sp>
      <p:sp>
        <p:nvSpPr>
          <p:cNvPr id="4" name="灯片编号占位符 3">
            <a:extLst>
              <a:ext uri="{FF2B5EF4-FFF2-40B4-BE49-F238E27FC236}">
                <a16:creationId xmlns:a16="http://schemas.microsoft.com/office/drawing/2014/main" id="{E63FB6FC-FEFF-34E3-E391-56808B81D180}"/>
              </a:ext>
            </a:extLst>
          </p:cNvPr>
          <p:cNvSpPr>
            <a:spLocks noGrp="1"/>
          </p:cNvSpPr>
          <p:nvPr>
            <p:ph type="sldNum" sz="quarter" idx="12"/>
          </p:nvPr>
        </p:nvSpPr>
        <p:spPr/>
        <p:txBody>
          <a:bodyPr/>
          <a:lstStyle/>
          <a:p>
            <a:pPr>
              <a:defRPr/>
            </a:pPr>
            <a:fld id="{E0CD82EA-F7BE-454B-A83E-18830F6C5424}" type="slidenum">
              <a:rPr lang="en-US" altLang="zh-CN" smtClean="0"/>
              <a:pPr>
                <a:defRPr/>
              </a:pPr>
              <a:t>6</a:t>
            </a:fld>
            <a:r>
              <a:rPr lang="en-US" altLang="zh-CN"/>
              <a:t>/138</a:t>
            </a:r>
            <a:endParaRPr lang="zh-CN" altLang="en-US" dirty="0"/>
          </a:p>
        </p:txBody>
      </p:sp>
    </p:spTree>
    <p:extLst>
      <p:ext uri="{BB962C8B-B14F-4D97-AF65-F5344CB8AC3E}">
        <p14:creationId xmlns:p14="http://schemas.microsoft.com/office/powerpoint/2010/main" val="14667608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3190">
                                            <p:txEl>
                                              <p:pRg st="1" end="1"/>
                                            </p:txEl>
                                          </p:spTgt>
                                        </p:tgtEl>
                                        <p:attrNameLst>
                                          <p:attrName>style.visibility</p:attrName>
                                        </p:attrNameLst>
                                      </p:cBhvr>
                                      <p:to>
                                        <p:strVal val="visible"/>
                                      </p:to>
                                    </p:set>
                                    <p:anim calcmode="lin" valueType="num">
                                      <p:cBhvr additive="base">
                                        <p:cTn id="7" dur="500" fill="hold"/>
                                        <p:tgtEl>
                                          <p:spTgt spid="9319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319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F1864FD2-07DB-4697-8B27-7E3C4EE4AE93}" type="datetime1">
              <a:rPr kumimoji="0" lang="zh-CN" altLang="en-US" sz="1400" smtClean="0"/>
              <a:t>2025/10/15</a:t>
            </a:fld>
            <a:endParaRPr kumimoji="0" lang="en-US" altLang="zh-CN" sz="1400"/>
          </a:p>
        </p:txBody>
      </p:sp>
      <p:sp>
        <p:nvSpPr>
          <p:cNvPr id="942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94213"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94214" name="Rectangle 3"/>
          <p:cNvSpPr>
            <a:spLocks noGrp="1" noChangeArrowheads="1"/>
          </p:cNvSpPr>
          <p:nvPr>
            <p:ph type="body" idx="1"/>
          </p:nvPr>
        </p:nvSpPr>
        <p:spPr/>
        <p:txBody>
          <a:bodyPr/>
          <a:lstStyle/>
          <a:p>
            <a:pPr eaLnBrk="1" hangingPunct="1">
              <a:lnSpc>
                <a:spcPct val="90000"/>
              </a:lnSpc>
              <a:buFont typeface="Wingdings" pitchFamily="2" charset="2"/>
              <a:buNone/>
            </a:pPr>
            <a:r>
              <a:rPr lang="zh-CN" altLang="en-US" dirty="0">
                <a:solidFill>
                  <a:srgbClr val="C00000"/>
                </a:solidFill>
              </a:rPr>
              <a:t>一、连接查询 </a:t>
            </a:r>
          </a:p>
          <a:p>
            <a:pPr eaLnBrk="1" hangingPunct="1">
              <a:lnSpc>
                <a:spcPct val="90000"/>
              </a:lnSpc>
              <a:buFont typeface="Wingdings" pitchFamily="2" charset="2"/>
              <a:buNone/>
            </a:pPr>
            <a:r>
              <a:rPr lang="zh-CN" altLang="en-US" dirty="0"/>
              <a:t>用来</a:t>
            </a:r>
            <a:r>
              <a:rPr lang="zh-CN" altLang="en-US" dirty="0">
                <a:solidFill>
                  <a:srgbClr val="FF0000"/>
                </a:solidFill>
              </a:rPr>
              <a:t>连接</a:t>
            </a:r>
            <a:r>
              <a:rPr lang="zh-CN" altLang="en-US" dirty="0">
                <a:solidFill>
                  <a:srgbClr val="0000FF"/>
                </a:solidFill>
              </a:rPr>
              <a:t>两个表的条件</a:t>
            </a:r>
            <a:r>
              <a:rPr lang="zh-CN" altLang="en-US" dirty="0"/>
              <a:t>称为</a:t>
            </a:r>
            <a:r>
              <a:rPr lang="zh-CN" altLang="en-US" b="1" dirty="0">
                <a:solidFill>
                  <a:srgbClr val="FF0000"/>
                </a:solidFill>
              </a:rPr>
              <a:t>连接</a:t>
            </a:r>
            <a:r>
              <a:rPr lang="zh-CN" altLang="en-US" b="1" dirty="0">
                <a:solidFill>
                  <a:srgbClr val="0000FF"/>
                </a:solidFill>
              </a:rPr>
              <a:t>条件</a:t>
            </a:r>
            <a:r>
              <a:rPr lang="zh-CN" altLang="en-US" b="1" dirty="0"/>
              <a:t>或</a:t>
            </a:r>
            <a:r>
              <a:rPr lang="zh-CN" altLang="en-US" b="1" dirty="0">
                <a:solidFill>
                  <a:srgbClr val="0000FF"/>
                </a:solidFill>
              </a:rPr>
              <a:t>连接谓词</a:t>
            </a:r>
            <a:r>
              <a:rPr lang="zh-CN" altLang="en-US" dirty="0"/>
              <a:t>，其一般格式为：</a:t>
            </a:r>
            <a:endParaRPr lang="en-US" altLang="zh-CN" dirty="0"/>
          </a:p>
          <a:p>
            <a:pPr eaLnBrk="1" hangingPunct="1">
              <a:lnSpc>
                <a:spcPct val="90000"/>
              </a:lnSpc>
              <a:buFont typeface="Wingdings" pitchFamily="2" charset="2"/>
              <a:buNone/>
            </a:pPr>
            <a:endParaRPr lang="en-US" altLang="zh-CN" dirty="0"/>
          </a:p>
          <a:p>
            <a:pPr algn="ctr" eaLnBrk="1" hangingPunct="1">
              <a:lnSpc>
                <a:spcPct val="90000"/>
              </a:lnSpc>
              <a:buFont typeface="Wingdings" pitchFamily="2" charset="2"/>
              <a:buNone/>
            </a:pPr>
            <a:r>
              <a:rPr lang="en-US" altLang="zh-CN" sz="2400" dirty="0"/>
              <a:t>[</a:t>
            </a:r>
            <a:r>
              <a:rPr lang="en-US" altLang="zh-CN" sz="2400" dirty="0">
                <a:solidFill>
                  <a:srgbClr val="0000FF"/>
                </a:solidFill>
              </a:rPr>
              <a:t>&lt;</a:t>
            </a:r>
            <a:r>
              <a:rPr lang="zh-CN" altLang="en-US" sz="2400" dirty="0">
                <a:solidFill>
                  <a:srgbClr val="0000FF"/>
                </a:solidFill>
              </a:rPr>
              <a:t>表名</a:t>
            </a:r>
            <a:r>
              <a:rPr lang="en-US" altLang="zh-CN" sz="2400" dirty="0">
                <a:solidFill>
                  <a:srgbClr val="0000FF"/>
                </a:solidFill>
              </a:rPr>
              <a:t>1&gt;.</a:t>
            </a:r>
            <a:r>
              <a:rPr lang="en-US" altLang="zh-CN" sz="2400" dirty="0"/>
              <a:t>]&lt;</a:t>
            </a:r>
            <a:r>
              <a:rPr lang="zh-CN" altLang="en-US" sz="2400" dirty="0"/>
              <a:t>列名</a:t>
            </a:r>
            <a:r>
              <a:rPr lang="en-US" altLang="zh-CN" sz="2400" dirty="0"/>
              <a:t>1&gt; &lt;</a:t>
            </a:r>
            <a:r>
              <a:rPr lang="zh-CN" altLang="en-US" sz="2400" dirty="0">
                <a:solidFill>
                  <a:srgbClr val="0000FF"/>
                </a:solidFill>
              </a:rPr>
              <a:t>比较运算符</a:t>
            </a:r>
            <a:r>
              <a:rPr lang="en-US" altLang="zh-CN" sz="2400" dirty="0"/>
              <a:t>&gt; [</a:t>
            </a:r>
            <a:r>
              <a:rPr lang="en-US" altLang="zh-CN" sz="2400" dirty="0">
                <a:solidFill>
                  <a:srgbClr val="FF0000"/>
                </a:solidFill>
              </a:rPr>
              <a:t>&lt;</a:t>
            </a:r>
            <a:r>
              <a:rPr lang="zh-CN" altLang="en-US" sz="2400" dirty="0">
                <a:solidFill>
                  <a:srgbClr val="FF0000"/>
                </a:solidFill>
              </a:rPr>
              <a:t>表名</a:t>
            </a:r>
            <a:r>
              <a:rPr lang="en-US" altLang="zh-CN" sz="2400" dirty="0">
                <a:solidFill>
                  <a:srgbClr val="FF0000"/>
                </a:solidFill>
              </a:rPr>
              <a:t>2&gt;.</a:t>
            </a:r>
            <a:r>
              <a:rPr lang="en-US" altLang="zh-CN" sz="2400" dirty="0"/>
              <a:t>]&lt;</a:t>
            </a:r>
            <a:r>
              <a:rPr lang="zh-CN" altLang="en-US" sz="2400" dirty="0"/>
              <a:t>列名</a:t>
            </a:r>
            <a:r>
              <a:rPr lang="en-US" altLang="zh-CN" sz="2400" dirty="0"/>
              <a:t>2&gt; </a:t>
            </a:r>
          </a:p>
          <a:p>
            <a:pPr eaLnBrk="1" hangingPunct="1">
              <a:lnSpc>
                <a:spcPct val="90000"/>
              </a:lnSpc>
              <a:buFont typeface="Wingdings" pitchFamily="2" charset="2"/>
              <a:buNone/>
            </a:pPr>
            <a:endParaRPr lang="en-US" altLang="zh-CN" dirty="0"/>
          </a:p>
          <a:p>
            <a:pPr eaLnBrk="1" hangingPunct="1">
              <a:lnSpc>
                <a:spcPct val="90000"/>
              </a:lnSpc>
              <a:buFont typeface="Wingdings" pitchFamily="2" charset="2"/>
              <a:buNone/>
            </a:pPr>
            <a:r>
              <a:rPr lang="zh-CN" altLang="en-US" dirty="0"/>
              <a:t>在实践中</a:t>
            </a:r>
            <a:r>
              <a:rPr lang="zh-CN" altLang="en-US" dirty="0">
                <a:solidFill>
                  <a:srgbClr val="0000FF"/>
                </a:solidFill>
              </a:rPr>
              <a:t>比较运算符</a:t>
            </a:r>
            <a:r>
              <a:rPr lang="zh-CN" altLang="en-US" dirty="0"/>
              <a:t>为</a:t>
            </a:r>
            <a:r>
              <a:rPr lang="zh-CN" altLang="en-US" dirty="0">
                <a:solidFill>
                  <a:srgbClr val="FF0000"/>
                </a:solidFill>
              </a:rPr>
              <a:t>＝</a:t>
            </a:r>
            <a:r>
              <a:rPr lang="zh-CN" altLang="en-US" dirty="0"/>
              <a:t>的</a:t>
            </a:r>
            <a:r>
              <a:rPr lang="zh-CN" altLang="en-US" dirty="0">
                <a:solidFill>
                  <a:srgbClr val="FF0000"/>
                </a:solidFill>
              </a:rPr>
              <a:t>等值连接</a:t>
            </a:r>
            <a:r>
              <a:rPr lang="zh-CN" altLang="en-US" dirty="0"/>
              <a:t>使用十分广泛。</a:t>
            </a:r>
          </a:p>
        </p:txBody>
      </p:sp>
      <p:sp>
        <p:nvSpPr>
          <p:cNvPr id="4" name="灯片编号占位符 3">
            <a:extLst>
              <a:ext uri="{FF2B5EF4-FFF2-40B4-BE49-F238E27FC236}">
                <a16:creationId xmlns:a16="http://schemas.microsoft.com/office/drawing/2014/main" id="{D3BBA205-6077-0310-2F94-0F6542974E34}"/>
              </a:ext>
            </a:extLst>
          </p:cNvPr>
          <p:cNvSpPr>
            <a:spLocks noGrp="1"/>
          </p:cNvSpPr>
          <p:nvPr>
            <p:ph type="sldNum" sz="quarter" idx="12"/>
          </p:nvPr>
        </p:nvSpPr>
        <p:spPr/>
        <p:txBody>
          <a:bodyPr/>
          <a:lstStyle/>
          <a:p>
            <a:pPr>
              <a:defRPr/>
            </a:pPr>
            <a:fld id="{E0CD82EA-F7BE-454B-A83E-18830F6C5424}" type="slidenum">
              <a:rPr lang="en-US" altLang="zh-CN" smtClean="0"/>
              <a:pPr>
                <a:defRPr/>
              </a:pPr>
              <a:t>7</a:t>
            </a:fld>
            <a:r>
              <a:rPr lang="en-US" altLang="zh-CN"/>
              <a:t>/138</a:t>
            </a:r>
            <a:endParaRPr lang="zh-CN" altLang="en-US" dirty="0"/>
          </a:p>
        </p:txBody>
      </p:sp>
    </p:spTree>
    <p:extLst>
      <p:ext uri="{BB962C8B-B14F-4D97-AF65-F5344CB8AC3E}">
        <p14:creationId xmlns:p14="http://schemas.microsoft.com/office/powerpoint/2010/main" val="13735054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4214">
                                            <p:txEl>
                                              <p:pRg st="1" end="1"/>
                                            </p:txEl>
                                          </p:spTgt>
                                        </p:tgtEl>
                                        <p:attrNameLst>
                                          <p:attrName>style.visibility</p:attrName>
                                        </p:attrNameLst>
                                      </p:cBhvr>
                                      <p:to>
                                        <p:strVal val="visible"/>
                                      </p:to>
                                    </p:set>
                                    <p:anim calcmode="lin" valueType="num">
                                      <p:cBhvr additive="base">
                                        <p:cTn id="7" dur="500" fill="hold"/>
                                        <p:tgtEl>
                                          <p:spTgt spid="9421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42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4214">
                                            <p:txEl>
                                              <p:pRg st="3" end="3"/>
                                            </p:txEl>
                                          </p:spTgt>
                                        </p:tgtEl>
                                        <p:attrNameLst>
                                          <p:attrName>style.visibility</p:attrName>
                                        </p:attrNameLst>
                                      </p:cBhvr>
                                      <p:to>
                                        <p:strVal val="visible"/>
                                      </p:to>
                                    </p:set>
                                    <p:anim calcmode="lin" valueType="num">
                                      <p:cBhvr additive="base">
                                        <p:cTn id="13" dur="500" fill="hold"/>
                                        <p:tgtEl>
                                          <p:spTgt spid="94214">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421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4214">
                                            <p:txEl>
                                              <p:pRg st="5" end="5"/>
                                            </p:txEl>
                                          </p:spTgt>
                                        </p:tgtEl>
                                        <p:attrNameLst>
                                          <p:attrName>style.visibility</p:attrName>
                                        </p:attrNameLst>
                                      </p:cBhvr>
                                      <p:to>
                                        <p:strVal val="visible"/>
                                      </p:to>
                                    </p:set>
                                    <p:anim calcmode="lin" valueType="num">
                                      <p:cBhvr additive="base">
                                        <p:cTn id="19" dur="500" fill="hold"/>
                                        <p:tgtEl>
                                          <p:spTgt spid="94214">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421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9E762DCE-1E2E-4373-AE56-9C6E9EC02B34}" type="datetime1">
              <a:rPr kumimoji="0" lang="zh-CN" altLang="en-US" sz="1400" smtClean="0"/>
              <a:t>2025/10/15</a:t>
            </a:fld>
            <a:endParaRPr kumimoji="0" lang="en-US" altLang="zh-CN" sz="1400"/>
          </a:p>
        </p:txBody>
      </p:sp>
      <p:sp>
        <p:nvSpPr>
          <p:cNvPr id="95235"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95237"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95238" name="Rectangle 3"/>
          <p:cNvSpPr>
            <a:spLocks noGrp="1" noChangeArrowheads="1"/>
          </p:cNvSpPr>
          <p:nvPr>
            <p:ph type="body" idx="1"/>
          </p:nvPr>
        </p:nvSpPr>
        <p:spPr>
          <a:xfrm>
            <a:off x="609600" y="1447801"/>
            <a:ext cx="8345488" cy="3962400"/>
          </a:xfrm>
        </p:spPr>
        <p:txBody>
          <a:bodyPr/>
          <a:lstStyle/>
          <a:p>
            <a:pPr eaLnBrk="1" hangingPunct="1"/>
            <a:r>
              <a:rPr lang="zh-CN" altLang="en-US" u="sng" dirty="0"/>
              <a:t>连接谓词</a:t>
            </a:r>
            <a:r>
              <a:rPr lang="zh-CN" altLang="en-US" dirty="0"/>
              <a:t>中的</a:t>
            </a:r>
            <a:r>
              <a:rPr lang="zh-CN" altLang="en-US" dirty="0">
                <a:solidFill>
                  <a:srgbClr val="FF0000"/>
                </a:solidFill>
              </a:rPr>
              <a:t>列名</a:t>
            </a:r>
            <a:r>
              <a:rPr lang="zh-CN" altLang="en-US" dirty="0"/>
              <a:t>称为</a:t>
            </a:r>
            <a:r>
              <a:rPr lang="zh-CN" altLang="en-US" u="sng" dirty="0">
                <a:solidFill>
                  <a:srgbClr val="0000FF"/>
                </a:solidFill>
              </a:rPr>
              <a:t>连接字段</a:t>
            </a:r>
            <a:r>
              <a:rPr lang="zh-CN" altLang="en-US" dirty="0"/>
              <a:t>。连接条件中的各</a:t>
            </a:r>
            <a:r>
              <a:rPr lang="zh-CN" altLang="en-US" dirty="0">
                <a:solidFill>
                  <a:schemeClr val="hlink"/>
                </a:solidFill>
              </a:rPr>
              <a:t>连接字段</a:t>
            </a:r>
            <a:r>
              <a:rPr lang="zh-CN" altLang="en-US" dirty="0">
                <a:solidFill>
                  <a:srgbClr val="0000FF"/>
                </a:solidFill>
              </a:rPr>
              <a:t>类型</a:t>
            </a:r>
            <a:r>
              <a:rPr lang="zh-CN" altLang="en-US" dirty="0"/>
              <a:t>必须是</a:t>
            </a:r>
            <a:r>
              <a:rPr lang="zh-CN" altLang="en-US" dirty="0">
                <a:solidFill>
                  <a:srgbClr val="0000FF"/>
                </a:solidFill>
              </a:rPr>
              <a:t>可比</a:t>
            </a:r>
            <a:r>
              <a:rPr lang="zh-CN" altLang="en-US" dirty="0"/>
              <a:t>的，但不必是相同的。</a:t>
            </a:r>
          </a:p>
          <a:p>
            <a:pPr lvl="1" eaLnBrk="1" hangingPunct="1"/>
            <a:r>
              <a:rPr lang="zh-CN" altLang="en-US" dirty="0"/>
              <a:t>例如，可以都是字符型，或都是日期型；也可以一个是整型，另一个是实型，整型和实型都是</a:t>
            </a:r>
            <a:r>
              <a:rPr lang="zh-CN" altLang="en-US" dirty="0">
                <a:solidFill>
                  <a:srgbClr val="0000FF"/>
                </a:solidFill>
              </a:rPr>
              <a:t>数值型</a:t>
            </a:r>
            <a:r>
              <a:rPr lang="zh-CN" altLang="en-US" dirty="0"/>
              <a:t>，因此是可比的。</a:t>
            </a:r>
          </a:p>
          <a:p>
            <a:pPr lvl="1" eaLnBrk="1" hangingPunct="1"/>
            <a:r>
              <a:rPr lang="zh-CN" altLang="en-US" dirty="0"/>
              <a:t>但若一个是字符型，另一个是整数型就不允许了，因为它们是不可比的类型。 </a:t>
            </a:r>
          </a:p>
        </p:txBody>
      </p:sp>
      <p:sp>
        <p:nvSpPr>
          <p:cNvPr id="4" name="灯片编号占位符 3">
            <a:extLst>
              <a:ext uri="{FF2B5EF4-FFF2-40B4-BE49-F238E27FC236}">
                <a16:creationId xmlns:a16="http://schemas.microsoft.com/office/drawing/2014/main" id="{25B80984-7D7C-27E2-46F2-EAEFA5ECD41D}"/>
              </a:ext>
            </a:extLst>
          </p:cNvPr>
          <p:cNvSpPr>
            <a:spLocks noGrp="1"/>
          </p:cNvSpPr>
          <p:nvPr>
            <p:ph type="sldNum" sz="quarter" idx="12"/>
          </p:nvPr>
        </p:nvSpPr>
        <p:spPr/>
        <p:txBody>
          <a:bodyPr/>
          <a:lstStyle/>
          <a:p>
            <a:pPr>
              <a:defRPr/>
            </a:pPr>
            <a:fld id="{E0CD82EA-F7BE-454B-A83E-18830F6C5424}" type="slidenum">
              <a:rPr lang="en-US" altLang="zh-CN" smtClean="0"/>
              <a:pPr>
                <a:defRPr/>
              </a:pPr>
              <a:t>8</a:t>
            </a:fld>
            <a:r>
              <a:rPr lang="en-US" altLang="zh-CN"/>
              <a:t>/138</a:t>
            </a:r>
            <a:endParaRPr lang="zh-CN" altLang="en-US" dirty="0"/>
          </a:p>
        </p:txBody>
      </p:sp>
    </p:spTree>
    <p:extLst>
      <p:ext uri="{BB962C8B-B14F-4D97-AF65-F5344CB8AC3E}">
        <p14:creationId xmlns:p14="http://schemas.microsoft.com/office/powerpoint/2010/main" val="31971490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5238">
                                            <p:txEl>
                                              <p:pRg st="1" end="1"/>
                                            </p:txEl>
                                          </p:spTgt>
                                        </p:tgtEl>
                                        <p:attrNameLst>
                                          <p:attrName>style.visibility</p:attrName>
                                        </p:attrNameLst>
                                      </p:cBhvr>
                                      <p:to>
                                        <p:strVal val="visible"/>
                                      </p:to>
                                    </p:set>
                                    <p:anim calcmode="lin" valueType="num">
                                      <p:cBhvr additive="base">
                                        <p:cTn id="7" dur="500" fill="hold"/>
                                        <p:tgtEl>
                                          <p:spTgt spid="9523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523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5238">
                                            <p:txEl>
                                              <p:pRg st="2" end="2"/>
                                            </p:txEl>
                                          </p:spTgt>
                                        </p:tgtEl>
                                        <p:attrNameLst>
                                          <p:attrName>style.visibility</p:attrName>
                                        </p:attrNameLst>
                                      </p:cBhvr>
                                      <p:to>
                                        <p:strVal val="visible"/>
                                      </p:to>
                                    </p:set>
                                    <p:anim calcmode="lin" valueType="num">
                                      <p:cBhvr additive="base">
                                        <p:cTn id="13" dur="500" fill="hold"/>
                                        <p:tgtEl>
                                          <p:spTgt spid="9523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523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E76FD47F-8ED1-46F5-AE10-447698F2AA63}" type="datetime1">
              <a:rPr kumimoji="0" lang="zh-CN" altLang="en-US" sz="1400" smtClean="0"/>
              <a:t>2025/10/15</a:t>
            </a:fld>
            <a:endParaRPr kumimoji="0" lang="en-US" altLang="zh-CN" sz="1400"/>
          </a:p>
        </p:txBody>
      </p:sp>
      <p:sp>
        <p:nvSpPr>
          <p:cNvPr id="96259"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96261"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96262" name="Rectangle 3"/>
          <p:cNvSpPr>
            <a:spLocks noGrp="1" noChangeArrowheads="1"/>
          </p:cNvSpPr>
          <p:nvPr>
            <p:ph type="body" idx="1"/>
          </p:nvPr>
        </p:nvSpPr>
        <p:spPr>
          <a:xfrm>
            <a:off x="609600" y="1371600"/>
            <a:ext cx="8153400" cy="5410200"/>
          </a:xfrm>
          <a:solidFill>
            <a:schemeClr val="bg1"/>
          </a:solidFill>
        </p:spPr>
        <p:txBody>
          <a:bodyPr/>
          <a:lstStyle/>
          <a:p>
            <a:pPr eaLnBrk="1" hangingPunct="1"/>
            <a:r>
              <a:rPr lang="zh-CN" altLang="en-US" sz="2600" dirty="0"/>
              <a:t>从概念上讲</a:t>
            </a:r>
            <a:r>
              <a:rPr lang="en-US" altLang="zh-CN" sz="2600" dirty="0"/>
              <a:t>DBMS</a:t>
            </a:r>
            <a:r>
              <a:rPr lang="zh-CN" altLang="en-US" sz="2600" u="sng" dirty="0">
                <a:solidFill>
                  <a:srgbClr val="C00000"/>
                </a:solidFill>
              </a:rPr>
              <a:t>执行连接操作</a:t>
            </a:r>
            <a:r>
              <a:rPr lang="zh-CN" altLang="en-US" sz="2600" dirty="0"/>
              <a:t>的</a:t>
            </a:r>
            <a:r>
              <a:rPr lang="zh-CN" altLang="en-US" sz="2600" dirty="0">
                <a:solidFill>
                  <a:srgbClr val="FF0000"/>
                </a:solidFill>
              </a:rPr>
              <a:t>过程</a:t>
            </a:r>
            <a:r>
              <a:rPr lang="zh-CN" altLang="en-US" sz="2600" dirty="0"/>
              <a:t>是，首先在</a:t>
            </a:r>
            <a:r>
              <a:rPr lang="zh-CN" altLang="en-US" sz="2600" dirty="0">
                <a:solidFill>
                  <a:srgbClr val="0000FF"/>
                </a:solidFill>
              </a:rPr>
              <a:t>表</a:t>
            </a:r>
            <a:r>
              <a:rPr lang="en-US" altLang="zh-CN" sz="2600" dirty="0">
                <a:solidFill>
                  <a:srgbClr val="0000FF"/>
                </a:solidFill>
              </a:rPr>
              <a:t>1</a:t>
            </a:r>
            <a:r>
              <a:rPr lang="zh-CN" altLang="en-US" sz="2600" dirty="0"/>
              <a:t>中找到</a:t>
            </a:r>
            <a:r>
              <a:rPr lang="zh-CN" altLang="en-US" sz="2600" dirty="0">
                <a:solidFill>
                  <a:srgbClr val="0000FF"/>
                </a:solidFill>
              </a:rPr>
              <a:t>第一个</a:t>
            </a:r>
            <a:r>
              <a:rPr lang="zh-CN" altLang="en-US" sz="2600" dirty="0">
                <a:solidFill>
                  <a:srgbClr val="006600"/>
                </a:solidFill>
              </a:rPr>
              <a:t>元组</a:t>
            </a:r>
            <a:r>
              <a:rPr lang="zh-CN" altLang="en-US" sz="2600" dirty="0"/>
              <a:t>，然后从头开始</a:t>
            </a:r>
            <a:r>
              <a:rPr lang="zh-CN" altLang="en-US" sz="2600" u="sng" dirty="0">
                <a:solidFill>
                  <a:srgbClr val="0000FF"/>
                </a:solidFill>
              </a:rPr>
              <a:t>顺序扫描</a:t>
            </a:r>
            <a:r>
              <a:rPr lang="zh-CN" altLang="en-US" sz="2600" dirty="0"/>
              <a:t>或按索引</a:t>
            </a:r>
            <a:r>
              <a:rPr lang="zh-CN" altLang="en-US" sz="2600" i="1" dirty="0">
                <a:solidFill>
                  <a:srgbClr val="0000FF"/>
                </a:solidFill>
              </a:rPr>
              <a:t>扫描表</a:t>
            </a:r>
            <a:r>
              <a:rPr lang="en-US" altLang="zh-CN" sz="2600" i="1" dirty="0">
                <a:solidFill>
                  <a:srgbClr val="0000FF"/>
                </a:solidFill>
              </a:rPr>
              <a:t>2</a:t>
            </a:r>
            <a:r>
              <a:rPr lang="zh-CN" altLang="en-US" sz="2600" dirty="0"/>
              <a:t>，查找</a:t>
            </a:r>
            <a:r>
              <a:rPr lang="zh-CN" altLang="en-US" sz="2600" b="1" dirty="0">
                <a:solidFill>
                  <a:srgbClr val="FF0000"/>
                </a:solidFill>
              </a:rPr>
              <a:t>满足</a:t>
            </a:r>
            <a:r>
              <a:rPr lang="zh-CN" altLang="en-US" sz="2600" dirty="0">
                <a:solidFill>
                  <a:srgbClr val="0000FF"/>
                </a:solidFill>
              </a:rPr>
              <a:t>连接条件</a:t>
            </a:r>
            <a:r>
              <a:rPr lang="zh-CN" altLang="en-US" sz="2600" dirty="0"/>
              <a:t>的</a:t>
            </a:r>
            <a:r>
              <a:rPr lang="zh-CN" altLang="en-US" sz="2600" dirty="0">
                <a:solidFill>
                  <a:srgbClr val="006600"/>
                </a:solidFill>
              </a:rPr>
              <a:t>元组</a:t>
            </a:r>
            <a:r>
              <a:rPr lang="zh-CN" altLang="en-US" sz="2600" dirty="0"/>
              <a:t>，每找到一个元组</a:t>
            </a:r>
            <a:r>
              <a:rPr lang="en-US" altLang="zh-CN" sz="2600" dirty="0"/>
              <a:t>, </a:t>
            </a:r>
            <a:r>
              <a:rPr lang="zh-CN" altLang="en-US" sz="2600" dirty="0"/>
              <a:t>就将表</a:t>
            </a:r>
            <a:r>
              <a:rPr lang="en-US" altLang="zh-CN" sz="2600" dirty="0"/>
              <a:t>1</a:t>
            </a:r>
            <a:r>
              <a:rPr lang="zh-CN" altLang="en-US" sz="2600" dirty="0"/>
              <a:t>中的第一个元组与该</a:t>
            </a:r>
            <a:r>
              <a:rPr lang="zh-CN" altLang="en-US" sz="2600" dirty="0">
                <a:solidFill>
                  <a:srgbClr val="006600"/>
                </a:solidFill>
              </a:rPr>
              <a:t>元组</a:t>
            </a:r>
            <a:r>
              <a:rPr lang="zh-CN" altLang="en-US" sz="2600" dirty="0">
                <a:solidFill>
                  <a:srgbClr val="0000FF"/>
                </a:solidFill>
              </a:rPr>
              <a:t>拼接</a:t>
            </a:r>
            <a:r>
              <a:rPr lang="zh-CN" altLang="en-US" sz="2600" dirty="0"/>
              <a:t>起来，形成</a:t>
            </a:r>
            <a:r>
              <a:rPr lang="zh-CN" altLang="en-US" sz="2600" dirty="0">
                <a:solidFill>
                  <a:srgbClr val="006600"/>
                </a:solidFill>
              </a:rPr>
              <a:t>结果表中一个元组</a:t>
            </a:r>
            <a:r>
              <a:rPr lang="zh-CN" altLang="en-US" sz="2600" dirty="0"/>
              <a:t>。</a:t>
            </a:r>
            <a:endParaRPr lang="en-US" altLang="zh-CN" sz="2600" dirty="0"/>
          </a:p>
          <a:p>
            <a:pPr eaLnBrk="1" hangingPunct="1"/>
            <a:r>
              <a:rPr lang="zh-CN" altLang="en-US" sz="2600" dirty="0">
                <a:solidFill>
                  <a:srgbClr val="0000FF"/>
                </a:solidFill>
              </a:rPr>
              <a:t>表</a:t>
            </a:r>
            <a:r>
              <a:rPr lang="en-US" altLang="zh-CN" sz="2600" dirty="0">
                <a:solidFill>
                  <a:srgbClr val="0000FF"/>
                </a:solidFill>
              </a:rPr>
              <a:t>2</a:t>
            </a:r>
            <a:r>
              <a:rPr lang="zh-CN" altLang="en-US" sz="2600" dirty="0">
                <a:solidFill>
                  <a:srgbClr val="0000FF"/>
                </a:solidFill>
              </a:rPr>
              <a:t>全部扫描完毕</a:t>
            </a:r>
            <a:r>
              <a:rPr lang="zh-CN" altLang="en-US" sz="2600" dirty="0"/>
              <a:t>后，再到</a:t>
            </a:r>
            <a:r>
              <a:rPr lang="zh-CN" altLang="en-US" sz="2600" dirty="0">
                <a:solidFill>
                  <a:srgbClr val="0000FF"/>
                </a:solidFill>
              </a:rPr>
              <a:t>表</a:t>
            </a:r>
            <a:r>
              <a:rPr lang="en-US" altLang="zh-CN" sz="2600" dirty="0">
                <a:solidFill>
                  <a:srgbClr val="0000FF"/>
                </a:solidFill>
              </a:rPr>
              <a:t>1</a:t>
            </a:r>
            <a:r>
              <a:rPr lang="zh-CN" altLang="en-US" sz="2600" dirty="0"/>
              <a:t>中找</a:t>
            </a:r>
            <a:r>
              <a:rPr lang="zh-CN" altLang="en-US" sz="2600" dirty="0">
                <a:solidFill>
                  <a:srgbClr val="0000FF"/>
                </a:solidFill>
              </a:rPr>
              <a:t>第二个</a:t>
            </a:r>
            <a:r>
              <a:rPr lang="zh-CN" altLang="en-US" sz="2600" dirty="0">
                <a:solidFill>
                  <a:srgbClr val="006600"/>
                </a:solidFill>
              </a:rPr>
              <a:t>元组</a:t>
            </a:r>
            <a:r>
              <a:rPr lang="zh-CN" altLang="en-US" sz="2600" dirty="0"/>
              <a:t>，然后再从头开始顺序扫描或按索引</a:t>
            </a:r>
            <a:r>
              <a:rPr lang="zh-CN" altLang="en-US" sz="2600" i="1" dirty="0">
                <a:solidFill>
                  <a:srgbClr val="0000FF"/>
                </a:solidFill>
              </a:rPr>
              <a:t>扫描表</a:t>
            </a:r>
            <a:r>
              <a:rPr lang="en-US" altLang="zh-CN" sz="2600" i="1" dirty="0">
                <a:solidFill>
                  <a:srgbClr val="0000FF"/>
                </a:solidFill>
              </a:rPr>
              <a:t>2</a:t>
            </a:r>
            <a:r>
              <a:rPr lang="zh-CN" altLang="en-US" sz="2600" dirty="0"/>
              <a:t>，查找</a:t>
            </a:r>
            <a:r>
              <a:rPr lang="zh-CN" altLang="en-US" sz="2600" b="1" dirty="0">
                <a:solidFill>
                  <a:srgbClr val="FF0000"/>
                </a:solidFill>
              </a:rPr>
              <a:t>满足</a:t>
            </a:r>
            <a:r>
              <a:rPr lang="zh-CN" altLang="en-US" sz="2600" dirty="0">
                <a:solidFill>
                  <a:srgbClr val="0000FF"/>
                </a:solidFill>
              </a:rPr>
              <a:t>连接条件</a:t>
            </a:r>
            <a:r>
              <a:rPr lang="zh-CN" altLang="en-US" sz="2600" dirty="0"/>
              <a:t>的</a:t>
            </a:r>
            <a:r>
              <a:rPr lang="zh-CN" altLang="en-US" sz="2600" dirty="0">
                <a:solidFill>
                  <a:srgbClr val="006600"/>
                </a:solidFill>
              </a:rPr>
              <a:t>元组</a:t>
            </a:r>
            <a:r>
              <a:rPr lang="zh-CN" altLang="en-US" sz="2600" dirty="0"/>
              <a:t>，每找到一个元组</a:t>
            </a:r>
            <a:r>
              <a:rPr lang="en-US" altLang="zh-CN" sz="2600" dirty="0"/>
              <a:t>, </a:t>
            </a:r>
            <a:r>
              <a:rPr lang="zh-CN" altLang="en-US" sz="2600" dirty="0"/>
              <a:t>就将表</a:t>
            </a:r>
            <a:r>
              <a:rPr lang="en-US" altLang="zh-CN" sz="2600" dirty="0"/>
              <a:t>1</a:t>
            </a:r>
            <a:r>
              <a:rPr lang="zh-CN" altLang="en-US" sz="2600" dirty="0"/>
              <a:t>中的第二个元组与该</a:t>
            </a:r>
            <a:r>
              <a:rPr lang="zh-CN" altLang="en-US" sz="2600" dirty="0">
                <a:solidFill>
                  <a:srgbClr val="006600"/>
                </a:solidFill>
              </a:rPr>
              <a:t>元组</a:t>
            </a:r>
            <a:r>
              <a:rPr lang="zh-CN" altLang="en-US" sz="2600" dirty="0">
                <a:solidFill>
                  <a:srgbClr val="0000FF"/>
                </a:solidFill>
              </a:rPr>
              <a:t>拼接</a:t>
            </a:r>
            <a:r>
              <a:rPr lang="zh-CN" altLang="en-US" sz="2600" dirty="0"/>
              <a:t>起来，形成</a:t>
            </a:r>
            <a:r>
              <a:rPr lang="zh-CN" altLang="en-US" sz="2600" dirty="0">
                <a:solidFill>
                  <a:srgbClr val="006600"/>
                </a:solidFill>
              </a:rPr>
              <a:t>结果表中一个元组</a:t>
            </a:r>
            <a:r>
              <a:rPr lang="zh-CN" altLang="en-US" sz="2600" dirty="0"/>
              <a:t>。</a:t>
            </a:r>
            <a:endParaRPr lang="en-US" altLang="zh-CN" sz="2600" dirty="0"/>
          </a:p>
          <a:p>
            <a:pPr eaLnBrk="1" hangingPunct="1"/>
            <a:r>
              <a:rPr lang="zh-CN" altLang="en-US" sz="2600" dirty="0">
                <a:solidFill>
                  <a:srgbClr val="0000FF"/>
                </a:solidFill>
              </a:rPr>
              <a:t>重复</a:t>
            </a:r>
            <a:r>
              <a:rPr lang="zh-CN" altLang="en-US" sz="2600" dirty="0">
                <a:solidFill>
                  <a:srgbClr val="006600"/>
                </a:solidFill>
              </a:rPr>
              <a:t>上述操作</a:t>
            </a:r>
            <a:r>
              <a:rPr lang="zh-CN" altLang="en-US" sz="2600" dirty="0"/>
              <a:t>，直到</a:t>
            </a:r>
            <a:r>
              <a:rPr lang="zh-CN" altLang="en-US" sz="2600" dirty="0">
                <a:solidFill>
                  <a:srgbClr val="0000FF"/>
                </a:solidFill>
              </a:rPr>
              <a:t>表</a:t>
            </a:r>
            <a:r>
              <a:rPr lang="en-US" altLang="zh-CN" sz="2600" dirty="0">
                <a:solidFill>
                  <a:srgbClr val="0000FF"/>
                </a:solidFill>
              </a:rPr>
              <a:t>1</a:t>
            </a:r>
            <a:r>
              <a:rPr lang="zh-CN" altLang="en-US" sz="2600" dirty="0">
                <a:solidFill>
                  <a:srgbClr val="0000FF"/>
                </a:solidFill>
              </a:rPr>
              <a:t>全部元组</a:t>
            </a:r>
            <a:r>
              <a:rPr lang="zh-CN" altLang="en-US" sz="2600" dirty="0"/>
              <a:t>都</a:t>
            </a:r>
            <a:r>
              <a:rPr lang="zh-CN" altLang="en-US" sz="2600" dirty="0">
                <a:solidFill>
                  <a:srgbClr val="0000FF"/>
                </a:solidFill>
              </a:rPr>
              <a:t>处理完毕</a:t>
            </a:r>
            <a:r>
              <a:rPr lang="zh-CN" altLang="en-US" sz="2600" dirty="0"/>
              <a:t>为止。</a:t>
            </a:r>
            <a:r>
              <a:rPr lang="en-US" altLang="zh-CN" sz="2600" dirty="0"/>
              <a:t>(</a:t>
            </a:r>
            <a:r>
              <a:rPr lang="zh-CN" altLang="en-US" sz="2600" dirty="0"/>
              <a:t>注意：实际上要考虑查询的优化</a:t>
            </a:r>
            <a:r>
              <a:rPr lang="en-US" altLang="zh-CN" sz="2600" dirty="0"/>
              <a:t>)</a:t>
            </a:r>
          </a:p>
          <a:p>
            <a:pPr eaLnBrk="1" hangingPunct="1">
              <a:lnSpc>
                <a:spcPct val="90000"/>
              </a:lnSpc>
            </a:pPr>
            <a:endParaRPr lang="zh-CN" altLang="en-US" sz="2600" dirty="0"/>
          </a:p>
        </p:txBody>
      </p:sp>
      <p:sp>
        <p:nvSpPr>
          <p:cNvPr id="4" name="灯片编号占位符 3">
            <a:extLst>
              <a:ext uri="{FF2B5EF4-FFF2-40B4-BE49-F238E27FC236}">
                <a16:creationId xmlns:a16="http://schemas.microsoft.com/office/drawing/2014/main" id="{70F27613-FF44-C113-2CB1-997CD0A4D5AC}"/>
              </a:ext>
            </a:extLst>
          </p:cNvPr>
          <p:cNvSpPr>
            <a:spLocks noGrp="1"/>
          </p:cNvSpPr>
          <p:nvPr>
            <p:ph type="sldNum" sz="quarter" idx="12"/>
          </p:nvPr>
        </p:nvSpPr>
        <p:spPr/>
        <p:txBody>
          <a:bodyPr/>
          <a:lstStyle/>
          <a:p>
            <a:pPr>
              <a:defRPr/>
            </a:pPr>
            <a:fld id="{E0CD82EA-F7BE-454B-A83E-18830F6C5424}" type="slidenum">
              <a:rPr lang="en-US" altLang="zh-CN" smtClean="0"/>
              <a:pPr>
                <a:defRPr/>
              </a:pPr>
              <a:t>9</a:t>
            </a:fld>
            <a:r>
              <a:rPr lang="en-US" altLang="zh-CN"/>
              <a:t>/138</a:t>
            </a:r>
            <a:endParaRPr lang="zh-CN" altLang="en-US" dirty="0"/>
          </a:p>
        </p:txBody>
      </p:sp>
    </p:spTree>
    <p:extLst>
      <p:ext uri="{BB962C8B-B14F-4D97-AF65-F5344CB8AC3E}">
        <p14:creationId xmlns:p14="http://schemas.microsoft.com/office/powerpoint/2010/main" val="36374277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6262">
                                            <p:txEl>
                                              <p:pRg st="1" end="1"/>
                                            </p:txEl>
                                          </p:spTgt>
                                        </p:tgtEl>
                                        <p:attrNameLst>
                                          <p:attrName>style.visibility</p:attrName>
                                        </p:attrNameLst>
                                      </p:cBhvr>
                                      <p:to>
                                        <p:strVal val="visible"/>
                                      </p:to>
                                    </p:set>
                                    <p:anim calcmode="lin" valueType="num">
                                      <p:cBhvr additive="base">
                                        <p:cTn id="7" dur="500" fill="hold"/>
                                        <p:tgtEl>
                                          <p:spTgt spid="9626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62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6262">
                                            <p:txEl>
                                              <p:pRg st="2" end="2"/>
                                            </p:txEl>
                                          </p:spTgt>
                                        </p:tgtEl>
                                        <p:attrNameLst>
                                          <p:attrName>style.visibility</p:attrName>
                                        </p:attrNameLst>
                                      </p:cBhvr>
                                      <p:to>
                                        <p:strVal val="visible"/>
                                      </p:to>
                                    </p:set>
                                    <p:anim calcmode="lin" valueType="num">
                                      <p:cBhvr additive="base">
                                        <p:cTn id="13" dur="500" fill="hold"/>
                                        <p:tgtEl>
                                          <p:spTgt spid="9626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626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8FA4B6F2-86FD-4D38-A17C-DA8F24C16EF6}" type="datetime1">
              <a:rPr kumimoji="0" lang="zh-CN" altLang="en-US" sz="1400" smtClean="0"/>
              <a:t>2025/10/15</a:t>
            </a:fld>
            <a:endParaRPr kumimoji="0" lang="en-US" altLang="zh-CN" sz="1400"/>
          </a:p>
        </p:txBody>
      </p:sp>
      <p:sp>
        <p:nvSpPr>
          <p:cNvPr id="9728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97285"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97286" name="Rectangle 3"/>
          <p:cNvSpPr>
            <a:spLocks noGrp="1" noChangeArrowheads="1"/>
          </p:cNvSpPr>
          <p:nvPr>
            <p:ph type="body" idx="1"/>
          </p:nvPr>
        </p:nvSpPr>
        <p:spPr/>
        <p:txBody>
          <a:bodyPr/>
          <a:lstStyle/>
          <a:p>
            <a:pPr eaLnBrk="1" hangingPunct="1">
              <a:lnSpc>
                <a:spcPct val="90000"/>
              </a:lnSpc>
            </a:pPr>
            <a:r>
              <a:rPr lang="zh-CN" altLang="en-US" dirty="0"/>
              <a:t>例</a:t>
            </a:r>
            <a:r>
              <a:rPr lang="en-US" altLang="zh-CN" dirty="0"/>
              <a:t>1 </a:t>
            </a:r>
            <a:r>
              <a:rPr lang="zh-CN" altLang="en-US" dirty="0"/>
              <a:t>查询每个学生</a:t>
            </a:r>
            <a:r>
              <a:rPr lang="zh-CN" altLang="en-US" dirty="0">
                <a:solidFill>
                  <a:srgbClr val="0000FF"/>
                </a:solidFill>
              </a:rPr>
              <a:t>及其</a:t>
            </a:r>
            <a:r>
              <a:rPr lang="zh-CN" altLang="en-US" dirty="0"/>
              <a:t>选修课程的情况</a:t>
            </a:r>
          </a:p>
          <a:p>
            <a:pPr eaLnBrk="1" hangingPunct="1">
              <a:buFont typeface="Wingdings" pitchFamily="2" charset="2"/>
              <a:buNone/>
            </a:pPr>
            <a:r>
              <a:rPr lang="zh-CN" altLang="en-US" sz="2800" dirty="0"/>
              <a:t>   学生情况存放在</a:t>
            </a:r>
            <a:r>
              <a:rPr lang="en-US" altLang="zh-CN" sz="2800" dirty="0"/>
              <a:t>Student</a:t>
            </a:r>
            <a:r>
              <a:rPr lang="zh-CN" altLang="en-US" sz="2800" dirty="0"/>
              <a:t>表中，学生选课情况存放在</a:t>
            </a:r>
            <a:r>
              <a:rPr lang="en-US" altLang="zh-CN" sz="2800" dirty="0"/>
              <a:t>SC</a:t>
            </a:r>
            <a:r>
              <a:rPr lang="zh-CN" altLang="en-US" sz="2800" dirty="0"/>
              <a:t>表中，所以本查询要把</a:t>
            </a:r>
            <a:r>
              <a:rPr lang="en-US" altLang="zh-CN" sz="2800" dirty="0">
                <a:solidFill>
                  <a:srgbClr val="C00000"/>
                </a:solidFill>
              </a:rPr>
              <a:t>Student</a:t>
            </a:r>
            <a:r>
              <a:rPr lang="zh-CN" altLang="en-US" sz="2800" dirty="0"/>
              <a:t>与</a:t>
            </a:r>
            <a:r>
              <a:rPr lang="en-US" altLang="zh-CN" sz="2800" dirty="0">
                <a:solidFill>
                  <a:srgbClr val="C00000"/>
                </a:solidFill>
              </a:rPr>
              <a:t>SC</a:t>
            </a:r>
            <a:r>
              <a:rPr lang="zh-CN" altLang="en-US" sz="2800" dirty="0"/>
              <a:t>表的数据通过</a:t>
            </a:r>
            <a:r>
              <a:rPr lang="zh-CN" altLang="en-US" sz="2800" u="sng" dirty="0"/>
              <a:t>两个表都具有的属性</a:t>
            </a:r>
            <a:r>
              <a:rPr lang="en-US" altLang="zh-CN" sz="2800" dirty="0" err="1">
                <a:solidFill>
                  <a:srgbClr val="0000FF"/>
                </a:solidFill>
              </a:rPr>
              <a:t>Sno</a:t>
            </a:r>
            <a:r>
              <a:rPr lang="en-US" altLang="zh-CN" sz="2800" dirty="0"/>
              <a:t> (</a:t>
            </a:r>
            <a:r>
              <a:rPr lang="zh-CN" altLang="en-US" sz="2800" dirty="0">
                <a:solidFill>
                  <a:srgbClr val="006600"/>
                </a:solidFill>
              </a:rPr>
              <a:t>外码连接</a:t>
            </a:r>
            <a:r>
              <a:rPr lang="en-US" altLang="zh-CN" sz="2800" dirty="0"/>
              <a:t>)</a:t>
            </a:r>
            <a:r>
              <a:rPr lang="zh-CN" altLang="en-US" sz="2800" dirty="0"/>
              <a:t>实现的。这是一个</a:t>
            </a:r>
            <a:r>
              <a:rPr lang="zh-CN" altLang="en-US" sz="2800" b="1" u="sng" dirty="0">
                <a:solidFill>
                  <a:srgbClr val="FF0000"/>
                </a:solidFill>
              </a:rPr>
              <a:t>等值连接</a:t>
            </a:r>
            <a:r>
              <a:rPr lang="zh-CN" altLang="en-US" sz="2800" dirty="0"/>
              <a:t>。完成本查询的</a:t>
            </a:r>
            <a:r>
              <a:rPr lang="en-US" altLang="zh-CN" sz="2800" dirty="0"/>
              <a:t>SQL</a:t>
            </a:r>
            <a:r>
              <a:rPr lang="zh-CN" altLang="en-US" sz="2800" dirty="0"/>
              <a:t>语句为：</a:t>
            </a:r>
            <a:endParaRPr lang="en-US" altLang="zh-CN" sz="2800" dirty="0"/>
          </a:p>
          <a:p>
            <a:pPr eaLnBrk="1" hangingPunct="1">
              <a:buFont typeface="Wingdings" pitchFamily="2" charset="2"/>
              <a:buNone/>
            </a:pPr>
            <a:br>
              <a:rPr lang="zh-CN" altLang="en-US" sz="2800" dirty="0"/>
            </a:br>
            <a:r>
              <a:rPr lang="zh-CN" altLang="en-US" sz="2800" dirty="0"/>
              <a:t>     </a:t>
            </a:r>
            <a:r>
              <a:rPr lang="en-US" altLang="zh-CN" sz="2800" dirty="0"/>
              <a:t>SELECT Student.</a:t>
            </a:r>
            <a:r>
              <a:rPr lang="en-US" altLang="zh-CN" sz="2800" dirty="0">
                <a:solidFill>
                  <a:srgbClr val="FF0000"/>
                </a:solidFill>
              </a:rPr>
              <a:t>*</a:t>
            </a:r>
            <a:r>
              <a:rPr lang="en-US" altLang="zh-CN" sz="2800" dirty="0"/>
              <a:t>, SC.</a:t>
            </a:r>
            <a:r>
              <a:rPr lang="en-US" altLang="zh-CN" sz="2800" dirty="0">
                <a:solidFill>
                  <a:srgbClr val="FF0000"/>
                </a:solidFill>
              </a:rPr>
              <a:t>*</a:t>
            </a:r>
            <a:r>
              <a:rPr lang="en-US" altLang="zh-CN" sz="2800" dirty="0"/>
              <a:t> </a:t>
            </a:r>
            <a:br>
              <a:rPr lang="en-US" altLang="zh-CN" sz="2800" dirty="0"/>
            </a:br>
            <a:r>
              <a:rPr lang="en-US" altLang="zh-CN" sz="2800" dirty="0"/>
              <a:t>	FROM Student, SC </a:t>
            </a:r>
            <a:br>
              <a:rPr lang="en-US" altLang="zh-CN" sz="2800" dirty="0"/>
            </a:br>
            <a:r>
              <a:rPr lang="en-US" altLang="zh-CN" sz="2800" dirty="0"/>
              <a:t>	WHERE </a:t>
            </a:r>
            <a:r>
              <a:rPr lang="en-US" altLang="zh-CN" sz="2800" dirty="0" err="1">
                <a:solidFill>
                  <a:srgbClr val="0000FF"/>
                </a:solidFill>
              </a:rPr>
              <a:t>Student.</a:t>
            </a:r>
            <a:r>
              <a:rPr lang="en-US" altLang="zh-CN" sz="2800" dirty="0" err="1">
                <a:solidFill>
                  <a:srgbClr val="C00000"/>
                </a:solidFill>
              </a:rPr>
              <a:t>Sno</a:t>
            </a:r>
            <a:r>
              <a:rPr lang="en-US" altLang="zh-CN" sz="2800" b="1" dirty="0">
                <a:solidFill>
                  <a:srgbClr val="006600"/>
                </a:solidFill>
              </a:rPr>
              <a:t>=</a:t>
            </a:r>
            <a:r>
              <a:rPr lang="en-US" altLang="zh-CN" sz="2800" dirty="0" err="1">
                <a:solidFill>
                  <a:srgbClr val="0000FF"/>
                </a:solidFill>
              </a:rPr>
              <a:t>SC.</a:t>
            </a:r>
            <a:r>
              <a:rPr lang="en-US" altLang="zh-CN" sz="2800" dirty="0" err="1">
                <a:solidFill>
                  <a:srgbClr val="C00000"/>
                </a:solidFill>
              </a:rPr>
              <a:t>Sno</a:t>
            </a:r>
            <a:r>
              <a:rPr lang="en-US" altLang="zh-CN" sz="2800" dirty="0"/>
              <a:t>;</a:t>
            </a:r>
            <a:endParaRPr lang="zh-CN" altLang="en-US" sz="2800" dirty="0"/>
          </a:p>
        </p:txBody>
      </p:sp>
      <p:sp>
        <p:nvSpPr>
          <p:cNvPr id="4" name="灯片编号占位符 3">
            <a:extLst>
              <a:ext uri="{FF2B5EF4-FFF2-40B4-BE49-F238E27FC236}">
                <a16:creationId xmlns:a16="http://schemas.microsoft.com/office/drawing/2014/main" id="{537CE848-D7E7-2D4D-0C21-66B4485A9B95}"/>
              </a:ext>
            </a:extLst>
          </p:cNvPr>
          <p:cNvSpPr>
            <a:spLocks noGrp="1"/>
          </p:cNvSpPr>
          <p:nvPr>
            <p:ph type="sldNum" sz="quarter" idx="12"/>
          </p:nvPr>
        </p:nvSpPr>
        <p:spPr/>
        <p:txBody>
          <a:bodyPr/>
          <a:lstStyle/>
          <a:p>
            <a:pPr>
              <a:defRPr/>
            </a:pPr>
            <a:fld id="{E0CD82EA-F7BE-454B-A83E-18830F6C5424}" type="slidenum">
              <a:rPr lang="en-US" altLang="zh-CN" smtClean="0"/>
              <a:pPr>
                <a:defRPr/>
              </a:pPr>
              <a:t>10</a:t>
            </a:fld>
            <a:r>
              <a:rPr lang="en-US" altLang="zh-CN"/>
              <a:t>/138</a:t>
            </a:r>
            <a:endParaRPr lang="zh-CN" altLang="en-US" dirty="0"/>
          </a:p>
        </p:txBody>
      </p:sp>
      <p:sp>
        <p:nvSpPr>
          <p:cNvPr id="3" name="文本框 2">
            <a:extLst>
              <a:ext uri="{FF2B5EF4-FFF2-40B4-BE49-F238E27FC236}">
                <a16:creationId xmlns:a16="http://schemas.microsoft.com/office/drawing/2014/main" id="{C737E952-6743-CF03-4716-480915A7540D}"/>
              </a:ext>
            </a:extLst>
          </p:cNvPr>
          <p:cNvSpPr txBox="1"/>
          <p:nvPr/>
        </p:nvSpPr>
        <p:spPr>
          <a:xfrm>
            <a:off x="2319475" y="5883114"/>
            <a:ext cx="4572000" cy="461665"/>
          </a:xfrm>
          <a:prstGeom prst="rect">
            <a:avLst/>
          </a:prstGeom>
          <a:noFill/>
        </p:spPr>
        <p:txBody>
          <a:bodyPr wrap="square">
            <a:spAutoFit/>
          </a:bodyPr>
          <a:lstStyle/>
          <a:p>
            <a:r>
              <a:rPr lang="zh-CN" altLang="en-US" b="1" dirty="0">
                <a:solidFill>
                  <a:srgbClr val="FF0000"/>
                </a:solidFill>
              </a:rPr>
              <a:t>连接</a:t>
            </a:r>
            <a:r>
              <a:rPr lang="zh-CN" altLang="en-US" b="1" dirty="0">
                <a:solidFill>
                  <a:srgbClr val="0000FF"/>
                </a:solidFill>
              </a:rPr>
              <a:t>条件</a:t>
            </a:r>
            <a:r>
              <a:rPr lang="zh-CN" altLang="en-US" b="1" dirty="0"/>
              <a:t>或</a:t>
            </a:r>
            <a:r>
              <a:rPr lang="zh-CN" altLang="en-US" b="1" dirty="0">
                <a:solidFill>
                  <a:srgbClr val="0000FF"/>
                </a:solidFill>
              </a:rPr>
              <a:t>连接谓词</a:t>
            </a:r>
            <a:endParaRPr lang="zh-CN" altLang="en-US" dirty="0"/>
          </a:p>
        </p:txBody>
      </p:sp>
      <p:sp>
        <p:nvSpPr>
          <p:cNvPr id="5" name="右大括号 4">
            <a:extLst>
              <a:ext uri="{FF2B5EF4-FFF2-40B4-BE49-F238E27FC236}">
                <a16:creationId xmlns:a16="http://schemas.microsoft.com/office/drawing/2014/main" id="{36B68932-4D40-D28E-FFF2-48D96FCF56DE}"/>
              </a:ext>
            </a:extLst>
          </p:cNvPr>
          <p:cNvSpPr/>
          <p:nvPr/>
        </p:nvSpPr>
        <p:spPr bwMode="auto">
          <a:xfrm rot="5400000">
            <a:off x="4414975" y="3906538"/>
            <a:ext cx="381000" cy="3572151"/>
          </a:xfrm>
          <a:prstGeom prst="rightBrace">
            <a:avLst>
              <a:gd name="adj1" fmla="val 75833"/>
              <a:gd name="adj2" fmla="val 50000"/>
            </a:avLst>
          </a:prstGeom>
          <a:noFill/>
          <a:ln w="2222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a:ln>
                <a:noFill/>
              </a:ln>
              <a:solidFill>
                <a:schemeClr val="tx1"/>
              </a:solidFill>
              <a:effectLst/>
              <a:latin typeface="Tahoma" pitchFamily="34" charset="0"/>
              <a:ea typeface="宋体" pitchFamily="2" charset="-122"/>
              <a:cs typeface="Arial" pitchFamily="34" charset="0"/>
            </a:endParaRPr>
          </a:p>
        </p:txBody>
      </p:sp>
    </p:spTree>
    <p:extLst>
      <p:ext uri="{BB962C8B-B14F-4D97-AF65-F5344CB8AC3E}">
        <p14:creationId xmlns:p14="http://schemas.microsoft.com/office/powerpoint/2010/main" val="18743095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7286">
                                            <p:txEl>
                                              <p:pRg st="1" end="1"/>
                                            </p:txEl>
                                          </p:spTgt>
                                        </p:tgtEl>
                                        <p:attrNameLst>
                                          <p:attrName>style.visibility</p:attrName>
                                        </p:attrNameLst>
                                      </p:cBhvr>
                                      <p:to>
                                        <p:strVal val="visible"/>
                                      </p:to>
                                    </p:set>
                                    <p:anim calcmode="lin" valueType="num">
                                      <p:cBhvr additive="base">
                                        <p:cTn id="7" dur="500" fill="hold"/>
                                        <p:tgtEl>
                                          <p:spTgt spid="9728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72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7286">
                                            <p:txEl>
                                              <p:pRg st="2" end="2"/>
                                            </p:txEl>
                                          </p:spTgt>
                                        </p:tgtEl>
                                        <p:attrNameLst>
                                          <p:attrName>style.visibility</p:attrName>
                                        </p:attrNameLst>
                                      </p:cBhvr>
                                      <p:to>
                                        <p:strVal val="visible"/>
                                      </p:to>
                                    </p:set>
                                    <p:anim calcmode="lin" valueType="num">
                                      <p:cBhvr additive="base">
                                        <p:cTn id="13" dur="500" fill="hold"/>
                                        <p:tgtEl>
                                          <p:spTgt spid="9728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728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inVertic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1974A74E-8529-46B7-9D4C-A3851FE62569}" type="datetime1">
              <a:rPr kumimoji="0" lang="zh-CN" altLang="en-US" sz="1400" smtClean="0"/>
              <a:t>2025/10/15</a:t>
            </a:fld>
            <a:endParaRPr kumimoji="0" lang="en-US" altLang="zh-CN" sz="1400"/>
          </a:p>
        </p:txBody>
      </p:sp>
      <p:sp>
        <p:nvSpPr>
          <p:cNvPr id="9728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97285"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97286" name="Rectangle 3"/>
          <p:cNvSpPr>
            <a:spLocks noGrp="1" noChangeArrowheads="1"/>
          </p:cNvSpPr>
          <p:nvPr>
            <p:ph type="body" idx="1"/>
          </p:nvPr>
        </p:nvSpPr>
        <p:spPr>
          <a:xfrm>
            <a:off x="609600" y="1447800"/>
            <a:ext cx="8077200" cy="1219199"/>
          </a:xfrm>
        </p:spPr>
        <p:txBody>
          <a:bodyPr/>
          <a:lstStyle/>
          <a:p>
            <a:pPr eaLnBrk="1" hangingPunct="1">
              <a:lnSpc>
                <a:spcPct val="90000"/>
              </a:lnSpc>
            </a:pPr>
            <a:r>
              <a:rPr lang="zh-CN" altLang="en-US" dirty="0"/>
              <a:t>例</a:t>
            </a:r>
            <a:r>
              <a:rPr lang="en-US" altLang="zh-CN" dirty="0"/>
              <a:t>2 </a:t>
            </a:r>
            <a:r>
              <a:rPr lang="zh-CN" altLang="en-US" dirty="0"/>
              <a:t>查询每个学生</a:t>
            </a:r>
            <a:r>
              <a:rPr lang="zh-CN" altLang="en-US" dirty="0">
                <a:solidFill>
                  <a:srgbClr val="0000FF"/>
                </a:solidFill>
              </a:rPr>
              <a:t>及其已</a:t>
            </a:r>
            <a:r>
              <a:rPr lang="zh-CN" altLang="en-US" dirty="0"/>
              <a:t>选修课程合集</a:t>
            </a:r>
            <a:r>
              <a:rPr lang="en-US" altLang="zh-CN" dirty="0"/>
              <a:t>(</a:t>
            </a:r>
            <a:r>
              <a:rPr lang="zh-CN" altLang="en-US" dirty="0"/>
              <a:t>教材示例</a:t>
            </a:r>
            <a:r>
              <a:rPr lang="en-US" altLang="zh-CN" dirty="0"/>
              <a:t>p77)</a:t>
            </a:r>
            <a:endParaRPr lang="zh-CN" altLang="en-US" dirty="0"/>
          </a:p>
          <a:p>
            <a:pPr eaLnBrk="1" hangingPunct="1">
              <a:buFont typeface="Wingdings" pitchFamily="2" charset="2"/>
              <a:buNone/>
            </a:pPr>
            <a:r>
              <a:rPr lang="zh-CN" altLang="en-US" sz="2800" dirty="0"/>
              <a:t>   </a:t>
            </a:r>
            <a:br>
              <a:rPr lang="zh-CN" altLang="en-US" sz="2800" dirty="0"/>
            </a:br>
            <a:r>
              <a:rPr lang="zh-CN" altLang="en-US" sz="2800" dirty="0"/>
              <a:t>     </a:t>
            </a:r>
          </a:p>
        </p:txBody>
      </p:sp>
      <p:sp>
        <p:nvSpPr>
          <p:cNvPr id="4" name="文本框 3">
            <a:extLst>
              <a:ext uri="{FF2B5EF4-FFF2-40B4-BE49-F238E27FC236}">
                <a16:creationId xmlns:a16="http://schemas.microsoft.com/office/drawing/2014/main" id="{B3EA3F02-6884-021C-16E3-EFB573995480}"/>
              </a:ext>
            </a:extLst>
          </p:cNvPr>
          <p:cNvSpPr txBox="1"/>
          <p:nvPr/>
        </p:nvSpPr>
        <p:spPr>
          <a:xfrm>
            <a:off x="2073910" y="2448877"/>
            <a:ext cx="5943600" cy="1569660"/>
          </a:xfrm>
          <a:prstGeom prst="rect">
            <a:avLst/>
          </a:prstGeom>
          <a:noFill/>
        </p:spPr>
        <p:txBody>
          <a:bodyPr wrap="square">
            <a:spAutoFit/>
          </a:bodyPr>
          <a:lstStyle/>
          <a:p>
            <a:pPr algn="l"/>
            <a:r>
              <a:rPr lang="en-US" altLang="zh-CN" sz="3200" b="0" u="none" strike="noStrike" baseline="0" dirty="0">
                <a:latin typeface="+mn-lt"/>
              </a:rPr>
              <a:t>select name, </a:t>
            </a:r>
            <a:r>
              <a:rPr lang="en-US" altLang="zh-CN" sz="3200" b="0" u="none" strike="noStrike" baseline="0" dirty="0" err="1">
                <a:latin typeface="+mn-lt"/>
              </a:rPr>
              <a:t>course_id</a:t>
            </a:r>
            <a:endParaRPr lang="en-US" altLang="zh-CN" sz="3200" b="0" u="none" strike="noStrike" baseline="0" dirty="0">
              <a:latin typeface="+mn-lt"/>
            </a:endParaRPr>
          </a:p>
          <a:p>
            <a:pPr algn="l"/>
            <a:r>
              <a:rPr lang="en-US" altLang="zh-CN" sz="3200" b="0" u="none" strike="noStrike" baseline="0" dirty="0">
                <a:latin typeface="+mn-lt"/>
              </a:rPr>
              <a:t>from student, takes</a:t>
            </a:r>
          </a:p>
          <a:p>
            <a:pPr algn="l"/>
            <a:r>
              <a:rPr lang="en-US" altLang="zh-CN" sz="3200" b="0" u="none" strike="noStrike" baseline="0" dirty="0">
                <a:latin typeface="+mn-lt"/>
              </a:rPr>
              <a:t>where </a:t>
            </a:r>
            <a:r>
              <a:rPr lang="en-US" altLang="zh-CN" sz="3200" b="0" u="none" strike="noStrike" baseline="0" dirty="0">
                <a:solidFill>
                  <a:srgbClr val="0000FF"/>
                </a:solidFill>
                <a:latin typeface="+mn-lt"/>
              </a:rPr>
              <a:t>student.ID</a:t>
            </a:r>
            <a:r>
              <a:rPr lang="en-US" altLang="zh-CN" b="0" u="none" strike="noStrike" baseline="0" dirty="0">
                <a:solidFill>
                  <a:srgbClr val="0000FF"/>
                </a:solidFill>
                <a:latin typeface="+mn-lt"/>
              </a:rPr>
              <a:t> </a:t>
            </a:r>
            <a:r>
              <a:rPr lang="en-US" altLang="zh-CN" sz="3200" b="0" u="none" strike="noStrike" baseline="0" dirty="0">
                <a:solidFill>
                  <a:srgbClr val="0000FF"/>
                </a:solidFill>
                <a:latin typeface="+mn-lt"/>
              </a:rPr>
              <a:t>= takes.ID</a:t>
            </a:r>
            <a:r>
              <a:rPr lang="en-US" altLang="zh-CN" sz="3200" b="0" u="none" strike="noStrike" baseline="0" dirty="0">
                <a:latin typeface="+mn-lt"/>
              </a:rPr>
              <a:t>;</a:t>
            </a:r>
            <a:endParaRPr lang="zh-CN" altLang="en-US" sz="3200" dirty="0">
              <a:latin typeface="+mn-lt"/>
            </a:endParaRPr>
          </a:p>
        </p:txBody>
      </p:sp>
      <p:sp>
        <p:nvSpPr>
          <p:cNvPr id="5" name="文本框 4">
            <a:extLst>
              <a:ext uri="{FF2B5EF4-FFF2-40B4-BE49-F238E27FC236}">
                <a16:creationId xmlns:a16="http://schemas.microsoft.com/office/drawing/2014/main" id="{0705B5EA-A0F4-03EE-62C8-07E4C2436351}"/>
              </a:ext>
            </a:extLst>
          </p:cNvPr>
          <p:cNvSpPr txBox="1"/>
          <p:nvPr/>
        </p:nvSpPr>
        <p:spPr>
          <a:xfrm>
            <a:off x="786130" y="4191002"/>
            <a:ext cx="7543800" cy="1569660"/>
          </a:xfrm>
          <a:prstGeom prst="rect">
            <a:avLst/>
          </a:prstGeom>
          <a:noFill/>
        </p:spPr>
        <p:txBody>
          <a:bodyPr wrap="square">
            <a:spAutoFit/>
          </a:bodyPr>
          <a:lstStyle/>
          <a:p>
            <a:pPr marL="342900" indent="-342900" algn="l">
              <a:buClr>
                <a:srgbClr val="0000FF"/>
              </a:buClr>
              <a:buFont typeface="Wingdings" panose="05000000000000000000" pitchFamily="2" charset="2"/>
              <a:buChar char="ü"/>
            </a:pPr>
            <a:r>
              <a:rPr lang="zh-CN" altLang="en-US" dirty="0"/>
              <a:t>这种</a:t>
            </a:r>
            <a:r>
              <a:rPr lang="zh-CN" altLang="en-US" b="1" dirty="0"/>
              <a:t>基本连接</a:t>
            </a:r>
            <a:r>
              <a:rPr lang="zh-CN" altLang="en-US" dirty="0"/>
              <a:t>，与笛卡尔积类似，被称为称为“交叉连接”或“叉积连接”。</a:t>
            </a:r>
          </a:p>
          <a:p>
            <a:pPr marL="342900" indent="-342900" algn="l">
              <a:buClr>
                <a:srgbClr val="0000FF"/>
              </a:buClr>
              <a:buFont typeface="Wingdings" panose="05000000000000000000" pitchFamily="2" charset="2"/>
              <a:buChar char="ü"/>
            </a:pPr>
            <a:r>
              <a:rPr lang="zh-CN" altLang="en-US" dirty="0"/>
              <a:t>实际上除交叉连接外，还有“内连接”和“外连接”两种基本形式。</a:t>
            </a:r>
          </a:p>
        </p:txBody>
      </p:sp>
      <p:sp>
        <p:nvSpPr>
          <p:cNvPr id="6" name="灯片编号占位符 5">
            <a:extLst>
              <a:ext uri="{FF2B5EF4-FFF2-40B4-BE49-F238E27FC236}">
                <a16:creationId xmlns:a16="http://schemas.microsoft.com/office/drawing/2014/main" id="{0DD95F38-7FBD-9887-5680-4566CBBEFD6D}"/>
              </a:ext>
            </a:extLst>
          </p:cNvPr>
          <p:cNvSpPr>
            <a:spLocks noGrp="1"/>
          </p:cNvSpPr>
          <p:nvPr>
            <p:ph type="sldNum" sz="quarter" idx="12"/>
          </p:nvPr>
        </p:nvSpPr>
        <p:spPr/>
        <p:txBody>
          <a:bodyPr/>
          <a:lstStyle/>
          <a:p>
            <a:pPr>
              <a:defRPr/>
            </a:pPr>
            <a:fld id="{E0CD82EA-F7BE-454B-A83E-18830F6C5424}" type="slidenum">
              <a:rPr lang="en-US" altLang="zh-CN" smtClean="0"/>
              <a:pPr>
                <a:defRPr/>
              </a:pPr>
              <a:t>11</a:t>
            </a:fld>
            <a:r>
              <a:rPr lang="en-US" altLang="zh-CN"/>
              <a:t>/138</a:t>
            </a:r>
            <a:endParaRPr lang="zh-CN" altLang="en-US" dirty="0"/>
          </a:p>
        </p:txBody>
      </p:sp>
      <p:sp>
        <p:nvSpPr>
          <p:cNvPr id="2" name="文本框 1">
            <a:extLst>
              <a:ext uri="{FF2B5EF4-FFF2-40B4-BE49-F238E27FC236}">
                <a16:creationId xmlns:a16="http://schemas.microsoft.com/office/drawing/2014/main" id="{E1DA9D81-E741-759F-BBF3-D464F365147E}"/>
              </a:ext>
            </a:extLst>
          </p:cNvPr>
          <p:cNvSpPr txBox="1"/>
          <p:nvPr/>
        </p:nvSpPr>
        <p:spPr>
          <a:xfrm>
            <a:off x="457200" y="6141660"/>
            <a:ext cx="7391400" cy="646331"/>
          </a:xfrm>
          <a:prstGeom prst="rect">
            <a:avLst/>
          </a:prstGeom>
          <a:solidFill>
            <a:schemeClr val="bg1"/>
          </a:solidFill>
        </p:spPr>
        <p:txBody>
          <a:bodyPr wrap="square" rtlCol="0">
            <a:spAutoFit/>
          </a:bodyPr>
          <a:lstStyle/>
          <a:p>
            <a:pPr algn="l"/>
            <a:r>
              <a:rPr lang="zh-CN" altLang="en-US" sz="1800" dirty="0">
                <a:solidFill>
                  <a:srgbClr val="800080"/>
                </a:solidFill>
              </a:rPr>
              <a:t>student</a:t>
            </a:r>
            <a:r>
              <a:rPr lang="zh-CN" altLang="en-US" sz="1800" dirty="0"/>
              <a:t>(</a:t>
            </a:r>
            <a:r>
              <a:rPr lang="zh-CN" altLang="en-US" sz="1800" u="sng" dirty="0"/>
              <a:t>ID</a:t>
            </a:r>
            <a:r>
              <a:rPr lang="zh-CN" altLang="en-US" sz="1800" dirty="0"/>
              <a:t>, name, dept</a:t>
            </a:r>
            <a:r>
              <a:rPr lang="en-US" altLang="zh-CN" sz="1800" dirty="0"/>
              <a:t>_</a:t>
            </a:r>
            <a:r>
              <a:rPr lang="zh-CN" altLang="en-US" sz="1800" dirty="0"/>
              <a:t>name, tot</a:t>
            </a:r>
            <a:r>
              <a:rPr lang="en-US" altLang="zh-CN" sz="1800" dirty="0"/>
              <a:t>_</a:t>
            </a:r>
            <a:r>
              <a:rPr lang="zh-CN" altLang="en-US" sz="1800" dirty="0"/>
              <a:t>cred)</a:t>
            </a:r>
            <a:r>
              <a:rPr lang="en-US" altLang="zh-CN" sz="1800" dirty="0"/>
              <a:t> //</a:t>
            </a:r>
            <a:r>
              <a:rPr lang="zh-CN" altLang="en-US" sz="1800" dirty="0"/>
              <a:t>学生</a:t>
            </a:r>
            <a:endParaRPr lang="en-US" altLang="zh-CN" sz="1800" dirty="0"/>
          </a:p>
          <a:p>
            <a:pPr algn="l"/>
            <a:r>
              <a:rPr lang="zh-CN" altLang="en-US" sz="1800" dirty="0">
                <a:solidFill>
                  <a:srgbClr val="800080"/>
                </a:solidFill>
              </a:rPr>
              <a:t>takes</a:t>
            </a:r>
            <a:r>
              <a:rPr lang="zh-CN" altLang="en-US" sz="1800" dirty="0"/>
              <a:t>(</a:t>
            </a:r>
            <a:r>
              <a:rPr lang="zh-CN" altLang="en-US" sz="1800" u="sng" dirty="0"/>
              <a:t>ID</a:t>
            </a:r>
            <a:r>
              <a:rPr lang="zh-CN" altLang="en-US" sz="1800" dirty="0"/>
              <a:t>, </a:t>
            </a:r>
            <a:r>
              <a:rPr lang="zh-CN" altLang="en-US" sz="1800" u="sng" dirty="0"/>
              <a:t>course</a:t>
            </a:r>
            <a:r>
              <a:rPr lang="en-US" altLang="zh-CN" sz="1800" u="sng" dirty="0"/>
              <a:t>_</a:t>
            </a:r>
            <a:r>
              <a:rPr lang="zh-CN" altLang="en-US" sz="1800" u="sng" dirty="0"/>
              <a:t>id</a:t>
            </a:r>
            <a:r>
              <a:rPr lang="zh-CN" altLang="en-US" sz="1800" dirty="0"/>
              <a:t>, </a:t>
            </a:r>
            <a:r>
              <a:rPr lang="zh-CN" altLang="en-US" sz="1800" u="sng" dirty="0"/>
              <a:t>sec</a:t>
            </a:r>
            <a:r>
              <a:rPr lang="en-US" altLang="zh-CN" sz="1800" u="sng" dirty="0"/>
              <a:t>_</a:t>
            </a:r>
            <a:r>
              <a:rPr lang="zh-CN" altLang="en-US" sz="1800" u="sng" dirty="0"/>
              <a:t>id</a:t>
            </a:r>
            <a:r>
              <a:rPr lang="zh-CN" altLang="en-US" sz="1800" dirty="0"/>
              <a:t>, </a:t>
            </a:r>
            <a:r>
              <a:rPr lang="zh-CN" altLang="en-US" sz="1800" u="sng" dirty="0"/>
              <a:t>semester</a:t>
            </a:r>
            <a:r>
              <a:rPr lang="zh-CN" altLang="en-US" sz="1800" dirty="0"/>
              <a:t>, </a:t>
            </a:r>
            <a:r>
              <a:rPr lang="zh-CN" altLang="en-US" sz="1800" u="sng" dirty="0"/>
              <a:t>year</a:t>
            </a:r>
            <a:r>
              <a:rPr lang="zh-CN" altLang="en-US" sz="1800" dirty="0"/>
              <a:t>, grade)</a:t>
            </a:r>
            <a:r>
              <a:rPr lang="en-US" altLang="zh-CN" sz="1800" dirty="0"/>
              <a:t> //</a:t>
            </a:r>
            <a:r>
              <a:rPr lang="zh-CN" altLang="en-US" sz="1800" dirty="0"/>
              <a:t>选课</a:t>
            </a:r>
            <a:endParaRPr lang="en-US" altLang="zh-CN" sz="1800" dirty="0"/>
          </a:p>
        </p:txBody>
      </p:sp>
    </p:spTree>
    <p:extLst>
      <p:ext uri="{BB962C8B-B14F-4D97-AF65-F5344CB8AC3E}">
        <p14:creationId xmlns:p14="http://schemas.microsoft.com/office/powerpoint/2010/main" val="6462143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7286">
                                            <p:txEl>
                                              <p:pRg st="1" end="1"/>
                                            </p:txEl>
                                          </p:spTgt>
                                        </p:tgtEl>
                                        <p:attrNameLst>
                                          <p:attrName>style.visibility</p:attrName>
                                        </p:attrNameLst>
                                      </p:cBhvr>
                                      <p:to>
                                        <p:strVal val="visible"/>
                                      </p:to>
                                    </p:set>
                                    <p:anim calcmode="lin" valueType="num">
                                      <p:cBhvr additive="base">
                                        <p:cTn id="7" dur="500" fill="hold"/>
                                        <p:tgtEl>
                                          <p:spTgt spid="9728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728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4162BB38-0120-43CF-8AF7-663C79148056}" type="datetime1">
              <a:rPr kumimoji="0" lang="zh-CN" altLang="en-US" sz="1400" smtClean="0"/>
              <a:t>2025/10/15</a:t>
            </a:fld>
            <a:endParaRPr kumimoji="0" lang="en-US" altLang="zh-CN" sz="1400"/>
          </a:p>
        </p:txBody>
      </p:sp>
      <p:sp>
        <p:nvSpPr>
          <p:cNvPr id="98307"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98309"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98310" name="Rectangle 3"/>
          <p:cNvSpPr>
            <a:spLocks noGrp="1" noChangeArrowheads="1"/>
          </p:cNvSpPr>
          <p:nvPr>
            <p:ph type="body" idx="1"/>
          </p:nvPr>
        </p:nvSpPr>
        <p:spPr>
          <a:xfrm>
            <a:off x="609600" y="1447800"/>
            <a:ext cx="8345488" cy="5029200"/>
          </a:xfrm>
        </p:spPr>
        <p:txBody>
          <a:bodyPr/>
          <a:lstStyle/>
          <a:p>
            <a:pPr eaLnBrk="1" hangingPunct="1"/>
            <a:r>
              <a:rPr lang="zh-CN" altLang="en-US" sz="2800" b="1" dirty="0"/>
              <a:t>自然连接</a:t>
            </a:r>
            <a:r>
              <a:rPr lang="zh-CN" altLang="en-US" sz="2800" dirty="0"/>
              <a:t>：只考虑在两个关系中</a:t>
            </a:r>
            <a:r>
              <a:rPr lang="zh-CN" altLang="en-US" sz="2800" b="1" dirty="0">
                <a:solidFill>
                  <a:srgbClr val="0000FF"/>
                </a:solidFill>
              </a:rPr>
              <a:t>都出现的那些属性</a:t>
            </a:r>
            <a:r>
              <a:rPr lang="zh-CN" altLang="en-US" sz="2800" dirty="0"/>
              <a:t>上</a:t>
            </a:r>
            <a:r>
              <a:rPr lang="zh-CN" altLang="en-US" sz="2800" dirty="0">
                <a:solidFill>
                  <a:srgbClr val="0000FF"/>
                </a:solidFill>
              </a:rPr>
              <a:t>取值相等</a:t>
            </a:r>
            <a:r>
              <a:rPr lang="zh-CN" altLang="en-US" sz="2800" dirty="0"/>
              <a:t>的元组，且在连接结果中会把</a:t>
            </a:r>
            <a:r>
              <a:rPr lang="zh-CN" altLang="en-US" sz="2800" u="sng" dirty="0">
                <a:solidFill>
                  <a:srgbClr val="C00000"/>
                </a:solidFill>
              </a:rPr>
              <a:t>重复的属性列</a:t>
            </a:r>
            <a:r>
              <a:rPr lang="zh-CN" altLang="en-US" sz="2800" u="sng" dirty="0">
                <a:solidFill>
                  <a:srgbClr val="0000FF"/>
                </a:solidFill>
              </a:rPr>
              <a:t>去掉</a:t>
            </a:r>
            <a:r>
              <a:rPr lang="zh-CN" altLang="en-US" sz="2800" dirty="0">
                <a:solidFill>
                  <a:srgbClr val="0000FF"/>
                </a:solidFill>
              </a:rPr>
              <a:t>。</a:t>
            </a:r>
            <a:endParaRPr lang="en-US" altLang="zh-CN" sz="2800" dirty="0">
              <a:solidFill>
                <a:srgbClr val="0000FF"/>
              </a:solidFill>
            </a:endParaRPr>
          </a:p>
          <a:p>
            <a:pPr eaLnBrk="1" hangingPunct="1"/>
            <a:r>
              <a:rPr lang="zh-CN" altLang="en-US" sz="2800" dirty="0"/>
              <a:t>自然连接</a:t>
            </a:r>
            <a:r>
              <a:rPr lang="zh-CN" altLang="en-US" sz="2800" b="1" dirty="0">
                <a:solidFill>
                  <a:srgbClr val="0000FF"/>
                </a:solidFill>
              </a:rPr>
              <a:t>结果</a:t>
            </a:r>
            <a:r>
              <a:rPr lang="zh-CN" altLang="en-US" sz="2800" dirty="0"/>
              <a:t>中</a:t>
            </a:r>
            <a:r>
              <a:rPr lang="zh-CN" altLang="en-US" sz="2800" b="1" u="sng" dirty="0"/>
              <a:t>属性列</a:t>
            </a:r>
            <a:r>
              <a:rPr lang="zh-CN" altLang="en-US" sz="2800" b="1" u="sng" dirty="0">
                <a:solidFill>
                  <a:srgbClr val="0000FF"/>
                </a:solidFill>
              </a:rPr>
              <a:t>顺序</a:t>
            </a:r>
            <a:r>
              <a:rPr lang="zh-CN" altLang="en-US" sz="2800" dirty="0"/>
              <a:t>：首先是两个关系中的</a:t>
            </a:r>
            <a:r>
              <a:rPr lang="zh-CN" altLang="en-US" sz="2800" dirty="0">
                <a:solidFill>
                  <a:srgbClr val="0000FF"/>
                </a:solidFill>
              </a:rPr>
              <a:t>公共属性列</a:t>
            </a:r>
            <a:r>
              <a:rPr lang="zh-CN" altLang="en-US" sz="2800" dirty="0"/>
              <a:t>，其次是</a:t>
            </a:r>
            <a:r>
              <a:rPr lang="zh-CN" altLang="en-US" sz="2800" dirty="0">
                <a:solidFill>
                  <a:srgbClr val="0000FF"/>
                </a:solidFill>
              </a:rPr>
              <a:t>第一个关系</a:t>
            </a:r>
            <a:r>
              <a:rPr lang="zh-CN" altLang="en-US" sz="2800" dirty="0"/>
              <a:t>中的属性列，最后是出现在</a:t>
            </a:r>
            <a:r>
              <a:rPr lang="zh-CN" altLang="en-US" sz="2800" dirty="0">
                <a:solidFill>
                  <a:srgbClr val="0000FF"/>
                </a:solidFill>
              </a:rPr>
              <a:t>第二个关系</a:t>
            </a:r>
            <a:r>
              <a:rPr lang="zh-CN" altLang="en-US" sz="2800" dirty="0"/>
              <a:t>中的属性列。</a:t>
            </a:r>
            <a:endParaRPr lang="en-US" altLang="zh-CN" sz="2800" dirty="0"/>
          </a:p>
          <a:p>
            <a:pPr eaLnBrk="1" hangingPunct="1"/>
            <a:r>
              <a:rPr lang="zh-CN" altLang="en-US" sz="2800" dirty="0"/>
              <a:t>例</a:t>
            </a:r>
            <a:r>
              <a:rPr lang="en-US" altLang="zh-CN" sz="2800" dirty="0"/>
              <a:t>3 </a:t>
            </a:r>
            <a:r>
              <a:rPr lang="zh-CN" altLang="en-US" sz="2800" dirty="0"/>
              <a:t>自然连接 </a:t>
            </a:r>
            <a:r>
              <a:rPr lang="en-US" altLang="zh-CN" sz="2800" dirty="0"/>
              <a:t>Student</a:t>
            </a:r>
            <a:r>
              <a:rPr lang="zh-CN" altLang="en-US" sz="2800" dirty="0"/>
              <a:t>和</a:t>
            </a:r>
            <a:r>
              <a:rPr lang="en-US" altLang="zh-CN" sz="2800" dirty="0"/>
              <a:t>SC</a:t>
            </a:r>
            <a:r>
              <a:rPr lang="zh-CN" altLang="en-US" sz="2800" dirty="0"/>
              <a:t>表</a:t>
            </a:r>
            <a:endParaRPr lang="zh-CN" altLang="en-US" sz="1100" dirty="0"/>
          </a:p>
          <a:p>
            <a:pPr eaLnBrk="1" hangingPunct="1">
              <a:buFont typeface="Wingdings" pitchFamily="2" charset="2"/>
              <a:buNone/>
            </a:pPr>
            <a:r>
              <a:rPr lang="en-US" altLang="zh-CN" sz="2400" dirty="0"/>
              <a:t>	SELECT </a:t>
            </a:r>
            <a:r>
              <a:rPr lang="en-US" altLang="zh-CN" sz="2400" b="1" dirty="0" err="1">
                <a:solidFill>
                  <a:srgbClr val="0000FF"/>
                </a:solidFill>
              </a:rPr>
              <a:t>Student.Sno</a:t>
            </a:r>
            <a:r>
              <a:rPr lang="en-US" altLang="zh-CN" sz="2400" dirty="0"/>
              <a:t>, </a:t>
            </a:r>
            <a:r>
              <a:rPr lang="en-US" altLang="zh-CN" sz="2400" dirty="0" err="1">
                <a:solidFill>
                  <a:srgbClr val="006600"/>
                </a:solidFill>
              </a:rPr>
              <a:t>Sname</a:t>
            </a:r>
            <a:r>
              <a:rPr lang="en-US" altLang="zh-CN" sz="2400" dirty="0">
                <a:solidFill>
                  <a:srgbClr val="006600"/>
                </a:solidFill>
              </a:rPr>
              <a:t>, </a:t>
            </a:r>
            <a:r>
              <a:rPr lang="en-US" altLang="zh-CN" sz="2400" dirty="0" err="1">
                <a:solidFill>
                  <a:srgbClr val="006600"/>
                </a:solidFill>
              </a:rPr>
              <a:t>Sgender</a:t>
            </a:r>
            <a:r>
              <a:rPr lang="en-US" altLang="zh-CN" sz="2400" dirty="0">
                <a:solidFill>
                  <a:srgbClr val="006600"/>
                </a:solidFill>
              </a:rPr>
              <a:t>, Sage, </a:t>
            </a:r>
            <a:r>
              <a:rPr lang="en-US" altLang="zh-CN" sz="2400" dirty="0" err="1">
                <a:solidFill>
                  <a:srgbClr val="006600"/>
                </a:solidFill>
              </a:rPr>
              <a:t>Sdept</a:t>
            </a:r>
            <a:r>
              <a:rPr lang="en-US" altLang="zh-CN" sz="2400" dirty="0"/>
              <a:t>, </a:t>
            </a:r>
            <a:r>
              <a:rPr lang="en-US" altLang="zh-CN" sz="2400" dirty="0" err="1">
                <a:solidFill>
                  <a:srgbClr val="C00000"/>
                </a:solidFill>
              </a:rPr>
              <a:t>Cno</a:t>
            </a:r>
            <a:r>
              <a:rPr lang="en-US" altLang="zh-CN" sz="2400" dirty="0">
                <a:solidFill>
                  <a:srgbClr val="C00000"/>
                </a:solidFill>
              </a:rPr>
              <a:t>, Grade</a:t>
            </a:r>
          </a:p>
          <a:p>
            <a:pPr eaLnBrk="1" hangingPunct="1">
              <a:buFont typeface="Wingdings" pitchFamily="2" charset="2"/>
              <a:buNone/>
            </a:pPr>
            <a:r>
              <a:rPr lang="en-US" altLang="zh-CN" sz="2400" dirty="0"/>
              <a:t>	FROM </a:t>
            </a:r>
            <a:r>
              <a:rPr lang="en-US" altLang="zh-CN" sz="2400" dirty="0">
                <a:solidFill>
                  <a:srgbClr val="006600"/>
                </a:solidFill>
              </a:rPr>
              <a:t>Student</a:t>
            </a:r>
            <a:r>
              <a:rPr lang="en-US" altLang="zh-CN" sz="2400" dirty="0"/>
              <a:t>, </a:t>
            </a:r>
            <a:r>
              <a:rPr lang="en-US" altLang="zh-CN" sz="2400" dirty="0">
                <a:solidFill>
                  <a:srgbClr val="C00000"/>
                </a:solidFill>
              </a:rPr>
              <a:t>SC</a:t>
            </a:r>
          </a:p>
          <a:p>
            <a:pPr eaLnBrk="1" hangingPunct="1">
              <a:buFont typeface="Wingdings" pitchFamily="2" charset="2"/>
              <a:buNone/>
            </a:pPr>
            <a:r>
              <a:rPr lang="en-US" altLang="zh-CN" sz="2400" dirty="0"/>
              <a:t>	WHERE </a:t>
            </a:r>
            <a:r>
              <a:rPr lang="en-US" altLang="zh-CN" sz="2400" dirty="0" err="1">
                <a:solidFill>
                  <a:srgbClr val="0000FF"/>
                </a:solidFill>
              </a:rPr>
              <a:t>Student.Sno</a:t>
            </a:r>
            <a:r>
              <a:rPr lang="en-US" altLang="zh-CN" sz="2400" dirty="0">
                <a:solidFill>
                  <a:srgbClr val="0000FF"/>
                </a:solidFill>
              </a:rPr>
              <a:t>=</a:t>
            </a:r>
            <a:r>
              <a:rPr lang="en-US" altLang="zh-CN" sz="2400" dirty="0" err="1">
                <a:solidFill>
                  <a:srgbClr val="0000FF"/>
                </a:solidFill>
              </a:rPr>
              <a:t>SC.Sno</a:t>
            </a:r>
            <a:r>
              <a:rPr lang="en-US" altLang="zh-CN" sz="2400" dirty="0"/>
              <a:t>;</a:t>
            </a:r>
          </a:p>
          <a:p>
            <a:pPr eaLnBrk="1" hangingPunct="1">
              <a:buFont typeface="Wingdings" pitchFamily="2" charset="2"/>
              <a:buNone/>
            </a:pPr>
            <a:r>
              <a:rPr lang="en-US" altLang="zh-CN" sz="2400" dirty="0">
                <a:solidFill>
                  <a:srgbClr val="FF0000"/>
                </a:solidFill>
              </a:rPr>
              <a:t>    </a:t>
            </a:r>
            <a:endParaRPr lang="zh-CN" altLang="en-US" sz="2400" b="1" dirty="0">
              <a:solidFill>
                <a:srgbClr val="FF0000"/>
              </a:solidFill>
            </a:endParaRPr>
          </a:p>
        </p:txBody>
      </p:sp>
      <p:sp>
        <p:nvSpPr>
          <p:cNvPr id="2" name="矩形 1"/>
          <p:cNvSpPr/>
          <p:nvPr/>
        </p:nvSpPr>
        <p:spPr>
          <a:xfrm>
            <a:off x="4191000" y="5334000"/>
            <a:ext cx="4515980" cy="461665"/>
          </a:xfrm>
          <a:prstGeom prst="rect">
            <a:avLst/>
          </a:prstGeom>
        </p:spPr>
        <p:txBody>
          <a:bodyPr wrap="none">
            <a:spAutoFit/>
          </a:bodyPr>
          <a:lstStyle/>
          <a:p>
            <a:pPr eaLnBrk="1" hangingPunct="1">
              <a:buFont typeface="Wingdings" pitchFamily="2" charset="2"/>
              <a:buNone/>
            </a:pPr>
            <a:r>
              <a:rPr lang="zh-CN" altLang="en-US" b="1" dirty="0">
                <a:solidFill>
                  <a:srgbClr val="FF0000"/>
                </a:solidFill>
              </a:rPr>
              <a:t>属性名唯一，可以省略表名前缀</a:t>
            </a:r>
          </a:p>
        </p:txBody>
      </p:sp>
      <p:sp>
        <p:nvSpPr>
          <p:cNvPr id="5" name="灯片编号占位符 4">
            <a:extLst>
              <a:ext uri="{FF2B5EF4-FFF2-40B4-BE49-F238E27FC236}">
                <a16:creationId xmlns:a16="http://schemas.microsoft.com/office/drawing/2014/main" id="{C572C324-9FEA-DC90-10BF-785F3FB8BC89}"/>
              </a:ext>
            </a:extLst>
          </p:cNvPr>
          <p:cNvSpPr>
            <a:spLocks noGrp="1"/>
          </p:cNvSpPr>
          <p:nvPr>
            <p:ph type="sldNum" sz="quarter" idx="12"/>
          </p:nvPr>
        </p:nvSpPr>
        <p:spPr/>
        <p:txBody>
          <a:bodyPr/>
          <a:lstStyle/>
          <a:p>
            <a:pPr>
              <a:defRPr/>
            </a:pPr>
            <a:fld id="{E0CD82EA-F7BE-454B-A83E-18830F6C5424}" type="slidenum">
              <a:rPr lang="en-US" altLang="zh-CN" smtClean="0"/>
              <a:pPr>
                <a:defRPr/>
              </a:pPr>
              <a:t>12</a:t>
            </a:fld>
            <a:r>
              <a:rPr lang="en-US" altLang="zh-CN"/>
              <a:t>/138</a:t>
            </a:r>
            <a:endParaRPr lang="zh-CN" altLang="en-US" dirty="0"/>
          </a:p>
        </p:txBody>
      </p:sp>
    </p:spTree>
    <p:extLst>
      <p:ext uri="{BB962C8B-B14F-4D97-AF65-F5344CB8AC3E}">
        <p14:creationId xmlns:p14="http://schemas.microsoft.com/office/powerpoint/2010/main" val="34842630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310">
                                            <p:txEl>
                                              <p:pRg st="1" end="1"/>
                                            </p:txEl>
                                          </p:spTgt>
                                        </p:tgtEl>
                                        <p:attrNameLst>
                                          <p:attrName>style.visibility</p:attrName>
                                        </p:attrNameLst>
                                      </p:cBhvr>
                                      <p:to>
                                        <p:strVal val="visible"/>
                                      </p:to>
                                    </p:set>
                                    <p:anim calcmode="lin" valueType="num">
                                      <p:cBhvr additive="base">
                                        <p:cTn id="7" dur="500" fill="hold"/>
                                        <p:tgtEl>
                                          <p:spTgt spid="9831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3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310">
                                            <p:txEl>
                                              <p:pRg st="2" end="2"/>
                                            </p:txEl>
                                          </p:spTgt>
                                        </p:tgtEl>
                                        <p:attrNameLst>
                                          <p:attrName>style.visibility</p:attrName>
                                        </p:attrNameLst>
                                      </p:cBhvr>
                                      <p:to>
                                        <p:strVal val="visible"/>
                                      </p:to>
                                    </p:set>
                                    <p:anim calcmode="lin" valueType="num">
                                      <p:cBhvr additive="base">
                                        <p:cTn id="13" dur="500" fill="hold"/>
                                        <p:tgtEl>
                                          <p:spTgt spid="9831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3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310">
                                            <p:txEl>
                                              <p:pRg st="3" end="3"/>
                                            </p:txEl>
                                          </p:spTgt>
                                        </p:tgtEl>
                                        <p:attrNameLst>
                                          <p:attrName>style.visibility</p:attrName>
                                        </p:attrNameLst>
                                      </p:cBhvr>
                                      <p:to>
                                        <p:strVal val="visible"/>
                                      </p:to>
                                    </p:set>
                                    <p:anim calcmode="lin" valueType="num">
                                      <p:cBhvr additive="base">
                                        <p:cTn id="19" dur="500" fill="hold"/>
                                        <p:tgtEl>
                                          <p:spTgt spid="9831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310">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8310">
                                            <p:txEl>
                                              <p:pRg st="4" end="4"/>
                                            </p:txEl>
                                          </p:spTgt>
                                        </p:tgtEl>
                                        <p:attrNameLst>
                                          <p:attrName>style.visibility</p:attrName>
                                        </p:attrNameLst>
                                      </p:cBhvr>
                                      <p:to>
                                        <p:strVal val="visible"/>
                                      </p:to>
                                    </p:set>
                                    <p:anim calcmode="lin" valueType="num">
                                      <p:cBhvr additive="base">
                                        <p:cTn id="23" dur="500" fill="hold"/>
                                        <p:tgtEl>
                                          <p:spTgt spid="98310">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8310">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8310">
                                            <p:txEl>
                                              <p:pRg st="5" end="5"/>
                                            </p:txEl>
                                          </p:spTgt>
                                        </p:tgtEl>
                                        <p:attrNameLst>
                                          <p:attrName>style.visibility</p:attrName>
                                        </p:attrNameLst>
                                      </p:cBhvr>
                                      <p:to>
                                        <p:strVal val="visible"/>
                                      </p:to>
                                    </p:set>
                                    <p:anim calcmode="lin" valueType="num">
                                      <p:cBhvr additive="base">
                                        <p:cTn id="27" dur="500" fill="hold"/>
                                        <p:tgtEl>
                                          <p:spTgt spid="98310">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83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8310">
                                            <p:txEl>
                                              <p:pRg st="6" end="6"/>
                                            </p:txEl>
                                          </p:spTgt>
                                        </p:tgtEl>
                                        <p:attrNameLst>
                                          <p:attrName>style.visibility</p:attrName>
                                        </p:attrNameLst>
                                      </p:cBhvr>
                                      <p:to>
                                        <p:strVal val="visible"/>
                                      </p:to>
                                    </p:set>
                                    <p:anim calcmode="lin" valueType="num">
                                      <p:cBhvr additive="base">
                                        <p:cTn id="33" dur="500" fill="hold"/>
                                        <p:tgtEl>
                                          <p:spTgt spid="98310">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83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barn(inVertical)">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261FC326-172D-4BC8-95D1-6ECF71EA1000}" type="datetime1">
              <a:rPr kumimoji="0" lang="zh-CN" altLang="en-US" sz="1400" smtClean="0"/>
              <a:t>2025/10/15</a:t>
            </a:fld>
            <a:endParaRPr kumimoji="0" lang="en-US" altLang="zh-CN" sz="1400"/>
          </a:p>
        </p:txBody>
      </p:sp>
      <p:sp>
        <p:nvSpPr>
          <p:cNvPr id="100355"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0357" name="Rectangle 2"/>
          <p:cNvSpPr>
            <a:spLocks noGrp="1" noChangeArrowheads="1"/>
          </p:cNvSpPr>
          <p:nvPr>
            <p:ph type="title"/>
          </p:nvPr>
        </p:nvSpPr>
        <p:spPr/>
        <p:txBody>
          <a:bodyPr/>
          <a:lstStyle/>
          <a:p>
            <a:pPr eaLnBrk="1" hangingPunct="1"/>
            <a:r>
              <a:rPr lang="en-US" altLang="zh-CN" dirty="0"/>
              <a:t>4.1 </a:t>
            </a:r>
            <a:r>
              <a:rPr lang="zh-CN" altLang="en-US" dirty="0"/>
              <a:t>连接查询</a:t>
            </a:r>
            <a:r>
              <a:rPr lang="en-US" altLang="zh-CN" dirty="0"/>
              <a:t>---</a:t>
            </a:r>
            <a:r>
              <a:rPr lang="zh-CN" altLang="en-US" dirty="0"/>
              <a:t>内连接</a:t>
            </a:r>
          </a:p>
        </p:txBody>
      </p:sp>
      <p:sp>
        <p:nvSpPr>
          <p:cNvPr id="100358" name="Rectangle 3"/>
          <p:cNvSpPr>
            <a:spLocks noGrp="1" noChangeArrowheads="1"/>
          </p:cNvSpPr>
          <p:nvPr>
            <p:ph type="body" idx="1"/>
          </p:nvPr>
        </p:nvSpPr>
        <p:spPr/>
        <p:txBody>
          <a:bodyPr/>
          <a:lstStyle/>
          <a:p>
            <a:pPr eaLnBrk="1" hangingPunct="1"/>
            <a:r>
              <a:rPr lang="zh-CN" altLang="en-US" sz="2800" dirty="0"/>
              <a:t>例</a:t>
            </a:r>
            <a:r>
              <a:rPr lang="en-US" altLang="zh-CN" sz="2800" dirty="0"/>
              <a:t>1</a:t>
            </a:r>
            <a:r>
              <a:rPr lang="zh-CN" altLang="en-US" sz="2800" dirty="0"/>
              <a:t>可改为</a:t>
            </a:r>
            <a:r>
              <a:rPr lang="zh-CN" altLang="en-US" sz="2800" dirty="0">
                <a:latin typeface="Arial" charset="0"/>
              </a:rPr>
              <a:t>“</a:t>
            </a:r>
            <a:r>
              <a:rPr lang="zh-CN" altLang="en-US" sz="2800" dirty="0"/>
              <a:t>内连接</a:t>
            </a:r>
            <a:r>
              <a:rPr lang="zh-CN" altLang="en-US" sz="2800" dirty="0">
                <a:latin typeface="Arial" charset="0"/>
              </a:rPr>
              <a:t>”</a:t>
            </a:r>
            <a:r>
              <a:rPr lang="zh-CN" altLang="en-US" sz="2800" dirty="0"/>
              <a:t>形式（</a:t>
            </a:r>
            <a:r>
              <a:rPr lang="en-US" altLang="zh-CN" sz="2800" dirty="0"/>
              <a:t>SQL</a:t>
            </a:r>
            <a:r>
              <a:rPr lang="zh-CN" altLang="en-US" sz="2800" dirty="0"/>
              <a:t>标准）：</a:t>
            </a:r>
          </a:p>
          <a:p>
            <a:pPr eaLnBrk="1" hangingPunct="1">
              <a:buFont typeface="Wingdings" pitchFamily="2" charset="2"/>
              <a:buNone/>
            </a:pPr>
            <a:r>
              <a:rPr lang="en-US" altLang="zh-CN" sz="2800" dirty="0"/>
              <a:t>	</a:t>
            </a:r>
            <a:r>
              <a:rPr lang="en-US" altLang="zh-CN" sz="2400" dirty="0"/>
              <a:t>SELECT </a:t>
            </a:r>
            <a:r>
              <a:rPr lang="en-US" altLang="zh-CN" sz="2400" dirty="0">
                <a:solidFill>
                  <a:srgbClr val="0000FF"/>
                </a:solidFill>
              </a:rPr>
              <a:t>*</a:t>
            </a:r>
            <a:r>
              <a:rPr lang="en-US" altLang="zh-CN" sz="2400" dirty="0"/>
              <a:t> </a:t>
            </a:r>
          </a:p>
          <a:p>
            <a:pPr eaLnBrk="1" hangingPunct="1">
              <a:buFont typeface="Wingdings" pitchFamily="2" charset="2"/>
              <a:buNone/>
            </a:pPr>
            <a:r>
              <a:rPr lang="en-US" altLang="zh-CN" sz="2400" dirty="0"/>
              <a:t>   </a:t>
            </a:r>
            <a:r>
              <a:rPr lang="en-US" altLang="zh-CN" sz="2400" dirty="0">
                <a:solidFill>
                  <a:srgbClr val="FF0000"/>
                </a:solidFill>
              </a:rPr>
              <a:t>FROM</a:t>
            </a:r>
            <a:r>
              <a:rPr lang="en-US" altLang="zh-CN" sz="2400" dirty="0">
                <a:solidFill>
                  <a:srgbClr val="006600"/>
                </a:solidFill>
              </a:rPr>
              <a:t> </a:t>
            </a:r>
            <a:r>
              <a:rPr lang="en-US" altLang="zh-CN" sz="2400" dirty="0"/>
              <a:t>Student </a:t>
            </a:r>
            <a:r>
              <a:rPr lang="en-US" altLang="zh-CN" sz="2400" dirty="0">
                <a:solidFill>
                  <a:srgbClr val="0000FF"/>
                </a:solidFill>
              </a:rPr>
              <a:t>INNER JOIN </a:t>
            </a:r>
            <a:r>
              <a:rPr lang="en-US" altLang="zh-CN" sz="2400" dirty="0"/>
              <a:t>SC </a:t>
            </a:r>
            <a:r>
              <a:rPr lang="en-US" altLang="zh-CN" sz="2400" dirty="0">
                <a:solidFill>
                  <a:srgbClr val="0000FF"/>
                </a:solidFill>
              </a:rPr>
              <a:t>ON </a:t>
            </a:r>
            <a:r>
              <a:rPr lang="en-US" altLang="zh-CN" sz="2400" dirty="0" err="1"/>
              <a:t>Student.Sno</a:t>
            </a:r>
            <a:r>
              <a:rPr lang="en-US" altLang="zh-CN" sz="2400" dirty="0"/>
              <a:t>=</a:t>
            </a:r>
            <a:r>
              <a:rPr lang="en-US" altLang="zh-CN" sz="2400" dirty="0" err="1"/>
              <a:t>SC.Sno</a:t>
            </a:r>
            <a:r>
              <a:rPr lang="en-US" altLang="zh-CN" sz="2400" dirty="0"/>
              <a:t>;</a:t>
            </a:r>
          </a:p>
          <a:p>
            <a:pPr eaLnBrk="1" hangingPunct="1"/>
            <a:r>
              <a:rPr lang="zh-CN" altLang="en-US" sz="2800" dirty="0"/>
              <a:t>例</a:t>
            </a:r>
            <a:r>
              <a:rPr lang="en-US" altLang="zh-CN" sz="2800" dirty="0"/>
              <a:t>3</a:t>
            </a:r>
            <a:r>
              <a:rPr lang="zh-CN" altLang="en-US" sz="2800" dirty="0"/>
              <a:t>可改为</a:t>
            </a:r>
            <a:r>
              <a:rPr lang="en-US" altLang="zh-CN" sz="2800" dirty="0"/>
              <a:t>	</a:t>
            </a:r>
          </a:p>
          <a:p>
            <a:pPr eaLnBrk="1" hangingPunct="1">
              <a:buNone/>
            </a:pPr>
            <a:r>
              <a:rPr lang="en-US" altLang="zh-CN" sz="2600" dirty="0"/>
              <a:t>    select </a:t>
            </a:r>
            <a:r>
              <a:rPr lang="en-US" altLang="zh-CN" sz="2600" dirty="0">
                <a:solidFill>
                  <a:srgbClr val="0000FF"/>
                </a:solidFill>
              </a:rPr>
              <a:t>* </a:t>
            </a:r>
            <a:r>
              <a:rPr lang="en-US" altLang="zh-CN" sz="2600" dirty="0">
                <a:solidFill>
                  <a:srgbClr val="FF0000"/>
                </a:solidFill>
              </a:rPr>
              <a:t>from</a:t>
            </a:r>
            <a:r>
              <a:rPr lang="en-US" altLang="zh-CN" sz="2600" dirty="0"/>
              <a:t> </a:t>
            </a:r>
            <a:r>
              <a:rPr lang="en-US" altLang="zh-CN" sz="2600" dirty="0">
                <a:effectLst>
                  <a:outerShdw blurRad="38100" dist="38100" dir="2700000" algn="tl">
                    <a:srgbClr val="000000">
                      <a:alpha val="43137"/>
                    </a:srgbClr>
                  </a:outerShdw>
                </a:effectLst>
              </a:rPr>
              <a:t>Student</a:t>
            </a:r>
            <a:r>
              <a:rPr lang="en-US" altLang="zh-CN" sz="2600" dirty="0"/>
              <a:t> </a:t>
            </a:r>
            <a:r>
              <a:rPr lang="en-US" altLang="zh-CN" sz="2600" dirty="0">
                <a:solidFill>
                  <a:srgbClr val="0000FF"/>
                </a:solidFill>
              </a:rPr>
              <a:t>natural </a:t>
            </a:r>
            <a:r>
              <a:rPr lang="en-US" altLang="zh-CN" sz="2600" dirty="0">
                <a:solidFill>
                  <a:srgbClr val="7030A0"/>
                </a:solidFill>
              </a:rPr>
              <a:t>inner join </a:t>
            </a:r>
            <a:r>
              <a:rPr lang="en-US" altLang="zh-CN" sz="2600" dirty="0">
                <a:effectLst>
                  <a:outerShdw blurRad="38100" dist="38100" dir="2700000" algn="tl">
                    <a:srgbClr val="000000">
                      <a:alpha val="43137"/>
                    </a:srgbClr>
                  </a:outerShdw>
                </a:effectLst>
              </a:rPr>
              <a:t>SC</a:t>
            </a:r>
            <a:r>
              <a:rPr lang="en-US" altLang="zh-CN" sz="2600" dirty="0"/>
              <a:t>;</a:t>
            </a:r>
          </a:p>
          <a:p>
            <a:pPr eaLnBrk="1" hangingPunct="1">
              <a:buNone/>
            </a:pPr>
            <a:r>
              <a:rPr lang="en-US" altLang="zh-CN" sz="2600" dirty="0">
                <a:solidFill>
                  <a:srgbClr val="0000FF"/>
                </a:solidFill>
              </a:rPr>
              <a:t>Or</a:t>
            </a:r>
            <a:r>
              <a:rPr lang="en-US" altLang="zh-CN" sz="2600" dirty="0"/>
              <a:t> select </a:t>
            </a:r>
            <a:r>
              <a:rPr lang="en-US" altLang="zh-CN" sz="2600" dirty="0">
                <a:solidFill>
                  <a:srgbClr val="0000FF"/>
                </a:solidFill>
              </a:rPr>
              <a:t>* </a:t>
            </a:r>
            <a:r>
              <a:rPr lang="en-US" altLang="zh-CN" sz="2600" dirty="0">
                <a:solidFill>
                  <a:srgbClr val="FF0000"/>
                </a:solidFill>
              </a:rPr>
              <a:t>from</a:t>
            </a:r>
            <a:r>
              <a:rPr lang="en-US" altLang="zh-CN" sz="2600" dirty="0"/>
              <a:t> </a:t>
            </a:r>
            <a:r>
              <a:rPr lang="en-US" altLang="zh-CN" sz="2600" dirty="0">
                <a:effectLst>
                  <a:outerShdw blurRad="38100" dist="38100" dir="2700000" algn="tl">
                    <a:srgbClr val="000000">
                      <a:alpha val="43137"/>
                    </a:srgbClr>
                  </a:outerShdw>
                </a:effectLst>
              </a:rPr>
              <a:t>Student</a:t>
            </a:r>
            <a:r>
              <a:rPr lang="en-US" altLang="zh-CN" sz="2600" dirty="0"/>
              <a:t> </a:t>
            </a:r>
            <a:r>
              <a:rPr lang="en-US" altLang="zh-CN" sz="2600" dirty="0">
                <a:solidFill>
                  <a:srgbClr val="0000FF"/>
                </a:solidFill>
              </a:rPr>
              <a:t>natural </a:t>
            </a:r>
            <a:r>
              <a:rPr lang="en-US" altLang="zh-CN" sz="2600" dirty="0">
                <a:solidFill>
                  <a:srgbClr val="7030A0"/>
                </a:solidFill>
              </a:rPr>
              <a:t>join</a:t>
            </a:r>
            <a:r>
              <a:rPr lang="en-US" altLang="zh-CN" sz="2600" dirty="0">
                <a:solidFill>
                  <a:srgbClr val="0000FF"/>
                </a:solidFill>
              </a:rPr>
              <a:t> </a:t>
            </a:r>
            <a:r>
              <a:rPr lang="en-US" altLang="zh-CN" sz="2600" dirty="0">
                <a:effectLst>
                  <a:outerShdw blurRad="38100" dist="38100" dir="2700000" algn="tl">
                    <a:srgbClr val="000000">
                      <a:alpha val="43137"/>
                    </a:srgbClr>
                  </a:outerShdw>
                </a:effectLst>
              </a:rPr>
              <a:t>SC</a:t>
            </a:r>
            <a:r>
              <a:rPr lang="en-US" altLang="zh-CN" sz="2600" dirty="0"/>
              <a:t>;</a:t>
            </a:r>
          </a:p>
          <a:p>
            <a:pPr eaLnBrk="1" hangingPunct="1"/>
            <a:r>
              <a:rPr lang="zh-CN" altLang="en-US" sz="2800" dirty="0"/>
              <a:t>例</a:t>
            </a:r>
            <a:r>
              <a:rPr lang="en-US" altLang="zh-CN" sz="2800" dirty="0"/>
              <a:t>2</a:t>
            </a:r>
            <a:r>
              <a:rPr lang="zh-CN" altLang="en-US" sz="2800" dirty="0"/>
              <a:t>可改为</a:t>
            </a:r>
            <a:endParaRPr lang="en-US" altLang="zh-CN" sz="2800" dirty="0"/>
          </a:p>
          <a:p>
            <a:pPr marL="0" indent="0" eaLnBrk="1" hangingPunct="1">
              <a:buNone/>
            </a:pPr>
            <a:r>
              <a:rPr lang="en-US" altLang="zh-CN" sz="2800" dirty="0"/>
              <a:t>   </a:t>
            </a:r>
            <a:r>
              <a:rPr lang="en-US" altLang="zh-CN" sz="2600" dirty="0"/>
              <a:t>select name, </a:t>
            </a:r>
            <a:r>
              <a:rPr lang="en-US" altLang="zh-CN" sz="2600" dirty="0" err="1"/>
              <a:t>course_id</a:t>
            </a:r>
            <a:r>
              <a:rPr lang="en-US" altLang="zh-CN" sz="2600" dirty="0"/>
              <a:t> </a:t>
            </a:r>
          </a:p>
          <a:p>
            <a:pPr marL="0" indent="0" eaLnBrk="1" hangingPunct="1">
              <a:buNone/>
            </a:pPr>
            <a:r>
              <a:rPr lang="en-US" altLang="zh-CN" sz="2600" dirty="0"/>
              <a:t>   </a:t>
            </a:r>
            <a:r>
              <a:rPr lang="en-US" altLang="zh-CN" sz="2600" dirty="0">
                <a:solidFill>
                  <a:srgbClr val="FF0000"/>
                </a:solidFill>
              </a:rPr>
              <a:t>from</a:t>
            </a:r>
            <a:r>
              <a:rPr lang="en-US" altLang="zh-CN" sz="2600" dirty="0"/>
              <a:t> student </a:t>
            </a:r>
            <a:r>
              <a:rPr lang="en-US" altLang="zh-CN" sz="2600" dirty="0">
                <a:solidFill>
                  <a:srgbClr val="0000FF"/>
                </a:solidFill>
              </a:rPr>
              <a:t>natural join </a:t>
            </a:r>
            <a:r>
              <a:rPr lang="en-US" altLang="zh-CN" sz="2600" dirty="0"/>
              <a:t>takes;</a:t>
            </a:r>
            <a:endParaRPr lang="zh-CN" altLang="en-US" sz="2600" dirty="0"/>
          </a:p>
          <a:p>
            <a:pPr eaLnBrk="1" hangingPunct="1">
              <a:buFont typeface="Wingdings" pitchFamily="2" charset="2"/>
              <a:buNone/>
            </a:pPr>
            <a:endParaRPr lang="en-US" altLang="zh-CN" sz="2800" dirty="0"/>
          </a:p>
          <a:p>
            <a:pPr eaLnBrk="1" hangingPunct="1">
              <a:buFont typeface="Wingdings" pitchFamily="2" charset="2"/>
              <a:buNone/>
            </a:pPr>
            <a:endParaRPr lang="zh-CN" altLang="en-US" sz="2800" dirty="0"/>
          </a:p>
        </p:txBody>
      </p:sp>
      <p:sp>
        <p:nvSpPr>
          <p:cNvPr id="6" name="文本框 5">
            <a:extLst>
              <a:ext uri="{FF2B5EF4-FFF2-40B4-BE49-F238E27FC236}">
                <a16:creationId xmlns:a16="http://schemas.microsoft.com/office/drawing/2014/main" id="{7602C1A5-B05E-9FA5-7493-1607348A5982}"/>
              </a:ext>
            </a:extLst>
          </p:cNvPr>
          <p:cNvSpPr txBox="1"/>
          <p:nvPr/>
        </p:nvSpPr>
        <p:spPr>
          <a:xfrm>
            <a:off x="6750050" y="3962400"/>
            <a:ext cx="239395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2400" dirty="0">
                <a:solidFill>
                  <a:srgbClr val="0000FF"/>
                </a:solidFill>
              </a:rPr>
              <a:t>INNER</a:t>
            </a:r>
            <a:r>
              <a:rPr lang="zh-CN" altLang="en-US" sz="2400" dirty="0">
                <a:solidFill>
                  <a:srgbClr val="0000FF"/>
                </a:solidFill>
              </a:rPr>
              <a:t>可以省略</a:t>
            </a:r>
            <a:endParaRPr lang="zh-CN" altLang="en-US" dirty="0"/>
          </a:p>
        </p:txBody>
      </p:sp>
      <p:cxnSp>
        <p:nvCxnSpPr>
          <p:cNvPr id="4" name="直接连接符 3">
            <a:extLst>
              <a:ext uri="{FF2B5EF4-FFF2-40B4-BE49-F238E27FC236}">
                <a16:creationId xmlns:a16="http://schemas.microsoft.com/office/drawing/2014/main" id="{4C233425-CC3F-CAAC-F51E-0D7C5673F16D}"/>
              </a:ext>
            </a:extLst>
          </p:cNvPr>
          <p:cNvCxnSpPr/>
          <p:nvPr/>
        </p:nvCxnSpPr>
        <p:spPr bwMode="auto">
          <a:xfrm>
            <a:off x="1905000" y="2895600"/>
            <a:ext cx="3200400" cy="0"/>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7" name="直接连接符 6">
            <a:extLst>
              <a:ext uri="{FF2B5EF4-FFF2-40B4-BE49-F238E27FC236}">
                <a16:creationId xmlns:a16="http://schemas.microsoft.com/office/drawing/2014/main" id="{4BD826ED-18DF-479B-24BF-C87D704F088C}"/>
              </a:ext>
            </a:extLst>
          </p:cNvPr>
          <p:cNvCxnSpPr>
            <a:cxnSpLocks/>
          </p:cNvCxnSpPr>
          <p:nvPr/>
        </p:nvCxnSpPr>
        <p:spPr bwMode="auto">
          <a:xfrm>
            <a:off x="5754688" y="2895600"/>
            <a:ext cx="2779712" cy="0"/>
          </a:xfrm>
          <a:prstGeom prst="line">
            <a:avLst/>
          </a:prstGeom>
          <a:ln>
            <a:headEnd type="none" w="med" len="med"/>
            <a:tailEnd type="none" w="med" len="med"/>
          </a:ln>
        </p:spPr>
        <p:style>
          <a:lnRef idx="3">
            <a:schemeClr val="accent6"/>
          </a:lnRef>
          <a:fillRef idx="0">
            <a:schemeClr val="accent6"/>
          </a:fillRef>
          <a:effectRef idx="2">
            <a:schemeClr val="accent6"/>
          </a:effectRef>
          <a:fontRef idx="minor">
            <a:schemeClr val="tx1"/>
          </a:fontRef>
        </p:style>
      </p:cxnSp>
      <p:sp>
        <p:nvSpPr>
          <p:cNvPr id="3" name="灯片编号占位符 2">
            <a:extLst>
              <a:ext uri="{FF2B5EF4-FFF2-40B4-BE49-F238E27FC236}">
                <a16:creationId xmlns:a16="http://schemas.microsoft.com/office/drawing/2014/main" id="{A849DF64-1B23-DDEE-8D2F-824A5BA7D5DA}"/>
              </a:ext>
            </a:extLst>
          </p:cNvPr>
          <p:cNvSpPr>
            <a:spLocks noGrp="1"/>
          </p:cNvSpPr>
          <p:nvPr>
            <p:ph type="sldNum" sz="quarter" idx="12"/>
          </p:nvPr>
        </p:nvSpPr>
        <p:spPr/>
        <p:txBody>
          <a:bodyPr/>
          <a:lstStyle/>
          <a:p>
            <a:pPr>
              <a:defRPr/>
            </a:pPr>
            <a:fld id="{E0CD82EA-F7BE-454B-A83E-18830F6C5424}" type="slidenum">
              <a:rPr lang="en-US" altLang="zh-CN" smtClean="0"/>
              <a:pPr>
                <a:defRPr/>
              </a:pPr>
              <a:t>13</a:t>
            </a:fld>
            <a:r>
              <a:rPr lang="en-US" altLang="zh-CN"/>
              <a:t>/138</a:t>
            </a:r>
            <a:endParaRPr lang="zh-CN" altLang="en-US" dirty="0"/>
          </a:p>
        </p:txBody>
      </p:sp>
    </p:spTree>
    <p:extLst>
      <p:ext uri="{BB962C8B-B14F-4D97-AF65-F5344CB8AC3E}">
        <p14:creationId xmlns:p14="http://schemas.microsoft.com/office/powerpoint/2010/main" val="25465623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0358">
                                            <p:txEl>
                                              <p:pRg st="1" end="1"/>
                                            </p:txEl>
                                          </p:spTgt>
                                        </p:tgtEl>
                                        <p:attrNameLst>
                                          <p:attrName>style.visibility</p:attrName>
                                        </p:attrNameLst>
                                      </p:cBhvr>
                                      <p:to>
                                        <p:strVal val="visible"/>
                                      </p:to>
                                    </p:set>
                                    <p:anim calcmode="lin" valueType="num">
                                      <p:cBhvr additive="base">
                                        <p:cTn id="7" dur="500" fill="hold"/>
                                        <p:tgtEl>
                                          <p:spTgt spid="10035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0358">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0358">
                                            <p:txEl>
                                              <p:pRg st="2" end="2"/>
                                            </p:txEl>
                                          </p:spTgt>
                                        </p:tgtEl>
                                        <p:attrNameLst>
                                          <p:attrName>style.visibility</p:attrName>
                                        </p:attrNameLst>
                                      </p:cBhvr>
                                      <p:to>
                                        <p:strVal val="visible"/>
                                      </p:to>
                                    </p:set>
                                    <p:anim calcmode="lin" valueType="num">
                                      <p:cBhvr additive="base">
                                        <p:cTn id="11" dur="500" fill="hold"/>
                                        <p:tgtEl>
                                          <p:spTgt spid="100358">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035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heel(1)">
                                      <p:cBhvr>
                                        <p:cTn id="17" dur="2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0358">
                                            <p:txEl>
                                              <p:pRg st="3" end="3"/>
                                            </p:txEl>
                                          </p:spTgt>
                                        </p:tgtEl>
                                        <p:attrNameLst>
                                          <p:attrName>style.visibility</p:attrName>
                                        </p:attrNameLst>
                                      </p:cBhvr>
                                      <p:to>
                                        <p:strVal val="visible"/>
                                      </p:to>
                                    </p:set>
                                    <p:anim calcmode="lin" valueType="num">
                                      <p:cBhvr additive="base">
                                        <p:cTn id="27" dur="500" fill="hold"/>
                                        <p:tgtEl>
                                          <p:spTgt spid="100358">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0358">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0358">
                                            <p:txEl>
                                              <p:pRg st="4" end="4"/>
                                            </p:txEl>
                                          </p:spTgt>
                                        </p:tgtEl>
                                        <p:attrNameLst>
                                          <p:attrName>style.visibility</p:attrName>
                                        </p:attrNameLst>
                                      </p:cBhvr>
                                      <p:to>
                                        <p:strVal val="visible"/>
                                      </p:to>
                                    </p:set>
                                    <p:anim calcmode="lin" valueType="num">
                                      <p:cBhvr additive="base">
                                        <p:cTn id="31" dur="500" fill="hold"/>
                                        <p:tgtEl>
                                          <p:spTgt spid="10035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0358">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0358">
                                            <p:txEl>
                                              <p:pRg st="5" end="5"/>
                                            </p:txEl>
                                          </p:spTgt>
                                        </p:tgtEl>
                                        <p:attrNameLst>
                                          <p:attrName>style.visibility</p:attrName>
                                        </p:attrNameLst>
                                      </p:cBhvr>
                                      <p:to>
                                        <p:strVal val="visible"/>
                                      </p:to>
                                    </p:set>
                                    <p:anim calcmode="lin" valueType="num">
                                      <p:cBhvr additive="base">
                                        <p:cTn id="35" dur="500" fill="hold"/>
                                        <p:tgtEl>
                                          <p:spTgt spid="100358">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035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barn(inVertical)">
                                      <p:cBhvr>
                                        <p:cTn id="41" dur="5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100358">
                                            <p:txEl>
                                              <p:pRg st="6" end="6"/>
                                            </p:txEl>
                                          </p:spTgt>
                                        </p:tgtEl>
                                        <p:attrNameLst>
                                          <p:attrName>style.visibility</p:attrName>
                                        </p:attrNameLst>
                                      </p:cBhvr>
                                      <p:to>
                                        <p:strVal val="visible"/>
                                      </p:to>
                                    </p:set>
                                    <p:anim calcmode="lin" valueType="num">
                                      <p:cBhvr additive="base">
                                        <p:cTn id="46" dur="500" fill="hold"/>
                                        <p:tgtEl>
                                          <p:spTgt spid="100358">
                                            <p:txEl>
                                              <p:pRg st="6" end="6"/>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00358">
                                            <p:txEl>
                                              <p:pRg st="6" end="6"/>
                                            </p:txEl>
                                          </p:spTgt>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100358">
                                            <p:txEl>
                                              <p:pRg st="7" end="7"/>
                                            </p:txEl>
                                          </p:spTgt>
                                        </p:tgtEl>
                                        <p:attrNameLst>
                                          <p:attrName>style.visibility</p:attrName>
                                        </p:attrNameLst>
                                      </p:cBhvr>
                                      <p:to>
                                        <p:strVal val="visible"/>
                                      </p:to>
                                    </p:set>
                                    <p:anim calcmode="lin" valueType="num">
                                      <p:cBhvr additive="base">
                                        <p:cTn id="50" dur="500" fill="hold"/>
                                        <p:tgtEl>
                                          <p:spTgt spid="100358">
                                            <p:txEl>
                                              <p:pRg st="7" end="7"/>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100358">
                                            <p:txEl>
                                              <p:pRg st="7" end="7"/>
                                            </p:txEl>
                                          </p:spTgt>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100358">
                                            <p:txEl>
                                              <p:pRg st="8" end="8"/>
                                            </p:txEl>
                                          </p:spTgt>
                                        </p:tgtEl>
                                        <p:attrNameLst>
                                          <p:attrName>style.visibility</p:attrName>
                                        </p:attrNameLst>
                                      </p:cBhvr>
                                      <p:to>
                                        <p:strVal val="visible"/>
                                      </p:to>
                                    </p:set>
                                    <p:anim calcmode="lin" valueType="num">
                                      <p:cBhvr additive="base">
                                        <p:cTn id="54" dur="500" fill="hold"/>
                                        <p:tgtEl>
                                          <p:spTgt spid="100358">
                                            <p:txEl>
                                              <p:pRg st="8" end="8"/>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0035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0DE66C32-17A9-469E-BE1E-949C7865ED5A}" type="datetime1">
              <a:rPr kumimoji="0" lang="zh-CN" altLang="en-US" sz="1400" smtClean="0"/>
              <a:t>2025/10/15</a:t>
            </a:fld>
            <a:endParaRPr kumimoji="0" lang="en-US" altLang="zh-CN" sz="1400"/>
          </a:p>
        </p:txBody>
      </p:sp>
      <p:sp>
        <p:nvSpPr>
          <p:cNvPr id="100355"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0357" name="Rectangle 2"/>
          <p:cNvSpPr>
            <a:spLocks noGrp="1" noChangeArrowheads="1"/>
          </p:cNvSpPr>
          <p:nvPr>
            <p:ph type="title"/>
          </p:nvPr>
        </p:nvSpPr>
        <p:spPr/>
        <p:txBody>
          <a:bodyPr/>
          <a:lstStyle/>
          <a:p>
            <a:pPr eaLnBrk="1" hangingPunct="1"/>
            <a:r>
              <a:rPr lang="en-US" altLang="zh-CN" dirty="0"/>
              <a:t>4.1 </a:t>
            </a:r>
            <a:r>
              <a:rPr lang="zh-CN" altLang="en-US" dirty="0"/>
              <a:t>连接查询</a:t>
            </a:r>
            <a:r>
              <a:rPr lang="en-US" altLang="zh-CN" dirty="0"/>
              <a:t>---</a:t>
            </a:r>
            <a:r>
              <a:rPr lang="zh-CN" altLang="en-US" dirty="0"/>
              <a:t>内连接</a:t>
            </a:r>
          </a:p>
        </p:txBody>
      </p:sp>
      <p:sp>
        <p:nvSpPr>
          <p:cNvPr id="100358" name="Rectangle 3"/>
          <p:cNvSpPr>
            <a:spLocks noGrp="1" noChangeArrowheads="1"/>
          </p:cNvSpPr>
          <p:nvPr>
            <p:ph type="body" idx="1"/>
          </p:nvPr>
        </p:nvSpPr>
        <p:spPr/>
        <p:txBody>
          <a:bodyPr/>
          <a:lstStyle/>
          <a:p>
            <a:pPr eaLnBrk="1" hangingPunct="1"/>
            <a:r>
              <a:rPr lang="zh-CN" altLang="en-US" sz="2800" dirty="0">
                <a:solidFill>
                  <a:schemeClr val="bg1">
                    <a:lumMod val="65000"/>
                  </a:schemeClr>
                </a:solidFill>
              </a:rPr>
              <a:t>例</a:t>
            </a:r>
            <a:r>
              <a:rPr lang="en-US" altLang="zh-CN" sz="2800" dirty="0">
                <a:solidFill>
                  <a:schemeClr val="bg1">
                    <a:lumMod val="65000"/>
                  </a:schemeClr>
                </a:solidFill>
              </a:rPr>
              <a:t>1</a:t>
            </a:r>
            <a:r>
              <a:rPr lang="zh-CN" altLang="en-US" sz="2800" dirty="0">
                <a:solidFill>
                  <a:schemeClr val="bg1">
                    <a:lumMod val="65000"/>
                  </a:schemeClr>
                </a:solidFill>
              </a:rPr>
              <a:t>可改为</a:t>
            </a:r>
            <a:r>
              <a:rPr lang="zh-CN" altLang="en-US" sz="2800" dirty="0">
                <a:solidFill>
                  <a:schemeClr val="bg1">
                    <a:lumMod val="65000"/>
                  </a:schemeClr>
                </a:solidFill>
                <a:latin typeface="Arial" charset="0"/>
              </a:rPr>
              <a:t>“</a:t>
            </a:r>
            <a:r>
              <a:rPr lang="zh-CN" altLang="en-US" sz="2800" dirty="0">
                <a:solidFill>
                  <a:schemeClr val="bg1">
                    <a:lumMod val="65000"/>
                  </a:schemeClr>
                </a:solidFill>
              </a:rPr>
              <a:t>内连接</a:t>
            </a:r>
            <a:r>
              <a:rPr lang="zh-CN" altLang="en-US" sz="2800" dirty="0">
                <a:solidFill>
                  <a:schemeClr val="bg1">
                    <a:lumMod val="65000"/>
                  </a:schemeClr>
                </a:solidFill>
                <a:latin typeface="Arial" charset="0"/>
              </a:rPr>
              <a:t>”</a:t>
            </a:r>
            <a:r>
              <a:rPr lang="zh-CN" altLang="en-US" sz="2800" dirty="0">
                <a:solidFill>
                  <a:schemeClr val="bg1">
                    <a:lumMod val="65000"/>
                  </a:schemeClr>
                </a:solidFill>
              </a:rPr>
              <a:t>形式（</a:t>
            </a:r>
            <a:r>
              <a:rPr lang="en-US" altLang="zh-CN" sz="2800" dirty="0">
                <a:solidFill>
                  <a:schemeClr val="bg1">
                    <a:lumMod val="65000"/>
                  </a:schemeClr>
                </a:solidFill>
              </a:rPr>
              <a:t>SQL</a:t>
            </a:r>
            <a:r>
              <a:rPr lang="zh-CN" altLang="en-US" sz="2800" dirty="0">
                <a:solidFill>
                  <a:schemeClr val="bg1">
                    <a:lumMod val="65000"/>
                  </a:schemeClr>
                </a:solidFill>
              </a:rPr>
              <a:t>标准）：</a:t>
            </a:r>
          </a:p>
          <a:p>
            <a:pPr eaLnBrk="1" hangingPunct="1">
              <a:buFont typeface="Wingdings" pitchFamily="2" charset="2"/>
              <a:buNone/>
            </a:pPr>
            <a:r>
              <a:rPr lang="en-US" altLang="zh-CN" sz="2800" dirty="0">
                <a:solidFill>
                  <a:schemeClr val="bg1">
                    <a:lumMod val="65000"/>
                  </a:schemeClr>
                </a:solidFill>
              </a:rPr>
              <a:t>	</a:t>
            </a:r>
            <a:r>
              <a:rPr lang="en-US" altLang="zh-CN" sz="2400" dirty="0">
                <a:solidFill>
                  <a:schemeClr val="bg1">
                    <a:lumMod val="65000"/>
                  </a:schemeClr>
                </a:solidFill>
              </a:rPr>
              <a:t>SELECT * </a:t>
            </a:r>
          </a:p>
          <a:p>
            <a:pPr eaLnBrk="1" hangingPunct="1">
              <a:buFont typeface="Wingdings" pitchFamily="2" charset="2"/>
              <a:buNone/>
            </a:pPr>
            <a:r>
              <a:rPr lang="en-US" altLang="zh-CN" sz="2400" dirty="0">
                <a:solidFill>
                  <a:schemeClr val="bg1">
                    <a:lumMod val="65000"/>
                  </a:schemeClr>
                </a:solidFill>
              </a:rPr>
              <a:t>     FROM Student INNER JOIN SC ON </a:t>
            </a:r>
            <a:r>
              <a:rPr lang="en-US" altLang="zh-CN" sz="2400" dirty="0" err="1">
                <a:solidFill>
                  <a:schemeClr val="bg1">
                    <a:lumMod val="65000"/>
                  </a:schemeClr>
                </a:solidFill>
              </a:rPr>
              <a:t>Student.Sno</a:t>
            </a:r>
            <a:r>
              <a:rPr lang="en-US" altLang="zh-CN" sz="2400" dirty="0">
                <a:solidFill>
                  <a:schemeClr val="bg1">
                    <a:lumMod val="65000"/>
                  </a:schemeClr>
                </a:solidFill>
              </a:rPr>
              <a:t>=</a:t>
            </a:r>
            <a:r>
              <a:rPr lang="en-US" altLang="zh-CN" sz="2400" dirty="0" err="1">
                <a:solidFill>
                  <a:schemeClr val="bg1">
                    <a:lumMod val="65000"/>
                  </a:schemeClr>
                </a:solidFill>
              </a:rPr>
              <a:t>SC.Sno</a:t>
            </a:r>
            <a:r>
              <a:rPr lang="en-US" altLang="zh-CN" sz="2400" dirty="0">
                <a:solidFill>
                  <a:schemeClr val="bg1">
                    <a:lumMod val="65000"/>
                  </a:schemeClr>
                </a:solidFill>
              </a:rPr>
              <a:t>;</a:t>
            </a:r>
          </a:p>
          <a:p>
            <a:pPr eaLnBrk="1" hangingPunct="1"/>
            <a:r>
              <a:rPr lang="zh-CN" altLang="en-US" sz="2800" dirty="0">
                <a:solidFill>
                  <a:schemeClr val="bg1">
                    <a:lumMod val="65000"/>
                  </a:schemeClr>
                </a:solidFill>
              </a:rPr>
              <a:t>例</a:t>
            </a:r>
            <a:r>
              <a:rPr lang="en-US" altLang="zh-CN" sz="2800" dirty="0">
                <a:solidFill>
                  <a:schemeClr val="bg1">
                    <a:lumMod val="65000"/>
                  </a:schemeClr>
                </a:solidFill>
              </a:rPr>
              <a:t>2</a:t>
            </a:r>
            <a:r>
              <a:rPr lang="zh-CN" altLang="en-US" sz="2800" dirty="0">
                <a:solidFill>
                  <a:schemeClr val="bg1">
                    <a:lumMod val="65000"/>
                  </a:schemeClr>
                </a:solidFill>
              </a:rPr>
              <a:t>可改为</a:t>
            </a:r>
            <a:endParaRPr lang="en-US" altLang="zh-CN" sz="2800" dirty="0">
              <a:solidFill>
                <a:schemeClr val="bg1">
                  <a:lumMod val="65000"/>
                </a:schemeClr>
              </a:solidFill>
            </a:endParaRPr>
          </a:p>
          <a:p>
            <a:pPr marL="0" indent="0" eaLnBrk="1" hangingPunct="1">
              <a:buNone/>
            </a:pPr>
            <a:r>
              <a:rPr lang="en-US" altLang="zh-CN" sz="2800" dirty="0">
                <a:solidFill>
                  <a:schemeClr val="bg1">
                    <a:lumMod val="65000"/>
                  </a:schemeClr>
                </a:solidFill>
              </a:rPr>
              <a:t>   select name, course id </a:t>
            </a:r>
          </a:p>
          <a:p>
            <a:pPr marL="0" indent="0" eaLnBrk="1" hangingPunct="1">
              <a:buNone/>
            </a:pPr>
            <a:r>
              <a:rPr lang="en-US" altLang="zh-CN" sz="2800" dirty="0">
                <a:solidFill>
                  <a:schemeClr val="bg1">
                    <a:lumMod val="65000"/>
                  </a:schemeClr>
                </a:solidFill>
              </a:rPr>
              <a:t>   from student natural join takes;</a:t>
            </a:r>
            <a:endParaRPr lang="zh-CN" altLang="en-US" sz="2800" dirty="0">
              <a:solidFill>
                <a:schemeClr val="bg1">
                  <a:lumMod val="65000"/>
                </a:schemeClr>
              </a:solidFill>
            </a:endParaRPr>
          </a:p>
          <a:p>
            <a:pPr eaLnBrk="1" hangingPunct="1"/>
            <a:r>
              <a:rPr lang="zh-CN" altLang="en-US" sz="2800" dirty="0">
                <a:solidFill>
                  <a:schemeClr val="bg1">
                    <a:lumMod val="65000"/>
                  </a:schemeClr>
                </a:solidFill>
              </a:rPr>
              <a:t>例</a:t>
            </a:r>
            <a:r>
              <a:rPr lang="en-US" altLang="zh-CN" sz="2800" dirty="0">
                <a:solidFill>
                  <a:schemeClr val="bg1">
                    <a:lumMod val="65000"/>
                  </a:schemeClr>
                </a:solidFill>
              </a:rPr>
              <a:t>3</a:t>
            </a:r>
            <a:r>
              <a:rPr lang="zh-CN" altLang="en-US" sz="2800" dirty="0">
                <a:solidFill>
                  <a:schemeClr val="bg1">
                    <a:lumMod val="65000"/>
                  </a:schemeClr>
                </a:solidFill>
              </a:rPr>
              <a:t>可改为</a:t>
            </a:r>
            <a:r>
              <a:rPr lang="en-US" altLang="zh-CN" sz="2800" dirty="0">
                <a:solidFill>
                  <a:schemeClr val="bg1">
                    <a:lumMod val="65000"/>
                  </a:schemeClr>
                </a:solidFill>
              </a:rPr>
              <a:t>	</a:t>
            </a:r>
          </a:p>
          <a:p>
            <a:pPr eaLnBrk="1" hangingPunct="1">
              <a:buFont typeface="Wingdings" pitchFamily="2" charset="2"/>
              <a:buNone/>
            </a:pPr>
            <a:r>
              <a:rPr lang="en-US" altLang="zh-CN" sz="2800" dirty="0">
                <a:solidFill>
                  <a:schemeClr val="bg1">
                    <a:lumMod val="65000"/>
                  </a:schemeClr>
                </a:solidFill>
              </a:rPr>
              <a:t>SELECT * FROM </a:t>
            </a:r>
            <a:r>
              <a:rPr lang="en-US" altLang="zh-CN" sz="2800" dirty="0">
                <a:solidFill>
                  <a:schemeClr val="bg1">
                    <a:lumMod val="65000"/>
                  </a:schemeClr>
                </a:solidFill>
                <a:effectLst>
                  <a:outerShdw blurRad="38100" dist="38100" dir="2700000" algn="tl">
                    <a:srgbClr val="000000">
                      <a:alpha val="43137"/>
                    </a:srgbClr>
                  </a:outerShdw>
                </a:effectLst>
              </a:rPr>
              <a:t>Student</a:t>
            </a:r>
            <a:r>
              <a:rPr lang="en-US" altLang="zh-CN" sz="2800" dirty="0">
                <a:solidFill>
                  <a:schemeClr val="bg1">
                    <a:lumMod val="65000"/>
                  </a:schemeClr>
                </a:solidFill>
              </a:rPr>
              <a:t> NATURAL INNER JOIN </a:t>
            </a:r>
            <a:r>
              <a:rPr lang="en-US" altLang="zh-CN" sz="2800" dirty="0">
                <a:solidFill>
                  <a:schemeClr val="bg1">
                    <a:lumMod val="65000"/>
                  </a:schemeClr>
                </a:solidFill>
                <a:effectLst>
                  <a:outerShdw blurRad="38100" dist="38100" dir="2700000" algn="tl">
                    <a:srgbClr val="000000">
                      <a:alpha val="43137"/>
                    </a:srgbClr>
                  </a:outerShdw>
                </a:effectLst>
              </a:rPr>
              <a:t>SC</a:t>
            </a:r>
            <a:r>
              <a:rPr lang="en-US" altLang="zh-CN" sz="2800" dirty="0">
                <a:solidFill>
                  <a:schemeClr val="bg1">
                    <a:lumMod val="65000"/>
                  </a:schemeClr>
                </a:solidFill>
              </a:rPr>
              <a:t>;</a:t>
            </a:r>
          </a:p>
          <a:p>
            <a:pPr eaLnBrk="1" hangingPunct="1">
              <a:buNone/>
            </a:pPr>
            <a:r>
              <a:rPr lang="en-US" altLang="zh-CN" sz="2800" dirty="0">
                <a:solidFill>
                  <a:schemeClr val="bg1">
                    <a:lumMod val="65000"/>
                  </a:schemeClr>
                </a:solidFill>
              </a:rPr>
              <a:t>Or SELECT * FROM </a:t>
            </a:r>
            <a:r>
              <a:rPr lang="en-US" altLang="zh-CN" sz="2800" dirty="0">
                <a:solidFill>
                  <a:schemeClr val="bg1">
                    <a:lumMod val="65000"/>
                  </a:schemeClr>
                </a:solidFill>
                <a:effectLst>
                  <a:outerShdw blurRad="38100" dist="38100" dir="2700000" algn="tl">
                    <a:srgbClr val="000000">
                      <a:alpha val="43137"/>
                    </a:srgbClr>
                  </a:outerShdw>
                </a:effectLst>
              </a:rPr>
              <a:t>Student</a:t>
            </a:r>
            <a:r>
              <a:rPr lang="en-US" altLang="zh-CN" sz="2800" dirty="0">
                <a:solidFill>
                  <a:schemeClr val="bg1">
                    <a:lumMod val="65000"/>
                  </a:schemeClr>
                </a:solidFill>
              </a:rPr>
              <a:t> NATURAL JOIN </a:t>
            </a:r>
            <a:r>
              <a:rPr lang="en-US" altLang="zh-CN" sz="2800" dirty="0">
                <a:solidFill>
                  <a:schemeClr val="bg1">
                    <a:lumMod val="65000"/>
                  </a:schemeClr>
                </a:solidFill>
                <a:effectLst>
                  <a:outerShdw blurRad="38100" dist="38100" dir="2700000" algn="tl">
                    <a:srgbClr val="000000">
                      <a:alpha val="43137"/>
                    </a:srgbClr>
                  </a:outerShdw>
                </a:effectLst>
              </a:rPr>
              <a:t>SC</a:t>
            </a:r>
            <a:r>
              <a:rPr lang="en-US" altLang="zh-CN" sz="2800" dirty="0">
                <a:solidFill>
                  <a:schemeClr val="bg1">
                    <a:lumMod val="65000"/>
                  </a:schemeClr>
                </a:solidFill>
              </a:rPr>
              <a:t>;</a:t>
            </a:r>
          </a:p>
          <a:p>
            <a:pPr eaLnBrk="1" hangingPunct="1">
              <a:buFont typeface="Wingdings" pitchFamily="2" charset="2"/>
              <a:buNone/>
            </a:pPr>
            <a:endParaRPr lang="en-US" altLang="zh-CN" sz="2800" dirty="0">
              <a:solidFill>
                <a:schemeClr val="bg1">
                  <a:lumMod val="65000"/>
                </a:schemeClr>
              </a:solidFill>
            </a:endParaRPr>
          </a:p>
          <a:p>
            <a:pPr eaLnBrk="1" hangingPunct="1">
              <a:buFont typeface="Wingdings" pitchFamily="2" charset="2"/>
              <a:buNone/>
            </a:pPr>
            <a:endParaRPr lang="zh-CN" altLang="en-US" sz="2800" dirty="0">
              <a:solidFill>
                <a:schemeClr val="bg1">
                  <a:lumMod val="65000"/>
                </a:schemeClr>
              </a:solidFill>
            </a:endParaRPr>
          </a:p>
        </p:txBody>
      </p:sp>
      <p:sp>
        <p:nvSpPr>
          <p:cNvPr id="4" name="矩形 3">
            <a:extLst>
              <a:ext uri="{FF2B5EF4-FFF2-40B4-BE49-F238E27FC236}">
                <a16:creationId xmlns:a16="http://schemas.microsoft.com/office/drawing/2014/main" id="{BC58DE47-4425-83BE-88E6-B571757B8F82}"/>
              </a:ext>
            </a:extLst>
          </p:cNvPr>
          <p:cNvSpPr/>
          <p:nvPr/>
        </p:nvSpPr>
        <p:spPr bwMode="auto">
          <a:xfrm>
            <a:off x="1668859" y="4309448"/>
            <a:ext cx="6242050" cy="1200329"/>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ahoma" pitchFamily="34" charset="0"/>
                <a:ea typeface="宋体" pitchFamily="2" charset="-122"/>
                <a:cs typeface="Arial" pitchFamily="34" charset="0"/>
              </a:rPr>
              <a:t>自然连接只考虑两个关系的模式中</a:t>
            </a:r>
            <a:r>
              <a:rPr kumimoji="1" lang="zh-CN" altLang="en-US" sz="2400" b="0" i="0" u="none" strike="noStrike" cap="none" normalizeH="0" baseline="0" dirty="0">
                <a:ln>
                  <a:noFill/>
                </a:ln>
                <a:solidFill>
                  <a:srgbClr val="FF0000"/>
                </a:solidFill>
                <a:effectLst/>
                <a:latin typeface="Tahoma" pitchFamily="34" charset="0"/>
                <a:ea typeface="宋体" pitchFamily="2" charset="-122"/>
                <a:cs typeface="Arial" pitchFamily="34" charset="0"/>
              </a:rPr>
              <a:t>都出现过</a:t>
            </a:r>
            <a:r>
              <a:rPr kumimoji="1" lang="zh-CN" altLang="en-US" sz="2400" b="0" i="0" u="none" strike="noStrike" cap="none" normalizeH="0" baseline="0" dirty="0">
                <a:ln>
                  <a:noFill/>
                </a:ln>
                <a:effectLst/>
                <a:latin typeface="Tahoma" pitchFamily="34" charset="0"/>
                <a:ea typeface="宋体" pitchFamily="2" charset="-122"/>
                <a:cs typeface="Arial" pitchFamily="34" charset="0"/>
              </a:rPr>
              <a:t>的属性列上</a:t>
            </a:r>
            <a:r>
              <a:rPr kumimoji="1" lang="zh-CN" altLang="en-US" sz="2400" b="1" i="0" u="none" strike="noStrike" cap="none" normalizeH="0" baseline="0" dirty="0">
                <a:ln>
                  <a:noFill/>
                </a:ln>
                <a:effectLst/>
                <a:latin typeface="Tahoma" pitchFamily="34" charset="0"/>
                <a:ea typeface="宋体" pitchFamily="2" charset="-122"/>
                <a:cs typeface="Arial" pitchFamily="34" charset="0"/>
              </a:rPr>
              <a:t>取值相同</a:t>
            </a:r>
            <a:r>
              <a:rPr kumimoji="1" lang="zh-CN" altLang="en-US" sz="2400" b="0" i="0" u="none" strike="noStrike" cap="none" normalizeH="0" baseline="0" dirty="0">
                <a:ln>
                  <a:noFill/>
                </a:ln>
                <a:effectLst/>
                <a:latin typeface="Tahoma" pitchFamily="34" charset="0"/>
                <a:ea typeface="宋体" pitchFamily="2" charset="-122"/>
                <a:cs typeface="Arial" pitchFamily="34" charset="0"/>
              </a:rPr>
              <a:t>的</a:t>
            </a:r>
            <a:r>
              <a:rPr kumimoji="1" lang="zh-CN" altLang="en-US" sz="2400" b="1" i="0" u="none" strike="noStrike" cap="none" normalizeH="0" baseline="0" dirty="0">
                <a:ln>
                  <a:noFill/>
                </a:ln>
                <a:effectLst/>
                <a:latin typeface="Tahoma" pitchFamily="34" charset="0"/>
                <a:ea typeface="宋体" pitchFamily="2" charset="-122"/>
                <a:cs typeface="Arial" pitchFamily="34" charset="0"/>
              </a:rPr>
              <a:t>元组对</a:t>
            </a:r>
            <a:r>
              <a:rPr kumimoji="1" lang="zh-CN" altLang="en-US" sz="2400" b="0" i="0" u="none" strike="noStrike" cap="none" normalizeH="0" baseline="0" dirty="0">
                <a:ln>
                  <a:noFill/>
                </a:ln>
                <a:solidFill>
                  <a:schemeClr val="tx1"/>
                </a:solidFill>
                <a:effectLst/>
                <a:latin typeface="Tahoma" pitchFamily="34" charset="0"/>
                <a:ea typeface="宋体" pitchFamily="2" charset="-122"/>
                <a:cs typeface="Arial" pitchFamily="34" charset="0"/>
              </a:rPr>
              <a:t>，且默认</a:t>
            </a:r>
            <a:r>
              <a:rPr kumimoji="1" lang="zh-CN" altLang="en-US" sz="2400" b="0" i="0" u="none" strike="noStrike" cap="none" normalizeH="0" baseline="0" dirty="0">
                <a:ln>
                  <a:noFill/>
                </a:ln>
                <a:solidFill>
                  <a:srgbClr val="FF0000"/>
                </a:solidFill>
                <a:effectLst/>
                <a:latin typeface="Tahoma" pitchFamily="34" charset="0"/>
                <a:ea typeface="宋体" pitchFamily="2" charset="-122"/>
                <a:cs typeface="Arial" pitchFamily="34" charset="0"/>
              </a:rPr>
              <a:t>去掉重复的属性列</a:t>
            </a:r>
          </a:p>
        </p:txBody>
      </p:sp>
      <p:sp>
        <p:nvSpPr>
          <p:cNvPr id="9" name="矩形 8">
            <a:extLst>
              <a:ext uri="{FF2B5EF4-FFF2-40B4-BE49-F238E27FC236}">
                <a16:creationId xmlns:a16="http://schemas.microsoft.com/office/drawing/2014/main" id="{89A6D7DE-009F-3136-C6B6-485B7AA6C3F1}"/>
              </a:ext>
            </a:extLst>
          </p:cNvPr>
          <p:cNvSpPr/>
          <p:nvPr/>
        </p:nvSpPr>
        <p:spPr>
          <a:xfrm>
            <a:off x="1668859" y="2828835"/>
            <a:ext cx="6226969" cy="1200329"/>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pPr algn="l"/>
            <a:r>
              <a:rPr lang="zh-CN" altLang="en-US" dirty="0">
                <a:latin typeface="Arial" pitchFamily="34" charset="0"/>
                <a:cs typeface="Arial" pitchFamily="34" charset="0"/>
              </a:rPr>
              <a:t>内连接是从结果表中删除与其他被</a:t>
            </a:r>
            <a:r>
              <a:rPr lang="zh-CN" altLang="en-US" dirty="0">
                <a:latin typeface="Arial" pitchFamily="34" charset="0"/>
                <a:cs typeface="Arial" pitchFamily="34" charset="0"/>
                <a:hlinkClick r:id="rId3"/>
              </a:rPr>
              <a:t>连接表</a:t>
            </a:r>
            <a:r>
              <a:rPr lang="zh-CN" altLang="en-US" dirty="0">
                <a:latin typeface="Arial" pitchFamily="34" charset="0"/>
                <a:cs typeface="Arial" pitchFamily="34" charset="0"/>
              </a:rPr>
              <a:t>中没有匹配行的所有行，所以内连接可能会丢失信息</a:t>
            </a:r>
            <a:endParaRPr lang="zh-CN" altLang="en-US" dirty="0"/>
          </a:p>
        </p:txBody>
      </p:sp>
      <p:sp>
        <p:nvSpPr>
          <p:cNvPr id="3" name="灯片编号占位符 2">
            <a:extLst>
              <a:ext uri="{FF2B5EF4-FFF2-40B4-BE49-F238E27FC236}">
                <a16:creationId xmlns:a16="http://schemas.microsoft.com/office/drawing/2014/main" id="{34A8684B-A42F-FF19-4C0C-5ECD31F10400}"/>
              </a:ext>
            </a:extLst>
          </p:cNvPr>
          <p:cNvSpPr>
            <a:spLocks noGrp="1"/>
          </p:cNvSpPr>
          <p:nvPr>
            <p:ph type="sldNum" sz="quarter" idx="12"/>
          </p:nvPr>
        </p:nvSpPr>
        <p:spPr/>
        <p:txBody>
          <a:bodyPr/>
          <a:lstStyle/>
          <a:p>
            <a:pPr>
              <a:defRPr/>
            </a:pPr>
            <a:fld id="{E0CD82EA-F7BE-454B-A83E-18830F6C5424}" type="slidenum">
              <a:rPr lang="en-US" altLang="zh-CN" smtClean="0"/>
              <a:pPr>
                <a:defRPr/>
              </a:pPr>
              <a:t>14</a:t>
            </a:fld>
            <a:r>
              <a:rPr lang="en-US" altLang="zh-CN"/>
              <a:t>/138</a:t>
            </a:r>
            <a:endParaRPr lang="zh-CN" altLang="en-US" dirty="0"/>
          </a:p>
        </p:txBody>
      </p:sp>
    </p:spTree>
    <p:extLst>
      <p:ext uri="{BB962C8B-B14F-4D97-AF65-F5344CB8AC3E}">
        <p14:creationId xmlns:p14="http://schemas.microsoft.com/office/powerpoint/2010/main" val="29811698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B857DE4A-D1D2-4DAA-B027-3F3C3079455D}" type="datetime1">
              <a:rPr kumimoji="0" lang="zh-CN" altLang="en-US" sz="1400" smtClean="0"/>
              <a:t>2025/10/15</a:t>
            </a:fld>
            <a:endParaRPr kumimoji="0" lang="en-US" altLang="zh-CN" sz="1400"/>
          </a:p>
        </p:txBody>
      </p:sp>
      <p:sp>
        <p:nvSpPr>
          <p:cNvPr id="101379"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1381"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101382" name="Rectangle 3"/>
          <p:cNvSpPr>
            <a:spLocks noGrp="1" noChangeArrowheads="1"/>
          </p:cNvSpPr>
          <p:nvPr>
            <p:ph type="body" idx="1"/>
          </p:nvPr>
        </p:nvSpPr>
        <p:spPr/>
        <p:txBody>
          <a:bodyPr/>
          <a:lstStyle/>
          <a:p>
            <a:r>
              <a:rPr lang="zh-CN" altLang="en-US" sz="2400" dirty="0"/>
              <a:t>自然连接的结果是</a:t>
            </a:r>
            <a:r>
              <a:rPr lang="zh-CN" altLang="en-US" sz="2400" b="1" dirty="0"/>
              <a:t>关系</a:t>
            </a:r>
            <a:r>
              <a:rPr lang="zh-CN" altLang="en-US" sz="2400" dirty="0"/>
              <a:t>，从概念上讲，可以将</a:t>
            </a:r>
            <a:r>
              <a:rPr lang="en-US" altLang="zh-CN" sz="2400" dirty="0"/>
              <a:t>from</a:t>
            </a:r>
            <a:r>
              <a:rPr lang="zh-CN" altLang="en-US" sz="2400" dirty="0"/>
              <a:t>子句中</a:t>
            </a:r>
            <a:r>
              <a:rPr lang="en-US" altLang="zh-CN" sz="2400" dirty="0"/>
              <a:t>”student natural join takes”</a:t>
            </a:r>
            <a:r>
              <a:rPr lang="zh-CN" altLang="en-US" sz="2400" dirty="0"/>
              <a:t>表达式</a:t>
            </a:r>
            <a:r>
              <a:rPr lang="zh-CN" altLang="en-US" sz="2400" b="1" dirty="0">
                <a:solidFill>
                  <a:srgbClr val="C00000"/>
                </a:solidFill>
              </a:rPr>
              <a:t>替换</a:t>
            </a:r>
            <a:r>
              <a:rPr lang="zh-CN" altLang="en-US" sz="2400" dirty="0"/>
              <a:t>为通过该自然连接所得到的关系，进而在这个关系上</a:t>
            </a:r>
            <a:r>
              <a:rPr lang="zh-CN" altLang="en-US" sz="2400" dirty="0">
                <a:solidFill>
                  <a:srgbClr val="0000FF"/>
                </a:solidFill>
              </a:rPr>
              <a:t>再执行</a:t>
            </a:r>
            <a:r>
              <a:rPr lang="en-US" altLang="zh-CN" sz="2400" dirty="0"/>
              <a:t>where </a:t>
            </a:r>
            <a:r>
              <a:rPr lang="zh-CN" altLang="en-US" sz="2400" dirty="0"/>
              <a:t>和 </a:t>
            </a:r>
            <a:r>
              <a:rPr lang="en-US" altLang="zh-CN" sz="2400" dirty="0"/>
              <a:t>select</a:t>
            </a:r>
            <a:r>
              <a:rPr lang="zh-CN" altLang="en-US" sz="2400" dirty="0"/>
              <a:t>子句。</a:t>
            </a:r>
          </a:p>
        </p:txBody>
      </p:sp>
      <p:sp>
        <p:nvSpPr>
          <p:cNvPr id="4" name="文本框 3">
            <a:extLst>
              <a:ext uri="{FF2B5EF4-FFF2-40B4-BE49-F238E27FC236}">
                <a16:creationId xmlns:a16="http://schemas.microsoft.com/office/drawing/2014/main" id="{CEC80182-E1D4-619E-E1A4-A9DD4611C96E}"/>
              </a:ext>
            </a:extLst>
          </p:cNvPr>
          <p:cNvSpPr txBox="1"/>
          <p:nvPr/>
        </p:nvSpPr>
        <p:spPr>
          <a:xfrm>
            <a:off x="1295400" y="2923894"/>
            <a:ext cx="7467600" cy="1200329"/>
          </a:xfrm>
          <a:prstGeom prst="rect">
            <a:avLst/>
          </a:prstGeom>
          <a:noFill/>
        </p:spPr>
        <p:txBody>
          <a:bodyPr wrap="square">
            <a:spAutoFit/>
          </a:bodyPr>
          <a:lstStyle/>
          <a:p>
            <a:pPr algn="l"/>
            <a:r>
              <a:rPr lang="en-US" altLang="zh-CN" sz="2400" b="0" u="none" strike="noStrike" baseline="0" dirty="0">
                <a:latin typeface="+mn-lt"/>
              </a:rPr>
              <a:t>select A</a:t>
            </a:r>
            <a:r>
              <a:rPr lang="en-US" altLang="zh-CN" sz="800" b="0" u="none" strike="noStrike" baseline="0" dirty="0">
                <a:latin typeface="+mn-lt"/>
              </a:rPr>
              <a:t>1</a:t>
            </a:r>
            <a:r>
              <a:rPr lang="en-US" altLang="zh-CN" sz="2400" b="0" u="none" strike="noStrike" baseline="0" dirty="0">
                <a:latin typeface="+mn-lt"/>
              </a:rPr>
              <a:t>, A</a:t>
            </a:r>
            <a:r>
              <a:rPr lang="en-US" altLang="zh-CN" sz="800" b="0" u="none" strike="noStrike" baseline="0" dirty="0">
                <a:latin typeface="+mn-lt"/>
              </a:rPr>
              <a:t>2</a:t>
            </a:r>
            <a:r>
              <a:rPr lang="en-US" altLang="zh-CN" sz="2400" b="0" u="none" strike="noStrike" baseline="0" dirty="0">
                <a:latin typeface="+mn-lt"/>
              </a:rPr>
              <a:t>,…, A</a:t>
            </a:r>
            <a:r>
              <a:rPr lang="en-US" altLang="zh-CN" sz="800" b="0" u="none" strike="noStrike" baseline="0" dirty="0">
                <a:latin typeface="+mn-lt"/>
              </a:rPr>
              <a:t>n</a:t>
            </a:r>
          </a:p>
          <a:p>
            <a:pPr algn="l"/>
            <a:r>
              <a:rPr lang="en-US" altLang="zh-CN" sz="2400" b="0" u="none" strike="noStrike" baseline="0" dirty="0">
                <a:latin typeface="+mn-lt"/>
              </a:rPr>
              <a:t>from r</a:t>
            </a:r>
            <a:r>
              <a:rPr lang="en-US" altLang="zh-CN" sz="800" b="0" u="none" strike="noStrike" baseline="0" dirty="0">
                <a:latin typeface="+mn-lt"/>
              </a:rPr>
              <a:t>1</a:t>
            </a:r>
            <a:r>
              <a:rPr lang="en-US" altLang="zh-CN" sz="800" b="0" u="none" strike="noStrike" baseline="0" dirty="0">
                <a:solidFill>
                  <a:srgbClr val="0000FF"/>
                </a:solidFill>
                <a:latin typeface="+mn-lt"/>
              </a:rPr>
              <a:t> </a:t>
            </a:r>
            <a:r>
              <a:rPr lang="en-US" altLang="zh-CN" sz="2400" b="0" u="none" strike="noStrike" baseline="0" dirty="0">
                <a:solidFill>
                  <a:srgbClr val="0000FF"/>
                </a:solidFill>
                <a:latin typeface="+mn-lt"/>
              </a:rPr>
              <a:t>natural join </a:t>
            </a:r>
            <a:r>
              <a:rPr lang="en-US" altLang="zh-CN" sz="2400" b="0" u="none" strike="noStrike" baseline="0" dirty="0">
                <a:latin typeface="+mn-lt"/>
              </a:rPr>
              <a:t>r</a:t>
            </a:r>
            <a:r>
              <a:rPr lang="en-US" altLang="zh-CN" sz="800" b="0" u="none" strike="noStrike" baseline="0" dirty="0">
                <a:latin typeface="+mn-lt"/>
              </a:rPr>
              <a:t>2 </a:t>
            </a:r>
            <a:r>
              <a:rPr lang="en-US" altLang="zh-CN" sz="2400" b="0" u="none" strike="noStrike" baseline="0" dirty="0">
                <a:solidFill>
                  <a:srgbClr val="0000FF"/>
                </a:solidFill>
                <a:latin typeface="+mn-lt"/>
              </a:rPr>
              <a:t>natural join </a:t>
            </a:r>
            <a:r>
              <a:rPr lang="en-US" altLang="zh-CN" sz="2400" b="0" u="none" strike="noStrike" baseline="0" dirty="0">
                <a:latin typeface="+mn-lt"/>
              </a:rPr>
              <a:t>r</a:t>
            </a:r>
            <a:r>
              <a:rPr lang="en-US" altLang="zh-CN" sz="1600" b="0" u="none" strike="noStrike" baseline="-25000" dirty="0">
                <a:latin typeface="+mn-lt"/>
              </a:rPr>
              <a:t>3</a:t>
            </a:r>
            <a:r>
              <a:rPr lang="en-US" altLang="zh-CN" sz="2400" b="0" u="none" strike="noStrike" baseline="0" dirty="0">
                <a:solidFill>
                  <a:srgbClr val="0000FF"/>
                </a:solidFill>
                <a:latin typeface="+mn-lt"/>
              </a:rPr>
              <a:t>. . .</a:t>
            </a:r>
            <a:r>
              <a:rPr lang="en-US" altLang="zh-CN" dirty="0"/>
              <a:t> r</a:t>
            </a:r>
            <a:r>
              <a:rPr lang="en-US" altLang="zh-CN" sz="800" dirty="0"/>
              <a:t>m-1  </a:t>
            </a:r>
            <a:r>
              <a:rPr lang="en-US" altLang="zh-CN" sz="2400" b="0" u="none" strike="noStrike" baseline="0" dirty="0">
                <a:solidFill>
                  <a:srgbClr val="0000FF"/>
                </a:solidFill>
                <a:latin typeface="+mn-lt"/>
              </a:rPr>
              <a:t>natural join </a:t>
            </a:r>
            <a:r>
              <a:rPr lang="en-US" altLang="zh-CN" sz="2400" b="0" u="none" strike="noStrike" baseline="0" dirty="0">
                <a:latin typeface="+mn-lt"/>
              </a:rPr>
              <a:t>r</a:t>
            </a:r>
            <a:r>
              <a:rPr lang="en-US" altLang="zh-CN" sz="800" b="0" u="none" strike="noStrike" baseline="0" dirty="0">
                <a:latin typeface="+mn-lt"/>
              </a:rPr>
              <a:t>m</a:t>
            </a:r>
          </a:p>
          <a:p>
            <a:pPr algn="l"/>
            <a:r>
              <a:rPr lang="en-US" altLang="zh-CN" sz="2400" b="0" u="none" strike="noStrike" baseline="0" dirty="0">
                <a:latin typeface="+mn-lt"/>
              </a:rPr>
              <a:t>where </a:t>
            </a:r>
            <a:r>
              <a:rPr lang="en-US" altLang="zh-CN" sz="2400" b="0" u="none" strike="noStrike" baseline="0" dirty="0">
                <a:solidFill>
                  <a:srgbClr val="FF0000"/>
                </a:solidFill>
                <a:latin typeface="+mn-lt"/>
              </a:rPr>
              <a:t>P</a:t>
            </a:r>
            <a:r>
              <a:rPr lang="en-US" altLang="zh-CN" sz="2400" b="0" u="none" strike="noStrike" baseline="0" dirty="0">
                <a:latin typeface="+mn-lt"/>
              </a:rPr>
              <a:t>;</a:t>
            </a:r>
            <a:endParaRPr lang="zh-CN" altLang="en-US" dirty="0">
              <a:latin typeface="+mn-lt"/>
            </a:endParaRPr>
          </a:p>
        </p:txBody>
      </p:sp>
      <p:sp>
        <p:nvSpPr>
          <p:cNvPr id="5" name="文本框 4">
            <a:extLst>
              <a:ext uri="{FF2B5EF4-FFF2-40B4-BE49-F238E27FC236}">
                <a16:creationId xmlns:a16="http://schemas.microsoft.com/office/drawing/2014/main" id="{32E4CF45-F72A-A415-24E6-EEED6C4F92D5}"/>
              </a:ext>
            </a:extLst>
          </p:cNvPr>
          <p:cNvSpPr txBox="1"/>
          <p:nvPr/>
        </p:nvSpPr>
        <p:spPr>
          <a:xfrm>
            <a:off x="736600" y="4184183"/>
            <a:ext cx="4493539" cy="461665"/>
          </a:xfrm>
          <a:prstGeom prst="rect">
            <a:avLst/>
          </a:prstGeom>
          <a:noFill/>
        </p:spPr>
        <p:txBody>
          <a:bodyPr wrap="none" rtlCol="0">
            <a:spAutoFit/>
          </a:bodyPr>
          <a:lstStyle/>
          <a:p>
            <a:r>
              <a:rPr lang="zh-CN" altLang="en-US" dirty="0"/>
              <a:t>列出学生及其所选课程的名字。</a:t>
            </a:r>
          </a:p>
        </p:txBody>
      </p:sp>
      <p:sp>
        <p:nvSpPr>
          <p:cNvPr id="7" name="文本框 6">
            <a:extLst>
              <a:ext uri="{FF2B5EF4-FFF2-40B4-BE49-F238E27FC236}">
                <a16:creationId xmlns:a16="http://schemas.microsoft.com/office/drawing/2014/main" id="{B56B64B5-B12D-D7E0-6496-2AAB07505AD2}"/>
              </a:ext>
            </a:extLst>
          </p:cNvPr>
          <p:cNvSpPr txBox="1"/>
          <p:nvPr/>
        </p:nvSpPr>
        <p:spPr>
          <a:xfrm>
            <a:off x="1738769" y="4612789"/>
            <a:ext cx="5971261" cy="1200329"/>
          </a:xfrm>
          <a:prstGeom prst="rect">
            <a:avLst/>
          </a:prstGeom>
          <a:noFill/>
        </p:spPr>
        <p:txBody>
          <a:bodyPr wrap="square">
            <a:spAutoFit/>
          </a:bodyPr>
          <a:lstStyle/>
          <a:p>
            <a:pPr algn="l"/>
            <a:r>
              <a:rPr lang="en-US" altLang="zh-CN" sz="2400" b="0" u="none" strike="noStrike" baseline="0" dirty="0">
                <a:latin typeface="+mn-lt"/>
              </a:rPr>
              <a:t>select name, title</a:t>
            </a:r>
          </a:p>
          <a:p>
            <a:pPr algn="l"/>
            <a:r>
              <a:rPr lang="en-US" altLang="zh-CN" sz="2400" b="0" u="none" strike="noStrike" baseline="0" dirty="0">
                <a:latin typeface="+mn-lt"/>
              </a:rPr>
              <a:t>from student </a:t>
            </a:r>
            <a:r>
              <a:rPr lang="en-US" altLang="zh-CN" sz="2400" b="0" u="none" strike="noStrike" baseline="0" dirty="0">
                <a:solidFill>
                  <a:srgbClr val="0000FF"/>
                </a:solidFill>
                <a:latin typeface="+mn-lt"/>
              </a:rPr>
              <a:t>natural join </a:t>
            </a:r>
            <a:r>
              <a:rPr lang="en-US" altLang="zh-CN" sz="2400" b="0" u="none" strike="noStrike" baseline="0" dirty="0">
                <a:solidFill>
                  <a:srgbClr val="006600"/>
                </a:solidFill>
                <a:latin typeface="+mn-lt"/>
              </a:rPr>
              <a:t>takes</a:t>
            </a:r>
            <a:r>
              <a:rPr lang="en-US" altLang="zh-CN" sz="2400" b="0" u="none" strike="noStrike" baseline="0" dirty="0">
                <a:latin typeface="+mn-lt"/>
              </a:rPr>
              <a:t>, </a:t>
            </a:r>
            <a:r>
              <a:rPr lang="en-US" altLang="zh-CN" sz="2400" b="0" u="none" strike="noStrike" baseline="0" dirty="0">
                <a:solidFill>
                  <a:srgbClr val="800080"/>
                </a:solidFill>
                <a:latin typeface="+mn-lt"/>
              </a:rPr>
              <a:t>course</a:t>
            </a:r>
          </a:p>
          <a:p>
            <a:pPr algn="l"/>
            <a:r>
              <a:rPr lang="en-US" altLang="zh-CN" sz="2400" b="0" u="none" strike="noStrike" baseline="0" dirty="0">
                <a:latin typeface="+mn-lt"/>
              </a:rPr>
              <a:t>where </a:t>
            </a:r>
            <a:r>
              <a:rPr lang="en-US" altLang="zh-CN" sz="2400" b="0" u="none" strike="noStrike" baseline="0" dirty="0" err="1">
                <a:solidFill>
                  <a:srgbClr val="800080"/>
                </a:solidFill>
                <a:latin typeface="+mn-lt"/>
              </a:rPr>
              <a:t>takes.course</a:t>
            </a:r>
            <a:r>
              <a:rPr lang="en-US" altLang="zh-CN" dirty="0" err="1">
                <a:solidFill>
                  <a:srgbClr val="800080"/>
                </a:solidFill>
                <a:latin typeface="+mn-lt"/>
              </a:rPr>
              <a:t>_</a:t>
            </a:r>
            <a:r>
              <a:rPr lang="en-US" altLang="zh-CN" sz="2400" b="0" u="none" strike="noStrike" baseline="0" dirty="0" err="1">
                <a:solidFill>
                  <a:srgbClr val="800080"/>
                </a:solidFill>
                <a:latin typeface="+mn-lt"/>
              </a:rPr>
              <a:t>id</a:t>
            </a:r>
            <a:r>
              <a:rPr lang="en-US" altLang="zh-CN" sz="2400" b="0" u="none" strike="noStrike" baseline="0" dirty="0">
                <a:solidFill>
                  <a:srgbClr val="800080"/>
                </a:solidFill>
                <a:latin typeface="+mn-lt"/>
              </a:rPr>
              <a:t> = </a:t>
            </a:r>
            <a:r>
              <a:rPr lang="en-US" altLang="zh-CN" sz="2400" b="0" u="none" strike="noStrike" baseline="0" dirty="0" err="1">
                <a:solidFill>
                  <a:srgbClr val="800080"/>
                </a:solidFill>
                <a:latin typeface="+mn-lt"/>
              </a:rPr>
              <a:t>course.course_id</a:t>
            </a:r>
            <a:r>
              <a:rPr lang="en-US" altLang="zh-CN" sz="2400" b="0" u="none" strike="noStrike" baseline="0" dirty="0">
                <a:latin typeface="+mn-lt"/>
              </a:rPr>
              <a:t>;</a:t>
            </a:r>
            <a:endParaRPr lang="zh-CN" altLang="en-US" dirty="0">
              <a:latin typeface="+mn-lt"/>
            </a:endParaRPr>
          </a:p>
        </p:txBody>
      </p:sp>
      <p:sp>
        <p:nvSpPr>
          <p:cNvPr id="6" name="灯片编号占位符 5">
            <a:extLst>
              <a:ext uri="{FF2B5EF4-FFF2-40B4-BE49-F238E27FC236}">
                <a16:creationId xmlns:a16="http://schemas.microsoft.com/office/drawing/2014/main" id="{86FD4B27-41A6-BA9B-1B66-9DEC6E435895}"/>
              </a:ext>
            </a:extLst>
          </p:cNvPr>
          <p:cNvSpPr>
            <a:spLocks noGrp="1"/>
          </p:cNvSpPr>
          <p:nvPr>
            <p:ph type="sldNum" sz="quarter" idx="12"/>
          </p:nvPr>
        </p:nvSpPr>
        <p:spPr/>
        <p:txBody>
          <a:bodyPr/>
          <a:lstStyle/>
          <a:p>
            <a:pPr>
              <a:defRPr/>
            </a:pPr>
            <a:fld id="{E0CD82EA-F7BE-454B-A83E-18830F6C5424}" type="slidenum">
              <a:rPr lang="en-US" altLang="zh-CN" smtClean="0"/>
              <a:pPr>
                <a:defRPr/>
              </a:pPr>
              <a:t>15</a:t>
            </a:fld>
            <a:r>
              <a:rPr lang="en-US" altLang="zh-CN"/>
              <a:t>/138</a:t>
            </a:r>
            <a:endParaRPr lang="zh-CN" altLang="en-US" dirty="0"/>
          </a:p>
        </p:txBody>
      </p:sp>
      <p:sp>
        <p:nvSpPr>
          <p:cNvPr id="3" name="文本框 2">
            <a:extLst>
              <a:ext uri="{FF2B5EF4-FFF2-40B4-BE49-F238E27FC236}">
                <a16:creationId xmlns:a16="http://schemas.microsoft.com/office/drawing/2014/main" id="{39DAF961-48FA-A0CB-5864-3A6DAAEA7D2A}"/>
              </a:ext>
            </a:extLst>
          </p:cNvPr>
          <p:cNvSpPr txBox="1"/>
          <p:nvPr/>
        </p:nvSpPr>
        <p:spPr>
          <a:xfrm>
            <a:off x="609600" y="5934670"/>
            <a:ext cx="6096000" cy="923330"/>
          </a:xfrm>
          <a:prstGeom prst="rect">
            <a:avLst/>
          </a:prstGeom>
          <a:solidFill>
            <a:schemeClr val="bg1"/>
          </a:solidFill>
        </p:spPr>
        <p:txBody>
          <a:bodyPr wrap="square" rtlCol="0">
            <a:spAutoFit/>
          </a:bodyPr>
          <a:lstStyle/>
          <a:p>
            <a:pPr algn="l"/>
            <a:r>
              <a:rPr lang="zh-CN" altLang="en-US" sz="1800" dirty="0">
                <a:solidFill>
                  <a:srgbClr val="800080"/>
                </a:solidFill>
              </a:rPr>
              <a:t>student</a:t>
            </a:r>
            <a:r>
              <a:rPr lang="zh-CN" altLang="en-US" sz="1800" dirty="0"/>
              <a:t>(</a:t>
            </a:r>
            <a:r>
              <a:rPr lang="zh-CN" altLang="en-US" sz="1800" u="sng" dirty="0"/>
              <a:t>ID</a:t>
            </a:r>
            <a:r>
              <a:rPr lang="zh-CN" altLang="en-US" sz="1800" dirty="0"/>
              <a:t>, name, dept</a:t>
            </a:r>
            <a:r>
              <a:rPr lang="en-US" altLang="zh-CN" sz="1800" dirty="0"/>
              <a:t>_</a:t>
            </a:r>
            <a:r>
              <a:rPr lang="zh-CN" altLang="en-US" sz="1800" dirty="0"/>
              <a:t>name, tot</a:t>
            </a:r>
            <a:r>
              <a:rPr lang="en-US" altLang="zh-CN" sz="1800" dirty="0"/>
              <a:t>_</a:t>
            </a:r>
            <a:r>
              <a:rPr lang="zh-CN" altLang="en-US" sz="1800" dirty="0"/>
              <a:t>cred)</a:t>
            </a:r>
            <a:r>
              <a:rPr lang="en-US" altLang="zh-CN" sz="1800" dirty="0"/>
              <a:t> //</a:t>
            </a:r>
            <a:r>
              <a:rPr lang="zh-CN" altLang="en-US" sz="1800" dirty="0"/>
              <a:t>学生</a:t>
            </a:r>
            <a:endParaRPr lang="en-US" altLang="zh-CN" sz="1800" dirty="0"/>
          </a:p>
          <a:p>
            <a:pPr algn="l"/>
            <a:r>
              <a:rPr lang="zh-CN" altLang="en-US" sz="1800" dirty="0">
                <a:solidFill>
                  <a:srgbClr val="800080"/>
                </a:solidFill>
              </a:rPr>
              <a:t>takes</a:t>
            </a:r>
            <a:r>
              <a:rPr lang="zh-CN" altLang="en-US" sz="1800" dirty="0"/>
              <a:t>(</a:t>
            </a:r>
            <a:r>
              <a:rPr lang="zh-CN" altLang="en-US" sz="1800" u="sng" dirty="0"/>
              <a:t>ID</a:t>
            </a:r>
            <a:r>
              <a:rPr lang="zh-CN" altLang="en-US" sz="1800" dirty="0"/>
              <a:t>, </a:t>
            </a:r>
            <a:r>
              <a:rPr lang="zh-CN" altLang="en-US" sz="1800" u="sng" dirty="0"/>
              <a:t>course</a:t>
            </a:r>
            <a:r>
              <a:rPr lang="en-US" altLang="zh-CN" sz="1800" u="sng" dirty="0"/>
              <a:t>_</a:t>
            </a:r>
            <a:r>
              <a:rPr lang="zh-CN" altLang="en-US" sz="1800" u="sng" dirty="0"/>
              <a:t>id</a:t>
            </a:r>
            <a:r>
              <a:rPr lang="zh-CN" altLang="en-US" sz="1800" dirty="0"/>
              <a:t>, </a:t>
            </a:r>
            <a:r>
              <a:rPr lang="zh-CN" altLang="en-US" sz="1800" u="sng" dirty="0"/>
              <a:t>sec</a:t>
            </a:r>
            <a:r>
              <a:rPr lang="en-US" altLang="zh-CN" sz="1800" u="sng" dirty="0"/>
              <a:t>_</a:t>
            </a:r>
            <a:r>
              <a:rPr lang="zh-CN" altLang="en-US" sz="1800" u="sng" dirty="0"/>
              <a:t>id</a:t>
            </a:r>
            <a:r>
              <a:rPr lang="zh-CN" altLang="en-US" sz="1800" dirty="0"/>
              <a:t>, </a:t>
            </a:r>
            <a:r>
              <a:rPr lang="zh-CN" altLang="en-US" sz="1800" u="sng" dirty="0"/>
              <a:t>semester</a:t>
            </a:r>
            <a:r>
              <a:rPr lang="zh-CN" altLang="en-US" sz="1800" dirty="0"/>
              <a:t>, </a:t>
            </a:r>
            <a:r>
              <a:rPr lang="zh-CN" altLang="en-US" sz="1800" u="sng" dirty="0"/>
              <a:t>year</a:t>
            </a:r>
            <a:r>
              <a:rPr lang="zh-CN" altLang="en-US" sz="1800" dirty="0"/>
              <a:t>, grade)</a:t>
            </a:r>
            <a:r>
              <a:rPr lang="en-US" altLang="zh-CN" sz="1800" dirty="0"/>
              <a:t> //</a:t>
            </a:r>
            <a:r>
              <a:rPr lang="zh-CN" altLang="en-US" sz="1800" dirty="0"/>
              <a:t>选课</a:t>
            </a:r>
            <a:endParaRPr lang="en-US" altLang="zh-CN" sz="1800" dirty="0"/>
          </a:p>
          <a:p>
            <a:pPr algn="l"/>
            <a:r>
              <a:rPr lang="zh-CN" altLang="en-US" sz="1800" dirty="0">
                <a:solidFill>
                  <a:srgbClr val="800080"/>
                </a:solidFill>
              </a:rPr>
              <a:t>course</a:t>
            </a:r>
            <a:r>
              <a:rPr lang="zh-CN" altLang="en-US" sz="1800" dirty="0"/>
              <a:t>(</a:t>
            </a:r>
            <a:r>
              <a:rPr lang="zh-CN" altLang="en-US" sz="1800" u="sng" dirty="0"/>
              <a:t>course</a:t>
            </a:r>
            <a:r>
              <a:rPr lang="en-US" altLang="zh-CN" sz="1800" u="sng" dirty="0"/>
              <a:t>_</a:t>
            </a:r>
            <a:r>
              <a:rPr lang="zh-CN" altLang="en-US" sz="1800" u="sng" dirty="0"/>
              <a:t>id</a:t>
            </a:r>
            <a:r>
              <a:rPr lang="zh-CN" altLang="en-US" sz="1800" dirty="0"/>
              <a:t>, title, </a:t>
            </a:r>
            <a:r>
              <a:rPr lang="zh-CN" altLang="en-US" sz="1800" dirty="0">
                <a:solidFill>
                  <a:srgbClr val="0000FF"/>
                </a:solidFill>
              </a:rPr>
              <a:t>dept</a:t>
            </a:r>
            <a:r>
              <a:rPr lang="en-US" altLang="zh-CN" sz="1800" dirty="0">
                <a:solidFill>
                  <a:srgbClr val="0000FF"/>
                </a:solidFill>
              </a:rPr>
              <a:t>_</a:t>
            </a:r>
            <a:r>
              <a:rPr lang="zh-CN" altLang="en-US" sz="1800" dirty="0">
                <a:solidFill>
                  <a:srgbClr val="0000FF"/>
                </a:solidFill>
              </a:rPr>
              <a:t>name</a:t>
            </a:r>
            <a:r>
              <a:rPr lang="zh-CN" altLang="en-US" sz="1800" dirty="0"/>
              <a:t>, credits)</a:t>
            </a:r>
            <a:r>
              <a:rPr lang="en-US" altLang="zh-CN" sz="1800" dirty="0"/>
              <a:t>  //</a:t>
            </a:r>
            <a:r>
              <a:rPr lang="zh-CN" altLang="en-US" sz="1800" dirty="0"/>
              <a:t>课程</a:t>
            </a:r>
            <a:endParaRPr lang="en-US" altLang="zh-CN" sz="1800" dirty="0"/>
          </a:p>
        </p:txBody>
      </p:sp>
    </p:spTree>
    <p:extLst>
      <p:ext uri="{BB962C8B-B14F-4D97-AF65-F5344CB8AC3E}">
        <p14:creationId xmlns:p14="http://schemas.microsoft.com/office/powerpoint/2010/main" val="33686434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直接连接符 19">
            <a:extLst>
              <a:ext uri="{FF2B5EF4-FFF2-40B4-BE49-F238E27FC236}">
                <a16:creationId xmlns:a16="http://schemas.microsoft.com/office/drawing/2014/main" id="{E27C5CCB-55C5-ADFF-358C-556B28CC87EF}"/>
              </a:ext>
            </a:extLst>
          </p:cNvPr>
          <p:cNvCxnSpPr/>
          <p:nvPr/>
        </p:nvCxnSpPr>
        <p:spPr bwMode="auto">
          <a:xfrm>
            <a:off x="2170570" y="3131017"/>
            <a:ext cx="4687430" cy="0"/>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101378"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5901BECC-94A1-4F86-83B5-3B3FAF570486}" type="datetime1">
              <a:rPr kumimoji="0" lang="zh-CN" altLang="en-US" sz="1400" smtClean="0"/>
              <a:t>2025/10/15</a:t>
            </a:fld>
            <a:endParaRPr kumimoji="0" lang="en-US" altLang="zh-CN" sz="1400"/>
          </a:p>
        </p:txBody>
      </p:sp>
      <p:sp>
        <p:nvSpPr>
          <p:cNvPr id="101379"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1381"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5" name="文本框 4">
            <a:extLst>
              <a:ext uri="{FF2B5EF4-FFF2-40B4-BE49-F238E27FC236}">
                <a16:creationId xmlns:a16="http://schemas.microsoft.com/office/drawing/2014/main" id="{32E4CF45-F72A-A415-24E6-EEED6C4F92D5}"/>
              </a:ext>
            </a:extLst>
          </p:cNvPr>
          <p:cNvSpPr txBox="1"/>
          <p:nvPr/>
        </p:nvSpPr>
        <p:spPr>
          <a:xfrm>
            <a:off x="615109" y="1447800"/>
            <a:ext cx="4634923" cy="461665"/>
          </a:xfrm>
          <a:prstGeom prst="rect">
            <a:avLst/>
          </a:prstGeom>
          <a:noFill/>
        </p:spPr>
        <p:txBody>
          <a:bodyPr wrap="none" rtlCol="0">
            <a:spAutoFit/>
          </a:bodyPr>
          <a:lstStyle/>
          <a:p>
            <a:r>
              <a:rPr lang="zh-CN" altLang="en-US" dirty="0"/>
              <a:t>列出学生及其所选课程的名字。</a:t>
            </a:r>
          </a:p>
        </p:txBody>
      </p:sp>
      <p:sp>
        <p:nvSpPr>
          <p:cNvPr id="7" name="文本框 6">
            <a:extLst>
              <a:ext uri="{FF2B5EF4-FFF2-40B4-BE49-F238E27FC236}">
                <a16:creationId xmlns:a16="http://schemas.microsoft.com/office/drawing/2014/main" id="{B56B64B5-B12D-D7E0-6496-2AAB07505AD2}"/>
              </a:ext>
            </a:extLst>
          </p:cNvPr>
          <p:cNvSpPr txBox="1"/>
          <p:nvPr/>
        </p:nvSpPr>
        <p:spPr>
          <a:xfrm>
            <a:off x="1162051" y="1930688"/>
            <a:ext cx="6705600" cy="1200329"/>
          </a:xfrm>
          <a:prstGeom prst="rect">
            <a:avLst/>
          </a:prstGeom>
          <a:noFill/>
        </p:spPr>
        <p:txBody>
          <a:bodyPr wrap="square">
            <a:spAutoFit/>
          </a:bodyPr>
          <a:lstStyle/>
          <a:p>
            <a:pPr algn="l"/>
            <a:r>
              <a:rPr lang="en-US" altLang="zh-CN" sz="2400" b="0" i="0" u="none" strike="noStrike" baseline="0" dirty="0">
                <a:latin typeface="+mn-lt"/>
              </a:rPr>
              <a:t>select </a:t>
            </a:r>
            <a:r>
              <a:rPr lang="en-US" altLang="zh-CN" sz="2400" b="0" i="1" u="none" strike="noStrike" baseline="0" dirty="0">
                <a:latin typeface="+mn-lt"/>
              </a:rPr>
              <a:t>name</a:t>
            </a:r>
            <a:r>
              <a:rPr lang="en-US" altLang="zh-CN" sz="2400" b="0" i="0" u="none" strike="noStrike" baseline="0" dirty="0">
                <a:latin typeface="+mn-lt"/>
              </a:rPr>
              <a:t>, </a:t>
            </a:r>
            <a:r>
              <a:rPr lang="en-US" altLang="zh-CN" sz="2400" b="0" i="1" u="none" strike="noStrike" baseline="0" dirty="0">
                <a:latin typeface="+mn-lt"/>
              </a:rPr>
              <a:t>title</a:t>
            </a:r>
          </a:p>
          <a:p>
            <a:pPr algn="l"/>
            <a:r>
              <a:rPr lang="en-US" altLang="zh-CN" sz="2400" b="0" i="0" u="none" strike="noStrike" baseline="0" dirty="0">
                <a:latin typeface="+mn-lt"/>
              </a:rPr>
              <a:t>from </a:t>
            </a:r>
            <a:r>
              <a:rPr lang="en-US" altLang="zh-CN" sz="2400" b="0" i="1" u="sng" strike="noStrike" baseline="0" dirty="0">
                <a:latin typeface="+mn-lt"/>
              </a:rPr>
              <a:t>student </a:t>
            </a:r>
            <a:r>
              <a:rPr lang="en-US" altLang="zh-CN" sz="2400" b="0" i="0" u="sng" strike="noStrike" baseline="0" dirty="0">
                <a:solidFill>
                  <a:srgbClr val="0000FF"/>
                </a:solidFill>
                <a:latin typeface="+mn-lt"/>
              </a:rPr>
              <a:t>natural join </a:t>
            </a:r>
            <a:r>
              <a:rPr lang="en-US" altLang="zh-CN" sz="2400" b="0" i="1" u="sng" strike="noStrike" baseline="0" dirty="0">
                <a:latin typeface="+mn-lt"/>
              </a:rPr>
              <a:t>takes</a:t>
            </a:r>
            <a:r>
              <a:rPr lang="en-US" altLang="zh-CN" sz="2400" b="0" i="0" u="none" strike="noStrike" baseline="0" dirty="0">
                <a:latin typeface="+mn-lt"/>
              </a:rPr>
              <a:t>, </a:t>
            </a:r>
            <a:r>
              <a:rPr lang="en-US" altLang="zh-CN" sz="2400" b="0" i="1" u="none" strike="noStrike" baseline="0" dirty="0">
                <a:latin typeface="+mn-lt"/>
              </a:rPr>
              <a:t>course</a:t>
            </a:r>
          </a:p>
          <a:p>
            <a:pPr algn="l"/>
            <a:r>
              <a:rPr lang="en-US" altLang="zh-CN" sz="2400" b="0" i="0" u="none" strike="noStrike" baseline="0" dirty="0">
                <a:solidFill>
                  <a:srgbClr val="660066"/>
                </a:solidFill>
                <a:latin typeface="+mn-lt"/>
              </a:rPr>
              <a:t>where</a:t>
            </a:r>
            <a:r>
              <a:rPr lang="en-US" altLang="zh-CN" sz="2400" b="0" i="0" u="none" strike="noStrike" baseline="0" dirty="0">
                <a:solidFill>
                  <a:srgbClr val="0000FF"/>
                </a:solidFill>
                <a:latin typeface="+mn-lt"/>
              </a:rPr>
              <a:t> </a:t>
            </a:r>
            <a:r>
              <a:rPr lang="en-US" altLang="zh-CN" sz="2400" b="0" i="1" u="none" strike="noStrike" baseline="0" dirty="0" err="1">
                <a:solidFill>
                  <a:srgbClr val="0000FF"/>
                </a:solidFill>
                <a:latin typeface="+mn-lt"/>
              </a:rPr>
              <a:t>takes</a:t>
            </a:r>
            <a:r>
              <a:rPr lang="en-US" altLang="zh-CN" sz="2400" b="0" i="0" u="none" strike="noStrike" baseline="0" dirty="0" err="1">
                <a:solidFill>
                  <a:srgbClr val="0000FF"/>
                </a:solidFill>
                <a:latin typeface="+mn-lt"/>
              </a:rPr>
              <a:t>.</a:t>
            </a:r>
            <a:r>
              <a:rPr lang="en-US" altLang="zh-CN" sz="2400" b="0" i="1" u="none" strike="noStrike" baseline="0" dirty="0" err="1">
                <a:solidFill>
                  <a:srgbClr val="0000FF"/>
                </a:solidFill>
                <a:latin typeface="+mn-lt"/>
              </a:rPr>
              <a:t>course</a:t>
            </a:r>
            <a:r>
              <a:rPr lang="en-US" altLang="zh-CN" i="1" dirty="0" err="1">
                <a:solidFill>
                  <a:srgbClr val="0000FF"/>
                </a:solidFill>
                <a:latin typeface="+mn-lt"/>
              </a:rPr>
              <a:t>_</a:t>
            </a:r>
            <a:r>
              <a:rPr lang="en-US" altLang="zh-CN" sz="2400" b="0" i="1" u="none" strike="noStrike" baseline="0" dirty="0" err="1">
                <a:solidFill>
                  <a:srgbClr val="0000FF"/>
                </a:solidFill>
                <a:latin typeface="+mn-lt"/>
              </a:rPr>
              <a:t>id</a:t>
            </a:r>
            <a:r>
              <a:rPr lang="en-US" altLang="zh-CN" sz="2400" b="0" i="1" u="none" strike="noStrike" baseline="0" dirty="0">
                <a:solidFill>
                  <a:srgbClr val="0000FF"/>
                </a:solidFill>
                <a:latin typeface="+mn-lt"/>
              </a:rPr>
              <a:t> </a:t>
            </a:r>
            <a:r>
              <a:rPr lang="en-US" altLang="zh-CN" sz="2400" b="0" i="0" u="none" strike="noStrike" baseline="0" dirty="0">
                <a:solidFill>
                  <a:srgbClr val="0000FF"/>
                </a:solidFill>
                <a:latin typeface="+mn-lt"/>
              </a:rPr>
              <a:t>= </a:t>
            </a:r>
            <a:r>
              <a:rPr lang="en-US" altLang="zh-CN" sz="2400" b="0" i="1" u="none" strike="noStrike" baseline="0" dirty="0" err="1">
                <a:solidFill>
                  <a:srgbClr val="0000FF"/>
                </a:solidFill>
                <a:latin typeface="+mn-lt"/>
              </a:rPr>
              <a:t>course</a:t>
            </a:r>
            <a:r>
              <a:rPr lang="en-US" altLang="zh-CN" sz="2400" b="0" i="0" u="none" strike="noStrike" baseline="0" dirty="0" err="1">
                <a:solidFill>
                  <a:srgbClr val="0000FF"/>
                </a:solidFill>
                <a:latin typeface="+mn-lt"/>
              </a:rPr>
              <a:t>.</a:t>
            </a:r>
            <a:r>
              <a:rPr lang="en-US" altLang="zh-CN" sz="2400" b="0" i="1" u="none" strike="noStrike" baseline="0" dirty="0" err="1">
                <a:solidFill>
                  <a:srgbClr val="0000FF"/>
                </a:solidFill>
                <a:latin typeface="+mn-lt"/>
              </a:rPr>
              <a:t>course_id</a:t>
            </a:r>
            <a:r>
              <a:rPr lang="en-US" altLang="zh-CN" sz="2400" b="0" i="0" u="none" strike="noStrike" baseline="0" dirty="0">
                <a:latin typeface="+mn-lt"/>
              </a:rPr>
              <a:t>;</a:t>
            </a:r>
            <a:endParaRPr lang="zh-CN" altLang="en-US" dirty="0">
              <a:latin typeface="+mn-lt"/>
            </a:endParaRPr>
          </a:p>
        </p:txBody>
      </p:sp>
      <p:sp>
        <p:nvSpPr>
          <p:cNvPr id="10" name="文本框 9">
            <a:extLst>
              <a:ext uri="{FF2B5EF4-FFF2-40B4-BE49-F238E27FC236}">
                <a16:creationId xmlns:a16="http://schemas.microsoft.com/office/drawing/2014/main" id="{CE879214-FDEF-79BC-F7F1-EB05B4FC4CC3}"/>
              </a:ext>
            </a:extLst>
          </p:cNvPr>
          <p:cNvSpPr txBox="1"/>
          <p:nvPr/>
        </p:nvSpPr>
        <p:spPr>
          <a:xfrm>
            <a:off x="1143000" y="3581400"/>
            <a:ext cx="7010400" cy="830997"/>
          </a:xfrm>
          <a:prstGeom prst="rect">
            <a:avLst/>
          </a:prstGeom>
          <a:noFill/>
        </p:spPr>
        <p:txBody>
          <a:bodyPr wrap="square">
            <a:spAutoFit/>
          </a:bodyPr>
          <a:lstStyle/>
          <a:p>
            <a:pPr algn="l"/>
            <a:r>
              <a:rPr lang="en-US" altLang="zh-CN" sz="2400" b="0" i="0" u="none" strike="noStrike" baseline="0" dirty="0">
                <a:latin typeface="+mn-lt"/>
              </a:rPr>
              <a:t>select </a:t>
            </a:r>
            <a:r>
              <a:rPr lang="en-US" altLang="zh-CN" sz="2400" b="0" i="1" u="none" strike="noStrike" baseline="0" dirty="0">
                <a:latin typeface="+mn-lt"/>
              </a:rPr>
              <a:t>name</a:t>
            </a:r>
            <a:r>
              <a:rPr lang="en-US" altLang="zh-CN" sz="2400" b="0" i="0" u="none" strike="noStrike" baseline="0" dirty="0">
                <a:latin typeface="+mn-lt"/>
              </a:rPr>
              <a:t>, </a:t>
            </a:r>
            <a:r>
              <a:rPr lang="en-US" altLang="zh-CN" sz="2400" b="0" i="1" u="none" strike="noStrike" baseline="0" dirty="0">
                <a:latin typeface="+mn-lt"/>
              </a:rPr>
              <a:t>title</a:t>
            </a:r>
          </a:p>
          <a:p>
            <a:pPr algn="l"/>
            <a:r>
              <a:rPr lang="en-US" altLang="zh-CN" sz="2400" b="0" i="0" u="none" strike="noStrike" baseline="0" dirty="0">
                <a:latin typeface="+mn-lt"/>
              </a:rPr>
              <a:t>from </a:t>
            </a:r>
            <a:r>
              <a:rPr lang="en-US" altLang="zh-CN" sz="2400" b="0" i="1" u="sng" strike="noStrike" baseline="0" dirty="0">
                <a:latin typeface="+mn-lt"/>
              </a:rPr>
              <a:t>student </a:t>
            </a:r>
            <a:r>
              <a:rPr lang="en-US" altLang="zh-CN" sz="2400" b="0" i="0" u="sng" strike="noStrike" baseline="0" dirty="0">
                <a:solidFill>
                  <a:srgbClr val="0000FF"/>
                </a:solidFill>
                <a:latin typeface="+mn-lt"/>
              </a:rPr>
              <a:t>natural join </a:t>
            </a:r>
            <a:r>
              <a:rPr lang="en-US" altLang="zh-CN" sz="2400" b="0" i="1" u="sng" strike="noStrike" baseline="0" dirty="0">
                <a:latin typeface="+mn-lt"/>
              </a:rPr>
              <a:t>takes </a:t>
            </a:r>
            <a:r>
              <a:rPr lang="en-US" altLang="zh-CN" sz="2400" b="0" i="0" u="none" strike="noStrike" baseline="0" dirty="0">
                <a:solidFill>
                  <a:srgbClr val="0000FF"/>
                </a:solidFill>
                <a:latin typeface="+mn-lt"/>
              </a:rPr>
              <a:t>natural join </a:t>
            </a:r>
            <a:r>
              <a:rPr lang="en-US" altLang="zh-CN" sz="2400" b="0" i="1" u="none" strike="noStrike" baseline="0" dirty="0">
                <a:latin typeface="+mn-lt"/>
              </a:rPr>
              <a:t>course</a:t>
            </a:r>
            <a:r>
              <a:rPr lang="en-US" altLang="zh-CN" sz="2400" b="0" i="0" u="none" strike="noStrike" baseline="0" dirty="0">
                <a:latin typeface="+mn-lt"/>
              </a:rPr>
              <a:t>;</a:t>
            </a:r>
            <a:endParaRPr lang="zh-CN" altLang="en-US" dirty="0">
              <a:latin typeface="+mn-lt"/>
            </a:endParaRPr>
          </a:p>
        </p:txBody>
      </p:sp>
      <p:sp>
        <p:nvSpPr>
          <p:cNvPr id="4" name="文本框 3">
            <a:extLst>
              <a:ext uri="{FF2B5EF4-FFF2-40B4-BE49-F238E27FC236}">
                <a16:creationId xmlns:a16="http://schemas.microsoft.com/office/drawing/2014/main" id="{4B53D92B-98C9-9171-6AA2-D3B7975613B7}"/>
              </a:ext>
            </a:extLst>
          </p:cNvPr>
          <p:cNvSpPr txBox="1"/>
          <p:nvPr/>
        </p:nvSpPr>
        <p:spPr>
          <a:xfrm>
            <a:off x="797838" y="4625370"/>
            <a:ext cx="7203161" cy="830997"/>
          </a:xfrm>
          <a:prstGeom prst="rect">
            <a:avLst/>
          </a:prstGeom>
          <a:noFill/>
        </p:spPr>
        <p:txBody>
          <a:bodyPr wrap="square">
            <a:spAutoFit/>
          </a:bodyPr>
          <a:lstStyle/>
          <a:p>
            <a:pPr algn="l"/>
            <a:r>
              <a:rPr lang="zh-CN" altLang="en-US" dirty="0">
                <a:latin typeface="+mn-lt"/>
              </a:rPr>
              <a:t>自然连接结果关系</a:t>
            </a:r>
            <a:r>
              <a:rPr lang="en-US" altLang="zh-CN" dirty="0">
                <a:latin typeface="+mn-lt"/>
              </a:rPr>
              <a:t>:</a:t>
            </a:r>
          </a:p>
          <a:p>
            <a:pPr algn="l"/>
            <a:r>
              <a:rPr lang="en-US" altLang="zh-CN" sz="2400" b="0" i="0" u="none" strike="noStrike" baseline="0" dirty="0">
                <a:latin typeface="+mn-lt"/>
              </a:rPr>
              <a:t>(</a:t>
            </a:r>
            <a:r>
              <a:rPr lang="en-US" altLang="zh-CN" sz="1800" b="0" i="1" u="none" strike="noStrike" baseline="0" dirty="0">
                <a:latin typeface="+mn-lt"/>
              </a:rPr>
              <a:t>ID</a:t>
            </a:r>
            <a:r>
              <a:rPr lang="en-US" altLang="zh-CN" sz="2400" b="0" i="0" u="none" strike="noStrike" baseline="0" dirty="0">
                <a:latin typeface="+mn-lt"/>
              </a:rPr>
              <a:t>, </a:t>
            </a:r>
            <a:r>
              <a:rPr lang="en-US" altLang="zh-CN" sz="2400" b="0" i="1" u="none" strike="noStrike" baseline="0" dirty="0">
                <a:latin typeface="+mn-lt"/>
              </a:rPr>
              <a:t>name</a:t>
            </a:r>
            <a:r>
              <a:rPr lang="en-US" altLang="zh-CN" sz="2400" b="0" i="0" u="none" strike="noStrike" baseline="0" dirty="0">
                <a:latin typeface="+mn-lt"/>
              </a:rPr>
              <a:t>, </a:t>
            </a:r>
            <a:r>
              <a:rPr lang="en-US" altLang="zh-CN" sz="2400" b="0" i="1" u="none" strike="noStrike" baseline="0" dirty="0" err="1">
                <a:solidFill>
                  <a:srgbClr val="FF0000"/>
                </a:solidFill>
                <a:latin typeface="+mn-lt"/>
              </a:rPr>
              <a:t>dept_name</a:t>
            </a:r>
            <a:r>
              <a:rPr lang="en-US" altLang="zh-CN" sz="2400" b="0" i="0" u="none" strike="noStrike" baseline="0" dirty="0">
                <a:latin typeface="+mn-lt"/>
              </a:rPr>
              <a:t>, </a:t>
            </a:r>
            <a:r>
              <a:rPr lang="en-US" altLang="zh-CN" sz="2400" b="0" i="1" u="none" strike="noStrike" baseline="0" dirty="0" err="1">
                <a:latin typeface="+mn-lt"/>
              </a:rPr>
              <a:t>tot_cred</a:t>
            </a:r>
            <a:r>
              <a:rPr lang="en-US" altLang="zh-CN" sz="2400" b="0" i="0" u="none" strike="noStrike" baseline="0" dirty="0">
                <a:latin typeface="+mn-lt"/>
              </a:rPr>
              <a:t>, </a:t>
            </a:r>
            <a:r>
              <a:rPr lang="en-US" altLang="zh-CN" sz="2400" b="0" i="1" u="none" strike="noStrike" baseline="0" dirty="0" err="1">
                <a:solidFill>
                  <a:srgbClr val="FF0000"/>
                </a:solidFill>
                <a:latin typeface="+mn-lt"/>
              </a:rPr>
              <a:t>course_id</a:t>
            </a:r>
            <a:r>
              <a:rPr lang="en-US" altLang="zh-CN" sz="2400" b="0" i="0" u="none" strike="noStrike" baseline="0" dirty="0">
                <a:latin typeface="+mn-lt"/>
              </a:rPr>
              <a:t>, </a:t>
            </a:r>
            <a:r>
              <a:rPr lang="en-US" altLang="zh-CN" sz="2400" b="0" i="1" u="none" strike="noStrike" baseline="0" dirty="0" err="1">
                <a:latin typeface="+mn-lt"/>
              </a:rPr>
              <a:t>sec_id</a:t>
            </a:r>
            <a:r>
              <a:rPr lang="en-US" altLang="zh-CN" sz="2400" b="0" i="0" u="none" strike="noStrike" baseline="0" dirty="0">
                <a:latin typeface="+mn-lt"/>
              </a:rPr>
              <a:t>),</a:t>
            </a:r>
            <a:endParaRPr lang="zh-CN" altLang="en-US" dirty="0">
              <a:latin typeface="+mn-lt"/>
            </a:endParaRPr>
          </a:p>
        </p:txBody>
      </p:sp>
      <p:sp>
        <p:nvSpPr>
          <p:cNvPr id="11" name="文本框 10">
            <a:extLst>
              <a:ext uri="{FF2B5EF4-FFF2-40B4-BE49-F238E27FC236}">
                <a16:creationId xmlns:a16="http://schemas.microsoft.com/office/drawing/2014/main" id="{49093C19-16D6-3CA8-6FCE-D72ADF589635}"/>
              </a:ext>
            </a:extLst>
          </p:cNvPr>
          <p:cNvSpPr txBox="1"/>
          <p:nvPr/>
        </p:nvSpPr>
        <p:spPr>
          <a:xfrm>
            <a:off x="419100" y="5487848"/>
            <a:ext cx="6324600" cy="461665"/>
          </a:xfrm>
          <a:prstGeom prst="rect">
            <a:avLst/>
          </a:prstGeom>
          <a:noFill/>
        </p:spPr>
        <p:txBody>
          <a:bodyPr wrap="square">
            <a:spAutoFit/>
          </a:bodyPr>
          <a:lstStyle/>
          <a:p>
            <a:r>
              <a:rPr lang="en-US" altLang="zh-CN" sz="2400" b="0" i="0" u="none" strike="noStrike" baseline="0" dirty="0">
                <a:latin typeface="+mn-lt"/>
              </a:rPr>
              <a:t>course(</a:t>
            </a:r>
            <a:r>
              <a:rPr lang="en-US" altLang="zh-CN" sz="2400" b="0" i="1" u="none" strike="noStrike" baseline="0" dirty="0" err="1">
                <a:solidFill>
                  <a:srgbClr val="FF0000"/>
                </a:solidFill>
                <a:latin typeface="+mn-lt"/>
              </a:rPr>
              <a:t>course_id</a:t>
            </a:r>
            <a:r>
              <a:rPr lang="en-US" altLang="zh-CN" sz="2400" b="0" i="0" u="none" strike="noStrike" baseline="0" dirty="0">
                <a:latin typeface="+mn-lt"/>
              </a:rPr>
              <a:t>, </a:t>
            </a:r>
            <a:r>
              <a:rPr lang="en-US" altLang="zh-CN" sz="2400" b="0" i="1" u="none" strike="noStrike" baseline="0" dirty="0">
                <a:latin typeface="+mn-lt"/>
              </a:rPr>
              <a:t>title</a:t>
            </a:r>
            <a:r>
              <a:rPr lang="en-US" altLang="zh-CN" sz="2400" b="0" i="0" u="none" strike="noStrike" baseline="0" dirty="0">
                <a:latin typeface="+mn-lt"/>
              </a:rPr>
              <a:t>, </a:t>
            </a:r>
            <a:r>
              <a:rPr lang="en-US" altLang="zh-CN" sz="2400" b="0" i="1" u="none" strike="noStrike" baseline="0" dirty="0" err="1">
                <a:solidFill>
                  <a:srgbClr val="0000FF"/>
                </a:solidFill>
                <a:latin typeface="+mn-lt"/>
              </a:rPr>
              <a:t>dept_name</a:t>
            </a:r>
            <a:r>
              <a:rPr lang="en-US" altLang="zh-CN" sz="2400" b="0" i="0" u="none" strike="noStrike" baseline="0" dirty="0">
                <a:latin typeface="+mn-lt"/>
              </a:rPr>
              <a:t>, </a:t>
            </a:r>
            <a:r>
              <a:rPr lang="en-US" altLang="zh-CN" sz="2400" b="0" i="1" u="none" strike="noStrike" baseline="0" dirty="0">
                <a:latin typeface="+mn-lt"/>
              </a:rPr>
              <a:t>credits</a:t>
            </a:r>
            <a:r>
              <a:rPr lang="en-US" altLang="zh-CN" sz="2400" b="0" i="0" u="none" strike="noStrike" baseline="0" dirty="0">
                <a:latin typeface="+mn-lt"/>
              </a:rPr>
              <a:t>).</a:t>
            </a:r>
            <a:endParaRPr lang="zh-CN" altLang="en-US" dirty="0">
              <a:latin typeface="+mn-lt"/>
            </a:endParaRPr>
          </a:p>
        </p:txBody>
      </p:sp>
      <p:cxnSp>
        <p:nvCxnSpPr>
          <p:cNvPr id="14" name="直接箭头连接符 13">
            <a:extLst>
              <a:ext uri="{FF2B5EF4-FFF2-40B4-BE49-F238E27FC236}">
                <a16:creationId xmlns:a16="http://schemas.microsoft.com/office/drawing/2014/main" id="{CB815404-70E5-3E3D-5847-2176A9DFEB27}"/>
              </a:ext>
            </a:extLst>
          </p:cNvPr>
          <p:cNvCxnSpPr/>
          <p:nvPr/>
        </p:nvCxnSpPr>
        <p:spPr bwMode="auto">
          <a:xfrm flipV="1">
            <a:off x="4046994" y="3429000"/>
            <a:ext cx="1028243" cy="567898"/>
          </a:xfrm>
          <a:prstGeom prst="straightConnector1">
            <a:avLst/>
          </a:prstGeom>
          <a:ln>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16" name="直接箭头连接符 15">
            <a:extLst>
              <a:ext uri="{FF2B5EF4-FFF2-40B4-BE49-F238E27FC236}">
                <a16:creationId xmlns:a16="http://schemas.microsoft.com/office/drawing/2014/main" id="{6F63DDAD-0E51-EBFF-52E8-8CE37C12371F}"/>
              </a:ext>
            </a:extLst>
          </p:cNvPr>
          <p:cNvCxnSpPr/>
          <p:nvPr/>
        </p:nvCxnSpPr>
        <p:spPr bwMode="auto">
          <a:xfrm flipH="1">
            <a:off x="3048000" y="4339874"/>
            <a:ext cx="533400" cy="369302"/>
          </a:xfrm>
          <a:prstGeom prst="straightConnector1">
            <a:avLst/>
          </a:prstGeom>
          <a:ln>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18" name="直接连接符 17">
            <a:extLst>
              <a:ext uri="{FF2B5EF4-FFF2-40B4-BE49-F238E27FC236}">
                <a16:creationId xmlns:a16="http://schemas.microsoft.com/office/drawing/2014/main" id="{E27C5CCB-55C5-ADFF-358C-556B28CC87EF}"/>
              </a:ext>
            </a:extLst>
          </p:cNvPr>
          <p:cNvCxnSpPr/>
          <p:nvPr/>
        </p:nvCxnSpPr>
        <p:spPr bwMode="auto">
          <a:xfrm>
            <a:off x="5560339" y="4412397"/>
            <a:ext cx="2516861" cy="0"/>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19" name="文本框 18">
            <a:extLst>
              <a:ext uri="{FF2B5EF4-FFF2-40B4-BE49-F238E27FC236}">
                <a16:creationId xmlns:a16="http://schemas.microsoft.com/office/drawing/2014/main" id="{328E42F5-27BC-530F-9296-1341BBD24614}"/>
              </a:ext>
            </a:extLst>
          </p:cNvPr>
          <p:cNvSpPr txBox="1"/>
          <p:nvPr/>
        </p:nvSpPr>
        <p:spPr>
          <a:xfrm>
            <a:off x="5560339" y="4675542"/>
            <a:ext cx="3475617" cy="132343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000" dirty="0"/>
              <a:t>自然连接的结果，</a:t>
            </a:r>
            <a:r>
              <a:rPr lang="zh-CN" altLang="en-US" sz="2000" dirty="0">
                <a:latin typeface="Times New Roman" panose="02020603050405020304" pitchFamily="18" charset="0"/>
                <a:cs typeface="Times New Roman" panose="02020603050405020304" pitchFamily="18" charset="0"/>
              </a:rPr>
              <a:t>需要</a:t>
            </a:r>
            <a:r>
              <a:rPr lang="zh-CN" altLang="en-US" sz="2000" dirty="0"/>
              <a:t>在</a:t>
            </a:r>
            <a:r>
              <a:rPr lang="en-US" altLang="zh-CN" sz="2000" b="0" u="none" strike="noStrike" baseline="0" dirty="0" err="1">
                <a:solidFill>
                  <a:srgbClr val="0000FF"/>
                </a:solidFill>
              </a:rPr>
              <a:t>dept_name</a:t>
            </a:r>
            <a:r>
              <a:rPr lang="zh-CN" altLang="en-US" sz="2000" b="0" u="none" strike="noStrike" baseline="0" dirty="0">
                <a:solidFill>
                  <a:srgbClr val="0000FF"/>
                </a:solidFill>
              </a:rPr>
              <a:t>属性取值相同，</a:t>
            </a:r>
            <a:endParaRPr lang="en-US" altLang="zh-CN" sz="2000" b="0" u="none" strike="noStrike" baseline="0" dirty="0">
              <a:solidFill>
                <a:srgbClr val="0000FF"/>
              </a:solidFill>
            </a:endParaRPr>
          </a:p>
          <a:p>
            <a:r>
              <a:rPr lang="zh-CN" altLang="en-US" sz="2000" b="1" u="none" strike="noStrike" baseline="0" dirty="0">
                <a:solidFill>
                  <a:srgbClr val="FF0000"/>
                </a:solidFill>
              </a:rPr>
              <a:t>且 </a:t>
            </a:r>
            <a:r>
              <a:rPr lang="en-US" altLang="zh-CN" sz="2000" b="0" u="none" strike="noStrike" baseline="0" dirty="0" err="1">
                <a:solidFill>
                  <a:srgbClr val="0000FF"/>
                </a:solidFill>
              </a:rPr>
              <a:t>course_id</a:t>
            </a:r>
            <a:r>
              <a:rPr lang="zh-CN" altLang="en-US" sz="2000" b="0" u="none" strike="noStrike" baseline="0" dirty="0">
                <a:solidFill>
                  <a:srgbClr val="0000FF"/>
                </a:solidFill>
              </a:rPr>
              <a:t>上</a:t>
            </a:r>
            <a:r>
              <a:rPr lang="zh-CN" altLang="en-US" sz="2000" b="0" u="none" strike="noStrike" baseline="0" dirty="0">
                <a:solidFill>
                  <a:srgbClr val="0000FF"/>
                </a:solidFill>
                <a:latin typeface="NimbusRomDOT-RegIta"/>
              </a:rPr>
              <a:t>取值相同的</a:t>
            </a:r>
            <a:r>
              <a:rPr lang="zh-CN" altLang="en-US" sz="2000" b="0" u="none" strike="noStrike" baseline="0" dirty="0">
                <a:solidFill>
                  <a:srgbClr val="FF0000"/>
                </a:solidFill>
                <a:latin typeface="NimbusRomDOT-RegIta"/>
              </a:rPr>
              <a:t>元组对才能组合</a:t>
            </a:r>
            <a:endParaRPr lang="zh-CN" altLang="en-US" sz="2000" dirty="0"/>
          </a:p>
        </p:txBody>
      </p:sp>
      <p:cxnSp>
        <p:nvCxnSpPr>
          <p:cNvPr id="21" name="直接箭头连接符 20">
            <a:extLst>
              <a:ext uri="{FF2B5EF4-FFF2-40B4-BE49-F238E27FC236}">
                <a16:creationId xmlns:a16="http://schemas.microsoft.com/office/drawing/2014/main" id="{4661B39B-CD7C-13B3-9DAF-809CDA40DB8D}"/>
              </a:ext>
            </a:extLst>
          </p:cNvPr>
          <p:cNvCxnSpPr>
            <a:cxnSpLocks/>
            <a:endCxn id="19" idx="0"/>
          </p:cNvCxnSpPr>
          <p:nvPr/>
        </p:nvCxnSpPr>
        <p:spPr bwMode="auto">
          <a:xfrm>
            <a:off x="7283356" y="4431025"/>
            <a:ext cx="14792" cy="244517"/>
          </a:xfrm>
          <a:prstGeom prst="straightConnector1">
            <a:avLst/>
          </a:prstGeom>
          <a:ln>
            <a:headEnd type="none" w="med" len="med"/>
            <a:tailEnd type="triangle"/>
          </a:ln>
        </p:spPr>
        <p:style>
          <a:lnRef idx="2">
            <a:schemeClr val="accent4"/>
          </a:lnRef>
          <a:fillRef idx="0">
            <a:schemeClr val="accent4"/>
          </a:fillRef>
          <a:effectRef idx="1">
            <a:schemeClr val="accent4"/>
          </a:effectRef>
          <a:fontRef idx="minor">
            <a:schemeClr val="tx1"/>
          </a:fontRef>
        </p:style>
      </p:cxnSp>
      <p:sp>
        <p:nvSpPr>
          <p:cNvPr id="6" name="灯片编号占位符 5">
            <a:extLst>
              <a:ext uri="{FF2B5EF4-FFF2-40B4-BE49-F238E27FC236}">
                <a16:creationId xmlns:a16="http://schemas.microsoft.com/office/drawing/2014/main" id="{2EC6D4DB-ECE3-99F7-9494-C5ADE4E124D1}"/>
              </a:ext>
            </a:extLst>
          </p:cNvPr>
          <p:cNvSpPr>
            <a:spLocks noGrp="1"/>
          </p:cNvSpPr>
          <p:nvPr>
            <p:ph type="sldNum" sz="quarter" idx="12"/>
          </p:nvPr>
        </p:nvSpPr>
        <p:spPr/>
        <p:txBody>
          <a:bodyPr/>
          <a:lstStyle/>
          <a:p>
            <a:pPr>
              <a:defRPr/>
            </a:pPr>
            <a:fld id="{E0CD82EA-F7BE-454B-A83E-18830F6C5424}" type="slidenum">
              <a:rPr lang="en-US" altLang="zh-CN" smtClean="0"/>
              <a:pPr>
                <a:defRPr/>
              </a:pPr>
              <a:t>16</a:t>
            </a:fld>
            <a:r>
              <a:rPr lang="en-US" altLang="zh-CN"/>
              <a:t>/138</a:t>
            </a:r>
            <a:endParaRPr lang="zh-CN" altLang="en-US" dirty="0"/>
          </a:p>
        </p:txBody>
      </p:sp>
      <p:pic>
        <p:nvPicPr>
          <p:cNvPr id="2" name="图片 1">
            <a:extLst>
              <a:ext uri="{FF2B5EF4-FFF2-40B4-BE49-F238E27FC236}">
                <a16:creationId xmlns:a16="http://schemas.microsoft.com/office/drawing/2014/main" id="{E2684713-E3ED-79EF-9659-97A22A699CC5}"/>
              </a:ext>
            </a:extLst>
          </p:cNvPr>
          <p:cNvPicPr>
            <a:picLocks noChangeAspect="1"/>
          </p:cNvPicPr>
          <p:nvPr/>
        </p:nvPicPr>
        <p:blipFill>
          <a:blip r:embed="rId3"/>
          <a:stretch>
            <a:fillRect/>
          </a:stretch>
        </p:blipFill>
        <p:spPr>
          <a:xfrm>
            <a:off x="5229658" y="-4573"/>
            <a:ext cx="3932261" cy="3664014"/>
          </a:xfrm>
          <a:prstGeom prst="rect">
            <a:avLst/>
          </a:prstGeom>
        </p:spPr>
      </p:pic>
      <p:sp>
        <p:nvSpPr>
          <p:cNvPr id="3" name="文本框 2">
            <a:extLst>
              <a:ext uri="{FF2B5EF4-FFF2-40B4-BE49-F238E27FC236}">
                <a16:creationId xmlns:a16="http://schemas.microsoft.com/office/drawing/2014/main" id="{F420883E-EC70-53F0-149F-EF308E7E0542}"/>
              </a:ext>
            </a:extLst>
          </p:cNvPr>
          <p:cNvSpPr txBox="1"/>
          <p:nvPr/>
        </p:nvSpPr>
        <p:spPr>
          <a:xfrm>
            <a:off x="419100" y="6090366"/>
            <a:ext cx="5410200" cy="738664"/>
          </a:xfrm>
          <a:prstGeom prst="rect">
            <a:avLst/>
          </a:prstGeom>
          <a:solidFill>
            <a:schemeClr val="bg1"/>
          </a:solidFill>
        </p:spPr>
        <p:txBody>
          <a:bodyPr wrap="square" lIns="0" tIns="0" rIns="0" bIns="0" rtlCol="0">
            <a:spAutoFit/>
          </a:bodyPr>
          <a:lstStyle/>
          <a:p>
            <a:pPr algn="l"/>
            <a:r>
              <a:rPr lang="zh-CN" altLang="en-US" sz="1600" dirty="0">
                <a:solidFill>
                  <a:srgbClr val="800080"/>
                </a:solidFill>
              </a:rPr>
              <a:t>student</a:t>
            </a:r>
            <a:r>
              <a:rPr lang="zh-CN" altLang="en-US" sz="1600" dirty="0"/>
              <a:t>(</a:t>
            </a:r>
            <a:r>
              <a:rPr lang="zh-CN" altLang="en-US" sz="1600" u="sng" dirty="0"/>
              <a:t>ID</a:t>
            </a:r>
            <a:r>
              <a:rPr lang="zh-CN" altLang="en-US" sz="1600" dirty="0"/>
              <a:t>, name, </a:t>
            </a:r>
            <a:r>
              <a:rPr lang="zh-CN" altLang="en-US" sz="1600" dirty="0">
                <a:solidFill>
                  <a:srgbClr val="006600"/>
                </a:solidFill>
              </a:rPr>
              <a:t>dept</a:t>
            </a:r>
            <a:r>
              <a:rPr lang="en-US" altLang="zh-CN" sz="1600" dirty="0">
                <a:solidFill>
                  <a:srgbClr val="006600"/>
                </a:solidFill>
              </a:rPr>
              <a:t>_</a:t>
            </a:r>
            <a:r>
              <a:rPr lang="zh-CN" altLang="en-US" sz="1600" dirty="0">
                <a:solidFill>
                  <a:srgbClr val="006600"/>
                </a:solidFill>
              </a:rPr>
              <a:t>name</a:t>
            </a:r>
            <a:r>
              <a:rPr lang="zh-CN" altLang="en-US" sz="1600" dirty="0"/>
              <a:t>, tot</a:t>
            </a:r>
            <a:r>
              <a:rPr lang="en-US" altLang="zh-CN" sz="1600" dirty="0"/>
              <a:t>_</a:t>
            </a:r>
            <a:r>
              <a:rPr lang="zh-CN" altLang="en-US" sz="1600" dirty="0"/>
              <a:t>cred)</a:t>
            </a:r>
            <a:r>
              <a:rPr lang="en-US" altLang="zh-CN" sz="1600" dirty="0"/>
              <a:t> //</a:t>
            </a:r>
            <a:r>
              <a:rPr lang="zh-CN" altLang="en-US" sz="1600" dirty="0"/>
              <a:t>学生</a:t>
            </a:r>
            <a:endParaRPr lang="en-US" altLang="zh-CN" sz="1600" dirty="0"/>
          </a:p>
          <a:p>
            <a:pPr algn="l"/>
            <a:r>
              <a:rPr lang="zh-CN" altLang="en-US" sz="1600" dirty="0">
                <a:solidFill>
                  <a:srgbClr val="800080"/>
                </a:solidFill>
              </a:rPr>
              <a:t>takes</a:t>
            </a:r>
            <a:r>
              <a:rPr lang="zh-CN" altLang="en-US" sz="1600" dirty="0"/>
              <a:t>(</a:t>
            </a:r>
            <a:r>
              <a:rPr lang="zh-CN" altLang="en-US" sz="1600" u="sng" dirty="0"/>
              <a:t>ID</a:t>
            </a:r>
            <a:r>
              <a:rPr lang="zh-CN" altLang="en-US" sz="1600" dirty="0"/>
              <a:t>, </a:t>
            </a:r>
            <a:r>
              <a:rPr lang="zh-CN" altLang="en-US" sz="1600" u="sng" dirty="0"/>
              <a:t>course</a:t>
            </a:r>
            <a:r>
              <a:rPr lang="en-US" altLang="zh-CN" sz="1600" u="sng" dirty="0"/>
              <a:t>_</a:t>
            </a:r>
            <a:r>
              <a:rPr lang="zh-CN" altLang="en-US" sz="1600" u="sng" dirty="0"/>
              <a:t>id</a:t>
            </a:r>
            <a:r>
              <a:rPr lang="zh-CN" altLang="en-US" sz="1600" dirty="0"/>
              <a:t>, </a:t>
            </a:r>
            <a:r>
              <a:rPr lang="zh-CN" altLang="en-US" sz="1600" u="sng" dirty="0"/>
              <a:t>sec</a:t>
            </a:r>
            <a:r>
              <a:rPr lang="en-US" altLang="zh-CN" sz="1600" u="sng" dirty="0"/>
              <a:t>_</a:t>
            </a:r>
            <a:r>
              <a:rPr lang="zh-CN" altLang="en-US" sz="1600" u="sng" dirty="0"/>
              <a:t>id</a:t>
            </a:r>
            <a:r>
              <a:rPr lang="zh-CN" altLang="en-US" sz="1600" dirty="0"/>
              <a:t>, </a:t>
            </a:r>
            <a:r>
              <a:rPr lang="zh-CN" altLang="en-US" sz="1600" u="sng" dirty="0"/>
              <a:t>semester</a:t>
            </a:r>
            <a:r>
              <a:rPr lang="zh-CN" altLang="en-US" sz="1600" dirty="0"/>
              <a:t>, </a:t>
            </a:r>
            <a:r>
              <a:rPr lang="zh-CN" altLang="en-US" sz="1600" u="sng" dirty="0"/>
              <a:t>year</a:t>
            </a:r>
            <a:r>
              <a:rPr lang="zh-CN" altLang="en-US" sz="1600" dirty="0"/>
              <a:t>, grade)</a:t>
            </a:r>
            <a:r>
              <a:rPr lang="en-US" altLang="zh-CN" sz="1600" dirty="0"/>
              <a:t> //</a:t>
            </a:r>
            <a:r>
              <a:rPr lang="zh-CN" altLang="en-US" sz="1600" dirty="0"/>
              <a:t>选课</a:t>
            </a:r>
            <a:endParaRPr lang="en-US" altLang="zh-CN" sz="1600" dirty="0"/>
          </a:p>
          <a:p>
            <a:pPr algn="l"/>
            <a:r>
              <a:rPr lang="zh-CN" altLang="en-US" sz="1600" dirty="0">
                <a:solidFill>
                  <a:srgbClr val="800080"/>
                </a:solidFill>
              </a:rPr>
              <a:t>course</a:t>
            </a:r>
            <a:r>
              <a:rPr lang="zh-CN" altLang="en-US" sz="1600" dirty="0"/>
              <a:t>(</a:t>
            </a:r>
            <a:r>
              <a:rPr lang="zh-CN" altLang="en-US" sz="1600" u="sng" dirty="0"/>
              <a:t>course</a:t>
            </a:r>
            <a:r>
              <a:rPr lang="en-US" altLang="zh-CN" sz="1600" u="sng" dirty="0"/>
              <a:t>_</a:t>
            </a:r>
            <a:r>
              <a:rPr lang="zh-CN" altLang="en-US" sz="1600" u="sng" dirty="0"/>
              <a:t>id</a:t>
            </a:r>
            <a:r>
              <a:rPr lang="zh-CN" altLang="en-US" sz="1600" dirty="0"/>
              <a:t>, title, </a:t>
            </a:r>
            <a:r>
              <a:rPr lang="zh-CN" altLang="en-US" sz="1600" dirty="0">
                <a:solidFill>
                  <a:srgbClr val="0000FF"/>
                </a:solidFill>
              </a:rPr>
              <a:t>dept</a:t>
            </a:r>
            <a:r>
              <a:rPr lang="en-US" altLang="zh-CN" sz="1600" dirty="0">
                <a:solidFill>
                  <a:srgbClr val="0000FF"/>
                </a:solidFill>
              </a:rPr>
              <a:t>_</a:t>
            </a:r>
            <a:r>
              <a:rPr lang="zh-CN" altLang="en-US" sz="1600" dirty="0">
                <a:solidFill>
                  <a:srgbClr val="0000FF"/>
                </a:solidFill>
              </a:rPr>
              <a:t>name</a:t>
            </a:r>
            <a:r>
              <a:rPr lang="zh-CN" altLang="en-US" sz="1600" dirty="0"/>
              <a:t>, credits)</a:t>
            </a:r>
            <a:r>
              <a:rPr lang="en-US" altLang="zh-CN" sz="1600" dirty="0"/>
              <a:t>  //</a:t>
            </a:r>
            <a:r>
              <a:rPr lang="zh-CN" altLang="en-US" sz="1600" dirty="0"/>
              <a:t>课程</a:t>
            </a:r>
            <a:endParaRPr lang="en-US" altLang="zh-CN" sz="1600" dirty="0"/>
          </a:p>
        </p:txBody>
      </p:sp>
    </p:spTree>
    <p:extLst>
      <p:ext uri="{BB962C8B-B14F-4D97-AF65-F5344CB8AC3E}">
        <p14:creationId xmlns:p14="http://schemas.microsoft.com/office/powerpoint/2010/main" val="29351966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circle(in)">
                                      <p:cBhvr>
                                        <p:cTn id="14" dur="2000"/>
                                        <p:tgtEl>
                                          <p:spTgt spid="14"/>
                                        </p:tgtEl>
                                      </p:cBhvr>
                                    </p:animEffect>
                                  </p:childTnLst>
                                </p:cTn>
                              </p:par>
                              <p:par>
                                <p:cTn id="15" presetID="6" presetClass="entr" presetSubtype="16"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circle(in)">
                                      <p:cBhvr>
                                        <p:cTn id="17" dur="20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par>
                                <p:cTn id="22" presetID="42"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nodeType="clickEffect">
                                  <p:stCondLst>
                                    <p:cond delay="0"/>
                                  </p:stCondLst>
                                  <p:childTnLst>
                                    <p:set>
                                      <p:cBhvr>
                                        <p:cTn id="37" dur="1" fill="hold">
                                          <p:stCondLst>
                                            <p:cond delay="0"/>
                                          </p:stCondLst>
                                        </p:cTn>
                                        <p:tgtEl>
                                          <p:spTgt spid="14"/>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nodeType="clickEffect">
                                  <p:stCondLst>
                                    <p:cond delay="0"/>
                                  </p:stCondLst>
                                  <p:childTnLst>
                                    <p:set>
                                      <p:cBhvr>
                                        <p:cTn id="41" dur="1" fill="hold">
                                          <p:stCondLst>
                                            <p:cond delay="0"/>
                                          </p:stCondLst>
                                        </p:cTn>
                                        <p:tgtEl>
                                          <p:spTgt spid="2"/>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barn(inVertical)">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barn(inVertical)">
                                      <p:cBhvr>
                                        <p:cTn id="51" dur="500"/>
                                        <p:tgtEl>
                                          <p:spTgt spid="20"/>
                                        </p:tgtEl>
                                      </p:cBhvr>
                                    </p:animEffect>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1000"/>
                                        <p:tgtEl>
                                          <p:spTgt spid="21"/>
                                        </p:tgtEl>
                                      </p:cBhvr>
                                    </p:animEffect>
                                    <p:anim calcmode="lin" valueType="num">
                                      <p:cBhvr>
                                        <p:cTn id="57" dur="1000" fill="hold"/>
                                        <p:tgtEl>
                                          <p:spTgt spid="21"/>
                                        </p:tgtEl>
                                        <p:attrNameLst>
                                          <p:attrName>ppt_x</p:attrName>
                                        </p:attrNameLst>
                                      </p:cBhvr>
                                      <p:tavLst>
                                        <p:tav tm="0">
                                          <p:val>
                                            <p:strVal val="#ppt_x"/>
                                          </p:val>
                                        </p:tav>
                                        <p:tav tm="100000">
                                          <p:val>
                                            <p:strVal val="#ppt_x"/>
                                          </p:val>
                                        </p:tav>
                                      </p:tavLst>
                                    </p:anim>
                                    <p:anim calcmode="lin" valueType="num">
                                      <p:cBhvr>
                                        <p:cTn id="58" dur="1000" fill="hold"/>
                                        <p:tgtEl>
                                          <p:spTgt spid="21"/>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1000"/>
                                        <p:tgtEl>
                                          <p:spTgt spid="19"/>
                                        </p:tgtEl>
                                      </p:cBhvr>
                                    </p:animEffect>
                                    <p:anim calcmode="lin" valueType="num">
                                      <p:cBhvr>
                                        <p:cTn id="62" dur="1000" fill="hold"/>
                                        <p:tgtEl>
                                          <p:spTgt spid="19"/>
                                        </p:tgtEl>
                                        <p:attrNameLst>
                                          <p:attrName>ppt_x</p:attrName>
                                        </p:attrNameLst>
                                      </p:cBhvr>
                                      <p:tavLst>
                                        <p:tav tm="0">
                                          <p:val>
                                            <p:strVal val="#ppt_x"/>
                                          </p:val>
                                        </p:tav>
                                        <p:tav tm="100000">
                                          <p:val>
                                            <p:strVal val="#ppt_x"/>
                                          </p:val>
                                        </p:tav>
                                      </p:tavLst>
                                    </p:anim>
                                    <p:anim calcmode="lin" valueType="num">
                                      <p:cBhvr>
                                        <p:cTn id="6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P spid="11" grpId="0"/>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1EBF8A7E-1DB1-4189-A130-0D1460875639}" type="datetime1">
              <a:rPr kumimoji="0" lang="zh-CN" altLang="en-US" sz="1400" smtClean="0"/>
              <a:t>2025/10/15</a:t>
            </a:fld>
            <a:endParaRPr kumimoji="0" lang="en-US" altLang="zh-CN" sz="1400"/>
          </a:p>
        </p:txBody>
      </p:sp>
      <p:sp>
        <p:nvSpPr>
          <p:cNvPr id="101379"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1381"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5" name="文本框 4">
            <a:extLst>
              <a:ext uri="{FF2B5EF4-FFF2-40B4-BE49-F238E27FC236}">
                <a16:creationId xmlns:a16="http://schemas.microsoft.com/office/drawing/2014/main" id="{32E4CF45-F72A-A415-24E6-EEED6C4F92D5}"/>
              </a:ext>
            </a:extLst>
          </p:cNvPr>
          <p:cNvSpPr txBox="1"/>
          <p:nvPr/>
        </p:nvSpPr>
        <p:spPr>
          <a:xfrm>
            <a:off x="685800" y="1447800"/>
            <a:ext cx="4493539" cy="461665"/>
          </a:xfrm>
          <a:prstGeom prst="rect">
            <a:avLst/>
          </a:prstGeom>
          <a:noFill/>
        </p:spPr>
        <p:txBody>
          <a:bodyPr wrap="none" rtlCol="0">
            <a:spAutoFit/>
          </a:bodyPr>
          <a:lstStyle/>
          <a:p>
            <a:r>
              <a:rPr lang="zh-CN" altLang="en-US" dirty="0"/>
              <a:t>列出学生及其所选课程的名字。</a:t>
            </a:r>
          </a:p>
        </p:txBody>
      </p:sp>
      <p:sp>
        <p:nvSpPr>
          <p:cNvPr id="7" name="文本框 6">
            <a:extLst>
              <a:ext uri="{FF2B5EF4-FFF2-40B4-BE49-F238E27FC236}">
                <a16:creationId xmlns:a16="http://schemas.microsoft.com/office/drawing/2014/main" id="{B56B64B5-B12D-D7E0-6496-2AAB07505AD2}"/>
              </a:ext>
            </a:extLst>
          </p:cNvPr>
          <p:cNvSpPr txBox="1"/>
          <p:nvPr/>
        </p:nvSpPr>
        <p:spPr>
          <a:xfrm>
            <a:off x="628651" y="1930688"/>
            <a:ext cx="6705600" cy="1200329"/>
          </a:xfrm>
          <a:prstGeom prst="rect">
            <a:avLst/>
          </a:prstGeom>
          <a:noFill/>
        </p:spPr>
        <p:txBody>
          <a:bodyPr wrap="square">
            <a:spAutoFit/>
          </a:bodyPr>
          <a:lstStyle/>
          <a:p>
            <a:pPr algn="l"/>
            <a:r>
              <a:rPr lang="en-US" altLang="zh-CN" sz="2400" b="0" i="0" u="none" strike="noStrike" baseline="0" dirty="0">
                <a:latin typeface="+mn-lt"/>
              </a:rPr>
              <a:t>select </a:t>
            </a:r>
            <a:r>
              <a:rPr lang="en-US" altLang="zh-CN" sz="2400" b="0" i="1" u="none" strike="noStrike" baseline="0" dirty="0">
                <a:latin typeface="+mn-lt"/>
              </a:rPr>
              <a:t>name</a:t>
            </a:r>
            <a:r>
              <a:rPr lang="en-US" altLang="zh-CN" sz="2400" b="0" i="0" u="none" strike="noStrike" baseline="0" dirty="0">
                <a:latin typeface="+mn-lt"/>
              </a:rPr>
              <a:t>, </a:t>
            </a:r>
            <a:r>
              <a:rPr lang="en-US" altLang="zh-CN" sz="2400" b="0" i="1" u="none" strike="noStrike" baseline="0" dirty="0">
                <a:latin typeface="+mn-lt"/>
              </a:rPr>
              <a:t>title</a:t>
            </a:r>
          </a:p>
          <a:p>
            <a:pPr algn="l"/>
            <a:r>
              <a:rPr lang="en-US" altLang="zh-CN" sz="2400" b="0" i="0" u="none" strike="noStrike" baseline="0" dirty="0">
                <a:latin typeface="+mn-lt"/>
              </a:rPr>
              <a:t>from </a:t>
            </a:r>
            <a:r>
              <a:rPr lang="en-US" altLang="zh-CN" sz="2400" b="0" i="1" u="none" strike="noStrike" baseline="0" dirty="0">
                <a:latin typeface="+mn-lt"/>
              </a:rPr>
              <a:t>student </a:t>
            </a:r>
            <a:r>
              <a:rPr lang="en-US" altLang="zh-CN" sz="2400" b="0" i="0" u="none" strike="noStrike" baseline="0" dirty="0">
                <a:solidFill>
                  <a:srgbClr val="0000FF"/>
                </a:solidFill>
                <a:latin typeface="+mn-lt"/>
              </a:rPr>
              <a:t>natural join </a:t>
            </a:r>
            <a:r>
              <a:rPr lang="en-US" altLang="zh-CN" sz="2400" b="0" i="1" u="none" strike="noStrike" baseline="0" dirty="0">
                <a:latin typeface="+mn-lt"/>
              </a:rPr>
              <a:t>takes</a:t>
            </a:r>
            <a:r>
              <a:rPr lang="en-US" altLang="zh-CN" sz="2400" b="0" i="0" u="none" strike="noStrike" baseline="0" dirty="0">
                <a:latin typeface="+mn-lt"/>
              </a:rPr>
              <a:t>, </a:t>
            </a:r>
            <a:r>
              <a:rPr lang="en-US" altLang="zh-CN" sz="2400" b="0" i="1" u="none" strike="noStrike" baseline="0" dirty="0">
                <a:latin typeface="+mn-lt"/>
              </a:rPr>
              <a:t>course</a:t>
            </a:r>
          </a:p>
          <a:p>
            <a:pPr algn="l"/>
            <a:r>
              <a:rPr lang="en-US" altLang="zh-CN" sz="2400" b="0" i="0" u="none" strike="noStrike" baseline="0" dirty="0">
                <a:solidFill>
                  <a:srgbClr val="660066"/>
                </a:solidFill>
                <a:latin typeface="+mn-lt"/>
              </a:rPr>
              <a:t>where</a:t>
            </a:r>
            <a:r>
              <a:rPr lang="en-US" altLang="zh-CN" sz="2400" b="0" i="0" u="none" strike="noStrike" baseline="0" dirty="0">
                <a:solidFill>
                  <a:srgbClr val="0000FF"/>
                </a:solidFill>
                <a:latin typeface="+mn-lt"/>
              </a:rPr>
              <a:t> </a:t>
            </a:r>
            <a:r>
              <a:rPr lang="en-US" altLang="zh-CN" sz="2400" b="0" i="1" u="none" strike="noStrike" baseline="0" dirty="0" err="1">
                <a:solidFill>
                  <a:srgbClr val="0000FF"/>
                </a:solidFill>
                <a:latin typeface="+mn-lt"/>
              </a:rPr>
              <a:t>takes</a:t>
            </a:r>
            <a:r>
              <a:rPr lang="en-US" altLang="zh-CN" sz="2400" b="0" i="0" u="none" strike="noStrike" baseline="0" dirty="0" err="1">
                <a:solidFill>
                  <a:srgbClr val="0000FF"/>
                </a:solidFill>
                <a:latin typeface="+mn-lt"/>
              </a:rPr>
              <a:t>.</a:t>
            </a:r>
            <a:r>
              <a:rPr lang="en-US" altLang="zh-CN" sz="2400" b="0" i="1" u="none" strike="noStrike" baseline="0" dirty="0" err="1">
                <a:solidFill>
                  <a:srgbClr val="0000FF"/>
                </a:solidFill>
                <a:latin typeface="+mn-lt"/>
              </a:rPr>
              <a:t>course</a:t>
            </a:r>
            <a:r>
              <a:rPr lang="en-US" altLang="zh-CN" i="1" dirty="0" err="1">
                <a:solidFill>
                  <a:srgbClr val="0000FF"/>
                </a:solidFill>
                <a:latin typeface="+mn-lt"/>
              </a:rPr>
              <a:t>_</a:t>
            </a:r>
            <a:r>
              <a:rPr lang="en-US" altLang="zh-CN" sz="2400" b="0" i="1" u="none" strike="noStrike" baseline="0" dirty="0" err="1">
                <a:solidFill>
                  <a:srgbClr val="0000FF"/>
                </a:solidFill>
                <a:latin typeface="+mn-lt"/>
              </a:rPr>
              <a:t>id</a:t>
            </a:r>
            <a:r>
              <a:rPr lang="en-US" altLang="zh-CN" sz="2400" b="0" i="1" u="none" strike="noStrike" baseline="0" dirty="0">
                <a:solidFill>
                  <a:srgbClr val="0000FF"/>
                </a:solidFill>
                <a:latin typeface="+mn-lt"/>
              </a:rPr>
              <a:t> </a:t>
            </a:r>
            <a:r>
              <a:rPr lang="en-US" altLang="zh-CN" sz="2400" b="0" i="0" u="none" strike="noStrike" baseline="0" dirty="0">
                <a:solidFill>
                  <a:srgbClr val="0000FF"/>
                </a:solidFill>
                <a:latin typeface="+mn-lt"/>
              </a:rPr>
              <a:t>= </a:t>
            </a:r>
            <a:r>
              <a:rPr lang="en-US" altLang="zh-CN" sz="2400" b="0" i="1" u="none" strike="noStrike" baseline="0" dirty="0" err="1">
                <a:solidFill>
                  <a:srgbClr val="0000FF"/>
                </a:solidFill>
                <a:latin typeface="+mn-lt"/>
              </a:rPr>
              <a:t>course</a:t>
            </a:r>
            <a:r>
              <a:rPr lang="en-US" altLang="zh-CN" sz="2400" b="0" i="0" u="none" strike="noStrike" baseline="0" dirty="0" err="1">
                <a:solidFill>
                  <a:srgbClr val="0000FF"/>
                </a:solidFill>
                <a:latin typeface="+mn-lt"/>
              </a:rPr>
              <a:t>.</a:t>
            </a:r>
            <a:r>
              <a:rPr lang="en-US" altLang="zh-CN" sz="2400" b="0" i="1" u="none" strike="noStrike" baseline="0" dirty="0" err="1">
                <a:solidFill>
                  <a:srgbClr val="0000FF"/>
                </a:solidFill>
                <a:latin typeface="+mn-lt"/>
              </a:rPr>
              <a:t>course_id</a:t>
            </a:r>
            <a:r>
              <a:rPr lang="en-US" altLang="zh-CN" sz="2400" b="0" i="0" u="none" strike="noStrike" baseline="0" dirty="0">
                <a:latin typeface="+mn-lt"/>
              </a:rPr>
              <a:t>;</a:t>
            </a:r>
            <a:endParaRPr lang="zh-CN" altLang="en-US" dirty="0">
              <a:latin typeface="+mn-lt"/>
            </a:endParaRPr>
          </a:p>
        </p:txBody>
      </p:sp>
      <p:sp>
        <p:nvSpPr>
          <p:cNvPr id="10" name="文本框 9">
            <a:extLst>
              <a:ext uri="{FF2B5EF4-FFF2-40B4-BE49-F238E27FC236}">
                <a16:creationId xmlns:a16="http://schemas.microsoft.com/office/drawing/2014/main" id="{CE879214-FDEF-79BC-F7F1-EB05B4FC4CC3}"/>
              </a:ext>
            </a:extLst>
          </p:cNvPr>
          <p:cNvSpPr txBox="1"/>
          <p:nvPr/>
        </p:nvSpPr>
        <p:spPr>
          <a:xfrm>
            <a:off x="609600" y="3581400"/>
            <a:ext cx="7010400" cy="830997"/>
          </a:xfrm>
          <a:prstGeom prst="rect">
            <a:avLst/>
          </a:prstGeom>
          <a:noFill/>
        </p:spPr>
        <p:txBody>
          <a:bodyPr wrap="square">
            <a:spAutoFit/>
          </a:bodyPr>
          <a:lstStyle/>
          <a:p>
            <a:pPr algn="l"/>
            <a:r>
              <a:rPr lang="en-US" altLang="zh-CN" sz="2400" b="0" i="0" u="none" strike="noStrike" baseline="0" dirty="0">
                <a:latin typeface="+mn-lt"/>
              </a:rPr>
              <a:t>select </a:t>
            </a:r>
            <a:r>
              <a:rPr lang="en-US" altLang="zh-CN" sz="2400" b="0" i="1" u="none" strike="noStrike" baseline="0" dirty="0">
                <a:latin typeface="+mn-lt"/>
              </a:rPr>
              <a:t>name</a:t>
            </a:r>
            <a:r>
              <a:rPr lang="en-US" altLang="zh-CN" sz="2400" b="0" i="0" u="none" strike="noStrike" baseline="0" dirty="0">
                <a:latin typeface="+mn-lt"/>
              </a:rPr>
              <a:t>, </a:t>
            </a:r>
            <a:r>
              <a:rPr lang="en-US" altLang="zh-CN" sz="2400" b="0" i="1" u="none" strike="noStrike" baseline="0" dirty="0">
                <a:latin typeface="+mn-lt"/>
              </a:rPr>
              <a:t>title</a:t>
            </a:r>
          </a:p>
          <a:p>
            <a:pPr algn="l"/>
            <a:r>
              <a:rPr lang="en-US" altLang="zh-CN" sz="2400" b="0" i="0" u="none" strike="noStrike" baseline="0" dirty="0">
                <a:latin typeface="+mn-lt"/>
              </a:rPr>
              <a:t>from </a:t>
            </a:r>
            <a:r>
              <a:rPr lang="en-US" altLang="zh-CN" sz="2400" b="0" i="1" u="none" strike="noStrike" baseline="0" dirty="0">
                <a:latin typeface="+mn-lt"/>
              </a:rPr>
              <a:t>student </a:t>
            </a:r>
            <a:r>
              <a:rPr lang="en-US" altLang="zh-CN" sz="2400" b="0" i="0" u="none" strike="noStrike" baseline="0" dirty="0">
                <a:solidFill>
                  <a:srgbClr val="0000FF"/>
                </a:solidFill>
                <a:latin typeface="+mn-lt"/>
              </a:rPr>
              <a:t>natural join </a:t>
            </a:r>
            <a:r>
              <a:rPr lang="en-US" altLang="zh-CN" sz="2400" b="0" i="1" u="none" strike="noStrike" baseline="0" dirty="0">
                <a:latin typeface="+mn-lt"/>
              </a:rPr>
              <a:t>takes </a:t>
            </a:r>
            <a:r>
              <a:rPr lang="en-US" altLang="zh-CN" sz="2400" b="0" i="0" u="none" strike="noStrike" baseline="0" dirty="0">
                <a:solidFill>
                  <a:srgbClr val="0000FF"/>
                </a:solidFill>
                <a:latin typeface="+mn-lt"/>
              </a:rPr>
              <a:t>natural join </a:t>
            </a:r>
            <a:r>
              <a:rPr lang="en-US" altLang="zh-CN" sz="2400" b="0" i="1" u="none" strike="noStrike" baseline="0" dirty="0">
                <a:latin typeface="+mn-lt"/>
              </a:rPr>
              <a:t>course</a:t>
            </a:r>
            <a:r>
              <a:rPr lang="en-US" altLang="zh-CN" sz="2400" b="0" i="0" u="none" strike="noStrike" baseline="0" dirty="0">
                <a:latin typeface="+mn-lt"/>
              </a:rPr>
              <a:t>;</a:t>
            </a:r>
            <a:endParaRPr lang="zh-CN" altLang="en-US" dirty="0">
              <a:latin typeface="+mn-lt"/>
            </a:endParaRPr>
          </a:p>
        </p:txBody>
      </p:sp>
      <p:sp>
        <p:nvSpPr>
          <p:cNvPr id="12" name="文本框 11">
            <a:extLst>
              <a:ext uri="{FF2B5EF4-FFF2-40B4-BE49-F238E27FC236}">
                <a16:creationId xmlns:a16="http://schemas.microsoft.com/office/drawing/2014/main" id="{5A26B129-4987-12C8-FE2D-A7C42E0279DE}"/>
              </a:ext>
            </a:extLst>
          </p:cNvPr>
          <p:cNvSpPr txBox="1"/>
          <p:nvPr/>
        </p:nvSpPr>
        <p:spPr>
          <a:xfrm>
            <a:off x="457200" y="4802952"/>
            <a:ext cx="8686800" cy="830997"/>
          </a:xfrm>
          <a:prstGeom prst="rect">
            <a:avLst/>
          </a:prstGeom>
          <a:noFill/>
        </p:spPr>
        <p:txBody>
          <a:bodyPr wrap="square">
            <a:spAutoFit/>
          </a:bodyPr>
          <a:lstStyle/>
          <a:p>
            <a:pPr algn="l"/>
            <a:r>
              <a:rPr lang="en-US" altLang="zh-CN" sz="2400" b="0" i="0" u="none" strike="noStrike" baseline="0" dirty="0">
                <a:latin typeface="+mn-lt"/>
              </a:rPr>
              <a:t>select </a:t>
            </a:r>
            <a:r>
              <a:rPr lang="en-US" altLang="zh-CN" sz="2400" b="0" i="1" u="none" strike="noStrike" baseline="0" dirty="0">
                <a:latin typeface="+mn-lt"/>
              </a:rPr>
              <a:t>name</a:t>
            </a:r>
            <a:r>
              <a:rPr lang="en-US" altLang="zh-CN" sz="2400" b="0" i="0" u="none" strike="noStrike" baseline="0" dirty="0">
                <a:latin typeface="+mn-lt"/>
              </a:rPr>
              <a:t>, </a:t>
            </a:r>
            <a:r>
              <a:rPr lang="en-US" altLang="zh-CN" sz="2400" b="0" i="1" u="none" strike="noStrike" baseline="0" dirty="0">
                <a:latin typeface="+mn-lt"/>
              </a:rPr>
              <a:t>title</a:t>
            </a:r>
          </a:p>
          <a:p>
            <a:pPr algn="l"/>
            <a:r>
              <a:rPr lang="en-US" altLang="zh-CN" sz="2400" b="0" i="0" u="none" strike="noStrike" baseline="0" dirty="0">
                <a:latin typeface="+mn-lt"/>
              </a:rPr>
              <a:t>from (</a:t>
            </a:r>
            <a:r>
              <a:rPr lang="en-US" altLang="zh-CN" sz="2400" b="0" i="1" u="none" strike="noStrike" baseline="0" dirty="0">
                <a:latin typeface="+mn-lt"/>
              </a:rPr>
              <a:t>student </a:t>
            </a:r>
            <a:r>
              <a:rPr lang="en-US" altLang="zh-CN" sz="2400" b="0" i="0" u="none" strike="noStrike" baseline="0" dirty="0">
                <a:solidFill>
                  <a:srgbClr val="0000FF"/>
                </a:solidFill>
                <a:latin typeface="+mn-lt"/>
              </a:rPr>
              <a:t>natural join </a:t>
            </a:r>
            <a:r>
              <a:rPr lang="en-US" altLang="zh-CN" sz="2400" b="0" i="1" u="none" strike="noStrike" baseline="0" dirty="0">
                <a:latin typeface="+mn-lt"/>
              </a:rPr>
              <a:t>takes</a:t>
            </a:r>
            <a:r>
              <a:rPr lang="en-US" altLang="zh-CN" sz="2400" b="0" i="0" u="none" strike="noStrike" baseline="0" dirty="0">
                <a:latin typeface="+mn-lt"/>
              </a:rPr>
              <a:t>) </a:t>
            </a:r>
            <a:r>
              <a:rPr lang="en-US" altLang="zh-CN" sz="2400" b="0" i="0" u="none" strike="noStrike" baseline="0" dirty="0">
                <a:solidFill>
                  <a:srgbClr val="FF0000"/>
                </a:solidFill>
                <a:latin typeface="+mn-lt"/>
              </a:rPr>
              <a:t>join</a:t>
            </a:r>
            <a:r>
              <a:rPr lang="en-US" altLang="zh-CN" sz="2400" b="0" i="0" u="none" strike="noStrike" baseline="0" dirty="0">
                <a:latin typeface="+mn-lt"/>
              </a:rPr>
              <a:t> </a:t>
            </a:r>
            <a:r>
              <a:rPr lang="en-US" altLang="zh-CN" sz="2400" b="0" i="1" u="none" strike="noStrike" baseline="0" dirty="0">
                <a:latin typeface="+mn-lt"/>
              </a:rPr>
              <a:t>course </a:t>
            </a:r>
            <a:r>
              <a:rPr lang="en-US" altLang="zh-CN" sz="2400" b="0" i="0" u="none" strike="noStrike" baseline="0" dirty="0">
                <a:solidFill>
                  <a:srgbClr val="FF0000"/>
                </a:solidFill>
                <a:latin typeface="+mn-lt"/>
              </a:rPr>
              <a:t>using (</a:t>
            </a:r>
            <a:r>
              <a:rPr lang="en-US" altLang="zh-CN" sz="2400" b="0" i="1" u="none" strike="noStrike" baseline="0" dirty="0" err="1">
                <a:solidFill>
                  <a:srgbClr val="FF0000"/>
                </a:solidFill>
                <a:latin typeface="+mn-lt"/>
              </a:rPr>
              <a:t>course_id</a:t>
            </a:r>
            <a:r>
              <a:rPr lang="en-US" altLang="zh-CN" sz="2400" b="0" i="0" u="none" strike="noStrike" baseline="0" dirty="0">
                <a:solidFill>
                  <a:srgbClr val="FF0000"/>
                </a:solidFill>
                <a:latin typeface="+mn-lt"/>
              </a:rPr>
              <a:t>)</a:t>
            </a:r>
            <a:r>
              <a:rPr lang="en-US" altLang="zh-CN" sz="2400" b="0" i="0" u="none" strike="noStrike" baseline="0" dirty="0">
                <a:latin typeface="+mn-lt"/>
              </a:rPr>
              <a:t>;</a:t>
            </a:r>
            <a:endParaRPr lang="zh-CN" altLang="en-US" dirty="0">
              <a:latin typeface="+mn-lt"/>
            </a:endParaRPr>
          </a:p>
        </p:txBody>
      </p:sp>
      <p:sp>
        <p:nvSpPr>
          <p:cNvPr id="13" name="文本框 12">
            <a:extLst>
              <a:ext uri="{FF2B5EF4-FFF2-40B4-BE49-F238E27FC236}">
                <a16:creationId xmlns:a16="http://schemas.microsoft.com/office/drawing/2014/main" id="{2C012980-BF1E-EFA8-F1CF-5C9BF387E754}"/>
              </a:ext>
            </a:extLst>
          </p:cNvPr>
          <p:cNvSpPr txBox="1"/>
          <p:nvPr/>
        </p:nvSpPr>
        <p:spPr>
          <a:xfrm>
            <a:off x="4419600" y="3276600"/>
            <a:ext cx="3886200" cy="707886"/>
          </a:xfrm>
          <a:prstGeom prst="rect">
            <a:avLst/>
          </a:prstGeom>
          <a:noFill/>
        </p:spPr>
        <p:txBody>
          <a:bodyPr wrap="square" rtlCol="0">
            <a:spAutoFit/>
          </a:bodyPr>
          <a:lstStyle/>
          <a:p>
            <a:r>
              <a:rPr lang="zh-CN" altLang="en-US" sz="2000" dirty="0">
                <a:solidFill>
                  <a:srgbClr val="006600"/>
                </a:solidFill>
              </a:rPr>
              <a:t>如果学生选择了不是他所在系的课程，则出现不到查询结果中。</a:t>
            </a:r>
          </a:p>
        </p:txBody>
      </p:sp>
      <p:cxnSp>
        <p:nvCxnSpPr>
          <p:cNvPr id="15" name="直接箭头连接符 14">
            <a:extLst>
              <a:ext uri="{FF2B5EF4-FFF2-40B4-BE49-F238E27FC236}">
                <a16:creationId xmlns:a16="http://schemas.microsoft.com/office/drawing/2014/main" id="{A400F5E8-F564-4DA2-5436-F1F1EC4B5DFE}"/>
              </a:ext>
            </a:extLst>
          </p:cNvPr>
          <p:cNvCxnSpPr/>
          <p:nvPr/>
        </p:nvCxnSpPr>
        <p:spPr bwMode="auto">
          <a:xfrm flipV="1">
            <a:off x="4038600" y="3733800"/>
            <a:ext cx="533400" cy="250686"/>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577E462B-359C-EBA4-D4F2-D5BCCC9485BE}"/>
              </a:ext>
            </a:extLst>
          </p:cNvPr>
          <p:cNvSpPr txBox="1"/>
          <p:nvPr/>
        </p:nvSpPr>
        <p:spPr>
          <a:xfrm>
            <a:off x="1447800" y="5760714"/>
            <a:ext cx="6400800" cy="461665"/>
          </a:xfrm>
          <a:prstGeom prst="rect">
            <a:avLst/>
          </a:prstGeom>
          <a:noFill/>
        </p:spPr>
        <p:txBody>
          <a:bodyPr wrap="square">
            <a:spAutoFit/>
          </a:bodyPr>
          <a:lstStyle/>
          <a:p>
            <a:r>
              <a:rPr lang="en-US" altLang="zh-CN" sz="2400" b="0" i="0" u="none" strike="noStrike" baseline="0" dirty="0">
                <a:solidFill>
                  <a:srgbClr val="0000FF"/>
                </a:solidFill>
                <a:latin typeface="+mn-lt"/>
              </a:rPr>
              <a:t>join </a:t>
            </a:r>
            <a:r>
              <a:rPr lang="en-US" altLang="zh-CN" sz="2400" b="0" i="1" u="none" strike="noStrike" baseline="0" dirty="0">
                <a:solidFill>
                  <a:srgbClr val="0000FF"/>
                </a:solidFill>
                <a:latin typeface="+mn-lt"/>
              </a:rPr>
              <a:t>  </a:t>
            </a:r>
            <a:r>
              <a:rPr lang="en-US" altLang="zh-CN" sz="2400" b="0" i="0" u="none" strike="noStrike" baseline="0" dirty="0">
                <a:solidFill>
                  <a:srgbClr val="0000FF"/>
                </a:solidFill>
                <a:latin typeface="+mn-lt"/>
              </a:rPr>
              <a:t>using  </a:t>
            </a:r>
            <a:r>
              <a:rPr lang="zh-CN" altLang="en-US" sz="2400" b="0" i="0" u="none" strike="noStrike" baseline="0" dirty="0">
                <a:solidFill>
                  <a:srgbClr val="0000FF"/>
                </a:solidFill>
                <a:latin typeface="+mn-lt"/>
              </a:rPr>
              <a:t>指定参与运算的属性列</a:t>
            </a:r>
            <a:endParaRPr lang="zh-CN" altLang="en-US" dirty="0">
              <a:solidFill>
                <a:srgbClr val="0000FF"/>
              </a:solidFill>
              <a:latin typeface="+mn-lt"/>
            </a:endParaRPr>
          </a:p>
        </p:txBody>
      </p:sp>
      <p:cxnSp>
        <p:nvCxnSpPr>
          <p:cNvPr id="14" name="直接连接符 13">
            <a:extLst>
              <a:ext uri="{FF2B5EF4-FFF2-40B4-BE49-F238E27FC236}">
                <a16:creationId xmlns:a16="http://schemas.microsoft.com/office/drawing/2014/main" id="{E27C5CCB-55C5-ADFF-358C-556B28CC87EF}"/>
              </a:ext>
            </a:extLst>
          </p:cNvPr>
          <p:cNvCxnSpPr/>
          <p:nvPr/>
        </p:nvCxnSpPr>
        <p:spPr bwMode="auto">
          <a:xfrm>
            <a:off x="1713370" y="3131017"/>
            <a:ext cx="4687430" cy="0"/>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cxnSp>
        <p:nvCxnSpPr>
          <p:cNvPr id="16" name="直接连接符 15">
            <a:extLst>
              <a:ext uri="{FF2B5EF4-FFF2-40B4-BE49-F238E27FC236}">
                <a16:creationId xmlns:a16="http://schemas.microsoft.com/office/drawing/2014/main" id="{E27C5CCB-55C5-ADFF-358C-556B28CC87EF}"/>
              </a:ext>
            </a:extLst>
          </p:cNvPr>
          <p:cNvCxnSpPr/>
          <p:nvPr/>
        </p:nvCxnSpPr>
        <p:spPr bwMode="auto">
          <a:xfrm>
            <a:off x="4953000" y="4412397"/>
            <a:ext cx="2516861" cy="0"/>
          </a:xfrm>
          <a:prstGeom prst="line">
            <a:avLst/>
          </a:prstGeom>
          <a:ln>
            <a:headEnd type="none" w="med" len="med"/>
            <a:tailEnd type="none" w="med" len="med"/>
          </a:ln>
        </p:spPr>
        <p:style>
          <a:lnRef idx="3">
            <a:schemeClr val="accent1"/>
          </a:lnRef>
          <a:fillRef idx="0">
            <a:schemeClr val="accent1"/>
          </a:fillRef>
          <a:effectRef idx="2">
            <a:schemeClr val="accent1"/>
          </a:effectRef>
          <a:fontRef idx="minor">
            <a:schemeClr val="tx1"/>
          </a:fontRef>
        </p:style>
      </p:cxnSp>
      <p:sp>
        <p:nvSpPr>
          <p:cNvPr id="4" name="灯片编号占位符 3">
            <a:extLst>
              <a:ext uri="{FF2B5EF4-FFF2-40B4-BE49-F238E27FC236}">
                <a16:creationId xmlns:a16="http://schemas.microsoft.com/office/drawing/2014/main" id="{6346FCA7-C8B2-ED43-A587-C192EABBC67B}"/>
              </a:ext>
            </a:extLst>
          </p:cNvPr>
          <p:cNvSpPr>
            <a:spLocks noGrp="1"/>
          </p:cNvSpPr>
          <p:nvPr>
            <p:ph type="sldNum" sz="quarter" idx="12"/>
          </p:nvPr>
        </p:nvSpPr>
        <p:spPr/>
        <p:txBody>
          <a:bodyPr/>
          <a:lstStyle/>
          <a:p>
            <a:pPr>
              <a:defRPr/>
            </a:pPr>
            <a:fld id="{E0CD82EA-F7BE-454B-A83E-18830F6C5424}" type="slidenum">
              <a:rPr lang="en-US" altLang="zh-CN" smtClean="0"/>
              <a:pPr>
                <a:defRPr/>
              </a:pPr>
              <a:t>17</a:t>
            </a:fld>
            <a:r>
              <a:rPr lang="en-US" altLang="zh-CN"/>
              <a:t>/138</a:t>
            </a:r>
            <a:endParaRPr lang="zh-CN" altLang="en-US" dirty="0"/>
          </a:p>
        </p:txBody>
      </p:sp>
    </p:spTree>
    <p:extLst>
      <p:ext uri="{BB962C8B-B14F-4D97-AF65-F5344CB8AC3E}">
        <p14:creationId xmlns:p14="http://schemas.microsoft.com/office/powerpoint/2010/main" val="9026523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fill="hold"/>
                                        <p:tgtEl>
                                          <p:spTgt spid="17"/>
                                        </p:tgtEl>
                                        <p:attrNameLst>
                                          <p:attrName>ppt_x</p:attrName>
                                        </p:attrNameLst>
                                      </p:cBhvr>
                                      <p:tavLst>
                                        <p:tav tm="0">
                                          <p:val>
                                            <p:strVal val="#ppt_x"/>
                                          </p:val>
                                        </p:tav>
                                        <p:tav tm="100000">
                                          <p:val>
                                            <p:strVal val="#ppt_x"/>
                                          </p:val>
                                        </p:tav>
                                      </p:tavLst>
                                    </p:anim>
                                    <p:anim calcmode="lin" valueType="num">
                                      <p:cBhvr additive="base">
                                        <p:cTn id="1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89B17C72-900E-45D4-AF9D-5ADC0C2266E8}" type="datetime1">
              <a:rPr kumimoji="0" lang="zh-CN" altLang="en-US" sz="1400" smtClean="0"/>
              <a:t>2025/10/15</a:t>
            </a:fld>
            <a:endParaRPr kumimoji="0" lang="en-US" altLang="zh-CN" sz="1400"/>
          </a:p>
        </p:txBody>
      </p:sp>
      <p:sp>
        <p:nvSpPr>
          <p:cNvPr id="9933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99333"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2" name="内容占位符 1">
            <a:extLst>
              <a:ext uri="{FF2B5EF4-FFF2-40B4-BE49-F238E27FC236}">
                <a16:creationId xmlns:a16="http://schemas.microsoft.com/office/drawing/2014/main" id="{1C24C5C0-F3E7-33B9-CC31-71B481CC227C}"/>
              </a:ext>
            </a:extLst>
          </p:cNvPr>
          <p:cNvSpPr>
            <a:spLocks noGrp="1"/>
          </p:cNvSpPr>
          <p:nvPr>
            <p:ph idx="1"/>
          </p:nvPr>
        </p:nvSpPr>
        <p:spPr/>
        <p:txBody>
          <a:bodyPr/>
          <a:lstStyle/>
          <a:p>
            <a:r>
              <a:rPr lang="zh-CN" altLang="en-US" sz="2800" dirty="0"/>
              <a:t>连接条件：</a:t>
            </a:r>
            <a:r>
              <a:rPr lang="en-US" altLang="zh-CN" sz="2800" dirty="0"/>
              <a:t>SQL</a:t>
            </a:r>
            <a:r>
              <a:rPr lang="zh-CN" altLang="en-US" sz="2800" dirty="0"/>
              <a:t>允通过</a:t>
            </a:r>
            <a:r>
              <a:rPr lang="en-US" altLang="zh-CN" sz="2800" dirty="0">
                <a:solidFill>
                  <a:srgbClr val="0000FF"/>
                </a:solidFill>
              </a:rPr>
              <a:t>on</a:t>
            </a:r>
            <a:r>
              <a:rPr lang="zh-CN" altLang="en-US" sz="2800" dirty="0">
                <a:solidFill>
                  <a:srgbClr val="0000FF"/>
                </a:solidFill>
              </a:rPr>
              <a:t>条件</a:t>
            </a:r>
            <a:r>
              <a:rPr lang="zh-CN" altLang="en-US" sz="2800" dirty="0"/>
              <a:t>在参与连接的关系上</a:t>
            </a:r>
            <a:r>
              <a:rPr lang="zh-CN" altLang="en-US" sz="2800" dirty="0">
                <a:solidFill>
                  <a:srgbClr val="800080"/>
                </a:solidFill>
              </a:rPr>
              <a:t>设置通用的谓词</a:t>
            </a:r>
            <a:r>
              <a:rPr lang="zh-CN" altLang="en-US" sz="2800" dirty="0"/>
              <a:t>；与</a:t>
            </a:r>
            <a:r>
              <a:rPr lang="en-US" altLang="zh-CN" sz="2800" dirty="0">
                <a:solidFill>
                  <a:srgbClr val="C00000"/>
                </a:solidFill>
              </a:rPr>
              <a:t>using</a:t>
            </a:r>
            <a:r>
              <a:rPr lang="zh-CN" altLang="en-US" sz="2800" dirty="0"/>
              <a:t>条件一样，出现在连接表达式的末尾。</a:t>
            </a:r>
          </a:p>
        </p:txBody>
      </p:sp>
      <p:sp>
        <p:nvSpPr>
          <p:cNvPr id="5" name="文本框 4">
            <a:extLst>
              <a:ext uri="{FF2B5EF4-FFF2-40B4-BE49-F238E27FC236}">
                <a16:creationId xmlns:a16="http://schemas.microsoft.com/office/drawing/2014/main" id="{DB197080-A7FA-9F64-060A-8D36CE6D4661}"/>
              </a:ext>
            </a:extLst>
          </p:cNvPr>
          <p:cNvSpPr txBox="1"/>
          <p:nvPr/>
        </p:nvSpPr>
        <p:spPr>
          <a:xfrm>
            <a:off x="1795863" y="2749961"/>
            <a:ext cx="7010400" cy="830997"/>
          </a:xfrm>
          <a:prstGeom prst="rect">
            <a:avLst/>
          </a:prstGeom>
          <a:noFill/>
        </p:spPr>
        <p:txBody>
          <a:bodyPr wrap="square">
            <a:spAutoFit/>
          </a:bodyPr>
          <a:lstStyle/>
          <a:p>
            <a:pPr algn="l"/>
            <a:r>
              <a:rPr lang="en-US" altLang="zh-CN" dirty="0">
                <a:latin typeface="+mn-lt"/>
              </a:rPr>
              <a:t>select *</a:t>
            </a:r>
          </a:p>
          <a:p>
            <a:pPr algn="l"/>
            <a:r>
              <a:rPr lang="en-US" altLang="zh-CN" dirty="0">
                <a:solidFill>
                  <a:srgbClr val="C00000"/>
                </a:solidFill>
                <a:latin typeface="+mn-lt"/>
              </a:rPr>
              <a:t>from</a:t>
            </a:r>
            <a:r>
              <a:rPr lang="en-US" altLang="zh-CN" dirty="0">
                <a:latin typeface="+mn-lt"/>
              </a:rPr>
              <a:t> student </a:t>
            </a:r>
            <a:r>
              <a:rPr lang="en-US" altLang="zh-CN" dirty="0">
                <a:solidFill>
                  <a:srgbClr val="0000FF"/>
                </a:solidFill>
                <a:latin typeface="+mn-lt"/>
              </a:rPr>
              <a:t>join</a:t>
            </a:r>
            <a:r>
              <a:rPr lang="en-US" altLang="zh-CN" dirty="0">
                <a:latin typeface="+mn-lt"/>
              </a:rPr>
              <a:t> takes </a:t>
            </a:r>
            <a:r>
              <a:rPr lang="en-US" altLang="zh-CN" u="sng" dirty="0">
                <a:solidFill>
                  <a:srgbClr val="0000FF"/>
                </a:solidFill>
                <a:latin typeface="+mn-lt"/>
              </a:rPr>
              <a:t>on</a:t>
            </a:r>
            <a:r>
              <a:rPr lang="en-US" altLang="zh-CN" u="sng" dirty="0">
                <a:latin typeface="+mn-lt"/>
              </a:rPr>
              <a:t> student.ID = takes.ID;</a:t>
            </a:r>
            <a:endParaRPr lang="zh-CN" altLang="en-US" u="sng" dirty="0">
              <a:latin typeface="+mn-lt"/>
            </a:endParaRPr>
          </a:p>
        </p:txBody>
      </p:sp>
      <p:sp>
        <p:nvSpPr>
          <p:cNvPr id="7" name="文本框 6">
            <a:extLst>
              <a:ext uri="{FF2B5EF4-FFF2-40B4-BE49-F238E27FC236}">
                <a16:creationId xmlns:a16="http://schemas.microsoft.com/office/drawing/2014/main" id="{D78F2B7E-5AFF-AB73-5EF7-FC476795F2D7}"/>
              </a:ext>
            </a:extLst>
          </p:cNvPr>
          <p:cNvSpPr txBox="1"/>
          <p:nvPr/>
        </p:nvSpPr>
        <p:spPr>
          <a:xfrm>
            <a:off x="3418895" y="3895843"/>
            <a:ext cx="4572000" cy="1138773"/>
          </a:xfrm>
          <a:prstGeom prst="rect">
            <a:avLst/>
          </a:prstGeom>
          <a:noFill/>
        </p:spPr>
        <p:txBody>
          <a:bodyPr wrap="square">
            <a:spAutoFit/>
          </a:bodyPr>
          <a:lstStyle/>
          <a:p>
            <a:pPr algn="l"/>
            <a:r>
              <a:rPr lang="en-US" altLang="zh-CN" sz="2200" dirty="0">
                <a:latin typeface="+mn-lt"/>
              </a:rPr>
              <a:t>select *</a:t>
            </a:r>
          </a:p>
          <a:p>
            <a:pPr algn="l"/>
            <a:r>
              <a:rPr lang="en-US" altLang="zh-CN" sz="2200" dirty="0">
                <a:latin typeface="+mn-lt"/>
              </a:rPr>
              <a:t>from student, takes</a:t>
            </a:r>
          </a:p>
          <a:p>
            <a:pPr algn="l"/>
            <a:r>
              <a:rPr lang="en-US" altLang="zh-CN" sz="2200" u="sng" dirty="0">
                <a:latin typeface="+mn-lt"/>
              </a:rPr>
              <a:t>where </a:t>
            </a:r>
            <a:r>
              <a:rPr lang="en-US" altLang="zh-CN" sz="2200" u="sng" dirty="0">
                <a:solidFill>
                  <a:srgbClr val="0000FF"/>
                </a:solidFill>
                <a:latin typeface="+mn-lt"/>
              </a:rPr>
              <a:t>student.ID = takes.ID</a:t>
            </a:r>
            <a:r>
              <a:rPr lang="en-US" altLang="zh-CN" sz="2200" u="sng" dirty="0">
                <a:latin typeface="+mn-lt"/>
              </a:rPr>
              <a:t>;</a:t>
            </a:r>
            <a:endParaRPr lang="zh-CN" altLang="en-US" sz="2200" u="sng" dirty="0">
              <a:latin typeface="+mn-lt"/>
            </a:endParaRPr>
          </a:p>
        </p:txBody>
      </p:sp>
      <p:sp>
        <p:nvSpPr>
          <p:cNvPr id="8" name="箭头: 上下 7">
            <a:extLst>
              <a:ext uri="{FF2B5EF4-FFF2-40B4-BE49-F238E27FC236}">
                <a16:creationId xmlns:a16="http://schemas.microsoft.com/office/drawing/2014/main" id="{314052B7-AFAD-A1E1-2735-9D4A27711333}"/>
              </a:ext>
            </a:extLst>
          </p:cNvPr>
          <p:cNvSpPr/>
          <p:nvPr/>
        </p:nvSpPr>
        <p:spPr bwMode="auto">
          <a:xfrm>
            <a:off x="3980656" y="3574197"/>
            <a:ext cx="304800" cy="388203"/>
          </a:xfrm>
          <a:prstGeom prst="up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sp>
        <p:nvSpPr>
          <p:cNvPr id="9" name="文本框 8">
            <a:extLst>
              <a:ext uri="{FF2B5EF4-FFF2-40B4-BE49-F238E27FC236}">
                <a16:creationId xmlns:a16="http://schemas.microsoft.com/office/drawing/2014/main" id="{AB542501-2D82-1997-87FE-C61CE0329950}"/>
              </a:ext>
            </a:extLst>
          </p:cNvPr>
          <p:cNvSpPr txBox="1"/>
          <p:nvPr/>
        </p:nvSpPr>
        <p:spPr>
          <a:xfrm>
            <a:off x="4343400" y="3562290"/>
            <a:ext cx="697627" cy="400110"/>
          </a:xfrm>
          <a:prstGeom prst="rect">
            <a:avLst/>
          </a:prstGeom>
          <a:noFill/>
        </p:spPr>
        <p:txBody>
          <a:bodyPr wrap="none" rtlCol="0">
            <a:spAutoFit/>
          </a:bodyPr>
          <a:lstStyle/>
          <a:p>
            <a:r>
              <a:rPr lang="zh-CN" altLang="en-US" sz="2000" dirty="0"/>
              <a:t>等价</a:t>
            </a:r>
          </a:p>
        </p:txBody>
      </p:sp>
      <p:sp>
        <p:nvSpPr>
          <p:cNvPr id="10" name="文本框 9">
            <a:extLst>
              <a:ext uri="{FF2B5EF4-FFF2-40B4-BE49-F238E27FC236}">
                <a16:creationId xmlns:a16="http://schemas.microsoft.com/office/drawing/2014/main" id="{B1C36ACC-60C3-5073-1412-B752CCB66A50}"/>
              </a:ext>
            </a:extLst>
          </p:cNvPr>
          <p:cNvSpPr txBox="1"/>
          <p:nvPr/>
        </p:nvSpPr>
        <p:spPr>
          <a:xfrm>
            <a:off x="76200" y="3754863"/>
            <a:ext cx="3201988"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dirty="0"/>
              <a:t>与自然连接的</a:t>
            </a:r>
            <a:r>
              <a:rPr lang="zh-CN" altLang="en-US" b="1" dirty="0"/>
              <a:t>区别</a:t>
            </a:r>
            <a:r>
              <a:rPr lang="zh-CN" altLang="en-US" dirty="0"/>
              <a:t>就在于，在普通内连接中重复属性列会出现</a:t>
            </a:r>
          </a:p>
        </p:txBody>
      </p:sp>
      <p:sp>
        <p:nvSpPr>
          <p:cNvPr id="12" name="文本框 11">
            <a:extLst>
              <a:ext uri="{FF2B5EF4-FFF2-40B4-BE49-F238E27FC236}">
                <a16:creationId xmlns:a16="http://schemas.microsoft.com/office/drawing/2014/main" id="{93BC9DE3-9BC6-D7DB-7B9E-3F79D98CBD8A}"/>
              </a:ext>
            </a:extLst>
          </p:cNvPr>
          <p:cNvSpPr txBox="1"/>
          <p:nvPr/>
        </p:nvSpPr>
        <p:spPr>
          <a:xfrm>
            <a:off x="-19050" y="5180080"/>
            <a:ext cx="6648452" cy="1107996"/>
          </a:xfrm>
          <a:prstGeom prst="rect">
            <a:avLst/>
          </a:prstGeom>
          <a:noFill/>
        </p:spPr>
        <p:txBody>
          <a:bodyPr wrap="square">
            <a:spAutoFit/>
          </a:bodyPr>
          <a:lstStyle/>
          <a:p>
            <a:r>
              <a:rPr lang="en-US" altLang="zh-CN" sz="2200" dirty="0">
                <a:solidFill>
                  <a:srgbClr val="660066"/>
                </a:solidFill>
                <a:latin typeface="+mn-lt"/>
              </a:rPr>
              <a:t>select</a:t>
            </a:r>
            <a:r>
              <a:rPr lang="en-US" altLang="zh-CN" sz="2200" dirty="0">
                <a:latin typeface="+mn-lt"/>
              </a:rPr>
              <a:t> </a:t>
            </a:r>
            <a:r>
              <a:rPr lang="en-US" altLang="zh-CN" sz="2200" u="sng" dirty="0">
                <a:solidFill>
                  <a:srgbClr val="006600"/>
                </a:solidFill>
                <a:latin typeface="+mn-lt"/>
              </a:rPr>
              <a:t>student.ID as ID</a:t>
            </a:r>
            <a:r>
              <a:rPr lang="en-US" altLang="zh-CN" sz="2200" dirty="0">
                <a:latin typeface="+mn-lt"/>
              </a:rPr>
              <a:t>, name, dept name, </a:t>
            </a:r>
            <a:r>
              <a:rPr lang="en-US" altLang="zh-CN" sz="2200" dirty="0" err="1">
                <a:latin typeface="+mn-lt"/>
              </a:rPr>
              <a:t>tot_cred</a:t>
            </a:r>
            <a:r>
              <a:rPr lang="en-US" altLang="zh-CN" sz="2200" dirty="0">
                <a:latin typeface="+mn-lt"/>
              </a:rPr>
              <a:t>, </a:t>
            </a:r>
            <a:r>
              <a:rPr lang="en-US" altLang="zh-CN" sz="2200" dirty="0" err="1">
                <a:latin typeface="+mn-lt"/>
              </a:rPr>
              <a:t>course_id</a:t>
            </a:r>
            <a:r>
              <a:rPr lang="en-US" altLang="zh-CN" sz="2200" dirty="0">
                <a:latin typeface="+mn-lt"/>
              </a:rPr>
              <a:t>, </a:t>
            </a:r>
            <a:r>
              <a:rPr lang="en-US" altLang="zh-CN" sz="2200" dirty="0" err="1">
                <a:latin typeface="+mn-lt"/>
              </a:rPr>
              <a:t>sec_id</a:t>
            </a:r>
            <a:r>
              <a:rPr lang="en-US" altLang="zh-CN" sz="2200" dirty="0">
                <a:latin typeface="+mn-lt"/>
              </a:rPr>
              <a:t>, semester, year, grade</a:t>
            </a:r>
          </a:p>
          <a:p>
            <a:pPr algn="l"/>
            <a:r>
              <a:rPr lang="en-US" altLang="zh-CN" sz="2200" dirty="0">
                <a:latin typeface="+mn-lt"/>
              </a:rPr>
              <a:t>  </a:t>
            </a:r>
            <a:r>
              <a:rPr lang="en-US" altLang="zh-CN" sz="2200" dirty="0">
                <a:solidFill>
                  <a:srgbClr val="660066"/>
                </a:solidFill>
                <a:latin typeface="+mn-lt"/>
              </a:rPr>
              <a:t>from</a:t>
            </a:r>
            <a:r>
              <a:rPr lang="en-US" altLang="zh-CN" sz="2200" dirty="0">
                <a:latin typeface="+mn-lt"/>
              </a:rPr>
              <a:t> student </a:t>
            </a:r>
            <a:r>
              <a:rPr lang="en-US" altLang="zh-CN" sz="2200" dirty="0">
                <a:solidFill>
                  <a:srgbClr val="0000FF"/>
                </a:solidFill>
                <a:latin typeface="+mn-lt"/>
              </a:rPr>
              <a:t>join</a:t>
            </a:r>
            <a:r>
              <a:rPr lang="en-US" altLang="zh-CN" sz="2200" dirty="0">
                <a:latin typeface="+mn-lt"/>
              </a:rPr>
              <a:t> takes </a:t>
            </a:r>
            <a:r>
              <a:rPr lang="en-US" altLang="zh-CN" sz="2200" u="sng" dirty="0">
                <a:solidFill>
                  <a:srgbClr val="0000FF"/>
                </a:solidFill>
                <a:latin typeface="+mn-lt"/>
              </a:rPr>
              <a:t>on</a:t>
            </a:r>
            <a:r>
              <a:rPr lang="en-US" altLang="zh-CN" sz="2200" u="sng" dirty="0">
                <a:latin typeface="+mn-lt"/>
              </a:rPr>
              <a:t> student.ID=takes.ID</a:t>
            </a:r>
            <a:r>
              <a:rPr lang="en-US" altLang="zh-CN" sz="2200" dirty="0">
                <a:latin typeface="+mn-lt"/>
              </a:rPr>
              <a:t>;</a:t>
            </a:r>
            <a:endParaRPr lang="zh-CN" altLang="en-US" sz="2200" dirty="0">
              <a:latin typeface="+mn-lt"/>
            </a:endParaRPr>
          </a:p>
        </p:txBody>
      </p:sp>
      <p:sp>
        <p:nvSpPr>
          <p:cNvPr id="14" name="箭头: 上下 13">
            <a:extLst>
              <a:ext uri="{FF2B5EF4-FFF2-40B4-BE49-F238E27FC236}">
                <a16:creationId xmlns:a16="http://schemas.microsoft.com/office/drawing/2014/main" id="{490176C5-CF91-35D9-6675-9863653EDEC7}"/>
              </a:ext>
            </a:extLst>
          </p:cNvPr>
          <p:cNvSpPr/>
          <p:nvPr/>
        </p:nvSpPr>
        <p:spPr bwMode="auto">
          <a:xfrm rot="5400000">
            <a:off x="6038849" y="5539977"/>
            <a:ext cx="304800" cy="388203"/>
          </a:xfrm>
          <a:prstGeom prst="up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sp>
        <p:nvSpPr>
          <p:cNvPr id="16" name="文本框 15">
            <a:extLst>
              <a:ext uri="{FF2B5EF4-FFF2-40B4-BE49-F238E27FC236}">
                <a16:creationId xmlns:a16="http://schemas.microsoft.com/office/drawing/2014/main" id="{66DDF79A-30DF-7897-D8E9-5C816E9DD732}"/>
              </a:ext>
            </a:extLst>
          </p:cNvPr>
          <p:cNvSpPr txBox="1"/>
          <p:nvPr/>
        </p:nvSpPr>
        <p:spPr>
          <a:xfrm>
            <a:off x="6269251" y="5180080"/>
            <a:ext cx="2859088" cy="1107996"/>
          </a:xfrm>
          <a:prstGeom prst="rect">
            <a:avLst/>
          </a:prstGeom>
          <a:noFill/>
        </p:spPr>
        <p:txBody>
          <a:bodyPr wrap="square">
            <a:spAutoFit/>
          </a:bodyPr>
          <a:lstStyle/>
          <a:p>
            <a:r>
              <a:rPr lang="en-US" altLang="zh-CN" sz="2200" b="0" u="none" strike="noStrike" baseline="0" dirty="0">
                <a:latin typeface="+mn-lt"/>
              </a:rPr>
              <a:t>Select * </a:t>
            </a:r>
          </a:p>
          <a:p>
            <a:r>
              <a:rPr lang="en-US" altLang="zh-CN" sz="2200" b="0" u="none" strike="noStrike" baseline="0" dirty="0">
                <a:latin typeface="+mn-lt"/>
              </a:rPr>
              <a:t>from student </a:t>
            </a:r>
            <a:r>
              <a:rPr lang="en-US" altLang="zh-CN" sz="2200" b="0" u="none" strike="noStrike" baseline="0" dirty="0">
                <a:solidFill>
                  <a:srgbClr val="0000FF"/>
                </a:solidFill>
                <a:latin typeface="+mn-lt"/>
              </a:rPr>
              <a:t>natural join </a:t>
            </a:r>
            <a:r>
              <a:rPr lang="en-US" altLang="zh-CN" sz="2200" b="0" u="none" strike="noStrike" baseline="0" dirty="0">
                <a:latin typeface="+mn-lt"/>
              </a:rPr>
              <a:t>takes</a:t>
            </a:r>
            <a:endParaRPr lang="zh-CN" altLang="en-US" sz="2200" dirty="0">
              <a:latin typeface="+mn-lt"/>
            </a:endParaRPr>
          </a:p>
        </p:txBody>
      </p:sp>
      <p:sp>
        <p:nvSpPr>
          <p:cNvPr id="6" name="灯片编号占位符 5">
            <a:extLst>
              <a:ext uri="{FF2B5EF4-FFF2-40B4-BE49-F238E27FC236}">
                <a16:creationId xmlns:a16="http://schemas.microsoft.com/office/drawing/2014/main" id="{8FB2804B-6022-093C-7C5C-892B77E4202A}"/>
              </a:ext>
            </a:extLst>
          </p:cNvPr>
          <p:cNvSpPr>
            <a:spLocks noGrp="1"/>
          </p:cNvSpPr>
          <p:nvPr>
            <p:ph type="sldNum" sz="quarter" idx="12"/>
          </p:nvPr>
        </p:nvSpPr>
        <p:spPr/>
        <p:txBody>
          <a:bodyPr/>
          <a:lstStyle/>
          <a:p>
            <a:pPr>
              <a:defRPr/>
            </a:pPr>
            <a:fld id="{E0CD82EA-F7BE-454B-A83E-18830F6C5424}" type="slidenum">
              <a:rPr lang="en-US" altLang="zh-CN" smtClean="0"/>
              <a:pPr>
                <a:defRPr/>
              </a:pPr>
              <a:t>18</a:t>
            </a:fld>
            <a:r>
              <a:rPr lang="en-US" altLang="zh-CN"/>
              <a:t>/138</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4" grpId="0" animBg="1"/>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92BB2D8C-241D-428A-87D8-9265FF1891F6}" type="datetime1">
              <a:rPr kumimoji="0" lang="zh-CN" altLang="en-US" sz="1400" smtClean="0"/>
              <a:t>2025/10/15</a:t>
            </a:fld>
            <a:endParaRPr kumimoji="0" lang="en-US" altLang="zh-CN" sz="1400"/>
          </a:p>
        </p:txBody>
      </p:sp>
      <p:sp>
        <p:nvSpPr>
          <p:cNvPr id="9933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99333"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2" name="内容占位符 1">
            <a:extLst>
              <a:ext uri="{FF2B5EF4-FFF2-40B4-BE49-F238E27FC236}">
                <a16:creationId xmlns:a16="http://schemas.microsoft.com/office/drawing/2014/main" id="{1C24C5C0-F3E7-33B9-CC31-71B481CC227C}"/>
              </a:ext>
            </a:extLst>
          </p:cNvPr>
          <p:cNvSpPr>
            <a:spLocks noGrp="1"/>
          </p:cNvSpPr>
          <p:nvPr>
            <p:ph idx="1"/>
          </p:nvPr>
        </p:nvSpPr>
        <p:spPr>
          <a:xfrm>
            <a:off x="609600" y="1447800"/>
            <a:ext cx="8345488" cy="4876800"/>
          </a:xfrm>
        </p:spPr>
        <p:txBody>
          <a:bodyPr/>
          <a:lstStyle/>
          <a:p>
            <a:r>
              <a:rPr lang="zh-CN" altLang="en-US" sz="2400" dirty="0"/>
              <a:t>连接条件：</a:t>
            </a:r>
            <a:r>
              <a:rPr lang="en-US" altLang="zh-CN" sz="2400" dirty="0"/>
              <a:t>SQL</a:t>
            </a:r>
            <a:r>
              <a:rPr lang="zh-CN" altLang="en-US" sz="2400" dirty="0"/>
              <a:t>允通过</a:t>
            </a:r>
            <a:r>
              <a:rPr lang="en-US" altLang="zh-CN" sz="2400" dirty="0">
                <a:solidFill>
                  <a:srgbClr val="0000FF"/>
                </a:solidFill>
              </a:rPr>
              <a:t>on</a:t>
            </a:r>
            <a:r>
              <a:rPr lang="zh-CN" altLang="en-US" sz="2400" dirty="0">
                <a:solidFill>
                  <a:srgbClr val="0000FF"/>
                </a:solidFill>
              </a:rPr>
              <a:t>条件</a:t>
            </a:r>
            <a:r>
              <a:rPr lang="zh-CN" altLang="en-US" sz="2400" dirty="0"/>
              <a:t>在参与连接的关系上设置通用的谓词。</a:t>
            </a:r>
            <a:endParaRPr lang="en-US" altLang="zh-CN" sz="2400" dirty="0"/>
          </a:p>
          <a:p>
            <a:r>
              <a:rPr lang="zh-CN" altLang="en-US" sz="2400" dirty="0"/>
              <a:t>加</a:t>
            </a:r>
            <a:r>
              <a:rPr lang="en-US" altLang="zh-CN" sz="2400" dirty="0"/>
              <a:t>on</a:t>
            </a:r>
            <a:r>
              <a:rPr lang="zh-CN" altLang="en-US" sz="2400" dirty="0"/>
              <a:t>条件可以</a:t>
            </a:r>
            <a:r>
              <a:rPr lang="zh-CN" altLang="en-US" sz="2400" dirty="0">
                <a:solidFill>
                  <a:srgbClr val="0000FF"/>
                </a:solidFill>
              </a:rPr>
              <a:t>表达任何 </a:t>
            </a:r>
            <a:r>
              <a:rPr lang="en-US" altLang="zh-CN" sz="2400" dirty="0">
                <a:solidFill>
                  <a:srgbClr val="0000FF"/>
                </a:solidFill>
              </a:rPr>
              <a:t>SQL</a:t>
            </a:r>
            <a:r>
              <a:rPr lang="zh-CN" altLang="en-US" sz="2400" dirty="0">
                <a:solidFill>
                  <a:srgbClr val="0000FF"/>
                </a:solidFill>
              </a:rPr>
              <a:t>谓词</a:t>
            </a:r>
            <a:r>
              <a:rPr lang="zh-CN" altLang="en-US" sz="2400" dirty="0"/>
              <a:t>，因而使用</a:t>
            </a:r>
            <a:r>
              <a:rPr lang="en-US" altLang="zh-CN" sz="2400" dirty="0"/>
              <a:t>on </a:t>
            </a:r>
            <a:r>
              <a:rPr lang="zh-CN" altLang="en-US" sz="2400" dirty="0"/>
              <a:t>条件的连接表达式就可以表示比自然连接</a:t>
            </a:r>
            <a:r>
              <a:rPr lang="zh-CN" altLang="en-US" sz="2400" dirty="0">
                <a:solidFill>
                  <a:srgbClr val="0000FF"/>
                </a:solidFill>
              </a:rPr>
              <a:t>更为丰富的连接条件</a:t>
            </a:r>
            <a:r>
              <a:rPr lang="zh-CN" altLang="en-US" sz="2400" dirty="0"/>
              <a:t>。</a:t>
            </a:r>
            <a:endParaRPr lang="en-US" altLang="zh-CN" sz="2400" dirty="0"/>
          </a:p>
          <a:p>
            <a:r>
              <a:rPr lang="zh-CN" altLang="en-US" sz="2400" dirty="0"/>
              <a:t>然而，正如我们前面的示例所示，使用</a:t>
            </a:r>
            <a:r>
              <a:rPr lang="zh-CN" altLang="en-US" sz="2400" dirty="0">
                <a:solidFill>
                  <a:srgbClr val="C00000"/>
                </a:solidFill>
              </a:rPr>
              <a:t>带</a:t>
            </a:r>
            <a:r>
              <a:rPr lang="en-US" altLang="zh-CN" sz="2400" dirty="0">
                <a:solidFill>
                  <a:srgbClr val="C00000"/>
                </a:solidFill>
              </a:rPr>
              <a:t>on</a:t>
            </a:r>
            <a:r>
              <a:rPr lang="zh-CN" altLang="en-US" sz="2400" dirty="0">
                <a:solidFill>
                  <a:srgbClr val="C00000"/>
                </a:solidFill>
              </a:rPr>
              <a:t>条件的连接表达式的查询</a:t>
            </a:r>
            <a:r>
              <a:rPr lang="zh-CN" altLang="en-US" sz="2400" dirty="0"/>
              <a:t>可以用</a:t>
            </a:r>
            <a:r>
              <a:rPr lang="zh-CN" altLang="en-US" sz="2400" dirty="0">
                <a:solidFill>
                  <a:srgbClr val="C00000"/>
                </a:solidFill>
              </a:rPr>
              <a:t>不带</a:t>
            </a:r>
            <a:r>
              <a:rPr lang="en-US" altLang="zh-CN" sz="2400" dirty="0">
                <a:solidFill>
                  <a:srgbClr val="C00000"/>
                </a:solidFill>
              </a:rPr>
              <a:t>on</a:t>
            </a:r>
            <a:r>
              <a:rPr lang="zh-CN" altLang="en-US" sz="2400" dirty="0">
                <a:solidFill>
                  <a:srgbClr val="C00000"/>
                </a:solidFill>
              </a:rPr>
              <a:t>条件的等价表达式</a:t>
            </a:r>
            <a:r>
              <a:rPr lang="zh-CN" altLang="en-US" sz="2400" dirty="0"/>
              <a:t>来</a:t>
            </a:r>
            <a:r>
              <a:rPr lang="zh-CN" altLang="en-US" sz="2400" b="1" dirty="0"/>
              <a:t>替换</a:t>
            </a:r>
            <a:r>
              <a:rPr lang="zh-CN" altLang="en-US" sz="2400" dirty="0"/>
              <a:t>，只要把</a:t>
            </a:r>
            <a:r>
              <a:rPr lang="en-US" altLang="zh-CN" sz="2400" dirty="0">
                <a:solidFill>
                  <a:srgbClr val="0000FF"/>
                </a:solidFill>
              </a:rPr>
              <a:t>on</a:t>
            </a:r>
            <a:r>
              <a:rPr lang="zh-CN" altLang="en-US" sz="2400" dirty="0">
                <a:solidFill>
                  <a:srgbClr val="0000FF"/>
                </a:solidFill>
              </a:rPr>
              <a:t>子句中的谓词</a:t>
            </a:r>
            <a:r>
              <a:rPr lang="zh-CN" altLang="en-US" sz="2400" dirty="0"/>
              <a:t>移到</a:t>
            </a:r>
            <a:r>
              <a:rPr lang="en-US" altLang="zh-CN" sz="2400" dirty="0">
                <a:solidFill>
                  <a:srgbClr val="0000FF"/>
                </a:solidFill>
              </a:rPr>
              <a:t>where</a:t>
            </a:r>
            <a:r>
              <a:rPr lang="zh-CN" altLang="en-US" sz="2400" dirty="0">
                <a:solidFill>
                  <a:srgbClr val="0000FF"/>
                </a:solidFill>
              </a:rPr>
              <a:t>子句中</a:t>
            </a:r>
            <a:r>
              <a:rPr lang="zh-CN" altLang="en-US" sz="2400" dirty="0"/>
              <a:t>即可。因此，</a:t>
            </a:r>
            <a:r>
              <a:rPr lang="en-US" altLang="zh-CN" sz="2400" dirty="0"/>
              <a:t>on</a:t>
            </a:r>
            <a:r>
              <a:rPr lang="zh-CN" altLang="en-US" sz="2400" dirty="0"/>
              <a:t>条件看起来似乎是一个冗余的 </a:t>
            </a:r>
            <a:r>
              <a:rPr lang="en-US" altLang="zh-CN" sz="2400" dirty="0"/>
              <a:t>SQL</a:t>
            </a:r>
            <a:r>
              <a:rPr lang="zh-CN" altLang="en-US" sz="2400" dirty="0"/>
              <a:t>特征。</a:t>
            </a:r>
            <a:endParaRPr lang="en-US" altLang="zh-CN" sz="2400" dirty="0"/>
          </a:p>
          <a:p>
            <a:r>
              <a:rPr lang="zh-CN" altLang="en-US" sz="2400" dirty="0">
                <a:solidFill>
                  <a:srgbClr val="FF0000"/>
                </a:solidFill>
              </a:rPr>
              <a:t>为什么引入</a:t>
            </a:r>
            <a:r>
              <a:rPr lang="en-US" altLang="zh-CN" sz="2400" dirty="0">
                <a:solidFill>
                  <a:srgbClr val="FF0000"/>
                </a:solidFill>
              </a:rPr>
              <a:t>on</a:t>
            </a:r>
            <a:r>
              <a:rPr lang="zh-CN" altLang="en-US" sz="2400" dirty="0">
                <a:solidFill>
                  <a:srgbClr val="FF0000"/>
                </a:solidFill>
              </a:rPr>
              <a:t>条件？</a:t>
            </a:r>
            <a:r>
              <a:rPr lang="zh-CN" altLang="en-US" sz="2400" dirty="0"/>
              <a:t>首先，对于稍后讲解的</a:t>
            </a:r>
            <a:r>
              <a:rPr lang="zh-CN" altLang="en-US" sz="2400" dirty="0">
                <a:solidFill>
                  <a:srgbClr val="0000FF"/>
                </a:solidFill>
              </a:rPr>
              <a:t>外连接</a:t>
            </a:r>
            <a:r>
              <a:rPr lang="zh-CN" altLang="en-US" sz="2400" dirty="0"/>
              <a:t>来说，</a:t>
            </a:r>
            <a:r>
              <a:rPr lang="en-US" altLang="zh-CN" sz="2400" dirty="0"/>
              <a:t>on</a:t>
            </a:r>
            <a:r>
              <a:rPr lang="zh-CN" altLang="en-US" sz="2400" dirty="0"/>
              <a:t>条件的表现与</a:t>
            </a:r>
            <a:r>
              <a:rPr lang="en-US" altLang="zh-CN" sz="2400" dirty="0"/>
              <a:t>where </a:t>
            </a:r>
            <a:r>
              <a:rPr lang="zh-CN" altLang="en-US" sz="2400" dirty="0"/>
              <a:t>条件的确是不同的。其次，如果在</a:t>
            </a:r>
            <a:r>
              <a:rPr lang="en-US" altLang="zh-CN" sz="2400" dirty="0">
                <a:solidFill>
                  <a:srgbClr val="0000FF"/>
                </a:solidFill>
              </a:rPr>
              <a:t>on</a:t>
            </a:r>
            <a:r>
              <a:rPr lang="zh-CN" altLang="en-US" sz="2400" dirty="0">
                <a:solidFill>
                  <a:srgbClr val="0000FF"/>
                </a:solidFill>
              </a:rPr>
              <a:t>子句中指定连接条件</a:t>
            </a:r>
            <a:r>
              <a:rPr lang="zh-CN" altLang="en-US" sz="2400" dirty="0"/>
              <a:t>，</a:t>
            </a:r>
            <a:r>
              <a:rPr lang="en-US" altLang="zh-CN" sz="2400" dirty="0">
                <a:solidFill>
                  <a:srgbClr val="0000FF"/>
                </a:solidFill>
              </a:rPr>
              <a:t>where</a:t>
            </a:r>
            <a:r>
              <a:rPr lang="zh-CN" altLang="en-US" sz="2400" dirty="0">
                <a:solidFill>
                  <a:srgbClr val="0000FF"/>
                </a:solidFill>
              </a:rPr>
              <a:t>子句出现其余条件</a:t>
            </a:r>
            <a:r>
              <a:rPr lang="en-US" altLang="zh-CN" sz="2400" dirty="0"/>
              <a:t>(</a:t>
            </a:r>
            <a:r>
              <a:rPr lang="zh-CN" altLang="en-US" sz="2400" dirty="0"/>
              <a:t>复合条件连接查询</a:t>
            </a:r>
            <a:r>
              <a:rPr lang="en-US" altLang="zh-CN" sz="2400" dirty="0"/>
              <a:t>)</a:t>
            </a:r>
            <a:r>
              <a:rPr lang="zh-CN" altLang="en-US" sz="2400" dirty="0"/>
              <a:t>，</a:t>
            </a:r>
            <a:r>
              <a:rPr lang="en-US" altLang="zh-CN" sz="2400" dirty="0"/>
              <a:t>SQL</a:t>
            </a:r>
            <a:r>
              <a:rPr lang="zh-CN" altLang="en-US" sz="2400" dirty="0"/>
              <a:t>语句会更易懂。</a:t>
            </a:r>
            <a:endParaRPr lang="en-US" altLang="zh-CN" sz="2400" dirty="0"/>
          </a:p>
          <a:p>
            <a:endParaRPr lang="zh-CN" altLang="en-US" sz="2400" dirty="0"/>
          </a:p>
        </p:txBody>
      </p:sp>
      <p:sp>
        <p:nvSpPr>
          <p:cNvPr id="5" name="灯片编号占位符 4">
            <a:extLst>
              <a:ext uri="{FF2B5EF4-FFF2-40B4-BE49-F238E27FC236}">
                <a16:creationId xmlns:a16="http://schemas.microsoft.com/office/drawing/2014/main" id="{0AE866F5-8655-4FD6-5C16-DA18F7C952AF}"/>
              </a:ext>
            </a:extLst>
          </p:cNvPr>
          <p:cNvSpPr>
            <a:spLocks noGrp="1"/>
          </p:cNvSpPr>
          <p:nvPr>
            <p:ph type="sldNum" sz="quarter" idx="12"/>
          </p:nvPr>
        </p:nvSpPr>
        <p:spPr/>
        <p:txBody>
          <a:bodyPr/>
          <a:lstStyle/>
          <a:p>
            <a:pPr>
              <a:defRPr/>
            </a:pPr>
            <a:fld id="{E0CD82EA-F7BE-454B-A83E-18830F6C5424}" type="slidenum">
              <a:rPr lang="en-US" altLang="zh-CN" smtClean="0"/>
              <a:pPr>
                <a:defRPr/>
              </a:pPr>
              <a:t>19</a:t>
            </a:fld>
            <a:r>
              <a:rPr lang="en-US" altLang="zh-CN"/>
              <a:t>/138</a:t>
            </a:r>
            <a:endParaRPr lang="zh-CN" altLang="en-US" dirty="0"/>
          </a:p>
        </p:txBody>
      </p:sp>
    </p:spTree>
    <p:extLst>
      <p:ext uri="{BB962C8B-B14F-4D97-AF65-F5344CB8AC3E}">
        <p14:creationId xmlns:p14="http://schemas.microsoft.com/office/powerpoint/2010/main" val="391642862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B6746645-7AE7-4174-BB7E-ABCB0213B2AE}" type="datetime1">
              <a:rPr kumimoji="0" lang="zh-CN" altLang="en-US" sz="1400" smtClean="0"/>
              <a:t>2025/10/15</a:t>
            </a:fld>
            <a:endParaRPr kumimoji="0" lang="en-US" altLang="zh-CN" sz="1400"/>
          </a:p>
        </p:txBody>
      </p:sp>
      <p:sp>
        <p:nvSpPr>
          <p:cNvPr id="105475"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5477"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105478" name="Rectangle 3"/>
          <p:cNvSpPr>
            <a:spLocks noGrp="1" noChangeArrowheads="1"/>
          </p:cNvSpPr>
          <p:nvPr>
            <p:ph type="body" idx="1"/>
          </p:nvPr>
        </p:nvSpPr>
        <p:spPr>
          <a:xfrm>
            <a:off x="609600" y="1447800"/>
            <a:ext cx="8458200" cy="4684713"/>
          </a:xfrm>
        </p:spPr>
        <p:txBody>
          <a:bodyPr/>
          <a:lstStyle/>
          <a:p>
            <a:pPr eaLnBrk="1" hangingPunct="1">
              <a:buFont typeface="Wingdings" pitchFamily="2" charset="2"/>
              <a:buNone/>
            </a:pPr>
            <a:r>
              <a:rPr lang="zh-CN" altLang="en-US" dirty="0"/>
              <a:t>三、外连接 </a:t>
            </a:r>
          </a:p>
          <a:p>
            <a:pPr eaLnBrk="1" hangingPunct="1"/>
            <a:r>
              <a:rPr lang="zh-CN" altLang="en-US" dirty="0"/>
              <a:t>通常连接操作可能</a:t>
            </a:r>
            <a:r>
              <a:rPr lang="zh-CN" altLang="en-US" dirty="0">
                <a:solidFill>
                  <a:srgbClr val="C00000"/>
                </a:solidFill>
              </a:rPr>
              <a:t>会丢失适配元组</a:t>
            </a:r>
            <a:r>
              <a:rPr lang="zh-CN" altLang="en-US" dirty="0"/>
              <a:t>。</a:t>
            </a:r>
          </a:p>
          <a:p>
            <a:pPr eaLnBrk="1" hangingPunct="1"/>
            <a:r>
              <a:rPr lang="zh-CN" altLang="en-US" dirty="0"/>
              <a:t>引入外连接</a:t>
            </a:r>
            <a:r>
              <a:rPr lang="zh-CN" altLang="en-US" sz="2800" dirty="0"/>
              <a:t>（</a:t>
            </a:r>
            <a:r>
              <a:rPr lang="en-US" altLang="zh-CN" sz="2800" dirty="0"/>
              <a:t>2.4</a:t>
            </a:r>
            <a:r>
              <a:rPr lang="zh-CN" altLang="en-US" sz="2800" dirty="0"/>
              <a:t>关系代数一节已经详细讨论，通过创建空值元组来保留那些在连接中丢失的元组）</a:t>
            </a:r>
          </a:p>
          <a:p>
            <a:pPr lvl="1" eaLnBrk="1" hangingPunct="1"/>
            <a:r>
              <a:rPr lang="zh-CN" altLang="en-US" dirty="0"/>
              <a:t>左外连接 </a:t>
            </a:r>
            <a:r>
              <a:rPr lang="en-US" altLang="zh-CN" dirty="0">
                <a:solidFill>
                  <a:srgbClr val="0000FF"/>
                </a:solidFill>
              </a:rPr>
              <a:t>LEFT</a:t>
            </a:r>
            <a:r>
              <a:rPr lang="en-US" altLang="zh-CN" dirty="0"/>
              <a:t> </a:t>
            </a:r>
            <a:r>
              <a:rPr lang="en-US" altLang="zh-CN" dirty="0">
                <a:solidFill>
                  <a:srgbClr val="C00000"/>
                </a:solidFill>
              </a:rPr>
              <a:t>OUTER</a:t>
            </a:r>
            <a:r>
              <a:rPr lang="en-US" altLang="zh-CN" dirty="0"/>
              <a:t> JOIN</a:t>
            </a:r>
          </a:p>
          <a:p>
            <a:pPr lvl="1" eaLnBrk="1" hangingPunct="1"/>
            <a:r>
              <a:rPr lang="zh-CN" altLang="en-US" dirty="0"/>
              <a:t>右外连接 </a:t>
            </a:r>
            <a:r>
              <a:rPr lang="en-US" altLang="zh-CN" dirty="0">
                <a:solidFill>
                  <a:srgbClr val="0000FF"/>
                </a:solidFill>
              </a:rPr>
              <a:t>RIGHT</a:t>
            </a:r>
            <a:r>
              <a:rPr lang="en-US" altLang="zh-CN" dirty="0"/>
              <a:t> </a:t>
            </a:r>
            <a:r>
              <a:rPr lang="en-US" altLang="zh-CN" dirty="0">
                <a:solidFill>
                  <a:srgbClr val="C00000"/>
                </a:solidFill>
              </a:rPr>
              <a:t>OUTER</a:t>
            </a:r>
            <a:r>
              <a:rPr lang="en-US" altLang="zh-CN" dirty="0"/>
              <a:t> JOIN</a:t>
            </a:r>
          </a:p>
          <a:p>
            <a:pPr lvl="1" eaLnBrk="1" hangingPunct="1"/>
            <a:r>
              <a:rPr lang="zh-CN" altLang="en-US" dirty="0"/>
              <a:t>全外连接 </a:t>
            </a:r>
            <a:r>
              <a:rPr lang="en-US" altLang="zh-CN" dirty="0">
                <a:solidFill>
                  <a:srgbClr val="0000FF"/>
                </a:solidFill>
              </a:rPr>
              <a:t>FULL</a:t>
            </a:r>
            <a:r>
              <a:rPr lang="en-US" altLang="zh-CN" dirty="0"/>
              <a:t> </a:t>
            </a:r>
            <a:r>
              <a:rPr lang="en-US" altLang="zh-CN" dirty="0">
                <a:solidFill>
                  <a:srgbClr val="C00000"/>
                </a:solidFill>
              </a:rPr>
              <a:t>OUTER</a:t>
            </a:r>
            <a:r>
              <a:rPr lang="en-US" altLang="zh-CN" dirty="0"/>
              <a:t> JOIN</a:t>
            </a:r>
          </a:p>
          <a:p>
            <a:pPr eaLnBrk="1" hangingPunct="1"/>
            <a:endParaRPr lang="zh-CN" altLang="en-US" dirty="0"/>
          </a:p>
        </p:txBody>
      </p:sp>
      <p:sp>
        <p:nvSpPr>
          <p:cNvPr id="4" name="灯片编号占位符 3">
            <a:extLst>
              <a:ext uri="{FF2B5EF4-FFF2-40B4-BE49-F238E27FC236}">
                <a16:creationId xmlns:a16="http://schemas.microsoft.com/office/drawing/2014/main" id="{E2F2F4CE-24CA-E315-9C7A-0051792963C4}"/>
              </a:ext>
            </a:extLst>
          </p:cNvPr>
          <p:cNvSpPr>
            <a:spLocks noGrp="1"/>
          </p:cNvSpPr>
          <p:nvPr>
            <p:ph type="sldNum" sz="quarter" idx="12"/>
          </p:nvPr>
        </p:nvSpPr>
        <p:spPr/>
        <p:txBody>
          <a:bodyPr/>
          <a:lstStyle/>
          <a:p>
            <a:pPr>
              <a:defRPr/>
            </a:pPr>
            <a:fld id="{E0CD82EA-F7BE-454B-A83E-18830F6C5424}" type="slidenum">
              <a:rPr lang="en-US" altLang="zh-CN" smtClean="0"/>
              <a:pPr>
                <a:defRPr/>
              </a:pPr>
              <a:t>20</a:t>
            </a:fld>
            <a:r>
              <a:rPr lang="en-US" altLang="zh-CN"/>
              <a:t>/138</a:t>
            </a:r>
            <a:endParaRPr lang="zh-CN" altLang="en-US" dirty="0"/>
          </a:p>
        </p:txBody>
      </p:sp>
    </p:spTree>
    <p:extLst>
      <p:ext uri="{BB962C8B-B14F-4D97-AF65-F5344CB8AC3E}">
        <p14:creationId xmlns:p14="http://schemas.microsoft.com/office/powerpoint/2010/main" val="184149719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471B9014-F2FC-4D47-ACC7-CB68969EA74B}" type="datetime1">
              <a:rPr kumimoji="0" lang="zh-CN" altLang="en-US" sz="1400" smtClean="0"/>
              <a:t>2025/10/15</a:t>
            </a:fld>
            <a:endParaRPr kumimoji="0" lang="en-US" altLang="zh-CN" sz="1400"/>
          </a:p>
        </p:txBody>
      </p:sp>
      <p:sp>
        <p:nvSpPr>
          <p:cNvPr id="105475"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5477"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105478" name="Rectangle 3"/>
          <p:cNvSpPr>
            <a:spLocks noGrp="1" noChangeArrowheads="1"/>
          </p:cNvSpPr>
          <p:nvPr>
            <p:ph type="body" idx="1"/>
          </p:nvPr>
        </p:nvSpPr>
        <p:spPr>
          <a:xfrm>
            <a:off x="609600" y="1447800"/>
            <a:ext cx="8458200" cy="4684713"/>
          </a:xfrm>
        </p:spPr>
        <p:txBody>
          <a:bodyPr/>
          <a:lstStyle/>
          <a:p>
            <a:pPr eaLnBrk="1" hangingPunct="1">
              <a:buFont typeface="Wingdings" pitchFamily="2" charset="2"/>
              <a:buNone/>
            </a:pPr>
            <a:r>
              <a:rPr lang="zh-CN" altLang="en-US" dirty="0"/>
              <a:t>三、外连接 </a:t>
            </a:r>
          </a:p>
          <a:p>
            <a:pPr eaLnBrk="1" hangingPunct="1"/>
            <a:r>
              <a:rPr lang="zh-CN" altLang="en-US" dirty="0"/>
              <a:t>左外连接 </a:t>
            </a:r>
            <a:r>
              <a:rPr lang="en-US" altLang="zh-CN" dirty="0">
                <a:solidFill>
                  <a:srgbClr val="0000FF"/>
                </a:solidFill>
              </a:rPr>
              <a:t>LEFT</a:t>
            </a:r>
            <a:r>
              <a:rPr lang="en-US" altLang="zh-CN" dirty="0"/>
              <a:t> </a:t>
            </a:r>
            <a:r>
              <a:rPr lang="en-US" altLang="zh-CN" dirty="0">
                <a:solidFill>
                  <a:srgbClr val="C00000"/>
                </a:solidFill>
              </a:rPr>
              <a:t>OUTER</a:t>
            </a:r>
            <a:r>
              <a:rPr lang="en-US" altLang="zh-CN" dirty="0"/>
              <a:t> JOIN</a:t>
            </a:r>
          </a:p>
          <a:p>
            <a:pPr lvl="1" eaLnBrk="1" hangingPunct="1"/>
            <a:r>
              <a:rPr lang="zh-CN" altLang="en-US" dirty="0">
                <a:solidFill>
                  <a:srgbClr val="000000"/>
                </a:solidFill>
                <a:latin typeface="Tahoma"/>
                <a:ea typeface="宋体"/>
                <a:cs typeface="Arial" charset="0"/>
              </a:rPr>
              <a:t>只保留出现在</a:t>
            </a:r>
            <a:r>
              <a:rPr kumimoji="0" lang="zh-CN" altLang="en-US" b="1" i="0" u="none" strike="noStrike" kern="0" cap="none" spc="0" normalizeH="0" baseline="0" noProof="0" dirty="0">
                <a:ln>
                  <a:noFill/>
                </a:ln>
                <a:solidFill>
                  <a:srgbClr val="FF0000"/>
                </a:solidFill>
                <a:effectLst/>
                <a:uLnTx/>
                <a:uFillTx/>
                <a:latin typeface="Tahoma"/>
                <a:ea typeface="宋体"/>
                <a:cs typeface="Arial" charset="0"/>
              </a:rPr>
              <a:t>左外连接运算之前（左边）</a:t>
            </a:r>
            <a:r>
              <a:rPr kumimoji="0" lang="zh-CN" altLang="en-US" i="0" u="none" strike="noStrike" kern="0" cap="none" spc="0" normalizeH="0" baseline="0" noProof="0" dirty="0">
                <a:ln>
                  <a:noFill/>
                </a:ln>
                <a:effectLst/>
                <a:uLnTx/>
                <a:uFillTx/>
                <a:latin typeface="Tahoma"/>
                <a:ea typeface="宋体"/>
                <a:cs typeface="Arial" charset="0"/>
              </a:rPr>
              <a:t>的</a:t>
            </a:r>
            <a:r>
              <a:rPr kumimoji="0" lang="zh-CN" altLang="en-US" b="1" i="0" u="none" strike="noStrike" kern="0" cap="none" spc="0" normalizeH="0" baseline="0" noProof="0" dirty="0">
                <a:ln>
                  <a:noFill/>
                </a:ln>
                <a:solidFill>
                  <a:srgbClr val="0000FF"/>
                </a:solidFill>
                <a:effectLst/>
                <a:uLnTx/>
                <a:uFillTx/>
                <a:latin typeface="Tahoma"/>
                <a:ea typeface="宋体"/>
                <a:cs typeface="Arial" charset="0"/>
              </a:rPr>
              <a:t>关系</a:t>
            </a:r>
            <a:r>
              <a:rPr kumimoji="0" lang="zh-CN" altLang="en-US" b="1" u="none" strike="noStrike" kern="0" cap="none" spc="0" normalizeH="0" baseline="0" noProof="0" dirty="0">
                <a:ln>
                  <a:noFill/>
                </a:ln>
                <a:solidFill>
                  <a:srgbClr val="0000FF"/>
                </a:solidFill>
                <a:effectLst/>
                <a:uLnTx/>
                <a:uFillTx/>
                <a:latin typeface="Tahoma"/>
                <a:ea typeface="宋体"/>
                <a:cs typeface="Arial" charset="0"/>
              </a:rPr>
              <a:t>中的元组</a:t>
            </a:r>
            <a:endParaRPr lang="en-US" altLang="zh-CN" dirty="0"/>
          </a:p>
          <a:p>
            <a:pPr eaLnBrk="1" hangingPunct="1"/>
            <a:r>
              <a:rPr lang="zh-CN" altLang="en-US" dirty="0"/>
              <a:t>右外连接 </a:t>
            </a:r>
            <a:r>
              <a:rPr lang="en-US" altLang="zh-CN" dirty="0">
                <a:solidFill>
                  <a:srgbClr val="0000FF"/>
                </a:solidFill>
              </a:rPr>
              <a:t>RIGHT</a:t>
            </a:r>
            <a:r>
              <a:rPr lang="en-US" altLang="zh-CN" dirty="0"/>
              <a:t> </a:t>
            </a:r>
            <a:r>
              <a:rPr lang="en-US" altLang="zh-CN" dirty="0">
                <a:solidFill>
                  <a:srgbClr val="C00000"/>
                </a:solidFill>
              </a:rPr>
              <a:t>OUTER</a:t>
            </a:r>
            <a:r>
              <a:rPr lang="en-US" altLang="zh-CN" dirty="0"/>
              <a:t> JOIN</a:t>
            </a:r>
          </a:p>
          <a:p>
            <a:pPr lvl="1" eaLnBrk="1" hangingPunct="1"/>
            <a:r>
              <a:rPr lang="zh-CN" altLang="en-US" dirty="0">
                <a:solidFill>
                  <a:srgbClr val="000000"/>
                </a:solidFill>
                <a:cs typeface="Arial" charset="0"/>
              </a:rPr>
              <a:t>只保留出现在</a:t>
            </a:r>
            <a:r>
              <a:rPr lang="zh-CN" altLang="en-US" b="1" dirty="0">
                <a:solidFill>
                  <a:srgbClr val="FF0000"/>
                </a:solidFill>
                <a:cs typeface="Arial" charset="0"/>
              </a:rPr>
              <a:t>右外连接运算之后（右边）</a:t>
            </a:r>
            <a:r>
              <a:rPr lang="zh-CN" altLang="en-US" dirty="0">
                <a:cs typeface="Arial" charset="0"/>
              </a:rPr>
              <a:t>的</a:t>
            </a:r>
            <a:r>
              <a:rPr lang="zh-CN" altLang="en-US" b="1" dirty="0">
                <a:solidFill>
                  <a:srgbClr val="0000FF"/>
                </a:solidFill>
                <a:cs typeface="Arial" charset="0"/>
              </a:rPr>
              <a:t>关系中的元组</a:t>
            </a:r>
            <a:endParaRPr lang="en-US" altLang="zh-CN" dirty="0"/>
          </a:p>
          <a:p>
            <a:pPr eaLnBrk="1" hangingPunct="1"/>
            <a:r>
              <a:rPr lang="zh-CN" altLang="en-US" dirty="0"/>
              <a:t>全外连接 </a:t>
            </a:r>
            <a:r>
              <a:rPr lang="en-US" altLang="zh-CN" dirty="0">
                <a:solidFill>
                  <a:srgbClr val="0000FF"/>
                </a:solidFill>
              </a:rPr>
              <a:t>FULL</a:t>
            </a:r>
            <a:r>
              <a:rPr lang="en-US" altLang="zh-CN" dirty="0"/>
              <a:t> </a:t>
            </a:r>
            <a:r>
              <a:rPr lang="en-US" altLang="zh-CN" dirty="0">
                <a:solidFill>
                  <a:srgbClr val="C00000"/>
                </a:solidFill>
              </a:rPr>
              <a:t>OUTER</a:t>
            </a:r>
            <a:r>
              <a:rPr lang="en-US" altLang="zh-CN" dirty="0"/>
              <a:t> JOIN</a:t>
            </a:r>
          </a:p>
          <a:p>
            <a:pPr lvl="1" eaLnBrk="1" hangingPunct="1"/>
            <a:r>
              <a:rPr lang="zh-CN" altLang="en-US" dirty="0"/>
              <a:t>保留出现在两个关系中的元组</a:t>
            </a:r>
            <a:endParaRPr lang="en-US" altLang="zh-CN" dirty="0"/>
          </a:p>
          <a:p>
            <a:pPr eaLnBrk="1" hangingPunct="1"/>
            <a:endParaRPr lang="zh-CN" altLang="en-US" dirty="0"/>
          </a:p>
        </p:txBody>
      </p:sp>
      <p:sp>
        <p:nvSpPr>
          <p:cNvPr id="4" name="灯片编号占位符 3">
            <a:extLst>
              <a:ext uri="{FF2B5EF4-FFF2-40B4-BE49-F238E27FC236}">
                <a16:creationId xmlns:a16="http://schemas.microsoft.com/office/drawing/2014/main" id="{022591B6-CAEB-9749-AC22-531C8647791A}"/>
              </a:ext>
            </a:extLst>
          </p:cNvPr>
          <p:cNvSpPr>
            <a:spLocks noGrp="1"/>
          </p:cNvSpPr>
          <p:nvPr>
            <p:ph type="sldNum" sz="quarter" idx="12"/>
          </p:nvPr>
        </p:nvSpPr>
        <p:spPr/>
        <p:txBody>
          <a:bodyPr/>
          <a:lstStyle/>
          <a:p>
            <a:pPr>
              <a:defRPr/>
            </a:pPr>
            <a:fld id="{E0CD82EA-F7BE-454B-A83E-18830F6C5424}" type="slidenum">
              <a:rPr lang="en-US" altLang="zh-CN" smtClean="0"/>
              <a:pPr>
                <a:defRPr/>
              </a:pPr>
              <a:t>21</a:t>
            </a:fld>
            <a:r>
              <a:rPr lang="en-US" altLang="zh-CN"/>
              <a:t>/138</a:t>
            </a:r>
            <a:endParaRPr lang="zh-CN" altLang="en-US" dirty="0"/>
          </a:p>
        </p:txBody>
      </p:sp>
    </p:spTree>
    <p:extLst>
      <p:ext uri="{BB962C8B-B14F-4D97-AF65-F5344CB8AC3E}">
        <p14:creationId xmlns:p14="http://schemas.microsoft.com/office/powerpoint/2010/main" val="41872535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51172489-040A-4335-A10C-26F8903A4423}" type="datetime1">
              <a:rPr kumimoji="0" lang="zh-CN" altLang="en-US" sz="1400" smtClean="0"/>
              <a:t>2025/10/15</a:t>
            </a:fld>
            <a:endParaRPr kumimoji="0" lang="en-US" altLang="zh-CN" sz="1400"/>
          </a:p>
        </p:txBody>
      </p:sp>
      <p:sp>
        <p:nvSpPr>
          <p:cNvPr id="106499"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6501"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106502" name="Rectangle 3"/>
          <p:cNvSpPr>
            <a:spLocks noGrp="1" noChangeArrowheads="1"/>
          </p:cNvSpPr>
          <p:nvPr>
            <p:ph type="body" idx="1"/>
          </p:nvPr>
        </p:nvSpPr>
        <p:spPr>
          <a:xfrm>
            <a:off x="609600" y="1447801"/>
            <a:ext cx="8345488" cy="1143000"/>
          </a:xfrm>
        </p:spPr>
        <p:txBody>
          <a:bodyPr/>
          <a:lstStyle/>
          <a:p>
            <a:pPr eaLnBrk="1" hangingPunct="1"/>
            <a:r>
              <a:rPr lang="en-US" altLang="zh-CN" dirty="0"/>
              <a:t>SQL</a:t>
            </a:r>
            <a:r>
              <a:rPr lang="zh-CN" altLang="en-US" dirty="0"/>
              <a:t>标准</a:t>
            </a:r>
            <a:r>
              <a:rPr lang="zh-CN" altLang="en-US" b="1" dirty="0">
                <a:solidFill>
                  <a:srgbClr val="0000FF"/>
                </a:solidFill>
              </a:rPr>
              <a:t>外连接</a:t>
            </a:r>
            <a:r>
              <a:rPr lang="zh-CN" altLang="en-US" dirty="0"/>
              <a:t>关键字为</a:t>
            </a:r>
            <a:r>
              <a:rPr lang="en-US" altLang="zh-CN" dirty="0">
                <a:solidFill>
                  <a:srgbClr val="FF0000"/>
                </a:solidFill>
              </a:rPr>
              <a:t>OUTER</a:t>
            </a:r>
          </a:p>
          <a:p>
            <a:pPr eaLnBrk="1" hangingPunct="1"/>
            <a:r>
              <a:rPr lang="zh-CN" altLang="en-US" dirty="0"/>
              <a:t>外连接时，</a:t>
            </a:r>
            <a:r>
              <a:rPr lang="en-US" altLang="zh-CN" u="sng" dirty="0"/>
              <a:t>OUTER</a:t>
            </a:r>
            <a:r>
              <a:rPr lang="zh-CN" altLang="en-US" u="sng" dirty="0"/>
              <a:t>常</a:t>
            </a:r>
            <a:r>
              <a:rPr lang="zh-CN" altLang="en-US" b="1" u="sng" dirty="0">
                <a:solidFill>
                  <a:srgbClr val="0000FF"/>
                </a:solidFill>
              </a:rPr>
              <a:t>省略</a:t>
            </a:r>
            <a:r>
              <a:rPr lang="zh-CN" altLang="en-US" dirty="0"/>
              <a:t>。</a:t>
            </a:r>
          </a:p>
          <a:p>
            <a:pPr eaLnBrk="1" hangingPunct="1"/>
            <a:endParaRPr lang="zh-CN" altLang="en-US" dirty="0"/>
          </a:p>
        </p:txBody>
      </p:sp>
      <p:sp>
        <p:nvSpPr>
          <p:cNvPr id="2" name="矩形 1"/>
          <p:cNvSpPr/>
          <p:nvPr/>
        </p:nvSpPr>
        <p:spPr>
          <a:xfrm>
            <a:off x="376518" y="2971800"/>
            <a:ext cx="2667000" cy="1569660"/>
          </a:xfrm>
          <a:prstGeom prst="rect">
            <a:avLst/>
          </a:prstGeom>
        </p:spPr>
        <p:txBody>
          <a:bodyPr wrap="square">
            <a:spAutoFit/>
          </a:bodyPr>
          <a:lstStyle/>
          <a:p>
            <a:r>
              <a:rPr lang="en-US" altLang="zh-CN" dirty="0"/>
              <a:t>select * from </a:t>
            </a:r>
            <a:r>
              <a:rPr lang="en-US" altLang="zh-CN" i="1" dirty="0"/>
              <a:t>student </a:t>
            </a:r>
            <a:r>
              <a:rPr lang="en-US" altLang="zh-CN" dirty="0">
                <a:solidFill>
                  <a:srgbClr val="FF0000"/>
                </a:solidFill>
              </a:rPr>
              <a:t>natural </a:t>
            </a:r>
            <a:r>
              <a:rPr lang="en-US" altLang="zh-CN" dirty="0">
                <a:solidFill>
                  <a:srgbClr val="0000FF"/>
                </a:solidFill>
              </a:rPr>
              <a:t>left</a:t>
            </a:r>
            <a:r>
              <a:rPr lang="en-US" altLang="zh-CN" dirty="0">
                <a:solidFill>
                  <a:srgbClr val="FF0000"/>
                </a:solidFill>
              </a:rPr>
              <a:t> outer join </a:t>
            </a:r>
            <a:r>
              <a:rPr lang="en-US" altLang="zh-CN" i="1" dirty="0"/>
              <a:t>takes</a:t>
            </a:r>
            <a:r>
              <a:rPr lang="en-US" altLang="zh-CN" dirty="0"/>
              <a:t>;</a:t>
            </a:r>
            <a:endParaRPr lang="zh-CN" alt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066800"/>
            <a:ext cx="5700712" cy="51395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灯片编号占位符 4">
            <a:extLst>
              <a:ext uri="{FF2B5EF4-FFF2-40B4-BE49-F238E27FC236}">
                <a16:creationId xmlns:a16="http://schemas.microsoft.com/office/drawing/2014/main" id="{3E55F495-BEE3-5C54-27F7-6284BA08A680}"/>
              </a:ext>
            </a:extLst>
          </p:cNvPr>
          <p:cNvSpPr>
            <a:spLocks noGrp="1"/>
          </p:cNvSpPr>
          <p:nvPr>
            <p:ph type="sldNum" sz="quarter" idx="12"/>
          </p:nvPr>
        </p:nvSpPr>
        <p:spPr/>
        <p:txBody>
          <a:bodyPr/>
          <a:lstStyle/>
          <a:p>
            <a:pPr>
              <a:defRPr/>
            </a:pPr>
            <a:fld id="{E0CD82EA-F7BE-454B-A83E-18830F6C5424}" type="slidenum">
              <a:rPr lang="en-US" altLang="zh-CN" smtClean="0"/>
              <a:pPr>
                <a:defRPr/>
              </a:pPr>
              <a:t>22</a:t>
            </a:fld>
            <a:r>
              <a:rPr lang="en-US" altLang="zh-CN"/>
              <a:t>/138</a:t>
            </a:r>
            <a:endParaRPr lang="zh-CN" altLang="en-US" dirty="0"/>
          </a:p>
        </p:txBody>
      </p:sp>
    </p:spTree>
    <p:extLst>
      <p:ext uri="{BB962C8B-B14F-4D97-AF65-F5344CB8AC3E}">
        <p14:creationId xmlns:p14="http://schemas.microsoft.com/office/powerpoint/2010/main" val="1176240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wipe(down)">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79CC60FD-23CF-4823-9E17-7AF40FF20FBF}" type="datetime1">
              <a:rPr kumimoji="0" lang="zh-CN" altLang="en-US" sz="1400" smtClean="0"/>
              <a:t>2025/10/15</a:t>
            </a:fld>
            <a:endParaRPr kumimoji="0" lang="en-US" altLang="zh-CN" sz="1400"/>
          </a:p>
        </p:txBody>
      </p:sp>
      <p:sp>
        <p:nvSpPr>
          <p:cNvPr id="106499"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6501"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106502" name="Rectangle 3"/>
          <p:cNvSpPr>
            <a:spLocks noGrp="1" noChangeArrowheads="1"/>
          </p:cNvSpPr>
          <p:nvPr>
            <p:ph type="body" idx="1"/>
          </p:nvPr>
        </p:nvSpPr>
        <p:spPr>
          <a:xfrm>
            <a:off x="609600" y="1447801"/>
            <a:ext cx="8345488" cy="1143000"/>
          </a:xfrm>
        </p:spPr>
        <p:txBody>
          <a:bodyPr/>
          <a:lstStyle/>
          <a:p>
            <a:pPr eaLnBrk="1" hangingPunct="1"/>
            <a:r>
              <a:rPr lang="en-US" altLang="zh-CN" dirty="0"/>
              <a:t>SQL</a:t>
            </a:r>
            <a:r>
              <a:rPr lang="zh-CN" altLang="en-US" dirty="0"/>
              <a:t>标准</a:t>
            </a:r>
            <a:r>
              <a:rPr lang="zh-CN" altLang="en-US" b="1" dirty="0">
                <a:solidFill>
                  <a:srgbClr val="0000FF"/>
                </a:solidFill>
              </a:rPr>
              <a:t>外连接</a:t>
            </a:r>
            <a:r>
              <a:rPr lang="zh-CN" altLang="en-US" dirty="0"/>
              <a:t>关键字为</a:t>
            </a:r>
            <a:r>
              <a:rPr lang="en-US" altLang="zh-CN" dirty="0">
                <a:solidFill>
                  <a:srgbClr val="FF0000"/>
                </a:solidFill>
              </a:rPr>
              <a:t>OUTER</a:t>
            </a:r>
          </a:p>
          <a:p>
            <a:pPr eaLnBrk="1" hangingPunct="1"/>
            <a:r>
              <a:rPr lang="zh-CN" altLang="en-US" dirty="0"/>
              <a:t>外连接时，</a:t>
            </a:r>
            <a:r>
              <a:rPr lang="en-US" altLang="zh-CN" u="sng" dirty="0"/>
              <a:t>OUTER</a:t>
            </a:r>
            <a:r>
              <a:rPr lang="zh-CN" altLang="en-US" u="sng" dirty="0"/>
              <a:t>常</a:t>
            </a:r>
            <a:r>
              <a:rPr lang="zh-CN" altLang="en-US" b="1" u="sng" dirty="0">
                <a:solidFill>
                  <a:srgbClr val="0000FF"/>
                </a:solidFill>
              </a:rPr>
              <a:t>省略</a:t>
            </a:r>
            <a:r>
              <a:rPr lang="zh-CN" altLang="en-US" dirty="0"/>
              <a:t>。</a:t>
            </a:r>
          </a:p>
          <a:p>
            <a:pPr eaLnBrk="1" hangingPunct="1"/>
            <a:endParaRPr lang="zh-CN" altLang="en-US" dirty="0"/>
          </a:p>
        </p:txBody>
      </p:sp>
      <p:sp>
        <p:nvSpPr>
          <p:cNvPr id="4" name="矩形 3"/>
          <p:cNvSpPr/>
          <p:nvPr/>
        </p:nvSpPr>
        <p:spPr>
          <a:xfrm>
            <a:off x="1447800" y="3733800"/>
            <a:ext cx="5943600" cy="1200329"/>
          </a:xfrm>
          <a:prstGeom prst="rect">
            <a:avLst/>
          </a:prstGeom>
        </p:spPr>
        <p:txBody>
          <a:bodyPr wrap="square">
            <a:spAutoFit/>
          </a:bodyPr>
          <a:lstStyle/>
          <a:p>
            <a:pPr algn="l"/>
            <a:r>
              <a:rPr lang="en-US" altLang="zh-CN" dirty="0"/>
              <a:t>select ID</a:t>
            </a:r>
          </a:p>
          <a:p>
            <a:pPr algn="l"/>
            <a:r>
              <a:rPr lang="en-US" altLang="zh-CN" dirty="0"/>
              <a:t>from student </a:t>
            </a:r>
            <a:r>
              <a:rPr lang="en-US" altLang="zh-CN" dirty="0">
                <a:solidFill>
                  <a:srgbClr val="FF0000"/>
                </a:solidFill>
              </a:rPr>
              <a:t>natural left outer join</a:t>
            </a:r>
            <a:r>
              <a:rPr lang="en-US" altLang="zh-CN" dirty="0"/>
              <a:t> takes</a:t>
            </a:r>
          </a:p>
          <a:p>
            <a:pPr algn="l"/>
            <a:r>
              <a:rPr lang="en-US" altLang="zh-CN" dirty="0"/>
              <a:t>where </a:t>
            </a:r>
            <a:r>
              <a:rPr lang="en-US" altLang="zh-CN" dirty="0" err="1">
                <a:solidFill>
                  <a:srgbClr val="006600"/>
                </a:solidFill>
              </a:rPr>
              <a:t>course_id</a:t>
            </a:r>
            <a:r>
              <a:rPr lang="en-US" altLang="zh-CN" dirty="0">
                <a:solidFill>
                  <a:srgbClr val="006600"/>
                </a:solidFill>
              </a:rPr>
              <a:t> is null</a:t>
            </a:r>
            <a:r>
              <a:rPr lang="en-US" altLang="zh-CN" dirty="0"/>
              <a:t>;</a:t>
            </a:r>
            <a:endParaRPr lang="zh-CN" altLang="en-US" dirty="0"/>
          </a:p>
        </p:txBody>
      </p:sp>
      <p:sp>
        <p:nvSpPr>
          <p:cNvPr id="5" name="TextBox 4"/>
          <p:cNvSpPr txBox="1"/>
          <p:nvPr/>
        </p:nvSpPr>
        <p:spPr>
          <a:xfrm>
            <a:off x="1360467" y="2913529"/>
            <a:ext cx="5724644" cy="461665"/>
          </a:xfrm>
          <a:prstGeom prst="rect">
            <a:avLst/>
          </a:prstGeom>
          <a:noFill/>
        </p:spPr>
        <p:txBody>
          <a:bodyPr wrap="none" rtlCol="0">
            <a:spAutoFit/>
          </a:bodyPr>
          <a:lstStyle/>
          <a:p>
            <a:r>
              <a:rPr lang="zh-CN" altLang="en-US" dirty="0"/>
              <a:t>例：查询一门课程也没有选修的所有学生</a:t>
            </a:r>
          </a:p>
        </p:txBody>
      </p:sp>
      <p:sp>
        <p:nvSpPr>
          <p:cNvPr id="6" name="灯片编号占位符 5">
            <a:extLst>
              <a:ext uri="{FF2B5EF4-FFF2-40B4-BE49-F238E27FC236}">
                <a16:creationId xmlns:a16="http://schemas.microsoft.com/office/drawing/2014/main" id="{B8F66A9C-A974-BFC6-DB04-2B25B8CDE760}"/>
              </a:ext>
            </a:extLst>
          </p:cNvPr>
          <p:cNvSpPr>
            <a:spLocks noGrp="1"/>
          </p:cNvSpPr>
          <p:nvPr>
            <p:ph type="sldNum" sz="quarter" idx="12"/>
          </p:nvPr>
        </p:nvSpPr>
        <p:spPr/>
        <p:txBody>
          <a:bodyPr/>
          <a:lstStyle/>
          <a:p>
            <a:pPr>
              <a:defRPr/>
            </a:pPr>
            <a:fld id="{E0CD82EA-F7BE-454B-A83E-18830F6C5424}" type="slidenum">
              <a:rPr lang="en-US" altLang="zh-CN" smtClean="0"/>
              <a:pPr>
                <a:defRPr/>
              </a:pPr>
              <a:t>23</a:t>
            </a:fld>
            <a:r>
              <a:rPr lang="en-US" altLang="zh-CN"/>
              <a:t>/138</a:t>
            </a:r>
            <a:endParaRPr lang="zh-CN" altLang="en-US" dirty="0"/>
          </a:p>
        </p:txBody>
      </p:sp>
    </p:spTree>
    <p:extLst>
      <p:ext uri="{BB962C8B-B14F-4D97-AF65-F5344CB8AC3E}">
        <p14:creationId xmlns:p14="http://schemas.microsoft.com/office/powerpoint/2010/main" val="182415027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2" name="Rectangle 3"/>
          <p:cNvSpPr>
            <a:spLocks noGrp="1" noChangeArrowheads="1"/>
          </p:cNvSpPr>
          <p:nvPr>
            <p:ph type="body" idx="1"/>
          </p:nvPr>
        </p:nvSpPr>
        <p:spPr>
          <a:xfrm>
            <a:off x="609600" y="1447801"/>
            <a:ext cx="8345488" cy="1143000"/>
          </a:xfrm>
        </p:spPr>
        <p:txBody>
          <a:bodyPr/>
          <a:lstStyle/>
          <a:p>
            <a:pPr eaLnBrk="1" hangingPunct="1"/>
            <a:r>
              <a:rPr lang="zh-CN" altLang="en-US" dirty="0"/>
              <a:t>左右外连接是对称的。</a:t>
            </a:r>
          </a:p>
        </p:txBody>
      </p:sp>
      <p:pic>
        <p:nvPicPr>
          <p:cNvPr id="3" name="图片 2">
            <a:extLst>
              <a:ext uri="{FF2B5EF4-FFF2-40B4-BE49-F238E27FC236}">
                <a16:creationId xmlns:a16="http://schemas.microsoft.com/office/drawing/2014/main" id="{1EA5F307-BBAF-1494-4F12-92444FFE900F}"/>
              </a:ext>
            </a:extLst>
          </p:cNvPr>
          <p:cNvPicPr>
            <a:picLocks noChangeAspect="1"/>
          </p:cNvPicPr>
          <p:nvPr/>
        </p:nvPicPr>
        <p:blipFill>
          <a:blip r:embed="rId3"/>
          <a:stretch>
            <a:fillRect/>
          </a:stretch>
        </p:blipFill>
        <p:spPr>
          <a:xfrm>
            <a:off x="2966585" y="914400"/>
            <a:ext cx="6102625" cy="5425910"/>
          </a:xfrm>
          <a:prstGeom prst="rect">
            <a:avLst/>
          </a:prstGeom>
        </p:spPr>
      </p:pic>
      <p:sp>
        <p:nvSpPr>
          <p:cNvPr id="106498"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7FA276BB-25D4-49F0-94B4-8F07DA576350}" type="datetime1">
              <a:rPr kumimoji="0" lang="zh-CN" altLang="en-US" sz="1400" smtClean="0"/>
              <a:t>2025/10/15</a:t>
            </a:fld>
            <a:endParaRPr kumimoji="0" lang="en-US" altLang="zh-CN" sz="1400"/>
          </a:p>
        </p:txBody>
      </p:sp>
      <p:sp>
        <p:nvSpPr>
          <p:cNvPr id="106499"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6501"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4" name="矩形 3"/>
          <p:cNvSpPr/>
          <p:nvPr/>
        </p:nvSpPr>
        <p:spPr>
          <a:xfrm>
            <a:off x="304800" y="2209800"/>
            <a:ext cx="2438400" cy="1938992"/>
          </a:xfrm>
          <a:prstGeom prst="rect">
            <a:avLst/>
          </a:prstGeom>
        </p:spPr>
        <p:txBody>
          <a:bodyPr wrap="square">
            <a:spAutoFit/>
          </a:bodyPr>
          <a:lstStyle/>
          <a:p>
            <a:pPr algn="l"/>
            <a:r>
              <a:rPr lang="en-US" altLang="zh-CN" dirty="0"/>
              <a:t>select ID</a:t>
            </a:r>
          </a:p>
          <a:p>
            <a:pPr algn="l"/>
            <a:r>
              <a:rPr lang="en-US" altLang="zh-CN" dirty="0"/>
              <a:t>from </a:t>
            </a:r>
            <a:r>
              <a:rPr lang="en-US" altLang="zh-CN" dirty="0">
                <a:solidFill>
                  <a:srgbClr val="006600"/>
                </a:solidFill>
              </a:rPr>
              <a:t>takes</a:t>
            </a:r>
            <a:r>
              <a:rPr lang="en-US" altLang="zh-CN" dirty="0">
                <a:solidFill>
                  <a:srgbClr val="0000FF"/>
                </a:solidFill>
              </a:rPr>
              <a:t> </a:t>
            </a:r>
            <a:r>
              <a:rPr lang="en-US" altLang="zh-CN" dirty="0">
                <a:solidFill>
                  <a:srgbClr val="FF0000"/>
                </a:solidFill>
              </a:rPr>
              <a:t>natural </a:t>
            </a:r>
            <a:r>
              <a:rPr lang="en-US" altLang="zh-CN" dirty="0">
                <a:solidFill>
                  <a:srgbClr val="0000FF"/>
                </a:solidFill>
              </a:rPr>
              <a:t>right</a:t>
            </a:r>
            <a:r>
              <a:rPr lang="en-US" altLang="zh-CN" dirty="0">
                <a:solidFill>
                  <a:srgbClr val="FF0000"/>
                </a:solidFill>
              </a:rPr>
              <a:t> outer join</a:t>
            </a:r>
            <a:r>
              <a:rPr lang="en-US" altLang="zh-CN" dirty="0"/>
              <a:t> </a:t>
            </a:r>
            <a:r>
              <a:rPr lang="en-US" altLang="zh-CN" dirty="0">
                <a:solidFill>
                  <a:srgbClr val="006600"/>
                </a:solidFill>
              </a:rPr>
              <a:t>student</a:t>
            </a:r>
            <a:r>
              <a:rPr lang="en-US" altLang="zh-CN" dirty="0"/>
              <a:t>;</a:t>
            </a:r>
            <a:endParaRPr lang="zh-CN" altLang="en-US" dirty="0"/>
          </a:p>
        </p:txBody>
      </p:sp>
      <p:sp>
        <p:nvSpPr>
          <p:cNvPr id="2" name="矩形 1"/>
          <p:cNvSpPr/>
          <p:nvPr/>
        </p:nvSpPr>
        <p:spPr bwMode="auto">
          <a:xfrm>
            <a:off x="2743200" y="4495800"/>
            <a:ext cx="6400800" cy="304800"/>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sp>
        <p:nvSpPr>
          <p:cNvPr id="6" name="TextBox 5"/>
          <p:cNvSpPr txBox="1"/>
          <p:nvPr/>
        </p:nvSpPr>
        <p:spPr>
          <a:xfrm>
            <a:off x="0" y="5029198"/>
            <a:ext cx="2911954"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dirty="0"/>
              <a:t>结果跟前面是一样的，只是属性列出现的次序不同</a:t>
            </a:r>
          </a:p>
        </p:txBody>
      </p:sp>
      <p:sp>
        <p:nvSpPr>
          <p:cNvPr id="7" name="灯片编号占位符 6">
            <a:extLst>
              <a:ext uri="{FF2B5EF4-FFF2-40B4-BE49-F238E27FC236}">
                <a16:creationId xmlns:a16="http://schemas.microsoft.com/office/drawing/2014/main" id="{903C14D6-CD91-1E1B-92B2-54FACBD6F7E0}"/>
              </a:ext>
            </a:extLst>
          </p:cNvPr>
          <p:cNvSpPr>
            <a:spLocks noGrp="1"/>
          </p:cNvSpPr>
          <p:nvPr>
            <p:ph type="sldNum" sz="quarter" idx="12"/>
          </p:nvPr>
        </p:nvSpPr>
        <p:spPr/>
        <p:txBody>
          <a:bodyPr/>
          <a:lstStyle/>
          <a:p>
            <a:pPr>
              <a:defRPr/>
            </a:pPr>
            <a:fld id="{E0CD82EA-F7BE-454B-A83E-18830F6C5424}" type="slidenum">
              <a:rPr lang="en-US" altLang="zh-CN" smtClean="0"/>
              <a:pPr>
                <a:defRPr/>
              </a:pPr>
              <a:t>24</a:t>
            </a:fld>
            <a:r>
              <a:rPr lang="en-US" altLang="zh-CN"/>
              <a:t>/138</a:t>
            </a:r>
            <a:endParaRPr lang="zh-CN" altLang="en-US" dirty="0"/>
          </a:p>
        </p:txBody>
      </p:sp>
    </p:spTree>
    <p:extLst>
      <p:ext uri="{BB962C8B-B14F-4D97-AF65-F5344CB8AC3E}">
        <p14:creationId xmlns:p14="http://schemas.microsoft.com/office/powerpoint/2010/main" val="24400207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B605EF69-4894-4852-BC5A-8AFD1A14BAD3}" type="datetime1">
              <a:rPr kumimoji="0" lang="zh-CN" altLang="en-US" sz="1400" smtClean="0"/>
              <a:t>2025/10/15</a:t>
            </a:fld>
            <a:endParaRPr kumimoji="0" lang="en-US" altLang="zh-CN" sz="1400"/>
          </a:p>
        </p:txBody>
      </p:sp>
      <p:sp>
        <p:nvSpPr>
          <p:cNvPr id="106499"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dirty="0"/>
              <a:t>《</a:t>
            </a:r>
            <a:r>
              <a:rPr kumimoji="0" lang="en-US" altLang="zh-CN" sz="1400" dirty="0" err="1"/>
              <a:t>数据库系统概论</a:t>
            </a:r>
            <a:r>
              <a:rPr kumimoji="0" lang="en-US" altLang="zh-CN" sz="1400" dirty="0"/>
              <a:t>》- 第3章</a:t>
            </a:r>
          </a:p>
        </p:txBody>
      </p:sp>
      <p:sp>
        <p:nvSpPr>
          <p:cNvPr id="106501"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106502" name="Rectangle 3"/>
          <p:cNvSpPr>
            <a:spLocks noGrp="1" noChangeArrowheads="1"/>
          </p:cNvSpPr>
          <p:nvPr>
            <p:ph type="body" idx="1"/>
          </p:nvPr>
        </p:nvSpPr>
        <p:spPr>
          <a:xfrm>
            <a:off x="609600" y="1447801"/>
            <a:ext cx="8345488" cy="1143000"/>
          </a:xfrm>
        </p:spPr>
        <p:txBody>
          <a:bodyPr/>
          <a:lstStyle/>
          <a:p>
            <a:pPr eaLnBrk="1" hangingPunct="1"/>
            <a:r>
              <a:rPr lang="zh-CN" altLang="en-US" dirty="0"/>
              <a:t>全外连接：左右外连接的联合</a:t>
            </a:r>
          </a:p>
          <a:p>
            <a:pPr eaLnBrk="1" hangingPunct="1"/>
            <a:endParaRPr lang="zh-CN" altLang="en-US" dirty="0"/>
          </a:p>
        </p:txBody>
      </p:sp>
      <p:sp>
        <p:nvSpPr>
          <p:cNvPr id="5" name="TextBox 4"/>
          <p:cNvSpPr txBox="1"/>
          <p:nvPr/>
        </p:nvSpPr>
        <p:spPr>
          <a:xfrm>
            <a:off x="866602" y="1981200"/>
            <a:ext cx="7743998" cy="1015663"/>
          </a:xfrm>
          <a:prstGeom prst="rect">
            <a:avLst/>
          </a:prstGeom>
          <a:noFill/>
        </p:spPr>
        <p:txBody>
          <a:bodyPr wrap="square" rtlCol="0">
            <a:spAutoFit/>
          </a:bodyPr>
          <a:lstStyle/>
          <a:p>
            <a:pPr algn="l"/>
            <a:r>
              <a:rPr lang="zh-CN" altLang="en-US" sz="2000" dirty="0"/>
              <a:t>例：查询</a:t>
            </a:r>
            <a:r>
              <a:rPr lang="en-US" altLang="zh-CN" sz="2000" dirty="0"/>
              <a:t>Comp. Sci.</a:t>
            </a:r>
            <a:r>
              <a:rPr lang="zh-CN" altLang="en-US" sz="2000" dirty="0"/>
              <a:t>系中所有学生以及他们在</a:t>
            </a:r>
            <a:r>
              <a:rPr lang="en-US" altLang="zh-CN" sz="2000" dirty="0"/>
              <a:t>2017</a:t>
            </a:r>
            <a:r>
              <a:rPr lang="zh-CN" altLang="en-US" sz="2000" dirty="0"/>
              <a:t>年春季选修的所有课程段的列表。</a:t>
            </a:r>
            <a:r>
              <a:rPr lang="en-US" altLang="zh-CN" sz="2000" dirty="0"/>
              <a:t>2017</a:t>
            </a:r>
            <a:r>
              <a:rPr lang="zh-CN" altLang="en-US" sz="2000" dirty="0"/>
              <a:t>年春季开设的所有课程段都必须显示，即使没有来自</a:t>
            </a:r>
            <a:r>
              <a:rPr lang="en-US" altLang="zh-CN" sz="2000" dirty="0"/>
              <a:t>Comp. Sci.</a:t>
            </a:r>
            <a:r>
              <a:rPr lang="zh-CN" altLang="en-US" sz="2000" dirty="0"/>
              <a:t>系的学生选修这些课程段。</a:t>
            </a:r>
          </a:p>
        </p:txBody>
      </p:sp>
      <p:sp>
        <p:nvSpPr>
          <p:cNvPr id="2" name="矩形 1"/>
          <p:cNvSpPr/>
          <p:nvPr/>
        </p:nvSpPr>
        <p:spPr>
          <a:xfrm>
            <a:off x="1371600" y="3124200"/>
            <a:ext cx="7162800" cy="2800767"/>
          </a:xfrm>
          <a:prstGeom prst="rect">
            <a:avLst/>
          </a:prstGeom>
        </p:spPr>
        <p:txBody>
          <a:bodyPr wrap="square">
            <a:spAutoFit/>
          </a:bodyPr>
          <a:lstStyle/>
          <a:p>
            <a:pPr algn="l"/>
            <a:r>
              <a:rPr lang="en-US" altLang="zh-CN" sz="2200" dirty="0">
                <a:solidFill>
                  <a:srgbClr val="FF0000"/>
                </a:solidFill>
              </a:rPr>
              <a:t>select *</a:t>
            </a:r>
          </a:p>
          <a:p>
            <a:pPr algn="l"/>
            <a:r>
              <a:rPr lang="en-US" altLang="zh-CN" sz="2200" dirty="0"/>
              <a:t>from (</a:t>
            </a:r>
            <a:r>
              <a:rPr lang="en-US" altLang="zh-CN" sz="2200" dirty="0">
                <a:solidFill>
                  <a:srgbClr val="0000FF"/>
                </a:solidFill>
              </a:rPr>
              <a:t>select *</a:t>
            </a:r>
          </a:p>
          <a:p>
            <a:pPr algn="l"/>
            <a:r>
              <a:rPr lang="en-US" altLang="zh-CN" sz="2200" dirty="0">
                <a:solidFill>
                  <a:srgbClr val="0000FF"/>
                </a:solidFill>
              </a:rPr>
              <a:t>         from student</a:t>
            </a:r>
          </a:p>
          <a:p>
            <a:pPr algn="l"/>
            <a:r>
              <a:rPr lang="en-US" altLang="zh-CN" sz="2200" dirty="0">
                <a:solidFill>
                  <a:srgbClr val="0000FF"/>
                </a:solidFill>
              </a:rPr>
              <a:t>         where </a:t>
            </a:r>
            <a:r>
              <a:rPr lang="en-US" altLang="zh-CN" sz="2200" dirty="0" err="1">
                <a:solidFill>
                  <a:srgbClr val="0000FF"/>
                </a:solidFill>
              </a:rPr>
              <a:t>dept_name</a:t>
            </a:r>
            <a:r>
              <a:rPr lang="en-US" altLang="zh-CN" sz="2200" dirty="0">
                <a:solidFill>
                  <a:srgbClr val="0000FF"/>
                </a:solidFill>
              </a:rPr>
              <a:t> = 'Comp. Sci.'</a:t>
            </a:r>
            <a:r>
              <a:rPr lang="en-US" altLang="zh-CN" sz="2200" dirty="0"/>
              <a:t>)</a:t>
            </a:r>
          </a:p>
          <a:p>
            <a:pPr algn="l"/>
            <a:r>
              <a:rPr lang="en-US" altLang="zh-CN" sz="2200" dirty="0"/>
              <a:t>natural </a:t>
            </a:r>
            <a:r>
              <a:rPr lang="en-US" altLang="zh-CN" sz="2200" dirty="0">
                <a:solidFill>
                  <a:srgbClr val="006600"/>
                </a:solidFill>
              </a:rPr>
              <a:t>full</a:t>
            </a:r>
            <a:r>
              <a:rPr lang="en-US" altLang="zh-CN" sz="2200" dirty="0"/>
              <a:t> outer join</a:t>
            </a:r>
          </a:p>
          <a:p>
            <a:pPr algn="l"/>
            <a:r>
              <a:rPr lang="en-US" altLang="zh-CN" sz="2200" dirty="0"/>
              <a:t>        (</a:t>
            </a:r>
            <a:r>
              <a:rPr lang="en-US" altLang="zh-CN" sz="2200" dirty="0">
                <a:solidFill>
                  <a:srgbClr val="0000FF"/>
                </a:solidFill>
              </a:rPr>
              <a:t>select *</a:t>
            </a:r>
          </a:p>
          <a:p>
            <a:pPr algn="l"/>
            <a:r>
              <a:rPr lang="en-US" altLang="zh-CN" sz="2200" dirty="0">
                <a:solidFill>
                  <a:srgbClr val="0000FF"/>
                </a:solidFill>
              </a:rPr>
              <a:t>         from takes</a:t>
            </a:r>
          </a:p>
          <a:p>
            <a:pPr algn="l"/>
            <a:r>
              <a:rPr lang="en-US" altLang="zh-CN" sz="2200" dirty="0">
                <a:solidFill>
                  <a:srgbClr val="0000FF"/>
                </a:solidFill>
              </a:rPr>
              <a:t>         where semester='Spring' and year=2017</a:t>
            </a:r>
            <a:r>
              <a:rPr lang="en-US" altLang="zh-CN" sz="2200" dirty="0"/>
              <a:t>);</a:t>
            </a:r>
            <a:endParaRPr lang="zh-CN" altLang="en-US" sz="2200" dirty="0"/>
          </a:p>
        </p:txBody>
      </p:sp>
      <p:sp>
        <p:nvSpPr>
          <p:cNvPr id="6" name="灯片编号占位符 5">
            <a:extLst>
              <a:ext uri="{FF2B5EF4-FFF2-40B4-BE49-F238E27FC236}">
                <a16:creationId xmlns:a16="http://schemas.microsoft.com/office/drawing/2014/main" id="{012DC11F-7CA8-A5E5-2366-1406165C8402}"/>
              </a:ext>
            </a:extLst>
          </p:cNvPr>
          <p:cNvSpPr>
            <a:spLocks noGrp="1"/>
          </p:cNvSpPr>
          <p:nvPr>
            <p:ph type="sldNum" sz="quarter" idx="12"/>
          </p:nvPr>
        </p:nvSpPr>
        <p:spPr/>
        <p:txBody>
          <a:bodyPr/>
          <a:lstStyle/>
          <a:p>
            <a:pPr>
              <a:defRPr/>
            </a:pPr>
            <a:fld id="{E0CD82EA-F7BE-454B-A83E-18830F6C5424}" type="slidenum">
              <a:rPr lang="en-US" altLang="zh-CN" smtClean="0"/>
              <a:pPr>
                <a:defRPr/>
              </a:pPr>
              <a:t>25</a:t>
            </a:fld>
            <a:r>
              <a:rPr lang="en-US" altLang="zh-CN"/>
              <a:t>/138</a:t>
            </a:r>
            <a:endParaRPr lang="zh-CN" altLang="en-US" dirty="0"/>
          </a:p>
        </p:txBody>
      </p:sp>
    </p:spTree>
    <p:extLst>
      <p:ext uri="{BB962C8B-B14F-4D97-AF65-F5344CB8AC3E}">
        <p14:creationId xmlns:p14="http://schemas.microsoft.com/office/powerpoint/2010/main" val="285261232"/>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87FC5CC2-1ACB-41EC-BE7D-D9C36EE45E08}" type="datetime1">
              <a:rPr kumimoji="0" lang="zh-CN" altLang="en-US" sz="1400" smtClean="0"/>
              <a:t>2025/10/15</a:t>
            </a:fld>
            <a:endParaRPr kumimoji="0" lang="en-US" altLang="zh-CN" sz="1400"/>
          </a:p>
        </p:txBody>
      </p:sp>
      <p:sp>
        <p:nvSpPr>
          <p:cNvPr id="106499"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6501"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106502" name="Rectangle 3"/>
          <p:cNvSpPr>
            <a:spLocks noGrp="1" noChangeArrowheads="1"/>
          </p:cNvSpPr>
          <p:nvPr>
            <p:ph type="body" idx="1"/>
          </p:nvPr>
        </p:nvSpPr>
        <p:spPr>
          <a:xfrm>
            <a:off x="609600" y="1447801"/>
            <a:ext cx="8345488" cy="762000"/>
          </a:xfrm>
        </p:spPr>
        <p:txBody>
          <a:bodyPr/>
          <a:lstStyle/>
          <a:p>
            <a:pPr eaLnBrk="1" hangingPunct="1"/>
            <a:r>
              <a:rPr lang="en-US" altLang="zh-CN" dirty="0"/>
              <a:t>On</a:t>
            </a:r>
            <a:r>
              <a:rPr lang="zh-CN" altLang="en-US" dirty="0"/>
              <a:t>条件可以和外连接一起使用。</a:t>
            </a:r>
          </a:p>
          <a:p>
            <a:pPr eaLnBrk="1" hangingPunct="1"/>
            <a:endParaRPr lang="zh-CN" altLang="en-US" dirty="0"/>
          </a:p>
        </p:txBody>
      </p:sp>
      <p:sp>
        <p:nvSpPr>
          <p:cNvPr id="7" name="矩形 6"/>
          <p:cNvSpPr/>
          <p:nvPr/>
        </p:nvSpPr>
        <p:spPr>
          <a:xfrm>
            <a:off x="609600" y="2133600"/>
            <a:ext cx="6557682" cy="830997"/>
          </a:xfrm>
          <a:prstGeom prst="rect">
            <a:avLst/>
          </a:prstGeom>
        </p:spPr>
        <p:txBody>
          <a:bodyPr wrap="square">
            <a:spAutoFit/>
          </a:bodyPr>
          <a:lstStyle/>
          <a:p>
            <a:pPr algn="l"/>
            <a:r>
              <a:rPr lang="en-US" altLang="zh-CN" dirty="0"/>
              <a:t>select * </a:t>
            </a:r>
          </a:p>
          <a:p>
            <a:pPr algn="l"/>
            <a:r>
              <a:rPr lang="en-US" altLang="zh-CN" dirty="0"/>
              <a:t>from student </a:t>
            </a:r>
            <a:r>
              <a:rPr lang="en-US" altLang="zh-CN" dirty="0">
                <a:solidFill>
                  <a:srgbClr val="0000FF"/>
                </a:solidFill>
              </a:rPr>
              <a:t>natural</a:t>
            </a:r>
            <a:r>
              <a:rPr lang="en-US" altLang="zh-CN" dirty="0">
                <a:solidFill>
                  <a:srgbClr val="FF0000"/>
                </a:solidFill>
              </a:rPr>
              <a:t> left outer join </a:t>
            </a:r>
            <a:r>
              <a:rPr lang="en-US" altLang="zh-CN" dirty="0"/>
              <a:t>takes;</a:t>
            </a:r>
            <a:endParaRPr lang="zh-CN" altLang="en-US" dirty="0"/>
          </a:p>
        </p:txBody>
      </p:sp>
      <p:sp>
        <p:nvSpPr>
          <p:cNvPr id="8" name="矩形 7"/>
          <p:cNvSpPr/>
          <p:nvPr/>
        </p:nvSpPr>
        <p:spPr>
          <a:xfrm>
            <a:off x="609600" y="3124200"/>
            <a:ext cx="8234082" cy="830997"/>
          </a:xfrm>
          <a:prstGeom prst="rect">
            <a:avLst/>
          </a:prstGeom>
        </p:spPr>
        <p:txBody>
          <a:bodyPr wrap="square">
            <a:spAutoFit/>
          </a:bodyPr>
          <a:lstStyle/>
          <a:p>
            <a:pPr algn="l"/>
            <a:r>
              <a:rPr lang="en-US" altLang="zh-CN" dirty="0"/>
              <a:t>select * </a:t>
            </a:r>
          </a:p>
          <a:p>
            <a:pPr algn="l"/>
            <a:r>
              <a:rPr lang="en-US" altLang="zh-CN" dirty="0"/>
              <a:t>from student </a:t>
            </a:r>
            <a:r>
              <a:rPr lang="en-US" altLang="zh-CN" dirty="0">
                <a:solidFill>
                  <a:srgbClr val="FF0000"/>
                </a:solidFill>
              </a:rPr>
              <a:t>left outer join </a:t>
            </a:r>
            <a:r>
              <a:rPr lang="en-US" altLang="zh-CN" dirty="0"/>
              <a:t>takes </a:t>
            </a:r>
            <a:r>
              <a:rPr lang="en-US" altLang="zh-CN" dirty="0">
                <a:solidFill>
                  <a:srgbClr val="0000FF"/>
                </a:solidFill>
              </a:rPr>
              <a:t>on</a:t>
            </a:r>
            <a:r>
              <a:rPr lang="en-US" altLang="zh-CN" dirty="0"/>
              <a:t> student.ID = takes.ID;</a:t>
            </a:r>
            <a:endParaRPr lang="zh-CN" altLang="en-US" dirty="0"/>
          </a:p>
        </p:txBody>
      </p:sp>
      <p:sp>
        <p:nvSpPr>
          <p:cNvPr id="2" name="TextBox 1"/>
          <p:cNvSpPr txBox="1"/>
          <p:nvPr/>
        </p:nvSpPr>
        <p:spPr>
          <a:xfrm>
            <a:off x="614082" y="4045803"/>
            <a:ext cx="8149114" cy="830997"/>
          </a:xfrm>
          <a:prstGeom prst="rect">
            <a:avLst/>
          </a:prstGeom>
          <a:noFill/>
        </p:spPr>
        <p:txBody>
          <a:bodyPr wrap="square" rtlCol="0">
            <a:spAutoFit/>
          </a:bodyPr>
          <a:lstStyle/>
          <a:p>
            <a:r>
              <a:rPr lang="zh-CN" altLang="en-US" dirty="0"/>
              <a:t>上述两条语句</a:t>
            </a:r>
            <a:r>
              <a:rPr lang="zh-CN" altLang="en-US" b="1" dirty="0"/>
              <a:t>查询结果是相同的</a:t>
            </a:r>
            <a:r>
              <a:rPr lang="zh-CN" altLang="en-US" dirty="0"/>
              <a:t>，</a:t>
            </a:r>
            <a:r>
              <a:rPr lang="zh-CN" altLang="en-US" b="1" dirty="0"/>
              <a:t>区别是</a:t>
            </a:r>
            <a:r>
              <a:rPr lang="zh-CN" altLang="en-US" dirty="0"/>
              <a:t>属性</a:t>
            </a:r>
            <a:r>
              <a:rPr lang="en-US" altLang="zh-CN" dirty="0"/>
              <a:t>ID</a:t>
            </a:r>
            <a:r>
              <a:rPr lang="zh-CN" altLang="en-US" dirty="0"/>
              <a:t>会在下面语句的查询结果中出现两次。</a:t>
            </a:r>
          </a:p>
        </p:txBody>
      </p:sp>
      <p:sp>
        <p:nvSpPr>
          <p:cNvPr id="4" name="矩形 3"/>
          <p:cNvSpPr/>
          <p:nvPr/>
        </p:nvSpPr>
        <p:spPr>
          <a:xfrm>
            <a:off x="461486" y="4951702"/>
            <a:ext cx="8382196"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b="1" dirty="0">
                <a:solidFill>
                  <a:srgbClr val="0000FF"/>
                </a:solidFill>
              </a:rPr>
              <a:t>注意：</a:t>
            </a:r>
            <a:r>
              <a:rPr lang="en-US" altLang="zh-CN" dirty="0"/>
              <a:t>on</a:t>
            </a:r>
            <a:r>
              <a:rPr lang="zh-CN" altLang="en-US" dirty="0"/>
              <a:t>和</a:t>
            </a:r>
            <a:r>
              <a:rPr lang="en-US" altLang="zh-CN" dirty="0"/>
              <a:t>where</a:t>
            </a:r>
            <a:r>
              <a:rPr lang="zh-CN" altLang="en-US" dirty="0"/>
              <a:t>对于外连接的表现是不同的。外连接只为那些对</a:t>
            </a:r>
            <a:r>
              <a:rPr lang="zh-CN" altLang="en-US" dirty="0">
                <a:solidFill>
                  <a:srgbClr val="006600"/>
                </a:solidFill>
              </a:rPr>
              <a:t>相应的“内”连接结果</a:t>
            </a:r>
            <a:r>
              <a:rPr lang="zh-CN" altLang="en-US" dirty="0">
                <a:solidFill>
                  <a:srgbClr val="0000FF"/>
                </a:solidFill>
              </a:rPr>
              <a:t>没有贡献的元组</a:t>
            </a:r>
            <a:r>
              <a:rPr lang="zh-CN" altLang="en-US" b="1" dirty="0">
                <a:solidFill>
                  <a:srgbClr val="006600"/>
                </a:solidFill>
              </a:rPr>
              <a:t>增加补上空值</a:t>
            </a:r>
            <a:r>
              <a:rPr lang="zh-CN" altLang="en-US" dirty="0"/>
              <a:t>的元组。</a:t>
            </a:r>
            <a:r>
              <a:rPr lang="en-US" altLang="zh-CN" dirty="0">
                <a:solidFill>
                  <a:srgbClr val="FF0000"/>
                </a:solidFill>
              </a:rPr>
              <a:t>on</a:t>
            </a:r>
            <a:r>
              <a:rPr lang="zh-CN" altLang="en-US" dirty="0">
                <a:solidFill>
                  <a:srgbClr val="FF0000"/>
                </a:solidFill>
              </a:rPr>
              <a:t>条件是外连接声明的一部分</a:t>
            </a:r>
            <a:r>
              <a:rPr lang="zh-CN" altLang="en-US" dirty="0"/>
              <a:t>，但</a:t>
            </a:r>
            <a:r>
              <a:rPr lang="en-US" altLang="zh-CN" dirty="0"/>
              <a:t>where</a:t>
            </a:r>
            <a:r>
              <a:rPr lang="zh-CN" altLang="en-US" dirty="0"/>
              <a:t>子句却不是。</a:t>
            </a:r>
          </a:p>
        </p:txBody>
      </p:sp>
      <p:sp>
        <p:nvSpPr>
          <p:cNvPr id="6" name="灯片编号占位符 5">
            <a:extLst>
              <a:ext uri="{FF2B5EF4-FFF2-40B4-BE49-F238E27FC236}">
                <a16:creationId xmlns:a16="http://schemas.microsoft.com/office/drawing/2014/main" id="{32D9873C-6ACD-E4B3-DF9B-D0D9FCFA8AA7}"/>
              </a:ext>
            </a:extLst>
          </p:cNvPr>
          <p:cNvSpPr>
            <a:spLocks noGrp="1"/>
          </p:cNvSpPr>
          <p:nvPr>
            <p:ph type="sldNum" sz="quarter" idx="12"/>
          </p:nvPr>
        </p:nvSpPr>
        <p:spPr/>
        <p:txBody>
          <a:bodyPr/>
          <a:lstStyle/>
          <a:p>
            <a:pPr>
              <a:defRPr/>
            </a:pPr>
            <a:fld id="{E0CD82EA-F7BE-454B-A83E-18830F6C5424}" type="slidenum">
              <a:rPr lang="en-US" altLang="zh-CN" smtClean="0"/>
              <a:pPr>
                <a:defRPr/>
              </a:pPr>
              <a:t>26</a:t>
            </a:fld>
            <a:r>
              <a:rPr lang="en-US" altLang="zh-CN"/>
              <a:t>/138</a:t>
            </a:r>
            <a:endParaRPr lang="zh-CN" altLang="en-US" dirty="0"/>
          </a:p>
        </p:txBody>
      </p:sp>
    </p:spTree>
    <p:extLst>
      <p:ext uri="{BB962C8B-B14F-4D97-AF65-F5344CB8AC3E}">
        <p14:creationId xmlns:p14="http://schemas.microsoft.com/office/powerpoint/2010/main" val="9999836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01B6C178-5CAC-4BBE-B73A-2D57A15A84B2}" type="datetime1">
              <a:rPr kumimoji="0" lang="zh-CN" altLang="en-US" sz="1400" smtClean="0"/>
              <a:t>2025/10/15</a:t>
            </a:fld>
            <a:endParaRPr kumimoji="0" lang="en-US" altLang="zh-CN" sz="1400"/>
          </a:p>
        </p:txBody>
      </p:sp>
      <p:sp>
        <p:nvSpPr>
          <p:cNvPr id="106499"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6501"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106502" name="Rectangle 3"/>
          <p:cNvSpPr>
            <a:spLocks noGrp="1" noChangeArrowheads="1"/>
          </p:cNvSpPr>
          <p:nvPr>
            <p:ph type="body" idx="1"/>
          </p:nvPr>
        </p:nvSpPr>
        <p:spPr>
          <a:xfrm>
            <a:off x="609600" y="1447801"/>
            <a:ext cx="8345488" cy="762000"/>
          </a:xfrm>
        </p:spPr>
        <p:txBody>
          <a:bodyPr/>
          <a:lstStyle/>
          <a:p>
            <a:pPr eaLnBrk="1" hangingPunct="1"/>
            <a:r>
              <a:rPr lang="en-US" altLang="zh-CN" dirty="0"/>
              <a:t>On</a:t>
            </a:r>
            <a:r>
              <a:rPr lang="zh-CN" altLang="en-US" dirty="0"/>
              <a:t>条件可以和外连接一起使用。</a:t>
            </a:r>
          </a:p>
          <a:p>
            <a:pPr eaLnBrk="1" hangingPunct="1"/>
            <a:endParaRPr lang="zh-CN" altLang="en-US" dirty="0"/>
          </a:p>
        </p:txBody>
      </p:sp>
      <p:sp>
        <p:nvSpPr>
          <p:cNvPr id="8" name="矩形 7"/>
          <p:cNvSpPr/>
          <p:nvPr/>
        </p:nvSpPr>
        <p:spPr>
          <a:xfrm>
            <a:off x="600635" y="2133600"/>
            <a:ext cx="8234082" cy="830997"/>
          </a:xfrm>
          <a:prstGeom prst="rect">
            <a:avLst/>
          </a:prstGeom>
        </p:spPr>
        <p:txBody>
          <a:bodyPr wrap="square">
            <a:spAutoFit/>
          </a:bodyPr>
          <a:lstStyle/>
          <a:p>
            <a:pPr algn="l"/>
            <a:r>
              <a:rPr lang="en-US" altLang="zh-CN" dirty="0"/>
              <a:t>select * </a:t>
            </a:r>
          </a:p>
          <a:p>
            <a:pPr algn="l"/>
            <a:r>
              <a:rPr lang="en-US" altLang="zh-CN" dirty="0"/>
              <a:t>from student </a:t>
            </a:r>
            <a:r>
              <a:rPr lang="en-US" altLang="zh-CN" dirty="0">
                <a:solidFill>
                  <a:srgbClr val="FF0000"/>
                </a:solidFill>
              </a:rPr>
              <a:t>left outer join </a:t>
            </a:r>
            <a:r>
              <a:rPr lang="en-US" altLang="zh-CN" dirty="0"/>
              <a:t>takes </a:t>
            </a:r>
            <a:r>
              <a:rPr lang="en-US" altLang="zh-CN" dirty="0">
                <a:solidFill>
                  <a:srgbClr val="0000FF"/>
                </a:solidFill>
              </a:rPr>
              <a:t>on</a:t>
            </a:r>
            <a:r>
              <a:rPr lang="en-US" altLang="zh-CN" dirty="0"/>
              <a:t> student.ID = takes.ID;</a:t>
            </a:r>
            <a:endParaRPr lang="zh-CN" altLang="en-US" dirty="0"/>
          </a:p>
        </p:txBody>
      </p:sp>
      <p:sp>
        <p:nvSpPr>
          <p:cNvPr id="5" name="矩形 4"/>
          <p:cNvSpPr/>
          <p:nvPr/>
        </p:nvSpPr>
        <p:spPr>
          <a:xfrm>
            <a:off x="614082" y="2973562"/>
            <a:ext cx="6477000" cy="1200329"/>
          </a:xfrm>
          <a:prstGeom prst="rect">
            <a:avLst/>
          </a:prstGeom>
        </p:spPr>
        <p:txBody>
          <a:bodyPr wrap="square">
            <a:spAutoFit/>
          </a:bodyPr>
          <a:lstStyle/>
          <a:p>
            <a:pPr algn="l"/>
            <a:r>
              <a:rPr lang="en-US" altLang="zh-CN" dirty="0"/>
              <a:t>select *</a:t>
            </a:r>
          </a:p>
          <a:p>
            <a:pPr algn="l"/>
            <a:r>
              <a:rPr lang="en-US" altLang="zh-CN" dirty="0"/>
              <a:t>from student </a:t>
            </a:r>
            <a:r>
              <a:rPr lang="en-US" altLang="zh-CN" dirty="0">
                <a:solidFill>
                  <a:srgbClr val="FF0000"/>
                </a:solidFill>
              </a:rPr>
              <a:t>left outer join </a:t>
            </a:r>
            <a:r>
              <a:rPr lang="en-US" altLang="zh-CN" dirty="0"/>
              <a:t>takes </a:t>
            </a:r>
            <a:r>
              <a:rPr lang="en-US" altLang="zh-CN" dirty="0">
                <a:solidFill>
                  <a:srgbClr val="0000FF"/>
                </a:solidFill>
              </a:rPr>
              <a:t>on</a:t>
            </a:r>
            <a:r>
              <a:rPr lang="en-US" altLang="zh-CN" dirty="0"/>
              <a:t> </a:t>
            </a:r>
            <a:r>
              <a:rPr lang="en-US" altLang="zh-CN" dirty="0">
                <a:solidFill>
                  <a:srgbClr val="006600"/>
                </a:solidFill>
              </a:rPr>
              <a:t>true</a:t>
            </a:r>
          </a:p>
          <a:p>
            <a:pPr algn="l"/>
            <a:r>
              <a:rPr lang="en-US" altLang="zh-CN" dirty="0">
                <a:solidFill>
                  <a:srgbClr val="0000FF"/>
                </a:solidFill>
              </a:rPr>
              <a:t>where</a:t>
            </a:r>
            <a:r>
              <a:rPr lang="en-US" altLang="zh-CN" dirty="0"/>
              <a:t> student.ID = takes.ID;</a:t>
            </a:r>
            <a:endParaRPr lang="zh-CN" altLang="en-US" dirty="0"/>
          </a:p>
        </p:txBody>
      </p:sp>
      <p:sp>
        <p:nvSpPr>
          <p:cNvPr id="6" name="TextBox 5"/>
          <p:cNvSpPr txBox="1"/>
          <p:nvPr/>
        </p:nvSpPr>
        <p:spPr>
          <a:xfrm>
            <a:off x="533400" y="4207341"/>
            <a:ext cx="8234082" cy="1938992"/>
          </a:xfrm>
          <a:prstGeom prst="rect">
            <a:avLst/>
          </a:prstGeom>
          <a:noFill/>
        </p:spPr>
        <p:txBody>
          <a:bodyPr wrap="square" rtlCol="0">
            <a:spAutoFit/>
          </a:bodyPr>
          <a:lstStyle/>
          <a:p>
            <a:pPr algn="l"/>
            <a:r>
              <a:rPr lang="zh-CN" altLang="en-US" sz="2000" dirty="0"/>
              <a:t>在第一条查询中，</a:t>
            </a:r>
            <a:r>
              <a:rPr lang="en-US" altLang="zh-CN" sz="2000" dirty="0"/>
              <a:t> ID=70557</a:t>
            </a:r>
            <a:r>
              <a:rPr lang="zh-CN" altLang="en-US" sz="2000" dirty="0"/>
              <a:t>的元组会出现的查询结果中；</a:t>
            </a:r>
            <a:endParaRPr lang="en-US" altLang="zh-CN" sz="2000" dirty="0"/>
          </a:p>
          <a:p>
            <a:pPr algn="l"/>
            <a:r>
              <a:rPr lang="zh-CN" altLang="en-US" sz="2000" dirty="0"/>
              <a:t>而在第二条查询中，每个元组都满足连接条件</a:t>
            </a:r>
            <a:r>
              <a:rPr lang="en-US" altLang="zh-CN" sz="2000" dirty="0"/>
              <a:t>true</a:t>
            </a:r>
            <a:r>
              <a:rPr lang="zh-CN" altLang="en-US" sz="2000" dirty="0"/>
              <a:t>，因此外连接不会产生补上空值的元组。</a:t>
            </a:r>
            <a:r>
              <a:rPr lang="zh-CN" altLang="en-US" sz="2000" dirty="0">
                <a:solidFill>
                  <a:srgbClr val="0000FF"/>
                </a:solidFill>
              </a:rPr>
              <a:t>外连接实际上产生了两个关系的笛卡儿积</a:t>
            </a:r>
            <a:r>
              <a:rPr lang="zh-CN" altLang="en-US" sz="2000" dirty="0"/>
              <a:t>。因为在</a:t>
            </a:r>
            <a:r>
              <a:rPr lang="en-US" altLang="zh-CN" sz="2000" dirty="0"/>
              <a:t>takes</a:t>
            </a:r>
            <a:r>
              <a:rPr lang="zh-CN" altLang="en-US" sz="2000" dirty="0"/>
              <a:t>中没有</a:t>
            </a:r>
            <a:r>
              <a:rPr lang="en-US" altLang="zh-CN" sz="2000" dirty="0"/>
              <a:t>ID=70557</a:t>
            </a:r>
            <a:r>
              <a:rPr lang="zh-CN" altLang="en-US" sz="2000" dirty="0"/>
              <a:t>的元组，每次当外连接中出现</a:t>
            </a:r>
            <a:r>
              <a:rPr lang="en-US" altLang="zh-CN" sz="2000" dirty="0"/>
              <a:t>name=“Snow”</a:t>
            </a:r>
            <a:r>
              <a:rPr lang="zh-CN" altLang="en-US" sz="2000" dirty="0"/>
              <a:t>元组时，</a:t>
            </a:r>
            <a:r>
              <a:rPr lang="en-US" altLang="zh-CN" sz="2000" dirty="0"/>
              <a:t>student.ID</a:t>
            </a:r>
            <a:r>
              <a:rPr lang="zh-CN" altLang="en-US" sz="2000" dirty="0"/>
              <a:t>与</a:t>
            </a:r>
            <a:r>
              <a:rPr lang="en-US" altLang="zh-CN" sz="2000" dirty="0"/>
              <a:t>takes.ID</a:t>
            </a:r>
            <a:r>
              <a:rPr lang="zh-CN" altLang="en-US" sz="2000" dirty="0"/>
              <a:t>的取值必然是不同的，并且</a:t>
            </a:r>
            <a:r>
              <a:rPr lang="zh-CN" altLang="en-US" sz="2000" dirty="0">
                <a:solidFill>
                  <a:srgbClr val="FF0000"/>
                </a:solidFill>
              </a:rPr>
              <a:t>这样的元组会被</a:t>
            </a:r>
            <a:r>
              <a:rPr lang="en-US" altLang="zh-CN" sz="2000" dirty="0">
                <a:solidFill>
                  <a:srgbClr val="FF0000"/>
                </a:solidFill>
              </a:rPr>
              <a:t>where</a:t>
            </a:r>
            <a:r>
              <a:rPr lang="zh-CN" altLang="en-US" sz="2000" dirty="0">
                <a:solidFill>
                  <a:srgbClr val="FF0000"/>
                </a:solidFill>
              </a:rPr>
              <a:t>子句谓词排除掉</a:t>
            </a:r>
            <a:r>
              <a:rPr lang="zh-CN" altLang="en-US" sz="2000" dirty="0"/>
              <a:t>。从而，学生</a:t>
            </a:r>
            <a:r>
              <a:rPr lang="en-US" altLang="zh-CN" sz="2000" dirty="0"/>
              <a:t>Snow</a:t>
            </a:r>
            <a:r>
              <a:rPr lang="zh-CN" altLang="en-US" sz="2000" dirty="0"/>
              <a:t>不会出现在后面查询的结果中。</a:t>
            </a:r>
          </a:p>
        </p:txBody>
      </p:sp>
      <p:sp>
        <p:nvSpPr>
          <p:cNvPr id="4" name="灯片编号占位符 3">
            <a:extLst>
              <a:ext uri="{FF2B5EF4-FFF2-40B4-BE49-F238E27FC236}">
                <a16:creationId xmlns:a16="http://schemas.microsoft.com/office/drawing/2014/main" id="{44DC8A30-39E2-D70B-5A62-175FB1C75B4B}"/>
              </a:ext>
            </a:extLst>
          </p:cNvPr>
          <p:cNvSpPr>
            <a:spLocks noGrp="1"/>
          </p:cNvSpPr>
          <p:nvPr>
            <p:ph type="sldNum" sz="quarter" idx="12"/>
          </p:nvPr>
        </p:nvSpPr>
        <p:spPr/>
        <p:txBody>
          <a:bodyPr/>
          <a:lstStyle/>
          <a:p>
            <a:pPr>
              <a:defRPr/>
            </a:pPr>
            <a:fld id="{E0CD82EA-F7BE-454B-A83E-18830F6C5424}" type="slidenum">
              <a:rPr lang="en-US" altLang="zh-CN" smtClean="0"/>
              <a:pPr>
                <a:defRPr/>
              </a:pPr>
              <a:t>27</a:t>
            </a:fld>
            <a:r>
              <a:rPr lang="en-US" altLang="zh-CN"/>
              <a:t>/138</a:t>
            </a:r>
            <a:endParaRPr lang="zh-CN" altLang="en-US" dirty="0"/>
          </a:p>
        </p:txBody>
      </p:sp>
    </p:spTree>
    <p:extLst>
      <p:ext uri="{BB962C8B-B14F-4D97-AF65-F5344CB8AC3E}">
        <p14:creationId xmlns:p14="http://schemas.microsoft.com/office/powerpoint/2010/main" val="34004674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EE6BC33E-A3C5-4072-A303-002CCA878163}" type="datetime1">
              <a:rPr kumimoji="0" lang="zh-CN" altLang="en-US" sz="1400" smtClean="0"/>
              <a:t>2025/10/15</a:t>
            </a:fld>
            <a:endParaRPr kumimoji="0" lang="en-US" altLang="zh-CN" sz="1400"/>
          </a:p>
        </p:txBody>
      </p:sp>
      <p:sp>
        <p:nvSpPr>
          <p:cNvPr id="10752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7525" name="Rectangle 2"/>
          <p:cNvSpPr>
            <a:spLocks noGrp="1" noChangeArrowheads="1"/>
          </p:cNvSpPr>
          <p:nvPr>
            <p:ph type="title"/>
          </p:nvPr>
        </p:nvSpPr>
        <p:spPr/>
        <p:txBody>
          <a:bodyPr/>
          <a:lstStyle/>
          <a:p>
            <a:pPr eaLnBrk="1" hangingPunct="1"/>
            <a:r>
              <a:rPr lang="zh-CN" altLang="en-US" dirty="0"/>
              <a:t>连接的类型与条件</a:t>
            </a:r>
          </a:p>
        </p:txBody>
      </p:sp>
      <p:sp>
        <p:nvSpPr>
          <p:cNvPr id="107526" name="Rectangle 4" descr="Rectangle: Click to edit Master text styles&#10;Second level&#10;Third level&#10;Fourth level&#10;Fifth level"/>
          <p:cNvSpPr>
            <a:spLocks noChangeArrowheads="1"/>
          </p:cNvSpPr>
          <p:nvPr/>
        </p:nvSpPr>
        <p:spPr bwMode="auto">
          <a:xfrm>
            <a:off x="595313" y="1484313"/>
            <a:ext cx="8091487" cy="4611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eaLnBrk="0" hangingPunct="0">
              <a:spcBef>
                <a:spcPct val="20000"/>
              </a:spcBef>
              <a:buClr>
                <a:schemeClr val="folHlink"/>
              </a:buClr>
              <a:buSzPct val="60000"/>
              <a:buFont typeface="Wingdings" pitchFamily="2" charset="2"/>
              <a:buChar char="n"/>
              <a:defRPr sz="3200">
                <a:solidFill>
                  <a:schemeClr val="tx1"/>
                </a:solidFill>
                <a:latin typeface="Tahoma" pitchFamily="34" charset="0"/>
                <a:ea typeface="宋体" pitchFamily="2" charset="-122"/>
              </a:defRPr>
            </a:lvl1pPr>
            <a:lvl2pPr marL="742950" indent="-285750" algn="l" eaLnBrk="0" hangingPunct="0">
              <a:spcBef>
                <a:spcPct val="20000"/>
              </a:spcBef>
              <a:buClr>
                <a:schemeClr val="hlink"/>
              </a:buClr>
              <a:buSzPct val="55000"/>
              <a:buFont typeface="Wingdings" pitchFamily="2" charset="2"/>
              <a:buChar char="n"/>
              <a:defRPr sz="2800">
                <a:solidFill>
                  <a:schemeClr val="tx1"/>
                </a:solidFill>
                <a:latin typeface="Tahoma" pitchFamily="34" charset="0"/>
                <a:ea typeface="宋体" pitchFamily="2" charset="-122"/>
              </a:defRPr>
            </a:lvl2pPr>
            <a:lvl3pPr marL="1143000" indent="-228600" algn="l" eaLnBrk="0" hangingPunct="0">
              <a:spcBef>
                <a:spcPct val="20000"/>
              </a:spcBef>
              <a:buClr>
                <a:schemeClr val="folHlink"/>
              </a:buClr>
              <a:buSzPct val="50000"/>
              <a:buFont typeface="Wingdings" pitchFamily="2" charset="2"/>
              <a:buChar char="n"/>
              <a:defRPr sz="2400">
                <a:solidFill>
                  <a:schemeClr val="tx1"/>
                </a:solidFill>
                <a:latin typeface="Tahoma" pitchFamily="34" charset="0"/>
                <a:ea typeface="宋体" pitchFamily="2" charset="-122"/>
              </a:defRPr>
            </a:lvl3pPr>
            <a:lvl4pPr marL="1600200" indent="-228600" algn="l"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lgn="l"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kumimoji="0" lang="zh-CN" altLang="en-US" sz="2400" dirty="0">
                <a:cs typeface="Arial" charset="0"/>
              </a:rPr>
              <a:t>为了把常规连接和外连接区分开来，在</a:t>
            </a:r>
            <a:r>
              <a:rPr kumimoji="0" lang="en-US" altLang="zh-CN" sz="2400" dirty="0">
                <a:cs typeface="Arial" charset="0"/>
              </a:rPr>
              <a:t>SQL</a:t>
            </a:r>
            <a:r>
              <a:rPr kumimoji="0" lang="zh-CN" altLang="en-US" sz="2400" dirty="0">
                <a:cs typeface="Arial" charset="0"/>
              </a:rPr>
              <a:t>中把</a:t>
            </a:r>
            <a:r>
              <a:rPr kumimoji="0" lang="zh-CN" altLang="en-US" sz="2400" dirty="0">
                <a:solidFill>
                  <a:srgbClr val="0000FF"/>
                </a:solidFill>
                <a:cs typeface="Arial" charset="0"/>
              </a:rPr>
              <a:t>常规连接</a:t>
            </a:r>
            <a:r>
              <a:rPr kumimoji="0" lang="zh-CN" altLang="en-US" sz="2400" dirty="0">
                <a:cs typeface="Arial" charset="0"/>
              </a:rPr>
              <a:t>称作</a:t>
            </a:r>
            <a:r>
              <a:rPr kumimoji="0" lang="zh-CN" altLang="en-US" sz="2400" dirty="0">
                <a:solidFill>
                  <a:srgbClr val="0000FF"/>
                </a:solidFill>
                <a:cs typeface="Arial" charset="0"/>
              </a:rPr>
              <a:t>内连接</a:t>
            </a:r>
            <a:r>
              <a:rPr kumimoji="0" lang="zh-CN" altLang="en-US" sz="2400" dirty="0">
                <a:cs typeface="Arial" charset="0"/>
              </a:rPr>
              <a:t>。这样连接子句就可以指定用内连接而不是外连接来说明使用的是常规连接。然而关键词 </a:t>
            </a:r>
            <a:r>
              <a:rPr kumimoji="0" lang="en-US" altLang="zh-CN" sz="2400" dirty="0">
                <a:solidFill>
                  <a:srgbClr val="0000FF"/>
                </a:solidFill>
                <a:cs typeface="Arial" charset="0"/>
              </a:rPr>
              <a:t>inner</a:t>
            </a:r>
            <a:r>
              <a:rPr kumimoji="0" lang="en-US" altLang="zh-CN" sz="2400" dirty="0">
                <a:cs typeface="Arial" charset="0"/>
              </a:rPr>
              <a:t> </a:t>
            </a:r>
            <a:r>
              <a:rPr kumimoji="0" lang="zh-CN" altLang="en-US" sz="2400" dirty="0">
                <a:cs typeface="Arial" charset="0"/>
              </a:rPr>
              <a:t>是</a:t>
            </a:r>
            <a:r>
              <a:rPr kumimoji="0" lang="zh-CN" altLang="en-US" sz="2400" dirty="0">
                <a:solidFill>
                  <a:srgbClr val="0000FF"/>
                </a:solidFill>
                <a:cs typeface="Arial" charset="0"/>
              </a:rPr>
              <a:t>可选的</a:t>
            </a:r>
            <a:r>
              <a:rPr kumimoji="0" lang="zh-CN" altLang="en-US" sz="2400" dirty="0">
                <a:cs typeface="Arial" charset="0"/>
              </a:rPr>
              <a:t>，当 </a:t>
            </a:r>
            <a:r>
              <a:rPr kumimoji="0" lang="en-US" altLang="zh-CN" sz="2400" dirty="0">
                <a:cs typeface="Arial" charset="0"/>
              </a:rPr>
              <a:t>join</a:t>
            </a:r>
            <a:r>
              <a:rPr kumimoji="0" lang="zh-CN" altLang="en-US" sz="2400" dirty="0">
                <a:cs typeface="Arial" charset="0"/>
              </a:rPr>
              <a:t>子向中没有使用</a:t>
            </a:r>
            <a:r>
              <a:rPr kumimoji="0" lang="en-US" altLang="zh-CN" sz="2400" dirty="0">
                <a:cs typeface="Arial" charset="0"/>
              </a:rPr>
              <a:t>outer</a:t>
            </a:r>
            <a:r>
              <a:rPr kumimoji="0" lang="zh-CN" altLang="en-US" sz="2400" dirty="0">
                <a:cs typeface="Arial" charset="0"/>
              </a:rPr>
              <a:t>前缀时，</a:t>
            </a:r>
            <a:r>
              <a:rPr kumimoji="0" lang="zh-CN" altLang="en-US" sz="2400" dirty="0">
                <a:solidFill>
                  <a:srgbClr val="0000FF"/>
                </a:solidFill>
                <a:cs typeface="Arial" charset="0"/>
              </a:rPr>
              <a:t>缺省的连接类型是内连接</a:t>
            </a:r>
            <a:r>
              <a:rPr kumimoji="0" lang="zh-CN" altLang="en-US" sz="2400" dirty="0">
                <a:cs typeface="Arial" charset="0"/>
              </a:rPr>
              <a:t>。</a:t>
            </a:r>
            <a:endParaRPr kumimoji="0" lang="en-US" altLang="zh-CN" sz="2400" dirty="0">
              <a:cs typeface="Arial" charset="0"/>
            </a:endParaRPr>
          </a:p>
          <a:p>
            <a:pPr eaLnBrk="1" hangingPunct="1"/>
            <a:endParaRPr kumimoji="0" lang="en-US" altLang="zh-CN" sz="2800" dirty="0">
              <a:cs typeface="Arial" charset="0"/>
            </a:endParaRPr>
          </a:p>
        </p:txBody>
      </p:sp>
      <p:sp>
        <p:nvSpPr>
          <p:cNvPr id="2" name="矩形 1"/>
          <p:cNvSpPr/>
          <p:nvPr/>
        </p:nvSpPr>
        <p:spPr>
          <a:xfrm>
            <a:off x="685800" y="3657599"/>
            <a:ext cx="5334000" cy="830997"/>
          </a:xfrm>
          <a:prstGeom prst="rect">
            <a:avLst/>
          </a:prstGeom>
        </p:spPr>
        <p:txBody>
          <a:bodyPr wrap="square">
            <a:spAutoFit/>
          </a:bodyPr>
          <a:lstStyle/>
          <a:p>
            <a:pPr algn="l"/>
            <a:r>
              <a:rPr lang="en-US" altLang="zh-CN" dirty="0"/>
              <a:t>select *</a:t>
            </a:r>
          </a:p>
          <a:p>
            <a:pPr algn="l"/>
            <a:r>
              <a:rPr lang="en-US" altLang="zh-CN" dirty="0"/>
              <a:t>from student </a:t>
            </a:r>
            <a:r>
              <a:rPr lang="en-US" altLang="zh-CN" dirty="0">
                <a:solidFill>
                  <a:srgbClr val="0000FF"/>
                </a:solidFill>
              </a:rPr>
              <a:t>join</a:t>
            </a:r>
            <a:r>
              <a:rPr lang="en-US" altLang="zh-CN" dirty="0"/>
              <a:t> takes using (ID);</a:t>
            </a:r>
            <a:endParaRPr lang="zh-CN" altLang="en-US" dirty="0"/>
          </a:p>
        </p:txBody>
      </p:sp>
      <p:sp>
        <p:nvSpPr>
          <p:cNvPr id="4" name="矩形 3"/>
          <p:cNvSpPr/>
          <p:nvPr/>
        </p:nvSpPr>
        <p:spPr>
          <a:xfrm>
            <a:off x="631172" y="4904094"/>
            <a:ext cx="5638800" cy="830997"/>
          </a:xfrm>
          <a:prstGeom prst="rect">
            <a:avLst/>
          </a:prstGeom>
        </p:spPr>
        <p:txBody>
          <a:bodyPr wrap="square">
            <a:spAutoFit/>
          </a:bodyPr>
          <a:lstStyle/>
          <a:p>
            <a:pPr algn="l"/>
            <a:r>
              <a:rPr lang="en-US" altLang="zh-CN" dirty="0"/>
              <a:t>select *</a:t>
            </a:r>
          </a:p>
          <a:p>
            <a:pPr algn="l"/>
            <a:r>
              <a:rPr lang="en-US" altLang="zh-CN" dirty="0"/>
              <a:t>from student </a:t>
            </a:r>
            <a:r>
              <a:rPr lang="en-US" altLang="zh-CN" dirty="0">
                <a:solidFill>
                  <a:srgbClr val="0000FF"/>
                </a:solidFill>
              </a:rPr>
              <a:t>inner join </a:t>
            </a:r>
            <a:r>
              <a:rPr lang="en-US" altLang="zh-CN" dirty="0"/>
              <a:t>takes using (ID);</a:t>
            </a:r>
            <a:endParaRPr lang="zh-CN" altLang="en-US" dirty="0"/>
          </a:p>
        </p:txBody>
      </p:sp>
      <p:sp>
        <p:nvSpPr>
          <p:cNvPr id="6" name="上下箭头 5"/>
          <p:cNvSpPr/>
          <p:nvPr/>
        </p:nvSpPr>
        <p:spPr bwMode="auto">
          <a:xfrm>
            <a:off x="2581835" y="4486555"/>
            <a:ext cx="304800" cy="560694"/>
          </a:xfrm>
          <a:prstGeom prst="up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grpSp>
        <p:nvGrpSpPr>
          <p:cNvPr id="9" name="组合 8"/>
          <p:cNvGrpSpPr/>
          <p:nvPr/>
        </p:nvGrpSpPr>
        <p:grpSpPr>
          <a:xfrm>
            <a:off x="3581400" y="3219688"/>
            <a:ext cx="5123329" cy="461665"/>
            <a:chOff x="3581400" y="3219688"/>
            <a:chExt cx="5123329" cy="461665"/>
          </a:xfrm>
        </p:grpSpPr>
        <p:sp>
          <p:nvSpPr>
            <p:cNvPr id="5" name="矩形 4"/>
            <p:cNvSpPr/>
            <p:nvPr/>
          </p:nvSpPr>
          <p:spPr>
            <a:xfrm>
              <a:off x="3581400" y="3219688"/>
              <a:ext cx="5123329" cy="461665"/>
            </a:xfrm>
            <a:prstGeom prst="rect">
              <a:avLst/>
            </a:prstGeom>
          </p:spPr>
          <p:txBody>
            <a:bodyPr wrap="square">
              <a:spAutoFit/>
            </a:bodyPr>
            <a:lstStyle/>
            <a:p>
              <a:pPr algn="l"/>
              <a:r>
                <a:rPr lang="en-US" altLang="zh-CN" dirty="0"/>
                <a:t>natural join          natural inner join</a:t>
              </a:r>
              <a:endParaRPr lang="zh-CN" altLang="en-US" dirty="0"/>
            </a:p>
          </p:txBody>
        </p:sp>
        <p:sp>
          <p:nvSpPr>
            <p:cNvPr id="7" name="左右箭头 6"/>
            <p:cNvSpPr/>
            <p:nvPr/>
          </p:nvSpPr>
          <p:spPr bwMode="auto">
            <a:xfrm>
              <a:off x="5334000" y="3285233"/>
              <a:ext cx="685800" cy="350281"/>
            </a:xfrm>
            <a:prstGeom prst="lef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grpSp>
      <p:sp>
        <p:nvSpPr>
          <p:cNvPr id="8" name="TextBox 7"/>
          <p:cNvSpPr txBox="1"/>
          <p:nvPr/>
        </p:nvSpPr>
        <p:spPr>
          <a:xfrm>
            <a:off x="2938660" y="4542712"/>
            <a:ext cx="800220" cy="461665"/>
          </a:xfrm>
          <a:prstGeom prst="rect">
            <a:avLst/>
          </a:prstGeom>
          <a:noFill/>
        </p:spPr>
        <p:txBody>
          <a:bodyPr wrap="none" rtlCol="0">
            <a:spAutoFit/>
          </a:bodyPr>
          <a:lstStyle/>
          <a:p>
            <a:r>
              <a:rPr lang="zh-CN" altLang="en-US" dirty="0"/>
              <a:t>等价</a:t>
            </a:r>
          </a:p>
        </p:txBody>
      </p:sp>
      <p:sp>
        <p:nvSpPr>
          <p:cNvPr id="11" name="灯片编号占位符 10">
            <a:extLst>
              <a:ext uri="{FF2B5EF4-FFF2-40B4-BE49-F238E27FC236}">
                <a16:creationId xmlns:a16="http://schemas.microsoft.com/office/drawing/2014/main" id="{D27A465F-DE15-AB35-461E-B9474354FCDC}"/>
              </a:ext>
            </a:extLst>
          </p:cNvPr>
          <p:cNvSpPr>
            <a:spLocks noGrp="1"/>
          </p:cNvSpPr>
          <p:nvPr>
            <p:ph type="sldNum" sz="quarter" idx="12"/>
          </p:nvPr>
        </p:nvSpPr>
        <p:spPr/>
        <p:txBody>
          <a:bodyPr/>
          <a:lstStyle/>
          <a:p>
            <a:pPr>
              <a:defRPr/>
            </a:pPr>
            <a:fld id="{E0CD82EA-F7BE-454B-A83E-18830F6C5424}" type="slidenum">
              <a:rPr lang="en-US" altLang="zh-CN" smtClean="0"/>
              <a:pPr>
                <a:defRPr/>
              </a:pPr>
              <a:t>28</a:t>
            </a:fld>
            <a:r>
              <a:rPr lang="en-US" altLang="zh-CN"/>
              <a:t>/138</a:t>
            </a:r>
            <a:endParaRPr lang="zh-CN" altLang="en-US" dirty="0"/>
          </a:p>
        </p:txBody>
      </p:sp>
    </p:spTree>
    <p:extLst>
      <p:ext uri="{BB962C8B-B14F-4D97-AF65-F5344CB8AC3E}">
        <p14:creationId xmlns:p14="http://schemas.microsoft.com/office/powerpoint/2010/main" val="26343083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500" fill="hold"/>
                                        <p:tgtEl>
                                          <p:spTgt spid="8"/>
                                        </p:tgtEl>
                                        <p:attrNameLst>
                                          <p:attrName>ppt_x</p:attrName>
                                        </p:attrNameLst>
                                      </p:cBhvr>
                                      <p:tavLst>
                                        <p:tav tm="0">
                                          <p:val>
                                            <p:strVal val="#ppt_x"/>
                                          </p:val>
                                        </p:tav>
                                        <p:tav tm="100000">
                                          <p:val>
                                            <p:strVal val="#ppt_x"/>
                                          </p:val>
                                        </p:tav>
                                      </p:tavLst>
                                    </p:anim>
                                    <p:anim calcmode="lin" valueType="num">
                                      <p:cBhvr additive="base">
                                        <p:cTn id="11"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arn(inVertical)">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D7E918A9-7540-4E77-B7B0-D19272B1BBA5}" type="datetime1">
              <a:rPr kumimoji="0" lang="zh-CN" altLang="en-US" sz="1400" smtClean="0"/>
              <a:t>2025/10/15</a:t>
            </a:fld>
            <a:endParaRPr kumimoji="0" lang="en-US" altLang="zh-CN" sz="1400"/>
          </a:p>
        </p:txBody>
      </p:sp>
      <p:sp>
        <p:nvSpPr>
          <p:cNvPr id="10752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7525" name="Rectangle 2"/>
          <p:cNvSpPr>
            <a:spLocks noGrp="1" noChangeArrowheads="1"/>
          </p:cNvSpPr>
          <p:nvPr>
            <p:ph type="title"/>
          </p:nvPr>
        </p:nvSpPr>
        <p:spPr/>
        <p:txBody>
          <a:bodyPr/>
          <a:lstStyle/>
          <a:p>
            <a:pPr eaLnBrk="1" hangingPunct="1"/>
            <a:r>
              <a:rPr lang="zh-CN" altLang="en-US" dirty="0"/>
              <a:t>连接的类型与条件</a:t>
            </a:r>
            <a:endParaRPr lang="zh-CN" altLang="en-US" sz="2400" dirty="0">
              <a:solidFill>
                <a:srgbClr val="0000FF"/>
              </a:solidFill>
            </a:endParaRPr>
          </a:p>
        </p:txBody>
      </p:sp>
      <p:sp>
        <p:nvSpPr>
          <p:cNvPr id="107526" name="Rectangle 4" descr="Rectangle: Click to edit Master text styles&#10;Second level&#10;Third level&#10;Fourth level&#10;Fifth level"/>
          <p:cNvSpPr>
            <a:spLocks noChangeArrowheads="1"/>
          </p:cNvSpPr>
          <p:nvPr/>
        </p:nvSpPr>
        <p:spPr bwMode="auto">
          <a:xfrm>
            <a:off x="838200" y="1371600"/>
            <a:ext cx="7772400" cy="300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eaLnBrk="0" hangingPunct="0">
              <a:spcBef>
                <a:spcPct val="20000"/>
              </a:spcBef>
              <a:buClr>
                <a:schemeClr val="folHlink"/>
              </a:buClr>
              <a:buSzPct val="60000"/>
              <a:buFont typeface="Wingdings" pitchFamily="2" charset="2"/>
              <a:buChar char="n"/>
              <a:defRPr sz="3200">
                <a:solidFill>
                  <a:schemeClr val="tx1"/>
                </a:solidFill>
                <a:latin typeface="Tahoma" pitchFamily="34" charset="0"/>
                <a:ea typeface="宋体" pitchFamily="2" charset="-122"/>
              </a:defRPr>
            </a:lvl1pPr>
            <a:lvl2pPr marL="742950" indent="-285750" algn="l" eaLnBrk="0" hangingPunct="0">
              <a:spcBef>
                <a:spcPct val="20000"/>
              </a:spcBef>
              <a:buClr>
                <a:schemeClr val="hlink"/>
              </a:buClr>
              <a:buSzPct val="55000"/>
              <a:buFont typeface="Wingdings" pitchFamily="2" charset="2"/>
              <a:buChar char="n"/>
              <a:defRPr sz="2800">
                <a:solidFill>
                  <a:schemeClr val="tx1"/>
                </a:solidFill>
                <a:latin typeface="Tahoma" pitchFamily="34" charset="0"/>
                <a:ea typeface="宋体" pitchFamily="2" charset="-122"/>
              </a:defRPr>
            </a:lvl2pPr>
            <a:lvl3pPr marL="1143000" indent="-228600" algn="l" eaLnBrk="0" hangingPunct="0">
              <a:spcBef>
                <a:spcPct val="20000"/>
              </a:spcBef>
              <a:buClr>
                <a:schemeClr val="folHlink"/>
              </a:buClr>
              <a:buSzPct val="50000"/>
              <a:buFont typeface="Wingdings" pitchFamily="2" charset="2"/>
              <a:buChar char="n"/>
              <a:defRPr sz="2400">
                <a:solidFill>
                  <a:schemeClr val="tx1"/>
                </a:solidFill>
                <a:latin typeface="Tahoma" pitchFamily="34" charset="0"/>
                <a:ea typeface="宋体" pitchFamily="2" charset="-122"/>
              </a:defRPr>
            </a:lvl3pPr>
            <a:lvl4pPr marL="1600200" indent="-228600" algn="l" eaLnBrk="0" hangingPunct="0">
              <a:spcBef>
                <a:spcPct val="20000"/>
              </a:spcBef>
              <a:buClr>
                <a:schemeClr val="accent2"/>
              </a:buClr>
              <a:buSzPct val="55000"/>
              <a:buFont typeface="Wingdings" pitchFamily="2" charset="2"/>
              <a:buChar char="n"/>
              <a:defRPr sz="2000">
                <a:solidFill>
                  <a:schemeClr val="tx1"/>
                </a:solidFill>
                <a:latin typeface="Tahoma" pitchFamily="34" charset="0"/>
                <a:ea typeface="宋体" pitchFamily="2" charset="-122"/>
              </a:defRPr>
            </a:lvl4pPr>
            <a:lvl5pPr marL="2057400" indent="-228600" algn="l" eaLnBrk="0" hangingPunct="0">
              <a:spcBef>
                <a:spcPct val="20000"/>
              </a:spcBef>
              <a:buClr>
                <a:schemeClr val="accent1"/>
              </a:buClr>
              <a:buSzPct val="50000"/>
              <a:buFont typeface="Wingdings" pitchFamily="2" charset="2"/>
              <a:buChar char="n"/>
              <a:defRPr sz="2000">
                <a:solidFill>
                  <a:schemeClr val="tx1"/>
                </a:solidFill>
                <a:latin typeface="Tahoma" pitchFamily="34"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pitchFamily="2" charset="-122"/>
              </a:defRPr>
            </a:lvl9pPr>
          </a:lstStyle>
          <a:p>
            <a:pPr eaLnBrk="1" hangingPunct="1"/>
            <a:r>
              <a:rPr kumimoji="0" lang="zh-CN" altLang="en-US" b="1" dirty="0">
                <a:cs typeface="Arial" charset="0"/>
              </a:rPr>
              <a:t>在 </a:t>
            </a:r>
            <a:r>
              <a:rPr kumimoji="0" lang="en-US" altLang="zh-CN" b="1" dirty="0">
                <a:cs typeface="Arial" charset="0"/>
              </a:rPr>
              <a:t>from</a:t>
            </a:r>
            <a:r>
              <a:rPr kumimoji="0" lang="zh-CN" altLang="en-US" b="1" dirty="0">
                <a:cs typeface="Arial" charset="0"/>
              </a:rPr>
              <a:t>子句 连接</a:t>
            </a:r>
            <a:endParaRPr kumimoji="0" lang="zh-CN" altLang="en-US" dirty="0">
              <a:cs typeface="Arial" charset="0"/>
            </a:endParaRPr>
          </a:p>
          <a:p>
            <a:pPr lvl="1" eaLnBrk="1" hangingPunct="1"/>
            <a:r>
              <a:rPr kumimoji="0" lang="en-US" altLang="zh-CN" dirty="0">
                <a:cs typeface="Arial" charset="0"/>
              </a:rPr>
              <a:t>Join type  </a:t>
            </a:r>
            <a:r>
              <a:rPr kumimoji="0" lang="zh-CN" altLang="en-US" dirty="0">
                <a:cs typeface="Arial" charset="0"/>
              </a:rPr>
              <a:t>连接类型 （</a:t>
            </a:r>
            <a:r>
              <a:rPr kumimoji="0" lang="zh-CN" altLang="en-US" dirty="0">
                <a:solidFill>
                  <a:srgbClr val="C00000"/>
                </a:solidFill>
                <a:cs typeface="Arial" charset="0"/>
              </a:rPr>
              <a:t>失配元组如何处理</a:t>
            </a:r>
            <a:r>
              <a:rPr kumimoji="0" lang="zh-CN" altLang="en-US" dirty="0">
                <a:cs typeface="Arial" charset="0"/>
              </a:rPr>
              <a:t>）</a:t>
            </a:r>
          </a:p>
          <a:p>
            <a:pPr lvl="1" eaLnBrk="1" hangingPunct="1"/>
            <a:r>
              <a:rPr kumimoji="0" lang="en-US" altLang="zh-CN" dirty="0">
                <a:cs typeface="Arial" charset="0"/>
              </a:rPr>
              <a:t>Join condition </a:t>
            </a:r>
            <a:r>
              <a:rPr kumimoji="0" lang="zh-CN" altLang="en-US" dirty="0">
                <a:cs typeface="Arial" charset="0"/>
              </a:rPr>
              <a:t>连接条件</a:t>
            </a:r>
          </a:p>
        </p:txBody>
      </p:sp>
      <p:sp>
        <p:nvSpPr>
          <p:cNvPr id="107527" name="Rectangle 5"/>
          <p:cNvSpPr>
            <a:spLocks noChangeArrowheads="1"/>
          </p:cNvSpPr>
          <p:nvPr/>
        </p:nvSpPr>
        <p:spPr bwMode="auto">
          <a:xfrm>
            <a:off x="882650" y="3306763"/>
            <a:ext cx="2557463" cy="617537"/>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l"/>
            <a:r>
              <a:rPr kumimoji="0" lang="zh-CN" altLang="en-US" dirty="0">
                <a:latin typeface="Helvetica" pitchFamily="34" charset="0"/>
              </a:rPr>
              <a:t>连接类型：</a:t>
            </a:r>
            <a:endParaRPr kumimoji="0" lang="en-US" altLang="zh-CN" dirty="0">
              <a:latin typeface="Helvetica" pitchFamily="34" charset="0"/>
            </a:endParaRPr>
          </a:p>
        </p:txBody>
      </p:sp>
      <p:sp>
        <p:nvSpPr>
          <p:cNvPr id="107528" name="Rectangle 6"/>
          <p:cNvSpPr>
            <a:spLocks noChangeArrowheads="1"/>
          </p:cNvSpPr>
          <p:nvPr/>
        </p:nvSpPr>
        <p:spPr bwMode="auto">
          <a:xfrm>
            <a:off x="882650" y="3922713"/>
            <a:ext cx="2557463" cy="1868487"/>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l"/>
            <a:r>
              <a:rPr kumimoji="0" lang="en-US" altLang="zh-CN" b="1" dirty="0">
                <a:solidFill>
                  <a:srgbClr val="0000FF"/>
                </a:solidFill>
                <a:latin typeface="Helvetica" pitchFamily="34" charset="0"/>
              </a:rPr>
              <a:t>inner </a:t>
            </a:r>
            <a:r>
              <a:rPr kumimoji="0" lang="en-US" altLang="zh-CN" b="1" dirty="0">
                <a:latin typeface="Helvetica" pitchFamily="34" charset="0"/>
              </a:rPr>
              <a:t>join</a:t>
            </a:r>
          </a:p>
          <a:p>
            <a:pPr algn="l"/>
            <a:r>
              <a:rPr kumimoji="0" lang="en-US" altLang="zh-CN" b="1" dirty="0">
                <a:latin typeface="Helvetica" pitchFamily="34" charset="0"/>
              </a:rPr>
              <a:t>left </a:t>
            </a:r>
            <a:r>
              <a:rPr kumimoji="0" lang="en-US" altLang="zh-CN" b="1" dirty="0">
                <a:solidFill>
                  <a:srgbClr val="0000FF"/>
                </a:solidFill>
                <a:latin typeface="Helvetica" pitchFamily="34" charset="0"/>
              </a:rPr>
              <a:t>outer </a:t>
            </a:r>
            <a:r>
              <a:rPr kumimoji="0" lang="en-US" altLang="zh-CN" b="1" dirty="0">
                <a:latin typeface="Helvetica" pitchFamily="34" charset="0"/>
              </a:rPr>
              <a:t>join</a:t>
            </a:r>
          </a:p>
          <a:p>
            <a:pPr algn="l"/>
            <a:r>
              <a:rPr kumimoji="0" lang="en-US" altLang="zh-CN" b="1" dirty="0">
                <a:latin typeface="Helvetica" pitchFamily="34" charset="0"/>
              </a:rPr>
              <a:t>right </a:t>
            </a:r>
            <a:r>
              <a:rPr kumimoji="0" lang="en-US" altLang="zh-CN" b="1" dirty="0">
                <a:solidFill>
                  <a:srgbClr val="0000FF"/>
                </a:solidFill>
                <a:latin typeface="Helvetica" pitchFamily="34" charset="0"/>
              </a:rPr>
              <a:t>outer</a:t>
            </a:r>
            <a:r>
              <a:rPr kumimoji="0" lang="en-US" altLang="zh-CN" b="1" dirty="0">
                <a:latin typeface="Helvetica" pitchFamily="34" charset="0"/>
              </a:rPr>
              <a:t> join</a:t>
            </a:r>
          </a:p>
          <a:p>
            <a:pPr algn="l"/>
            <a:r>
              <a:rPr kumimoji="0" lang="en-US" altLang="zh-CN" b="1" dirty="0">
                <a:latin typeface="Helvetica" pitchFamily="34" charset="0"/>
              </a:rPr>
              <a:t>full </a:t>
            </a:r>
            <a:r>
              <a:rPr kumimoji="0" lang="en-US" altLang="zh-CN" b="1" dirty="0">
                <a:solidFill>
                  <a:srgbClr val="0000FF"/>
                </a:solidFill>
                <a:latin typeface="Helvetica" pitchFamily="34" charset="0"/>
              </a:rPr>
              <a:t>outer</a:t>
            </a:r>
            <a:r>
              <a:rPr kumimoji="0" lang="en-US" altLang="zh-CN" b="1" dirty="0">
                <a:latin typeface="Helvetica" pitchFamily="34" charset="0"/>
              </a:rPr>
              <a:t> join</a:t>
            </a:r>
          </a:p>
        </p:txBody>
      </p:sp>
      <p:sp>
        <p:nvSpPr>
          <p:cNvPr id="107529" name="Rectangle 7"/>
          <p:cNvSpPr>
            <a:spLocks noChangeArrowheads="1"/>
          </p:cNvSpPr>
          <p:nvPr/>
        </p:nvSpPr>
        <p:spPr bwMode="auto">
          <a:xfrm>
            <a:off x="4213225" y="3306763"/>
            <a:ext cx="4162425" cy="617537"/>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l"/>
            <a:r>
              <a:rPr kumimoji="0" lang="zh-CN" altLang="en-US" dirty="0">
                <a:latin typeface="Helvetica" pitchFamily="34" charset="0"/>
              </a:rPr>
              <a:t>连接条件：</a:t>
            </a:r>
            <a:endParaRPr kumimoji="0" lang="en-US" altLang="zh-CN" dirty="0">
              <a:latin typeface="Helvetica" pitchFamily="34" charset="0"/>
            </a:endParaRPr>
          </a:p>
        </p:txBody>
      </p:sp>
      <p:sp>
        <p:nvSpPr>
          <p:cNvPr id="107530" name="Rectangle 8"/>
          <p:cNvSpPr>
            <a:spLocks noChangeArrowheads="1"/>
          </p:cNvSpPr>
          <p:nvPr/>
        </p:nvSpPr>
        <p:spPr bwMode="auto">
          <a:xfrm>
            <a:off x="4213225" y="3918231"/>
            <a:ext cx="4162425" cy="1872969"/>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l"/>
            <a:r>
              <a:rPr kumimoji="0" lang="en-US" altLang="zh-CN" b="1" dirty="0">
                <a:solidFill>
                  <a:srgbClr val="C00000"/>
                </a:solidFill>
                <a:latin typeface="Helvetica" pitchFamily="34" charset="0"/>
              </a:rPr>
              <a:t>natural</a:t>
            </a:r>
          </a:p>
          <a:p>
            <a:pPr algn="l"/>
            <a:r>
              <a:rPr kumimoji="0" lang="en-US" altLang="zh-CN" b="1" dirty="0">
                <a:solidFill>
                  <a:srgbClr val="C00000"/>
                </a:solidFill>
                <a:latin typeface="Helvetica" pitchFamily="34" charset="0"/>
              </a:rPr>
              <a:t>on</a:t>
            </a:r>
            <a:r>
              <a:rPr kumimoji="0" lang="en-US" altLang="zh-CN" b="1" dirty="0">
                <a:latin typeface="Helvetica" pitchFamily="34" charset="0"/>
              </a:rPr>
              <a:t> </a:t>
            </a:r>
            <a:r>
              <a:rPr kumimoji="0" lang="en-US" altLang="zh-CN" dirty="0">
                <a:latin typeface="Helvetica" pitchFamily="34" charset="0"/>
              </a:rPr>
              <a:t>&lt;predicate&gt;</a:t>
            </a:r>
          </a:p>
          <a:p>
            <a:pPr algn="l"/>
            <a:r>
              <a:rPr kumimoji="0" lang="en-US" altLang="zh-CN" b="1" dirty="0">
                <a:solidFill>
                  <a:srgbClr val="0000FF"/>
                </a:solidFill>
                <a:latin typeface="Helvetica" pitchFamily="34" charset="0"/>
              </a:rPr>
              <a:t>using </a:t>
            </a:r>
            <a:r>
              <a:rPr kumimoji="0" lang="en-US" altLang="zh-CN" dirty="0">
                <a:latin typeface="Helvetica" pitchFamily="34" charset="0"/>
              </a:rPr>
              <a:t>(</a:t>
            </a:r>
            <a:r>
              <a:rPr kumimoji="0" lang="en-US" altLang="zh-CN" i="1" dirty="0">
                <a:latin typeface="Helvetica" pitchFamily="34" charset="0"/>
              </a:rPr>
              <a:t>A</a:t>
            </a:r>
            <a:r>
              <a:rPr kumimoji="0" lang="en-US" altLang="zh-CN" baseline="-25000" dirty="0">
                <a:latin typeface="Helvetica" pitchFamily="34" charset="0"/>
              </a:rPr>
              <a:t>1</a:t>
            </a:r>
            <a:r>
              <a:rPr kumimoji="0" lang="en-US" altLang="zh-CN" dirty="0">
                <a:latin typeface="Helvetica" pitchFamily="34" charset="0"/>
              </a:rPr>
              <a:t>, </a:t>
            </a:r>
            <a:r>
              <a:rPr kumimoji="0" lang="en-US" altLang="zh-CN" i="1" dirty="0">
                <a:latin typeface="Helvetica" pitchFamily="34" charset="0"/>
              </a:rPr>
              <a:t>A</a:t>
            </a:r>
            <a:r>
              <a:rPr kumimoji="0" lang="en-US" altLang="zh-CN" baseline="-25000" dirty="0">
                <a:latin typeface="Helvetica" pitchFamily="34" charset="0"/>
              </a:rPr>
              <a:t>2</a:t>
            </a:r>
            <a:r>
              <a:rPr kumimoji="0" lang="en-US" altLang="zh-CN" dirty="0">
                <a:latin typeface="Helvetica" pitchFamily="34" charset="0"/>
              </a:rPr>
              <a:t>, ..., </a:t>
            </a:r>
            <a:r>
              <a:rPr kumimoji="0" lang="en-US" altLang="zh-CN" i="1" dirty="0">
                <a:latin typeface="Helvetica" pitchFamily="34" charset="0"/>
              </a:rPr>
              <a:t>A</a:t>
            </a:r>
            <a:r>
              <a:rPr kumimoji="0" lang="en-US" altLang="zh-CN" baseline="-25000" dirty="0">
                <a:latin typeface="Helvetica" pitchFamily="34" charset="0"/>
              </a:rPr>
              <a:t>n</a:t>
            </a:r>
            <a:r>
              <a:rPr kumimoji="0" lang="en-US" altLang="zh-CN" dirty="0">
                <a:latin typeface="Helvetica" pitchFamily="34" charset="0"/>
              </a:rPr>
              <a:t>)</a:t>
            </a:r>
          </a:p>
          <a:p>
            <a:pPr algn="l"/>
            <a:endParaRPr kumimoji="0" lang="zh-CN" altLang="en-US" b="1" dirty="0">
              <a:latin typeface="Helvetica" pitchFamily="34" charset="0"/>
            </a:endParaRPr>
          </a:p>
        </p:txBody>
      </p:sp>
      <p:sp>
        <p:nvSpPr>
          <p:cNvPr id="107531" name="AutoShape 9"/>
          <p:cNvSpPr>
            <a:spLocks noChangeArrowheads="1"/>
          </p:cNvSpPr>
          <p:nvPr/>
        </p:nvSpPr>
        <p:spPr bwMode="auto">
          <a:xfrm>
            <a:off x="6172200" y="2420143"/>
            <a:ext cx="2895600" cy="868363"/>
          </a:xfrm>
          <a:prstGeom prst="wedgeRectCallout">
            <a:avLst>
              <a:gd name="adj1" fmla="val -79313"/>
              <a:gd name="adj2" fmla="val 159521"/>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spcBef>
                <a:spcPct val="35000"/>
              </a:spcBef>
              <a:buClr>
                <a:schemeClr val="bg1"/>
              </a:buClr>
            </a:pPr>
            <a:r>
              <a:rPr lang="zh-CN" altLang="en-US" dirty="0">
                <a:solidFill>
                  <a:srgbClr val="0000FF"/>
                </a:solidFill>
                <a:latin typeface="Helvetica" pitchFamily="34" charset="0"/>
              </a:rPr>
              <a:t>等值连接，且连接的属性列名相同</a:t>
            </a:r>
            <a:r>
              <a:rPr lang="zh-CN" altLang="en-US" sz="1600" dirty="0">
                <a:solidFill>
                  <a:srgbClr val="0000FF"/>
                </a:solidFill>
                <a:latin typeface="Helvetica" pitchFamily="34" charset="0"/>
              </a:rPr>
              <a:t> </a:t>
            </a:r>
          </a:p>
        </p:txBody>
      </p:sp>
      <p:sp>
        <p:nvSpPr>
          <p:cNvPr id="4" name="灯片编号占位符 3">
            <a:extLst>
              <a:ext uri="{FF2B5EF4-FFF2-40B4-BE49-F238E27FC236}">
                <a16:creationId xmlns:a16="http://schemas.microsoft.com/office/drawing/2014/main" id="{D216A3CA-4C17-ADB5-FE75-ABDBA92DF33D}"/>
              </a:ext>
            </a:extLst>
          </p:cNvPr>
          <p:cNvSpPr>
            <a:spLocks noGrp="1"/>
          </p:cNvSpPr>
          <p:nvPr>
            <p:ph type="sldNum" sz="quarter" idx="12"/>
          </p:nvPr>
        </p:nvSpPr>
        <p:spPr/>
        <p:txBody>
          <a:bodyPr/>
          <a:lstStyle/>
          <a:p>
            <a:pPr>
              <a:defRPr/>
            </a:pPr>
            <a:fld id="{E0CD82EA-F7BE-454B-A83E-18830F6C5424}" type="slidenum">
              <a:rPr lang="en-US" altLang="zh-CN" smtClean="0"/>
              <a:pPr>
                <a:defRPr/>
              </a:pPr>
              <a:t>29</a:t>
            </a:fld>
            <a:r>
              <a:rPr lang="en-US" altLang="zh-CN"/>
              <a:t>/138</a:t>
            </a:r>
            <a:endParaRPr lang="zh-CN" altLang="en-US" dirty="0"/>
          </a:p>
        </p:txBody>
      </p:sp>
    </p:spTree>
    <p:extLst>
      <p:ext uri="{BB962C8B-B14F-4D97-AF65-F5344CB8AC3E}">
        <p14:creationId xmlns:p14="http://schemas.microsoft.com/office/powerpoint/2010/main" val="204956427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1A63A1DA-F0AE-4570-BC4B-F911CBD9B5EC}" type="datetime1">
              <a:rPr kumimoji="0" lang="zh-CN" altLang="en-US" sz="1400" smtClean="0"/>
              <a:t>2025/10/15</a:t>
            </a:fld>
            <a:endParaRPr kumimoji="0" lang="en-US" altLang="zh-CN" sz="1400"/>
          </a:p>
        </p:txBody>
      </p:sp>
      <p:sp>
        <p:nvSpPr>
          <p:cNvPr id="108547"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8549"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108550" name="Rectangle 3"/>
          <p:cNvSpPr>
            <a:spLocks noGrp="1" noChangeArrowheads="1"/>
          </p:cNvSpPr>
          <p:nvPr>
            <p:ph type="body" idx="1"/>
          </p:nvPr>
        </p:nvSpPr>
        <p:spPr/>
        <p:txBody>
          <a:bodyPr/>
          <a:lstStyle/>
          <a:p>
            <a:pPr eaLnBrk="1" hangingPunct="1">
              <a:buFont typeface="Wingdings" pitchFamily="2" charset="2"/>
              <a:buNone/>
            </a:pPr>
            <a:r>
              <a:rPr lang="zh-CN" altLang="en-US" dirty="0"/>
              <a:t>四、复合条件连接</a:t>
            </a:r>
          </a:p>
          <a:p>
            <a:pPr eaLnBrk="1" hangingPunct="1"/>
            <a:r>
              <a:rPr lang="en-US" altLang="zh-CN" dirty="0"/>
              <a:t>WHERE</a:t>
            </a:r>
            <a:r>
              <a:rPr lang="zh-CN" altLang="en-US" dirty="0"/>
              <a:t>子句中有</a:t>
            </a:r>
            <a:r>
              <a:rPr lang="zh-CN" altLang="en-US" b="1" dirty="0">
                <a:solidFill>
                  <a:srgbClr val="0000FF"/>
                </a:solidFill>
              </a:rPr>
              <a:t>多个条件</a:t>
            </a:r>
            <a:r>
              <a:rPr lang="zh-CN" altLang="en-US" dirty="0"/>
              <a:t>的</a:t>
            </a:r>
            <a:r>
              <a:rPr lang="zh-CN" altLang="en-US" dirty="0">
                <a:solidFill>
                  <a:srgbClr val="0000FF"/>
                </a:solidFill>
              </a:rPr>
              <a:t>连接</a:t>
            </a:r>
            <a:r>
              <a:rPr lang="zh-CN" altLang="en-US" dirty="0"/>
              <a:t>操作，称为</a:t>
            </a:r>
            <a:r>
              <a:rPr lang="zh-CN" altLang="en-US" b="1" dirty="0">
                <a:solidFill>
                  <a:srgbClr val="0000FF"/>
                </a:solidFill>
              </a:rPr>
              <a:t>复合条件</a:t>
            </a:r>
            <a:r>
              <a:rPr lang="zh-CN" altLang="en-US" dirty="0">
                <a:solidFill>
                  <a:srgbClr val="0000FF"/>
                </a:solidFill>
              </a:rPr>
              <a:t>连接</a:t>
            </a:r>
            <a:r>
              <a:rPr lang="zh-CN" altLang="en-US" dirty="0"/>
              <a:t>。</a:t>
            </a:r>
          </a:p>
          <a:p>
            <a:pPr eaLnBrk="1" hangingPunct="1"/>
            <a:endParaRPr lang="zh-CN" altLang="en-US" dirty="0"/>
          </a:p>
        </p:txBody>
      </p:sp>
      <p:sp>
        <p:nvSpPr>
          <p:cNvPr id="4" name="灯片编号占位符 3">
            <a:extLst>
              <a:ext uri="{FF2B5EF4-FFF2-40B4-BE49-F238E27FC236}">
                <a16:creationId xmlns:a16="http://schemas.microsoft.com/office/drawing/2014/main" id="{FF24B41B-A7FD-D18A-C7BC-D494BA742F80}"/>
              </a:ext>
            </a:extLst>
          </p:cNvPr>
          <p:cNvSpPr>
            <a:spLocks noGrp="1"/>
          </p:cNvSpPr>
          <p:nvPr>
            <p:ph type="sldNum" sz="quarter" idx="12"/>
          </p:nvPr>
        </p:nvSpPr>
        <p:spPr/>
        <p:txBody>
          <a:bodyPr/>
          <a:lstStyle/>
          <a:p>
            <a:pPr>
              <a:defRPr/>
            </a:pPr>
            <a:fld id="{E0CD82EA-F7BE-454B-A83E-18830F6C5424}" type="slidenum">
              <a:rPr lang="en-US" altLang="zh-CN" smtClean="0"/>
              <a:pPr>
                <a:defRPr/>
              </a:pPr>
              <a:t>30</a:t>
            </a:fld>
            <a:r>
              <a:rPr lang="en-US" altLang="zh-CN"/>
              <a:t>/138</a:t>
            </a:r>
            <a:endParaRPr lang="zh-CN" altLang="en-US" dirty="0"/>
          </a:p>
        </p:txBody>
      </p:sp>
    </p:spTree>
    <p:extLst>
      <p:ext uri="{BB962C8B-B14F-4D97-AF65-F5344CB8AC3E}">
        <p14:creationId xmlns:p14="http://schemas.microsoft.com/office/powerpoint/2010/main" val="152060171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7443918D-BFAE-4D57-AA3B-41EB33CDB755}" type="datetime1">
              <a:rPr kumimoji="0" lang="zh-CN" altLang="en-US" sz="1400" smtClean="0"/>
              <a:t>2025/10/15</a:t>
            </a:fld>
            <a:endParaRPr kumimoji="0" lang="en-US" altLang="zh-CN" sz="1400"/>
          </a:p>
        </p:txBody>
      </p:sp>
      <p:sp>
        <p:nvSpPr>
          <p:cNvPr id="10957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9573"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109574" name="Rectangle 3"/>
          <p:cNvSpPr>
            <a:spLocks noGrp="1" noChangeArrowheads="1"/>
          </p:cNvSpPr>
          <p:nvPr>
            <p:ph type="body" idx="1"/>
          </p:nvPr>
        </p:nvSpPr>
        <p:spPr/>
        <p:txBody>
          <a:bodyPr/>
          <a:lstStyle/>
          <a:p>
            <a:pPr eaLnBrk="1" hangingPunct="1">
              <a:lnSpc>
                <a:spcPct val="90000"/>
              </a:lnSpc>
            </a:pPr>
            <a:r>
              <a:rPr lang="zh-CN" altLang="en-US" dirty="0"/>
              <a:t>例 查询</a:t>
            </a:r>
            <a:r>
              <a:rPr lang="zh-CN" altLang="en-US" u="sng" dirty="0"/>
              <a:t>选修</a:t>
            </a:r>
            <a:r>
              <a:rPr lang="en-US" altLang="zh-CN" u="sng" dirty="0"/>
              <a:t>2</a:t>
            </a:r>
            <a:r>
              <a:rPr lang="zh-CN" altLang="en-US" u="sng" dirty="0"/>
              <a:t>号课程</a:t>
            </a:r>
            <a:r>
              <a:rPr lang="zh-CN" altLang="en-US" dirty="0"/>
              <a:t>且</a:t>
            </a:r>
            <a:r>
              <a:rPr lang="zh-CN" altLang="en-US" u="sng" dirty="0"/>
              <a:t>成绩在</a:t>
            </a:r>
            <a:r>
              <a:rPr lang="en-US" altLang="zh-CN" u="sng" dirty="0"/>
              <a:t>90</a:t>
            </a:r>
            <a:r>
              <a:rPr lang="zh-CN" altLang="en-US" u="sng" dirty="0"/>
              <a:t>分以上</a:t>
            </a:r>
            <a:r>
              <a:rPr lang="zh-CN" altLang="en-US" dirty="0"/>
              <a:t>的</a:t>
            </a:r>
            <a:r>
              <a:rPr lang="zh-CN" altLang="en-US" u="sng" dirty="0"/>
              <a:t>信息系或计算机系</a:t>
            </a:r>
            <a:r>
              <a:rPr lang="zh-CN" altLang="en-US" dirty="0"/>
              <a:t>学生的</a:t>
            </a:r>
            <a:r>
              <a:rPr lang="zh-CN" altLang="en-US" b="1" dirty="0"/>
              <a:t>学号</a:t>
            </a:r>
            <a:r>
              <a:rPr lang="zh-CN" altLang="en-US" dirty="0"/>
              <a:t>和</a:t>
            </a:r>
            <a:r>
              <a:rPr lang="zh-CN" altLang="en-US" b="1" dirty="0"/>
              <a:t>姓名</a:t>
            </a:r>
            <a:r>
              <a:rPr lang="zh-CN" altLang="en-US" dirty="0"/>
              <a:t>。</a:t>
            </a:r>
          </a:p>
          <a:p>
            <a:pPr eaLnBrk="1" hangingPunct="1">
              <a:lnSpc>
                <a:spcPct val="90000"/>
              </a:lnSpc>
              <a:buFont typeface="Wingdings" pitchFamily="2" charset="2"/>
              <a:buNone/>
            </a:pPr>
            <a:r>
              <a:rPr lang="en-US" altLang="zh-CN" dirty="0"/>
              <a:t>	SELECT </a:t>
            </a:r>
            <a:r>
              <a:rPr lang="en-US" altLang="zh-CN" dirty="0" err="1">
                <a:solidFill>
                  <a:srgbClr val="0000FF"/>
                </a:solidFill>
              </a:rPr>
              <a:t>Student.Sno</a:t>
            </a:r>
            <a:r>
              <a:rPr lang="en-US" altLang="zh-CN" dirty="0"/>
              <a:t>, </a:t>
            </a:r>
            <a:r>
              <a:rPr lang="en-US" altLang="zh-CN" dirty="0" err="1">
                <a:solidFill>
                  <a:srgbClr val="006600"/>
                </a:solidFill>
              </a:rPr>
              <a:t>Sname</a:t>
            </a:r>
            <a:r>
              <a:rPr lang="en-US" altLang="zh-CN" dirty="0"/>
              <a:t> </a:t>
            </a:r>
            <a:br>
              <a:rPr lang="en-US" altLang="zh-CN" dirty="0"/>
            </a:br>
            <a:r>
              <a:rPr lang="en-US" altLang="zh-CN" dirty="0"/>
              <a:t>FROM Student </a:t>
            </a:r>
            <a:r>
              <a:rPr lang="en-US" altLang="zh-CN" dirty="0">
                <a:solidFill>
                  <a:srgbClr val="0000FF"/>
                </a:solidFill>
              </a:rPr>
              <a:t>natural join </a:t>
            </a:r>
            <a:r>
              <a:rPr lang="en-US" altLang="zh-CN" dirty="0"/>
              <a:t>SC </a:t>
            </a:r>
            <a:br>
              <a:rPr lang="en-US" altLang="zh-CN" dirty="0"/>
            </a:br>
            <a:r>
              <a:rPr lang="en-US" altLang="zh-CN" dirty="0"/>
              <a:t>WHERE (</a:t>
            </a:r>
            <a:r>
              <a:rPr lang="en-US" altLang="zh-CN" dirty="0" err="1"/>
              <a:t>Student.Sdept</a:t>
            </a:r>
            <a:r>
              <a:rPr lang="en-US" altLang="zh-CN" dirty="0"/>
              <a:t>=</a:t>
            </a:r>
            <a:r>
              <a:rPr lang="en-US" altLang="zh-CN" dirty="0">
                <a:latin typeface="Arial" charset="0"/>
              </a:rPr>
              <a:t>‘</a:t>
            </a:r>
            <a:r>
              <a:rPr lang="en-US" altLang="zh-CN" dirty="0"/>
              <a:t>IS</a:t>
            </a:r>
            <a:r>
              <a:rPr lang="en-US" altLang="zh-CN" dirty="0">
                <a:latin typeface="Arial" charset="0"/>
              </a:rPr>
              <a:t>’</a:t>
            </a:r>
            <a:r>
              <a:rPr lang="en-US" altLang="zh-CN" dirty="0"/>
              <a:t> </a:t>
            </a:r>
          </a:p>
          <a:p>
            <a:pPr eaLnBrk="1" hangingPunct="1">
              <a:lnSpc>
                <a:spcPct val="90000"/>
              </a:lnSpc>
              <a:buFont typeface="Wingdings" pitchFamily="2" charset="2"/>
              <a:buNone/>
            </a:pPr>
            <a:r>
              <a:rPr lang="en-US" altLang="zh-CN" dirty="0"/>
              <a:t>				</a:t>
            </a:r>
            <a:r>
              <a:rPr lang="en-US" altLang="zh-CN" dirty="0">
                <a:solidFill>
                  <a:srgbClr val="0000FF"/>
                </a:solidFill>
              </a:rPr>
              <a:t>OR</a:t>
            </a:r>
            <a:r>
              <a:rPr lang="en-US" altLang="zh-CN" dirty="0"/>
              <a:t> </a:t>
            </a:r>
            <a:r>
              <a:rPr lang="en-US" altLang="zh-CN" dirty="0" err="1"/>
              <a:t>Student.Sdept</a:t>
            </a:r>
            <a:r>
              <a:rPr lang="en-US" altLang="zh-CN" dirty="0"/>
              <a:t>=</a:t>
            </a:r>
            <a:r>
              <a:rPr lang="en-US" altLang="zh-CN" dirty="0">
                <a:latin typeface="Arial" charset="0"/>
              </a:rPr>
              <a:t>‘</a:t>
            </a:r>
            <a:r>
              <a:rPr lang="en-US" altLang="zh-CN" dirty="0"/>
              <a:t>CS</a:t>
            </a:r>
            <a:r>
              <a:rPr lang="en-US" altLang="zh-CN" dirty="0">
                <a:latin typeface="Arial" charset="0"/>
              </a:rPr>
              <a:t>’</a:t>
            </a:r>
            <a:r>
              <a:rPr lang="en-US" altLang="zh-CN" dirty="0"/>
              <a:t>)</a:t>
            </a:r>
          </a:p>
          <a:p>
            <a:pPr eaLnBrk="1" hangingPunct="1">
              <a:lnSpc>
                <a:spcPct val="90000"/>
              </a:lnSpc>
              <a:buFont typeface="Wingdings" pitchFamily="2" charset="2"/>
              <a:buNone/>
            </a:pPr>
            <a:r>
              <a:rPr lang="en-US" altLang="zh-CN" dirty="0"/>
              <a:t>			</a:t>
            </a:r>
            <a:r>
              <a:rPr lang="en-US" altLang="zh-CN" dirty="0">
                <a:solidFill>
                  <a:srgbClr val="0000FF"/>
                </a:solidFill>
              </a:rPr>
              <a:t>AND</a:t>
            </a:r>
            <a:r>
              <a:rPr lang="en-US" altLang="zh-CN" dirty="0"/>
              <a:t> </a:t>
            </a:r>
            <a:r>
              <a:rPr lang="en-US" altLang="zh-CN" dirty="0" err="1"/>
              <a:t>SC.Cno</a:t>
            </a:r>
            <a:r>
              <a:rPr lang="en-US" altLang="zh-CN" dirty="0"/>
              <a:t>='2' </a:t>
            </a:r>
          </a:p>
          <a:p>
            <a:pPr eaLnBrk="1" hangingPunct="1">
              <a:lnSpc>
                <a:spcPct val="90000"/>
              </a:lnSpc>
              <a:buFont typeface="Wingdings" pitchFamily="2" charset="2"/>
              <a:buNone/>
            </a:pPr>
            <a:r>
              <a:rPr lang="en-US" altLang="zh-CN" dirty="0"/>
              <a:t>              </a:t>
            </a:r>
            <a:r>
              <a:rPr lang="en-US" altLang="zh-CN" dirty="0">
                <a:solidFill>
                  <a:srgbClr val="0000FF"/>
                </a:solidFill>
              </a:rPr>
              <a:t>AND</a:t>
            </a:r>
            <a:r>
              <a:rPr lang="en-US" altLang="zh-CN" dirty="0"/>
              <a:t> </a:t>
            </a:r>
            <a:r>
              <a:rPr lang="en-US" altLang="zh-CN" dirty="0" err="1"/>
              <a:t>SC.Grade</a:t>
            </a:r>
            <a:r>
              <a:rPr lang="en-US" altLang="zh-CN" dirty="0"/>
              <a:t>&gt;90; </a:t>
            </a:r>
            <a:endParaRPr lang="zh-CN" altLang="en-US" dirty="0"/>
          </a:p>
        </p:txBody>
      </p:sp>
      <p:sp>
        <p:nvSpPr>
          <p:cNvPr id="4" name="灯片编号占位符 3">
            <a:extLst>
              <a:ext uri="{FF2B5EF4-FFF2-40B4-BE49-F238E27FC236}">
                <a16:creationId xmlns:a16="http://schemas.microsoft.com/office/drawing/2014/main" id="{BF5069DB-8635-2D3F-7ED9-8E9EE913C0CE}"/>
              </a:ext>
            </a:extLst>
          </p:cNvPr>
          <p:cNvSpPr>
            <a:spLocks noGrp="1"/>
          </p:cNvSpPr>
          <p:nvPr>
            <p:ph type="sldNum" sz="quarter" idx="12"/>
          </p:nvPr>
        </p:nvSpPr>
        <p:spPr/>
        <p:txBody>
          <a:bodyPr/>
          <a:lstStyle/>
          <a:p>
            <a:pPr>
              <a:defRPr/>
            </a:pPr>
            <a:fld id="{E0CD82EA-F7BE-454B-A83E-18830F6C5424}" type="slidenum">
              <a:rPr lang="en-US" altLang="zh-CN" smtClean="0"/>
              <a:pPr>
                <a:defRPr/>
              </a:pPr>
              <a:t>31</a:t>
            </a:fld>
            <a:r>
              <a:rPr lang="en-US" altLang="zh-CN"/>
              <a:t>/138</a:t>
            </a:r>
            <a:endParaRPr lang="zh-CN" altLang="en-US" dirty="0"/>
          </a:p>
        </p:txBody>
      </p:sp>
    </p:spTree>
    <p:extLst>
      <p:ext uri="{BB962C8B-B14F-4D97-AF65-F5344CB8AC3E}">
        <p14:creationId xmlns:p14="http://schemas.microsoft.com/office/powerpoint/2010/main" val="32279975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574">
                                            <p:txEl>
                                              <p:pRg st="1" end="1"/>
                                            </p:txEl>
                                          </p:spTgt>
                                        </p:tgtEl>
                                        <p:attrNameLst>
                                          <p:attrName>style.visibility</p:attrName>
                                        </p:attrNameLst>
                                      </p:cBhvr>
                                      <p:to>
                                        <p:strVal val="visible"/>
                                      </p:to>
                                    </p:set>
                                    <p:anim calcmode="lin" valueType="num">
                                      <p:cBhvr additive="base">
                                        <p:cTn id="7" dur="500" fill="hold"/>
                                        <p:tgtEl>
                                          <p:spTgt spid="10957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574">
                                            <p:txEl>
                                              <p:pRg st="1" end="1"/>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09574">
                                            <p:txEl>
                                              <p:pRg st="2" end="2"/>
                                            </p:txEl>
                                          </p:spTgt>
                                        </p:tgtEl>
                                        <p:attrNameLst>
                                          <p:attrName>style.visibility</p:attrName>
                                        </p:attrNameLst>
                                      </p:cBhvr>
                                      <p:to>
                                        <p:strVal val="visible"/>
                                      </p:to>
                                    </p:set>
                                    <p:anim calcmode="lin" valueType="num">
                                      <p:cBhvr additive="base">
                                        <p:cTn id="12" dur="500" fill="hold"/>
                                        <p:tgtEl>
                                          <p:spTgt spid="109574">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09574">
                                            <p:txEl>
                                              <p:pRg st="2" end="2"/>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09574">
                                            <p:txEl>
                                              <p:pRg st="3" end="3"/>
                                            </p:txEl>
                                          </p:spTgt>
                                        </p:tgtEl>
                                        <p:attrNameLst>
                                          <p:attrName>style.visibility</p:attrName>
                                        </p:attrNameLst>
                                      </p:cBhvr>
                                      <p:to>
                                        <p:strVal val="visible"/>
                                      </p:to>
                                    </p:set>
                                    <p:anim calcmode="lin" valueType="num">
                                      <p:cBhvr additive="base">
                                        <p:cTn id="17" dur="500" fill="hold"/>
                                        <p:tgtEl>
                                          <p:spTgt spid="109574">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9574">
                                            <p:txEl>
                                              <p:pRg st="3" end="3"/>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109574">
                                            <p:txEl>
                                              <p:pRg st="4" end="4"/>
                                            </p:txEl>
                                          </p:spTgt>
                                        </p:tgtEl>
                                        <p:attrNameLst>
                                          <p:attrName>style.visibility</p:attrName>
                                        </p:attrNameLst>
                                      </p:cBhvr>
                                      <p:to>
                                        <p:strVal val="visible"/>
                                      </p:to>
                                    </p:set>
                                    <p:anim calcmode="lin" valueType="num">
                                      <p:cBhvr additive="base">
                                        <p:cTn id="22" dur="500" fill="hold"/>
                                        <p:tgtEl>
                                          <p:spTgt spid="109574">
                                            <p:txEl>
                                              <p:pRg st="4" end="4"/>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0957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7443918D-BFAE-4D57-AA3B-41EB33CDB755}" type="datetime1">
              <a:rPr kumimoji="0" lang="zh-CN" altLang="en-US" sz="1400" smtClean="0"/>
              <a:t>2025/10/15</a:t>
            </a:fld>
            <a:endParaRPr kumimoji="0" lang="en-US" altLang="zh-CN" sz="1400"/>
          </a:p>
        </p:txBody>
      </p:sp>
      <p:sp>
        <p:nvSpPr>
          <p:cNvPr id="10957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09573" name="Rectangle 2"/>
          <p:cNvSpPr>
            <a:spLocks noGrp="1" noChangeArrowheads="1"/>
          </p:cNvSpPr>
          <p:nvPr>
            <p:ph type="title"/>
          </p:nvPr>
        </p:nvSpPr>
        <p:spPr/>
        <p:txBody>
          <a:bodyPr/>
          <a:lstStyle/>
          <a:p>
            <a:pPr eaLnBrk="1" hangingPunct="1"/>
            <a:r>
              <a:rPr lang="en-US" altLang="zh-CN" dirty="0"/>
              <a:t>4.1 </a:t>
            </a:r>
            <a:r>
              <a:rPr lang="zh-CN" altLang="en-US" dirty="0"/>
              <a:t>连接查询</a:t>
            </a:r>
          </a:p>
        </p:txBody>
      </p:sp>
      <p:sp>
        <p:nvSpPr>
          <p:cNvPr id="109574" name="Rectangle 3"/>
          <p:cNvSpPr>
            <a:spLocks noGrp="1" noChangeArrowheads="1"/>
          </p:cNvSpPr>
          <p:nvPr>
            <p:ph type="body" idx="1"/>
          </p:nvPr>
        </p:nvSpPr>
        <p:spPr/>
        <p:txBody>
          <a:bodyPr/>
          <a:lstStyle/>
          <a:p>
            <a:pPr eaLnBrk="1" hangingPunct="1">
              <a:lnSpc>
                <a:spcPct val="90000"/>
              </a:lnSpc>
            </a:pPr>
            <a:r>
              <a:rPr lang="zh-CN" altLang="en-US" dirty="0"/>
              <a:t>例 查询</a:t>
            </a:r>
            <a:r>
              <a:rPr lang="zh-CN" altLang="en-US" u="sng" dirty="0"/>
              <a:t>选修</a:t>
            </a:r>
            <a:r>
              <a:rPr lang="en-US" altLang="zh-CN" u="sng" dirty="0"/>
              <a:t>2</a:t>
            </a:r>
            <a:r>
              <a:rPr lang="zh-CN" altLang="en-US" u="sng" dirty="0"/>
              <a:t>号课程</a:t>
            </a:r>
            <a:r>
              <a:rPr lang="zh-CN" altLang="en-US" dirty="0"/>
              <a:t>且</a:t>
            </a:r>
            <a:r>
              <a:rPr lang="zh-CN" altLang="en-US" u="sng" dirty="0"/>
              <a:t>成绩在</a:t>
            </a:r>
            <a:r>
              <a:rPr lang="en-US" altLang="zh-CN" u="sng" dirty="0"/>
              <a:t>90</a:t>
            </a:r>
            <a:r>
              <a:rPr lang="zh-CN" altLang="en-US" u="sng" dirty="0"/>
              <a:t>分以上</a:t>
            </a:r>
            <a:r>
              <a:rPr lang="zh-CN" altLang="en-US" dirty="0"/>
              <a:t>的</a:t>
            </a:r>
            <a:r>
              <a:rPr lang="zh-CN" altLang="en-US" u="sng" dirty="0"/>
              <a:t>信息系或计算机系</a:t>
            </a:r>
            <a:r>
              <a:rPr lang="zh-CN" altLang="en-US" dirty="0"/>
              <a:t>学生的</a:t>
            </a:r>
            <a:r>
              <a:rPr lang="zh-CN" altLang="en-US" b="1" dirty="0"/>
              <a:t>学号和姓名</a:t>
            </a:r>
            <a:r>
              <a:rPr lang="zh-CN" altLang="en-US" dirty="0"/>
              <a:t>。</a:t>
            </a:r>
          </a:p>
          <a:p>
            <a:pPr eaLnBrk="1" hangingPunct="1">
              <a:lnSpc>
                <a:spcPct val="90000"/>
              </a:lnSpc>
              <a:buFont typeface="Wingdings" pitchFamily="2" charset="2"/>
              <a:buNone/>
            </a:pPr>
            <a:r>
              <a:rPr lang="en-US" altLang="zh-CN" dirty="0"/>
              <a:t>	SELECT </a:t>
            </a:r>
            <a:r>
              <a:rPr lang="en-US" altLang="zh-CN" dirty="0" err="1">
                <a:solidFill>
                  <a:srgbClr val="0000FF"/>
                </a:solidFill>
              </a:rPr>
              <a:t>Student.Sno</a:t>
            </a:r>
            <a:r>
              <a:rPr lang="en-US" altLang="zh-CN" dirty="0"/>
              <a:t>, </a:t>
            </a:r>
            <a:r>
              <a:rPr lang="en-US" altLang="zh-CN" dirty="0" err="1">
                <a:solidFill>
                  <a:srgbClr val="006600"/>
                </a:solidFill>
              </a:rPr>
              <a:t>Sname</a:t>
            </a:r>
            <a:r>
              <a:rPr lang="en-US" altLang="zh-CN" dirty="0"/>
              <a:t> </a:t>
            </a:r>
            <a:br>
              <a:rPr lang="en-US" altLang="zh-CN" dirty="0"/>
            </a:br>
            <a:r>
              <a:rPr lang="en-US" altLang="zh-CN" dirty="0"/>
              <a:t>FROM Student, SC </a:t>
            </a:r>
            <a:br>
              <a:rPr lang="en-US" altLang="zh-CN" dirty="0"/>
            </a:br>
            <a:r>
              <a:rPr lang="en-US" altLang="zh-CN" dirty="0"/>
              <a:t>WHERE (</a:t>
            </a:r>
            <a:r>
              <a:rPr lang="en-US" altLang="zh-CN" dirty="0" err="1"/>
              <a:t>Student.Sdept</a:t>
            </a:r>
            <a:r>
              <a:rPr lang="en-US" altLang="zh-CN" dirty="0"/>
              <a:t>=</a:t>
            </a:r>
            <a:r>
              <a:rPr lang="en-US" altLang="zh-CN" dirty="0">
                <a:latin typeface="Arial" charset="0"/>
              </a:rPr>
              <a:t>‘</a:t>
            </a:r>
            <a:r>
              <a:rPr lang="en-US" altLang="zh-CN" dirty="0"/>
              <a:t>IS</a:t>
            </a:r>
            <a:r>
              <a:rPr lang="en-US" altLang="zh-CN" dirty="0">
                <a:latin typeface="Arial" charset="0"/>
              </a:rPr>
              <a:t>’</a:t>
            </a:r>
            <a:r>
              <a:rPr lang="en-US" altLang="zh-CN" dirty="0"/>
              <a:t> </a:t>
            </a:r>
          </a:p>
          <a:p>
            <a:pPr eaLnBrk="1" hangingPunct="1">
              <a:lnSpc>
                <a:spcPct val="90000"/>
              </a:lnSpc>
              <a:buFont typeface="Wingdings" pitchFamily="2" charset="2"/>
              <a:buNone/>
            </a:pPr>
            <a:r>
              <a:rPr lang="en-US" altLang="zh-CN" dirty="0"/>
              <a:t>				</a:t>
            </a:r>
            <a:r>
              <a:rPr lang="en-US" altLang="zh-CN" dirty="0">
                <a:solidFill>
                  <a:srgbClr val="0000FF"/>
                </a:solidFill>
              </a:rPr>
              <a:t>OR</a:t>
            </a:r>
            <a:r>
              <a:rPr lang="en-US" altLang="zh-CN" dirty="0"/>
              <a:t> </a:t>
            </a:r>
            <a:r>
              <a:rPr lang="en-US" altLang="zh-CN" dirty="0" err="1"/>
              <a:t>Student.Sdept</a:t>
            </a:r>
            <a:r>
              <a:rPr lang="en-US" altLang="zh-CN" dirty="0"/>
              <a:t>=</a:t>
            </a:r>
            <a:r>
              <a:rPr lang="en-US" altLang="zh-CN" dirty="0">
                <a:latin typeface="Arial" charset="0"/>
              </a:rPr>
              <a:t>‘</a:t>
            </a:r>
            <a:r>
              <a:rPr lang="en-US" altLang="zh-CN" dirty="0"/>
              <a:t>CS</a:t>
            </a:r>
            <a:r>
              <a:rPr lang="en-US" altLang="zh-CN" dirty="0">
                <a:latin typeface="Arial" charset="0"/>
              </a:rPr>
              <a:t>’</a:t>
            </a:r>
            <a:r>
              <a:rPr lang="en-US" altLang="zh-CN" dirty="0"/>
              <a:t>)</a:t>
            </a:r>
          </a:p>
          <a:p>
            <a:pPr eaLnBrk="1" hangingPunct="1">
              <a:lnSpc>
                <a:spcPct val="90000"/>
              </a:lnSpc>
              <a:buFont typeface="Wingdings" pitchFamily="2" charset="2"/>
              <a:buNone/>
            </a:pPr>
            <a:r>
              <a:rPr lang="en-US" altLang="zh-CN" dirty="0"/>
              <a:t>			</a:t>
            </a:r>
            <a:r>
              <a:rPr lang="en-US" altLang="zh-CN" dirty="0">
                <a:solidFill>
                  <a:srgbClr val="0000FF"/>
                </a:solidFill>
              </a:rPr>
              <a:t>AND</a:t>
            </a:r>
            <a:r>
              <a:rPr lang="en-US" altLang="zh-CN" dirty="0"/>
              <a:t> </a:t>
            </a:r>
            <a:r>
              <a:rPr lang="en-US" altLang="zh-CN" dirty="0" err="1"/>
              <a:t>SC.Cno</a:t>
            </a:r>
            <a:r>
              <a:rPr lang="en-US" altLang="zh-CN" dirty="0"/>
              <a:t>='2' </a:t>
            </a:r>
          </a:p>
          <a:p>
            <a:pPr eaLnBrk="1" hangingPunct="1">
              <a:lnSpc>
                <a:spcPct val="90000"/>
              </a:lnSpc>
              <a:buFont typeface="Wingdings" pitchFamily="2" charset="2"/>
              <a:buNone/>
            </a:pPr>
            <a:r>
              <a:rPr lang="en-US" altLang="zh-CN" dirty="0"/>
              <a:t>              </a:t>
            </a:r>
            <a:r>
              <a:rPr lang="en-US" altLang="zh-CN" dirty="0">
                <a:solidFill>
                  <a:srgbClr val="0000FF"/>
                </a:solidFill>
              </a:rPr>
              <a:t>AND</a:t>
            </a:r>
            <a:r>
              <a:rPr lang="en-US" altLang="zh-CN" dirty="0"/>
              <a:t> </a:t>
            </a:r>
            <a:r>
              <a:rPr lang="en-US" altLang="zh-CN" dirty="0" err="1"/>
              <a:t>SC.Grade</a:t>
            </a:r>
            <a:r>
              <a:rPr lang="en-US" altLang="zh-CN" dirty="0"/>
              <a:t>&gt;90</a:t>
            </a:r>
          </a:p>
          <a:p>
            <a:pPr eaLnBrk="1" hangingPunct="1">
              <a:lnSpc>
                <a:spcPct val="90000"/>
              </a:lnSpc>
              <a:buFont typeface="Wingdings" pitchFamily="2" charset="2"/>
              <a:buNone/>
            </a:pPr>
            <a:r>
              <a:rPr lang="en-US" altLang="zh-CN" dirty="0"/>
              <a:t>              </a:t>
            </a:r>
            <a:r>
              <a:rPr lang="en-US" altLang="zh-CN" dirty="0">
                <a:solidFill>
                  <a:srgbClr val="0000FF"/>
                </a:solidFill>
              </a:rPr>
              <a:t>AND</a:t>
            </a:r>
            <a:r>
              <a:rPr lang="en-US" altLang="zh-CN" dirty="0"/>
              <a:t> </a:t>
            </a:r>
            <a:r>
              <a:rPr lang="en-US" altLang="zh-CN" dirty="0" err="1">
                <a:solidFill>
                  <a:srgbClr val="0000FF"/>
                </a:solidFill>
              </a:rPr>
              <a:t>Student.Sno</a:t>
            </a:r>
            <a:r>
              <a:rPr lang="en-US" altLang="zh-CN" dirty="0">
                <a:solidFill>
                  <a:srgbClr val="0000FF"/>
                </a:solidFill>
              </a:rPr>
              <a:t>=</a:t>
            </a:r>
            <a:r>
              <a:rPr lang="en-US" altLang="zh-CN" dirty="0" err="1">
                <a:solidFill>
                  <a:srgbClr val="0000FF"/>
                </a:solidFill>
              </a:rPr>
              <a:t>SC.Sno</a:t>
            </a:r>
            <a:r>
              <a:rPr lang="en-US" altLang="zh-CN" dirty="0"/>
              <a:t>; </a:t>
            </a:r>
            <a:endParaRPr lang="zh-CN" altLang="en-US" dirty="0"/>
          </a:p>
        </p:txBody>
      </p:sp>
      <p:sp>
        <p:nvSpPr>
          <p:cNvPr id="4" name="灯片编号占位符 3">
            <a:extLst>
              <a:ext uri="{FF2B5EF4-FFF2-40B4-BE49-F238E27FC236}">
                <a16:creationId xmlns:a16="http://schemas.microsoft.com/office/drawing/2014/main" id="{BF5069DB-8635-2D3F-7ED9-8E9EE913C0CE}"/>
              </a:ext>
            </a:extLst>
          </p:cNvPr>
          <p:cNvSpPr>
            <a:spLocks noGrp="1"/>
          </p:cNvSpPr>
          <p:nvPr>
            <p:ph type="sldNum" sz="quarter" idx="12"/>
          </p:nvPr>
        </p:nvSpPr>
        <p:spPr/>
        <p:txBody>
          <a:bodyPr/>
          <a:lstStyle/>
          <a:p>
            <a:pPr>
              <a:defRPr/>
            </a:pPr>
            <a:fld id="{E0CD82EA-F7BE-454B-A83E-18830F6C5424}" type="slidenum">
              <a:rPr lang="en-US" altLang="zh-CN" smtClean="0"/>
              <a:pPr>
                <a:defRPr/>
              </a:pPr>
              <a:t>32</a:t>
            </a:fld>
            <a:r>
              <a:rPr lang="en-US" altLang="zh-CN"/>
              <a:t>/138</a:t>
            </a:r>
            <a:endParaRPr lang="zh-CN" altLang="en-US" dirty="0"/>
          </a:p>
        </p:txBody>
      </p:sp>
      <p:sp>
        <p:nvSpPr>
          <p:cNvPr id="2" name="文本框 1">
            <a:extLst>
              <a:ext uri="{FF2B5EF4-FFF2-40B4-BE49-F238E27FC236}">
                <a16:creationId xmlns:a16="http://schemas.microsoft.com/office/drawing/2014/main" id="{92394788-1ED0-6B00-B264-BF9C5FCC2E8F}"/>
              </a:ext>
            </a:extLst>
          </p:cNvPr>
          <p:cNvSpPr txBox="1"/>
          <p:nvPr/>
        </p:nvSpPr>
        <p:spPr>
          <a:xfrm>
            <a:off x="-3892" y="4114800"/>
            <a:ext cx="1420582" cy="584775"/>
          </a:xfrm>
          <a:prstGeom prst="rect">
            <a:avLst/>
          </a:prstGeom>
          <a:noFill/>
        </p:spPr>
        <p:txBody>
          <a:bodyPr wrap="none" rtlCol="0">
            <a:spAutoFit/>
          </a:bodyPr>
          <a:lstStyle/>
          <a:p>
            <a:r>
              <a:rPr lang="zh-CN" altLang="en-US" sz="3200" b="1" dirty="0">
                <a:solidFill>
                  <a:srgbClr val="660066"/>
                </a:solidFill>
              </a:rPr>
              <a:t>也可：</a:t>
            </a:r>
          </a:p>
        </p:txBody>
      </p:sp>
    </p:spTree>
    <p:extLst>
      <p:ext uri="{BB962C8B-B14F-4D97-AF65-F5344CB8AC3E}">
        <p14:creationId xmlns:p14="http://schemas.microsoft.com/office/powerpoint/2010/main" val="19966365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574">
                                            <p:txEl>
                                              <p:pRg st="1" end="1"/>
                                            </p:txEl>
                                          </p:spTgt>
                                        </p:tgtEl>
                                        <p:attrNameLst>
                                          <p:attrName>style.visibility</p:attrName>
                                        </p:attrNameLst>
                                      </p:cBhvr>
                                      <p:to>
                                        <p:strVal val="visible"/>
                                      </p:to>
                                    </p:set>
                                    <p:anim calcmode="lin" valueType="num">
                                      <p:cBhvr additive="base">
                                        <p:cTn id="7" dur="500" fill="hold"/>
                                        <p:tgtEl>
                                          <p:spTgt spid="10957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574">
                                            <p:txEl>
                                              <p:pRg st="1" end="1"/>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09574">
                                            <p:txEl>
                                              <p:pRg st="2" end="2"/>
                                            </p:txEl>
                                          </p:spTgt>
                                        </p:tgtEl>
                                        <p:attrNameLst>
                                          <p:attrName>style.visibility</p:attrName>
                                        </p:attrNameLst>
                                      </p:cBhvr>
                                      <p:to>
                                        <p:strVal val="visible"/>
                                      </p:to>
                                    </p:set>
                                    <p:anim calcmode="lin" valueType="num">
                                      <p:cBhvr additive="base">
                                        <p:cTn id="12" dur="500" fill="hold"/>
                                        <p:tgtEl>
                                          <p:spTgt spid="109574">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09574">
                                            <p:txEl>
                                              <p:pRg st="2" end="2"/>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09574">
                                            <p:txEl>
                                              <p:pRg st="3" end="3"/>
                                            </p:txEl>
                                          </p:spTgt>
                                        </p:tgtEl>
                                        <p:attrNameLst>
                                          <p:attrName>style.visibility</p:attrName>
                                        </p:attrNameLst>
                                      </p:cBhvr>
                                      <p:to>
                                        <p:strVal val="visible"/>
                                      </p:to>
                                    </p:set>
                                    <p:anim calcmode="lin" valueType="num">
                                      <p:cBhvr additive="base">
                                        <p:cTn id="17" dur="500" fill="hold"/>
                                        <p:tgtEl>
                                          <p:spTgt spid="109574">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9574">
                                            <p:txEl>
                                              <p:pRg st="3" end="3"/>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109574">
                                            <p:txEl>
                                              <p:pRg st="4" end="4"/>
                                            </p:txEl>
                                          </p:spTgt>
                                        </p:tgtEl>
                                        <p:attrNameLst>
                                          <p:attrName>style.visibility</p:attrName>
                                        </p:attrNameLst>
                                      </p:cBhvr>
                                      <p:to>
                                        <p:strVal val="visible"/>
                                      </p:to>
                                    </p:set>
                                    <p:anim calcmode="lin" valueType="num">
                                      <p:cBhvr additive="base">
                                        <p:cTn id="22" dur="500" fill="hold"/>
                                        <p:tgtEl>
                                          <p:spTgt spid="109574">
                                            <p:txEl>
                                              <p:pRg st="4" end="4"/>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09574">
                                            <p:txEl>
                                              <p:pRg st="4" end="4"/>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109574">
                                            <p:txEl>
                                              <p:pRg st="5" end="5"/>
                                            </p:txEl>
                                          </p:spTgt>
                                        </p:tgtEl>
                                        <p:attrNameLst>
                                          <p:attrName>style.visibility</p:attrName>
                                        </p:attrNameLst>
                                      </p:cBhvr>
                                      <p:to>
                                        <p:strVal val="visible"/>
                                      </p:to>
                                    </p:set>
                                    <p:anim calcmode="lin" valueType="num">
                                      <p:cBhvr additive="base">
                                        <p:cTn id="27" dur="500" fill="hold"/>
                                        <p:tgtEl>
                                          <p:spTgt spid="109574">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957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C95F9B86-7F1E-483E-912F-A234F549E754}" type="datetime1">
              <a:rPr kumimoji="0" lang="zh-CN" altLang="en-US" sz="1400" smtClean="0"/>
              <a:t>2025/10/15</a:t>
            </a:fld>
            <a:endParaRPr kumimoji="0" lang="en-US" altLang="zh-CN" sz="1400"/>
          </a:p>
        </p:txBody>
      </p:sp>
      <p:sp>
        <p:nvSpPr>
          <p:cNvPr id="512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5125" name="Rectangle 2"/>
          <p:cNvSpPr>
            <a:spLocks noGrp="1" noChangeArrowheads="1"/>
          </p:cNvSpPr>
          <p:nvPr>
            <p:ph type="title"/>
          </p:nvPr>
        </p:nvSpPr>
        <p:spPr/>
        <p:txBody>
          <a:bodyPr/>
          <a:lstStyle/>
          <a:p>
            <a:pPr eaLnBrk="1" hangingPunct="1"/>
            <a:r>
              <a:rPr lang="zh-CN" altLang="en-US"/>
              <a:t>本章目录</a:t>
            </a:r>
          </a:p>
        </p:txBody>
      </p:sp>
      <p:sp>
        <p:nvSpPr>
          <p:cNvPr id="5126" name="Rectangle 3"/>
          <p:cNvSpPr>
            <a:spLocks noGrp="1" noChangeArrowheads="1"/>
          </p:cNvSpPr>
          <p:nvPr>
            <p:ph type="body" idx="1"/>
          </p:nvPr>
        </p:nvSpPr>
        <p:spPr>
          <a:xfrm>
            <a:off x="1371600" y="1600200"/>
            <a:ext cx="7583488" cy="4532313"/>
          </a:xfrm>
        </p:spPr>
        <p:txBody>
          <a:bodyPr/>
          <a:lstStyle/>
          <a:p>
            <a:pPr eaLnBrk="1" hangingPunct="1"/>
            <a:r>
              <a:rPr lang="en-US" altLang="zh-CN" dirty="0"/>
              <a:t>4.1 </a:t>
            </a:r>
            <a:r>
              <a:rPr lang="zh-CN" altLang="en-US" dirty="0"/>
              <a:t>连接查询</a:t>
            </a:r>
          </a:p>
          <a:p>
            <a:pPr eaLnBrk="1" hangingPunct="1"/>
            <a:r>
              <a:rPr lang="en-US" altLang="zh-CN" dirty="0"/>
              <a:t>4.2 </a:t>
            </a:r>
            <a:r>
              <a:rPr lang="zh-CN" altLang="en-US" dirty="0"/>
              <a:t>视图</a:t>
            </a:r>
          </a:p>
          <a:p>
            <a:pPr eaLnBrk="1" hangingPunct="1"/>
            <a:r>
              <a:rPr lang="en-US" altLang="zh-CN" dirty="0"/>
              <a:t>4.3 </a:t>
            </a:r>
            <a:r>
              <a:rPr lang="zh-CN" altLang="en-US" dirty="0"/>
              <a:t>事务</a:t>
            </a:r>
            <a:endParaRPr lang="en-US" altLang="zh-CN" dirty="0"/>
          </a:p>
          <a:p>
            <a:pPr eaLnBrk="1" hangingPunct="1"/>
            <a:r>
              <a:rPr lang="en-US" altLang="zh-CN" dirty="0"/>
              <a:t>4.4 </a:t>
            </a:r>
            <a:r>
              <a:rPr lang="zh-CN" altLang="en-US" dirty="0"/>
              <a:t>完整性约束</a:t>
            </a:r>
            <a:endParaRPr lang="en-US" altLang="zh-CN" dirty="0"/>
          </a:p>
          <a:p>
            <a:pPr eaLnBrk="1" hangingPunct="1"/>
            <a:r>
              <a:rPr lang="en-US" altLang="zh-CN" dirty="0"/>
              <a:t>4.5 SQL</a:t>
            </a:r>
            <a:r>
              <a:rPr lang="zh-CN" altLang="en-US" dirty="0"/>
              <a:t>数据类型与模式</a:t>
            </a:r>
            <a:endParaRPr lang="en-US" altLang="zh-CN" dirty="0"/>
          </a:p>
          <a:p>
            <a:pPr eaLnBrk="1" hangingPunct="1"/>
            <a:r>
              <a:rPr lang="en-US" altLang="zh-CN" dirty="0"/>
              <a:t>4.6 </a:t>
            </a:r>
            <a:r>
              <a:rPr lang="zh-CN" altLang="en-US" dirty="0"/>
              <a:t>索引</a:t>
            </a:r>
            <a:endParaRPr lang="en-US" altLang="zh-CN" dirty="0"/>
          </a:p>
          <a:p>
            <a:pPr eaLnBrk="1" hangingPunct="1"/>
            <a:r>
              <a:rPr lang="en-US" altLang="zh-CN" dirty="0"/>
              <a:t>4.7 </a:t>
            </a:r>
            <a:r>
              <a:rPr lang="zh-CN" altLang="en-US" dirty="0"/>
              <a:t>授权</a:t>
            </a:r>
          </a:p>
        </p:txBody>
      </p:sp>
      <p:sp>
        <p:nvSpPr>
          <p:cNvPr id="11268" name="AutoShape 4"/>
          <p:cNvSpPr>
            <a:spLocks noChangeArrowheads="1"/>
          </p:cNvSpPr>
          <p:nvPr/>
        </p:nvSpPr>
        <p:spPr bwMode="auto">
          <a:xfrm>
            <a:off x="856129" y="2286000"/>
            <a:ext cx="457200" cy="457200"/>
          </a:xfrm>
          <a:prstGeom prst="rightArrow">
            <a:avLst>
              <a:gd name="adj1" fmla="val 50000"/>
              <a:gd name="adj2" fmla="val 40278"/>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4" name="灯片编号占位符 3">
            <a:extLst>
              <a:ext uri="{FF2B5EF4-FFF2-40B4-BE49-F238E27FC236}">
                <a16:creationId xmlns:a16="http://schemas.microsoft.com/office/drawing/2014/main" id="{57113C6E-0AAD-EA56-904F-CF67E36D9ACF}"/>
              </a:ext>
            </a:extLst>
          </p:cNvPr>
          <p:cNvSpPr>
            <a:spLocks noGrp="1"/>
          </p:cNvSpPr>
          <p:nvPr>
            <p:ph type="sldNum" sz="quarter" idx="12"/>
          </p:nvPr>
        </p:nvSpPr>
        <p:spPr/>
        <p:txBody>
          <a:bodyPr/>
          <a:lstStyle/>
          <a:p>
            <a:pPr>
              <a:defRPr/>
            </a:pPr>
            <a:fld id="{E0CD82EA-F7BE-454B-A83E-18830F6C5424}" type="slidenum">
              <a:rPr lang="en-US" altLang="zh-CN" smtClean="0"/>
              <a:pPr>
                <a:defRPr/>
              </a:pPr>
              <a:t>33</a:t>
            </a:fld>
            <a:r>
              <a:rPr lang="en-US" altLang="zh-CN"/>
              <a:t>/138</a:t>
            </a:r>
            <a:endParaRPr lang="zh-CN" altLang="en-US" dirty="0"/>
          </a:p>
        </p:txBody>
      </p:sp>
    </p:spTree>
    <p:extLst>
      <p:ext uri="{BB962C8B-B14F-4D97-AF65-F5344CB8AC3E}">
        <p14:creationId xmlns:p14="http://schemas.microsoft.com/office/powerpoint/2010/main" val="3340805425"/>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268"/>
                                        </p:tgtEl>
                                        <p:attrNameLst>
                                          <p:attrName>style.visibility</p:attrName>
                                        </p:attrNameLst>
                                      </p:cBhvr>
                                      <p:to>
                                        <p:strVal val="visible"/>
                                      </p:to>
                                    </p:set>
                                    <p:anim calcmode="lin" valueType="num">
                                      <p:cBhvr additive="base">
                                        <p:cTn id="7" dur="500" fill="hold"/>
                                        <p:tgtEl>
                                          <p:spTgt spid="11268"/>
                                        </p:tgtEl>
                                        <p:attrNameLst>
                                          <p:attrName>ppt_x</p:attrName>
                                        </p:attrNameLst>
                                      </p:cBhvr>
                                      <p:tavLst>
                                        <p:tav tm="0">
                                          <p:val>
                                            <p:strVal val="0-#ppt_w/2"/>
                                          </p:val>
                                        </p:tav>
                                        <p:tav tm="100000">
                                          <p:val>
                                            <p:strVal val="#ppt_x"/>
                                          </p:val>
                                        </p:tav>
                                      </p:tavLst>
                                    </p:anim>
                                    <p:anim calcmode="lin" valueType="num">
                                      <p:cBhvr additive="base">
                                        <p:cTn id="8" dur="500" fill="hold"/>
                                        <p:tgtEl>
                                          <p:spTgt spid="112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01027A7B-A82B-4FE1-9AD1-8B466C8DC963}" type="datetime1">
              <a:rPr kumimoji="0" lang="zh-CN" altLang="en-US" sz="1400" smtClean="0"/>
              <a:t>2025/10/15</a:t>
            </a:fld>
            <a:endParaRPr kumimoji="0" lang="en-US" altLang="zh-CN" sz="1400"/>
          </a:p>
        </p:txBody>
      </p:sp>
      <p:sp>
        <p:nvSpPr>
          <p:cNvPr id="16896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68965" name="Rectangle 2"/>
          <p:cNvSpPr>
            <a:spLocks noGrp="1" noChangeArrowheads="1"/>
          </p:cNvSpPr>
          <p:nvPr>
            <p:ph type="title"/>
          </p:nvPr>
        </p:nvSpPr>
        <p:spPr/>
        <p:txBody>
          <a:bodyPr/>
          <a:lstStyle/>
          <a:p>
            <a:pPr eaLnBrk="1" hangingPunct="1"/>
            <a:r>
              <a:rPr lang="en-US" altLang="zh-CN" dirty="0"/>
              <a:t>4.2 </a:t>
            </a:r>
            <a:r>
              <a:rPr lang="zh-CN" altLang="en-US" dirty="0"/>
              <a:t>视图</a:t>
            </a:r>
          </a:p>
        </p:txBody>
      </p:sp>
      <p:sp>
        <p:nvSpPr>
          <p:cNvPr id="168966" name="Rectangle 3"/>
          <p:cNvSpPr>
            <a:spLocks noGrp="1" noChangeArrowheads="1"/>
          </p:cNvSpPr>
          <p:nvPr>
            <p:ph type="body" idx="1"/>
          </p:nvPr>
        </p:nvSpPr>
        <p:spPr/>
        <p:txBody>
          <a:bodyPr/>
          <a:lstStyle/>
          <a:p>
            <a:pPr eaLnBrk="1" hangingPunct="1"/>
            <a:r>
              <a:rPr lang="zh-CN" altLang="en-US" dirty="0"/>
              <a:t>从一个或多个基本表</a:t>
            </a:r>
            <a:r>
              <a:rPr lang="en-US" altLang="zh-CN" dirty="0"/>
              <a:t>(</a:t>
            </a:r>
            <a:r>
              <a:rPr lang="zh-CN" altLang="en-US" dirty="0"/>
              <a:t>或视图</a:t>
            </a:r>
            <a:r>
              <a:rPr lang="en-US" altLang="zh-CN" dirty="0"/>
              <a:t>)</a:t>
            </a:r>
            <a:r>
              <a:rPr lang="zh-CN" altLang="en-US" dirty="0">
                <a:solidFill>
                  <a:srgbClr val="C00000"/>
                </a:solidFill>
              </a:rPr>
              <a:t>导出的表</a:t>
            </a:r>
            <a:r>
              <a:rPr lang="zh-CN" altLang="en-US" dirty="0"/>
              <a:t>，是</a:t>
            </a:r>
            <a:r>
              <a:rPr lang="zh-CN" altLang="en-US" b="1" dirty="0">
                <a:solidFill>
                  <a:srgbClr val="0000FF"/>
                </a:solidFill>
              </a:rPr>
              <a:t>虚表</a:t>
            </a:r>
            <a:r>
              <a:rPr lang="zh-CN" altLang="en-US" dirty="0"/>
              <a:t>；</a:t>
            </a:r>
          </a:p>
          <a:p>
            <a:pPr eaLnBrk="1" hangingPunct="1"/>
            <a:r>
              <a:rPr lang="zh-CN" altLang="en-US" dirty="0"/>
              <a:t>数据库中</a:t>
            </a:r>
            <a:r>
              <a:rPr lang="zh-CN" altLang="en-US" dirty="0">
                <a:solidFill>
                  <a:srgbClr val="0000FF"/>
                </a:solidFill>
              </a:rPr>
              <a:t>只存视图的定义，不存数据</a:t>
            </a:r>
            <a:r>
              <a:rPr lang="zh-CN" altLang="en-US" dirty="0"/>
              <a:t>；</a:t>
            </a:r>
          </a:p>
          <a:p>
            <a:pPr eaLnBrk="1" hangingPunct="1"/>
            <a:r>
              <a:rPr lang="zh-CN" altLang="en-US" dirty="0"/>
              <a:t>使用户以</a:t>
            </a:r>
            <a:r>
              <a:rPr lang="zh-CN" altLang="en-US" dirty="0">
                <a:solidFill>
                  <a:srgbClr val="0000FF"/>
                </a:solidFill>
              </a:rPr>
              <a:t>不同方式</a:t>
            </a:r>
            <a:r>
              <a:rPr lang="zh-CN" altLang="en-US" dirty="0"/>
              <a:t>看数据；</a:t>
            </a:r>
            <a:endParaRPr lang="en-US" altLang="zh-CN" dirty="0"/>
          </a:p>
          <a:p>
            <a:pPr eaLnBrk="1" hangingPunct="1"/>
            <a:r>
              <a:rPr lang="zh-CN" altLang="en-US" dirty="0"/>
              <a:t>对视图的</a:t>
            </a:r>
            <a:r>
              <a:rPr lang="zh-CN" altLang="en-US" dirty="0">
                <a:solidFill>
                  <a:srgbClr val="C00000"/>
                </a:solidFill>
              </a:rPr>
              <a:t>更新</a:t>
            </a:r>
            <a:r>
              <a:rPr lang="en-US" altLang="zh-CN" dirty="0">
                <a:solidFill>
                  <a:srgbClr val="C00000"/>
                </a:solidFill>
              </a:rPr>
              <a:t>(</a:t>
            </a:r>
            <a:r>
              <a:rPr lang="zh-CN" altLang="en-US" dirty="0">
                <a:solidFill>
                  <a:srgbClr val="C00000"/>
                </a:solidFill>
              </a:rPr>
              <a:t>增、删、改</a:t>
            </a:r>
            <a:r>
              <a:rPr lang="en-US" altLang="zh-CN" dirty="0">
                <a:solidFill>
                  <a:srgbClr val="C00000"/>
                </a:solidFill>
              </a:rPr>
              <a:t>)</a:t>
            </a:r>
            <a:r>
              <a:rPr lang="zh-CN" altLang="en-US" dirty="0">
                <a:solidFill>
                  <a:srgbClr val="C00000"/>
                </a:solidFill>
              </a:rPr>
              <a:t>有限制</a:t>
            </a:r>
            <a:r>
              <a:rPr lang="zh-CN" altLang="en-US" dirty="0"/>
              <a:t>。</a:t>
            </a:r>
          </a:p>
          <a:p>
            <a:pPr eaLnBrk="1" hangingPunct="1"/>
            <a:r>
              <a:rPr lang="zh-CN" altLang="en-US" dirty="0"/>
              <a:t>主要目的：</a:t>
            </a:r>
            <a:r>
              <a:rPr lang="zh-CN" altLang="en-US" dirty="0">
                <a:solidFill>
                  <a:srgbClr val="C00000"/>
                </a:solidFill>
              </a:rPr>
              <a:t>提供数据库保护</a:t>
            </a:r>
            <a:r>
              <a:rPr lang="zh-CN" altLang="en-US" dirty="0"/>
              <a:t>。</a:t>
            </a:r>
          </a:p>
        </p:txBody>
      </p:sp>
      <p:sp>
        <p:nvSpPr>
          <p:cNvPr id="4" name="灯片编号占位符 3">
            <a:extLst>
              <a:ext uri="{FF2B5EF4-FFF2-40B4-BE49-F238E27FC236}">
                <a16:creationId xmlns:a16="http://schemas.microsoft.com/office/drawing/2014/main" id="{641D0166-C953-56AF-329A-F854B03F47A8}"/>
              </a:ext>
            </a:extLst>
          </p:cNvPr>
          <p:cNvSpPr>
            <a:spLocks noGrp="1"/>
          </p:cNvSpPr>
          <p:nvPr>
            <p:ph type="sldNum" sz="quarter" idx="12"/>
          </p:nvPr>
        </p:nvSpPr>
        <p:spPr/>
        <p:txBody>
          <a:bodyPr/>
          <a:lstStyle/>
          <a:p>
            <a:pPr>
              <a:defRPr/>
            </a:pPr>
            <a:fld id="{E0CD82EA-F7BE-454B-A83E-18830F6C5424}" type="slidenum">
              <a:rPr lang="en-US" altLang="zh-CN" smtClean="0"/>
              <a:pPr>
                <a:defRPr/>
              </a:pPr>
              <a:t>34</a:t>
            </a:fld>
            <a:r>
              <a:rPr lang="en-US" altLang="zh-CN"/>
              <a:t>/138</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8966">
                                            <p:txEl>
                                              <p:pRg st="1" end="1"/>
                                            </p:txEl>
                                          </p:spTgt>
                                        </p:tgtEl>
                                        <p:attrNameLst>
                                          <p:attrName>style.visibility</p:attrName>
                                        </p:attrNameLst>
                                      </p:cBhvr>
                                      <p:to>
                                        <p:strVal val="visible"/>
                                      </p:to>
                                    </p:set>
                                    <p:anim calcmode="lin" valueType="num">
                                      <p:cBhvr additive="base">
                                        <p:cTn id="7" dur="500" fill="hold"/>
                                        <p:tgtEl>
                                          <p:spTgt spid="16896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8966">
                                            <p:txEl>
                                              <p:pRg st="1" end="1"/>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68966">
                                            <p:txEl>
                                              <p:pRg st="2" end="2"/>
                                            </p:txEl>
                                          </p:spTgt>
                                        </p:tgtEl>
                                        <p:attrNameLst>
                                          <p:attrName>style.visibility</p:attrName>
                                        </p:attrNameLst>
                                      </p:cBhvr>
                                      <p:to>
                                        <p:strVal val="visible"/>
                                      </p:to>
                                    </p:set>
                                    <p:anim calcmode="lin" valueType="num">
                                      <p:cBhvr additive="base">
                                        <p:cTn id="12" dur="500" fill="hold"/>
                                        <p:tgtEl>
                                          <p:spTgt spid="168966">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68966">
                                            <p:txEl>
                                              <p:pRg st="2" end="2"/>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168966">
                                            <p:txEl>
                                              <p:pRg st="3" end="3"/>
                                            </p:txEl>
                                          </p:spTgt>
                                        </p:tgtEl>
                                        <p:attrNameLst>
                                          <p:attrName>style.visibility</p:attrName>
                                        </p:attrNameLst>
                                      </p:cBhvr>
                                      <p:to>
                                        <p:strVal val="visible"/>
                                      </p:to>
                                    </p:set>
                                    <p:anim calcmode="lin" valueType="num">
                                      <p:cBhvr additive="base">
                                        <p:cTn id="17" dur="500" fill="hold"/>
                                        <p:tgtEl>
                                          <p:spTgt spid="168966">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8966">
                                            <p:txEl>
                                              <p:pRg st="3" end="3"/>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168966">
                                            <p:txEl>
                                              <p:pRg st="4" end="4"/>
                                            </p:txEl>
                                          </p:spTgt>
                                        </p:tgtEl>
                                        <p:attrNameLst>
                                          <p:attrName>style.visibility</p:attrName>
                                        </p:attrNameLst>
                                      </p:cBhvr>
                                      <p:to>
                                        <p:strVal val="visible"/>
                                      </p:to>
                                    </p:set>
                                    <p:anim calcmode="lin" valueType="num">
                                      <p:cBhvr additive="base">
                                        <p:cTn id="22" dur="500" fill="hold"/>
                                        <p:tgtEl>
                                          <p:spTgt spid="168966">
                                            <p:txEl>
                                              <p:pRg st="4" end="4"/>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6896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2E52BBD3-AE03-4F9C-A58E-D28CC0255ECE}" type="datetime1">
              <a:rPr kumimoji="0" lang="zh-CN" altLang="en-US" sz="1400" smtClean="0"/>
              <a:t>2025/10/15</a:t>
            </a:fld>
            <a:endParaRPr kumimoji="0" lang="en-US" altLang="zh-CN" sz="1400"/>
          </a:p>
        </p:txBody>
      </p:sp>
      <p:sp>
        <p:nvSpPr>
          <p:cNvPr id="169987"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69989" name="Rectangle 2"/>
          <p:cNvSpPr>
            <a:spLocks noGrp="1" noChangeArrowheads="1"/>
          </p:cNvSpPr>
          <p:nvPr>
            <p:ph type="title"/>
          </p:nvPr>
        </p:nvSpPr>
        <p:spPr/>
        <p:txBody>
          <a:bodyPr/>
          <a:lstStyle/>
          <a:p>
            <a:pPr eaLnBrk="1" hangingPunct="1"/>
            <a:r>
              <a:rPr lang="en-US" altLang="zh-CN" dirty="0"/>
              <a:t>4.2.1 </a:t>
            </a:r>
            <a:r>
              <a:rPr lang="zh-CN" altLang="en-US" dirty="0"/>
              <a:t>定义视图</a:t>
            </a:r>
          </a:p>
        </p:txBody>
      </p:sp>
      <p:sp>
        <p:nvSpPr>
          <p:cNvPr id="169990" name="Rectangle 3"/>
          <p:cNvSpPr>
            <a:spLocks noGrp="1" noChangeArrowheads="1"/>
          </p:cNvSpPr>
          <p:nvPr>
            <p:ph type="body" idx="1"/>
          </p:nvPr>
        </p:nvSpPr>
        <p:spPr/>
        <p:txBody>
          <a:bodyPr/>
          <a:lstStyle/>
          <a:p>
            <a:pPr eaLnBrk="1" hangingPunct="1">
              <a:lnSpc>
                <a:spcPct val="90000"/>
              </a:lnSpc>
            </a:pPr>
            <a:r>
              <a:rPr lang="zh-CN" altLang="en-US" sz="2800" dirty="0"/>
              <a:t>创建视图 </a:t>
            </a:r>
            <a:r>
              <a:rPr lang="en-US" altLang="zh-CN" sz="2800" dirty="0">
                <a:solidFill>
                  <a:srgbClr val="0000FF"/>
                </a:solidFill>
              </a:rPr>
              <a:t>CREATE</a:t>
            </a:r>
            <a:r>
              <a:rPr lang="en-US" altLang="zh-CN" sz="2800" dirty="0"/>
              <a:t> </a:t>
            </a:r>
            <a:r>
              <a:rPr lang="en-US" altLang="zh-CN" sz="2800" dirty="0">
                <a:solidFill>
                  <a:srgbClr val="C00000"/>
                </a:solidFill>
              </a:rPr>
              <a:t>VIEW</a:t>
            </a:r>
            <a:r>
              <a:rPr lang="zh-CN" altLang="en-US" sz="2800" dirty="0"/>
              <a:t>命令</a:t>
            </a:r>
          </a:p>
          <a:p>
            <a:pPr eaLnBrk="1" hangingPunct="1">
              <a:lnSpc>
                <a:spcPct val="90000"/>
              </a:lnSpc>
            </a:pPr>
            <a:r>
              <a:rPr lang="zh-CN" altLang="en-US" sz="2800" dirty="0"/>
              <a:t>格式</a:t>
            </a:r>
          </a:p>
          <a:p>
            <a:pPr eaLnBrk="1" hangingPunct="1">
              <a:lnSpc>
                <a:spcPct val="90000"/>
              </a:lnSpc>
              <a:buFont typeface="Wingdings" pitchFamily="2" charset="2"/>
              <a:buNone/>
            </a:pPr>
            <a:r>
              <a:rPr lang="en-US" altLang="zh-CN" sz="2800" dirty="0">
                <a:solidFill>
                  <a:srgbClr val="FF0000"/>
                </a:solidFill>
              </a:rPr>
              <a:t>	CREATE VIEW</a:t>
            </a:r>
            <a:r>
              <a:rPr lang="en-US" altLang="zh-CN" sz="2800" dirty="0"/>
              <a:t> &lt;</a:t>
            </a:r>
            <a:r>
              <a:rPr lang="zh-CN" altLang="en-US" sz="2800" dirty="0"/>
              <a:t>视图名</a:t>
            </a:r>
            <a:r>
              <a:rPr lang="en-US" altLang="zh-CN" sz="2800" dirty="0"/>
              <a:t>&gt;</a:t>
            </a:r>
            <a:r>
              <a:rPr lang="en-US" altLang="zh-CN" sz="2800" dirty="0">
                <a:solidFill>
                  <a:srgbClr val="0000FF"/>
                </a:solidFill>
              </a:rPr>
              <a:t>[</a:t>
            </a:r>
            <a:r>
              <a:rPr lang="en-US" altLang="zh-CN" sz="2800" dirty="0">
                <a:solidFill>
                  <a:srgbClr val="006600"/>
                </a:solidFill>
              </a:rPr>
              <a:t>(</a:t>
            </a:r>
            <a:r>
              <a:rPr lang="en-US" altLang="zh-CN" sz="2800" dirty="0"/>
              <a:t>&lt;</a:t>
            </a:r>
            <a:r>
              <a:rPr lang="zh-CN" altLang="en-US" sz="2800" dirty="0"/>
              <a:t>列名</a:t>
            </a:r>
            <a:r>
              <a:rPr lang="en-US" altLang="zh-CN" sz="2800" dirty="0"/>
              <a:t>&gt;</a:t>
            </a:r>
            <a:r>
              <a:rPr lang="en-US" altLang="zh-CN" sz="2800" dirty="0">
                <a:solidFill>
                  <a:srgbClr val="006600"/>
                </a:solidFill>
              </a:rPr>
              <a:t>[,</a:t>
            </a:r>
            <a:r>
              <a:rPr lang="en-US" altLang="zh-CN" sz="2800" dirty="0"/>
              <a:t>&lt;</a:t>
            </a:r>
            <a:r>
              <a:rPr lang="zh-CN" altLang="en-US" sz="2800" dirty="0"/>
              <a:t>列名</a:t>
            </a:r>
            <a:r>
              <a:rPr lang="en-US" altLang="zh-CN" sz="2800" dirty="0"/>
              <a:t>&gt;</a:t>
            </a:r>
            <a:r>
              <a:rPr lang="en-US" altLang="zh-CN" sz="2800" dirty="0">
                <a:solidFill>
                  <a:srgbClr val="006600"/>
                </a:solidFill>
              </a:rPr>
              <a:t>]...)</a:t>
            </a:r>
            <a:r>
              <a:rPr lang="en-US" altLang="zh-CN" sz="2800" dirty="0">
                <a:solidFill>
                  <a:srgbClr val="0000FF"/>
                </a:solidFill>
              </a:rPr>
              <a:t>]</a:t>
            </a:r>
            <a:r>
              <a:rPr lang="en-US" altLang="zh-CN" sz="2800" dirty="0"/>
              <a:t> </a:t>
            </a:r>
            <a:br>
              <a:rPr lang="en-US" altLang="zh-CN" sz="2800" dirty="0"/>
            </a:br>
            <a:r>
              <a:rPr lang="en-US" altLang="zh-CN" sz="2800" dirty="0">
                <a:solidFill>
                  <a:srgbClr val="FF0000"/>
                </a:solidFill>
              </a:rPr>
              <a:t>AS</a:t>
            </a:r>
            <a:r>
              <a:rPr lang="en-US" altLang="zh-CN" sz="2800" dirty="0"/>
              <a:t> &lt;</a:t>
            </a:r>
            <a:r>
              <a:rPr lang="zh-CN" altLang="en-US" sz="2800" b="1" dirty="0">
                <a:solidFill>
                  <a:srgbClr val="C00000"/>
                </a:solidFill>
              </a:rPr>
              <a:t>子查询</a:t>
            </a:r>
            <a:r>
              <a:rPr lang="en-US" altLang="zh-CN" sz="2800" dirty="0"/>
              <a:t>&gt; </a:t>
            </a:r>
            <a:br>
              <a:rPr lang="en-US" altLang="zh-CN" sz="2800" dirty="0"/>
            </a:br>
            <a:r>
              <a:rPr lang="en-US" altLang="zh-CN" sz="2800" dirty="0"/>
              <a:t>[</a:t>
            </a:r>
            <a:r>
              <a:rPr lang="en-US" altLang="zh-CN" sz="2800" dirty="0">
                <a:solidFill>
                  <a:srgbClr val="800080"/>
                </a:solidFill>
              </a:rPr>
              <a:t>WITH CHECK OPTION</a:t>
            </a:r>
            <a:r>
              <a:rPr lang="en-US" altLang="zh-CN" sz="2800" dirty="0"/>
              <a:t>]; </a:t>
            </a:r>
          </a:p>
          <a:p>
            <a:pPr eaLnBrk="1" hangingPunct="1">
              <a:lnSpc>
                <a:spcPct val="90000"/>
              </a:lnSpc>
              <a:buFont typeface="Wingdings" pitchFamily="2" charset="2"/>
              <a:buNone/>
            </a:pPr>
            <a:endParaRPr lang="en-US" altLang="zh-CN" sz="2800" dirty="0"/>
          </a:p>
          <a:p>
            <a:pPr eaLnBrk="1" hangingPunct="1">
              <a:lnSpc>
                <a:spcPct val="90000"/>
              </a:lnSpc>
            </a:pPr>
            <a:r>
              <a:rPr lang="zh-CN" altLang="en-US" sz="2800" dirty="0"/>
              <a:t>子查询可以是任意的</a:t>
            </a:r>
            <a:r>
              <a:rPr lang="en-US" altLang="zh-CN" sz="2800" dirty="0"/>
              <a:t>SELECT</a:t>
            </a:r>
            <a:r>
              <a:rPr lang="zh-CN" altLang="en-US" sz="2800" dirty="0"/>
              <a:t>语句，但通常</a:t>
            </a:r>
            <a:r>
              <a:rPr lang="zh-CN" altLang="en-US" sz="2800" b="1" dirty="0">
                <a:solidFill>
                  <a:srgbClr val="C00000"/>
                </a:solidFill>
              </a:rPr>
              <a:t>不允许</a:t>
            </a:r>
            <a:r>
              <a:rPr lang="zh-CN" altLang="en-US" sz="2800" u="sng" dirty="0"/>
              <a:t>含有</a:t>
            </a:r>
            <a:r>
              <a:rPr lang="en-US" altLang="zh-CN" sz="2800" u="sng" dirty="0">
                <a:solidFill>
                  <a:srgbClr val="0000FF"/>
                </a:solidFill>
              </a:rPr>
              <a:t>ORDER BY</a:t>
            </a:r>
            <a:r>
              <a:rPr lang="zh-CN" altLang="en-US" sz="2800" u="sng" dirty="0"/>
              <a:t>子句和</a:t>
            </a:r>
            <a:r>
              <a:rPr lang="en-US" altLang="zh-CN" sz="2800" u="sng" dirty="0">
                <a:solidFill>
                  <a:srgbClr val="0000FF"/>
                </a:solidFill>
              </a:rPr>
              <a:t>DISTINCT</a:t>
            </a:r>
            <a:r>
              <a:rPr lang="zh-CN" altLang="en-US" sz="2800" u="sng" dirty="0"/>
              <a:t>短语</a:t>
            </a:r>
            <a:r>
              <a:rPr lang="zh-CN" altLang="en-US" sz="2800" dirty="0"/>
              <a:t>。 </a:t>
            </a:r>
          </a:p>
        </p:txBody>
      </p:sp>
      <p:sp>
        <p:nvSpPr>
          <p:cNvPr id="7" name="AutoShape 4"/>
          <p:cNvSpPr>
            <a:spLocks noChangeArrowheads="1"/>
          </p:cNvSpPr>
          <p:nvPr/>
        </p:nvSpPr>
        <p:spPr bwMode="auto">
          <a:xfrm>
            <a:off x="5290457" y="838200"/>
            <a:ext cx="3505200" cy="544513"/>
          </a:xfrm>
          <a:prstGeom prst="wedgeRectCallout">
            <a:avLst>
              <a:gd name="adj1" fmla="val 323"/>
              <a:gd name="adj2" fmla="val 24709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nSpc>
                <a:spcPct val="120000"/>
              </a:lnSpc>
            </a:pPr>
            <a:r>
              <a:rPr lang="zh-CN" altLang="en-US" sz="2800" dirty="0">
                <a:ea typeface="宋体" charset="-122"/>
              </a:rPr>
              <a:t>全部省略或全部指定</a:t>
            </a:r>
          </a:p>
        </p:txBody>
      </p:sp>
      <p:sp>
        <p:nvSpPr>
          <p:cNvPr id="4" name="灯片编号占位符 3">
            <a:extLst>
              <a:ext uri="{FF2B5EF4-FFF2-40B4-BE49-F238E27FC236}">
                <a16:creationId xmlns:a16="http://schemas.microsoft.com/office/drawing/2014/main" id="{FB9BBD59-7FE2-0706-603C-40901CB654D9}"/>
              </a:ext>
            </a:extLst>
          </p:cNvPr>
          <p:cNvSpPr>
            <a:spLocks noGrp="1"/>
          </p:cNvSpPr>
          <p:nvPr>
            <p:ph type="sldNum" sz="quarter" idx="12"/>
          </p:nvPr>
        </p:nvSpPr>
        <p:spPr/>
        <p:txBody>
          <a:bodyPr/>
          <a:lstStyle/>
          <a:p>
            <a:pPr>
              <a:defRPr/>
            </a:pPr>
            <a:fld id="{E0CD82EA-F7BE-454B-A83E-18830F6C5424}" type="slidenum">
              <a:rPr lang="en-US" altLang="zh-CN" smtClean="0"/>
              <a:pPr>
                <a:defRPr/>
              </a:pPr>
              <a:t>35</a:t>
            </a:fld>
            <a:r>
              <a:rPr lang="en-US" altLang="zh-CN"/>
              <a:t>/138</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9990">
                                            <p:txEl>
                                              <p:pRg st="1" end="1"/>
                                            </p:txEl>
                                          </p:spTgt>
                                        </p:tgtEl>
                                        <p:attrNameLst>
                                          <p:attrName>style.visibility</p:attrName>
                                        </p:attrNameLst>
                                      </p:cBhvr>
                                      <p:to>
                                        <p:strVal val="visible"/>
                                      </p:to>
                                    </p:set>
                                    <p:anim calcmode="lin" valueType="num">
                                      <p:cBhvr additive="base">
                                        <p:cTn id="7" dur="500" fill="hold"/>
                                        <p:tgtEl>
                                          <p:spTgt spid="16999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9990">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9990">
                                            <p:txEl>
                                              <p:pRg st="2" end="2"/>
                                            </p:txEl>
                                          </p:spTgt>
                                        </p:tgtEl>
                                        <p:attrNameLst>
                                          <p:attrName>style.visibility</p:attrName>
                                        </p:attrNameLst>
                                      </p:cBhvr>
                                      <p:to>
                                        <p:strVal val="visible"/>
                                      </p:to>
                                    </p:set>
                                    <p:anim calcmode="lin" valueType="num">
                                      <p:cBhvr additive="base">
                                        <p:cTn id="11" dur="500" fill="hold"/>
                                        <p:tgtEl>
                                          <p:spTgt spid="169990">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999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9990">
                                            <p:txEl>
                                              <p:pRg st="4" end="4"/>
                                            </p:txEl>
                                          </p:spTgt>
                                        </p:tgtEl>
                                        <p:attrNameLst>
                                          <p:attrName>style.visibility</p:attrName>
                                        </p:attrNameLst>
                                      </p:cBhvr>
                                      <p:to>
                                        <p:strVal val="visible"/>
                                      </p:to>
                                    </p:set>
                                    <p:anim calcmode="lin" valueType="num">
                                      <p:cBhvr additive="base">
                                        <p:cTn id="17" dur="500" fill="hold"/>
                                        <p:tgtEl>
                                          <p:spTgt spid="169990">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999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3"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1+#ppt_w/2"/>
                                          </p:val>
                                        </p:tav>
                                        <p:tav tm="100000">
                                          <p:val>
                                            <p:strVal val="#ppt_x"/>
                                          </p:val>
                                        </p:tav>
                                      </p:tavLst>
                                    </p:anim>
                                    <p:anim calcmode="lin" valueType="num">
                                      <p:cBhvr additive="base">
                                        <p:cTn id="24"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A6077F2B-6AEC-420E-8CD9-F60FB0BED059}" type="datetime1">
              <a:rPr kumimoji="0" lang="zh-CN" altLang="en-US" sz="1400" smtClean="0"/>
              <a:t>2025/10/15</a:t>
            </a:fld>
            <a:endParaRPr kumimoji="0" lang="en-US" altLang="zh-CN" sz="1400"/>
          </a:p>
        </p:txBody>
      </p:sp>
      <p:sp>
        <p:nvSpPr>
          <p:cNvPr id="171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71013" name="Rectangle 2"/>
          <p:cNvSpPr>
            <a:spLocks noGrp="1" noChangeArrowheads="1"/>
          </p:cNvSpPr>
          <p:nvPr>
            <p:ph type="title"/>
          </p:nvPr>
        </p:nvSpPr>
        <p:spPr/>
        <p:txBody>
          <a:bodyPr/>
          <a:lstStyle/>
          <a:p>
            <a:pPr eaLnBrk="1" hangingPunct="1"/>
            <a:r>
              <a:rPr lang="en-US" altLang="zh-CN" dirty="0"/>
              <a:t>4.2.1</a:t>
            </a:r>
            <a:r>
              <a:rPr lang="zh-CN" altLang="en-US" dirty="0"/>
              <a:t>定义视图</a:t>
            </a:r>
          </a:p>
        </p:txBody>
      </p:sp>
      <p:sp>
        <p:nvSpPr>
          <p:cNvPr id="171014" name="Rectangle 3"/>
          <p:cNvSpPr>
            <a:spLocks noGrp="1" noChangeArrowheads="1"/>
          </p:cNvSpPr>
          <p:nvPr>
            <p:ph type="body" idx="1"/>
          </p:nvPr>
        </p:nvSpPr>
        <p:spPr>
          <a:xfrm>
            <a:off x="609600" y="1447801"/>
            <a:ext cx="8345488" cy="2362199"/>
          </a:xfrm>
        </p:spPr>
        <p:txBody>
          <a:bodyPr/>
          <a:lstStyle/>
          <a:p>
            <a:pPr eaLnBrk="1" hangingPunct="1">
              <a:buFont typeface="Wingdings" pitchFamily="2" charset="2"/>
              <a:buNone/>
            </a:pPr>
            <a:r>
              <a:rPr lang="zh-CN" altLang="en-US" sz="2600" dirty="0"/>
              <a:t>例</a:t>
            </a:r>
            <a:r>
              <a:rPr lang="en-US" altLang="zh-CN" sz="2600" dirty="0"/>
              <a:t>1 </a:t>
            </a:r>
            <a:r>
              <a:rPr lang="zh-CN" altLang="en-US" sz="2600" dirty="0"/>
              <a:t>建立信息系学生的视图。</a:t>
            </a:r>
          </a:p>
          <a:p>
            <a:pPr eaLnBrk="1" hangingPunct="1">
              <a:buFont typeface="Wingdings" pitchFamily="2" charset="2"/>
              <a:buNone/>
            </a:pPr>
            <a:r>
              <a:rPr lang="en-US" altLang="zh-CN" sz="2600" dirty="0">
                <a:solidFill>
                  <a:srgbClr val="000080"/>
                </a:solidFill>
              </a:rPr>
              <a:t>    </a:t>
            </a:r>
            <a:r>
              <a:rPr lang="en-US" altLang="zh-CN" sz="2600" dirty="0">
                <a:solidFill>
                  <a:srgbClr val="C00000"/>
                </a:solidFill>
              </a:rPr>
              <a:t>CREATE VIEW </a:t>
            </a:r>
            <a:r>
              <a:rPr lang="en-US" altLang="zh-CN" sz="2600" dirty="0" err="1">
                <a:solidFill>
                  <a:srgbClr val="000080"/>
                </a:solidFill>
              </a:rPr>
              <a:t>IS_Student</a:t>
            </a:r>
            <a:r>
              <a:rPr lang="en-US" altLang="zh-CN" sz="2600" dirty="0">
                <a:solidFill>
                  <a:srgbClr val="000080"/>
                </a:solidFill>
              </a:rPr>
              <a:t> </a:t>
            </a:r>
            <a:r>
              <a:rPr lang="en-US" altLang="zh-CN" sz="2600" dirty="0">
                <a:solidFill>
                  <a:srgbClr val="C00000"/>
                </a:solidFill>
              </a:rPr>
              <a:t>AS</a:t>
            </a:r>
          </a:p>
          <a:p>
            <a:pPr eaLnBrk="1" hangingPunct="1">
              <a:buFont typeface="Wingdings" pitchFamily="2" charset="2"/>
              <a:buNone/>
            </a:pPr>
            <a:r>
              <a:rPr lang="en-US" altLang="zh-CN" sz="2600" dirty="0">
                <a:solidFill>
                  <a:srgbClr val="000080"/>
                </a:solidFill>
                <a:latin typeface="Arial" charset="0"/>
              </a:rPr>
              <a:t>        </a:t>
            </a:r>
            <a:r>
              <a:rPr lang="en-US" altLang="zh-CN" sz="2600" dirty="0">
                <a:solidFill>
                  <a:srgbClr val="000080"/>
                </a:solidFill>
              </a:rPr>
              <a:t> </a:t>
            </a:r>
            <a:r>
              <a:rPr lang="en-US" altLang="zh-CN" sz="2600" dirty="0">
                <a:solidFill>
                  <a:srgbClr val="0000FF"/>
                </a:solidFill>
              </a:rPr>
              <a:t>SELECT Sno, </a:t>
            </a:r>
            <a:r>
              <a:rPr lang="en-US" altLang="zh-CN" sz="2600" dirty="0" err="1">
                <a:solidFill>
                  <a:srgbClr val="0000FF"/>
                </a:solidFill>
              </a:rPr>
              <a:t>Sname</a:t>
            </a:r>
            <a:r>
              <a:rPr lang="en-US" altLang="zh-CN" sz="2600" dirty="0">
                <a:solidFill>
                  <a:srgbClr val="0000FF"/>
                </a:solidFill>
              </a:rPr>
              <a:t>, Sage </a:t>
            </a:r>
            <a:br>
              <a:rPr lang="en-US" altLang="zh-CN" sz="2600" dirty="0">
                <a:solidFill>
                  <a:srgbClr val="0000FF"/>
                </a:solidFill>
              </a:rPr>
            </a:br>
            <a:r>
              <a:rPr lang="en-US" altLang="zh-CN" sz="2600" dirty="0">
                <a:solidFill>
                  <a:srgbClr val="0000FF"/>
                </a:solidFill>
                <a:latin typeface="Arial" charset="0"/>
              </a:rPr>
              <a:t>     </a:t>
            </a:r>
            <a:r>
              <a:rPr lang="en-US" altLang="zh-CN" sz="2600" dirty="0">
                <a:solidFill>
                  <a:srgbClr val="0000FF"/>
                </a:solidFill>
              </a:rPr>
              <a:t>FROM Student </a:t>
            </a:r>
            <a:br>
              <a:rPr lang="en-US" altLang="zh-CN" sz="2600" dirty="0">
                <a:solidFill>
                  <a:srgbClr val="0000FF"/>
                </a:solidFill>
              </a:rPr>
            </a:br>
            <a:r>
              <a:rPr lang="en-US" altLang="zh-CN" sz="2600" dirty="0">
                <a:solidFill>
                  <a:srgbClr val="0000FF"/>
                </a:solidFill>
                <a:latin typeface="Arial" charset="0"/>
              </a:rPr>
              <a:t>     </a:t>
            </a:r>
            <a:r>
              <a:rPr lang="en-US" altLang="zh-CN" sz="2600" dirty="0">
                <a:solidFill>
                  <a:srgbClr val="0000FF"/>
                </a:solidFill>
              </a:rPr>
              <a:t>WHERE </a:t>
            </a:r>
            <a:r>
              <a:rPr lang="en-US" altLang="zh-CN" sz="2600" dirty="0" err="1">
                <a:solidFill>
                  <a:srgbClr val="0000FF"/>
                </a:solidFill>
              </a:rPr>
              <a:t>Sdept</a:t>
            </a:r>
            <a:r>
              <a:rPr lang="en-US" altLang="zh-CN" sz="2600" dirty="0">
                <a:solidFill>
                  <a:srgbClr val="0000FF"/>
                </a:solidFill>
              </a:rPr>
              <a:t>='IS';</a:t>
            </a:r>
            <a:endParaRPr lang="zh-CN" altLang="en-US" sz="2600" dirty="0">
              <a:solidFill>
                <a:srgbClr val="0000FF"/>
              </a:solidFill>
            </a:endParaRPr>
          </a:p>
        </p:txBody>
      </p:sp>
      <p:sp>
        <p:nvSpPr>
          <p:cNvPr id="2" name="矩形 1"/>
          <p:cNvSpPr/>
          <p:nvPr/>
        </p:nvSpPr>
        <p:spPr>
          <a:xfrm>
            <a:off x="609600" y="3774757"/>
            <a:ext cx="7733207" cy="492443"/>
          </a:xfrm>
          <a:prstGeom prst="rect">
            <a:avLst/>
          </a:prstGeom>
        </p:spPr>
        <p:txBody>
          <a:bodyPr wrap="none">
            <a:spAutoFit/>
          </a:bodyPr>
          <a:lstStyle/>
          <a:p>
            <a:pPr eaLnBrk="1" hangingPunct="1">
              <a:buFont typeface="Wingdings" pitchFamily="2" charset="2"/>
              <a:buNone/>
            </a:pPr>
            <a:r>
              <a:rPr lang="zh-CN" altLang="en-US" sz="2600" dirty="0"/>
              <a:t>例</a:t>
            </a:r>
            <a:r>
              <a:rPr lang="en-US" altLang="zh-CN" sz="2600" dirty="0"/>
              <a:t>2 </a:t>
            </a:r>
            <a:r>
              <a:rPr lang="zh-CN" altLang="en-US" sz="2600" dirty="0"/>
              <a:t>把</a:t>
            </a:r>
            <a:r>
              <a:rPr lang="en-US" altLang="zh-CN" sz="2600" dirty="0"/>
              <a:t>instructor</a:t>
            </a:r>
            <a:r>
              <a:rPr lang="zh-CN" altLang="en-US" sz="2600" dirty="0"/>
              <a:t>中除</a:t>
            </a:r>
            <a:r>
              <a:rPr lang="en-US" altLang="zh-CN" sz="2600" dirty="0"/>
              <a:t>salary</a:t>
            </a:r>
            <a:r>
              <a:rPr lang="zh-CN" altLang="en-US" sz="2600" dirty="0"/>
              <a:t>之外的信息提供给用户。</a:t>
            </a:r>
          </a:p>
        </p:txBody>
      </p:sp>
      <p:sp>
        <p:nvSpPr>
          <p:cNvPr id="4" name="矩形 3"/>
          <p:cNvSpPr/>
          <p:nvPr/>
        </p:nvSpPr>
        <p:spPr>
          <a:xfrm>
            <a:off x="1066800" y="4267200"/>
            <a:ext cx="4572000" cy="1292662"/>
          </a:xfrm>
          <a:prstGeom prst="rect">
            <a:avLst/>
          </a:prstGeom>
        </p:spPr>
        <p:txBody>
          <a:bodyPr>
            <a:spAutoFit/>
          </a:bodyPr>
          <a:lstStyle/>
          <a:p>
            <a:pPr algn="l"/>
            <a:r>
              <a:rPr lang="en-US" altLang="zh-CN" sz="2600" dirty="0">
                <a:solidFill>
                  <a:srgbClr val="0000FF"/>
                </a:solidFill>
              </a:rPr>
              <a:t>create view </a:t>
            </a:r>
            <a:r>
              <a:rPr lang="en-US" altLang="zh-CN" sz="2600" dirty="0">
                <a:solidFill>
                  <a:srgbClr val="C00000"/>
                </a:solidFill>
              </a:rPr>
              <a:t>faculty</a:t>
            </a:r>
            <a:r>
              <a:rPr lang="en-US" altLang="zh-CN" sz="2600" dirty="0"/>
              <a:t> </a:t>
            </a:r>
            <a:r>
              <a:rPr lang="en-US" altLang="zh-CN" sz="2600" dirty="0">
                <a:solidFill>
                  <a:srgbClr val="0000FF"/>
                </a:solidFill>
              </a:rPr>
              <a:t>as</a:t>
            </a:r>
          </a:p>
          <a:p>
            <a:pPr algn="l"/>
            <a:r>
              <a:rPr lang="en-US" altLang="zh-CN" sz="2600" dirty="0"/>
              <a:t>  select ID, name, </a:t>
            </a:r>
            <a:r>
              <a:rPr lang="en-US" altLang="zh-CN" sz="2600" dirty="0" err="1"/>
              <a:t>dept_name</a:t>
            </a:r>
            <a:endParaRPr lang="en-US" altLang="zh-CN" sz="2600" dirty="0"/>
          </a:p>
          <a:p>
            <a:pPr algn="l"/>
            <a:r>
              <a:rPr lang="en-US" altLang="zh-CN" sz="2600" dirty="0"/>
              <a:t>  from instructor;</a:t>
            </a:r>
            <a:endParaRPr lang="zh-CN" altLang="en-US" sz="2600" dirty="0"/>
          </a:p>
        </p:txBody>
      </p:sp>
      <p:sp>
        <p:nvSpPr>
          <p:cNvPr id="6" name="灯片编号占位符 5">
            <a:extLst>
              <a:ext uri="{FF2B5EF4-FFF2-40B4-BE49-F238E27FC236}">
                <a16:creationId xmlns:a16="http://schemas.microsoft.com/office/drawing/2014/main" id="{F482262D-BF71-1806-D4EC-FDEBFC1D5710}"/>
              </a:ext>
            </a:extLst>
          </p:cNvPr>
          <p:cNvSpPr>
            <a:spLocks noGrp="1"/>
          </p:cNvSpPr>
          <p:nvPr>
            <p:ph type="sldNum" sz="quarter" idx="12"/>
          </p:nvPr>
        </p:nvSpPr>
        <p:spPr/>
        <p:txBody>
          <a:bodyPr/>
          <a:lstStyle/>
          <a:p>
            <a:pPr>
              <a:defRPr/>
            </a:pPr>
            <a:fld id="{E0CD82EA-F7BE-454B-A83E-18830F6C5424}" type="slidenum">
              <a:rPr lang="en-US" altLang="zh-CN" smtClean="0"/>
              <a:pPr>
                <a:defRPr/>
              </a:pPr>
              <a:t>36</a:t>
            </a:fld>
            <a:r>
              <a:rPr lang="en-US" altLang="zh-CN"/>
              <a:t>/138</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1014">
                                            <p:txEl>
                                              <p:pRg st="1" end="1"/>
                                            </p:txEl>
                                          </p:spTgt>
                                        </p:tgtEl>
                                        <p:attrNameLst>
                                          <p:attrName>style.visibility</p:attrName>
                                        </p:attrNameLst>
                                      </p:cBhvr>
                                      <p:to>
                                        <p:strVal val="visible"/>
                                      </p:to>
                                    </p:set>
                                    <p:anim calcmode="lin" valueType="num">
                                      <p:cBhvr additive="base">
                                        <p:cTn id="7" dur="500" fill="hold"/>
                                        <p:tgtEl>
                                          <p:spTgt spid="17101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1014">
                                            <p:txEl>
                                              <p:pRg st="1" end="1"/>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71014">
                                            <p:txEl>
                                              <p:pRg st="2" end="2"/>
                                            </p:txEl>
                                          </p:spTgt>
                                        </p:tgtEl>
                                        <p:attrNameLst>
                                          <p:attrName>style.visibility</p:attrName>
                                        </p:attrNameLst>
                                      </p:cBhvr>
                                      <p:to>
                                        <p:strVal val="visible"/>
                                      </p:to>
                                    </p:set>
                                    <p:anim calcmode="lin" valueType="num">
                                      <p:cBhvr additive="base">
                                        <p:cTn id="12" dur="2000" fill="hold"/>
                                        <p:tgtEl>
                                          <p:spTgt spid="171014">
                                            <p:txEl>
                                              <p:pRg st="2" end="2"/>
                                            </p:txEl>
                                          </p:spTgt>
                                        </p:tgtEl>
                                        <p:attrNameLst>
                                          <p:attrName>ppt_x</p:attrName>
                                        </p:attrNameLst>
                                      </p:cBhvr>
                                      <p:tavLst>
                                        <p:tav tm="0">
                                          <p:val>
                                            <p:strVal val="#ppt_x"/>
                                          </p:val>
                                        </p:tav>
                                        <p:tav tm="100000">
                                          <p:val>
                                            <p:strVal val="#ppt_x"/>
                                          </p:val>
                                        </p:tav>
                                      </p:tavLst>
                                    </p:anim>
                                    <p:anim calcmode="lin" valueType="num">
                                      <p:cBhvr additive="base">
                                        <p:cTn id="13" dur="2000" fill="hold"/>
                                        <p:tgtEl>
                                          <p:spTgt spid="17101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EC7A9774-654D-4A17-8E50-48E65EF98D89}" type="datetime1">
              <a:rPr kumimoji="0" lang="zh-CN" altLang="en-US" sz="1400" smtClean="0"/>
              <a:t>2025/10/15</a:t>
            </a:fld>
            <a:endParaRPr kumimoji="0" lang="en-US" altLang="zh-CN" sz="1400"/>
          </a:p>
        </p:txBody>
      </p:sp>
      <p:sp>
        <p:nvSpPr>
          <p:cNvPr id="171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71013" name="Rectangle 2"/>
          <p:cNvSpPr>
            <a:spLocks noGrp="1" noChangeArrowheads="1"/>
          </p:cNvSpPr>
          <p:nvPr>
            <p:ph type="title"/>
          </p:nvPr>
        </p:nvSpPr>
        <p:spPr/>
        <p:txBody>
          <a:bodyPr/>
          <a:lstStyle/>
          <a:p>
            <a:pPr eaLnBrk="1" hangingPunct="1"/>
            <a:r>
              <a:rPr lang="en-US" altLang="zh-CN" dirty="0"/>
              <a:t>4.2.1</a:t>
            </a:r>
            <a:r>
              <a:rPr lang="zh-CN" altLang="en-US" dirty="0"/>
              <a:t>定义视图</a:t>
            </a:r>
          </a:p>
        </p:txBody>
      </p:sp>
      <p:sp>
        <p:nvSpPr>
          <p:cNvPr id="8" name="Rectangle 3"/>
          <p:cNvSpPr txBox="1">
            <a:spLocks noChangeArrowheads="1"/>
          </p:cNvSpPr>
          <p:nvPr/>
        </p:nvSpPr>
        <p:spPr bwMode="auto">
          <a:xfrm>
            <a:off x="762000" y="1447800"/>
            <a:ext cx="7772400" cy="475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lnSpc>
                <a:spcPct val="110000"/>
              </a:lnSpc>
            </a:pPr>
            <a:r>
              <a:rPr kumimoji="0" lang="zh-CN" altLang="en-US" kern="0" dirty="0">
                <a:solidFill>
                  <a:srgbClr val="0000FF"/>
                </a:solidFill>
                <a:ea typeface="宋体" charset="-122"/>
              </a:rPr>
              <a:t>基于多个基表的视图</a:t>
            </a:r>
          </a:p>
          <a:p>
            <a:pPr>
              <a:lnSpc>
                <a:spcPct val="110000"/>
              </a:lnSpc>
              <a:buFont typeface="Wingdings" pitchFamily="2" charset="2"/>
              <a:buNone/>
            </a:pPr>
            <a:endParaRPr kumimoji="0" lang="zh-CN" altLang="en-US" sz="1200" kern="0" dirty="0">
              <a:ea typeface="宋体" charset="-122"/>
            </a:endParaRPr>
          </a:p>
          <a:p>
            <a:pPr>
              <a:lnSpc>
                <a:spcPct val="110000"/>
              </a:lnSpc>
              <a:buFont typeface="Wingdings" pitchFamily="2" charset="2"/>
              <a:buNone/>
            </a:pPr>
            <a:r>
              <a:rPr kumimoji="0" lang="en-US" altLang="zh-CN" sz="2400" kern="0" dirty="0">
                <a:ea typeface="宋体" charset="-122"/>
              </a:rPr>
              <a:t>[</a:t>
            </a:r>
            <a:r>
              <a:rPr kumimoji="0" lang="zh-CN" altLang="en-US" sz="2400" kern="0" dirty="0">
                <a:ea typeface="宋体" charset="-122"/>
              </a:rPr>
              <a:t>例</a:t>
            </a:r>
            <a:r>
              <a:rPr kumimoji="0" lang="en-US" altLang="zh-CN" sz="2400" kern="0" dirty="0">
                <a:ea typeface="宋体" charset="-122"/>
              </a:rPr>
              <a:t>3]  </a:t>
            </a:r>
            <a:r>
              <a:rPr kumimoji="0" lang="zh-CN" altLang="en-US" sz="2400" kern="0" dirty="0">
                <a:ea typeface="宋体" charset="-122"/>
              </a:rPr>
              <a:t>建立信息系选修了</a:t>
            </a:r>
            <a:r>
              <a:rPr kumimoji="0" lang="en-US" altLang="zh-CN" sz="2400" kern="0" dirty="0">
                <a:ea typeface="宋体" charset="-122"/>
              </a:rPr>
              <a:t>1</a:t>
            </a:r>
            <a:r>
              <a:rPr kumimoji="0" lang="zh-CN" altLang="en-US" sz="2400" kern="0" dirty="0">
                <a:ea typeface="宋体" charset="-122"/>
              </a:rPr>
              <a:t>号课程的学生视图。</a:t>
            </a:r>
          </a:p>
          <a:p>
            <a:pPr>
              <a:lnSpc>
                <a:spcPct val="110000"/>
              </a:lnSpc>
              <a:buFont typeface="Wingdings" pitchFamily="2" charset="2"/>
              <a:buNone/>
            </a:pPr>
            <a:r>
              <a:rPr kumimoji="0" lang="zh-CN" altLang="en-US" sz="2200" kern="0" dirty="0">
                <a:solidFill>
                  <a:srgbClr val="0000FF"/>
                </a:solidFill>
                <a:ea typeface="宋体" charset="-122"/>
              </a:rPr>
              <a:t>        </a:t>
            </a:r>
            <a:r>
              <a:rPr kumimoji="0" lang="en-US" altLang="zh-CN" sz="2200" kern="0" dirty="0">
                <a:solidFill>
                  <a:srgbClr val="0000FF"/>
                </a:solidFill>
                <a:ea typeface="宋体" charset="-122"/>
              </a:rPr>
              <a:t>CREATE VIEW</a:t>
            </a:r>
            <a:r>
              <a:rPr kumimoji="0" lang="en-US" altLang="zh-CN" sz="2200" kern="0" dirty="0">
                <a:ea typeface="宋体" charset="-122"/>
              </a:rPr>
              <a:t> IS_S1(</a:t>
            </a:r>
            <a:r>
              <a:rPr kumimoji="0" lang="en-US" altLang="zh-CN" sz="2200" kern="0" dirty="0" err="1">
                <a:solidFill>
                  <a:srgbClr val="0000FF"/>
                </a:solidFill>
                <a:ea typeface="宋体" charset="-122"/>
              </a:rPr>
              <a:t>Sno</a:t>
            </a:r>
            <a:r>
              <a:rPr kumimoji="0" lang="zh-CN" altLang="en-US" sz="2200" kern="0" dirty="0">
                <a:solidFill>
                  <a:srgbClr val="0000FF"/>
                </a:solidFill>
                <a:ea typeface="宋体" charset="-122"/>
              </a:rPr>
              <a:t>，</a:t>
            </a:r>
            <a:r>
              <a:rPr kumimoji="0" lang="en-US" altLang="zh-CN" sz="2200" kern="0" dirty="0" err="1">
                <a:solidFill>
                  <a:srgbClr val="0000FF"/>
                </a:solidFill>
                <a:ea typeface="宋体" charset="-122"/>
              </a:rPr>
              <a:t>Sname</a:t>
            </a:r>
            <a:r>
              <a:rPr kumimoji="0" lang="zh-CN" altLang="en-US" sz="2200" kern="0" dirty="0">
                <a:solidFill>
                  <a:srgbClr val="0000FF"/>
                </a:solidFill>
                <a:ea typeface="宋体" charset="-122"/>
              </a:rPr>
              <a:t>，</a:t>
            </a:r>
            <a:r>
              <a:rPr kumimoji="0" lang="en-US" altLang="zh-CN" sz="2200" kern="0" dirty="0">
                <a:solidFill>
                  <a:srgbClr val="0000FF"/>
                </a:solidFill>
                <a:ea typeface="宋体" charset="-122"/>
              </a:rPr>
              <a:t>Grade</a:t>
            </a:r>
            <a:r>
              <a:rPr kumimoji="0" lang="en-US" altLang="zh-CN" sz="2200" kern="0" dirty="0">
                <a:ea typeface="宋体" charset="-122"/>
              </a:rPr>
              <a:t>)</a:t>
            </a:r>
          </a:p>
          <a:p>
            <a:pPr>
              <a:lnSpc>
                <a:spcPct val="110000"/>
              </a:lnSpc>
              <a:buFont typeface="Wingdings" pitchFamily="2" charset="2"/>
              <a:buNone/>
            </a:pPr>
            <a:r>
              <a:rPr kumimoji="0" lang="en-US" altLang="zh-CN" sz="2200" kern="0" dirty="0">
                <a:ea typeface="宋体" charset="-122"/>
              </a:rPr>
              <a:t>        </a:t>
            </a:r>
            <a:r>
              <a:rPr kumimoji="0" lang="en-US" altLang="zh-CN" sz="2200" kern="0" dirty="0">
                <a:solidFill>
                  <a:srgbClr val="0000FF"/>
                </a:solidFill>
                <a:ea typeface="宋体" charset="-122"/>
              </a:rPr>
              <a:t>AS </a:t>
            </a:r>
          </a:p>
          <a:p>
            <a:pPr>
              <a:lnSpc>
                <a:spcPct val="110000"/>
              </a:lnSpc>
              <a:buFont typeface="Wingdings" pitchFamily="2" charset="2"/>
              <a:buNone/>
            </a:pPr>
            <a:r>
              <a:rPr kumimoji="0" lang="en-US" altLang="zh-CN" sz="2200" kern="0" dirty="0">
                <a:ea typeface="宋体" charset="-122"/>
              </a:rPr>
              <a:t>        SELECT </a:t>
            </a:r>
            <a:r>
              <a:rPr kumimoji="0" lang="en-US" altLang="zh-CN" sz="2200" kern="0" dirty="0" err="1">
                <a:solidFill>
                  <a:srgbClr val="0000FF"/>
                </a:solidFill>
                <a:ea typeface="宋体" charset="-122"/>
              </a:rPr>
              <a:t>Student.Sno</a:t>
            </a:r>
            <a:r>
              <a:rPr kumimoji="0" lang="zh-CN" altLang="en-US" sz="2200" kern="0" dirty="0">
                <a:ea typeface="宋体" charset="-122"/>
              </a:rPr>
              <a:t>，</a:t>
            </a:r>
            <a:r>
              <a:rPr kumimoji="0" lang="en-US" altLang="zh-CN" sz="2200" kern="0" dirty="0" err="1">
                <a:ea typeface="宋体" charset="-122"/>
              </a:rPr>
              <a:t>Sname</a:t>
            </a:r>
            <a:r>
              <a:rPr kumimoji="0" lang="zh-CN" altLang="en-US" sz="2200" kern="0" dirty="0">
                <a:ea typeface="宋体" charset="-122"/>
              </a:rPr>
              <a:t>，</a:t>
            </a:r>
            <a:r>
              <a:rPr kumimoji="0" lang="en-US" altLang="zh-CN" sz="2200" kern="0" dirty="0">
                <a:ea typeface="宋体" charset="-122"/>
              </a:rPr>
              <a:t>Grade</a:t>
            </a:r>
          </a:p>
          <a:p>
            <a:pPr>
              <a:lnSpc>
                <a:spcPct val="110000"/>
              </a:lnSpc>
              <a:buFont typeface="Wingdings" pitchFamily="2" charset="2"/>
              <a:buNone/>
            </a:pPr>
            <a:r>
              <a:rPr kumimoji="0" lang="en-US" altLang="zh-CN" sz="2200" kern="0" dirty="0">
                <a:ea typeface="宋体" charset="-122"/>
              </a:rPr>
              <a:t>        FROM  Student, SC</a:t>
            </a:r>
          </a:p>
          <a:p>
            <a:pPr>
              <a:lnSpc>
                <a:spcPct val="110000"/>
              </a:lnSpc>
              <a:buFont typeface="Wingdings" pitchFamily="2" charset="2"/>
              <a:buNone/>
            </a:pPr>
            <a:r>
              <a:rPr kumimoji="0" lang="en-US" altLang="zh-CN" sz="2200" kern="0" dirty="0">
                <a:ea typeface="宋体" charset="-122"/>
              </a:rPr>
              <a:t>        WHERE  </a:t>
            </a:r>
            <a:r>
              <a:rPr kumimoji="0" lang="en-US" altLang="zh-CN" sz="2200" kern="0" dirty="0" err="1">
                <a:solidFill>
                  <a:srgbClr val="C00000"/>
                </a:solidFill>
                <a:ea typeface="宋体" charset="-122"/>
              </a:rPr>
              <a:t>Sdept</a:t>
            </a:r>
            <a:r>
              <a:rPr kumimoji="0" lang="en-US" altLang="zh-CN" sz="2200" kern="0" dirty="0">
                <a:solidFill>
                  <a:srgbClr val="C00000"/>
                </a:solidFill>
                <a:ea typeface="宋体" charset="-122"/>
              </a:rPr>
              <a:t>= 'IS' </a:t>
            </a:r>
            <a:r>
              <a:rPr kumimoji="0" lang="en-US" altLang="zh-CN" sz="2200" kern="0" dirty="0">
                <a:ea typeface="宋体" charset="-122"/>
              </a:rPr>
              <a:t>AND </a:t>
            </a:r>
            <a:r>
              <a:rPr kumimoji="0" lang="en-US" altLang="zh-CN" sz="2200" kern="0" dirty="0" err="1">
                <a:solidFill>
                  <a:srgbClr val="0000FF"/>
                </a:solidFill>
                <a:ea typeface="宋体" charset="-122"/>
              </a:rPr>
              <a:t>Student.Sno</a:t>
            </a:r>
            <a:r>
              <a:rPr kumimoji="0" lang="en-US" altLang="zh-CN" sz="2200" kern="0" dirty="0">
                <a:solidFill>
                  <a:srgbClr val="0000FF"/>
                </a:solidFill>
                <a:ea typeface="宋体" charset="-122"/>
              </a:rPr>
              <a:t>=</a:t>
            </a:r>
            <a:r>
              <a:rPr kumimoji="0" lang="en-US" altLang="zh-CN" sz="2200" kern="0" dirty="0" err="1">
                <a:solidFill>
                  <a:srgbClr val="0000FF"/>
                </a:solidFill>
                <a:ea typeface="宋体" charset="-122"/>
              </a:rPr>
              <a:t>SC.Sno</a:t>
            </a:r>
            <a:r>
              <a:rPr kumimoji="0" lang="en-US" altLang="zh-CN" sz="2200" kern="0" dirty="0">
                <a:ea typeface="宋体" charset="-122"/>
              </a:rPr>
              <a:t> </a:t>
            </a:r>
          </a:p>
          <a:p>
            <a:pPr>
              <a:lnSpc>
                <a:spcPct val="110000"/>
              </a:lnSpc>
              <a:buFont typeface="Wingdings" pitchFamily="2" charset="2"/>
              <a:buNone/>
            </a:pPr>
            <a:r>
              <a:rPr kumimoji="0" lang="en-US" altLang="zh-CN" sz="2200" kern="0" dirty="0">
                <a:ea typeface="宋体" charset="-122"/>
              </a:rPr>
              <a:t>                     AND </a:t>
            </a:r>
            <a:r>
              <a:rPr kumimoji="0" lang="en-US" altLang="zh-CN" sz="2200" kern="0" dirty="0" err="1">
                <a:solidFill>
                  <a:srgbClr val="C00000"/>
                </a:solidFill>
                <a:ea typeface="宋体" charset="-122"/>
              </a:rPr>
              <a:t>SC.Cno</a:t>
            </a:r>
            <a:r>
              <a:rPr kumimoji="0" lang="en-US" altLang="zh-CN" sz="2200" kern="0" dirty="0">
                <a:solidFill>
                  <a:srgbClr val="C00000"/>
                </a:solidFill>
                <a:ea typeface="宋体" charset="-122"/>
              </a:rPr>
              <a:t>= '1'</a:t>
            </a:r>
            <a:r>
              <a:rPr kumimoji="0" lang="zh-CN" altLang="en-US" sz="2200" kern="0" dirty="0">
                <a:ea typeface="宋体" charset="-122"/>
              </a:rPr>
              <a:t>；</a:t>
            </a:r>
          </a:p>
        </p:txBody>
      </p:sp>
      <p:sp>
        <p:nvSpPr>
          <p:cNvPr id="4" name="灯片编号占位符 3">
            <a:extLst>
              <a:ext uri="{FF2B5EF4-FFF2-40B4-BE49-F238E27FC236}">
                <a16:creationId xmlns:a16="http://schemas.microsoft.com/office/drawing/2014/main" id="{7C53A414-5508-2DEE-4392-B43191E6DEBE}"/>
              </a:ext>
            </a:extLst>
          </p:cNvPr>
          <p:cNvSpPr>
            <a:spLocks noGrp="1"/>
          </p:cNvSpPr>
          <p:nvPr>
            <p:ph type="sldNum" sz="quarter" idx="12"/>
          </p:nvPr>
        </p:nvSpPr>
        <p:spPr/>
        <p:txBody>
          <a:bodyPr/>
          <a:lstStyle/>
          <a:p>
            <a:pPr>
              <a:defRPr/>
            </a:pPr>
            <a:fld id="{E0CD82EA-F7BE-454B-A83E-18830F6C5424}" type="slidenum">
              <a:rPr lang="en-US" altLang="zh-CN" smtClean="0"/>
              <a:pPr>
                <a:defRPr/>
              </a:pPr>
              <a:t>37</a:t>
            </a:fld>
            <a:r>
              <a:rPr lang="en-US" altLang="zh-CN"/>
              <a:t>/138</a:t>
            </a:r>
            <a:endParaRPr lang="zh-CN" altLang="en-US" dirty="0"/>
          </a:p>
        </p:txBody>
      </p:sp>
    </p:spTree>
    <p:extLst>
      <p:ext uri="{BB962C8B-B14F-4D97-AF65-F5344CB8AC3E}">
        <p14:creationId xmlns:p14="http://schemas.microsoft.com/office/powerpoint/2010/main" val="11466957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5" end="5"/>
                                            </p:txEl>
                                          </p:spTgt>
                                        </p:tgtEl>
                                        <p:attrNameLst>
                                          <p:attrName>style.visibility</p:attrName>
                                        </p:attrNameLst>
                                      </p:cBhvr>
                                      <p:to>
                                        <p:strVal val="visible"/>
                                      </p:to>
                                    </p:set>
                                    <p:anim calcmode="lin" valueType="num">
                                      <p:cBhvr additive="base">
                                        <p:cTn id="7"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6" end="6"/>
                                            </p:txEl>
                                          </p:spTgt>
                                        </p:tgtEl>
                                        <p:attrNameLst>
                                          <p:attrName>style.visibility</p:attrName>
                                        </p:attrNameLst>
                                      </p:cBhvr>
                                      <p:to>
                                        <p:strVal val="visible"/>
                                      </p:to>
                                    </p:set>
                                    <p:anim calcmode="lin" valueType="num">
                                      <p:cBhvr additive="base">
                                        <p:cTn id="11"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7" end="7"/>
                                            </p:txEl>
                                          </p:spTgt>
                                        </p:tgtEl>
                                        <p:attrNameLst>
                                          <p:attrName>style.visibility</p:attrName>
                                        </p:attrNameLst>
                                      </p:cBhvr>
                                      <p:to>
                                        <p:strVal val="visible"/>
                                      </p:to>
                                    </p:set>
                                    <p:anim calcmode="lin" valueType="num">
                                      <p:cBhvr additive="base">
                                        <p:cTn id="15"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anim calcmode="lin" valueType="num">
                                      <p:cBhvr additive="base">
                                        <p:cTn id="19"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AE27A39F-DDCF-46CB-A77E-701FE4485545}" type="datetime1">
              <a:rPr kumimoji="0" lang="zh-CN" altLang="en-US" sz="1400" smtClean="0"/>
              <a:t>2025/10/15</a:t>
            </a:fld>
            <a:endParaRPr kumimoji="0" lang="en-US" altLang="zh-CN" sz="1400"/>
          </a:p>
        </p:txBody>
      </p:sp>
      <p:sp>
        <p:nvSpPr>
          <p:cNvPr id="171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71013" name="Rectangle 2"/>
          <p:cNvSpPr>
            <a:spLocks noGrp="1" noChangeArrowheads="1"/>
          </p:cNvSpPr>
          <p:nvPr>
            <p:ph type="title"/>
          </p:nvPr>
        </p:nvSpPr>
        <p:spPr/>
        <p:txBody>
          <a:bodyPr/>
          <a:lstStyle/>
          <a:p>
            <a:pPr eaLnBrk="1" hangingPunct="1"/>
            <a:r>
              <a:rPr lang="en-US" altLang="zh-CN" dirty="0"/>
              <a:t>4.2.1</a:t>
            </a:r>
            <a:r>
              <a:rPr lang="zh-CN" altLang="en-US" dirty="0"/>
              <a:t>定义视图</a:t>
            </a:r>
          </a:p>
        </p:txBody>
      </p:sp>
      <p:sp>
        <p:nvSpPr>
          <p:cNvPr id="8" name="Rectangle 3"/>
          <p:cNvSpPr txBox="1">
            <a:spLocks noChangeArrowheads="1"/>
          </p:cNvSpPr>
          <p:nvPr/>
        </p:nvSpPr>
        <p:spPr bwMode="auto">
          <a:xfrm>
            <a:off x="762000" y="1447801"/>
            <a:ext cx="7772400" cy="1066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lnSpc>
                <a:spcPct val="110000"/>
              </a:lnSpc>
            </a:pPr>
            <a:r>
              <a:rPr kumimoji="0" lang="zh-CN" altLang="en-US" kern="0" dirty="0">
                <a:solidFill>
                  <a:srgbClr val="0000FF"/>
                </a:solidFill>
                <a:ea typeface="宋体" charset="-122"/>
              </a:rPr>
              <a:t>基于多个基表的视图</a:t>
            </a:r>
            <a:endParaRPr kumimoji="0" lang="zh-CN" altLang="en-US" sz="1200" kern="0" dirty="0">
              <a:ea typeface="宋体" charset="-122"/>
            </a:endParaRPr>
          </a:p>
          <a:p>
            <a:pPr>
              <a:lnSpc>
                <a:spcPct val="110000"/>
              </a:lnSpc>
              <a:buFont typeface="Wingdings" pitchFamily="2" charset="2"/>
              <a:buNone/>
            </a:pPr>
            <a:r>
              <a:rPr kumimoji="0" lang="en-US" altLang="zh-CN" sz="2400" kern="0" dirty="0">
                <a:ea typeface="宋体" charset="-122"/>
              </a:rPr>
              <a:t>[</a:t>
            </a:r>
            <a:r>
              <a:rPr kumimoji="0" lang="zh-CN" altLang="en-US" sz="2400" kern="0" dirty="0">
                <a:ea typeface="宋体" charset="-122"/>
              </a:rPr>
              <a:t>例</a:t>
            </a:r>
            <a:r>
              <a:rPr kumimoji="0" lang="en-US" altLang="zh-CN" sz="2400" kern="0" dirty="0">
                <a:ea typeface="宋体" charset="-122"/>
              </a:rPr>
              <a:t>4]  </a:t>
            </a:r>
            <a:r>
              <a:rPr kumimoji="0" lang="zh-CN" altLang="en-US" sz="2400" kern="0" dirty="0">
                <a:ea typeface="宋体" charset="-122"/>
              </a:rPr>
              <a:t>列出物理系在</a:t>
            </a:r>
            <a:r>
              <a:rPr kumimoji="0" lang="en-US" altLang="zh-CN" sz="2400" kern="0" dirty="0">
                <a:ea typeface="宋体" charset="-122"/>
              </a:rPr>
              <a:t>2017</a:t>
            </a:r>
            <a:r>
              <a:rPr kumimoji="0" lang="zh-CN" altLang="en-US" sz="2400" kern="0" dirty="0">
                <a:ea typeface="宋体" charset="-122"/>
              </a:rPr>
              <a:t>年秋季所开设的所有课程段。</a:t>
            </a:r>
            <a:r>
              <a:rPr kumimoji="0" lang="zh-CN" altLang="en-US" sz="2200" kern="0" dirty="0">
                <a:solidFill>
                  <a:srgbClr val="0000FF"/>
                </a:solidFill>
                <a:ea typeface="宋体" charset="-122"/>
              </a:rPr>
              <a:t>      </a:t>
            </a:r>
            <a:endParaRPr kumimoji="0" lang="zh-CN" altLang="en-US" sz="2200" kern="0" dirty="0">
              <a:ea typeface="宋体" charset="-122"/>
            </a:endParaRPr>
          </a:p>
        </p:txBody>
      </p:sp>
      <p:sp>
        <p:nvSpPr>
          <p:cNvPr id="2" name="矩形 1"/>
          <p:cNvSpPr/>
          <p:nvPr/>
        </p:nvSpPr>
        <p:spPr>
          <a:xfrm>
            <a:off x="67340" y="5685175"/>
            <a:ext cx="9067800" cy="1015663"/>
          </a:xfrm>
          <a:prstGeom prst="rect">
            <a:avLst/>
          </a:prstGeom>
          <a:solidFill>
            <a:schemeClr val="bg1"/>
          </a:solidFill>
        </p:spPr>
        <p:txBody>
          <a:bodyPr wrap="square">
            <a:spAutoFit/>
          </a:bodyPr>
          <a:lstStyle/>
          <a:p>
            <a:pPr algn="l"/>
            <a:r>
              <a:rPr lang="zh-CN" altLang="en-US" sz="2000" dirty="0">
                <a:solidFill>
                  <a:schemeClr val="accent1">
                    <a:lumMod val="50000"/>
                  </a:schemeClr>
                </a:solidFill>
              </a:rPr>
              <a:t>course</a:t>
            </a:r>
            <a:r>
              <a:rPr lang="zh-CN" altLang="en-US" sz="2000" dirty="0"/>
              <a:t>(</a:t>
            </a:r>
            <a:r>
              <a:rPr lang="zh-CN" altLang="en-US" sz="2000" u="sng" dirty="0"/>
              <a:t>course</a:t>
            </a:r>
            <a:r>
              <a:rPr lang="en-US" altLang="zh-CN" sz="2000" u="sng" dirty="0"/>
              <a:t>_</a:t>
            </a:r>
            <a:r>
              <a:rPr lang="zh-CN" altLang="en-US" sz="2000" u="sng" dirty="0"/>
              <a:t>id</a:t>
            </a:r>
            <a:r>
              <a:rPr lang="zh-CN" altLang="en-US" sz="2000" dirty="0"/>
              <a:t>, title, </a:t>
            </a:r>
            <a:r>
              <a:rPr lang="zh-CN" altLang="en-US" sz="2000" dirty="0">
                <a:solidFill>
                  <a:srgbClr val="0000FF"/>
                </a:solidFill>
              </a:rPr>
              <a:t>dept</a:t>
            </a:r>
            <a:r>
              <a:rPr lang="en-US" altLang="zh-CN" sz="2000" dirty="0">
                <a:solidFill>
                  <a:srgbClr val="0000FF"/>
                </a:solidFill>
              </a:rPr>
              <a:t>_</a:t>
            </a:r>
            <a:r>
              <a:rPr lang="zh-CN" altLang="en-US" sz="2000" dirty="0">
                <a:solidFill>
                  <a:srgbClr val="0000FF"/>
                </a:solidFill>
              </a:rPr>
              <a:t>name</a:t>
            </a:r>
            <a:r>
              <a:rPr lang="zh-CN" altLang="en-US" sz="2000" dirty="0"/>
              <a:t>, credits)</a:t>
            </a:r>
            <a:r>
              <a:rPr lang="en-US" altLang="zh-CN" sz="2000" dirty="0"/>
              <a:t>  //</a:t>
            </a:r>
            <a:r>
              <a:rPr lang="zh-CN" altLang="en-US" sz="2000" dirty="0"/>
              <a:t>课程</a:t>
            </a:r>
            <a:endParaRPr lang="en-US" altLang="zh-CN" sz="2000" dirty="0"/>
          </a:p>
          <a:p>
            <a:pPr algn="l"/>
            <a:r>
              <a:rPr lang="zh-CN" altLang="en-US" sz="2000" dirty="0">
                <a:solidFill>
                  <a:schemeClr val="accent1">
                    <a:lumMod val="50000"/>
                  </a:schemeClr>
                </a:solidFill>
              </a:rPr>
              <a:t>section</a:t>
            </a:r>
            <a:r>
              <a:rPr lang="zh-CN" altLang="en-US" sz="2000" dirty="0"/>
              <a:t> (</a:t>
            </a:r>
            <a:r>
              <a:rPr lang="zh-CN" altLang="en-US" sz="2000" u="sng" dirty="0"/>
              <a:t>course</a:t>
            </a:r>
            <a:r>
              <a:rPr lang="en-US" altLang="zh-CN" sz="2000" u="sng" dirty="0"/>
              <a:t>_</a:t>
            </a:r>
            <a:r>
              <a:rPr lang="zh-CN" altLang="en-US" sz="2000" u="sng" dirty="0"/>
              <a:t>id</a:t>
            </a:r>
            <a:r>
              <a:rPr lang="zh-CN" altLang="en-US" sz="2000" dirty="0"/>
              <a:t>, </a:t>
            </a:r>
            <a:r>
              <a:rPr lang="zh-CN" altLang="en-US" sz="2000" u="sng" dirty="0"/>
              <a:t>sec</a:t>
            </a:r>
            <a:r>
              <a:rPr lang="en-US" altLang="zh-CN" sz="2000" u="sng" dirty="0"/>
              <a:t>_</a:t>
            </a:r>
            <a:r>
              <a:rPr lang="zh-CN" altLang="en-US" sz="2000" u="sng" dirty="0"/>
              <a:t>id</a:t>
            </a:r>
            <a:r>
              <a:rPr lang="zh-CN" altLang="en-US" sz="2000" dirty="0"/>
              <a:t>, </a:t>
            </a:r>
            <a:r>
              <a:rPr lang="zh-CN" altLang="en-US" sz="2000" u="sng" dirty="0"/>
              <a:t>semester</a:t>
            </a:r>
            <a:r>
              <a:rPr lang="zh-CN" altLang="en-US" sz="2000" dirty="0"/>
              <a:t>, </a:t>
            </a:r>
            <a:r>
              <a:rPr lang="zh-CN" altLang="en-US" sz="2000" u="sng" dirty="0"/>
              <a:t>year</a:t>
            </a:r>
            <a:r>
              <a:rPr lang="zh-CN" altLang="en-US" sz="2000" dirty="0"/>
              <a:t>, </a:t>
            </a:r>
            <a:r>
              <a:rPr lang="zh-CN" altLang="en-US" sz="2000" dirty="0">
                <a:solidFill>
                  <a:srgbClr val="0000FF"/>
                </a:solidFill>
              </a:rPr>
              <a:t>building, room number</a:t>
            </a:r>
            <a:r>
              <a:rPr lang="zh-CN" altLang="en-US" sz="2000" dirty="0"/>
              <a:t>, </a:t>
            </a:r>
            <a:r>
              <a:rPr lang="zh-CN" altLang="en-US" sz="2000" dirty="0">
                <a:solidFill>
                  <a:srgbClr val="800080"/>
                </a:solidFill>
              </a:rPr>
              <a:t>time</a:t>
            </a:r>
            <a:r>
              <a:rPr lang="en-US" altLang="zh-CN" sz="2000" dirty="0">
                <a:solidFill>
                  <a:srgbClr val="800080"/>
                </a:solidFill>
              </a:rPr>
              <a:t>_</a:t>
            </a:r>
            <a:r>
              <a:rPr lang="zh-CN" altLang="en-US" sz="2000" dirty="0">
                <a:solidFill>
                  <a:srgbClr val="800080"/>
                </a:solidFill>
              </a:rPr>
              <a:t>slot</a:t>
            </a:r>
            <a:r>
              <a:rPr lang="en-US" altLang="zh-CN" sz="2000" dirty="0">
                <a:solidFill>
                  <a:srgbClr val="800080"/>
                </a:solidFill>
              </a:rPr>
              <a:t>_</a:t>
            </a:r>
            <a:r>
              <a:rPr lang="zh-CN" altLang="en-US" sz="2000" dirty="0">
                <a:solidFill>
                  <a:srgbClr val="800080"/>
                </a:solidFill>
              </a:rPr>
              <a:t>id</a:t>
            </a:r>
            <a:r>
              <a:rPr lang="zh-CN" altLang="en-US" sz="2000" dirty="0"/>
              <a:t>)</a:t>
            </a:r>
            <a:r>
              <a:rPr lang="en-US" altLang="zh-CN" sz="2000" dirty="0"/>
              <a:t> // </a:t>
            </a:r>
            <a:r>
              <a:rPr lang="zh-CN" altLang="en-US" sz="2000" dirty="0"/>
              <a:t>课程开设情况</a:t>
            </a:r>
            <a:r>
              <a:rPr lang="en-US" altLang="zh-CN" sz="2000" dirty="0"/>
              <a:t>(</a:t>
            </a:r>
            <a:r>
              <a:rPr lang="zh-CN" altLang="en-US" sz="2000" dirty="0"/>
              <a:t>课程段</a:t>
            </a:r>
            <a:r>
              <a:rPr lang="en-US" altLang="zh-CN" sz="2000" dirty="0"/>
              <a:t>)</a:t>
            </a:r>
          </a:p>
        </p:txBody>
      </p:sp>
      <p:sp>
        <p:nvSpPr>
          <p:cNvPr id="5" name="矩形 4"/>
          <p:cNvSpPr/>
          <p:nvPr/>
        </p:nvSpPr>
        <p:spPr>
          <a:xfrm>
            <a:off x="1143000" y="2590800"/>
            <a:ext cx="8001000" cy="2677656"/>
          </a:xfrm>
          <a:prstGeom prst="rect">
            <a:avLst/>
          </a:prstGeom>
        </p:spPr>
        <p:txBody>
          <a:bodyPr wrap="square">
            <a:spAutoFit/>
          </a:bodyPr>
          <a:lstStyle/>
          <a:p>
            <a:pPr algn="l"/>
            <a:r>
              <a:rPr lang="en-US" altLang="zh-CN" dirty="0">
                <a:solidFill>
                  <a:srgbClr val="0000FF"/>
                </a:solidFill>
              </a:rPr>
              <a:t>create view </a:t>
            </a:r>
            <a:r>
              <a:rPr lang="en-US" altLang="zh-CN" dirty="0"/>
              <a:t>physics_fall_2017 </a:t>
            </a:r>
            <a:r>
              <a:rPr lang="en-US" altLang="zh-CN" dirty="0">
                <a:solidFill>
                  <a:srgbClr val="0000FF"/>
                </a:solidFill>
              </a:rPr>
              <a:t>as</a:t>
            </a:r>
          </a:p>
          <a:p>
            <a:pPr algn="l"/>
            <a:r>
              <a:rPr lang="en-US" altLang="zh-CN" dirty="0"/>
              <a:t>   select </a:t>
            </a:r>
            <a:r>
              <a:rPr lang="en-US" altLang="zh-CN" dirty="0" err="1"/>
              <a:t>course.course_id</a:t>
            </a:r>
            <a:r>
              <a:rPr lang="en-US" altLang="zh-CN" dirty="0"/>
              <a:t>, </a:t>
            </a:r>
            <a:r>
              <a:rPr lang="en-US" altLang="zh-CN" dirty="0" err="1"/>
              <a:t>sec_id</a:t>
            </a:r>
            <a:r>
              <a:rPr lang="en-US" altLang="zh-CN" dirty="0"/>
              <a:t>, building, </a:t>
            </a:r>
            <a:r>
              <a:rPr lang="en-US" altLang="zh-CN" dirty="0" err="1"/>
              <a:t>room_number</a:t>
            </a:r>
            <a:endParaRPr lang="en-US" altLang="zh-CN" dirty="0"/>
          </a:p>
          <a:p>
            <a:pPr algn="l"/>
            <a:r>
              <a:rPr lang="en-US" altLang="zh-CN" dirty="0"/>
              <a:t>   </a:t>
            </a:r>
            <a:r>
              <a:rPr lang="en-US" altLang="zh-CN" dirty="0">
                <a:solidFill>
                  <a:srgbClr val="C00000"/>
                </a:solidFill>
              </a:rPr>
              <a:t>from</a:t>
            </a:r>
            <a:r>
              <a:rPr lang="en-US" altLang="zh-CN" dirty="0"/>
              <a:t> course, section</a:t>
            </a:r>
          </a:p>
          <a:p>
            <a:pPr algn="l"/>
            <a:r>
              <a:rPr lang="en-US" altLang="zh-CN" dirty="0"/>
              <a:t>   where </a:t>
            </a:r>
            <a:r>
              <a:rPr lang="en-US" altLang="zh-CN" dirty="0" err="1">
                <a:solidFill>
                  <a:srgbClr val="006600"/>
                </a:solidFill>
              </a:rPr>
              <a:t>course.course_id</a:t>
            </a:r>
            <a:r>
              <a:rPr lang="en-US" altLang="zh-CN" dirty="0">
                <a:solidFill>
                  <a:srgbClr val="006600"/>
                </a:solidFill>
              </a:rPr>
              <a:t> = </a:t>
            </a:r>
            <a:r>
              <a:rPr lang="en-US" altLang="zh-CN" dirty="0" err="1">
                <a:solidFill>
                  <a:srgbClr val="006600"/>
                </a:solidFill>
              </a:rPr>
              <a:t>section.course_id</a:t>
            </a:r>
            <a:endParaRPr lang="en-US" altLang="zh-CN" dirty="0">
              <a:solidFill>
                <a:srgbClr val="006600"/>
              </a:solidFill>
            </a:endParaRPr>
          </a:p>
          <a:p>
            <a:pPr algn="l"/>
            <a:r>
              <a:rPr lang="en-US" altLang="zh-CN" dirty="0"/>
              <a:t>     and </a:t>
            </a:r>
            <a:r>
              <a:rPr lang="en-US" altLang="zh-CN" dirty="0" err="1"/>
              <a:t>course.dept_name</a:t>
            </a:r>
            <a:r>
              <a:rPr lang="en-US" altLang="zh-CN" dirty="0"/>
              <a:t> = 'Physics'</a:t>
            </a:r>
          </a:p>
          <a:p>
            <a:pPr algn="l"/>
            <a:r>
              <a:rPr lang="en-US" altLang="zh-CN" dirty="0"/>
              <a:t>     and </a:t>
            </a:r>
            <a:r>
              <a:rPr lang="en-US" altLang="zh-CN" dirty="0" err="1"/>
              <a:t>section.semester</a:t>
            </a:r>
            <a:r>
              <a:rPr lang="en-US" altLang="zh-CN" dirty="0"/>
              <a:t> = 'Fall'</a:t>
            </a:r>
          </a:p>
          <a:p>
            <a:pPr algn="l"/>
            <a:r>
              <a:rPr lang="en-US" altLang="zh-CN" dirty="0"/>
              <a:t>     and </a:t>
            </a:r>
            <a:r>
              <a:rPr lang="en-US" altLang="zh-CN" dirty="0" err="1"/>
              <a:t>section.year</a:t>
            </a:r>
            <a:r>
              <a:rPr lang="en-US" altLang="zh-CN" dirty="0"/>
              <a:t> = 2017;</a:t>
            </a:r>
            <a:endParaRPr lang="zh-CN" altLang="en-US" dirty="0"/>
          </a:p>
        </p:txBody>
      </p:sp>
      <p:sp>
        <p:nvSpPr>
          <p:cNvPr id="6" name="灯片编号占位符 5">
            <a:extLst>
              <a:ext uri="{FF2B5EF4-FFF2-40B4-BE49-F238E27FC236}">
                <a16:creationId xmlns:a16="http://schemas.microsoft.com/office/drawing/2014/main" id="{441D0A00-4A51-EAB0-3AA3-1F7017B73FE5}"/>
              </a:ext>
            </a:extLst>
          </p:cNvPr>
          <p:cNvSpPr>
            <a:spLocks noGrp="1"/>
          </p:cNvSpPr>
          <p:nvPr>
            <p:ph type="sldNum" sz="quarter" idx="12"/>
          </p:nvPr>
        </p:nvSpPr>
        <p:spPr/>
        <p:txBody>
          <a:bodyPr/>
          <a:lstStyle/>
          <a:p>
            <a:pPr>
              <a:defRPr/>
            </a:pPr>
            <a:fld id="{E0CD82EA-F7BE-454B-A83E-18830F6C5424}" type="slidenum">
              <a:rPr lang="en-US" altLang="zh-CN" smtClean="0"/>
              <a:pPr>
                <a:defRPr/>
              </a:pPr>
              <a:t>38</a:t>
            </a:fld>
            <a:r>
              <a:rPr lang="en-US" altLang="zh-CN"/>
              <a:t>/138</a:t>
            </a:r>
            <a:endParaRPr lang="zh-CN" altLang="en-US" dirty="0"/>
          </a:p>
        </p:txBody>
      </p:sp>
    </p:spTree>
    <p:extLst>
      <p:ext uri="{BB962C8B-B14F-4D97-AF65-F5344CB8AC3E}">
        <p14:creationId xmlns:p14="http://schemas.microsoft.com/office/powerpoint/2010/main" val="1400251139"/>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131BFB60-B39E-4F13-9FBA-60B542A008B2}" type="datetime1">
              <a:rPr kumimoji="0" lang="zh-CN" altLang="en-US" sz="1400" smtClean="0"/>
              <a:t>2025/10/15</a:t>
            </a:fld>
            <a:endParaRPr kumimoji="0" lang="en-US" altLang="zh-CN" sz="1400"/>
          </a:p>
        </p:txBody>
      </p:sp>
      <p:sp>
        <p:nvSpPr>
          <p:cNvPr id="171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71013" name="Rectangle 2"/>
          <p:cNvSpPr>
            <a:spLocks noGrp="1" noChangeArrowheads="1"/>
          </p:cNvSpPr>
          <p:nvPr>
            <p:ph type="title"/>
          </p:nvPr>
        </p:nvSpPr>
        <p:spPr/>
        <p:txBody>
          <a:bodyPr/>
          <a:lstStyle/>
          <a:p>
            <a:pPr eaLnBrk="1" hangingPunct="1"/>
            <a:r>
              <a:rPr lang="en-US" altLang="zh-CN" dirty="0"/>
              <a:t>4.2.1</a:t>
            </a:r>
            <a:r>
              <a:rPr lang="zh-CN" altLang="en-US" dirty="0"/>
              <a:t>定义视图</a:t>
            </a:r>
          </a:p>
        </p:txBody>
      </p:sp>
      <p:sp>
        <p:nvSpPr>
          <p:cNvPr id="7" name="Rectangle 3"/>
          <p:cNvSpPr txBox="1">
            <a:spLocks noChangeArrowheads="1"/>
          </p:cNvSpPr>
          <p:nvPr/>
        </p:nvSpPr>
        <p:spPr bwMode="auto">
          <a:xfrm>
            <a:off x="762000" y="14478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r>
              <a:rPr kumimoji="0" lang="zh-CN" altLang="en-US" kern="0" dirty="0">
                <a:ea typeface="宋体" charset="-122"/>
              </a:rPr>
              <a:t>带</a:t>
            </a:r>
            <a:r>
              <a:rPr kumimoji="0" lang="zh-CN" altLang="en-US" kern="0" dirty="0">
                <a:solidFill>
                  <a:srgbClr val="0000FF"/>
                </a:solidFill>
                <a:ea typeface="宋体" charset="-122"/>
              </a:rPr>
              <a:t>表达式</a:t>
            </a:r>
            <a:r>
              <a:rPr kumimoji="0" lang="zh-CN" altLang="en-US" kern="0" dirty="0">
                <a:ea typeface="宋体" charset="-122"/>
              </a:rPr>
              <a:t>的视图</a:t>
            </a:r>
          </a:p>
          <a:p>
            <a:endParaRPr kumimoji="0" lang="zh-CN" altLang="en-US" sz="1200" kern="0" dirty="0">
              <a:ea typeface="宋体" charset="-122"/>
            </a:endParaRPr>
          </a:p>
          <a:p>
            <a:pPr>
              <a:buFont typeface="Wingdings" pitchFamily="2" charset="2"/>
              <a:buNone/>
            </a:pPr>
            <a:r>
              <a:rPr kumimoji="0" lang="en-US" altLang="zh-CN" kern="0" dirty="0">
                <a:ea typeface="宋体" charset="-122"/>
              </a:rPr>
              <a:t>[</a:t>
            </a:r>
            <a:r>
              <a:rPr kumimoji="0" lang="zh-CN" altLang="en-US" kern="0" dirty="0">
                <a:ea typeface="宋体" charset="-122"/>
              </a:rPr>
              <a:t>例</a:t>
            </a:r>
            <a:r>
              <a:rPr kumimoji="0" lang="en-US" altLang="zh-CN" kern="0" dirty="0">
                <a:ea typeface="宋体" charset="-122"/>
              </a:rPr>
              <a:t>5]  </a:t>
            </a:r>
            <a:r>
              <a:rPr kumimoji="0" lang="zh-CN" altLang="en-US" kern="0" dirty="0">
                <a:ea typeface="宋体" charset="-122"/>
              </a:rPr>
              <a:t>定义一个反映学生出生年份的视图。</a:t>
            </a:r>
          </a:p>
          <a:p>
            <a:pPr lvl="1">
              <a:lnSpc>
                <a:spcPct val="130000"/>
              </a:lnSpc>
              <a:buFont typeface="Wingdings" pitchFamily="2" charset="2"/>
              <a:buNone/>
            </a:pPr>
            <a:r>
              <a:rPr kumimoji="0" lang="zh-CN" altLang="en-US" sz="2200" kern="0" dirty="0">
                <a:ea typeface="宋体" charset="-122"/>
              </a:rPr>
              <a:t>        </a:t>
            </a:r>
            <a:r>
              <a:rPr kumimoji="0" lang="en-US" altLang="zh-CN" sz="2200" kern="0" dirty="0">
                <a:solidFill>
                  <a:srgbClr val="0000FF"/>
                </a:solidFill>
                <a:ea typeface="宋体" charset="-122"/>
              </a:rPr>
              <a:t>CREATE  VIEW </a:t>
            </a:r>
            <a:r>
              <a:rPr kumimoji="0" lang="en-US" altLang="zh-CN" sz="2200" kern="0" dirty="0">
                <a:ea typeface="宋体" charset="-122"/>
              </a:rPr>
              <a:t>BT_S(</a:t>
            </a:r>
            <a:r>
              <a:rPr kumimoji="0" lang="en-US" altLang="zh-CN" sz="2200" kern="0" dirty="0" err="1">
                <a:ea typeface="宋体" charset="-122"/>
              </a:rPr>
              <a:t>Sno</a:t>
            </a:r>
            <a:r>
              <a:rPr kumimoji="0" lang="zh-CN" altLang="en-US" sz="2200" kern="0" dirty="0">
                <a:ea typeface="宋体" charset="-122"/>
              </a:rPr>
              <a:t>，</a:t>
            </a:r>
            <a:r>
              <a:rPr kumimoji="0" lang="en-US" altLang="zh-CN" sz="2200" kern="0" dirty="0" err="1">
                <a:ea typeface="宋体" charset="-122"/>
              </a:rPr>
              <a:t>Sname</a:t>
            </a:r>
            <a:r>
              <a:rPr kumimoji="0" lang="zh-CN" altLang="en-US" sz="2200" kern="0" dirty="0">
                <a:ea typeface="宋体" charset="-122"/>
              </a:rPr>
              <a:t>，</a:t>
            </a:r>
            <a:r>
              <a:rPr kumimoji="0" lang="en-US" altLang="zh-CN" sz="2200" kern="0" dirty="0" err="1">
                <a:solidFill>
                  <a:srgbClr val="FF0000"/>
                </a:solidFill>
                <a:ea typeface="宋体" charset="-122"/>
              </a:rPr>
              <a:t>Sbirth</a:t>
            </a:r>
            <a:r>
              <a:rPr kumimoji="0" lang="en-US" altLang="zh-CN" sz="2200" kern="0" dirty="0">
                <a:ea typeface="宋体" charset="-122"/>
              </a:rPr>
              <a:t>)</a:t>
            </a:r>
          </a:p>
          <a:p>
            <a:pPr lvl="1">
              <a:lnSpc>
                <a:spcPct val="130000"/>
              </a:lnSpc>
              <a:buFont typeface="Wingdings" pitchFamily="2" charset="2"/>
              <a:buNone/>
            </a:pPr>
            <a:r>
              <a:rPr kumimoji="0" lang="en-US" altLang="zh-CN" sz="2200" kern="0" dirty="0">
                <a:ea typeface="宋体" charset="-122"/>
              </a:rPr>
              <a:t>        </a:t>
            </a:r>
            <a:r>
              <a:rPr kumimoji="0" lang="en-US" altLang="zh-CN" sz="2200" kern="0" dirty="0">
                <a:solidFill>
                  <a:srgbClr val="0000FF"/>
                </a:solidFill>
                <a:ea typeface="宋体" charset="-122"/>
              </a:rPr>
              <a:t>AS </a:t>
            </a:r>
          </a:p>
          <a:p>
            <a:pPr lvl="1">
              <a:lnSpc>
                <a:spcPct val="130000"/>
              </a:lnSpc>
              <a:buFont typeface="Wingdings" pitchFamily="2" charset="2"/>
              <a:buNone/>
            </a:pPr>
            <a:r>
              <a:rPr kumimoji="0" lang="en-US" altLang="zh-CN" sz="2200" kern="0" dirty="0">
                <a:ea typeface="宋体" charset="-122"/>
              </a:rPr>
              <a:t>        SELECT Sno, </a:t>
            </a:r>
            <a:r>
              <a:rPr kumimoji="0" lang="en-US" altLang="zh-CN" sz="2200" kern="0" dirty="0" err="1">
                <a:ea typeface="宋体" charset="-122"/>
              </a:rPr>
              <a:t>Sname</a:t>
            </a:r>
            <a:r>
              <a:rPr kumimoji="0" lang="en-US" altLang="zh-CN" sz="2200" kern="0" dirty="0">
                <a:ea typeface="宋体" charset="-122"/>
              </a:rPr>
              <a:t>, </a:t>
            </a:r>
            <a:r>
              <a:rPr kumimoji="0" lang="en-US" altLang="zh-CN" sz="2200" kern="0" dirty="0">
                <a:solidFill>
                  <a:srgbClr val="FF0000"/>
                </a:solidFill>
                <a:ea typeface="宋体" charset="-122"/>
              </a:rPr>
              <a:t>2024-Sage</a:t>
            </a:r>
          </a:p>
          <a:p>
            <a:pPr lvl="1">
              <a:lnSpc>
                <a:spcPct val="130000"/>
              </a:lnSpc>
              <a:buFont typeface="Wingdings" pitchFamily="2" charset="2"/>
              <a:buNone/>
            </a:pPr>
            <a:r>
              <a:rPr kumimoji="0" lang="en-US" altLang="zh-CN" sz="2200" kern="0" dirty="0">
                <a:ea typeface="宋体" charset="-122"/>
              </a:rPr>
              <a:t>        FROM  Student;</a:t>
            </a:r>
            <a:endParaRPr kumimoji="0" lang="zh-CN" altLang="en-US" sz="2200" kern="0" dirty="0">
              <a:ea typeface="宋体" charset="-122"/>
            </a:endParaRPr>
          </a:p>
          <a:p>
            <a:pPr>
              <a:lnSpc>
                <a:spcPct val="150000"/>
              </a:lnSpc>
              <a:buFont typeface="Wingdings" pitchFamily="2" charset="2"/>
              <a:buNone/>
            </a:pPr>
            <a:endParaRPr kumimoji="0" lang="en-US" altLang="zh-CN" sz="2200" kern="0" dirty="0">
              <a:ea typeface="宋体" charset="-122"/>
            </a:endParaRPr>
          </a:p>
        </p:txBody>
      </p:sp>
      <p:sp>
        <p:nvSpPr>
          <p:cNvPr id="4" name="灯片编号占位符 3">
            <a:extLst>
              <a:ext uri="{FF2B5EF4-FFF2-40B4-BE49-F238E27FC236}">
                <a16:creationId xmlns:a16="http://schemas.microsoft.com/office/drawing/2014/main" id="{8FFC3F30-55CD-EFFD-A661-96989E352A43}"/>
              </a:ext>
            </a:extLst>
          </p:cNvPr>
          <p:cNvSpPr>
            <a:spLocks noGrp="1"/>
          </p:cNvSpPr>
          <p:nvPr>
            <p:ph type="sldNum" sz="quarter" idx="12"/>
          </p:nvPr>
        </p:nvSpPr>
        <p:spPr/>
        <p:txBody>
          <a:bodyPr/>
          <a:lstStyle/>
          <a:p>
            <a:pPr>
              <a:defRPr/>
            </a:pPr>
            <a:fld id="{E0CD82EA-F7BE-454B-A83E-18830F6C5424}" type="slidenum">
              <a:rPr lang="en-US" altLang="zh-CN" smtClean="0"/>
              <a:pPr>
                <a:defRPr/>
              </a:pPr>
              <a:t>39</a:t>
            </a:fld>
            <a:r>
              <a:rPr lang="en-US" altLang="zh-CN"/>
              <a:t>/138</a:t>
            </a:r>
            <a:endParaRPr lang="zh-CN" altLang="en-US" dirty="0"/>
          </a:p>
        </p:txBody>
      </p:sp>
    </p:spTree>
    <p:extLst>
      <p:ext uri="{BB962C8B-B14F-4D97-AF65-F5344CB8AC3E}">
        <p14:creationId xmlns:p14="http://schemas.microsoft.com/office/powerpoint/2010/main" val="2992608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 calcmode="lin" valueType="num">
                                      <p:cBhvr additive="base">
                                        <p:cTn id="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 calcmode="lin" valueType="num">
                                      <p:cBhvr additive="base">
                                        <p:cTn id="1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94C34FE6-98A4-4E9B-913F-2A42FFC06808}" type="datetime1">
              <a:rPr kumimoji="0" lang="zh-CN" altLang="en-US" sz="1400" smtClean="0"/>
              <a:t>2025/10/15</a:t>
            </a:fld>
            <a:endParaRPr kumimoji="0" lang="en-US" altLang="zh-CN" sz="1400"/>
          </a:p>
        </p:txBody>
      </p:sp>
      <p:sp>
        <p:nvSpPr>
          <p:cNvPr id="171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71013" name="Rectangle 2"/>
          <p:cNvSpPr>
            <a:spLocks noGrp="1" noChangeArrowheads="1"/>
          </p:cNvSpPr>
          <p:nvPr>
            <p:ph type="title"/>
          </p:nvPr>
        </p:nvSpPr>
        <p:spPr/>
        <p:txBody>
          <a:bodyPr/>
          <a:lstStyle/>
          <a:p>
            <a:pPr eaLnBrk="1" hangingPunct="1"/>
            <a:r>
              <a:rPr lang="en-US" altLang="zh-CN" dirty="0"/>
              <a:t>4.2.1</a:t>
            </a:r>
            <a:r>
              <a:rPr lang="zh-CN" altLang="en-US" dirty="0"/>
              <a:t>定义视图</a:t>
            </a:r>
          </a:p>
        </p:txBody>
      </p:sp>
      <p:sp>
        <p:nvSpPr>
          <p:cNvPr id="9" name="Rectangle 3"/>
          <p:cNvSpPr txBox="1">
            <a:spLocks noChangeArrowheads="1"/>
          </p:cNvSpPr>
          <p:nvPr/>
        </p:nvSpPr>
        <p:spPr bwMode="auto">
          <a:xfrm>
            <a:off x="762000" y="14478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r>
              <a:rPr kumimoji="0" lang="zh-CN" altLang="en-US" kern="0" dirty="0">
                <a:solidFill>
                  <a:srgbClr val="0000FF"/>
                </a:solidFill>
                <a:ea typeface="宋体" charset="-122"/>
              </a:rPr>
              <a:t>分组</a:t>
            </a:r>
            <a:r>
              <a:rPr kumimoji="0" lang="zh-CN" altLang="en-US" kern="0" dirty="0">
                <a:ea typeface="宋体" charset="-122"/>
              </a:rPr>
              <a:t>视图</a:t>
            </a:r>
          </a:p>
          <a:p>
            <a:endParaRPr kumimoji="0" lang="zh-CN" altLang="en-US" sz="1200" kern="0" dirty="0">
              <a:ea typeface="宋体" charset="-122"/>
            </a:endParaRPr>
          </a:p>
          <a:p>
            <a:pPr>
              <a:buFont typeface="Wingdings" pitchFamily="2" charset="2"/>
              <a:buNone/>
            </a:pPr>
            <a:r>
              <a:rPr kumimoji="0" lang="en-US" altLang="zh-CN" sz="2400" kern="0" dirty="0">
                <a:ea typeface="宋体" charset="-122"/>
              </a:rPr>
              <a:t>[</a:t>
            </a:r>
            <a:r>
              <a:rPr kumimoji="0" lang="zh-CN" altLang="en-US" sz="2400" kern="0" dirty="0">
                <a:ea typeface="宋体" charset="-122"/>
              </a:rPr>
              <a:t>例</a:t>
            </a:r>
            <a:r>
              <a:rPr kumimoji="0" lang="en-US" altLang="zh-CN" sz="2400" kern="0" dirty="0">
                <a:ea typeface="宋体" charset="-122"/>
              </a:rPr>
              <a:t>6]  </a:t>
            </a:r>
            <a:r>
              <a:rPr kumimoji="0" lang="zh-CN" altLang="en-US" sz="2400" kern="0" dirty="0">
                <a:ea typeface="宋体" charset="-122"/>
              </a:rPr>
              <a:t>将</a:t>
            </a:r>
            <a:r>
              <a:rPr kumimoji="0" lang="zh-CN" altLang="en-US" sz="2400" b="1" kern="0" dirty="0">
                <a:ea typeface="宋体" charset="-122"/>
              </a:rPr>
              <a:t>学生的学号</a:t>
            </a:r>
            <a:r>
              <a:rPr kumimoji="0" lang="zh-CN" altLang="en-US" sz="2400" kern="0" dirty="0">
                <a:ea typeface="宋体" charset="-122"/>
              </a:rPr>
              <a:t>及</a:t>
            </a:r>
            <a:r>
              <a:rPr kumimoji="0" lang="zh-CN" altLang="en-US" sz="2400" b="1" kern="0" dirty="0">
                <a:ea typeface="宋体" charset="-122"/>
              </a:rPr>
              <a:t>他的平均成绩</a:t>
            </a:r>
            <a:r>
              <a:rPr kumimoji="0" lang="zh-CN" altLang="en-US" sz="2400" kern="0" dirty="0">
                <a:ea typeface="宋体" charset="-122"/>
              </a:rPr>
              <a:t>定义为一个视图</a:t>
            </a:r>
          </a:p>
          <a:p>
            <a:pPr>
              <a:lnSpc>
                <a:spcPct val="120000"/>
              </a:lnSpc>
              <a:buFont typeface="Wingdings" pitchFamily="2" charset="2"/>
              <a:buNone/>
            </a:pPr>
            <a:r>
              <a:rPr kumimoji="0" lang="zh-CN" altLang="en-US" sz="2400" kern="0" dirty="0">
                <a:ea typeface="宋体" charset="-122"/>
              </a:rPr>
              <a:t>	       假设</a:t>
            </a:r>
            <a:r>
              <a:rPr kumimoji="0" lang="en-US" altLang="zh-CN" sz="2400" kern="0" dirty="0">
                <a:ea typeface="宋体" charset="-122"/>
              </a:rPr>
              <a:t>SC</a:t>
            </a:r>
            <a:r>
              <a:rPr kumimoji="0" lang="zh-CN" altLang="en-US" sz="2400" kern="0" dirty="0">
                <a:ea typeface="宋体" charset="-122"/>
              </a:rPr>
              <a:t>表中“成绩”列</a:t>
            </a:r>
            <a:r>
              <a:rPr kumimoji="0" lang="en-US" altLang="zh-CN" sz="2400" kern="0" dirty="0">
                <a:ea typeface="宋体" charset="-122"/>
              </a:rPr>
              <a:t>Grade</a:t>
            </a:r>
            <a:r>
              <a:rPr kumimoji="0" lang="zh-CN" altLang="en-US" sz="2400" kern="0" dirty="0">
                <a:ea typeface="宋体" charset="-122"/>
              </a:rPr>
              <a:t>为数字型</a:t>
            </a:r>
          </a:p>
          <a:p>
            <a:pPr>
              <a:lnSpc>
                <a:spcPct val="120000"/>
              </a:lnSpc>
              <a:buFont typeface="Wingdings" pitchFamily="2" charset="2"/>
              <a:buNone/>
            </a:pPr>
            <a:r>
              <a:rPr kumimoji="0" lang="zh-CN" altLang="en-US" sz="2400" kern="0" dirty="0">
                <a:ea typeface="宋体" charset="-122"/>
              </a:rPr>
              <a:t>            </a:t>
            </a:r>
            <a:r>
              <a:rPr kumimoji="0" lang="en-US" altLang="zh-CN" sz="2200" kern="0" dirty="0">
                <a:solidFill>
                  <a:srgbClr val="0000FF"/>
                </a:solidFill>
                <a:ea typeface="宋体" charset="-122"/>
              </a:rPr>
              <a:t>CREATE  VIEW </a:t>
            </a:r>
            <a:r>
              <a:rPr kumimoji="0" lang="en-US" altLang="zh-CN" sz="2200" kern="0" dirty="0">
                <a:ea typeface="宋体" charset="-122"/>
              </a:rPr>
              <a:t>S_G(</a:t>
            </a:r>
            <a:r>
              <a:rPr kumimoji="0" lang="en-US" altLang="zh-CN" sz="2200" kern="0" dirty="0" err="1">
                <a:ea typeface="宋体" charset="-122"/>
              </a:rPr>
              <a:t>Sno</a:t>
            </a:r>
            <a:r>
              <a:rPr kumimoji="0" lang="zh-CN" altLang="en-US" sz="2200" kern="0" dirty="0">
                <a:ea typeface="宋体" charset="-122"/>
              </a:rPr>
              <a:t>，</a:t>
            </a:r>
            <a:r>
              <a:rPr kumimoji="0" lang="en-US" altLang="zh-CN" sz="2200" kern="0" dirty="0" err="1">
                <a:solidFill>
                  <a:srgbClr val="C00000"/>
                </a:solidFill>
                <a:ea typeface="宋体" charset="-122"/>
              </a:rPr>
              <a:t>Gavg</a:t>
            </a:r>
            <a:r>
              <a:rPr kumimoji="0" lang="en-US" altLang="zh-CN" sz="2200" kern="0" dirty="0">
                <a:ea typeface="宋体" charset="-122"/>
              </a:rPr>
              <a:t>)</a:t>
            </a:r>
          </a:p>
          <a:p>
            <a:pPr>
              <a:lnSpc>
                <a:spcPct val="120000"/>
              </a:lnSpc>
              <a:buFont typeface="Wingdings" pitchFamily="2" charset="2"/>
              <a:buNone/>
            </a:pPr>
            <a:r>
              <a:rPr kumimoji="0" lang="en-US" altLang="zh-CN" sz="2200" kern="0" dirty="0">
                <a:ea typeface="宋体" charset="-122"/>
              </a:rPr>
              <a:t>             </a:t>
            </a:r>
            <a:r>
              <a:rPr kumimoji="0" lang="en-US" altLang="zh-CN" sz="2200" kern="0" dirty="0">
                <a:solidFill>
                  <a:srgbClr val="0000FF"/>
                </a:solidFill>
                <a:ea typeface="宋体" charset="-122"/>
              </a:rPr>
              <a:t>AS  </a:t>
            </a:r>
          </a:p>
          <a:p>
            <a:pPr>
              <a:lnSpc>
                <a:spcPct val="120000"/>
              </a:lnSpc>
              <a:buFont typeface="Wingdings" pitchFamily="2" charset="2"/>
              <a:buNone/>
            </a:pPr>
            <a:r>
              <a:rPr kumimoji="0" lang="en-US" altLang="zh-CN" sz="2200" kern="0" dirty="0">
                <a:ea typeface="宋体" charset="-122"/>
              </a:rPr>
              <a:t>             SELECT </a:t>
            </a:r>
            <a:r>
              <a:rPr kumimoji="0" lang="en-US" altLang="zh-CN" sz="2200" kern="0" dirty="0" err="1">
                <a:ea typeface="宋体" charset="-122"/>
              </a:rPr>
              <a:t>Sno</a:t>
            </a:r>
            <a:r>
              <a:rPr kumimoji="0" lang="en-US" altLang="zh-CN" sz="2200" kern="0" dirty="0">
                <a:ea typeface="宋体" charset="-122"/>
              </a:rPr>
              <a:t>, </a:t>
            </a:r>
            <a:r>
              <a:rPr kumimoji="0" lang="en-US" altLang="zh-CN" sz="2200" kern="0" dirty="0">
                <a:solidFill>
                  <a:srgbClr val="C00000"/>
                </a:solidFill>
                <a:ea typeface="宋体" charset="-122"/>
              </a:rPr>
              <a:t>AVG(Grade)</a:t>
            </a:r>
          </a:p>
          <a:p>
            <a:pPr>
              <a:lnSpc>
                <a:spcPct val="120000"/>
              </a:lnSpc>
              <a:buFont typeface="Wingdings" pitchFamily="2" charset="2"/>
              <a:buNone/>
            </a:pPr>
            <a:r>
              <a:rPr kumimoji="0" lang="en-US" altLang="zh-CN" sz="2200" kern="0" dirty="0">
                <a:ea typeface="宋体" charset="-122"/>
              </a:rPr>
              <a:t>             FROM  SC</a:t>
            </a:r>
          </a:p>
          <a:p>
            <a:pPr>
              <a:lnSpc>
                <a:spcPct val="120000"/>
              </a:lnSpc>
              <a:buFont typeface="Wingdings" pitchFamily="2" charset="2"/>
              <a:buNone/>
            </a:pPr>
            <a:r>
              <a:rPr kumimoji="0" lang="en-US" altLang="zh-CN" sz="2200" kern="0" dirty="0">
                <a:solidFill>
                  <a:srgbClr val="FF3399"/>
                </a:solidFill>
                <a:ea typeface="宋体" charset="-122"/>
              </a:rPr>
              <a:t>             </a:t>
            </a:r>
            <a:r>
              <a:rPr kumimoji="0" lang="en-US" altLang="zh-CN" sz="2200" kern="0" dirty="0">
                <a:solidFill>
                  <a:srgbClr val="006600"/>
                </a:solidFill>
                <a:ea typeface="宋体" charset="-122"/>
              </a:rPr>
              <a:t>GROUP BY </a:t>
            </a:r>
            <a:r>
              <a:rPr kumimoji="0" lang="en-US" altLang="zh-CN" sz="2200" kern="0" dirty="0" err="1">
                <a:solidFill>
                  <a:srgbClr val="006600"/>
                </a:solidFill>
                <a:ea typeface="宋体" charset="-122"/>
              </a:rPr>
              <a:t>Sno</a:t>
            </a:r>
            <a:r>
              <a:rPr kumimoji="0" lang="en-US" altLang="zh-CN" sz="2200" kern="0" dirty="0">
                <a:solidFill>
                  <a:srgbClr val="006600"/>
                </a:solidFill>
                <a:ea typeface="宋体" charset="-122"/>
              </a:rPr>
              <a:t>;</a:t>
            </a:r>
            <a:endParaRPr kumimoji="0" lang="zh-CN" altLang="en-US" sz="2200" kern="0" dirty="0">
              <a:solidFill>
                <a:srgbClr val="006600"/>
              </a:solidFill>
              <a:ea typeface="宋体" charset="-122"/>
            </a:endParaRPr>
          </a:p>
        </p:txBody>
      </p:sp>
      <p:sp>
        <p:nvSpPr>
          <p:cNvPr id="4" name="灯片编号占位符 3">
            <a:extLst>
              <a:ext uri="{FF2B5EF4-FFF2-40B4-BE49-F238E27FC236}">
                <a16:creationId xmlns:a16="http://schemas.microsoft.com/office/drawing/2014/main" id="{373A2763-DAB5-8D9A-57CD-F3A663FDE61C}"/>
              </a:ext>
            </a:extLst>
          </p:cNvPr>
          <p:cNvSpPr>
            <a:spLocks noGrp="1"/>
          </p:cNvSpPr>
          <p:nvPr>
            <p:ph type="sldNum" sz="quarter" idx="12"/>
          </p:nvPr>
        </p:nvSpPr>
        <p:spPr/>
        <p:txBody>
          <a:bodyPr/>
          <a:lstStyle/>
          <a:p>
            <a:pPr>
              <a:defRPr/>
            </a:pPr>
            <a:fld id="{E0CD82EA-F7BE-454B-A83E-18830F6C5424}" type="slidenum">
              <a:rPr lang="en-US" altLang="zh-CN" smtClean="0"/>
              <a:pPr>
                <a:defRPr/>
              </a:pPr>
              <a:t>40</a:t>
            </a:fld>
            <a:r>
              <a:rPr lang="en-US" altLang="zh-CN"/>
              <a:t>/138</a:t>
            </a:r>
            <a:endParaRPr lang="zh-CN" altLang="en-US" dirty="0"/>
          </a:p>
        </p:txBody>
      </p:sp>
    </p:spTree>
    <p:extLst>
      <p:ext uri="{BB962C8B-B14F-4D97-AF65-F5344CB8AC3E}">
        <p14:creationId xmlns:p14="http://schemas.microsoft.com/office/powerpoint/2010/main" val="39831701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anim calcmode="lin" valueType="num">
                                      <p:cBhvr additive="base">
                                        <p:cTn id="7"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xEl>
                                              <p:pRg st="5" end="5"/>
                                            </p:txEl>
                                          </p:spTgt>
                                        </p:tgtEl>
                                        <p:attrNameLst>
                                          <p:attrName>style.visibility</p:attrName>
                                        </p:attrNameLst>
                                      </p:cBhvr>
                                      <p:to>
                                        <p:strVal val="visible"/>
                                      </p:to>
                                    </p:set>
                                    <p:anim calcmode="lin" valueType="num">
                                      <p:cBhvr additive="base">
                                        <p:cTn id="11"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xEl>
                                              <p:pRg st="6" end="6"/>
                                            </p:txEl>
                                          </p:spTgt>
                                        </p:tgtEl>
                                        <p:attrNameLst>
                                          <p:attrName>style.visibility</p:attrName>
                                        </p:attrNameLst>
                                      </p:cBhvr>
                                      <p:to>
                                        <p:strVal val="visible"/>
                                      </p:to>
                                    </p:set>
                                    <p:anim calcmode="lin" valueType="num">
                                      <p:cBhvr additive="base">
                                        <p:cTn id="17"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
                                            <p:txEl>
                                              <p:pRg st="6" end="6"/>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
                                            <p:txEl>
                                              <p:pRg st="7" end="7"/>
                                            </p:txEl>
                                          </p:spTgt>
                                        </p:tgtEl>
                                        <p:attrNameLst>
                                          <p:attrName>style.visibility</p:attrName>
                                        </p:attrNameLst>
                                      </p:cBhvr>
                                      <p:to>
                                        <p:strVal val="visible"/>
                                      </p:to>
                                    </p:set>
                                    <p:anim calcmode="lin" valueType="num">
                                      <p:cBhvr additive="base">
                                        <p:cTn id="21"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9">
                                            <p:txEl>
                                              <p:pRg st="7" end="7"/>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9">
                                            <p:txEl>
                                              <p:pRg st="8" end="8"/>
                                            </p:txEl>
                                          </p:spTgt>
                                        </p:tgtEl>
                                        <p:attrNameLst>
                                          <p:attrName>style.visibility</p:attrName>
                                        </p:attrNameLst>
                                      </p:cBhvr>
                                      <p:to>
                                        <p:strVal val="visible"/>
                                      </p:to>
                                    </p:set>
                                    <p:anim calcmode="lin" valueType="num">
                                      <p:cBhvr additive="base">
                                        <p:cTn id="25"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1C8C5FD0-9D22-43E4-A999-6FC0204AABB3}" type="datetime1">
              <a:rPr kumimoji="0" lang="zh-CN" altLang="en-US" sz="1400" smtClean="0"/>
              <a:t>2025/10/15</a:t>
            </a:fld>
            <a:endParaRPr kumimoji="0" lang="en-US" altLang="zh-CN" sz="1400"/>
          </a:p>
        </p:txBody>
      </p:sp>
      <p:sp>
        <p:nvSpPr>
          <p:cNvPr id="173059"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73061" name="Rectangle 2"/>
          <p:cNvSpPr>
            <a:spLocks noGrp="1" noChangeArrowheads="1"/>
          </p:cNvSpPr>
          <p:nvPr>
            <p:ph type="title"/>
          </p:nvPr>
        </p:nvSpPr>
        <p:spPr/>
        <p:txBody>
          <a:bodyPr/>
          <a:lstStyle/>
          <a:p>
            <a:pPr eaLnBrk="1" hangingPunct="1"/>
            <a:r>
              <a:rPr lang="en-US" altLang="zh-CN" dirty="0"/>
              <a:t>4.2.1</a:t>
            </a:r>
            <a:r>
              <a:rPr lang="zh-CN" altLang="en-US" dirty="0"/>
              <a:t>定义视图</a:t>
            </a:r>
          </a:p>
        </p:txBody>
      </p:sp>
      <p:sp>
        <p:nvSpPr>
          <p:cNvPr id="173062" name="Rectangle 3"/>
          <p:cNvSpPr>
            <a:spLocks noGrp="1" noChangeArrowheads="1"/>
          </p:cNvSpPr>
          <p:nvPr>
            <p:ph type="body" idx="1"/>
          </p:nvPr>
        </p:nvSpPr>
        <p:spPr/>
        <p:txBody>
          <a:bodyPr/>
          <a:lstStyle/>
          <a:p>
            <a:pPr eaLnBrk="1" hangingPunct="1"/>
            <a:r>
              <a:rPr lang="zh-CN" altLang="en-US" dirty="0">
                <a:solidFill>
                  <a:srgbClr val="006600"/>
                </a:solidFill>
              </a:rPr>
              <a:t>行列子集视图</a:t>
            </a:r>
          </a:p>
          <a:p>
            <a:pPr lvl="1" eaLnBrk="1" hangingPunct="1"/>
            <a:r>
              <a:rPr lang="zh-CN" altLang="en-US" dirty="0"/>
              <a:t>从一个基本表中导出，只是</a:t>
            </a:r>
            <a:r>
              <a:rPr lang="zh-CN" altLang="en-US" dirty="0">
                <a:solidFill>
                  <a:srgbClr val="0000FF"/>
                </a:solidFill>
              </a:rPr>
              <a:t>去掉了某些行</a:t>
            </a:r>
            <a:r>
              <a:rPr lang="zh-CN" altLang="en-US" dirty="0"/>
              <a:t>或</a:t>
            </a:r>
            <a:r>
              <a:rPr lang="zh-CN" altLang="en-US" dirty="0">
                <a:solidFill>
                  <a:srgbClr val="0000FF"/>
                </a:solidFill>
              </a:rPr>
              <a:t>列</a:t>
            </a:r>
            <a:r>
              <a:rPr lang="en-US" altLang="zh-CN" dirty="0"/>
              <a:t>(</a:t>
            </a:r>
            <a:r>
              <a:rPr lang="zh-CN" altLang="en-US" dirty="0">
                <a:solidFill>
                  <a:srgbClr val="0000FF"/>
                </a:solidFill>
              </a:rPr>
              <a:t>保留原表的主码</a:t>
            </a:r>
            <a:r>
              <a:rPr lang="en-US" altLang="zh-CN" dirty="0"/>
              <a:t>)</a:t>
            </a:r>
            <a:r>
              <a:rPr lang="zh-CN" altLang="en-US" dirty="0"/>
              <a:t>，这样的视图称为</a:t>
            </a:r>
            <a:r>
              <a:rPr lang="zh-CN" altLang="en-US" b="1" dirty="0">
                <a:solidFill>
                  <a:srgbClr val="0000FF"/>
                </a:solidFill>
              </a:rPr>
              <a:t>行列子集</a:t>
            </a:r>
            <a:r>
              <a:rPr lang="zh-CN" altLang="en-US" dirty="0"/>
              <a:t>视图，比如例</a:t>
            </a:r>
            <a:r>
              <a:rPr lang="en-US" altLang="zh-CN" dirty="0"/>
              <a:t>1, 2</a:t>
            </a:r>
            <a:r>
              <a:rPr lang="zh-CN" altLang="en-US" dirty="0"/>
              <a:t>。</a:t>
            </a:r>
          </a:p>
          <a:p>
            <a:pPr eaLnBrk="1" hangingPunct="1"/>
            <a:r>
              <a:rPr lang="zh-CN" altLang="en-US" dirty="0">
                <a:solidFill>
                  <a:srgbClr val="006600"/>
                </a:solidFill>
              </a:rPr>
              <a:t>带表达式的视图</a:t>
            </a:r>
          </a:p>
          <a:p>
            <a:pPr lvl="1" eaLnBrk="1" hangingPunct="1"/>
            <a:r>
              <a:rPr lang="zh-CN" altLang="en-US" dirty="0"/>
              <a:t>即带</a:t>
            </a:r>
            <a:r>
              <a:rPr lang="zh-CN" altLang="en-US" b="1" dirty="0">
                <a:solidFill>
                  <a:srgbClr val="0000FF"/>
                </a:solidFill>
              </a:rPr>
              <a:t>虚拟列</a:t>
            </a:r>
            <a:r>
              <a:rPr lang="zh-CN" altLang="en-US" dirty="0"/>
              <a:t>的视图，比如例</a:t>
            </a:r>
            <a:r>
              <a:rPr lang="en-US" altLang="zh-CN" dirty="0"/>
              <a:t>5</a:t>
            </a:r>
            <a:r>
              <a:rPr lang="zh-CN" altLang="en-US" dirty="0"/>
              <a:t>。</a:t>
            </a:r>
          </a:p>
          <a:p>
            <a:pPr eaLnBrk="1" hangingPunct="1"/>
            <a:r>
              <a:rPr lang="zh-CN" altLang="en-US" dirty="0">
                <a:solidFill>
                  <a:srgbClr val="006600"/>
                </a:solidFill>
              </a:rPr>
              <a:t>分组视图</a:t>
            </a:r>
          </a:p>
          <a:p>
            <a:pPr lvl="1" eaLnBrk="1" hangingPunct="1"/>
            <a:r>
              <a:rPr lang="zh-CN" altLang="en-US" dirty="0"/>
              <a:t>子查询带</a:t>
            </a:r>
            <a:r>
              <a:rPr lang="zh-CN" altLang="en-US" b="1" dirty="0">
                <a:solidFill>
                  <a:srgbClr val="0000FF"/>
                </a:solidFill>
              </a:rPr>
              <a:t>集函数</a:t>
            </a:r>
            <a:r>
              <a:rPr lang="zh-CN" altLang="en-US" b="1" dirty="0"/>
              <a:t>和</a:t>
            </a:r>
            <a:r>
              <a:rPr lang="en-US" altLang="zh-CN" b="1" dirty="0">
                <a:solidFill>
                  <a:srgbClr val="0000FF"/>
                </a:solidFill>
              </a:rPr>
              <a:t>GROUP BY</a:t>
            </a:r>
            <a:r>
              <a:rPr lang="zh-CN" altLang="en-US" b="1" dirty="0">
                <a:solidFill>
                  <a:srgbClr val="0000FF"/>
                </a:solidFill>
              </a:rPr>
              <a:t>分组</a:t>
            </a:r>
            <a:r>
              <a:rPr lang="zh-CN" altLang="en-US" dirty="0"/>
              <a:t>的视图，比如例</a:t>
            </a:r>
            <a:r>
              <a:rPr lang="en-US" altLang="zh-CN" dirty="0"/>
              <a:t>6</a:t>
            </a:r>
            <a:r>
              <a:rPr lang="zh-CN" altLang="en-US" dirty="0"/>
              <a:t>。</a:t>
            </a:r>
          </a:p>
        </p:txBody>
      </p:sp>
      <p:sp>
        <p:nvSpPr>
          <p:cNvPr id="4" name="灯片编号占位符 3">
            <a:extLst>
              <a:ext uri="{FF2B5EF4-FFF2-40B4-BE49-F238E27FC236}">
                <a16:creationId xmlns:a16="http://schemas.microsoft.com/office/drawing/2014/main" id="{5E744C05-47CC-F00A-B633-11EBA808ED3D}"/>
              </a:ext>
            </a:extLst>
          </p:cNvPr>
          <p:cNvSpPr>
            <a:spLocks noGrp="1"/>
          </p:cNvSpPr>
          <p:nvPr>
            <p:ph type="sldNum" sz="quarter" idx="12"/>
          </p:nvPr>
        </p:nvSpPr>
        <p:spPr/>
        <p:txBody>
          <a:bodyPr/>
          <a:lstStyle/>
          <a:p>
            <a:pPr>
              <a:defRPr/>
            </a:pPr>
            <a:fld id="{E0CD82EA-F7BE-454B-A83E-18830F6C5424}" type="slidenum">
              <a:rPr lang="en-US" altLang="zh-CN" smtClean="0"/>
              <a:pPr>
                <a:defRPr/>
              </a:pPr>
              <a:t>41</a:t>
            </a:fld>
            <a:r>
              <a:rPr lang="en-US" altLang="zh-CN"/>
              <a:t>/138</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3062">
                                            <p:txEl>
                                              <p:pRg st="1" end="1"/>
                                            </p:txEl>
                                          </p:spTgt>
                                        </p:tgtEl>
                                        <p:attrNameLst>
                                          <p:attrName>style.visibility</p:attrName>
                                        </p:attrNameLst>
                                      </p:cBhvr>
                                      <p:to>
                                        <p:strVal val="visible"/>
                                      </p:to>
                                    </p:set>
                                    <p:anim calcmode="lin" valueType="num">
                                      <p:cBhvr additive="base">
                                        <p:cTn id="7" dur="500" fill="hold"/>
                                        <p:tgtEl>
                                          <p:spTgt spid="17306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30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3062">
                                            <p:txEl>
                                              <p:pRg st="2" end="2"/>
                                            </p:txEl>
                                          </p:spTgt>
                                        </p:tgtEl>
                                        <p:attrNameLst>
                                          <p:attrName>style.visibility</p:attrName>
                                        </p:attrNameLst>
                                      </p:cBhvr>
                                      <p:to>
                                        <p:strVal val="visible"/>
                                      </p:to>
                                    </p:set>
                                    <p:anim calcmode="lin" valueType="num">
                                      <p:cBhvr additive="base">
                                        <p:cTn id="13" dur="500" fill="hold"/>
                                        <p:tgtEl>
                                          <p:spTgt spid="17306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3062">
                                            <p:txEl>
                                              <p:pRg st="2" end="2"/>
                                            </p:txEl>
                                          </p:spTgt>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173062">
                                            <p:txEl>
                                              <p:pRg st="3" end="3"/>
                                            </p:txEl>
                                          </p:spTgt>
                                        </p:tgtEl>
                                        <p:attrNameLst>
                                          <p:attrName>style.visibility</p:attrName>
                                        </p:attrNameLst>
                                      </p:cBhvr>
                                      <p:to>
                                        <p:strVal val="visible"/>
                                      </p:to>
                                    </p:set>
                                    <p:anim calcmode="lin" valueType="num">
                                      <p:cBhvr additive="base">
                                        <p:cTn id="18" dur="500" fill="hold"/>
                                        <p:tgtEl>
                                          <p:spTgt spid="173062">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7306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73062">
                                            <p:txEl>
                                              <p:pRg st="4" end="4"/>
                                            </p:txEl>
                                          </p:spTgt>
                                        </p:tgtEl>
                                        <p:attrNameLst>
                                          <p:attrName>style.visibility</p:attrName>
                                        </p:attrNameLst>
                                      </p:cBhvr>
                                      <p:to>
                                        <p:strVal val="visible"/>
                                      </p:to>
                                    </p:set>
                                    <p:anim calcmode="lin" valueType="num">
                                      <p:cBhvr additive="base">
                                        <p:cTn id="24" dur="500" fill="hold"/>
                                        <p:tgtEl>
                                          <p:spTgt spid="173062">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73062">
                                            <p:txEl>
                                              <p:pRg st="4" end="4"/>
                                            </p:txEl>
                                          </p:spTgt>
                                        </p:tgtEl>
                                        <p:attrNameLst>
                                          <p:attrName>ppt_y</p:attrName>
                                        </p:attrNameLst>
                                      </p:cBhvr>
                                      <p:tavLst>
                                        <p:tav tm="0">
                                          <p:val>
                                            <p:strVal val="1+#ppt_h/2"/>
                                          </p:val>
                                        </p:tav>
                                        <p:tav tm="100000">
                                          <p:val>
                                            <p:strVal val="#ppt_y"/>
                                          </p:val>
                                        </p:tav>
                                      </p:tavLst>
                                    </p:anim>
                                  </p:childTnLst>
                                </p:cTn>
                              </p:par>
                            </p:childTnLst>
                          </p:cTn>
                        </p:par>
                        <p:par>
                          <p:cTn id="26" fill="hold">
                            <p:stCondLst>
                              <p:cond delay="500"/>
                            </p:stCondLst>
                            <p:childTnLst>
                              <p:par>
                                <p:cTn id="27" presetID="2" presetClass="entr" presetSubtype="4" fill="hold" nodeType="afterEffect">
                                  <p:stCondLst>
                                    <p:cond delay="0"/>
                                  </p:stCondLst>
                                  <p:childTnLst>
                                    <p:set>
                                      <p:cBhvr>
                                        <p:cTn id="28" dur="1" fill="hold">
                                          <p:stCondLst>
                                            <p:cond delay="0"/>
                                          </p:stCondLst>
                                        </p:cTn>
                                        <p:tgtEl>
                                          <p:spTgt spid="173062">
                                            <p:txEl>
                                              <p:pRg st="5" end="5"/>
                                            </p:txEl>
                                          </p:spTgt>
                                        </p:tgtEl>
                                        <p:attrNameLst>
                                          <p:attrName>style.visibility</p:attrName>
                                        </p:attrNameLst>
                                      </p:cBhvr>
                                      <p:to>
                                        <p:strVal val="visible"/>
                                      </p:to>
                                    </p:set>
                                    <p:anim calcmode="lin" valueType="num">
                                      <p:cBhvr additive="base">
                                        <p:cTn id="29" dur="500" fill="hold"/>
                                        <p:tgtEl>
                                          <p:spTgt spid="173062">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7306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469E4EDD-1C84-488D-BC1B-CA389748A50A}" type="datetime1">
              <a:rPr kumimoji="0" lang="zh-CN" altLang="en-US" sz="1400" smtClean="0"/>
              <a:t>2025/10/15</a:t>
            </a:fld>
            <a:endParaRPr kumimoji="0" lang="en-US" altLang="zh-CN" sz="1400"/>
          </a:p>
        </p:txBody>
      </p:sp>
      <p:sp>
        <p:nvSpPr>
          <p:cNvPr id="17408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74085" name="Rectangle 2"/>
          <p:cNvSpPr>
            <a:spLocks noGrp="1" noChangeArrowheads="1"/>
          </p:cNvSpPr>
          <p:nvPr>
            <p:ph type="title"/>
          </p:nvPr>
        </p:nvSpPr>
        <p:spPr/>
        <p:txBody>
          <a:bodyPr/>
          <a:lstStyle/>
          <a:p>
            <a:pPr eaLnBrk="1" hangingPunct="1"/>
            <a:r>
              <a:rPr lang="en-US" altLang="zh-CN" dirty="0"/>
              <a:t>4.2.1</a:t>
            </a:r>
            <a:r>
              <a:rPr lang="zh-CN" altLang="en-US" dirty="0"/>
              <a:t>定义视图</a:t>
            </a:r>
          </a:p>
        </p:txBody>
      </p:sp>
      <p:sp>
        <p:nvSpPr>
          <p:cNvPr id="174086" name="Rectangle 3"/>
          <p:cNvSpPr>
            <a:spLocks noGrp="1" noChangeArrowheads="1"/>
          </p:cNvSpPr>
          <p:nvPr>
            <p:ph type="body" idx="1"/>
          </p:nvPr>
        </p:nvSpPr>
        <p:spPr>
          <a:xfrm>
            <a:off x="609600" y="1447801"/>
            <a:ext cx="8345488" cy="4038600"/>
          </a:xfrm>
        </p:spPr>
        <p:txBody>
          <a:bodyPr/>
          <a:lstStyle/>
          <a:p>
            <a:pPr eaLnBrk="1" hangingPunct="1">
              <a:buFont typeface="Wingdings" pitchFamily="2" charset="2"/>
              <a:buNone/>
            </a:pPr>
            <a:r>
              <a:rPr lang="zh-CN" altLang="en-US" dirty="0"/>
              <a:t>二、删除视图</a:t>
            </a:r>
          </a:p>
          <a:p>
            <a:pPr eaLnBrk="1" hangingPunct="1"/>
            <a:r>
              <a:rPr lang="zh-CN" altLang="en-US" dirty="0"/>
              <a:t>删除视图的定义 </a:t>
            </a:r>
            <a:r>
              <a:rPr lang="en-US" altLang="zh-CN" dirty="0">
                <a:solidFill>
                  <a:srgbClr val="0000FF"/>
                </a:solidFill>
              </a:rPr>
              <a:t>DROP VIEW</a:t>
            </a:r>
            <a:r>
              <a:rPr lang="zh-CN" altLang="en-US" dirty="0"/>
              <a:t>语句</a:t>
            </a:r>
          </a:p>
          <a:p>
            <a:pPr eaLnBrk="1" hangingPunct="1"/>
            <a:r>
              <a:rPr lang="zh-CN" altLang="en-US" dirty="0"/>
              <a:t>格式</a:t>
            </a:r>
            <a:br>
              <a:rPr lang="zh-CN" altLang="en-US" dirty="0"/>
            </a:br>
            <a:r>
              <a:rPr lang="en-US" altLang="zh-CN" sz="2600" dirty="0">
                <a:solidFill>
                  <a:srgbClr val="FF0000"/>
                </a:solidFill>
              </a:rPr>
              <a:t>DROP VIEW</a:t>
            </a:r>
            <a:r>
              <a:rPr lang="en-US" altLang="zh-CN" sz="2600" dirty="0"/>
              <a:t> &lt;</a:t>
            </a:r>
            <a:r>
              <a:rPr lang="zh-CN" altLang="en-US" sz="2600" dirty="0"/>
              <a:t>视图名</a:t>
            </a:r>
            <a:r>
              <a:rPr lang="en-US" altLang="zh-CN" sz="2600" dirty="0"/>
              <a:t>&gt; [CASCADE|RESTRICT];</a:t>
            </a:r>
          </a:p>
          <a:p>
            <a:pPr lvl="1" eaLnBrk="1" hangingPunct="1"/>
            <a:r>
              <a:rPr lang="en-US" altLang="zh-CN" dirty="0"/>
              <a:t>CASCADE </a:t>
            </a:r>
            <a:r>
              <a:rPr lang="zh-CN" altLang="en-US" dirty="0"/>
              <a:t>级联删除  </a:t>
            </a:r>
          </a:p>
          <a:p>
            <a:pPr lvl="1" eaLnBrk="1" hangingPunct="1"/>
            <a:r>
              <a:rPr lang="en-US" altLang="zh-CN" dirty="0"/>
              <a:t>RESTRICT </a:t>
            </a:r>
            <a:r>
              <a:rPr lang="zh-CN" altLang="en-US" dirty="0"/>
              <a:t>受限删除 </a:t>
            </a:r>
            <a:r>
              <a:rPr lang="zh-CN" altLang="en-US" dirty="0">
                <a:solidFill>
                  <a:srgbClr val="0000FF"/>
                </a:solidFill>
              </a:rPr>
              <a:t>默认</a:t>
            </a:r>
          </a:p>
          <a:p>
            <a:pPr eaLnBrk="1" hangingPunct="1"/>
            <a:r>
              <a:rPr lang="zh-CN" altLang="en-US" dirty="0">
                <a:solidFill>
                  <a:srgbClr val="0000FF"/>
                </a:solidFill>
              </a:rPr>
              <a:t>不会</a:t>
            </a:r>
            <a:r>
              <a:rPr lang="zh-CN" altLang="en-US" dirty="0"/>
              <a:t>影响定义视图的</a:t>
            </a:r>
            <a:r>
              <a:rPr lang="zh-CN" altLang="en-US" dirty="0">
                <a:solidFill>
                  <a:srgbClr val="0000FF"/>
                </a:solidFill>
              </a:rPr>
              <a:t>基本表</a:t>
            </a:r>
            <a:r>
              <a:rPr lang="zh-CN" altLang="en-US" dirty="0"/>
              <a:t>的</a:t>
            </a:r>
            <a:r>
              <a:rPr lang="zh-CN" altLang="en-US" dirty="0">
                <a:solidFill>
                  <a:srgbClr val="0000FF"/>
                </a:solidFill>
              </a:rPr>
              <a:t>数据和定义</a:t>
            </a:r>
            <a:r>
              <a:rPr lang="zh-CN" altLang="en-US" dirty="0"/>
              <a:t>。</a:t>
            </a:r>
          </a:p>
          <a:p>
            <a:pPr eaLnBrk="1" hangingPunct="1">
              <a:buFont typeface="Wingdings" pitchFamily="2" charset="2"/>
              <a:buNone/>
            </a:pPr>
            <a:endParaRPr lang="zh-CN" altLang="en-US" dirty="0"/>
          </a:p>
        </p:txBody>
      </p:sp>
      <p:sp>
        <p:nvSpPr>
          <p:cNvPr id="4" name="灯片编号占位符 3">
            <a:extLst>
              <a:ext uri="{FF2B5EF4-FFF2-40B4-BE49-F238E27FC236}">
                <a16:creationId xmlns:a16="http://schemas.microsoft.com/office/drawing/2014/main" id="{3EBF375B-203F-6F6A-63AB-793378559281}"/>
              </a:ext>
            </a:extLst>
          </p:cNvPr>
          <p:cNvSpPr>
            <a:spLocks noGrp="1"/>
          </p:cNvSpPr>
          <p:nvPr>
            <p:ph type="sldNum" sz="quarter" idx="12"/>
          </p:nvPr>
        </p:nvSpPr>
        <p:spPr/>
        <p:txBody>
          <a:bodyPr/>
          <a:lstStyle/>
          <a:p>
            <a:pPr>
              <a:defRPr/>
            </a:pPr>
            <a:fld id="{E0CD82EA-F7BE-454B-A83E-18830F6C5424}" type="slidenum">
              <a:rPr lang="en-US" altLang="zh-CN" smtClean="0"/>
              <a:pPr>
                <a:defRPr/>
              </a:pPr>
              <a:t>42</a:t>
            </a:fld>
            <a:r>
              <a:rPr lang="en-US" altLang="zh-CN"/>
              <a:t>/138</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086">
                                            <p:txEl>
                                              <p:pRg st="2" end="2"/>
                                            </p:txEl>
                                          </p:spTgt>
                                        </p:tgtEl>
                                        <p:attrNameLst>
                                          <p:attrName>style.visibility</p:attrName>
                                        </p:attrNameLst>
                                      </p:cBhvr>
                                      <p:to>
                                        <p:strVal val="visible"/>
                                      </p:to>
                                    </p:set>
                                    <p:anim calcmode="lin" valueType="num">
                                      <p:cBhvr additive="base">
                                        <p:cTn id="7" dur="500" fill="hold"/>
                                        <p:tgtEl>
                                          <p:spTgt spid="17408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086">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4086">
                                            <p:txEl>
                                              <p:pRg st="3" end="3"/>
                                            </p:txEl>
                                          </p:spTgt>
                                        </p:tgtEl>
                                        <p:attrNameLst>
                                          <p:attrName>style.visibility</p:attrName>
                                        </p:attrNameLst>
                                      </p:cBhvr>
                                      <p:to>
                                        <p:strVal val="visible"/>
                                      </p:to>
                                    </p:set>
                                    <p:anim calcmode="lin" valueType="num">
                                      <p:cBhvr additive="base">
                                        <p:cTn id="11" dur="500" fill="hold"/>
                                        <p:tgtEl>
                                          <p:spTgt spid="174086">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4086">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4086">
                                            <p:txEl>
                                              <p:pRg st="4" end="4"/>
                                            </p:txEl>
                                          </p:spTgt>
                                        </p:tgtEl>
                                        <p:attrNameLst>
                                          <p:attrName>style.visibility</p:attrName>
                                        </p:attrNameLst>
                                      </p:cBhvr>
                                      <p:to>
                                        <p:strVal val="visible"/>
                                      </p:to>
                                    </p:set>
                                    <p:anim calcmode="lin" valueType="num">
                                      <p:cBhvr additive="base">
                                        <p:cTn id="15" dur="500" fill="hold"/>
                                        <p:tgtEl>
                                          <p:spTgt spid="174086">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7408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74086">
                                            <p:txEl>
                                              <p:pRg st="5" end="5"/>
                                            </p:txEl>
                                          </p:spTgt>
                                        </p:tgtEl>
                                        <p:attrNameLst>
                                          <p:attrName>style.visibility</p:attrName>
                                        </p:attrNameLst>
                                      </p:cBhvr>
                                      <p:to>
                                        <p:strVal val="visible"/>
                                      </p:to>
                                    </p:set>
                                    <p:anim calcmode="lin" valueType="num">
                                      <p:cBhvr additive="base">
                                        <p:cTn id="21" dur="500" fill="hold"/>
                                        <p:tgtEl>
                                          <p:spTgt spid="174086">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7408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6BEB1DE3-B693-4A9F-9849-74F9DAFB69E1}" type="datetime1">
              <a:rPr kumimoji="0" lang="zh-CN" altLang="en-US" sz="1400" smtClean="0"/>
              <a:t>2025/10/15</a:t>
            </a:fld>
            <a:endParaRPr kumimoji="0" lang="en-US" altLang="zh-CN" sz="1400"/>
          </a:p>
        </p:txBody>
      </p:sp>
      <p:sp>
        <p:nvSpPr>
          <p:cNvPr id="175107"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75109" name="Rectangle 2"/>
          <p:cNvSpPr>
            <a:spLocks noGrp="1" noChangeArrowheads="1"/>
          </p:cNvSpPr>
          <p:nvPr>
            <p:ph type="title"/>
          </p:nvPr>
        </p:nvSpPr>
        <p:spPr/>
        <p:txBody>
          <a:bodyPr/>
          <a:lstStyle/>
          <a:p>
            <a:pPr eaLnBrk="1" hangingPunct="1"/>
            <a:r>
              <a:rPr lang="en-US" altLang="zh-CN" dirty="0"/>
              <a:t>4.2.1</a:t>
            </a:r>
            <a:r>
              <a:rPr lang="zh-CN" altLang="en-US" dirty="0"/>
              <a:t>定义视图</a:t>
            </a:r>
          </a:p>
        </p:txBody>
      </p:sp>
      <p:sp>
        <p:nvSpPr>
          <p:cNvPr id="175110" name="Rectangle 3"/>
          <p:cNvSpPr>
            <a:spLocks noGrp="1" noChangeArrowheads="1"/>
          </p:cNvSpPr>
          <p:nvPr>
            <p:ph type="body" idx="1"/>
          </p:nvPr>
        </p:nvSpPr>
        <p:spPr/>
        <p:txBody>
          <a:bodyPr/>
          <a:lstStyle/>
          <a:p>
            <a:pPr eaLnBrk="1" hangingPunct="1"/>
            <a:r>
              <a:rPr lang="zh-CN" altLang="en-US" dirty="0"/>
              <a:t>例</a:t>
            </a:r>
            <a:r>
              <a:rPr lang="en-US" altLang="zh-CN" dirty="0"/>
              <a:t>8 </a:t>
            </a:r>
            <a:r>
              <a:rPr lang="zh-CN" altLang="en-US" dirty="0"/>
              <a:t>删除视图</a:t>
            </a:r>
            <a:r>
              <a:rPr lang="en-US" altLang="zh-CN" dirty="0"/>
              <a:t>IS_S1</a:t>
            </a:r>
            <a:r>
              <a:rPr lang="zh-CN" altLang="en-US" dirty="0">
                <a:solidFill>
                  <a:srgbClr val="C00000"/>
                </a:solidFill>
              </a:rPr>
              <a:t>及其导出</a:t>
            </a:r>
            <a:r>
              <a:rPr lang="zh-CN" altLang="en-US" dirty="0"/>
              <a:t>的所有视图</a:t>
            </a:r>
          </a:p>
          <a:p>
            <a:pPr eaLnBrk="1" hangingPunct="1">
              <a:buFont typeface="Wingdings" pitchFamily="2" charset="2"/>
              <a:buNone/>
            </a:pPr>
            <a:r>
              <a:rPr lang="en-US" altLang="zh-CN" dirty="0">
                <a:solidFill>
                  <a:srgbClr val="000080"/>
                </a:solidFill>
              </a:rPr>
              <a:t>	DROP VIEW IS_S1 </a:t>
            </a:r>
            <a:r>
              <a:rPr lang="en-US" altLang="zh-CN" dirty="0">
                <a:solidFill>
                  <a:srgbClr val="C00000"/>
                </a:solidFill>
              </a:rPr>
              <a:t>CASCADE</a:t>
            </a:r>
            <a:r>
              <a:rPr lang="en-US" altLang="zh-CN" dirty="0">
                <a:solidFill>
                  <a:srgbClr val="000080"/>
                </a:solidFill>
              </a:rPr>
              <a:t>;</a:t>
            </a:r>
          </a:p>
          <a:p>
            <a:pPr eaLnBrk="1" hangingPunct="1"/>
            <a:endParaRPr lang="zh-CN" altLang="en-US" dirty="0"/>
          </a:p>
        </p:txBody>
      </p:sp>
      <p:sp>
        <p:nvSpPr>
          <p:cNvPr id="4" name="灯片编号占位符 3">
            <a:extLst>
              <a:ext uri="{FF2B5EF4-FFF2-40B4-BE49-F238E27FC236}">
                <a16:creationId xmlns:a16="http://schemas.microsoft.com/office/drawing/2014/main" id="{62B7CB33-B9CB-0FD4-D1D0-058C9861559F}"/>
              </a:ext>
            </a:extLst>
          </p:cNvPr>
          <p:cNvSpPr>
            <a:spLocks noGrp="1"/>
          </p:cNvSpPr>
          <p:nvPr>
            <p:ph type="sldNum" sz="quarter" idx="12"/>
          </p:nvPr>
        </p:nvSpPr>
        <p:spPr/>
        <p:txBody>
          <a:bodyPr/>
          <a:lstStyle/>
          <a:p>
            <a:pPr>
              <a:defRPr/>
            </a:pPr>
            <a:fld id="{E0CD82EA-F7BE-454B-A83E-18830F6C5424}" type="slidenum">
              <a:rPr lang="en-US" altLang="zh-CN" smtClean="0"/>
              <a:pPr>
                <a:defRPr/>
              </a:pPr>
              <a:t>43</a:t>
            </a:fld>
            <a:r>
              <a:rPr lang="en-US" altLang="zh-CN"/>
              <a:t>/138</a:t>
            </a:r>
            <a:endParaRPr lang="zh-CN" altLang="en-US" dirty="0"/>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EAD739B0-8D9D-4C11-89B0-8ACE7ADABDB0}" type="datetime1">
              <a:rPr kumimoji="0" lang="zh-CN" altLang="en-US" sz="1400" smtClean="0"/>
              <a:t>2025/10/15</a:t>
            </a:fld>
            <a:endParaRPr kumimoji="0" lang="en-US" altLang="zh-CN" sz="1400"/>
          </a:p>
        </p:txBody>
      </p:sp>
      <p:sp>
        <p:nvSpPr>
          <p:cNvPr id="17613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76133" name="Rectangle 2"/>
          <p:cNvSpPr>
            <a:spLocks noGrp="1" noChangeArrowheads="1"/>
          </p:cNvSpPr>
          <p:nvPr>
            <p:ph type="title"/>
          </p:nvPr>
        </p:nvSpPr>
        <p:spPr/>
        <p:txBody>
          <a:bodyPr/>
          <a:lstStyle/>
          <a:p>
            <a:pPr eaLnBrk="1" hangingPunct="1"/>
            <a:r>
              <a:rPr lang="zh-CN" altLang="en-US"/>
              <a:t>补充 删除基本表对视图的影响</a:t>
            </a:r>
          </a:p>
        </p:txBody>
      </p:sp>
      <p:sp>
        <p:nvSpPr>
          <p:cNvPr id="176134" name="Rectangle 3"/>
          <p:cNvSpPr>
            <a:spLocks noGrp="1" noChangeArrowheads="1"/>
          </p:cNvSpPr>
          <p:nvPr>
            <p:ph type="body" idx="1"/>
          </p:nvPr>
        </p:nvSpPr>
        <p:spPr/>
        <p:txBody>
          <a:bodyPr/>
          <a:lstStyle/>
          <a:p>
            <a:pPr eaLnBrk="1" hangingPunct="1"/>
            <a:endParaRPr lang="zh-CN" altLang="en-US"/>
          </a:p>
        </p:txBody>
      </p:sp>
      <p:pic>
        <p:nvPicPr>
          <p:cNvPr id="176135"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1676400"/>
            <a:ext cx="87630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bwMode="auto">
          <a:xfrm>
            <a:off x="1143000" y="1905000"/>
            <a:ext cx="2133600" cy="45719"/>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sp>
        <p:nvSpPr>
          <p:cNvPr id="5" name="灯片编号占位符 4">
            <a:extLst>
              <a:ext uri="{FF2B5EF4-FFF2-40B4-BE49-F238E27FC236}">
                <a16:creationId xmlns:a16="http://schemas.microsoft.com/office/drawing/2014/main" id="{B33BDB22-0256-A9FF-C9C8-E383D0BA76C3}"/>
              </a:ext>
            </a:extLst>
          </p:cNvPr>
          <p:cNvSpPr>
            <a:spLocks noGrp="1"/>
          </p:cNvSpPr>
          <p:nvPr>
            <p:ph type="sldNum" sz="quarter" idx="12"/>
          </p:nvPr>
        </p:nvSpPr>
        <p:spPr/>
        <p:txBody>
          <a:bodyPr/>
          <a:lstStyle/>
          <a:p>
            <a:pPr>
              <a:defRPr/>
            </a:pPr>
            <a:fld id="{E0CD82EA-F7BE-454B-A83E-18830F6C5424}" type="slidenum">
              <a:rPr lang="en-US" altLang="zh-CN" smtClean="0"/>
              <a:pPr>
                <a:defRPr/>
              </a:pPr>
              <a:t>44</a:t>
            </a:fld>
            <a:r>
              <a:rPr lang="en-US" altLang="zh-CN"/>
              <a:t>/138</a:t>
            </a:r>
            <a:endParaRPr lang="zh-CN" altLang="en-US" dirty="0"/>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84AF9117-8DB2-4740-8DD8-CA163B481A26}" type="datetime1">
              <a:rPr kumimoji="0" lang="zh-CN" altLang="en-US" sz="1400" smtClean="0"/>
              <a:t>2025/10/15</a:t>
            </a:fld>
            <a:endParaRPr kumimoji="0" lang="en-US" altLang="zh-CN" sz="1400"/>
          </a:p>
        </p:txBody>
      </p:sp>
      <p:sp>
        <p:nvSpPr>
          <p:cNvPr id="177155"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77157" name="Rectangle 2"/>
          <p:cNvSpPr>
            <a:spLocks noGrp="1" noChangeArrowheads="1"/>
          </p:cNvSpPr>
          <p:nvPr>
            <p:ph type="title"/>
          </p:nvPr>
        </p:nvSpPr>
        <p:spPr/>
        <p:txBody>
          <a:bodyPr/>
          <a:lstStyle/>
          <a:p>
            <a:pPr eaLnBrk="1" hangingPunct="1"/>
            <a:r>
              <a:rPr lang="zh-CN" altLang="en-US"/>
              <a:t>补充 删除基本表对视图的影响</a:t>
            </a:r>
          </a:p>
        </p:txBody>
      </p:sp>
      <p:sp>
        <p:nvSpPr>
          <p:cNvPr id="177158" name="Rectangle 3"/>
          <p:cNvSpPr>
            <a:spLocks noGrp="1" noChangeArrowheads="1"/>
          </p:cNvSpPr>
          <p:nvPr>
            <p:ph type="body" idx="1"/>
          </p:nvPr>
        </p:nvSpPr>
        <p:spPr/>
        <p:txBody>
          <a:bodyPr/>
          <a:lstStyle/>
          <a:p>
            <a:pPr eaLnBrk="1" hangingPunct="1"/>
            <a:endParaRPr lang="zh-CN" altLang="en-US"/>
          </a:p>
        </p:txBody>
      </p:sp>
      <p:pic>
        <p:nvPicPr>
          <p:cNvPr id="177159"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1676400"/>
            <a:ext cx="86868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bwMode="auto">
          <a:xfrm>
            <a:off x="228600" y="2438400"/>
            <a:ext cx="8610600" cy="533400"/>
          </a:xfrm>
          <a:prstGeom prst="rect">
            <a:avLst/>
          </a:prstGeom>
          <a:noFill/>
          <a:ln w="31750">
            <a:solidFill>
              <a:srgbClr val="FF000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sp>
        <p:nvSpPr>
          <p:cNvPr id="3" name="矩形 2"/>
          <p:cNvSpPr/>
          <p:nvPr/>
        </p:nvSpPr>
        <p:spPr bwMode="auto">
          <a:xfrm>
            <a:off x="1371600" y="1905000"/>
            <a:ext cx="2209800" cy="45719"/>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sp>
        <p:nvSpPr>
          <p:cNvPr id="6" name="灯片编号占位符 5">
            <a:extLst>
              <a:ext uri="{FF2B5EF4-FFF2-40B4-BE49-F238E27FC236}">
                <a16:creationId xmlns:a16="http://schemas.microsoft.com/office/drawing/2014/main" id="{6A3B7633-79AA-C37D-28B8-8BEA7C8917C2}"/>
              </a:ext>
            </a:extLst>
          </p:cNvPr>
          <p:cNvSpPr>
            <a:spLocks noGrp="1"/>
          </p:cNvSpPr>
          <p:nvPr>
            <p:ph type="sldNum" sz="quarter" idx="12"/>
          </p:nvPr>
        </p:nvSpPr>
        <p:spPr/>
        <p:txBody>
          <a:bodyPr/>
          <a:lstStyle/>
          <a:p>
            <a:pPr>
              <a:defRPr/>
            </a:pPr>
            <a:fld id="{E0CD82EA-F7BE-454B-A83E-18830F6C5424}" type="slidenum">
              <a:rPr lang="en-US" altLang="zh-CN" smtClean="0"/>
              <a:pPr>
                <a:defRPr/>
              </a:pPr>
              <a:t>45</a:t>
            </a:fld>
            <a:r>
              <a:rPr lang="en-US" altLang="zh-CN"/>
              <a:t>/138</a:t>
            </a:r>
            <a:endParaRPr lang="zh-CN" altLang="en-US" dirty="0"/>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FFD9F888-09B1-470B-BF4F-C89AA746AD6E}" type="datetime1">
              <a:rPr kumimoji="0" lang="zh-CN" altLang="en-US" sz="1400" smtClean="0"/>
              <a:t>2025/10/15</a:t>
            </a:fld>
            <a:endParaRPr kumimoji="0" lang="en-US" altLang="zh-CN" sz="1400"/>
          </a:p>
        </p:txBody>
      </p:sp>
      <p:sp>
        <p:nvSpPr>
          <p:cNvPr id="178179"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78181" name="Rectangle 2"/>
          <p:cNvSpPr>
            <a:spLocks noGrp="1" noChangeArrowheads="1"/>
          </p:cNvSpPr>
          <p:nvPr>
            <p:ph type="title"/>
          </p:nvPr>
        </p:nvSpPr>
        <p:spPr/>
        <p:txBody>
          <a:bodyPr/>
          <a:lstStyle/>
          <a:p>
            <a:pPr eaLnBrk="1" hangingPunct="1"/>
            <a:r>
              <a:rPr lang="zh-CN" altLang="en-US"/>
              <a:t>补充 删除基本表对视图的影响</a:t>
            </a:r>
          </a:p>
        </p:txBody>
      </p:sp>
      <p:sp>
        <p:nvSpPr>
          <p:cNvPr id="178182" name="Rectangle 3"/>
          <p:cNvSpPr>
            <a:spLocks noGrp="1" noChangeArrowheads="1"/>
          </p:cNvSpPr>
          <p:nvPr>
            <p:ph type="body" idx="1"/>
          </p:nvPr>
        </p:nvSpPr>
        <p:spPr/>
        <p:txBody>
          <a:bodyPr/>
          <a:lstStyle/>
          <a:p>
            <a:pPr eaLnBrk="1" hangingPunct="1"/>
            <a:endParaRPr lang="zh-CN" altLang="en-US"/>
          </a:p>
        </p:txBody>
      </p:sp>
      <p:pic>
        <p:nvPicPr>
          <p:cNvPr id="178183"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727200"/>
            <a:ext cx="8839200"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bwMode="auto">
          <a:xfrm>
            <a:off x="4267200" y="1828800"/>
            <a:ext cx="1066800" cy="228600"/>
          </a:xfrm>
          <a:prstGeom prst="rect">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sp>
        <p:nvSpPr>
          <p:cNvPr id="9" name="矩形 8"/>
          <p:cNvSpPr/>
          <p:nvPr/>
        </p:nvSpPr>
        <p:spPr bwMode="auto">
          <a:xfrm>
            <a:off x="6324600" y="2057400"/>
            <a:ext cx="2362200" cy="304800"/>
          </a:xfrm>
          <a:prstGeom prst="rect">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sp>
        <p:nvSpPr>
          <p:cNvPr id="10" name="矩形 9"/>
          <p:cNvSpPr/>
          <p:nvPr/>
        </p:nvSpPr>
        <p:spPr bwMode="auto">
          <a:xfrm>
            <a:off x="152400" y="3200400"/>
            <a:ext cx="2971800" cy="381000"/>
          </a:xfrm>
          <a:prstGeom prst="rect">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sp>
        <p:nvSpPr>
          <p:cNvPr id="4" name="灯片编号占位符 3">
            <a:extLst>
              <a:ext uri="{FF2B5EF4-FFF2-40B4-BE49-F238E27FC236}">
                <a16:creationId xmlns:a16="http://schemas.microsoft.com/office/drawing/2014/main" id="{E8AF6C7A-E610-41FA-F063-1FE7967C45C5}"/>
              </a:ext>
            </a:extLst>
          </p:cNvPr>
          <p:cNvSpPr>
            <a:spLocks noGrp="1"/>
          </p:cNvSpPr>
          <p:nvPr>
            <p:ph type="sldNum" sz="quarter" idx="12"/>
          </p:nvPr>
        </p:nvSpPr>
        <p:spPr/>
        <p:txBody>
          <a:bodyPr/>
          <a:lstStyle/>
          <a:p>
            <a:pPr>
              <a:defRPr/>
            </a:pPr>
            <a:fld id="{E0CD82EA-F7BE-454B-A83E-18830F6C5424}" type="slidenum">
              <a:rPr lang="en-US" altLang="zh-CN" smtClean="0"/>
              <a:pPr>
                <a:defRPr/>
              </a:pPr>
              <a:t>46</a:t>
            </a:fld>
            <a:r>
              <a:rPr lang="en-US" altLang="zh-CN"/>
              <a:t>/138</a:t>
            </a:r>
            <a:endParaRPr lang="zh-CN" altLang="en-US" dirty="0"/>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466658D6-2AD1-412A-A1A2-65FE56F78FB7}" type="datetime1">
              <a:rPr kumimoji="0" lang="zh-CN" altLang="en-US" sz="1400" smtClean="0"/>
              <a:t>2025/10/15</a:t>
            </a:fld>
            <a:endParaRPr kumimoji="0" lang="en-US" altLang="zh-CN" sz="1400"/>
          </a:p>
        </p:txBody>
      </p:sp>
      <p:sp>
        <p:nvSpPr>
          <p:cNvPr id="17920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79205" name="Rectangle 2"/>
          <p:cNvSpPr>
            <a:spLocks noGrp="1" noChangeArrowheads="1"/>
          </p:cNvSpPr>
          <p:nvPr>
            <p:ph type="title"/>
          </p:nvPr>
        </p:nvSpPr>
        <p:spPr/>
        <p:txBody>
          <a:bodyPr/>
          <a:lstStyle/>
          <a:p>
            <a:pPr eaLnBrk="1" hangingPunct="1"/>
            <a:r>
              <a:rPr lang="en-US" altLang="zh-CN" dirty="0"/>
              <a:t>4.2.2 </a:t>
            </a:r>
            <a:r>
              <a:rPr lang="zh-CN" altLang="en-US" dirty="0"/>
              <a:t>查询视图</a:t>
            </a:r>
          </a:p>
        </p:txBody>
      </p:sp>
      <p:sp>
        <p:nvSpPr>
          <p:cNvPr id="179206" name="Rectangle 3"/>
          <p:cNvSpPr>
            <a:spLocks noGrp="1" noChangeArrowheads="1"/>
          </p:cNvSpPr>
          <p:nvPr>
            <p:ph type="body" idx="1"/>
          </p:nvPr>
        </p:nvSpPr>
        <p:spPr/>
        <p:txBody>
          <a:bodyPr/>
          <a:lstStyle/>
          <a:p>
            <a:pPr eaLnBrk="1" hangingPunct="1"/>
            <a:r>
              <a:rPr lang="en-US" altLang="zh-CN" dirty="0"/>
              <a:t>DBMS</a:t>
            </a:r>
            <a:r>
              <a:rPr lang="zh-CN" altLang="en-US" dirty="0"/>
              <a:t>执行对</a:t>
            </a:r>
            <a:r>
              <a:rPr lang="zh-CN" altLang="en-US" dirty="0">
                <a:solidFill>
                  <a:srgbClr val="0000FF"/>
                </a:solidFill>
              </a:rPr>
              <a:t>视图的查询</a:t>
            </a:r>
            <a:r>
              <a:rPr lang="zh-CN" altLang="en-US" dirty="0"/>
              <a:t>转换成对</a:t>
            </a:r>
            <a:r>
              <a:rPr lang="zh-CN" altLang="en-US" dirty="0">
                <a:solidFill>
                  <a:srgbClr val="0000FF"/>
                </a:solidFill>
              </a:rPr>
              <a:t>基本表的查询</a:t>
            </a:r>
            <a:r>
              <a:rPr lang="zh-CN" altLang="en-US" dirty="0"/>
              <a:t>。</a:t>
            </a:r>
          </a:p>
          <a:p>
            <a:pPr eaLnBrk="1" hangingPunct="1"/>
            <a:r>
              <a:rPr lang="zh-CN" altLang="en-US" dirty="0"/>
              <a:t>将</a:t>
            </a:r>
            <a:r>
              <a:rPr lang="zh-CN" altLang="en-US" u="sng" dirty="0"/>
              <a:t>对视图的查询转换为对</a:t>
            </a:r>
            <a:r>
              <a:rPr lang="zh-CN" altLang="en-US" u="sng" dirty="0">
                <a:solidFill>
                  <a:srgbClr val="C00000"/>
                </a:solidFill>
              </a:rPr>
              <a:t>基本表的查询</a:t>
            </a:r>
            <a:r>
              <a:rPr lang="zh-CN" altLang="en-US" u="sng" dirty="0"/>
              <a:t>的过程</a:t>
            </a:r>
            <a:r>
              <a:rPr lang="zh-CN" altLang="en-US" dirty="0"/>
              <a:t>称为</a:t>
            </a:r>
            <a:r>
              <a:rPr lang="zh-CN" altLang="en-US" b="1" dirty="0">
                <a:solidFill>
                  <a:srgbClr val="0000FF"/>
                </a:solidFill>
              </a:rPr>
              <a:t>视图的消解</a:t>
            </a:r>
            <a:r>
              <a:rPr lang="zh-CN" altLang="en-US" dirty="0"/>
              <a:t>（</a:t>
            </a:r>
            <a:r>
              <a:rPr lang="en-US" altLang="zh-CN" dirty="0"/>
              <a:t>View Resolution</a:t>
            </a:r>
            <a:r>
              <a:rPr lang="zh-CN" altLang="en-US" dirty="0"/>
              <a:t>）。</a:t>
            </a:r>
          </a:p>
          <a:p>
            <a:pPr eaLnBrk="1" hangingPunct="1"/>
            <a:r>
              <a:rPr lang="zh-CN" altLang="en-US" dirty="0"/>
              <a:t>现代</a:t>
            </a:r>
            <a:r>
              <a:rPr lang="en-US" altLang="zh-CN" dirty="0"/>
              <a:t>DBMS</a:t>
            </a:r>
            <a:r>
              <a:rPr lang="zh-CN" altLang="en-US" dirty="0"/>
              <a:t>对</a:t>
            </a:r>
            <a:r>
              <a:rPr lang="zh-CN" altLang="en-US" u="sng" dirty="0"/>
              <a:t>视图的消解一般不会出错</a:t>
            </a:r>
            <a:r>
              <a:rPr lang="zh-CN" altLang="en-US" dirty="0"/>
              <a:t>。</a:t>
            </a:r>
          </a:p>
          <a:p>
            <a:pPr lvl="1" eaLnBrk="1" hangingPunct="1"/>
            <a:r>
              <a:rPr lang="zh-CN" altLang="en-US" dirty="0"/>
              <a:t>在</a:t>
            </a:r>
            <a:r>
              <a:rPr lang="zh-CN" altLang="en-US" b="1" dirty="0"/>
              <a:t>应用中</a:t>
            </a:r>
            <a:r>
              <a:rPr lang="zh-CN" altLang="en-US" dirty="0"/>
              <a:t>，对基本表的查询和对视图的查询可以不做区别。</a:t>
            </a:r>
          </a:p>
        </p:txBody>
      </p:sp>
      <p:sp>
        <p:nvSpPr>
          <p:cNvPr id="4" name="灯片编号占位符 3">
            <a:extLst>
              <a:ext uri="{FF2B5EF4-FFF2-40B4-BE49-F238E27FC236}">
                <a16:creationId xmlns:a16="http://schemas.microsoft.com/office/drawing/2014/main" id="{18CE7AE7-894A-0BAF-0E1A-DCDFB8690E16}"/>
              </a:ext>
            </a:extLst>
          </p:cNvPr>
          <p:cNvSpPr>
            <a:spLocks noGrp="1"/>
          </p:cNvSpPr>
          <p:nvPr>
            <p:ph type="sldNum" sz="quarter" idx="12"/>
          </p:nvPr>
        </p:nvSpPr>
        <p:spPr/>
        <p:txBody>
          <a:bodyPr/>
          <a:lstStyle/>
          <a:p>
            <a:pPr>
              <a:defRPr/>
            </a:pPr>
            <a:fld id="{E0CD82EA-F7BE-454B-A83E-18830F6C5424}" type="slidenum">
              <a:rPr lang="en-US" altLang="zh-CN" smtClean="0"/>
              <a:pPr>
                <a:defRPr/>
              </a:pPr>
              <a:t>47</a:t>
            </a:fld>
            <a:r>
              <a:rPr lang="en-US" altLang="zh-CN"/>
              <a:t>/138</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9206">
                                            <p:txEl>
                                              <p:pRg st="1" end="1"/>
                                            </p:txEl>
                                          </p:spTgt>
                                        </p:tgtEl>
                                        <p:attrNameLst>
                                          <p:attrName>style.visibility</p:attrName>
                                        </p:attrNameLst>
                                      </p:cBhvr>
                                      <p:to>
                                        <p:strVal val="visible"/>
                                      </p:to>
                                    </p:set>
                                    <p:anim calcmode="lin" valueType="num">
                                      <p:cBhvr additive="base">
                                        <p:cTn id="7" dur="500" fill="hold"/>
                                        <p:tgtEl>
                                          <p:spTgt spid="17920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920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9206">
                                            <p:txEl>
                                              <p:pRg st="2" end="2"/>
                                            </p:txEl>
                                          </p:spTgt>
                                        </p:tgtEl>
                                        <p:attrNameLst>
                                          <p:attrName>style.visibility</p:attrName>
                                        </p:attrNameLst>
                                      </p:cBhvr>
                                      <p:to>
                                        <p:strVal val="visible"/>
                                      </p:to>
                                    </p:set>
                                    <p:anim calcmode="lin" valueType="num">
                                      <p:cBhvr additive="base">
                                        <p:cTn id="13" dur="500" fill="hold"/>
                                        <p:tgtEl>
                                          <p:spTgt spid="17920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9206">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79206">
                                            <p:txEl>
                                              <p:pRg st="3" end="3"/>
                                            </p:txEl>
                                          </p:spTgt>
                                        </p:tgtEl>
                                        <p:attrNameLst>
                                          <p:attrName>style.visibility</p:attrName>
                                        </p:attrNameLst>
                                      </p:cBhvr>
                                      <p:to>
                                        <p:strVal val="visible"/>
                                      </p:to>
                                    </p:set>
                                    <p:anim calcmode="lin" valueType="num">
                                      <p:cBhvr additive="base">
                                        <p:cTn id="17" dur="500" fill="hold"/>
                                        <p:tgtEl>
                                          <p:spTgt spid="179206">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7920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1461BFE1-5AB1-4FBD-8642-DC5C3E4F410B}" type="datetime1">
              <a:rPr kumimoji="0" lang="zh-CN" altLang="en-US" sz="1400" smtClean="0"/>
              <a:t>2025/10/15</a:t>
            </a:fld>
            <a:endParaRPr kumimoji="0" lang="en-US" altLang="zh-CN" sz="1400"/>
          </a:p>
        </p:txBody>
      </p:sp>
      <p:sp>
        <p:nvSpPr>
          <p:cNvPr id="17920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79205" name="Rectangle 2"/>
          <p:cNvSpPr>
            <a:spLocks noGrp="1" noChangeArrowheads="1"/>
          </p:cNvSpPr>
          <p:nvPr>
            <p:ph type="title"/>
          </p:nvPr>
        </p:nvSpPr>
        <p:spPr/>
        <p:txBody>
          <a:bodyPr/>
          <a:lstStyle/>
          <a:p>
            <a:pPr eaLnBrk="1" hangingPunct="1"/>
            <a:r>
              <a:rPr lang="en-US" altLang="zh-CN" dirty="0"/>
              <a:t>4.2.2</a:t>
            </a:r>
            <a:r>
              <a:rPr lang="zh-CN" altLang="en-US" dirty="0"/>
              <a:t>查询视图</a:t>
            </a:r>
          </a:p>
        </p:txBody>
      </p:sp>
      <p:sp>
        <p:nvSpPr>
          <p:cNvPr id="8" name="Rectangle 3"/>
          <p:cNvSpPr txBox="1">
            <a:spLocks noChangeArrowheads="1"/>
          </p:cNvSpPr>
          <p:nvPr/>
        </p:nvSpPr>
        <p:spPr bwMode="auto">
          <a:xfrm>
            <a:off x="762000" y="1447800"/>
            <a:ext cx="86106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lnSpc>
                <a:spcPct val="90000"/>
              </a:lnSpc>
              <a:buFont typeface="Wingdings" pitchFamily="2" charset="2"/>
              <a:buNone/>
            </a:pPr>
            <a:r>
              <a:rPr kumimoji="0" lang="en-US" altLang="zh-CN" sz="2400" kern="0" dirty="0">
                <a:ea typeface="宋体" charset="-122"/>
              </a:rPr>
              <a:t>[</a:t>
            </a:r>
            <a:r>
              <a:rPr kumimoji="0" lang="zh-CN" altLang="en-US" sz="2400" kern="0" dirty="0">
                <a:ea typeface="宋体" charset="-122"/>
              </a:rPr>
              <a:t>例</a:t>
            </a:r>
            <a:r>
              <a:rPr kumimoji="0" lang="en-US" altLang="zh-CN" sz="2400" kern="0" dirty="0">
                <a:ea typeface="宋体" charset="-122"/>
              </a:rPr>
              <a:t>9]  </a:t>
            </a:r>
            <a:r>
              <a:rPr kumimoji="0" lang="zh-CN" altLang="en-US" sz="2400" kern="0" dirty="0">
                <a:ea typeface="宋体" charset="-122"/>
              </a:rPr>
              <a:t>在</a:t>
            </a:r>
            <a:r>
              <a:rPr kumimoji="0" lang="zh-CN" altLang="en-US" sz="2400" u="sng" kern="0" dirty="0">
                <a:ea typeface="宋体" charset="-122"/>
              </a:rPr>
              <a:t>信息系学生的</a:t>
            </a:r>
            <a:r>
              <a:rPr kumimoji="0" lang="zh-CN" altLang="en-US" sz="2400" u="sng" kern="0" dirty="0">
                <a:solidFill>
                  <a:srgbClr val="0000FF"/>
                </a:solidFill>
                <a:ea typeface="宋体" charset="-122"/>
              </a:rPr>
              <a:t>视图</a:t>
            </a:r>
            <a:r>
              <a:rPr kumimoji="0" lang="zh-CN" altLang="en-US" sz="2400" kern="0" dirty="0">
                <a:ea typeface="宋体" charset="-122"/>
              </a:rPr>
              <a:t>中找出年龄小于</a:t>
            </a:r>
            <a:r>
              <a:rPr kumimoji="0" lang="en-US" altLang="zh-CN" sz="2400" kern="0" dirty="0">
                <a:ea typeface="宋体" charset="-122"/>
              </a:rPr>
              <a:t>20</a:t>
            </a:r>
            <a:r>
              <a:rPr kumimoji="0" lang="zh-CN" altLang="en-US" sz="2400" kern="0" dirty="0">
                <a:ea typeface="宋体" charset="-122"/>
              </a:rPr>
              <a:t>岁的学生。</a:t>
            </a:r>
          </a:p>
          <a:p>
            <a:pPr lvl="1">
              <a:lnSpc>
                <a:spcPct val="90000"/>
              </a:lnSpc>
              <a:buFont typeface="Wingdings" pitchFamily="2" charset="2"/>
              <a:buNone/>
            </a:pPr>
            <a:r>
              <a:rPr kumimoji="0" lang="zh-CN" altLang="en-US" sz="2400" kern="0" dirty="0">
                <a:ea typeface="宋体" charset="-122"/>
              </a:rPr>
              <a:t>       </a:t>
            </a:r>
            <a:endParaRPr kumimoji="0" lang="en-US" altLang="zh-CN" sz="2400" kern="0" dirty="0">
              <a:ea typeface="宋体" charset="-122"/>
            </a:endParaRPr>
          </a:p>
          <a:p>
            <a:pPr lvl="1">
              <a:lnSpc>
                <a:spcPct val="90000"/>
              </a:lnSpc>
              <a:buFont typeface="Wingdings" pitchFamily="2" charset="2"/>
              <a:buNone/>
            </a:pPr>
            <a:r>
              <a:rPr kumimoji="0" lang="en-US" altLang="zh-CN" sz="2400" kern="0" dirty="0">
                <a:ea typeface="宋体" charset="-122"/>
              </a:rPr>
              <a:t>SELECT   </a:t>
            </a:r>
            <a:r>
              <a:rPr kumimoji="0" lang="en-US" altLang="zh-CN" sz="2400" kern="0" dirty="0" err="1">
                <a:ea typeface="宋体" charset="-122"/>
              </a:rPr>
              <a:t>Sno</a:t>
            </a:r>
            <a:r>
              <a:rPr kumimoji="0" lang="zh-CN" altLang="en-US" sz="2400" kern="0" dirty="0">
                <a:ea typeface="宋体" charset="-122"/>
              </a:rPr>
              <a:t>，</a:t>
            </a:r>
            <a:r>
              <a:rPr kumimoji="0" lang="en-US" altLang="zh-CN" sz="2400" kern="0" dirty="0">
                <a:ea typeface="宋体" charset="-122"/>
              </a:rPr>
              <a:t>Sage</a:t>
            </a:r>
          </a:p>
          <a:p>
            <a:pPr lvl="1">
              <a:lnSpc>
                <a:spcPct val="90000"/>
              </a:lnSpc>
              <a:buFont typeface="Wingdings" pitchFamily="2" charset="2"/>
              <a:buNone/>
            </a:pPr>
            <a:r>
              <a:rPr kumimoji="0" lang="en-US" altLang="zh-CN" sz="2400" kern="0" dirty="0">
                <a:ea typeface="宋体" charset="-122"/>
              </a:rPr>
              <a:t>FROM     </a:t>
            </a:r>
            <a:r>
              <a:rPr kumimoji="0" lang="en-US" altLang="zh-CN" sz="2400" kern="0" dirty="0" err="1">
                <a:solidFill>
                  <a:srgbClr val="006600"/>
                </a:solidFill>
                <a:ea typeface="宋体" charset="-122"/>
              </a:rPr>
              <a:t>IS_Student</a:t>
            </a:r>
            <a:endParaRPr kumimoji="0" lang="en-US" altLang="zh-CN" sz="2400" kern="0" dirty="0">
              <a:solidFill>
                <a:srgbClr val="006600"/>
              </a:solidFill>
              <a:ea typeface="宋体" charset="-122"/>
            </a:endParaRPr>
          </a:p>
          <a:p>
            <a:pPr lvl="1">
              <a:lnSpc>
                <a:spcPct val="90000"/>
              </a:lnSpc>
              <a:buFont typeface="Wingdings" pitchFamily="2" charset="2"/>
              <a:buNone/>
            </a:pPr>
            <a:r>
              <a:rPr kumimoji="0" lang="en-US" altLang="zh-CN" sz="2400" kern="0" dirty="0">
                <a:ea typeface="宋体" charset="-122"/>
              </a:rPr>
              <a:t>WHERE   </a:t>
            </a:r>
            <a:r>
              <a:rPr kumimoji="0" lang="en-US" altLang="zh-CN" sz="2400" kern="0" dirty="0">
                <a:solidFill>
                  <a:srgbClr val="FF0000"/>
                </a:solidFill>
                <a:ea typeface="宋体" charset="-122"/>
              </a:rPr>
              <a:t>Sage&lt;20</a:t>
            </a:r>
            <a:r>
              <a:rPr kumimoji="0" lang="zh-CN" altLang="en-US" sz="2400" kern="0" dirty="0">
                <a:ea typeface="宋体" charset="-122"/>
              </a:rPr>
              <a:t>；</a:t>
            </a:r>
          </a:p>
          <a:p>
            <a:pPr lvl="1">
              <a:lnSpc>
                <a:spcPct val="90000"/>
              </a:lnSpc>
              <a:buFont typeface="Wingdings" pitchFamily="2" charset="2"/>
              <a:buNone/>
            </a:pPr>
            <a:endParaRPr kumimoji="0" lang="zh-CN" altLang="en-US" sz="2400" kern="0" dirty="0">
              <a:ea typeface="宋体" charset="-122"/>
            </a:endParaRPr>
          </a:p>
        </p:txBody>
      </p:sp>
      <p:sp>
        <p:nvSpPr>
          <p:cNvPr id="9" name="Rectangle 3"/>
          <p:cNvSpPr txBox="1">
            <a:spLocks noChangeArrowheads="1"/>
          </p:cNvSpPr>
          <p:nvPr/>
        </p:nvSpPr>
        <p:spPr bwMode="auto">
          <a:xfrm>
            <a:off x="762000" y="3733800"/>
            <a:ext cx="82296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lvl="1">
              <a:lnSpc>
                <a:spcPct val="120000"/>
              </a:lnSpc>
              <a:buFont typeface="Wingdings" pitchFamily="2" charset="2"/>
              <a:buNone/>
            </a:pPr>
            <a:r>
              <a:rPr kumimoji="0" lang="zh-CN" altLang="en-US" sz="2400" b="1" kern="0" dirty="0">
                <a:effectLst>
                  <a:outerShdw blurRad="38100" dist="38100" dir="2700000" algn="tl">
                    <a:srgbClr val="000000">
                      <a:alpha val="43137"/>
                    </a:srgbClr>
                  </a:outerShdw>
                </a:effectLst>
                <a:ea typeface="宋体" charset="-122"/>
              </a:rPr>
              <a:t>视图消解</a:t>
            </a:r>
            <a:r>
              <a:rPr kumimoji="0" lang="zh-CN" altLang="en-US" sz="2400" kern="0" dirty="0">
                <a:ea typeface="宋体" charset="-122"/>
              </a:rPr>
              <a:t>转换后的查询语句为：</a:t>
            </a:r>
            <a:endParaRPr kumimoji="0" lang="en-US" altLang="zh-CN" sz="2400" kern="0" dirty="0">
              <a:ea typeface="宋体" charset="-122"/>
            </a:endParaRPr>
          </a:p>
          <a:p>
            <a:pPr lvl="1">
              <a:buFont typeface="Wingdings" pitchFamily="2" charset="2"/>
              <a:buNone/>
            </a:pPr>
            <a:r>
              <a:rPr kumimoji="0" lang="en-US" altLang="zh-CN" sz="2400" kern="0" dirty="0">
                <a:ea typeface="宋体" charset="-122"/>
              </a:rPr>
              <a:t>		   SELECT  </a:t>
            </a:r>
            <a:r>
              <a:rPr kumimoji="0" lang="en-US" altLang="zh-CN" sz="2400" kern="0" dirty="0" err="1">
                <a:ea typeface="宋体" charset="-122"/>
              </a:rPr>
              <a:t>Sno</a:t>
            </a:r>
            <a:r>
              <a:rPr kumimoji="0" lang="zh-CN" altLang="en-US" sz="2400" kern="0" dirty="0">
                <a:ea typeface="宋体" charset="-122"/>
              </a:rPr>
              <a:t>，</a:t>
            </a:r>
            <a:r>
              <a:rPr kumimoji="0" lang="en-US" altLang="zh-CN" sz="2400" kern="0" dirty="0">
                <a:ea typeface="宋体" charset="-122"/>
              </a:rPr>
              <a:t>Sage       </a:t>
            </a:r>
          </a:p>
          <a:p>
            <a:pPr lvl="1">
              <a:buFont typeface="Wingdings" pitchFamily="2" charset="2"/>
              <a:buNone/>
            </a:pPr>
            <a:r>
              <a:rPr kumimoji="0" lang="en-US" altLang="zh-CN" sz="2400" kern="0" dirty="0">
                <a:ea typeface="宋体" charset="-122"/>
              </a:rPr>
              <a:t>        FROM  </a:t>
            </a:r>
            <a:r>
              <a:rPr kumimoji="0" lang="en-US" altLang="zh-CN" sz="2400" kern="0" dirty="0">
                <a:solidFill>
                  <a:srgbClr val="006600"/>
                </a:solidFill>
                <a:ea typeface="宋体" charset="-122"/>
              </a:rPr>
              <a:t>Student</a:t>
            </a:r>
          </a:p>
          <a:p>
            <a:pPr lvl="1">
              <a:buFont typeface="Wingdings" pitchFamily="2" charset="2"/>
              <a:buNone/>
            </a:pPr>
            <a:r>
              <a:rPr kumimoji="0" lang="en-US" altLang="zh-CN" sz="2400" kern="0" dirty="0">
                <a:ea typeface="宋体" charset="-122"/>
              </a:rPr>
              <a:t>        WHERE  </a:t>
            </a:r>
            <a:r>
              <a:rPr kumimoji="0" lang="en-US" altLang="zh-CN" sz="2400" kern="0" dirty="0" err="1">
                <a:solidFill>
                  <a:srgbClr val="0000FF"/>
                </a:solidFill>
                <a:ea typeface="宋体" charset="-122"/>
              </a:rPr>
              <a:t>Sdept</a:t>
            </a:r>
            <a:r>
              <a:rPr kumimoji="0" lang="en-US" altLang="zh-CN" sz="2400" kern="0" dirty="0">
                <a:solidFill>
                  <a:srgbClr val="0000FF"/>
                </a:solidFill>
                <a:ea typeface="宋体" charset="-122"/>
              </a:rPr>
              <a:t>= 'IS'  </a:t>
            </a:r>
            <a:r>
              <a:rPr kumimoji="0" lang="en-US" altLang="zh-CN" sz="2400" kern="0" dirty="0">
                <a:ea typeface="宋体" charset="-122"/>
              </a:rPr>
              <a:t>AND  </a:t>
            </a:r>
            <a:r>
              <a:rPr kumimoji="0" lang="en-US" altLang="zh-CN" sz="2400" kern="0" dirty="0">
                <a:solidFill>
                  <a:srgbClr val="FF0000"/>
                </a:solidFill>
                <a:ea typeface="宋体" charset="-122"/>
              </a:rPr>
              <a:t>Sage&lt;20</a:t>
            </a:r>
            <a:r>
              <a:rPr kumimoji="0" lang="zh-CN" altLang="en-US" sz="2400" kern="0" dirty="0">
                <a:ea typeface="宋体" charset="-122"/>
              </a:rPr>
              <a:t>；</a:t>
            </a:r>
          </a:p>
          <a:p>
            <a:pPr>
              <a:buFont typeface="Wingdings" pitchFamily="2" charset="2"/>
              <a:buNone/>
            </a:pPr>
            <a:endParaRPr kumimoji="0" lang="en-US" altLang="zh-CN" sz="2400" kern="0" dirty="0">
              <a:ea typeface="宋体" charset="-122"/>
            </a:endParaRPr>
          </a:p>
        </p:txBody>
      </p:sp>
      <p:sp>
        <p:nvSpPr>
          <p:cNvPr id="3" name="矩形 2"/>
          <p:cNvSpPr/>
          <p:nvPr/>
        </p:nvSpPr>
        <p:spPr>
          <a:xfrm>
            <a:off x="4648200" y="1865174"/>
            <a:ext cx="4343400"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a:lnSpc>
                <a:spcPct val="90000"/>
              </a:lnSpc>
              <a:buFont typeface="Wingdings" pitchFamily="2" charset="2"/>
              <a:buNone/>
            </a:pPr>
            <a:r>
              <a:rPr lang="en-US" altLang="zh-CN" dirty="0">
                <a:solidFill>
                  <a:srgbClr val="FF0000"/>
                </a:solidFill>
                <a:ea typeface="宋体" charset="-122"/>
              </a:rPr>
              <a:t>CREATE</a:t>
            </a:r>
            <a:r>
              <a:rPr lang="en-US" altLang="zh-CN" dirty="0">
                <a:ea typeface="宋体" charset="-122"/>
              </a:rPr>
              <a:t> </a:t>
            </a:r>
            <a:r>
              <a:rPr lang="en-US" altLang="zh-CN" dirty="0">
                <a:solidFill>
                  <a:srgbClr val="FF0000"/>
                </a:solidFill>
                <a:ea typeface="宋体" charset="-122"/>
              </a:rPr>
              <a:t>VIEW</a:t>
            </a:r>
            <a:r>
              <a:rPr lang="en-US" altLang="zh-CN" dirty="0">
                <a:ea typeface="宋体" charset="-122"/>
              </a:rPr>
              <a:t> </a:t>
            </a:r>
            <a:r>
              <a:rPr lang="en-US" altLang="zh-CN" dirty="0" err="1">
                <a:ea typeface="宋体" charset="-122"/>
              </a:rPr>
              <a:t>IS_Student</a:t>
            </a:r>
            <a:endParaRPr lang="en-US" altLang="zh-CN" dirty="0">
              <a:ea typeface="宋体" charset="-122"/>
            </a:endParaRPr>
          </a:p>
          <a:p>
            <a:pPr algn="l">
              <a:lnSpc>
                <a:spcPct val="90000"/>
              </a:lnSpc>
              <a:buFont typeface="Wingdings" pitchFamily="2" charset="2"/>
              <a:buNone/>
            </a:pPr>
            <a:r>
              <a:rPr lang="en-US" altLang="zh-CN" dirty="0">
                <a:solidFill>
                  <a:srgbClr val="FF0000"/>
                </a:solidFill>
                <a:ea typeface="宋体" charset="-122"/>
              </a:rPr>
              <a:t>AS</a:t>
            </a:r>
            <a:r>
              <a:rPr lang="en-US" altLang="zh-CN" dirty="0">
                <a:ea typeface="宋体" charset="-122"/>
              </a:rPr>
              <a:t> </a:t>
            </a:r>
          </a:p>
          <a:p>
            <a:pPr algn="l">
              <a:lnSpc>
                <a:spcPct val="90000"/>
              </a:lnSpc>
              <a:buFont typeface="Wingdings" pitchFamily="2" charset="2"/>
              <a:buNone/>
            </a:pPr>
            <a:r>
              <a:rPr lang="en-US" altLang="zh-CN" dirty="0">
                <a:solidFill>
                  <a:schemeClr val="tx1"/>
                </a:solidFill>
                <a:ea typeface="宋体" charset="-122"/>
              </a:rPr>
              <a:t>   SELECT </a:t>
            </a:r>
            <a:r>
              <a:rPr lang="en-US" altLang="zh-CN" dirty="0" err="1">
                <a:solidFill>
                  <a:schemeClr val="tx1"/>
                </a:solidFill>
                <a:ea typeface="宋体" charset="-122"/>
              </a:rPr>
              <a:t>Sno</a:t>
            </a:r>
            <a:r>
              <a:rPr lang="zh-CN" altLang="en-US" dirty="0">
                <a:solidFill>
                  <a:schemeClr val="tx1"/>
                </a:solidFill>
                <a:ea typeface="宋体" charset="-122"/>
              </a:rPr>
              <a:t>，</a:t>
            </a:r>
            <a:r>
              <a:rPr lang="en-US" altLang="zh-CN" dirty="0" err="1">
                <a:solidFill>
                  <a:schemeClr val="tx1"/>
                </a:solidFill>
                <a:ea typeface="宋体" charset="-122"/>
              </a:rPr>
              <a:t>Sname</a:t>
            </a:r>
            <a:r>
              <a:rPr lang="zh-CN" altLang="en-US" dirty="0">
                <a:solidFill>
                  <a:schemeClr val="tx1"/>
                </a:solidFill>
                <a:ea typeface="宋体" charset="-122"/>
              </a:rPr>
              <a:t>，</a:t>
            </a:r>
            <a:r>
              <a:rPr lang="en-US" altLang="zh-CN" dirty="0">
                <a:solidFill>
                  <a:schemeClr val="tx1"/>
                </a:solidFill>
                <a:ea typeface="宋体" charset="-122"/>
              </a:rPr>
              <a:t>Sage</a:t>
            </a:r>
          </a:p>
          <a:p>
            <a:pPr algn="l">
              <a:lnSpc>
                <a:spcPct val="90000"/>
              </a:lnSpc>
              <a:buFont typeface="Wingdings" pitchFamily="2" charset="2"/>
              <a:buNone/>
            </a:pPr>
            <a:r>
              <a:rPr lang="en-US" altLang="zh-CN" dirty="0">
                <a:solidFill>
                  <a:schemeClr val="tx1"/>
                </a:solidFill>
                <a:ea typeface="宋体" charset="-122"/>
              </a:rPr>
              <a:t>   FROM    Student</a:t>
            </a:r>
          </a:p>
          <a:p>
            <a:pPr algn="l">
              <a:lnSpc>
                <a:spcPct val="90000"/>
              </a:lnSpc>
              <a:buFont typeface="Wingdings" pitchFamily="2" charset="2"/>
              <a:buNone/>
            </a:pPr>
            <a:r>
              <a:rPr lang="en-US" altLang="zh-CN" dirty="0">
                <a:solidFill>
                  <a:schemeClr val="tx1"/>
                </a:solidFill>
                <a:ea typeface="宋体" charset="-122"/>
              </a:rPr>
              <a:t>   WHERE  </a:t>
            </a:r>
            <a:r>
              <a:rPr lang="en-US" altLang="zh-CN" dirty="0" err="1">
                <a:solidFill>
                  <a:schemeClr val="tx1"/>
                </a:solidFill>
                <a:ea typeface="宋体" charset="-122"/>
              </a:rPr>
              <a:t>Sdept</a:t>
            </a:r>
            <a:r>
              <a:rPr lang="en-US" altLang="zh-CN" dirty="0">
                <a:solidFill>
                  <a:schemeClr val="tx1"/>
                </a:solidFill>
                <a:ea typeface="宋体" charset="-122"/>
              </a:rPr>
              <a:t>= 'IS’;</a:t>
            </a:r>
            <a:endParaRPr lang="zh-CN" altLang="en-US" dirty="0">
              <a:solidFill>
                <a:schemeClr val="tx1"/>
              </a:solidFill>
              <a:ea typeface="宋体" charset="-122"/>
            </a:endParaRPr>
          </a:p>
        </p:txBody>
      </p:sp>
      <p:sp>
        <p:nvSpPr>
          <p:cNvPr id="5" name="灯片编号占位符 4">
            <a:extLst>
              <a:ext uri="{FF2B5EF4-FFF2-40B4-BE49-F238E27FC236}">
                <a16:creationId xmlns:a16="http://schemas.microsoft.com/office/drawing/2014/main" id="{62595E1A-DBD1-7FD2-0A2B-2A6C7C2247C1}"/>
              </a:ext>
            </a:extLst>
          </p:cNvPr>
          <p:cNvSpPr>
            <a:spLocks noGrp="1"/>
          </p:cNvSpPr>
          <p:nvPr>
            <p:ph type="sldNum" sz="quarter" idx="12"/>
          </p:nvPr>
        </p:nvSpPr>
        <p:spPr/>
        <p:txBody>
          <a:bodyPr/>
          <a:lstStyle/>
          <a:p>
            <a:pPr>
              <a:defRPr/>
            </a:pPr>
            <a:fld id="{E0CD82EA-F7BE-454B-A83E-18830F6C5424}" type="slidenum">
              <a:rPr lang="en-US" altLang="zh-CN" smtClean="0"/>
              <a:pPr>
                <a:defRPr/>
              </a:pPr>
              <a:t>48</a:t>
            </a:fld>
            <a:r>
              <a:rPr lang="en-US" altLang="zh-CN"/>
              <a:t>/138</a:t>
            </a:r>
            <a:endParaRPr lang="zh-CN" altLang="en-US" dirty="0"/>
          </a:p>
        </p:txBody>
      </p:sp>
    </p:spTree>
    <p:extLst>
      <p:ext uri="{BB962C8B-B14F-4D97-AF65-F5344CB8AC3E}">
        <p14:creationId xmlns:p14="http://schemas.microsoft.com/office/powerpoint/2010/main" val="29574536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 calcmode="lin" valueType="num">
                                      <p:cBhvr additive="base">
                                        <p:cTn id="13"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 calcmode="lin" valueType="num">
                                      <p:cBhvr additive="base">
                                        <p:cTn id="17"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 calcmode="lin" valueType="num">
                                      <p:cBhvr additive="base">
                                        <p:cTn id="2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C3062879-A756-4A7A-9FEE-A2CFBDF964DB}" type="datetime1">
              <a:rPr kumimoji="0" lang="zh-CN" altLang="en-US" sz="1400" smtClean="0"/>
              <a:t>2025/10/15</a:t>
            </a:fld>
            <a:endParaRPr kumimoji="0" lang="en-US" altLang="zh-CN" sz="1400"/>
          </a:p>
        </p:txBody>
      </p:sp>
      <p:sp>
        <p:nvSpPr>
          <p:cNvPr id="17920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79205" name="Rectangle 2"/>
          <p:cNvSpPr>
            <a:spLocks noGrp="1" noChangeArrowheads="1"/>
          </p:cNvSpPr>
          <p:nvPr>
            <p:ph type="title"/>
          </p:nvPr>
        </p:nvSpPr>
        <p:spPr/>
        <p:txBody>
          <a:bodyPr/>
          <a:lstStyle/>
          <a:p>
            <a:pPr eaLnBrk="1" hangingPunct="1"/>
            <a:r>
              <a:rPr lang="en-US" altLang="zh-CN" dirty="0"/>
              <a:t>4.2.2</a:t>
            </a:r>
            <a:r>
              <a:rPr lang="zh-CN" altLang="en-US" dirty="0"/>
              <a:t>查询视图</a:t>
            </a:r>
          </a:p>
        </p:txBody>
      </p:sp>
      <p:sp>
        <p:nvSpPr>
          <p:cNvPr id="10" name="Rectangle 3"/>
          <p:cNvSpPr txBox="1">
            <a:spLocks noChangeArrowheads="1"/>
          </p:cNvSpPr>
          <p:nvPr/>
        </p:nvSpPr>
        <p:spPr bwMode="auto">
          <a:xfrm>
            <a:off x="838200" y="1447800"/>
            <a:ext cx="7772400" cy="469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lnSpc>
                <a:spcPct val="90000"/>
              </a:lnSpc>
              <a:buFont typeface="Wingdings" pitchFamily="2" charset="2"/>
              <a:buNone/>
            </a:pPr>
            <a:r>
              <a:rPr kumimoji="0" lang="en-US" altLang="zh-CN" sz="2200" kern="0" dirty="0">
                <a:ea typeface="宋体" charset="-122"/>
              </a:rPr>
              <a:t>[</a:t>
            </a:r>
            <a:r>
              <a:rPr kumimoji="0" lang="zh-CN" altLang="en-US" sz="2200" kern="0" dirty="0">
                <a:ea typeface="宋体" charset="-122"/>
              </a:rPr>
              <a:t>例</a:t>
            </a:r>
            <a:r>
              <a:rPr kumimoji="0" lang="en-US" altLang="zh-CN" sz="2200" kern="0" dirty="0">
                <a:ea typeface="宋体" charset="-122"/>
              </a:rPr>
              <a:t>11]</a:t>
            </a:r>
            <a:r>
              <a:rPr kumimoji="0" lang="zh-CN" altLang="en-US" sz="2200" kern="0" dirty="0">
                <a:ea typeface="宋体" charset="-122"/>
              </a:rPr>
              <a:t>在</a:t>
            </a:r>
            <a:r>
              <a:rPr kumimoji="0" lang="en-US" altLang="zh-CN" sz="2200" kern="0" dirty="0">
                <a:ea typeface="宋体" charset="-122"/>
              </a:rPr>
              <a:t>S_G</a:t>
            </a:r>
            <a:r>
              <a:rPr kumimoji="0" lang="zh-CN" altLang="en-US" sz="2200" kern="0" dirty="0">
                <a:ea typeface="宋体" charset="-122"/>
              </a:rPr>
              <a:t>视图中查询</a:t>
            </a:r>
            <a:r>
              <a:rPr kumimoji="0" lang="zh-CN" altLang="en-US" sz="2200" kern="0" dirty="0">
                <a:solidFill>
                  <a:srgbClr val="660066"/>
                </a:solidFill>
                <a:ea typeface="宋体" charset="-122"/>
              </a:rPr>
              <a:t>平均成绩在</a:t>
            </a:r>
            <a:r>
              <a:rPr kumimoji="0" lang="en-US" altLang="zh-CN" sz="2200" kern="0" dirty="0">
                <a:solidFill>
                  <a:srgbClr val="660066"/>
                </a:solidFill>
                <a:ea typeface="宋体" charset="-122"/>
              </a:rPr>
              <a:t>90</a:t>
            </a:r>
            <a:r>
              <a:rPr kumimoji="0" lang="zh-CN" altLang="en-US" sz="2200" kern="0" dirty="0">
                <a:solidFill>
                  <a:srgbClr val="660066"/>
                </a:solidFill>
                <a:ea typeface="宋体" charset="-122"/>
              </a:rPr>
              <a:t>分以上</a:t>
            </a:r>
            <a:r>
              <a:rPr kumimoji="0" lang="zh-CN" altLang="en-US" sz="2200" kern="0" dirty="0">
                <a:ea typeface="宋体" charset="-122"/>
              </a:rPr>
              <a:t>的学生学号和平均成绩</a:t>
            </a:r>
          </a:p>
          <a:p>
            <a:pPr lvl="2">
              <a:lnSpc>
                <a:spcPct val="90000"/>
              </a:lnSpc>
              <a:buFontTx/>
              <a:buNone/>
            </a:pPr>
            <a:r>
              <a:rPr kumimoji="0" lang="en-US" altLang="zh-CN" kern="0" dirty="0">
                <a:ea typeface="宋体" charset="-122"/>
              </a:rPr>
              <a:t>SELECT *</a:t>
            </a:r>
          </a:p>
          <a:p>
            <a:pPr lvl="2">
              <a:lnSpc>
                <a:spcPct val="90000"/>
              </a:lnSpc>
              <a:buFontTx/>
              <a:buNone/>
            </a:pPr>
            <a:r>
              <a:rPr kumimoji="0" lang="en-US" altLang="zh-CN" kern="0" dirty="0">
                <a:ea typeface="宋体" charset="-122"/>
              </a:rPr>
              <a:t>FROM   </a:t>
            </a:r>
            <a:r>
              <a:rPr kumimoji="0" lang="en-US" altLang="zh-CN" kern="0" dirty="0">
                <a:solidFill>
                  <a:srgbClr val="0000FF"/>
                </a:solidFill>
                <a:ea typeface="宋体" charset="-122"/>
              </a:rPr>
              <a:t>S_G</a:t>
            </a:r>
          </a:p>
          <a:p>
            <a:pPr lvl="2">
              <a:lnSpc>
                <a:spcPct val="90000"/>
              </a:lnSpc>
              <a:buFontTx/>
              <a:buNone/>
            </a:pPr>
            <a:r>
              <a:rPr kumimoji="0" lang="en-US" altLang="zh-CN" kern="0" dirty="0">
                <a:ea typeface="宋体" charset="-122"/>
              </a:rPr>
              <a:t>WHERE  </a:t>
            </a:r>
            <a:r>
              <a:rPr kumimoji="0" lang="en-US" altLang="zh-CN" kern="0" dirty="0" err="1">
                <a:solidFill>
                  <a:srgbClr val="C00000"/>
                </a:solidFill>
                <a:ea typeface="宋体" charset="-122"/>
              </a:rPr>
              <a:t>Gavg</a:t>
            </a:r>
            <a:r>
              <a:rPr kumimoji="0" lang="en-US" altLang="zh-CN" kern="0" dirty="0">
                <a:solidFill>
                  <a:srgbClr val="C00000"/>
                </a:solidFill>
                <a:ea typeface="宋体" charset="-122"/>
              </a:rPr>
              <a:t>&gt;=90</a:t>
            </a:r>
            <a:r>
              <a:rPr kumimoji="0" lang="zh-CN" altLang="en-US" kern="0" dirty="0">
                <a:ea typeface="宋体" charset="-122"/>
              </a:rPr>
              <a:t>；</a:t>
            </a:r>
          </a:p>
          <a:p>
            <a:pPr lvl="2">
              <a:lnSpc>
                <a:spcPct val="90000"/>
              </a:lnSpc>
              <a:buFontTx/>
              <a:buNone/>
            </a:pPr>
            <a:endParaRPr kumimoji="0" lang="zh-CN" altLang="en-US" kern="0" dirty="0">
              <a:ea typeface="宋体" charset="-122"/>
            </a:endParaRPr>
          </a:p>
          <a:p>
            <a:pPr>
              <a:lnSpc>
                <a:spcPct val="90000"/>
              </a:lnSpc>
              <a:buFont typeface="Wingdings" pitchFamily="2" charset="2"/>
              <a:buNone/>
            </a:pPr>
            <a:r>
              <a:rPr kumimoji="0" lang="zh-CN" altLang="en-US" sz="2200" kern="0" dirty="0">
                <a:solidFill>
                  <a:srgbClr val="D32DB7"/>
                </a:solidFill>
                <a:ea typeface="宋体" charset="-122"/>
              </a:rPr>
              <a:t>       </a:t>
            </a:r>
            <a:r>
              <a:rPr kumimoji="0" lang="en-US" altLang="zh-CN" sz="2200" kern="0" dirty="0">
                <a:solidFill>
                  <a:srgbClr val="0000FF"/>
                </a:solidFill>
                <a:ea typeface="宋体" charset="-122"/>
              </a:rPr>
              <a:t>S_G</a:t>
            </a:r>
            <a:r>
              <a:rPr kumimoji="0" lang="zh-CN" altLang="en-US" sz="2200" kern="0" dirty="0">
                <a:solidFill>
                  <a:srgbClr val="0000FF"/>
                </a:solidFill>
                <a:ea typeface="宋体" charset="-122"/>
              </a:rPr>
              <a:t>视图</a:t>
            </a:r>
            <a:r>
              <a:rPr kumimoji="0" lang="zh-CN" altLang="en-US" sz="2200" kern="0" dirty="0">
                <a:ea typeface="宋体" charset="-122"/>
              </a:rPr>
              <a:t>的子查询定义： </a:t>
            </a:r>
          </a:p>
          <a:p>
            <a:pPr>
              <a:lnSpc>
                <a:spcPct val="90000"/>
              </a:lnSpc>
              <a:buFont typeface="Wingdings" pitchFamily="2" charset="2"/>
              <a:buNone/>
            </a:pPr>
            <a:r>
              <a:rPr kumimoji="0" lang="zh-CN" altLang="en-US" sz="2200" kern="0" dirty="0">
                <a:ea typeface="宋体" charset="-122"/>
              </a:rPr>
              <a:t>         </a:t>
            </a:r>
            <a:r>
              <a:rPr kumimoji="0" lang="en-US" altLang="zh-CN" sz="2200" kern="0" dirty="0">
                <a:solidFill>
                  <a:srgbClr val="0000FF"/>
                </a:solidFill>
                <a:ea typeface="宋体" charset="-122"/>
              </a:rPr>
              <a:t>CREATE VIEW S_G </a:t>
            </a:r>
            <a:r>
              <a:rPr kumimoji="0" lang="en-US" altLang="zh-CN" sz="2200" kern="0" dirty="0">
                <a:ea typeface="宋体" charset="-122"/>
              </a:rPr>
              <a:t>(</a:t>
            </a:r>
            <a:r>
              <a:rPr kumimoji="0" lang="en-US" altLang="zh-CN" sz="2200" kern="0" dirty="0" err="1">
                <a:ea typeface="宋体" charset="-122"/>
              </a:rPr>
              <a:t>Sno</a:t>
            </a:r>
            <a:r>
              <a:rPr kumimoji="0" lang="zh-CN" altLang="en-US" sz="2200" kern="0" dirty="0">
                <a:ea typeface="宋体" charset="-122"/>
              </a:rPr>
              <a:t>，</a:t>
            </a:r>
            <a:r>
              <a:rPr kumimoji="0" lang="en-US" altLang="zh-CN" sz="2200" kern="0" dirty="0" err="1">
                <a:solidFill>
                  <a:srgbClr val="C00000"/>
                </a:solidFill>
                <a:ea typeface="宋体" charset="-122"/>
              </a:rPr>
              <a:t>Gavg</a:t>
            </a:r>
            <a:r>
              <a:rPr kumimoji="0" lang="en-US" altLang="zh-CN" sz="2200" kern="0" dirty="0">
                <a:ea typeface="宋体" charset="-122"/>
              </a:rPr>
              <a:t>)</a:t>
            </a:r>
          </a:p>
          <a:p>
            <a:pPr>
              <a:lnSpc>
                <a:spcPct val="90000"/>
              </a:lnSpc>
              <a:buFont typeface="Wingdings" pitchFamily="2" charset="2"/>
              <a:buNone/>
            </a:pPr>
            <a:r>
              <a:rPr kumimoji="0" lang="en-US" altLang="zh-CN" sz="2200" kern="0" dirty="0">
                <a:ea typeface="宋体" charset="-122"/>
              </a:rPr>
              <a:t>         </a:t>
            </a:r>
            <a:r>
              <a:rPr kumimoji="0" lang="en-US" altLang="zh-CN" sz="2200" kern="0" dirty="0">
                <a:solidFill>
                  <a:srgbClr val="0000FF"/>
                </a:solidFill>
                <a:ea typeface="宋体" charset="-122"/>
              </a:rPr>
              <a:t>AS </a:t>
            </a:r>
          </a:p>
          <a:p>
            <a:pPr lvl="2">
              <a:lnSpc>
                <a:spcPct val="90000"/>
              </a:lnSpc>
              <a:buFontTx/>
              <a:buNone/>
            </a:pPr>
            <a:r>
              <a:rPr kumimoji="0" lang="en-US" altLang="zh-CN" kern="0" dirty="0">
                <a:ea typeface="宋体" charset="-122"/>
              </a:rPr>
              <a:t>  SELECT  </a:t>
            </a:r>
            <a:r>
              <a:rPr kumimoji="0" lang="en-US" altLang="zh-CN" kern="0" dirty="0" err="1">
                <a:ea typeface="宋体" charset="-122"/>
              </a:rPr>
              <a:t>Sno</a:t>
            </a:r>
            <a:r>
              <a:rPr kumimoji="0" lang="zh-CN" altLang="en-US" kern="0" dirty="0">
                <a:ea typeface="宋体" charset="-122"/>
              </a:rPr>
              <a:t>，</a:t>
            </a:r>
            <a:r>
              <a:rPr kumimoji="0" lang="en-US" altLang="zh-CN" kern="0" dirty="0">
                <a:solidFill>
                  <a:srgbClr val="C00000"/>
                </a:solidFill>
                <a:ea typeface="宋体" charset="-122"/>
              </a:rPr>
              <a:t>AVG(Grade)</a:t>
            </a:r>
          </a:p>
          <a:p>
            <a:pPr lvl="2">
              <a:lnSpc>
                <a:spcPct val="90000"/>
              </a:lnSpc>
              <a:buFontTx/>
              <a:buNone/>
            </a:pPr>
            <a:r>
              <a:rPr kumimoji="0" lang="en-US" altLang="zh-CN" kern="0" dirty="0">
                <a:ea typeface="宋体" charset="-122"/>
              </a:rPr>
              <a:t>  FROM  SC</a:t>
            </a:r>
          </a:p>
          <a:p>
            <a:pPr lvl="2">
              <a:lnSpc>
                <a:spcPct val="90000"/>
              </a:lnSpc>
              <a:buFontTx/>
              <a:buNone/>
            </a:pPr>
            <a:r>
              <a:rPr kumimoji="0" lang="en-US" altLang="zh-CN" kern="0" dirty="0">
                <a:solidFill>
                  <a:srgbClr val="006600"/>
                </a:solidFill>
                <a:ea typeface="宋体" charset="-122"/>
              </a:rPr>
              <a:t>  GROUP BY </a:t>
            </a:r>
            <a:r>
              <a:rPr kumimoji="0" lang="en-US" altLang="zh-CN" kern="0" dirty="0" err="1">
                <a:solidFill>
                  <a:srgbClr val="006600"/>
                </a:solidFill>
                <a:ea typeface="宋体" charset="-122"/>
              </a:rPr>
              <a:t>Sno</a:t>
            </a:r>
            <a:r>
              <a:rPr kumimoji="0" lang="zh-CN" altLang="en-US" kern="0" dirty="0">
                <a:solidFill>
                  <a:srgbClr val="006600"/>
                </a:solidFill>
                <a:ea typeface="宋体" charset="-122"/>
              </a:rPr>
              <a:t>；</a:t>
            </a:r>
          </a:p>
        </p:txBody>
      </p:sp>
      <p:sp>
        <p:nvSpPr>
          <p:cNvPr id="2" name="矩形 1"/>
          <p:cNvSpPr/>
          <p:nvPr/>
        </p:nvSpPr>
        <p:spPr bwMode="auto">
          <a:xfrm>
            <a:off x="1905000" y="4800600"/>
            <a:ext cx="3810000" cy="1343025"/>
          </a:xfrm>
          <a:prstGeom prst="rect">
            <a:avLst/>
          </a:prstGeom>
          <a:noFill/>
          <a:ln w="9525" cap="flat" cmpd="sng" algn="ctr">
            <a:solidFill>
              <a:srgbClr val="C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sp>
        <p:nvSpPr>
          <p:cNvPr id="5" name="灯片编号占位符 4">
            <a:extLst>
              <a:ext uri="{FF2B5EF4-FFF2-40B4-BE49-F238E27FC236}">
                <a16:creationId xmlns:a16="http://schemas.microsoft.com/office/drawing/2014/main" id="{EFF4357C-5EED-E61B-7CDF-BA531F8E00DB}"/>
              </a:ext>
            </a:extLst>
          </p:cNvPr>
          <p:cNvSpPr>
            <a:spLocks noGrp="1"/>
          </p:cNvSpPr>
          <p:nvPr>
            <p:ph type="sldNum" sz="quarter" idx="12"/>
          </p:nvPr>
        </p:nvSpPr>
        <p:spPr/>
        <p:txBody>
          <a:bodyPr/>
          <a:lstStyle/>
          <a:p>
            <a:pPr>
              <a:defRPr/>
            </a:pPr>
            <a:fld id="{E0CD82EA-F7BE-454B-A83E-18830F6C5424}" type="slidenum">
              <a:rPr lang="en-US" altLang="zh-CN" smtClean="0"/>
              <a:pPr>
                <a:defRPr/>
              </a:pPr>
              <a:t>49</a:t>
            </a:fld>
            <a:r>
              <a:rPr lang="en-US" altLang="zh-CN"/>
              <a:t>/138</a:t>
            </a:r>
            <a:endParaRPr lang="zh-CN" altLang="en-US" dirty="0"/>
          </a:p>
        </p:txBody>
      </p:sp>
    </p:spTree>
    <p:extLst>
      <p:ext uri="{BB962C8B-B14F-4D97-AF65-F5344CB8AC3E}">
        <p14:creationId xmlns:p14="http://schemas.microsoft.com/office/powerpoint/2010/main" val="38570502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5" end="5"/>
                                            </p:txEl>
                                          </p:spTgt>
                                        </p:tgtEl>
                                        <p:attrNameLst>
                                          <p:attrName>style.visibility</p:attrName>
                                        </p:attrNameLst>
                                      </p:cBhvr>
                                      <p:to>
                                        <p:strVal val="visible"/>
                                      </p:to>
                                    </p:set>
                                    <p:anim calcmode="lin" valueType="num">
                                      <p:cBhvr additive="base">
                                        <p:cTn id="7"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xEl>
                                              <p:pRg st="6" end="6"/>
                                            </p:txEl>
                                          </p:spTgt>
                                        </p:tgtEl>
                                        <p:attrNameLst>
                                          <p:attrName>style.visibility</p:attrName>
                                        </p:attrNameLst>
                                      </p:cBhvr>
                                      <p:to>
                                        <p:strVal val="visible"/>
                                      </p:to>
                                    </p:set>
                                    <p:anim calcmode="lin" valueType="num">
                                      <p:cBhvr additive="base">
                                        <p:cTn id="11"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
                                            <p:txEl>
                                              <p:pRg st="7" end="7"/>
                                            </p:txEl>
                                          </p:spTgt>
                                        </p:tgtEl>
                                        <p:attrNameLst>
                                          <p:attrName>style.visibility</p:attrName>
                                        </p:attrNameLst>
                                      </p:cBhvr>
                                      <p:to>
                                        <p:strVal val="visible"/>
                                      </p:to>
                                    </p:set>
                                    <p:anim calcmode="lin" valueType="num">
                                      <p:cBhvr additive="base">
                                        <p:cTn id="15"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
                                            <p:txEl>
                                              <p:pRg st="8" end="8"/>
                                            </p:txEl>
                                          </p:spTgt>
                                        </p:tgtEl>
                                        <p:attrNameLst>
                                          <p:attrName>style.visibility</p:attrName>
                                        </p:attrNameLst>
                                      </p:cBhvr>
                                      <p:to>
                                        <p:strVal val="visible"/>
                                      </p:to>
                                    </p:set>
                                    <p:anim calcmode="lin" valueType="num">
                                      <p:cBhvr additive="base">
                                        <p:cTn id="19"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8" end="8"/>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0">
                                            <p:txEl>
                                              <p:pRg st="9" end="9"/>
                                            </p:txEl>
                                          </p:spTgt>
                                        </p:tgtEl>
                                        <p:attrNameLst>
                                          <p:attrName>style.visibility</p:attrName>
                                        </p:attrNameLst>
                                      </p:cBhvr>
                                      <p:to>
                                        <p:strVal val="visible"/>
                                      </p:to>
                                    </p:set>
                                    <p:anim calcmode="lin" valueType="num">
                                      <p:cBhvr additive="base">
                                        <p:cTn id="23" dur="500" fill="hold"/>
                                        <p:tgtEl>
                                          <p:spTgt spid="10">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
                                            <p:txEl>
                                              <p:pRg st="10" end="10"/>
                                            </p:txEl>
                                          </p:spTgt>
                                        </p:tgtEl>
                                        <p:attrNameLst>
                                          <p:attrName>style.visibility</p:attrName>
                                        </p:attrNameLst>
                                      </p:cBhvr>
                                      <p:to>
                                        <p:strVal val="visible"/>
                                      </p:to>
                                    </p:set>
                                    <p:anim calcmode="lin" valueType="num">
                                      <p:cBhvr additive="base">
                                        <p:cTn id="27" dur="500" fill="hold"/>
                                        <p:tgtEl>
                                          <p:spTgt spid="10">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
                                            <p:txEl>
                                              <p:pRg st="10" end="10"/>
                                            </p:txEl>
                                          </p:spTgt>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16" presetClass="entr" presetSubtype="21" fill="hold" grpId="0" nodeType="after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arn(inVertical)">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89765E83-BB89-439B-8D18-4E84E4454988}" type="datetime1">
              <a:rPr kumimoji="0" lang="zh-CN" altLang="en-US" sz="1400" smtClean="0"/>
              <a:t>2025/10/15</a:t>
            </a:fld>
            <a:endParaRPr kumimoji="0" lang="en-US" altLang="zh-CN" sz="1400"/>
          </a:p>
        </p:txBody>
      </p:sp>
      <p:sp>
        <p:nvSpPr>
          <p:cNvPr id="17920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79205" name="Rectangle 2"/>
          <p:cNvSpPr>
            <a:spLocks noGrp="1" noChangeArrowheads="1"/>
          </p:cNvSpPr>
          <p:nvPr>
            <p:ph type="title"/>
          </p:nvPr>
        </p:nvSpPr>
        <p:spPr/>
        <p:txBody>
          <a:bodyPr/>
          <a:lstStyle/>
          <a:p>
            <a:pPr eaLnBrk="1" hangingPunct="1"/>
            <a:r>
              <a:rPr lang="en-US" altLang="zh-CN" dirty="0"/>
              <a:t>4.2.2</a:t>
            </a:r>
            <a:r>
              <a:rPr lang="zh-CN" altLang="en-US" dirty="0"/>
              <a:t>查询视图</a:t>
            </a:r>
          </a:p>
        </p:txBody>
      </p:sp>
      <p:sp>
        <p:nvSpPr>
          <p:cNvPr id="7" name="Rectangle 3"/>
          <p:cNvSpPr txBox="1">
            <a:spLocks noChangeArrowheads="1"/>
          </p:cNvSpPr>
          <p:nvPr/>
        </p:nvSpPr>
        <p:spPr bwMode="auto">
          <a:xfrm>
            <a:off x="838200" y="18288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lnSpc>
                <a:spcPct val="90000"/>
              </a:lnSpc>
              <a:buFont typeface="Wingdings" pitchFamily="2" charset="2"/>
              <a:buNone/>
            </a:pPr>
            <a:r>
              <a:rPr kumimoji="0" lang="zh-CN" altLang="en-US" sz="2400" kern="0" dirty="0">
                <a:ea typeface="宋体" charset="-122"/>
              </a:rPr>
              <a:t>错误：</a:t>
            </a:r>
          </a:p>
          <a:p>
            <a:pPr lvl="1">
              <a:lnSpc>
                <a:spcPct val="90000"/>
              </a:lnSpc>
              <a:buFont typeface="Wingdings" pitchFamily="2" charset="2"/>
              <a:buNone/>
            </a:pPr>
            <a:r>
              <a:rPr kumimoji="0" lang="en-US" altLang="zh-CN" sz="2000" kern="0" dirty="0">
                <a:ea typeface="宋体" charset="-122"/>
              </a:rPr>
              <a:t>SELECT </a:t>
            </a:r>
            <a:r>
              <a:rPr kumimoji="0" lang="en-US" altLang="zh-CN" sz="2000" kern="0" dirty="0" err="1">
                <a:ea typeface="宋体" charset="-122"/>
              </a:rPr>
              <a:t>Sno</a:t>
            </a:r>
            <a:r>
              <a:rPr kumimoji="0" lang="zh-CN" altLang="en-US" sz="2000" kern="0" dirty="0">
                <a:ea typeface="宋体" charset="-122"/>
              </a:rPr>
              <a:t>，</a:t>
            </a:r>
            <a:r>
              <a:rPr kumimoji="0" lang="en-US" altLang="zh-CN" sz="2000" kern="0" dirty="0">
                <a:ea typeface="宋体" charset="-122"/>
              </a:rPr>
              <a:t>AVG(Grade)</a:t>
            </a:r>
          </a:p>
          <a:p>
            <a:pPr lvl="1">
              <a:lnSpc>
                <a:spcPct val="90000"/>
              </a:lnSpc>
              <a:buFont typeface="Wingdings" pitchFamily="2" charset="2"/>
              <a:buNone/>
            </a:pPr>
            <a:r>
              <a:rPr kumimoji="0" lang="en-US" altLang="zh-CN" sz="2000" kern="0" dirty="0">
                <a:ea typeface="宋体" charset="-122"/>
              </a:rPr>
              <a:t>FROM     SC</a:t>
            </a:r>
          </a:p>
          <a:p>
            <a:pPr lvl="1">
              <a:lnSpc>
                <a:spcPct val="90000"/>
              </a:lnSpc>
              <a:buFont typeface="Wingdings" pitchFamily="2" charset="2"/>
              <a:buNone/>
            </a:pPr>
            <a:r>
              <a:rPr kumimoji="0" lang="en-US" altLang="zh-CN" sz="2000" kern="0" dirty="0">
                <a:ea typeface="宋体" charset="-122"/>
              </a:rPr>
              <a:t>WHERE  </a:t>
            </a:r>
            <a:r>
              <a:rPr kumimoji="0" lang="en-US" altLang="zh-CN" sz="2000" kern="0" dirty="0">
                <a:solidFill>
                  <a:srgbClr val="C00000"/>
                </a:solidFill>
                <a:ea typeface="宋体" charset="-122"/>
              </a:rPr>
              <a:t>AVG(Grade)&gt;=90</a:t>
            </a:r>
          </a:p>
          <a:p>
            <a:pPr lvl="1">
              <a:lnSpc>
                <a:spcPct val="90000"/>
              </a:lnSpc>
              <a:buFont typeface="Wingdings" pitchFamily="2" charset="2"/>
              <a:buNone/>
            </a:pPr>
            <a:r>
              <a:rPr kumimoji="0" lang="en-US" altLang="zh-CN" sz="2000" kern="0" dirty="0">
                <a:solidFill>
                  <a:srgbClr val="0000FF"/>
                </a:solidFill>
                <a:ea typeface="宋体" charset="-122"/>
              </a:rPr>
              <a:t>GROUP BY </a:t>
            </a:r>
            <a:r>
              <a:rPr kumimoji="0" lang="en-US" altLang="zh-CN" sz="2000" kern="0" dirty="0" err="1">
                <a:solidFill>
                  <a:srgbClr val="0000FF"/>
                </a:solidFill>
                <a:ea typeface="宋体" charset="-122"/>
              </a:rPr>
              <a:t>Sno</a:t>
            </a:r>
            <a:r>
              <a:rPr kumimoji="0" lang="zh-CN" altLang="en-US" sz="2000" kern="0" dirty="0">
                <a:solidFill>
                  <a:srgbClr val="0000FF"/>
                </a:solidFill>
                <a:ea typeface="宋体" charset="-122"/>
              </a:rPr>
              <a:t>；</a:t>
            </a:r>
          </a:p>
          <a:p>
            <a:pPr lvl="1">
              <a:lnSpc>
                <a:spcPct val="90000"/>
              </a:lnSpc>
              <a:buFont typeface="Wingdings" pitchFamily="2" charset="2"/>
              <a:buNone/>
            </a:pPr>
            <a:endParaRPr kumimoji="0" lang="zh-CN" altLang="en-US" sz="2000" kern="0" dirty="0">
              <a:ea typeface="宋体" charset="-122"/>
            </a:endParaRPr>
          </a:p>
          <a:p>
            <a:pPr>
              <a:lnSpc>
                <a:spcPct val="90000"/>
              </a:lnSpc>
              <a:buFont typeface="Wingdings" pitchFamily="2" charset="2"/>
              <a:buNone/>
            </a:pPr>
            <a:r>
              <a:rPr kumimoji="0" lang="zh-CN" altLang="en-US" sz="2400" kern="0" dirty="0">
                <a:ea typeface="宋体" charset="-122"/>
              </a:rPr>
              <a:t>正确：</a:t>
            </a:r>
          </a:p>
          <a:p>
            <a:pPr lvl="1">
              <a:lnSpc>
                <a:spcPct val="90000"/>
              </a:lnSpc>
              <a:buFont typeface="Wingdings" pitchFamily="2" charset="2"/>
              <a:buNone/>
            </a:pPr>
            <a:r>
              <a:rPr kumimoji="0" lang="en-US" altLang="zh-CN" sz="2000" kern="0" dirty="0">
                <a:ea typeface="宋体" charset="-122"/>
              </a:rPr>
              <a:t>SELECT  </a:t>
            </a:r>
            <a:r>
              <a:rPr kumimoji="0" lang="en-US" altLang="zh-CN" sz="2000" kern="0" dirty="0" err="1">
                <a:ea typeface="宋体" charset="-122"/>
              </a:rPr>
              <a:t>Sno</a:t>
            </a:r>
            <a:r>
              <a:rPr kumimoji="0" lang="zh-CN" altLang="en-US" sz="2000" kern="0" dirty="0">
                <a:ea typeface="宋体" charset="-122"/>
              </a:rPr>
              <a:t>，</a:t>
            </a:r>
            <a:r>
              <a:rPr kumimoji="0" lang="en-US" altLang="zh-CN" sz="2000" kern="0" dirty="0">
                <a:ea typeface="宋体" charset="-122"/>
              </a:rPr>
              <a:t>AVG(Grade)</a:t>
            </a:r>
          </a:p>
          <a:p>
            <a:pPr lvl="1">
              <a:lnSpc>
                <a:spcPct val="90000"/>
              </a:lnSpc>
              <a:buFont typeface="Wingdings" pitchFamily="2" charset="2"/>
              <a:buNone/>
            </a:pPr>
            <a:r>
              <a:rPr kumimoji="0" lang="en-US" altLang="zh-CN" sz="2000" kern="0" dirty="0">
                <a:ea typeface="宋体" charset="-122"/>
              </a:rPr>
              <a:t>FROM  SC</a:t>
            </a:r>
          </a:p>
          <a:p>
            <a:pPr lvl="1">
              <a:lnSpc>
                <a:spcPct val="90000"/>
              </a:lnSpc>
              <a:buFont typeface="Wingdings" pitchFamily="2" charset="2"/>
              <a:buNone/>
            </a:pPr>
            <a:r>
              <a:rPr kumimoji="0" lang="en-US" altLang="zh-CN" sz="2000" kern="0" dirty="0">
                <a:solidFill>
                  <a:srgbClr val="0000FF"/>
                </a:solidFill>
                <a:ea typeface="宋体" charset="-122"/>
              </a:rPr>
              <a:t>GROUP BY </a:t>
            </a:r>
            <a:r>
              <a:rPr kumimoji="0" lang="en-US" altLang="zh-CN" sz="2000" kern="0" dirty="0" err="1">
                <a:solidFill>
                  <a:srgbClr val="0000FF"/>
                </a:solidFill>
                <a:ea typeface="宋体" charset="-122"/>
              </a:rPr>
              <a:t>Sno</a:t>
            </a:r>
            <a:endParaRPr kumimoji="0" lang="en-US" altLang="zh-CN" sz="2000" kern="0" dirty="0">
              <a:solidFill>
                <a:srgbClr val="0000FF"/>
              </a:solidFill>
              <a:ea typeface="宋体" charset="-122"/>
            </a:endParaRPr>
          </a:p>
          <a:p>
            <a:pPr lvl="1">
              <a:lnSpc>
                <a:spcPct val="90000"/>
              </a:lnSpc>
              <a:buFont typeface="Wingdings" pitchFamily="2" charset="2"/>
              <a:buNone/>
            </a:pPr>
            <a:r>
              <a:rPr kumimoji="0" lang="en-US" altLang="zh-CN" sz="2000" kern="0" dirty="0">
                <a:solidFill>
                  <a:srgbClr val="FF0000"/>
                </a:solidFill>
                <a:ea typeface="宋体" charset="-122"/>
              </a:rPr>
              <a:t>HAVING</a:t>
            </a:r>
            <a:r>
              <a:rPr kumimoji="0" lang="en-US" altLang="zh-CN" sz="2000" kern="0" dirty="0">
                <a:solidFill>
                  <a:srgbClr val="C00000"/>
                </a:solidFill>
                <a:ea typeface="宋体" charset="-122"/>
              </a:rPr>
              <a:t> AVG(Grade)&gt;=90</a:t>
            </a:r>
            <a:r>
              <a:rPr kumimoji="0" lang="zh-CN" altLang="en-US" sz="2000" kern="0" dirty="0">
                <a:solidFill>
                  <a:srgbClr val="C00000"/>
                </a:solidFill>
                <a:ea typeface="宋体" charset="-122"/>
              </a:rPr>
              <a:t>；</a:t>
            </a:r>
          </a:p>
        </p:txBody>
      </p:sp>
      <p:sp>
        <p:nvSpPr>
          <p:cNvPr id="2" name="TextBox 1"/>
          <p:cNvSpPr txBox="1"/>
          <p:nvPr/>
        </p:nvSpPr>
        <p:spPr>
          <a:xfrm>
            <a:off x="5562600" y="2952206"/>
            <a:ext cx="2866732" cy="1200329"/>
          </a:xfrm>
          <a:prstGeom prst="rect">
            <a:avLst/>
          </a:prstGeom>
          <a:noFill/>
        </p:spPr>
        <p:txBody>
          <a:bodyPr wrap="square" rtlCol="0">
            <a:spAutoFit/>
          </a:bodyPr>
          <a:lstStyle/>
          <a:p>
            <a:r>
              <a:rPr lang="en-US" altLang="zh-CN" dirty="0">
                <a:solidFill>
                  <a:srgbClr val="0000FF"/>
                </a:solidFill>
              </a:rPr>
              <a:t>Where</a:t>
            </a:r>
            <a:r>
              <a:rPr lang="zh-CN" altLang="en-US" dirty="0">
                <a:solidFill>
                  <a:srgbClr val="0000FF"/>
                </a:solidFill>
              </a:rPr>
              <a:t>子句中是不能用</a:t>
            </a:r>
            <a:r>
              <a:rPr lang="zh-CN" altLang="en-US" dirty="0">
                <a:solidFill>
                  <a:srgbClr val="C00000"/>
                </a:solidFill>
              </a:rPr>
              <a:t>聚集函数</a:t>
            </a:r>
            <a:r>
              <a:rPr lang="zh-CN" altLang="en-US" dirty="0">
                <a:solidFill>
                  <a:srgbClr val="0000FF"/>
                </a:solidFill>
              </a:rPr>
              <a:t>作为条件表达式的</a:t>
            </a:r>
          </a:p>
        </p:txBody>
      </p:sp>
      <p:sp>
        <p:nvSpPr>
          <p:cNvPr id="9" name="十字形 8"/>
          <p:cNvSpPr/>
          <p:nvPr/>
        </p:nvSpPr>
        <p:spPr bwMode="auto">
          <a:xfrm rot="2621431">
            <a:off x="2123780" y="2262536"/>
            <a:ext cx="1010239" cy="1038439"/>
          </a:xfrm>
          <a:prstGeom prst="plus">
            <a:avLst>
              <a:gd name="adj" fmla="val 40584"/>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pitchFamily="2" charset="-122"/>
              <a:cs typeface="Arial" pitchFamily="34" charset="0"/>
            </a:endParaRPr>
          </a:p>
        </p:txBody>
      </p:sp>
      <p:sp>
        <p:nvSpPr>
          <p:cNvPr id="5" name="灯片编号占位符 4">
            <a:extLst>
              <a:ext uri="{FF2B5EF4-FFF2-40B4-BE49-F238E27FC236}">
                <a16:creationId xmlns:a16="http://schemas.microsoft.com/office/drawing/2014/main" id="{5D0BB115-9156-CE9E-19F9-371D82293B54}"/>
              </a:ext>
            </a:extLst>
          </p:cNvPr>
          <p:cNvSpPr>
            <a:spLocks noGrp="1"/>
          </p:cNvSpPr>
          <p:nvPr>
            <p:ph type="sldNum" sz="quarter" idx="12"/>
          </p:nvPr>
        </p:nvSpPr>
        <p:spPr/>
        <p:txBody>
          <a:bodyPr/>
          <a:lstStyle/>
          <a:p>
            <a:pPr>
              <a:defRPr/>
            </a:pPr>
            <a:fld id="{E0CD82EA-F7BE-454B-A83E-18830F6C5424}" type="slidenum">
              <a:rPr lang="en-US" altLang="zh-CN" smtClean="0"/>
              <a:pPr>
                <a:defRPr/>
              </a:pPr>
              <a:t>50</a:t>
            </a:fld>
            <a:r>
              <a:rPr lang="en-US" altLang="zh-CN"/>
              <a:t>/138</a:t>
            </a:r>
            <a:endParaRPr lang="zh-CN" altLang="en-US" dirty="0"/>
          </a:p>
        </p:txBody>
      </p:sp>
    </p:spTree>
    <p:extLst>
      <p:ext uri="{BB962C8B-B14F-4D97-AF65-F5344CB8AC3E}">
        <p14:creationId xmlns:p14="http://schemas.microsoft.com/office/powerpoint/2010/main" val="36335503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anim calcmode="lin" valueType="num">
                                      <p:cBhvr additive="base">
                                        <p:cTn id="9"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0"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 calcmode="lin" valueType="num">
                                      <p:cBhvr additive="base">
                                        <p:cTn id="27"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7">
                                            <p:txEl>
                                              <p:pRg st="7" end="7"/>
                                            </p:txEl>
                                          </p:spTgt>
                                        </p:tgtEl>
                                        <p:attrNameLst>
                                          <p:attrName>style.visibility</p:attrName>
                                        </p:attrNameLst>
                                      </p:cBhvr>
                                      <p:to>
                                        <p:strVal val="visible"/>
                                      </p:to>
                                    </p:set>
                                    <p:anim calcmode="lin" valueType="num">
                                      <p:cBhvr additive="base">
                                        <p:cTn id="33"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7">
                                            <p:txEl>
                                              <p:pRg st="8" end="8"/>
                                            </p:txEl>
                                          </p:spTgt>
                                        </p:tgtEl>
                                        <p:attrNameLst>
                                          <p:attrName>style.visibility</p:attrName>
                                        </p:attrNameLst>
                                      </p:cBhvr>
                                      <p:to>
                                        <p:strVal val="visible"/>
                                      </p:to>
                                    </p:set>
                                    <p:anim calcmode="lin" valueType="num">
                                      <p:cBhvr additive="base">
                                        <p:cTn id="37"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8" end="8"/>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7">
                                            <p:txEl>
                                              <p:pRg st="9" end="9"/>
                                            </p:txEl>
                                          </p:spTgt>
                                        </p:tgtEl>
                                        <p:attrNameLst>
                                          <p:attrName>style.visibility</p:attrName>
                                        </p:attrNameLst>
                                      </p:cBhvr>
                                      <p:to>
                                        <p:strVal val="visible"/>
                                      </p:to>
                                    </p:set>
                                    <p:anim calcmode="lin" valueType="num">
                                      <p:cBhvr additive="base">
                                        <p:cTn id="41"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
                                            <p:txEl>
                                              <p:pRg st="9" end="9"/>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7">
                                            <p:txEl>
                                              <p:pRg st="10" end="10"/>
                                            </p:txEl>
                                          </p:spTgt>
                                        </p:tgtEl>
                                        <p:attrNameLst>
                                          <p:attrName>style.visibility</p:attrName>
                                        </p:attrNameLst>
                                      </p:cBhvr>
                                      <p:to>
                                        <p:strVal val="visible"/>
                                      </p:to>
                                    </p:set>
                                    <p:anim calcmode="lin" valueType="num">
                                      <p:cBhvr additive="base">
                                        <p:cTn id="45"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75145E56-8288-41E3-A9BD-2398424C3D1E}" type="datetime1">
              <a:rPr kumimoji="0" lang="zh-CN" altLang="en-US" sz="1400" smtClean="0"/>
              <a:t>2025/10/15</a:t>
            </a:fld>
            <a:endParaRPr kumimoji="0" lang="en-US" altLang="zh-CN" sz="1400"/>
          </a:p>
        </p:txBody>
      </p:sp>
      <p:sp>
        <p:nvSpPr>
          <p:cNvPr id="17920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79205" name="Rectangle 2"/>
          <p:cNvSpPr>
            <a:spLocks noGrp="1" noChangeArrowheads="1"/>
          </p:cNvSpPr>
          <p:nvPr>
            <p:ph type="title"/>
          </p:nvPr>
        </p:nvSpPr>
        <p:spPr/>
        <p:txBody>
          <a:bodyPr/>
          <a:lstStyle/>
          <a:p>
            <a:pPr eaLnBrk="1" hangingPunct="1"/>
            <a:r>
              <a:rPr lang="en-US" altLang="zh-CN" dirty="0"/>
              <a:t>4.2.3 </a:t>
            </a:r>
            <a:r>
              <a:rPr lang="zh-CN" altLang="en-US" dirty="0"/>
              <a:t>物化视图</a:t>
            </a:r>
            <a:r>
              <a:rPr lang="en-US" altLang="zh-CN" dirty="0"/>
              <a:t>(</a:t>
            </a:r>
            <a:r>
              <a:rPr lang="zh-CN" altLang="en-US" dirty="0"/>
              <a:t>了解</a:t>
            </a:r>
            <a:r>
              <a:rPr lang="en-US" altLang="zh-CN" dirty="0"/>
              <a:t>)</a:t>
            </a:r>
            <a:endParaRPr lang="zh-CN" altLang="en-US" dirty="0"/>
          </a:p>
        </p:txBody>
      </p:sp>
      <p:sp>
        <p:nvSpPr>
          <p:cNvPr id="3" name="灯片编号占位符 2">
            <a:extLst>
              <a:ext uri="{FF2B5EF4-FFF2-40B4-BE49-F238E27FC236}">
                <a16:creationId xmlns:a16="http://schemas.microsoft.com/office/drawing/2014/main" id="{1FA0A7B6-F152-AD33-830F-7CEA7466AAFB}"/>
              </a:ext>
            </a:extLst>
          </p:cNvPr>
          <p:cNvSpPr>
            <a:spLocks noGrp="1"/>
          </p:cNvSpPr>
          <p:nvPr>
            <p:ph type="sldNum" sz="quarter" idx="12"/>
          </p:nvPr>
        </p:nvSpPr>
        <p:spPr/>
        <p:txBody>
          <a:bodyPr/>
          <a:lstStyle/>
          <a:p>
            <a:pPr>
              <a:defRPr/>
            </a:pPr>
            <a:fld id="{E0CD82EA-F7BE-454B-A83E-18830F6C5424}" type="slidenum">
              <a:rPr lang="en-US" altLang="zh-CN" smtClean="0"/>
              <a:pPr>
                <a:defRPr/>
              </a:pPr>
              <a:t>51</a:t>
            </a:fld>
            <a:r>
              <a:rPr lang="en-US" altLang="zh-CN"/>
              <a:t>/138</a:t>
            </a:r>
            <a:endParaRPr lang="zh-CN" altLang="en-US" dirty="0"/>
          </a:p>
        </p:txBody>
      </p:sp>
      <p:sp>
        <p:nvSpPr>
          <p:cNvPr id="10" name="Rectangle 3"/>
          <p:cNvSpPr txBox="1">
            <a:spLocks noChangeArrowheads="1"/>
          </p:cNvSpPr>
          <p:nvPr/>
        </p:nvSpPr>
        <p:spPr bwMode="auto">
          <a:xfrm>
            <a:off x="609600" y="1447800"/>
            <a:ext cx="8345488" cy="5253038"/>
          </a:xfrm>
          <a:prstGeom prst="rect">
            <a:avLst/>
          </a:prstGeom>
          <a:solidFill>
            <a:schemeClr val="bg1"/>
          </a:solidFill>
          <a:ln>
            <a:noFill/>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eaLnBrk="1" hangingPunct="1"/>
            <a:r>
              <a:rPr kumimoji="0" lang="zh-CN" altLang="en-US" kern="0" dirty="0"/>
              <a:t>物化视图（</a:t>
            </a:r>
            <a:r>
              <a:rPr kumimoji="0" lang="en-US" altLang="zh-CN" kern="0" dirty="0"/>
              <a:t>Materialized Views</a:t>
            </a:r>
            <a:r>
              <a:rPr kumimoji="0" lang="zh-CN" altLang="en-US" kern="0" dirty="0"/>
              <a:t>，以下简称 </a:t>
            </a:r>
            <a:r>
              <a:rPr kumimoji="0" lang="en-US" altLang="zh-CN" kern="0" dirty="0"/>
              <a:t>MV</a:t>
            </a:r>
            <a:r>
              <a:rPr kumimoji="0" lang="zh-CN" altLang="en-US" kern="0" dirty="0"/>
              <a:t>）是一种特殊的视图，它的数据会持久化。那么在查询 </a:t>
            </a:r>
            <a:r>
              <a:rPr kumimoji="0" lang="en-US" altLang="zh-CN" kern="0" dirty="0"/>
              <a:t>MV </a:t>
            </a:r>
            <a:r>
              <a:rPr kumimoji="0" lang="zh-CN" altLang="en-US" kern="0" dirty="0"/>
              <a:t>时，并不会去访问基表，而是直接从 </a:t>
            </a:r>
            <a:r>
              <a:rPr kumimoji="0" lang="en-US" altLang="zh-CN" kern="0" dirty="0"/>
              <a:t>MV </a:t>
            </a:r>
            <a:r>
              <a:rPr kumimoji="0" lang="zh-CN" altLang="en-US" kern="0" dirty="0"/>
              <a:t>里读数据</a:t>
            </a:r>
            <a:r>
              <a:rPr lang="zh-CN" altLang="en-US" b="0" i="0" dirty="0">
                <a:solidFill>
                  <a:srgbClr val="121212"/>
                </a:solidFill>
                <a:effectLst/>
                <a:latin typeface="-apple-system"/>
              </a:rPr>
              <a:t>。</a:t>
            </a:r>
            <a:endParaRPr kumimoji="0" lang="en-US" altLang="zh-CN" kern="0" dirty="0"/>
          </a:p>
          <a:p>
            <a:pPr eaLnBrk="1" hangingPunct="1"/>
            <a:r>
              <a:rPr kumimoji="0" lang="zh-CN" altLang="en-US" kern="0" dirty="0"/>
              <a:t>某些数据库允许</a:t>
            </a:r>
            <a:r>
              <a:rPr kumimoji="0" lang="zh-CN" altLang="en-US" kern="0" dirty="0">
                <a:solidFill>
                  <a:srgbClr val="0000FF"/>
                </a:solidFill>
              </a:rPr>
              <a:t>存储视图关系</a:t>
            </a:r>
            <a:r>
              <a:rPr kumimoji="0" lang="zh-CN" altLang="en-US" kern="0" dirty="0"/>
              <a:t>，但必须保证</a:t>
            </a:r>
            <a:r>
              <a:rPr kumimoji="0" lang="zh-CN" altLang="en-US" kern="0" dirty="0">
                <a:solidFill>
                  <a:srgbClr val="0000FF"/>
                </a:solidFill>
              </a:rPr>
              <a:t>用于定义视图</a:t>
            </a:r>
            <a:r>
              <a:rPr kumimoji="0" lang="zh-CN" altLang="en-US" kern="0" dirty="0"/>
              <a:t>的</a:t>
            </a:r>
            <a:r>
              <a:rPr kumimoji="0" lang="zh-CN" altLang="en-US" kern="0" dirty="0">
                <a:solidFill>
                  <a:srgbClr val="0000FF"/>
                </a:solidFill>
              </a:rPr>
              <a:t>实际关系</a:t>
            </a:r>
            <a:r>
              <a:rPr kumimoji="0" lang="zh-CN" altLang="en-US" kern="0" dirty="0">
                <a:solidFill>
                  <a:srgbClr val="006600"/>
                </a:solidFill>
              </a:rPr>
              <a:t>发生变化</a:t>
            </a:r>
            <a:r>
              <a:rPr kumimoji="0" lang="zh-CN" altLang="en-US" kern="0" dirty="0"/>
              <a:t>时，</a:t>
            </a:r>
            <a:r>
              <a:rPr kumimoji="0" lang="zh-CN" altLang="en-US" kern="0" dirty="0">
                <a:solidFill>
                  <a:srgbClr val="006600"/>
                </a:solidFill>
              </a:rPr>
              <a:t>视图也跟着修改保持最新</a:t>
            </a:r>
            <a:r>
              <a:rPr kumimoji="0" lang="zh-CN" altLang="en-US" kern="0" dirty="0"/>
              <a:t>。</a:t>
            </a:r>
          </a:p>
          <a:p>
            <a:pPr eaLnBrk="1" hangingPunct="1"/>
            <a:r>
              <a:rPr kumimoji="0" lang="zh-CN" altLang="en-US" kern="0" dirty="0"/>
              <a:t>特别是表达式视图 或 分组视图</a:t>
            </a:r>
            <a:endParaRPr kumimoji="0" lang="en-US" altLang="zh-CN" kern="0" dirty="0"/>
          </a:p>
          <a:p>
            <a:pPr eaLnBrk="1" hangingPunct="1"/>
            <a:r>
              <a:rPr kumimoji="0" lang="en-US" altLang="zh-CN" kern="0" dirty="0"/>
              <a:t>SQL</a:t>
            </a:r>
            <a:r>
              <a:rPr kumimoji="0" lang="zh-CN" altLang="en-US" kern="0" dirty="0"/>
              <a:t>没有物化视图的标准，不同的关系数据库管理系统提供各自的方式来实现物化视图。</a:t>
            </a:r>
            <a:endParaRPr kumimoji="0" lang="en-US" altLang="zh-CN" kern="0" dirty="0"/>
          </a:p>
          <a:p>
            <a:pPr marL="0" indent="0" eaLnBrk="1" hangingPunct="1">
              <a:buNone/>
            </a:pPr>
            <a:endParaRPr kumimoji="0" lang="zh-CN" altLang="en-US" kern="0" dirty="0"/>
          </a:p>
        </p:txBody>
      </p:sp>
    </p:spTree>
    <p:extLst>
      <p:ext uri="{BB962C8B-B14F-4D97-AF65-F5344CB8AC3E}">
        <p14:creationId xmlns:p14="http://schemas.microsoft.com/office/powerpoint/2010/main" val="661684365"/>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BAD6F8C8-81CC-48D1-9746-7FD9CA05856A}" type="datetime1">
              <a:rPr kumimoji="0" lang="zh-CN" altLang="en-US" sz="1400" smtClean="0"/>
              <a:t>2025/10/15</a:t>
            </a:fld>
            <a:endParaRPr kumimoji="0" lang="en-US" altLang="zh-CN" sz="1400"/>
          </a:p>
        </p:txBody>
      </p:sp>
      <p:sp>
        <p:nvSpPr>
          <p:cNvPr id="180227"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80229" name="Rectangle 2"/>
          <p:cNvSpPr>
            <a:spLocks noGrp="1" noChangeArrowheads="1"/>
          </p:cNvSpPr>
          <p:nvPr>
            <p:ph type="title"/>
          </p:nvPr>
        </p:nvSpPr>
        <p:spPr/>
        <p:txBody>
          <a:bodyPr/>
          <a:lstStyle/>
          <a:p>
            <a:pPr eaLnBrk="1" hangingPunct="1"/>
            <a:r>
              <a:rPr lang="en-US" altLang="zh-CN" dirty="0"/>
              <a:t>4.2.4 </a:t>
            </a:r>
            <a:r>
              <a:rPr lang="zh-CN" altLang="en-US" dirty="0"/>
              <a:t>更新视图</a:t>
            </a:r>
          </a:p>
        </p:txBody>
      </p:sp>
      <p:sp>
        <p:nvSpPr>
          <p:cNvPr id="180230" name="Rectangle 3"/>
          <p:cNvSpPr>
            <a:spLocks noGrp="1" noChangeArrowheads="1"/>
          </p:cNvSpPr>
          <p:nvPr>
            <p:ph type="body" idx="1"/>
          </p:nvPr>
        </p:nvSpPr>
        <p:spPr/>
        <p:txBody>
          <a:bodyPr/>
          <a:lstStyle/>
          <a:p>
            <a:pPr eaLnBrk="1" hangingPunct="1"/>
            <a:r>
              <a:rPr lang="zh-CN" altLang="en-US" dirty="0"/>
              <a:t>对</a:t>
            </a:r>
            <a:r>
              <a:rPr lang="zh-CN" altLang="en-US" dirty="0">
                <a:solidFill>
                  <a:srgbClr val="0000FF"/>
                </a:solidFill>
              </a:rPr>
              <a:t>视图的更新</a:t>
            </a:r>
            <a:r>
              <a:rPr lang="zh-CN" altLang="en-US" dirty="0"/>
              <a:t>，最终要转换为对数据库中</a:t>
            </a:r>
            <a:r>
              <a:rPr lang="zh-CN" altLang="en-US" dirty="0">
                <a:solidFill>
                  <a:srgbClr val="0000FF"/>
                </a:solidFill>
              </a:rPr>
              <a:t>实际关系</a:t>
            </a:r>
            <a:r>
              <a:rPr lang="en-US" altLang="zh-CN" dirty="0">
                <a:solidFill>
                  <a:srgbClr val="0000FF"/>
                </a:solidFill>
              </a:rPr>
              <a:t>/</a:t>
            </a:r>
            <a:r>
              <a:rPr lang="zh-CN" altLang="en-US" dirty="0">
                <a:solidFill>
                  <a:srgbClr val="0000FF"/>
                </a:solidFill>
              </a:rPr>
              <a:t>表</a:t>
            </a:r>
            <a:r>
              <a:rPr lang="zh-CN" altLang="en-US" dirty="0">
                <a:solidFill>
                  <a:srgbClr val="C00000"/>
                </a:solidFill>
              </a:rPr>
              <a:t>的更新</a:t>
            </a:r>
            <a:r>
              <a:rPr lang="zh-CN" altLang="en-US" dirty="0"/>
              <a:t>。</a:t>
            </a:r>
          </a:p>
          <a:p>
            <a:pPr eaLnBrk="1" hangingPunct="1"/>
            <a:r>
              <a:rPr lang="zh-CN" altLang="en-US" dirty="0"/>
              <a:t>为</a:t>
            </a:r>
            <a:r>
              <a:rPr lang="zh-CN" altLang="en-US" dirty="0">
                <a:solidFill>
                  <a:srgbClr val="C00000"/>
                </a:solidFill>
              </a:rPr>
              <a:t>防止</a:t>
            </a:r>
            <a:r>
              <a:rPr lang="zh-CN" altLang="en-US" dirty="0"/>
              <a:t>用户通过视图对数据进行增删改时，</a:t>
            </a:r>
            <a:r>
              <a:rPr lang="zh-CN" altLang="en-US" dirty="0">
                <a:solidFill>
                  <a:srgbClr val="C00000"/>
                </a:solidFill>
              </a:rPr>
              <a:t>无意</a:t>
            </a:r>
            <a:r>
              <a:rPr lang="zh-CN" altLang="en-US" dirty="0"/>
              <a:t>或</a:t>
            </a:r>
            <a:r>
              <a:rPr lang="zh-CN" altLang="en-US" dirty="0">
                <a:solidFill>
                  <a:srgbClr val="C00000"/>
                </a:solidFill>
              </a:rPr>
              <a:t>故意</a:t>
            </a:r>
            <a:r>
              <a:rPr lang="zh-CN" altLang="en-US" dirty="0"/>
              <a:t>操作</a:t>
            </a:r>
            <a:r>
              <a:rPr lang="zh-CN" altLang="en-US" dirty="0">
                <a:solidFill>
                  <a:srgbClr val="0000FF"/>
                </a:solidFill>
              </a:rPr>
              <a:t>不属于视图范围内</a:t>
            </a:r>
            <a:r>
              <a:rPr lang="zh-CN" altLang="en-US" dirty="0"/>
              <a:t>的基本表数据，可在定义视图时加上</a:t>
            </a:r>
            <a:r>
              <a:rPr lang="en-US" altLang="zh-CN" dirty="0">
                <a:solidFill>
                  <a:srgbClr val="0000FF"/>
                </a:solidFill>
              </a:rPr>
              <a:t>WITH CHECK OPTION</a:t>
            </a:r>
            <a:r>
              <a:rPr lang="zh-CN" altLang="en-US" dirty="0"/>
              <a:t>子句。</a:t>
            </a:r>
          </a:p>
        </p:txBody>
      </p:sp>
      <p:sp>
        <p:nvSpPr>
          <p:cNvPr id="4" name="灯片编号占位符 3">
            <a:extLst>
              <a:ext uri="{FF2B5EF4-FFF2-40B4-BE49-F238E27FC236}">
                <a16:creationId xmlns:a16="http://schemas.microsoft.com/office/drawing/2014/main" id="{48592DCA-7F06-2C41-808E-29414B33471D}"/>
              </a:ext>
            </a:extLst>
          </p:cNvPr>
          <p:cNvSpPr>
            <a:spLocks noGrp="1"/>
          </p:cNvSpPr>
          <p:nvPr>
            <p:ph type="sldNum" sz="quarter" idx="12"/>
          </p:nvPr>
        </p:nvSpPr>
        <p:spPr/>
        <p:txBody>
          <a:bodyPr/>
          <a:lstStyle/>
          <a:p>
            <a:pPr>
              <a:defRPr/>
            </a:pPr>
            <a:fld id="{E0CD82EA-F7BE-454B-A83E-18830F6C5424}" type="slidenum">
              <a:rPr lang="en-US" altLang="zh-CN" smtClean="0"/>
              <a:pPr>
                <a:defRPr/>
              </a:pPr>
              <a:t>52</a:t>
            </a:fld>
            <a:r>
              <a:rPr lang="en-US" altLang="zh-CN"/>
              <a:t>/138</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0230">
                                            <p:txEl>
                                              <p:pRg st="1" end="1"/>
                                            </p:txEl>
                                          </p:spTgt>
                                        </p:tgtEl>
                                        <p:attrNameLst>
                                          <p:attrName>style.visibility</p:attrName>
                                        </p:attrNameLst>
                                      </p:cBhvr>
                                      <p:to>
                                        <p:strVal val="visible"/>
                                      </p:to>
                                    </p:set>
                                    <p:anim calcmode="lin" valueType="num">
                                      <p:cBhvr additive="base">
                                        <p:cTn id="7" dur="500" fill="hold"/>
                                        <p:tgtEl>
                                          <p:spTgt spid="18023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023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FE45F734-829E-4584-B2EB-07D5EC5CD28C}" type="datetime1">
              <a:rPr kumimoji="0" lang="zh-CN" altLang="en-US" sz="1400" smtClean="0"/>
              <a:t>2025/10/15</a:t>
            </a:fld>
            <a:endParaRPr kumimoji="0" lang="en-US" altLang="zh-CN" sz="1400"/>
          </a:p>
        </p:txBody>
      </p:sp>
      <p:sp>
        <p:nvSpPr>
          <p:cNvPr id="18125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81253" name="Rectangle 2"/>
          <p:cNvSpPr>
            <a:spLocks noGrp="1" noChangeArrowheads="1"/>
          </p:cNvSpPr>
          <p:nvPr>
            <p:ph type="title"/>
          </p:nvPr>
        </p:nvSpPr>
        <p:spPr/>
        <p:txBody>
          <a:bodyPr/>
          <a:lstStyle/>
          <a:p>
            <a:pPr eaLnBrk="1" hangingPunct="1"/>
            <a:r>
              <a:rPr lang="en-US" altLang="zh-CN" dirty="0"/>
              <a:t>4.2.4 </a:t>
            </a:r>
            <a:r>
              <a:rPr lang="zh-CN" altLang="en-US" dirty="0"/>
              <a:t>更新视图</a:t>
            </a:r>
          </a:p>
        </p:txBody>
      </p:sp>
      <p:sp>
        <p:nvSpPr>
          <p:cNvPr id="181254" name="Rectangle 3"/>
          <p:cNvSpPr>
            <a:spLocks noGrp="1" noChangeArrowheads="1"/>
          </p:cNvSpPr>
          <p:nvPr>
            <p:ph type="body" idx="1"/>
          </p:nvPr>
        </p:nvSpPr>
        <p:spPr/>
        <p:txBody>
          <a:bodyPr/>
          <a:lstStyle/>
          <a:p>
            <a:pPr eaLnBrk="1" hangingPunct="1">
              <a:buFont typeface="Wingdings" pitchFamily="2" charset="2"/>
              <a:buNone/>
            </a:pPr>
            <a:r>
              <a:rPr lang="zh-CN" altLang="en-US" sz="2800" dirty="0"/>
              <a:t>例</a:t>
            </a:r>
            <a:r>
              <a:rPr lang="en-US" altLang="zh-CN" sz="2800" dirty="0"/>
              <a:t>13 </a:t>
            </a:r>
            <a:r>
              <a:rPr lang="zh-CN" altLang="en-US" sz="2800" dirty="0"/>
              <a:t>向信息系学生视图</a:t>
            </a:r>
            <a:r>
              <a:rPr lang="en-US" altLang="zh-CN" sz="2800" dirty="0"/>
              <a:t>IS_S</a:t>
            </a:r>
            <a:r>
              <a:rPr lang="zh-CN" altLang="en-US" sz="2800" dirty="0"/>
              <a:t>中插入一个新的学生记录，其中学号为</a:t>
            </a:r>
            <a:r>
              <a:rPr lang="en-US" altLang="zh-CN" sz="2800" dirty="0"/>
              <a:t>95029</a:t>
            </a:r>
            <a:r>
              <a:rPr lang="zh-CN" altLang="en-US" sz="2800" dirty="0"/>
              <a:t>，姓名为赵新，年龄为</a:t>
            </a:r>
            <a:r>
              <a:rPr lang="en-US" altLang="zh-CN" sz="2800" dirty="0"/>
              <a:t>20</a:t>
            </a:r>
            <a:r>
              <a:rPr lang="zh-CN" altLang="en-US" sz="2800" dirty="0"/>
              <a:t>岁</a:t>
            </a:r>
          </a:p>
          <a:p>
            <a:pPr eaLnBrk="1" hangingPunct="1">
              <a:buFont typeface="Wingdings" pitchFamily="2" charset="2"/>
              <a:buNone/>
            </a:pPr>
            <a:r>
              <a:rPr lang="en-US" altLang="zh-CN" sz="2800" dirty="0">
                <a:solidFill>
                  <a:srgbClr val="000080"/>
                </a:solidFill>
              </a:rPr>
              <a:t>	INSERT INTO </a:t>
            </a:r>
            <a:r>
              <a:rPr lang="en-US" altLang="zh-CN" sz="2800" dirty="0" err="1">
                <a:solidFill>
                  <a:srgbClr val="000080"/>
                </a:solidFill>
              </a:rPr>
              <a:t>IS_Student</a:t>
            </a:r>
            <a:br>
              <a:rPr lang="en-US" altLang="zh-CN" sz="2800" dirty="0">
                <a:solidFill>
                  <a:srgbClr val="000080"/>
                </a:solidFill>
              </a:rPr>
            </a:br>
            <a:r>
              <a:rPr lang="en-US" altLang="zh-CN" sz="2800" dirty="0">
                <a:solidFill>
                  <a:srgbClr val="000080"/>
                </a:solidFill>
              </a:rPr>
              <a:t>VALUES('95029', '</a:t>
            </a:r>
            <a:r>
              <a:rPr lang="zh-CN" altLang="en-US" sz="2800" dirty="0">
                <a:solidFill>
                  <a:srgbClr val="000080"/>
                </a:solidFill>
              </a:rPr>
              <a:t>赵新</a:t>
            </a:r>
            <a:r>
              <a:rPr lang="en-US" altLang="zh-CN" sz="2800" dirty="0">
                <a:solidFill>
                  <a:srgbClr val="000080"/>
                </a:solidFill>
              </a:rPr>
              <a:t>', 20);</a:t>
            </a:r>
          </a:p>
          <a:p>
            <a:pPr eaLnBrk="1" hangingPunct="1">
              <a:buFont typeface="Wingdings" pitchFamily="2" charset="2"/>
              <a:buNone/>
            </a:pPr>
            <a:endParaRPr lang="en-US" altLang="zh-CN" sz="2800" dirty="0">
              <a:solidFill>
                <a:srgbClr val="000080"/>
              </a:solidFill>
            </a:endParaRPr>
          </a:p>
          <a:p>
            <a:pPr eaLnBrk="1" hangingPunct="1"/>
            <a:r>
              <a:rPr lang="en-US" altLang="zh-CN" sz="2800" dirty="0">
                <a:solidFill>
                  <a:srgbClr val="C00000"/>
                </a:solidFill>
              </a:rPr>
              <a:t>DBMS</a:t>
            </a:r>
            <a:r>
              <a:rPr lang="zh-CN" altLang="en-US" sz="2800" dirty="0"/>
              <a:t>将其转换为对</a:t>
            </a:r>
            <a:r>
              <a:rPr lang="zh-CN" altLang="en-US" sz="2800" dirty="0">
                <a:solidFill>
                  <a:srgbClr val="000080"/>
                </a:solidFill>
              </a:rPr>
              <a:t>基本表的更新： </a:t>
            </a:r>
            <a:endParaRPr lang="en-US" altLang="zh-CN" sz="2800" dirty="0">
              <a:solidFill>
                <a:srgbClr val="000080"/>
              </a:solidFill>
            </a:endParaRPr>
          </a:p>
          <a:p>
            <a:pPr marL="0" indent="0" eaLnBrk="1" hangingPunct="1">
              <a:buNone/>
            </a:pPr>
            <a:r>
              <a:rPr lang="en-US" altLang="zh-CN" sz="2800" dirty="0">
                <a:solidFill>
                  <a:srgbClr val="000080"/>
                </a:solidFill>
              </a:rPr>
              <a:t>INSERT INTO Student(</a:t>
            </a:r>
            <a:r>
              <a:rPr lang="en-US" altLang="zh-CN" sz="2800" dirty="0" err="1">
                <a:solidFill>
                  <a:srgbClr val="000080"/>
                </a:solidFill>
              </a:rPr>
              <a:t>Sno</a:t>
            </a:r>
            <a:r>
              <a:rPr lang="en-US" altLang="zh-CN" sz="2800" dirty="0">
                <a:solidFill>
                  <a:srgbClr val="000080"/>
                </a:solidFill>
              </a:rPr>
              <a:t>, </a:t>
            </a:r>
            <a:r>
              <a:rPr lang="en-US" altLang="zh-CN" sz="2800" dirty="0" err="1">
                <a:solidFill>
                  <a:srgbClr val="000080"/>
                </a:solidFill>
              </a:rPr>
              <a:t>Sname</a:t>
            </a:r>
            <a:r>
              <a:rPr lang="en-US" altLang="zh-CN" sz="2800" dirty="0">
                <a:solidFill>
                  <a:srgbClr val="000080"/>
                </a:solidFill>
              </a:rPr>
              <a:t>, Sage, </a:t>
            </a:r>
            <a:r>
              <a:rPr lang="en-US" altLang="zh-CN" sz="2800" dirty="0" err="1">
                <a:solidFill>
                  <a:srgbClr val="C00000"/>
                </a:solidFill>
              </a:rPr>
              <a:t>Sdept</a:t>
            </a:r>
            <a:r>
              <a:rPr lang="en-US" altLang="zh-CN" sz="2800" dirty="0">
                <a:solidFill>
                  <a:srgbClr val="000080"/>
                </a:solidFill>
              </a:rPr>
              <a:t>)</a:t>
            </a:r>
            <a:br>
              <a:rPr lang="en-US" altLang="zh-CN" sz="2800" dirty="0">
                <a:solidFill>
                  <a:srgbClr val="000080"/>
                </a:solidFill>
              </a:rPr>
            </a:br>
            <a:r>
              <a:rPr lang="en-US" altLang="zh-CN" sz="2800" dirty="0">
                <a:solidFill>
                  <a:srgbClr val="000080"/>
                </a:solidFill>
              </a:rPr>
              <a:t>VALUES('95029', '</a:t>
            </a:r>
            <a:r>
              <a:rPr lang="zh-CN" altLang="en-US" sz="2800" dirty="0">
                <a:solidFill>
                  <a:srgbClr val="000080"/>
                </a:solidFill>
              </a:rPr>
              <a:t>赵新</a:t>
            </a:r>
            <a:r>
              <a:rPr lang="en-US" altLang="zh-CN" sz="2800" dirty="0">
                <a:solidFill>
                  <a:srgbClr val="000080"/>
                </a:solidFill>
              </a:rPr>
              <a:t>', 20, </a:t>
            </a:r>
            <a:r>
              <a:rPr lang="en-US" altLang="zh-CN" sz="2800" dirty="0">
                <a:solidFill>
                  <a:srgbClr val="C00000"/>
                </a:solidFill>
              </a:rPr>
              <a:t>'IS'</a:t>
            </a:r>
            <a:r>
              <a:rPr lang="en-US" altLang="zh-CN" sz="2800" dirty="0">
                <a:solidFill>
                  <a:srgbClr val="000080"/>
                </a:solidFill>
              </a:rPr>
              <a:t>); </a:t>
            </a:r>
          </a:p>
          <a:p>
            <a:pPr eaLnBrk="1" hangingPunct="1"/>
            <a:r>
              <a:rPr lang="zh-CN" altLang="en-US" sz="2800" dirty="0"/>
              <a:t>这里系统</a:t>
            </a:r>
            <a:r>
              <a:rPr lang="zh-CN" altLang="en-US" sz="2800" b="1" dirty="0">
                <a:solidFill>
                  <a:srgbClr val="0000FF"/>
                </a:solidFill>
              </a:rPr>
              <a:t>自动将系名</a:t>
            </a:r>
            <a:r>
              <a:rPr lang="en-US" altLang="zh-CN" sz="2800" b="1" dirty="0">
                <a:solidFill>
                  <a:srgbClr val="0000FF"/>
                </a:solidFill>
              </a:rPr>
              <a:t>'IS'</a:t>
            </a:r>
            <a:r>
              <a:rPr lang="zh-CN" altLang="en-US" sz="2800" dirty="0"/>
              <a:t>放入</a:t>
            </a:r>
            <a:r>
              <a:rPr lang="en-US" altLang="zh-CN" sz="2800" dirty="0">
                <a:solidFill>
                  <a:srgbClr val="FF0000"/>
                </a:solidFill>
              </a:rPr>
              <a:t>VALUES</a:t>
            </a:r>
            <a:r>
              <a:rPr lang="zh-CN" altLang="en-US" sz="2800" dirty="0">
                <a:solidFill>
                  <a:srgbClr val="FF0000"/>
                </a:solidFill>
              </a:rPr>
              <a:t>子句</a:t>
            </a:r>
            <a:r>
              <a:rPr lang="zh-CN" altLang="en-US" sz="2800" dirty="0"/>
              <a:t>中。</a:t>
            </a:r>
          </a:p>
        </p:txBody>
      </p:sp>
      <p:sp>
        <p:nvSpPr>
          <p:cNvPr id="4" name="灯片编号占位符 3">
            <a:extLst>
              <a:ext uri="{FF2B5EF4-FFF2-40B4-BE49-F238E27FC236}">
                <a16:creationId xmlns:a16="http://schemas.microsoft.com/office/drawing/2014/main" id="{27586766-45C3-5831-AA3A-E943E859299D}"/>
              </a:ext>
            </a:extLst>
          </p:cNvPr>
          <p:cNvSpPr>
            <a:spLocks noGrp="1"/>
          </p:cNvSpPr>
          <p:nvPr>
            <p:ph type="sldNum" sz="quarter" idx="12"/>
          </p:nvPr>
        </p:nvSpPr>
        <p:spPr/>
        <p:txBody>
          <a:bodyPr/>
          <a:lstStyle/>
          <a:p>
            <a:pPr>
              <a:defRPr/>
            </a:pPr>
            <a:fld id="{E0CD82EA-F7BE-454B-A83E-18830F6C5424}" type="slidenum">
              <a:rPr lang="en-US" altLang="zh-CN" smtClean="0"/>
              <a:pPr>
                <a:defRPr/>
              </a:pPr>
              <a:t>53</a:t>
            </a:fld>
            <a:r>
              <a:rPr lang="en-US" altLang="zh-CN"/>
              <a:t>/138</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1254">
                                            <p:txEl>
                                              <p:pRg st="1" end="1"/>
                                            </p:txEl>
                                          </p:spTgt>
                                        </p:tgtEl>
                                        <p:attrNameLst>
                                          <p:attrName>style.visibility</p:attrName>
                                        </p:attrNameLst>
                                      </p:cBhvr>
                                      <p:to>
                                        <p:strVal val="visible"/>
                                      </p:to>
                                    </p:set>
                                    <p:anim calcmode="lin" valueType="num">
                                      <p:cBhvr additive="base">
                                        <p:cTn id="7" dur="500" fill="hold"/>
                                        <p:tgtEl>
                                          <p:spTgt spid="18125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125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1254">
                                            <p:txEl>
                                              <p:pRg st="3" end="3"/>
                                            </p:txEl>
                                          </p:spTgt>
                                        </p:tgtEl>
                                        <p:attrNameLst>
                                          <p:attrName>style.visibility</p:attrName>
                                        </p:attrNameLst>
                                      </p:cBhvr>
                                      <p:to>
                                        <p:strVal val="visible"/>
                                      </p:to>
                                    </p:set>
                                    <p:anim calcmode="lin" valueType="num">
                                      <p:cBhvr additive="base">
                                        <p:cTn id="13" dur="500" fill="hold"/>
                                        <p:tgtEl>
                                          <p:spTgt spid="181254">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125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1254">
                                            <p:txEl>
                                              <p:pRg st="4" end="4"/>
                                            </p:txEl>
                                          </p:spTgt>
                                        </p:tgtEl>
                                        <p:attrNameLst>
                                          <p:attrName>style.visibility</p:attrName>
                                        </p:attrNameLst>
                                      </p:cBhvr>
                                      <p:to>
                                        <p:strVal val="visible"/>
                                      </p:to>
                                    </p:set>
                                    <p:anim calcmode="lin" valueType="num">
                                      <p:cBhvr additive="base">
                                        <p:cTn id="19" dur="500" fill="hold"/>
                                        <p:tgtEl>
                                          <p:spTgt spid="18125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125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1254">
                                            <p:txEl>
                                              <p:pRg st="5" end="5"/>
                                            </p:txEl>
                                          </p:spTgt>
                                        </p:tgtEl>
                                        <p:attrNameLst>
                                          <p:attrName>style.visibility</p:attrName>
                                        </p:attrNameLst>
                                      </p:cBhvr>
                                      <p:to>
                                        <p:strVal val="visible"/>
                                      </p:to>
                                    </p:set>
                                    <p:anim calcmode="lin" valueType="num">
                                      <p:cBhvr additive="base">
                                        <p:cTn id="25" dur="500" fill="hold"/>
                                        <p:tgtEl>
                                          <p:spTgt spid="181254">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125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48291949-F483-4A57-8166-CCF9F351B78E}" type="datetime1">
              <a:rPr kumimoji="0" lang="zh-CN" altLang="en-US" sz="1400" smtClean="0"/>
              <a:t>2025/10/15</a:t>
            </a:fld>
            <a:endParaRPr kumimoji="0" lang="en-US" altLang="zh-CN" sz="1400"/>
          </a:p>
        </p:txBody>
      </p:sp>
      <p:sp>
        <p:nvSpPr>
          <p:cNvPr id="18125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81253" name="Rectangle 2"/>
          <p:cNvSpPr>
            <a:spLocks noGrp="1" noChangeArrowheads="1"/>
          </p:cNvSpPr>
          <p:nvPr>
            <p:ph type="title"/>
          </p:nvPr>
        </p:nvSpPr>
        <p:spPr/>
        <p:txBody>
          <a:bodyPr/>
          <a:lstStyle/>
          <a:p>
            <a:pPr eaLnBrk="1" hangingPunct="1"/>
            <a:r>
              <a:rPr lang="en-US" altLang="zh-CN" dirty="0"/>
              <a:t>4.2.4 </a:t>
            </a:r>
            <a:r>
              <a:rPr lang="zh-CN" altLang="en-US" dirty="0"/>
              <a:t>更新视图</a:t>
            </a:r>
          </a:p>
        </p:txBody>
      </p:sp>
      <p:sp>
        <p:nvSpPr>
          <p:cNvPr id="181254" name="Rectangle 3"/>
          <p:cNvSpPr>
            <a:spLocks noGrp="1" noChangeArrowheads="1"/>
          </p:cNvSpPr>
          <p:nvPr>
            <p:ph type="body" idx="1"/>
          </p:nvPr>
        </p:nvSpPr>
        <p:spPr/>
        <p:txBody>
          <a:bodyPr/>
          <a:lstStyle/>
          <a:p>
            <a:pPr eaLnBrk="1" hangingPunct="1">
              <a:buFont typeface="Wingdings" pitchFamily="2" charset="2"/>
              <a:buNone/>
            </a:pPr>
            <a:r>
              <a:rPr lang="zh-CN" altLang="en-US" sz="2800" dirty="0"/>
              <a:t>例</a:t>
            </a:r>
            <a:r>
              <a:rPr lang="en-US" altLang="zh-CN" sz="2800" dirty="0"/>
              <a:t>14  </a:t>
            </a:r>
            <a:r>
              <a:rPr lang="zh-CN" altLang="en-US" sz="2800" dirty="0"/>
              <a:t>向</a:t>
            </a:r>
            <a:r>
              <a:rPr lang="en-US" altLang="zh-CN" sz="2800" dirty="0"/>
              <a:t>faculty</a:t>
            </a:r>
            <a:r>
              <a:rPr lang="zh-CN" altLang="en-US" sz="2800" dirty="0"/>
              <a:t>中插入一条职员信息</a:t>
            </a:r>
          </a:p>
          <a:p>
            <a:pPr lvl="2" eaLnBrk="1" hangingPunct="1">
              <a:buNone/>
            </a:pPr>
            <a:r>
              <a:rPr lang="en-US" altLang="zh-CN" sz="2800" dirty="0">
                <a:solidFill>
                  <a:srgbClr val="000080"/>
                </a:solidFill>
              </a:rPr>
              <a:t>insert into faculty</a:t>
            </a:r>
          </a:p>
          <a:p>
            <a:pPr lvl="2" eaLnBrk="1" hangingPunct="1">
              <a:buNone/>
            </a:pPr>
            <a:r>
              <a:rPr lang="en-US" altLang="zh-CN" sz="2800" dirty="0">
                <a:solidFill>
                  <a:srgbClr val="000080"/>
                </a:solidFill>
              </a:rPr>
              <a:t>values ('30765', 'Green', 'Music');</a:t>
            </a:r>
          </a:p>
          <a:p>
            <a:pPr lvl="2" eaLnBrk="1" hangingPunct="1">
              <a:buNone/>
            </a:pPr>
            <a:endParaRPr lang="en-US" altLang="zh-CN" sz="2000" dirty="0">
              <a:solidFill>
                <a:srgbClr val="000080"/>
              </a:solidFill>
            </a:endParaRPr>
          </a:p>
          <a:p>
            <a:pPr lvl="1" eaLnBrk="1" hangingPunct="1"/>
            <a:r>
              <a:rPr lang="zh-CN" altLang="en-US" sz="2400" dirty="0">
                <a:solidFill>
                  <a:srgbClr val="C00000"/>
                </a:solidFill>
              </a:rPr>
              <a:t>要么拒绝插入，要么补空值插入</a:t>
            </a:r>
            <a:r>
              <a:rPr lang="en-US" altLang="zh-CN" sz="2400" dirty="0">
                <a:solidFill>
                  <a:srgbClr val="C00000"/>
                </a:solidFill>
              </a:rPr>
              <a:t>(</a:t>
            </a:r>
            <a:r>
              <a:rPr lang="zh-CN" altLang="en-US" sz="2400" dirty="0">
                <a:solidFill>
                  <a:srgbClr val="C00000"/>
                </a:solidFill>
              </a:rPr>
              <a:t>非主码或无非空约束</a:t>
            </a:r>
            <a:r>
              <a:rPr lang="en-US" altLang="zh-CN" sz="2400" dirty="0">
                <a:solidFill>
                  <a:srgbClr val="C00000"/>
                </a:solidFill>
              </a:rPr>
              <a:t>)</a:t>
            </a:r>
          </a:p>
          <a:p>
            <a:pPr eaLnBrk="1" hangingPunct="1"/>
            <a:r>
              <a:rPr lang="en-US" altLang="zh-CN" sz="2800" dirty="0">
                <a:solidFill>
                  <a:srgbClr val="C00000"/>
                </a:solidFill>
              </a:rPr>
              <a:t>DBMS</a:t>
            </a:r>
            <a:r>
              <a:rPr lang="zh-CN" altLang="en-US" sz="2800" dirty="0"/>
              <a:t>将其转换为对</a:t>
            </a:r>
            <a:r>
              <a:rPr lang="zh-CN" altLang="en-US" sz="2800" dirty="0">
                <a:solidFill>
                  <a:srgbClr val="000080"/>
                </a:solidFill>
              </a:rPr>
              <a:t>基本表的更新： </a:t>
            </a:r>
            <a:endParaRPr lang="en-US" altLang="zh-CN" sz="2800" dirty="0">
              <a:solidFill>
                <a:srgbClr val="000080"/>
              </a:solidFill>
            </a:endParaRPr>
          </a:p>
          <a:p>
            <a:pPr lvl="2" eaLnBrk="1" hangingPunct="1">
              <a:buNone/>
            </a:pPr>
            <a:r>
              <a:rPr lang="en-US" altLang="zh-CN" sz="2800" dirty="0">
                <a:solidFill>
                  <a:srgbClr val="000080"/>
                </a:solidFill>
              </a:rPr>
              <a:t>insert into instructor</a:t>
            </a:r>
          </a:p>
          <a:p>
            <a:pPr lvl="2" eaLnBrk="1" hangingPunct="1">
              <a:buNone/>
            </a:pPr>
            <a:r>
              <a:rPr lang="en-US" altLang="zh-CN" sz="2800" dirty="0">
                <a:solidFill>
                  <a:srgbClr val="000080"/>
                </a:solidFill>
              </a:rPr>
              <a:t>values (‘30765’, ‘Green’, ‘Music’, </a:t>
            </a:r>
            <a:r>
              <a:rPr lang="en-US" altLang="zh-CN" sz="2800" dirty="0">
                <a:solidFill>
                  <a:srgbClr val="0000FF"/>
                </a:solidFill>
              </a:rPr>
              <a:t>null</a:t>
            </a:r>
            <a:r>
              <a:rPr lang="en-US" altLang="zh-CN" sz="2800" dirty="0">
                <a:solidFill>
                  <a:srgbClr val="000080"/>
                </a:solidFill>
              </a:rPr>
              <a:t>);</a:t>
            </a:r>
          </a:p>
          <a:p>
            <a:pPr marL="0" indent="0" eaLnBrk="1" hangingPunct="1">
              <a:buNone/>
            </a:pPr>
            <a:endParaRPr lang="zh-CN" altLang="en-US" sz="2800" dirty="0"/>
          </a:p>
        </p:txBody>
      </p:sp>
      <p:sp>
        <p:nvSpPr>
          <p:cNvPr id="4" name="灯片编号占位符 3">
            <a:extLst>
              <a:ext uri="{FF2B5EF4-FFF2-40B4-BE49-F238E27FC236}">
                <a16:creationId xmlns:a16="http://schemas.microsoft.com/office/drawing/2014/main" id="{A252FFA0-ECE8-604B-2CD3-8B0BEA60B3BC}"/>
              </a:ext>
            </a:extLst>
          </p:cNvPr>
          <p:cNvSpPr>
            <a:spLocks noGrp="1"/>
          </p:cNvSpPr>
          <p:nvPr>
            <p:ph type="sldNum" sz="quarter" idx="12"/>
          </p:nvPr>
        </p:nvSpPr>
        <p:spPr/>
        <p:txBody>
          <a:bodyPr/>
          <a:lstStyle/>
          <a:p>
            <a:pPr>
              <a:defRPr/>
            </a:pPr>
            <a:fld id="{E0CD82EA-F7BE-454B-A83E-18830F6C5424}" type="slidenum">
              <a:rPr lang="en-US" altLang="zh-CN" smtClean="0"/>
              <a:pPr>
                <a:defRPr/>
              </a:pPr>
              <a:t>54</a:t>
            </a:fld>
            <a:r>
              <a:rPr lang="en-US" altLang="zh-CN"/>
              <a:t>/138</a:t>
            </a:r>
            <a:endParaRPr lang="zh-CN" altLang="en-US" dirty="0"/>
          </a:p>
        </p:txBody>
      </p:sp>
    </p:spTree>
    <p:extLst>
      <p:ext uri="{BB962C8B-B14F-4D97-AF65-F5344CB8AC3E}">
        <p14:creationId xmlns:p14="http://schemas.microsoft.com/office/powerpoint/2010/main" val="32379503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1254">
                                            <p:txEl>
                                              <p:pRg st="5" end="5"/>
                                            </p:txEl>
                                          </p:spTgt>
                                        </p:tgtEl>
                                        <p:attrNameLst>
                                          <p:attrName>style.visibility</p:attrName>
                                        </p:attrNameLst>
                                      </p:cBhvr>
                                      <p:to>
                                        <p:strVal val="visible"/>
                                      </p:to>
                                    </p:set>
                                    <p:anim calcmode="lin" valueType="num">
                                      <p:cBhvr additive="base">
                                        <p:cTn id="7" dur="500" fill="hold"/>
                                        <p:tgtEl>
                                          <p:spTgt spid="181254">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125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1254">
                                            <p:txEl>
                                              <p:pRg st="6" end="6"/>
                                            </p:txEl>
                                          </p:spTgt>
                                        </p:tgtEl>
                                        <p:attrNameLst>
                                          <p:attrName>style.visibility</p:attrName>
                                        </p:attrNameLst>
                                      </p:cBhvr>
                                      <p:to>
                                        <p:strVal val="visible"/>
                                      </p:to>
                                    </p:set>
                                    <p:anim calcmode="lin" valueType="num">
                                      <p:cBhvr additive="base">
                                        <p:cTn id="13" dur="500" fill="hold"/>
                                        <p:tgtEl>
                                          <p:spTgt spid="181254">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125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1254">
                                            <p:txEl>
                                              <p:pRg st="7" end="7"/>
                                            </p:txEl>
                                          </p:spTgt>
                                        </p:tgtEl>
                                        <p:attrNameLst>
                                          <p:attrName>style.visibility</p:attrName>
                                        </p:attrNameLst>
                                      </p:cBhvr>
                                      <p:to>
                                        <p:strVal val="visible"/>
                                      </p:to>
                                    </p:set>
                                    <p:anim calcmode="lin" valueType="num">
                                      <p:cBhvr additive="base">
                                        <p:cTn id="19" dur="500" fill="hold"/>
                                        <p:tgtEl>
                                          <p:spTgt spid="181254">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125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316A5D4B-6865-496C-9FEB-AAB08AB72F96}" type="datetime1">
              <a:rPr kumimoji="0" lang="zh-CN" altLang="en-US" sz="1400" smtClean="0"/>
              <a:t>2025/10/15</a:t>
            </a:fld>
            <a:endParaRPr kumimoji="0" lang="en-US" altLang="zh-CN" sz="1400"/>
          </a:p>
        </p:txBody>
      </p:sp>
      <p:sp>
        <p:nvSpPr>
          <p:cNvPr id="182275"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82277" name="Rectangle 2"/>
          <p:cNvSpPr>
            <a:spLocks noGrp="1" noChangeArrowheads="1"/>
          </p:cNvSpPr>
          <p:nvPr>
            <p:ph type="title"/>
          </p:nvPr>
        </p:nvSpPr>
        <p:spPr/>
        <p:txBody>
          <a:bodyPr/>
          <a:lstStyle/>
          <a:p>
            <a:pPr eaLnBrk="1" hangingPunct="1"/>
            <a:r>
              <a:rPr lang="en-US" altLang="zh-CN" dirty="0"/>
              <a:t>4.2.4 </a:t>
            </a:r>
            <a:r>
              <a:rPr lang="zh-CN" altLang="en-US" dirty="0"/>
              <a:t>更新视图</a:t>
            </a:r>
          </a:p>
        </p:txBody>
      </p:sp>
      <p:sp>
        <p:nvSpPr>
          <p:cNvPr id="182278" name="Rectangle 3"/>
          <p:cNvSpPr>
            <a:spLocks noGrp="1" noChangeArrowheads="1"/>
          </p:cNvSpPr>
          <p:nvPr>
            <p:ph type="body" idx="1"/>
          </p:nvPr>
        </p:nvSpPr>
        <p:spPr/>
        <p:txBody>
          <a:bodyPr/>
          <a:lstStyle/>
          <a:p>
            <a:pPr eaLnBrk="1" hangingPunct="1"/>
            <a:r>
              <a:rPr lang="zh-CN" altLang="en-US" dirty="0"/>
              <a:t>通过视图更新基本表，从理论上来说有的是可以更新的，有的是根本不可能更新的。</a:t>
            </a:r>
          </a:p>
          <a:p>
            <a:pPr eaLnBrk="1" hangingPunct="1"/>
            <a:r>
              <a:rPr lang="zh-CN" altLang="en-US" dirty="0"/>
              <a:t>一般来说，</a:t>
            </a:r>
            <a:r>
              <a:rPr lang="zh-CN" altLang="en-US" dirty="0">
                <a:solidFill>
                  <a:srgbClr val="FF0000"/>
                </a:solidFill>
              </a:rPr>
              <a:t>行列子集视图是可更新的</a:t>
            </a:r>
            <a:r>
              <a:rPr lang="zh-CN" altLang="en-US" dirty="0"/>
              <a:t>。</a:t>
            </a:r>
          </a:p>
          <a:p>
            <a:pPr eaLnBrk="1" hangingPunct="1"/>
            <a:r>
              <a:rPr lang="zh-CN" altLang="en-US" dirty="0"/>
              <a:t>不同系统对视图的更新有不同的规定。</a:t>
            </a:r>
          </a:p>
          <a:p>
            <a:pPr lvl="1" eaLnBrk="1" hangingPunct="1"/>
            <a:r>
              <a:rPr lang="en-US" altLang="zh-CN" dirty="0"/>
              <a:t>Postgres</a:t>
            </a:r>
            <a:r>
              <a:rPr lang="zh-CN" altLang="en-US" dirty="0"/>
              <a:t>系统通过用户定义规则</a:t>
            </a:r>
            <a:r>
              <a:rPr lang="en-US" altLang="zh-CN" dirty="0"/>
              <a:t>(Rule)</a:t>
            </a:r>
            <a:r>
              <a:rPr lang="zh-CN" altLang="en-US" dirty="0"/>
              <a:t>来实现视图更新。</a:t>
            </a:r>
          </a:p>
          <a:p>
            <a:pPr eaLnBrk="1" hangingPunct="1"/>
            <a:endParaRPr lang="zh-CN" altLang="en-US" dirty="0"/>
          </a:p>
        </p:txBody>
      </p:sp>
      <p:sp>
        <p:nvSpPr>
          <p:cNvPr id="4" name="灯片编号占位符 3">
            <a:extLst>
              <a:ext uri="{FF2B5EF4-FFF2-40B4-BE49-F238E27FC236}">
                <a16:creationId xmlns:a16="http://schemas.microsoft.com/office/drawing/2014/main" id="{99174927-9799-4D7C-E09D-1218C02C7C34}"/>
              </a:ext>
            </a:extLst>
          </p:cNvPr>
          <p:cNvSpPr>
            <a:spLocks noGrp="1"/>
          </p:cNvSpPr>
          <p:nvPr>
            <p:ph type="sldNum" sz="quarter" idx="12"/>
          </p:nvPr>
        </p:nvSpPr>
        <p:spPr/>
        <p:txBody>
          <a:bodyPr/>
          <a:lstStyle/>
          <a:p>
            <a:pPr>
              <a:defRPr/>
            </a:pPr>
            <a:fld id="{E0CD82EA-F7BE-454B-A83E-18830F6C5424}" type="slidenum">
              <a:rPr lang="en-US" altLang="zh-CN" smtClean="0"/>
              <a:pPr>
                <a:defRPr/>
              </a:pPr>
              <a:t>55</a:t>
            </a:fld>
            <a:r>
              <a:rPr lang="en-US" altLang="zh-CN"/>
              <a:t>/138</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2278">
                                            <p:txEl>
                                              <p:pRg st="1" end="1"/>
                                            </p:txEl>
                                          </p:spTgt>
                                        </p:tgtEl>
                                        <p:attrNameLst>
                                          <p:attrName>style.visibility</p:attrName>
                                        </p:attrNameLst>
                                      </p:cBhvr>
                                      <p:to>
                                        <p:strVal val="visible"/>
                                      </p:to>
                                    </p:set>
                                    <p:anim calcmode="lin" valueType="num">
                                      <p:cBhvr additive="base">
                                        <p:cTn id="7" dur="500" fill="hold"/>
                                        <p:tgtEl>
                                          <p:spTgt spid="18227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227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2278">
                                            <p:txEl>
                                              <p:pRg st="2" end="2"/>
                                            </p:txEl>
                                          </p:spTgt>
                                        </p:tgtEl>
                                        <p:attrNameLst>
                                          <p:attrName>style.visibility</p:attrName>
                                        </p:attrNameLst>
                                      </p:cBhvr>
                                      <p:to>
                                        <p:strVal val="visible"/>
                                      </p:to>
                                    </p:set>
                                    <p:anim calcmode="lin" valueType="num">
                                      <p:cBhvr additive="base">
                                        <p:cTn id="13" dur="500" fill="hold"/>
                                        <p:tgtEl>
                                          <p:spTgt spid="18227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2278">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82278">
                                            <p:txEl>
                                              <p:pRg st="3" end="3"/>
                                            </p:txEl>
                                          </p:spTgt>
                                        </p:tgtEl>
                                        <p:attrNameLst>
                                          <p:attrName>style.visibility</p:attrName>
                                        </p:attrNameLst>
                                      </p:cBhvr>
                                      <p:to>
                                        <p:strVal val="visible"/>
                                      </p:to>
                                    </p:set>
                                    <p:anim calcmode="lin" valueType="num">
                                      <p:cBhvr additive="base">
                                        <p:cTn id="17" dur="500" fill="hold"/>
                                        <p:tgtEl>
                                          <p:spTgt spid="182278">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8227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EC4C4D3B-82F1-422C-9A26-3B74C4813CB2}" type="datetime1">
              <a:rPr kumimoji="0" lang="zh-CN" altLang="en-US" sz="1400" smtClean="0"/>
              <a:t>2025/10/15</a:t>
            </a:fld>
            <a:endParaRPr kumimoji="0" lang="en-US" altLang="zh-CN" sz="1400"/>
          </a:p>
        </p:txBody>
      </p:sp>
      <p:sp>
        <p:nvSpPr>
          <p:cNvPr id="183299"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83301" name="Rectangle 2"/>
          <p:cNvSpPr>
            <a:spLocks noGrp="1" noChangeArrowheads="1"/>
          </p:cNvSpPr>
          <p:nvPr>
            <p:ph type="title"/>
          </p:nvPr>
        </p:nvSpPr>
        <p:spPr/>
        <p:txBody>
          <a:bodyPr/>
          <a:lstStyle/>
          <a:p>
            <a:pPr eaLnBrk="1" hangingPunct="1"/>
            <a:r>
              <a:rPr lang="en-US" altLang="zh-CN" dirty="0"/>
              <a:t>4.2.5 </a:t>
            </a:r>
            <a:r>
              <a:rPr lang="zh-CN" altLang="en-US" dirty="0"/>
              <a:t>视图的优点</a:t>
            </a:r>
          </a:p>
        </p:txBody>
      </p:sp>
      <p:sp>
        <p:nvSpPr>
          <p:cNvPr id="183302" name="Rectangle 3"/>
          <p:cNvSpPr>
            <a:spLocks noGrp="1" noChangeArrowheads="1"/>
          </p:cNvSpPr>
          <p:nvPr>
            <p:ph type="body" idx="1"/>
          </p:nvPr>
        </p:nvSpPr>
        <p:spPr/>
        <p:txBody>
          <a:bodyPr/>
          <a:lstStyle/>
          <a:p>
            <a:pPr eaLnBrk="1" hangingPunct="1"/>
            <a:r>
              <a:rPr lang="zh-CN" altLang="en-US" dirty="0"/>
              <a:t>视图能够</a:t>
            </a:r>
            <a:r>
              <a:rPr lang="zh-CN" altLang="en-US" dirty="0">
                <a:solidFill>
                  <a:srgbClr val="C00000"/>
                </a:solidFill>
              </a:rPr>
              <a:t>简化用户的操作</a:t>
            </a:r>
            <a:endParaRPr lang="en-US" altLang="zh-CN" dirty="0">
              <a:solidFill>
                <a:srgbClr val="C00000"/>
              </a:solidFill>
            </a:endParaRPr>
          </a:p>
          <a:p>
            <a:pPr lvl="1" eaLnBrk="1" hangingPunct="1"/>
            <a:r>
              <a:rPr lang="zh-CN" altLang="en-US" dirty="0">
                <a:solidFill>
                  <a:srgbClr val="0000FF"/>
                </a:solidFill>
              </a:rPr>
              <a:t>集中在所关心数据上</a:t>
            </a:r>
          </a:p>
          <a:p>
            <a:pPr eaLnBrk="1" hangingPunct="1"/>
            <a:r>
              <a:rPr lang="zh-CN" altLang="en-US" dirty="0"/>
              <a:t>视图使用户能以</a:t>
            </a:r>
            <a:r>
              <a:rPr lang="zh-CN" altLang="en-US" dirty="0">
                <a:solidFill>
                  <a:srgbClr val="C00000"/>
                </a:solidFill>
              </a:rPr>
              <a:t>多种角度</a:t>
            </a:r>
            <a:r>
              <a:rPr lang="zh-CN" altLang="en-US" dirty="0"/>
              <a:t>看待同一数据</a:t>
            </a:r>
          </a:p>
          <a:p>
            <a:pPr eaLnBrk="1" hangingPunct="1"/>
            <a:r>
              <a:rPr lang="zh-CN" altLang="en-US" dirty="0"/>
              <a:t>视图对</a:t>
            </a:r>
            <a:r>
              <a:rPr lang="zh-CN" altLang="en-US" dirty="0">
                <a:solidFill>
                  <a:srgbClr val="C00000"/>
                </a:solidFill>
              </a:rPr>
              <a:t>重构数据库</a:t>
            </a:r>
            <a:r>
              <a:rPr lang="zh-CN" altLang="en-US" dirty="0"/>
              <a:t>提供了一定程度的逻辑独立性</a:t>
            </a:r>
            <a:endParaRPr lang="en-US" altLang="zh-CN" dirty="0"/>
          </a:p>
          <a:p>
            <a:pPr lvl="1" eaLnBrk="1" hangingPunct="1"/>
            <a:r>
              <a:rPr lang="zh-CN" altLang="en-US" dirty="0">
                <a:solidFill>
                  <a:srgbClr val="0000FF"/>
                </a:solidFill>
              </a:rPr>
              <a:t>数据的逻辑独立性</a:t>
            </a:r>
            <a:endParaRPr lang="zh-CN" altLang="en-US" dirty="0"/>
          </a:p>
          <a:p>
            <a:pPr eaLnBrk="1" hangingPunct="1"/>
            <a:r>
              <a:rPr lang="zh-CN" altLang="en-US" dirty="0"/>
              <a:t>视图能够对</a:t>
            </a:r>
            <a:r>
              <a:rPr lang="zh-CN" altLang="en-US" dirty="0">
                <a:solidFill>
                  <a:srgbClr val="C00000"/>
                </a:solidFill>
              </a:rPr>
              <a:t>机密数据</a:t>
            </a:r>
            <a:r>
              <a:rPr lang="zh-CN" altLang="en-US" dirty="0"/>
              <a:t>提供</a:t>
            </a:r>
            <a:r>
              <a:rPr lang="zh-CN" altLang="en-US" dirty="0">
                <a:solidFill>
                  <a:srgbClr val="C00000"/>
                </a:solidFill>
              </a:rPr>
              <a:t>安全保护</a:t>
            </a:r>
            <a:endParaRPr lang="en-US" altLang="zh-CN" dirty="0">
              <a:solidFill>
                <a:srgbClr val="C00000"/>
              </a:solidFill>
            </a:endParaRPr>
          </a:p>
          <a:p>
            <a:pPr lvl="1" eaLnBrk="1" hangingPunct="1"/>
            <a:r>
              <a:rPr lang="zh-CN" altLang="en-US" dirty="0">
                <a:solidFill>
                  <a:srgbClr val="0000FF"/>
                </a:solidFill>
              </a:rPr>
              <a:t>不同用户定义不同视图</a:t>
            </a:r>
          </a:p>
          <a:p>
            <a:pPr eaLnBrk="1" hangingPunct="1"/>
            <a:r>
              <a:rPr lang="zh-CN" altLang="en-US" dirty="0"/>
              <a:t>合理利用视图，能</a:t>
            </a:r>
            <a:r>
              <a:rPr lang="zh-CN" altLang="en-US" b="1" dirty="0">
                <a:solidFill>
                  <a:srgbClr val="C00000"/>
                </a:solidFill>
              </a:rPr>
              <a:t>方便复杂查询</a:t>
            </a:r>
          </a:p>
        </p:txBody>
      </p:sp>
      <p:sp>
        <p:nvSpPr>
          <p:cNvPr id="4" name="灯片编号占位符 3">
            <a:extLst>
              <a:ext uri="{FF2B5EF4-FFF2-40B4-BE49-F238E27FC236}">
                <a16:creationId xmlns:a16="http://schemas.microsoft.com/office/drawing/2014/main" id="{DA99D5A9-A1DD-31D2-B9CA-717CFCB8367B}"/>
              </a:ext>
            </a:extLst>
          </p:cNvPr>
          <p:cNvSpPr>
            <a:spLocks noGrp="1"/>
          </p:cNvSpPr>
          <p:nvPr>
            <p:ph type="sldNum" sz="quarter" idx="12"/>
          </p:nvPr>
        </p:nvSpPr>
        <p:spPr/>
        <p:txBody>
          <a:bodyPr/>
          <a:lstStyle/>
          <a:p>
            <a:pPr>
              <a:defRPr/>
            </a:pPr>
            <a:fld id="{E0CD82EA-F7BE-454B-A83E-18830F6C5424}" type="slidenum">
              <a:rPr lang="en-US" altLang="zh-CN" smtClean="0"/>
              <a:pPr>
                <a:defRPr/>
              </a:pPr>
              <a:t>56</a:t>
            </a:fld>
            <a:r>
              <a:rPr lang="en-US" altLang="zh-CN"/>
              <a:t>/138</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3302">
                                            <p:txEl>
                                              <p:pRg st="2" end="2"/>
                                            </p:txEl>
                                          </p:spTgt>
                                        </p:tgtEl>
                                        <p:attrNameLst>
                                          <p:attrName>style.visibility</p:attrName>
                                        </p:attrNameLst>
                                      </p:cBhvr>
                                      <p:to>
                                        <p:strVal val="visible"/>
                                      </p:to>
                                    </p:set>
                                    <p:anim calcmode="lin" valueType="num">
                                      <p:cBhvr additive="base">
                                        <p:cTn id="7" dur="500" fill="hold"/>
                                        <p:tgtEl>
                                          <p:spTgt spid="18330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330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3302">
                                            <p:txEl>
                                              <p:pRg st="3" end="3"/>
                                            </p:txEl>
                                          </p:spTgt>
                                        </p:tgtEl>
                                        <p:attrNameLst>
                                          <p:attrName>style.visibility</p:attrName>
                                        </p:attrNameLst>
                                      </p:cBhvr>
                                      <p:to>
                                        <p:strVal val="visible"/>
                                      </p:to>
                                    </p:set>
                                    <p:anim calcmode="lin" valueType="num">
                                      <p:cBhvr additive="base">
                                        <p:cTn id="13" dur="500" fill="hold"/>
                                        <p:tgtEl>
                                          <p:spTgt spid="18330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3302">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83302">
                                            <p:txEl>
                                              <p:pRg st="4" end="4"/>
                                            </p:txEl>
                                          </p:spTgt>
                                        </p:tgtEl>
                                        <p:attrNameLst>
                                          <p:attrName>style.visibility</p:attrName>
                                        </p:attrNameLst>
                                      </p:cBhvr>
                                      <p:to>
                                        <p:strVal val="visible"/>
                                      </p:to>
                                    </p:set>
                                    <p:anim calcmode="lin" valueType="num">
                                      <p:cBhvr additive="base">
                                        <p:cTn id="17" dur="500" fill="hold"/>
                                        <p:tgtEl>
                                          <p:spTgt spid="183302">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8330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83302">
                                            <p:txEl>
                                              <p:pRg st="5" end="5"/>
                                            </p:txEl>
                                          </p:spTgt>
                                        </p:tgtEl>
                                        <p:attrNameLst>
                                          <p:attrName>style.visibility</p:attrName>
                                        </p:attrNameLst>
                                      </p:cBhvr>
                                      <p:to>
                                        <p:strVal val="visible"/>
                                      </p:to>
                                    </p:set>
                                    <p:anim calcmode="lin" valueType="num">
                                      <p:cBhvr additive="base">
                                        <p:cTn id="23" dur="500" fill="hold"/>
                                        <p:tgtEl>
                                          <p:spTgt spid="18330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3302">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83302">
                                            <p:txEl>
                                              <p:pRg st="6" end="6"/>
                                            </p:txEl>
                                          </p:spTgt>
                                        </p:tgtEl>
                                        <p:attrNameLst>
                                          <p:attrName>style.visibility</p:attrName>
                                        </p:attrNameLst>
                                      </p:cBhvr>
                                      <p:to>
                                        <p:strVal val="visible"/>
                                      </p:to>
                                    </p:set>
                                    <p:anim calcmode="lin" valueType="num">
                                      <p:cBhvr additive="base">
                                        <p:cTn id="27" dur="500" fill="hold"/>
                                        <p:tgtEl>
                                          <p:spTgt spid="183302">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330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83302">
                                            <p:txEl>
                                              <p:pRg st="7" end="7"/>
                                            </p:txEl>
                                          </p:spTgt>
                                        </p:tgtEl>
                                        <p:attrNameLst>
                                          <p:attrName>style.visibility</p:attrName>
                                        </p:attrNameLst>
                                      </p:cBhvr>
                                      <p:to>
                                        <p:strVal val="visible"/>
                                      </p:to>
                                    </p:set>
                                    <p:anim calcmode="lin" valueType="num">
                                      <p:cBhvr additive="base">
                                        <p:cTn id="33" dur="500" fill="hold"/>
                                        <p:tgtEl>
                                          <p:spTgt spid="183302">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8330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BD92DBA5-E8DC-4034-94D5-9E79A6E8DAD8}" type="datetime1">
              <a:rPr kumimoji="0" lang="zh-CN" altLang="en-US" sz="1400" smtClean="0"/>
              <a:t>2025/10/15</a:t>
            </a:fld>
            <a:endParaRPr kumimoji="0" lang="en-US" altLang="zh-CN" sz="1400"/>
          </a:p>
        </p:txBody>
      </p:sp>
      <p:sp>
        <p:nvSpPr>
          <p:cNvPr id="18432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84325" name="Rectangle 2"/>
          <p:cNvSpPr>
            <a:spLocks noGrp="1" noChangeArrowheads="1"/>
          </p:cNvSpPr>
          <p:nvPr>
            <p:ph type="title"/>
          </p:nvPr>
        </p:nvSpPr>
        <p:spPr/>
        <p:txBody>
          <a:bodyPr/>
          <a:lstStyle/>
          <a:p>
            <a:pPr eaLnBrk="1" hangingPunct="1"/>
            <a:r>
              <a:rPr lang="en-US" altLang="zh-CN" dirty="0"/>
              <a:t>4.2.5 </a:t>
            </a:r>
            <a:r>
              <a:rPr lang="zh-CN" altLang="en-US" dirty="0"/>
              <a:t>视图的优点</a:t>
            </a:r>
          </a:p>
        </p:txBody>
      </p:sp>
      <p:sp>
        <p:nvSpPr>
          <p:cNvPr id="184326" name="Rectangle 3"/>
          <p:cNvSpPr>
            <a:spLocks noGrp="1" noChangeArrowheads="1"/>
          </p:cNvSpPr>
          <p:nvPr>
            <p:ph type="body" idx="1"/>
          </p:nvPr>
        </p:nvSpPr>
        <p:spPr>
          <a:xfrm>
            <a:off x="584791" y="1371600"/>
            <a:ext cx="8345488" cy="5253038"/>
          </a:xfrm>
          <a:solidFill>
            <a:schemeClr val="bg1"/>
          </a:solidFill>
        </p:spPr>
        <p:txBody>
          <a:bodyPr/>
          <a:lstStyle/>
          <a:p>
            <a:pPr eaLnBrk="1" hangingPunct="1">
              <a:lnSpc>
                <a:spcPct val="90000"/>
              </a:lnSpc>
            </a:pPr>
            <a:r>
              <a:rPr lang="zh-CN" altLang="en-US" sz="2800" dirty="0"/>
              <a:t>补充例  查询</a:t>
            </a:r>
            <a:r>
              <a:rPr lang="zh-CN" altLang="en-US" sz="2800" dirty="0">
                <a:solidFill>
                  <a:srgbClr val="0000FF"/>
                </a:solidFill>
              </a:rPr>
              <a:t>各科总成绩</a:t>
            </a:r>
            <a:r>
              <a:rPr lang="zh-CN" altLang="en-US" sz="2800" dirty="0"/>
              <a:t>高于</a:t>
            </a:r>
            <a:r>
              <a:rPr lang="zh-CN" altLang="en-US" sz="2800" dirty="0">
                <a:solidFill>
                  <a:srgbClr val="FF0000"/>
                </a:solidFill>
              </a:rPr>
              <a:t>平均总成绩</a:t>
            </a:r>
            <a:r>
              <a:rPr lang="zh-CN" altLang="en-US" sz="2800" dirty="0"/>
              <a:t>的</a:t>
            </a:r>
            <a:r>
              <a:rPr lang="zh-CN" altLang="en-US" sz="2800" b="1" dirty="0">
                <a:solidFill>
                  <a:srgbClr val="006600"/>
                </a:solidFill>
              </a:rPr>
              <a:t>学生</a:t>
            </a:r>
            <a:r>
              <a:rPr lang="zh-CN" altLang="en-US" sz="2800" dirty="0"/>
              <a:t>的</a:t>
            </a:r>
            <a:r>
              <a:rPr lang="zh-CN" altLang="en-US" sz="2800" u="sng" dirty="0"/>
              <a:t>学号和总成绩</a:t>
            </a:r>
            <a:r>
              <a:rPr lang="zh-CN" altLang="en-US" sz="2800" dirty="0"/>
              <a:t>。</a:t>
            </a:r>
          </a:p>
          <a:p>
            <a:pPr lvl="1" eaLnBrk="1" hangingPunct="1">
              <a:lnSpc>
                <a:spcPct val="90000"/>
              </a:lnSpc>
            </a:pPr>
            <a:r>
              <a:rPr lang="en-US" altLang="zh-CN" sz="2400" dirty="0">
                <a:solidFill>
                  <a:srgbClr val="C00000"/>
                </a:solidFill>
              </a:rPr>
              <a:t>create view </a:t>
            </a:r>
            <a:r>
              <a:rPr lang="en-US" altLang="zh-CN" sz="2400" dirty="0" err="1"/>
              <a:t>student_total</a:t>
            </a:r>
            <a:r>
              <a:rPr lang="en-US" altLang="zh-CN" sz="2400" dirty="0"/>
              <a:t> (</a:t>
            </a:r>
            <a:r>
              <a:rPr lang="en-US" altLang="zh-CN" sz="2400" dirty="0" err="1">
                <a:solidFill>
                  <a:srgbClr val="0000FF"/>
                </a:solidFill>
              </a:rPr>
              <a:t>sno</a:t>
            </a:r>
            <a:r>
              <a:rPr lang="en-US" altLang="zh-CN" sz="2400" dirty="0">
                <a:solidFill>
                  <a:srgbClr val="0000FF"/>
                </a:solidFill>
              </a:rPr>
              <a:t>, total</a:t>
            </a:r>
            <a:r>
              <a:rPr lang="en-US" altLang="zh-CN" sz="2400" dirty="0"/>
              <a:t>)</a:t>
            </a:r>
          </a:p>
          <a:p>
            <a:pPr lvl="1" eaLnBrk="1" hangingPunct="1">
              <a:lnSpc>
                <a:spcPct val="90000"/>
              </a:lnSpc>
              <a:buFont typeface="Wingdings" pitchFamily="2" charset="2"/>
              <a:buNone/>
            </a:pPr>
            <a:r>
              <a:rPr lang="en-US" altLang="zh-CN" sz="2400" dirty="0"/>
              <a:t>   </a:t>
            </a:r>
            <a:r>
              <a:rPr lang="en-US" altLang="zh-CN" sz="2400" dirty="0">
                <a:solidFill>
                  <a:srgbClr val="FF0000"/>
                </a:solidFill>
              </a:rPr>
              <a:t>as</a:t>
            </a:r>
            <a:r>
              <a:rPr lang="en-US" altLang="zh-CN" sz="2400" dirty="0"/>
              <a:t> select</a:t>
            </a:r>
            <a:r>
              <a:rPr lang="en-US" altLang="zh-CN" sz="2400" dirty="0">
                <a:solidFill>
                  <a:srgbClr val="0000FF"/>
                </a:solidFill>
              </a:rPr>
              <a:t> </a:t>
            </a:r>
            <a:r>
              <a:rPr lang="en-US" altLang="zh-CN" sz="2400" dirty="0" err="1"/>
              <a:t>sno</a:t>
            </a:r>
            <a:r>
              <a:rPr lang="en-US" altLang="zh-CN" sz="2400" dirty="0"/>
              <a:t>, </a:t>
            </a:r>
            <a:r>
              <a:rPr lang="en-US" altLang="zh-CN" sz="2400" dirty="0">
                <a:solidFill>
                  <a:srgbClr val="0000FF"/>
                </a:solidFill>
              </a:rPr>
              <a:t>sum(grade)</a:t>
            </a:r>
            <a:r>
              <a:rPr lang="en-US" altLang="zh-CN" sz="2400" dirty="0"/>
              <a:t> </a:t>
            </a:r>
          </a:p>
          <a:p>
            <a:pPr lvl="1" eaLnBrk="1" hangingPunct="1">
              <a:lnSpc>
                <a:spcPct val="90000"/>
              </a:lnSpc>
              <a:buFont typeface="Wingdings" pitchFamily="2" charset="2"/>
              <a:buNone/>
            </a:pPr>
            <a:r>
              <a:rPr lang="en-US" altLang="zh-CN" sz="2400" dirty="0">
                <a:solidFill>
                  <a:srgbClr val="0000FF"/>
                </a:solidFill>
              </a:rPr>
              <a:t>       </a:t>
            </a:r>
            <a:r>
              <a:rPr lang="en-US" altLang="zh-CN" sz="2400" dirty="0"/>
              <a:t>from </a:t>
            </a:r>
            <a:r>
              <a:rPr lang="en-US" altLang="zh-CN" sz="2400" dirty="0" err="1"/>
              <a:t>sc</a:t>
            </a:r>
            <a:endParaRPr lang="en-US" altLang="zh-CN" sz="2400" dirty="0"/>
          </a:p>
          <a:p>
            <a:pPr lvl="1" eaLnBrk="1" hangingPunct="1">
              <a:lnSpc>
                <a:spcPct val="90000"/>
              </a:lnSpc>
              <a:buFont typeface="Wingdings" pitchFamily="2" charset="2"/>
              <a:buNone/>
            </a:pPr>
            <a:r>
              <a:rPr lang="en-US" altLang="zh-CN" sz="2400" dirty="0"/>
              <a:t>       group by </a:t>
            </a:r>
            <a:r>
              <a:rPr lang="en-US" altLang="zh-CN" sz="2400" dirty="0" err="1"/>
              <a:t>sno</a:t>
            </a:r>
            <a:r>
              <a:rPr lang="en-US" altLang="zh-CN" sz="2400" dirty="0"/>
              <a:t>; //</a:t>
            </a:r>
            <a:r>
              <a:rPr lang="zh-CN" altLang="en-US" sz="2400" dirty="0"/>
              <a:t>学生各科总成绩</a:t>
            </a:r>
            <a:endParaRPr lang="en-US" altLang="zh-CN" sz="2400" dirty="0"/>
          </a:p>
          <a:p>
            <a:pPr lvl="1" eaLnBrk="1" hangingPunct="1">
              <a:lnSpc>
                <a:spcPct val="90000"/>
              </a:lnSpc>
            </a:pPr>
            <a:r>
              <a:rPr lang="en-US" altLang="zh-CN" sz="2400" dirty="0">
                <a:solidFill>
                  <a:srgbClr val="C00000"/>
                </a:solidFill>
              </a:rPr>
              <a:t>create view </a:t>
            </a:r>
            <a:r>
              <a:rPr lang="en-US" altLang="zh-CN" sz="2400" dirty="0" err="1"/>
              <a:t>student_total_avg</a:t>
            </a:r>
            <a:r>
              <a:rPr lang="en-US" altLang="zh-CN" sz="2400" dirty="0"/>
              <a:t> (</a:t>
            </a:r>
            <a:r>
              <a:rPr lang="en-US" altLang="zh-CN" sz="2400" dirty="0" err="1">
                <a:solidFill>
                  <a:srgbClr val="FF0000"/>
                </a:solidFill>
              </a:rPr>
              <a:t>total_avg</a:t>
            </a:r>
            <a:r>
              <a:rPr lang="en-US" altLang="zh-CN" sz="2400" dirty="0"/>
              <a:t>)</a:t>
            </a:r>
          </a:p>
          <a:p>
            <a:pPr marL="457200" lvl="1" indent="0" eaLnBrk="1" hangingPunct="1">
              <a:lnSpc>
                <a:spcPct val="90000"/>
              </a:lnSpc>
              <a:buNone/>
            </a:pPr>
            <a:r>
              <a:rPr lang="en-US" altLang="zh-CN" sz="2400" dirty="0"/>
              <a:t>   </a:t>
            </a:r>
            <a:r>
              <a:rPr lang="en-US" altLang="zh-CN" sz="2400" dirty="0">
                <a:solidFill>
                  <a:srgbClr val="FF0000"/>
                </a:solidFill>
              </a:rPr>
              <a:t>as</a:t>
            </a:r>
            <a:r>
              <a:rPr lang="en-US" altLang="zh-CN" sz="2400" dirty="0"/>
              <a:t> select </a:t>
            </a:r>
            <a:r>
              <a:rPr lang="en-US" altLang="zh-CN" sz="2400" dirty="0">
                <a:solidFill>
                  <a:srgbClr val="FF0000"/>
                </a:solidFill>
              </a:rPr>
              <a:t>avg(total)</a:t>
            </a:r>
            <a:r>
              <a:rPr lang="en-US" altLang="zh-CN" sz="2400" dirty="0"/>
              <a:t> from </a:t>
            </a:r>
            <a:r>
              <a:rPr lang="en-US" altLang="zh-CN" sz="2400" dirty="0" err="1">
                <a:solidFill>
                  <a:srgbClr val="C00000"/>
                </a:solidFill>
              </a:rPr>
              <a:t>student_total</a:t>
            </a:r>
            <a:r>
              <a:rPr lang="en-US" altLang="zh-CN" sz="2400" dirty="0"/>
              <a:t>;//</a:t>
            </a:r>
            <a:r>
              <a:rPr lang="zh-CN" altLang="en-US" sz="2400" dirty="0"/>
              <a:t>平均总成绩</a:t>
            </a:r>
            <a:endParaRPr lang="en-US" altLang="zh-CN" sz="2400" dirty="0"/>
          </a:p>
          <a:p>
            <a:pPr lvl="1" eaLnBrk="1" hangingPunct="1">
              <a:lnSpc>
                <a:spcPct val="90000"/>
              </a:lnSpc>
            </a:pPr>
            <a:r>
              <a:rPr lang="en-US" altLang="zh-CN" sz="2400" dirty="0"/>
              <a:t>select * </a:t>
            </a:r>
          </a:p>
          <a:p>
            <a:pPr lvl="1" eaLnBrk="1" hangingPunct="1">
              <a:lnSpc>
                <a:spcPct val="90000"/>
              </a:lnSpc>
              <a:buFont typeface="Wingdings" pitchFamily="2" charset="2"/>
              <a:buNone/>
            </a:pPr>
            <a:r>
              <a:rPr lang="en-US" altLang="zh-CN" sz="2400" dirty="0"/>
              <a:t>   from </a:t>
            </a:r>
            <a:r>
              <a:rPr lang="en-US" altLang="zh-CN" sz="2400" dirty="0" err="1"/>
              <a:t>student_total</a:t>
            </a:r>
            <a:r>
              <a:rPr lang="en-US" altLang="zh-CN" sz="2400" dirty="0"/>
              <a:t>, </a:t>
            </a:r>
            <a:r>
              <a:rPr lang="en-US" altLang="zh-CN" sz="2400" dirty="0" err="1"/>
              <a:t>student_total_avg</a:t>
            </a:r>
            <a:r>
              <a:rPr lang="en-US" altLang="zh-CN" sz="2400" dirty="0"/>
              <a:t> </a:t>
            </a:r>
          </a:p>
          <a:p>
            <a:pPr lvl="1" eaLnBrk="1" hangingPunct="1">
              <a:lnSpc>
                <a:spcPct val="90000"/>
              </a:lnSpc>
              <a:buFont typeface="Wingdings" pitchFamily="2" charset="2"/>
              <a:buNone/>
            </a:pPr>
            <a:r>
              <a:rPr lang="en-US" altLang="zh-CN" sz="2400" dirty="0"/>
              <a:t>   where </a:t>
            </a:r>
            <a:r>
              <a:rPr lang="en-US" altLang="zh-CN" sz="2400" dirty="0">
                <a:solidFill>
                  <a:srgbClr val="FF0000"/>
                </a:solidFill>
              </a:rPr>
              <a:t>total</a:t>
            </a:r>
            <a:r>
              <a:rPr lang="en-US" altLang="zh-CN" sz="2400" dirty="0"/>
              <a:t>&gt;</a:t>
            </a:r>
            <a:r>
              <a:rPr lang="en-US" altLang="zh-CN" sz="2400" dirty="0" err="1">
                <a:solidFill>
                  <a:srgbClr val="0000FF"/>
                </a:solidFill>
              </a:rPr>
              <a:t>total_avg</a:t>
            </a:r>
            <a:r>
              <a:rPr lang="en-US" altLang="zh-CN" sz="2400" dirty="0"/>
              <a:t>;</a:t>
            </a:r>
            <a:endParaRPr lang="zh-CN" altLang="en-US" sz="2400" dirty="0"/>
          </a:p>
        </p:txBody>
      </p:sp>
      <p:sp>
        <p:nvSpPr>
          <p:cNvPr id="4" name="灯片编号占位符 3">
            <a:extLst>
              <a:ext uri="{FF2B5EF4-FFF2-40B4-BE49-F238E27FC236}">
                <a16:creationId xmlns:a16="http://schemas.microsoft.com/office/drawing/2014/main" id="{CD949D15-1EE6-250E-8573-B0168E03A1DA}"/>
              </a:ext>
            </a:extLst>
          </p:cNvPr>
          <p:cNvSpPr>
            <a:spLocks noGrp="1"/>
          </p:cNvSpPr>
          <p:nvPr>
            <p:ph type="sldNum" sz="quarter" idx="12"/>
          </p:nvPr>
        </p:nvSpPr>
        <p:spPr/>
        <p:txBody>
          <a:bodyPr/>
          <a:lstStyle/>
          <a:p>
            <a:pPr>
              <a:defRPr/>
            </a:pPr>
            <a:fld id="{E0CD82EA-F7BE-454B-A83E-18830F6C5424}" type="slidenum">
              <a:rPr lang="en-US" altLang="zh-CN" smtClean="0"/>
              <a:pPr>
                <a:defRPr/>
              </a:pPr>
              <a:t>57</a:t>
            </a:fld>
            <a:r>
              <a:rPr lang="en-US" altLang="zh-CN"/>
              <a:t>/138</a:t>
            </a:r>
            <a:endParaRPr lang="zh-CN" altLang="en-US"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4326">
                                            <p:txEl>
                                              <p:pRg st="1" end="1"/>
                                            </p:txEl>
                                          </p:spTgt>
                                        </p:tgtEl>
                                        <p:attrNameLst>
                                          <p:attrName>style.visibility</p:attrName>
                                        </p:attrNameLst>
                                      </p:cBhvr>
                                      <p:to>
                                        <p:strVal val="visible"/>
                                      </p:to>
                                    </p:set>
                                    <p:anim calcmode="lin" valueType="num">
                                      <p:cBhvr additive="base">
                                        <p:cTn id="7" dur="500" fill="hold"/>
                                        <p:tgtEl>
                                          <p:spTgt spid="18432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2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4326">
                                            <p:txEl>
                                              <p:pRg st="2" end="2"/>
                                            </p:txEl>
                                          </p:spTgt>
                                        </p:tgtEl>
                                        <p:attrNameLst>
                                          <p:attrName>style.visibility</p:attrName>
                                        </p:attrNameLst>
                                      </p:cBhvr>
                                      <p:to>
                                        <p:strVal val="visible"/>
                                      </p:to>
                                    </p:set>
                                    <p:anim calcmode="lin" valueType="num">
                                      <p:cBhvr additive="base">
                                        <p:cTn id="11" dur="500" fill="hold"/>
                                        <p:tgtEl>
                                          <p:spTgt spid="18432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432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84326">
                                            <p:txEl>
                                              <p:pRg st="3" end="3"/>
                                            </p:txEl>
                                          </p:spTgt>
                                        </p:tgtEl>
                                        <p:attrNameLst>
                                          <p:attrName>style.visibility</p:attrName>
                                        </p:attrNameLst>
                                      </p:cBhvr>
                                      <p:to>
                                        <p:strVal val="visible"/>
                                      </p:to>
                                    </p:set>
                                    <p:anim calcmode="lin" valueType="num">
                                      <p:cBhvr additive="base">
                                        <p:cTn id="15" dur="500" fill="hold"/>
                                        <p:tgtEl>
                                          <p:spTgt spid="184326">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4326">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4326">
                                            <p:txEl>
                                              <p:pRg st="4" end="4"/>
                                            </p:txEl>
                                          </p:spTgt>
                                        </p:tgtEl>
                                        <p:attrNameLst>
                                          <p:attrName>style.visibility</p:attrName>
                                        </p:attrNameLst>
                                      </p:cBhvr>
                                      <p:to>
                                        <p:strVal val="visible"/>
                                      </p:to>
                                    </p:set>
                                    <p:anim calcmode="lin" valueType="num">
                                      <p:cBhvr additive="base">
                                        <p:cTn id="19" dur="500" fill="hold"/>
                                        <p:tgtEl>
                                          <p:spTgt spid="18432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2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4326">
                                            <p:txEl>
                                              <p:pRg st="5" end="5"/>
                                            </p:txEl>
                                          </p:spTgt>
                                        </p:tgtEl>
                                        <p:attrNameLst>
                                          <p:attrName>style.visibility</p:attrName>
                                        </p:attrNameLst>
                                      </p:cBhvr>
                                      <p:to>
                                        <p:strVal val="visible"/>
                                      </p:to>
                                    </p:set>
                                    <p:anim calcmode="lin" valueType="num">
                                      <p:cBhvr additive="base">
                                        <p:cTn id="25" dur="500" fill="hold"/>
                                        <p:tgtEl>
                                          <p:spTgt spid="184326">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4326">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84326">
                                            <p:txEl>
                                              <p:pRg st="6" end="6"/>
                                            </p:txEl>
                                          </p:spTgt>
                                        </p:tgtEl>
                                        <p:attrNameLst>
                                          <p:attrName>style.visibility</p:attrName>
                                        </p:attrNameLst>
                                      </p:cBhvr>
                                      <p:to>
                                        <p:strVal val="visible"/>
                                      </p:to>
                                    </p:set>
                                    <p:anim calcmode="lin" valueType="num">
                                      <p:cBhvr additive="base">
                                        <p:cTn id="29" dur="500" fill="hold"/>
                                        <p:tgtEl>
                                          <p:spTgt spid="184326">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8432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84326">
                                            <p:txEl>
                                              <p:pRg st="7" end="7"/>
                                            </p:txEl>
                                          </p:spTgt>
                                        </p:tgtEl>
                                        <p:attrNameLst>
                                          <p:attrName>style.visibility</p:attrName>
                                        </p:attrNameLst>
                                      </p:cBhvr>
                                      <p:to>
                                        <p:strVal val="visible"/>
                                      </p:to>
                                    </p:set>
                                    <p:anim calcmode="lin" valueType="num">
                                      <p:cBhvr additive="base">
                                        <p:cTn id="35" dur="500" fill="hold"/>
                                        <p:tgtEl>
                                          <p:spTgt spid="184326">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84326">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84326">
                                            <p:txEl>
                                              <p:pRg st="8" end="8"/>
                                            </p:txEl>
                                          </p:spTgt>
                                        </p:tgtEl>
                                        <p:attrNameLst>
                                          <p:attrName>style.visibility</p:attrName>
                                        </p:attrNameLst>
                                      </p:cBhvr>
                                      <p:to>
                                        <p:strVal val="visible"/>
                                      </p:to>
                                    </p:set>
                                    <p:anim calcmode="lin" valueType="num">
                                      <p:cBhvr additive="base">
                                        <p:cTn id="39" dur="500" fill="hold"/>
                                        <p:tgtEl>
                                          <p:spTgt spid="184326">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84326">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84326">
                                            <p:txEl>
                                              <p:pRg st="9" end="9"/>
                                            </p:txEl>
                                          </p:spTgt>
                                        </p:tgtEl>
                                        <p:attrNameLst>
                                          <p:attrName>style.visibility</p:attrName>
                                        </p:attrNameLst>
                                      </p:cBhvr>
                                      <p:to>
                                        <p:strVal val="visible"/>
                                      </p:to>
                                    </p:set>
                                    <p:anim calcmode="lin" valueType="num">
                                      <p:cBhvr additive="base">
                                        <p:cTn id="43" dur="500" fill="hold"/>
                                        <p:tgtEl>
                                          <p:spTgt spid="184326">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8432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01F17659-87CF-4C06-8B5C-968A5344AA85}" type="datetime1">
              <a:rPr kumimoji="0" lang="zh-CN" altLang="en-US" sz="1400" smtClean="0"/>
              <a:t>2025/10/15</a:t>
            </a:fld>
            <a:endParaRPr kumimoji="0" lang="en-US" altLang="zh-CN" sz="1400"/>
          </a:p>
        </p:txBody>
      </p:sp>
      <p:sp>
        <p:nvSpPr>
          <p:cNvPr id="183299"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183301" name="Rectangle 2"/>
          <p:cNvSpPr>
            <a:spLocks noGrp="1" noChangeArrowheads="1"/>
          </p:cNvSpPr>
          <p:nvPr>
            <p:ph type="title"/>
          </p:nvPr>
        </p:nvSpPr>
        <p:spPr/>
        <p:txBody>
          <a:bodyPr/>
          <a:lstStyle/>
          <a:p>
            <a:pPr eaLnBrk="1" hangingPunct="1"/>
            <a:r>
              <a:rPr lang="en-US" altLang="zh-CN" dirty="0"/>
              <a:t>4.2.5 </a:t>
            </a:r>
            <a:r>
              <a:rPr lang="zh-CN" altLang="en-US" dirty="0"/>
              <a:t>视图的优点</a:t>
            </a:r>
          </a:p>
        </p:txBody>
      </p:sp>
      <p:sp>
        <p:nvSpPr>
          <p:cNvPr id="183302" name="Rectangle 3"/>
          <p:cNvSpPr>
            <a:spLocks noGrp="1" noChangeArrowheads="1"/>
          </p:cNvSpPr>
          <p:nvPr>
            <p:ph type="body" idx="1"/>
          </p:nvPr>
        </p:nvSpPr>
        <p:spPr>
          <a:xfrm>
            <a:off x="609600" y="1447800"/>
            <a:ext cx="8105775" cy="4684713"/>
          </a:xfrm>
        </p:spPr>
        <p:txBody>
          <a:bodyPr/>
          <a:lstStyle/>
          <a:p>
            <a:pPr eaLnBrk="1" hangingPunct="1"/>
            <a:r>
              <a:rPr lang="zh-CN" altLang="en-US" dirty="0"/>
              <a:t>视图与</a:t>
            </a:r>
            <a:r>
              <a:rPr lang="en-US" altLang="zh-CN" dirty="0"/>
              <a:t>with</a:t>
            </a:r>
            <a:r>
              <a:rPr lang="zh-CN" altLang="en-US" dirty="0"/>
              <a:t>语句的区别</a:t>
            </a:r>
            <a:endParaRPr lang="en-US" altLang="zh-CN" dirty="0">
              <a:solidFill>
                <a:srgbClr val="C00000"/>
              </a:solidFill>
            </a:endParaRPr>
          </a:p>
          <a:p>
            <a:pPr lvl="1" eaLnBrk="1" hangingPunct="1"/>
            <a:r>
              <a:rPr lang="zh-CN" altLang="en-US" dirty="0"/>
              <a:t>视图一旦创建，在被显式删除之前就一直是可用的。</a:t>
            </a:r>
            <a:endParaRPr lang="en-US" altLang="zh-CN" dirty="0"/>
          </a:p>
          <a:p>
            <a:pPr lvl="1" eaLnBrk="1" hangingPunct="1"/>
            <a:r>
              <a:rPr lang="zh-CN" altLang="en-US" dirty="0"/>
              <a:t>由 </a:t>
            </a:r>
            <a:r>
              <a:rPr lang="en-US" altLang="zh-CN" dirty="0"/>
              <a:t>with </a:t>
            </a:r>
            <a:r>
              <a:rPr lang="zh-CN" altLang="en-US" dirty="0"/>
              <a:t>定义的命名子查询对于定义它的查询来说只是本地可用的。</a:t>
            </a:r>
          </a:p>
        </p:txBody>
      </p:sp>
      <p:sp>
        <p:nvSpPr>
          <p:cNvPr id="4" name="灯片编号占位符 3">
            <a:extLst>
              <a:ext uri="{FF2B5EF4-FFF2-40B4-BE49-F238E27FC236}">
                <a16:creationId xmlns:a16="http://schemas.microsoft.com/office/drawing/2014/main" id="{A9014330-1E55-F49B-D773-0D6719A785A0}"/>
              </a:ext>
            </a:extLst>
          </p:cNvPr>
          <p:cNvSpPr>
            <a:spLocks noGrp="1"/>
          </p:cNvSpPr>
          <p:nvPr>
            <p:ph type="sldNum" sz="quarter" idx="12"/>
          </p:nvPr>
        </p:nvSpPr>
        <p:spPr/>
        <p:txBody>
          <a:bodyPr/>
          <a:lstStyle/>
          <a:p>
            <a:pPr>
              <a:defRPr/>
            </a:pPr>
            <a:fld id="{E0CD82EA-F7BE-454B-A83E-18830F6C5424}" type="slidenum">
              <a:rPr lang="en-US" altLang="zh-CN" smtClean="0"/>
              <a:pPr>
                <a:defRPr/>
              </a:pPr>
              <a:t>58</a:t>
            </a:fld>
            <a:r>
              <a:rPr lang="en-US" altLang="zh-CN"/>
              <a:t>/138</a:t>
            </a:r>
            <a:endParaRPr lang="zh-CN" altLang="en-US" dirty="0"/>
          </a:p>
        </p:txBody>
      </p:sp>
    </p:spTree>
    <p:extLst>
      <p:ext uri="{BB962C8B-B14F-4D97-AF65-F5344CB8AC3E}">
        <p14:creationId xmlns:p14="http://schemas.microsoft.com/office/powerpoint/2010/main" val="2963194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3302">
                                            <p:txEl>
                                              <p:pRg st="1" end="1"/>
                                            </p:txEl>
                                          </p:spTgt>
                                        </p:tgtEl>
                                        <p:attrNameLst>
                                          <p:attrName>style.visibility</p:attrName>
                                        </p:attrNameLst>
                                      </p:cBhvr>
                                      <p:to>
                                        <p:strVal val="visible"/>
                                      </p:to>
                                    </p:set>
                                    <p:anim calcmode="lin" valueType="num">
                                      <p:cBhvr additive="base">
                                        <p:cTn id="7" dur="500" fill="hold"/>
                                        <p:tgtEl>
                                          <p:spTgt spid="18330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330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3302">
                                            <p:txEl>
                                              <p:pRg st="2" end="2"/>
                                            </p:txEl>
                                          </p:spTgt>
                                        </p:tgtEl>
                                        <p:attrNameLst>
                                          <p:attrName>style.visibility</p:attrName>
                                        </p:attrNameLst>
                                      </p:cBhvr>
                                      <p:to>
                                        <p:strVal val="visible"/>
                                      </p:to>
                                    </p:set>
                                    <p:anim calcmode="lin" valueType="num">
                                      <p:cBhvr additive="base">
                                        <p:cTn id="13" dur="500" fill="hold"/>
                                        <p:tgtEl>
                                          <p:spTgt spid="18330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330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DC982F5B-DBE2-4725-A8E9-E5BBC6CD9D9F}" type="datetime1">
              <a:rPr kumimoji="0" lang="zh-CN" altLang="en-US" sz="1400" smtClean="0"/>
              <a:t>2025/10/15</a:t>
            </a:fld>
            <a:endParaRPr kumimoji="0" lang="en-US" altLang="zh-CN" sz="1400"/>
          </a:p>
        </p:txBody>
      </p:sp>
      <p:sp>
        <p:nvSpPr>
          <p:cNvPr id="512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5125" name="Rectangle 2"/>
          <p:cNvSpPr>
            <a:spLocks noGrp="1" noChangeArrowheads="1"/>
          </p:cNvSpPr>
          <p:nvPr>
            <p:ph type="title"/>
          </p:nvPr>
        </p:nvSpPr>
        <p:spPr/>
        <p:txBody>
          <a:bodyPr/>
          <a:lstStyle/>
          <a:p>
            <a:pPr eaLnBrk="1" hangingPunct="1"/>
            <a:r>
              <a:rPr lang="zh-CN" altLang="en-US"/>
              <a:t>本章目录</a:t>
            </a:r>
          </a:p>
        </p:txBody>
      </p:sp>
      <p:sp>
        <p:nvSpPr>
          <p:cNvPr id="5126" name="Rectangle 3"/>
          <p:cNvSpPr>
            <a:spLocks noGrp="1" noChangeArrowheads="1"/>
          </p:cNvSpPr>
          <p:nvPr>
            <p:ph type="body" idx="1"/>
          </p:nvPr>
        </p:nvSpPr>
        <p:spPr>
          <a:xfrm>
            <a:off x="1371600" y="1600200"/>
            <a:ext cx="7583488" cy="4532313"/>
          </a:xfrm>
        </p:spPr>
        <p:txBody>
          <a:bodyPr/>
          <a:lstStyle/>
          <a:p>
            <a:pPr eaLnBrk="1" hangingPunct="1"/>
            <a:r>
              <a:rPr lang="en-US" altLang="zh-CN" dirty="0"/>
              <a:t>4.1 </a:t>
            </a:r>
            <a:r>
              <a:rPr lang="zh-CN" altLang="en-US" dirty="0"/>
              <a:t>连接查询</a:t>
            </a:r>
          </a:p>
          <a:p>
            <a:pPr eaLnBrk="1" hangingPunct="1"/>
            <a:r>
              <a:rPr lang="en-US" altLang="zh-CN" dirty="0"/>
              <a:t>4.2 </a:t>
            </a:r>
            <a:r>
              <a:rPr lang="zh-CN" altLang="en-US" dirty="0"/>
              <a:t>视图</a:t>
            </a:r>
          </a:p>
          <a:p>
            <a:pPr eaLnBrk="1" hangingPunct="1"/>
            <a:r>
              <a:rPr lang="en-US" altLang="zh-CN" dirty="0"/>
              <a:t>4.3 </a:t>
            </a:r>
            <a:r>
              <a:rPr lang="zh-CN" altLang="en-US" dirty="0"/>
              <a:t>事务</a:t>
            </a:r>
            <a:endParaRPr lang="en-US" altLang="zh-CN" dirty="0"/>
          </a:p>
          <a:p>
            <a:pPr eaLnBrk="1" hangingPunct="1"/>
            <a:r>
              <a:rPr lang="en-US" altLang="zh-CN" dirty="0"/>
              <a:t>4.4 </a:t>
            </a:r>
            <a:r>
              <a:rPr lang="zh-CN" altLang="en-US" dirty="0"/>
              <a:t>完整性约束</a:t>
            </a:r>
            <a:endParaRPr lang="en-US" altLang="zh-CN" dirty="0"/>
          </a:p>
          <a:p>
            <a:pPr eaLnBrk="1" hangingPunct="1"/>
            <a:r>
              <a:rPr lang="en-US" altLang="zh-CN" dirty="0"/>
              <a:t>4.5 SQL</a:t>
            </a:r>
            <a:r>
              <a:rPr lang="zh-CN" altLang="en-US" dirty="0"/>
              <a:t>数据类型与模式</a:t>
            </a:r>
            <a:endParaRPr lang="en-US" altLang="zh-CN" dirty="0"/>
          </a:p>
          <a:p>
            <a:pPr eaLnBrk="1" hangingPunct="1"/>
            <a:r>
              <a:rPr lang="en-US" altLang="zh-CN" dirty="0"/>
              <a:t>4.6 </a:t>
            </a:r>
            <a:r>
              <a:rPr lang="zh-CN" altLang="en-US" dirty="0"/>
              <a:t>索引</a:t>
            </a:r>
            <a:endParaRPr lang="en-US" altLang="zh-CN" dirty="0"/>
          </a:p>
          <a:p>
            <a:pPr eaLnBrk="1" hangingPunct="1"/>
            <a:r>
              <a:rPr lang="en-US" altLang="zh-CN" dirty="0"/>
              <a:t>4.7 </a:t>
            </a:r>
            <a:r>
              <a:rPr lang="zh-CN" altLang="en-US" dirty="0"/>
              <a:t>授权</a:t>
            </a:r>
          </a:p>
        </p:txBody>
      </p:sp>
      <p:sp>
        <p:nvSpPr>
          <p:cNvPr id="11268" name="AutoShape 4"/>
          <p:cNvSpPr>
            <a:spLocks noChangeArrowheads="1"/>
          </p:cNvSpPr>
          <p:nvPr/>
        </p:nvSpPr>
        <p:spPr bwMode="auto">
          <a:xfrm>
            <a:off x="856129" y="2895600"/>
            <a:ext cx="457200" cy="457200"/>
          </a:xfrm>
          <a:prstGeom prst="rightArrow">
            <a:avLst>
              <a:gd name="adj1" fmla="val 50000"/>
              <a:gd name="adj2" fmla="val 40278"/>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4" name="灯片编号占位符 3">
            <a:extLst>
              <a:ext uri="{FF2B5EF4-FFF2-40B4-BE49-F238E27FC236}">
                <a16:creationId xmlns:a16="http://schemas.microsoft.com/office/drawing/2014/main" id="{64B83C3F-9C3B-AA46-A024-6331E4C4A140}"/>
              </a:ext>
            </a:extLst>
          </p:cNvPr>
          <p:cNvSpPr>
            <a:spLocks noGrp="1"/>
          </p:cNvSpPr>
          <p:nvPr>
            <p:ph type="sldNum" sz="quarter" idx="12"/>
          </p:nvPr>
        </p:nvSpPr>
        <p:spPr/>
        <p:txBody>
          <a:bodyPr/>
          <a:lstStyle/>
          <a:p>
            <a:pPr>
              <a:defRPr/>
            </a:pPr>
            <a:fld id="{E0CD82EA-F7BE-454B-A83E-18830F6C5424}" type="slidenum">
              <a:rPr lang="en-US" altLang="zh-CN" smtClean="0"/>
              <a:pPr>
                <a:defRPr/>
              </a:pPr>
              <a:t>59</a:t>
            </a:fld>
            <a:r>
              <a:rPr lang="en-US" altLang="zh-CN"/>
              <a:t>/138</a:t>
            </a:r>
            <a:endParaRPr lang="zh-CN" altLang="en-US" dirty="0"/>
          </a:p>
        </p:txBody>
      </p:sp>
    </p:spTree>
    <p:extLst>
      <p:ext uri="{BB962C8B-B14F-4D97-AF65-F5344CB8AC3E}">
        <p14:creationId xmlns:p14="http://schemas.microsoft.com/office/powerpoint/2010/main" val="4018917807"/>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268"/>
                                        </p:tgtEl>
                                        <p:attrNameLst>
                                          <p:attrName>style.visibility</p:attrName>
                                        </p:attrNameLst>
                                      </p:cBhvr>
                                      <p:to>
                                        <p:strVal val="visible"/>
                                      </p:to>
                                    </p:set>
                                    <p:anim calcmode="lin" valueType="num">
                                      <p:cBhvr additive="base">
                                        <p:cTn id="7" dur="500" fill="hold"/>
                                        <p:tgtEl>
                                          <p:spTgt spid="11268"/>
                                        </p:tgtEl>
                                        <p:attrNameLst>
                                          <p:attrName>ppt_x</p:attrName>
                                        </p:attrNameLst>
                                      </p:cBhvr>
                                      <p:tavLst>
                                        <p:tav tm="0">
                                          <p:val>
                                            <p:strVal val="0-#ppt_w/2"/>
                                          </p:val>
                                        </p:tav>
                                        <p:tav tm="100000">
                                          <p:val>
                                            <p:strVal val="#ppt_x"/>
                                          </p:val>
                                        </p:tav>
                                      </p:tavLst>
                                    </p:anim>
                                    <p:anim calcmode="lin" valueType="num">
                                      <p:cBhvr additive="base">
                                        <p:cTn id="8" dur="500" fill="hold"/>
                                        <p:tgtEl>
                                          <p:spTgt spid="112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6E1314A4-8399-4D3A-A29F-1F16C5192057}" type="datetime1">
              <a:rPr kumimoji="0" lang="zh-CN" altLang="en-US" sz="1400" smtClean="0"/>
              <a:t>2025/10/15</a:t>
            </a:fld>
            <a:endParaRPr kumimoji="0" lang="en-US" altLang="zh-CN" sz="1400"/>
          </a:p>
        </p:txBody>
      </p:sp>
      <p:sp>
        <p:nvSpPr>
          <p:cNvPr id="43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43013" name="Rectangle 2"/>
          <p:cNvSpPr>
            <a:spLocks noGrp="1" noChangeArrowheads="1"/>
          </p:cNvSpPr>
          <p:nvPr>
            <p:ph type="title"/>
          </p:nvPr>
        </p:nvSpPr>
        <p:spPr/>
        <p:txBody>
          <a:bodyPr/>
          <a:lstStyle/>
          <a:p>
            <a:pPr eaLnBrk="1" hangingPunct="1"/>
            <a:r>
              <a:rPr lang="en-US" altLang="zh-CN" dirty="0"/>
              <a:t>4.3 </a:t>
            </a:r>
            <a:r>
              <a:rPr lang="zh-CN" altLang="en-US" dirty="0"/>
              <a:t>事务</a:t>
            </a:r>
          </a:p>
        </p:txBody>
      </p:sp>
      <p:sp>
        <p:nvSpPr>
          <p:cNvPr id="43014" name="Rectangle 3"/>
          <p:cNvSpPr>
            <a:spLocks noGrp="1" noChangeArrowheads="1"/>
          </p:cNvSpPr>
          <p:nvPr>
            <p:ph type="body" idx="1"/>
          </p:nvPr>
        </p:nvSpPr>
        <p:spPr>
          <a:xfrm>
            <a:off x="609600" y="1371600"/>
            <a:ext cx="8153400" cy="5181600"/>
          </a:xfrm>
          <a:solidFill>
            <a:schemeClr val="bg1"/>
          </a:solidFill>
        </p:spPr>
        <p:txBody>
          <a:bodyPr/>
          <a:lstStyle/>
          <a:p>
            <a:pPr eaLnBrk="1" hangingPunct="1"/>
            <a:r>
              <a:rPr lang="zh-CN" altLang="en-US" sz="2800" dirty="0"/>
              <a:t>事务</a:t>
            </a:r>
            <a:r>
              <a:rPr lang="en-US" altLang="zh-CN" sz="2800" dirty="0"/>
              <a:t>(transaction)</a:t>
            </a:r>
            <a:r>
              <a:rPr lang="zh-CN" altLang="en-US" sz="2800" dirty="0"/>
              <a:t>是由</a:t>
            </a:r>
            <a:r>
              <a:rPr lang="zh-CN" altLang="en-US" sz="2800" dirty="0">
                <a:solidFill>
                  <a:srgbClr val="0000FF"/>
                </a:solidFill>
              </a:rPr>
              <a:t>查询或更新语句</a:t>
            </a:r>
            <a:r>
              <a:rPr lang="zh-CN" altLang="en-US" sz="2800" dirty="0"/>
              <a:t>组成的。</a:t>
            </a:r>
            <a:r>
              <a:rPr lang="en-US" altLang="zh-CN" sz="2800" dirty="0"/>
              <a:t>SQL</a:t>
            </a:r>
            <a:r>
              <a:rPr lang="zh-CN" altLang="en-US" sz="2800" dirty="0"/>
              <a:t>标准规定当一条</a:t>
            </a:r>
            <a:r>
              <a:rPr lang="en-US" altLang="zh-CN" sz="2800" dirty="0"/>
              <a:t>SQL</a:t>
            </a:r>
            <a:r>
              <a:rPr lang="zh-CN" altLang="en-US" sz="2800" dirty="0"/>
              <a:t>语句被执行时，就</a:t>
            </a:r>
            <a:r>
              <a:rPr lang="zh-CN" altLang="en-US" sz="2800" dirty="0">
                <a:solidFill>
                  <a:srgbClr val="0000FF"/>
                </a:solidFill>
              </a:rPr>
              <a:t>隐式地开始了一个事务</a:t>
            </a:r>
            <a:r>
              <a:rPr lang="zh-CN" altLang="en-US" sz="2800" dirty="0"/>
              <a:t>。下列</a:t>
            </a:r>
            <a:r>
              <a:rPr lang="en-US" altLang="zh-CN" sz="2800" dirty="0"/>
              <a:t>SQL</a:t>
            </a:r>
            <a:r>
              <a:rPr lang="zh-CN" altLang="en-US" sz="2800" dirty="0"/>
              <a:t>语句之一会</a:t>
            </a:r>
            <a:r>
              <a:rPr lang="zh-CN" altLang="en-US" sz="2800" dirty="0">
                <a:solidFill>
                  <a:srgbClr val="0000FF"/>
                </a:solidFill>
              </a:rPr>
              <a:t>结束该事务</a:t>
            </a:r>
            <a:r>
              <a:rPr lang="zh-CN" altLang="en-US" sz="2800" dirty="0"/>
              <a:t>：</a:t>
            </a:r>
          </a:p>
          <a:p>
            <a:pPr lvl="1" eaLnBrk="1" hangingPunct="1"/>
            <a:r>
              <a:rPr lang="en-US" altLang="zh-CN" sz="2400" dirty="0">
                <a:solidFill>
                  <a:srgbClr val="FF0000"/>
                </a:solidFill>
              </a:rPr>
              <a:t>commit work </a:t>
            </a:r>
            <a:r>
              <a:rPr lang="zh-CN" altLang="en-US" sz="2400" dirty="0"/>
              <a:t>提交当前事务；也就是说，它使事务执行的更新在数据库中成为永久性的。在事务被提交后，一个新的事务会自动开始。</a:t>
            </a:r>
          </a:p>
          <a:p>
            <a:pPr lvl="1" eaLnBrk="1" hangingPunct="1"/>
            <a:r>
              <a:rPr lang="en-US" altLang="zh-CN" sz="2400" dirty="0">
                <a:solidFill>
                  <a:srgbClr val="FF0000"/>
                </a:solidFill>
              </a:rPr>
              <a:t>rollback work </a:t>
            </a:r>
            <a:r>
              <a:rPr lang="zh-CN" altLang="en-US" sz="2400" dirty="0"/>
              <a:t>回滚当前事务；也就是说，它会撒销事务中 </a:t>
            </a:r>
            <a:r>
              <a:rPr lang="en-US" altLang="zh-CN" sz="2400" dirty="0"/>
              <a:t>SQL </a:t>
            </a:r>
            <a:r>
              <a:rPr lang="zh-CN" altLang="en-US" sz="2400" dirty="0"/>
              <a:t>语何执行的所有更新。因此，数据库状态被恢复到它执行该事务的第一条语向之前的状态。</a:t>
            </a:r>
          </a:p>
        </p:txBody>
      </p:sp>
      <p:sp>
        <p:nvSpPr>
          <p:cNvPr id="4" name="灯片编号占位符 3">
            <a:extLst>
              <a:ext uri="{FF2B5EF4-FFF2-40B4-BE49-F238E27FC236}">
                <a16:creationId xmlns:a16="http://schemas.microsoft.com/office/drawing/2014/main" id="{07F06EFF-A25A-B360-630C-D3E13652CDC8}"/>
              </a:ext>
            </a:extLst>
          </p:cNvPr>
          <p:cNvSpPr>
            <a:spLocks noGrp="1"/>
          </p:cNvSpPr>
          <p:nvPr>
            <p:ph type="sldNum" sz="quarter" idx="12"/>
          </p:nvPr>
        </p:nvSpPr>
        <p:spPr/>
        <p:txBody>
          <a:bodyPr/>
          <a:lstStyle/>
          <a:p>
            <a:pPr>
              <a:defRPr/>
            </a:pPr>
            <a:fld id="{E0CD82EA-F7BE-454B-A83E-18830F6C5424}" type="slidenum">
              <a:rPr lang="en-US" altLang="zh-CN" smtClean="0"/>
              <a:pPr>
                <a:defRPr/>
              </a:pPr>
              <a:t>60</a:t>
            </a:fld>
            <a:r>
              <a:rPr lang="en-US" altLang="zh-CN"/>
              <a:t>/138</a:t>
            </a:r>
            <a:endParaRPr lang="zh-CN" altLang="en-US" dirty="0"/>
          </a:p>
        </p:txBody>
      </p:sp>
    </p:spTree>
    <p:extLst>
      <p:ext uri="{BB962C8B-B14F-4D97-AF65-F5344CB8AC3E}">
        <p14:creationId xmlns:p14="http://schemas.microsoft.com/office/powerpoint/2010/main" val="2030559520"/>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A733BD0F-AC9F-4A72-8870-339943614907}" type="datetime1">
              <a:rPr kumimoji="0" lang="zh-CN" altLang="en-US" sz="1400" smtClean="0"/>
              <a:t>2025/10/15</a:t>
            </a:fld>
            <a:endParaRPr kumimoji="0" lang="en-US" altLang="zh-CN" sz="1400"/>
          </a:p>
        </p:txBody>
      </p:sp>
      <p:sp>
        <p:nvSpPr>
          <p:cNvPr id="43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43013" name="Rectangle 2"/>
          <p:cNvSpPr>
            <a:spLocks noGrp="1" noChangeArrowheads="1"/>
          </p:cNvSpPr>
          <p:nvPr>
            <p:ph type="title"/>
          </p:nvPr>
        </p:nvSpPr>
        <p:spPr/>
        <p:txBody>
          <a:bodyPr/>
          <a:lstStyle/>
          <a:p>
            <a:pPr eaLnBrk="1" hangingPunct="1"/>
            <a:r>
              <a:rPr lang="en-US" altLang="zh-CN" dirty="0"/>
              <a:t>4.3 </a:t>
            </a:r>
            <a:r>
              <a:rPr lang="zh-CN" altLang="en-US" dirty="0"/>
              <a:t>事务</a:t>
            </a:r>
          </a:p>
        </p:txBody>
      </p:sp>
      <p:sp>
        <p:nvSpPr>
          <p:cNvPr id="43014" name="Rectangle 3"/>
          <p:cNvSpPr>
            <a:spLocks noGrp="1" noChangeArrowheads="1"/>
          </p:cNvSpPr>
          <p:nvPr>
            <p:ph type="body" idx="1"/>
          </p:nvPr>
        </p:nvSpPr>
        <p:spPr/>
        <p:txBody>
          <a:bodyPr/>
          <a:lstStyle/>
          <a:p>
            <a:pPr eaLnBrk="1" hangingPunct="1"/>
            <a:r>
              <a:rPr lang="zh-CN" altLang="en-US" sz="2800" dirty="0"/>
              <a:t>关键字 </a:t>
            </a:r>
            <a:r>
              <a:rPr lang="en-US" altLang="zh-CN" sz="2800" dirty="0"/>
              <a:t>work </a:t>
            </a:r>
            <a:r>
              <a:rPr lang="zh-CN" altLang="en-US" sz="2800" dirty="0"/>
              <a:t>在两条语句中都是可选的。</a:t>
            </a:r>
          </a:p>
          <a:p>
            <a:pPr eaLnBrk="1" hangingPunct="1"/>
            <a:r>
              <a:rPr lang="zh-CN" altLang="en-US" sz="2800" dirty="0"/>
              <a:t>事务定义了一个</a:t>
            </a:r>
            <a:r>
              <a:rPr lang="zh-CN" altLang="en-US" sz="2800" dirty="0">
                <a:solidFill>
                  <a:srgbClr val="0000FF"/>
                </a:solidFill>
              </a:rPr>
              <a:t>对数据库的最小的操作单位</a:t>
            </a:r>
            <a:r>
              <a:rPr lang="en-US" altLang="zh-CN" sz="2800" dirty="0"/>
              <a:t>(</a:t>
            </a:r>
            <a:r>
              <a:rPr lang="zh-CN" altLang="en-US" sz="2800" dirty="0"/>
              <a:t>原子性</a:t>
            </a:r>
            <a:r>
              <a:rPr lang="en-US" altLang="zh-CN" sz="2800" dirty="0"/>
              <a:t>)</a:t>
            </a:r>
            <a:r>
              <a:rPr lang="zh-CN" altLang="en-US" sz="2800" dirty="0"/>
              <a:t>。</a:t>
            </a:r>
            <a:endParaRPr lang="en-US" altLang="zh-CN" sz="2800" dirty="0"/>
          </a:p>
          <a:p>
            <a:pPr eaLnBrk="1" hangingPunct="1"/>
            <a:r>
              <a:rPr lang="zh-CN" altLang="en-US" sz="2800" dirty="0"/>
              <a:t>详细在第</a:t>
            </a:r>
            <a:r>
              <a:rPr lang="en-US" altLang="zh-CN" sz="2800" dirty="0"/>
              <a:t>13</a:t>
            </a:r>
            <a:r>
              <a:rPr lang="zh-CN" altLang="en-US" sz="2800" dirty="0"/>
              <a:t>章介绍</a:t>
            </a:r>
          </a:p>
        </p:txBody>
      </p:sp>
      <p:sp>
        <p:nvSpPr>
          <p:cNvPr id="4" name="灯片编号占位符 3">
            <a:extLst>
              <a:ext uri="{FF2B5EF4-FFF2-40B4-BE49-F238E27FC236}">
                <a16:creationId xmlns:a16="http://schemas.microsoft.com/office/drawing/2014/main" id="{0BFFC5F9-2D82-19C8-E41A-41FBCDE82324}"/>
              </a:ext>
            </a:extLst>
          </p:cNvPr>
          <p:cNvSpPr>
            <a:spLocks noGrp="1"/>
          </p:cNvSpPr>
          <p:nvPr>
            <p:ph type="sldNum" sz="quarter" idx="12"/>
          </p:nvPr>
        </p:nvSpPr>
        <p:spPr/>
        <p:txBody>
          <a:bodyPr/>
          <a:lstStyle/>
          <a:p>
            <a:pPr>
              <a:defRPr/>
            </a:pPr>
            <a:fld id="{E0CD82EA-F7BE-454B-A83E-18830F6C5424}" type="slidenum">
              <a:rPr lang="en-US" altLang="zh-CN" smtClean="0"/>
              <a:pPr>
                <a:defRPr/>
              </a:pPr>
              <a:t>61</a:t>
            </a:fld>
            <a:r>
              <a:rPr lang="en-US" altLang="zh-CN"/>
              <a:t>/138</a:t>
            </a:r>
            <a:endParaRPr lang="zh-CN" altLang="en-US" dirty="0"/>
          </a:p>
        </p:txBody>
      </p:sp>
    </p:spTree>
    <p:extLst>
      <p:ext uri="{BB962C8B-B14F-4D97-AF65-F5344CB8AC3E}">
        <p14:creationId xmlns:p14="http://schemas.microsoft.com/office/powerpoint/2010/main" val="42478577"/>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699CE7E1-D291-4239-A808-17EA2BCDCF58}" type="datetime1">
              <a:rPr kumimoji="0" lang="zh-CN" altLang="en-US" sz="1400" smtClean="0"/>
              <a:t>2025/10/15</a:t>
            </a:fld>
            <a:endParaRPr kumimoji="0" lang="en-US" altLang="zh-CN" sz="1400"/>
          </a:p>
        </p:txBody>
      </p:sp>
      <p:sp>
        <p:nvSpPr>
          <p:cNvPr id="512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5125" name="Rectangle 2"/>
          <p:cNvSpPr>
            <a:spLocks noGrp="1" noChangeArrowheads="1"/>
          </p:cNvSpPr>
          <p:nvPr>
            <p:ph type="title"/>
          </p:nvPr>
        </p:nvSpPr>
        <p:spPr/>
        <p:txBody>
          <a:bodyPr/>
          <a:lstStyle/>
          <a:p>
            <a:pPr eaLnBrk="1" hangingPunct="1"/>
            <a:r>
              <a:rPr lang="zh-CN" altLang="en-US"/>
              <a:t>本章目录</a:t>
            </a:r>
          </a:p>
        </p:txBody>
      </p:sp>
      <p:sp>
        <p:nvSpPr>
          <p:cNvPr id="5126" name="Rectangle 3"/>
          <p:cNvSpPr>
            <a:spLocks noGrp="1" noChangeArrowheads="1"/>
          </p:cNvSpPr>
          <p:nvPr>
            <p:ph type="body" idx="1"/>
          </p:nvPr>
        </p:nvSpPr>
        <p:spPr>
          <a:xfrm>
            <a:off x="1371600" y="1600200"/>
            <a:ext cx="7583488" cy="4532313"/>
          </a:xfrm>
        </p:spPr>
        <p:txBody>
          <a:bodyPr/>
          <a:lstStyle/>
          <a:p>
            <a:pPr eaLnBrk="1" hangingPunct="1"/>
            <a:r>
              <a:rPr lang="en-US" altLang="zh-CN" dirty="0"/>
              <a:t>4.1 </a:t>
            </a:r>
            <a:r>
              <a:rPr lang="zh-CN" altLang="en-US" dirty="0"/>
              <a:t>连接查询</a:t>
            </a:r>
          </a:p>
          <a:p>
            <a:pPr eaLnBrk="1" hangingPunct="1"/>
            <a:r>
              <a:rPr lang="en-US" altLang="zh-CN" dirty="0"/>
              <a:t>4.2 </a:t>
            </a:r>
            <a:r>
              <a:rPr lang="zh-CN" altLang="en-US" dirty="0"/>
              <a:t>视图</a:t>
            </a:r>
          </a:p>
          <a:p>
            <a:pPr eaLnBrk="1" hangingPunct="1"/>
            <a:r>
              <a:rPr lang="en-US" altLang="zh-CN" dirty="0"/>
              <a:t>4.3 </a:t>
            </a:r>
            <a:r>
              <a:rPr lang="zh-CN" altLang="en-US" dirty="0"/>
              <a:t>事务</a:t>
            </a:r>
            <a:endParaRPr lang="en-US" altLang="zh-CN" dirty="0"/>
          </a:p>
          <a:p>
            <a:pPr eaLnBrk="1" hangingPunct="1"/>
            <a:r>
              <a:rPr lang="en-US" altLang="zh-CN" dirty="0"/>
              <a:t>4.4 </a:t>
            </a:r>
            <a:r>
              <a:rPr lang="zh-CN" altLang="en-US" dirty="0"/>
              <a:t>完整性约束</a:t>
            </a:r>
            <a:endParaRPr lang="en-US" altLang="zh-CN" dirty="0"/>
          </a:p>
          <a:p>
            <a:pPr eaLnBrk="1" hangingPunct="1"/>
            <a:r>
              <a:rPr lang="en-US" altLang="zh-CN" dirty="0"/>
              <a:t>4.5 SQL</a:t>
            </a:r>
            <a:r>
              <a:rPr lang="zh-CN" altLang="en-US" dirty="0"/>
              <a:t>数据类型与模式</a:t>
            </a:r>
            <a:endParaRPr lang="en-US" altLang="zh-CN" dirty="0"/>
          </a:p>
          <a:p>
            <a:pPr eaLnBrk="1" hangingPunct="1"/>
            <a:r>
              <a:rPr lang="en-US" altLang="zh-CN" dirty="0"/>
              <a:t>4.6 </a:t>
            </a:r>
            <a:r>
              <a:rPr lang="zh-CN" altLang="en-US" dirty="0"/>
              <a:t>索引</a:t>
            </a:r>
            <a:endParaRPr lang="en-US" altLang="zh-CN" dirty="0"/>
          </a:p>
          <a:p>
            <a:pPr eaLnBrk="1" hangingPunct="1"/>
            <a:r>
              <a:rPr lang="en-US" altLang="zh-CN" dirty="0"/>
              <a:t>4.7 </a:t>
            </a:r>
            <a:r>
              <a:rPr lang="zh-CN" altLang="en-US" dirty="0"/>
              <a:t>授权</a:t>
            </a:r>
          </a:p>
        </p:txBody>
      </p:sp>
      <p:sp>
        <p:nvSpPr>
          <p:cNvPr id="11268" name="AutoShape 4"/>
          <p:cNvSpPr>
            <a:spLocks noChangeArrowheads="1"/>
          </p:cNvSpPr>
          <p:nvPr/>
        </p:nvSpPr>
        <p:spPr bwMode="auto">
          <a:xfrm>
            <a:off x="856129" y="3505200"/>
            <a:ext cx="457200" cy="457200"/>
          </a:xfrm>
          <a:prstGeom prst="rightArrow">
            <a:avLst>
              <a:gd name="adj1" fmla="val 50000"/>
              <a:gd name="adj2" fmla="val 40278"/>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4" name="灯片编号占位符 3">
            <a:extLst>
              <a:ext uri="{FF2B5EF4-FFF2-40B4-BE49-F238E27FC236}">
                <a16:creationId xmlns:a16="http://schemas.microsoft.com/office/drawing/2014/main" id="{DF138E89-B0ED-DA17-5972-7AFAE4F6449F}"/>
              </a:ext>
            </a:extLst>
          </p:cNvPr>
          <p:cNvSpPr>
            <a:spLocks noGrp="1"/>
          </p:cNvSpPr>
          <p:nvPr>
            <p:ph type="sldNum" sz="quarter" idx="12"/>
          </p:nvPr>
        </p:nvSpPr>
        <p:spPr/>
        <p:txBody>
          <a:bodyPr/>
          <a:lstStyle/>
          <a:p>
            <a:pPr>
              <a:defRPr/>
            </a:pPr>
            <a:fld id="{E0CD82EA-F7BE-454B-A83E-18830F6C5424}" type="slidenum">
              <a:rPr lang="en-US" altLang="zh-CN" smtClean="0"/>
              <a:pPr>
                <a:defRPr/>
              </a:pPr>
              <a:t>62</a:t>
            </a:fld>
            <a:r>
              <a:rPr lang="en-US" altLang="zh-CN"/>
              <a:t>/138</a:t>
            </a:r>
            <a:endParaRPr lang="zh-CN" altLang="en-US" dirty="0"/>
          </a:p>
        </p:txBody>
      </p:sp>
    </p:spTree>
    <p:extLst>
      <p:ext uri="{BB962C8B-B14F-4D97-AF65-F5344CB8AC3E}">
        <p14:creationId xmlns:p14="http://schemas.microsoft.com/office/powerpoint/2010/main" val="3027920552"/>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268"/>
                                        </p:tgtEl>
                                        <p:attrNameLst>
                                          <p:attrName>style.visibility</p:attrName>
                                        </p:attrNameLst>
                                      </p:cBhvr>
                                      <p:to>
                                        <p:strVal val="visible"/>
                                      </p:to>
                                    </p:set>
                                    <p:anim calcmode="lin" valueType="num">
                                      <p:cBhvr additive="base">
                                        <p:cTn id="7" dur="500" fill="hold"/>
                                        <p:tgtEl>
                                          <p:spTgt spid="11268"/>
                                        </p:tgtEl>
                                        <p:attrNameLst>
                                          <p:attrName>ppt_x</p:attrName>
                                        </p:attrNameLst>
                                      </p:cBhvr>
                                      <p:tavLst>
                                        <p:tav tm="0">
                                          <p:val>
                                            <p:strVal val="0-#ppt_w/2"/>
                                          </p:val>
                                        </p:tav>
                                        <p:tav tm="100000">
                                          <p:val>
                                            <p:strVal val="#ppt_x"/>
                                          </p:val>
                                        </p:tav>
                                      </p:tavLst>
                                    </p:anim>
                                    <p:anim calcmode="lin" valueType="num">
                                      <p:cBhvr additive="base">
                                        <p:cTn id="8" dur="500" fill="hold"/>
                                        <p:tgtEl>
                                          <p:spTgt spid="112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961489A1-5522-4733-A52C-5061088C5592}" type="datetime1">
              <a:rPr kumimoji="0" lang="zh-CN" altLang="en-US" sz="1400" smtClean="0"/>
              <a:t>2025/10/15</a:t>
            </a:fld>
            <a:endParaRPr kumimoji="0" lang="en-US" altLang="zh-CN" sz="1400"/>
          </a:p>
        </p:txBody>
      </p:sp>
      <p:sp>
        <p:nvSpPr>
          <p:cNvPr id="43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43013" name="Rectangle 2"/>
          <p:cNvSpPr>
            <a:spLocks noGrp="1" noChangeArrowheads="1"/>
          </p:cNvSpPr>
          <p:nvPr>
            <p:ph type="title"/>
          </p:nvPr>
        </p:nvSpPr>
        <p:spPr/>
        <p:txBody>
          <a:bodyPr/>
          <a:lstStyle/>
          <a:p>
            <a:pPr eaLnBrk="1" hangingPunct="1"/>
            <a:r>
              <a:rPr lang="en-US" altLang="zh-CN" dirty="0"/>
              <a:t>4.4 </a:t>
            </a:r>
            <a:r>
              <a:rPr lang="zh-CN" altLang="en-US" dirty="0"/>
              <a:t>完整性约束</a:t>
            </a:r>
            <a:endParaRPr lang="en-US" altLang="zh-CN" dirty="0"/>
          </a:p>
        </p:txBody>
      </p:sp>
      <p:sp>
        <p:nvSpPr>
          <p:cNvPr id="43014" name="Rectangle 3"/>
          <p:cNvSpPr>
            <a:spLocks noGrp="1" noChangeArrowheads="1"/>
          </p:cNvSpPr>
          <p:nvPr>
            <p:ph type="body" idx="1"/>
          </p:nvPr>
        </p:nvSpPr>
        <p:spPr/>
        <p:txBody>
          <a:bodyPr/>
          <a:lstStyle/>
          <a:p>
            <a:pPr>
              <a:lnSpc>
                <a:spcPct val="90000"/>
              </a:lnSpc>
            </a:pPr>
            <a:r>
              <a:rPr lang="zh-CN" altLang="en-US" b="1" dirty="0"/>
              <a:t>完整性</a:t>
            </a:r>
            <a:r>
              <a:rPr lang="zh-CN" altLang="en-US" dirty="0"/>
              <a:t>的概念 </a:t>
            </a:r>
          </a:p>
          <a:p>
            <a:pPr marL="457200" lvl="1" indent="0">
              <a:lnSpc>
                <a:spcPct val="90000"/>
              </a:lnSpc>
            </a:pPr>
            <a:r>
              <a:rPr lang="zh-CN" altLang="en-US" dirty="0"/>
              <a:t> 指数据的</a:t>
            </a:r>
            <a:r>
              <a:rPr lang="zh-CN" altLang="en-US" dirty="0">
                <a:solidFill>
                  <a:schemeClr val="hlink"/>
                </a:solidFill>
              </a:rPr>
              <a:t>正确性</a:t>
            </a:r>
            <a:r>
              <a:rPr lang="zh-CN" altLang="en-US" dirty="0"/>
              <a:t>和</a:t>
            </a:r>
            <a:r>
              <a:rPr lang="zh-CN" altLang="en-US" dirty="0">
                <a:solidFill>
                  <a:schemeClr val="hlink"/>
                </a:solidFill>
              </a:rPr>
              <a:t>相容性</a:t>
            </a:r>
            <a:endParaRPr lang="en-US" altLang="zh-CN" dirty="0">
              <a:solidFill>
                <a:schemeClr val="hlink"/>
              </a:solidFill>
            </a:endParaRPr>
          </a:p>
          <a:p>
            <a:pPr marL="457200" lvl="1" indent="0">
              <a:lnSpc>
                <a:spcPct val="90000"/>
              </a:lnSpc>
            </a:pPr>
            <a:r>
              <a:rPr lang="zh-CN" altLang="en-US" dirty="0">
                <a:solidFill>
                  <a:schemeClr val="hlink"/>
                </a:solidFill>
              </a:rPr>
              <a:t> </a:t>
            </a:r>
            <a:r>
              <a:rPr lang="zh-CN" altLang="en-US" dirty="0"/>
              <a:t>保证授权用户对数据库所做的修改不会导致数据一致性的丢失</a:t>
            </a:r>
          </a:p>
          <a:p>
            <a:pPr>
              <a:lnSpc>
                <a:spcPct val="90000"/>
              </a:lnSpc>
            </a:pPr>
            <a:r>
              <a:rPr lang="zh-CN" altLang="en-US" dirty="0"/>
              <a:t>与</a:t>
            </a:r>
            <a:r>
              <a:rPr lang="zh-CN" altLang="en-US" b="1" dirty="0"/>
              <a:t>安全性</a:t>
            </a:r>
            <a:r>
              <a:rPr lang="zh-CN" altLang="en-US" dirty="0"/>
              <a:t>的比较</a:t>
            </a:r>
          </a:p>
          <a:p>
            <a:pPr marL="457200" lvl="1" indent="0">
              <a:lnSpc>
                <a:spcPct val="90000"/>
              </a:lnSpc>
            </a:pPr>
            <a:r>
              <a:rPr lang="zh-CN" altLang="en-US" dirty="0"/>
              <a:t> 安全性 防止</a:t>
            </a:r>
            <a:r>
              <a:rPr lang="zh-CN" altLang="en-US" b="1" dirty="0">
                <a:solidFill>
                  <a:srgbClr val="0000FF"/>
                </a:solidFill>
              </a:rPr>
              <a:t>人为</a:t>
            </a:r>
            <a:r>
              <a:rPr lang="zh-CN" altLang="en-US" dirty="0">
                <a:solidFill>
                  <a:srgbClr val="FF0000"/>
                </a:solidFill>
              </a:rPr>
              <a:t>恶意破坏</a:t>
            </a:r>
            <a:r>
              <a:rPr lang="zh-CN" altLang="en-US" dirty="0"/>
              <a:t>数据库和</a:t>
            </a:r>
            <a:r>
              <a:rPr lang="zh-CN" altLang="en-US" dirty="0">
                <a:solidFill>
                  <a:srgbClr val="FF0000"/>
                </a:solidFill>
              </a:rPr>
              <a:t>非法存取</a:t>
            </a:r>
          </a:p>
          <a:p>
            <a:pPr marL="457200" lvl="1" indent="0">
              <a:lnSpc>
                <a:spcPct val="90000"/>
              </a:lnSpc>
            </a:pPr>
            <a:r>
              <a:rPr lang="zh-CN" altLang="en-US" dirty="0"/>
              <a:t> 完整性 防止</a:t>
            </a:r>
            <a:r>
              <a:rPr lang="zh-CN" altLang="en-US" b="1" dirty="0">
                <a:solidFill>
                  <a:srgbClr val="FF0000"/>
                </a:solidFill>
              </a:rPr>
              <a:t>不合语义的、不正确</a:t>
            </a:r>
            <a:r>
              <a:rPr lang="zh-CN" altLang="en-US" dirty="0"/>
              <a:t>的数据进入数据库</a:t>
            </a:r>
          </a:p>
        </p:txBody>
      </p:sp>
      <p:sp>
        <p:nvSpPr>
          <p:cNvPr id="4" name="灯片编号占位符 3">
            <a:extLst>
              <a:ext uri="{FF2B5EF4-FFF2-40B4-BE49-F238E27FC236}">
                <a16:creationId xmlns:a16="http://schemas.microsoft.com/office/drawing/2014/main" id="{B1980A23-19C9-6B49-E880-71C2511AA409}"/>
              </a:ext>
            </a:extLst>
          </p:cNvPr>
          <p:cNvSpPr>
            <a:spLocks noGrp="1"/>
          </p:cNvSpPr>
          <p:nvPr>
            <p:ph type="sldNum" sz="quarter" idx="12"/>
          </p:nvPr>
        </p:nvSpPr>
        <p:spPr/>
        <p:txBody>
          <a:bodyPr/>
          <a:lstStyle/>
          <a:p>
            <a:pPr>
              <a:defRPr/>
            </a:pPr>
            <a:fld id="{E0CD82EA-F7BE-454B-A83E-18830F6C5424}" type="slidenum">
              <a:rPr lang="en-US" altLang="zh-CN" smtClean="0"/>
              <a:pPr>
                <a:defRPr/>
              </a:pPr>
              <a:t>63</a:t>
            </a:fld>
            <a:r>
              <a:rPr lang="en-US" altLang="zh-CN"/>
              <a:t>/138</a:t>
            </a:r>
            <a:endParaRPr lang="zh-CN" altLang="en-US" dirty="0"/>
          </a:p>
        </p:txBody>
      </p:sp>
    </p:spTree>
    <p:extLst>
      <p:ext uri="{BB962C8B-B14F-4D97-AF65-F5344CB8AC3E}">
        <p14:creationId xmlns:p14="http://schemas.microsoft.com/office/powerpoint/2010/main" val="263699968"/>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r>
              <a:rPr lang="en-US" altLang="zh-CN"/>
              <a:t>DBMS</a:t>
            </a:r>
            <a:r>
              <a:rPr lang="zh-CN" altLang="en-US"/>
              <a:t>维护完整性的机制</a:t>
            </a:r>
          </a:p>
        </p:txBody>
      </p:sp>
      <p:sp>
        <p:nvSpPr>
          <p:cNvPr id="230403" name="Rectangle 3"/>
          <p:cNvSpPr>
            <a:spLocks noGrp="1" noChangeArrowheads="1"/>
          </p:cNvSpPr>
          <p:nvPr>
            <p:ph type="body" idx="1"/>
          </p:nvPr>
        </p:nvSpPr>
        <p:spPr>
          <a:xfrm>
            <a:off x="609600" y="1447800"/>
            <a:ext cx="8345488" cy="4933528"/>
          </a:xfrm>
        </p:spPr>
        <p:txBody>
          <a:bodyPr/>
          <a:lstStyle/>
          <a:p>
            <a:pPr>
              <a:lnSpc>
                <a:spcPct val="90000"/>
              </a:lnSpc>
              <a:buNone/>
            </a:pPr>
            <a:r>
              <a:rPr lang="zh-CN" altLang="en-US" sz="2800" dirty="0"/>
              <a:t>为维护数据库的完整性，数据库管理系统必须：</a:t>
            </a:r>
            <a:endParaRPr lang="en-US" altLang="zh-CN" sz="2800" dirty="0">
              <a:solidFill>
                <a:srgbClr val="0000FF"/>
              </a:solidFill>
            </a:endParaRPr>
          </a:p>
          <a:p>
            <a:pPr>
              <a:lnSpc>
                <a:spcPct val="90000"/>
              </a:lnSpc>
            </a:pPr>
            <a:r>
              <a:rPr lang="zh-CN" altLang="en-US" sz="2800" dirty="0">
                <a:solidFill>
                  <a:srgbClr val="0000FF"/>
                </a:solidFill>
              </a:rPr>
              <a:t>定义</a:t>
            </a:r>
            <a:r>
              <a:rPr lang="zh-CN" altLang="en-US" sz="2800" dirty="0"/>
              <a:t>机制：提供定义完整性约束条件的机制</a:t>
            </a:r>
          </a:p>
          <a:p>
            <a:pPr lvl="1">
              <a:lnSpc>
                <a:spcPct val="90000"/>
              </a:lnSpc>
            </a:pPr>
            <a:r>
              <a:rPr lang="zh-CN" altLang="en-US" sz="2400" dirty="0"/>
              <a:t>允许用户定义</a:t>
            </a:r>
            <a:r>
              <a:rPr lang="zh-CN" altLang="en-US" sz="2400" dirty="0">
                <a:solidFill>
                  <a:srgbClr val="F40000"/>
                </a:solidFill>
              </a:rPr>
              <a:t>实体完整性</a:t>
            </a:r>
            <a:r>
              <a:rPr lang="zh-CN" altLang="en-US" sz="2400" dirty="0"/>
              <a:t>、</a:t>
            </a:r>
            <a:r>
              <a:rPr lang="zh-CN" altLang="en-US" sz="2400" dirty="0">
                <a:solidFill>
                  <a:srgbClr val="F40000"/>
                </a:solidFill>
              </a:rPr>
              <a:t>参照完整性</a:t>
            </a:r>
            <a:r>
              <a:rPr lang="zh-CN" altLang="en-US" sz="2400" dirty="0"/>
              <a:t>和</a:t>
            </a:r>
            <a:r>
              <a:rPr lang="zh-CN" altLang="en-US" sz="2400" dirty="0">
                <a:solidFill>
                  <a:srgbClr val="F40000"/>
                </a:solidFill>
              </a:rPr>
              <a:t>用户定义的完整性</a:t>
            </a:r>
          </a:p>
          <a:p>
            <a:pPr>
              <a:lnSpc>
                <a:spcPct val="90000"/>
              </a:lnSpc>
            </a:pPr>
            <a:r>
              <a:rPr lang="zh-CN" altLang="en-US" sz="2800" b="1" dirty="0">
                <a:solidFill>
                  <a:srgbClr val="0000FF"/>
                </a:solidFill>
              </a:rPr>
              <a:t>检查</a:t>
            </a:r>
            <a:r>
              <a:rPr lang="zh-CN" altLang="en-US" sz="2800" b="1" dirty="0"/>
              <a:t>机制</a:t>
            </a:r>
            <a:r>
              <a:rPr lang="zh-CN" altLang="en-US" sz="2800" dirty="0"/>
              <a:t>：提供完整性检查的方法</a:t>
            </a:r>
          </a:p>
          <a:p>
            <a:pPr lvl="1">
              <a:lnSpc>
                <a:spcPct val="90000"/>
              </a:lnSpc>
            </a:pPr>
            <a:r>
              <a:rPr lang="zh-CN" altLang="en-US" sz="2400" dirty="0"/>
              <a:t>在用户的</a:t>
            </a:r>
            <a:r>
              <a:rPr lang="zh-CN" altLang="en-US" sz="2400" dirty="0">
                <a:solidFill>
                  <a:srgbClr val="0000FF"/>
                </a:solidFill>
              </a:rPr>
              <a:t>更新语句</a:t>
            </a:r>
            <a:r>
              <a:rPr lang="zh-CN" altLang="en-US" sz="2400" dirty="0"/>
              <a:t>（事务）开始执行后检查这些操作执行后</a:t>
            </a:r>
            <a:r>
              <a:rPr lang="zh-CN" altLang="en-US" sz="2400" dirty="0">
                <a:solidFill>
                  <a:srgbClr val="FF0000"/>
                </a:solidFill>
              </a:rPr>
              <a:t>是否会违背</a:t>
            </a:r>
            <a:r>
              <a:rPr lang="zh-CN" altLang="en-US" sz="2400" dirty="0">
                <a:solidFill>
                  <a:srgbClr val="0000FF"/>
                </a:solidFill>
              </a:rPr>
              <a:t>完整性约束条件</a:t>
            </a:r>
          </a:p>
          <a:p>
            <a:pPr>
              <a:lnSpc>
                <a:spcPct val="90000"/>
              </a:lnSpc>
            </a:pPr>
            <a:r>
              <a:rPr lang="zh-CN" altLang="en-US" sz="2800" b="1" dirty="0">
                <a:solidFill>
                  <a:srgbClr val="0000FF"/>
                </a:solidFill>
              </a:rPr>
              <a:t>违约处理</a:t>
            </a:r>
            <a:r>
              <a:rPr lang="zh-CN" altLang="en-US" sz="2800" b="1" dirty="0"/>
              <a:t>机制</a:t>
            </a:r>
            <a:r>
              <a:rPr lang="zh-CN" altLang="en-US" sz="2800" dirty="0"/>
              <a:t>：</a:t>
            </a:r>
          </a:p>
          <a:p>
            <a:pPr lvl="1">
              <a:lnSpc>
                <a:spcPct val="90000"/>
              </a:lnSpc>
            </a:pPr>
            <a:r>
              <a:rPr lang="zh-CN" altLang="en-US" sz="2400" dirty="0"/>
              <a:t>如果</a:t>
            </a:r>
            <a:r>
              <a:rPr lang="en-US" altLang="zh-CN" sz="2400" dirty="0"/>
              <a:t>DBMS</a:t>
            </a:r>
            <a:r>
              <a:rPr lang="zh-CN" altLang="en-US" sz="2400" dirty="0"/>
              <a:t>检查到用户操作</a:t>
            </a:r>
            <a:r>
              <a:rPr lang="zh-CN" altLang="en-US" sz="2400" dirty="0">
                <a:solidFill>
                  <a:srgbClr val="0000FF"/>
                </a:solidFill>
              </a:rPr>
              <a:t>违背了</a:t>
            </a:r>
            <a:r>
              <a:rPr lang="zh-CN" altLang="en-US" sz="2400" dirty="0"/>
              <a:t>完整性约束条件，就</a:t>
            </a:r>
            <a:r>
              <a:rPr lang="zh-CN" altLang="en-US" sz="2400" dirty="0">
                <a:solidFill>
                  <a:srgbClr val="0000FF"/>
                </a:solidFill>
              </a:rPr>
              <a:t>采取一定动作以保证完整性</a:t>
            </a:r>
          </a:p>
          <a:p>
            <a:pPr lvl="2">
              <a:lnSpc>
                <a:spcPct val="90000"/>
              </a:lnSpc>
            </a:pPr>
            <a:r>
              <a:rPr lang="zh-CN" altLang="en-US" dirty="0">
                <a:solidFill>
                  <a:srgbClr val="F40000"/>
                </a:solidFill>
              </a:rPr>
              <a:t>拒绝</a:t>
            </a:r>
            <a:r>
              <a:rPr lang="zh-CN" altLang="en-US" dirty="0"/>
              <a:t> </a:t>
            </a:r>
            <a:r>
              <a:rPr lang="en-US" altLang="zh-CN" dirty="0"/>
              <a:t>(No Action)</a:t>
            </a:r>
          </a:p>
          <a:p>
            <a:pPr lvl="2">
              <a:lnSpc>
                <a:spcPct val="90000"/>
              </a:lnSpc>
            </a:pPr>
            <a:r>
              <a:rPr lang="zh-CN" altLang="en-US" dirty="0">
                <a:solidFill>
                  <a:srgbClr val="F40000"/>
                </a:solidFill>
              </a:rPr>
              <a:t>级联</a:t>
            </a:r>
            <a:r>
              <a:rPr lang="zh-CN" altLang="en-US" dirty="0"/>
              <a:t> </a:t>
            </a:r>
            <a:r>
              <a:rPr lang="en-US" altLang="zh-CN" dirty="0"/>
              <a:t>(Cascade)</a:t>
            </a:r>
            <a:endParaRPr lang="zh-CN" altLang="en-US" sz="2000" dirty="0"/>
          </a:p>
        </p:txBody>
      </p:sp>
      <p:sp>
        <p:nvSpPr>
          <p:cNvPr id="10" name="日期占位符 9"/>
          <p:cNvSpPr>
            <a:spLocks noGrp="1"/>
          </p:cNvSpPr>
          <p:nvPr>
            <p:ph type="dt" sz="half" idx="10"/>
          </p:nvPr>
        </p:nvSpPr>
        <p:spPr/>
        <p:txBody>
          <a:bodyPr/>
          <a:lstStyle/>
          <a:p>
            <a:fld id="{CA9D3887-6FE8-44E8-A8CE-9B614306E1E6}"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2EFA0C4A-8F7E-75C1-1FBB-79041BD1E15E}"/>
              </a:ext>
            </a:extLst>
          </p:cNvPr>
          <p:cNvSpPr>
            <a:spLocks noGrp="1"/>
          </p:cNvSpPr>
          <p:nvPr>
            <p:ph type="sldNum" sz="quarter" idx="12"/>
          </p:nvPr>
        </p:nvSpPr>
        <p:spPr/>
        <p:txBody>
          <a:bodyPr/>
          <a:lstStyle/>
          <a:p>
            <a:pPr>
              <a:defRPr/>
            </a:pPr>
            <a:fld id="{E0CD82EA-F7BE-454B-A83E-18830F6C5424}" type="slidenum">
              <a:rPr lang="en-US" altLang="zh-CN" smtClean="0"/>
              <a:pPr>
                <a:defRPr/>
              </a:pPr>
              <a:t>64</a:t>
            </a:fld>
            <a:r>
              <a:rPr lang="en-US" altLang="zh-CN"/>
              <a:t>/138</a:t>
            </a:r>
            <a:endParaRPr lang="zh-CN" altLang="en-US" dirty="0"/>
          </a:p>
        </p:txBody>
      </p:sp>
    </p:spTree>
    <p:extLst>
      <p:ext uri="{BB962C8B-B14F-4D97-AF65-F5344CB8AC3E}">
        <p14:creationId xmlns:p14="http://schemas.microsoft.com/office/powerpoint/2010/main" val="1568540773"/>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p:txBody>
          <a:bodyPr/>
          <a:lstStyle/>
          <a:p>
            <a:r>
              <a:rPr lang="en-US" altLang="zh-CN" dirty="0"/>
              <a:t>4.4.1-4 </a:t>
            </a:r>
            <a:r>
              <a:rPr lang="zh-CN" altLang="en-US" dirty="0"/>
              <a:t>用户定义的完整性</a:t>
            </a:r>
          </a:p>
        </p:txBody>
      </p:sp>
      <p:sp>
        <p:nvSpPr>
          <p:cNvPr id="240643" name="Rectangle 3"/>
          <p:cNvSpPr>
            <a:spLocks noGrp="1" noChangeArrowheads="1"/>
          </p:cNvSpPr>
          <p:nvPr>
            <p:ph type="body" idx="1"/>
          </p:nvPr>
        </p:nvSpPr>
        <p:spPr>
          <a:xfrm>
            <a:off x="609600" y="1447801"/>
            <a:ext cx="8066856" cy="4573488"/>
          </a:xfrm>
        </p:spPr>
        <p:txBody>
          <a:bodyPr/>
          <a:lstStyle/>
          <a:p>
            <a:pPr eaLnBrk="1" hangingPunct="1"/>
            <a:r>
              <a:rPr lang="zh-CN" altLang="en-US" b="1" dirty="0"/>
              <a:t>用户定义的完整性</a:t>
            </a:r>
            <a:r>
              <a:rPr lang="zh-CN" altLang="en-US" dirty="0"/>
              <a:t>是：针对</a:t>
            </a:r>
            <a:r>
              <a:rPr lang="zh-CN" altLang="en-US" dirty="0">
                <a:solidFill>
                  <a:srgbClr val="0000FF"/>
                </a:solidFill>
              </a:rPr>
              <a:t>某一具体应用</a:t>
            </a:r>
            <a:r>
              <a:rPr lang="zh-CN" altLang="en-US" dirty="0"/>
              <a:t>的数据必须满足的语义要求 </a:t>
            </a:r>
          </a:p>
          <a:p>
            <a:pPr eaLnBrk="1" hangingPunct="1"/>
            <a:r>
              <a:rPr lang="zh-CN" altLang="en-US" dirty="0"/>
              <a:t>关系数据库管理系统</a:t>
            </a:r>
            <a:r>
              <a:rPr lang="zh-CN" altLang="en-US" dirty="0">
                <a:solidFill>
                  <a:srgbClr val="0000FF"/>
                </a:solidFill>
              </a:rPr>
              <a:t>提供了</a:t>
            </a:r>
            <a:r>
              <a:rPr lang="zh-CN" altLang="en-US" dirty="0"/>
              <a:t>定义和检验用户定义完整性的机制，不必由应用程序承担</a:t>
            </a:r>
            <a:endParaRPr lang="zh-CN" altLang="en-US" sz="3600" dirty="0"/>
          </a:p>
        </p:txBody>
      </p:sp>
      <p:sp>
        <p:nvSpPr>
          <p:cNvPr id="10" name="日期占位符 9"/>
          <p:cNvSpPr>
            <a:spLocks noGrp="1"/>
          </p:cNvSpPr>
          <p:nvPr>
            <p:ph type="dt" sz="half" idx="10"/>
          </p:nvPr>
        </p:nvSpPr>
        <p:spPr/>
        <p:txBody>
          <a:bodyPr/>
          <a:lstStyle/>
          <a:p>
            <a:fld id="{2ABF44AA-F8FD-43CB-9EC5-D61F3EA0279D}"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1C8E972B-1406-FD27-CB8E-03F51F671950}"/>
              </a:ext>
            </a:extLst>
          </p:cNvPr>
          <p:cNvSpPr>
            <a:spLocks noGrp="1"/>
          </p:cNvSpPr>
          <p:nvPr>
            <p:ph type="sldNum" sz="quarter" idx="12"/>
          </p:nvPr>
        </p:nvSpPr>
        <p:spPr/>
        <p:txBody>
          <a:bodyPr/>
          <a:lstStyle/>
          <a:p>
            <a:pPr>
              <a:defRPr/>
            </a:pPr>
            <a:fld id="{E0CD82EA-F7BE-454B-A83E-18830F6C5424}" type="slidenum">
              <a:rPr lang="en-US" altLang="zh-CN" smtClean="0"/>
              <a:pPr>
                <a:defRPr/>
              </a:pPr>
              <a:t>65</a:t>
            </a:fld>
            <a:r>
              <a:rPr lang="en-US" altLang="zh-CN"/>
              <a:t>/138</a:t>
            </a:r>
            <a:endParaRPr lang="zh-CN" altLang="en-US" dirty="0"/>
          </a:p>
        </p:txBody>
      </p:sp>
    </p:spTree>
    <p:extLst>
      <p:ext uri="{BB962C8B-B14F-4D97-AF65-F5344CB8AC3E}">
        <p14:creationId xmlns:p14="http://schemas.microsoft.com/office/powerpoint/2010/main" val="832224720"/>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p:txBody>
          <a:bodyPr/>
          <a:lstStyle/>
          <a:p>
            <a:r>
              <a:rPr lang="en-US" altLang="zh-CN" dirty="0"/>
              <a:t>4.4.1-4 </a:t>
            </a:r>
            <a:r>
              <a:rPr lang="zh-CN" altLang="en-US" dirty="0"/>
              <a:t>用户定义的完整性</a:t>
            </a:r>
          </a:p>
        </p:txBody>
      </p:sp>
      <p:sp>
        <p:nvSpPr>
          <p:cNvPr id="240643" name="Rectangle 3"/>
          <p:cNvSpPr>
            <a:spLocks noGrp="1" noChangeArrowheads="1"/>
          </p:cNvSpPr>
          <p:nvPr>
            <p:ph type="body" idx="1"/>
          </p:nvPr>
        </p:nvSpPr>
        <p:spPr/>
        <p:txBody>
          <a:bodyPr/>
          <a:lstStyle/>
          <a:p>
            <a:r>
              <a:rPr lang="zh-CN" altLang="en-US" dirty="0">
                <a:solidFill>
                  <a:srgbClr val="F40000"/>
                </a:solidFill>
              </a:rPr>
              <a:t>列级完整性</a:t>
            </a:r>
            <a:r>
              <a:rPr lang="zh-CN" altLang="en-US" dirty="0"/>
              <a:t>  涉及单个</a:t>
            </a:r>
            <a:r>
              <a:rPr lang="zh-CN" altLang="en-US" dirty="0">
                <a:solidFill>
                  <a:srgbClr val="0000CC"/>
                </a:solidFill>
              </a:rPr>
              <a:t>属性的约束</a:t>
            </a:r>
          </a:p>
          <a:p>
            <a:pPr lvl="1"/>
            <a:r>
              <a:rPr lang="zh-CN" altLang="en-US" dirty="0"/>
              <a:t>列值非空 </a:t>
            </a:r>
            <a:r>
              <a:rPr lang="en-US" altLang="zh-CN" dirty="0"/>
              <a:t>NOT NULL</a:t>
            </a:r>
          </a:p>
          <a:p>
            <a:pPr lvl="1"/>
            <a:r>
              <a:rPr lang="zh-CN" altLang="en-US" dirty="0"/>
              <a:t>列值唯一 </a:t>
            </a:r>
            <a:r>
              <a:rPr lang="en-US" altLang="zh-CN" dirty="0"/>
              <a:t>UNIQUE</a:t>
            </a:r>
          </a:p>
          <a:p>
            <a:pPr lvl="1"/>
            <a:r>
              <a:rPr lang="zh-CN" altLang="en-US" dirty="0"/>
              <a:t>列值</a:t>
            </a:r>
            <a:r>
              <a:rPr lang="zh-CN" altLang="en-US" b="1" dirty="0"/>
              <a:t>满足</a:t>
            </a:r>
            <a:r>
              <a:rPr lang="zh-CN" altLang="en-US" b="1" dirty="0">
                <a:solidFill>
                  <a:srgbClr val="FF0000"/>
                </a:solidFill>
              </a:rPr>
              <a:t>表达式</a:t>
            </a:r>
            <a:r>
              <a:rPr lang="zh-CN" altLang="en-US" b="1" dirty="0"/>
              <a:t> </a:t>
            </a:r>
            <a:r>
              <a:rPr lang="en-US" altLang="zh-CN" dirty="0"/>
              <a:t>CHECK</a:t>
            </a:r>
          </a:p>
          <a:p>
            <a:r>
              <a:rPr lang="zh-CN" altLang="en-US" dirty="0">
                <a:solidFill>
                  <a:srgbClr val="F40000"/>
                </a:solidFill>
              </a:rPr>
              <a:t>表级完整性</a:t>
            </a:r>
            <a:r>
              <a:rPr lang="zh-CN" altLang="en-US" dirty="0"/>
              <a:t>  涉及</a:t>
            </a:r>
            <a:r>
              <a:rPr lang="zh-CN" altLang="en-US" dirty="0">
                <a:solidFill>
                  <a:srgbClr val="0000CC"/>
                </a:solidFill>
              </a:rPr>
              <a:t>单个</a:t>
            </a:r>
            <a:r>
              <a:rPr lang="zh-CN" altLang="en-US" b="1" dirty="0"/>
              <a:t>或</a:t>
            </a:r>
            <a:r>
              <a:rPr lang="zh-CN" altLang="en-US" b="1" dirty="0">
                <a:solidFill>
                  <a:srgbClr val="FF0000"/>
                </a:solidFill>
              </a:rPr>
              <a:t>多个</a:t>
            </a:r>
            <a:r>
              <a:rPr lang="zh-CN" altLang="en-US" dirty="0">
                <a:solidFill>
                  <a:srgbClr val="0000CC"/>
                </a:solidFill>
              </a:rPr>
              <a:t>属性的约束</a:t>
            </a:r>
          </a:p>
          <a:p>
            <a:pPr lvl="1"/>
            <a:r>
              <a:rPr lang="zh-CN" altLang="en-US" dirty="0"/>
              <a:t>列值唯一 </a:t>
            </a:r>
            <a:r>
              <a:rPr lang="en-US" altLang="zh-CN" dirty="0"/>
              <a:t>UNIQUE</a:t>
            </a:r>
          </a:p>
          <a:p>
            <a:pPr lvl="1"/>
            <a:r>
              <a:rPr lang="zh-CN" altLang="en-US" dirty="0"/>
              <a:t>列值满足表达式 </a:t>
            </a:r>
            <a:r>
              <a:rPr lang="en-US" altLang="zh-CN" dirty="0"/>
              <a:t>CHECK</a:t>
            </a:r>
            <a:endParaRPr lang="zh-CN" altLang="en-US" dirty="0"/>
          </a:p>
        </p:txBody>
      </p:sp>
      <p:sp>
        <p:nvSpPr>
          <p:cNvPr id="10" name="日期占位符 9"/>
          <p:cNvSpPr>
            <a:spLocks noGrp="1"/>
          </p:cNvSpPr>
          <p:nvPr>
            <p:ph type="dt" sz="half" idx="10"/>
          </p:nvPr>
        </p:nvSpPr>
        <p:spPr/>
        <p:txBody>
          <a:bodyPr/>
          <a:lstStyle/>
          <a:p>
            <a:fld id="{2B35F2FB-3590-42C4-8536-92586B01955F}"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9874B9A9-4312-9859-48B5-2C529D6A60EC}"/>
              </a:ext>
            </a:extLst>
          </p:cNvPr>
          <p:cNvSpPr>
            <a:spLocks noGrp="1"/>
          </p:cNvSpPr>
          <p:nvPr>
            <p:ph type="sldNum" sz="quarter" idx="12"/>
          </p:nvPr>
        </p:nvSpPr>
        <p:spPr/>
        <p:txBody>
          <a:bodyPr/>
          <a:lstStyle/>
          <a:p>
            <a:pPr>
              <a:defRPr/>
            </a:pPr>
            <a:fld id="{E0CD82EA-F7BE-454B-A83E-18830F6C5424}" type="slidenum">
              <a:rPr lang="en-US" altLang="zh-CN" smtClean="0"/>
              <a:pPr>
                <a:defRPr/>
              </a:pPr>
              <a:t>66</a:t>
            </a:fld>
            <a:r>
              <a:rPr lang="en-US" altLang="zh-CN"/>
              <a:t>/138</a:t>
            </a:r>
            <a:endParaRPr lang="zh-CN" altLang="en-US" dirty="0"/>
          </a:p>
        </p:txBody>
      </p:sp>
    </p:spTree>
    <p:extLst>
      <p:ext uri="{BB962C8B-B14F-4D97-AF65-F5344CB8AC3E}">
        <p14:creationId xmlns:p14="http://schemas.microsoft.com/office/powerpoint/2010/main" val="18128510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0643">
                                            <p:txEl>
                                              <p:pRg st="1" end="1"/>
                                            </p:txEl>
                                          </p:spTgt>
                                        </p:tgtEl>
                                        <p:attrNameLst>
                                          <p:attrName>style.visibility</p:attrName>
                                        </p:attrNameLst>
                                      </p:cBhvr>
                                      <p:to>
                                        <p:strVal val="visible"/>
                                      </p:to>
                                    </p:set>
                                    <p:anim calcmode="lin" valueType="num">
                                      <p:cBhvr additive="base">
                                        <p:cTn id="7" dur="500" fill="hold"/>
                                        <p:tgtEl>
                                          <p:spTgt spid="24064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064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40643">
                                            <p:txEl>
                                              <p:pRg st="2" end="2"/>
                                            </p:txEl>
                                          </p:spTgt>
                                        </p:tgtEl>
                                        <p:attrNameLst>
                                          <p:attrName>style.visibility</p:attrName>
                                        </p:attrNameLst>
                                      </p:cBhvr>
                                      <p:to>
                                        <p:strVal val="visible"/>
                                      </p:to>
                                    </p:set>
                                    <p:anim calcmode="lin" valueType="num">
                                      <p:cBhvr additive="base">
                                        <p:cTn id="11" dur="500" fill="hold"/>
                                        <p:tgtEl>
                                          <p:spTgt spid="24064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064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40643">
                                            <p:txEl>
                                              <p:pRg st="3" end="3"/>
                                            </p:txEl>
                                          </p:spTgt>
                                        </p:tgtEl>
                                        <p:attrNameLst>
                                          <p:attrName>style.visibility</p:attrName>
                                        </p:attrNameLst>
                                      </p:cBhvr>
                                      <p:to>
                                        <p:strVal val="visible"/>
                                      </p:to>
                                    </p:set>
                                    <p:anim calcmode="lin" valueType="num">
                                      <p:cBhvr additive="base">
                                        <p:cTn id="15" dur="500" fill="hold"/>
                                        <p:tgtEl>
                                          <p:spTgt spid="24064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406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40643">
                                            <p:txEl>
                                              <p:pRg st="5" end="5"/>
                                            </p:txEl>
                                          </p:spTgt>
                                        </p:tgtEl>
                                        <p:attrNameLst>
                                          <p:attrName>style.visibility</p:attrName>
                                        </p:attrNameLst>
                                      </p:cBhvr>
                                      <p:to>
                                        <p:strVal val="visible"/>
                                      </p:to>
                                    </p:set>
                                    <p:anim calcmode="lin" valueType="num">
                                      <p:cBhvr additive="base">
                                        <p:cTn id="21" dur="500" fill="hold"/>
                                        <p:tgtEl>
                                          <p:spTgt spid="24064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40643">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40643">
                                            <p:txEl>
                                              <p:pRg st="6" end="6"/>
                                            </p:txEl>
                                          </p:spTgt>
                                        </p:tgtEl>
                                        <p:attrNameLst>
                                          <p:attrName>style.visibility</p:attrName>
                                        </p:attrNameLst>
                                      </p:cBhvr>
                                      <p:to>
                                        <p:strVal val="visible"/>
                                      </p:to>
                                    </p:set>
                                    <p:anim calcmode="lin" valueType="num">
                                      <p:cBhvr additive="base">
                                        <p:cTn id="25" dur="500" fill="hold"/>
                                        <p:tgtEl>
                                          <p:spTgt spid="24064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064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lstStyle/>
          <a:p>
            <a:r>
              <a:rPr lang="en-US" altLang="zh-CN" dirty="0"/>
              <a:t>4.4.2 </a:t>
            </a:r>
            <a:r>
              <a:rPr lang="zh-CN" altLang="en-US" dirty="0"/>
              <a:t>非空约束</a:t>
            </a:r>
          </a:p>
        </p:txBody>
      </p:sp>
      <p:sp>
        <p:nvSpPr>
          <p:cNvPr id="241667" name="Rectangle 3"/>
          <p:cNvSpPr>
            <a:spLocks noGrp="1" noChangeArrowheads="1"/>
          </p:cNvSpPr>
          <p:nvPr>
            <p:ph type="body" idx="1"/>
          </p:nvPr>
        </p:nvSpPr>
        <p:spPr/>
        <p:txBody>
          <a:bodyPr/>
          <a:lstStyle/>
          <a:p>
            <a:pPr>
              <a:lnSpc>
                <a:spcPct val="90000"/>
              </a:lnSpc>
            </a:pPr>
            <a:r>
              <a:rPr lang="zh-CN" altLang="en-US" dirty="0"/>
              <a:t>例</a:t>
            </a:r>
            <a:r>
              <a:rPr lang="en-US" altLang="zh-CN" dirty="0"/>
              <a:t>5 </a:t>
            </a:r>
            <a:r>
              <a:rPr lang="zh-CN" altLang="en-US" dirty="0"/>
              <a:t>在定义</a:t>
            </a:r>
            <a:r>
              <a:rPr lang="en-US" altLang="zh-CN" dirty="0"/>
              <a:t>Student</a:t>
            </a:r>
            <a:r>
              <a:rPr lang="zh-CN" altLang="en-US" dirty="0"/>
              <a:t>表时，说明</a:t>
            </a:r>
            <a:r>
              <a:rPr lang="en-US" altLang="zh-CN" dirty="0" err="1"/>
              <a:t>Sname</a:t>
            </a:r>
            <a:r>
              <a:rPr lang="zh-CN" altLang="en-US" dirty="0">
                <a:solidFill>
                  <a:srgbClr val="0000FF"/>
                </a:solidFill>
              </a:rPr>
              <a:t>不能取空值。</a:t>
            </a:r>
          </a:p>
          <a:p>
            <a:pPr>
              <a:lnSpc>
                <a:spcPct val="90000"/>
              </a:lnSpc>
              <a:buFont typeface="Wingdings" pitchFamily="2" charset="2"/>
              <a:buNone/>
            </a:pPr>
            <a:endParaRPr lang="en-US" altLang="zh-CN" sz="2400" dirty="0"/>
          </a:p>
          <a:p>
            <a:pPr>
              <a:lnSpc>
                <a:spcPct val="90000"/>
              </a:lnSpc>
              <a:buFont typeface="Wingdings" pitchFamily="2" charset="2"/>
              <a:buNone/>
            </a:pPr>
            <a:r>
              <a:rPr lang="en-US" altLang="zh-CN" sz="2400" dirty="0"/>
              <a:t>	CREATE TABLE student(</a:t>
            </a:r>
          </a:p>
          <a:p>
            <a:pPr>
              <a:lnSpc>
                <a:spcPct val="90000"/>
              </a:lnSpc>
              <a:buFont typeface="Wingdings" pitchFamily="2" charset="2"/>
              <a:buNone/>
            </a:pPr>
            <a:r>
              <a:rPr lang="en-US" altLang="zh-CN" sz="2400" dirty="0"/>
              <a:t> 	</a:t>
            </a:r>
            <a:r>
              <a:rPr lang="en-US" altLang="zh-CN" sz="2400" dirty="0" err="1"/>
              <a:t>sno</a:t>
            </a:r>
            <a:r>
              <a:rPr lang="en-US" altLang="zh-CN" sz="2400" dirty="0"/>
              <a:t> char(10),</a:t>
            </a:r>
          </a:p>
          <a:p>
            <a:pPr>
              <a:lnSpc>
                <a:spcPct val="90000"/>
              </a:lnSpc>
              <a:buFont typeface="Wingdings" pitchFamily="2" charset="2"/>
              <a:buNone/>
            </a:pPr>
            <a:r>
              <a:rPr lang="en-US" altLang="zh-CN" sz="2400" dirty="0"/>
              <a:t> 	</a:t>
            </a:r>
            <a:r>
              <a:rPr lang="en-US" altLang="zh-CN" sz="2400" dirty="0" err="1"/>
              <a:t>sname</a:t>
            </a:r>
            <a:r>
              <a:rPr lang="en-US" altLang="zh-CN" sz="2400" dirty="0"/>
              <a:t> char(8) </a:t>
            </a:r>
            <a:r>
              <a:rPr lang="en-US" altLang="zh-CN" sz="2400" dirty="0">
                <a:solidFill>
                  <a:srgbClr val="F40000"/>
                </a:solidFill>
              </a:rPr>
              <a:t>NOT NULL</a:t>
            </a:r>
            <a:r>
              <a:rPr lang="en-US" altLang="zh-CN" sz="2400" dirty="0"/>
              <a:t>,</a:t>
            </a:r>
          </a:p>
          <a:p>
            <a:pPr>
              <a:lnSpc>
                <a:spcPct val="90000"/>
              </a:lnSpc>
              <a:buFont typeface="Wingdings" pitchFamily="2" charset="2"/>
              <a:buNone/>
            </a:pPr>
            <a:r>
              <a:rPr lang="en-US" altLang="zh-CN" sz="2400" dirty="0"/>
              <a:t> 	</a:t>
            </a:r>
            <a:r>
              <a:rPr lang="en-US" altLang="zh-CN" sz="2400" dirty="0" err="1"/>
              <a:t>sgender</a:t>
            </a:r>
            <a:r>
              <a:rPr lang="en-US" altLang="zh-CN" sz="2400" dirty="0"/>
              <a:t> char(2),</a:t>
            </a:r>
          </a:p>
          <a:p>
            <a:pPr>
              <a:lnSpc>
                <a:spcPct val="90000"/>
              </a:lnSpc>
              <a:buFont typeface="Wingdings" pitchFamily="2" charset="2"/>
              <a:buNone/>
            </a:pPr>
            <a:r>
              <a:rPr lang="en-US" altLang="zh-CN" sz="2400" dirty="0"/>
              <a:t>	sage </a:t>
            </a:r>
            <a:r>
              <a:rPr lang="en-US" altLang="zh-CN" sz="2400" dirty="0" err="1"/>
              <a:t>int</a:t>
            </a:r>
            <a:r>
              <a:rPr lang="en-US" altLang="zh-CN" sz="2400" dirty="0"/>
              <a:t>,</a:t>
            </a:r>
          </a:p>
          <a:p>
            <a:pPr>
              <a:lnSpc>
                <a:spcPct val="90000"/>
              </a:lnSpc>
              <a:buFont typeface="Wingdings" pitchFamily="2" charset="2"/>
              <a:buNone/>
            </a:pPr>
            <a:r>
              <a:rPr lang="en-US" altLang="zh-CN" sz="2400" dirty="0"/>
              <a:t> 	</a:t>
            </a:r>
            <a:r>
              <a:rPr lang="en-US" altLang="zh-CN" sz="2400" dirty="0" err="1"/>
              <a:t>sdept</a:t>
            </a:r>
            <a:r>
              <a:rPr lang="en-US" altLang="zh-CN" sz="2400" dirty="0"/>
              <a:t> char(2),</a:t>
            </a:r>
          </a:p>
          <a:p>
            <a:pPr>
              <a:lnSpc>
                <a:spcPct val="90000"/>
              </a:lnSpc>
              <a:buFont typeface="Wingdings" pitchFamily="2" charset="2"/>
              <a:buNone/>
            </a:pPr>
            <a:r>
              <a:rPr lang="en-US" altLang="zh-CN" sz="2400" dirty="0"/>
              <a:t> 	CONSTRAINT </a:t>
            </a:r>
            <a:r>
              <a:rPr lang="en-US" altLang="zh-CN" sz="2400" dirty="0" err="1"/>
              <a:t>student_pkey</a:t>
            </a:r>
            <a:r>
              <a:rPr lang="en-US" altLang="zh-CN" sz="2400" dirty="0"/>
              <a:t> </a:t>
            </a:r>
            <a:r>
              <a:rPr lang="en-US" altLang="zh-CN" sz="2400" dirty="0">
                <a:solidFill>
                  <a:srgbClr val="0000CC"/>
                </a:solidFill>
              </a:rPr>
              <a:t>PRIMARY KEY </a:t>
            </a:r>
            <a:r>
              <a:rPr lang="en-US" altLang="zh-CN" sz="2400" dirty="0"/>
              <a:t>(</a:t>
            </a:r>
            <a:r>
              <a:rPr lang="en-US" altLang="zh-CN" sz="2400" dirty="0" err="1"/>
              <a:t>sno</a:t>
            </a:r>
            <a:r>
              <a:rPr lang="en-US" altLang="zh-CN" sz="2400" dirty="0"/>
              <a:t>)</a:t>
            </a:r>
          </a:p>
          <a:p>
            <a:pPr>
              <a:lnSpc>
                <a:spcPct val="90000"/>
              </a:lnSpc>
              <a:buFont typeface="Wingdings" pitchFamily="2" charset="2"/>
              <a:buNone/>
            </a:pPr>
            <a:r>
              <a:rPr lang="en-US" altLang="zh-CN" sz="2400" dirty="0"/>
              <a:t>	);</a:t>
            </a:r>
            <a:endParaRPr lang="zh-CN" altLang="en-US" sz="2400" dirty="0"/>
          </a:p>
        </p:txBody>
      </p:sp>
      <p:sp>
        <p:nvSpPr>
          <p:cNvPr id="10" name="日期占位符 9"/>
          <p:cNvSpPr>
            <a:spLocks noGrp="1"/>
          </p:cNvSpPr>
          <p:nvPr>
            <p:ph type="dt" sz="half" idx="10"/>
          </p:nvPr>
        </p:nvSpPr>
        <p:spPr/>
        <p:txBody>
          <a:bodyPr/>
          <a:lstStyle/>
          <a:p>
            <a:fld id="{13737644-D26F-4B2F-B093-D127B58196C3}"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cxnSp>
        <p:nvCxnSpPr>
          <p:cNvPr id="3" name="直接连接符 2"/>
          <p:cNvCxnSpPr/>
          <p:nvPr/>
        </p:nvCxnSpPr>
        <p:spPr bwMode="auto">
          <a:xfrm>
            <a:off x="990600" y="4016188"/>
            <a:ext cx="3733800" cy="0"/>
          </a:xfrm>
          <a:prstGeom prst="line">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 name="灯片编号占位符 3">
            <a:extLst>
              <a:ext uri="{FF2B5EF4-FFF2-40B4-BE49-F238E27FC236}">
                <a16:creationId xmlns:a16="http://schemas.microsoft.com/office/drawing/2014/main" id="{867EFAA9-A3B4-34EF-083F-498F3D3FD4BF}"/>
              </a:ext>
            </a:extLst>
          </p:cNvPr>
          <p:cNvSpPr>
            <a:spLocks noGrp="1"/>
          </p:cNvSpPr>
          <p:nvPr>
            <p:ph type="sldNum" sz="quarter" idx="12"/>
          </p:nvPr>
        </p:nvSpPr>
        <p:spPr/>
        <p:txBody>
          <a:bodyPr/>
          <a:lstStyle/>
          <a:p>
            <a:pPr>
              <a:defRPr/>
            </a:pPr>
            <a:fld id="{E0CD82EA-F7BE-454B-A83E-18830F6C5424}" type="slidenum">
              <a:rPr lang="en-US" altLang="zh-CN" smtClean="0"/>
              <a:pPr>
                <a:defRPr/>
              </a:pPr>
              <a:t>67</a:t>
            </a:fld>
            <a:r>
              <a:rPr lang="en-US" altLang="zh-CN"/>
              <a:t>/138</a:t>
            </a:r>
            <a:endParaRPr lang="zh-CN" altLang="en-US" dirty="0"/>
          </a:p>
        </p:txBody>
      </p:sp>
    </p:spTree>
    <p:extLst>
      <p:ext uri="{BB962C8B-B14F-4D97-AF65-F5344CB8AC3E}">
        <p14:creationId xmlns:p14="http://schemas.microsoft.com/office/powerpoint/2010/main" val="2352363444"/>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lstStyle/>
          <a:p>
            <a:r>
              <a:rPr lang="en-US" altLang="zh-CN" dirty="0"/>
              <a:t>4.4.2 </a:t>
            </a:r>
            <a:r>
              <a:rPr lang="zh-CN" altLang="en-US" dirty="0"/>
              <a:t>非空约束</a:t>
            </a:r>
          </a:p>
        </p:txBody>
      </p:sp>
      <p:sp>
        <p:nvSpPr>
          <p:cNvPr id="241667" name="Rectangle 3"/>
          <p:cNvSpPr>
            <a:spLocks noGrp="1" noChangeArrowheads="1"/>
          </p:cNvSpPr>
          <p:nvPr>
            <p:ph type="body" idx="1"/>
          </p:nvPr>
        </p:nvSpPr>
        <p:spPr>
          <a:xfrm>
            <a:off x="609600" y="1447800"/>
            <a:ext cx="8229600" cy="4684713"/>
          </a:xfrm>
        </p:spPr>
        <p:txBody>
          <a:bodyPr/>
          <a:lstStyle/>
          <a:p>
            <a:pPr>
              <a:lnSpc>
                <a:spcPct val="90000"/>
              </a:lnSpc>
            </a:pPr>
            <a:r>
              <a:rPr lang="zh-CN" altLang="en-US" dirty="0"/>
              <a:t>通过</a:t>
            </a:r>
            <a:r>
              <a:rPr lang="zh-CN" altLang="en-US" b="1" dirty="0"/>
              <a:t>定义</a:t>
            </a:r>
            <a:r>
              <a:rPr lang="zh-CN" altLang="en-US" dirty="0">
                <a:solidFill>
                  <a:srgbClr val="0000FF"/>
                </a:solidFill>
              </a:rPr>
              <a:t>域</a:t>
            </a:r>
            <a:r>
              <a:rPr lang="zh-CN" altLang="en-US" dirty="0"/>
              <a:t>来实现</a:t>
            </a:r>
            <a:r>
              <a:rPr lang="zh-CN" altLang="en-US" dirty="0">
                <a:solidFill>
                  <a:srgbClr val="0000FF"/>
                </a:solidFill>
              </a:rPr>
              <a:t>。</a:t>
            </a:r>
          </a:p>
          <a:p>
            <a:r>
              <a:rPr lang="zh-CN" altLang="en-US" dirty="0">
                <a:solidFill>
                  <a:srgbClr val="0000CC"/>
                </a:solidFill>
              </a:rPr>
              <a:t>域：</a:t>
            </a:r>
            <a:r>
              <a:rPr lang="zh-CN" altLang="en-US" dirty="0"/>
              <a:t>一组</a:t>
            </a:r>
            <a:r>
              <a:rPr lang="zh-CN" altLang="en-US" dirty="0">
                <a:solidFill>
                  <a:srgbClr val="0000FF"/>
                </a:solidFill>
              </a:rPr>
              <a:t>具有相同数据类型的值的集</a:t>
            </a:r>
            <a:endParaRPr lang="en-US" altLang="zh-CN" dirty="0">
              <a:solidFill>
                <a:srgbClr val="0000FF"/>
              </a:solidFill>
            </a:endParaRPr>
          </a:p>
          <a:p>
            <a:pPr marL="0" indent="0">
              <a:buNone/>
            </a:pPr>
            <a:endParaRPr lang="en-US" altLang="zh-CN" sz="3200" dirty="0">
              <a:solidFill>
                <a:srgbClr val="0000FF"/>
              </a:solidFill>
            </a:endParaRPr>
          </a:p>
          <a:p>
            <a:pPr marL="0" indent="0" algn="ctr">
              <a:buNone/>
            </a:pPr>
            <a:r>
              <a:rPr lang="en-US" altLang="zh-CN" sz="2800" dirty="0">
                <a:solidFill>
                  <a:srgbClr val="0000CC"/>
                </a:solidFill>
              </a:rPr>
              <a:t>create domain </a:t>
            </a:r>
            <a:r>
              <a:rPr lang="en-US" altLang="zh-CN" sz="2800" dirty="0" err="1">
                <a:solidFill>
                  <a:srgbClr val="006600"/>
                </a:solidFill>
              </a:rPr>
              <a:t>person_name</a:t>
            </a:r>
            <a:r>
              <a:rPr lang="en-US" altLang="zh-CN" sz="2800" i="1" dirty="0"/>
              <a:t> </a:t>
            </a:r>
            <a:r>
              <a:rPr lang="en-US" altLang="zh-CN" sz="2800" dirty="0"/>
              <a:t>char(20) </a:t>
            </a:r>
            <a:r>
              <a:rPr lang="en-US" altLang="zh-CN" sz="2800" dirty="0">
                <a:solidFill>
                  <a:srgbClr val="FF0000"/>
                </a:solidFill>
              </a:rPr>
              <a:t>not null</a:t>
            </a:r>
            <a:r>
              <a:rPr lang="en-US" altLang="zh-CN" sz="2800" dirty="0"/>
              <a:t>;</a:t>
            </a:r>
          </a:p>
          <a:p>
            <a:pPr lvl="1">
              <a:buNone/>
            </a:pPr>
            <a:endParaRPr lang="en-US" altLang="zh-CN" sz="3200" dirty="0"/>
          </a:p>
          <a:p>
            <a:pPr lvl="1">
              <a:buNone/>
            </a:pPr>
            <a:r>
              <a:rPr lang="en-US" altLang="zh-CN" dirty="0" err="1"/>
              <a:t>Sname</a:t>
            </a:r>
            <a:r>
              <a:rPr lang="en-US" altLang="zh-CN" dirty="0"/>
              <a:t> </a:t>
            </a:r>
            <a:r>
              <a:rPr lang="en-US" altLang="zh-CN" dirty="0" err="1">
                <a:solidFill>
                  <a:srgbClr val="0000CC"/>
                </a:solidFill>
              </a:rPr>
              <a:t>person_name</a:t>
            </a:r>
            <a:r>
              <a:rPr lang="en-US" altLang="zh-CN" dirty="0"/>
              <a:t>;</a:t>
            </a:r>
          </a:p>
          <a:p>
            <a:pPr>
              <a:lnSpc>
                <a:spcPct val="90000"/>
              </a:lnSpc>
              <a:buFont typeface="Wingdings" pitchFamily="2" charset="2"/>
              <a:buNone/>
            </a:pPr>
            <a:endParaRPr lang="en-US" altLang="zh-CN" sz="2400" dirty="0"/>
          </a:p>
          <a:p>
            <a:pPr>
              <a:lnSpc>
                <a:spcPct val="90000"/>
              </a:lnSpc>
              <a:buFont typeface="Wingdings" pitchFamily="2" charset="2"/>
              <a:buNone/>
            </a:pPr>
            <a:r>
              <a:rPr lang="en-US" altLang="zh-CN" sz="2400" dirty="0"/>
              <a:t>	</a:t>
            </a:r>
            <a:r>
              <a:rPr lang="zh-CN" altLang="en-US" sz="2400" dirty="0"/>
              <a:t>备注：</a:t>
            </a:r>
            <a:r>
              <a:rPr lang="en-US" altLang="zh-CN" sz="2400" dirty="0" err="1"/>
              <a:t>postgreSQL</a:t>
            </a:r>
            <a:r>
              <a:rPr lang="zh-CN" altLang="en-US" sz="2400" dirty="0"/>
              <a:t>支持</a:t>
            </a:r>
          </a:p>
        </p:txBody>
      </p:sp>
      <p:sp>
        <p:nvSpPr>
          <p:cNvPr id="10" name="日期占位符 9"/>
          <p:cNvSpPr>
            <a:spLocks noGrp="1"/>
          </p:cNvSpPr>
          <p:nvPr>
            <p:ph type="dt" sz="half" idx="10"/>
          </p:nvPr>
        </p:nvSpPr>
        <p:spPr/>
        <p:txBody>
          <a:bodyPr/>
          <a:lstStyle/>
          <a:p>
            <a:fld id="{316807E8-15EA-4C2A-BB3E-31CE4A319CE3}"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95A1E56F-DFE6-89CA-836E-EF43A83E2482}"/>
              </a:ext>
            </a:extLst>
          </p:cNvPr>
          <p:cNvSpPr>
            <a:spLocks noGrp="1"/>
          </p:cNvSpPr>
          <p:nvPr>
            <p:ph type="sldNum" sz="quarter" idx="12"/>
          </p:nvPr>
        </p:nvSpPr>
        <p:spPr/>
        <p:txBody>
          <a:bodyPr/>
          <a:lstStyle/>
          <a:p>
            <a:pPr>
              <a:defRPr/>
            </a:pPr>
            <a:fld id="{E0CD82EA-F7BE-454B-A83E-18830F6C5424}" type="slidenum">
              <a:rPr lang="en-US" altLang="zh-CN" smtClean="0"/>
              <a:pPr>
                <a:defRPr/>
              </a:pPr>
              <a:t>68</a:t>
            </a:fld>
            <a:r>
              <a:rPr lang="en-US" altLang="zh-CN"/>
              <a:t>/138</a:t>
            </a:r>
            <a:endParaRPr lang="zh-CN" altLang="en-US" dirty="0"/>
          </a:p>
        </p:txBody>
      </p:sp>
    </p:spTree>
    <p:extLst>
      <p:ext uri="{BB962C8B-B14F-4D97-AF65-F5344CB8AC3E}">
        <p14:creationId xmlns:p14="http://schemas.microsoft.com/office/powerpoint/2010/main" val="3367737123"/>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altLang="zh-CN" dirty="0"/>
              <a:t>4.4.3 </a:t>
            </a:r>
            <a:r>
              <a:rPr lang="zh-CN" altLang="en-US" dirty="0"/>
              <a:t>唯一性约束</a:t>
            </a:r>
          </a:p>
        </p:txBody>
      </p:sp>
      <p:sp>
        <p:nvSpPr>
          <p:cNvPr id="242691" name="Rectangle 3"/>
          <p:cNvSpPr>
            <a:spLocks noGrp="1" noChangeArrowheads="1"/>
          </p:cNvSpPr>
          <p:nvPr>
            <p:ph type="body" idx="1"/>
          </p:nvPr>
        </p:nvSpPr>
        <p:spPr>
          <a:xfrm>
            <a:off x="609600" y="1447800"/>
            <a:ext cx="8153400" cy="4684713"/>
          </a:xfrm>
        </p:spPr>
        <p:txBody>
          <a:bodyPr/>
          <a:lstStyle/>
          <a:p>
            <a:r>
              <a:rPr lang="en-US" altLang="zh-CN" dirty="0"/>
              <a:t>unique (A</a:t>
            </a:r>
            <a:r>
              <a:rPr lang="en-US" altLang="zh-CN" baseline="-25000" dirty="0"/>
              <a:t>j1</a:t>
            </a:r>
            <a:r>
              <a:rPr lang="en-US" altLang="zh-CN" dirty="0"/>
              <a:t>, A</a:t>
            </a:r>
            <a:r>
              <a:rPr lang="en-US" altLang="zh-CN" baseline="-25000" dirty="0"/>
              <a:t>j2</a:t>
            </a:r>
            <a:r>
              <a:rPr lang="en-US" altLang="zh-CN" dirty="0"/>
              <a:t>,…, </a:t>
            </a:r>
            <a:r>
              <a:rPr lang="en-US" altLang="zh-CN" dirty="0" err="1"/>
              <a:t>A</a:t>
            </a:r>
            <a:r>
              <a:rPr lang="en-US" altLang="zh-CN" baseline="-25000" dirty="0" err="1"/>
              <a:t>jm</a:t>
            </a:r>
            <a:r>
              <a:rPr lang="en-US" altLang="zh-CN" dirty="0"/>
              <a:t>)</a:t>
            </a:r>
          </a:p>
          <a:p>
            <a:pPr lvl="1"/>
            <a:r>
              <a:rPr lang="zh-CN" altLang="en-US" dirty="0"/>
              <a:t>属性</a:t>
            </a:r>
            <a:r>
              <a:rPr lang="en-US" altLang="zh-CN" dirty="0"/>
              <a:t>A</a:t>
            </a:r>
            <a:r>
              <a:rPr lang="en-US" altLang="zh-CN" baseline="-25000" dirty="0"/>
              <a:t>j1</a:t>
            </a:r>
            <a:r>
              <a:rPr lang="en-US" altLang="zh-CN" dirty="0"/>
              <a:t>, A</a:t>
            </a:r>
            <a:r>
              <a:rPr lang="en-US" altLang="zh-CN" baseline="-25000" dirty="0"/>
              <a:t>j2</a:t>
            </a:r>
            <a:r>
              <a:rPr lang="en-US" altLang="zh-CN" dirty="0"/>
              <a:t>,…, </a:t>
            </a:r>
            <a:r>
              <a:rPr lang="en-US" altLang="zh-CN" dirty="0" err="1"/>
              <a:t>A</a:t>
            </a:r>
            <a:r>
              <a:rPr lang="en-US" altLang="zh-CN" baseline="-25000" dirty="0" err="1"/>
              <a:t>jm</a:t>
            </a:r>
            <a:r>
              <a:rPr lang="zh-CN" altLang="en-US" dirty="0"/>
              <a:t>构成超码，也即关系中没有两个元组能在所列的这些属性上取值相同</a:t>
            </a:r>
          </a:p>
        </p:txBody>
      </p:sp>
      <p:sp>
        <p:nvSpPr>
          <p:cNvPr id="10" name="日期占位符 9"/>
          <p:cNvSpPr>
            <a:spLocks noGrp="1"/>
          </p:cNvSpPr>
          <p:nvPr>
            <p:ph type="dt" sz="half" idx="10"/>
          </p:nvPr>
        </p:nvSpPr>
        <p:spPr/>
        <p:txBody>
          <a:bodyPr/>
          <a:lstStyle/>
          <a:p>
            <a:fld id="{F984A7BF-34C2-408D-887B-36FB81EEA889}"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2BBC7623-4AA1-B210-FB47-4613EE51A626}"/>
              </a:ext>
            </a:extLst>
          </p:cNvPr>
          <p:cNvSpPr>
            <a:spLocks noGrp="1"/>
          </p:cNvSpPr>
          <p:nvPr>
            <p:ph type="sldNum" sz="quarter" idx="12"/>
          </p:nvPr>
        </p:nvSpPr>
        <p:spPr/>
        <p:txBody>
          <a:bodyPr/>
          <a:lstStyle/>
          <a:p>
            <a:pPr>
              <a:defRPr/>
            </a:pPr>
            <a:fld id="{E0CD82EA-F7BE-454B-A83E-18830F6C5424}" type="slidenum">
              <a:rPr lang="en-US" altLang="zh-CN" smtClean="0"/>
              <a:pPr>
                <a:defRPr/>
              </a:pPr>
              <a:t>69</a:t>
            </a:fld>
            <a:r>
              <a:rPr lang="en-US" altLang="zh-CN"/>
              <a:t>/138</a:t>
            </a:r>
            <a:endParaRPr lang="zh-CN" altLang="en-US" dirty="0"/>
          </a:p>
        </p:txBody>
      </p:sp>
    </p:spTree>
    <p:extLst>
      <p:ext uri="{BB962C8B-B14F-4D97-AF65-F5344CB8AC3E}">
        <p14:creationId xmlns:p14="http://schemas.microsoft.com/office/powerpoint/2010/main" val="4013644614"/>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altLang="zh-CN" dirty="0"/>
              <a:t>4.4.3 </a:t>
            </a:r>
            <a:r>
              <a:rPr lang="zh-CN" altLang="en-US" dirty="0"/>
              <a:t>唯一性约束</a:t>
            </a:r>
          </a:p>
        </p:txBody>
      </p:sp>
      <p:sp>
        <p:nvSpPr>
          <p:cNvPr id="242691" name="Rectangle 3"/>
          <p:cNvSpPr>
            <a:spLocks noGrp="1" noChangeArrowheads="1"/>
          </p:cNvSpPr>
          <p:nvPr>
            <p:ph type="body" idx="1"/>
          </p:nvPr>
        </p:nvSpPr>
        <p:spPr>
          <a:xfrm>
            <a:off x="609600" y="1447800"/>
            <a:ext cx="8534400" cy="4684713"/>
          </a:xfrm>
        </p:spPr>
        <p:txBody>
          <a:bodyPr/>
          <a:lstStyle/>
          <a:p>
            <a:r>
              <a:rPr lang="zh-CN" altLang="en-US" dirty="0"/>
              <a:t>例</a:t>
            </a:r>
            <a:r>
              <a:rPr lang="en-US" altLang="zh-CN" dirty="0"/>
              <a:t>6 </a:t>
            </a:r>
            <a:r>
              <a:rPr lang="zh-CN" altLang="en-US" dirty="0"/>
              <a:t>创建部门表</a:t>
            </a:r>
            <a:r>
              <a:rPr lang="en-US" altLang="zh-CN" dirty="0"/>
              <a:t>DEPT</a:t>
            </a:r>
            <a:r>
              <a:rPr lang="zh-CN" altLang="en-US" dirty="0"/>
              <a:t>，要求部门名称</a:t>
            </a:r>
            <a:r>
              <a:rPr lang="en-US" altLang="zh-CN" dirty="0" err="1">
                <a:solidFill>
                  <a:srgbClr val="0000FF"/>
                </a:solidFill>
              </a:rPr>
              <a:t>Dname</a:t>
            </a:r>
            <a:r>
              <a:rPr lang="zh-CN" altLang="en-US" dirty="0"/>
              <a:t>取值</a:t>
            </a:r>
            <a:r>
              <a:rPr lang="zh-CN" altLang="en-US" dirty="0">
                <a:solidFill>
                  <a:srgbClr val="0000FF"/>
                </a:solidFill>
              </a:rPr>
              <a:t>唯一</a:t>
            </a:r>
            <a:r>
              <a:rPr lang="zh-CN" altLang="en-US" dirty="0"/>
              <a:t>，部门编号</a:t>
            </a:r>
            <a:r>
              <a:rPr lang="en-US" altLang="zh-CN" dirty="0" err="1">
                <a:solidFill>
                  <a:srgbClr val="0000FF"/>
                </a:solidFill>
              </a:rPr>
              <a:t>DeptNo</a:t>
            </a:r>
            <a:r>
              <a:rPr lang="zh-CN" altLang="en-US" dirty="0"/>
              <a:t>为</a:t>
            </a:r>
            <a:r>
              <a:rPr lang="zh-CN" altLang="en-US" dirty="0">
                <a:solidFill>
                  <a:srgbClr val="0000FF"/>
                </a:solidFill>
              </a:rPr>
              <a:t>主码</a:t>
            </a:r>
            <a:r>
              <a:rPr lang="zh-CN" altLang="en-US" dirty="0"/>
              <a:t>。</a:t>
            </a:r>
          </a:p>
          <a:p>
            <a:pPr>
              <a:buFont typeface="Wingdings" pitchFamily="2" charset="2"/>
              <a:buNone/>
            </a:pPr>
            <a:endParaRPr lang="en-US" altLang="zh-CN" dirty="0"/>
          </a:p>
          <a:p>
            <a:pPr>
              <a:buFont typeface="Wingdings" pitchFamily="2" charset="2"/>
              <a:buNone/>
            </a:pPr>
            <a:r>
              <a:rPr lang="en-US" altLang="zh-CN" dirty="0"/>
              <a:t>	</a:t>
            </a:r>
            <a:r>
              <a:rPr lang="en-US" altLang="zh-CN" sz="2400" dirty="0"/>
              <a:t>CREATE TABLE DEPT(</a:t>
            </a:r>
          </a:p>
          <a:p>
            <a:pPr>
              <a:buFont typeface="Wingdings" pitchFamily="2" charset="2"/>
              <a:buNone/>
            </a:pPr>
            <a:r>
              <a:rPr lang="en-US" altLang="zh-CN" sz="2400" dirty="0"/>
              <a:t>  	</a:t>
            </a:r>
            <a:r>
              <a:rPr lang="en-US" altLang="zh-CN" sz="2400" dirty="0" err="1"/>
              <a:t>DeptNo</a:t>
            </a:r>
            <a:r>
              <a:rPr lang="en-US" altLang="zh-CN" sz="2400" dirty="0"/>
              <a:t> NUMERIC(2),</a:t>
            </a:r>
          </a:p>
          <a:p>
            <a:pPr>
              <a:buFont typeface="Wingdings" pitchFamily="2" charset="2"/>
              <a:buNone/>
            </a:pPr>
            <a:r>
              <a:rPr lang="en-US" altLang="zh-CN" sz="2400" dirty="0"/>
              <a:t>  	</a:t>
            </a:r>
            <a:r>
              <a:rPr lang="en-US" altLang="zh-CN" sz="2400" dirty="0" err="1"/>
              <a:t>Dname</a:t>
            </a:r>
            <a:r>
              <a:rPr lang="en-US" altLang="zh-CN" sz="2400" dirty="0"/>
              <a:t> CHAR(9) </a:t>
            </a:r>
            <a:r>
              <a:rPr lang="en-US" altLang="zh-CN" sz="2400" dirty="0">
                <a:solidFill>
                  <a:srgbClr val="FF0000"/>
                </a:solidFill>
              </a:rPr>
              <a:t>UNIQUE</a:t>
            </a:r>
            <a:r>
              <a:rPr lang="en-US" altLang="zh-CN" sz="2400" dirty="0"/>
              <a:t>,</a:t>
            </a:r>
          </a:p>
          <a:p>
            <a:pPr>
              <a:buFont typeface="Wingdings" pitchFamily="2" charset="2"/>
              <a:buNone/>
            </a:pPr>
            <a:r>
              <a:rPr lang="en-US" altLang="zh-CN" sz="2400" dirty="0"/>
              <a:t>  	Location CHAR(10),</a:t>
            </a:r>
          </a:p>
          <a:p>
            <a:pPr>
              <a:buFont typeface="Wingdings" pitchFamily="2" charset="2"/>
              <a:buNone/>
            </a:pPr>
            <a:r>
              <a:rPr lang="en-US" altLang="zh-CN" sz="2400" dirty="0"/>
              <a:t>  	CONSTRAINT DEPT_PKEY </a:t>
            </a:r>
            <a:r>
              <a:rPr lang="en-US" altLang="zh-CN" sz="2400" dirty="0">
                <a:solidFill>
                  <a:srgbClr val="0000CC"/>
                </a:solidFill>
              </a:rPr>
              <a:t>PRIMARY KEY </a:t>
            </a:r>
            <a:r>
              <a:rPr lang="en-US" altLang="zh-CN" sz="2400" dirty="0"/>
              <a:t>(</a:t>
            </a:r>
            <a:r>
              <a:rPr lang="en-US" altLang="zh-CN" sz="2400" dirty="0" err="1"/>
              <a:t>DeptNo</a:t>
            </a:r>
            <a:r>
              <a:rPr lang="en-US" altLang="zh-CN" sz="2400" dirty="0"/>
              <a:t>)</a:t>
            </a:r>
          </a:p>
          <a:p>
            <a:pPr>
              <a:buFont typeface="Wingdings" pitchFamily="2" charset="2"/>
              <a:buNone/>
            </a:pPr>
            <a:r>
              <a:rPr lang="en-US" altLang="zh-CN" sz="2400" dirty="0"/>
              <a:t>	);</a:t>
            </a:r>
            <a:endParaRPr lang="zh-CN" altLang="en-US" sz="2400" dirty="0"/>
          </a:p>
        </p:txBody>
      </p:sp>
      <p:sp>
        <p:nvSpPr>
          <p:cNvPr id="10" name="日期占位符 9"/>
          <p:cNvSpPr>
            <a:spLocks noGrp="1"/>
          </p:cNvSpPr>
          <p:nvPr>
            <p:ph type="dt" sz="half" idx="10"/>
          </p:nvPr>
        </p:nvSpPr>
        <p:spPr/>
        <p:txBody>
          <a:bodyPr/>
          <a:lstStyle/>
          <a:p>
            <a:fld id="{89984BFC-F970-4FC8-9BF7-E357541A51E5}"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934192E7-DB6A-5797-A9FF-10A8E27CB8C6}"/>
              </a:ext>
            </a:extLst>
          </p:cNvPr>
          <p:cNvSpPr>
            <a:spLocks noGrp="1"/>
          </p:cNvSpPr>
          <p:nvPr>
            <p:ph type="sldNum" sz="quarter" idx="12"/>
          </p:nvPr>
        </p:nvSpPr>
        <p:spPr/>
        <p:txBody>
          <a:bodyPr/>
          <a:lstStyle/>
          <a:p>
            <a:pPr>
              <a:defRPr/>
            </a:pPr>
            <a:fld id="{E0CD82EA-F7BE-454B-A83E-18830F6C5424}" type="slidenum">
              <a:rPr lang="en-US" altLang="zh-CN" smtClean="0"/>
              <a:pPr>
                <a:defRPr/>
              </a:pPr>
              <a:t>70</a:t>
            </a:fld>
            <a:r>
              <a:rPr lang="en-US" altLang="zh-CN"/>
              <a:t>/138</a:t>
            </a:r>
            <a:endParaRPr lang="zh-CN" altLang="en-US" dirty="0"/>
          </a:p>
        </p:txBody>
      </p:sp>
    </p:spTree>
    <p:extLst>
      <p:ext uri="{BB962C8B-B14F-4D97-AF65-F5344CB8AC3E}">
        <p14:creationId xmlns:p14="http://schemas.microsoft.com/office/powerpoint/2010/main" val="3197032429"/>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p:txBody>
          <a:bodyPr/>
          <a:lstStyle/>
          <a:p>
            <a:r>
              <a:rPr lang="en-US" altLang="zh-CN" dirty="0"/>
              <a:t>4.4.3 </a:t>
            </a:r>
            <a:r>
              <a:rPr lang="zh-CN" altLang="en-US" dirty="0"/>
              <a:t>唯一性约束</a:t>
            </a:r>
          </a:p>
        </p:txBody>
      </p:sp>
      <p:sp>
        <p:nvSpPr>
          <p:cNvPr id="243715" name="Rectangle 3"/>
          <p:cNvSpPr>
            <a:spLocks noGrp="1" noChangeArrowheads="1"/>
          </p:cNvSpPr>
          <p:nvPr>
            <p:ph type="body" idx="1"/>
          </p:nvPr>
        </p:nvSpPr>
        <p:spPr/>
        <p:txBody>
          <a:bodyPr/>
          <a:lstStyle/>
          <a:p>
            <a:r>
              <a:rPr lang="zh-CN" altLang="en-US" dirty="0"/>
              <a:t>也可写成</a:t>
            </a:r>
            <a:r>
              <a:rPr lang="zh-CN" altLang="en-US" dirty="0">
                <a:solidFill>
                  <a:srgbClr val="0000CC"/>
                </a:solidFill>
              </a:rPr>
              <a:t>表级约束</a:t>
            </a:r>
            <a:r>
              <a:rPr lang="zh-CN" altLang="en-US" dirty="0"/>
              <a:t>的形式：</a:t>
            </a:r>
          </a:p>
          <a:p>
            <a:pPr>
              <a:buFont typeface="Wingdings" pitchFamily="2" charset="2"/>
              <a:buNone/>
            </a:pPr>
            <a:endParaRPr lang="en-US" altLang="zh-CN" sz="2400" dirty="0"/>
          </a:p>
          <a:p>
            <a:pPr>
              <a:buFont typeface="Wingdings" pitchFamily="2" charset="2"/>
              <a:buNone/>
            </a:pPr>
            <a:r>
              <a:rPr lang="en-US" altLang="zh-CN" sz="2400" dirty="0"/>
              <a:t>	CREATE TABLE DEPT(</a:t>
            </a:r>
          </a:p>
          <a:p>
            <a:pPr>
              <a:buFont typeface="Wingdings" pitchFamily="2" charset="2"/>
              <a:buNone/>
            </a:pPr>
            <a:r>
              <a:rPr lang="en-US" altLang="zh-CN" sz="2400" dirty="0"/>
              <a:t>  	</a:t>
            </a:r>
            <a:r>
              <a:rPr lang="en-US" altLang="zh-CN" sz="2400" dirty="0" err="1"/>
              <a:t>DeptNo</a:t>
            </a:r>
            <a:r>
              <a:rPr lang="en-US" altLang="zh-CN" sz="2400" dirty="0"/>
              <a:t> NUMERIC(2),</a:t>
            </a:r>
          </a:p>
          <a:p>
            <a:pPr>
              <a:buFont typeface="Wingdings" pitchFamily="2" charset="2"/>
              <a:buNone/>
            </a:pPr>
            <a:r>
              <a:rPr lang="en-US" altLang="zh-CN" sz="2400" dirty="0"/>
              <a:t>  	</a:t>
            </a:r>
            <a:r>
              <a:rPr lang="en-US" altLang="zh-CN" sz="2400" dirty="0" err="1"/>
              <a:t>Dname</a:t>
            </a:r>
            <a:r>
              <a:rPr lang="en-US" altLang="zh-CN" sz="2400" dirty="0"/>
              <a:t> CHAR(9),</a:t>
            </a:r>
          </a:p>
          <a:p>
            <a:pPr>
              <a:buFont typeface="Wingdings" pitchFamily="2" charset="2"/>
              <a:buNone/>
            </a:pPr>
            <a:r>
              <a:rPr lang="en-US" altLang="zh-CN" sz="2400" dirty="0"/>
              <a:t>  	Location CHAR(10),</a:t>
            </a:r>
          </a:p>
          <a:p>
            <a:pPr>
              <a:buFont typeface="Wingdings" pitchFamily="2" charset="2"/>
              <a:buNone/>
            </a:pPr>
            <a:r>
              <a:rPr lang="en-US" altLang="zh-CN" sz="2400" dirty="0"/>
              <a:t>  	CONSTRAINT </a:t>
            </a:r>
            <a:r>
              <a:rPr lang="en-US" altLang="zh-CN" sz="2400" dirty="0" err="1"/>
              <a:t>DEPT_UKEY_Dname</a:t>
            </a:r>
            <a:r>
              <a:rPr lang="en-US" altLang="zh-CN" sz="2400" dirty="0"/>
              <a:t> </a:t>
            </a:r>
            <a:r>
              <a:rPr lang="en-US" altLang="zh-CN" sz="2400" dirty="0">
                <a:solidFill>
                  <a:srgbClr val="FF0000"/>
                </a:solidFill>
              </a:rPr>
              <a:t>UNIQUE(</a:t>
            </a:r>
            <a:r>
              <a:rPr lang="en-US" altLang="zh-CN" sz="2400" dirty="0" err="1">
                <a:solidFill>
                  <a:srgbClr val="FF0000"/>
                </a:solidFill>
              </a:rPr>
              <a:t>Dname</a:t>
            </a:r>
            <a:r>
              <a:rPr lang="en-US" altLang="zh-CN" sz="2400" dirty="0">
                <a:solidFill>
                  <a:srgbClr val="FF0000"/>
                </a:solidFill>
              </a:rPr>
              <a:t>)</a:t>
            </a:r>
            <a:r>
              <a:rPr lang="en-US" altLang="zh-CN" sz="2400" dirty="0"/>
              <a:t>,</a:t>
            </a:r>
          </a:p>
          <a:p>
            <a:pPr>
              <a:buFont typeface="Wingdings" pitchFamily="2" charset="2"/>
              <a:buNone/>
            </a:pPr>
            <a:r>
              <a:rPr lang="en-US" altLang="zh-CN" sz="2400" dirty="0"/>
              <a:t>  	CONSTRAINT DEPT_PKEY </a:t>
            </a:r>
            <a:r>
              <a:rPr lang="en-US" altLang="zh-CN" sz="2400" dirty="0">
                <a:solidFill>
                  <a:srgbClr val="0000CC"/>
                </a:solidFill>
              </a:rPr>
              <a:t>PRIMARY KEY </a:t>
            </a:r>
            <a:r>
              <a:rPr lang="en-US" altLang="zh-CN" sz="2400" dirty="0"/>
              <a:t>(</a:t>
            </a:r>
            <a:r>
              <a:rPr lang="en-US" altLang="zh-CN" sz="2400" dirty="0" err="1"/>
              <a:t>DeptNo</a:t>
            </a:r>
            <a:r>
              <a:rPr lang="en-US" altLang="zh-CN" sz="2400" dirty="0"/>
              <a:t>)</a:t>
            </a:r>
          </a:p>
          <a:p>
            <a:pPr>
              <a:buFont typeface="Wingdings" pitchFamily="2" charset="2"/>
              <a:buNone/>
            </a:pPr>
            <a:r>
              <a:rPr lang="en-US" altLang="zh-CN" sz="2400" dirty="0"/>
              <a:t>	);</a:t>
            </a:r>
            <a:endParaRPr lang="zh-CN" altLang="en-US" sz="2400" dirty="0"/>
          </a:p>
        </p:txBody>
      </p:sp>
      <p:sp>
        <p:nvSpPr>
          <p:cNvPr id="10" name="日期占位符 9"/>
          <p:cNvSpPr>
            <a:spLocks noGrp="1"/>
          </p:cNvSpPr>
          <p:nvPr>
            <p:ph type="dt" sz="half" idx="10"/>
          </p:nvPr>
        </p:nvSpPr>
        <p:spPr/>
        <p:txBody>
          <a:bodyPr/>
          <a:lstStyle/>
          <a:p>
            <a:fld id="{D2517F00-525B-433D-AE16-F1887118A51F}"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76C32BBC-5143-EE3F-F557-39C6EFC92DA2}"/>
              </a:ext>
            </a:extLst>
          </p:cNvPr>
          <p:cNvSpPr>
            <a:spLocks noGrp="1"/>
          </p:cNvSpPr>
          <p:nvPr>
            <p:ph type="sldNum" sz="quarter" idx="12"/>
          </p:nvPr>
        </p:nvSpPr>
        <p:spPr/>
        <p:txBody>
          <a:bodyPr/>
          <a:lstStyle/>
          <a:p>
            <a:pPr>
              <a:defRPr/>
            </a:pPr>
            <a:fld id="{E0CD82EA-F7BE-454B-A83E-18830F6C5424}" type="slidenum">
              <a:rPr lang="en-US" altLang="zh-CN" smtClean="0"/>
              <a:pPr>
                <a:defRPr/>
              </a:pPr>
              <a:t>71</a:t>
            </a:fld>
            <a:r>
              <a:rPr lang="en-US" altLang="zh-CN"/>
              <a:t>/138</a:t>
            </a:r>
            <a:endParaRPr lang="zh-CN" altLang="en-US" dirty="0"/>
          </a:p>
        </p:txBody>
      </p:sp>
    </p:spTree>
    <p:extLst>
      <p:ext uri="{BB962C8B-B14F-4D97-AF65-F5344CB8AC3E}">
        <p14:creationId xmlns:p14="http://schemas.microsoft.com/office/powerpoint/2010/main" val="2468844769"/>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p:txBody>
          <a:bodyPr/>
          <a:lstStyle/>
          <a:p>
            <a:r>
              <a:rPr lang="en-US" altLang="zh-CN" dirty="0"/>
              <a:t>4.4.4 CHECK</a:t>
            </a:r>
            <a:r>
              <a:rPr lang="zh-CN" altLang="en-US" dirty="0"/>
              <a:t>约束</a:t>
            </a:r>
          </a:p>
        </p:txBody>
      </p:sp>
      <p:sp>
        <p:nvSpPr>
          <p:cNvPr id="244739" name="Rectangle 3"/>
          <p:cNvSpPr>
            <a:spLocks noGrp="1" noChangeArrowheads="1"/>
          </p:cNvSpPr>
          <p:nvPr>
            <p:ph type="body" idx="1"/>
          </p:nvPr>
        </p:nvSpPr>
        <p:spPr>
          <a:xfrm>
            <a:off x="609600" y="1447800"/>
            <a:ext cx="8345488" cy="4953000"/>
          </a:xfrm>
        </p:spPr>
        <p:txBody>
          <a:bodyPr/>
          <a:lstStyle/>
          <a:p>
            <a:r>
              <a:rPr lang="en-US" altLang="zh-CN" sz="2800" dirty="0">
                <a:solidFill>
                  <a:srgbClr val="0000FF"/>
                </a:solidFill>
              </a:rPr>
              <a:t>check(p)</a:t>
            </a:r>
            <a:r>
              <a:rPr lang="en-US" altLang="zh-CN" sz="2800" dirty="0"/>
              <a:t>: </a:t>
            </a:r>
            <a:r>
              <a:rPr lang="zh-CN" altLang="en-US" sz="2800" dirty="0"/>
              <a:t>制定一个谓词</a:t>
            </a:r>
            <a:r>
              <a:rPr lang="en-US" altLang="zh-CN" sz="2800" dirty="0"/>
              <a:t>p</a:t>
            </a:r>
            <a:r>
              <a:rPr lang="zh-CN" altLang="en-US" sz="2800" dirty="0"/>
              <a:t>，关系中每个元组都必须满足谓词</a:t>
            </a:r>
            <a:r>
              <a:rPr lang="en-US" altLang="zh-CN" sz="2800" dirty="0"/>
              <a:t>p.</a:t>
            </a:r>
          </a:p>
          <a:p>
            <a:pPr lvl="1"/>
            <a:r>
              <a:rPr lang="zh-CN" altLang="en-US" sz="2400" dirty="0"/>
              <a:t>通常用来保证指定列值满足指定条件</a:t>
            </a:r>
            <a:endParaRPr lang="en-US" altLang="zh-CN" sz="2400" dirty="0"/>
          </a:p>
          <a:p>
            <a:pPr lvl="1"/>
            <a:endParaRPr lang="en-US" altLang="zh-CN" sz="2400" dirty="0"/>
          </a:p>
          <a:p>
            <a:r>
              <a:rPr lang="zh-CN" altLang="en-US" sz="2800" dirty="0"/>
              <a:t>说明</a:t>
            </a:r>
            <a:r>
              <a:rPr lang="en-US" altLang="zh-CN" sz="2800" dirty="0"/>
              <a:t>Student</a:t>
            </a:r>
            <a:r>
              <a:rPr lang="zh-CN" altLang="en-US" sz="2800" dirty="0"/>
              <a:t>表的</a:t>
            </a:r>
            <a:r>
              <a:rPr lang="en-US" altLang="zh-CN" sz="2800" dirty="0" err="1"/>
              <a:t>Sgender</a:t>
            </a:r>
            <a:r>
              <a:rPr lang="zh-CN" altLang="en-US" sz="2800" dirty="0"/>
              <a:t>只能取</a:t>
            </a:r>
            <a:r>
              <a:rPr lang="zh-CN" altLang="en-US" sz="2800" dirty="0">
                <a:latin typeface="Arial"/>
              </a:rPr>
              <a:t>“</a:t>
            </a:r>
            <a:r>
              <a:rPr lang="zh-CN" altLang="en-US" sz="2800" dirty="0"/>
              <a:t>男</a:t>
            </a:r>
            <a:r>
              <a:rPr lang="zh-CN" altLang="en-US" sz="2800" dirty="0">
                <a:latin typeface="Arial"/>
              </a:rPr>
              <a:t>”</a:t>
            </a:r>
            <a:r>
              <a:rPr lang="zh-CN" altLang="en-US" sz="2800" dirty="0"/>
              <a:t>、</a:t>
            </a:r>
            <a:r>
              <a:rPr lang="zh-CN" altLang="en-US" sz="2800" dirty="0">
                <a:latin typeface="Arial"/>
              </a:rPr>
              <a:t>“</a:t>
            </a:r>
            <a:r>
              <a:rPr lang="zh-CN" altLang="en-US" sz="2800" dirty="0"/>
              <a:t>女</a:t>
            </a:r>
            <a:r>
              <a:rPr lang="zh-CN" altLang="en-US" sz="2800" dirty="0">
                <a:latin typeface="Arial"/>
              </a:rPr>
              <a:t>”</a:t>
            </a:r>
            <a:endParaRPr lang="zh-CN" altLang="en-US" sz="2800" dirty="0"/>
          </a:p>
          <a:p>
            <a:pPr marL="457200" lvl="1" indent="0">
              <a:buNone/>
            </a:pPr>
            <a:r>
              <a:rPr lang="en-US" altLang="zh-CN" sz="2400" dirty="0"/>
              <a:t>CONSTRAINT </a:t>
            </a:r>
            <a:r>
              <a:rPr lang="en-US" altLang="zh-CN" sz="2400" dirty="0" err="1"/>
              <a:t>Student_check_Sgender</a:t>
            </a:r>
            <a:r>
              <a:rPr lang="en-US" altLang="zh-CN" sz="2400" dirty="0"/>
              <a:t> </a:t>
            </a:r>
            <a:r>
              <a:rPr lang="en-US" altLang="zh-CN" sz="2400" dirty="0">
                <a:solidFill>
                  <a:srgbClr val="FF0000"/>
                </a:solidFill>
              </a:rPr>
              <a:t>CHECK</a:t>
            </a:r>
            <a:r>
              <a:rPr lang="en-US" altLang="zh-CN" sz="2400" dirty="0"/>
              <a:t> (</a:t>
            </a:r>
            <a:r>
              <a:rPr lang="en-US" altLang="zh-CN" sz="2400" dirty="0" err="1">
                <a:solidFill>
                  <a:srgbClr val="0000FF"/>
                </a:solidFill>
              </a:rPr>
              <a:t>Sgender</a:t>
            </a:r>
            <a:r>
              <a:rPr lang="en-US" altLang="zh-CN" sz="2400" dirty="0">
                <a:solidFill>
                  <a:srgbClr val="0000FF"/>
                </a:solidFill>
              </a:rPr>
              <a:t> IN(</a:t>
            </a:r>
            <a:r>
              <a:rPr lang="en-US" altLang="zh-CN" sz="2400" dirty="0">
                <a:solidFill>
                  <a:srgbClr val="0000FF"/>
                </a:solidFill>
                <a:latin typeface="Arial"/>
              </a:rPr>
              <a:t>‘</a:t>
            </a:r>
            <a:r>
              <a:rPr lang="zh-CN" altLang="en-US" sz="2400" dirty="0">
                <a:solidFill>
                  <a:srgbClr val="0000FF"/>
                </a:solidFill>
              </a:rPr>
              <a:t>男</a:t>
            </a:r>
            <a:r>
              <a:rPr lang="zh-CN" altLang="en-US" sz="2400" dirty="0">
                <a:solidFill>
                  <a:srgbClr val="0000FF"/>
                </a:solidFill>
                <a:latin typeface="Arial"/>
              </a:rPr>
              <a:t>’</a:t>
            </a:r>
            <a:r>
              <a:rPr lang="en-US" altLang="zh-CN" sz="2400" dirty="0">
                <a:solidFill>
                  <a:srgbClr val="0000FF"/>
                </a:solidFill>
              </a:rPr>
              <a:t>,</a:t>
            </a:r>
            <a:r>
              <a:rPr lang="en-US" altLang="zh-CN" sz="2400" dirty="0">
                <a:solidFill>
                  <a:srgbClr val="0000FF"/>
                </a:solidFill>
                <a:latin typeface="Arial"/>
              </a:rPr>
              <a:t>’</a:t>
            </a:r>
            <a:r>
              <a:rPr lang="zh-CN" altLang="en-US" sz="2400" dirty="0">
                <a:solidFill>
                  <a:srgbClr val="0000FF"/>
                </a:solidFill>
              </a:rPr>
              <a:t>女</a:t>
            </a:r>
            <a:r>
              <a:rPr lang="zh-CN" altLang="en-US" sz="2400" dirty="0">
                <a:solidFill>
                  <a:srgbClr val="0000FF"/>
                </a:solidFill>
                <a:latin typeface="Arial"/>
              </a:rPr>
              <a:t>’</a:t>
            </a:r>
            <a:r>
              <a:rPr lang="en-US" altLang="zh-CN" sz="2400" dirty="0">
                <a:solidFill>
                  <a:srgbClr val="0000FF"/>
                </a:solidFill>
              </a:rPr>
              <a:t>)</a:t>
            </a:r>
            <a:r>
              <a:rPr lang="en-US" altLang="zh-CN" sz="2400" dirty="0"/>
              <a:t>); //</a:t>
            </a:r>
            <a:r>
              <a:rPr lang="zh-CN" altLang="en-US" sz="2400" dirty="0"/>
              <a:t>枚举类型</a:t>
            </a:r>
            <a:endParaRPr lang="en-US" altLang="zh-CN" sz="2400" dirty="0"/>
          </a:p>
          <a:p>
            <a:pPr lvl="1"/>
            <a:endParaRPr lang="en-US" altLang="zh-CN" sz="2400" dirty="0"/>
          </a:p>
          <a:p>
            <a:r>
              <a:rPr lang="zh-CN" altLang="en-US" sz="2800" dirty="0"/>
              <a:t>说明</a:t>
            </a:r>
            <a:r>
              <a:rPr lang="en-US" altLang="zh-CN" sz="2800" dirty="0"/>
              <a:t>SC</a:t>
            </a:r>
            <a:r>
              <a:rPr lang="zh-CN" altLang="en-US" sz="2800" dirty="0"/>
              <a:t>表的</a:t>
            </a:r>
            <a:r>
              <a:rPr lang="en-US" altLang="zh-CN" sz="2800" dirty="0"/>
              <a:t>Grade</a:t>
            </a:r>
            <a:r>
              <a:rPr lang="zh-CN" altLang="en-US" sz="2800" dirty="0"/>
              <a:t>在</a:t>
            </a:r>
            <a:r>
              <a:rPr lang="en-US" altLang="zh-CN" sz="2800" dirty="0"/>
              <a:t>0</a:t>
            </a:r>
            <a:r>
              <a:rPr lang="zh-CN" altLang="en-US" sz="2800" dirty="0"/>
              <a:t>到</a:t>
            </a:r>
            <a:r>
              <a:rPr lang="en-US" altLang="zh-CN" sz="2800" dirty="0"/>
              <a:t>100</a:t>
            </a:r>
            <a:r>
              <a:rPr lang="zh-CN" altLang="en-US" sz="2800" dirty="0"/>
              <a:t>分之间</a:t>
            </a:r>
          </a:p>
          <a:p>
            <a:pPr marL="457200" lvl="1" indent="0">
              <a:buNone/>
            </a:pPr>
            <a:r>
              <a:rPr lang="en-US" altLang="zh-CN" sz="2400" dirty="0"/>
              <a:t>CONSTRAINT </a:t>
            </a:r>
            <a:r>
              <a:rPr lang="en-US" altLang="zh-CN" sz="2400" dirty="0" err="1"/>
              <a:t>sc_check_grade</a:t>
            </a:r>
            <a:r>
              <a:rPr lang="en-US" altLang="zh-CN" sz="2400" dirty="0"/>
              <a:t> </a:t>
            </a:r>
            <a:r>
              <a:rPr lang="en-US" altLang="zh-CN" sz="2400" dirty="0">
                <a:solidFill>
                  <a:srgbClr val="FF0000"/>
                </a:solidFill>
              </a:rPr>
              <a:t>CHECK</a:t>
            </a:r>
            <a:r>
              <a:rPr lang="en-US" altLang="zh-CN" sz="2400" dirty="0"/>
              <a:t>(Grade &gt;=0 and Grade &lt;=100)</a:t>
            </a:r>
            <a:endParaRPr lang="zh-CN" altLang="en-US" sz="2400" dirty="0"/>
          </a:p>
        </p:txBody>
      </p:sp>
      <p:sp>
        <p:nvSpPr>
          <p:cNvPr id="10" name="日期占位符 9"/>
          <p:cNvSpPr>
            <a:spLocks noGrp="1"/>
          </p:cNvSpPr>
          <p:nvPr>
            <p:ph type="dt" sz="half" idx="10"/>
          </p:nvPr>
        </p:nvSpPr>
        <p:spPr/>
        <p:txBody>
          <a:bodyPr/>
          <a:lstStyle/>
          <a:p>
            <a:fld id="{3FDDBE59-F968-4572-8605-1593FFEA1378}"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DC31308E-6632-CAB4-67EA-BC2901D01077}"/>
              </a:ext>
            </a:extLst>
          </p:cNvPr>
          <p:cNvSpPr>
            <a:spLocks noGrp="1"/>
          </p:cNvSpPr>
          <p:nvPr>
            <p:ph type="sldNum" sz="quarter" idx="12"/>
          </p:nvPr>
        </p:nvSpPr>
        <p:spPr/>
        <p:txBody>
          <a:bodyPr/>
          <a:lstStyle/>
          <a:p>
            <a:pPr>
              <a:defRPr/>
            </a:pPr>
            <a:fld id="{E0CD82EA-F7BE-454B-A83E-18830F6C5424}" type="slidenum">
              <a:rPr lang="en-US" altLang="zh-CN" smtClean="0"/>
              <a:pPr>
                <a:defRPr/>
              </a:pPr>
              <a:t>72</a:t>
            </a:fld>
            <a:r>
              <a:rPr lang="en-US" altLang="zh-CN"/>
              <a:t>/138</a:t>
            </a:r>
            <a:endParaRPr lang="zh-CN" altLang="en-US" dirty="0"/>
          </a:p>
        </p:txBody>
      </p:sp>
    </p:spTree>
    <p:extLst>
      <p:ext uri="{BB962C8B-B14F-4D97-AF65-F5344CB8AC3E}">
        <p14:creationId xmlns:p14="http://schemas.microsoft.com/office/powerpoint/2010/main" val="23394915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4739">
                                            <p:txEl>
                                              <p:pRg st="4" end="4"/>
                                            </p:txEl>
                                          </p:spTgt>
                                        </p:tgtEl>
                                        <p:attrNameLst>
                                          <p:attrName>style.visibility</p:attrName>
                                        </p:attrNameLst>
                                      </p:cBhvr>
                                      <p:to>
                                        <p:strVal val="visible"/>
                                      </p:to>
                                    </p:set>
                                    <p:anim calcmode="lin" valueType="num">
                                      <p:cBhvr additive="base">
                                        <p:cTn id="7" dur="500" fill="hold"/>
                                        <p:tgtEl>
                                          <p:spTgt spid="244739">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47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4739">
                                            <p:txEl>
                                              <p:pRg st="6" end="6"/>
                                            </p:txEl>
                                          </p:spTgt>
                                        </p:tgtEl>
                                        <p:attrNameLst>
                                          <p:attrName>style.visibility</p:attrName>
                                        </p:attrNameLst>
                                      </p:cBhvr>
                                      <p:to>
                                        <p:strVal val="visible"/>
                                      </p:to>
                                    </p:set>
                                    <p:anim calcmode="lin" valueType="num">
                                      <p:cBhvr additive="base">
                                        <p:cTn id="13" dur="500" fill="hold"/>
                                        <p:tgtEl>
                                          <p:spTgt spid="244739">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473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44739">
                                            <p:txEl>
                                              <p:pRg st="7" end="7"/>
                                            </p:txEl>
                                          </p:spTgt>
                                        </p:tgtEl>
                                        <p:attrNameLst>
                                          <p:attrName>style.visibility</p:attrName>
                                        </p:attrNameLst>
                                      </p:cBhvr>
                                      <p:to>
                                        <p:strVal val="visible"/>
                                      </p:to>
                                    </p:set>
                                    <p:anim calcmode="lin" valueType="num">
                                      <p:cBhvr additive="base">
                                        <p:cTn id="19" dur="500" fill="hold"/>
                                        <p:tgtEl>
                                          <p:spTgt spid="244739">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473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lstStyle/>
          <a:p>
            <a:r>
              <a:rPr lang="en-US" altLang="zh-CN"/>
              <a:t>CHECK</a:t>
            </a:r>
            <a:r>
              <a:rPr lang="zh-CN" altLang="en-US"/>
              <a:t>约束</a:t>
            </a:r>
          </a:p>
        </p:txBody>
      </p:sp>
      <p:sp>
        <p:nvSpPr>
          <p:cNvPr id="245763" name="Rectangle 3"/>
          <p:cNvSpPr>
            <a:spLocks noGrp="1" noChangeArrowheads="1"/>
          </p:cNvSpPr>
          <p:nvPr>
            <p:ph type="body" idx="1"/>
          </p:nvPr>
        </p:nvSpPr>
        <p:spPr/>
        <p:txBody>
          <a:bodyPr/>
          <a:lstStyle/>
          <a:p>
            <a:r>
              <a:rPr lang="zh-CN" altLang="en-US" dirty="0"/>
              <a:t>涉及</a:t>
            </a:r>
            <a:r>
              <a:rPr lang="zh-CN" altLang="en-US" dirty="0">
                <a:solidFill>
                  <a:srgbClr val="0000CC"/>
                </a:solidFill>
              </a:rPr>
              <a:t>多个列值之间的比较</a:t>
            </a:r>
          </a:p>
          <a:p>
            <a:pPr>
              <a:buFont typeface="Wingdings" pitchFamily="2" charset="2"/>
              <a:buNone/>
            </a:pPr>
            <a:r>
              <a:rPr lang="en-US" altLang="zh-CN" sz="1200" dirty="0"/>
              <a:t>	</a:t>
            </a:r>
          </a:p>
          <a:p>
            <a:pPr>
              <a:buFont typeface="Wingdings" pitchFamily="2" charset="2"/>
              <a:buNone/>
            </a:pPr>
            <a:r>
              <a:rPr lang="en-US" altLang="zh-CN" sz="2800" dirty="0"/>
              <a:t>	</a:t>
            </a:r>
            <a:r>
              <a:rPr lang="en-US" altLang="zh-CN" sz="2400" dirty="0"/>
              <a:t>CREATE TABLE T1(</a:t>
            </a:r>
          </a:p>
          <a:p>
            <a:pPr>
              <a:buFont typeface="Wingdings" pitchFamily="2" charset="2"/>
              <a:buNone/>
            </a:pPr>
            <a:r>
              <a:rPr lang="en-US" altLang="zh-CN" sz="2400" dirty="0"/>
              <a:t>  	ID char(4),</a:t>
            </a:r>
          </a:p>
          <a:p>
            <a:pPr>
              <a:buFont typeface="Wingdings" pitchFamily="2" charset="2"/>
              <a:buNone/>
            </a:pPr>
            <a:r>
              <a:rPr lang="en-US" altLang="zh-CN" sz="2400" dirty="0"/>
              <a:t>  	</a:t>
            </a:r>
            <a:r>
              <a:rPr lang="en-US" altLang="zh-CN" sz="2400" dirty="0" err="1"/>
              <a:t>oldvalue</a:t>
            </a:r>
            <a:r>
              <a:rPr lang="en-US" altLang="zh-CN" sz="2400" dirty="0"/>
              <a:t> </a:t>
            </a:r>
            <a:r>
              <a:rPr lang="en-US" altLang="zh-CN" sz="2400" dirty="0" err="1"/>
              <a:t>int</a:t>
            </a:r>
            <a:r>
              <a:rPr lang="en-US" altLang="zh-CN" sz="2400" dirty="0"/>
              <a:t>,</a:t>
            </a:r>
          </a:p>
          <a:p>
            <a:pPr>
              <a:buFont typeface="Wingdings" pitchFamily="2" charset="2"/>
              <a:buNone/>
            </a:pPr>
            <a:r>
              <a:rPr lang="en-US" altLang="zh-CN" sz="2400" dirty="0"/>
              <a:t>  	</a:t>
            </a:r>
            <a:r>
              <a:rPr lang="en-US" altLang="zh-CN" sz="2400" dirty="0" err="1"/>
              <a:t>newvalue</a:t>
            </a:r>
            <a:r>
              <a:rPr lang="en-US" altLang="zh-CN" sz="2400" dirty="0"/>
              <a:t> </a:t>
            </a:r>
            <a:r>
              <a:rPr lang="en-US" altLang="zh-CN" sz="2400" dirty="0" err="1"/>
              <a:t>int</a:t>
            </a:r>
            <a:r>
              <a:rPr lang="en-US" altLang="zh-CN" sz="2400" dirty="0"/>
              <a:t>,</a:t>
            </a:r>
          </a:p>
          <a:p>
            <a:pPr>
              <a:buFont typeface="Wingdings" pitchFamily="2" charset="2"/>
              <a:buNone/>
            </a:pPr>
            <a:r>
              <a:rPr lang="en-US" altLang="zh-CN" sz="2400" dirty="0"/>
              <a:t>  	CONSTRAINT T1_PKEY </a:t>
            </a:r>
            <a:r>
              <a:rPr lang="en-US" altLang="zh-CN" sz="2400" dirty="0">
                <a:solidFill>
                  <a:srgbClr val="0000CC"/>
                </a:solidFill>
              </a:rPr>
              <a:t>PRIMARY KEY</a:t>
            </a:r>
            <a:r>
              <a:rPr lang="en-US" altLang="zh-CN" sz="2400" dirty="0"/>
              <a:t>(ID),</a:t>
            </a:r>
          </a:p>
          <a:p>
            <a:pPr>
              <a:buFont typeface="Wingdings" pitchFamily="2" charset="2"/>
              <a:buNone/>
            </a:pPr>
            <a:r>
              <a:rPr lang="en-US" altLang="zh-CN" sz="2400" dirty="0"/>
              <a:t>  	CONSTRAINT T1_CHECK </a:t>
            </a:r>
            <a:r>
              <a:rPr lang="en-US" altLang="zh-CN" sz="2400" dirty="0">
                <a:solidFill>
                  <a:srgbClr val="F40000"/>
                </a:solidFill>
              </a:rPr>
              <a:t>CHECK(</a:t>
            </a:r>
            <a:r>
              <a:rPr lang="en-US" altLang="zh-CN" sz="2400" dirty="0" err="1">
                <a:solidFill>
                  <a:srgbClr val="0000FF"/>
                </a:solidFill>
              </a:rPr>
              <a:t>newvalue</a:t>
            </a:r>
            <a:r>
              <a:rPr lang="en-US" altLang="zh-CN" sz="2400" dirty="0">
                <a:solidFill>
                  <a:srgbClr val="0000FF"/>
                </a:solidFill>
              </a:rPr>
              <a:t>&gt;</a:t>
            </a:r>
            <a:r>
              <a:rPr lang="en-US" altLang="zh-CN" sz="2400" dirty="0" err="1">
                <a:solidFill>
                  <a:srgbClr val="0000FF"/>
                </a:solidFill>
              </a:rPr>
              <a:t>oldvalue</a:t>
            </a:r>
            <a:r>
              <a:rPr lang="en-US" altLang="zh-CN" sz="2400" dirty="0">
                <a:solidFill>
                  <a:srgbClr val="F40000"/>
                </a:solidFill>
              </a:rPr>
              <a:t>)</a:t>
            </a:r>
          </a:p>
          <a:p>
            <a:pPr>
              <a:buFont typeface="Wingdings" pitchFamily="2" charset="2"/>
              <a:buNone/>
            </a:pPr>
            <a:r>
              <a:rPr lang="en-US" altLang="zh-CN" sz="2400" dirty="0"/>
              <a:t>	);</a:t>
            </a:r>
            <a:endParaRPr lang="zh-CN" altLang="en-US" sz="2400" dirty="0"/>
          </a:p>
        </p:txBody>
      </p:sp>
      <p:sp>
        <p:nvSpPr>
          <p:cNvPr id="10" name="日期占位符 9"/>
          <p:cNvSpPr>
            <a:spLocks noGrp="1"/>
          </p:cNvSpPr>
          <p:nvPr>
            <p:ph type="dt" sz="half" idx="10"/>
          </p:nvPr>
        </p:nvSpPr>
        <p:spPr/>
        <p:txBody>
          <a:bodyPr/>
          <a:lstStyle/>
          <a:p>
            <a:fld id="{B6DF8424-90A3-4D59-8734-2C4451A711C8}"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6116965A-2BA1-5F2A-9714-C9A71DE2B0CD}"/>
              </a:ext>
            </a:extLst>
          </p:cNvPr>
          <p:cNvSpPr>
            <a:spLocks noGrp="1"/>
          </p:cNvSpPr>
          <p:nvPr>
            <p:ph type="sldNum" sz="quarter" idx="12"/>
          </p:nvPr>
        </p:nvSpPr>
        <p:spPr/>
        <p:txBody>
          <a:bodyPr/>
          <a:lstStyle/>
          <a:p>
            <a:pPr>
              <a:defRPr/>
            </a:pPr>
            <a:fld id="{E0CD82EA-F7BE-454B-A83E-18830F6C5424}" type="slidenum">
              <a:rPr lang="en-US" altLang="zh-CN" smtClean="0"/>
              <a:pPr>
                <a:defRPr/>
              </a:pPr>
              <a:t>73</a:t>
            </a:fld>
            <a:r>
              <a:rPr lang="en-US" altLang="zh-CN"/>
              <a:t>/138</a:t>
            </a:r>
            <a:endParaRPr lang="zh-CN" altLang="en-US" dirty="0"/>
          </a:p>
        </p:txBody>
      </p:sp>
    </p:spTree>
    <p:extLst>
      <p:ext uri="{BB962C8B-B14F-4D97-AF65-F5344CB8AC3E}">
        <p14:creationId xmlns:p14="http://schemas.microsoft.com/office/powerpoint/2010/main" val="778935637"/>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lstStyle/>
          <a:p>
            <a:r>
              <a:rPr lang="zh-CN" altLang="en-US"/>
              <a:t>用户定义的完整性</a:t>
            </a:r>
            <a:r>
              <a:rPr lang="zh-CN" altLang="en-US">
                <a:solidFill>
                  <a:srgbClr val="FF0000"/>
                </a:solidFill>
              </a:rPr>
              <a:t>检查和违约处理</a:t>
            </a:r>
            <a:endParaRPr lang="zh-CN" altLang="en-US" dirty="0">
              <a:solidFill>
                <a:srgbClr val="FF0000"/>
              </a:solidFill>
            </a:endParaRPr>
          </a:p>
        </p:txBody>
      </p:sp>
      <p:sp>
        <p:nvSpPr>
          <p:cNvPr id="8" name="Rectangle 3"/>
          <p:cNvSpPr>
            <a:spLocks noGrp="1" noChangeArrowheads="1"/>
          </p:cNvSpPr>
          <p:nvPr>
            <p:ph idx="1"/>
          </p:nvPr>
        </p:nvSpPr>
        <p:spPr/>
        <p:txBody>
          <a:bodyPr/>
          <a:lstStyle/>
          <a:p>
            <a:r>
              <a:rPr lang="zh-CN" altLang="en-US">
                <a:solidFill>
                  <a:srgbClr val="0000CC"/>
                </a:solidFill>
                <a:ea typeface="宋体" charset="-122"/>
              </a:rPr>
              <a:t>插入元组</a:t>
            </a:r>
            <a:r>
              <a:rPr lang="zh-CN" altLang="en-US">
                <a:ea typeface="宋体" charset="-122"/>
              </a:rPr>
              <a:t>或</a:t>
            </a:r>
            <a:r>
              <a:rPr lang="zh-CN" altLang="en-US">
                <a:solidFill>
                  <a:srgbClr val="0000CC"/>
                </a:solidFill>
                <a:ea typeface="宋体" charset="-122"/>
              </a:rPr>
              <a:t>修改属性</a:t>
            </a:r>
            <a:r>
              <a:rPr lang="zh-CN" altLang="en-US">
                <a:ea typeface="宋体" charset="-122"/>
              </a:rPr>
              <a:t>的值时，</a:t>
            </a:r>
            <a:r>
              <a:rPr lang="en-US" altLang="zh-CN">
                <a:ea typeface="宋体" charset="-122"/>
              </a:rPr>
              <a:t>RDBMS</a:t>
            </a:r>
            <a:r>
              <a:rPr lang="zh-CN" altLang="en-US">
                <a:ea typeface="宋体" charset="-122"/>
              </a:rPr>
              <a:t>检查属性上的约束条件是否被满足，如果</a:t>
            </a:r>
            <a:r>
              <a:rPr lang="zh-CN" altLang="en-US">
                <a:solidFill>
                  <a:srgbClr val="0000FF"/>
                </a:solidFill>
                <a:ea typeface="宋体" charset="-122"/>
              </a:rPr>
              <a:t>不满足</a:t>
            </a:r>
            <a:r>
              <a:rPr lang="zh-CN" altLang="en-US">
                <a:ea typeface="宋体" charset="-122"/>
              </a:rPr>
              <a:t>则操作被</a:t>
            </a:r>
            <a:r>
              <a:rPr lang="zh-CN" altLang="en-US" b="1" u="sng">
                <a:solidFill>
                  <a:srgbClr val="C00000"/>
                </a:solidFill>
                <a:ea typeface="宋体" charset="-122"/>
              </a:rPr>
              <a:t>拒绝执行</a:t>
            </a:r>
            <a:endParaRPr lang="zh-CN" altLang="en-US" b="1" u="sng" dirty="0">
              <a:solidFill>
                <a:srgbClr val="C00000"/>
              </a:solidFill>
              <a:ea typeface="宋体" charset="-122"/>
            </a:endParaRPr>
          </a:p>
        </p:txBody>
      </p:sp>
      <p:sp>
        <p:nvSpPr>
          <p:cNvPr id="11" name="日期占位符 10"/>
          <p:cNvSpPr>
            <a:spLocks noGrp="1"/>
          </p:cNvSpPr>
          <p:nvPr>
            <p:ph type="dt" sz="half" idx="10"/>
          </p:nvPr>
        </p:nvSpPr>
        <p:spPr/>
        <p:txBody>
          <a:bodyPr/>
          <a:lstStyle/>
          <a:p>
            <a:fld id="{EEF949D1-8937-4727-8035-CA660AD0ED2E}" type="datetime1">
              <a:rPr lang="zh-CN" altLang="en-US" smtClean="0"/>
              <a:t>2025/10/15</a:t>
            </a:fld>
            <a:endParaRPr lang="en-US" altLang="zh-CN"/>
          </a:p>
        </p:txBody>
      </p:sp>
      <p:sp>
        <p:nvSpPr>
          <p:cNvPr id="12" name="页脚占位符 11"/>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2FEDDB7C-C783-83A6-A2B5-A6DA836289BA}"/>
              </a:ext>
            </a:extLst>
          </p:cNvPr>
          <p:cNvSpPr>
            <a:spLocks noGrp="1"/>
          </p:cNvSpPr>
          <p:nvPr>
            <p:ph type="sldNum" sz="quarter" idx="12"/>
          </p:nvPr>
        </p:nvSpPr>
        <p:spPr/>
        <p:txBody>
          <a:bodyPr/>
          <a:lstStyle/>
          <a:p>
            <a:pPr>
              <a:defRPr/>
            </a:pPr>
            <a:fld id="{E0CD82EA-F7BE-454B-A83E-18830F6C5424}" type="slidenum">
              <a:rPr lang="en-US" altLang="zh-CN" smtClean="0"/>
              <a:pPr>
                <a:defRPr/>
              </a:pPr>
              <a:t>74</a:t>
            </a:fld>
            <a:r>
              <a:rPr lang="en-US" altLang="zh-CN"/>
              <a:t>/138</a:t>
            </a:r>
            <a:endParaRPr lang="zh-CN" altLang="en-US" dirty="0"/>
          </a:p>
        </p:txBody>
      </p:sp>
    </p:spTree>
    <p:extLst>
      <p:ext uri="{BB962C8B-B14F-4D97-AF65-F5344CB8AC3E}">
        <p14:creationId xmlns:p14="http://schemas.microsoft.com/office/powerpoint/2010/main" val="1195201807"/>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lstStyle/>
          <a:p>
            <a:r>
              <a:rPr lang="en-US" altLang="zh-CN" dirty="0"/>
              <a:t>4.4.5 </a:t>
            </a:r>
            <a:r>
              <a:rPr lang="zh-CN" altLang="en-US" dirty="0"/>
              <a:t>实体完整性</a:t>
            </a:r>
          </a:p>
        </p:txBody>
      </p:sp>
      <p:sp>
        <p:nvSpPr>
          <p:cNvPr id="231427" name="Rectangle 3"/>
          <p:cNvSpPr>
            <a:spLocks noGrp="1" noChangeArrowheads="1"/>
          </p:cNvSpPr>
          <p:nvPr>
            <p:ph type="body" idx="1"/>
          </p:nvPr>
        </p:nvSpPr>
        <p:spPr/>
        <p:txBody>
          <a:bodyPr/>
          <a:lstStyle/>
          <a:p>
            <a:pPr eaLnBrk="1" hangingPunct="1"/>
            <a:r>
              <a:rPr lang="zh-CN" altLang="en-US" dirty="0"/>
              <a:t>关系模型的实体完整性</a:t>
            </a:r>
          </a:p>
          <a:p>
            <a:pPr lvl="1" eaLnBrk="1" hangingPunct="1"/>
            <a:r>
              <a:rPr lang="en-US" altLang="zh-CN" dirty="0"/>
              <a:t>CREATE TABLE</a:t>
            </a:r>
            <a:r>
              <a:rPr lang="zh-CN" altLang="en-US" dirty="0"/>
              <a:t>中用</a:t>
            </a:r>
            <a:r>
              <a:rPr lang="en-US" altLang="zh-CN" dirty="0">
                <a:solidFill>
                  <a:srgbClr val="FF0000"/>
                </a:solidFill>
              </a:rPr>
              <a:t>PRIMARY KEY</a:t>
            </a:r>
            <a:r>
              <a:rPr lang="zh-CN" altLang="en-US" dirty="0"/>
              <a:t>定义</a:t>
            </a:r>
          </a:p>
          <a:p>
            <a:pPr eaLnBrk="1" hangingPunct="1"/>
            <a:r>
              <a:rPr lang="zh-CN" altLang="en-US" dirty="0">
                <a:solidFill>
                  <a:srgbClr val="C00000"/>
                </a:solidFill>
              </a:rPr>
              <a:t>单属性构成的码</a:t>
            </a:r>
            <a:r>
              <a:rPr lang="zh-CN" altLang="en-US" dirty="0"/>
              <a:t>有两种说明方法 </a:t>
            </a:r>
          </a:p>
          <a:p>
            <a:pPr lvl="1" eaLnBrk="1" hangingPunct="1"/>
            <a:r>
              <a:rPr lang="zh-CN" altLang="en-US" dirty="0"/>
              <a:t>定义为</a:t>
            </a:r>
            <a:r>
              <a:rPr lang="zh-CN" altLang="en-US" dirty="0">
                <a:solidFill>
                  <a:srgbClr val="0000FF"/>
                </a:solidFill>
              </a:rPr>
              <a:t>列级</a:t>
            </a:r>
            <a:r>
              <a:rPr lang="zh-CN" altLang="en-US" dirty="0"/>
              <a:t>约束条件</a:t>
            </a:r>
          </a:p>
          <a:p>
            <a:pPr lvl="1" eaLnBrk="1" hangingPunct="1"/>
            <a:r>
              <a:rPr lang="zh-CN" altLang="en-US" dirty="0"/>
              <a:t>定义为</a:t>
            </a:r>
            <a:r>
              <a:rPr lang="zh-CN" altLang="en-US" dirty="0">
                <a:solidFill>
                  <a:srgbClr val="0000FF"/>
                </a:solidFill>
              </a:rPr>
              <a:t>表级</a:t>
            </a:r>
            <a:r>
              <a:rPr lang="zh-CN" altLang="en-US" dirty="0"/>
              <a:t>约束条件</a:t>
            </a:r>
          </a:p>
          <a:p>
            <a:pPr eaLnBrk="1" hangingPunct="1"/>
            <a:r>
              <a:rPr lang="zh-CN" altLang="en-US" dirty="0"/>
              <a:t>对</a:t>
            </a:r>
            <a:r>
              <a:rPr lang="zh-CN" altLang="en-US" dirty="0">
                <a:solidFill>
                  <a:srgbClr val="C00000"/>
                </a:solidFill>
              </a:rPr>
              <a:t>多个属性构成的码</a:t>
            </a:r>
            <a:r>
              <a:rPr lang="zh-CN" altLang="en-US" dirty="0"/>
              <a:t>只有一种说明方法</a:t>
            </a:r>
          </a:p>
          <a:p>
            <a:pPr lvl="1" eaLnBrk="1" hangingPunct="1"/>
            <a:r>
              <a:rPr lang="zh-CN" altLang="en-US" dirty="0"/>
              <a:t>定义为</a:t>
            </a:r>
            <a:r>
              <a:rPr lang="zh-CN" altLang="en-US" dirty="0">
                <a:solidFill>
                  <a:srgbClr val="0000FF"/>
                </a:solidFill>
              </a:rPr>
              <a:t>表级约束条件 </a:t>
            </a:r>
          </a:p>
        </p:txBody>
      </p:sp>
      <p:sp>
        <p:nvSpPr>
          <p:cNvPr id="10" name="日期占位符 9"/>
          <p:cNvSpPr>
            <a:spLocks noGrp="1"/>
          </p:cNvSpPr>
          <p:nvPr>
            <p:ph type="dt" sz="half" idx="10"/>
          </p:nvPr>
        </p:nvSpPr>
        <p:spPr/>
        <p:txBody>
          <a:bodyPr/>
          <a:lstStyle/>
          <a:p>
            <a:fld id="{F8FA43B1-B368-4E5A-995B-EDD7DD836AD2}"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0AFD44F0-3100-D681-6325-1AABB0F084AA}"/>
              </a:ext>
            </a:extLst>
          </p:cNvPr>
          <p:cNvSpPr>
            <a:spLocks noGrp="1"/>
          </p:cNvSpPr>
          <p:nvPr>
            <p:ph type="sldNum" sz="quarter" idx="12"/>
          </p:nvPr>
        </p:nvSpPr>
        <p:spPr/>
        <p:txBody>
          <a:bodyPr/>
          <a:lstStyle/>
          <a:p>
            <a:pPr>
              <a:defRPr/>
            </a:pPr>
            <a:fld id="{E0CD82EA-F7BE-454B-A83E-18830F6C5424}" type="slidenum">
              <a:rPr lang="en-US" altLang="zh-CN" smtClean="0"/>
              <a:pPr>
                <a:defRPr/>
              </a:pPr>
              <a:t>75</a:t>
            </a:fld>
            <a:r>
              <a:rPr lang="en-US" altLang="zh-CN"/>
              <a:t>/138</a:t>
            </a:r>
            <a:endParaRPr lang="zh-CN" altLang="en-US" dirty="0"/>
          </a:p>
        </p:txBody>
      </p:sp>
    </p:spTree>
    <p:extLst>
      <p:ext uri="{BB962C8B-B14F-4D97-AF65-F5344CB8AC3E}">
        <p14:creationId xmlns:p14="http://schemas.microsoft.com/office/powerpoint/2010/main" val="1933678106"/>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lstStyle/>
          <a:p>
            <a:r>
              <a:rPr lang="en-US" altLang="zh-CN" dirty="0"/>
              <a:t>4.4.5 </a:t>
            </a:r>
            <a:r>
              <a:rPr lang="zh-CN" altLang="en-US" dirty="0"/>
              <a:t>实体完整性约束的</a:t>
            </a:r>
            <a:r>
              <a:rPr lang="zh-CN" altLang="en-US" dirty="0">
                <a:solidFill>
                  <a:srgbClr val="FF0000"/>
                </a:solidFill>
              </a:rPr>
              <a:t>检查</a:t>
            </a:r>
            <a:r>
              <a:rPr lang="zh-CN" altLang="en-US" dirty="0">
                <a:solidFill>
                  <a:schemeClr val="tx1"/>
                </a:solidFill>
              </a:rPr>
              <a:t>和</a:t>
            </a:r>
            <a:r>
              <a:rPr lang="zh-CN" altLang="en-US" dirty="0">
                <a:solidFill>
                  <a:srgbClr val="FF0000"/>
                </a:solidFill>
              </a:rPr>
              <a:t>违约处理</a:t>
            </a:r>
          </a:p>
        </p:txBody>
      </p:sp>
      <p:sp>
        <p:nvSpPr>
          <p:cNvPr id="233475" name="Rectangle 3"/>
          <p:cNvSpPr>
            <a:spLocks noGrp="1" noChangeArrowheads="1"/>
          </p:cNvSpPr>
          <p:nvPr>
            <p:ph type="body" idx="1"/>
          </p:nvPr>
        </p:nvSpPr>
        <p:spPr/>
        <p:txBody>
          <a:bodyPr/>
          <a:lstStyle/>
          <a:p>
            <a:pPr>
              <a:buNone/>
            </a:pPr>
            <a:r>
              <a:rPr lang="zh-CN" altLang="en-US" sz="2400" u="sng" dirty="0">
                <a:solidFill>
                  <a:srgbClr val="FF0000"/>
                </a:solidFill>
              </a:rPr>
              <a:t>插入</a:t>
            </a:r>
            <a:r>
              <a:rPr lang="zh-CN" altLang="en-US" sz="2400" dirty="0"/>
              <a:t>或</a:t>
            </a:r>
            <a:r>
              <a:rPr lang="zh-CN" altLang="en-US" sz="2400" dirty="0">
                <a:solidFill>
                  <a:srgbClr val="FF0000"/>
                </a:solidFill>
              </a:rPr>
              <a:t>对主码列</a:t>
            </a:r>
            <a:r>
              <a:rPr lang="zh-CN" altLang="en-US" sz="2400" dirty="0"/>
              <a:t>进行</a:t>
            </a:r>
            <a:r>
              <a:rPr lang="zh-CN" altLang="en-US" sz="2400" u="sng" dirty="0">
                <a:solidFill>
                  <a:srgbClr val="FF0000"/>
                </a:solidFill>
              </a:rPr>
              <a:t>更新</a:t>
            </a:r>
            <a:r>
              <a:rPr lang="zh-CN" altLang="en-US" sz="2400" dirty="0"/>
              <a:t>操作时，关系数据库管理系统按照</a:t>
            </a:r>
            <a:r>
              <a:rPr lang="zh-CN" altLang="en-US" sz="2400" b="1" dirty="0">
                <a:solidFill>
                  <a:srgbClr val="0000FF"/>
                </a:solidFill>
              </a:rPr>
              <a:t>实体完整性规则</a:t>
            </a:r>
            <a:r>
              <a:rPr lang="zh-CN" altLang="en-US" sz="2400" dirty="0"/>
              <a:t>自动进行检查：</a:t>
            </a:r>
            <a:endParaRPr lang="en-US" altLang="zh-CN" sz="2400" dirty="0"/>
          </a:p>
          <a:p>
            <a:r>
              <a:rPr lang="zh-CN" altLang="en-US" dirty="0"/>
              <a:t>检查</a:t>
            </a:r>
            <a:r>
              <a:rPr lang="zh-CN" altLang="en-US" dirty="0">
                <a:solidFill>
                  <a:srgbClr val="F40000"/>
                </a:solidFill>
              </a:rPr>
              <a:t>主码值</a:t>
            </a:r>
            <a:r>
              <a:rPr lang="zh-CN" altLang="en-US" dirty="0"/>
              <a:t>是否</a:t>
            </a:r>
            <a:r>
              <a:rPr lang="zh-CN" altLang="en-US" dirty="0">
                <a:solidFill>
                  <a:srgbClr val="F40000"/>
                </a:solidFill>
              </a:rPr>
              <a:t>唯一</a:t>
            </a:r>
          </a:p>
          <a:p>
            <a:pPr lvl="1"/>
            <a:r>
              <a:rPr lang="zh-CN" altLang="en-US" dirty="0"/>
              <a:t>不唯一  </a:t>
            </a:r>
            <a:r>
              <a:rPr lang="zh-CN" altLang="en-US" b="1" dirty="0">
                <a:solidFill>
                  <a:srgbClr val="0000FF"/>
                </a:solidFill>
              </a:rPr>
              <a:t>拒绝操作</a:t>
            </a:r>
          </a:p>
          <a:p>
            <a:r>
              <a:rPr lang="zh-CN" altLang="en-US" dirty="0"/>
              <a:t>检查</a:t>
            </a:r>
            <a:r>
              <a:rPr lang="zh-CN" altLang="en-US" dirty="0">
                <a:solidFill>
                  <a:srgbClr val="FF0000"/>
                </a:solidFill>
              </a:rPr>
              <a:t>主码</a:t>
            </a:r>
            <a:r>
              <a:rPr lang="zh-CN" altLang="en-US" dirty="0"/>
              <a:t>的</a:t>
            </a:r>
            <a:r>
              <a:rPr lang="zh-CN" altLang="en-US" dirty="0">
                <a:solidFill>
                  <a:srgbClr val="F40000"/>
                </a:solidFill>
              </a:rPr>
              <a:t>各个属性值</a:t>
            </a:r>
            <a:r>
              <a:rPr lang="zh-CN" altLang="en-US" dirty="0"/>
              <a:t>是否</a:t>
            </a:r>
            <a:r>
              <a:rPr lang="zh-CN" altLang="en-US" dirty="0">
                <a:solidFill>
                  <a:srgbClr val="F40000"/>
                </a:solidFill>
              </a:rPr>
              <a:t>为空</a:t>
            </a:r>
          </a:p>
          <a:p>
            <a:pPr lvl="1"/>
            <a:r>
              <a:rPr lang="zh-CN" altLang="en-US" dirty="0"/>
              <a:t>为空     </a:t>
            </a:r>
            <a:r>
              <a:rPr lang="zh-CN" altLang="en-US" b="1" dirty="0">
                <a:solidFill>
                  <a:srgbClr val="0000FF"/>
                </a:solidFill>
              </a:rPr>
              <a:t>拒绝操作</a:t>
            </a:r>
          </a:p>
          <a:p>
            <a:r>
              <a:rPr lang="zh-CN" altLang="en-US" dirty="0"/>
              <a:t>主码上自动建立</a:t>
            </a:r>
            <a:r>
              <a:rPr lang="en-US" altLang="zh-CN" u="sng" dirty="0">
                <a:solidFill>
                  <a:srgbClr val="C00000"/>
                </a:solidFill>
              </a:rPr>
              <a:t>B+</a:t>
            </a:r>
            <a:r>
              <a:rPr lang="zh-CN" altLang="en-US" u="sng" dirty="0">
                <a:solidFill>
                  <a:srgbClr val="C00000"/>
                </a:solidFill>
              </a:rPr>
              <a:t>树索引</a:t>
            </a:r>
          </a:p>
          <a:p>
            <a:pPr lvl="1"/>
            <a:r>
              <a:rPr lang="zh-CN" altLang="en-US" dirty="0"/>
              <a:t>目的：</a:t>
            </a:r>
            <a:r>
              <a:rPr lang="zh-CN" altLang="en-US" dirty="0">
                <a:solidFill>
                  <a:srgbClr val="C00000"/>
                </a:solidFill>
              </a:rPr>
              <a:t>快速检查主码值是否唯一</a:t>
            </a:r>
          </a:p>
        </p:txBody>
      </p:sp>
      <p:sp>
        <p:nvSpPr>
          <p:cNvPr id="2" name="右大括号 1"/>
          <p:cNvSpPr/>
          <p:nvPr/>
        </p:nvSpPr>
        <p:spPr bwMode="auto">
          <a:xfrm>
            <a:off x="6705600" y="2376494"/>
            <a:ext cx="457200" cy="2060618"/>
          </a:xfrm>
          <a:prstGeom prst="rightBrace">
            <a:avLst>
              <a:gd name="adj1" fmla="val 46429"/>
              <a:gd name="adj2" fmla="val 50000"/>
            </a:avLst>
          </a:prstGeom>
          <a:ln>
            <a:solidFill>
              <a:srgbClr val="0000CC"/>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charset="-122"/>
              <a:cs typeface="Arial" charset="0"/>
            </a:endParaRPr>
          </a:p>
        </p:txBody>
      </p:sp>
      <p:sp>
        <p:nvSpPr>
          <p:cNvPr id="3" name="TextBox 2"/>
          <p:cNvSpPr txBox="1"/>
          <p:nvPr/>
        </p:nvSpPr>
        <p:spPr>
          <a:xfrm>
            <a:off x="7162800" y="2909894"/>
            <a:ext cx="1600200" cy="830997"/>
          </a:xfrm>
          <a:prstGeom prst="rect">
            <a:avLst/>
          </a:prstGeom>
          <a:noFill/>
        </p:spPr>
        <p:txBody>
          <a:bodyPr wrap="square" rtlCol="0">
            <a:spAutoFit/>
          </a:bodyPr>
          <a:lstStyle/>
          <a:p>
            <a:r>
              <a:rPr lang="zh-CN" altLang="en-US" b="1" dirty="0">
                <a:solidFill>
                  <a:srgbClr val="0000CC"/>
                </a:solidFill>
              </a:rPr>
              <a:t>保证实体完整性</a:t>
            </a:r>
          </a:p>
        </p:txBody>
      </p:sp>
      <p:sp>
        <p:nvSpPr>
          <p:cNvPr id="12" name="日期占位符 11"/>
          <p:cNvSpPr>
            <a:spLocks noGrp="1"/>
          </p:cNvSpPr>
          <p:nvPr>
            <p:ph type="dt" sz="half" idx="10"/>
          </p:nvPr>
        </p:nvSpPr>
        <p:spPr/>
        <p:txBody>
          <a:bodyPr/>
          <a:lstStyle/>
          <a:p>
            <a:fld id="{48E8A154-DDEE-423B-A409-9BE00D1161D4}" type="datetime1">
              <a:rPr lang="zh-CN" altLang="en-US" smtClean="0"/>
              <a:t>2025/10/15</a:t>
            </a:fld>
            <a:endParaRPr lang="en-US" altLang="zh-CN"/>
          </a:p>
        </p:txBody>
      </p:sp>
      <p:sp>
        <p:nvSpPr>
          <p:cNvPr id="13" name="页脚占位符 12"/>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5" name="灯片编号占位符 4">
            <a:extLst>
              <a:ext uri="{FF2B5EF4-FFF2-40B4-BE49-F238E27FC236}">
                <a16:creationId xmlns:a16="http://schemas.microsoft.com/office/drawing/2014/main" id="{17D917BC-717F-32A5-A7C8-B6B66D3D4554}"/>
              </a:ext>
            </a:extLst>
          </p:cNvPr>
          <p:cNvSpPr>
            <a:spLocks noGrp="1"/>
          </p:cNvSpPr>
          <p:nvPr>
            <p:ph type="sldNum" sz="quarter" idx="12"/>
          </p:nvPr>
        </p:nvSpPr>
        <p:spPr/>
        <p:txBody>
          <a:bodyPr/>
          <a:lstStyle/>
          <a:p>
            <a:pPr>
              <a:defRPr/>
            </a:pPr>
            <a:fld id="{E0CD82EA-F7BE-454B-A83E-18830F6C5424}" type="slidenum">
              <a:rPr lang="en-US" altLang="zh-CN" smtClean="0"/>
              <a:pPr>
                <a:defRPr/>
              </a:pPr>
              <a:t>76</a:t>
            </a:fld>
            <a:r>
              <a:rPr lang="en-US" altLang="zh-CN"/>
              <a:t>/138</a:t>
            </a:r>
            <a:endParaRPr lang="zh-CN" altLang="en-US" dirty="0"/>
          </a:p>
        </p:txBody>
      </p:sp>
    </p:spTree>
    <p:extLst>
      <p:ext uri="{BB962C8B-B14F-4D97-AF65-F5344CB8AC3E}">
        <p14:creationId xmlns:p14="http://schemas.microsoft.com/office/powerpoint/2010/main" val="38818693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3475">
                                            <p:txEl>
                                              <p:pRg st="1" end="1"/>
                                            </p:txEl>
                                          </p:spTgt>
                                        </p:tgtEl>
                                        <p:attrNameLst>
                                          <p:attrName>style.visibility</p:attrName>
                                        </p:attrNameLst>
                                      </p:cBhvr>
                                      <p:to>
                                        <p:strVal val="visible"/>
                                      </p:to>
                                    </p:set>
                                    <p:anim calcmode="lin" valueType="num">
                                      <p:cBhvr additive="base">
                                        <p:cTn id="7" dur="500" fill="hold"/>
                                        <p:tgtEl>
                                          <p:spTgt spid="23347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347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3475">
                                            <p:txEl>
                                              <p:pRg st="2" end="2"/>
                                            </p:txEl>
                                          </p:spTgt>
                                        </p:tgtEl>
                                        <p:attrNameLst>
                                          <p:attrName>style.visibility</p:attrName>
                                        </p:attrNameLst>
                                      </p:cBhvr>
                                      <p:to>
                                        <p:strVal val="visible"/>
                                      </p:to>
                                    </p:set>
                                    <p:anim calcmode="lin" valueType="num">
                                      <p:cBhvr additive="base">
                                        <p:cTn id="11" dur="500" fill="hold"/>
                                        <p:tgtEl>
                                          <p:spTgt spid="23347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334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33475">
                                            <p:txEl>
                                              <p:pRg st="3" end="3"/>
                                            </p:txEl>
                                          </p:spTgt>
                                        </p:tgtEl>
                                        <p:attrNameLst>
                                          <p:attrName>style.visibility</p:attrName>
                                        </p:attrNameLst>
                                      </p:cBhvr>
                                      <p:to>
                                        <p:strVal val="visible"/>
                                      </p:to>
                                    </p:set>
                                    <p:anim calcmode="lin" valueType="num">
                                      <p:cBhvr additive="base">
                                        <p:cTn id="17" dur="500" fill="hold"/>
                                        <p:tgtEl>
                                          <p:spTgt spid="23347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33475">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33475">
                                            <p:txEl>
                                              <p:pRg st="4" end="4"/>
                                            </p:txEl>
                                          </p:spTgt>
                                        </p:tgtEl>
                                        <p:attrNameLst>
                                          <p:attrName>style.visibility</p:attrName>
                                        </p:attrNameLst>
                                      </p:cBhvr>
                                      <p:to>
                                        <p:strVal val="visible"/>
                                      </p:to>
                                    </p:set>
                                    <p:anim calcmode="lin" valueType="num">
                                      <p:cBhvr additive="base">
                                        <p:cTn id="21" dur="500" fill="hold"/>
                                        <p:tgtEl>
                                          <p:spTgt spid="23347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334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1+#ppt_w/2"/>
                                          </p:val>
                                        </p:tav>
                                        <p:tav tm="100000">
                                          <p:val>
                                            <p:strVal val="#ppt_x"/>
                                          </p:val>
                                        </p:tav>
                                      </p:tavLst>
                                    </p:anim>
                                    <p:anim calcmode="lin" valueType="num">
                                      <p:cBhvr additive="base">
                                        <p:cTn id="28" dur="500" fill="hold"/>
                                        <p:tgtEl>
                                          <p:spTgt spid="3"/>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1+#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33475">
                                            <p:txEl>
                                              <p:pRg st="5" end="5"/>
                                            </p:txEl>
                                          </p:spTgt>
                                        </p:tgtEl>
                                        <p:attrNameLst>
                                          <p:attrName>style.visibility</p:attrName>
                                        </p:attrNameLst>
                                      </p:cBhvr>
                                      <p:to>
                                        <p:strVal val="visible"/>
                                      </p:to>
                                    </p:set>
                                    <p:anim calcmode="lin" valueType="num">
                                      <p:cBhvr additive="base">
                                        <p:cTn id="37" dur="500" fill="hold"/>
                                        <p:tgtEl>
                                          <p:spTgt spid="23347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33475">
                                            <p:txEl>
                                              <p:pRg st="5" end="5"/>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33475">
                                            <p:txEl>
                                              <p:pRg st="6" end="6"/>
                                            </p:txEl>
                                          </p:spTgt>
                                        </p:tgtEl>
                                        <p:attrNameLst>
                                          <p:attrName>style.visibility</p:attrName>
                                        </p:attrNameLst>
                                      </p:cBhvr>
                                      <p:to>
                                        <p:strVal val="visible"/>
                                      </p:to>
                                    </p:set>
                                    <p:anim calcmode="lin" valueType="num">
                                      <p:cBhvr additive="base">
                                        <p:cTn id="41" dur="500" fill="hold"/>
                                        <p:tgtEl>
                                          <p:spTgt spid="233475">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3347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lstStyle/>
          <a:p>
            <a:r>
              <a:rPr lang="en-US" altLang="zh-CN" dirty="0"/>
              <a:t>4.4.5 </a:t>
            </a:r>
            <a:r>
              <a:rPr lang="zh-CN" altLang="en-US" dirty="0"/>
              <a:t>参照完整性约束</a:t>
            </a:r>
          </a:p>
        </p:txBody>
      </p:sp>
      <p:sp>
        <p:nvSpPr>
          <p:cNvPr id="234499" name="Rectangle 3"/>
          <p:cNvSpPr>
            <a:spLocks noGrp="1" noChangeArrowheads="1"/>
          </p:cNvSpPr>
          <p:nvPr>
            <p:ph type="body" idx="1"/>
          </p:nvPr>
        </p:nvSpPr>
        <p:spPr>
          <a:xfrm>
            <a:off x="609600" y="1447800"/>
            <a:ext cx="7924800" cy="4684713"/>
          </a:xfrm>
        </p:spPr>
        <p:txBody>
          <a:bodyPr/>
          <a:lstStyle/>
          <a:p>
            <a:pPr>
              <a:lnSpc>
                <a:spcPct val="80000"/>
              </a:lnSpc>
            </a:pPr>
            <a:r>
              <a:rPr lang="zh-CN" altLang="en-US" b="1" dirty="0">
                <a:solidFill>
                  <a:srgbClr val="FF0000"/>
                </a:solidFill>
              </a:rPr>
              <a:t>定义</a:t>
            </a:r>
            <a:r>
              <a:rPr lang="zh-CN" altLang="en-US" sz="2400" dirty="0"/>
              <a:t> 通过</a:t>
            </a:r>
            <a:r>
              <a:rPr lang="zh-CN" altLang="en-US" sz="2400" dirty="0">
                <a:solidFill>
                  <a:srgbClr val="C00000"/>
                </a:solidFill>
              </a:rPr>
              <a:t>定义外码</a:t>
            </a:r>
            <a:r>
              <a:rPr lang="zh-CN" altLang="en-US" sz="2400" dirty="0"/>
              <a:t>实现</a:t>
            </a:r>
          </a:p>
          <a:p>
            <a:pPr lvl="1" eaLnBrk="1" hangingPunct="1"/>
            <a:r>
              <a:rPr lang="zh-CN" altLang="en-US" dirty="0"/>
              <a:t>在</a:t>
            </a:r>
            <a:r>
              <a:rPr lang="en-US" altLang="zh-CN" dirty="0"/>
              <a:t>CREATE TABLE</a:t>
            </a:r>
            <a:r>
              <a:rPr lang="zh-CN" altLang="en-US" dirty="0"/>
              <a:t>中用</a:t>
            </a:r>
            <a:r>
              <a:rPr lang="en-US" altLang="zh-CN" dirty="0">
                <a:solidFill>
                  <a:srgbClr val="0000FF"/>
                </a:solidFill>
              </a:rPr>
              <a:t>FOREIGN KEY</a:t>
            </a:r>
            <a:r>
              <a:rPr lang="zh-CN" altLang="en-US" dirty="0"/>
              <a:t>短语定义</a:t>
            </a:r>
            <a:r>
              <a:rPr lang="zh-CN" altLang="en-US" dirty="0">
                <a:solidFill>
                  <a:srgbClr val="0000FF"/>
                </a:solidFill>
              </a:rPr>
              <a:t>哪些列为外码</a:t>
            </a:r>
          </a:p>
          <a:p>
            <a:pPr lvl="1" eaLnBrk="1" hangingPunct="1"/>
            <a:r>
              <a:rPr lang="zh-CN" altLang="en-US" dirty="0"/>
              <a:t>用</a:t>
            </a:r>
            <a:r>
              <a:rPr lang="en-US" altLang="zh-CN" dirty="0">
                <a:solidFill>
                  <a:srgbClr val="0000FF"/>
                </a:solidFill>
              </a:rPr>
              <a:t>REFERENCES</a:t>
            </a:r>
            <a:r>
              <a:rPr lang="zh-CN" altLang="en-US" dirty="0"/>
              <a:t>短语指明这些外码</a:t>
            </a:r>
            <a:r>
              <a:rPr lang="zh-CN" altLang="en-US" dirty="0">
                <a:solidFill>
                  <a:srgbClr val="0000FF"/>
                </a:solidFill>
              </a:rPr>
              <a:t>参照哪些表的主码 </a:t>
            </a:r>
            <a:endParaRPr lang="en-US" altLang="zh-CN" dirty="0">
              <a:solidFill>
                <a:srgbClr val="0000FF"/>
              </a:solidFill>
            </a:endParaRPr>
          </a:p>
          <a:p>
            <a:pPr lvl="1" eaLnBrk="1" hangingPunct="1"/>
            <a:r>
              <a:rPr lang="zh-CN" altLang="en-US" dirty="0"/>
              <a:t>外码取值：参照表中存在的主码值或者取空置</a:t>
            </a:r>
          </a:p>
          <a:p>
            <a:pPr>
              <a:lnSpc>
                <a:spcPct val="80000"/>
              </a:lnSpc>
            </a:pPr>
            <a:endParaRPr lang="zh-CN" altLang="en-US" sz="2400" dirty="0"/>
          </a:p>
        </p:txBody>
      </p:sp>
      <p:sp>
        <p:nvSpPr>
          <p:cNvPr id="10" name="日期占位符 9"/>
          <p:cNvSpPr>
            <a:spLocks noGrp="1"/>
          </p:cNvSpPr>
          <p:nvPr>
            <p:ph type="dt" sz="half" idx="10"/>
          </p:nvPr>
        </p:nvSpPr>
        <p:spPr/>
        <p:txBody>
          <a:bodyPr/>
          <a:lstStyle/>
          <a:p>
            <a:fld id="{4AA3D137-19A5-4CE7-805A-696F9121AA4A}"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9E7B5375-894F-810D-6FD0-BA7C8D188434}"/>
              </a:ext>
            </a:extLst>
          </p:cNvPr>
          <p:cNvSpPr>
            <a:spLocks noGrp="1"/>
          </p:cNvSpPr>
          <p:nvPr>
            <p:ph type="sldNum" sz="quarter" idx="12"/>
          </p:nvPr>
        </p:nvSpPr>
        <p:spPr/>
        <p:txBody>
          <a:bodyPr/>
          <a:lstStyle/>
          <a:p>
            <a:pPr>
              <a:defRPr/>
            </a:pPr>
            <a:fld id="{E0CD82EA-F7BE-454B-A83E-18830F6C5424}" type="slidenum">
              <a:rPr lang="en-US" altLang="zh-CN" smtClean="0"/>
              <a:pPr>
                <a:defRPr/>
              </a:pPr>
              <a:t>77</a:t>
            </a:fld>
            <a:r>
              <a:rPr lang="en-US" altLang="zh-CN"/>
              <a:t>/138</a:t>
            </a:r>
            <a:endParaRPr lang="zh-CN" altLang="en-US" dirty="0"/>
          </a:p>
        </p:txBody>
      </p:sp>
    </p:spTree>
    <p:extLst>
      <p:ext uri="{BB962C8B-B14F-4D97-AF65-F5344CB8AC3E}">
        <p14:creationId xmlns:p14="http://schemas.microsoft.com/office/powerpoint/2010/main" val="2541201753"/>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p:txBody>
          <a:bodyPr/>
          <a:lstStyle/>
          <a:p>
            <a:r>
              <a:rPr lang="en-US" altLang="zh-CN" dirty="0"/>
              <a:t>4.4.5 </a:t>
            </a:r>
            <a:r>
              <a:rPr lang="zh-CN" altLang="en-US" dirty="0"/>
              <a:t>参照完整性</a:t>
            </a:r>
            <a:r>
              <a:rPr lang="zh-CN" altLang="en-US" dirty="0">
                <a:solidFill>
                  <a:srgbClr val="FF0000"/>
                </a:solidFill>
              </a:rPr>
              <a:t>检查和违约处理</a:t>
            </a:r>
          </a:p>
        </p:txBody>
      </p:sp>
      <p:sp>
        <p:nvSpPr>
          <p:cNvPr id="235523" name="Rectangle 3"/>
          <p:cNvSpPr>
            <a:spLocks noGrp="1" noChangeArrowheads="1"/>
          </p:cNvSpPr>
          <p:nvPr>
            <p:ph type="body" idx="1"/>
          </p:nvPr>
        </p:nvSpPr>
        <p:spPr>
          <a:xfrm>
            <a:off x="591671" y="1371600"/>
            <a:ext cx="8352304" cy="4684713"/>
          </a:xfrm>
        </p:spPr>
        <p:txBody>
          <a:bodyPr/>
          <a:lstStyle/>
          <a:p>
            <a:r>
              <a:rPr lang="zh-CN" altLang="en-US" dirty="0"/>
              <a:t>破坏参照完整性的情况    </a:t>
            </a:r>
            <a:endParaRPr lang="en-US" altLang="zh-CN" dirty="0"/>
          </a:p>
          <a:p>
            <a:pPr>
              <a:buNone/>
            </a:pPr>
            <a:r>
              <a:rPr lang="zh-CN" altLang="en-US" sz="2400" dirty="0"/>
              <a:t>一个</a:t>
            </a:r>
            <a:r>
              <a:rPr lang="zh-CN" altLang="en-US" sz="2400" b="1" dirty="0">
                <a:solidFill>
                  <a:srgbClr val="006600"/>
                </a:solidFill>
              </a:rPr>
              <a:t>参照完整性</a:t>
            </a:r>
            <a:r>
              <a:rPr lang="zh-CN" altLang="en-US" sz="2400" dirty="0"/>
              <a:t>将</a:t>
            </a:r>
            <a:r>
              <a:rPr lang="zh-CN" altLang="en-US" sz="2400" b="1" u="sng" dirty="0">
                <a:solidFill>
                  <a:srgbClr val="0000FF"/>
                </a:solidFill>
              </a:rPr>
              <a:t>两个表</a:t>
            </a:r>
            <a:r>
              <a:rPr lang="zh-CN" altLang="en-US" sz="2400" dirty="0"/>
              <a:t>中的相应元组联系起来，因此</a:t>
            </a:r>
            <a:r>
              <a:rPr lang="zh-CN" altLang="en-US" sz="2400" dirty="0">
                <a:solidFill>
                  <a:srgbClr val="F40000"/>
                </a:solidFill>
              </a:rPr>
              <a:t>参照表</a:t>
            </a:r>
            <a:r>
              <a:rPr lang="en-US" altLang="zh-CN" sz="2400" dirty="0">
                <a:solidFill>
                  <a:srgbClr val="F40000"/>
                </a:solidFill>
              </a:rPr>
              <a:t>(SC)</a:t>
            </a:r>
            <a:r>
              <a:rPr lang="zh-CN" altLang="en-US" sz="2400" dirty="0"/>
              <a:t>和</a:t>
            </a:r>
            <a:r>
              <a:rPr lang="zh-CN" altLang="en-US" sz="2400" dirty="0">
                <a:solidFill>
                  <a:srgbClr val="F40000"/>
                </a:solidFill>
              </a:rPr>
              <a:t>被参照表</a:t>
            </a:r>
            <a:r>
              <a:rPr lang="en-US" altLang="zh-CN" sz="2400" dirty="0">
                <a:solidFill>
                  <a:srgbClr val="F40000"/>
                </a:solidFill>
              </a:rPr>
              <a:t>(Student)</a:t>
            </a:r>
            <a:r>
              <a:rPr lang="zh-CN" altLang="en-US" sz="2400" dirty="0"/>
              <a:t>的</a:t>
            </a:r>
            <a:r>
              <a:rPr lang="zh-CN" altLang="en-US" sz="2400" u="sng" dirty="0">
                <a:solidFill>
                  <a:srgbClr val="0000FF"/>
                </a:solidFill>
              </a:rPr>
              <a:t>增删改</a:t>
            </a:r>
            <a:r>
              <a:rPr lang="zh-CN" altLang="en-US" sz="2400" dirty="0">
                <a:solidFill>
                  <a:srgbClr val="F40000"/>
                </a:solidFill>
              </a:rPr>
              <a:t>操作</a:t>
            </a:r>
            <a:r>
              <a:rPr lang="zh-CN" altLang="en-US" sz="2400" dirty="0"/>
              <a:t>都可能</a:t>
            </a:r>
            <a:r>
              <a:rPr lang="zh-CN" altLang="en-US" sz="2400" dirty="0">
                <a:solidFill>
                  <a:srgbClr val="F40000"/>
                </a:solidFill>
              </a:rPr>
              <a:t>破坏参照完整性</a:t>
            </a:r>
            <a:r>
              <a:rPr lang="zh-CN" altLang="en-US" sz="2800" dirty="0"/>
              <a:t>。</a:t>
            </a:r>
          </a:p>
          <a:p>
            <a:pPr lvl="1"/>
            <a:r>
              <a:rPr lang="zh-CN" altLang="en-US" b="1" dirty="0">
                <a:solidFill>
                  <a:srgbClr val="0000CC"/>
                </a:solidFill>
              </a:rPr>
              <a:t>参照表</a:t>
            </a:r>
            <a:r>
              <a:rPr lang="zh-CN" altLang="en-US" dirty="0">
                <a:solidFill>
                  <a:srgbClr val="F40000"/>
                </a:solidFill>
              </a:rPr>
              <a:t>插入元组</a:t>
            </a:r>
            <a:r>
              <a:rPr lang="zh-CN" altLang="en-US" dirty="0"/>
              <a:t>，</a:t>
            </a:r>
            <a:r>
              <a:rPr lang="zh-CN" altLang="en-US" dirty="0">
                <a:solidFill>
                  <a:srgbClr val="0000CC"/>
                </a:solidFill>
              </a:rPr>
              <a:t>被参照表</a:t>
            </a:r>
            <a:r>
              <a:rPr lang="zh-CN" altLang="en-US" dirty="0">
                <a:solidFill>
                  <a:srgbClr val="C00000"/>
                </a:solidFill>
              </a:rPr>
              <a:t>没有</a:t>
            </a:r>
            <a:r>
              <a:rPr lang="zh-CN" altLang="en-US" dirty="0"/>
              <a:t>对应的码值。</a:t>
            </a:r>
          </a:p>
          <a:p>
            <a:pPr lvl="2"/>
            <a:r>
              <a:rPr lang="zh-CN" altLang="en-US" dirty="0"/>
              <a:t>如</a:t>
            </a:r>
            <a:r>
              <a:rPr lang="en-US" altLang="zh-CN" dirty="0"/>
              <a:t>SC</a:t>
            </a:r>
            <a:r>
              <a:rPr lang="zh-CN" altLang="en-US" dirty="0"/>
              <a:t>表中插入元组，但</a:t>
            </a:r>
            <a:r>
              <a:rPr lang="en-US" altLang="zh-CN" dirty="0" err="1"/>
              <a:t>Sno</a:t>
            </a:r>
            <a:r>
              <a:rPr lang="zh-CN" altLang="en-US" dirty="0"/>
              <a:t>在</a:t>
            </a:r>
            <a:r>
              <a:rPr lang="en-US" altLang="zh-CN" dirty="0"/>
              <a:t>Student</a:t>
            </a:r>
            <a:r>
              <a:rPr lang="zh-CN" altLang="en-US" dirty="0"/>
              <a:t>表中</a:t>
            </a:r>
            <a:r>
              <a:rPr lang="zh-CN" altLang="en-US" b="1" dirty="0">
                <a:solidFill>
                  <a:srgbClr val="0000CC"/>
                </a:solidFill>
              </a:rPr>
              <a:t>无对应值</a:t>
            </a:r>
            <a:endParaRPr lang="zh-CN" altLang="en-US" dirty="0"/>
          </a:p>
          <a:p>
            <a:pPr lvl="2"/>
            <a:r>
              <a:rPr lang="zh-CN" altLang="en-US" u="sng" dirty="0">
                <a:solidFill>
                  <a:srgbClr val="0000FF"/>
                </a:solidFill>
              </a:rPr>
              <a:t>违约处理</a:t>
            </a:r>
            <a:r>
              <a:rPr lang="zh-CN" altLang="en-US" dirty="0"/>
              <a:t>只能是</a:t>
            </a:r>
            <a:r>
              <a:rPr lang="zh-CN" altLang="en-US" b="1" dirty="0">
                <a:solidFill>
                  <a:srgbClr val="C00000"/>
                </a:solidFill>
              </a:rPr>
              <a:t>拒绝</a:t>
            </a:r>
          </a:p>
          <a:p>
            <a:pPr lvl="1"/>
            <a:r>
              <a:rPr lang="zh-CN" altLang="en-US" b="1" dirty="0">
                <a:solidFill>
                  <a:srgbClr val="0000CC"/>
                </a:solidFill>
              </a:rPr>
              <a:t>参照表</a:t>
            </a:r>
            <a:r>
              <a:rPr lang="zh-CN" altLang="en-US" dirty="0">
                <a:solidFill>
                  <a:srgbClr val="F40000"/>
                </a:solidFill>
              </a:rPr>
              <a:t>修改外码值</a:t>
            </a:r>
            <a:r>
              <a:rPr lang="zh-CN" altLang="en-US" dirty="0"/>
              <a:t>，</a:t>
            </a:r>
            <a:r>
              <a:rPr lang="zh-CN" altLang="en-US" dirty="0">
                <a:solidFill>
                  <a:srgbClr val="0000CC"/>
                </a:solidFill>
              </a:rPr>
              <a:t>被参照表</a:t>
            </a:r>
            <a:r>
              <a:rPr lang="zh-CN" altLang="en-US" dirty="0">
                <a:solidFill>
                  <a:srgbClr val="C00000"/>
                </a:solidFill>
              </a:rPr>
              <a:t>没有</a:t>
            </a:r>
            <a:r>
              <a:rPr lang="zh-CN" altLang="en-US" dirty="0"/>
              <a:t>修改后对应的码值。</a:t>
            </a:r>
          </a:p>
          <a:p>
            <a:pPr lvl="2"/>
            <a:r>
              <a:rPr lang="zh-CN" altLang="en-US" dirty="0"/>
              <a:t>与插入情况类似，</a:t>
            </a:r>
            <a:r>
              <a:rPr lang="zh-CN" altLang="en-US" b="1" dirty="0">
                <a:solidFill>
                  <a:srgbClr val="C00000"/>
                </a:solidFill>
              </a:rPr>
              <a:t>拒绝</a:t>
            </a:r>
            <a:r>
              <a:rPr lang="zh-CN" altLang="en-US" dirty="0"/>
              <a:t>。</a:t>
            </a:r>
          </a:p>
          <a:p>
            <a:endParaRPr lang="zh-CN" altLang="en-US" dirty="0"/>
          </a:p>
        </p:txBody>
      </p:sp>
      <p:sp>
        <p:nvSpPr>
          <p:cNvPr id="10" name="日期占位符 9"/>
          <p:cNvSpPr>
            <a:spLocks noGrp="1"/>
          </p:cNvSpPr>
          <p:nvPr>
            <p:ph type="dt" sz="half" idx="10"/>
          </p:nvPr>
        </p:nvSpPr>
        <p:spPr/>
        <p:txBody>
          <a:bodyPr/>
          <a:lstStyle/>
          <a:p>
            <a:fld id="{D74C9A51-A8C7-403D-9D88-B7D32D968982}"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dirty="0"/>
              <a:t>《</a:t>
            </a:r>
            <a:r>
              <a:rPr lang="zh-CN" altLang="en-US" dirty="0"/>
              <a:t>数据库系统概论</a:t>
            </a:r>
            <a:r>
              <a:rPr lang="en-US" altLang="zh-CN" dirty="0"/>
              <a:t>》- </a:t>
            </a:r>
            <a:r>
              <a:rPr lang="zh-CN" altLang="en-US" dirty="0"/>
              <a:t>第</a:t>
            </a:r>
            <a:r>
              <a:rPr lang="en-US" altLang="zh-CN" dirty="0"/>
              <a:t>3</a:t>
            </a:r>
            <a:r>
              <a:rPr lang="zh-CN" altLang="en-US" dirty="0"/>
              <a:t>章</a:t>
            </a:r>
            <a:endParaRPr lang="en-US" altLang="zh-CN" dirty="0"/>
          </a:p>
        </p:txBody>
      </p:sp>
      <p:sp>
        <p:nvSpPr>
          <p:cNvPr id="3" name="灯片编号占位符 2">
            <a:extLst>
              <a:ext uri="{FF2B5EF4-FFF2-40B4-BE49-F238E27FC236}">
                <a16:creationId xmlns:a16="http://schemas.microsoft.com/office/drawing/2014/main" id="{74145EB1-CE98-DA9F-1F28-A875833AC887}"/>
              </a:ext>
            </a:extLst>
          </p:cNvPr>
          <p:cNvSpPr>
            <a:spLocks noGrp="1"/>
          </p:cNvSpPr>
          <p:nvPr>
            <p:ph type="sldNum" sz="quarter" idx="12"/>
          </p:nvPr>
        </p:nvSpPr>
        <p:spPr/>
        <p:txBody>
          <a:bodyPr/>
          <a:lstStyle/>
          <a:p>
            <a:pPr>
              <a:defRPr/>
            </a:pPr>
            <a:fld id="{E0CD82EA-F7BE-454B-A83E-18830F6C5424}" type="slidenum">
              <a:rPr lang="en-US" altLang="zh-CN" smtClean="0"/>
              <a:pPr>
                <a:defRPr/>
              </a:pPr>
              <a:t>78</a:t>
            </a:fld>
            <a:r>
              <a:rPr lang="en-US" altLang="zh-CN"/>
              <a:t>/138</a:t>
            </a:r>
            <a:endParaRPr lang="zh-CN" altLang="en-US" dirty="0"/>
          </a:p>
        </p:txBody>
      </p:sp>
    </p:spTree>
    <p:extLst>
      <p:ext uri="{BB962C8B-B14F-4D97-AF65-F5344CB8AC3E}">
        <p14:creationId xmlns:p14="http://schemas.microsoft.com/office/powerpoint/2010/main" val="39492050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23">
                                            <p:txEl>
                                              <p:pRg st="1" end="1"/>
                                            </p:txEl>
                                          </p:spTgt>
                                        </p:tgtEl>
                                        <p:attrNameLst>
                                          <p:attrName>style.visibility</p:attrName>
                                        </p:attrNameLst>
                                      </p:cBhvr>
                                      <p:to>
                                        <p:strVal val="visible"/>
                                      </p:to>
                                    </p:set>
                                    <p:anim calcmode="lin" valueType="num">
                                      <p:cBhvr additive="base">
                                        <p:cTn id="7" dur="500" fill="hold"/>
                                        <p:tgtEl>
                                          <p:spTgt spid="23552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5523">
                                            <p:txEl>
                                              <p:pRg st="2" end="2"/>
                                            </p:txEl>
                                          </p:spTgt>
                                        </p:tgtEl>
                                        <p:attrNameLst>
                                          <p:attrName>style.visibility</p:attrName>
                                        </p:attrNameLst>
                                      </p:cBhvr>
                                      <p:to>
                                        <p:strVal val="visible"/>
                                      </p:to>
                                    </p:set>
                                    <p:anim calcmode="lin" valueType="num">
                                      <p:cBhvr additive="base">
                                        <p:cTn id="13" dur="500" fill="hold"/>
                                        <p:tgtEl>
                                          <p:spTgt spid="23552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2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35523">
                                            <p:txEl>
                                              <p:pRg st="3" end="3"/>
                                            </p:txEl>
                                          </p:spTgt>
                                        </p:tgtEl>
                                        <p:attrNameLst>
                                          <p:attrName>style.visibility</p:attrName>
                                        </p:attrNameLst>
                                      </p:cBhvr>
                                      <p:to>
                                        <p:strVal val="visible"/>
                                      </p:to>
                                    </p:set>
                                    <p:anim calcmode="lin" valueType="num">
                                      <p:cBhvr additive="base">
                                        <p:cTn id="17" dur="500" fill="hold"/>
                                        <p:tgtEl>
                                          <p:spTgt spid="23552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3552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35523">
                                            <p:txEl>
                                              <p:pRg st="4" end="4"/>
                                            </p:txEl>
                                          </p:spTgt>
                                        </p:tgtEl>
                                        <p:attrNameLst>
                                          <p:attrName>style.visibility</p:attrName>
                                        </p:attrNameLst>
                                      </p:cBhvr>
                                      <p:to>
                                        <p:strVal val="visible"/>
                                      </p:to>
                                    </p:set>
                                    <p:anim calcmode="lin" valueType="num">
                                      <p:cBhvr additive="base">
                                        <p:cTn id="21" dur="500" fill="hold"/>
                                        <p:tgtEl>
                                          <p:spTgt spid="23552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3552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35523">
                                            <p:txEl>
                                              <p:pRg st="5" end="5"/>
                                            </p:txEl>
                                          </p:spTgt>
                                        </p:tgtEl>
                                        <p:attrNameLst>
                                          <p:attrName>style.visibility</p:attrName>
                                        </p:attrNameLst>
                                      </p:cBhvr>
                                      <p:to>
                                        <p:strVal val="visible"/>
                                      </p:to>
                                    </p:set>
                                    <p:anim calcmode="lin" valueType="num">
                                      <p:cBhvr additive="base">
                                        <p:cTn id="27" dur="500" fill="hold"/>
                                        <p:tgtEl>
                                          <p:spTgt spid="23552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3552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35523">
                                            <p:txEl>
                                              <p:pRg st="6" end="6"/>
                                            </p:txEl>
                                          </p:spTgt>
                                        </p:tgtEl>
                                        <p:attrNameLst>
                                          <p:attrName>style.visibility</p:attrName>
                                        </p:attrNameLst>
                                      </p:cBhvr>
                                      <p:to>
                                        <p:strVal val="visible"/>
                                      </p:to>
                                    </p:set>
                                    <p:anim calcmode="lin" valueType="num">
                                      <p:cBhvr additive="base">
                                        <p:cTn id="31" dur="500" fill="hold"/>
                                        <p:tgtEl>
                                          <p:spTgt spid="23552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3552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p:txBody>
          <a:bodyPr/>
          <a:lstStyle/>
          <a:p>
            <a:r>
              <a:rPr lang="en-US" altLang="zh-CN" dirty="0"/>
              <a:t>4.4.5 </a:t>
            </a:r>
            <a:r>
              <a:rPr lang="zh-CN" altLang="en-US" dirty="0"/>
              <a:t>参照完整性</a:t>
            </a:r>
            <a:r>
              <a:rPr lang="zh-CN" altLang="en-US" dirty="0">
                <a:solidFill>
                  <a:srgbClr val="FF0000"/>
                </a:solidFill>
              </a:rPr>
              <a:t>检查和违约处理</a:t>
            </a:r>
          </a:p>
        </p:txBody>
      </p:sp>
      <p:sp>
        <p:nvSpPr>
          <p:cNvPr id="236547" name="Rectangle 3"/>
          <p:cNvSpPr>
            <a:spLocks noGrp="1" noChangeArrowheads="1"/>
          </p:cNvSpPr>
          <p:nvPr>
            <p:ph type="body" idx="1"/>
          </p:nvPr>
        </p:nvSpPr>
        <p:spPr>
          <a:xfrm>
            <a:off x="457200" y="1371600"/>
            <a:ext cx="8345488" cy="4684713"/>
          </a:xfrm>
        </p:spPr>
        <p:txBody>
          <a:bodyPr/>
          <a:lstStyle/>
          <a:p>
            <a:pPr lvl="1"/>
            <a:r>
              <a:rPr lang="zh-CN" altLang="en-US" b="1" dirty="0">
                <a:solidFill>
                  <a:srgbClr val="0000CC"/>
                </a:solidFill>
              </a:rPr>
              <a:t>被参照表</a:t>
            </a:r>
            <a:r>
              <a:rPr lang="zh-CN" altLang="en-US" dirty="0">
                <a:solidFill>
                  <a:srgbClr val="F40000"/>
                </a:solidFill>
              </a:rPr>
              <a:t>删除元组</a:t>
            </a:r>
            <a:r>
              <a:rPr lang="zh-CN" altLang="en-US" dirty="0"/>
              <a:t>，导致</a:t>
            </a:r>
            <a:r>
              <a:rPr lang="zh-CN" altLang="en-US" dirty="0">
                <a:solidFill>
                  <a:srgbClr val="0000FF"/>
                </a:solidFill>
              </a:rPr>
              <a:t>原参照表</a:t>
            </a:r>
            <a:r>
              <a:rPr lang="zh-CN" altLang="en-US" dirty="0"/>
              <a:t>的</a:t>
            </a:r>
            <a:r>
              <a:rPr lang="zh-CN" altLang="en-US" dirty="0">
                <a:solidFill>
                  <a:srgbClr val="0000FF"/>
                </a:solidFill>
              </a:rPr>
              <a:t>外码值</a:t>
            </a:r>
            <a:r>
              <a:rPr lang="zh-CN" altLang="en-US" dirty="0"/>
              <a:t>对应的码值找不到。</a:t>
            </a:r>
          </a:p>
          <a:p>
            <a:pPr lvl="2"/>
            <a:r>
              <a:rPr lang="zh-CN" altLang="en-US" dirty="0"/>
              <a:t>如删除</a:t>
            </a:r>
            <a:r>
              <a:rPr lang="en-US" altLang="zh-CN" dirty="0"/>
              <a:t>Student</a:t>
            </a:r>
            <a:r>
              <a:rPr lang="zh-CN" altLang="en-US" dirty="0"/>
              <a:t>表中的某学生的元组，</a:t>
            </a:r>
            <a:r>
              <a:rPr lang="en-US" altLang="zh-CN" dirty="0"/>
              <a:t>SC</a:t>
            </a:r>
            <a:r>
              <a:rPr lang="zh-CN" altLang="en-US" dirty="0"/>
              <a:t>表中改学生选课记录的</a:t>
            </a:r>
            <a:r>
              <a:rPr lang="en-US" altLang="zh-CN" dirty="0" err="1"/>
              <a:t>Sno</a:t>
            </a:r>
            <a:r>
              <a:rPr lang="zh-CN" altLang="en-US" dirty="0"/>
              <a:t>值再也找不到了。</a:t>
            </a:r>
          </a:p>
          <a:p>
            <a:pPr lvl="2"/>
            <a:r>
              <a:rPr lang="zh-CN" altLang="en-US" u="sng" dirty="0">
                <a:solidFill>
                  <a:srgbClr val="0000FF"/>
                </a:solidFill>
              </a:rPr>
              <a:t>违约处理</a:t>
            </a:r>
            <a:r>
              <a:rPr lang="zh-CN" altLang="en-US" dirty="0"/>
              <a:t>可以是  </a:t>
            </a:r>
            <a:r>
              <a:rPr lang="zh-CN" altLang="en-US" b="1" dirty="0">
                <a:solidFill>
                  <a:srgbClr val="C00000"/>
                </a:solidFill>
              </a:rPr>
              <a:t>拒绝</a:t>
            </a:r>
            <a:r>
              <a:rPr lang="en-US" altLang="zh-CN" b="1" dirty="0">
                <a:solidFill>
                  <a:srgbClr val="C00000"/>
                </a:solidFill>
              </a:rPr>
              <a:t>/</a:t>
            </a:r>
            <a:r>
              <a:rPr lang="zh-CN" altLang="en-US" b="1" dirty="0">
                <a:solidFill>
                  <a:srgbClr val="C00000"/>
                </a:solidFill>
              </a:rPr>
              <a:t>级联操作</a:t>
            </a:r>
            <a:r>
              <a:rPr lang="en-US" altLang="zh-CN" b="1" dirty="0">
                <a:solidFill>
                  <a:srgbClr val="C00000"/>
                </a:solidFill>
              </a:rPr>
              <a:t>/</a:t>
            </a:r>
            <a:r>
              <a:rPr lang="zh-CN" altLang="en-US" b="1" dirty="0">
                <a:solidFill>
                  <a:srgbClr val="C00000"/>
                </a:solidFill>
              </a:rPr>
              <a:t>置空值</a:t>
            </a:r>
            <a:r>
              <a:rPr lang="zh-CN" altLang="en-US" dirty="0"/>
              <a:t>。</a:t>
            </a:r>
          </a:p>
          <a:p>
            <a:pPr lvl="1"/>
            <a:r>
              <a:rPr lang="zh-CN" altLang="en-US" b="1" dirty="0">
                <a:solidFill>
                  <a:srgbClr val="0000CC"/>
                </a:solidFill>
              </a:rPr>
              <a:t>被参照表</a:t>
            </a:r>
            <a:r>
              <a:rPr lang="zh-CN" altLang="en-US" dirty="0">
                <a:solidFill>
                  <a:srgbClr val="F40000"/>
                </a:solidFill>
              </a:rPr>
              <a:t>修改主码值</a:t>
            </a:r>
            <a:r>
              <a:rPr lang="zh-CN" altLang="en-US" dirty="0"/>
              <a:t>。</a:t>
            </a:r>
          </a:p>
          <a:p>
            <a:pPr lvl="2"/>
            <a:r>
              <a:rPr lang="zh-CN" altLang="en-US" dirty="0"/>
              <a:t>如修改学生的学号。</a:t>
            </a:r>
            <a:r>
              <a:rPr lang="en-US" altLang="zh-CN" dirty="0"/>
              <a:t>SC</a:t>
            </a:r>
            <a:r>
              <a:rPr lang="zh-CN" altLang="en-US" dirty="0"/>
              <a:t>表中该生对应的</a:t>
            </a:r>
            <a:r>
              <a:rPr lang="en-US" altLang="zh-CN" dirty="0" err="1"/>
              <a:t>Sno</a:t>
            </a:r>
            <a:r>
              <a:rPr lang="zh-CN" altLang="en-US" dirty="0"/>
              <a:t>值应相应处理。</a:t>
            </a:r>
          </a:p>
          <a:p>
            <a:pPr lvl="2"/>
            <a:r>
              <a:rPr lang="zh-CN" altLang="en-US" u="sng" dirty="0">
                <a:solidFill>
                  <a:srgbClr val="0000FF"/>
                </a:solidFill>
              </a:rPr>
              <a:t>违约处理</a:t>
            </a:r>
            <a:r>
              <a:rPr lang="zh-CN" altLang="en-US" dirty="0"/>
              <a:t>可以是 </a:t>
            </a:r>
            <a:r>
              <a:rPr lang="zh-CN" altLang="en-US" b="1" dirty="0">
                <a:solidFill>
                  <a:srgbClr val="C00000"/>
                </a:solidFill>
              </a:rPr>
              <a:t>拒绝</a:t>
            </a:r>
            <a:r>
              <a:rPr lang="en-US" altLang="zh-CN" b="1" dirty="0">
                <a:solidFill>
                  <a:srgbClr val="C00000"/>
                </a:solidFill>
              </a:rPr>
              <a:t>/</a:t>
            </a:r>
            <a:r>
              <a:rPr lang="zh-CN" altLang="en-US" b="1" dirty="0">
                <a:solidFill>
                  <a:srgbClr val="C00000"/>
                </a:solidFill>
              </a:rPr>
              <a:t>级联操作</a:t>
            </a:r>
            <a:r>
              <a:rPr lang="en-US" altLang="zh-CN" b="1" dirty="0">
                <a:solidFill>
                  <a:srgbClr val="C00000"/>
                </a:solidFill>
              </a:rPr>
              <a:t>/</a:t>
            </a:r>
            <a:r>
              <a:rPr lang="zh-CN" altLang="en-US" b="1" dirty="0">
                <a:solidFill>
                  <a:srgbClr val="C00000"/>
                </a:solidFill>
              </a:rPr>
              <a:t>置空值</a:t>
            </a:r>
            <a:r>
              <a:rPr lang="zh-CN" altLang="en-US" dirty="0"/>
              <a:t>。</a:t>
            </a:r>
          </a:p>
          <a:p>
            <a:pPr lvl="2"/>
            <a:r>
              <a:rPr lang="zh-CN" altLang="en-US" b="1" dirty="0">
                <a:solidFill>
                  <a:schemeClr val="accent1">
                    <a:lumMod val="50000"/>
                  </a:schemeClr>
                </a:solidFill>
              </a:rPr>
              <a:t>有的系统不允许修改表的主码值。</a:t>
            </a:r>
          </a:p>
        </p:txBody>
      </p:sp>
      <p:sp>
        <p:nvSpPr>
          <p:cNvPr id="10" name="日期占位符 9"/>
          <p:cNvSpPr>
            <a:spLocks noGrp="1"/>
          </p:cNvSpPr>
          <p:nvPr>
            <p:ph type="dt" sz="half" idx="10"/>
          </p:nvPr>
        </p:nvSpPr>
        <p:spPr/>
        <p:txBody>
          <a:bodyPr/>
          <a:lstStyle/>
          <a:p>
            <a:fld id="{14DFC0A3-2FB0-4314-AA1B-31186A9171D9}"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FFDF117C-29E5-B31F-D97B-214C835C96F2}"/>
              </a:ext>
            </a:extLst>
          </p:cNvPr>
          <p:cNvSpPr>
            <a:spLocks noGrp="1"/>
          </p:cNvSpPr>
          <p:nvPr>
            <p:ph type="sldNum" sz="quarter" idx="12"/>
          </p:nvPr>
        </p:nvSpPr>
        <p:spPr/>
        <p:txBody>
          <a:bodyPr/>
          <a:lstStyle/>
          <a:p>
            <a:pPr>
              <a:defRPr/>
            </a:pPr>
            <a:fld id="{E0CD82EA-F7BE-454B-A83E-18830F6C5424}" type="slidenum">
              <a:rPr lang="en-US" altLang="zh-CN" smtClean="0"/>
              <a:pPr>
                <a:defRPr/>
              </a:pPr>
              <a:t>79</a:t>
            </a:fld>
            <a:r>
              <a:rPr lang="en-US" altLang="zh-CN"/>
              <a:t>/138</a:t>
            </a:r>
            <a:endParaRPr lang="zh-CN" altLang="en-US" dirty="0"/>
          </a:p>
        </p:txBody>
      </p:sp>
    </p:spTree>
    <p:extLst>
      <p:ext uri="{BB962C8B-B14F-4D97-AF65-F5344CB8AC3E}">
        <p14:creationId xmlns:p14="http://schemas.microsoft.com/office/powerpoint/2010/main" val="20352471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6547">
                                            <p:txEl>
                                              <p:pRg st="1" end="1"/>
                                            </p:txEl>
                                          </p:spTgt>
                                        </p:tgtEl>
                                        <p:attrNameLst>
                                          <p:attrName>style.visibility</p:attrName>
                                        </p:attrNameLst>
                                      </p:cBhvr>
                                      <p:to>
                                        <p:strVal val="visible"/>
                                      </p:to>
                                    </p:set>
                                    <p:anim calcmode="lin" valueType="num">
                                      <p:cBhvr additive="base">
                                        <p:cTn id="7" dur="500" fill="hold"/>
                                        <p:tgtEl>
                                          <p:spTgt spid="23654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654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6547">
                                            <p:txEl>
                                              <p:pRg st="2" end="2"/>
                                            </p:txEl>
                                          </p:spTgt>
                                        </p:tgtEl>
                                        <p:attrNameLst>
                                          <p:attrName>style.visibility</p:attrName>
                                        </p:attrNameLst>
                                      </p:cBhvr>
                                      <p:to>
                                        <p:strVal val="visible"/>
                                      </p:to>
                                    </p:set>
                                    <p:anim calcmode="lin" valueType="num">
                                      <p:cBhvr additive="base">
                                        <p:cTn id="11" dur="500" fill="hold"/>
                                        <p:tgtEl>
                                          <p:spTgt spid="23654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365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36547">
                                            <p:txEl>
                                              <p:pRg st="4" end="4"/>
                                            </p:txEl>
                                          </p:spTgt>
                                        </p:tgtEl>
                                        <p:attrNameLst>
                                          <p:attrName>style.visibility</p:attrName>
                                        </p:attrNameLst>
                                      </p:cBhvr>
                                      <p:to>
                                        <p:strVal val="visible"/>
                                      </p:to>
                                    </p:set>
                                    <p:anim calcmode="lin" valueType="num">
                                      <p:cBhvr additive="base">
                                        <p:cTn id="17" dur="500" fill="hold"/>
                                        <p:tgtEl>
                                          <p:spTgt spid="236547">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36547">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36547">
                                            <p:txEl>
                                              <p:pRg st="5" end="5"/>
                                            </p:txEl>
                                          </p:spTgt>
                                        </p:tgtEl>
                                        <p:attrNameLst>
                                          <p:attrName>style.visibility</p:attrName>
                                        </p:attrNameLst>
                                      </p:cBhvr>
                                      <p:to>
                                        <p:strVal val="visible"/>
                                      </p:to>
                                    </p:set>
                                    <p:anim calcmode="lin" valueType="num">
                                      <p:cBhvr additive="base">
                                        <p:cTn id="21" dur="500" fill="hold"/>
                                        <p:tgtEl>
                                          <p:spTgt spid="236547">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3654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36547">
                                            <p:txEl>
                                              <p:pRg st="6" end="6"/>
                                            </p:txEl>
                                          </p:spTgt>
                                        </p:tgtEl>
                                        <p:attrNameLst>
                                          <p:attrName>style.visibility</p:attrName>
                                        </p:attrNameLst>
                                      </p:cBhvr>
                                      <p:to>
                                        <p:strVal val="visible"/>
                                      </p:to>
                                    </p:set>
                                    <p:anim calcmode="lin" valueType="num">
                                      <p:cBhvr additive="base">
                                        <p:cTn id="27" dur="500" fill="hold"/>
                                        <p:tgtEl>
                                          <p:spTgt spid="236547">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3654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p:txBody>
          <a:bodyPr/>
          <a:lstStyle/>
          <a:p>
            <a:r>
              <a:rPr lang="en-US" altLang="zh-CN" dirty="0"/>
              <a:t>4.4.5 </a:t>
            </a:r>
            <a:r>
              <a:rPr lang="zh-CN" altLang="en-US" dirty="0">
                <a:solidFill>
                  <a:srgbClr val="FF0000"/>
                </a:solidFill>
              </a:rPr>
              <a:t>违约处理策略</a:t>
            </a:r>
          </a:p>
        </p:txBody>
      </p:sp>
      <p:sp>
        <p:nvSpPr>
          <p:cNvPr id="237571" name="Rectangle 3"/>
          <p:cNvSpPr>
            <a:spLocks noGrp="1" noChangeArrowheads="1"/>
          </p:cNvSpPr>
          <p:nvPr>
            <p:ph type="body" idx="1"/>
          </p:nvPr>
        </p:nvSpPr>
        <p:spPr/>
        <p:txBody>
          <a:bodyPr/>
          <a:lstStyle/>
          <a:p>
            <a:r>
              <a:rPr lang="zh-CN" altLang="en-US" sz="2800" dirty="0">
                <a:solidFill>
                  <a:srgbClr val="F40000"/>
                </a:solidFill>
              </a:rPr>
              <a:t>拒绝操作 </a:t>
            </a:r>
            <a:r>
              <a:rPr lang="en-US" altLang="zh-CN" sz="2800" dirty="0">
                <a:solidFill>
                  <a:srgbClr val="F40000"/>
                </a:solidFill>
              </a:rPr>
              <a:t>(NO ACTION)</a:t>
            </a:r>
          </a:p>
          <a:p>
            <a:pPr lvl="1"/>
            <a:r>
              <a:rPr lang="zh-CN" altLang="en-US" sz="2400" dirty="0"/>
              <a:t>不允许增删改操作（</a:t>
            </a:r>
            <a:r>
              <a:rPr lang="zh-CN" altLang="en-US" sz="2400" b="1" dirty="0">
                <a:solidFill>
                  <a:srgbClr val="0000FF"/>
                </a:solidFill>
              </a:rPr>
              <a:t>默认策略</a:t>
            </a:r>
            <a:r>
              <a:rPr lang="zh-CN" altLang="en-US" sz="2400" dirty="0"/>
              <a:t>）</a:t>
            </a:r>
          </a:p>
          <a:p>
            <a:r>
              <a:rPr lang="zh-CN" altLang="en-US" sz="2800" dirty="0">
                <a:solidFill>
                  <a:srgbClr val="F40000"/>
                </a:solidFill>
              </a:rPr>
              <a:t>级联操作 </a:t>
            </a:r>
            <a:r>
              <a:rPr lang="en-US" altLang="zh-CN" sz="2800" dirty="0">
                <a:solidFill>
                  <a:srgbClr val="F40000"/>
                </a:solidFill>
              </a:rPr>
              <a:t>(CASCADE)</a:t>
            </a:r>
          </a:p>
          <a:p>
            <a:pPr lvl="1"/>
            <a:r>
              <a:rPr lang="zh-CN" altLang="en-US" sz="2400" b="1" dirty="0">
                <a:solidFill>
                  <a:srgbClr val="0000CC"/>
                </a:solidFill>
              </a:rPr>
              <a:t>删除</a:t>
            </a:r>
            <a:r>
              <a:rPr lang="zh-CN" altLang="en-US" sz="2400" b="1" dirty="0">
                <a:solidFill>
                  <a:schemeClr val="accent1">
                    <a:lumMod val="50000"/>
                  </a:schemeClr>
                </a:solidFill>
              </a:rPr>
              <a:t>被参照关系</a:t>
            </a:r>
            <a:r>
              <a:rPr lang="zh-CN" altLang="en-US" sz="2400" dirty="0">
                <a:solidFill>
                  <a:srgbClr val="C00000"/>
                </a:solidFill>
              </a:rPr>
              <a:t>元组</a:t>
            </a:r>
            <a:r>
              <a:rPr lang="zh-CN" altLang="en-US" sz="2400" dirty="0"/>
              <a:t>时，</a:t>
            </a:r>
            <a:r>
              <a:rPr lang="zh-CN" altLang="en-US" sz="2400" b="1" dirty="0">
                <a:solidFill>
                  <a:srgbClr val="0000CC"/>
                </a:solidFill>
              </a:rPr>
              <a:t>相应删除</a:t>
            </a:r>
            <a:r>
              <a:rPr lang="zh-CN" altLang="en-US" sz="2400" dirty="0"/>
              <a:t>对应的</a:t>
            </a:r>
            <a:r>
              <a:rPr lang="zh-CN" altLang="en-US" sz="2400" b="1" dirty="0">
                <a:solidFill>
                  <a:schemeClr val="accent1">
                    <a:lumMod val="50000"/>
                  </a:schemeClr>
                </a:solidFill>
              </a:rPr>
              <a:t>参照关系</a:t>
            </a:r>
            <a:r>
              <a:rPr lang="zh-CN" altLang="en-US" sz="2400" dirty="0"/>
              <a:t>的相应</a:t>
            </a:r>
            <a:r>
              <a:rPr lang="zh-CN" altLang="en-US" sz="2400" dirty="0">
                <a:solidFill>
                  <a:srgbClr val="C00000"/>
                </a:solidFill>
              </a:rPr>
              <a:t>元组</a:t>
            </a:r>
            <a:r>
              <a:rPr lang="zh-CN" altLang="en-US" sz="2400" dirty="0"/>
              <a:t>。</a:t>
            </a:r>
          </a:p>
          <a:p>
            <a:pPr lvl="1"/>
            <a:r>
              <a:rPr lang="zh-CN" altLang="en-US" sz="2400" b="1" dirty="0">
                <a:solidFill>
                  <a:srgbClr val="0000CC"/>
                </a:solidFill>
              </a:rPr>
              <a:t>修改</a:t>
            </a:r>
            <a:r>
              <a:rPr lang="zh-CN" altLang="en-US" sz="2400" b="1" dirty="0">
                <a:solidFill>
                  <a:schemeClr val="accent1">
                    <a:lumMod val="50000"/>
                  </a:schemeClr>
                </a:solidFill>
              </a:rPr>
              <a:t>被参照关系</a:t>
            </a:r>
            <a:r>
              <a:rPr lang="zh-CN" altLang="en-US" sz="2400" dirty="0">
                <a:solidFill>
                  <a:srgbClr val="C00000"/>
                </a:solidFill>
              </a:rPr>
              <a:t>主码值</a:t>
            </a:r>
            <a:r>
              <a:rPr lang="zh-CN" altLang="en-US" sz="2400" dirty="0"/>
              <a:t>，</a:t>
            </a:r>
            <a:r>
              <a:rPr lang="zh-CN" altLang="en-US" sz="2400" b="1" dirty="0">
                <a:solidFill>
                  <a:srgbClr val="0000CC"/>
                </a:solidFill>
              </a:rPr>
              <a:t>相应修改</a:t>
            </a:r>
            <a:r>
              <a:rPr lang="zh-CN" altLang="en-US" sz="2400" dirty="0"/>
              <a:t>对应的</a:t>
            </a:r>
            <a:r>
              <a:rPr lang="zh-CN" altLang="en-US" sz="2400" b="1" dirty="0">
                <a:solidFill>
                  <a:schemeClr val="accent1">
                    <a:lumMod val="50000"/>
                  </a:schemeClr>
                </a:solidFill>
              </a:rPr>
              <a:t>参照关系</a:t>
            </a:r>
            <a:r>
              <a:rPr lang="zh-CN" altLang="en-US" sz="2400" dirty="0"/>
              <a:t>的相应</a:t>
            </a:r>
            <a:r>
              <a:rPr lang="zh-CN" altLang="en-US" sz="2400" dirty="0">
                <a:solidFill>
                  <a:srgbClr val="C00000"/>
                </a:solidFill>
              </a:rPr>
              <a:t>元组</a:t>
            </a:r>
            <a:r>
              <a:rPr lang="zh-CN" altLang="en-US" sz="2400" dirty="0"/>
              <a:t>。</a:t>
            </a:r>
          </a:p>
          <a:p>
            <a:r>
              <a:rPr lang="zh-CN" altLang="en-US" sz="2800" dirty="0">
                <a:solidFill>
                  <a:srgbClr val="F40000"/>
                </a:solidFill>
              </a:rPr>
              <a:t>置空操作 </a:t>
            </a:r>
            <a:r>
              <a:rPr lang="en-US" altLang="zh-CN" sz="2800" dirty="0">
                <a:solidFill>
                  <a:srgbClr val="F40000"/>
                </a:solidFill>
              </a:rPr>
              <a:t>(SET NULL)</a:t>
            </a:r>
          </a:p>
          <a:p>
            <a:pPr lvl="1"/>
            <a:r>
              <a:rPr lang="zh-CN" altLang="en-US" sz="2400" b="1" dirty="0">
                <a:solidFill>
                  <a:srgbClr val="0000CC"/>
                </a:solidFill>
              </a:rPr>
              <a:t>删除</a:t>
            </a:r>
            <a:r>
              <a:rPr lang="zh-CN" altLang="en-US" sz="2400" dirty="0"/>
              <a:t>被参照关系元组或</a:t>
            </a:r>
            <a:r>
              <a:rPr lang="zh-CN" altLang="en-US" sz="2400" b="1" dirty="0">
                <a:solidFill>
                  <a:srgbClr val="0000CC"/>
                </a:solidFill>
              </a:rPr>
              <a:t>修改</a:t>
            </a:r>
            <a:r>
              <a:rPr lang="zh-CN" altLang="en-US" sz="2400" dirty="0"/>
              <a:t>被参照关系主码值时，将对应的</a:t>
            </a:r>
            <a:r>
              <a:rPr lang="zh-CN" altLang="en-US" sz="2400" b="1" dirty="0">
                <a:solidFill>
                  <a:schemeClr val="accent1">
                    <a:lumMod val="50000"/>
                  </a:schemeClr>
                </a:solidFill>
              </a:rPr>
              <a:t>参照关系</a:t>
            </a:r>
            <a:r>
              <a:rPr lang="zh-CN" altLang="en-US" sz="2400" dirty="0">
                <a:solidFill>
                  <a:srgbClr val="C00000"/>
                </a:solidFill>
              </a:rPr>
              <a:t>元组</a:t>
            </a:r>
            <a:r>
              <a:rPr lang="zh-CN" altLang="en-US" sz="2400" dirty="0"/>
              <a:t>的</a:t>
            </a:r>
            <a:r>
              <a:rPr lang="zh-CN" altLang="en-US" sz="2400" b="1" dirty="0">
                <a:solidFill>
                  <a:srgbClr val="0000CC"/>
                </a:solidFill>
              </a:rPr>
              <a:t>外码值设置为空值</a:t>
            </a:r>
            <a:r>
              <a:rPr lang="zh-CN" altLang="en-US" sz="2400" dirty="0"/>
              <a:t>。</a:t>
            </a:r>
          </a:p>
        </p:txBody>
      </p:sp>
      <p:sp>
        <p:nvSpPr>
          <p:cNvPr id="10" name="日期占位符 9"/>
          <p:cNvSpPr>
            <a:spLocks noGrp="1"/>
          </p:cNvSpPr>
          <p:nvPr>
            <p:ph type="dt" sz="half" idx="10"/>
          </p:nvPr>
        </p:nvSpPr>
        <p:spPr/>
        <p:txBody>
          <a:bodyPr/>
          <a:lstStyle/>
          <a:p>
            <a:fld id="{D6AEBF7D-9A3A-4812-B841-7E898369EEED}"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3557B9D9-22C9-4F5D-9270-5542855C5A9E}"/>
              </a:ext>
            </a:extLst>
          </p:cNvPr>
          <p:cNvSpPr>
            <a:spLocks noGrp="1"/>
          </p:cNvSpPr>
          <p:nvPr>
            <p:ph type="sldNum" sz="quarter" idx="12"/>
          </p:nvPr>
        </p:nvSpPr>
        <p:spPr/>
        <p:txBody>
          <a:bodyPr/>
          <a:lstStyle/>
          <a:p>
            <a:pPr>
              <a:defRPr/>
            </a:pPr>
            <a:fld id="{E0CD82EA-F7BE-454B-A83E-18830F6C5424}" type="slidenum">
              <a:rPr lang="en-US" altLang="zh-CN" smtClean="0"/>
              <a:pPr>
                <a:defRPr/>
              </a:pPr>
              <a:t>80</a:t>
            </a:fld>
            <a:r>
              <a:rPr lang="en-US" altLang="zh-CN"/>
              <a:t>/138</a:t>
            </a:r>
            <a:endParaRPr lang="zh-CN" altLang="en-US" dirty="0"/>
          </a:p>
        </p:txBody>
      </p:sp>
    </p:spTree>
    <p:extLst>
      <p:ext uri="{BB962C8B-B14F-4D97-AF65-F5344CB8AC3E}">
        <p14:creationId xmlns:p14="http://schemas.microsoft.com/office/powerpoint/2010/main" val="3587290859"/>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8"/>
          <p:cNvSpPr>
            <a:spLocks noChangeArrowheads="1"/>
          </p:cNvSpPr>
          <p:nvPr/>
        </p:nvSpPr>
        <p:spPr bwMode="auto">
          <a:xfrm>
            <a:off x="1399714" y="1454314"/>
            <a:ext cx="6300123" cy="461665"/>
          </a:xfrm>
          <a:prstGeom prst="rect">
            <a:avLst/>
          </a:prstGeom>
          <a:noFill/>
          <a:ln w="9525">
            <a:noFill/>
            <a:miter lim="800000"/>
            <a:headEnd/>
            <a:tailEnd/>
          </a:ln>
        </p:spPr>
        <p:txBody>
          <a:bodyPr wrap="none" anchor="ctr">
            <a:spAutoFit/>
          </a:bodyPr>
          <a:lstStyle/>
          <a:p>
            <a:pPr algn="ctr"/>
            <a:r>
              <a:rPr lang="zh-CN" altLang="en-US" b="1" dirty="0">
                <a:latin typeface="宋体" pitchFamily="2" charset="-122"/>
              </a:rPr>
              <a:t>表</a:t>
            </a:r>
            <a:r>
              <a:rPr lang="en-US" altLang="zh-CN" b="1" dirty="0"/>
              <a:t>1</a:t>
            </a:r>
            <a:r>
              <a:rPr lang="en-US" altLang="zh-CN" b="1" dirty="0">
                <a:latin typeface="宋体" pitchFamily="2" charset="-122"/>
              </a:rPr>
              <a:t> </a:t>
            </a:r>
            <a:r>
              <a:rPr lang="zh-CN" altLang="en-US" b="1" dirty="0">
                <a:latin typeface="宋体" pitchFamily="2" charset="-122"/>
              </a:rPr>
              <a:t>可能破坏参照完整性的情况及违约处理</a:t>
            </a:r>
          </a:p>
        </p:txBody>
      </p:sp>
      <p:sp>
        <p:nvSpPr>
          <p:cNvPr id="9" name="Rectangle 12"/>
          <p:cNvSpPr>
            <a:spLocks noChangeArrowheads="1"/>
          </p:cNvSpPr>
          <p:nvPr/>
        </p:nvSpPr>
        <p:spPr bwMode="auto">
          <a:xfrm>
            <a:off x="1619250" y="2463815"/>
            <a:ext cx="1498600" cy="0"/>
          </a:xfrm>
          <a:prstGeom prst="rect">
            <a:avLst/>
          </a:prstGeom>
          <a:noFill/>
          <a:ln w="9525">
            <a:noFill/>
            <a:miter lim="800000"/>
            <a:headEnd/>
            <a:tailEnd/>
          </a:ln>
        </p:spPr>
        <p:txBody>
          <a:bodyPr wrap="none">
            <a:spAutoFit/>
          </a:bodyPr>
          <a:lstStyle/>
          <a:p>
            <a:pPr algn="ctr"/>
            <a:endParaRPr lang="zh-CN" altLang="en-US">
              <a:latin typeface="Times New Roman" pitchFamily="18" charset="0"/>
            </a:endParaRPr>
          </a:p>
        </p:txBody>
      </p:sp>
      <p:sp>
        <p:nvSpPr>
          <p:cNvPr id="10" name="Rectangle 16"/>
          <p:cNvSpPr>
            <a:spLocks noChangeArrowheads="1"/>
          </p:cNvSpPr>
          <p:nvPr/>
        </p:nvSpPr>
        <p:spPr bwMode="auto">
          <a:xfrm>
            <a:off x="1619250" y="2463815"/>
            <a:ext cx="1498600" cy="0"/>
          </a:xfrm>
          <a:prstGeom prst="rect">
            <a:avLst/>
          </a:prstGeom>
          <a:noFill/>
          <a:ln w="9525">
            <a:noFill/>
            <a:miter lim="800000"/>
            <a:headEnd/>
            <a:tailEnd/>
          </a:ln>
        </p:spPr>
        <p:txBody>
          <a:bodyPr wrap="none">
            <a:spAutoFit/>
          </a:bodyPr>
          <a:lstStyle/>
          <a:p>
            <a:pPr algn="ctr"/>
            <a:endParaRPr lang="zh-CN" altLang="en-US">
              <a:latin typeface="Times New Roman" pitchFamily="18" charset="0"/>
            </a:endParaRPr>
          </a:p>
        </p:txBody>
      </p:sp>
      <p:sp>
        <p:nvSpPr>
          <p:cNvPr id="11" name="Rectangle 20"/>
          <p:cNvSpPr>
            <a:spLocks noChangeArrowheads="1"/>
          </p:cNvSpPr>
          <p:nvPr/>
        </p:nvSpPr>
        <p:spPr bwMode="auto">
          <a:xfrm>
            <a:off x="1619250" y="2463815"/>
            <a:ext cx="1498600" cy="0"/>
          </a:xfrm>
          <a:prstGeom prst="rect">
            <a:avLst/>
          </a:prstGeom>
          <a:noFill/>
          <a:ln w="9525">
            <a:noFill/>
            <a:miter lim="800000"/>
            <a:headEnd/>
            <a:tailEnd/>
          </a:ln>
        </p:spPr>
        <p:txBody>
          <a:bodyPr wrap="none">
            <a:spAutoFit/>
          </a:bodyPr>
          <a:lstStyle/>
          <a:p>
            <a:pPr algn="ctr"/>
            <a:endParaRPr lang="zh-CN" altLang="en-US">
              <a:latin typeface="Times New Roman" pitchFamily="18" charset="0"/>
            </a:endParaRPr>
          </a:p>
        </p:txBody>
      </p:sp>
      <p:sp>
        <p:nvSpPr>
          <p:cNvPr id="12" name="Rectangle 24"/>
          <p:cNvSpPr>
            <a:spLocks noChangeArrowheads="1"/>
          </p:cNvSpPr>
          <p:nvPr/>
        </p:nvSpPr>
        <p:spPr bwMode="auto">
          <a:xfrm>
            <a:off x="1619250" y="2463815"/>
            <a:ext cx="1498600" cy="0"/>
          </a:xfrm>
          <a:prstGeom prst="rect">
            <a:avLst/>
          </a:prstGeom>
          <a:noFill/>
          <a:ln w="9525">
            <a:noFill/>
            <a:miter lim="800000"/>
            <a:headEnd/>
            <a:tailEnd/>
          </a:ln>
        </p:spPr>
        <p:txBody>
          <a:bodyPr wrap="none">
            <a:spAutoFit/>
          </a:bodyPr>
          <a:lstStyle/>
          <a:p>
            <a:pPr algn="ctr"/>
            <a:endParaRPr lang="zh-CN" altLang="en-US">
              <a:latin typeface="Times New Roman" pitchFamily="18" charset="0"/>
            </a:endParaRPr>
          </a:p>
        </p:txBody>
      </p:sp>
      <p:graphicFrame>
        <p:nvGraphicFramePr>
          <p:cNvPr id="13" name="Group 8"/>
          <p:cNvGraphicFramePr>
            <a:graphicFrameLocks noGrp="1"/>
          </p:cNvGraphicFramePr>
          <p:nvPr/>
        </p:nvGraphicFramePr>
        <p:xfrm>
          <a:off x="323850" y="2062178"/>
          <a:ext cx="8632825" cy="3652838"/>
        </p:xfrm>
        <a:graphic>
          <a:graphicData uri="http://schemas.openxmlformats.org/drawingml/2006/table">
            <a:tbl>
              <a:tblPr/>
              <a:tblGrid>
                <a:gridCol w="3137102">
                  <a:extLst>
                    <a:ext uri="{9D8B030D-6E8A-4147-A177-3AD203B41FA5}">
                      <a16:colId xmlns:a16="http://schemas.microsoft.com/office/drawing/2014/main" val="20000"/>
                    </a:ext>
                  </a:extLst>
                </a:gridCol>
                <a:gridCol w="2638328">
                  <a:extLst>
                    <a:ext uri="{9D8B030D-6E8A-4147-A177-3AD203B41FA5}">
                      <a16:colId xmlns:a16="http://schemas.microsoft.com/office/drawing/2014/main" val="20001"/>
                    </a:ext>
                  </a:extLst>
                </a:gridCol>
                <a:gridCol w="2857395">
                  <a:extLst>
                    <a:ext uri="{9D8B030D-6E8A-4147-A177-3AD203B41FA5}">
                      <a16:colId xmlns:a16="http://schemas.microsoft.com/office/drawing/2014/main" val="20002"/>
                    </a:ext>
                  </a:extLst>
                </a:gridCol>
              </a:tblGrid>
              <a:tr h="887567">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en-US" sz="20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rPr>
                        <a:t>被参照表（例如</a:t>
                      </a:r>
                      <a:r>
                        <a:rPr kumimoji="0" lang="en-US" sz="2000" b="1" i="0" u="none" strike="noStrike" cap="none" normalizeH="0" baseline="0" dirty="0">
                          <a:ln>
                            <a:noFill/>
                          </a:ln>
                          <a:solidFill>
                            <a:schemeClr val="tx1"/>
                          </a:solidFill>
                          <a:effectLst/>
                          <a:latin typeface="Times New Roman" pitchFamily="18" charset="0"/>
                          <a:ea typeface="宋体" pitchFamily="2" charset="-122"/>
                        </a:rPr>
                        <a:t>Student</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rPr>
                        <a:t>）</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en-US" sz="2000" b="1" i="0" u="none" strike="noStrike" cap="none" normalizeH="0" baseline="0" dirty="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rPr>
                        <a:t>参照表（例如</a:t>
                      </a:r>
                      <a:r>
                        <a:rPr kumimoji="0" lang="en-US" sz="2000" b="1" i="0" u="none" strike="noStrike" cap="none" normalizeH="0" baseline="0" dirty="0">
                          <a:ln>
                            <a:noFill/>
                          </a:ln>
                          <a:solidFill>
                            <a:schemeClr val="tx1"/>
                          </a:solidFill>
                          <a:effectLst/>
                          <a:latin typeface="Times New Roman" pitchFamily="18" charset="0"/>
                          <a:ea typeface="宋体" pitchFamily="2" charset="-122"/>
                        </a:rPr>
                        <a:t>SC</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rPr>
                        <a:t>）</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endParaRPr kumimoji="0" lang="en-US" sz="2000" b="1" i="0" u="none" strike="noStrike" cap="none" normalizeH="0" baseline="0">
                        <a:ln>
                          <a:noFill/>
                        </a:ln>
                        <a:solidFill>
                          <a:schemeClr val="tx1"/>
                        </a:solidFill>
                        <a:effectLst/>
                        <a:latin typeface="Times New Roman" pitchFamily="18" charset="0"/>
                        <a:ea typeface="宋体" pitchFamily="2" charset="-122"/>
                      </a:endParaRPr>
                    </a:p>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a:ln>
                            <a:noFill/>
                          </a:ln>
                          <a:solidFill>
                            <a:schemeClr val="tx1"/>
                          </a:solidFill>
                          <a:effectLst/>
                          <a:latin typeface="Times New Roman" pitchFamily="18" charset="0"/>
                          <a:ea typeface="宋体" pitchFamily="2" charset="-122"/>
                        </a:rPr>
                        <a:t>违约处理</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3996">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000" b="1" i="0" u="none" strike="noStrike" cap="none" normalizeH="0" baseline="0" dirty="0">
                          <a:ln>
                            <a:noFill/>
                          </a:ln>
                          <a:solidFill>
                            <a:schemeClr val="tx1"/>
                          </a:solidFill>
                          <a:effectLst/>
                          <a:latin typeface="Times New Roman" pitchFamily="18" charset="0"/>
                          <a:ea typeface="宋体" pitchFamily="2" charset="-122"/>
                        </a:rPr>
                        <a:t>可能破坏参照完整性</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ea typeface="宋体" pitchFamily="2" charset="-122"/>
                        </a:rPr>
                        <a:t>    </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rPr>
                        <a:t>插入元组</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000" b="1" i="0" u="none" strike="noStrike" cap="none" normalizeH="0" baseline="0" dirty="0">
                          <a:ln>
                            <a:noFill/>
                          </a:ln>
                          <a:solidFill>
                            <a:schemeClr val="tx1"/>
                          </a:solidFill>
                          <a:effectLst/>
                          <a:latin typeface="Times New Roman" pitchFamily="18" charset="0"/>
                          <a:ea typeface="宋体" pitchFamily="2" charset="-122"/>
                        </a:rPr>
                        <a:t>拒绝</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7812">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000" b="1" i="0" u="none" strike="noStrike" cap="none" normalizeH="0" baseline="0" dirty="0">
                          <a:ln>
                            <a:noFill/>
                          </a:ln>
                          <a:solidFill>
                            <a:schemeClr val="tx1"/>
                          </a:solidFill>
                          <a:effectLst/>
                          <a:latin typeface="Times New Roman" pitchFamily="18" charset="0"/>
                          <a:ea typeface="宋体" pitchFamily="2" charset="-122"/>
                        </a:rPr>
                        <a:t>可能破坏参照完整性</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ea typeface="宋体" pitchFamily="2" charset="-122"/>
                        </a:rPr>
                        <a:t>    </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rPr>
                        <a:t>修改外码值</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000" b="1" i="0" u="none" strike="noStrike" cap="none" normalizeH="0" baseline="0">
                          <a:ln>
                            <a:noFill/>
                          </a:ln>
                          <a:solidFill>
                            <a:schemeClr val="tx1"/>
                          </a:solidFill>
                          <a:effectLst/>
                          <a:latin typeface="Times New Roman" pitchFamily="18" charset="0"/>
                          <a:ea typeface="宋体" pitchFamily="2" charset="-122"/>
                        </a:rPr>
                        <a:t>拒绝</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92301">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000" b="1" i="0" u="none" strike="noStrike" cap="none" normalizeH="0" baseline="0" dirty="0">
                          <a:ln>
                            <a:noFill/>
                          </a:ln>
                          <a:solidFill>
                            <a:schemeClr val="tx1"/>
                          </a:solidFill>
                          <a:effectLst/>
                          <a:latin typeface="Times New Roman" pitchFamily="18" charset="0"/>
                          <a:ea typeface="宋体" pitchFamily="2" charset="-122"/>
                        </a:rPr>
                        <a:t>删除元组</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2000" b="1" i="0" u="none" strike="noStrike" cap="none" normalizeH="0" baseline="0" dirty="0">
                          <a:ln>
                            <a:noFill/>
                          </a:ln>
                          <a:solidFill>
                            <a:schemeClr val="tx1"/>
                          </a:solidFill>
                          <a:effectLst/>
                          <a:latin typeface="Times New Roman" pitchFamily="18" charset="0"/>
                          <a:ea typeface="宋体" pitchFamily="2" charset="-122"/>
                        </a:rPr>
                        <a:t>  </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rPr>
                        <a:t>可能破坏参照完整性</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rPr>
                        <a:t>拒绝</a:t>
                      </a:r>
                      <a:r>
                        <a:rPr kumimoji="0" lang="en-US" sz="20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rPr>
                        <a:t>级连删除</a:t>
                      </a:r>
                      <a:r>
                        <a:rPr kumimoji="0" lang="en-US" sz="20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rPr>
                        <a:t>设置为空值</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01162">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000" b="1" i="0" u="none" strike="noStrike" cap="none" normalizeH="0" baseline="0" dirty="0">
                          <a:ln>
                            <a:noFill/>
                          </a:ln>
                          <a:solidFill>
                            <a:schemeClr val="tx1"/>
                          </a:solidFill>
                          <a:effectLst/>
                          <a:latin typeface="Times New Roman" pitchFamily="18" charset="0"/>
                          <a:ea typeface="宋体" pitchFamily="2" charset="-122"/>
                        </a:rPr>
                        <a:t>修改主码值</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rPr>
                        <a:t> 可能破坏参照完整性</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2000" b="1" i="0" u="none" strike="noStrike" cap="none" normalizeH="0" baseline="0" dirty="0">
                          <a:ln>
                            <a:noFill/>
                          </a:ln>
                          <a:solidFill>
                            <a:schemeClr val="tx1"/>
                          </a:solidFill>
                          <a:effectLst/>
                          <a:latin typeface="Times New Roman" pitchFamily="18" charset="0"/>
                          <a:ea typeface="宋体" pitchFamily="2" charset="-122"/>
                        </a:rPr>
                        <a:t>拒绝</a:t>
                      </a:r>
                      <a:r>
                        <a:rPr kumimoji="0" lang="en-US" sz="20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rPr>
                        <a:t>级连修改</a:t>
                      </a:r>
                      <a:r>
                        <a:rPr kumimoji="0" lang="en-US" sz="2000" b="1" i="0" u="none" strike="noStrike" cap="none" normalizeH="0" baseline="0" dirty="0">
                          <a:ln>
                            <a:noFill/>
                          </a:ln>
                          <a:solidFill>
                            <a:schemeClr val="tx1"/>
                          </a:solidFill>
                          <a:effectLst/>
                          <a:latin typeface="Times New Roman" pitchFamily="18" charset="0"/>
                          <a:ea typeface="宋体" pitchFamily="2" charset="-122"/>
                        </a:rPr>
                        <a:t>/</a:t>
                      </a:r>
                      <a:r>
                        <a:rPr kumimoji="0" lang="zh-CN" altLang="en-US" sz="2000" b="1" i="0" u="none" strike="noStrike" cap="none" normalizeH="0" baseline="0" dirty="0">
                          <a:ln>
                            <a:noFill/>
                          </a:ln>
                          <a:solidFill>
                            <a:schemeClr val="tx1"/>
                          </a:solidFill>
                          <a:effectLst/>
                          <a:latin typeface="Times New Roman" pitchFamily="18" charset="0"/>
                          <a:ea typeface="宋体" pitchFamily="2" charset="-122"/>
                        </a:rPr>
                        <a:t>设置为空值</a:t>
                      </a:r>
                    </a:p>
                  </a:txBody>
                  <a:tcPr marL="91437" marR="91437"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4" name="Line 125"/>
          <p:cNvSpPr>
            <a:spLocks noChangeShapeType="1"/>
          </p:cNvSpPr>
          <p:nvPr/>
        </p:nvSpPr>
        <p:spPr bwMode="auto">
          <a:xfrm flipH="1">
            <a:off x="2987675" y="3775087"/>
            <a:ext cx="649288"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15" name="Line 126"/>
          <p:cNvSpPr>
            <a:spLocks noChangeShapeType="1"/>
          </p:cNvSpPr>
          <p:nvPr/>
        </p:nvSpPr>
        <p:spPr bwMode="auto">
          <a:xfrm>
            <a:off x="2987675" y="4422787"/>
            <a:ext cx="649288"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16" name="Line 127"/>
          <p:cNvSpPr>
            <a:spLocks noChangeShapeType="1"/>
          </p:cNvSpPr>
          <p:nvPr/>
        </p:nvSpPr>
        <p:spPr bwMode="auto">
          <a:xfrm>
            <a:off x="2987675" y="5214950"/>
            <a:ext cx="647700"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17" name="Line 125"/>
          <p:cNvSpPr>
            <a:spLocks noChangeShapeType="1"/>
          </p:cNvSpPr>
          <p:nvPr/>
        </p:nvSpPr>
        <p:spPr bwMode="auto">
          <a:xfrm flipH="1">
            <a:off x="2987675" y="3125800"/>
            <a:ext cx="649288" cy="0"/>
          </a:xfrm>
          <a:prstGeom prst="line">
            <a:avLst/>
          </a:prstGeom>
          <a:noFill/>
          <a:ln w="25400">
            <a:solidFill>
              <a:schemeClr val="tx1"/>
            </a:solidFill>
            <a:round/>
            <a:headEnd/>
            <a:tailEnd type="triangle" w="med" len="med"/>
          </a:ln>
        </p:spPr>
        <p:txBody>
          <a:bodyPr wrap="none" anchor="ctr"/>
          <a:lstStyle/>
          <a:p>
            <a:endParaRPr lang="zh-CN" altLang="en-US"/>
          </a:p>
        </p:txBody>
      </p:sp>
      <p:sp>
        <p:nvSpPr>
          <p:cNvPr id="19" name="Rectangle 2"/>
          <p:cNvSpPr>
            <a:spLocks noGrp="1" noChangeArrowheads="1"/>
          </p:cNvSpPr>
          <p:nvPr>
            <p:ph type="title"/>
          </p:nvPr>
        </p:nvSpPr>
        <p:spPr>
          <a:xfrm>
            <a:off x="838200" y="381000"/>
            <a:ext cx="8105775" cy="762000"/>
          </a:xfrm>
        </p:spPr>
        <p:txBody>
          <a:bodyPr/>
          <a:lstStyle/>
          <a:p>
            <a:r>
              <a:rPr lang="en-US" altLang="zh-CN" dirty="0"/>
              <a:t>4.4.5 </a:t>
            </a:r>
            <a:r>
              <a:rPr lang="zh-CN" altLang="en-US" dirty="0"/>
              <a:t>参照完整性</a:t>
            </a:r>
            <a:r>
              <a:rPr lang="zh-CN" altLang="en-US" dirty="0">
                <a:solidFill>
                  <a:srgbClr val="FF0000"/>
                </a:solidFill>
              </a:rPr>
              <a:t>检查和违约处理</a:t>
            </a:r>
          </a:p>
        </p:txBody>
      </p:sp>
      <p:sp>
        <p:nvSpPr>
          <p:cNvPr id="21" name="日期占位符 20"/>
          <p:cNvSpPr>
            <a:spLocks noGrp="1"/>
          </p:cNvSpPr>
          <p:nvPr>
            <p:ph type="dt" sz="half" idx="10"/>
          </p:nvPr>
        </p:nvSpPr>
        <p:spPr/>
        <p:txBody>
          <a:bodyPr/>
          <a:lstStyle/>
          <a:p>
            <a:fld id="{E5E4CC12-9513-4099-9994-5D3427F32665}" type="datetime1">
              <a:rPr lang="zh-CN" altLang="en-US" smtClean="0"/>
              <a:t>2025/10/15</a:t>
            </a:fld>
            <a:endParaRPr lang="en-US" altLang="zh-CN"/>
          </a:p>
        </p:txBody>
      </p:sp>
      <p:sp>
        <p:nvSpPr>
          <p:cNvPr id="22" name="页脚占位符 21"/>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D437376C-340F-5D4B-5BA7-E654A62941FA}"/>
              </a:ext>
            </a:extLst>
          </p:cNvPr>
          <p:cNvSpPr>
            <a:spLocks noGrp="1"/>
          </p:cNvSpPr>
          <p:nvPr>
            <p:ph type="sldNum" sz="quarter" idx="12"/>
          </p:nvPr>
        </p:nvSpPr>
        <p:spPr/>
        <p:txBody>
          <a:bodyPr/>
          <a:lstStyle/>
          <a:p>
            <a:pPr>
              <a:defRPr/>
            </a:pPr>
            <a:fld id="{E0CD82EA-F7BE-454B-A83E-18830F6C5424}" type="slidenum">
              <a:rPr lang="en-US" altLang="zh-CN" smtClean="0"/>
              <a:pPr>
                <a:defRPr/>
              </a:pPr>
              <a:t>81</a:t>
            </a:fld>
            <a:r>
              <a:rPr lang="en-US" altLang="zh-CN"/>
              <a:t>/138</a:t>
            </a:r>
            <a:endParaRPr lang="zh-CN" altLang="en-US" dirty="0"/>
          </a:p>
        </p:txBody>
      </p:sp>
    </p:spTree>
    <p:extLst>
      <p:ext uri="{BB962C8B-B14F-4D97-AF65-F5344CB8AC3E}">
        <p14:creationId xmlns:p14="http://schemas.microsoft.com/office/powerpoint/2010/main" val="955936276"/>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p:txBody>
          <a:bodyPr/>
          <a:lstStyle/>
          <a:p>
            <a:r>
              <a:rPr lang="zh-CN" altLang="en-US"/>
              <a:t>带有处理策略的</a:t>
            </a:r>
            <a:r>
              <a:rPr lang="en-US" altLang="zh-CN"/>
              <a:t>FOREIGN KEY</a:t>
            </a:r>
            <a:r>
              <a:rPr lang="zh-CN" altLang="en-US"/>
              <a:t>子句</a:t>
            </a:r>
            <a:endParaRPr lang="zh-CN" altLang="en-US" dirty="0"/>
          </a:p>
        </p:txBody>
      </p:sp>
      <p:sp>
        <p:nvSpPr>
          <p:cNvPr id="238595" name="Rectangle 3"/>
          <p:cNvSpPr>
            <a:spLocks noGrp="1" noChangeArrowheads="1"/>
          </p:cNvSpPr>
          <p:nvPr>
            <p:ph type="body" idx="1"/>
          </p:nvPr>
        </p:nvSpPr>
        <p:spPr/>
        <p:txBody>
          <a:bodyPr/>
          <a:lstStyle/>
          <a:p>
            <a:r>
              <a:rPr lang="zh-CN" altLang="en-US" b="1" dirty="0">
                <a:solidFill>
                  <a:srgbClr val="C00000"/>
                </a:solidFill>
              </a:rPr>
              <a:t>格式</a:t>
            </a:r>
            <a:r>
              <a:rPr lang="en-US" altLang="zh-CN" dirty="0"/>
              <a:t>(</a:t>
            </a:r>
            <a:r>
              <a:rPr lang="zh-CN" altLang="en-US" b="1" dirty="0">
                <a:solidFill>
                  <a:srgbClr val="C00000"/>
                </a:solidFill>
              </a:rPr>
              <a:t>显式给出</a:t>
            </a:r>
            <a:r>
              <a:rPr lang="zh-CN" altLang="en-US" dirty="0"/>
              <a:t>参照完整性的</a:t>
            </a:r>
            <a:r>
              <a:rPr lang="zh-CN" altLang="en-US" dirty="0">
                <a:solidFill>
                  <a:srgbClr val="C00000"/>
                </a:solidFill>
              </a:rPr>
              <a:t>违约处理方式</a:t>
            </a:r>
            <a:r>
              <a:rPr lang="en-US" altLang="zh-CN" dirty="0"/>
              <a:t>)</a:t>
            </a:r>
            <a:endParaRPr lang="zh-CN" altLang="en-US" dirty="0"/>
          </a:p>
          <a:p>
            <a:pPr>
              <a:buFont typeface="Wingdings" pitchFamily="2" charset="2"/>
              <a:buNone/>
            </a:pPr>
            <a:r>
              <a:rPr lang="zh-CN" altLang="en-US" sz="3600" dirty="0"/>
              <a:t> </a:t>
            </a:r>
            <a:r>
              <a:rPr lang="en-US" altLang="zh-CN" sz="2800" dirty="0"/>
              <a:t>FOREIGN KEY ( </a:t>
            </a:r>
            <a:r>
              <a:rPr lang="en-US" altLang="zh-CN" sz="2800" dirty="0" err="1"/>
              <a:t>column_name</a:t>
            </a:r>
            <a:r>
              <a:rPr lang="en-US" altLang="zh-CN" sz="2800" dirty="0"/>
              <a:t> [, ... ] ) REFERENCES </a:t>
            </a:r>
            <a:r>
              <a:rPr lang="en-US" altLang="zh-CN" sz="2800" dirty="0" err="1"/>
              <a:t>reftable</a:t>
            </a:r>
            <a:r>
              <a:rPr lang="en-US" altLang="zh-CN" sz="2800" dirty="0"/>
              <a:t> [ ( </a:t>
            </a:r>
            <a:r>
              <a:rPr lang="en-US" altLang="zh-CN" sz="2800" dirty="0" err="1"/>
              <a:t>refcolumn</a:t>
            </a:r>
            <a:r>
              <a:rPr lang="en-US" altLang="zh-CN" sz="2800" dirty="0"/>
              <a:t> [, ...] ) ]</a:t>
            </a:r>
          </a:p>
          <a:p>
            <a:pPr>
              <a:buFont typeface="Wingdings" pitchFamily="2" charset="2"/>
              <a:buNone/>
            </a:pPr>
            <a:r>
              <a:rPr lang="en-US" altLang="zh-CN" sz="2800" dirty="0"/>
              <a:t>       [ </a:t>
            </a:r>
            <a:r>
              <a:rPr lang="en-US" altLang="zh-CN" sz="2800" dirty="0">
                <a:solidFill>
                  <a:srgbClr val="F40000"/>
                </a:solidFill>
              </a:rPr>
              <a:t>ON DELETE</a:t>
            </a:r>
            <a:r>
              <a:rPr lang="en-US" altLang="zh-CN" sz="2800" dirty="0"/>
              <a:t> </a:t>
            </a:r>
            <a:r>
              <a:rPr lang="en-US" altLang="zh-CN" sz="2800" b="1" dirty="0">
                <a:solidFill>
                  <a:srgbClr val="0000FF"/>
                </a:solidFill>
              </a:rPr>
              <a:t>action</a:t>
            </a:r>
            <a:r>
              <a:rPr lang="en-US" altLang="zh-CN" sz="2800" dirty="0">
                <a:solidFill>
                  <a:srgbClr val="0000FF"/>
                </a:solidFill>
              </a:rPr>
              <a:t> </a:t>
            </a:r>
            <a:r>
              <a:rPr lang="en-US" altLang="zh-CN" sz="2800" dirty="0"/>
              <a:t>] [ </a:t>
            </a:r>
            <a:r>
              <a:rPr lang="en-US" altLang="zh-CN" sz="2800" dirty="0">
                <a:solidFill>
                  <a:srgbClr val="F40000"/>
                </a:solidFill>
              </a:rPr>
              <a:t>ON UPDATE</a:t>
            </a:r>
            <a:r>
              <a:rPr lang="en-US" altLang="zh-CN" sz="2800" dirty="0"/>
              <a:t> </a:t>
            </a:r>
            <a:r>
              <a:rPr lang="en-US" altLang="zh-CN" sz="2800" b="1" dirty="0">
                <a:solidFill>
                  <a:srgbClr val="0000FF"/>
                </a:solidFill>
              </a:rPr>
              <a:t>action</a:t>
            </a:r>
            <a:r>
              <a:rPr lang="en-US" altLang="zh-CN" sz="2800" dirty="0"/>
              <a:t>]</a:t>
            </a:r>
          </a:p>
          <a:p>
            <a:endParaRPr lang="zh-CN" altLang="en-US" sz="2800" dirty="0"/>
          </a:p>
        </p:txBody>
      </p:sp>
      <p:sp>
        <p:nvSpPr>
          <p:cNvPr id="10" name="日期占位符 9"/>
          <p:cNvSpPr>
            <a:spLocks noGrp="1"/>
          </p:cNvSpPr>
          <p:nvPr>
            <p:ph type="dt" sz="half" idx="10"/>
          </p:nvPr>
        </p:nvSpPr>
        <p:spPr/>
        <p:txBody>
          <a:bodyPr/>
          <a:lstStyle/>
          <a:p>
            <a:fld id="{B8D63774-2199-4CF2-AB20-327F5130AE9D}"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D4C8639A-6BF1-3C4F-9746-9820E92C9BED}"/>
              </a:ext>
            </a:extLst>
          </p:cNvPr>
          <p:cNvSpPr>
            <a:spLocks noGrp="1"/>
          </p:cNvSpPr>
          <p:nvPr>
            <p:ph type="sldNum" sz="quarter" idx="12"/>
          </p:nvPr>
        </p:nvSpPr>
        <p:spPr/>
        <p:txBody>
          <a:bodyPr/>
          <a:lstStyle/>
          <a:p>
            <a:pPr>
              <a:defRPr/>
            </a:pPr>
            <a:fld id="{E0CD82EA-F7BE-454B-A83E-18830F6C5424}" type="slidenum">
              <a:rPr lang="en-US" altLang="zh-CN" smtClean="0"/>
              <a:pPr>
                <a:defRPr/>
              </a:pPr>
              <a:t>82</a:t>
            </a:fld>
            <a:r>
              <a:rPr lang="en-US" altLang="zh-CN"/>
              <a:t>/138</a:t>
            </a:r>
            <a:endParaRPr lang="zh-CN" altLang="en-US" dirty="0"/>
          </a:p>
        </p:txBody>
      </p:sp>
    </p:spTree>
    <p:extLst>
      <p:ext uri="{BB962C8B-B14F-4D97-AF65-F5344CB8AC3E}">
        <p14:creationId xmlns:p14="http://schemas.microsoft.com/office/powerpoint/2010/main" val="3857615864"/>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p:txBody>
          <a:bodyPr/>
          <a:lstStyle/>
          <a:p>
            <a:r>
              <a:rPr lang="zh-CN" altLang="en-US"/>
              <a:t>带有处理策略的</a:t>
            </a:r>
            <a:r>
              <a:rPr lang="en-US" altLang="zh-CN"/>
              <a:t>FOREIGN KEY</a:t>
            </a:r>
            <a:r>
              <a:rPr lang="zh-CN" altLang="en-US"/>
              <a:t>子句</a:t>
            </a:r>
          </a:p>
        </p:txBody>
      </p:sp>
      <p:sp>
        <p:nvSpPr>
          <p:cNvPr id="239619" name="Rectangle 3"/>
          <p:cNvSpPr>
            <a:spLocks noGrp="1" noChangeArrowheads="1"/>
          </p:cNvSpPr>
          <p:nvPr>
            <p:ph type="body" idx="1"/>
          </p:nvPr>
        </p:nvSpPr>
        <p:spPr>
          <a:xfrm>
            <a:off x="609600" y="1447800"/>
            <a:ext cx="8229600" cy="4684713"/>
          </a:xfrm>
        </p:spPr>
        <p:txBody>
          <a:bodyPr/>
          <a:lstStyle/>
          <a:p>
            <a:r>
              <a:rPr lang="zh-CN" altLang="en-US" dirty="0"/>
              <a:t>示例  </a:t>
            </a:r>
            <a:r>
              <a:rPr lang="zh-CN" altLang="en-US" dirty="0">
                <a:solidFill>
                  <a:srgbClr val="0000CC"/>
                </a:solidFill>
              </a:rPr>
              <a:t>带有违约处理的</a:t>
            </a:r>
            <a:r>
              <a:rPr lang="en-US" altLang="zh-CN" dirty="0">
                <a:solidFill>
                  <a:srgbClr val="0000CC"/>
                </a:solidFill>
              </a:rPr>
              <a:t>SC</a:t>
            </a:r>
            <a:r>
              <a:rPr lang="zh-CN" altLang="en-US" dirty="0">
                <a:solidFill>
                  <a:srgbClr val="0000CC"/>
                </a:solidFill>
              </a:rPr>
              <a:t>表外码</a:t>
            </a:r>
            <a:r>
              <a:rPr lang="zh-CN" altLang="en-US" dirty="0"/>
              <a:t>说明</a:t>
            </a:r>
          </a:p>
          <a:p>
            <a:endParaRPr lang="en-US" altLang="zh-CN" sz="1000" dirty="0"/>
          </a:p>
          <a:p>
            <a:pPr>
              <a:buFont typeface="Wingdings" pitchFamily="2" charset="2"/>
              <a:buNone/>
            </a:pPr>
            <a:r>
              <a:rPr lang="en-US" altLang="zh-CN" sz="2800" dirty="0"/>
              <a:t>	</a:t>
            </a:r>
            <a:r>
              <a:rPr lang="en-US" altLang="zh-CN" sz="2000" dirty="0"/>
              <a:t>FOREIGN KEY (</a:t>
            </a:r>
            <a:r>
              <a:rPr lang="en-US" altLang="zh-CN" sz="2000" dirty="0" err="1"/>
              <a:t>Sno</a:t>
            </a:r>
            <a:r>
              <a:rPr lang="en-US" altLang="zh-CN" sz="2000" dirty="0"/>
              <a:t>) REFERENCES Student(</a:t>
            </a:r>
            <a:r>
              <a:rPr lang="en-US" altLang="zh-CN" sz="2000" dirty="0" err="1"/>
              <a:t>Sno</a:t>
            </a:r>
            <a:r>
              <a:rPr lang="en-US" altLang="zh-CN" sz="2000" dirty="0"/>
              <a:t>)</a:t>
            </a:r>
          </a:p>
          <a:p>
            <a:pPr>
              <a:buNone/>
            </a:pPr>
            <a:r>
              <a:rPr lang="en-US" altLang="zh-CN" sz="2000" dirty="0"/>
              <a:t>	  ON </a:t>
            </a:r>
            <a:r>
              <a:rPr lang="en-US" altLang="zh-CN" sz="2000" dirty="0">
                <a:solidFill>
                  <a:srgbClr val="0000CC"/>
                </a:solidFill>
              </a:rPr>
              <a:t>DELETE </a:t>
            </a:r>
            <a:r>
              <a:rPr lang="en-US" altLang="zh-CN" sz="2000" dirty="0">
                <a:solidFill>
                  <a:srgbClr val="FF0000"/>
                </a:solidFill>
              </a:rPr>
              <a:t>CASCADE</a:t>
            </a:r>
            <a:r>
              <a:rPr lang="en-US" altLang="zh-CN" sz="2000" dirty="0">
                <a:solidFill>
                  <a:srgbClr val="0000CC"/>
                </a:solidFill>
              </a:rPr>
              <a:t>    </a:t>
            </a:r>
            <a:r>
              <a:rPr lang="en-US" altLang="zh-CN" sz="2000" dirty="0">
                <a:ea typeface="宋体" charset="-122"/>
              </a:rPr>
              <a:t>/*</a:t>
            </a:r>
            <a:r>
              <a:rPr lang="zh-CN" altLang="en-US" sz="2000" dirty="0">
                <a:solidFill>
                  <a:srgbClr val="FF00FF"/>
                </a:solidFill>
                <a:ea typeface="宋体" charset="-122"/>
              </a:rPr>
              <a:t>级联删除</a:t>
            </a:r>
            <a:r>
              <a:rPr lang="en-US" altLang="zh-CN" sz="2000" dirty="0">
                <a:ea typeface="宋体" charset="-122"/>
              </a:rPr>
              <a:t>SC</a:t>
            </a:r>
            <a:r>
              <a:rPr lang="zh-CN" altLang="en-US" sz="2000" dirty="0">
                <a:ea typeface="宋体" charset="-122"/>
              </a:rPr>
              <a:t>表中相应的元组*</a:t>
            </a:r>
            <a:r>
              <a:rPr lang="en-US" altLang="zh-CN" sz="2000" dirty="0">
                <a:ea typeface="宋体" charset="-122"/>
              </a:rPr>
              <a:t>/</a:t>
            </a:r>
          </a:p>
          <a:p>
            <a:pPr>
              <a:buNone/>
            </a:pPr>
            <a:r>
              <a:rPr lang="en-US" altLang="zh-CN" sz="2000" dirty="0"/>
              <a:t>	  ON </a:t>
            </a:r>
            <a:r>
              <a:rPr lang="en-US" altLang="zh-CN" sz="2000" dirty="0">
                <a:solidFill>
                  <a:srgbClr val="0000CC"/>
                </a:solidFill>
              </a:rPr>
              <a:t>UPDATE </a:t>
            </a:r>
            <a:r>
              <a:rPr lang="en-US" altLang="zh-CN" sz="2000" dirty="0">
                <a:solidFill>
                  <a:srgbClr val="FF0000"/>
                </a:solidFill>
              </a:rPr>
              <a:t>CASCADE</a:t>
            </a:r>
            <a:r>
              <a:rPr lang="en-US" altLang="zh-CN" sz="2000" dirty="0"/>
              <a:t>,   </a:t>
            </a:r>
            <a:r>
              <a:rPr lang="en-US" altLang="zh-CN" sz="2000" dirty="0">
                <a:ea typeface="宋体" charset="-122"/>
              </a:rPr>
              <a:t>/*</a:t>
            </a:r>
            <a:r>
              <a:rPr lang="zh-CN" altLang="en-US" sz="2000" dirty="0">
                <a:solidFill>
                  <a:srgbClr val="FF00FF"/>
                </a:solidFill>
                <a:ea typeface="宋体" charset="-122"/>
              </a:rPr>
              <a:t>级联更新</a:t>
            </a:r>
            <a:r>
              <a:rPr lang="en-US" altLang="zh-CN" sz="2000" dirty="0">
                <a:ea typeface="宋体" charset="-122"/>
              </a:rPr>
              <a:t>SC</a:t>
            </a:r>
            <a:r>
              <a:rPr lang="zh-CN" altLang="en-US" sz="2000" dirty="0">
                <a:ea typeface="宋体" charset="-122"/>
              </a:rPr>
              <a:t>表中相应的元组*</a:t>
            </a:r>
            <a:r>
              <a:rPr lang="en-US" altLang="zh-CN" sz="2000" dirty="0">
                <a:ea typeface="宋体" charset="-122"/>
              </a:rPr>
              <a:t>/</a:t>
            </a:r>
          </a:p>
          <a:p>
            <a:pPr>
              <a:buFont typeface="Wingdings" pitchFamily="2" charset="2"/>
              <a:buNone/>
            </a:pPr>
            <a:r>
              <a:rPr lang="en-US" altLang="zh-CN" sz="2000" dirty="0"/>
              <a:t>	</a:t>
            </a:r>
          </a:p>
          <a:p>
            <a:pPr>
              <a:buFont typeface="Wingdings" pitchFamily="2" charset="2"/>
              <a:buNone/>
            </a:pPr>
            <a:r>
              <a:rPr lang="en-US" altLang="zh-CN" sz="2000" dirty="0"/>
              <a:t>    FOREIGN KEY (</a:t>
            </a:r>
            <a:r>
              <a:rPr lang="en-US" altLang="zh-CN" sz="2000" dirty="0" err="1"/>
              <a:t>Cno</a:t>
            </a:r>
            <a:r>
              <a:rPr lang="en-US" altLang="zh-CN" sz="2000" dirty="0"/>
              <a:t>) REFERENCES Course(</a:t>
            </a:r>
            <a:r>
              <a:rPr lang="en-US" altLang="zh-CN" sz="2000" dirty="0" err="1"/>
              <a:t>Cno</a:t>
            </a:r>
            <a:r>
              <a:rPr lang="en-US" altLang="zh-CN" sz="2000" dirty="0"/>
              <a:t>)</a:t>
            </a:r>
          </a:p>
          <a:p>
            <a:pPr>
              <a:buFont typeface="Wingdings" pitchFamily="2" charset="2"/>
              <a:buNone/>
            </a:pPr>
            <a:r>
              <a:rPr lang="en-US" altLang="zh-CN" sz="2000" dirty="0"/>
              <a:t>	  ON </a:t>
            </a:r>
            <a:r>
              <a:rPr lang="en-US" altLang="zh-CN" sz="2000" dirty="0">
                <a:solidFill>
                  <a:srgbClr val="0000CC"/>
                </a:solidFill>
              </a:rPr>
              <a:t>DELETE </a:t>
            </a:r>
            <a:r>
              <a:rPr lang="en-US" altLang="zh-CN" sz="2000" dirty="0">
                <a:solidFill>
                  <a:srgbClr val="FF0000"/>
                </a:solidFill>
              </a:rPr>
              <a:t>NO ACION</a:t>
            </a:r>
          </a:p>
          <a:p>
            <a:pPr>
              <a:buNone/>
            </a:pPr>
            <a:r>
              <a:rPr lang="en-US" altLang="zh-CN" sz="2000" dirty="0">
                <a:ea typeface="宋体" charset="-122"/>
              </a:rPr>
              <a:t>		/*</a:t>
            </a:r>
            <a:r>
              <a:rPr lang="zh-CN" altLang="en-US" sz="2000" dirty="0">
                <a:ea typeface="宋体" charset="-122"/>
              </a:rPr>
              <a:t>当删除</a:t>
            </a:r>
            <a:r>
              <a:rPr lang="en-US" altLang="zh-CN" sz="2000" dirty="0">
                <a:ea typeface="宋体" charset="-122"/>
              </a:rPr>
              <a:t>course </a:t>
            </a:r>
            <a:r>
              <a:rPr lang="zh-CN" altLang="en-US" sz="2000" dirty="0">
                <a:ea typeface="宋体" charset="-122"/>
              </a:rPr>
              <a:t>表中的元组造成了与</a:t>
            </a:r>
            <a:r>
              <a:rPr lang="en-US" altLang="zh-CN" sz="2000" dirty="0">
                <a:ea typeface="宋体" charset="-122"/>
              </a:rPr>
              <a:t>SC</a:t>
            </a:r>
            <a:r>
              <a:rPr lang="zh-CN" altLang="en-US" sz="2000" dirty="0">
                <a:ea typeface="宋体" charset="-122"/>
              </a:rPr>
              <a:t>表不一致时</a:t>
            </a:r>
            <a:r>
              <a:rPr lang="zh-CN" altLang="en-US" sz="2000" dirty="0">
                <a:solidFill>
                  <a:srgbClr val="FF00FF"/>
                </a:solidFill>
                <a:ea typeface="宋体" charset="-122"/>
              </a:rPr>
              <a:t>拒绝删除</a:t>
            </a:r>
            <a:r>
              <a:rPr lang="zh-CN" altLang="en-US" sz="2000" dirty="0">
                <a:ea typeface="宋体" charset="-122"/>
              </a:rPr>
              <a:t>*</a:t>
            </a:r>
            <a:r>
              <a:rPr lang="en-US" altLang="zh-CN" sz="2000" dirty="0">
                <a:ea typeface="宋体" charset="-122"/>
              </a:rPr>
              <a:t>/</a:t>
            </a:r>
            <a:endParaRPr lang="en-US" altLang="zh-CN" sz="2000" b="1" dirty="0">
              <a:solidFill>
                <a:srgbClr val="0000CC"/>
              </a:solidFill>
            </a:endParaRPr>
          </a:p>
          <a:p>
            <a:pPr>
              <a:buFont typeface="Wingdings" pitchFamily="2" charset="2"/>
              <a:buNone/>
            </a:pPr>
            <a:r>
              <a:rPr lang="en-US" altLang="zh-CN" sz="2000" dirty="0"/>
              <a:t>	  ON </a:t>
            </a:r>
            <a:r>
              <a:rPr lang="en-US" altLang="zh-CN" sz="2000" dirty="0">
                <a:solidFill>
                  <a:srgbClr val="0000CC"/>
                </a:solidFill>
              </a:rPr>
              <a:t>UPDATE </a:t>
            </a:r>
            <a:r>
              <a:rPr lang="en-US" altLang="zh-CN" sz="2000" dirty="0">
                <a:solidFill>
                  <a:srgbClr val="FF0000"/>
                </a:solidFill>
              </a:rPr>
              <a:t>CASCADE</a:t>
            </a:r>
          </a:p>
          <a:p>
            <a:pPr>
              <a:buNone/>
            </a:pPr>
            <a:r>
              <a:rPr lang="en-US" altLang="zh-CN" sz="2000" dirty="0">
                <a:ea typeface="宋体" charset="-122"/>
              </a:rPr>
              <a:t>		/*</a:t>
            </a:r>
            <a:r>
              <a:rPr lang="zh-CN" altLang="en-US" sz="2000" dirty="0">
                <a:ea typeface="宋体" charset="-122"/>
              </a:rPr>
              <a:t>当更新</a:t>
            </a:r>
            <a:r>
              <a:rPr lang="en-US" altLang="zh-CN" sz="2000" dirty="0">
                <a:ea typeface="宋体" charset="-122"/>
              </a:rPr>
              <a:t>course</a:t>
            </a:r>
            <a:r>
              <a:rPr lang="zh-CN" altLang="en-US" sz="2000" dirty="0">
                <a:ea typeface="宋体" charset="-122"/>
              </a:rPr>
              <a:t>表中的</a:t>
            </a:r>
            <a:r>
              <a:rPr lang="en-US" altLang="zh-CN" sz="2000" dirty="0" err="1">
                <a:ea typeface="宋体" charset="-122"/>
              </a:rPr>
              <a:t>cno</a:t>
            </a:r>
            <a:r>
              <a:rPr lang="zh-CN" altLang="en-US" sz="2000" dirty="0">
                <a:ea typeface="宋体" charset="-122"/>
              </a:rPr>
              <a:t>时，</a:t>
            </a:r>
            <a:r>
              <a:rPr lang="zh-CN" altLang="en-US" sz="2000" dirty="0">
                <a:solidFill>
                  <a:srgbClr val="FF00FF"/>
                </a:solidFill>
                <a:ea typeface="宋体" charset="-122"/>
              </a:rPr>
              <a:t>级联更新</a:t>
            </a:r>
            <a:r>
              <a:rPr lang="en-US" altLang="zh-CN" sz="2000" dirty="0">
                <a:ea typeface="宋体" charset="-122"/>
              </a:rPr>
              <a:t>SC</a:t>
            </a:r>
            <a:r>
              <a:rPr lang="zh-CN" altLang="en-US" sz="2000" dirty="0">
                <a:ea typeface="宋体" charset="-122"/>
              </a:rPr>
              <a:t>表中相应的元组*</a:t>
            </a:r>
            <a:r>
              <a:rPr lang="en-US" altLang="zh-CN" sz="2000" dirty="0">
                <a:ea typeface="宋体" charset="-122"/>
              </a:rPr>
              <a:t>/</a:t>
            </a:r>
          </a:p>
          <a:p>
            <a:pPr>
              <a:buFont typeface="Wingdings" pitchFamily="2" charset="2"/>
              <a:buNone/>
            </a:pPr>
            <a:endParaRPr lang="zh-CN" altLang="en-US" sz="2000" dirty="0">
              <a:solidFill>
                <a:srgbClr val="0000CC"/>
              </a:solidFill>
            </a:endParaRPr>
          </a:p>
        </p:txBody>
      </p:sp>
      <p:sp>
        <p:nvSpPr>
          <p:cNvPr id="10" name="日期占位符 9"/>
          <p:cNvSpPr>
            <a:spLocks noGrp="1"/>
          </p:cNvSpPr>
          <p:nvPr>
            <p:ph type="dt" sz="half" idx="10"/>
          </p:nvPr>
        </p:nvSpPr>
        <p:spPr/>
        <p:txBody>
          <a:bodyPr/>
          <a:lstStyle/>
          <a:p>
            <a:fld id="{B4B94407-0DD8-4D96-B542-4AE8E7AFEAFA}"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09B91E08-C049-DA4A-AA63-2F64EF2BF84C}"/>
              </a:ext>
            </a:extLst>
          </p:cNvPr>
          <p:cNvSpPr>
            <a:spLocks noGrp="1"/>
          </p:cNvSpPr>
          <p:nvPr>
            <p:ph type="sldNum" sz="quarter" idx="12"/>
          </p:nvPr>
        </p:nvSpPr>
        <p:spPr/>
        <p:txBody>
          <a:bodyPr/>
          <a:lstStyle/>
          <a:p>
            <a:pPr>
              <a:defRPr/>
            </a:pPr>
            <a:fld id="{E0CD82EA-F7BE-454B-A83E-18830F6C5424}" type="slidenum">
              <a:rPr lang="en-US" altLang="zh-CN" smtClean="0"/>
              <a:pPr>
                <a:defRPr/>
              </a:pPr>
              <a:t>83</a:t>
            </a:fld>
            <a:r>
              <a:rPr lang="en-US" altLang="zh-CN"/>
              <a:t>/138</a:t>
            </a:r>
            <a:endParaRPr lang="zh-CN" altLang="en-US" dirty="0"/>
          </a:p>
        </p:txBody>
      </p:sp>
    </p:spTree>
    <p:extLst>
      <p:ext uri="{BB962C8B-B14F-4D97-AF65-F5344CB8AC3E}">
        <p14:creationId xmlns:p14="http://schemas.microsoft.com/office/powerpoint/2010/main" val="1982261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9619">
                                            <p:txEl>
                                              <p:pRg st="2" end="2"/>
                                            </p:txEl>
                                          </p:spTgt>
                                        </p:tgtEl>
                                        <p:attrNameLst>
                                          <p:attrName>style.visibility</p:attrName>
                                        </p:attrNameLst>
                                      </p:cBhvr>
                                      <p:to>
                                        <p:strVal val="visible"/>
                                      </p:to>
                                    </p:set>
                                    <p:anim calcmode="lin" valueType="num">
                                      <p:cBhvr additive="base">
                                        <p:cTn id="7" dur="500" fill="hold"/>
                                        <p:tgtEl>
                                          <p:spTgt spid="23961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9619">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9619">
                                            <p:txEl>
                                              <p:pRg st="3" end="3"/>
                                            </p:txEl>
                                          </p:spTgt>
                                        </p:tgtEl>
                                        <p:attrNameLst>
                                          <p:attrName>style.visibility</p:attrName>
                                        </p:attrNameLst>
                                      </p:cBhvr>
                                      <p:to>
                                        <p:strVal val="visible"/>
                                      </p:to>
                                    </p:set>
                                    <p:anim calcmode="lin" valueType="num">
                                      <p:cBhvr additive="base">
                                        <p:cTn id="11" dur="500" fill="hold"/>
                                        <p:tgtEl>
                                          <p:spTgt spid="239619">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39619">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39619">
                                            <p:txEl>
                                              <p:pRg st="4" end="4"/>
                                            </p:txEl>
                                          </p:spTgt>
                                        </p:tgtEl>
                                        <p:attrNameLst>
                                          <p:attrName>style.visibility</p:attrName>
                                        </p:attrNameLst>
                                      </p:cBhvr>
                                      <p:to>
                                        <p:strVal val="visible"/>
                                      </p:to>
                                    </p:set>
                                    <p:anim calcmode="lin" valueType="num">
                                      <p:cBhvr additive="base">
                                        <p:cTn id="15" dur="500" fill="hold"/>
                                        <p:tgtEl>
                                          <p:spTgt spid="239619">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39619">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39619">
                                            <p:txEl>
                                              <p:pRg st="5" end="5"/>
                                            </p:txEl>
                                          </p:spTgt>
                                        </p:tgtEl>
                                        <p:attrNameLst>
                                          <p:attrName>style.visibility</p:attrName>
                                        </p:attrNameLst>
                                      </p:cBhvr>
                                      <p:to>
                                        <p:strVal val="visible"/>
                                      </p:to>
                                    </p:set>
                                    <p:anim calcmode="lin" valueType="num">
                                      <p:cBhvr additive="base">
                                        <p:cTn id="19" dur="500" fill="hold"/>
                                        <p:tgtEl>
                                          <p:spTgt spid="239619">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961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39619">
                                            <p:txEl>
                                              <p:pRg st="6" end="6"/>
                                            </p:txEl>
                                          </p:spTgt>
                                        </p:tgtEl>
                                        <p:attrNameLst>
                                          <p:attrName>style.visibility</p:attrName>
                                        </p:attrNameLst>
                                      </p:cBhvr>
                                      <p:to>
                                        <p:strVal val="visible"/>
                                      </p:to>
                                    </p:set>
                                    <p:anim calcmode="lin" valueType="num">
                                      <p:cBhvr additive="base">
                                        <p:cTn id="25" dur="500" fill="hold"/>
                                        <p:tgtEl>
                                          <p:spTgt spid="239619">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39619">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39619">
                                            <p:txEl>
                                              <p:pRg st="7" end="7"/>
                                            </p:txEl>
                                          </p:spTgt>
                                        </p:tgtEl>
                                        <p:attrNameLst>
                                          <p:attrName>style.visibility</p:attrName>
                                        </p:attrNameLst>
                                      </p:cBhvr>
                                      <p:to>
                                        <p:strVal val="visible"/>
                                      </p:to>
                                    </p:set>
                                    <p:anim calcmode="lin" valueType="num">
                                      <p:cBhvr additive="base">
                                        <p:cTn id="29" dur="500" fill="hold"/>
                                        <p:tgtEl>
                                          <p:spTgt spid="239619">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39619">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39619">
                                            <p:txEl>
                                              <p:pRg st="8" end="8"/>
                                            </p:txEl>
                                          </p:spTgt>
                                        </p:tgtEl>
                                        <p:attrNameLst>
                                          <p:attrName>style.visibility</p:attrName>
                                        </p:attrNameLst>
                                      </p:cBhvr>
                                      <p:to>
                                        <p:strVal val="visible"/>
                                      </p:to>
                                    </p:set>
                                    <p:anim calcmode="lin" valueType="num">
                                      <p:cBhvr additive="base">
                                        <p:cTn id="33" dur="500" fill="hold"/>
                                        <p:tgtEl>
                                          <p:spTgt spid="239619">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39619">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39619">
                                            <p:txEl>
                                              <p:pRg st="9" end="9"/>
                                            </p:txEl>
                                          </p:spTgt>
                                        </p:tgtEl>
                                        <p:attrNameLst>
                                          <p:attrName>style.visibility</p:attrName>
                                        </p:attrNameLst>
                                      </p:cBhvr>
                                      <p:to>
                                        <p:strVal val="visible"/>
                                      </p:to>
                                    </p:set>
                                    <p:anim calcmode="lin" valueType="num">
                                      <p:cBhvr additive="base">
                                        <p:cTn id="37" dur="500" fill="hold"/>
                                        <p:tgtEl>
                                          <p:spTgt spid="239619">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39619">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39619">
                                            <p:txEl>
                                              <p:pRg st="10" end="10"/>
                                            </p:txEl>
                                          </p:spTgt>
                                        </p:tgtEl>
                                        <p:attrNameLst>
                                          <p:attrName>style.visibility</p:attrName>
                                        </p:attrNameLst>
                                      </p:cBhvr>
                                      <p:to>
                                        <p:strVal val="visible"/>
                                      </p:to>
                                    </p:set>
                                    <p:anim calcmode="lin" valueType="num">
                                      <p:cBhvr additive="base">
                                        <p:cTn id="41" dur="500" fill="hold"/>
                                        <p:tgtEl>
                                          <p:spTgt spid="239619">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39619">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p:txBody>
          <a:bodyPr/>
          <a:lstStyle/>
          <a:p>
            <a:r>
              <a:rPr lang="zh-CN" altLang="en-US"/>
              <a:t>带有处理策略的</a:t>
            </a:r>
            <a:r>
              <a:rPr lang="en-US" altLang="zh-CN"/>
              <a:t>FOREIGN KEY</a:t>
            </a:r>
            <a:r>
              <a:rPr lang="zh-CN" altLang="en-US"/>
              <a:t>子句</a:t>
            </a:r>
          </a:p>
        </p:txBody>
      </p:sp>
      <p:sp>
        <p:nvSpPr>
          <p:cNvPr id="239619" name="Rectangle 3"/>
          <p:cNvSpPr>
            <a:spLocks noGrp="1" noChangeArrowheads="1"/>
          </p:cNvSpPr>
          <p:nvPr>
            <p:ph type="body" idx="1"/>
          </p:nvPr>
        </p:nvSpPr>
        <p:spPr>
          <a:xfrm>
            <a:off x="609600" y="1447800"/>
            <a:ext cx="8229600" cy="4684713"/>
          </a:xfrm>
        </p:spPr>
        <p:txBody>
          <a:bodyPr/>
          <a:lstStyle/>
          <a:p>
            <a:r>
              <a:rPr lang="zh-CN" altLang="en-US"/>
              <a:t>示例  </a:t>
            </a:r>
            <a:r>
              <a:rPr lang="zh-CN" altLang="en-US">
                <a:solidFill>
                  <a:srgbClr val="0000CC"/>
                </a:solidFill>
              </a:rPr>
              <a:t>带有违约处理的</a:t>
            </a:r>
            <a:r>
              <a:rPr lang="en-US" altLang="zh-CN">
                <a:solidFill>
                  <a:srgbClr val="0000CC"/>
                </a:solidFill>
              </a:rPr>
              <a:t>SC</a:t>
            </a:r>
            <a:r>
              <a:rPr lang="zh-CN" altLang="en-US">
                <a:solidFill>
                  <a:srgbClr val="0000CC"/>
                </a:solidFill>
              </a:rPr>
              <a:t>表外码</a:t>
            </a:r>
            <a:r>
              <a:rPr lang="zh-CN" altLang="en-US"/>
              <a:t>说明</a:t>
            </a:r>
          </a:p>
          <a:p>
            <a:endParaRPr lang="en-US" altLang="zh-CN" sz="1000"/>
          </a:p>
          <a:p>
            <a:pPr>
              <a:buFont typeface="Wingdings" pitchFamily="2" charset="2"/>
              <a:buNone/>
            </a:pPr>
            <a:r>
              <a:rPr lang="en-US" altLang="zh-CN" sz="2800"/>
              <a:t>	</a:t>
            </a:r>
            <a:endParaRPr lang="zh-CN" altLang="en-US" sz="2000" dirty="0">
              <a:solidFill>
                <a:srgbClr val="0000CC"/>
              </a:solidFill>
            </a:endParaRPr>
          </a:p>
        </p:txBody>
      </p:sp>
      <p:sp>
        <p:nvSpPr>
          <p:cNvPr id="7" name="Rectangle 3"/>
          <p:cNvSpPr txBox="1">
            <a:spLocks noChangeArrowheads="1"/>
          </p:cNvSpPr>
          <p:nvPr/>
        </p:nvSpPr>
        <p:spPr bwMode="auto">
          <a:xfrm>
            <a:off x="985870" y="2000240"/>
            <a:ext cx="8229600" cy="540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defRPr/>
            </a:pPr>
            <a:r>
              <a:rPr kumimoji="0" lang="en-US" altLang="zh-CN" sz="1800" b="0" i="0" u="none" strike="noStrike" kern="0" cap="none" spc="0" normalizeH="0" baseline="0" noProof="0" dirty="0">
                <a:ln>
                  <a:noFill/>
                </a:ln>
                <a:solidFill>
                  <a:schemeClr val="tx1"/>
                </a:solidFill>
                <a:effectLst/>
                <a:uLnTx/>
                <a:uFillTx/>
                <a:latin typeface="+mn-lt"/>
                <a:ea typeface="+mn-ea"/>
                <a:cs typeface="+mn-cs"/>
              </a:rPr>
              <a:t>CREATE TABLE SC</a:t>
            </a: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defRPr/>
            </a:pPr>
            <a:r>
              <a:rPr kumimoji="0" lang="en-US" altLang="zh-CN" sz="1800" b="0" i="0" u="none" strike="noStrike" kern="0" cap="none" spc="0" normalizeH="0" baseline="0" noProof="0" dirty="0">
                <a:ln>
                  <a:noFill/>
                </a:ln>
                <a:solidFill>
                  <a:schemeClr val="tx1"/>
                </a:solidFill>
                <a:effectLst/>
                <a:uLnTx/>
                <a:uFillTx/>
                <a:latin typeface="+mn-lt"/>
                <a:ea typeface="+mn-ea"/>
                <a:cs typeface="+mn-cs"/>
              </a:rPr>
              <a:t>        </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800" b="0" i="0" u="none" strike="noStrike" kern="0" cap="none" spc="0" normalizeH="0" baseline="0" noProof="0" dirty="0" err="1">
                <a:ln>
                  <a:noFill/>
                </a:ln>
                <a:solidFill>
                  <a:schemeClr val="tx1"/>
                </a:solidFill>
                <a:effectLst/>
                <a:uLnTx/>
                <a:uFillTx/>
                <a:latin typeface="+mn-lt"/>
                <a:ea typeface="+mn-ea"/>
                <a:cs typeface="+mn-cs"/>
              </a:rPr>
              <a:t>Sno</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   CHAR</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9</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  NOT NULL</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defRPr/>
            </a:pPr>
            <a:r>
              <a:rPr kumimoji="0" lang="zh-CN" altLang="en-US" sz="1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800" b="0" i="0" u="none" strike="noStrike" kern="0" cap="none" spc="0" normalizeH="0" baseline="0" noProof="0" dirty="0" err="1">
                <a:ln>
                  <a:noFill/>
                </a:ln>
                <a:solidFill>
                  <a:schemeClr val="tx1"/>
                </a:solidFill>
                <a:effectLst/>
                <a:uLnTx/>
                <a:uFillTx/>
                <a:latin typeface="+mn-lt"/>
                <a:ea typeface="+mn-ea"/>
                <a:cs typeface="+mn-cs"/>
              </a:rPr>
              <a:t>Cno</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   CHAR</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4</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  NOT NULL</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defRPr/>
            </a:pPr>
            <a:r>
              <a:rPr kumimoji="0" lang="zh-CN" altLang="en-US" sz="1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Grade  SMALLINT</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defRPr/>
            </a:pPr>
            <a:r>
              <a:rPr kumimoji="0" lang="zh-CN" altLang="en-US" sz="1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PRIMARY KEY</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0" cap="none" spc="0" normalizeH="0" baseline="0" noProof="0" dirty="0" err="1">
                <a:ln>
                  <a:noFill/>
                </a:ln>
                <a:solidFill>
                  <a:schemeClr val="tx1"/>
                </a:solidFill>
                <a:effectLst/>
                <a:uLnTx/>
                <a:uFillTx/>
                <a:latin typeface="+mn-lt"/>
                <a:ea typeface="+mn-ea"/>
                <a:cs typeface="+mn-cs"/>
              </a:rPr>
              <a:t>Sno</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0" cap="none" spc="0" normalizeH="0" baseline="0" noProof="0" dirty="0" err="1">
                <a:ln>
                  <a:noFill/>
                </a:ln>
                <a:solidFill>
                  <a:schemeClr val="tx1"/>
                </a:solidFill>
                <a:effectLst/>
                <a:uLnTx/>
                <a:uFillTx/>
                <a:latin typeface="+mn-lt"/>
                <a:ea typeface="+mn-ea"/>
                <a:cs typeface="+mn-cs"/>
              </a:rPr>
              <a:t>Cno</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 			</a:t>
            </a: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defRPr/>
            </a:pPr>
            <a:r>
              <a:rPr kumimoji="0" lang="zh-CN" altLang="en-US" sz="1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FOREIGN KEY </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0" cap="none" spc="0" normalizeH="0" baseline="0" noProof="0" dirty="0" err="1">
                <a:ln>
                  <a:noFill/>
                </a:ln>
                <a:solidFill>
                  <a:schemeClr val="tx1"/>
                </a:solidFill>
                <a:effectLst/>
                <a:uLnTx/>
                <a:uFillTx/>
                <a:latin typeface="+mn-lt"/>
                <a:ea typeface="+mn-ea"/>
                <a:cs typeface="+mn-cs"/>
              </a:rPr>
              <a:t>Sno</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 REFERENCES Student</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0" cap="none" spc="0" normalizeH="0" baseline="0" noProof="0" dirty="0" err="1">
                <a:ln>
                  <a:noFill/>
                </a:ln>
                <a:solidFill>
                  <a:schemeClr val="tx1"/>
                </a:solidFill>
                <a:effectLst/>
                <a:uLnTx/>
                <a:uFillTx/>
                <a:latin typeface="+mn-lt"/>
                <a:ea typeface="+mn-ea"/>
                <a:cs typeface="+mn-cs"/>
              </a:rPr>
              <a:t>Sno</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 </a:t>
            </a: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defRPr/>
            </a:pPr>
            <a:r>
              <a:rPr kumimoji="0" lang="en-US" altLang="zh-CN" sz="1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800" b="0" i="0" u="none" strike="noStrike" kern="0" cap="none" spc="0" normalizeH="0" baseline="0" noProof="0" dirty="0">
                <a:ln>
                  <a:noFill/>
                </a:ln>
                <a:solidFill>
                  <a:srgbClr val="0000FF"/>
                </a:solidFill>
                <a:effectLst/>
                <a:uLnTx/>
                <a:uFillTx/>
                <a:latin typeface="+mn-lt"/>
                <a:ea typeface="+mn-ea"/>
                <a:cs typeface="+mn-cs"/>
              </a:rPr>
              <a:t>ON DELETE CASCADE</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4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a:t>
            </a:r>
            <a:r>
              <a:rPr kumimoji="0" lang="zh-CN" altLang="en-US" sz="1600" b="0" i="0" u="none" strike="noStrike" kern="0" cap="none" spc="0" normalizeH="0" baseline="0" noProof="0" dirty="0">
                <a:ln>
                  <a:noFill/>
                </a:ln>
                <a:solidFill>
                  <a:srgbClr val="FF00FF"/>
                </a:solidFill>
                <a:effectLst/>
                <a:uLnTx/>
                <a:uFillTx/>
                <a:latin typeface="+mn-lt"/>
                <a:ea typeface="+mn-ea"/>
                <a:cs typeface="+mn-cs"/>
              </a:rPr>
              <a:t>级联删除</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SC</a:t>
            </a:r>
            <a:r>
              <a:rPr kumimoji="0" lang="zh-CN" altLang="en-US" sz="1600" b="0" i="0" u="none" strike="noStrike" kern="0" cap="none" spc="0" normalizeH="0" baseline="0" noProof="0" dirty="0">
                <a:ln>
                  <a:noFill/>
                </a:ln>
                <a:solidFill>
                  <a:schemeClr val="tx1"/>
                </a:solidFill>
                <a:effectLst/>
                <a:uLnTx/>
                <a:uFillTx/>
                <a:latin typeface="+mn-lt"/>
                <a:ea typeface="+mn-ea"/>
                <a:cs typeface="+mn-cs"/>
              </a:rPr>
              <a:t>表中相应的元组*</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a:t>
            </a:r>
            <a:endParaRPr kumimoji="0" lang="en-US" altLang="zh-CN" sz="14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defRPr/>
            </a:pPr>
            <a:r>
              <a:rPr kumimoji="0" lang="en-US" altLang="zh-CN" sz="1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800" kern="0" dirty="0">
                <a:solidFill>
                  <a:srgbClr val="0000FF"/>
                </a:solidFill>
                <a:latin typeface="+mn-lt"/>
                <a:ea typeface="+mn-ea"/>
                <a:cs typeface="+mn-cs"/>
              </a:rPr>
              <a:t>ON UPDATE CASCADE</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a:t>
            </a:r>
            <a:r>
              <a:rPr kumimoji="0" lang="zh-CN" altLang="en-US" sz="1600" b="0" i="0" u="none" strike="noStrike" kern="0" cap="none" spc="0" normalizeH="0" baseline="0" noProof="0" dirty="0">
                <a:ln>
                  <a:noFill/>
                </a:ln>
                <a:solidFill>
                  <a:srgbClr val="FF00FF"/>
                </a:solidFill>
                <a:effectLst/>
                <a:uLnTx/>
                <a:uFillTx/>
                <a:latin typeface="+mn-lt"/>
                <a:ea typeface="+mn-ea"/>
                <a:cs typeface="+mn-cs"/>
              </a:rPr>
              <a:t>级联更新</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SC</a:t>
            </a:r>
            <a:r>
              <a:rPr kumimoji="0" lang="zh-CN" altLang="en-US" sz="1600" b="0" i="0" u="none" strike="noStrike" kern="0" cap="none" spc="0" normalizeH="0" baseline="0" noProof="0" dirty="0">
                <a:ln>
                  <a:noFill/>
                </a:ln>
                <a:solidFill>
                  <a:schemeClr val="tx1"/>
                </a:solidFill>
                <a:effectLst/>
                <a:uLnTx/>
                <a:uFillTx/>
                <a:latin typeface="+mn-lt"/>
                <a:ea typeface="+mn-ea"/>
                <a:cs typeface="+mn-cs"/>
              </a:rPr>
              <a:t>表中相应的元组*</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defRPr/>
            </a:pPr>
            <a:r>
              <a:rPr kumimoji="0" lang="en-US" sz="1800" b="0" i="0" u="none" strike="noStrike" kern="0" cap="none" spc="0" normalizeH="0" baseline="0" noProof="0" dirty="0">
                <a:ln>
                  <a:noFill/>
                </a:ln>
                <a:solidFill>
                  <a:schemeClr val="tx1"/>
                </a:solidFill>
                <a:effectLst/>
                <a:uLnTx/>
                <a:uFillTx/>
                <a:latin typeface="+mn-lt"/>
                <a:ea typeface="+mn-ea"/>
                <a:cs typeface="+mn-cs"/>
              </a:rPr>
              <a:t>         </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FOREIGN KEY </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0" cap="none" spc="0" normalizeH="0" baseline="0" noProof="0" dirty="0" err="1">
                <a:ln>
                  <a:noFill/>
                </a:ln>
                <a:solidFill>
                  <a:schemeClr val="tx1"/>
                </a:solidFill>
                <a:effectLst/>
                <a:uLnTx/>
                <a:uFillTx/>
                <a:latin typeface="+mn-lt"/>
                <a:ea typeface="+mn-ea"/>
                <a:cs typeface="+mn-cs"/>
              </a:rPr>
              <a:t>Cno</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 REFERENCES Course</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0" cap="none" spc="0" normalizeH="0" baseline="0" noProof="0" dirty="0" err="1">
                <a:ln>
                  <a:noFill/>
                </a:ln>
                <a:solidFill>
                  <a:schemeClr val="tx1"/>
                </a:solidFill>
                <a:effectLst/>
                <a:uLnTx/>
                <a:uFillTx/>
                <a:latin typeface="+mn-lt"/>
                <a:ea typeface="+mn-ea"/>
                <a:cs typeface="+mn-cs"/>
              </a:rPr>
              <a:t>Cno</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	                    </a:t>
            </a: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defRPr/>
            </a:pPr>
            <a:r>
              <a:rPr kumimoji="0" lang="en-US" altLang="zh-CN" sz="1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800" kern="0" dirty="0">
                <a:solidFill>
                  <a:srgbClr val="0000FF"/>
                </a:solidFill>
                <a:latin typeface="+mn-lt"/>
                <a:ea typeface="+mn-ea"/>
                <a:cs typeface="+mn-cs"/>
              </a:rPr>
              <a:t>ON DELETE NO ACTION </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	</a:t>
            </a: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defRPr/>
            </a:pPr>
            <a:r>
              <a:rPr kumimoji="0" lang="en-US" altLang="zh-CN" sz="1600" b="0" i="0" u="none" strike="noStrike" kern="0" cap="none" spc="0" normalizeH="0" baseline="0" noProof="0" dirty="0">
                <a:ln>
                  <a:noFill/>
                </a:ln>
                <a:solidFill>
                  <a:schemeClr val="tx1"/>
                </a:solidFill>
                <a:effectLst/>
                <a:uLnTx/>
                <a:uFillTx/>
                <a:latin typeface="+mn-lt"/>
                <a:ea typeface="+mn-ea"/>
                <a:cs typeface="+mn-cs"/>
              </a:rPr>
              <a:t>                 /*</a:t>
            </a:r>
            <a:r>
              <a:rPr kumimoji="0" lang="zh-CN" altLang="en-US" sz="1600" b="0" i="0" u="none" strike="noStrike" kern="0" cap="none" spc="0" normalizeH="0" baseline="0" noProof="0" dirty="0">
                <a:ln>
                  <a:noFill/>
                </a:ln>
                <a:solidFill>
                  <a:schemeClr val="tx1"/>
                </a:solidFill>
                <a:effectLst/>
                <a:uLnTx/>
                <a:uFillTx/>
                <a:latin typeface="+mn-lt"/>
                <a:ea typeface="+mn-ea"/>
                <a:cs typeface="+mn-cs"/>
              </a:rPr>
              <a:t>当删除</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course </a:t>
            </a:r>
            <a:r>
              <a:rPr kumimoji="0" lang="zh-CN" altLang="en-US" sz="1600" b="0" i="0" u="none" strike="noStrike" kern="0" cap="none" spc="0" normalizeH="0" baseline="0" noProof="0" dirty="0">
                <a:ln>
                  <a:noFill/>
                </a:ln>
                <a:solidFill>
                  <a:schemeClr val="tx1"/>
                </a:solidFill>
                <a:effectLst/>
                <a:uLnTx/>
                <a:uFillTx/>
                <a:latin typeface="+mn-lt"/>
                <a:ea typeface="+mn-ea"/>
                <a:cs typeface="+mn-cs"/>
              </a:rPr>
              <a:t>表中的元组造成了与</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SC</a:t>
            </a:r>
            <a:r>
              <a:rPr kumimoji="0" lang="zh-CN" altLang="en-US" sz="1600" b="0" i="0" u="none" strike="noStrike" kern="0" cap="none" spc="0" normalizeH="0" baseline="0" noProof="0" dirty="0">
                <a:ln>
                  <a:noFill/>
                </a:ln>
                <a:solidFill>
                  <a:schemeClr val="tx1"/>
                </a:solidFill>
                <a:effectLst/>
                <a:uLnTx/>
                <a:uFillTx/>
                <a:latin typeface="+mn-lt"/>
                <a:ea typeface="+mn-ea"/>
                <a:cs typeface="+mn-cs"/>
              </a:rPr>
              <a:t>表不一致时</a:t>
            </a:r>
            <a:r>
              <a:rPr kumimoji="0" lang="zh-CN" altLang="en-US" sz="1600" b="0" i="0" u="none" strike="noStrike" kern="0" cap="none" spc="0" normalizeH="0" baseline="0" noProof="0" dirty="0">
                <a:ln>
                  <a:noFill/>
                </a:ln>
                <a:solidFill>
                  <a:srgbClr val="FF00FF"/>
                </a:solidFill>
                <a:effectLst/>
                <a:uLnTx/>
                <a:uFillTx/>
                <a:latin typeface="+mn-lt"/>
                <a:ea typeface="+mn-ea"/>
                <a:cs typeface="+mn-cs"/>
              </a:rPr>
              <a:t>拒绝删除</a:t>
            </a:r>
            <a:r>
              <a:rPr kumimoji="0" lang="zh-CN" altLang="en-US" sz="1600" b="0" i="0" u="none" strike="noStrike" kern="0" cap="none" spc="0" normalizeH="0" baseline="0" noProof="0" dirty="0">
                <a:ln>
                  <a:noFill/>
                </a:ln>
                <a:solidFill>
                  <a:schemeClr val="tx1"/>
                </a:solidFill>
                <a:effectLst/>
                <a:uLnTx/>
                <a:uFillTx/>
                <a:latin typeface="+mn-lt"/>
                <a:ea typeface="+mn-ea"/>
                <a:cs typeface="+mn-cs"/>
              </a:rPr>
              <a:t>*</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defRPr/>
            </a:pPr>
            <a:r>
              <a:rPr kumimoji="0" lang="en-US" sz="18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800" kern="0" dirty="0">
                <a:solidFill>
                  <a:srgbClr val="0000FF"/>
                </a:solidFill>
                <a:latin typeface="+mn-lt"/>
                <a:ea typeface="+mn-ea"/>
                <a:cs typeface="+mn-cs"/>
              </a:rPr>
              <a:t>ON UPDATE CASCADE   </a:t>
            </a: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defRPr/>
            </a:pPr>
            <a:r>
              <a:rPr kumimoji="0" lang="en-US" sz="1800" b="0" i="0" u="none" strike="noStrike" kern="0" cap="none" spc="0" normalizeH="0" baseline="0" noProof="0" dirty="0">
                <a:ln>
                  <a:noFill/>
                </a:ln>
                <a:solidFill>
                  <a:schemeClr val="tx1"/>
                </a:solidFill>
                <a:effectLst/>
                <a:uLnTx/>
                <a:uFillTx/>
                <a:latin typeface="+mn-lt"/>
                <a:ea typeface="+mn-ea"/>
                <a:cs typeface="+mn-cs"/>
              </a:rPr>
              <a:t>      	</a:t>
            </a:r>
            <a:r>
              <a:rPr kumimoji="0" lang="en-US" sz="1600" b="0" i="0" u="none" strike="noStrike" kern="0" cap="none" spc="0" normalizeH="0" baseline="0" noProof="0" dirty="0">
                <a:ln>
                  <a:noFill/>
                </a:ln>
                <a:solidFill>
                  <a:schemeClr val="tx1"/>
                </a:solidFill>
                <a:effectLst/>
                <a:uLnTx/>
                <a:uFillTx/>
                <a:latin typeface="+mn-lt"/>
                <a:ea typeface="+mn-ea"/>
                <a:cs typeface="+mn-cs"/>
              </a:rPr>
              <a:t>  </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a:t>
            </a:r>
            <a:r>
              <a:rPr kumimoji="0" lang="zh-CN" altLang="en-US" sz="1600" b="0" i="0" u="none" strike="noStrike" kern="0" cap="none" spc="0" normalizeH="0" baseline="0" noProof="0" dirty="0">
                <a:ln>
                  <a:noFill/>
                </a:ln>
                <a:solidFill>
                  <a:schemeClr val="tx1"/>
                </a:solidFill>
                <a:effectLst/>
                <a:uLnTx/>
                <a:uFillTx/>
                <a:latin typeface="+mn-lt"/>
                <a:ea typeface="+mn-ea"/>
                <a:cs typeface="+mn-cs"/>
              </a:rPr>
              <a:t>当更新</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course</a:t>
            </a:r>
            <a:r>
              <a:rPr kumimoji="0" lang="zh-CN" altLang="en-US" sz="1600" b="0" i="0" u="none" strike="noStrike" kern="0" cap="none" spc="0" normalizeH="0" baseline="0" noProof="0" dirty="0">
                <a:ln>
                  <a:noFill/>
                </a:ln>
                <a:solidFill>
                  <a:schemeClr val="tx1"/>
                </a:solidFill>
                <a:effectLst/>
                <a:uLnTx/>
                <a:uFillTx/>
                <a:latin typeface="+mn-lt"/>
                <a:ea typeface="+mn-ea"/>
                <a:cs typeface="+mn-cs"/>
              </a:rPr>
              <a:t>表中的</a:t>
            </a:r>
            <a:r>
              <a:rPr kumimoji="0" lang="en-US" altLang="zh-CN" sz="1600" b="0" i="0" u="none" strike="noStrike" kern="0" cap="none" spc="0" normalizeH="0" baseline="0" noProof="0" dirty="0" err="1">
                <a:ln>
                  <a:noFill/>
                </a:ln>
                <a:solidFill>
                  <a:schemeClr val="tx1"/>
                </a:solidFill>
                <a:effectLst/>
                <a:uLnTx/>
                <a:uFillTx/>
                <a:latin typeface="+mn-lt"/>
                <a:ea typeface="+mn-ea"/>
                <a:cs typeface="+mn-cs"/>
              </a:rPr>
              <a:t>cno</a:t>
            </a:r>
            <a:r>
              <a:rPr kumimoji="0" lang="zh-CN" altLang="en-US" sz="1600" b="0" i="0" u="none" strike="noStrike" kern="0" cap="none" spc="0" normalizeH="0" baseline="0" noProof="0" dirty="0">
                <a:ln>
                  <a:noFill/>
                </a:ln>
                <a:solidFill>
                  <a:schemeClr val="tx1"/>
                </a:solidFill>
                <a:effectLst/>
                <a:uLnTx/>
                <a:uFillTx/>
                <a:latin typeface="+mn-lt"/>
                <a:ea typeface="+mn-ea"/>
                <a:cs typeface="+mn-cs"/>
              </a:rPr>
              <a:t>时，</a:t>
            </a:r>
            <a:r>
              <a:rPr kumimoji="0" lang="zh-CN" altLang="en-US" sz="1600" b="0" i="0" u="none" strike="noStrike" kern="0" cap="none" spc="0" normalizeH="0" baseline="0" noProof="0" dirty="0">
                <a:ln>
                  <a:noFill/>
                </a:ln>
                <a:solidFill>
                  <a:srgbClr val="FF00FF"/>
                </a:solidFill>
                <a:effectLst/>
                <a:uLnTx/>
                <a:uFillTx/>
                <a:latin typeface="+mn-lt"/>
                <a:ea typeface="+mn-ea"/>
                <a:cs typeface="+mn-cs"/>
              </a:rPr>
              <a:t>级联更新</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SC</a:t>
            </a:r>
            <a:r>
              <a:rPr kumimoji="0" lang="zh-CN" altLang="en-US" sz="1600" b="0" i="0" u="none" strike="noStrike" kern="0" cap="none" spc="0" normalizeH="0" baseline="0" noProof="0" dirty="0">
                <a:ln>
                  <a:noFill/>
                </a:ln>
                <a:solidFill>
                  <a:schemeClr val="tx1"/>
                </a:solidFill>
                <a:effectLst/>
                <a:uLnTx/>
                <a:uFillTx/>
                <a:latin typeface="+mn-lt"/>
                <a:ea typeface="+mn-ea"/>
                <a:cs typeface="+mn-cs"/>
              </a:rPr>
              <a:t>表中相应的元组*</a:t>
            </a:r>
            <a:r>
              <a:rPr kumimoji="0" lang="en-US" altLang="zh-CN" sz="1600" b="0" i="0" u="none" strike="noStrike" kern="0" cap="none" spc="0" normalizeH="0" baseline="0" noProof="0" dirty="0">
                <a:ln>
                  <a:noFill/>
                </a:ln>
                <a:solidFill>
                  <a:schemeClr val="tx1"/>
                </a:solidFill>
                <a:effectLst/>
                <a:uLnTx/>
                <a:uFillTx/>
                <a:latin typeface="+mn-lt"/>
                <a:ea typeface="+mn-ea"/>
                <a:cs typeface="+mn-cs"/>
              </a:rPr>
              <a:t>/</a:t>
            </a:r>
            <a:endParaRPr kumimoji="0" lang="en-US" altLang="zh-CN" sz="18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folHlink"/>
              </a:buClr>
              <a:buSzPct val="60000"/>
              <a:buFont typeface="Wingdings" pitchFamily="2" charset="2"/>
              <a:buNone/>
              <a:tabLst/>
              <a:defRPr/>
            </a:pPr>
            <a:r>
              <a:rPr kumimoji="0" lang="en-US" altLang="zh-CN" sz="1400" b="0" i="0" u="none" strike="noStrike" kern="0" cap="none" spc="0" normalizeH="0" baseline="0" noProof="0" dirty="0">
                <a:ln>
                  <a:noFill/>
                </a:ln>
                <a:solidFill>
                  <a:schemeClr val="tx1"/>
                </a:solidFill>
                <a:effectLst/>
                <a:uLnTx/>
                <a:uFillTx/>
                <a:latin typeface="+mn-lt"/>
                <a:ea typeface="+mn-ea"/>
                <a:cs typeface="+mn-cs"/>
              </a:rPr>
              <a:t>        </a:t>
            </a:r>
            <a:r>
              <a:rPr kumimoji="0" lang="zh-CN" altLang="en-US" sz="1400" b="0" i="0" u="none" strike="noStrike" kern="0" cap="none" spc="0" normalizeH="0" baseline="0" noProof="0" dirty="0">
                <a:ln>
                  <a:noFill/>
                </a:ln>
                <a:solidFill>
                  <a:schemeClr val="tx1"/>
                </a:solidFill>
                <a:effectLst/>
                <a:uLnTx/>
                <a:uFillTx/>
                <a:latin typeface="+mn-lt"/>
                <a:ea typeface="+mn-ea"/>
                <a:cs typeface="+mn-cs"/>
              </a:rPr>
              <a:t>  </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 );</a:t>
            </a:r>
          </a:p>
        </p:txBody>
      </p:sp>
      <p:sp>
        <p:nvSpPr>
          <p:cNvPr id="11" name="日期占位符 10"/>
          <p:cNvSpPr>
            <a:spLocks noGrp="1"/>
          </p:cNvSpPr>
          <p:nvPr>
            <p:ph type="dt" sz="half" idx="10"/>
          </p:nvPr>
        </p:nvSpPr>
        <p:spPr/>
        <p:txBody>
          <a:bodyPr/>
          <a:lstStyle/>
          <a:p>
            <a:fld id="{40926D09-0EE7-4BA7-9D88-409EB6525B81}" type="datetime1">
              <a:rPr lang="zh-CN" altLang="en-US" smtClean="0"/>
              <a:t>2025/10/15</a:t>
            </a:fld>
            <a:endParaRPr lang="en-US" altLang="zh-CN"/>
          </a:p>
        </p:txBody>
      </p:sp>
      <p:sp>
        <p:nvSpPr>
          <p:cNvPr id="12" name="页脚占位符 11"/>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A066E9EE-3E3C-2EE2-5583-5B5C3A994BE9}"/>
              </a:ext>
            </a:extLst>
          </p:cNvPr>
          <p:cNvSpPr>
            <a:spLocks noGrp="1"/>
          </p:cNvSpPr>
          <p:nvPr>
            <p:ph type="sldNum" sz="quarter" idx="12"/>
          </p:nvPr>
        </p:nvSpPr>
        <p:spPr/>
        <p:txBody>
          <a:bodyPr/>
          <a:lstStyle/>
          <a:p>
            <a:pPr>
              <a:defRPr/>
            </a:pPr>
            <a:fld id="{E0CD82EA-F7BE-454B-A83E-18830F6C5424}" type="slidenum">
              <a:rPr lang="en-US" altLang="zh-CN" smtClean="0"/>
              <a:pPr>
                <a:defRPr/>
              </a:pPr>
              <a:t>84</a:t>
            </a:fld>
            <a:r>
              <a:rPr lang="en-US" altLang="zh-CN"/>
              <a:t>/138</a:t>
            </a:r>
            <a:endParaRPr lang="zh-CN" altLang="en-US" dirty="0"/>
          </a:p>
        </p:txBody>
      </p:sp>
    </p:spTree>
    <p:extLst>
      <p:ext uri="{BB962C8B-B14F-4D97-AF65-F5344CB8AC3E}">
        <p14:creationId xmlns:p14="http://schemas.microsoft.com/office/powerpoint/2010/main" val="26416634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9619">
                                            <p:txEl>
                                              <p:pRg st="2" end="2"/>
                                            </p:txEl>
                                          </p:spTgt>
                                        </p:tgtEl>
                                        <p:attrNameLst>
                                          <p:attrName>style.visibility</p:attrName>
                                        </p:attrNameLst>
                                      </p:cBhvr>
                                      <p:to>
                                        <p:strVal val="visible"/>
                                      </p:to>
                                    </p:set>
                                    <p:anim calcmode="lin" valueType="num">
                                      <p:cBhvr additive="base">
                                        <p:cTn id="7" dur="500" fill="hold"/>
                                        <p:tgtEl>
                                          <p:spTgt spid="23961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961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lstStyle/>
          <a:p>
            <a:r>
              <a:rPr lang="en-US" altLang="zh-CN" dirty="0"/>
              <a:t>4.4.6 </a:t>
            </a:r>
            <a:r>
              <a:rPr lang="zh-CN" altLang="en-US" dirty="0"/>
              <a:t>完整性约束</a:t>
            </a:r>
            <a:r>
              <a:rPr lang="zh-CN" altLang="en-US" b="1" dirty="0"/>
              <a:t>命名</a:t>
            </a:r>
            <a:r>
              <a:rPr lang="zh-CN" altLang="en-US" dirty="0"/>
              <a:t>子句</a:t>
            </a:r>
          </a:p>
        </p:txBody>
      </p:sp>
      <p:sp>
        <p:nvSpPr>
          <p:cNvPr id="246787" name="Rectangle 3"/>
          <p:cNvSpPr>
            <a:spLocks noGrp="1" noChangeArrowheads="1"/>
          </p:cNvSpPr>
          <p:nvPr>
            <p:ph type="body" idx="1"/>
          </p:nvPr>
        </p:nvSpPr>
        <p:spPr/>
        <p:txBody>
          <a:bodyPr/>
          <a:lstStyle/>
          <a:p>
            <a:r>
              <a:rPr lang="zh-CN" altLang="en-US" dirty="0"/>
              <a:t>完整性约束可</a:t>
            </a:r>
            <a:r>
              <a:rPr lang="zh-CN" altLang="en-US" u="sng" dirty="0"/>
              <a:t>显式命名</a:t>
            </a:r>
          </a:p>
          <a:p>
            <a:pPr lvl="1"/>
            <a:r>
              <a:rPr lang="en-US" altLang="zh-CN" dirty="0">
                <a:solidFill>
                  <a:srgbClr val="C00000"/>
                </a:solidFill>
              </a:rPr>
              <a:t>CONSTRAINT</a:t>
            </a:r>
            <a:r>
              <a:rPr lang="zh-CN" altLang="en-US" dirty="0"/>
              <a:t>子句</a:t>
            </a:r>
            <a:endParaRPr lang="en-US" altLang="zh-CN" dirty="0"/>
          </a:p>
          <a:p>
            <a:pPr marL="457200" lvl="1" indent="0">
              <a:buNone/>
            </a:pPr>
            <a:r>
              <a:rPr lang="en-US" altLang="zh-CN" dirty="0">
                <a:solidFill>
                  <a:srgbClr val="C00000"/>
                </a:solidFill>
              </a:rPr>
              <a:t>CONSTRAINT</a:t>
            </a:r>
            <a:r>
              <a:rPr lang="en-US" altLang="zh-CN" dirty="0"/>
              <a:t> &lt;</a:t>
            </a:r>
            <a:r>
              <a:rPr lang="zh-CN" altLang="en-US" dirty="0">
                <a:solidFill>
                  <a:srgbClr val="0000CC"/>
                </a:solidFill>
              </a:rPr>
              <a:t>完整性约束条件名</a:t>
            </a:r>
            <a:r>
              <a:rPr lang="en-US" altLang="zh-CN" dirty="0"/>
              <a:t>&gt; </a:t>
            </a:r>
            <a:r>
              <a:rPr lang="zh-CN" altLang="en-US" dirty="0"/>
              <a:t>［</a:t>
            </a:r>
            <a:r>
              <a:rPr lang="en-US" altLang="zh-CN" dirty="0"/>
              <a:t>PRIMARY KEY</a:t>
            </a:r>
            <a:r>
              <a:rPr lang="zh-CN" altLang="en-US" dirty="0"/>
              <a:t>短语 </a:t>
            </a:r>
            <a:r>
              <a:rPr lang="en-US" altLang="zh-CN" dirty="0"/>
              <a:t>|FOREIGN KEY</a:t>
            </a:r>
            <a:r>
              <a:rPr lang="zh-CN" altLang="en-US" dirty="0"/>
              <a:t>短语</a:t>
            </a:r>
            <a:r>
              <a:rPr lang="en-US" altLang="zh-CN" dirty="0"/>
              <a:t>|CHECK</a:t>
            </a:r>
            <a:r>
              <a:rPr lang="zh-CN" altLang="en-US" dirty="0"/>
              <a:t>短语</a:t>
            </a:r>
            <a:r>
              <a:rPr lang="en-US" altLang="zh-CN" dirty="0"/>
              <a:t>| NOT NULL | UNIQUE</a:t>
            </a:r>
            <a:r>
              <a:rPr lang="zh-CN" altLang="en-US" dirty="0"/>
              <a:t>］</a:t>
            </a:r>
            <a:endParaRPr lang="en-US" altLang="zh-CN" dirty="0"/>
          </a:p>
          <a:p>
            <a:pPr marL="457200" lvl="1" indent="0">
              <a:buNone/>
            </a:pPr>
            <a:endParaRPr lang="zh-CN" altLang="en-US" dirty="0"/>
          </a:p>
          <a:p>
            <a:pPr lvl="1"/>
            <a:r>
              <a:rPr lang="zh-CN" altLang="en-US" dirty="0">
                <a:solidFill>
                  <a:srgbClr val="C00000"/>
                </a:solidFill>
              </a:rPr>
              <a:t>方便</a:t>
            </a:r>
            <a:r>
              <a:rPr lang="zh-CN" altLang="en-US" dirty="0"/>
              <a:t>用</a:t>
            </a:r>
            <a:r>
              <a:rPr lang="en-US" altLang="zh-CN" dirty="0">
                <a:solidFill>
                  <a:srgbClr val="0000CC"/>
                </a:solidFill>
              </a:rPr>
              <a:t>ALTER TABLE</a:t>
            </a:r>
            <a:r>
              <a:rPr lang="zh-CN" altLang="en-US" dirty="0"/>
              <a:t>语句修改约束</a:t>
            </a:r>
          </a:p>
          <a:p>
            <a:pPr lvl="2"/>
            <a:r>
              <a:rPr lang="en-US" altLang="zh-CN" sz="2800" dirty="0">
                <a:solidFill>
                  <a:srgbClr val="F40000"/>
                </a:solidFill>
              </a:rPr>
              <a:t>ADD CONSTRAINT </a:t>
            </a:r>
            <a:r>
              <a:rPr lang="zh-CN" altLang="en-US" sz="2800" b="1" dirty="0">
                <a:solidFill>
                  <a:srgbClr val="F40000"/>
                </a:solidFill>
              </a:rPr>
              <a:t>增加</a:t>
            </a:r>
            <a:r>
              <a:rPr lang="zh-CN" altLang="en-US" sz="2800" dirty="0"/>
              <a:t>约束</a:t>
            </a:r>
          </a:p>
          <a:p>
            <a:pPr lvl="2"/>
            <a:r>
              <a:rPr lang="en-US" altLang="zh-CN" sz="2800" dirty="0">
                <a:solidFill>
                  <a:srgbClr val="F40000"/>
                </a:solidFill>
              </a:rPr>
              <a:t>DROP CONSTRAINT </a:t>
            </a:r>
            <a:r>
              <a:rPr lang="zh-CN" altLang="en-US" sz="2800" b="1" dirty="0">
                <a:solidFill>
                  <a:srgbClr val="F40000"/>
                </a:solidFill>
              </a:rPr>
              <a:t>删除</a:t>
            </a:r>
            <a:r>
              <a:rPr lang="zh-CN" altLang="en-US" sz="2800" dirty="0"/>
              <a:t>约束</a:t>
            </a:r>
          </a:p>
        </p:txBody>
      </p:sp>
      <p:sp>
        <p:nvSpPr>
          <p:cNvPr id="10" name="日期占位符 9"/>
          <p:cNvSpPr>
            <a:spLocks noGrp="1"/>
          </p:cNvSpPr>
          <p:nvPr>
            <p:ph type="dt" sz="half" idx="10"/>
          </p:nvPr>
        </p:nvSpPr>
        <p:spPr/>
        <p:txBody>
          <a:bodyPr/>
          <a:lstStyle/>
          <a:p>
            <a:fld id="{F577FF98-8AC1-48EE-9BE0-0E09A91769F0}"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AE7353F0-D0DF-3587-D00E-BD1E9197ECDE}"/>
              </a:ext>
            </a:extLst>
          </p:cNvPr>
          <p:cNvSpPr>
            <a:spLocks noGrp="1"/>
          </p:cNvSpPr>
          <p:nvPr>
            <p:ph type="sldNum" sz="quarter" idx="12"/>
          </p:nvPr>
        </p:nvSpPr>
        <p:spPr/>
        <p:txBody>
          <a:bodyPr/>
          <a:lstStyle/>
          <a:p>
            <a:pPr>
              <a:defRPr/>
            </a:pPr>
            <a:fld id="{E0CD82EA-F7BE-454B-A83E-18830F6C5424}" type="slidenum">
              <a:rPr lang="en-US" altLang="zh-CN" smtClean="0"/>
              <a:pPr>
                <a:defRPr/>
              </a:pPr>
              <a:t>85</a:t>
            </a:fld>
            <a:r>
              <a:rPr lang="en-US" altLang="zh-CN"/>
              <a:t>/138</a:t>
            </a:r>
            <a:endParaRPr lang="zh-CN" altLang="en-US" dirty="0"/>
          </a:p>
        </p:txBody>
      </p:sp>
    </p:spTree>
    <p:extLst>
      <p:ext uri="{BB962C8B-B14F-4D97-AF65-F5344CB8AC3E}">
        <p14:creationId xmlns:p14="http://schemas.microsoft.com/office/powerpoint/2010/main" val="24108499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6787">
                                            <p:txEl>
                                              <p:pRg st="0" end="0"/>
                                            </p:txEl>
                                          </p:spTgt>
                                        </p:tgtEl>
                                        <p:attrNameLst>
                                          <p:attrName>style.visibility</p:attrName>
                                        </p:attrNameLst>
                                      </p:cBhvr>
                                      <p:to>
                                        <p:strVal val="visible"/>
                                      </p:to>
                                    </p:set>
                                    <p:anim calcmode="lin" valueType="num">
                                      <p:cBhvr additive="base">
                                        <p:cTn id="7" dur="500" fill="hold"/>
                                        <p:tgtEl>
                                          <p:spTgt spid="2467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67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6787">
                                            <p:txEl>
                                              <p:pRg st="1" end="1"/>
                                            </p:txEl>
                                          </p:spTgt>
                                        </p:tgtEl>
                                        <p:attrNameLst>
                                          <p:attrName>style.visibility</p:attrName>
                                        </p:attrNameLst>
                                      </p:cBhvr>
                                      <p:to>
                                        <p:strVal val="visible"/>
                                      </p:to>
                                    </p:set>
                                    <p:anim calcmode="lin" valueType="num">
                                      <p:cBhvr additive="base">
                                        <p:cTn id="13" dur="500" fill="hold"/>
                                        <p:tgtEl>
                                          <p:spTgt spid="2467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678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46787">
                                            <p:txEl>
                                              <p:pRg st="2" end="2"/>
                                            </p:txEl>
                                          </p:spTgt>
                                        </p:tgtEl>
                                        <p:attrNameLst>
                                          <p:attrName>style.visibility</p:attrName>
                                        </p:attrNameLst>
                                      </p:cBhvr>
                                      <p:to>
                                        <p:strVal val="visible"/>
                                      </p:to>
                                    </p:set>
                                    <p:anim calcmode="lin" valueType="num">
                                      <p:cBhvr additive="base">
                                        <p:cTn id="17" dur="500" fill="hold"/>
                                        <p:tgtEl>
                                          <p:spTgt spid="24678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467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46787">
                                            <p:txEl>
                                              <p:pRg st="4" end="4"/>
                                            </p:txEl>
                                          </p:spTgt>
                                        </p:tgtEl>
                                        <p:attrNameLst>
                                          <p:attrName>style.visibility</p:attrName>
                                        </p:attrNameLst>
                                      </p:cBhvr>
                                      <p:to>
                                        <p:strVal val="visible"/>
                                      </p:to>
                                    </p:set>
                                    <p:anim calcmode="lin" valueType="num">
                                      <p:cBhvr additive="base">
                                        <p:cTn id="23" dur="500" fill="hold"/>
                                        <p:tgtEl>
                                          <p:spTgt spid="24678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4678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46787">
                                            <p:txEl>
                                              <p:pRg st="5" end="5"/>
                                            </p:txEl>
                                          </p:spTgt>
                                        </p:tgtEl>
                                        <p:attrNameLst>
                                          <p:attrName>style.visibility</p:attrName>
                                        </p:attrNameLst>
                                      </p:cBhvr>
                                      <p:to>
                                        <p:strVal val="visible"/>
                                      </p:to>
                                    </p:set>
                                    <p:anim calcmode="lin" valueType="num">
                                      <p:cBhvr additive="base">
                                        <p:cTn id="27" dur="500" fill="hold"/>
                                        <p:tgtEl>
                                          <p:spTgt spid="24678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46787">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46787">
                                            <p:txEl>
                                              <p:pRg st="6" end="6"/>
                                            </p:txEl>
                                          </p:spTgt>
                                        </p:tgtEl>
                                        <p:attrNameLst>
                                          <p:attrName>style.visibility</p:attrName>
                                        </p:attrNameLst>
                                      </p:cBhvr>
                                      <p:to>
                                        <p:strVal val="visible"/>
                                      </p:to>
                                    </p:set>
                                    <p:anim calcmode="lin" valueType="num">
                                      <p:cBhvr additive="base">
                                        <p:cTn id="31" dur="500" fill="hold"/>
                                        <p:tgtEl>
                                          <p:spTgt spid="24678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678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lstStyle/>
          <a:p>
            <a:r>
              <a:rPr lang="en-US" altLang="zh-CN" dirty="0"/>
              <a:t>4.4.6 </a:t>
            </a:r>
            <a:r>
              <a:rPr lang="zh-CN" altLang="en-US" dirty="0"/>
              <a:t>完整性约束</a:t>
            </a:r>
            <a:r>
              <a:rPr lang="zh-CN" altLang="en-US" b="1" dirty="0"/>
              <a:t>命名</a:t>
            </a:r>
            <a:r>
              <a:rPr lang="zh-CN" altLang="en-US" dirty="0"/>
              <a:t>子句</a:t>
            </a:r>
          </a:p>
        </p:txBody>
      </p:sp>
      <p:sp>
        <p:nvSpPr>
          <p:cNvPr id="8" name="Rectangle 3"/>
          <p:cNvSpPr txBox="1">
            <a:spLocks noChangeArrowheads="1"/>
          </p:cNvSpPr>
          <p:nvPr/>
        </p:nvSpPr>
        <p:spPr bwMode="auto">
          <a:xfrm>
            <a:off x="533400" y="1371600"/>
            <a:ext cx="82296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lnSpc>
                <a:spcPct val="80000"/>
              </a:lnSpc>
              <a:buFont typeface="Wingdings" pitchFamily="2" charset="2"/>
              <a:buNone/>
            </a:pPr>
            <a:r>
              <a:rPr kumimoji="0" lang="zh-CN" altLang="en-US" sz="2000" kern="0" dirty="0">
                <a:ea typeface="宋体" charset="-122"/>
              </a:rPr>
              <a:t>［例</a:t>
            </a:r>
            <a:r>
              <a:rPr kumimoji="0" lang="en-US" altLang="zh-CN" sz="2000" kern="0" dirty="0">
                <a:ea typeface="宋体" charset="-122"/>
              </a:rPr>
              <a:t>10</a:t>
            </a:r>
            <a:r>
              <a:rPr kumimoji="0" lang="zh-CN" altLang="en-US" sz="2000" kern="0" dirty="0">
                <a:ea typeface="宋体" charset="-122"/>
              </a:rPr>
              <a:t>］  建立学生登记表</a:t>
            </a:r>
            <a:r>
              <a:rPr kumimoji="0" lang="en-US" altLang="zh-CN" sz="2000" kern="0" dirty="0">
                <a:ea typeface="宋体" charset="-122"/>
              </a:rPr>
              <a:t>Student</a:t>
            </a:r>
            <a:r>
              <a:rPr kumimoji="0" lang="zh-CN" altLang="en-US" sz="2000" kern="0" dirty="0">
                <a:ea typeface="宋体" charset="-122"/>
              </a:rPr>
              <a:t>，要求学号在</a:t>
            </a:r>
            <a:r>
              <a:rPr kumimoji="0" lang="en-US" altLang="zh-CN" sz="2000" kern="0" dirty="0">
                <a:ea typeface="宋体" charset="-122"/>
              </a:rPr>
              <a:t>90000~99999</a:t>
            </a:r>
            <a:r>
              <a:rPr kumimoji="0" lang="zh-CN" altLang="en-US" sz="2000" kern="0" dirty="0">
                <a:ea typeface="宋体" charset="-122"/>
              </a:rPr>
              <a:t>之间，姓名不能取空值，年龄小于</a:t>
            </a:r>
            <a:r>
              <a:rPr kumimoji="0" lang="en-US" altLang="zh-CN" sz="2000" kern="0" dirty="0">
                <a:ea typeface="宋体" charset="-122"/>
              </a:rPr>
              <a:t>30</a:t>
            </a:r>
            <a:r>
              <a:rPr kumimoji="0" lang="zh-CN" altLang="en-US" sz="2000" kern="0" dirty="0">
                <a:ea typeface="宋体" charset="-122"/>
              </a:rPr>
              <a:t>，性别只能是“男”或“女”。</a:t>
            </a:r>
          </a:p>
          <a:p>
            <a:pPr>
              <a:lnSpc>
                <a:spcPct val="80000"/>
              </a:lnSpc>
              <a:buFont typeface="Wingdings" pitchFamily="2" charset="2"/>
              <a:buNone/>
            </a:pPr>
            <a:r>
              <a:rPr kumimoji="0" lang="zh-CN" altLang="en-US" sz="2000" kern="0" dirty="0">
                <a:ea typeface="宋体" charset="-122"/>
              </a:rPr>
              <a:t>    </a:t>
            </a:r>
            <a:r>
              <a:rPr kumimoji="0" lang="en-US" altLang="zh-CN" sz="2000" kern="0" dirty="0">
                <a:ea typeface="宋体" charset="-122"/>
              </a:rPr>
              <a:t>CREATE TABLE Student</a:t>
            </a:r>
          </a:p>
          <a:p>
            <a:pPr>
              <a:lnSpc>
                <a:spcPct val="80000"/>
              </a:lnSpc>
              <a:buFont typeface="Wingdings" pitchFamily="2" charset="2"/>
              <a:buNone/>
            </a:pPr>
            <a:r>
              <a:rPr kumimoji="0" lang="en-US" altLang="zh-CN" sz="2000" kern="0" dirty="0">
                <a:ea typeface="宋体" charset="-122"/>
              </a:rPr>
              <a:t>      (</a:t>
            </a:r>
            <a:r>
              <a:rPr kumimoji="0" lang="en-US" altLang="zh-CN" sz="2000" kern="0" dirty="0" err="1">
                <a:ea typeface="宋体" charset="-122"/>
              </a:rPr>
              <a:t>Sno</a:t>
            </a:r>
            <a:r>
              <a:rPr kumimoji="0" lang="en-US" altLang="zh-CN" sz="2000" kern="0" dirty="0">
                <a:ea typeface="宋体" charset="-122"/>
              </a:rPr>
              <a:t>  NUMERIC(6)</a:t>
            </a:r>
          </a:p>
          <a:p>
            <a:pPr>
              <a:lnSpc>
                <a:spcPct val="80000"/>
              </a:lnSpc>
              <a:buFont typeface="Wingdings" pitchFamily="2" charset="2"/>
              <a:buNone/>
            </a:pPr>
            <a:r>
              <a:rPr kumimoji="0" lang="en-US" altLang="zh-CN" sz="2000" kern="0" dirty="0">
                <a:ea typeface="宋体" charset="-122"/>
              </a:rPr>
              <a:t>        </a:t>
            </a:r>
            <a:r>
              <a:rPr kumimoji="0" lang="en-US" altLang="zh-CN" sz="2000" kern="0" dirty="0">
                <a:solidFill>
                  <a:srgbClr val="0000CC"/>
                </a:solidFill>
                <a:ea typeface="宋体" charset="-122"/>
              </a:rPr>
              <a:t>CONSTRAINT C1 CHECK (</a:t>
            </a:r>
            <a:r>
              <a:rPr kumimoji="0" lang="en-US" altLang="zh-CN" sz="2000" kern="0" dirty="0" err="1">
                <a:solidFill>
                  <a:srgbClr val="0000CC"/>
                </a:solidFill>
                <a:ea typeface="宋体" charset="-122"/>
              </a:rPr>
              <a:t>Sno</a:t>
            </a:r>
            <a:r>
              <a:rPr kumimoji="0" lang="en-US" altLang="zh-CN" sz="2000" kern="0" dirty="0">
                <a:solidFill>
                  <a:srgbClr val="0000CC"/>
                </a:solidFill>
                <a:ea typeface="宋体" charset="-122"/>
              </a:rPr>
              <a:t> BETWEEN 90000 AND 99999)</a:t>
            </a:r>
            <a:r>
              <a:rPr kumimoji="0" lang="zh-CN" altLang="en-US" sz="2000" kern="0" dirty="0">
                <a:ea typeface="宋体" charset="-122"/>
              </a:rPr>
              <a:t>，</a:t>
            </a:r>
          </a:p>
          <a:p>
            <a:pPr>
              <a:lnSpc>
                <a:spcPct val="80000"/>
              </a:lnSpc>
              <a:buFont typeface="Wingdings" pitchFamily="2" charset="2"/>
              <a:buNone/>
            </a:pPr>
            <a:r>
              <a:rPr kumimoji="0" lang="zh-CN" altLang="en-US" sz="2000" kern="0" dirty="0">
                <a:ea typeface="宋体" charset="-122"/>
              </a:rPr>
              <a:t>        </a:t>
            </a:r>
            <a:r>
              <a:rPr kumimoji="0" lang="en-US" altLang="zh-CN" sz="2000" kern="0" dirty="0" err="1">
                <a:ea typeface="宋体" charset="-122"/>
              </a:rPr>
              <a:t>Sname</a:t>
            </a:r>
            <a:r>
              <a:rPr kumimoji="0" lang="en-US" altLang="zh-CN" sz="2000" kern="0" dirty="0">
                <a:ea typeface="宋体" charset="-122"/>
              </a:rPr>
              <a:t>  CHAR(20)  </a:t>
            </a:r>
          </a:p>
          <a:p>
            <a:pPr>
              <a:lnSpc>
                <a:spcPct val="80000"/>
              </a:lnSpc>
              <a:buFont typeface="Wingdings" pitchFamily="2" charset="2"/>
              <a:buNone/>
            </a:pPr>
            <a:r>
              <a:rPr kumimoji="0" lang="en-US" altLang="zh-CN" sz="2000" kern="0" dirty="0">
                <a:ea typeface="宋体" charset="-122"/>
              </a:rPr>
              <a:t>        </a:t>
            </a:r>
            <a:r>
              <a:rPr kumimoji="0" lang="en-US" altLang="zh-CN" sz="2000" kern="0" dirty="0">
                <a:solidFill>
                  <a:srgbClr val="0000CC"/>
                </a:solidFill>
                <a:ea typeface="宋体" charset="-122"/>
              </a:rPr>
              <a:t>CONSTRAINT C2 NOT NULL</a:t>
            </a:r>
            <a:r>
              <a:rPr kumimoji="0" lang="zh-CN" altLang="en-US" sz="2000" kern="0" dirty="0">
                <a:ea typeface="宋体" charset="-122"/>
              </a:rPr>
              <a:t>，</a:t>
            </a:r>
          </a:p>
          <a:p>
            <a:pPr>
              <a:lnSpc>
                <a:spcPct val="80000"/>
              </a:lnSpc>
              <a:buFont typeface="Wingdings" pitchFamily="2" charset="2"/>
              <a:buNone/>
            </a:pPr>
            <a:r>
              <a:rPr kumimoji="0" lang="zh-CN" altLang="en-US" sz="2000" kern="0" dirty="0">
                <a:ea typeface="宋体" charset="-122"/>
              </a:rPr>
              <a:t>        </a:t>
            </a:r>
            <a:r>
              <a:rPr kumimoji="0" lang="en-US" altLang="zh-CN" sz="2000" kern="0" dirty="0">
                <a:ea typeface="宋体" charset="-122"/>
              </a:rPr>
              <a:t>Sage  NUMERIC(3)</a:t>
            </a:r>
          </a:p>
          <a:p>
            <a:pPr>
              <a:lnSpc>
                <a:spcPct val="80000"/>
              </a:lnSpc>
              <a:buFont typeface="Wingdings" pitchFamily="2" charset="2"/>
              <a:buNone/>
            </a:pPr>
            <a:r>
              <a:rPr kumimoji="0" lang="en-US" altLang="zh-CN" sz="2000" kern="0" dirty="0">
                <a:solidFill>
                  <a:srgbClr val="0000CC"/>
                </a:solidFill>
                <a:ea typeface="宋体" charset="-122"/>
              </a:rPr>
              <a:t>        CONSTRAINT C3 CHECK (Sage &lt; 30)</a:t>
            </a:r>
            <a:r>
              <a:rPr kumimoji="0" lang="zh-CN" altLang="en-US" sz="2000" kern="0" dirty="0">
                <a:ea typeface="宋体" charset="-122"/>
              </a:rPr>
              <a:t>，</a:t>
            </a:r>
          </a:p>
          <a:p>
            <a:pPr>
              <a:lnSpc>
                <a:spcPct val="80000"/>
              </a:lnSpc>
              <a:buFont typeface="Wingdings" pitchFamily="2" charset="2"/>
              <a:buNone/>
            </a:pPr>
            <a:r>
              <a:rPr kumimoji="0" lang="zh-CN" altLang="en-US" sz="2000" kern="0" dirty="0">
                <a:ea typeface="宋体" charset="-122"/>
              </a:rPr>
              <a:t>        </a:t>
            </a:r>
            <a:r>
              <a:rPr kumimoji="0" lang="en-US" altLang="zh-CN" sz="2000" kern="0" dirty="0" err="1">
                <a:ea typeface="宋体" charset="-122"/>
              </a:rPr>
              <a:t>Ssex</a:t>
            </a:r>
            <a:r>
              <a:rPr kumimoji="0" lang="en-US" altLang="zh-CN" sz="2000" kern="0" dirty="0">
                <a:ea typeface="宋体" charset="-122"/>
              </a:rPr>
              <a:t>  CHAR(2)</a:t>
            </a:r>
          </a:p>
          <a:p>
            <a:pPr>
              <a:lnSpc>
                <a:spcPct val="80000"/>
              </a:lnSpc>
              <a:buFont typeface="Wingdings" pitchFamily="2" charset="2"/>
              <a:buNone/>
            </a:pPr>
            <a:r>
              <a:rPr kumimoji="0" lang="en-US" altLang="zh-CN" sz="2000" kern="0" dirty="0">
                <a:ea typeface="宋体" charset="-122"/>
              </a:rPr>
              <a:t>        </a:t>
            </a:r>
            <a:r>
              <a:rPr kumimoji="0" lang="en-US" altLang="zh-CN" sz="2000" kern="0" dirty="0">
                <a:solidFill>
                  <a:srgbClr val="0000CC"/>
                </a:solidFill>
                <a:ea typeface="宋体" charset="-122"/>
              </a:rPr>
              <a:t>CONSTRAINT C4 CHECK (</a:t>
            </a:r>
            <a:r>
              <a:rPr kumimoji="0" lang="en-US" altLang="zh-CN" sz="2000" kern="0" dirty="0" err="1">
                <a:solidFill>
                  <a:srgbClr val="0000CC"/>
                </a:solidFill>
                <a:ea typeface="宋体" charset="-122"/>
              </a:rPr>
              <a:t>Ssex</a:t>
            </a:r>
            <a:r>
              <a:rPr kumimoji="0" lang="en-US" altLang="zh-CN" sz="2000" kern="0" dirty="0">
                <a:solidFill>
                  <a:srgbClr val="0000CC"/>
                </a:solidFill>
                <a:ea typeface="宋体" charset="-122"/>
              </a:rPr>
              <a:t> IN ( '</a:t>
            </a:r>
            <a:r>
              <a:rPr kumimoji="0" lang="zh-CN" altLang="en-US" sz="2000" kern="0" dirty="0">
                <a:solidFill>
                  <a:srgbClr val="0000CC"/>
                </a:solidFill>
                <a:ea typeface="宋体" charset="-122"/>
              </a:rPr>
              <a:t>男</a:t>
            </a:r>
            <a:r>
              <a:rPr kumimoji="0" lang="en-US" altLang="zh-CN" sz="2000" kern="0" dirty="0">
                <a:solidFill>
                  <a:srgbClr val="0000CC"/>
                </a:solidFill>
                <a:ea typeface="宋体" charset="-122"/>
              </a:rPr>
              <a:t>'</a:t>
            </a:r>
            <a:r>
              <a:rPr kumimoji="0" lang="zh-CN" altLang="en-US" sz="2000" kern="0" dirty="0">
                <a:solidFill>
                  <a:srgbClr val="0000CC"/>
                </a:solidFill>
                <a:ea typeface="宋体" charset="-122"/>
              </a:rPr>
              <a:t>，</a:t>
            </a:r>
            <a:r>
              <a:rPr kumimoji="0" lang="en-US" altLang="zh-CN" sz="2000" kern="0" dirty="0">
                <a:solidFill>
                  <a:srgbClr val="0000CC"/>
                </a:solidFill>
                <a:ea typeface="宋体" charset="-122"/>
              </a:rPr>
              <a:t>'</a:t>
            </a:r>
            <a:r>
              <a:rPr kumimoji="0" lang="zh-CN" altLang="en-US" sz="2000" kern="0" dirty="0">
                <a:solidFill>
                  <a:srgbClr val="0000CC"/>
                </a:solidFill>
                <a:ea typeface="宋体" charset="-122"/>
              </a:rPr>
              <a:t>女</a:t>
            </a:r>
            <a:r>
              <a:rPr kumimoji="0" lang="en-US" altLang="zh-CN" sz="2000" kern="0" dirty="0">
                <a:solidFill>
                  <a:srgbClr val="0000CC"/>
                </a:solidFill>
                <a:ea typeface="宋体" charset="-122"/>
              </a:rPr>
              <a:t>'))</a:t>
            </a:r>
            <a:r>
              <a:rPr kumimoji="0" lang="zh-CN" altLang="en-US" sz="2000" kern="0" dirty="0">
                <a:solidFill>
                  <a:srgbClr val="0000CC"/>
                </a:solidFill>
                <a:ea typeface="宋体" charset="-122"/>
              </a:rPr>
              <a:t>，</a:t>
            </a:r>
          </a:p>
          <a:p>
            <a:pPr>
              <a:lnSpc>
                <a:spcPct val="80000"/>
              </a:lnSpc>
              <a:buFont typeface="Wingdings" pitchFamily="2" charset="2"/>
              <a:buNone/>
            </a:pPr>
            <a:r>
              <a:rPr kumimoji="0" lang="zh-CN" altLang="en-US" sz="2000" kern="0" dirty="0">
                <a:solidFill>
                  <a:srgbClr val="0000CC"/>
                </a:solidFill>
                <a:ea typeface="宋体" charset="-122"/>
              </a:rPr>
              <a:t>        </a:t>
            </a:r>
            <a:r>
              <a:rPr kumimoji="0" lang="en-US" altLang="zh-CN" sz="2000" kern="0" dirty="0">
                <a:solidFill>
                  <a:srgbClr val="0000CC"/>
                </a:solidFill>
                <a:ea typeface="宋体" charset="-122"/>
              </a:rPr>
              <a:t>CONSTRAINT </a:t>
            </a:r>
            <a:r>
              <a:rPr kumimoji="0" lang="en-US" altLang="zh-CN" sz="2000" kern="0" dirty="0" err="1">
                <a:solidFill>
                  <a:srgbClr val="0000CC"/>
                </a:solidFill>
                <a:ea typeface="宋体" charset="-122"/>
              </a:rPr>
              <a:t>StudentKey</a:t>
            </a:r>
            <a:r>
              <a:rPr kumimoji="0" lang="en-US" altLang="zh-CN" sz="2000" kern="0" dirty="0">
                <a:solidFill>
                  <a:srgbClr val="0000CC"/>
                </a:solidFill>
                <a:ea typeface="宋体" charset="-122"/>
              </a:rPr>
              <a:t> PRIMARY KEY(</a:t>
            </a:r>
            <a:r>
              <a:rPr kumimoji="0" lang="en-US" altLang="zh-CN" sz="2000" kern="0" dirty="0" err="1">
                <a:solidFill>
                  <a:srgbClr val="0000CC"/>
                </a:solidFill>
                <a:ea typeface="宋体" charset="-122"/>
              </a:rPr>
              <a:t>Sno</a:t>
            </a:r>
            <a:r>
              <a:rPr kumimoji="0" lang="en-US" altLang="zh-CN" sz="2000" kern="0" dirty="0">
                <a:solidFill>
                  <a:srgbClr val="0000CC"/>
                </a:solidFill>
                <a:ea typeface="宋体" charset="-122"/>
              </a:rPr>
              <a:t>)</a:t>
            </a:r>
          </a:p>
          <a:p>
            <a:pPr>
              <a:lnSpc>
                <a:spcPct val="80000"/>
              </a:lnSpc>
              <a:buFont typeface="Wingdings" pitchFamily="2" charset="2"/>
              <a:buNone/>
            </a:pPr>
            <a:r>
              <a:rPr kumimoji="0" lang="en-US" altLang="zh-CN" sz="2000" kern="0" dirty="0">
                <a:ea typeface="宋体" charset="-122"/>
              </a:rPr>
              <a:t>      )</a:t>
            </a:r>
            <a:r>
              <a:rPr kumimoji="0" lang="zh-CN" altLang="en-US" sz="2000" kern="0" dirty="0">
                <a:ea typeface="宋体" charset="-122"/>
              </a:rPr>
              <a:t>；</a:t>
            </a:r>
            <a:endParaRPr kumimoji="0" lang="en-US" altLang="zh-CN" sz="2000" kern="0" dirty="0">
              <a:ea typeface="宋体" charset="-122"/>
            </a:endParaRPr>
          </a:p>
          <a:p>
            <a:pPr>
              <a:lnSpc>
                <a:spcPct val="80000"/>
              </a:lnSpc>
              <a:buFont typeface="Wingdings" pitchFamily="2" charset="2"/>
              <a:buNone/>
            </a:pPr>
            <a:endParaRPr kumimoji="0" lang="en-US" altLang="zh-CN" sz="2000" kern="0" dirty="0">
              <a:ea typeface="宋体" charset="-122"/>
            </a:endParaRPr>
          </a:p>
          <a:p>
            <a:pPr>
              <a:lnSpc>
                <a:spcPct val="80000"/>
              </a:lnSpc>
            </a:pPr>
            <a:r>
              <a:rPr kumimoji="0" lang="zh-CN" altLang="en-US" sz="1800" kern="0" dirty="0">
                <a:ea typeface="宋体" charset="-122"/>
              </a:rPr>
              <a:t>在</a:t>
            </a:r>
            <a:r>
              <a:rPr kumimoji="0" lang="en-US" altLang="zh-CN" sz="1800" kern="0" dirty="0">
                <a:ea typeface="宋体" charset="-122"/>
              </a:rPr>
              <a:t>Student</a:t>
            </a:r>
            <a:r>
              <a:rPr kumimoji="0" lang="zh-CN" altLang="en-US" sz="1800" kern="0" dirty="0">
                <a:ea typeface="宋体" charset="-122"/>
              </a:rPr>
              <a:t>表上建立了</a:t>
            </a:r>
            <a:r>
              <a:rPr kumimoji="0" lang="en-US" altLang="zh-CN" sz="1800" kern="0" dirty="0">
                <a:solidFill>
                  <a:srgbClr val="0000CC"/>
                </a:solidFill>
                <a:ea typeface="宋体" charset="-122"/>
              </a:rPr>
              <a:t>5</a:t>
            </a:r>
            <a:r>
              <a:rPr kumimoji="0" lang="zh-CN" altLang="en-US" sz="1800" kern="0" dirty="0">
                <a:solidFill>
                  <a:srgbClr val="0000CC"/>
                </a:solidFill>
                <a:ea typeface="宋体" charset="-122"/>
              </a:rPr>
              <a:t>个约束条件</a:t>
            </a:r>
            <a:r>
              <a:rPr kumimoji="0" lang="zh-CN" altLang="en-US" sz="1800" kern="0" dirty="0">
                <a:ea typeface="宋体" charset="-122"/>
              </a:rPr>
              <a:t>，包括</a:t>
            </a:r>
            <a:r>
              <a:rPr kumimoji="0" lang="zh-CN" altLang="en-US" sz="1800" kern="0" dirty="0">
                <a:solidFill>
                  <a:srgbClr val="0000CC"/>
                </a:solidFill>
                <a:ea typeface="宋体" charset="-122"/>
              </a:rPr>
              <a:t>主码约束</a:t>
            </a:r>
            <a:r>
              <a:rPr kumimoji="0" lang="zh-CN" altLang="en-US" sz="1800" kern="0" dirty="0">
                <a:ea typeface="宋体" charset="-122"/>
              </a:rPr>
              <a:t>（命名为</a:t>
            </a:r>
            <a:r>
              <a:rPr kumimoji="0" lang="en-US" altLang="zh-CN" sz="1800" kern="0" dirty="0" err="1">
                <a:ea typeface="宋体" charset="-122"/>
              </a:rPr>
              <a:t>StudentKey</a:t>
            </a:r>
            <a:r>
              <a:rPr kumimoji="0" lang="zh-CN" altLang="en-US" sz="1800" kern="0" dirty="0">
                <a:ea typeface="宋体" charset="-122"/>
              </a:rPr>
              <a:t>）以及</a:t>
            </a:r>
            <a:r>
              <a:rPr kumimoji="0" lang="en-US" altLang="zh-CN" sz="1800" kern="0" dirty="0">
                <a:ea typeface="宋体" charset="-122"/>
              </a:rPr>
              <a:t>C1</a:t>
            </a:r>
            <a:r>
              <a:rPr kumimoji="0" lang="zh-CN" altLang="en-US" sz="1800" kern="0" dirty="0">
                <a:ea typeface="宋体" charset="-122"/>
              </a:rPr>
              <a:t>、</a:t>
            </a:r>
            <a:r>
              <a:rPr kumimoji="0" lang="en-US" altLang="zh-CN" sz="1800" kern="0" dirty="0">
                <a:ea typeface="宋体" charset="-122"/>
              </a:rPr>
              <a:t>C2</a:t>
            </a:r>
            <a:r>
              <a:rPr kumimoji="0" lang="zh-CN" altLang="en-US" sz="1800" kern="0" dirty="0">
                <a:ea typeface="宋体" charset="-122"/>
              </a:rPr>
              <a:t>、</a:t>
            </a:r>
            <a:r>
              <a:rPr kumimoji="0" lang="en-US" altLang="zh-CN" sz="1800" kern="0" dirty="0">
                <a:ea typeface="宋体" charset="-122"/>
              </a:rPr>
              <a:t>C3</a:t>
            </a:r>
            <a:r>
              <a:rPr kumimoji="0" lang="zh-CN" altLang="en-US" sz="1800" kern="0" dirty="0">
                <a:ea typeface="宋体" charset="-122"/>
              </a:rPr>
              <a:t>、</a:t>
            </a:r>
            <a:r>
              <a:rPr kumimoji="0" lang="en-US" altLang="zh-CN" sz="1800" kern="0" dirty="0">
                <a:ea typeface="宋体" charset="-122"/>
              </a:rPr>
              <a:t>C4</a:t>
            </a:r>
            <a:r>
              <a:rPr kumimoji="0" lang="zh-CN" altLang="en-US" sz="1800" kern="0" dirty="0">
                <a:solidFill>
                  <a:srgbClr val="0000CC"/>
                </a:solidFill>
                <a:ea typeface="宋体" charset="-122"/>
              </a:rPr>
              <a:t>四个列级约束</a:t>
            </a:r>
            <a:r>
              <a:rPr kumimoji="0" lang="zh-CN" altLang="en-US" sz="1800" kern="0" dirty="0">
                <a:ea typeface="宋体" charset="-122"/>
              </a:rPr>
              <a:t>。</a:t>
            </a:r>
          </a:p>
        </p:txBody>
      </p:sp>
      <p:sp>
        <p:nvSpPr>
          <p:cNvPr id="11" name="日期占位符 10"/>
          <p:cNvSpPr>
            <a:spLocks noGrp="1"/>
          </p:cNvSpPr>
          <p:nvPr>
            <p:ph type="dt" sz="half" idx="10"/>
          </p:nvPr>
        </p:nvSpPr>
        <p:spPr/>
        <p:txBody>
          <a:bodyPr/>
          <a:lstStyle/>
          <a:p>
            <a:fld id="{48C452C3-F8FE-4E9F-BAB4-42DCCDF7ACBE}" type="datetime1">
              <a:rPr lang="zh-CN" altLang="en-US" smtClean="0"/>
              <a:t>2025/10/15</a:t>
            </a:fld>
            <a:endParaRPr lang="en-US" altLang="zh-CN"/>
          </a:p>
        </p:txBody>
      </p:sp>
      <p:sp>
        <p:nvSpPr>
          <p:cNvPr id="12" name="页脚占位符 11"/>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8F842590-97B2-3394-E574-1AFC8D3BEB39}"/>
              </a:ext>
            </a:extLst>
          </p:cNvPr>
          <p:cNvSpPr>
            <a:spLocks noGrp="1"/>
          </p:cNvSpPr>
          <p:nvPr>
            <p:ph type="sldNum" sz="quarter" idx="12"/>
          </p:nvPr>
        </p:nvSpPr>
        <p:spPr/>
        <p:txBody>
          <a:bodyPr/>
          <a:lstStyle/>
          <a:p>
            <a:pPr>
              <a:defRPr/>
            </a:pPr>
            <a:fld id="{E0CD82EA-F7BE-454B-A83E-18830F6C5424}" type="slidenum">
              <a:rPr lang="en-US" altLang="zh-CN" smtClean="0"/>
              <a:pPr>
                <a:defRPr/>
              </a:pPr>
              <a:t>86</a:t>
            </a:fld>
            <a:r>
              <a:rPr lang="en-US" altLang="zh-CN"/>
              <a:t>/138</a:t>
            </a:r>
            <a:endParaRPr lang="zh-CN" altLang="en-US" dirty="0"/>
          </a:p>
        </p:txBody>
      </p:sp>
    </p:spTree>
    <p:extLst>
      <p:ext uri="{BB962C8B-B14F-4D97-AF65-F5344CB8AC3E}">
        <p14:creationId xmlns:p14="http://schemas.microsoft.com/office/powerpoint/2010/main" val="3402216504"/>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lstStyle/>
          <a:p>
            <a:r>
              <a:rPr lang="en-US" altLang="zh-CN" dirty="0"/>
              <a:t>4.4.6 </a:t>
            </a:r>
            <a:r>
              <a:rPr lang="zh-CN" altLang="en-US" dirty="0"/>
              <a:t>完整性约束</a:t>
            </a:r>
            <a:r>
              <a:rPr lang="zh-CN" altLang="en-US" b="1" dirty="0"/>
              <a:t>命名</a:t>
            </a:r>
            <a:r>
              <a:rPr lang="zh-CN" altLang="en-US" dirty="0"/>
              <a:t>子句</a:t>
            </a:r>
          </a:p>
        </p:txBody>
      </p:sp>
      <p:sp>
        <p:nvSpPr>
          <p:cNvPr id="7" name="Rectangle 3"/>
          <p:cNvSpPr txBox="1">
            <a:spLocks noChangeArrowheads="1"/>
          </p:cNvSpPr>
          <p:nvPr/>
        </p:nvSpPr>
        <p:spPr bwMode="auto">
          <a:xfrm>
            <a:off x="304800" y="1436688"/>
            <a:ext cx="8731696" cy="504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buFont typeface="Wingdings" pitchFamily="2" charset="2"/>
              <a:buNone/>
            </a:pPr>
            <a:r>
              <a:rPr kumimoji="0" lang="zh-CN" altLang="en-US" sz="2400" kern="0" dirty="0">
                <a:ea typeface="宋体" charset="-122"/>
              </a:rPr>
              <a:t>［例</a:t>
            </a:r>
            <a:r>
              <a:rPr kumimoji="0" lang="en-US" altLang="zh-CN" sz="2400" kern="0" dirty="0">
                <a:ea typeface="宋体" charset="-122"/>
              </a:rPr>
              <a:t>13</a:t>
            </a:r>
            <a:r>
              <a:rPr kumimoji="0" lang="zh-CN" altLang="en-US" sz="2400" kern="0" dirty="0">
                <a:ea typeface="宋体" charset="-122"/>
              </a:rPr>
              <a:t>］  修改表</a:t>
            </a:r>
            <a:r>
              <a:rPr kumimoji="0" lang="en-US" altLang="zh-CN" sz="2400" kern="0" dirty="0">
                <a:ea typeface="宋体" charset="-122"/>
              </a:rPr>
              <a:t>Student</a:t>
            </a:r>
            <a:r>
              <a:rPr kumimoji="0" lang="zh-CN" altLang="en-US" sz="2400" kern="0" dirty="0">
                <a:ea typeface="宋体" charset="-122"/>
              </a:rPr>
              <a:t>中的约束条件，要求学号改为在</a:t>
            </a:r>
            <a:r>
              <a:rPr kumimoji="0" lang="en-US" altLang="zh-CN" sz="2400" kern="0" dirty="0">
                <a:ea typeface="宋体" charset="-122"/>
              </a:rPr>
              <a:t>900000~999999</a:t>
            </a:r>
            <a:r>
              <a:rPr kumimoji="0" lang="zh-CN" altLang="en-US" sz="2400" kern="0" dirty="0">
                <a:ea typeface="宋体" charset="-122"/>
              </a:rPr>
              <a:t>之间，年龄由小于</a:t>
            </a:r>
            <a:r>
              <a:rPr kumimoji="0" lang="en-US" altLang="zh-CN" sz="2400" kern="0" dirty="0">
                <a:ea typeface="宋体" charset="-122"/>
              </a:rPr>
              <a:t>30</a:t>
            </a:r>
            <a:r>
              <a:rPr kumimoji="0" lang="zh-CN" altLang="en-US" sz="2400" kern="0" dirty="0">
                <a:ea typeface="宋体" charset="-122"/>
              </a:rPr>
              <a:t>改为小于</a:t>
            </a:r>
            <a:r>
              <a:rPr kumimoji="0" lang="en-US" altLang="zh-CN" sz="2400" kern="0" dirty="0">
                <a:ea typeface="宋体" charset="-122"/>
              </a:rPr>
              <a:t>40</a:t>
            </a:r>
          </a:p>
          <a:p>
            <a:pPr lvl="1"/>
            <a:r>
              <a:rPr kumimoji="0" lang="zh-CN" altLang="en-US" sz="2600" kern="0" dirty="0">
                <a:solidFill>
                  <a:srgbClr val="C00000"/>
                </a:solidFill>
                <a:ea typeface="宋体" charset="-122"/>
              </a:rPr>
              <a:t>可以先删除</a:t>
            </a:r>
            <a:r>
              <a:rPr kumimoji="0" lang="zh-CN" altLang="en-US" sz="2600" kern="0" dirty="0">
                <a:ea typeface="宋体" charset="-122"/>
              </a:rPr>
              <a:t>原来的约束条件，</a:t>
            </a:r>
            <a:r>
              <a:rPr kumimoji="0" lang="zh-CN" altLang="en-US" sz="2600" kern="0" dirty="0">
                <a:solidFill>
                  <a:srgbClr val="C00000"/>
                </a:solidFill>
                <a:ea typeface="宋体" charset="-122"/>
              </a:rPr>
              <a:t>再增加新</a:t>
            </a:r>
            <a:r>
              <a:rPr kumimoji="0" lang="zh-CN" altLang="en-US" sz="2600" kern="0" dirty="0">
                <a:ea typeface="宋体" charset="-122"/>
              </a:rPr>
              <a:t>的约束条件</a:t>
            </a:r>
          </a:p>
          <a:p>
            <a:pPr>
              <a:buFont typeface="Wingdings" pitchFamily="2" charset="2"/>
              <a:buNone/>
            </a:pPr>
            <a:r>
              <a:rPr kumimoji="0" lang="zh-CN" altLang="en-US" kern="0" dirty="0">
                <a:ea typeface="宋体" charset="-122"/>
              </a:rPr>
              <a:t>     </a:t>
            </a:r>
            <a:r>
              <a:rPr kumimoji="0" lang="en-US" altLang="zh-CN" sz="2000" kern="0" dirty="0">
                <a:solidFill>
                  <a:srgbClr val="0000CC"/>
                </a:solidFill>
                <a:ea typeface="宋体" charset="-122"/>
              </a:rPr>
              <a:t>ALTER TABLE Student</a:t>
            </a:r>
          </a:p>
          <a:p>
            <a:pPr>
              <a:buFont typeface="Wingdings" pitchFamily="2" charset="2"/>
              <a:buNone/>
            </a:pPr>
            <a:r>
              <a:rPr kumimoji="0" lang="en-US" altLang="zh-CN" sz="2000" kern="0" dirty="0">
                <a:solidFill>
                  <a:srgbClr val="800080"/>
                </a:solidFill>
                <a:ea typeface="宋体" charset="-122"/>
              </a:rPr>
              <a:t>        </a:t>
            </a:r>
            <a:r>
              <a:rPr kumimoji="0" lang="en-US" altLang="zh-CN" sz="2000" kern="0" dirty="0">
                <a:ea typeface="宋体" charset="-122"/>
              </a:rPr>
              <a:t>DROP CONSTRAINT C1;</a:t>
            </a:r>
          </a:p>
          <a:p>
            <a:pPr>
              <a:buFont typeface="Wingdings" pitchFamily="2" charset="2"/>
              <a:buNone/>
            </a:pPr>
            <a:r>
              <a:rPr kumimoji="0" lang="en-US" altLang="zh-CN" sz="2000" kern="0" dirty="0">
                <a:ea typeface="宋体" charset="-122"/>
              </a:rPr>
              <a:t>        </a:t>
            </a:r>
            <a:r>
              <a:rPr kumimoji="0" lang="en-US" altLang="zh-CN" sz="2000" kern="0" dirty="0">
                <a:solidFill>
                  <a:srgbClr val="0000CC"/>
                </a:solidFill>
                <a:ea typeface="宋体" charset="-122"/>
              </a:rPr>
              <a:t>ALTER TABLE Student</a:t>
            </a:r>
          </a:p>
          <a:p>
            <a:pPr>
              <a:buFont typeface="Wingdings" pitchFamily="2" charset="2"/>
              <a:buNone/>
            </a:pPr>
            <a:r>
              <a:rPr kumimoji="0" lang="en-US" altLang="zh-CN" sz="2000" kern="0" dirty="0">
                <a:solidFill>
                  <a:srgbClr val="0000CC"/>
                </a:solidFill>
                <a:ea typeface="宋体" charset="-122"/>
              </a:rPr>
              <a:t>        </a:t>
            </a:r>
            <a:r>
              <a:rPr kumimoji="0" lang="en-US" altLang="zh-CN" sz="2000" kern="0" dirty="0">
                <a:solidFill>
                  <a:srgbClr val="C00000"/>
                </a:solidFill>
                <a:ea typeface="宋体" charset="-122"/>
              </a:rPr>
              <a:t>ADD CONSTRAINT </a:t>
            </a:r>
            <a:r>
              <a:rPr kumimoji="0" lang="en-US" altLang="zh-CN" sz="2000" kern="0" dirty="0">
                <a:ea typeface="宋体" charset="-122"/>
              </a:rPr>
              <a:t>C1 CHECK (</a:t>
            </a:r>
            <a:r>
              <a:rPr kumimoji="0" lang="en-US" altLang="zh-CN" sz="2000" kern="0" dirty="0" err="1">
                <a:ea typeface="宋体" charset="-122"/>
              </a:rPr>
              <a:t>Sno</a:t>
            </a:r>
            <a:r>
              <a:rPr kumimoji="0" lang="en-US" altLang="zh-CN" sz="2000" kern="0" dirty="0">
                <a:ea typeface="宋体" charset="-122"/>
              </a:rPr>
              <a:t> BETWEEN 900000 AND 999999);</a:t>
            </a:r>
          </a:p>
          <a:p>
            <a:pPr>
              <a:buFont typeface="Wingdings" pitchFamily="2" charset="2"/>
              <a:buNone/>
            </a:pPr>
            <a:endParaRPr kumimoji="0" lang="zh-CN" altLang="en-US" sz="2000" kern="0" dirty="0">
              <a:ea typeface="宋体" charset="-122"/>
            </a:endParaRPr>
          </a:p>
          <a:p>
            <a:pPr>
              <a:buFont typeface="Wingdings" pitchFamily="2" charset="2"/>
              <a:buNone/>
            </a:pPr>
            <a:r>
              <a:rPr kumimoji="0" lang="zh-CN" altLang="en-US" sz="2000" kern="0" dirty="0">
                <a:solidFill>
                  <a:srgbClr val="800080"/>
                </a:solidFill>
                <a:ea typeface="宋体" charset="-122"/>
              </a:rPr>
              <a:t>        </a:t>
            </a:r>
            <a:r>
              <a:rPr kumimoji="0" lang="en-US" altLang="zh-CN" sz="2000" kern="0" dirty="0">
                <a:solidFill>
                  <a:srgbClr val="0000CC"/>
                </a:solidFill>
                <a:ea typeface="宋体" charset="-122"/>
              </a:rPr>
              <a:t>ALTER TABLE Student</a:t>
            </a:r>
          </a:p>
          <a:p>
            <a:pPr>
              <a:buFont typeface="Wingdings" pitchFamily="2" charset="2"/>
              <a:buNone/>
            </a:pPr>
            <a:r>
              <a:rPr kumimoji="0" lang="en-US" altLang="zh-CN" sz="2000" kern="0" dirty="0">
                <a:ea typeface="宋体" charset="-122"/>
              </a:rPr>
              <a:t>        DROP CONSTRAINT C3;</a:t>
            </a:r>
          </a:p>
          <a:p>
            <a:pPr>
              <a:buNone/>
            </a:pPr>
            <a:r>
              <a:rPr kumimoji="0" lang="en-US" altLang="zh-CN" sz="2000" kern="0" dirty="0">
                <a:solidFill>
                  <a:srgbClr val="0000CC"/>
                </a:solidFill>
                <a:ea typeface="宋体" charset="-122"/>
              </a:rPr>
              <a:t>        ALTER TABLE Student</a:t>
            </a:r>
          </a:p>
          <a:p>
            <a:pPr>
              <a:buNone/>
            </a:pPr>
            <a:r>
              <a:rPr kumimoji="0" lang="en-US" altLang="zh-CN" sz="2000" kern="0" dirty="0">
                <a:solidFill>
                  <a:srgbClr val="0000CC"/>
                </a:solidFill>
                <a:ea typeface="宋体" charset="-122"/>
              </a:rPr>
              <a:t>        </a:t>
            </a:r>
            <a:r>
              <a:rPr kumimoji="0" lang="en-US" altLang="zh-CN" sz="2000" kern="0" dirty="0">
                <a:solidFill>
                  <a:srgbClr val="C00000"/>
                </a:solidFill>
                <a:ea typeface="宋体" charset="-122"/>
              </a:rPr>
              <a:t>ADD CONSTRAINT </a:t>
            </a:r>
            <a:r>
              <a:rPr kumimoji="0" lang="en-US" altLang="zh-CN" sz="2000" kern="0" dirty="0">
                <a:ea typeface="宋体" charset="-122"/>
              </a:rPr>
              <a:t>C3 CHECK (Sage &lt; 40);</a:t>
            </a:r>
            <a:endParaRPr kumimoji="0" lang="zh-CN" altLang="en-US" sz="2000" kern="0" dirty="0">
              <a:ea typeface="宋体" charset="-122"/>
            </a:endParaRPr>
          </a:p>
        </p:txBody>
      </p:sp>
      <p:sp>
        <p:nvSpPr>
          <p:cNvPr id="11" name="日期占位符 10"/>
          <p:cNvSpPr>
            <a:spLocks noGrp="1"/>
          </p:cNvSpPr>
          <p:nvPr>
            <p:ph type="dt" sz="half" idx="10"/>
          </p:nvPr>
        </p:nvSpPr>
        <p:spPr/>
        <p:txBody>
          <a:bodyPr/>
          <a:lstStyle/>
          <a:p>
            <a:fld id="{065DBB89-D7EE-42FE-9D20-8E3EE9802812}" type="datetime1">
              <a:rPr lang="zh-CN" altLang="en-US" smtClean="0"/>
              <a:t>2025/10/15</a:t>
            </a:fld>
            <a:endParaRPr lang="en-US" altLang="zh-CN"/>
          </a:p>
        </p:txBody>
      </p:sp>
      <p:sp>
        <p:nvSpPr>
          <p:cNvPr id="12" name="页脚占位符 11"/>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F3C8C274-B1FA-2F17-F833-4B1D34B59DCE}"/>
              </a:ext>
            </a:extLst>
          </p:cNvPr>
          <p:cNvSpPr>
            <a:spLocks noGrp="1"/>
          </p:cNvSpPr>
          <p:nvPr>
            <p:ph type="sldNum" sz="quarter" idx="12"/>
          </p:nvPr>
        </p:nvSpPr>
        <p:spPr/>
        <p:txBody>
          <a:bodyPr/>
          <a:lstStyle/>
          <a:p>
            <a:pPr>
              <a:defRPr/>
            </a:pPr>
            <a:fld id="{E0CD82EA-F7BE-454B-A83E-18830F6C5424}" type="slidenum">
              <a:rPr lang="en-US" altLang="zh-CN" smtClean="0"/>
              <a:pPr>
                <a:defRPr/>
              </a:pPr>
              <a:t>87</a:t>
            </a:fld>
            <a:r>
              <a:rPr lang="en-US" altLang="zh-CN"/>
              <a:t>/138</a:t>
            </a:r>
            <a:endParaRPr lang="zh-CN" altLang="en-US" dirty="0"/>
          </a:p>
        </p:txBody>
      </p:sp>
    </p:spTree>
    <p:extLst>
      <p:ext uri="{BB962C8B-B14F-4D97-AF65-F5344CB8AC3E}">
        <p14:creationId xmlns:p14="http://schemas.microsoft.com/office/powerpoint/2010/main" val="15443697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additive="base">
                                        <p:cTn id="7"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 calcmode="lin" valueType="num">
                                      <p:cBhvr additive="base">
                                        <p:cTn id="1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 calcmode="lin" valueType="num">
                                      <p:cBhvr additive="base">
                                        <p:cTn id="23"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 calcmode="lin" valueType="num">
                                      <p:cBhvr additive="base">
                                        <p:cTn id="2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7">
                                            <p:txEl>
                                              <p:pRg st="7" end="7"/>
                                            </p:txEl>
                                          </p:spTgt>
                                        </p:tgtEl>
                                        <p:attrNameLst>
                                          <p:attrName>style.visibility</p:attrName>
                                        </p:attrNameLst>
                                      </p:cBhvr>
                                      <p:to>
                                        <p:strVal val="visible"/>
                                      </p:to>
                                    </p:set>
                                    <p:anim calcmode="lin" valueType="num">
                                      <p:cBhvr additive="base">
                                        <p:cTn id="33"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7">
                                            <p:txEl>
                                              <p:pRg st="8" end="8"/>
                                            </p:txEl>
                                          </p:spTgt>
                                        </p:tgtEl>
                                        <p:attrNameLst>
                                          <p:attrName>style.visibility</p:attrName>
                                        </p:attrNameLst>
                                      </p:cBhvr>
                                      <p:to>
                                        <p:strVal val="visible"/>
                                      </p:to>
                                    </p:set>
                                    <p:anim calcmode="lin" valueType="num">
                                      <p:cBhvr additive="base">
                                        <p:cTn id="37"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anim calcmode="lin" valueType="num">
                                      <p:cBhvr additive="base">
                                        <p:cTn id="43"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7">
                                            <p:txEl>
                                              <p:pRg st="10" end="10"/>
                                            </p:txEl>
                                          </p:spTgt>
                                        </p:tgtEl>
                                        <p:attrNameLst>
                                          <p:attrName>style.visibility</p:attrName>
                                        </p:attrNameLst>
                                      </p:cBhvr>
                                      <p:to>
                                        <p:strVal val="visible"/>
                                      </p:to>
                                    </p:set>
                                    <p:anim calcmode="lin" valueType="num">
                                      <p:cBhvr additive="base">
                                        <p:cTn id="47"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r>
              <a:rPr lang="en-US" altLang="zh-CN" dirty="0"/>
              <a:t>4.4.8 </a:t>
            </a:r>
            <a:r>
              <a:rPr lang="zh-CN" altLang="en-US" dirty="0"/>
              <a:t>断言</a:t>
            </a:r>
          </a:p>
        </p:txBody>
      </p:sp>
      <p:sp>
        <p:nvSpPr>
          <p:cNvPr id="248835" name="Rectangle 3"/>
          <p:cNvSpPr>
            <a:spLocks noGrp="1" noChangeArrowheads="1"/>
          </p:cNvSpPr>
          <p:nvPr>
            <p:ph type="body" idx="1"/>
          </p:nvPr>
        </p:nvSpPr>
        <p:spPr/>
        <p:txBody>
          <a:bodyPr/>
          <a:lstStyle/>
          <a:p>
            <a:r>
              <a:rPr lang="en-US" altLang="zh-CN" sz="2800" dirty="0"/>
              <a:t>SQL</a:t>
            </a:r>
            <a:r>
              <a:rPr lang="zh-CN" altLang="en-US" sz="2800" dirty="0"/>
              <a:t>中，可以使用 </a:t>
            </a:r>
            <a:r>
              <a:rPr lang="en-US" altLang="zh-CN" sz="2800" dirty="0"/>
              <a:t>CREATE ASSERTION</a:t>
            </a:r>
            <a:r>
              <a:rPr lang="zh-CN" altLang="en-US" sz="2800" dirty="0"/>
              <a:t>语句，通过</a:t>
            </a:r>
            <a:r>
              <a:rPr lang="zh-CN" altLang="en-US" sz="2800" dirty="0">
                <a:solidFill>
                  <a:srgbClr val="0000FF"/>
                </a:solidFill>
              </a:rPr>
              <a:t>声明性断言</a:t>
            </a:r>
            <a:r>
              <a:rPr lang="zh-CN" altLang="en-US" sz="2800" dirty="0"/>
              <a:t>来指定更具</a:t>
            </a:r>
            <a:r>
              <a:rPr lang="zh-CN" altLang="en-US" sz="2800" dirty="0">
                <a:solidFill>
                  <a:srgbClr val="0000FF"/>
                </a:solidFill>
              </a:rPr>
              <a:t>一般性的约束</a:t>
            </a:r>
            <a:r>
              <a:rPr lang="zh-CN" altLang="en-US" sz="2800" dirty="0"/>
              <a:t>。</a:t>
            </a:r>
          </a:p>
          <a:p>
            <a:r>
              <a:rPr lang="zh-CN" altLang="en-US" sz="2800" dirty="0"/>
              <a:t>可以</a:t>
            </a:r>
            <a:r>
              <a:rPr lang="zh-CN" altLang="en-US" sz="2800" dirty="0">
                <a:solidFill>
                  <a:srgbClr val="FF0000"/>
                </a:solidFill>
              </a:rPr>
              <a:t>定义</a:t>
            </a:r>
            <a:r>
              <a:rPr lang="zh-CN" altLang="en-US" sz="2800" u="sng" dirty="0">
                <a:solidFill>
                  <a:srgbClr val="0000FF"/>
                </a:solidFill>
              </a:rPr>
              <a:t>涉及多个表的</a:t>
            </a:r>
            <a:r>
              <a:rPr lang="zh-CN" altLang="en-US" sz="2800" dirty="0"/>
              <a:t>或</a:t>
            </a:r>
            <a:r>
              <a:rPr lang="zh-CN" altLang="en-US" sz="2800" u="sng" dirty="0">
                <a:solidFill>
                  <a:srgbClr val="0000FF"/>
                </a:solidFill>
              </a:rPr>
              <a:t>聚集操作的比较复杂</a:t>
            </a:r>
            <a:r>
              <a:rPr lang="zh-CN" altLang="en-US" sz="2800" dirty="0"/>
              <a:t>的</a:t>
            </a:r>
            <a:r>
              <a:rPr lang="zh-CN" altLang="en-US" sz="2800" dirty="0">
                <a:solidFill>
                  <a:srgbClr val="FF0000"/>
                </a:solidFill>
              </a:rPr>
              <a:t>完整性约束</a:t>
            </a:r>
            <a:r>
              <a:rPr lang="zh-CN" altLang="en-US" sz="2800" dirty="0"/>
              <a:t>。</a:t>
            </a:r>
          </a:p>
          <a:p>
            <a:r>
              <a:rPr lang="zh-CN" altLang="en-US" sz="2800" dirty="0"/>
              <a:t>断言创建以后，任何</a:t>
            </a:r>
            <a:r>
              <a:rPr lang="zh-CN" altLang="en-US" sz="2800" dirty="0">
                <a:solidFill>
                  <a:srgbClr val="0000FF"/>
                </a:solidFill>
              </a:rPr>
              <a:t>对断言中</a:t>
            </a:r>
            <a:r>
              <a:rPr lang="zh-CN" altLang="en-US" sz="2800" dirty="0">
                <a:solidFill>
                  <a:srgbClr val="FF0000"/>
                </a:solidFill>
              </a:rPr>
              <a:t>所涉及的关系</a:t>
            </a:r>
            <a:r>
              <a:rPr lang="zh-CN" altLang="en-US" sz="2800" dirty="0">
                <a:solidFill>
                  <a:srgbClr val="0000FF"/>
                </a:solidFill>
              </a:rPr>
              <a:t>的操作</a:t>
            </a:r>
            <a:r>
              <a:rPr lang="zh-CN" altLang="en-US" sz="2800" dirty="0"/>
              <a:t>都会</a:t>
            </a:r>
            <a:r>
              <a:rPr lang="zh-CN" altLang="en-US" sz="2800" dirty="0">
                <a:solidFill>
                  <a:srgbClr val="C00000"/>
                </a:solidFill>
              </a:rPr>
              <a:t>触发</a:t>
            </a:r>
            <a:r>
              <a:rPr lang="zh-CN" altLang="en-US" sz="2800" dirty="0"/>
              <a:t>关系数据库管理系统</a:t>
            </a:r>
            <a:r>
              <a:rPr lang="zh-CN" altLang="en-US" sz="2800" dirty="0">
                <a:solidFill>
                  <a:srgbClr val="0000FF"/>
                </a:solidFill>
              </a:rPr>
              <a:t>对断言的检查</a:t>
            </a:r>
            <a:r>
              <a:rPr lang="zh-CN" altLang="en-US" sz="2800" dirty="0"/>
              <a:t>，任何</a:t>
            </a:r>
            <a:r>
              <a:rPr lang="zh-CN" altLang="en-US" sz="2800" dirty="0">
                <a:solidFill>
                  <a:srgbClr val="0000FF"/>
                </a:solidFill>
              </a:rPr>
              <a:t>使断言不为真值的操作</a:t>
            </a:r>
            <a:r>
              <a:rPr lang="zh-CN" altLang="en-US" sz="2800" dirty="0"/>
              <a:t>都会被</a:t>
            </a:r>
            <a:r>
              <a:rPr lang="zh-CN" altLang="en-US" sz="2800" dirty="0">
                <a:solidFill>
                  <a:srgbClr val="C00000"/>
                </a:solidFill>
              </a:rPr>
              <a:t>拒绝执行</a:t>
            </a:r>
          </a:p>
        </p:txBody>
      </p:sp>
      <p:sp>
        <p:nvSpPr>
          <p:cNvPr id="10" name="日期占位符 9"/>
          <p:cNvSpPr>
            <a:spLocks noGrp="1"/>
          </p:cNvSpPr>
          <p:nvPr>
            <p:ph type="dt" sz="half" idx="10"/>
          </p:nvPr>
        </p:nvSpPr>
        <p:spPr/>
        <p:txBody>
          <a:bodyPr/>
          <a:lstStyle/>
          <a:p>
            <a:fld id="{BC29F8E2-4BF4-4635-85C3-02417731FAA7}"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89E51CD0-1883-68EE-5240-ABF01F86D67F}"/>
              </a:ext>
            </a:extLst>
          </p:cNvPr>
          <p:cNvSpPr>
            <a:spLocks noGrp="1"/>
          </p:cNvSpPr>
          <p:nvPr>
            <p:ph type="sldNum" sz="quarter" idx="12"/>
          </p:nvPr>
        </p:nvSpPr>
        <p:spPr/>
        <p:txBody>
          <a:bodyPr/>
          <a:lstStyle/>
          <a:p>
            <a:pPr>
              <a:defRPr/>
            </a:pPr>
            <a:fld id="{E0CD82EA-F7BE-454B-A83E-18830F6C5424}" type="slidenum">
              <a:rPr lang="en-US" altLang="zh-CN" smtClean="0"/>
              <a:pPr>
                <a:defRPr/>
              </a:pPr>
              <a:t>88</a:t>
            </a:fld>
            <a:r>
              <a:rPr lang="en-US" altLang="zh-CN"/>
              <a:t>/138</a:t>
            </a:r>
            <a:endParaRPr lang="zh-CN" altLang="en-US" dirty="0"/>
          </a:p>
        </p:txBody>
      </p:sp>
    </p:spTree>
    <p:extLst>
      <p:ext uri="{BB962C8B-B14F-4D97-AF65-F5344CB8AC3E}">
        <p14:creationId xmlns:p14="http://schemas.microsoft.com/office/powerpoint/2010/main" val="28774623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8835">
                                            <p:txEl>
                                              <p:pRg st="1" end="1"/>
                                            </p:txEl>
                                          </p:spTgt>
                                        </p:tgtEl>
                                        <p:attrNameLst>
                                          <p:attrName>style.visibility</p:attrName>
                                        </p:attrNameLst>
                                      </p:cBhvr>
                                      <p:to>
                                        <p:strVal val="visible"/>
                                      </p:to>
                                    </p:set>
                                    <p:anim calcmode="lin" valueType="num">
                                      <p:cBhvr additive="base">
                                        <p:cTn id="7" dur="500" fill="hold"/>
                                        <p:tgtEl>
                                          <p:spTgt spid="24883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88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8835">
                                            <p:txEl>
                                              <p:pRg st="2" end="2"/>
                                            </p:txEl>
                                          </p:spTgt>
                                        </p:tgtEl>
                                        <p:attrNameLst>
                                          <p:attrName>style.visibility</p:attrName>
                                        </p:attrNameLst>
                                      </p:cBhvr>
                                      <p:to>
                                        <p:strVal val="visible"/>
                                      </p:to>
                                    </p:set>
                                    <p:anim calcmode="lin" valueType="num">
                                      <p:cBhvr additive="base">
                                        <p:cTn id="13" dur="500" fill="hold"/>
                                        <p:tgtEl>
                                          <p:spTgt spid="24883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883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r>
              <a:rPr lang="en-US" altLang="zh-CN" dirty="0"/>
              <a:t>4.4.8 </a:t>
            </a:r>
            <a:r>
              <a:rPr lang="zh-CN" altLang="en-US" dirty="0"/>
              <a:t>断言</a:t>
            </a:r>
          </a:p>
        </p:txBody>
      </p:sp>
      <p:sp>
        <p:nvSpPr>
          <p:cNvPr id="248835" name="Rectangle 3"/>
          <p:cNvSpPr>
            <a:spLocks noGrp="1" noChangeArrowheads="1"/>
          </p:cNvSpPr>
          <p:nvPr>
            <p:ph type="body" idx="1"/>
          </p:nvPr>
        </p:nvSpPr>
        <p:spPr/>
        <p:txBody>
          <a:bodyPr/>
          <a:lstStyle/>
          <a:p>
            <a:r>
              <a:rPr lang="zh-CN" altLang="en-US" dirty="0"/>
              <a:t>创建断言的语句格式</a:t>
            </a:r>
          </a:p>
          <a:p>
            <a:pPr marL="0" indent="0">
              <a:buNone/>
            </a:pPr>
            <a:r>
              <a:rPr lang="en-US" altLang="zh-CN" sz="2600" dirty="0"/>
              <a:t>   CREATE ASSERTION&lt;</a:t>
            </a:r>
            <a:r>
              <a:rPr lang="zh-CN" altLang="en-US" sz="2600" dirty="0"/>
              <a:t>断言名</a:t>
            </a:r>
            <a:r>
              <a:rPr lang="en-US" altLang="zh-CN" sz="2600" dirty="0"/>
              <a:t>&gt;&lt;</a:t>
            </a:r>
            <a:r>
              <a:rPr lang="en-US" altLang="zh-CN" sz="2600" dirty="0">
                <a:solidFill>
                  <a:srgbClr val="0000FF"/>
                </a:solidFill>
              </a:rPr>
              <a:t>CHECK </a:t>
            </a:r>
            <a:r>
              <a:rPr lang="zh-CN" altLang="en-US" sz="2600" dirty="0">
                <a:solidFill>
                  <a:srgbClr val="0000FF"/>
                </a:solidFill>
              </a:rPr>
              <a:t>子句</a:t>
            </a:r>
            <a:r>
              <a:rPr lang="en-US" altLang="zh-CN" sz="2600" dirty="0"/>
              <a:t>&gt;</a:t>
            </a:r>
          </a:p>
          <a:p>
            <a:pPr lvl="1"/>
            <a:r>
              <a:rPr lang="zh-CN" altLang="en-US" sz="2400" dirty="0"/>
              <a:t>每个断言都被赋予一个</a:t>
            </a:r>
            <a:r>
              <a:rPr lang="zh-CN" altLang="en-US" sz="2400" dirty="0">
                <a:solidFill>
                  <a:srgbClr val="C00000"/>
                </a:solidFill>
              </a:rPr>
              <a:t>名字</a:t>
            </a:r>
            <a:r>
              <a:rPr lang="zh-CN" altLang="en-US" sz="2400" dirty="0"/>
              <a:t>，</a:t>
            </a:r>
            <a:r>
              <a:rPr lang="en-US" altLang="zh-CN" sz="2400" dirty="0"/>
              <a:t>&lt;CHECK </a:t>
            </a:r>
            <a:r>
              <a:rPr lang="zh-CN" altLang="en-US" sz="2400" dirty="0"/>
              <a:t>子句</a:t>
            </a:r>
            <a:r>
              <a:rPr lang="en-US" altLang="zh-CN" sz="2400" dirty="0"/>
              <a:t>&gt;</a:t>
            </a:r>
            <a:r>
              <a:rPr lang="zh-CN" altLang="en-US" sz="2400" dirty="0"/>
              <a:t>中的</a:t>
            </a:r>
            <a:r>
              <a:rPr lang="zh-CN" altLang="en-US" sz="2400" b="1" dirty="0"/>
              <a:t>约束条件</a:t>
            </a:r>
            <a:r>
              <a:rPr lang="zh-CN" altLang="en-US" sz="2400" dirty="0"/>
              <a:t>与</a:t>
            </a:r>
            <a:r>
              <a:rPr lang="en-US" altLang="zh-CN" sz="2400" dirty="0"/>
              <a:t>WHERE</a:t>
            </a:r>
            <a:r>
              <a:rPr lang="zh-CN" altLang="en-US" sz="2400" dirty="0"/>
              <a:t>子句的</a:t>
            </a:r>
            <a:r>
              <a:rPr lang="zh-CN" altLang="en-US" sz="2400" b="1" dirty="0"/>
              <a:t>条件表达式</a:t>
            </a:r>
            <a:r>
              <a:rPr lang="zh-CN" altLang="en-US" sz="2400" dirty="0"/>
              <a:t>类似。</a:t>
            </a:r>
          </a:p>
          <a:p>
            <a:pPr marL="800100" lvl="2" indent="0">
              <a:spcBef>
                <a:spcPts val="1200"/>
              </a:spcBef>
              <a:spcAft>
                <a:spcPts val="600"/>
              </a:spcAft>
              <a:buNone/>
            </a:pPr>
            <a:r>
              <a:rPr lang="en-US" altLang="zh-CN" sz="2200" dirty="0"/>
              <a:t>[</a:t>
            </a:r>
            <a:r>
              <a:rPr lang="zh-CN" altLang="en-US" sz="2200" dirty="0"/>
              <a:t>例</a:t>
            </a:r>
            <a:r>
              <a:rPr lang="en-US" altLang="zh-CN" sz="2200" dirty="0"/>
              <a:t>5.18] </a:t>
            </a:r>
            <a:r>
              <a:rPr lang="zh-CN" altLang="en-US" sz="2200" dirty="0"/>
              <a:t>限制数据库课程最多</a:t>
            </a:r>
            <a:r>
              <a:rPr lang="en-US" altLang="zh-CN" sz="2200" dirty="0"/>
              <a:t>60</a:t>
            </a:r>
            <a:r>
              <a:rPr lang="zh-CN" altLang="en-US" sz="2200" dirty="0"/>
              <a:t>名学生选修</a:t>
            </a:r>
          </a:p>
          <a:p>
            <a:pPr marL="800100" lvl="2" indent="0">
              <a:buNone/>
            </a:pPr>
            <a:r>
              <a:rPr lang="en-US" altLang="zh-CN" sz="2200" dirty="0"/>
              <a:t>CREATE ASSERTION ASSE_SC_DB_NUM</a:t>
            </a:r>
          </a:p>
          <a:p>
            <a:pPr marL="800100" lvl="2" indent="0">
              <a:buNone/>
            </a:pPr>
            <a:r>
              <a:rPr lang="en-US" altLang="zh-CN" sz="2200" dirty="0">
                <a:solidFill>
                  <a:srgbClr val="0000FF"/>
                </a:solidFill>
              </a:rPr>
              <a:t>CHECK</a:t>
            </a:r>
            <a:r>
              <a:rPr lang="en-US" altLang="zh-CN" sz="2200" dirty="0"/>
              <a:t> (</a:t>
            </a:r>
          </a:p>
          <a:p>
            <a:pPr marL="800100" lvl="2" indent="0">
              <a:buNone/>
            </a:pPr>
            <a:r>
              <a:rPr lang="en-US" altLang="zh-CN" sz="2200" dirty="0"/>
              <a:t> 60 &gt;= (select count(*)</a:t>
            </a:r>
          </a:p>
          <a:p>
            <a:pPr marL="800100" lvl="2" indent="0">
              <a:buNone/>
            </a:pPr>
            <a:r>
              <a:rPr lang="en-US" altLang="zh-CN" sz="2200" dirty="0"/>
              <a:t> From Course, SC</a:t>
            </a:r>
          </a:p>
          <a:p>
            <a:pPr marL="800100" lvl="2" indent="0">
              <a:buNone/>
            </a:pPr>
            <a:r>
              <a:rPr lang="en-US" altLang="zh-CN" sz="2200" dirty="0"/>
              <a:t> Where </a:t>
            </a:r>
            <a:r>
              <a:rPr lang="en-US" altLang="zh-CN" sz="2200" dirty="0" err="1"/>
              <a:t>SC.Cno</a:t>
            </a:r>
            <a:r>
              <a:rPr lang="en-US" altLang="zh-CN" sz="2200" dirty="0"/>
              <a:t>=</a:t>
            </a:r>
            <a:r>
              <a:rPr lang="en-US" altLang="zh-CN" sz="2200" dirty="0" err="1"/>
              <a:t>Course.Cno</a:t>
            </a:r>
            <a:r>
              <a:rPr lang="en-US" altLang="zh-CN" sz="2200" dirty="0"/>
              <a:t> and </a:t>
            </a:r>
            <a:r>
              <a:rPr lang="en-US" altLang="zh-CN" sz="2200" dirty="0" err="1"/>
              <a:t>Course.Cname</a:t>
            </a:r>
            <a:r>
              <a:rPr lang="en-US" altLang="zh-CN" sz="2200" dirty="0"/>
              <a:t> ='</a:t>
            </a:r>
            <a:r>
              <a:rPr lang="zh-CN" altLang="en-US" sz="2200" dirty="0"/>
              <a:t>数据库</a:t>
            </a:r>
            <a:r>
              <a:rPr lang="en-US" altLang="zh-CN" sz="2200" dirty="0"/>
              <a:t>')</a:t>
            </a:r>
          </a:p>
          <a:p>
            <a:pPr marL="800100" lvl="2" indent="0">
              <a:buNone/>
            </a:pPr>
            <a:r>
              <a:rPr lang="en-US" altLang="zh-CN" sz="2200" dirty="0"/>
              <a:t>);</a:t>
            </a:r>
            <a:r>
              <a:rPr lang="en-US" altLang="zh-CN" sz="2000" dirty="0"/>
              <a:t> /*</a:t>
            </a:r>
            <a:r>
              <a:rPr lang="zh-CN" altLang="en-US" sz="2000" dirty="0"/>
              <a:t>此断言的谓词涉及</a:t>
            </a:r>
            <a:r>
              <a:rPr lang="zh-CN" altLang="en-US" sz="2000" dirty="0">
                <a:solidFill>
                  <a:srgbClr val="0000FF"/>
                </a:solidFill>
              </a:rPr>
              <a:t>聚集操作</a:t>
            </a:r>
            <a:r>
              <a:rPr lang="en-US" altLang="zh-CN" sz="2000" dirty="0">
                <a:solidFill>
                  <a:srgbClr val="0000FF"/>
                </a:solidFill>
              </a:rPr>
              <a:t>count</a:t>
            </a:r>
            <a:r>
              <a:rPr lang="zh-CN" altLang="en-US" sz="2000" dirty="0"/>
              <a:t>的</a:t>
            </a:r>
            <a:r>
              <a:rPr lang="en-US" altLang="zh-CN" sz="2000" dirty="0"/>
              <a:t>SQL</a:t>
            </a:r>
            <a:r>
              <a:rPr lang="zh-CN" altLang="en-US" sz="2000" dirty="0"/>
              <a:t>语句*</a:t>
            </a:r>
            <a:r>
              <a:rPr lang="en-US" altLang="zh-CN" sz="2000" dirty="0"/>
              <a:t>/</a:t>
            </a:r>
          </a:p>
          <a:p>
            <a:pPr marL="800100" lvl="2" indent="0">
              <a:buNone/>
            </a:pPr>
            <a:endParaRPr lang="zh-CN" altLang="en-US" sz="2200" dirty="0">
              <a:solidFill>
                <a:srgbClr val="C00000"/>
              </a:solidFill>
            </a:endParaRPr>
          </a:p>
        </p:txBody>
      </p:sp>
      <p:sp>
        <p:nvSpPr>
          <p:cNvPr id="10" name="日期占位符 9"/>
          <p:cNvSpPr>
            <a:spLocks noGrp="1"/>
          </p:cNvSpPr>
          <p:nvPr>
            <p:ph type="dt" sz="half" idx="10"/>
          </p:nvPr>
        </p:nvSpPr>
        <p:spPr/>
        <p:txBody>
          <a:bodyPr/>
          <a:lstStyle/>
          <a:p>
            <a:fld id="{63FC95B6-C823-472F-ACB6-6CA61B3F85AD}"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334F45EF-F1A2-CA79-0E64-FC1736EB9546}"/>
              </a:ext>
            </a:extLst>
          </p:cNvPr>
          <p:cNvSpPr>
            <a:spLocks noGrp="1"/>
          </p:cNvSpPr>
          <p:nvPr>
            <p:ph type="sldNum" sz="quarter" idx="12"/>
          </p:nvPr>
        </p:nvSpPr>
        <p:spPr/>
        <p:txBody>
          <a:bodyPr/>
          <a:lstStyle/>
          <a:p>
            <a:pPr>
              <a:defRPr/>
            </a:pPr>
            <a:fld id="{E0CD82EA-F7BE-454B-A83E-18830F6C5424}" type="slidenum">
              <a:rPr lang="en-US" altLang="zh-CN" smtClean="0"/>
              <a:pPr>
                <a:defRPr/>
              </a:pPr>
              <a:t>89</a:t>
            </a:fld>
            <a:r>
              <a:rPr lang="en-US" altLang="zh-CN"/>
              <a:t>/138</a:t>
            </a:r>
            <a:endParaRPr lang="zh-CN" altLang="en-US" dirty="0"/>
          </a:p>
        </p:txBody>
      </p:sp>
    </p:spTree>
    <p:extLst>
      <p:ext uri="{BB962C8B-B14F-4D97-AF65-F5344CB8AC3E}">
        <p14:creationId xmlns:p14="http://schemas.microsoft.com/office/powerpoint/2010/main" val="11369024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8835">
                                            <p:txEl>
                                              <p:pRg st="2" end="2"/>
                                            </p:txEl>
                                          </p:spTgt>
                                        </p:tgtEl>
                                        <p:attrNameLst>
                                          <p:attrName>style.visibility</p:attrName>
                                        </p:attrNameLst>
                                      </p:cBhvr>
                                      <p:to>
                                        <p:strVal val="visible"/>
                                      </p:to>
                                    </p:set>
                                    <p:anim calcmode="lin" valueType="num">
                                      <p:cBhvr additive="base">
                                        <p:cTn id="7" dur="500" fill="hold"/>
                                        <p:tgtEl>
                                          <p:spTgt spid="2488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88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48835">
                                            <p:txEl>
                                              <p:pRg st="3" end="3"/>
                                            </p:txEl>
                                          </p:spTgt>
                                        </p:tgtEl>
                                        <p:attrNameLst>
                                          <p:attrName>style.visibility</p:attrName>
                                        </p:attrNameLst>
                                      </p:cBhvr>
                                      <p:to>
                                        <p:strVal val="visible"/>
                                      </p:to>
                                    </p:set>
                                    <p:anim calcmode="lin" valueType="num">
                                      <p:cBhvr additive="base">
                                        <p:cTn id="13" dur="500" fill="hold"/>
                                        <p:tgtEl>
                                          <p:spTgt spid="2488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88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48835">
                                            <p:txEl>
                                              <p:pRg st="4" end="4"/>
                                            </p:txEl>
                                          </p:spTgt>
                                        </p:tgtEl>
                                        <p:attrNameLst>
                                          <p:attrName>style.visibility</p:attrName>
                                        </p:attrNameLst>
                                      </p:cBhvr>
                                      <p:to>
                                        <p:strVal val="visible"/>
                                      </p:to>
                                    </p:set>
                                    <p:anim calcmode="lin" valueType="num">
                                      <p:cBhvr additive="base">
                                        <p:cTn id="19" dur="500" fill="hold"/>
                                        <p:tgtEl>
                                          <p:spTgt spid="24883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8835">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48835">
                                            <p:txEl>
                                              <p:pRg st="5" end="5"/>
                                            </p:txEl>
                                          </p:spTgt>
                                        </p:tgtEl>
                                        <p:attrNameLst>
                                          <p:attrName>style.visibility</p:attrName>
                                        </p:attrNameLst>
                                      </p:cBhvr>
                                      <p:to>
                                        <p:strVal val="visible"/>
                                      </p:to>
                                    </p:set>
                                    <p:anim calcmode="lin" valueType="num">
                                      <p:cBhvr additive="base">
                                        <p:cTn id="23" dur="500" fill="hold"/>
                                        <p:tgtEl>
                                          <p:spTgt spid="248835">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48835">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48835">
                                            <p:txEl>
                                              <p:pRg st="6" end="6"/>
                                            </p:txEl>
                                          </p:spTgt>
                                        </p:tgtEl>
                                        <p:attrNameLst>
                                          <p:attrName>style.visibility</p:attrName>
                                        </p:attrNameLst>
                                      </p:cBhvr>
                                      <p:to>
                                        <p:strVal val="visible"/>
                                      </p:to>
                                    </p:set>
                                    <p:anim calcmode="lin" valueType="num">
                                      <p:cBhvr additive="base">
                                        <p:cTn id="27" dur="500" fill="hold"/>
                                        <p:tgtEl>
                                          <p:spTgt spid="248835">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48835">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48835">
                                            <p:txEl>
                                              <p:pRg st="7" end="7"/>
                                            </p:txEl>
                                          </p:spTgt>
                                        </p:tgtEl>
                                        <p:attrNameLst>
                                          <p:attrName>style.visibility</p:attrName>
                                        </p:attrNameLst>
                                      </p:cBhvr>
                                      <p:to>
                                        <p:strVal val="visible"/>
                                      </p:to>
                                    </p:set>
                                    <p:anim calcmode="lin" valueType="num">
                                      <p:cBhvr additive="base">
                                        <p:cTn id="31" dur="500" fill="hold"/>
                                        <p:tgtEl>
                                          <p:spTgt spid="248835">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8835">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48835">
                                            <p:txEl>
                                              <p:pRg st="8" end="8"/>
                                            </p:txEl>
                                          </p:spTgt>
                                        </p:tgtEl>
                                        <p:attrNameLst>
                                          <p:attrName>style.visibility</p:attrName>
                                        </p:attrNameLst>
                                      </p:cBhvr>
                                      <p:to>
                                        <p:strVal val="visible"/>
                                      </p:to>
                                    </p:set>
                                    <p:anim calcmode="lin" valueType="num">
                                      <p:cBhvr additive="base">
                                        <p:cTn id="35" dur="500" fill="hold"/>
                                        <p:tgtEl>
                                          <p:spTgt spid="248835">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48835">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48835">
                                            <p:txEl>
                                              <p:pRg st="9" end="9"/>
                                            </p:txEl>
                                          </p:spTgt>
                                        </p:tgtEl>
                                        <p:attrNameLst>
                                          <p:attrName>style.visibility</p:attrName>
                                        </p:attrNameLst>
                                      </p:cBhvr>
                                      <p:to>
                                        <p:strVal val="visible"/>
                                      </p:to>
                                    </p:set>
                                    <p:anim calcmode="lin" valueType="num">
                                      <p:cBhvr additive="base">
                                        <p:cTn id="39" dur="500" fill="hold"/>
                                        <p:tgtEl>
                                          <p:spTgt spid="248835">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4883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r>
              <a:rPr lang="en-US" altLang="zh-CN" dirty="0"/>
              <a:t>4.4.8 </a:t>
            </a:r>
            <a:r>
              <a:rPr lang="zh-CN" altLang="en-US" dirty="0"/>
              <a:t>断言</a:t>
            </a:r>
          </a:p>
        </p:txBody>
      </p:sp>
      <p:sp>
        <p:nvSpPr>
          <p:cNvPr id="248835" name="Rectangle 3"/>
          <p:cNvSpPr>
            <a:spLocks noGrp="1" noChangeArrowheads="1"/>
          </p:cNvSpPr>
          <p:nvPr>
            <p:ph type="body" idx="1"/>
          </p:nvPr>
        </p:nvSpPr>
        <p:spPr/>
        <p:txBody>
          <a:bodyPr/>
          <a:lstStyle/>
          <a:p>
            <a:pPr marL="0" indent="0">
              <a:buNone/>
            </a:pPr>
            <a:endParaRPr lang="en-US" altLang="zh-CN" sz="2400" dirty="0"/>
          </a:p>
          <a:p>
            <a:pPr marL="0" indent="0">
              <a:buNone/>
            </a:pPr>
            <a:r>
              <a:rPr lang="en-US" altLang="zh-CN" sz="2400" dirty="0"/>
              <a:t>[</a:t>
            </a:r>
            <a:r>
              <a:rPr lang="zh-CN" altLang="en-US" sz="2400" dirty="0"/>
              <a:t>例</a:t>
            </a:r>
            <a:r>
              <a:rPr lang="en-US" altLang="zh-CN" sz="2400" dirty="0"/>
              <a:t>5.19]</a:t>
            </a:r>
            <a:r>
              <a:rPr lang="zh-CN" altLang="en-US" sz="2400" dirty="0"/>
              <a:t>限制每一门课程最多</a:t>
            </a:r>
            <a:r>
              <a:rPr lang="en-US" altLang="zh-CN" sz="2400" dirty="0"/>
              <a:t>60</a:t>
            </a:r>
            <a:r>
              <a:rPr lang="zh-CN" altLang="en-US" sz="2400" dirty="0"/>
              <a:t>名学生选修</a:t>
            </a:r>
          </a:p>
          <a:p>
            <a:pPr marL="0" indent="0">
              <a:buNone/>
            </a:pPr>
            <a:r>
              <a:rPr lang="en-US" altLang="zh-CN" sz="2400" dirty="0"/>
              <a:t>CREATE ASSERTION ASSE_SC_CNUM1</a:t>
            </a:r>
          </a:p>
          <a:p>
            <a:pPr marL="0" indent="0">
              <a:buNone/>
            </a:pPr>
            <a:r>
              <a:rPr lang="en-US" altLang="zh-CN" sz="2400" dirty="0">
                <a:solidFill>
                  <a:srgbClr val="0000FF"/>
                </a:solidFill>
              </a:rPr>
              <a:t>CHECK</a:t>
            </a:r>
            <a:r>
              <a:rPr lang="en-US" altLang="zh-CN" sz="2400" dirty="0"/>
              <a:t>(60 &gt;= ALL (SELECT count(*)</a:t>
            </a:r>
          </a:p>
          <a:p>
            <a:pPr marL="0" indent="0">
              <a:buNone/>
            </a:pPr>
            <a:r>
              <a:rPr lang="en-US" altLang="zh-CN" sz="2400" dirty="0"/>
              <a:t> 			FROM SC</a:t>
            </a:r>
          </a:p>
          <a:p>
            <a:pPr marL="0" indent="0">
              <a:buNone/>
            </a:pPr>
            <a:r>
              <a:rPr lang="en-US" altLang="zh-CN" sz="2400" dirty="0"/>
              <a:t>			GROUP by </a:t>
            </a:r>
            <a:r>
              <a:rPr lang="en-US" altLang="zh-CN" sz="2400" dirty="0" err="1"/>
              <a:t>cno</a:t>
            </a:r>
            <a:r>
              <a:rPr lang="en-US" altLang="zh-CN" sz="2400" dirty="0"/>
              <a:t>));</a:t>
            </a:r>
          </a:p>
          <a:p>
            <a:pPr marL="0" indent="0">
              <a:buNone/>
            </a:pPr>
            <a:endParaRPr lang="en-US" altLang="zh-CN" sz="2400" dirty="0"/>
          </a:p>
          <a:p>
            <a:pPr marL="0" indent="0">
              <a:buNone/>
            </a:pPr>
            <a:r>
              <a:rPr lang="en-US" altLang="zh-CN" sz="2400" dirty="0"/>
              <a:t>/*</a:t>
            </a:r>
            <a:r>
              <a:rPr lang="zh-CN" altLang="en-US" sz="2400" dirty="0"/>
              <a:t>此断言的谓词，涉及聚集操作</a:t>
            </a:r>
            <a:r>
              <a:rPr lang="en-US" altLang="zh-CN" sz="2400" dirty="0"/>
              <a:t>count </a:t>
            </a:r>
            <a:r>
              <a:rPr lang="zh-CN" altLang="en-US" sz="2400" dirty="0"/>
              <a:t>和分组函数</a:t>
            </a:r>
            <a:r>
              <a:rPr lang="en-US" altLang="zh-CN" sz="2400" dirty="0"/>
              <a:t>group by </a:t>
            </a:r>
            <a:r>
              <a:rPr lang="zh-CN" altLang="en-US" sz="2400" dirty="0"/>
              <a:t>的</a:t>
            </a:r>
            <a:r>
              <a:rPr lang="en-US" altLang="zh-CN" sz="2400" dirty="0"/>
              <a:t>SQL</a:t>
            </a:r>
            <a:r>
              <a:rPr lang="zh-CN" altLang="en-US" sz="2400" dirty="0"/>
              <a:t>语句*</a:t>
            </a:r>
            <a:r>
              <a:rPr lang="en-US" altLang="zh-CN" sz="2400" dirty="0"/>
              <a:t>/</a:t>
            </a:r>
            <a:endParaRPr lang="zh-CN" altLang="en-US" sz="2400" dirty="0"/>
          </a:p>
        </p:txBody>
      </p:sp>
      <p:sp>
        <p:nvSpPr>
          <p:cNvPr id="10" name="日期占位符 9"/>
          <p:cNvSpPr>
            <a:spLocks noGrp="1"/>
          </p:cNvSpPr>
          <p:nvPr>
            <p:ph type="dt" sz="half" idx="10"/>
          </p:nvPr>
        </p:nvSpPr>
        <p:spPr/>
        <p:txBody>
          <a:bodyPr/>
          <a:lstStyle/>
          <a:p>
            <a:fld id="{3C828793-08E2-4229-9D3E-BBB4E8FCF1D9}"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F0C5BEDB-5C33-C3C3-30AF-9BD4CE52592C}"/>
              </a:ext>
            </a:extLst>
          </p:cNvPr>
          <p:cNvSpPr>
            <a:spLocks noGrp="1"/>
          </p:cNvSpPr>
          <p:nvPr>
            <p:ph type="sldNum" sz="quarter" idx="12"/>
          </p:nvPr>
        </p:nvSpPr>
        <p:spPr/>
        <p:txBody>
          <a:bodyPr/>
          <a:lstStyle/>
          <a:p>
            <a:pPr>
              <a:defRPr/>
            </a:pPr>
            <a:fld id="{E0CD82EA-F7BE-454B-A83E-18830F6C5424}" type="slidenum">
              <a:rPr lang="en-US" altLang="zh-CN" smtClean="0"/>
              <a:pPr>
                <a:defRPr/>
              </a:pPr>
              <a:t>90</a:t>
            </a:fld>
            <a:r>
              <a:rPr lang="en-US" altLang="zh-CN"/>
              <a:t>/138</a:t>
            </a:r>
            <a:endParaRPr lang="zh-CN" altLang="en-US" dirty="0"/>
          </a:p>
        </p:txBody>
      </p:sp>
    </p:spTree>
    <p:extLst>
      <p:ext uri="{BB962C8B-B14F-4D97-AF65-F5344CB8AC3E}">
        <p14:creationId xmlns:p14="http://schemas.microsoft.com/office/powerpoint/2010/main" val="2691253821"/>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r>
              <a:rPr lang="en-US" altLang="zh-CN" dirty="0"/>
              <a:t>4.4.8 </a:t>
            </a:r>
            <a:r>
              <a:rPr lang="zh-CN" altLang="en-US" dirty="0"/>
              <a:t>断言</a:t>
            </a:r>
          </a:p>
        </p:txBody>
      </p:sp>
      <p:sp>
        <p:nvSpPr>
          <p:cNvPr id="248835" name="Rectangle 3"/>
          <p:cNvSpPr>
            <a:spLocks noGrp="1" noChangeArrowheads="1"/>
          </p:cNvSpPr>
          <p:nvPr>
            <p:ph type="body" idx="1"/>
          </p:nvPr>
        </p:nvSpPr>
        <p:spPr/>
        <p:txBody>
          <a:bodyPr/>
          <a:lstStyle/>
          <a:p>
            <a:r>
              <a:rPr lang="zh-CN" altLang="en-US"/>
              <a:t>删除断言的语句格式为 </a:t>
            </a:r>
          </a:p>
          <a:p>
            <a:pPr marL="0" indent="0">
              <a:buNone/>
            </a:pPr>
            <a:r>
              <a:rPr lang="en-US" altLang="zh-CN"/>
              <a:t>   </a:t>
            </a:r>
            <a:r>
              <a:rPr lang="en-US" altLang="zh-CN" sz="2800">
                <a:solidFill>
                  <a:srgbClr val="0000FF"/>
                </a:solidFill>
              </a:rPr>
              <a:t>DROP</a:t>
            </a:r>
            <a:r>
              <a:rPr lang="en-US" altLang="zh-CN" sz="2800"/>
              <a:t> ASSERTION &lt;</a:t>
            </a:r>
            <a:r>
              <a:rPr lang="zh-CN" altLang="en-US" sz="2800"/>
              <a:t>断言名</a:t>
            </a:r>
            <a:r>
              <a:rPr lang="en-US" altLang="zh-CN" sz="2800"/>
              <a:t>&gt;; </a:t>
            </a:r>
            <a:endParaRPr lang="zh-CN" altLang="en-US"/>
          </a:p>
          <a:p>
            <a:pPr lvl="1"/>
            <a:r>
              <a:rPr lang="zh-CN" altLang="en-US"/>
              <a:t>如果</a:t>
            </a:r>
            <a:r>
              <a:rPr lang="zh-CN" altLang="en-US">
                <a:solidFill>
                  <a:srgbClr val="0000FF"/>
                </a:solidFill>
              </a:rPr>
              <a:t>断言很复杂</a:t>
            </a:r>
            <a:r>
              <a:rPr lang="zh-CN" altLang="en-US"/>
              <a:t>，则系统在检测和维护断言的</a:t>
            </a:r>
            <a:r>
              <a:rPr lang="zh-CN" altLang="en-US">
                <a:solidFill>
                  <a:srgbClr val="0000FF"/>
                </a:solidFill>
              </a:rPr>
              <a:t>开销较高</a:t>
            </a:r>
            <a:r>
              <a:rPr lang="zh-CN" altLang="en-US"/>
              <a:t>，这是在使用断言时应该注意的 </a:t>
            </a:r>
          </a:p>
          <a:p>
            <a:pPr marL="0" indent="0">
              <a:buNone/>
            </a:pPr>
            <a:endParaRPr lang="en-US" altLang="zh-CN" dirty="0"/>
          </a:p>
        </p:txBody>
      </p:sp>
      <p:sp>
        <p:nvSpPr>
          <p:cNvPr id="10" name="日期占位符 9"/>
          <p:cNvSpPr>
            <a:spLocks noGrp="1"/>
          </p:cNvSpPr>
          <p:nvPr>
            <p:ph type="dt" sz="half" idx="10"/>
          </p:nvPr>
        </p:nvSpPr>
        <p:spPr/>
        <p:txBody>
          <a:bodyPr/>
          <a:lstStyle/>
          <a:p>
            <a:fld id="{038901DA-9021-4285-A7C9-D7ECDB121248}" type="datetime1">
              <a:rPr lang="zh-CN" altLang="en-US" smtClean="0"/>
              <a:t>2025/10/15</a:t>
            </a:fld>
            <a:endParaRPr lang="en-US" altLang="zh-CN"/>
          </a:p>
        </p:txBody>
      </p:sp>
      <p:sp>
        <p:nvSpPr>
          <p:cNvPr id="11" name="页脚占位符 10"/>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3" name="灯片编号占位符 2">
            <a:extLst>
              <a:ext uri="{FF2B5EF4-FFF2-40B4-BE49-F238E27FC236}">
                <a16:creationId xmlns:a16="http://schemas.microsoft.com/office/drawing/2014/main" id="{C02071AE-473E-8EA6-C8B7-88F0241B67C2}"/>
              </a:ext>
            </a:extLst>
          </p:cNvPr>
          <p:cNvSpPr>
            <a:spLocks noGrp="1"/>
          </p:cNvSpPr>
          <p:nvPr>
            <p:ph type="sldNum" sz="quarter" idx="12"/>
          </p:nvPr>
        </p:nvSpPr>
        <p:spPr/>
        <p:txBody>
          <a:bodyPr/>
          <a:lstStyle/>
          <a:p>
            <a:pPr>
              <a:defRPr/>
            </a:pPr>
            <a:fld id="{E0CD82EA-F7BE-454B-A83E-18830F6C5424}" type="slidenum">
              <a:rPr lang="en-US" altLang="zh-CN" smtClean="0"/>
              <a:pPr>
                <a:defRPr/>
              </a:pPr>
              <a:t>91</a:t>
            </a:fld>
            <a:r>
              <a:rPr lang="en-US" altLang="zh-CN"/>
              <a:t>/138</a:t>
            </a:r>
            <a:endParaRPr lang="zh-CN" altLang="en-US" dirty="0"/>
          </a:p>
        </p:txBody>
      </p:sp>
    </p:spTree>
    <p:extLst>
      <p:ext uri="{BB962C8B-B14F-4D97-AF65-F5344CB8AC3E}">
        <p14:creationId xmlns:p14="http://schemas.microsoft.com/office/powerpoint/2010/main" val="1141865561"/>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195598C8-0AD4-43EB-A305-65B36BE8B21F}" type="datetime1">
              <a:rPr kumimoji="0" lang="zh-CN" altLang="en-US" sz="1400" smtClean="0"/>
              <a:t>2025/10/15</a:t>
            </a:fld>
            <a:endParaRPr kumimoji="0" lang="en-US" altLang="zh-CN" sz="1400"/>
          </a:p>
        </p:txBody>
      </p:sp>
      <p:sp>
        <p:nvSpPr>
          <p:cNvPr id="512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5125" name="Rectangle 2"/>
          <p:cNvSpPr>
            <a:spLocks noGrp="1" noChangeArrowheads="1"/>
          </p:cNvSpPr>
          <p:nvPr>
            <p:ph type="title"/>
          </p:nvPr>
        </p:nvSpPr>
        <p:spPr/>
        <p:txBody>
          <a:bodyPr/>
          <a:lstStyle/>
          <a:p>
            <a:pPr eaLnBrk="1" hangingPunct="1"/>
            <a:r>
              <a:rPr lang="zh-CN" altLang="en-US"/>
              <a:t>本章目录</a:t>
            </a:r>
          </a:p>
        </p:txBody>
      </p:sp>
      <p:sp>
        <p:nvSpPr>
          <p:cNvPr id="5126" name="Rectangle 3"/>
          <p:cNvSpPr>
            <a:spLocks noGrp="1" noChangeArrowheads="1"/>
          </p:cNvSpPr>
          <p:nvPr>
            <p:ph type="body" idx="1"/>
          </p:nvPr>
        </p:nvSpPr>
        <p:spPr>
          <a:xfrm>
            <a:off x="1371600" y="1600200"/>
            <a:ext cx="7583488" cy="4532313"/>
          </a:xfrm>
        </p:spPr>
        <p:txBody>
          <a:bodyPr/>
          <a:lstStyle/>
          <a:p>
            <a:pPr eaLnBrk="1" hangingPunct="1"/>
            <a:r>
              <a:rPr lang="en-US" altLang="zh-CN" dirty="0"/>
              <a:t>4.1 </a:t>
            </a:r>
            <a:r>
              <a:rPr lang="zh-CN" altLang="en-US" dirty="0"/>
              <a:t>连接查询</a:t>
            </a:r>
          </a:p>
          <a:p>
            <a:pPr eaLnBrk="1" hangingPunct="1"/>
            <a:r>
              <a:rPr lang="en-US" altLang="zh-CN" dirty="0"/>
              <a:t>4.2 </a:t>
            </a:r>
            <a:r>
              <a:rPr lang="zh-CN" altLang="en-US" dirty="0"/>
              <a:t>视图</a:t>
            </a:r>
          </a:p>
          <a:p>
            <a:pPr eaLnBrk="1" hangingPunct="1"/>
            <a:r>
              <a:rPr lang="en-US" altLang="zh-CN" dirty="0"/>
              <a:t>4.3 </a:t>
            </a:r>
            <a:r>
              <a:rPr lang="zh-CN" altLang="en-US" dirty="0"/>
              <a:t>事务</a:t>
            </a:r>
            <a:endParaRPr lang="en-US" altLang="zh-CN" dirty="0"/>
          </a:p>
          <a:p>
            <a:pPr eaLnBrk="1" hangingPunct="1"/>
            <a:r>
              <a:rPr lang="en-US" altLang="zh-CN" dirty="0"/>
              <a:t>4.4 </a:t>
            </a:r>
            <a:r>
              <a:rPr lang="zh-CN" altLang="en-US" dirty="0"/>
              <a:t>完整性约束</a:t>
            </a:r>
            <a:endParaRPr lang="en-US" altLang="zh-CN" dirty="0"/>
          </a:p>
          <a:p>
            <a:pPr eaLnBrk="1" hangingPunct="1"/>
            <a:r>
              <a:rPr lang="en-US" altLang="zh-CN" dirty="0"/>
              <a:t>4.5 SQL</a:t>
            </a:r>
            <a:r>
              <a:rPr lang="zh-CN" altLang="en-US" dirty="0"/>
              <a:t>数据类型与模式</a:t>
            </a:r>
            <a:endParaRPr lang="en-US" altLang="zh-CN" dirty="0"/>
          </a:p>
          <a:p>
            <a:pPr eaLnBrk="1" hangingPunct="1"/>
            <a:r>
              <a:rPr lang="en-US" altLang="zh-CN" dirty="0"/>
              <a:t>4.6 </a:t>
            </a:r>
            <a:r>
              <a:rPr lang="zh-CN" altLang="en-US" dirty="0"/>
              <a:t>索引</a:t>
            </a:r>
            <a:endParaRPr lang="en-US" altLang="zh-CN" dirty="0"/>
          </a:p>
          <a:p>
            <a:pPr eaLnBrk="1" hangingPunct="1"/>
            <a:r>
              <a:rPr lang="en-US" altLang="zh-CN" dirty="0"/>
              <a:t>4.7 </a:t>
            </a:r>
            <a:r>
              <a:rPr lang="zh-CN" altLang="en-US" dirty="0"/>
              <a:t>授权</a:t>
            </a:r>
          </a:p>
        </p:txBody>
      </p:sp>
      <p:sp>
        <p:nvSpPr>
          <p:cNvPr id="11268" name="AutoShape 4"/>
          <p:cNvSpPr>
            <a:spLocks noChangeArrowheads="1"/>
          </p:cNvSpPr>
          <p:nvPr/>
        </p:nvSpPr>
        <p:spPr bwMode="auto">
          <a:xfrm>
            <a:off x="856129" y="4114800"/>
            <a:ext cx="457200" cy="457200"/>
          </a:xfrm>
          <a:prstGeom prst="rightArrow">
            <a:avLst>
              <a:gd name="adj1" fmla="val 50000"/>
              <a:gd name="adj2" fmla="val 40278"/>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4" name="灯片编号占位符 3">
            <a:extLst>
              <a:ext uri="{FF2B5EF4-FFF2-40B4-BE49-F238E27FC236}">
                <a16:creationId xmlns:a16="http://schemas.microsoft.com/office/drawing/2014/main" id="{8E4905E5-BC9F-171A-0493-F57D40A5F0FF}"/>
              </a:ext>
            </a:extLst>
          </p:cNvPr>
          <p:cNvSpPr>
            <a:spLocks noGrp="1"/>
          </p:cNvSpPr>
          <p:nvPr>
            <p:ph type="sldNum" sz="quarter" idx="12"/>
          </p:nvPr>
        </p:nvSpPr>
        <p:spPr/>
        <p:txBody>
          <a:bodyPr/>
          <a:lstStyle/>
          <a:p>
            <a:pPr>
              <a:defRPr/>
            </a:pPr>
            <a:fld id="{E0CD82EA-F7BE-454B-A83E-18830F6C5424}" type="slidenum">
              <a:rPr lang="en-US" altLang="zh-CN" smtClean="0"/>
              <a:pPr>
                <a:defRPr/>
              </a:pPr>
              <a:t>92</a:t>
            </a:fld>
            <a:r>
              <a:rPr lang="en-US" altLang="zh-CN"/>
              <a:t>/138</a:t>
            </a:r>
            <a:endParaRPr lang="zh-CN" altLang="en-US" dirty="0"/>
          </a:p>
        </p:txBody>
      </p:sp>
    </p:spTree>
    <p:extLst>
      <p:ext uri="{BB962C8B-B14F-4D97-AF65-F5344CB8AC3E}">
        <p14:creationId xmlns:p14="http://schemas.microsoft.com/office/powerpoint/2010/main" val="2614892385"/>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268"/>
                                        </p:tgtEl>
                                        <p:attrNameLst>
                                          <p:attrName>style.visibility</p:attrName>
                                        </p:attrNameLst>
                                      </p:cBhvr>
                                      <p:to>
                                        <p:strVal val="visible"/>
                                      </p:to>
                                    </p:set>
                                    <p:anim calcmode="lin" valueType="num">
                                      <p:cBhvr additive="base">
                                        <p:cTn id="7" dur="500" fill="hold"/>
                                        <p:tgtEl>
                                          <p:spTgt spid="11268"/>
                                        </p:tgtEl>
                                        <p:attrNameLst>
                                          <p:attrName>ppt_x</p:attrName>
                                        </p:attrNameLst>
                                      </p:cBhvr>
                                      <p:tavLst>
                                        <p:tav tm="0">
                                          <p:val>
                                            <p:strVal val="0-#ppt_w/2"/>
                                          </p:val>
                                        </p:tav>
                                        <p:tav tm="100000">
                                          <p:val>
                                            <p:strVal val="#ppt_x"/>
                                          </p:val>
                                        </p:tav>
                                      </p:tavLst>
                                    </p:anim>
                                    <p:anim calcmode="lin" valueType="num">
                                      <p:cBhvr additive="base">
                                        <p:cTn id="8" dur="500" fill="hold"/>
                                        <p:tgtEl>
                                          <p:spTgt spid="112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275F4CD4-99FC-4391-97BB-4BCD5E6FFDDF}" type="datetime1">
              <a:rPr kumimoji="0" lang="zh-CN" altLang="en-US" sz="1400" smtClean="0"/>
              <a:t>2025/10/15</a:t>
            </a:fld>
            <a:endParaRPr kumimoji="0" lang="en-US" altLang="zh-CN" sz="1400"/>
          </a:p>
        </p:txBody>
      </p:sp>
      <p:sp>
        <p:nvSpPr>
          <p:cNvPr id="43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43013" name="Rectangle 2"/>
          <p:cNvSpPr>
            <a:spLocks noGrp="1" noChangeArrowheads="1"/>
          </p:cNvSpPr>
          <p:nvPr>
            <p:ph type="title"/>
          </p:nvPr>
        </p:nvSpPr>
        <p:spPr/>
        <p:txBody>
          <a:bodyPr/>
          <a:lstStyle/>
          <a:p>
            <a:pPr eaLnBrk="1" hangingPunct="1"/>
            <a:r>
              <a:rPr lang="en-US" altLang="zh-CN" dirty="0"/>
              <a:t>4.5 SQL</a:t>
            </a:r>
            <a:r>
              <a:rPr lang="zh-CN" altLang="en-US" dirty="0"/>
              <a:t>数据类型与模式</a:t>
            </a:r>
            <a:endParaRPr lang="en-US" altLang="zh-CN" dirty="0"/>
          </a:p>
        </p:txBody>
      </p:sp>
      <p:sp>
        <p:nvSpPr>
          <p:cNvPr id="43014" name="Rectangle 3"/>
          <p:cNvSpPr>
            <a:spLocks noGrp="1" noChangeArrowheads="1"/>
          </p:cNvSpPr>
          <p:nvPr>
            <p:ph type="body" idx="1"/>
          </p:nvPr>
        </p:nvSpPr>
        <p:spPr/>
        <p:txBody>
          <a:bodyPr/>
          <a:lstStyle/>
          <a:p>
            <a:pPr eaLnBrk="1" hangingPunct="1"/>
            <a:r>
              <a:rPr lang="en-US" altLang="zh-CN" dirty="0"/>
              <a:t>4.5.1-5 </a:t>
            </a:r>
            <a:r>
              <a:rPr lang="zh-CN" altLang="en-US" dirty="0"/>
              <a:t>自学</a:t>
            </a:r>
          </a:p>
        </p:txBody>
      </p:sp>
      <p:sp>
        <p:nvSpPr>
          <p:cNvPr id="4" name="灯片编号占位符 3">
            <a:extLst>
              <a:ext uri="{FF2B5EF4-FFF2-40B4-BE49-F238E27FC236}">
                <a16:creationId xmlns:a16="http://schemas.microsoft.com/office/drawing/2014/main" id="{52991C26-3C13-5C7E-1E37-503E0BF3E6FC}"/>
              </a:ext>
            </a:extLst>
          </p:cNvPr>
          <p:cNvSpPr>
            <a:spLocks noGrp="1"/>
          </p:cNvSpPr>
          <p:nvPr>
            <p:ph type="sldNum" sz="quarter" idx="12"/>
          </p:nvPr>
        </p:nvSpPr>
        <p:spPr/>
        <p:txBody>
          <a:bodyPr/>
          <a:lstStyle/>
          <a:p>
            <a:pPr>
              <a:defRPr/>
            </a:pPr>
            <a:fld id="{E0CD82EA-F7BE-454B-A83E-18830F6C5424}" type="slidenum">
              <a:rPr lang="en-US" altLang="zh-CN" smtClean="0"/>
              <a:pPr>
                <a:defRPr/>
              </a:pPr>
              <a:t>93</a:t>
            </a:fld>
            <a:r>
              <a:rPr lang="en-US" altLang="zh-CN"/>
              <a:t>/138</a:t>
            </a:r>
            <a:endParaRPr lang="zh-CN" altLang="en-US" dirty="0"/>
          </a:p>
        </p:txBody>
      </p:sp>
    </p:spTree>
    <p:extLst>
      <p:ext uri="{BB962C8B-B14F-4D97-AF65-F5344CB8AC3E}">
        <p14:creationId xmlns:p14="http://schemas.microsoft.com/office/powerpoint/2010/main" val="1266172367"/>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817E66CF-607C-441E-B958-65EC88FB847D}" type="datetime1">
              <a:rPr kumimoji="0" lang="zh-CN" altLang="en-US" sz="1400" smtClean="0"/>
              <a:t>2025/10/15</a:t>
            </a:fld>
            <a:endParaRPr kumimoji="0" lang="en-US" altLang="zh-CN" sz="1400"/>
          </a:p>
        </p:txBody>
      </p:sp>
      <p:sp>
        <p:nvSpPr>
          <p:cNvPr id="43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43013" name="Rectangle 2"/>
          <p:cNvSpPr>
            <a:spLocks noGrp="1" noChangeArrowheads="1"/>
          </p:cNvSpPr>
          <p:nvPr>
            <p:ph type="title"/>
          </p:nvPr>
        </p:nvSpPr>
        <p:spPr/>
        <p:txBody>
          <a:bodyPr/>
          <a:lstStyle/>
          <a:p>
            <a:pPr eaLnBrk="1" hangingPunct="1"/>
            <a:r>
              <a:rPr lang="en-US" altLang="zh-CN" dirty="0"/>
              <a:t>4.5.6 </a:t>
            </a:r>
            <a:r>
              <a:rPr lang="zh-CN" altLang="en-US" dirty="0"/>
              <a:t>生成唯一码值</a:t>
            </a:r>
            <a:endParaRPr lang="en-US" altLang="zh-CN" dirty="0"/>
          </a:p>
        </p:txBody>
      </p:sp>
      <p:sp>
        <p:nvSpPr>
          <p:cNvPr id="43014" name="Rectangle 3"/>
          <p:cNvSpPr>
            <a:spLocks noGrp="1" noChangeArrowheads="1"/>
          </p:cNvSpPr>
          <p:nvPr>
            <p:ph type="body" idx="1"/>
          </p:nvPr>
        </p:nvSpPr>
        <p:spPr/>
        <p:txBody>
          <a:bodyPr/>
          <a:lstStyle/>
          <a:p>
            <a:pPr eaLnBrk="1" hangingPunct="1"/>
            <a:r>
              <a:rPr lang="en-US" altLang="zh-CN" dirty="0"/>
              <a:t>4.5.1 - 4.5.5 </a:t>
            </a:r>
            <a:r>
              <a:rPr lang="zh-CN" altLang="en-US" dirty="0"/>
              <a:t>自学</a:t>
            </a:r>
          </a:p>
        </p:txBody>
      </p:sp>
      <p:sp>
        <p:nvSpPr>
          <p:cNvPr id="4" name="灯片编号占位符 3">
            <a:extLst>
              <a:ext uri="{FF2B5EF4-FFF2-40B4-BE49-F238E27FC236}">
                <a16:creationId xmlns:a16="http://schemas.microsoft.com/office/drawing/2014/main" id="{0827D4F9-CC7D-FD34-954D-95C7199212FE}"/>
              </a:ext>
            </a:extLst>
          </p:cNvPr>
          <p:cNvSpPr>
            <a:spLocks noGrp="1"/>
          </p:cNvSpPr>
          <p:nvPr>
            <p:ph type="sldNum" sz="quarter" idx="12"/>
          </p:nvPr>
        </p:nvSpPr>
        <p:spPr/>
        <p:txBody>
          <a:bodyPr/>
          <a:lstStyle/>
          <a:p>
            <a:pPr>
              <a:defRPr/>
            </a:pPr>
            <a:fld id="{E0CD82EA-F7BE-454B-A83E-18830F6C5424}" type="slidenum">
              <a:rPr lang="en-US" altLang="zh-CN" smtClean="0"/>
              <a:pPr>
                <a:defRPr/>
              </a:pPr>
              <a:t>94</a:t>
            </a:fld>
            <a:r>
              <a:rPr lang="en-US" altLang="zh-CN"/>
              <a:t>/138</a:t>
            </a:r>
            <a:endParaRPr lang="zh-CN" altLang="en-US" dirty="0"/>
          </a:p>
        </p:txBody>
      </p:sp>
    </p:spTree>
    <p:extLst>
      <p:ext uri="{BB962C8B-B14F-4D97-AF65-F5344CB8AC3E}">
        <p14:creationId xmlns:p14="http://schemas.microsoft.com/office/powerpoint/2010/main" val="3525587231"/>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DC1D92E7-DD17-4D61-B49B-83D8AAC48850}" type="datetime1">
              <a:rPr kumimoji="0" lang="zh-CN" altLang="en-US" sz="1400" smtClean="0"/>
              <a:t>2025/10/15</a:t>
            </a:fld>
            <a:endParaRPr kumimoji="0" lang="en-US" altLang="zh-CN" sz="1400"/>
          </a:p>
        </p:txBody>
      </p:sp>
      <p:sp>
        <p:nvSpPr>
          <p:cNvPr id="43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43013" name="Rectangle 2"/>
          <p:cNvSpPr>
            <a:spLocks noGrp="1" noChangeArrowheads="1"/>
          </p:cNvSpPr>
          <p:nvPr>
            <p:ph type="title"/>
          </p:nvPr>
        </p:nvSpPr>
        <p:spPr/>
        <p:txBody>
          <a:bodyPr/>
          <a:lstStyle/>
          <a:p>
            <a:pPr eaLnBrk="1" hangingPunct="1"/>
            <a:r>
              <a:rPr lang="en-US" altLang="zh-CN" dirty="0"/>
              <a:t>4.5.6 </a:t>
            </a:r>
            <a:r>
              <a:rPr lang="zh-CN" altLang="en-US" dirty="0"/>
              <a:t>生成唯一码值</a:t>
            </a:r>
            <a:endParaRPr lang="en-US" altLang="zh-CN" dirty="0"/>
          </a:p>
        </p:txBody>
      </p:sp>
      <p:sp>
        <p:nvSpPr>
          <p:cNvPr id="43014" name="Rectangle 3"/>
          <p:cNvSpPr>
            <a:spLocks noGrp="1" noChangeArrowheads="1"/>
          </p:cNvSpPr>
          <p:nvPr>
            <p:ph type="body" idx="1"/>
          </p:nvPr>
        </p:nvSpPr>
        <p:spPr/>
        <p:txBody>
          <a:bodyPr/>
          <a:lstStyle/>
          <a:p>
            <a:pPr eaLnBrk="1" hangingPunct="1"/>
            <a:r>
              <a:rPr lang="zh-CN" altLang="en-US" sz="2800" dirty="0"/>
              <a:t>数据库系统提供了对生成</a:t>
            </a:r>
            <a:r>
              <a:rPr lang="zh-CN" altLang="en-US" sz="2800" b="1" dirty="0">
                <a:solidFill>
                  <a:srgbClr val="0000FF"/>
                </a:solidFill>
              </a:rPr>
              <a:t>唯一码值</a:t>
            </a:r>
            <a:r>
              <a:rPr lang="zh-CN" altLang="en-US" sz="2800" dirty="0"/>
              <a:t>的自动管理。</a:t>
            </a:r>
            <a:endParaRPr lang="en-US" altLang="zh-CN" sz="2800" dirty="0"/>
          </a:p>
          <a:p>
            <a:pPr eaLnBrk="1" hangingPunct="1"/>
            <a:r>
              <a:rPr lang="zh-CN" altLang="en-US" sz="2800" dirty="0"/>
              <a:t>例：</a:t>
            </a:r>
            <a:r>
              <a:rPr lang="en-US" altLang="zh-CN" sz="2800" u="sng" dirty="0"/>
              <a:t>instructor</a:t>
            </a:r>
            <a:r>
              <a:rPr lang="zh-CN" altLang="en-US" sz="2800" dirty="0"/>
              <a:t>中的</a:t>
            </a:r>
            <a:r>
              <a:rPr lang="en-US" altLang="zh-CN" sz="2800" dirty="0"/>
              <a:t>ID</a:t>
            </a:r>
            <a:r>
              <a:rPr lang="zh-CN" altLang="en-US" sz="2800" dirty="0"/>
              <a:t>属性列</a:t>
            </a:r>
            <a:r>
              <a:rPr lang="en-US" altLang="zh-CN" sz="2800" dirty="0"/>
              <a:t>(</a:t>
            </a:r>
            <a:r>
              <a:rPr lang="en-US" altLang="zh-CN" sz="2800" i="1" u="sng" dirty="0"/>
              <a:t>ID </a:t>
            </a:r>
            <a:r>
              <a:rPr lang="en-US" altLang="zh-CN" sz="2800" u="sng" dirty="0"/>
              <a:t>varchar (5)</a:t>
            </a:r>
            <a:r>
              <a:rPr lang="en-US" altLang="zh-CN" sz="2800" dirty="0"/>
              <a:t>)</a:t>
            </a:r>
            <a:r>
              <a:rPr lang="zh-CN" altLang="en-US" sz="2800" dirty="0"/>
              <a:t>，可以定义如下：</a:t>
            </a:r>
            <a:endParaRPr lang="en-US" altLang="zh-CN" sz="2800" dirty="0"/>
          </a:p>
          <a:p>
            <a:pPr marL="457200" lvl="1" indent="0" eaLnBrk="1" hangingPunct="1">
              <a:buNone/>
            </a:pPr>
            <a:r>
              <a:rPr lang="en-US" altLang="zh-CN" sz="2400" i="1" dirty="0"/>
              <a:t>ID </a:t>
            </a:r>
            <a:r>
              <a:rPr lang="en-US" altLang="zh-CN" sz="2400" dirty="0">
                <a:solidFill>
                  <a:srgbClr val="0000FF"/>
                </a:solidFill>
              </a:rPr>
              <a:t>number</a:t>
            </a:r>
            <a:r>
              <a:rPr lang="en-US" altLang="zh-CN" sz="2400" dirty="0"/>
              <a:t>(5) </a:t>
            </a:r>
            <a:r>
              <a:rPr lang="en-US" altLang="zh-CN" sz="2400" dirty="0">
                <a:solidFill>
                  <a:srgbClr val="0000FF"/>
                </a:solidFill>
              </a:rPr>
              <a:t>generated always as identity</a:t>
            </a:r>
          </a:p>
          <a:p>
            <a:pPr lvl="1" eaLnBrk="1" hangingPunct="1"/>
            <a:r>
              <a:rPr lang="zh-CN" altLang="en-US" sz="2400" dirty="0"/>
              <a:t>当使用</a:t>
            </a:r>
            <a:r>
              <a:rPr lang="en-US" altLang="zh-CN" sz="2400" dirty="0"/>
              <a:t>always</a:t>
            </a:r>
            <a:r>
              <a:rPr lang="zh-CN" altLang="en-US" sz="2400" dirty="0"/>
              <a:t>选项时，任何</a:t>
            </a:r>
            <a:r>
              <a:rPr lang="en-US" altLang="zh-CN" sz="2400" dirty="0"/>
              <a:t>insert</a:t>
            </a:r>
            <a:r>
              <a:rPr lang="zh-CN" altLang="en-US" sz="2400" dirty="0"/>
              <a:t>语句都必须避免为自动生成的码来指定一个值。</a:t>
            </a:r>
            <a:endParaRPr lang="en-US" altLang="zh-CN" sz="2400" dirty="0"/>
          </a:p>
          <a:p>
            <a:pPr lvl="1" eaLnBrk="1" hangingPunct="1"/>
            <a:r>
              <a:rPr lang="zh-CN" altLang="en-US" sz="2400" dirty="0"/>
              <a:t>此外，数据插入使用如下的形式：</a:t>
            </a:r>
            <a:r>
              <a:rPr lang="en-US" altLang="zh-CN" sz="1600" dirty="0"/>
              <a:t> </a:t>
            </a:r>
            <a:endParaRPr lang="en-US" altLang="zh-CN" sz="2400" dirty="0"/>
          </a:p>
          <a:p>
            <a:pPr marL="400050" lvl="1" indent="0">
              <a:buNone/>
            </a:pPr>
            <a:r>
              <a:rPr lang="en-US" altLang="zh-CN" sz="1600" dirty="0"/>
              <a:t>           insert into </a:t>
            </a:r>
            <a:r>
              <a:rPr lang="en-US" altLang="zh-CN" sz="1600" i="1" dirty="0"/>
              <a:t>instructor </a:t>
            </a:r>
            <a:r>
              <a:rPr lang="en-US" altLang="zh-CN" sz="1600" dirty="0"/>
              <a:t>(</a:t>
            </a:r>
            <a:r>
              <a:rPr lang="en-US" altLang="zh-CN" sz="1600" i="1" dirty="0"/>
              <a:t>name</a:t>
            </a:r>
            <a:r>
              <a:rPr lang="en-US" altLang="zh-CN" sz="1600" dirty="0"/>
              <a:t>, </a:t>
            </a:r>
            <a:r>
              <a:rPr lang="en-US" altLang="zh-CN" sz="1600" i="1" dirty="0" err="1"/>
              <a:t>dept_name</a:t>
            </a:r>
            <a:r>
              <a:rPr lang="en-US" altLang="zh-CN" sz="1600" dirty="0"/>
              <a:t>, </a:t>
            </a:r>
            <a:r>
              <a:rPr lang="en-US" altLang="zh-CN" sz="1600" i="1" dirty="0"/>
              <a:t>salary</a:t>
            </a:r>
            <a:r>
              <a:rPr lang="en-US" altLang="zh-CN" sz="1600" dirty="0"/>
              <a:t>) </a:t>
            </a:r>
          </a:p>
          <a:p>
            <a:pPr marL="400050" lvl="1" indent="0">
              <a:buNone/>
            </a:pPr>
            <a:r>
              <a:rPr lang="en-US" altLang="zh-CN" sz="1600" dirty="0"/>
              <a:t>           values (‘</a:t>
            </a:r>
            <a:r>
              <a:rPr lang="en-US" altLang="zh-CN" sz="1600" dirty="0" err="1"/>
              <a:t>Newprof</a:t>
            </a:r>
            <a:r>
              <a:rPr lang="en-US" altLang="zh-CN" sz="1600" dirty="0"/>
              <a:t>’, ‘Comp. Sci.’, 100000);  </a:t>
            </a:r>
            <a:r>
              <a:rPr lang="zh-CN" altLang="en-US" sz="1600" dirty="0"/>
              <a:t>所生成的</a:t>
            </a:r>
            <a:r>
              <a:rPr lang="en-US" altLang="zh-CN" sz="1600" dirty="0"/>
              <a:t>ID</a:t>
            </a:r>
            <a:r>
              <a:rPr lang="zh-CN" altLang="en-US" sz="1600" dirty="0"/>
              <a:t>值可以</a:t>
            </a:r>
            <a:r>
              <a:rPr lang="en-US" altLang="zh-CN" sz="1600" dirty="0"/>
              <a:t>select</a:t>
            </a:r>
            <a:r>
              <a:rPr lang="zh-CN" altLang="en-US" sz="1600" dirty="0"/>
              <a:t>查到。</a:t>
            </a:r>
            <a:endParaRPr lang="en-US" altLang="zh-CN" sz="1600" dirty="0"/>
          </a:p>
          <a:p>
            <a:pPr marL="685800" lvl="1"/>
            <a:r>
              <a:rPr lang="zh-CN" altLang="en-US" sz="2400" dirty="0"/>
              <a:t>不同数据库对该功能的支持多样</a:t>
            </a:r>
            <a:endParaRPr lang="en-US" altLang="zh-CN" sz="2400" dirty="0"/>
          </a:p>
          <a:p>
            <a:pPr marL="1085850" lvl="2"/>
            <a:r>
              <a:rPr lang="en-US" altLang="zh-CN" sz="2000" dirty="0"/>
              <a:t>PostgreSQL, </a:t>
            </a:r>
            <a:r>
              <a:rPr lang="zh-CN" altLang="en-US" sz="2000" dirty="0"/>
              <a:t>通过将</a:t>
            </a:r>
            <a:r>
              <a:rPr lang="en-US" altLang="zh-CN" sz="2000" dirty="0"/>
              <a:t>ID</a:t>
            </a:r>
            <a:r>
              <a:rPr lang="zh-CN" altLang="en-US" sz="2000" dirty="0"/>
              <a:t>的类型定义为</a:t>
            </a:r>
            <a:r>
              <a:rPr lang="en-US" altLang="zh-CN" sz="2000" dirty="0"/>
              <a:t>serial</a:t>
            </a:r>
            <a:r>
              <a:rPr lang="zh-CN" altLang="en-US" sz="2000" dirty="0"/>
              <a:t>，来自动生成标识；</a:t>
            </a:r>
            <a:endParaRPr lang="en-US" altLang="zh-CN" sz="2000" dirty="0"/>
          </a:p>
          <a:p>
            <a:pPr marL="1085850" lvl="2"/>
            <a:r>
              <a:rPr lang="en-US" altLang="zh-CN" sz="2000" dirty="0"/>
              <a:t>MySQL</a:t>
            </a:r>
            <a:r>
              <a:rPr lang="zh-CN" altLang="en-US" sz="2000" dirty="0"/>
              <a:t>使用</a:t>
            </a:r>
            <a:r>
              <a:rPr lang="en-US" altLang="zh-CN" sz="2000" dirty="0"/>
              <a:t>auto increment</a:t>
            </a:r>
            <a:r>
              <a:rPr lang="zh-CN" altLang="en-US" sz="2000" dirty="0"/>
              <a:t>代替</a:t>
            </a:r>
            <a:r>
              <a:rPr lang="en-US" altLang="zh-CN" sz="2000" dirty="0"/>
              <a:t>generated always as identity</a:t>
            </a:r>
            <a:r>
              <a:rPr lang="zh-CN" altLang="en-US" sz="2000" dirty="0"/>
              <a:t>。</a:t>
            </a:r>
          </a:p>
        </p:txBody>
      </p:sp>
      <p:sp>
        <p:nvSpPr>
          <p:cNvPr id="4" name="灯片编号占位符 3">
            <a:extLst>
              <a:ext uri="{FF2B5EF4-FFF2-40B4-BE49-F238E27FC236}">
                <a16:creationId xmlns:a16="http://schemas.microsoft.com/office/drawing/2014/main" id="{1F553C3A-B024-F301-00C7-6BFB5E620A1B}"/>
              </a:ext>
            </a:extLst>
          </p:cNvPr>
          <p:cNvSpPr>
            <a:spLocks noGrp="1"/>
          </p:cNvSpPr>
          <p:nvPr>
            <p:ph type="sldNum" sz="quarter" idx="12"/>
          </p:nvPr>
        </p:nvSpPr>
        <p:spPr/>
        <p:txBody>
          <a:bodyPr/>
          <a:lstStyle/>
          <a:p>
            <a:pPr>
              <a:defRPr/>
            </a:pPr>
            <a:fld id="{E0CD82EA-F7BE-454B-A83E-18830F6C5424}" type="slidenum">
              <a:rPr lang="en-US" altLang="zh-CN" smtClean="0"/>
              <a:pPr>
                <a:defRPr/>
              </a:pPr>
              <a:t>95</a:t>
            </a:fld>
            <a:r>
              <a:rPr lang="en-US" altLang="zh-CN"/>
              <a:t>/138</a:t>
            </a:r>
            <a:endParaRPr lang="zh-CN" altLang="en-US" dirty="0"/>
          </a:p>
        </p:txBody>
      </p:sp>
    </p:spTree>
    <p:extLst>
      <p:ext uri="{BB962C8B-B14F-4D97-AF65-F5344CB8AC3E}">
        <p14:creationId xmlns:p14="http://schemas.microsoft.com/office/powerpoint/2010/main" val="42798330"/>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66F6F25B-75CC-4B2F-8CEE-7769E25FDB4E}" type="datetime1">
              <a:rPr kumimoji="0" lang="zh-CN" altLang="en-US" sz="1400" smtClean="0"/>
              <a:t>2025/10/15</a:t>
            </a:fld>
            <a:endParaRPr kumimoji="0" lang="en-US" altLang="zh-CN" sz="1400"/>
          </a:p>
        </p:txBody>
      </p:sp>
      <p:sp>
        <p:nvSpPr>
          <p:cNvPr id="43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43013" name="Rectangle 2"/>
          <p:cNvSpPr>
            <a:spLocks noGrp="1" noChangeArrowheads="1"/>
          </p:cNvSpPr>
          <p:nvPr>
            <p:ph type="title"/>
          </p:nvPr>
        </p:nvSpPr>
        <p:spPr/>
        <p:txBody>
          <a:bodyPr/>
          <a:lstStyle/>
          <a:p>
            <a:pPr eaLnBrk="1" hangingPunct="1"/>
            <a:r>
              <a:rPr lang="en-US" altLang="zh-CN" dirty="0"/>
              <a:t>4.5.7 create table </a:t>
            </a:r>
            <a:r>
              <a:rPr lang="zh-CN" altLang="en-US" dirty="0"/>
              <a:t>扩展</a:t>
            </a:r>
            <a:endParaRPr lang="en-US" altLang="zh-CN" dirty="0"/>
          </a:p>
        </p:txBody>
      </p:sp>
      <p:sp>
        <p:nvSpPr>
          <p:cNvPr id="43014" name="Rectangle 3"/>
          <p:cNvSpPr>
            <a:spLocks noGrp="1" noChangeArrowheads="1"/>
          </p:cNvSpPr>
          <p:nvPr>
            <p:ph type="body" idx="1"/>
          </p:nvPr>
        </p:nvSpPr>
        <p:spPr/>
        <p:txBody>
          <a:bodyPr/>
          <a:lstStyle/>
          <a:p>
            <a:pPr eaLnBrk="1" hangingPunct="1"/>
            <a:r>
              <a:rPr lang="zh-CN" altLang="en-US" sz="2800" dirty="0"/>
              <a:t>如果创建一个与现有某个表模式相同的表。</a:t>
            </a:r>
            <a:r>
              <a:rPr lang="en-US" altLang="zh-CN" sz="2800" dirty="0"/>
              <a:t>SQL</a:t>
            </a:r>
            <a:r>
              <a:rPr lang="zh-CN" altLang="en-US" sz="2800" dirty="0"/>
              <a:t>提供了：</a:t>
            </a:r>
            <a:endParaRPr lang="en-US" altLang="zh-CN" sz="2800" dirty="0"/>
          </a:p>
          <a:p>
            <a:pPr marL="0" indent="0" algn="ctr" eaLnBrk="1" hangingPunct="1">
              <a:buNone/>
            </a:pPr>
            <a:r>
              <a:rPr lang="en-US" altLang="zh-CN" sz="2400" dirty="0"/>
              <a:t>create table </a:t>
            </a:r>
            <a:r>
              <a:rPr lang="en-US" altLang="zh-CN" sz="2400" i="1" dirty="0" err="1"/>
              <a:t>temp_instructor</a:t>
            </a:r>
            <a:r>
              <a:rPr lang="en-US" altLang="zh-CN" sz="2400" i="1" dirty="0"/>
              <a:t> </a:t>
            </a:r>
            <a:r>
              <a:rPr lang="en-US" altLang="zh-CN" sz="2400" dirty="0">
                <a:solidFill>
                  <a:srgbClr val="0000FF"/>
                </a:solidFill>
              </a:rPr>
              <a:t>like</a:t>
            </a:r>
            <a:r>
              <a:rPr lang="en-US" altLang="zh-CN" sz="2400" dirty="0"/>
              <a:t> </a:t>
            </a:r>
            <a:r>
              <a:rPr lang="en-US" altLang="zh-CN" sz="2400" i="1" dirty="0"/>
              <a:t>instructor</a:t>
            </a:r>
            <a:r>
              <a:rPr lang="en-US" altLang="zh-CN" sz="2400" dirty="0"/>
              <a:t>;</a:t>
            </a:r>
          </a:p>
          <a:p>
            <a:pPr eaLnBrk="1" hangingPunct="1"/>
            <a:r>
              <a:rPr lang="zh-CN" altLang="en-US" sz="2800" dirty="0"/>
              <a:t>复杂查询也可以通过把查询结果存储成一个</a:t>
            </a:r>
            <a:r>
              <a:rPr lang="zh-CN" altLang="en-US" sz="2800" b="1" dirty="0">
                <a:solidFill>
                  <a:srgbClr val="006600"/>
                </a:solidFill>
              </a:rPr>
              <a:t>临时新表</a:t>
            </a:r>
            <a:r>
              <a:rPr lang="zh-CN" altLang="en-US" sz="2800" dirty="0"/>
              <a:t>来实现</a:t>
            </a:r>
            <a:endParaRPr lang="en-US" altLang="zh-CN" sz="2800" dirty="0"/>
          </a:p>
          <a:p>
            <a:pPr lvl="1" eaLnBrk="1" hangingPunct="1"/>
            <a:r>
              <a:rPr lang="en-US" altLang="zh-CN" sz="2400" dirty="0"/>
              <a:t>With data </a:t>
            </a:r>
            <a:r>
              <a:rPr lang="zh-CN" altLang="en-US" sz="2400" dirty="0"/>
              <a:t>表示同时载入数据</a:t>
            </a:r>
            <a:endParaRPr lang="en-US" altLang="zh-CN" sz="2400" dirty="0"/>
          </a:p>
          <a:p>
            <a:pPr eaLnBrk="1" hangingPunct="1"/>
            <a:endParaRPr lang="en-US" altLang="zh-CN" sz="2800" dirty="0"/>
          </a:p>
          <a:p>
            <a:pPr eaLnBrk="1" hangingPunct="1"/>
            <a:endParaRPr lang="en-US" altLang="zh-CN" sz="2800" dirty="0"/>
          </a:p>
          <a:p>
            <a:pPr eaLnBrk="1" hangingPunct="1"/>
            <a:r>
              <a:rPr lang="zh-CN" altLang="en-US" sz="2800" dirty="0"/>
              <a:t>不同的</a:t>
            </a:r>
            <a:r>
              <a:rPr lang="en-US" altLang="zh-CN" sz="2800" dirty="0"/>
              <a:t>DBMS</a:t>
            </a:r>
            <a:r>
              <a:rPr lang="zh-CN" altLang="en-US" sz="2800" dirty="0"/>
              <a:t>系统用不同语法支持此功能</a:t>
            </a:r>
          </a:p>
        </p:txBody>
      </p:sp>
      <p:sp>
        <p:nvSpPr>
          <p:cNvPr id="2" name="矩形 1"/>
          <p:cNvSpPr/>
          <p:nvPr/>
        </p:nvSpPr>
        <p:spPr>
          <a:xfrm>
            <a:off x="1606092" y="5791200"/>
            <a:ext cx="5632760" cy="461665"/>
          </a:xfrm>
          <a:prstGeom prst="rect">
            <a:avLst/>
          </a:prstGeom>
        </p:spPr>
        <p:txBody>
          <a:bodyPr wrap="none">
            <a:spAutoFit/>
          </a:bodyPr>
          <a:lstStyle/>
          <a:p>
            <a:r>
              <a:rPr lang="en-US" altLang="zh-CN" dirty="0"/>
              <a:t>create table  </a:t>
            </a:r>
            <a:r>
              <a:rPr lang="en-US" altLang="zh-CN" dirty="0">
                <a:solidFill>
                  <a:srgbClr val="0000FF"/>
                </a:solidFill>
              </a:rPr>
              <a:t>like</a:t>
            </a:r>
            <a:r>
              <a:rPr lang="en-US" altLang="zh-CN" dirty="0"/>
              <a:t>  ; </a:t>
            </a:r>
            <a:r>
              <a:rPr lang="zh-CN" altLang="en-US" dirty="0"/>
              <a:t>或 </a:t>
            </a:r>
            <a:r>
              <a:rPr lang="en-US" altLang="zh-CN" dirty="0"/>
              <a:t>create table  </a:t>
            </a:r>
            <a:r>
              <a:rPr lang="en-US" altLang="zh-CN" dirty="0">
                <a:solidFill>
                  <a:srgbClr val="0000FF"/>
                </a:solidFill>
              </a:rPr>
              <a:t>as</a:t>
            </a:r>
            <a:r>
              <a:rPr lang="en-US" altLang="zh-CN" dirty="0"/>
              <a:t>  ;</a:t>
            </a:r>
            <a:endParaRPr lang="zh-CN" altLang="en-US" dirty="0"/>
          </a:p>
        </p:txBody>
      </p:sp>
      <p:sp>
        <p:nvSpPr>
          <p:cNvPr id="4" name="矩形 3"/>
          <p:cNvSpPr/>
          <p:nvPr/>
        </p:nvSpPr>
        <p:spPr>
          <a:xfrm>
            <a:off x="5319600" y="3478305"/>
            <a:ext cx="3838504" cy="1631216"/>
          </a:xfrm>
          <a:prstGeom prst="rect">
            <a:avLst/>
          </a:prstGeom>
        </p:spPr>
        <p:txBody>
          <a:bodyPr wrap="square">
            <a:spAutoFit/>
          </a:bodyPr>
          <a:lstStyle/>
          <a:p>
            <a:pPr algn="l"/>
            <a:r>
              <a:rPr lang="en-US" altLang="zh-CN" sz="2000" dirty="0"/>
              <a:t>create table </a:t>
            </a:r>
            <a:r>
              <a:rPr lang="en-US" altLang="zh-CN" sz="2000" i="1" dirty="0"/>
              <a:t>t1 </a:t>
            </a:r>
            <a:r>
              <a:rPr lang="en-US" altLang="zh-CN" sz="2000" dirty="0">
                <a:solidFill>
                  <a:srgbClr val="0000FF"/>
                </a:solidFill>
              </a:rPr>
              <a:t>as</a:t>
            </a:r>
          </a:p>
          <a:p>
            <a:pPr algn="l"/>
            <a:r>
              <a:rPr lang="en-US" altLang="zh-CN" sz="2000" dirty="0"/>
              <a:t>   ( select *</a:t>
            </a:r>
          </a:p>
          <a:p>
            <a:pPr algn="l"/>
            <a:r>
              <a:rPr lang="en-US" altLang="zh-CN" sz="2000" dirty="0"/>
              <a:t>     from </a:t>
            </a:r>
            <a:r>
              <a:rPr lang="en-US" altLang="zh-CN" sz="2000" i="1" dirty="0"/>
              <a:t>instructor</a:t>
            </a:r>
          </a:p>
          <a:p>
            <a:pPr algn="l"/>
            <a:r>
              <a:rPr lang="en-US" altLang="zh-CN" sz="2000" dirty="0"/>
              <a:t>     where </a:t>
            </a:r>
            <a:r>
              <a:rPr lang="en-US" altLang="zh-CN" sz="2000" i="1" dirty="0" err="1"/>
              <a:t>dept_name</a:t>
            </a:r>
            <a:r>
              <a:rPr lang="en-US" altLang="zh-CN" sz="2000" i="1" dirty="0"/>
              <a:t> </a:t>
            </a:r>
            <a:r>
              <a:rPr lang="en-US" altLang="zh-CN" sz="2000" dirty="0"/>
              <a:t>= 'Music')</a:t>
            </a:r>
          </a:p>
          <a:p>
            <a:pPr algn="l"/>
            <a:r>
              <a:rPr lang="en-US" altLang="zh-CN" sz="2000" dirty="0">
                <a:solidFill>
                  <a:srgbClr val="0000FF"/>
                </a:solidFill>
              </a:rPr>
              <a:t>with data;</a:t>
            </a:r>
            <a:endParaRPr lang="zh-CN" altLang="en-US" sz="2000" dirty="0">
              <a:solidFill>
                <a:srgbClr val="0000FF"/>
              </a:solidFill>
            </a:endParaRPr>
          </a:p>
        </p:txBody>
      </p:sp>
      <p:sp>
        <p:nvSpPr>
          <p:cNvPr id="6" name="灯片编号占位符 5">
            <a:extLst>
              <a:ext uri="{FF2B5EF4-FFF2-40B4-BE49-F238E27FC236}">
                <a16:creationId xmlns:a16="http://schemas.microsoft.com/office/drawing/2014/main" id="{21AC2487-5189-AF29-1CEE-6DC5E0BCBE91}"/>
              </a:ext>
            </a:extLst>
          </p:cNvPr>
          <p:cNvSpPr>
            <a:spLocks noGrp="1"/>
          </p:cNvSpPr>
          <p:nvPr>
            <p:ph type="sldNum" sz="quarter" idx="12"/>
          </p:nvPr>
        </p:nvSpPr>
        <p:spPr/>
        <p:txBody>
          <a:bodyPr/>
          <a:lstStyle/>
          <a:p>
            <a:pPr>
              <a:defRPr/>
            </a:pPr>
            <a:fld id="{E0CD82EA-F7BE-454B-A83E-18830F6C5424}" type="slidenum">
              <a:rPr lang="en-US" altLang="zh-CN" smtClean="0"/>
              <a:pPr>
                <a:defRPr/>
              </a:pPr>
              <a:t>96</a:t>
            </a:fld>
            <a:r>
              <a:rPr lang="en-US" altLang="zh-CN"/>
              <a:t>/138</a:t>
            </a:r>
            <a:endParaRPr lang="zh-CN" altLang="en-US" dirty="0"/>
          </a:p>
        </p:txBody>
      </p:sp>
    </p:spTree>
    <p:extLst>
      <p:ext uri="{BB962C8B-B14F-4D97-AF65-F5344CB8AC3E}">
        <p14:creationId xmlns:p14="http://schemas.microsoft.com/office/powerpoint/2010/main" val="502901963"/>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F248EEC9-4996-4D78-9228-BCDD6D6F437E}" type="datetime1">
              <a:rPr kumimoji="0" lang="zh-CN" altLang="en-US" sz="1400" smtClean="0"/>
              <a:t>2025/10/15</a:t>
            </a:fld>
            <a:endParaRPr kumimoji="0" lang="en-US" altLang="zh-CN" sz="1400"/>
          </a:p>
        </p:txBody>
      </p:sp>
      <p:sp>
        <p:nvSpPr>
          <p:cNvPr id="512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5125" name="Rectangle 2"/>
          <p:cNvSpPr>
            <a:spLocks noGrp="1" noChangeArrowheads="1"/>
          </p:cNvSpPr>
          <p:nvPr>
            <p:ph type="title"/>
          </p:nvPr>
        </p:nvSpPr>
        <p:spPr/>
        <p:txBody>
          <a:bodyPr/>
          <a:lstStyle/>
          <a:p>
            <a:pPr eaLnBrk="1" hangingPunct="1"/>
            <a:r>
              <a:rPr lang="zh-CN" altLang="en-US"/>
              <a:t>本章目录</a:t>
            </a:r>
          </a:p>
        </p:txBody>
      </p:sp>
      <p:sp>
        <p:nvSpPr>
          <p:cNvPr id="5126" name="Rectangle 3"/>
          <p:cNvSpPr>
            <a:spLocks noGrp="1" noChangeArrowheads="1"/>
          </p:cNvSpPr>
          <p:nvPr>
            <p:ph type="body" idx="1"/>
          </p:nvPr>
        </p:nvSpPr>
        <p:spPr>
          <a:xfrm>
            <a:off x="1371600" y="1600200"/>
            <a:ext cx="7583488" cy="4532313"/>
          </a:xfrm>
        </p:spPr>
        <p:txBody>
          <a:bodyPr/>
          <a:lstStyle/>
          <a:p>
            <a:pPr eaLnBrk="1" hangingPunct="1"/>
            <a:r>
              <a:rPr lang="en-US" altLang="zh-CN" dirty="0"/>
              <a:t>4.1 </a:t>
            </a:r>
            <a:r>
              <a:rPr lang="zh-CN" altLang="en-US" dirty="0"/>
              <a:t>连接查询</a:t>
            </a:r>
          </a:p>
          <a:p>
            <a:pPr eaLnBrk="1" hangingPunct="1"/>
            <a:r>
              <a:rPr lang="en-US" altLang="zh-CN" dirty="0"/>
              <a:t>4.2 </a:t>
            </a:r>
            <a:r>
              <a:rPr lang="zh-CN" altLang="en-US" dirty="0"/>
              <a:t>视图</a:t>
            </a:r>
          </a:p>
          <a:p>
            <a:pPr eaLnBrk="1" hangingPunct="1"/>
            <a:r>
              <a:rPr lang="en-US" altLang="zh-CN" dirty="0"/>
              <a:t>4.3 </a:t>
            </a:r>
            <a:r>
              <a:rPr lang="zh-CN" altLang="en-US" dirty="0"/>
              <a:t>事务</a:t>
            </a:r>
            <a:endParaRPr lang="en-US" altLang="zh-CN" dirty="0"/>
          </a:p>
          <a:p>
            <a:pPr eaLnBrk="1" hangingPunct="1"/>
            <a:r>
              <a:rPr lang="en-US" altLang="zh-CN" dirty="0"/>
              <a:t>4.4 </a:t>
            </a:r>
            <a:r>
              <a:rPr lang="zh-CN" altLang="en-US" dirty="0"/>
              <a:t>完整性约束</a:t>
            </a:r>
            <a:endParaRPr lang="en-US" altLang="zh-CN" dirty="0"/>
          </a:p>
          <a:p>
            <a:pPr eaLnBrk="1" hangingPunct="1"/>
            <a:r>
              <a:rPr lang="en-US" altLang="zh-CN" dirty="0"/>
              <a:t>4.5 SQL</a:t>
            </a:r>
            <a:r>
              <a:rPr lang="zh-CN" altLang="en-US" dirty="0"/>
              <a:t>数据类型与模式</a:t>
            </a:r>
            <a:endParaRPr lang="en-US" altLang="zh-CN" dirty="0"/>
          </a:p>
          <a:p>
            <a:pPr eaLnBrk="1" hangingPunct="1"/>
            <a:r>
              <a:rPr lang="en-US" altLang="zh-CN" dirty="0"/>
              <a:t>4.6 </a:t>
            </a:r>
            <a:r>
              <a:rPr lang="zh-CN" altLang="en-US" dirty="0"/>
              <a:t>索引</a:t>
            </a:r>
            <a:endParaRPr lang="en-US" altLang="zh-CN" dirty="0"/>
          </a:p>
          <a:p>
            <a:pPr eaLnBrk="1" hangingPunct="1"/>
            <a:r>
              <a:rPr lang="en-US" altLang="zh-CN" dirty="0"/>
              <a:t>4.7 </a:t>
            </a:r>
            <a:r>
              <a:rPr lang="zh-CN" altLang="en-US" dirty="0"/>
              <a:t>授权</a:t>
            </a:r>
          </a:p>
        </p:txBody>
      </p:sp>
      <p:sp>
        <p:nvSpPr>
          <p:cNvPr id="11268" name="AutoShape 4"/>
          <p:cNvSpPr>
            <a:spLocks noChangeArrowheads="1"/>
          </p:cNvSpPr>
          <p:nvPr/>
        </p:nvSpPr>
        <p:spPr bwMode="auto">
          <a:xfrm>
            <a:off x="856129" y="4648200"/>
            <a:ext cx="457200" cy="457200"/>
          </a:xfrm>
          <a:prstGeom prst="rightArrow">
            <a:avLst>
              <a:gd name="adj1" fmla="val 50000"/>
              <a:gd name="adj2" fmla="val 40278"/>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4" name="灯片编号占位符 3">
            <a:extLst>
              <a:ext uri="{FF2B5EF4-FFF2-40B4-BE49-F238E27FC236}">
                <a16:creationId xmlns:a16="http://schemas.microsoft.com/office/drawing/2014/main" id="{90DC6D5F-6127-C379-3E13-2B0B1D3E69A6}"/>
              </a:ext>
            </a:extLst>
          </p:cNvPr>
          <p:cNvSpPr>
            <a:spLocks noGrp="1"/>
          </p:cNvSpPr>
          <p:nvPr>
            <p:ph type="sldNum" sz="quarter" idx="12"/>
          </p:nvPr>
        </p:nvSpPr>
        <p:spPr/>
        <p:txBody>
          <a:bodyPr/>
          <a:lstStyle/>
          <a:p>
            <a:pPr>
              <a:defRPr/>
            </a:pPr>
            <a:fld id="{E0CD82EA-F7BE-454B-A83E-18830F6C5424}" type="slidenum">
              <a:rPr lang="en-US" altLang="zh-CN" smtClean="0"/>
              <a:pPr>
                <a:defRPr/>
              </a:pPr>
              <a:t>97</a:t>
            </a:fld>
            <a:r>
              <a:rPr lang="en-US" altLang="zh-CN"/>
              <a:t>/138</a:t>
            </a:r>
            <a:endParaRPr lang="zh-CN" altLang="en-US" dirty="0"/>
          </a:p>
        </p:txBody>
      </p:sp>
    </p:spTree>
    <p:extLst>
      <p:ext uri="{BB962C8B-B14F-4D97-AF65-F5344CB8AC3E}">
        <p14:creationId xmlns:p14="http://schemas.microsoft.com/office/powerpoint/2010/main" val="1602719730"/>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268"/>
                                        </p:tgtEl>
                                        <p:attrNameLst>
                                          <p:attrName>style.visibility</p:attrName>
                                        </p:attrNameLst>
                                      </p:cBhvr>
                                      <p:to>
                                        <p:strVal val="visible"/>
                                      </p:to>
                                    </p:set>
                                    <p:anim calcmode="lin" valueType="num">
                                      <p:cBhvr additive="base">
                                        <p:cTn id="7" dur="500" fill="hold"/>
                                        <p:tgtEl>
                                          <p:spTgt spid="11268"/>
                                        </p:tgtEl>
                                        <p:attrNameLst>
                                          <p:attrName>ppt_x</p:attrName>
                                        </p:attrNameLst>
                                      </p:cBhvr>
                                      <p:tavLst>
                                        <p:tav tm="0">
                                          <p:val>
                                            <p:strVal val="0-#ppt_w/2"/>
                                          </p:val>
                                        </p:tav>
                                        <p:tav tm="100000">
                                          <p:val>
                                            <p:strVal val="#ppt_x"/>
                                          </p:val>
                                        </p:tav>
                                      </p:tavLst>
                                    </p:anim>
                                    <p:anim calcmode="lin" valueType="num">
                                      <p:cBhvr additive="base">
                                        <p:cTn id="8" dur="500" fill="hold"/>
                                        <p:tgtEl>
                                          <p:spTgt spid="112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F58FB177-68C0-4F7A-AC2D-2624A2204AAA}" type="datetime1">
              <a:rPr kumimoji="0" lang="zh-CN" altLang="en-US" sz="1400" smtClean="0"/>
              <a:t>2025/10/15</a:t>
            </a:fld>
            <a:endParaRPr kumimoji="0" lang="en-US" altLang="zh-CN" sz="1400"/>
          </a:p>
        </p:txBody>
      </p:sp>
      <p:sp>
        <p:nvSpPr>
          <p:cNvPr id="43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43013" name="Rectangle 2"/>
          <p:cNvSpPr>
            <a:spLocks noGrp="1" noChangeArrowheads="1"/>
          </p:cNvSpPr>
          <p:nvPr>
            <p:ph type="title"/>
          </p:nvPr>
        </p:nvSpPr>
        <p:spPr/>
        <p:txBody>
          <a:bodyPr/>
          <a:lstStyle/>
          <a:p>
            <a:pPr eaLnBrk="1" hangingPunct="1"/>
            <a:r>
              <a:rPr lang="en-US" altLang="zh-CN" dirty="0"/>
              <a:t>4.6 </a:t>
            </a:r>
            <a:r>
              <a:rPr lang="zh-CN" altLang="en-US" dirty="0"/>
              <a:t>索引</a:t>
            </a:r>
          </a:p>
        </p:txBody>
      </p:sp>
      <p:sp>
        <p:nvSpPr>
          <p:cNvPr id="43014" name="Rectangle 3"/>
          <p:cNvSpPr>
            <a:spLocks noGrp="1" noChangeArrowheads="1"/>
          </p:cNvSpPr>
          <p:nvPr>
            <p:ph type="body" idx="1"/>
          </p:nvPr>
        </p:nvSpPr>
        <p:spPr/>
        <p:txBody>
          <a:bodyPr/>
          <a:lstStyle/>
          <a:p>
            <a:pPr eaLnBrk="1" hangingPunct="1"/>
            <a:r>
              <a:rPr lang="zh-CN" altLang="en-US" sz="2800" dirty="0"/>
              <a:t>索引：一种数据结构，它允许数据库系统</a:t>
            </a:r>
            <a:r>
              <a:rPr lang="zh-CN" altLang="en-US" sz="2800" dirty="0">
                <a:solidFill>
                  <a:srgbClr val="0000FF"/>
                </a:solidFill>
              </a:rPr>
              <a:t>高效地</a:t>
            </a:r>
            <a:r>
              <a:rPr lang="zh-CN" altLang="en-US" sz="2800" dirty="0">
                <a:solidFill>
                  <a:srgbClr val="FF0000"/>
                </a:solidFill>
              </a:rPr>
              <a:t>找到</a:t>
            </a:r>
            <a:r>
              <a:rPr lang="zh-CN" altLang="en-US" sz="2800" dirty="0"/>
              <a:t>在关系中具有</a:t>
            </a:r>
            <a:r>
              <a:rPr lang="zh-CN" altLang="en-US" sz="2800" dirty="0">
                <a:solidFill>
                  <a:srgbClr val="FF0000"/>
                </a:solidFill>
              </a:rPr>
              <a:t>该属性指定值</a:t>
            </a:r>
            <a:r>
              <a:rPr lang="zh-CN" altLang="en-US" sz="2800" dirty="0"/>
              <a:t>的那些</a:t>
            </a:r>
            <a:r>
              <a:rPr lang="zh-CN" altLang="en-US" sz="2800" dirty="0">
                <a:solidFill>
                  <a:srgbClr val="FF0000"/>
                </a:solidFill>
              </a:rPr>
              <a:t>元组</a:t>
            </a:r>
            <a:r>
              <a:rPr lang="zh-CN" altLang="en-US" sz="2800" dirty="0"/>
              <a:t>，而</a:t>
            </a:r>
            <a:r>
              <a:rPr lang="zh-CN" altLang="en-US" sz="2800" dirty="0">
                <a:solidFill>
                  <a:srgbClr val="0000FF"/>
                </a:solidFill>
              </a:rPr>
              <a:t>不扫描关系的所有元组</a:t>
            </a:r>
            <a:r>
              <a:rPr lang="zh-CN" altLang="en-US" sz="2800" dirty="0"/>
              <a:t>。</a:t>
            </a:r>
            <a:endParaRPr lang="en-US" altLang="zh-CN" sz="2800" dirty="0"/>
          </a:p>
          <a:p>
            <a:pPr eaLnBrk="1" hangingPunct="1"/>
            <a:r>
              <a:rPr lang="zh-CN" altLang="en-US" sz="2800" dirty="0"/>
              <a:t>作用：提高查询速度。</a:t>
            </a:r>
          </a:p>
          <a:p>
            <a:pPr eaLnBrk="1" hangingPunct="1">
              <a:buFont typeface="Wingdings" pitchFamily="2" charset="2"/>
              <a:buNone/>
            </a:pPr>
            <a:r>
              <a:rPr lang="zh-CN" altLang="en-US" sz="2800" dirty="0"/>
              <a:t>		如从</a:t>
            </a:r>
            <a:r>
              <a:rPr lang="en-US" altLang="zh-CN" sz="2800" dirty="0"/>
              <a:t>O(n)</a:t>
            </a:r>
            <a:r>
              <a:rPr lang="zh-CN" altLang="en-US" sz="2800" dirty="0"/>
              <a:t>到</a:t>
            </a:r>
            <a:r>
              <a:rPr lang="en-US" altLang="zh-CN" sz="2800" dirty="0"/>
              <a:t>O(log</a:t>
            </a:r>
            <a:r>
              <a:rPr lang="en-US" altLang="zh-CN" sz="2800" baseline="-25000" dirty="0"/>
              <a:t>2</a:t>
            </a:r>
            <a:r>
              <a:rPr lang="en-US" altLang="zh-CN" sz="2800" baseline="30000" dirty="0"/>
              <a:t>n</a:t>
            </a:r>
            <a:r>
              <a:rPr lang="en-US" altLang="zh-CN" sz="2800" dirty="0"/>
              <a:t>)</a:t>
            </a:r>
          </a:p>
          <a:p>
            <a:pPr eaLnBrk="1" hangingPunct="1"/>
            <a:r>
              <a:rPr lang="zh-CN" altLang="en-US" sz="2800" dirty="0"/>
              <a:t>常需要建立索引的</a:t>
            </a:r>
            <a:r>
              <a:rPr lang="zh-CN" altLang="en-US" sz="2800" b="1" dirty="0">
                <a:solidFill>
                  <a:srgbClr val="006600"/>
                </a:solidFill>
                <a:effectLst>
                  <a:outerShdw blurRad="38100" dist="38100" dir="2700000" algn="tl">
                    <a:srgbClr val="000000">
                      <a:alpha val="43137"/>
                    </a:srgbClr>
                  </a:outerShdw>
                </a:effectLst>
              </a:rPr>
              <a:t>属性</a:t>
            </a:r>
          </a:p>
          <a:p>
            <a:pPr lvl="1" eaLnBrk="1" hangingPunct="1"/>
            <a:r>
              <a:rPr lang="zh-CN" altLang="en-US" sz="2400" dirty="0"/>
              <a:t>常作为</a:t>
            </a:r>
            <a:r>
              <a:rPr lang="zh-CN" altLang="en-US" sz="2400" dirty="0">
                <a:solidFill>
                  <a:srgbClr val="FF0000"/>
                </a:solidFill>
              </a:rPr>
              <a:t>连接属性</a:t>
            </a:r>
          </a:p>
          <a:p>
            <a:pPr lvl="1" eaLnBrk="1" hangingPunct="1"/>
            <a:r>
              <a:rPr lang="zh-CN" altLang="en-US" sz="2400" dirty="0"/>
              <a:t>常出现在</a:t>
            </a:r>
            <a:r>
              <a:rPr lang="zh-CN" altLang="en-US" sz="2400" dirty="0">
                <a:solidFill>
                  <a:srgbClr val="FF0000"/>
                </a:solidFill>
              </a:rPr>
              <a:t>查询条件</a:t>
            </a:r>
            <a:r>
              <a:rPr lang="zh-CN" altLang="en-US" sz="2400" dirty="0"/>
              <a:t>中的</a:t>
            </a:r>
            <a:r>
              <a:rPr lang="zh-CN" altLang="en-US" sz="2400" dirty="0">
                <a:solidFill>
                  <a:srgbClr val="FF0000"/>
                </a:solidFill>
              </a:rPr>
              <a:t>属性</a:t>
            </a:r>
          </a:p>
          <a:p>
            <a:pPr eaLnBrk="1" hangingPunct="1"/>
            <a:endParaRPr lang="zh-CN" altLang="en-US" sz="2800" dirty="0"/>
          </a:p>
        </p:txBody>
      </p:sp>
      <p:sp>
        <p:nvSpPr>
          <p:cNvPr id="2" name="矩形 1"/>
          <p:cNvSpPr/>
          <p:nvPr/>
        </p:nvSpPr>
        <p:spPr>
          <a:xfrm>
            <a:off x="533400" y="5320181"/>
            <a:ext cx="8077200" cy="107721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eaLnBrk="1" hangingPunct="1"/>
            <a:r>
              <a:rPr lang="zh-CN" altLang="en-US" dirty="0"/>
              <a:t>例如：</a:t>
            </a:r>
            <a:r>
              <a:rPr lang="zh-CN" altLang="en-US" sz="2000" dirty="0"/>
              <a:t>在 </a:t>
            </a:r>
            <a:r>
              <a:rPr lang="en-US" altLang="zh-CN" sz="2000" dirty="0"/>
              <a:t>instructor </a:t>
            </a:r>
            <a:r>
              <a:rPr lang="zh-CN" altLang="en-US" sz="2000" dirty="0"/>
              <a:t>关系的</a:t>
            </a:r>
            <a:r>
              <a:rPr lang="en-US" altLang="zh-CN" sz="2000" dirty="0" err="1"/>
              <a:t>deptname</a:t>
            </a:r>
            <a:r>
              <a:rPr lang="zh-CN" altLang="en-US" sz="2000" dirty="0"/>
              <a:t>属性上创建一个索引，则数据库系统可以直接找到具有任何指定</a:t>
            </a:r>
            <a:r>
              <a:rPr lang="en-US" altLang="zh-CN" sz="2000" dirty="0" err="1"/>
              <a:t>dept_name</a:t>
            </a:r>
            <a:r>
              <a:rPr lang="zh-CN" altLang="en-US" sz="2000" dirty="0"/>
              <a:t>值的记录，如 </a:t>
            </a:r>
            <a:r>
              <a:rPr lang="en-US" altLang="zh-CN" sz="2000" dirty="0"/>
              <a:t>”Physics”</a:t>
            </a:r>
            <a:r>
              <a:rPr lang="zh-CN" altLang="en-US" sz="2000" dirty="0"/>
              <a:t>或</a:t>
            </a:r>
            <a:r>
              <a:rPr lang="en-US" altLang="zh-CN" sz="2000" dirty="0"/>
              <a:t>”Music”</a:t>
            </a:r>
            <a:r>
              <a:rPr lang="zh-CN" altLang="en-US" sz="2000" dirty="0"/>
              <a:t>，而无须读取</a:t>
            </a:r>
            <a:r>
              <a:rPr lang="en-US" altLang="zh-CN" sz="2000" dirty="0"/>
              <a:t>instructor</a:t>
            </a:r>
            <a:r>
              <a:rPr lang="zh-CN" altLang="en-US" sz="2000" dirty="0"/>
              <a:t>关系的所有元组。</a:t>
            </a:r>
            <a:endParaRPr lang="en-US" altLang="zh-CN" sz="2000" dirty="0"/>
          </a:p>
        </p:txBody>
      </p:sp>
      <p:sp>
        <p:nvSpPr>
          <p:cNvPr id="5" name="灯片编号占位符 4">
            <a:extLst>
              <a:ext uri="{FF2B5EF4-FFF2-40B4-BE49-F238E27FC236}">
                <a16:creationId xmlns:a16="http://schemas.microsoft.com/office/drawing/2014/main" id="{B57E98B2-0D4B-7492-1E8B-0BFD6B5DC49A}"/>
              </a:ext>
            </a:extLst>
          </p:cNvPr>
          <p:cNvSpPr>
            <a:spLocks noGrp="1"/>
          </p:cNvSpPr>
          <p:nvPr>
            <p:ph type="sldNum" sz="quarter" idx="12"/>
          </p:nvPr>
        </p:nvSpPr>
        <p:spPr/>
        <p:txBody>
          <a:bodyPr/>
          <a:lstStyle/>
          <a:p>
            <a:pPr>
              <a:defRPr/>
            </a:pPr>
            <a:fld id="{E0CD82EA-F7BE-454B-A83E-18830F6C5424}" type="slidenum">
              <a:rPr lang="en-US" altLang="zh-CN" smtClean="0"/>
              <a:pPr>
                <a:defRPr/>
              </a:pPr>
              <a:t>98</a:t>
            </a:fld>
            <a:r>
              <a:rPr lang="en-US" altLang="zh-CN"/>
              <a:t>/138</a:t>
            </a:r>
            <a:endParaRPr lang="zh-CN" altLang="en-US" dirty="0"/>
          </a:p>
        </p:txBody>
      </p:sp>
    </p:spTree>
    <p:extLst>
      <p:ext uri="{BB962C8B-B14F-4D97-AF65-F5344CB8AC3E}">
        <p14:creationId xmlns:p14="http://schemas.microsoft.com/office/powerpoint/2010/main" val="10331786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B6A0EA5E-AFA2-4305-8BD4-8B260AAEF233}" type="datetime1">
              <a:rPr kumimoji="0" lang="zh-CN" altLang="en-US" sz="1400" smtClean="0"/>
              <a:t>2025/10/15</a:t>
            </a:fld>
            <a:endParaRPr kumimoji="0" lang="en-US" altLang="zh-CN" sz="1400"/>
          </a:p>
        </p:txBody>
      </p:sp>
      <p:sp>
        <p:nvSpPr>
          <p:cNvPr id="43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43013" name="Rectangle 2"/>
          <p:cNvSpPr>
            <a:spLocks noGrp="1" noChangeArrowheads="1"/>
          </p:cNvSpPr>
          <p:nvPr>
            <p:ph type="title"/>
          </p:nvPr>
        </p:nvSpPr>
        <p:spPr/>
        <p:txBody>
          <a:bodyPr/>
          <a:lstStyle/>
          <a:p>
            <a:pPr eaLnBrk="1" hangingPunct="1"/>
            <a:r>
              <a:rPr lang="en-US" altLang="zh-CN" dirty="0"/>
              <a:t>4.6 </a:t>
            </a:r>
            <a:r>
              <a:rPr lang="zh-CN" altLang="en-US" dirty="0"/>
              <a:t>索引</a:t>
            </a:r>
          </a:p>
        </p:txBody>
      </p:sp>
      <p:sp>
        <p:nvSpPr>
          <p:cNvPr id="43014" name="Rectangle 3"/>
          <p:cNvSpPr>
            <a:spLocks noGrp="1" noChangeArrowheads="1"/>
          </p:cNvSpPr>
          <p:nvPr>
            <p:ph type="body" idx="1"/>
          </p:nvPr>
        </p:nvSpPr>
        <p:spPr/>
        <p:txBody>
          <a:bodyPr/>
          <a:lstStyle/>
          <a:p>
            <a:pPr eaLnBrk="1" hangingPunct="1"/>
            <a:r>
              <a:rPr lang="zh-CN" altLang="en-US" sz="2800" dirty="0"/>
              <a:t>索引对于正确性来说不是必需的，因为它们是</a:t>
            </a:r>
            <a:r>
              <a:rPr lang="zh-CN" altLang="en-US" sz="2800" b="1" dirty="0"/>
              <a:t>冗余</a:t>
            </a:r>
            <a:r>
              <a:rPr lang="zh-CN" altLang="en-US" sz="2800" dirty="0"/>
              <a:t>的数据结构。</a:t>
            </a:r>
            <a:endParaRPr lang="en-US" altLang="zh-CN" sz="2800" dirty="0"/>
          </a:p>
          <a:p>
            <a:pPr eaLnBrk="1" hangingPunct="1"/>
            <a:r>
              <a:rPr lang="zh-CN" altLang="en-US" sz="2800" dirty="0"/>
              <a:t>索引构成数据库物理模式的一部分，对于</a:t>
            </a:r>
            <a:r>
              <a:rPr lang="zh-CN" altLang="en-US" sz="2800" dirty="0">
                <a:solidFill>
                  <a:srgbClr val="006600"/>
                </a:solidFill>
              </a:rPr>
              <a:t>事务的高效处理</a:t>
            </a:r>
            <a:r>
              <a:rPr lang="zh-CN" altLang="en-US" sz="2800" dirty="0"/>
              <a:t>很重要。对于诸如主码约束和外码约束类的</a:t>
            </a:r>
            <a:r>
              <a:rPr lang="zh-CN" altLang="en-US" sz="2800" dirty="0">
                <a:solidFill>
                  <a:srgbClr val="006600"/>
                </a:solidFill>
              </a:rPr>
              <a:t>完整性约束的高效实施</a:t>
            </a:r>
            <a:r>
              <a:rPr lang="zh-CN" altLang="en-US" sz="2800" dirty="0"/>
              <a:t>也很重要。</a:t>
            </a:r>
            <a:endParaRPr lang="en-US" altLang="zh-CN" sz="2800" dirty="0"/>
          </a:p>
          <a:p>
            <a:pPr eaLnBrk="1" hangingPunct="1"/>
            <a:r>
              <a:rPr lang="zh-CN" altLang="en-US" sz="2800" dirty="0"/>
              <a:t>原则上数据库系统可以</a:t>
            </a:r>
            <a:r>
              <a:rPr lang="zh-CN" altLang="en-US" sz="2800" dirty="0">
                <a:solidFill>
                  <a:srgbClr val="0000FF"/>
                </a:solidFill>
              </a:rPr>
              <a:t>自动决定创建何种索引</a:t>
            </a:r>
            <a:r>
              <a:rPr lang="zh-CN" altLang="en-US" sz="2800" dirty="0"/>
              <a:t>。但是，由于索引的空间代价以及索引对更新处理的影像，要在维护何种索引上自动地做出正确选择并不容易。</a:t>
            </a:r>
          </a:p>
          <a:p>
            <a:pPr lvl="1" eaLnBrk="1" hangingPunct="1"/>
            <a:endParaRPr lang="zh-CN" altLang="en-US" sz="2400" dirty="0"/>
          </a:p>
        </p:txBody>
      </p:sp>
      <p:sp>
        <p:nvSpPr>
          <p:cNvPr id="4" name="灯片编号占位符 3">
            <a:extLst>
              <a:ext uri="{FF2B5EF4-FFF2-40B4-BE49-F238E27FC236}">
                <a16:creationId xmlns:a16="http://schemas.microsoft.com/office/drawing/2014/main" id="{E7C38B14-465E-5F86-E993-B835FA5E24A4}"/>
              </a:ext>
            </a:extLst>
          </p:cNvPr>
          <p:cNvSpPr>
            <a:spLocks noGrp="1"/>
          </p:cNvSpPr>
          <p:nvPr>
            <p:ph type="sldNum" sz="quarter" idx="12"/>
          </p:nvPr>
        </p:nvSpPr>
        <p:spPr/>
        <p:txBody>
          <a:bodyPr/>
          <a:lstStyle/>
          <a:p>
            <a:pPr>
              <a:defRPr/>
            </a:pPr>
            <a:fld id="{E0CD82EA-F7BE-454B-A83E-18830F6C5424}" type="slidenum">
              <a:rPr lang="en-US" altLang="zh-CN" smtClean="0"/>
              <a:pPr>
                <a:defRPr/>
              </a:pPr>
              <a:t>99</a:t>
            </a:fld>
            <a:r>
              <a:rPr lang="en-US" altLang="zh-CN"/>
              <a:t>/138</a:t>
            </a:r>
            <a:endParaRPr lang="zh-CN" altLang="en-US" dirty="0"/>
          </a:p>
        </p:txBody>
      </p:sp>
    </p:spTree>
    <p:extLst>
      <p:ext uri="{BB962C8B-B14F-4D97-AF65-F5344CB8AC3E}">
        <p14:creationId xmlns:p14="http://schemas.microsoft.com/office/powerpoint/2010/main" val="213647092"/>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9C97EBA7-695C-4FA7-AD2C-6B6C023959CE}" type="datetime1">
              <a:rPr kumimoji="0" lang="zh-CN" altLang="en-US" sz="1400" smtClean="0"/>
              <a:t>2025/10/15</a:t>
            </a:fld>
            <a:endParaRPr kumimoji="0" lang="en-US" altLang="zh-CN" sz="1400"/>
          </a:p>
        </p:txBody>
      </p:sp>
      <p:sp>
        <p:nvSpPr>
          <p:cNvPr id="44035"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44037" name="Rectangle 2"/>
          <p:cNvSpPr>
            <a:spLocks noGrp="1" noChangeArrowheads="1"/>
          </p:cNvSpPr>
          <p:nvPr>
            <p:ph type="title"/>
          </p:nvPr>
        </p:nvSpPr>
        <p:spPr/>
        <p:txBody>
          <a:bodyPr/>
          <a:lstStyle/>
          <a:p>
            <a:pPr eaLnBrk="1" hangingPunct="1"/>
            <a:r>
              <a:rPr lang="en-US" altLang="zh-CN" dirty="0"/>
              <a:t>4.6 </a:t>
            </a:r>
            <a:r>
              <a:rPr lang="zh-CN" altLang="en-US" dirty="0"/>
              <a:t>建立和删除索引</a:t>
            </a:r>
          </a:p>
        </p:txBody>
      </p:sp>
      <p:sp>
        <p:nvSpPr>
          <p:cNvPr id="44038" name="Rectangle 3"/>
          <p:cNvSpPr>
            <a:spLocks noGrp="1" noChangeArrowheads="1"/>
          </p:cNvSpPr>
          <p:nvPr>
            <p:ph type="body" idx="1"/>
          </p:nvPr>
        </p:nvSpPr>
        <p:spPr/>
        <p:txBody>
          <a:bodyPr/>
          <a:lstStyle/>
          <a:p>
            <a:pPr eaLnBrk="1" hangingPunct="1"/>
            <a:r>
              <a:rPr lang="zh-CN" altLang="en-US" dirty="0"/>
              <a:t>建立索引</a:t>
            </a:r>
          </a:p>
          <a:p>
            <a:pPr algn="ctr" eaLnBrk="1" hangingPunct="1">
              <a:buFont typeface="Wingdings" pitchFamily="2" charset="2"/>
              <a:buNone/>
            </a:pPr>
            <a:r>
              <a:rPr lang="en-US" altLang="zh-CN" sz="2400" dirty="0">
                <a:solidFill>
                  <a:srgbClr val="C00000"/>
                </a:solidFill>
              </a:rPr>
              <a:t>CREATE</a:t>
            </a:r>
            <a:r>
              <a:rPr lang="en-US" altLang="zh-CN" sz="2400" dirty="0"/>
              <a:t> </a:t>
            </a:r>
            <a:r>
              <a:rPr lang="en-US" altLang="zh-CN" sz="2400" b="1" dirty="0">
                <a:solidFill>
                  <a:srgbClr val="0000FF"/>
                </a:solidFill>
              </a:rPr>
              <a:t>INDEX</a:t>
            </a:r>
            <a:r>
              <a:rPr lang="en-US" altLang="zh-CN" sz="2400" dirty="0">
                <a:solidFill>
                  <a:srgbClr val="0000FF"/>
                </a:solidFill>
              </a:rPr>
              <a:t> </a:t>
            </a:r>
            <a:r>
              <a:rPr lang="en-US" altLang="zh-CN" sz="2400" dirty="0"/>
              <a:t>&lt;</a:t>
            </a:r>
            <a:r>
              <a:rPr lang="zh-CN" altLang="en-US" sz="2400" b="1" dirty="0">
                <a:solidFill>
                  <a:srgbClr val="0000FF"/>
                </a:solidFill>
              </a:rPr>
              <a:t>索引名</a:t>
            </a:r>
            <a:r>
              <a:rPr lang="en-US" altLang="zh-CN" sz="2400" dirty="0"/>
              <a:t>&gt; </a:t>
            </a:r>
            <a:r>
              <a:rPr lang="en-US" altLang="zh-CN" sz="2400" dirty="0">
                <a:solidFill>
                  <a:srgbClr val="C00000"/>
                </a:solidFill>
              </a:rPr>
              <a:t>ON </a:t>
            </a:r>
            <a:r>
              <a:rPr lang="en-US" altLang="zh-CN" sz="2400" dirty="0"/>
              <a:t>&lt;</a:t>
            </a:r>
            <a:r>
              <a:rPr lang="zh-CN" altLang="en-US" sz="2400" dirty="0">
                <a:solidFill>
                  <a:srgbClr val="006600"/>
                </a:solidFill>
              </a:rPr>
              <a:t>表名</a:t>
            </a:r>
            <a:r>
              <a:rPr lang="en-US" altLang="zh-CN" sz="2400" dirty="0"/>
              <a:t>&gt; </a:t>
            </a:r>
            <a:r>
              <a:rPr lang="en-US" altLang="zh-CN" sz="2400" b="1" dirty="0">
                <a:solidFill>
                  <a:srgbClr val="C00000"/>
                </a:solidFill>
              </a:rPr>
              <a:t>(</a:t>
            </a:r>
            <a:r>
              <a:rPr lang="en-US" altLang="zh-CN" sz="2400" dirty="0"/>
              <a:t>&lt;</a:t>
            </a:r>
            <a:r>
              <a:rPr lang="zh-CN" altLang="en-US" sz="2400" dirty="0"/>
              <a:t>属性</a:t>
            </a:r>
            <a:r>
              <a:rPr lang="zh-CN" altLang="en-US" sz="2400" dirty="0">
                <a:solidFill>
                  <a:srgbClr val="006600"/>
                </a:solidFill>
              </a:rPr>
              <a:t>列名</a:t>
            </a:r>
            <a:r>
              <a:rPr lang="en-US" altLang="zh-CN" sz="2400" dirty="0"/>
              <a:t>&gt;</a:t>
            </a:r>
            <a:r>
              <a:rPr lang="en-US" altLang="zh-CN" sz="2400" b="1" dirty="0">
                <a:solidFill>
                  <a:srgbClr val="C00000"/>
                </a:solidFill>
              </a:rPr>
              <a:t>)</a:t>
            </a:r>
            <a:r>
              <a:rPr lang="en-US" altLang="zh-CN" sz="2400" dirty="0"/>
              <a:t>;</a:t>
            </a:r>
          </a:p>
          <a:p>
            <a:pPr algn="ctr" eaLnBrk="1" hangingPunct="1">
              <a:buFont typeface="Wingdings" pitchFamily="2" charset="2"/>
              <a:buNone/>
            </a:pPr>
            <a:endParaRPr lang="en-US" altLang="zh-CN" sz="2400" dirty="0"/>
          </a:p>
          <a:p>
            <a:pPr algn="ctr" eaLnBrk="1" hangingPunct="1">
              <a:buFont typeface="Wingdings" pitchFamily="2" charset="2"/>
              <a:buNone/>
            </a:pPr>
            <a:endParaRPr lang="en-US" altLang="zh-CN" sz="2400" dirty="0"/>
          </a:p>
          <a:p>
            <a:pPr eaLnBrk="1" hangingPunct="1"/>
            <a:r>
              <a:rPr lang="zh-CN" altLang="en-US" sz="2800" dirty="0"/>
              <a:t>如果在候选码上建立索引呢，可以在索引定义中增加</a:t>
            </a:r>
            <a:r>
              <a:rPr lang="en-US" altLang="zh-CN" sz="2800" dirty="0"/>
              <a:t>unique</a:t>
            </a:r>
            <a:r>
              <a:rPr lang="zh-CN" altLang="en-US" sz="2800" dirty="0"/>
              <a:t>属性</a:t>
            </a:r>
          </a:p>
          <a:p>
            <a:pPr lvl="1" eaLnBrk="1" hangingPunct="1"/>
            <a:r>
              <a:rPr lang="zh-CN" altLang="en-US" sz="2400" dirty="0">
                <a:solidFill>
                  <a:srgbClr val="006600"/>
                </a:solidFill>
              </a:rPr>
              <a:t>唯一索引</a:t>
            </a:r>
            <a:r>
              <a:rPr lang="zh-CN" altLang="en-US" sz="2400" dirty="0"/>
              <a:t>，不允许存在索引值相同的两行</a:t>
            </a:r>
            <a:endParaRPr lang="en-US" altLang="zh-CN" sz="2400" dirty="0"/>
          </a:p>
          <a:p>
            <a:pPr lvl="1" eaLnBrk="1" hangingPunct="1"/>
            <a:r>
              <a:rPr lang="zh-CN" altLang="en-US" sz="2400" dirty="0"/>
              <a:t>数据库支持不同类型的索引，详见第</a:t>
            </a:r>
            <a:r>
              <a:rPr lang="en-US" altLang="zh-CN" sz="2400" dirty="0"/>
              <a:t>13</a:t>
            </a:r>
            <a:r>
              <a:rPr lang="zh-CN" altLang="en-US" sz="2400" dirty="0"/>
              <a:t>章</a:t>
            </a:r>
          </a:p>
          <a:p>
            <a:pPr lvl="1" eaLnBrk="1" hangingPunct="1"/>
            <a:endParaRPr lang="zh-CN" altLang="en-US" sz="2400" dirty="0"/>
          </a:p>
        </p:txBody>
      </p:sp>
      <p:sp>
        <p:nvSpPr>
          <p:cNvPr id="2" name="矩形 1"/>
          <p:cNvSpPr/>
          <p:nvPr/>
        </p:nvSpPr>
        <p:spPr>
          <a:xfrm>
            <a:off x="914400" y="2667000"/>
            <a:ext cx="7620000" cy="461665"/>
          </a:xfrm>
          <a:prstGeom prst="rect">
            <a:avLst/>
          </a:prstGeom>
        </p:spPr>
        <p:txBody>
          <a:bodyPr wrap="square">
            <a:spAutoFit/>
          </a:bodyPr>
          <a:lstStyle/>
          <a:p>
            <a:r>
              <a:rPr lang="zh-CN" altLang="en-US" dirty="0"/>
              <a:t>如</a:t>
            </a:r>
            <a:r>
              <a:rPr lang="en-US" altLang="zh-CN" dirty="0"/>
              <a:t>: create index </a:t>
            </a:r>
            <a:r>
              <a:rPr lang="en-US" altLang="zh-CN" i="1" dirty="0" err="1">
                <a:solidFill>
                  <a:srgbClr val="FF0000"/>
                </a:solidFill>
              </a:rPr>
              <a:t>dept_index</a:t>
            </a:r>
            <a:r>
              <a:rPr lang="en-US" altLang="zh-CN" i="1" dirty="0">
                <a:solidFill>
                  <a:srgbClr val="FF0000"/>
                </a:solidFill>
              </a:rPr>
              <a:t> </a:t>
            </a:r>
            <a:r>
              <a:rPr lang="en-US" altLang="zh-CN" dirty="0"/>
              <a:t>on </a:t>
            </a:r>
            <a:r>
              <a:rPr lang="en-US" altLang="zh-CN" i="1" dirty="0"/>
              <a:t>instructor </a:t>
            </a:r>
            <a:r>
              <a:rPr lang="en-US" altLang="zh-CN" dirty="0"/>
              <a:t>(</a:t>
            </a:r>
            <a:r>
              <a:rPr lang="en-US" altLang="zh-CN" i="1" dirty="0" err="1"/>
              <a:t>dept_name</a:t>
            </a:r>
            <a:r>
              <a:rPr lang="en-US" altLang="zh-CN" dirty="0"/>
              <a:t>);</a:t>
            </a:r>
            <a:endParaRPr lang="zh-CN" altLang="en-US" dirty="0"/>
          </a:p>
        </p:txBody>
      </p:sp>
      <p:sp>
        <p:nvSpPr>
          <p:cNvPr id="5" name="灯片编号占位符 4">
            <a:extLst>
              <a:ext uri="{FF2B5EF4-FFF2-40B4-BE49-F238E27FC236}">
                <a16:creationId xmlns:a16="http://schemas.microsoft.com/office/drawing/2014/main" id="{0E4D9CAF-4B13-E25D-086F-0F77659D771F}"/>
              </a:ext>
            </a:extLst>
          </p:cNvPr>
          <p:cNvSpPr>
            <a:spLocks noGrp="1"/>
          </p:cNvSpPr>
          <p:nvPr>
            <p:ph type="sldNum" sz="quarter" idx="12"/>
          </p:nvPr>
        </p:nvSpPr>
        <p:spPr/>
        <p:txBody>
          <a:bodyPr/>
          <a:lstStyle/>
          <a:p>
            <a:pPr>
              <a:defRPr/>
            </a:pPr>
            <a:fld id="{E0CD82EA-F7BE-454B-A83E-18830F6C5424}" type="slidenum">
              <a:rPr lang="en-US" altLang="zh-CN" smtClean="0"/>
              <a:pPr>
                <a:defRPr/>
              </a:pPr>
              <a:t>100</a:t>
            </a:fld>
            <a:r>
              <a:rPr lang="en-US" altLang="zh-CN"/>
              <a:t>/138</a:t>
            </a:r>
            <a:endParaRPr lang="zh-CN" altLang="en-US" dirty="0"/>
          </a:p>
        </p:txBody>
      </p:sp>
    </p:spTree>
    <p:extLst>
      <p:ext uri="{BB962C8B-B14F-4D97-AF65-F5344CB8AC3E}">
        <p14:creationId xmlns:p14="http://schemas.microsoft.com/office/powerpoint/2010/main" val="1672288515"/>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67E25DEF-5066-4791-A309-F7FABA1F2A12}" type="datetime1">
              <a:rPr kumimoji="0" lang="zh-CN" altLang="en-US" sz="1400" smtClean="0"/>
              <a:t>2025/10/15</a:t>
            </a:fld>
            <a:endParaRPr kumimoji="0" lang="en-US" altLang="zh-CN" sz="1400"/>
          </a:p>
        </p:txBody>
      </p:sp>
      <p:sp>
        <p:nvSpPr>
          <p:cNvPr id="4608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46085" name="Rectangle 2"/>
          <p:cNvSpPr>
            <a:spLocks noGrp="1" noChangeArrowheads="1"/>
          </p:cNvSpPr>
          <p:nvPr>
            <p:ph type="title"/>
          </p:nvPr>
        </p:nvSpPr>
        <p:spPr/>
        <p:txBody>
          <a:bodyPr/>
          <a:lstStyle/>
          <a:p>
            <a:pPr eaLnBrk="1" hangingPunct="1"/>
            <a:r>
              <a:rPr lang="en-US" altLang="zh-CN" dirty="0"/>
              <a:t>4.6 </a:t>
            </a:r>
            <a:r>
              <a:rPr lang="zh-CN" altLang="en-US" dirty="0"/>
              <a:t>建立和删除索引</a:t>
            </a:r>
          </a:p>
        </p:txBody>
      </p:sp>
      <p:sp>
        <p:nvSpPr>
          <p:cNvPr id="46086" name="Rectangle 3"/>
          <p:cNvSpPr>
            <a:spLocks noGrp="1" noChangeArrowheads="1"/>
          </p:cNvSpPr>
          <p:nvPr>
            <p:ph type="body" idx="1"/>
          </p:nvPr>
        </p:nvSpPr>
        <p:spPr>
          <a:xfrm>
            <a:off x="609600" y="1447800"/>
            <a:ext cx="8105775" cy="4684713"/>
          </a:xfrm>
        </p:spPr>
        <p:txBody>
          <a:bodyPr/>
          <a:lstStyle/>
          <a:p>
            <a:pPr eaLnBrk="1" hangingPunct="1"/>
            <a:r>
              <a:rPr lang="zh-CN" altLang="en-US" b="1" dirty="0"/>
              <a:t>此外，</a:t>
            </a:r>
            <a:r>
              <a:rPr lang="zh-CN" altLang="en-US" dirty="0">
                <a:solidFill>
                  <a:srgbClr val="C00000"/>
                </a:solidFill>
              </a:rPr>
              <a:t>还可以指定索引的顺序</a:t>
            </a:r>
            <a:r>
              <a:rPr lang="en-US" altLang="zh-CN" dirty="0">
                <a:solidFill>
                  <a:srgbClr val="C00000"/>
                </a:solidFill>
              </a:rPr>
              <a:t>(</a:t>
            </a:r>
            <a:r>
              <a:rPr lang="zh-CN" altLang="en-US" dirty="0">
                <a:solidFill>
                  <a:srgbClr val="C00000"/>
                </a:solidFill>
              </a:rPr>
              <a:t>数值型</a:t>
            </a:r>
            <a:r>
              <a:rPr lang="en-US" altLang="zh-CN" dirty="0">
                <a:solidFill>
                  <a:srgbClr val="C00000"/>
                </a:solidFill>
              </a:rPr>
              <a:t>)</a:t>
            </a:r>
          </a:p>
          <a:p>
            <a:pPr marL="0" indent="0" eaLnBrk="1" hangingPunct="1">
              <a:buNone/>
            </a:pPr>
            <a:endParaRPr lang="en-US" altLang="zh-CN" sz="2800" dirty="0">
              <a:solidFill>
                <a:srgbClr val="C00000"/>
              </a:solidFill>
            </a:endParaRPr>
          </a:p>
          <a:p>
            <a:pPr marL="0" indent="0" eaLnBrk="1" hangingPunct="1">
              <a:buNone/>
            </a:pPr>
            <a:r>
              <a:rPr lang="en-US" altLang="zh-CN" sz="2800" dirty="0">
                <a:solidFill>
                  <a:srgbClr val="C00000"/>
                </a:solidFill>
              </a:rPr>
              <a:t>CREATE</a:t>
            </a:r>
            <a:r>
              <a:rPr lang="en-US" altLang="zh-CN" sz="2800" dirty="0"/>
              <a:t> </a:t>
            </a:r>
            <a:r>
              <a:rPr lang="en-US" altLang="zh-CN" sz="2800" dirty="0">
                <a:solidFill>
                  <a:schemeClr val="tx2"/>
                </a:solidFill>
              </a:rPr>
              <a:t>UNIQUE </a:t>
            </a:r>
            <a:r>
              <a:rPr lang="en-US" altLang="zh-CN" sz="2800" dirty="0">
                <a:solidFill>
                  <a:srgbClr val="0000FF"/>
                </a:solidFill>
              </a:rPr>
              <a:t>INDEX</a:t>
            </a:r>
            <a:r>
              <a:rPr lang="en-US" altLang="zh-CN" sz="2800" dirty="0"/>
              <a:t> </a:t>
            </a:r>
            <a:r>
              <a:rPr lang="en-US" altLang="zh-CN" sz="2800" i="1" dirty="0" err="1"/>
              <a:t>Stusno</a:t>
            </a:r>
            <a:r>
              <a:rPr lang="en-US" altLang="zh-CN" sz="2800" dirty="0"/>
              <a:t> </a:t>
            </a:r>
            <a:r>
              <a:rPr lang="en-US" altLang="zh-CN" sz="2800" dirty="0">
                <a:solidFill>
                  <a:srgbClr val="C00000"/>
                </a:solidFill>
              </a:rPr>
              <a:t>ON</a:t>
            </a:r>
            <a:r>
              <a:rPr lang="en-US" altLang="zh-CN" sz="2800" dirty="0"/>
              <a:t> </a:t>
            </a:r>
            <a:r>
              <a:rPr lang="en-US" altLang="zh-CN" sz="2800" i="1" dirty="0"/>
              <a:t>Student(</a:t>
            </a:r>
            <a:r>
              <a:rPr lang="en-US" altLang="zh-CN" sz="2800" i="1" dirty="0" err="1"/>
              <a:t>Sno</a:t>
            </a:r>
            <a:r>
              <a:rPr lang="en-US" altLang="zh-CN" sz="2800" i="1" dirty="0"/>
              <a:t>)</a:t>
            </a:r>
            <a:r>
              <a:rPr lang="en-US" altLang="zh-CN" sz="2800" dirty="0"/>
              <a:t>;  </a:t>
            </a:r>
          </a:p>
          <a:p>
            <a:pPr marL="0" indent="0" eaLnBrk="1" hangingPunct="1">
              <a:buNone/>
            </a:pPr>
            <a:endParaRPr lang="en-US" altLang="zh-CN" sz="2800" dirty="0"/>
          </a:p>
          <a:p>
            <a:pPr marL="0" indent="0" eaLnBrk="1" hangingPunct="1">
              <a:buNone/>
            </a:pPr>
            <a:r>
              <a:rPr lang="en-US" altLang="zh-CN" sz="2800" dirty="0">
                <a:solidFill>
                  <a:srgbClr val="C00000"/>
                </a:solidFill>
              </a:rPr>
              <a:t>CREATE</a:t>
            </a:r>
            <a:r>
              <a:rPr lang="en-US" altLang="zh-CN" sz="2800" dirty="0"/>
              <a:t> UNIQUE </a:t>
            </a:r>
            <a:r>
              <a:rPr lang="en-US" altLang="zh-CN" sz="2800" dirty="0">
                <a:solidFill>
                  <a:srgbClr val="0000FF"/>
                </a:solidFill>
              </a:rPr>
              <a:t>INDEX</a:t>
            </a:r>
            <a:r>
              <a:rPr lang="en-US" altLang="zh-CN" sz="2800" dirty="0"/>
              <a:t> </a:t>
            </a:r>
            <a:r>
              <a:rPr lang="en-US" altLang="zh-CN" sz="2800" i="1" dirty="0" err="1"/>
              <a:t>Coucno</a:t>
            </a:r>
            <a:r>
              <a:rPr lang="en-US" altLang="zh-CN" sz="2800" dirty="0"/>
              <a:t> </a:t>
            </a:r>
            <a:r>
              <a:rPr lang="en-US" altLang="zh-CN" sz="2800" dirty="0">
                <a:solidFill>
                  <a:srgbClr val="C00000"/>
                </a:solidFill>
              </a:rPr>
              <a:t>ON</a:t>
            </a:r>
            <a:r>
              <a:rPr lang="en-US" altLang="zh-CN" sz="2800" i="1" dirty="0"/>
              <a:t> Course(</a:t>
            </a:r>
            <a:r>
              <a:rPr lang="en-US" altLang="zh-CN" sz="2800" i="1" dirty="0" err="1"/>
              <a:t>Cno</a:t>
            </a:r>
            <a:r>
              <a:rPr lang="en-US" altLang="zh-CN" sz="2800" i="1" dirty="0"/>
              <a:t>)</a:t>
            </a:r>
            <a:r>
              <a:rPr lang="en-US" altLang="zh-CN" sz="2800" dirty="0"/>
              <a:t>;</a:t>
            </a:r>
          </a:p>
          <a:p>
            <a:pPr marL="0" indent="0" eaLnBrk="1" hangingPunct="1">
              <a:buNone/>
            </a:pPr>
            <a:endParaRPr lang="en-US" altLang="zh-CN" sz="2800" dirty="0"/>
          </a:p>
          <a:p>
            <a:pPr marL="0" indent="0" eaLnBrk="1" hangingPunct="1">
              <a:buNone/>
            </a:pPr>
            <a:r>
              <a:rPr lang="en-US" altLang="zh-CN" sz="2800" dirty="0">
                <a:solidFill>
                  <a:srgbClr val="C00000"/>
                </a:solidFill>
              </a:rPr>
              <a:t>CREATE</a:t>
            </a:r>
            <a:r>
              <a:rPr lang="en-US" altLang="zh-CN" sz="2800" dirty="0"/>
              <a:t> UNIQUE </a:t>
            </a:r>
            <a:r>
              <a:rPr lang="en-US" altLang="zh-CN" sz="2800" dirty="0">
                <a:solidFill>
                  <a:srgbClr val="0000FF"/>
                </a:solidFill>
              </a:rPr>
              <a:t>INDEX</a:t>
            </a:r>
            <a:r>
              <a:rPr lang="en-US" altLang="zh-CN" sz="2800" dirty="0"/>
              <a:t> </a:t>
            </a:r>
            <a:r>
              <a:rPr lang="en-US" altLang="zh-CN" sz="2800" i="1" dirty="0" err="1"/>
              <a:t>SCno</a:t>
            </a:r>
            <a:r>
              <a:rPr lang="en-US" altLang="zh-CN" sz="2800" dirty="0"/>
              <a:t> </a:t>
            </a:r>
            <a:r>
              <a:rPr lang="en-US" altLang="zh-CN" sz="2800" dirty="0">
                <a:solidFill>
                  <a:srgbClr val="C00000"/>
                </a:solidFill>
              </a:rPr>
              <a:t>ON</a:t>
            </a:r>
            <a:r>
              <a:rPr lang="en-US" altLang="zh-CN" sz="2800" i="1" dirty="0"/>
              <a:t> SC(</a:t>
            </a:r>
            <a:r>
              <a:rPr lang="en-US" altLang="zh-CN" sz="2800" i="1" dirty="0" err="1"/>
              <a:t>Sno</a:t>
            </a:r>
            <a:r>
              <a:rPr lang="en-US" altLang="zh-CN" sz="2800" i="1" dirty="0"/>
              <a:t> </a:t>
            </a:r>
            <a:r>
              <a:rPr lang="en-US" altLang="zh-CN" sz="2800" i="1" dirty="0">
                <a:solidFill>
                  <a:srgbClr val="C00000"/>
                </a:solidFill>
              </a:rPr>
              <a:t>ASC</a:t>
            </a:r>
            <a:r>
              <a:rPr lang="en-US" altLang="zh-CN" sz="2800" i="1" dirty="0"/>
              <a:t>, </a:t>
            </a:r>
            <a:r>
              <a:rPr lang="en-US" altLang="zh-CN" sz="2800" i="1" dirty="0" err="1"/>
              <a:t>Cno</a:t>
            </a:r>
            <a:r>
              <a:rPr lang="en-US" altLang="zh-CN" sz="2800" i="1" dirty="0"/>
              <a:t> </a:t>
            </a:r>
            <a:r>
              <a:rPr lang="en-US" altLang="zh-CN" sz="2800" i="1" dirty="0">
                <a:solidFill>
                  <a:srgbClr val="0000FF"/>
                </a:solidFill>
              </a:rPr>
              <a:t>DESC</a:t>
            </a:r>
            <a:r>
              <a:rPr lang="en-US" altLang="zh-CN" sz="2800" i="1" dirty="0"/>
              <a:t>)</a:t>
            </a:r>
            <a:r>
              <a:rPr lang="en-US" altLang="zh-CN" sz="2800" dirty="0"/>
              <a:t>;</a:t>
            </a:r>
          </a:p>
        </p:txBody>
      </p:sp>
      <p:sp>
        <p:nvSpPr>
          <p:cNvPr id="2" name="TextBox 1"/>
          <p:cNvSpPr txBox="1"/>
          <p:nvPr/>
        </p:nvSpPr>
        <p:spPr>
          <a:xfrm>
            <a:off x="7010400" y="2057400"/>
            <a:ext cx="1620957" cy="523220"/>
          </a:xfrm>
          <a:prstGeom prst="rect">
            <a:avLst/>
          </a:prstGeom>
          <a:noFill/>
        </p:spPr>
        <p:txBody>
          <a:bodyPr wrap="none" rtlCol="0">
            <a:spAutoFit/>
          </a:bodyPr>
          <a:lstStyle/>
          <a:p>
            <a:r>
              <a:rPr lang="zh-CN" altLang="en-US" sz="2800" b="1" dirty="0">
                <a:solidFill>
                  <a:srgbClr val="0000FF"/>
                </a:solidFill>
              </a:rPr>
              <a:t>默认升序</a:t>
            </a:r>
          </a:p>
        </p:txBody>
      </p:sp>
      <p:sp>
        <p:nvSpPr>
          <p:cNvPr id="5" name="灯片编号占位符 4">
            <a:extLst>
              <a:ext uri="{FF2B5EF4-FFF2-40B4-BE49-F238E27FC236}">
                <a16:creationId xmlns:a16="http://schemas.microsoft.com/office/drawing/2014/main" id="{63D868B9-4F68-C763-C4F5-80A85F0D3181}"/>
              </a:ext>
            </a:extLst>
          </p:cNvPr>
          <p:cNvSpPr>
            <a:spLocks noGrp="1"/>
          </p:cNvSpPr>
          <p:nvPr>
            <p:ph type="sldNum" sz="quarter" idx="12"/>
          </p:nvPr>
        </p:nvSpPr>
        <p:spPr/>
        <p:txBody>
          <a:bodyPr/>
          <a:lstStyle/>
          <a:p>
            <a:pPr>
              <a:defRPr/>
            </a:pPr>
            <a:fld id="{E0CD82EA-F7BE-454B-A83E-18830F6C5424}" type="slidenum">
              <a:rPr lang="en-US" altLang="zh-CN" smtClean="0"/>
              <a:pPr>
                <a:defRPr/>
              </a:pPr>
              <a:t>101</a:t>
            </a:fld>
            <a:r>
              <a:rPr lang="en-US" altLang="zh-CN"/>
              <a:t>/138</a:t>
            </a:r>
            <a:endParaRPr lang="zh-CN" altLang="en-US" dirty="0"/>
          </a:p>
        </p:txBody>
      </p:sp>
    </p:spTree>
    <p:extLst>
      <p:ext uri="{BB962C8B-B14F-4D97-AF65-F5344CB8AC3E}">
        <p14:creationId xmlns:p14="http://schemas.microsoft.com/office/powerpoint/2010/main" val="3112260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086">
                                            <p:txEl>
                                              <p:pRg st="2" end="2"/>
                                            </p:txEl>
                                          </p:spTgt>
                                        </p:tgtEl>
                                        <p:attrNameLst>
                                          <p:attrName>style.visibility</p:attrName>
                                        </p:attrNameLst>
                                      </p:cBhvr>
                                      <p:to>
                                        <p:strVal val="visible"/>
                                      </p:to>
                                    </p:set>
                                    <p:anim calcmode="lin" valueType="num">
                                      <p:cBhvr additive="base">
                                        <p:cTn id="7" dur="500" fill="hold"/>
                                        <p:tgtEl>
                                          <p:spTgt spid="4608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08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6086">
                                            <p:txEl>
                                              <p:pRg st="0" end="0"/>
                                            </p:txEl>
                                          </p:spTgt>
                                        </p:tgtEl>
                                        <p:attrNameLst>
                                          <p:attrName>style.visibility</p:attrName>
                                        </p:attrNameLst>
                                      </p:cBhvr>
                                      <p:to>
                                        <p:strVal val="visible"/>
                                      </p:to>
                                    </p:set>
                                    <p:anim calcmode="lin" valueType="num">
                                      <p:cBhvr additive="base">
                                        <p:cTn id="13" dur="500" fill="hold"/>
                                        <p:tgtEl>
                                          <p:spTgt spid="4608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0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circle(in)">
                                      <p:cBhvr>
                                        <p:cTn id="19" dur="20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6086">
                                            <p:txEl>
                                              <p:pRg st="4" end="4"/>
                                            </p:txEl>
                                          </p:spTgt>
                                        </p:tgtEl>
                                        <p:attrNameLst>
                                          <p:attrName>style.visibility</p:attrName>
                                        </p:attrNameLst>
                                      </p:cBhvr>
                                      <p:to>
                                        <p:strVal val="visible"/>
                                      </p:to>
                                    </p:set>
                                    <p:anim calcmode="lin" valueType="num">
                                      <p:cBhvr additive="base">
                                        <p:cTn id="24" dur="500" fill="hold"/>
                                        <p:tgtEl>
                                          <p:spTgt spid="46086">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608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6086">
                                            <p:txEl>
                                              <p:pRg st="6" end="6"/>
                                            </p:txEl>
                                          </p:spTgt>
                                        </p:tgtEl>
                                        <p:attrNameLst>
                                          <p:attrName>style.visibility</p:attrName>
                                        </p:attrNameLst>
                                      </p:cBhvr>
                                      <p:to>
                                        <p:strVal val="visible"/>
                                      </p:to>
                                    </p:set>
                                    <p:anim calcmode="lin" valueType="num">
                                      <p:cBhvr additive="base">
                                        <p:cTn id="30" dur="500" fill="hold"/>
                                        <p:tgtEl>
                                          <p:spTgt spid="46086">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608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72F40992-6905-498F-B9D2-112F37AAEB96}" type="datetime1">
              <a:rPr kumimoji="0" lang="zh-CN" altLang="en-US" sz="1400" smtClean="0"/>
              <a:t>2025/10/15</a:t>
            </a:fld>
            <a:endParaRPr kumimoji="0" lang="en-US" altLang="zh-CN" sz="1400"/>
          </a:p>
        </p:txBody>
      </p:sp>
      <p:sp>
        <p:nvSpPr>
          <p:cNvPr id="47107"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47109" name="Rectangle 2"/>
          <p:cNvSpPr>
            <a:spLocks noGrp="1" noChangeArrowheads="1"/>
          </p:cNvSpPr>
          <p:nvPr>
            <p:ph type="title"/>
          </p:nvPr>
        </p:nvSpPr>
        <p:spPr/>
        <p:txBody>
          <a:bodyPr/>
          <a:lstStyle/>
          <a:p>
            <a:pPr eaLnBrk="1" hangingPunct="1"/>
            <a:r>
              <a:rPr lang="en-US" altLang="zh-CN" dirty="0"/>
              <a:t>4.6 </a:t>
            </a:r>
            <a:r>
              <a:rPr lang="zh-CN" altLang="en-US" dirty="0"/>
              <a:t>建立和删除</a:t>
            </a:r>
            <a:r>
              <a:rPr lang="zh-CN" altLang="en-US" b="1" dirty="0"/>
              <a:t>索引</a:t>
            </a:r>
          </a:p>
        </p:txBody>
      </p:sp>
      <p:sp>
        <p:nvSpPr>
          <p:cNvPr id="47110" name="Rectangle 3"/>
          <p:cNvSpPr>
            <a:spLocks noGrp="1" noChangeArrowheads="1"/>
          </p:cNvSpPr>
          <p:nvPr>
            <p:ph type="body" idx="1"/>
          </p:nvPr>
        </p:nvSpPr>
        <p:spPr/>
        <p:txBody>
          <a:bodyPr/>
          <a:lstStyle/>
          <a:p>
            <a:pPr eaLnBrk="1" hangingPunct="1"/>
            <a:r>
              <a:rPr lang="zh-CN" altLang="en-US" dirty="0">
                <a:solidFill>
                  <a:schemeClr val="tx2"/>
                </a:solidFill>
              </a:rPr>
              <a:t>删除</a:t>
            </a:r>
            <a:r>
              <a:rPr lang="zh-CN" altLang="en-US" dirty="0"/>
              <a:t>索引</a:t>
            </a:r>
          </a:p>
          <a:p>
            <a:pPr eaLnBrk="1" hangingPunct="1">
              <a:buFont typeface="Wingdings" pitchFamily="2" charset="2"/>
              <a:buNone/>
            </a:pPr>
            <a:r>
              <a:rPr lang="en-US" altLang="zh-CN" sz="2800" dirty="0"/>
              <a:t>		</a:t>
            </a:r>
            <a:r>
              <a:rPr lang="en-US" altLang="zh-CN" sz="2800" dirty="0">
                <a:solidFill>
                  <a:srgbClr val="FF0000"/>
                </a:solidFill>
              </a:rPr>
              <a:t>DROP</a:t>
            </a:r>
            <a:r>
              <a:rPr lang="en-US" altLang="zh-CN" sz="2800" dirty="0"/>
              <a:t> INDEX &lt;</a:t>
            </a:r>
            <a:r>
              <a:rPr lang="zh-CN" altLang="en-US" sz="2800" dirty="0"/>
              <a:t>索引名</a:t>
            </a:r>
            <a:r>
              <a:rPr lang="en-US" altLang="zh-CN" sz="2800" dirty="0"/>
              <a:t>&gt;;</a:t>
            </a:r>
          </a:p>
          <a:p>
            <a:pPr eaLnBrk="1" hangingPunct="1">
              <a:buFont typeface="Wingdings" pitchFamily="2" charset="2"/>
              <a:buNone/>
            </a:pPr>
            <a:endParaRPr lang="en-US" altLang="zh-CN" sz="2800" dirty="0"/>
          </a:p>
          <a:p>
            <a:pPr eaLnBrk="1" hangingPunct="1"/>
            <a:r>
              <a:rPr lang="zh-CN" altLang="en-US" sz="2800" dirty="0"/>
              <a:t>例 删除</a:t>
            </a:r>
            <a:r>
              <a:rPr lang="en-US" altLang="zh-CN" sz="2800" dirty="0"/>
              <a:t>Student</a:t>
            </a:r>
            <a:r>
              <a:rPr lang="zh-CN" altLang="en-US" sz="2800" dirty="0"/>
              <a:t>表的</a:t>
            </a:r>
            <a:r>
              <a:rPr lang="en-US" altLang="zh-CN" sz="2800" dirty="0" err="1"/>
              <a:t>Stusno</a:t>
            </a:r>
            <a:r>
              <a:rPr lang="zh-CN" altLang="en-US" sz="2800" dirty="0"/>
              <a:t>索引</a:t>
            </a:r>
          </a:p>
          <a:p>
            <a:pPr eaLnBrk="1" hangingPunct="1">
              <a:buNone/>
            </a:pPr>
            <a:r>
              <a:rPr lang="en-US" altLang="zh-CN" sz="2800" dirty="0"/>
              <a:t>		DROP INDEX </a:t>
            </a:r>
            <a:r>
              <a:rPr lang="en-US" altLang="zh-CN" sz="2800" dirty="0" err="1"/>
              <a:t>Stusno</a:t>
            </a:r>
            <a:r>
              <a:rPr lang="en-US" altLang="zh-CN" sz="2800" dirty="0"/>
              <a:t>;</a:t>
            </a:r>
          </a:p>
          <a:p>
            <a:pPr eaLnBrk="1" hangingPunct="1"/>
            <a:endParaRPr lang="zh-CN" altLang="en-US" dirty="0"/>
          </a:p>
          <a:p>
            <a:pPr eaLnBrk="1" hangingPunct="1"/>
            <a:endParaRPr lang="zh-CN" altLang="en-US" dirty="0"/>
          </a:p>
        </p:txBody>
      </p:sp>
      <p:sp>
        <p:nvSpPr>
          <p:cNvPr id="4" name="灯片编号占位符 3">
            <a:extLst>
              <a:ext uri="{FF2B5EF4-FFF2-40B4-BE49-F238E27FC236}">
                <a16:creationId xmlns:a16="http://schemas.microsoft.com/office/drawing/2014/main" id="{A7E123AB-301E-7388-D714-AC3345F9648D}"/>
              </a:ext>
            </a:extLst>
          </p:cNvPr>
          <p:cNvSpPr>
            <a:spLocks noGrp="1"/>
          </p:cNvSpPr>
          <p:nvPr>
            <p:ph type="sldNum" sz="quarter" idx="12"/>
          </p:nvPr>
        </p:nvSpPr>
        <p:spPr/>
        <p:txBody>
          <a:bodyPr/>
          <a:lstStyle/>
          <a:p>
            <a:pPr>
              <a:defRPr/>
            </a:pPr>
            <a:fld id="{E0CD82EA-F7BE-454B-A83E-18830F6C5424}" type="slidenum">
              <a:rPr lang="en-US" altLang="zh-CN" smtClean="0"/>
              <a:pPr>
                <a:defRPr/>
              </a:pPr>
              <a:t>102</a:t>
            </a:fld>
            <a:r>
              <a:rPr lang="en-US" altLang="zh-CN"/>
              <a:t>/138</a:t>
            </a:r>
            <a:endParaRPr lang="zh-CN" altLang="en-US" dirty="0"/>
          </a:p>
        </p:txBody>
      </p:sp>
    </p:spTree>
    <p:extLst>
      <p:ext uri="{BB962C8B-B14F-4D97-AF65-F5344CB8AC3E}">
        <p14:creationId xmlns:p14="http://schemas.microsoft.com/office/powerpoint/2010/main" val="1974370344"/>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39C89EFE-86D4-4CAB-A510-9CA4D807FAD8}" type="datetime1">
              <a:rPr kumimoji="0" lang="zh-CN" altLang="en-US" sz="1400" smtClean="0"/>
              <a:t>2025/10/15</a:t>
            </a:fld>
            <a:endParaRPr kumimoji="0" lang="en-US" altLang="zh-CN" sz="1400"/>
          </a:p>
        </p:txBody>
      </p:sp>
      <p:sp>
        <p:nvSpPr>
          <p:cNvPr id="512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5125" name="Rectangle 2"/>
          <p:cNvSpPr>
            <a:spLocks noGrp="1" noChangeArrowheads="1"/>
          </p:cNvSpPr>
          <p:nvPr>
            <p:ph type="title"/>
          </p:nvPr>
        </p:nvSpPr>
        <p:spPr/>
        <p:txBody>
          <a:bodyPr/>
          <a:lstStyle/>
          <a:p>
            <a:pPr eaLnBrk="1" hangingPunct="1"/>
            <a:r>
              <a:rPr lang="zh-CN" altLang="en-US"/>
              <a:t>本章目录</a:t>
            </a:r>
          </a:p>
        </p:txBody>
      </p:sp>
      <p:sp>
        <p:nvSpPr>
          <p:cNvPr id="5126" name="Rectangle 3"/>
          <p:cNvSpPr>
            <a:spLocks noGrp="1" noChangeArrowheads="1"/>
          </p:cNvSpPr>
          <p:nvPr>
            <p:ph type="body" idx="1"/>
          </p:nvPr>
        </p:nvSpPr>
        <p:spPr>
          <a:xfrm>
            <a:off x="1371600" y="1600200"/>
            <a:ext cx="7583488" cy="4532313"/>
          </a:xfrm>
        </p:spPr>
        <p:txBody>
          <a:bodyPr/>
          <a:lstStyle/>
          <a:p>
            <a:pPr eaLnBrk="1" hangingPunct="1"/>
            <a:r>
              <a:rPr lang="en-US" altLang="zh-CN" dirty="0"/>
              <a:t>4.1 </a:t>
            </a:r>
            <a:r>
              <a:rPr lang="zh-CN" altLang="en-US" dirty="0"/>
              <a:t>连接查询</a:t>
            </a:r>
          </a:p>
          <a:p>
            <a:pPr eaLnBrk="1" hangingPunct="1"/>
            <a:r>
              <a:rPr lang="en-US" altLang="zh-CN" dirty="0"/>
              <a:t>4.2 </a:t>
            </a:r>
            <a:r>
              <a:rPr lang="zh-CN" altLang="en-US" dirty="0"/>
              <a:t>视图</a:t>
            </a:r>
          </a:p>
          <a:p>
            <a:pPr eaLnBrk="1" hangingPunct="1"/>
            <a:r>
              <a:rPr lang="en-US" altLang="zh-CN" dirty="0"/>
              <a:t>4.3 </a:t>
            </a:r>
            <a:r>
              <a:rPr lang="zh-CN" altLang="en-US" dirty="0"/>
              <a:t>事务</a:t>
            </a:r>
            <a:endParaRPr lang="en-US" altLang="zh-CN" dirty="0"/>
          </a:p>
          <a:p>
            <a:pPr eaLnBrk="1" hangingPunct="1"/>
            <a:r>
              <a:rPr lang="en-US" altLang="zh-CN" dirty="0"/>
              <a:t>4.4 </a:t>
            </a:r>
            <a:r>
              <a:rPr lang="zh-CN" altLang="en-US" dirty="0"/>
              <a:t>完整性约束</a:t>
            </a:r>
            <a:endParaRPr lang="en-US" altLang="zh-CN" dirty="0"/>
          </a:p>
          <a:p>
            <a:pPr eaLnBrk="1" hangingPunct="1"/>
            <a:r>
              <a:rPr lang="en-US" altLang="zh-CN" dirty="0"/>
              <a:t>4.5 SQL</a:t>
            </a:r>
            <a:r>
              <a:rPr lang="zh-CN" altLang="en-US" dirty="0"/>
              <a:t>数据类型与模式</a:t>
            </a:r>
            <a:endParaRPr lang="en-US" altLang="zh-CN" dirty="0"/>
          </a:p>
          <a:p>
            <a:pPr eaLnBrk="1" hangingPunct="1"/>
            <a:r>
              <a:rPr lang="en-US" altLang="zh-CN" dirty="0"/>
              <a:t>4.6 </a:t>
            </a:r>
            <a:r>
              <a:rPr lang="zh-CN" altLang="en-US" dirty="0"/>
              <a:t>索引</a:t>
            </a:r>
            <a:endParaRPr lang="en-US" altLang="zh-CN" dirty="0"/>
          </a:p>
          <a:p>
            <a:pPr eaLnBrk="1" hangingPunct="1"/>
            <a:r>
              <a:rPr lang="en-US" altLang="zh-CN" dirty="0"/>
              <a:t>4.7 </a:t>
            </a:r>
            <a:r>
              <a:rPr lang="zh-CN" altLang="en-US" dirty="0"/>
              <a:t>授权</a:t>
            </a:r>
          </a:p>
        </p:txBody>
      </p:sp>
      <p:sp>
        <p:nvSpPr>
          <p:cNvPr id="11268" name="AutoShape 4"/>
          <p:cNvSpPr>
            <a:spLocks noChangeArrowheads="1"/>
          </p:cNvSpPr>
          <p:nvPr/>
        </p:nvSpPr>
        <p:spPr bwMode="auto">
          <a:xfrm>
            <a:off x="856129" y="5257800"/>
            <a:ext cx="457200" cy="457200"/>
          </a:xfrm>
          <a:prstGeom prst="rightArrow">
            <a:avLst>
              <a:gd name="adj1" fmla="val 50000"/>
              <a:gd name="adj2" fmla="val 40278"/>
            </a:avLst>
          </a:prstGeom>
          <a:solidFill>
            <a:srgbClr val="FFCC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endParaRPr lang="zh-CN" altLang="en-US"/>
          </a:p>
        </p:txBody>
      </p:sp>
      <p:sp>
        <p:nvSpPr>
          <p:cNvPr id="4" name="灯片编号占位符 3">
            <a:extLst>
              <a:ext uri="{FF2B5EF4-FFF2-40B4-BE49-F238E27FC236}">
                <a16:creationId xmlns:a16="http://schemas.microsoft.com/office/drawing/2014/main" id="{1EB33506-94D2-58CE-7CB6-F361B46B2F33}"/>
              </a:ext>
            </a:extLst>
          </p:cNvPr>
          <p:cNvSpPr>
            <a:spLocks noGrp="1"/>
          </p:cNvSpPr>
          <p:nvPr>
            <p:ph type="sldNum" sz="quarter" idx="12"/>
          </p:nvPr>
        </p:nvSpPr>
        <p:spPr/>
        <p:txBody>
          <a:bodyPr/>
          <a:lstStyle/>
          <a:p>
            <a:pPr>
              <a:defRPr/>
            </a:pPr>
            <a:fld id="{E0CD82EA-F7BE-454B-A83E-18830F6C5424}" type="slidenum">
              <a:rPr lang="en-US" altLang="zh-CN" smtClean="0"/>
              <a:pPr>
                <a:defRPr/>
              </a:pPr>
              <a:t>103</a:t>
            </a:fld>
            <a:r>
              <a:rPr lang="en-US" altLang="zh-CN"/>
              <a:t>/138</a:t>
            </a:r>
            <a:endParaRPr lang="zh-CN" altLang="en-US" dirty="0"/>
          </a:p>
        </p:txBody>
      </p:sp>
    </p:spTree>
    <p:extLst>
      <p:ext uri="{BB962C8B-B14F-4D97-AF65-F5344CB8AC3E}">
        <p14:creationId xmlns:p14="http://schemas.microsoft.com/office/powerpoint/2010/main" val="2468788624"/>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268"/>
                                        </p:tgtEl>
                                        <p:attrNameLst>
                                          <p:attrName>style.visibility</p:attrName>
                                        </p:attrNameLst>
                                      </p:cBhvr>
                                      <p:to>
                                        <p:strVal val="visible"/>
                                      </p:to>
                                    </p:set>
                                    <p:anim calcmode="lin" valueType="num">
                                      <p:cBhvr additive="base">
                                        <p:cTn id="7" dur="500" fill="hold"/>
                                        <p:tgtEl>
                                          <p:spTgt spid="11268"/>
                                        </p:tgtEl>
                                        <p:attrNameLst>
                                          <p:attrName>ppt_x</p:attrName>
                                        </p:attrNameLst>
                                      </p:cBhvr>
                                      <p:tavLst>
                                        <p:tav tm="0">
                                          <p:val>
                                            <p:strVal val="0-#ppt_w/2"/>
                                          </p:val>
                                        </p:tav>
                                        <p:tav tm="100000">
                                          <p:val>
                                            <p:strVal val="#ppt_x"/>
                                          </p:val>
                                        </p:tav>
                                      </p:tavLst>
                                    </p:anim>
                                    <p:anim calcmode="lin" valueType="num">
                                      <p:cBhvr additive="base">
                                        <p:cTn id="8" dur="500" fill="hold"/>
                                        <p:tgtEl>
                                          <p:spTgt spid="1126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1ABFEC52-2B7C-44A2-89A4-BE309E3AC9E3}" type="datetime1">
              <a:rPr kumimoji="0" lang="zh-CN" altLang="en-US" sz="1400" smtClean="0"/>
              <a:t>2025/10/15</a:t>
            </a:fld>
            <a:endParaRPr kumimoji="0" lang="en-US" altLang="zh-CN" sz="1400"/>
          </a:p>
        </p:txBody>
      </p:sp>
      <p:sp>
        <p:nvSpPr>
          <p:cNvPr id="43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43013" name="Rectangle 2"/>
          <p:cNvSpPr>
            <a:spLocks noGrp="1" noChangeArrowheads="1"/>
          </p:cNvSpPr>
          <p:nvPr>
            <p:ph type="title"/>
          </p:nvPr>
        </p:nvSpPr>
        <p:spPr/>
        <p:txBody>
          <a:bodyPr/>
          <a:lstStyle/>
          <a:p>
            <a:pPr eaLnBrk="1" hangingPunct="1"/>
            <a:r>
              <a:rPr lang="en-US" altLang="zh-CN" dirty="0"/>
              <a:t>4.7 </a:t>
            </a:r>
            <a:r>
              <a:rPr lang="zh-CN" altLang="en-US" dirty="0"/>
              <a:t>授权</a:t>
            </a:r>
          </a:p>
        </p:txBody>
      </p:sp>
      <p:sp>
        <p:nvSpPr>
          <p:cNvPr id="43014" name="Rectangle 3"/>
          <p:cNvSpPr>
            <a:spLocks noGrp="1" noChangeArrowheads="1"/>
          </p:cNvSpPr>
          <p:nvPr>
            <p:ph type="body" idx="1"/>
          </p:nvPr>
        </p:nvSpPr>
        <p:spPr/>
        <p:txBody>
          <a:bodyPr/>
          <a:lstStyle/>
          <a:p>
            <a:r>
              <a:rPr lang="zh-CN" altLang="en-US" dirty="0"/>
              <a:t>数据库的</a:t>
            </a:r>
            <a:r>
              <a:rPr lang="zh-CN" altLang="en-US" b="1" dirty="0">
                <a:solidFill>
                  <a:srgbClr val="FF0000"/>
                </a:solidFill>
              </a:rPr>
              <a:t>数据保护</a:t>
            </a:r>
            <a:r>
              <a:rPr lang="zh-CN" altLang="en-US" dirty="0"/>
              <a:t>主要包括数据的</a:t>
            </a:r>
            <a:r>
              <a:rPr lang="zh-CN" altLang="en-US" u="sng" dirty="0">
                <a:solidFill>
                  <a:srgbClr val="0000FF"/>
                </a:solidFill>
              </a:rPr>
              <a:t>安全性</a:t>
            </a:r>
            <a:r>
              <a:rPr lang="zh-CN" altLang="en-US" u="sng" dirty="0"/>
              <a:t>和完整性</a:t>
            </a:r>
            <a:r>
              <a:rPr lang="zh-CN" altLang="en-US" dirty="0"/>
              <a:t>。</a:t>
            </a:r>
            <a:endParaRPr lang="en-US" altLang="zh-CN" dirty="0"/>
          </a:p>
          <a:p>
            <a:r>
              <a:rPr lang="zh-CN" altLang="en-US" dirty="0"/>
              <a:t>数据库的</a:t>
            </a:r>
            <a:r>
              <a:rPr lang="zh-CN" altLang="en-US" b="1" u="sng" dirty="0">
                <a:solidFill>
                  <a:srgbClr val="0000FF"/>
                </a:solidFill>
                <a:effectLst>
                  <a:outerShdw blurRad="38100" dist="38100" dir="2700000" algn="tl">
                    <a:srgbClr val="000000">
                      <a:alpha val="43137"/>
                    </a:srgbClr>
                  </a:outerShdw>
                </a:effectLst>
              </a:rPr>
              <a:t>安全性</a:t>
            </a:r>
            <a:r>
              <a:rPr lang="zh-CN" altLang="en-US" dirty="0"/>
              <a:t>是指保护数据库以</a:t>
            </a:r>
            <a:r>
              <a:rPr lang="zh-CN" altLang="en-US" u="sng" dirty="0"/>
              <a:t>防止</a:t>
            </a:r>
            <a:r>
              <a:rPr lang="zh-CN" altLang="en-US" u="sng" dirty="0">
                <a:solidFill>
                  <a:srgbClr val="FF0000"/>
                </a:solidFill>
              </a:rPr>
              <a:t>不合法的使用</a:t>
            </a:r>
            <a:r>
              <a:rPr lang="zh-CN" altLang="en-US" u="sng" dirty="0"/>
              <a:t>所造成的</a:t>
            </a:r>
            <a:r>
              <a:rPr lang="zh-CN" altLang="en-US" u="sng" dirty="0">
                <a:solidFill>
                  <a:srgbClr val="FF0000"/>
                </a:solidFill>
              </a:rPr>
              <a:t>数据泄露、更改</a:t>
            </a:r>
            <a:r>
              <a:rPr lang="zh-CN" altLang="en-US" u="sng" dirty="0"/>
              <a:t>或</a:t>
            </a:r>
            <a:r>
              <a:rPr lang="zh-CN" altLang="en-US" u="sng" dirty="0">
                <a:solidFill>
                  <a:srgbClr val="FF0000"/>
                </a:solidFill>
              </a:rPr>
              <a:t>破坏</a:t>
            </a:r>
            <a:r>
              <a:rPr lang="zh-CN" altLang="en-US" dirty="0"/>
              <a:t>。</a:t>
            </a:r>
            <a:endParaRPr lang="en-US" altLang="zh-CN" dirty="0"/>
          </a:p>
          <a:p>
            <a:r>
              <a:rPr lang="zh-CN" altLang="en-US" dirty="0"/>
              <a:t>授权目的是保证数据库的安全性。</a:t>
            </a:r>
          </a:p>
          <a:p>
            <a:pPr eaLnBrk="1" hangingPunct="1"/>
            <a:endParaRPr lang="zh-CN" altLang="en-US" dirty="0"/>
          </a:p>
        </p:txBody>
      </p:sp>
      <p:sp>
        <p:nvSpPr>
          <p:cNvPr id="4" name="灯片编号占位符 3">
            <a:extLst>
              <a:ext uri="{FF2B5EF4-FFF2-40B4-BE49-F238E27FC236}">
                <a16:creationId xmlns:a16="http://schemas.microsoft.com/office/drawing/2014/main" id="{230D5BAB-22DA-EA2A-93C4-4B0A9402EB66}"/>
              </a:ext>
            </a:extLst>
          </p:cNvPr>
          <p:cNvSpPr>
            <a:spLocks noGrp="1"/>
          </p:cNvSpPr>
          <p:nvPr>
            <p:ph type="sldNum" sz="quarter" idx="12"/>
          </p:nvPr>
        </p:nvSpPr>
        <p:spPr/>
        <p:txBody>
          <a:bodyPr/>
          <a:lstStyle/>
          <a:p>
            <a:pPr>
              <a:defRPr/>
            </a:pPr>
            <a:fld id="{E0CD82EA-F7BE-454B-A83E-18830F6C5424}" type="slidenum">
              <a:rPr lang="en-US" altLang="zh-CN" smtClean="0"/>
              <a:pPr>
                <a:defRPr/>
              </a:pPr>
              <a:t>104</a:t>
            </a:fld>
            <a:r>
              <a:rPr lang="en-US" altLang="zh-CN"/>
              <a:t>/138</a:t>
            </a:r>
            <a:endParaRPr lang="zh-CN" altLang="en-US" dirty="0"/>
          </a:p>
        </p:txBody>
      </p:sp>
    </p:spTree>
    <p:extLst>
      <p:ext uri="{BB962C8B-B14F-4D97-AF65-F5344CB8AC3E}">
        <p14:creationId xmlns:p14="http://schemas.microsoft.com/office/powerpoint/2010/main" val="1266172367"/>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日期占位符 3"/>
          <p:cNvSpPr>
            <a:spLocks noGrp="1"/>
          </p:cNvSpPr>
          <p:nvPr>
            <p:ph type="dt" sz="half" idx="10"/>
          </p:nvPr>
        </p:nvSpPr>
        <p:spPr/>
        <p:txBody>
          <a:bodyPr/>
          <a:lstStyle/>
          <a:p>
            <a:fld id="{1476B6C0-2C8E-47AF-9696-DF8DD32B1DA6}" type="datetime1">
              <a:rPr lang="zh-CN" altLang="en-US" smtClean="0"/>
              <a:t>2025/10/15</a:t>
            </a:fld>
            <a:endParaRPr lang="en-US" altLang="zh-CN"/>
          </a:p>
        </p:txBody>
      </p:sp>
      <p:sp>
        <p:nvSpPr>
          <p:cNvPr id="19"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198658" name="Rectangle 2"/>
          <p:cNvSpPr>
            <a:spLocks noGrp="1" noChangeArrowheads="1"/>
          </p:cNvSpPr>
          <p:nvPr>
            <p:ph type="title"/>
          </p:nvPr>
        </p:nvSpPr>
        <p:spPr/>
        <p:txBody>
          <a:bodyPr/>
          <a:lstStyle/>
          <a:p>
            <a:r>
              <a:rPr lang="en-US" altLang="zh-CN" dirty="0"/>
              <a:t>4.7 </a:t>
            </a:r>
            <a:r>
              <a:rPr lang="zh-CN" altLang="en-US" dirty="0"/>
              <a:t>授权</a:t>
            </a:r>
          </a:p>
        </p:txBody>
      </p:sp>
      <p:sp>
        <p:nvSpPr>
          <p:cNvPr id="198659" name="Rectangle 3"/>
          <p:cNvSpPr>
            <a:spLocks noGrp="1" noChangeArrowheads="1"/>
          </p:cNvSpPr>
          <p:nvPr>
            <p:ph type="body" idx="1"/>
          </p:nvPr>
        </p:nvSpPr>
        <p:spPr>
          <a:xfrm>
            <a:off x="609600" y="1447801"/>
            <a:ext cx="8345488" cy="990600"/>
          </a:xfrm>
        </p:spPr>
        <p:txBody>
          <a:bodyPr/>
          <a:lstStyle/>
          <a:p>
            <a:r>
              <a:rPr lang="zh-CN" altLang="en-US" dirty="0"/>
              <a:t>在一般计算机系统中，安全措施是</a:t>
            </a:r>
            <a:r>
              <a:rPr lang="zh-CN" altLang="en-US" dirty="0">
                <a:solidFill>
                  <a:srgbClr val="0000FF"/>
                </a:solidFill>
              </a:rPr>
              <a:t>一级一级层层</a:t>
            </a:r>
            <a:r>
              <a:rPr lang="zh-CN" altLang="en-US" dirty="0"/>
              <a:t>设置的：</a:t>
            </a:r>
          </a:p>
        </p:txBody>
      </p:sp>
      <p:sp>
        <p:nvSpPr>
          <p:cNvPr id="198660" name="Rectangle 4"/>
          <p:cNvSpPr>
            <a:spLocks noChangeArrowheads="1"/>
          </p:cNvSpPr>
          <p:nvPr/>
        </p:nvSpPr>
        <p:spPr bwMode="auto">
          <a:xfrm>
            <a:off x="1676400" y="2628900"/>
            <a:ext cx="914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a:latin typeface="Times New Roman" pitchFamily="18" charset="0"/>
              </a:rPr>
              <a:t>用户</a:t>
            </a:r>
          </a:p>
        </p:txBody>
      </p:sp>
      <p:sp>
        <p:nvSpPr>
          <p:cNvPr id="198661" name="Rectangle 5"/>
          <p:cNvSpPr>
            <a:spLocks noChangeArrowheads="1"/>
          </p:cNvSpPr>
          <p:nvPr/>
        </p:nvSpPr>
        <p:spPr bwMode="auto">
          <a:xfrm>
            <a:off x="3276600" y="2628900"/>
            <a:ext cx="914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zh-CN">
                <a:latin typeface="Times New Roman" pitchFamily="18" charset="0"/>
              </a:rPr>
              <a:t>DBMS</a:t>
            </a:r>
          </a:p>
        </p:txBody>
      </p:sp>
      <p:sp>
        <p:nvSpPr>
          <p:cNvPr id="198662" name="Rectangle 6"/>
          <p:cNvSpPr>
            <a:spLocks noChangeArrowheads="1"/>
          </p:cNvSpPr>
          <p:nvPr/>
        </p:nvSpPr>
        <p:spPr bwMode="auto">
          <a:xfrm>
            <a:off x="4876800" y="2628900"/>
            <a:ext cx="9144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a:latin typeface="Times New Roman" pitchFamily="18" charset="0"/>
              </a:rPr>
              <a:t> </a:t>
            </a:r>
            <a:r>
              <a:rPr lang="en-US" altLang="zh-CN">
                <a:latin typeface="Times New Roman" pitchFamily="18" charset="0"/>
              </a:rPr>
              <a:t>OS</a:t>
            </a:r>
          </a:p>
        </p:txBody>
      </p:sp>
      <p:sp>
        <p:nvSpPr>
          <p:cNvPr id="198663" name="Rectangle 7"/>
          <p:cNvSpPr>
            <a:spLocks noChangeArrowheads="1"/>
          </p:cNvSpPr>
          <p:nvPr/>
        </p:nvSpPr>
        <p:spPr bwMode="auto">
          <a:xfrm>
            <a:off x="6477000" y="2628900"/>
            <a:ext cx="990600" cy="533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a:latin typeface="Times New Roman" pitchFamily="18" charset="0"/>
              </a:rPr>
              <a:t> </a:t>
            </a:r>
            <a:r>
              <a:rPr lang="en-US" altLang="zh-CN">
                <a:latin typeface="Times New Roman" pitchFamily="18" charset="0"/>
              </a:rPr>
              <a:t>DB</a:t>
            </a:r>
          </a:p>
        </p:txBody>
      </p:sp>
      <p:sp>
        <p:nvSpPr>
          <p:cNvPr id="198664" name="Rectangle 8"/>
          <p:cNvSpPr>
            <a:spLocks noChangeArrowheads="1"/>
          </p:cNvSpPr>
          <p:nvPr/>
        </p:nvSpPr>
        <p:spPr bwMode="auto">
          <a:xfrm>
            <a:off x="1676400" y="3390900"/>
            <a:ext cx="990600" cy="381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1600" dirty="0">
                <a:solidFill>
                  <a:srgbClr val="0000FF"/>
                </a:solidFill>
                <a:latin typeface="Times New Roman" pitchFamily="18" charset="0"/>
              </a:rPr>
              <a:t>用户标识</a:t>
            </a:r>
          </a:p>
          <a:p>
            <a:r>
              <a:rPr lang="zh-CN" altLang="en-US" sz="1600" dirty="0">
                <a:solidFill>
                  <a:srgbClr val="0000FF"/>
                </a:solidFill>
                <a:latin typeface="Times New Roman" pitchFamily="18" charset="0"/>
              </a:rPr>
              <a:t>和鉴别</a:t>
            </a:r>
          </a:p>
        </p:txBody>
      </p:sp>
      <p:sp>
        <p:nvSpPr>
          <p:cNvPr id="198665" name="Rectangle 9"/>
          <p:cNvSpPr>
            <a:spLocks noChangeArrowheads="1"/>
          </p:cNvSpPr>
          <p:nvPr/>
        </p:nvSpPr>
        <p:spPr bwMode="auto">
          <a:xfrm>
            <a:off x="3276600" y="3390900"/>
            <a:ext cx="990600" cy="381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1600" b="1" dirty="0">
                <a:solidFill>
                  <a:srgbClr val="FF0000"/>
                </a:solidFill>
                <a:latin typeface="Times New Roman" pitchFamily="18" charset="0"/>
              </a:rPr>
              <a:t>存取控制</a:t>
            </a:r>
          </a:p>
        </p:txBody>
      </p:sp>
      <p:sp>
        <p:nvSpPr>
          <p:cNvPr id="198666" name="Rectangle 10"/>
          <p:cNvSpPr>
            <a:spLocks noChangeArrowheads="1"/>
          </p:cNvSpPr>
          <p:nvPr/>
        </p:nvSpPr>
        <p:spPr bwMode="auto">
          <a:xfrm>
            <a:off x="4876800" y="3390900"/>
            <a:ext cx="990600" cy="381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1600" dirty="0">
                <a:solidFill>
                  <a:srgbClr val="0000FF"/>
                </a:solidFill>
                <a:latin typeface="Times New Roman" pitchFamily="18" charset="0"/>
              </a:rPr>
              <a:t>操作系统</a:t>
            </a:r>
          </a:p>
          <a:p>
            <a:r>
              <a:rPr lang="zh-CN" altLang="en-US" sz="1600" dirty="0">
                <a:solidFill>
                  <a:srgbClr val="0000FF"/>
                </a:solidFill>
                <a:latin typeface="Times New Roman" pitchFamily="18" charset="0"/>
              </a:rPr>
              <a:t>安全保护</a:t>
            </a:r>
          </a:p>
        </p:txBody>
      </p:sp>
      <p:sp>
        <p:nvSpPr>
          <p:cNvPr id="198667" name="Rectangle 11"/>
          <p:cNvSpPr>
            <a:spLocks noChangeArrowheads="1"/>
          </p:cNvSpPr>
          <p:nvPr/>
        </p:nvSpPr>
        <p:spPr bwMode="auto">
          <a:xfrm>
            <a:off x="6477000" y="3390900"/>
            <a:ext cx="990600" cy="381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1600" dirty="0">
                <a:solidFill>
                  <a:srgbClr val="0000FF"/>
                </a:solidFill>
                <a:latin typeface="Times New Roman" pitchFamily="18" charset="0"/>
              </a:rPr>
              <a:t>数据密码存储</a:t>
            </a:r>
          </a:p>
        </p:txBody>
      </p:sp>
      <p:sp>
        <p:nvSpPr>
          <p:cNvPr id="198668" name="Line 12"/>
          <p:cNvSpPr>
            <a:spLocks noChangeShapeType="1"/>
          </p:cNvSpPr>
          <p:nvPr/>
        </p:nvSpPr>
        <p:spPr bwMode="auto">
          <a:xfrm>
            <a:off x="2590800" y="2814638"/>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8669" name="Line 13"/>
          <p:cNvSpPr>
            <a:spLocks noChangeShapeType="1"/>
          </p:cNvSpPr>
          <p:nvPr/>
        </p:nvSpPr>
        <p:spPr bwMode="auto">
          <a:xfrm>
            <a:off x="4191000" y="2824163"/>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8670" name="Line 14"/>
          <p:cNvSpPr>
            <a:spLocks noChangeShapeType="1"/>
          </p:cNvSpPr>
          <p:nvPr/>
        </p:nvSpPr>
        <p:spPr bwMode="auto">
          <a:xfrm>
            <a:off x="5791200" y="2828925"/>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8671" name="Line 15"/>
          <p:cNvSpPr>
            <a:spLocks noChangeShapeType="1"/>
          </p:cNvSpPr>
          <p:nvPr/>
        </p:nvSpPr>
        <p:spPr bwMode="auto">
          <a:xfrm flipH="1">
            <a:off x="5791200" y="2981325"/>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8672" name="Line 16"/>
          <p:cNvSpPr>
            <a:spLocks noChangeShapeType="1"/>
          </p:cNvSpPr>
          <p:nvPr/>
        </p:nvSpPr>
        <p:spPr bwMode="auto">
          <a:xfrm flipH="1">
            <a:off x="4191000" y="2981325"/>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8673" name="Line 17"/>
          <p:cNvSpPr>
            <a:spLocks noChangeShapeType="1"/>
          </p:cNvSpPr>
          <p:nvPr/>
        </p:nvSpPr>
        <p:spPr bwMode="auto">
          <a:xfrm flipH="1">
            <a:off x="2590800" y="2981325"/>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Rectangle 3"/>
          <p:cNvSpPr txBox="1">
            <a:spLocks noChangeArrowheads="1"/>
          </p:cNvSpPr>
          <p:nvPr/>
        </p:nvSpPr>
        <p:spPr bwMode="auto">
          <a:xfrm>
            <a:off x="704056" y="3886200"/>
            <a:ext cx="8345488"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lvl="1"/>
            <a:r>
              <a:rPr kumimoji="0" lang="zh-CN" altLang="en-US" sz="2400" kern="0" dirty="0"/>
              <a:t>系统根据</a:t>
            </a:r>
            <a:r>
              <a:rPr kumimoji="0" lang="zh-CN" altLang="en-US" sz="2400" kern="0" dirty="0">
                <a:solidFill>
                  <a:srgbClr val="C00000"/>
                </a:solidFill>
              </a:rPr>
              <a:t>用户标识</a:t>
            </a:r>
            <a:r>
              <a:rPr kumimoji="0" lang="zh-CN" altLang="en-US" sz="2400" kern="0" dirty="0">
                <a:solidFill>
                  <a:srgbClr val="0000FF"/>
                </a:solidFill>
              </a:rPr>
              <a:t>鉴定</a:t>
            </a:r>
            <a:r>
              <a:rPr kumimoji="0" lang="zh-CN" altLang="en-US" sz="2400" kern="0" dirty="0"/>
              <a:t>用户</a:t>
            </a:r>
            <a:r>
              <a:rPr kumimoji="0" lang="zh-CN" altLang="en-US" sz="2400" kern="0" dirty="0">
                <a:solidFill>
                  <a:srgbClr val="C00000"/>
                </a:solidFill>
              </a:rPr>
              <a:t>身份</a:t>
            </a:r>
            <a:r>
              <a:rPr kumimoji="0" lang="zh-CN" altLang="en-US" sz="2400" kern="0" dirty="0"/>
              <a:t>，</a:t>
            </a:r>
            <a:r>
              <a:rPr kumimoji="0" lang="zh-CN" altLang="en-US" sz="2400" b="1" kern="0" dirty="0">
                <a:solidFill>
                  <a:srgbClr val="FF0000"/>
                </a:solidFill>
              </a:rPr>
              <a:t>合法用户</a:t>
            </a:r>
            <a:r>
              <a:rPr kumimoji="0" lang="zh-CN" altLang="en-US" sz="2400" kern="0" dirty="0"/>
              <a:t>才准许进入</a:t>
            </a:r>
            <a:r>
              <a:rPr kumimoji="0" lang="zh-CN" altLang="en-US" sz="2400" u="sng" kern="0" dirty="0">
                <a:solidFill>
                  <a:srgbClr val="0000FF"/>
                </a:solidFill>
              </a:rPr>
              <a:t>计算机系统</a:t>
            </a:r>
          </a:p>
          <a:p>
            <a:pPr lvl="1"/>
            <a:r>
              <a:rPr kumimoji="0" lang="zh-CN" altLang="en-US" sz="2400" u="sng" kern="0" dirty="0">
                <a:solidFill>
                  <a:srgbClr val="C00000"/>
                </a:solidFill>
              </a:rPr>
              <a:t>数据库管理系统</a:t>
            </a:r>
            <a:r>
              <a:rPr kumimoji="0" lang="zh-CN" altLang="en-US" sz="2400" kern="0" dirty="0"/>
              <a:t>还要进行</a:t>
            </a:r>
            <a:r>
              <a:rPr kumimoji="0" lang="zh-CN" altLang="en-US" sz="2400" b="1" kern="0" dirty="0">
                <a:solidFill>
                  <a:srgbClr val="0000FF"/>
                </a:solidFill>
              </a:rPr>
              <a:t>存取控制</a:t>
            </a:r>
            <a:r>
              <a:rPr kumimoji="0" lang="zh-CN" altLang="en-US" sz="2400" kern="0" dirty="0"/>
              <a:t>，只允许</a:t>
            </a:r>
            <a:r>
              <a:rPr kumimoji="0" lang="zh-CN" altLang="en-US" sz="2400" kern="0" dirty="0">
                <a:solidFill>
                  <a:srgbClr val="0000FF"/>
                </a:solidFill>
              </a:rPr>
              <a:t>用户</a:t>
            </a:r>
            <a:r>
              <a:rPr kumimoji="0" lang="zh-CN" altLang="en-US" sz="2400" kern="0" dirty="0">
                <a:solidFill>
                  <a:srgbClr val="C00000"/>
                </a:solidFill>
              </a:rPr>
              <a:t>执行</a:t>
            </a:r>
            <a:r>
              <a:rPr kumimoji="0" lang="zh-CN" altLang="en-US" sz="2400" kern="0" dirty="0">
                <a:solidFill>
                  <a:srgbClr val="0000FF"/>
                </a:solidFill>
              </a:rPr>
              <a:t>合法操作</a:t>
            </a:r>
          </a:p>
          <a:p>
            <a:pPr lvl="1"/>
            <a:r>
              <a:rPr kumimoji="0" lang="zh-CN" altLang="en-US" sz="2400" kern="0" dirty="0"/>
              <a:t>操作系统有自己的保护措施</a:t>
            </a:r>
          </a:p>
          <a:p>
            <a:pPr lvl="1"/>
            <a:r>
              <a:rPr kumimoji="0" lang="zh-CN" altLang="en-US" sz="2400" kern="0" dirty="0"/>
              <a:t>数据以</a:t>
            </a:r>
            <a:r>
              <a:rPr kumimoji="0" lang="zh-CN" altLang="en-US" sz="2400" kern="0" dirty="0">
                <a:solidFill>
                  <a:srgbClr val="0000FF"/>
                </a:solidFill>
              </a:rPr>
              <a:t>密码形式</a:t>
            </a:r>
            <a:r>
              <a:rPr kumimoji="0" lang="zh-CN" altLang="en-US" sz="2400" kern="0" dirty="0"/>
              <a:t>存储到数据库中</a:t>
            </a:r>
            <a:endParaRPr kumimoji="0" lang="zh-CN" altLang="en-US" kern="0" dirty="0"/>
          </a:p>
        </p:txBody>
      </p:sp>
      <p:sp>
        <p:nvSpPr>
          <p:cNvPr id="4" name="椭圆 3"/>
          <p:cNvSpPr/>
          <p:nvPr/>
        </p:nvSpPr>
        <p:spPr bwMode="auto">
          <a:xfrm>
            <a:off x="989856" y="4343400"/>
            <a:ext cx="8077944" cy="1371600"/>
          </a:xfrm>
          <a:prstGeom prst="ellipse">
            <a:avLst/>
          </a:prstGeom>
          <a:noFill/>
          <a:ln w="28575" cap="flat" cmpd="sng" algn="ctr">
            <a:solidFill>
              <a:srgbClr val="006600"/>
            </a:solidFill>
            <a:prstDash val="sysDash"/>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charset="-122"/>
              <a:cs typeface="Arial" charset="0"/>
            </a:endParaRPr>
          </a:p>
        </p:txBody>
      </p:sp>
      <p:sp>
        <p:nvSpPr>
          <p:cNvPr id="5" name="灯片编号占位符 4">
            <a:extLst>
              <a:ext uri="{FF2B5EF4-FFF2-40B4-BE49-F238E27FC236}">
                <a16:creationId xmlns:a16="http://schemas.microsoft.com/office/drawing/2014/main" id="{6B9D302C-8715-EBF9-9881-8927D7859E41}"/>
              </a:ext>
            </a:extLst>
          </p:cNvPr>
          <p:cNvSpPr>
            <a:spLocks noGrp="1"/>
          </p:cNvSpPr>
          <p:nvPr>
            <p:ph type="sldNum" sz="quarter" idx="12"/>
          </p:nvPr>
        </p:nvSpPr>
        <p:spPr/>
        <p:txBody>
          <a:bodyPr/>
          <a:lstStyle/>
          <a:p>
            <a:pPr>
              <a:defRPr/>
            </a:pPr>
            <a:fld id="{E0CD82EA-F7BE-454B-A83E-18830F6C5424}" type="slidenum">
              <a:rPr lang="en-US" altLang="zh-CN" smtClean="0"/>
              <a:pPr>
                <a:defRPr/>
              </a:pPr>
              <a:t>105</a:t>
            </a:fld>
            <a:r>
              <a:rPr lang="en-US" altLang="zh-CN"/>
              <a:t>/138</a:t>
            </a:r>
            <a:endParaRPr lang="zh-CN" altLang="en-US" dirty="0"/>
          </a:p>
        </p:txBody>
      </p:sp>
    </p:spTree>
    <p:extLst>
      <p:ext uri="{BB962C8B-B14F-4D97-AF65-F5344CB8AC3E}">
        <p14:creationId xmlns:p14="http://schemas.microsoft.com/office/powerpoint/2010/main" val="14330157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 calcmode="lin" valueType="num">
                                      <p:cBhvr additive="base">
                                        <p:cTn id="7"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
                                            <p:txEl>
                                              <p:pRg st="1" end="1"/>
                                            </p:txEl>
                                          </p:spTgt>
                                        </p:tgtEl>
                                        <p:attrNameLst>
                                          <p:attrName>style.visibility</p:attrName>
                                        </p:attrNameLst>
                                      </p:cBhvr>
                                      <p:to>
                                        <p:strVal val="visible"/>
                                      </p:to>
                                    </p:set>
                                    <p:anim calcmode="lin" valueType="num">
                                      <p:cBhvr additive="base">
                                        <p:cTn id="13" dur="500" fill="hold"/>
                                        <p:tgtEl>
                                          <p:spTgt spid="2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
                                            <p:txEl>
                                              <p:pRg st="2" end="2"/>
                                            </p:txEl>
                                          </p:spTgt>
                                        </p:tgtEl>
                                        <p:attrNameLst>
                                          <p:attrName>style.visibility</p:attrName>
                                        </p:attrNameLst>
                                      </p:cBhvr>
                                      <p:to>
                                        <p:strVal val="visible"/>
                                      </p:to>
                                    </p:set>
                                    <p:anim calcmode="lin" valueType="num">
                                      <p:cBhvr additive="base">
                                        <p:cTn id="19" dur="500" fill="hold"/>
                                        <p:tgtEl>
                                          <p:spTgt spid="2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2">
                                            <p:txEl>
                                              <p:pRg st="3" end="3"/>
                                            </p:txEl>
                                          </p:spTgt>
                                        </p:tgtEl>
                                        <p:attrNameLst>
                                          <p:attrName>style.visibility</p:attrName>
                                        </p:attrNameLst>
                                      </p:cBhvr>
                                      <p:to>
                                        <p:strVal val="visible"/>
                                      </p:to>
                                    </p:set>
                                    <p:anim calcmode="lin" valueType="num">
                                      <p:cBhvr additive="base">
                                        <p:cTn id="25" dur="500" fill="hold"/>
                                        <p:tgtEl>
                                          <p:spTgt spid="2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heel(1)">
                                      <p:cBhvr>
                                        <p:cTn id="31"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798990E-FFEC-4CC8-8550-0F8993369DE0}"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01730" name="Rectangle 2"/>
          <p:cNvSpPr>
            <a:spLocks noGrp="1" noChangeArrowheads="1"/>
          </p:cNvSpPr>
          <p:nvPr>
            <p:ph type="title"/>
          </p:nvPr>
        </p:nvSpPr>
        <p:spPr/>
        <p:txBody>
          <a:bodyPr/>
          <a:lstStyle/>
          <a:p>
            <a:r>
              <a:rPr lang="en-US" altLang="zh-CN" dirty="0"/>
              <a:t>4.7  </a:t>
            </a:r>
            <a:r>
              <a:rPr lang="zh-CN" altLang="en-US" dirty="0"/>
              <a:t>存取控制</a:t>
            </a:r>
          </a:p>
        </p:txBody>
      </p:sp>
      <p:sp>
        <p:nvSpPr>
          <p:cNvPr id="201731" name="Rectangle 3"/>
          <p:cNvSpPr>
            <a:spLocks noGrp="1" noChangeArrowheads="1"/>
          </p:cNvSpPr>
          <p:nvPr>
            <p:ph type="body" idx="1"/>
          </p:nvPr>
        </p:nvSpPr>
        <p:spPr/>
        <p:txBody>
          <a:bodyPr/>
          <a:lstStyle/>
          <a:p>
            <a:r>
              <a:rPr lang="zh-CN" altLang="en-US" b="1" u="sng" dirty="0"/>
              <a:t>存取控制机制</a:t>
            </a:r>
            <a:r>
              <a:rPr lang="zh-CN" altLang="en-US" dirty="0"/>
              <a:t>主要包括两部分：</a:t>
            </a:r>
          </a:p>
          <a:p>
            <a:pPr>
              <a:buFont typeface="Wingdings" pitchFamily="2" charset="2"/>
              <a:buNone/>
            </a:pPr>
            <a:r>
              <a:rPr lang="zh-CN" altLang="en-US" sz="3600" dirty="0"/>
              <a:t>   </a:t>
            </a:r>
            <a:r>
              <a:rPr lang="zh-CN" altLang="en-US" sz="2800" dirty="0"/>
              <a:t>（</a:t>
            </a:r>
            <a:r>
              <a:rPr lang="en-US" altLang="zh-CN" sz="2800" dirty="0"/>
              <a:t>1</a:t>
            </a:r>
            <a:r>
              <a:rPr lang="zh-CN" altLang="en-US" sz="2800" dirty="0"/>
              <a:t>）</a:t>
            </a:r>
            <a:r>
              <a:rPr lang="zh-CN" altLang="en-US" sz="2800" dirty="0">
                <a:solidFill>
                  <a:srgbClr val="F40000"/>
                </a:solidFill>
              </a:rPr>
              <a:t>定义</a:t>
            </a:r>
            <a:r>
              <a:rPr lang="zh-CN" altLang="en-US" sz="2800" dirty="0">
                <a:solidFill>
                  <a:srgbClr val="0000FF"/>
                </a:solidFill>
              </a:rPr>
              <a:t>用户权限</a:t>
            </a:r>
          </a:p>
          <a:p>
            <a:pPr>
              <a:buNone/>
            </a:pPr>
            <a:r>
              <a:rPr lang="zh-CN" altLang="en-US" sz="2800" dirty="0"/>
              <a:t>      </a:t>
            </a:r>
            <a:r>
              <a:rPr lang="zh-CN" altLang="en-US" sz="2800" u="sng" dirty="0"/>
              <a:t>用户</a:t>
            </a:r>
            <a:r>
              <a:rPr lang="zh-CN" altLang="en-US" sz="2800" dirty="0"/>
              <a:t>对某一</a:t>
            </a:r>
            <a:r>
              <a:rPr lang="zh-CN" altLang="en-US" sz="2800" u="sng" dirty="0"/>
              <a:t>数据对象</a:t>
            </a:r>
            <a:r>
              <a:rPr lang="zh-CN" altLang="en-US" sz="2800" dirty="0"/>
              <a:t>的</a:t>
            </a:r>
            <a:r>
              <a:rPr lang="zh-CN" altLang="en-US" sz="2800" u="sng" dirty="0"/>
              <a:t>操作权力</a:t>
            </a:r>
            <a:r>
              <a:rPr lang="zh-CN" altLang="en-US" sz="2800" dirty="0"/>
              <a:t>称为</a:t>
            </a:r>
            <a:r>
              <a:rPr lang="zh-CN" altLang="en-US" sz="2800" dirty="0">
                <a:solidFill>
                  <a:srgbClr val="0000FF"/>
                </a:solidFill>
              </a:rPr>
              <a:t>权限</a:t>
            </a:r>
            <a:r>
              <a:rPr lang="zh-CN" altLang="en-US" sz="2800" dirty="0"/>
              <a:t>。</a:t>
            </a:r>
            <a:endParaRPr lang="en-US" altLang="zh-CN" sz="2800" dirty="0"/>
          </a:p>
          <a:p>
            <a:pPr>
              <a:buNone/>
            </a:pPr>
            <a:r>
              <a:rPr lang="en-US" altLang="zh-CN" sz="2800" dirty="0"/>
              <a:t>   </a:t>
            </a:r>
            <a:r>
              <a:rPr lang="zh-CN" altLang="en-US" sz="2800" dirty="0"/>
              <a:t>定义</a:t>
            </a:r>
            <a:r>
              <a:rPr lang="zh-CN" altLang="en-US" sz="2800" dirty="0">
                <a:solidFill>
                  <a:srgbClr val="0000FF"/>
                </a:solidFill>
              </a:rPr>
              <a:t>不同用户</a:t>
            </a:r>
            <a:r>
              <a:rPr lang="zh-CN" altLang="en-US" sz="2800" dirty="0"/>
              <a:t>对于</a:t>
            </a:r>
            <a:r>
              <a:rPr lang="zh-CN" altLang="en-US" sz="2800" dirty="0">
                <a:solidFill>
                  <a:srgbClr val="C00000"/>
                </a:solidFill>
              </a:rPr>
              <a:t>不同的数据对象</a:t>
            </a:r>
            <a:r>
              <a:rPr lang="zh-CN" altLang="en-US" sz="2800" dirty="0"/>
              <a:t>允许执行的</a:t>
            </a:r>
            <a:r>
              <a:rPr lang="zh-CN" altLang="en-US" sz="2800" dirty="0">
                <a:solidFill>
                  <a:srgbClr val="C00000"/>
                </a:solidFill>
              </a:rPr>
              <a:t>操作权限</a:t>
            </a:r>
            <a:r>
              <a:rPr lang="zh-CN" altLang="en-US" sz="2800" dirty="0"/>
              <a:t>，</a:t>
            </a:r>
            <a:r>
              <a:rPr lang="zh-CN" altLang="en-US" sz="2800" u="sng" dirty="0"/>
              <a:t>存储到数据字典</a:t>
            </a:r>
            <a:r>
              <a:rPr lang="zh-CN" altLang="en-US" sz="2800" dirty="0"/>
              <a:t>。</a:t>
            </a:r>
            <a:endParaRPr lang="en-US" altLang="zh-CN" sz="2800" dirty="0"/>
          </a:p>
          <a:p>
            <a:pPr>
              <a:buNone/>
            </a:pPr>
            <a:r>
              <a:rPr lang="en-US" altLang="zh-CN" sz="2800" dirty="0"/>
              <a:t>    </a:t>
            </a:r>
            <a:r>
              <a:rPr lang="zh-CN" altLang="en-US" sz="2800" dirty="0"/>
              <a:t>（</a:t>
            </a:r>
            <a:r>
              <a:rPr lang="en-US" altLang="zh-CN" sz="2800" dirty="0"/>
              <a:t>2</a:t>
            </a:r>
            <a:r>
              <a:rPr lang="zh-CN" altLang="en-US" sz="2800" dirty="0"/>
              <a:t>）</a:t>
            </a:r>
            <a:r>
              <a:rPr lang="zh-CN" altLang="en-US" sz="2800" dirty="0">
                <a:solidFill>
                  <a:srgbClr val="0000FF"/>
                </a:solidFill>
              </a:rPr>
              <a:t>合法权限</a:t>
            </a:r>
            <a:r>
              <a:rPr lang="zh-CN" altLang="en-US" sz="2800" dirty="0">
                <a:solidFill>
                  <a:srgbClr val="F40000"/>
                </a:solidFill>
              </a:rPr>
              <a:t>检查</a:t>
            </a:r>
          </a:p>
          <a:p>
            <a:pPr>
              <a:buFont typeface="Wingdings" pitchFamily="2" charset="2"/>
              <a:buNone/>
            </a:pPr>
            <a:r>
              <a:rPr lang="zh-CN" altLang="en-US" sz="2800" dirty="0"/>
              <a:t>      用户</a:t>
            </a:r>
            <a:r>
              <a:rPr lang="zh-CN" altLang="en-US" sz="2800" dirty="0">
                <a:solidFill>
                  <a:srgbClr val="0000FF"/>
                </a:solidFill>
              </a:rPr>
              <a:t>发出</a:t>
            </a:r>
            <a:r>
              <a:rPr lang="zh-CN" altLang="en-US" sz="2800" u="sng" dirty="0"/>
              <a:t>存取数据库的操作</a:t>
            </a:r>
            <a:r>
              <a:rPr lang="zh-CN" altLang="en-US" sz="2800" u="sng" dirty="0">
                <a:solidFill>
                  <a:srgbClr val="0000FF"/>
                </a:solidFill>
              </a:rPr>
              <a:t>请求</a:t>
            </a:r>
            <a:r>
              <a:rPr lang="zh-CN" altLang="en-US" sz="2800" dirty="0"/>
              <a:t>后，</a:t>
            </a:r>
            <a:r>
              <a:rPr lang="en-US" altLang="zh-CN" sz="2800" dirty="0">
                <a:solidFill>
                  <a:srgbClr val="0000FF"/>
                </a:solidFill>
              </a:rPr>
              <a:t>DBMS</a:t>
            </a:r>
            <a:r>
              <a:rPr lang="zh-CN" altLang="en-US" sz="2800" dirty="0">
                <a:solidFill>
                  <a:srgbClr val="0000FF"/>
                </a:solidFill>
              </a:rPr>
              <a:t>查找</a:t>
            </a:r>
            <a:r>
              <a:rPr lang="zh-CN" altLang="en-US" sz="2800" dirty="0"/>
              <a:t>数据字典中存储的</a:t>
            </a:r>
            <a:r>
              <a:rPr lang="zh-CN" altLang="en-US" sz="2800" dirty="0">
                <a:solidFill>
                  <a:srgbClr val="0000FF"/>
                </a:solidFill>
              </a:rPr>
              <a:t>权限定义</a:t>
            </a:r>
            <a:r>
              <a:rPr lang="zh-CN" altLang="en-US" sz="2800" dirty="0"/>
              <a:t>，</a:t>
            </a:r>
            <a:r>
              <a:rPr lang="zh-CN" altLang="en-US" sz="2800" dirty="0">
                <a:solidFill>
                  <a:srgbClr val="FF0000"/>
                </a:solidFill>
              </a:rPr>
              <a:t>检查</a:t>
            </a:r>
            <a:r>
              <a:rPr lang="zh-CN" altLang="en-US" sz="2800" dirty="0"/>
              <a:t>用户操作的</a:t>
            </a:r>
            <a:r>
              <a:rPr lang="zh-CN" altLang="en-US" sz="2800" dirty="0">
                <a:solidFill>
                  <a:srgbClr val="FF0000"/>
                </a:solidFill>
              </a:rPr>
              <a:t>合法性，不合法将拒绝执行</a:t>
            </a:r>
            <a:r>
              <a:rPr lang="zh-CN" altLang="en-US" sz="2800" dirty="0"/>
              <a:t>。</a:t>
            </a:r>
            <a:endParaRPr lang="en-US" altLang="zh-CN" sz="2800" dirty="0"/>
          </a:p>
        </p:txBody>
      </p:sp>
      <p:sp>
        <p:nvSpPr>
          <p:cNvPr id="6" name="灯片编号占位符 5">
            <a:extLst>
              <a:ext uri="{FF2B5EF4-FFF2-40B4-BE49-F238E27FC236}">
                <a16:creationId xmlns:a16="http://schemas.microsoft.com/office/drawing/2014/main" id="{0B7083F5-29A1-B3A7-E972-347BE3DDE8F0}"/>
              </a:ext>
            </a:extLst>
          </p:cNvPr>
          <p:cNvSpPr>
            <a:spLocks noGrp="1"/>
          </p:cNvSpPr>
          <p:nvPr>
            <p:ph type="sldNum" sz="quarter" idx="12"/>
          </p:nvPr>
        </p:nvSpPr>
        <p:spPr/>
        <p:txBody>
          <a:bodyPr/>
          <a:lstStyle/>
          <a:p>
            <a:pPr>
              <a:defRPr/>
            </a:pPr>
            <a:fld id="{E0CD82EA-F7BE-454B-A83E-18830F6C5424}" type="slidenum">
              <a:rPr lang="en-US" altLang="zh-CN" smtClean="0"/>
              <a:pPr>
                <a:defRPr/>
              </a:pPr>
              <a:t>106</a:t>
            </a:fld>
            <a:r>
              <a:rPr lang="en-US" altLang="zh-CN"/>
              <a:t>/138</a:t>
            </a:r>
            <a:endParaRPr lang="zh-CN" altLang="en-US" dirty="0"/>
          </a:p>
        </p:txBody>
      </p:sp>
    </p:spTree>
    <p:extLst>
      <p:ext uri="{BB962C8B-B14F-4D97-AF65-F5344CB8AC3E}">
        <p14:creationId xmlns:p14="http://schemas.microsoft.com/office/powerpoint/2010/main" val="1345704688"/>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7CA25A3-1176-4FD4-95BA-944F84EA3DFC}"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01730" name="Rectangle 2"/>
          <p:cNvSpPr>
            <a:spLocks noGrp="1" noChangeArrowheads="1"/>
          </p:cNvSpPr>
          <p:nvPr>
            <p:ph type="title"/>
          </p:nvPr>
        </p:nvSpPr>
        <p:spPr/>
        <p:txBody>
          <a:bodyPr/>
          <a:lstStyle/>
          <a:p>
            <a:r>
              <a:rPr lang="en-US" altLang="zh-CN" dirty="0"/>
              <a:t>4.7  </a:t>
            </a:r>
            <a:r>
              <a:rPr lang="zh-CN" altLang="en-US" dirty="0"/>
              <a:t>存取控制</a:t>
            </a:r>
          </a:p>
        </p:txBody>
      </p:sp>
      <p:sp>
        <p:nvSpPr>
          <p:cNvPr id="201731" name="Rectangle 3"/>
          <p:cNvSpPr>
            <a:spLocks noGrp="1" noChangeArrowheads="1"/>
          </p:cNvSpPr>
          <p:nvPr>
            <p:ph type="body" idx="1"/>
          </p:nvPr>
        </p:nvSpPr>
        <p:spPr/>
        <p:txBody>
          <a:bodyPr/>
          <a:lstStyle/>
          <a:p>
            <a:r>
              <a:rPr lang="zh-CN" altLang="en-US" dirty="0">
                <a:solidFill>
                  <a:srgbClr val="0000FF"/>
                </a:solidFill>
              </a:rPr>
              <a:t>用户权限定义</a:t>
            </a:r>
            <a:r>
              <a:rPr lang="zh-CN" altLang="en-US" dirty="0"/>
              <a:t>和</a:t>
            </a:r>
            <a:r>
              <a:rPr lang="zh-CN" altLang="en-US" dirty="0">
                <a:solidFill>
                  <a:srgbClr val="0000FF"/>
                </a:solidFill>
              </a:rPr>
              <a:t>合法权检查机制</a:t>
            </a:r>
            <a:r>
              <a:rPr lang="zh-CN" altLang="en-US" dirty="0"/>
              <a:t>一起组成了数据库管理系统的</a:t>
            </a:r>
            <a:r>
              <a:rPr lang="zh-CN" altLang="en-US" dirty="0">
                <a:solidFill>
                  <a:srgbClr val="FF0000"/>
                </a:solidFill>
              </a:rPr>
              <a:t>存取控制子系统</a:t>
            </a:r>
            <a:r>
              <a:rPr lang="zh-CN" altLang="en-US" dirty="0"/>
              <a:t>。</a:t>
            </a:r>
            <a:endParaRPr lang="en-US" altLang="zh-CN" dirty="0"/>
          </a:p>
          <a:p>
            <a:r>
              <a:rPr lang="zh-CN" altLang="en-US" dirty="0"/>
              <a:t>常用存取控制方法</a:t>
            </a:r>
            <a:endParaRPr lang="en-US" altLang="zh-CN" dirty="0"/>
          </a:p>
          <a:p>
            <a:pPr lvl="1"/>
            <a:r>
              <a:rPr lang="zh-CN" altLang="en-US" dirty="0">
                <a:solidFill>
                  <a:srgbClr val="0000FF"/>
                </a:solidFill>
              </a:rPr>
              <a:t>自主存取控制 </a:t>
            </a:r>
            <a:r>
              <a:rPr lang="en-US" altLang="zh-CN" dirty="0">
                <a:solidFill>
                  <a:srgbClr val="0000FF"/>
                </a:solidFill>
              </a:rPr>
              <a:t>DAC</a:t>
            </a:r>
          </a:p>
          <a:p>
            <a:pPr lvl="1"/>
            <a:r>
              <a:rPr lang="zh-CN" altLang="en-US" dirty="0">
                <a:solidFill>
                  <a:srgbClr val="0000FF"/>
                </a:solidFill>
              </a:rPr>
              <a:t>强制存取控制 </a:t>
            </a:r>
            <a:r>
              <a:rPr lang="en-US" altLang="zh-CN" dirty="0">
                <a:solidFill>
                  <a:srgbClr val="0000FF"/>
                </a:solidFill>
              </a:rPr>
              <a:t>MAC (</a:t>
            </a:r>
            <a:r>
              <a:rPr lang="zh-CN" altLang="en-US" dirty="0">
                <a:solidFill>
                  <a:srgbClr val="0000FF"/>
                </a:solidFill>
              </a:rPr>
              <a:t>自学了解</a:t>
            </a:r>
            <a:r>
              <a:rPr lang="en-US" altLang="zh-CN" dirty="0">
                <a:solidFill>
                  <a:srgbClr val="0000FF"/>
                </a:solidFill>
              </a:rPr>
              <a:t>)</a:t>
            </a:r>
          </a:p>
          <a:p>
            <a:pPr lvl="1"/>
            <a:endParaRPr lang="en-US" altLang="zh-CN" dirty="0"/>
          </a:p>
          <a:p>
            <a:pPr lvl="1"/>
            <a:endParaRPr lang="zh-CN" altLang="en-US" dirty="0"/>
          </a:p>
          <a:p>
            <a:endParaRPr lang="en-US" altLang="zh-CN" sz="4400" dirty="0"/>
          </a:p>
          <a:p>
            <a:endParaRPr lang="zh-CN" altLang="en-US" sz="4400" dirty="0"/>
          </a:p>
        </p:txBody>
      </p:sp>
      <p:sp>
        <p:nvSpPr>
          <p:cNvPr id="6" name="灯片编号占位符 5">
            <a:extLst>
              <a:ext uri="{FF2B5EF4-FFF2-40B4-BE49-F238E27FC236}">
                <a16:creationId xmlns:a16="http://schemas.microsoft.com/office/drawing/2014/main" id="{B54B54BB-8A71-4980-CB7D-28FD542A72C6}"/>
              </a:ext>
            </a:extLst>
          </p:cNvPr>
          <p:cNvSpPr>
            <a:spLocks noGrp="1"/>
          </p:cNvSpPr>
          <p:nvPr>
            <p:ph type="sldNum" sz="quarter" idx="12"/>
          </p:nvPr>
        </p:nvSpPr>
        <p:spPr/>
        <p:txBody>
          <a:bodyPr/>
          <a:lstStyle/>
          <a:p>
            <a:pPr>
              <a:defRPr/>
            </a:pPr>
            <a:fld id="{E0CD82EA-F7BE-454B-A83E-18830F6C5424}" type="slidenum">
              <a:rPr lang="en-US" altLang="zh-CN" smtClean="0"/>
              <a:pPr>
                <a:defRPr/>
              </a:pPr>
              <a:t>107</a:t>
            </a:fld>
            <a:r>
              <a:rPr lang="en-US" altLang="zh-CN"/>
              <a:t>/138</a:t>
            </a:r>
            <a:endParaRPr lang="zh-CN" altLang="en-US" dirty="0"/>
          </a:p>
        </p:txBody>
      </p:sp>
    </p:spTree>
    <p:extLst>
      <p:ext uri="{BB962C8B-B14F-4D97-AF65-F5344CB8AC3E}">
        <p14:creationId xmlns:p14="http://schemas.microsoft.com/office/powerpoint/2010/main" val="4087624850"/>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DB5BCB82-F5E7-4BC7-B068-F4E799BA7C93}" type="datetime1">
              <a:rPr kumimoji="0" lang="zh-CN" altLang="en-US" sz="1400" smtClean="0"/>
              <a:t>2025/10/15</a:t>
            </a:fld>
            <a:endParaRPr kumimoji="0" lang="en-US" altLang="zh-CN" sz="1400"/>
          </a:p>
        </p:txBody>
      </p:sp>
      <p:sp>
        <p:nvSpPr>
          <p:cNvPr id="43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43013" name="Rectangle 2"/>
          <p:cNvSpPr>
            <a:spLocks noGrp="1" noChangeArrowheads="1"/>
          </p:cNvSpPr>
          <p:nvPr>
            <p:ph type="title"/>
          </p:nvPr>
        </p:nvSpPr>
        <p:spPr/>
        <p:txBody>
          <a:bodyPr/>
          <a:lstStyle/>
          <a:p>
            <a:pPr eaLnBrk="1" hangingPunct="1"/>
            <a:r>
              <a:rPr lang="en-US" altLang="zh-CN" dirty="0"/>
              <a:t>4.7 </a:t>
            </a:r>
            <a:r>
              <a:rPr lang="zh-CN" altLang="en-US" dirty="0"/>
              <a:t>授权</a:t>
            </a:r>
          </a:p>
        </p:txBody>
      </p:sp>
      <p:sp>
        <p:nvSpPr>
          <p:cNvPr id="43014" name="Rectangle 3"/>
          <p:cNvSpPr>
            <a:spLocks noGrp="1" noChangeArrowheads="1"/>
          </p:cNvSpPr>
          <p:nvPr>
            <p:ph type="body" idx="1"/>
          </p:nvPr>
        </p:nvSpPr>
        <p:spPr>
          <a:xfrm>
            <a:off x="609600" y="1447800"/>
            <a:ext cx="8153400" cy="4684713"/>
          </a:xfrm>
        </p:spPr>
        <p:txBody>
          <a:bodyPr/>
          <a:lstStyle/>
          <a:p>
            <a:pPr eaLnBrk="1" hangingPunct="1"/>
            <a:r>
              <a:rPr lang="zh-CN" altLang="en-US" b="1" dirty="0">
                <a:solidFill>
                  <a:srgbClr val="0000FF"/>
                </a:solidFill>
              </a:rPr>
              <a:t>存取控制</a:t>
            </a:r>
            <a:endParaRPr lang="en-US" altLang="zh-CN" b="1" dirty="0">
              <a:solidFill>
                <a:srgbClr val="0000FF"/>
              </a:solidFill>
            </a:endParaRPr>
          </a:p>
          <a:p>
            <a:pPr lvl="1"/>
            <a:r>
              <a:rPr lang="zh-CN" altLang="en-US" dirty="0">
                <a:solidFill>
                  <a:srgbClr val="C00000"/>
                </a:solidFill>
              </a:rPr>
              <a:t>自主存取控制 </a:t>
            </a:r>
            <a:r>
              <a:rPr lang="en-US" altLang="zh-CN" sz="2400" dirty="0">
                <a:solidFill>
                  <a:srgbClr val="C00000"/>
                </a:solidFill>
              </a:rPr>
              <a:t>DAC(</a:t>
            </a:r>
            <a:r>
              <a:rPr lang="en-US" altLang="zh-CN" sz="2400" dirty="0"/>
              <a:t>Discretionary access control</a:t>
            </a:r>
            <a:r>
              <a:rPr lang="en-US" altLang="zh-CN" dirty="0">
                <a:solidFill>
                  <a:srgbClr val="C00000"/>
                </a:solidFill>
              </a:rPr>
              <a:t>)</a:t>
            </a:r>
          </a:p>
          <a:p>
            <a:pPr lvl="2"/>
            <a:r>
              <a:rPr lang="zh-CN" altLang="en-US" dirty="0">
                <a:solidFill>
                  <a:srgbClr val="0000FF"/>
                </a:solidFill>
              </a:rPr>
              <a:t>用户</a:t>
            </a:r>
            <a:r>
              <a:rPr lang="zh-CN" altLang="en-US" dirty="0"/>
              <a:t>对于</a:t>
            </a:r>
            <a:r>
              <a:rPr lang="zh-CN" altLang="en-US" dirty="0">
                <a:solidFill>
                  <a:srgbClr val="0000FF"/>
                </a:solidFill>
              </a:rPr>
              <a:t>不同的数据对象</a:t>
            </a:r>
            <a:r>
              <a:rPr lang="zh-CN" altLang="en-US" dirty="0"/>
              <a:t>有</a:t>
            </a:r>
            <a:r>
              <a:rPr lang="zh-CN" altLang="en-US" dirty="0">
                <a:solidFill>
                  <a:srgbClr val="0000FF"/>
                </a:solidFill>
              </a:rPr>
              <a:t>不同的</a:t>
            </a:r>
            <a:r>
              <a:rPr lang="zh-CN" altLang="en-US" dirty="0">
                <a:solidFill>
                  <a:srgbClr val="FF0000"/>
                </a:solidFill>
              </a:rPr>
              <a:t>存取权限</a:t>
            </a:r>
            <a:endParaRPr lang="en-US" altLang="zh-CN" dirty="0">
              <a:solidFill>
                <a:srgbClr val="FF0000"/>
              </a:solidFill>
            </a:endParaRPr>
          </a:p>
          <a:p>
            <a:pPr lvl="2"/>
            <a:r>
              <a:rPr lang="zh-CN" altLang="en-US" dirty="0">
                <a:solidFill>
                  <a:srgbClr val="0000FF"/>
                </a:solidFill>
              </a:rPr>
              <a:t>不同的用户</a:t>
            </a:r>
            <a:r>
              <a:rPr lang="zh-CN" altLang="en-US" dirty="0"/>
              <a:t>对</a:t>
            </a:r>
            <a:r>
              <a:rPr lang="zh-CN" altLang="en-US" dirty="0">
                <a:solidFill>
                  <a:srgbClr val="0000FF"/>
                </a:solidFill>
              </a:rPr>
              <a:t>同一对象</a:t>
            </a:r>
            <a:r>
              <a:rPr lang="zh-CN" altLang="en-US" dirty="0"/>
              <a:t>也有</a:t>
            </a:r>
            <a:r>
              <a:rPr lang="zh-CN" altLang="en-US" dirty="0">
                <a:solidFill>
                  <a:srgbClr val="0000FF"/>
                </a:solidFill>
              </a:rPr>
              <a:t>不同的权限</a:t>
            </a:r>
            <a:endParaRPr lang="en-US" altLang="zh-CN" dirty="0"/>
          </a:p>
          <a:p>
            <a:pPr lvl="2"/>
            <a:r>
              <a:rPr lang="zh-CN" altLang="en-US" dirty="0"/>
              <a:t>而且</a:t>
            </a:r>
            <a:r>
              <a:rPr lang="zh-CN" altLang="en-US" dirty="0">
                <a:solidFill>
                  <a:srgbClr val="0000FF"/>
                </a:solidFill>
              </a:rPr>
              <a:t>用户</a:t>
            </a:r>
            <a:r>
              <a:rPr lang="zh-CN" altLang="en-US" dirty="0"/>
              <a:t>还可将其</a:t>
            </a:r>
            <a:r>
              <a:rPr lang="zh-CN" altLang="en-US" dirty="0">
                <a:solidFill>
                  <a:srgbClr val="0000FF"/>
                </a:solidFill>
              </a:rPr>
              <a:t>拥有的存取权限</a:t>
            </a:r>
            <a:r>
              <a:rPr lang="zh-CN" altLang="en-US" b="1" dirty="0">
                <a:solidFill>
                  <a:srgbClr val="C00000"/>
                </a:solidFill>
              </a:rPr>
              <a:t>转授</a:t>
            </a:r>
            <a:r>
              <a:rPr lang="zh-CN" altLang="en-US" dirty="0"/>
              <a:t>给</a:t>
            </a:r>
            <a:r>
              <a:rPr lang="zh-CN" altLang="en-US" dirty="0">
                <a:solidFill>
                  <a:srgbClr val="0000FF"/>
                </a:solidFill>
              </a:rPr>
              <a:t>其他用户</a:t>
            </a:r>
            <a:endParaRPr lang="zh-CN" altLang="en-US" dirty="0"/>
          </a:p>
          <a:p>
            <a:pPr lvl="2"/>
            <a:r>
              <a:rPr lang="zh-CN" altLang="en-US" dirty="0"/>
              <a:t>当前大型的</a:t>
            </a:r>
            <a:r>
              <a:rPr lang="en-US" altLang="zh-CN" dirty="0"/>
              <a:t>DBMS</a:t>
            </a:r>
            <a:r>
              <a:rPr lang="zh-CN" altLang="en-US" dirty="0"/>
              <a:t>一般都支持</a:t>
            </a:r>
            <a:r>
              <a:rPr lang="en-US" altLang="zh-CN" dirty="0">
                <a:solidFill>
                  <a:srgbClr val="0000FF"/>
                </a:solidFill>
              </a:rPr>
              <a:t>C2</a:t>
            </a:r>
            <a:r>
              <a:rPr lang="zh-CN" altLang="en-US" dirty="0"/>
              <a:t>级中的自主存取控制（</a:t>
            </a:r>
            <a:r>
              <a:rPr lang="en-US" altLang="zh-CN" dirty="0">
                <a:solidFill>
                  <a:srgbClr val="0000FF"/>
                </a:solidFill>
              </a:rPr>
              <a:t>DAC</a:t>
            </a:r>
            <a:r>
              <a:rPr lang="zh-CN" altLang="en-US" dirty="0"/>
              <a:t>），</a:t>
            </a:r>
            <a:r>
              <a:rPr lang="en-US" altLang="zh-CN" dirty="0">
                <a:solidFill>
                  <a:srgbClr val="C00000"/>
                </a:solidFill>
              </a:rPr>
              <a:t>SQL</a:t>
            </a:r>
            <a:r>
              <a:rPr lang="zh-CN" altLang="en-US" dirty="0">
                <a:solidFill>
                  <a:srgbClr val="C00000"/>
                </a:solidFill>
              </a:rPr>
              <a:t>标准</a:t>
            </a:r>
            <a:r>
              <a:rPr lang="zh-CN" altLang="en-US" dirty="0"/>
              <a:t>也通过</a:t>
            </a:r>
            <a:r>
              <a:rPr lang="en-US" altLang="zh-CN" dirty="0">
                <a:solidFill>
                  <a:srgbClr val="FF0000"/>
                </a:solidFill>
              </a:rPr>
              <a:t>GRANT</a:t>
            </a:r>
            <a:r>
              <a:rPr lang="zh-CN" altLang="en-US" dirty="0">
                <a:solidFill>
                  <a:srgbClr val="FF0000"/>
                </a:solidFill>
              </a:rPr>
              <a:t>语句</a:t>
            </a:r>
            <a:r>
              <a:rPr lang="zh-CN" altLang="en-US" dirty="0"/>
              <a:t>和</a:t>
            </a:r>
            <a:r>
              <a:rPr lang="en-US" altLang="zh-CN" dirty="0">
                <a:solidFill>
                  <a:srgbClr val="FF0000"/>
                </a:solidFill>
              </a:rPr>
              <a:t>REVOKE</a:t>
            </a:r>
            <a:r>
              <a:rPr lang="zh-CN" altLang="en-US" dirty="0">
                <a:solidFill>
                  <a:srgbClr val="FF0000"/>
                </a:solidFill>
              </a:rPr>
              <a:t>语句</a:t>
            </a:r>
            <a:r>
              <a:rPr lang="zh-CN" altLang="en-US" dirty="0"/>
              <a:t>对其提供了支持</a:t>
            </a:r>
          </a:p>
          <a:p>
            <a:pPr eaLnBrk="1" hangingPunct="1"/>
            <a:endParaRPr lang="zh-CN" altLang="en-US" dirty="0"/>
          </a:p>
        </p:txBody>
      </p:sp>
      <p:sp>
        <p:nvSpPr>
          <p:cNvPr id="4" name="灯片编号占位符 3">
            <a:extLst>
              <a:ext uri="{FF2B5EF4-FFF2-40B4-BE49-F238E27FC236}">
                <a16:creationId xmlns:a16="http://schemas.microsoft.com/office/drawing/2014/main" id="{21A82C21-6F3D-BB00-CBCF-0244885F03B2}"/>
              </a:ext>
            </a:extLst>
          </p:cNvPr>
          <p:cNvSpPr>
            <a:spLocks noGrp="1"/>
          </p:cNvSpPr>
          <p:nvPr>
            <p:ph type="sldNum" sz="quarter" idx="12"/>
          </p:nvPr>
        </p:nvSpPr>
        <p:spPr/>
        <p:txBody>
          <a:bodyPr/>
          <a:lstStyle/>
          <a:p>
            <a:pPr>
              <a:defRPr/>
            </a:pPr>
            <a:fld id="{E0CD82EA-F7BE-454B-A83E-18830F6C5424}" type="slidenum">
              <a:rPr lang="en-US" altLang="zh-CN" smtClean="0"/>
              <a:pPr>
                <a:defRPr/>
              </a:pPr>
              <a:t>108</a:t>
            </a:fld>
            <a:r>
              <a:rPr lang="en-US" altLang="zh-CN"/>
              <a:t>/138</a:t>
            </a:r>
            <a:endParaRPr lang="zh-CN" altLang="en-US" dirty="0"/>
          </a:p>
        </p:txBody>
      </p:sp>
    </p:spTree>
    <p:extLst>
      <p:ext uri="{BB962C8B-B14F-4D97-AF65-F5344CB8AC3E}">
        <p14:creationId xmlns:p14="http://schemas.microsoft.com/office/powerpoint/2010/main" val="1323403142"/>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B849341-D79D-43A3-BB96-56CBB39483DC}"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04802" name="Rectangle 2"/>
          <p:cNvSpPr>
            <a:spLocks noGrp="1" noChangeArrowheads="1"/>
          </p:cNvSpPr>
          <p:nvPr>
            <p:ph type="title"/>
          </p:nvPr>
        </p:nvSpPr>
        <p:spPr/>
        <p:txBody>
          <a:bodyPr/>
          <a:lstStyle/>
          <a:p>
            <a:r>
              <a:rPr lang="en-US" altLang="zh-CN" dirty="0"/>
              <a:t>4.7 </a:t>
            </a:r>
            <a:r>
              <a:rPr lang="zh-CN" altLang="en-US" dirty="0"/>
              <a:t>自主存取控制</a:t>
            </a:r>
            <a:r>
              <a:rPr lang="en-US" altLang="zh-CN" dirty="0"/>
              <a:t>(DAC)</a:t>
            </a:r>
            <a:r>
              <a:rPr lang="zh-CN" altLang="en-US" dirty="0"/>
              <a:t>方法</a:t>
            </a:r>
          </a:p>
        </p:txBody>
      </p:sp>
      <p:sp>
        <p:nvSpPr>
          <p:cNvPr id="204803" name="Rectangle 3"/>
          <p:cNvSpPr>
            <a:spLocks noGrp="1" noChangeArrowheads="1"/>
          </p:cNvSpPr>
          <p:nvPr>
            <p:ph type="body" idx="1"/>
          </p:nvPr>
        </p:nvSpPr>
        <p:spPr>
          <a:xfrm>
            <a:off x="609600" y="1447800"/>
            <a:ext cx="8210872" cy="4684713"/>
          </a:xfrm>
        </p:spPr>
        <p:txBody>
          <a:bodyPr/>
          <a:lstStyle/>
          <a:p>
            <a:r>
              <a:rPr lang="zh-CN" altLang="en-US" sz="3000" dirty="0">
                <a:solidFill>
                  <a:srgbClr val="C00000"/>
                </a:solidFill>
              </a:rPr>
              <a:t>用户权限</a:t>
            </a:r>
            <a:r>
              <a:rPr lang="zh-CN" altLang="en-US" sz="3000" dirty="0"/>
              <a:t>是由</a:t>
            </a:r>
            <a:r>
              <a:rPr lang="zh-CN" altLang="en-US" sz="3000" dirty="0">
                <a:solidFill>
                  <a:srgbClr val="0000FF"/>
                </a:solidFill>
              </a:rPr>
              <a:t>两个要素</a:t>
            </a:r>
            <a:r>
              <a:rPr lang="zh-CN" altLang="en-US" sz="3000" dirty="0"/>
              <a:t>组成的：</a:t>
            </a:r>
          </a:p>
          <a:p>
            <a:pPr>
              <a:buFont typeface="Wingdings" pitchFamily="2" charset="2"/>
              <a:buNone/>
            </a:pPr>
            <a:r>
              <a:rPr lang="zh-CN" altLang="en-US" sz="3000" dirty="0"/>
              <a:t>   </a:t>
            </a:r>
            <a:r>
              <a:rPr lang="en-US" altLang="zh-CN" sz="2800" dirty="0"/>
              <a:t>(1) </a:t>
            </a:r>
            <a:r>
              <a:rPr lang="zh-CN" altLang="en-US" sz="2800" dirty="0"/>
              <a:t>数据对象</a:t>
            </a:r>
          </a:p>
          <a:p>
            <a:pPr>
              <a:buFont typeface="Wingdings" pitchFamily="2" charset="2"/>
              <a:buNone/>
            </a:pPr>
            <a:r>
              <a:rPr lang="zh-CN" altLang="en-US" sz="2800" dirty="0"/>
              <a:t>   </a:t>
            </a:r>
            <a:r>
              <a:rPr lang="en-US" altLang="zh-CN" sz="2800" dirty="0"/>
              <a:t>(2) </a:t>
            </a:r>
            <a:r>
              <a:rPr lang="zh-CN" altLang="en-US" sz="2800" dirty="0"/>
              <a:t>操作类型</a:t>
            </a:r>
          </a:p>
          <a:p>
            <a:r>
              <a:rPr lang="zh-CN" altLang="en-US" sz="3000" dirty="0">
                <a:solidFill>
                  <a:srgbClr val="0000FF"/>
                </a:solidFill>
              </a:rPr>
              <a:t>定义</a:t>
            </a:r>
            <a:r>
              <a:rPr lang="zh-CN" altLang="en-US" sz="3000" dirty="0"/>
              <a:t>一个用户的</a:t>
            </a:r>
            <a:r>
              <a:rPr lang="zh-CN" altLang="en-US" sz="3000" dirty="0">
                <a:solidFill>
                  <a:srgbClr val="0000FF"/>
                </a:solidFill>
              </a:rPr>
              <a:t>存取权限</a:t>
            </a:r>
            <a:r>
              <a:rPr lang="zh-CN" altLang="en-US" sz="3000" dirty="0"/>
              <a:t>就是要</a:t>
            </a:r>
            <a:r>
              <a:rPr lang="zh-CN" altLang="en-US" sz="3000" dirty="0">
                <a:solidFill>
                  <a:srgbClr val="C00000"/>
                </a:solidFill>
              </a:rPr>
              <a:t>定义</a:t>
            </a:r>
            <a:r>
              <a:rPr lang="zh-CN" altLang="en-US" sz="3000" dirty="0"/>
              <a:t>这个</a:t>
            </a:r>
            <a:r>
              <a:rPr lang="zh-CN" altLang="en-US" sz="3000" dirty="0">
                <a:solidFill>
                  <a:srgbClr val="0000FF"/>
                </a:solidFill>
              </a:rPr>
              <a:t>用户</a:t>
            </a:r>
            <a:r>
              <a:rPr lang="zh-CN" altLang="en-US" sz="3000" dirty="0"/>
              <a:t>可以在</a:t>
            </a:r>
            <a:r>
              <a:rPr lang="zh-CN" altLang="en-US" sz="3000" u="sng" dirty="0">
                <a:solidFill>
                  <a:srgbClr val="C00000"/>
                </a:solidFill>
              </a:rPr>
              <a:t>哪些数据对象</a:t>
            </a:r>
            <a:r>
              <a:rPr lang="zh-CN" altLang="en-US" sz="3000" dirty="0"/>
              <a:t>上进行</a:t>
            </a:r>
            <a:r>
              <a:rPr lang="zh-CN" altLang="en-US" sz="3000" u="sng" dirty="0">
                <a:solidFill>
                  <a:srgbClr val="C00000"/>
                </a:solidFill>
              </a:rPr>
              <a:t>哪些类型的操作</a:t>
            </a:r>
            <a:r>
              <a:rPr lang="zh-CN" altLang="en-US" sz="3000" dirty="0"/>
              <a:t>。</a:t>
            </a:r>
          </a:p>
          <a:p>
            <a:r>
              <a:rPr lang="zh-CN" altLang="en-US" sz="3000" dirty="0">
                <a:solidFill>
                  <a:srgbClr val="F40000"/>
                </a:solidFill>
              </a:rPr>
              <a:t>存取权限的定义</a:t>
            </a:r>
            <a:r>
              <a:rPr lang="zh-CN" altLang="en-US" sz="3000" dirty="0"/>
              <a:t>称为</a:t>
            </a:r>
            <a:r>
              <a:rPr lang="zh-CN" altLang="en-US" sz="3000" b="1" dirty="0">
                <a:solidFill>
                  <a:srgbClr val="F40000"/>
                </a:solidFill>
              </a:rPr>
              <a:t>授权</a:t>
            </a:r>
            <a:r>
              <a:rPr lang="zh-CN" altLang="en-US" sz="3000" b="1" dirty="0"/>
              <a:t>（</a:t>
            </a:r>
            <a:r>
              <a:rPr lang="en-US" altLang="zh-CN" sz="3000" b="1" dirty="0">
                <a:solidFill>
                  <a:srgbClr val="F40000"/>
                </a:solidFill>
              </a:rPr>
              <a:t>authorization</a:t>
            </a:r>
            <a:r>
              <a:rPr lang="zh-CN" altLang="en-US" sz="3000" b="1" dirty="0"/>
              <a:t>）</a:t>
            </a:r>
            <a:endParaRPr lang="zh-CN" altLang="en-US" sz="3000" dirty="0"/>
          </a:p>
        </p:txBody>
      </p:sp>
      <p:sp>
        <p:nvSpPr>
          <p:cNvPr id="6" name="灯片编号占位符 5">
            <a:extLst>
              <a:ext uri="{FF2B5EF4-FFF2-40B4-BE49-F238E27FC236}">
                <a16:creationId xmlns:a16="http://schemas.microsoft.com/office/drawing/2014/main" id="{38530963-9A79-6DC0-DE83-95174B728CE8}"/>
              </a:ext>
            </a:extLst>
          </p:cNvPr>
          <p:cNvSpPr>
            <a:spLocks noGrp="1"/>
          </p:cNvSpPr>
          <p:nvPr>
            <p:ph type="sldNum" sz="quarter" idx="12"/>
          </p:nvPr>
        </p:nvSpPr>
        <p:spPr/>
        <p:txBody>
          <a:bodyPr/>
          <a:lstStyle/>
          <a:p>
            <a:pPr>
              <a:defRPr/>
            </a:pPr>
            <a:fld id="{E0CD82EA-F7BE-454B-A83E-18830F6C5424}" type="slidenum">
              <a:rPr lang="en-US" altLang="zh-CN" smtClean="0"/>
              <a:pPr>
                <a:defRPr/>
              </a:pPr>
              <a:t>109</a:t>
            </a:fld>
            <a:r>
              <a:rPr lang="en-US" altLang="zh-CN"/>
              <a:t>/138</a:t>
            </a:r>
            <a:endParaRPr lang="zh-CN" altLang="en-US" dirty="0"/>
          </a:p>
        </p:txBody>
      </p:sp>
    </p:spTree>
    <p:extLst>
      <p:ext uri="{BB962C8B-B14F-4D97-AF65-F5344CB8AC3E}">
        <p14:creationId xmlns:p14="http://schemas.microsoft.com/office/powerpoint/2010/main" val="41239941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03">
                                            <p:txEl>
                                              <p:pRg st="3" end="3"/>
                                            </p:txEl>
                                          </p:spTgt>
                                        </p:tgtEl>
                                        <p:attrNameLst>
                                          <p:attrName>style.visibility</p:attrName>
                                        </p:attrNameLst>
                                      </p:cBhvr>
                                      <p:to>
                                        <p:strVal val="visible"/>
                                      </p:to>
                                    </p:set>
                                    <p:anim calcmode="lin" valueType="num">
                                      <p:cBhvr additive="base">
                                        <p:cTn id="7" dur="500" fill="hold"/>
                                        <p:tgtEl>
                                          <p:spTgt spid="20480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4803">
                                            <p:txEl>
                                              <p:pRg st="4" end="4"/>
                                            </p:txEl>
                                          </p:spTgt>
                                        </p:tgtEl>
                                        <p:attrNameLst>
                                          <p:attrName>style.visibility</p:attrName>
                                        </p:attrNameLst>
                                      </p:cBhvr>
                                      <p:to>
                                        <p:strVal val="visible"/>
                                      </p:to>
                                    </p:set>
                                    <p:anim calcmode="lin" valueType="num">
                                      <p:cBhvr additive="base">
                                        <p:cTn id="13" dur="500" fill="hold"/>
                                        <p:tgtEl>
                                          <p:spTgt spid="20480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0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日期占位符 4"/>
          <p:cNvSpPr>
            <a:spLocks noGrp="1"/>
          </p:cNvSpPr>
          <p:nvPr>
            <p:ph type="dt" sz="half" idx="10"/>
          </p:nvPr>
        </p:nvSpPr>
        <p:spPr/>
        <p:txBody>
          <a:bodyPr/>
          <a:lstStyle/>
          <a:p>
            <a:fld id="{0A2114CB-B2BE-40C6-8C16-9226DAA7CFA0}" type="datetime1">
              <a:rPr lang="zh-CN" altLang="en-US" smtClean="0"/>
              <a:t>2025/10/15</a:t>
            </a:fld>
            <a:endParaRPr lang="en-US" altLang="zh-CN"/>
          </a:p>
        </p:txBody>
      </p:sp>
      <p:sp>
        <p:nvSpPr>
          <p:cNvPr id="23" name="页脚占位符 5"/>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05826" name="Rectangle 2"/>
          <p:cNvSpPr>
            <a:spLocks noGrp="1" noChangeArrowheads="1"/>
          </p:cNvSpPr>
          <p:nvPr>
            <p:ph type="title"/>
          </p:nvPr>
        </p:nvSpPr>
        <p:spPr/>
        <p:txBody>
          <a:bodyPr/>
          <a:lstStyle/>
          <a:p>
            <a:r>
              <a:rPr lang="en-US" altLang="zh-CN" dirty="0"/>
              <a:t>4.7 </a:t>
            </a:r>
            <a:r>
              <a:rPr lang="zh-CN" altLang="en-US" dirty="0"/>
              <a:t>自主存取控制</a:t>
            </a:r>
            <a:r>
              <a:rPr lang="en-US" altLang="zh-CN" dirty="0"/>
              <a:t>(DAC)</a:t>
            </a:r>
            <a:r>
              <a:rPr lang="zh-CN" altLang="en-US" dirty="0"/>
              <a:t>方法</a:t>
            </a:r>
          </a:p>
        </p:txBody>
      </p:sp>
      <p:sp>
        <p:nvSpPr>
          <p:cNvPr id="205827" name="Rectangle 3"/>
          <p:cNvSpPr>
            <a:spLocks noGrp="1" noChangeArrowheads="1"/>
          </p:cNvSpPr>
          <p:nvPr>
            <p:ph type="body" sz="half" idx="1"/>
          </p:nvPr>
        </p:nvSpPr>
        <p:spPr>
          <a:xfrm>
            <a:off x="609600" y="1447800"/>
            <a:ext cx="8305800" cy="4684713"/>
          </a:xfrm>
        </p:spPr>
        <p:txBody>
          <a:bodyPr/>
          <a:lstStyle/>
          <a:p>
            <a:r>
              <a:rPr lang="zh-CN" altLang="en-US" dirty="0"/>
              <a:t>表</a:t>
            </a:r>
            <a:r>
              <a:rPr lang="en-US" altLang="zh-CN" dirty="0"/>
              <a:t>4.3 </a:t>
            </a:r>
            <a:r>
              <a:rPr lang="zh-CN" altLang="en-US" dirty="0"/>
              <a:t>关系系统中的存取</a:t>
            </a:r>
            <a:r>
              <a:rPr lang="zh-CN" altLang="en-US" dirty="0">
                <a:solidFill>
                  <a:srgbClr val="FF0000"/>
                </a:solidFill>
              </a:rPr>
              <a:t>权限</a:t>
            </a:r>
            <a:r>
              <a:rPr lang="en-US" altLang="zh-CN" dirty="0"/>
              <a:t>(</a:t>
            </a:r>
            <a:r>
              <a:rPr kumimoji="1" lang="en-US" altLang="zh-CN" dirty="0">
                <a:solidFill>
                  <a:srgbClr val="FF0000"/>
                </a:solidFill>
                <a:latin typeface="Times New Roman" pitchFamily="18" charset="0"/>
                <a:ea typeface="宋体" charset="-122"/>
              </a:rPr>
              <a:t>privilege</a:t>
            </a:r>
            <a:r>
              <a:rPr lang="en-US" altLang="zh-CN" dirty="0"/>
              <a:t>)</a:t>
            </a:r>
            <a:endParaRPr lang="zh-CN" altLang="en-US" dirty="0"/>
          </a:p>
        </p:txBody>
      </p:sp>
      <p:graphicFrame>
        <p:nvGraphicFramePr>
          <p:cNvPr id="9" name="Group 248"/>
          <p:cNvGraphicFramePr>
            <a:graphicFrameLocks noGrp="1"/>
          </p:cNvGraphicFramePr>
          <p:nvPr>
            <p:ph sz="half" idx="2"/>
            <p:extLst>
              <p:ext uri="{D42A27DB-BD31-4B8C-83A1-F6EECF244321}">
                <p14:modId xmlns:p14="http://schemas.microsoft.com/office/powerpoint/2010/main" val="3542240283"/>
              </p:ext>
            </p:extLst>
          </p:nvPr>
        </p:nvGraphicFramePr>
        <p:xfrm>
          <a:off x="533400" y="2362200"/>
          <a:ext cx="8229600" cy="2924493"/>
        </p:xfrm>
        <a:graphic>
          <a:graphicData uri="http://schemas.openxmlformats.org/drawingml/2006/table">
            <a:tbl>
              <a:tblPr/>
              <a:tblGrid>
                <a:gridCol w="1066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303213">
                <a:tc>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Times New Roman" pitchFamily="18" charset="0"/>
                          <a:ea typeface="宋体" charset="-122"/>
                        </a:rPr>
                        <a:t>对象类型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Times New Roman" pitchFamily="18" charset="0"/>
                          <a:ea typeface="宋体" charset="-122"/>
                        </a:rPr>
                        <a:t>对象</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rgbClr val="FF0000"/>
                          </a:solidFill>
                          <a:effectLst>
                            <a:outerShdw blurRad="38100" dist="38100" dir="2700000" algn="tl">
                              <a:srgbClr val="000000">
                                <a:alpha val="43137"/>
                              </a:srgbClr>
                            </a:outerShdw>
                          </a:effectLst>
                          <a:latin typeface="Times New Roman" pitchFamily="18" charset="0"/>
                          <a:ea typeface="宋体" charset="-122"/>
                        </a:rPr>
                        <a:t>操 作 类 型</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273050">
                <a:tc rowSpan="4">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rgbClr val="FF0000"/>
                          </a:solidFill>
                          <a:effectLst/>
                          <a:latin typeface="Times New Roman" pitchFamily="18" charset="0"/>
                          <a:ea typeface="宋体" charset="-122"/>
                        </a:rPr>
                        <a:t>数据库</a:t>
                      </a:r>
                      <a:endParaRPr kumimoji="1" lang="en-US" altLang="zh-CN" sz="1600" b="1" i="0" u="none" strike="noStrike" cap="none" normalizeH="0" baseline="0" dirty="0">
                        <a:ln>
                          <a:noFill/>
                        </a:ln>
                        <a:solidFill>
                          <a:srgbClr val="FF0000"/>
                        </a:solidFill>
                        <a:effectLst/>
                        <a:latin typeface="Times New Roman" pitchFamily="18" charset="0"/>
                        <a:ea typeface="宋体" charset="-122"/>
                      </a:endParaRP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rgbClr val="FF0000"/>
                          </a:solidFill>
                          <a:effectLst/>
                          <a:latin typeface="Times New Roman" pitchFamily="18" charset="0"/>
                          <a:ea typeface="宋体" charset="-122"/>
                        </a:rPr>
                        <a:t>模式</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rgbClr val="C00000"/>
                          </a:solidFill>
                          <a:effectLst/>
                          <a:latin typeface="Times New Roman" pitchFamily="18" charset="0"/>
                          <a:ea typeface="宋体" charset="-122"/>
                        </a:rPr>
                        <a:t>模式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itchFamily="18" charset="0"/>
                          <a:ea typeface="宋体" charset="-122"/>
                        </a:rPr>
                        <a:t>CREATE SCHEMA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381000">
                <a:tc vMerge="1">
                  <a:txBody>
                    <a:bodyPr/>
                    <a:lstStyle>
                      <a:lvl1pPr algn="l">
                        <a:spcBef>
                          <a:spcPct val="20000"/>
                        </a:spcBef>
                        <a:buClr>
                          <a:schemeClr val="hlink"/>
                        </a:buClr>
                        <a:buFont typeface="Wingdings" pitchFamily="2" charset="2"/>
                        <a:defRPr sz="2400">
                          <a:solidFill>
                            <a:schemeClr val="tx1"/>
                          </a:solidFill>
                          <a:latin typeface="Arial" charset="0"/>
                        </a:defRPr>
                      </a:lvl1pPr>
                      <a:lvl2pPr algn="l">
                        <a:spcBef>
                          <a:spcPct val="20000"/>
                        </a:spcBef>
                        <a:buClr>
                          <a:schemeClr val="accent1"/>
                        </a:buClr>
                        <a:buFont typeface="Wingdings" pitchFamily="2" charset="2"/>
                        <a:defRPr sz="2000">
                          <a:solidFill>
                            <a:schemeClr val="tx1"/>
                          </a:solidFill>
                          <a:latin typeface="Arial" charset="0"/>
                        </a:defRPr>
                      </a:lvl2pPr>
                      <a:lvl3pPr algn="l">
                        <a:spcBef>
                          <a:spcPct val="20000"/>
                        </a:spcBef>
                        <a:buClr>
                          <a:schemeClr val="tx1"/>
                        </a:buClr>
                        <a:defRPr sz="2000">
                          <a:solidFill>
                            <a:schemeClr val="tx1"/>
                          </a:solidFill>
                          <a:latin typeface="Arial" charset="0"/>
                        </a:defRPr>
                      </a:lvl3pPr>
                      <a:lvl4pPr algn="l">
                        <a:spcBef>
                          <a:spcPct val="20000"/>
                        </a:spcBef>
                        <a:defRPr>
                          <a:solidFill>
                            <a:schemeClr val="tx1"/>
                          </a:solidFill>
                          <a:latin typeface="Arial" charset="0"/>
                        </a:defRPr>
                      </a:lvl4pPr>
                      <a:lvl5pPr algn="l">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400" b="0" i="0" u="none" strike="noStrike" cap="none" normalizeH="0" baseline="0" dirty="0">
                        <a:ln>
                          <a:noFill/>
                        </a:ln>
                        <a:solidFill>
                          <a:schemeClr val="tx1"/>
                        </a:solidFill>
                        <a:effectLst/>
                        <a:latin typeface="Arial" charset="0"/>
                        <a:ea typeface="宋体" charset="-122"/>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rgbClr val="C00000"/>
                          </a:solidFill>
                          <a:effectLst/>
                          <a:latin typeface="Times New Roman" pitchFamily="18" charset="0"/>
                          <a:ea typeface="宋体" charset="-122"/>
                        </a:rPr>
                        <a:t>基本表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itchFamily="18" charset="0"/>
                          <a:ea typeface="宋体" charset="-122"/>
                        </a:rPr>
                        <a:t>CREATE TABLE</a:t>
                      </a:r>
                      <a:r>
                        <a:rPr kumimoji="1" lang="zh-CN" altLang="en-US" sz="1600" b="0" i="0" u="none" strike="noStrike" cap="none" normalizeH="0" baseline="0" dirty="0">
                          <a:ln>
                            <a:noFill/>
                          </a:ln>
                          <a:solidFill>
                            <a:schemeClr val="tx1"/>
                          </a:solidFill>
                          <a:effectLst/>
                          <a:latin typeface="Times New Roman" pitchFamily="18" charset="0"/>
                          <a:ea typeface="宋体" charset="-122"/>
                        </a:rPr>
                        <a:t>，</a:t>
                      </a:r>
                      <a:r>
                        <a:rPr kumimoji="1" lang="en-US" altLang="zh-CN" sz="1600" b="0" i="0" u="none" strike="noStrike" cap="none" normalizeH="0" baseline="0" dirty="0">
                          <a:ln>
                            <a:noFill/>
                          </a:ln>
                          <a:solidFill>
                            <a:schemeClr val="tx1"/>
                          </a:solidFill>
                          <a:effectLst/>
                          <a:latin typeface="Times New Roman" pitchFamily="18" charset="0"/>
                          <a:ea typeface="宋体" charset="-122"/>
                        </a:rPr>
                        <a:t>ALTER TABLE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190500">
                <a:tc vMerge="1">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1" lang="zh-CN" altLang="en-US" sz="1400" b="0" i="0" u="none" strike="noStrike" cap="none" normalizeH="0" baseline="0" dirty="0">
                        <a:ln>
                          <a:noFill/>
                        </a:ln>
                        <a:solidFill>
                          <a:schemeClr val="tx1"/>
                        </a:solidFill>
                        <a:effectLst/>
                        <a:latin typeface="Times New Roman" pitchFamily="18" charset="0"/>
                        <a:ea typeface="宋体" charset="-122"/>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rgbClr val="C00000"/>
                          </a:solidFill>
                          <a:effectLst/>
                          <a:latin typeface="Times New Roman" pitchFamily="18" charset="0"/>
                          <a:ea typeface="宋体" charset="-122"/>
                        </a:rPr>
                        <a:t>视图</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itchFamily="18" charset="0"/>
                          <a:ea typeface="宋体" charset="-122"/>
                        </a:rPr>
                        <a:t>CREATE VIEW</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3"/>
                  </a:ext>
                </a:extLst>
              </a:tr>
              <a:tr h="379413">
                <a:tc vMerge="1">
                  <a:txBody>
                    <a:bodyPr/>
                    <a:lstStyle>
                      <a:lvl1pPr algn="l">
                        <a:spcBef>
                          <a:spcPct val="20000"/>
                        </a:spcBef>
                        <a:buClr>
                          <a:schemeClr val="hlink"/>
                        </a:buClr>
                        <a:buFont typeface="Wingdings" pitchFamily="2" charset="2"/>
                        <a:defRPr sz="2400">
                          <a:solidFill>
                            <a:schemeClr val="tx1"/>
                          </a:solidFill>
                          <a:latin typeface="Arial" charset="0"/>
                        </a:defRPr>
                      </a:lvl1pPr>
                      <a:lvl2pPr algn="l">
                        <a:spcBef>
                          <a:spcPct val="20000"/>
                        </a:spcBef>
                        <a:buClr>
                          <a:schemeClr val="accent1"/>
                        </a:buClr>
                        <a:buFont typeface="Wingdings" pitchFamily="2" charset="2"/>
                        <a:defRPr sz="2000">
                          <a:solidFill>
                            <a:schemeClr val="tx1"/>
                          </a:solidFill>
                          <a:latin typeface="Arial" charset="0"/>
                        </a:defRPr>
                      </a:lvl2pPr>
                      <a:lvl3pPr algn="l">
                        <a:spcBef>
                          <a:spcPct val="20000"/>
                        </a:spcBef>
                        <a:buClr>
                          <a:schemeClr val="tx1"/>
                        </a:buClr>
                        <a:defRPr sz="2000">
                          <a:solidFill>
                            <a:schemeClr val="tx1"/>
                          </a:solidFill>
                          <a:latin typeface="Arial" charset="0"/>
                        </a:defRPr>
                      </a:lvl3pPr>
                      <a:lvl4pPr algn="l">
                        <a:spcBef>
                          <a:spcPct val="20000"/>
                        </a:spcBef>
                        <a:defRPr>
                          <a:solidFill>
                            <a:schemeClr val="tx1"/>
                          </a:solidFill>
                          <a:latin typeface="Arial" charset="0"/>
                        </a:defRPr>
                      </a:lvl4pPr>
                      <a:lvl5pPr algn="l">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zh-CN" altLang="zh-CN" sz="1400" b="0" i="0" u="none" strike="noStrike" cap="none" normalizeH="0" baseline="0" dirty="0">
                        <a:ln>
                          <a:noFill/>
                        </a:ln>
                        <a:solidFill>
                          <a:schemeClr val="tx1"/>
                        </a:solidFill>
                        <a:effectLst/>
                        <a:latin typeface="Arial" charset="0"/>
                        <a:ea typeface="宋体" charset="-122"/>
                      </a:endParaRPr>
                    </a:p>
                  </a:txBody>
                  <a:tcPr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rgbClr val="C00000"/>
                          </a:solidFill>
                          <a:effectLst/>
                          <a:latin typeface="Times New Roman" pitchFamily="18" charset="0"/>
                          <a:ea typeface="宋体" charset="-122"/>
                        </a:rPr>
                        <a:t>索引</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itchFamily="18" charset="0"/>
                          <a:ea typeface="宋体" charset="-122"/>
                        </a:rPr>
                        <a:t>CREATE INDEX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03213">
                <a:tc rowSpan="2">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rgbClr val="FF0000"/>
                          </a:solidFill>
                          <a:effectLst/>
                          <a:latin typeface="Times New Roman" pitchFamily="18" charset="0"/>
                          <a:ea typeface="宋体" charset="-122"/>
                        </a:rPr>
                        <a:t>数据</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rgbClr val="0000FF"/>
                          </a:solidFill>
                          <a:effectLst/>
                          <a:latin typeface="Times New Roman" pitchFamily="18" charset="0"/>
                          <a:ea typeface="宋体" charset="-122"/>
                        </a:rPr>
                        <a:t>基本表</a:t>
                      </a:r>
                      <a:r>
                        <a:rPr kumimoji="1" lang="zh-CN" altLang="en-US" sz="1600" b="1" i="0" u="none" strike="noStrike" cap="none" normalizeH="0" baseline="0" dirty="0">
                          <a:ln>
                            <a:noFill/>
                          </a:ln>
                          <a:solidFill>
                            <a:schemeClr val="tx1"/>
                          </a:solidFill>
                          <a:effectLst/>
                          <a:latin typeface="Times New Roman" pitchFamily="18" charset="0"/>
                          <a:ea typeface="宋体" charset="-122"/>
                        </a:rPr>
                        <a:t>和</a:t>
                      </a:r>
                      <a:r>
                        <a:rPr kumimoji="1" lang="zh-CN" altLang="en-US" sz="1600" b="1" i="0" u="none" strike="noStrike" cap="none" normalizeH="0" baseline="0" dirty="0">
                          <a:ln>
                            <a:noFill/>
                          </a:ln>
                          <a:solidFill>
                            <a:srgbClr val="0000FF"/>
                          </a:solidFill>
                          <a:effectLst/>
                          <a:latin typeface="Times New Roman" pitchFamily="18" charset="0"/>
                          <a:ea typeface="宋体" charset="-122"/>
                        </a:rPr>
                        <a:t>视图</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itchFamily="18" charset="0"/>
                          <a:ea typeface="宋体" charset="-122"/>
                        </a:rPr>
                        <a:t>SELECT</a:t>
                      </a:r>
                      <a:r>
                        <a:rPr kumimoji="1" lang="zh-CN" altLang="en-US" sz="1600" b="0" i="0" u="none" strike="noStrike" cap="none" normalizeH="0" baseline="0" dirty="0">
                          <a:ln>
                            <a:noFill/>
                          </a:ln>
                          <a:solidFill>
                            <a:schemeClr val="tx1"/>
                          </a:solidFill>
                          <a:effectLst/>
                          <a:latin typeface="Times New Roman" pitchFamily="18" charset="0"/>
                          <a:ea typeface="宋体" charset="-122"/>
                        </a:rPr>
                        <a:t>，</a:t>
                      </a:r>
                      <a:r>
                        <a:rPr kumimoji="1" lang="en-US" altLang="zh-CN" sz="1600" b="0" i="0" u="none" strike="noStrike" cap="none" normalizeH="0" baseline="0" dirty="0">
                          <a:ln>
                            <a:noFill/>
                          </a:ln>
                          <a:solidFill>
                            <a:schemeClr val="tx1"/>
                          </a:solidFill>
                          <a:effectLst/>
                          <a:latin typeface="Times New Roman" pitchFamily="18" charset="0"/>
                          <a:ea typeface="宋体" charset="-122"/>
                        </a:rPr>
                        <a:t>INSERT</a:t>
                      </a:r>
                      <a:r>
                        <a:rPr kumimoji="1" lang="zh-CN" altLang="en-US" sz="1600" b="0" i="0" u="none" strike="noStrike" cap="none" normalizeH="0" baseline="0" dirty="0">
                          <a:ln>
                            <a:noFill/>
                          </a:ln>
                          <a:solidFill>
                            <a:schemeClr val="tx1"/>
                          </a:solidFill>
                          <a:effectLst/>
                          <a:latin typeface="Times New Roman" pitchFamily="18" charset="0"/>
                          <a:ea typeface="宋体" charset="-122"/>
                        </a:rPr>
                        <a:t>，</a:t>
                      </a:r>
                      <a:r>
                        <a:rPr kumimoji="1" lang="en-US" altLang="zh-CN" sz="1600" b="0" i="0" u="none" strike="noStrike" cap="none" normalizeH="0" baseline="0" dirty="0">
                          <a:ln>
                            <a:noFill/>
                          </a:ln>
                          <a:solidFill>
                            <a:schemeClr val="tx1"/>
                          </a:solidFill>
                          <a:effectLst/>
                          <a:latin typeface="Times New Roman" pitchFamily="18" charset="0"/>
                          <a:ea typeface="宋体" charset="-122"/>
                        </a:rPr>
                        <a:t>UPDATE</a:t>
                      </a:r>
                      <a:r>
                        <a:rPr kumimoji="1" lang="zh-CN" altLang="en-US" sz="1600" b="0" i="0" u="none" strike="noStrike" cap="none" normalizeH="0" baseline="0" dirty="0">
                          <a:ln>
                            <a:noFill/>
                          </a:ln>
                          <a:solidFill>
                            <a:schemeClr val="tx1"/>
                          </a:solidFill>
                          <a:effectLst/>
                          <a:latin typeface="Times New Roman" pitchFamily="18" charset="0"/>
                          <a:ea typeface="宋体" charset="-122"/>
                        </a:rPr>
                        <a:t>，</a:t>
                      </a:r>
                      <a:r>
                        <a:rPr kumimoji="1" lang="en-US" altLang="zh-CN" sz="1600" b="0" i="0" u="none" strike="noStrike" cap="none" normalizeH="0" baseline="0" dirty="0">
                          <a:ln>
                            <a:noFill/>
                          </a:ln>
                          <a:solidFill>
                            <a:schemeClr val="tx1"/>
                          </a:solidFill>
                          <a:effectLst/>
                          <a:latin typeface="Times New Roman" pitchFamily="18" charset="0"/>
                          <a:ea typeface="宋体" charset="-122"/>
                        </a:rPr>
                        <a:t>DELETE</a:t>
                      </a:r>
                      <a:r>
                        <a:rPr kumimoji="1" lang="zh-CN" altLang="en-US" sz="1600" b="0" i="0" u="none" strike="noStrike" cap="none" normalizeH="0" baseline="0" dirty="0">
                          <a:ln>
                            <a:noFill/>
                          </a:ln>
                          <a:solidFill>
                            <a:schemeClr val="tx1"/>
                          </a:solidFill>
                          <a:effectLst/>
                          <a:latin typeface="Times New Roman" pitchFamily="18" charset="0"/>
                          <a:ea typeface="宋体" charset="-122"/>
                        </a:rPr>
                        <a:t>，</a:t>
                      </a:r>
                      <a:r>
                        <a:rPr kumimoji="1" lang="en-US" altLang="zh-CN" sz="1600" b="0" i="0" u="none" strike="noStrike" cap="none" normalizeH="0" baseline="0" dirty="0">
                          <a:ln>
                            <a:noFill/>
                          </a:ln>
                          <a:solidFill>
                            <a:srgbClr val="0000FF"/>
                          </a:solidFill>
                          <a:effectLst/>
                          <a:latin typeface="Times New Roman" pitchFamily="18" charset="0"/>
                          <a:ea typeface="宋体" charset="-122"/>
                        </a:rPr>
                        <a:t>REFERENCES</a:t>
                      </a:r>
                      <a:r>
                        <a:rPr kumimoji="1" lang="zh-CN" altLang="en-US" sz="1600" b="0" i="0" u="none" strike="noStrike" cap="none" normalizeH="0" baseline="0" dirty="0">
                          <a:ln>
                            <a:noFill/>
                          </a:ln>
                          <a:solidFill>
                            <a:schemeClr val="tx1"/>
                          </a:solidFill>
                          <a:effectLst/>
                          <a:latin typeface="Times New Roman" pitchFamily="18" charset="0"/>
                          <a:ea typeface="宋体" charset="-122"/>
                        </a:rPr>
                        <a:t>，</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rgbClr val="FF0000"/>
                          </a:solidFill>
                          <a:effectLst/>
                          <a:latin typeface="Times New Roman" pitchFamily="18" charset="0"/>
                          <a:ea typeface="宋体" charset="-122"/>
                        </a:rPr>
                        <a:t>ALL PRIVILEGES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5"/>
                  </a:ext>
                </a:extLst>
              </a:tr>
              <a:tr h="571501">
                <a:tc vMerge="1">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1" lang="zh-CN" altLang="en-US" sz="1400" b="0" i="0" u="none" strike="noStrike" cap="none" normalizeH="0" baseline="0" dirty="0">
                        <a:ln>
                          <a:noFill/>
                        </a:ln>
                        <a:solidFill>
                          <a:schemeClr val="tx1"/>
                        </a:solidFill>
                        <a:effectLst/>
                        <a:latin typeface="Times New Roman" pitchFamily="18"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rgbClr val="FF0000"/>
                          </a:solidFill>
                          <a:effectLst/>
                          <a:latin typeface="Times New Roman" pitchFamily="18" charset="0"/>
                          <a:ea typeface="宋体" charset="-122"/>
                        </a:rPr>
                        <a:t>属性列</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lvl1pPr marL="342900" indent="-342900" algn="l">
                        <a:spcBef>
                          <a:spcPct val="20000"/>
                        </a:spcBef>
                        <a:buClr>
                          <a:schemeClr val="hlink"/>
                        </a:buClr>
                        <a:buFont typeface="Wingdings" pitchFamily="2" charset="2"/>
                        <a:defRPr sz="2400">
                          <a:solidFill>
                            <a:schemeClr val="tx1"/>
                          </a:solidFill>
                          <a:latin typeface="Arial" charset="0"/>
                        </a:defRPr>
                      </a:lvl1pPr>
                      <a:lvl2pPr marL="742950" indent="-285750" algn="l">
                        <a:spcBef>
                          <a:spcPct val="20000"/>
                        </a:spcBef>
                        <a:buClr>
                          <a:schemeClr val="accent1"/>
                        </a:buClr>
                        <a:buFont typeface="Wingdings" pitchFamily="2" charset="2"/>
                        <a:defRPr sz="2000">
                          <a:solidFill>
                            <a:schemeClr val="tx1"/>
                          </a:solidFill>
                          <a:latin typeface="Arial" charset="0"/>
                        </a:defRPr>
                      </a:lvl2pPr>
                      <a:lvl3pPr marL="1143000" indent="-228600" algn="l">
                        <a:spcBef>
                          <a:spcPct val="20000"/>
                        </a:spcBef>
                        <a:buClr>
                          <a:schemeClr val="tx1"/>
                        </a:buClr>
                        <a:defRPr sz="2000">
                          <a:solidFill>
                            <a:schemeClr val="tx1"/>
                          </a:solidFill>
                          <a:latin typeface="Arial" charset="0"/>
                        </a:defRPr>
                      </a:lvl3pPr>
                      <a:lvl4pPr marL="1600200" indent="-228600" algn="l">
                        <a:spcBef>
                          <a:spcPct val="20000"/>
                        </a:spcBef>
                        <a:defRPr>
                          <a:solidFill>
                            <a:schemeClr val="tx1"/>
                          </a:solidFill>
                          <a:latin typeface="Arial" charset="0"/>
                        </a:defRPr>
                      </a:lvl4pPr>
                      <a:lvl5pPr marL="2057400" indent="-228600" algn="l">
                        <a:spcBef>
                          <a:spcPct val="20000"/>
                        </a:spcBef>
                        <a:defRPr>
                          <a:solidFill>
                            <a:schemeClr val="tx1"/>
                          </a:solidFill>
                          <a:latin typeface="Arial" charset="0"/>
                        </a:defRPr>
                      </a:lvl5pPr>
                      <a:lvl6pPr marL="2514600" indent="-228600" fontAlgn="base">
                        <a:spcBef>
                          <a:spcPct val="20000"/>
                        </a:spcBef>
                        <a:spcAft>
                          <a:spcPct val="0"/>
                        </a:spcAft>
                        <a:defRPr>
                          <a:solidFill>
                            <a:schemeClr val="tx1"/>
                          </a:solidFill>
                          <a:latin typeface="Arial" charset="0"/>
                        </a:defRPr>
                      </a:lvl6pPr>
                      <a:lvl7pPr marL="2971800" indent="-228600" fontAlgn="base">
                        <a:spcBef>
                          <a:spcPct val="20000"/>
                        </a:spcBef>
                        <a:spcAft>
                          <a:spcPct val="0"/>
                        </a:spcAft>
                        <a:defRPr>
                          <a:solidFill>
                            <a:schemeClr val="tx1"/>
                          </a:solidFill>
                          <a:latin typeface="Arial" charset="0"/>
                        </a:defRPr>
                      </a:lvl7pPr>
                      <a:lvl8pPr marL="3429000" indent="-228600" fontAlgn="base">
                        <a:spcBef>
                          <a:spcPct val="20000"/>
                        </a:spcBef>
                        <a:spcAft>
                          <a:spcPct val="0"/>
                        </a:spcAft>
                        <a:defRPr>
                          <a:solidFill>
                            <a:schemeClr val="tx1"/>
                          </a:solidFill>
                          <a:latin typeface="Arial" charset="0"/>
                        </a:defRPr>
                      </a:lvl8pPr>
                      <a:lvl9pPr marL="3886200" indent="-228600" fontAlgn="base">
                        <a:spcBef>
                          <a:spcPct val="20000"/>
                        </a:spcBef>
                        <a:spcAft>
                          <a:spcPct val="0"/>
                        </a:spcAft>
                        <a:defRPr>
                          <a:solidFill>
                            <a:schemeClr val="tx1"/>
                          </a:solidFill>
                          <a:latin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chemeClr val="tx1"/>
                          </a:solidFill>
                          <a:effectLst/>
                          <a:latin typeface="Times New Roman" pitchFamily="18" charset="0"/>
                          <a:ea typeface="宋体" charset="-122"/>
                        </a:rPr>
                        <a:t>SELECT</a:t>
                      </a:r>
                      <a:r>
                        <a:rPr kumimoji="1" lang="zh-CN" altLang="en-US" sz="1600" b="0" i="0" u="none" strike="noStrike" cap="none" normalizeH="0" baseline="0" dirty="0">
                          <a:ln>
                            <a:noFill/>
                          </a:ln>
                          <a:solidFill>
                            <a:schemeClr val="tx1"/>
                          </a:solidFill>
                          <a:effectLst/>
                          <a:latin typeface="Times New Roman" pitchFamily="18" charset="0"/>
                          <a:ea typeface="宋体" charset="-122"/>
                        </a:rPr>
                        <a:t>，</a:t>
                      </a:r>
                      <a:r>
                        <a:rPr kumimoji="1" lang="en-US" altLang="zh-CN" sz="1600" b="0" i="0" u="none" strike="noStrike" cap="none" normalizeH="0" baseline="0" dirty="0">
                          <a:ln>
                            <a:noFill/>
                          </a:ln>
                          <a:solidFill>
                            <a:schemeClr val="tx1"/>
                          </a:solidFill>
                          <a:effectLst/>
                          <a:latin typeface="Times New Roman" pitchFamily="18" charset="0"/>
                          <a:ea typeface="宋体" charset="-122"/>
                        </a:rPr>
                        <a:t>INSERT</a:t>
                      </a:r>
                      <a:r>
                        <a:rPr kumimoji="1" lang="zh-CN" altLang="en-US" sz="1600" b="0" i="0" u="none" strike="noStrike" cap="none" normalizeH="0" baseline="0" dirty="0">
                          <a:ln>
                            <a:noFill/>
                          </a:ln>
                          <a:solidFill>
                            <a:schemeClr val="tx1"/>
                          </a:solidFill>
                          <a:effectLst/>
                          <a:latin typeface="Times New Roman" pitchFamily="18" charset="0"/>
                          <a:ea typeface="宋体" charset="-122"/>
                        </a:rPr>
                        <a:t>，</a:t>
                      </a:r>
                      <a:r>
                        <a:rPr kumimoji="1" lang="en-US" altLang="zh-CN" sz="1600" b="0" i="0" u="none" strike="noStrike" cap="none" normalizeH="0" baseline="0" dirty="0">
                          <a:ln>
                            <a:noFill/>
                          </a:ln>
                          <a:solidFill>
                            <a:schemeClr val="tx1"/>
                          </a:solidFill>
                          <a:effectLst/>
                          <a:latin typeface="Times New Roman" pitchFamily="18" charset="0"/>
                          <a:ea typeface="宋体" charset="-122"/>
                        </a:rPr>
                        <a:t>UPDATE</a:t>
                      </a:r>
                      <a:r>
                        <a:rPr kumimoji="1" lang="zh-CN" altLang="en-US" sz="1600" b="0" i="0" u="none" strike="noStrike" cap="none" normalizeH="0" baseline="0" dirty="0">
                          <a:ln>
                            <a:noFill/>
                          </a:ln>
                          <a:solidFill>
                            <a:schemeClr val="tx1"/>
                          </a:solidFill>
                          <a:effectLst/>
                          <a:latin typeface="Times New Roman" pitchFamily="18" charset="0"/>
                          <a:ea typeface="宋体" charset="-122"/>
                        </a:rPr>
                        <a:t>， </a:t>
                      </a:r>
                      <a:r>
                        <a:rPr kumimoji="1" lang="en-US" altLang="zh-CN" sz="1600" b="0" i="0" u="none" strike="noStrike" cap="none" normalizeH="0" baseline="0" dirty="0">
                          <a:ln>
                            <a:noFill/>
                          </a:ln>
                          <a:solidFill>
                            <a:srgbClr val="0000FF"/>
                          </a:solidFill>
                          <a:effectLst/>
                          <a:latin typeface="Times New Roman" pitchFamily="18" charset="0"/>
                          <a:ea typeface="宋体" charset="-122"/>
                        </a:rPr>
                        <a:t>REFERENCES</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0" i="0" u="none" strike="noStrike" cap="none" normalizeH="0" baseline="0" dirty="0">
                          <a:ln>
                            <a:noFill/>
                          </a:ln>
                          <a:solidFill>
                            <a:srgbClr val="FF0000"/>
                          </a:solidFill>
                          <a:effectLst/>
                          <a:latin typeface="Times New Roman" pitchFamily="18" charset="0"/>
                          <a:ea typeface="宋体" charset="-122"/>
                        </a:rPr>
                        <a:t>ALL PRIVILEGES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
        <p:nvSpPr>
          <p:cNvPr id="5" name="对话气泡: 圆角矩形 4">
            <a:extLst>
              <a:ext uri="{FF2B5EF4-FFF2-40B4-BE49-F238E27FC236}">
                <a16:creationId xmlns:a16="http://schemas.microsoft.com/office/drawing/2014/main" id="{7D8B6039-293A-4B0A-9493-932425A634DD}"/>
              </a:ext>
            </a:extLst>
          </p:cNvPr>
          <p:cNvSpPr/>
          <p:nvPr/>
        </p:nvSpPr>
        <p:spPr bwMode="auto">
          <a:xfrm>
            <a:off x="2195736" y="5487274"/>
            <a:ext cx="3568895" cy="1123712"/>
          </a:xfrm>
          <a:prstGeom prst="wedgeRoundRectCallout">
            <a:avLst>
              <a:gd name="adj1" fmla="val -73460"/>
              <a:gd name="adj2" fmla="val -82361"/>
              <a:gd name="adj3" fmla="val 1666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r>
              <a:rPr lang="en-US" altLang="zh-CN" sz="2000" dirty="0"/>
              <a:t>SQL</a:t>
            </a:r>
            <a:r>
              <a:rPr lang="zh-CN" altLang="en-US" sz="2000" dirty="0"/>
              <a:t>使用</a:t>
            </a:r>
            <a:r>
              <a:rPr lang="en-US" altLang="zh-CN" sz="2000" dirty="0"/>
              <a:t>Grant</a:t>
            </a:r>
            <a:r>
              <a:rPr lang="zh-CN" altLang="en-US" sz="2000" dirty="0"/>
              <a:t>和</a:t>
            </a:r>
            <a:r>
              <a:rPr lang="en-US" altLang="zh-CN" sz="2000" dirty="0"/>
              <a:t>Revoke</a:t>
            </a:r>
            <a:r>
              <a:rPr lang="zh-CN" altLang="en-US" sz="2000" dirty="0"/>
              <a:t>语句向用户授予或回收对</a:t>
            </a:r>
            <a:r>
              <a:rPr lang="zh-CN" altLang="en-US" sz="2000" dirty="0">
                <a:solidFill>
                  <a:srgbClr val="FF0000"/>
                </a:solidFill>
              </a:rPr>
              <a:t>数据</a:t>
            </a:r>
            <a:r>
              <a:rPr lang="zh-CN" altLang="en-US" sz="2000" dirty="0"/>
              <a:t>的操作权限</a:t>
            </a:r>
          </a:p>
        </p:txBody>
      </p:sp>
      <p:sp>
        <p:nvSpPr>
          <p:cNvPr id="4" name="灯片编号占位符 3">
            <a:extLst>
              <a:ext uri="{FF2B5EF4-FFF2-40B4-BE49-F238E27FC236}">
                <a16:creationId xmlns:a16="http://schemas.microsoft.com/office/drawing/2014/main" id="{4A982C7B-8669-015F-4417-2ECCFB6370F2}"/>
              </a:ext>
            </a:extLst>
          </p:cNvPr>
          <p:cNvSpPr>
            <a:spLocks noGrp="1"/>
          </p:cNvSpPr>
          <p:nvPr>
            <p:ph type="sldNum" sz="quarter" idx="12"/>
          </p:nvPr>
        </p:nvSpPr>
        <p:spPr/>
        <p:txBody>
          <a:bodyPr/>
          <a:lstStyle/>
          <a:p>
            <a:pPr>
              <a:defRPr/>
            </a:pPr>
            <a:fld id="{F5B95F93-1FA0-4470-9C7E-0F02488CAEB5}" type="slidenum">
              <a:rPr lang="en-US" altLang="zh-CN" smtClean="0"/>
              <a:pPr>
                <a:defRPr/>
              </a:pPr>
              <a:t>110</a:t>
            </a:fld>
            <a:r>
              <a:rPr lang="en-US" altLang="zh-CN"/>
              <a:t>/138</a:t>
            </a:r>
            <a:endParaRPr lang="zh-CN" altLang="en-US" dirty="0"/>
          </a:p>
        </p:txBody>
      </p:sp>
    </p:spTree>
    <p:extLst>
      <p:ext uri="{BB962C8B-B14F-4D97-AF65-F5344CB8AC3E}">
        <p14:creationId xmlns:p14="http://schemas.microsoft.com/office/powerpoint/2010/main" val="21154898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BFA3D7C-ED50-411B-8D05-4BDE1727A67E}"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07874" name="Rectangle 2"/>
          <p:cNvSpPr>
            <a:spLocks noGrp="1" noChangeArrowheads="1"/>
          </p:cNvSpPr>
          <p:nvPr>
            <p:ph type="title"/>
          </p:nvPr>
        </p:nvSpPr>
        <p:spPr/>
        <p:txBody>
          <a:bodyPr/>
          <a:lstStyle/>
          <a:p>
            <a:r>
              <a:rPr lang="en-US" altLang="zh-CN" dirty="0"/>
              <a:t>4.7.1,5,6 </a:t>
            </a:r>
            <a:r>
              <a:rPr lang="zh-CN" altLang="en-US" dirty="0"/>
              <a:t>权限的授予与回收</a:t>
            </a:r>
          </a:p>
        </p:txBody>
      </p:sp>
      <p:sp>
        <p:nvSpPr>
          <p:cNvPr id="207875" name="Rectangle 3"/>
          <p:cNvSpPr>
            <a:spLocks noGrp="1" noChangeArrowheads="1"/>
          </p:cNvSpPr>
          <p:nvPr>
            <p:ph type="body" idx="1"/>
          </p:nvPr>
        </p:nvSpPr>
        <p:spPr/>
        <p:txBody>
          <a:bodyPr/>
          <a:lstStyle/>
          <a:p>
            <a:r>
              <a:rPr lang="en-US" altLang="zh-CN" dirty="0"/>
              <a:t>SQL</a:t>
            </a:r>
            <a:r>
              <a:rPr lang="zh-CN" altLang="en-US" dirty="0"/>
              <a:t>的授权</a:t>
            </a:r>
          </a:p>
          <a:p>
            <a:pPr lvl="1"/>
            <a:r>
              <a:rPr lang="zh-CN" altLang="en-US" dirty="0">
                <a:solidFill>
                  <a:srgbClr val="C00000"/>
                </a:solidFill>
              </a:rPr>
              <a:t>授权语句 </a:t>
            </a:r>
            <a:r>
              <a:rPr lang="en-US" altLang="zh-CN" dirty="0">
                <a:solidFill>
                  <a:srgbClr val="C00000"/>
                </a:solidFill>
              </a:rPr>
              <a:t>GRANT</a:t>
            </a:r>
          </a:p>
          <a:p>
            <a:pPr lvl="1"/>
            <a:r>
              <a:rPr lang="zh-CN" altLang="en-US" b="1" dirty="0"/>
              <a:t>格式：</a:t>
            </a:r>
          </a:p>
          <a:p>
            <a:pPr lvl="1">
              <a:buFont typeface="Wingdings" pitchFamily="2" charset="2"/>
              <a:buNone/>
            </a:pPr>
            <a:r>
              <a:rPr lang="en-US" altLang="zh-CN" dirty="0">
                <a:solidFill>
                  <a:srgbClr val="F40000"/>
                </a:solidFill>
              </a:rPr>
              <a:t>GRANT</a:t>
            </a:r>
            <a:r>
              <a:rPr lang="en-US" altLang="zh-CN" dirty="0"/>
              <a:t> &lt;</a:t>
            </a:r>
            <a:r>
              <a:rPr lang="zh-CN" altLang="en-US" dirty="0"/>
              <a:t>权限</a:t>
            </a:r>
            <a:r>
              <a:rPr lang="en-US" altLang="zh-CN" dirty="0"/>
              <a:t>&gt;, [, &lt;</a:t>
            </a:r>
            <a:r>
              <a:rPr lang="zh-CN" altLang="en-US" dirty="0"/>
              <a:t>权限</a:t>
            </a:r>
            <a:r>
              <a:rPr lang="en-US" altLang="zh-CN" dirty="0"/>
              <a:t>&gt;]</a:t>
            </a:r>
            <a:r>
              <a:rPr lang="en-US" altLang="zh-CN" dirty="0">
                <a:latin typeface="Arial"/>
              </a:rPr>
              <a:t>…</a:t>
            </a:r>
            <a:endParaRPr lang="en-US" altLang="zh-CN" dirty="0"/>
          </a:p>
          <a:p>
            <a:pPr lvl="1">
              <a:buFont typeface="Wingdings" pitchFamily="2" charset="2"/>
              <a:buNone/>
            </a:pPr>
            <a:r>
              <a:rPr lang="en-US" altLang="zh-CN" dirty="0">
                <a:solidFill>
                  <a:srgbClr val="F40000"/>
                </a:solidFill>
              </a:rPr>
              <a:t>ON</a:t>
            </a:r>
            <a:r>
              <a:rPr lang="en-US" altLang="zh-CN" dirty="0"/>
              <a:t>      &lt;</a:t>
            </a:r>
            <a:r>
              <a:rPr lang="zh-CN" altLang="en-US" dirty="0">
                <a:solidFill>
                  <a:srgbClr val="0000FF"/>
                </a:solidFill>
              </a:rPr>
              <a:t>对象类型</a:t>
            </a:r>
            <a:r>
              <a:rPr lang="en-US" altLang="zh-CN" dirty="0"/>
              <a:t>&gt; &lt;</a:t>
            </a:r>
            <a:r>
              <a:rPr lang="zh-CN" altLang="en-US" dirty="0">
                <a:solidFill>
                  <a:srgbClr val="0000FF"/>
                </a:solidFill>
              </a:rPr>
              <a:t>对象名</a:t>
            </a:r>
            <a:r>
              <a:rPr lang="en-US" altLang="zh-CN" dirty="0"/>
              <a:t>&gt;[, &lt;</a:t>
            </a:r>
            <a:r>
              <a:rPr lang="zh-CN" altLang="en-US" dirty="0"/>
              <a:t>对象类型</a:t>
            </a:r>
            <a:r>
              <a:rPr lang="en-US" altLang="zh-CN" dirty="0"/>
              <a:t>&gt; &lt;</a:t>
            </a:r>
            <a:r>
              <a:rPr lang="zh-CN" altLang="en-US" dirty="0"/>
              <a:t>对象名</a:t>
            </a:r>
            <a:r>
              <a:rPr lang="en-US" altLang="zh-CN" dirty="0"/>
              <a:t>&gt;]</a:t>
            </a:r>
            <a:r>
              <a:rPr lang="en-US" altLang="zh-CN" dirty="0">
                <a:latin typeface="Arial"/>
              </a:rPr>
              <a:t>…</a:t>
            </a:r>
            <a:endParaRPr lang="en-US" altLang="zh-CN" dirty="0"/>
          </a:p>
          <a:p>
            <a:pPr lvl="1">
              <a:buFont typeface="Wingdings" pitchFamily="2" charset="2"/>
              <a:buNone/>
            </a:pPr>
            <a:r>
              <a:rPr lang="en-US" altLang="zh-CN" dirty="0">
                <a:solidFill>
                  <a:srgbClr val="F40000"/>
                </a:solidFill>
              </a:rPr>
              <a:t>TO     </a:t>
            </a:r>
            <a:r>
              <a:rPr lang="en-US" altLang="zh-CN" dirty="0"/>
              <a:t> &lt;</a:t>
            </a:r>
            <a:r>
              <a:rPr lang="zh-CN" altLang="en-US" dirty="0"/>
              <a:t>用户</a:t>
            </a:r>
            <a:r>
              <a:rPr lang="en-US" altLang="zh-CN" dirty="0"/>
              <a:t>&gt;[, &lt;</a:t>
            </a:r>
            <a:r>
              <a:rPr lang="zh-CN" altLang="en-US" dirty="0"/>
              <a:t>用户</a:t>
            </a:r>
            <a:r>
              <a:rPr lang="en-US" altLang="zh-CN" dirty="0"/>
              <a:t>&gt;]</a:t>
            </a:r>
            <a:r>
              <a:rPr lang="en-US" altLang="zh-CN" dirty="0">
                <a:latin typeface="Arial"/>
              </a:rPr>
              <a:t>…</a:t>
            </a:r>
            <a:endParaRPr lang="en-US" altLang="zh-CN" dirty="0"/>
          </a:p>
          <a:p>
            <a:pPr lvl="1">
              <a:buFont typeface="Wingdings" pitchFamily="2" charset="2"/>
              <a:buNone/>
            </a:pPr>
            <a:r>
              <a:rPr lang="en-US" altLang="zh-CN" dirty="0"/>
              <a:t>[</a:t>
            </a:r>
            <a:r>
              <a:rPr lang="en-US" altLang="zh-CN" dirty="0">
                <a:solidFill>
                  <a:srgbClr val="006600"/>
                </a:solidFill>
              </a:rPr>
              <a:t>WITH GRANT OPTION</a:t>
            </a:r>
            <a:r>
              <a:rPr lang="en-US" altLang="zh-CN" dirty="0"/>
              <a:t>];</a:t>
            </a:r>
          </a:p>
          <a:p>
            <a:endParaRPr lang="zh-CN" altLang="en-US" dirty="0"/>
          </a:p>
        </p:txBody>
      </p:sp>
      <p:sp>
        <p:nvSpPr>
          <p:cNvPr id="6" name="灯片编号占位符 5">
            <a:extLst>
              <a:ext uri="{FF2B5EF4-FFF2-40B4-BE49-F238E27FC236}">
                <a16:creationId xmlns:a16="http://schemas.microsoft.com/office/drawing/2014/main" id="{1DD2C376-4730-D910-E069-1B4B70EBF8E9}"/>
              </a:ext>
            </a:extLst>
          </p:cNvPr>
          <p:cNvSpPr>
            <a:spLocks noGrp="1"/>
          </p:cNvSpPr>
          <p:nvPr>
            <p:ph type="sldNum" sz="quarter" idx="12"/>
          </p:nvPr>
        </p:nvSpPr>
        <p:spPr/>
        <p:txBody>
          <a:bodyPr/>
          <a:lstStyle/>
          <a:p>
            <a:pPr>
              <a:defRPr/>
            </a:pPr>
            <a:fld id="{E0CD82EA-F7BE-454B-A83E-18830F6C5424}" type="slidenum">
              <a:rPr lang="en-US" altLang="zh-CN" smtClean="0"/>
              <a:pPr>
                <a:defRPr/>
              </a:pPr>
              <a:t>111</a:t>
            </a:fld>
            <a:r>
              <a:rPr lang="en-US" altLang="zh-CN"/>
              <a:t>/138</a:t>
            </a:r>
            <a:endParaRPr lang="zh-CN" altLang="en-US" dirty="0"/>
          </a:p>
        </p:txBody>
      </p:sp>
    </p:spTree>
    <p:extLst>
      <p:ext uri="{BB962C8B-B14F-4D97-AF65-F5344CB8AC3E}">
        <p14:creationId xmlns:p14="http://schemas.microsoft.com/office/powerpoint/2010/main" val="23108678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7875">
                                            <p:txEl>
                                              <p:pRg st="1" end="1"/>
                                            </p:txEl>
                                          </p:spTgt>
                                        </p:tgtEl>
                                        <p:attrNameLst>
                                          <p:attrName>style.visibility</p:attrName>
                                        </p:attrNameLst>
                                      </p:cBhvr>
                                      <p:to>
                                        <p:strVal val="visible"/>
                                      </p:to>
                                    </p:set>
                                    <p:anim calcmode="lin" valueType="num">
                                      <p:cBhvr additive="base">
                                        <p:cTn id="7" dur="500" fill="hold"/>
                                        <p:tgtEl>
                                          <p:spTgt spid="20787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78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7875">
                                            <p:txEl>
                                              <p:pRg st="2" end="2"/>
                                            </p:txEl>
                                          </p:spTgt>
                                        </p:tgtEl>
                                        <p:attrNameLst>
                                          <p:attrName>style.visibility</p:attrName>
                                        </p:attrNameLst>
                                      </p:cBhvr>
                                      <p:to>
                                        <p:strVal val="visible"/>
                                      </p:to>
                                    </p:set>
                                    <p:anim calcmode="lin" valueType="num">
                                      <p:cBhvr additive="base">
                                        <p:cTn id="13" dur="500" fill="hold"/>
                                        <p:tgtEl>
                                          <p:spTgt spid="20787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7875">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07875">
                                            <p:txEl>
                                              <p:pRg st="3" end="3"/>
                                            </p:txEl>
                                          </p:spTgt>
                                        </p:tgtEl>
                                        <p:attrNameLst>
                                          <p:attrName>style.visibility</p:attrName>
                                        </p:attrNameLst>
                                      </p:cBhvr>
                                      <p:to>
                                        <p:strVal val="visible"/>
                                      </p:to>
                                    </p:set>
                                    <p:anim calcmode="lin" valueType="num">
                                      <p:cBhvr additive="base">
                                        <p:cTn id="17" dur="500" fill="hold"/>
                                        <p:tgtEl>
                                          <p:spTgt spid="20787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07875">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07875">
                                            <p:txEl>
                                              <p:pRg st="4" end="4"/>
                                            </p:txEl>
                                          </p:spTgt>
                                        </p:tgtEl>
                                        <p:attrNameLst>
                                          <p:attrName>style.visibility</p:attrName>
                                        </p:attrNameLst>
                                      </p:cBhvr>
                                      <p:to>
                                        <p:strVal val="visible"/>
                                      </p:to>
                                    </p:set>
                                    <p:anim calcmode="lin" valueType="num">
                                      <p:cBhvr additive="base">
                                        <p:cTn id="21" dur="500" fill="hold"/>
                                        <p:tgtEl>
                                          <p:spTgt spid="207875">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7875">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07875">
                                            <p:txEl>
                                              <p:pRg st="5" end="5"/>
                                            </p:txEl>
                                          </p:spTgt>
                                        </p:tgtEl>
                                        <p:attrNameLst>
                                          <p:attrName>style.visibility</p:attrName>
                                        </p:attrNameLst>
                                      </p:cBhvr>
                                      <p:to>
                                        <p:strVal val="visible"/>
                                      </p:to>
                                    </p:set>
                                    <p:anim calcmode="lin" valueType="num">
                                      <p:cBhvr additive="base">
                                        <p:cTn id="25" dur="500" fill="hold"/>
                                        <p:tgtEl>
                                          <p:spTgt spid="20787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7875">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07875">
                                            <p:txEl>
                                              <p:pRg st="6" end="6"/>
                                            </p:txEl>
                                          </p:spTgt>
                                        </p:tgtEl>
                                        <p:attrNameLst>
                                          <p:attrName>style.visibility</p:attrName>
                                        </p:attrNameLst>
                                      </p:cBhvr>
                                      <p:to>
                                        <p:strVal val="visible"/>
                                      </p:to>
                                    </p:set>
                                    <p:anim calcmode="lin" valueType="num">
                                      <p:cBhvr additive="base">
                                        <p:cTn id="29" dur="500" fill="hold"/>
                                        <p:tgtEl>
                                          <p:spTgt spid="207875">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0787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3727245-6E2D-4C75-BA9B-DB28FE427B82}"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07874" name="Rectangle 2"/>
          <p:cNvSpPr>
            <a:spLocks noGrp="1" noChangeArrowheads="1"/>
          </p:cNvSpPr>
          <p:nvPr>
            <p:ph type="title"/>
          </p:nvPr>
        </p:nvSpPr>
        <p:spPr/>
        <p:txBody>
          <a:bodyPr/>
          <a:lstStyle/>
          <a:p>
            <a:r>
              <a:rPr lang="en-US" altLang="zh-CN" dirty="0"/>
              <a:t>4.7.1,5,6 </a:t>
            </a:r>
            <a:r>
              <a:rPr lang="zh-CN" altLang="en-US" dirty="0"/>
              <a:t>权限的授予与回收</a:t>
            </a:r>
          </a:p>
        </p:txBody>
      </p:sp>
      <p:sp>
        <p:nvSpPr>
          <p:cNvPr id="8" name="Rectangle 3"/>
          <p:cNvSpPr txBox="1">
            <a:spLocks noChangeArrowheads="1"/>
          </p:cNvSpPr>
          <p:nvPr/>
        </p:nvSpPr>
        <p:spPr bwMode="auto">
          <a:xfrm>
            <a:off x="609600" y="14478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lnSpc>
                <a:spcPct val="120000"/>
              </a:lnSpc>
            </a:pPr>
            <a:r>
              <a:rPr kumimoji="0" lang="en-US" altLang="zh-CN" kern="0" dirty="0">
                <a:ea typeface="宋体" charset="-122"/>
              </a:rPr>
              <a:t>WITH GRANT OPTION</a:t>
            </a:r>
            <a:r>
              <a:rPr kumimoji="0" lang="zh-CN" altLang="en-US" kern="0" dirty="0">
                <a:ea typeface="宋体" charset="-122"/>
              </a:rPr>
              <a:t>子句</a:t>
            </a:r>
            <a:r>
              <a:rPr kumimoji="0" lang="en-US" altLang="zh-CN" kern="0" dirty="0">
                <a:ea typeface="宋体" charset="-122"/>
              </a:rPr>
              <a:t>:</a:t>
            </a:r>
          </a:p>
          <a:p>
            <a:pPr lvl="1">
              <a:lnSpc>
                <a:spcPct val="120000"/>
              </a:lnSpc>
            </a:pPr>
            <a:r>
              <a:rPr kumimoji="0" lang="zh-CN" altLang="en-US" kern="0" dirty="0">
                <a:ea typeface="宋体" charset="-122"/>
              </a:rPr>
              <a:t>指定：可以</a:t>
            </a:r>
            <a:r>
              <a:rPr kumimoji="0" lang="zh-CN" altLang="en-US" kern="0" dirty="0">
                <a:solidFill>
                  <a:srgbClr val="E02920"/>
                </a:solidFill>
                <a:ea typeface="宋体" charset="-122"/>
              </a:rPr>
              <a:t>再授予</a:t>
            </a:r>
          </a:p>
          <a:p>
            <a:pPr lvl="1">
              <a:lnSpc>
                <a:spcPct val="120000"/>
              </a:lnSpc>
            </a:pPr>
            <a:r>
              <a:rPr kumimoji="0" lang="zh-CN" altLang="en-US" kern="0" dirty="0">
                <a:ea typeface="宋体" charset="-122"/>
              </a:rPr>
              <a:t>没有指定：</a:t>
            </a:r>
            <a:r>
              <a:rPr kumimoji="0" lang="zh-CN" altLang="en-US" kern="0" dirty="0">
                <a:solidFill>
                  <a:srgbClr val="E02920"/>
                </a:solidFill>
                <a:ea typeface="宋体" charset="-122"/>
              </a:rPr>
              <a:t>不能传播</a:t>
            </a:r>
          </a:p>
          <a:p>
            <a:pPr lvl="1">
              <a:lnSpc>
                <a:spcPct val="120000"/>
              </a:lnSpc>
            </a:pPr>
            <a:endParaRPr kumimoji="0" lang="zh-CN" altLang="en-US" kern="0" dirty="0">
              <a:ea typeface="宋体" charset="-122"/>
            </a:endParaRPr>
          </a:p>
          <a:p>
            <a:pPr>
              <a:lnSpc>
                <a:spcPct val="120000"/>
              </a:lnSpc>
            </a:pPr>
            <a:r>
              <a:rPr kumimoji="0" lang="zh-CN" altLang="en-US" kern="0" dirty="0">
                <a:solidFill>
                  <a:srgbClr val="FF0000"/>
                </a:solidFill>
                <a:ea typeface="宋体" charset="-122"/>
              </a:rPr>
              <a:t>不允许</a:t>
            </a:r>
            <a:r>
              <a:rPr kumimoji="0" lang="zh-CN" altLang="en-US" kern="0" dirty="0">
                <a:ea typeface="宋体" charset="-122"/>
              </a:rPr>
              <a:t>循环授权</a:t>
            </a:r>
          </a:p>
        </p:txBody>
      </p:sp>
      <p:pic>
        <p:nvPicPr>
          <p:cNvPr id="9" name="Picture 4" descr="4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84438" y="4773613"/>
            <a:ext cx="3744912" cy="865187"/>
          </a:xfrm>
          <a:prstGeom prst="rect">
            <a:avLst/>
          </a:prstGeom>
          <a:noFill/>
          <a:extLst>
            <a:ext uri="{909E8E84-426E-40DD-AFC4-6F175D3DCCD1}">
              <a14:hiddenFill xmlns:a14="http://schemas.microsoft.com/office/drawing/2010/main">
                <a:solidFill>
                  <a:srgbClr val="FFFFFF"/>
                </a:solidFill>
              </a14:hiddenFill>
            </a:ext>
          </a:extLst>
        </p:spPr>
      </p:pic>
      <p:sp>
        <p:nvSpPr>
          <p:cNvPr id="2" name="乘号 1"/>
          <p:cNvSpPr/>
          <p:nvPr/>
        </p:nvSpPr>
        <p:spPr bwMode="auto">
          <a:xfrm>
            <a:off x="4038600" y="5158581"/>
            <a:ext cx="762000" cy="762000"/>
          </a:xfrm>
          <a:prstGeom prst="mathMultiply">
            <a:avLst/>
          </a:prstGeom>
          <a:solidFill>
            <a:srgbClr val="FF0000"/>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charset="-122"/>
              <a:cs typeface="Arial" charset="0"/>
            </a:endParaRPr>
          </a:p>
        </p:txBody>
      </p:sp>
      <p:sp>
        <p:nvSpPr>
          <p:cNvPr id="7" name="灯片编号占位符 6">
            <a:extLst>
              <a:ext uri="{FF2B5EF4-FFF2-40B4-BE49-F238E27FC236}">
                <a16:creationId xmlns:a16="http://schemas.microsoft.com/office/drawing/2014/main" id="{76901FE1-037B-F832-A0E1-1025F550E236}"/>
              </a:ext>
            </a:extLst>
          </p:cNvPr>
          <p:cNvSpPr>
            <a:spLocks noGrp="1"/>
          </p:cNvSpPr>
          <p:nvPr>
            <p:ph type="sldNum" sz="quarter" idx="12"/>
          </p:nvPr>
        </p:nvSpPr>
        <p:spPr/>
        <p:txBody>
          <a:bodyPr/>
          <a:lstStyle/>
          <a:p>
            <a:pPr>
              <a:defRPr/>
            </a:pPr>
            <a:fld id="{E0CD82EA-F7BE-454B-A83E-18830F6C5424}" type="slidenum">
              <a:rPr lang="en-US" altLang="zh-CN" smtClean="0"/>
              <a:pPr>
                <a:defRPr/>
              </a:pPr>
              <a:t>112</a:t>
            </a:fld>
            <a:r>
              <a:rPr lang="en-US" altLang="zh-CN"/>
              <a:t>/138</a:t>
            </a:r>
            <a:endParaRPr lang="zh-CN" altLang="en-US" dirty="0"/>
          </a:p>
        </p:txBody>
      </p:sp>
    </p:spTree>
    <p:extLst>
      <p:ext uri="{BB962C8B-B14F-4D97-AF65-F5344CB8AC3E}">
        <p14:creationId xmlns:p14="http://schemas.microsoft.com/office/powerpoint/2010/main" val="4788238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 calcmode="lin" valueType="num">
                                      <p:cBhvr additive="base">
                                        <p:cTn id="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animEffect transition="in" filter="fade">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903D0C80-4BCF-4B26-A565-801E683CE7A4}"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07874" name="Rectangle 2"/>
          <p:cNvSpPr>
            <a:spLocks noGrp="1" noChangeArrowheads="1"/>
          </p:cNvSpPr>
          <p:nvPr>
            <p:ph type="title"/>
          </p:nvPr>
        </p:nvSpPr>
        <p:spPr/>
        <p:txBody>
          <a:bodyPr/>
          <a:lstStyle/>
          <a:p>
            <a:r>
              <a:rPr lang="en-US" altLang="zh-CN" dirty="0"/>
              <a:t>4.7.1,5,6 </a:t>
            </a:r>
            <a:r>
              <a:rPr lang="zh-CN" altLang="en-US" dirty="0"/>
              <a:t>权限的授予与回收</a:t>
            </a:r>
          </a:p>
        </p:txBody>
      </p:sp>
      <p:sp>
        <p:nvSpPr>
          <p:cNvPr id="8" name="Rectangle 3"/>
          <p:cNvSpPr txBox="1">
            <a:spLocks noChangeArrowheads="1"/>
          </p:cNvSpPr>
          <p:nvPr/>
        </p:nvSpPr>
        <p:spPr bwMode="auto">
          <a:xfrm>
            <a:off x="609600" y="1357298"/>
            <a:ext cx="7772400" cy="4857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lnSpc>
                <a:spcPct val="150000"/>
              </a:lnSpc>
              <a:spcBef>
                <a:spcPct val="0"/>
              </a:spcBef>
            </a:pPr>
            <a:r>
              <a:rPr lang="zh-CN" altLang="en-US" dirty="0"/>
              <a:t>发出</a:t>
            </a:r>
            <a:r>
              <a:rPr lang="en-US" altLang="zh-CN" dirty="0"/>
              <a:t>GRANT</a:t>
            </a:r>
            <a:r>
              <a:rPr lang="zh-CN" altLang="en-US" dirty="0"/>
              <a:t>：</a:t>
            </a:r>
          </a:p>
          <a:p>
            <a:pPr lvl="1">
              <a:lnSpc>
                <a:spcPct val="150000"/>
              </a:lnSpc>
              <a:spcBef>
                <a:spcPct val="0"/>
              </a:spcBef>
              <a:buSzPct val="75000"/>
            </a:pPr>
            <a:r>
              <a:rPr lang="zh-CN" altLang="en-US" sz="2600" dirty="0"/>
              <a:t>数据库管理员</a:t>
            </a:r>
            <a:endParaRPr lang="en-US" altLang="zh-CN" sz="2600" dirty="0"/>
          </a:p>
          <a:p>
            <a:pPr lvl="1">
              <a:lnSpc>
                <a:spcPct val="150000"/>
              </a:lnSpc>
              <a:spcBef>
                <a:spcPct val="0"/>
              </a:spcBef>
              <a:buSzPct val="75000"/>
            </a:pPr>
            <a:r>
              <a:rPr lang="zh-CN" altLang="en-US" sz="2600" dirty="0"/>
              <a:t>数据库对象创建者（即属主</a:t>
            </a:r>
            <a:r>
              <a:rPr lang="en-US" altLang="zh-CN" sz="2600" dirty="0"/>
              <a:t>Owner</a:t>
            </a:r>
            <a:r>
              <a:rPr lang="zh-CN" altLang="en-US" sz="2600" dirty="0"/>
              <a:t>）</a:t>
            </a:r>
          </a:p>
          <a:p>
            <a:pPr lvl="1">
              <a:lnSpc>
                <a:spcPct val="150000"/>
              </a:lnSpc>
              <a:spcBef>
                <a:spcPct val="0"/>
              </a:spcBef>
              <a:buSzPct val="75000"/>
            </a:pPr>
            <a:r>
              <a:rPr lang="zh-CN" altLang="en-US" sz="2600" dirty="0"/>
              <a:t>拥有该权限的用户</a:t>
            </a:r>
          </a:p>
          <a:p>
            <a:pPr>
              <a:lnSpc>
                <a:spcPct val="150000"/>
              </a:lnSpc>
              <a:spcBef>
                <a:spcPct val="0"/>
              </a:spcBef>
            </a:pPr>
            <a:r>
              <a:rPr lang="zh-CN" altLang="en-US" dirty="0"/>
              <a:t>接受权限的用户 </a:t>
            </a:r>
          </a:p>
          <a:p>
            <a:pPr lvl="1">
              <a:lnSpc>
                <a:spcPct val="150000"/>
              </a:lnSpc>
              <a:spcBef>
                <a:spcPct val="0"/>
              </a:spcBef>
              <a:buSzPct val="75000"/>
            </a:pPr>
            <a:r>
              <a:rPr lang="zh-CN" altLang="en-US" sz="2600" dirty="0"/>
              <a:t>一个或多个具体用户</a:t>
            </a:r>
          </a:p>
          <a:p>
            <a:pPr lvl="1">
              <a:lnSpc>
                <a:spcPct val="150000"/>
              </a:lnSpc>
              <a:spcBef>
                <a:spcPct val="0"/>
              </a:spcBef>
              <a:buSzPct val="75000"/>
            </a:pPr>
            <a:r>
              <a:rPr lang="en-US" altLang="zh-CN" sz="2600" dirty="0">
                <a:solidFill>
                  <a:srgbClr val="C00000"/>
                </a:solidFill>
              </a:rPr>
              <a:t>PUBLIC</a:t>
            </a:r>
            <a:r>
              <a:rPr lang="zh-CN" altLang="en-US" sz="2600" dirty="0"/>
              <a:t>（即全体用户）</a:t>
            </a:r>
          </a:p>
        </p:txBody>
      </p:sp>
      <p:sp>
        <p:nvSpPr>
          <p:cNvPr id="6" name="灯片编号占位符 5">
            <a:extLst>
              <a:ext uri="{FF2B5EF4-FFF2-40B4-BE49-F238E27FC236}">
                <a16:creationId xmlns:a16="http://schemas.microsoft.com/office/drawing/2014/main" id="{F60C7178-EC83-C1E3-DAE7-82009903B9F1}"/>
              </a:ext>
            </a:extLst>
          </p:cNvPr>
          <p:cNvSpPr>
            <a:spLocks noGrp="1"/>
          </p:cNvSpPr>
          <p:nvPr>
            <p:ph type="sldNum" sz="quarter" idx="12"/>
          </p:nvPr>
        </p:nvSpPr>
        <p:spPr/>
        <p:txBody>
          <a:bodyPr/>
          <a:lstStyle/>
          <a:p>
            <a:pPr>
              <a:defRPr/>
            </a:pPr>
            <a:fld id="{E0CD82EA-F7BE-454B-A83E-18830F6C5424}" type="slidenum">
              <a:rPr lang="en-US" altLang="zh-CN" smtClean="0"/>
              <a:pPr>
                <a:defRPr/>
              </a:pPr>
              <a:t>113</a:t>
            </a:fld>
            <a:r>
              <a:rPr lang="en-US" altLang="zh-CN"/>
              <a:t>/138</a:t>
            </a:r>
            <a:endParaRPr lang="zh-CN" altLang="en-US" dirty="0"/>
          </a:p>
        </p:txBody>
      </p:sp>
    </p:spTree>
    <p:extLst>
      <p:ext uri="{BB962C8B-B14F-4D97-AF65-F5344CB8AC3E}">
        <p14:creationId xmlns:p14="http://schemas.microsoft.com/office/powerpoint/2010/main" val="1356082882"/>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BB98C39-5560-4D26-A6B5-40B9F98F6EE3}"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08898" name="Rectangle 2"/>
          <p:cNvSpPr>
            <a:spLocks noGrp="1" noChangeArrowheads="1"/>
          </p:cNvSpPr>
          <p:nvPr>
            <p:ph type="title"/>
          </p:nvPr>
        </p:nvSpPr>
        <p:spPr/>
        <p:txBody>
          <a:bodyPr/>
          <a:lstStyle/>
          <a:p>
            <a:r>
              <a:rPr lang="en-US" altLang="zh-CN" dirty="0"/>
              <a:t>4.7.1,5,6 </a:t>
            </a:r>
            <a:r>
              <a:rPr lang="zh-CN" altLang="en-US" dirty="0"/>
              <a:t>权限的授予与回收</a:t>
            </a:r>
          </a:p>
        </p:txBody>
      </p:sp>
      <p:sp>
        <p:nvSpPr>
          <p:cNvPr id="208899" name="Rectangle 3"/>
          <p:cNvSpPr>
            <a:spLocks noGrp="1" noChangeArrowheads="1"/>
          </p:cNvSpPr>
          <p:nvPr>
            <p:ph type="body" idx="1"/>
          </p:nvPr>
        </p:nvSpPr>
        <p:spPr>
          <a:xfrm>
            <a:off x="609600" y="1447800"/>
            <a:ext cx="8382000" cy="4953000"/>
          </a:xfrm>
        </p:spPr>
        <p:txBody>
          <a:bodyPr/>
          <a:lstStyle/>
          <a:p>
            <a:pPr>
              <a:lnSpc>
                <a:spcPct val="90000"/>
              </a:lnSpc>
            </a:pPr>
            <a:r>
              <a:rPr lang="zh-CN" altLang="en-US" sz="3000" dirty="0"/>
              <a:t>例</a:t>
            </a:r>
            <a:r>
              <a:rPr lang="en-US" altLang="zh-CN" sz="3000" dirty="0"/>
              <a:t>1</a:t>
            </a:r>
            <a:r>
              <a:rPr lang="zh-CN" altLang="en-US" sz="3000" dirty="0"/>
              <a:t>：把查询</a:t>
            </a:r>
            <a:r>
              <a:rPr lang="en-US" altLang="zh-CN" sz="3000" dirty="0"/>
              <a:t>Student</a:t>
            </a:r>
            <a:r>
              <a:rPr lang="zh-CN" altLang="en-US" sz="3000" dirty="0"/>
              <a:t>表的权限授给</a:t>
            </a:r>
            <a:r>
              <a:rPr lang="en-US" altLang="zh-CN" sz="3000" dirty="0"/>
              <a:t>U1</a:t>
            </a:r>
            <a:r>
              <a:rPr lang="zh-CN" altLang="en-US" sz="3000" dirty="0"/>
              <a:t>。</a:t>
            </a:r>
          </a:p>
          <a:p>
            <a:pPr>
              <a:lnSpc>
                <a:spcPct val="90000"/>
              </a:lnSpc>
              <a:buFont typeface="Wingdings" pitchFamily="2" charset="2"/>
              <a:buNone/>
            </a:pPr>
            <a:r>
              <a:rPr lang="zh-CN" altLang="en-US" dirty="0"/>
              <a:t>    </a:t>
            </a:r>
            <a:r>
              <a:rPr lang="en-US" altLang="zh-CN" dirty="0">
                <a:solidFill>
                  <a:srgbClr val="0000FF"/>
                </a:solidFill>
              </a:rPr>
              <a:t>GRANT</a:t>
            </a:r>
            <a:r>
              <a:rPr lang="en-US" altLang="zh-CN" dirty="0"/>
              <a:t> SELECT </a:t>
            </a:r>
          </a:p>
          <a:p>
            <a:pPr>
              <a:lnSpc>
                <a:spcPct val="90000"/>
              </a:lnSpc>
              <a:buNone/>
            </a:pPr>
            <a:r>
              <a:rPr lang="en-US" altLang="zh-CN" dirty="0"/>
              <a:t>    </a:t>
            </a:r>
            <a:r>
              <a:rPr lang="en-US" altLang="zh-CN" dirty="0">
                <a:solidFill>
                  <a:srgbClr val="0000FF"/>
                </a:solidFill>
              </a:rPr>
              <a:t>ON</a:t>
            </a:r>
            <a:r>
              <a:rPr lang="en-US" altLang="zh-CN" dirty="0"/>
              <a:t> </a:t>
            </a:r>
            <a:r>
              <a:rPr lang="en-US" altLang="zh-CN" dirty="0">
                <a:solidFill>
                  <a:srgbClr val="006600"/>
                </a:solidFill>
                <a:ea typeface="宋体" charset="-122"/>
              </a:rPr>
              <a:t>TABLE</a:t>
            </a:r>
            <a:r>
              <a:rPr lang="en-US" altLang="zh-CN" dirty="0">
                <a:ea typeface="宋体" charset="-122"/>
              </a:rPr>
              <a:t> </a:t>
            </a:r>
            <a:r>
              <a:rPr lang="en-US" altLang="zh-CN" dirty="0"/>
              <a:t>Student</a:t>
            </a:r>
          </a:p>
          <a:p>
            <a:pPr>
              <a:lnSpc>
                <a:spcPct val="90000"/>
              </a:lnSpc>
              <a:buFont typeface="Wingdings" pitchFamily="2" charset="2"/>
              <a:buNone/>
            </a:pPr>
            <a:r>
              <a:rPr lang="en-US" altLang="zh-CN" dirty="0"/>
              <a:t>    </a:t>
            </a:r>
            <a:r>
              <a:rPr lang="en-US" altLang="zh-CN" dirty="0">
                <a:solidFill>
                  <a:srgbClr val="0000FF"/>
                </a:solidFill>
              </a:rPr>
              <a:t>TO</a:t>
            </a:r>
            <a:r>
              <a:rPr lang="en-US" altLang="zh-CN" dirty="0"/>
              <a:t> U1; </a:t>
            </a:r>
            <a:r>
              <a:rPr lang="en-US" altLang="zh-CN" sz="2800" dirty="0"/>
              <a:t>//U1</a:t>
            </a:r>
            <a:r>
              <a:rPr lang="zh-CN" altLang="en-US" sz="2800" dirty="0"/>
              <a:t>拥有了在</a:t>
            </a:r>
            <a:r>
              <a:rPr lang="en-US" altLang="zh-CN" sz="2800" dirty="0"/>
              <a:t>student</a:t>
            </a:r>
            <a:r>
              <a:rPr lang="zh-CN" altLang="en-US" sz="2800" dirty="0"/>
              <a:t>上的查询权限</a:t>
            </a:r>
            <a:endParaRPr lang="en-US" altLang="zh-CN" sz="2800" dirty="0"/>
          </a:p>
          <a:p>
            <a:pPr>
              <a:lnSpc>
                <a:spcPct val="90000"/>
              </a:lnSpc>
            </a:pPr>
            <a:endParaRPr lang="zh-CN" altLang="en-US" sz="900" dirty="0"/>
          </a:p>
          <a:p>
            <a:pPr>
              <a:lnSpc>
                <a:spcPct val="90000"/>
              </a:lnSpc>
            </a:pPr>
            <a:r>
              <a:rPr lang="zh-CN" altLang="en-US" sz="3000" dirty="0"/>
              <a:t>例</a:t>
            </a:r>
            <a:r>
              <a:rPr lang="en-US" altLang="zh-CN" sz="3000" dirty="0"/>
              <a:t>2</a:t>
            </a:r>
            <a:r>
              <a:rPr lang="zh-CN" altLang="en-US" sz="3000" dirty="0"/>
              <a:t>：将</a:t>
            </a:r>
            <a:r>
              <a:rPr lang="en-US" altLang="zh-CN" sz="3000" dirty="0"/>
              <a:t>Student, Course</a:t>
            </a:r>
            <a:r>
              <a:rPr lang="zh-CN" altLang="en-US" sz="3000" dirty="0"/>
              <a:t>两个表上的全部权限授给</a:t>
            </a:r>
            <a:r>
              <a:rPr lang="en-US" altLang="zh-CN" sz="3000" dirty="0"/>
              <a:t>U2</a:t>
            </a:r>
            <a:r>
              <a:rPr lang="zh-CN" altLang="en-US" sz="3000" dirty="0"/>
              <a:t>，</a:t>
            </a:r>
            <a:r>
              <a:rPr lang="en-US" altLang="zh-CN" sz="3000" dirty="0"/>
              <a:t>U3</a:t>
            </a:r>
            <a:r>
              <a:rPr lang="zh-CN" altLang="en-US" sz="3000" dirty="0"/>
              <a:t>。</a:t>
            </a:r>
          </a:p>
          <a:p>
            <a:pPr>
              <a:lnSpc>
                <a:spcPct val="90000"/>
              </a:lnSpc>
              <a:buFont typeface="Wingdings" pitchFamily="2" charset="2"/>
              <a:buNone/>
            </a:pPr>
            <a:r>
              <a:rPr lang="zh-CN" altLang="en-US" dirty="0"/>
              <a:t>    </a:t>
            </a:r>
            <a:r>
              <a:rPr lang="en-US" altLang="zh-CN" dirty="0">
                <a:solidFill>
                  <a:srgbClr val="0000FF"/>
                </a:solidFill>
              </a:rPr>
              <a:t>GRANT</a:t>
            </a:r>
            <a:r>
              <a:rPr lang="en-US" altLang="zh-CN" dirty="0"/>
              <a:t> </a:t>
            </a:r>
            <a:r>
              <a:rPr lang="en-US" altLang="zh-CN" dirty="0">
                <a:solidFill>
                  <a:srgbClr val="FF0000"/>
                </a:solidFill>
              </a:rPr>
              <a:t>ALL PRIVILEGES</a:t>
            </a:r>
          </a:p>
          <a:p>
            <a:pPr>
              <a:lnSpc>
                <a:spcPct val="90000"/>
              </a:lnSpc>
              <a:buNone/>
            </a:pPr>
            <a:r>
              <a:rPr lang="en-US" altLang="zh-CN" dirty="0"/>
              <a:t>    </a:t>
            </a:r>
            <a:r>
              <a:rPr lang="en-US" altLang="zh-CN" dirty="0">
                <a:solidFill>
                  <a:srgbClr val="0000FF"/>
                </a:solidFill>
              </a:rPr>
              <a:t>ON</a:t>
            </a:r>
            <a:r>
              <a:rPr lang="en-US" altLang="zh-CN" dirty="0"/>
              <a:t> </a:t>
            </a:r>
            <a:r>
              <a:rPr lang="en-US" altLang="zh-CN" dirty="0">
                <a:solidFill>
                  <a:srgbClr val="006600"/>
                </a:solidFill>
                <a:ea typeface="宋体" charset="-122"/>
              </a:rPr>
              <a:t>TABLE </a:t>
            </a:r>
            <a:r>
              <a:rPr lang="en-US" altLang="zh-CN" dirty="0"/>
              <a:t>Student, Course</a:t>
            </a:r>
          </a:p>
          <a:p>
            <a:pPr>
              <a:lnSpc>
                <a:spcPct val="90000"/>
              </a:lnSpc>
              <a:buNone/>
            </a:pPr>
            <a:r>
              <a:rPr lang="en-US" altLang="zh-CN" dirty="0"/>
              <a:t>    </a:t>
            </a:r>
            <a:r>
              <a:rPr lang="en-US" altLang="zh-CN" dirty="0">
                <a:solidFill>
                  <a:srgbClr val="0000FF"/>
                </a:solidFill>
              </a:rPr>
              <a:t>TO</a:t>
            </a:r>
            <a:r>
              <a:rPr lang="en-US" altLang="zh-CN" dirty="0"/>
              <a:t> U2,U3; </a:t>
            </a:r>
            <a:r>
              <a:rPr lang="en-US" altLang="zh-CN" sz="2000" dirty="0"/>
              <a:t>//U2,U3</a:t>
            </a:r>
            <a:r>
              <a:rPr lang="zh-CN" altLang="en-US" sz="2000" dirty="0"/>
              <a:t>拥有了在</a:t>
            </a:r>
            <a:r>
              <a:rPr lang="en-US" altLang="zh-CN" sz="2000" dirty="0"/>
              <a:t>student</a:t>
            </a:r>
            <a:r>
              <a:rPr lang="zh-CN" altLang="en-US" sz="2000" dirty="0"/>
              <a:t>、</a:t>
            </a:r>
            <a:r>
              <a:rPr lang="en-US" altLang="zh-CN" sz="2000" dirty="0"/>
              <a:t>course</a:t>
            </a:r>
            <a:r>
              <a:rPr lang="zh-CN" altLang="en-US" sz="2000" dirty="0"/>
              <a:t>上的全部权限</a:t>
            </a:r>
            <a:endParaRPr lang="zh-CN" altLang="en-US" dirty="0"/>
          </a:p>
        </p:txBody>
      </p:sp>
      <p:sp>
        <p:nvSpPr>
          <p:cNvPr id="6" name="灯片编号占位符 5">
            <a:extLst>
              <a:ext uri="{FF2B5EF4-FFF2-40B4-BE49-F238E27FC236}">
                <a16:creationId xmlns:a16="http://schemas.microsoft.com/office/drawing/2014/main" id="{1F48DE30-2C4E-785B-CF5B-5980E82B4552}"/>
              </a:ext>
            </a:extLst>
          </p:cNvPr>
          <p:cNvSpPr>
            <a:spLocks noGrp="1"/>
          </p:cNvSpPr>
          <p:nvPr>
            <p:ph type="sldNum" sz="quarter" idx="12"/>
          </p:nvPr>
        </p:nvSpPr>
        <p:spPr/>
        <p:txBody>
          <a:bodyPr/>
          <a:lstStyle/>
          <a:p>
            <a:pPr>
              <a:defRPr/>
            </a:pPr>
            <a:fld id="{E0CD82EA-F7BE-454B-A83E-18830F6C5424}" type="slidenum">
              <a:rPr lang="en-US" altLang="zh-CN" smtClean="0"/>
              <a:pPr>
                <a:defRPr/>
              </a:pPr>
              <a:t>114</a:t>
            </a:fld>
            <a:r>
              <a:rPr lang="en-US" altLang="zh-CN"/>
              <a:t>/138</a:t>
            </a:r>
            <a:endParaRPr lang="zh-CN" altLang="en-US" dirty="0"/>
          </a:p>
        </p:txBody>
      </p:sp>
    </p:spTree>
    <p:extLst>
      <p:ext uri="{BB962C8B-B14F-4D97-AF65-F5344CB8AC3E}">
        <p14:creationId xmlns:p14="http://schemas.microsoft.com/office/powerpoint/2010/main" val="4667764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8899">
                                            <p:txEl>
                                              <p:pRg st="0" end="0"/>
                                            </p:txEl>
                                          </p:spTgt>
                                        </p:tgtEl>
                                        <p:attrNameLst>
                                          <p:attrName>style.visibility</p:attrName>
                                        </p:attrNameLst>
                                      </p:cBhvr>
                                      <p:to>
                                        <p:strVal val="visible"/>
                                      </p:to>
                                    </p:set>
                                    <p:anim calcmode="lin" valueType="num">
                                      <p:cBhvr additive="base">
                                        <p:cTn id="7" dur="500" fill="hold"/>
                                        <p:tgtEl>
                                          <p:spTgt spid="2088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88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8899">
                                            <p:txEl>
                                              <p:pRg st="1" end="1"/>
                                            </p:txEl>
                                          </p:spTgt>
                                        </p:tgtEl>
                                        <p:attrNameLst>
                                          <p:attrName>style.visibility</p:attrName>
                                        </p:attrNameLst>
                                      </p:cBhvr>
                                      <p:to>
                                        <p:strVal val="visible"/>
                                      </p:to>
                                    </p:set>
                                    <p:anim calcmode="lin" valueType="num">
                                      <p:cBhvr additive="base">
                                        <p:cTn id="13" dur="500" fill="hold"/>
                                        <p:tgtEl>
                                          <p:spTgt spid="2088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889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08899">
                                            <p:txEl>
                                              <p:pRg st="2" end="2"/>
                                            </p:txEl>
                                          </p:spTgt>
                                        </p:tgtEl>
                                        <p:attrNameLst>
                                          <p:attrName>style.visibility</p:attrName>
                                        </p:attrNameLst>
                                      </p:cBhvr>
                                      <p:to>
                                        <p:strVal val="visible"/>
                                      </p:to>
                                    </p:set>
                                    <p:anim calcmode="lin" valueType="num">
                                      <p:cBhvr additive="base">
                                        <p:cTn id="17" dur="500" fill="hold"/>
                                        <p:tgtEl>
                                          <p:spTgt spid="20889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0889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08899">
                                            <p:txEl>
                                              <p:pRg st="3" end="3"/>
                                            </p:txEl>
                                          </p:spTgt>
                                        </p:tgtEl>
                                        <p:attrNameLst>
                                          <p:attrName>style.visibility</p:attrName>
                                        </p:attrNameLst>
                                      </p:cBhvr>
                                      <p:to>
                                        <p:strVal val="visible"/>
                                      </p:to>
                                    </p:set>
                                    <p:anim calcmode="lin" valueType="num">
                                      <p:cBhvr additive="base">
                                        <p:cTn id="21" dur="500" fill="hold"/>
                                        <p:tgtEl>
                                          <p:spTgt spid="20889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88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08899">
                                            <p:txEl>
                                              <p:pRg st="5" end="5"/>
                                            </p:txEl>
                                          </p:spTgt>
                                        </p:tgtEl>
                                        <p:attrNameLst>
                                          <p:attrName>style.visibility</p:attrName>
                                        </p:attrNameLst>
                                      </p:cBhvr>
                                      <p:to>
                                        <p:strVal val="visible"/>
                                      </p:to>
                                    </p:set>
                                    <p:anim calcmode="lin" valueType="num">
                                      <p:cBhvr additive="base">
                                        <p:cTn id="27" dur="500" fill="hold"/>
                                        <p:tgtEl>
                                          <p:spTgt spid="208899">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889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08899">
                                            <p:txEl>
                                              <p:pRg st="6" end="6"/>
                                            </p:txEl>
                                          </p:spTgt>
                                        </p:tgtEl>
                                        <p:attrNameLst>
                                          <p:attrName>style.visibility</p:attrName>
                                        </p:attrNameLst>
                                      </p:cBhvr>
                                      <p:to>
                                        <p:strVal val="visible"/>
                                      </p:to>
                                    </p:set>
                                    <p:anim calcmode="lin" valueType="num">
                                      <p:cBhvr additive="base">
                                        <p:cTn id="33" dur="500" fill="hold"/>
                                        <p:tgtEl>
                                          <p:spTgt spid="208899">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08899">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08899">
                                            <p:txEl>
                                              <p:pRg st="7" end="7"/>
                                            </p:txEl>
                                          </p:spTgt>
                                        </p:tgtEl>
                                        <p:attrNameLst>
                                          <p:attrName>style.visibility</p:attrName>
                                        </p:attrNameLst>
                                      </p:cBhvr>
                                      <p:to>
                                        <p:strVal val="visible"/>
                                      </p:to>
                                    </p:set>
                                    <p:anim calcmode="lin" valueType="num">
                                      <p:cBhvr additive="base">
                                        <p:cTn id="37" dur="500" fill="hold"/>
                                        <p:tgtEl>
                                          <p:spTgt spid="208899">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08899">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08899">
                                            <p:txEl>
                                              <p:pRg st="8" end="8"/>
                                            </p:txEl>
                                          </p:spTgt>
                                        </p:tgtEl>
                                        <p:attrNameLst>
                                          <p:attrName>style.visibility</p:attrName>
                                        </p:attrNameLst>
                                      </p:cBhvr>
                                      <p:to>
                                        <p:strVal val="visible"/>
                                      </p:to>
                                    </p:set>
                                    <p:anim calcmode="lin" valueType="num">
                                      <p:cBhvr additive="base">
                                        <p:cTn id="41" dur="500" fill="hold"/>
                                        <p:tgtEl>
                                          <p:spTgt spid="208899">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0889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1BD04AE-B4C0-4116-A296-B9E4761BB00A}"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08898" name="Rectangle 2"/>
          <p:cNvSpPr>
            <a:spLocks noGrp="1" noChangeArrowheads="1"/>
          </p:cNvSpPr>
          <p:nvPr>
            <p:ph type="title"/>
          </p:nvPr>
        </p:nvSpPr>
        <p:spPr/>
        <p:txBody>
          <a:bodyPr/>
          <a:lstStyle/>
          <a:p>
            <a:r>
              <a:rPr lang="en-US" altLang="zh-CN" dirty="0"/>
              <a:t>4.7.1,5,6 </a:t>
            </a:r>
            <a:r>
              <a:rPr lang="zh-CN" altLang="en-US" dirty="0"/>
              <a:t>权限的授予与回收</a:t>
            </a:r>
          </a:p>
        </p:txBody>
      </p:sp>
      <p:sp>
        <p:nvSpPr>
          <p:cNvPr id="9" name="Rectangle 3"/>
          <p:cNvSpPr txBox="1">
            <a:spLocks noChangeArrowheads="1"/>
          </p:cNvSpPr>
          <p:nvPr/>
        </p:nvSpPr>
        <p:spPr bwMode="auto">
          <a:xfrm>
            <a:off x="714348" y="1431945"/>
            <a:ext cx="8229600" cy="3216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42900" marR="0" lvl="0" indent="-34290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defRPr/>
            </a:pPr>
            <a:r>
              <a:rPr kumimoji="0" lang="en-US" altLang="zh-CN" sz="3200" b="0" i="0" u="none" strike="noStrike" kern="0" cap="none" spc="0" normalizeH="0" baseline="0" noProof="0" dirty="0">
                <a:ln>
                  <a:noFill/>
                </a:ln>
                <a:solidFill>
                  <a:schemeClr val="tx1"/>
                </a:solidFill>
                <a:effectLst/>
                <a:uLnTx/>
                <a:uFillTx/>
                <a:latin typeface="+mn-lt"/>
                <a:ea typeface="+mn-ea"/>
                <a:cs typeface="+mn-cs"/>
              </a:rPr>
              <a:t>[</a:t>
            </a:r>
            <a:r>
              <a:rPr kumimoji="0" lang="zh-CN" altLang="en-US" sz="3200" b="0" i="0" u="none" strike="noStrike" kern="0" cap="none" spc="0" normalizeH="0" baseline="0" noProof="0" dirty="0">
                <a:ln>
                  <a:noFill/>
                </a:ln>
                <a:solidFill>
                  <a:schemeClr val="tx1"/>
                </a:solidFill>
                <a:effectLst/>
                <a:uLnTx/>
                <a:uFillTx/>
                <a:latin typeface="+mn-lt"/>
                <a:ea typeface="+mn-ea"/>
                <a:cs typeface="+mn-cs"/>
              </a:rPr>
              <a:t>例</a:t>
            </a:r>
            <a:r>
              <a:rPr kumimoji="0" lang="en-US" altLang="zh-CN" sz="3200" b="0" i="0" u="none" strike="noStrike" kern="0" cap="none" spc="0" normalizeH="0" baseline="0" noProof="0" dirty="0">
                <a:ln>
                  <a:noFill/>
                </a:ln>
                <a:solidFill>
                  <a:schemeClr val="tx1"/>
                </a:solidFill>
                <a:effectLst/>
                <a:uLnTx/>
                <a:uFillTx/>
                <a:latin typeface="+mn-lt"/>
                <a:ea typeface="+mn-ea"/>
                <a:cs typeface="+mn-cs"/>
              </a:rPr>
              <a:t>3] </a:t>
            </a:r>
            <a:r>
              <a:rPr kumimoji="0" lang="zh-CN" altLang="en-US" sz="3200" b="0" i="0" u="none" strike="noStrike" kern="0" cap="none" spc="0" normalizeH="0" baseline="0" noProof="0" dirty="0">
                <a:ln>
                  <a:noFill/>
                </a:ln>
                <a:solidFill>
                  <a:schemeClr val="tx1"/>
                </a:solidFill>
                <a:effectLst/>
                <a:uLnTx/>
                <a:uFillTx/>
                <a:latin typeface="+mn-lt"/>
                <a:ea typeface="+mn-ea"/>
                <a:cs typeface="+mn-cs"/>
              </a:rPr>
              <a:t>把对表</a:t>
            </a:r>
            <a:r>
              <a:rPr kumimoji="0" lang="en-US" altLang="zh-CN" sz="3200" b="0" i="0" u="none" strike="noStrike" kern="0" cap="none" spc="0" normalizeH="0" baseline="0" noProof="0" dirty="0">
                <a:ln>
                  <a:noFill/>
                </a:ln>
                <a:solidFill>
                  <a:schemeClr val="tx1"/>
                </a:solidFill>
                <a:effectLst/>
                <a:uLnTx/>
                <a:uFillTx/>
                <a:latin typeface="+mn-lt"/>
                <a:ea typeface="+mn-ea"/>
                <a:cs typeface="+mn-cs"/>
              </a:rPr>
              <a:t>SC</a:t>
            </a:r>
            <a:r>
              <a:rPr kumimoji="0" lang="zh-CN" altLang="en-US" sz="3200" b="0" i="0" u="none" strike="noStrike" kern="0" cap="none" spc="0" normalizeH="0" baseline="0" noProof="0" dirty="0">
                <a:ln>
                  <a:noFill/>
                </a:ln>
                <a:solidFill>
                  <a:schemeClr val="tx1"/>
                </a:solidFill>
                <a:effectLst/>
                <a:uLnTx/>
                <a:uFillTx/>
                <a:latin typeface="+mn-lt"/>
                <a:ea typeface="+mn-ea"/>
                <a:cs typeface="+mn-cs"/>
              </a:rPr>
              <a:t>的查询权限授予所有用户</a:t>
            </a:r>
          </a:p>
          <a:p>
            <a:pPr marL="342900" marR="0" lvl="0" indent="-342900" algn="just"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defRPr/>
            </a:pPr>
            <a:endParaRPr kumimoji="0" lang="zh-CN" altLang="en-US" sz="32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1" fontAlgn="base" latinLnBrk="0" hangingPunct="1">
              <a:spcBef>
                <a:spcPct val="20000"/>
              </a:spcBef>
              <a:spcAft>
                <a:spcPct val="0"/>
              </a:spcAft>
              <a:buClr>
                <a:schemeClr val="folHlink"/>
              </a:buClr>
              <a:buSzPct val="60000"/>
              <a:buFont typeface="Wingdings" pitchFamily="2" charset="2"/>
              <a:buNone/>
              <a:tabLst/>
              <a:defRPr/>
            </a:pPr>
            <a:r>
              <a:rPr kumimoji="0" lang="zh-CN" altLang="en-US" sz="3200" b="0" i="0" u="none" strike="noStrike" kern="0" cap="none" spc="0" normalizeH="0" baseline="0" noProof="0" dirty="0">
                <a:ln>
                  <a:noFill/>
                </a:ln>
                <a:solidFill>
                  <a:schemeClr val="tx1"/>
                </a:solidFill>
                <a:effectLst/>
                <a:uLnTx/>
                <a:uFillTx/>
                <a:latin typeface="+mn-lt"/>
                <a:ea typeface="+mn-ea"/>
                <a:cs typeface="+mn-cs"/>
              </a:rPr>
              <a:t>     </a:t>
            </a:r>
            <a:r>
              <a:rPr kumimoji="0" lang="en-US" altLang="zh-CN" sz="3200" b="0" i="0" u="none" strike="noStrike" kern="0" cap="none" spc="0" normalizeH="0" baseline="0" noProof="0" dirty="0">
                <a:ln>
                  <a:noFill/>
                </a:ln>
                <a:solidFill>
                  <a:schemeClr val="tx1"/>
                </a:solidFill>
                <a:effectLst/>
                <a:uLnTx/>
                <a:uFillTx/>
                <a:latin typeface="+mn-lt"/>
                <a:ea typeface="+mn-ea"/>
                <a:cs typeface="+mn-cs"/>
              </a:rPr>
              <a:t>GRANT SELECT </a:t>
            </a:r>
          </a:p>
          <a:p>
            <a:pPr marL="342900" marR="0" lvl="0" indent="-342900" algn="just" defTabSz="914400" rtl="0" eaLnBrk="1" fontAlgn="base" latinLnBrk="0" hangingPunct="1">
              <a:spcBef>
                <a:spcPct val="20000"/>
              </a:spcBef>
              <a:spcAft>
                <a:spcPct val="0"/>
              </a:spcAft>
              <a:buClr>
                <a:schemeClr val="folHlink"/>
              </a:buClr>
              <a:buSzPct val="60000"/>
              <a:buFont typeface="Wingdings" pitchFamily="2" charset="2"/>
              <a:buNone/>
              <a:tabLst/>
              <a:defRPr/>
            </a:pPr>
            <a:r>
              <a:rPr kumimoji="0" lang="en-US" altLang="zh-CN" sz="3200" b="0" i="0" u="none" strike="noStrike" kern="0" cap="none" spc="0" normalizeH="0" baseline="0" noProof="0" dirty="0">
                <a:ln>
                  <a:noFill/>
                </a:ln>
                <a:solidFill>
                  <a:schemeClr val="tx1"/>
                </a:solidFill>
                <a:effectLst/>
                <a:uLnTx/>
                <a:uFillTx/>
                <a:latin typeface="+mn-lt"/>
                <a:ea typeface="+mn-ea"/>
                <a:cs typeface="+mn-cs"/>
              </a:rPr>
              <a:t>     ON TABLE SC </a:t>
            </a:r>
          </a:p>
          <a:p>
            <a:pPr marL="342900" marR="0" lvl="0" indent="-342900" algn="just" defTabSz="914400" rtl="0" eaLnBrk="1" fontAlgn="base" latinLnBrk="0" hangingPunct="1">
              <a:spcBef>
                <a:spcPct val="20000"/>
              </a:spcBef>
              <a:spcAft>
                <a:spcPct val="0"/>
              </a:spcAft>
              <a:buClr>
                <a:schemeClr val="folHlink"/>
              </a:buClr>
              <a:buSzPct val="60000"/>
              <a:buFont typeface="Wingdings" pitchFamily="2" charset="2"/>
              <a:buNone/>
              <a:tabLst/>
              <a:defRPr/>
            </a:pPr>
            <a:r>
              <a:rPr kumimoji="0" lang="en-US" altLang="zh-CN" sz="3200" b="0" i="0" u="none" strike="noStrike" kern="0" cap="none" spc="0" normalizeH="0" baseline="0" noProof="0" dirty="0">
                <a:ln>
                  <a:noFill/>
                </a:ln>
                <a:solidFill>
                  <a:schemeClr val="tx1"/>
                </a:solidFill>
                <a:effectLst/>
                <a:uLnTx/>
                <a:uFillTx/>
                <a:latin typeface="+mn-lt"/>
                <a:ea typeface="+mn-ea"/>
                <a:cs typeface="+mn-cs"/>
              </a:rPr>
              <a:t>	  TO </a:t>
            </a:r>
            <a:r>
              <a:rPr kumimoji="0" lang="en-US" altLang="zh-CN" sz="3200" b="0" i="0" u="none" strike="noStrike" kern="0" cap="none" spc="0" normalizeH="0" baseline="0" noProof="0" dirty="0">
                <a:ln>
                  <a:noFill/>
                </a:ln>
                <a:solidFill>
                  <a:srgbClr val="E02920"/>
                </a:solidFill>
                <a:effectLst/>
                <a:uLnTx/>
                <a:uFillTx/>
                <a:latin typeface="+mn-lt"/>
                <a:ea typeface="+mn-ea"/>
                <a:cs typeface="+mn-cs"/>
              </a:rPr>
              <a:t>PUBLIC</a:t>
            </a:r>
            <a:r>
              <a:rPr kumimoji="0" lang="en-US" altLang="zh-CN" sz="3200" b="0" i="0" u="none" strike="noStrike" kern="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defRPr/>
            </a:pPr>
            <a:endParaRPr kumimoji="0" lang="en-US" altLang="zh-CN" sz="3200" b="0" i="0" u="none" strike="noStrike" kern="0" cap="none" spc="0" normalizeH="0" baseline="0" noProof="0" dirty="0">
              <a:ln>
                <a:noFill/>
              </a:ln>
              <a:solidFill>
                <a:schemeClr val="tx1"/>
              </a:solidFill>
              <a:effectLst/>
              <a:uLnTx/>
              <a:uFillTx/>
              <a:latin typeface="+mn-lt"/>
              <a:ea typeface="+mn-ea"/>
              <a:cs typeface="+mn-cs"/>
            </a:endParaRPr>
          </a:p>
        </p:txBody>
      </p:sp>
      <p:sp>
        <p:nvSpPr>
          <p:cNvPr id="3" name="TextBox 2"/>
          <p:cNvSpPr txBox="1"/>
          <p:nvPr/>
        </p:nvSpPr>
        <p:spPr>
          <a:xfrm>
            <a:off x="1474694" y="5058343"/>
            <a:ext cx="5904501" cy="461665"/>
          </a:xfrm>
          <a:prstGeom prst="rect">
            <a:avLst/>
          </a:prstGeom>
          <a:noFill/>
        </p:spPr>
        <p:txBody>
          <a:bodyPr wrap="none" rtlCol="0">
            <a:spAutoFit/>
          </a:bodyPr>
          <a:lstStyle/>
          <a:p>
            <a:r>
              <a:rPr lang="en-US" altLang="zh-CN" dirty="0"/>
              <a:t>public</a:t>
            </a:r>
            <a:r>
              <a:rPr lang="zh-CN" altLang="en-US" dirty="0"/>
              <a:t>指系统所有的当前用户和未来用户。</a:t>
            </a:r>
          </a:p>
        </p:txBody>
      </p:sp>
      <p:sp>
        <p:nvSpPr>
          <p:cNvPr id="7" name="灯片编号占位符 6">
            <a:extLst>
              <a:ext uri="{FF2B5EF4-FFF2-40B4-BE49-F238E27FC236}">
                <a16:creationId xmlns:a16="http://schemas.microsoft.com/office/drawing/2014/main" id="{1DD28998-4A6B-9166-F1F0-3F021BCBCCFB}"/>
              </a:ext>
            </a:extLst>
          </p:cNvPr>
          <p:cNvSpPr>
            <a:spLocks noGrp="1"/>
          </p:cNvSpPr>
          <p:nvPr>
            <p:ph type="sldNum" sz="quarter" idx="12"/>
          </p:nvPr>
        </p:nvSpPr>
        <p:spPr/>
        <p:txBody>
          <a:bodyPr/>
          <a:lstStyle/>
          <a:p>
            <a:pPr>
              <a:defRPr/>
            </a:pPr>
            <a:fld id="{E0CD82EA-F7BE-454B-A83E-18830F6C5424}" type="slidenum">
              <a:rPr lang="en-US" altLang="zh-CN" smtClean="0"/>
              <a:pPr>
                <a:defRPr/>
              </a:pPr>
              <a:t>115</a:t>
            </a:fld>
            <a:r>
              <a:rPr lang="en-US" altLang="zh-CN"/>
              <a:t>/138</a:t>
            </a:r>
            <a:endParaRPr lang="zh-CN" altLang="en-US" dirty="0"/>
          </a:p>
        </p:txBody>
      </p:sp>
    </p:spTree>
    <p:extLst>
      <p:ext uri="{BB962C8B-B14F-4D97-AF65-F5344CB8AC3E}">
        <p14:creationId xmlns:p14="http://schemas.microsoft.com/office/powerpoint/2010/main" val="34106960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94052E6-C3C9-400D-BBAC-6CC6639B478F}"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08898" name="Rectangle 2"/>
          <p:cNvSpPr>
            <a:spLocks noGrp="1" noChangeArrowheads="1"/>
          </p:cNvSpPr>
          <p:nvPr>
            <p:ph type="title"/>
          </p:nvPr>
        </p:nvSpPr>
        <p:spPr/>
        <p:txBody>
          <a:bodyPr/>
          <a:lstStyle/>
          <a:p>
            <a:r>
              <a:rPr lang="en-US" altLang="zh-CN" dirty="0"/>
              <a:t>4.7.1,5,6 </a:t>
            </a:r>
            <a:r>
              <a:rPr lang="zh-CN" altLang="en-US" dirty="0"/>
              <a:t>权限的授予与回收</a:t>
            </a:r>
          </a:p>
        </p:txBody>
      </p:sp>
      <p:sp>
        <p:nvSpPr>
          <p:cNvPr id="8" name="Rectangle 3"/>
          <p:cNvSpPr txBox="1">
            <a:spLocks noChangeArrowheads="1"/>
          </p:cNvSpPr>
          <p:nvPr/>
        </p:nvSpPr>
        <p:spPr bwMode="auto">
          <a:xfrm>
            <a:off x="609600" y="1447800"/>
            <a:ext cx="8148637"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lgn="just">
              <a:buFont typeface="Wingdings" pitchFamily="2" charset="2"/>
              <a:buNone/>
            </a:pPr>
            <a:r>
              <a:rPr kumimoji="0" lang="en-US" altLang="zh-CN" sz="2800" kern="0" dirty="0">
                <a:ea typeface="宋体" charset="-122"/>
              </a:rPr>
              <a:t>[</a:t>
            </a:r>
            <a:r>
              <a:rPr kumimoji="0" lang="zh-CN" altLang="en-US" sz="2800" kern="0" dirty="0">
                <a:ea typeface="宋体" charset="-122"/>
              </a:rPr>
              <a:t>例</a:t>
            </a:r>
            <a:r>
              <a:rPr kumimoji="0" lang="en-US" altLang="zh-CN" sz="2800" kern="0" dirty="0">
                <a:ea typeface="宋体" charset="-122"/>
              </a:rPr>
              <a:t>4] </a:t>
            </a:r>
            <a:r>
              <a:rPr kumimoji="0" lang="zh-CN" altLang="en-US" sz="2800" kern="0" dirty="0">
                <a:ea typeface="宋体" charset="-122"/>
              </a:rPr>
              <a:t>把</a:t>
            </a:r>
            <a:r>
              <a:rPr kumimoji="0" lang="zh-CN" altLang="en-US" sz="2800" u="sng" kern="0" dirty="0">
                <a:ea typeface="宋体" charset="-122"/>
              </a:rPr>
              <a:t>查询</a:t>
            </a:r>
            <a:r>
              <a:rPr kumimoji="0" lang="en-US" altLang="zh-CN" sz="2800" kern="0" dirty="0">
                <a:ea typeface="宋体" charset="-122"/>
              </a:rPr>
              <a:t>Student</a:t>
            </a:r>
            <a:r>
              <a:rPr kumimoji="0" lang="zh-CN" altLang="en-US" sz="2800" kern="0" dirty="0">
                <a:ea typeface="宋体" charset="-122"/>
              </a:rPr>
              <a:t>表和</a:t>
            </a:r>
            <a:r>
              <a:rPr kumimoji="0" lang="zh-CN" altLang="en-US" sz="2800" u="sng" kern="0" dirty="0">
                <a:ea typeface="宋体" charset="-122"/>
              </a:rPr>
              <a:t>修改</a:t>
            </a:r>
            <a:r>
              <a:rPr kumimoji="0" lang="zh-CN" altLang="en-US" sz="2800" kern="0" dirty="0">
                <a:ea typeface="宋体" charset="-122"/>
              </a:rPr>
              <a:t>学生学号的权限授给用户</a:t>
            </a:r>
            <a:r>
              <a:rPr kumimoji="0" lang="en-US" altLang="zh-CN" sz="2800" kern="0" dirty="0">
                <a:ea typeface="宋体" charset="-122"/>
              </a:rPr>
              <a:t>U4</a:t>
            </a:r>
          </a:p>
          <a:p>
            <a:pPr algn="just">
              <a:buFont typeface="Wingdings" pitchFamily="2" charset="2"/>
              <a:buNone/>
            </a:pPr>
            <a:r>
              <a:rPr kumimoji="0" lang="zh-CN" altLang="en-US" sz="1800" kern="0" dirty="0">
                <a:ea typeface="宋体" charset="-122"/>
              </a:rPr>
              <a:t>　 </a:t>
            </a:r>
          </a:p>
          <a:p>
            <a:pPr algn="just">
              <a:lnSpc>
                <a:spcPct val="120000"/>
              </a:lnSpc>
              <a:buFont typeface="Wingdings" pitchFamily="2" charset="2"/>
              <a:buNone/>
            </a:pPr>
            <a:r>
              <a:rPr kumimoji="0" lang="zh-CN" altLang="en-US" sz="1800" kern="0" dirty="0">
                <a:ea typeface="宋体" charset="-122"/>
              </a:rPr>
              <a:t>	  	</a:t>
            </a:r>
            <a:r>
              <a:rPr kumimoji="0" lang="en-US" altLang="zh-CN" sz="2800" kern="0" dirty="0">
                <a:ea typeface="宋体" charset="-122"/>
              </a:rPr>
              <a:t>GRANT </a:t>
            </a:r>
            <a:r>
              <a:rPr kumimoji="0" lang="en-US" altLang="zh-CN" sz="2800" kern="0" dirty="0">
                <a:solidFill>
                  <a:srgbClr val="0000FF"/>
                </a:solidFill>
                <a:ea typeface="宋体" charset="-122"/>
              </a:rPr>
              <a:t>UPDATE</a:t>
            </a:r>
            <a:r>
              <a:rPr kumimoji="0" lang="en-US" altLang="zh-CN" sz="2800" kern="0" dirty="0">
                <a:solidFill>
                  <a:srgbClr val="E02920"/>
                </a:solidFill>
                <a:ea typeface="宋体" charset="-122"/>
              </a:rPr>
              <a:t>(</a:t>
            </a:r>
            <a:r>
              <a:rPr kumimoji="0" lang="en-US" altLang="zh-CN" sz="2800" kern="0" dirty="0" err="1">
                <a:solidFill>
                  <a:srgbClr val="E02920"/>
                </a:solidFill>
                <a:ea typeface="宋体" charset="-122"/>
              </a:rPr>
              <a:t>Sno</a:t>
            </a:r>
            <a:r>
              <a:rPr kumimoji="0" lang="en-US" altLang="zh-CN" sz="2800" kern="0" dirty="0">
                <a:solidFill>
                  <a:srgbClr val="E02920"/>
                </a:solidFill>
                <a:ea typeface="宋体" charset="-122"/>
              </a:rPr>
              <a:t>),</a:t>
            </a:r>
            <a:r>
              <a:rPr kumimoji="0" lang="en-US" altLang="zh-CN" sz="2800" kern="0" dirty="0">
                <a:ea typeface="宋体" charset="-122"/>
              </a:rPr>
              <a:t> SELECT </a:t>
            </a:r>
          </a:p>
          <a:p>
            <a:pPr algn="just">
              <a:lnSpc>
                <a:spcPct val="120000"/>
              </a:lnSpc>
              <a:buFont typeface="Wingdings" pitchFamily="2" charset="2"/>
              <a:buNone/>
            </a:pPr>
            <a:r>
              <a:rPr kumimoji="0" lang="en-US" altLang="zh-CN" sz="2800" kern="0" dirty="0">
                <a:ea typeface="宋体" charset="-122"/>
              </a:rPr>
              <a:t>		ON </a:t>
            </a:r>
            <a:r>
              <a:rPr kumimoji="0" lang="en-US" altLang="zh-CN" sz="2800" kern="0" dirty="0">
                <a:solidFill>
                  <a:srgbClr val="0000FF"/>
                </a:solidFill>
                <a:ea typeface="宋体" charset="-122"/>
              </a:rPr>
              <a:t>TABLE</a:t>
            </a:r>
            <a:r>
              <a:rPr kumimoji="0" lang="en-US" altLang="zh-CN" sz="2800" kern="0" dirty="0">
                <a:ea typeface="宋体" charset="-122"/>
              </a:rPr>
              <a:t> Student </a:t>
            </a:r>
          </a:p>
          <a:p>
            <a:pPr algn="just">
              <a:lnSpc>
                <a:spcPct val="120000"/>
              </a:lnSpc>
              <a:buFont typeface="Wingdings" pitchFamily="2" charset="2"/>
              <a:buNone/>
            </a:pPr>
            <a:r>
              <a:rPr kumimoji="0" lang="en-US" altLang="zh-CN" sz="2800" kern="0" dirty="0">
                <a:ea typeface="宋体" charset="-122"/>
              </a:rPr>
              <a:t>		TO U4;</a:t>
            </a:r>
          </a:p>
          <a:p>
            <a:r>
              <a:rPr kumimoji="0" lang="zh-CN" altLang="en-US" sz="2800" kern="0" dirty="0">
                <a:ea typeface="宋体" charset="-122"/>
              </a:rPr>
              <a:t>更新权限既可以在关系的所有属性上授予，也可以只在某些属性列上授予。</a:t>
            </a:r>
            <a:endParaRPr kumimoji="0" lang="en-US" altLang="zh-CN" sz="2800" kern="0" dirty="0">
              <a:ea typeface="宋体" charset="-122"/>
            </a:endParaRPr>
          </a:p>
          <a:p>
            <a:pPr lvl="1"/>
            <a:r>
              <a:rPr kumimoji="0" lang="zh-CN" altLang="en-US" sz="2400" kern="0" dirty="0">
                <a:ea typeface="宋体" charset="-122"/>
              </a:rPr>
              <a:t>对</a:t>
            </a:r>
            <a:r>
              <a:rPr kumimoji="0" lang="zh-CN" altLang="en-US" sz="2400" kern="0" dirty="0">
                <a:solidFill>
                  <a:srgbClr val="C00000"/>
                </a:solidFill>
                <a:ea typeface="宋体" charset="-122"/>
              </a:rPr>
              <a:t>属性列授权</a:t>
            </a:r>
            <a:r>
              <a:rPr kumimoji="0" lang="zh-CN" altLang="en-US" sz="2400" kern="0" dirty="0">
                <a:ea typeface="宋体" charset="-122"/>
              </a:rPr>
              <a:t>时必须</a:t>
            </a:r>
            <a:r>
              <a:rPr kumimoji="0" lang="zh-CN" altLang="en-US" sz="2400" kern="0" dirty="0">
                <a:solidFill>
                  <a:srgbClr val="0000FF"/>
                </a:solidFill>
                <a:ea typeface="宋体" charset="-122"/>
              </a:rPr>
              <a:t>明确指出</a:t>
            </a:r>
            <a:r>
              <a:rPr kumimoji="0" lang="zh-CN" altLang="en-US" sz="2400" kern="0" dirty="0">
                <a:solidFill>
                  <a:srgbClr val="C00000"/>
                </a:solidFill>
                <a:ea typeface="宋体" charset="-122"/>
              </a:rPr>
              <a:t>相应属性列名</a:t>
            </a:r>
            <a:r>
              <a:rPr kumimoji="0" lang="zh-CN" altLang="en-US" sz="2400" kern="0" dirty="0">
                <a:ea typeface="宋体" charset="-122"/>
              </a:rPr>
              <a:t>，方式即是把</a:t>
            </a:r>
            <a:r>
              <a:rPr kumimoji="0" lang="zh-CN" altLang="en-US" sz="2400" kern="0" dirty="0">
                <a:solidFill>
                  <a:srgbClr val="C00000"/>
                </a:solidFill>
                <a:ea typeface="宋体" charset="-122"/>
              </a:rPr>
              <a:t>属性列名</a:t>
            </a:r>
            <a:r>
              <a:rPr kumimoji="0" lang="zh-CN" altLang="en-US" sz="2400" kern="0" dirty="0">
                <a:ea typeface="宋体" charset="-122"/>
              </a:rPr>
              <a:t>写在</a:t>
            </a:r>
            <a:r>
              <a:rPr kumimoji="0" lang="en-US" altLang="zh-CN" sz="2400" kern="0" dirty="0">
                <a:solidFill>
                  <a:srgbClr val="C00000"/>
                </a:solidFill>
                <a:ea typeface="宋体" charset="-122"/>
              </a:rPr>
              <a:t>update</a:t>
            </a:r>
            <a:r>
              <a:rPr kumimoji="0" lang="zh-CN" altLang="en-US" sz="2400" kern="0" dirty="0">
                <a:solidFill>
                  <a:srgbClr val="C00000"/>
                </a:solidFill>
                <a:ea typeface="宋体" charset="-122"/>
              </a:rPr>
              <a:t>关键词</a:t>
            </a:r>
            <a:r>
              <a:rPr kumimoji="0" lang="zh-CN" altLang="en-US" sz="2400" kern="0" dirty="0">
                <a:solidFill>
                  <a:srgbClr val="0000FF"/>
                </a:solidFill>
                <a:ea typeface="宋体" charset="-122"/>
              </a:rPr>
              <a:t>后</a:t>
            </a:r>
            <a:r>
              <a:rPr kumimoji="0" lang="zh-CN" altLang="en-US" sz="2400" kern="0" dirty="0">
                <a:ea typeface="宋体" charset="-122"/>
              </a:rPr>
              <a:t>紧跟的</a:t>
            </a:r>
            <a:r>
              <a:rPr kumimoji="0" lang="zh-CN" altLang="en-US" sz="2400" kern="0" dirty="0">
                <a:solidFill>
                  <a:srgbClr val="0000FF"/>
                </a:solidFill>
                <a:ea typeface="宋体" charset="-122"/>
              </a:rPr>
              <a:t>括号中</a:t>
            </a:r>
          </a:p>
        </p:txBody>
      </p:sp>
      <p:sp>
        <p:nvSpPr>
          <p:cNvPr id="7" name="椭圆 6"/>
          <p:cNvSpPr/>
          <p:nvPr/>
        </p:nvSpPr>
        <p:spPr bwMode="auto">
          <a:xfrm>
            <a:off x="2743200" y="2587139"/>
            <a:ext cx="2438400" cy="852494"/>
          </a:xfrm>
          <a:prstGeom prst="ellipse">
            <a:avLst/>
          </a:prstGeom>
          <a:noFill/>
          <a:ln w="25400" cap="flat" cmpd="sng" algn="ctr">
            <a:solidFill>
              <a:srgbClr val="006600"/>
            </a:solidFill>
            <a:prstDash val="sys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ahoma" pitchFamily="34" charset="0"/>
              <a:ea typeface="宋体" charset="-122"/>
              <a:cs typeface="Arial" charset="0"/>
            </a:endParaRPr>
          </a:p>
        </p:txBody>
      </p:sp>
      <p:sp>
        <p:nvSpPr>
          <p:cNvPr id="6" name="灯片编号占位符 5">
            <a:extLst>
              <a:ext uri="{FF2B5EF4-FFF2-40B4-BE49-F238E27FC236}">
                <a16:creationId xmlns:a16="http://schemas.microsoft.com/office/drawing/2014/main" id="{7AEAD463-6A4D-DC42-242B-F2B5A2A850E3}"/>
              </a:ext>
            </a:extLst>
          </p:cNvPr>
          <p:cNvSpPr>
            <a:spLocks noGrp="1"/>
          </p:cNvSpPr>
          <p:nvPr>
            <p:ph type="sldNum" sz="quarter" idx="12"/>
          </p:nvPr>
        </p:nvSpPr>
        <p:spPr/>
        <p:txBody>
          <a:bodyPr/>
          <a:lstStyle/>
          <a:p>
            <a:pPr>
              <a:defRPr/>
            </a:pPr>
            <a:fld id="{E0CD82EA-F7BE-454B-A83E-18830F6C5424}" type="slidenum">
              <a:rPr lang="en-US" altLang="zh-CN" smtClean="0"/>
              <a:pPr>
                <a:defRPr/>
              </a:pPr>
              <a:t>116</a:t>
            </a:fld>
            <a:r>
              <a:rPr lang="en-US" altLang="zh-CN"/>
              <a:t>/138</a:t>
            </a:r>
            <a:endParaRPr lang="zh-CN" altLang="en-US" dirty="0"/>
          </a:p>
        </p:txBody>
      </p:sp>
    </p:spTree>
    <p:extLst>
      <p:ext uri="{BB962C8B-B14F-4D97-AF65-F5344CB8AC3E}">
        <p14:creationId xmlns:p14="http://schemas.microsoft.com/office/powerpoint/2010/main" val="7740577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anim calcmode="lin" valueType="num">
                                      <p:cBhvr additive="base">
                                        <p:cTn id="11"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anim calcmode="lin" valueType="num">
                                      <p:cBhvr additive="base">
                                        <p:cTn id="1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anim calcmode="lin" valueType="num">
                                      <p:cBhvr additive="base">
                                        <p:cTn id="2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 calcmode="lin" valueType="num">
                                      <p:cBhvr additive="base">
                                        <p:cTn id="27"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dissolve">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2B90B83-4795-4C66-A60A-A97220A49EE9}"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08898" name="Rectangle 2"/>
          <p:cNvSpPr>
            <a:spLocks noGrp="1" noChangeArrowheads="1"/>
          </p:cNvSpPr>
          <p:nvPr>
            <p:ph type="title"/>
          </p:nvPr>
        </p:nvSpPr>
        <p:spPr/>
        <p:txBody>
          <a:bodyPr/>
          <a:lstStyle/>
          <a:p>
            <a:r>
              <a:rPr lang="en-US" altLang="zh-CN" dirty="0"/>
              <a:t>4.7.1,5,6 </a:t>
            </a:r>
            <a:r>
              <a:rPr lang="zh-CN" altLang="en-US" dirty="0"/>
              <a:t>权限的授予与回收</a:t>
            </a:r>
          </a:p>
        </p:txBody>
      </p:sp>
      <p:sp>
        <p:nvSpPr>
          <p:cNvPr id="8" name="Rectangle 3"/>
          <p:cNvSpPr txBox="1">
            <a:spLocks noChangeArrowheads="1"/>
          </p:cNvSpPr>
          <p:nvPr/>
        </p:nvSpPr>
        <p:spPr bwMode="auto">
          <a:xfrm>
            <a:off x="609600" y="1447800"/>
            <a:ext cx="8148637"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lgn="just">
              <a:buNone/>
            </a:pPr>
            <a:r>
              <a:rPr kumimoji="0" lang="en-US" altLang="zh-CN" sz="2800" kern="0" dirty="0">
                <a:ea typeface="宋体" charset="-122"/>
              </a:rPr>
              <a:t>[</a:t>
            </a:r>
            <a:r>
              <a:rPr kumimoji="0" lang="zh-CN" altLang="en-US" sz="2800" kern="0" dirty="0">
                <a:ea typeface="宋体" charset="-122"/>
              </a:rPr>
              <a:t>例</a:t>
            </a:r>
            <a:r>
              <a:rPr kumimoji="0" lang="en-US" altLang="zh-CN" sz="2800" kern="0" dirty="0">
                <a:ea typeface="宋体" charset="-122"/>
              </a:rPr>
              <a:t>4.5] </a:t>
            </a:r>
            <a:r>
              <a:rPr kumimoji="0" lang="zh-CN" altLang="en-US" sz="2800" kern="0" dirty="0">
                <a:ea typeface="宋体" charset="-122"/>
              </a:rPr>
              <a:t>把对表</a:t>
            </a:r>
            <a:r>
              <a:rPr kumimoji="0" lang="en-US" altLang="zh-CN" sz="2800" kern="0" dirty="0">
                <a:ea typeface="宋体" charset="-122"/>
              </a:rPr>
              <a:t>SC</a:t>
            </a:r>
            <a:r>
              <a:rPr kumimoji="0" lang="zh-CN" altLang="en-US" sz="2800" kern="0" dirty="0">
                <a:ea typeface="宋体" charset="-122"/>
              </a:rPr>
              <a:t>的</a:t>
            </a:r>
            <a:r>
              <a:rPr kumimoji="0" lang="en-US" altLang="zh-CN" sz="2800" kern="0" dirty="0">
                <a:ea typeface="宋体" charset="-122"/>
              </a:rPr>
              <a:t>INSERT</a:t>
            </a:r>
            <a:r>
              <a:rPr kumimoji="0" lang="zh-CN" altLang="en-US" sz="2800" kern="0" dirty="0">
                <a:ea typeface="宋体" charset="-122"/>
              </a:rPr>
              <a:t>权限授予</a:t>
            </a:r>
            <a:r>
              <a:rPr kumimoji="0" lang="en-US" altLang="zh-CN" sz="2800" kern="0" dirty="0">
                <a:solidFill>
                  <a:srgbClr val="006600"/>
                </a:solidFill>
                <a:ea typeface="宋体" charset="-122"/>
              </a:rPr>
              <a:t>U5</a:t>
            </a:r>
            <a:r>
              <a:rPr kumimoji="0" lang="zh-CN" altLang="en-US" sz="2800" kern="0" dirty="0">
                <a:ea typeface="宋体" charset="-122"/>
              </a:rPr>
              <a:t>用户，并</a:t>
            </a:r>
            <a:r>
              <a:rPr kumimoji="0" lang="zh-CN" altLang="en-US" sz="2800" kern="0" dirty="0">
                <a:solidFill>
                  <a:srgbClr val="0000FF"/>
                </a:solidFill>
                <a:ea typeface="宋体" charset="-122"/>
              </a:rPr>
              <a:t>允许他再将此权限授予其他用户</a:t>
            </a:r>
            <a:endParaRPr kumimoji="0" lang="en-US" altLang="zh-CN" sz="2800" kern="0" dirty="0">
              <a:solidFill>
                <a:srgbClr val="0000FF"/>
              </a:solidFill>
              <a:ea typeface="宋体" charset="-122"/>
            </a:endParaRPr>
          </a:p>
          <a:p>
            <a:pPr algn="just">
              <a:buNone/>
            </a:pPr>
            <a:r>
              <a:rPr kumimoji="0" lang="en-US" altLang="zh-CN" sz="2800" kern="0" dirty="0">
                <a:solidFill>
                  <a:srgbClr val="0000FF"/>
                </a:solidFill>
                <a:ea typeface="宋体" charset="-122"/>
              </a:rPr>
              <a:t>     </a:t>
            </a:r>
            <a:r>
              <a:rPr kumimoji="0" lang="en-US" altLang="zh-CN" sz="2800" kern="0" dirty="0">
                <a:ea typeface="宋体" charset="-122"/>
              </a:rPr>
              <a:t>GRANT </a:t>
            </a:r>
            <a:r>
              <a:rPr kumimoji="0" lang="en-US" altLang="zh-CN" sz="2800" kern="0" dirty="0">
                <a:solidFill>
                  <a:srgbClr val="0000FF"/>
                </a:solidFill>
                <a:ea typeface="宋体" charset="-122"/>
              </a:rPr>
              <a:t>INSERT</a:t>
            </a:r>
          </a:p>
          <a:p>
            <a:pPr algn="just">
              <a:buNone/>
            </a:pPr>
            <a:r>
              <a:rPr kumimoji="0" lang="en-US" altLang="zh-CN" sz="2800" kern="0" dirty="0">
                <a:solidFill>
                  <a:srgbClr val="0000FF"/>
                </a:solidFill>
                <a:ea typeface="宋体" charset="-122"/>
              </a:rPr>
              <a:t>     </a:t>
            </a:r>
            <a:r>
              <a:rPr kumimoji="0" lang="en-US" altLang="zh-CN" sz="2800" kern="0" dirty="0">
                <a:ea typeface="宋体" charset="-122"/>
              </a:rPr>
              <a:t>ON </a:t>
            </a:r>
            <a:r>
              <a:rPr kumimoji="0" lang="en-US" altLang="zh-CN" sz="2800" kern="0" dirty="0">
                <a:solidFill>
                  <a:srgbClr val="0000FF"/>
                </a:solidFill>
                <a:ea typeface="宋体" charset="-122"/>
              </a:rPr>
              <a:t>TABLE SC</a:t>
            </a:r>
          </a:p>
          <a:p>
            <a:pPr algn="just">
              <a:buNone/>
            </a:pPr>
            <a:r>
              <a:rPr kumimoji="0" lang="en-US" altLang="zh-CN" sz="2800" kern="0" dirty="0">
                <a:solidFill>
                  <a:srgbClr val="0000FF"/>
                </a:solidFill>
                <a:ea typeface="宋体" charset="-122"/>
              </a:rPr>
              <a:t>     </a:t>
            </a:r>
            <a:r>
              <a:rPr kumimoji="0" lang="en-US" altLang="zh-CN" sz="2800" kern="0" dirty="0">
                <a:ea typeface="宋体" charset="-122"/>
              </a:rPr>
              <a:t>TO </a:t>
            </a:r>
            <a:r>
              <a:rPr kumimoji="0" lang="en-US" altLang="zh-CN" sz="2800" kern="0" dirty="0">
                <a:solidFill>
                  <a:srgbClr val="006600"/>
                </a:solidFill>
                <a:ea typeface="宋体" charset="-122"/>
              </a:rPr>
              <a:t>U5</a:t>
            </a:r>
          </a:p>
          <a:p>
            <a:pPr algn="just">
              <a:buNone/>
            </a:pPr>
            <a:r>
              <a:rPr kumimoji="0" lang="en-US" altLang="zh-CN" sz="2800" kern="0" dirty="0">
                <a:solidFill>
                  <a:srgbClr val="006600"/>
                </a:solidFill>
                <a:ea typeface="宋体" charset="-122"/>
              </a:rPr>
              <a:t>     </a:t>
            </a:r>
            <a:r>
              <a:rPr kumimoji="0" lang="en-US" altLang="zh-CN" sz="2800" kern="0" dirty="0">
                <a:solidFill>
                  <a:srgbClr val="FF0000"/>
                </a:solidFill>
                <a:ea typeface="宋体" charset="-122"/>
              </a:rPr>
              <a:t>WITH GRANT OPTION</a:t>
            </a:r>
            <a:r>
              <a:rPr kumimoji="0" lang="en-US" altLang="zh-CN" sz="2800" kern="0" dirty="0">
                <a:ea typeface="宋体" charset="-122"/>
              </a:rPr>
              <a:t>;</a:t>
            </a:r>
            <a:r>
              <a:rPr kumimoji="0" lang="en-US" altLang="zh-CN" sz="1400" kern="0" dirty="0">
                <a:ea typeface="宋体" charset="-122"/>
              </a:rPr>
              <a:t>//U5</a:t>
            </a:r>
            <a:r>
              <a:rPr kumimoji="0" lang="zh-CN" altLang="en-US" sz="1400" kern="0" dirty="0">
                <a:ea typeface="宋体" charset="-122"/>
              </a:rPr>
              <a:t>拥有了</a:t>
            </a:r>
            <a:r>
              <a:rPr kumimoji="0" lang="en-US" altLang="zh-CN" sz="1400" kern="0" dirty="0">
                <a:ea typeface="宋体" charset="-122"/>
              </a:rPr>
              <a:t>SC</a:t>
            </a:r>
            <a:r>
              <a:rPr kumimoji="0" lang="zh-CN" altLang="en-US" sz="1400" kern="0" dirty="0">
                <a:ea typeface="宋体" charset="-122"/>
              </a:rPr>
              <a:t>表的插入权限，还可以传播此权限</a:t>
            </a:r>
          </a:p>
          <a:p>
            <a:pPr algn="just">
              <a:lnSpc>
                <a:spcPct val="120000"/>
              </a:lnSpc>
              <a:buFont typeface="Wingdings" pitchFamily="2" charset="2"/>
              <a:buNone/>
            </a:pPr>
            <a:r>
              <a:rPr kumimoji="0" lang="zh-CN" altLang="en-US" sz="1800" kern="0" dirty="0">
                <a:ea typeface="宋体" charset="-122"/>
              </a:rPr>
              <a:t>	  	</a:t>
            </a:r>
            <a:endParaRPr kumimoji="0" lang="zh-CN" altLang="en-US" sz="2800" kern="0" dirty="0">
              <a:ea typeface="宋体" charset="-122"/>
            </a:endParaRPr>
          </a:p>
        </p:txBody>
      </p:sp>
      <p:sp>
        <p:nvSpPr>
          <p:cNvPr id="3" name="矩形 2"/>
          <p:cNvSpPr/>
          <p:nvPr/>
        </p:nvSpPr>
        <p:spPr>
          <a:xfrm>
            <a:off x="577943" y="4648200"/>
            <a:ext cx="8153400" cy="1569660"/>
          </a:xfrm>
          <a:prstGeom prst="rect">
            <a:avLst/>
          </a:prstGeom>
        </p:spPr>
        <p:txBody>
          <a:bodyPr wrap="square">
            <a:spAutoFit/>
          </a:bodyPr>
          <a:lstStyle/>
          <a:p>
            <a:pPr algn="l"/>
            <a:r>
              <a:rPr lang="zh-CN" altLang="en-US" dirty="0"/>
              <a:t>关系上的插入权限允许用户往关系中插人元组。</a:t>
            </a:r>
            <a:r>
              <a:rPr lang="zh-CN" altLang="en-US" dirty="0">
                <a:solidFill>
                  <a:srgbClr val="0000FF"/>
                </a:solidFill>
              </a:rPr>
              <a:t>插入权限也可以指定一个属性列表</a:t>
            </a:r>
            <a:r>
              <a:rPr lang="zh-CN" altLang="en-US" dirty="0"/>
              <a:t>；对关系所做的任何插入必须只针对这些属性，并且系统对</a:t>
            </a:r>
            <a:r>
              <a:rPr lang="zh-CN" altLang="en-US" dirty="0">
                <a:solidFill>
                  <a:srgbClr val="0000FF"/>
                </a:solidFill>
              </a:rPr>
              <a:t>其余属性</a:t>
            </a:r>
            <a:r>
              <a:rPr lang="zh-CN" altLang="en-US" dirty="0"/>
              <a:t>要么</a:t>
            </a:r>
            <a:r>
              <a:rPr lang="zh-CN" altLang="en-US" dirty="0">
                <a:solidFill>
                  <a:srgbClr val="0000FF"/>
                </a:solidFill>
              </a:rPr>
              <a:t>赋缺省值</a:t>
            </a:r>
            <a:r>
              <a:rPr lang="zh-CN" altLang="en-US" dirty="0"/>
              <a:t>（如果为这些</a:t>
            </a:r>
            <a:br>
              <a:rPr lang="zh-CN" altLang="en-US" dirty="0"/>
            </a:br>
            <a:r>
              <a:rPr lang="zh-CN" altLang="en-US" dirty="0"/>
              <a:t>属性定义了缺省值），要么</a:t>
            </a:r>
            <a:r>
              <a:rPr lang="zh-CN" altLang="en-US" dirty="0">
                <a:solidFill>
                  <a:srgbClr val="0000FF"/>
                </a:solidFill>
              </a:rPr>
              <a:t>将它们置为空 </a:t>
            </a:r>
            <a:r>
              <a:rPr lang="en-US" altLang="zh-CN" dirty="0"/>
              <a:t>(null)</a:t>
            </a:r>
            <a:r>
              <a:rPr lang="zh-CN" altLang="en-US" dirty="0"/>
              <a:t>。</a:t>
            </a:r>
          </a:p>
        </p:txBody>
      </p:sp>
      <p:sp>
        <p:nvSpPr>
          <p:cNvPr id="7" name="灯片编号占位符 6">
            <a:extLst>
              <a:ext uri="{FF2B5EF4-FFF2-40B4-BE49-F238E27FC236}">
                <a16:creationId xmlns:a16="http://schemas.microsoft.com/office/drawing/2014/main" id="{36ACB91A-73A9-5566-85B7-177F9E7066EE}"/>
              </a:ext>
            </a:extLst>
          </p:cNvPr>
          <p:cNvSpPr>
            <a:spLocks noGrp="1"/>
          </p:cNvSpPr>
          <p:nvPr>
            <p:ph type="sldNum" sz="quarter" idx="12"/>
          </p:nvPr>
        </p:nvSpPr>
        <p:spPr/>
        <p:txBody>
          <a:bodyPr/>
          <a:lstStyle/>
          <a:p>
            <a:pPr>
              <a:defRPr/>
            </a:pPr>
            <a:fld id="{E0CD82EA-F7BE-454B-A83E-18830F6C5424}" type="slidenum">
              <a:rPr lang="en-US" altLang="zh-CN" smtClean="0"/>
              <a:pPr>
                <a:defRPr/>
              </a:pPr>
              <a:t>117</a:t>
            </a:fld>
            <a:r>
              <a:rPr lang="en-US" altLang="zh-CN" dirty="0"/>
              <a:t>/138</a:t>
            </a:r>
            <a:endParaRPr lang="zh-CN" altLang="en-US" dirty="0"/>
          </a:p>
        </p:txBody>
      </p:sp>
    </p:spTree>
    <p:extLst>
      <p:ext uri="{BB962C8B-B14F-4D97-AF65-F5344CB8AC3E}">
        <p14:creationId xmlns:p14="http://schemas.microsoft.com/office/powerpoint/2010/main" val="2136615860"/>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E565AFE-F5CD-4980-86B6-76DCE3703E7A}"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08898" name="Rectangle 2"/>
          <p:cNvSpPr>
            <a:spLocks noGrp="1" noChangeArrowheads="1"/>
          </p:cNvSpPr>
          <p:nvPr>
            <p:ph type="title"/>
          </p:nvPr>
        </p:nvSpPr>
        <p:spPr/>
        <p:txBody>
          <a:bodyPr/>
          <a:lstStyle/>
          <a:p>
            <a:r>
              <a:rPr lang="en-US" altLang="zh-CN" dirty="0"/>
              <a:t>4.7.1,5,6 </a:t>
            </a:r>
            <a:r>
              <a:rPr lang="zh-CN" altLang="en-US" dirty="0"/>
              <a:t>权限的授予与回收</a:t>
            </a:r>
          </a:p>
        </p:txBody>
      </p:sp>
      <p:sp>
        <p:nvSpPr>
          <p:cNvPr id="8" name="Rectangle 3"/>
          <p:cNvSpPr txBox="1">
            <a:spLocks noChangeArrowheads="1"/>
          </p:cNvSpPr>
          <p:nvPr/>
        </p:nvSpPr>
        <p:spPr bwMode="auto">
          <a:xfrm>
            <a:off x="609600" y="1447800"/>
            <a:ext cx="8148637"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pPr algn="just">
              <a:buNone/>
            </a:pPr>
            <a:r>
              <a:rPr kumimoji="0" lang="zh-CN" altLang="en-US" sz="2800" kern="0" dirty="0">
                <a:ea typeface="宋体" charset="-122"/>
              </a:rPr>
              <a:t>执行例</a:t>
            </a:r>
            <a:r>
              <a:rPr kumimoji="0" lang="en-US" altLang="zh-CN" sz="2800" kern="0" dirty="0">
                <a:ea typeface="宋体" charset="-122"/>
              </a:rPr>
              <a:t>4.5</a:t>
            </a:r>
            <a:r>
              <a:rPr kumimoji="0" lang="zh-CN" altLang="en-US" sz="2800" kern="0" dirty="0">
                <a:ea typeface="宋体" charset="-122"/>
              </a:rPr>
              <a:t>后，</a:t>
            </a:r>
            <a:r>
              <a:rPr kumimoji="0" lang="en-US" altLang="zh-CN" sz="2800" kern="0" dirty="0">
                <a:solidFill>
                  <a:srgbClr val="FF0000"/>
                </a:solidFill>
                <a:ea typeface="宋体" charset="-122"/>
              </a:rPr>
              <a:t>U5</a:t>
            </a:r>
            <a:r>
              <a:rPr kumimoji="0" lang="zh-CN" altLang="en-US" sz="2800" kern="0" dirty="0">
                <a:ea typeface="宋体" charset="-122"/>
              </a:rPr>
              <a:t>不仅拥有了对表</a:t>
            </a:r>
            <a:r>
              <a:rPr kumimoji="0" lang="en-US" altLang="zh-CN" sz="2800" kern="0" dirty="0">
                <a:ea typeface="宋体" charset="-122"/>
              </a:rPr>
              <a:t>SC</a:t>
            </a:r>
            <a:r>
              <a:rPr kumimoji="0" lang="zh-CN" altLang="en-US" sz="2800" kern="0" dirty="0">
                <a:ea typeface="宋体" charset="-122"/>
              </a:rPr>
              <a:t>的</a:t>
            </a:r>
            <a:r>
              <a:rPr kumimoji="0" lang="en-US" altLang="zh-CN" sz="2800" kern="0" dirty="0">
                <a:ea typeface="宋体" charset="-122"/>
              </a:rPr>
              <a:t>INSERT</a:t>
            </a:r>
            <a:r>
              <a:rPr kumimoji="0" lang="zh-CN" altLang="en-US" sz="2800" kern="0" dirty="0">
                <a:ea typeface="宋体" charset="-122"/>
              </a:rPr>
              <a:t>权限，</a:t>
            </a:r>
          </a:p>
          <a:p>
            <a:pPr algn="just">
              <a:buNone/>
            </a:pPr>
            <a:r>
              <a:rPr kumimoji="0" lang="zh-CN" altLang="en-US" sz="2800" kern="0" dirty="0">
                <a:ea typeface="宋体" charset="-122"/>
              </a:rPr>
              <a:t>还可以</a:t>
            </a:r>
            <a:r>
              <a:rPr kumimoji="0" lang="zh-CN" altLang="en-US" sz="2800" u="sng" kern="0" dirty="0">
                <a:solidFill>
                  <a:srgbClr val="0000FF"/>
                </a:solidFill>
                <a:ea typeface="宋体" charset="-122"/>
              </a:rPr>
              <a:t>传播此权限</a:t>
            </a:r>
            <a:r>
              <a:rPr kumimoji="0" lang="zh-CN" altLang="en-US" sz="2800" kern="0" dirty="0">
                <a:solidFill>
                  <a:srgbClr val="0000FF"/>
                </a:solidFill>
                <a:ea typeface="宋体" charset="-122"/>
              </a:rPr>
              <a:t>，</a:t>
            </a:r>
            <a:r>
              <a:rPr kumimoji="0" lang="zh-CN" altLang="en-US" sz="2800" kern="0" dirty="0">
                <a:ea typeface="宋体" charset="-122"/>
              </a:rPr>
              <a:t>如</a:t>
            </a:r>
            <a:r>
              <a:rPr kumimoji="0" lang="en-US" altLang="zh-CN" sz="2800" kern="0" dirty="0">
                <a:ea typeface="宋体" charset="-122"/>
              </a:rPr>
              <a:t>U5</a:t>
            </a:r>
            <a:r>
              <a:rPr kumimoji="0" lang="zh-CN" altLang="en-US" sz="2800" kern="0" dirty="0">
                <a:ea typeface="宋体" charset="-122"/>
              </a:rPr>
              <a:t>将此权限授予</a:t>
            </a:r>
            <a:r>
              <a:rPr kumimoji="0" lang="en-US" altLang="zh-CN" sz="2800" kern="0" dirty="0">
                <a:ea typeface="宋体" charset="-122"/>
              </a:rPr>
              <a:t>U6</a:t>
            </a:r>
            <a:r>
              <a:rPr kumimoji="0" lang="zh-CN" altLang="en-US" sz="2800" kern="0" dirty="0">
                <a:ea typeface="宋体" charset="-122"/>
              </a:rPr>
              <a:t>：</a:t>
            </a:r>
          </a:p>
          <a:p>
            <a:pPr lvl="1" algn="just">
              <a:buNone/>
            </a:pPr>
            <a:r>
              <a:rPr kumimoji="0" lang="en-US" altLang="zh-CN" sz="2400" kern="0" dirty="0">
                <a:ea typeface="宋体" charset="-122"/>
              </a:rPr>
              <a:t>[</a:t>
            </a:r>
            <a:r>
              <a:rPr kumimoji="0" lang="zh-CN" altLang="en-US" sz="2400" kern="0" dirty="0">
                <a:ea typeface="宋体" charset="-122"/>
              </a:rPr>
              <a:t>例</a:t>
            </a:r>
            <a:r>
              <a:rPr kumimoji="0" lang="en-US" altLang="zh-CN" sz="2400" kern="0" dirty="0">
                <a:ea typeface="宋体" charset="-122"/>
              </a:rPr>
              <a:t>4.6] GRANT INSERT</a:t>
            </a:r>
          </a:p>
          <a:p>
            <a:pPr lvl="1" algn="just">
              <a:buNone/>
            </a:pPr>
            <a:r>
              <a:rPr kumimoji="0" lang="en-US" altLang="zh-CN" sz="2400" kern="0" dirty="0">
                <a:ea typeface="宋体" charset="-122"/>
              </a:rPr>
              <a:t>           ON TABLE SC</a:t>
            </a:r>
          </a:p>
          <a:p>
            <a:pPr lvl="1" algn="just">
              <a:buNone/>
            </a:pPr>
            <a:r>
              <a:rPr kumimoji="0" lang="en-US" altLang="zh-CN" sz="2400" kern="0" dirty="0">
                <a:ea typeface="宋体" charset="-122"/>
              </a:rPr>
              <a:t>           TO U6</a:t>
            </a:r>
          </a:p>
          <a:p>
            <a:pPr lvl="1" algn="just">
              <a:buNone/>
            </a:pPr>
            <a:r>
              <a:rPr kumimoji="0" lang="en-US" altLang="zh-CN" sz="2400" kern="0" dirty="0">
                <a:solidFill>
                  <a:srgbClr val="FF0000"/>
                </a:solidFill>
                <a:ea typeface="宋体" charset="-122"/>
              </a:rPr>
              <a:t>           WITH GRANT OPTION;</a:t>
            </a:r>
          </a:p>
          <a:p>
            <a:pPr lvl="1" algn="just">
              <a:buNone/>
            </a:pPr>
            <a:r>
              <a:rPr kumimoji="0" lang="zh-CN" altLang="en-US" kern="0" dirty="0">
                <a:ea typeface="宋体" charset="-122"/>
              </a:rPr>
              <a:t>同样，</a:t>
            </a:r>
            <a:r>
              <a:rPr kumimoji="0" lang="en-US" altLang="zh-CN" kern="0" dirty="0">
                <a:solidFill>
                  <a:srgbClr val="0000FF"/>
                </a:solidFill>
                <a:ea typeface="宋体" charset="-122"/>
              </a:rPr>
              <a:t>U6</a:t>
            </a:r>
            <a:r>
              <a:rPr kumimoji="0" lang="zh-CN" altLang="en-US" kern="0" dirty="0">
                <a:solidFill>
                  <a:srgbClr val="0000FF"/>
                </a:solidFill>
                <a:ea typeface="宋体" charset="-122"/>
              </a:rPr>
              <a:t>还可以将此权限授予</a:t>
            </a:r>
            <a:r>
              <a:rPr kumimoji="0" lang="en-US" altLang="zh-CN" kern="0" dirty="0">
                <a:solidFill>
                  <a:srgbClr val="0000FF"/>
                </a:solidFill>
                <a:ea typeface="宋体" charset="-122"/>
              </a:rPr>
              <a:t>U7</a:t>
            </a:r>
            <a:r>
              <a:rPr kumimoji="0" lang="zh-CN" altLang="en-US" kern="0" dirty="0">
                <a:ea typeface="宋体" charset="-122"/>
              </a:rPr>
              <a:t>：</a:t>
            </a:r>
          </a:p>
          <a:p>
            <a:pPr lvl="1" algn="just">
              <a:buNone/>
            </a:pPr>
            <a:r>
              <a:rPr kumimoji="0" lang="en-US" altLang="zh-CN" sz="2400" kern="0" dirty="0">
                <a:ea typeface="宋体" charset="-122"/>
              </a:rPr>
              <a:t>[</a:t>
            </a:r>
            <a:r>
              <a:rPr kumimoji="0" lang="zh-CN" altLang="en-US" sz="2400" kern="0" dirty="0">
                <a:ea typeface="宋体" charset="-122"/>
              </a:rPr>
              <a:t>例</a:t>
            </a:r>
            <a:r>
              <a:rPr kumimoji="0" lang="en-US" altLang="zh-CN" sz="2400" kern="0" dirty="0">
                <a:ea typeface="宋体" charset="-122"/>
              </a:rPr>
              <a:t>4.7] GRANT INSERT</a:t>
            </a:r>
          </a:p>
          <a:p>
            <a:pPr lvl="1" algn="just">
              <a:buNone/>
            </a:pPr>
            <a:r>
              <a:rPr kumimoji="0" lang="en-US" altLang="zh-CN" sz="2400" kern="0" dirty="0">
                <a:ea typeface="宋体" charset="-122"/>
              </a:rPr>
              <a:t>           ON TABLE SC</a:t>
            </a:r>
          </a:p>
          <a:p>
            <a:pPr lvl="1" algn="just">
              <a:buNone/>
            </a:pPr>
            <a:r>
              <a:rPr kumimoji="0" lang="en-US" altLang="zh-CN" sz="2400" kern="0" dirty="0">
                <a:ea typeface="宋体" charset="-122"/>
              </a:rPr>
              <a:t>           TO U7;                   </a:t>
            </a:r>
            <a:r>
              <a:rPr kumimoji="0" lang="zh-CN" altLang="en-US" kern="0" dirty="0">
                <a:ea typeface="宋体" charset="-122"/>
              </a:rPr>
              <a:t>但</a:t>
            </a:r>
            <a:r>
              <a:rPr kumimoji="0" lang="en-US" altLang="zh-CN" kern="0" dirty="0">
                <a:solidFill>
                  <a:srgbClr val="0000FF"/>
                </a:solidFill>
                <a:ea typeface="宋体" charset="-122"/>
              </a:rPr>
              <a:t>U7</a:t>
            </a:r>
            <a:r>
              <a:rPr kumimoji="0" lang="zh-CN" altLang="en-US" kern="0" dirty="0">
                <a:solidFill>
                  <a:srgbClr val="0000FF"/>
                </a:solidFill>
                <a:ea typeface="宋体" charset="-122"/>
              </a:rPr>
              <a:t>不能再传播此权限</a:t>
            </a:r>
            <a:r>
              <a:rPr kumimoji="0" lang="zh-CN" altLang="en-US" kern="0" dirty="0">
                <a:ea typeface="宋体" charset="-122"/>
              </a:rPr>
              <a:t>。</a:t>
            </a:r>
            <a:r>
              <a:rPr kumimoji="0" lang="zh-CN" altLang="en-US" sz="1400" kern="0" dirty="0">
                <a:ea typeface="宋体" charset="-122"/>
              </a:rPr>
              <a:t>	  	</a:t>
            </a:r>
            <a:endParaRPr kumimoji="0" lang="zh-CN" altLang="en-US" sz="2400" kern="0" dirty="0">
              <a:ea typeface="宋体" charset="-122"/>
            </a:endParaRPr>
          </a:p>
        </p:txBody>
      </p:sp>
      <p:sp>
        <p:nvSpPr>
          <p:cNvPr id="6" name="灯片编号占位符 5">
            <a:extLst>
              <a:ext uri="{FF2B5EF4-FFF2-40B4-BE49-F238E27FC236}">
                <a16:creationId xmlns:a16="http://schemas.microsoft.com/office/drawing/2014/main" id="{7DB13ED8-F43B-AF91-88FB-C0A5A152CD1E}"/>
              </a:ext>
            </a:extLst>
          </p:cNvPr>
          <p:cNvSpPr>
            <a:spLocks noGrp="1"/>
          </p:cNvSpPr>
          <p:nvPr>
            <p:ph type="sldNum" sz="quarter" idx="12"/>
          </p:nvPr>
        </p:nvSpPr>
        <p:spPr/>
        <p:txBody>
          <a:bodyPr/>
          <a:lstStyle/>
          <a:p>
            <a:pPr>
              <a:defRPr/>
            </a:pPr>
            <a:fld id="{E0CD82EA-F7BE-454B-A83E-18830F6C5424}" type="slidenum">
              <a:rPr lang="en-US" altLang="zh-CN" smtClean="0"/>
              <a:pPr>
                <a:defRPr/>
              </a:pPr>
              <a:t>118</a:t>
            </a:fld>
            <a:r>
              <a:rPr lang="en-US" altLang="zh-CN"/>
              <a:t>/138</a:t>
            </a:r>
            <a:endParaRPr lang="zh-CN" altLang="en-US" dirty="0"/>
          </a:p>
        </p:txBody>
      </p:sp>
    </p:spTree>
    <p:extLst>
      <p:ext uri="{BB962C8B-B14F-4D97-AF65-F5344CB8AC3E}">
        <p14:creationId xmlns:p14="http://schemas.microsoft.com/office/powerpoint/2010/main" val="29324855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anim calcmode="lin" valueType="num">
                                      <p:cBhvr additive="base">
                                        <p:cTn id="11"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anim calcmode="lin" valueType="num">
                                      <p:cBhvr additive="base">
                                        <p:cTn id="15"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anim calcmode="lin" valueType="num">
                                      <p:cBhvr additive="base">
                                        <p:cTn id="19"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anim calcmode="lin" valueType="num">
                                      <p:cBhvr additive="base">
                                        <p:cTn id="25"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anim calcmode="lin" valueType="num">
                                      <p:cBhvr additive="base">
                                        <p:cTn id="31"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8">
                                            <p:txEl>
                                              <p:pRg st="8" end="8"/>
                                            </p:txEl>
                                          </p:spTgt>
                                        </p:tgtEl>
                                        <p:attrNameLst>
                                          <p:attrName>style.visibility</p:attrName>
                                        </p:attrNameLst>
                                      </p:cBhvr>
                                      <p:to>
                                        <p:strVal val="visible"/>
                                      </p:to>
                                    </p:set>
                                    <p:anim calcmode="lin" valueType="num">
                                      <p:cBhvr additive="base">
                                        <p:cTn id="35"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8">
                                            <p:txEl>
                                              <p:pRg st="9" end="9"/>
                                            </p:txEl>
                                          </p:spTgt>
                                        </p:tgtEl>
                                        <p:attrNameLst>
                                          <p:attrName>style.visibility</p:attrName>
                                        </p:attrNameLst>
                                      </p:cBhvr>
                                      <p:to>
                                        <p:strVal val="visible"/>
                                      </p:to>
                                    </p:set>
                                    <p:anim calcmode="lin" valueType="num">
                                      <p:cBhvr additive="base">
                                        <p:cTn id="39"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8">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DA210B58-3B27-4E16-91E0-E10D8DA40FAC}"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08898" name="Rectangle 2"/>
          <p:cNvSpPr>
            <a:spLocks noGrp="1" noChangeArrowheads="1"/>
          </p:cNvSpPr>
          <p:nvPr>
            <p:ph type="title"/>
          </p:nvPr>
        </p:nvSpPr>
        <p:spPr/>
        <p:txBody>
          <a:bodyPr/>
          <a:lstStyle/>
          <a:p>
            <a:r>
              <a:rPr lang="en-US" altLang="zh-CN" dirty="0"/>
              <a:t>4.7.1,5,6 </a:t>
            </a:r>
            <a:r>
              <a:rPr lang="zh-CN" altLang="en-US" dirty="0"/>
              <a:t>权限的授予与回收</a:t>
            </a:r>
          </a:p>
        </p:txBody>
      </p:sp>
      <p:sp>
        <p:nvSpPr>
          <p:cNvPr id="7" name="Rectangle 3"/>
          <p:cNvSpPr txBox="1">
            <a:spLocks noChangeArrowheads="1"/>
          </p:cNvSpPr>
          <p:nvPr/>
        </p:nvSpPr>
        <p:spPr bwMode="auto">
          <a:xfrm>
            <a:off x="395288" y="1520845"/>
            <a:ext cx="8075612"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42900" marR="0" lvl="0" indent="-34290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defRPr/>
            </a:pPr>
            <a:r>
              <a:rPr kumimoji="0" lang="zh-CN" altLang="en-US" sz="1800" b="0" i="0" u="none" strike="noStrike" kern="0" cap="none" spc="0" normalizeH="0" baseline="0" noProof="0">
                <a:ln>
                  <a:noFill/>
                </a:ln>
                <a:solidFill>
                  <a:schemeClr val="tx1"/>
                </a:solidFill>
                <a:effectLst/>
                <a:uLnTx/>
                <a:uFillTx/>
                <a:latin typeface="+mn-lt"/>
                <a:ea typeface="+mn-ea"/>
                <a:cs typeface="+mn-cs"/>
              </a:rPr>
              <a:t>执行了例4.</a:t>
            </a:r>
            <a:r>
              <a:rPr kumimoji="0" lang="en-US" altLang="zh-CN" sz="1800" b="0" i="0" u="none" strike="noStrike" kern="0" cap="none" spc="0" normalizeH="0" baseline="0" noProof="0">
                <a:ln>
                  <a:noFill/>
                </a:ln>
                <a:solidFill>
                  <a:schemeClr val="tx1"/>
                </a:solidFill>
                <a:effectLst/>
                <a:uLnTx/>
                <a:uFillTx/>
                <a:latin typeface="+mn-lt"/>
                <a:ea typeface="+mn-ea"/>
                <a:cs typeface="+mn-cs"/>
              </a:rPr>
              <a:t>1~</a:t>
            </a:r>
            <a:r>
              <a:rPr kumimoji="0" lang="zh-CN" altLang="en-US" sz="1800" b="0" i="0" u="none" strike="noStrike" kern="0" cap="none" spc="0" normalizeH="0" baseline="0" noProof="0">
                <a:ln>
                  <a:noFill/>
                </a:ln>
                <a:solidFill>
                  <a:schemeClr val="tx1"/>
                </a:solidFill>
                <a:effectLst/>
                <a:uLnTx/>
                <a:uFillTx/>
                <a:latin typeface="+mn-lt"/>
                <a:ea typeface="+mn-ea"/>
                <a:cs typeface="+mn-cs"/>
              </a:rPr>
              <a:t>例4.</a:t>
            </a:r>
            <a:r>
              <a:rPr kumimoji="0" lang="en-US" altLang="zh-CN" sz="1800" b="0" i="0" u="none" strike="noStrike" kern="0" cap="none" spc="0" normalizeH="0" baseline="0" noProof="0">
                <a:ln>
                  <a:noFill/>
                </a:ln>
                <a:solidFill>
                  <a:schemeClr val="tx1"/>
                </a:solidFill>
                <a:effectLst/>
                <a:uLnTx/>
                <a:uFillTx/>
                <a:latin typeface="+mn-lt"/>
                <a:ea typeface="+mn-ea"/>
                <a:cs typeface="+mn-cs"/>
              </a:rPr>
              <a:t>7</a:t>
            </a:r>
            <a:r>
              <a:rPr kumimoji="0" lang="zh-CN" altLang="en-US" sz="1800" b="0" i="0" u="none" strike="noStrike" kern="0" cap="none" spc="0" normalizeH="0" baseline="0" noProof="0">
                <a:ln>
                  <a:noFill/>
                </a:ln>
                <a:solidFill>
                  <a:schemeClr val="tx1"/>
                </a:solidFill>
                <a:effectLst/>
                <a:uLnTx/>
                <a:uFillTx/>
                <a:latin typeface="+mn-lt"/>
                <a:ea typeface="+mn-ea"/>
                <a:cs typeface="+mn-cs"/>
              </a:rPr>
              <a:t>语句后学生</a:t>
            </a:r>
            <a:r>
              <a:rPr kumimoji="0" lang="en-US" altLang="zh-CN" sz="1800" b="0" i="0" u="none" strike="noStrike" kern="0" cap="none" spc="0" normalizeH="0" baseline="0" noProof="0">
                <a:ln>
                  <a:noFill/>
                </a:ln>
                <a:solidFill>
                  <a:schemeClr val="tx1"/>
                </a:solidFill>
                <a:effectLst/>
                <a:uLnTx/>
                <a:uFillTx/>
                <a:latin typeface="+mn-lt"/>
                <a:ea typeface="+mn-ea"/>
                <a:cs typeface="+mn-cs"/>
              </a:rPr>
              <a:t>-</a:t>
            </a:r>
            <a:r>
              <a:rPr kumimoji="0" lang="zh-CN" altLang="en-US" sz="1800" b="0" i="0" u="none" strike="noStrike" kern="0" cap="none" spc="0" normalizeH="0" baseline="0" noProof="0">
                <a:ln>
                  <a:noFill/>
                </a:ln>
                <a:solidFill>
                  <a:schemeClr val="tx1"/>
                </a:solidFill>
                <a:effectLst/>
                <a:uLnTx/>
                <a:uFillTx/>
                <a:latin typeface="+mn-lt"/>
                <a:ea typeface="+mn-ea"/>
                <a:cs typeface="+mn-cs"/>
              </a:rPr>
              <a:t>课程数据库中的用户权限定义表 </a:t>
            </a:r>
            <a:endParaRPr kumimoji="0" lang="zh-CN" altLang="en-US" sz="1800" b="0" i="0" u="none" strike="noStrike" kern="0" cap="none" spc="0" normalizeH="0" baseline="0" noProof="0" dirty="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F0BBDC25-5E2D-4581-C446-202ED65BA38D}"/>
              </a:ext>
            </a:extLst>
          </p:cNvPr>
          <p:cNvSpPr>
            <a:spLocks noGrp="1"/>
          </p:cNvSpPr>
          <p:nvPr>
            <p:ph type="sldNum" sz="quarter" idx="12"/>
          </p:nvPr>
        </p:nvSpPr>
        <p:spPr/>
        <p:txBody>
          <a:bodyPr/>
          <a:lstStyle/>
          <a:p>
            <a:pPr>
              <a:defRPr/>
            </a:pPr>
            <a:fld id="{E0CD82EA-F7BE-454B-A83E-18830F6C5424}" type="slidenum">
              <a:rPr lang="en-US" altLang="zh-CN" smtClean="0"/>
              <a:pPr>
                <a:defRPr/>
              </a:pPr>
              <a:t>119</a:t>
            </a:fld>
            <a:r>
              <a:rPr lang="en-US" altLang="zh-CN"/>
              <a:t>/138</a:t>
            </a:r>
            <a:endParaRPr lang="zh-CN" altLang="en-US" dirty="0"/>
          </a:p>
        </p:txBody>
      </p:sp>
      <p:graphicFrame>
        <p:nvGraphicFramePr>
          <p:cNvPr id="9" name="Group 5"/>
          <p:cNvGraphicFramePr>
            <a:graphicFrameLocks noGrp="1"/>
          </p:cNvGraphicFramePr>
          <p:nvPr>
            <p:ph sz="half" idx="4294967295"/>
            <p:extLst>
              <p:ext uri="{D42A27DB-BD31-4B8C-83A1-F6EECF244321}">
                <p14:modId xmlns:p14="http://schemas.microsoft.com/office/powerpoint/2010/main" val="1698717772"/>
              </p:ext>
            </p:extLst>
          </p:nvPr>
        </p:nvGraphicFramePr>
        <p:xfrm>
          <a:off x="666750" y="1978066"/>
          <a:ext cx="8112125" cy="4664077"/>
        </p:xfrm>
        <a:graphic>
          <a:graphicData uri="http://schemas.openxmlformats.org/drawingml/2006/table">
            <a:tbl>
              <a:tblPr/>
              <a:tblGrid>
                <a:gridCol w="1405037">
                  <a:extLst>
                    <a:ext uri="{9D8B030D-6E8A-4147-A177-3AD203B41FA5}">
                      <a16:colId xmlns:a16="http://schemas.microsoft.com/office/drawing/2014/main" val="20000"/>
                    </a:ext>
                  </a:extLst>
                </a:gridCol>
                <a:gridCol w="1692175">
                  <a:extLst>
                    <a:ext uri="{9D8B030D-6E8A-4147-A177-3AD203B41FA5}">
                      <a16:colId xmlns:a16="http://schemas.microsoft.com/office/drawing/2014/main" val="20001"/>
                    </a:ext>
                  </a:extLst>
                </a:gridCol>
                <a:gridCol w="1764209">
                  <a:extLst>
                    <a:ext uri="{9D8B030D-6E8A-4147-A177-3AD203B41FA5}">
                      <a16:colId xmlns:a16="http://schemas.microsoft.com/office/drawing/2014/main" val="20002"/>
                    </a:ext>
                  </a:extLst>
                </a:gridCol>
                <a:gridCol w="1872754">
                  <a:extLst>
                    <a:ext uri="{9D8B030D-6E8A-4147-A177-3AD203B41FA5}">
                      <a16:colId xmlns:a16="http://schemas.microsoft.com/office/drawing/2014/main" val="20003"/>
                    </a:ext>
                  </a:extLst>
                </a:gridCol>
                <a:gridCol w="1377950">
                  <a:extLst>
                    <a:ext uri="{9D8B030D-6E8A-4147-A177-3AD203B41FA5}">
                      <a16:colId xmlns:a16="http://schemas.microsoft.com/office/drawing/2014/main" val="20004"/>
                    </a:ext>
                  </a:extLst>
                </a:gridCol>
              </a:tblGrid>
              <a:tr h="365810">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dirty="0">
                          <a:ln>
                            <a:noFill/>
                          </a:ln>
                          <a:solidFill>
                            <a:schemeClr val="tx1"/>
                          </a:solidFill>
                          <a:effectLst/>
                          <a:latin typeface="+mn-lt"/>
                          <a:ea typeface="宋体" pitchFamily="2" charset="-122"/>
                        </a:rPr>
                        <a:t>授权用户名</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dirty="0">
                          <a:ln>
                            <a:noFill/>
                          </a:ln>
                          <a:solidFill>
                            <a:schemeClr val="tx1"/>
                          </a:solidFill>
                          <a:effectLst/>
                          <a:latin typeface="+mn-lt"/>
                          <a:ea typeface="宋体" pitchFamily="2" charset="-122"/>
                        </a:rPr>
                        <a:t>被授权用户名</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a:ln>
                            <a:noFill/>
                          </a:ln>
                          <a:solidFill>
                            <a:schemeClr val="tx1"/>
                          </a:solidFill>
                          <a:effectLst/>
                          <a:latin typeface="+mn-lt"/>
                          <a:ea typeface="宋体" pitchFamily="2" charset="-122"/>
                        </a:rPr>
                        <a:t>数据库对象名</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a:ln>
                            <a:noFill/>
                          </a:ln>
                          <a:solidFill>
                            <a:schemeClr val="tx1"/>
                          </a:solidFill>
                          <a:effectLst/>
                          <a:latin typeface="+mn-lt"/>
                          <a:ea typeface="宋体" pitchFamily="2" charset="-122"/>
                        </a:rPr>
                        <a:t>允许的操作类型</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a:ln>
                            <a:noFill/>
                          </a:ln>
                          <a:solidFill>
                            <a:schemeClr val="tx1"/>
                          </a:solidFill>
                          <a:effectLst/>
                          <a:latin typeface="+mn-lt"/>
                          <a:ea typeface="宋体" pitchFamily="2" charset="-122"/>
                        </a:rPr>
                        <a:t>能否转授权</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365810">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DBA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U1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mn-lt"/>
                          <a:ea typeface="宋体" pitchFamily="2" charset="-122"/>
                        </a:rPr>
                        <a:t>关系</a:t>
                      </a:r>
                      <a:r>
                        <a:rPr kumimoji="0" lang="en-US" sz="1800" b="1" i="0" u="none" strike="noStrike" cap="none" normalizeH="0" baseline="0">
                          <a:ln>
                            <a:noFill/>
                          </a:ln>
                          <a:solidFill>
                            <a:schemeClr val="tx1"/>
                          </a:solidFill>
                          <a:effectLst/>
                          <a:latin typeface="+mn-lt"/>
                          <a:ea typeface="宋体" pitchFamily="2" charset="-122"/>
                        </a:rPr>
                        <a:t>Student</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SELECT</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a:ln>
                            <a:noFill/>
                          </a:ln>
                          <a:solidFill>
                            <a:schemeClr val="tx1"/>
                          </a:solidFill>
                          <a:effectLst/>
                          <a:latin typeface="+mn-lt"/>
                          <a:ea typeface="宋体" pitchFamily="2" charset="-122"/>
                        </a:rPr>
                        <a:t>不能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65810">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DBA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U2</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宋体" pitchFamily="2" charset="-122"/>
                        </a:rPr>
                        <a:t>关系</a:t>
                      </a:r>
                      <a:r>
                        <a:rPr kumimoji="0" lang="en-US" sz="1800" b="1" i="0" u="none" strike="noStrike" cap="none" normalizeH="0" baseline="0" dirty="0">
                          <a:ln>
                            <a:noFill/>
                          </a:ln>
                          <a:solidFill>
                            <a:schemeClr val="tx1"/>
                          </a:solidFill>
                          <a:effectLst/>
                          <a:latin typeface="+mn-lt"/>
                          <a:ea typeface="宋体" pitchFamily="2" charset="-122"/>
                        </a:rPr>
                        <a:t>Student</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ALL</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a:ln>
                            <a:noFill/>
                          </a:ln>
                          <a:solidFill>
                            <a:schemeClr val="tx1"/>
                          </a:solidFill>
                          <a:effectLst/>
                          <a:latin typeface="+mn-lt"/>
                          <a:ea typeface="宋体" pitchFamily="2" charset="-122"/>
                        </a:rPr>
                        <a:t>不能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365810">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DBA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U2</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宋体" pitchFamily="2" charset="-122"/>
                        </a:rPr>
                        <a:t>关系</a:t>
                      </a:r>
                      <a:r>
                        <a:rPr kumimoji="0" lang="en-US" sz="1800" b="1" i="0" u="none" strike="noStrike" cap="none" normalizeH="0" baseline="0" dirty="0">
                          <a:ln>
                            <a:noFill/>
                          </a:ln>
                          <a:solidFill>
                            <a:schemeClr val="tx1"/>
                          </a:solidFill>
                          <a:effectLst/>
                          <a:latin typeface="+mn-lt"/>
                          <a:ea typeface="宋体" pitchFamily="2" charset="-122"/>
                        </a:rPr>
                        <a:t>Course</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ALL</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a:ln>
                            <a:noFill/>
                          </a:ln>
                          <a:solidFill>
                            <a:schemeClr val="tx1"/>
                          </a:solidFill>
                          <a:effectLst/>
                          <a:latin typeface="+mn-lt"/>
                          <a:ea typeface="宋体" pitchFamily="2" charset="-122"/>
                        </a:rPr>
                        <a:t>不能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365810">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DBA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U3</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宋体" pitchFamily="2" charset="-122"/>
                        </a:rPr>
                        <a:t>关系</a:t>
                      </a:r>
                      <a:r>
                        <a:rPr kumimoji="0" lang="en-US" sz="1800" b="1" i="0" u="none" strike="noStrike" cap="none" normalizeH="0" baseline="0" dirty="0">
                          <a:ln>
                            <a:noFill/>
                          </a:ln>
                          <a:solidFill>
                            <a:schemeClr val="tx1"/>
                          </a:solidFill>
                          <a:effectLst/>
                          <a:latin typeface="+mn-lt"/>
                          <a:ea typeface="宋体" pitchFamily="2" charset="-122"/>
                        </a:rPr>
                        <a:t>Student</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ALL</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a:ln>
                            <a:noFill/>
                          </a:ln>
                          <a:solidFill>
                            <a:schemeClr val="tx1"/>
                          </a:solidFill>
                          <a:effectLst/>
                          <a:latin typeface="+mn-lt"/>
                          <a:ea typeface="宋体" pitchFamily="2" charset="-122"/>
                        </a:rPr>
                        <a:t>不能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365810">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DBA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U3</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宋体" pitchFamily="2" charset="-122"/>
                        </a:rPr>
                        <a:t>关系</a:t>
                      </a:r>
                      <a:r>
                        <a:rPr kumimoji="0" lang="en-US" sz="1800" b="1" i="0" u="none" strike="noStrike" cap="none" normalizeH="0" baseline="0" dirty="0">
                          <a:ln>
                            <a:noFill/>
                          </a:ln>
                          <a:solidFill>
                            <a:schemeClr val="tx1"/>
                          </a:solidFill>
                          <a:effectLst/>
                          <a:latin typeface="+mn-lt"/>
                          <a:ea typeface="宋体" pitchFamily="2" charset="-122"/>
                        </a:rPr>
                        <a:t>Course</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ALL</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dirty="0">
                          <a:ln>
                            <a:noFill/>
                          </a:ln>
                          <a:solidFill>
                            <a:schemeClr val="tx1"/>
                          </a:solidFill>
                          <a:effectLst/>
                          <a:latin typeface="+mn-lt"/>
                          <a:ea typeface="宋体" pitchFamily="2" charset="-122"/>
                        </a:rPr>
                        <a:t>不能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365810">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DBA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PUBLIC</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mn-lt"/>
                          <a:ea typeface="宋体" pitchFamily="2" charset="-122"/>
                        </a:rPr>
                        <a:t>关系</a:t>
                      </a:r>
                      <a:r>
                        <a:rPr kumimoji="0" lang="en-US" sz="1800" b="1" i="0" u="none" strike="noStrike" cap="none" normalizeH="0" baseline="0">
                          <a:ln>
                            <a:noFill/>
                          </a:ln>
                          <a:solidFill>
                            <a:schemeClr val="tx1"/>
                          </a:solidFill>
                          <a:effectLst/>
                          <a:latin typeface="+mn-lt"/>
                          <a:ea typeface="宋体" pitchFamily="2" charset="-122"/>
                        </a:rPr>
                        <a:t>SC</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SELECT</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dirty="0">
                          <a:ln>
                            <a:noFill/>
                          </a:ln>
                          <a:solidFill>
                            <a:schemeClr val="tx1"/>
                          </a:solidFill>
                          <a:effectLst/>
                          <a:latin typeface="+mn-lt"/>
                          <a:ea typeface="宋体" pitchFamily="2" charset="-122"/>
                        </a:rPr>
                        <a:t>不能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6"/>
                  </a:ext>
                </a:extLst>
              </a:tr>
              <a:tr h="365810">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DBA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U4</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mn-lt"/>
                          <a:ea typeface="宋体" pitchFamily="2" charset="-122"/>
                        </a:rPr>
                        <a:t>关系</a:t>
                      </a:r>
                      <a:r>
                        <a:rPr kumimoji="0" lang="en-US" sz="1800" b="1" i="0" u="none" strike="noStrike" cap="none" normalizeH="0" baseline="0">
                          <a:ln>
                            <a:noFill/>
                          </a:ln>
                          <a:solidFill>
                            <a:schemeClr val="tx1"/>
                          </a:solidFill>
                          <a:effectLst/>
                          <a:latin typeface="+mn-lt"/>
                          <a:ea typeface="宋体" pitchFamily="2" charset="-122"/>
                        </a:rPr>
                        <a:t>Student</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SELECT</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dirty="0">
                          <a:ln>
                            <a:noFill/>
                          </a:ln>
                          <a:solidFill>
                            <a:schemeClr val="tx1"/>
                          </a:solidFill>
                          <a:effectLst/>
                          <a:latin typeface="+mn-lt"/>
                          <a:ea typeface="宋体" pitchFamily="2" charset="-122"/>
                        </a:rPr>
                        <a:t>不能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r h="640167">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DBA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U4</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宋体" pitchFamily="2" charset="-122"/>
                        </a:rPr>
                        <a:t>属性列</a:t>
                      </a:r>
                      <a:r>
                        <a:rPr kumimoji="0" lang="en-US" sz="1800" b="1" i="0" u="none" strike="noStrike" cap="none" normalizeH="0" baseline="0" dirty="0" err="1">
                          <a:ln>
                            <a:noFill/>
                          </a:ln>
                          <a:solidFill>
                            <a:schemeClr val="tx1"/>
                          </a:solidFill>
                          <a:effectLst/>
                          <a:latin typeface="+mn-lt"/>
                          <a:ea typeface="宋体" pitchFamily="2" charset="-122"/>
                        </a:rPr>
                        <a:t>Student.Sno</a:t>
                      </a:r>
                      <a:endParaRPr kumimoji="0" lang="en-US" sz="1800" b="1" i="0" u="none" strike="noStrike" cap="none" normalizeH="0" baseline="0" dirty="0">
                        <a:ln>
                          <a:noFill/>
                        </a:ln>
                        <a:solidFill>
                          <a:schemeClr val="tx1"/>
                        </a:solidFill>
                        <a:effectLst/>
                        <a:latin typeface="+mn-lt"/>
                        <a:ea typeface="宋体"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UPDATE</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dirty="0">
                          <a:ln>
                            <a:noFill/>
                          </a:ln>
                          <a:solidFill>
                            <a:schemeClr val="tx1"/>
                          </a:solidFill>
                          <a:effectLst/>
                          <a:latin typeface="+mn-lt"/>
                          <a:ea typeface="宋体" pitchFamily="2" charset="-122"/>
                        </a:rPr>
                        <a:t>不能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8"/>
                  </a:ext>
                </a:extLst>
              </a:tr>
              <a:tr h="365810">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DBA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U5</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宋体" pitchFamily="2" charset="-122"/>
                        </a:rPr>
                        <a:t>关系</a:t>
                      </a:r>
                      <a:r>
                        <a:rPr kumimoji="0" lang="en-US" sz="1800" b="1" i="0" u="none" strike="noStrike" cap="none" normalizeH="0" baseline="0" dirty="0">
                          <a:ln>
                            <a:noFill/>
                          </a:ln>
                          <a:solidFill>
                            <a:schemeClr val="tx1"/>
                          </a:solidFill>
                          <a:effectLst/>
                          <a:latin typeface="+mn-lt"/>
                          <a:ea typeface="宋体" pitchFamily="2" charset="-122"/>
                        </a:rPr>
                        <a:t>SC</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INSERT</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dirty="0">
                          <a:ln>
                            <a:noFill/>
                          </a:ln>
                          <a:solidFill>
                            <a:schemeClr val="tx1"/>
                          </a:solidFill>
                          <a:effectLst/>
                          <a:latin typeface="+mn-lt"/>
                          <a:ea typeface="宋体" pitchFamily="2" charset="-122"/>
                        </a:rPr>
                        <a:t>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09"/>
                  </a:ext>
                </a:extLst>
              </a:tr>
              <a:tr h="365810">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U5</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U6</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宋体" pitchFamily="2" charset="-122"/>
                        </a:rPr>
                        <a:t>关系</a:t>
                      </a:r>
                      <a:r>
                        <a:rPr kumimoji="0" lang="en-US" sz="1800" b="1" i="0" u="none" strike="noStrike" cap="none" normalizeH="0" baseline="0" dirty="0">
                          <a:ln>
                            <a:noFill/>
                          </a:ln>
                          <a:solidFill>
                            <a:schemeClr val="tx1"/>
                          </a:solidFill>
                          <a:effectLst/>
                          <a:latin typeface="+mn-lt"/>
                          <a:ea typeface="宋体" pitchFamily="2" charset="-122"/>
                        </a:rPr>
                        <a:t>SC</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INSERT</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dirty="0">
                          <a:ln>
                            <a:noFill/>
                          </a:ln>
                          <a:solidFill>
                            <a:schemeClr val="tx1"/>
                          </a:solidFill>
                          <a:effectLst/>
                          <a:latin typeface="+mn-lt"/>
                          <a:ea typeface="宋体" pitchFamily="2" charset="-122"/>
                        </a:rPr>
                        <a:t>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a16="http://schemas.microsoft.com/office/drawing/2014/main" val="10010"/>
                  </a:ext>
                </a:extLst>
              </a:tr>
              <a:tr h="365810">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U6</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U7</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宋体" pitchFamily="2" charset="-122"/>
                        </a:rPr>
                        <a:t>关系</a:t>
                      </a:r>
                      <a:r>
                        <a:rPr kumimoji="0" lang="en-US" sz="1800" b="1" i="0" u="none" strike="noStrike" cap="none" normalizeH="0" baseline="0" dirty="0">
                          <a:ln>
                            <a:noFill/>
                          </a:ln>
                          <a:solidFill>
                            <a:schemeClr val="tx1"/>
                          </a:solidFill>
                          <a:effectLst/>
                          <a:latin typeface="+mn-lt"/>
                          <a:ea typeface="宋体" pitchFamily="2" charset="-122"/>
                        </a:rPr>
                        <a:t>SC</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INSERT</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dirty="0">
                          <a:ln>
                            <a:noFill/>
                          </a:ln>
                          <a:solidFill>
                            <a:schemeClr val="tx1"/>
                          </a:solidFill>
                          <a:effectLst/>
                          <a:latin typeface="+mn-lt"/>
                          <a:ea typeface="宋体" pitchFamily="2" charset="-122"/>
                        </a:rPr>
                        <a:t>不能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571021015"/>
      </p:ext>
    </p:extLst>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972FBF0-9FAD-4EDA-9EB0-831185550D84}"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08898" name="Rectangle 2"/>
          <p:cNvSpPr>
            <a:spLocks noGrp="1" noChangeArrowheads="1"/>
          </p:cNvSpPr>
          <p:nvPr>
            <p:ph type="title"/>
          </p:nvPr>
        </p:nvSpPr>
        <p:spPr/>
        <p:txBody>
          <a:bodyPr/>
          <a:lstStyle/>
          <a:p>
            <a:r>
              <a:rPr lang="en-US" altLang="zh-CN" dirty="0"/>
              <a:t>4.7.1,5,6 </a:t>
            </a:r>
            <a:r>
              <a:rPr lang="zh-CN" altLang="en-US" dirty="0"/>
              <a:t>权限的授予与回收</a:t>
            </a:r>
          </a:p>
        </p:txBody>
      </p:sp>
      <p:sp>
        <p:nvSpPr>
          <p:cNvPr id="7" name="Rectangle 3"/>
          <p:cNvSpPr txBox="1">
            <a:spLocks noChangeArrowheads="1"/>
          </p:cNvSpPr>
          <p:nvPr/>
        </p:nvSpPr>
        <p:spPr bwMode="auto">
          <a:xfrm>
            <a:off x="395288" y="1520845"/>
            <a:ext cx="8075612"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42900" marR="0" lvl="0" indent="-34290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defRPr/>
            </a:pPr>
            <a:r>
              <a:rPr kumimoji="0" lang="zh-CN" altLang="en-US" sz="1800" b="0" i="0" u="none" strike="noStrike" kern="0" cap="none" spc="0" normalizeH="0" baseline="0" noProof="0" dirty="0">
                <a:ln>
                  <a:noFill/>
                </a:ln>
                <a:solidFill>
                  <a:schemeClr val="tx1"/>
                </a:solidFill>
                <a:effectLst/>
                <a:uLnTx/>
                <a:uFillTx/>
                <a:latin typeface="+mn-lt"/>
                <a:ea typeface="+mn-ea"/>
                <a:cs typeface="+mn-cs"/>
              </a:rPr>
              <a:t>执行了例4.</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1~</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例4.</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7</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语句后</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 </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授权图</a:t>
            </a:r>
          </a:p>
        </p:txBody>
      </p:sp>
      <p:sp>
        <p:nvSpPr>
          <p:cNvPr id="8" name="TextBox 7"/>
          <p:cNvSpPr txBox="1"/>
          <p:nvPr/>
        </p:nvSpPr>
        <p:spPr>
          <a:xfrm>
            <a:off x="2627784" y="3464265"/>
            <a:ext cx="583173" cy="369332"/>
          </a:xfrm>
          <a:prstGeom prst="rect">
            <a:avLst/>
          </a:prstGeom>
          <a:noFill/>
        </p:spPr>
        <p:txBody>
          <a:bodyPr wrap="none" rtlCol="0">
            <a:spAutoFit/>
          </a:bodyPr>
          <a:lstStyle/>
          <a:p>
            <a:r>
              <a:rPr lang="en-US" altLang="zh-CN" dirty="0"/>
              <a:t>DBA</a:t>
            </a:r>
            <a:endParaRPr lang="zh-CN" altLang="en-US" dirty="0"/>
          </a:p>
        </p:txBody>
      </p:sp>
      <p:sp>
        <p:nvSpPr>
          <p:cNvPr id="10" name="TextBox 9"/>
          <p:cNvSpPr txBox="1"/>
          <p:nvPr/>
        </p:nvSpPr>
        <p:spPr>
          <a:xfrm>
            <a:off x="3694094" y="2181947"/>
            <a:ext cx="449162" cy="369332"/>
          </a:xfrm>
          <a:prstGeom prst="rect">
            <a:avLst/>
          </a:prstGeom>
          <a:noFill/>
        </p:spPr>
        <p:txBody>
          <a:bodyPr wrap="none" rtlCol="0">
            <a:spAutoFit/>
          </a:bodyPr>
          <a:lstStyle/>
          <a:p>
            <a:r>
              <a:rPr lang="en-US" altLang="zh-CN" dirty="0"/>
              <a:t>U1</a:t>
            </a:r>
            <a:endParaRPr lang="zh-CN" altLang="en-US" dirty="0"/>
          </a:p>
        </p:txBody>
      </p:sp>
      <p:sp>
        <p:nvSpPr>
          <p:cNvPr id="11" name="TextBox 10"/>
          <p:cNvSpPr txBox="1"/>
          <p:nvPr/>
        </p:nvSpPr>
        <p:spPr>
          <a:xfrm>
            <a:off x="3694094" y="2849079"/>
            <a:ext cx="449162" cy="369332"/>
          </a:xfrm>
          <a:prstGeom prst="rect">
            <a:avLst/>
          </a:prstGeom>
          <a:noFill/>
        </p:spPr>
        <p:txBody>
          <a:bodyPr wrap="none" rtlCol="0">
            <a:spAutoFit/>
          </a:bodyPr>
          <a:lstStyle/>
          <a:p>
            <a:r>
              <a:rPr lang="en-US" altLang="zh-CN" dirty="0"/>
              <a:t>U2</a:t>
            </a:r>
            <a:endParaRPr lang="zh-CN" altLang="en-US" dirty="0"/>
          </a:p>
        </p:txBody>
      </p:sp>
      <p:sp>
        <p:nvSpPr>
          <p:cNvPr id="12" name="TextBox 11"/>
          <p:cNvSpPr txBox="1"/>
          <p:nvPr/>
        </p:nvSpPr>
        <p:spPr>
          <a:xfrm>
            <a:off x="3694094" y="3464265"/>
            <a:ext cx="449162" cy="369332"/>
          </a:xfrm>
          <a:prstGeom prst="rect">
            <a:avLst/>
          </a:prstGeom>
          <a:noFill/>
        </p:spPr>
        <p:txBody>
          <a:bodyPr wrap="none" rtlCol="0">
            <a:spAutoFit/>
          </a:bodyPr>
          <a:lstStyle/>
          <a:p>
            <a:r>
              <a:rPr lang="en-US" altLang="zh-CN" dirty="0"/>
              <a:t>U3</a:t>
            </a:r>
            <a:endParaRPr lang="zh-CN" altLang="en-US" dirty="0"/>
          </a:p>
        </p:txBody>
      </p:sp>
      <p:cxnSp>
        <p:nvCxnSpPr>
          <p:cNvPr id="13" name="直接箭头连接符 12"/>
          <p:cNvCxnSpPr>
            <a:stCxn id="8" idx="3"/>
            <a:endCxn id="10" idx="1"/>
          </p:cNvCxnSpPr>
          <p:nvPr/>
        </p:nvCxnSpPr>
        <p:spPr>
          <a:xfrm flipV="1">
            <a:off x="3210957" y="2366613"/>
            <a:ext cx="483137" cy="128231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直接箭头连接符 13"/>
          <p:cNvCxnSpPr>
            <a:stCxn id="8" idx="3"/>
            <a:endCxn id="11" idx="1"/>
          </p:cNvCxnSpPr>
          <p:nvPr/>
        </p:nvCxnSpPr>
        <p:spPr>
          <a:xfrm flipV="1">
            <a:off x="3210957" y="3033745"/>
            <a:ext cx="483137" cy="6151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直接箭头连接符 14"/>
          <p:cNvCxnSpPr>
            <a:stCxn id="8" idx="3"/>
            <a:endCxn id="12" idx="1"/>
          </p:cNvCxnSpPr>
          <p:nvPr/>
        </p:nvCxnSpPr>
        <p:spPr>
          <a:xfrm>
            <a:off x="3210957" y="3648931"/>
            <a:ext cx="483137"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694094" y="4071687"/>
            <a:ext cx="449162" cy="369332"/>
          </a:xfrm>
          <a:prstGeom prst="rect">
            <a:avLst/>
          </a:prstGeom>
          <a:noFill/>
        </p:spPr>
        <p:txBody>
          <a:bodyPr wrap="none" rtlCol="0">
            <a:spAutoFit/>
          </a:bodyPr>
          <a:lstStyle/>
          <a:p>
            <a:r>
              <a:rPr lang="en-US" altLang="zh-CN" dirty="0"/>
              <a:t>U4</a:t>
            </a:r>
            <a:endParaRPr lang="zh-CN" altLang="en-US" dirty="0"/>
          </a:p>
        </p:txBody>
      </p:sp>
      <p:cxnSp>
        <p:nvCxnSpPr>
          <p:cNvPr id="17" name="直接箭头连接符 16"/>
          <p:cNvCxnSpPr>
            <a:stCxn id="8" idx="3"/>
            <a:endCxn id="16" idx="1"/>
          </p:cNvCxnSpPr>
          <p:nvPr/>
        </p:nvCxnSpPr>
        <p:spPr>
          <a:xfrm>
            <a:off x="3210957" y="3648931"/>
            <a:ext cx="483137" cy="60742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715694" y="4756713"/>
            <a:ext cx="449162" cy="369332"/>
          </a:xfrm>
          <a:prstGeom prst="rect">
            <a:avLst/>
          </a:prstGeom>
          <a:noFill/>
        </p:spPr>
        <p:txBody>
          <a:bodyPr wrap="none" rtlCol="0">
            <a:spAutoFit/>
          </a:bodyPr>
          <a:lstStyle/>
          <a:p>
            <a:r>
              <a:rPr lang="en-US" altLang="zh-CN" dirty="0"/>
              <a:t>U5</a:t>
            </a:r>
            <a:endParaRPr lang="zh-CN" altLang="en-US" dirty="0"/>
          </a:p>
        </p:txBody>
      </p:sp>
      <p:cxnSp>
        <p:nvCxnSpPr>
          <p:cNvPr id="19" name="直接箭头连接符 18"/>
          <p:cNvCxnSpPr>
            <a:stCxn id="8" idx="3"/>
            <a:endCxn id="18" idx="1"/>
          </p:cNvCxnSpPr>
          <p:nvPr/>
        </p:nvCxnSpPr>
        <p:spPr>
          <a:xfrm>
            <a:off x="3210957" y="3648931"/>
            <a:ext cx="504737" cy="129244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482878" y="4756713"/>
            <a:ext cx="449162" cy="369332"/>
          </a:xfrm>
          <a:prstGeom prst="rect">
            <a:avLst/>
          </a:prstGeom>
          <a:noFill/>
        </p:spPr>
        <p:txBody>
          <a:bodyPr wrap="none" rtlCol="0">
            <a:spAutoFit/>
          </a:bodyPr>
          <a:lstStyle/>
          <a:p>
            <a:r>
              <a:rPr lang="en-US" altLang="zh-CN" dirty="0"/>
              <a:t>U6</a:t>
            </a:r>
            <a:endParaRPr lang="zh-CN" altLang="en-US" dirty="0"/>
          </a:p>
        </p:txBody>
      </p:sp>
      <p:sp>
        <p:nvSpPr>
          <p:cNvPr id="21" name="TextBox 20"/>
          <p:cNvSpPr txBox="1"/>
          <p:nvPr/>
        </p:nvSpPr>
        <p:spPr>
          <a:xfrm>
            <a:off x="5292080" y="4756713"/>
            <a:ext cx="449162" cy="369332"/>
          </a:xfrm>
          <a:prstGeom prst="rect">
            <a:avLst/>
          </a:prstGeom>
          <a:noFill/>
        </p:spPr>
        <p:txBody>
          <a:bodyPr wrap="none" rtlCol="0">
            <a:spAutoFit/>
          </a:bodyPr>
          <a:lstStyle/>
          <a:p>
            <a:r>
              <a:rPr lang="en-US" altLang="zh-CN" dirty="0"/>
              <a:t>U7</a:t>
            </a:r>
            <a:endParaRPr lang="zh-CN" altLang="en-US" dirty="0"/>
          </a:p>
        </p:txBody>
      </p:sp>
      <p:cxnSp>
        <p:nvCxnSpPr>
          <p:cNvPr id="22" name="直接箭头连接符 21"/>
          <p:cNvCxnSpPr/>
          <p:nvPr/>
        </p:nvCxnSpPr>
        <p:spPr>
          <a:xfrm>
            <a:off x="4164856" y="4953000"/>
            <a:ext cx="31802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直接箭头连接符 22"/>
          <p:cNvCxnSpPr/>
          <p:nvPr/>
        </p:nvCxnSpPr>
        <p:spPr>
          <a:xfrm>
            <a:off x="4932040" y="4953000"/>
            <a:ext cx="36004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 name="灯片编号占位符 5">
            <a:extLst>
              <a:ext uri="{FF2B5EF4-FFF2-40B4-BE49-F238E27FC236}">
                <a16:creationId xmlns:a16="http://schemas.microsoft.com/office/drawing/2014/main" id="{6027B75A-14E9-AF9C-7B5F-F718C7BE06BC}"/>
              </a:ext>
            </a:extLst>
          </p:cNvPr>
          <p:cNvSpPr>
            <a:spLocks noGrp="1"/>
          </p:cNvSpPr>
          <p:nvPr>
            <p:ph type="sldNum" sz="quarter" idx="12"/>
          </p:nvPr>
        </p:nvSpPr>
        <p:spPr/>
        <p:txBody>
          <a:bodyPr/>
          <a:lstStyle/>
          <a:p>
            <a:pPr>
              <a:defRPr/>
            </a:pPr>
            <a:fld id="{E0CD82EA-F7BE-454B-A83E-18830F6C5424}" type="slidenum">
              <a:rPr lang="en-US" altLang="zh-CN" smtClean="0"/>
              <a:pPr>
                <a:defRPr/>
              </a:pPr>
              <a:t>120</a:t>
            </a:fld>
            <a:r>
              <a:rPr lang="en-US" altLang="zh-CN"/>
              <a:t>/138</a:t>
            </a:r>
            <a:endParaRPr lang="zh-CN" altLang="en-US" dirty="0"/>
          </a:p>
        </p:txBody>
      </p:sp>
    </p:spTree>
    <p:extLst>
      <p:ext uri="{BB962C8B-B14F-4D97-AF65-F5344CB8AC3E}">
        <p14:creationId xmlns:p14="http://schemas.microsoft.com/office/powerpoint/2010/main" val="3108241448"/>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984E65C-B37B-470C-8590-73A5FDE404F7}"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09922" name="Rectangle 2"/>
          <p:cNvSpPr>
            <a:spLocks noGrp="1" noChangeArrowheads="1"/>
          </p:cNvSpPr>
          <p:nvPr>
            <p:ph type="title"/>
          </p:nvPr>
        </p:nvSpPr>
        <p:spPr/>
        <p:txBody>
          <a:bodyPr/>
          <a:lstStyle/>
          <a:p>
            <a:r>
              <a:rPr lang="en-US" altLang="zh-CN" dirty="0"/>
              <a:t>4.7.1,5,6 </a:t>
            </a:r>
            <a:r>
              <a:rPr lang="zh-CN" altLang="en-US" dirty="0"/>
              <a:t>权限的授予与回收</a:t>
            </a:r>
          </a:p>
        </p:txBody>
      </p:sp>
      <p:sp>
        <p:nvSpPr>
          <p:cNvPr id="209923" name="Rectangle 3"/>
          <p:cNvSpPr>
            <a:spLocks noGrp="1" noChangeArrowheads="1"/>
          </p:cNvSpPr>
          <p:nvPr>
            <p:ph type="body" idx="1"/>
          </p:nvPr>
        </p:nvSpPr>
        <p:spPr>
          <a:xfrm>
            <a:off x="609600" y="1447800"/>
            <a:ext cx="8345488" cy="5105400"/>
          </a:xfrm>
        </p:spPr>
        <p:txBody>
          <a:bodyPr/>
          <a:lstStyle/>
          <a:p>
            <a:r>
              <a:rPr lang="en-US" altLang="zh-CN" dirty="0"/>
              <a:t>SQL</a:t>
            </a:r>
            <a:r>
              <a:rPr lang="zh-CN" altLang="en-US" dirty="0"/>
              <a:t>权限回收</a:t>
            </a:r>
          </a:p>
          <a:p>
            <a:pPr lvl="1"/>
            <a:r>
              <a:rPr lang="en-US" altLang="zh-CN" dirty="0">
                <a:solidFill>
                  <a:srgbClr val="0000FF"/>
                </a:solidFill>
              </a:rPr>
              <a:t>REVOKE</a:t>
            </a:r>
          </a:p>
          <a:p>
            <a:pPr lvl="1"/>
            <a:r>
              <a:rPr lang="zh-CN" altLang="en-US" dirty="0"/>
              <a:t>格式</a:t>
            </a:r>
          </a:p>
          <a:p>
            <a:pPr lvl="1">
              <a:buFont typeface="Wingdings" pitchFamily="2" charset="2"/>
              <a:buNone/>
            </a:pPr>
            <a:r>
              <a:rPr lang="en-US" altLang="zh-CN" dirty="0">
                <a:solidFill>
                  <a:srgbClr val="F40000"/>
                </a:solidFill>
              </a:rPr>
              <a:t>REVOKE</a:t>
            </a:r>
            <a:r>
              <a:rPr lang="en-US" altLang="zh-CN" dirty="0"/>
              <a:t> &lt;</a:t>
            </a:r>
            <a:r>
              <a:rPr lang="zh-CN" altLang="en-US" dirty="0"/>
              <a:t>权限</a:t>
            </a:r>
            <a:r>
              <a:rPr lang="en-US" altLang="zh-CN" dirty="0"/>
              <a:t>&gt;, [, &lt;</a:t>
            </a:r>
            <a:r>
              <a:rPr lang="zh-CN" altLang="en-US" dirty="0"/>
              <a:t>权限</a:t>
            </a:r>
            <a:r>
              <a:rPr lang="en-US" altLang="zh-CN" dirty="0"/>
              <a:t>&gt;]</a:t>
            </a:r>
            <a:r>
              <a:rPr lang="en-US" altLang="zh-CN" dirty="0">
                <a:latin typeface="Arial"/>
              </a:rPr>
              <a:t>…</a:t>
            </a:r>
            <a:endParaRPr lang="en-US" altLang="zh-CN" dirty="0"/>
          </a:p>
          <a:p>
            <a:pPr lvl="1">
              <a:buFont typeface="Wingdings" pitchFamily="2" charset="2"/>
              <a:buNone/>
            </a:pPr>
            <a:r>
              <a:rPr lang="en-US" altLang="zh-CN" dirty="0">
                <a:solidFill>
                  <a:srgbClr val="F40000"/>
                </a:solidFill>
              </a:rPr>
              <a:t>ON</a:t>
            </a:r>
            <a:r>
              <a:rPr lang="en-US" altLang="zh-CN" dirty="0"/>
              <a:t> &lt;</a:t>
            </a:r>
            <a:r>
              <a:rPr lang="zh-CN" altLang="en-US" dirty="0"/>
              <a:t>对象类型</a:t>
            </a:r>
            <a:r>
              <a:rPr lang="en-US" altLang="zh-CN" dirty="0"/>
              <a:t>&gt; &lt;</a:t>
            </a:r>
            <a:r>
              <a:rPr lang="zh-CN" altLang="en-US" dirty="0"/>
              <a:t>对象名</a:t>
            </a:r>
            <a:r>
              <a:rPr lang="en-US" altLang="zh-CN" dirty="0"/>
              <a:t>&gt;[, &lt;</a:t>
            </a:r>
            <a:r>
              <a:rPr lang="zh-CN" altLang="en-US" dirty="0"/>
              <a:t>对象类型</a:t>
            </a:r>
            <a:r>
              <a:rPr lang="en-US" altLang="zh-CN" dirty="0"/>
              <a:t>&gt; &lt;</a:t>
            </a:r>
            <a:r>
              <a:rPr lang="zh-CN" altLang="en-US" dirty="0"/>
              <a:t>对象名</a:t>
            </a:r>
            <a:r>
              <a:rPr lang="en-US" altLang="zh-CN" dirty="0"/>
              <a:t>&gt;]</a:t>
            </a:r>
            <a:r>
              <a:rPr lang="en-US" altLang="zh-CN" dirty="0">
                <a:latin typeface="Arial"/>
              </a:rPr>
              <a:t>…</a:t>
            </a:r>
            <a:endParaRPr lang="en-US" altLang="zh-CN" dirty="0"/>
          </a:p>
          <a:p>
            <a:pPr lvl="1">
              <a:buFont typeface="Wingdings" pitchFamily="2" charset="2"/>
              <a:buNone/>
            </a:pPr>
            <a:r>
              <a:rPr lang="en-US" altLang="zh-CN" dirty="0">
                <a:solidFill>
                  <a:srgbClr val="F40000"/>
                </a:solidFill>
              </a:rPr>
              <a:t>FROM</a:t>
            </a:r>
            <a:r>
              <a:rPr lang="en-US" altLang="zh-CN" dirty="0"/>
              <a:t> &lt;</a:t>
            </a:r>
            <a:r>
              <a:rPr lang="zh-CN" altLang="en-US" dirty="0"/>
              <a:t>用户</a:t>
            </a:r>
            <a:r>
              <a:rPr lang="en-US" altLang="zh-CN" dirty="0"/>
              <a:t>&gt;[, &lt;</a:t>
            </a:r>
            <a:r>
              <a:rPr lang="zh-CN" altLang="en-US" dirty="0"/>
              <a:t>用户</a:t>
            </a:r>
            <a:r>
              <a:rPr lang="en-US" altLang="zh-CN" dirty="0"/>
              <a:t>&gt;]</a:t>
            </a:r>
            <a:r>
              <a:rPr lang="en-US" altLang="zh-CN" dirty="0">
                <a:latin typeface="Arial"/>
              </a:rPr>
              <a:t>…</a:t>
            </a:r>
            <a:endParaRPr lang="en-US" altLang="zh-CN" dirty="0"/>
          </a:p>
          <a:p>
            <a:pPr lvl="1">
              <a:buFont typeface="Wingdings" pitchFamily="2" charset="2"/>
              <a:buNone/>
            </a:pPr>
            <a:r>
              <a:rPr lang="en-US" altLang="zh-CN" dirty="0"/>
              <a:t>[</a:t>
            </a:r>
            <a:r>
              <a:rPr lang="en-US" altLang="zh-CN" dirty="0">
                <a:solidFill>
                  <a:srgbClr val="006600"/>
                </a:solidFill>
              </a:rPr>
              <a:t>CASCADE</a:t>
            </a:r>
            <a:r>
              <a:rPr lang="en-US" altLang="zh-CN" dirty="0"/>
              <a:t>|</a:t>
            </a:r>
            <a:r>
              <a:rPr lang="en-US" altLang="zh-CN" dirty="0">
                <a:solidFill>
                  <a:srgbClr val="006600"/>
                </a:solidFill>
              </a:rPr>
              <a:t>RESTRICT</a:t>
            </a:r>
            <a:r>
              <a:rPr lang="en-US" altLang="zh-CN" dirty="0"/>
              <a:t>]; </a:t>
            </a:r>
          </a:p>
          <a:p>
            <a:pPr lvl="1">
              <a:buFont typeface="Wingdings" pitchFamily="2" charset="2"/>
              <a:buNone/>
            </a:pPr>
            <a:r>
              <a:rPr lang="en-US" altLang="zh-CN" sz="2600" dirty="0"/>
              <a:t>//</a:t>
            </a:r>
            <a:r>
              <a:rPr lang="zh-CN" altLang="en-US" sz="2400" dirty="0"/>
              <a:t>有些数据库系统</a:t>
            </a:r>
            <a:r>
              <a:rPr lang="zh-CN" altLang="en-US" sz="2400" b="1" dirty="0">
                <a:solidFill>
                  <a:srgbClr val="C00000"/>
                </a:solidFill>
              </a:rPr>
              <a:t>缺省</a:t>
            </a:r>
            <a:r>
              <a:rPr lang="zh-CN" altLang="en-US" sz="2400" dirty="0"/>
              <a:t>是</a:t>
            </a:r>
            <a:r>
              <a:rPr lang="en-US" altLang="zh-CN" sz="2400" dirty="0"/>
              <a:t>cascade</a:t>
            </a:r>
            <a:r>
              <a:rPr lang="zh-CN" altLang="en-US" sz="2400" dirty="0"/>
              <a:t>级联回收，有些是</a:t>
            </a:r>
            <a:r>
              <a:rPr lang="en-US" altLang="zh-CN" sz="2400" dirty="0"/>
              <a:t>restrict</a:t>
            </a:r>
            <a:r>
              <a:rPr lang="zh-CN" altLang="en-US" sz="2400" dirty="0"/>
              <a:t>防止级联回收</a:t>
            </a:r>
            <a:endParaRPr lang="zh-CN" altLang="en-US" sz="2600" dirty="0"/>
          </a:p>
        </p:txBody>
      </p:sp>
      <p:sp>
        <p:nvSpPr>
          <p:cNvPr id="6" name="灯片编号占位符 5">
            <a:extLst>
              <a:ext uri="{FF2B5EF4-FFF2-40B4-BE49-F238E27FC236}">
                <a16:creationId xmlns:a16="http://schemas.microsoft.com/office/drawing/2014/main" id="{B0290350-5248-6904-80E9-9FCD4D2DC232}"/>
              </a:ext>
            </a:extLst>
          </p:cNvPr>
          <p:cNvSpPr>
            <a:spLocks noGrp="1"/>
          </p:cNvSpPr>
          <p:nvPr>
            <p:ph type="sldNum" sz="quarter" idx="12"/>
          </p:nvPr>
        </p:nvSpPr>
        <p:spPr/>
        <p:txBody>
          <a:bodyPr/>
          <a:lstStyle/>
          <a:p>
            <a:pPr>
              <a:defRPr/>
            </a:pPr>
            <a:fld id="{E0CD82EA-F7BE-454B-A83E-18830F6C5424}" type="slidenum">
              <a:rPr lang="en-US" altLang="zh-CN" smtClean="0"/>
              <a:pPr>
                <a:defRPr/>
              </a:pPr>
              <a:t>121</a:t>
            </a:fld>
            <a:r>
              <a:rPr lang="en-US" altLang="zh-CN"/>
              <a:t>/138</a:t>
            </a:r>
            <a:endParaRPr lang="zh-CN" altLang="en-US" dirty="0"/>
          </a:p>
        </p:txBody>
      </p:sp>
    </p:spTree>
    <p:extLst>
      <p:ext uri="{BB962C8B-B14F-4D97-AF65-F5344CB8AC3E}">
        <p14:creationId xmlns:p14="http://schemas.microsoft.com/office/powerpoint/2010/main" val="24969195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9923">
                                            <p:txEl>
                                              <p:pRg st="2" end="2"/>
                                            </p:txEl>
                                          </p:spTgt>
                                        </p:tgtEl>
                                        <p:attrNameLst>
                                          <p:attrName>style.visibility</p:attrName>
                                        </p:attrNameLst>
                                      </p:cBhvr>
                                      <p:to>
                                        <p:strVal val="visible"/>
                                      </p:to>
                                    </p:set>
                                    <p:anim calcmode="lin" valueType="num">
                                      <p:cBhvr additive="base">
                                        <p:cTn id="7" dur="500" fill="hold"/>
                                        <p:tgtEl>
                                          <p:spTgt spid="20992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992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9923">
                                            <p:txEl>
                                              <p:pRg st="3" end="3"/>
                                            </p:txEl>
                                          </p:spTgt>
                                        </p:tgtEl>
                                        <p:attrNameLst>
                                          <p:attrName>style.visibility</p:attrName>
                                        </p:attrNameLst>
                                      </p:cBhvr>
                                      <p:to>
                                        <p:strVal val="visible"/>
                                      </p:to>
                                    </p:set>
                                    <p:anim calcmode="lin" valueType="num">
                                      <p:cBhvr additive="base">
                                        <p:cTn id="11" dur="500" fill="hold"/>
                                        <p:tgtEl>
                                          <p:spTgt spid="20992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992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09923">
                                            <p:txEl>
                                              <p:pRg st="4" end="4"/>
                                            </p:txEl>
                                          </p:spTgt>
                                        </p:tgtEl>
                                        <p:attrNameLst>
                                          <p:attrName>style.visibility</p:attrName>
                                        </p:attrNameLst>
                                      </p:cBhvr>
                                      <p:to>
                                        <p:strVal val="visible"/>
                                      </p:to>
                                    </p:set>
                                    <p:anim calcmode="lin" valueType="num">
                                      <p:cBhvr additive="base">
                                        <p:cTn id="15" dur="500" fill="hold"/>
                                        <p:tgtEl>
                                          <p:spTgt spid="20992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992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09923">
                                            <p:txEl>
                                              <p:pRg st="5" end="5"/>
                                            </p:txEl>
                                          </p:spTgt>
                                        </p:tgtEl>
                                        <p:attrNameLst>
                                          <p:attrName>style.visibility</p:attrName>
                                        </p:attrNameLst>
                                      </p:cBhvr>
                                      <p:to>
                                        <p:strVal val="visible"/>
                                      </p:to>
                                    </p:set>
                                    <p:anim calcmode="lin" valueType="num">
                                      <p:cBhvr additive="base">
                                        <p:cTn id="19" dur="500" fill="hold"/>
                                        <p:tgtEl>
                                          <p:spTgt spid="20992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992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09923">
                                            <p:txEl>
                                              <p:pRg st="6" end="6"/>
                                            </p:txEl>
                                          </p:spTgt>
                                        </p:tgtEl>
                                        <p:attrNameLst>
                                          <p:attrName>style.visibility</p:attrName>
                                        </p:attrNameLst>
                                      </p:cBhvr>
                                      <p:to>
                                        <p:strVal val="visible"/>
                                      </p:to>
                                    </p:set>
                                    <p:anim calcmode="lin" valueType="num">
                                      <p:cBhvr additive="base">
                                        <p:cTn id="23" dur="500" fill="hold"/>
                                        <p:tgtEl>
                                          <p:spTgt spid="20992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992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09923">
                                            <p:txEl>
                                              <p:pRg st="7" end="7"/>
                                            </p:txEl>
                                          </p:spTgt>
                                        </p:tgtEl>
                                        <p:attrNameLst>
                                          <p:attrName>style.visibility</p:attrName>
                                        </p:attrNameLst>
                                      </p:cBhvr>
                                      <p:to>
                                        <p:strVal val="visible"/>
                                      </p:to>
                                    </p:set>
                                    <p:anim calcmode="lin" valueType="num">
                                      <p:cBhvr additive="base">
                                        <p:cTn id="27" dur="500" fill="hold"/>
                                        <p:tgtEl>
                                          <p:spTgt spid="20992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992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0AA5780-BD00-41DF-AE89-44E7C8E9BCC9}"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10946" name="Rectangle 2"/>
          <p:cNvSpPr>
            <a:spLocks noGrp="1" noChangeArrowheads="1"/>
          </p:cNvSpPr>
          <p:nvPr>
            <p:ph type="title"/>
          </p:nvPr>
        </p:nvSpPr>
        <p:spPr/>
        <p:txBody>
          <a:bodyPr/>
          <a:lstStyle/>
          <a:p>
            <a:r>
              <a:rPr lang="en-US" altLang="zh-CN" dirty="0"/>
              <a:t>4.7.1,5,6 </a:t>
            </a:r>
            <a:r>
              <a:rPr lang="zh-CN" altLang="en-US" dirty="0"/>
              <a:t>权限的授予与回收</a:t>
            </a:r>
          </a:p>
        </p:txBody>
      </p:sp>
      <p:sp>
        <p:nvSpPr>
          <p:cNvPr id="210947" name="Rectangle 3"/>
          <p:cNvSpPr>
            <a:spLocks noGrp="1" noChangeArrowheads="1"/>
          </p:cNvSpPr>
          <p:nvPr>
            <p:ph type="body" idx="1"/>
          </p:nvPr>
        </p:nvSpPr>
        <p:spPr/>
        <p:txBody>
          <a:bodyPr/>
          <a:lstStyle/>
          <a:p>
            <a:pPr>
              <a:lnSpc>
                <a:spcPct val="90000"/>
              </a:lnSpc>
            </a:pPr>
            <a:r>
              <a:rPr lang="zh-CN" altLang="en-US" dirty="0"/>
              <a:t>例</a:t>
            </a:r>
            <a:r>
              <a:rPr lang="en-US" altLang="zh-CN" dirty="0"/>
              <a:t>8 </a:t>
            </a:r>
            <a:r>
              <a:rPr lang="zh-CN" altLang="en-US" dirty="0"/>
              <a:t>把用户修改学生学号的权限收回</a:t>
            </a:r>
          </a:p>
          <a:p>
            <a:pPr>
              <a:lnSpc>
                <a:spcPct val="90000"/>
              </a:lnSpc>
              <a:buFont typeface="Wingdings" pitchFamily="2" charset="2"/>
              <a:buNone/>
            </a:pPr>
            <a:r>
              <a:rPr lang="en-US" altLang="zh-CN" sz="2800" dirty="0"/>
              <a:t>		</a:t>
            </a:r>
            <a:r>
              <a:rPr lang="en-US" altLang="zh-CN" sz="2800" dirty="0">
                <a:solidFill>
                  <a:srgbClr val="C00000"/>
                </a:solidFill>
              </a:rPr>
              <a:t>REVOKE</a:t>
            </a:r>
            <a:r>
              <a:rPr lang="en-US" altLang="zh-CN" sz="2800" dirty="0"/>
              <a:t> </a:t>
            </a:r>
            <a:r>
              <a:rPr lang="en-US" altLang="zh-CN" sz="2800" dirty="0">
                <a:solidFill>
                  <a:srgbClr val="0000FF"/>
                </a:solidFill>
              </a:rPr>
              <a:t>UPDATE</a:t>
            </a:r>
            <a:r>
              <a:rPr lang="en-US" altLang="zh-CN" sz="2800" dirty="0"/>
              <a:t> (</a:t>
            </a:r>
            <a:r>
              <a:rPr lang="en-US" altLang="zh-CN" sz="2800" dirty="0" err="1"/>
              <a:t>Sno</a:t>
            </a:r>
            <a:r>
              <a:rPr lang="en-US" altLang="zh-CN" sz="2800" dirty="0"/>
              <a:t>)</a:t>
            </a:r>
          </a:p>
          <a:p>
            <a:pPr>
              <a:lnSpc>
                <a:spcPct val="90000"/>
              </a:lnSpc>
              <a:buFont typeface="Wingdings" pitchFamily="2" charset="2"/>
              <a:buNone/>
            </a:pPr>
            <a:r>
              <a:rPr lang="en-US" altLang="zh-CN" sz="2800" dirty="0"/>
              <a:t>		ON </a:t>
            </a:r>
            <a:r>
              <a:rPr lang="en-US" altLang="zh-CN" sz="2800" dirty="0">
                <a:solidFill>
                  <a:srgbClr val="0000FF"/>
                </a:solidFill>
              </a:rPr>
              <a:t>TABLE</a:t>
            </a:r>
            <a:r>
              <a:rPr lang="en-US" altLang="zh-CN" sz="2800" dirty="0"/>
              <a:t> Student</a:t>
            </a:r>
          </a:p>
          <a:p>
            <a:pPr>
              <a:lnSpc>
                <a:spcPct val="90000"/>
              </a:lnSpc>
              <a:buFont typeface="Wingdings" pitchFamily="2" charset="2"/>
              <a:buNone/>
            </a:pPr>
            <a:r>
              <a:rPr lang="en-US" altLang="zh-CN" sz="2800" dirty="0"/>
              <a:t>		FROM U4;</a:t>
            </a:r>
          </a:p>
          <a:p>
            <a:pPr>
              <a:lnSpc>
                <a:spcPct val="90000"/>
              </a:lnSpc>
            </a:pPr>
            <a:endParaRPr lang="zh-CN" altLang="en-US" sz="2800" dirty="0"/>
          </a:p>
          <a:p>
            <a:pPr>
              <a:lnSpc>
                <a:spcPct val="90000"/>
              </a:lnSpc>
            </a:pPr>
            <a:r>
              <a:rPr lang="zh-CN" altLang="en-US" dirty="0"/>
              <a:t>例</a:t>
            </a:r>
            <a:r>
              <a:rPr lang="en-US" altLang="zh-CN" dirty="0"/>
              <a:t>9 </a:t>
            </a:r>
            <a:r>
              <a:rPr lang="zh-CN" altLang="en-US" dirty="0"/>
              <a:t>收回</a:t>
            </a:r>
            <a:r>
              <a:rPr lang="zh-CN" altLang="en-US" dirty="0">
                <a:solidFill>
                  <a:srgbClr val="0000FF"/>
                </a:solidFill>
              </a:rPr>
              <a:t>所有用户</a:t>
            </a:r>
            <a:r>
              <a:rPr lang="zh-CN" altLang="en-US" dirty="0"/>
              <a:t>对表</a:t>
            </a:r>
            <a:r>
              <a:rPr lang="en-US" altLang="zh-CN" dirty="0"/>
              <a:t>SC</a:t>
            </a:r>
            <a:r>
              <a:rPr lang="zh-CN" altLang="en-US" dirty="0"/>
              <a:t>的查询权限</a:t>
            </a:r>
          </a:p>
          <a:p>
            <a:pPr>
              <a:lnSpc>
                <a:spcPct val="90000"/>
              </a:lnSpc>
              <a:buFont typeface="Wingdings" pitchFamily="2" charset="2"/>
              <a:buNone/>
            </a:pPr>
            <a:r>
              <a:rPr lang="en-US" altLang="zh-CN" sz="2800" dirty="0"/>
              <a:t>		</a:t>
            </a:r>
            <a:r>
              <a:rPr lang="en-US" altLang="zh-CN" sz="2800" dirty="0">
                <a:solidFill>
                  <a:srgbClr val="C00000"/>
                </a:solidFill>
              </a:rPr>
              <a:t>REVOKE</a:t>
            </a:r>
            <a:r>
              <a:rPr lang="en-US" altLang="zh-CN" sz="2800" dirty="0"/>
              <a:t> </a:t>
            </a:r>
            <a:r>
              <a:rPr lang="en-US" altLang="zh-CN" sz="2800" dirty="0">
                <a:solidFill>
                  <a:srgbClr val="0000FF"/>
                </a:solidFill>
              </a:rPr>
              <a:t>SELECT</a:t>
            </a:r>
          </a:p>
          <a:p>
            <a:pPr>
              <a:lnSpc>
                <a:spcPct val="90000"/>
              </a:lnSpc>
              <a:buFont typeface="Wingdings" pitchFamily="2" charset="2"/>
              <a:buNone/>
            </a:pPr>
            <a:r>
              <a:rPr lang="en-US" altLang="zh-CN" sz="2800" dirty="0"/>
              <a:t>		ON </a:t>
            </a:r>
            <a:r>
              <a:rPr lang="en-US" altLang="zh-CN" sz="2800" dirty="0">
                <a:solidFill>
                  <a:srgbClr val="0000FF"/>
                </a:solidFill>
              </a:rPr>
              <a:t>TABLE</a:t>
            </a:r>
            <a:r>
              <a:rPr lang="en-US" altLang="zh-CN" sz="2800" dirty="0"/>
              <a:t> SC</a:t>
            </a:r>
          </a:p>
          <a:p>
            <a:pPr>
              <a:lnSpc>
                <a:spcPct val="90000"/>
              </a:lnSpc>
              <a:buFont typeface="Wingdings" pitchFamily="2" charset="2"/>
              <a:buNone/>
            </a:pPr>
            <a:r>
              <a:rPr lang="en-US" altLang="zh-CN" sz="2800" dirty="0"/>
              <a:t>		FROM </a:t>
            </a:r>
            <a:r>
              <a:rPr lang="en-US" altLang="zh-CN" sz="2800" dirty="0">
                <a:solidFill>
                  <a:srgbClr val="FF0000"/>
                </a:solidFill>
              </a:rPr>
              <a:t>PUBLIC</a:t>
            </a:r>
            <a:r>
              <a:rPr lang="en-US" altLang="zh-CN" sz="2800" dirty="0"/>
              <a:t>;</a:t>
            </a:r>
            <a:endParaRPr lang="zh-CN" altLang="en-US" sz="2800" dirty="0"/>
          </a:p>
        </p:txBody>
      </p:sp>
      <p:sp>
        <p:nvSpPr>
          <p:cNvPr id="6" name="灯片编号占位符 5">
            <a:extLst>
              <a:ext uri="{FF2B5EF4-FFF2-40B4-BE49-F238E27FC236}">
                <a16:creationId xmlns:a16="http://schemas.microsoft.com/office/drawing/2014/main" id="{D290E56D-2ECE-2973-F728-F58879FD1A64}"/>
              </a:ext>
            </a:extLst>
          </p:cNvPr>
          <p:cNvSpPr>
            <a:spLocks noGrp="1"/>
          </p:cNvSpPr>
          <p:nvPr>
            <p:ph type="sldNum" sz="quarter" idx="12"/>
          </p:nvPr>
        </p:nvSpPr>
        <p:spPr/>
        <p:txBody>
          <a:bodyPr/>
          <a:lstStyle/>
          <a:p>
            <a:pPr>
              <a:defRPr/>
            </a:pPr>
            <a:fld id="{E0CD82EA-F7BE-454B-A83E-18830F6C5424}" type="slidenum">
              <a:rPr lang="en-US" altLang="zh-CN" smtClean="0"/>
              <a:pPr>
                <a:defRPr/>
              </a:pPr>
              <a:t>122</a:t>
            </a:fld>
            <a:r>
              <a:rPr lang="en-US" altLang="zh-CN"/>
              <a:t>/138</a:t>
            </a:r>
            <a:endParaRPr lang="zh-CN" altLang="en-US" dirty="0"/>
          </a:p>
        </p:txBody>
      </p:sp>
    </p:spTree>
    <p:extLst>
      <p:ext uri="{BB962C8B-B14F-4D97-AF65-F5344CB8AC3E}">
        <p14:creationId xmlns:p14="http://schemas.microsoft.com/office/powerpoint/2010/main" val="21654176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0947">
                                            <p:txEl>
                                              <p:pRg st="1" end="1"/>
                                            </p:txEl>
                                          </p:spTgt>
                                        </p:tgtEl>
                                        <p:attrNameLst>
                                          <p:attrName>style.visibility</p:attrName>
                                        </p:attrNameLst>
                                      </p:cBhvr>
                                      <p:to>
                                        <p:strVal val="visible"/>
                                      </p:to>
                                    </p:set>
                                    <p:anim calcmode="lin" valueType="num">
                                      <p:cBhvr additive="base">
                                        <p:cTn id="7" dur="500" fill="hold"/>
                                        <p:tgtEl>
                                          <p:spTgt spid="21094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094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10947">
                                            <p:txEl>
                                              <p:pRg st="2" end="2"/>
                                            </p:txEl>
                                          </p:spTgt>
                                        </p:tgtEl>
                                        <p:attrNameLst>
                                          <p:attrName>style.visibility</p:attrName>
                                        </p:attrNameLst>
                                      </p:cBhvr>
                                      <p:to>
                                        <p:strVal val="visible"/>
                                      </p:to>
                                    </p:set>
                                    <p:anim calcmode="lin" valueType="num">
                                      <p:cBhvr additive="base">
                                        <p:cTn id="11" dur="500" fill="hold"/>
                                        <p:tgtEl>
                                          <p:spTgt spid="21094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10947">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10947">
                                            <p:txEl>
                                              <p:pRg st="3" end="3"/>
                                            </p:txEl>
                                          </p:spTgt>
                                        </p:tgtEl>
                                        <p:attrNameLst>
                                          <p:attrName>style.visibility</p:attrName>
                                        </p:attrNameLst>
                                      </p:cBhvr>
                                      <p:to>
                                        <p:strVal val="visible"/>
                                      </p:to>
                                    </p:set>
                                    <p:anim calcmode="lin" valueType="num">
                                      <p:cBhvr additive="base">
                                        <p:cTn id="15" dur="500" fill="hold"/>
                                        <p:tgtEl>
                                          <p:spTgt spid="210947">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109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10947">
                                            <p:txEl>
                                              <p:pRg st="6" end="6"/>
                                            </p:txEl>
                                          </p:spTgt>
                                        </p:tgtEl>
                                        <p:attrNameLst>
                                          <p:attrName>style.visibility</p:attrName>
                                        </p:attrNameLst>
                                      </p:cBhvr>
                                      <p:to>
                                        <p:strVal val="visible"/>
                                      </p:to>
                                    </p:set>
                                    <p:anim calcmode="lin" valueType="num">
                                      <p:cBhvr additive="base">
                                        <p:cTn id="21" dur="500" fill="hold"/>
                                        <p:tgtEl>
                                          <p:spTgt spid="210947">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10947">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10947">
                                            <p:txEl>
                                              <p:pRg st="7" end="7"/>
                                            </p:txEl>
                                          </p:spTgt>
                                        </p:tgtEl>
                                        <p:attrNameLst>
                                          <p:attrName>style.visibility</p:attrName>
                                        </p:attrNameLst>
                                      </p:cBhvr>
                                      <p:to>
                                        <p:strVal val="visible"/>
                                      </p:to>
                                    </p:set>
                                    <p:anim calcmode="lin" valueType="num">
                                      <p:cBhvr additive="base">
                                        <p:cTn id="25" dur="500" fill="hold"/>
                                        <p:tgtEl>
                                          <p:spTgt spid="210947">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0947">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10947">
                                            <p:txEl>
                                              <p:pRg st="8" end="8"/>
                                            </p:txEl>
                                          </p:spTgt>
                                        </p:tgtEl>
                                        <p:attrNameLst>
                                          <p:attrName>style.visibility</p:attrName>
                                        </p:attrNameLst>
                                      </p:cBhvr>
                                      <p:to>
                                        <p:strVal val="visible"/>
                                      </p:to>
                                    </p:set>
                                    <p:anim calcmode="lin" valueType="num">
                                      <p:cBhvr additive="base">
                                        <p:cTn id="29" dur="500" fill="hold"/>
                                        <p:tgtEl>
                                          <p:spTgt spid="210947">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1094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B0749C4-00DC-4C99-BC97-754B47695995}"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10946" name="Rectangle 2"/>
          <p:cNvSpPr>
            <a:spLocks noGrp="1" noChangeArrowheads="1"/>
          </p:cNvSpPr>
          <p:nvPr>
            <p:ph type="title"/>
          </p:nvPr>
        </p:nvSpPr>
        <p:spPr/>
        <p:txBody>
          <a:bodyPr/>
          <a:lstStyle/>
          <a:p>
            <a:r>
              <a:rPr lang="en-US" altLang="zh-CN" dirty="0"/>
              <a:t>4.7.1,5,6 </a:t>
            </a:r>
            <a:r>
              <a:rPr lang="zh-CN" altLang="en-US" dirty="0"/>
              <a:t>权限的授予与回收</a:t>
            </a:r>
          </a:p>
        </p:txBody>
      </p:sp>
      <p:sp>
        <p:nvSpPr>
          <p:cNvPr id="8" name="Rectangle 3"/>
          <p:cNvSpPr txBox="1">
            <a:spLocks noChangeArrowheads="1"/>
          </p:cNvSpPr>
          <p:nvPr/>
        </p:nvSpPr>
        <p:spPr bwMode="auto">
          <a:xfrm>
            <a:off x="609601" y="1447800"/>
            <a:ext cx="8105776"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r>
              <a:rPr kumimoji="0" lang="zh-CN" altLang="en-US" kern="0" dirty="0">
                <a:ea typeface="宋体" charset="-122"/>
              </a:rPr>
              <a:t>例</a:t>
            </a:r>
            <a:r>
              <a:rPr kumimoji="0" lang="en-US" altLang="zh-CN" kern="0" dirty="0">
                <a:ea typeface="宋体" charset="-122"/>
              </a:rPr>
              <a:t>10 </a:t>
            </a:r>
            <a:r>
              <a:rPr kumimoji="0" lang="zh-CN" altLang="en-US" kern="0" dirty="0">
                <a:ea typeface="宋体" charset="-122"/>
              </a:rPr>
              <a:t>把用户</a:t>
            </a:r>
            <a:r>
              <a:rPr kumimoji="0" lang="en-US" altLang="zh-CN" kern="0" dirty="0">
                <a:ea typeface="宋体" charset="-122"/>
              </a:rPr>
              <a:t>U5</a:t>
            </a:r>
            <a:r>
              <a:rPr kumimoji="0" lang="zh-CN" altLang="en-US" kern="0" dirty="0">
                <a:ea typeface="宋体" charset="-122"/>
              </a:rPr>
              <a:t>对</a:t>
            </a:r>
            <a:r>
              <a:rPr kumimoji="0" lang="en-US" altLang="zh-CN" kern="0" dirty="0">
                <a:ea typeface="宋体" charset="-122"/>
              </a:rPr>
              <a:t>SC</a:t>
            </a:r>
            <a:r>
              <a:rPr kumimoji="0" lang="zh-CN" altLang="en-US" kern="0" dirty="0">
                <a:ea typeface="宋体" charset="-122"/>
              </a:rPr>
              <a:t>表的</a:t>
            </a:r>
            <a:r>
              <a:rPr kumimoji="0" lang="en-US" altLang="zh-CN" kern="0" dirty="0">
                <a:ea typeface="宋体" charset="-122"/>
              </a:rPr>
              <a:t>INSERT</a:t>
            </a:r>
            <a:r>
              <a:rPr kumimoji="0" lang="zh-CN" altLang="en-US" kern="0" dirty="0">
                <a:ea typeface="宋体" charset="-122"/>
              </a:rPr>
              <a:t>权限收回</a:t>
            </a:r>
          </a:p>
          <a:p>
            <a:pPr>
              <a:buFont typeface="Wingdings" pitchFamily="2" charset="2"/>
              <a:buNone/>
            </a:pPr>
            <a:r>
              <a:rPr kumimoji="0" lang="zh-CN" altLang="zh-CN" kern="0" dirty="0">
                <a:ea typeface="宋体" charset="-122"/>
              </a:rPr>
              <a:t>		</a:t>
            </a:r>
            <a:r>
              <a:rPr kumimoji="0" lang="en-US" altLang="zh-CN" sz="2400" kern="0" dirty="0">
                <a:solidFill>
                  <a:srgbClr val="C00000"/>
                </a:solidFill>
                <a:ea typeface="宋体" charset="-122"/>
              </a:rPr>
              <a:t>REVOKE</a:t>
            </a:r>
            <a:r>
              <a:rPr kumimoji="0" lang="en-US" altLang="zh-CN" sz="2400" kern="0" dirty="0">
                <a:ea typeface="宋体" charset="-122"/>
              </a:rPr>
              <a:t> </a:t>
            </a:r>
            <a:r>
              <a:rPr kumimoji="0" lang="en-US" altLang="zh-CN" sz="2400" kern="0" dirty="0">
                <a:solidFill>
                  <a:srgbClr val="0000FF"/>
                </a:solidFill>
                <a:ea typeface="宋体" charset="-122"/>
              </a:rPr>
              <a:t>INSERT </a:t>
            </a:r>
          </a:p>
          <a:p>
            <a:pPr>
              <a:buFont typeface="Wingdings" pitchFamily="2" charset="2"/>
              <a:buNone/>
            </a:pPr>
            <a:r>
              <a:rPr kumimoji="0" lang="en-US" altLang="zh-CN" sz="2400" kern="0" dirty="0">
                <a:ea typeface="宋体" charset="-122"/>
              </a:rPr>
              <a:t>		ON </a:t>
            </a:r>
            <a:r>
              <a:rPr kumimoji="0" lang="en-US" altLang="zh-CN" sz="2400" kern="0" dirty="0">
                <a:solidFill>
                  <a:srgbClr val="0000FF"/>
                </a:solidFill>
                <a:ea typeface="宋体" charset="-122"/>
              </a:rPr>
              <a:t>TABLE</a:t>
            </a:r>
            <a:r>
              <a:rPr kumimoji="0" lang="en-US" altLang="zh-CN" sz="2400" kern="0" dirty="0">
                <a:ea typeface="宋体" charset="-122"/>
              </a:rPr>
              <a:t> SC </a:t>
            </a:r>
          </a:p>
          <a:p>
            <a:pPr>
              <a:buFont typeface="Wingdings" pitchFamily="2" charset="2"/>
              <a:buNone/>
            </a:pPr>
            <a:r>
              <a:rPr kumimoji="0" lang="en-US" altLang="zh-CN" sz="2400" kern="0" dirty="0">
                <a:ea typeface="宋体" charset="-122"/>
              </a:rPr>
              <a:t>		FROM U5 </a:t>
            </a:r>
            <a:r>
              <a:rPr kumimoji="0" lang="en-US" altLang="zh-CN" sz="2400" kern="0" dirty="0">
                <a:solidFill>
                  <a:srgbClr val="0000FF"/>
                </a:solidFill>
                <a:effectLst>
                  <a:outerShdw blurRad="38100" dist="38100" dir="2700000" algn="tl">
                    <a:srgbClr val="000000">
                      <a:alpha val="43137"/>
                    </a:srgbClr>
                  </a:outerShdw>
                </a:effectLst>
                <a:ea typeface="宋体" charset="-122"/>
              </a:rPr>
              <a:t>CASCADE</a:t>
            </a:r>
            <a:r>
              <a:rPr kumimoji="0" lang="en-US" altLang="zh-CN" sz="2400" kern="0" dirty="0">
                <a:ea typeface="宋体" charset="-122"/>
              </a:rPr>
              <a:t>;</a:t>
            </a:r>
          </a:p>
          <a:p>
            <a:pPr lvl="1">
              <a:lnSpc>
                <a:spcPct val="150000"/>
              </a:lnSpc>
            </a:pPr>
            <a:endParaRPr kumimoji="0" lang="en-US" altLang="zh-CN" kern="0" dirty="0">
              <a:ea typeface="宋体" charset="-122"/>
            </a:endParaRPr>
          </a:p>
          <a:p>
            <a:pPr lvl="1"/>
            <a:r>
              <a:rPr kumimoji="0" lang="zh-CN" altLang="en-US" sz="2000" kern="0" dirty="0">
                <a:ea typeface="宋体" charset="-122"/>
              </a:rPr>
              <a:t>将用户</a:t>
            </a:r>
            <a:r>
              <a:rPr kumimoji="0" lang="en-US" altLang="zh-CN" sz="2000" kern="0" dirty="0">
                <a:solidFill>
                  <a:srgbClr val="FF0000"/>
                </a:solidFill>
                <a:ea typeface="宋体" charset="-122"/>
              </a:rPr>
              <a:t>U5</a:t>
            </a:r>
            <a:r>
              <a:rPr kumimoji="0" lang="zh-CN" altLang="en-US" sz="2000" kern="0" dirty="0">
                <a:ea typeface="宋体" charset="-122"/>
              </a:rPr>
              <a:t>的</a:t>
            </a:r>
            <a:r>
              <a:rPr kumimoji="0" lang="en-US" altLang="zh-CN" sz="2000" kern="0" dirty="0">
                <a:ea typeface="宋体" charset="-122"/>
              </a:rPr>
              <a:t>INSERT</a:t>
            </a:r>
            <a:r>
              <a:rPr kumimoji="0" lang="zh-CN" altLang="en-US" sz="2000" kern="0" dirty="0">
                <a:ea typeface="宋体" charset="-122"/>
              </a:rPr>
              <a:t>权限收回的时候采用</a:t>
            </a:r>
            <a:r>
              <a:rPr kumimoji="0" lang="zh-CN" altLang="en-US" sz="2000" kern="0" dirty="0">
                <a:solidFill>
                  <a:srgbClr val="0000FF"/>
                </a:solidFill>
                <a:ea typeface="宋体" charset="-122"/>
              </a:rPr>
              <a:t>级联（</a:t>
            </a:r>
            <a:r>
              <a:rPr kumimoji="0" lang="en-US" altLang="zh-CN" sz="2000" kern="0" dirty="0">
                <a:solidFill>
                  <a:srgbClr val="0000FF"/>
                </a:solidFill>
                <a:ea typeface="宋体" charset="-122"/>
              </a:rPr>
              <a:t>CASCADE</a:t>
            </a:r>
            <a:r>
              <a:rPr kumimoji="0" lang="zh-CN" altLang="en-US" sz="2000" kern="0" dirty="0">
                <a:solidFill>
                  <a:srgbClr val="0000FF"/>
                </a:solidFill>
                <a:ea typeface="宋体" charset="-122"/>
              </a:rPr>
              <a:t>）</a:t>
            </a:r>
            <a:r>
              <a:rPr kumimoji="0" lang="zh-CN" altLang="en-US" sz="2000" kern="0" dirty="0">
                <a:ea typeface="宋体" charset="-122"/>
              </a:rPr>
              <a:t>收回，则</a:t>
            </a:r>
            <a:r>
              <a:rPr kumimoji="0" lang="en-US" altLang="zh-CN" sz="2000" kern="0" dirty="0">
                <a:ea typeface="宋体" charset="-122"/>
              </a:rPr>
              <a:t>U6</a:t>
            </a:r>
            <a:r>
              <a:rPr kumimoji="0" lang="zh-CN" altLang="en-US" sz="2000" kern="0" dirty="0">
                <a:ea typeface="宋体" charset="-122"/>
              </a:rPr>
              <a:t>从</a:t>
            </a:r>
            <a:r>
              <a:rPr kumimoji="0" lang="en-US" altLang="zh-CN" sz="2000" kern="0" dirty="0">
                <a:ea typeface="宋体" charset="-122"/>
              </a:rPr>
              <a:t>U5</a:t>
            </a:r>
            <a:r>
              <a:rPr kumimoji="0" lang="zh-CN" altLang="en-US" sz="2000" kern="0" dirty="0">
                <a:ea typeface="宋体" charset="-122"/>
              </a:rPr>
              <a:t>处获得的权限将被级联收回</a:t>
            </a:r>
          </a:p>
          <a:p>
            <a:pPr lvl="1"/>
            <a:r>
              <a:rPr kumimoji="0" lang="zh-CN" altLang="en-US" sz="2000" kern="0" dirty="0">
                <a:ea typeface="宋体" charset="-122"/>
              </a:rPr>
              <a:t>系统</a:t>
            </a:r>
            <a:r>
              <a:rPr kumimoji="0" lang="zh-CN" altLang="en-US" sz="2000" b="1" kern="0" dirty="0">
                <a:solidFill>
                  <a:srgbClr val="FF0000"/>
                </a:solidFill>
                <a:ea typeface="宋体" charset="-122"/>
              </a:rPr>
              <a:t>只收回</a:t>
            </a:r>
            <a:r>
              <a:rPr kumimoji="0" lang="zh-CN" altLang="en-US" sz="2000" kern="0" dirty="0">
                <a:solidFill>
                  <a:srgbClr val="0000FF"/>
                </a:solidFill>
                <a:ea typeface="宋体" charset="-122"/>
              </a:rPr>
              <a:t>直接</a:t>
            </a:r>
            <a:r>
              <a:rPr kumimoji="0" lang="zh-CN" altLang="en-US" sz="2000" kern="0" dirty="0">
                <a:ea typeface="宋体" charset="-122"/>
              </a:rPr>
              <a:t>或</a:t>
            </a:r>
            <a:r>
              <a:rPr kumimoji="0" lang="zh-CN" altLang="en-US" sz="2000" kern="0" dirty="0">
                <a:solidFill>
                  <a:srgbClr val="0000FF"/>
                </a:solidFill>
                <a:ea typeface="宋体" charset="-122"/>
              </a:rPr>
              <a:t>间接从</a:t>
            </a:r>
            <a:r>
              <a:rPr kumimoji="0" lang="en-US" altLang="zh-CN" sz="2000" kern="0" dirty="0">
                <a:solidFill>
                  <a:srgbClr val="FF0000"/>
                </a:solidFill>
                <a:ea typeface="宋体" charset="-122"/>
              </a:rPr>
              <a:t>U5</a:t>
            </a:r>
            <a:r>
              <a:rPr kumimoji="0" lang="zh-CN" altLang="en-US" sz="2000" kern="0" dirty="0">
                <a:solidFill>
                  <a:srgbClr val="0000FF"/>
                </a:solidFill>
                <a:ea typeface="宋体" charset="-122"/>
              </a:rPr>
              <a:t>处获得的权限</a:t>
            </a:r>
            <a:r>
              <a:rPr kumimoji="0" lang="zh-CN" altLang="en-US" sz="2000" kern="0" dirty="0">
                <a:ea typeface="宋体" charset="-122"/>
              </a:rPr>
              <a:t>，如果</a:t>
            </a:r>
            <a:r>
              <a:rPr kumimoji="0" lang="en-US" altLang="zh-CN" sz="2000" kern="0" dirty="0">
                <a:ea typeface="宋体" charset="-122"/>
              </a:rPr>
              <a:t>U6</a:t>
            </a:r>
            <a:r>
              <a:rPr kumimoji="0" lang="zh-CN" altLang="en-US" sz="2000" kern="0" dirty="0">
                <a:ea typeface="宋体" charset="-122"/>
              </a:rPr>
              <a:t>或</a:t>
            </a:r>
            <a:r>
              <a:rPr kumimoji="0" lang="en-US" altLang="zh-CN" sz="2000" kern="0" dirty="0">
                <a:ea typeface="宋体" charset="-122"/>
              </a:rPr>
              <a:t>U7</a:t>
            </a:r>
            <a:r>
              <a:rPr kumimoji="0" lang="zh-CN" altLang="en-US" sz="2000" kern="0" dirty="0">
                <a:ea typeface="宋体" charset="-122"/>
              </a:rPr>
              <a:t>还从其他用户处获得对</a:t>
            </a:r>
            <a:r>
              <a:rPr kumimoji="0" lang="en-US" altLang="zh-CN" sz="2000" kern="0" dirty="0">
                <a:ea typeface="宋体" charset="-122"/>
              </a:rPr>
              <a:t>SC</a:t>
            </a:r>
            <a:r>
              <a:rPr kumimoji="0" lang="zh-CN" altLang="en-US" sz="2000" kern="0" dirty="0">
                <a:ea typeface="宋体" charset="-122"/>
              </a:rPr>
              <a:t>表的</a:t>
            </a:r>
            <a:r>
              <a:rPr kumimoji="0" lang="en-US" altLang="zh-CN" sz="2000" kern="0" dirty="0">
                <a:ea typeface="宋体" charset="-122"/>
              </a:rPr>
              <a:t>INSERT</a:t>
            </a:r>
            <a:r>
              <a:rPr kumimoji="0" lang="zh-CN" altLang="en-US" sz="2000" kern="0" dirty="0">
                <a:ea typeface="宋体" charset="-122"/>
              </a:rPr>
              <a:t>权限，则他们仍具有此权限。</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2059781"/>
            <a:ext cx="2082635" cy="1976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灯片编号占位符 5">
            <a:extLst>
              <a:ext uri="{FF2B5EF4-FFF2-40B4-BE49-F238E27FC236}">
                <a16:creationId xmlns:a16="http://schemas.microsoft.com/office/drawing/2014/main" id="{83BC842A-8D91-985E-B75E-DB738FEDAA13}"/>
              </a:ext>
            </a:extLst>
          </p:cNvPr>
          <p:cNvSpPr>
            <a:spLocks noGrp="1"/>
          </p:cNvSpPr>
          <p:nvPr>
            <p:ph type="sldNum" sz="quarter" idx="12"/>
          </p:nvPr>
        </p:nvSpPr>
        <p:spPr/>
        <p:txBody>
          <a:bodyPr/>
          <a:lstStyle/>
          <a:p>
            <a:pPr>
              <a:defRPr/>
            </a:pPr>
            <a:fld id="{E0CD82EA-F7BE-454B-A83E-18830F6C5424}" type="slidenum">
              <a:rPr lang="en-US" altLang="zh-CN" smtClean="0"/>
              <a:pPr>
                <a:defRPr/>
              </a:pPr>
              <a:t>123</a:t>
            </a:fld>
            <a:r>
              <a:rPr lang="en-US" altLang="zh-CN"/>
              <a:t>/138</a:t>
            </a:r>
            <a:endParaRPr lang="zh-CN" altLang="en-US" dirty="0"/>
          </a:p>
        </p:txBody>
      </p:sp>
    </p:spTree>
    <p:extLst>
      <p:ext uri="{BB962C8B-B14F-4D97-AF65-F5344CB8AC3E}">
        <p14:creationId xmlns:p14="http://schemas.microsoft.com/office/powerpoint/2010/main" val="17748543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anim calcmode="lin" valueType="num">
                                      <p:cBhvr additive="base">
                                        <p:cTn id="11"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anim calcmode="lin" valueType="num">
                                      <p:cBhvr additive="base">
                                        <p:cTn id="1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anim calcmode="lin" valueType="num">
                                      <p:cBhvr additive="base">
                                        <p:cTn id="21"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anim calcmode="lin" valueType="num">
                                      <p:cBhvr additive="base">
                                        <p:cTn id="25"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A190846E-15EE-4066-B881-FA2930DEFE51}"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08898" name="Rectangle 2"/>
          <p:cNvSpPr>
            <a:spLocks noGrp="1" noChangeArrowheads="1"/>
          </p:cNvSpPr>
          <p:nvPr>
            <p:ph type="title"/>
          </p:nvPr>
        </p:nvSpPr>
        <p:spPr/>
        <p:txBody>
          <a:bodyPr/>
          <a:lstStyle/>
          <a:p>
            <a:r>
              <a:rPr lang="en-US" altLang="zh-CN" dirty="0"/>
              <a:t>4.7.1,5,6 </a:t>
            </a:r>
            <a:r>
              <a:rPr lang="zh-CN" altLang="en-US" dirty="0"/>
              <a:t>权限的授予与回收</a:t>
            </a:r>
          </a:p>
        </p:txBody>
      </p:sp>
      <p:sp>
        <p:nvSpPr>
          <p:cNvPr id="7" name="Rectangle 3"/>
          <p:cNvSpPr txBox="1">
            <a:spLocks noChangeArrowheads="1"/>
          </p:cNvSpPr>
          <p:nvPr/>
        </p:nvSpPr>
        <p:spPr bwMode="auto">
          <a:xfrm>
            <a:off x="395288" y="1520845"/>
            <a:ext cx="8075612"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42900" marR="0" lvl="0" indent="-342900" algn="ctr" defTabSz="914400" rtl="0" eaLnBrk="1" fontAlgn="base" latinLnBrk="0" hangingPunct="1">
              <a:lnSpc>
                <a:spcPct val="80000"/>
              </a:lnSpc>
              <a:spcBef>
                <a:spcPct val="20000"/>
              </a:spcBef>
              <a:spcAft>
                <a:spcPct val="0"/>
              </a:spcAft>
              <a:buClr>
                <a:schemeClr val="folHlink"/>
              </a:buClr>
              <a:buSzPct val="60000"/>
              <a:buFont typeface="Wingdings" pitchFamily="2" charset="2"/>
              <a:buNone/>
              <a:tabLst/>
              <a:defRPr/>
            </a:pPr>
            <a:r>
              <a:rPr kumimoji="0" lang="zh-CN" altLang="en-US" sz="1800" b="0" i="0" u="none" strike="noStrike" kern="0" cap="none" spc="0" normalizeH="0" baseline="0" noProof="0" dirty="0">
                <a:ln>
                  <a:noFill/>
                </a:ln>
                <a:solidFill>
                  <a:schemeClr val="tx1"/>
                </a:solidFill>
                <a:effectLst/>
                <a:uLnTx/>
                <a:uFillTx/>
                <a:latin typeface="+mn-lt"/>
                <a:ea typeface="+mn-ea"/>
                <a:cs typeface="+mn-cs"/>
              </a:rPr>
              <a:t>执行了例4.</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8~</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例4.</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9</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语句后学生</a:t>
            </a:r>
            <a:r>
              <a:rPr kumimoji="0" lang="en-US" altLang="zh-CN" sz="1800" b="0" i="0" u="none" strike="noStrike" kern="0" cap="none" spc="0" normalizeH="0" baseline="0" noProof="0" dirty="0">
                <a:ln>
                  <a:noFill/>
                </a:ln>
                <a:solidFill>
                  <a:schemeClr val="tx1"/>
                </a:solidFill>
                <a:effectLst/>
                <a:uLnTx/>
                <a:uFillTx/>
                <a:latin typeface="+mn-lt"/>
                <a:ea typeface="+mn-ea"/>
                <a:cs typeface="+mn-cs"/>
              </a:rPr>
              <a:t>-</a:t>
            </a:r>
            <a:r>
              <a:rPr kumimoji="0" lang="zh-CN" altLang="en-US" sz="1800" b="0" i="0" u="none" strike="noStrike" kern="0" cap="none" spc="0" normalizeH="0" baseline="0" noProof="0" dirty="0">
                <a:ln>
                  <a:noFill/>
                </a:ln>
                <a:solidFill>
                  <a:schemeClr val="tx1"/>
                </a:solidFill>
                <a:effectLst/>
                <a:uLnTx/>
                <a:uFillTx/>
                <a:latin typeface="+mn-lt"/>
                <a:ea typeface="+mn-ea"/>
                <a:cs typeface="+mn-cs"/>
              </a:rPr>
              <a:t>课程数据库中的用户权限定义表 </a:t>
            </a:r>
          </a:p>
        </p:txBody>
      </p:sp>
      <p:graphicFrame>
        <p:nvGraphicFramePr>
          <p:cNvPr id="9" name="Group 5"/>
          <p:cNvGraphicFramePr>
            <a:graphicFrameLocks noGrp="1"/>
          </p:cNvGraphicFramePr>
          <p:nvPr>
            <p:ph sz="half" idx="4294967295"/>
            <p:extLst>
              <p:ext uri="{D42A27DB-BD31-4B8C-83A1-F6EECF244321}">
                <p14:modId xmlns:p14="http://schemas.microsoft.com/office/powerpoint/2010/main" val="2403499332"/>
              </p:ext>
            </p:extLst>
          </p:nvPr>
        </p:nvGraphicFramePr>
        <p:xfrm>
          <a:off x="674717" y="1928802"/>
          <a:ext cx="8112125" cy="2560670"/>
        </p:xfrm>
        <a:graphic>
          <a:graphicData uri="http://schemas.openxmlformats.org/drawingml/2006/table">
            <a:tbl>
              <a:tblPr/>
              <a:tblGrid>
                <a:gridCol w="1405037">
                  <a:extLst>
                    <a:ext uri="{9D8B030D-6E8A-4147-A177-3AD203B41FA5}">
                      <a16:colId xmlns:a16="http://schemas.microsoft.com/office/drawing/2014/main" val="20000"/>
                    </a:ext>
                  </a:extLst>
                </a:gridCol>
                <a:gridCol w="1692175">
                  <a:extLst>
                    <a:ext uri="{9D8B030D-6E8A-4147-A177-3AD203B41FA5}">
                      <a16:colId xmlns:a16="http://schemas.microsoft.com/office/drawing/2014/main" val="20001"/>
                    </a:ext>
                  </a:extLst>
                </a:gridCol>
                <a:gridCol w="1764209">
                  <a:extLst>
                    <a:ext uri="{9D8B030D-6E8A-4147-A177-3AD203B41FA5}">
                      <a16:colId xmlns:a16="http://schemas.microsoft.com/office/drawing/2014/main" val="20002"/>
                    </a:ext>
                  </a:extLst>
                </a:gridCol>
                <a:gridCol w="1872754">
                  <a:extLst>
                    <a:ext uri="{9D8B030D-6E8A-4147-A177-3AD203B41FA5}">
                      <a16:colId xmlns:a16="http://schemas.microsoft.com/office/drawing/2014/main" val="20003"/>
                    </a:ext>
                  </a:extLst>
                </a:gridCol>
                <a:gridCol w="1377950">
                  <a:extLst>
                    <a:ext uri="{9D8B030D-6E8A-4147-A177-3AD203B41FA5}">
                      <a16:colId xmlns:a16="http://schemas.microsoft.com/office/drawing/2014/main" val="20004"/>
                    </a:ext>
                  </a:extLst>
                </a:gridCol>
              </a:tblGrid>
              <a:tr h="365810">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dirty="0">
                          <a:ln>
                            <a:noFill/>
                          </a:ln>
                          <a:solidFill>
                            <a:schemeClr val="tx1"/>
                          </a:solidFill>
                          <a:effectLst/>
                          <a:latin typeface="+mn-lt"/>
                          <a:ea typeface="宋体" pitchFamily="2" charset="-122"/>
                        </a:rPr>
                        <a:t>授权用户名</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dirty="0">
                          <a:ln>
                            <a:noFill/>
                          </a:ln>
                          <a:solidFill>
                            <a:schemeClr val="tx1"/>
                          </a:solidFill>
                          <a:effectLst/>
                          <a:latin typeface="+mn-lt"/>
                          <a:ea typeface="宋体" pitchFamily="2" charset="-122"/>
                        </a:rPr>
                        <a:t>被授权用户名</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a:ln>
                            <a:noFill/>
                          </a:ln>
                          <a:solidFill>
                            <a:schemeClr val="tx1"/>
                          </a:solidFill>
                          <a:effectLst/>
                          <a:latin typeface="+mn-lt"/>
                          <a:ea typeface="宋体" pitchFamily="2" charset="-122"/>
                        </a:rPr>
                        <a:t>数据库对象名</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a:ln>
                            <a:noFill/>
                          </a:ln>
                          <a:solidFill>
                            <a:schemeClr val="tx1"/>
                          </a:solidFill>
                          <a:effectLst/>
                          <a:latin typeface="+mn-lt"/>
                          <a:ea typeface="宋体" pitchFamily="2" charset="-122"/>
                        </a:rPr>
                        <a:t>允许的操作类型</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a:ln>
                            <a:noFill/>
                          </a:ln>
                          <a:solidFill>
                            <a:schemeClr val="tx1"/>
                          </a:solidFill>
                          <a:effectLst/>
                          <a:latin typeface="+mn-lt"/>
                          <a:ea typeface="宋体" pitchFamily="2" charset="-122"/>
                        </a:rPr>
                        <a:t>能否转授权</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365810">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DBA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U1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mn-lt"/>
                          <a:ea typeface="宋体" pitchFamily="2" charset="-122"/>
                        </a:rPr>
                        <a:t>关系</a:t>
                      </a:r>
                      <a:r>
                        <a:rPr kumimoji="0" lang="en-US" sz="1800" b="1" i="0" u="none" strike="noStrike" cap="none" normalizeH="0" baseline="0">
                          <a:ln>
                            <a:noFill/>
                          </a:ln>
                          <a:solidFill>
                            <a:schemeClr val="tx1"/>
                          </a:solidFill>
                          <a:effectLst/>
                          <a:latin typeface="+mn-lt"/>
                          <a:ea typeface="宋体" pitchFamily="2" charset="-122"/>
                        </a:rPr>
                        <a:t>Student</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SELECT</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a:ln>
                            <a:noFill/>
                          </a:ln>
                          <a:solidFill>
                            <a:schemeClr val="tx1"/>
                          </a:solidFill>
                          <a:effectLst/>
                          <a:latin typeface="+mn-lt"/>
                          <a:ea typeface="宋体" pitchFamily="2" charset="-122"/>
                        </a:rPr>
                        <a:t>不能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365810">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DBA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U2</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宋体" pitchFamily="2" charset="-122"/>
                        </a:rPr>
                        <a:t>关系</a:t>
                      </a:r>
                      <a:r>
                        <a:rPr kumimoji="0" lang="en-US" sz="1800" b="1" i="0" u="none" strike="noStrike" cap="none" normalizeH="0" baseline="0" dirty="0">
                          <a:ln>
                            <a:noFill/>
                          </a:ln>
                          <a:solidFill>
                            <a:schemeClr val="tx1"/>
                          </a:solidFill>
                          <a:effectLst/>
                          <a:latin typeface="+mn-lt"/>
                          <a:ea typeface="宋体" pitchFamily="2" charset="-122"/>
                        </a:rPr>
                        <a:t>Student</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ALL</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a:ln>
                            <a:noFill/>
                          </a:ln>
                          <a:solidFill>
                            <a:schemeClr val="tx1"/>
                          </a:solidFill>
                          <a:effectLst/>
                          <a:latin typeface="+mn-lt"/>
                          <a:ea typeface="宋体" pitchFamily="2" charset="-122"/>
                        </a:rPr>
                        <a:t>不能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365810">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DBA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U2</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宋体" pitchFamily="2" charset="-122"/>
                        </a:rPr>
                        <a:t>关系</a:t>
                      </a:r>
                      <a:r>
                        <a:rPr kumimoji="0" lang="en-US" sz="1800" b="1" i="0" u="none" strike="noStrike" cap="none" normalizeH="0" baseline="0" dirty="0">
                          <a:ln>
                            <a:noFill/>
                          </a:ln>
                          <a:solidFill>
                            <a:schemeClr val="tx1"/>
                          </a:solidFill>
                          <a:effectLst/>
                          <a:latin typeface="+mn-lt"/>
                          <a:ea typeface="宋体" pitchFamily="2" charset="-122"/>
                        </a:rPr>
                        <a:t>Course</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ALL</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a:ln>
                            <a:noFill/>
                          </a:ln>
                          <a:solidFill>
                            <a:schemeClr val="tx1"/>
                          </a:solidFill>
                          <a:effectLst/>
                          <a:latin typeface="+mn-lt"/>
                          <a:ea typeface="宋体" pitchFamily="2" charset="-122"/>
                        </a:rPr>
                        <a:t>不能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365810">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DBA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U3</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宋体" pitchFamily="2" charset="-122"/>
                        </a:rPr>
                        <a:t>关系</a:t>
                      </a:r>
                      <a:r>
                        <a:rPr kumimoji="0" lang="en-US" sz="1800" b="1" i="0" u="none" strike="noStrike" cap="none" normalizeH="0" baseline="0" dirty="0">
                          <a:ln>
                            <a:noFill/>
                          </a:ln>
                          <a:solidFill>
                            <a:schemeClr val="tx1"/>
                          </a:solidFill>
                          <a:effectLst/>
                          <a:latin typeface="+mn-lt"/>
                          <a:ea typeface="宋体" pitchFamily="2" charset="-122"/>
                        </a:rPr>
                        <a:t>Student</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ALL</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a:ln>
                            <a:noFill/>
                          </a:ln>
                          <a:solidFill>
                            <a:schemeClr val="tx1"/>
                          </a:solidFill>
                          <a:effectLst/>
                          <a:latin typeface="+mn-lt"/>
                          <a:ea typeface="宋体" pitchFamily="2" charset="-122"/>
                        </a:rPr>
                        <a:t>不能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r h="365810">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DBA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U3</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dirty="0">
                          <a:ln>
                            <a:noFill/>
                          </a:ln>
                          <a:solidFill>
                            <a:schemeClr val="tx1"/>
                          </a:solidFill>
                          <a:effectLst/>
                          <a:latin typeface="+mn-lt"/>
                          <a:ea typeface="宋体" pitchFamily="2" charset="-122"/>
                        </a:rPr>
                        <a:t>关系</a:t>
                      </a:r>
                      <a:r>
                        <a:rPr kumimoji="0" lang="en-US" sz="1800" b="1" i="0" u="none" strike="noStrike" cap="none" normalizeH="0" baseline="0" dirty="0">
                          <a:ln>
                            <a:noFill/>
                          </a:ln>
                          <a:solidFill>
                            <a:schemeClr val="tx1"/>
                          </a:solidFill>
                          <a:effectLst/>
                          <a:latin typeface="+mn-lt"/>
                          <a:ea typeface="宋体" pitchFamily="2" charset="-122"/>
                        </a:rPr>
                        <a:t>Course</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ALL</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dirty="0">
                          <a:ln>
                            <a:noFill/>
                          </a:ln>
                          <a:solidFill>
                            <a:schemeClr val="tx1"/>
                          </a:solidFill>
                          <a:effectLst/>
                          <a:latin typeface="+mn-lt"/>
                          <a:ea typeface="宋体" pitchFamily="2" charset="-122"/>
                        </a:rPr>
                        <a:t>不能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5"/>
                  </a:ext>
                </a:extLst>
              </a:tr>
              <a:tr h="365810">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DBA</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a:ln>
                            <a:noFill/>
                          </a:ln>
                          <a:solidFill>
                            <a:schemeClr val="tx1"/>
                          </a:solidFill>
                          <a:effectLst/>
                          <a:latin typeface="+mn-lt"/>
                          <a:ea typeface="宋体" pitchFamily="2" charset="-122"/>
                        </a:rPr>
                        <a:t>U4</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altLang="en-US" sz="1800" b="1" i="0" u="none" strike="noStrike" cap="none" normalizeH="0" baseline="0">
                          <a:ln>
                            <a:noFill/>
                          </a:ln>
                          <a:solidFill>
                            <a:schemeClr val="tx1"/>
                          </a:solidFill>
                          <a:effectLst/>
                          <a:latin typeface="+mn-lt"/>
                          <a:ea typeface="宋体" pitchFamily="2" charset="-122"/>
                        </a:rPr>
                        <a:t>关系</a:t>
                      </a:r>
                      <a:r>
                        <a:rPr kumimoji="0" lang="en-US" sz="1800" b="1" i="0" u="none" strike="noStrike" cap="none" normalizeH="0" baseline="0">
                          <a:ln>
                            <a:noFill/>
                          </a:ln>
                          <a:solidFill>
                            <a:schemeClr val="tx1"/>
                          </a:solidFill>
                          <a:effectLst/>
                          <a:latin typeface="+mn-lt"/>
                          <a:ea typeface="宋体" pitchFamily="2" charset="-122"/>
                        </a:rPr>
                        <a:t>Student</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1800" b="1" i="0" u="none" strike="noStrike" cap="none" normalizeH="0" baseline="0" dirty="0">
                          <a:ln>
                            <a:noFill/>
                          </a:ln>
                          <a:solidFill>
                            <a:schemeClr val="tx1"/>
                          </a:solidFill>
                          <a:effectLst/>
                          <a:latin typeface="+mn-lt"/>
                          <a:ea typeface="宋体" pitchFamily="2" charset="-122"/>
                        </a:rPr>
                        <a:t>SELECT</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1800" b="1" i="0" u="none" strike="noStrike" cap="none" normalizeH="0" baseline="0" dirty="0">
                          <a:ln>
                            <a:noFill/>
                          </a:ln>
                          <a:solidFill>
                            <a:schemeClr val="tx1"/>
                          </a:solidFill>
                          <a:effectLst/>
                          <a:latin typeface="+mn-lt"/>
                          <a:ea typeface="宋体" pitchFamily="2" charset="-122"/>
                        </a:rPr>
                        <a:t>不能</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7"/>
                  </a:ext>
                </a:extLst>
              </a:tr>
            </a:tbl>
          </a:graphicData>
        </a:graphic>
      </p:graphicFrame>
      <p:sp>
        <p:nvSpPr>
          <p:cNvPr id="10" name="文本框 9">
            <a:extLst>
              <a:ext uri="{FF2B5EF4-FFF2-40B4-BE49-F238E27FC236}">
                <a16:creationId xmlns:a16="http://schemas.microsoft.com/office/drawing/2014/main" id="{ADEEC6D4-E118-4D9C-AF63-92DE152B032E}"/>
              </a:ext>
            </a:extLst>
          </p:cNvPr>
          <p:cNvSpPr txBox="1"/>
          <p:nvPr/>
        </p:nvSpPr>
        <p:spPr>
          <a:xfrm>
            <a:off x="609600" y="4764010"/>
            <a:ext cx="8075611" cy="1200329"/>
          </a:xfrm>
          <a:prstGeom prst="rect">
            <a:avLst/>
          </a:prstGeom>
          <a:noFill/>
        </p:spPr>
        <p:txBody>
          <a:bodyPr wrap="square">
            <a:spAutoFit/>
          </a:bodyPr>
          <a:lstStyle/>
          <a:p>
            <a:pPr marL="342900" marR="0" lvl="0" indent="-34290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defRPr/>
            </a:pPr>
            <a:r>
              <a:rPr kumimoji="0" lang="en-US" altLang="zh-CN" sz="2400" b="0" i="0" u="none" strike="noStrike" kern="0" cap="none" spc="0" normalizeH="0" baseline="0" noProof="0" dirty="0">
                <a:ln>
                  <a:noFill/>
                </a:ln>
                <a:solidFill>
                  <a:schemeClr val="tx1"/>
                </a:solidFill>
                <a:effectLst/>
                <a:uLnTx/>
                <a:uFillTx/>
                <a:latin typeface="+mn-lt"/>
                <a:ea typeface="+mn-ea"/>
                <a:cs typeface="+mn-cs"/>
              </a:rPr>
              <a:t>SQL</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提供了非常灵活的授权机制。用户可以</a:t>
            </a:r>
            <a:r>
              <a:rPr kumimoji="0" lang="zh-CN" altLang="en-US" sz="2400" b="0" i="0" u="none" strike="noStrike" kern="0" cap="none" spc="0" normalizeH="0" baseline="0" noProof="0" dirty="0">
                <a:ln>
                  <a:noFill/>
                </a:ln>
                <a:solidFill>
                  <a:srgbClr val="FF0000"/>
                </a:solidFill>
                <a:effectLst/>
                <a:uLnTx/>
                <a:uFillTx/>
                <a:latin typeface="+mn-lt"/>
                <a:ea typeface="+mn-ea"/>
                <a:cs typeface="+mn-cs"/>
              </a:rPr>
              <a:t>“自主”</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地决定将数据的存取权限授予</a:t>
            </a:r>
            <a:r>
              <a:rPr kumimoji="0" lang="zh-CN" altLang="en-US" sz="2400" b="0" i="0" u="none" strike="noStrike" kern="0" cap="none" spc="0" normalizeH="0" baseline="0" noProof="0" dirty="0">
                <a:ln>
                  <a:noFill/>
                </a:ln>
                <a:solidFill>
                  <a:srgbClr val="0000FF"/>
                </a:solidFill>
                <a:effectLst/>
                <a:uLnTx/>
                <a:uFillTx/>
                <a:latin typeface="+mn-lt"/>
                <a:ea typeface="+mn-ea"/>
                <a:cs typeface="+mn-cs"/>
              </a:rPr>
              <a:t>何人</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、决定是否也将</a:t>
            </a:r>
            <a:r>
              <a:rPr kumimoji="0" lang="zh-CN" altLang="en-US" sz="2400" b="0" i="0" u="none" strike="noStrike" kern="0" cap="none" spc="0" normalizeH="0" baseline="0" noProof="0" dirty="0">
                <a:ln>
                  <a:noFill/>
                </a:ln>
                <a:solidFill>
                  <a:srgbClr val="0000FF"/>
                </a:solidFill>
                <a:effectLst/>
                <a:uLnTx/>
                <a:uFillTx/>
                <a:latin typeface="+mn-lt"/>
                <a:ea typeface="+mn-ea"/>
                <a:cs typeface="+mn-cs"/>
              </a:rPr>
              <a:t>“授权”</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的权限</a:t>
            </a:r>
            <a:r>
              <a:rPr kumimoji="0" lang="zh-CN" altLang="en-US" sz="2400" b="0" i="0" u="none" strike="noStrike" kern="0" cap="none" spc="0" normalizeH="0" baseline="0" noProof="0" dirty="0">
                <a:ln>
                  <a:noFill/>
                </a:ln>
                <a:solidFill>
                  <a:srgbClr val="0000FF"/>
                </a:solidFill>
                <a:effectLst/>
                <a:uLnTx/>
                <a:uFillTx/>
                <a:latin typeface="+mn-lt"/>
                <a:ea typeface="+mn-ea"/>
                <a:cs typeface="+mn-cs"/>
              </a:rPr>
              <a:t>授予别人</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。因此称这样的</a:t>
            </a:r>
            <a:r>
              <a:rPr kumimoji="0" lang="zh-CN" altLang="en-US" sz="2400" b="0" i="0" u="none" strike="noStrike" kern="0" cap="none" spc="0" normalizeH="0" baseline="0" noProof="0" dirty="0">
                <a:ln>
                  <a:noFill/>
                </a:ln>
                <a:solidFill>
                  <a:srgbClr val="0000FF"/>
                </a:solidFill>
                <a:effectLst/>
                <a:uLnTx/>
                <a:uFillTx/>
                <a:latin typeface="+mn-lt"/>
                <a:ea typeface="+mn-ea"/>
                <a:cs typeface="+mn-cs"/>
              </a:rPr>
              <a:t>存取控制</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是</a:t>
            </a:r>
            <a:r>
              <a:rPr kumimoji="0" lang="zh-CN" altLang="en-US" sz="2400" b="0" i="0" u="none" strike="noStrike" kern="0" cap="none" spc="0" normalizeH="0" baseline="0" noProof="0" dirty="0">
                <a:ln>
                  <a:noFill/>
                </a:ln>
                <a:solidFill>
                  <a:srgbClr val="FF0000"/>
                </a:solidFill>
                <a:effectLst/>
                <a:uLnTx/>
                <a:uFillTx/>
                <a:latin typeface="+mn-lt"/>
                <a:ea typeface="+mn-ea"/>
                <a:cs typeface="+mn-cs"/>
              </a:rPr>
              <a:t>自主存取控制</a:t>
            </a:r>
            <a:r>
              <a:rPr kumimoji="0" lang="zh-CN" altLang="en-US" sz="2400" b="0" i="0" u="none" strike="noStrike" kern="0" cap="none" spc="0" normalizeH="0" baseline="0" noProof="0" dirty="0">
                <a:ln>
                  <a:noFill/>
                </a:ln>
                <a:solidFill>
                  <a:schemeClr val="tx1"/>
                </a:solidFill>
                <a:effectLst/>
                <a:uLnTx/>
                <a:uFillTx/>
                <a:latin typeface="+mn-lt"/>
                <a:ea typeface="+mn-ea"/>
                <a:cs typeface="+mn-cs"/>
              </a:rPr>
              <a:t>。</a:t>
            </a:r>
          </a:p>
        </p:txBody>
      </p:sp>
      <p:sp>
        <p:nvSpPr>
          <p:cNvPr id="6" name="灯片编号占位符 5">
            <a:extLst>
              <a:ext uri="{FF2B5EF4-FFF2-40B4-BE49-F238E27FC236}">
                <a16:creationId xmlns:a16="http://schemas.microsoft.com/office/drawing/2014/main" id="{BD424293-5A30-A92D-5477-D0187491F727}"/>
              </a:ext>
            </a:extLst>
          </p:cNvPr>
          <p:cNvSpPr>
            <a:spLocks noGrp="1"/>
          </p:cNvSpPr>
          <p:nvPr>
            <p:ph type="sldNum" sz="quarter" idx="12"/>
          </p:nvPr>
        </p:nvSpPr>
        <p:spPr/>
        <p:txBody>
          <a:bodyPr/>
          <a:lstStyle/>
          <a:p>
            <a:pPr>
              <a:defRPr/>
            </a:pPr>
            <a:fld id="{E0CD82EA-F7BE-454B-A83E-18830F6C5424}" type="slidenum">
              <a:rPr lang="en-US" altLang="zh-CN" smtClean="0"/>
              <a:pPr>
                <a:defRPr/>
              </a:pPr>
              <a:t>124</a:t>
            </a:fld>
            <a:r>
              <a:rPr lang="en-US" altLang="zh-CN"/>
              <a:t>/138</a:t>
            </a:r>
            <a:endParaRPr lang="zh-CN" altLang="en-US" dirty="0"/>
          </a:p>
        </p:txBody>
      </p:sp>
    </p:spTree>
    <p:extLst>
      <p:ext uri="{BB962C8B-B14F-4D97-AF65-F5344CB8AC3E}">
        <p14:creationId xmlns:p14="http://schemas.microsoft.com/office/powerpoint/2010/main" val="24647324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1E9D595B-8287-42A8-8252-90F0A26AB167}"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10946" name="Rectangle 2"/>
          <p:cNvSpPr>
            <a:spLocks noGrp="1" noChangeArrowheads="1"/>
          </p:cNvSpPr>
          <p:nvPr>
            <p:ph type="title"/>
          </p:nvPr>
        </p:nvSpPr>
        <p:spPr/>
        <p:txBody>
          <a:bodyPr/>
          <a:lstStyle/>
          <a:p>
            <a:r>
              <a:rPr lang="en-US" altLang="zh-CN" dirty="0"/>
              <a:t>4.7.1,5,6 </a:t>
            </a:r>
            <a:r>
              <a:rPr lang="zh-CN" altLang="en-US" dirty="0"/>
              <a:t>权限的授予与回收</a:t>
            </a:r>
          </a:p>
        </p:txBody>
      </p:sp>
      <p:sp>
        <p:nvSpPr>
          <p:cNvPr id="8" name="Rectangle 3"/>
          <p:cNvSpPr txBox="1">
            <a:spLocks noChangeArrowheads="1"/>
          </p:cNvSpPr>
          <p:nvPr/>
        </p:nvSpPr>
        <p:spPr bwMode="auto">
          <a:xfrm>
            <a:off x="609600" y="1447800"/>
            <a:ext cx="8435975"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r>
              <a:rPr kumimoji="0" lang="zh-CN" altLang="en-US" kern="0" dirty="0">
                <a:ea typeface="宋体" charset="-122"/>
              </a:rPr>
              <a:t>例</a:t>
            </a:r>
            <a:r>
              <a:rPr kumimoji="0" lang="en-US" altLang="zh-CN" kern="0" dirty="0">
                <a:ea typeface="宋体" charset="-122"/>
              </a:rPr>
              <a:t>11 </a:t>
            </a:r>
            <a:r>
              <a:rPr kumimoji="0" lang="zh-CN" altLang="en-US" kern="0" dirty="0">
                <a:ea typeface="宋体" charset="-122"/>
              </a:rPr>
              <a:t>收回用户</a:t>
            </a:r>
            <a:r>
              <a:rPr kumimoji="0" lang="en-US" altLang="zh-CN" kern="0" dirty="0">
                <a:ea typeface="宋体" charset="-122"/>
              </a:rPr>
              <a:t>5</a:t>
            </a:r>
            <a:r>
              <a:rPr kumimoji="0" lang="zh-CN" altLang="en-US" kern="0" dirty="0">
                <a:solidFill>
                  <a:srgbClr val="C00000"/>
                </a:solidFill>
                <a:ea typeface="宋体" charset="-122"/>
              </a:rPr>
              <a:t>授权选项</a:t>
            </a:r>
            <a:endParaRPr kumimoji="0" lang="en-US" altLang="zh-CN" kern="0" dirty="0">
              <a:solidFill>
                <a:srgbClr val="C00000"/>
              </a:solidFill>
              <a:ea typeface="宋体" charset="-122"/>
            </a:endParaRPr>
          </a:p>
          <a:p>
            <a:pPr marL="0" indent="0">
              <a:buNone/>
            </a:pPr>
            <a:endParaRPr kumimoji="0" lang="en-US" altLang="zh-CN" sz="2400" kern="0" dirty="0">
              <a:solidFill>
                <a:srgbClr val="C00000"/>
              </a:solidFill>
              <a:ea typeface="宋体" charset="-122"/>
            </a:endParaRPr>
          </a:p>
          <a:p>
            <a:pPr marL="0" indent="0">
              <a:buNone/>
            </a:pPr>
            <a:r>
              <a:rPr kumimoji="0" lang="en-US" altLang="zh-CN" sz="2400" kern="0" dirty="0">
                <a:solidFill>
                  <a:srgbClr val="C00000"/>
                </a:solidFill>
                <a:ea typeface="宋体" charset="-122"/>
              </a:rPr>
              <a:t>         </a:t>
            </a:r>
            <a:r>
              <a:rPr kumimoji="0" lang="en-US" altLang="zh-CN" sz="2400" kern="0" dirty="0">
                <a:ea typeface="宋体" charset="-122"/>
              </a:rPr>
              <a:t>REVOKE </a:t>
            </a:r>
            <a:r>
              <a:rPr kumimoji="0" lang="en-US" altLang="zh-CN" sz="2400" kern="0" dirty="0">
                <a:solidFill>
                  <a:srgbClr val="0000FF"/>
                </a:solidFill>
                <a:ea typeface="宋体" charset="-122"/>
              </a:rPr>
              <a:t>GRANT OPTION FOR </a:t>
            </a:r>
            <a:r>
              <a:rPr kumimoji="0" lang="en-US" altLang="zh-CN" sz="2400" kern="0" dirty="0">
                <a:solidFill>
                  <a:srgbClr val="006600"/>
                </a:solidFill>
                <a:ea typeface="宋体" charset="-122"/>
              </a:rPr>
              <a:t>INSERT ON TABLE SC </a:t>
            </a:r>
          </a:p>
          <a:p>
            <a:pPr>
              <a:buFont typeface="Wingdings" pitchFamily="2" charset="2"/>
              <a:buNone/>
            </a:pPr>
            <a:r>
              <a:rPr kumimoji="0" lang="en-US" altLang="zh-CN" sz="2400" kern="0" dirty="0">
                <a:ea typeface="宋体" charset="-122"/>
              </a:rPr>
              <a:t>		FROM U5;</a:t>
            </a:r>
          </a:p>
          <a:p>
            <a:pPr lvl="1"/>
            <a:endParaRPr kumimoji="0" lang="en-US" altLang="zh-CN" sz="2000" kern="0" dirty="0">
              <a:ea typeface="宋体" charset="-122"/>
            </a:endParaRPr>
          </a:p>
          <a:p>
            <a:pPr lvl="1"/>
            <a:r>
              <a:rPr kumimoji="0" lang="zh-CN" altLang="en-US" sz="2000" kern="0" dirty="0">
                <a:solidFill>
                  <a:srgbClr val="0000FF"/>
                </a:solidFill>
                <a:ea typeface="宋体" charset="-122"/>
              </a:rPr>
              <a:t>仅收回授权选项</a:t>
            </a:r>
            <a:r>
              <a:rPr kumimoji="0" lang="zh-CN" altLang="en-US" sz="2000" kern="0" dirty="0">
                <a:ea typeface="宋体" charset="-122"/>
              </a:rPr>
              <a:t>，而并不真正收回插入权限。</a:t>
            </a:r>
          </a:p>
          <a:p>
            <a:pPr lvl="1"/>
            <a:r>
              <a:rPr kumimoji="0" lang="zh-CN" altLang="en-US" sz="2000" kern="0" dirty="0">
                <a:ea typeface="宋体" charset="-122"/>
              </a:rPr>
              <a:t>但大部分系统并不支持（了解）。</a:t>
            </a:r>
          </a:p>
        </p:txBody>
      </p:sp>
      <p:sp>
        <p:nvSpPr>
          <p:cNvPr id="6" name="灯片编号占位符 5">
            <a:extLst>
              <a:ext uri="{FF2B5EF4-FFF2-40B4-BE49-F238E27FC236}">
                <a16:creationId xmlns:a16="http://schemas.microsoft.com/office/drawing/2014/main" id="{75AD4385-45FF-3734-C874-5AA2F4D254E0}"/>
              </a:ext>
            </a:extLst>
          </p:cNvPr>
          <p:cNvSpPr>
            <a:spLocks noGrp="1"/>
          </p:cNvSpPr>
          <p:nvPr>
            <p:ph type="sldNum" sz="quarter" idx="12"/>
          </p:nvPr>
        </p:nvSpPr>
        <p:spPr/>
        <p:txBody>
          <a:bodyPr/>
          <a:lstStyle/>
          <a:p>
            <a:pPr>
              <a:defRPr/>
            </a:pPr>
            <a:fld id="{E0CD82EA-F7BE-454B-A83E-18830F6C5424}" type="slidenum">
              <a:rPr lang="en-US" altLang="zh-CN" smtClean="0"/>
              <a:pPr>
                <a:defRPr/>
              </a:pPr>
              <a:t>125</a:t>
            </a:fld>
            <a:r>
              <a:rPr lang="en-US" altLang="zh-CN"/>
              <a:t>/138</a:t>
            </a:r>
            <a:endParaRPr lang="zh-CN" altLang="en-US" dirty="0"/>
          </a:p>
        </p:txBody>
      </p:sp>
    </p:spTree>
    <p:extLst>
      <p:ext uri="{BB962C8B-B14F-4D97-AF65-F5344CB8AC3E}">
        <p14:creationId xmlns:p14="http://schemas.microsoft.com/office/powerpoint/2010/main" val="18613791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 calcmode="lin" valueType="num">
                                      <p:cBhvr additive="base">
                                        <p:cTn id="7"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6" end="6"/>
                                            </p:txEl>
                                          </p:spTgt>
                                        </p:tgtEl>
                                        <p:attrNameLst>
                                          <p:attrName>style.visibility</p:attrName>
                                        </p:attrNameLst>
                                      </p:cBhvr>
                                      <p:to>
                                        <p:strVal val="visible"/>
                                      </p:to>
                                    </p:set>
                                    <p:anim calcmode="lin" valueType="num">
                                      <p:cBhvr additive="base">
                                        <p:cTn id="11"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5" end="5"/>
                                            </p:txEl>
                                          </p:spTgt>
                                        </p:tgtEl>
                                        <p:attrNameLst>
                                          <p:attrName>style.visibility</p:attrName>
                                        </p:attrNameLst>
                                      </p:cBhvr>
                                      <p:to>
                                        <p:strVal val="visible"/>
                                      </p:to>
                                    </p:set>
                                    <p:anim calcmode="lin" valueType="num">
                                      <p:cBhvr additive="base">
                                        <p:cTn id="15"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4539E6B-0934-4BC6-A3B8-A5C260FB6839}"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11970" name="Rectangle 2"/>
          <p:cNvSpPr>
            <a:spLocks noGrp="1" noChangeArrowheads="1"/>
          </p:cNvSpPr>
          <p:nvPr>
            <p:ph type="title"/>
          </p:nvPr>
        </p:nvSpPr>
        <p:spPr/>
        <p:txBody>
          <a:bodyPr/>
          <a:lstStyle/>
          <a:p>
            <a:r>
              <a:rPr lang="zh-CN" altLang="en-US" dirty="0"/>
              <a:t>补充：创建</a:t>
            </a:r>
            <a:r>
              <a:rPr lang="zh-CN" altLang="en-US" b="1" u="sng" dirty="0">
                <a:solidFill>
                  <a:srgbClr val="FF0000"/>
                </a:solidFill>
              </a:rPr>
              <a:t>数据库模式</a:t>
            </a:r>
            <a:r>
              <a:rPr lang="zh-CN" altLang="en-US" dirty="0"/>
              <a:t>的权限</a:t>
            </a:r>
          </a:p>
        </p:txBody>
      </p:sp>
      <p:sp>
        <p:nvSpPr>
          <p:cNvPr id="211971" name="Rectangle 3"/>
          <p:cNvSpPr>
            <a:spLocks noGrp="1" noChangeArrowheads="1"/>
          </p:cNvSpPr>
          <p:nvPr>
            <p:ph type="body" idx="1"/>
          </p:nvPr>
        </p:nvSpPr>
        <p:spPr>
          <a:xfrm>
            <a:off x="609600" y="1371600"/>
            <a:ext cx="8345488" cy="4857728"/>
          </a:xfrm>
        </p:spPr>
        <p:txBody>
          <a:bodyPr/>
          <a:lstStyle/>
          <a:p>
            <a:pPr>
              <a:spcAft>
                <a:spcPts val="600"/>
              </a:spcAft>
            </a:pPr>
            <a:r>
              <a:rPr lang="zh-CN" altLang="en-US" sz="2800" dirty="0"/>
              <a:t>对</a:t>
            </a:r>
            <a:r>
              <a:rPr lang="zh-CN" altLang="en-US" sz="2800" dirty="0">
                <a:solidFill>
                  <a:srgbClr val="0000FF"/>
                </a:solidFill>
              </a:rPr>
              <a:t>模式的授权</a:t>
            </a:r>
            <a:r>
              <a:rPr lang="zh-CN" altLang="en-US" sz="2800" dirty="0"/>
              <a:t>是由</a:t>
            </a:r>
            <a:r>
              <a:rPr lang="en-US" altLang="zh-CN" sz="2800" dirty="0">
                <a:solidFill>
                  <a:srgbClr val="0000FF"/>
                </a:solidFill>
              </a:rPr>
              <a:t>DBA</a:t>
            </a:r>
            <a:r>
              <a:rPr lang="zh-CN" altLang="en-US" sz="2800" dirty="0"/>
              <a:t>创建用户时实现</a:t>
            </a:r>
          </a:p>
          <a:p>
            <a:pPr>
              <a:spcBef>
                <a:spcPts val="600"/>
              </a:spcBef>
              <a:spcAft>
                <a:spcPts val="600"/>
              </a:spcAft>
              <a:buFont typeface="Wingdings" pitchFamily="2" charset="2"/>
              <a:buNone/>
            </a:pPr>
            <a:r>
              <a:rPr lang="en-US" altLang="zh-CN" sz="2000" dirty="0"/>
              <a:t>CREATE USER &lt;</a:t>
            </a:r>
            <a:r>
              <a:rPr lang="zh-CN" altLang="en-US" sz="2000" dirty="0"/>
              <a:t>用户</a:t>
            </a:r>
            <a:r>
              <a:rPr lang="en-US" altLang="zh-CN" sz="2000" dirty="0"/>
              <a:t>&gt; [WITH] [</a:t>
            </a:r>
            <a:r>
              <a:rPr lang="en-US" altLang="zh-CN" sz="2000" dirty="0">
                <a:solidFill>
                  <a:srgbClr val="C00000"/>
                </a:solidFill>
              </a:rPr>
              <a:t>DBA</a:t>
            </a:r>
            <a:r>
              <a:rPr lang="en-US" altLang="zh-CN" sz="2000" dirty="0"/>
              <a:t>|</a:t>
            </a:r>
            <a:r>
              <a:rPr lang="en-US" altLang="zh-CN" sz="2000" dirty="0">
                <a:solidFill>
                  <a:srgbClr val="0000FF"/>
                </a:solidFill>
              </a:rPr>
              <a:t>RESOURCE</a:t>
            </a:r>
            <a:r>
              <a:rPr lang="en-US" altLang="zh-CN" sz="2000" dirty="0"/>
              <a:t>|</a:t>
            </a:r>
            <a:r>
              <a:rPr lang="en-US" altLang="zh-CN" sz="2000" dirty="0">
                <a:solidFill>
                  <a:srgbClr val="006600"/>
                </a:solidFill>
              </a:rPr>
              <a:t>CONNECT</a:t>
            </a:r>
            <a:r>
              <a:rPr lang="en-US" altLang="zh-CN" sz="2000" dirty="0"/>
              <a:t>]</a:t>
            </a:r>
          </a:p>
          <a:p>
            <a:pPr lvl="1"/>
            <a:r>
              <a:rPr lang="en-US" altLang="zh-CN" sz="2400" dirty="0">
                <a:solidFill>
                  <a:srgbClr val="C00000"/>
                </a:solidFill>
              </a:rPr>
              <a:t>DBA</a:t>
            </a:r>
            <a:r>
              <a:rPr lang="en-US" altLang="zh-CN" sz="2400" dirty="0"/>
              <a:t> </a:t>
            </a:r>
            <a:r>
              <a:rPr lang="zh-CN" altLang="en-US" sz="2400" dirty="0"/>
              <a:t>是数据库的</a:t>
            </a:r>
            <a:r>
              <a:rPr lang="zh-CN" altLang="en-US" sz="2400" dirty="0">
                <a:solidFill>
                  <a:srgbClr val="FF0000"/>
                </a:solidFill>
              </a:rPr>
              <a:t>超级用户，</a:t>
            </a:r>
            <a:r>
              <a:rPr lang="zh-CN" altLang="en-US" sz="2400" dirty="0"/>
              <a:t>可以创建新的用户、创建模式、创建基本表和视图等；</a:t>
            </a:r>
            <a:r>
              <a:rPr lang="en-US" altLang="zh-CN" sz="2400" dirty="0">
                <a:solidFill>
                  <a:srgbClr val="FF0000"/>
                </a:solidFill>
              </a:rPr>
              <a:t>DBA</a:t>
            </a:r>
            <a:r>
              <a:rPr lang="zh-CN" altLang="en-US" sz="2400" dirty="0"/>
              <a:t>拥有对</a:t>
            </a:r>
            <a:r>
              <a:rPr lang="zh-CN" altLang="en-US" sz="2400" dirty="0">
                <a:solidFill>
                  <a:srgbClr val="FF0000"/>
                </a:solidFill>
              </a:rPr>
              <a:t>所有数据库对象</a:t>
            </a:r>
            <a:r>
              <a:rPr lang="zh-CN" altLang="en-US" sz="2400" dirty="0"/>
              <a:t>的</a:t>
            </a:r>
            <a:r>
              <a:rPr lang="zh-CN" altLang="en-US" sz="2400" dirty="0">
                <a:solidFill>
                  <a:srgbClr val="FF0000"/>
                </a:solidFill>
              </a:rPr>
              <a:t>存取权限，</a:t>
            </a:r>
            <a:r>
              <a:rPr lang="zh-CN" altLang="en-US" sz="2400" dirty="0"/>
              <a:t>还可以把这些</a:t>
            </a:r>
            <a:r>
              <a:rPr lang="zh-CN" altLang="en-US" sz="2400" dirty="0">
                <a:solidFill>
                  <a:srgbClr val="FF0000"/>
                </a:solidFill>
              </a:rPr>
              <a:t>权限授予一般用户</a:t>
            </a:r>
            <a:r>
              <a:rPr lang="zh-CN" altLang="en-US" sz="2400" dirty="0"/>
              <a:t>。</a:t>
            </a:r>
          </a:p>
          <a:p>
            <a:pPr lvl="1"/>
            <a:r>
              <a:rPr lang="en-US" altLang="zh-CN" sz="2400" dirty="0">
                <a:solidFill>
                  <a:srgbClr val="0000FF"/>
                </a:solidFill>
              </a:rPr>
              <a:t>RESOURCE </a:t>
            </a:r>
            <a:r>
              <a:rPr lang="zh-CN" altLang="en-US" sz="2400" u="sng" dirty="0"/>
              <a:t>不能创建用户和模式</a:t>
            </a:r>
            <a:r>
              <a:rPr lang="zh-CN" altLang="en-US" sz="2400" dirty="0"/>
              <a:t>，可以</a:t>
            </a:r>
            <a:r>
              <a:rPr lang="zh-CN" altLang="en-US" sz="2400" b="1" dirty="0">
                <a:solidFill>
                  <a:srgbClr val="0000FF"/>
                </a:solidFill>
              </a:rPr>
              <a:t>创建表</a:t>
            </a:r>
            <a:r>
              <a:rPr lang="zh-CN" altLang="en-US" sz="2400" b="1" dirty="0"/>
              <a:t>和</a:t>
            </a:r>
            <a:r>
              <a:rPr lang="zh-CN" altLang="en-US" sz="2400" b="1" dirty="0">
                <a:solidFill>
                  <a:srgbClr val="0000FF"/>
                </a:solidFill>
              </a:rPr>
              <a:t>视图</a:t>
            </a:r>
            <a:r>
              <a:rPr lang="zh-CN" altLang="en-US" sz="2400" dirty="0"/>
              <a:t>等对象，成为所创建对象的</a:t>
            </a:r>
            <a:r>
              <a:rPr lang="zh-CN" altLang="en-US" sz="2400" b="1" dirty="0">
                <a:solidFill>
                  <a:srgbClr val="0000FF"/>
                </a:solidFill>
              </a:rPr>
              <a:t>属主</a:t>
            </a:r>
            <a:endParaRPr lang="en-US" altLang="zh-CN" sz="2400" b="1" dirty="0">
              <a:solidFill>
                <a:srgbClr val="0000FF"/>
              </a:solidFill>
            </a:endParaRPr>
          </a:p>
          <a:p>
            <a:pPr lvl="1"/>
            <a:r>
              <a:rPr lang="en-US" altLang="zh-CN" sz="2400" dirty="0">
                <a:solidFill>
                  <a:srgbClr val="006600"/>
                </a:solidFill>
              </a:rPr>
              <a:t>CONNECT</a:t>
            </a:r>
            <a:r>
              <a:rPr lang="zh-CN" altLang="en-US" sz="2400" u="sng" dirty="0"/>
              <a:t>不能创建用户、模式和表</a:t>
            </a:r>
            <a:r>
              <a:rPr lang="zh-CN" altLang="en-US" sz="2400" dirty="0"/>
              <a:t>，只能</a:t>
            </a:r>
            <a:r>
              <a:rPr lang="zh-CN" altLang="en-US" sz="2400" b="1" dirty="0">
                <a:solidFill>
                  <a:srgbClr val="006600"/>
                </a:solidFill>
              </a:rPr>
              <a:t>登录数据库</a:t>
            </a:r>
            <a:r>
              <a:rPr lang="zh-CN" altLang="en-US" sz="2400" dirty="0">
                <a:solidFill>
                  <a:srgbClr val="006600"/>
                </a:solidFill>
              </a:rPr>
              <a:t> </a:t>
            </a:r>
            <a:r>
              <a:rPr lang="zh-CN" altLang="en-US" sz="2400" dirty="0"/>
              <a:t>（</a:t>
            </a:r>
            <a:r>
              <a:rPr lang="zh-CN" altLang="en-US" sz="2400" b="1" u="sng" dirty="0">
                <a:solidFill>
                  <a:srgbClr val="FF0000"/>
                </a:solidFill>
              </a:rPr>
              <a:t>默认</a:t>
            </a:r>
            <a:r>
              <a:rPr lang="zh-CN" altLang="en-US" sz="2400" dirty="0"/>
              <a:t>）</a:t>
            </a:r>
          </a:p>
        </p:txBody>
      </p:sp>
      <p:sp>
        <p:nvSpPr>
          <p:cNvPr id="7" name="矩形 6"/>
          <p:cNvSpPr/>
          <p:nvPr/>
        </p:nvSpPr>
        <p:spPr>
          <a:xfrm>
            <a:off x="623830" y="5715000"/>
            <a:ext cx="8215370" cy="461665"/>
          </a:xfrm>
          <a:prstGeom prst="rect">
            <a:avLst/>
          </a:prstGeom>
          <a:solidFill>
            <a:schemeClr val="bg1">
              <a:lumMod val="95000"/>
            </a:schemeClr>
          </a:solidFill>
        </p:spPr>
        <p:txBody>
          <a:bodyPr wrap="square">
            <a:spAutoFit/>
          </a:bodyPr>
          <a:lstStyle/>
          <a:p>
            <a:pPr algn="l" eaLnBrk="1" hangingPunct="1">
              <a:buFont typeface="Wingdings" pitchFamily="2" charset="2"/>
              <a:buNone/>
            </a:pPr>
            <a:r>
              <a:rPr lang="zh-CN" altLang="en-US" dirty="0"/>
              <a:t>注：</a:t>
            </a:r>
            <a:r>
              <a:rPr lang="en-US" altLang="zh-CN" dirty="0"/>
              <a:t>CREATE USER</a:t>
            </a:r>
            <a:r>
              <a:rPr lang="zh-CN" altLang="en-US" dirty="0">
                <a:solidFill>
                  <a:srgbClr val="FF0000"/>
                </a:solidFill>
              </a:rPr>
              <a:t>不是</a:t>
            </a:r>
            <a:r>
              <a:rPr lang="en-US" altLang="zh-CN" dirty="0">
                <a:solidFill>
                  <a:srgbClr val="FF0000"/>
                </a:solidFill>
              </a:rPr>
              <a:t>SQL</a:t>
            </a:r>
            <a:r>
              <a:rPr lang="zh-CN" altLang="en-US" dirty="0">
                <a:solidFill>
                  <a:srgbClr val="FF0000"/>
                </a:solidFill>
              </a:rPr>
              <a:t>标准</a:t>
            </a:r>
            <a:r>
              <a:rPr lang="zh-CN" altLang="en-US" dirty="0"/>
              <a:t>，各个系统的实现</a:t>
            </a:r>
            <a:r>
              <a:rPr lang="zh-CN" altLang="en-US" dirty="0">
                <a:solidFill>
                  <a:srgbClr val="FF0000"/>
                </a:solidFill>
              </a:rPr>
              <a:t>相差甚远</a:t>
            </a:r>
            <a:endParaRPr lang="en-US" altLang="zh-CN" dirty="0">
              <a:solidFill>
                <a:srgbClr val="FF0000"/>
              </a:solidFill>
            </a:endParaRPr>
          </a:p>
        </p:txBody>
      </p:sp>
      <p:sp>
        <p:nvSpPr>
          <p:cNvPr id="6" name="灯片编号占位符 5">
            <a:extLst>
              <a:ext uri="{FF2B5EF4-FFF2-40B4-BE49-F238E27FC236}">
                <a16:creationId xmlns:a16="http://schemas.microsoft.com/office/drawing/2014/main" id="{3ECA6AA2-8860-0D87-B3C8-693460F2C4C4}"/>
              </a:ext>
            </a:extLst>
          </p:cNvPr>
          <p:cNvSpPr>
            <a:spLocks noGrp="1"/>
          </p:cNvSpPr>
          <p:nvPr>
            <p:ph type="sldNum" sz="quarter" idx="12"/>
          </p:nvPr>
        </p:nvSpPr>
        <p:spPr/>
        <p:txBody>
          <a:bodyPr/>
          <a:lstStyle/>
          <a:p>
            <a:pPr>
              <a:defRPr/>
            </a:pPr>
            <a:fld id="{E0CD82EA-F7BE-454B-A83E-18830F6C5424}" type="slidenum">
              <a:rPr lang="en-US" altLang="zh-CN" smtClean="0"/>
              <a:pPr>
                <a:defRPr/>
              </a:pPr>
              <a:t>126</a:t>
            </a:fld>
            <a:r>
              <a:rPr lang="en-US" altLang="zh-CN"/>
              <a:t>/138</a:t>
            </a:r>
            <a:endParaRPr lang="zh-CN" altLang="en-US" dirty="0"/>
          </a:p>
        </p:txBody>
      </p:sp>
    </p:spTree>
    <p:extLst>
      <p:ext uri="{BB962C8B-B14F-4D97-AF65-F5344CB8AC3E}">
        <p14:creationId xmlns:p14="http://schemas.microsoft.com/office/powerpoint/2010/main" val="26774179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1971">
                                            <p:txEl>
                                              <p:pRg st="1" end="1"/>
                                            </p:txEl>
                                          </p:spTgt>
                                        </p:tgtEl>
                                        <p:attrNameLst>
                                          <p:attrName>style.visibility</p:attrName>
                                        </p:attrNameLst>
                                      </p:cBhvr>
                                      <p:to>
                                        <p:strVal val="visible"/>
                                      </p:to>
                                    </p:set>
                                    <p:anim calcmode="lin" valueType="num">
                                      <p:cBhvr additive="base">
                                        <p:cTn id="7" dur="500" fill="hold"/>
                                        <p:tgtEl>
                                          <p:spTgt spid="21197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19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1971">
                                            <p:txEl>
                                              <p:pRg st="2" end="2"/>
                                            </p:txEl>
                                          </p:spTgt>
                                        </p:tgtEl>
                                        <p:attrNameLst>
                                          <p:attrName>style.visibility</p:attrName>
                                        </p:attrNameLst>
                                      </p:cBhvr>
                                      <p:to>
                                        <p:strVal val="visible"/>
                                      </p:to>
                                    </p:set>
                                    <p:anim calcmode="lin" valueType="num">
                                      <p:cBhvr additive="base">
                                        <p:cTn id="13" dur="500" fill="hold"/>
                                        <p:tgtEl>
                                          <p:spTgt spid="21197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19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1971">
                                            <p:txEl>
                                              <p:pRg st="3" end="3"/>
                                            </p:txEl>
                                          </p:spTgt>
                                        </p:tgtEl>
                                        <p:attrNameLst>
                                          <p:attrName>style.visibility</p:attrName>
                                        </p:attrNameLst>
                                      </p:cBhvr>
                                      <p:to>
                                        <p:strVal val="visible"/>
                                      </p:to>
                                    </p:set>
                                    <p:anim calcmode="lin" valueType="num">
                                      <p:cBhvr additive="base">
                                        <p:cTn id="19" dur="500" fill="hold"/>
                                        <p:tgtEl>
                                          <p:spTgt spid="21197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19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11971">
                                            <p:txEl>
                                              <p:pRg st="4" end="4"/>
                                            </p:txEl>
                                          </p:spTgt>
                                        </p:tgtEl>
                                        <p:attrNameLst>
                                          <p:attrName>style.visibility</p:attrName>
                                        </p:attrNameLst>
                                      </p:cBhvr>
                                      <p:to>
                                        <p:strVal val="visible"/>
                                      </p:to>
                                    </p:set>
                                    <p:anim calcmode="lin" valueType="num">
                                      <p:cBhvr additive="base">
                                        <p:cTn id="25" dur="500" fill="hold"/>
                                        <p:tgtEl>
                                          <p:spTgt spid="21197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19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C8C022D-8216-4CBD-BEF6-4C4268F69E27}"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10946" name="Rectangle 2"/>
          <p:cNvSpPr>
            <a:spLocks noGrp="1" noChangeArrowheads="1"/>
          </p:cNvSpPr>
          <p:nvPr>
            <p:ph type="title"/>
          </p:nvPr>
        </p:nvSpPr>
        <p:spPr/>
        <p:txBody>
          <a:bodyPr/>
          <a:lstStyle/>
          <a:p>
            <a:r>
              <a:rPr lang="zh-CN" altLang="en-US" dirty="0"/>
              <a:t>补充： </a:t>
            </a:r>
            <a:r>
              <a:rPr lang="en-US" altLang="zh-CN" dirty="0"/>
              <a:t>SQL</a:t>
            </a:r>
            <a:r>
              <a:rPr lang="zh-CN" altLang="en-US" dirty="0"/>
              <a:t>灵活的授权机制</a:t>
            </a:r>
          </a:p>
        </p:txBody>
      </p:sp>
      <p:sp>
        <p:nvSpPr>
          <p:cNvPr id="9" name="Rectangle 3"/>
          <p:cNvSpPr txBox="1">
            <a:spLocks noChangeArrowheads="1"/>
          </p:cNvSpPr>
          <p:nvPr/>
        </p:nvSpPr>
        <p:spPr bwMode="auto">
          <a:xfrm>
            <a:off x="789388" y="1371600"/>
            <a:ext cx="8126011"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a:solidFill>
                  <a:schemeClr val="tx1"/>
                </a:solidFill>
                <a:latin typeface="+mn-lt"/>
                <a:ea typeface="+mn-ea"/>
              </a:defRPr>
            </a:lvl2pPr>
            <a:lvl3pPr marL="1143000" indent="-228600" algn="l" rtl="0" fontAlgn="base">
              <a:spcBef>
                <a:spcPct val="20000"/>
              </a:spcBef>
              <a:spcAft>
                <a:spcPct val="0"/>
              </a:spcAft>
              <a:buClr>
                <a:schemeClr val="folHlink"/>
              </a:buClr>
              <a:buSzPct val="50000"/>
              <a:buFont typeface="Wingdings"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55000"/>
              <a:buFont typeface="Wingdings" pitchFamily="2" charset="2"/>
              <a:buChar char="n"/>
              <a:defRPr sz="2000">
                <a:solidFill>
                  <a:schemeClr val="tx1"/>
                </a:solidFill>
                <a:latin typeface="+mn-lt"/>
                <a:ea typeface="+mn-ea"/>
              </a:defRPr>
            </a:lvl4pPr>
            <a:lvl5pPr marL="20574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a:lstStyle>
          <a:p>
            <a:r>
              <a:rPr kumimoji="0" lang="en-US" altLang="zh-CN" sz="2800" kern="0" dirty="0">
                <a:solidFill>
                  <a:srgbClr val="C00000"/>
                </a:solidFill>
                <a:ea typeface="宋体" charset="-122"/>
              </a:rPr>
              <a:t>DBA</a:t>
            </a:r>
            <a:r>
              <a:rPr kumimoji="0" lang="zh-CN" altLang="en-US" sz="2800" kern="0" dirty="0">
                <a:ea typeface="宋体" charset="-122"/>
              </a:rPr>
              <a:t>：拥有</a:t>
            </a:r>
            <a:r>
              <a:rPr kumimoji="0" lang="zh-CN" altLang="en-US" sz="2800" kern="0" dirty="0">
                <a:solidFill>
                  <a:srgbClr val="0000FF"/>
                </a:solidFill>
                <a:ea typeface="宋体" charset="-122"/>
              </a:rPr>
              <a:t>所有对象</a:t>
            </a:r>
            <a:r>
              <a:rPr kumimoji="0" lang="zh-CN" altLang="en-US" sz="2800" kern="0" dirty="0">
                <a:ea typeface="宋体" charset="-122"/>
              </a:rPr>
              <a:t>的</a:t>
            </a:r>
            <a:r>
              <a:rPr kumimoji="0" lang="zh-CN" altLang="en-US" sz="2800" kern="0" dirty="0">
                <a:solidFill>
                  <a:srgbClr val="0000FF"/>
                </a:solidFill>
                <a:ea typeface="宋体" charset="-122"/>
              </a:rPr>
              <a:t>所有权限</a:t>
            </a:r>
          </a:p>
          <a:p>
            <a:pPr lvl="1"/>
            <a:r>
              <a:rPr kumimoji="0" lang="zh-CN" altLang="en-US" kern="0" dirty="0">
                <a:ea typeface="宋体" charset="-122"/>
              </a:rPr>
              <a:t>不同的权限授予不同的用户</a:t>
            </a:r>
          </a:p>
          <a:p>
            <a:pPr algn="just"/>
            <a:r>
              <a:rPr kumimoji="0" lang="zh-CN" altLang="en-US" sz="2800" kern="0" dirty="0">
                <a:solidFill>
                  <a:srgbClr val="C00000"/>
                </a:solidFill>
                <a:ea typeface="宋体" charset="-122"/>
              </a:rPr>
              <a:t>用户</a:t>
            </a:r>
            <a:r>
              <a:rPr kumimoji="0" lang="zh-CN" altLang="en-US" sz="2800" kern="0" dirty="0">
                <a:ea typeface="宋体" charset="-122"/>
              </a:rPr>
              <a:t>：拥有</a:t>
            </a:r>
            <a:r>
              <a:rPr kumimoji="0" lang="zh-CN" altLang="en-US" sz="2800" kern="0" dirty="0">
                <a:solidFill>
                  <a:srgbClr val="0000FF"/>
                </a:solidFill>
                <a:ea typeface="宋体" charset="-122"/>
              </a:rPr>
              <a:t>自己建立的对象</a:t>
            </a:r>
            <a:r>
              <a:rPr kumimoji="0" lang="zh-CN" altLang="en-US" sz="2800" kern="0" dirty="0">
                <a:ea typeface="宋体" charset="-122"/>
              </a:rPr>
              <a:t>的</a:t>
            </a:r>
            <a:r>
              <a:rPr kumimoji="0" lang="zh-CN" altLang="en-US" sz="2800" kern="0" dirty="0">
                <a:solidFill>
                  <a:srgbClr val="0000FF"/>
                </a:solidFill>
                <a:ea typeface="宋体" charset="-122"/>
              </a:rPr>
              <a:t>全部的操作权限</a:t>
            </a:r>
          </a:p>
          <a:p>
            <a:pPr lvl="1" algn="just"/>
            <a:r>
              <a:rPr kumimoji="0" lang="en-US" altLang="zh-CN" kern="0" dirty="0">
                <a:ea typeface="宋体" charset="-122"/>
              </a:rPr>
              <a:t>GRANT</a:t>
            </a:r>
            <a:r>
              <a:rPr kumimoji="0" lang="zh-CN" altLang="en-US" kern="0" dirty="0">
                <a:ea typeface="宋体" charset="-122"/>
              </a:rPr>
              <a:t>：授予其他用户</a:t>
            </a:r>
          </a:p>
          <a:p>
            <a:pPr algn="just"/>
            <a:r>
              <a:rPr kumimoji="0" lang="zh-CN" altLang="en-US" sz="2800" kern="0" dirty="0">
                <a:solidFill>
                  <a:srgbClr val="C00000"/>
                </a:solidFill>
                <a:ea typeface="宋体" charset="-122"/>
              </a:rPr>
              <a:t>被授权的用户</a:t>
            </a:r>
          </a:p>
          <a:p>
            <a:pPr lvl="1" algn="just"/>
            <a:r>
              <a:rPr kumimoji="0" lang="zh-CN" altLang="en-US" kern="0" dirty="0">
                <a:ea typeface="宋体" charset="-122"/>
              </a:rPr>
              <a:t>“继续授权”许可：再授予</a:t>
            </a:r>
          </a:p>
          <a:p>
            <a:r>
              <a:rPr kumimoji="0" lang="zh-CN" altLang="en-US" sz="2800" kern="0" dirty="0">
                <a:ea typeface="宋体" charset="-122"/>
              </a:rPr>
              <a:t>所有授予出去的权力在必要时又都可用</a:t>
            </a:r>
            <a:r>
              <a:rPr kumimoji="0" lang="en-US" altLang="zh-CN" sz="2800" kern="0" dirty="0">
                <a:solidFill>
                  <a:srgbClr val="C00000"/>
                </a:solidFill>
                <a:ea typeface="宋体" charset="-122"/>
              </a:rPr>
              <a:t>REVOKE</a:t>
            </a:r>
            <a:r>
              <a:rPr kumimoji="0" lang="zh-CN" altLang="en-US" sz="2800" kern="0" dirty="0">
                <a:ea typeface="宋体" charset="-122"/>
              </a:rPr>
              <a:t>语句收回</a:t>
            </a:r>
          </a:p>
        </p:txBody>
      </p:sp>
      <p:sp>
        <p:nvSpPr>
          <p:cNvPr id="6" name="灯片编号占位符 5">
            <a:extLst>
              <a:ext uri="{FF2B5EF4-FFF2-40B4-BE49-F238E27FC236}">
                <a16:creationId xmlns:a16="http://schemas.microsoft.com/office/drawing/2014/main" id="{B8019D8C-D8AD-737C-876A-94B8C5DB142B}"/>
              </a:ext>
            </a:extLst>
          </p:cNvPr>
          <p:cNvSpPr>
            <a:spLocks noGrp="1"/>
          </p:cNvSpPr>
          <p:nvPr>
            <p:ph type="sldNum" sz="quarter" idx="12"/>
          </p:nvPr>
        </p:nvSpPr>
        <p:spPr/>
        <p:txBody>
          <a:bodyPr/>
          <a:lstStyle/>
          <a:p>
            <a:pPr>
              <a:defRPr/>
            </a:pPr>
            <a:fld id="{E0CD82EA-F7BE-454B-A83E-18830F6C5424}" type="slidenum">
              <a:rPr lang="en-US" altLang="zh-CN" smtClean="0"/>
              <a:pPr>
                <a:defRPr/>
              </a:pPr>
              <a:t>127</a:t>
            </a:fld>
            <a:r>
              <a:rPr lang="en-US" altLang="zh-CN"/>
              <a:t>/138</a:t>
            </a:r>
            <a:endParaRPr lang="zh-CN" altLang="en-US" dirty="0"/>
          </a:p>
        </p:txBody>
      </p:sp>
    </p:spTree>
    <p:extLst>
      <p:ext uri="{BB962C8B-B14F-4D97-AF65-F5344CB8AC3E}">
        <p14:creationId xmlns:p14="http://schemas.microsoft.com/office/powerpoint/2010/main" val="1115541003"/>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7F47F7A-17FE-44AC-8281-764FCB4A2F7B}"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10946" name="Rectangle 2"/>
          <p:cNvSpPr>
            <a:spLocks noGrp="1" noChangeArrowheads="1"/>
          </p:cNvSpPr>
          <p:nvPr>
            <p:ph type="title"/>
          </p:nvPr>
        </p:nvSpPr>
        <p:spPr/>
        <p:txBody>
          <a:bodyPr/>
          <a:lstStyle/>
          <a:p>
            <a:r>
              <a:rPr lang="zh-CN" altLang="en-US" dirty="0"/>
              <a:t>补充：</a:t>
            </a:r>
            <a:r>
              <a:rPr lang="en-US" altLang="zh-CN" dirty="0"/>
              <a:t>SQL</a:t>
            </a:r>
            <a:r>
              <a:rPr lang="zh-CN" altLang="en-US" dirty="0"/>
              <a:t>灵活的授权机制</a:t>
            </a:r>
          </a:p>
        </p:txBody>
      </p:sp>
      <p:graphicFrame>
        <p:nvGraphicFramePr>
          <p:cNvPr id="7" name="Group 4"/>
          <p:cNvGraphicFramePr>
            <a:graphicFrameLocks noGrp="1"/>
          </p:cNvGraphicFramePr>
          <p:nvPr>
            <p:ph sz="half" idx="4294967295"/>
            <p:extLst>
              <p:ext uri="{D42A27DB-BD31-4B8C-83A1-F6EECF244321}">
                <p14:modId xmlns:p14="http://schemas.microsoft.com/office/powerpoint/2010/main" val="4218529673"/>
              </p:ext>
            </p:extLst>
          </p:nvPr>
        </p:nvGraphicFramePr>
        <p:xfrm>
          <a:off x="468342" y="1968513"/>
          <a:ext cx="8318500" cy="3246437"/>
        </p:xfrm>
        <a:graphic>
          <a:graphicData uri="http://schemas.openxmlformats.org/drawingml/2006/table">
            <a:tbl>
              <a:tblPr/>
              <a:tblGrid>
                <a:gridCol w="1800587">
                  <a:extLst>
                    <a:ext uri="{9D8B030D-6E8A-4147-A177-3AD203B41FA5}">
                      <a16:colId xmlns:a16="http://schemas.microsoft.com/office/drawing/2014/main" val="20000"/>
                    </a:ext>
                  </a:extLst>
                </a:gridCol>
                <a:gridCol w="1368258">
                  <a:extLst>
                    <a:ext uri="{9D8B030D-6E8A-4147-A177-3AD203B41FA5}">
                      <a16:colId xmlns:a16="http://schemas.microsoft.com/office/drawing/2014/main" val="20001"/>
                    </a:ext>
                  </a:extLst>
                </a:gridCol>
                <a:gridCol w="1512286">
                  <a:extLst>
                    <a:ext uri="{9D8B030D-6E8A-4147-A177-3AD203B41FA5}">
                      <a16:colId xmlns:a16="http://schemas.microsoft.com/office/drawing/2014/main" val="20002"/>
                    </a:ext>
                  </a:extLst>
                </a:gridCol>
                <a:gridCol w="1440272">
                  <a:extLst>
                    <a:ext uri="{9D8B030D-6E8A-4147-A177-3AD203B41FA5}">
                      <a16:colId xmlns:a16="http://schemas.microsoft.com/office/drawing/2014/main" val="20003"/>
                    </a:ext>
                  </a:extLst>
                </a:gridCol>
                <a:gridCol w="2197097">
                  <a:extLst>
                    <a:ext uri="{9D8B030D-6E8A-4147-A177-3AD203B41FA5}">
                      <a16:colId xmlns:a16="http://schemas.microsoft.com/office/drawing/2014/main" val="20004"/>
                    </a:ext>
                  </a:extLst>
                </a:gridCol>
              </a:tblGrid>
              <a:tr h="426762">
                <a:tc rowSpan="2">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200" b="1" i="0" u="none" strike="noStrike" cap="none" normalizeH="0" baseline="0" dirty="0">
                          <a:ln>
                            <a:noFill/>
                          </a:ln>
                          <a:solidFill>
                            <a:schemeClr val="tx1"/>
                          </a:solidFill>
                          <a:effectLst/>
                          <a:latin typeface="+mn-lt"/>
                          <a:ea typeface="宋体" pitchFamily="2" charset="-122"/>
                        </a:rPr>
                        <a:t>拥有的权限</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200" b="1" i="0" u="none" strike="noStrike" cap="none" normalizeH="0" baseline="0" dirty="0">
                          <a:ln>
                            <a:noFill/>
                          </a:ln>
                          <a:solidFill>
                            <a:schemeClr val="tx1"/>
                          </a:solidFill>
                          <a:effectLst/>
                          <a:latin typeface="+mn-lt"/>
                          <a:ea typeface="宋体" pitchFamily="2" charset="-122"/>
                        </a:rPr>
                        <a:t>可否执行的操作</a:t>
                      </a:r>
                    </a:p>
                  </a:txBody>
                  <a:tcPr marL="91447" marR="91447"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1097387">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2200" b="1" i="0" u="none" strike="noStrike" cap="none" normalizeH="0" baseline="0" dirty="0">
                          <a:ln>
                            <a:noFill/>
                          </a:ln>
                          <a:solidFill>
                            <a:schemeClr val="tx1"/>
                          </a:solidFill>
                          <a:effectLst/>
                          <a:latin typeface="+mn-lt"/>
                          <a:ea typeface="宋体" pitchFamily="2" charset="-122"/>
                        </a:rPr>
                        <a:t>CREATE USER</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Arial" pitchFamily="34" charset="0"/>
                        <a:buNone/>
                        <a:tabLst/>
                      </a:pPr>
                      <a:r>
                        <a:rPr kumimoji="0" lang="en-US" sz="2200" b="1" i="0" u="none" strike="noStrike" cap="none" normalizeH="0" baseline="0" dirty="0">
                          <a:ln>
                            <a:noFill/>
                          </a:ln>
                          <a:solidFill>
                            <a:schemeClr val="tx1"/>
                          </a:solidFill>
                          <a:effectLst/>
                          <a:latin typeface="+mn-lt"/>
                          <a:ea typeface="宋体" pitchFamily="2" charset="-122"/>
                        </a:rPr>
                        <a:t>CREATE SCHEMA</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2200" b="1" i="0" u="none" strike="noStrike" cap="none" normalizeH="0" baseline="0" dirty="0">
                          <a:ln>
                            <a:noFill/>
                          </a:ln>
                          <a:solidFill>
                            <a:schemeClr val="tx1"/>
                          </a:solidFill>
                          <a:effectLst/>
                          <a:latin typeface="+mn-lt"/>
                          <a:ea typeface="宋体" pitchFamily="2" charset="-122"/>
                        </a:rPr>
                        <a:t>CREATE TABLE</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200" b="1" i="0" u="none" strike="noStrike" cap="none" normalizeH="0" baseline="0" dirty="0">
                          <a:ln>
                            <a:noFill/>
                          </a:ln>
                          <a:solidFill>
                            <a:schemeClr val="tx1"/>
                          </a:solidFill>
                          <a:effectLst/>
                          <a:latin typeface="+mn-lt"/>
                          <a:ea typeface="宋体" pitchFamily="2" charset="-122"/>
                        </a:rPr>
                        <a:t>登录数据库 </a:t>
                      </a:r>
                      <a:r>
                        <a:rPr kumimoji="0" lang="zh-CN" altLang="en-US" sz="2200" b="1" i="0" u="none" strike="noStrike" cap="none" normalizeH="0" baseline="0" dirty="0">
                          <a:ln>
                            <a:noFill/>
                          </a:ln>
                          <a:solidFill>
                            <a:schemeClr val="tx1"/>
                          </a:solidFill>
                          <a:effectLst/>
                          <a:latin typeface="+mn-lt"/>
                          <a:ea typeface="宋体" pitchFamily="2" charset="-122"/>
                        </a:rPr>
                        <a:t>，</a:t>
                      </a:r>
                      <a:r>
                        <a:rPr kumimoji="0" lang="zh-CN" sz="2200" b="1" i="0" u="none" strike="noStrike" cap="none" normalizeH="0" baseline="0" dirty="0">
                          <a:ln>
                            <a:noFill/>
                          </a:ln>
                          <a:solidFill>
                            <a:schemeClr val="tx1"/>
                          </a:solidFill>
                          <a:effectLst/>
                          <a:latin typeface="+mn-lt"/>
                          <a:ea typeface="宋体" pitchFamily="2" charset="-122"/>
                        </a:rPr>
                        <a:t>执行数据查询和操纵</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6762">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2200" b="1" i="0" u="none" strike="noStrike" cap="none" normalizeH="0" baseline="0" dirty="0">
                          <a:ln>
                            <a:noFill/>
                          </a:ln>
                          <a:solidFill>
                            <a:schemeClr val="tx1"/>
                          </a:solidFill>
                          <a:effectLst/>
                          <a:latin typeface="+mn-lt"/>
                          <a:ea typeface="宋体" pitchFamily="2" charset="-122"/>
                        </a:rPr>
                        <a:t>DBA</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200" b="1" i="0" u="none" strike="noStrike" cap="none" normalizeH="0" baseline="0" dirty="0">
                          <a:ln>
                            <a:noFill/>
                          </a:ln>
                          <a:solidFill>
                            <a:schemeClr val="tx1"/>
                          </a:solidFill>
                          <a:effectLst/>
                          <a:latin typeface="+mn-lt"/>
                          <a:ea typeface="宋体" pitchFamily="2" charset="-122"/>
                        </a:rPr>
                        <a:t>可以</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200" b="1" i="0" u="none" strike="noStrike" cap="none" normalizeH="0" baseline="0">
                          <a:ln>
                            <a:noFill/>
                          </a:ln>
                          <a:solidFill>
                            <a:schemeClr val="tx1"/>
                          </a:solidFill>
                          <a:effectLst/>
                          <a:latin typeface="+mn-lt"/>
                          <a:ea typeface="宋体" pitchFamily="2" charset="-122"/>
                        </a:rPr>
                        <a:t>可以</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200" b="1" i="0" u="none" strike="noStrike" cap="none" normalizeH="0" baseline="0">
                          <a:ln>
                            <a:noFill/>
                          </a:ln>
                          <a:solidFill>
                            <a:schemeClr val="tx1"/>
                          </a:solidFill>
                          <a:effectLst/>
                          <a:latin typeface="+mn-lt"/>
                          <a:ea typeface="宋体" pitchFamily="2" charset="-122"/>
                        </a:rPr>
                        <a:t>可以</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200" b="1" i="0" u="none" strike="noStrike" cap="none" normalizeH="0" baseline="0" dirty="0">
                          <a:ln>
                            <a:noFill/>
                          </a:ln>
                          <a:solidFill>
                            <a:schemeClr val="tx1"/>
                          </a:solidFill>
                          <a:effectLst/>
                          <a:latin typeface="+mn-lt"/>
                          <a:ea typeface="宋体" pitchFamily="2" charset="-122"/>
                        </a:rPr>
                        <a:t>可以</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3452">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2200" b="1" i="0" u="none" strike="noStrike" cap="none" normalizeH="0" baseline="0" dirty="0">
                          <a:ln>
                            <a:noFill/>
                          </a:ln>
                          <a:solidFill>
                            <a:schemeClr val="tx1"/>
                          </a:solidFill>
                          <a:effectLst/>
                          <a:latin typeface="+mn-lt"/>
                          <a:ea typeface="宋体" pitchFamily="2" charset="-122"/>
                        </a:rPr>
                        <a:t>RESOURCE</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200" b="1" i="0" u="none" strike="noStrike" cap="none" normalizeH="0" baseline="0" dirty="0">
                          <a:ln>
                            <a:noFill/>
                          </a:ln>
                          <a:solidFill>
                            <a:srgbClr val="FF0000"/>
                          </a:solidFill>
                          <a:effectLst/>
                          <a:latin typeface="+mn-lt"/>
                          <a:ea typeface="宋体" pitchFamily="2" charset="-122"/>
                        </a:rPr>
                        <a:t>不可以</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200" b="1" i="0" u="none" strike="noStrike" cap="none" normalizeH="0" baseline="0" dirty="0">
                          <a:ln>
                            <a:noFill/>
                          </a:ln>
                          <a:solidFill>
                            <a:srgbClr val="FF0000"/>
                          </a:solidFill>
                          <a:effectLst/>
                          <a:latin typeface="+mn-lt"/>
                          <a:ea typeface="宋体" pitchFamily="2" charset="-122"/>
                        </a:rPr>
                        <a:t>不可以</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200" b="1" i="0" u="none" strike="noStrike" cap="none" normalizeH="0" baseline="0" dirty="0">
                          <a:ln>
                            <a:noFill/>
                          </a:ln>
                          <a:solidFill>
                            <a:schemeClr val="tx1"/>
                          </a:solidFill>
                          <a:effectLst/>
                          <a:latin typeface="+mn-lt"/>
                          <a:ea typeface="宋体" pitchFamily="2" charset="-122"/>
                        </a:rPr>
                        <a:t>可以</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200" b="1" i="0" u="none" strike="noStrike" cap="none" normalizeH="0" baseline="0" dirty="0">
                          <a:ln>
                            <a:noFill/>
                          </a:ln>
                          <a:solidFill>
                            <a:schemeClr val="tx1"/>
                          </a:solidFill>
                          <a:effectLst/>
                          <a:latin typeface="+mn-lt"/>
                          <a:ea typeface="宋体" pitchFamily="2" charset="-122"/>
                        </a:rPr>
                        <a:t>可以</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62074">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en-US" sz="2200" b="1" i="0" u="none" strike="noStrike" cap="none" normalizeH="0" baseline="0">
                          <a:ln>
                            <a:noFill/>
                          </a:ln>
                          <a:solidFill>
                            <a:schemeClr val="tx1"/>
                          </a:solidFill>
                          <a:effectLst/>
                          <a:latin typeface="+mn-lt"/>
                          <a:ea typeface="宋体" pitchFamily="2" charset="-122"/>
                        </a:rPr>
                        <a:t>CONNECT</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200" b="1" i="0" u="none" strike="noStrike" cap="none" normalizeH="0" baseline="0" dirty="0">
                          <a:ln>
                            <a:noFill/>
                          </a:ln>
                          <a:solidFill>
                            <a:srgbClr val="FF0000"/>
                          </a:solidFill>
                          <a:effectLst/>
                          <a:latin typeface="+mn-lt"/>
                          <a:ea typeface="宋体" pitchFamily="2" charset="-122"/>
                        </a:rPr>
                        <a:t>不可以</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200" b="1" i="0" u="none" strike="noStrike" cap="none" normalizeH="0" baseline="0" dirty="0">
                          <a:ln>
                            <a:noFill/>
                          </a:ln>
                          <a:solidFill>
                            <a:srgbClr val="FF0000"/>
                          </a:solidFill>
                          <a:effectLst/>
                          <a:latin typeface="+mn-lt"/>
                          <a:ea typeface="宋体" pitchFamily="2" charset="-122"/>
                        </a:rPr>
                        <a:t>不可以</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200" b="1" i="0" u="none" strike="noStrike" cap="none" normalizeH="0" baseline="0" dirty="0">
                          <a:ln>
                            <a:noFill/>
                          </a:ln>
                          <a:solidFill>
                            <a:srgbClr val="FF0000"/>
                          </a:solidFill>
                          <a:effectLst/>
                          <a:latin typeface="+mn-lt"/>
                          <a:ea typeface="宋体" pitchFamily="2" charset="-122"/>
                        </a:rPr>
                        <a:t>不可以</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100000"/>
                        <a:buFont typeface="Wingdings" pitchFamily="2" charset="2"/>
                        <a:buNone/>
                        <a:tabLst/>
                      </a:pPr>
                      <a:r>
                        <a:rPr kumimoji="0" lang="zh-CN" sz="2200" b="1" i="0" u="none" strike="noStrike" cap="none" normalizeH="0" baseline="0" dirty="0">
                          <a:ln>
                            <a:noFill/>
                          </a:ln>
                          <a:solidFill>
                            <a:schemeClr val="tx1"/>
                          </a:solidFill>
                          <a:effectLst/>
                          <a:latin typeface="+mn-lt"/>
                          <a:ea typeface="宋体" pitchFamily="2" charset="-122"/>
                        </a:rPr>
                        <a:t>可以，</a:t>
                      </a:r>
                      <a:r>
                        <a:rPr kumimoji="0" lang="zh-CN" sz="2200" b="1" i="0" u="none" strike="noStrike" cap="none" normalizeH="0" baseline="0" dirty="0">
                          <a:ln>
                            <a:noFill/>
                          </a:ln>
                          <a:solidFill>
                            <a:srgbClr val="0000FF"/>
                          </a:solidFill>
                          <a:effectLst/>
                          <a:latin typeface="+mn-lt"/>
                          <a:ea typeface="宋体" pitchFamily="2" charset="-122"/>
                        </a:rPr>
                        <a:t>但必须拥有相应权限</a:t>
                      </a:r>
                    </a:p>
                  </a:txBody>
                  <a:tcPr marL="91447" marR="91447" marT="45724" marB="4572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灯片编号占位符 5">
            <a:extLst>
              <a:ext uri="{FF2B5EF4-FFF2-40B4-BE49-F238E27FC236}">
                <a16:creationId xmlns:a16="http://schemas.microsoft.com/office/drawing/2014/main" id="{4A0671FE-20E4-94A0-F29B-6C008A2292E1}"/>
              </a:ext>
            </a:extLst>
          </p:cNvPr>
          <p:cNvSpPr>
            <a:spLocks noGrp="1"/>
          </p:cNvSpPr>
          <p:nvPr>
            <p:ph type="sldNum" sz="quarter" idx="12"/>
          </p:nvPr>
        </p:nvSpPr>
        <p:spPr/>
        <p:txBody>
          <a:bodyPr/>
          <a:lstStyle/>
          <a:p>
            <a:pPr>
              <a:defRPr/>
            </a:pPr>
            <a:fld id="{E0CD82EA-F7BE-454B-A83E-18830F6C5424}" type="slidenum">
              <a:rPr lang="en-US" altLang="zh-CN" smtClean="0"/>
              <a:pPr>
                <a:defRPr/>
              </a:pPr>
              <a:t>128</a:t>
            </a:fld>
            <a:r>
              <a:rPr lang="en-US" altLang="zh-CN"/>
              <a:t>/138</a:t>
            </a:r>
            <a:endParaRPr lang="zh-CN" altLang="en-US" dirty="0"/>
          </a:p>
        </p:txBody>
      </p:sp>
    </p:spTree>
    <p:extLst>
      <p:ext uri="{BB962C8B-B14F-4D97-AF65-F5344CB8AC3E}">
        <p14:creationId xmlns:p14="http://schemas.microsoft.com/office/powerpoint/2010/main" val="2987644074"/>
      </p:ext>
    </p:extLst>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750B75E-BACE-43AF-87A8-10249FC6B4DC}"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12994" name="Rectangle 2"/>
          <p:cNvSpPr>
            <a:spLocks noGrp="1" noChangeArrowheads="1"/>
          </p:cNvSpPr>
          <p:nvPr>
            <p:ph type="title"/>
          </p:nvPr>
        </p:nvSpPr>
        <p:spPr/>
        <p:txBody>
          <a:bodyPr/>
          <a:lstStyle/>
          <a:p>
            <a:r>
              <a:rPr lang="en-US" altLang="zh-CN" dirty="0"/>
              <a:t>4.7.2 </a:t>
            </a:r>
            <a:r>
              <a:rPr lang="zh-CN" altLang="en-US" dirty="0"/>
              <a:t>数据库角色</a:t>
            </a:r>
          </a:p>
        </p:txBody>
      </p:sp>
      <p:sp>
        <p:nvSpPr>
          <p:cNvPr id="212995" name="Rectangle 3"/>
          <p:cNvSpPr>
            <a:spLocks noGrp="1" noChangeArrowheads="1"/>
          </p:cNvSpPr>
          <p:nvPr>
            <p:ph type="body" idx="1"/>
          </p:nvPr>
        </p:nvSpPr>
        <p:spPr>
          <a:xfrm>
            <a:off x="533400" y="1335087"/>
            <a:ext cx="8345488" cy="4989513"/>
          </a:xfrm>
        </p:spPr>
        <p:txBody>
          <a:bodyPr/>
          <a:lstStyle/>
          <a:p>
            <a:r>
              <a:rPr lang="zh-CN" altLang="en-US" sz="2800" dirty="0"/>
              <a:t>数据库</a:t>
            </a:r>
            <a:r>
              <a:rPr lang="zh-CN" altLang="en-US" sz="2800" b="1" dirty="0">
                <a:solidFill>
                  <a:srgbClr val="0000FF"/>
                </a:solidFill>
              </a:rPr>
              <a:t>角色</a:t>
            </a:r>
            <a:r>
              <a:rPr lang="zh-CN" altLang="en-US" sz="2800" dirty="0"/>
              <a:t>：被命名的</a:t>
            </a:r>
            <a:r>
              <a:rPr lang="zh-CN" altLang="en-US" sz="2800" dirty="0">
                <a:solidFill>
                  <a:srgbClr val="FF0000"/>
                </a:solidFill>
              </a:rPr>
              <a:t>一组</a:t>
            </a:r>
            <a:r>
              <a:rPr lang="zh-CN" altLang="en-US" sz="2800" dirty="0"/>
              <a:t>与数据库操作相关的</a:t>
            </a:r>
            <a:r>
              <a:rPr lang="zh-CN" altLang="en-US" sz="2800" dirty="0">
                <a:solidFill>
                  <a:srgbClr val="FF0000"/>
                </a:solidFill>
              </a:rPr>
              <a:t>权限</a:t>
            </a:r>
            <a:r>
              <a:rPr lang="zh-CN" altLang="en-US" sz="2800" dirty="0"/>
              <a:t>（</a:t>
            </a:r>
            <a:r>
              <a:rPr lang="zh-CN" altLang="en-US" sz="2800" dirty="0">
                <a:solidFill>
                  <a:srgbClr val="0000FF"/>
                </a:solidFill>
              </a:rPr>
              <a:t>权限的集合</a:t>
            </a:r>
            <a:r>
              <a:rPr lang="zh-CN" altLang="en-US" sz="2800" dirty="0"/>
              <a:t>）</a:t>
            </a:r>
          </a:p>
          <a:p>
            <a:pPr lvl="1" eaLnBrk="1" hangingPunct="1"/>
            <a:r>
              <a:rPr lang="zh-CN" altLang="en-US" sz="2400" dirty="0">
                <a:cs typeface="+mn-cs"/>
              </a:rPr>
              <a:t>角色是</a:t>
            </a:r>
            <a:r>
              <a:rPr lang="zh-CN" altLang="en-US" sz="2400" dirty="0">
                <a:solidFill>
                  <a:srgbClr val="0000FF"/>
                </a:solidFill>
                <a:cs typeface="+mn-cs"/>
              </a:rPr>
              <a:t>权限</a:t>
            </a:r>
            <a:r>
              <a:rPr lang="zh-CN" altLang="en-US" sz="2400" dirty="0">
                <a:cs typeface="+mn-cs"/>
              </a:rPr>
              <a:t>的</a:t>
            </a:r>
            <a:r>
              <a:rPr lang="zh-CN" altLang="en-US" sz="2400" dirty="0">
                <a:solidFill>
                  <a:srgbClr val="0000FF"/>
                </a:solidFill>
                <a:cs typeface="+mn-cs"/>
              </a:rPr>
              <a:t>集合 </a:t>
            </a:r>
            <a:endParaRPr lang="en-US" altLang="zh-CN" sz="2400" dirty="0">
              <a:solidFill>
                <a:srgbClr val="0000FF"/>
              </a:solidFill>
              <a:cs typeface="+mn-cs"/>
            </a:endParaRPr>
          </a:p>
          <a:p>
            <a:pPr lvl="1" eaLnBrk="1" hangingPunct="1"/>
            <a:r>
              <a:rPr lang="zh-CN" altLang="en-US" sz="2400" dirty="0">
                <a:cs typeface="+mn-cs"/>
              </a:rPr>
              <a:t>可以为</a:t>
            </a:r>
            <a:r>
              <a:rPr lang="zh-CN" altLang="en-US" sz="2400" b="1" dirty="0">
                <a:solidFill>
                  <a:srgbClr val="0000FF"/>
                </a:solidFill>
                <a:cs typeface="+mn-cs"/>
              </a:rPr>
              <a:t>一组具有相同权限</a:t>
            </a:r>
            <a:r>
              <a:rPr lang="zh-CN" altLang="en-US" sz="2400" dirty="0">
                <a:cs typeface="+mn-cs"/>
              </a:rPr>
              <a:t>的</a:t>
            </a:r>
            <a:r>
              <a:rPr lang="zh-CN" altLang="en-US" sz="2400" b="1" dirty="0">
                <a:solidFill>
                  <a:srgbClr val="006600"/>
                </a:solidFill>
                <a:cs typeface="+mn-cs"/>
              </a:rPr>
              <a:t>用户</a:t>
            </a:r>
            <a:r>
              <a:rPr lang="zh-CN" altLang="en-US" sz="2400" dirty="0">
                <a:cs typeface="+mn-cs"/>
              </a:rPr>
              <a:t>创建一个</a:t>
            </a:r>
            <a:r>
              <a:rPr lang="zh-CN" altLang="en-US" sz="2400" b="1" dirty="0">
                <a:solidFill>
                  <a:srgbClr val="0000FF"/>
                </a:solidFill>
                <a:cs typeface="+mn-cs"/>
              </a:rPr>
              <a:t>角色</a:t>
            </a:r>
          </a:p>
          <a:p>
            <a:pPr lvl="1" eaLnBrk="1" hangingPunct="1"/>
            <a:r>
              <a:rPr lang="zh-CN" altLang="en-US" sz="2400" dirty="0">
                <a:solidFill>
                  <a:srgbClr val="FF0000"/>
                </a:solidFill>
                <a:cs typeface="+mn-cs"/>
              </a:rPr>
              <a:t>简化授权</a:t>
            </a:r>
            <a:r>
              <a:rPr lang="zh-CN" altLang="en-US" sz="2400" dirty="0">
                <a:cs typeface="+mn-cs"/>
              </a:rPr>
              <a:t>的过程</a:t>
            </a:r>
            <a:endParaRPr lang="en-US" altLang="zh-CN" sz="2400" dirty="0">
              <a:cs typeface="+mn-cs"/>
            </a:endParaRPr>
          </a:p>
          <a:p>
            <a:pPr lvl="2" eaLnBrk="1" hangingPunct="1"/>
            <a:r>
              <a:rPr lang="zh-CN" altLang="en-US" sz="2000" dirty="0">
                <a:cs typeface="+mn-cs"/>
              </a:rPr>
              <a:t>考虑在一所大学里不同人所具有的真实世界角色。每位教师必须在同一组关系上具有相同类型的权限。无论何时指派一位新的教师，他都必须被单独授予所有这些权限。</a:t>
            </a:r>
            <a:endParaRPr lang="en-US" altLang="zh-CN" sz="2000" dirty="0">
              <a:cs typeface="+mn-cs"/>
            </a:endParaRPr>
          </a:p>
          <a:p>
            <a:pPr lvl="2" eaLnBrk="1" hangingPunct="1"/>
            <a:r>
              <a:rPr lang="zh-CN" altLang="en-US" sz="2000" dirty="0">
                <a:cs typeface="+mn-cs"/>
              </a:rPr>
              <a:t>一种更好的方式是指明每位教师应该被授予的权限，并单独标识出</a:t>
            </a:r>
            <a:r>
              <a:rPr lang="zh-CN" altLang="en-US" sz="2000" dirty="0">
                <a:solidFill>
                  <a:srgbClr val="0000FF"/>
                </a:solidFill>
                <a:cs typeface="+mn-cs"/>
              </a:rPr>
              <a:t>哪些数据库用户</a:t>
            </a:r>
            <a:r>
              <a:rPr lang="zh-CN" altLang="en-US" sz="2000" dirty="0">
                <a:cs typeface="+mn-cs"/>
              </a:rPr>
              <a:t>是</a:t>
            </a:r>
            <a:r>
              <a:rPr lang="zh-CN" altLang="en-US" sz="2000" dirty="0">
                <a:solidFill>
                  <a:srgbClr val="0000FF"/>
                </a:solidFill>
                <a:cs typeface="+mn-cs"/>
              </a:rPr>
              <a:t>教师</a:t>
            </a:r>
            <a:r>
              <a:rPr lang="zh-CN" altLang="en-US" sz="2000" dirty="0">
                <a:cs typeface="+mn-cs"/>
              </a:rPr>
              <a:t>。系统可以利用这两条信息来确定每位教师的权限。当雇用了一位新的教师时，必须给他</a:t>
            </a:r>
            <a:r>
              <a:rPr lang="zh-CN" altLang="en-US" sz="2000" dirty="0">
                <a:solidFill>
                  <a:srgbClr val="0000FF"/>
                </a:solidFill>
                <a:cs typeface="+mn-cs"/>
              </a:rPr>
              <a:t>一个用户标识</a:t>
            </a:r>
            <a:r>
              <a:rPr lang="zh-CN" altLang="en-US" sz="2000" dirty="0">
                <a:cs typeface="+mn-cs"/>
              </a:rPr>
              <a:t>，并且必须将他标识为一位教师，而</a:t>
            </a:r>
            <a:r>
              <a:rPr lang="zh-CN" altLang="en-US" sz="2000" dirty="0">
                <a:solidFill>
                  <a:srgbClr val="0000FF"/>
                </a:solidFill>
                <a:cs typeface="+mn-cs"/>
              </a:rPr>
              <a:t>不需要重新单独授子教师权限</a:t>
            </a:r>
            <a:r>
              <a:rPr lang="zh-CN" altLang="en-US" sz="2000" dirty="0">
                <a:cs typeface="+mn-cs"/>
              </a:rPr>
              <a:t>。</a:t>
            </a:r>
            <a:endParaRPr lang="zh-CN" altLang="en-US" sz="2400" dirty="0"/>
          </a:p>
        </p:txBody>
      </p:sp>
      <p:sp>
        <p:nvSpPr>
          <p:cNvPr id="6" name="灯片编号占位符 5">
            <a:extLst>
              <a:ext uri="{FF2B5EF4-FFF2-40B4-BE49-F238E27FC236}">
                <a16:creationId xmlns:a16="http://schemas.microsoft.com/office/drawing/2014/main" id="{1ACF2CA1-CBEA-B603-0BB1-E8F91E39EAD1}"/>
              </a:ext>
            </a:extLst>
          </p:cNvPr>
          <p:cNvSpPr>
            <a:spLocks noGrp="1"/>
          </p:cNvSpPr>
          <p:nvPr>
            <p:ph type="sldNum" sz="quarter" idx="12"/>
          </p:nvPr>
        </p:nvSpPr>
        <p:spPr/>
        <p:txBody>
          <a:bodyPr/>
          <a:lstStyle/>
          <a:p>
            <a:pPr>
              <a:defRPr/>
            </a:pPr>
            <a:fld id="{E0CD82EA-F7BE-454B-A83E-18830F6C5424}" type="slidenum">
              <a:rPr lang="en-US" altLang="zh-CN" smtClean="0"/>
              <a:pPr>
                <a:defRPr/>
              </a:pPr>
              <a:t>129</a:t>
            </a:fld>
            <a:r>
              <a:rPr lang="en-US" altLang="zh-CN"/>
              <a:t>/138</a:t>
            </a:r>
            <a:endParaRPr lang="zh-CN" altLang="en-US" dirty="0"/>
          </a:p>
        </p:txBody>
      </p:sp>
    </p:spTree>
    <p:extLst>
      <p:ext uri="{BB962C8B-B14F-4D97-AF65-F5344CB8AC3E}">
        <p14:creationId xmlns:p14="http://schemas.microsoft.com/office/powerpoint/2010/main" val="1408326591"/>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1C178DC-C729-4820-830D-B83892B08F6E}"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12994" name="Rectangle 2"/>
          <p:cNvSpPr>
            <a:spLocks noGrp="1" noChangeArrowheads="1"/>
          </p:cNvSpPr>
          <p:nvPr>
            <p:ph type="title"/>
          </p:nvPr>
        </p:nvSpPr>
        <p:spPr/>
        <p:txBody>
          <a:bodyPr/>
          <a:lstStyle/>
          <a:p>
            <a:r>
              <a:rPr lang="en-US" altLang="zh-CN" dirty="0"/>
              <a:t>4.7.2 </a:t>
            </a:r>
            <a:r>
              <a:rPr lang="zh-CN" altLang="en-US" dirty="0"/>
              <a:t>数据库角色</a:t>
            </a:r>
          </a:p>
        </p:txBody>
      </p:sp>
      <p:sp>
        <p:nvSpPr>
          <p:cNvPr id="212995" name="Rectangle 3"/>
          <p:cNvSpPr>
            <a:spLocks noGrp="1" noChangeArrowheads="1"/>
          </p:cNvSpPr>
          <p:nvPr>
            <p:ph type="body" idx="1"/>
          </p:nvPr>
        </p:nvSpPr>
        <p:spPr>
          <a:xfrm>
            <a:off x="533400" y="1335087"/>
            <a:ext cx="8345488" cy="4908551"/>
          </a:xfrm>
        </p:spPr>
        <p:txBody>
          <a:bodyPr/>
          <a:lstStyle/>
          <a:p>
            <a:pPr>
              <a:spcBef>
                <a:spcPct val="40000"/>
              </a:spcBef>
            </a:pPr>
            <a:r>
              <a:rPr lang="zh-CN" altLang="en-US" sz="2800" b="1" dirty="0"/>
              <a:t>创建角色</a:t>
            </a:r>
          </a:p>
          <a:p>
            <a:pPr lvl="1"/>
            <a:r>
              <a:rPr lang="en-US" altLang="zh-CN" sz="2400" dirty="0">
                <a:solidFill>
                  <a:srgbClr val="0000FF"/>
                </a:solidFill>
              </a:rPr>
              <a:t>CREATE ROLE </a:t>
            </a:r>
            <a:r>
              <a:rPr lang="en-US" altLang="zh-CN" sz="2400" dirty="0"/>
              <a:t>&lt;</a:t>
            </a:r>
            <a:r>
              <a:rPr lang="zh-CN" altLang="en-US" sz="2400" dirty="0"/>
              <a:t>角色名</a:t>
            </a:r>
            <a:r>
              <a:rPr lang="en-US" altLang="zh-CN" sz="2400" dirty="0"/>
              <a:t>&gt;;</a:t>
            </a:r>
          </a:p>
          <a:p>
            <a:pPr>
              <a:spcBef>
                <a:spcPct val="40000"/>
              </a:spcBef>
            </a:pPr>
            <a:r>
              <a:rPr lang="zh-CN" altLang="en-US" sz="2800" b="1" dirty="0"/>
              <a:t>角色授权</a:t>
            </a:r>
          </a:p>
          <a:p>
            <a:pPr lvl="1"/>
            <a:r>
              <a:rPr lang="en-US" altLang="zh-CN" sz="2400" dirty="0">
                <a:solidFill>
                  <a:srgbClr val="0000FF"/>
                </a:solidFill>
              </a:rPr>
              <a:t>GRANT</a:t>
            </a:r>
            <a:r>
              <a:rPr lang="zh-CN" altLang="en-US" sz="2400" dirty="0">
                <a:solidFill>
                  <a:srgbClr val="0000FF"/>
                </a:solidFill>
              </a:rPr>
              <a:t>命令</a:t>
            </a:r>
            <a:endParaRPr lang="en-US" altLang="zh-CN" sz="2400" dirty="0">
              <a:solidFill>
                <a:srgbClr val="0000FF"/>
              </a:solidFill>
            </a:endParaRPr>
          </a:p>
          <a:p>
            <a:pPr lvl="2">
              <a:buNone/>
            </a:pPr>
            <a:r>
              <a:rPr lang="zh-CN" altLang="en-US" sz="2000" dirty="0"/>
              <a:t> </a:t>
            </a:r>
            <a:r>
              <a:rPr lang="en-US" altLang="zh-CN" sz="2000" dirty="0"/>
              <a:t>GRANT  &lt;</a:t>
            </a:r>
            <a:r>
              <a:rPr lang="zh-CN" altLang="en-US" sz="2000" dirty="0"/>
              <a:t>权限</a:t>
            </a:r>
            <a:r>
              <a:rPr lang="en-US" altLang="zh-CN" sz="2000" dirty="0"/>
              <a:t>&gt;</a:t>
            </a:r>
            <a:r>
              <a:rPr lang="zh-CN" altLang="en-US" sz="2000" dirty="0"/>
              <a:t>［，</a:t>
            </a:r>
            <a:r>
              <a:rPr lang="en-US" altLang="zh-CN" sz="2000" dirty="0"/>
              <a:t>&lt;</a:t>
            </a:r>
            <a:r>
              <a:rPr lang="zh-CN" altLang="en-US" sz="2000" dirty="0"/>
              <a:t>权限</a:t>
            </a:r>
            <a:r>
              <a:rPr lang="en-US" altLang="zh-CN" sz="2000" dirty="0"/>
              <a:t>&gt;</a:t>
            </a:r>
            <a:r>
              <a:rPr lang="zh-CN" altLang="en-US" sz="2000" dirty="0"/>
              <a:t>］</a:t>
            </a:r>
            <a:r>
              <a:rPr lang="en-US" altLang="zh-CN" sz="2000" dirty="0"/>
              <a:t>… </a:t>
            </a:r>
          </a:p>
          <a:p>
            <a:pPr lvl="2">
              <a:buNone/>
            </a:pPr>
            <a:r>
              <a:rPr lang="en-US" altLang="zh-CN" sz="2000" dirty="0"/>
              <a:t> ON &lt;</a:t>
            </a:r>
            <a:r>
              <a:rPr lang="zh-CN" altLang="en-US" sz="2000" dirty="0"/>
              <a:t>对象类型</a:t>
            </a:r>
            <a:r>
              <a:rPr lang="en-US" altLang="zh-CN" sz="2000" dirty="0"/>
              <a:t>&gt; </a:t>
            </a:r>
            <a:r>
              <a:rPr lang="zh-CN" altLang="en-US" sz="2000" dirty="0"/>
              <a:t>对象名  </a:t>
            </a:r>
          </a:p>
          <a:p>
            <a:pPr lvl="2">
              <a:buNone/>
            </a:pPr>
            <a:r>
              <a:rPr lang="zh-CN" altLang="en-US" sz="2000" dirty="0"/>
              <a:t> </a:t>
            </a:r>
            <a:r>
              <a:rPr lang="en-US" altLang="zh-CN" sz="2000" dirty="0"/>
              <a:t>TO &lt;</a:t>
            </a:r>
            <a:r>
              <a:rPr lang="zh-CN" altLang="en-US" sz="2000" dirty="0">
                <a:solidFill>
                  <a:srgbClr val="0000FF"/>
                </a:solidFill>
              </a:rPr>
              <a:t>角色名</a:t>
            </a:r>
            <a:r>
              <a:rPr lang="en-US" altLang="zh-CN" sz="2000" dirty="0"/>
              <a:t>&gt;</a:t>
            </a:r>
            <a:r>
              <a:rPr lang="zh-CN" altLang="en-US" sz="2000" dirty="0"/>
              <a:t>［，</a:t>
            </a:r>
            <a:r>
              <a:rPr lang="en-US" altLang="zh-CN" sz="2000" dirty="0"/>
              <a:t>&lt;</a:t>
            </a:r>
            <a:r>
              <a:rPr lang="zh-CN" altLang="en-US" sz="2000" dirty="0">
                <a:solidFill>
                  <a:srgbClr val="0000FF"/>
                </a:solidFill>
              </a:rPr>
              <a:t>角色名</a:t>
            </a:r>
            <a:r>
              <a:rPr lang="en-US" altLang="zh-CN" sz="2000" dirty="0"/>
              <a:t>&gt;</a:t>
            </a:r>
            <a:r>
              <a:rPr lang="zh-CN" altLang="en-US" sz="2000" dirty="0"/>
              <a:t>］</a:t>
            </a:r>
            <a:r>
              <a:rPr lang="en-US" altLang="zh-CN" b="1" dirty="0">
                <a:ea typeface="宋体" charset="-122"/>
              </a:rPr>
              <a:t>…</a:t>
            </a:r>
          </a:p>
          <a:p>
            <a:pPr lvl="1"/>
            <a:endParaRPr lang="zh-CN" altLang="en-US" sz="2400" dirty="0"/>
          </a:p>
        </p:txBody>
      </p:sp>
      <p:sp>
        <p:nvSpPr>
          <p:cNvPr id="3" name="矩形 2"/>
          <p:cNvSpPr/>
          <p:nvPr/>
        </p:nvSpPr>
        <p:spPr>
          <a:xfrm>
            <a:off x="2971800" y="4798367"/>
            <a:ext cx="3121624" cy="461665"/>
          </a:xfrm>
          <a:prstGeom prst="rect">
            <a:avLst/>
          </a:prstGeom>
        </p:spPr>
        <p:txBody>
          <a:bodyPr wrap="none">
            <a:spAutoFit/>
          </a:bodyPr>
          <a:lstStyle/>
          <a:p>
            <a:r>
              <a:rPr lang="en-US" altLang="zh-CN" dirty="0"/>
              <a:t>create role </a:t>
            </a:r>
            <a:r>
              <a:rPr lang="en-US" altLang="zh-CN" dirty="0">
                <a:solidFill>
                  <a:srgbClr val="006600"/>
                </a:solidFill>
              </a:rPr>
              <a:t>instructor</a:t>
            </a:r>
            <a:r>
              <a:rPr lang="en-US" altLang="zh-CN" dirty="0"/>
              <a:t>;</a:t>
            </a:r>
            <a:endParaRPr lang="zh-CN" altLang="en-US" dirty="0"/>
          </a:p>
        </p:txBody>
      </p:sp>
      <p:sp>
        <p:nvSpPr>
          <p:cNvPr id="6" name="矩形 5"/>
          <p:cNvSpPr/>
          <p:nvPr/>
        </p:nvSpPr>
        <p:spPr>
          <a:xfrm>
            <a:off x="2998694" y="5334000"/>
            <a:ext cx="4572000" cy="830997"/>
          </a:xfrm>
          <a:prstGeom prst="rect">
            <a:avLst/>
          </a:prstGeom>
        </p:spPr>
        <p:txBody>
          <a:bodyPr>
            <a:spAutoFit/>
          </a:bodyPr>
          <a:lstStyle/>
          <a:p>
            <a:pPr algn="l"/>
            <a:r>
              <a:rPr lang="en-US" altLang="zh-CN" dirty="0"/>
              <a:t>grant select on </a:t>
            </a:r>
            <a:r>
              <a:rPr lang="en-US" altLang="zh-CN" i="1" dirty="0"/>
              <a:t>takes</a:t>
            </a:r>
          </a:p>
          <a:p>
            <a:pPr algn="l"/>
            <a:r>
              <a:rPr lang="en-US" altLang="zh-CN" dirty="0"/>
              <a:t>to </a:t>
            </a:r>
            <a:r>
              <a:rPr lang="en-US" altLang="zh-CN" dirty="0">
                <a:solidFill>
                  <a:srgbClr val="006600"/>
                </a:solidFill>
              </a:rPr>
              <a:t>instructor</a:t>
            </a:r>
            <a:r>
              <a:rPr lang="en-US" altLang="zh-CN" dirty="0"/>
              <a:t>;</a:t>
            </a:r>
            <a:endParaRPr lang="zh-CN" altLang="en-US" dirty="0"/>
          </a:p>
        </p:txBody>
      </p:sp>
      <p:sp>
        <p:nvSpPr>
          <p:cNvPr id="7" name="TextBox 6"/>
          <p:cNvSpPr txBox="1"/>
          <p:nvPr/>
        </p:nvSpPr>
        <p:spPr>
          <a:xfrm>
            <a:off x="1616366" y="4798367"/>
            <a:ext cx="1107996" cy="461665"/>
          </a:xfrm>
          <a:prstGeom prst="rect">
            <a:avLst/>
          </a:prstGeom>
          <a:noFill/>
        </p:spPr>
        <p:txBody>
          <a:bodyPr wrap="none" rtlCol="0">
            <a:spAutoFit/>
          </a:bodyPr>
          <a:lstStyle/>
          <a:p>
            <a:r>
              <a:rPr lang="zh-CN" altLang="en-US" dirty="0"/>
              <a:t>例如：</a:t>
            </a:r>
          </a:p>
        </p:txBody>
      </p:sp>
      <p:sp>
        <p:nvSpPr>
          <p:cNvPr id="9" name="灯片编号占位符 8">
            <a:extLst>
              <a:ext uri="{FF2B5EF4-FFF2-40B4-BE49-F238E27FC236}">
                <a16:creationId xmlns:a16="http://schemas.microsoft.com/office/drawing/2014/main" id="{7574EDDA-7F9D-316C-F803-6436D373EADB}"/>
              </a:ext>
            </a:extLst>
          </p:cNvPr>
          <p:cNvSpPr>
            <a:spLocks noGrp="1"/>
          </p:cNvSpPr>
          <p:nvPr>
            <p:ph type="sldNum" sz="quarter" idx="12"/>
          </p:nvPr>
        </p:nvSpPr>
        <p:spPr/>
        <p:txBody>
          <a:bodyPr/>
          <a:lstStyle/>
          <a:p>
            <a:pPr>
              <a:defRPr/>
            </a:pPr>
            <a:fld id="{E0CD82EA-F7BE-454B-A83E-18830F6C5424}" type="slidenum">
              <a:rPr lang="en-US" altLang="zh-CN" smtClean="0"/>
              <a:pPr>
                <a:defRPr/>
              </a:pPr>
              <a:t>130</a:t>
            </a:fld>
            <a:r>
              <a:rPr lang="en-US" altLang="zh-CN"/>
              <a:t>/138</a:t>
            </a:r>
            <a:endParaRPr lang="zh-CN" altLang="en-US" dirty="0"/>
          </a:p>
        </p:txBody>
      </p:sp>
    </p:spTree>
    <p:extLst>
      <p:ext uri="{BB962C8B-B14F-4D97-AF65-F5344CB8AC3E}">
        <p14:creationId xmlns:p14="http://schemas.microsoft.com/office/powerpoint/2010/main" val="40465147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2995">
                                            <p:txEl>
                                              <p:pRg st="0" end="0"/>
                                            </p:txEl>
                                          </p:spTgt>
                                        </p:tgtEl>
                                        <p:attrNameLst>
                                          <p:attrName>style.visibility</p:attrName>
                                        </p:attrNameLst>
                                      </p:cBhvr>
                                      <p:to>
                                        <p:strVal val="visible"/>
                                      </p:to>
                                    </p:set>
                                    <p:anim calcmode="lin" valueType="num">
                                      <p:cBhvr additive="base">
                                        <p:cTn id="7" dur="500" fill="hold"/>
                                        <p:tgtEl>
                                          <p:spTgt spid="21299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299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12995">
                                            <p:txEl>
                                              <p:pRg st="1" end="1"/>
                                            </p:txEl>
                                          </p:spTgt>
                                        </p:tgtEl>
                                        <p:attrNameLst>
                                          <p:attrName>style.visibility</p:attrName>
                                        </p:attrNameLst>
                                      </p:cBhvr>
                                      <p:to>
                                        <p:strVal val="visible"/>
                                      </p:to>
                                    </p:set>
                                    <p:anim calcmode="lin" valueType="num">
                                      <p:cBhvr additive="base">
                                        <p:cTn id="11" dur="500" fill="hold"/>
                                        <p:tgtEl>
                                          <p:spTgt spid="21299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129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12995">
                                            <p:txEl>
                                              <p:pRg st="2" end="2"/>
                                            </p:txEl>
                                          </p:spTgt>
                                        </p:tgtEl>
                                        <p:attrNameLst>
                                          <p:attrName>style.visibility</p:attrName>
                                        </p:attrNameLst>
                                      </p:cBhvr>
                                      <p:to>
                                        <p:strVal val="visible"/>
                                      </p:to>
                                    </p:set>
                                    <p:anim calcmode="lin" valueType="num">
                                      <p:cBhvr additive="base">
                                        <p:cTn id="17" dur="500" fill="hold"/>
                                        <p:tgtEl>
                                          <p:spTgt spid="21299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1299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12995">
                                            <p:txEl>
                                              <p:pRg st="3" end="3"/>
                                            </p:txEl>
                                          </p:spTgt>
                                        </p:tgtEl>
                                        <p:attrNameLst>
                                          <p:attrName>style.visibility</p:attrName>
                                        </p:attrNameLst>
                                      </p:cBhvr>
                                      <p:to>
                                        <p:strVal val="visible"/>
                                      </p:to>
                                    </p:set>
                                    <p:anim calcmode="lin" valueType="num">
                                      <p:cBhvr additive="base">
                                        <p:cTn id="21" dur="500" fill="hold"/>
                                        <p:tgtEl>
                                          <p:spTgt spid="21299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129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12995">
                                            <p:txEl>
                                              <p:pRg st="4" end="4"/>
                                            </p:txEl>
                                          </p:spTgt>
                                        </p:tgtEl>
                                        <p:attrNameLst>
                                          <p:attrName>style.visibility</p:attrName>
                                        </p:attrNameLst>
                                      </p:cBhvr>
                                      <p:to>
                                        <p:strVal val="visible"/>
                                      </p:to>
                                    </p:set>
                                    <p:anim calcmode="lin" valueType="num">
                                      <p:cBhvr additive="base">
                                        <p:cTn id="27" dur="500" fill="hold"/>
                                        <p:tgtEl>
                                          <p:spTgt spid="21299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12995">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12995">
                                            <p:txEl>
                                              <p:pRg st="5" end="5"/>
                                            </p:txEl>
                                          </p:spTgt>
                                        </p:tgtEl>
                                        <p:attrNameLst>
                                          <p:attrName>style.visibility</p:attrName>
                                        </p:attrNameLst>
                                      </p:cBhvr>
                                      <p:to>
                                        <p:strVal val="visible"/>
                                      </p:to>
                                    </p:set>
                                    <p:anim calcmode="lin" valueType="num">
                                      <p:cBhvr additive="base">
                                        <p:cTn id="31" dur="500" fill="hold"/>
                                        <p:tgtEl>
                                          <p:spTgt spid="21299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2995">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12995">
                                            <p:txEl>
                                              <p:pRg st="6" end="6"/>
                                            </p:txEl>
                                          </p:spTgt>
                                        </p:tgtEl>
                                        <p:attrNameLst>
                                          <p:attrName>style.visibility</p:attrName>
                                        </p:attrNameLst>
                                      </p:cBhvr>
                                      <p:to>
                                        <p:strVal val="visible"/>
                                      </p:to>
                                    </p:set>
                                    <p:anim calcmode="lin" valueType="num">
                                      <p:cBhvr additive="base">
                                        <p:cTn id="35" dur="500" fill="hold"/>
                                        <p:tgtEl>
                                          <p:spTgt spid="212995">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1299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barn(inVertical)">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3"/>
                                        </p:tgtEl>
                                        <p:attrNameLst>
                                          <p:attrName>style.visibility</p:attrName>
                                        </p:attrNameLst>
                                      </p:cBhvr>
                                      <p:to>
                                        <p:strVal val="visible"/>
                                      </p:to>
                                    </p:set>
                                    <p:anim calcmode="lin" valueType="num">
                                      <p:cBhvr additive="base">
                                        <p:cTn id="46" dur="500" fill="hold"/>
                                        <p:tgtEl>
                                          <p:spTgt spid="3"/>
                                        </p:tgtEl>
                                        <p:attrNameLst>
                                          <p:attrName>ppt_x</p:attrName>
                                        </p:attrNameLst>
                                      </p:cBhvr>
                                      <p:tavLst>
                                        <p:tav tm="0">
                                          <p:val>
                                            <p:strVal val="#ppt_x"/>
                                          </p:val>
                                        </p:tav>
                                        <p:tav tm="100000">
                                          <p:val>
                                            <p:strVal val="#ppt_x"/>
                                          </p:val>
                                        </p:tav>
                                      </p:tavLst>
                                    </p:anim>
                                    <p:anim calcmode="lin" valueType="num">
                                      <p:cBhvr additive="base">
                                        <p:cTn id="47" dur="500" fill="hold"/>
                                        <p:tgtEl>
                                          <p:spTgt spid="3"/>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6"/>
                                        </p:tgtEl>
                                        <p:attrNameLst>
                                          <p:attrName>style.visibility</p:attrName>
                                        </p:attrNameLst>
                                      </p:cBhvr>
                                      <p:to>
                                        <p:strVal val="visible"/>
                                      </p:to>
                                    </p:set>
                                    <p:anim calcmode="lin" valueType="num">
                                      <p:cBhvr additive="base">
                                        <p:cTn id="50" dur="500" fill="hold"/>
                                        <p:tgtEl>
                                          <p:spTgt spid="6"/>
                                        </p:tgtEl>
                                        <p:attrNameLst>
                                          <p:attrName>ppt_x</p:attrName>
                                        </p:attrNameLst>
                                      </p:cBhvr>
                                      <p:tavLst>
                                        <p:tav tm="0">
                                          <p:val>
                                            <p:strVal val="#ppt_x"/>
                                          </p:val>
                                        </p:tav>
                                        <p:tav tm="100000">
                                          <p:val>
                                            <p:strVal val="#ppt_x"/>
                                          </p:val>
                                        </p:tav>
                                      </p:tavLst>
                                    </p:anim>
                                    <p:anim calcmode="lin" valueType="num">
                                      <p:cBhvr additive="base">
                                        <p:cTn id="5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AA03ED7-031F-4518-878F-A51AD04DA6EC}"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14018" name="Rectangle 2"/>
          <p:cNvSpPr>
            <a:spLocks noGrp="1" noChangeArrowheads="1"/>
          </p:cNvSpPr>
          <p:nvPr>
            <p:ph type="title"/>
          </p:nvPr>
        </p:nvSpPr>
        <p:spPr/>
        <p:txBody>
          <a:bodyPr/>
          <a:lstStyle/>
          <a:p>
            <a:r>
              <a:rPr lang="en-US" altLang="zh-CN" dirty="0"/>
              <a:t>4.7.2 </a:t>
            </a:r>
            <a:r>
              <a:rPr lang="zh-CN" altLang="en-US" dirty="0"/>
              <a:t>数据库角色</a:t>
            </a:r>
          </a:p>
        </p:txBody>
      </p:sp>
      <p:sp>
        <p:nvSpPr>
          <p:cNvPr id="214019" name="Rectangle 3"/>
          <p:cNvSpPr>
            <a:spLocks noGrp="1" noChangeArrowheads="1"/>
          </p:cNvSpPr>
          <p:nvPr>
            <p:ph type="body" idx="1"/>
          </p:nvPr>
        </p:nvSpPr>
        <p:spPr>
          <a:xfrm>
            <a:off x="609600" y="1447801"/>
            <a:ext cx="8345488" cy="3429000"/>
          </a:xfrm>
        </p:spPr>
        <p:txBody>
          <a:bodyPr/>
          <a:lstStyle/>
          <a:p>
            <a:r>
              <a:rPr lang="zh-CN" altLang="en-US" sz="2800" dirty="0"/>
              <a:t>将</a:t>
            </a:r>
            <a:r>
              <a:rPr lang="zh-CN" altLang="en-US" sz="2800" dirty="0">
                <a:solidFill>
                  <a:srgbClr val="0000FF"/>
                </a:solidFill>
              </a:rPr>
              <a:t>一个角色</a:t>
            </a:r>
            <a:r>
              <a:rPr lang="zh-CN" altLang="en-US" sz="2800" dirty="0">
                <a:solidFill>
                  <a:srgbClr val="C00000"/>
                </a:solidFill>
              </a:rPr>
              <a:t>授予</a:t>
            </a:r>
            <a:r>
              <a:rPr lang="zh-CN" altLang="en-US" sz="2800" dirty="0"/>
              <a:t>其它</a:t>
            </a:r>
            <a:r>
              <a:rPr lang="zh-CN" altLang="en-US" sz="2800" b="1" dirty="0">
                <a:solidFill>
                  <a:srgbClr val="0000FF"/>
                </a:solidFill>
              </a:rPr>
              <a:t>角色或用户</a:t>
            </a:r>
          </a:p>
          <a:p>
            <a:pPr lvl="1"/>
            <a:r>
              <a:rPr lang="en-US" altLang="zh-CN" sz="2400" dirty="0">
                <a:solidFill>
                  <a:srgbClr val="0000FF"/>
                </a:solidFill>
              </a:rPr>
              <a:t>GRANT</a:t>
            </a:r>
            <a:r>
              <a:rPr lang="en-US" altLang="zh-CN" sz="2400" dirty="0"/>
              <a:t> &lt;</a:t>
            </a:r>
            <a:r>
              <a:rPr lang="zh-CN" altLang="en-US" sz="2400" dirty="0">
                <a:solidFill>
                  <a:srgbClr val="660066"/>
                </a:solidFill>
              </a:rPr>
              <a:t>角色</a:t>
            </a:r>
            <a:r>
              <a:rPr lang="en-US" altLang="zh-CN" sz="2400" dirty="0">
                <a:solidFill>
                  <a:srgbClr val="660066"/>
                </a:solidFill>
              </a:rPr>
              <a:t>1</a:t>
            </a:r>
            <a:r>
              <a:rPr lang="en-US" altLang="zh-CN" sz="2400" dirty="0"/>
              <a:t>&gt;[, &lt;</a:t>
            </a:r>
            <a:r>
              <a:rPr lang="zh-CN" altLang="en-US" sz="2400" dirty="0"/>
              <a:t>角色</a:t>
            </a:r>
            <a:r>
              <a:rPr lang="en-US" altLang="zh-CN" sz="2400" dirty="0"/>
              <a:t>2&gt;]</a:t>
            </a:r>
            <a:r>
              <a:rPr lang="en-US" altLang="zh-CN" sz="2400" dirty="0">
                <a:latin typeface="Arial"/>
              </a:rPr>
              <a:t>…</a:t>
            </a:r>
            <a:endParaRPr lang="en-US" altLang="zh-CN" sz="2400" dirty="0"/>
          </a:p>
          <a:p>
            <a:pPr lvl="1">
              <a:buFont typeface="Wingdings" pitchFamily="2" charset="2"/>
              <a:buNone/>
            </a:pPr>
            <a:r>
              <a:rPr lang="en-US" altLang="zh-CN" sz="2400" dirty="0"/>
              <a:t>  </a:t>
            </a:r>
            <a:r>
              <a:rPr lang="en-US" altLang="zh-CN" sz="2400" dirty="0">
                <a:solidFill>
                  <a:srgbClr val="0000FF"/>
                </a:solidFill>
              </a:rPr>
              <a:t>TO</a:t>
            </a:r>
            <a:r>
              <a:rPr lang="en-US" altLang="zh-CN" sz="2400" dirty="0"/>
              <a:t> [&lt;</a:t>
            </a:r>
            <a:r>
              <a:rPr lang="zh-CN" altLang="en-US" sz="2400" dirty="0">
                <a:solidFill>
                  <a:srgbClr val="660066"/>
                </a:solidFill>
              </a:rPr>
              <a:t>角色</a:t>
            </a:r>
            <a:r>
              <a:rPr lang="en-US" altLang="zh-CN" sz="2400" dirty="0"/>
              <a:t>&gt;|&lt;</a:t>
            </a:r>
            <a:r>
              <a:rPr lang="zh-CN" altLang="en-US" sz="2400" dirty="0">
                <a:solidFill>
                  <a:srgbClr val="660066"/>
                </a:solidFill>
              </a:rPr>
              <a:t>用户</a:t>
            </a:r>
            <a:r>
              <a:rPr lang="en-US" altLang="zh-CN" sz="2400" dirty="0"/>
              <a:t>&gt;][, &lt;</a:t>
            </a:r>
            <a:r>
              <a:rPr lang="zh-CN" altLang="en-US" sz="2400" dirty="0"/>
              <a:t>角色</a:t>
            </a:r>
            <a:r>
              <a:rPr lang="en-US" altLang="zh-CN" sz="2400" dirty="0"/>
              <a:t>&gt;|&lt;</a:t>
            </a:r>
            <a:r>
              <a:rPr lang="zh-CN" altLang="en-US" sz="2400" dirty="0"/>
              <a:t>用户</a:t>
            </a:r>
            <a:r>
              <a:rPr lang="en-US" altLang="zh-CN" sz="2400" dirty="0"/>
              <a:t>&gt;]</a:t>
            </a:r>
            <a:r>
              <a:rPr lang="en-US" altLang="zh-CN" sz="2400" dirty="0">
                <a:latin typeface="Arial"/>
              </a:rPr>
              <a:t>…</a:t>
            </a:r>
            <a:endParaRPr lang="en-US" altLang="zh-CN" sz="2400" dirty="0"/>
          </a:p>
          <a:p>
            <a:pPr>
              <a:spcBef>
                <a:spcPct val="40000"/>
              </a:spcBef>
            </a:pPr>
            <a:endParaRPr lang="en-US" altLang="zh-CN" sz="2800" dirty="0"/>
          </a:p>
          <a:p>
            <a:pPr>
              <a:spcBef>
                <a:spcPct val="40000"/>
              </a:spcBef>
            </a:pPr>
            <a:endParaRPr lang="en-US" altLang="zh-CN" sz="2800" dirty="0"/>
          </a:p>
          <a:p>
            <a:pPr>
              <a:spcBef>
                <a:spcPct val="40000"/>
              </a:spcBef>
            </a:pPr>
            <a:r>
              <a:rPr lang="zh-CN" altLang="en-US" sz="2800" dirty="0"/>
              <a:t>角色权限的</a:t>
            </a:r>
            <a:r>
              <a:rPr lang="zh-CN" altLang="en-US" sz="2800" dirty="0">
                <a:solidFill>
                  <a:srgbClr val="0000FF"/>
                </a:solidFill>
              </a:rPr>
              <a:t>收回</a:t>
            </a:r>
          </a:p>
          <a:p>
            <a:pPr lvl="1"/>
            <a:r>
              <a:rPr lang="en-US" altLang="zh-CN" sz="2400" dirty="0"/>
              <a:t>REVOKE &lt;</a:t>
            </a:r>
            <a:r>
              <a:rPr lang="zh-CN" altLang="en-US" sz="2400" dirty="0"/>
              <a:t>权限</a:t>
            </a:r>
            <a:r>
              <a:rPr lang="en-US" altLang="zh-CN" sz="2400" dirty="0"/>
              <a:t>&gt;</a:t>
            </a:r>
            <a:r>
              <a:rPr lang="zh-CN" altLang="en-US" sz="2400" dirty="0"/>
              <a:t>［，</a:t>
            </a:r>
            <a:r>
              <a:rPr lang="en-US" altLang="zh-CN" sz="2400" dirty="0"/>
              <a:t>&lt;</a:t>
            </a:r>
            <a:r>
              <a:rPr lang="zh-CN" altLang="en-US" sz="2400" dirty="0"/>
              <a:t>权限</a:t>
            </a:r>
            <a:r>
              <a:rPr lang="en-US" altLang="zh-CN" sz="2400" dirty="0"/>
              <a:t>&gt;</a:t>
            </a:r>
            <a:r>
              <a:rPr lang="zh-CN" altLang="en-US" sz="2400" dirty="0"/>
              <a:t>］</a:t>
            </a:r>
            <a:r>
              <a:rPr lang="en-US" altLang="zh-CN" sz="2400" dirty="0"/>
              <a:t>…</a:t>
            </a:r>
          </a:p>
          <a:p>
            <a:pPr marL="457200" lvl="1" indent="0">
              <a:buNone/>
            </a:pPr>
            <a:r>
              <a:rPr lang="en-US" altLang="zh-CN" sz="2400" dirty="0"/>
              <a:t>  ON &lt;</a:t>
            </a:r>
            <a:r>
              <a:rPr lang="zh-CN" altLang="en-US" sz="2400" dirty="0"/>
              <a:t>对象类型</a:t>
            </a:r>
            <a:r>
              <a:rPr lang="en-US" altLang="zh-CN" sz="2400" dirty="0"/>
              <a:t>&gt; &lt;</a:t>
            </a:r>
            <a:r>
              <a:rPr lang="zh-CN" altLang="en-US" sz="2400" dirty="0"/>
              <a:t>对象名</a:t>
            </a:r>
            <a:r>
              <a:rPr lang="en-US" altLang="zh-CN" sz="2400" dirty="0"/>
              <a:t>&gt;</a:t>
            </a:r>
          </a:p>
          <a:p>
            <a:pPr marL="457200" lvl="1" indent="0">
              <a:buNone/>
            </a:pPr>
            <a:r>
              <a:rPr lang="en-US" altLang="zh-CN" sz="2400" dirty="0"/>
              <a:t>  FROM &lt;</a:t>
            </a:r>
            <a:r>
              <a:rPr lang="zh-CN" altLang="en-US" sz="2400" dirty="0"/>
              <a:t>角色</a:t>
            </a:r>
            <a:r>
              <a:rPr lang="en-US" altLang="zh-CN" sz="2400" dirty="0"/>
              <a:t>&gt;</a:t>
            </a:r>
            <a:r>
              <a:rPr lang="zh-CN" altLang="en-US" sz="2400" dirty="0"/>
              <a:t>［，</a:t>
            </a:r>
            <a:r>
              <a:rPr lang="en-US" altLang="zh-CN" sz="2400" dirty="0"/>
              <a:t>&lt;</a:t>
            </a:r>
            <a:r>
              <a:rPr lang="zh-CN" altLang="en-US" sz="2400" dirty="0"/>
              <a:t>角色</a:t>
            </a:r>
            <a:r>
              <a:rPr lang="en-US" altLang="zh-CN" sz="2400" dirty="0"/>
              <a:t>&gt;</a:t>
            </a:r>
            <a:r>
              <a:rPr lang="zh-CN" altLang="en-US" sz="2400" dirty="0"/>
              <a:t>］</a:t>
            </a:r>
            <a:r>
              <a:rPr lang="en-US" altLang="zh-CN" sz="2400" dirty="0"/>
              <a:t>…</a:t>
            </a:r>
          </a:p>
          <a:p>
            <a:pPr lvl="1"/>
            <a:endParaRPr lang="zh-CN" altLang="en-US" sz="2400" dirty="0"/>
          </a:p>
        </p:txBody>
      </p:sp>
      <p:sp>
        <p:nvSpPr>
          <p:cNvPr id="9" name="矩形 8">
            <a:extLst>
              <a:ext uri="{FF2B5EF4-FFF2-40B4-BE49-F238E27FC236}">
                <a16:creationId xmlns:a16="http://schemas.microsoft.com/office/drawing/2014/main" id="{5A92C226-6D28-F782-84D9-94A611124B82}"/>
              </a:ext>
            </a:extLst>
          </p:cNvPr>
          <p:cNvSpPr/>
          <p:nvPr/>
        </p:nvSpPr>
        <p:spPr>
          <a:xfrm>
            <a:off x="2667000" y="2828835"/>
            <a:ext cx="4572000" cy="1200329"/>
          </a:xfrm>
          <a:prstGeom prst="rect">
            <a:avLst/>
          </a:prstGeom>
        </p:spPr>
        <p:txBody>
          <a:bodyPr wrap="square">
            <a:spAutoFit/>
          </a:bodyPr>
          <a:lstStyle/>
          <a:p>
            <a:pPr algn="l"/>
            <a:r>
              <a:rPr lang="en-US" altLang="zh-CN" dirty="0"/>
              <a:t>create role </a:t>
            </a:r>
            <a:r>
              <a:rPr lang="en-US" altLang="zh-CN" i="1" dirty="0">
                <a:solidFill>
                  <a:srgbClr val="0000FF"/>
                </a:solidFill>
              </a:rPr>
              <a:t>dean</a:t>
            </a:r>
            <a:r>
              <a:rPr lang="en-US" altLang="zh-CN" dirty="0"/>
              <a:t>;</a:t>
            </a:r>
          </a:p>
          <a:p>
            <a:pPr algn="l"/>
            <a:r>
              <a:rPr lang="en-US" altLang="zh-CN" dirty="0"/>
              <a:t>grant </a:t>
            </a:r>
            <a:r>
              <a:rPr lang="en-US" altLang="zh-CN" i="1" dirty="0">
                <a:solidFill>
                  <a:srgbClr val="006600"/>
                </a:solidFill>
              </a:rPr>
              <a:t>instructor</a:t>
            </a:r>
            <a:r>
              <a:rPr lang="en-US" altLang="zh-CN" i="1" dirty="0"/>
              <a:t> </a:t>
            </a:r>
            <a:r>
              <a:rPr lang="en-US" altLang="zh-CN" dirty="0"/>
              <a:t>to </a:t>
            </a:r>
            <a:r>
              <a:rPr lang="en-US" altLang="zh-CN" i="1" dirty="0">
                <a:solidFill>
                  <a:srgbClr val="0000FF"/>
                </a:solidFill>
              </a:rPr>
              <a:t>dean</a:t>
            </a:r>
            <a:r>
              <a:rPr lang="en-US" altLang="zh-CN" dirty="0"/>
              <a:t>;</a:t>
            </a:r>
          </a:p>
          <a:p>
            <a:pPr algn="l"/>
            <a:r>
              <a:rPr lang="en-US" altLang="zh-CN" dirty="0"/>
              <a:t>grant </a:t>
            </a:r>
            <a:r>
              <a:rPr lang="en-US" altLang="zh-CN" i="1" dirty="0">
                <a:solidFill>
                  <a:srgbClr val="0000FF"/>
                </a:solidFill>
              </a:rPr>
              <a:t>dean</a:t>
            </a:r>
            <a:r>
              <a:rPr lang="en-US" altLang="zh-CN" i="1" dirty="0"/>
              <a:t> </a:t>
            </a:r>
            <a:r>
              <a:rPr lang="en-US" altLang="zh-CN" dirty="0"/>
              <a:t>to </a:t>
            </a:r>
            <a:r>
              <a:rPr lang="en-US" altLang="zh-CN" dirty="0">
                <a:solidFill>
                  <a:srgbClr val="FF0000"/>
                </a:solidFill>
              </a:rPr>
              <a:t>Satoshi</a:t>
            </a:r>
            <a:r>
              <a:rPr lang="en-US" altLang="zh-CN" dirty="0"/>
              <a:t>;</a:t>
            </a:r>
            <a:endParaRPr lang="zh-CN" altLang="en-US" dirty="0"/>
          </a:p>
        </p:txBody>
      </p:sp>
      <p:sp>
        <p:nvSpPr>
          <p:cNvPr id="10" name="TextBox 7">
            <a:extLst>
              <a:ext uri="{FF2B5EF4-FFF2-40B4-BE49-F238E27FC236}">
                <a16:creationId xmlns:a16="http://schemas.microsoft.com/office/drawing/2014/main" id="{21E4A939-5524-DAA6-C5FB-23E554BBB2DC}"/>
              </a:ext>
            </a:extLst>
          </p:cNvPr>
          <p:cNvSpPr txBox="1"/>
          <p:nvPr/>
        </p:nvSpPr>
        <p:spPr>
          <a:xfrm>
            <a:off x="1619038" y="2951654"/>
            <a:ext cx="1107996" cy="461665"/>
          </a:xfrm>
          <a:prstGeom prst="rect">
            <a:avLst/>
          </a:prstGeom>
          <a:noFill/>
        </p:spPr>
        <p:txBody>
          <a:bodyPr wrap="none" rtlCol="0">
            <a:spAutoFit/>
          </a:bodyPr>
          <a:lstStyle/>
          <a:p>
            <a:r>
              <a:rPr lang="zh-CN" altLang="en-US" dirty="0"/>
              <a:t>例如：</a:t>
            </a:r>
          </a:p>
        </p:txBody>
      </p:sp>
      <p:sp>
        <p:nvSpPr>
          <p:cNvPr id="6" name="灯片编号占位符 5">
            <a:extLst>
              <a:ext uri="{FF2B5EF4-FFF2-40B4-BE49-F238E27FC236}">
                <a16:creationId xmlns:a16="http://schemas.microsoft.com/office/drawing/2014/main" id="{A81AC416-04EE-B350-72E2-A72387E54454}"/>
              </a:ext>
            </a:extLst>
          </p:cNvPr>
          <p:cNvSpPr>
            <a:spLocks noGrp="1"/>
          </p:cNvSpPr>
          <p:nvPr>
            <p:ph type="sldNum" sz="quarter" idx="12"/>
          </p:nvPr>
        </p:nvSpPr>
        <p:spPr/>
        <p:txBody>
          <a:bodyPr/>
          <a:lstStyle/>
          <a:p>
            <a:pPr>
              <a:defRPr/>
            </a:pPr>
            <a:fld id="{E0CD82EA-F7BE-454B-A83E-18830F6C5424}" type="slidenum">
              <a:rPr lang="en-US" altLang="zh-CN" smtClean="0"/>
              <a:pPr>
                <a:defRPr/>
              </a:pPr>
              <a:t>131</a:t>
            </a:fld>
            <a:r>
              <a:rPr lang="en-US" altLang="zh-CN"/>
              <a:t>/138</a:t>
            </a:r>
            <a:endParaRPr lang="zh-CN" altLang="en-US" dirty="0"/>
          </a:p>
        </p:txBody>
      </p:sp>
    </p:spTree>
    <p:extLst>
      <p:ext uri="{BB962C8B-B14F-4D97-AF65-F5344CB8AC3E}">
        <p14:creationId xmlns:p14="http://schemas.microsoft.com/office/powerpoint/2010/main" val="18168912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30ED25D-42CC-441C-8075-2CB0B18D2CCD}"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14018" name="Rectangle 2"/>
          <p:cNvSpPr>
            <a:spLocks noGrp="1" noChangeArrowheads="1"/>
          </p:cNvSpPr>
          <p:nvPr>
            <p:ph type="title"/>
          </p:nvPr>
        </p:nvSpPr>
        <p:spPr/>
        <p:txBody>
          <a:bodyPr/>
          <a:lstStyle/>
          <a:p>
            <a:r>
              <a:rPr lang="en-US" altLang="zh-CN" dirty="0"/>
              <a:t>4.7.2 </a:t>
            </a:r>
            <a:r>
              <a:rPr lang="zh-CN" altLang="en-US" dirty="0"/>
              <a:t>数据库角色</a:t>
            </a:r>
          </a:p>
        </p:txBody>
      </p:sp>
      <p:sp>
        <p:nvSpPr>
          <p:cNvPr id="214019" name="Rectangle 3"/>
          <p:cNvSpPr>
            <a:spLocks noGrp="1" noChangeArrowheads="1"/>
          </p:cNvSpPr>
          <p:nvPr>
            <p:ph type="body" idx="1"/>
          </p:nvPr>
        </p:nvSpPr>
        <p:spPr>
          <a:xfrm>
            <a:off x="609600" y="1447801"/>
            <a:ext cx="8345488" cy="3429000"/>
          </a:xfrm>
        </p:spPr>
        <p:txBody>
          <a:bodyPr/>
          <a:lstStyle/>
          <a:p>
            <a:r>
              <a:rPr lang="zh-CN" altLang="en-US" sz="2800" dirty="0"/>
              <a:t>一个</a:t>
            </a:r>
            <a:r>
              <a:rPr lang="zh-CN" altLang="en-US" sz="2800" dirty="0">
                <a:solidFill>
                  <a:srgbClr val="FF0000"/>
                </a:solidFill>
              </a:rPr>
              <a:t>用户</a:t>
            </a:r>
            <a:r>
              <a:rPr lang="zh-CN" altLang="en-US" sz="2800" dirty="0"/>
              <a:t>或</a:t>
            </a:r>
            <a:r>
              <a:rPr lang="zh-CN" altLang="en-US" sz="2800" dirty="0">
                <a:solidFill>
                  <a:srgbClr val="FF0000"/>
                </a:solidFill>
              </a:rPr>
              <a:t>角色</a:t>
            </a:r>
            <a:r>
              <a:rPr lang="zh-CN" altLang="en-US" sz="2800" dirty="0">
                <a:solidFill>
                  <a:srgbClr val="0000FF"/>
                </a:solidFill>
              </a:rPr>
              <a:t>将拥有：</a:t>
            </a:r>
            <a:endParaRPr lang="zh-CN" altLang="en-US" sz="2800" b="1" dirty="0">
              <a:solidFill>
                <a:srgbClr val="0000FF"/>
              </a:solidFill>
            </a:endParaRPr>
          </a:p>
          <a:p>
            <a:pPr lvl="1"/>
            <a:r>
              <a:rPr lang="zh-CN" altLang="en-US" sz="2400" dirty="0"/>
              <a:t>直接授予</a:t>
            </a:r>
            <a:r>
              <a:rPr lang="zh-CN" altLang="en-US" sz="2400" u="sng" dirty="0"/>
              <a:t>该用户或角色</a:t>
            </a:r>
            <a:r>
              <a:rPr lang="zh-CN" altLang="en-US" sz="2400" dirty="0"/>
              <a:t>的</a:t>
            </a:r>
            <a:r>
              <a:rPr lang="zh-CN" altLang="en-US" sz="2400" dirty="0">
                <a:solidFill>
                  <a:srgbClr val="0000FF"/>
                </a:solidFill>
              </a:rPr>
              <a:t>所有权限</a:t>
            </a:r>
            <a:endParaRPr lang="en-US" altLang="zh-CN" sz="2400" dirty="0">
              <a:solidFill>
                <a:srgbClr val="0000FF"/>
              </a:solidFill>
            </a:endParaRPr>
          </a:p>
          <a:p>
            <a:pPr lvl="1"/>
            <a:r>
              <a:rPr lang="zh-CN" altLang="en-US" sz="2400" dirty="0"/>
              <a:t>授予</a:t>
            </a:r>
            <a:r>
              <a:rPr lang="zh-CN" altLang="en-US" sz="2400" u="sng" dirty="0"/>
              <a:t>该用户或角色</a:t>
            </a:r>
            <a:r>
              <a:rPr lang="zh-CN" altLang="en-US" sz="2400" dirty="0">
                <a:solidFill>
                  <a:srgbClr val="FF0000"/>
                </a:solidFill>
              </a:rPr>
              <a:t>所拥有的角色</a:t>
            </a:r>
            <a:r>
              <a:rPr lang="zh-CN" altLang="en-US" sz="2400" dirty="0"/>
              <a:t>的</a:t>
            </a:r>
            <a:r>
              <a:rPr lang="zh-CN" altLang="en-US" sz="2400" dirty="0">
                <a:solidFill>
                  <a:srgbClr val="0000FF"/>
                </a:solidFill>
              </a:rPr>
              <a:t>所有权限</a:t>
            </a:r>
          </a:p>
        </p:txBody>
      </p:sp>
      <p:sp>
        <p:nvSpPr>
          <p:cNvPr id="6" name="灯片编号占位符 5">
            <a:extLst>
              <a:ext uri="{FF2B5EF4-FFF2-40B4-BE49-F238E27FC236}">
                <a16:creationId xmlns:a16="http://schemas.microsoft.com/office/drawing/2014/main" id="{AEC905CA-8DF5-B19D-B411-404AA785094C}"/>
              </a:ext>
            </a:extLst>
          </p:cNvPr>
          <p:cNvSpPr>
            <a:spLocks noGrp="1"/>
          </p:cNvSpPr>
          <p:nvPr>
            <p:ph type="sldNum" sz="quarter" idx="12"/>
          </p:nvPr>
        </p:nvSpPr>
        <p:spPr/>
        <p:txBody>
          <a:bodyPr/>
          <a:lstStyle/>
          <a:p>
            <a:pPr>
              <a:defRPr/>
            </a:pPr>
            <a:fld id="{E0CD82EA-F7BE-454B-A83E-18830F6C5424}" type="slidenum">
              <a:rPr lang="en-US" altLang="zh-CN" smtClean="0"/>
              <a:pPr>
                <a:defRPr/>
              </a:pPr>
              <a:t>132</a:t>
            </a:fld>
            <a:r>
              <a:rPr lang="en-US" altLang="zh-CN"/>
              <a:t>/138</a:t>
            </a:r>
            <a:endParaRPr lang="zh-CN" altLang="en-US" dirty="0"/>
          </a:p>
        </p:txBody>
      </p:sp>
    </p:spTree>
    <p:extLst>
      <p:ext uri="{BB962C8B-B14F-4D97-AF65-F5344CB8AC3E}">
        <p14:creationId xmlns:p14="http://schemas.microsoft.com/office/powerpoint/2010/main" val="3245933251"/>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2224580-48A0-40A3-BD63-DCC6421EBCC0}"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15042" name="Rectangle 2"/>
          <p:cNvSpPr>
            <a:spLocks noGrp="1" noChangeArrowheads="1"/>
          </p:cNvSpPr>
          <p:nvPr>
            <p:ph type="title"/>
          </p:nvPr>
        </p:nvSpPr>
        <p:spPr/>
        <p:txBody>
          <a:bodyPr/>
          <a:lstStyle/>
          <a:p>
            <a:r>
              <a:rPr lang="en-US" altLang="zh-CN"/>
              <a:t>Tips: Postgres</a:t>
            </a:r>
            <a:r>
              <a:rPr lang="zh-CN" altLang="en-US"/>
              <a:t>的角色与用户</a:t>
            </a:r>
          </a:p>
        </p:txBody>
      </p:sp>
      <p:sp>
        <p:nvSpPr>
          <p:cNvPr id="215043" name="Rectangle 3"/>
          <p:cNvSpPr>
            <a:spLocks noGrp="1" noChangeArrowheads="1"/>
          </p:cNvSpPr>
          <p:nvPr>
            <p:ph type="body" idx="1"/>
          </p:nvPr>
        </p:nvSpPr>
        <p:spPr/>
        <p:txBody>
          <a:bodyPr/>
          <a:lstStyle/>
          <a:p>
            <a:r>
              <a:rPr lang="zh-CN" altLang="en-US" dirty="0"/>
              <a:t>在语法结构上，</a:t>
            </a:r>
            <a:r>
              <a:rPr lang="en-US" altLang="zh-CN" dirty="0"/>
              <a:t>PostgreSQL</a:t>
            </a:r>
            <a:r>
              <a:rPr lang="zh-CN" altLang="en-US" dirty="0"/>
              <a:t>对角色和用户几乎同样处理</a:t>
            </a:r>
          </a:p>
          <a:p>
            <a:pPr lvl="1"/>
            <a:r>
              <a:rPr lang="zh-CN" altLang="en-US" u="sng" dirty="0"/>
              <a:t>用户就是默认有</a:t>
            </a:r>
            <a:r>
              <a:rPr lang="en-US" altLang="zh-CN" u="sng" dirty="0"/>
              <a:t>LOGIN</a:t>
            </a:r>
            <a:r>
              <a:rPr lang="zh-CN" altLang="en-US" u="sng" dirty="0"/>
              <a:t>权限的角色</a:t>
            </a:r>
            <a:r>
              <a:rPr lang="zh-CN" altLang="en-US" dirty="0"/>
              <a:t>，下面两条语句完全</a:t>
            </a:r>
            <a:r>
              <a:rPr lang="zh-CN" altLang="en-US" dirty="0">
                <a:solidFill>
                  <a:srgbClr val="FF0000"/>
                </a:solidFill>
              </a:rPr>
              <a:t>等价</a:t>
            </a:r>
            <a:r>
              <a:rPr lang="zh-CN" altLang="en-US" dirty="0"/>
              <a:t>：</a:t>
            </a:r>
          </a:p>
          <a:p>
            <a:pPr lvl="3">
              <a:buFont typeface="Wingdings" pitchFamily="2" charset="2"/>
              <a:buNone/>
            </a:pPr>
            <a:r>
              <a:rPr lang="zh-CN" altLang="en-US" dirty="0"/>
              <a:t>  </a:t>
            </a:r>
            <a:r>
              <a:rPr lang="en-US" altLang="zh-CN" sz="2600" dirty="0"/>
              <a:t>CREATE ROLE U1 LOGIN;</a:t>
            </a:r>
          </a:p>
          <a:p>
            <a:pPr lvl="3">
              <a:buFont typeface="Wingdings" pitchFamily="2" charset="2"/>
              <a:buNone/>
            </a:pPr>
            <a:r>
              <a:rPr lang="en-US" altLang="zh-CN" sz="2600" dirty="0"/>
              <a:t>  CREATE USER U1;</a:t>
            </a:r>
          </a:p>
          <a:p>
            <a:pPr lvl="3">
              <a:buFont typeface="Wingdings" pitchFamily="2" charset="2"/>
              <a:buNone/>
            </a:pPr>
            <a:endParaRPr lang="en-US" altLang="zh-CN" sz="2600" dirty="0"/>
          </a:p>
          <a:p>
            <a:pPr lvl="1"/>
            <a:r>
              <a:rPr lang="en-US" altLang="zh-CN" dirty="0"/>
              <a:t>GRANT </a:t>
            </a:r>
            <a:r>
              <a:rPr lang="zh-CN" altLang="en-US" dirty="0"/>
              <a:t>对角色或用户授权</a:t>
            </a:r>
          </a:p>
          <a:p>
            <a:pPr lvl="1"/>
            <a:r>
              <a:rPr lang="en-US" altLang="zh-CN" dirty="0"/>
              <a:t>REVOKE </a:t>
            </a:r>
            <a:r>
              <a:rPr lang="zh-CN" altLang="en-US" dirty="0"/>
              <a:t>从角色或用户收回权限</a:t>
            </a:r>
          </a:p>
        </p:txBody>
      </p:sp>
      <p:sp>
        <p:nvSpPr>
          <p:cNvPr id="6" name="灯片编号占位符 5">
            <a:extLst>
              <a:ext uri="{FF2B5EF4-FFF2-40B4-BE49-F238E27FC236}">
                <a16:creationId xmlns:a16="http://schemas.microsoft.com/office/drawing/2014/main" id="{EAD1482F-DAD6-1578-54ED-CDBBAF637544}"/>
              </a:ext>
            </a:extLst>
          </p:cNvPr>
          <p:cNvSpPr>
            <a:spLocks noGrp="1"/>
          </p:cNvSpPr>
          <p:nvPr>
            <p:ph type="sldNum" sz="quarter" idx="12"/>
          </p:nvPr>
        </p:nvSpPr>
        <p:spPr/>
        <p:txBody>
          <a:bodyPr/>
          <a:lstStyle/>
          <a:p>
            <a:pPr>
              <a:defRPr/>
            </a:pPr>
            <a:fld id="{E0CD82EA-F7BE-454B-A83E-18830F6C5424}" type="slidenum">
              <a:rPr lang="en-US" altLang="zh-CN" smtClean="0"/>
              <a:pPr>
                <a:defRPr/>
              </a:pPr>
              <a:t>133</a:t>
            </a:fld>
            <a:r>
              <a:rPr lang="en-US" altLang="zh-CN"/>
              <a:t>/138</a:t>
            </a:r>
            <a:endParaRPr lang="zh-CN" altLang="en-US" dirty="0"/>
          </a:p>
        </p:txBody>
      </p:sp>
    </p:spTree>
    <p:extLst>
      <p:ext uri="{BB962C8B-B14F-4D97-AF65-F5344CB8AC3E}">
        <p14:creationId xmlns:p14="http://schemas.microsoft.com/office/powerpoint/2010/main" val="1737964669"/>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E716CF4-BB69-42E4-991D-E05FBAC1A046}"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19138" name="Rectangle 2"/>
          <p:cNvSpPr>
            <a:spLocks noGrp="1" noChangeArrowheads="1"/>
          </p:cNvSpPr>
          <p:nvPr>
            <p:ph type="title"/>
          </p:nvPr>
        </p:nvSpPr>
        <p:spPr/>
        <p:txBody>
          <a:bodyPr/>
          <a:lstStyle/>
          <a:p>
            <a:r>
              <a:rPr lang="en-US" altLang="zh-CN" dirty="0"/>
              <a:t>4.7.3 </a:t>
            </a:r>
            <a:r>
              <a:rPr lang="zh-CN" altLang="en-US" dirty="0"/>
              <a:t>视图的授权</a:t>
            </a:r>
          </a:p>
        </p:txBody>
      </p:sp>
      <p:sp>
        <p:nvSpPr>
          <p:cNvPr id="219139" name="Rectangle 3"/>
          <p:cNvSpPr>
            <a:spLocks noGrp="1" noChangeArrowheads="1"/>
          </p:cNvSpPr>
          <p:nvPr>
            <p:ph type="body" idx="1"/>
          </p:nvPr>
        </p:nvSpPr>
        <p:spPr>
          <a:xfrm>
            <a:off x="609600" y="1447801"/>
            <a:ext cx="8345488" cy="4285456"/>
          </a:xfrm>
        </p:spPr>
        <p:txBody>
          <a:bodyPr/>
          <a:lstStyle/>
          <a:p>
            <a:r>
              <a:rPr lang="zh-CN" altLang="en-US" sz="2800" dirty="0">
                <a:solidFill>
                  <a:srgbClr val="F40000"/>
                </a:solidFill>
              </a:rPr>
              <a:t>视图</a:t>
            </a:r>
            <a:r>
              <a:rPr lang="zh-CN" altLang="en-US" sz="2800" dirty="0"/>
              <a:t>是</a:t>
            </a:r>
            <a:r>
              <a:rPr lang="zh-CN" altLang="en-US" sz="2800" dirty="0">
                <a:solidFill>
                  <a:srgbClr val="F40000"/>
                </a:solidFill>
              </a:rPr>
              <a:t>实施安全性控制</a:t>
            </a:r>
            <a:r>
              <a:rPr lang="zh-CN" altLang="en-US" sz="2800" dirty="0"/>
              <a:t>的</a:t>
            </a:r>
            <a:r>
              <a:rPr lang="zh-CN" altLang="en-US" sz="2800" dirty="0">
                <a:solidFill>
                  <a:srgbClr val="F40000"/>
                </a:solidFill>
              </a:rPr>
              <a:t>一种有效机制</a:t>
            </a:r>
            <a:r>
              <a:rPr lang="zh-CN" altLang="en-US" sz="2800" dirty="0"/>
              <a:t>。</a:t>
            </a:r>
          </a:p>
          <a:p>
            <a:pPr lvl="1"/>
            <a:r>
              <a:rPr lang="zh-CN" altLang="en-US" dirty="0"/>
              <a:t>通过为</a:t>
            </a:r>
            <a:r>
              <a:rPr lang="zh-CN" altLang="en-US" dirty="0">
                <a:solidFill>
                  <a:srgbClr val="C00000"/>
                </a:solidFill>
              </a:rPr>
              <a:t>不同用户</a:t>
            </a:r>
            <a:r>
              <a:rPr lang="zh-CN" altLang="en-US" dirty="0"/>
              <a:t>定义</a:t>
            </a:r>
            <a:r>
              <a:rPr lang="zh-CN" altLang="en-US" dirty="0">
                <a:solidFill>
                  <a:srgbClr val="C00000"/>
                </a:solidFill>
              </a:rPr>
              <a:t>不同的视图</a:t>
            </a:r>
            <a:r>
              <a:rPr lang="zh-CN" altLang="en-US" dirty="0"/>
              <a:t>，并对每个用户</a:t>
            </a:r>
            <a:r>
              <a:rPr lang="zh-CN" altLang="en-US" dirty="0">
                <a:solidFill>
                  <a:srgbClr val="0000FF"/>
                </a:solidFill>
              </a:rPr>
              <a:t>授予</a:t>
            </a:r>
            <a:r>
              <a:rPr lang="zh-CN" altLang="en-US" dirty="0"/>
              <a:t>在某个</a:t>
            </a:r>
            <a:r>
              <a:rPr lang="zh-CN" altLang="en-US" dirty="0">
                <a:solidFill>
                  <a:srgbClr val="C00000"/>
                </a:solidFill>
              </a:rPr>
              <a:t>视图上</a:t>
            </a:r>
            <a:r>
              <a:rPr lang="zh-CN" altLang="en-US" dirty="0"/>
              <a:t>的</a:t>
            </a:r>
            <a:r>
              <a:rPr lang="zh-CN" altLang="en-US" dirty="0">
                <a:solidFill>
                  <a:srgbClr val="C00000"/>
                </a:solidFill>
              </a:rPr>
              <a:t>存取权限</a:t>
            </a:r>
            <a:r>
              <a:rPr lang="zh-CN" altLang="en-US" dirty="0"/>
              <a:t>。可以严格限制每个用户对基表的存取操作，如</a:t>
            </a:r>
            <a:r>
              <a:rPr lang="zh-CN" altLang="en-US" dirty="0">
                <a:solidFill>
                  <a:srgbClr val="C00000"/>
                </a:solidFill>
              </a:rPr>
              <a:t>只能存取</a:t>
            </a:r>
            <a:r>
              <a:rPr lang="zh-CN" altLang="en-US" dirty="0"/>
              <a:t>基表中的</a:t>
            </a:r>
            <a:r>
              <a:rPr lang="zh-CN" altLang="en-US" dirty="0">
                <a:solidFill>
                  <a:srgbClr val="0000FF"/>
                </a:solidFill>
              </a:rPr>
              <a:t>某些列、某些行</a:t>
            </a:r>
            <a:r>
              <a:rPr lang="zh-CN" altLang="en-US" dirty="0"/>
              <a:t>，从而把要</a:t>
            </a:r>
            <a:r>
              <a:rPr lang="zh-CN" altLang="en-US" dirty="0">
                <a:solidFill>
                  <a:srgbClr val="C00000"/>
                </a:solidFill>
              </a:rPr>
              <a:t>保密的数据</a:t>
            </a:r>
            <a:r>
              <a:rPr lang="zh-CN" altLang="en-US" dirty="0"/>
              <a:t>对</a:t>
            </a:r>
            <a:r>
              <a:rPr lang="zh-CN" altLang="en-US" dirty="0">
                <a:solidFill>
                  <a:srgbClr val="0000FF"/>
                </a:solidFill>
              </a:rPr>
              <a:t>无权存取的用户</a:t>
            </a:r>
            <a:r>
              <a:rPr lang="zh-CN" altLang="en-US" dirty="0">
                <a:solidFill>
                  <a:srgbClr val="C00000"/>
                </a:solidFill>
              </a:rPr>
              <a:t>隐藏起来</a:t>
            </a:r>
            <a:r>
              <a:rPr lang="zh-CN" altLang="en-US" dirty="0"/>
              <a:t>，</a:t>
            </a:r>
            <a:r>
              <a:rPr lang="zh-CN" altLang="en-US" dirty="0">
                <a:solidFill>
                  <a:srgbClr val="C00000"/>
                </a:solidFill>
              </a:rPr>
              <a:t>自动地对数据提供一定程度的安全保护</a:t>
            </a:r>
            <a:r>
              <a:rPr lang="zh-CN" altLang="en-US" dirty="0"/>
              <a:t>。</a:t>
            </a:r>
          </a:p>
          <a:p>
            <a:pPr>
              <a:spcBef>
                <a:spcPct val="40000"/>
              </a:spcBef>
            </a:pPr>
            <a:r>
              <a:rPr lang="zh-CN" altLang="en-US" sz="2800" dirty="0"/>
              <a:t>视图机制间接地实现了</a:t>
            </a:r>
            <a:r>
              <a:rPr lang="zh-CN" altLang="en-US" sz="2800" b="1" dirty="0">
                <a:solidFill>
                  <a:srgbClr val="0000FF"/>
                </a:solidFill>
              </a:rPr>
              <a:t>支持存取谓词</a:t>
            </a:r>
            <a:r>
              <a:rPr lang="zh-CN" altLang="en-US" sz="2800" dirty="0"/>
              <a:t>的</a:t>
            </a:r>
            <a:r>
              <a:rPr lang="zh-CN" altLang="en-US" sz="2800" dirty="0">
                <a:solidFill>
                  <a:srgbClr val="0000FF"/>
                </a:solidFill>
              </a:rPr>
              <a:t>用户权限定义</a:t>
            </a:r>
            <a:r>
              <a:rPr lang="zh-CN" altLang="en-US" sz="2800" dirty="0"/>
              <a:t>。</a:t>
            </a:r>
          </a:p>
        </p:txBody>
      </p:sp>
      <p:sp>
        <p:nvSpPr>
          <p:cNvPr id="6" name="灯片编号占位符 5">
            <a:extLst>
              <a:ext uri="{FF2B5EF4-FFF2-40B4-BE49-F238E27FC236}">
                <a16:creationId xmlns:a16="http://schemas.microsoft.com/office/drawing/2014/main" id="{C1A2191B-A61C-7C5E-CD7E-601F8C331655}"/>
              </a:ext>
            </a:extLst>
          </p:cNvPr>
          <p:cNvSpPr>
            <a:spLocks noGrp="1"/>
          </p:cNvSpPr>
          <p:nvPr>
            <p:ph type="sldNum" sz="quarter" idx="12"/>
          </p:nvPr>
        </p:nvSpPr>
        <p:spPr/>
        <p:txBody>
          <a:bodyPr/>
          <a:lstStyle/>
          <a:p>
            <a:pPr>
              <a:defRPr/>
            </a:pPr>
            <a:fld id="{E0CD82EA-F7BE-454B-A83E-18830F6C5424}" type="slidenum">
              <a:rPr lang="en-US" altLang="zh-CN" smtClean="0"/>
              <a:pPr>
                <a:defRPr/>
              </a:pPr>
              <a:t>134</a:t>
            </a:fld>
            <a:r>
              <a:rPr lang="en-US" altLang="zh-CN"/>
              <a:t>/138</a:t>
            </a:r>
            <a:endParaRPr lang="zh-CN" altLang="en-US" dirty="0"/>
          </a:p>
        </p:txBody>
      </p:sp>
    </p:spTree>
    <p:extLst>
      <p:ext uri="{BB962C8B-B14F-4D97-AF65-F5344CB8AC3E}">
        <p14:creationId xmlns:p14="http://schemas.microsoft.com/office/powerpoint/2010/main" val="2586301705"/>
      </p:ext>
    </p:extLst>
  </p:cSld>
  <p:clrMapOvr>
    <a:masterClrMapping/>
  </p:clrMapOvr>
  <p:transition>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FF54A2A-45B5-4C3C-B126-6A474514E25D}"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20162" name="Rectangle 2"/>
          <p:cNvSpPr>
            <a:spLocks noGrp="1" noChangeArrowheads="1"/>
          </p:cNvSpPr>
          <p:nvPr>
            <p:ph type="title"/>
          </p:nvPr>
        </p:nvSpPr>
        <p:spPr/>
        <p:txBody>
          <a:bodyPr/>
          <a:lstStyle/>
          <a:p>
            <a:r>
              <a:rPr lang="en-US" altLang="zh-CN" dirty="0"/>
              <a:t>4.7.3 </a:t>
            </a:r>
            <a:r>
              <a:rPr lang="zh-CN" altLang="en-US" dirty="0"/>
              <a:t>视图的授权</a:t>
            </a:r>
          </a:p>
        </p:txBody>
      </p:sp>
      <p:sp>
        <p:nvSpPr>
          <p:cNvPr id="220163" name="Rectangle 3"/>
          <p:cNvSpPr>
            <a:spLocks noGrp="1" noChangeArrowheads="1"/>
          </p:cNvSpPr>
          <p:nvPr>
            <p:ph type="body" idx="1"/>
          </p:nvPr>
        </p:nvSpPr>
        <p:spPr/>
        <p:txBody>
          <a:bodyPr/>
          <a:lstStyle/>
          <a:p>
            <a:pPr>
              <a:buNone/>
            </a:pPr>
            <a:r>
              <a:rPr lang="zh-CN" altLang="en-US" dirty="0"/>
              <a:t>例</a:t>
            </a:r>
            <a:r>
              <a:rPr lang="en-US" altLang="zh-CN" dirty="0"/>
              <a:t>14</a:t>
            </a:r>
            <a:r>
              <a:rPr lang="zh-CN" altLang="en-US" dirty="0"/>
              <a:t>：建立计算机系学生的视图，把对该视图的</a:t>
            </a:r>
            <a:r>
              <a:rPr lang="en-US" altLang="zh-CN" u="sng" dirty="0"/>
              <a:t>SELECT</a:t>
            </a:r>
            <a:r>
              <a:rPr lang="zh-CN" altLang="en-US" u="sng" dirty="0"/>
              <a:t>权限授于王平</a:t>
            </a:r>
            <a:r>
              <a:rPr lang="zh-CN" altLang="en-US" dirty="0"/>
              <a:t>，把该视图上的</a:t>
            </a:r>
            <a:r>
              <a:rPr lang="zh-CN" altLang="en-US" u="sng" dirty="0"/>
              <a:t>所有操作权限授于张明</a:t>
            </a:r>
            <a:endParaRPr lang="en-US" altLang="zh-CN" u="sng" dirty="0"/>
          </a:p>
          <a:p>
            <a:pPr>
              <a:buNone/>
            </a:pPr>
            <a:r>
              <a:rPr lang="zh-CN" altLang="en-US" dirty="0"/>
              <a:t>先定义视图：</a:t>
            </a:r>
          </a:p>
          <a:p>
            <a:pPr marL="400050" lvl="1" indent="0">
              <a:buNone/>
            </a:pPr>
            <a:r>
              <a:rPr lang="en-US" altLang="zh-CN" dirty="0"/>
              <a:t>CREATE VIEW </a:t>
            </a:r>
            <a:r>
              <a:rPr lang="en-US" altLang="zh-CN" dirty="0" err="1"/>
              <a:t>CS_Student</a:t>
            </a:r>
            <a:endParaRPr lang="en-US" altLang="zh-CN" dirty="0"/>
          </a:p>
          <a:p>
            <a:pPr lvl="1">
              <a:buFont typeface="Wingdings" pitchFamily="2" charset="2"/>
              <a:buNone/>
            </a:pPr>
            <a:r>
              <a:rPr lang="en-US" altLang="zh-CN" dirty="0"/>
              <a:t>    AS</a:t>
            </a:r>
          </a:p>
          <a:p>
            <a:pPr lvl="1">
              <a:buFont typeface="Wingdings" pitchFamily="2" charset="2"/>
              <a:buNone/>
            </a:pPr>
            <a:r>
              <a:rPr lang="en-US" altLang="zh-CN" dirty="0"/>
              <a:t>    SELECT *</a:t>
            </a:r>
          </a:p>
          <a:p>
            <a:pPr lvl="1">
              <a:buFont typeface="Wingdings" pitchFamily="2" charset="2"/>
              <a:buNone/>
            </a:pPr>
            <a:r>
              <a:rPr lang="en-US" altLang="zh-CN" dirty="0"/>
              <a:t>    FROM Student</a:t>
            </a:r>
          </a:p>
          <a:p>
            <a:pPr lvl="1">
              <a:buFont typeface="Wingdings" pitchFamily="2" charset="2"/>
              <a:buNone/>
            </a:pPr>
            <a:r>
              <a:rPr lang="en-US" altLang="zh-CN" dirty="0"/>
              <a:t>    WHERE </a:t>
            </a:r>
            <a:r>
              <a:rPr lang="en-US" altLang="zh-CN" dirty="0" err="1"/>
              <a:t>Sdept</a:t>
            </a:r>
            <a:r>
              <a:rPr lang="en-US" altLang="zh-CN" dirty="0"/>
              <a:t>=</a:t>
            </a:r>
            <a:r>
              <a:rPr lang="en-US" altLang="zh-CN" dirty="0">
                <a:latin typeface="Arial"/>
              </a:rPr>
              <a:t>‘</a:t>
            </a:r>
            <a:r>
              <a:rPr lang="en-US" altLang="zh-CN" dirty="0"/>
              <a:t>CS</a:t>
            </a:r>
            <a:r>
              <a:rPr lang="en-US" altLang="zh-CN" dirty="0">
                <a:latin typeface="Arial"/>
              </a:rPr>
              <a:t>’</a:t>
            </a:r>
            <a:r>
              <a:rPr lang="en-US" altLang="zh-CN" dirty="0"/>
              <a:t>;</a:t>
            </a:r>
            <a:endParaRPr lang="zh-CN" altLang="en-US" dirty="0"/>
          </a:p>
        </p:txBody>
      </p:sp>
      <p:sp>
        <p:nvSpPr>
          <p:cNvPr id="6" name="灯片编号占位符 5">
            <a:extLst>
              <a:ext uri="{FF2B5EF4-FFF2-40B4-BE49-F238E27FC236}">
                <a16:creationId xmlns:a16="http://schemas.microsoft.com/office/drawing/2014/main" id="{9A2EF211-8703-137A-24EE-A4C6BA1B7F38}"/>
              </a:ext>
            </a:extLst>
          </p:cNvPr>
          <p:cNvSpPr>
            <a:spLocks noGrp="1"/>
          </p:cNvSpPr>
          <p:nvPr>
            <p:ph type="sldNum" sz="quarter" idx="12"/>
          </p:nvPr>
        </p:nvSpPr>
        <p:spPr/>
        <p:txBody>
          <a:bodyPr/>
          <a:lstStyle/>
          <a:p>
            <a:pPr>
              <a:defRPr/>
            </a:pPr>
            <a:fld id="{E0CD82EA-F7BE-454B-A83E-18830F6C5424}" type="slidenum">
              <a:rPr lang="en-US" altLang="zh-CN" smtClean="0"/>
              <a:pPr>
                <a:defRPr/>
              </a:pPr>
              <a:t>135</a:t>
            </a:fld>
            <a:r>
              <a:rPr lang="en-US" altLang="zh-CN"/>
              <a:t>/138</a:t>
            </a:r>
            <a:endParaRPr lang="zh-CN" altLang="en-US" dirty="0"/>
          </a:p>
        </p:txBody>
      </p:sp>
    </p:spTree>
    <p:extLst>
      <p:ext uri="{BB962C8B-B14F-4D97-AF65-F5344CB8AC3E}">
        <p14:creationId xmlns:p14="http://schemas.microsoft.com/office/powerpoint/2010/main" val="26096903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0163">
                                            <p:txEl>
                                              <p:pRg st="2" end="2"/>
                                            </p:txEl>
                                          </p:spTgt>
                                        </p:tgtEl>
                                        <p:attrNameLst>
                                          <p:attrName>style.visibility</p:attrName>
                                        </p:attrNameLst>
                                      </p:cBhvr>
                                      <p:to>
                                        <p:strVal val="visible"/>
                                      </p:to>
                                    </p:set>
                                    <p:anim calcmode="lin" valueType="num">
                                      <p:cBhvr additive="base">
                                        <p:cTn id="7" dur="500" fill="hold"/>
                                        <p:tgtEl>
                                          <p:spTgt spid="22016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016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20163">
                                            <p:txEl>
                                              <p:pRg st="3" end="3"/>
                                            </p:txEl>
                                          </p:spTgt>
                                        </p:tgtEl>
                                        <p:attrNameLst>
                                          <p:attrName>style.visibility</p:attrName>
                                        </p:attrNameLst>
                                      </p:cBhvr>
                                      <p:to>
                                        <p:strVal val="visible"/>
                                      </p:to>
                                    </p:set>
                                    <p:anim calcmode="lin" valueType="num">
                                      <p:cBhvr additive="base">
                                        <p:cTn id="11" dur="500" fill="hold"/>
                                        <p:tgtEl>
                                          <p:spTgt spid="22016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2016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20163">
                                            <p:txEl>
                                              <p:pRg st="4" end="4"/>
                                            </p:txEl>
                                          </p:spTgt>
                                        </p:tgtEl>
                                        <p:attrNameLst>
                                          <p:attrName>style.visibility</p:attrName>
                                        </p:attrNameLst>
                                      </p:cBhvr>
                                      <p:to>
                                        <p:strVal val="visible"/>
                                      </p:to>
                                    </p:set>
                                    <p:anim calcmode="lin" valueType="num">
                                      <p:cBhvr additive="base">
                                        <p:cTn id="15" dur="500" fill="hold"/>
                                        <p:tgtEl>
                                          <p:spTgt spid="22016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2016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20163">
                                            <p:txEl>
                                              <p:pRg st="5" end="5"/>
                                            </p:txEl>
                                          </p:spTgt>
                                        </p:tgtEl>
                                        <p:attrNameLst>
                                          <p:attrName>style.visibility</p:attrName>
                                        </p:attrNameLst>
                                      </p:cBhvr>
                                      <p:to>
                                        <p:strVal val="visible"/>
                                      </p:to>
                                    </p:set>
                                    <p:anim calcmode="lin" valueType="num">
                                      <p:cBhvr additive="base">
                                        <p:cTn id="19" dur="500" fill="hold"/>
                                        <p:tgtEl>
                                          <p:spTgt spid="22016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016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20163">
                                            <p:txEl>
                                              <p:pRg st="6" end="6"/>
                                            </p:txEl>
                                          </p:spTgt>
                                        </p:tgtEl>
                                        <p:attrNameLst>
                                          <p:attrName>style.visibility</p:attrName>
                                        </p:attrNameLst>
                                      </p:cBhvr>
                                      <p:to>
                                        <p:strVal val="visible"/>
                                      </p:to>
                                    </p:set>
                                    <p:anim calcmode="lin" valueType="num">
                                      <p:cBhvr additive="base">
                                        <p:cTn id="23" dur="500" fill="hold"/>
                                        <p:tgtEl>
                                          <p:spTgt spid="22016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2016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29B8E97-D04F-4E60-A937-657ABB9C6947}" type="datetime1">
              <a:rPr lang="zh-CN" altLang="en-US" smtClean="0"/>
              <a:t>2025/10/15</a:t>
            </a:fld>
            <a:endParaRPr lang="en-US" altLang="zh-CN"/>
          </a:p>
        </p:txBody>
      </p:sp>
      <p:sp>
        <p:nvSpPr>
          <p:cNvPr id="5" name="页脚占位符 4"/>
          <p:cNvSpPr>
            <a:spLocks noGrp="1"/>
          </p:cNvSpPr>
          <p:nvPr>
            <p:ph type="ftr" sz="quarter" idx="11"/>
          </p:nvPr>
        </p:nvSpPr>
        <p:spPr/>
        <p:txBody>
          <a:bodyPr/>
          <a:lstStyle/>
          <a:p>
            <a:r>
              <a:rPr lang="en-US" altLang="zh-CN"/>
              <a:t>《</a:t>
            </a:r>
            <a:r>
              <a:rPr lang="zh-CN" altLang="en-US"/>
              <a:t>数据库系统概论</a:t>
            </a:r>
            <a:r>
              <a:rPr lang="en-US" altLang="zh-CN"/>
              <a:t>》- </a:t>
            </a:r>
            <a:r>
              <a:rPr lang="zh-CN" altLang="en-US"/>
              <a:t>第</a:t>
            </a:r>
            <a:r>
              <a:rPr lang="en-US" altLang="zh-CN"/>
              <a:t>3</a:t>
            </a:r>
            <a:r>
              <a:rPr lang="zh-CN" altLang="en-US"/>
              <a:t>章</a:t>
            </a:r>
            <a:endParaRPr lang="en-US" altLang="zh-CN"/>
          </a:p>
        </p:txBody>
      </p:sp>
      <p:sp>
        <p:nvSpPr>
          <p:cNvPr id="221186" name="Rectangle 2"/>
          <p:cNvSpPr>
            <a:spLocks noGrp="1" noChangeArrowheads="1"/>
          </p:cNvSpPr>
          <p:nvPr>
            <p:ph type="title"/>
          </p:nvPr>
        </p:nvSpPr>
        <p:spPr/>
        <p:txBody>
          <a:bodyPr/>
          <a:lstStyle/>
          <a:p>
            <a:r>
              <a:rPr lang="en-US" altLang="zh-CN" dirty="0"/>
              <a:t>4.7.3 </a:t>
            </a:r>
            <a:r>
              <a:rPr lang="zh-CN" altLang="en-US" dirty="0"/>
              <a:t>视图的授权</a:t>
            </a:r>
          </a:p>
        </p:txBody>
      </p:sp>
      <p:sp>
        <p:nvSpPr>
          <p:cNvPr id="221187" name="Rectangle 3"/>
          <p:cNvSpPr>
            <a:spLocks noGrp="1" noChangeArrowheads="1"/>
          </p:cNvSpPr>
          <p:nvPr>
            <p:ph type="body" idx="1"/>
          </p:nvPr>
        </p:nvSpPr>
        <p:spPr/>
        <p:txBody>
          <a:bodyPr/>
          <a:lstStyle/>
          <a:p>
            <a:r>
              <a:rPr lang="zh-CN" altLang="en-US" dirty="0"/>
              <a:t>在视图上进一步定义存取权限 </a:t>
            </a:r>
            <a:endParaRPr lang="en-US" altLang="zh-CN" dirty="0"/>
          </a:p>
          <a:p>
            <a:pPr>
              <a:buFont typeface="Wingdings" pitchFamily="2" charset="2"/>
              <a:buNone/>
            </a:pPr>
            <a:r>
              <a:rPr lang="en-US" altLang="zh-CN" dirty="0"/>
              <a:t>    </a:t>
            </a:r>
            <a:r>
              <a:rPr lang="en-US" altLang="zh-CN" dirty="0">
                <a:solidFill>
                  <a:srgbClr val="C00000"/>
                </a:solidFill>
              </a:rPr>
              <a:t>GRANT</a:t>
            </a:r>
            <a:r>
              <a:rPr lang="en-US" altLang="zh-CN" dirty="0"/>
              <a:t> SELECT</a:t>
            </a:r>
          </a:p>
          <a:p>
            <a:pPr>
              <a:buFont typeface="Wingdings" pitchFamily="2" charset="2"/>
              <a:buNone/>
            </a:pPr>
            <a:r>
              <a:rPr lang="en-US" altLang="zh-CN" dirty="0"/>
              <a:t>    </a:t>
            </a:r>
            <a:r>
              <a:rPr lang="en-US" altLang="zh-CN" dirty="0">
                <a:solidFill>
                  <a:srgbClr val="C00000"/>
                </a:solidFill>
              </a:rPr>
              <a:t>ON</a:t>
            </a:r>
            <a:r>
              <a:rPr lang="en-US" altLang="zh-CN" dirty="0"/>
              <a:t> </a:t>
            </a:r>
            <a:r>
              <a:rPr lang="en-US" altLang="zh-CN" dirty="0" err="1"/>
              <a:t>CS_Student</a:t>
            </a:r>
            <a:endParaRPr lang="en-US" altLang="zh-CN" dirty="0"/>
          </a:p>
          <a:p>
            <a:pPr>
              <a:buFont typeface="Wingdings" pitchFamily="2" charset="2"/>
              <a:buNone/>
            </a:pPr>
            <a:r>
              <a:rPr lang="en-US" altLang="zh-CN" dirty="0"/>
              <a:t>    </a:t>
            </a:r>
            <a:r>
              <a:rPr lang="en-US" altLang="zh-CN" dirty="0">
                <a:solidFill>
                  <a:srgbClr val="C00000"/>
                </a:solidFill>
              </a:rPr>
              <a:t>TO</a:t>
            </a:r>
            <a:r>
              <a:rPr lang="en-US" altLang="zh-CN" dirty="0"/>
              <a:t> </a:t>
            </a:r>
            <a:r>
              <a:rPr lang="zh-CN" altLang="en-US" dirty="0"/>
              <a:t>王平</a:t>
            </a:r>
            <a:r>
              <a:rPr lang="en-US" altLang="zh-CN" dirty="0"/>
              <a:t>;</a:t>
            </a:r>
          </a:p>
          <a:p>
            <a:pPr>
              <a:buFont typeface="Wingdings" pitchFamily="2" charset="2"/>
              <a:buNone/>
            </a:pPr>
            <a:endParaRPr lang="en-US" altLang="zh-CN" dirty="0"/>
          </a:p>
          <a:p>
            <a:pPr>
              <a:buFont typeface="Wingdings" pitchFamily="2" charset="2"/>
              <a:buNone/>
            </a:pPr>
            <a:r>
              <a:rPr lang="en-US" altLang="zh-CN" dirty="0"/>
              <a:t>    </a:t>
            </a:r>
            <a:r>
              <a:rPr lang="en-US" altLang="zh-CN" dirty="0">
                <a:solidFill>
                  <a:srgbClr val="C00000"/>
                </a:solidFill>
              </a:rPr>
              <a:t>GRANT </a:t>
            </a:r>
            <a:r>
              <a:rPr lang="en-US" altLang="zh-CN" dirty="0">
                <a:solidFill>
                  <a:srgbClr val="0000FF"/>
                </a:solidFill>
              </a:rPr>
              <a:t>ALL PRIVILEGES </a:t>
            </a:r>
          </a:p>
          <a:p>
            <a:pPr>
              <a:buFont typeface="Wingdings" pitchFamily="2" charset="2"/>
              <a:buNone/>
            </a:pPr>
            <a:r>
              <a:rPr lang="en-US" altLang="zh-CN" dirty="0"/>
              <a:t>    </a:t>
            </a:r>
            <a:r>
              <a:rPr lang="en-US" altLang="zh-CN" dirty="0">
                <a:solidFill>
                  <a:srgbClr val="C00000"/>
                </a:solidFill>
              </a:rPr>
              <a:t>ON</a:t>
            </a:r>
            <a:r>
              <a:rPr lang="en-US" altLang="zh-CN" dirty="0"/>
              <a:t> </a:t>
            </a:r>
            <a:r>
              <a:rPr lang="en-US" altLang="zh-CN" dirty="0" err="1"/>
              <a:t>CS_Student</a:t>
            </a:r>
            <a:endParaRPr lang="en-US" altLang="zh-CN" dirty="0"/>
          </a:p>
          <a:p>
            <a:pPr>
              <a:buFont typeface="Wingdings" pitchFamily="2" charset="2"/>
              <a:buNone/>
            </a:pPr>
            <a:r>
              <a:rPr lang="en-US" altLang="zh-CN" dirty="0"/>
              <a:t>    </a:t>
            </a:r>
            <a:r>
              <a:rPr lang="en-US" altLang="zh-CN" dirty="0">
                <a:solidFill>
                  <a:srgbClr val="C00000"/>
                </a:solidFill>
              </a:rPr>
              <a:t>TO</a:t>
            </a:r>
            <a:r>
              <a:rPr lang="en-US" altLang="zh-CN" dirty="0"/>
              <a:t> </a:t>
            </a:r>
            <a:r>
              <a:rPr lang="zh-CN" altLang="en-US" dirty="0"/>
              <a:t>张明</a:t>
            </a:r>
            <a:r>
              <a:rPr lang="en-US" altLang="zh-CN" dirty="0"/>
              <a:t>;</a:t>
            </a:r>
            <a:endParaRPr lang="zh-CN" altLang="en-US" dirty="0"/>
          </a:p>
        </p:txBody>
      </p:sp>
      <p:sp>
        <p:nvSpPr>
          <p:cNvPr id="6" name="灯片编号占位符 5">
            <a:extLst>
              <a:ext uri="{FF2B5EF4-FFF2-40B4-BE49-F238E27FC236}">
                <a16:creationId xmlns:a16="http://schemas.microsoft.com/office/drawing/2014/main" id="{903BAD68-7A69-EFE7-7F26-6AFCD6473944}"/>
              </a:ext>
            </a:extLst>
          </p:cNvPr>
          <p:cNvSpPr>
            <a:spLocks noGrp="1"/>
          </p:cNvSpPr>
          <p:nvPr>
            <p:ph type="sldNum" sz="quarter" idx="12"/>
          </p:nvPr>
        </p:nvSpPr>
        <p:spPr/>
        <p:txBody>
          <a:bodyPr/>
          <a:lstStyle/>
          <a:p>
            <a:pPr>
              <a:defRPr/>
            </a:pPr>
            <a:fld id="{E0CD82EA-F7BE-454B-A83E-18830F6C5424}" type="slidenum">
              <a:rPr lang="en-US" altLang="zh-CN" smtClean="0"/>
              <a:pPr>
                <a:defRPr/>
              </a:pPr>
              <a:t>136</a:t>
            </a:fld>
            <a:r>
              <a:rPr lang="en-US" altLang="zh-CN"/>
              <a:t>/138</a:t>
            </a:r>
            <a:endParaRPr lang="zh-CN" altLang="en-US" dirty="0"/>
          </a:p>
        </p:txBody>
      </p:sp>
    </p:spTree>
    <p:extLst>
      <p:ext uri="{BB962C8B-B14F-4D97-AF65-F5344CB8AC3E}">
        <p14:creationId xmlns:p14="http://schemas.microsoft.com/office/powerpoint/2010/main" val="2515450879"/>
      </p:ext>
    </p:extLst>
  </p:cSld>
  <p:clrMapOvr>
    <a:masterClrMapping/>
  </p:clrMapOvr>
  <p:transition>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E1FA199E-8F2E-46C7-9447-698F2A5EFDC0}" type="datetime1">
              <a:rPr kumimoji="0" lang="zh-CN" altLang="en-US" sz="1400" smtClean="0"/>
              <a:t>2025/10/15</a:t>
            </a:fld>
            <a:endParaRPr kumimoji="0" lang="en-US" altLang="zh-CN" sz="1400"/>
          </a:p>
        </p:txBody>
      </p:sp>
      <p:sp>
        <p:nvSpPr>
          <p:cNvPr id="43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43013" name="Rectangle 2"/>
          <p:cNvSpPr>
            <a:spLocks noGrp="1" noChangeArrowheads="1"/>
          </p:cNvSpPr>
          <p:nvPr>
            <p:ph type="title"/>
          </p:nvPr>
        </p:nvSpPr>
        <p:spPr/>
        <p:txBody>
          <a:bodyPr/>
          <a:lstStyle/>
          <a:p>
            <a:pPr eaLnBrk="1" hangingPunct="1"/>
            <a:r>
              <a:rPr lang="en-US" altLang="zh-CN" dirty="0"/>
              <a:t>4.7.4 </a:t>
            </a:r>
            <a:r>
              <a:rPr lang="zh-CN" altLang="en-US" dirty="0"/>
              <a:t>模式授权</a:t>
            </a:r>
          </a:p>
        </p:txBody>
      </p:sp>
      <p:sp>
        <p:nvSpPr>
          <p:cNvPr id="43014" name="Rectangle 3"/>
          <p:cNvSpPr>
            <a:spLocks noGrp="1" noChangeArrowheads="1"/>
          </p:cNvSpPr>
          <p:nvPr>
            <p:ph type="body" idx="1"/>
          </p:nvPr>
        </p:nvSpPr>
        <p:spPr>
          <a:xfrm>
            <a:off x="609600" y="1447800"/>
            <a:ext cx="8458200" cy="4684713"/>
          </a:xfrm>
        </p:spPr>
        <p:txBody>
          <a:bodyPr/>
          <a:lstStyle/>
          <a:p>
            <a:pPr eaLnBrk="1" hangingPunct="1"/>
            <a:r>
              <a:rPr lang="zh-CN" altLang="en-US" dirty="0"/>
              <a:t>见前面补充材料</a:t>
            </a:r>
            <a:endParaRPr lang="en-US" altLang="zh-CN" dirty="0"/>
          </a:p>
          <a:p>
            <a:pPr eaLnBrk="1" hangingPunct="1"/>
            <a:r>
              <a:rPr lang="zh-CN" altLang="en-US" dirty="0">
                <a:solidFill>
                  <a:srgbClr val="0000FF"/>
                </a:solidFill>
              </a:rPr>
              <a:t>引用的授权</a:t>
            </a:r>
            <a:endParaRPr lang="en-US" altLang="zh-CN" dirty="0">
              <a:solidFill>
                <a:srgbClr val="0000FF"/>
              </a:solidFill>
            </a:endParaRPr>
          </a:p>
          <a:p>
            <a:pPr lvl="1" eaLnBrk="1" hangingPunct="1"/>
            <a:r>
              <a:rPr lang="en-US" altLang="zh-CN" dirty="0"/>
              <a:t>SQL</a:t>
            </a:r>
            <a:r>
              <a:rPr lang="zh-CN" altLang="en-US" dirty="0"/>
              <a:t>提供了一种引用</a:t>
            </a:r>
            <a:r>
              <a:rPr lang="en-US" altLang="zh-CN" dirty="0"/>
              <a:t>(references)</a:t>
            </a:r>
            <a:r>
              <a:rPr lang="zh-CN" altLang="en-US" dirty="0"/>
              <a:t>权限，它允许用户在创建关系时声明外码。可以通过与更新权限类似的方式将 </a:t>
            </a:r>
            <a:r>
              <a:rPr lang="en-US" altLang="zh-CN" dirty="0"/>
              <a:t>SOL</a:t>
            </a:r>
            <a:r>
              <a:rPr lang="zh-CN" altLang="en-US" dirty="0"/>
              <a:t>的引用权限授予特定属性。</a:t>
            </a:r>
            <a:endParaRPr lang="en-US" altLang="zh-CN" dirty="0"/>
          </a:p>
          <a:p>
            <a:pPr lvl="1" eaLnBrk="1" hangingPunct="1"/>
            <a:r>
              <a:rPr lang="zh-CN" altLang="en-US" dirty="0"/>
              <a:t>下面的授权语句允许用户</a:t>
            </a:r>
            <a:r>
              <a:rPr lang="en-US" altLang="zh-CN" dirty="0"/>
              <a:t>Mariano </a:t>
            </a:r>
            <a:r>
              <a:rPr lang="zh-CN" altLang="en-US" dirty="0"/>
              <a:t>创建这样的关系：它能够引用 </a:t>
            </a:r>
            <a:r>
              <a:rPr lang="en-US" altLang="zh-CN" dirty="0"/>
              <a:t>department</a:t>
            </a:r>
            <a:r>
              <a:rPr lang="zh-CN" altLang="en-US" dirty="0"/>
              <a:t>关系的</a:t>
            </a:r>
            <a:r>
              <a:rPr lang="en-US" altLang="zh-CN" dirty="0" err="1"/>
              <a:t>dept_name</a:t>
            </a:r>
            <a:r>
              <a:rPr lang="en-US" altLang="zh-CN" dirty="0"/>
              <a:t> </a:t>
            </a:r>
            <a:r>
              <a:rPr lang="zh-CN" altLang="en-US" dirty="0"/>
              <a:t>码作为外码。</a:t>
            </a:r>
            <a:endParaRPr lang="en-US" altLang="zh-CN" dirty="0"/>
          </a:p>
          <a:p>
            <a:pPr lvl="1" eaLnBrk="1" hangingPunct="1"/>
            <a:endParaRPr lang="zh-CN" altLang="en-US" dirty="0"/>
          </a:p>
        </p:txBody>
      </p:sp>
      <p:sp>
        <p:nvSpPr>
          <p:cNvPr id="2" name="矩形 1"/>
          <p:cNvSpPr/>
          <p:nvPr/>
        </p:nvSpPr>
        <p:spPr>
          <a:xfrm>
            <a:off x="457200" y="5486400"/>
            <a:ext cx="8305800" cy="461665"/>
          </a:xfrm>
          <a:prstGeom prst="rect">
            <a:avLst/>
          </a:prstGeom>
        </p:spPr>
        <p:txBody>
          <a:bodyPr wrap="square">
            <a:spAutoFit/>
          </a:bodyPr>
          <a:lstStyle/>
          <a:p>
            <a:pPr lvl="1" algn="l"/>
            <a:r>
              <a:rPr lang="en-US" altLang="zh-CN" dirty="0"/>
              <a:t>grant </a:t>
            </a:r>
            <a:r>
              <a:rPr lang="en-US" altLang="zh-CN" dirty="0">
                <a:solidFill>
                  <a:srgbClr val="0000FF"/>
                </a:solidFill>
              </a:rPr>
              <a:t>references(</a:t>
            </a:r>
            <a:r>
              <a:rPr lang="en-US" altLang="zh-CN" dirty="0" err="1">
                <a:solidFill>
                  <a:srgbClr val="0000FF"/>
                </a:solidFill>
              </a:rPr>
              <a:t>dept_name</a:t>
            </a:r>
            <a:r>
              <a:rPr lang="en-US" altLang="zh-CN" dirty="0">
                <a:solidFill>
                  <a:srgbClr val="0000FF"/>
                </a:solidFill>
              </a:rPr>
              <a:t>) on department </a:t>
            </a:r>
            <a:r>
              <a:rPr lang="en-US" altLang="zh-CN" dirty="0"/>
              <a:t>to Mariano;</a:t>
            </a:r>
            <a:endParaRPr lang="zh-CN" altLang="en-US" dirty="0"/>
          </a:p>
        </p:txBody>
      </p:sp>
      <p:sp>
        <p:nvSpPr>
          <p:cNvPr id="5" name="灯片编号占位符 4">
            <a:extLst>
              <a:ext uri="{FF2B5EF4-FFF2-40B4-BE49-F238E27FC236}">
                <a16:creationId xmlns:a16="http://schemas.microsoft.com/office/drawing/2014/main" id="{D5AB9B6D-0DE6-FFEF-C956-FEEB010B5AB4}"/>
              </a:ext>
            </a:extLst>
          </p:cNvPr>
          <p:cNvSpPr>
            <a:spLocks noGrp="1"/>
          </p:cNvSpPr>
          <p:nvPr>
            <p:ph type="sldNum" sz="quarter" idx="12"/>
          </p:nvPr>
        </p:nvSpPr>
        <p:spPr/>
        <p:txBody>
          <a:bodyPr/>
          <a:lstStyle/>
          <a:p>
            <a:pPr>
              <a:defRPr/>
            </a:pPr>
            <a:fld id="{E0CD82EA-F7BE-454B-A83E-18830F6C5424}" type="slidenum">
              <a:rPr lang="en-US" altLang="zh-CN" smtClean="0"/>
              <a:pPr>
                <a:defRPr/>
              </a:pPr>
              <a:t>137</a:t>
            </a:fld>
            <a:r>
              <a:rPr lang="en-US" altLang="zh-CN"/>
              <a:t>/138</a:t>
            </a:r>
            <a:endParaRPr lang="zh-CN" altLang="en-US" dirty="0"/>
          </a:p>
        </p:txBody>
      </p:sp>
    </p:spTree>
    <p:extLst>
      <p:ext uri="{BB962C8B-B14F-4D97-AF65-F5344CB8AC3E}">
        <p14:creationId xmlns:p14="http://schemas.microsoft.com/office/powerpoint/2010/main" val="3230992299"/>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30053D02-7C1E-4360-9A09-F39674DDFC85}" type="datetime1">
              <a:rPr kumimoji="0" lang="zh-CN" altLang="en-US" sz="1400" smtClean="0"/>
              <a:t>2025/10/15</a:t>
            </a:fld>
            <a:endParaRPr kumimoji="0" lang="en-US" altLang="zh-CN" sz="1400"/>
          </a:p>
        </p:txBody>
      </p:sp>
      <p:sp>
        <p:nvSpPr>
          <p:cNvPr id="43011"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43013" name="Rectangle 2"/>
          <p:cNvSpPr>
            <a:spLocks noGrp="1" noChangeArrowheads="1"/>
          </p:cNvSpPr>
          <p:nvPr>
            <p:ph type="title"/>
          </p:nvPr>
        </p:nvSpPr>
        <p:spPr/>
        <p:txBody>
          <a:bodyPr/>
          <a:lstStyle/>
          <a:p>
            <a:pPr eaLnBrk="1" hangingPunct="1"/>
            <a:r>
              <a:rPr lang="en-US" altLang="zh-CN" dirty="0"/>
              <a:t>4.7.7 </a:t>
            </a:r>
            <a:r>
              <a:rPr lang="zh-CN" altLang="en-US" dirty="0"/>
              <a:t>行级授权</a:t>
            </a:r>
          </a:p>
        </p:txBody>
      </p:sp>
      <p:sp>
        <p:nvSpPr>
          <p:cNvPr id="43014" name="Rectangle 3"/>
          <p:cNvSpPr>
            <a:spLocks noGrp="1" noChangeArrowheads="1"/>
          </p:cNvSpPr>
          <p:nvPr>
            <p:ph type="body" idx="1"/>
          </p:nvPr>
        </p:nvSpPr>
        <p:spPr/>
        <p:txBody>
          <a:bodyPr/>
          <a:lstStyle/>
          <a:p>
            <a:pPr eaLnBrk="1" hangingPunct="1"/>
            <a:r>
              <a:rPr lang="zh-CN" altLang="en-US" dirty="0"/>
              <a:t>自行了解</a:t>
            </a:r>
          </a:p>
        </p:txBody>
      </p:sp>
      <p:sp>
        <p:nvSpPr>
          <p:cNvPr id="4" name="灯片编号占位符 3">
            <a:extLst>
              <a:ext uri="{FF2B5EF4-FFF2-40B4-BE49-F238E27FC236}">
                <a16:creationId xmlns:a16="http://schemas.microsoft.com/office/drawing/2014/main" id="{0B1E12F8-9A58-23BD-DC78-3A855C50841B}"/>
              </a:ext>
            </a:extLst>
          </p:cNvPr>
          <p:cNvSpPr>
            <a:spLocks noGrp="1"/>
          </p:cNvSpPr>
          <p:nvPr>
            <p:ph type="sldNum" sz="quarter" idx="12"/>
          </p:nvPr>
        </p:nvSpPr>
        <p:spPr/>
        <p:txBody>
          <a:bodyPr/>
          <a:lstStyle/>
          <a:p>
            <a:pPr>
              <a:defRPr/>
            </a:pPr>
            <a:fld id="{E0CD82EA-F7BE-454B-A83E-18830F6C5424}" type="slidenum">
              <a:rPr lang="en-US" altLang="zh-CN" smtClean="0"/>
              <a:pPr>
                <a:defRPr/>
              </a:pPr>
              <a:t>138</a:t>
            </a:fld>
            <a:r>
              <a:rPr lang="en-US" altLang="zh-CN"/>
              <a:t>/138</a:t>
            </a:r>
            <a:endParaRPr lang="zh-CN" altLang="en-US" dirty="0"/>
          </a:p>
        </p:txBody>
      </p:sp>
    </p:spTree>
    <p:extLst>
      <p:ext uri="{BB962C8B-B14F-4D97-AF65-F5344CB8AC3E}">
        <p14:creationId xmlns:p14="http://schemas.microsoft.com/office/powerpoint/2010/main" val="3230992299"/>
      </p:ext>
    </p:extLst>
  </p:cSld>
  <p:clrMapOvr>
    <a:masterClrMapping/>
  </p:clrMapOvr>
  <p:transition>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日期占位符 3"/>
          <p:cNvSpPr>
            <a:spLocks noGrp="1"/>
          </p:cNvSpPr>
          <p:nvPr>
            <p:ph type="dt" sz="quarter" idx="10"/>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fld id="{D1D9126C-AF12-4E65-B7C5-02D70CF5ACBC}" type="datetime1">
              <a:rPr kumimoji="0" lang="zh-CN" altLang="en-US" sz="1400" smtClean="0"/>
              <a:t>2025/10/15</a:t>
            </a:fld>
            <a:endParaRPr kumimoji="0" lang="en-US" altLang="zh-CN" sz="1400"/>
          </a:p>
        </p:txBody>
      </p:sp>
      <p:sp>
        <p:nvSpPr>
          <p:cNvPr id="204803" name="页脚占位符 4"/>
          <p:cNvSpPr>
            <a:spLocks noGrp="1"/>
          </p:cNvSpPr>
          <p:nvPr>
            <p:ph type="ftr" sz="quarter" idx="11"/>
          </p:nvPr>
        </p:nvSpPr>
        <p:spPr>
          <a:noFill/>
        </p:spPr>
        <p:txBody>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kumimoji="0" lang="en-US" altLang="zh-CN" sz="1400"/>
              <a:t>《数据库系统概论》- 第3章</a:t>
            </a:r>
          </a:p>
        </p:txBody>
      </p:sp>
      <p:sp>
        <p:nvSpPr>
          <p:cNvPr id="204805" name="Rectangle 2"/>
          <p:cNvSpPr>
            <a:spLocks noGrp="1" noChangeArrowheads="1"/>
          </p:cNvSpPr>
          <p:nvPr>
            <p:ph type="title"/>
          </p:nvPr>
        </p:nvSpPr>
        <p:spPr/>
        <p:txBody>
          <a:bodyPr/>
          <a:lstStyle/>
          <a:p>
            <a:pPr eaLnBrk="1" hangingPunct="1"/>
            <a:r>
              <a:rPr lang="en-US" altLang="zh-CN" b="1">
                <a:latin typeface="Comic Sans MS" pitchFamily="66" charset="0"/>
              </a:rPr>
              <a:t>Any Question?</a:t>
            </a:r>
          </a:p>
        </p:txBody>
      </p:sp>
      <p:sp>
        <p:nvSpPr>
          <p:cNvPr id="204806" name="Text Box 3"/>
          <p:cNvSpPr txBox="1">
            <a:spLocks noChangeArrowheads="1"/>
          </p:cNvSpPr>
          <p:nvPr/>
        </p:nvSpPr>
        <p:spPr bwMode="auto">
          <a:xfrm>
            <a:off x="4140200" y="2781300"/>
            <a:ext cx="3302000"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4800" b="1" i="1">
                <a:solidFill>
                  <a:schemeClr val="hlink"/>
                </a:solidFill>
                <a:latin typeface="Times New Roman" pitchFamily="18" charset="0"/>
              </a:rPr>
              <a:t>Thank you !</a:t>
            </a:r>
          </a:p>
        </p:txBody>
      </p:sp>
      <p:pic>
        <p:nvPicPr>
          <p:cNvPr id="204807" name="Picture 4" descr="smil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6800" y="2133600"/>
            <a:ext cx="22098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a:extLst>
              <a:ext uri="{FF2B5EF4-FFF2-40B4-BE49-F238E27FC236}">
                <a16:creationId xmlns:a16="http://schemas.microsoft.com/office/drawing/2014/main" id="{663AB8B9-D7E3-95A8-8E3C-3E85E1F68830}"/>
              </a:ext>
            </a:extLst>
          </p:cNvPr>
          <p:cNvSpPr>
            <a:spLocks noGrp="1"/>
          </p:cNvSpPr>
          <p:nvPr>
            <p:ph type="sldNum" sz="quarter" idx="12"/>
          </p:nvPr>
        </p:nvSpPr>
        <p:spPr/>
        <p:txBody>
          <a:bodyPr/>
          <a:lstStyle/>
          <a:p>
            <a:pPr>
              <a:defRPr/>
            </a:pPr>
            <a:fld id="{E0CD82EA-F7BE-454B-A83E-18830F6C5424}" type="slidenum">
              <a:rPr lang="en-US" altLang="zh-CN" smtClean="0"/>
              <a:pPr>
                <a:defRPr/>
              </a:pPr>
              <a:t>139</a:t>
            </a:fld>
            <a:r>
              <a:rPr lang="en-US" altLang="zh-CN"/>
              <a:t>/138</a:t>
            </a:r>
            <a:endParaRPr lang="zh-CN" altLang="en-US" dirty="0"/>
          </a:p>
        </p:txBody>
      </p:sp>
    </p:spTree>
  </p:cSld>
  <p:clrMapOvr>
    <a:masterClrMapping/>
  </p:clrMapOvr>
  <p:transition>
    <p:fade/>
  </p:transition>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CN" sz="2400" b="0" i="0" u="none" strike="noStrike" cap="none" normalizeH="0" baseline="0" smtClean="0">
            <a:ln>
              <a:noFill/>
            </a:ln>
            <a:solidFill>
              <a:schemeClr val="tx1"/>
            </a:solidFill>
            <a:effectLst/>
            <a:latin typeface="Tahoma" pitchFamily="34" charset="0"/>
            <a:ea typeface="宋体" pitchFamily="2" charset="-122"/>
            <a:cs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CN" sz="2400" b="0" i="0" u="none" strike="noStrike" cap="none" normalizeH="0" baseline="0" smtClean="0">
            <a:ln>
              <a:noFill/>
            </a:ln>
            <a:solidFill>
              <a:schemeClr val="tx1"/>
            </a:solidFill>
            <a:effectLst/>
            <a:latin typeface="Tahoma" pitchFamily="34" charset="0"/>
            <a:ea typeface="宋体" pitchFamily="2" charset="-122"/>
            <a:cs typeface="Arial"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ld2009</Template>
  <TotalTime>15471</TotalTime>
  <Words>11511</Words>
  <Application>Microsoft Office PowerPoint</Application>
  <PresentationFormat>全屏显示(4:3)</PresentationFormat>
  <Paragraphs>1679</Paragraphs>
  <Slides>139</Slides>
  <Notes>42</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139</vt:i4>
      </vt:variant>
    </vt:vector>
  </HeadingPairs>
  <TitlesOfParts>
    <vt:vector size="151" baseType="lpstr">
      <vt:lpstr>-apple-system</vt:lpstr>
      <vt:lpstr>NimbusRomDOT-RegIta</vt:lpstr>
      <vt:lpstr>楷体_GB2312</vt:lpstr>
      <vt:lpstr>宋体</vt:lpstr>
      <vt:lpstr>Arial</vt:lpstr>
      <vt:lpstr>Comic Sans MS</vt:lpstr>
      <vt:lpstr>Helvetica</vt:lpstr>
      <vt:lpstr>Tahoma</vt:lpstr>
      <vt:lpstr>Times New Roman</vt:lpstr>
      <vt:lpstr>Wingdings</vt:lpstr>
      <vt:lpstr>Blends</vt:lpstr>
      <vt:lpstr>Clip</vt:lpstr>
      <vt:lpstr>数据库系统原理  Database System Principles</vt:lpstr>
      <vt:lpstr>第3-4章 关系数据库标准语言SQL</vt:lpstr>
      <vt:lpstr>本章目录</vt:lpstr>
      <vt:lpstr>PowerPoint 演示文稿</vt:lpstr>
      <vt:lpstr>4.1 连接查询</vt:lpstr>
      <vt:lpstr>4.1 连接查询</vt:lpstr>
      <vt:lpstr>4.1 连接查询</vt:lpstr>
      <vt:lpstr>4.1 连接查询</vt:lpstr>
      <vt:lpstr>4.1 连接查询</vt:lpstr>
      <vt:lpstr>4.1 连接查询</vt:lpstr>
      <vt:lpstr>4.1 连接查询</vt:lpstr>
      <vt:lpstr>4.1 连接查询</vt:lpstr>
      <vt:lpstr>4.1 连接查询---内连接</vt:lpstr>
      <vt:lpstr>4.1 连接查询---内连接</vt:lpstr>
      <vt:lpstr>4.1 连接查询</vt:lpstr>
      <vt:lpstr>4.1 连接查询</vt:lpstr>
      <vt:lpstr>4.1 连接查询</vt:lpstr>
      <vt:lpstr>4.1 连接查询</vt:lpstr>
      <vt:lpstr>4.1 连接查询</vt:lpstr>
      <vt:lpstr>4.1 连接查询</vt:lpstr>
      <vt:lpstr>4.1 连接查询</vt:lpstr>
      <vt:lpstr>4.1 连接查询</vt:lpstr>
      <vt:lpstr>4.1 连接查询</vt:lpstr>
      <vt:lpstr>4.1 连接查询</vt:lpstr>
      <vt:lpstr>4.1 连接查询</vt:lpstr>
      <vt:lpstr>4.1 连接查询</vt:lpstr>
      <vt:lpstr>4.1 连接查询</vt:lpstr>
      <vt:lpstr>连接的类型与条件</vt:lpstr>
      <vt:lpstr>连接的类型与条件</vt:lpstr>
      <vt:lpstr>4.1 连接查询</vt:lpstr>
      <vt:lpstr>4.1 连接查询</vt:lpstr>
      <vt:lpstr>4.1 连接查询</vt:lpstr>
      <vt:lpstr>本章目录</vt:lpstr>
      <vt:lpstr>4.2 视图</vt:lpstr>
      <vt:lpstr>4.2.1 定义视图</vt:lpstr>
      <vt:lpstr>4.2.1定义视图</vt:lpstr>
      <vt:lpstr>4.2.1定义视图</vt:lpstr>
      <vt:lpstr>4.2.1定义视图</vt:lpstr>
      <vt:lpstr>4.2.1定义视图</vt:lpstr>
      <vt:lpstr>4.2.1定义视图</vt:lpstr>
      <vt:lpstr>4.2.1定义视图</vt:lpstr>
      <vt:lpstr>4.2.1定义视图</vt:lpstr>
      <vt:lpstr>4.2.1定义视图</vt:lpstr>
      <vt:lpstr>补充 删除基本表对视图的影响</vt:lpstr>
      <vt:lpstr>补充 删除基本表对视图的影响</vt:lpstr>
      <vt:lpstr>补充 删除基本表对视图的影响</vt:lpstr>
      <vt:lpstr>4.2.2 查询视图</vt:lpstr>
      <vt:lpstr>4.2.2查询视图</vt:lpstr>
      <vt:lpstr>4.2.2查询视图</vt:lpstr>
      <vt:lpstr>4.2.2查询视图</vt:lpstr>
      <vt:lpstr>4.2.3 物化视图(了解)</vt:lpstr>
      <vt:lpstr>4.2.4 更新视图</vt:lpstr>
      <vt:lpstr>4.2.4 更新视图</vt:lpstr>
      <vt:lpstr>4.2.4 更新视图</vt:lpstr>
      <vt:lpstr>4.2.4 更新视图</vt:lpstr>
      <vt:lpstr>4.2.5 视图的优点</vt:lpstr>
      <vt:lpstr>4.2.5 视图的优点</vt:lpstr>
      <vt:lpstr>4.2.5 视图的优点</vt:lpstr>
      <vt:lpstr>本章目录</vt:lpstr>
      <vt:lpstr>4.3 事务</vt:lpstr>
      <vt:lpstr>4.3 事务</vt:lpstr>
      <vt:lpstr>本章目录</vt:lpstr>
      <vt:lpstr>4.4 完整性约束</vt:lpstr>
      <vt:lpstr>DBMS维护完整性的机制</vt:lpstr>
      <vt:lpstr>4.4.1-4 用户定义的完整性</vt:lpstr>
      <vt:lpstr>4.4.1-4 用户定义的完整性</vt:lpstr>
      <vt:lpstr>4.4.2 非空约束</vt:lpstr>
      <vt:lpstr>4.4.2 非空约束</vt:lpstr>
      <vt:lpstr>4.4.3 唯一性约束</vt:lpstr>
      <vt:lpstr>4.4.3 唯一性约束</vt:lpstr>
      <vt:lpstr>4.4.3 唯一性约束</vt:lpstr>
      <vt:lpstr>4.4.4 CHECK约束</vt:lpstr>
      <vt:lpstr>CHECK约束</vt:lpstr>
      <vt:lpstr>用户定义的完整性检查和违约处理</vt:lpstr>
      <vt:lpstr>4.4.5 实体完整性</vt:lpstr>
      <vt:lpstr>4.4.5 实体完整性约束的检查和违约处理</vt:lpstr>
      <vt:lpstr>4.4.5 参照完整性约束</vt:lpstr>
      <vt:lpstr>4.4.5 参照完整性检查和违约处理</vt:lpstr>
      <vt:lpstr>4.4.5 参照完整性检查和违约处理</vt:lpstr>
      <vt:lpstr>4.4.5 违约处理策略</vt:lpstr>
      <vt:lpstr>4.4.5 参照完整性检查和违约处理</vt:lpstr>
      <vt:lpstr>带有处理策略的FOREIGN KEY子句</vt:lpstr>
      <vt:lpstr>带有处理策略的FOREIGN KEY子句</vt:lpstr>
      <vt:lpstr>带有处理策略的FOREIGN KEY子句</vt:lpstr>
      <vt:lpstr>4.4.6 完整性约束命名子句</vt:lpstr>
      <vt:lpstr>4.4.6 完整性约束命名子句</vt:lpstr>
      <vt:lpstr>4.4.6 完整性约束命名子句</vt:lpstr>
      <vt:lpstr>4.4.8 断言</vt:lpstr>
      <vt:lpstr>4.4.8 断言</vt:lpstr>
      <vt:lpstr>4.4.8 断言</vt:lpstr>
      <vt:lpstr>4.4.8 断言</vt:lpstr>
      <vt:lpstr>本章目录</vt:lpstr>
      <vt:lpstr>4.5 SQL数据类型与模式</vt:lpstr>
      <vt:lpstr>4.5.6 生成唯一码值</vt:lpstr>
      <vt:lpstr>4.5.6 生成唯一码值</vt:lpstr>
      <vt:lpstr>4.5.7 create table 扩展</vt:lpstr>
      <vt:lpstr>本章目录</vt:lpstr>
      <vt:lpstr>4.6 索引</vt:lpstr>
      <vt:lpstr>4.6 索引</vt:lpstr>
      <vt:lpstr>4.6 建立和删除索引</vt:lpstr>
      <vt:lpstr>4.6 建立和删除索引</vt:lpstr>
      <vt:lpstr>4.6 建立和删除索引</vt:lpstr>
      <vt:lpstr>本章目录</vt:lpstr>
      <vt:lpstr>4.7 授权</vt:lpstr>
      <vt:lpstr>4.7 授权</vt:lpstr>
      <vt:lpstr>4.7  存取控制</vt:lpstr>
      <vt:lpstr>4.7  存取控制</vt:lpstr>
      <vt:lpstr>4.7 授权</vt:lpstr>
      <vt:lpstr>4.7 自主存取控制(DAC)方法</vt:lpstr>
      <vt:lpstr>4.7 自主存取控制(DAC)方法</vt:lpstr>
      <vt:lpstr>4.7.1,5,6 权限的授予与回收</vt:lpstr>
      <vt:lpstr>4.7.1,5,6 权限的授予与回收</vt:lpstr>
      <vt:lpstr>4.7.1,5,6 权限的授予与回收</vt:lpstr>
      <vt:lpstr>4.7.1,5,6 权限的授予与回收</vt:lpstr>
      <vt:lpstr>4.7.1,5,6 权限的授予与回收</vt:lpstr>
      <vt:lpstr>4.7.1,5,6 权限的授予与回收</vt:lpstr>
      <vt:lpstr>4.7.1,5,6 权限的授予与回收</vt:lpstr>
      <vt:lpstr>4.7.1,5,6 权限的授予与回收</vt:lpstr>
      <vt:lpstr>4.7.1,5,6 权限的授予与回收</vt:lpstr>
      <vt:lpstr>4.7.1,5,6 权限的授予与回收</vt:lpstr>
      <vt:lpstr>4.7.1,5,6 权限的授予与回收</vt:lpstr>
      <vt:lpstr>4.7.1,5,6 权限的授予与回收</vt:lpstr>
      <vt:lpstr>4.7.1,5,6 权限的授予与回收</vt:lpstr>
      <vt:lpstr>4.7.1,5,6 权限的授予与回收</vt:lpstr>
      <vt:lpstr>4.7.1,5,6 权限的授予与回收</vt:lpstr>
      <vt:lpstr>补充：创建数据库模式的权限</vt:lpstr>
      <vt:lpstr>补充： SQL灵活的授权机制</vt:lpstr>
      <vt:lpstr>补充：SQL灵活的授权机制</vt:lpstr>
      <vt:lpstr>4.7.2 数据库角色</vt:lpstr>
      <vt:lpstr>4.7.2 数据库角色</vt:lpstr>
      <vt:lpstr>4.7.2 数据库角色</vt:lpstr>
      <vt:lpstr>4.7.2 数据库角色</vt:lpstr>
      <vt:lpstr>Tips: Postgres的角色与用户</vt:lpstr>
      <vt:lpstr>4.7.3 视图的授权</vt:lpstr>
      <vt:lpstr>4.7.3 视图的授权</vt:lpstr>
      <vt:lpstr>4.7.3 视图的授权</vt:lpstr>
      <vt:lpstr>4.7.4 模式授权</vt:lpstr>
      <vt:lpstr>4.7.7 行级授权</vt:lpstr>
      <vt:lpstr>Any Question?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lei duan</dc:creator>
  <cp:lastModifiedBy>Administrator</cp:lastModifiedBy>
  <cp:revision>1930</cp:revision>
  <dcterms:created xsi:type="dcterms:W3CDTF">2009-08-07T14:32:50Z</dcterms:created>
  <dcterms:modified xsi:type="dcterms:W3CDTF">2025-10-15T07:13:32Z</dcterms:modified>
</cp:coreProperties>
</file>