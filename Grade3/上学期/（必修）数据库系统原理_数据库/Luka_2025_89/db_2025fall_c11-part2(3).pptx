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70"/>
  </p:notesMasterIdLst>
  <p:sldIdLst>
    <p:sldId id="258" r:id="rId2"/>
    <p:sldId id="259" r:id="rId3"/>
    <p:sldId id="437" r:id="rId4"/>
    <p:sldId id="438" r:id="rId5"/>
    <p:sldId id="498" r:id="rId6"/>
    <p:sldId id="461" r:id="rId7"/>
    <p:sldId id="513" r:id="rId8"/>
    <p:sldId id="514" r:id="rId9"/>
    <p:sldId id="515" r:id="rId10"/>
    <p:sldId id="462" r:id="rId11"/>
    <p:sldId id="516" r:id="rId12"/>
    <p:sldId id="463" r:id="rId13"/>
    <p:sldId id="520" r:id="rId14"/>
    <p:sldId id="521" r:id="rId15"/>
    <p:sldId id="543" r:id="rId16"/>
    <p:sldId id="544" r:id="rId17"/>
    <p:sldId id="545" r:id="rId18"/>
    <p:sldId id="546" r:id="rId19"/>
    <p:sldId id="547" r:id="rId20"/>
    <p:sldId id="548" r:id="rId21"/>
    <p:sldId id="499" r:id="rId22"/>
    <p:sldId id="500" r:id="rId23"/>
    <p:sldId id="465" r:id="rId24"/>
    <p:sldId id="501" r:id="rId25"/>
    <p:sldId id="502" r:id="rId26"/>
    <p:sldId id="503" r:id="rId27"/>
    <p:sldId id="466" r:id="rId28"/>
    <p:sldId id="468" r:id="rId29"/>
    <p:sldId id="517" r:id="rId30"/>
    <p:sldId id="467" r:id="rId31"/>
    <p:sldId id="518" r:id="rId32"/>
    <p:sldId id="470" r:id="rId33"/>
    <p:sldId id="471" r:id="rId34"/>
    <p:sldId id="536" r:id="rId35"/>
    <p:sldId id="549" r:id="rId36"/>
    <p:sldId id="523" r:id="rId37"/>
    <p:sldId id="524" r:id="rId38"/>
    <p:sldId id="473" r:id="rId39"/>
    <p:sldId id="474" r:id="rId40"/>
    <p:sldId id="475" r:id="rId41"/>
    <p:sldId id="476" r:id="rId42"/>
    <p:sldId id="477" r:id="rId43"/>
    <p:sldId id="478" r:id="rId44"/>
    <p:sldId id="479" r:id="rId45"/>
    <p:sldId id="480" r:id="rId46"/>
    <p:sldId id="530" r:id="rId47"/>
    <p:sldId id="481" r:id="rId48"/>
    <p:sldId id="482" r:id="rId49"/>
    <p:sldId id="483" r:id="rId50"/>
    <p:sldId id="550" r:id="rId51"/>
    <p:sldId id="551" r:id="rId52"/>
    <p:sldId id="525" r:id="rId53"/>
    <p:sldId id="537" r:id="rId54"/>
    <p:sldId id="539" r:id="rId55"/>
    <p:sldId id="538" r:id="rId56"/>
    <p:sldId id="540" r:id="rId57"/>
    <p:sldId id="542" r:id="rId58"/>
    <p:sldId id="554" r:id="rId59"/>
    <p:sldId id="555" r:id="rId60"/>
    <p:sldId id="556" r:id="rId61"/>
    <p:sldId id="532" r:id="rId62"/>
    <p:sldId id="529" r:id="rId63"/>
    <p:sldId id="494" r:id="rId64"/>
    <p:sldId id="495" r:id="rId65"/>
    <p:sldId id="534" r:id="rId66"/>
    <p:sldId id="496" r:id="rId67"/>
    <p:sldId id="497" r:id="rId68"/>
    <p:sldId id="260" r:id="rId69"/>
  </p:sldIdLst>
  <p:sldSz cx="9144000" cy="6858000" type="screen4x3"/>
  <p:notesSz cx="6858000" cy="9144000"/>
  <p:custDataLst>
    <p:tags r:id="rId71"/>
  </p:custDataLst>
  <p:defaultTextStyle>
    <a:defPPr>
      <a:defRPr lang="en-US"/>
    </a:defPPr>
    <a:lvl1pPr algn="l" rtl="0" fontAlgn="base">
      <a:lnSpc>
        <a:spcPct val="90000"/>
      </a:lnSpc>
      <a:spcBef>
        <a:spcPct val="20000"/>
      </a:spcBef>
      <a:spcAft>
        <a:spcPct val="0"/>
      </a:spcAft>
      <a:buClr>
        <a:schemeClr val="folHlink"/>
      </a:buClr>
      <a:buSzPct val="60000"/>
      <a:buFont typeface="Wingdings" pitchFamily="2" charset="2"/>
      <a:defRPr sz="2400" kern="1200">
        <a:solidFill>
          <a:schemeClr val="tx1"/>
        </a:solidFill>
        <a:latin typeface="Tahoma" pitchFamily="34" charset="0"/>
        <a:ea typeface="宋体" pitchFamily="2" charset="-122"/>
        <a:cs typeface="Arial" charset="0"/>
      </a:defRPr>
    </a:lvl1pPr>
    <a:lvl2pPr marL="457200" algn="l" rtl="0" fontAlgn="base">
      <a:lnSpc>
        <a:spcPct val="90000"/>
      </a:lnSpc>
      <a:spcBef>
        <a:spcPct val="20000"/>
      </a:spcBef>
      <a:spcAft>
        <a:spcPct val="0"/>
      </a:spcAft>
      <a:buClr>
        <a:schemeClr val="folHlink"/>
      </a:buClr>
      <a:buSzPct val="60000"/>
      <a:buFont typeface="Wingdings" pitchFamily="2" charset="2"/>
      <a:defRPr sz="2400" kern="1200">
        <a:solidFill>
          <a:schemeClr val="tx1"/>
        </a:solidFill>
        <a:latin typeface="Tahoma" pitchFamily="34" charset="0"/>
        <a:ea typeface="宋体" pitchFamily="2" charset="-122"/>
        <a:cs typeface="Arial" charset="0"/>
      </a:defRPr>
    </a:lvl2pPr>
    <a:lvl3pPr marL="914400" algn="l" rtl="0" fontAlgn="base">
      <a:lnSpc>
        <a:spcPct val="90000"/>
      </a:lnSpc>
      <a:spcBef>
        <a:spcPct val="20000"/>
      </a:spcBef>
      <a:spcAft>
        <a:spcPct val="0"/>
      </a:spcAft>
      <a:buClr>
        <a:schemeClr val="folHlink"/>
      </a:buClr>
      <a:buSzPct val="60000"/>
      <a:buFont typeface="Wingdings" pitchFamily="2" charset="2"/>
      <a:defRPr sz="2400" kern="1200">
        <a:solidFill>
          <a:schemeClr val="tx1"/>
        </a:solidFill>
        <a:latin typeface="Tahoma" pitchFamily="34" charset="0"/>
        <a:ea typeface="宋体" pitchFamily="2" charset="-122"/>
        <a:cs typeface="Arial" charset="0"/>
      </a:defRPr>
    </a:lvl3pPr>
    <a:lvl4pPr marL="1371600" algn="l" rtl="0" fontAlgn="base">
      <a:lnSpc>
        <a:spcPct val="90000"/>
      </a:lnSpc>
      <a:spcBef>
        <a:spcPct val="20000"/>
      </a:spcBef>
      <a:spcAft>
        <a:spcPct val="0"/>
      </a:spcAft>
      <a:buClr>
        <a:schemeClr val="folHlink"/>
      </a:buClr>
      <a:buSzPct val="60000"/>
      <a:buFont typeface="Wingdings" pitchFamily="2" charset="2"/>
      <a:defRPr sz="2400" kern="1200">
        <a:solidFill>
          <a:schemeClr val="tx1"/>
        </a:solidFill>
        <a:latin typeface="Tahoma" pitchFamily="34" charset="0"/>
        <a:ea typeface="宋体" pitchFamily="2" charset="-122"/>
        <a:cs typeface="Arial" charset="0"/>
      </a:defRPr>
    </a:lvl4pPr>
    <a:lvl5pPr marL="1828800" algn="l" rtl="0" fontAlgn="base">
      <a:lnSpc>
        <a:spcPct val="90000"/>
      </a:lnSpc>
      <a:spcBef>
        <a:spcPct val="20000"/>
      </a:spcBef>
      <a:spcAft>
        <a:spcPct val="0"/>
      </a:spcAft>
      <a:buClr>
        <a:schemeClr val="folHlink"/>
      </a:buClr>
      <a:buSzPct val="60000"/>
      <a:buFont typeface="Wingdings" pitchFamily="2" charset="2"/>
      <a:defRPr sz="2400" kern="1200">
        <a:solidFill>
          <a:schemeClr val="tx1"/>
        </a:solidFill>
        <a:latin typeface="Tahoma" pitchFamily="34" charset="0"/>
        <a:ea typeface="宋体" pitchFamily="2" charset="-122"/>
        <a:cs typeface="Arial" charset="0"/>
      </a:defRPr>
    </a:lvl5pPr>
    <a:lvl6pPr marL="2286000" algn="l" defTabSz="914400" rtl="0" eaLnBrk="1" latinLnBrk="0" hangingPunct="1">
      <a:defRPr sz="2400" kern="1200">
        <a:solidFill>
          <a:schemeClr val="tx1"/>
        </a:solidFill>
        <a:latin typeface="Tahoma" pitchFamily="34" charset="0"/>
        <a:ea typeface="宋体" pitchFamily="2" charset="-122"/>
        <a:cs typeface="Arial" charset="0"/>
      </a:defRPr>
    </a:lvl6pPr>
    <a:lvl7pPr marL="2743200" algn="l" defTabSz="914400" rtl="0" eaLnBrk="1" latinLnBrk="0" hangingPunct="1">
      <a:defRPr sz="2400" kern="1200">
        <a:solidFill>
          <a:schemeClr val="tx1"/>
        </a:solidFill>
        <a:latin typeface="Tahoma" pitchFamily="34" charset="0"/>
        <a:ea typeface="宋体" pitchFamily="2" charset="-122"/>
        <a:cs typeface="Arial" charset="0"/>
      </a:defRPr>
    </a:lvl7pPr>
    <a:lvl8pPr marL="3200400" algn="l" defTabSz="914400" rtl="0" eaLnBrk="1" latinLnBrk="0" hangingPunct="1">
      <a:defRPr sz="2400" kern="1200">
        <a:solidFill>
          <a:schemeClr val="tx1"/>
        </a:solidFill>
        <a:latin typeface="Tahoma" pitchFamily="34" charset="0"/>
        <a:ea typeface="宋体" pitchFamily="2" charset="-122"/>
        <a:cs typeface="Arial" charset="0"/>
      </a:defRPr>
    </a:lvl8pPr>
    <a:lvl9pPr marL="3657600" algn="l" defTabSz="914400" rtl="0" eaLnBrk="1" latinLnBrk="0" hangingPunct="1">
      <a:defRPr sz="2400" kern="1200">
        <a:solidFill>
          <a:schemeClr val="tx1"/>
        </a:solidFill>
        <a:latin typeface="Tahoma" pitchFamily="34" charset="0"/>
        <a:ea typeface="宋体" pitchFamily="2" charset="-122"/>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00"/>
    <a:srgbClr val="009900"/>
    <a:srgbClr val="660066"/>
    <a:srgbClr val="CC0000"/>
    <a:srgbClr val="003300"/>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38" autoAdjust="0"/>
    <p:restoredTop sz="88029" autoAdjust="0"/>
  </p:normalViewPr>
  <p:slideViewPr>
    <p:cSldViewPr>
      <p:cViewPr varScale="1">
        <p:scale>
          <a:sx n="117" d="100"/>
          <a:sy n="117" d="100"/>
        </p:scale>
        <p:origin x="84" y="17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buClrTx/>
              <a:buSzTx/>
              <a:buFontTx/>
              <a:buNone/>
              <a:defRPr sz="1200">
                <a:latin typeface="Arial" charset="0"/>
              </a:defRPr>
            </a:lvl1pPr>
          </a:lstStyle>
          <a:p>
            <a:endParaRPr lang="zh-CN" altLang="en-US"/>
          </a:p>
        </p:txBody>
      </p:sp>
      <p:sp>
        <p:nvSpPr>
          <p:cNvPr id="1433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buClrTx/>
              <a:buSzTx/>
              <a:buFontTx/>
              <a:buNone/>
              <a:defRPr sz="1200">
                <a:latin typeface="Arial" charset="0"/>
              </a:defRPr>
            </a:lvl1pPr>
          </a:lstStyle>
          <a:p>
            <a:endParaRPr lang="en-US" altLang="zh-CN"/>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200">
                <a:latin typeface="Arial" charset="0"/>
              </a:defRPr>
            </a:lvl1pPr>
          </a:lstStyle>
          <a:p>
            <a:endParaRPr lang="en-US" altLang="zh-CN"/>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200">
                <a:latin typeface="Arial" charset="0"/>
              </a:defRPr>
            </a:lvl1pPr>
          </a:lstStyle>
          <a:p>
            <a:fld id="{8B0F1C23-08EB-448C-9DC6-066A658972D4}" type="slidenum">
              <a:rPr lang="zh-CN" altLang="en-US"/>
              <a:pPr/>
              <a:t>‹#›</a:t>
            </a:fld>
            <a:endParaRPr lang="en-US" altLang="zh-CN"/>
          </a:p>
        </p:txBody>
      </p:sp>
    </p:spTree>
    <p:extLst>
      <p:ext uri="{BB962C8B-B14F-4D97-AF65-F5344CB8AC3E}">
        <p14:creationId xmlns:p14="http://schemas.microsoft.com/office/powerpoint/2010/main" val="415121391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B0F1C23-08EB-448C-9DC6-066A658972D4}" type="slidenum">
              <a:rPr lang="zh-CN" altLang="en-US" smtClean="0"/>
              <a:pPr/>
              <a:t>2</a:t>
            </a:fld>
            <a:endParaRPr lang="en-US" altLang="zh-CN"/>
          </a:p>
        </p:txBody>
      </p:sp>
    </p:spTree>
    <p:extLst>
      <p:ext uri="{BB962C8B-B14F-4D97-AF65-F5344CB8AC3E}">
        <p14:creationId xmlns:p14="http://schemas.microsoft.com/office/powerpoint/2010/main" val="3562981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B0F1C23-08EB-448C-9DC6-066A658972D4}" type="slidenum">
              <a:rPr lang="zh-CN" altLang="en-US" smtClean="0"/>
              <a:pPr/>
              <a:t>10</a:t>
            </a:fld>
            <a:endParaRPr lang="en-US" altLang="zh-CN"/>
          </a:p>
        </p:txBody>
      </p:sp>
    </p:spTree>
    <p:extLst>
      <p:ext uri="{BB962C8B-B14F-4D97-AF65-F5344CB8AC3E}">
        <p14:creationId xmlns:p14="http://schemas.microsoft.com/office/powerpoint/2010/main" val="3206008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sz="1200" b="1" dirty="0"/>
              <a:t>考虑：什么时候修改数据库，执行</a:t>
            </a:r>
            <a:r>
              <a:rPr lang="en-US" altLang="zh-CN" sz="1200" b="1" dirty="0"/>
              <a:t>output</a:t>
            </a:r>
            <a:r>
              <a:rPr lang="zh-CN" altLang="en-US" sz="1200" b="1" dirty="0"/>
              <a:t>操作？</a:t>
            </a:r>
            <a:endParaRPr lang="en-US" altLang="zh-CN" sz="1200" b="1" dirty="0"/>
          </a:p>
          <a:p>
            <a:endParaRPr lang="zh-CN" altLang="en-US" dirty="0"/>
          </a:p>
        </p:txBody>
      </p:sp>
      <p:sp>
        <p:nvSpPr>
          <p:cNvPr id="4" name="灯片编号占位符 3"/>
          <p:cNvSpPr>
            <a:spLocks noGrp="1"/>
          </p:cNvSpPr>
          <p:nvPr>
            <p:ph type="sldNum" sz="quarter" idx="10"/>
          </p:nvPr>
        </p:nvSpPr>
        <p:spPr/>
        <p:txBody>
          <a:bodyPr/>
          <a:lstStyle/>
          <a:p>
            <a:fld id="{8B0F1C23-08EB-448C-9DC6-066A658972D4}" type="slidenum">
              <a:rPr lang="zh-CN" altLang="en-US" smtClean="0"/>
              <a:pPr/>
              <a:t>36</a:t>
            </a:fld>
            <a:endParaRPr lang="en-US" altLang="zh-CN"/>
          </a:p>
        </p:txBody>
      </p:sp>
    </p:spTree>
    <p:extLst>
      <p:ext uri="{BB962C8B-B14F-4D97-AF65-F5344CB8AC3E}">
        <p14:creationId xmlns:p14="http://schemas.microsoft.com/office/powerpoint/2010/main" val="4063699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当一个事务的</a:t>
            </a:r>
            <a:r>
              <a:rPr lang="en-US" altLang="zh-CN" dirty="0"/>
              <a:t>commit </a:t>
            </a:r>
            <a:r>
              <a:rPr lang="zh-CN" altLang="en-US" dirty="0"/>
              <a:t>日志记录一一这是该事务的最后一个日志记录</a:t>
            </a:r>
            <a:r>
              <a:rPr lang="en-US" altLang="zh-CN" dirty="0"/>
              <a:t>——</a:t>
            </a:r>
            <a:r>
              <a:rPr lang="zh-CN" altLang="en-US" dirty="0"/>
              <a:t>输出到稳定存储器后，我们就说这个事务提交</a:t>
            </a:r>
            <a:r>
              <a:rPr lang="en-US" altLang="zh-CN" dirty="0"/>
              <a:t>(commit)</a:t>
            </a:r>
            <a:r>
              <a:rPr lang="zh-CN" altLang="en-US" dirty="0"/>
              <a:t>了</a:t>
            </a:r>
            <a:r>
              <a:rPr lang="en-US" altLang="zh-CN" dirty="0"/>
              <a:t>; </a:t>
            </a:r>
            <a:r>
              <a:rPr lang="zh-CN" altLang="en-US" dirty="0"/>
              <a:t>这时所有更早的日志记录都已经输出到稳定存储器中。</a:t>
            </a:r>
          </a:p>
        </p:txBody>
      </p:sp>
      <p:sp>
        <p:nvSpPr>
          <p:cNvPr id="4" name="灯片编号占位符 3"/>
          <p:cNvSpPr>
            <a:spLocks noGrp="1"/>
          </p:cNvSpPr>
          <p:nvPr>
            <p:ph type="sldNum" sz="quarter" idx="10"/>
          </p:nvPr>
        </p:nvSpPr>
        <p:spPr/>
        <p:txBody>
          <a:bodyPr/>
          <a:lstStyle/>
          <a:p>
            <a:fld id="{8B0F1C23-08EB-448C-9DC6-066A658972D4}" type="slidenum">
              <a:rPr lang="zh-CN" altLang="en-US" smtClean="0"/>
              <a:pPr/>
              <a:t>38</a:t>
            </a:fld>
            <a:endParaRPr lang="en-US" altLang="zh-CN"/>
          </a:p>
        </p:txBody>
      </p:sp>
    </p:spTree>
    <p:extLst>
      <p:ext uri="{BB962C8B-B14F-4D97-AF65-F5344CB8AC3E}">
        <p14:creationId xmlns:p14="http://schemas.microsoft.com/office/powerpoint/2010/main" val="2259833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B0F1C23-08EB-448C-9DC6-066A658972D4}" type="slidenum">
              <a:rPr lang="zh-CN" altLang="en-US" smtClean="0"/>
              <a:pPr/>
              <a:t>51</a:t>
            </a:fld>
            <a:endParaRPr lang="en-US" altLang="zh-CN"/>
          </a:p>
        </p:txBody>
      </p:sp>
    </p:spTree>
    <p:extLst>
      <p:ext uri="{BB962C8B-B14F-4D97-AF65-F5344CB8AC3E}">
        <p14:creationId xmlns:p14="http://schemas.microsoft.com/office/powerpoint/2010/main" val="3993374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B0F1C23-08EB-448C-9DC6-066A658972D4}" type="slidenum">
              <a:rPr lang="zh-CN" altLang="en-US" smtClean="0"/>
              <a:pPr/>
              <a:t>58</a:t>
            </a:fld>
            <a:endParaRPr lang="en-US" altLang="zh-CN"/>
          </a:p>
        </p:txBody>
      </p:sp>
    </p:spTree>
    <p:extLst>
      <p:ext uri="{BB962C8B-B14F-4D97-AF65-F5344CB8AC3E}">
        <p14:creationId xmlns:p14="http://schemas.microsoft.com/office/powerpoint/2010/main" val="1437599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B0F1C23-08EB-448C-9DC6-066A658972D4}" type="slidenum">
              <a:rPr lang="zh-CN" altLang="en-US" smtClean="0"/>
              <a:pPr/>
              <a:t>60</a:t>
            </a:fld>
            <a:endParaRPr lang="en-US" altLang="zh-CN"/>
          </a:p>
        </p:txBody>
      </p:sp>
    </p:spTree>
    <p:extLst>
      <p:ext uri="{BB962C8B-B14F-4D97-AF65-F5344CB8AC3E}">
        <p14:creationId xmlns:p14="http://schemas.microsoft.com/office/powerpoint/2010/main" val="1772005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shuan</a:t>
            </a:r>
            <a:endParaRPr lang="zh-CN" altLang="en-US" dirty="0"/>
          </a:p>
        </p:txBody>
      </p:sp>
      <p:sp>
        <p:nvSpPr>
          <p:cNvPr id="4" name="灯片编号占位符 3"/>
          <p:cNvSpPr>
            <a:spLocks noGrp="1"/>
          </p:cNvSpPr>
          <p:nvPr>
            <p:ph type="sldNum" sz="quarter" idx="10"/>
          </p:nvPr>
        </p:nvSpPr>
        <p:spPr/>
        <p:txBody>
          <a:bodyPr/>
          <a:lstStyle/>
          <a:p>
            <a:fld id="{8B0F1C23-08EB-448C-9DC6-066A658972D4}" type="slidenum">
              <a:rPr lang="zh-CN" altLang="en-US" smtClean="0"/>
              <a:pPr/>
              <a:t>65</a:t>
            </a:fld>
            <a:endParaRPr lang="en-US" altLang="zh-CN"/>
          </a:p>
        </p:txBody>
      </p:sp>
    </p:spTree>
    <p:extLst>
      <p:ext uri="{BB962C8B-B14F-4D97-AF65-F5344CB8AC3E}">
        <p14:creationId xmlns:p14="http://schemas.microsoft.com/office/powerpoint/2010/main" val="42890170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shuan</a:t>
            </a:r>
            <a:endParaRPr lang="zh-CN" altLang="en-US" dirty="0"/>
          </a:p>
        </p:txBody>
      </p:sp>
      <p:sp>
        <p:nvSpPr>
          <p:cNvPr id="4" name="灯片编号占位符 3"/>
          <p:cNvSpPr>
            <a:spLocks noGrp="1"/>
          </p:cNvSpPr>
          <p:nvPr>
            <p:ph type="sldNum" sz="quarter" idx="10"/>
          </p:nvPr>
        </p:nvSpPr>
        <p:spPr/>
        <p:txBody>
          <a:bodyPr/>
          <a:lstStyle/>
          <a:p>
            <a:fld id="{8B0F1C23-08EB-448C-9DC6-066A658972D4}" type="slidenum">
              <a:rPr lang="zh-CN" altLang="en-US" smtClean="0"/>
              <a:pPr/>
              <a:t>66</a:t>
            </a:fld>
            <a:endParaRPr lang="en-US" altLang="zh-CN"/>
          </a:p>
        </p:txBody>
      </p:sp>
    </p:spTree>
    <p:extLst>
      <p:ext uri="{BB962C8B-B14F-4D97-AF65-F5344CB8AC3E}">
        <p14:creationId xmlns:p14="http://schemas.microsoft.com/office/powerpoint/2010/main" val="4289017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838200" y="1371600"/>
            <a:ext cx="7772400" cy="1462088"/>
          </a:xfrm>
        </p:spPr>
        <p:txBody>
          <a:bodyPr/>
          <a:lstStyle>
            <a:lvl1pPr algn="ctr">
              <a:defRPr b="1"/>
            </a:lvl1pPr>
          </a:lstStyle>
          <a:p>
            <a:pPr lvl="0"/>
            <a:r>
              <a:rPr lang="zh-CN" altLang="en-US" noProof="0"/>
              <a:t>单击此处编辑母版标题样式</a:t>
            </a:r>
          </a:p>
        </p:txBody>
      </p:sp>
      <p:sp>
        <p:nvSpPr>
          <p:cNvPr id="5123" name="Rectangle 3"/>
          <p:cNvSpPr>
            <a:spLocks noGrp="1" noChangeArrowheads="1"/>
          </p:cNvSpPr>
          <p:nvPr>
            <p:ph type="subTitle" idx="1"/>
          </p:nvPr>
        </p:nvSpPr>
        <p:spPr>
          <a:xfrm>
            <a:off x="1371600" y="36576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5124" name="Rectangle 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fld id="{8CE9F9AC-40C6-4D19-8532-7A0BC88E2A60}" type="datetime1">
              <a:rPr lang="zh-CN" altLang="en-US" smtClean="0"/>
              <a:t>2025/12/24</a:t>
            </a:fld>
            <a:endParaRPr lang="en-US" altLang="zh-CN"/>
          </a:p>
        </p:txBody>
      </p:sp>
      <p:sp>
        <p:nvSpPr>
          <p:cNvPr id="5125" name="Rectangle 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r>
              <a:rPr lang="en-US" altLang="zh-CN"/>
              <a:t>《数据库系统概论》- 第11章</a:t>
            </a:r>
          </a:p>
        </p:txBody>
      </p:sp>
      <p:sp>
        <p:nvSpPr>
          <p:cNvPr id="5126" name="Rectangle 6"/>
          <p:cNvSpPr>
            <a:spLocks noGrp="1" noChangeArrowheads="1"/>
          </p:cNvSpPr>
          <p:nvPr>
            <p:ph type="sldNum" sz="quarter" idx="4"/>
          </p:nvPr>
        </p:nvSpPr>
        <p:spPr>
          <a:xfrm>
            <a:off x="6858000" y="6248400"/>
            <a:ext cx="1905000" cy="457200"/>
          </a:xfrm>
        </p:spPr>
        <p:txBody>
          <a:bodyPr/>
          <a:lstStyle>
            <a:lvl1pPr>
              <a:defRPr>
                <a:solidFill>
                  <a:schemeClr val="bg2"/>
                </a:solidFill>
                <a:latin typeface="+mn-lt"/>
              </a:defRPr>
            </a:lvl1pPr>
          </a:lstStyle>
          <a:p>
            <a:fld id="{6CCA5716-0634-4856-A663-DB15ABEAE0FC}" type="slidenum">
              <a:rPr lang="en-US" altLang="zh-CN"/>
              <a:pPr/>
              <a:t>‹#›</a:t>
            </a:fld>
            <a:endParaRPr lang="en-US" altLang="zh-CN"/>
          </a:p>
        </p:txBody>
      </p:sp>
      <p:graphicFrame>
        <p:nvGraphicFramePr>
          <p:cNvPr id="5127" name="Object 7"/>
          <p:cNvGraphicFramePr>
            <a:graphicFrameLocks/>
          </p:cNvGraphicFramePr>
          <p:nvPr/>
        </p:nvGraphicFramePr>
        <p:xfrm>
          <a:off x="533400" y="3124200"/>
          <a:ext cx="8305800" cy="76200"/>
        </p:xfrm>
        <a:graphic>
          <a:graphicData uri="http://schemas.openxmlformats.org/presentationml/2006/ole">
            <mc:AlternateContent xmlns:mc="http://schemas.openxmlformats.org/markup-compatibility/2006">
              <mc:Choice xmlns:v="urn:schemas-microsoft-com:vml" Requires="v">
                <p:oleObj name="Clip" r:id="rId2" imgW="6857143" imgH="48963" progId="">
                  <p:embed/>
                </p:oleObj>
              </mc:Choice>
              <mc:Fallback>
                <p:oleObj name="Clip" r:id="rId2" imgW="6857143" imgH="48963" progId="">
                  <p:embed/>
                  <p:pic>
                    <p:nvPicPr>
                      <p:cNvPr id="0" name="Picture 37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124200"/>
                        <a:ext cx="8305800" cy="7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C2D9DB5E-A2C0-43EB-BD04-B81F6AD21874}" type="datetime1">
              <a:rPr lang="zh-CN" altLang="en-US" smtClean="0"/>
              <a:t>2025/12/24</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《数据库系统概论》- 第11章</a:t>
            </a:r>
          </a:p>
        </p:txBody>
      </p:sp>
      <p:sp>
        <p:nvSpPr>
          <p:cNvPr id="6" name="灯片编号占位符 5"/>
          <p:cNvSpPr>
            <a:spLocks noGrp="1"/>
          </p:cNvSpPr>
          <p:nvPr>
            <p:ph type="sldNum" sz="quarter" idx="12"/>
          </p:nvPr>
        </p:nvSpPr>
        <p:spPr/>
        <p:txBody>
          <a:bodyPr/>
          <a:lstStyle>
            <a:lvl1pPr>
              <a:defRPr/>
            </a:lvl1pPr>
          </a:lstStyle>
          <a:p>
            <a:fld id="{6CD0990F-CFD2-4E3E-9B0E-DA23AF729A97}"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22952620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3DA7E171-3838-41BC-9AA0-0452BA2C2F8B}" type="datetime1">
              <a:rPr lang="zh-CN" altLang="en-US" smtClean="0"/>
              <a:t>2025/12/24</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《数据库系统概论》- 第11章</a:t>
            </a:r>
          </a:p>
        </p:txBody>
      </p:sp>
      <p:sp>
        <p:nvSpPr>
          <p:cNvPr id="6" name="灯片编号占位符 5"/>
          <p:cNvSpPr>
            <a:spLocks noGrp="1"/>
          </p:cNvSpPr>
          <p:nvPr>
            <p:ph type="sldNum" sz="quarter" idx="12"/>
          </p:nvPr>
        </p:nvSpPr>
        <p:spPr/>
        <p:txBody>
          <a:bodyPr/>
          <a:lstStyle>
            <a:lvl1pPr>
              <a:defRPr/>
            </a:lvl1pPr>
          </a:lstStyle>
          <a:p>
            <a:fld id="{0A3DB52B-4C4C-4864-83C4-843F69F63C3F}"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392169243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447800"/>
            <a:ext cx="4095750"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57750" y="1447800"/>
            <a:ext cx="4097338"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38AF5EC8-1350-47AF-A382-BAC7A6AF9C48}" type="datetime1">
              <a:rPr lang="zh-CN" altLang="en-US" smtClean="0"/>
              <a:t>2025/12/24</a:t>
            </a:fld>
            <a:endParaRPr lang="en-US" altLang="zh-CN"/>
          </a:p>
        </p:txBody>
      </p:sp>
      <p:sp>
        <p:nvSpPr>
          <p:cNvPr id="6" name="页脚占位符 5"/>
          <p:cNvSpPr>
            <a:spLocks noGrp="1"/>
          </p:cNvSpPr>
          <p:nvPr>
            <p:ph type="ftr" sz="quarter" idx="11"/>
          </p:nvPr>
        </p:nvSpPr>
        <p:spPr/>
        <p:txBody>
          <a:bodyPr/>
          <a:lstStyle>
            <a:lvl1pPr>
              <a:defRPr/>
            </a:lvl1pPr>
          </a:lstStyle>
          <a:p>
            <a:r>
              <a:rPr lang="en-US" altLang="zh-CN"/>
              <a:t>《数据库系统概论》- 第11章</a:t>
            </a:r>
          </a:p>
        </p:txBody>
      </p:sp>
      <p:sp>
        <p:nvSpPr>
          <p:cNvPr id="7" name="灯片编号占位符 6"/>
          <p:cNvSpPr>
            <a:spLocks noGrp="1"/>
          </p:cNvSpPr>
          <p:nvPr>
            <p:ph type="sldNum" sz="quarter" idx="12"/>
          </p:nvPr>
        </p:nvSpPr>
        <p:spPr/>
        <p:txBody>
          <a:bodyPr/>
          <a:lstStyle>
            <a:lvl1pPr>
              <a:defRPr/>
            </a:lvl1pPr>
          </a:lstStyle>
          <a:p>
            <a:fld id="{3E2BDAF8-5F80-44E9-815F-3A25DDBB3C40}"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160106484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93B9A4D9-C237-4F63-B4AF-9C36CADF898F}" type="datetime1">
              <a:rPr lang="zh-CN" altLang="en-US" smtClean="0"/>
              <a:t>2025/12/24</a:t>
            </a:fld>
            <a:endParaRPr lang="en-US" altLang="zh-CN"/>
          </a:p>
        </p:txBody>
      </p:sp>
      <p:sp>
        <p:nvSpPr>
          <p:cNvPr id="8" name="页脚占位符 7"/>
          <p:cNvSpPr>
            <a:spLocks noGrp="1"/>
          </p:cNvSpPr>
          <p:nvPr>
            <p:ph type="ftr" sz="quarter" idx="11"/>
          </p:nvPr>
        </p:nvSpPr>
        <p:spPr/>
        <p:txBody>
          <a:bodyPr/>
          <a:lstStyle>
            <a:lvl1pPr>
              <a:defRPr/>
            </a:lvl1pPr>
          </a:lstStyle>
          <a:p>
            <a:r>
              <a:rPr lang="en-US" altLang="zh-CN"/>
              <a:t>《数据库系统概论》- 第11章</a:t>
            </a:r>
          </a:p>
        </p:txBody>
      </p:sp>
      <p:sp>
        <p:nvSpPr>
          <p:cNvPr id="9" name="灯片编号占位符 8"/>
          <p:cNvSpPr>
            <a:spLocks noGrp="1"/>
          </p:cNvSpPr>
          <p:nvPr>
            <p:ph type="sldNum" sz="quarter" idx="12"/>
          </p:nvPr>
        </p:nvSpPr>
        <p:spPr/>
        <p:txBody>
          <a:bodyPr/>
          <a:lstStyle>
            <a:lvl1pPr>
              <a:defRPr/>
            </a:lvl1pPr>
          </a:lstStyle>
          <a:p>
            <a:fld id="{2F0C4D13-A272-4082-8BFF-C1FF983503F1}"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118855073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09486C03-2264-4F6E-A2FD-BE3C233F0A10}" type="datetime1">
              <a:rPr lang="zh-CN" altLang="en-US" smtClean="0"/>
              <a:t>2025/12/24</a:t>
            </a:fld>
            <a:endParaRPr lang="en-US" altLang="zh-CN"/>
          </a:p>
        </p:txBody>
      </p:sp>
      <p:sp>
        <p:nvSpPr>
          <p:cNvPr id="4" name="页脚占位符 3"/>
          <p:cNvSpPr>
            <a:spLocks noGrp="1"/>
          </p:cNvSpPr>
          <p:nvPr>
            <p:ph type="ftr" sz="quarter" idx="11"/>
          </p:nvPr>
        </p:nvSpPr>
        <p:spPr/>
        <p:txBody>
          <a:bodyPr/>
          <a:lstStyle>
            <a:lvl1pPr>
              <a:defRPr/>
            </a:lvl1pPr>
          </a:lstStyle>
          <a:p>
            <a:r>
              <a:rPr lang="en-US" altLang="zh-CN"/>
              <a:t>《数据库系统概论》- 第11章</a:t>
            </a:r>
          </a:p>
        </p:txBody>
      </p:sp>
      <p:sp>
        <p:nvSpPr>
          <p:cNvPr id="5" name="灯片编号占位符 4"/>
          <p:cNvSpPr>
            <a:spLocks noGrp="1"/>
          </p:cNvSpPr>
          <p:nvPr>
            <p:ph type="sldNum" sz="quarter" idx="12"/>
          </p:nvPr>
        </p:nvSpPr>
        <p:spPr/>
        <p:txBody>
          <a:bodyPr/>
          <a:lstStyle>
            <a:lvl1pPr>
              <a:defRPr/>
            </a:lvl1pPr>
          </a:lstStyle>
          <a:p>
            <a:fld id="{AB1F7240-85F2-492B-84D8-762EF0110923}"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43375313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FF3AD58B-1126-443C-BEF1-7DAEF852F529}" type="datetime1">
              <a:rPr lang="zh-CN" altLang="en-US" smtClean="0"/>
              <a:t>2025/12/24</a:t>
            </a:fld>
            <a:endParaRPr lang="en-US" altLang="zh-CN"/>
          </a:p>
        </p:txBody>
      </p:sp>
      <p:sp>
        <p:nvSpPr>
          <p:cNvPr id="3" name="页脚占位符 2"/>
          <p:cNvSpPr>
            <a:spLocks noGrp="1"/>
          </p:cNvSpPr>
          <p:nvPr>
            <p:ph type="ftr" sz="quarter" idx="11"/>
          </p:nvPr>
        </p:nvSpPr>
        <p:spPr/>
        <p:txBody>
          <a:bodyPr/>
          <a:lstStyle>
            <a:lvl1pPr>
              <a:defRPr/>
            </a:lvl1pPr>
          </a:lstStyle>
          <a:p>
            <a:r>
              <a:rPr lang="en-US" altLang="zh-CN"/>
              <a:t>《数据库系统概论》- 第11章</a:t>
            </a:r>
          </a:p>
        </p:txBody>
      </p:sp>
      <p:sp>
        <p:nvSpPr>
          <p:cNvPr id="4" name="灯片编号占位符 3"/>
          <p:cNvSpPr>
            <a:spLocks noGrp="1"/>
          </p:cNvSpPr>
          <p:nvPr>
            <p:ph type="sldNum" sz="quarter" idx="12"/>
          </p:nvPr>
        </p:nvSpPr>
        <p:spPr/>
        <p:txBody>
          <a:bodyPr/>
          <a:lstStyle>
            <a:lvl1pPr>
              <a:defRPr/>
            </a:lvl1pPr>
          </a:lstStyle>
          <a:p>
            <a:fld id="{84859D91-B044-4432-8F53-1DDA64472C48}"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75333977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70CAB732-E3AA-4918-80DB-BFEF285A55A7}" type="datetime1">
              <a:rPr lang="zh-CN" altLang="en-US" smtClean="0"/>
              <a:t>2025/12/24</a:t>
            </a:fld>
            <a:endParaRPr lang="en-US" altLang="zh-CN"/>
          </a:p>
        </p:txBody>
      </p:sp>
      <p:sp>
        <p:nvSpPr>
          <p:cNvPr id="6" name="页脚占位符 5"/>
          <p:cNvSpPr>
            <a:spLocks noGrp="1"/>
          </p:cNvSpPr>
          <p:nvPr>
            <p:ph type="ftr" sz="quarter" idx="11"/>
          </p:nvPr>
        </p:nvSpPr>
        <p:spPr/>
        <p:txBody>
          <a:bodyPr/>
          <a:lstStyle>
            <a:lvl1pPr>
              <a:defRPr/>
            </a:lvl1pPr>
          </a:lstStyle>
          <a:p>
            <a:r>
              <a:rPr lang="en-US" altLang="zh-CN"/>
              <a:t>《数据库系统概论》- 第11章</a:t>
            </a:r>
          </a:p>
        </p:txBody>
      </p:sp>
      <p:sp>
        <p:nvSpPr>
          <p:cNvPr id="7" name="灯片编号占位符 6"/>
          <p:cNvSpPr>
            <a:spLocks noGrp="1"/>
          </p:cNvSpPr>
          <p:nvPr>
            <p:ph type="sldNum" sz="quarter" idx="12"/>
          </p:nvPr>
        </p:nvSpPr>
        <p:spPr/>
        <p:txBody>
          <a:bodyPr/>
          <a:lstStyle>
            <a:lvl1pPr>
              <a:defRPr/>
            </a:lvl1pPr>
          </a:lstStyle>
          <a:p>
            <a:fld id="{D19CA51D-8C6A-419F-B00E-05C2D3B64491}"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273020498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6F894E9F-B1BB-4902-9B43-5AA67226C97E}" type="datetime1">
              <a:rPr lang="zh-CN" altLang="en-US" smtClean="0"/>
              <a:t>2025/12/24</a:t>
            </a:fld>
            <a:endParaRPr lang="en-US" altLang="zh-CN"/>
          </a:p>
        </p:txBody>
      </p:sp>
      <p:sp>
        <p:nvSpPr>
          <p:cNvPr id="6" name="页脚占位符 5"/>
          <p:cNvSpPr>
            <a:spLocks noGrp="1"/>
          </p:cNvSpPr>
          <p:nvPr>
            <p:ph type="ftr" sz="quarter" idx="11"/>
          </p:nvPr>
        </p:nvSpPr>
        <p:spPr/>
        <p:txBody>
          <a:bodyPr/>
          <a:lstStyle>
            <a:lvl1pPr>
              <a:defRPr/>
            </a:lvl1pPr>
          </a:lstStyle>
          <a:p>
            <a:r>
              <a:rPr lang="en-US" altLang="zh-CN"/>
              <a:t>《数据库系统概论》- 第11章</a:t>
            </a:r>
          </a:p>
        </p:txBody>
      </p:sp>
      <p:sp>
        <p:nvSpPr>
          <p:cNvPr id="7" name="灯片编号占位符 6"/>
          <p:cNvSpPr>
            <a:spLocks noGrp="1"/>
          </p:cNvSpPr>
          <p:nvPr>
            <p:ph type="sldNum" sz="quarter" idx="12"/>
          </p:nvPr>
        </p:nvSpPr>
        <p:spPr/>
        <p:txBody>
          <a:bodyPr/>
          <a:lstStyle>
            <a:lvl1pPr>
              <a:defRPr/>
            </a:lvl1pPr>
          </a:lstStyle>
          <a:p>
            <a:fld id="{C91B0A37-5329-4F0D-9A6B-8FD5A3925C3F}"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245847109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4695BCB7-639F-4A0E-8AFE-04E51534C2A7}" type="datetime1">
              <a:rPr lang="zh-CN" altLang="en-US" smtClean="0"/>
              <a:t>2025/12/24</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《数据库系统概论》- 第11章</a:t>
            </a:r>
          </a:p>
        </p:txBody>
      </p:sp>
      <p:sp>
        <p:nvSpPr>
          <p:cNvPr id="6" name="灯片编号占位符 5"/>
          <p:cNvSpPr>
            <a:spLocks noGrp="1"/>
          </p:cNvSpPr>
          <p:nvPr>
            <p:ph type="sldNum" sz="quarter" idx="12"/>
          </p:nvPr>
        </p:nvSpPr>
        <p:spPr/>
        <p:txBody>
          <a:bodyPr/>
          <a:lstStyle>
            <a:lvl1pPr>
              <a:defRPr/>
            </a:lvl1pPr>
          </a:lstStyle>
          <a:p>
            <a:fld id="{F2E13C38-AAC3-4CC8-9784-F01F6774813F}"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113907591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9113" y="381000"/>
            <a:ext cx="2085975" cy="57515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381000"/>
            <a:ext cx="6107113" cy="57515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6F7ABA2A-D594-46FD-B52A-8E2B9BAB6222}" type="datetime1">
              <a:rPr lang="zh-CN" altLang="en-US" smtClean="0"/>
              <a:t>2025/12/24</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《数据库系统概论》- 第11章</a:t>
            </a:r>
          </a:p>
        </p:txBody>
      </p:sp>
      <p:sp>
        <p:nvSpPr>
          <p:cNvPr id="6" name="灯片编号占位符 5"/>
          <p:cNvSpPr>
            <a:spLocks noGrp="1"/>
          </p:cNvSpPr>
          <p:nvPr>
            <p:ph type="sldNum" sz="quarter" idx="12"/>
          </p:nvPr>
        </p:nvSpPr>
        <p:spPr/>
        <p:txBody>
          <a:bodyPr/>
          <a:lstStyle>
            <a:lvl1pPr>
              <a:defRPr/>
            </a:lvl1pPr>
          </a:lstStyle>
          <a:p>
            <a:fld id="{2B01F180-A04A-4377-9274-058006FA6599}"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175697484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81000"/>
            <a:ext cx="8105775" cy="762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447800"/>
            <a:ext cx="4095750" cy="46847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57750" y="1447800"/>
            <a:ext cx="4097338" cy="46847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00" y="6248400"/>
            <a:ext cx="1905000" cy="457200"/>
          </a:xfrm>
        </p:spPr>
        <p:txBody>
          <a:bodyPr/>
          <a:lstStyle>
            <a:lvl1pPr>
              <a:defRPr/>
            </a:lvl1pPr>
          </a:lstStyle>
          <a:p>
            <a:fld id="{99CF7078-D194-43F4-A258-5922E67F8E24}" type="datetime1">
              <a:rPr lang="zh-CN" altLang="en-US" smtClean="0"/>
              <a:t>2025/12/24</a:t>
            </a:fld>
            <a:endParaRPr lang="en-US" altLang="zh-CN"/>
          </a:p>
        </p:txBody>
      </p:sp>
      <p:sp>
        <p:nvSpPr>
          <p:cNvPr id="6" name="页脚占位符 5"/>
          <p:cNvSpPr>
            <a:spLocks noGrp="1"/>
          </p:cNvSpPr>
          <p:nvPr>
            <p:ph type="ftr" sz="quarter" idx="11"/>
          </p:nvPr>
        </p:nvSpPr>
        <p:spPr>
          <a:xfrm>
            <a:off x="3276600" y="6243638"/>
            <a:ext cx="2895600" cy="457200"/>
          </a:xfrm>
        </p:spPr>
        <p:txBody>
          <a:bodyPr/>
          <a:lstStyle>
            <a:lvl1pPr>
              <a:defRPr/>
            </a:lvl1pPr>
          </a:lstStyle>
          <a:p>
            <a:r>
              <a:rPr lang="en-US" altLang="zh-CN"/>
              <a:t>《数据库系统概论》- 第11章</a:t>
            </a:r>
          </a:p>
        </p:txBody>
      </p:sp>
      <p:sp>
        <p:nvSpPr>
          <p:cNvPr id="7" name="灯片编号占位符 6"/>
          <p:cNvSpPr>
            <a:spLocks noGrp="1"/>
          </p:cNvSpPr>
          <p:nvPr>
            <p:ph type="sldNum" sz="quarter" idx="12"/>
          </p:nvPr>
        </p:nvSpPr>
        <p:spPr>
          <a:xfrm>
            <a:off x="7042150" y="6243638"/>
            <a:ext cx="1905000" cy="457200"/>
          </a:xfrm>
        </p:spPr>
        <p:txBody>
          <a:bodyPr/>
          <a:lstStyle>
            <a:lvl1pPr>
              <a:defRPr/>
            </a:lvl1pPr>
          </a:lstStyle>
          <a:p>
            <a:fld id="{CD1009FC-6422-4D11-A8C2-1D81ACC82383}"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329962298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381000"/>
            <a:ext cx="8105775" cy="762000"/>
          </a:xfrm>
        </p:spPr>
        <p:txBody>
          <a:bodyPr/>
          <a:lstStyle/>
          <a:p>
            <a:r>
              <a:rPr lang="zh-CN" altLang="en-US"/>
              <a:t>单击此处编辑母版标题样式</a:t>
            </a:r>
          </a:p>
        </p:txBody>
      </p:sp>
      <p:sp>
        <p:nvSpPr>
          <p:cNvPr id="3" name="表格占位符 2"/>
          <p:cNvSpPr>
            <a:spLocks noGrp="1"/>
          </p:cNvSpPr>
          <p:nvPr>
            <p:ph type="tbl" idx="1"/>
          </p:nvPr>
        </p:nvSpPr>
        <p:spPr>
          <a:xfrm>
            <a:off x="609600" y="1447800"/>
            <a:ext cx="8345488" cy="4684713"/>
          </a:xfrm>
        </p:spPr>
        <p:txBody>
          <a:bodyPr/>
          <a:lstStyle/>
          <a:p>
            <a:endParaRPr lang="zh-CN" altLang="en-US"/>
          </a:p>
        </p:txBody>
      </p:sp>
      <p:sp>
        <p:nvSpPr>
          <p:cNvPr id="4" name="日期占位符 3"/>
          <p:cNvSpPr>
            <a:spLocks noGrp="1"/>
          </p:cNvSpPr>
          <p:nvPr>
            <p:ph type="dt" sz="half" idx="10"/>
          </p:nvPr>
        </p:nvSpPr>
        <p:spPr>
          <a:xfrm>
            <a:off x="609600" y="6248400"/>
            <a:ext cx="1905000" cy="457200"/>
          </a:xfrm>
        </p:spPr>
        <p:txBody>
          <a:bodyPr/>
          <a:lstStyle>
            <a:lvl1pPr>
              <a:defRPr/>
            </a:lvl1pPr>
          </a:lstStyle>
          <a:p>
            <a:fld id="{726907B0-3E3C-4FC0-9DA1-8E0F48619C45}" type="datetime1">
              <a:rPr lang="zh-CN" altLang="en-US" smtClean="0"/>
              <a:t>2025/12/24</a:t>
            </a:fld>
            <a:endParaRPr lang="en-US" altLang="zh-CN"/>
          </a:p>
        </p:txBody>
      </p:sp>
      <p:sp>
        <p:nvSpPr>
          <p:cNvPr id="5" name="页脚占位符 4"/>
          <p:cNvSpPr>
            <a:spLocks noGrp="1"/>
          </p:cNvSpPr>
          <p:nvPr>
            <p:ph type="ftr" sz="quarter" idx="11"/>
          </p:nvPr>
        </p:nvSpPr>
        <p:spPr>
          <a:xfrm>
            <a:off x="3276600" y="6243638"/>
            <a:ext cx="2895600" cy="457200"/>
          </a:xfrm>
        </p:spPr>
        <p:txBody>
          <a:bodyPr/>
          <a:lstStyle>
            <a:lvl1pPr>
              <a:defRPr/>
            </a:lvl1pPr>
          </a:lstStyle>
          <a:p>
            <a:r>
              <a:rPr lang="en-US" altLang="zh-CN"/>
              <a:t>《数据库系统概论》- 第11章</a:t>
            </a:r>
          </a:p>
        </p:txBody>
      </p:sp>
      <p:sp>
        <p:nvSpPr>
          <p:cNvPr id="6" name="灯片编号占位符 5"/>
          <p:cNvSpPr>
            <a:spLocks noGrp="1"/>
          </p:cNvSpPr>
          <p:nvPr>
            <p:ph type="sldNum" sz="quarter" idx="12"/>
          </p:nvPr>
        </p:nvSpPr>
        <p:spPr>
          <a:xfrm>
            <a:off x="7042150" y="6243638"/>
            <a:ext cx="1905000" cy="457200"/>
          </a:xfrm>
        </p:spPr>
        <p:txBody>
          <a:bodyPr/>
          <a:lstStyle>
            <a:lvl1pPr>
              <a:defRPr/>
            </a:lvl1pPr>
          </a:lstStyle>
          <a:p>
            <a:fld id="{0ACCFFB1-3FCD-42E5-A049-B784F9225D84}" type="slidenum">
              <a:rPr lang="en-US" altLang="zh-CN" smtClean="0"/>
              <a:pPr/>
              <a:t>‹#›</a:t>
            </a:fld>
            <a:r>
              <a:rPr lang="en-US" altLang="zh-CN" dirty="0"/>
              <a:t>/67</a:t>
            </a:r>
            <a:endParaRPr lang="zh-CN" altLang="en-US" dirty="0"/>
          </a:p>
        </p:txBody>
      </p:sp>
    </p:spTree>
    <p:extLst>
      <p:ext uri="{BB962C8B-B14F-4D97-AF65-F5344CB8AC3E}">
        <p14:creationId xmlns:p14="http://schemas.microsoft.com/office/powerpoint/2010/main" val="330754758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838200" y="381000"/>
            <a:ext cx="81057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4099" name="Rectangle 3"/>
          <p:cNvSpPr>
            <a:spLocks noGrp="1" noChangeArrowheads="1"/>
          </p:cNvSpPr>
          <p:nvPr>
            <p:ph type="body" idx="1"/>
          </p:nvPr>
        </p:nvSpPr>
        <p:spPr bwMode="auto">
          <a:xfrm>
            <a:off x="609600" y="1447800"/>
            <a:ext cx="8345488" cy="468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0" name="Rectangle 4"/>
          <p:cNvSpPr>
            <a:spLocks noGrp="1" noChangeArrowheads="1"/>
          </p:cNvSpPr>
          <p:nvPr>
            <p:ph type="dt" sz="half" idx="2"/>
          </p:nvPr>
        </p:nvSpPr>
        <p:spPr bwMode="auto">
          <a:xfrm>
            <a:off x="6096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400"/>
            </a:lvl1pPr>
          </a:lstStyle>
          <a:p>
            <a:fld id="{BFDF6D26-696A-4219-B63C-E66E79A7D61C}" type="datetime1">
              <a:rPr lang="zh-CN" altLang="en-US" smtClean="0"/>
              <a:t>2025/12/24</a:t>
            </a:fld>
            <a:endParaRPr lang="en-US" altLang="zh-CN"/>
          </a:p>
        </p:txBody>
      </p:sp>
      <p:sp>
        <p:nvSpPr>
          <p:cNvPr id="4101" name="Rectangle 5"/>
          <p:cNvSpPr>
            <a:spLocks noGrp="1" noChangeArrowheads="1"/>
          </p:cNvSpPr>
          <p:nvPr>
            <p:ph type="ftr" sz="quarter" idx="3"/>
          </p:nvPr>
        </p:nvSpPr>
        <p:spPr bwMode="auto">
          <a:xfrm>
            <a:off x="3276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lnSpc>
                <a:spcPct val="100000"/>
              </a:lnSpc>
              <a:spcBef>
                <a:spcPct val="0"/>
              </a:spcBef>
              <a:buClrTx/>
              <a:buSzTx/>
              <a:buFontTx/>
              <a:buNone/>
              <a:defRPr sz="1400"/>
            </a:lvl1pPr>
          </a:lstStyle>
          <a:p>
            <a:r>
              <a:rPr lang="en-US" altLang="zh-CN"/>
              <a:t>《数据库系统概论》- 第11章</a:t>
            </a:r>
          </a:p>
        </p:txBody>
      </p:sp>
      <p:sp>
        <p:nvSpPr>
          <p:cNvPr id="4102" name="Rectangle 6"/>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400">
                <a:latin typeface="Times New Roman" pitchFamily="18" charset="0"/>
              </a:defRPr>
            </a:lvl1pPr>
          </a:lstStyle>
          <a:p>
            <a:fld id="{64C5EB26-65E6-4233-BE49-41792A7FCCDB}" type="slidenum">
              <a:rPr lang="en-US" altLang="zh-CN" smtClean="0"/>
              <a:pPr/>
              <a:t>‹#›</a:t>
            </a:fld>
            <a:r>
              <a:rPr lang="en-US" altLang="zh-CN" dirty="0"/>
              <a:t>/76</a:t>
            </a:r>
            <a:endParaRPr lang="zh-CN" altLang="en-US" dirty="0"/>
          </a:p>
        </p:txBody>
      </p:sp>
      <p:pic>
        <p:nvPicPr>
          <p:cNvPr id="4103" name="Picture 7" descr="redBa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8200" y="1219200"/>
            <a:ext cx="7924800" cy="15557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ransition>
    <p:fade/>
  </p:transition>
  <p:hf hdr="0"/>
  <p:txStyles>
    <p:titleStyle>
      <a:lvl1pPr algn="l" rtl="0" fontAlgn="base">
        <a:spcBef>
          <a:spcPct val="0"/>
        </a:spcBef>
        <a:spcAft>
          <a:spcPct val="0"/>
        </a:spcAft>
        <a:defRPr sz="3200">
          <a:solidFill>
            <a:schemeClr val="tx2"/>
          </a:solidFill>
          <a:latin typeface="+mj-lt"/>
          <a:ea typeface="+mj-ea"/>
          <a:cs typeface="+mj-cs"/>
        </a:defRPr>
      </a:lvl1pPr>
      <a:lvl2pPr algn="l" rtl="0" fontAlgn="base">
        <a:spcBef>
          <a:spcPct val="0"/>
        </a:spcBef>
        <a:spcAft>
          <a:spcPct val="0"/>
        </a:spcAft>
        <a:defRPr sz="3200">
          <a:solidFill>
            <a:schemeClr val="tx2"/>
          </a:solidFill>
          <a:latin typeface="Tahoma" pitchFamily="34" charset="0"/>
          <a:ea typeface="宋体" pitchFamily="2" charset="-122"/>
        </a:defRPr>
      </a:lvl2pPr>
      <a:lvl3pPr algn="l" rtl="0" fontAlgn="base">
        <a:spcBef>
          <a:spcPct val="0"/>
        </a:spcBef>
        <a:spcAft>
          <a:spcPct val="0"/>
        </a:spcAft>
        <a:defRPr sz="3200">
          <a:solidFill>
            <a:schemeClr val="tx2"/>
          </a:solidFill>
          <a:latin typeface="Tahoma" pitchFamily="34" charset="0"/>
          <a:ea typeface="宋体" pitchFamily="2" charset="-122"/>
        </a:defRPr>
      </a:lvl3pPr>
      <a:lvl4pPr algn="l" rtl="0" fontAlgn="base">
        <a:spcBef>
          <a:spcPct val="0"/>
        </a:spcBef>
        <a:spcAft>
          <a:spcPct val="0"/>
        </a:spcAft>
        <a:defRPr sz="3200">
          <a:solidFill>
            <a:schemeClr val="tx2"/>
          </a:solidFill>
          <a:latin typeface="Tahoma" pitchFamily="34" charset="0"/>
          <a:ea typeface="宋体" pitchFamily="2" charset="-122"/>
        </a:defRPr>
      </a:lvl4pPr>
      <a:lvl5pPr algn="l" rtl="0" fontAlgn="base">
        <a:spcBef>
          <a:spcPct val="0"/>
        </a:spcBef>
        <a:spcAft>
          <a:spcPct val="0"/>
        </a:spcAft>
        <a:defRPr sz="3200">
          <a:solidFill>
            <a:schemeClr val="tx2"/>
          </a:solidFill>
          <a:latin typeface="Tahoma" pitchFamily="34" charset="0"/>
          <a:ea typeface="宋体" pitchFamily="2" charset="-122"/>
        </a:defRPr>
      </a:lvl5pPr>
      <a:lvl6pPr marL="457200" algn="l" rtl="0" fontAlgn="base">
        <a:spcBef>
          <a:spcPct val="0"/>
        </a:spcBef>
        <a:spcAft>
          <a:spcPct val="0"/>
        </a:spcAft>
        <a:defRPr sz="3200">
          <a:solidFill>
            <a:schemeClr val="tx2"/>
          </a:solidFill>
          <a:latin typeface="Tahoma" pitchFamily="34" charset="0"/>
          <a:ea typeface="宋体" pitchFamily="2" charset="-122"/>
        </a:defRPr>
      </a:lvl6pPr>
      <a:lvl7pPr marL="914400" algn="l" rtl="0" fontAlgn="base">
        <a:spcBef>
          <a:spcPct val="0"/>
        </a:spcBef>
        <a:spcAft>
          <a:spcPct val="0"/>
        </a:spcAft>
        <a:defRPr sz="3200">
          <a:solidFill>
            <a:schemeClr val="tx2"/>
          </a:solidFill>
          <a:latin typeface="Tahoma" pitchFamily="34" charset="0"/>
          <a:ea typeface="宋体" pitchFamily="2" charset="-122"/>
        </a:defRPr>
      </a:lvl7pPr>
      <a:lvl8pPr marL="1371600" algn="l" rtl="0" fontAlgn="base">
        <a:spcBef>
          <a:spcPct val="0"/>
        </a:spcBef>
        <a:spcAft>
          <a:spcPct val="0"/>
        </a:spcAft>
        <a:defRPr sz="3200">
          <a:solidFill>
            <a:schemeClr val="tx2"/>
          </a:solidFill>
          <a:latin typeface="Tahoma" pitchFamily="34" charset="0"/>
          <a:ea typeface="宋体" pitchFamily="2" charset="-122"/>
        </a:defRPr>
      </a:lvl8pPr>
      <a:lvl9pPr marL="1828800" algn="l" rtl="0" fontAlgn="base">
        <a:spcBef>
          <a:spcPct val="0"/>
        </a:spcBef>
        <a:spcAft>
          <a:spcPct val="0"/>
        </a:spcAft>
        <a:defRPr sz="3200">
          <a:solidFill>
            <a:schemeClr val="tx2"/>
          </a:solidFill>
          <a:latin typeface="Tahoma" pitchFamily="34" charset="0"/>
          <a:ea typeface="宋体" pitchFamily="2" charset="-122"/>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p:txBody>
          <a:bodyPr/>
          <a:lstStyle/>
          <a:p>
            <a:r>
              <a:rPr lang="zh-CN" altLang="en-US" sz="4000">
                <a:latin typeface="Times New Roman" pitchFamily="18" charset="0"/>
              </a:rPr>
              <a:t>数据库系统原理</a:t>
            </a:r>
            <a:br>
              <a:rPr lang="zh-CN" altLang="en-US" sz="4000">
                <a:latin typeface="Times New Roman" pitchFamily="18" charset="0"/>
              </a:rPr>
            </a:br>
            <a:br>
              <a:rPr lang="zh-CN" altLang="en-US" sz="900">
                <a:latin typeface="Times New Roman" pitchFamily="18" charset="0"/>
              </a:rPr>
            </a:br>
            <a:r>
              <a:rPr lang="en-US" altLang="zh-CN" sz="2800">
                <a:latin typeface="Times New Roman" pitchFamily="18" charset="0"/>
              </a:rPr>
              <a:t>Database System Principles</a:t>
            </a:r>
          </a:p>
        </p:txBody>
      </p:sp>
      <p:sp>
        <p:nvSpPr>
          <p:cNvPr id="8195" name="Rectangle 3"/>
          <p:cNvSpPr>
            <a:spLocks noGrp="1" noChangeArrowheads="1"/>
          </p:cNvSpPr>
          <p:nvPr>
            <p:ph type="subTitle" idx="1"/>
          </p:nvPr>
        </p:nvSpPr>
        <p:spPr>
          <a:xfrm>
            <a:off x="1371600" y="3657600"/>
            <a:ext cx="6400800" cy="2438400"/>
          </a:xfrm>
        </p:spPr>
        <p:txBody>
          <a:bodyPr/>
          <a:lstStyle/>
          <a:p>
            <a:pPr>
              <a:lnSpc>
                <a:spcPct val="90000"/>
              </a:lnSpc>
            </a:pPr>
            <a:r>
              <a:rPr lang="zh-CN" altLang="en-US" sz="2400" dirty="0">
                <a:latin typeface="楷体_GB2312" pitchFamily="49" charset="-122"/>
                <a:ea typeface="楷体_GB2312" pitchFamily="49" charset="-122"/>
              </a:rPr>
              <a:t>四川大学计算机学院</a:t>
            </a:r>
          </a:p>
          <a:p>
            <a:pPr>
              <a:lnSpc>
                <a:spcPct val="90000"/>
              </a:lnSpc>
            </a:pPr>
            <a:endParaRPr lang="zh-CN" altLang="en-US" sz="2400" dirty="0">
              <a:latin typeface="楷体_GB2312" pitchFamily="49" charset="-122"/>
              <a:ea typeface="楷体_GB2312" pitchFamily="49" charset="-122"/>
            </a:endParaRPr>
          </a:p>
          <a:p>
            <a:pPr>
              <a:lnSpc>
                <a:spcPct val="90000"/>
              </a:lnSpc>
            </a:pPr>
            <a:r>
              <a:rPr lang="zh-CN" altLang="en-US" sz="2400" dirty="0">
                <a:latin typeface="楷体_GB2312" pitchFamily="49" charset="-122"/>
                <a:ea typeface="楷体_GB2312" pitchFamily="49" charset="-122"/>
              </a:rPr>
              <a:t>郭际香</a:t>
            </a:r>
          </a:p>
          <a:p>
            <a:pPr>
              <a:lnSpc>
                <a:spcPct val="90000"/>
              </a:lnSpc>
            </a:pPr>
            <a:r>
              <a:rPr lang="en-US" altLang="zh-CN" sz="2400" dirty="0">
                <a:latin typeface="Times New Roman" pitchFamily="18" charset="0"/>
                <a:ea typeface="楷体_GB2312" pitchFamily="49" charset="-122"/>
              </a:rPr>
              <a:t>guojixiang@scu.edu.cn</a:t>
            </a:r>
          </a:p>
          <a:p>
            <a:pPr>
              <a:lnSpc>
                <a:spcPct val="90000"/>
              </a:lnSpc>
            </a:pPr>
            <a:endParaRPr lang="en-US" altLang="zh-CN" sz="2400" dirty="0">
              <a:latin typeface="Times New Roman" pitchFamily="18" charset="0"/>
              <a:ea typeface="楷体_GB2312" pitchFamily="49" charset="-122"/>
            </a:endParaRPr>
          </a:p>
          <a:p>
            <a:pPr>
              <a:lnSpc>
                <a:spcPct val="90000"/>
              </a:lnSpc>
            </a:pPr>
            <a:r>
              <a:rPr lang="en-US" altLang="zh-CN" sz="2400" dirty="0">
                <a:latin typeface="Times New Roman" pitchFamily="18" charset="0"/>
              </a:rPr>
              <a:t>2025.12</a:t>
            </a:r>
          </a:p>
        </p:txBody>
      </p:sp>
    </p:spTree>
    <p:custDataLst>
      <p:tags r:id="rId1"/>
    </p:custData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838200" y="838200"/>
            <a:ext cx="7772400" cy="1462088"/>
          </a:xfrm>
        </p:spPr>
        <p:txBody>
          <a:bodyPr/>
          <a:lstStyle/>
          <a:p>
            <a:r>
              <a:rPr lang="zh-CN" altLang="zh-CN" dirty="0"/>
              <a:t>第</a:t>
            </a:r>
            <a:r>
              <a:rPr lang="en-US" altLang="zh-CN" dirty="0"/>
              <a:t>14</a:t>
            </a:r>
            <a:r>
              <a:rPr lang="zh-CN" altLang="zh-CN" dirty="0"/>
              <a:t>章 </a:t>
            </a:r>
            <a:r>
              <a:rPr lang="zh-CN" altLang="en-US" dirty="0"/>
              <a:t>并发控制与恢复</a:t>
            </a:r>
            <a:r>
              <a:rPr lang="en-US" altLang="zh-CN" b="0" baseline="30000" dirty="0"/>
              <a:t>(</a:t>
            </a:r>
            <a:r>
              <a:rPr lang="zh-CN" altLang="en-US" b="0" baseline="30000" dirty="0"/>
              <a:t>续</a:t>
            </a:r>
            <a:r>
              <a:rPr lang="en-US" altLang="zh-CN" b="0" baseline="30000" dirty="0"/>
              <a:t>)</a:t>
            </a:r>
          </a:p>
        </p:txBody>
      </p:sp>
      <p:sp>
        <p:nvSpPr>
          <p:cNvPr id="9219" name="Rectangle 3"/>
          <p:cNvSpPr>
            <a:spLocks noGrp="1" noChangeArrowheads="1"/>
          </p:cNvSpPr>
          <p:nvPr>
            <p:ph type="subTitle" idx="1"/>
          </p:nvPr>
        </p:nvSpPr>
        <p:spPr>
          <a:xfrm>
            <a:off x="685800" y="3414811"/>
            <a:ext cx="7772400" cy="2952328"/>
          </a:xfrm>
        </p:spPr>
        <p:txBody>
          <a:bodyPr/>
          <a:lstStyle/>
          <a:p>
            <a:pPr algn="l">
              <a:buFont typeface="Wingdings" pitchFamily="2" charset="2"/>
              <a:buChar char="n"/>
            </a:pPr>
            <a:r>
              <a:rPr lang="zh-CN" altLang="en-US" sz="2000" dirty="0"/>
              <a:t>数据库的重要特征是它能</a:t>
            </a:r>
            <a:r>
              <a:rPr lang="zh-CN" altLang="en-US" sz="2000" dirty="0">
                <a:solidFill>
                  <a:schemeClr val="hlink"/>
                </a:solidFill>
              </a:rPr>
              <a:t>为多个用户提供数据共享</a:t>
            </a:r>
            <a:r>
              <a:rPr lang="zh-CN" altLang="en-US" sz="2000" dirty="0"/>
              <a:t>。</a:t>
            </a:r>
            <a:r>
              <a:rPr lang="en-US" altLang="zh-CN" sz="2000" dirty="0"/>
              <a:t>DBMS</a:t>
            </a:r>
            <a:r>
              <a:rPr lang="zh-CN" altLang="en-US" sz="2000" dirty="0"/>
              <a:t>允许共享的用户数目是</a:t>
            </a:r>
            <a:r>
              <a:rPr lang="en-US" altLang="zh-CN" sz="2000" dirty="0"/>
              <a:t>DBMS</a:t>
            </a:r>
            <a:r>
              <a:rPr lang="zh-CN" altLang="en-US" sz="2000" dirty="0"/>
              <a:t>重要标志之一。</a:t>
            </a:r>
            <a:endParaRPr lang="en-US" altLang="zh-CN" sz="2000" dirty="0"/>
          </a:p>
          <a:p>
            <a:pPr algn="l">
              <a:buFont typeface="Wingdings" pitchFamily="2" charset="2"/>
              <a:buChar char="n"/>
            </a:pPr>
            <a:r>
              <a:rPr lang="zh-CN" altLang="en-US" sz="2000" dirty="0"/>
              <a:t>数据库</a:t>
            </a:r>
            <a:r>
              <a:rPr lang="zh-CN" altLang="en-US" sz="2000" b="1" dirty="0">
                <a:solidFill>
                  <a:schemeClr val="tx2"/>
                </a:solidFill>
              </a:rPr>
              <a:t>恢复机制</a:t>
            </a:r>
            <a:r>
              <a:rPr lang="zh-CN" altLang="en-US" sz="2000" dirty="0"/>
              <a:t>和</a:t>
            </a:r>
            <a:r>
              <a:rPr lang="zh-CN" altLang="en-US" sz="2000" b="1" dirty="0">
                <a:solidFill>
                  <a:schemeClr val="tx2"/>
                </a:solidFill>
              </a:rPr>
              <a:t>并发控制机制</a:t>
            </a:r>
            <a:r>
              <a:rPr lang="zh-CN" altLang="en-US" sz="2000" dirty="0"/>
              <a:t>是数据库管理系统的重要组成部分。</a:t>
            </a:r>
          </a:p>
          <a:p>
            <a:pPr algn="l">
              <a:buFont typeface="Wingdings" pitchFamily="2" charset="2"/>
              <a:buChar char="n"/>
            </a:pPr>
            <a:r>
              <a:rPr lang="en-US" altLang="zh-CN" sz="2000" dirty="0"/>
              <a:t>DBMS</a:t>
            </a:r>
            <a:r>
              <a:rPr lang="zh-CN" altLang="en-US" sz="2000" dirty="0"/>
              <a:t>必须提供并发控制机制来协调并发用户的并发操作以保证</a:t>
            </a:r>
            <a:r>
              <a:rPr lang="zh-CN" altLang="en-US" sz="2000" b="1" dirty="0"/>
              <a:t>并发事务</a:t>
            </a:r>
            <a:r>
              <a:rPr lang="zh-CN" altLang="en-US" sz="2000" dirty="0"/>
              <a:t>的</a:t>
            </a:r>
            <a:r>
              <a:rPr lang="zh-CN" altLang="en-US" sz="2000" b="1" dirty="0"/>
              <a:t>隔离性</a:t>
            </a:r>
            <a:r>
              <a:rPr lang="zh-CN" altLang="en-US" sz="2000" dirty="0"/>
              <a:t>和</a:t>
            </a:r>
            <a:r>
              <a:rPr lang="zh-CN" altLang="en-US" sz="2000" b="1" dirty="0"/>
              <a:t>一致性</a:t>
            </a:r>
            <a:r>
              <a:rPr lang="zh-CN" altLang="en-US" sz="2000" dirty="0"/>
              <a:t>，保证</a:t>
            </a:r>
            <a:r>
              <a:rPr lang="zh-CN" altLang="en-US" sz="2000" b="1" dirty="0"/>
              <a:t>数据库的一致性</a:t>
            </a:r>
            <a:r>
              <a:rPr lang="zh-CN" altLang="en-US" sz="2000" dirty="0"/>
              <a:t>。</a:t>
            </a:r>
            <a:endParaRPr lang="en-US" altLang="zh-CN" sz="2000" dirty="0"/>
          </a:p>
          <a:p>
            <a:pPr algn="l">
              <a:buFont typeface="Wingdings" pitchFamily="2" charset="2"/>
              <a:buChar char="n"/>
            </a:pPr>
            <a:r>
              <a:rPr lang="en-US" altLang="zh-CN" sz="2000" dirty="0"/>
              <a:t>DBMS</a:t>
            </a:r>
            <a:r>
              <a:rPr lang="zh-CN" altLang="en-US" sz="2000" dirty="0">
                <a:solidFill>
                  <a:schemeClr val="bg2"/>
                </a:solidFill>
              </a:rPr>
              <a:t>必须提供</a:t>
            </a:r>
            <a:r>
              <a:rPr lang="zh-CN" altLang="en-US" sz="2000" b="1" dirty="0">
                <a:solidFill>
                  <a:srgbClr val="FF0000"/>
                </a:solidFill>
              </a:rPr>
              <a:t>数据库的恢复机制</a:t>
            </a:r>
            <a:r>
              <a:rPr lang="zh-CN" altLang="en-US" sz="2000" dirty="0">
                <a:solidFill>
                  <a:schemeClr val="bg2"/>
                </a:solidFill>
              </a:rPr>
              <a:t>把数据库</a:t>
            </a:r>
            <a:r>
              <a:rPr lang="zh-CN" altLang="en-US" sz="2000" b="1" u="sng" dirty="0">
                <a:solidFill>
                  <a:srgbClr val="FB1807"/>
                </a:solidFill>
              </a:rPr>
              <a:t>从错误状态</a:t>
            </a:r>
            <a:r>
              <a:rPr lang="zh-CN" altLang="en-US" sz="2000" b="1" u="sng" dirty="0">
                <a:solidFill>
                  <a:srgbClr val="0000FF"/>
                </a:solidFill>
              </a:rPr>
              <a:t>恢复到</a:t>
            </a:r>
            <a:r>
              <a:rPr lang="zh-CN" altLang="en-US" sz="2000" b="1" u="sng" dirty="0">
                <a:solidFill>
                  <a:srgbClr val="FB1807"/>
                </a:solidFill>
              </a:rPr>
              <a:t>某一已知的正确状态</a:t>
            </a:r>
            <a:r>
              <a:rPr lang="en-US" altLang="zh-CN" sz="2000" dirty="0"/>
              <a:t>(</a:t>
            </a:r>
            <a:r>
              <a:rPr lang="zh-CN" altLang="en-US" sz="2000" dirty="0"/>
              <a:t>亦称为</a:t>
            </a:r>
            <a:r>
              <a:rPr lang="zh-CN" altLang="en-US" sz="2000" b="1" dirty="0"/>
              <a:t>一致性状态或完整状态</a:t>
            </a:r>
            <a:r>
              <a:rPr lang="en-US" altLang="zh-CN" sz="2000" dirty="0"/>
              <a:t>)</a:t>
            </a:r>
            <a:r>
              <a:rPr lang="zh-CN" altLang="en-US" sz="2000" dirty="0"/>
              <a:t>。</a:t>
            </a:r>
            <a:endParaRPr lang="zh-CN" altLang="en-US" sz="2000" dirty="0">
              <a:latin typeface="Times New Roman" pitchFamily="18" charset="0"/>
            </a:endParaRPr>
          </a:p>
        </p:txBody>
      </p:sp>
    </p:spTree>
    <p:custDataLst>
      <p:tags r:id="rId1"/>
    </p:custData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zh-CN" altLang="en-US"/>
              <a:t>本章目录</a:t>
            </a:r>
          </a:p>
        </p:txBody>
      </p:sp>
      <p:sp>
        <p:nvSpPr>
          <p:cNvPr id="253955" name="Rectangle 3"/>
          <p:cNvSpPr>
            <a:spLocks noGrp="1" noChangeArrowheads="1"/>
          </p:cNvSpPr>
          <p:nvPr>
            <p:ph type="body" idx="1"/>
          </p:nvPr>
        </p:nvSpPr>
        <p:spPr>
          <a:xfrm>
            <a:off x="1371600" y="1639888"/>
            <a:ext cx="7583488" cy="4532312"/>
          </a:xfrm>
        </p:spPr>
        <p:txBody>
          <a:bodyPr/>
          <a:lstStyle/>
          <a:p>
            <a:r>
              <a:rPr lang="en-US" altLang="zh-CN" sz="2800" dirty="0"/>
              <a:t>14.1 </a:t>
            </a:r>
            <a:r>
              <a:rPr lang="zh-CN" altLang="en-US" sz="2800" dirty="0"/>
              <a:t>基于锁的协议</a:t>
            </a:r>
          </a:p>
          <a:p>
            <a:r>
              <a:rPr lang="en-US" altLang="zh-CN" sz="2800" dirty="0"/>
              <a:t>14.2 </a:t>
            </a:r>
            <a:r>
              <a:rPr lang="zh-CN" altLang="en-US" sz="2800" dirty="0"/>
              <a:t>死锁处理</a:t>
            </a:r>
            <a:endParaRPr lang="zh-CN" altLang="en-US" sz="2800" dirty="0">
              <a:solidFill>
                <a:srgbClr val="CC0000"/>
              </a:solidFill>
            </a:endParaRPr>
          </a:p>
          <a:p>
            <a:r>
              <a:rPr lang="en-US" altLang="zh-CN" sz="2800" dirty="0"/>
              <a:t>14.3 </a:t>
            </a:r>
            <a:r>
              <a:rPr lang="zh-CN" altLang="en-US" sz="2800" dirty="0"/>
              <a:t>多粒度</a:t>
            </a:r>
          </a:p>
          <a:p>
            <a:r>
              <a:rPr lang="en-US" altLang="zh-CN" sz="2800" dirty="0"/>
              <a:t>14.4 </a:t>
            </a:r>
            <a:r>
              <a:rPr lang="zh-CN" altLang="en-US" sz="2800" dirty="0"/>
              <a:t>插入操作、删除操作与谓词读</a:t>
            </a:r>
            <a:r>
              <a:rPr lang="en-US" altLang="zh-CN" sz="2800" dirty="0"/>
              <a:t>(</a:t>
            </a:r>
            <a:r>
              <a:rPr lang="zh-CN" altLang="en-US" sz="2800" dirty="0"/>
              <a:t>了解</a:t>
            </a:r>
            <a:r>
              <a:rPr lang="en-US" altLang="zh-CN" sz="2800" dirty="0"/>
              <a:t>)</a:t>
            </a:r>
            <a:endParaRPr lang="zh-CN" altLang="en-US" sz="2800" dirty="0"/>
          </a:p>
          <a:p>
            <a:r>
              <a:rPr lang="en-US" altLang="zh-CN" sz="2800" dirty="0"/>
              <a:t>14.5 </a:t>
            </a:r>
            <a:r>
              <a:rPr lang="zh-CN" altLang="en-US" sz="2800" dirty="0"/>
              <a:t>基于时间戳的协议</a:t>
            </a:r>
            <a:r>
              <a:rPr lang="en-US" altLang="zh-CN" sz="2800" dirty="0"/>
              <a:t>(</a:t>
            </a:r>
            <a:r>
              <a:rPr lang="zh-CN" altLang="en-US" sz="2800" dirty="0"/>
              <a:t>了解</a:t>
            </a:r>
            <a:r>
              <a:rPr lang="en-US" altLang="zh-CN" sz="2800" dirty="0"/>
              <a:t>)</a:t>
            </a:r>
            <a:endParaRPr lang="zh-CN" altLang="en-US" sz="2800" dirty="0"/>
          </a:p>
          <a:p>
            <a:r>
              <a:rPr lang="en-US" altLang="zh-CN" sz="2800" dirty="0"/>
              <a:t>14.6 </a:t>
            </a:r>
            <a:r>
              <a:rPr lang="zh-CN" altLang="en-US" sz="2800" dirty="0"/>
              <a:t>基于有效性检查的协议</a:t>
            </a:r>
            <a:r>
              <a:rPr lang="en-US" altLang="zh-CN" sz="2800" dirty="0"/>
              <a:t>(</a:t>
            </a:r>
            <a:r>
              <a:rPr lang="zh-CN" altLang="en-US" sz="2800" dirty="0"/>
              <a:t>了解</a:t>
            </a:r>
            <a:r>
              <a:rPr lang="en-US" altLang="zh-CN" sz="2800" dirty="0"/>
              <a:t>)</a:t>
            </a:r>
          </a:p>
          <a:p>
            <a:r>
              <a:rPr lang="en-US" altLang="zh-CN" sz="2800" dirty="0"/>
              <a:t>14.7</a:t>
            </a:r>
            <a:r>
              <a:rPr lang="zh-CN" altLang="en-US" sz="2800" dirty="0"/>
              <a:t> 多版本机制</a:t>
            </a:r>
            <a:r>
              <a:rPr lang="en-US" altLang="zh-CN" sz="2800" dirty="0"/>
              <a:t>(</a:t>
            </a:r>
            <a:r>
              <a:rPr lang="zh-CN" altLang="en-US" sz="2800" dirty="0"/>
              <a:t>自学了解</a:t>
            </a:r>
            <a:r>
              <a:rPr lang="en-US" altLang="zh-CN" sz="2800" dirty="0"/>
              <a:t>)</a:t>
            </a:r>
            <a:endParaRPr lang="zh-CN" altLang="en-US" sz="2800" dirty="0"/>
          </a:p>
          <a:p>
            <a:r>
              <a:rPr lang="en-US" altLang="zh-CN" sz="2800" dirty="0"/>
              <a:t>14.8 </a:t>
            </a:r>
            <a:r>
              <a:rPr lang="zh-CN" altLang="en-US" sz="2800" dirty="0"/>
              <a:t>故障分类</a:t>
            </a:r>
            <a:endParaRPr lang="en-US" altLang="zh-CN" sz="2800" dirty="0"/>
          </a:p>
        </p:txBody>
      </p:sp>
      <p:sp>
        <p:nvSpPr>
          <p:cNvPr id="253956" name="AutoShape 4"/>
          <p:cNvSpPr>
            <a:spLocks noChangeArrowheads="1"/>
          </p:cNvSpPr>
          <p:nvPr/>
        </p:nvSpPr>
        <p:spPr bwMode="auto">
          <a:xfrm>
            <a:off x="914400" y="5301208"/>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日期占位符 1"/>
          <p:cNvSpPr>
            <a:spLocks noGrp="1"/>
          </p:cNvSpPr>
          <p:nvPr>
            <p:ph type="dt" sz="half" idx="10"/>
          </p:nvPr>
        </p:nvSpPr>
        <p:spPr/>
        <p:txBody>
          <a:bodyPr/>
          <a:lstStyle/>
          <a:p>
            <a:fld id="{98E23BA1-CEC1-40EC-BBA3-8B9BF8AA3448}" type="datetime1">
              <a:rPr lang="zh-CN" altLang="en-US" smtClean="0"/>
              <a:t>2025/12/24</a:t>
            </a:fld>
            <a:endParaRPr lang="en-US" altLang="zh-CN"/>
          </a:p>
        </p:txBody>
      </p:sp>
      <p:sp>
        <p:nvSpPr>
          <p:cNvPr id="4" name="页脚占位符 3">
            <a:extLst>
              <a:ext uri="{FF2B5EF4-FFF2-40B4-BE49-F238E27FC236}">
                <a16:creationId xmlns:a16="http://schemas.microsoft.com/office/drawing/2014/main" id="{3247BCC1-EF40-51CF-EDD0-CD4958B8EC16}"/>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805784EB-FE3D-E0A3-0D1D-125D628E6FA2}"/>
              </a:ext>
            </a:extLst>
          </p:cNvPr>
          <p:cNvSpPr>
            <a:spLocks noGrp="1"/>
          </p:cNvSpPr>
          <p:nvPr>
            <p:ph type="sldNum" sz="quarter" idx="12"/>
          </p:nvPr>
        </p:nvSpPr>
        <p:spPr/>
        <p:txBody>
          <a:bodyPr/>
          <a:lstStyle/>
          <a:p>
            <a:fld id="{6CD0990F-CFD2-4E3E-9B0E-DA23AF729A97}" type="slidenum">
              <a:rPr lang="en-US" altLang="zh-CN" smtClean="0"/>
              <a:pPr/>
              <a:t>3</a:t>
            </a:fld>
            <a:r>
              <a:rPr lang="en-US" altLang="zh-CN"/>
              <a:t>/67</a:t>
            </a:r>
            <a:endParaRPr lang="zh-CN" altLang="en-US" dirty="0"/>
          </a:p>
        </p:txBody>
      </p:sp>
    </p:spTree>
    <p:custDataLst>
      <p:tags r:id="rId1"/>
    </p:custDataLst>
    <p:extLst>
      <p:ext uri="{BB962C8B-B14F-4D97-AF65-F5344CB8AC3E}">
        <p14:creationId xmlns:p14="http://schemas.microsoft.com/office/powerpoint/2010/main" val="2048647659"/>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53956"/>
                                        </p:tgtEl>
                                        <p:attrNameLst>
                                          <p:attrName>style.visibility</p:attrName>
                                        </p:attrNameLst>
                                      </p:cBhvr>
                                      <p:to>
                                        <p:strVal val="visible"/>
                                      </p:to>
                                    </p:set>
                                    <p:anim calcmode="lin" valueType="num">
                                      <p:cBhvr additive="base">
                                        <p:cTn id="7" dur="500" fill="hold"/>
                                        <p:tgtEl>
                                          <p:spTgt spid="253956"/>
                                        </p:tgtEl>
                                        <p:attrNameLst>
                                          <p:attrName>ppt_x</p:attrName>
                                        </p:attrNameLst>
                                      </p:cBhvr>
                                      <p:tavLst>
                                        <p:tav tm="0">
                                          <p:val>
                                            <p:strVal val="0-#ppt_w/2"/>
                                          </p:val>
                                        </p:tav>
                                        <p:tav tm="100000">
                                          <p:val>
                                            <p:strVal val="#ppt_x"/>
                                          </p:val>
                                        </p:tav>
                                      </p:tavLst>
                                    </p:anim>
                                    <p:anim calcmode="lin" valueType="num">
                                      <p:cBhvr additive="base">
                                        <p:cTn id="8" dur="500" fill="hold"/>
                                        <p:tgtEl>
                                          <p:spTgt spid="2539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p:txBody>
          <a:bodyPr/>
          <a:lstStyle/>
          <a:p>
            <a:r>
              <a:rPr lang="en-US" altLang="zh-CN" sz="3200" dirty="0"/>
              <a:t>14.8 </a:t>
            </a:r>
            <a:r>
              <a:rPr lang="zh-CN" altLang="en-US" sz="3200" dirty="0"/>
              <a:t>故障分类</a:t>
            </a:r>
            <a:endParaRPr lang="en-US" altLang="zh-CN" sz="3200" dirty="0"/>
          </a:p>
        </p:txBody>
      </p:sp>
      <p:sp>
        <p:nvSpPr>
          <p:cNvPr id="565251" name="Rectangle 3"/>
          <p:cNvSpPr>
            <a:spLocks noGrp="1" noChangeArrowheads="1"/>
          </p:cNvSpPr>
          <p:nvPr>
            <p:ph type="body" idx="1"/>
          </p:nvPr>
        </p:nvSpPr>
        <p:spPr/>
        <p:txBody>
          <a:bodyPr/>
          <a:lstStyle/>
          <a:p>
            <a:r>
              <a:rPr lang="zh-CN" altLang="en-US" dirty="0"/>
              <a:t>尽管数据库系统中采取了各种</a:t>
            </a:r>
            <a:r>
              <a:rPr lang="zh-CN" altLang="en-US" dirty="0">
                <a:solidFill>
                  <a:schemeClr val="tx2"/>
                </a:solidFill>
              </a:rPr>
              <a:t>保护措施</a:t>
            </a:r>
            <a:r>
              <a:rPr lang="zh-CN" altLang="en-US" dirty="0"/>
              <a:t>来</a:t>
            </a:r>
            <a:r>
              <a:rPr lang="zh-CN" altLang="en-US" dirty="0">
                <a:solidFill>
                  <a:srgbClr val="FF0000"/>
                </a:solidFill>
              </a:rPr>
              <a:t>防止</a:t>
            </a:r>
            <a:r>
              <a:rPr lang="zh-CN" altLang="en-US" dirty="0">
                <a:solidFill>
                  <a:schemeClr val="tx2"/>
                </a:solidFill>
              </a:rPr>
              <a:t>数据库的</a:t>
            </a:r>
            <a:r>
              <a:rPr lang="zh-CN" altLang="en-US" b="1" dirty="0">
                <a:solidFill>
                  <a:srgbClr val="0000FF"/>
                </a:solidFill>
              </a:rPr>
              <a:t>安全性</a:t>
            </a:r>
            <a:r>
              <a:rPr lang="zh-CN" altLang="en-US" b="1" dirty="0"/>
              <a:t>和</a:t>
            </a:r>
            <a:r>
              <a:rPr lang="zh-CN" altLang="en-US" b="1" dirty="0">
                <a:solidFill>
                  <a:srgbClr val="0000FF"/>
                </a:solidFill>
              </a:rPr>
              <a:t>完整性</a:t>
            </a:r>
            <a:r>
              <a:rPr lang="zh-CN" altLang="en-US" dirty="0">
                <a:solidFill>
                  <a:schemeClr val="tx2"/>
                </a:solidFill>
              </a:rPr>
              <a:t>被破坏</a:t>
            </a:r>
            <a:r>
              <a:rPr lang="zh-CN" altLang="en-US" dirty="0"/>
              <a:t>，保证并发事务的正确执行，但是</a:t>
            </a:r>
            <a:r>
              <a:rPr lang="zh-CN" altLang="en-US" u="sng" dirty="0"/>
              <a:t>计算机系统中</a:t>
            </a:r>
            <a:r>
              <a:rPr lang="zh-CN" altLang="en-US" u="sng" dirty="0">
                <a:solidFill>
                  <a:srgbClr val="FF0000"/>
                </a:solidFill>
              </a:rPr>
              <a:t>硬件的故障</a:t>
            </a:r>
            <a:r>
              <a:rPr lang="zh-CN" altLang="en-US" u="sng" dirty="0"/>
              <a:t>、</a:t>
            </a:r>
            <a:r>
              <a:rPr lang="zh-CN" altLang="en-US" u="sng" dirty="0">
                <a:solidFill>
                  <a:srgbClr val="FF0000"/>
                </a:solidFill>
              </a:rPr>
              <a:t>软件的错误</a:t>
            </a:r>
            <a:r>
              <a:rPr lang="zh-CN" altLang="en-US" u="sng" dirty="0"/>
              <a:t>、</a:t>
            </a:r>
            <a:r>
              <a:rPr lang="zh-CN" altLang="en-US" u="sng" dirty="0">
                <a:solidFill>
                  <a:srgbClr val="FF0000"/>
                </a:solidFill>
              </a:rPr>
              <a:t>操作员的失误</a:t>
            </a:r>
            <a:r>
              <a:rPr lang="zh-CN" altLang="en-US" u="sng" dirty="0"/>
              <a:t>以及</a:t>
            </a:r>
            <a:r>
              <a:rPr lang="zh-CN" altLang="en-US" u="sng" dirty="0">
                <a:solidFill>
                  <a:srgbClr val="FF0000"/>
                </a:solidFill>
              </a:rPr>
              <a:t>恶意的破坏</a:t>
            </a:r>
            <a:r>
              <a:rPr lang="zh-CN" altLang="en-US" u="sng" dirty="0"/>
              <a:t>仍是</a:t>
            </a:r>
            <a:r>
              <a:rPr lang="zh-CN" altLang="en-US" u="sng" dirty="0">
                <a:solidFill>
                  <a:srgbClr val="0000FF"/>
                </a:solidFill>
              </a:rPr>
              <a:t>不可避免</a:t>
            </a:r>
            <a:r>
              <a:rPr lang="zh-CN" altLang="en-US" u="sng" dirty="0"/>
              <a:t>的</a:t>
            </a:r>
            <a:r>
              <a:rPr lang="zh-CN" altLang="en-US" dirty="0"/>
              <a:t>，</a:t>
            </a:r>
            <a:r>
              <a:rPr lang="zh-CN" altLang="en-US" dirty="0">
                <a:solidFill>
                  <a:srgbClr val="0000FF"/>
                </a:solidFill>
              </a:rPr>
              <a:t>这些故障</a:t>
            </a:r>
            <a:r>
              <a:rPr lang="zh-CN" altLang="en-US" dirty="0"/>
              <a:t>轻则造成运行</a:t>
            </a:r>
            <a:r>
              <a:rPr lang="zh-CN" altLang="en-US" dirty="0">
                <a:solidFill>
                  <a:srgbClr val="0000FF"/>
                </a:solidFill>
              </a:rPr>
              <a:t>事务非正常中断</a:t>
            </a:r>
            <a:r>
              <a:rPr lang="zh-CN" altLang="en-US" dirty="0"/>
              <a:t>，</a:t>
            </a:r>
            <a:r>
              <a:rPr lang="zh-CN" altLang="en-US" dirty="0">
                <a:solidFill>
                  <a:schemeClr val="tx2"/>
                </a:solidFill>
              </a:rPr>
              <a:t>影响</a:t>
            </a:r>
            <a:r>
              <a:rPr lang="zh-CN" altLang="en-US" dirty="0"/>
              <a:t>数据库中</a:t>
            </a:r>
            <a:r>
              <a:rPr lang="zh-CN" altLang="en-US" dirty="0">
                <a:solidFill>
                  <a:schemeClr val="tx2"/>
                </a:solidFill>
              </a:rPr>
              <a:t>数据的正确性</a:t>
            </a:r>
            <a:r>
              <a:rPr lang="zh-CN" altLang="en-US" dirty="0"/>
              <a:t>，重则</a:t>
            </a:r>
            <a:r>
              <a:rPr lang="zh-CN" altLang="en-US" b="1" dirty="0">
                <a:solidFill>
                  <a:schemeClr val="tx2"/>
                </a:solidFill>
              </a:rPr>
              <a:t>破坏数据库</a:t>
            </a:r>
            <a:r>
              <a:rPr lang="zh-CN" altLang="en-US" dirty="0"/>
              <a:t>，使数据库中</a:t>
            </a:r>
            <a:r>
              <a:rPr lang="zh-CN" altLang="en-US" dirty="0">
                <a:solidFill>
                  <a:srgbClr val="0000FF"/>
                </a:solidFill>
              </a:rPr>
              <a:t>全部</a:t>
            </a:r>
            <a:r>
              <a:rPr lang="zh-CN" altLang="en-US" dirty="0"/>
              <a:t>或</a:t>
            </a:r>
            <a:r>
              <a:rPr lang="zh-CN" altLang="en-US" dirty="0">
                <a:solidFill>
                  <a:srgbClr val="0000FF"/>
                </a:solidFill>
              </a:rPr>
              <a:t>部分</a:t>
            </a:r>
            <a:r>
              <a:rPr lang="zh-CN" altLang="en-US" dirty="0">
                <a:solidFill>
                  <a:srgbClr val="FF0000"/>
                </a:solidFill>
              </a:rPr>
              <a:t>数据丢失</a:t>
            </a:r>
            <a:r>
              <a:rPr lang="zh-CN" altLang="en-US" dirty="0"/>
              <a:t>。</a:t>
            </a:r>
          </a:p>
          <a:p>
            <a:pPr lvl="1"/>
            <a:endParaRPr lang="zh-CN" altLang="en-US" dirty="0">
              <a:latin typeface="Arial" charset="0"/>
            </a:endParaRPr>
          </a:p>
        </p:txBody>
      </p:sp>
      <p:sp>
        <p:nvSpPr>
          <p:cNvPr id="2" name="日期占位符 1"/>
          <p:cNvSpPr>
            <a:spLocks noGrp="1"/>
          </p:cNvSpPr>
          <p:nvPr>
            <p:ph type="dt" sz="half" idx="10"/>
          </p:nvPr>
        </p:nvSpPr>
        <p:spPr/>
        <p:txBody>
          <a:bodyPr/>
          <a:lstStyle/>
          <a:p>
            <a:fld id="{88D5B89D-C1A2-405C-BC06-35BFDFACBCC3}" type="datetime1">
              <a:rPr lang="zh-CN" altLang="en-US" smtClean="0"/>
              <a:t>2025/12/24</a:t>
            </a:fld>
            <a:endParaRPr lang="en-US" altLang="zh-CN"/>
          </a:p>
        </p:txBody>
      </p:sp>
      <p:sp>
        <p:nvSpPr>
          <p:cNvPr id="5" name="页脚占位符 4">
            <a:extLst>
              <a:ext uri="{FF2B5EF4-FFF2-40B4-BE49-F238E27FC236}">
                <a16:creationId xmlns:a16="http://schemas.microsoft.com/office/drawing/2014/main" id="{0E93CB1A-8D0D-33D3-CA5F-3A0FBE2DAB31}"/>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721FC91C-C2B6-FA29-8581-03385C064199}"/>
              </a:ext>
            </a:extLst>
          </p:cNvPr>
          <p:cNvSpPr>
            <a:spLocks noGrp="1"/>
          </p:cNvSpPr>
          <p:nvPr>
            <p:ph type="sldNum" sz="quarter" idx="12"/>
          </p:nvPr>
        </p:nvSpPr>
        <p:spPr/>
        <p:txBody>
          <a:bodyPr/>
          <a:lstStyle/>
          <a:p>
            <a:fld id="{6CD0990F-CFD2-4E3E-9B0E-DA23AF729A97}" type="slidenum">
              <a:rPr lang="en-US" altLang="zh-CN" smtClean="0"/>
              <a:pPr/>
              <a:t>4</a:t>
            </a:fld>
            <a:r>
              <a:rPr lang="en-US" altLang="zh-CN"/>
              <a:t>/67</a:t>
            </a:r>
            <a:endParaRPr lang="zh-CN" altLang="en-US" dirty="0"/>
          </a:p>
        </p:txBody>
      </p:sp>
    </p:spTree>
    <p:custDataLst>
      <p:tags r:id="rId1"/>
    </p:custDataLst>
    <p:extLst>
      <p:ext uri="{BB962C8B-B14F-4D97-AF65-F5344CB8AC3E}">
        <p14:creationId xmlns:p14="http://schemas.microsoft.com/office/powerpoint/2010/main" val="199034193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p:txBody>
          <a:bodyPr/>
          <a:lstStyle/>
          <a:p>
            <a:r>
              <a:rPr lang="en-US" altLang="zh-CN" sz="3200" dirty="0"/>
              <a:t>14.8 </a:t>
            </a:r>
            <a:r>
              <a:rPr lang="zh-CN" altLang="en-US" sz="3200" dirty="0"/>
              <a:t>故障分类</a:t>
            </a:r>
            <a:endParaRPr lang="en-US" altLang="zh-CN" sz="3200" dirty="0"/>
          </a:p>
        </p:txBody>
      </p:sp>
      <p:sp>
        <p:nvSpPr>
          <p:cNvPr id="565251" name="Rectangle 3"/>
          <p:cNvSpPr>
            <a:spLocks noGrp="1" noChangeArrowheads="1"/>
          </p:cNvSpPr>
          <p:nvPr>
            <p:ph type="body" idx="1"/>
          </p:nvPr>
        </p:nvSpPr>
        <p:spPr/>
        <p:txBody>
          <a:bodyPr/>
          <a:lstStyle/>
          <a:p>
            <a:r>
              <a:rPr lang="zh-CN" altLang="en-US" dirty="0"/>
              <a:t>因此</a:t>
            </a:r>
            <a:r>
              <a:rPr lang="zh-CN" altLang="en-US" dirty="0">
                <a:solidFill>
                  <a:schemeClr val="tx2"/>
                </a:solidFill>
              </a:rPr>
              <a:t>数据库管理系统</a:t>
            </a:r>
            <a:r>
              <a:rPr lang="zh-CN" altLang="en-US" dirty="0">
                <a:solidFill>
                  <a:schemeClr val="bg2"/>
                </a:solidFill>
              </a:rPr>
              <a:t>必须具有把数据库</a:t>
            </a:r>
            <a:r>
              <a:rPr lang="zh-CN" altLang="en-US" b="1" u="sng" dirty="0">
                <a:solidFill>
                  <a:srgbClr val="FB1807"/>
                </a:solidFill>
              </a:rPr>
              <a:t>从错误状态</a:t>
            </a:r>
            <a:r>
              <a:rPr lang="zh-CN" altLang="en-US" b="1" u="sng" dirty="0">
                <a:solidFill>
                  <a:srgbClr val="0000FF"/>
                </a:solidFill>
              </a:rPr>
              <a:t>恢复到</a:t>
            </a:r>
            <a:r>
              <a:rPr lang="zh-CN" altLang="en-US" b="1" u="sng" dirty="0">
                <a:solidFill>
                  <a:srgbClr val="FB1807"/>
                </a:solidFill>
              </a:rPr>
              <a:t>某一已知的正确状态</a:t>
            </a:r>
            <a:r>
              <a:rPr lang="en-US" altLang="zh-CN" dirty="0"/>
              <a:t>(</a:t>
            </a:r>
            <a:r>
              <a:rPr lang="zh-CN" altLang="en-US" dirty="0"/>
              <a:t>亦称为</a:t>
            </a:r>
            <a:r>
              <a:rPr lang="zh-CN" altLang="en-US" b="1" dirty="0"/>
              <a:t>一致性状态或完整状态</a:t>
            </a:r>
            <a:r>
              <a:rPr lang="en-US" altLang="zh-CN" dirty="0"/>
              <a:t>)</a:t>
            </a:r>
            <a:r>
              <a:rPr lang="zh-CN" altLang="en-US" dirty="0"/>
              <a:t>的功能，这就是</a:t>
            </a:r>
            <a:r>
              <a:rPr lang="zh-CN" altLang="en-US" dirty="0">
                <a:solidFill>
                  <a:srgbClr val="C00000"/>
                </a:solidFill>
              </a:rPr>
              <a:t>数据库的恢复</a:t>
            </a:r>
            <a:r>
              <a:rPr lang="zh-CN" altLang="en-US" dirty="0"/>
              <a:t>。</a:t>
            </a:r>
          </a:p>
          <a:p>
            <a:pPr>
              <a:spcBef>
                <a:spcPct val="50000"/>
              </a:spcBef>
            </a:pPr>
            <a:r>
              <a:rPr lang="zh-CN" altLang="en-US" b="1" dirty="0">
                <a:solidFill>
                  <a:schemeClr val="tx2"/>
                </a:solidFill>
              </a:rPr>
              <a:t>恢复子系统</a:t>
            </a:r>
            <a:r>
              <a:rPr lang="zh-CN" altLang="en-US" dirty="0"/>
              <a:t>是数据库管理系统的一个</a:t>
            </a:r>
            <a:r>
              <a:rPr lang="zh-CN" altLang="en-US" dirty="0">
                <a:solidFill>
                  <a:schemeClr val="tx2"/>
                </a:solidFill>
              </a:rPr>
              <a:t>重要组成部分</a:t>
            </a:r>
            <a:r>
              <a:rPr lang="zh-CN" altLang="en-US" dirty="0"/>
              <a:t>，</a:t>
            </a:r>
            <a:r>
              <a:rPr lang="zh-CN" altLang="en-US" dirty="0">
                <a:solidFill>
                  <a:schemeClr val="tx2"/>
                </a:solidFill>
              </a:rPr>
              <a:t>恢复技术</a:t>
            </a:r>
            <a:r>
              <a:rPr lang="zh-CN" altLang="en-US" dirty="0"/>
              <a:t>是否行之有效，是衡量</a:t>
            </a:r>
            <a:r>
              <a:rPr lang="zh-CN" altLang="en-US" dirty="0">
                <a:solidFill>
                  <a:schemeClr val="tx2"/>
                </a:solidFill>
              </a:rPr>
              <a:t>系统性能优劣</a:t>
            </a:r>
            <a:r>
              <a:rPr lang="zh-CN" altLang="en-US" dirty="0"/>
              <a:t>的重要指标。</a:t>
            </a:r>
          </a:p>
          <a:p>
            <a:pPr lvl="1"/>
            <a:endParaRPr lang="zh-CN" altLang="en-US" dirty="0">
              <a:latin typeface="Arial" charset="0"/>
            </a:endParaRPr>
          </a:p>
        </p:txBody>
      </p:sp>
      <p:sp>
        <p:nvSpPr>
          <p:cNvPr id="2" name="日期占位符 1"/>
          <p:cNvSpPr>
            <a:spLocks noGrp="1"/>
          </p:cNvSpPr>
          <p:nvPr>
            <p:ph type="dt" sz="half" idx="10"/>
          </p:nvPr>
        </p:nvSpPr>
        <p:spPr/>
        <p:txBody>
          <a:bodyPr/>
          <a:lstStyle/>
          <a:p>
            <a:fld id="{600DCDC7-588D-43F1-9258-D771EFFB38C2}" type="datetime1">
              <a:rPr lang="zh-CN" altLang="en-US" smtClean="0"/>
              <a:t>2025/12/24</a:t>
            </a:fld>
            <a:endParaRPr lang="en-US" altLang="zh-CN"/>
          </a:p>
        </p:txBody>
      </p:sp>
      <p:sp>
        <p:nvSpPr>
          <p:cNvPr id="5" name="页脚占位符 4">
            <a:extLst>
              <a:ext uri="{FF2B5EF4-FFF2-40B4-BE49-F238E27FC236}">
                <a16:creationId xmlns:a16="http://schemas.microsoft.com/office/drawing/2014/main" id="{ED71E282-044A-B6B0-4F07-AF4ACD6E90B2}"/>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C245CDE1-5794-DC26-D53B-3043330ACE46}"/>
              </a:ext>
            </a:extLst>
          </p:cNvPr>
          <p:cNvSpPr>
            <a:spLocks noGrp="1"/>
          </p:cNvSpPr>
          <p:nvPr>
            <p:ph type="sldNum" sz="quarter" idx="12"/>
          </p:nvPr>
        </p:nvSpPr>
        <p:spPr/>
        <p:txBody>
          <a:bodyPr/>
          <a:lstStyle/>
          <a:p>
            <a:fld id="{6CD0990F-CFD2-4E3E-9B0E-DA23AF729A97}" type="slidenum">
              <a:rPr lang="en-US" altLang="zh-CN" smtClean="0"/>
              <a:pPr/>
              <a:t>5</a:t>
            </a:fld>
            <a:r>
              <a:rPr lang="en-US" altLang="zh-CN"/>
              <a:t>/67</a:t>
            </a:r>
            <a:endParaRPr lang="zh-CN" altLang="en-US" dirty="0"/>
          </a:p>
        </p:txBody>
      </p:sp>
    </p:spTree>
    <p:custDataLst>
      <p:tags r:id="rId1"/>
    </p:custDataLst>
    <p:extLst>
      <p:ext uri="{BB962C8B-B14F-4D97-AF65-F5344CB8AC3E}">
        <p14:creationId xmlns:p14="http://schemas.microsoft.com/office/powerpoint/2010/main" val="251839498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zh-CN" altLang="en-US"/>
              <a:t>数据库故障</a:t>
            </a:r>
          </a:p>
        </p:txBody>
      </p:sp>
      <p:sp>
        <p:nvSpPr>
          <p:cNvPr id="9220" name="Rectangle 3"/>
          <p:cNvSpPr>
            <a:spLocks noGrp="1" noChangeArrowheads="1"/>
          </p:cNvSpPr>
          <p:nvPr>
            <p:ph type="body" idx="1"/>
          </p:nvPr>
        </p:nvSpPr>
        <p:spPr>
          <a:xfrm>
            <a:off x="611560" y="1340769"/>
            <a:ext cx="7989888" cy="4176464"/>
          </a:xfrm>
        </p:spPr>
        <p:txBody>
          <a:bodyPr/>
          <a:lstStyle/>
          <a:p>
            <a:pPr eaLnBrk="1" hangingPunct="1"/>
            <a:r>
              <a:rPr lang="zh-CN" altLang="en-US" sz="2800" dirty="0"/>
              <a:t>系统会发生很多故障，每个故障的处理方式不同。</a:t>
            </a:r>
            <a:r>
              <a:rPr lang="zh-CN" altLang="en-US" sz="2800" b="1" dirty="0">
                <a:effectLst>
                  <a:outerShdw blurRad="38100" dist="38100" dir="2700000" algn="tl">
                    <a:srgbClr val="000000">
                      <a:alpha val="43137"/>
                    </a:srgbClr>
                  </a:outerShdw>
                </a:effectLst>
              </a:rPr>
              <a:t>常见类型故障有</a:t>
            </a:r>
            <a:r>
              <a:rPr lang="zh-CN" altLang="en-US" sz="2800" dirty="0"/>
              <a:t>：</a:t>
            </a:r>
            <a:endParaRPr lang="en-US" altLang="zh-CN" sz="2800" dirty="0"/>
          </a:p>
          <a:p>
            <a:pPr lvl="1"/>
            <a:r>
              <a:rPr lang="en-US" altLang="zh-CN" sz="2400" b="1" dirty="0">
                <a:solidFill>
                  <a:srgbClr val="FF3300"/>
                </a:solidFill>
              </a:rPr>
              <a:t>1.</a:t>
            </a:r>
            <a:r>
              <a:rPr lang="zh-CN" altLang="en-US" sz="2400" b="1" dirty="0">
                <a:solidFill>
                  <a:srgbClr val="FF3300"/>
                </a:solidFill>
              </a:rPr>
              <a:t>事务故障</a:t>
            </a:r>
          </a:p>
          <a:p>
            <a:pPr lvl="2"/>
            <a:r>
              <a:rPr lang="zh-CN" altLang="en-US" sz="2000" dirty="0"/>
              <a:t>指事务的运行</a:t>
            </a:r>
            <a:r>
              <a:rPr lang="zh-CN" altLang="en-US" sz="2000" dirty="0">
                <a:solidFill>
                  <a:srgbClr val="FF0000"/>
                </a:solidFill>
              </a:rPr>
              <a:t>没有到达</a:t>
            </a:r>
            <a:r>
              <a:rPr lang="zh-CN" altLang="en-US" sz="2000" dirty="0"/>
              <a:t>预期的终点就被终止。</a:t>
            </a:r>
          </a:p>
          <a:p>
            <a:pPr lvl="2"/>
            <a:r>
              <a:rPr lang="zh-CN" altLang="en-US" sz="2000" b="1" dirty="0">
                <a:solidFill>
                  <a:srgbClr val="0000FF"/>
                </a:solidFill>
              </a:rPr>
              <a:t>可预期故障</a:t>
            </a:r>
          </a:p>
          <a:p>
            <a:pPr lvl="3"/>
            <a:r>
              <a:rPr lang="zh-CN" altLang="en-US" sz="1800" dirty="0"/>
              <a:t>应用程序可以发现的事务故障，并且</a:t>
            </a:r>
            <a:r>
              <a:rPr lang="zh-CN" altLang="en-US" sz="1800" b="1" dirty="0"/>
              <a:t>应用程序</a:t>
            </a:r>
            <a:r>
              <a:rPr lang="zh-CN" altLang="en-US" sz="1800" dirty="0"/>
              <a:t>可以让</a:t>
            </a:r>
            <a:r>
              <a:rPr lang="zh-CN" altLang="en-US" sz="1800" b="1" u="sng" dirty="0">
                <a:solidFill>
                  <a:srgbClr val="0000FF"/>
                </a:solidFill>
              </a:rPr>
              <a:t>事务回滚</a:t>
            </a:r>
            <a:r>
              <a:rPr lang="zh-CN" altLang="en-US" sz="1800" dirty="0"/>
              <a:t>；</a:t>
            </a:r>
          </a:p>
          <a:p>
            <a:pPr lvl="3"/>
            <a:r>
              <a:rPr lang="zh-CN" altLang="en-US" sz="1800" dirty="0"/>
              <a:t>如转帐时发现帐面金额不足</a:t>
            </a:r>
            <a:r>
              <a:rPr lang="en-US" altLang="zh-CN" sz="1800" dirty="0"/>
              <a:t>…</a:t>
            </a:r>
            <a:endParaRPr lang="zh-CN" altLang="en-US" sz="1800" dirty="0"/>
          </a:p>
          <a:p>
            <a:pPr lvl="2"/>
            <a:r>
              <a:rPr lang="zh-CN" altLang="en-US" sz="2000" b="1" dirty="0">
                <a:solidFill>
                  <a:srgbClr val="FF0000"/>
                </a:solidFill>
              </a:rPr>
              <a:t>非预期故障</a:t>
            </a:r>
          </a:p>
          <a:p>
            <a:pPr lvl="3"/>
            <a:r>
              <a:rPr lang="zh-CN" altLang="en-US" sz="1800" dirty="0"/>
              <a:t>不能由事务程序处理的</a:t>
            </a:r>
          </a:p>
          <a:p>
            <a:pPr lvl="3"/>
            <a:r>
              <a:rPr lang="zh-CN" altLang="en-US" sz="1800" dirty="0"/>
              <a:t>如</a:t>
            </a:r>
            <a:r>
              <a:rPr lang="zh-CN" altLang="en-US" sz="1800" dirty="0">
                <a:solidFill>
                  <a:srgbClr val="0000FF"/>
                </a:solidFill>
              </a:rPr>
              <a:t>运算溢出</a:t>
            </a:r>
            <a:r>
              <a:rPr lang="zh-CN" altLang="en-US" sz="1800" dirty="0"/>
              <a:t>，</a:t>
            </a:r>
            <a:r>
              <a:rPr lang="zh-CN" altLang="en-US" sz="1800" dirty="0">
                <a:solidFill>
                  <a:srgbClr val="0000FF"/>
                </a:solidFill>
              </a:rPr>
              <a:t>发生死锁而被选中撤消</a:t>
            </a:r>
            <a:r>
              <a:rPr lang="zh-CN" altLang="en-US" sz="1800" dirty="0"/>
              <a:t>该事务，但</a:t>
            </a:r>
            <a:r>
              <a:rPr lang="zh-CN" altLang="en-US" sz="1800" u="sng" dirty="0"/>
              <a:t>该事务可能再之后的某个时间重新执行</a:t>
            </a:r>
            <a:r>
              <a:rPr lang="zh-CN" altLang="en-US" sz="1800" dirty="0"/>
              <a:t>。</a:t>
            </a:r>
          </a:p>
        </p:txBody>
      </p:sp>
      <p:sp>
        <p:nvSpPr>
          <p:cNvPr id="2" name="日期占位符 1">
            <a:extLst>
              <a:ext uri="{FF2B5EF4-FFF2-40B4-BE49-F238E27FC236}">
                <a16:creationId xmlns:a16="http://schemas.microsoft.com/office/drawing/2014/main" id="{8693DA80-1DF9-0791-6923-C33F212C1F14}"/>
              </a:ext>
            </a:extLst>
          </p:cNvPr>
          <p:cNvSpPr>
            <a:spLocks noGrp="1"/>
          </p:cNvSpPr>
          <p:nvPr>
            <p:ph type="dt" sz="half" idx="10"/>
          </p:nvPr>
        </p:nvSpPr>
        <p:spPr/>
        <p:txBody>
          <a:bodyPr/>
          <a:lstStyle/>
          <a:p>
            <a:fld id="{19955841-F045-4C75-8F5B-FE3AE869B40C}"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1AB54E66-6D50-4BCA-47D9-BE5DF28936BE}"/>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AC332D38-A9BA-B285-C1B8-5DB8951883D5}"/>
              </a:ext>
            </a:extLst>
          </p:cNvPr>
          <p:cNvSpPr>
            <a:spLocks noGrp="1"/>
          </p:cNvSpPr>
          <p:nvPr>
            <p:ph type="sldNum" sz="quarter" idx="12"/>
          </p:nvPr>
        </p:nvSpPr>
        <p:spPr/>
        <p:txBody>
          <a:bodyPr/>
          <a:lstStyle/>
          <a:p>
            <a:fld id="{6CD0990F-CFD2-4E3E-9B0E-DA23AF729A97}" type="slidenum">
              <a:rPr lang="en-US" altLang="zh-CN" smtClean="0"/>
              <a:pPr/>
              <a:t>6</a:t>
            </a:fld>
            <a:r>
              <a:rPr lang="en-US" altLang="zh-CN"/>
              <a:t>/67</a:t>
            </a:r>
            <a:endParaRPr lang="zh-CN" altLang="en-US" dirty="0"/>
          </a:p>
        </p:txBody>
      </p:sp>
    </p:spTree>
    <p:extLst>
      <p:ext uri="{BB962C8B-B14F-4D97-AF65-F5344CB8AC3E}">
        <p14:creationId xmlns:p14="http://schemas.microsoft.com/office/powerpoint/2010/main" val="145166952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E152521-0FD5-4988-BFE3-77FCBE6122C8}" type="datetime1">
              <a:rPr lang="zh-CN" altLang="en-US" smtClean="0"/>
              <a:t>2025/12/24</a:t>
            </a:fld>
            <a:endParaRPr lang="en-US" altLang="zh-CN"/>
          </a:p>
        </p:txBody>
      </p:sp>
      <p:sp>
        <p:nvSpPr>
          <p:cNvPr id="493570" name="Rectangle 2"/>
          <p:cNvSpPr>
            <a:spLocks noGrp="1" noChangeArrowheads="1"/>
          </p:cNvSpPr>
          <p:nvPr>
            <p:ph type="title"/>
          </p:nvPr>
        </p:nvSpPr>
        <p:spPr/>
        <p:txBody>
          <a:bodyPr/>
          <a:lstStyle/>
          <a:p>
            <a:r>
              <a:rPr lang="en-US" altLang="zh-CN" sz="3200" dirty="0"/>
              <a:t>14.8 </a:t>
            </a:r>
            <a:r>
              <a:rPr lang="zh-CN" altLang="en-US" sz="3200" dirty="0"/>
              <a:t>故障分类</a:t>
            </a:r>
            <a:endParaRPr lang="zh-CN" altLang="en-US" dirty="0"/>
          </a:p>
        </p:txBody>
      </p:sp>
      <p:sp>
        <p:nvSpPr>
          <p:cNvPr id="8" name="Rectangle 3"/>
          <p:cNvSpPr txBox="1">
            <a:spLocks noChangeArrowheads="1"/>
          </p:cNvSpPr>
          <p:nvPr/>
        </p:nvSpPr>
        <p:spPr bwMode="auto">
          <a:xfrm>
            <a:off x="609600" y="1352128"/>
            <a:ext cx="8229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80000"/>
              </a:lnSpc>
            </a:pPr>
            <a:r>
              <a:rPr lang="zh-CN" altLang="en-US" sz="1800" kern="0" dirty="0">
                <a:ea typeface="宋体" charset="-122"/>
              </a:rPr>
              <a:t>例如，银行转账事务，这个事务把一笔金额从一个账户甲转给另一个账户乙。</a:t>
            </a:r>
          </a:p>
          <a:p>
            <a:pPr>
              <a:lnSpc>
                <a:spcPct val="80000"/>
              </a:lnSpc>
              <a:buFont typeface="Wingdings" pitchFamily="2" charset="2"/>
              <a:buNone/>
            </a:pPr>
            <a:r>
              <a:rPr lang="zh-CN" altLang="en-US" sz="1800" kern="0" dirty="0">
                <a:ea typeface="宋体" charset="-122"/>
              </a:rPr>
              <a:t>     </a:t>
            </a:r>
            <a:endParaRPr lang="en-US" altLang="zh-CN" sz="1800" kern="0" dirty="0">
              <a:ea typeface="宋体" charset="-122"/>
            </a:endParaRPr>
          </a:p>
          <a:p>
            <a:pPr>
              <a:lnSpc>
                <a:spcPct val="80000"/>
              </a:lnSpc>
              <a:buFont typeface="Wingdings" pitchFamily="2" charset="2"/>
              <a:buNone/>
            </a:pPr>
            <a:r>
              <a:rPr lang="en-US" altLang="zh-CN" sz="1800" kern="0" dirty="0">
                <a:ea typeface="宋体" charset="-122"/>
              </a:rPr>
              <a:t>    </a:t>
            </a:r>
            <a:r>
              <a:rPr lang="en-US" altLang="zh-CN" sz="1800" b="1" kern="0" dirty="0">
                <a:solidFill>
                  <a:srgbClr val="0000FF"/>
                </a:solidFill>
                <a:ea typeface="宋体" charset="-122"/>
              </a:rPr>
              <a:t>BEGIN TRANSACTION</a:t>
            </a:r>
          </a:p>
          <a:p>
            <a:pPr>
              <a:lnSpc>
                <a:spcPct val="80000"/>
              </a:lnSpc>
              <a:buFont typeface="Wingdings" pitchFamily="2" charset="2"/>
              <a:buNone/>
            </a:pPr>
            <a:r>
              <a:rPr lang="en-US" altLang="zh-CN" sz="1800" kern="0" dirty="0">
                <a:ea typeface="宋体" charset="-122"/>
              </a:rPr>
              <a:t>    </a:t>
            </a:r>
            <a:r>
              <a:rPr lang="zh-CN" altLang="en-US" sz="1800" kern="0" dirty="0">
                <a:ea typeface="宋体" charset="-122"/>
              </a:rPr>
              <a:t>读账户</a:t>
            </a:r>
            <a:r>
              <a:rPr lang="zh-CN" altLang="en-US" sz="1800" b="1" kern="0" dirty="0">
                <a:solidFill>
                  <a:schemeClr val="tx2"/>
                </a:solidFill>
                <a:ea typeface="宋体" charset="-122"/>
              </a:rPr>
              <a:t>甲</a:t>
            </a:r>
            <a:r>
              <a:rPr lang="zh-CN" altLang="en-US" sz="1800" kern="0" dirty="0">
                <a:ea typeface="宋体" charset="-122"/>
              </a:rPr>
              <a:t>的余额</a:t>
            </a:r>
            <a:r>
              <a:rPr lang="en-US" altLang="zh-CN" sz="1800" kern="0" dirty="0">
                <a:ea typeface="宋体" charset="-122"/>
              </a:rPr>
              <a:t>BALANCE</a:t>
            </a:r>
            <a:r>
              <a:rPr lang="zh-CN" altLang="en-US" sz="1800" kern="0" dirty="0">
                <a:ea typeface="宋体" charset="-122"/>
              </a:rPr>
              <a:t>；</a:t>
            </a:r>
          </a:p>
          <a:p>
            <a:pPr>
              <a:lnSpc>
                <a:spcPct val="80000"/>
              </a:lnSpc>
              <a:buFont typeface="Wingdings" pitchFamily="2" charset="2"/>
              <a:buNone/>
            </a:pPr>
            <a:r>
              <a:rPr lang="zh-CN" altLang="en-US" sz="1800" kern="0" dirty="0">
                <a:ea typeface="宋体" charset="-122"/>
              </a:rPr>
              <a:t>    </a:t>
            </a:r>
            <a:r>
              <a:rPr lang="en-US" altLang="zh-CN" sz="1800" kern="0" dirty="0">
                <a:ea typeface="宋体" charset="-122"/>
              </a:rPr>
              <a:t>BALANCE=BALANCE-AMOUNT</a:t>
            </a:r>
            <a:r>
              <a:rPr lang="zh-CN" altLang="en-US" sz="1800" kern="0" dirty="0">
                <a:ea typeface="宋体" charset="-122"/>
              </a:rPr>
              <a:t>；</a:t>
            </a:r>
            <a:r>
              <a:rPr lang="en-US" altLang="zh-CN" sz="1800" kern="0" dirty="0">
                <a:ea typeface="宋体" charset="-122"/>
              </a:rPr>
              <a:t>(AMOUNT </a:t>
            </a:r>
            <a:r>
              <a:rPr lang="zh-CN" altLang="en-US" sz="1800" kern="0" dirty="0">
                <a:ea typeface="宋体" charset="-122"/>
              </a:rPr>
              <a:t>为转账金额</a:t>
            </a:r>
            <a:r>
              <a:rPr lang="en-US" altLang="zh-CN" sz="1800" kern="0" dirty="0">
                <a:ea typeface="宋体" charset="-122"/>
              </a:rPr>
              <a:t>)</a:t>
            </a:r>
          </a:p>
          <a:p>
            <a:pPr>
              <a:lnSpc>
                <a:spcPct val="80000"/>
              </a:lnSpc>
              <a:buFont typeface="Wingdings" pitchFamily="2" charset="2"/>
              <a:buNone/>
            </a:pPr>
            <a:r>
              <a:rPr lang="en-US" altLang="zh-CN" sz="1800" kern="0" dirty="0">
                <a:ea typeface="宋体" charset="-122"/>
              </a:rPr>
              <a:t>    </a:t>
            </a:r>
            <a:r>
              <a:rPr lang="zh-CN" altLang="en-US" sz="1800" kern="0" dirty="0">
                <a:solidFill>
                  <a:srgbClr val="C00000"/>
                </a:solidFill>
                <a:ea typeface="宋体" charset="-122"/>
              </a:rPr>
              <a:t>写回</a:t>
            </a:r>
            <a:r>
              <a:rPr lang="en-US" altLang="zh-CN" sz="1800" kern="0" dirty="0">
                <a:solidFill>
                  <a:srgbClr val="C00000"/>
                </a:solidFill>
                <a:ea typeface="宋体" charset="-122"/>
              </a:rPr>
              <a:t>BALANCE</a:t>
            </a:r>
            <a:r>
              <a:rPr lang="zh-CN" altLang="en-US" sz="1800" kern="0" dirty="0">
                <a:ea typeface="宋体" charset="-122"/>
              </a:rPr>
              <a:t>；</a:t>
            </a:r>
          </a:p>
          <a:p>
            <a:pPr>
              <a:lnSpc>
                <a:spcPct val="80000"/>
              </a:lnSpc>
              <a:buFont typeface="Wingdings" pitchFamily="2" charset="2"/>
              <a:buNone/>
            </a:pPr>
            <a:r>
              <a:rPr lang="zh-CN" altLang="en-US" sz="1800" kern="0" dirty="0">
                <a:ea typeface="宋体" charset="-122"/>
              </a:rPr>
              <a:t>    </a:t>
            </a:r>
            <a:r>
              <a:rPr lang="en-US" altLang="zh-CN" sz="1800" kern="0" dirty="0">
                <a:ea typeface="宋体" charset="-122"/>
              </a:rPr>
              <a:t>IF</a:t>
            </a:r>
            <a:r>
              <a:rPr lang="en-US" altLang="zh-CN" sz="1800" kern="0" dirty="0">
                <a:solidFill>
                  <a:srgbClr val="0000FF"/>
                </a:solidFill>
                <a:ea typeface="宋体" charset="-122"/>
              </a:rPr>
              <a:t>(BALANCE &lt; 0 </a:t>
            </a:r>
            <a:r>
              <a:rPr lang="en-US" altLang="zh-CN" sz="1800" kern="0" dirty="0">
                <a:ea typeface="宋体" charset="-122"/>
              </a:rPr>
              <a:t>) THEN</a:t>
            </a:r>
          </a:p>
          <a:p>
            <a:pPr>
              <a:lnSpc>
                <a:spcPct val="80000"/>
              </a:lnSpc>
              <a:buFont typeface="Wingdings" pitchFamily="2" charset="2"/>
              <a:buNone/>
            </a:pPr>
            <a:r>
              <a:rPr lang="en-US" altLang="zh-CN" sz="1800" kern="0" dirty="0">
                <a:ea typeface="宋体" charset="-122"/>
              </a:rPr>
              <a:t>     {</a:t>
            </a:r>
          </a:p>
          <a:p>
            <a:pPr>
              <a:lnSpc>
                <a:spcPct val="80000"/>
              </a:lnSpc>
              <a:buFont typeface="Wingdings" pitchFamily="2" charset="2"/>
              <a:buNone/>
            </a:pPr>
            <a:r>
              <a:rPr lang="en-US" altLang="zh-CN" sz="1800" kern="0" dirty="0">
                <a:ea typeface="宋体" charset="-122"/>
              </a:rPr>
              <a:t>         </a:t>
            </a:r>
            <a:r>
              <a:rPr lang="zh-CN" altLang="en-US" sz="1800" kern="0" dirty="0">
                <a:ea typeface="宋体" charset="-122"/>
              </a:rPr>
              <a:t>打印</a:t>
            </a:r>
            <a:r>
              <a:rPr lang="en-US" altLang="zh-CN" sz="1800" kern="0" dirty="0">
                <a:ea typeface="宋体" charset="-122"/>
              </a:rPr>
              <a:t>'</a:t>
            </a:r>
            <a:r>
              <a:rPr lang="zh-CN" altLang="en-US" sz="1800" kern="0" dirty="0">
                <a:ea typeface="宋体" charset="-122"/>
              </a:rPr>
              <a:t>金额不足，不能转账</a:t>
            </a:r>
            <a:r>
              <a:rPr lang="en-US" altLang="zh-CN" sz="1800" kern="0" dirty="0">
                <a:ea typeface="宋体" charset="-122"/>
              </a:rPr>
              <a:t>'</a:t>
            </a:r>
            <a:r>
              <a:rPr lang="zh-CN" altLang="en-US" sz="1800" kern="0" dirty="0">
                <a:ea typeface="宋体" charset="-122"/>
              </a:rPr>
              <a:t>；</a:t>
            </a:r>
          </a:p>
          <a:p>
            <a:pPr>
              <a:lnSpc>
                <a:spcPct val="80000"/>
              </a:lnSpc>
              <a:buFont typeface="Wingdings" pitchFamily="2" charset="2"/>
              <a:buNone/>
            </a:pPr>
            <a:r>
              <a:rPr lang="zh-CN" altLang="en-US" sz="1800" kern="0" dirty="0">
                <a:ea typeface="宋体" charset="-122"/>
              </a:rPr>
              <a:t>         </a:t>
            </a:r>
            <a:r>
              <a:rPr lang="en-US" altLang="zh-CN" sz="1800" b="1" kern="0" dirty="0">
                <a:solidFill>
                  <a:srgbClr val="FF0000"/>
                </a:solidFill>
                <a:ea typeface="宋体" charset="-122"/>
              </a:rPr>
              <a:t>ROLLBACK</a:t>
            </a:r>
            <a:r>
              <a:rPr lang="zh-CN" altLang="en-US" sz="1800" kern="0" dirty="0">
                <a:ea typeface="宋体" charset="-122"/>
              </a:rPr>
              <a:t>；</a:t>
            </a:r>
            <a:r>
              <a:rPr lang="en-US" altLang="zh-CN" sz="1800" kern="0" dirty="0">
                <a:ea typeface="宋体" charset="-122"/>
              </a:rPr>
              <a:t>(</a:t>
            </a:r>
            <a:r>
              <a:rPr lang="zh-CN" altLang="en-US" sz="1800" b="1" kern="0" dirty="0">
                <a:solidFill>
                  <a:srgbClr val="FF0000"/>
                </a:solidFill>
                <a:ea typeface="宋体" charset="-122"/>
              </a:rPr>
              <a:t>撤销</a:t>
            </a:r>
            <a:r>
              <a:rPr lang="zh-CN" altLang="en-US" sz="1800" kern="0" dirty="0">
                <a:ea typeface="宋体" charset="-122"/>
              </a:rPr>
              <a:t>刚才的修改，</a:t>
            </a:r>
            <a:r>
              <a:rPr lang="zh-CN" altLang="en-US" sz="1800" kern="0" dirty="0">
                <a:solidFill>
                  <a:srgbClr val="0000FF"/>
                </a:solidFill>
                <a:ea typeface="宋体" charset="-122"/>
              </a:rPr>
              <a:t>恢复事务</a:t>
            </a:r>
            <a:r>
              <a:rPr lang="en-US" altLang="zh-CN" sz="1800" kern="0" dirty="0">
                <a:ea typeface="宋体" charset="-122"/>
              </a:rPr>
              <a:t>)</a:t>
            </a:r>
          </a:p>
          <a:p>
            <a:pPr>
              <a:lnSpc>
                <a:spcPct val="80000"/>
              </a:lnSpc>
              <a:buFont typeface="Wingdings" pitchFamily="2" charset="2"/>
              <a:buNone/>
            </a:pPr>
            <a:r>
              <a:rPr lang="en-US" altLang="zh-CN" sz="1800" kern="0" dirty="0">
                <a:ea typeface="宋体" charset="-122"/>
              </a:rPr>
              <a:t>     }</a:t>
            </a:r>
          </a:p>
          <a:p>
            <a:pPr>
              <a:lnSpc>
                <a:spcPct val="80000"/>
              </a:lnSpc>
              <a:buFont typeface="Wingdings" pitchFamily="2" charset="2"/>
              <a:buNone/>
            </a:pPr>
            <a:r>
              <a:rPr lang="en-US" altLang="zh-CN" sz="1800" kern="0" dirty="0">
                <a:ea typeface="宋体" charset="-122"/>
              </a:rPr>
              <a:t>     ELSE</a:t>
            </a:r>
          </a:p>
          <a:p>
            <a:pPr>
              <a:lnSpc>
                <a:spcPct val="80000"/>
              </a:lnSpc>
              <a:buFont typeface="Wingdings" pitchFamily="2" charset="2"/>
              <a:buNone/>
            </a:pPr>
            <a:r>
              <a:rPr lang="en-US" altLang="zh-CN" sz="1800" kern="0" dirty="0">
                <a:ea typeface="宋体" charset="-122"/>
              </a:rPr>
              <a:t>     {</a:t>
            </a:r>
          </a:p>
          <a:p>
            <a:pPr>
              <a:lnSpc>
                <a:spcPct val="80000"/>
              </a:lnSpc>
              <a:buFont typeface="Wingdings" pitchFamily="2" charset="2"/>
              <a:buNone/>
            </a:pPr>
            <a:r>
              <a:rPr lang="en-US" altLang="zh-CN" sz="1800" kern="0" dirty="0">
                <a:ea typeface="宋体" charset="-122"/>
              </a:rPr>
              <a:t>          </a:t>
            </a:r>
            <a:r>
              <a:rPr lang="zh-CN" altLang="en-US" sz="1800" kern="0" dirty="0">
                <a:ea typeface="宋体" charset="-122"/>
              </a:rPr>
              <a:t>读账户乙的余额</a:t>
            </a:r>
            <a:r>
              <a:rPr lang="en-US" altLang="zh-CN" sz="1800" kern="0" dirty="0">
                <a:ea typeface="宋体" charset="-122"/>
              </a:rPr>
              <a:t>BALANCE1</a:t>
            </a:r>
            <a:r>
              <a:rPr lang="zh-CN" altLang="en-US" sz="1800" kern="0" dirty="0">
                <a:ea typeface="宋体" charset="-122"/>
              </a:rPr>
              <a:t>；</a:t>
            </a:r>
          </a:p>
          <a:p>
            <a:pPr>
              <a:lnSpc>
                <a:spcPct val="80000"/>
              </a:lnSpc>
              <a:buFont typeface="Wingdings" pitchFamily="2" charset="2"/>
              <a:buNone/>
            </a:pPr>
            <a:r>
              <a:rPr lang="zh-CN" altLang="en-US" sz="1800" kern="0" dirty="0">
                <a:ea typeface="宋体" charset="-122"/>
              </a:rPr>
              <a:t>          </a:t>
            </a:r>
            <a:r>
              <a:rPr lang="en-US" altLang="zh-CN" sz="1800" kern="0" dirty="0">
                <a:ea typeface="宋体" charset="-122"/>
              </a:rPr>
              <a:t>BALANCE1=BALANCE1+AMOUNT</a:t>
            </a:r>
            <a:r>
              <a:rPr lang="zh-CN" altLang="en-US" sz="1800" kern="0" dirty="0">
                <a:ea typeface="宋体" charset="-122"/>
              </a:rPr>
              <a:t>；</a:t>
            </a:r>
          </a:p>
          <a:p>
            <a:pPr>
              <a:lnSpc>
                <a:spcPct val="80000"/>
              </a:lnSpc>
              <a:buFont typeface="Wingdings" pitchFamily="2" charset="2"/>
              <a:buNone/>
            </a:pPr>
            <a:r>
              <a:rPr lang="zh-CN" altLang="en-US" sz="1800" kern="0" dirty="0">
                <a:ea typeface="宋体" charset="-122"/>
              </a:rPr>
              <a:t>          </a:t>
            </a:r>
            <a:r>
              <a:rPr lang="zh-CN" altLang="en-US" sz="1800" kern="0" dirty="0">
                <a:solidFill>
                  <a:srgbClr val="C00000"/>
                </a:solidFill>
                <a:ea typeface="宋体" charset="-122"/>
              </a:rPr>
              <a:t>写回</a:t>
            </a:r>
            <a:r>
              <a:rPr lang="en-US" altLang="zh-CN" sz="1800" kern="0" dirty="0">
                <a:solidFill>
                  <a:srgbClr val="C00000"/>
                </a:solidFill>
                <a:ea typeface="宋体" charset="-122"/>
              </a:rPr>
              <a:t>BALANCE1</a:t>
            </a:r>
            <a:r>
              <a:rPr lang="zh-CN" altLang="en-US" sz="1800" kern="0" dirty="0">
                <a:solidFill>
                  <a:srgbClr val="C00000"/>
                </a:solidFill>
                <a:ea typeface="宋体" charset="-122"/>
              </a:rPr>
              <a:t>；</a:t>
            </a:r>
          </a:p>
          <a:p>
            <a:pPr>
              <a:lnSpc>
                <a:spcPct val="80000"/>
              </a:lnSpc>
              <a:buFont typeface="Wingdings" pitchFamily="2" charset="2"/>
              <a:buNone/>
            </a:pPr>
            <a:r>
              <a:rPr lang="zh-CN" altLang="en-US" sz="1800" kern="0" dirty="0">
                <a:ea typeface="宋体" charset="-122"/>
              </a:rPr>
              <a:t>          </a:t>
            </a:r>
            <a:r>
              <a:rPr lang="en-US" altLang="zh-CN" sz="1800" b="1" kern="0" dirty="0">
                <a:solidFill>
                  <a:srgbClr val="0000FF"/>
                </a:solidFill>
                <a:ea typeface="宋体" charset="-122"/>
              </a:rPr>
              <a:t>COMMIT</a:t>
            </a:r>
            <a:r>
              <a:rPr lang="zh-CN" altLang="en-US" sz="1800" kern="0" dirty="0">
                <a:ea typeface="宋体" charset="-122"/>
              </a:rPr>
              <a:t>；</a:t>
            </a:r>
          </a:p>
          <a:p>
            <a:pPr>
              <a:lnSpc>
                <a:spcPct val="80000"/>
              </a:lnSpc>
              <a:buFont typeface="Wingdings" pitchFamily="2" charset="2"/>
              <a:buNone/>
            </a:pPr>
            <a:r>
              <a:rPr lang="zh-CN" altLang="en-US" sz="1800" kern="0" dirty="0">
                <a:ea typeface="宋体" charset="-122"/>
              </a:rPr>
              <a:t>      </a:t>
            </a:r>
            <a:r>
              <a:rPr lang="en-US" altLang="zh-CN" sz="1800" kern="0" dirty="0">
                <a:ea typeface="宋体" charset="-122"/>
              </a:rPr>
              <a:t>}</a:t>
            </a:r>
          </a:p>
          <a:p>
            <a:pPr>
              <a:lnSpc>
                <a:spcPct val="80000"/>
              </a:lnSpc>
            </a:pPr>
            <a:endParaRPr lang="en-US" altLang="zh-CN" sz="1800" kern="0" dirty="0">
              <a:ea typeface="宋体" charset="-122"/>
            </a:endParaRPr>
          </a:p>
        </p:txBody>
      </p:sp>
      <p:sp>
        <p:nvSpPr>
          <p:cNvPr id="3" name="页脚占位符 2">
            <a:extLst>
              <a:ext uri="{FF2B5EF4-FFF2-40B4-BE49-F238E27FC236}">
                <a16:creationId xmlns:a16="http://schemas.microsoft.com/office/drawing/2014/main" id="{CE51072A-E5CC-FA14-96C6-1FAB70048F99}"/>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F0BB9CF7-EE5D-20A9-13B7-A422CB9DAAD1}"/>
              </a:ext>
            </a:extLst>
          </p:cNvPr>
          <p:cNvSpPr>
            <a:spLocks noGrp="1"/>
          </p:cNvSpPr>
          <p:nvPr>
            <p:ph type="sldNum" sz="quarter" idx="12"/>
          </p:nvPr>
        </p:nvSpPr>
        <p:spPr/>
        <p:txBody>
          <a:bodyPr/>
          <a:lstStyle/>
          <a:p>
            <a:fld id="{6CD0990F-CFD2-4E3E-9B0E-DA23AF729A97}" type="slidenum">
              <a:rPr lang="en-US" altLang="zh-CN" smtClean="0"/>
              <a:pPr/>
              <a:t>7</a:t>
            </a:fld>
            <a:r>
              <a:rPr lang="en-US" altLang="zh-CN"/>
              <a:t>/67</a:t>
            </a:r>
            <a:endParaRPr lang="zh-CN" altLang="en-US" dirty="0"/>
          </a:p>
        </p:txBody>
      </p:sp>
    </p:spTree>
    <p:extLst>
      <p:ext uri="{BB962C8B-B14F-4D97-AF65-F5344CB8AC3E}">
        <p14:creationId xmlns:p14="http://schemas.microsoft.com/office/powerpoint/2010/main" val="188023013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CC53D94-F67B-4AA2-9F15-804DC06BB6F1}" type="datetime1">
              <a:rPr lang="zh-CN" altLang="en-US" smtClean="0"/>
              <a:t>2025/12/24</a:t>
            </a:fld>
            <a:endParaRPr lang="en-US" altLang="zh-CN"/>
          </a:p>
        </p:txBody>
      </p:sp>
      <p:sp>
        <p:nvSpPr>
          <p:cNvPr id="495618" name="Rectangle 2"/>
          <p:cNvSpPr>
            <a:spLocks noGrp="1" noChangeArrowheads="1"/>
          </p:cNvSpPr>
          <p:nvPr>
            <p:ph type="title"/>
          </p:nvPr>
        </p:nvSpPr>
        <p:spPr/>
        <p:txBody>
          <a:bodyPr/>
          <a:lstStyle/>
          <a:p>
            <a:r>
              <a:rPr lang="en-US" altLang="zh-CN" sz="3200" dirty="0"/>
              <a:t>14.8 </a:t>
            </a:r>
            <a:r>
              <a:rPr lang="zh-CN" altLang="en-US" sz="3200" dirty="0"/>
              <a:t>故障分类</a:t>
            </a:r>
            <a:endParaRPr lang="zh-CN" altLang="en-US" dirty="0"/>
          </a:p>
        </p:txBody>
      </p:sp>
      <p:sp>
        <p:nvSpPr>
          <p:cNvPr id="495619" name="Rectangle 3"/>
          <p:cNvSpPr>
            <a:spLocks noGrp="1" noChangeArrowheads="1"/>
          </p:cNvSpPr>
          <p:nvPr>
            <p:ph type="body" idx="1"/>
          </p:nvPr>
        </p:nvSpPr>
        <p:spPr>
          <a:xfrm>
            <a:off x="609600" y="1340768"/>
            <a:ext cx="8066856" cy="4933528"/>
          </a:xfrm>
          <a:solidFill>
            <a:schemeClr val="bg1"/>
          </a:solidFill>
        </p:spPr>
        <p:txBody>
          <a:bodyPr/>
          <a:lstStyle/>
          <a:p>
            <a:r>
              <a:rPr lang="zh-CN" altLang="en-US" sz="2800" b="1" u="sng" dirty="0"/>
              <a:t>事务内部</a:t>
            </a:r>
            <a:r>
              <a:rPr lang="zh-CN" altLang="en-US" sz="2800" dirty="0"/>
              <a:t>更多的故障</a:t>
            </a:r>
            <a:r>
              <a:rPr lang="zh-CN" altLang="en-US" sz="2800" b="1" dirty="0">
                <a:solidFill>
                  <a:srgbClr val="FF0000"/>
                </a:solidFill>
              </a:rPr>
              <a:t>是非预期的</a:t>
            </a:r>
            <a:r>
              <a:rPr lang="zh-CN" altLang="en-US" sz="2800" dirty="0"/>
              <a:t>，是不能由应用程序处理的。</a:t>
            </a:r>
            <a:endParaRPr lang="en-US" altLang="zh-CN" sz="2800" dirty="0"/>
          </a:p>
          <a:p>
            <a:pPr lvl="1"/>
            <a:r>
              <a:rPr lang="zh-CN" altLang="en-US" sz="2400" dirty="0"/>
              <a:t>事务由于某些</a:t>
            </a:r>
            <a:r>
              <a:rPr lang="zh-CN" altLang="en-US" sz="2400" u="sng" dirty="0"/>
              <a:t>内部条件</a:t>
            </a:r>
            <a:r>
              <a:rPr lang="zh-CN" altLang="en-US" sz="2400" dirty="0"/>
              <a:t>而无法继续正常执行，这样的内部条件如</a:t>
            </a:r>
            <a:r>
              <a:rPr lang="zh-CN" altLang="en-US" sz="2400" dirty="0">
                <a:solidFill>
                  <a:srgbClr val="0000FF"/>
                </a:solidFill>
              </a:rPr>
              <a:t>非法输入</a:t>
            </a:r>
            <a:r>
              <a:rPr lang="zh-CN" altLang="en-US" sz="2400" dirty="0"/>
              <a:t>、</a:t>
            </a:r>
            <a:r>
              <a:rPr lang="zh-CN" altLang="en-US" sz="2400" dirty="0">
                <a:solidFill>
                  <a:srgbClr val="0000FF"/>
                </a:solidFill>
              </a:rPr>
              <a:t>找不到数据</a:t>
            </a:r>
            <a:r>
              <a:rPr lang="zh-CN" altLang="en-US" sz="2400" dirty="0"/>
              <a:t>、</a:t>
            </a:r>
            <a:r>
              <a:rPr lang="zh-CN" altLang="en-US" sz="2400" dirty="0">
                <a:solidFill>
                  <a:srgbClr val="0000FF"/>
                </a:solidFill>
              </a:rPr>
              <a:t>运算溢出</a:t>
            </a:r>
            <a:r>
              <a:rPr lang="zh-CN" altLang="en-US" sz="2400" dirty="0"/>
              <a:t>或</a:t>
            </a:r>
            <a:r>
              <a:rPr lang="zh-CN" altLang="en-US" sz="2400" dirty="0">
                <a:solidFill>
                  <a:srgbClr val="0000FF"/>
                </a:solidFill>
              </a:rPr>
              <a:t>超出资源限制</a:t>
            </a:r>
            <a:r>
              <a:rPr lang="zh-CN" altLang="en-US" sz="2400" dirty="0"/>
              <a:t>，</a:t>
            </a:r>
            <a:r>
              <a:rPr lang="zh-CN" altLang="en-US" sz="2400" dirty="0">
                <a:solidFill>
                  <a:srgbClr val="0000FF"/>
                </a:solidFill>
              </a:rPr>
              <a:t>违反</a:t>
            </a:r>
            <a:r>
              <a:rPr lang="zh-CN" altLang="en-US" sz="2400" dirty="0"/>
              <a:t>了某些</a:t>
            </a:r>
            <a:r>
              <a:rPr lang="zh-CN" altLang="en-US" sz="2400" dirty="0">
                <a:solidFill>
                  <a:srgbClr val="0000FF"/>
                </a:solidFill>
              </a:rPr>
              <a:t>完整性限制</a:t>
            </a:r>
            <a:r>
              <a:rPr lang="zh-CN" altLang="en-US" sz="2400" dirty="0"/>
              <a:t>而被终止等</a:t>
            </a:r>
            <a:endParaRPr lang="en-US" altLang="zh-CN" sz="2400" dirty="0"/>
          </a:p>
          <a:p>
            <a:pPr lvl="1"/>
            <a:r>
              <a:rPr lang="zh-CN" altLang="en-US" sz="2400" dirty="0"/>
              <a:t>系统错误</a:t>
            </a:r>
            <a:r>
              <a:rPr lang="en-US" altLang="zh-CN" sz="2400" dirty="0"/>
              <a:t>(system error), </a:t>
            </a:r>
            <a:r>
              <a:rPr lang="zh-CN" altLang="en-US" sz="2400" dirty="0"/>
              <a:t>系统进入一种</a:t>
            </a:r>
            <a:r>
              <a:rPr lang="zh-CN" altLang="en-US" sz="2400" dirty="0">
                <a:solidFill>
                  <a:srgbClr val="FF0000"/>
                </a:solidFill>
              </a:rPr>
              <a:t>不良状态</a:t>
            </a:r>
            <a:r>
              <a:rPr lang="en-US" altLang="zh-CN" sz="2400" dirty="0"/>
              <a:t>(</a:t>
            </a:r>
            <a:r>
              <a:rPr lang="zh-CN" altLang="en-US" sz="2400" dirty="0"/>
              <a:t>如死锁</a:t>
            </a:r>
            <a:r>
              <a:rPr lang="en-US" altLang="zh-CN" sz="2400" dirty="0"/>
              <a:t>)</a:t>
            </a:r>
            <a:r>
              <a:rPr lang="zh-CN" altLang="en-US" sz="2400" dirty="0"/>
              <a:t>，结果事务无法继续正常执行</a:t>
            </a:r>
            <a:r>
              <a:rPr lang="en-US" altLang="zh-CN" sz="2400" dirty="0"/>
              <a:t>(</a:t>
            </a:r>
            <a:r>
              <a:rPr lang="zh-CN" altLang="en-US" sz="2400" dirty="0"/>
              <a:t>并发事务发生</a:t>
            </a:r>
            <a:r>
              <a:rPr lang="zh-CN" altLang="en-US" sz="2400" dirty="0">
                <a:solidFill>
                  <a:srgbClr val="0000FF"/>
                </a:solidFill>
              </a:rPr>
              <a:t>死锁</a:t>
            </a:r>
            <a:r>
              <a:rPr lang="zh-CN" altLang="en-US" sz="2400" dirty="0"/>
              <a:t>而</a:t>
            </a:r>
            <a:r>
              <a:rPr lang="zh-CN" altLang="en-US" sz="2400" dirty="0">
                <a:solidFill>
                  <a:srgbClr val="FF0000"/>
                </a:solidFill>
              </a:rPr>
              <a:t>被选中</a:t>
            </a:r>
            <a:r>
              <a:rPr lang="zh-CN" altLang="en-US" sz="2400" dirty="0">
                <a:solidFill>
                  <a:srgbClr val="0000FF"/>
                </a:solidFill>
              </a:rPr>
              <a:t>撤销</a:t>
            </a:r>
            <a:r>
              <a:rPr lang="zh-CN" altLang="en-US" sz="2400" dirty="0"/>
              <a:t>该事务</a:t>
            </a:r>
            <a:r>
              <a:rPr lang="en-US" altLang="zh-CN" sz="2400" dirty="0"/>
              <a:t>)</a:t>
            </a:r>
            <a:r>
              <a:rPr lang="zh-CN" altLang="en-US" sz="2400" dirty="0"/>
              <a:t>，</a:t>
            </a:r>
            <a:r>
              <a:rPr lang="zh-CN" altLang="en-US" sz="2400" b="1" dirty="0"/>
              <a:t>但</a:t>
            </a:r>
            <a:r>
              <a:rPr lang="zh-CN" altLang="en-US" sz="2400" dirty="0"/>
              <a:t>该事务可以在以后的某个时间重新执行。</a:t>
            </a:r>
            <a:endParaRPr lang="en-US" altLang="zh-CN" sz="2400" dirty="0"/>
          </a:p>
          <a:p>
            <a:pPr lvl="1"/>
            <a:r>
              <a:rPr lang="zh-CN" altLang="en-US" sz="2400" dirty="0"/>
              <a:t>以后，事务故障仅指这类</a:t>
            </a:r>
            <a:r>
              <a:rPr lang="zh-CN" altLang="en-US" sz="2400" dirty="0">
                <a:solidFill>
                  <a:srgbClr val="FF0000"/>
                </a:solidFill>
              </a:rPr>
              <a:t>非预期</a:t>
            </a:r>
            <a:r>
              <a:rPr lang="zh-CN" altLang="en-US" sz="2400" dirty="0"/>
              <a:t>的故障，</a:t>
            </a:r>
            <a:r>
              <a:rPr lang="zh-CN" altLang="en-US" sz="2400" b="1" u="sng" dirty="0">
                <a:effectLst>
                  <a:outerShdw blurRad="38100" dist="38100" dir="2700000" algn="tl">
                    <a:srgbClr val="000000">
                      <a:alpha val="43137"/>
                    </a:srgbClr>
                  </a:outerShdw>
                </a:effectLst>
              </a:rPr>
              <a:t>怎么处理呢</a:t>
            </a:r>
            <a:r>
              <a:rPr lang="zh-CN" altLang="en-US" sz="2400" dirty="0"/>
              <a:t>？</a:t>
            </a:r>
          </a:p>
          <a:p>
            <a:pPr lvl="1"/>
            <a:r>
              <a:rPr lang="zh-CN" altLang="en-US" sz="2400" u="sng" dirty="0"/>
              <a:t>此时</a:t>
            </a:r>
            <a:r>
              <a:rPr lang="zh-CN" altLang="en-US" sz="2400" b="1" u="sng" dirty="0">
                <a:solidFill>
                  <a:srgbClr val="0000FF"/>
                </a:solidFill>
              </a:rPr>
              <a:t>必须</a:t>
            </a:r>
            <a:r>
              <a:rPr lang="zh-CN" altLang="en-US" sz="2400" b="1" u="sng" dirty="0">
                <a:solidFill>
                  <a:srgbClr val="FF0000"/>
                </a:solidFill>
              </a:rPr>
              <a:t>强行回滚</a:t>
            </a:r>
            <a:r>
              <a:rPr lang="zh-CN" altLang="en-US" sz="2400" u="sng" dirty="0"/>
              <a:t>（</a:t>
            </a:r>
            <a:r>
              <a:rPr lang="en-US" altLang="zh-CN" sz="2400" u="sng" dirty="0"/>
              <a:t>ROLLBACK</a:t>
            </a:r>
            <a:r>
              <a:rPr lang="zh-CN" altLang="en-US" sz="2400" u="sng" dirty="0"/>
              <a:t>）该事务，这类恢复操作称为</a:t>
            </a:r>
            <a:r>
              <a:rPr lang="zh-CN" altLang="en-US" sz="2400" b="1" u="sng" dirty="0">
                <a:solidFill>
                  <a:srgbClr val="0000FF"/>
                </a:solidFill>
              </a:rPr>
              <a:t>事务撤消（</a:t>
            </a:r>
            <a:r>
              <a:rPr lang="en-US" altLang="zh-CN" sz="2400" b="1" u="sng" dirty="0">
                <a:solidFill>
                  <a:srgbClr val="0000FF"/>
                </a:solidFill>
              </a:rPr>
              <a:t>UNDO</a:t>
            </a:r>
            <a:r>
              <a:rPr lang="zh-CN" altLang="en-US" sz="2400" b="1" u="sng" dirty="0">
                <a:solidFill>
                  <a:srgbClr val="0000FF"/>
                </a:solidFill>
              </a:rPr>
              <a:t>）</a:t>
            </a:r>
            <a:r>
              <a:rPr lang="zh-CN" altLang="en-US" sz="2400" b="1" u="sng" dirty="0"/>
              <a:t>保证</a:t>
            </a:r>
            <a:r>
              <a:rPr lang="zh-CN" altLang="en-US" sz="2400" b="1" u="sng" dirty="0">
                <a:solidFill>
                  <a:srgbClr val="0000FF"/>
                </a:solidFill>
              </a:rPr>
              <a:t>事务的原子性</a:t>
            </a:r>
            <a:r>
              <a:rPr lang="zh-CN" altLang="en-US" sz="2400" dirty="0"/>
              <a:t>。</a:t>
            </a:r>
            <a:endParaRPr lang="en-US" altLang="zh-CN" sz="2400" dirty="0"/>
          </a:p>
          <a:p>
            <a:pPr lvl="1"/>
            <a:endParaRPr lang="en-US" altLang="zh-CN" sz="2800" dirty="0"/>
          </a:p>
          <a:p>
            <a:endParaRPr lang="zh-CN" altLang="en-US" sz="2800" dirty="0"/>
          </a:p>
        </p:txBody>
      </p:sp>
      <p:sp>
        <p:nvSpPr>
          <p:cNvPr id="3" name="页脚占位符 2">
            <a:extLst>
              <a:ext uri="{FF2B5EF4-FFF2-40B4-BE49-F238E27FC236}">
                <a16:creationId xmlns:a16="http://schemas.microsoft.com/office/drawing/2014/main" id="{CB61D9BF-7FD0-B2E9-8066-52D2BA23B443}"/>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FBAC79E4-D421-6F33-E6FB-4EDD8BDBE616}"/>
              </a:ext>
            </a:extLst>
          </p:cNvPr>
          <p:cNvSpPr>
            <a:spLocks noGrp="1"/>
          </p:cNvSpPr>
          <p:nvPr>
            <p:ph type="sldNum" sz="quarter" idx="12"/>
          </p:nvPr>
        </p:nvSpPr>
        <p:spPr/>
        <p:txBody>
          <a:bodyPr/>
          <a:lstStyle/>
          <a:p>
            <a:fld id="{6CD0990F-CFD2-4E3E-9B0E-DA23AF729A97}" type="slidenum">
              <a:rPr lang="en-US" altLang="zh-CN" smtClean="0"/>
              <a:pPr/>
              <a:t>8</a:t>
            </a:fld>
            <a:r>
              <a:rPr lang="en-US" altLang="zh-CN"/>
              <a:t>/67</a:t>
            </a:r>
            <a:endParaRPr lang="zh-CN" altLang="en-US" dirty="0"/>
          </a:p>
        </p:txBody>
      </p:sp>
    </p:spTree>
    <p:extLst>
      <p:ext uri="{BB962C8B-B14F-4D97-AF65-F5344CB8AC3E}">
        <p14:creationId xmlns:p14="http://schemas.microsoft.com/office/powerpoint/2010/main" val="110803709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zh-CN" altLang="en-US"/>
              <a:t>数据库故障</a:t>
            </a:r>
            <a:r>
              <a:rPr lang="en-US" altLang="zh-CN" baseline="30000"/>
              <a:t>(</a:t>
            </a:r>
            <a:r>
              <a:rPr lang="zh-CN" altLang="en-US" baseline="30000"/>
              <a:t>续</a:t>
            </a:r>
            <a:r>
              <a:rPr lang="en-US" altLang="zh-CN" baseline="30000"/>
              <a:t>)</a:t>
            </a:r>
          </a:p>
        </p:txBody>
      </p:sp>
      <p:sp>
        <p:nvSpPr>
          <p:cNvPr id="10244" name="Rectangle 3"/>
          <p:cNvSpPr>
            <a:spLocks noGrp="1" noChangeArrowheads="1"/>
          </p:cNvSpPr>
          <p:nvPr>
            <p:ph type="body" idx="1"/>
          </p:nvPr>
        </p:nvSpPr>
        <p:spPr>
          <a:xfrm>
            <a:off x="638175" y="1340768"/>
            <a:ext cx="8105775" cy="4824536"/>
          </a:xfrm>
        </p:spPr>
        <p:txBody>
          <a:bodyPr/>
          <a:lstStyle/>
          <a:p>
            <a:r>
              <a:rPr lang="zh-CN" altLang="en-US" sz="2800" dirty="0"/>
              <a:t>常见类型故障有：</a:t>
            </a:r>
            <a:endParaRPr lang="en-US" altLang="zh-CN" sz="2800" dirty="0"/>
          </a:p>
          <a:p>
            <a:pPr lvl="1"/>
            <a:r>
              <a:rPr lang="en-US" altLang="zh-CN" sz="2400" dirty="0">
                <a:solidFill>
                  <a:srgbClr val="FF3300"/>
                </a:solidFill>
              </a:rPr>
              <a:t>2.</a:t>
            </a:r>
            <a:r>
              <a:rPr lang="zh-CN" altLang="en-US" sz="2400" b="1" dirty="0">
                <a:solidFill>
                  <a:srgbClr val="FF3300"/>
                </a:solidFill>
              </a:rPr>
              <a:t>系统故障</a:t>
            </a:r>
          </a:p>
          <a:p>
            <a:pPr lvl="2"/>
            <a:r>
              <a:rPr lang="zh-CN" altLang="en-US" sz="2000" b="1" dirty="0">
                <a:solidFill>
                  <a:srgbClr val="7030A0"/>
                </a:solidFill>
              </a:rPr>
              <a:t>软故障</a:t>
            </a:r>
            <a:r>
              <a:rPr lang="en-US" altLang="zh-CN" sz="2000" dirty="0"/>
              <a:t>(soft crash)</a:t>
            </a:r>
            <a:r>
              <a:rPr lang="zh-CN" altLang="en-US" sz="2000" dirty="0"/>
              <a:t>：在</a:t>
            </a:r>
            <a:r>
              <a:rPr lang="zh-CN" altLang="en-US" sz="2000" b="1" dirty="0"/>
              <a:t>硬件故障、软件错误</a:t>
            </a:r>
            <a:r>
              <a:rPr lang="zh-CN" altLang="en-US" sz="2000" dirty="0"/>
              <a:t>的影响下，虽</a:t>
            </a:r>
            <a:r>
              <a:rPr lang="zh-CN" altLang="en-US" sz="2000" dirty="0">
                <a:solidFill>
                  <a:srgbClr val="FF0000"/>
                </a:solidFill>
              </a:rPr>
              <a:t>引起</a:t>
            </a:r>
            <a:r>
              <a:rPr lang="zh-CN" altLang="en-US" sz="2000" b="1" u="sng" dirty="0">
                <a:solidFill>
                  <a:srgbClr val="FF0000"/>
                </a:solidFill>
              </a:rPr>
              <a:t>内存信息丢失</a:t>
            </a:r>
            <a:r>
              <a:rPr lang="zh-CN" altLang="en-US" sz="2000" dirty="0"/>
              <a:t>，但</a:t>
            </a:r>
            <a:r>
              <a:rPr lang="zh-CN" altLang="en-US" sz="2000" dirty="0">
                <a:solidFill>
                  <a:srgbClr val="0000FF"/>
                </a:solidFill>
              </a:rPr>
              <a:t>未破坏外存中数据</a:t>
            </a:r>
            <a:r>
              <a:rPr lang="zh-CN" altLang="en-US" sz="2000" dirty="0"/>
              <a:t>。</a:t>
            </a:r>
          </a:p>
          <a:p>
            <a:pPr lvl="2"/>
            <a:r>
              <a:rPr lang="zh-CN" altLang="en-US" sz="2000" dirty="0"/>
              <a:t>如</a:t>
            </a:r>
            <a:r>
              <a:rPr lang="en-US" altLang="zh-CN" sz="2000" dirty="0">
                <a:solidFill>
                  <a:srgbClr val="FF0000"/>
                </a:solidFill>
              </a:rPr>
              <a:t>CPU</a:t>
            </a:r>
            <a:r>
              <a:rPr lang="zh-CN" altLang="en-US" sz="2000" dirty="0">
                <a:solidFill>
                  <a:srgbClr val="FF0000"/>
                </a:solidFill>
              </a:rPr>
              <a:t>故障、突然停电，</a:t>
            </a:r>
            <a:r>
              <a:rPr lang="en-US" altLang="zh-CN" sz="2000" dirty="0">
                <a:solidFill>
                  <a:srgbClr val="FF0000"/>
                </a:solidFill>
              </a:rPr>
              <a:t>DBMS</a:t>
            </a:r>
            <a:r>
              <a:rPr lang="zh-CN" altLang="en-US" sz="2000" dirty="0">
                <a:solidFill>
                  <a:srgbClr val="FF0000"/>
                </a:solidFill>
              </a:rPr>
              <a:t>、</a:t>
            </a:r>
            <a:r>
              <a:rPr lang="en-US" altLang="zh-CN" sz="2000" dirty="0">
                <a:solidFill>
                  <a:srgbClr val="FF0000"/>
                </a:solidFill>
              </a:rPr>
              <a:t>OS</a:t>
            </a:r>
            <a:r>
              <a:rPr lang="zh-CN" altLang="en-US" sz="2000" dirty="0">
                <a:solidFill>
                  <a:srgbClr val="FF0000"/>
                </a:solidFill>
              </a:rPr>
              <a:t>、应用程序等异常终止</a:t>
            </a:r>
            <a:r>
              <a:rPr lang="zh-CN" altLang="en-US" sz="2000" dirty="0"/>
              <a:t>等</a:t>
            </a:r>
            <a:r>
              <a:rPr lang="en-US" altLang="zh-CN" sz="2000" dirty="0"/>
              <a:t>;</a:t>
            </a:r>
          </a:p>
          <a:p>
            <a:pPr lvl="2"/>
            <a:r>
              <a:rPr lang="zh-CN" altLang="en-US" sz="2000" dirty="0"/>
              <a:t>此类故障，在系统重新启动时，</a:t>
            </a:r>
            <a:r>
              <a:rPr lang="zh-CN" altLang="en-US" sz="2000" b="1" u="sng" dirty="0">
                <a:solidFill>
                  <a:schemeClr val="tx2"/>
                </a:solidFill>
              </a:rPr>
              <a:t>恢复子系统</a:t>
            </a:r>
            <a:r>
              <a:rPr lang="zh-CN" altLang="en-US" sz="2000" b="1" u="sng" dirty="0"/>
              <a:t>需要</a:t>
            </a:r>
            <a:r>
              <a:rPr lang="zh-CN" altLang="en-US" sz="2000" b="1" u="sng" dirty="0">
                <a:solidFill>
                  <a:srgbClr val="C00000"/>
                </a:solidFill>
              </a:rPr>
              <a:t>撤消（</a:t>
            </a:r>
            <a:r>
              <a:rPr lang="en-US" altLang="zh-CN" sz="2000" b="1" u="sng" dirty="0">
                <a:solidFill>
                  <a:srgbClr val="0000FF"/>
                </a:solidFill>
              </a:rPr>
              <a:t>UNDO</a:t>
            </a:r>
            <a:r>
              <a:rPr lang="zh-CN" altLang="en-US" sz="2000" b="1" u="sng" dirty="0">
                <a:solidFill>
                  <a:srgbClr val="C00000"/>
                </a:solidFill>
              </a:rPr>
              <a:t>）</a:t>
            </a:r>
            <a:r>
              <a:rPr lang="zh-CN" altLang="en-US" sz="2000" b="1" u="sng" dirty="0"/>
              <a:t>所有</a:t>
            </a:r>
            <a:r>
              <a:rPr lang="zh-CN" altLang="en-US" sz="2000" b="1" u="sng" dirty="0">
                <a:solidFill>
                  <a:srgbClr val="C00000"/>
                </a:solidFill>
              </a:rPr>
              <a:t>未完成（非正常终止）的事务</a:t>
            </a:r>
            <a:r>
              <a:rPr lang="zh-CN" altLang="en-US" sz="2000" b="1" u="sng" dirty="0"/>
              <a:t>，并</a:t>
            </a:r>
            <a:r>
              <a:rPr lang="zh-CN" altLang="en-US" sz="2000" b="1" u="sng" dirty="0">
                <a:solidFill>
                  <a:srgbClr val="C00000"/>
                </a:solidFill>
              </a:rPr>
              <a:t>重做（</a:t>
            </a:r>
            <a:r>
              <a:rPr lang="en-US" altLang="zh-CN" sz="2000" b="1" u="sng" dirty="0">
                <a:solidFill>
                  <a:srgbClr val="0000FF"/>
                </a:solidFill>
              </a:rPr>
              <a:t>REDO</a:t>
            </a:r>
            <a:r>
              <a:rPr lang="zh-CN" altLang="en-US" sz="2000" b="1" u="sng" dirty="0">
                <a:solidFill>
                  <a:srgbClr val="C00000"/>
                </a:solidFill>
              </a:rPr>
              <a:t>）</a:t>
            </a:r>
            <a:r>
              <a:rPr lang="zh-CN" altLang="en-US" sz="2000" b="1" u="sng" dirty="0"/>
              <a:t>所有</a:t>
            </a:r>
            <a:r>
              <a:rPr lang="zh-CN" altLang="en-US" sz="2000" b="1" u="sng" dirty="0">
                <a:solidFill>
                  <a:srgbClr val="C00000"/>
                </a:solidFill>
              </a:rPr>
              <a:t>已提交的事务</a:t>
            </a:r>
            <a:r>
              <a:rPr lang="zh-CN" altLang="en-US" sz="2000" b="1" dirty="0"/>
              <a:t>。</a:t>
            </a:r>
            <a:endParaRPr lang="en-US" altLang="zh-CN" sz="2000" b="1" dirty="0"/>
          </a:p>
          <a:p>
            <a:pPr lvl="3"/>
            <a:r>
              <a:rPr lang="zh-CN" altLang="en-US" dirty="0">
                <a:ea typeface="宋体" charset="-122"/>
              </a:rPr>
              <a:t>发生系统故障时，事务</a:t>
            </a:r>
            <a:r>
              <a:rPr lang="zh-CN" altLang="en-US" b="1" dirty="0">
                <a:solidFill>
                  <a:srgbClr val="0000FF"/>
                </a:solidFill>
                <a:ea typeface="宋体" charset="-122"/>
              </a:rPr>
              <a:t>未提交</a:t>
            </a:r>
            <a:endParaRPr lang="zh-CN" altLang="en-US" sz="1800" b="1" dirty="0">
              <a:solidFill>
                <a:srgbClr val="0000FF"/>
              </a:solidFill>
              <a:ea typeface="宋体" charset="-122"/>
            </a:endParaRPr>
          </a:p>
          <a:p>
            <a:pPr lvl="4"/>
            <a:r>
              <a:rPr lang="zh-CN" altLang="en-US" sz="1800" dirty="0">
                <a:ea typeface="宋体" charset="-122"/>
              </a:rPr>
              <a:t>恢复策略：</a:t>
            </a:r>
            <a:r>
              <a:rPr lang="zh-CN" altLang="en-US" sz="1800" b="1" dirty="0">
                <a:solidFill>
                  <a:srgbClr val="0000FF"/>
                </a:solidFill>
                <a:ea typeface="宋体" charset="-122"/>
              </a:rPr>
              <a:t>强行撤消（</a:t>
            </a:r>
            <a:r>
              <a:rPr lang="en-US" altLang="zh-CN" sz="1800" b="1" dirty="0">
                <a:solidFill>
                  <a:srgbClr val="0000FF"/>
                </a:solidFill>
                <a:ea typeface="宋体" charset="-122"/>
              </a:rPr>
              <a:t>UNDO</a:t>
            </a:r>
            <a:r>
              <a:rPr lang="zh-CN" altLang="en-US" sz="1800" b="1" dirty="0">
                <a:solidFill>
                  <a:srgbClr val="0000FF"/>
                </a:solidFill>
                <a:ea typeface="宋体" charset="-122"/>
              </a:rPr>
              <a:t>）</a:t>
            </a:r>
            <a:r>
              <a:rPr lang="zh-CN" altLang="en-US" sz="1800" b="1" dirty="0">
                <a:ea typeface="宋体" charset="-122"/>
              </a:rPr>
              <a:t>所有未完成事务</a:t>
            </a:r>
          </a:p>
          <a:p>
            <a:pPr lvl="3"/>
            <a:r>
              <a:rPr lang="zh-CN" altLang="en-US" dirty="0">
                <a:ea typeface="宋体" charset="-122"/>
              </a:rPr>
              <a:t>发生系统故障时，事务</a:t>
            </a:r>
            <a:r>
              <a:rPr lang="zh-CN" altLang="en-US" b="1" dirty="0">
                <a:solidFill>
                  <a:srgbClr val="0000FF"/>
                </a:solidFill>
                <a:ea typeface="宋体" charset="-122"/>
              </a:rPr>
              <a:t>已提交</a:t>
            </a:r>
            <a:r>
              <a:rPr lang="zh-CN" altLang="en-US" dirty="0">
                <a:ea typeface="宋体" charset="-122"/>
              </a:rPr>
              <a:t>，但</a:t>
            </a:r>
            <a:r>
              <a:rPr lang="zh-CN" altLang="en-US" dirty="0">
                <a:solidFill>
                  <a:srgbClr val="0000FF"/>
                </a:solidFill>
                <a:ea typeface="宋体" charset="-122"/>
              </a:rPr>
              <a:t>缓冲区</a:t>
            </a:r>
            <a:r>
              <a:rPr lang="zh-CN" altLang="en-US" dirty="0">
                <a:ea typeface="宋体" charset="-122"/>
              </a:rPr>
              <a:t>中的信息</a:t>
            </a:r>
            <a:r>
              <a:rPr lang="zh-CN" altLang="en-US" b="1" dirty="0">
                <a:solidFill>
                  <a:srgbClr val="FF0000"/>
                </a:solidFill>
                <a:ea typeface="宋体" charset="-122"/>
              </a:rPr>
              <a:t>尚未完全写回到</a:t>
            </a:r>
            <a:r>
              <a:rPr lang="zh-CN" altLang="en-US" dirty="0">
                <a:solidFill>
                  <a:srgbClr val="0000FF"/>
                </a:solidFill>
                <a:ea typeface="宋体" charset="-122"/>
              </a:rPr>
              <a:t>磁盘上</a:t>
            </a:r>
            <a:r>
              <a:rPr lang="zh-CN" altLang="en-US" dirty="0">
                <a:ea typeface="宋体" charset="-122"/>
              </a:rPr>
              <a:t>。</a:t>
            </a:r>
          </a:p>
          <a:p>
            <a:pPr lvl="4"/>
            <a:r>
              <a:rPr lang="zh-CN" altLang="en-US" sz="1800" dirty="0">
                <a:ea typeface="宋体" charset="-122"/>
              </a:rPr>
              <a:t>恢复策略：</a:t>
            </a:r>
            <a:r>
              <a:rPr lang="zh-CN" altLang="en-US" sz="1800" b="1" dirty="0">
                <a:solidFill>
                  <a:srgbClr val="0000FF"/>
                </a:solidFill>
                <a:ea typeface="宋体" charset="-122"/>
              </a:rPr>
              <a:t>重做（</a:t>
            </a:r>
            <a:r>
              <a:rPr lang="en-US" altLang="zh-CN" sz="1800" b="1" dirty="0">
                <a:solidFill>
                  <a:srgbClr val="0000FF"/>
                </a:solidFill>
                <a:ea typeface="宋体" charset="-122"/>
              </a:rPr>
              <a:t>REDO</a:t>
            </a:r>
            <a:r>
              <a:rPr lang="zh-CN" altLang="en-US" sz="1800" b="1" dirty="0">
                <a:solidFill>
                  <a:srgbClr val="0000FF"/>
                </a:solidFill>
                <a:ea typeface="宋体" charset="-122"/>
              </a:rPr>
              <a:t>）</a:t>
            </a:r>
            <a:r>
              <a:rPr lang="zh-CN" altLang="en-US" sz="1800" b="1" dirty="0">
                <a:ea typeface="宋体" charset="-122"/>
              </a:rPr>
              <a:t>所有已提交的事务。</a:t>
            </a:r>
            <a:endParaRPr lang="zh-CN" altLang="en-US" sz="2000" b="1" dirty="0"/>
          </a:p>
        </p:txBody>
      </p:sp>
      <p:sp>
        <p:nvSpPr>
          <p:cNvPr id="2" name="日期占位符 1">
            <a:extLst>
              <a:ext uri="{FF2B5EF4-FFF2-40B4-BE49-F238E27FC236}">
                <a16:creationId xmlns:a16="http://schemas.microsoft.com/office/drawing/2014/main" id="{FF226B5E-E7C9-3A63-A5AE-642156C33E87}"/>
              </a:ext>
            </a:extLst>
          </p:cNvPr>
          <p:cNvSpPr>
            <a:spLocks noGrp="1"/>
          </p:cNvSpPr>
          <p:nvPr>
            <p:ph type="dt" sz="half" idx="10"/>
          </p:nvPr>
        </p:nvSpPr>
        <p:spPr/>
        <p:txBody>
          <a:bodyPr/>
          <a:lstStyle/>
          <a:p>
            <a:fld id="{3542622A-7BB1-4C8C-9CC3-2784E84BA78C}"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6BE1AE48-726E-780D-1D9D-ECADBA5CA146}"/>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B595F7B8-A479-B0DB-713B-0E6589B6A8D7}"/>
              </a:ext>
            </a:extLst>
          </p:cNvPr>
          <p:cNvSpPr>
            <a:spLocks noGrp="1"/>
          </p:cNvSpPr>
          <p:nvPr>
            <p:ph type="sldNum" sz="quarter" idx="12"/>
          </p:nvPr>
        </p:nvSpPr>
        <p:spPr/>
        <p:txBody>
          <a:bodyPr/>
          <a:lstStyle/>
          <a:p>
            <a:fld id="{6CD0990F-CFD2-4E3E-9B0E-DA23AF729A97}" type="slidenum">
              <a:rPr lang="en-US" altLang="zh-CN" smtClean="0"/>
              <a:pPr/>
              <a:t>9</a:t>
            </a:fld>
            <a:r>
              <a:rPr lang="en-US" altLang="zh-CN"/>
              <a:t>/67</a:t>
            </a:r>
            <a:endParaRPr lang="zh-CN" altLang="en-US" dirty="0"/>
          </a:p>
        </p:txBody>
      </p:sp>
    </p:spTree>
    <p:extLst>
      <p:ext uri="{BB962C8B-B14F-4D97-AF65-F5344CB8AC3E}">
        <p14:creationId xmlns:p14="http://schemas.microsoft.com/office/powerpoint/2010/main" val="407970940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zh-CN" altLang="en-US"/>
              <a:t>数据库故障</a:t>
            </a:r>
            <a:r>
              <a:rPr lang="en-US" altLang="zh-CN" baseline="30000"/>
              <a:t>(</a:t>
            </a:r>
            <a:r>
              <a:rPr lang="zh-CN" altLang="en-US" baseline="30000"/>
              <a:t>续</a:t>
            </a:r>
            <a:r>
              <a:rPr lang="en-US" altLang="zh-CN" baseline="30000"/>
              <a:t>)</a:t>
            </a:r>
          </a:p>
        </p:txBody>
      </p:sp>
      <p:sp>
        <p:nvSpPr>
          <p:cNvPr id="10244" name="Rectangle 3"/>
          <p:cNvSpPr>
            <a:spLocks noGrp="1" noChangeArrowheads="1"/>
          </p:cNvSpPr>
          <p:nvPr>
            <p:ph type="body" idx="1"/>
          </p:nvPr>
        </p:nvSpPr>
        <p:spPr>
          <a:xfrm>
            <a:off x="638175" y="1340768"/>
            <a:ext cx="8332788" cy="5184576"/>
          </a:xfrm>
        </p:spPr>
        <p:txBody>
          <a:bodyPr/>
          <a:lstStyle/>
          <a:p>
            <a:r>
              <a:rPr lang="zh-CN" altLang="en-US" sz="2800" dirty="0"/>
              <a:t>常见类型故障有：</a:t>
            </a:r>
            <a:endParaRPr lang="zh-CN" altLang="en-US" sz="2000" dirty="0"/>
          </a:p>
          <a:p>
            <a:pPr lvl="1"/>
            <a:r>
              <a:rPr lang="en-US" altLang="zh-CN" sz="2400" b="1" dirty="0">
                <a:solidFill>
                  <a:srgbClr val="FF3300"/>
                </a:solidFill>
              </a:rPr>
              <a:t>3</a:t>
            </a:r>
            <a:r>
              <a:rPr lang="zh-CN" altLang="en-US" sz="2400" b="1" dirty="0">
                <a:solidFill>
                  <a:srgbClr val="FF3300"/>
                </a:solidFill>
              </a:rPr>
              <a:t>介质故障</a:t>
            </a:r>
          </a:p>
          <a:p>
            <a:pPr lvl="2"/>
            <a:r>
              <a:rPr lang="zh-CN" altLang="en-US" sz="2000" b="1" dirty="0">
                <a:solidFill>
                  <a:srgbClr val="7030A0"/>
                </a:solidFill>
              </a:rPr>
              <a:t>硬故障</a:t>
            </a:r>
            <a:r>
              <a:rPr lang="en-US" altLang="zh-CN" sz="2000" dirty="0"/>
              <a:t>(hard crash)</a:t>
            </a:r>
            <a:r>
              <a:rPr lang="zh-CN" altLang="en-US" sz="2000" dirty="0"/>
              <a:t>：又称磁盘故障，</a:t>
            </a:r>
            <a:r>
              <a:rPr lang="zh-CN" altLang="en-US" sz="2000" dirty="0">
                <a:solidFill>
                  <a:srgbClr val="FF0000"/>
                </a:solidFill>
              </a:rPr>
              <a:t>外存上的数据库被破坏</a:t>
            </a:r>
            <a:r>
              <a:rPr lang="zh-CN" altLang="en-US" sz="2000" dirty="0"/>
              <a:t>，并</a:t>
            </a:r>
            <a:r>
              <a:rPr lang="zh-CN" altLang="en-US" sz="2000" u="sng" dirty="0"/>
              <a:t>影响正在存取这部分数据的所有事务</a:t>
            </a:r>
            <a:r>
              <a:rPr lang="zh-CN" altLang="en-US" sz="2000" dirty="0"/>
              <a:t>；</a:t>
            </a:r>
          </a:p>
          <a:p>
            <a:pPr lvl="2"/>
            <a:r>
              <a:rPr lang="zh-CN" altLang="en-US" sz="2000" dirty="0"/>
              <a:t>如磁盘的磁头碰撞、瞬时的强磁场干扰</a:t>
            </a:r>
            <a:endParaRPr lang="en-US" altLang="zh-CN" sz="2000" dirty="0"/>
          </a:p>
          <a:p>
            <a:pPr lvl="2">
              <a:spcBef>
                <a:spcPct val="45000"/>
              </a:spcBef>
            </a:pPr>
            <a:r>
              <a:rPr lang="zh-CN" altLang="en-US" sz="2000" dirty="0"/>
              <a:t>这类故障将</a:t>
            </a:r>
            <a:r>
              <a:rPr lang="zh-CN" altLang="en-US" sz="2000" dirty="0">
                <a:solidFill>
                  <a:srgbClr val="FF0000"/>
                </a:solidFill>
              </a:rPr>
              <a:t>破坏</a:t>
            </a:r>
            <a:r>
              <a:rPr lang="zh-CN" altLang="en-US" sz="2000" dirty="0">
                <a:solidFill>
                  <a:schemeClr val="tx2"/>
                </a:solidFill>
              </a:rPr>
              <a:t>数据库</a:t>
            </a:r>
            <a:r>
              <a:rPr lang="zh-CN" altLang="en-US" sz="2000" dirty="0"/>
              <a:t>或</a:t>
            </a:r>
            <a:r>
              <a:rPr lang="zh-CN" altLang="en-US" sz="2000" dirty="0">
                <a:solidFill>
                  <a:schemeClr val="tx2"/>
                </a:solidFill>
              </a:rPr>
              <a:t>部分数据库</a:t>
            </a:r>
            <a:r>
              <a:rPr lang="zh-CN" altLang="en-US" sz="2000" dirty="0"/>
              <a:t>。</a:t>
            </a:r>
          </a:p>
          <a:p>
            <a:pPr lvl="2">
              <a:spcBef>
                <a:spcPct val="45000"/>
              </a:spcBef>
            </a:pPr>
            <a:r>
              <a:rPr lang="zh-CN" altLang="en-US" sz="2000" dirty="0"/>
              <a:t>这类故障发生的</a:t>
            </a:r>
            <a:r>
              <a:rPr lang="zh-CN" altLang="en-US" sz="2000" u="sng" dirty="0"/>
              <a:t>可能性很小</a:t>
            </a:r>
            <a:r>
              <a:rPr lang="zh-CN" altLang="en-US" sz="2000" dirty="0"/>
              <a:t>，但</a:t>
            </a:r>
            <a:r>
              <a:rPr lang="zh-CN" altLang="en-US" sz="2000" b="1" dirty="0">
                <a:solidFill>
                  <a:srgbClr val="FF0000"/>
                </a:solidFill>
              </a:rPr>
              <a:t>破坏性</a:t>
            </a:r>
            <a:r>
              <a:rPr lang="zh-CN" altLang="en-US" sz="2000" dirty="0">
                <a:solidFill>
                  <a:srgbClr val="FF0000"/>
                </a:solidFill>
              </a:rPr>
              <a:t>最大</a:t>
            </a:r>
            <a:r>
              <a:rPr lang="zh-CN" altLang="en-US" sz="2000" dirty="0"/>
              <a:t>。</a:t>
            </a:r>
            <a:endParaRPr lang="en-US" altLang="zh-CN" sz="2000" dirty="0"/>
          </a:p>
          <a:p>
            <a:pPr lvl="1"/>
            <a:r>
              <a:rPr lang="en-US" altLang="zh-CN" sz="2400" b="1" dirty="0">
                <a:solidFill>
                  <a:srgbClr val="FF3300"/>
                </a:solidFill>
              </a:rPr>
              <a:t>4</a:t>
            </a:r>
            <a:r>
              <a:rPr lang="zh-CN" altLang="en-US" sz="2400" b="1" dirty="0">
                <a:solidFill>
                  <a:srgbClr val="FF3300"/>
                </a:solidFill>
              </a:rPr>
              <a:t>计算机病毒或恶意攻击</a:t>
            </a:r>
          </a:p>
          <a:p>
            <a:pPr lvl="2">
              <a:spcBef>
                <a:spcPts val="0"/>
              </a:spcBef>
            </a:pPr>
            <a:r>
              <a:rPr lang="zh-CN" altLang="en-US" sz="2000" dirty="0"/>
              <a:t>这是一种人为的故障或破坏</a:t>
            </a:r>
            <a:r>
              <a:rPr lang="zh-CN" altLang="en-US" dirty="0"/>
              <a:t>。</a:t>
            </a:r>
            <a:endParaRPr lang="en-US" altLang="zh-CN" dirty="0"/>
          </a:p>
          <a:p>
            <a:pPr lvl="1">
              <a:spcBef>
                <a:spcPts val="0"/>
              </a:spcBef>
            </a:pPr>
            <a:r>
              <a:rPr lang="zh-CN" altLang="en-US" sz="2400" u="sng" dirty="0"/>
              <a:t>该类故障处理：</a:t>
            </a:r>
            <a:endParaRPr lang="en-US" altLang="zh-CN" sz="2400" u="sng" dirty="0"/>
          </a:p>
          <a:p>
            <a:pPr marL="457200" lvl="1" indent="0">
              <a:spcBef>
                <a:spcPts val="0"/>
              </a:spcBef>
              <a:buNone/>
            </a:pPr>
            <a:r>
              <a:rPr lang="en-US" altLang="zh-CN" sz="2400" dirty="0"/>
              <a:t>1.</a:t>
            </a:r>
            <a:r>
              <a:rPr lang="zh-CN" altLang="en-US" sz="2400" dirty="0"/>
              <a:t>需要</a:t>
            </a:r>
            <a:r>
              <a:rPr lang="zh-CN" altLang="en-US" sz="2400" dirty="0">
                <a:solidFill>
                  <a:srgbClr val="FF0000"/>
                </a:solidFill>
                <a:ea typeface="宋体" charset="-122"/>
              </a:rPr>
              <a:t>装入</a:t>
            </a:r>
            <a:r>
              <a:rPr lang="zh-CN" altLang="en-US" sz="2400" dirty="0">
                <a:ea typeface="宋体" charset="-122"/>
              </a:rPr>
              <a:t>数据库</a:t>
            </a:r>
            <a:r>
              <a:rPr lang="zh-CN" altLang="en-US" sz="2400" dirty="0">
                <a:solidFill>
                  <a:srgbClr val="0000FF"/>
                </a:solidFill>
                <a:ea typeface="宋体" charset="-122"/>
              </a:rPr>
              <a:t>发生介质故障</a:t>
            </a:r>
            <a:r>
              <a:rPr lang="zh-CN" altLang="en-US" sz="2400" b="1" dirty="0">
                <a:solidFill>
                  <a:srgbClr val="FF0000"/>
                </a:solidFill>
                <a:ea typeface="宋体" charset="-122"/>
              </a:rPr>
              <a:t>前</a:t>
            </a:r>
            <a:r>
              <a:rPr lang="zh-CN" altLang="en-US" sz="2400" b="1" dirty="0">
                <a:effectLst>
                  <a:outerShdw blurRad="38100" dist="38100" dir="2700000" algn="tl">
                    <a:srgbClr val="000000">
                      <a:alpha val="43137"/>
                    </a:srgbClr>
                  </a:outerShdw>
                </a:effectLst>
                <a:ea typeface="宋体" charset="-122"/>
              </a:rPr>
              <a:t>某个时刻</a:t>
            </a:r>
            <a:r>
              <a:rPr lang="zh-CN" altLang="en-US" sz="2400" dirty="0">
                <a:ea typeface="宋体" charset="-122"/>
              </a:rPr>
              <a:t>的</a:t>
            </a:r>
            <a:r>
              <a:rPr lang="zh-CN" altLang="en-US" sz="2400" b="1" dirty="0">
                <a:ea typeface="宋体" charset="-122"/>
              </a:rPr>
              <a:t>数据</a:t>
            </a:r>
            <a:r>
              <a:rPr lang="zh-CN" altLang="en-US" sz="2400" b="1" dirty="0">
                <a:solidFill>
                  <a:srgbClr val="FF0000"/>
                </a:solidFill>
                <a:ea typeface="宋体" charset="-122"/>
              </a:rPr>
              <a:t>副本；</a:t>
            </a:r>
            <a:r>
              <a:rPr lang="en-US" altLang="zh-CN" sz="2400" dirty="0">
                <a:solidFill>
                  <a:srgbClr val="FF0000"/>
                </a:solidFill>
                <a:ea typeface="宋体" charset="-122"/>
              </a:rPr>
              <a:t>2.</a:t>
            </a:r>
            <a:r>
              <a:rPr lang="zh-CN" altLang="en-US" sz="2400" dirty="0">
                <a:solidFill>
                  <a:srgbClr val="FF0000"/>
                </a:solidFill>
                <a:ea typeface="宋体" charset="-122"/>
              </a:rPr>
              <a:t>重做</a:t>
            </a:r>
            <a:r>
              <a:rPr lang="en-US" altLang="zh-CN" sz="2400" dirty="0">
                <a:solidFill>
                  <a:srgbClr val="FF0000"/>
                </a:solidFill>
                <a:ea typeface="宋体" charset="-122"/>
              </a:rPr>
              <a:t>(</a:t>
            </a:r>
            <a:r>
              <a:rPr lang="en-US" altLang="zh-CN" sz="2400" b="1" dirty="0">
                <a:solidFill>
                  <a:srgbClr val="0000FF"/>
                </a:solidFill>
                <a:ea typeface="宋体" charset="-122"/>
              </a:rPr>
              <a:t>REDO</a:t>
            </a:r>
            <a:r>
              <a:rPr lang="en-US" altLang="zh-CN" sz="2400" dirty="0">
                <a:solidFill>
                  <a:srgbClr val="FF0000"/>
                </a:solidFill>
                <a:ea typeface="宋体" charset="-122"/>
              </a:rPr>
              <a:t>)</a:t>
            </a:r>
            <a:r>
              <a:rPr lang="zh-CN" altLang="en-US" sz="2400" b="1" dirty="0">
                <a:effectLst>
                  <a:outerShdw blurRad="38100" dist="38100" dir="2700000" algn="tl">
                    <a:srgbClr val="000000">
                      <a:alpha val="43137"/>
                    </a:srgbClr>
                  </a:outerShdw>
                </a:effectLst>
                <a:ea typeface="宋体" charset="-122"/>
              </a:rPr>
              <a:t>自此时始到故障发生时</a:t>
            </a:r>
            <a:r>
              <a:rPr lang="zh-CN" altLang="en-US" sz="2400" dirty="0">
                <a:ea typeface="宋体" charset="-122"/>
              </a:rPr>
              <a:t>的所有</a:t>
            </a:r>
            <a:r>
              <a:rPr lang="zh-CN" altLang="en-US" sz="2400" dirty="0">
                <a:solidFill>
                  <a:srgbClr val="FF0000"/>
                </a:solidFill>
                <a:ea typeface="宋体" charset="-122"/>
              </a:rPr>
              <a:t>成功</a:t>
            </a:r>
            <a:r>
              <a:rPr lang="zh-CN" altLang="en-US" sz="2400" dirty="0">
                <a:ea typeface="宋体" charset="-122"/>
              </a:rPr>
              <a:t>事务，将这些事务</a:t>
            </a:r>
            <a:r>
              <a:rPr lang="zh-CN" altLang="en-US" sz="2400" dirty="0">
                <a:solidFill>
                  <a:srgbClr val="0000FF"/>
                </a:solidFill>
                <a:ea typeface="宋体" charset="-122"/>
              </a:rPr>
              <a:t>已提交的结果</a:t>
            </a:r>
            <a:r>
              <a:rPr lang="zh-CN" altLang="en-US" sz="2400" dirty="0">
                <a:solidFill>
                  <a:srgbClr val="FF0000"/>
                </a:solidFill>
                <a:ea typeface="宋体" charset="-122"/>
              </a:rPr>
              <a:t>重新记入</a:t>
            </a:r>
            <a:r>
              <a:rPr lang="zh-CN" altLang="en-US" sz="2400" dirty="0">
                <a:ea typeface="宋体" charset="-122"/>
              </a:rPr>
              <a:t>数据库。</a:t>
            </a:r>
          </a:p>
          <a:p>
            <a:pPr lvl="1">
              <a:spcBef>
                <a:spcPct val="45000"/>
              </a:spcBef>
            </a:pPr>
            <a:endParaRPr lang="en-US" altLang="zh-CN" dirty="0"/>
          </a:p>
          <a:p>
            <a:pPr lvl="2"/>
            <a:endParaRPr lang="zh-CN" altLang="en-US" sz="2000" dirty="0"/>
          </a:p>
        </p:txBody>
      </p:sp>
      <p:sp>
        <p:nvSpPr>
          <p:cNvPr id="2" name="日期占位符 1">
            <a:extLst>
              <a:ext uri="{FF2B5EF4-FFF2-40B4-BE49-F238E27FC236}">
                <a16:creationId xmlns:a16="http://schemas.microsoft.com/office/drawing/2014/main" id="{9B6FCBB2-3180-E1F6-2F3A-1932B9D92379}"/>
              </a:ext>
            </a:extLst>
          </p:cNvPr>
          <p:cNvSpPr>
            <a:spLocks noGrp="1"/>
          </p:cNvSpPr>
          <p:nvPr>
            <p:ph type="dt" sz="half" idx="10"/>
          </p:nvPr>
        </p:nvSpPr>
        <p:spPr/>
        <p:txBody>
          <a:bodyPr/>
          <a:lstStyle/>
          <a:p>
            <a:fld id="{F57F1B40-ECCE-4D8C-900B-73E1BE058E79}"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C2CF242E-158D-5629-771C-C842B40F883F}"/>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86139605-960C-72FA-3D9F-146225FAA098}"/>
              </a:ext>
            </a:extLst>
          </p:cNvPr>
          <p:cNvSpPr>
            <a:spLocks noGrp="1"/>
          </p:cNvSpPr>
          <p:nvPr>
            <p:ph type="sldNum" sz="quarter" idx="12"/>
          </p:nvPr>
        </p:nvSpPr>
        <p:spPr/>
        <p:txBody>
          <a:bodyPr/>
          <a:lstStyle/>
          <a:p>
            <a:fld id="{6CD0990F-CFD2-4E3E-9B0E-DA23AF729A97}" type="slidenum">
              <a:rPr lang="en-US" altLang="zh-CN" smtClean="0"/>
              <a:pPr/>
              <a:t>10</a:t>
            </a:fld>
            <a:r>
              <a:rPr lang="en-US" altLang="zh-CN"/>
              <a:t>/67</a:t>
            </a:r>
            <a:endParaRPr lang="zh-CN" altLang="en-US" dirty="0"/>
          </a:p>
        </p:txBody>
      </p:sp>
    </p:spTree>
    <p:extLst>
      <p:ext uri="{BB962C8B-B14F-4D97-AF65-F5344CB8AC3E}">
        <p14:creationId xmlns:p14="http://schemas.microsoft.com/office/powerpoint/2010/main" val="36847611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D1D26F7-8B83-4FEF-8F85-F5105D163C02}" type="datetime1">
              <a:rPr lang="zh-CN" altLang="en-US" smtClean="0"/>
              <a:t>2025/12/24</a:t>
            </a:fld>
            <a:endParaRPr lang="en-US" altLang="zh-CN"/>
          </a:p>
        </p:txBody>
      </p:sp>
      <p:sp>
        <p:nvSpPr>
          <p:cNvPr id="497666" name="Rectangle 2"/>
          <p:cNvSpPr>
            <a:spLocks noGrp="1" noChangeArrowheads="1"/>
          </p:cNvSpPr>
          <p:nvPr>
            <p:ph type="title"/>
          </p:nvPr>
        </p:nvSpPr>
        <p:spPr/>
        <p:txBody>
          <a:bodyPr/>
          <a:lstStyle/>
          <a:p>
            <a:r>
              <a:rPr lang="zh-CN" altLang="en-US" dirty="0"/>
              <a:t>故障总结</a:t>
            </a:r>
          </a:p>
        </p:txBody>
      </p:sp>
      <p:sp>
        <p:nvSpPr>
          <p:cNvPr id="2" name="内容占位符 1"/>
          <p:cNvSpPr>
            <a:spLocks noGrp="1"/>
          </p:cNvSpPr>
          <p:nvPr>
            <p:ph idx="1"/>
          </p:nvPr>
        </p:nvSpPr>
        <p:spPr/>
        <p:txBody>
          <a:bodyPr/>
          <a:lstStyle/>
          <a:p>
            <a:r>
              <a:rPr lang="zh-CN" altLang="en-US" dirty="0"/>
              <a:t>各类故障，对数据库的影响有两种可能性</a:t>
            </a:r>
          </a:p>
          <a:p>
            <a:pPr lvl="1"/>
            <a:r>
              <a:rPr lang="zh-CN" altLang="en-US" dirty="0"/>
              <a:t>一是数据库</a:t>
            </a:r>
            <a:r>
              <a:rPr lang="zh-CN" altLang="en-US" b="1" dirty="0">
                <a:solidFill>
                  <a:srgbClr val="FF0000"/>
                </a:solidFill>
              </a:rPr>
              <a:t>本身被破坏</a:t>
            </a:r>
          </a:p>
          <a:p>
            <a:pPr lvl="1"/>
            <a:r>
              <a:rPr lang="zh-CN" altLang="en-US" dirty="0"/>
              <a:t>二是数据库</a:t>
            </a:r>
            <a:r>
              <a:rPr lang="zh-CN" altLang="en-US" dirty="0">
                <a:solidFill>
                  <a:srgbClr val="0000FF"/>
                </a:solidFill>
              </a:rPr>
              <a:t>没有被破坏</a:t>
            </a:r>
            <a:r>
              <a:rPr lang="zh-CN" altLang="en-US" dirty="0"/>
              <a:t>，但</a:t>
            </a:r>
            <a:r>
              <a:rPr lang="zh-CN" altLang="en-US" dirty="0">
                <a:solidFill>
                  <a:srgbClr val="0000FF"/>
                </a:solidFill>
              </a:rPr>
              <a:t>数据可能不正确</a:t>
            </a:r>
            <a:r>
              <a:rPr lang="zh-CN" altLang="en-US" dirty="0"/>
              <a:t>，这是由于</a:t>
            </a:r>
            <a:r>
              <a:rPr lang="zh-CN" altLang="en-US" u="sng" dirty="0"/>
              <a:t>事务的运行被非正常终止造成</a:t>
            </a:r>
            <a:r>
              <a:rPr lang="zh-CN" altLang="en-US" dirty="0"/>
              <a:t>的。</a:t>
            </a:r>
          </a:p>
          <a:p>
            <a:endParaRPr lang="zh-CN" altLang="en-US" dirty="0"/>
          </a:p>
        </p:txBody>
      </p:sp>
      <p:sp>
        <p:nvSpPr>
          <p:cNvPr id="6" name="页脚占位符 5">
            <a:extLst>
              <a:ext uri="{FF2B5EF4-FFF2-40B4-BE49-F238E27FC236}">
                <a16:creationId xmlns:a16="http://schemas.microsoft.com/office/drawing/2014/main" id="{E8B7E33F-5FBA-7F92-8CF9-BBA5CFD7625A}"/>
              </a:ext>
            </a:extLst>
          </p:cNvPr>
          <p:cNvSpPr>
            <a:spLocks noGrp="1"/>
          </p:cNvSpPr>
          <p:nvPr>
            <p:ph type="ftr" sz="quarter" idx="11"/>
          </p:nvPr>
        </p:nvSpPr>
        <p:spPr/>
        <p:txBody>
          <a:bodyPr/>
          <a:lstStyle/>
          <a:p>
            <a:r>
              <a:rPr lang="en-US" altLang="zh-CN"/>
              <a:t>《数据库系统概论》- 第11章</a:t>
            </a:r>
          </a:p>
        </p:txBody>
      </p:sp>
      <p:sp>
        <p:nvSpPr>
          <p:cNvPr id="7" name="灯片编号占位符 6">
            <a:extLst>
              <a:ext uri="{FF2B5EF4-FFF2-40B4-BE49-F238E27FC236}">
                <a16:creationId xmlns:a16="http://schemas.microsoft.com/office/drawing/2014/main" id="{14F289ED-65DD-8FC2-CF57-ED50AB78CA75}"/>
              </a:ext>
            </a:extLst>
          </p:cNvPr>
          <p:cNvSpPr>
            <a:spLocks noGrp="1"/>
          </p:cNvSpPr>
          <p:nvPr>
            <p:ph type="sldNum" sz="quarter" idx="12"/>
          </p:nvPr>
        </p:nvSpPr>
        <p:spPr/>
        <p:txBody>
          <a:bodyPr/>
          <a:lstStyle/>
          <a:p>
            <a:fld id="{6CD0990F-CFD2-4E3E-9B0E-DA23AF729A97}" type="slidenum">
              <a:rPr lang="en-US" altLang="zh-CN" smtClean="0"/>
              <a:pPr/>
              <a:t>11</a:t>
            </a:fld>
            <a:r>
              <a:rPr lang="en-US" altLang="zh-CN"/>
              <a:t>/67</a:t>
            </a:r>
            <a:endParaRPr lang="zh-CN" altLang="en-US" dirty="0"/>
          </a:p>
        </p:txBody>
      </p:sp>
    </p:spTree>
    <p:extLst>
      <p:ext uri="{BB962C8B-B14F-4D97-AF65-F5344CB8AC3E}">
        <p14:creationId xmlns:p14="http://schemas.microsoft.com/office/powerpoint/2010/main" val="309367420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zh-CN" altLang="en-US" dirty="0"/>
              <a:t>数据库恢复</a:t>
            </a:r>
          </a:p>
        </p:txBody>
      </p:sp>
      <p:sp>
        <p:nvSpPr>
          <p:cNvPr id="11268" name="Rectangle 3"/>
          <p:cNvSpPr>
            <a:spLocks noGrp="1" noChangeArrowheads="1"/>
          </p:cNvSpPr>
          <p:nvPr>
            <p:ph type="body" idx="1"/>
          </p:nvPr>
        </p:nvSpPr>
        <p:spPr>
          <a:xfrm>
            <a:off x="670718" y="1412776"/>
            <a:ext cx="8077746" cy="4584700"/>
          </a:xfrm>
        </p:spPr>
        <p:txBody>
          <a:bodyPr/>
          <a:lstStyle/>
          <a:p>
            <a:pPr eaLnBrk="1" hangingPunct="1"/>
            <a:r>
              <a:rPr lang="zh-CN" altLang="en-US" dirty="0"/>
              <a:t>恢复是把数据库从错误状态恢复到某一正确状态的功能，从而确保数据库的</a:t>
            </a:r>
            <a:r>
              <a:rPr lang="zh-CN" altLang="en-US" dirty="0">
                <a:solidFill>
                  <a:srgbClr val="FF3300"/>
                </a:solidFill>
              </a:rPr>
              <a:t>一致性</a:t>
            </a:r>
          </a:p>
          <a:p>
            <a:pPr>
              <a:lnSpc>
                <a:spcPct val="90000"/>
              </a:lnSpc>
            </a:pPr>
            <a:r>
              <a:rPr lang="zh-CN" altLang="en-US" b="1" dirty="0"/>
              <a:t>恢复的原理</a:t>
            </a:r>
            <a:r>
              <a:rPr lang="zh-CN" altLang="en-US" dirty="0"/>
              <a:t> </a:t>
            </a:r>
            <a:r>
              <a:rPr lang="en-US" altLang="zh-CN" dirty="0">
                <a:latin typeface="Arial"/>
              </a:rPr>
              <a:t>——</a:t>
            </a:r>
            <a:r>
              <a:rPr lang="zh-CN" altLang="en-US" b="1" dirty="0">
                <a:solidFill>
                  <a:srgbClr val="FB1807"/>
                </a:solidFill>
              </a:rPr>
              <a:t>冗余</a:t>
            </a:r>
            <a:endParaRPr lang="en-US" altLang="zh-CN" b="1" dirty="0">
              <a:solidFill>
                <a:srgbClr val="FB1807"/>
              </a:solidFill>
            </a:endParaRPr>
          </a:p>
          <a:p>
            <a:pPr lvl="1">
              <a:lnSpc>
                <a:spcPct val="90000"/>
              </a:lnSpc>
            </a:pPr>
            <a:r>
              <a:rPr lang="zh-CN" altLang="en-US" dirty="0">
                <a:ea typeface="宋体" charset="-122"/>
              </a:rPr>
              <a:t>利用</a:t>
            </a:r>
            <a:r>
              <a:rPr lang="zh-CN" altLang="en-US" dirty="0">
                <a:solidFill>
                  <a:schemeClr val="tx2"/>
                </a:solidFill>
                <a:ea typeface="宋体" charset="-122"/>
              </a:rPr>
              <a:t>存储在系统</a:t>
            </a:r>
            <a:r>
              <a:rPr lang="zh-CN" altLang="en-US" dirty="0">
                <a:solidFill>
                  <a:srgbClr val="FF0000"/>
                </a:solidFill>
                <a:ea typeface="宋体" charset="-122"/>
              </a:rPr>
              <a:t>其它地方的</a:t>
            </a:r>
            <a:r>
              <a:rPr lang="zh-CN" altLang="en-US" b="1" dirty="0">
                <a:solidFill>
                  <a:srgbClr val="0000FF"/>
                </a:solidFill>
                <a:ea typeface="宋体" charset="-122"/>
              </a:rPr>
              <a:t>冗余数据</a:t>
            </a:r>
            <a:r>
              <a:rPr lang="zh-CN" altLang="en-US" dirty="0">
                <a:ea typeface="宋体" charset="-122"/>
              </a:rPr>
              <a:t>来重建数据库中</a:t>
            </a:r>
            <a:r>
              <a:rPr lang="zh-CN" altLang="en-US" dirty="0">
                <a:solidFill>
                  <a:schemeClr val="tx2"/>
                </a:solidFill>
                <a:ea typeface="宋体" charset="-122"/>
              </a:rPr>
              <a:t>已被破坏</a:t>
            </a:r>
            <a:r>
              <a:rPr lang="zh-CN" altLang="en-US" dirty="0">
                <a:ea typeface="宋体" charset="-122"/>
              </a:rPr>
              <a:t>或</a:t>
            </a:r>
            <a:r>
              <a:rPr lang="zh-CN" altLang="en-US" dirty="0">
                <a:solidFill>
                  <a:schemeClr val="tx2"/>
                </a:solidFill>
                <a:ea typeface="宋体" charset="-122"/>
              </a:rPr>
              <a:t>不正确</a:t>
            </a:r>
            <a:r>
              <a:rPr lang="zh-CN" altLang="en-US" dirty="0">
                <a:ea typeface="宋体" charset="-122"/>
              </a:rPr>
              <a:t>的那部分数据</a:t>
            </a:r>
            <a:endParaRPr lang="en-US" altLang="zh-CN" dirty="0">
              <a:ea typeface="宋体" charset="-122"/>
            </a:endParaRPr>
          </a:p>
          <a:p>
            <a:pPr>
              <a:lnSpc>
                <a:spcPct val="90000"/>
              </a:lnSpc>
            </a:pPr>
            <a:r>
              <a:rPr lang="zh-CN" altLang="en-US" dirty="0"/>
              <a:t>恢复机制涉及两个关键问题：</a:t>
            </a:r>
          </a:p>
          <a:p>
            <a:pPr>
              <a:lnSpc>
                <a:spcPct val="90000"/>
              </a:lnSpc>
              <a:buNone/>
            </a:pPr>
            <a:r>
              <a:rPr lang="zh-CN" altLang="en-US" dirty="0"/>
              <a:t>   （</a:t>
            </a:r>
            <a:r>
              <a:rPr lang="en-US" altLang="zh-CN" dirty="0"/>
              <a:t>1</a:t>
            </a:r>
            <a:r>
              <a:rPr lang="zh-CN" altLang="en-US" dirty="0"/>
              <a:t>）如何</a:t>
            </a:r>
            <a:r>
              <a:rPr lang="zh-CN" altLang="en-US" dirty="0">
                <a:solidFill>
                  <a:srgbClr val="0000FF"/>
                </a:solidFill>
              </a:rPr>
              <a:t>建立</a:t>
            </a:r>
            <a:r>
              <a:rPr lang="zh-CN" altLang="en-US" dirty="0">
                <a:solidFill>
                  <a:srgbClr val="C00000"/>
                </a:solidFill>
              </a:rPr>
              <a:t>冗余数据</a:t>
            </a:r>
          </a:p>
          <a:p>
            <a:pPr>
              <a:lnSpc>
                <a:spcPct val="90000"/>
              </a:lnSpc>
              <a:buNone/>
            </a:pPr>
            <a:r>
              <a:rPr lang="zh-CN" altLang="en-US" dirty="0"/>
              <a:t>   （</a:t>
            </a:r>
            <a:r>
              <a:rPr lang="en-US" altLang="zh-CN" dirty="0"/>
              <a:t>2</a:t>
            </a:r>
            <a:r>
              <a:rPr lang="zh-CN" altLang="en-US" dirty="0"/>
              <a:t>）如何</a:t>
            </a:r>
            <a:r>
              <a:rPr lang="zh-CN" altLang="en-US" dirty="0">
                <a:solidFill>
                  <a:srgbClr val="C00000"/>
                </a:solidFill>
              </a:rPr>
              <a:t>利用</a:t>
            </a:r>
            <a:r>
              <a:rPr lang="zh-CN" altLang="en-US" dirty="0">
                <a:solidFill>
                  <a:srgbClr val="006600"/>
                </a:solidFill>
              </a:rPr>
              <a:t>这些冗余数据</a:t>
            </a:r>
            <a:r>
              <a:rPr lang="zh-CN" altLang="en-US" dirty="0">
                <a:solidFill>
                  <a:srgbClr val="C00000"/>
                </a:solidFill>
              </a:rPr>
              <a:t>实施数据库</a:t>
            </a:r>
          </a:p>
          <a:p>
            <a:pPr>
              <a:lnSpc>
                <a:spcPct val="90000"/>
              </a:lnSpc>
              <a:buNone/>
            </a:pPr>
            <a:r>
              <a:rPr lang="zh-CN" altLang="en-US" dirty="0">
                <a:solidFill>
                  <a:srgbClr val="C00000"/>
                </a:solidFill>
              </a:rPr>
              <a:t>             </a:t>
            </a:r>
            <a:r>
              <a:rPr lang="zh-CN" altLang="en-US" dirty="0">
                <a:solidFill>
                  <a:srgbClr val="0000FF"/>
                </a:solidFill>
              </a:rPr>
              <a:t>恢复</a:t>
            </a:r>
            <a:r>
              <a:rPr lang="zh-CN" altLang="en-US" dirty="0"/>
              <a:t>。</a:t>
            </a:r>
          </a:p>
          <a:p>
            <a:pPr>
              <a:lnSpc>
                <a:spcPct val="90000"/>
              </a:lnSpc>
            </a:pPr>
            <a:endParaRPr lang="zh-CN" altLang="en-US" dirty="0">
              <a:ea typeface="宋体" charset="-122"/>
            </a:endParaRPr>
          </a:p>
        </p:txBody>
      </p:sp>
      <p:sp>
        <p:nvSpPr>
          <p:cNvPr id="2" name="日期占位符 1">
            <a:extLst>
              <a:ext uri="{FF2B5EF4-FFF2-40B4-BE49-F238E27FC236}">
                <a16:creationId xmlns:a16="http://schemas.microsoft.com/office/drawing/2014/main" id="{A99916E0-02CC-0C70-473F-0421FD2C5746}"/>
              </a:ext>
            </a:extLst>
          </p:cNvPr>
          <p:cNvSpPr>
            <a:spLocks noGrp="1"/>
          </p:cNvSpPr>
          <p:nvPr>
            <p:ph type="dt" sz="half" idx="10"/>
          </p:nvPr>
        </p:nvSpPr>
        <p:spPr/>
        <p:txBody>
          <a:bodyPr/>
          <a:lstStyle/>
          <a:p>
            <a:fld id="{51198874-DAA8-4D7A-8E0C-7C16255F6F5A}"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B46DB318-99BB-584C-C579-2816E42C8856}"/>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D2ACE208-3C48-570D-D18B-FA94F3D3C9B7}"/>
              </a:ext>
            </a:extLst>
          </p:cNvPr>
          <p:cNvSpPr>
            <a:spLocks noGrp="1"/>
          </p:cNvSpPr>
          <p:nvPr>
            <p:ph type="sldNum" sz="quarter" idx="12"/>
          </p:nvPr>
        </p:nvSpPr>
        <p:spPr/>
        <p:txBody>
          <a:bodyPr/>
          <a:lstStyle/>
          <a:p>
            <a:fld id="{6CD0990F-CFD2-4E3E-9B0E-DA23AF729A97}" type="slidenum">
              <a:rPr lang="en-US" altLang="zh-CN" smtClean="0"/>
              <a:pPr/>
              <a:t>12</a:t>
            </a:fld>
            <a:r>
              <a:rPr lang="en-US" altLang="zh-CN"/>
              <a:t>/67</a:t>
            </a:r>
            <a:endParaRPr lang="zh-CN" altLang="en-US" dirty="0"/>
          </a:p>
        </p:txBody>
      </p:sp>
    </p:spTree>
    <p:extLst>
      <p:ext uri="{BB962C8B-B14F-4D97-AF65-F5344CB8AC3E}">
        <p14:creationId xmlns:p14="http://schemas.microsoft.com/office/powerpoint/2010/main" val="421970420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A2F0731-1A18-441E-9146-B433E78CC0CD}" type="datetime1">
              <a:rPr lang="zh-CN" altLang="en-US" smtClean="0"/>
              <a:t>2025/12/24</a:t>
            </a:fld>
            <a:endParaRPr lang="en-US" altLang="zh-CN"/>
          </a:p>
        </p:txBody>
      </p:sp>
      <p:sp>
        <p:nvSpPr>
          <p:cNvPr id="498690" name="Rectangle 2"/>
          <p:cNvSpPr>
            <a:spLocks noGrp="1" noChangeArrowheads="1"/>
          </p:cNvSpPr>
          <p:nvPr>
            <p:ph type="title"/>
          </p:nvPr>
        </p:nvSpPr>
        <p:spPr/>
        <p:txBody>
          <a:bodyPr/>
          <a:lstStyle/>
          <a:p>
            <a:r>
              <a:rPr lang="zh-CN" altLang="en-US" dirty="0"/>
              <a:t>数据库恢复</a:t>
            </a:r>
          </a:p>
        </p:txBody>
      </p:sp>
      <p:sp>
        <p:nvSpPr>
          <p:cNvPr id="498691" name="Rectangle 3"/>
          <p:cNvSpPr>
            <a:spLocks noGrp="1" noChangeArrowheads="1"/>
          </p:cNvSpPr>
          <p:nvPr>
            <p:ph type="body" idx="1"/>
          </p:nvPr>
        </p:nvSpPr>
        <p:spPr>
          <a:xfrm>
            <a:off x="609600" y="1447800"/>
            <a:ext cx="8138864" cy="4684713"/>
          </a:xfrm>
        </p:spPr>
        <p:txBody>
          <a:bodyPr/>
          <a:lstStyle/>
          <a:p>
            <a:r>
              <a:rPr lang="zh-CN" altLang="en-US" dirty="0"/>
              <a:t>建立</a:t>
            </a:r>
            <a:r>
              <a:rPr lang="zh-CN" altLang="en-US" dirty="0">
                <a:solidFill>
                  <a:srgbClr val="0000FF"/>
                </a:solidFill>
              </a:rPr>
              <a:t>冗余数据</a:t>
            </a:r>
            <a:r>
              <a:rPr lang="zh-CN" altLang="en-US" b="1" dirty="0"/>
              <a:t>最常用的技术</a:t>
            </a:r>
            <a:r>
              <a:rPr lang="zh-CN" altLang="en-US" dirty="0"/>
              <a:t>是</a:t>
            </a:r>
            <a:r>
              <a:rPr lang="zh-CN" altLang="en-US" b="1" dirty="0">
                <a:solidFill>
                  <a:srgbClr val="FB1807"/>
                </a:solidFill>
              </a:rPr>
              <a:t>数据转储</a:t>
            </a:r>
            <a:r>
              <a:rPr lang="zh-CN" altLang="en-US" dirty="0"/>
              <a:t>（</a:t>
            </a:r>
            <a:r>
              <a:rPr lang="en-US" altLang="zh-CN" dirty="0"/>
              <a:t>DBA</a:t>
            </a:r>
            <a:r>
              <a:rPr lang="zh-CN" altLang="en-US" dirty="0">
                <a:solidFill>
                  <a:srgbClr val="0000FF"/>
                </a:solidFill>
              </a:rPr>
              <a:t>定期进行</a:t>
            </a:r>
            <a:r>
              <a:rPr lang="zh-CN" altLang="en-US" dirty="0"/>
              <a:t>）和</a:t>
            </a:r>
            <a:r>
              <a:rPr lang="zh-CN" altLang="en-US" b="1" dirty="0">
                <a:solidFill>
                  <a:srgbClr val="FB1807"/>
                </a:solidFill>
              </a:rPr>
              <a:t>登录日志文件</a:t>
            </a:r>
            <a:r>
              <a:rPr lang="zh-CN" altLang="en-US" dirty="0"/>
              <a:t>（记录</a:t>
            </a:r>
            <a:r>
              <a:rPr lang="zh-CN" altLang="en-US" u="sng" dirty="0"/>
              <a:t>事务对数据库</a:t>
            </a:r>
            <a:r>
              <a:rPr lang="zh-CN" altLang="en-US" dirty="0"/>
              <a:t>的</a:t>
            </a:r>
            <a:r>
              <a:rPr lang="zh-CN" altLang="en-US" dirty="0">
                <a:solidFill>
                  <a:srgbClr val="0000FF"/>
                </a:solidFill>
              </a:rPr>
              <a:t>更新操作</a:t>
            </a:r>
            <a:r>
              <a:rPr lang="zh-CN" altLang="en-US" dirty="0"/>
              <a:t>）。</a:t>
            </a:r>
            <a:endParaRPr lang="en-US" altLang="zh-CN" dirty="0"/>
          </a:p>
          <a:p>
            <a:pPr lvl="1"/>
            <a:r>
              <a:rPr lang="zh-CN" altLang="en-US" b="1" dirty="0">
                <a:solidFill>
                  <a:srgbClr val="FF0000"/>
                </a:solidFill>
              </a:rPr>
              <a:t>转储</a:t>
            </a:r>
            <a:r>
              <a:rPr lang="zh-CN" altLang="en-US" dirty="0"/>
              <a:t>是指</a:t>
            </a:r>
            <a:r>
              <a:rPr lang="en-US" altLang="zh-CN" dirty="0"/>
              <a:t>DBA</a:t>
            </a:r>
            <a:r>
              <a:rPr lang="zh-CN" altLang="en-US" dirty="0"/>
              <a:t>将整个数据库</a:t>
            </a:r>
            <a:r>
              <a:rPr lang="zh-CN" altLang="en-US" dirty="0">
                <a:solidFill>
                  <a:srgbClr val="0000FF"/>
                </a:solidFill>
              </a:rPr>
              <a:t>复制</a:t>
            </a:r>
            <a:r>
              <a:rPr lang="zh-CN" altLang="en-US" dirty="0"/>
              <a:t>到磁带或另一个磁盘上保存起来的过程，备用的数据称为</a:t>
            </a:r>
            <a:r>
              <a:rPr lang="zh-CN" altLang="en-US" dirty="0">
                <a:solidFill>
                  <a:srgbClr val="0000FF"/>
                </a:solidFill>
              </a:rPr>
              <a:t>后备副本</a:t>
            </a:r>
            <a:r>
              <a:rPr lang="zh-CN" altLang="en-US" dirty="0"/>
              <a:t>或</a:t>
            </a:r>
            <a:r>
              <a:rPr lang="zh-CN" altLang="en-US" dirty="0">
                <a:solidFill>
                  <a:srgbClr val="0000FF"/>
                </a:solidFill>
              </a:rPr>
              <a:t>后援副本</a:t>
            </a:r>
            <a:endParaRPr lang="en-US" altLang="zh-CN" dirty="0">
              <a:solidFill>
                <a:srgbClr val="0000FF"/>
              </a:solidFill>
            </a:endParaRPr>
          </a:p>
          <a:p>
            <a:pPr lvl="1"/>
            <a:r>
              <a:rPr lang="zh-CN" altLang="en-US" b="1" dirty="0">
                <a:solidFill>
                  <a:srgbClr val="FB1807"/>
                </a:solidFill>
              </a:rPr>
              <a:t>日志文件</a:t>
            </a:r>
            <a:r>
              <a:rPr lang="zh-CN" altLang="en-US" dirty="0">
                <a:ea typeface="宋体" charset="-122"/>
              </a:rPr>
              <a:t>记录</a:t>
            </a:r>
            <a:r>
              <a:rPr lang="zh-CN" altLang="en-US" b="1" dirty="0">
                <a:ea typeface="宋体" charset="-122"/>
              </a:rPr>
              <a:t>事务对数据库</a:t>
            </a:r>
            <a:r>
              <a:rPr lang="zh-CN" altLang="en-US" dirty="0">
                <a:ea typeface="宋体" charset="-122"/>
              </a:rPr>
              <a:t>的</a:t>
            </a:r>
            <a:r>
              <a:rPr lang="zh-CN" altLang="en-US" dirty="0">
                <a:solidFill>
                  <a:srgbClr val="0000FF"/>
                </a:solidFill>
                <a:ea typeface="宋体" charset="-122"/>
              </a:rPr>
              <a:t>更新操作</a:t>
            </a:r>
            <a:r>
              <a:rPr lang="zh-CN" altLang="en-US" dirty="0">
                <a:ea typeface="宋体" charset="-122"/>
              </a:rPr>
              <a:t>的文件</a:t>
            </a:r>
            <a:endParaRPr lang="en-US" altLang="zh-CN" dirty="0"/>
          </a:p>
          <a:p>
            <a:r>
              <a:rPr lang="zh-CN" altLang="en-US" dirty="0"/>
              <a:t>通常在一个数据库系统中，这</a:t>
            </a:r>
            <a:r>
              <a:rPr lang="zh-CN" altLang="en-US" dirty="0">
                <a:solidFill>
                  <a:srgbClr val="0000FF"/>
                </a:solidFill>
              </a:rPr>
              <a:t>两种方法</a:t>
            </a:r>
            <a:r>
              <a:rPr lang="zh-CN" altLang="en-US" dirty="0"/>
              <a:t>是</a:t>
            </a:r>
            <a:r>
              <a:rPr lang="zh-CN" altLang="en-US" u="sng" dirty="0">
                <a:solidFill>
                  <a:srgbClr val="0000FF"/>
                </a:solidFill>
              </a:rPr>
              <a:t>一起使用</a:t>
            </a:r>
            <a:r>
              <a:rPr lang="zh-CN" altLang="en-US" dirty="0"/>
              <a:t>的。</a:t>
            </a:r>
          </a:p>
        </p:txBody>
      </p:sp>
      <p:sp>
        <p:nvSpPr>
          <p:cNvPr id="3" name="页脚占位符 2">
            <a:extLst>
              <a:ext uri="{FF2B5EF4-FFF2-40B4-BE49-F238E27FC236}">
                <a16:creationId xmlns:a16="http://schemas.microsoft.com/office/drawing/2014/main" id="{75C9EB43-B891-1284-7E58-1BFEE4B1545E}"/>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7FFB329D-3BBE-9CB3-FE91-47FCFF49F402}"/>
              </a:ext>
            </a:extLst>
          </p:cNvPr>
          <p:cNvSpPr>
            <a:spLocks noGrp="1"/>
          </p:cNvSpPr>
          <p:nvPr>
            <p:ph type="sldNum" sz="quarter" idx="12"/>
          </p:nvPr>
        </p:nvSpPr>
        <p:spPr/>
        <p:txBody>
          <a:bodyPr/>
          <a:lstStyle/>
          <a:p>
            <a:fld id="{6CD0990F-CFD2-4E3E-9B0E-DA23AF729A97}" type="slidenum">
              <a:rPr lang="en-US" altLang="zh-CN" smtClean="0"/>
              <a:pPr/>
              <a:t>13</a:t>
            </a:fld>
            <a:r>
              <a:rPr lang="en-US" altLang="zh-CN"/>
              <a:t>/67</a:t>
            </a:r>
            <a:endParaRPr lang="zh-CN" altLang="en-US" dirty="0"/>
          </a:p>
        </p:txBody>
      </p:sp>
    </p:spTree>
    <p:extLst>
      <p:ext uri="{BB962C8B-B14F-4D97-AF65-F5344CB8AC3E}">
        <p14:creationId xmlns:p14="http://schemas.microsoft.com/office/powerpoint/2010/main" val="362819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8691">
                                            <p:txEl>
                                              <p:pRg st="3" end="3"/>
                                            </p:txEl>
                                          </p:spTgt>
                                        </p:tgtEl>
                                        <p:attrNameLst>
                                          <p:attrName>style.visibility</p:attrName>
                                        </p:attrNameLst>
                                      </p:cBhvr>
                                      <p:to>
                                        <p:strVal val="visible"/>
                                      </p:to>
                                    </p:set>
                                    <p:anim calcmode="lin" valueType="num">
                                      <p:cBhvr additive="base">
                                        <p:cTn id="7" dur="500" fill="hold"/>
                                        <p:tgtEl>
                                          <p:spTgt spid="49869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86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AD9EEE4-EC60-444A-8CB0-CCD5FD076200}" type="datetime1">
              <a:rPr lang="zh-CN" altLang="en-US" smtClean="0"/>
              <a:t>2025/12/24</a:t>
            </a:fld>
            <a:endParaRPr lang="en-US" altLang="zh-CN"/>
          </a:p>
        </p:txBody>
      </p:sp>
      <p:sp>
        <p:nvSpPr>
          <p:cNvPr id="498690" name="Rectangle 2"/>
          <p:cNvSpPr>
            <a:spLocks noGrp="1" noChangeArrowheads="1"/>
          </p:cNvSpPr>
          <p:nvPr>
            <p:ph type="title"/>
          </p:nvPr>
        </p:nvSpPr>
        <p:spPr/>
        <p:txBody>
          <a:bodyPr/>
          <a:lstStyle/>
          <a:p>
            <a:r>
              <a:rPr lang="zh-CN" altLang="en-US" dirty="0"/>
              <a:t>数据库恢复</a:t>
            </a:r>
          </a:p>
        </p:txBody>
      </p:sp>
      <p:sp>
        <p:nvSpPr>
          <p:cNvPr id="498691" name="Rectangle 3"/>
          <p:cNvSpPr>
            <a:spLocks noGrp="1" noChangeArrowheads="1"/>
          </p:cNvSpPr>
          <p:nvPr>
            <p:ph type="body" idx="1"/>
          </p:nvPr>
        </p:nvSpPr>
        <p:spPr>
          <a:xfrm>
            <a:off x="609600" y="1340769"/>
            <a:ext cx="8534400" cy="2694978"/>
          </a:xfrm>
        </p:spPr>
        <p:txBody>
          <a:bodyPr/>
          <a:lstStyle/>
          <a:p>
            <a:pPr>
              <a:lnSpc>
                <a:spcPct val="90000"/>
              </a:lnSpc>
            </a:pPr>
            <a:r>
              <a:rPr lang="zh-CN" altLang="en-US" dirty="0"/>
              <a:t>通常在一个数据库系统中，这两种方法是</a:t>
            </a:r>
            <a:r>
              <a:rPr lang="zh-CN" altLang="en-US" u="sng" dirty="0">
                <a:solidFill>
                  <a:srgbClr val="C00000"/>
                </a:solidFill>
              </a:rPr>
              <a:t>一起使用</a:t>
            </a:r>
            <a:r>
              <a:rPr lang="zh-CN" altLang="en-US" dirty="0"/>
              <a:t>的。</a:t>
            </a:r>
            <a:endParaRPr lang="en-US" altLang="zh-CN" dirty="0"/>
          </a:p>
          <a:p>
            <a:pPr lvl="1">
              <a:lnSpc>
                <a:spcPct val="90000"/>
              </a:lnSpc>
            </a:pPr>
            <a:r>
              <a:rPr lang="zh-CN" altLang="en-US" dirty="0">
                <a:solidFill>
                  <a:srgbClr val="FF0000"/>
                </a:solidFill>
              </a:rPr>
              <a:t>重装后备副本</a:t>
            </a:r>
            <a:r>
              <a:rPr lang="zh-CN" altLang="en-US" dirty="0"/>
              <a:t>只能将数据库恢复到</a:t>
            </a:r>
            <a:r>
              <a:rPr lang="zh-CN" altLang="en-US" dirty="0">
                <a:solidFill>
                  <a:srgbClr val="0000FF"/>
                </a:solidFill>
              </a:rPr>
              <a:t>转储时的状态</a:t>
            </a:r>
          </a:p>
          <a:p>
            <a:pPr lvl="1">
              <a:lnSpc>
                <a:spcPct val="90000"/>
              </a:lnSpc>
            </a:pPr>
            <a:r>
              <a:rPr lang="zh-CN" altLang="en-US" dirty="0"/>
              <a:t>要想恢复到</a:t>
            </a:r>
            <a:r>
              <a:rPr lang="zh-CN" altLang="en-US" dirty="0">
                <a:solidFill>
                  <a:srgbClr val="FF0000"/>
                </a:solidFill>
              </a:rPr>
              <a:t>故障发生时</a:t>
            </a:r>
            <a:r>
              <a:rPr lang="zh-CN" altLang="en-US" dirty="0"/>
              <a:t>的状态，必须重新</a:t>
            </a:r>
            <a:r>
              <a:rPr lang="zh-CN" altLang="en-US" dirty="0">
                <a:solidFill>
                  <a:srgbClr val="FF0000"/>
                </a:solidFill>
              </a:rPr>
              <a:t>运行</a:t>
            </a:r>
            <a:r>
              <a:rPr lang="zh-CN" altLang="en-US" b="1" dirty="0">
                <a:solidFill>
                  <a:srgbClr val="0000FF"/>
                </a:solidFill>
              </a:rPr>
              <a:t>自转储以后</a:t>
            </a:r>
            <a:r>
              <a:rPr lang="zh-CN" altLang="en-US" dirty="0"/>
              <a:t>的</a:t>
            </a:r>
            <a:r>
              <a:rPr lang="zh-CN" altLang="en-US" dirty="0">
                <a:solidFill>
                  <a:srgbClr val="0000FF"/>
                </a:solidFill>
              </a:rPr>
              <a:t>所有更新事务</a:t>
            </a:r>
            <a:r>
              <a:rPr lang="zh-CN" altLang="en-US" dirty="0"/>
              <a:t>，使得数据库尽可能恢复到</a:t>
            </a:r>
            <a:r>
              <a:rPr lang="zh-CN" altLang="en-US" b="1" dirty="0">
                <a:solidFill>
                  <a:srgbClr val="006600"/>
                </a:solidFill>
              </a:rPr>
              <a:t>故障发生前</a:t>
            </a:r>
            <a:r>
              <a:rPr lang="zh-CN" altLang="en-US" b="1" u="sng" dirty="0">
                <a:solidFill>
                  <a:srgbClr val="FF0000"/>
                </a:solidFill>
              </a:rPr>
              <a:t>最近一次</a:t>
            </a:r>
            <a:r>
              <a:rPr lang="zh-CN" altLang="en-US" b="1" u="sng" dirty="0"/>
              <a:t>的</a:t>
            </a:r>
            <a:r>
              <a:rPr lang="zh-CN" altLang="en-US" b="1" u="sng" dirty="0">
                <a:solidFill>
                  <a:srgbClr val="FF0000"/>
                </a:solidFill>
              </a:rPr>
              <a:t>一致性状态</a:t>
            </a:r>
            <a:r>
              <a:rPr lang="zh-CN" altLang="en-US" dirty="0"/>
              <a:t>。</a:t>
            </a:r>
            <a:endParaRPr lang="en-US" altLang="zh-CN" dirty="0"/>
          </a:p>
          <a:p>
            <a:pPr lvl="1">
              <a:lnSpc>
                <a:spcPct val="90000"/>
              </a:lnSpc>
            </a:pPr>
            <a:endParaRPr lang="zh-CN" altLang="en-US" dirty="0">
              <a:solidFill>
                <a:srgbClr val="0000FF"/>
              </a:solidFill>
            </a:endParaRPr>
          </a:p>
        </p:txBody>
      </p:sp>
      <p:sp>
        <p:nvSpPr>
          <p:cNvPr id="3" name="页脚占位符 2">
            <a:extLst>
              <a:ext uri="{FF2B5EF4-FFF2-40B4-BE49-F238E27FC236}">
                <a16:creationId xmlns:a16="http://schemas.microsoft.com/office/drawing/2014/main" id="{2F134490-CC59-F662-ACDA-A8C1F4BC6548}"/>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11A368BE-7162-EEA3-0844-F7D9792ABDA3}"/>
              </a:ext>
            </a:extLst>
          </p:cNvPr>
          <p:cNvSpPr>
            <a:spLocks noGrp="1"/>
          </p:cNvSpPr>
          <p:nvPr>
            <p:ph type="sldNum" sz="quarter" idx="12"/>
          </p:nvPr>
        </p:nvSpPr>
        <p:spPr/>
        <p:txBody>
          <a:bodyPr/>
          <a:lstStyle/>
          <a:p>
            <a:fld id="{6CD0990F-CFD2-4E3E-9B0E-DA23AF729A97}" type="slidenum">
              <a:rPr lang="en-US" altLang="zh-CN" smtClean="0"/>
              <a:pPr/>
              <a:t>14</a:t>
            </a:fld>
            <a:r>
              <a:rPr lang="en-US" altLang="zh-CN"/>
              <a:t>/67</a:t>
            </a:r>
            <a:endParaRPr lang="zh-CN"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1944" y="4035746"/>
            <a:ext cx="5486400" cy="27056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651529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8691">
                                            <p:txEl>
                                              <p:pRg st="1" end="1"/>
                                            </p:txEl>
                                          </p:spTgt>
                                        </p:tgtEl>
                                        <p:attrNameLst>
                                          <p:attrName>style.visibility</p:attrName>
                                        </p:attrNameLst>
                                      </p:cBhvr>
                                      <p:to>
                                        <p:strVal val="visible"/>
                                      </p:to>
                                    </p:set>
                                    <p:anim calcmode="lin" valueType="num">
                                      <p:cBhvr additive="base">
                                        <p:cTn id="7" dur="500" fill="hold"/>
                                        <p:tgtEl>
                                          <p:spTgt spid="4986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8691">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98691">
                                            <p:txEl>
                                              <p:pRg st="2" end="2"/>
                                            </p:txEl>
                                          </p:spTgt>
                                        </p:tgtEl>
                                        <p:attrNameLst>
                                          <p:attrName>style.visibility</p:attrName>
                                        </p:attrNameLst>
                                      </p:cBhvr>
                                      <p:to>
                                        <p:strVal val="visible"/>
                                      </p:to>
                                    </p:set>
                                    <p:anim calcmode="lin" valueType="num">
                                      <p:cBhvr additive="base">
                                        <p:cTn id="12" dur="500" fill="hold"/>
                                        <p:tgtEl>
                                          <p:spTgt spid="498691">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98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170"/>
                                        </p:tgtEl>
                                        <p:attrNameLst>
                                          <p:attrName>style.visibility</p:attrName>
                                        </p:attrNameLst>
                                      </p:cBhvr>
                                      <p:to>
                                        <p:strVal val="visible"/>
                                      </p:to>
                                    </p:set>
                                    <p:anim calcmode="lin" valueType="num">
                                      <p:cBhvr additive="base">
                                        <p:cTn id="18" dur="500" fill="hold"/>
                                        <p:tgtEl>
                                          <p:spTgt spid="7170"/>
                                        </p:tgtEl>
                                        <p:attrNameLst>
                                          <p:attrName>ppt_x</p:attrName>
                                        </p:attrNameLst>
                                      </p:cBhvr>
                                      <p:tavLst>
                                        <p:tav tm="0">
                                          <p:val>
                                            <p:strVal val="#ppt_x"/>
                                          </p:val>
                                        </p:tav>
                                        <p:tav tm="100000">
                                          <p:val>
                                            <p:strVal val="#ppt_x"/>
                                          </p:val>
                                        </p:tav>
                                      </p:tavLst>
                                    </p:anim>
                                    <p:anim calcmode="lin" valueType="num">
                                      <p:cBhvr additive="base">
                                        <p:cTn id="19"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A63795D-C26E-45FE-85EF-D2438B3B644F}" type="datetime1">
              <a:rPr lang="zh-CN" altLang="en-US" smtClean="0"/>
              <a:t>2025/12/24</a:t>
            </a:fld>
            <a:endParaRPr lang="en-US" altLang="zh-CN"/>
          </a:p>
        </p:txBody>
      </p:sp>
      <p:sp>
        <p:nvSpPr>
          <p:cNvPr id="499714" name="Rectangle 2"/>
          <p:cNvSpPr>
            <a:spLocks noGrp="1" noChangeArrowheads="1"/>
          </p:cNvSpPr>
          <p:nvPr>
            <p:ph type="title"/>
          </p:nvPr>
        </p:nvSpPr>
        <p:spPr/>
        <p:txBody>
          <a:bodyPr/>
          <a:lstStyle/>
          <a:p>
            <a:r>
              <a:rPr lang="zh-CN" altLang="en-US" dirty="0"/>
              <a:t>数据库恢复</a:t>
            </a:r>
            <a:r>
              <a:rPr lang="en-US" altLang="zh-CN" dirty="0"/>
              <a:t>---</a:t>
            </a:r>
            <a:r>
              <a:rPr lang="zh-CN" altLang="en-US" dirty="0"/>
              <a:t>数据转储</a:t>
            </a:r>
          </a:p>
        </p:txBody>
      </p:sp>
      <p:sp>
        <p:nvSpPr>
          <p:cNvPr id="499715" name="Rectangle 3"/>
          <p:cNvSpPr>
            <a:spLocks noGrp="1" noChangeArrowheads="1"/>
          </p:cNvSpPr>
          <p:nvPr>
            <p:ph type="body" idx="1"/>
          </p:nvPr>
        </p:nvSpPr>
        <p:spPr>
          <a:xfrm>
            <a:off x="609600" y="1447800"/>
            <a:ext cx="7706816" cy="4684713"/>
          </a:xfrm>
        </p:spPr>
        <p:txBody>
          <a:bodyPr/>
          <a:lstStyle/>
          <a:p>
            <a:r>
              <a:rPr lang="zh-CN" altLang="en-US" dirty="0"/>
              <a:t>静态转储   转储时系统</a:t>
            </a:r>
            <a:r>
              <a:rPr lang="zh-CN" altLang="en-US" dirty="0">
                <a:solidFill>
                  <a:srgbClr val="FF0000"/>
                </a:solidFill>
              </a:rPr>
              <a:t>无</a:t>
            </a:r>
            <a:r>
              <a:rPr lang="zh-CN" altLang="en-US" dirty="0">
                <a:solidFill>
                  <a:schemeClr val="tx2"/>
                </a:solidFill>
              </a:rPr>
              <a:t>事务运行</a:t>
            </a:r>
            <a:r>
              <a:rPr lang="zh-CN" altLang="en-US" dirty="0"/>
              <a:t>。</a:t>
            </a:r>
          </a:p>
          <a:p>
            <a:pPr>
              <a:spcBef>
                <a:spcPct val="35000"/>
              </a:spcBef>
            </a:pPr>
            <a:r>
              <a:rPr lang="zh-CN" altLang="en-US" dirty="0"/>
              <a:t>动态转储   转储时系统</a:t>
            </a:r>
            <a:r>
              <a:rPr lang="zh-CN" altLang="en-US" dirty="0">
                <a:solidFill>
                  <a:srgbClr val="FF0000"/>
                </a:solidFill>
              </a:rPr>
              <a:t>有</a:t>
            </a:r>
            <a:r>
              <a:rPr lang="zh-CN" altLang="en-US" dirty="0">
                <a:solidFill>
                  <a:schemeClr val="tx2"/>
                </a:solidFill>
              </a:rPr>
              <a:t>事务运行</a:t>
            </a:r>
            <a:r>
              <a:rPr lang="zh-CN" altLang="en-US" dirty="0"/>
              <a:t>。</a:t>
            </a:r>
            <a:endParaRPr lang="en-US" altLang="zh-CN" dirty="0"/>
          </a:p>
          <a:p>
            <a:pPr lvl="1">
              <a:spcBef>
                <a:spcPct val="35000"/>
              </a:spcBef>
            </a:pPr>
            <a:r>
              <a:rPr lang="zh-CN" altLang="en-US" dirty="0">
                <a:solidFill>
                  <a:srgbClr val="C00000"/>
                </a:solidFill>
              </a:rPr>
              <a:t>日志文件</a:t>
            </a:r>
          </a:p>
          <a:p>
            <a:pPr>
              <a:spcBef>
                <a:spcPct val="35000"/>
              </a:spcBef>
            </a:pPr>
            <a:endParaRPr lang="zh-CN" altLang="en-US" dirty="0"/>
          </a:p>
          <a:p>
            <a:r>
              <a:rPr lang="zh-CN" altLang="en-US" dirty="0"/>
              <a:t>海量转储   转储</a:t>
            </a:r>
            <a:r>
              <a:rPr lang="zh-CN" altLang="en-US" dirty="0">
                <a:solidFill>
                  <a:srgbClr val="FF0000"/>
                </a:solidFill>
              </a:rPr>
              <a:t>全部</a:t>
            </a:r>
            <a:r>
              <a:rPr lang="zh-CN" altLang="en-US" dirty="0"/>
              <a:t>数据。</a:t>
            </a:r>
          </a:p>
          <a:p>
            <a:pPr>
              <a:spcBef>
                <a:spcPct val="35000"/>
              </a:spcBef>
            </a:pPr>
            <a:r>
              <a:rPr lang="zh-CN" altLang="en-US" dirty="0"/>
              <a:t>增量转储   仅转储</a:t>
            </a:r>
            <a:r>
              <a:rPr lang="zh-CN" altLang="en-US" dirty="0">
                <a:solidFill>
                  <a:srgbClr val="FF0000"/>
                </a:solidFill>
              </a:rPr>
              <a:t>更新</a:t>
            </a:r>
            <a:r>
              <a:rPr lang="zh-CN" altLang="en-US" dirty="0"/>
              <a:t>数据。</a:t>
            </a:r>
          </a:p>
        </p:txBody>
      </p:sp>
      <p:sp>
        <p:nvSpPr>
          <p:cNvPr id="3" name="页脚占位符 2">
            <a:extLst>
              <a:ext uri="{FF2B5EF4-FFF2-40B4-BE49-F238E27FC236}">
                <a16:creationId xmlns:a16="http://schemas.microsoft.com/office/drawing/2014/main" id="{5237AC2A-245F-17DA-1448-E9635B5DC06E}"/>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1572FF3D-A7B7-79B0-B75B-7D0040F340FE}"/>
              </a:ext>
            </a:extLst>
          </p:cNvPr>
          <p:cNvSpPr>
            <a:spLocks noGrp="1"/>
          </p:cNvSpPr>
          <p:nvPr>
            <p:ph type="sldNum" sz="quarter" idx="12"/>
          </p:nvPr>
        </p:nvSpPr>
        <p:spPr/>
        <p:txBody>
          <a:bodyPr/>
          <a:lstStyle/>
          <a:p>
            <a:fld id="{6CD0990F-CFD2-4E3E-9B0E-DA23AF729A97}" type="slidenum">
              <a:rPr lang="en-US" altLang="zh-CN" smtClean="0"/>
              <a:pPr/>
              <a:t>15</a:t>
            </a:fld>
            <a:r>
              <a:rPr lang="en-US" altLang="zh-CN"/>
              <a:t>/67</a:t>
            </a:r>
            <a:endParaRPr lang="zh-CN" altLang="en-US" dirty="0"/>
          </a:p>
        </p:txBody>
      </p:sp>
    </p:spTree>
    <p:extLst>
      <p:ext uri="{BB962C8B-B14F-4D97-AF65-F5344CB8AC3E}">
        <p14:creationId xmlns:p14="http://schemas.microsoft.com/office/powerpoint/2010/main" val="40035049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9715">
                                            <p:txEl>
                                              <p:pRg st="4" end="4"/>
                                            </p:txEl>
                                          </p:spTgt>
                                        </p:tgtEl>
                                        <p:attrNameLst>
                                          <p:attrName>style.visibility</p:attrName>
                                        </p:attrNameLst>
                                      </p:cBhvr>
                                      <p:to>
                                        <p:strVal val="visible"/>
                                      </p:to>
                                    </p:set>
                                    <p:anim calcmode="lin" valueType="num">
                                      <p:cBhvr additive="base">
                                        <p:cTn id="7" dur="500" fill="hold"/>
                                        <p:tgtEl>
                                          <p:spTgt spid="49971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971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99715">
                                            <p:txEl>
                                              <p:pRg st="5" end="5"/>
                                            </p:txEl>
                                          </p:spTgt>
                                        </p:tgtEl>
                                        <p:attrNameLst>
                                          <p:attrName>style.visibility</p:attrName>
                                        </p:attrNameLst>
                                      </p:cBhvr>
                                      <p:to>
                                        <p:strVal val="visible"/>
                                      </p:to>
                                    </p:set>
                                    <p:anim calcmode="lin" valueType="num">
                                      <p:cBhvr additive="base">
                                        <p:cTn id="11" dur="500" fill="hold"/>
                                        <p:tgtEl>
                                          <p:spTgt spid="49971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997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09868C3-CD08-4FD0-8F9C-257CB4182962}" type="datetime1">
              <a:rPr lang="zh-CN" altLang="en-US" smtClean="0"/>
              <a:t>2025/12/24</a:t>
            </a:fld>
            <a:endParaRPr lang="en-US" altLang="zh-CN"/>
          </a:p>
        </p:txBody>
      </p:sp>
      <p:sp>
        <p:nvSpPr>
          <p:cNvPr id="499714" name="Rectangle 2"/>
          <p:cNvSpPr>
            <a:spLocks noGrp="1" noChangeArrowheads="1"/>
          </p:cNvSpPr>
          <p:nvPr>
            <p:ph type="title"/>
          </p:nvPr>
        </p:nvSpPr>
        <p:spPr/>
        <p:txBody>
          <a:bodyPr/>
          <a:lstStyle/>
          <a:p>
            <a:r>
              <a:rPr lang="en-US" altLang="zh-CN"/>
              <a:t>10.4.1 </a:t>
            </a:r>
            <a:r>
              <a:rPr lang="zh-CN" altLang="en-US"/>
              <a:t>数据转储</a:t>
            </a:r>
          </a:p>
        </p:txBody>
      </p:sp>
      <p:sp>
        <p:nvSpPr>
          <p:cNvPr id="499715" name="Rectangle 3"/>
          <p:cNvSpPr>
            <a:spLocks noGrp="1" noChangeArrowheads="1"/>
          </p:cNvSpPr>
          <p:nvPr>
            <p:ph type="body" idx="1"/>
          </p:nvPr>
        </p:nvSpPr>
        <p:spPr/>
        <p:txBody>
          <a:bodyPr/>
          <a:lstStyle/>
          <a:p>
            <a:r>
              <a:rPr lang="zh-CN" altLang="en-US" dirty="0"/>
              <a:t>静态转储   转储时系统</a:t>
            </a:r>
            <a:r>
              <a:rPr lang="zh-CN" altLang="en-US" dirty="0">
                <a:solidFill>
                  <a:schemeClr val="tx2"/>
                </a:solidFill>
              </a:rPr>
              <a:t>无事务运行</a:t>
            </a:r>
            <a:r>
              <a:rPr lang="zh-CN" altLang="en-US" dirty="0"/>
              <a:t>。</a:t>
            </a:r>
          </a:p>
          <a:p>
            <a:pPr>
              <a:spcBef>
                <a:spcPct val="35000"/>
              </a:spcBef>
            </a:pPr>
            <a:r>
              <a:rPr lang="zh-CN" altLang="en-US" dirty="0"/>
              <a:t>动态转储   转储时系统</a:t>
            </a:r>
            <a:r>
              <a:rPr lang="zh-CN" altLang="en-US" dirty="0">
                <a:solidFill>
                  <a:schemeClr val="tx2"/>
                </a:solidFill>
              </a:rPr>
              <a:t>有事务运行</a:t>
            </a:r>
            <a:r>
              <a:rPr lang="zh-CN" altLang="en-US" dirty="0"/>
              <a:t>。</a:t>
            </a:r>
            <a:endParaRPr lang="en-US" altLang="zh-CN" dirty="0"/>
          </a:p>
          <a:p>
            <a:pPr lvl="1">
              <a:spcBef>
                <a:spcPct val="35000"/>
              </a:spcBef>
            </a:pPr>
            <a:r>
              <a:rPr lang="zh-CN" altLang="en-US" dirty="0">
                <a:solidFill>
                  <a:srgbClr val="C00000"/>
                </a:solidFill>
              </a:rPr>
              <a:t>日志文件</a:t>
            </a:r>
          </a:p>
          <a:p>
            <a:pPr>
              <a:spcBef>
                <a:spcPct val="35000"/>
              </a:spcBef>
            </a:pPr>
            <a:endParaRPr lang="zh-CN" altLang="en-US" dirty="0"/>
          </a:p>
          <a:p>
            <a:r>
              <a:rPr lang="zh-CN" altLang="en-US" dirty="0"/>
              <a:t>海量转储   转储</a:t>
            </a:r>
            <a:r>
              <a:rPr lang="zh-CN" altLang="en-US" dirty="0">
                <a:solidFill>
                  <a:schemeClr val="tx2"/>
                </a:solidFill>
              </a:rPr>
              <a:t>全部</a:t>
            </a:r>
            <a:r>
              <a:rPr lang="zh-CN" altLang="en-US" dirty="0"/>
              <a:t>数据。</a:t>
            </a:r>
          </a:p>
          <a:p>
            <a:pPr>
              <a:spcBef>
                <a:spcPct val="35000"/>
              </a:spcBef>
            </a:pPr>
            <a:r>
              <a:rPr lang="zh-CN" altLang="en-US" dirty="0"/>
              <a:t>增量转储   仅转储</a:t>
            </a:r>
            <a:r>
              <a:rPr lang="zh-CN" altLang="en-US" dirty="0">
                <a:solidFill>
                  <a:schemeClr val="tx2"/>
                </a:solidFill>
              </a:rPr>
              <a:t>更新</a:t>
            </a:r>
            <a:r>
              <a:rPr lang="zh-CN" altLang="en-US" dirty="0"/>
              <a:t>数据。</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 y="3451860"/>
            <a:ext cx="8267700" cy="288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页脚占位符 2">
            <a:extLst>
              <a:ext uri="{FF2B5EF4-FFF2-40B4-BE49-F238E27FC236}">
                <a16:creationId xmlns:a16="http://schemas.microsoft.com/office/drawing/2014/main" id="{B44EAAE0-2FE4-315B-6FAA-7B408F30F53B}"/>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9B79F00C-5925-1677-7C58-6E4064A6F6F2}"/>
              </a:ext>
            </a:extLst>
          </p:cNvPr>
          <p:cNvSpPr>
            <a:spLocks noGrp="1"/>
          </p:cNvSpPr>
          <p:nvPr>
            <p:ph type="sldNum" sz="quarter" idx="12"/>
          </p:nvPr>
        </p:nvSpPr>
        <p:spPr/>
        <p:txBody>
          <a:bodyPr/>
          <a:lstStyle/>
          <a:p>
            <a:fld id="{6CD0990F-CFD2-4E3E-9B0E-DA23AF729A97}" type="slidenum">
              <a:rPr lang="en-US" altLang="zh-CN" smtClean="0"/>
              <a:pPr/>
              <a:t>16</a:t>
            </a:fld>
            <a:r>
              <a:rPr lang="en-US" altLang="zh-CN"/>
              <a:t>/67</a:t>
            </a:r>
            <a:endParaRPr lang="zh-CN" altLang="en-US" dirty="0"/>
          </a:p>
        </p:txBody>
      </p:sp>
    </p:spTree>
    <p:extLst>
      <p:ext uri="{BB962C8B-B14F-4D97-AF65-F5344CB8AC3E}">
        <p14:creationId xmlns:p14="http://schemas.microsoft.com/office/powerpoint/2010/main" val="195749915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AF53BD6-5D47-4D40-B206-0C44938D6569}" type="datetime1">
              <a:rPr lang="zh-CN" altLang="en-US" smtClean="0"/>
              <a:t>2025/12/24</a:t>
            </a:fld>
            <a:endParaRPr lang="en-US" altLang="zh-CN"/>
          </a:p>
        </p:txBody>
      </p:sp>
      <p:sp>
        <p:nvSpPr>
          <p:cNvPr id="500738" name="Rectangle 2"/>
          <p:cNvSpPr>
            <a:spLocks noGrp="1" noChangeArrowheads="1"/>
          </p:cNvSpPr>
          <p:nvPr>
            <p:ph type="title"/>
          </p:nvPr>
        </p:nvSpPr>
        <p:spPr/>
        <p:txBody>
          <a:bodyPr/>
          <a:lstStyle/>
          <a:p>
            <a:r>
              <a:rPr lang="zh-CN" altLang="en-US" dirty="0"/>
              <a:t>数据库恢复</a:t>
            </a:r>
            <a:r>
              <a:rPr lang="en-US" altLang="zh-CN" dirty="0"/>
              <a:t>---</a:t>
            </a:r>
            <a:r>
              <a:rPr lang="zh-CN" altLang="en-US" dirty="0"/>
              <a:t>登记日志文件</a:t>
            </a:r>
          </a:p>
        </p:txBody>
      </p:sp>
      <p:sp>
        <p:nvSpPr>
          <p:cNvPr id="500739" name="Rectangle 3"/>
          <p:cNvSpPr>
            <a:spLocks noGrp="1" noChangeArrowheads="1"/>
          </p:cNvSpPr>
          <p:nvPr>
            <p:ph type="body" idx="1"/>
          </p:nvPr>
        </p:nvSpPr>
        <p:spPr>
          <a:xfrm>
            <a:off x="609600" y="1447800"/>
            <a:ext cx="8345488" cy="4953000"/>
          </a:xfrm>
        </p:spPr>
        <p:txBody>
          <a:bodyPr/>
          <a:lstStyle/>
          <a:p>
            <a:pPr>
              <a:buFontTx/>
              <a:buNone/>
            </a:pPr>
            <a:r>
              <a:rPr lang="zh-CN" altLang="en-US" dirty="0"/>
              <a:t>一</a:t>
            </a:r>
            <a:r>
              <a:rPr lang="en-US" altLang="zh-CN" dirty="0"/>
              <a:t>. </a:t>
            </a:r>
            <a:r>
              <a:rPr lang="zh-CN" altLang="en-US" dirty="0"/>
              <a:t>日志文件的格式和内容</a:t>
            </a:r>
          </a:p>
          <a:p>
            <a:pPr lvl="1"/>
            <a:r>
              <a:rPr lang="zh-CN" altLang="en-US" dirty="0"/>
              <a:t>以</a:t>
            </a:r>
            <a:r>
              <a:rPr lang="zh-CN" altLang="en-US" dirty="0">
                <a:solidFill>
                  <a:srgbClr val="0000FF"/>
                </a:solidFill>
              </a:rPr>
              <a:t>记录</a:t>
            </a:r>
            <a:r>
              <a:rPr lang="zh-CN" altLang="en-US" dirty="0"/>
              <a:t>为单位的</a:t>
            </a:r>
          </a:p>
          <a:p>
            <a:pPr lvl="2"/>
            <a:r>
              <a:rPr lang="zh-CN" altLang="en-US" dirty="0"/>
              <a:t>示例</a:t>
            </a:r>
          </a:p>
          <a:p>
            <a:pPr>
              <a:spcBef>
                <a:spcPts val="0"/>
              </a:spcBef>
              <a:buFont typeface="Wingdings" pitchFamily="2" charset="2"/>
              <a:buNone/>
            </a:pPr>
            <a:r>
              <a:rPr lang="en-US" altLang="zh-CN" dirty="0"/>
              <a:t>		&lt;</a:t>
            </a:r>
            <a:r>
              <a:rPr lang="en-US" altLang="zh-CN" i="1" dirty="0"/>
              <a:t>T</a:t>
            </a:r>
            <a:r>
              <a:rPr lang="en-US" altLang="zh-CN" baseline="-25000" dirty="0"/>
              <a:t>0</a:t>
            </a:r>
            <a:r>
              <a:rPr lang="en-US" altLang="zh-CN" dirty="0"/>
              <a:t> </a:t>
            </a:r>
            <a:r>
              <a:rPr lang="en-US" altLang="zh-CN" b="1" dirty="0"/>
              <a:t>commit</a:t>
            </a:r>
            <a:r>
              <a:rPr lang="en-US" altLang="zh-CN" dirty="0"/>
              <a:t>&gt;                                                        </a:t>
            </a:r>
          </a:p>
          <a:p>
            <a:pPr>
              <a:spcBef>
                <a:spcPts val="0"/>
              </a:spcBef>
              <a:buFont typeface="Wingdings" pitchFamily="2" charset="2"/>
              <a:buNone/>
            </a:pPr>
            <a:r>
              <a:rPr lang="en-US" altLang="zh-CN" dirty="0"/>
              <a:t>		&lt;</a:t>
            </a:r>
            <a:r>
              <a:rPr lang="en-US" altLang="zh-CN" i="1" dirty="0"/>
              <a:t>T</a:t>
            </a:r>
            <a:r>
              <a:rPr lang="en-US" altLang="zh-CN" baseline="-25000" dirty="0"/>
              <a:t>1</a:t>
            </a:r>
            <a:r>
              <a:rPr lang="en-US" altLang="zh-CN" dirty="0"/>
              <a:t> </a:t>
            </a:r>
            <a:r>
              <a:rPr lang="en-US" altLang="zh-CN" b="1" dirty="0"/>
              <a:t>start</a:t>
            </a:r>
            <a:r>
              <a:rPr lang="en-US" altLang="zh-CN" dirty="0"/>
              <a:t>&gt;</a:t>
            </a:r>
          </a:p>
          <a:p>
            <a:pPr>
              <a:spcBef>
                <a:spcPts val="0"/>
              </a:spcBef>
              <a:buFont typeface="Wingdings" pitchFamily="2" charset="2"/>
              <a:buNone/>
            </a:pPr>
            <a:r>
              <a:rPr lang="en-US" altLang="zh-CN" dirty="0"/>
              <a:t>		&lt;</a:t>
            </a:r>
            <a:r>
              <a:rPr lang="en-US" altLang="zh-CN" i="1" dirty="0"/>
              <a:t>T</a:t>
            </a:r>
            <a:r>
              <a:rPr lang="en-US" altLang="zh-CN" baseline="-25000" dirty="0"/>
              <a:t>1</a:t>
            </a:r>
            <a:r>
              <a:rPr lang="en-US" altLang="zh-CN" dirty="0"/>
              <a:t>, C, 700, 600&gt;</a:t>
            </a:r>
          </a:p>
          <a:p>
            <a:pPr lvl="1">
              <a:spcBef>
                <a:spcPct val="45000"/>
              </a:spcBef>
            </a:pPr>
            <a:r>
              <a:rPr lang="zh-CN" altLang="en-US" dirty="0"/>
              <a:t>以</a:t>
            </a:r>
            <a:r>
              <a:rPr lang="zh-CN" altLang="en-US" dirty="0">
                <a:solidFill>
                  <a:schemeClr val="tx2"/>
                </a:solidFill>
              </a:rPr>
              <a:t>数据块</a:t>
            </a:r>
            <a:r>
              <a:rPr lang="zh-CN" altLang="en-US" dirty="0"/>
              <a:t>为单位的</a:t>
            </a:r>
            <a:endParaRPr lang="en-US" altLang="zh-CN" dirty="0"/>
          </a:p>
          <a:p>
            <a:pPr lvl="2">
              <a:spcBef>
                <a:spcPts val="600"/>
              </a:spcBef>
            </a:pPr>
            <a:r>
              <a:rPr lang="zh-CN" altLang="en-US" dirty="0">
                <a:ea typeface="宋体" charset="-122"/>
              </a:rPr>
              <a:t>事务标识（标明是那个事务）</a:t>
            </a:r>
          </a:p>
          <a:p>
            <a:pPr lvl="2">
              <a:spcBef>
                <a:spcPts val="0"/>
              </a:spcBef>
            </a:pPr>
            <a:r>
              <a:rPr lang="zh-CN" altLang="en-US" dirty="0">
                <a:ea typeface="宋体" charset="-122"/>
              </a:rPr>
              <a:t>被更新的数据块</a:t>
            </a:r>
          </a:p>
          <a:p>
            <a:pPr lvl="2">
              <a:spcBef>
                <a:spcPct val="45000"/>
              </a:spcBef>
            </a:pPr>
            <a:endParaRPr lang="zh-CN" altLang="en-US" dirty="0"/>
          </a:p>
          <a:p>
            <a:endParaRPr lang="zh-CN" altLang="en-US" dirty="0"/>
          </a:p>
        </p:txBody>
      </p:sp>
      <p:sp>
        <p:nvSpPr>
          <p:cNvPr id="3" name="TextBox 2"/>
          <p:cNvSpPr txBox="1"/>
          <p:nvPr/>
        </p:nvSpPr>
        <p:spPr>
          <a:xfrm>
            <a:off x="5508104" y="1340768"/>
            <a:ext cx="3528392" cy="3713645"/>
          </a:xfrm>
          <a:prstGeom prst="rect">
            <a:avLst/>
          </a:prstGeom>
          <a:ln>
            <a:solidFill>
              <a:schemeClr val="accent1">
                <a:lumMod val="60000"/>
                <a:lumOff val="4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60000"/>
              </a:lnSpc>
            </a:pPr>
            <a:r>
              <a:rPr lang="zh-CN" altLang="en-US" sz="2000" dirty="0">
                <a:solidFill>
                  <a:srgbClr val="0000FF"/>
                </a:solidFill>
                <a:ea typeface="宋体" charset="-122"/>
              </a:rPr>
              <a:t>事务标识</a:t>
            </a:r>
            <a:r>
              <a:rPr lang="zh-CN" altLang="en-US" sz="2000" dirty="0">
                <a:ea typeface="宋体" charset="-122"/>
              </a:rPr>
              <a:t>（标明是哪个事务） </a:t>
            </a:r>
          </a:p>
          <a:p>
            <a:pPr>
              <a:lnSpc>
                <a:spcPct val="160000"/>
              </a:lnSpc>
            </a:pPr>
            <a:r>
              <a:rPr lang="zh-CN" altLang="en-US" sz="2000" dirty="0">
                <a:solidFill>
                  <a:srgbClr val="0000FF"/>
                </a:solidFill>
                <a:ea typeface="宋体" charset="-122"/>
              </a:rPr>
              <a:t>操作类型</a:t>
            </a:r>
            <a:r>
              <a:rPr lang="zh-CN" altLang="en-US" sz="2000" dirty="0">
                <a:ea typeface="宋体" charset="-122"/>
              </a:rPr>
              <a:t>（插入、删除或修改）</a:t>
            </a:r>
          </a:p>
          <a:p>
            <a:pPr>
              <a:lnSpc>
                <a:spcPct val="160000"/>
              </a:lnSpc>
            </a:pPr>
            <a:r>
              <a:rPr lang="zh-CN" altLang="en-US" sz="2000" dirty="0">
                <a:solidFill>
                  <a:srgbClr val="0000FF"/>
                </a:solidFill>
                <a:ea typeface="宋体" charset="-122"/>
              </a:rPr>
              <a:t>操作对象</a:t>
            </a:r>
            <a:r>
              <a:rPr lang="zh-CN" altLang="en-US" sz="2000" dirty="0">
                <a:ea typeface="宋体" charset="-122"/>
              </a:rPr>
              <a:t>（记录内部标识）</a:t>
            </a:r>
          </a:p>
          <a:p>
            <a:pPr>
              <a:lnSpc>
                <a:spcPct val="160000"/>
              </a:lnSpc>
            </a:pPr>
            <a:r>
              <a:rPr lang="zh-CN" altLang="en-US" sz="2000" dirty="0">
                <a:ea typeface="宋体" charset="-122"/>
              </a:rPr>
              <a:t>更新前数据的</a:t>
            </a:r>
            <a:r>
              <a:rPr lang="zh-CN" altLang="en-US" sz="2000" dirty="0">
                <a:solidFill>
                  <a:srgbClr val="0000FF"/>
                </a:solidFill>
                <a:ea typeface="宋体" charset="-122"/>
              </a:rPr>
              <a:t>旧值</a:t>
            </a:r>
            <a:r>
              <a:rPr lang="zh-CN" altLang="en-US" sz="2000" dirty="0">
                <a:ea typeface="宋体" charset="-122"/>
              </a:rPr>
              <a:t>（对插入操作而言，此项为空值）</a:t>
            </a:r>
          </a:p>
          <a:p>
            <a:pPr>
              <a:lnSpc>
                <a:spcPct val="160000"/>
              </a:lnSpc>
            </a:pPr>
            <a:r>
              <a:rPr lang="zh-CN" altLang="en-US" sz="2000" dirty="0">
                <a:ea typeface="宋体" charset="-122"/>
              </a:rPr>
              <a:t>更新后数据的</a:t>
            </a:r>
            <a:r>
              <a:rPr lang="zh-CN" altLang="en-US" sz="2000" dirty="0">
                <a:solidFill>
                  <a:srgbClr val="0000FF"/>
                </a:solidFill>
                <a:ea typeface="宋体" charset="-122"/>
              </a:rPr>
              <a:t>新值</a:t>
            </a:r>
            <a:r>
              <a:rPr lang="zh-CN" altLang="en-US" sz="2000" dirty="0">
                <a:ea typeface="宋体" charset="-122"/>
              </a:rPr>
              <a:t>（对删除操作而言</a:t>
            </a:r>
            <a:r>
              <a:rPr lang="en-US" altLang="zh-CN" sz="2000" dirty="0">
                <a:ea typeface="宋体" charset="-122"/>
              </a:rPr>
              <a:t>, </a:t>
            </a:r>
            <a:r>
              <a:rPr lang="zh-CN" altLang="en-US" sz="2000" dirty="0">
                <a:ea typeface="宋体" charset="-122"/>
              </a:rPr>
              <a:t>此项为空值）</a:t>
            </a:r>
          </a:p>
        </p:txBody>
      </p:sp>
      <p:sp>
        <p:nvSpPr>
          <p:cNvPr id="6" name="页脚占位符 5">
            <a:extLst>
              <a:ext uri="{FF2B5EF4-FFF2-40B4-BE49-F238E27FC236}">
                <a16:creationId xmlns:a16="http://schemas.microsoft.com/office/drawing/2014/main" id="{0C569A09-2A36-CCA8-3EB5-018E4F033027}"/>
              </a:ext>
            </a:extLst>
          </p:cNvPr>
          <p:cNvSpPr>
            <a:spLocks noGrp="1"/>
          </p:cNvSpPr>
          <p:nvPr>
            <p:ph type="ftr" sz="quarter" idx="11"/>
          </p:nvPr>
        </p:nvSpPr>
        <p:spPr/>
        <p:txBody>
          <a:bodyPr/>
          <a:lstStyle/>
          <a:p>
            <a:r>
              <a:rPr lang="en-US" altLang="zh-CN" dirty="0"/>
              <a:t>《</a:t>
            </a:r>
            <a:r>
              <a:rPr lang="en-US" altLang="zh-CN" dirty="0" err="1"/>
              <a:t>数据库系统概论</a:t>
            </a:r>
            <a:r>
              <a:rPr lang="en-US" altLang="zh-CN" dirty="0"/>
              <a:t>》- 第11章</a:t>
            </a:r>
          </a:p>
        </p:txBody>
      </p:sp>
      <p:sp>
        <p:nvSpPr>
          <p:cNvPr id="7" name="灯片编号占位符 6">
            <a:extLst>
              <a:ext uri="{FF2B5EF4-FFF2-40B4-BE49-F238E27FC236}">
                <a16:creationId xmlns:a16="http://schemas.microsoft.com/office/drawing/2014/main" id="{4BE3F082-9BD9-F768-0C41-5277F50E4E86}"/>
              </a:ext>
            </a:extLst>
          </p:cNvPr>
          <p:cNvSpPr>
            <a:spLocks noGrp="1"/>
          </p:cNvSpPr>
          <p:nvPr>
            <p:ph type="sldNum" sz="quarter" idx="12"/>
          </p:nvPr>
        </p:nvSpPr>
        <p:spPr/>
        <p:txBody>
          <a:bodyPr/>
          <a:lstStyle/>
          <a:p>
            <a:fld id="{6CD0990F-CFD2-4E3E-9B0E-DA23AF729A97}" type="slidenum">
              <a:rPr lang="en-US" altLang="zh-CN" smtClean="0"/>
              <a:pPr/>
              <a:t>17</a:t>
            </a:fld>
            <a:r>
              <a:rPr lang="en-US" altLang="zh-CN"/>
              <a:t>/67</a:t>
            </a:r>
            <a:endParaRPr lang="zh-CN" altLang="en-US" dirty="0"/>
          </a:p>
        </p:txBody>
      </p:sp>
    </p:spTree>
    <p:extLst>
      <p:ext uri="{BB962C8B-B14F-4D97-AF65-F5344CB8AC3E}">
        <p14:creationId xmlns:p14="http://schemas.microsoft.com/office/powerpoint/2010/main" val="17168364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0739">
                                            <p:txEl>
                                              <p:pRg st="6" end="6"/>
                                            </p:txEl>
                                          </p:spTgt>
                                        </p:tgtEl>
                                        <p:attrNameLst>
                                          <p:attrName>style.visibility</p:attrName>
                                        </p:attrNameLst>
                                      </p:cBhvr>
                                      <p:to>
                                        <p:strVal val="visible"/>
                                      </p:to>
                                    </p:set>
                                    <p:anim calcmode="lin" valueType="num">
                                      <p:cBhvr additive="base">
                                        <p:cTn id="13" dur="500" fill="hold"/>
                                        <p:tgtEl>
                                          <p:spTgt spid="500739">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0739">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00739">
                                            <p:txEl>
                                              <p:pRg st="7" end="7"/>
                                            </p:txEl>
                                          </p:spTgt>
                                        </p:tgtEl>
                                        <p:attrNameLst>
                                          <p:attrName>style.visibility</p:attrName>
                                        </p:attrNameLst>
                                      </p:cBhvr>
                                      <p:to>
                                        <p:strVal val="visible"/>
                                      </p:to>
                                    </p:set>
                                    <p:anim calcmode="lin" valueType="num">
                                      <p:cBhvr additive="base">
                                        <p:cTn id="17" dur="500" fill="hold"/>
                                        <p:tgtEl>
                                          <p:spTgt spid="500739">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00739">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00739">
                                            <p:txEl>
                                              <p:pRg st="8" end="8"/>
                                            </p:txEl>
                                          </p:spTgt>
                                        </p:tgtEl>
                                        <p:attrNameLst>
                                          <p:attrName>style.visibility</p:attrName>
                                        </p:attrNameLst>
                                      </p:cBhvr>
                                      <p:to>
                                        <p:strVal val="visible"/>
                                      </p:to>
                                    </p:set>
                                    <p:anim calcmode="lin" valueType="num">
                                      <p:cBhvr additive="base">
                                        <p:cTn id="21" dur="500" fill="hold"/>
                                        <p:tgtEl>
                                          <p:spTgt spid="500739">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0073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788DD2E-DD70-4BFC-AFA1-72F7CC238F70}" type="datetime1">
              <a:rPr lang="zh-CN" altLang="en-US" smtClean="0"/>
              <a:t>2025/12/24</a:t>
            </a:fld>
            <a:endParaRPr lang="en-US" altLang="zh-CN"/>
          </a:p>
        </p:txBody>
      </p:sp>
      <p:sp>
        <p:nvSpPr>
          <p:cNvPr id="501762" name="Rectangle 2"/>
          <p:cNvSpPr>
            <a:spLocks noGrp="1" noChangeArrowheads="1"/>
          </p:cNvSpPr>
          <p:nvPr>
            <p:ph type="title"/>
          </p:nvPr>
        </p:nvSpPr>
        <p:spPr/>
        <p:txBody>
          <a:bodyPr/>
          <a:lstStyle/>
          <a:p>
            <a:r>
              <a:rPr lang="zh-CN" altLang="en-US" dirty="0"/>
              <a:t>数据库恢复</a:t>
            </a:r>
            <a:r>
              <a:rPr lang="en-US" altLang="zh-CN" dirty="0"/>
              <a:t>---</a:t>
            </a:r>
            <a:r>
              <a:rPr lang="zh-CN" altLang="en-US" dirty="0"/>
              <a:t>登记日志文件</a:t>
            </a:r>
          </a:p>
        </p:txBody>
      </p:sp>
      <p:sp>
        <p:nvSpPr>
          <p:cNvPr id="501763" name="Rectangle 3"/>
          <p:cNvSpPr>
            <a:spLocks noGrp="1" noChangeArrowheads="1"/>
          </p:cNvSpPr>
          <p:nvPr>
            <p:ph type="body" idx="1"/>
          </p:nvPr>
        </p:nvSpPr>
        <p:spPr/>
        <p:txBody>
          <a:bodyPr/>
          <a:lstStyle/>
          <a:p>
            <a:pPr marL="609600" indent="-609600">
              <a:buFontTx/>
              <a:buNone/>
            </a:pPr>
            <a:r>
              <a:rPr lang="zh-CN" altLang="en-US" dirty="0"/>
              <a:t>二</a:t>
            </a:r>
            <a:r>
              <a:rPr lang="en-US" altLang="zh-CN" dirty="0"/>
              <a:t>. </a:t>
            </a:r>
            <a:r>
              <a:rPr lang="zh-CN" altLang="en-US" dirty="0"/>
              <a:t>日志文件的作用</a:t>
            </a:r>
          </a:p>
          <a:p>
            <a:pPr marL="609600" indent="-609600">
              <a:spcBef>
                <a:spcPct val="45000"/>
              </a:spcBef>
              <a:buFontTx/>
              <a:buAutoNum type="arabicPeriod"/>
            </a:pPr>
            <a:r>
              <a:rPr lang="zh-CN" altLang="en-US" b="1" dirty="0">
                <a:solidFill>
                  <a:schemeClr val="tx2"/>
                </a:solidFill>
              </a:rPr>
              <a:t>事务故障</a:t>
            </a:r>
            <a:r>
              <a:rPr lang="zh-CN" altLang="en-US" dirty="0"/>
              <a:t>和</a:t>
            </a:r>
            <a:r>
              <a:rPr lang="zh-CN" altLang="en-US" b="1" dirty="0">
                <a:solidFill>
                  <a:schemeClr val="tx2"/>
                </a:solidFill>
              </a:rPr>
              <a:t>系统故障</a:t>
            </a:r>
            <a:r>
              <a:rPr lang="zh-CN" altLang="en-US" dirty="0"/>
              <a:t>的恢复</a:t>
            </a:r>
            <a:endParaRPr lang="en-US" altLang="zh-CN" dirty="0"/>
          </a:p>
          <a:p>
            <a:pPr marL="609600" indent="-609600">
              <a:spcBef>
                <a:spcPct val="45000"/>
              </a:spcBef>
              <a:buFontTx/>
              <a:buAutoNum type="arabicPeriod"/>
            </a:pPr>
            <a:r>
              <a:rPr lang="zh-CN" altLang="en-US" dirty="0">
                <a:solidFill>
                  <a:schemeClr val="tx2"/>
                </a:solidFill>
              </a:rPr>
              <a:t>动态转储</a:t>
            </a:r>
            <a:r>
              <a:rPr lang="zh-CN" altLang="en-US" dirty="0"/>
              <a:t>时必须建立日志文件</a:t>
            </a:r>
          </a:p>
          <a:p>
            <a:pPr marL="609600" indent="-609600">
              <a:spcBef>
                <a:spcPct val="45000"/>
              </a:spcBef>
              <a:buFontTx/>
              <a:buAutoNum type="arabicPeriod"/>
            </a:pPr>
            <a:r>
              <a:rPr lang="zh-CN" altLang="en-US" dirty="0">
                <a:solidFill>
                  <a:schemeClr val="tx2"/>
                </a:solidFill>
              </a:rPr>
              <a:t>静态转储</a:t>
            </a:r>
            <a:r>
              <a:rPr lang="zh-CN" altLang="en-US" dirty="0"/>
              <a:t>时，利用</a:t>
            </a:r>
            <a:r>
              <a:rPr lang="zh-CN" altLang="en-US" dirty="0">
                <a:solidFill>
                  <a:schemeClr val="tx2"/>
                </a:solidFill>
              </a:rPr>
              <a:t>日志文件</a:t>
            </a:r>
            <a:r>
              <a:rPr lang="zh-CN" altLang="en-US" dirty="0"/>
              <a:t>可以</a:t>
            </a:r>
            <a:r>
              <a:rPr lang="en-US" altLang="zh-CN" dirty="0">
                <a:solidFill>
                  <a:schemeClr val="tx2"/>
                </a:solidFill>
              </a:rPr>
              <a:t>REDO</a:t>
            </a:r>
          </a:p>
          <a:p>
            <a:pPr marL="400050" lvl="1" indent="0">
              <a:spcBef>
                <a:spcPct val="45000"/>
              </a:spcBef>
              <a:buNone/>
            </a:pPr>
            <a:r>
              <a:rPr lang="zh-CN" altLang="en-US" dirty="0">
                <a:solidFill>
                  <a:schemeClr val="tx2"/>
                </a:solidFill>
              </a:rPr>
              <a:t> </a:t>
            </a:r>
            <a:r>
              <a:rPr lang="zh-CN" altLang="en-US" dirty="0"/>
              <a:t>（协助后备副本进行</a:t>
            </a:r>
            <a:r>
              <a:rPr lang="zh-CN" altLang="en-US" b="1" dirty="0">
                <a:solidFill>
                  <a:schemeClr val="tx2"/>
                </a:solidFill>
              </a:rPr>
              <a:t>介质故障恢复</a:t>
            </a:r>
            <a:r>
              <a:rPr lang="zh-CN" altLang="en-US" dirty="0"/>
              <a:t>）</a:t>
            </a:r>
          </a:p>
          <a:p>
            <a:pPr marL="1009650" lvl="1" indent="-609600">
              <a:spcBef>
                <a:spcPct val="45000"/>
              </a:spcBef>
              <a:buFontTx/>
              <a:buAutoNum type="arabicPeriod"/>
            </a:pPr>
            <a:endParaRPr lang="zh-CN" altLang="en-US" dirty="0">
              <a:solidFill>
                <a:schemeClr val="tx2"/>
              </a:solidFill>
            </a:endParaRPr>
          </a:p>
        </p:txBody>
      </p:sp>
      <p:sp>
        <p:nvSpPr>
          <p:cNvPr id="3" name="页脚占位符 2">
            <a:extLst>
              <a:ext uri="{FF2B5EF4-FFF2-40B4-BE49-F238E27FC236}">
                <a16:creationId xmlns:a16="http://schemas.microsoft.com/office/drawing/2014/main" id="{98A6B3E1-F6B8-710F-DD95-FB7C60C781C8}"/>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37CB9491-5D0C-3AAB-B62D-7891E2CA764A}"/>
              </a:ext>
            </a:extLst>
          </p:cNvPr>
          <p:cNvSpPr>
            <a:spLocks noGrp="1"/>
          </p:cNvSpPr>
          <p:nvPr>
            <p:ph type="sldNum" sz="quarter" idx="12"/>
          </p:nvPr>
        </p:nvSpPr>
        <p:spPr/>
        <p:txBody>
          <a:bodyPr/>
          <a:lstStyle/>
          <a:p>
            <a:fld id="{6CD0990F-CFD2-4E3E-9B0E-DA23AF729A97}" type="slidenum">
              <a:rPr lang="en-US" altLang="zh-CN" smtClean="0"/>
              <a:pPr/>
              <a:t>18</a:t>
            </a:fld>
            <a:r>
              <a:rPr lang="en-US" altLang="zh-CN"/>
              <a:t>/67</a:t>
            </a:r>
            <a:endParaRPr lang="zh-CN" altLang="en-US" dirty="0"/>
          </a:p>
        </p:txBody>
      </p:sp>
    </p:spTree>
    <p:extLst>
      <p:ext uri="{BB962C8B-B14F-4D97-AF65-F5344CB8AC3E}">
        <p14:creationId xmlns:p14="http://schemas.microsoft.com/office/powerpoint/2010/main" val="42016797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725F076-4FBB-4A66-8DBB-90A6A3EE0C5A}" type="datetime1">
              <a:rPr lang="zh-CN" altLang="en-US" smtClean="0"/>
              <a:t>2025/12/24</a:t>
            </a:fld>
            <a:endParaRPr lang="en-US" altLang="zh-CN"/>
          </a:p>
        </p:txBody>
      </p:sp>
      <p:sp>
        <p:nvSpPr>
          <p:cNvPr id="501762" name="Rectangle 2"/>
          <p:cNvSpPr>
            <a:spLocks noGrp="1" noChangeArrowheads="1"/>
          </p:cNvSpPr>
          <p:nvPr>
            <p:ph type="title"/>
          </p:nvPr>
        </p:nvSpPr>
        <p:spPr/>
        <p:txBody>
          <a:bodyPr/>
          <a:lstStyle/>
          <a:p>
            <a:r>
              <a:rPr lang="zh-CN" altLang="en-US"/>
              <a:t>登记日志文件</a:t>
            </a:r>
          </a:p>
        </p:txBody>
      </p:sp>
      <p:sp>
        <p:nvSpPr>
          <p:cNvPr id="501763" name="Rectangle 3"/>
          <p:cNvSpPr>
            <a:spLocks noGrp="1" noChangeArrowheads="1"/>
          </p:cNvSpPr>
          <p:nvPr>
            <p:ph type="body" idx="1"/>
          </p:nvPr>
        </p:nvSpPr>
        <p:spPr/>
        <p:txBody>
          <a:bodyPr/>
          <a:lstStyle/>
          <a:p>
            <a:pPr marL="609600" indent="-609600">
              <a:buFontTx/>
              <a:buNone/>
            </a:pPr>
            <a:r>
              <a:rPr lang="zh-CN" altLang="en-US" dirty="0"/>
              <a:t>二</a:t>
            </a:r>
            <a:r>
              <a:rPr lang="en-US" altLang="zh-CN" dirty="0"/>
              <a:t>. </a:t>
            </a:r>
            <a:r>
              <a:rPr lang="zh-CN" altLang="en-US" dirty="0"/>
              <a:t>日志文件的作用</a:t>
            </a:r>
          </a:p>
          <a:p>
            <a:pPr marL="609600" indent="-609600">
              <a:spcBef>
                <a:spcPct val="45000"/>
              </a:spcBef>
              <a:buFontTx/>
              <a:buAutoNum type="arabicPeriod"/>
            </a:pPr>
            <a:r>
              <a:rPr lang="zh-CN" altLang="en-US" dirty="0">
                <a:solidFill>
                  <a:schemeClr val="tx2"/>
                </a:solidFill>
              </a:rPr>
              <a:t>事务故障</a:t>
            </a:r>
            <a:r>
              <a:rPr lang="zh-CN" altLang="en-US" dirty="0"/>
              <a:t>和</a:t>
            </a:r>
            <a:r>
              <a:rPr lang="zh-CN" altLang="en-US" dirty="0">
                <a:solidFill>
                  <a:schemeClr val="tx2"/>
                </a:solidFill>
              </a:rPr>
              <a:t>系统故障</a:t>
            </a:r>
            <a:r>
              <a:rPr lang="zh-CN" altLang="en-US" dirty="0"/>
              <a:t>的恢复，协助后备副本进行</a:t>
            </a:r>
            <a:r>
              <a:rPr lang="zh-CN" altLang="en-US" dirty="0">
                <a:solidFill>
                  <a:schemeClr val="tx2"/>
                </a:solidFill>
              </a:rPr>
              <a:t>介质故障恢复</a:t>
            </a:r>
          </a:p>
          <a:p>
            <a:pPr marL="609600" indent="-609600">
              <a:spcBef>
                <a:spcPct val="45000"/>
              </a:spcBef>
              <a:buFontTx/>
              <a:buAutoNum type="arabicPeriod"/>
            </a:pPr>
            <a:r>
              <a:rPr lang="zh-CN" altLang="en-US" dirty="0">
                <a:solidFill>
                  <a:schemeClr val="tx2"/>
                </a:solidFill>
              </a:rPr>
              <a:t>动态转储</a:t>
            </a:r>
            <a:r>
              <a:rPr lang="zh-CN" altLang="en-US" dirty="0"/>
              <a:t>时必须建立日志文件</a:t>
            </a:r>
          </a:p>
          <a:p>
            <a:pPr marL="609600" indent="-609600">
              <a:spcBef>
                <a:spcPct val="45000"/>
              </a:spcBef>
              <a:buFontTx/>
              <a:buAutoNum type="arabicPeriod"/>
            </a:pPr>
            <a:r>
              <a:rPr lang="zh-CN" altLang="en-US" dirty="0">
                <a:solidFill>
                  <a:schemeClr val="tx2"/>
                </a:solidFill>
              </a:rPr>
              <a:t>静态转储</a:t>
            </a:r>
            <a:r>
              <a:rPr lang="zh-CN" altLang="en-US" dirty="0"/>
              <a:t>时，利用</a:t>
            </a:r>
            <a:r>
              <a:rPr lang="zh-CN" altLang="en-US" dirty="0">
                <a:solidFill>
                  <a:schemeClr val="tx2"/>
                </a:solidFill>
              </a:rPr>
              <a:t>日志文件</a:t>
            </a:r>
            <a:r>
              <a:rPr lang="zh-CN" altLang="en-US" dirty="0"/>
              <a:t>可以</a:t>
            </a:r>
            <a:r>
              <a:rPr lang="en-US" altLang="zh-CN" dirty="0">
                <a:solidFill>
                  <a:schemeClr val="tx2"/>
                </a:solidFill>
              </a:rPr>
              <a:t>REDO</a:t>
            </a:r>
            <a:endParaRPr lang="zh-CN" altLang="en-US" dirty="0">
              <a:solidFill>
                <a:schemeClr val="tx2"/>
              </a:solidFill>
            </a:endParaRPr>
          </a:p>
        </p:txBody>
      </p:sp>
      <p:sp>
        <p:nvSpPr>
          <p:cNvPr id="3" name="页脚占位符 2">
            <a:extLst>
              <a:ext uri="{FF2B5EF4-FFF2-40B4-BE49-F238E27FC236}">
                <a16:creationId xmlns:a16="http://schemas.microsoft.com/office/drawing/2014/main" id="{23BD3D14-CC81-E3A3-3997-4A9D26094CAF}"/>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740C7FFC-008A-AD61-C83E-4F21549EE9E0}"/>
              </a:ext>
            </a:extLst>
          </p:cNvPr>
          <p:cNvSpPr>
            <a:spLocks noGrp="1"/>
          </p:cNvSpPr>
          <p:nvPr>
            <p:ph type="sldNum" sz="quarter" idx="12"/>
          </p:nvPr>
        </p:nvSpPr>
        <p:spPr/>
        <p:txBody>
          <a:bodyPr/>
          <a:lstStyle/>
          <a:p>
            <a:fld id="{6CD0990F-CFD2-4E3E-9B0E-DA23AF729A97}" type="slidenum">
              <a:rPr lang="en-US" altLang="zh-CN" smtClean="0"/>
              <a:pPr/>
              <a:t>19</a:t>
            </a:fld>
            <a:r>
              <a:rPr lang="en-US" altLang="zh-CN"/>
              <a:t>/67</a:t>
            </a:r>
            <a:endParaRPr lang="zh-CN" altLang="en-US"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209799"/>
            <a:ext cx="6557962" cy="4391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38340714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97CFDAB-C728-4190-A8ED-8516FE483B40}" type="datetime1">
              <a:rPr lang="zh-CN" altLang="en-US" smtClean="0"/>
              <a:t>2025/12/24</a:t>
            </a:fld>
            <a:endParaRPr lang="en-US" altLang="zh-CN"/>
          </a:p>
        </p:txBody>
      </p:sp>
      <p:sp>
        <p:nvSpPr>
          <p:cNvPr id="502786" name="Rectangle 2"/>
          <p:cNvSpPr>
            <a:spLocks noGrp="1" noChangeArrowheads="1"/>
          </p:cNvSpPr>
          <p:nvPr>
            <p:ph type="title"/>
          </p:nvPr>
        </p:nvSpPr>
        <p:spPr/>
        <p:txBody>
          <a:bodyPr/>
          <a:lstStyle/>
          <a:p>
            <a:r>
              <a:rPr lang="zh-CN" altLang="en-US" dirty="0"/>
              <a:t>登记日志文件</a:t>
            </a:r>
          </a:p>
        </p:txBody>
      </p:sp>
      <p:sp>
        <p:nvSpPr>
          <p:cNvPr id="502787" name="Rectangle 3"/>
          <p:cNvSpPr>
            <a:spLocks noGrp="1" noChangeArrowheads="1"/>
          </p:cNvSpPr>
          <p:nvPr>
            <p:ph type="body" idx="1"/>
          </p:nvPr>
        </p:nvSpPr>
        <p:spPr/>
        <p:txBody>
          <a:bodyPr/>
          <a:lstStyle/>
          <a:p>
            <a:pPr marL="609600" indent="-609600">
              <a:buFont typeface="Wingdings" pitchFamily="2" charset="2"/>
              <a:buNone/>
            </a:pPr>
            <a:r>
              <a:rPr lang="zh-CN" altLang="en-US" dirty="0"/>
              <a:t>三</a:t>
            </a:r>
            <a:r>
              <a:rPr lang="en-US" altLang="zh-CN" dirty="0"/>
              <a:t>. </a:t>
            </a:r>
            <a:r>
              <a:rPr lang="zh-CN" altLang="en-US" dirty="0"/>
              <a:t>登记日志文件</a:t>
            </a:r>
          </a:p>
          <a:p>
            <a:pPr marL="609600" indent="-609600">
              <a:buFont typeface="Wingdings" pitchFamily="2" charset="2"/>
              <a:buNone/>
            </a:pPr>
            <a:endParaRPr lang="zh-CN" altLang="en-US" sz="1000" dirty="0"/>
          </a:p>
          <a:p>
            <a:pPr marL="609600" indent="-609600">
              <a:buFontTx/>
              <a:buAutoNum type="arabicPeriod"/>
            </a:pPr>
            <a:r>
              <a:rPr lang="zh-CN" altLang="en-US" dirty="0"/>
              <a:t>登记严格按</a:t>
            </a:r>
            <a:r>
              <a:rPr lang="zh-CN" altLang="en-US" b="1" dirty="0">
                <a:effectLst>
                  <a:outerShdw blurRad="38100" dist="38100" dir="2700000" algn="tl">
                    <a:srgbClr val="000000">
                      <a:alpha val="43137"/>
                    </a:srgbClr>
                  </a:outerShdw>
                </a:effectLst>
              </a:rPr>
              <a:t>并发</a:t>
            </a:r>
            <a:r>
              <a:rPr lang="zh-CN" altLang="en-US" b="1" dirty="0">
                <a:solidFill>
                  <a:schemeClr val="tx2"/>
                </a:solidFill>
                <a:effectLst>
                  <a:outerShdw blurRad="38100" dist="38100" dir="2700000" algn="tl">
                    <a:srgbClr val="000000">
                      <a:alpha val="43137"/>
                    </a:srgbClr>
                  </a:outerShdw>
                </a:effectLst>
              </a:rPr>
              <a:t>事务执行</a:t>
            </a:r>
            <a:r>
              <a:rPr lang="zh-CN" altLang="en-US" dirty="0"/>
              <a:t>的</a:t>
            </a:r>
            <a:r>
              <a:rPr lang="zh-CN" altLang="en-US" dirty="0">
                <a:solidFill>
                  <a:schemeClr val="tx2"/>
                </a:solidFill>
              </a:rPr>
              <a:t>时间顺序</a:t>
            </a:r>
          </a:p>
          <a:p>
            <a:pPr marL="609600" indent="-609600">
              <a:buFontTx/>
              <a:buAutoNum type="arabicPeriod"/>
            </a:pPr>
            <a:r>
              <a:rPr lang="zh-CN" altLang="en-US" dirty="0">
                <a:solidFill>
                  <a:srgbClr val="C00000"/>
                </a:solidFill>
              </a:rPr>
              <a:t>先</a:t>
            </a:r>
            <a:r>
              <a:rPr lang="zh-CN" altLang="en-US" dirty="0">
                <a:solidFill>
                  <a:schemeClr val="tx2"/>
                </a:solidFill>
              </a:rPr>
              <a:t>写日志文件</a:t>
            </a:r>
            <a:r>
              <a:rPr lang="zh-CN" altLang="en-US" dirty="0"/>
              <a:t>，</a:t>
            </a:r>
            <a:r>
              <a:rPr lang="zh-CN" altLang="en-US" dirty="0">
                <a:solidFill>
                  <a:srgbClr val="C00000"/>
                </a:solidFill>
              </a:rPr>
              <a:t>再</a:t>
            </a:r>
            <a:r>
              <a:rPr lang="zh-CN" altLang="en-US" dirty="0">
                <a:solidFill>
                  <a:schemeClr val="tx2"/>
                </a:solidFill>
              </a:rPr>
              <a:t>写数据库</a:t>
            </a:r>
          </a:p>
          <a:p>
            <a:pPr marL="609600" indent="-609600">
              <a:buFontTx/>
              <a:buAutoNum type="arabicPeriod"/>
            </a:pPr>
            <a:endParaRPr lang="zh-CN" altLang="en-US" dirty="0"/>
          </a:p>
          <a:p>
            <a:pPr marL="609600" indent="-609600">
              <a:buFontTx/>
              <a:buNone/>
            </a:pPr>
            <a:r>
              <a:rPr lang="zh-CN" altLang="en-US" dirty="0"/>
              <a:t>想想为什么要先写日志文件？</a:t>
            </a:r>
          </a:p>
        </p:txBody>
      </p:sp>
      <p:sp>
        <p:nvSpPr>
          <p:cNvPr id="3" name="页脚占位符 2">
            <a:extLst>
              <a:ext uri="{FF2B5EF4-FFF2-40B4-BE49-F238E27FC236}">
                <a16:creationId xmlns:a16="http://schemas.microsoft.com/office/drawing/2014/main" id="{2057B0FF-171D-9B46-3BFB-DE800DE4061D}"/>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5491B23A-4F8F-C4CD-5330-F169B0D4CDF3}"/>
              </a:ext>
            </a:extLst>
          </p:cNvPr>
          <p:cNvSpPr>
            <a:spLocks noGrp="1"/>
          </p:cNvSpPr>
          <p:nvPr>
            <p:ph type="sldNum" sz="quarter" idx="12"/>
          </p:nvPr>
        </p:nvSpPr>
        <p:spPr/>
        <p:txBody>
          <a:bodyPr/>
          <a:lstStyle/>
          <a:p>
            <a:fld id="{6CD0990F-CFD2-4E3E-9B0E-DA23AF729A97}" type="slidenum">
              <a:rPr lang="en-US" altLang="zh-CN" smtClean="0"/>
              <a:pPr/>
              <a:t>20</a:t>
            </a:fld>
            <a:r>
              <a:rPr lang="en-US" altLang="zh-CN"/>
              <a:t>/67</a:t>
            </a:r>
            <a:endParaRPr lang="zh-CN" altLang="en-US" dirty="0"/>
          </a:p>
        </p:txBody>
      </p:sp>
    </p:spTree>
    <p:custDataLst>
      <p:tags r:id="rId1"/>
    </p:custDataLst>
    <p:extLst>
      <p:ext uri="{BB962C8B-B14F-4D97-AF65-F5344CB8AC3E}">
        <p14:creationId xmlns:p14="http://schemas.microsoft.com/office/powerpoint/2010/main" val="81905238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zh-CN" altLang="en-US"/>
              <a:t>本章目录</a:t>
            </a:r>
          </a:p>
        </p:txBody>
      </p:sp>
      <p:sp>
        <p:nvSpPr>
          <p:cNvPr id="253955" name="Rectangle 3"/>
          <p:cNvSpPr>
            <a:spLocks noGrp="1" noChangeArrowheads="1"/>
          </p:cNvSpPr>
          <p:nvPr>
            <p:ph type="body" idx="1"/>
          </p:nvPr>
        </p:nvSpPr>
        <p:spPr>
          <a:xfrm>
            <a:off x="1371600" y="1639888"/>
            <a:ext cx="7583488" cy="4532312"/>
          </a:xfrm>
        </p:spPr>
        <p:txBody>
          <a:bodyPr/>
          <a:lstStyle/>
          <a:p>
            <a:r>
              <a:rPr lang="en-US" altLang="zh-CN" sz="2800" dirty="0"/>
              <a:t>14.9 </a:t>
            </a:r>
            <a:r>
              <a:rPr lang="zh-CN" altLang="en-US" sz="2800" dirty="0"/>
              <a:t>存储器</a:t>
            </a:r>
            <a:endParaRPr lang="en-US" altLang="zh-CN" sz="2800" dirty="0"/>
          </a:p>
          <a:p>
            <a:r>
              <a:rPr lang="en-US" altLang="zh-CN" sz="2800" dirty="0"/>
              <a:t>14.10 </a:t>
            </a:r>
            <a:r>
              <a:rPr lang="zh-CN" altLang="en-US" sz="2800" dirty="0"/>
              <a:t>恢复与原子性</a:t>
            </a:r>
            <a:endParaRPr lang="en-US" altLang="zh-CN" sz="2800" dirty="0"/>
          </a:p>
          <a:p>
            <a:r>
              <a:rPr lang="en-US" altLang="zh-CN" sz="2800" dirty="0"/>
              <a:t>14.11 </a:t>
            </a:r>
            <a:r>
              <a:rPr lang="zh-CN" altLang="en-US" sz="2800" dirty="0"/>
              <a:t>恢复算法</a:t>
            </a:r>
            <a:r>
              <a:rPr lang="en-US" altLang="zh-CN" sz="2800" dirty="0"/>
              <a:t>(</a:t>
            </a:r>
            <a:r>
              <a:rPr lang="zh-CN" altLang="en-US" sz="2800" dirty="0"/>
              <a:t>并发事务</a:t>
            </a:r>
            <a:r>
              <a:rPr lang="en-US" altLang="zh-CN" sz="2800" dirty="0"/>
              <a:t>)</a:t>
            </a:r>
          </a:p>
          <a:p>
            <a:r>
              <a:rPr lang="en-US" altLang="zh-CN" sz="2800" dirty="0"/>
              <a:t>14.12 </a:t>
            </a:r>
            <a:r>
              <a:rPr lang="zh-CN" altLang="en-US" sz="2800" dirty="0"/>
              <a:t>缓冲区管理</a:t>
            </a:r>
          </a:p>
        </p:txBody>
      </p:sp>
      <p:sp>
        <p:nvSpPr>
          <p:cNvPr id="2" name="日期占位符 1"/>
          <p:cNvSpPr>
            <a:spLocks noGrp="1"/>
          </p:cNvSpPr>
          <p:nvPr>
            <p:ph type="dt" sz="half" idx="10"/>
          </p:nvPr>
        </p:nvSpPr>
        <p:spPr/>
        <p:txBody>
          <a:bodyPr/>
          <a:lstStyle/>
          <a:p>
            <a:fld id="{02CB5B1B-DA31-418B-BEF9-EA8628C9A0FB}" type="datetime1">
              <a:rPr lang="zh-CN" altLang="en-US" smtClean="0"/>
              <a:t>2025/12/24</a:t>
            </a:fld>
            <a:endParaRPr lang="en-US" altLang="zh-CN"/>
          </a:p>
        </p:txBody>
      </p:sp>
      <p:sp>
        <p:nvSpPr>
          <p:cNvPr id="4" name="AutoShape 4">
            <a:extLst>
              <a:ext uri="{FF2B5EF4-FFF2-40B4-BE49-F238E27FC236}">
                <a16:creationId xmlns:a16="http://schemas.microsoft.com/office/drawing/2014/main" id="{65CC362F-811D-25E1-B617-30BAE8941B42}"/>
              </a:ext>
            </a:extLst>
          </p:cNvPr>
          <p:cNvSpPr>
            <a:spLocks noChangeArrowheads="1"/>
          </p:cNvSpPr>
          <p:nvPr/>
        </p:nvSpPr>
        <p:spPr bwMode="auto">
          <a:xfrm>
            <a:off x="914400" y="1700808"/>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页脚占位符 5">
            <a:extLst>
              <a:ext uri="{FF2B5EF4-FFF2-40B4-BE49-F238E27FC236}">
                <a16:creationId xmlns:a16="http://schemas.microsoft.com/office/drawing/2014/main" id="{D14B6303-AE70-4D85-C2B2-352DD6FE8B6C}"/>
              </a:ext>
            </a:extLst>
          </p:cNvPr>
          <p:cNvSpPr>
            <a:spLocks noGrp="1"/>
          </p:cNvSpPr>
          <p:nvPr>
            <p:ph type="ftr" sz="quarter" idx="11"/>
          </p:nvPr>
        </p:nvSpPr>
        <p:spPr/>
        <p:txBody>
          <a:bodyPr/>
          <a:lstStyle/>
          <a:p>
            <a:r>
              <a:rPr lang="en-US" altLang="zh-CN"/>
              <a:t>《数据库系统概论》- 第11章</a:t>
            </a:r>
          </a:p>
        </p:txBody>
      </p:sp>
      <p:sp>
        <p:nvSpPr>
          <p:cNvPr id="7" name="灯片编号占位符 6">
            <a:extLst>
              <a:ext uri="{FF2B5EF4-FFF2-40B4-BE49-F238E27FC236}">
                <a16:creationId xmlns:a16="http://schemas.microsoft.com/office/drawing/2014/main" id="{C1FA8F29-37EC-9E24-5C9C-1E0D315C0C75}"/>
              </a:ext>
            </a:extLst>
          </p:cNvPr>
          <p:cNvSpPr>
            <a:spLocks noGrp="1"/>
          </p:cNvSpPr>
          <p:nvPr>
            <p:ph type="sldNum" sz="quarter" idx="12"/>
          </p:nvPr>
        </p:nvSpPr>
        <p:spPr/>
        <p:txBody>
          <a:bodyPr/>
          <a:lstStyle/>
          <a:p>
            <a:fld id="{6CD0990F-CFD2-4E3E-9B0E-DA23AF729A97}" type="slidenum">
              <a:rPr lang="en-US" altLang="zh-CN" smtClean="0"/>
              <a:pPr/>
              <a:t>21</a:t>
            </a:fld>
            <a:r>
              <a:rPr lang="en-US" altLang="zh-CN"/>
              <a:t>/67</a:t>
            </a:r>
            <a:endParaRPr lang="zh-CN" altLang="en-US" dirty="0"/>
          </a:p>
        </p:txBody>
      </p:sp>
    </p:spTree>
    <p:custDataLst>
      <p:tags r:id="rId1"/>
    </p:custDataLst>
    <p:extLst>
      <p:ext uri="{BB962C8B-B14F-4D97-AF65-F5344CB8AC3E}">
        <p14:creationId xmlns:p14="http://schemas.microsoft.com/office/powerpoint/2010/main" val="2253464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B093B40-4545-4B2C-BB3F-AEB4910F3916}" type="datetime1">
              <a:rPr lang="zh-CN" altLang="en-US" smtClean="0"/>
              <a:t>2025/12/24</a:t>
            </a:fld>
            <a:endParaRPr lang="en-US" altLang="zh-CN"/>
          </a:p>
        </p:txBody>
      </p:sp>
      <p:sp>
        <p:nvSpPr>
          <p:cNvPr id="497666" name="Rectangle 2"/>
          <p:cNvSpPr>
            <a:spLocks noGrp="1" noChangeArrowheads="1"/>
          </p:cNvSpPr>
          <p:nvPr>
            <p:ph type="title"/>
          </p:nvPr>
        </p:nvSpPr>
        <p:spPr/>
        <p:txBody>
          <a:bodyPr/>
          <a:lstStyle/>
          <a:p>
            <a:r>
              <a:rPr lang="en-US" altLang="zh-CN" sz="3200" dirty="0"/>
              <a:t>14.9 </a:t>
            </a:r>
            <a:r>
              <a:rPr lang="zh-CN" altLang="en-US" sz="3200" dirty="0"/>
              <a:t>存储器（回顾）</a:t>
            </a:r>
            <a:endParaRPr lang="en-US" altLang="zh-CN" sz="3200" dirty="0"/>
          </a:p>
        </p:txBody>
      </p:sp>
      <p:sp>
        <p:nvSpPr>
          <p:cNvPr id="2" name="内容占位符 1"/>
          <p:cNvSpPr>
            <a:spLocks noGrp="1"/>
          </p:cNvSpPr>
          <p:nvPr>
            <p:ph idx="1"/>
          </p:nvPr>
        </p:nvSpPr>
        <p:spPr/>
        <p:txBody>
          <a:bodyPr/>
          <a:lstStyle/>
          <a:p>
            <a:r>
              <a:rPr lang="zh-CN" altLang="en-US" dirty="0"/>
              <a:t>第</a:t>
            </a:r>
            <a:r>
              <a:rPr lang="en-US" altLang="zh-CN" dirty="0"/>
              <a:t>10</a:t>
            </a:r>
            <a:r>
              <a:rPr lang="zh-CN" altLang="en-US" dirty="0"/>
              <a:t>章，数据库中的各种数据项可在多种不同存储介质上存储并访问。存储介质可以按照它们相对的速度、容量和顺应故障的能力来划分为以下三类</a:t>
            </a:r>
            <a:r>
              <a:rPr lang="en-US" altLang="zh-CN" dirty="0"/>
              <a:t>:</a:t>
            </a:r>
          </a:p>
          <a:p>
            <a:pPr lvl="1"/>
            <a:r>
              <a:rPr lang="zh-CN" altLang="en-US" dirty="0"/>
              <a:t>易失性存储器</a:t>
            </a:r>
            <a:r>
              <a:rPr lang="en-US" altLang="zh-CN" dirty="0"/>
              <a:t>(volatile storage)</a:t>
            </a:r>
          </a:p>
          <a:p>
            <a:pPr lvl="1"/>
            <a:r>
              <a:rPr lang="zh-CN" altLang="en-US" dirty="0"/>
              <a:t>非易失性存储器</a:t>
            </a:r>
            <a:r>
              <a:rPr lang="en-US" altLang="zh-CN" dirty="0"/>
              <a:t>(nonvolatile storage)</a:t>
            </a:r>
          </a:p>
          <a:p>
            <a:pPr lvl="1"/>
            <a:r>
              <a:rPr lang="zh-CN" altLang="en-US" dirty="0">
                <a:solidFill>
                  <a:srgbClr val="0000FF"/>
                </a:solidFill>
              </a:rPr>
              <a:t>稳定存储器</a:t>
            </a:r>
            <a:r>
              <a:rPr lang="en-US" altLang="zh-CN" dirty="0"/>
              <a:t>(stable storage)</a:t>
            </a:r>
          </a:p>
        </p:txBody>
      </p:sp>
      <p:sp>
        <p:nvSpPr>
          <p:cNvPr id="6" name="页脚占位符 5">
            <a:extLst>
              <a:ext uri="{FF2B5EF4-FFF2-40B4-BE49-F238E27FC236}">
                <a16:creationId xmlns:a16="http://schemas.microsoft.com/office/drawing/2014/main" id="{0C2BCF57-5D03-7B96-8B4E-E26BE9D7B962}"/>
              </a:ext>
            </a:extLst>
          </p:cNvPr>
          <p:cNvSpPr>
            <a:spLocks noGrp="1"/>
          </p:cNvSpPr>
          <p:nvPr>
            <p:ph type="ftr" sz="quarter" idx="11"/>
          </p:nvPr>
        </p:nvSpPr>
        <p:spPr/>
        <p:txBody>
          <a:bodyPr/>
          <a:lstStyle/>
          <a:p>
            <a:r>
              <a:rPr lang="en-US" altLang="zh-CN"/>
              <a:t>《数据库系统概论》- 第11章</a:t>
            </a:r>
          </a:p>
        </p:txBody>
      </p:sp>
      <p:sp>
        <p:nvSpPr>
          <p:cNvPr id="7" name="灯片编号占位符 6">
            <a:extLst>
              <a:ext uri="{FF2B5EF4-FFF2-40B4-BE49-F238E27FC236}">
                <a16:creationId xmlns:a16="http://schemas.microsoft.com/office/drawing/2014/main" id="{C472BD3D-56D5-6FF3-BA25-EAA142D318F0}"/>
              </a:ext>
            </a:extLst>
          </p:cNvPr>
          <p:cNvSpPr>
            <a:spLocks noGrp="1"/>
          </p:cNvSpPr>
          <p:nvPr>
            <p:ph type="sldNum" sz="quarter" idx="12"/>
          </p:nvPr>
        </p:nvSpPr>
        <p:spPr/>
        <p:txBody>
          <a:bodyPr/>
          <a:lstStyle/>
          <a:p>
            <a:fld id="{6CD0990F-CFD2-4E3E-9B0E-DA23AF729A97}" type="slidenum">
              <a:rPr lang="en-US" altLang="zh-CN" smtClean="0"/>
              <a:pPr/>
              <a:t>22</a:t>
            </a:fld>
            <a:r>
              <a:rPr lang="en-US" altLang="zh-CN"/>
              <a:t>/67</a:t>
            </a:r>
            <a:endParaRPr lang="zh-CN" altLang="en-US" dirty="0"/>
          </a:p>
        </p:txBody>
      </p:sp>
    </p:spTree>
    <p:extLst>
      <p:ext uri="{BB962C8B-B14F-4D97-AF65-F5344CB8AC3E}">
        <p14:creationId xmlns:p14="http://schemas.microsoft.com/office/powerpoint/2010/main" val="231979350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zh-CN" altLang="en-US" dirty="0"/>
              <a:t>存储器结构</a:t>
            </a:r>
            <a:r>
              <a:rPr lang="en-US" altLang="zh-CN" dirty="0"/>
              <a:t>(</a:t>
            </a:r>
            <a:r>
              <a:rPr lang="zh-CN" altLang="en-US" dirty="0"/>
              <a:t>详见教材第</a:t>
            </a:r>
            <a:r>
              <a:rPr lang="en-US" altLang="zh-CN" dirty="0"/>
              <a:t>10</a:t>
            </a:r>
            <a:r>
              <a:rPr lang="zh-CN" altLang="en-US" dirty="0"/>
              <a:t>章</a:t>
            </a:r>
            <a:r>
              <a:rPr lang="en-US" altLang="zh-CN" dirty="0"/>
              <a:t>)</a:t>
            </a:r>
          </a:p>
        </p:txBody>
      </p:sp>
      <p:sp>
        <p:nvSpPr>
          <p:cNvPr id="13316" name="Rectangle 3"/>
          <p:cNvSpPr>
            <a:spLocks noGrp="1" noChangeArrowheads="1"/>
          </p:cNvSpPr>
          <p:nvPr>
            <p:ph type="body" idx="4294967295"/>
          </p:nvPr>
        </p:nvSpPr>
        <p:spPr>
          <a:xfrm>
            <a:off x="800130" y="1389152"/>
            <a:ext cx="7862888" cy="5135562"/>
          </a:xfrm>
        </p:spPr>
        <p:txBody>
          <a:bodyPr/>
          <a:lstStyle/>
          <a:p>
            <a:pPr eaLnBrk="1" hangingPunct="1">
              <a:lnSpc>
                <a:spcPct val="110000"/>
              </a:lnSpc>
            </a:pPr>
            <a:r>
              <a:rPr lang="zh-CN" altLang="en-US" sz="2500" dirty="0">
                <a:solidFill>
                  <a:schemeClr val="tx2"/>
                </a:solidFill>
              </a:rPr>
              <a:t>易失性(</a:t>
            </a:r>
            <a:r>
              <a:rPr lang="en-US" altLang="zh-CN" sz="2500" dirty="0">
                <a:solidFill>
                  <a:schemeClr val="tx2"/>
                </a:solidFill>
              </a:rPr>
              <a:t>Volatile)</a:t>
            </a:r>
            <a:r>
              <a:rPr lang="zh-CN" altLang="en-US" sz="2500" dirty="0">
                <a:solidFill>
                  <a:schemeClr val="tx2"/>
                </a:solidFill>
              </a:rPr>
              <a:t>存储器</a:t>
            </a:r>
            <a:endParaRPr lang="en-US" altLang="zh-CN" sz="2500" dirty="0">
              <a:solidFill>
                <a:schemeClr val="tx2"/>
              </a:solidFill>
            </a:endParaRPr>
          </a:p>
          <a:p>
            <a:pPr lvl="1" eaLnBrk="1" hangingPunct="1">
              <a:lnSpc>
                <a:spcPct val="110000"/>
              </a:lnSpc>
            </a:pPr>
            <a:r>
              <a:rPr lang="zh-CN" altLang="en-US" sz="2100" b="1" dirty="0">
                <a:solidFill>
                  <a:srgbClr val="FF0000"/>
                </a:solidFill>
              </a:rPr>
              <a:t>不能</a:t>
            </a:r>
            <a:r>
              <a:rPr lang="zh-CN" altLang="en-US" sz="2100" dirty="0"/>
              <a:t>在系统崩溃后保存下来</a:t>
            </a:r>
            <a:endParaRPr lang="en-US" altLang="zh-CN" sz="2100" dirty="0"/>
          </a:p>
          <a:p>
            <a:pPr lvl="1" eaLnBrk="1" hangingPunct="1">
              <a:lnSpc>
                <a:spcPct val="110000"/>
              </a:lnSpc>
            </a:pPr>
            <a:r>
              <a:rPr lang="zh-CN" altLang="en-US" sz="2100" dirty="0"/>
              <a:t>例如：</a:t>
            </a:r>
            <a:r>
              <a:rPr lang="zh-CN" altLang="en-US" sz="2100" dirty="0">
                <a:solidFill>
                  <a:srgbClr val="0000FF"/>
                </a:solidFill>
              </a:rPr>
              <a:t>主存，高速缓存</a:t>
            </a:r>
            <a:endParaRPr lang="en-US" altLang="zh-CN" sz="2100" dirty="0">
              <a:solidFill>
                <a:srgbClr val="0000FF"/>
              </a:solidFill>
            </a:endParaRPr>
          </a:p>
          <a:p>
            <a:pPr eaLnBrk="1" hangingPunct="1">
              <a:lnSpc>
                <a:spcPct val="110000"/>
              </a:lnSpc>
            </a:pPr>
            <a:r>
              <a:rPr lang="zh-CN" altLang="en-US" sz="2500" dirty="0">
                <a:solidFill>
                  <a:schemeClr val="tx2"/>
                </a:solidFill>
              </a:rPr>
              <a:t>非易失性(</a:t>
            </a:r>
            <a:r>
              <a:rPr lang="en-US" altLang="zh-CN" sz="2500" dirty="0">
                <a:solidFill>
                  <a:schemeClr val="tx2"/>
                </a:solidFill>
              </a:rPr>
              <a:t>Nonvolatile)</a:t>
            </a:r>
            <a:r>
              <a:rPr lang="zh-CN" altLang="en-US" sz="2500" dirty="0">
                <a:solidFill>
                  <a:schemeClr val="tx2"/>
                </a:solidFill>
              </a:rPr>
              <a:t>存储器</a:t>
            </a:r>
            <a:endParaRPr lang="en-US" altLang="zh-CN" sz="2500" dirty="0">
              <a:solidFill>
                <a:schemeClr val="tx2"/>
              </a:solidFill>
            </a:endParaRPr>
          </a:p>
          <a:p>
            <a:pPr lvl="1" eaLnBrk="1" hangingPunct="1">
              <a:lnSpc>
                <a:spcPct val="110000"/>
              </a:lnSpc>
            </a:pPr>
            <a:r>
              <a:rPr lang="zh-CN" altLang="en-US" sz="2100" b="1" dirty="0"/>
              <a:t>可以</a:t>
            </a:r>
            <a:r>
              <a:rPr lang="zh-CN" altLang="en-US" sz="2100" dirty="0"/>
              <a:t>在系统崩溃后保存下来</a:t>
            </a:r>
            <a:endParaRPr lang="en-US" altLang="zh-CN" sz="2100" dirty="0"/>
          </a:p>
          <a:p>
            <a:pPr lvl="1" eaLnBrk="1" hangingPunct="1">
              <a:lnSpc>
                <a:spcPct val="110000"/>
              </a:lnSpc>
            </a:pPr>
            <a:r>
              <a:rPr lang="zh-CN" altLang="en-US" sz="2100" dirty="0"/>
              <a:t>例如：</a:t>
            </a:r>
            <a:r>
              <a:rPr lang="zh-CN" altLang="en-US" sz="2100" dirty="0">
                <a:solidFill>
                  <a:srgbClr val="0000FF"/>
                </a:solidFill>
              </a:rPr>
              <a:t>磁盘</a:t>
            </a:r>
            <a:r>
              <a:rPr lang="zh-CN" altLang="en-US" sz="2100" dirty="0"/>
              <a:t>，磁带，闪存，非易失性</a:t>
            </a:r>
            <a:r>
              <a:rPr lang="en-US" altLang="zh-CN" sz="2100" dirty="0"/>
              <a:t>RAM (</a:t>
            </a:r>
            <a:r>
              <a:rPr lang="zh-CN" altLang="en-US" sz="2100" dirty="0"/>
              <a:t>电池供电</a:t>
            </a:r>
            <a:r>
              <a:rPr lang="en-US" altLang="zh-CN" sz="2100" dirty="0"/>
              <a:t>) </a:t>
            </a:r>
          </a:p>
          <a:p>
            <a:pPr eaLnBrk="1" hangingPunct="1">
              <a:lnSpc>
                <a:spcPct val="110000"/>
              </a:lnSpc>
            </a:pPr>
            <a:r>
              <a:rPr lang="zh-CN" altLang="en-US" sz="2500" dirty="0">
                <a:solidFill>
                  <a:srgbClr val="FF3300"/>
                </a:solidFill>
              </a:rPr>
              <a:t>稳定</a:t>
            </a:r>
            <a:r>
              <a:rPr lang="zh-CN" altLang="en-US" sz="2500" dirty="0">
                <a:solidFill>
                  <a:schemeClr val="tx2"/>
                </a:solidFill>
              </a:rPr>
              <a:t>(</a:t>
            </a:r>
            <a:r>
              <a:rPr lang="en-US" altLang="zh-CN" sz="2500" dirty="0">
                <a:solidFill>
                  <a:schemeClr val="tx2"/>
                </a:solidFill>
              </a:rPr>
              <a:t>Stable)</a:t>
            </a:r>
            <a:r>
              <a:rPr lang="zh-CN" altLang="en-US" sz="2500" dirty="0">
                <a:solidFill>
                  <a:srgbClr val="FF3300"/>
                </a:solidFill>
              </a:rPr>
              <a:t>存储器</a:t>
            </a:r>
            <a:endParaRPr lang="en-US" altLang="zh-CN" sz="2500" dirty="0">
              <a:solidFill>
                <a:srgbClr val="FF3300"/>
              </a:solidFill>
            </a:endParaRPr>
          </a:p>
          <a:p>
            <a:pPr lvl="1" eaLnBrk="1" hangingPunct="1">
              <a:lnSpc>
                <a:spcPct val="110000"/>
              </a:lnSpc>
            </a:pPr>
            <a:r>
              <a:rPr lang="zh-CN" altLang="en-US" sz="2100" dirty="0"/>
              <a:t>虚构的能够经受任何故障的存储器，如</a:t>
            </a:r>
            <a:r>
              <a:rPr lang="en-US" altLang="zh-CN" sz="2100" dirty="0">
                <a:solidFill>
                  <a:srgbClr val="0000FF"/>
                </a:solidFill>
              </a:rPr>
              <a:t>RAID</a:t>
            </a:r>
            <a:r>
              <a:rPr lang="zh-CN" altLang="en-US" sz="2100" dirty="0"/>
              <a:t>系统</a:t>
            </a:r>
            <a:endParaRPr lang="en-US" altLang="zh-CN" sz="2100" dirty="0"/>
          </a:p>
          <a:p>
            <a:pPr lvl="1" eaLnBrk="1" hangingPunct="1">
              <a:lnSpc>
                <a:spcPct val="110000"/>
              </a:lnSpc>
            </a:pPr>
            <a:r>
              <a:rPr lang="zh-CN" altLang="en-US" sz="2100" dirty="0"/>
              <a:t>可用</a:t>
            </a:r>
            <a:r>
              <a:rPr lang="zh-CN" altLang="en-US" sz="2100" b="1" dirty="0"/>
              <a:t>多个非易失性介质</a:t>
            </a:r>
            <a:r>
              <a:rPr lang="zh-CN" altLang="en-US" sz="2100" b="1" dirty="0">
                <a:solidFill>
                  <a:srgbClr val="0000FF"/>
                </a:solidFill>
              </a:rPr>
              <a:t>存储相同的副本</a:t>
            </a:r>
            <a:r>
              <a:rPr lang="zh-CN" altLang="en-US" sz="2100" dirty="0"/>
              <a:t>来</a:t>
            </a:r>
            <a:r>
              <a:rPr lang="zh-CN" altLang="en-US" sz="2100" b="1" dirty="0"/>
              <a:t>模拟</a:t>
            </a:r>
            <a:r>
              <a:rPr lang="zh-CN" altLang="en-US" sz="2100" dirty="0"/>
              <a:t>支持</a:t>
            </a:r>
          </a:p>
          <a:p>
            <a:pPr lvl="1" eaLnBrk="1" hangingPunct="1">
              <a:lnSpc>
                <a:spcPct val="110000"/>
              </a:lnSpc>
            </a:pPr>
            <a:r>
              <a:rPr lang="zh-CN" altLang="en-US" sz="2100" dirty="0"/>
              <a:t>在</a:t>
            </a:r>
            <a:r>
              <a:rPr lang="zh-CN" altLang="en-US" sz="2100" dirty="0">
                <a:solidFill>
                  <a:srgbClr val="0000FF"/>
                </a:solidFill>
              </a:rPr>
              <a:t>不同磁盘上维持多个副本</a:t>
            </a:r>
          </a:p>
          <a:p>
            <a:pPr lvl="1" eaLnBrk="1" hangingPunct="1">
              <a:lnSpc>
                <a:spcPct val="110000"/>
              </a:lnSpc>
            </a:pPr>
            <a:r>
              <a:rPr lang="zh-CN" altLang="en-US" sz="2100" dirty="0"/>
              <a:t>副本可以在</a:t>
            </a:r>
            <a:r>
              <a:rPr lang="zh-CN" altLang="en-US" sz="2100" b="1" u="sng" dirty="0">
                <a:solidFill>
                  <a:srgbClr val="0000FF"/>
                </a:solidFill>
              </a:rPr>
              <a:t>远程站点</a:t>
            </a:r>
            <a:r>
              <a:rPr lang="zh-CN" altLang="en-US" sz="2100" dirty="0"/>
              <a:t>上，以防止象火灾或洪水之类的灾难</a:t>
            </a:r>
            <a:endParaRPr lang="en-US" altLang="zh-CN" sz="1900" dirty="0"/>
          </a:p>
        </p:txBody>
      </p:sp>
      <p:sp>
        <p:nvSpPr>
          <p:cNvPr id="2" name="日期占位符 1">
            <a:extLst>
              <a:ext uri="{FF2B5EF4-FFF2-40B4-BE49-F238E27FC236}">
                <a16:creationId xmlns:a16="http://schemas.microsoft.com/office/drawing/2014/main" id="{118F61CF-021C-FA15-94DC-BAF9D3A5D743}"/>
              </a:ext>
            </a:extLst>
          </p:cNvPr>
          <p:cNvSpPr>
            <a:spLocks noGrp="1"/>
          </p:cNvSpPr>
          <p:nvPr>
            <p:ph type="dt" sz="half" idx="10"/>
          </p:nvPr>
        </p:nvSpPr>
        <p:spPr/>
        <p:txBody>
          <a:bodyPr/>
          <a:lstStyle/>
          <a:p>
            <a:fld id="{4461569C-D7BF-45D6-A419-1BB6513F0583}"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EA3AF59B-F609-C288-C60B-236D51147AF0}"/>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A56421F8-B154-7208-6034-BE6FF1F93BFB}"/>
              </a:ext>
            </a:extLst>
          </p:cNvPr>
          <p:cNvSpPr>
            <a:spLocks noGrp="1"/>
          </p:cNvSpPr>
          <p:nvPr>
            <p:ph type="sldNum" sz="quarter" idx="12"/>
          </p:nvPr>
        </p:nvSpPr>
        <p:spPr/>
        <p:txBody>
          <a:bodyPr/>
          <a:lstStyle/>
          <a:p>
            <a:fld id="{AB1F7240-85F2-492B-84D8-762EF0110923}" type="slidenum">
              <a:rPr lang="en-US" altLang="zh-CN" smtClean="0"/>
              <a:pPr/>
              <a:t>23</a:t>
            </a:fld>
            <a:r>
              <a:rPr lang="en-US" altLang="zh-CN"/>
              <a:t>/67</a:t>
            </a:r>
            <a:endParaRPr lang="zh-CN" altLang="en-US" dirty="0"/>
          </a:p>
        </p:txBody>
      </p:sp>
    </p:spTree>
    <p:extLst>
      <p:ext uri="{BB962C8B-B14F-4D97-AF65-F5344CB8AC3E}">
        <p14:creationId xmlns:p14="http://schemas.microsoft.com/office/powerpoint/2010/main" val="143175627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BFC79F0-5CB4-43F9-A9F2-ABB01CE6ADCA}" type="datetime1">
              <a:rPr lang="zh-CN" altLang="en-US" smtClean="0"/>
              <a:t>2025/12/24</a:t>
            </a:fld>
            <a:endParaRPr lang="en-US" altLang="zh-CN"/>
          </a:p>
        </p:txBody>
      </p:sp>
      <p:sp>
        <p:nvSpPr>
          <p:cNvPr id="497666" name="Rectangle 2"/>
          <p:cNvSpPr>
            <a:spLocks noGrp="1" noChangeArrowheads="1"/>
          </p:cNvSpPr>
          <p:nvPr>
            <p:ph type="title"/>
          </p:nvPr>
        </p:nvSpPr>
        <p:spPr/>
        <p:txBody>
          <a:bodyPr/>
          <a:lstStyle/>
          <a:p>
            <a:r>
              <a:rPr lang="en-US" altLang="zh-CN" sz="3200" dirty="0"/>
              <a:t>14.9 </a:t>
            </a:r>
            <a:r>
              <a:rPr lang="zh-CN" altLang="en-US" sz="3200" dirty="0"/>
              <a:t>存储器</a:t>
            </a:r>
            <a:endParaRPr lang="en-US" altLang="zh-CN" sz="3200" dirty="0"/>
          </a:p>
        </p:txBody>
      </p:sp>
      <p:sp>
        <p:nvSpPr>
          <p:cNvPr id="2" name="内容占位符 1"/>
          <p:cNvSpPr>
            <a:spLocks noGrp="1"/>
          </p:cNvSpPr>
          <p:nvPr>
            <p:ph idx="1"/>
          </p:nvPr>
        </p:nvSpPr>
        <p:spPr/>
        <p:txBody>
          <a:bodyPr/>
          <a:lstStyle/>
          <a:p>
            <a:r>
              <a:rPr lang="zh-CN" altLang="en-US" sz="2800" dirty="0"/>
              <a:t>如何在</a:t>
            </a:r>
            <a:r>
              <a:rPr lang="zh-CN" altLang="en-US" sz="2800" b="1" dirty="0">
                <a:solidFill>
                  <a:srgbClr val="0000FF"/>
                </a:solidFill>
              </a:rPr>
              <a:t>数据传送</a:t>
            </a:r>
            <a:r>
              <a:rPr lang="zh-CN" altLang="en-US" sz="2800" dirty="0"/>
              <a:t>过程中</a:t>
            </a:r>
            <a:r>
              <a:rPr lang="zh-CN" altLang="en-US" sz="2800" dirty="0">
                <a:solidFill>
                  <a:srgbClr val="0000FF"/>
                </a:solidFill>
              </a:rPr>
              <a:t>保护存储介质不受故障损害</a:t>
            </a:r>
            <a:r>
              <a:rPr lang="zh-CN" altLang="en-US" sz="2800" dirty="0"/>
              <a:t>。在</a:t>
            </a:r>
            <a:r>
              <a:rPr lang="zh-CN" altLang="en-US" sz="2800" dirty="0">
                <a:solidFill>
                  <a:srgbClr val="0000FF"/>
                </a:solidFill>
              </a:rPr>
              <a:t>内存</a:t>
            </a:r>
            <a:r>
              <a:rPr lang="zh-CN" altLang="en-US" sz="2800" dirty="0"/>
              <a:t>和</a:t>
            </a:r>
            <a:r>
              <a:rPr lang="zh-CN" altLang="en-US" sz="2800" dirty="0">
                <a:solidFill>
                  <a:srgbClr val="0000FF"/>
                </a:solidFill>
              </a:rPr>
              <a:t>磁盘存储器间</a:t>
            </a:r>
            <a:r>
              <a:rPr lang="zh-CN" altLang="en-US" sz="2800" dirty="0"/>
              <a:t>进行</a:t>
            </a:r>
            <a:r>
              <a:rPr lang="zh-CN" altLang="en-US" sz="2800" dirty="0">
                <a:solidFill>
                  <a:srgbClr val="0000FF"/>
                </a:solidFill>
              </a:rPr>
              <a:t>块传送</a:t>
            </a:r>
            <a:r>
              <a:rPr lang="zh-CN" altLang="en-US" sz="2800" dirty="0"/>
              <a:t>有以下几种可能结果</a:t>
            </a:r>
            <a:r>
              <a:rPr lang="en-US" altLang="zh-CN" sz="2800" dirty="0"/>
              <a:t>:</a:t>
            </a:r>
          </a:p>
          <a:p>
            <a:pPr lvl="1"/>
            <a:r>
              <a:rPr lang="zh-CN" altLang="en-US" sz="2400" b="1" dirty="0">
                <a:solidFill>
                  <a:srgbClr val="0000FF"/>
                </a:solidFill>
              </a:rPr>
              <a:t>成功完成</a:t>
            </a:r>
            <a:r>
              <a:rPr lang="en-US" altLang="zh-CN" sz="2400" dirty="0"/>
              <a:t>(successful completion)</a:t>
            </a:r>
            <a:r>
              <a:rPr lang="zh-CN" altLang="en-US" sz="2400" dirty="0"/>
              <a:t>。传送的信息</a:t>
            </a:r>
            <a:r>
              <a:rPr lang="zh-CN" altLang="en-US" sz="2400" dirty="0">
                <a:solidFill>
                  <a:srgbClr val="0000FF"/>
                </a:solidFill>
              </a:rPr>
              <a:t>安全地到达目的地</a:t>
            </a:r>
            <a:r>
              <a:rPr lang="zh-CN" altLang="en-US" sz="2400" dirty="0"/>
              <a:t>。</a:t>
            </a:r>
          </a:p>
          <a:p>
            <a:pPr lvl="1"/>
            <a:r>
              <a:rPr lang="zh-CN" altLang="en-US" sz="2400" b="1" dirty="0">
                <a:solidFill>
                  <a:srgbClr val="0000FF"/>
                </a:solidFill>
              </a:rPr>
              <a:t>部分失败</a:t>
            </a:r>
            <a:r>
              <a:rPr lang="en-US" altLang="zh-CN" sz="2400" dirty="0"/>
              <a:t>(partial failure)</a:t>
            </a:r>
            <a:r>
              <a:rPr lang="zh-CN" altLang="en-US" sz="2400" dirty="0"/>
              <a:t>。传送</a:t>
            </a:r>
            <a:r>
              <a:rPr lang="zh-CN" altLang="en-US" sz="2400" dirty="0">
                <a:solidFill>
                  <a:srgbClr val="FF0000"/>
                </a:solidFill>
              </a:rPr>
              <a:t>过程中发生故障</a:t>
            </a:r>
            <a:r>
              <a:rPr lang="zh-CN" altLang="en-US" sz="2400" dirty="0"/>
              <a:t>，目标块有</a:t>
            </a:r>
            <a:r>
              <a:rPr lang="zh-CN" altLang="en-US" sz="2400" dirty="0">
                <a:solidFill>
                  <a:srgbClr val="FF0000"/>
                </a:solidFill>
              </a:rPr>
              <a:t>不正确信息</a:t>
            </a:r>
            <a:r>
              <a:rPr lang="zh-CN" altLang="en-US" sz="2400" dirty="0"/>
              <a:t>。</a:t>
            </a:r>
            <a:endParaRPr lang="en-US" altLang="zh-CN" sz="2400" dirty="0"/>
          </a:p>
          <a:p>
            <a:pPr lvl="1"/>
            <a:r>
              <a:rPr lang="zh-CN" altLang="en-US" sz="2400" b="1" dirty="0">
                <a:solidFill>
                  <a:srgbClr val="0000FF"/>
                </a:solidFill>
              </a:rPr>
              <a:t>完全失败</a:t>
            </a:r>
            <a:r>
              <a:rPr lang="en-US" altLang="zh-CN" sz="2400" dirty="0"/>
              <a:t>(total failure)</a:t>
            </a:r>
            <a:r>
              <a:rPr lang="zh-CN" altLang="en-US" sz="2400" dirty="0"/>
              <a:t>。传送过程中</a:t>
            </a:r>
            <a:r>
              <a:rPr lang="zh-CN" altLang="en-US" sz="2400" dirty="0">
                <a:solidFill>
                  <a:srgbClr val="FF0000"/>
                </a:solidFill>
              </a:rPr>
              <a:t>故障发生得足够早</a:t>
            </a:r>
            <a:r>
              <a:rPr lang="zh-CN" altLang="en-US" sz="2400" dirty="0"/>
              <a:t>，目标块</a:t>
            </a:r>
            <a:r>
              <a:rPr lang="zh-CN" altLang="en-US" sz="2400" dirty="0">
                <a:solidFill>
                  <a:srgbClr val="FF0000"/>
                </a:solidFill>
              </a:rPr>
              <a:t>仍完好无缺。</a:t>
            </a:r>
            <a:endParaRPr lang="en-US" altLang="zh-CN" sz="2400" dirty="0">
              <a:solidFill>
                <a:srgbClr val="FF0000"/>
              </a:solidFill>
            </a:endParaRPr>
          </a:p>
        </p:txBody>
      </p:sp>
      <p:sp>
        <p:nvSpPr>
          <p:cNvPr id="6" name="页脚占位符 5">
            <a:extLst>
              <a:ext uri="{FF2B5EF4-FFF2-40B4-BE49-F238E27FC236}">
                <a16:creationId xmlns:a16="http://schemas.microsoft.com/office/drawing/2014/main" id="{9422FD2A-1255-E642-79C1-ECE693049B5D}"/>
              </a:ext>
            </a:extLst>
          </p:cNvPr>
          <p:cNvSpPr>
            <a:spLocks noGrp="1"/>
          </p:cNvSpPr>
          <p:nvPr>
            <p:ph type="ftr" sz="quarter" idx="11"/>
          </p:nvPr>
        </p:nvSpPr>
        <p:spPr/>
        <p:txBody>
          <a:bodyPr/>
          <a:lstStyle/>
          <a:p>
            <a:r>
              <a:rPr lang="en-US" altLang="zh-CN"/>
              <a:t>《数据库系统概论》- 第11章</a:t>
            </a:r>
          </a:p>
        </p:txBody>
      </p:sp>
      <p:sp>
        <p:nvSpPr>
          <p:cNvPr id="7" name="灯片编号占位符 6">
            <a:extLst>
              <a:ext uri="{FF2B5EF4-FFF2-40B4-BE49-F238E27FC236}">
                <a16:creationId xmlns:a16="http://schemas.microsoft.com/office/drawing/2014/main" id="{EC7CA3F0-7D1D-7636-2BC4-9EE8ECB8136D}"/>
              </a:ext>
            </a:extLst>
          </p:cNvPr>
          <p:cNvSpPr>
            <a:spLocks noGrp="1"/>
          </p:cNvSpPr>
          <p:nvPr>
            <p:ph type="sldNum" sz="quarter" idx="12"/>
          </p:nvPr>
        </p:nvSpPr>
        <p:spPr/>
        <p:txBody>
          <a:bodyPr/>
          <a:lstStyle/>
          <a:p>
            <a:fld id="{6CD0990F-CFD2-4E3E-9B0E-DA23AF729A97}" type="slidenum">
              <a:rPr lang="en-US" altLang="zh-CN" smtClean="0"/>
              <a:pPr/>
              <a:t>24</a:t>
            </a:fld>
            <a:r>
              <a:rPr lang="en-US" altLang="zh-CN"/>
              <a:t>/67</a:t>
            </a:r>
            <a:endParaRPr lang="zh-CN" altLang="en-US" dirty="0"/>
          </a:p>
        </p:txBody>
      </p:sp>
    </p:spTree>
    <p:extLst>
      <p:ext uri="{BB962C8B-B14F-4D97-AF65-F5344CB8AC3E}">
        <p14:creationId xmlns:p14="http://schemas.microsoft.com/office/powerpoint/2010/main" val="416957104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5BFB27-2088-439C-A8A8-C5D6174F942D}" type="datetime1">
              <a:rPr lang="zh-CN" altLang="en-US" smtClean="0"/>
              <a:t>2025/12/24</a:t>
            </a:fld>
            <a:endParaRPr lang="en-US" altLang="zh-CN"/>
          </a:p>
        </p:txBody>
      </p:sp>
      <p:sp>
        <p:nvSpPr>
          <p:cNvPr id="497666" name="Rectangle 2"/>
          <p:cNvSpPr>
            <a:spLocks noGrp="1" noChangeArrowheads="1"/>
          </p:cNvSpPr>
          <p:nvPr>
            <p:ph type="title"/>
          </p:nvPr>
        </p:nvSpPr>
        <p:spPr/>
        <p:txBody>
          <a:bodyPr/>
          <a:lstStyle/>
          <a:p>
            <a:r>
              <a:rPr lang="en-US" altLang="zh-CN" sz="3200" dirty="0"/>
              <a:t>14.9 </a:t>
            </a:r>
            <a:r>
              <a:rPr lang="zh-CN" altLang="en-US" sz="3200" dirty="0"/>
              <a:t>存储器</a:t>
            </a:r>
            <a:endParaRPr lang="en-US" altLang="zh-CN" sz="3200" dirty="0"/>
          </a:p>
        </p:txBody>
      </p:sp>
      <p:sp>
        <p:nvSpPr>
          <p:cNvPr id="2" name="内容占位符 1"/>
          <p:cNvSpPr>
            <a:spLocks noGrp="1"/>
          </p:cNvSpPr>
          <p:nvPr>
            <p:ph idx="1"/>
          </p:nvPr>
        </p:nvSpPr>
        <p:spPr>
          <a:xfrm>
            <a:off x="609600" y="1447800"/>
            <a:ext cx="8345488" cy="5029200"/>
          </a:xfrm>
        </p:spPr>
        <p:txBody>
          <a:bodyPr/>
          <a:lstStyle/>
          <a:p>
            <a:r>
              <a:rPr lang="zh-CN" altLang="en-US" sz="2800" b="1" dirty="0"/>
              <a:t>期望</a:t>
            </a:r>
            <a:r>
              <a:rPr lang="zh-CN" altLang="en-US" sz="2800" dirty="0"/>
              <a:t>如果</a:t>
            </a:r>
            <a:r>
              <a:rPr lang="zh-CN" altLang="en-US" sz="2800" b="1" dirty="0">
                <a:solidFill>
                  <a:srgbClr val="0000FF"/>
                </a:solidFill>
              </a:rPr>
              <a:t>数据传送故障</a:t>
            </a:r>
            <a:r>
              <a:rPr lang="en-US" altLang="zh-CN" sz="2800" dirty="0"/>
              <a:t>(data-transfer failure)</a:t>
            </a:r>
            <a:r>
              <a:rPr lang="zh-CN" altLang="en-US" sz="2800" dirty="0"/>
              <a:t>发生，系统能检测到并且调用</a:t>
            </a:r>
            <a:r>
              <a:rPr lang="zh-CN" altLang="en-US" sz="2800" b="1" dirty="0">
                <a:solidFill>
                  <a:srgbClr val="0000FF"/>
                </a:solidFill>
              </a:rPr>
              <a:t>恢复过程</a:t>
            </a:r>
            <a:r>
              <a:rPr lang="zh-CN" altLang="en-US" sz="2800" dirty="0"/>
              <a:t>将块恢复成为</a:t>
            </a:r>
            <a:r>
              <a:rPr lang="zh-CN" altLang="en-US" sz="2800" b="1" dirty="0">
                <a:solidFill>
                  <a:srgbClr val="0000FF"/>
                </a:solidFill>
              </a:rPr>
              <a:t>一致的状态</a:t>
            </a:r>
            <a:r>
              <a:rPr lang="zh-CN" altLang="en-US" sz="2800" dirty="0"/>
              <a:t>。</a:t>
            </a:r>
            <a:endParaRPr lang="en-US" altLang="zh-CN" sz="2800" dirty="0"/>
          </a:p>
          <a:p>
            <a:r>
              <a:rPr lang="zh-CN" altLang="en-US" sz="2800" dirty="0"/>
              <a:t>为达到以上要求，系统必须为</a:t>
            </a:r>
            <a:r>
              <a:rPr lang="zh-CN" altLang="en-US" sz="2800" b="1" dirty="0">
                <a:solidFill>
                  <a:srgbClr val="0000FF"/>
                </a:solidFill>
              </a:rPr>
              <a:t>每个逻辑数据库块</a:t>
            </a:r>
            <a:r>
              <a:rPr lang="zh-CN" altLang="en-US" sz="2800" dirty="0"/>
              <a:t>维护</a:t>
            </a:r>
            <a:r>
              <a:rPr lang="zh-CN" altLang="en-US" sz="2800" b="1" dirty="0">
                <a:solidFill>
                  <a:srgbClr val="0000FF"/>
                </a:solidFill>
              </a:rPr>
              <a:t>两个物理块</a:t>
            </a:r>
            <a:r>
              <a:rPr lang="en-US" altLang="zh-CN" sz="2800" dirty="0"/>
              <a:t>; </a:t>
            </a:r>
            <a:r>
              <a:rPr lang="zh-CN" altLang="en-US" sz="2800" dirty="0"/>
              <a:t>若是</a:t>
            </a:r>
            <a:r>
              <a:rPr lang="zh-CN" altLang="en-US" sz="2800" u="sng" dirty="0"/>
              <a:t>镜像磁盘</a:t>
            </a:r>
            <a:r>
              <a:rPr lang="zh-CN" altLang="en-US" sz="2800" dirty="0"/>
              <a:t>，则两个块在同一个地点</a:t>
            </a:r>
            <a:r>
              <a:rPr lang="en-US" altLang="zh-CN" sz="2800" dirty="0"/>
              <a:t>; </a:t>
            </a:r>
            <a:r>
              <a:rPr lang="zh-CN" altLang="en-US" sz="2800" dirty="0"/>
              <a:t>若是</a:t>
            </a:r>
            <a:r>
              <a:rPr lang="zh-CN" altLang="en-US" sz="2800" u="sng" dirty="0"/>
              <a:t>远程备份</a:t>
            </a:r>
            <a:r>
              <a:rPr lang="zh-CN" altLang="en-US" sz="2800" dirty="0"/>
              <a:t>，则一个块在本地，另一个在远程节点。</a:t>
            </a:r>
            <a:r>
              <a:rPr lang="zh-CN" altLang="en-US" sz="2800" b="1" dirty="0"/>
              <a:t>输出操作</a:t>
            </a:r>
            <a:r>
              <a:rPr lang="zh-CN" altLang="en-US" sz="2800" dirty="0"/>
              <a:t>的执行如下</a:t>
            </a:r>
            <a:r>
              <a:rPr lang="en-US" altLang="zh-CN" sz="2800" dirty="0"/>
              <a:t>:</a:t>
            </a:r>
          </a:p>
          <a:p>
            <a:pPr lvl="1"/>
            <a:r>
              <a:rPr lang="en-US" altLang="zh-CN" sz="2400" dirty="0"/>
              <a:t>1.</a:t>
            </a:r>
            <a:r>
              <a:rPr lang="zh-CN" altLang="en-US" sz="2400" dirty="0"/>
              <a:t>将信息写入第一个物理块。</a:t>
            </a:r>
          </a:p>
          <a:p>
            <a:pPr lvl="1"/>
            <a:r>
              <a:rPr lang="en-US" altLang="zh-CN" sz="2400" dirty="0"/>
              <a:t>2.</a:t>
            </a:r>
            <a:r>
              <a:rPr lang="zh-CN" altLang="en-US" sz="2400" dirty="0"/>
              <a:t>当第一次写成功完成时</a:t>
            </a:r>
            <a:r>
              <a:rPr lang="en-US" altLang="zh-CN" sz="2400" dirty="0"/>
              <a:t>,</a:t>
            </a:r>
            <a:r>
              <a:rPr lang="zh-CN" altLang="en-US" sz="2400" dirty="0"/>
              <a:t>将相同信息写入第二个物理块。</a:t>
            </a:r>
            <a:endParaRPr lang="en-US" altLang="zh-CN" sz="2400" dirty="0"/>
          </a:p>
          <a:p>
            <a:pPr lvl="1"/>
            <a:r>
              <a:rPr lang="en-US" altLang="zh-CN" sz="2400" dirty="0"/>
              <a:t>3.</a:t>
            </a:r>
            <a:r>
              <a:rPr lang="zh-CN" altLang="en-US" sz="2400" dirty="0"/>
              <a:t>只有第二次写成功完成时</a:t>
            </a:r>
            <a:r>
              <a:rPr lang="en-US" altLang="zh-CN" sz="2400" dirty="0"/>
              <a:t>,</a:t>
            </a:r>
            <a:r>
              <a:rPr lang="zh-CN" altLang="en-US" sz="2400" b="1" dirty="0"/>
              <a:t>输出才算完成</a:t>
            </a:r>
            <a:r>
              <a:rPr lang="zh-CN" altLang="en-US" sz="2400" dirty="0"/>
              <a:t>。</a:t>
            </a:r>
          </a:p>
          <a:p>
            <a:pPr lvl="1"/>
            <a:endParaRPr lang="en-US" altLang="zh-CN" sz="2400" dirty="0"/>
          </a:p>
        </p:txBody>
      </p:sp>
      <p:sp>
        <p:nvSpPr>
          <p:cNvPr id="6" name="页脚占位符 5">
            <a:extLst>
              <a:ext uri="{FF2B5EF4-FFF2-40B4-BE49-F238E27FC236}">
                <a16:creationId xmlns:a16="http://schemas.microsoft.com/office/drawing/2014/main" id="{503A7186-97EB-78D3-7DA7-AB3439A138E4}"/>
              </a:ext>
            </a:extLst>
          </p:cNvPr>
          <p:cNvSpPr>
            <a:spLocks noGrp="1"/>
          </p:cNvSpPr>
          <p:nvPr>
            <p:ph type="ftr" sz="quarter" idx="11"/>
          </p:nvPr>
        </p:nvSpPr>
        <p:spPr/>
        <p:txBody>
          <a:bodyPr/>
          <a:lstStyle/>
          <a:p>
            <a:r>
              <a:rPr lang="en-US" altLang="zh-CN"/>
              <a:t>《数据库系统概论》- 第11章</a:t>
            </a:r>
          </a:p>
        </p:txBody>
      </p:sp>
      <p:sp>
        <p:nvSpPr>
          <p:cNvPr id="7" name="灯片编号占位符 6">
            <a:extLst>
              <a:ext uri="{FF2B5EF4-FFF2-40B4-BE49-F238E27FC236}">
                <a16:creationId xmlns:a16="http://schemas.microsoft.com/office/drawing/2014/main" id="{AE41C2E9-6C60-1200-67DE-D7188950A8A6}"/>
              </a:ext>
            </a:extLst>
          </p:cNvPr>
          <p:cNvSpPr>
            <a:spLocks noGrp="1"/>
          </p:cNvSpPr>
          <p:nvPr>
            <p:ph type="sldNum" sz="quarter" idx="12"/>
          </p:nvPr>
        </p:nvSpPr>
        <p:spPr/>
        <p:txBody>
          <a:bodyPr/>
          <a:lstStyle/>
          <a:p>
            <a:fld id="{6CD0990F-CFD2-4E3E-9B0E-DA23AF729A97}" type="slidenum">
              <a:rPr lang="en-US" altLang="zh-CN" smtClean="0"/>
              <a:pPr/>
              <a:t>25</a:t>
            </a:fld>
            <a:r>
              <a:rPr lang="en-US" altLang="zh-CN"/>
              <a:t>/67</a:t>
            </a:r>
            <a:endParaRPr lang="zh-CN" altLang="en-US" dirty="0"/>
          </a:p>
        </p:txBody>
      </p:sp>
    </p:spTree>
    <p:extLst>
      <p:ext uri="{BB962C8B-B14F-4D97-AF65-F5344CB8AC3E}">
        <p14:creationId xmlns:p14="http://schemas.microsoft.com/office/powerpoint/2010/main" val="237444986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DD424E6-60BD-42F8-A488-8E42C13B513A}" type="datetime1">
              <a:rPr lang="zh-CN" altLang="en-US" smtClean="0"/>
              <a:t>2025/12/24</a:t>
            </a:fld>
            <a:endParaRPr lang="en-US" altLang="zh-CN"/>
          </a:p>
        </p:txBody>
      </p:sp>
      <p:sp>
        <p:nvSpPr>
          <p:cNvPr id="497666" name="Rectangle 2"/>
          <p:cNvSpPr>
            <a:spLocks noGrp="1" noChangeArrowheads="1"/>
          </p:cNvSpPr>
          <p:nvPr>
            <p:ph type="title"/>
          </p:nvPr>
        </p:nvSpPr>
        <p:spPr/>
        <p:txBody>
          <a:bodyPr/>
          <a:lstStyle/>
          <a:p>
            <a:r>
              <a:rPr lang="en-US" altLang="zh-CN" sz="3200" dirty="0"/>
              <a:t>14.9 </a:t>
            </a:r>
            <a:r>
              <a:rPr lang="zh-CN" altLang="en-US" sz="3200" dirty="0"/>
              <a:t>存储器</a:t>
            </a:r>
            <a:endParaRPr lang="en-US" altLang="zh-CN" sz="3200" dirty="0"/>
          </a:p>
        </p:txBody>
      </p:sp>
      <p:sp>
        <p:nvSpPr>
          <p:cNvPr id="2" name="内容占位符 1"/>
          <p:cNvSpPr>
            <a:spLocks noGrp="1"/>
          </p:cNvSpPr>
          <p:nvPr>
            <p:ph idx="1"/>
          </p:nvPr>
        </p:nvSpPr>
        <p:spPr>
          <a:xfrm>
            <a:off x="609600" y="1447800"/>
            <a:ext cx="8345488" cy="5253038"/>
          </a:xfrm>
        </p:spPr>
        <p:txBody>
          <a:bodyPr/>
          <a:lstStyle/>
          <a:p>
            <a:r>
              <a:rPr lang="zh-CN" altLang="en-US" sz="2400" dirty="0"/>
              <a:t>如果在对</a:t>
            </a:r>
            <a:r>
              <a:rPr lang="zh-CN" altLang="en-US" sz="2400" b="1" dirty="0">
                <a:solidFill>
                  <a:srgbClr val="FF0000"/>
                </a:solidFill>
              </a:rPr>
              <a:t>块进行写</a:t>
            </a:r>
            <a:r>
              <a:rPr lang="zh-CN" altLang="en-US" sz="2400" dirty="0"/>
              <a:t>的过程中系统发生故障，有可能一个块的</a:t>
            </a:r>
            <a:r>
              <a:rPr lang="zh-CN" altLang="en-US" sz="2400" b="1" dirty="0">
                <a:solidFill>
                  <a:srgbClr val="0000FF"/>
                </a:solidFill>
              </a:rPr>
              <a:t>两个拷贝互相不一致</a:t>
            </a:r>
            <a:r>
              <a:rPr lang="zh-CN" altLang="en-US" sz="2400" dirty="0"/>
              <a:t>。在恢复过程中，对于每一个块，系统需要</a:t>
            </a:r>
            <a:r>
              <a:rPr lang="zh-CN" altLang="en-US" sz="2400" dirty="0">
                <a:solidFill>
                  <a:srgbClr val="0000FF"/>
                </a:solidFill>
              </a:rPr>
              <a:t>检查</a:t>
            </a:r>
            <a:r>
              <a:rPr lang="zh-CN" altLang="en-US" sz="2400" dirty="0"/>
              <a:t>它的</a:t>
            </a:r>
            <a:r>
              <a:rPr lang="zh-CN" altLang="en-US" sz="2400" b="1" u="sng" dirty="0"/>
              <a:t>两个拷贝</a:t>
            </a:r>
            <a:r>
              <a:rPr lang="zh-CN" altLang="en-US" sz="2400" dirty="0"/>
              <a:t>。如果它们</a:t>
            </a:r>
            <a:r>
              <a:rPr lang="zh-CN" altLang="en-US" sz="2400" dirty="0">
                <a:solidFill>
                  <a:srgbClr val="0000FF"/>
                </a:solidFill>
              </a:rPr>
              <a:t>相同</a:t>
            </a:r>
            <a:r>
              <a:rPr lang="zh-CN" altLang="en-US" sz="2400" dirty="0"/>
              <a:t>并且</a:t>
            </a:r>
            <a:r>
              <a:rPr lang="zh-CN" altLang="en-US" sz="2400" dirty="0">
                <a:solidFill>
                  <a:srgbClr val="0000FF"/>
                </a:solidFill>
              </a:rPr>
              <a:t>没有检测到错误</a:t>
            </a:r>
            <a:r>
              <a:rPr lang="zh-CN" altLang="en-US" sz="2400" dirty="0"/>
              <a:t>存在，则不需要采取进一步动作。</a:t>
            </a:r>
            <a:endParaRPr lang="en-US" altLang="zh-CN" sz="2400" dirty="0"/>
          </a:p>
          <a:p>
            <a:r>
              <a:rPr lang="zh-CN" altLang="en-US" sz="2400" dirty="0"/>
              <a:t>如果系统检测到</a:t>
            </a:r>
            <a:r>
              <a:rPr lang="zh-CN" altLang="en-US" sz="2400" dirty="0">
                <a:solidFill>
                  <a:srgbClr val="0000FF"/>
                </a:solidFill>
              </a:rPr>
              <a:t>一个块中有错误</a:t>
            </a:r>
            <a:r>
              <a:rPr lang="zh-CN" altLang="en-US" sz="2400" dirty="0"/>
              <a:t>，则可以</a:t>
            </a:r>
            <a:r>
              <a:rPr lang="zh-CN" altLang="en-US" sz="2400" dirty="0">
                <a:solidFill>
                  <a:srgbClr val="0000FF"/>
                </a:solidFill>
              </a:rPr>
              <a:t>用另一个块的内容替换这一块的内容</a:t>
            </a:r>
            <a:r>
              <a:rPr lang="zh-CN" altLang="en-US" sz="2400" dirty="0"/>
              <a:t>。如果两个块都</a:t>
            </a:r>
            <a:r>
              <a:rPr lang="zh-CN" altLang="en-US" sz="2400" b="1" u="sng" dirty="0"/>
              <a:t>没有检测</a:t>
            </a:r>
            <a:r>
              <a:rPr lang="zh-CN" altLang="en-US" sz="2400" u="sng" dirty="0"/>
              <a:t>出错误</a:t>
            </a:r>
            <a:r>
              <a:rPr lang="zh-CN" altLang="en-US" sz="2400" dirty="0"/>
              <a:t>，但它们的</a:t>
            </a:r>
            <a:r>
              <a:rPr lang="zh-CN" altLang="en-US" sz="2400" b="1" dirty="0">
                <a:solidFill>
                  <a:srgbClr val="FF0000"/>
                </a:solidFill>
              </a:rPr>
              <a:t>内容不一致</a:t>
            </a:r>
            <a:r>
              <a:rPr lang="zh-CN" altLang="en-US" sz="2400" dirty="0"/>
              <a:t>，则我们用</a:t>
            </a:r>
            <a:r>
              <a:rPr lang="zh-CN" altLang="en-US" sz="2400" dirty="0">
                <a:solidFill>
                  <a:srgbClr val="0000FF"/>
                </a:solidFill>
              </a:rPr>
              <a:t>第二块的值替换第一块</a:t>
            </a:r>
            <a:r>
              <a:rPr lang="zh-CN" altLang="en-US" sz="2400" dirty="0"/>
              <a:t>的内容，或者用</a:t>
            </a:r>
            <a:r>
              <a:rPr lang="zh-CN" altLang="en-US" sz="2400" dirty="0">
                <a:solidFill>
                  <a:srgbClr val="0000FF"/>
                </a:solidFill>
              </a:rPr>
              <a:t>第一块的值替换第二块</a:t>
            </a:r>
            <a:r>
              <a:rPr lang="zh-CN" altLang="en-US" sz="2400" dirty="0"/>
              <a:t>的内容。不管用哪个方法，</a:t>
            </a:r>
            <a:r>
              <a:rPr lang="zh-CN" altLang="en-US" sz="2400" b="1" dirty="0">
                <a:solidFill>
                  <a:srgbClr val="0000FF"/>
                </a:solidFill>
              </a:rPr>
              <a:t>恢复过程</a:t>
            </a:r>
            <a:r>
              <a:rPr lang="zh-CN" altLang="en-US" sz="2400" dirty="0"/>
              <a:t>都保证，对</a:t>
            </a:r>
            <a:r>
              <a:rPr lang="zh-CN" altLang="en-US" sz="2400" b="1" dirty="0"/>
              <a:t>稳定存储器</a:t>
            </a:r>
            <a:r>
              <a:rPr lang="zh-CN" altLang="en-US" sz="2400" dirty="0"/>
              <a:t>的写要么</a:t>
            </a:r>
            <a:r>
              <a:rPr lang="zh-CN" altLang="en-US" sz="2400" b="1" dirty="0"/>
              <a:t>完全成功</a:t>
            </a:r>
            <a:r>
              <a:rPr lang="en-US" altLang="zh-CN" sz="2400" dirty="0"/>
              <a:t>(</a:t>
            </a:r>
            <a:r>
              <a:rPr lang="zh-CN" altLang="en-US" sz="2400" dirty="0"/>
              <a:t>即更新所有拷贝</a:t>
            </a:r>
            <a:r>
              <a:rPr lang="en-US" altLang="zh-CN" sz="2400" dirty="0"/>
              <a:t>)</a:t>
            </a:r>
            <a:r>
              <a:rPr lang="zh-CN" altLang="en-US" sz="2400" dirty="0"/>
              <a:t>，要么</a:t>
            </a:r>
            <a:r>
              <a:rPr lang="zh-CN" altLang="en-US" sz="2400" b="1" dirty="0"/>
              <a:t>没有任何改变</a:t>
            </a:r>
            <a:r>
              <a:rPr lang="zh-CN" altLang="en-US" sz="2400" dirty="0"/>
              <a:t>。</a:t>
            </a:r>
          </a:p>
          <a:p>
            <a:endParaRPr lang="zh-CN" altLang="en-US" sz="2400" dirty="0"/>
          </a:p>
          <a:p>
            <a:pPr lvl="1"/>
            <a:endParaRPr lang="en-US" altLang="zh-CN" sz="2000" dirty="0"/>
          </a:p>
        </p:txBody>
      </p:sp>
      <p:sp>
        <p:nvSpPr>
          <p:cNvPr id="6" name="页脚占位符 5">
            <a:extLst>
              <a:ext uri="{FF2B5EF4-FFF2-40B4-BE49-F238E27FC236}">
                <a16:creationId xmlns:a16="http://schemas.microsoft.com/office/drawing/2014/main" id="{C51E1FFA-C996-21C0-5863-647DCEE467AB}"/>
              </a:ext>
            </a:extLst>
          </p:cNvPr>
          <p:cNvSpPr>
            <a:spLocks noGrp="1"/>
          </p:cNvSpPr>
          <p:nvPr>
            <p:ph type="ftr" sz="quarter" idx="11"/>
          </p:nvPr>
        </p:nvSpPr>
        <p:spPr/>
        <p:txBody>
          <a:bodyPr/>
          <a:lstStyle/>
          <a:p>
            <a:r>
              <a:rPr lang="en-US" altLang="zh-CN"/>
              <a:t>《数据库系统概论》- 第11章</a:t>
            </a:r>
          </a:p>
        </p:txBody>
      </p:sp>
      <p:sp>
        <p:nvSpPr>
          <p:cNvPr id="7" name="灯片编号占位符 6">
            <a:extLst>
              <a:ext uri="{FF2B5EF4-FFF2-40B4-BE49-F238E27FC236}">
                <a16:creationId xmlns:a16="http://schemas.microsoft.com/office/drawing/2014/main" id="{D9E1D855-136C-F17A-BA8D-AE797E69FFBC}"/>
              </a:ext>
            </a:extLst>
          </p:cNvPr>
          <p:cNvSpPr>
            <a:spLocks noGrp="1"/>
          </p:cNvSpPr>
          <p:nvPr>
            <p:ph type="sldNum" sz="quarter" idx="12"/>
          </p:nvPr>
        </p:nvSpPr>
        <p:spPr/>
        <p:txBody>
          <a:bodyPr/>
          <a:lstStyle/>
          <a:p>
            <a:fld id="{6CD0990F-CFD2-4E3E-9B0E-DA23AF729A97}" type="slidenum">
              <a:rPr lang="en-US" altLang="zh-CN" smtClean="0"/>
              <a:pPr/>
              <a:t>26</a:t>
            </a:fld>
            <a:r>
              <a:rPr lang="en-US" altLang="zh-CN"/>
              <a:t>/67</a:t>
            </a:r>
            <a:endParaRPr lang="zh-CN" altLang="en-US" dirty="0"/>
          </a:p>
        </p:txBody>
      </p:sp>
    </p:spTree>
    <p:extLst>
      <p:ext uri="{BB962C8B-B14F-4D97-AF65-F5344CB8AC3E}">
        <p14:creationId xmlns:p14="http://schemas.microsoft.com/office/powerpoint/2010/main" val="176000707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zh-CN" altLang="en-US" dirty="0"/>
              <a:t>数据存取</a:t>
            </a:r>
            <a:endParaRPr lang="en-US" altLang="zh-CN" dirty="0"/>
          </a:p>
        </p:txBody>
      </p:sp>
      <p:sp>
        <p:nvSpPr>
          <p:cNvPr id="14340" name="Rectangle 3"/>
          <p:cNvSpPr>
            <a:spLocks noGrp="1" noChangeArrowheads="1"/>
          </p:cNvSpPr>
          <p:nvPr>
            <p:ph type="body" idx="4294967295"/>
          </p:nvPr>
        </p:nvSpPr>
        <p:spPr>
          <a:xfrm>
            <a:off x="755576" y="1412776"/>
            <a:ext cx="8205787" cy="4864100"/>
          </a:xfrm>
        </p:spPr>
        <p:txBody>
          <a:bodyPr/>
          <a:lstStyle/>
          <a:p>
            <a:pPr eaLnBrk="1" hangingPunct="1">
              <a:lnSpc>
                <a:spcPct val="90000"/>
              </a:lnSpc>
            </a:pPr>
            <a:r>
              <a:rPr lang="zh-CN" altLang="en-US" sz="2800" dirty="0">
                <a:solidFill>
                  <a:srgbClr val="FF3300"/>
                </a:solidFill>
              </a:rPr>
              <a:t>物理块</a:t>
            </a:r>
            <a:r>
              <a:rPr lang="zh-CN" altLang="en-US" sz="2800" dirty="0"/>
              <a:t>是位于</a:t>
            </a:r>
            <a:r>
              <a:rPr lang="zh-CN" altLang="en-US" sz="2800" b="1" dirty="0">
                <a:solidFill>
                  <a:srgbClr val="0000FF"/>
                </a:solidFill>
              </a:rPr>
              <a:t>磁盘</a:t>
            </a:r>
            <a:r>
              <a:rPr lang="zh-CN" altLang="en-US" sz="2800" dirty="0"/>
              <a:t>上的块；</a:t>
            </a:r>
            <a:endParaRPr lang="en-US" altLang="zh-CN" sz="2800" dirty="0"/>
          </a:p>
          <a:p>
            <a:pPr eaLnBrk="1" hangingPunct="1">
              <a:lnSpc>
                <a:spcPct val="90000"/>
              </a:lnSpc>
            </a:pPr>
            <a:r>
              <a:rPr lang="zh-CN" altLang="en-US" sz="2800" dirty="0">
                <a:solidFill>
                  <a:srgbClr val="FF3300"/>
                </a:solidFill>
              </a:rPr>
              <a:t>缓冲块</a:t>
            </a:r>
            <a:r>
              <a:rPr lang="zh-CN" altLang="en-US" sz="2800" dirty="0"/>
              <a:t>是临时位于</a:t>
            </a:r>
            <a:r>
              <a:rPr lang="zh-CN" altLang="en-US" sz="2800" b="1" dirty="0">
                <a:solidFill>
                  <a:srgbClr val="0000FF"/>
                </a:solidFill>
              </a:rPr>
              <a:t>主存</a:t>
            </a:r>
            <a:r>
              <a:rPr lang="zh-CN" altLang="en-US" sz="2800" dirty="0"/>
              <a:t>中的块；</a:t>
            </a:r>
            <a:endParaRPr lang="en-US" altLang="zh-CN" sz="2800" dirty="0"/>
          </a:p>
          <a:p>
            <a:pPr eaLnBrk="1" hangingPunct="1">
              <a:lnSpc>
                <a:spcPct val="90000"/>
              </a:lnSpc>
            </a:pPr>
            <a:r>
              <a:rPr lang="zh-CN" altLang="en-US" sz="2800" dirty="0"/>
              <a:t>磁盘和主存之间的</a:t>
            </a:r>
            <a:r>
              <a:rPr lang="zh-CN" altLang="en-US" sz="2800" b="1" dirty="0">
                <a:solidFill>
                  <a:srgbClr val="0000FF"/>
                </a:solidFill>
              </a:rPr>
              <a:t>块移动</a:t>
            </a:r>
            <a:r>
              <a:rPr lang="zh-CN" altLang="en-US" sz="2800" dirty="0"/>
              <a:t>通过下列</a:t>
            </a:r>
            <a:r>
              <a:rPr lang="zh-CN" altLang="en-US" sz="2800" u="sng" dirty="0"/>
              <a:t>两个操作</a:t>
            </a:r>
            <a:r>
              <a:rPr lang="zh-CN" altLang="en-US" sz="2800" dirty="0"/>
              <a:t>来引发：</a:t>
            </a:r>
            <a:endParaRPr lang="en-US" altLang="zh-CN" sz="2800" dirty="0"/>
          </a:p>
          <a:p>
            <a:pPr lvl="1" eaLnBrk="1" hangingPunct="1">
              <a:lnSpc>
                <a:spcPct val="90000"/>
              </a:lnSpc>
            </a:pPr>
            <a:r>
              <a:rPr lang="en-US" altLang="zh-CN" dirty="0">
                <a:solidFill>
                  <a:schemeClr val="tx2"/>
                </a:solidFill>
              </a:rPr>
              <a:t>input</a:t>
            </a:r>
            <a:r>
              <a:rPr lang="en-US" altLang="zh-CN" dirty="0"/>
              <a:t>(B) </a:t>
            </a:r>
            <a:r>
              <a:rPr lang="zh-CN" altLang="en-US" dirty="0"/>
              <a:t>将</a:t>
            </a:r>
            <a:r>
              <a:rPr lang="zh-CN" altLang="en-US" dirty="0">
                <a:solidFill>
                  <a:srgbClr val="0000FF"/>
                </a:solidFill>
              </a:rPr>
              <a:t>物理块</a:t>
            </a:r>
            <a:r>
              <a:rPr lang="en-US" altLang="zh-CN" dirty="0"/>
              <a:t> B </a:t>
            </a:r>
            <a:r>
              <a:rPr lang="zh-CN" altLang="en-US" dirty="0">
                <a:solidFill>
                  <a:srgbClr val="FF0000"/>
                </a:solidFill>
              </a:rPr>
              <a:t>输入</a:t>
            </a:r>
            <a:r>
              <a:rPr lang="zh-CN" altLang="en-US" dirty="0">
                <a:solidFill>
                  <a:srgbClr val="0000FF"/>
                </a:solidFill>
              </a:rPr>
              <a:t>主存</a:t>
            </a:r>
            <a:r>
              <a:rPr lang="zh-CN" altLang="en-US" dirty="0"/>
              <a:t>；</a:t>
            </a:r>
            <a:endParaRPr lang="en-US" altLang="zh-CN" dirty="0"/>
          </a:p>
          <a:p>
            <a:pPr lvl="1" eaLnBrk="1" hangingPunct="1">
              <a:lnSpc>
                <a:spcPct val="90000"/>
              </a:lnSpc>
            </a:pPr>
            <a:r>
              <a:rPr lang="en-US" altLang="zh-CN" dirty="0">
                <a:solidFill>
                  <a:schemeClr val="tx2"/>
                </a:solidFill>
              </a:rPr>
              <a:t>output</a:t>
            </a:r>
            <a:r>
              <a:rPr lang="en-US" altLang="zh-CN" dirty="0"/>
              <a:t>(B) </a:t>
            </a:r>
            <a:r>
              <a:rPr lang="zh-CN" altLang="en-US" dirty="0"/>
              <a:t>将</a:t>
            </a:r>
            <a:r>
              <a:rPr lang="zh-CN" altLang="en-US" dirty="0">
                <a:solidFill>
                  <a:srgbClr val="0000FF"/>
                </a:solidFill>
              </a:rPr>
              <a:t>缓冲块</a:t>
            </a:r>
            <a:r>
              <a:rPr lang="en-US" altLang="zh-CN" dirty="0"/>
              <a:t> B </a:t>
            </a:r>
            <a:r>
              <a:rPr lang="zh-CN" altLang="en-US" dirty="0">
                <a:solidFill>
                  <a:srgbClr val="FF0000"/>
                </a:solidFill>
              </a:rPr>
              <a:t>输出</a:t>
            </a:r>
            <a:r>
              <a:rPr lang="zh-CN" altLang="en-US" dirty="0"/>
              <a:t>到</a:t>
            </a:r>
            <a:r>
              <a:rPr lang="zh-CN" altLang="en-US" dirty="0">
                <a:solidFill>
                  <a:srgbClr val="0000FF"/>
                </a:solidFill>
              </a:rPr>
              <a:t>磁盘</a:t>
            </a:r>
            <a:r>
              <a:rPr lang="zh-CN" altLang="en-US" dirty="0"/>
              <a:t>，并且</a:t>
            </a:r>
            <a:r>
              <a:rPr lang="zh-CN" altLang="en-US" dirty="0">
                <a:solidFill>
                  <a:srgbClr val="0000FF"/>
                </a:solidFill>
              </a:rPr>
              <a:t>替换</a:t>
            </a:r>
            <a:r>
              <a:rPr lang="zh-CN" altLang="en-US" dirty="0"/>
              <a:t>相应的物理块。</a:t>
            </a:r>
            <a:endParaRPr lang="en-US" altLang="zh-CN" dirty="0"/>
          </a:p>
          <a:p>
            <a:pPr eaLnBrk="1" hangingPunct="1">
              <a:lnSpc>
                <a:spcPct val="90000"/>
              </a:lnSpc>
            </a:pPr>
            <a:r>
              <a:rPr lang="zh-CN" altLang="en-US" sz="2800" dirty="0"/>
              <a:t>另外，</a:t>
            </a:r>
            <a:r>
              <a:rPr lang="zh-CN" altLang="en-US" sz="2800" dirty="0">
                <a:solidFill>
                  <a:srgbClr val="0000FF"/>
                </a:solidFill>
              </a:rPr>
              <a:t>每个事务</a:t>
            </a:r>
            <a:r>
              <a:rPr lang="en-US" altLang="zh-CN" sz="2800" dirty="0" err="1">
                <a:solidFill>
                  <a:srgbClr val="0000FF"/>
                </a:solidFill>
              </a:rPr>
              <a:t>T</a:t>
            </a:r>
            <a:r>
              <a:rPr lang="en-US" altLang="zh-CN" sz="2800" baseline="-25000" dirty="0" err="1">
                <a:solidFill>
                  <a:srgbClr val="0000FF"/>
                </a:solidFill>
              </a:rPr>
              <a:t>i</a:t>
            </a:r>
            <a:r>
              <a:rPr lang="zh-CN" altLang="en-US" sz="2800" dirty="0"/>
              <a:t>都有自己的</a:t>
            </a:r>
            <a:r>
              <a:rPr lang="zh-CN" altLang="en-US" sz="2800" b="1" dirty="0">
                <a:solidFill>
                  <a:srgbClr val="0000FF"/>
                </a:solidFill>
              </a:rPr>
              <a:t>私有工作区</a:t>
            </a:r>
            <a:r>
              <a:rPr lang="zh-CN" altLang="en-US" sz="2800" dirty="0"/>
              <a:t>，用来保存它</a:t>
            </a:r>
            <a:r>
              <a:rPr lang="zh-CN" altLang="en-US" sz="2800" dirty="0">
                <a:solidFill>
                  <a:srgbClr val="0000FF"/>
                </a:solidFill>
              </a:rPr>
              <a:t>存取</a:t>
            </a:r>
            <a:r>
              <a:rPr lang="zh-CN" altLang="en-US" sz="2800" dirty="0"/>
              <a:t>和</a:t>
            </a:r>
            <a:r>
              <a:rPr lang="zh-CN" altLang="en-US" sz="2800" dirty="0">
                <a:solidFill>
                  <a:srgbClr val="0000FF"/>
                </a:solidFill>
              </a:rPr>
              <a:t>更新</a:t>
            </a:r>
            <a:r>
              <a:rPr lang="zh-CN" altLang="en-US" sz="2800" dirty="0"/>
              <a:t>的</a:t>
            </a:r>
            <a:r>
              <a:rPr lang="zh-CN" altLang="en-US" sz="2800" dirty="0">
                <a:solidFill>
                  <a:srgbClr val="0000FF"/>
                </a:solidFill>
              </a:rPr>
              <a:t>所有数据项的局部副本</a:t>
            </a:r>
            <a:endParaRPr lang="en-US" altLang="zh-CN" sz="2800" dirty="0">
              <a:solidFill>
                <a:srgbClr val="0000FF"/>
              </a:solidFill>
            </a:endParaRPr>
          </a:p>
          <a:p>
            <a:pPr lvl="1" eaLnBrk="1" hangingPunct="1">
              <a:lnSpc>
                <a:spcPct val="90000"/>
              </a:lnSpc>
            </a:pPr>
            <a:r>
              <a:rPr lang="en-US" altLang="zh-CN" dirty="0"/>
              <a:t> </a:t>
            </a:r>
            <a:r>
              <a:rPr lang="en-US" altLang="zh-CN" dirty="0" err="1"/>
              <a:t>T</a:t>
            </a:r>
            <a:r>
              <a:rPr lang="en-US" altLang="zh-CN" baseline="-25000" dirty="0" err="1"/>
              <a:t>i</a:t>
            </a:r>
            <a:r>
              <a:rPr lang="en-US" altLang="zh-CN" dirty="0"/>
              <a:t> </a:t>
            </a:r>
            <a:r>
              <a:rPr lang="zh-CN" altLang="en-US" dirty="0"/>
              <a:t>的对应于数据项</a:t>
            </a:r>
            <a:r>
              <a:rPr lang="en-US" altLang="zh-CN" dirty="0"/>
              <a:t>X</a:t>
            </a:r>
            <a:r>
              <a:rPr lang="zh-CN" altLang="en-US" dirty="0"/>
              <a:t>的</a:t>
            </a:r>
            <a:r>
              <a:rPr lang="zh-CN" altLang="en-US" b="1" dirty="0"/>
              <a:t>局部副本</a:t>
            </a:r>
            <a:r>
              <a:rPr lang="zh-CN" altLang="en-US" dirty="0"/>
              <a:t>记为</a:t>
            </a:r>
            <a:r>
              <a:rPr lang="en-US" altLang="zh-CN" dirty="0">
                <a:solidFill>
                  <a:srgbClr val="0000FF"/>
                </a:solidFill>
              </a:rPr>
              <a:t>x</a:t>
            </a:r>
            <a:r>
              <a:rPr lang="en-US" altLang="zh-CN" baseline="-25000" dirty="0">
                <a:solidFill>
                  <a:srgbClr val="0000FF"/>
                </a:solidFill>
              </a:rPr>
              <a:t>i</a:t>
            </a:r>
            <a:endParaRPr lang="en-US" altLang="zh-CN" dirty="0">
              <a:solidFill>
                <a:srgbClr val="0000FF"/>
              </a:solidFill>
            </a:endParaRPr>
          </a:p>
        </p:txBody>
      </p:sp>
      <p:sp>
        <p:nvSpPr>
          <p:cNvPr id="2" name="日期占位符 1">
            <a:extLst>
              <a:ext uri="{FF2B5EF4-FFF2-40B4-BE49-F238E27FC236}">
                <a16:creationId xmlns:a16="http://schemas.microsoft.com/office/drawing/2014/main" id="{F676225C-5C48-F06B-1911-FFC87DE94B5B}"/>
              </a:ext>
            </a:extLst>
          </p:cNvPr>
          <p:cNvSpPr>
            <a:spLocks noGrp="1"/>
          </p:cNvSpPr>
          <p:nvPr>
            <p:ph type="dt" sz="half" idx="10"/>
          </p:nvPr>
        </p:nvSpPr>
        <p:spPr/>
        <p:txBody>
          <a:bodyPr/>
          <a:lstStyle/>
          <a:p>
            <a:fld id="{CC6241F9-C22A-4566-BEE0-6761DA8CF535}"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16958E1E-CD21-6F43-033E-7737DBC36188}"/>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F3EC0E08-2C0E-9731-A618-97E1475A5F30}"/>
              </a:ext>
            </a:extLst>
          </p:cNvPr>
          <p:cNvSpPr>
            <a:spLocks noGrp="1"/>
          </p:cNvSpPr>
          <p:nvPr>
            <p:ph type="sldNum" sz="quarter" idx="12"/>
          </p:nvPr>
        </p:nvSpPr>
        <p:spPr/>
        <p:txBody>
          <a:bodyPr/>
          <a:lstStyle/>
          <a:p>
            <a:fld id="{AB1F7240-85F2-492B-84D8-762EF0110923}" type="slidenum">
              <a:rPr lang="en-US" altLang="zh-CN" smtClean="0"/>
              <a:pPr/>
              <a:t>27</a:t>
            </a:fld>
            <a:r>
              <a:rPr lang="en-US" altLang="zh-CN"/>
              <a:t>/67</a:t>
            </a:r>
            <a:endParaRPr lang="zh-CN" altLang="en-US" dirty="0"/>
          </a:p>
        </p:txBody>
      </p:sp>
    </p:spTree>
    <p:extLst>
      <p:ext uri="{BB962C8B-B14F-4D97-AF65-F5344CB8AC3E}">
        <p14:creationId xmlns:p14="http://schemas.microsoft.com/office/powerpoint/2010/main" val="262169121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
          <p:cNvSpPr>
            <a:spLocks noChangeArrowheads="1"/>
          </p:cNvSpPr>
          <p:nvPr/>
        </p:nvSpPr>
        <p:spPr bwMode="auto">
          <a:xfrm>
            <a:off x="4078288" y="1862138"/>
            <a:ext cx="76200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endParaRPr lang="zh-CN" altLang="en-US" sz="1800" b="0">
              <a:latin typeface="Helvetica" pitchFamily="34" charset="0"/>
            </a:endParaRPr>
          </a:p>
        </p:txBody>
      </p:sp>
      <p:sp>
        <p:nvSpPr>
          <p:cNvPr id="16389" name="Rectangle 4"/>
          <p:cNvSpPr>
            <a:spLocks noChangeArrowheads="1"/>
          </p:cNvSpPr>
          <p:nvPr/>
        </p:nvSpPr>
        <p:spPr bwMode="auto">
          <a:xfrm>
            <a:off x="4268788" y="1938338"/>
            <a:ext cx="381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r>
              <a:rPr lang="en-US" altLang="zh-CN" sz="2000" b="0" i="0">
                <a:latin typeface="Helvetica" pitchFamily="34" charset="0"/>
              </a:rPr>
              <a:t>X</a:t>
            </a:r>
          </a:p>
        </p:txBody>
      </p:sp>
      <p:sp>
        <p:nvSpPr>
          <p:cNvPr id="16390" name="Rectangle 5"/>
          <p:cNvSpPr>
            <a:spLocks noChangeArrowheads="1"/>
          </p:cNvSpPr>
          <p:nvPr/>
        </p:nvSpPr>
        <p:spPr bwMode="auto">
          <a:xfrm>
            <a:off x="4268788" y="2395538"/>
            <a:ext cx="381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r>
              <a:rPr lang="en-US" altLang="zh-CN" sz="2000" b="0" i="0">
                <a:latin typeface="Helvetica" pitchFamily="34" charset="0"/>
              </a:rPr>
              <a:t>Y</a:t>
            </a:r>
          </a:p>
        </p:txBody>
      </p:sp>
      <p:sp>
        <p:nvSpPr>
          <p:cNvPr id="16391" name="Oval 6"/>
          <p:cNvSpPr>
            <a:spLocks noChangeArrowheads="1"/>
          </p:cNvSpPr>
          <p:nvPr/>
        </p:nvSpPr>
        <p:spPr bwMode="auto">
          <a:xfrm>
            <a:off x="6288088" y="1862138"/>
            <a:ext cx="1143000" cy="3810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endParaRPr lang="zh-CN" altLang="en-US" sz="1800" b="0">
              <a:latin typeface="Helvetica" pitchFamily="34" charset="0"/>
            </a:endParaRPr>
          </a:p>
        </p:txBody>
      </p:sp>
      <p:sp>
        <p:nvSpPr>
          <p:cNvPr id="16392" name="Line 7"/>
          <p:cNvSpPr>
            <a:spLocks noChangeShapeType="1"/>
          </p:cNvSpPr>
          <p:nvPr/>
        </p:nvSpPr>
        <p:spPr bwMode="auto">
          <a:xfrm>
            <a:off x="6288088" y="2014538"/>
            <a:ext cx="0" cy="11430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16393" name="Line 8"/>
          <p:cNvSpPr>
            <a:spLocks noChangeShapeType="1"/>
          </p:cNvSpPr>
          <p:nvPr/>
        </p:nvSpPr>
        <p:spPr bwMode="auto">
          <a:xfrm>
            <a:off x="7431088" y="2033588"/>
            <a:ext cx="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Freeform 9"/>
          <p:cNvSpPr>
            <a:spLocks/>
          </p:cNvSpPr>
          <p:nvPr/>
        </p:nvSpPr>
        <p:spPr bwMode="auto">
          <a:xfrm>
            <a:off x="6288088" y="3157538"/>
            <a:ext cx="1143000" cy="177800"/>
          </a:xfrm>
          <a:custGeom>
            <a:avLst/>
            <a:gdLst>
              <a:gd name="T0" fmla="*/ 0 w 720"/>
              <a:gd name="T1" fmla="*/ 0 h 112"/>
              <a:gd name="T2" fmla="*/ 2147483646 w 720"/>
              <a:gd name="T3" fmla="*/ 2147483646 h 112"/>
              <a:gd name="T4" fmla="*/ 2147483646 w 720"/>
              <a:gd name="T5" fmla="*/ 2147483646 h 112"/>
              <a:gd name="T6" fmla="*/ 2147483646 w 720"/>
              <a:gd name="T7" fmla="*/ 0 h 1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0" h="112">
                <a:moveTo>
                  <a:pt x="0" y="0"/>
                </a:moveTo>
                <a:cubicBezTo>
                  <a:pt x="76" y="40"/>
                  <a:pt x="152" y="80"/>
                  <a:pt x="240" y="96"/>
                </a:cubicBezTo>
                <a:cubicBezTo>
                  <a:pt x="328" y="112"/>
                  <a:pt x="448" y="112"/>
                  <a:pt x="528" y="96"/>
                </a:cubicBezTo>
                <a:cubicBezTo>
                  <a:pt x="608" y="80"/>
                  <a:pt x="688" y="16"/>
                  <a:pt x="720" y="0"/>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5" name="Rectangle 10"/>
          <p:cNvSpPr>
            <a:spLocks noChangeArrowheads="1"/>
          </p:cNvSpPr>
          <p:nvPr/>
        </p:nvSpPr>
        <p:spPr bwMode="auto">
          <a:xfrm>
            <a:off x="6669088" y="2319338"/>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endParaRPr lang="zh-CN" altLang="en-US" sz="1800" b="0">
              <a:latin typeface="Helvetica" pitchFamily="34" charset="0"/>
            </a:endParaRPr>
          </a:p>
        </p:txBody>
      </p:sp>
      <p:sp>
        <p:nvSpPr>
          <p:cNvPr id="16396" name="Rectangle 11"/>
          <p:cNvSpPr>
            <a:spLocks noChangeArrowheads="1"/>
          </p:cNvSpPr>
          <p:nvPr/>
        </p:nvSpPr>
        <p:spPr bwMode="auto">
          <a:xfrm>
            <a:off x="6669088" y="2776538"/>
            <a:ext cx="3048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endParaRPr lang="zh-CN" altLang="en-US" sz="1800" b="0">
              <a:latin typeface="Helvetica" pitchFamily="34" charset="0"/>
            </a:endParaRPr>
          </a:p>
        </p:txBody>
      </p:sp>
      <p:sp>
        <p:nvSpPr>
          <p:cNvPr id="16397" name="Text Box 12"/>
          <p:cNvSpPr txBox="1">
            <a:spLocks noChangeArrowheads="1"/>
          </p:cNvSpPr>
          <p:nvPr/>
        </p:nvSpPr>
        <p:spPr bwMode="auto">
          <a:xfrm>
            <a:off x="7034213" y="2254250"/>
            <a:ext cx="354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i="0">
                <a:latin typeface="Helvetica" pitchFamily="34" charset="0"/>
              </a:rPr>
              <a:t>A</a:t>
            </a:r>
          </a:p>
        </p:txBody>
      </p:sp>
      <p:sp>
        <p:nvSpPr>
          <p:cNvPr id="16398" name="Text Box 13"/>
          <p:cNvSpPr txBox="1">
            <a:spLocks noChangeArrowheads="1"/>
          </p:cNvSpPr>
          <p:nvPr/>
        </p:nvSpPr>
        <p:spPr bwMode="auto">
          <a:xfrm>
            <a:off x="7050088" y="2693988"/>
            <a:ext cx="354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i="0">
                <a:latin typeface="Helvetica" pitchFamily="34" charset="0"/>
              </a:rPr>
              <a:t>B</a:t>
            </a:r>
          </a:p>
        </p:txBody>
      </p:sp>
      <p:sp>
        <p:nvSpPr>
          <p:cNvPr id="16399" name="Rectangle 14"/>
          <p:cNvSpPr>
            <a:spLocks noChangeArrowheads="1"/>
          </p:cNvSpPr>
          <p:nvPr/>
        </p:nvSpPr>
        <p:spPr bwMode="auto">
          <a:xfrm>
            <a:off x="3240088" y="4071938"/>
            <a:ext cx="762000" cy="1143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endParaRPr lang="zh-CN" altLang="en-US" sz="1800" b="0">
              <a:latin typeface="Helvetica" pitchFamily="34" charset="0"/>
            </a:endParaRPr>
          </a:p>
        </p:txBody>
      </p:sp>
      <p:sp>
        <p:nvSpPr>
          <p:cNvPr id="16400" name="Rectangle 15"/>
          <p:cNvSpPr>
            <a:spLocks noChangeArrowheads="1"/>
          </p:cNvSpPr>
          <p:nvPr/>
        </p:nvSpPr>
        <p:spPr bwMode="auto">
          <a:xfrm>
            <a:off x="4459288" y="4071938"/>
            <a:ext cx="762000" cy="1143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endParaRPr lang="zh-CN" altLang="en-US" sz="1800" b="0">
              <a:latin typeface="Helvetica" pitchFamily="34" charset="0"/>
            </a:endParaRPr>
          </a:p>
        </p:txBody>
      </p:sp>
      <p:sp>
        <p:nvSpPr>
          <p:cNvPr id="16401" name="Rectangle 16"/>
          <p:cNvSpPr>
            <a:spLocks noChangeArrowheads="1"/>
          </p:cNvSpPr>
          <p:nvPr/>
        </p:nvSpPr>
        <p:spPr bwMode="auto">
          <a:xfrm>
            <a:off x="4764088" y="4224338"/>
            <a:ext cx="228600" cy="228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endParaRPr lang="zh-CN" altLang="en-US" sz="1800" b="0">
              <a:latin typeface="Helvetica" pitchFamily="34" charset="0"/>
            </a:endParaRPr>
          </a:p>
        </p:txBody>
      </p:sp>
      <p:sp>
        <p:nvSpPr>
          <p:cNvPr id="16402" name="Rectangle 17"/>
          <p:cNvSpPr>
            <a:spLocks noChangeArrowheads="1"/>
          </p:cNvSpPr>
          <p:nvPr/>
        </p:nvSpPr>
        <p:spPr bwMode="auto">
          <a:xfrm>
            <a:off x="3621088" y="4376738"/>
            <a:ext cx="228600" cy="228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endParaRPr lang="zh-CN" altLang="en-US" sz="1800" b="0">
              <a:latin typeface="Helvetica" pitchFamily="34" charset="0"/>
            </a:endParaRPr>
          </a:p>
        </p:txBody>
      </p:sp>
      <p:sp>
        <p:nvSpPr>
          <p:cNvPr id="16403" name="Rectangle 18"/>
          <p:cNvSpPr>
            <a:spLocks noChangeArrowheads="1"/>
          </p:cNvSpPr>
          <p:nvPr/>
        </p:nvSpPr>
        <p:spPr bwMode="auto">
          <a:xfrm>
            <a:off x="3621088" y="4833938"/>
            <a:ext cx="228600" cy="228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lgn="ctr">
              <a:spcBef>
                <a:spcPct val="0"/>
              </a:spcBef>
              <a:buClrTx/>
              <a:buSzTx/>
              <a:buFontTx/>
              <a:buNone/>
            </a:pPr>
            <a:endParaRPr lang="zh-CN" altLang="en-US" sz="1800" b="0">
              <a:latin typeface="Helvetica" pitchFamily="34" charset="0"/>
            </a:endParaRPr>
          </a:p>
        </p:txBody>
      </p:sp>
      <p:sp>
        <p:nvSpPr>
          <p:cNvPr id="16404" name="Line 19"/>
          <p:cNvSpPr>
            <a:spLocks noChangeShapeType="1"/>
          </p:cNvSpPr>
          <p:nvPr/>
        </p:nvSpPr>
        <p:spPr bwMode="auto">
          <a:xfrm>
            <a:off x="3240088" y="5935327"/>
            <a:ext cx="2057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5" name="Text Box 20"/>
          <p:cNvSpPr txBox="1">
            <a:spLocks noChangeArrowheads="1"/>
          </p:cNvSpPr>
          <p:nvPr/>
        </p:nvSpPr>
        <p:spPr bwMode="auto">
          <a:xfrm>
            <a:off x="3281363" y="4311650"/>
            <a:ext cx="403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i="0">
                <a:latin typeface="Helvetica" pitchFamily="34" charset="0"/>
              </a:rPr>
              <a:t>x</a:t>
            </a:r>
            <a:r>
              <a:rPr lang="en-US" altLang="zh-CN" sz="2000" b="0" i="0" baseline="-25000">
                <a:latin typeface="Helvetica" pitchFamily="34" charset="0"/>
              </a:rPr>
              <a:t>1</a:t>
            </a:r>
            <a:endParaRPr lang="en-US" altLang="zh-CN" sz="2000" b="0" i="0">
              <a:latin typeface="Helvetica" pitchFamily="34" charset="0"/>
            </a:endParaRPr>
          </a:p>
        </p:txBody>
      </p:sp>
      <p:sp>
        <p:nvSpPr>
          <p:cNvPr id="16406" name="Text Box 21"/>
          <p:cNvSpPr txBox="1">
            <a:spLocks noChangeArrowheads="1"/>
          </p:cNvSpPr>
          <p:nvPr/>
        </p:nvSpPr>
        <p:spPr bwMode="auto">
          <a:xfrm>
            <a:off x="3278188" y="4706938"/>
            <a:ext cx="4492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i="0">
                <a:latin typeface="Helvetica" pitchFamily="34" charset="0"/>
              </a:rPr>
              <a:t>y</a:t>
            </a:r>
            <a:r>
              <a:rPr lang="en-US" altLang="zh-CN" sz="2000" b="0" i="0" baseline="-25000">
                <a:latin typeface="Helvetica" pitchFamily="34" charset="0"/>
              </a:rPr>
              <a:t>1 </a:t>
            </a:r>
            <a:endParaRPr lang="en-US" altLang="zh-CN" sz="2000" b="0" i="0">
              <a:latin typeface="Helvetica" pitchFamily="34" charset="0"/>
            </a:endParaRPr>
          </a:p>
        </p:txBody>
      </p:sp>
      <p:sp>
        <p:nvSpPr>
          <p:cNvPr id="16407" name="Text Box 22"/>
          <p:cNvSpPr txBox="1">
            <a:spLocks noChangeArrowheads="1"/>
          </p:cNvSpPr>
          <p:nvPr/>
        </p:nvSpPr>
        <p:spPr bwMode="auto">
          <a:xfrm>
            <a:off x="4008438" y="1476375"/>
            <a:ext cx="9589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zh-CN" altLang="en-US" sz="2000" i="0" dirty="0">
                <a:solidFill>
                  <a:srgbClr val="0000FF"/>
                </a:solidFill>
                <a:latin typeface="Helvetica" pitchFamily="34" charset="0"/>
              </a:rPr>
              <a:t>缓冲区</a:t>
            </a:r>
            <a:endParaRPr lang="en-US" altLang="zh-CN" sz="2000" i="0" dirty="0">
              <a:solidFill>
                <a:srgbClr val="0000FF"/>
              </a:solidFill>
              <a:latin typeface="Helvetica" pitchFamily="34" charset="0"/>
            </a:endParaRPr>
          </a:p>
        </p:txBody>
      </p:sp>
      <p:sp>
        <p:nvSpPr>
          <p:cNvPr id="16408" name="Text Box 23"/>
          <p:cNvSpPr txBox="1">
            <a:spLocks noChangeArrowheads="1"/>
          </p:cNvSpPr>
          <p:nvPr/>
        </p:nvSpPr>
        <p:spPr bwMode="auto">
          <a:xfrm>
            <a:off x="2065338" y="1797050"/>
            <a:ext cx="127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zh-CN" altLang="en-US" sz="2000">
                <a:latin typeface="Helvetica" pitchFamily="34" charset="0"/>
              </a:rPr>
              <a:t>缓冲块</a:t>
            </a:r>
            <a:r>
              <a:rPr lang="en-US" altLang="zh-CN" sz="2000">
                <a:latin typeface="Helvetica" pitchFamily="34" charset="0"/>
              </a:rPr>
              <a:t> A</a:t>
            </a:r>
            <a:r>
              <a:rPr lang="en-US" altLang="zh-CN" sz="2000" b="0" i="0">
                <a:latin typeface="Helvetica" pitchFamily="34" charset="0"/>
              </a:rPr>
              <a:t> </a:t>
            </a:r>
          </a:p>
        </p:txBody>
      </p:sp>
      <p:sp>
        <p:nvSpPr>
          <p:cNvPr id="16409" name="Text Box 24"/>
          <p:cNvSpPr txBox="1">
            <a:spLocks noChangeArrowheads="1"/>
          </p:cNvSpPr>
          <p:nvPr/>
        </p:nvSpPr>
        <p:spPr bwMode="auto">
          <a:xfrm>
            <a:off x="2078038" y="2284413"/>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zh-CN" altLang="en-US" sz="2000">
                <a:latin typeface="Helvetica" pitchFamily="34" charset="0"/>
              </a:rPr>
              <a:t>缓冲块</a:t>
            </a:r>
            <a:r>
              <a:rPr lang="en-US" altLang="zh-CN" sz="2000">
                <a:latin typeface="Helvetica" pitchFamily="34" charset="0"/>
              </a:rPr>
              <a:t> B</a:t>
            </a:r>
            <a:endParaRPr lang="en-US" altLang="zh-CN" sz="2000" i="0">
              <a:latin typeface="Helvetica" pitchFamily="34" charset="0"/>
            </a:endParaRPr>
          </a:p>
        </p:txBody>
      </p:sp>
      <p:sp>
        <p:nvSpPr>
          <p:cNvPr id="16410" name="Line 25"/>
          <p:cNvSpPr>
            <a:spLocks noChangeShapeType="1"/>
          </p:cNvSpPr>
          <p:nvPr/>
        </p:nvSpPr>
        <p:spPr bwMode="auto">
          <a:xfrm>
            <a:off x="3392488" y="2014538"/>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1" name="Line 26"/>
          <p:cNvSpPr>
            <a:spLocks noChangeShapeType="1"/>
          </p:cNvSpPr>
          <p:nvPr/>
        </p:nvSpPr>
        <p:spPr bwMode="auto">
          <a:xfrm>
            <a:off x="3392488" y="2547938"/>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2" name="Line 27"/>
          <p:cNvSpPr>
            <a:spLocks noChangeShapeType="1"/>
          </p:cNvSpPr>
          <p:nvPr/>
        </p:nvSpPr>
        <p:spPr bwMode="auto">
          <a:xfrm flipH="1" flipV="1">
            <a:off x="4611688" y="2090738"/>
            <a:ext cx="2057400" cy="3810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wrap="none" anchor="ctr"/>
          <a:lstStyle/>
          <a:p>
            <a:endParaRPr lang="zh-CN" altLang="en-US"/>
          </a:p>
        </p:txBody>
      </p:sp>
      <p:sp>
        <p:nvSpPr>
          <p:cNvPr id="16413" name="Line 28"/>
          <p:cNvSpPr>
            <a:spLocks noChangeShapeType="1"/>
          </p:cNvSpPr>
          <p:nvPr/>
        </p:nvSpPr>
        <p:spPr bwMode="auto">
          <a:xfrm>
            <a:off x="4687888" y="2547938"/>
            <a:ext cx="1981200" cy="3810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4" name="Text Box 29"/>
          <p:cNvSpPr txBox="1">
            <a:spLocks noChangeArrowheads="1"/>
          </p:cNvSpPr>
          <p:nvPr/>
        </p:nvSpPr>
        <p:spPr bwMode="auto">
          <a:xfrm>
            <a:off x="4851400" y="1797050"/>
            <a:ext cx="1073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i="0" dirty="0">
                <a:latin typeface="Helvetica" pitchFamily="34" charset="0"/>
              </a:rPr>
              <a:t>input(A)</a:t>
            </a:r>
          </a:p>
        </p:txBody>
      </p:sp>
      <p:sp>
        <p:nvSpPr>
          <p:cNvPr id="16415" name="Text Box 30"/>
          <p:cNvSpPr txBox="1">
            <a:spLocks noChangeArrowheads="1"/>
          </p:cNvSpPr>
          <p:nvPr/>
        </p:nvSpPr>
        <p:spPr bwMode="auto">
          <a:xfrm>
            <a:off x="4868863" y="2771636"/>
            <a:ext cx="13083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i="0" dirty="0">
                <a:solidFill>
                  <a:srgbClr val="FF0000"/>
                </a:solidFill>
                <a:latin typeface="Helvetica" pitchFamily="34" charset="0"/>
              </a:rPr>
              <a:t>output(B) </a:t>
            </a:r>
          </a:p>
        </p:txBody>
      </p:sp>
      <p:sp>
        <p:nvSpPr>
          <p:cNvPr id="16416" name="Line 31"/>
          <p:cNvSpPr>
            <a:spLocks noChangeShapeType="1"/>
          </p:cNvSpPr>
          <p:nvPr/>
        </p:nvSpPr>
        <p:spPr bwMode="auto">
          <a:xfrm flipH="1">
            <a:off x="3716338" y="2166938"/>
            <a:ext cx="533400" cy="220980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wrap="none" anchor="ctr"/>
          <a:lstStyle/>
          <a:p>
            <a:endParaRPr lang="zh-CN" altLang="en-US"/>
          </a:p>
        </p:txBody>
      </p:sp>
      <p:sp>
        <p:nvSpPr>
          <p:cNvPr id="16417" name="Line 32"/>
          <p:cNvSpPr>
            <a:spLocks noChangeShapeType="1"/>
          </p:cNvSpPr>
          <p:nvPr/>
        </p:nvSpPr>
        <p:spPr bwMode="auto">
          <a:xfrm flipV="1">
            <a:off x="3849688" y="2700338"/>
            <a:ext cx="609600" cy="2286000"/>
          </a:xfrm>
          <a:prstGeom prst="line">
            <a:avLst/>
          </a:prstGeom>
          <a:ln>
            <a:headEnd/>
            <a:tailEnd type="triangle" w="med" len="med"/>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a:p>
        </p:txBody>
      </p:sp>
      <p:sp>
        <p:nvSpPr>
          <p:cNvPr id="16418" name="Text Box 33"/>
          <p:cNvSpPr txBox="1">
            <a:spLocks noChangeArrowheads="1"/>
          </p:cNvSpPr>
          <p:nvPr/>
        </p:nvSpPr>
        <p:spPr bwMode="auto">
          <a:xfrm>
            <a:off x="3149037" y="3533776"/>
            <a:ext cx="1030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i="0" dirty="0">
                <a:latin typeface="Helvetica" pitchFamily="34" charset="0"/>
              </a:rPr>
              <a:t>read(X)</a:t>
            </a:r>
          </a:p>
        </p:txBody>
      </p:sp>
      <p:sp>
        <p:nvSpPr>
          <p:cNvPr id="16419" name="Text Box 34"/>
          <p:cNvSpPr txBox="1">
            <a:spLocks noChangeArrowheads="1"/>
          </p:cNvSpPr>
          <p:nvPr/>
        </p:nvSpPr>
        <p:spPr bwMode="auto">
          <a:xfrm>
            <a:off x="3913188" y="3174641"/>
            <a:ext cx="1054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i="0" dirty="0">
                <a:latin typeface="Helvetica" pitchFamily="34" charset="0"/>
              </a:rPr>
              <a:t>write(Y)</a:t>
            </a:r>
          </a:p>
        </p:txBody>
      </p:sp>
      <p:sp>
        <p:nvSpPr>
          <p:cNvPr id="16420" name="Text Box 35"/>
          <p:cNvSpPr txBox="1">
            <a:spLocks noChangeArrowheads="1"/>
          </p:cNvSpPr>
          <p:nvPr/>
        </p:nvSpPr>
        <p:spPr bwMode="auto">
          <a:xfrm>
            <a:off x="6592888" y="3525838"/>
            <a:ext cx="7008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zh-CN" altLang="en-US" sz="2000" i="0" dirty="0">
                <a:solidFill>
                  <a:srgbClr val="0000FF"/>
                </a:solidFill>
                <a:latin typeface="Helvetica" pitchFamily="34" charset="0"/>
              </a:rPr>
              <a:t>磁盘</a:t>
            </a:r>
            <a:endParaRPr lang="en-US" altLang="zh-CN" sz="2000" i="0" dirty="0">
              <a:solidFill>
                <a:srgbClr val="0000FF"/>
              </a:solidFill>
              <a:latin typeface="Helvetica" pitchFamily="34" charset="0"/>
            </a:endParaRPr>
          </a:p>
        </p:txBody>
      </p:sp>
      <p:sp>
        <p:nvSpPr>
          <p:cNvPr id="16421" name="Line 36"/>
          <p:cNvSpPr>
            <a:spLocks noChangeShapeType="1"/>
          </p:cNvSpPr>
          <p:nvPr/>
        </p:nvSpPr>
        <p:spPr bwMode="auto">
          <a:xfrm>
            <a:off x="5754688" y="1709738"/>
            <a:ext cx="304800" cy="3048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2" name="Line 37"/>
          <p:cNvSpPr>
            <a:spLocks noChangeShapeType="1"/>
          </p:cNvSpPr>
          <p:nvPr/>
        </p:nvSpPr>
        <p:spPr bwMode="auto">
          <a:xfrm flipH="1">
            <a:off x="5830888" y="2014538"/>
            <a:ext cx="228600" cy="4572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3" name="Line 38"/>
          <p:cNvSpPr>
            <a:spLocks noChangeShapeType="1"/>
          </p:cNvSpPr>
          <p:nvPr/>
        </p:nvSpPr>
        <p:spPr bwMode="auto">
          <a:xfrm>
            <a:off x="5830888" y="2471738"/>
            <a:ext cx="304800" cy="3048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4" name="Line 39"/>
          <p:cNvSpPr>
            <a:spLocks noChangeShapeType="1"/>
          </p:cNvSpPr>
          <p:nvPr/>
        </p:nvSpPr>
        <p:spPr bwMode="auto">
          <a:xfrm flipH="1">
            <a:off x="5907088" y="2776538"/>
            <a:ext cx="228600" cy="4572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5" name="Line 40"/>
          <p:cNvSpPr>
            <a:spLocks noChangeShapeType="1"/>
          </p:cNvSpPr>
          <p:nvPr/>
        </p:nvSpPr>
        <p:spPr bwMode="auto">
          <a:xfrm>
            <a:off x="5907088" y="3233738"/>
            <a:ext cx="304800" cy="3048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6" name="Line 41"/>
          <p:cNvSpPr>
            <a:spLocks noChangeShapeType="1"/>
          </p:cNvSpPr>
          <p:nvPr/>
        </p:nvSpPr>
        <p:spPr bwMode="auto">
          <a:xfrm flipH="1">
            <a:off x="5983288" y="3538538"/>
            <a:ext cx="228600" cy="4572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7" name="Line 42"/>
          <p:cNvSpPr>
            <a:spLocks noChangeShapeType="1"/>
          </p:cNvSpPr>
          <p:nvPr/>
        </p:nvSpPr>
        <p:spPr bwMode="auto">
          <a:xfrm>
            <a:off x="5983288" y="3995738"/>
            <a:ext cx="304800" cy="3048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8" name="Line 43"/>
          <p:cNvSpPr>
            <a:spLocks noChangeShapeType="1"/>
          </p:cNvSpPr>
          <p:nvPr/>
        </p:nvSpPr>
        <p:spPr bwMode="auto">
          <a:xfrm flipH="1">
            <a:off x="6059488" y="4300538"/>
            <a:ext cx="228600" cy="4572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9" name="Line 44"/>
          <p:cNvSpPr>
            <a:spLocks noChangeShapeType="1"/>
          </p:cNvSpPr>
          <p:nvPr/>
        </p:nvSpPr>
        <p:spPr bwMode="auto">
          <a:xfrm>
            <a:off x="6059488" y="4757738"/>
            <a:ext cx="304800" cy="3048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0" name="Line 45"/>
          <p:cNvSpPr>
            <a:spLocks noChangeShapeType="1"/>
          </p:cNvSpPr>
          <p:nvPr/>
        </p:nvSpPr>
        <p:spPr bwMode="auto">
          <a:xfrm flipH="1">
            <a:off x="6135688" y="5062538"/>
            <a:ext cx="228600" cy="4572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1" name="Line 46"/>
          <p:cNvSpPr>
            <a:spLocks noChangeShapeType="1"/>
          </p:cNvSpPr>
          <p:nvPr/>
        </p:nvSpPr>
        <p:spPr bwMode="auto">
          <a:xfrm>
            <a:off x="6135688" y="5519738"/>
            <a:ext cx="304800" cy="3048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2" name="Line 47"/>
          <p:cNvSpPr>
            <a:spLocks noChangeShapeType="1"/>
          </p:cNvSpPr>
          <p:nvPr/>
        </p:nvSpPr>
        <p:spPr bwMode="auto">
          <a:xfrm flipH="1">
            <a:off x="6211888" y="5824538"/>
            <a:ext cx="228600" cy="4572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3" name="Line 48"/>
          <p:cNvSpPr>
            <a:spLocks noChangeShapeType="1"/>
          </p:cNvSpPr>
          <p:nvPr/>
        </p:nvSpPr>
        <p:spPr bwMode="auto">
          <a:xfrm>
            <a:off x="6211888" y="6281738"/>
            <a:ext cx="304800" cy="3048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4" name="Text Box 50"/>
          <p:cNvSpPr txBox="1">
            <a:spLocks noChangeArrowheads="1"/>
          </p:cNvSpPr>
          <p:nvPr/>
        </p:nvSpPr>
        <p:spPr bwMode="auto">
          <a:xfrm>
            <a:off x="2762250" y="5349875"/>
            <a:ext cx="15446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i="0" dirty="0">
                <a:latin typeface="Helvetica" pitchFamily="34" charset="0"/>
              </a:rPr>
              <a:t>T</a:t>
            </a:r>
            <a:r>
              <a:rPr lang="en-US" altLang="zh-CN" sz="2000" i="0" baseline="-25000" dirty="0">
                <a:latin typeface="Helvetica" pitchFamily="34" charset="0"/>
              </a:rPr>
              <a:t>1</a:t>
            </a:r>
            <a:r>
              <a:rPr lang="zh-CN" altLang="en-US" sz="2000" i="0" dirty="0">
                <a:latin typeface="Helvetica" pitchFamily="34" charset="0"/>
              </a:rPr>
              <a:t>的</a:t>
            </a:r>
            <a:r>
              <a:rPr lang="zh-CN" altLang="en-US" sz="2000" i="0" dirty="0">
                <a:solidFill>
                  <a:srgbClr val="0000FF"/>
                </a:solidFill>
                <a:latin typeface="Helvetica" pitchFamily="34" charset="0"/>
              </a:rPr>
              <a:t>工作区</a:t>
            </a:r>
            <a:endParaRPr lang="en-US" altLang="zh-CN" sz="2000" i="0" dirty="0">
              <a:solidFill>
                <a:srgbClr val="0000FF"/>
              </a:solidFill>
              <a:latin typeface="Helvetica" pitchFamily="34" charset="0"/>
            </a:endParaRPr>
          </a:p>
        </p:txBody>
      </p:sp>
      <p:sp>
        <p:nvSpPr>
          <p:cNvPr id="16435" name="Text Box 51"/>
          <p:cNvSpPr txBox="1">
            <a:spLocks noChangeArrowheads="1"/>
          </p:cNvSpPr>
          <p:nvPr/>
        </p:nvSpPr>
        <p:spPr bwMode="auto">
          <a:xfrm>
            <a:off x="4365625" y="5351463"/>
            <a:ext cx="14686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i="0" dirty="0">
                <a:latin typeface="Helvetica" pitchFamily="34" charset="0"/>
              </a:rPr>
              <a:t>T</a:t>
            </a:r>
            <a:r>
              <a:rPr lang="en-US" altLang="zh-CN" sz="2000" i="0" baseline="-25000" dirty="0">
                <a:latin typeface="Helvetica" pitchFamily="34" charset="0"/>
              </a:rPr>
              <a:t>2</a:t>
            </a:r>
            <a:r>
              <a:rPr lang="zh-CN" altLang="en-US" sz="2000" i="0" dirty="0">
                <a:latin typeface="Helvetica" pitchFamily="34" charset="0"/>
              </a:rPr>
              <a:t>的</a:t>
            </a:r>
            <a:r>
              <a:rPr lang="zh-CN" altLang="en-US" sz="2000" i="0" dirty="0">
                <a:solidFill>
                  <a:srgbClr val="0000FF"/>
                </a:solidFill>
                <a:latin typeface="Helvetica" pitchFamily="34" charset="0"/>
              </a:rPr>
              <a:t>工作区</a:t>
            </a:r>
            <a:endParaRPr lang="en-US" altLang="zh-CN" sz="2000" i="0" dirty="0">
              <a:solidFill>
                <a:srgbClr val="0000FF"/>
              </a:solidFill>
              <a:latin typeface="Helvetica" pitchFamily="34" charset="0"/>
            </a:endParaRPr>
          </a:p>
        </p:txBody>
      </p:sp>
      <p:sp>
        <p:nvSpPr>
          <p:cNvPr id="16436" name="Text Box 52"/>
          <p:cNvSpPr txBox="1">
            <a:spLocks noChangeArrowheads="1"/>
          </p:cNvSpPr>
          <p:nvPr/>
        </p:nvSpPr>
        <p:spPr bwMode="auto">
          <a:xfrm>
            <a:off x="3722688" y="5949614"/>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zh-CN" altLang="en-US" sz="2000" i="0">
                <a:latin typeface="Helvetica" pitchFamily="34" charset="0"/>
              </a:rPr>
              <a:t>内存</a:t>
            </a:r>
            <a:endParaRPr lang="en-US" altLang="zh-CN" sz="2000" i="0">
              <a:latin typeface="Helvetica" pitchFamily="34" charset="0"/>
            </a:endParaRPr>
          </a:p>
        </p:txBody>
      </p:sp>
      <p:sp>
        <p:nvSpPr>
          <p:cNvPr id="16437" name="Text Box 53"/>
          <p:cNvSpPr txBox="1">
            <a:spLocks noChangeArrowheads="1"/>
          </p:cNvSpPr>
          <p:nvPr/>
        </p:nvSpPr>
        <p:spPr bwMode="auto">
          <a:xfrm>
            <a:off x="4440238" y="4084638"/>
            <a:ext cx="403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i="0">
                <a:latin typeface="Helvetica" pitchFamily="34" charset="0"/>
              </a:rPr>
              <a:t>x</a:t>
            </a:r>
            <a:r>
              <a:rPr lang="en-US" altLang="zh-CN" sz="2000" b="0" i="0" baseline="-25000">
                <a:latin typeface="Helvetica" pitchFamily="34" charset="0"/>
              </a:rPr>
              <a:t>2</a:t>
            </a:r>
            <a:endParaRPr lang="en-US" altLang="zh-CN" sz="2000" b="0" i="0">
              <a:latin typeface="Helvetica" pitchFamily="34" charset="0"/>
            </a:endParaRPr>
          </a:p>
        </p:txBody>
      </p:sp>
      <p:sp>
        <p:nvSpPr>
          <p:cNvPr id="2" name="标题 1"/>
          <p:cNvSpPr>
            <a:spLocks noGrp="1"/>
          </p:cNvSpPr>
          <p:nvPr>
            <p:ph type="title"/>
          </p:nvPr>
        </p:nvSpPr>
        <p:spPr/>
        <p:txBody>
          <a:bodyPr/>
          <a:lstStyle/>
          <a:p>
            <a:r>
              <a:rPr lang="zh-CN" altLang="en-US" dirty="0"/>
              <a:t>数据存取示例</a:t>
            </a:r>
          </a:p>
        </p:txBody>
      </p:sp>
      <p:sp>
        <p:nvSpPr>
          <p:cNvPr id="3" name="日期占位符 2">
            <a:extLst>
              <a:ext uri="{FF2B5EF4-FFF2-40B4-BE49-F238E27FC236}">
                <a16:creationId xmlns:a16="http://schemas.microsoft.com/office/drawing/2014/main" id="{D39BA74A-311B-941B-E687-B0E39E4A7CA0}"/>
              </a:ext>
            </a:extLst>
          </p:cNvPr>
          <p:cNvSpPr>
            <a:spLocks noGrp="1"/>
          </p:cNvSpPr>
          <p:nvPr>
            <p:ph type="dt" sz="half" idx="10"/>
          </p:nvPr>
        </p:nvSpPr>
        <p:spPr/>
        <p:txBody>
          <a:bodyPr/>
          <a:lstStyle/>
          <a:p>
            <a:fld id="{0669CE0F-4F31-4A11-94A2-2FF1338D639C}" type="datetime1">
              <a:rPr lang="zh-CN" altLang="en-US" smtClean="0"/>
              <a:t>2025/12/24</a:t>
            </a:fld>
            <a:endParaRPr lang="en-US" altLang="zh-CN"/>
          </a:p>
        </p:txBody>
      </p:sp>
      <p:sp>
        <p:nvSpPr>
          <p:cNvPr id="4" name="页脚占位符 3">
            <a:extLst>
              <a:ext uri="{FF2B5EF4-FFF2-40B4-BE49-F238E27FC236}">
                <a16:creationId xmlns:a16="http://schemas.microsoft.com/office/drawing/2014/main" id="{497C00A0-270B-C8EB-C459-A27E835750E7}"/>
              </a:ext>
            </a:extLst>
          </p:cNvPr>
          <p:cNvSpPr>
            <a:spLocks noGrp="1"/>
          </p:cNvSpPr>
          <p:nvPr>
            <p:ph type="ftr" sz="quarter" idx="11"/>
          </p:nvPr>
        </p:nvSpPr>
        <p:spPr/>
        <p:txBody>
          <a:bodyPr/>
          <a:lstStyle/>
          <a:p>
            <a:r>
              <a:rPr lang="en-US" altLang="zh-CN"/>
              <a:t>《数据库系统概论》- 第11章</a:t>
            </a:r>
          </a:p>
        </p:txBody>
      </p:sp>
      <p:sp>
        <p:nvSpPr>
          <p:cNvPr id="5" name="灯片编号占位符 4">
            <a:extLst>
              <a:ext uri="{FF2B5EF4-FFF2-40B4-BE49-F238E27FC236}">
                <a16:creationId xmlns:a16="http://schemas.microsoft.com/office/drawing/2014/main" id="{4F471124-DADF-3DE6-2386-45CDC64FAB7D}"/>
              </a:ext>
            </a:extLst>
          </p:cNvPr>
          <p:cNvSpPr>
            <a:spLocks noGrp="1"/>
          </p:cNvSpPr>
          <p:nvPr>
            <p:ph type="sldNum" sz="quarter" idx="12"/>
          </p:nvPr>
        </p:nvSpPr>
        <p:spPr/>
        <p:txBody>
          <a:bodyPr/>
          <a:lstStyle/>
          <a:p>
            <a:fld id="{AB1F7240-85F2-492B-84D8-762EF0110923}" type="slidenum">
              <a:rPr lang="en-US" altLang="zh-CN" smtClean="0"/>
              <a:pPr/>
              <a:t>28</a:t>
            </a:fld>
            <a:r>
              <a:rPr lang="en-US" altLang="zh-CN"/>
              <a:t>/67</a:t>
            </a:r>
            <a:endParaRPr lang="zh-CN" altLang="en-US" dirty="0"/>
          </a:p>
        </p:txBody>
      </p:sp>
      <p:grpSp>
        <p:nvGrpSpPr>
          <p:cNvPr id="11" name="组合 10">
            <a:extLst>
              <a:ext uri="{FF2B5EF4-FFF2-40B4-BE49-F238E27FC236}">
                <a16:creationId xmlns:a16="http://schemas.microsoft.com/office/drawing/2014/main" id="{C540B5C6-1303-0937-34BE-47B71E1908B7}"/>
              </a:ext>
            </a:extLst>
          </p:cNvPr>
          <p:cNvGrpSpPr/>
          <p:nvPr/>
        </p:nvGrpSpPr>
        <p:grpSpPr>
          <a:xfrm rot="17771190">
            <a:off x="4162707" y="2069329"/>
            <a:ext cx="457200" cy="1828799"/>
            <a:chOff x="5907088" y="1862138"/>
            <a:chExt cx="457200" cy="1828799"/>
          </a:xfrm>
        </p:grpSpPr>
        <p:sp>
          <p:nvSpPr>
            <p:cNvPr id="6" name="Line 36">
              <a:extLst>
                <a:ext uri="{FF2B5EF4-FFF2-40B4-BE49-F238E27FC236}">
                  <a16:creationId xmlns:a16="http://schemas.microsoft.com/office/drawing/2014/main" id="{CA786B0B-CC51-EEDF-4EE9-7E11486C058A}"/>
                </a:ext>
              </a:extLst>
            </p:cNvPr>
            <p:cNvSpPr>
              <a:spLocks noChangeShapeType="1"/>
            </p:cNvSpPr>
            <p:nvPr/>
          </p:nvSpPr>
          <p:spPr bwMode="auto">
            <a:xfrm>
              <a:off x="5907088" y="1862138"/>
              <a:ext cx="304800" cy="3048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37">
              <a:extLst>
                <a:ext uri="{FF2B5EF4-FFF2-40B4-BE49-F238E27FC236}">
                  <a16:creationId xmlns:a16="http://schemas.microsoft.com/office/drawing/2014/main" id="{FE149274-4C27-4946-3EFB-16D52A95F25B}"/>
                </a:ext>
              </a:extLst>
            </p:cNvPr>
            <p:cNvSpPr>
              <a:spLocks noChangeShapeType="1"/>
            </p:cNvSpPr>
            <p:nvPr/>
          </p:nvSpPr>
          <p:spPr bwMode="auto">
            <a:xfrm flipH="1">
              <a:off x="5983288" y="2166938"/>
              <a:ext cx="228600" cy="4572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38">
              <a:extLst>
                <a:ext uri="{FF2B5EF4-FFF2-40B4-BE49-F238E27FC236}">
                  <a16:creationId xmlns:a16="http://schemas.microsoft.com/office/drawing/2014/main" id="{56099352-9D7D-3210-1E9F-520D11848B2B}"/>
                </a:ext>
              </a:extLst>
            </p:cNvPr>
            <p:cNvSpPr>
              <a:spLocks noChangeShapeType="1"/>
            </p:cNvSpPr>
            <p:nvPr/>
          </p:nvSpPr>
          <p:spPr bwMode="auto">
            <a:xfrm>
              <a:off x="5983288" y="2624138"/>
              <a:ext cx="304800" cy="30480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39">
              <a:extLst>
                <a:ext uri="{FF2B5EF4-FFF2-40B4-BE49-F238E27FC236}">
                  <a16:creationId xmlns:a16="http://schemas.microsoft.com/office/drawing/2014/main" id="{9943F61F-71A3-5EDF-C6D4-F0CAE8417423}"/>
                </a:ext>
              </a:extLst>
            </p:cNvPr>
            <p:cNvSpPr>
              <a:spLocks noChangeShapeType="1"/>
            </p:cNvSpPr>
            <p:nvPr/>
          </p:nvSpPr>
          <p:spPr bwMode="auto">
            <a:xfrm flipH="1">
              <a:off x="6163477" y="2928937"/>
              <a:ext cx="124611" cy="535540"/>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40">
              <a:extLst>
                <a:ext uri="{FF2B5EF4-FFF2-40B4-BE49-F238E27FC236}">
                  <a16:creationId xmlns:a16="http://schemas.microsoft.com/office/drawing/2014/main" id="{2A042DCB-7F7D-5AAA-8A45-B02BA86ED0A1}"/>
                </a:ext>
              </a:extLst>
            </p:cNvPr>
            <p:cNvSpPr>
              <a:spLocks noChangeShapeType="1"/>
            </p:cNvSpPr>
            <p:nvPr/>
          </p:nvSpPr>
          <p:spPr bwMode="auto">
            <a:xfrm>
              <a:off x="6158667" y="3488952"/>
              <a:ext cx="205621" cy="201985"/>
            </a:xfrm>
            <a:prstGeom prst="line">
              <a:avLst/>
            </a:prstGeom>
            <a:noFill/>
            <a:ln w="19050">
              <a:solidFill>
                <a:srgbClr val="CC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87499396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zh-CN" altLang="en-US"/>
              <a:t>数据存取</a:t>
            </a:r>
            <a:r>
              <a:rPr lang="en-US" altLang="zh-CN" baseline="30000"/>
              <a:t>(</a:t>
            </a:r>
            <a:r>
              <a:rPr lang="zh-CN" altLang="en-US" baseline="30000"/>
              <a:t>续</a:t>
            </a:r>
            <a:r>
              <a:rPr lang="en-US" altLang="zh-CN" baseline="30000"/>
              <a:t>)</a:t>
            </a:r>
          </a:p>
        </p:txBody>
      </p:sp>
      <p:sp>
        <p:nvSpPr>
          <p:cNvPr id="15364" name="Rectangle 3"/>
          <p:cNvSpPr>
            <a:spLocks noGrp="1" noChangeArrowheads="1"/>
          </p:cNvSpPr>
          <p:nvPr>
            <p:ph type="body" idx="4294967295"/>
          </p:nvPr>
        </p:nvSpPr>
        <p:spPr>
          <a:xfrm>
            <a:off x="755576" y="1412777"/>
            <a:ext cx="8226425" cy="4392488"/>
          </a:xfrm>
        </p:spPr>
        <p:txBody>
          <a:bodyPr/>
          <a:lstStyle/>
          <a:p>
            <a:pPr eaLnBrk="1" hangingPunct="1">
              <a:lnSpc>
                <a:spcPct val="110000"/>
              </a:lnSpc>
            </a:pPr>
            <a:r>
              <a:rPr lang="zh-CN" altLang="en-US" sz="2500" b="1" dirty="0"/>
              <a:t>事务</a:t>
            </a:r>
            <a:r>
              <a:rPr lang="zh-CN" altLang="en-US" sz="2500" dirty="0"/>
              <a:t>使用下列操作在</a:t>
            </a:r>
            <a:r>
              <a:rPr lang="zh-CN" altLang="en-US" sz="2500" dirty="0">
                <a:solidFill>
                  <a:srgbClr val="0000FF"/>
                </a:solidFill>
              </a:rPr>
              <a:t>系统缓冲块</a:t>
            </a:r>
            <a:r>
              <a:rPr lang="zh-CN" altLang="en-US" sz="2500" dirty="0"/>
              <a:t>和它的</a:t>
            </a:r>
            <a:r>
              <a:rPr lang="zh-CN" altLang="en-US" sz="2500" dirty="0">
                <a:solidFill>
                  <a:srgbClr val="0000FF"/>
                </a:solidFill>
              </a:rPr>
              <a:t>私有工作区</a:t>
            </a:r>
            <a:r>
              <a:rPr lang="zh-CN" altLang="en-US" sz="2500" dirty="0"/>
              <a:t>之间</a:t>
            </a:r>
            <a:r>
              <a:rPr lang="zh-CN" altLang="en-US" sz="2500" dirty="0">
                <a:solidFill>
                  <a:srgbClr val="FF0000"/>
                </a:solidFill>
              </a:rPr>
              <a:t>传送数据项</a:t>
            </a:r>
            <a:endParaRPr lang="en-US" altLang="zh-CN" sz="2500" dirty="0">
              <a:solidFill>
                <a:srgbClr val="FF0000"/>
              </a:solidFill>
            </a:endParaRPr>
          </a:p>
          <a:p>
            <a:pPr lvl="1" eaLnBrk="1" hangingPunct="1">
              <a:lnSpc>
                <a:spcPct val="110000"/>
              </a:lnSpc>
            </a:pPr>
            <a:r>
              <a:rPr lang="en-US" altLang="zh-CN" sz="2100" dirty="0">
                <a:solidFill>
                  <a:schemeClr val="tx2"/>
                </a:solidFill>
              </a:rPr>
              <a:t>read</a:t>
            </a:r>
            <a:r>
              <a:rPr lang="en-US" altLang="zh-CN" sz="2100" dirty="0"/>
              <a:t>(X) </a:t>
            </a:r>
            <a:r>
              <a:rPr lang="zh-CN" altLang="en-US" sz="2100" dirty="0"/>
              <a:t>将</a:t>
            </a:r>
            <a:r>
              <a:rPr lang="zh-CN" altLang="en-US" sz="2100" dirty="0">
                <a:solidFill>
                  <a:srgbClr val="0000FF"/>
                </a:solidFill>
              </a:rPr>
              <a:t>缓冲块</a:t>
            </a:r>
            <a:r>
              <a:rPr lang="zh-CN" altLang="en-US" sz="2100" dirty="0"/>
              <a:t>中数据项</a:t>
            </a:r>
            <a:r>
              <a:rPr lang="en-US" altLang="zh-CN" sz="2100" dirty="0"/>
              <a:t>X</a:t>
            </a:r>
            <a:r>
              <a:rPr lang="zh-CN" altLang="en-US" sz="2100" dirty="0"/>
              <a:t>的值</a:t>
            </a:r>
            <a:r>
              <a:rPr lang="zh-CN" altLang="en-US" sz="2100" dirty="0">
                <a:solidFill>
                  <a:srgbClr val="FF0000"/>
                </a:solidFill>
              </a:rPr>
              <a:t>赋给</a:t>
            </a:r>
            <a:r>
              <a:rPr lang="zh-CN" altLang="en-US" sz="2100" dirty="0"/>
              <a:t>局部变量</a:t>
            </a:r>
            <a:r>
              <a:rPr lang="en-US" altLang="zh-CN" sz="2100" dirty="0"/>
              <a:t>x</a:t>
            </a:r>
            <a:r>
              <a:rPr lang="en-US" altLang="zh-CN" sz="2100" baseline="-25000" dirty="0"/>
              <a:t>i</a:t>
            </a:r>
          </a:p>
          <a:p>
            <a:pPr lvl="2">
              <a:lnSpc>
                <a:spcPct val="110000"/>
              </a:lnSpc>
            </a:pPr>
            <a:r>
              <a:rPr lang="zh-CN" altLang="en-US" sz="1800" dirty="0"/>
              <a:t>如果</a:t>
            </a:r>
            <a:r>
              <a:rPr lang="en-US" altLang="zh-CN" sz="1800" dirty="0"/>
              <a:t>X</a:t>
            </a:r>
            <a:r>
              <a:rPr lang="zh-CN" altLang="en-US" sz="1800" dirty="0"/>
              <a:t>所在的</a:t>
            </a:r>
            <a:r>
              <a:rPr lang="zh-CN" altLang="en-US" sz="1800" dirty="0">
                <a:solidFill>
                  <a:srgbClr val="0000FF"/>
                </a:solidFill>
              </a:rPr>
              <a:t>块</a:t>
            </a:r>
            <a:r>
              <a:rPr lang="en-US" altLang="zh-CN" sz="1800" dirty="0">
                <a:solidFill>
                  <a:srgbClr val="0000FF"/>
                </a:solidFill>
              </a:rPr>
              <a:t>B</a:t>
            </a:r>
            <a:r>
              <a:rPr lang="en-US" altLang="zh-CN" sz="1800" baseline="-25000" dirty="0">
                <a:solidFill>
                  <a:srgbClr val="0000FF"/>
                </a:solidFill>
              </a:rPr>
              <a:t>X</a:t>
            </a:r>
            <a:r>
              <a:rPr lang="zh-CN" altLang="en-US" sz="1800" dirty="0"/>
              <a:t>当前</a:t>
            </a:r>
            <a:r>
              <a:rPr lang="zh-CN" altLang="en-US" sz="1800" dirty="0">
                <a:solidFill>
                  <a:srgbClr val="0000FF"/>
                </a:solidFill>
              </a:rPr>
              <a:t>不在主存</a:t>
            </a:r>
            <a:r>
              <a:rPr lang="zh-CN" altLang="en-US" sz="1800" dirty="0"/>
              <a:t>中的话，则发指令</a:t>
            </a:r>
            <a:r>
              <a:rPr lang="zh-CN" altLang="en-US" sz="1800" dirty="0">
                <a:solidFill>
                  <a:srgbClr val="0000FF"/>
                </a:solidFill>
              </a:rPr>
              <a:t>执行</a:t>
            </a:r>
            <a:r>
              <a:rPr lang="en-US" altLang="zh-CN" sz="1800" dirty="0">
                <a:solidFill>
                  <a:srgbClr val="0000FF"/>
                </a:solidFill>
              </a:rPr>
              <a:t>input(B</a:t>
            </a:r>
            <a:r>
              <a:rPr lang="en-US" altLang="zh-CN" sz="1800" baseline="-25000" dirty="0">
                <a:solidFill>
                  <a:srgbClr val="0000FF"/>
                </a:solidFill>
              </a:rPr>
              <a:t>X</a:t>
            </a:r>
            <a:r>
              <a:rPr lang="en-US" altLang="zh-CN" sz="1800" dirty="0">
                <a:solidFill>
                  <a:srgbClr val="0000FF"/>
                </a:solidFill>
              </a:rPr>
              <a:t>)</a:t>
            </a:r>
          </a:p>
          <a:p>
            <a:pPr lvl="2">
              <a:lnSpc>
                <a:spcPct val="110000"/>
              </a:lnSpc>
            </a:pPr>
            <a:r>
              <a:rPr lang="zh-CN" altLang="en-US" sz="1800" dirty="0"/>
              <a:t>将</a:t>
            </a:r>
            <a:r>
              <a:rPr lang="zh-CN" altLang="en-US" sz="1800" dirty="0">
                <a:solidFill>
                  <a:srgbClr val="0000FF"/>
                </a:solidFill>
              </a:rPr>
              <a:t>缓冲块中</a:t>
            </a:r>
            <a:r>
              <a:rPr lang="en-US" altLang="zh-CN" sz="1800" dirty="0">
                <a:solidFill>
                  <a:srgbClr val="0000FF"/>
                </a:solidFill>
              </a:rPr>
              <a:t>X</a:t>
            </a:r>
            <a:r>
              <a:rPr lang="zh-CN" altLang="en-US" sz="1800" dirty="0"/>
              <a:t>的值</a:t>
            </a:r>
            <a:r>
              <a:rPr lang="zh-CN" altLang="en-US" sz="1800" dirty="0">
                <a:solidFill>
                  <a:srgbClr val="0000FF"/>
                </a:solidFill>
              </a:rPr>
              <a:t>赋予</a:t>
            </a:r>
            <a:r>
              <a:rPr lang="en-US" altLang="zh-CN" sz="1800" dirty="0">
                <a:solidFill>
                  <a:srgbClr val="0000FF"/>
                </a:solidFill>
              </a:rPr>
              <a:t>x</a:t>
            </a:r>
            <a:r>
              <a:rPr lang="en-US" altLang="zh-CN" sz="1800" baseline="-25000" dirty="0">
                <a:solidFill>
                  <a:srgbClr val="0000FF"/>
                </a:solidFill>
              </a:rPr>
              <a:t>i</a:t>
            </a:r>
            <a:endParaRPr lang="en-US" altLang="zh-CN" sz="1700" dirty="0">
              <a:solidFill>
                <a:srgbClr val="0000FF"/>
              </a:solidFill>
            </a:endParaRPr>
          </a:p>
          <a:p>
            <a:pPr lvl="1" eaLnBrk="1" hangingPunct="1">
              <a:lnSpc>
                <a:spcPct val="110000"/>
              </a:lnSpc>
            </a:pPr>
            <a:r>
              <a:rPr lang="en-US" altLang="zh-CN" sz="2100" dirty="0">
                <a:solidFill>
                  <a:schemeClr val="tx2"/>
                </a:solidFill>
              </a:rPr>
              <a:t>write</a:t>
            </a:r>
            <a:r>
              <a:rPr lang="en-US" altLang="zh-CN" sz="2100" dirty="0"/>
              <a:t>(X) </a:t>
            </a:r>
            <a:r>
              <a:rPr lang="zh-CN" altLang="en-US" sz="2100" dirty="0"/>
              <a:t>将局部变量</a:t>
            </a:r>
            <a:r>
              <a:rPr lang="en-US" altLang="zh-CN" sz="2100" dirty="0"/>
              <a:t>x</a:t>
            </a:r>
            <a:r>
              <a:rPr lang="en-US" altLang="zh-CN" sz="2100" baseline="-25000" dirty="0"/>
              <a:t>i</a:t>
            </a:r>
            <a:r>
              <a:rPr lang="zh-CN" altLang="en-US" sz="2100" dirty="0"/>
              <a:t>的值</a:t>
            </a:r>
            <a:r>
              <a:rPr lang="zh-CN" altLang="en-US" sz="2100" dirty="0">
                <a:solidFill>
                  <a:srgbClr val="FF0000"/>
                </a:solidFill>
              </a:rPr>
              <a:t>赋给</a:t>
            </a:r>
            <a:r>
              <a:rPr lang="zh-CN" altLang="en-US" sz="2100" dirty="0">
                <a:solidFill>
                  <a:srgbClr val="0000FF"/>
                </a:solidFill>
              </a:rPr>
              <a:t>缓冲块</a:t>
            </a:r>
            <a:r>
              <a:rPr lang="zh-CN" altLang="en-US" sz="2100" dirty="0"/>
              <a:t>中的数据项</a:t>
            </a:r>
            <a:r>
              <a:rPr lang="en-US" altLang="zh-CN" sz="2100" dirty="0"/>
              <a:t>X</a:t>
            </a:r>
          </a:p>
          <a:p>
            <a:pPr lvl="2">
              <a:lnSpc>
                <a:spcPct val="110000"/>
              </a:lnSpc>
            </a:pPr>
            <a:r>
              <a:rPr lang="zh-CN" altLang="en-US" sz="1700" dirty="0"/>
              <a:t>如果</a:t>
            </a:r>
            <a:r>
              <a:rPr lang="en-US" altLang="zh-CN" sz="1700" dirty="0"/>
              <a:t>X</a:t>
            </a:r>
            <a:r>
              <a:rPr lang="zh-CN" altLang="en-US" sz="1700" dirty="0"/>
              <a:t>所在的</a:t>
            </a:r>
            <a:r>
              <a:rPr lang="zh-CN" altLang="en-US" sz="1700" dirty="0">
                <a:solidFill>
                  <a:srgbClr val="0000FF"/>
                </a:solidFill>
              </a:rPr>
              <a:t>块</a:t>
            </a:r>
            <a:r>
              <a:rPr lang="en-US" altLang="zh-CN" sz="1700" dirty="0">
                <a:solidFill>
                  <a:srgbClr val="0000FF"/>
                </a:solidFill>
              </a:rPr>
              <a:t>B</a:t>
            </a:r>
            <a:r>
              <a:rPr lang="en-US" altLang="zh-CN" sz="1700" baseline="-25000" dirty="0">
                <a:solidFill>
                  <a:srgbClr val="0000FF"/>
                </a:solidFill>
              </a:rPr>
              <a:t>X</a:t>
            </a:r>
            <a:r>
              <a:rPr lang="zh-CN" altLang="en-US" sz="1700" dirty="0"/>
              <a:t>当前</a:t>
            </a:r>
            <a:r>
              <a:rPr lang="zh-CN" altLang="en-US" sz="1700" dirty="0">
                <a:solidFill>
                  <a:srgbClr val="0000FF"/>
                </a:solidFill>
              </a:rPr>
              <a:t>不在主存</a:t>
            </a:r>
            <a:r>
              <a:rPr lang="zh-CN" altLang="en-US" sz="1700" dirty="0"/>
              <a:t>中的话，则发指令</a:t>
            </a:r>
            <a:r>
              <a:rPr lang="zh-CN" altLang="en-US" sz="1700" dirty="0">
                <a:solidFill>
                  <a:srgbClr val="0000FF"/>
                </a:solidFill>
              </a:rPr>
              <a:t>执行</a:t>
            </a:r>
            <a:r>
              <a:rPr lang="en-US" altLang="zh-CN" sz="1700" dirty="0">
                <a:solidFill>
                  <a:srgbClr val="0000FF"/>
                </a:solidFill>
              </a:rPr>
              <a:t>input(B</a:t>
            </a:r>
            <a:r>
              <a:rPr lang="en-US" altLang="zh-CN" sz="1700" baseline="-25000" dirty="0">
                <a:solidFill>
                  <a:srgbClr val="0000FF"/>
                </a:solidFill>
              </a:rPr>
              <a:t>X</a:t>
            </a:r>
            <a:r>
              <a:rPr lang="en-US" altLang="zh-CN" sz="1700" dirty="0">
                <a:solidFill>
                  <a:srgbClr val="0000FF"/>
                </a:solidFill>
              </a:rPr>
              <a:t>)</a:t>
            </a:r>
          </a:p>
          <a:p>
            <a:pPr lvl="2">
              <a:lnSpc>
                <a:spcPct val="110000"/>
              </a:lnSpc>
            </a:pPr>
            <a:r>
              <a:rPr lang="zh-CN" altLang="en-US" sz="1800" dirty="0"/>
              <a:t>将</a:t>
            </a:r>
            <a:r>
              <a:rPr lang="en-US" altLang="zh-CN" sz="1800" dirty="0">
                <a:solidFill>
                  <a:srgbClr val="0000FF"/>
                </a:solidFill>
              </a:rPr>
              <a:t>x</a:t>
            </a:r>
            <a:r>
              <a:rPr lang="en-US" altLang="zh-CN" sz="1800" baseline="-25000" dirty="0">
                <a:solidFill>
                  <a:srgbClr val="0000FF"/>
                </a:solidFill>
              </a:rPr>
              <a:t>i</a:t>
            </a:r>
            <a:r>
              <a:rPr lang="zh-CN" altLang="en-US" sz="1800" dirty="0">
                <a:solidFill>
                  <a:srgbClr val="0000FF"/>
                </a:solidFill>
              </a:rPr>
              <a:t>的值</a:t>
            </a:r>
            <a:r>
              <a:rPr lang="zh-CN" altLang="en-US" sz="1800" dirty="0"/>
              <a:t>赋予</a:t>
            </a:r>
            <a:r>
              <a:rPr lang="zh-CN" altLang="en-US" sz="1800" dirty="0">
                <a:solidFill>
                  <a:srgbClr val="0000FF"/>
                </a:solidFill>
              </a:rPr>
              <a:t>缓冲块</a:t>
            </a:r>
            <a:r>
              <a:rPr lang="en-US" altLang="zh-CN" sz="1800" dirty="0">
                <a:solidFill>
                  <a:srgbClr val="0000FF"/>
                </a:solidFill>
              </a:rPr>
              <a:t>B</a:t>
            </a:r>
            <a:r>
              <a:rPr lang="en-US" altLang="zh-CN" sz="1800" baseline="-25000" dirty="0">
                <a:solidFill>
                  <a:srgbClr val="0000FF"/>
                </a:solidFill>
              </a:rPr>
              <a:t>X</a:t>
            </a:r>
            <a:r>
              <a:rPr lang="zh-CN" altLang="en-US" sz="1800" dirty="0">
                <a:solidFill>
                  <a:srgbClr val="0000FF"/>
                </a:solidFill>
              </a:rPr>
              <a:t>中</a:t>
            </a:r>
            <a:r>
              <a:rPr lang="en-US" altLang="zh-CN" sz="1800" dirty="0">
                <a:solidFill>
                  <a:srgbClr val="0000FF"/>
                </a:solidFill>
              </a:rPr>
              <a:t>X</a:t>
            </a:r>
          </a:p>
          <a:p>
            <a:pPr lvl="1">
              <a:lnSpc>
                <a:spcPct val="110000"/>
              </a:lnSpc>
            </a:pPr>
            <a:r>
              <a:rPr lang="zh-CN" altLang="en-US" sz="2200" dirty="0"/>
              <a:t>两条命令在</a:t>
            </a:r>
            <a:r>
              <a:rPr lang="zh-CN" altLang="en-US" sz="2200" dirty="0">
                <a:solidFill>
                  <a:srgbClr val="0000FF"/>
                </a:solidFill>
              </a:rPr>
              <a:t>赋值前</a:t>
            </a:r>
            <a:r>
              <a:rPr lang="zh-CN" altLang="en-US" sz="2200" dirty="0"/>
              <a:t>都可能要求发出</a:t>
            </a:r>
            <a:r>
              <a:rPr lang="en-US" altLang="zh-CN" sz="2200" dirty="0"/>
              <a:t>input(B</a:t>
            </a:r>
            <a:r>
              <a:rPr lang="en-US" altLang="zh-CN" sz="2200" baseline="-25000" dirty="0"/>
              <a:t>X</a:t>
            </a:r>
            <a:r>
              <a:rPr lang="en-US" altLang="zh-CN" sz="2200" dirty="0"/>
              <a:t>)</a:t>
            </a:r>
            <a:r>
              <a:rPr lang="zh-CN" altLang="en-US" sz="2200" dirty="0"/>
              <a:t>指令</a:t>
            </a:r>
            <a:endParaRPr lang="en-US" altLang="zh-CN" sz="2100" dirty="0"/>
          </a:p>
          <a:p>
            <a:pPr lvl="1" eaLnBrk="1" hangingPunct="1">
              <a:lnSpc>
                <a:spcPct val="110000"/>
              </a:lnSpc>
            </a:pPr>
            <a:r>
              <a:rPr lang="en-US" altLang="zh-CN" sz="2100" u="sng" dirty="0"/>
              <a:t>output(B</a:t>
            </a:r>
            <a:r>
              <a:rPr lang="en-US" altLang="zh-CN" sz="2100" u="sng" baseline="-25000" dirty="0"/>
              <a:t>X</a:t>
            </a:r>
            <a:r>
              <a:rPr lang="en-US" altLang="zh-CN" sz="2100" u="sng" dirty="0"/>
              <a:t>)</a:t>
            </a:r>
            <a:r>
              <a:rPr lang="zh-CN" altLang="en-US" sz="2100" u="sng" dirty="0"/>
              <a:t>不必紧随</a:t>
            </a:r>
            <a:r>
              <a:rPr lang="en-US" altLang="zh-CN" sz="2100" u="sng" dirty="0"/>
              <a:t>write(X)</a:t>
            </a:r>
            <a:r>
              <a:rPr lang="zh-CN" altLang="en-US" sz="2100" u="sng" dirty="0"/>
              <a:t>立即执行，系统可在它认为</a:t>
            </a:r>
            <a:r>
              <a:rPr lang="zh-CN" altLang="en-US" sz="2100" b="1" u="sng" dirty="0">
                <a:solidFill>
                  <a:srgbClr val="FF0000"/>
                </a:solidFill>
              </a:rPr>
              <a:t>适当的时候</a:t>
            </a:r>
            <a:r>
              <a:rPr lang="zh-CN" altLang="en-US" sz="2100" u="sng" dirty="0"/>
              <a:t>执行</a:t>
            </a:r>
            <a:r>
              <a:rPr lang="en-US" altLang="zh-CN" sz="2100" u="sng" dirty="0">
                <a:solidFill>
                  <a:srgbClr val="0000FF"/>
                </a:solidFill>
              </a:rPr>
              <a:t>output</a:t>
            </a:r>
            <a:r>
              <a:rPr lang="zh-CN" altLang="en-US" sz="2100" u="sng" dirty="0">
                <a:solidFill>
                  <a:srgbClr val="0000FF"/>
                </a:solidFill>
              </a:rPr>
              <a:t>操作</a:t>
            </a:r>
            <a:r>
              <a:rPr lang="zh-CN" altLang="en-US" sz="2100" u="sng" dirty="0"/>
              <a:t>，</a:t>
            </a:r>
            <a:r>
              <a:rPr lang="zh-CN" altLang="en-US" sz="2100" b="1" u="sng" dirty="0"/>
              <a:t>写入磁盘</a:t>
            </a:r>
            <a:r>
              <a:rPr lang="zh-CN" altLang="en-US" sz="2100" u="sng" dirty="0"/>
              <a:t>。</a:t>
            </a:r>
            <a:endParaRPr lang="en-US" altLang="zh-CN" sz="2100" u="sng" dirty="0"/>
          </a:p>
        </p:txBody>
      </p:sp>
      <p:sp>
        <p:nvSpPr>
          <p:cNvPr id="2" name="TextBox 1"/>
          <p:cNvSpPr txBox="1"/>
          <p:nvPr/>
        </p:nvSpPr>
        <p:spPr>
          <a:xfrm>
            <a:off x="1570831" y="5862676"/>
            <a:ext cx="6647974" cy="4247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t>什么是适当的时候？未成功执行会发生什么呢？</a:t>
            </a:r>
          </a:p>
        </p:txBody>
      </p:sp>
      <p:sp>
        <p:nvSpPr>
          <p:cNvPr id="3" name="日期占位符 2">
            <a:extLst>
              <a:ext uri="{FF2B5EF4-FFF2-40B4-BE49-F238E27FC236}">
                <a16:creationId xmlns:a16="http://schemas.microsoft.com/office/drawing/2014/main" id="{8D8783DD-FE90-6482-04C5-7B528685237C}"/>
              </a:ext>
            </a:extLst>
          </p:cNvPr>
          <p:cNvSpPr>
            <a:spLocks noGrp="1"/>
          </p:cNvSpPr>
          <p:nvPr>
            <p:ph type="dt" sz="half" idx="10"/>
          </p:nvPr>
        </p:nvSpPr>
        <p:spPr/>
        <p:txBody>
          <a:bodyPr/>
          <a:lstStyle/>
          <a:p>
            <a:fld id="{7345E1C5-5215-45E3-904E-CBA058FFED9C}" type="datetime1">
              <a:rPr lang="zh-CN" altLang="en-US" smtClean="0"/>
              <a:t>2025/12/24</a:t>
            </a:fld>
            <a:endParaRPr lang="en-US" altLang="zh-CN"/>
          </a:p>
        </p:txBody>
      </p:sp>
      <p:sp>
        <p:nvSpPr>
          <p:cNvPr id="4" name="页脚占位符 3">
            <a:extLst>
              <a:ext uri="{FF2B5EF4-FFF2-40B4-BE49-F238E27FC236}">
                <a16:creationId xmlns:a16="http://schemas.microsoft.com/office/drawing/2014/main" id="{91E19638-B78D-9EBD-8AC1-E637D873F12E}"/>
              </a:ext>
            </a:extLst>
          </p:cNvPr>
          <p:cNvSpPr>
            <a:spLocks noGrp="1"/>
          </p:cNvSpPr>
          <p:nvPr>
            <p:ph type="ftr" sz="quarter" idx="11"/>
          </p:nvPr>
        </p:nvSpPr>
        <p:spPr/>
        <p:txBody>
          <a:bodyPr/>
          <a:lstStyle/>
          <a:p>
            <a:r>
              <a:rPr lang="en-US" altLang="zh-CN"/>
              <a:t>《数据库系统概论》- 第11章</a:t>
            </a:r>
          </a:p>
        </p:txBody>
      </p:sp>
      <p:sp>
        <p:nvSpPr>
          <p:cNvPr id="5" name="灯片编号占位符 4">
            <a:extLst>
              <a:ext uri="{FF2B5EF4-FFF2-40B4-BE49-F238E27FC236}">
                <a16:creationId xmlns:a16="http://schemas.microsoft.com/office/drawing/2014/main" id="{6C3027DF-C7E6-76AE-8C25-A5CAF0B54C82}"/>
              </a:ext>
            </a:extLst>
          </p:cNvPr>
          <p:cNvSpPr>
            <a:spLocks noGrp="1"/>
          </p:cNvSpPr>
          <p:nvPr>
            <p:ph type="sldNum" sz="quarter" idx="12"/>
          </p:nvPr>
        </p:nvSpPr>
        <p:spPr/>
        <p:txBody>
          <a:bodyPr/>
          <a:lstStyle/>
          <a:p>
            <a:fld id="{AB1F7240-85F2-492B-84D8-762EF0110923}" type="slidenum">
              <a:rPr lang="en-US" altLang="zh-CN" smtClean="0"/>
              <a:pPr/>
              <a:t>29</a:t>
            </a:fld>
            <a:r>
              <a:rPr lang="en-US" altLang="zh-CN"/>
              <a:t>/67</a:t>
            </a:r>
            <a:endParaRPr lang="zh-CN" altLang="en-US" dirty="0"/>
          </a:p>
        </p:txBody>
      </p:sp>
    </p:spTree>
    <p:extLst>
      <p:ext uri="{BB962C8B-B14F-4D97-AF65-F5344CB8AC3E}">
        <p14:creationId xmlns:p14="http://schemas.microsoft.com/office/powerpoint/2010/main" val="133495770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zh-CN" altLang="en-US"/>
              <a:t>数据存取</a:t>
            </a:r>
            <a:r>
              <a:rPr lang="en-US" altLang="zh-CN" baseline="30000"/>
              <a:t>(</a:t>
            </a:r>
            <a:r>
              <a:rPr lang="zh-CN" altLang="en-US" baseline="30000"/>
              <a:t>续</a:t>
            </a:r>
            <a:r>
              <a:rPr lang="en-US" altLang="zh-CN" baseline="30000"/>
              <a:t>)</a:t>
            </a:r>
          </a:p>
        </p:txBody>
      </p:sp>
      <p:sp>
        <p:nvSpPr>
          <p:cNvPr id="15364" name="Rectangle 3"/>
          <p:cNvSpPr>
            <a:spLocks noGrp="1" noChangeArrowheads="1"/>
          </p:cNvSpPr>
          <p:nvPr>
            <p:ph type="body" idx="4294967295"/>
          </p:nvPr>
        </p:nvSpPr>
        <p:spPr>
          <a:xfrm>
            <a:off x="755576" y="1412776"/>
            <a:ext cx="8226425" cy="5170487"/>
          </a:xfrm>
        </p:spPr>
        <p:txBody>
          <a:bodyPr/>
          <a:lstStyle/>
          <a:p>
            <a:pPr eaLnBrk="1" hangingPunct="1">
              <a:lnSpc>
                <a:spcPct val="110000"/>
              </a:lnSpc>
            </a:pPr>
            <a:r>
              <a:rPr lang="zh-CN" altLang="en-US" sz="2500" b="1" dirty="0"/>
              <a:t>事务</a:t>
            </a:r>
            <a:r>
              <a:rPr lang="zh-CN" altLang="en-US" sz="2500" dirty="0"/>
              <a:t>中</a:t>
            </a:r>
            <a:r>
              <a:rPr lang="zh-CN" altLang="en-US" sz="2500" b="1" dirty="0"/>
              <a:t>数据存取</a:t>
            </a:r>
            <a:r>
              <a:rPr lang="zh-CN" altLang="en-US" sz="2500" dirty="0"/>
              <a:t>的一般</a:t>
            </a:r>
            <a:r>
              <a:rPr lang="zh-CN" altLang="en-US" sz="2500" b="1" dirty="0"/>
              <a:t>过程</a:t>
            </a:r>
            <a:r>
              <a:rPr lang="zh-CN" altLang="en-US" sz="2500" dirty="0"/>
              <a:t>：</a:t>
            </a:r>
            <a:endParaRPr lang="en-US" altLang="zh-CN" sz="2500" dirty="0"/>
          </a:p>
          <a:p>
            <a:pPr lvl="1" eaLnBrk="1" hangingPunct="1">
              <a:lnSpc>
                <a:spcPct val="110000"/>
              </a:lnSpc>
            </a:pPr>
            <a:r>
              <a:rPr lang="zh-CN" altLang="en-US" sz="2100" dirty="0">
                <a:solidFill>
                  <a:srgbClr val="0000FF"/>
                </a:solidFill>
              </a:rPr>
              <a:t>第一次访问</a:t>
            </a:r>
            <a:r>
              <a:rPr lang="en-US" altLang="zh-CN" sz="2100" dirty="0">
                <a:solidFill>
                  <a:srgbClr val="0000FF"/>
                </a:solidFill>
              </a:rPr>
              <a:t>X</a:t>
            </a:r>
            <a:r>
              <a:rPr lang="zh-CN" altLang="en-US" sz="2100" dirty="0"/>
              <a:t>时执行</a:t>
            </a:r>
            <a:r>
              <a:rPr lang="en-US" altLang="zh-CN" sz="2100" dirty="0"/>
              <a:t>read(X)</a:t>
            </a:r>
            <a:r>
              <a:rPr lang="zh-CN" altLang="en-US" sz="2100" dirty="0"/>
              <a:t>；</a:t>
            </a:r>
            <a:endParaRPr lang="en-US" altLang="zh-CN" sz="2100" dirty="0"/>
          </a:p>
          <a:p>
            <a:pPr lvl="1" eaLnBrk="1" hangingPunct="1">
              <a:lnSpc>
                <a:spcPct val="110000"/>
              </a:lnSpc>
            </a:pPr>
            <a:r>
              <a:rPr lang="zh-CN" altLang="en-US" sz="2100" dirty="0"/>
              <a:t>以后的访问是对</a:t>
            </a:r>
            <a:r>
              <a:rPr lang="zh-CN" altLang="en-US" sz="2100" dirty="0">
                <a:solidFill>
                  <a:srgbClr val="0000FF"/>
                </a:solidFill>
              </a:rPr>
              <a:t>局部副本</a:t>
            </a:r>
            <a:r>
              <a:rPr lang="zh-CN" altLang="en-US" sz="2100" dirty="0"/>
              <a:t>进行的；</a:t>
            </a:r>
            <a:endParaRPr lang="en-US" altLang="zh-CN" sz="2100" dirty="0"/>
          </a:p>
          <a:p>
            <a:pPr lvl="1" eaLnBrk="1" hangingPunct="1">
              <a:lnSpc>
                <a:spcPct val="110000"/>
              </a:lnSpc>
            </a:pPr>
            <a:r>
              <a:rPr lang="zh-CN" altLang="en-US" sz="2100" dirty="0">
                <a:solidFill>
                  <a:srgbClr val="0000FF"/>
                </a:solidFill>
              </a:rPr>
              <a:t>最后一次访问</a:t>
            </a:r>
            <a:r>
              <a:rPr lang="zh-CN" altLang="en-US" sz="2100" dirty="0"/>
              <a:t>之后，执行</a:t>
            </a:r>
            <a:r>
              <a:rPr lang="en-US" altLang="zh-CN" sz="2100" dirty="0"/>
              <a:t>write(X)</a:t>
            </a:r>
            <a:r>
              <a:rPr lang="zh-CN" altLang="en-US" sz="2100" dirty="0"/>
              <a:t>；</a:t>
            </a:r>
            <a:endParaRPr lang="en-US" altLang="zh-CN" sz="2100" dirty="0"/>
          </a:p>
        </p:txBody>
      </p:sp>
      <p:sp>
        <p:nvSpPr>
          <p:cNvPr id="2" name="日期占位符 1">
            <a:extLst>
              <a:ext uri="{FF2B5EF4-FFF2-40B4-BE49-F238E27FC236}">
                <a16:creationId xmlns:a16="http://schemas.microsoft.com/office/drawing/2014/main" id="{EB840B48-13CF-7A23-D2CB-5D372B0E01DC}"/>
              </a:ext>
            </a:extLst>
          </p:cNvPr>
          <p:cNvSpPr>
            <a:spLocks noGrp="1"/>
          </p:cNvSpPr>
          <p:nvPr>
            <p:ph type="dt" sz="half" idx="10"/>
          </p:nvPr>
        </p:nvSpPr>
        <p:spPr/>
        <p:txBody>
          <a:bodyPr/>
          <a:lstStyle/>
          <a:p>
            <a:fld id="{1052D01E-5465-41F0-8AD1-E3A5F581FE2D}"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12691C46-AFE5-363A-8D87-E50FF2B57EAB}"/>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2EE7730C-D667-F826-AA63-E074395E48D6}"/>
              </a:ext>
            </a:extLst>
          </p:cNvPr>
          <p:cNvSpPr>
            <a:spLocks noGrp="1"/>
          </p:cNvSpPr>
          <p:nvPr>
            <p:ph type="sldNum" sz="quarter" idx="12"/>
          </p:nvPr>
        </p:nvSpPr>
        <p:spPr/>
        <p:txBody>
          <a:bodyPr/>
          <a:lstStyle/>
          <a:p>
            <a:fld id="{AB1F7240-85F2-492B-84D8-762EF0110923}" type="slidenum">
              <a:rPr lang="en-US" altLang="zh-CN" smtClean="0"/>
              <a:pPr/>
              <a:t>30</a:t>
            </a:fld>
            <a:r>
              <a:rPr lang="en-US" altLang="zh-CN"/>
              <a:t>/67</a:t>
            </a:r>
            <a:endParaRPr lang="zh-CN" altLang="en-US" dirty="0"/>
          </a:p>
        </p:txBody>
      </p:sp>
    </p:spTree>
    <p:extLst>
      <p:ext uri="{BB962C8B-B14F-4D97-AF65-F5344CB8AC3E}">
        <p14:creationId xmlns:p14="http://schemas.microsoft.com/office/powerpoint/2010/main" val="321049415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zh-CN" altLang="en-US"/>
              <a:t>本章目录</a:t>
            </a:r>
          </a:p>
        </p:txBody>
      </p:sp>
      <p:sp>
        <p:nvSpPr>
          <p:cNvPr id="253955" name="Rectangle 3"/>
          <p:cNvSpPr>
            <a:spLocks noGrp="1" noChangeArrowheads="1"/>
          </p:cNvSpPr>
          <p:nvPr>
            <p:ph type="body" idx="1"/>
          </p:nvPr>
        </p:nvSpPr>
        <p:spPr>
          <a:xfrm>
            <a:off x="1371600" y="1639888"/>
            <a:ext cx="7583488" cy="4532312"/>
          </a:xfrm>
        </p:spPr>
        <p:txBody>
          <a:bodyPr/>
          <a:lstStyle/>
          <a:p>
            <a:r>
              <a:rPr lang="en-US" altLang="zh-CN" sz="2800" dirty="0"/>
              <a:t>14.9 </a:t>
            </a:r>
            <a:r>
              <a:rPr lang="zh-CN" altLang="en-US" sz="2800" dirty="0"/>
              <a:t>存储器</a:t>
            </a:r>
            <a:endParaRPr lang="en-US" altLang="zh-CN" sz="2800" dirty="0"/>
          </a:p>
          <a:p>
            <a:r>
              <a:rPr lang="en-US" altLang="zh-CN" sz="2800" dirty="0"/>
              <a:t>14.10 </a:t>
            </a:r>
            <a:r>
              <a:rPr lang="zh-CN" altLang="en-US" sz="2800" dirty="0"/>
              <a:t>恢复与原子性</a:t>
            </a:r>
            <a:endParaRPr lang="en-US" altLang="zh-CN" sz="2800" dirty="0"/>
          </a:p>
          <a:p>
            <a:r>
              <a:rPr lang="en-US" altLang="zh-CN" sz="2800" dirty="0"/>
              <a:t>14.11 </a:t>
            </a:r>
            <a:r>
              <a:rPr lang="zh-CN" altLang="en-US" sz="2800" dirty="0"/>
              <a:t>恢复算法</a:t>
            </a:r>
            <a:r>
              <a:rPr lang="en-US" altLang="zh-CN" sz="2800" dirty="0"/>
              <a:t>(</a:t>
            </a:r>
            <a:r>
              <a:rPr lang="zh-CN" altLang="en-US" sz="2800" dirty="0"/>
              <a:t>并发事务</a:t>
            </a:r>
            <a:r>
              <a:rPr lang="en-US" altLang="zh-CN" sz="2800" dirty="0"/>
              <a:t>)</a:t>
            </a:r>
          </a:p>
          <a:p>
            <a:r>
              <a:rPr lang="en-US" altLang="zh-CN" sz="2800" dirty="0"/>
              <a:t>14.12 </a:t>
            </a:r>
            <a:r>
              <a:rPr lang="zh-CN" altLang="en-US" sz="2800" dirty="0"/>
              <a:t>缓冲区管理</a:t>
            </a:r>
            <a:r>
              <a:rPr lang="en-US" altLang="zh-CN" sz="2800" dirty="0"/>
              <a:t>(</a:t>
            </a:r>
            <a:r>
              <a:rPr lang="zh-CN" altLang="en-US" sz="2800" dirty="0"/>
              <a:t>了解</a:t>
            </a:r>
            <a:r>
              <a:rPr lang="en-US" altLang="zh-CN" sz="2800" dirty="0"/>
              <a:t>)</a:t>
            </a:r>
            <a:endParaRPr lang="zh-CN" altLang="en-US" sz="2800" dirty="0"/>
          </a:p>
        </p:txBody>
      </p:sp>
      <p:sp>
        <p:nvSpPr>
          <p:cNvPr id="2" name="日期占位符 1"/>
          <p:cNvSpPr>
            <a:spLocks noGrp="1"/>
          </p:cNvSpPr>
          <p:nvPr>
            <p:ph type="dt" sz="half" idx="10"/>
          </p:nvPr>
        </p:nvSpPr>
        <p:spPr/>
        <p:txBody>
          <a:bodyPr/>
          <a:lstStyle/>
          <a:p>
            <a:fld id="{CE0ADD34-F88A-4DFE-8CC8-3F339EB08A89}" type="datetime1">
              <a:rPr lang="zh-CN" altLang="en-US" smtClean="0"/>
              <a:t>2025/12/24</a:t>
            </a:fld>
            <a:endParaRPr lang="en-US" altLang="zh-CN"/>
          </a:p>
        </p:txBody>
      </p:sp>
      <p:sp>
        <p:nvSpPr>
          <p:cNvPr id="4" name="AutoShape 4">
            <a:extLst>
              <a:ext uri="{FF2B5EF4-FFF2-40B4-BE49-F238E27FC236}">
                <a16:creationId xmlns:a16="http://schemas.microsoft.com/office/drawing/2014/main" id="{65CC362F-811D-25E1-B617-30BAE8941B42}"/>
              </a:ext>
            </a:extLst>
          </p:cNvPr>
          <p:cNvSpPr>
            <a:spLocks noChangeArrowheads="1"/>
          </p:cNvSpPr>
          <p:nvPr/>
        </p:nvSpPr>
        <p:spPr bwMode="auto">
          <a:xfrm>
            <a:off x="914400" y="225172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页脚占位符 5">
            <a:extLst>
              <a:ext uri="{FF2B5EF4-FFF2-40B4-BE49-F238E27FC236}">
                <a16:creationId xmlns:a16="http://schemas.microsoft.com/office/drawing/2014/main" id="{A5C02B23-820D-B2DE-5104-75B625193BC7}"/>
              </a:ext>
            </a:extLst>
          </p:cNvPr>
          <p:cNvSpPr>
            <a:spLocks noGrp="1"/>
          </p:cNvSpPr>
          <p:nvPr>
            <p:ph type="ftr" sz="quarter" idx="11"/>
          </p:nvPr>
        </p:nvSpPr>
        <p:spPr/>
        <p:txBody>
          <a:bodyPr/>
          <a:lstStyle/>
          <a:p>
            <a:r>
              <a:rPr lang="en-US" altLang="zh-CN"/>
              <a:t>《数据库系统概论》- 第11章</a:t>
            </a:r>
          </a:p>
        </p:txBody>
      </p:sp>
      <p:sp>
        <p:nvSpPr>
          <p:cNvPr id="7" name="灯片编号占位符 6">
            <a:extLst>
              <a:ext uri="{FF2B5EF4-FFF2-40B4-BE49-F238E27FC236}">
                <a16:creationId xmlns:a16="http://schemas.microsoft.com/office/drawing/2014/main" id="{0E2CBF6E-5BDC-1531-B3C0-2BFEB40CB993}"/>
              </a:ext>
            </a:extLst>
          </p:cNvPr>
          <p:cNvSpPr>
            <a:spLocks noGrp="1"/>
          </p:cNvSpPr>
          <p:nvPr>
            <p:ph type="sldNum" sz="quarter" idx="12"/>
          </p:nvPr>
        </p:nvSpPr>
        <p:spPr/>
        <p:txBody>
          <a:bodyPr/>
          <a:lstStyle/>
          <a:p>
            <a:fld id="{6CD0990F-CFD2-4E3E-9B0E-DA23AF729A97}" type="slidenum">
              <a:rPr lang="en-US" altLang="zh-CN" smtClean="0"/>
              <a:pPr/>
              <a:t>31</a:t>
            </a:fld>
            <a:r>
              <a:rPr lang="en-US" altLang="zh-CN"/>
              <a:t>/67</a:t>
            </a:r>
            <a:endParaRPr lang="zh-CN" altLang="en-US" dirty="0"/>
          </a:p>
        </p:txBody>
      </p:sp>
    </p:spTree>
    <p:custDataLst>
      <p:tags r:id="rId1"/>
    </p:custDataLst>
    <p:extLst>
      <p:ext uri="{BB962C8B-B14F-4D97-AF65-F5344CB8AC3E}">
        <p14:creationId xmlns:p14="http://schemas.microsoft.com/office/powerpoint/2010/main" val="33294213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zh-CN" altLang="en-US" dirty="0"/>
              <a:t>恢复与原子性</a:t>
            </a:r>
            <a:endParaRPr lang="en-US" altLang="zh-CN" dirty="0"/>
          </a:p>
        </p:txBody>
      </p:sp>
      <p:sp>
        <p:nvSpPr>
          <p:cNvPr id="18436" name="Rectangle 3"/>
          <p:cNvSpPr>
            <a:spLocks noGrp="1" noChangeArrowheads="1"/>
          </p:cNvSpPr>
          <p:nvPr>
            <p:ph type="body" idx="1"/>
          </p:nvPr>
        </p:nvSpPr>
        <p:spPr>
          <a:xfrm>
            <a:off x="755576" y="1340768"/>
            <a:ext cx="8105774" cy="5328592"/>
          </a:xfrm>
        </p:spPr>
        <p:txBody>
          <a:bodyPr/>
          <a:lstStyle/>
          <a:p>
            <a:pPr eaLnBrk="1" hangingPunct="1"/>
            <a:r>
              <a:rPr lang="zh-CN" altLang="en-US" sz="2400" dirty="0"/>
              <a:t>回顾：银行转账，</a:t>
            </a:r>
            <a:r>
              <a:rPr lang="en-US" altLang="zh-CN" sz="2400" dirty="0"/>
              <a:t>B</a:t>
            </a:r>
            <a:r>
              <a:rPr lang="en-US" altLang="zh-CN" sz="2400" baseline="-25000" dirty="0"/>
              <a:t>A</a:t>
            </a:r>
            <a:r>
              <a:rPr lang="en-US" altLang="zh-CN" sz="2400" dirty="0"/>
              <a:t> ,B</a:t>
            </a:r>
            <a:r>
              <a:rPr lang="en-US" altLang="zh-CN" sz="2400" baseline="-25000" dirty="0"/>
              <a:t>B</a:t>
            </a:r>
            <a:r>
              <a:rPr lang="zh-CN" altLang="en-US" sz="2400" dirty="0"/>
              <a:t>分别表示账户</a:t>
            </a:r>
            <a:r>
              <a:rPr lang="en-US" altLang="zh-CN" sz="2400" dirty="0"/>
              <a:t>A</a:t>
            </a:r>
            <a:r>
              <a:rPr lang="zh-CN" altLang="en-US" sz="2400" dirty="0"/>
              <a:t>和</a:t>
            </a:r>
            <a:r>
              <a:rPr lang="en-US" altLang="zh-CN" sz="2400" dirty="0"/>
              <a:t>B</a:t>
            </a:r>
            <a:r>
              <a:rPr lang="zh-CN" altLang="en-US" sz="2400" dirty="0"/>
              <a:t>的值所在的缓冲块，如果在</a:t>
            </a:r>
            <a:r>
              <a:rPr lang="en-US" altLang="zh-CN" sz="2400" dirty="0"/>
              <a:t>output(B</a:t>
            </a:r>
            <a:r>
              <a:rPr lang="en-US" altLang="zh-CN" sz="2400" baseline="-25000" dirty="0"/>
              <a:t>A</a:t>
            </a:r>
            <a:r>
              <a:rPr lang="en-US" altLang="zh-CN" sz="2400" dirty="0"/>
              <a:t>)</a:t>
            </a:r>
            <a:r>
              <a:rPr lang="zh-CN" altLang="en-US" sz="2400" dirty="0"/>
              <a:t>成功，而</a:t>
            </a:r>
            <a:r>
              <a:rPr lang="en-US" altLang="zh-CN" sz="2400" dirty="0"/>
              <a:t>output(B</a:t>
            </a:r>
            <a:r>
              <a:rPr lang="en-US" altLang="zh-CN" sz="2400" baseline="-25000" dirty="0"/>
              <a:t>B</a:t>
            </a:r>
            <a:r>
              <a:rPr lang="en-US" altLang="zh-CN" sz="2400" dirty="0"/>
              <a:t>)</a:t>
            </a:r>
            <a:r>
              <a:rPr lang="zh-CN" altLang="en-US" sz="2400" dirty="0"/>
              <a:t>时发生故障？</a:t>
            </a:r>
            <a:endParaRPr lang="en-US" altLang="zh-CN" sz="2400" dirty="0"/>
          </a:p>
          <a:p>
            <a:pPr lvl="1"/>
            <a:r>
              <a:rPr lang="zh-CN" altLang="en-US" sz="2000" dirty="0"/>
              <a:t>这种情况下检查数据库状态没办法发现问题，没法判断哪些块被输出，哪些没有。</a:t>
            </a:r>
            <a:endParaRPr lang="en-US" altLang="zh-CN" sz="2000" dirty="0"/>
          </a:p>
          <a:p>
            <a:pPr eaLnBrk="1" hangingPunct="1"/>
            <a:r>
              <a:rPr lang="zh-CN" altLang="en-US" sz="2400" dirty="0"/>
              <a:t>为了在故障的情况下仍</a:t>
            </a:r>
            <a:r>
              <a:rPr lang="zh-CN" altLang="en-US" sz="2400" b="1" dirty="0"/>
              <a:t>确保</a:t>
            </a:r>
            <a:r>
              <a:rPr lang="zh-CN" altLang="en-US" sz="2400" b="1" dirty="0">
                <a:solidFill>
                  <a:srgbClr val="FF0000"/>
                </a:solidFill>
              </a:rPr>
              <a:t>事务原子性</a:t>
            </a:r>
            <a:r>
              <a:rPr lang="zh-CN" altLang="en-US" sz="2400" dirty="0"/>
              <a:t>，需要</a:t>
            </a:r>
            <a:r>
              <a:rPr lang="zh-CN" altLang="en-US" sz="2400" b="1" dirty="0">
                <a:solidFill>
                  <a:srgbClr val="0000FF"/>
                </a:solidFill>
              </a:rPr>
              <a:t>首先</a:t>
            </a:r>
            <a:r>
              <a:rPr lang="zh-CN" altLang="en-US" sz="2400" dirty="0"/>
              <a:t>向稳定存储器</a:t>
            </a:r>
            <a:r>
              <a:rPr lang="zh-CN" altLang="en-US" sz="2400" b="1" dirty="0">
                <a:solidFill>
                  <a:srgbClr val="0000FF"/>
                </a:solidFill>
              </a:rPr>
              <a:t>输出</a:t>
            </a:r>
            <a:r>
              <a:rPr lang="zh-CN" altLang="en-US" sz="2400" b="1" dirty="0"/>
              <a:t>信息</a:t>
            </a:r>
            <a:r>
              <a:rPr lang="zh-CN" altLang="en-US" sz="2400" b="1" dirty="0">
                <a:solidFill>
                  <a:srgbClr val="FF0000"/>
                </a:solidFill>
              </a:rPr>
              <a:t>描述要做的修改</a:t>
            </a:r>
            <a:r>
              <a:rPr lang="zh-CN" altLang="en-US" sz="2400" dirty="0"/>
              <a:t>，而</a:t>
            </a:r>
            <a:r>
              <a:rPr lang="zh-CN" altLang="en-US" sz="2400" b="1" dirty="0">
                <a:solidFill>
                  <a:srgbClr val="0000FF"/>
                </a:solidFill>
              </a:rPr>
              <a:t>不更新</a:t>
            </a:r>
            <a:r>
              <a:rPr lang="zh-CN" altLang="en-US" sz="2400" dirty="0"/>
              <a:t>数据库本身。</a:t>
            </a:r>
            <a:r>
              <a:rPr lang="zh-CN" altLang="en-US" sz="2400" b="1" dirty="0"/>
              <a:t>这些信息</a:t>
            </a:r>
            <a:r>
              <a:rPr lang="zh-CN" altLang="en-US" sz="2400" dirty="0"/>
              <a:t>用于</a:t>
            </a:r>
            <a:r>
              <a:rPr lang="zh-CN" altLang="en-US" sz="2400" b="1" dirty="0">
                <a:solidFill>
                  <a:srgbClr val="0000FF"/>
                </a:solidFill>
              </a:rPr>
              <a:t>确保</a:t>
            </a:r>
            <a:r>
              <a:rPr lang="zh-CN" altLang="en-US" sz="2400" b="1" dirty="0">
                <a:solidFill>
                  <a:srgbClr val="CC0000"/>
                </a:solidFill>
              </a:rPr>
              <a:t>已提交事务</a:t>
            </a:r>
            <a:r>
              <a:rPr lang="zh-CN" altLang="en-US" sz="2400" dirty="0"/>
              <a:t>已经做的</a:t>
            </a:r>
            <a:r>
              <a:rPr lang="zh-CN" altLang="en-US" sz="2400" b="1" dirty="0"/>
              <a:t>所有修改</a:t>
            </a:r>
            <a:r>
              <a:rPr lang="zh-CN" altLang="en-US" sz="2400" dirty="0"/>
              <a:t>都被</a:t>
            </a:r>
            <a:r>
              <a:rPr lang="zh-CN" altLang="en-US" sz="2400" b="1" dirty="0"/>
              <a:t>保存到数据库</a:t>
            </a:r>
            <a:r>
              <a:rPr lang="zh-CN" altLang="en-US" sz="2400" dirty="0"/>
              <a:t>中</a:t>
            </a:r>
            <a:r>
              <a:rPr lang="en-US" altLang="zh-CN" sz="2400" dirty="0"/>
              <a:t>(</a:t>
            </a:r>
            <a:r>
              <a:rPr lang="zh-CN" altLang="en-US" sz="2400" dirty="0"/>
              <a:t>或者</a:t>
            </a:r>
            <a:r>
              <a:rPr lang="zh-CN" altLang="en-US" sz="2400" u="sng" dirty="0">
                <a:solidFill>
                  <a:srgbClr val="0000FF"/>
                </a:solidFill>
                <a:effectLst>
                  <a:outerShdw blurRad="38100" dist="38100" dir="2700000" algn="tl">
                    <a:srgbClr val="000000">
                      <a:alpha val="43137"/>
                    </a:srgbClr>
                  </a:outerShdw>
                </a:effectLst>
              </a:rPr>
              <a:t>故障发生后能反映出来</a:t>
            </a:r>
            <a:r>
              <a:rPr lang="en-US" altLang="zh-CN" sz="2400" u="sng" dirty="0">
                <a:effectLst>
                  <a:outerShdw blurRad="38100" dist="38100" dir="2700000" algn="tl">
                    <a:srgbClr val="000000">
                      <a:alpha val="43137"/>
                    </a:srgbClr>
                  </a:outerShdw>
                </a:effectLst>
              </a:rPr>
              <a:t>)</a:t>
            </a:r>
            <a:r>
              <a:rPr lang="zh-CN" altLang="en-US" sz="2400" dirty="0"/>
              <a:t>。</a:t>
            </a:r>
            <a:endParaRPr lang="en-US" altLang="zh-CN" sz="2400" dirty="0"/>
          </a:p>
          <a:p>
            <a:pPr eaLnBrk="1" hangingPunct="1"/>
            <a:r>
              <a:rPr lang="zh-CN" altLang="en-US" sz="2400" dirty="0"/>
              <a:t>两种方法</a:t>
            </a:r>
            <a:endParaRPr lang="en-US" altLang="zh-CN" sz="2400" dirty="0"/>
          </a:p>
          <a:p>
            <a:pPr lvl="1" eaLnBrk="1" hangingPunct="1"/>
            <a:r>
              <a:rPr lang="zh-CN" altLang="en-US" sz="2000" b="1" dirty="0">
                <a:solidFill>
                  <a:srgbClr val="0000FF"/>
                </a:solidFill>
              </a:rPr>
              <a:t>基于日志的恢复</a:t>
            </a:r>
            <a:endParaRPr lang="en-US" altLang="zh-CN" sz="2000" b="1" dirty="0">
              <a:solidFill>
                <a:srgbClr val="0000FF"/>
              </a:solidFill>
            </a:endParaRPr>
          </a:p>
          <a:p>
            <a:pPr lvl="1" eaLnBrk="1" hangingPunct="1"/>
            <a:r>
              <a:rPr lang="zh-CN" altLang="en-US" sz="2000" dirty="0"/>
              <a:t>基于影子页面的恢复，用于文本编辑器不用于数据库系统中</a:t>
            </a:r>
          </a:p>
          <a:p>
            <a:pPr eaLnBrk="1" hangingPunct="1"/>
            <a:r>
              <a:rPr lang="zh-CN" altLang="en-US" sz="2400" b="1" dirty="0">
                <a:solidFill>
                  <a:srgbClr val="0000FF"/>
                </a:solidFill>
              </a:rPr>
              <a:t>先假设事务是串行执行</a:t>
            </a:r>
            <a:r>
              <a:rPr lang="zh-CN" altLang="en-US" sz="2400" dirty="0"/>
              <a:t>的</a:t>
            </a:r>
            <a:endParaRPr lang="en-US" altLang="zh-CN" sz="2400" dirty="0"/>
          </a:p>
          <a:p>
            <a:pPr lvl="1" eaLnBrk="1" hangingPunct="1"/>
            <a:r>
              <a:rPr lang="zh-CN" altLang="en-US" sz="2000" dirty="0"/>
              <a:t>后面讨论并发事务的情况</a:t>
            </a:r>
          </a:p>
        </p:txBody>
      </p:sp>
      <p:sp>
        <p:nvSpPr>
          <p:cNvPr id="2" name="日期占位符 1">
            <a:extLst>
              <a:ext uri="{FF2B5EF4-FFF2-40B4-BE49-F238E27FC236}">
                <a16:creationId xmlns:a16="http://schemas.microsoft.com/office/drawing/2014/main" id="{4252809D-9F89-1E5C-86F8-6F6D2ED247B0}"/>
              </a:ext>
            </a:extLst>
          </p:cNvPr>
          <p:cNvSpPr>
            <a:spLocks noGrp="1"/>
          </p:cNvSpPr>
          <p:nvPr>
            <p:ph type="dt" sz="half" idx="10"/>
          </p:nvPr>
        </p:nvSpPr>
        <p:spPr/>
        <p:txBody>
          <a:bodyPr/>
          <a:lstStyle/>
          <a:p>
            <a:fld id="{361B9A8A-1425-4D9F-8BDE-9557EBB3F108}"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4C223604-8331-9F34-1917-655E24D55495}"/>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CD122484-0DFE-B32A-87ED-1B600F06889F}"/>
              </a:ext>
            </a:extLst>
          </p:cNvPr>
          <p:cNvSpPr>
            <a:spLocks noGrp="1"/>
          </p:cNvSpPr>
          <p:nvPr>
            <p:ph type="sldNum" sz="quarter" idx="12"/>
          </p:nvPr>
        </p:nvSpPr>
        <p:spPr/>
        <p:txBody>
          <a:bodyPr/>
          <a:lstStyle/>
          <a:p>
            <a:fld id="{6CD0990F-CFD2-4E3E-9B0E-DA23AF729A97}" type="slidenum">
              <a:rPr lang="en-US" altLang="zh-CN" smtClean="0"/>
              <a:pPr/>
              <a:t>32</a:t>
            </a:fld>
            <a:r>
              <a:rPr lang="en-US" altLang="zh-CN"/>
              <a:t>/67</a:t>
            </a:r>
            <a:endParaRPr lang="zh-CN" altLang="en-US" dirty="0"/>
          </a:p>
        </p:txBody>
      </p:sp>
    </p:spTree>
    <p:extLst>
      <p:ext uri="{BB962C8B-B14F-4D97-AF65-F5344CB8AC3E}">
        <p14:creationId xmlns:p14="http://schemas.microsoft.com/office/powerpoint/2010/main" val="40844320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6">
                                            <p:txEl>
                                              <p:pRg st="2" end="2"/>
                                            </p:txEl>
                                          </p:spTgt>
                                        </p:tgtEl>
                                        <p:attrNameLst>
                                          <p:attrName>style.visibility</p:attrName>
                                        </p:attrNameLst>
                                      </p:cBhvr>
                                      <p:to>
                                        <p:strVal val="visible"/>
                                      </p:to>
                                    </p:set>
                                    <p:anim calcmode="lin" valueType="num">
                                      <p:cBhvr additive="base">
                                        <p:cTn id="7" dur="500" fill="hold"/>
                                        <p:tgtEl>
                                          <p:spTgt spid="1843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36">
                                            <p:txEl>
                                              <p:pRg st="3" end="3"/>
                                            </p:txEl>
                                          </p:spTgt>
                                        </p:tgtEl>
                                        <p:attrNameLst>
                                          <p:attrName>style.visibility</p:attrName>
                                        </p:attrNameLst>
                                      </p:cBhvr>
                                      <p:to>
                                        <p:strVal val="visible"/>
                                      </p:to>
                                    </p:set>
                                    <p:anim calcmode="lin" valueType="num">
                                      <p:cBhvr additive="base">
                                        <p:cTn id="13" dur="500" fill="hold"/>
                                        <p:tgtEl>
                                          <p:spTgt spid="1843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6">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8436">
                                            <p:txEl>
                                              <p:pRg st="4" end="4"/>
                                            </p:txEl>
                                          </p:spTgt>
                                        </p:tgtEl>
                                        <p:attrNameLst>
                                          <p:attrName>style.visibility</p:attrName>
                                        </p:attrNameLst>
                                      </p:cBhvr>
                                      <p:to>
                                        <p:strVal val="visible"/>
                                      </p:to>
                                    </p:set>
                                    <p:anim calcmode="lin" valueType="num">
                                      <p:cBhvr additive="base">
                                        <p:cTn id="17" dur="500" fill="hold"/>
                                        <p:tgtEl>
                                          <p:spTgt spid="18436">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436">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8436">
                                            <p:txEl>
                                              <p:pRg st="5" end="5"/>
                                            </p:txEl>
                                          </p:spTgt>
                                        </p:tgtEl>
                                        <p:attrNameLst>
                                          <p:attrName>style.visibility</p:attrName>
                                        </p:attrNameLst>
                                      </p:cBhvr>
                                      <p:to>
                                        <p:strVal val="visible"/>
                                      </p:to>
                                    </p:set>
                                    <p:anim calcmode="lin" valueType="num">
                                      <p:cBhvr additive="base">
                                        <p:cTn id="21" dur="500" fill="hold"/>
                                        <p:tgtEl>
                                          <p:spTgt spid="18436">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8436">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8436">
                                            <p:txEl>
                                              <p:pRg st="6" end="6"/>
                                            </p:txEl>
                                          </p:spTgt>
                                        </p:tgtEl>
                                        <p:attrNameLst>
                                          <p:attrName>style.visibility</p:attrName>
                                        </p:attrNameLst>
                                      </p:cBhvr>
                                      <p:to>
                                        <p:strVal val="visible"/>
                                      </p:to>
                                    </p:set>
                                    <p:anim calcmode="lin" valueType="num">
                                      <p:cBhvr additive="base">
                                        <p:cTn id="25" dur="500" fill="hold"/>
                                        <p:tgtEl>
                                          <p:spTgt spid="18436">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6">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8436">
                                            <p:txEl>
                                              <p:pRg st="7" end="7"/>
                                            </p:txEl>
                                          </p:spTgt>
                                        </p:tgtEl>
                                        <p:attrNameLst>
                                          <p:attrName>style.visibility</p:attrName>
                                        </p:attrNameLst>
                                      </p:cBhvr>
                                      <p:to>
                                        <p:strVal val="visible"/>
                                      </p:to>
                                    </p:set>
                                    <p:anim calcmode="lin" valueType="num">
                                      <p:cBhvr additive="base">
                                        <p:cTn id="29" dur="500" fill="hold"/>
                                        <p:tgtEl>
                                          <p:spTgt spid="18436">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843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19A6D2C6-23CC-225F-64A2-2E7A43BBD6F5}"/>
              </a:ext>
            </a:extLst>
          </p:cNvPr>
          <p:cNvSpPr/>
          <p:nvPr/>
        </p:nvSpPr>
        <p:spPr bwMode="auto">
          <a:xfrm>
            <a:off x="492555" y="3156422"/>
            <a:ext cx="8234063" cy="3204160"/>
          </a:xfrm>
          <a:prstGeom prst="roundRect">
            <a:avLst/>
          </a:prstGeom>
          <a:solidFill>
            <a:schemeClr val="bg1">
              <a:lumMod val="95000"/>
            </a:schemeClr>
          </a:solidFill>
          <a:ln>
            <a:noFill/>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9460" name="Rectangle 3"/>
          <p:cNvSpPr>
            <a:spLocks noGrp="1" noChangeArrowheads="1"/>
          </p:cNvSpPr>
          <p:nvPr>
            <p:ph type="body" idx="4294967295"/>
          </p:nvPr>
        </p:nvSpPr>
        <p:spPr>
          <a:xfrm>
            <a:off x="619233" y="1412776"/>
            <a:ext cx="8201239" cy="5259387"/>
          </a:xfrm>
        </p:spPr>
        <p:txBody>
          <a:bodyPr/>
          <a:lstStyle/>
          <a:p>
            <a:pPr eaLnBrk="1" hangingPunct="1"/>
            <a:r>
              <a:rPr lang="zh-CN" altLang="en-US" sz="2400" b="1" dirty="0">
                <a:solidFill>
                  <a:srgbClr val="FF3300"/>
                </a:solidFill>
              </a:rPr>
              <a:t>日志</a:t>
            </a:r>
            <a:r>
              <a:rPr lang="zh-CN" altLang="en-US" sz="2400" dirty="0"/>
              <a:t>保存在</a:t>
            </a:r>
            <a:r>
              <a:rPr lang="zh-CN" altLang="en-US" sz="2400" dirty="0">
                <a:solidFill>
                  <a:srgbClr val="0000FF"/>
                </a:solidFill>
              </a:rPr>
              <a:t>稳定存储器</a:t>
            </a:r>
            <a:r>
              <a:rPr lang="zh-CN" altLang="en-US" sz="2400" dirty="0"/>
              <a:t>上</a:t>
            </a:r>
            <a:r>
              <a:rPr lang="en-US" altLang="zh-CN" sz="2400" dirty="0"/>
              <a:t> </a:t>
            </a:r>
          </a:p>
          <a:p>
            <a:pPr lvl="1" eaLnBrk="1" hangingPunct="1"/>
            <a:r>
              <a:rPr lang="zh-CN" altLang="en-US" sz="2400" dirty="0"/>
              <a:t>日志是</a:t>
            </a:r>
            <a:r>
              <a:rPr lang="zh-CN" altLang="en-US" sz="2400" dirty="0">
                <a:solidFill>
                  <a:srgbClr val="FF3300"/>
                </a:solidFill>
              </a:rPr>
              <a:t>日志记录</a:t>
            </a:r>
            <a:r>
              <a:rPr lang="zh-CN" altLang="en-US" sz="2400" dirty="0"/>
              <a:t>的序列，用来</a:t>
            </a:r>
            <a:r>
              <a:rPr lang="zh-CN" altLang="en-US" sz="2400" dirty="0">
                <a:solidFill>
                  <a:srgbClr val="0000FF"/>
                </a:solidFill>
              </a:rPr>
              <a:t>记录</a:t>
            </a:r>
            <a:r>
              <a:rPr lang="zh-CN" altLang="en-US" sz="2400" dirty="0"/>
              <a:t>对</a:t>
            </a:r>
            <a:r>
              <a:rPr lang="zh-CN" altLang="en-US" sz="2400" b="1" dirty="0">
                <a:solidFill>
                  <a:srgbClr val="0000FF"/>
                </a:solidFill>
              </a:rPr>
              <a:t>数据库更新</a:t>
            </a:r>
            <a:r>
              <a:rPr lang="zh-CN" altLang="en-US" sz="2400" dirty="0"/>
              <a:t>活动</a:t>
            </a:r>
            <a:endParaRPr lang="en-US" altLang="zh-CN" sz="2400" dirty="0"/>
          </a:p>
          <a:p>
            <a:pPr lvl="1"/>
            <a:r>
              <a:rPr lang="zh-CN" altLang="en-US" sz="2400" dirty="0"/>
              <a:t>我们</a:t>
            </a:r>
            <a:r>
              <a:rPr lang="zh-CN" altLang="en-US" sz="2400" b="1" dirty="0">
                <a:solidFill>
                  <a:srgbClr val="0000FF"/>
                </a:solidFill>
              </a:rPr>
              <a:t>先假设</a:t>
            </a:r>
            <a:r>
              <a:rPr lang="zh-CN" altLang="en-US" sz="2400" dirty="0"/>
              <a:t>每条日志记录创建后</a:t>
            </a:r>
            <a:r>
              <a:rPr lang="zh-CN" altLang="en-US" sz="2400" b="1" dirty="0">
                <a:solidFill>
                  <a:srgbClr val="0000FF"/>
                </a:solidFill>
              </a:rPr>
              <a:t>立即写入稳定存储器</a:t>
            </a:r>
            <a:r>
              <a:rPr lang="zh-CN" altLang="en-US" sz="2400" dirty="0"/>
              <a:t>上日志的末尾</a:t>
            </a:r>
            <a:endParaRPr lang="en-US" altLang="zh-CN" sz="2400" dirty="0"/>
          </a:p>
          <a:p>
            <a:pPr eaLnBrk="1" hangingPunct="1"/>
            <a:r>
              <a:rPr lang="zh-CN" altLang="en-US" sz="2400" dirty="0"/>
              <a:t>当事务</a:t>
            </a:r>
            <a:r>
              <a:rPr lang="en-US" altLang="zh-CN" sz="2400" dirty="0" err="1">
                <a:solidFill>
                  <a:srgbClr val="0000FF"/>
                </a:solidFill>
              </a:rPr>
              <a:t>T</a:t>
            </a:r>
            <a:r>
              <a:rPr lang="en-US" altLang="zh-CN" sz="2400" baseline="-25000" dirty="0" err="1">
                <a:solidFill>
                  <a:srgbClr val="0000FF"/>
                </a:solidFill>
              </a:rPr>
              <a:t>i</a:t>
            </a:r>
            <a:r>
              <a:rPr lang="en-US" altLang="zh-CN" sz="2400" dirty="0"/>
              <a:t> </a:t>
            </a:r>
            <a:r>
              <a:rPr lang="zh-CN" altLang="en-US" sz="2400" b="1" dirty="0">
                <a:solidFill>
                  <a:srgbClr val="FF0000"/>
                </a:solidFill>
              </a:rPr>
              <a:t>启动</a:t>
            </a:r>
            <a:r>
              <a:rPr lang="zh-CN" altLang="en-US" sz="2400" dirty="0"/>
              <a:t>，</a:t>
            </a:r>
            <a:r>
              <a:rPr lang="zh-CN" altLang="en-US" sz="2400" b="1" dirty="0">
                <a:solidFill>
                  <a:srgbClr val="0000FF"/>
                </a:solidFill>
              </a:rPr>
              <a:t>写入</a:t>
            </a:r>
            <a:r>
              <a:rPr lang="zh-CN" altLang="en-US" sz="2400" dirty="0"/>
              <a:t>一条登记自己的</a:t>
            </a:r>
            <a:r>
              <a:rPr lang="zh-CN" altLang="en-US" sz="2400" b="1" dirty="0">
                <a:solidFill>
                  <a:srgbClr val="0000FF"/>
                </a:solidFill>
              </a:rPr>
              <a:t>日志记录</a:t>
            </a:r>
            <a:r>
              <a:rPr lang="en-US" altLang="zh-CN" sz="2400" b="1" dirty="0">
                <a:solidFill>
                  <a:srgbClr val="0000FF"/>
                </a:solidFill>
              </a:rPr>
              <a:t> </a:t>
            </a:r>
            <a:br>
              <a:rPr lang="en-US" altLang="zh-CN" sz="2400" dirty="0"/>
            </a:br>
            <a:r>
              <a:rPr lang="en-US" altLang="zh-CN" sz="2400" dirty="0"/>
              <a:t>       &lt;</a:t>
            </a:r>
            <a:r>
              <a:rPr lang="en-US" altLang="zh-CN" sz="2400" dirty="0" err="1"/>
              <a:t>T</a:t>
            </a:r>
            <a:r>
              <a:rPr lang="en-US" altLang="zh-CN" sz="2400" baseline="-25000" dirty="0" err="1"/>
              <a:t>i</a:t>
            </a:r>
            <a:r>
              <a:rPr lang="en-US" altLang="zh-CN" sz="2400" baseline="-25000" dirty="0"/>
              <a:t>  </a:t>
            </a:r>
            <a:r>
              <a:rPr lang="en-US" altLang="zh-CN" sz="2400" b="0" dirty="0"/>
              <a:t>start</a:t>
            </a:r>
            <a:r>
              <a:rPr lang="en-US" altLang="zh-CN" sz="2400" dirty="0"/>
              <a:t>&gt;</a:t>
            </a:r>
          </a:p>
          <a:p>
            <a:pPr eaLnBrk="1" hangingPunct="1"/>
            <a:r>
              <a:rPr lang="en-US" altLang="zh-CN" sz="2400" dirty="0" err="1"/>
              <a:t>T</a:t>
            </a:r>
            <a:r>
              <a:rPr lang="en-US" altLang="zh-CN" sz="2400" baseline="-25000" dirty="0" err="1"/>
              <a:t>i</a:t>
            </a:r>
            <a:r>
              <a:rPr lang="en-US" altLang="zh-CN" sz="2400" dirty="0"/>
              <a:t> </a:t>
            </a:r>
            <a:r>
              <a:rPr lang="zh-CN" altLang="en-US" sz="2400" dirty="0"/>
              <a:t>执行</a:t>
            </a:r>
            <a:r>
              <a:rPr lang="en-US" altLang="zh-CN" sz="2400" b="1" dirty="0">
                <a:solidFill>
                  <a:srgbClr val="FF0000"/>
                </a:solidFill>
              </a:rPr>
              <a:t>write(X)</a:t>
            </a:r>
            <a:r>
              <a:rPr lang="zh-CN" altLang="en-US" sz="2400" b="1" dirty="0"/>
              <a:t>之</a:t>
            </a:r>
            <a:r>
              <a:rPr lang="zh-CN" altLang="en-US" sz="2400" b="1" u="sng" dirty="0">
                <a:solidFill>
                  <a:srgbClr val="0000FF"/>
                </a:solidFill>
                <a:effectLst>
                  <a:outerShdw blurRad="38100" dist="38100" dir="2700000" algn="tl">
                    <a:srgbClr val="000000">
                      <a:alpha val="43137"/>
                    </a:srgbClr>
                  </a:outerShdw>
                </a:effectLst>
              </a:rPr>
              <a:t>前</a:t>
            </a:r>
            <a:r>
              <a:rPr lang="zh-CN" altLang="en-US" sz="2400" dirty="0"/>
              <a:t>，</a:t>
            </a:r>
            <a:r>
              <a:rPr lang="zh-CN" altLang="en-US" sz="2400" b="1" dirty="0">
                <a:solidFill>
                  <a:srgbClr val="0000FF"/>
                </a:solidFill>
              </a:rPr>
              <a:t>写入日志</a:t>
            </a:r>
            <a:r>
              <a:rPr lang="zh-CN" altLang="en-US" sz="2400" dirty="0"/>
              <a:t>记录</a:t>
            </a:r>
            <a:r>
              <a:rPr lang="en-US" altLang="zh-CN" sz="2400" dirty="0"/>
              <a:t>&lt;</a:t>
            </a:r>
            <a:r>
              <a:rPr lang="en-US" altLang="zh-CN" sz="2400" dirty="0" err="1"/>
              <a:t>T</a:t>
            </a:r>
            <a:r>
              <a:rPr lang="en-US" altLang="zh-CN" sz="2400" baseline="-25000" dirty="0" err="1"/>
              <a:t>i</a:t>
            </a:r>
            <a:r>
              <a:rPr lang="en-US" altLang="zh-CN" sz="2400" dirty="0"/>
              <a:t>, X, V</a:t>
            </a:r>
            <a:r>
              <a:rPr lang="en-US" altLang="zh-CN" sz="2400" baseline="-25000" dirty="0"/>
              <a:t>1</a:t>
            </a:r>
            <a:r>
              <a:rPr lang="en-US" altLang="zh-CN" sz="2400" dirty="0"/>
              <a:t>, V</a:t>
            </a:r>
            <a:r>
              <a:rPr lang="en-US" altLang="zh-CN" sz="2400" baseline="-25000" dirty="0"/>
              <a:t>2</a:t>
            </a:r>
            <a:r>
              <a:rPr lang="en-US" altLang="zh-CN" sz="2400" dirty="0"/>
              <a:t>&gt;</a:t>
            </a:r>
            <a:r>
              <a:rPr lang="zh-CN" altLang="en-US" sz="2400" dirty="0"/>
              <a:t>，其中</a:t>
            </a:r>
            <a:r>
              <a:rPr lang="en-US" altLang="zh-CN" sz="2400" dirty="0"/>
              <a:t>V</a:t>
            </a:r>
            <a:r>
              <a:rPr lang="en-US" altLang="zh-CN" sz="2400" baseline="-25000" dirty="0"/>
              <a:t>1</a:t>
            </a:r>
            <a:r>
              <a:rPr lang="en-US" altLang="zh-CN" sz="2400" dirty="0"/>
              <a:t> </a:t>
            </a:r>
            <a:r>
              <a:rPr lang="zh-CN" altLang="en-US" sz="2400" dirty="0"/>
              <a:t>是</a:t>
            </a:r>
            <a:r>
              <a:rPr lang="en-US" altLang="zh-CN" sz="2400" dirty="0"/>
              <a:t>X</a:t>
            </a:r>
            <a:r>
              <a:rPr lang="zh-CN" altLang="en-US" sz="2400" dirty="0"/>
              <a:t>在</a:t>
            </a:r>
            <a:r>
              <a:rPr lang="zh-CN" altLang="en-US" sz="2400" b="1" dirty="0"/>
              <a:t>写操作之前</a:t>
            </a:r>
            <a:r>
              <a:rPr lang="zh-CN" altLang="en-US" sz="2400" dirty="0"/>
              <a:t>的</a:t>
            </a:r>
            <a:r>
              <a:rPr lang="zh-CN" altLang="en-US" sz="2400" b="1" dirty="0">
                <a:solidFill>
                  <a:srgbClr val="0000FF"/>
                </a:solidFill>
              </a:rPr>
              <a:t>旧值</a:t>
            </a:r>
            <a:r>
              <a:rPr lang="zh-CN" altLang="en-US" sz="2400" dirty="0"/>
              <a:t>，</a:t>
            </a:r>
            <a:r>
              <a:rPr lang="en-US" altLang="zh-CN" sz="2400" dirty="0"/>
              <a:t>V</a:t>
            </a:r>
            <a:r>
              <a:rPr lang="en-US" altLang="zh-CN" sz="2400" baseline="-25000" dirty="0"/>
              <a:t>2</a:t>
            </a:r>
            <a:r>
              <a:rPr lang="en-US" altLang="zh-CN" sz="2400" dirty="0"/>
              <a:t> </a:t>
            </a:r>
            <a:r>
              <a:rPr lang="zh-CN" altLang="en-US" sz="2400" dirty="0"/>
              <a:t>是待</a:t>
            </a:r>
            <a:r>
              <a:rPr lang="zh-CN" altLang="en-US" sz="2400" b="1" dirty="0"/>
              <a:t>写出</a:t>
            </a:r>
            <a:r>
              <a:rPr lang="en-US" altLang="zh-CN" sz="2400" dirty="0"/>
              <a:t>X</a:t>
            </a:r>
            <a:r>
              <a:rPr lang="zh-CN" altLang="en-US" sz="2400" dirty="0"/>
              <a:t>的</a:t>
            </a:r>
            <a:r>
              <a:rPr lang="zh-CN" altLang="en-US" sz="2400" b="1" dirty="0">
                <a:solidFill>
                  <a:srgbClr val="0000FF"/>
                </a:solidFill>
              </a:rPr>
              <a:t>新值</a:t>
            </a:r>
            <a:endParaRPr lang="en-US" altLang="zh-CN" sz="2400" b="1" dirty="0">
              <a:solidFill>
                <a:srgbClr val="0000FF"/>
              </a:solidFill>
            </a:endParaRPr>
          </a:p>
          <a:p>
            <a:pPr lvl="1" eaLnBrk="1" hangingPunct="1"/>
            <a:r>
              <a:rPr lang="zh-CN" altLang="en-US" sz="2000" dirty="0"/>
              <a:t>日志记录说明</a:t>
            </a:r>
            <a:r>
              <a:rPr lang="en-US" altLang="zh-CN" sz="2000" dirty="0"/>
              <a:t> </a:t>
            </a:r>
            <a:r>
              <a:rPr lang="en-US" altLang="zh-CN" sz="2000" u="sng" dirty="0" err="1"/>
              <a:t>T</a:t>
            </a:r>
            <a:r>
              <a:rPr lang="en-US" altLang="zh-CN" sz="2000" u="sng" baseline="-25000" dirty="0" err="1"/>
              <a:t>i</a:t>
            </a:r>
            <a:r>
              <a:rPr lang="en-US" altLang="zh-CN" sz="2000" u="sng" dirty="0"/>
              <a:t> </a:t>
            </a:r>
            <a:r>
              <a:rPr lang="zh-CN" altLang="en-US" sz="2000" u="sng" dirty="0"/>
              <a:t>执行了对数据项</a:t>
            </a:r>
            <a:r>
              <a:rPr lang="en-US" altLang="zh-CN" sz="2000" u="sng" dirty="0"/>
              <a:t>X</a:t>
            </a:r>
            <a:r>
              <a:rPr lang="en-US" altLang="zh-CN" sz="2000" u="sng" baseline="-25000" dirty="0"/>
              <a:t>i </a:t>
            </a:r>
            <a:r>
              <a:rPr lang="zh-CN" altLang="en-US" sz="2000" u="sng" dirty="0"/>
              <a:t>的写操作，</a:t>
            </a:r>
            <a:r>
              <a:rPr lang="en-US" altLang="zh-CN" sz="2000" u="sng" dirty="0"/>
              <a:t>X</a:t>
            </a:r>
            <a:r>
              <a:rPr lang="en-US" altLang="zh-CN" sz="2000" u="sng" baseline="-25000" dirty="0"/>
              <a:t>i</a:t>
            </a:r>
            <a:r>
              <a:rPr lang="en-US" altLang="zh-CN" sz="2000" u="sng" dirty="0"/>
              <a:t> </a:t>
            </a:r>
            <a:r>
              <a:rPr lang="zh-CN" altLang="en-US" sz="2000" u="sng" dirty="0"/>
              <a:t>在写之前的值是</a:t>
            </a:r>
            <a:r>
              <a:rPr lang="en-US" altLang="zh-CN" sz="2000" u="sng" dirty="0"/>
              <a:t>V</a:t>
            </a:r>
            <a:r>
              <a:rPr lang="en-US" altLang="zh-CN" sz="2000" u="sng" baseline="-25000" dirty="0"/>
              <a:t>1</a:t>
            </a:r>
            <a:r>
              <a:rPr lang="zh-CN" altLang="en-US" sz="2000" u="sng" dirty="0"/>
              <a:t>，在写之后的值将是</a:t>
            </a:r>
            <a:r>
              <a:rPr lang="en-US" altLang="zh-CN" sz="2000" u="sng" dirty="0"/>
              <a:t>V</a:t>
            </a:r>
            <a:r>
              <a:rPr lang="en-US" altLang="zh-CN" sz="2000" u="sng" baseline="-25000" dirty="0"/>
              <a:t>2</a:t>
            </a:r>
            <a:endParaRPr lang="en-US" altLang="zh-CN" sz="2000" u="sng" dirty="0"/>
          </a:p>
          <a:p>
            <a:pPr eaLnBrk="1" hangingPunct="1"/>
            <a:r>
              <a:rPr lang="zh-CN" altLang="en-US" sz="2400" dirty="0"/>
              <a:t>当</a:t>
            </a:r>
            <a:r>
              <a:rPr lang="en-US" altLang="zh-CN" sz="2400" dirty="0" err="1"/>
              <a:t>T</a:t>
            </a:r>
            <a:r>
              <a:rPr lang="en-US" altLang="zh-CN" sz="2400" baseline="-25000" dirty="0" err="1"/>
              <a:t>i</a:t>
            </a:r>
            <a:r>
              <a:rPr lang="en-US" altLang="zh-CN" sz="2400" dirty="0"/>
              <a:t> </a:t>
            </a:r>
            <a:r>
              <a:rPr lang="zh-CN" altLang="en-US" sz="2400" b="1" dirty="0">
                <a:solidFill>
                  <a:srgbClr val="FF0000"/>
                </a:solidFill>
              </a:rPr>
              <a:t>完成</a:t>
            </a:r>
            <a:r>
              <a:rPr lang="zh-CN" altLang="en-US" sz="2400" b="1" dirty="0"/>
              <a:t>最后一条语句</a:t>
            </a:r>
            <a:r>
              <a:rPr lang="zh-CN" altLang="en-US" sz="2400" dirty="0"/>
              <a:t>，</a:t>
            </a:r>
            <a:r>
              <a:rPr lang="zh-CN" altLang="en-US" sz="2400" b="1" dirty="0">
                <a:solidFill>
                  <a:srgbClr val="0000FF"/>
                </a:solidFill>
              </a:rPr>
              <a:t>写入日志</a:t>
            </a:r>
            <a:r>
              <a:rPr lang="zh-CN" altLang="en-US" sz="2400" dirty="0"/>
              <a:t>记录</a:t>
            </a:r>
            <a:r>
              <a:rPr lang="en-US" altLang="zh-CN" sz="2400" dirty="0"/>
              <a:t>&lt;</a:t>
            </a:r>
            <a:r>
              <a:rPr lang="en-US" altLang="zh-CN" sz="2400" dirty="0" err="1"/>
              <a:t>T</a:t>
            </a:r>
            <a:r>
              <a:rPr lang="en-US" altLang="zh-CN" sz="2400" baseline="-25000" dirty="0" err="1"/>
              <a:t>i</a:t>
            </a:r>
            <a:r>
              <a:rPr lang="en-US" altLang="zh-CN" sz="2400" dirty="0"/>
              <a:t> </a:t>
            </a:r>
            <a:r>
              <a:rPr lang="en-US" altLang="zh-CN" sz="2400" b="0" dirty="0"/>
              <a:t> commi</a:t>
            </a:r>
            <a:r>
              <a:rPr lang="en-US" altLang="zh-CN" sz="2400" dirty="0"/>
              <a:t>t&gt;</a:t>
            </a:r>
          </a:p>
          <a:p>
            <a:r>
              <a:rPr lang="zh-CN" altLang="en-US" sz="2400" dirty="0"/>
              <a:t>若事务</a:t>
            </a:r>
            <a:r>
              <a:rPr lang="en-US" altLang="zh-CN" sz="2400" dirty="0" err="1"/>
              <a:t>T</a:t>
            </a:r>
            <a:r>
              <a:rPr lang="en-US" altLang="zh-CN" sz="2400" baseline="-25000" dirty="0" err="1"/>
              <a:t>i</a:t>
            </a:r>
            <a:r>
              <a:rPr lang="zh-CN" altLang="en-US" sz="2400" b="1" dirty="0">
                <a:solidFill>
                  <a:srgbClr val="FF0000"/>
                </a:solidFill>
              </a:rPr>
              <a:t>中止</a:t>
            </a:r>
            <a:r>
              <a:rPr lang="zh-CN" altLang="en-US" sz="2400" dirty="0"/>
              <a:t>，</a:t>
            </a:r>
            <a:r>
              <a:rPr lang="zh-CN" altLang="en-US" sz="2400" b="1" dirty="0">
                <a:solidFill>
                  <a:srgbClr val="0000FF"/>
                </a:solidFill>
              </a:rPr>
              <a:t>写入日志</a:t>
            </a:r>
            <a:r>
              <a:rPr lang="zh-CN" altLang="en-US" sz="2400" dirty="0"/>
              <a:t>记录</a:t>
            </a:r>
            <a:r>
              <a:rPr lang="en-US" altLang="zh-CN" sz="2400" dirty="0"/>
              <a:t>&lt;</a:t>
            </a:r>
            <a:r>
              <a:rPr lang="en-US" altLang="zh-CN" sz="2400" dirty="0" err="1"/>
              <a:t>T</a:t>
            </a:r>
            <a:r>
              <a:rPr lang="en-US" altLang="zh-CN" sz="2400" baseline="-25000" dirty="0" err="1"/>
              <a:t>i</a:t>
            </a:r>
            <a:r>
              <a:rPr lang="en-US" altLang="zh-CN" sz="2400" dirty="0"/>
              <a:t>  abort&gt;</a:t>
            </a:r>
          </a:p>
          <a:p>
            <a:pPr eaLnBrk="1" hangingPunct="1">
              <a:lnSpc>
                <a:spcPct val="90000"/>
              </a:lnSpc>
            </a:pPr>
            <a:endParaRPr lang="en-US" altLang="zh-CN" sz="2400" dirty="0"/>
          </a:p>
        </p:txBody>
      </p:sp>
      <p:sp>
        <p:nvSpPr>
          <p:cNvPr id="19459" name="Rectangle 2"/>
          <p:cNvSpPr>
            <a:spLocks noGrp="1" noChangeArrowheads="1"/>
          </p:cNvSpPr>
          <p:nvPr>
            <p:ph type="title"/>
          </p:nvPr>
        </p:nvSpPr>
        <p:spPr/>
        <p:txBody>
          <a:bodyPr/>
          <a:lstStyle/>
          <a:p>
            <a:pPr eaLnBrk="1" hangingPunct="1"/>
            <a:r>
              <a:rPr lang="zh-CN" altLang="en-US" dirty="0"/>
              <a:t>日志记录</a:t>
            </a:r>
            <a:endParaRPr lang="en-US" altLang="zh-CN" dirty="0"/>
          </a:p>
        </p:txBody>
      </p:sp>
      <p:cxnSp>
        <p:nvCxnSpPr>
          <p:cNvPr id="3" name="直接箭头连接符 2"/>
          <p:cNvCxnSpPr>
            <a:cxnSpLocks/>
          </p:cNvCxnSpPr>
          <p:nvPr/>
        </p:nvCxnSpPr>
        <p:spPr bwMode="auto">
          <a:xfrm>
            <a:off x="3048344" y="3619482"/>
            <a:ext cx="947592" cy="1012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092460" y="3508324"/>
            <a:ext cx="1415772" cy="4247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t>事务标识</a:t>
            </a:r>
          </a:p>
        </p:txBody>
      </p:sp>
      <p:cxnSp>
        <p:nvCxnSpPr>
          <p:cNvPr id="9" name="直接箭头连接符 8"/>
          <p:cNvCxnSpPr>
            <a:cxnSpLocks/>
          </p:cNvCxnSpPr>
          <p:nvPr/>
        </p:nvCxnSpPr>
        <p:spPr bwMode="auto">
          <a:xfrm flipV="1">
            <a:off x="7128284" y="1097672"/>
            <a:ext cx="648072" cy="295232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64288" y="700012"/>
            <a:ext cx="1723549" cy="4247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t>数据项标识</a:t>
            </a:r>
          </a:p>
        </p:txBody>
      </p:sp>
      <p:cxnSp>
        <p:nvCxnSpPr>
          <p:cNvPr id="12" name="直接箭头连接符 11"/>
          <p:cNvCxnSpPr>
            <a:cxnSpLocks/>
          </p:cNvCxnSpPr>
          <p:nvPr/>
        </p:nvCxnSpPr>
        <p:spPr bwMode="auto">
          <a:xfrm flipH="1" flipV="1">
            <a:off x="5534996" y="3889056"/>
            <a:ext cx="1176253" cy="155616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直接箭头连接符 14"/>
          <p:cNvCxnSpPr>
            <a:cxnSpLocks/>
          </p:cNvCxnSpPr>
          <p:nvPr/>
        </p:nvCxnSpPr>
        <p:spPr bwMode="auto">
          <a:xfrm flipH="1" flipV="1">
            <a:off x="5532058" y="3789040"/>
            <a:ext cx="768134" cy="14401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直接箭头连接符 16"/>
          <p:cNvCxnSpPr>
            <a:cxnSpLocks/>
            <a:endCxn id="4" idx="2"/>
          </p:cNvCxnSpPr>
          <p:nvPr/>
        </p:nvCxnSpPr>
        <p:spPr bwMode="auto">
          <a:xfrm flipH="1" flipV="1">
            <a:off x="4800346" y="3933056"/>
            <a:ext cx="587841" cy="201622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3" name="日期占位符 22">
            <a:extLst>
              <a:ext uri="{FF2B5EF4-FFF2-40B4-BE49-F238E27FC236}">
                <a16:creationId xmlns:a16="http://schemas.microsoft.com/office/drawing/2014/main" id="{6403AF89-0FD0-70F3-FCD0-C861ADC21445}"/>
              </a:ext>
            </a:extLst>
          </p:cNvPr>
          <p:cNvSpPr>
            <a:spLocks noGrp="1"/>
          </p:cNvSpPr>
          <p:nvPr>
            <p:ph type="dt" sz="half" idx="10"/>
          </p:nvPr>
        </p:nvSpPr>
        <p:spPr/>
        <p:txBody>
          <a:bodyPr/>
          <a:lstStyle/>
          <a:p>
            <a:fld id="{28AE951C-A21B-4189-9896-02C8C5580C44}" type="datetime1">
              <a:rPr lang="zh-CN" altLang="en-US" smtClean="0"/>
              <a:t>2025/12/24</a:t>
            </a:fld>
            <a:endParaRPr lang="en-US" altLang="zh-CN"/>
          </a:p>
        </p:txBody>
      </p:sp>
      <p:sp>
        <p:nvSpPr>
          <p:cNvPr id="24" name="页脚占位符 23">
            <a:extLst>
              <a:ext uri="{FF2B5EF4-FFF2-40B4-BE49-F238E27FC236}">
                <a16:creationId xmlns:a16="http://schemas.microsoft.com/office/drawing/2014/main" id="{D1835E83-0D49-D587-0BE7-5D3B25610A83}"/>
              </a:ext>
            </a:extLst>
          </p:cNvPr>
          <p:cNvSpPr>
            <a:spLocks noGrp="1"/>
          </p:cNvSpPr>
          <p:nvPr>
            <p:ph type="ftr" sz="quarter" idx="11"/>
          </p:nvPr>
        </p:nvSpPr>
        <p:spPr/>
        <p:txBody>
          <a:bodyPr/>
          <a:lstStyle/>
          <a:p>
            <a:r>
              <a:rPr lang="en-US" altLang="zh-CN"/>
              <a:t>《数据库系统概论》- 第11章</a:t>
            </a:r>
          </a:p>
        </p:txBody>
      </p:sp>
      <p:sp>
        <p:nvSpPr>
          <p:cNvPr id="25" name="灯片编号占位符 24">
            <a:extLst>
              <a:ext uri="{FF2B5EF4-FFF2-40B4-BE49-F238E27FC236}">
                <a16:creationId xmlns:a16="http://schemas.microsoft.com/office/drawing/2014/main" id="{B9FA8C6A-871C-CAB9-A1D2-6F6F1A50D177}"/>
              </a:ext>
            </a:extLst>
          </p:cNvPr>
          <p:cNvSpPr>
            <a:spLocks noGrp="1"/>
          </p:cNvSpPr>
          <p:nvPr>
            <p:ph type="sldNum" sz="quarter" idx="12"/>
          </p:nvPr>
        </p:nvSpPr>
        <p:spPr/>
        <p:txBody>
          <a:bodyPr/>
          <a:lstStyle/>
          <a:p>
            <a:fld id="{AB1F7240-85F2-492B-84D8-762EF0110923}" type="slidenum">
              <a:rPr lang="en-US" altLang="zh-CN" smtClean="0"/>
              <a:pPr/>
              <a:t>33</a:t>
            </a:fld>
            <a:r>
              <a:rPr lang="en-US" altLang="zh-CN"/>
              <a:t>/67</a:t>
            </a:r>
            <a:endParaRPr lang="zh-CN" altLang="en-US" dirty="0"/>
          </a:p>
        </p:txBody>
      </p:sp>
    </p:spTree>
    <p:extLst>
      <p:ext uri="{BB962C8B-B14F-4D97-AF65-F5344CB8AC3E}">
        <p14:creationId xmlns:p14="http://schemas.microsoft.com/office/powerpoint/2010/main" val="1748038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anim calcmode="lin" valueType="num">
                                      <p:cBhvr additive="base">
                                        <p:cTn id="7" dur="500" fill="hold"/>
                                        <p:tgtEl>
                                          <p:spTgt spid="194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6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460">
                                            <p:txEl>
                                              <p:pRg st="1" end="1"/>
                                            </p:txEl>
                                          </p:spTgt>
                                        </p:tgtEl>
                                        <p:attrNameLst>
                                          <p:attrName>style.visibility</p:attrName>
                                        </p:attrNameLst>
                                      </p:cBhvr>
                                      <p:to>
                                        <p:strVal val="visible"/>
                                      </p:to>
                                    </p:set>
                                    <p:anim calcmode="lin" valueType="num">
                                      <p:cBhvr additive="base">
                                        <p:cTn id="11" dur="500" fill="hold"/>
                                        <p:tgtEl>
                                          <p:spTgt spid="1946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460">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460">
                                            <p:txEl>
                                              <p:pRg st="2" end="2"/>
                                            </p:txEl>
                                          </p:spTgt>
                                        </p:tgtEl>
                                        <p:attrNameLst>
                                          <p:attrName>style.visibility</p:attrName>
                                        </p:attrNameLst>
                                      </p:cBhvr>
                                      <p:to>
                                        <p:strVal val="visible"/>
                                      </p:to>
                                    </p:set>
                                    <p:anim calcmode="lin" valueType="num">
                                      <p:cBhvr additive="base">
                                        <p:cTn id="15" dur="500" fill="hold"/>
                                        <p:tgtEl>
                                          <p:spTgt spid="1946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46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9460">
                                            <p:txEl>
                                              <p:pRg st="3" end="3"/>
                                            </p:txEl>
                                          </p:spTgt>
                                        </p:tgtEl>
                                        <p:attrNameLst>
                                          <p:attrName>style.visibility</p:attrName>
                                        </p:attrNameLst>
                                      </p:cBhvr>
                                      <p:to>
                                        <p:strVal val="visible"/>
                                      </p:to>
                                    </p:set>
                                    <p:anim calcmode="lin" valueType="num">
                                      <p:cBhvr additive="base">
                                        <p:cTn id="21" dur="500" fill="hold"/>
                                        <p:tgtEl>
                                          <p:spTgt spid="19460">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946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9460">
                                            <p:txEl>
                                              <p:pRg st="4" end="4"/>
                                            </p:txEl>
                                          </p:spTgt>
                                        </p:tgtEl>
                                        <p:attrNameLst>
                                          <p:attrName>style.visibility</p:attrName>
                                        </p:attrNameLst>
                                      </p:cBhvr>
                                      <p:to>
                                        <p:strVal val="visible"/>
                                      </p:to>
                                    </p:set>
                                    <p:anim calcmode="lin" valueType="num">
                                      <p:cBhvr additive="base">
                                        <p:cTn id="27" dur="500" fill="hold"/>
                                        <p:tgtEl>
                                          <p:spTgt spid="19460">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460">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9460">
                                            <p:txEl>
                                              <p:pRg st="5" end="5"/>
                                            </p:txEl>
                                          </p:spTgt>
                                        </p:tgtEl>
                                        <p:attrNameLst>
                                          <p:attrName>style.visibility</p:attrName>
                                        </p:attrNameLst>
                                      </p:cBhvr>
                                      <p:to>
                                        <p:strVal val="visible"/>
                                      </p:to>
                                    </p:set>
                                    <p:anim calcmode="lin" valueType="num">
                                      <p:cBhvr additive="base">
                                        <p:cTn id="31" dur="500" fill="hold"/>
                                        <p:tgtEl>
                                          <p:spTgt spid="1946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6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9460">
                                            <p:txEl>
                                              <p:pRg st="6" end="6"/>
                                            </p:txEl>
                                          </p:spTgt>
                                        </p:tgtEl>
                                        <p:attrNameLst>
                                          <p:attrName>style.visibility</p:attrName>
                                        </p:attrNameLst>
                                      </p:cBhvr>
                                      <p:to>
                                        <p:strVal val="visible"/>
                                      </p:to>
                                    </p:set>
                                    <p:anim calcmode="lin" valueType="num">
                                      <p:cBhvr additive="base">
                                        <p:cTn id="37" dur="500" fill="hold"/>
                                        <p:tgtEl>
                                          <p:spTgt spid="19460">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6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9460">
                                            <p:txEl>
                                              <p:pRg st="7" end="7"/>
                                            </p:txEl>
                                          </p:spTgt>
                                        </p:tgtEl>
                                        <p:attrNameLst>
                                          <p:attrName>style.visibility</p:attrName>
                                        </p:attrNameLst>
                                      </p:cBhvr>
                                      <p:to>
                                        <p:strVal val="visible"/>
                                      </p:to>
                                    </p:set>
                                    <p:anim calcmode="lin" valueType="num">
                                      <p:cBhvr additive="base">
                                        <p:cTn id="43" dur="500" fill="hold"/>
                                        <p:tgtEl>
                                          <p:spTgt spid="19460">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46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barn(inVertical)">
                                      <p:cBhvr>
                                        <p:cTn id="49" dur="500"/>
                                        <p:tgtEl>
                                          <p:spTgt spid="4"/>
                                        </p:tgtEl>
                                      </p:cBhvr>
                                    </p:animEffect>
                                  </p:childTnLst>
                                </p:cTn>
                              </p:par>
                              <p:par>
                                <p:cTn id="50" presetID="16" presetClass="entr" presetSubtype="21" fill="hold" nodeType="with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barn(inVertical)">
                                      <p:cBhvr>
                                        <p:cTn id="52" dur="500"/>
                                        <p:tgtEl>
                                          <p:spTgt spid="3"/>
                                        </p:tgtEl>
                                      </p:cBhvr>
                                    </p:animEffect>
                                  </p:childTnLst>
                                </p:cTn>
                              </p:par>
                              <p:par>
                                <p:cTn id="53" presetID="16" presetClass="entr" presetSubtype="21" fill="hold" nodeType="with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barn(inVertical)">
                                      <p:cBhvr>
                                        <p:cTn id="55" dur="500"/>
                                        <p:tgtEl>
                                          <p:spTgt spid="9"/>
                                        </p:tgtEl>
                                      </p:cBhvr>
                                    </p:animEffect>
                                  </p:childTnLst>
                                </p:cTn>
                              </p:par>
                              <p:par>
                                <p:cTn id="56" presetID="16" presetClass="entr" presetSubtype="21" fill="hold"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barn(inVertical)">
                                      <p:cBhvr>
                                        <p:cTn id="58" dur="500"/>
                                        <p:tgtEl>
                                          <p:spTgt spid="12"/>
                                        </p:tgtEl>
                                      </p:cBhvr>
                                    </p:animEffect>
                                  </p:childTnLst>
                                </p:cTn>
                              </p:par>
                              <p:par>
                                <p:cTn id="59" presetID="16" presetClass="entr" presetSubtype="21" fill="hold"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barn(inVertical)">
                                      <p:cBhvr>
                                        <p:cTn id="61" dur="500"/>
                                        <p:tgtEl>
                                          <p:spTgt spid="15"/>
                                        </p:tgtEl>
                                      </p:cBhvr>
                                    </p:animEffect>
                                  </p:childTnLst>
                                </p:cTn>
                              </p:par>
                              <p:par>
                                <p:cTn id="62" presetID="16" presetClass="entr" presetSubtype="21"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barn(inVertical)">
                                      <p:cBhvr>
                                        <p:cTn id="64" dur="500"/>
                                        <p:tgtEl>
                                          <p:spTgt spid="17"/>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barn(inVertical)">
                                      <p:cBhvr>
                                        <p:cTn id="6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42D3E1B3-902E-E959-8D31-8AE913A1D492}"/>
              </a:ext>
            </a:extLst>
          </p:cNvPr>
          <p:cNvSpPr/>
          <p:nvPr/>
        </p:nvSpPr>
        <p:spPr bwMode="auto">
          <a:xfrm>
            <a:off x="586409" y="1412776"/>
            <a:ext cx="8234063" cy="2952328"/>
          </a:xfrm>
          <a:prstGeom prst="roundRect">
            <a:avLst/>
          </a:prstGeom>
          <a:solidFill>
            <a:schemeClr val="bg1">
              <a:lumMod val="95000"/>
            </a:schemeClr>
          </a:solidFill>
          <a:ln>
            <a:noFill/>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9459" name="Rectangle 2"/>
          <p:cNvSpPr>
            <a:spLocks noGrp="1" noChangeArrowheads="1"/>
          </p:cNvSpPr>
          <p:nvPr>
            <p:ph type="title"/>
          </p:nvPr>
        </p:nvSpPr>
        <p:spPr/>
        <p:txBody>
          <a:bodyPr/>
          <a:lstStyle/>
          <a:p>
            <a:pPr eaLnBrk="1" hangingPunct="1"/>
            <a:r>
              <a:rPr lang="zh-CN" altLang="en-US" dirty="0"/>
              <a:t>日志记录</a:t>
            </a:r>
            <a:endParaRPr lang="en-US" altLang="zh-CN" dirty="0"/>
          </a:p>
        </p:txBody>
      </p:sp>
      <p:sp>
        <p:nvSpPr>
          <p:cNvPr id="19460" name="Rectangle 3"/>
          <p:cNvSpPr>
            <a:spLocks noGrp="1" noChangeArrowheads="1"/>
          </p:cNvSpPr>
          <p:nvPr>
            <p:ph type="body" idx="4294967295"/>
          </p:nvPr>
        </p:nvSpPr>
        <p:spPr>
          <a:xfrm>
            <a:off x="619233" y="1412776"/>
            <a:ext cx="8201239" cy="5259387"/>
          </a:xfrm>
        </p:spPr>
        <p:txBody>
          <a:bodyPr/>
          <a:lstStyle/>
          <a:p>
            <a:pPr eaLnBrk="1" hangingPunct="1">
              <a:lnSpc>
                <a:spcPct val="90000"/>
              </a:lnSpc>
            </a:pPr>
            <a:r>
              <a:rPr lang="zh-CN" altLang="en-US" sz="2400" dirty="0"/>
              <a:t>当事务</a:t>
            </a:r>
            <a:r>
              <a:rPr lang="en-US" altLang="zh-CN" sz="2400" dirty="0" err="1"/>
              <a:t>T</a:t>
            </a:r>
            <a:r>
              <a:rPr lang="en-US" altLang="zh-CN" sz="2400" baseline="-25000" dirty="0" err="1"/>
              <a:t>i</a:t>
            </a:r>
            <a:r>
              <a:rPr lang="en-US" altLang="zh-CN" sz="2400" dirty="0"/>
              <a:t> </a:t>
            </a:r>
            <a:r>
              <a:rPr lang="zh-CN" altLang="en-US" sz="2400" b="1" dirty="0"/>
              <a:t>启动</a:t>
            </a:r>
            <a:r>
              <a:rPr lang="zh-CN" altLang="en-US" sz="2400" dirty="0"/>
              <a:t>，</a:t>
            </a:r>
            <a:r>
              <a:rPr lang="zh-CN" altLang="en-US" sz="2400" b="1" dirty="0"/>
              <a:t>写入</a:t>
            </a:r>
            <a:r>
              <a:rPr lang="zh-CN" altLang="en-US" sz="2400" dirty="0"/>
              <a:t>一条登记自己的</a:t>
            </a:r>
            <a:r>
              <a:rPr lang="zh-CN" altLang="en-US" sz="2400" b="1" dirty="0"/>
              <a:t>日志记录</a:t>
            </a:r>
            <a:r>
              <a:rPr lang="en-US" altLang="zh-CN" sz="2400" dirty="0"/>
              <a:t> </a:t>
            </a:r>
            <a:br>
              <a:rPr lang="en-US" altLang="zh-CN" sz="2400" dirty="0"/>
            </a:br>
            <a:r>
              <a:rPr lang="en-US" altLang="zh-CN" sz="2400" dirty="0"/>
              <a:t>       &lt;</a:t>
            </a:r>
            <a:r>
              <a:rPr lang="en-US" altLang="zh-CN" sz="2400" dirty="0" err="1"/>
              <a:t>T</a:t>
            </a:r>
            <a:r>
              <a:rPr lang="en-US" altLang="zh-CN" sz="2400" baseline="-25000" dirty="0" err="1"/>
              <a:t>i</a:t>
            </a:r>
            <a:r>
              <a:rPr lang="en-US" altLang="zh-CN" sz="2400" baseline="-25000" dirty="0"/>
              <a:t>  </a:t>
            </a:r>
            <a:r>
              <a:rPr lang="en-US" altLang="zh-CN" sz="2400" b="0" dirty="0"/>
              <a:t>start</a:t>
            </a:r>
            <a:r>
              <a:rPr lang="en-US" altLang="zh-CN" sz="2400" dirty="0"/>
              <a:t>&gt;</a:t>
            </a:r>
          </a:p>
          <a:p>
            <a:pPr eaLnBrk="1" hangingPunct="1">
              <a:lnSpc>
                <a:spcPct val="90000"/>
              </a:lnSpc>
            </a:pPr>
            <a:r>
              <a:rPr lang="en-US" altLang="zh-CN" sz="2400" dirty="0" err="1"/>
              <a:t>T</a:t>
            </a:r>
            <a:r>
              <a:rPr lang="en-US" altLang="zh-CN" sz="2400" baseline="-25000" dirty="0" err="1"/>
              <a:t>i</a:t>
            </a:r>
            <a:r>
              <a:rPr lang="en-US" altLang="zh-CN" sz="2400" dirty="0"/>
              <a:t> </a:t>
            </a:r>
            <a:r>
              <a:rPr lang="zh-CN" altLang="en-US" sz="2400" dirty="0"/>
              <a:t>执行</a:t>
            </a:r>
            <a:r>
              <a:rPr lang="en-US" altLang="zh-CN" sz="2400" b="1" dirty="0"/>
              <a:t>write(X)</a:t>
            </a:r>
            <a:r>
              <a:rPr lang="zh-CN" altLang="en-US" sz="2400" b="0" dirty="0"/>
              <a:t>之</a:t>
            </a:r>
            <a:r>
              <a:rPr lang="zh-CN" altLang="en-US" sz="2400" b="1" dirty="0">
                <a:effectLst>
                  <a:outerShdw blurRad="38100" dist="38100" dir="2700000" algn="tl">
                    <a:srgbClr val="000000">
                      <a:alpha val="43137"/>
                    </a:srgbClr>
                  </a:outerShdw>
                </a:effectLst>
              </a:rPr>
              <a:t>前</a:t>
            </a:r>
            <a:r>
              <a:rPr lang="zh-CN" altLang="en-US" sz="2400" dirty="0"/>
              <a:t>，</a:t>
            </a:r>
            <a:r>
              <a:rPr lang="zh-CN" altLang="en-US" sz="2400" b="1" dirty="0"/>
              <a:t>写入日志记录</a:t>
            </a:r>
            <a:r>
              <a:rPr lang="en-US" altLang="zh-CN" sz="2400" dirty="0"/>
              <a:t>&lt;</a:t>
            </a:r>
            <a:r>
              <a:rPr lang="en-US" altLang="zh-CN" sz="2400" dirty="0" err="1"/>
              <a:t>T</a:t>
            </a:r>
            <a:r>
              <a:rPr lang="en-US" altLang="zh-CN" sz="2400" baseline="-25000" dirty="0" err="1"/>
              <a:t>i</a:t>
            </a:r>
            <a:r>
              <a:rPr lang="en-US" altLang="zh-CN" sz="2400" dirty="0"/>
              <a:t>, X, V</a:t>
            </a:r>
            <a:r>
              <a:rPr lang="en-US" altLang="zh-CN" sz="2400" baseline="-25000" dirty="0"/>
              <a:t>1</a:t>
            </a:r>
            <a:r>
              <a:rPr lang="en-US" altLang="zh-CN" sz="2400" dirty="0"/>
              <a:t>, V</a:t>
            </a:r>
            <a:r>
              <a:rPr lang="en-US" altLang="zh-CN" sz="2400" baseline="-25000" dirty="0"/>
              <a:t>2</a:t>
            </a:r>
            <a:r>
              <a:rPr lang="en-US" altLang="zh-CN" sz="2400" dirty="0"/>
              <a:t>&gt;</a:t>
            </a:r>
            <a:r>
              <a:rPr lang="zh-CN" altLang="en-US" sz="2400" dirty="0"/>
              <a:t>，其中</a:t>
            </a:r>
            <a:r>
              <a:rPr lang="en-US" altLang="zh-CN" sz="2400" dirty="0"/>
              <a:t>V</a:t>
            </a:r>
            <a:r>
              <a:rPr lang="en-US" altLang="zh-CN" sz="2400" baseline="-25000" dirty="0"/>
              <a:t>1</a:t>
            </a:r>
            <a:r>
              <a:rPr lang="en-US" altLang="zh-CN" sz="2400" dirty="0"/>
              <a:t> </a:t>
            </a:r>
            <a:r>
              <a:rPr lang="zh-CN" altLang="en-US" sz="2400" dirty="0"/>
              <a:t>是</a:t>
            </a:r>
            <a:r>
              <a:rPr lang="en-US" altLang="zh-CN" sz="2400" dirty="0"/>
              <a:t>X</a:t>
            </a:r>
            <a:r>
              <a:rPr lang="zh-CN" altLang="en-US" sz="2400" dirty="0"/>
              <a:t>在</a:t>
            </a:r>
            <a:r>
              <a:rPr lang="zh-CN" altLang="en-US" sz="2400" b="1" dirty="0"/>
              <a:t>写操作之前</a:t>
            </a:r>
            <a:r>
              <a:rPr lang="zh-CN" altLang="en-US" sz="2400" dirty="0"/>
              <a:t>的</a:t>
            </a:r>
            <a:r>
              <a:rPr lang="zh-CN" altLang="en-US" sz="2400" b="1" dirty="0"/>
              <a:t>旧值</a:t>
            </a:r>
            <a:r>
              <a:rPr lang="zh-CN" altLang="en-US" sz="2400" dirty="0"/>
              <a:t>，</a:t>
            </a:r>
            <a:r>
              <a:rPr lang="en-US" altLang="zh-CN" sz="2400" dirty="0"/>
              <a:t>V</a:t>
            </a:r>
            <a:r>
              <a:rPr lang="en-US" altLang="zh-CN" sz="2400" baseline="-25000" dirty="0"/>
              <a:t>2</a:t>
            </a:r>
            <a:r>
              <a:rPr lang="en-US" altLang="zh-CN" sz="2400" dirty="0"/>
              <a:t> </a:t>
            </a:r>
            <a:r>
              <a:rPr lang="zh-CN" altLang="en-US" sz="2400" dirty="0"/>
              <a:t>是待</a:t>
            </a:r>
            <a:r>
              <a:rPr lang="zh-CN" altLang="en-US" sz="2400" b="1" dirty="0"/>
              <a:t>写出</a:t>
            </a:r>
            <a:r>
              <a:rPr lang="en-US" altLang="zh-CN" sz="2400" dirty="0"/>
              <a:t>X</a:t>
            </a:r>
            <a:r>
              <a:rPr lang="zh-CN" altLang="en-US" sz="2400" dirty="0"/>
              <a:t>的</a:t>
            </a:r>
            <a:r>
              <a:rPr lang="zh-CN" altLang="en-US" sz="2400" b="1" dirty="0"/>
              <a:t>新值</a:t>
            </a:r>
            <a:endParaRPr lang="en-US" altLang="zh-CN" sz="2400" b="1" dirty="0"/>
          </a:p>
          <a:p>
            <a:pPr lvl="1" eaLnBrk="1" hangingPunct="1">
              <a:lnSpc>
                <a:spcPct val="90000"/>
              </a:lnSpc>
            </a:pPr>
            <a:r>
              <a:rPr lang="zh-CN" altLang="en-US" sz="2000" dirty="0"/>
              <a:t>日志记录说明</a:t>
            </a:r>
            <a:r>
              <a:rPr lang="en-US" altLang="zh-CN" sz="2000" dirty="0"/>
              <a:t> </a:t>
            </a:r>
            <a:r>
              <a:rPr lang="en-US" altLang="zh-CN" sz="2000" dirty="0" err="1"/>
              <a:t>T</a:t>
            </a:r>
            <a:r>
              <a:rPr lang="en-US" altLang="zh-CN" sz="2000" baseline="-25000" dirty="0" err="1"/>
              <a:t>i</a:t>
            </a:r>
            <a:r>
              <a:rPr lang="en-US" altLang="zh-CN" sz="2000" dirty="0"/>
              <a:t> </a:t>
            </a:r>
            <a:r>
              <a:rPr lang="zh-CN" altLang="en-US" sz="2000" dirty="0"/>
              <a:t>执行了对数据项</a:t>
            </a:r>
            <a:r>
              <a:rPr lang="en-US" altLang="zh-CN" sz="2000" dirty="0"/>
              <a:t>X</a:t>
            </a:r>
            <a:r>
              <a:rPr lang="en-US" altLang="zh-CN" sz="2000" baseline="-25000" dirty="0"/>
              <a:t>i </a:t>
            </a:r>
            <a:r>
              <a:rPr lang="zh-CN" altLang="en-US" sz="2000" dirty="0"/>
              <a:t>的写操作，</a:t>
            </a:r>
            <a:r>
              <a:rPr lang="en-US" altLang="zh-CN" sz="2000" dirty="0"/>
              <a:t>X</a:t>
            </a:r>
            <a:r>
              <a:rPr lang="en-US" altLang="zh-CN" sz="2000" baseline="-25000" dirty="0"/>
              <a:t>i</a:t>
            </a:r>
            <a:r>
              <a:rPr lang="en-US" altLang="zh-CN" sz="2000" dirty="0"/>
              <a:t> </a:t>
            </a:r>
            <a:r>
              <a:rPr lang="zh-CN" altLang="en-US" sz="2000" dirty="0"/>
              <a:t>在写之前的值是</a:t>
            </a:r>
            <a:r>
              <a:rPr lang="en-US" altLang="zh-CN" sz="2000" dirty="0"/>
              <a:t>V</a:t>
            </a:r>
            <a:r>
              <a:rPr lang="en-US" altLang="zh-CN" sz="2000" baseline="-25000" dirty="0"/>
              <a:t>1</a:t>
            </a:r>
            <a:r>
              <a:rPr lang="zh-CN" altLang="en-US" sz="2000" dirty="0"/>
              <a:t>，在写之后的值将是</a:t>
            </a:r>
            <a:r>
              <a:rPr lang="en-US" altLang="zh-CN" sz="2000" dirty="0"/>
              <a:t>V</a:t>
            </a:r>
            <a:r>
              <a:rPr lang="en-US" altLang="zh-CN" sz="2000" baseline="-25000" dirty="0"/>
              <a:t>2</a:t>
            </a:r>
            <a:endParaRPr lang="en-US" altLang="zh-CN" sz="2000" dirty="0"/>
          </a:p>
          <a:p>
            <a:pPr eaLnBrk="1" hangingPunct="1">
              <a:lnSpc>
                <a:spcPct val="90000"/>
              </a:lnSpc>
            </a:pPr>
            <a:r>
              <a:rPr lang="zh-CN" altLang="en-US" sz="2400" dirty="0"/>
              <a:t>当</a:t>
            </a:r>
            <a:r>
              <a:rPr lang="en-US" altLang="zh-CN" sz="2400" dirty="0" err="1"/>
              <a:t>T</a:t>
            </a:r>
            <a:r>
              <a:rPr lang="en-US" altLang="zh-CN" sz="2400" baseline="-25000" dirty="0" err="1"/>
              <a:t>i</a:t>
            </a:r>
            <a:r>
              <a:rPr lang="en-US" altLang="zh-CN" sz="2400" dirty="0"/>
              <a:t> </a:t>
            </a:r>
            <a:r>
              <a:rPr lang="zh-CN" altLang="en-US" sz="2400" b="1" dirty="0"/>
              <a:t>完成</a:t>
            </a:r>
            <a:r>
              <a:rPr lang="zh-CN" altLang="en-US" sz="2400" dirty="0"/>
              <a:t>最后一条语句，</a:t>
            </a:r>
            <a:r>
              <a:rPr lang="zh-CN" altLang="en-US" sz="2400" b="1" dirty="0"/>
              <a:t>写入日志记录</a:t>
            </a:r>
            <a:r>
              <a:rPr lang="en-US" altLang="zh-CN" sz="2400" dirty="0">
                <a:solidFill>
                  <a:srgbClr val="0000FF"/>
                </a:solidFill>
              </a:rPr>
              <a:t>&lt;</a:t>
            </a:r>
            <a:r>
              <a:rPr lang="en-US" altLang="zh-CN" sz="2400" dirty="0" err="1">
                <a:solidFill>
                  <a:srgbClr val="0000FF"/>
                </a:solidFill>
              </a:rPr>
              <a:t>T</a:t>
            </a:r>
            <a:r>
              <a:rPr lang="en-US" altLang="zh-CN" sz="2400" baseline="-25000" dirty="0" err="1">
                <a:solidFill>
                  <a:srgbClr val="0000FF"/>
                </a:solidFill>
              </a:rPr>
              <a:t>i</a:t>
            </a:r>
            <a:r>
              <a:rPr lang="en-US" altLang="zh-CN" sz="2400" dirty="0">
                <a:solidFill>
                  <a:srgbClr val="0000FF"/>
                </a:solidFill>
              </a:rPr>
              <a:t> </a:t>
            </a:r>
            <a:r>
              <a:rPr lang="en-US" altLang="zh-CN" sz="2400" b="0" dirty="0">
                <a:solidFill>
                  <a:srgbClr val="0000FF"/>
                </a:solidFill>
              </a:rPr>
              <a:t> commi</a:t>
            </a:r>
            <a:r>
              <a:rPr lang="en-US" altLang="zh-CN" sz="2400" dirty="0">
                <a:solidFill>
                  <a:srgbClr val="0000FF"/>
                </a:solidFill>
              </a:rPr>
              <a:t>t&gt;</a:t>
            </a:r>
          </a:p>
          <a:p>
            <a:pPr>
              <a:lnSpc>
                <a:spcPct val="90000"/>
              </a:lnSpc>
            </a:pPr>
            <a:r>
              <a:rPr lang="zh-CN" altLang="en-US" sz="2400" dirty="0"/>
              <a:t>若事务</a:t>
            </a:r>
            <a:r>
              <a:rPr lang="en-US" altLang="zh-CN" sz="2400" dirty="0" err="1"/>
              <a:t>T</a:t>
            </a:r>
            <a:r>
              <a:rPr lang="en-US" altLang="zh-CN" sz="2400" baseline="-25000" dirty="0" err="1"/>
              <a:t>i</a:t>
            </a:r>
            <a:r>
              <a:rPr lang="zh-CN" altLang="en-US" sz="2400" b="1" dirty="0"/>
              <a:t>中止</a:t>
            </a:r>
            <a:r>
              <a:rPr lang="zh-CN" altLang="en-US" sz="2400" dirty="0"/>
              <a:t>，</a:t>
            </a:r>
            <a:r>
              <a:rPr lang="zh-CN" altLang="en-US" sz="2400" b="1" dirty="0"/>
              <a:t>写入日志记录</a:t>
            </a:r>
            <a:r>
              <a:rPr lang="en-US" altLang="zh-CN" sz="2400" dirty="0"/>
              <a:t>&lt;</a:t>
            </a:r>
            <a:r>
              <a:rPr lang="en-US" altLang="zh-CN" sz="2400" dirty="0" err="1"/>
              <a:t>T</a:t>
            </a:r>
            <a:r>
              <a:rPr lang="en-US" altLang="zh-CN" sz="2400" baseline="-25000" dirty="0" err="1"/>
              <a:t>i</a:t>
            </a:r>
            <a:r>
              <a:rPr lang="en-US" altLang="zh-CN" sz="2400" dirty="0"/>
              <a:t>  abort&gt;</a:t>
            </a:r>
          </a:p>
        </p:txBody>
      </p:sp>
      <p:sp>
        <p:nvSpPr>
          <p:cNvPr id="6" name="文本框 5">
            <a:extLst>
              <a:ext uri="{FF2B5EF4-FFF2-40B4-BE49-F238E27FC236}">
                <a16:creationId xmlns:a16="http://schemas.microsoft.com/office/drawing/2014/main" id="{B3E39C97-8001-4DBA-D015-9AEC7BFD3E66}"/>
              </a:ext>
            </a:extLst>
          </p:cNvPr>
          <p:cNvSpPr txBox="1"/>
          <p:nvPr/>
        </p:nvSpPr>
        <p:spPr>
          <a:xfrm>
            <a:off x="738096" y="4531127"/>
            <a:ext cx="7963511" cy="182819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2400" dirty="0"/>
              <a:t>在一个事务的</a:t>
            </a:r>
            <a:r>
              <a:rPr lang="zh-CN" altLang="en-US" sz="2400" b="1" dirty="0">
                <a:solidFill>
                  <a:srgbClr val="0000FF"/>
                </a:solidFill>
              </a:rPr>
              <a:t>所有更新操作的日志记录</a:t>
            </a:r>
            <a:r>
              <a:rPr lang="zh-CN" altLang="en-US" sz="2400" dirty="0"/>
              <a:t>写入</a:t>
            </a:r>
            <a:r>
              <a:rPr lang="zh-CN" altLang="en-US" sz="2400" b="1" dirty="0">
                <a:solidFill>
                  <a:srgbClr val="0000FF"/>
                </a:solidFill>
              </a:rPr>
              <a:t>稳定存储器之前</a:t>
            </a:r>
            <a:r>
              <a:rPr lang="zh-CN" altLang="en-US" sz="2400" dirty="0"/>
              <a:t>，该</a:t>
            </a:r>
            <a:r>
              <a:rPr lang="zh-CN" altLang="en-US" sz="2400" b="1" dirty="0">
                <a:solidFill>
                  <a:srgbClr val="FF0000"/>
                </a:solidFill>
              </a:rPr>
              <a:t>事务不能到达提交点；</a:t>
            </a:r>
            <a:endParaRPr lang="en-US" altLang="zh-CN" sz="2400" b="1" dirty="0">
              <a:solidFill>
                <a:srgbClr val="FF0000"/>
              </a:solidFill>
            </a:endParaRPr>
          </a:p>
          <a:p>
            <a:r>
              <a:rPr lang="zh-CN" altLang="en-US" sz="2400" b="1" dirty="0"/>
              <a:t>即当一个事务的</a:t>
            </a:r>
            <a:r>
              <a:rPr lang="en-US" altLang="zh-CN" sz="2400" b="1" dirty="0">
                <a:solidFill>
                  <a:srgbClr val="0000FF"/>
                </a:solidFill>
              </a:rPr>
              <a:t>commit </a:t>
            </a:r>
            <a:r>
              <a:rPr lang="zh-CN" altLang="en-US" sz="2400" b="1" dirty="0">
                <a:solidFill>
                  <a:srgbClr val="0000FF"/>
                </a:solidFill>
              </a:rPr>
              <a:t>日志记录</a:t>
            </a:r>
            <a:r>
              <a:rPr lang="en-US" altLang="zh-CN" sz="2400" b="1" dirty="0"/>
              <a:t>——</a:t>
            </a:r>
            <a:r>
              <a:rPr lang="zh-CN" altLang="en-US" sz="2400" b="1" dirty="0"/>
              <a:t>这是该事务的最后一个日志记录</a:t>
            </a:r>
            <a:r>
              <a:rPr lang="en-US" altLang="zh-CN" sz="2400" b="1" dirty="0"/>
              <a:t>——</a:t>
            </a:r>
            <a:r>
              <a:rPr lang="zh-CN" altLang="en-US" sz="2400" b="1" dirty="0">
                <a:solidFill>
                  <a:srgbClr val="0000FF"/>
                </a:solidFill>
              </a:rPr>
              <a:t>输出到稳定存储器</a:t>
            </a:r>
            <a:r>
              <a:rPr lang="zh-CN" altLang="en-US" sz="2400" b="1" dirty="0"/>
              <a:t>后，我们就说这个</a:t>
            </a:r>
            <a:r>
              <a:rPr lang="zh-CN" altLang="en-US" sz="2400" b="1" dirty="0">
                <a:solidFill>
                  <a:srgbClr val="0000FF"/>
                </a:solidFill>
              </a:rPr>
              <a:t>事务提交</a:t>
            </a:r>
            <a:r>
              <a:rPr lang="en-US" altLang="zh-CN" sz="2400" b="1" dirty="0"/>
              <a:t>(commit)</a:t>
            </a:r>
            <a:r>
              <a:rPr lang="zh-CN" altLang="en-US" sz="2400" b="1" dirty="0"/>
              <a:t>了</a:t>
            </a:r>
            <a:r>
              <a:rPr lang="zh-CN" altLang="en-US" sz="2400" dirty="0"/>
              <a:t>。</a:t>
            </a:r>
            <a:endParaRPr lang="en-US" altLang="zh-CN" sz="2400" dirty="0"/>
          </a:p>
        </p:txBody>
      </p:sp>
      <p:sp>
        <p:nvSpPr>
          <p:cNvPr id="7" name="日期占位符 6">
            <a:extLst>
              <a:ext uri="{FF2B5EF4-FFF2-40B4-BE49-F238E27FC236}">
                <a16:creationId xmlns:a16="http://schemas.microsoft.com/office/drawing/2014/main" id="{22102C13-E62A-1332-98A7-AAD2671ADE8C}"/>
              </a:ext>
            </a:extLst>
          </p:cNvPr>
          <p:cNvSpPr>
            <a:spLocks noGrp="1"/>
          </p:cNvSpPr>
          <p:nvPr>
            <p:ph type="dt" sz="half" idx="10"/>
          </p:nvPr>
        </p:nvSpPr>
        <p:spPr/>
        <p:txBody>
          <a:bodyPr/>
          <a:lstStyle/>
          <a:p>
            <a:fld id="{40D51BB8-3DE4-47A6-9018-F1802DC72487}" type="datetime1">
              <a:rPr lang="zh-CN" altLang="en-US" smtClean="0"/>
              <a:t>2025/12/24</a:t>
            </a:fld>
            <a:endParaRPr lang="en-US" altLang="zh-CN"/>
          </a:p>
        </p:txBody>
      </p:sp>
      <p:sp>
        <p:nvSpPr>
          <p:cNvPr id="8" name="页脚占位符 7">
            <a:extLst>
              <a:ext uri="{FF2B5EF4-FFF2-40B4-BE49-F238E27FC236}">
                <a16:creationId xmlns:a16="http://schemas.microsoft.com/office/drawing/2014/main" id="{012FAA0C-3530-5878-B3BD-368D1A1AB6E6}"/>
              </a:ext>
            </a:extLst>
          </p:cNvPr>
          <p:cNvSpPr>
            <a:spLocks noGrp="1"/>
          </p:cNvSpPr>
          <p:nvPr>
            <p:ph type="ftr" sz="quarter" idx="11"/>
          </p:nvPr>
        </p:nvSpPr>
        <p:spPr/>
        <p:txBody>
          <a:bodyPr/>
          <a:lstStyle/>
          <a:p>
            <a:r>
              <a:rPr lang="en-US" altLang="zh-CN"/>
              <a:t>《数据库系统概论》- 第11章</a:t>
            </a:r>
          </a:p>
        </p:txBody>
      </p:sp>
      <p:sp>
        <p:nvSpPr>
          <p:cNvPr id="9" name="灯片编号占位符 8">
            <a:extLst>
              <a:ext uri="{FF2B5EF4-FFF2-40B4-BE49-F238E27FC236}">
                <a16:creationId xmlns:a16="http://schemas.microsoft.com/office/drawing/2014/main" id="{7F36197E-9737-2A7F-064A-4C4FB7547D07}"/>
              </a:ext>
            </a:extLst>
          </p:cNvPr>
          <p:cNvSpPr>
            <a:spLocks noGrp="1"/>
          </p:cNvSpPr>
          <p:nvPr>
            <p:ph type="sldNum" sz="quarter" idx="12"/>
          </p:nvPr>
        </p:nvSpPr>
        <p:spPr/>
        <p:txBody>
          <a:bodyPr/>
          <a:lstStyle/>
          <a:p>
            <a:fld id="{AB1F7240-85F2-492B-84D8-762EF0110923}" type="slidenum">
              <a:rPr lang="en-US" altLang="zh-CN" smtClean="0"/>
              <a:pPr/>
              <a:t>34</a:t>
            </a:fld>
            <a:r>
              <a:rPr lang="en-US" altLang="zh-CN"/>
              <a:t>/67</a:t>
            </a:r>
            <a:endParaRPr lang="zh-CN" altLang="en-US" dirty="0"/>
          </a:p>
        </p:txBody>
      </p:sp>
    </p:spTree>
    <p:extLst>
      <p:ext uri="{BB962C8B-B14F-4D97-AF65-F5344CB8AC3E}">
        <p14:creationId xmlns:p14="http://schemas.microsoft.com/office/powerpoint/2010/main" val="314195322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60A3B31A-1D15-8103-9016-50DCF1B73717}"/>
              </a:ext>
            </a:extLst>
          </p:cNvPr>
          <p:cNvSpPr/>
          <p:nvPr/>
        </p:nvSpPr>
        <p:spPr bwMode="auto">
          <a:xfrm>
            <a:off x="586409" y="1412776"/>
            <a:ext cx="8234063" cy="2952328"/>
          </a:xfrm>
          <a:prstGeom prst="roundRect">
            <a:avLst/>
          </a:prstGeom>
          <a:solidFill>
            <a:schemeClr val="bg1">
              <a:lumMod val="95000"/>
            </a:schemeClr>
          </a:solidFill>
          <a:ln>
            <a:noFill/>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9459" name="Rectangle 2"/>
          <p:cNvSpPr>
            <a:spLocks noGrp="1" noChangeArrowheads="1"/>
          </p:cNvSpPr>
          <p:nvPr>
            <p:ph type="title"/>
          </p:nvPr>
        </p:nvSpPr>
        <p:spPr/>
        <p:txBody>
          <a:bodyPr/>
          <a:lstStyle/>
          <a:p>
            <a:pPr eaLnBrk="1" hangingPunct="1"/>
            <a:r>
              <a:rPr lang="zh-CN" altLang="en-US" dirty="0"/>
              <a:t>日志记录</a:t>
            </a:r>
            <a:endParaRPr lang="en-US" altLang="zh-CN" dirty="0"/>
          </a:p>
        </p:txBody>
      </p:sp>
      <p:sp>
        <p:nvSpPr>
          <p:cNvPr id="19460" name="Rectangle 3"/>
          <p:cNvSpPr>
            <a:spLocks noGrp="1" noChangeArrowheads="1"/>
          </p:cNvSpPr>
          <p:nvPr>
            <p:ph type="body" idx="4294967295"/>
          </p:nvPr>
        </p:nvSpPr>
        <p:spPr>
          <a:xfrm>
            <a:off x="619233" y="1412776"/>
            <a:ext cx="8201239" cy="5259387"/>
          </a:xfrm>
        </p:spPr>
        <p:txBody>
          <a:bodyPr/>
          <a:lstStyle/>
          <a:p>
            <a:pPr eaLnBrk="1" hangingPunct="1">
              <a:lnSpc>
                <a:spcPct val="90000"/>
              </a:lnSpc>
            </a:pPr>
            <a:r>
              <a:rPr lang="zh-CN" altLang="en-US" sz="2400" dirty="0"/>
              <a:t>当事务</a:t>
            </a:r>
            <a:r>
              <a:rPr lang="en-US" altLang="zh-CN" sz="2400" dirty="0" err="1"/>
              <a:t>T</a:t>
            </a:r>
            <a:r>
              <a:rPr lang="en-US" altLang="zh-CN" sz="2400" baseline="-25000" dirty="0" err="1"/>
              <a:t>i</a:t>
            </a:r>
            <a:r>
              <a:rPr lang="en-US" altLang="zh-CN" sz="2400" dirty="0"/>
              <a:t> </a:t>
            </a:r>
            <a:r>
              <a:rPr lang="zh-CN" altLang="en-US" sz="2400" b="1" dirty="0"/>
              <a:t>启动</a:t>
            </a:r>
            <a:r>
              <a:rPr lang="zh-CN" altLang="en-US" sz="2400" dirty="0"/>
              <a:t>，</a:t>
            </a:r>
            <a:r>
              <a:rPr lang="zh-CN" altLang="en-US" sz="2400" b="1" dirty="0"/>
              <a:t>写入</a:t>
            </a:r>
            <a:r>
              <a:rPr lang="zh-CN" altLang="en-US" sz="2400" dirty="0"/>
              <a:t>一条登记自己的</a:t>
            </a:r>
            <a:r>
              <a:rPr lang="zh-CN" altLang="en-US" sz="2400" b="1" dirty="0"/>
              <a:t>日志记录</a:t>
            </a:r>
            <a:r>
              <a:rPr lang="en-US" altLang="zh-CN" sz="2400" dirty="0"/>
              <a:t> </a:t>
            </a:r>
            <a:br>
              <a:rPr lang="en-US" altLang="zh-CN" sz="2400" dirty="0"/>
            </a:br>
            <a:r>
              <a:rPr lang="en-US" altLang="zh-CN" sz="2400" dirty="0"/>
              <a:t>       &lt;</a:t>
            </a:r>
            <a:r>
              <a:rPr lang="en-US" altLang="zh-CN" sz="2400" dirty="0" err="1"/>
              <a:t>T</a:t>
            </a:r>
            <a:r>
              <a:rPr lang="en-US" altLang="zh-CN" sz="2400" baseline="-25000" dirty="0" err="1"/>
              <a:t>i</a:t>
            </a:r>
            <a:r>
              <a:rPr lang="en-US" altLang="zh-CN" sz="2400" baseline="-25000" dirty="0"/>
              <a:t>  </a:t>
            </a:r>
            <a:r>
              <a:rPr lang="en-US" altLang="zh-CN" sz="2400" b="0" dirty="0"/>
              <a:t>start</a:t>
            </a:r>
            <a:r>
              <a:rPr lang="en-US" altLang="zh-CN" sz="2400" dirty="0"/>
              <a:t>&gt;</a:t>
            </a:r>
          </a:p>
          <a:p>
            <a:pPr eaLnBrk="1" hangingPunct="1">
              <a:lnSpc>
                <a:spcPct val="90000"/>
              </a:lnSpc>
            </a:pPr>
            <a:r>
              <a:rPr lang="en-US" altLang="zh-CN" sz="2400" dirty="0" err="1"/>
              <a:t>T</a:t>
            </a:r>
            <a:r>
              <a:rPr lang="en-US" altLang="zh-CN" sz="2400" baseline="-25000" dirty="0" err="1"/>
              <a:t>i</a:t>
            </a:r>
            <a:r>
              <a:rPr lang="en-US" altLang="zh-CN" sz="2400" dirty="0"/>
              <a:t> </a:t>
            </a:r>
            <a:r>
              <a:rPr lang="zh-CN" altLang="en-US" sz="2400" dirty="0"/>
              <a:t>执行</a:t>
            </a:r>
            <a:r>
              <a:rPr lang="en-US" altLang="zh-CN" sz="2400" b="1" dirty="0"/>
              <a:t>write(X)</a:t>
            </a:r>
            <a:r>
              <a:rPr lang="zh-CN" altLang="en-US" sz="2400" b="0" dirty="0"/>
              <a:t>之</a:t>
            </a:r>
            <a:r>
              <a:rPr lang="zh-CN" altLang="en-US" sz="2400" b="1" dirty="0">
                <a:effectLst>
                  <a:outerShdw blurRad="38100" dist="38100" dir="2700000" algn="tl">
                    <a:srgbClr val="000000">
                      <a:alpha val="43137"/>
                    </a:srgbClr>
                  </a:outerShdw>
                </a:effectLst>
              </a:rPr>
              <a:t>前</a:t>
            </a:r>
            <a:r>
              <a:rPr lang="zh-CN" altLang="en-US" sz="2400" dirty="0"/>
              <a:t>，</a:t>
            </a:r>
            <a:r>
              <a:rPr lang="zh-CN" altLang="en-US" sz="2400" b="1" dirty="0"/>
              <a:t>写入日志记录</a:t>
            </a:r>
            <a:r>
              <a:rPr lang="en-US" altLang="zh-CN" sz="2400" dirty="0"/>
              <a:t>&lt;</a:t>
            </a:r>
            <a:r>
              <a:rPr lang="en-US" altLang="zh-CN" sz="2400" dirty="0" err="1"/>
              <a:t>T</a:t>
            </a:r>
            <a:r>
              <a:rPr lang="en-US" altLang="zh-CN" sz="2400" baseline="-25000" dirty="0" err="1"/>
              <a:t>i</a:t>
            </a:r>
            <a:r>
              <a:rPr lang="en-US" altLang="zh-CN" sz="2400" dirty="0"/>
              <a:t>, X, </a:t>
            </a:r>
            <a:r>
              <a:rPr lang="en-US" altLang="zh-CN" sz="2400" dirty="0">
                <a:solidFill>
                  <a:srgbClr val="0000FF"/>
                </a:solidFill>
              </a:rPr>
              <a:t>V</a:t>
            </a:r>
            <a:r>
              <a:rPr lang="en-US" altLang="zh-CN" sz="2400" baseline="-25000" dirty="0">
                <a:solidFill>
                  <a:srgbClr val="0000FF"/>
                </a:solidFill>
              </a:rPr>
              <a:t>1</a:t>
            </a:r>
            <a:r>
              <a:rPr lang="en-US" altLang="zh-CN" sz="2400" dirty="0">
                <a:solidFill>
                  <a:srgbClr val="0000FF"/>
                </a:solidFill>
              </a:rPr>
              <a:t>, V</a:t>
            </a:r>
            <a:r>
              <a:rPr lang="en-US" altLang="zh-CN" sz="2400" baseline="-25000" dirty="0">
                <a:solidFill>
                  <a:srgbClr val="0000FF"/>
                </a:solidFill>
              </a:rPr>
              <a:t>2</a:t>
            </a:r>
            <a:r>
              <a:rPr lang="en-US" altLang="zh-CN" sz="2400" dirty="0"/>
              <a:t>&gt;</a:t>
            </a:r>
            <a:r>
              <a:rPr lang="zh-CN" altLang="en-US" sz="2400" dirty="0"/>
              <a:t>，其中</a:t>
            </a:r>
            <a:r>
              <a:rPr lang="en-US" altLang="zh-CN" sz="2400" dirty="0"/>
              <a:t>V</a:t>
            </a:r>
            <a:r>
              <a:rPr lang="en-US" altLang="zh-CN" sz="2400" baseline="-25000" dirty="0"/>
              <a:t>1</a:t>
            </a:r>
            <a:r>
              <a:rPr lang="en-US" altLang="zh-CN" sz="2400" dirty="0"/>
              <a:t> </a:t>
            </a:r>
            <a:r>
              <a:rPr lang="zh-CN" altLang="en-US" sz="2400" dirty="0"/>
              <a:t>是</a:t>
            </a:r>
            <a:r>
              <a:rPr lang="en-US" altLang="zh-CN" sz="2400" dirty="0"/>
              <a:t>X</a:t>
            </a:r>
            <a:r>
              <a:rPr lang="zh-CN" altLang="en-US" sz="2400" dirty="0"/>
              <a:t>在</a:t>
            </a:r>
            <a:r>
              <a:rPr lang="zh-CN" altLang="en-US" sz="2400" b="1" dirty="0"/>
              <a:t>写操作之前</a:t>
            </a:r>
            <a:r>
              <a:rPr lang="zh-CN" altLang="en-US" sz="2400" dirty="0"/>
              <a:t>的</a:t>
            </a:r>
            <a:r>
              <a:rPr lang="zh-CN" altLang="en-US" sz="2400" b="1" dirty="0"/>
              <a:t>旧值</a:t>
            </a:r>
            <a:r>
              <a:rPr lang="zh-CN" altLang="en-US" sz="2400" dirty="0"/>
              <a:t>，</a:t>
            </a:r>
            <a:r>
              <a:rPr lang="en-US" altLang="zh-CN" sz="2400" dirty="0"/>
              <a:t>V</a:t>
            </a:r>
            <a:r>
              <a:rPr lang="en-US" altLang="zh-CN" sz="2400" baseline="-25000" dirty="0"/>
              <a:t>2</a:t>
            </a:r>
            <a:r>
              <a:rPr lang="en-US" altLang="zh-CN" sz="2400" dirty="0"/>
              <a:t> </a:t>
            </a:r>
            <a:r>
              <a:rPr lang="zh-CN" altLang="en-US" sz="2400" dirty="0"/>
              <a:t>是待</a:t>
            </a:r>
            <a:r>
              <a:rPr lang="zh-CN" altLang="en-US" sz="2400" b="1" dirty="0"/>
              <a:t>写出</a:t>
            </a:r>
            <a:r>
              <a:rPr lang="en-US" altLang="zh-CN" sz="2400" dirty="0"/>
              <a:t>X</a:t>
            </a:r>
            <a:r>
              <a:rPr lang="zh-CN" altLang="en-US" sz="2400" dirty="0"/>
              <a:t>的</a:t>
            </a:r>
            <a:r>
              <a:rPr lang="zh-CN" altLang="en-US" sz="2400" b="1" dirty="0"/>
              <a:t>新值</a:t>
            </a:r>
            <a:endParaRPr lang="en-US" altLang="zh-CN" sz="2400" b="1" dirty="0"/>
          </a:p>
          <a:p>
            <a:pPr lvl="1" eaLnBrk="1" hangingPunct="1">
              <a:lnSpc>
                <a:spcPct val="90000"/>
              </a:lnSpc>
            </a:pPr>
            <a:r>
              <a:rPr lang="zh-CN" altLang="en-US" sz="2000" dirty="0"/>
              <a:t>日志记录说明</a:t>
            </a:r>
            <a:r>
              <a:rPr lang="en-US" altLang="zh-CN" sz="2000" dirty="0"/>
              <a:t> </a:t>
            </a:r>
            <a:r>
              <a:rPr lang="en-US" altLang="zh-CN" sz="2000" dirty="0" err="1"/>
              <a:t>T</a:t>
            </a:r>
            <a:r>
              <a:rPr lang="en-US" altLang="zh-CN" sz="2000" baseline="-25000" dirty="0" err="1"/>
              <a:t>i</a:t>
            </a:r>
            <a:r>
              <a:rPr lang="en-US" altLang="zh-CN" sz="2000" dirty="0"/>
              <a:t> </a:t>
            </a:r>
            <a:r>
              <a:rPr lang="zh-CN" altLang="en-US" sz="2000" dirty="0"/>
              <a:t>执行了对数据项</a:t>
            </a:r>
            <a:r>
              <a:rPr lang="en-US" altLang="zh-CN" sz="2000" dirty="0"/>
              <a:t>X</a:t>
            </a:r>
            <a:r>
              <a:rPr lang="en-US" altLang="zh-CN" sz="2000" baseline="-25000" dirty="0"/>
              <a:t>i </a:t>
            </a:r>
            <a:r>
              <a:rPr lang="zh-CN" altLang="en-US" sz="2000" dirty="0"/>
              <a:t>的写操作，</a:t>
            </a:r>
            <a:r>
              <a:rPr lang="en-US" altLang="zh-CN" sz="2000" dirty="0"/>
              <a:t>X</a:t>
            </a:r>
            <a:r>
              <a:rPr lang="en-US" altLang="zh-CN" sz="2000" baseline="-25000" dirty="0"/>
              <a:t>i</a:t>
            </a:r>
            <a:r>
              <a:rPr lang="en-US" altLang="zh-CN" sz="2000" dirty="0"/>
              <a:t> </a:t>
            </a:r>
            <a:r>
              <a:rPr lang="zh-CN" altLang="en-US" sz="2000" dirty="0"/>
              <a:t>在写之前的值是</a:t>
            </a:r>
            <a:r>
              <a:rPr lang="en-US" altLang="zh-CN" sz="2000" dirty="0"/>
              <a:t>V</a:t>
            </a:r>
            <a:r>
              <a:rPr lang="en-US" altLang="zh-CN" sz="2000" baseline="-25000" dirty="0"/>
              <a:t>1</a:t>
            </a:r>
            <a:r>
              <a:rPr lang="zh-CN" altLang="en-US" sz="2000" dirty="0"/>
              <a:t>，在写之后的值将是</a:t>
            </a:r>
            <a:r>
              <a:rPr lang="en-US" altLang="zh-CN" sz="2000" dirty="0"/>
              <a:t>V</a:t>
            </a:r>
            <a:r>
              <a:rPr lang="en-US" altLang="zh-CN" sz="2000" baseline="-25000" dirty="0"/>
              <a:t>2</a:t>
            </a:r>
            <a:endParaRPr lang="en-US" altLang="zh-CN" sz="2000" dirty="0"/>
          </a:p>
          <a:p>
            <a:pPr eaLnBrk="1" hangingPunct="1">
              <a:lnSpc>
                <a:spcPct val="90000"/>
              </a:lnSpc>
            </a:pPr>
            <a:r>
              <a:rPr lang="zh-CN" altLang="en-US" sz="2400" dirty="0"/>
              <a:t>当</a:t>
            </a:r>
            <a:r>
              <a:rPr lang="en-US" altLang="zh-CN" sz="2400" dirty="0" err="1"/>
              <a:t>T</a:t>
            </a:r>
            <a:r>
              <a:rPr lang="en-US" altLang="zh-CN" sz="2400" baseline="-25000" dirty="0" err="1"/>
              <a:t>i</a:t>
            </a:r>
            <a:r>
              <a:rPr lang="en-US" altLang="zh-CN" sz="2400" dirty="0"/>
              <a:t> </a:t>
            </a:r>
            <a:r>
              <a:rPr lang="zh-CN" altLang="en-US" sz="2400" b="1" dirty="0"/>
              <a:t>完成</a:t>
            </a:r>
            <a:r>
              <a:rPr lang="zh-CN" altLang="en-US" sz="2400" dirty="0"/>
              <a:t>最后一条语句，</a:t>
            </a:r>
            <a:r>
              <a:rPr lang="zh-CN" altLang="en-US" sz="2400" b="1" dirty="0"/>
              <a:t>写入日志记录</a:t>
            </a:r>
            <a:r>
              <a:rPr lang="en-US" altLang="zh-CN" sz="2400" dirty="0"/>
              <a:t>&lt;</a:t>
            </a:r>
            <a:r>
              <a:rPr lang="en-US" altLang="zh-CN" sz="2400" dirty="0" err="1"/>
              <a:t>T</a:t>
            </a:r>
            <a:r>
              <a:rPr lang="en-US" altLang="zh-CN" sz="2400" baseline="-25000" dirty="0" err="1"/>
              <a:t>i</a:t>
            </a:r>
            <a:r>
              <a:rPr lang="en-US" altLang="zh-CN" sz="2400" dirty="0"/>
              <a:t> </a:t>
            </a:r>
            <a:r>
              <a:rPr lang="en-US" altLang="zh-CN" sz="2400" b="0" dirty="0"/>
              <a:t> commi</a:t>
            </a:r>
            <a:r>
              <a:rPr lang="en-US" altLang="zh-CN" sz="2400" dirty="0"/>
              <a:t>t&gt;</a:t>
            </a:r>
          </a:p>
          <a:p>
            <a:pPr>
              <a:lnSpc>
                <a:spcPct val="90000"/>
              </a:lnSpc>
            </a:pPr>
            <a:r>
              <a:rPr lang="zh-CN" altLang="en-US" sz="2400" dirty="0"/>
              <a:t>若事务</a:t>
            </a:r>
            <a:r>
              <a:rPr lang="en-US" altLang="zh-CN" sz="2400" dirty="0" err="1"/>
              <a:t>T</a:t>
            </a:r>
            <a:r>
              <a:rPr lang="en-US" altLang="zh-CN" sz="2400" baseline="-25000" dirty="0" err="1"/>
              <a:t>i</a:t>
            </a:r>
            <a:r>
              <a:rPr lang="zh-CN" altLang="en-US" sz="2400" dirty="0"/>
              <a:t>中止，</a:t>
            </a:r>
            <a:r>
              <a:rPr lang="zh-CN" altLang="en-US" sz="2400" b="1" dirty="0"/>
              <a:t>写入日志记录</a:t>
            </a:r>
            <a:r>
              <a:rPr lang="en-US" altLang="zh-CN" sz="2400" dirty="0"/>
              <a:t>&lt;</a:t>
            </a:r>
            <a:r>
              <a:rPr lang="en-US" altLang="zh-CN" sz="2400" dirty="0" err="1"/>
              <a:t>T</a:t>
            </a:r>
            <a:r>
              <a:rPr lang="en-US" altLang="zh-CN" sz="2400" baseline="-25000" dirty="0" err="1"/>
              <a:t>i</a:t>
            </a:r>
            <a:r>
              <a:rPr lang="en-US" altLang="zh-CN" sz="2400" dirty="0"/>
              <a:t>  abort&gt;</a:t>
            </a:r>
          </a:p>
        </p:txBody>
      </p:sp>
      <p:cxnSp>
        <p:nvCxnSpPr>
          <p:cNvPr id="5" name="直接箭头连接符 4"/>
          <p:cNvCxnSpPr>
            <a:cxnSpLocks/>
          </p:cNvCxnSpPr>
          <p:nvPr/>
        </p:nvCxnSpPr>
        <p:spPr bwMode="auto">
          <a:xfrm>
            <a:off x="4644008" y="2852936"/>
            <a:ext cx="288032" cy="18722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直接箭头连接符 15"/>
          <p:cNvCxnSpPr/>
          <p:nvPr/>
        </p:nvCxnSpPr>
        <p:spPr bwMode="auto">
          <a:xfrm flipH="1">
            <a:off x="5436096" y="2852936"/>
            <a:ext cx="2304256" cy="31683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矩形 12"/>
          <p:cNvSpPr/>
          <p:nvPr/>
        </p:nvSpPr>
        <p:spPr>
          <a:xfrm>
            <a:off x="539552" y="4581128"/>
            <a:ext cx="5688632" cy="182819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b="1" dirty="0"/>
              <a:t>日志记录</a:t>
            </a:r>
            <a:r>
              <a:rPr lang="zh-CN" altLang="en-US" u="sng" dirty="0"/>
              <a:t>使得系统</a:t>
            </a:r>
            <a:r>
              <a:rPr lang="zh-CN" altLang="en-US" dirty="0"/>
              <a:t>在</a:t>
            </a:r>
            <a:r>
              <a:rPr lang="zh-CN" altLang="en-US" dirty="0">
                <a:solidFill>
                  <a:srgbClr val="0000FF"/>
                </a:solidFill>
              </a:rPr>
              <a:t>事务必须中止</a:t>
            </a:r>
            <a:r>
              <a:rPr lang="zh-CN" altLang="en-US" dirty="0"/>
              <a:t>的情况下能够对</a:t>
            </a:r>
            <a:r>
              <a:rPr lang="zh-CN" altLang="en-US" b="1" dirty="0">
                <a:solidFill>
                  <a:srgbClr val="0000FF"/>
                </a:solidFill>
              </a:rPr>
              <a:t>事务所做的修改</a:t>
            </a:r>
            <a:r>
              <a:rPr lang="zh-CN" altLang="en-US" b="1" dirty="0"/>
              <a:t>进行</a:t>
            </a:r>
            <a:r>
              <a:rPr lang="zh-CN" altLang="en-US" b="1" dirty="0">
                <a:solidFill>
                  <a:srgbClr val="0000FF"/>
                </a:solidFill>
              </a:rPr>
              <a:t>撤销</a:t>
            </a:r>
            <a:r>
              <a:rPr lang="en-US" altLang="zh-CN" dirty="0"/>
              <a:t>;</a:t>
            </a:r>
          </a:p>
          <a:p>
            <a:r>
              <a:rPr lang="zh-CN" altLang="en-US" dirty="0"/>
              <a:t>并且在</a:t>
            </a:r>
            <a:r>
              <a:rPr lang="zh-CN" altLang="en-US" b="1" dirty="0"/>
              <a:t>事务已经提交</a:t>
            </a:r>
            <a:r>
              <a:rPr lang="zh-CN" altLang="en-US" dirty="0"/>
              <a:t>，但在</a:t>
            </a:r>
            <a:r>
              <a:rPr lang="zh-CN" altLang="en-US" dirty="0">
                <a:solidFill>
                  <a:srgbClr val="0000FF"/>
                </a:solidFill>
              </a:rPr>
              <a:t>修改</a:t>
            </a:r>
            <a:r>
              <a:rPr lang="zh-CN" altLang="en-US" b="1" dirty="0">
                <a:solidFill>
                  <a:srgbClr val="FF0000"/>
                </a:solidFill>
              </a:rPr>
              <a:t>未被</a:t>
            </a:r>
            <a:r>
              <a:rPr lang="zh-CN" altLang="en-US" b="1" dirty="0">
                <a:solidFill>
                  <a:srgbClr val="0000FF"/>
                </a:solidFill>
              </a:rPr>
              <a:t>存放</a:t>
            </a:r>
            <a:r>
              <a:rPr lang="zh-CN" altLang="en-US" b="1" dirty="0"/>
              <a:t>到</a:t>
            </a:r>
            <a:r>
              <a:rPr lang="zh-CN" altLang="en-US" b="1" dirty="0">
                <a:solidFill>
                  <a:srgbClr val="0000FF"/>
                </a:solidFill>
              </a:rPr>
              <a:t>磁盘</a:t>
            </a:r>
            <a:r>
              <a:rPr lang="zh-CN" altLang="en-US" dirty="0"/>
              <a:t>上的数据库中时，</a:t>
            </a:r>
            <a:r>
              <a:rPr lang="zh-CN" altLang="en-US" b="1" dirty="0"/>
              <a:t>系统崩溃</a:t>
            </a:r>
            <a:r>
              <a:rPr lang="zh-CN" altLang="en-US" dirty="0"/>
              <a:t>的情况下能够对</a:t>
            </a:r>
            <a:r>
              <a:rPr lang="zh-CN" altLang="en-US" b="1" dirty="0">
                <a:solidFill>
                  <a:srgbClr val="0000FF"/>
                </a:solidFill>
              </a:rPr>
              <a:t>事务所做的修改</a:t>
            </a:r>
            <a:r>
              <a:rPr lang="zh-CN" altLang="en-US" b="1" dirty="0"/>
              <a:t>进行</a:t>
            </a:r>
            <a:r>
              <a:rPr lang="zh-CN" altLang="en-US" b="1" dirty="0">
                <a:solidFill>
                  <a:srgbClr val="0000FF"/>
                </a:solidFill>
              </a:rPr>
              <a:t>重做</a:t>
            </a:r>
            <a:r>
              <a:rPr lang="zh-CN" altLang="en-US" dirty="0"/>
              <a:t>。</a:t>
            </a:r>
          </a:p>
        </p:txBody>
      </p:sp>
      <p:sp>
        <p:nvSpPr>
          <p:cNvPr id="3" name="文本框 2">
            <a:extLst>
              <a:ext uri="{FF2B5EF4-FFF2-40B4-BE49-F238E27FC236}">
                <a16:creationId xmlns:a16="http://schemas.microsoft.com/office/drawing/2014/main" id="{73A65F45-5D72-D202-B384-307C3EAB5296}"/>
              </a:ext>
            </a:extLst>
          </p:cNvPr>
          <p:cNvSpPr txBox="1"/>
          <p:nvPr/>
        </p:nvSpPr>
        <p:spPr>
          <a:xfrm>
            <a:off x="6833865" y="4985606"/>
            <a:ext cx="2110110" cy="7571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2400" b="1" dirty="0">
                <a:solidFill>
                  <a:srgbClr val="0000FF"/>
                </a:solidFill>
              </a:rPr>
              <a:t>恢复中，如何使用日志文件？</a:t>
            </a:r>
            <a:endParaRPr lang="zh-CN" altLang="en-US" dirty="0"/>
          </a:p>
        </p:txBody>
      </p:sp>
      <p:sp>
        <p:nvSpPr>
          <p:cNvPr id="2" name="日期占位符 1">
            <a:extLst>
              <a:ext uri="{FF2B5EF4-FFF2-40B4-BE49-F238E27FC236}">
                <a16:creationId xmlns:a16="http://schemas.microsoft.com/office/drawing/2014/main" id="{E5245031-8C8E-263F-56FC-E4C26FEE0BE8}"/>
              </a:ext>
            </a:extLst>
          </p:cNvPr>
          <p:cNvSpPr>
            <a:spLocks noGrp="1"/>
          </p:cNvSpPr>
          <p:nvPr>
            <p:ph type="dt" sz="half" idx="10"/>
          </p:nvPr>
        </p:nvSpPr>
        <p:spPr/>
        <p:txBody>
          <a:bodyPr/>
          <a:lstStyle/>
          <a:p>
            <a:fld id="{E11B3382-44B8-4612-B2AD-140F3E183F6F}" type="datetime1">
              <a:rPr lang="zh-CN" altLang="en-US" smtClean="0"/>
              <a:t>2025/12/24</a:t>
            </a:fld>
            <a:endParaRPr lang="en-US" altLang="zh-CN"/>
          </a:p>
        </p:txBody>
      </p:sp>
      <p:sp>
        <p:nvSpPr>
          <p:cNvPr id="4" name="页脚占位符 3">
            <a:extLst>
              <a:ext uri="{FF2B5EF4-FFF2-40B4-BE49-F238E27FC236}">
                <a16:creationId xmlns:a16="http://schemas.microsoft.com/office/drawing/2014/main" id="{B27FDA8A-7D15-F3C4-F8F2-8857D553B0D7}"/>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12CF11B3-D026-6E4F-3957-71CDF71D3BA4}"/>
              </a:ext>
            </a:extLst>
          </p:cNvPr>
          <p:cNvSpPr>
            <a:spLocks noGrp="1"/>
          </p:cNvSpPr>
          <p:nvPr>
            <p:ph type="sldNum" sz="quarter" idx="12"/>
          </p:nvPr>
        </p:nvSpPr>
        <p:spPr/>
        <p:txBody>
          <a:bodyPr/>
          <a:lstStyle/>
          <a:p>
            <a:fld id="{AB1F7240-85F2-492B-84D8-762EF0110923}" type="slidenum">
              <a:rPr lang="en-US" altLang="zh-CN" smtClean="0"/>
              <a:pPr/>
              <a:t>35</a:t>
            </a:fld>
            <a:r>
              <a:rPr lang="en-US" altLang="zh-CN"/>
              <a:t>/67</a:t>
            </a:r>
            <a:endParaRPr lang="zh-CN" altLang="en-US" dirty="0"/>
          </a:p>
        </p:txBody>
      </p:sp>
    </p:spTree>
    <p:extLst>
      <p:ext uri="{BB962C8B-B14F-4D97-AF65-F5344CB8AC3E}">
        <p14:creationId xmlns:p14="http://schemas.microsoft.com/office/powerpoint/2010/main" val="6525817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zh-CN" altLang="en-US" dirty="0"/>
              <a:t>数据库修改</a:t>
            </a:r>
            <a:endParaRPr lang="en-US" altLang="zh-CN" dirty="0"/>
          </a:p>
        </p:txBody>
      </p:sp>
      <p:sp>
        <p:nvSpPr>
          <p:cNvPr id="19460" name="Rectangle 3"/>
          <p:cNvSpPr>
            <a:spLocks noGrp="1" noChangeArrowheads="1"/>
          </p:cNvSpPr>
          <p:nvPr>
            <p:ph type="body" idx="4294967295"/>
          </p:nvPr>
        </p:nvSpPr>
        <p:spPr>
          <a:xfrm>
            <a:off x="619233" y="1412776"/>
            <a:ext cx="8201239" cy="4896544"/>
          </a:xfrm>
        </p:spPr>
        <p:txBody>
          <a:bodyPr/>
          <a:lstStyle/>
          <a:p>
            <a:pPr eaLnBrk="1" hangingPunct="1"/>
            <a:r>
              <a:rPr lang="zh-CN" altLang="en-US" sz="2400" b="1" dirty="0">
                <a:effectLst>
                  <a:outerShdw blurRad="38100" dist="38100" dir="2700000" algn="tl">
                    <a:srgbClr val="000000">
                      <a:alpha val="43137"/>
                    </a:srgbClr>
                  </a:outerShdw>
                </a:effectLst>
              </a:rPr>
              <a:t>首先</a:t>
            </a:r>
            <a:r>
              <a:rPr lang="zh-CN" altLang="en-US" sz="2400" dirty="0"/>
              <a:t>，考虑事务在</a:t>
            </a:r>
            <a:r>
              <a:rPr lang="zh-CN" altLang="en-US" sz="2400" b="1" dirty="0">
                <a:solidFill>
                  <a:srgbClr val="0000FF"/>
                </a:solidFill>
              </a:rPr>
              <a:t>进行数据项修改</a:t>
            </a:r>
            <a:r>
              <a:rPr lang="zh-CN" altLang="en-US" sz="2400" dirty="0"/>
              <a:t>中所采取的步骤</a:t>
            </a:r>
            <a:r>
              <a:rPr lang="en-US" altLang="zh-CN" sz="2400" dirty="0"/>
              <a:t>:</a:t>
            </a:r>
          </a:p>
          <a:p>
            <a:pPr lvl="1"/>
            <a:r>
              <a:rPr lang="en-US" altLang="zh-CN" sz="2000" dirty="0"/>
              <a:t>1.</a:t>
            </a:r>
            <a:r>
              <a:rPr lang="zh-CN" altLang="en-US" sz="2000" dirty="0"/>
              <a:t>事务在主存中自己</a:t>
            </a:r>
            <a:r>
              <a:rPr lang="zh-CN" altLang="en-US" sz="2000" b="1" dirty="0"/>
              <a:t>私有的部分</a:t>
            </a:r>
            <a:r>
              <a:rPr lang="zh-CN" altLang="en-US" sz="2000" dirty="0">
                <a:solidFill>
                  <a:srgbClr val="0000FF"/>
                </a:solidFill>
              </a:rPr>
              <a:t>执行某些计算</a:t>
            </a:r>
            <a:r>
              <a:rPr lang="zh-CN" altLang="en-US" sz="2000" dirty="0"/>
              <a:t>。</a:t>
            </a:r>
          </a:p>
          <a:p>
            <a:pPr lvl="1"/>
            <a:r>
              <a:rPr lang="en-US" altLang="zh-CN" sz="2000" dirty="0"/>
              <a:t>2.</a:t>
            </a:r>
            <a:r>
              <a:rPr lang="zh-CN" altLang="en-US" sz="2000" b="1" dirty="0"/>
              <a:t>事务</a:t>
            </a:r>
            <a:r>
              <a:rPr lang="zh-CN" altLang="en-US" sz="2000" b="1" dirty="0">
                <a:solidFill>
                  <a:srgbClr val="0000FF"/>
                </a:solidFill>
              </a:rPr>
              <a:t>修改</a:t>
            </a:r>
            <a:r>
              <a:rPr lang="zh-CN" altLang="en-US" sz="2000" b="1" dirty="0">
                <a:solidFill>
                  <a:srgbClr val="CC0000"/>
                </a:solidFill>
              </a:rPr>
              <a:t>主存</a:t>
            </a:r>
            <a:r>
              <a:rPr lang="zh-CN" altLang="en-US" sz="2000" dirty="0">
                <a:solidFill>
                  <a:srgbClr val="0000FF"/>
                </a:solidFill>
              </a:rPr>
              <a:t>的</a:t>
            </a:r>
            <a:r>
              <a:rPr lang="zh-CN" altLang="en-US" sz="2000" dirty="0">
                <a:solidFill>
                  <a:srgbClr val="FF0000"/>
                </a:solidFill>
              </a:rPr>
              <a:t>磁盘</a:t>
            </a:r>
            <a:r>
              <a:rPr lang="zh-CN" altLang="en-US" sz="2000" b="1" dirty="0">
                <a:solidFill>
                  <a:srgbClr val="FF0000"/>
                </a:solidFill>
              </a:rPr>
              <a:t>缓冲区</a:t>
            </a:r>
            <a:r>
              <a:rPr lang="zh-CN" altLang="en-US" sz="2000" dirty="0"/>
              <a:t>中</a:t>
            </a:r>
            <a:r>
              <a:rPr lang="zh-CN" altLang="en-US" sz="2000" b="1" dirty="0"/>
              <a:t>包含该数据项</a:t>
            </a:r>
            <a:r>
              <a:rPr lang="zh-CN" altLang="en-US" sz="2000" dirty="0"/>
              <a:t>的</a:t>
            </a:r>
            <a:r>
              <a:rPr lang="zh-CN" altLang="en-US" sz="2000" dirty="0">
                <a:solidFill>
                  <a:srgbClr val="0000FF"/>
                </a:solidFill>
              </a:rPr>
              <a:t>数据块</a:t>
            </a:r>
            <a:r>
              <a:rPr lang="zh-CN" altLang="en-US" sz="2000" dirty="0"/>
              <a:t>。</a:t>
            </a:r>
          </a:p>
          <a:p>
            <a:pPr lvl="1"/>
            <a:r>
              <a:rPr lang="en-US" altLang="zh-CN" sz="2000" dirty="0"/>
              <a:t>3.</a:t>
            </a:r>
            <a:r>
              <a:rPr lang="zh-CN" altLang="en-US" sz="2000" dirty="0"/>
              <a:t>数据库系统</a:t>
            </a:r>
            <a:r>
              <a:rPr lang="zh-CN" altLang="en-US" sz="2000" b="1" dirty="0">
                <a:solidFill>
                  <a:srgbClr val="0000FF"/>
                </a:solidFill>
              </a:rPr>
              <a:t>执行</a:t>
            </a:r>
            <a:r>
              <a:rPr lang="en-US" altLang="zh-CN" sz="2000" b="1" dirty="0">
                <a:solidFill>
                  <a:srgbClr val="0000FF"/>
                </a:solidFill>
              </a:rPr>
              <a:t>output</a:t>
            </a:r>
            <a:r>
              <a:rPr lang="zh-CN" altLang="en-US" sz="2000" b="1" dirty="0">
                <a:solidFill>
                  <a:srgbClr val="0000FF"/>
                </a:solidFill>
              </a:rPr>
              <a:t>操作</a:t>
            </a:r>
            <a:r>
              <a:rPr lang="zh-CN" altLang="en-US" sz="2000" dirty="0"/>
              <a:t>，将</a:t>
            </a:r>
            <a:r>
              <a:rPr lang="zh-CN" altLang="en-US" sz="2000" dirty="0">
                <a:solidFill>
                  <a:srgbClr val="0000FF"/>
                </a:solidFill>
              </a:rPr>
              <a:t>数据块</a:t>
            </a:r>
            <a:r>
              <a:rPr lang="zh-CN" altLang="en-US" sz="2000" dirty="0">
                <a:solidFill>
                  <a:srgbClr val="FF0000"/>
                </a:solidFill>
              </a:rPr>
              <a:t>写到磁盘</a:t>
            </a:r>
            <a:r>
              <a:rPr lang="zh-CN" altLang="en-US" sz="2000" dirty="0"/>
              <a:t>中。</a:t>
            </a:r>
            <a:endParaRPr lang="en-US" altLang="zh-CN" sz="2000" dirty="0"/>
          </a:p>
          <a:p>
            <a:r>
              <a:rPr lang="zh-CN" altLang="en-US" sz="2000" dirty="0"/>
              <a:t>如果一个事务</a:t>
            </a:r>
            <a:r>
              <a:rPr lang="zh-CN" altLang="en-US" sz="2000" b="1" dirty="0">
                <a:solidFill>
                  <a:srgbClr val="0000FF"/>
                </a:solidFill>
              </a:rPr>
              <a:t>执行</a:t>
            </a:r>
            <a:r>
              <a:rPr lang="zh-CN" altLang="en-US" sz="2000" dirty="0"/>
              <a:t>了对</a:t>
            </a:r>
            <a:r>
              <a:rPr lang="zh-CN" altLang="en-US" sz="2000" b="1" dirty="0">
                <a:solidFill>
                  <a:srgbClr val="0000FF"/>
                </a:solidFill>
              </a:rPr>
              <a:t>磁盘缓冲区</a:t>
            </a:r>
            <a:r>
              <a:rPr lang="zh-CN" altLang="en-US" sz="2000" dirty="0"/>
              <a:t>或</a:t>
            </a:r>
            <a:r>
              <a:rPr lang="zh-CN" altLang="en-US" sz="2000" b="1" dirty="0">
                <a:solidFill>
                  <a:srgbClr val="0000FF"/>
                </a:solidFill>
              </a:rPr>
              <a:t>磁盘自身</a:t>
            </a:r>
            <a:r>
              <a:rPr lang="zh-CN" altLang="en-US" sz="2000" dirty="0"/>
              <a:t>的</a:t>
            </a:r>
            <a:r>
              <a:rPr lang="zh-CN" altLang="en-US" sz="2000" b="1" dirty="0">
                <a:solidFill>
                  <a:srgbClr val="0000FF"/>
                </a:solidFill>
              </a:rPr>
              <a:t>更新</a:t>
            </a:r>
            <a:r>
              <a:rPr lang="zh-CN" altLang="en-US" sz="2000" dirty="0"/>
              <a:t>，我们说这个事务</a:t>
            </a:r>
            <a:r>
              <a:rPr lang="zh-CN" altLang="en-US" sz="2000" b="1" dirty="0">
                <a:solidFill>
                  <a:srgbClr val="0000FF"/>
                </a:solidFill>
              </a:rPr>
              <a:t>修改了数据库</a:t>
            </a:r>
            <a:r>
              <a:rPr lang="en-US" altLang="zh-CN" sz="2000" dirty="0"/>
              <a:t>;</a:t>
            </a:r>
          </a:p>
          <a:p>
            <a:r>
              <a:rPr lang="zh-CN" altLang="en-US" sz="2000" dirty="0"/>
              <a:t>而事务在</a:t>
            </a:r>
            <a:r>
              <a:rPr lang="zh-CN" altLang="en-US" sz="2000" b="1" dirty="0">
                <a:solidFill>
                  <a:srgbClr val="0000FF"/>
                </a:solidFill>
              </a:rPr>
              <a:t>主存</a:t>
            </a:r>
            <a:r>
              <a:rPr lang="zh-CN" altLang="en-US" sz="2000" dirty="0"/>
              <a:t>中自已</a:t>
            </a:r>
            <a:r>
              <a:rPr lang="zh-CN" altLang="en-US" sz="2000" b="1" dirty="0"/>
              <a:t>私有的部分</a:t>
            </a:r>
            <a:r>
              <a:rPr lang="zh-CN" altLang="en-US" sz="2000" dirty="0"/>
              <a:t>进行的</a:t>
            </a:r>
            <a:r>
              <a:rPr lang="zh-CN" altLang="en-US" sz="2000" b="1" dirty="0"/>
              <a:t>更新</a:t>
            </a:r>
            <a:r>
              <a:rPr lang="zh-CN" altLang="en-US" sz="2000" b="1" dirty="0">
                <a:solidFill>
                  <a:srgbClr val="FF0000"/>
                </a:solidFill>
              </a:rPr>
              <a:t>不算</a:t>
            </a:r>
            <a:r>
              <a:rPr lang="zh-CN" altLang="en-US" sz="2000" b="1" dirty="0">
                <a:solidFill>
                  <a:srgbClr val="0000FF"/>
                </a:solidFill>
              </a:rPr>
              <a:t>数据库修改</a:t>
            </a:r>
            <a:r>
              <a:rPr lang="zh-CN" altLang="en-US" sz="2000" dirty="0"/>
              <a:t>。</a:t>
            </a:r>
            <a:endParaRPr lang="en-US" altLang="zh-CN" sz="2000" dirty="0"/>
          </a:p>
          <a:p>
            <a:r>
              <a:rPr lang="zh-CN" altLang="en-US" sz="2000" dirty="0"/>
              <a:t>如果一个</a:t>
            </a:r>
            <a:r>
              <a:rPr lang="zh-CN" altLang="en-US" sz="2000" b="1" dirty="0"/>
              <a:t>事务</a:t>
            </a:r>
            <a:r>
              <a:rPr lang="zh-CN" altLang="en-US" sz="2000" dirty="0"/>
              <a:t>直到它</a:t>
            </a:r>
            <a:r>
              <a:rPr lang="zh-CN" altLang="en-US" sz="2000" b="1" dirty="0">
                <a:solidFill>
                  <a:srgbClr val="0000FF"/>
                </a:solidFill>
              </a:rPr>
              <a:t>提交时</a:t>
            </a:r>
            <a:r>
              <a:rPr lang="zh-CN" altLang="en-US" sz="2000" dirty="0"/>
              <a:t>都</a:t>
            </a:r>
            <a:r>
              <a:rPr lang="zh-CN" altLang="en-US" sz="2000" b="1" dirty="0">
                <a:solidFill>
                  <a:srgbClr val="0000FF"/>
                </a:solidFill>
              </a:rPr>
              <a:t>没有修改数据库</a:t>
            </a:r>
            <a:r>
              <a:rPr lang="zh-CN" altLang="en-US" sz="2000" dirty="0"/>
              <a:t>，我们就说它采用了</a:t>
            </a:r>
            <a:r>
              <a:rPr lang="zh-CN" altLang="en-US" sz="2000" b="1" u="sng" dirty="0">
                <a:solidFill>
                  <a:srgbClr val="FF0000"/>
                </a:solidFill>
              </a:rPr>
              <a:t>延迟修改</a:t>
            </a:r>
            <a:r>
              <a:rPr lang="en-US" altLang="zh-CN" sz="2000" u="sng" dirty="0"/>
              <a:t>(deferred-modification)</a:t>
            </a:r>
            <a:r>
              <a:rPr lang="zh-CN" altLang="en-US" sz="2000" u="sng" dirty="0"/>
              <a:t>技术</a:t>
            </a:r>
            <a:r>
              <a:rPr lang="zh-CN" altLang="en-US" sz="2000" dirty="0"/>
              <a:t>。</a:t>
            </a:r>
            <a:endParaRPr lang="en-US" altLang="zh-CN" sz="2000" dirty="0"/>
          </a:p>
          <a:p>
            <a:r>
              <a:rPr lang="zh-CN" altLang="en-US" sz="2000" dirty="0"/>
              <a:t>如果</a:t>
            </a:r>
            <a:r>
              <a:rPr lang="zh-CN" altLang="en-US" sz="2000" b="1" dirty="0">
                <a:solidFill>
                  <a:srgbClr val="0000FF"/>
                </a:solidFill>
              </a:rPr>
              <a:t>数据库修改</a:t>
            </a:r>
            <a:r>
              <a:rPr lang="zh-CN" altLang="en-US" sz="2000" dirty="0"/>
              <a:t>在</a:t>
            </a:r>
            <a:r>
              <a:rPr lang="zh-CN" altLang="en-US" sz="2000" b="1" dirty="0">
                <a:solidFill>
                  <a:srgbClr val="0000FF"/>
                </a:solidFill>
              </a:rPr>
              <a:t>事务</a:t>
            </a:r>
            <a:r>
              <a:rPr lang="zh-CN" altLang="en-US" sz="2000" dirty="0"/>
              <a:t>仍然</a:t>
            </a:r>
            <a:r>
              <a:rPr lang="zh-CN" altLang="en-US" sz="2000" b="1" dirty="0">
                <a:solidFill>
                  <a:srgbClr val="0000FF"/>
                </a:solidFill>
              </a:rPr>
              <a:t>活跃</a:t>
            </a:r>
            <a:r>
              <a:rPr lang="zh-CN" altLang="en-US" sz="2000" dirty="0"/>
              <a:t>时发生，我们就说它采用了</a:t>
            </a:r>
            <a:r>
              <a:rPr lang="zh-CN" altLang="en-US" sz="2000" b="1" u="sng" dirty="0">
                <a:solidFill>
                  <a:srgbClr val="FF0000"/>
                </a:solidFill>
              </a:rPr>
              <a:t>立即修改</a:t>
            </a:r>
            <a:r>
              <a:rPr lang="en-US" altLang="zh-CN" sz="2000" u="sng" dirty="0"/>
              <a:t>(immediate modification)</a:t>
            </a:r>
            <a:r>
              <a:rPr lang="zh-CN" altLang="en-US" sz="2000" u="sng" dirty="0"/>
              <a:t>技术</a:t>
            </a:r>
            <a:r>
              <a:rPr lang="zh-CN" altLang="en-US" sz="2000" dirty="0"/>
              <a:t>。</a:t>
            </a:r>
            <a:endParaRPr lang="en-US" altLang="zh-CN" sz="2000" dirty="0"/>
          </a:p>
          <a:p>
            <a:r>
              <a:rPr lang="zh-CN" altLang="en-US" sz="2000" b="1" dirty="0">
                <a:solidFill>
                  <a:srgbClr val="0000FF"/>
                </a:solidFill>
              </a:rPr>
              <a:t>延迟修改</a:t>
            </a:r>
            <a:r>
              <a:rPr lang="zh-CN" altLang="en-US" sz="2000" dirty="0"/>
              <a:t>所付出的开销是，事务需要</a:t>
            </a:r>
            <a:r>
              <a:rPr lang="zh-CN" altLang="en-US" sz="2000" b="1" dirty="0">
                <a:solidFill>
                  <a:srgbClr val="0000FF"/>
                </a:solidFill>
              </a:rPr>
              <a:t>创建</a:t>
            </a:r>
            <a:r>
              <a:rPr lang="zh-CN" altLang="en-US" sz="2000" b="1" dirty="0"/>
              <a:t>更新过的所有的数据项的</a:t>
            </a:r>
            <a:r>
              <a:rPr lang="zh-CN" altLang="en-US" sz="2000" b="1" dirty="0">
                <a:solidFill>
                  <a:srgbClr val="0000FF"/>
                </a:solidFill>
              </a:rPr>
              <a:t>本地拷贝</a:t>
            </a:r>
            <a:r>
              <a:rPr lang="en-US" altLang="zh-CN" sz="2000" dirty="0"/>
              <a:t>; </a:t>
            </a:r>
            <a:r>
              <a:rPr lang="zh-CN" altLang="en-US" sz="2000" dirty="0"/>
              <a:t>而且如果一个事务</a:t>
            </a:r>
            <a:r>
              <a:rPr lang="zh-CN" altLang="en-US" sz="2000" b="1" dirty="0"/>
              <a:t>读它更新过的数据项</a:t>
            </a:r>
            <a:r>
              <a:rPr lang="zh-CN" altLang="en-US" sz="2000" dirty="0"/>
              <a:t>，它必须从自己的</a:t>
            </a:r>
            <a:r>
              <a:rPr lang="zh-CN" altLang="en-US" sz="2000" b="1" dirty="0"/>
              <a:t>本地拷贝中读</a:t>
            </a:r>
            <a:r>
              <a:rPr lang="zh-CN" altLang="en-US" sz="2000" dirty="0"/>
              <a:t>。</a:t>
            </a:r>
          </a:p>
          <a:p>
            <a:pPr lvl="1"/>
            <a:endParaRPr lang="zh-CN" altLang="en-US" sz="2000" dirty="0"/>
          </a:p>
          <a:p>
            <a:pPr lvl="1"/>
            <a:endParaRPr lang="zh-CN" altLang="en-US" sz="2000" dirty="0"/>
          </a:p>
          <a:p>
            <a:pPr eaLnBrk="1" hangingPunct="1"/>
            <a:endParaRPr lang="en-US" altLang="zh-CN" sz="2400" dirty="0"/>
          </a:p>
        </p:txBody>
      </p:sp>
      <p:sp>
        <p:nvSpPr>
          <p:cNvPr id="2" name="日期占位符 1">
            <a:extLst>
              <a:ext uri="{FF2B5EF4-FFF2-40B4-BE49-F238E27FC236}">
                <a16:creationId xmlns:a16="http://schemas.microsoft.com/office/drawing/2014/main" id="{B54BBD63-2222-A3F5-B9C1-07F39D900388}"/>
              </a:ext>
            </a:extLst>
          </p:cNvPr>
          <p:cNvSpPr>
            <a:spLocks noGrp="1"/>
          </p:cNvSpPr>
          <p:nvPr>
            <p:ph type="dt" sz="half" idx="10"/>
          </p:nvPr>
        </p:nvSpPr>
        <p:spPr/>
        <p:txBody>
          <a:bodyPr/>
          <a:lstStyle/>
          <a:p>
            <a:fld id="{C9558F8C-3AD5-4F83-B272-B463A25F212A}"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1D487632-5D71-7BF3-27A0-705DEC052DCB}"/>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4B3C9588-B0F4-05E1-5144-213C2BC93E6E}"/>
              </a:ext>
            </a:extLst>
          </p:cNvPr>
          <p:cNvSpPr>
            <a:spLocks noGrp="1"/>
          </p:cNvSpPr>
          <p:nvPr>
            <p:ph type="sldNum" sz="quarter" idx="12"/>
          </p:nvPr>
        </p:nvSpPr>
        <p:spPr/>
        <p:txBody>
          <a:bodyPr/>
          <a:lstStyle/>
          <a:p>
            <a:fld id="{AB1F7240-85F2-492B-84D8-762EF0110923}" type="slidenum">
              <a:rPr lang="en-US" altLang="zh-CN" smtClean="0"/>
              <a:pPr/>
              <a:t>36</a:t>
            </a:fld>
            <a:r>
              <a:rPr lang="en-US" altLang="zh-CN"/>
              <a:t>/67</a:t>
            </a:r>
            <a:endParaRPr lang="zh-CN" altLang="en-US" dirty="0"/>
          </a:p>
        </p:txBody>
      </p:sp>
    </p:spTree>
    <p:extLst>
      <p:ext uri="{BB962C8B-B14F-4D97-AF65-F5344CB8AC3E}">
        <p14:creationId xmlns:p14="http://schemas.microsoft.com/office/powerpoint/2010/main" val="22652397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60">
                                            <p:txEl>
                                              <p:pRg st="4" end="4"/>
                                            </p:txEl>
                                          </p:spTgt>
                                        </p:tgtEl>
                                        <p:attrNameLst>
                                          <p:attrName>style.visibility</p:attrName>
                                        </p:attrNameLst>
                                      </p:cBhvr>
                                      <p:to>
                                        <p:strVal val="visible"/>
                                      </p:to>
                                    </p:set>
                                    <p:anim calcmode="lin" valueType="num">
                                      <p:cBhvr additive="base">
                                        <p:cTn id="7" dur="500" fill="hold"/>
                                        <p:tgtEl>
                                          <p:spTgt spid="19460">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6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60">
                                            <p:txEl>
                                              <p:pRg st="5" end="5"/>
                                            </p:txEl>
                                          </p:spTgt>
                                        </p:tgtEl>
                                        <p:attrNameLst>
                                          <p:attrName>style.visibility</p:attrName>
                                        </p:attrNameLst>
                                      </p:cBhvr>
                                      <p:to>
                                        <p:strVal val="visible"/>
                                      </p:to>
                                    </p:set>
                                    <p:anim calcmode="lin" valueType="num">
                                      <p:cBhvr additive="base">
                                        <p:cTn id="13" dur="500" fill="hold"/>
                                        <p:tgtEl>
                                          <p:spTgt spid="19460">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6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460">
                                            <p:txEl>
                                              <p:pRg st="6" end="6"/>
                                            </p:txEl>
                                          </p:spTgt>
                                        </p:tgtEl>
                                        <p:attrNameLst>
                                          <p:attrName>style.visibility</p:attrName>
                                        </p:attrNameLst>
                                      </p:cBhvr>
                                      <p:to>
                                        <p:strVal val="visible"/>
                                      </p:to>
                                    </p:set>
                                    <p:anim calcmode="lin" valueType="num">
                                      <p:cBhvr additive="base">
                                        <p:cTn id="19" dur="500" fill="hold"/>
                                        <p:tgtEl>
                                          <p:spTgt spid="19460">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6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460">
                                            <p:txEl>
                                              <p:pRg st="7" end="7"/>
                                            </p:txEl>
                                          </p:spTgt>
                                        </p:tgtEl>
                                        <p:attrNameLst>
                                          <p:attrName>style.visibility</p:attrName>
                                        </p:attrNameLst>
                                      </p:cBhvr>
                                      <p:to>
                                        <p:strVal val="visible"/>
                                      </p:to>
                                    </p:set>
                                    <p:anim calcmode="lin" valueType="num">
                                      <p:cBhvr additive="base">
                                        <p:cTn id="25" dur="500" fill="hold"/>
                                        <p:tgtEl>
                                          <p:spTgt spid="19460">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6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9460">
                                            <p:txEl>
                                              <p:pRg st="8" end="8"/>
                                            </p:txEl>
                                          </p:spTgt>
                                        </p:tgtEl>
                                        <p:attrNameLst>
                                          <p:attrName>style.visibility</p:attrName>
                                        </p:attrNameLst>
                                      </p:cBhvr>
                                      <p:to>
                                        <p:strVal val="visible"/>
                                      </p:to>
                                    </p:set>
                                    <p:anim calcmode="lin" valueType="num">
                                      <p:cBhvr additive="base">
                                        <p:cTn id="31" dur="500" fill="hold"/>
                                        <p:tgtEl>
                                          <p:spTgt spid="19460">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6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zh-CN" altLang="en-US" dirty="0"/>
              <a:t>数据库修改</a:t>
            </a:r>
            <a:endParaRPr lang="en-US" altLang="zh-CN" dirty="0"/>
          </a:p>
        </p:txBody>
      </p:sp>
      <p:sp>
        <p:nvSpPr>
          <p:cNvPr id="19460" name="Rectangle 3"/>
          <p:cNvSpPr>
            <a:spLocks noGrp="1" noChangeArrowheads="1"/>
          </p:cNvSpPr>
          <p:nvPr>
            <p:ph type="body" idx="4294967295"/>
          </p:nvPr>
        </p:nvSpPr>
        <p:spPr>
          <a:xfrm>
            <a:off x="619233" y="1412776"/>
            <a:ext cx="8201239" cy="3672408"/>
          </a:xfrm>
        </p:spPr>
        <p:txBody>
          <a:bodyPr/>
          <a:lstStyle/>
          <a:p>
            <a:r>
              <a:rPr lang="zh-CN" altLang="en-US" sz="2400" dirty="0"/>
              <a:t>恢复算法需要考虑：</a:t>
            </a:r>
            <a:endParaRPr lang="en-US" altLang="zh-CN" sz="2400" dirty="0"/>
          </a:p>
          <a:p>
            <a:pPr lvl="1"/>
            <a:r>
              <a:rPr lang="zh-CN" altLang="en-US" sz="2000" dirty="0"/>
              <a:t>有可能一个</a:t>
            </a:r>
            <a:r>
              <a:rPr lang="zh-CN" altLang="en-US" sz="2000" b="1" dirty="0"/>
              <a:t>事务</a:t>
            </a:r>
            <a:r>
              <a:rPr lang="zh-CN" altLang="en-US" sz="2000" b="1" dirty="0">
                <a:solidFill>
                  <a:srgbClr val="0000FF"/>
                </a:solidFill>
              </a:rPr>
              <a:t>已经提交</a:t>
            </a:r>
            <a:r>
              <a:rPr lang="zh-CN" altLang="en-US" sz="2000" dirty="0"/>
              <a:t>了，虽然它所做的</a:t>
            </a:r>
            <a:r>
              <a:rPr lang="zh-CN" altLang="en-US" sz="2000" b="1" dirty="0"/>
              <a:t>某些数据库修改</a:t>
            </a:r>
            <a:r>
              <a:rPr lang="zh-CN" altLang="en-US" sz="2000" dirty="0"/>
              <a:t>还</a:t>
            </a:r>
            <a:r>
              <a:rPr lang="zh-CN" altLang="en-US" sz="2000" dirty="0">
                <a:solidFill>
                  <a:srgbClr val="CC0000"/>
                </a:solidFill>
              </a:rPr>
              <a:t>仅仅</a:t>
            </a:r>
            <a:r>
              <a:rPr lang="zh-CN" altLang="en-US" sz="2000" b="1" dirty="0">
                <a:solidFill>
                  <a:srgbClr val="CC0000"/>
                </a:solidFill>
              </a:rPr>
              <a:t>存在于</a:t>
            </a:r>
            <a:r>
              <a:rPr lang="zh-CN" altLang="en-US" sz="2000" b="1" u="sng" dirty="0"/>
              <a:t>主存的磁盘缓冲区</a:t>
            </a:r>
            <a:r>
              <a:rPr lang="zh-CN" altLang="en-US" sz="2000" b="1" dirty="0"/>
              <a:t>中，</a:t>
            </a:r>
            <a:r>
              <a:rPr lang="zh-CN" altLang="en-US" sz="2000" b="1" dirty="0">
                <a:solidFill>
                  <a:srgbClr val="CC0000"/>
                </a:solidFill>
              </a:rPr>
              <a:t>而不在</a:t>
            </a:r>
            <a:r>
              <a:rPr lang="zh-CN" altLang="en-US" sz="2000" b="1" dirty="0">
                <a:solidFill>
                  <a:srgbClr val="0000FF"/>
                </a:solidFill>
              </a:rPr>
              <a:t>磁盘上的数据库中</a:t>
            </a:r>
            <a:r>
              <a:rPr lang="zh-CN" altLang="en-US" sz="2000" b="1" dirty="0"/>
              <a:t>。</a:t>
            </a:r>
          </a:p>
          <a:p>
            <a:pPr lvl="1"/>
            <a:r>
              <a:rPr lang="zh-CN" altLang="en-US" sz="2000" dirty="0"/>
              <a:t>有可能处于</a:t>
            </a:r>
            <a:r>
              <a:rPr lang="zh-CN" altLang="en-US" sz="2000" b="1" dirty="0">
                <a:solidFill>
                  <a:srgbClr val="0000FF"/>
                </a:solidFill>
              </a:rPr>
              <a:t>活动状态</a:t>
            </a:r>
            <a:r>
              <a:rPr lang="zh-CN" altLang="en-US" sz="2000" dirty="0"/>
              <a:t>的一个事务</a:t>
            </a:r>
            <a:r>
              <a:rPr lang="zh-CN" altLang="en-US" sz="2000" b="1" dirty="0"/>
              <a:t>已经修改了</a:t>
            </a:r>
            <a:r>
              <a:rPr lang="zh-CN" altLang="en-US" sz="2000" b="1" dirty="0">
                <a:solidFill>
                  <a:srgbClr val="0000FF"/>
                </a:solidFill>
              </a:rPr>
              <a:t>数据库</a:t>
            </a:r>
            <a:r>
              <a:rPr lang="zh-CN" altLang="en-US" sz="2000" dirty="0"/>
              <a:t>，而作为后来</a:t>
            </a:r>
            <a:r>
              <a:rPr lang="zh-CN" altLang="en-US" sz="2000" b="1" dirty="0"/>
              <a:t>发生故障</a:t>
            </a:r>
            <a:r>
              <a:rPr lang="zh-CN" altLang="en-US" sz="2000" dirty="0"/>
              <a:t>，这个</a:t>
            </a:r>
            <a:r>
              <a:rPr lang="zh-CN" altLang="en-US" sz="2000" b="1" dirty="0">
                <a:solidFill>
                  <a:srgbClr val="FF0000"/>
                </a:solidFill>
              </a:rPr>
              <a:t>事务需要中止</a:t>
            </a:r>
            <a:r>
              <a:rPr lang="zh-CN" altLang="en-US" sz="2000" dirty="0"/>
              <a:t>。</a:t>
            </a:r>
          </a:p>
          <a:p>
            <a:r>
              <a:rPr lang="zh-CN" altLang="en-US" sz="2400" dirty="0"/>
              <a:t>使用日志记录</a:t>
            </a:r>
            <a:r>
              <a:rPr lang="zh-CN" altLang="en-US" sz="2400" b="1" dirty="0"/>
              <a:t>，进行适当</a:t>
            </a:r>
            <a:r>
              <a:rPr lang="zh-CN" altLang="en-US" sz="2400" dirty="0"/>
              <a:t>的</a:t>
            </a:r>
            <a:r>
              <a:rPr lang="zh-CN" altLang="en-US" sz="2400" b="1" dirty="0">
                <a:solidFill>
                  <a:srgbClr val="0000FF"/>
                </a:solidFill>
              </a:rPr>
              <a:t>撤销</a:t>
            </a:r>
            <a:r>
              <a:rPr lang="en-US" altLang="zh-CN" sz="2400" dirty="0">
                <a:solidFill>
                  <a:srgbClr val="0000FF"/>
                </a:solidFill>
              </a:rPr>
              <a:t>(UNDO)</a:t>
            </a:r>
            <a:r>
              <a:rPr lang="zh-CN" altLang="en-US" sz="2400" b="1" dirty="0"/>
              <a:t>和</a:t>
            </a:r>
            <a:r>
              <a:rPr lang="zh-CN" altLang="en-US" sz="2400" b="1" dirty="0">
                <a:solidFill>
                  <a:srgbClr val="0000FF"/>
                </a:solidFill>
              </a:rPr>
              <a:t>重做</a:t>
            </a:r>
            <a:r>
              <a:rPr lang="en-US" altLang="zh-CN" sz="2400" dirty="0">
                <a:solidFill>
                  <a:srgbClr val="0000FF"/>
                </a:solidFill>
              </a:rPr>
              <a:t>(REDO)</a:t>
            </a:r>
            <a:r>
              <a:rPr lang="zh-CN" altLang="en-US" sz="2400" b="1" dirty="0"/>
              <a:t>。</a:t>
            </a:r>
            <a:endParaRPr lang="zh-CN" altLang="en-US" sz="2400" dirty="0"/>
          </a:p>
          <a:p>
            <a:pPr lvl="1"/>
            <a:r>
              <a:rPr lang="en-US" altLang="zh-CN" sz="2000" dirty="0">
                <a:solidFill>
                  <a:srgbClr val="0000FF"/>
                </a:solidFill>
              </a:rPr>
              <a:t>Undo</a:t>
            </a:r>
            <a:r>
              <a:rPr lang="zh-CN" altLang="en-US" sz="2000" dirty="0">
                <a:solidFill>
                  <a:srgbClr val="0000FF"/>
                </a:solidFill>
              </a:rPr>
              <a:t>：</a:t>
            </a:r>
            <a:r>
              <a:rPr lang="zh-CN" altLang="en-US" sz="2000" dirty="0"/>
              <a:t>使用一条日志记录，将该日志记录中指明的</a:t>
            </a:r>
            <a:r>
              <a:rPr lang="zh-CN" altLang="en-US" sz="2000" dirty="0">
                <a:solidFill>
                  <a:srgbClr val="0000FF"/>
                </a:solidFill>
              </a:rPr>
              <a:t>数据项</a:t>
            </a:r>
            <a:r>
              <a:rPr lang="zh-CN" altLang="en-US" sz="2000" b="1" dirty="0"/>
              <a:t>设置为</a:t>
            </a:r>
            <a:r>
              <a:rPr lang="zh-CN" altLang="en-US" sz="2000" b="1" dirty="0">
                <a:solidFill>
                  <a:srgbClr val="FF0000"/>
                </a:solidFill>
              </a:rPr>
              <a:t>旧值</a:t>
            </a:r>
            <a:r>
              <a:rPr lang="zh-CN" altLang="en-US" sz="2000" dirty="0"/>
              <a:t>。</a:t>
            </a:r>
            <a:endParaRPr lang="en-US" altLang="zh-CN" sz="2000" dirty="0"/>
          </a:p>
          <a:p>
            <a:pPr lvl="1"/>
            <a:r>
              <a:rPr lang="en-US" altLang="zh-CN" sz="2000" dirty="0">
                <a:solidFill>
                  <a:srgbClr val="0000FF"/>
                </a:solidFill>
              </a:rPr>
              <a:t>Redo</a:t>
            </a:r>
            <a:r>
              <a:rPr lang="zh-CN" altLang="en-US" sz="2000" dirty="0">
                <a:solidFill>
                  <a:srgbClr val="0000FF"/>
                </a:solidFill>
              </a:rPr>
              <a:t>：</a:t>
            </a:r>
            <a:r>
              <a:rPr lang="zh-CN" altLang="en-US" sz="2000" dirty="0"/>
              <a:t>使用一条日志记录，将该日志记录中指明的</a:t>
            </a:r>
            <a:r>
              <a:rPr lang="zh-CN" altLang="en-US" sz="2000" dirty="0">
                <a:solidFill>
                  <a:srgbClr val="0000FF"/>
                </a:solidFill>
              </a:rPr>
              <a:t>数据项</a:t>
            </a:r>
            <a:r>
              <a:rPr lang="zh-CN" altLang="en-US" sz="2000" b="1" dirty="0"/>
              <a:t>设置为</a:t>
            </a:r>
            <a:r>
              <a:rPr lang="zh-CN" altLang="en-US" sz="2000" b="1" dirty="0">
                <a:solidFill>
                  <a:srgbClr val="FF0000"/>
                </a:solidFill>
              </a:rPr>
              <a:t>新值</a:t>
            </a:r>
            <a:r>
              <a:rPr lang="zh-CN" altLang="en-US" sz="2000" dirty="0"/>
              <a:t>。</a:t>
            </a:r>
            <a:endParaRPr lang="en-US" altLang="zh-CN" sz="2000" dirty="0"/>
          </a:p>
        </p:txBody>
      </p:sp>
      <p:sp>
        <p:nvSpPr>
          <p:cNvPr id="2" name="日期占位符 1">
            <a:extLst>
              <a:ext uri="{FF2B5EF4-FFF2-40B4-BE49-F238E27FC236}">
                <a16:creationId xmlns:a16="http://schemas.microsoft.com/office/drawing/2014/main" id="{E16FC121-2462-C498-72F2-19A258E1D6A9}"/>
              </a:ext>
            </a:extLst>
          </p:cNvPr>
          <p:cNvSpPr>
            <a:spLocks noGrp="1"/>
          </p:cNvSpPr>
          <p:nvPr>
            <p:ph type="dt" sz="half" idx="10"/>
          </p:nvPr>
        </p:nvSpPr>
        <p:spPr/>
        <p:txBody>
          <a:bodyPr/>
          <a:lstStyle/>
          <a:p>
            <a:fld id="{55256BDF-1DCE-4A4E-90AE-4689A1D0A059}"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699F5851-D826-1990-0BAC-324F8BBB1CA9}"/>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DA29248C-67A2-199D-F491-1E007F439BCA}"/>
              </a:ext>
            </a:extLst>
          </p:cNvPr>
          <p:cNvSpPr>
            <a:spLocks noGrp="1"/>
          </p:cNvSpPr>
          <p:nvPr>
            <p:ph type="sldNum" sz="quarter" idx="12"/>
          </p:nvPr>
        </p:nvSpPr>
        <p:spPr/>
        <p:txBody>
          <a:bodyPr/>
          <a:lstStyle/>
          <a:p>
            <a:fld id="{AB1F7240-85F2-492B-84D8-762EF0110923}" type="slidenum">
              <a:rPr lang="en-US" altLang="zh-CN" smtClean="0"/>
              <a:pPr/>
              <a:t>37</a:t>
            </a:fld>
            <a:r>
              <a:rPr lang="en-US" altLang="zh-CN"/>
              <a:t>/67</a:t>
            </a:r>
            <a:endParaRPr lang="zh-CN" altLang="en-US" dirty="0"/>
          </a:p>
        </p:txBody>
      </p:sp>
    </p:spTree>
    <p:extLst>
      <p:ext uri="{BB962C8B-B14F-4D97-AF65-F5344CB8AC3E}">
        <p14:creationId xmlns:p14="http://schemas.microsoft.com/office/powerpoint/2010/main" val="2581388563"/>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zh-CN" altLang="en-US"/>
              <a:t>延迟更新数据库方案</a:t>
            </a:r>
            <a:endParaRPr lang="en-US" altLang="zh-CN"/>
          </a:p>
        </p:txBody>
      </p:sp>
      <p:sp>
        <p:nvSpPr>
          <p:cNvPr id="22532" name="Rectangle 3"/>
          <p:cNvSpPr>
            <a:spLocks noGrp="1" noChangeArrowheads="1"/>
          </p:cNvSpPr>
          <p:nvPr>
            <p:ph type="body" idx="4294967295"/>
          </p:nvPr>
        </p:nvSpPr>
        <p:spPr>
          <a:xfrm>
            <a:off x="755576" y="1340768"/>
            <a:ext cx="8262937" cy="5136232"/>
          </a:xfrm>
        </p:spPr>
        <p:txBody>
          <a:bodyPr/>
          <a:lstStyle/>
          <a:p>
            <a:pPr eaLnBrk="1" hangingPunct="1"/>
            <a:r>
              <a:rPr lang="zh-CN" altLang="en-US" sz="2500" b="1" dirty="0">
                <a:solidFill>
                  <a:srgbClr val="FF3300"/>
                </a:solidFill>
              </a:rPr>
              <a:t>延迟更新数据库</a:t>
            </a:r>
            <a:r>
              <a:rPr lang="zh-CN" altLang="en-US" sz="2500" dirty="0"/>
              <a:t>方案在</a:t>
            </a:r>
            <a:r>
              <a:rPr lang="zh-CN" altLang="en-US" sz="2500" b="1" dirty="0">
                <a:solidFill>
                  <a:srgbClr val="0000FF"/>
                </a:solidFill>
              </a:rPr>
              <a:t>日志</a:t>
            </a:r>
            <a:r>
              <a:rPr lang="zh-CN" altLang="en-US" sz="2500" dirty="0"/>
              <a:t>中</a:t>
            </a:r>
            <a:r>
              <a:rPr lang="zh-CN" altLang="en-US" sz="2500" b="1" dirty="0">
                <a:solidFill>
                  <a:srgbClr val="FF0000"/>
                </a:solidFill>
              </a:rPr>
              <a:t>记录</a:t>
            </a:r>
            <a:r>
              <a:rPr lang="zh-CN" altLang="en-US" sz="2500" b="1" dirty="0">
                <a:solidFill>
                  <a:srgbClr val="0000FF"/>
                </a:solidFill>
              </a:rPr>
              <a:t>所有更新</a:t>
            </a:r>
            <a:r>
              <a:rPr lang="zh-CN" altLang="en-US" sz="2500" dirty="0"/>
              <a:t>，但推迟</a:t>
            </a:r>
            <a:r>
              <a:rPr lang="en-US" altLang="zh-CN" sz="2500" b="0" dirty="0"/>
              <a:t>write</a:t>
            </a:r>
            <a:r>
              <a:rPr lang="zh-CN" altLang="en-US" sz="2500" dirty="0"/>
              <a:t>直至</a:t>
            </a:r>
            <a:r>
              <a:rPr lang="zh-CN" altLang="en-US" sz="2500" b="1" dirty="0">
                <a:solidFill>
                  <a:srgbClr val="0000FF"/>
                </a:solidFill>
              </a:rPr>
              <a:t>部分提交</a:t>
            </a:r>
            <a:r>
              <a:rPr lang="en-US" altLang="zh-CN" sz="2500" dirty="0"/>
              <a:t>(</a:t>
            </a:r>
            <a:r>
              <a:rPr lang="zh-CN" altLang="en-US" sz="2500" dirty="0"/>
              <a:t>最后一条语句执行之后</a:t>
            </a:r>
            <a:r>
              <a:rPr lang="en-US" altLang="zh-CN" sz="2500" dirty="0"/>
              <a:t>)</a:t>
            </a:r>
            <a:r>
              <a:rPr lang="zh-CN" altLang="en-US" sz="2500" dirty="0"/>
              <a:t>之后；</a:t>
            </a:r>
            <a:endParaRPr lang="en-US" altLang="zh-CN" sz="2500" dirty="0"/>
          </a:p>
          <a:p>
            <a:pPr eaLnBrk="1" hangingPunct="1"/>
            <a:r>
              <a:rPr lang="zh-CN" altLang="en-US" sz="2500" u="sng" dirty="0"/>
              <a:t>假设事务串行执行</a:t>
            </a:r>
            <a:endParaRPr lang="en-US" altLang="zh-CN" sz="2500" u="sng" dirty="0"/>
          </a:p>
          <a:p>
            <a:pPr eaLnBrk="1" hangingPunct="1"/>
            <a:r>
              <a:rPr lang="zh-CN" altLang="en-US" sz="2500" dirty="0"/>
              <a:t>事务启动时向</a:t>
            </a:r>
            <a:r>
              <a:rPr lang="zh-CN" altLang="en-US" sz="2500" b="1" dirty="0">
                <a:solidFill>
                  <a:srgbClr val="0000FF"/>
                </a:solidFill>
              </a:rPr>
              <a:t>日志</a:t>
            </a:r>
            <a:r>
              <a:rPr lang="zh-CN" altLang="en-US" sz="2500" dirty="0"/>
              <a:t>写入</a:t>
            </a:r>
            <a:r>
              <a:rPr lang="en-US" altLang="zh-CN" sz="2500" i="1" dirty="0"/>
              <a:t>&lt;</a:t>
            </a:r>
            <a:r>
              <a:rPr lang="en-US" altLang="zh-CN" sz="2500" i="1" dirty="0" err="1"/>
              <a:t>T</a:t>
            </a:r>
            <a:r>
              <a:rPr lang="en-US" altLang="zh-CN" sz="2500" i="1" baseline="-25000" dirty="0" err="1"/>
              <a:t>i</a:t>
            </a:r>
            <a:r>
              <a:rPr lang="en-US" altLang="zh-CN" sz="2500" i="1" dirty="0"/>
              <a:t>  </a:t>
            </a:r>
            <a:r>
              <a:rPr lang="en-US" altLang="zh-CN" sz="2500" b="0" i="1" dirty="0"/>
              <a:t>start</a:t>
            </a:r>
            <a:r>
              <a:rPr lang="en-US" altLang="zh-CN" sz="2500" i="1" dirty="0"/>
              <a:t>&gt; </a:t>
            </a:r>
            <a:r>
              <a:rPr lang="zh-CN" altLang="en-US" sz="2500" dirty="0"/>
              <a:t>记录</a:t>
            </a:r>
            <a:endParaRPr lang="en-US" altLang="zh-CN" sz="2500" dirty="0"/>
          </a:p>
          <a:p>
            <a:pPr eaLnBrk="1" hangingPunct="1"/>
            <a:r>
              <a:rPr lang="en-US" altLang="zh-CN" sz="2500" b="0" dirty="0"/>
              <a:t>write</a:t>
            </a:r>
            <a:r>
              <a:rPr lang="en-US" altLang="zh-CN" sz="2500" dirty="0"/>
              <a:t>(X) </a:t>
            </a:r>
            <a:r>
              <a:rPr lang="zh-CN" altLang="en-US" sz="2500" dirty="0"/>
              <a:t>操作导致写入</a:t>
            </a:r>
            <a:r>
              <a:rPr lang="zh-CN" altLang="en-US" sz="2500" b="1" dirty="0"/>
              <a:t>日志记录</a:t>
            </a:r>
            <a:r>
              <a:rPr lang="en-US" altLang="zh-CN" sz="2500" b="1" dirty="0"/>
              <a:t>&lt;</a:t>
            </a:r>
            <a:r>
              <a:rPr lang="en-US" altLang="zh-CN" sz="2500" b="1" dirty="0" err="1"/>
              <a:t>T</a:t>
            </a:r>
            <a:r>
              <a:rPr lang="en-US" altLang="zh-CN" sz="2500" b="1" baseline="-25000" dirty="0" err="1"/>
              <a:t>i</a:t>
            </a:r>
            <a:r>
              <a:rPr lang="en-US" altLang="zh-CN" sz="2500" b="1" dirty="0"/>
              <a:t>, X, V&gt;</a:t>
            </a:r>
            <a:r>
              <a:rPr lang="zh-CN" altLang="en-US" sz="2500" i="1" dirty="0"/>
              <a:t>，</a:t>
            </a:r>
            <a:r>
              <a:rPr lang="zh-CN" altLang="en-US" sz="2500" dirty="0"/>
              <a:t>其中</a:t>
            </a:r>
            <a:r>
              <a:rPr lang="en-US" altLang="zh-CN" sz="2500" b="1" i="1" dirty="0"/>
              <a:t>V </a:t>
            </a:r>
            <a:r>
              <a:rPr lang="zh-CN" altLang="en-US" sz="2500" dirty="0"/>
              <a:t>是</a:t>
            </a:r>
            <a:r>
              <a:rPr lang="en-US" altLang="zh-CN" sz="2500" dirty="0"/>
              <a:t>X</a:t>
            </a:r>
            <a:r>
              <a:rPr lang="zh-CN" altLang="en-US" sz="2500" dirty="0"/>
              <a:t>的</a:t>
            </a:r>
            <a:r>
              <a:rPr lang="zh-CN" altLang="en-US" sz="2500" b="1" dirty="0">
                <a:solidFill>
                  <a:srgbClr val="0000FF"/>
                </a:solidFill>
              </a:rPr>
              <a:t>新值</a:t>
            </a:r>
            <a:endParaRPr lang="en-US" altLang="zh-CN" sz="2500" b="1" dirty="0">
              <a:solidFill>
                <a:srgbClr val="0000FF"/>
              </a:solidFill>
            </a:endParaRPr>
          </a:p>
          <a:p>
            <a:pPr lvl="1" eaLnBrk="1" hangingPunct="1"/>
            <a:r>
              <a:rPr lang="zh-CN" altLang="en-US" sz="2000" dirty="0"/>
              <a:t>注：这种方案不需要保留旧值；因为此时并未执行对</a:t>
            </a:r>
            <a:r>
              <a:rPr lang="en-US" altLang="zh-CN" sz="2000" dirty="0"/>
              <a:t>X</a:t>
            </a:r>
            <a:r>
              <a:rPr lang="zh-CN" altLang="en-US" sz="2000" dirty="0"/>
              <a:t>的写操作，而是延迟了</a:t>
            </a:r>
            <a:endParaRPr lang="en-US" altLang="zh-CN" sz="2000" dirty="0"/>
          </a:p>
          <a:p>
            <a:pPr eaLnBrk="1" hangingPunct="1"/>
            <a:r>
              <a:rPr lang="zh-CN" altLang="en-US" sz="2500" dirty="0"/>
              <a:t>当</a:t>
            </a:r>
            <a:r>
              <a:rPr lang="en-US" altLang="zh-CN" sz="2500" dirty="0" err="1"/>
              <a:t>T</a:t>
            </a:r>
            <a:r>
              <a:rPr lang="en-US" altLang="zh-CN" sz="2500" baseline="-25000" dirty="0" err="1"/>
              <a:t>i</a:t>
            </a:r>
            <a:r>
              <a:rPr lang="en-US" altLang="zh-CN" sz="2500" dirty="0"/>
              <a:t> </a:t>
            </a:r>
            <a:r>
              <a:rPr lang="zh-CN" altLang="en-US" sz="2500" b="1" dirty="0">
                <a:solidFill>
                  <a:srgbClr val="0000FF"/>
                </a:solidFill>
              </a:rPr>
              <a:t>部分提交</a:t>
            </a:r>
            <a:r>
              <a:rPr lang="zh-CN" altLang="en-US" sz="2500" dirty="0"/>
              <a:t>时，向</a:t>
            </a:r>
            <a:r>
              <a:rPr lang="zh-CN" altLang="en-US" sz="2500" b="1" dirty="0">
                <a:solidFill>
                  <a:srgbClr val="0000FF"/>
                </a:solidFill>
              </a:rPr>
              <a:t>日志</a:t>
            </a:r>
            <a:r>
              <a:rPr lang="zh-CN" altLang="en-US" sz="2500" dirty="0"/>
              <a:t>写入&lt;</a:t>
            </a:r>
            <a:r>
              <a:rPr lang="en-US" altLang="zh-CN" sz="2500" dirty="0" err="1"/>
              <a:t>T</a:t>
            </a:r>
            <a:r>
              <a:rPr lang="en-US" altLang="zh-CN" sz="2500" baseline="-25000" dirty="0" err="1"/>
              <a:t>i</a:t>
            </a:r>
            <a:r>
              <a:rPr lang="en-US" altLang="zh-CN" sz="2500" dirty="0"/>
              <a:t> </a:t>
            </a:r>
            <a:r>
              <a:rPr lang="en-US" altLang="zh-CN" sz="2500" b="0" dirty="0"/>
              <a:t>commit</a:t>
            </a:r>
            <a:r>
              <a:rPr lang="en-US" altLang="zh-CN" sz="2500" dirty="0"/>
              <a:t>&gt;;</a:t>
            </a:r>
          </a:p>
          <a:p>
            <a:pPr eaLnBrk="1" hangingPunct="1"/>
            <a:r>
              <a:rPr lang="zh-CN" altLang="en-US" sz="2500" u="sng" dirty="0">
                <a:effectLst>
                  <a:outerShdw blurRad="38100" dist="38100" dir="2700000" algn="tl">
                    <a:srgbClr val="000000">
                      <a:alpha val="43137"/>
                    </a:srgbClr>
                  </a:outerShdw>
                </a:effectLst>
              </a:rPr>
              <a:t>最后</a:t>
            </a:r>
            <a:r>
              <a:rPr lang="zh-CN" altLang="en-US" sz="2500" dirty="0"/>
              <a:t>，</a:t>
            </a:r>
            <a:r>
              <a:rPr lang="zh-CN" altLang="en-US" sz="2500" b="1" dirty="0"/>
              <a:t>读取日志记录</a:t>
            </a:r>
            <a:r>
              <a:rPr lang="zh-CN" altLang="en-US" sz="2500" dirty="0"/>
              <a:t>并用来</a:t>
            </a:r>
            <a:r>
              <a:rPr lang="zh-CN" altLang="en-US" sz="2500" b="1" dirty="0">
                <a:solidFill>
                  <a:srgbClr val="0000FF"/>
                </a:solidFill>
              </a:rPr>
              <a:t>实际执行</a:t>
            </a:r>
            <a:r>
              <a:rPr lang="zh-CN" altLang="en-US" sz="2500" b="1" dirty="0"/>
              <a:t>前面</a:t>
            </a:r>
            <a:r>
              <a:rPr lang="zh-CN" altLang="en-US" sz="2500" b="1" dirty="0">
                <a:solidFill>
                  <a:srgbClr val="0000FF"/>
                </a:solidFill>
              </a:rPr>
              <a:t>延迟</a:t>
            </a:r>
            <a:r>
              <a:rPr lang="zh-CN" altLang="en-US" sz="2500" dirty="0">
                <a:solidFill>
                  <a:schemeClr val="bg2"/>
                </a:solidFill>
              </a:rPr>
              <a:t>的</a:t>
            </a:r>
            <a:r>
              <a:rPr lang="zh-CN" altLang="en-US" sz="2500" b="1" dirty="0"/>
              <a:t>写操作。</a:t>
            </a:r>
            <a:endParaRPr lang="en-US" altLang="zh-CN" sz="2500" b="1" dirty="0"/>
          </a:p>
          <a:p>
            <a:pPr eaLnBrk="1" hangingPunct="1">
              <a:lnSpc>
                <a:spcPct val="110000"/>
              </a:lnSpc>
            </a:pPr>
            <a:endParaRPr lang="en-US" altLang="zh-CN" sz="2500" b="1" dirty="0"/>
          </a:p>
        </p:txBody>
      </p:sp>
      <p:sp>
        <p:nvSpPr>
          <p:cNvPr id="2" name="日期占位符 1">
            <a:extLst>
              <a:ext uri="{FF2B5EF4-FFF2-40B4-BE49-F238E27FC236}">
                <a16:creationId xmlns:a16="http://schemas.microsoft.com/office/drawing/2014/main" id="{C1653940-1D0A-3AFD-9D80-446DD4CAA6ED}"/>
              </a:ext>
            </a:extLst>
          </p:cNvPr>
          <p:cNvSpPr>
            <a:spLocks noGrp="1"/>
          </p:cNvSpPr>
          <p:nvPr>
            <p:ph type="dt" sz="half" idx="10"/>
          </p:nvPr>
        </p:nvSpPr>
        <p:spPr/>
        <p:txBody>
          <a:bodyPr/>
          <a:lstStyle/>
          <a:p>
            <a:fld id="{BB4D330F-31BC-4B2C-A761-3E42AEFE86A1}"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87B3EF76-E904-B4B1-9DBE-55F2D690D6D7}"/>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ACFEB642-0F36-FA50-39D7-C7279C82316E}"/>
              </a:ext>
            </a:extLst>
          </p:cNvPr>
          <p:cNvSpPr>
            <a:spLocks noGrp="1"/>
          </p:cNvSpPr>
          <p:nvPr>
            <p:ph type="sldNum" sz="quarter" idx="12"/>
          </p:nvPr>
        </p:nvSpPr>
        <p:spPr/>
        <p:txBody>
          <a:bodyPr/>
          <a:lstStyle/>
          <a:p>
            <a:fld id="{AB1F7240-85F2-492B-84D8-762EF0110923}" type="slidenum">
              <a:rPr lang="en-US" altLang="zh-CN" smtClean="0"/>
              <a:pPr/>
              <a:t>38</a:t>
            </a:fld>
            <a:r>
              <a:rPr lang="en-US" altLang="zh-CN"/>
              <a:t>/67</a:t>
            </a:r>
            <a:endParaRPr lang="zh-CN" altLang="en-US" dirty="0"/>
          </a:p>
        </p:txBody>
      </p:sp>
    </p:spTree>
    <p:extLst>
      <p:ext uri="{BB962C8B-B14F-4D97-AF65-F5344CB8AC3E}">
        <p14:creationId xmlns:p14="http://schemas.microsoft.com/office/powerpoint/2010/main" val="97765514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zh-CN" altLang="en-US" dirty="0"/>
              <a:t>延迟更新数据库的恢复处理</a:t>
            </a:r>
            <a:endParaRPr lang="en-US" altLang="zh-CN" baseline="30000" dirty="0"/>
          </a:p>
        </p:txBody>
      </p:sp>
      <p:sp>
        <p:nvSpPr>
          <p:cNvPr id="23556" name="Rectangle 3"/>
          <p:cNvSpPr>
            <a:spLocks noGrp="1" noChangeArrowheads="1"/>
          </p:cNvSpPr>
          <p:nvPr>
            <p:ph type="body" idx="4294967295"/>
          </p:nvPr>
        </p:nvSpPr>
        <p:spPr>
          <a:xfrm>
            <a:off x="652463" y="1340768"/>
            <a:ext cx="8168009" cy="5517232"/>
          </a:xfrm>
        </p:spPr>
        <p:txBody>
          <a:bodyPr/>
          <a:lstStyle/>
          <a:p>
            <a:pPr eaLnBrk="1" hangingPunct="1"/>
            <a:r>
              <a:rPr lang="zh-CN" altLang="en-US" sz="2500" b="1" dirty="0"/>
              <a:t>故障恢复</a:t>
            </a:r>
            <a:r>
              <a:rPr lang="zh-CN" altLang="en-US" sz="2500" dirty="0"/>
              <a:t>过程中，事务</a:t>
            </a:r>
            <a:r>
              <a:rPr lang="en-US" altLang="zh-CN" sz="2500" dirty="0"/>
              <a:t>T</a:t>
            </a:r>
            <a:r>
              <a:rPr lang="en-US" altLang="zh-CN" sz="2500" baseline="-25000" dirty="0"/>
              <a:t>i</a:t>
            </a:r>
            <a:r>
              <a:rPr lang="zh-CN" altLang="en-US" sz="2500" b="1" dirty="0"/>
              <a:t>仅需要重做</a:t>
            </a:r>
            <a:r>
              <a:rPr lang="zh-CN" altLang="en-US" sz="2500" dirty="0">
                <a:solidFill>
                  <a:srgbClr val="0000FF"/>
                </a:solidFill>
              </a:rPr>
              <a:t>当且仅当</a:t>
            </a:r>
            <a:r>
              <a:rPr lang="zh-CN" altLang="en-US" sz="2500" dirty="0">
                <a:solidFill>
                  <a:srgbClr val="FF0000"/>
                </a:solidFill>
              </a:rPr>
              <a:t>日志中存在&lt;</a:t>
            </a:r>
            <a:r>
              <a:rPr lang="en-US" altLang="zh-CN" sz="2500" dirty="0" err="1">
                <a:solidFill>
                  <a:srgbClr val="FF0000"/>
                </a:solidFill>
              </a:rPr>
              <a:t>T</a:t>
            </a:r>
            <a:r>
              <a:rPr lang="en-US" altLang="zh-CN" sz="2500" baseline="-25000" dirty="0" err="1">
                <a:solidFill>
                  <a:srgbClr val="FF0000"/>
                </a:solidFill>
              </a:rPr>
              <a:t>i</a:t>
            </a:r>
            <a:r>
              <a:rPr lang="en-US" altLang="zh-CN" sz="2500" dirty="0">
                <a:solidFill>
                  <a:srgbClr val="FF0000"/>
                </a:solidFill>
              </a:rPr>
              <a:t> </a:t>
            </a:r>
            <a:r>
              <a:rPr lang="en-US" altLang="zh-CN" sz="2500" b="0" dirty="0">
                <a:solidFill>
                  <a:srgbClr val="FF0000"/>
                </a:solidFill>
              </a:rPr>
              <a:t> start</a:t>
            </a:r>
            <a:r>
              <a:rPr lang="en-US" altLang="zh-CN" sz="2500" dirty="0">
                <a:solidFill>
                  <a:srgbClr val="FF0000"/>
                </a:solidFill>
              </a:rPr>
              <a:t>&gt;</a:t>
            </a:r>
            <a:r>
              <a:rPr lang="zh-CN" altLang="en-US" sz="2500" dirty="0">
                <a:solidFill>
                  <a:srgbClr val="FF0000"/>
                </a:solidFill>
              </a:rPr>
              <a:t>和</a:t>
            </a:r>
            <a:r>
              <a:rPr lang="en-US" altLang="zh-CN" sz="2500" dirty="0">
                <a:solidFill>
                  <a:srgbClr val="FF0000"/>
                </a:solidFill>
              </a:rPr>
              <a:t>&lt;T</a:t>
            </a:r>
            <a:r>
              <a:rPr lang="en-US" altLang="zh-CN" sz="2500" baseline="-25000" dirty="0">
                <a:solidFill>
                  <a:srgbClr val="FF0000"/>
                </a:solidFill>
              </a:rPr>
              <a:t>i </a:t>
            </a:r>
            <a:r>
              <a:rPr lang="en-US" altLang="zh-CN" sz="2500" b="0" dirty="0">
                <a:solidFill>
                  <a:srgbClr val="FF0000"/>
                </a:solidFill>
              </a:rPr>
              <a:t>commit</a:t>
            </a:r>
            <a:r>
              <a:rPr lang="en-US" altLang="zh-CN" sz="2500" dirty="0">
                <a:solidFill>
                  <a:srgbClr val="FF0000"/>
                </a:solidFill>
              </a:rPr>
              <a:t>&gt;</a:t>
            </a:r>
          </a:p>
          <a:p>
            <a:pPr lvl="1" eaLnBrk="1" hangingPunct="1"/>
            <a:r>
              <a:rPr lang="zh-CN" altLang="en-US" sz="2100" b="1" dirty="0">
                <a:solidFill>
                  <a:srgbClr val="0000FF"/>
                </a:solidFill>
              </a:rPr>
              <a:t>重做事务</a:t>
            </a:r>
            <a:r>
              <a:rPr lang="en-US" altLang="zh-CN" sz="2100" b="1" dirty="0" err="1">
                <a:solidFill>
                  <a:srgbClr val="0000FF"/>
                </a:solidFill>
              </a:rPr>
              <a:t>T</a:t>
            </a:r>
            <a:r>
              <a:rPr lang="en-US" altLang="zh-CN" sz="2100" b="1" baseline="-25000" dirty="0" err="1">
                <a:solidFill>
                  <a:srgbClr val="0000FF"/>
                </a:solidFill>
              </a:rPr>
              <a:t>i</a:t>
            </a:r>
            <a:r>
              <a:rPr lang="en-US" altLang="zh-CN" sz="2100" b="1" dirty="0">
                <a:solidFill>
                  <a:srgbClr val="0000FF"/>
                </a:solidFill>
              </a:rPr>
              <a:t> </a:t>
            </a:r>
            <a:r>
              <a:rPr lang="en-US" altLang="zh-CN" sz="2100" dirty="0"/>
              <a:t>(</a:t>
            </a:r>
            <a:r>
              <a:rPr lang="en-US" altLang="zh-CN" sz="2100" b="0" dirty="0"/>
              <a:t>redo </a:t>
            </a:r>
            <a:r>
              <a:rPr lang="en-US" altLang="zh-CN" sz="2100" dirty="0" err="1"/>
              <a:t>T</a:t>
            </a:r>
            <a:r>
              <a:rPr lang="en-US" altLang="zh-CN" sz="2100" baseline="-25000" dirty="0" err="1"/>
              <a:t>i</a:t>
            </a:r>
            <a:r>
              <a:rPr lang="en-US" altLang="zh-CN" sz="2100" dirty="0"/>
              <a:t>) </a:t>
            </a:r>
            <a:r>
              <a:rPr lang="zh-CN" altLang="en-US" sz="2100" dirty="0"/>
              <a:t>：将</a:t>
            </a:r>
            <a:r>
              <a:rPr lang="en-US" altLang="zh-CN" sz="2100" dirty="0" err="1"/>
              <a:t>T</a:t>
            </a:r>
            <a:r>
              <a:rPr lang="en-US" altLang="zh-CN" sz="2100" baseline="-25000" dirty="0" err="1"/>
              <a:t>i</a:t>
            </a:r>
            <a:r>
              <a:rPr lang="zh-CN" altLang="en-US" sz="2100" dirty="0"/>
              <a:t>更新过的所有数据项的值置为</a:t>
            </a:r>
            <a:r>
              <a:rPr lang="zh-CN" altLang="en-US" sz="2100" b="1" dirty="0">
                <a:solidFill>
                  <a:srgbClr val="0000FF"/>
                </a:solidFill>
              </a:rPr>
              <a:t>新值</a:t>
            </a:r>
            <a:r>
              <a:rPr lang="zh-CN" altLang="en-US" sz="2100" dirty="0"/>
              <a:t>；</a:t>
            </a:r>
            <a:endParaRPr lang="en-US" altLang="zh-CN" sz="2100" dirty="0"/>
          </a:p>
          <a:p>
            <a:pPr lvl="1" eaLnBrk="1" hangingPunct="1"/>
            <a:r>
              <a:rPr lang="zh-CN" altLang="en-US" sz="2100" b="1" dirty="0">
                <a:solidFill>
                  <a:srgbClr val="FF0000"/>
                </a:solidFill>
              </a:rPr>
              <a:t>目的</a:t>
            </a:r>
            <a:r>
              <a:rPr lang="zh-CN" altLang="en-US" sz="2100" dirty="0"/>
              <a:t>：</a:t>
            </a:r>
            <a:r>
              <a:rPr lang="zh-CN" altLang="en-US" sz="2100" b="1" dirty="0"/>
              <a:t>防止该事务的缓存块的数据</a:t>
            </a:r>
            <a:r>
              <a:rPr lang="zh-CN" altLang="en-US" sz="2100" b="1" dirty="0">
                <a:solidFill>
                  <a:srgbClr val="FF0000"/>
                </a:solidFill>
              </a:rPr>
              <a:t>未写入</a:t>
            </a:r>
            <a:r>
              <a:rPr lang="zh-CN" altLang="en-US" sz="2100" b="1" dirty="0"/>
              <a:t>磁盘</a:t>
            </a:r>
            <a:r>
              <a:rPr lang="zh-CN" altLang="en-US" sz="2100" dirty="0"/>
              <a:t>。</a:t>
            </a:r>
            <a:endParaRPr lang="en-US" altLang="zh-CN" sz="2100" dirty="0"/>
          </a:p>
          <a:p>
            <a:pPr eaLnBrk="1" hangingPunct="1"/>
            <a:endParaRPr lang="en-US" altLang="zh-CN" sz="2400" dirty="0"/>
          </a:p>
          <a:p>
            <a:pPr eaLnBrk="1" hangingPunct="1"/>
            <a:r>
              <a:rPr lang="zh-CN" altLang="en-US" sz="2400" dirty="0"/>
              <a:t>例如：事务</a:t>
            </a:r>
            <a:r>
              <a:rPr lang="en-US" altLang="zh-CN" sz="2400" i="1" dirty="0"/>
              <a:t>T</a:t>
            </a:r>
            <a:r>
              <a:rPr lang="en-US" altLang="zh-CN" sz="2400" i="1" baseline="-25000" dirty="0"/>
              <a:t>0</a:t>
            </a:r>
            <a:r>
              <a:rPr lang="en-US" altLang="zh-CN" sz="2400" i="1" dirty="0"/>
              <a:t> </a:t>
            </a:r>
            <a:r>
              <a:rPr lang="zh-CN" altLang="en-US" sz="2400" dirty="0"/>
              <a:t>和</a:t>
            </a:r>
            <a:r>
              <a:rPr lang="en-US" altLang="zh-CN" sz="2400" i="1" dirty="0"/>
              <a:t>T</a:t>
            </a:r>
            <a:r>
              <a:rPr lang="en-US" altLang="zh-CN" sz="2400" i="1" baseline="-25000" dirty="0"/>
              <a:t>1</a:t>
            </a:r>
            <a:r>
              <a:rPr lang="en-US" altLang="zh-CN" sz="2400" i="1" dirty="0"/>
              <a:t> </a:t>
            </a:r>
            <a:r>
              <a:rPr lang="en-US" altLang="zh-CN" sz="2400" dirty="0"/>
              <a:t>(</a:t>
            </a:r>
            <a:r>
              <a:rPr lang="en-US" altLang="zh-CN" sz="2400" i="1" dirty="0"/>
              <a:t>T</a:t>
            </a:r>
            <a:r>
              <a:rPr lang="en-US" altLang="zh-CN" sz="2400" i="1" baseline="-25000" dirty="0"/>
              <a:t>0</a:t>
            </a:r>
            <a:r>
              <a:rPr lang="en-US" altLang="zh-CN" sz="2400" i="1" dirty="0"/>
              <a:t> </a:t>
            </a:r>
            <a:r>
              <a:rPr lang="zh-CN" altLang="en-US" sz="2400" dirty="0"/>
              <a:t>在</a:t>
            </a:r>
            <a:r>
              <a:rPr lang="en-US" altLang="zh-CN" sz="2400" i="1" dirty="0"/>
              <a:t>T</a:t>
            </a:r>
            <a:r>
              <a:rPr lang="en-US" altLang="zh-CN" sz="2400" i="1" baseline="-25000" dirty="0"/>
              <a:t>1 </a:t>
            </a:r>
            <a:r>
              <a:rPr lang="zh-CN" altLang="en-US" sz="2400" dirty="0"/>
              <a:t>之前执行</a:t>
            </a:r>
            <a:r>
              <a:rPr lang="en-US" altLang="zh-CN" sz="2400" dirty="0"/>
              <a:t>)</a:t>
            </a:r>
          </a:p>
          <a:p>
            <a:pPr eaLnBrk="1" hangingPunct="1">
              <a:buFont typeface="Wingdings" pitchFamily="2" charset="2"/>
              <a:buNone/>
            </a:pPr>
            <a:r>
              <a:rPr lang="en-US" altLang="zh-CN" sz="2000" i="1" dirty="0"/>
              <a:t>	T</a:t>
            </a:r>
            <a:r>
              <a:rPr lang="en-US" altLang="zh-CN" sz="2000" i="1" baseline="-25000" dirty="0"/>
              <a:t>0</a:t>
            </a:r>
            <a:r>
              <a:rPr lang="en-US" altLang="zh-CN" sz="2000" dirty="0"/>
              <a:t>:  </a:t>
            </a:r>
            <a:r>
              <a:rPr lang="en-US" altLang="zh-CN" sz="2000" b="0" dirty="0"/>
              <a:t>read </a:t>
            </a:r>
            <a:r>
              <a:rPr lang="en-US" altLang="zh-CN" sz="2000" dirty="0"/>
              <a:t>(</a:t>
            </a:r>
            <a:r>
              <a:rPr lang="en-US" altLang="zh-CN" sz="2000" i="1" dirty="0"/>
              <a:t>A</a:t>
            </a:r>
            <a:r>
              <a:rPr lang="en-US" altLang="zh-CN" sz="2000" dirty="0"/>
              <a:t>)			</a:t>
            </a:r>
            <a:r>
              <a:rPr lang="en-US" altLang="zh-CN" sz="2000" i="1" dirty="0"/>
              <a:t>T</a:t>
            </a:r>
            <a:r>
              <a:rPr lang="en-US" altLang="zh-CN" sz="2000" i="1" baseline="-25000" dirty="0"/>
              <a:t>1</a:t>
            </a:r>
            <a:r>
              <a:rPr lang="en-US" altLang="zh-CN" sz="2000" i="1" dirty="0"/>
              <a:t> </a:t>
            </a:r>
            <a:r>
              <a:rPr lang="en-US" altLang="zh-CN" sz="2000" dirty="0"/>
              <a:t>:  </a:t>
            </a:r>
            <a:r>
              <a:rPr lang="en-US" altLang="zh-CN" sz="2000" b="0" dirty="0"/>
              <a:t>read</a:t>
            </a:r>
            <a:r>
              <a:rPr lang="en-US" altLang="zh-CN" sz="2000" dirty="0"/>
              <a:t> (</a:t>
            </a:r>
            <a:r>
              <a:rPr lang="en-US" altLang="zh-CN" sz="2000" i="1" dirty="0"/>
              <a:t>C</a:t>
            </a:r>
            <a:r>
              <a:rPr lang="en-US" altLang="zh-CN" sz="2000" dirty="0"/>
              <a:t>)</a:t>
            </a:r>
          </a:p>
          <a:p>
            <a:pPr eaLnBrk="1" hangingPunct="1">
              <a:buFont typeface="Wingdings" pitchFamily="2" charset="2"/>
              <a:buNone/>
            </a:pPr>
            <a:r>
              <a:rPr lang="en-US" altLang="zh-CN" sz="2000" i="1" dirty="0"/>
              <a:t>		A := A - 50</a:t>
            </a:r>
            <a:r>
              <a:rPr lang="en-US" altLang="zh-CN" sz="2000" dirty="0"/>
              <a:t>		</a:t>
            </a:r>
            <a:r>
              <a:rPr lang="en-US" altLang="zh-CN" sz="2000" i="1" dirty="0"/>
              <a:t>C:=  C- 100</a:t>
            </a:r>
            <a:endParaRPr lang="en-US" altLang="zh-CN" sz="2000" dirty="0"/>
          </a:p>
          <a:p>
            <a:pPr eaLnBrk="1" hangingPunct="1">
              <a:buFont typeface="Wingdings" pitchFamily="2" charset="2"/>
              <a:buNone/>
            </a:pPr>
            <a:r>
              <a:rPr lang="en-US" altLang="zh-CN" sz="2000" b="0" dirty="0"/>
              <a:t>		Write </a:t>
            </a:r>
            <a:r>
              <a:rPr lang="en-US" altLang="zh-CN" sz="2000" dirty="0"/>
              <a:t>(</a:t>
            </a:r>
            <a:r>
              <a:rPr lang="en-US" altLang="zh-CN" sz="2000" i="1" dirty="0"/>
              <a:t>A</a:t>
            </a:r>
            <a:r>
              <a:rPr lang="en-US" altLang="zh-CN" sz="2000" dirty="0"/>
              <a:t>)	            </a:t>
            </a:r>
            <a:r>
              <a:rPr lang="en-US" altLang="zh-CN" sz="2000" b="0" dirty="0"/>
              <a:t>write </a:t>
            </a:r>
            <a:r>
              <a:rPr lang="en-US" altLang="zh-CN" sz="2000" dirty="0"/>
              <a:t>(</a:t>
            </a:r>
            <a:r>
              <a:rPr lang="en-US" altLang="zh-CN" sz="2000" i="1" dirty="0"/>
              <a:t>C</a:t>
            </a:r>
            <a:r>
              <a:rPr lang="en-US" altLang="zh-CN" sz="2000" dirty="0"/>
              <a:t>)</a:t>
            </a:r>
          </a:p>
          <a:p>
            <a:pPr eaLnBrk="1" hangingPunct="1">
              <a:buFont typeface="Wingdings" pitchFamily="2" charset="2"/>
              <a:buNone/>
            </a:pPr>
            <a:r>
              <a:rPr lang="en-US" altLang="zh-CN" sz="2000" b="0" dirty="0"/>
              <a:t>		read </a:t>
            </a:r>
            <a:r>
              <a:rPr lang="en-US" altLang="zh-CN" sz="2000" dirty="0"/>
              <a:t>(</a:t>
            </a:r>
            <a:r>
              <a:rPr lang="en-US" altLang="zh-CN" sz="2000" i="1" dirty="0"/>
              <a:t>B</a:t>
            </a:r>
            <a:r>
              <a:rPr lang="en-US" altLang="zh-CN" sz="2000" dirty="0"/>
              <a:t>)</a:t>
            </a:r>
          </a:p>
          <a:p>
            <a:pPr eaLnBrk="1" hangingPunct="1">
              <a:buFont typeface="Wingdings" pitchFamily="2" charset="2"/>
              <a:buNone/>
            </a:pPr>
            <a:r>
              <a:rPr lang="en-US" altLang="zh-CN" sz="2000" i="1" dirty="0"/>
              <a:t>		B:=  B + 50</a:t>
            </a:r>
          </a:p>
          <a:p>
            <a:pPr eaLnBrk="1" hangingPunct="1">
              <a:buFont typeface="Wingdings" pitchFamily="2" charset="2"/>
              <a:buNone/>
            </a:pPr>
            <a:r>
              <a:rPr lang="en-US" altLang="zh-CN" sz="2000" b="0" dirty="0"/>
              <a:t>		write </a:t>
            </a:r>
            <a:r>
              <a:rPr lang="en-US" altLang="zh-CN" sz="2000" dirty="0"/>
              <a:t>(</a:t>
            </a:r>
            <a:r>
              <a:rPr lang="en-US" altLang="zh-CN" sz="2000" i="1" dirty="0"/>
              <a:t>B</a:t>
            </a:r>
            <a:r>
              <a:rPr lang="en-US" altLang="zh-CN" sz="2000" dirty="0"/>
              <a:t>)</a:t>
            </a:r>
          </a:p>
        </p:txBody>
      </p:sp>
      <p:sp>
        <p:nvSpPr>
          <p:cNvPr id="2" name="TextBox 1"/>
          <p:cNvSpPr txBox="1"/>
          <p:nvPr/>
        </p:nvSpPr>
        <p:spPr>
          <a:xfrm>
            <a:off x="683568" y="5063285"/>
            <a:ext cx="800219" cy="4247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dirty="0"/>
              <a:t>转账</a:t>
            </a:r>
          </a:p>
        </p:txBody>
      </p:sp>
      <p:sp>
        <p:nvSpPr>
          <p:cNvPr id="6" name="TextBox 5"/>
          <p:cNvSpPr txBox="1"/>
          <p:nvPr/>
        </p:nvSpPr>
        <p:spPr>
          <a:xfrm>
            <a:off x="6084168" y="4149080"/>
            <a:ext cx="800219" cy="4247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dirty="0"/>
              <a:t>取出</a:t>
            </a:r>
          </a:p>
        </p:txBody>
      </p:sp>
      <p:sp>
        <p:nvSpPr>
          <p:cNvPr id="3" name="日期占位符 2">
            <a:extLst>
              <a:ext uri="{FF2B5EF4-FFF2-40B4-BE49-F238E27FC236}">
                <a16:creationId xmlns:a16="http://schemas.microsoft.com/office/drawing/2014/main" id="{9FFE928B-6F2C-D9CD-1B25-133F9BE7FCF2}"/>
              </a:ext>
            </a:extLst>
          </p:cNvPr>
          <p:cNvSpPr>
            <a:spLocks noGrp="1"/>
          </p:cNvSpPr>
          <p:nvPr>
            <p:ph type="dt" sz="half" idx="10"/>
          </p:nvPr>
        </p:nvSpPr>
        <p:spPr/>
        <p:txBody>
          <a:bodyPr/>
          <a:lstStyle/>
          <a:p>
            <a:fld id="{46F55E53-8198-49E2-AFE6-DAB4DFC6103F}" type="datetime1">
              <a:rPr lang="zh-CN" altLang="en-US" smtClean="0"/>
              <a:t>2025/12/24</a:t>
            </a:fld>
            <a:endParaRPr lang="en-US" altLang="zh-CN"/>
          </a:p>
        </p:txBody>
      </p:sp>
      <p:sp>
        <p:nvSpPr>
          <p:cNvPr id="4" name="页脚占位符 3">
            <a:extLst>
              <a:ext uri="{FF2B5EF4-FFF2-40B4-BE49-F238E27FC236}">
                <a16:creationId xmlns:a16="http://schemas.microsoft.com/office/drawing/2014/main" id="{6E829EE4-B17A-D89E-9896-F18FFE494687}"/>
              </a:ext>
            </a:extLst>
          </p:cNvPr>
          <p:cNvSpPr>
            <a:spLocks noGrp="1"/>
          </p:cNvSpPr>
          <p:nvPr>
            <p:ph type="ftr" sz="quarter" idx="11"/>
          </p:nvPr>
        </p:nvSpPr>
        <p:spPr/>
        <p:txBody>
          <a:bodyPr/>
          <a:lstStyle/>
          <a:p>
            <a:r>
              <a:rPr lang="en-US" altLang="zh-CN"/>
              <a:t>《数据库系统概论》- 第11章</a:t>
            </a:r>
          </a:p>
        </p:txBody>
      </p:sp>
      <p:sp>
        <p:nvSpPr>
          <p:cNvPr id="5" name="灯片编号占位符 4">
            <a:extLst>
              <a:ext uri="{FF2B5EF4-FFF2-40B4-BE49-F238E27FC236}">
                <a16:creationId xmlns:a16="http://schemas.microsoft.com/office/drawing/2014/main" id="{265FB1B1-82E0-1B9D-CFD3-52FAD3EB1137}"/>
              </a:ext>
            </a:extLst>
          </p:cNvPr>
          <p:cNvSpPr>
            <a:spLocks noGrp="1"/>
          </p:cNvSpPr>
          <p:nvPr>
            <p:ph type="sldNum" sz="quarter" idx="12"/>
          </p:nvPr>
        </p:nvSpPr>
        <p:spPr/>
        <p:txBody>
          <a:bodyPr/>
          <a:lstStyle/>
          <a:p>
            <a:fld id="{AB1F7240-85F2-492B-84D8-762EF0110923}" type="slidenum">
              <a:rPr lang="en-US" altLang="zh-CN" smtClean="0"/>
              <a:pPr/>
              <a:t>39</a:t>
            </a:fld>
            <a:r>
              <a:rPr lang="en-US" altLang="zh-CN"/>
              <a:t>/67</a:t>
            </a:r>
            <a:endParaRPr lang="zh-CN" altLang="en-US" dirty="0"/>
          </a:p>
        </p:txBody>
      </p:sp>
    </p:spTree>
    <p:extLst>
      <p:ext uri="{BB962C8B-B14F-4D97-AF65-F5344CB8AC3E}">
        <p14:creationId xmlns:p14="http://schemas.microsoft.com/office/powerpoint/2010/main" val="41816135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4" end="4"/>
                                            </p:txEl>
                                          </p:spTgt>
                                        </p:tgtEl>
                                        <p:attrNameLst>
                                          <p:attrName>style.visibility</p:attrName>
                                        </p:attrNameLst>
                                      </p:cBhvr>
                                      <p:to>
                                        <p:strVal val="visible"/>
                                      </p:to>
                                    </p:set>
                                    <p:anim calcmode="lin" valueType="num">
                                      <p:cBhvr additive="base">
                                        <p:cTn id="7" dur="500" fill="hold"/>
                                        <p:tgtEl>
                                          <p:spTgt spid="23556">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56">
                                            <p:txEl>
                                              <p:pRg st="5" end="5"/>
                                            </p:txEl>
                                          </p:spTgt>
                                        </p:tgtEl>
                                        <p:attrNameLst>
                                          <p:attrName>style.visibility</p:attrName>
                                        </p:attrNameLst>
                                      </p:cBhvr>
                                      <p:to>
                                        <p:strVal val="visible"/>
                                      </p:to>
                                    </p:set>
                                    <p:anim calcmode="lin" valueType="num">
                                      <p:cBhvr additive="base">
                                        <p:cTn id="11" dur="500" fill="hold"/>
                                        <p:tgtEl>
                                          <p:spTgt spid="23556">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556">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556">
                                            <p:txEl>
                                              <p:pRg st="6" end="6"/>
                                            </p:txEl>
                                          </p:spTgt>
                                        </p:tgtEl>
                                        <p:attrNameLst>
                                          <p:attrName>style.visibility</p:attrName>
                                        </p:attrNameLst>
                                      </p:cBhvr>
                                      <p:to>
                                        <p:strVal val="visible"/>
                                      </p:to>
                                    </p:set>
                                    <p:anim calcmode="lin" valueType="num">
                                      <p:cBhvr additive="base">
                                        <p:cTn id="15" dur="500" fill="hold"/>
                                        <p:tgtEl>
                                          <p:spTgt spid="23556">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3556">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556">
                                            <p:txEl>
                                              <p:pRg st="7" end="7"/>
                                            </p:txEl>
                                          </p:spTgt>
                                        </p:tgtEl>
                                        <p:attrNameLst>
                                          <p:attrName>style.visibility</p:attrName>
                                        </p:attrNameLst>
                                      </p:cBhvr>
                                      <p:to>
                                        <p:strVal val="visible"/>
                                      </p:to>
                                    </p:set>
                                    <p:anim calcmode="lin" valueType="num">
                                      <p:cBhvr additive="base">
                                        <p:cTn id="19" dur="500" fill="hold"/>
                                        <p:tgtEl>
                                          <p:spTgt spid="23556">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6">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3556">
                                            <p:txEl>
                                              <p:pRg st="8" end="8"/>
                                            </p:txEl>
                                          </p:spTgt>
                                        </p:tgtEl>
                                        <p:attrNameLst>
                                          <p:attrName>style.visibility</p:attrName>
                                        </p:attrNameLst>
                                      </p:cBhvr>
                                      <p:to>
                                        <p:strVal val="visible"/>
                                      </p:to>
                                    </p:set>
                                    <p:anim calcmode="lin" valueType="num">
                                      <p:cBhvr additive="base">
                                        <p:cTn id="23" dur="500" fill="hold"/>
                                        <p:tgtEl>
                                          <p:spTgt spid="23556">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3556">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3556">
                                            <p:txEl>
                                              <p:pRg st="9" end="9"/>
                                            </p:txEl>
                                          </p:spTgt>
                                        </p:tgtEl>
                                        <p:attrNameLst>
                                          <p:attrName>style.visibility</p:attrName>
                                        </p:attrNameLst>
                                      </p:cBhvr>
                                      <p:to>
                                        <p:strVal val="visible"/>
                                      </p:to>
                                    </p:set>
                                    <p:anim calcmode="lin" valueType="num">
                                      <p:cBhvr additive="base">
                                        <p:cTn id="27" dur="500" fill="hold"/>
                                        <p:tgtEl>
                                          <p:spTgt spid="23556">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556">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3556">
                                            <p:txEl>
                                              <p:pRg st="10" end="10"/>
                                            </p:txEl>
                                          </p:spTgt>
                                        </p:tgtEl>
                                        <p:attrNameLst>
                                          <p:attrName>style.visibility</p:attrName>
                                        </p:attrNameLst>
                                      </p:cBhvr>
                                      <p:to>
                                        <p:strVal val="visible"/>
                                      </p:to>
                                    </p:set>
                                    <p:anim calcmode="lin" valueType="num">
                                      <p:cBhvr additive="base">
                                        <p:cTn id="31" dur="500" fill="hold"/>
                                        <p:tgtEl>
                                          <p:spTgt spid="23556">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56">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arn(inVertical)">
                                      <p:cBhvr>
                                        <p:cTn id="37" dur="500"/>
                                        <p:tgtEl>
                                          <p:spTgt spid="2"/>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arn(inVertical)">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zh-CN" altLang="en-US"/>
              <a:t>示例</a:t>
            </a:r>
            <a:endParaRPr lang="en-US" altLang="zh-CN"/>
          </a:p>
        </p:txBody>
      </p:sp>
      <p:sp>
        <p:nvSpPr>
          <p:cNvPr id="2" name="日期占位符 1">
            <a:extLst>
              <a:ext uri="{FF2B5EF4-FFF2-40B4-BE49-F238E27FC236}">
                <a16:creationId xmlns:a16="http://schemas.microsoft.com/office/drawing/2014/main" id="{85E00155-873E-2845-940B-4863ABB6B3A1}"/>
              </a:ext>
            </a:extLst>
          </p:cNvPr>
          <p:cNvSpPr>
            <a:spLocks noGrp="1"/>
          </p:cNvSpPr>
          <p:nvPr>
            <p:ph type="dt" sz="half" idx="10"/>
          </p:nvPr>
        </p:nvSpPr>
        <p:spPr/>
        <p:txBody>
          <a:bodyPr/>
          <a:lstStyle/>
          <a:p>
            <a:fld id="{4C27070F-5B2A-4357-B4B9-B7E28ED24B3B}" type="datetime1">
              <a:rPr lang="zh-CN" altLang="en-US" smtClean="0"/>
              <a:t>2025/12/24</a:t>
            </a:fld>
            <a:endParaRPr lang="en-US" altLang="zh-CN" dirty="0"/>
          </a:p>
        </p:txBody>
      </p:sp>
      <p:sp>
        <p:nvSpPr>
          <p:cNvPr id="7" name="页脚占位符 6">
            <a:extLst>
              <a:ext uri="{FF2B5EF4-FFF2-40B4-BE49-F238E27FC236}">
                <a16:creationId xmlns:a16="http://schemas.microsoft.com/office/drawing/2014/main" id="{F96E973A-AF8E-9640-6056-796DA884555E}"/>
              </a:ext>
            </a:extLst>
          </p:cNvPr>
          <p:cNvSpPr>
            <a:spLocks noGrp="1"/>
          </p:cNvSpPr>
          <p:nvPr>
            <p:ph type="ftr" sz="quarter" idx="11"/>
          </p:nvPr>
        </p:nvSpPr>
        <p:spPr/>
        <p:txBody>
          <a:bodyPr/>
          <a:lstStyle/>
          <a:p>
            <a:r>
              <a:rPr lang="en-US" altLang="zh-CN"/>
              <a:t>《数据库系统概论》- 第11章</a:t>
            </a:r>
          </a:p>
        </p:txBody>
      </p:sp>
      <p:sp>
        <p:nvSpPr>
          <p:cNvPr id="8" name="灯片编号占位符 7">
            <a:extLst>
              <a:ext uri="{FF2B5EF4-FFF2-40B4-BE49-F238E27FC236}">
                <a16:creationId xmlns:a16="http://schemas.microsoft.com/office/drawing/2014/main" id="{17D3E1EC-8197-8D0F-1043-70B60423FF41}"/>
              </a:ext>
            </a:extLst>
          </p:cNvPr>
          <p:cNvSpPr>
            <a:spLocks noGrp="1"/>
          </p:cNvSpPr>
          <p:nvPr>
            <p:ph type="sldNum" sz="quarter" idx="12"/>
          </p:nvPr>
        </p:nvSpPr>
        <p:spPr/>
        <p:txBody>
          <a:bodyPr/>
          <a:lstStyle/>
          <a:p>
            <a:fld id="{AB1F7240-85F2-492B-84D8-762EF0110923}" type="slidenum">
              <a:rPr lang="en-US" altLang="zh-CN" smtClean="0"/>
              <a:pPr/>
              <a:t>40</a:t>
            </a:fld>
            <a:r>
              <a:rPr lang="en-US" altLang="zh-CN"/>
              <a:t>/67</a:t>
            </a:r>
            <a:endParaRPr lang="zh-CN" altLang="en-US" dirty="0"/>
          </a:p>
        </p:txBody>
      </p:sp>
      <p:sp>
        <p:nvSpPr>
          <p:cNvPr id="24580" name="Rectangle 3"/>
          <p:cNvSpPr>
            <a:spLocks noGrp="1" noChangeArrowheads="1"/>
          </p:cNvSpPr>
          <p:nvPr>
            <p:ph type="body" idx="4294967295"/>
          </p:nvPr>
        </p:nvSpPr>
        <p:spPr>
          <a:xfrm>
            <a:off x="441325" y="1196752"/>
            <a:ext cx="8542338" cy="5616624"/>
          </a:xfrm>
          <a:solidFill>
            <a:schemeClr val="bg1"/>
          </a:solidFill>
        </p:spPr>
        <p:txBody>
          <a:bodyPr/>
          <a:lstStyle/>
          <a:p>
            <a:pPr eaLnBrk="1" hangingPunct="1">
              <a:lnSpc>
                <a:spcPct val="90000"/>
              </a:lnSpc>
            </a:pPr>
            <a:endParaRPr lang="en-US" altLang="zh-CN" sz="2100" dirty="0"/>
          </a:p>
          <a:p>
            <a:pPr eaLnBrk="1" hangingPunct="1">
              <a:lnSpc>
                <a:spcPct val="90000"/>
              </a:lnSpc>
            </a:pPr>
            <a:endParaRPr lang="en-US" altLang="zh-CN" sz="2100" dirty="0"/>
          </a:p>
          <a:p>
            <a:pPr eaLnBrk="1" hangingPunct="1">
              <a:lnSpc>
                <a:spcPct val="90000"/>
              </a:lnSpc>
            </a:pPr>
            <a:endParaRPr lang="en-US" altLang="zh-CN" sz="2100" dirty="0"/>
          </a:p>
          <a:p>
            <a:pPr eaLnBrk="1" hangingPunct="1">
              <a:lnSpc>
                <a:spcPct val="90000"/>
              </a:lnSpc>
            </a:pPr>
            <a:endParaRPr lang="en-US" altLang="zh-CN" sz="2100" dirty="0"/>
          </a:p>
          <a:p>
            <a:pPr eaLnBrk="1" hangingPunct="1">
              <a:lnSpc>
                <a:spcPct val="90000"/>
              </a:lnSpc>
              <a:buFont typeface="Wingdings" pitchFamily="2" charset="2"/>
              <a:buNone/>
            </a:pPr>
            <a:endParaRPr lang="en-US" altLang="zh-CN" sz="2100" dirty="0"/>
          </a:p>
          <a:p>
            <a:pPr eaLnBrk="1" hangingPunct="1">
              <a:lnSpc>
                <a:spcPct val="90000"/>
              </a:lnSpc>
              <a:buFont typeface="Wingdings" pitchFamily="2" charset="2"/>
              <a:buNone/>
            </a:pPr>
            <a:endParaRPr lang="en-US" altLang="zh-CN" sz="2100" dirty="0"/>
          </a:p>
          <a:p>
            <a:pPr eaLnBrk="1" hangingPunct="1">
              <a:lnSpc>
                <a:spcPct val="20000"/>
              </a:lnSpc>
            </a:pPr>
            <a:endParaRPr lang="en-US" altLang="zh-CN" sz="2100" dirty="0"/>
          </a:p>
          <a:p>
            <a:pPr eaLnBrk="1" hangingPunct="1">
              <a:lnSpc>
                <a:spcPct val="90000"/>
              </a:lnSpc>
            </a:pPr>
            <a:endParaRPr lang="zh-CN" altLang="en-US" sz="2100" dirty="0"/>
          </a:p>
          <a:p>
            <a:pPr eaLnBrk="1" hangingPunct="1">
              <a:lnSpc>
                <a:spcPct val="90000"/>
              </a:lnSpc>
            </a:pPr>
            <a:endParaRPr lang="zh-CN" altLang="en-US" sz="2100" dirty="0"/>
          </a:p>
          <a:p>
            <a:pPr eaLnBrk="1" hangingPunct="1"/>
            <a:r>
              <a:rPr lang="zh-CN" altLang="en-US" sz="2100" dirty="0"/>
              <a:t>如果</a:t>
            </a:r>
            <a:r>
              <a:rPr lang="zh-CN" altLang="en-US" sz="2100" b="1" dirty="0"/>
              <a:t>故障发生时</a:t>
            </a:r>
            <a:r>
              <a:rPr lang="zh-CN" altLang="en-US" sz="2100" dirty="0">
                <a:solidFill>
                  <a:srgbClr val="0000FF"/>
                </a:solidFill>
              </a:rPr>
              <a:t>稳定存储器</a:t>
            </a:r>
            <a:r>
              <a:rPr lang="zh-CN" altLang="en-US" sz="2100" dirty="0"/>
              <a:t>上的</a:t>
            </a:r>
            <a:r>
              <a:rPr lang="zh-CN" altLang="en-US" sz="2100" b="1" dirty="0"/>
              <a:t>日志处于</a:t>
            </a:r>
            <a:r>
              <a:rPr lang="zh-CN" altLang="en-US" sz="2100" b="1" u="sng" dirty="0"/>
              <a:t>以上情形</a:t>
            </a:r>
            <a:r>
              <a:rPr lang="zh-CN" altLang="en-US" sz="2100" b="1" dirty="0"/>
              <a:t>：</a:t>
            </a:r>
            <a:endParaRPr lang="en-US" altLang="zh-CN" sz="2100" b="1" dirty="0"/>
          </a:p>
          <a:p>
            <a:pPr eaLnBrk="1" hangingPunct="1">
              <a:buFont typeface="Wingdings" pitchFamily="2" charset="2"/>
              <a:buNone/>
            </a:pPr>
            <a:r>
              <a:rPr lang="en-US" altLang="zh-CN" sz="2100" b="1" dirty="0">
                <a:solidFill>
                  <a:srgbClr val="FF0000"/>
                </a:solidFill>
              </a:rPr>
              <a:t>  (a)</a:t>
            </a:r>
            <a:r>
              <a:rPr lang="zh-CN" altLang="en-US" sz="2100" dirty="0">
                <a:solidFill>
                  <a:srgbClr val="FF0000"/>
                </a:solidFill>
              </a:rPr>
              <a:t>不需</a:t>
            </a:r>
            <a:r>
              <a:rPr lang="en-US" altLang="zh-CN" sz="2100" dirty="0">
                <a:solidFill>
                  <a:srgbClr val="FF0000"/>
                </a:solidFill>
              </a:rPr>
              <a:t>redo</a:t>
            </a:r>
            <a:r>
              <a:rPr lang="zh-CN" altLang="en-US" sz="2100" dirty="0">
                <a:solidFill>
                  <a:srgbClr val="FF0000"/>
                </a:solidFill>
              </a:rPr>
              <a:t>操作</a:t>
            </a:r>
            <a:r>
              <a:rPr lang="zh-CN" altLang="en-US" sz="2100" dirty="0"/>
              <a:t>，事务</a:t>
            </a:r>
            <a:r>
              <a:rPr lang="zh-CN" altLang="en-US" sz="2100" b="1" dirty="0"/>
              <a:t>没有到达提交状态，数据也</a:t>
            </a:r>
            <a:r>
              <a:rPr lang="zh-CN" altLang="en-US" sz="2100" b="1" dirty="0">
                <a:solidFill>
                  <a:srgbClr val="0000FF"/>
                </a:solidFill>
              </a:rPr>
              <a:t>未写入</a:t>
            </a:r>
            <a:r>
              <a:rPr lang="zh-CN" altLang="en-US" sz="2100" b="1" dirty="0"/>
              <a:t>数据库中；</a:t>
            </a:r>
          </a:p>
          <a:p>
            <a:pPr eaLnBrk="1" hangingPunct="1">
              <a:buFont typeface="Wingdings" pitchFamily="2" charset="2"/>
              <a:buNone/>
            </a:pPr>
            <a:r>
              <a:rPr lang="en-US" altLang="zh-CN" sz="2100" b="1" dirty="0"/>
              <a:t>  (b)</a:t>
            </a:r>
            <a:r>
              <a:rPr lang="zh-CN" altLang="en-US" sz="2100" dirty="0"/>
              <a:t>必须</a:t>
            </a:r>
            <a:r>
              <a:rPr lang="zh-CN" altLang="en-US" sz="2100" b="1" dirty="0">
                <a:solidFill>
                  <a:srgbClr val="FF0000"/>
                </a:solidFill>
              </a:rPr>
              <a:t>执行</a:t>
            </a:r>
            <a:r>
              <a:rPr lang="en-US" altLang="zh-CN" sz="2100" b="1" dirty="0">
                <a:solidFill>
                  <a:srgbClr val="FF0000"/>
                </a:solidFill>
              </a:rPr>
              <a:t>redo(</a:t>
            </a:r>
            <a:r>
              <a:rPr lang="en-US" altLang="zh-CN" sz="2100" b="1" i="1" dirty="0">
                <a:solidFill>
                  <a:srgbClr val="FF0000"/>
                </a:solidFill>
              </a:rPr>
              <a:t>T</a:t>
            </a:r>
            <a:r>
              <a:rPr lang="en-US" altLang="zh-CN" sz="2100" b="1" baseline="-25000" dirty="0">
                <a:solidFill>
                  <a:srgbClr val="FF0000"/>
                </a:solidFill>
              </a:rPr>
              <a:t>0</a:t>
            </a:r>
            <a:r>
              <a:rPr lang="en-US" altLang="zh-CN" sz="2100" b="1" dirty="0">
                <a:solidFill>
                  <a:srgbClr val="FF0000"/>
                </a:solidFill>
              </a:rPr>
              <a:t>)</a:t>
            </a:r>
            <a:r>
              <a:rPr lang="zh-CN" altLang="en-US" sz="2100" dirty="0"/>
              <a:t>，因为存在</a:t>
            </a:r>
            <a:r>
              <a:rPr lang="en-US" altLang="zh-CN" sz="2100" dirty="0"/>
              <a:t>&lt;</a:t>
            </a:r>
            <a:r>
              <a:rPr lang="en-US" altLang="zh-CN" sz="2100" i="1" dirty="0"/>
              <a:t>T</a:t>
            </a:r>
            <a:r>
              <a:rPr lang="en-US" altLang="zh-CN" sz="2100" baseline="-25000" dirty="0"/>
              <a:t>0 </a:t>
            </a:r>
            <a:r>
              <a:rPr lang="en-US" altLang="zh-CN" sz="2100" b="0" dirty="0"/>
              <a:t>commi</a:t>
            </a:r>
            <a:r>
              <a:rPr lang="en-US" altLang="zh-CN" sz="2100" dirty="0"/>
              <a:t>t&gt;;</a:t>
            </a:r>
            <a:r>
              <a:rPr lang="zh-CN" altLang="en-US" sz="2100" dirty="0">
                <a:solidFill>
                  <a:srgbClr val="0000FF"/>
                </a:solidFill>
              </a:rPr>
              <a:t>不需要重做</a:t>
            </a:r>
            <a:r>
              <a:rPr lang="en-US" altLang="zh-CN" sz="2100" dirty="0">
                <a:solidFill>
                  <a:srgbClr val="0000FF"/>
                </a:solidFill>
              </a:rPr>
              <a:t>T</a:t>
            </a:r>
            <a:r>
              <a:rPr lang="en-US" altLang="zh-CN" sz="2100" baseline="-25000" dirty="0">
                <a:solidFill>
                  <a:srgbClr val="0000FF"/>
                </a:solidFill>
              </a:rPr>
              <a:t>1</a:t>
            </a:r>
            <a:r>
              <a:rPr lang="zh-CN" altLang="en-US" sz="2100" dirty="0"/>
              <a:t>，</a:t>
            </a:r>
            <a:r>
              <a:rPr lang="en-US" altLang="zh-CN" sz="2100" dirty="0">
                <a:solidFill>
                  <a:srgbClr val="0000FF"/>
                </a:solidFill>
              </a:rPr>
              <a:t>T</a:t>
            </a:r>
            <a:r>
              <a:rPr lang="en-US" altLang="zh-CN" sz="2100" baseline="-25000" dirty="0">
                <a:solidFill>
                  <a:srgbClr val="0000FF"/>
                </a:solidFill>
              </a:rPr>
              <a:t>1</a:t>
            </a:r>
            <a:r>
              <a:rPr lang="zh-CN" altLang="en-US" sz="2100" dirty="0">
                <a:solidFill>
                  <a:srgbClr val="0000FF"/>
                </a:solidFill>
              </a:rPr>
              <a:t>未达到提交状态；</a:t>
            </a:r>
            <a:endParaRPr lang="en-US" altLang="zh-CN" sz="2100" dirty="0">
              <a:solidFill>
                <a:srgbClr val="0000FF"/>
              </a:solidFill>
            </a:endParaRPr>
          </a:p>
          <a:p>
            <a:pPr eaLnBrk="1" hangingPunct="1">
              <a:buFont typeface="Wingdings" pitchFamily="2" charset="2"/>
              <a:buNone/>
            </a:pPr>
            <a:r>
              <a:rPr lang="en-US" altLang="zh-CN" sz="2100" b="1" dirty="0"/>
              <a:t>  (c)</a:t>
            </a:r>
            <a:r>
              <a:rPr lang="zh-CN" altLang="en-US" sz="2100" dirty="0"/>
              <a:t>必须</a:t>
            </a:r>
            <a:r>
              <a:rPr lang="zh-CN" altLang="en-US" sz="2100" b="1" dirty="0">
                <a:solidFill>
                  <a:srgbClr val="0000FF"/>
                </a:solidFill>
              </a:rPr>
              <a:t>先执行</a:t>
            </a:r>
            <a:r>
              <a:rPr lang="en-US" altLang="zh-CN" sz="2100" b="1" dirty="0">
                <a:solidFill>
                  <a:srgbClr val="0000FF"/>
                </a:solidFill>
              </a:rPr>
              <a:t>redo(</a:t>
            </a:r>
            <a:r>
              <a:rPr lang="en-US" altLang="zh-CN" sz="2100" b="1" i="1" dirty="0">
                <a:solidFill>
                  <a:srgbClr val="0000FF"/>
                </a:solidFill>
              </a:rPr>
              <a:t>T</a:t>
            </a:r>
            <a:r>
              <a:rPr lang="en-US" altLang="zh-CN" sz="2100" b="1" baseline="-25000" dirty="0">
                <a:solidFill>
                  <a:srgbClr val="0000FF"/>
                </a:solidFill>
              </a:rPr>
              <a:t>0</a:t>
            </a:r>
            <a:r>
              <a:rPr lang="en-US" altLang="zh-CN" sz="2100" b="1" dirty="0">
                <a:solidFill>
                  <a:srgbClr val="0000FF"/>
                </a:solidFill>
              </a:rPr>
              <a:t>), </a:t>
            </a:r>
            <a:r>
              <a:rPr lang="zh-CN" altLang="en-US" sz="2100" dirty="0"/>
              <a:t>再</a:t>
            </a:r>
            <a:r>
              <a:rPr lang="zh-CN" altLang="en-US" sz="2100" b="1" dirty="0">
                <a:solidFill>
                  <a:srgbClr val="0000FF"/>
                </a:solidFill>
              </a:rPr>
              <a:t>执行</a:t>
            </a:r>
            <a:r>
              <a:rPr lang="en-US" altLang="zh-CN" sz="2100" b="1" dirty="0">
                <a:solidFill>
                  <a:srgbClr val="0000FF"/>
                </a:solidFill>
              </a:rPr>
              <a:t>redo(</a:t>
            </a:r>
            <a:r>
              <a:rPr lang="en-US" altLang="zh-CN" sz="2100" b="1" i="1" dirty="0">
                <a:solidFill>
                  <a:srgbClr val="0000FF"/>
                </a:solidFill>
              </a:rPr>
              <a:t>T</a:t>
            </a:r>
            <a:r>
              <a:rPr lang="en-US" altLang="zh-CN" sz="2100" b="1" baseline="-25000" dirty="0">
                <a:solidFill>
                  <a:srgbClr val="0000FF"/>
                </a:solidFill>
              </a:rPr>
              <a:t>1</a:t>
            </a:r>
            <a:r>
              <a:rPr lang="en-US" altLang="zh-CN" sz="2100" b="1" dirty="0">
                <a:solidFill>
                  <a:srgbClr val="0000FF"/>
                </a:solidFill>
              </a:rPr>
              <a:t>)</a:t>
            </a:r>
            <a:r>
              <a:rPr lang="zh-CN" altLang="en-US" sz="2100" dirty="0"/>
              <a:t>，因为存在</a:t>
            </a:r>
            <a:r>
              <a:rPr lang="en-US" altLang="zh-CN" sz="2100" dirty="0"/>
              <a:t>&lt;</a:t>
            </a:r>
            <a:r>
              <a:rPr lang="en-US" altLang="zh-CN" sz="2100" i="1" dirty="0"/>
              <a:t>T</a:t>
            </a:r>
            <a:r>
              <a:rPr lang="en-US" altLang="zh-CN" sz="2100" baseline="-25000" dirty="0"/>
              <a:t>0</a:t>
            </a:r>
            <a:r>
              <a:rPr lang="en-US" altLang="zh-CN" sz="2100" dirty="0"/>
              <a:t> </a:t>
            </a:r>
            <a:r>
              <a:rPr lang="en-US" altLang="zh-CN" sz="2100" b="0" dirty="0"/>
              <a:t>commit</a:t>
            </a:r>
            <a:r>
              <a:rPr lang="en-US" altLang="zh-CN" sz="2100" dirty="0"/>
              <a:t>&gt;</a:t>
            </a:r>
            <a:r>
              <a:rPr lang="zh-CN" altLang="en-US" sz="2100" dirty="0"/>
              <a:t>和</a:t>
            </a:r>
            <a:r>
              <a:rPr lang="en-US" altLang="zh-CN" sz="2100" dirty="0"/>
              <a:t>&lt;</a:t>
            </a:r>
            <a:r>
              <a:rPr lang="en-US" altLang="zh-CN" sz="2100" i="1" dirty="0" err="1"/>
              <a:t>T</a:t>
            </a:r>
            <a:r>
              <a:rPr lang="en-US" altLang="zh-CN" sz="2100" i="1" baseline="-25000" dirty="0" err="1"/>
              <a:t>i</a:t>
            </a:r>
            <a:r>
              <a:rPr lang="en-US" altLang="zh-CN" sz="2100" dirty="0"/>
              <a:t> commit&gt;(</a:t>
            </a:r>
            <a:r>
              <a:rPr lang="zh-CN" altLang="en-US" sz="2100" dirty="0"/>
              <a:t>按</a:t>
            </a:r>
            <a:r>
              <a:rPr lang="zh-CN" altLang="en-US" sz="2100" dirty="0">
                <a:solidFill>
                  <a:srgbClr val="0000FF"/>
                </a:solidFill>
              </a:rPr>
              <a:t>原次序</a:t>
            </a:r>
            <a:r>
              <a:rPr lang="zh-CN" altLang="en-US" sz="2100" dirty="0"/>
              <a:t>执行</a:t>
            </a:r>
            <a:r>
              <a:rPr lang="en-US" altLang="zh-CN" sz="2100" dirty="0"/>
              <a:t>)</a:t>
            </a:r>
          </a:p>
          <a:p>
            <a:pPr eaLnBrk="1" hangingPunct="1">
              <a:buFont typeface="Wingdings" pitchFamily="2" charset="2"/>
              <a:buNone/>
            </a:pPr>
            <a:r>
              <a:rPr lang="en-US" altLang="zh-CN" sz="2100" dirty="0"/>
              <a:t>  (d)</a:t>
            </a:r>
            <a:r>
              <a:rPr lang="zh-CN" altLang="en-US" sz="2100" b="1" dirty="0">
                <a:solidFill>
                  <a:srgbClr val="0000FF"/>
                </a:solidFill>
              </a:rPr>
              <a:t>不完整</a:t>
            </a:r>
            <a:r>
              <a:rPr lang="zh-CN" altLang="en-US" sz="2100" b="1" dirty="0"/>
              <a:t>的日志记录</a:t>
            </a:r>
            <a:r>
              <a:rPr lang="zh-CN" altLang="en-US" sz="2100" dirty="0"/>
              <a:t>可以从日志文件中</a:t>
            </a:r>
            <a:r>
              <a:rPr lang="zh-CN" altLang="en-US" sz="2100" b="1" dirty="0">
                <a:solidFill>
                  <a:srgbClr val="0000FF"/>
                </a:solidFill>
              </a:rPr>
              <a:t>删除</a:t>
            </a:r>
            <a:r>
              <a:rPr lang="zh-CN" altLang="en-US" sz="2100" b="1" dirty="0"/>
              <a:t>，如</a:t>
            </a:r>
            <a:r>
              <a:rPr lang="en-US" altLang="zh-CN" sz="2100" b="1" dirty="0"/>
              <a:t>(a)</a:t>
            </a:r>
            <a:r>
              <a:rPr lang="zh-CN" altLang="en-US" sz="2100" b="1" dirty="0"/>
              <a:t>中</a:t>
            </a:r>
            <a:r>
              <a:rPr lang="en-US" altLang="zh-CN" sz="2100" b="1" dirty="0"/>
              <a:t>;</a:t>
            </a:r>
          </a:p>
        </p:txBody>
      </p:sp>
      <p:pic>
        <p:nvPicPr>
          <p:cNvPr id="24581" name="Picture 4"/>
          <p:cNvPicPr>
            <a:picLocks noChangeAspect="1" noChangeArrowheads="1"/>
          </p:cNvPicPr>
          <p:nvPr/>
        </p:nvPicPr>
        <p:blipFill>
          <a:blip r:embed="rId2">
            <a:extLst>
              <a:ext uri="{28A0092B-C50C-407E-A947-70E740481C1C}">
                <a14:useLocalDpi xmlns:a14="http://schemas.microsoft.com/office/drawing/2010/main" val="0"/>
              </a:ext>
            </a:extLst>
          </a:blip>
          <a:srcRect l="1190" t="22223" r="2380" b="22221"/>
          <a:stretch>
            <a:fillRect/>
          </a:stretch>
        </p:blipFill>
        <p:spPr bwMode="auto">
          <a:xfrm>
            <a:off x="1626394" y="1322472"/>
            <a:ext cx="6172200" cy="2667000"/>
          </a:xfrm>
          <a:prstGeom prst="rect">
            <a:avLst/>
          </a:prstGeom>
          <a:noFill/>
          <a:ln w="76200" cmpd="tri">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直接连接符 2">
            <a:extLst>
              <a:ext uri="{FF2B5EF4-FFF2-40B4-BE49-F238E27FC236}">
                <a16:creationId xmlns:a16="http://schemas.microsoft.com/office/drawing/2014/main" id="{44B82522-7C6D-5B8A-70DB-8D0DE11CBF2B}"/>
              </a:ext>
            </a:extLst>
          </p:cNvPr>
          <p:cNvCxnSpPr/>
          <p:nvPr/>
        </p:nvCxnSpPr>
        <p:spPr bwMode="auto">
          <a:xfrm>
            <a:off x="1619672" y="2348880"/>
            <a:ext cx="2088232" cy="0"/>
          </a:xfrm>
          <a:prstGeom prst="line">
            <a:avLst/>
          </a:prstGeom>
          <a:ln>
            <a:solidFill>
              <a:srgbClr val="FF0000"/>
            </a:solidFill>
            <a:prstDash val="dash"/>
          </a:ln>
        </p:spPr>
        <p:style>
          <a:lnRef idx="2">
            <a:schemeClr val="accent2"/>
          </a:lnRef>
          <a:fillRef idx="0">
            <a:schemeClr val="accent2"/>
          </a:fillRef>
          <a:effectRef idx="1">
            <a:schemeClr val="accent2"/>
          </a:effectRef>
          <a:fontRef idx="minor">
            <a:schemeClr val="tx1"/>
          </a:fontRef>
        </p:style>
      </p:cxnSp>
      <p:cxnSp>
        <p:nvCxnSpPr>
          <p:cNvPr id="4" name="直接连接符 3">
            <a:extLst>
              <a:ext uri="{FF2B5EF4-FFF2-40B4-BE49-F238E27FC236}">
                <a16:creationId xmlns:a16="http://schemas.microsoft.com/office/drawing/2014/main" id="{11792F4E-8D33-0617-9E9F-3C2B1D18C516}"/>
              </a:ext>
            </a:extLst>
          </p:cNvPr>
          <p:cNvCxnSpPr/>
          <p:nvPr/>
        </p:nvCxnSpPr>
        <p:spPr bwMode="auto">
          <a:xfrm>
            <a:off x="5796136" y="3645024"/>
            <a:ext cx="2088232" cy="0"/>
          </a:xfrm>
          <a:prstGeom prst="line">
            <a:avLst/>
          </a:prstGeom>
          <a:ln>
            <a:solidFill>
              <a:srgbClr val="FF0000"/>
            </a:solidFill>
            <a:prstDash val="dash"/>
          </a:ln>
        </p:spPr>
        <p:style>
          <a:lnRef idx="2">
            <a:schemeClr val="accent2"/>
          </a:lnRef>
          <a:fillRef idx="0">
            <a:schemeClr val="accent2"/>
          </a:fillRef>
          <a:effectRef idx="1">
            <a:schemeClr val="accent2"/>
          </a:effectRef>
          <a:fontRef idx="minor">
            <a:schemeClr val="tx1"/>
          </a:fontRef>
        </p:style>
      </p:cxnSp>
      <p:cxnSp>
        <p:nvCxnSpPr>
          <p:cNvPr id="5" name="直接连接符 4">
            <a:extLst>
              <a:ext uri="{FF2B5EF4-FFF2-40B4-BE49-F238E27FC236}">
                <a16:creationId xmlns:a16="http://schemas.microsoft.com/office/drawing/2014/main" id="{F88C9E60-A2CD-0FA7-9F44-7607C7B85B1D}"/>
              </a:ext>
            </a:extLst>
          </p:cNvPr>
          <p:cNvCxnSpPr/>
          <p:nvPr/>
        </p:nvCxnSpPr>
        <p:spPr bwMode="auto">
          <a:xfrm>
            <a:off x="3707904" y="3356992"/>
            <a:ext cx="2088232" cy="0"/>
          </a:xfrm>
          <a:prstGeom prst="line">
            <a:avLst/>
          </a:prstGeom>
          <a:ln>
            <a:solidFill>
              <a:srgbClr val="FF0000"/>
            </a:solidFill>
            <a:prstDash val="dash"/>
          </a:ln>
        </p:spPr>
        <p:style>
          <a:lnRef idx="2">
            <a:schemeClr val="accent2"/>
          </a:lnRef>
          <a:fillRef idx="0">
            <a:schemeClr val="accent2"/>
          </a:fillRef>
          <a:effectRef idx="1">
            <a:schemeClr val="accent2"/>
          </a:effectRef>
          <a:fontRef idx="minor">
            <a:schemeClr val="tx1"/>
          </a:fontRef>
        </p:style>
      </p:cxnSp>
      <p:cxnSp>
        <p:nvCxnSpPr>
          <p:cNvPr id="6" name="直接连接符 5">
            <a:extLst>
              <a:ext uri="{FF2B5EF4-FFF2-40B4-BE49-F238E27FC236}">
                <a16:creationId xmlns:a16="http://schemas.microsoft.com/office/drawing/2014/main" id="{06A776B5-0053-22FA-FFBC-7AE5436629D5}"/>
              </a:ext>
            </a:extLst>
          </p:cNvPr>
          <p:cNvCxnSpPr>
            <a:cxnSpLocks/>
          </p:cNvCxnSpPr>
          <p:nvPr/>
        </p:nvCxnSpPr>
        <p:spPr bwMode="auto">
          <a:xfrm>
            <a:off x="1475656" y="4509120"/>
            <a:ext cx="1224136" cy="0"/>
          </a:xfrm>
          <a:prstGeom prst="line">
            <a:avLst/>
          </a:prstGeom>
          <a:ln>
            <a:solidFill>
              <a:srgbClr val="FF0000"/>
            </a:solidFill>
            <a:prstDash val="dash"/>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5558284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4580">
                                            <p:txEl>
                                              <p:pRg st="10" end="10"/>
                                            </p:txEl>
                                          </p:spTgt>
                                        </p:tgtEl>
                                        <p:attrNameLst>
                                          <p:attrName>style.visibility</p:attrName>
                                        </p:attrNameLst>
                                      </p:cBhvr>
                                      <p:to>
                                        <p:strVal val="visible"/>
                                      </p:to>
                                    </p:set>
                                    <p:anim calcmode="lin" valueType="num">
                                      <p:cBhvr additive="base">
                                        <p:cTn id="14" dur="500" fill="hold"/>
                                        <p:tgtEl>
                                          <p:spTgt spid="24580">
                                            <p:txEl>
                                              <p:pRg st="10" end="1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4580">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4580">
                                            <p:txEl>
                                              <p:pRg st="13" end="13"/>
                                            </p:txEl>
                                          </p:spTgt>
                                        </p:tgtEl>
                                        <p:attrNameLst>
                                          <p:attrName>style.visibility</p:attrName>
                                        </p:attrNameLst>
                                      </p:cBhvr>
                                      <p:to>
                                        <p:strVal val="visible"/>
                                      </p:to>
                                    </p:set>
                                    <p:anim calcmode="lin" valueType="num">
                                      <p:cBhvr additive="base">
                                        <p:cTn id="20" dur="500" fill="hold"/>
                                        <p:tgtEl>
                                          <p:spTgt spid="24580">
                                            <p:txEl>
                                              <p:pRg st="13" end="1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4580">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4580">
                                            <p:txEl>
                                              <p:pRg st="11" end="11"/>
                                            </p:txEl>
                                          </p:spTgt>
                                        </p:tgtEl>
                                        <p:attrNameLst>
                                          <p:attrName>style.visibility</p:attrName>
                                        </p:attrNameLst>
                                      </p:cBhvr>
                                      <p:to>
                                        <p:strVal val="visible"/>
                                      </p:to>
                                    </p:set>
                                    <p:anim calcmode="lin" valueType="num">
                                      <p:cBhvr additive="base">
                                        <p:cTn id="33" dur="500" fill="hold"/>
                                        <p:tgtEl>
                                          <p:spTgt spid="24580">
                                            <p:txEl>
                                              <p:pRg st="11" end="1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4580">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1000"/>
                                        <p:tgtEl>
                                          <p:spTgt spid="4"/>
                                        </p:tgtEl>
                                      </p:cBhvr>
                                    </p:animEffect>
                                    <p:anim calcmode="lin" valueType="num">
                                      <p:cBhvr>
                                        <p:cTn id="40" dur="1000" fill="hold"/>
                                        <p:tgtEl>
                                          <p:spTgt spid="4"/>
                                        </p:tgtEl>
                                        <p:attrNameLst>
                                          <p:attrName>ppt_x</p:attrName>
                                        </p:attrNameLst>
                                      </p:cBhvr>
                                      <p:tavLst>
                                        <p:tav tm="0">
                                          <p:val>
                                            <p:strVal val="#ppt_x"/>
                                          </p:val>
                                        </p:tav>
                                        <p:tav tm="100000">
                                          <p:val>
                                            <p:strVal val="#ppt_x"/>
                                          </p:val>
                                        </p:tav>
                                      </p:tavLst>
                                    </p:anim>
                                    <p:anim calcmode="lin" valueType="num">
                                      <p:cBhvr>
                                        <p:cTn id="4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24580">
                                            <p:txEl>
                                              <p:pRg st="12" end="12"/>
                                            </p:txEl>
                                          </p:spTgt>
                                        </p:tgtEl>
                                        <p:attrNameLst>
                                          <p:attrName>style.visibility</p:attrName>
                                        </p:attrNameLst>
                                      </p:cBhvr>
                                      <p:to>
                                        <p:strVal val="visible"/>
                                      </p:to>
                                    </p:set>
                                    <p:anim calcmode="lin" valueType="num">
                                      <p:cBhvr additive="base">
                                        <p:cTn id="46" dur="500" fill="hold"/>
                                        <p:tgtEl>
                                          <p:spTgt spid="24580">
                                            <p:txEl>
                                              <p:pRg st="12" end="1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4580">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zh-CN" altLang="en-US"/>
              <a:t>立即更新数据库方案</a:t>
            </a:r>
            <a:endParaRPr lang="en-US" altLang="zh-CN"/>
          </a:p>
        </p:txBody>
      </p:sp>
      <p:sp>
        <p:nvSpPr>
          <p:cNvPr id="25604" name="Rectangle 3"/>
          <p:cNvSpPr>
            <a:spLocks noGrp="1" noChangeArrowheads="1"/>
          </p:cNvSpPr>
          <p:nvPr>
            <p:ph type="body" idx="4294967295"/>
          </p:nvPr>
        </p:nvSpPr>
        <p:spPr>
          <a:xfrm>
            <a:off x="808038" y="1412776"/>
            <a:ext cx="8162925" cy="3960440"/>
          </a:xfrm>
        </p:spPr>
        <p:txBody>
          <a:bodyPr/>
          <a:lstStyle/>
          <a:p>
            <a:pPr eaLnBrk="1" hangingPunct="1"/>
            <a:r>
              <a:rPr lang="zh-CN" altLang="en-US" sz="2500" dirty="0">
                <a:solidFill>
                  <a:srgbClr val="FF3300"/>
                </a:solidFill>
              </a:rPr>
              <a:t>立即更新数据库</a:t>
            </a:r>
            <a:r>
              <a:rPr lang="zh-CN" altLang="en-US" sz="2500" dirty="0"/>
              <a:t>方案允许</a:t>
            </a:r>
            <a:r>
              <a:rPr lang="zh-CN" altLang="en-US" sz="2500" b="1" dirty="0">
                <a:solidFill>
                  <a:srgbClr val="FF0000"/>
                </a:solidFill>
              </a:rPr>
              <a:t>未提交事务</a:t>
            </a:r>
            <a:r>
              <a:rPr lang="zh-CN" altLang="en-US" sz="2500" dirty="0"/>
              <a:t>在发出</a:t>
            </a:r>
            <a:r>
              <a:rPr lang="zh-CN" altLang="en-US" sz="2500" b="1" dirty="0">
                <a:solidFill>
                  <a:srgbClr val="FF0000"/>
                </a:solidFill>
              </a:rPr>
              <a:t>写操作</a:t>
            </a:r>
            <a:r>
              <a:rPr lang="zh-CN" altLang="en-US" sz="2500" dirty="0"/>
              <a:t>时</a:t>
            </a:r>
            <a:r>
              <a:rPr lang="zh-CN" altLang="en-US" sz="2500" b="1" dirty="0">
                <a:solidFill>
                  <a:srgbClr val="FF0000"/>
                </a:solidFill>
              </a:rPr>
              <a:t>更新数据库</a:t>
            </a:r>
            <a:endParaRPr lang="en-US" altLang="zh-CN" sz="2500" b="1" dirty="0">
              <a:solidFill>
                <a:srgbClr val="FF0000"/>
              </a:solidFill>
            </a:endParaRPr>
          </a:p>
          <a:p>
            <a:pPr lvl="1" eaLnBrk="1" hangingPunct="1"/>
            <a:r>
              <a:rPr lang="zh-CN" altLang="en-US" sz="2100" dirty="0"/>
              <a:t>由于可能需要</a:t>
            </a:r>
            <a:r>
              <a:rPr lang="zh-CN" altLang="en-US" sz="2100" b="1" dirty="0"/>
              <a:t>取消操作</a:t>
            </a:r>
            <a:r>
              <a:rPr lang="zh-CN" altLang="en-US" sz="2100" dirty="0"/>
              <a:t>，</a:t>
            </a:r>
            <a:r>
              <a:rPr lang="zh-CN" altLang="en-US" sz="2100" b="1" dirty="0"/>
              <a:t>日志记录</a:t>
            </a:r>
            <a:r>
              <a:rPr lang="zh-CN" altLang="en-US" sz="2100" dirty="0">
                <a:solidFill>
                  <a:srgbClr val="0000FF"/>
                </a:solidFill>
              </a:rPr>
              <a:t>必须包含</a:t>
            </a:r>
            <a:r>
              <a:rPr lang="zh-CN" altLang="en-US" sz="2100" b="1" dirty="0"/>
              <a:t>旧值</a:t>
            </a:r>
            <a:r>
              <a:rPr lang="zh-CN" altLang="en-US" sz="2100" b="1" dirty="0">
                <a:solidFill>
                  <a:srgbClr val="0000FF"/>
                </a:solidFill>
              </a:rPr>
              <a:t>和</a:t>
            </a:r>
            <a:r>
              <a:rPr lang="zh-CN" altLang="en-US" sz="2100" b="1" dirty="0"/>
              <a:t>新值</a:t>
            </a:r>
            <a:endParaRPr lang="en-US" altLang="zh-CN" sz="2100" b="1" dirty="0"/>
          </a:p>
          <a:p>
            <a:pPr eaLnBrk="1" hangingPunct="1"/>
            <a:r>
              <a:rPr lang="zh-CN" altLang="en-US" sz="2500" b="1" dirty="0"/>
              <a:t>数据库数据修改之前</a:t>
            </a:r>
            <a:r>
              <a:rPr lang="zh-CN" altLang="en-US" sz="2500" dirty="0"/>
              <a:t>，</a:t>
            </a:r>
            <a:r>
              <a:rPr lang="zh-CN" altLang="en-US" sz="2500" u="sng" dirty="0">
                <a:effectLst>
                  <a:outerShdw blurRad="38100" dist="38100" dir="2700000" algn="tl">
                    <a:srgbClr val="000000">
                      <a:alpha val="43137"/>
                    </a:srgbClr>
                  </a:outerShdw>
                </a:effectLst>
              </a:rPr>
              <a:t>必须</a:t>
            </a:r>
            <a:r>
              <a:rPr lang="zh-CN" altLang="en-US" sz="2500" dirty="0"/>
              <a:t>把</a:t>
            </a:r>
            <a:r>
              <a:rPr lang="zh-CN" altLang="en-US" sz="2500" u="sng" dirty="0"/>
              <a:t>关于更新的</a:t>
            </a:r>
            <a:r>
              <a:rPr lang="zh-CN" altLang="en-US" sz="2500" b="1" u="sng" dirty="0"/>
              <a:t>日志记录</a:t>
            </a:r>
            <a:r>
              <a:rPr lang="zh-CN" altLang="en-US" sz="2500" b="1" dirty="0"/>
              <a:t>写到稳定存储器</a:t>
            </a:r>
            <a:r>
              <a:rPr lang="en-US" altLang="zh-CN" sz="2500" dirty="0"/>
              <a:t>; (</a:t>
            </a:r>
            <a:r>
              <a:rPr lang="zh-CN" altLang="en-US" sz="2500" dirty="0"/>
              <a:t>思考为什么？</a:t>
            </a:r>
            <a:r>
              <a:rPr lang="en-US" altLang="zh-CN" sz="2500" dirty="0"/>
              <a:t>)</a:t>
            </a:r>
            <a:endParaRPr lang="zh-CN" altLang="en-US" sz="2500" dirty="0"/>
          </a:p>
          <a:p>
            <a:pPr eaLnBrk="1" hangingPunct="1"/>
            <a:r>
              <a:rPr lang="zh-CN" altLang="en-US" sz="2500" dirty="0"/>
              <a:t>活跃事务所作的修改，称为</a:t>
            </a:r>
            <a:r>
              <a:rPr lang="zh-CN" altLang="en-US" sz="2500" b="1" dirty="0">
                <a:solidFill>
                  <a:srgbClr val="FF3300"/>
                </a:solidFill>
              </a:rPr>
              <a:t>未提交修改；</a:t>
            </a:r>
          </a:p>
          <a:p>
            <a:pPr eaLnBrk="1" hangingPunct="1"/>
            <a:r>
              <a:rPr lang="zh-CN" altLang="en-US" sz="2500" dirty="0"/>
              <a:t>被</a:t>
            </a:r>
            <a:r>
              <a:rPr lang="zh-CN" altLang="en-US" sz="2500" b="1" dirty="0"/>
              <a:t>更新数据块的输出</a:t>
            </a:r>
            <a:r>
              <a:rPr lang="zh-CN" altLang="en-US" sz="2500" dirty="0"/>
              <a:t>可能发生在</a:t>
            </a:r>
            <a:r>
              <a:rPr lang="zh-CN" altLang="en-US" sz="2500" b="1" dirty="0">
                <a:solidFill>
                  <a:srgbClr val="0000FF"/>
                </a:solidFill>
              </a:rPr>
              <a:t>事务提交之前</a:t>
            </a:r>
            <a:r>
              <a:rPr lang="zh-CN" altLang="en-US" sz="2500" dirty="0"/>
              <a:t>或</a:t>
            </a:r>
            <a:r>
              <a:rPr lang="zh-CN" altLang="en-US" sz="2500" b="1" dirty="0">
                <a:solidFill>
                  <a:srgbClr val="0000FF"/>
                </a:solidFill>
              </a:rPr>
              <a:t>之后</a:t>
            </a:r>
          </a:p>
          <a:p>
            <a:pPr lvl="1" eaLnBrk="1" hangingPunct="1"/>
            <a:r>
              <a:rPr lang="zh-CN" altLang="en-US" sz="2100" dirty="0">
                <a:solidFill>
                  <a:srgbClr val="0000FF"/>
                </a:solidFill>
              </a:rPr>
              <a:t>日志</a:t>
            </a:r>
            <a:r>
              <a:rPr lang="zh-CN" altLang="en-US" sz="2100" dirty="0"/>
              <a:t>已经</a:t>
            </a:r>
            <a:r>
              <a:rPr lang="zh-CN" altLang="en-US" sz="2100" dirty="0">
                <a:solidFill>
                  <a:srgbClr val="0000FF"/>
                </a:solidFill>
              </a:rPr>
              <a:t>记录</a:t>
            </a:r>
            <a:r>
              <a:rPr lang="zh-CN" altLang="en-US" sz="2100" dirty="0"/>
              <a:t>相应的</a:t>
            </a:r>
            <a:r>
              <a:rPr lang="zh-CN" altLang="en-US" sz="2100" dirty="0">
                <a:solidFill>
                  <a:srgbClr val="0000FF"/>
                </a:solidFill>
              </a:rPr>
              <a:t>信息</a:t>
            </a:r>
          </a:p>
          <a:p>
            <a:pPr eaLnBrk="1" hangingPunct="1"/>
            <a:r>
              <a:rPr lang="zh-CN" altLang="en-US" sz="2500" b="1" dirty="0"/>
              <a:t>数据块</a:t>
            </a:r>
            <a:r>
              <a:rPr lang="zh-CN" altLang="en-US" sz="2500" b="1" dirty="0">
                <a:solidFill>
                  <a:srgbClr val="0000FF"/>
                </a:solidFill>
              </a:rPr>
              <a:t>输出的次序</a:t>
            </a:r>
            <a:r>
              <a:rPr lang="zh-CN" altLang="en-US" sz="2500" dirty="0"/>
              <a:t>可以与</a:t>
            </a:r>
            <a:r>
              <a:rPr lang="zh-CN" altLang="en-US" sz="2500" b="1" dirty="0">
                <a:solidFill>
                  <a:srgbClr val="0000FF"/>
                </a:solidFill>
              </a:rPr>
              <a:t>修改块的次序</a:t>
            </a:r>
            <a:r>
              <a:rPr lang="zh-CN" altLang="en-US" sz="2500" b="1" dirty="0">
                <a:solidFill>
                  <a:srgbClr val="FF0000"/>
                </a:solidFill>
              </a:rPr>
              <a:t>不同</a:t>
            </a:r>
            <a:r>
              <a:rPr lang="zh-CN" altLang="en-US" sz="2500" dirty="0"/>
              <a:t>。</a:t>
            </a:r>
          </a:p>
        </p:txBody>
      </p:sp>
      <p:sp>
        <p:nvSpPr>
          <p:cNvPr id="2" name="日期占位符 1">
            <a:extLst>
              <a:ext uri="{FF2B5EF4-FFF2-40B4-BE49-F238E27FC236}">
                <a16:creationId xmlns:a16="http://schemas.microsoft.com/office/drawing/2014/main" id="{5927E5B8-BC75-BF0B-E138-5100C0132EF4}"/>
              </a:ext>
            </a:extLst>
          </p:cNvPr>
          <p:cNvSpPr>
            <a:spLocks noGrp="1"/>
          </p:cNvSpPr>
          <p:nvPr>
            <p:ph type="dt" sz="half" idx="10"/>
          </p:nvPr>
        </p:nvSpPr>
        <p:spPr/>
        <p:txBody>
          <a:bodyPr/>
          <a:lstStyle/>
          <a:p>
            <a:fld id="{318192E0-BEDA-4D5C-9D83-4101A8BC6CE2}"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422FF734-F62F-7836-5160-0E02AA47D861}"/>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FBEE10FF-42FA-E24A-54E6-3BE50E1CDA7C}"/>
              </a:ext>
            </a:extLst>
          </p:cNvPr>
          <p:cNvSpPr>
            <a:spLocks noGrp="1"/>
          </p:cNvSpPr>
          <p:nvPr>
            <p:ph type="sldNum" sz="quarter" idx="12"/>
          </p:nvPr>
        </p:nvSpPr>
        <p:spPr/>
        <p:txBody>
          <a:bodyPr/>
          <a:lstStyle/>
          <a:p>
            <a:fld id="{AB1F7240-85F2-492B-84D8-762EF0110923}" type="slidenum">
              <a:rPr lang="en-US" altLang="zh-CN" smtClean="0"/>
              <a:pPr/>
              <a:t>41</a:t>
            </a:fld>
            <a:r>
              <a:rPr lang="en-US" altLang="zh-CN"/>
              <a:t>/67</a:t>
            </a:r>
            <a:endParaRPr lang="zh-CN" altLang="en-US" dirty="0"/>
          </a:p>
        </p:txBody>
      </p:sp>
    </p:spTree>
    <p:extLst>
      <p:ext uri="{BB962C8B-B14F-4D97-AF65-F5344CB8AC3E}">
        <p14:creationId xmlns:p14="http://schemas.microsoft.com/office/powerpoint/2010/main" val="2777664118"/>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825500" y="609600"/>
            <a:ext cx="8077200" cy="609600"/>
          </a:xfrm>
        </p:spPr>
        <p:txBody>
          <a:bodyPr/>
          <a:lstStyle/>
          <a:p>
            <a:pPr eaLnBrk="1" hangingPunct="1"/>
            <a:r>
              <a:rPr lang="zh-CN" altLang="en-US" sz="3800"/>
              <a:t>立即更新数据库示例</a:t>
            </a:r>
            <a:endParaRPr lang="en-US" altLang="zh-CN" sz="3800"/>
          </a:p>
        </p:txBody>
      </p:sp>
      <p:sp>
        <p:nvSpPr>
          <p:cNvPr id="26628" name="Rectangle 3"/>
          <p:cNvSpPr>
            <a:spLocks noGrp="1" noChangeArrowheads="1"/>
          </p:cNvSpPr>
          <p:nvPr>
            <p:ph type="body" idx="4294967295"/>
          </p:nvPr>
        </p:nvSpPr>
        <p:spPr>
          <a:xfrm>
            <a:off x="673100" y="1565274"/>
            <a:ext cx="7923213" cy="4456013"/>
          </a:xfrm>
        </p:spPr>
        <p:txBody>
          <a:bodyPr/>
          <a:lstStyle/>
          <a:p>
            <a:pPr eaLnBrk="1" hangingPunct="1">
              <a:buFont typeface="Wingdings" pitchFamily="2" charset="2"/>
              <a:buNone/>
            </a:pPr>
            <a:r>
              <a:rPr lang="en-US" altLang="zh-CN" sz="2100" b="0" dirty="0"/>
              <a:t>Log                                </a:t>
            </a:r>
            <a:r>
              <a:rPr lang="en-US" altLang="zh-CN" sz="2100" b="0" dirty="0">
                <a:solidFill>
                  <a:srgbClr val="FF0000"/>
                </a:solidFill>
              </a:rPr>
              <a:t>Write</a:t>
            </a:r>
            <a:r>
              <a:rPr lang="en-US" altLang="zh-CN" sz="2100" b="0" dirty="0"/>
              <a:t>                        Output</a:t>
            </a:r>
            <a:endParaRPr lang="en-US" altLang="zh-CN" sz="2100" dirty="0"/>
          </a:p>
          <a:p>
            <a:pPr eaLnBrk="1" hangingPunct="1">
              <a:lnSpc>
                <a:spcPct val="80000"/>
              </a:lnSpc>
              <a:buFont typeface="Wingdings" pitchFamily="2" charset="2"/>
              <a:buNone/>
            </a:pPr>
            <a:endParaRPr lang="en-US" altLang="zh-CN" sz="2100" dirty="0"/>
          </a:p>
          <a:p>
            <a:pPr eaLnBrk="1" hangingPunct="1">
              <a:lnSpc>
                <a:spcPct val="60000"/>
              </a:lnSpc>
              <a:buFont typeface="Wingdings" pitchFamily="2" charset="2"/>
              <a:buNone/>
            </a:pPr>
            <a:r>
              <a:rPr lang="en-US" altLang="zh-CN" sz="2100" dirty="0"/>
              <a:t>&lt;</a:t>
            </a:r>
            <a:r>
              <a:rPr lang="en-US" altLang="zh-CN" sz="2100" i="1" dirty="0"/>
              <a:t>T</a:t>
            </a:r>
            <a:r>
              <a:rPr lang="en-US" altLang="zh-CN" sz="2100" baseline="-25000" dirty="0"/>
              <a:t>0</a:t>
            </a:r>
            <a:r>
              <a:rPr lang="en-US" altLang="zh-CN" sz="2100" i="1" dirty="0"/>
              <a:t> </a:t>
            </a:r>
            <a:r>
              <a:rPr lang="en-US" altLang="zh-CN" sz="2100" b="0" dirty="0"/>
              <a:t>start</a:t>
            </a:r>
            <a:r>
              <a:rPr lang="en-US" altLang="zh-CN" sz="2100" dirty="0"/>
              <a:t>&gt;</a:t>
            </a:r>
          </a:p>
          <a:p>
            <a:pPr eaLnBrk="1" hangingPunct="1">
              <a:buFont typeface="Wingdings" pitchFamily="2" charset="2"/>
              <a:buNone/>
            </a:pPr>
            <a:r>
              <a:rPr lang="en-US" altLang="zh-CN" sz="2100" dirty="0"/>
              <a:t>&lt;</a:t>
            </a:r>
            <a:r>
              <a:rPr lang="en-US" altLang="zh-CN" sz="2100" i="1" dirty="0"/>
              <a:t>T</a:t>
            </a:r>
            <a:r>
              <a:rPr lang="en-US" altLang="zh-CN" sz="2100" i="1" baseline="-25000" dirty="0"/>
              <a:t>0</a:t>
            </a:r>
            <a:r>
              <a:rPr lang="en-US" altLang="zh-CN" sz="2100" i="1" dirty="0"/>
              <a:t>,</a:t>
            </a:r>
            <a:r>
              <a:rPr lang="en-US" altLang="zh-CN" sz="2100" dirty="0"/>
              <a:t> A, 1000, 950&gt;</a:t>
            </a:r>
          </a:p>
          <a:p>
            <a:pPr eaLnBrk="1" hangingPunct="1">
              <a:lnSpc>
                <a:spcPct val="70000"/>
              </a:lnSpc>
              <a:buFont typeface="Wingdings" pitchFamily="2" charset="2"/>
              <a:buNone/>
            </a:pPr>
            <a:r>
              <a:rPr lang="en-US" altLang="zh-CN" sz="2100" i="1" dirty="0"/>
              <a:t>&lt;T</a:t>
            </a:r>
            <a:r>
              <a:rPr lang="en-US" altLang="zh-CN" sz="2100" baseline="-25000" dirty="0"/>
              <a:t>o</a:t>
            </a:r>
            <a:r>
              <a:rPr lang="en-US" altLang="zh-CN" sz="2100" i="1" dirty="0"/>
              <a:t>,</a:t>
            </a:r>
            <a:r>
              <a:rPr lang="en-US" altLang="zh-CN" sz="2100" dirty="0"/>
              <a:t> B, 2000, 2050&gt;</a:t>
            </a:r>
          </a:p>
          <a:p>
            <a:pPr eaLnBrk="1" hangingPunct="1">
              <a:lnSpc>
                <a:spcPct val="80000"/>
              </a:lnSpc>
              <a:buFont typeface="Wingdings" pitchFamily="2" charset="2"/>
              <a:buNone/>
            </a:pPr>
            <a:r>
              <a:rPr lang="en-US" altLang="zh-CN" sz="2100" dirty="0"/>
              <a:t>                                    </a:t>
            </a:r>
            <a:r>
              <a:rPr lang="en-US" altLang="zh-CN" sz="2100" i="1" dirty="0"/>
              <a:t>A</a:t>
            </a:r>
            <a:r>
              <a:rPr lang="en-US" altLang="zh-CN" sz="2100" dirty="0"/>
              <a:t> = 950</a:t>
            </a:r>
          </a:p>
          <a:p>
            <a:pPr eaLnBrk="1" hangingPunct="1">
              <a:lnSpc>
                <a:spcPct val="60000"/>
              </a:lnSpc>
              <a:buFont typeface="Wingdings" pitchFamily="2" charset="2"/>
              <a:buNone/>
            </a:pPr>
            <a:r>
              <a:rPr lang="en-US" altLang="zh-CN" sz="2100" dirty="0"/>
              <a:t>                                    </a:t>
            </a:r>
            <a:r>
              <a:rPr lang="en-US" altLang="zh-CN" sz="2100" i="1" dirty="0"/>
              <a:t>B</a:t>
            </a:r>
            <a:r>
              <a:rPr lang="en-US" altLang="zh-CN" sz="2100" dirty="0"/>
              <a:t> = 2050</a:t>
            </a:r>
          </a:p>
          <a:p>
            <a:pPr eaLnBrk="1" hangingPunct="1">
              <a:buFont typeface="Wingdings" pitchFamily="2" charset="2"/>
              <a:buNone/>
            </a:pPr>
            <a:r>
              <a:rPr lang="en-US" altLang="zh-CN" sz="2100" dirty="0">
                <a:solidFill>
                  <a:srgbClr val="0000FF"/>
                </a:solidFill>
              </a:rPr>
              <a:t>&lt;</a:t>
            </a:r>
            <a:r>
              <a:rPr lang="en-US" altLang="zh-CN" sz="2100" i="1" dirty="0">
                <a:solidFill>
                  <a:srgbClr val="0000FF"/>
                </a:solidFill>
              </a:rPr>
              <a:t>T</a:t>
            </a:r>
            <a:r>
              <a:rPr lang="en-US" altLang="zh-CN" sz="2100" baseline="-25000" dirty="0">
                <a:solidFill>
                  <a:srgbClr val="0000FF"/>
                </a:solidFill>
              </a:rPr>
              <a:t>0</a:t>
            </a:r>
            <a:r>
              <a:rPr lang="en-US" altLang="zh-CN" sz="2100" dirty="0">
                <a:solidFill>
                  <a:srgbClr val="0000FF"/>
                </a:solidFill>
              </a:rPr>
              <a:t> </a:t>
            </a:r>
            <a:r>
              <a:rPr lang="en-US" altLang="zh-CN" sz="2100" b="0" dirty="0">
                <a:solidFill>
                  <a:srgbClr val="0000FF"/>
                </a:solidFill>
              </a:rPr>
              <a:t>commit</a:t>
            </a:r>
            <a:r>
              <a:rPr lang="en-US" altLang="zh-CN" sz="2100" dirty="0">
                <a:solidFill>
                  <a:srgbClr val="0000FF"/>
                </a:solidFill>
              </a:rPr>
              <a:t>&gt;</a:t>
            </a:r>
          </a:p>
          <a:p>
            <a:pPr eaLnBrk="1" hangingPunct="1">
              <a:lnSpc>
                <a:spcPct val="80000"/>
              </a:lnSpc>
              <a:buFont typeface="Wingdings" pitchFamily="2" charset="2"/>
              <a:buNone/>
            </a:pPr>
            <a:r>
              <a:rPr lang="en-US" altLang="zh-CN" sz="2100" dirty="0"/>
              <a:t>&lt;</a:t>
            </a:r>
            <a:r>
              <a:rPr lang="en-US" altLang="zh-CN" sz="2100" i="1" dirty="0"/>
              <a:t>T</a:t>
            </a:r>
            <a:r>
              <a:rPr lang="en-US" altLang="zh-CN" sz="2100" baseline="-25000" dirty="0"/>
              <a:t>1</a:t>
            </a:r>
            <a:r>
              <a:rPr lang="en-US" altLang="zh-CN" sz="2100" dirty="0"/>
              <a:t> </a:t>
            </a:r>
            <a:r>
              <a:rPr lang="en-US" altLang="zh-CN" sz="2100" b="0" dirty="0"/>
              <a:t>start</a:t>
            </a:r>
            <a:r>
              <a:rPr lang="en-US" altLang="zh-CN" sz="2100" dirty="0"/>
              <a:t>&gt;</a:t>
            </a:r>
          </a:p>
          <a:p>
            <a:pPr eaLnBrk="1" hangingPunct="1">
              <a:lnSpc>
                <a:spcPct val="60000"/>
              </a:lnSpc>
              <a:buFont typeface="Wingdings" pitchFamily="2" charset="2"/>
              <a:buNone/>
            </a:pPr>
            <a:r>
              <a:rPr lang="en-US" altLang="zh-CN" sz="2100" dirty="0"/>
              <a:t>&lt;</a:t>
            </a:r>
            <a:r>
              <a:rPr lang="en-US" altLang="zh-CN" sz="2100" i="1" dirty="0"/>
              <a:t>T</a:t>
            </a:r>
            <a:r>
              <a:rPr lang="en-US" altLang="zh-CN" sz="2100" baseline="-25000" dirty="0"/>
              <a:t>1</a:t>
            </a:r>
            <a:r>
              <a:rPr lang="en-US" altLang="zh-CN" sz="2100" dirty="0"/>
              <a:t>, C, 700, 600&gt;</a:t>
            </a:r>
          </a:p>
          <a:p>
            <a:pPr eaLnBrk="1" hangingPunct="1">
              <a:lnSpc>
                <a:spcPct val="80000"/>
              </a:lnSpc>
              <a:buFont typeface="Wingdings" pitchFamily="2" charset="2"/>
              <a:buNone/>
            </a:pPr>
            <a:r>
              <a:rPr lang="en-US" altLang="zh-CN" sz="2100" dirty="0"/>
              <a:t>                                     </a:t>
            </a:r>
            <a:r>
              <a:rPr lang="en-US" altLang="zh-CN" sz="2100" i="1" dirty="0"/>
              <a:t>C</a:t>
            </a:r>
            <a:r>
              <a:rPr lang="en-US" altLang="zh-CN" sz="2100" dirty="0"/>
              <a:t> = 600</a:t>
            </a:r>
          </a:p>
          <a:p>
            <a:pPr eaLnBrk="1" hangingPunct="1">
              <a:lnSpc>
                <a:spcPct val="80000"/>
              </a:lnSpc>
              <a:buFont typeface="Wingdings" pitchFamily="2" charset="2"/>
              <a:buNone/>
            </a:pPr>
            <a:r>
              <a:rPr lang="en-US" altLang="zh-CN" sz="2100" dirty="0"/>
              <a:t>                                                                         </a:t>
            </a:r>
            <a:r>
              <a:rPr lang="en-US" altLang="zh-CN" sz="2100" i="1" dirty="0">
                <a:solidFill>
                  <a:srgbClr val="FF0000"/>
                </a:solidFill>
              </a:rPr>
              <a:t>B</a:t>
            </a:r>
            <a:r>
              <a:rPr lang="en-US" altLang="zh-CN" sz="2100" i="1" baseline="-25000" dirty="0">
                <a:solidFill>
                  <a:srgbClr val="FF0000"/>
                </a:solidFill>
              </a:rPr>
              <a:t>B</a:t>
            </a:r>
            <a:r>
              <a:rPr lang="en-US" altLang="zh-CN" sz="2100" dirty="0"/>
              <a:t>, </a:t>
            </a:r>
            <a:r>
              <a:rPr lang="en-US" altLang="zh-CN" sz="2100" i="1" dirty="0">
                <a:solidFill>
                  <a:srgbClr val="0000FF"/>
                </a:solidFill>
              </a:rPr>
              <a:t>B</a:t>
            </a:r>
            <a:r>
              <a:rPr lang="en-US" altLang="zh-CN" sz="2100" i="1" baseline="-25000" dirty="0">
                <a:solidFill>
                  <a:srgbClr val="0000FF"/>
                </a:solidFill>
              </a:rPr>
              <a:t>C</a:t>
            </a:r>
            <a:endParaRPr lang="en-US" altLang="zh-CN" sz="2100" dirty="0">
              <a:solidFill>
                <a:srgbClr val="0000FF"/>
              </a:solidFill>
            </a:endParaRPr>
          </a:p>
          <a:p>
            <a:pPr eaLnBrk="1" hangingPunct="1">
              <a:lnSpc>
                <a:spcPct val="70000"/>
              </a:lnSpc>
              <a:buFont typeface="Wingdings" pitchFamily="2" charset="2"/>
              <a:buNone/>
            </a:pPr>
            <a:r>
              <a:rPr lang="en-US" altLang="zh-CN" sz="2100" dirty="0">
                <a:solidFill>
                  <a:srgbClr val="FF0000"/>
                </a:solidFill>
              </a:rPr>
              <a:t>&lt;</a:t>
            </a:r>
            <a:r>
              <a:rPr lang="en-US" altLang="zh-CN" sz="2100" i="1" dirty="0">
                <a:solidFill>
                  <a:srgbClr val="FF0000"/>
                </a:solidFill>
              </a:rPr>
              <a:t>T</a:t>
            </a:r>
            <a:r>
              <a:rPr lang="en-US" altLang="zh-CN" sz="2100" baseline="-25000" dirty="0">
                <a:solidFill>
                  <a:srgbClr val="FF0000"/>
                </a:solidFill>
              </a:rPr>
              <a:t>1</a:t>
            </a:r>
            <a:r>
              <a:rPr lang="en-US" altLang="zh-CN" sz="2100" dirty="0">
                <a:solidFill>
                  <a:srgbClr val="FF0000"/>
                </a:solidFill>
              </a:rPr>
              <a:t> </a:t>
            </a:r>
            <a:r>
              <a:rPr lang="en-US" altLang="zh-CN" sz="2100" b="0" dirty="0">
                <a:solidFill>
                  <a:srgbClr val="FF0000"/>
                </a:solidFill>
              </a:rPr>
              <a:t>commit</a:t>
            </a:r>
            <a:r>
              <a:rPr lang="en-US" altLang="zh-CN" sz="2100" dirty="0">
                <a:solidFill>
                  <a:srgbClr val="FF0000"/>
                </a:solidFill>
              </a:rPr>
              <a:t>&gt;</a:t>
            </a:r>
          </a:p>
          <a:p>
            <a:pPr eaLnBrk="1" hangingPunct="1">
              <a:lnSpc>
                <a:spcPct val="70000"/>
              </a:lnSpc>
              <a:buFont typeface="Wingdings" pitchFamily="2" charset="2"/>
              <a:buNone/>
            </a:pPr>
            <a:r>
              <a:rPr lang="en-US" altLang="zh-CN" sz="2100" dirty="0"/>
              <a:t>                                                                         </a:t>
            </a:r>
            <a:r>
              <a:rPr lang="en-US" altLang="zh-CN" sz="2100" i="1" dirty="0"/>
              <a:t>B</a:t>
            </a:r>
            <a:r>
              <a:rPr lang="en-US" altLang="zh-CN" sz="2100" i="1" baseline="-25000" dirty="0"/>
              <a:t>A</a:t>
            </a:r>
            <a:endParaRPr lang="en-US" altLang="zh-CN" sz="2100" dirty="0"/>
          </a:p>
          <a:p>
            <a:pPr eaLnBrk="1" hangingPunct="1"/>
            <a:r>
              <a:rPr lang="zh-CN" altLang="en-US" sz="2100" dirty="0"/>
              <a:t>注</a:t>
            </a:r>
            <a:r>
              <a:rPr lang="en-US" altLang="zh-CN" sz="2100" dirty="0"/>
              <a:t>: </a:t>
            </a:r>
            <a:r>
              <a:rPr lang="en-US" altLang="zh-CN" sz="2100" i="1" dirty="0"/>
              <a:t>B</a:t>
            </a:r>
            <a:r>
              <a:rPr lang="en-US" altLang="zh-CN" sz="2100" i="1" baseline="-25000" dirty="0"/>
              <a:t>X</a:t>
            </a:r>
            <a:r>
              <a:rPr lang="en-US" altLang="zh-CN" sz="2100" i="1" dirty="0"/>
              <a:t> </a:t>
            </a:r>
            <a:r>
              <a:rPr lang="zh-CN" altLang="en-US" sz="2100" dirty="0"/>
              <a:t>表示包含</a:t>
            </a:r>
            <a:r>
              <a:rPr lang="en-US" altLang="zh-CN" sz="2100" i="1" dirty="0"/>
              <a:t>X </a:t>
            </a:r>
            <a:r>
              <a:rPr lang="zh-CN" altLang="en-US" sz="2100" dirty="0"/>
              <a:t>的块</a:t>
            </a:r>
            <a:endParaRPr lang="en-US" altLang="zh-CN" sz="2100" dirty="0"/>
          </a:p>
          <a:p>
            <a:pPr lvl="4" eaLnBrk="1" hangingPunct="1">
              <a:buFont typeface="Wingdings" pitchFamily="2" charset="2"/>
              <a:buNone/>
            </a:pPr>
            <a:endParaRPr lang="en-US" altLang="zh-CN" sz="2100" dirty="0"/>
          </a:p>
        </p:txBody>
      </p:sp>
      <p:sp>
        <p:nvSpPr>
          <p:cNvPr id="26629" name="Line 4"/>
          <p:cNvSpPr>
            <a:spLocks noChangeShapeType="1"/>
          </p:cNvSpPr>
          <p:nvPr/>
        </p:nvSpPr>
        <p:spPr bwMode="auto">
          <a:xfrm flipV="1">
            <a:off x="666750" y="2030413"/>
            <a:ext cx="7747000"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 name="直接连接符 2"/>
          <p:cNvCxnSpPr>
            <a:cxnSpLocks/>
          </p:cNvCxnSpPr>
          <p:nvPr/>
        </p:nvCxnSpPr>
        <p:spPr bwMode="auto">
          <a:xfrm>
            <a:off x="673100" y="5373216"/>
            <a:ext cx="7740650"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
        <p:nvSpPr>
          <p:cNvPr id="2" name="日期占位符 1">
            <a:extLst>
              <a:ext uri="{FF2B5EF4-FFF2-40B4-BE49-F238E27FC236}">
                <a16:creationId xmlns:a16="http://schemas.microsoft.com/office/drawing/2014/main" id="{FAC515A4-3DDC-3DBC-C26B-1A630BDE101E}"/>
              </a:ext>
            </a:extLst>
          </p:cNvPr>
          <p:cNvSpPr>
            <a:spLocks noGrp="1"/>
          </p:cNvSpPr>
          <p:nvPr>
            <p:ph type="dt" sz="half" idx="10"/>
          </p:nvPr>
        </p:nvSpPr>
        <p:spPr/>
        <p:txBody>
          <a:bodyPr/>
          <a:lstStyle/>
          <a:p>
            <a:fld id="{B038262F-9394-4AEE-A58B-B5A91F3D0797}" type="datetime1">
              <a:rPr lang="zh-CN" altLang="en-US" smtClean="0"/>
              <a:t>2025/12/24</a:t>
            </a:fld>
            <a:endParaRPr lang="en-US" altLang="zh-CN"/>
          </a:p>
        </p:txBody>
      </p:sp>
      <p:sp>
        <p:nvSpPr>
          <p:cNvPr id="4" name="页脚占位符 3">
            <a:extLst>
              <a:ext uri="{FF2B5EF4-FFF2-40B4-BE49-F238E27FC236}">
                <a16:creationId xmlns:a16="http://schemas.microsoft.com/office/drawing/2014/main" id="{E56DFE44-B2DC-F2E3-D0BF-3571C29EA53A}"/>
              </a:ext>
            </a:extLst>
          </p:cNvPr>
          <p:cNvSpPr>
            <a:spLocks noGrp="1"/>
          </p:cNvSpPr>
          <p:nvPr>
            <p:ph type="ftr" sz="quarter" idx="11"/>
          </p:nvPr>
        </p:nvSpPr>
        <p:spPr/>
        <p:txBody>
          <a:bodyPr/>
          <a:lstStyle/>
          <a:p>
            <a:r>
              <a:rPr lang="en-US" altLang="zh-CN"/>
              <a:t>《数据库系统概论》- 第11章</a:t>
            </a:r>
          </a:p>
        </p:txBody>
      </p:sp>
      <p:sp>
        <p:nvSpPr>
          <p:cNvPr id="5" name="灯片编号占位符 4">
            <a:extLst>
              <a:ext uri="{FF2B5EF4-FFF2-40B4-BE49-F238E27FC236}">
                <a16:creationId xmlns:a16="http://schemas.microsoft.com/office/drawing/2014/main" id="{FA9F59DD-494B-83A4-4555-B8BFA7539C86}"/>
              </a:ext>
            </a:extLst>
          </p:cNvPr>
          <p:cNvSpPr>
            <a:spLocks noGrp="1"/>
          </p:cNvSpPr>
          <p:nvPr>
            <p:ph type="sldNum" sz="quarter" idx="12"/>
          </p:nvPr>
        </p:nvSpPr>
        <p:spPr/>
        <p:txBody>
          <a:bodyPr/>
          <a:lstStyle/>
          <a:p>
            <a:fld id="{AB1F7240-85F2-492B-84D8-762EF0110923}" type="slidenum">
              <a:rPr lang="en-US" altLang="zh-CN" smtClean="0"/>
              <a:pPr/>
              <a:t>42</a:t>
            </a:fld>
            <a:r>
              <a:rPr lang="en-US" altLang="zh-CN"/>
              <a:t>/67</a:t>
            </a:r>
            <a:endParaRPr lang="zh-CN" altLang="en-US" dirty="0"/>
          </a:p>
        </p:txBody>
      </p:sp>
    </p:spTree>
    <p:extLst>
      <p:ext uri="{BB962C8B-B14F-4D97-AF65-F5344CB8AC3E}">
        <p14:creationId xmlns:p14="http://schemas.microsoft.com/office/powerpoint/2010/main" val="391782628"/>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zh-CN" altLang="en-US"/>
              <a:t>恢复过程</a:t>
            </a:r>
            <a:endParaRPr lang="en-US" altLang="zh-CN"/>
          </a:p>
        </p:txBody>
      </p:sp>
      <p:sp>
        <p:nvSpPr>
          <p:cNvPr id="27652" name="Rectangle 3"/>
          <p:cNvSpPr>
            <a:spLocks noGrp="1" noChangeArrowheads="1"/>
          </p:cNvSpPr>
          <p:nvPr>
            <p:ph type="body" idx="4294967295"/>
          </p:nvPr>
        </p:nvSpPr>
        <p:spPr>
          <a:xfrm>
            <a:off x="592138" y="1412776"/>
            <a:ext cx="8156326" cy="4896544"/>
          </a:xfrm>
        </p:spPr>
        <p:txBody>
          <a:bodyPr/>
          <a:lstStyle/>
          <a:p>
            <a:pPr eaLnBrk="1" hangingPunct="1"/>
            <a:r>
              <a:rPr lang="zh-CN" altLang="en-US" sz="2400" dirty="0"/>
              <a:t>恢复过程有两种操作：</a:t>
            </a:r>
            <a:endParaRPr lang="en-US" altLang="zh-CN" sz="2400" dirty="0"/>
          </a:p>
          <a:p>
            <a:pPr lvl="1" eaLnBrk="1" hangingPunct="1"/>
            <a:r>
              <a:rPr lang="en-US" altLang="zh-CN" sz="2000" b="0" dirty="0"/>
              <a:t>undo</a:t>
            </a:r>
            <a:r>
              <a:rPr lang="en-US" altLang="zh-CN" sz="2000" dirty="0"/>
              <a:t>(</a:t>
            </a:r>
            <a:r>
              <a:rPr lang="en-US" altLang="zh-CN" sz="2000" dirty="0" err="1"/>
              <a:t>T</a:t>
            </a:r>
            <a:r>
              <a:rPr lang="en-US" altLang="zh-CN" sz="2000" baseline="-25000" dirty="0" err="1"/>
              <a:t>i</a:t>
            </a:r>
            <a:r>
              <a:rPr lang="en-US" altLang="zh-CN" sz="2000" dirty="0"/>
              <a:t>)</a:t>
            </a:r>
            <a:r>
              <a:rPr lang="zh-CN" altLang="en-US" sz="2000" dirty="0"/>
              <a:t>：</a:t>
            </a:r>
            <a:r>
              <a:rPr lang="zh-CN" altLang="en-US" sz="2000" b="1" dirty="0">
                <a:solidFill>
                  <a:srgbClr val="0000FF"/>
                </a:solidFill>
              </a:rPr>
              <a:t>复原</a:t>
            </a:r>
            <a:r>
              <a:rPr lang="zh-CN" altLang="en-US" sz="2000" dirty="0"/>
              <a:t>所有被</a:t>
            </a:r>
            <a:r>
              <a:rPr lang="en-US" altLang="zh-CN" sz="2000" dirty="0" err="1"/>
              <a:t>T</a:t>
            </a:r>
            <a:r>
              <a:rPr lang="en-US" altLang="zh-CN" sz="2000" baseline="-25000" dirty="0" err="1"/>
              <a:t>i</a:t>
            </a:r>
            <a:r>
              <a:rPr lang="en-US" altLang="zh-CN" sz="2000" baseline="-25000" dirty="0"/>
              <a:t> </a:t>
            </a:r>
            <a:r>
              <a:rPr lang="zh-CN" altLang="en-US" sz="2000" dirty="0"/>
              <a:t>更新过的</a:t>
            </a:r>
            <a:r>
              <a:rPr lang="zh-CN" altLang="en-US" sz="2000" b="1" dirty="0">
                <a:solidFill>
                  <a:srgbClr val="0000FF"/>
                </a:solidFill>
              </a:rPr>
              <a:t>数据项</a:t>
            </a:r>
            <a:r>
              <a:rPr lang="zh-CN" altLang="en-US" sz="2000" dirty="0"/>
              <a:t>的</a:t>
            </a:r>
            <a:r>
              <a:rPr lang="zh-CN" altLang="en-US" sz="2000" b="1" dirty="0">
                <a:solidFill>
                  <a:srgbClr val="0000FF"/>
                </a:solidFill>
              </a:rPr>
              <a:t>旧值</a:t>
            </a:r>
            <a:r>
              <a:rPr lang="zh-CN" altLang="en-US" sz="2000" dirty="0"/>
              <a:t>，从</a:t>
            </a:r>
            <a:r>
              <a:rPr lang="en-US" altLang="zh-CN" sz="2000" dirty="0" err="1"/>
              <a:t>T</a:t>
            </a:r>
            <a:r>
              <a:rPr lang="en-US" altLang="zh-CN" sz="2000" baseline="-25000" dirty="0" err="1"/>
              <a:t>i</a:t>
            </a:r>
            <a:r>
              <a:rPr lang="en-US" altLang="zh-CN" sz="2000" baseline="-25000" dirty="0"/>
              <a:t> </a:t>
            </a:r>
            <a:r>
              <a:rPr lang="zh-CN" altLang="en-US" sz="2000" dirty="0"/>
              <a:t>的</a:t>
            </a:r>
            <a:r>
              <a:rPr lang="zh-CN" altLang="en-US" sz="2000" b="1" dirty="0">
                <a:solidFill>
                  <a:srgbClr val="0000FF"/>
                </a:solidFill>
              </a:rPr>
              <a:t>最后一条日志记录</a:t>
            </a:r>
            <a:r>
              <a:rPr lang="zh-CN" altLang="en-US" sz="2000" b="1" dirty="0">
                <a:solidFill>
                  <a:srgbClr val="FF0000"/>
                </a:solidFill>
              </a:rPr>
              <a:t>向前</a:t>
            </a:r>
            <a:r>
              <a:rPr lang="zh-CN" altLang="en-US" sz="2000" b="1" dirty="0"/>
              <a:t>进行</a:t>
            </a:r>
            <a:r>
              <a:rPr lang="zh-CN" altLang="en-US" sz="2000" dirty="0"/>
              <a:t>；（逆向）</a:t>
            </a:r>
            <a:endParaRPr lang="en-US" altLang="zh-CN" sz="2000" dirty="0"/>
          </a:p>
          <a:p>
            <a:pPr lvl="1" eaLnBrk="1" hangingPunct="1"/>
            <a:r>
              <a:rPr lang="en-US" altLang="zh-CN" sz="2000" b="0" dirty="0"/>
              <a:t>redo</a:t>
            </a:r>
            <a:r>
              <a:rPr lang="en-US" altLang="zh-CN" sz="2000" dirty="0"/>
              <a:t>(</a:t>
            </a:r>
            <a:r>
              <a:rPr lang="en-US" altLang="zh-CN" sz="2000" dirty="0" err="1"/>
              <a:t>T</a:t>
            </a:r>
            <a:r>
              <a:rPr lang="en-US" altLang="zh-CN" sz="2000" baseline="-25000" dirty="0" err="1"/>
              <a:t>i</a:t>
            </a:r>
            <a:r>
              <a:rPr lang="en-US" altLang="zh-CN" sz="2000" dirty="0"/>
              <a:t>)</a:t>
            </a:r>
            <a:r>
              <a:rPr lang="zh-CN" altLang="en-US" sz="2000" dirty="0"/>
              <a:t>：将所有被</a:t>
            </a:r>
            <a:r>
              <a:rPr lang="en-US" altLang="zh-CN" sz="2000" dirty="0" err="1"/>
              <a:t>T</a:t>
            </a:r>
            <a:r>
              <a:rPr lang="en-US" altLang="zh-CN" sz="2000" baseline="-25000" dirty="0" err="1"/>
              <a:t>i</a:t>
            </a:r>
            <a:r>
              <a:rPr lang="en-US" altLang="zh-CN" sz="2000" baseline="-25000" dirty="0"/>
              <a:t> </a:t>
            </a:r>
            <a:r>
              <a:rPr lang="zh-CN" altLang="en-US" sz="2000" dirty="0"/>
              <a:t>更新过的</a:t>
            </a:r>
            <a:r>
              <a:rPr lang="zh-CN" altLang="en-US" sz="2000" b="1" dirty="0">
                <a:solidFill>
                  <a:srgbClr val="0000FF"/>
                </a:solidFill>
              </a:rPr>
              <a:t>数据项</a:t>
            </a:r>
            <a:r>
              <a:rPr lang="zh-CN" altLang="en-US" sz="2000" dirty="0"/>
              <a:t>的值</a:t>
            </a:r>
            <a:r>
              <a:rPr lang="zh-CN" altLang="en-US" sz="2000" b="1" dirty="0">
                <a:solidFill>
                  <a:srgbClr val="0000FF"/>
                </a:solidFill>
              </a:rPr>
              <a:t>置为新值</a:t>
            </a:r>
            <a:r>
              <a:rPr lang="zh-CN" altLang="en-US" sz="2000" dirty="0"/>
              <a:t>，从</a:t>
            </a:r>
            <a:r>
              <a:rPr lang="en-US" altLang="zh-CN" sz="2000" dirty="0" err="1"/>
              <a:t>T</a:t>
            </a:r>
            <a:r>
              <a:rPr lang="en-US" altLang="zh-CN" sz="2000" baseline="-25000" dirty="0" err="1"/>
              <a:t>i</a:t>
            </a:r>
            <a:r>
              <a:rPr lang="en-US" altLang="zh-CN" sz="2000" baseline="-25000" dirty="0"/>
              <a:t> </a:t>
            </a:r>
            <a:r>
              <a:rPr lang="zh-CN" altLang="en-US" sz="2000" dirty="0"/>
              <a:t>的</a:t>
            </a:r>
            <a:r>
              <a:rPr lang="zh-CN" altLang="en-US" sz="2000" b="1" dirty="0">
                <a:solidFill>
                  <a:srgbClr val="0000FF"/>
                </a:solidFill>
              </a:rPr>
              <a:t>第一条日志记录</a:t>
            </a:r>
            <a:r>
              <a:rPr lang="zh-CN" altLang="en-US" sz="2000" b="1" dirty="0">
                <a:solidFill>
                  <a:srgbClr val="FF0000"/>
                </a:solidFill>
              </a:rPr>
              <a:t>向后</a:t>
            </a:r>
            <a:r>
              <a:rPr lang="zh-CN" altLang="en-US" sz="2000" b="1" dirty="0"/>
              <a:t>进行</a:t>
            </a:r>
            <a:r>
              <a:rPr lang="zh-CN" altLang="en-US" sz="2000" dirty="0"/>
              <a:t>；（正向，重新执行一道）</a:t>
            </a:r>
            <a:endParaRPr lang="en-US" altLang="zh-CN" sz="2000" dirty="0"/>
          </a:p>
          <a:p>
            <a:pPr eaLnBrk="1" hangingPunct="1"/>
            <a:r>
              <a:rPr lang="zh-CN" altLang="en-US" sz="2400" dirty="0"/>
              <a:t>两种操作都必须是幂等的</a:t>
            </a:r>
            <a:endParaRPr lang="en-US" altLang="zh-CN" sz="2400" dirty="0"/>
          </a:p>
          <a:p>
            <a:pPr lvl="1" eaLnBrk="1" hangingPunct="1"/>
            <a:r>
              <a:rPr lang="zh-CN" altLang="en-US" sz="2000" dirty="0">
                <a:solidFill>
                  <a:srgbClr val="0000FF"/>
                </a:solidFill>
              </a:rPr>
              <a:t>即使该操作被执行多次</a:t>
            </a:r>
            <a:r>
              <a:rPr lang="zh-CN" altLang="en-US" sz="2000" dirty="0"/>
              <a:t>，</a:t>
            </a:r>
            <a:r>
              <a:rPr lang="zh-CN" altLang="en-US" sz="2000" b="1" u="sng" dirty="0">
                <a:solidFill>
                  <a:srgbClr val="0000FF"/>
                </a:solidFill>
              </a:rPr>
              <a:t>效果与只执行一次是一样</a:t>
            </a:r>
            <a:r>
              <a:rPr lang="zh-CN" altLang="en-US" sz="2000" dirty="0"/>
              <a:t>的。</a:t>
            </a:r>
            <a:endParaRPr lang="en-US" altLang="zh-CN" sz="2000" dirty="0"/>
          </a:p>
          <a:p>
            <a:pPr eaLnBrk="1" hangingPunct="1"/>
            <a:r>
              <a:rPr lang="zh-CN" altLang="en-US" sz="2400" dirty="0"/>
              <a:t>故障后恢复时，需要</a:t>
            </a:r>
            <a:r>
              <a:rPr lang="zh-CN" altLang="en-US" sz="2400" b="1" dirty="0"/>
              <a:t>查阅搜索日志</a:t>
            </a:r>
            <a:r>
              <a:rPr lang="zh-CN" altLang="en-US" sz="2400" dirty="0"/>
              <a:t>，确定</a:t>
            </a:r>
            <a:r>
              <a:rPr lang="zh-CN" altLang="en-US" sz="2400" b="1" dirty="0">
                <a:solidFill>
                  <a:srgbClr val="0000FF"/>
                </a:solidFill>
              </a:rPr>
              <a:t>哪些事务</a:t>
            </a:r>
            <a:r>
              <a:rPr lang="zh-CN" altLang="en-US" sz="2400" b="1" dirty="0"/>
              <a:t>需要重做</a:t>
            </a:r>
            <a:r>
              <a:rPr lang="en-US" altLang="zh-CN" sz="2400" b="1" dirty="0"/>
              <a:t>(</a:t>
            </a:r>
            <a:r>
              <a:rPr lang="en-US" altLang="zh-CN" sz="2400" b="1" dirty="0">
                <a:solidFill>
                  <a:srgbClr val="0000FF"/>
                </a:solidFill>
              </a:rPr>
              <a:t>Redo</a:t>
            </a:r>
            <a:r>
              <a:rPr lang="en-US" altLang="zh-CN" sz="2400" b="1" dirty="0"/>
              <a:t>) </a:t>
            </a:r>
            <a:r>
              <a:rPr lang="zh-CN" altLang="en-US" sz="2400" dirty="0"/>
              <a:t>，</a:t>
            </a:r>
            <a:r>
              <a:rPr lang="zh-CN" altLang="en-US" sz="2400" b="1" dirty="0"/>
              <a:t>哪些事务需要取消</a:t>
            </a:r>
            <a:r>
              <a:rPr lang="en-US" altLang="zh-CN" sz="2400" b="1" dirty="0"/>
              <a:t>(</a:t>
            </a:r>
            <a:r>
              <a:rPr lang="en-US" altLang="zh-CN" sz="2400" b="1" dirty="0">
                <a:solidFill>
                  <a:srgbClr val="0000FF"/>
                </a:solidFill>
              </a:rPr>
              <a:t>Undo</a:t>
            </a:r>
            <a:r>
              <a:rPr lang="en-US" altLang="zh-CN" sz="2400" b="1" dirty="0"/>
              <a:t>)</a:t>
            </a:r>
          </a:p>
          <a:p>
            <a:pPr lvl="1" eaLnBrk="1" hangingPunct="1"/>
            <a:r>
              <a:rPr lang="zh-CN" altLang="en-US" sz="2000" dirty="0"/>
              <a:t>如果日志中包含</a:t>
            </a:r>
            <a:r>
              <a:rPr lang="en-US" altLang="zh-CN" sz="2000" i="1" dirty="0"/>
              <a:t>&lt;</a:t>
            </a:r>
            <a:r>
              <a:rPr lang="en-US" altLang="zh-CN" sz="2000" i="1" dirty="0" err="1"/>
              <a:t>T</a:t>
            </a:r>
            <a:r>
              <a:rPr lang="en-US" altLang="zh-CN" sz="2000" i="1" baseline="-25000" dirty="0" err="1"/>
              <a:t>i</a:t>
            </a:r>
            <a:r>
              <a:rPr lang="en-US" altLang="zh-CN" sz="2000" dirty="0"/>
              <a:t>  </a:t>
            </a:r>
            <a:r>
              <a:rPr lang="en-US" altLang="zh-CN" sz="2000" b="0" dirty="0"/>
              <a:t>start</a:t>
            </a:r>
            <a:r>
              <a:rPr lang="en-US" altLang="zh-CN" sz="2000" i="1" dirty="0"/>
              <a:t>&gt; </a:t>
            </a:r>
            <a:r>
              <a:rPr lang="zh-CN" altLang="en-US" sz="2000" dirty="0"/>
              <a:t>但</a:t>
            </a:r>
            <a:r>
              <a:rPr lang="zh-CN" altLang="en-US" sz="2000" b="1" dirty="0"/>
              <a:t>不包含</a:t>
            </a:r>
            <a:r>
              <a:rPr lang="en-US" altLang="zh-CN" sz="2000" i="1" dirty="0"/>
              <a:t>&lt;</a:t>
            </a:r>
            <a:r>
              <a:rPr lang="en-US" altLang="zh-CN" sz="2000" i="1" dirty="0" err="1"/>
              <a:t>T</a:t>
            </a:r>
            <a:r>
              <a:rPr lang="en-US" altLang="zh-CN" sz="2000" i="1" baseline="-25000" dirty="0" err="1"/>
              <a:t>i</a:t>
            </a:r>
            <a:r>
              <a:rPr lang="en-US" altLang="zh-CN" sz="2000" i="1" dirty="0"/>
              <a:t>  </a:t>
            </a:r>
            <a:r>
              <a:rPr lang="en-US" altLang="zh-CN" sz="2000" b="0" dirty="0"/>
              <a:t>commit</a:t>
            </a:r>
            <a:r>
              <a:rPr lang="en-US" altLang="zh-CN" sz="2000" i="1" dirty="0"/>
              <a:t>&gt;</a:t>
            </a:r>
            <a:r>
              <a:rPr lang="zh-CN" altLang="en-US" sz="2000" i="1" dirty="0"/>
              <a:t>，</a:t>
            </a:r>
            <a:r>
              <a:rPr lang="zh-CN" altLang="en-US" sz="2000" dirty="0"/>
              <a:t>则事务</a:t>
            </a:r>
            <a:r>
              <a:rPr lang="en-US" altLang="zh-CN" sz="2000" i="1" dirty="0" err="1"/>
              <a:t>T</a:t>
            </a:r>
            <a:r>
              <a:rPr lang="en-US" altLang="zh-CN" sz="2000" i="1" baseline="-25000" dirty="0" err="1"/>
              <a:t>i</a:t>
            </a:r>
            <a:r>
              <a:rPr lang="en-US" altLang="zh-CN" sz="2000" i="1" dirty="0"/>
              <a:t> </a:t>
            </a:r>
            <a:r>
              <a:rPr lang="zh-CN" altLang="en-US" sz="2000" dirty="0"/>
              <a:t>需要</a:t>
            </a:r>
            <a:r>
              <a:rPr lang="zh-CN" altLang="en-US" sz="2000" dirty="0">
                <a:solidFill>
                  <a:srgbClr val="FF0000"/>
                </a:solidFill>
              </a:rPr>
              <a:t>取消</a:t>
            </a:r>
            <a:r>
              <a:rPr lang="en-US" altLang="zh-CN" sz="2000" dirty="0">
                <a:solidFill>
                  <a:srgbClr val="FF0000"/>
                </a:solidFill>
              </a:rPr>
              <a:t>(Undo)</a:t>
            </a:r>
            <a:r>
              <a:rPr lang="zh-CN" altLang="en-US" sz="2000" dirty="0"/>
              <a:t>；</a:t>
            </a:r>
            <a:endParaRPr lang="en-US" altLang="zh-CN" sz="2000" dirty="0"/>
          </a:p>
          <a:p>
            <a:pPr lvl="1" eaLnBrk="1" hangingPunct="1"/>
            <a:r>
              <a:rPr lang="zh-CN" altLang="en-US" sz="2000" dirty="0"/>
              <a:t>如果日志中包含</a:t>
            </a:r>
            <a:r>
              <a:rPr lang="en-US" altLang="zh-CN" sz="2000" i="1" dirty="0"/>
              <a:t>&lt;</a:t>
            </a:r>
            <a:r>
              <a:rPr lang="en-US" altLang="zh-CN" sz="2000" i="1" dirty="0" err="1"/>
              <a:t>T</a:t>
            </a:r>
            <a:r>
              <a:rPr lang="en-US" altLang="zh-CN" sz="2000" i="1" baseline="-25000" dirty="0" err="1"/>
              <a:t>i</a:t>
            </a:r>
            <a:r>
              <a:rPr lang="en-US" altLang="zh-CN" sz="2000" dirty="0"/>
              <a:t>  </a:t>
            </a:r>
            <a:r>
              <a:rPr lang="en-US" altLang="zh-CN" sz="2000" b="0" dirty="0"/>
              <a:t>start</a:t>
            </a:r>
            <a:r>
              <a:rPr lang="en-US" altLang="zh-CN" sz="2000" i="1" dirty="0"/>
              <a:t>&gt;</a:t>
            </a:r>
            <a:r>
              <a:rPr lang="zh-CN" altLang="en-US" sz="2000" dirty="0"/>
              <a:t>和</a:t>
            </a:r>
            <a:r>
              <a:rPr lang="en-US" altLang="zh-CN" sz="2000" i="1" dirty="0"/>
              <a:t>&lt;</a:t>
            </a:r>
            <a:r>
              <a:rPr lang="en-US" altLang="zh-CN" sz="2000" i="1" dirty="0" err="1"/>
              <a:t>T</a:t>
            </a:r>
            <a:r>
              <a:rPr lang="en-US" altLang="zh-CN" sz="2000" i="1" baseline="-25000" dirty="0" err="1"/>
              <a:t>i</a:t>
            </a:r>
            <a:r>
              <a:rPr lang="en-US" altLang="zh-CN" sz="2000" i="1" dirty="0"/>
              <a:t>  </a:t>
            </a:r>
            <a:r>
              <a:rPr lang="en-US" altLang="zh-CN" sz="2000" b="0" dirty="0"/>
              <a:t>commit</a:t>
            </a:r>
            <a:r>
              <a:rPr lang="en-US" altLang="zh-CN" sz="2000" i="1" dirty="0"/>
              <a:t>&gt;/&lt;</a:t>
            </a:r>
            <a:r>
              <a:rPr lang="en-US" altLang="zh-CN" sz="2000" i="1" dirty="0" err="1"/>
              <a:t>T</a:t>
            </a:r>
            <a:r>
              <a:rPr lang="en-US" altLang="zh-CN" sz="2000" i="1" baseline="-25000" dirty="0" err="1"/>
              <a:t>i</a:t>
            </a:r>
            <a:r>
              <a:rPr lang="en-US" altLang="zh-CN" sz="2000" i="1" dirty="0"/>
              <a:t>  </a:t>
            </a:r>
            <a:r>
              <a:rPr lang="en-US" altLang="zh-CN" sz="2000" dirty="0"/>
              <a:t>abort</a:t>
            </a:r>
            <a:r>
              <a:rPr lang="en-US" altLang="zh-CN" sz="2000" i="1" dirty="0"/>
              <a:t>&gt; </a:t>
            </a:r>
            <a:r>
              <a:rPr lang="zh-CN" altLang="en-US" sz="2000" i="1" dirty="0"/>
              <a:t>，</a:t>
            </a:r>
            <a:r>
              <a:rPr lang="zh-CN" altLang="en-US" sz="2000" dirty="0"/>
              <a:t>则事务</a:t>
            </a:r>
            <a:r>
              <a:rPr lang="en-US" altLang="zh-CN" sz="2000" i="1" dirty="0" err="1"/>
              <a:t>T</a:t>
            </a:r>
            <a:r>
              <a:rPr lang="en-US" altLang="zh-CN" sz="2000" i="1" baseline="-25000" dirty="0" err="1"/>
              <a:t>i</a:t>
            </a:r>
            <a:r>
              <a:rPr lang="en-US" altLang="zh-CN" sz="2000" i="1" dirty="0"/>
              <a:t> </a:t>
            </a:r>
            <a:r>
              <a:rPr lang="zh-CN" altLang="en-US" sz="2000" dirty="0"/>
              <a:t>需要</a:t>
            </a:r>
            <a:r>
              <a:rPr lang="zh-CN" altLang="en-US" sz="2000" b="1" dirty="0">
                <a:solidFill>
                  <a:srgbClr val="0000FF"/>
                </a:solidFill>
              </a:rPr>
              <a:t>重做</a:t>
            </a:r>
            <a:r>
              <a:rPr lang="en-US" altLang="zh-CN" sz="2000" b="1" dirty="0">
                <a:solidFill>
                  <a:srgbClr val="0000FF"/>
                </a:solidFill>
              </a:rPr>
              <a:t>(Redo)</a:t>
            </a:r>
            <a:r>
              <a:rPr lang="zh-CN" altLang="en-US" sz="2000" b="1" dirty="0">
                <a:solidFill>
                  <a:srgbClr val="0000FF"/>
                </a:solidFill>
              </a:rPr>
              <a:t>。</a:t>
            </a:r>
            <a:endParaRPr lang="en-US" altLang="zh-CN" sz="2000" dirty="0"/>
          </a:p>
        </p:txBody>
      </p:sp>
      <p:sp>
        <p:nvSpPr>
          <p:cNvPr id="2" name="日期占位符 1">
            <a:extLst>
              <a:ext uri="{FF2B5EF4-FFF2-40B4-BE49-F238E27FC236}">
                <a16:creationId xmlns:a16="http://schemas.microsoft.com/office/drawing/2014/main" id="{A41B00C2-A28E-9F23-60DD-F38A4EB6A5EB}"/>
              </a:ext>
            </a:extLst>
          </p:cNvPr>
          <p:cNvSpPr>
            <a:spLocks noGrp="1"/>
          </p:cNvSpPr>
          <p:nvPr>
            <p:ph type="dt" sz="half" idx="10"/>
          </p:nvPr>
        </p:nvSpPr>
        <p:spPr/>
        <p:txBody>
          <a:bodyPr/>
          <a:lstStyle/>
          <a:p>
            <a:fld id="{249C16C9-6D9F-4767-9B6C-06ACE7BDCB60}"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F67E79A2-DC6B-3B13-DE53-BFA52EBA6152}"/>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2AEC96CC-D6DC-D5BB-F811-9A89A8E3C075}"/>
              </a:ext>
            </a:extLst>
          </p:cNvPr>
          <p:cNvSpPr>
            <a:spLocks noGrp="1"/>
          </p:cNvSpPr>
          <p:nvPr>
            <p:ph type="sldNum" sz="quarter" idx="12"/>
          </p:nvPr>
        </p:nvSpPr>
        <p:spPr/>
        <p:txBody>
          <a:bodyPr/>
          <a:lstStyle/>
          <a:p>
            <a:fld id="{AB1F7240-85F2-492B-84D8-762EF0110923}" type="slidenum">
              <a:rPr lang="en-US" altLang="zh-CN" smtClean="0"/>
              <a:pPr/>
              <a:t>43</a:t>
            </a:fld>
            <a:r>
              <a:rPr lang="en-US" altLang="zh-CN"/>
              <a:t>/67</a:t>
            </a:r>
            <a:endParaRPr lang="zh-CN" altLang="en-US" dirty="0"/>
          </a:p>
        </p:txBody>
      </p:sp>
    </p:spTree>
    <p:extLst>
      <p:ext uri="{BB962C8B-B14F-4D97-AF65-F5344CB8AC3E}">
        <p14:creationId xmlns:p14="http://schemas.microsoft.com/office/powerpoint/2010/main" val="344833524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552450" y="758825"/>
            <a:ext cx="8210550" cy="500063"/>
          </a:xfrm>
        </p:spPr>
        <p:txBody>
          <a:bodyPr/>
          <a:lstStyle/>
          <a:p>
            <a:pPr eaLnBrk="1" hangingPunct="1"/>
            <a:r>
              <a:rPr lang="zh-CN" altLang="en-US" sz="3400"/>
              <a:t>立即更新数据库的示例</a:t>
            </a:r>
            <a:endParaRPr lang="en-US" altLang="zh-CN"/>
          </a:p>
        </p:txBody>
      </p:sp>
      <p:sp>
        <p:nvSpPr>
          <p:cNvPr id="28676" name="Rectangle 3"/>
          <p:cNvSpPr>
            <a:spLocks noGrp="1" noChangeArrowheads="1"/>
          </p:cNvSpPr>
          <p:nvPr>
            <p:ph type="body" idx="4294967295"/>
          </p:nvPr>
        </p:nvSpPr>
        <p:spPr>
          <a:xfrm>
            <a:off x="504825" y="1235076"/>
            <a:ext cx="8305800" cy="5465762"/>
          </a:xfrm>
        </p:spPr>
        <p:txBody>
          <a:bodyPr/>
          <a:lstStyle/>
          <a:p>
            <a:pPr eaLnBrk="1" hangingPunct="1">
              <a:lnSpc>
                <a:spcPct val="110000"/>
              </a:lnSpc>
              <a:buFont typeface="Wingdings" pitchFamily="2" charset="2"/>
              <a:buNone/>
            </a:pPr>
            <a:r>
              <a:rPr lang="zh-CN" altLang="en-US" sz="2500" dirty="0"/>
              <a:t>  </a:t>
            </a:r>
            <a:endParaRPr lang="en-US" altLang="zh-CN" sz="2100" dirty="0"/>
          </a:p>
          <a:p>
            <a:pPr eaLnBrk="1" hangingPunct="1">
              <a:lnSpc>
                <a:spcPct val="70000"/>
              </a:lnSpc>
              <a:buFont typeface="Wingdings" pitchFamily="2" charset="2"/>
              <a:buNone/>
            </a:pPr>
            <a:endParaRPr lang="en-US" altLang="zh-CN" sz="2100" dirty="0"/>
          </a:p>
          <a:p>
            <a:pPr eaLnBrk="1" hangingPunct="1">
              <a:lnSpc>
                <a:spcPct val="70000"/>
              </a:lnSpc>
              <a:buFont typeface="Wingdings" pitchFamily="2" charset="2"/>
              <a:buNone/>
            </a:pPr>
            <a:endParaRPr lang="en-US" altLang="zh-CN" sz="2100" dirty="0"/>
          </a:p>
          <a:p>
            <a:pPr eaLnBrk="1" hangingPunct="1">
              <a:lnSpc>
                <a:spcPct val="70000"/>
              </a:lnSpc>
              <a:buFont typeface="Wingdings" pitchFamily="2" charset="2"/>
              <a:buNone/>
            </a:pPr>
            <a:endParaRPr lang="en-US" altLang="zh-CN" sz="2100" dirty="0"/>
          </a:p>
          <a:p>
            <a:pPr eaLnBrk="1" hangingPunct="1">
              <a:lnSpc>
                <a:spcPct val="70000"/>
              </a:lnSpc>
              <a:buFont typeface="Wingdings" pitchFamily="2" charset="2"/>
              <a:buNone/>
            </a:pPr>
            <a:endParaRPr lang="en-US" altLang="zh-CN" sz="2100" dirty="0"/>
          </a:p>
          <a:p>
            <a:pPr eaLnBrk="1" hangingPunct="1">
              <a:lnSpc>
                <a:spcPct val="70000"/>
              </a:lnSpc>
              <a:buFont typeface="Wingdings" pitchFamily="2" charset="2"/>
              <a:buNone/>
            </a:pPr>
            <a:endParaRPr lang="en-US" altLang="zh-CN" sz="2100" dirty="0"/>
          </a:p>
          <a:p>
            <a:pPr eaLnBrk="1" hangingPunct="1">
              <a:lnSpc>
                <a:spcPct val="70000"/>
              </a:lnSpc>
              <a:buFont typeface="Wingdings" pitchFamily="2" charset="2"/>
              <a:buNone/>
            </a:pPr>
            <a:endParaRPr lang="en-US" altLang="zh-CN" sz="2100" dirty="0"/>
          </a:p>
          <a:p>
            <a:pPr eaLnBrk="1" hangingPunct="1">
              <a:lnSpc>
                <a:spcPct val="30000"/>
              </a:lnSpc>
              <a:buFont typeface="Wingdings" pitchFamily="2" charset="2"/>
              <a:buNone/>
            </a:pPr>
            <a:endParaRPr lang="en-US" altLang="zh-CN" sz="2100" dirty="0"/>
          </a:p>
          <a:p>
            <a:pPr eaLnBrk="1" hangingPunct="1">
              <a:lnSpc>
                <a:spcPct val="70000"/>
              </a:lnSpc>
              <a:buFont typeface="Wingdings" pitchFamily="2" charset="2"/>
              <a:buNone/>
            </a:pPr>
            <a:endParaRPr lang="en-US" altLang="zh-CN" sz="2100" dirty="0"/>
          </a:p>
          <a:p>
            <a:pPr eaLnBrk="1" hangingPunct="1">
              <a:lnSpc>
                <a:spcPct val="70000"/>
              </a:lnSpc>
              <a:buFont typeface="Wingdings" pitchFamily="2" charset="2"/>
              <a:buNone/>
            </a:pPr>
            <a:endParaRPr lang="zh-CN" altLang="en-US" sz="2100" dirty="0"/>
          </a:p>
          <a:p>
            <a:pPr eaLnBrk="1" hangingPunct="1">
              <a:buFont typeface="Wingdings" pitchFamily="2" charset="2"/>
              <a:buNone/>
            </a:pPr>
            <a:r>
              <a:rPr lang="zh-CN" altLang="en-US" sz="2100" dirty="0"/>
              <a:t>故障发生时，日志在上图每种情形下的恢复动作为：</a:t>
            </a:r>
            <a:endParaRPr lang="en-US" altLang="zh-CN" sz="2100" dirty="0"/>
          </a:p>
          <a:p>
            <a:pPr eaLnBrk="1" hangingPunct="1">
              <a:buFont typeface="Wingdings" pitchFamily="2" charset="2"/>
              <a:buNone/>
            </a:pPr>
            <a:r>
              <a:rPr lang="en-US" altLang="zh-CN" sz="2100" dirty="0"/>
              <a:t>(a)  </a:t>
            </a:r>
            <a:r>
              <a:rPr lang="en-US" altLang="zh-CN" sz="2100" dirty="0">
                <a:solidFill>
                  <a:srgbClr val="0000FF"/>
                </a:solidFill>
              </a:rPr>
              <a:t>undo(</a:t>
            </a:r>
            <a:r>
              <a:rPr lang="en-US" altLang="zh-CN" sz="2100" i="1" dirty="0">
                <a:solidFill>
                  <a:srgbClr val="0000FF"/>
                </a:solidFill>
              </a:rPr>
              <a:t>T</a:t>
            </a:r>
            <a:r>
              <a:rPr lang="en-US" altLang="zh-CN" sz="2100" baseline="-25000" dirty="0">
                <a:solidFill>
                  <a:srgbClr val="0000FF"/>
                </a:solidFill>
              </a:rPr>
              <a:t>0</a:t>
            </a:r>
            <a:r>
              <a:rPr lang="en-US" altLang="zh-CN" sz="2100" dirty="0">
                <a:solidFill>
                  <a:srgbClr val="0000FF"/>
                </a:solidFill>
              </a:rPr>
              <a:t>)</a:t>
            </a:r>
            <a:r>
              <a:rPr lang="zh-CN" altLang="en-US" sz="2100" dirty="0"/>
              <a:t>：</a:t>
            </a:r>
            <a:r>
              <a:rPr lang="en-US" altLang="zh-CN" sz="2100" dirty="0"/>
              <a:t>B </a:t>
            </a:r>
            <a:r>
              <a:rPr lang="zh-CN" altLang="en-US" sz="2100" dirty="0"/>
              <a:t>恢复到</a:t>
            </a:r>
            <a:r>
              <a:rPr lang="en-US" altLang="zh-CN" sz="2100" dirty="0"/>
              <a:t>2000</a:t>
            </a:r>
            <a:r>
              <a:rPr lang="zh-CN" altLang="en-US" sz="2100" dirty="0"/>
              <a:t>，</a:t>
            </a:r>
            <a:r>
              <a:rPr lang="en-US" altLang="zh-CN" sz="2100" dirty="0"/>
              <a:t>A </a:t>
            </a:r>
            <a:r>
              <a:rPr lang="zh-CN" altLang="en-US" sz="2100" dirty="0"/>
              <a:t>恢复到</a:t>
            </a:r>
            <a:r>
              <a:rPr lang="en-US" altLang="zh-CN" sz="2100" dirty="0"/>
              <a:t>1000</a:t>
            </a:r>
          </a:p>
          <a:p>
            <a:pPr eaLnBrk="1" hangingPunct="1">
              <a:buFont typeface="Wingdings" pitchFamily="2" charset="2"/>
              <a:buNone/>
            </a:pPr>
            <a:r>
              <a:rPr lang="en-US" altLang="zh-CN" sz="2100" dirty="0"/>
              <a:t>(b)  </a:t>
            </a:r>
            <a:r>
              <a:rPr lang="en-US" altLang="zh-CN" sz="2100" dirty="0">
                <a:solidFill>
                  <a:srgbClr val="0000FF"/>
                </a:solidFill>
              </a:rPr>
              <a:t>undo(</a:t>
            </a:r>
            <a:r>
              <a:rPr lang="en-US" altLang="zh-CN" sz="2100" i="1" dirty="0">
                <a:solidFill>
                  <a:srgbClr val="0000FF"/>
                </a:solidFill>
              </a:rPr>
              <a:t>T</a:t>
            </a:r>
            <a:r>
              <a:rPr lang="en-US" altLang="zh-CN" sz="2100" baseline="-25000" dirty="0">
                <a:solidFill>
                  <a:srgbClr val="0000FF"/>
                </a:solidFill>
              </a:rPr>
              <a:t>1</a:t>
            </a:r>
            <a:r>
              <a:rPr lang="en-US" altLang="zh-CN" sz="2100" dirty="0">
                <a:solidFill>
                  <a:srgbClr val="0000FF"/>
                </a:solidFill>
              </a:rPr>
              <a:t>)</a:t>
            </a:r>
            <a:r>
              <a:rPr lang="zh-CN" altLang="en-US" sz="2100" dirty="0">
                <a:solidFill>
                  <a:srgbClr val="0000FF"/>
                </a:solidFill>
              </a:rPr>
              <a:t>且</a:t>
            </a:r>
            <a:r>
              <a:rPr lang="en-US" altLang="zh-CN" sz="2100" dirty="0">
                <a:solidFill>
                  <a:srgbClr val="0000FF"/>
                </a:solidFill>
              </a:rPr>
              <a:t>redo(</a:t>
            </a:r>
            <a:r>
              <a:rPr lang="en-US" altLang="zh-CN" sz="2100" i="1" dirty="0">
                <a:solidFill>
                  <a:srgbClr val="0000FF"/>
                </a:solidFill>
              </a:rPr>
              <a:t>T</a:t>
            </a:r>
            <a:r>
              <a:rPr lang="en-US" altLang="zh-CN" sz="2100" baseline="-25000" dirty="0">
                <a:solidFill>
                  <a:srgbClr val="0000FF"/>
                </a:solidFill>
              </a:rPr>
              <a:t>0</a:t>
            </a:r>
            <a:r>
              <a:rPr lang="en-US" altLang="zh-CN" sz="2100" dirty="0">
                <a:solidFill>
                  <a:srgbClr val="0000FF"/>
                </a:solidFill>
              </a:rPr>
              <a:t>)</a:t>
            </a:r>
            <a:r>
              <a:rPr lang="zh-CN" altLang="en-US" sz="2100" dirty="0"/>
              <a:t>：</a:t>
            </a:r>
            <a:r>
              <a:rPr lang="en-US" altLang="zh-CN" sz="2100" dirty="0"/>
              <a:t>C </a:t>
            </a:r>
            <a:r>
              <a:rPr lang="zh-CN" altLang="en-US" sz="2100" dirty="0"/>
              <a:t>恢复到</a:t>
            </a:r>
            <a:r>
              <a:rPr lang="en-US" altLang="zh-CN" sz="2100" dirty="0"/>
              <a:t>700</a:t>
            </a:r>
            <a:r>
              <a:rPr lang="zh-CN" altLang="en-US" sz="2100" dirty="0"/>
              <a:t>，然后</a:t>
            </a:r>
            <a:r>
              <a:rPr lang="en-US" altLang="zh-CN" sz="2100" dirty="0"/>
              <a:t>B</a:t>
            </a:r>
            <a:r>
              <a:rPr lang="zh-CN" altLang="en-US" sz="2100" dirty="0"/>
              <a:t>和</a:t>
            </a:r>
            <a:r>
              <a:rPr lang="en-US" altLang="zh-CN" sz="2100" dirty="0"/>
              <a:t>A</a:t>
            </a:r>
            <a:r>
              <a:rPr lang="zh-CN" altLang="en-US" sz="2100" dirty="0"/>
              <a:t>分别设置为</a:t>
            </a:r>
            <a:r>
              <a:rPr lang="en-US" altLang="zh-CN" sz="2100" dirty="0"/>
              <a:t>2050</a:t>
            </a:r>
            <a:r>
              <a:rPr lang="zh-CN" altLang="en-US" sz="2100" dirty="0"/>
              <a:t>和</a:t>
            </a:r>
            <a:r>
              <a:rPr lang="en-US" altLang="zh-CN" sz="2100" dirty="0"/>
              <a:t>950</a:t>
            </a:r>
          </a:p>
          <a:p>
            <a:pPr eaLnBrk="1" hangingPunct="1">
              <a:buFont typeface="Wingdings" pitchFamily="2" charset="2"/>
              <a:buNone/>
            </a:pPr>
            <a:r>
              <a:rPr lang="en-US" altLang="zh-CN" sz="2100" dirty="0"/>
              <a:t>(c)  </a:t>
            </a:r>
            <a:r>
              <a:rPr lang="en-US" altLang="zh-CN" sz="2100" dirty="0">
                <a:solidFill>
                  <a:srgbClr val="0000FF"/>
                </a:solidFill>
              </a:rPr>
              <a:t>redo(</a:t>
            </a:r>
            <a:r>
              <a:rPr lang="en-US" altLang="zh-CN" sz="2100" i="1" dirty="0">
                <a:solidFill>
                  <a:srgbClr val="0000FF"/>
                </a:solidFill>
              </a:rPr>
              <a:t>T</a:t>
            </a:r>
            <a:r>
              <a:rPr lang="en-US" altLang="zh-CN" sz="2100" baseline="-25000" dirty="0">
                <a:solidFill>
                  <a:srgbClr val="0000FF"/>
                </a:solidFill>
              </a:rPr>
              <a:t>0</a:t>
            </a:r>
            <a:r>
              <a:rPr lang="en-US" altLang="zh-CN" sz="2100" dirty="0">
                <a:solidFill>
                  <a:srgbClr val="0000FF"/>
                </a:solidFill>
              </a:rPr>
              <a:t>) </a:t>
            </a:r>
            <a:r>
              <a:rPr lang="zh-CN" altLang="en-US" sz="2100" dirty="0">
                <a:solidFill>
                  <a:srgbClr val="0000FF"/>
                </a:solidFill>
              </a:rPr>
              <a:t>且</a:t>
            </a:r>
            <a:r>
              <a:rPr lang="en-US" altLang="zh-CN" sz="2100" dirty="0">
                <a:solidFill>
                  <a:srgbClr val="0000FF"/>
                </a:solidFill>
              </a:rPr>
              <a:t>redo(</a:t>
            </a:r>
            <a:r>
              <a:rPr lang="en-US" altLang="zh-CN" sz="2100" i="1" dirty="0">
                <a:solidFill>
                  <a:srgbClr val="0000FF"/>
                </a:solidFill>
              </a:rPr>
              <a:t>T</a:t>
            </a:r>
            <a:r>
              <a:rPr lang="en-US" altLang="zh-CN" sz="2100" baseline="-25000" dirty="0">
                <a:solidFill>
                  <a:srgbClr val="0000FF"/>
                </a:solidFill>
              </a:rPr>
              <a:t>1</a:t>
            </a:r>
            <a:r>
              <a:rPr lang="en-US" altLang="zh-CN" sz="2100" dirty="0">
                <a:solidFill>
                  <a:srgbClr val="0000FF"/>
                </a:solidFill>
              </a:rPr>
              <a:t>)</a:t>
            </a:r>
            <a:r>
              <a:rPr lang="zh-CN" altLang="en-US" sz="2100" dirty="0"/>
              <a:t>：</a:t>
            </a:r>
            <a:r>
              <a:rPr lang="en-US" altLang="zh-CN" sz="2100" dirty="0"/>
              <a:t>B</a:t>
            </a:r>
            <a:r>
              <a:rPr lang="zh-CN" altLang="en-US" sz="2100" dirty="0"/>
              <a:t>和</a:t>
            </a:r>
            <a:r>
              <a:rPr lang="en-US" altLang="zh-CN" sz="2100" dirty="0"/>
              <a:t>A</a:t>
            </a:r>
            <a:r>
              <a:rPr lang="zh-CN" altLang="en-US" sz="2100" dirty="0"/>
              <a:t>分别设置为</a:t>
            </a:r>
            <a:r>
              <a:rPr lang="en-US" altLang="zh-CN" sz="2100" dirty="0"/>
              <a:t>2050</a:t>
            </a:r>
            <a:r>
              <a:rPr lang="zh-CN" altLang="en-US" sz="2100" dirty="0"/>
              <a:t>和</a:t>
            </a:r>
            <a:r>
              <a:rPr lang="en-US" altLang="zh-CN" sz="2100" dirty="0"/>
              <a:t>950</a:t>
            </a:r>
            <a:r>
              <a:rPr lang="zh-CN" altLang="en-US" sz="2100" dirty="0"/>
              <a:t>，然后</a:t>
            </a:r>
            <a:r>
              <a:rPr lang="en-US" altLang="zh-CN" sz="2100" i="1" dirty="0"/>
              <a:t>C</a:t>
            </a:r>
            <a:r>
              <a:rPr lang="en-US" altLang="zh-CN" sz="2100" dirty="0"/>
              <a:t> </a:t>
            </a:r>
            <a:r>
              <a:rPr lang="zh-CN" altLang="en-US" sz="2100" dirty="0"/>
              <a:t>设置为</a:t>
            </a:r>
            <a:r>
              <a:rPr lang="en-US" altLang="zh-CN" sz="2100" dirty="0"/>
              <a:t>600</a:t>
            </a:r>
          </a:p>
        </p:txBody>
      </p:sp>
      <p:pic>
        <p:nvPicPr>
          <p:cNvPr id="28677" name="Picture 4"/>
          <p:cNvPicPr>
            <a:picLocks noChangeAspect="1" noChangeArrowheads="1"/>
          </p:cNvPicPr>
          <p:nvPr/>
        </p:nvPicPr>
        <p:blipFill>
          <a:blip r:embed="rId2">
            <a:extLst>
              <a:ext uri="{28A0092B-C50C-407E-A947-70E740481C1C}">
                <a14:useLocalDpi xmlns:a14="http://schemas.microsoft.com/office/drawing/2010/main" val="0"/>
              </a:ext>
            </a:extLst>
          </a:blip>
          <a:srcRect l="893" t="28572" r="1785" b="28571"/>
          <a:stretch>
            <a:fillRect/>
          </a:stretch>
        </p:blipFill>
        <p:spPr bwMode="auto">
          <a:xfrm>
            <a:off x="765175" y="1556792"/>
            <a:ext cx="7613650" cy="2514600"/>
          </a:xfrm>
          <a:prstGeom prst="rect">
            <a:avLst/>
          </a:prstGeom>
          <a:noFill/>
          <a:ln w="76200" cmpd="tri">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日期占位符 1">
            <a:extLst>
              <a:ext uri="{FF2B5EF4-FFF2-40B4-BE49-F238E27FC236}">
                <a16:creationId xmlns:a16="http://schemas.microsoft.com/office/drawing/2014/main" id="{894CC2DE-8D99-9831-07F6-8EB933070EF0}"/>
              </a:ext>
            </a:extLst>
          </p:cNvPr>
          <p:cNvSpPr>
            <a:spLocks noGrp="1"/>
          </p:cNvSpPr>
          <p:nvPr>
            <p:ph type="dt" sz="half" idx="10"/>
          </p:nvPr>
        </p:nvSpPr>
        <p:spPr/>
        <p:txBody>
          <a:bodyPr/>
          <a:lstStyle/>
          <a:p>
            <a:fld id="{37C52CE0-4C2E-4CBC-AE54-E4CD3D3782B2}"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D062123D-CF08-2917-CB3A-37823B249A1A}"/>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EE1AF481-0011-2451-4D2A-EC86CC62E38E}"/>
              </a:ext>
            </a:extLst>
          </p:cNvPr>
          <p:cNvSpPr>
            <a:spLocks noGrp="1"/>
          </p:cNvSpPr>
          <p:nvPr>
            <p:ph type="sldNum" sz="quarter" idx="12"/>
          </p:nvPr>
        </p:nvSpPr>
        <p:spPr/>
        <p:txBody>
          <a:bodyPr/>
          <a:lstStyle/>
          <a:p>
            <a:fld id="{AB1F7240-85F2-492B-84D8-762EF0110923}" type="slidenum">
              <a:rPr lang="en-US" altLang="zh-CN" smtClean="0"/>
              <a:pPr/>
              <a:t>44</a:t>
            </a:fld>
            <a:r>
              <a:rPr lang="en-US" altLang="zh-CN"/>
              <a:t>/67</a:t>
            </a:r>
            <a:endParaRPr lang="zh-CN" altLang="en-US" dirty="0"/>
          </a:p>
        </p:txBody>
      </p:sp>
      <p:cxnSp>
        <p:nvCxnSpPr>
          <p:cNvPr id="5" name="直接连接符 4">
            <a:extLst>
              <a:ext uri="{FF2B5EF4-FFF2-40B4-BE49-F238E27FC236}">
                <a16:creationId xmlns:a16="http://schemas.microsoft.com/office/drawing/2014/main" id="{2D2404E3-BFE6-A6B0-59A0-D51C94B9AF80}"/>
              </a:ext>
            </a:extLst>
          </p:cNvPr>
          <p:cNvCxnSpPr/>
          <p:nvPr/>
        </p:nvCxnSpPr>
        <p:spPr bwMode="auto">
          <a:xfrm>
            <a:off x="899592" y="2492896"/>
            <a:ext cx="2088232" cy="0"/>
          </a:xfrm>
          <a:prstGeom prst="line">
            <a:avLst/>
          </a:prstGeom>
          <a:ln>
            <a:solidFill>
              <a:srgbClr val="FF0000"/>
            </a:solidFill>
            <a:prstDash val="dash"/>
          </a:ln>
        </p:spPr>
        <p:style>
          <a:lnRef idx="2">
            <a:schemeClr val="accent2"/>
          </a:lnRef>
          <a:fillRef idx="0">
            <a:schemeClr val="accent2"/>
          </a:fillRef>
          <a:effectRef idx="1">
            <a:schemeClr val="accent2"/>
          </a:effectRef>
          <a:fontRef idx="minor">
            <a:schemeClr val="tx1"/>
          </a:fontRef>
        </p:style>
      </p:cxnSp>
      <p:cxnSp>
        <p:nvCxnSpPr>
          <p:cNvPr id="6" name="直接连接符 5">
            <a:extLst>
              <a:ext uri="{FF2B5EF4-FFF2-40B4-BE49-F238E27FC236}">
                <a16:creationId xmlns:a16="http://schemas.microsoft.com/office/drawing/2014/main" id="{33990C95-15D5-FC5A-D2C2-B51693F57456}"/>
              </a:ext>
            </a:extLst>
          </p:cNvPr>
          <p:cNvCxnSpPr/>
          <p:nvPr/>
        </p:nvCxnSpPr>
        <p:spPr bwMode="auto">
          <a:xfrm>
            <a:off x="5940152" y="3717032"/>
            <a:ext cx="2088232" cy="0"/>
          </a:xfrm>
          <a:prstGeom prst="line">
            <a:avLst/>
          </a:prstGeom>
          <a:ln>
            <a:solidFill>
              <a:srgbClr val="FF0000"/>
            </a:solidFill>
            <a:prstDash val="dash"/>
          </a:ln>
        </p:spPr>
        <p:style>
          <a:lnRef idx="2">
            <a:schemeClr val="accent2"/>
          </a:lnRef>
          <a:fillRef idx="0">
            <a:schemeClr val="accent2"/>
          </a:fillRef>
          <a:effectRef idx="1">
            <a:schemeClr val="accent2"/>
          </a:effectRef>
          <a:fontRef idx="minor">
            <a:schemeClr val="tx1"/>
          </a:fontRef>
        </p:style>
      </p:cxnSp>
      <p:cxnSp>
        <p:nvCxnSpPr>
          <p:cNvPr id="7" name="直接连接符 6">
            <a:extLst>
              <a:ext uri="{FF2B5EF4-FFF2-40B4-BE49-F238E27FC236}">
                <a16:creationId xmlns:a16="http://schemas.microsoft.com/office/drawing/2014/main" id="{016266FA-78A1-F2D4-DA3F-57EBCC8BD9FD}"/>
              </a:ext>
            </a:extLst>
          </p:cNvPr>
          <p:cNvCxnSpPr/>
          <p:nvPr/>
        </p:nvCxnSpPr>
        <p:spPr bwMode="auto">
          <a:xfrm>
            <a:off x="3347864" y="3429000"/>
            <a:ext cx="2088232" cy="0"/>
          </a:xfrm>
          <a:prstGeom prst="line">
            <a:avLst/>
          </a:prstGeom>
          <a:ln>
            <a:solidFill>
              <a:srgbClr val="FF0000"/>
            </a:solidFill>
            <a:prstDash val="dash"/>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5107739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6">
                                            <p:txEl>
                                              <p:pRg st="11" end="11"/>
                                            </p:txEl>
                                          </p:spTgt>
                                        </p:tgtEl>
                                        <p:attrNameLst>
                                          <p:attrName>style.visibility</p:attrName>
                                        </p:attrNameLst>
                                      </p:cBhvr>
                                      <p:to>
                                        <p:strVal val="visible"/>
                                      </p:to>
                                    </p:set>
                                    <p:anim calcmode="lin" valueType="num">
                                      <p:cBhvr additive="base">
                                        <p:cTn id="7" dur="500" fill="hold"/>
                                        <p:tgtEl>
                                          <p:spTgt spid="28676">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6">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676">
                                            <p:txEl>
                                              <p:pRg st="12" end="12"/>
                                            </p:txEl>
                                          </p:spTgt>
                                        </p:tgtEl>
                                        <p:attrNameLst>
                                          <p:attrName>style.visibility</p:attrName>
                                        </p:attrNameLst>
                                      </p:cBhvr>
                                      <p:to>
                                        <p:strVal val="visible"/>
                                      </p:to>
                                    </p:set>
                                    <p:anim calcmode="lin" valueType="num">
                                      <p:cBhvr additive="base">
                                        <p:cTn id="13" dur="500" fill="hold"/>
                                        <p:tgtEl>
                                          <p:spTgt spid="28676">
                                            <p:txEl>
                                              <p:pRg st="12" end="1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6">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8676">
                                            <p:txEl>
                                              <p:pRg st="13" end="13"/>
                                            </p:txEl>
                                          </p:spTgt>
                                        </p:tgtEl>
                                        <p:attrNameLst>
                                          <p:attrName>style.visibility</p:attrName>
                                        </p:attrNameLst>
                                      </p:cBhvr>
                                      <p:to>
                                        <p:strVal val="visible"/>
                                      </p:to>
                                    </p:set>
                                    <p:anim calcmode="lin" valueType="num">
                                      <p:cBhvr additive="base">
                                        <p:cTn id="19" dur="500" fill="hold"/>
                                        <p:tgtEl>
                                          <p:spTgt spid="28676">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6">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1000"/>
                                        <p:tgtEl>
                                          <p:spTgt spid="6"/>
                                        </p:tgtEl>
                                      </p:cBhvr>
                                    </p:animEffect>
                                    <p:anim calcmode="lin" valueType="num">
                                      <p:cBhvr>
                                        <p:cTn id="40" dur="1000" fill="hold"/>
                                        <p:tgtEl>
                                          <p:spTgt spid="6"/>
                                        </p:tgtEl>
                                        <p:attrNameLst>
                                          <p:attrName>ppt_x</p:attrName>
                                        </p:attrNameLst>
                                      </p:cBhvr>
                                      <p:tavLst>
                                        <p:tav tm="0">
                                          <p:val>
                                            <p:strVal val="#ppt_x"/>
                                          </p:val>
                                        </p:tav>
                                        <p:tav tm="100000">
                                          <p:val>
                                            <p:strVal val="#ppt_x"/>
                                          </p:val>
                                        </p:tav>
                                      </p:tavLst>
                                    </p:anim>
                                    <p:anim calcmode="lin" valueType="num">
                                      <p:cBhvr>
                                        <p:cTn id="4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zh-CN" altLang="en-US"/>
              <a:t>延迟写 </a:t>
            </a:r>
            <a:r>
              <a:rPr lang="en-US" altLang="zh-CN"/>
              <a:t>VS </a:t>
            </a:r>
            <a:r>
              <a:rPr lang="zh-CN" altLang="en-US"/>
              <a:t>立即写</a:t>
            </a:r>
          </a:p>
        </p:txBody>
      </p:sp>
      <p:sp>
        <p:nvSpPr>
          <p:cNvPr id="29700" name="Rectangle 3"/>
          <p:cNvSpPr>
            <a:spLocks noGrp="1" noChangeArrowheads="1"/>
          </p:cNvSpPr>
          <p:nvPr>
            <p:ph type="body" idx="1"/>
          </p:nvPr>
        </p:nvSpPr>
        <p:spPr>
          <a:xfrm>
            <a:off x="583940" y="1412776"/>
            <a:ext cx="8105775" cy="3672408"/>
          </a:xfrm>
        </p:spPr>
        <p:txBody>
          <a:bodyPr/>
          <a:lstStyle/>
          <a:p>
            <a:pPr eaLnBrk="1" hangingPunct="1"/>
            <a:r>
              <a:rPr lang="zh-CN" altLang="en-US" sz="2800" dirty="0"/>
              <a:t>延迟写</a:t>
            </a:r>
          </a:p>
          <a:p>
            <a:pPr lvl="1" eaLnBrk="1" hangingPunct="1"/>
            <a:r>
              <a:rPr lang="zh-CN" altLang="en-US" sz="2400" dirty="0"/>
              <a:t>实现简单：</a:t>
            </a:r>
            <a:r>
              <a:rPr lang="zh-CN" altLang="en-US" sz="2400" b="1" dirty="0">
                <a:solidFill>
                  <a:srgbClr val="FF0000"/>
                </a:solidFill>
              </a:rPr>
              <a:t>仅仅</a:t>
            </a:r>
            <a:r>
              <a:rPr lang="zh-CN" altLang="en-US" sz="2400" dirty="0"/>
              <a:t>需要</a:t>
            </a:r>
            <a:r>
              <a:rPr lang="en-US" altLang="zh-CN" sz="2400" b="1" dirty="0">
                <a:solidFill>
                  <a:srgbClr val="0000FF"/>
                </a:solidFill>
              </a:rPr>
              <a:t>Redo</a:t>
            </a:r>
            <a:r>
              <a:rPr lang="zh-CN" altLang="en-US" sz="2400" dirty="0"/>
              <a:t>操作，不需要</a:t>
            </a:r>
            <a:r>
              <a:rPr lang="en-US" altLang="zh-CN" sz="2400" dirty="0"/>
              <a:t>Undo</a:t>
            </a:r>
            <a:r>
              <a:rPr lang="zh-CN" altLang="en-US" sz="2400" dirty="0"/>
              <a:t>操作；</a:t>
            </a:r>
          </a:p>
          <a:p>
            <a:pPr lvl="1" eaLnBrk="1" hangingPunct="1"/>
            <a:r>
              <a:rPr lang="zh-CN" altLang="en-US" sz="2400" b="1" dirty="0"/>
              <a:t>实现效率较高</a:t>
            </a:r>
            <a:r>
              <a:rPr lang="zh-CN" altLang="en-US" sz="2400" dirty="0"/>
              <a:t>，日志文件可以先保存在内存中</a:t>
            </a:r>
            <a:r>
              <a:rPr lang="en-US" altLang="zh-CN" sz="2400" dirty="0"/>
              <a:t>(</a:t>
            </a:r>
            <a:r>
              <a:rPr lang="zh-CN" altLang="en-US" sz="2400" dirty="0"/>
              <a:t>要求：</a:t>
            </a:r>
            <a:r>
              <a:rPr lang="zh-CN" altLang="en-US" sz="2400" b="1" dirty="0">
                <a:solidFill>
                  <a:srgbClr val="0000FF"/>
                </a:solidFill>
              </a:rPr>
              <a:t>日志文件</a:t>
            </a:r>
            <a:r>
              <a:rPr lang="zh-CN" altLang="en-US" sz="2400" dirty="0"/>
              <a:t>在</a:t>
            </a:r>
            <a:r>
              <a:rPr lang="zh-CN" altLang="en-US" sz="2400" u="sng" dirty="0"/>
              <a:t>数据块写入稳定存储器</a:t>
            </a:r>
            <a:r>
              <a:rPr lang="zh-CN" altLang="en-US" sz="2400" b="1" u="sng" dirty="0">
                <a:solidFill>
                  <a:srgbClr val="FF0000"/>
                </a:solidFill>
              </a:rPr>
              <a:t>前</a:t>
            </a:r>
            <a:r>
              <a:rPr lang="zh-CN" altLang="en-US" sz="2400" b="1" dirty="0">
                <a:solidFill>
                  <a:srgbClr val="0000FF"/>
                </a:solidFill>
              </a:rPr>
              <a:t>先写入稳定存储器</a:t>
            </a:r>
            <a:r>
              <a:rPr lang="en-US" altLang="zh-CN" sz="2400" dirty="0"/>
              <a:t>)</a:t>
            </a:r>
          </a:p>
          <a:p>
            <a:pPr lvl="1" eaLnBrk="1" hangingPunct="1"/>
            <a:r>
              <a:rPr lang="zh-CN" altLang="en-US" sz="2400" dirty="0"/>
              <a:t>日志文件</a:t>
            </a:r>
            <a:r>
              <a:rPr lang="zh-CN" altLang="en-US" sz="2400" b="1" dirty="0">
                <a:solidFill>
                  <a:srgbClr val="0000FF"/>
                </a:solidFill>
              </a:rPr>
              <a:t>小</a:t>
            </a:r>
            <a:r>
              <a:rPr lang="zh-CN" altLang="en-US" sz="2400" dirty="0"/>
              <a:t>：</a:t>
            </a:r>
            <a:r>
              <a:rPr lang="zh-CN" altLang="en-US" sz="2400" b="1" dirty="0"/>
              <a:t>不需要保存被更新数据项的旧值</a:t>
            </a:r>
          </a:p>
          <a:p>
            <a:pPr eaLnBrk="1" hangingPunct="1"/>
            <a:r>
              <a:rPr lang="zh-CN" altLang="en-US" sz="2800" b="1" dirty="0"/>
              <a:t>立即写</a:t>
            </a:r>
            <a:r>
              <a:rPr lang="en-US" altLang="zh-CN" sz="2800" b="1" dirty="0"/>
              <a:t>(</a:t>
            </a:r>
            <a:r>
              <a:rPr lang="zh-CN" altLang="en-US" sz="2800" b="1" dirty="0"/>
              <a:t>恢复算法支持立即写</a:t>
            </a:r>
            <a:r>
              <a:rPr lang="en-US" altLang="zh-CN" sz="2800" b="1" dirty="0"/>
              <a:t>)</a:t>
            </a:r>
            <a:endParaRPr lang="zh-CN" altLang="en-US" sz="2800" b="1" dirty="0"/>
          </a:p>
          <a:p>
            <a:pPr lvl="1" eaLnBrk="1" hangingPunct="1"/>
            <a:r>
              <a:rPr lang="zh-CN" altLang="en-US" sz="2400" dirty="0"/>
              <a:t>支持</a:t>
            </a:r>
            <a:r>
              <a:rPr lang="zh-CN" altLang="en-US" sz="2400" b="1" dirty="0">
                <a:solidFill>
                  <a:srgbClr val="0000FF"/>
                </a:solidFill>
              </a:rPr>
              <a:t>较高的并发性</a:t>
            </a:r>
            <a:r>
              <a:rPr lang="zh-CN" altLang="en-US" sz="2400" dirty="0"/>
              <a:t>，</a:t>
            </a:r>
            <a:r>
              <a:rPr lang="zh-CN" altLang="en-US" sz="2400" b="1" dirty="0"/>
              <a:t>延迟写需要到</a:t>
            </a:r>
            <a:r>
              <a:rPr lang="zh-CN" altLang="en-US" sz="2400" b="1" dirty="0">
                <a:solidFill>
                  <a:srgbClr val="0000FF"/>
                </a:solidFill>
              </a:rPr>
              <a:t>最后才能释放锁</a:t>
            </a:r>
            <a:endParaRPr lang="zh-CN" altLang="en-US" sz="2400" dirty="0"/>
          </a:p>
        </p:txBody>
      </p:sp>
      <p:sp>
        <p:nvSpPr>
          <p:cNvPr id="2" name="日期占位符 1">
            <a:extLst>
              <a:ext uri="{FF2B5EF4-FFF2-40B4-BE49-F238E27FC236}">
                <a16:creationId xmlns:a16="http://schemas.microsoft.com/office/drawing/2014/main" id="{527E0F14-AB02-11CE-337B-DC511987ED47}"/>
              </a:ext>
            </a:extLst>
          </p:cNvPr>
          <p:cNvSpPr>
            <a:spLocks noGrp="1"/>
          </p:cNvSpPr>
          <p:nvPr>
            <p:ph type="dt" sz="half" idx="10"/>
          </p:nvPr>
        </p:nvSpPr>
        <p:spPr/>
        <p:txBody>
          <a:bodyPr/>
          <a:lstStyle/>
          <a:p>
            <a:fld id="{7CBC3F8B-6B72-4383-A1B7-DFD177D5B21B}"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08E6EDB2-DF5C-5971-A351-4BB541568B8B}"/>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65A95AB4-536F-436C-AFAC-73034D5C0141}"/>
              </a:ext>
            </a:extLst>
          </p:cNvPr>
          <p:cNvSpPr>
            <a:spLocks noGrp="1"/>
          </p:cNvSpPr>
          <p:nvPr>
            <p:ph type="sldNum" sz="quarter" idx="12"/>
          </p:nvPr>
        </p:nvSpPr>
        <p:spPr/>
        <p:txBody>
          <a:bodyPr/>
          <a:lstStyle/>
          <a:p>
            <a:fld id="{6CD0990F-CFD2-4E3E-9B0E-DA23AF729A97}" type="slidenum">
              <a:rPr lang="en-US" altLang="zh-CN" smtClean="0"/>
              <a:pPr/>
              <a:t>45</a:t>
            </a:fld>
            <a:r>
              <a:rPr lang="en-US" altLang="zh-CN"/>
              <a:t>/67</a:t>
            </a:r>
            <a:endParaRPr lang="zh-CN" altLang="en-US" dirty="0"/>
          </a:p>
        </p:txBody>
      </p:sp>
    </p:spTree>
    <p:extLst>
      <p:ext uri="{BB962C8B-B14F-4D97-AF65-F5344CB8AC3E}">
        <p14:creationId xmlns:p14="http://schemas.microsoft.com/office/powerpoint/2010/main" val="2664970996"/>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zh-CN" altLang="en-US"/>
              <a:t>检查点</a:t>
            </a:r>
            <a:r>
              <a:rPr lang="en-US" altLang="zh-CN"/>
              <a:t>(Checkpoint)</a:t>
            </a:r>
          </a:p>
        </p:txBody>
      </p:sp>
      <p:sp>
        <p:nvSpPr>
          <p:cNvPr id="30724" name="Rectangle 3"/>
          <p:cNvSpPr>
            <a:spLocks noGrp="1" noChangeArrowheads="1"/>
          </p:cNvSpPr>
          <p:nvPr>
            <p:ph type="body" idx="4294967295"/>
          </p:nvPr>
        </p:nvSpPr>
        <p:spPr>
          <a:xfrm>
            <a:off x="683568" y="1414040"/>
            <a:ext cx="8105775" cy="4829598"/>
          </a:xfrm>
        </p:spPr>
        <p:txBody>
          <a:bodyPr/>
          <a:lstStyle/>
          <a:p>
            <a:pPr marL="381000" indent="-381000" eaLnBrk="1" hangingPunct="1"/>
            <a:r>
              <a:rPr lang="zh-CN" altLang="en-US" sz="2300" dirty="0"/>
              <a:t>前述恢复过程的问题</a:t>
            </a:r>
            <a:endParaRPr lang="en-US" altLang="zh-CN" sz="2300" dirty="0"/>
          </a:p>
          <a:p>
            <a:pPr lvl="1" eaLnBrk="1" hangingPunct="1"/>
            <a:r>
              <a:rPr lang="zh-CN" altLang="en-US" sz="2100" b="1" dirty="0"/>
              <a:t>搜索整个日志</a:t>
            </a:r>
            <a:r>
              <a:rPr lang="zh-CN" altLang="en-US" sz="2100" dirty="0"/>
              <a:t>，很费时；</a:t>
            </a:r>
            <a:endParaRPr lang="en-US" altLang="zh-CN" sz="2100" dirty="0"/>
          </a:p>
          <a:p>
            <a:pPr lvl="1" eaLnBrk="1" hangingPunct="1"/>
            <a:r>
              <a:rPr lang="zh-CN" altLang="en-US" sz="2100" dirty="0"/>
              <a:t>可能</a:t>
            </a:r>
            <a:r>
              <a:rPr lang="zh-CN" altLang="en-US" sz="2100" b="1" dirty="0">
                <a:solidFill>
                  <a:srgbClr val="0000FF"/>
                </a:solidFill>
              </a:rPr>
              <a:t>不必要地重做事务</a:t>
            </a:r>
            <a:r>
              <a:rPr lang="zh-CN" altLang="en-US" sz="2100" dirty="0"/>
              <a:t>(</a:t>
            </a:r>
            <a:r>
              <a:rPr lang="zh-CN" altLang="en-US" sz="2100" b="1" dirty="0"/>
              <a:t>已经将更新输出到</a:t>
            </a:r>
            <a:r>
              <a:rPr lang="zh-CN" altLang="en-US" sz="2100" b="1" dirty="0">
                <a:solidFill>
                  <a:srgbClr val="0000FF"/>
                </a:solidFill>
              </a:rPr>
              <a:t>数据库</a:t>
            </a:r>
            <a:r>
              <a:rPr lang="zh-CN" altLang="en-US" sz="2100" dirty="0"/>
              <a:t>的事务)；</a:t>
            </a:r>
            <a:endParaRPr lang="en-US" altLang="zh-CN" sz="2100" dirty="0"/>
          </a:p>
          <a:p>
            <a:pPr lvl="2" eaLnBrk="1" hangingPunct="1">
              <a:buFont typeface="Wingdings" pitchFamily="2" charset="2"/>
              <a:buChar char="u"/>
            </a:pPr>
            <a:r>
              <a:rPr lang="en-US" altLang="zh-CN" sz="2000" dirty="0"/>
              <a:t>Redo</a:t>
            </a:r>
            <a:r>
              <a:rPr lang="zh-CN" altLang="en-US" sz="2000" dirty="0"/>
              <a:t>操作不会影响数据库的一致性</a:t>
            </a:r>
          </a:p>
          <a:p>
            <a:pPr marL="381000" indent="-381000" eaLnBrk="1" hangingPunct="1"/>
            <a:r>
              <a:rPr lang="zh-CN" altLang="en-US" sz="2300" dirty="0"/>
              <a:t>通过周期性地</a:t>
            </a:r>
            <a:r>
              <a:rPr lang="zh-CN" altLang="en-US" sz="2300" b="1" u="sng" dirty="0"/>
              <a:t>执行</a:t>
            </a:r>
            <a:r>
              <a:rPr lang="zh-CN" altLang="en-US" sz="2300" b="1" u="sng" dirty="0">
                <a:solidFill>
                  <a:srgbClr val="FF3300"/>
                </a:solidFill>
              </a:rPr>
              <a:t>检查点</a:t>
            </a:r>
            <a:r>
              <a:rPr lang="zh-CN" altLang="en-US" sz="2300" dirty="0"/>
              <a:t>来简化恢复过程，</a:t>
            </a:r>
            <a:r>
              <a:rPr lang="zh-CN" altLang="en-US" sz="2300" b="1" u="sng" dirty="0">
                <a:solidFill>
                  <a:srgbClr val="FF3300"/>
                </a:solidFill>
              </a:rPr>
              <a:t>检查点执行</a:t>
            </a:r>
            <a:r>
              <a:rPr lang="zh-CN" altLang="en-US" sz="2300" b="1" dirty="0"/>
              <a:t>过程如下</a:t>
            </a:r>
            <a:r>
              <a:rPr lang="zh-CN" altLang="en-US" sz="2300" dirty="0"/>
              <a:t>：</a:t>
            </a:r>
            <a:endParaRPr lang="en-US" altLang="zh-CN" sz="2300" dirty="0"/>
          </a:p>
          <a:p>
            <a:pPr lvl="1" eaLnBrk="1" hangingPunct="1"/>
            <a:r>
              <a:rPr lang="zh-CN" altLang="en-US" sz="2100" dirty="0"/>
              <a:t>将当前驻留在</a:t>
            </a:r>
            <a:r>
              <a:rPr lang="zh-CN" altLang="en-US" sz="2100" b="1" dirty="0"/>
              <a:t>主存</a:t>
            </a:r>
            <a:r>
              <a:rPr lang="zh-CN" altLang="en-US" sz="2100" dirty="0"/>
              <a:t>中的</a:t>
            </a:r>
            <a:r>
              <a:rPr lang="zh-CN" altLang="en-US" sz="2100" b="1" dirty="0">
                <a:solidFill>
                  <a:srgbClr val="0000FF"/>
                </a:solidFill>
              </a:rPr>
              <a:t>所有日志记录</a:t>
            </a:r>
            <a:r>
              <a:rPr lang="zh-CN" altLang="en-US" sz="2100" dirty="0"/>
              <a:t>输出到</a:t>
            </a:r>
            <a:r>
              <a:rPr lang="zh-CN" altLang="en-US" sz="2100" b="1" u="sng" dirty="0">
                <a:solidFill>
                  <a:srgbClr val="0000FF"/>
                </a:solidFill>
              </a:rPr>
              <a:t>稳定存储器</a:t>
            </a:r>
            <a:r>
              <a:rPr lang="zh-CN" altLang="en-US" sz="2100" dirty="0">
                <a:solidFill>
                  <a:srgbClr val="0000FF"/>
                </a:solidFill>
              </a:rPr>
              <a:t>；</a:t>
            </a:r>
            <a:endParaRPr lang="en-US" altLang="zh-CN" sz="2100" dirty="0">
              <a:solidFill>
                <a:srgbClr val="0000FF"/>
              </a:solidFill>
            </a:endParaRPr>
          </a:p>
          <a:p>
            <a:pPr lvl="2" eaLnBrk="1" hangingPunct="1">
              <a:buFont typeface="Wingdings" pitchFamily="2" charset="2"/>
              <a:buChar char="u"/>
            </a:pPr>
            <a:r>
              <a:rPr lang="zh-CN" altLang="en-US" sz="1800" dirty="0"/>
              <a:t>日志文件依然有缓存</a:t>
            </a:r>
            <a:r>
              <a:rPr lang="en-US" altLang="zh-CN" sz="1800" dirty="0"/>
              <a:t>(</a:t>
            </a:r>
            <a:r>
              <a:rPr lang="zh-CN" altLang="en-US" sz="1800" dirty="0"/>
              <a:t>前面假定日志直接输出</a:t>
            </a:r>
            <a:r>
              <a:rPr lang="en-US" altLang="zh-CN" sz="1800" dirty="0"/>
              <a:t>)</a:t>
            </a:r>
          </a:p>
          <a:p>
            <a:pPr lvl="1" eaLnBrk="1" hangingPunct="1"/>
            <a:r>
              <a:rPr lang="zh-CN" altLang="en-US" sz="2100" dirty="0"/>
              <a:t>将</a:t>
            </a:r>
            <a:r>
              <a:rPr lang="zh-CN" altLang="en-US" sz="2100" b="1" dirty="0"/>
              <a:t>所有</a:t>
            </a:r>
            <a:r>
              <a:rPr lang="zh-CN" altLang="en-US" sz="2100" b="1" dirty="0">
                <a:solidFill>
                  <a:srgbClr val="0000FF"/>
                </a:solidFill>
              </a:rPr>
              <a:t>更新过的缓冲块</a:t>
            </a:r>
            <a:r>
              <a:rPr lang="zh-CN" altLang="en-US" sz="2100" dirty="0"/>
              <a:t>输出到</a:t>
            </a:r>
            <a:r>
              <a:rPr lang="zh-CN" altLang="en-US" sz="2100" b="1" u="sng" dirty="0">
                <a:solidFill>
                  <a:srgbClr val="0000FF"/>
                </a:solidFill>
              </a:rPr>
              <a:t>磁盘</a:t>
            </a:r>
            <a:r>
              <a:rPr lang="zh-CN" altLang="en-US" sz="2100" dirty="0">
                <a:solidFill>
                  <a:srgbClr val="0000FF"/>
                </a:solidFill>
              </a:rPr>
              <a:t>；</a:t>
            </a:r>
            <a:endParaRPr lang="en-US" altLang="zh-CN" sz="2100" dirty="0">
              <a:solidFill>
                <a:srgbClr val="0000FF"/>
              </a:solidFill>
            </a:endParaRPr>
          </a:p>
          <a:p>
            <a:pPr lvl="2" eaLnBrk="1" hangingPunct="1">
              <a:buFont typeface="Wingdings" pitchFamily="2" charset="2"/>
              <a:buChar char="u"/>
            </a:pPr>
            <a:r>
              <a:rPr lang="zh-CN" altLang="en-US" sz="1800" dirty="0"/>
              <a:t>事务处理结束后，数据块可能依然没有更新</a:t>
            </a:r>
          </a:p>
          <a:p>
            <a:pPr lvl="1" eaLnBrk="1" hangingPunct="1"/>
            <a:r>
              <a:rPr lang="zh-CN" altLang="en-US" sz="2100" dirty="0"/>
              <a:t>将</a:t>
            </a:r>
            <a:r>
              <a:rPr lang="zh-CN" altLang="en-US" sz="2100" dirty="0">
                <a:solidFill>
                  <a:srgbClr val="0000FF"/>
                </a:solidFill>
              </a:rPr>
              <a:t>一条日志记录</a:t>
            </a:r>
            <a:r>
              <a:rPr lang="en-US" altLang="zh-CN" sz="2100" dirty="0">
                <a:solidFill>
                  <a:srgbClr val="0000FF"/>
                </a:solidFill>
              </a:rPr>
              <a:t>&lt;checkpoint&gt;</a:t>
            </a:r>
            <a:r>
              <a:rPr lang="zh-CN" altLang="en-US" sz="2100" dirty="0"/>
              <a:t>写入</a:t>
            </a:r>
            <a:r>
              <a:rPr lang="zh-CN" altLang="en-US" sz="2100" b="1" u="sng" dirty="0">
                <a:solidFill>
                  <a:srgbClr val="0000FF"/>
                </a:solidFill>
              </a:rPr>
              <a:t>稳定存储器</a:t>
            </a:r>
            <a:r>
              <a:rPr lang="zh-CN" altLang="en-US" sz="2100" dirty="0"/>
              <a:t>。</a:t>
            </a:r>
            <a:endParaRPr lang="en-US" altLang="zh-CN" sz="2100" dirty="0"/>
          </a:p>
          <a:p>
            <a:r>
              <a:rPr lang="zh-CN" altLang="en-US" sz="2400" b="1" dirty="0"/>
              <a:t>检查点执行</a:t>
            </a:r>
            <a:r>
              <a:rPr lang="zh-CN" altLang="en-US" sz="2400" dirty="0"/>
              <a:t>过程中，</a:t>
            </a:r>
            <a:r>
              <a:rPr lang="zh-CN" altLang="en-US" sz="2400" b="1" u="sng" dirty="0"/>
              <a:t>不允许事务执行任何更新动作</a:t>
            </a:r>
            <a:r>
              <a:rPr lang="zh-CN" altLang="en-US" sz="2400" dirty="0"/>
              <a:t>。</a:t>
            </a:r>
            <a:endParaRPr lang="en-US" altLang="zh-CN" sz="2400" dirty="0"/>
          </a:p>
        </p:txBody>
      </p:sp>
      <p:sp>
        <p:nvSpPr>
          <p:cNvPr id="2" name="日期占位符 1">
            <a:extLst>
              <a:ext uri="{FF2B5EF4-FFF2-40B4-BE49-F238E27FC236}">
                <a16:creationId xmlns:a16="http://schemas.microsoft.com/office/drawing/2014/main" id="{87ECDB8A-981B-CC9F-89EA-AD67BADF8274}"/>
              </a:ext>
            </a:extLst>
          </p:cNvPr>
          <p:cNvSpPr>
            <a:spLocks noGrp="1"/>
          </p:cNvSpPr>
          <p:nvPr>
            <p:ph type="dt" sz="half" idx="10"/>
          </p:nvPr>
        </p:nvSpPr>
        <p:spPr/>
        <p:txBody>
          <a:bodyPr/>
          <a:lstStyle/>
          <a:p>
            <a:fld id="{2BAD78B7-82EC-4F54-BC85-0E52A0DE6ED1}"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95104FB6-AFEF-8B78-D350-AD14917C4693}"/>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77A1E7F6-7DB0-790A-56EF-66358412E2AC}"/>
              </a:ext>
            </a:extLst>
          </p:cNvPr>
          <p:cNvSpPr>
            <a:spLocks noGrp="1"/>
          </p:cNvSpPr>
          <p:nvPr>
            <p:ph type="sldNum" sz="quarter" idx="12"/>
          </p:nvPr>
        </p:nvSpPr>
        <p:spPr/>
        <p:txBody>
          <a:bodyPr/>
          <a:lstStyle/>
          <a:p>
            <a:fld id="{AB1F7240-85F2-492B-84D8-762EF0110923}" type="slidenum">
              <a:rPr lang="en-US" altLang="zh-CN" smtClean="0"/>
              <a:pPr/>
              <a:t>46</a:t>
            </a:fld>
            <a:r>
              <a:rPr lang="en-US" altLang="zh-CN"/>
              <a:t>/67</a:t>
            </a:r>
            <a:endParaRPr lang="zh-CN" altLang="en-US" dirty="0"/>
          </a:p>
        </p:txBody>
      </p:sp>
    </p:spTree>
    <p:extLst>
      <p:ext uri="{BB962C8B-B14F-4D97-AF65-F5344CB8AC3E}">
        <p14:creationId xmlns:p14="http://schemas.microsoft.com/office/powerpoint/2010/main" val="1025799382"/>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zh-CN" altLang="en-US"/>
              <a:t>检查点</a:t>
            </a:r>
            <a:r>
              <a:rPr lang="en-US" altLang="zh-CN"/>
              <a:t>(Checkpoint)</a:t>
            </a:r>
          </a:p>
        </p:txBody>
      </p:sp>
      <p:sp>
        <p:nvSpPr>
          <p:cNvPr id="30724" name="Rectangle 3"/>
          <p:cNvSpPr>
            <a:spLocks noGrp="1" noChangeArrowheads="1"/>
          </p:cNvSpPr>
          <p:nvPr>
            <p:ph type="body" idx="4294967295"/>
          </p:nvPr>
        </p:nvSpPr>
        <p:spPr>
          <a:xfrm>
            <a:off x="683568" y="1414040"/>
            <a:ext cx="7992888" cy="5183312"/>
          </a:xfrm>
        </p:spPr>
        <p:txBody>
          <a:bodyPr/>
          <a:lstStyle/>
          <a:p>
            <a:pPr marL="0" indent="0" eaLnBrk="1" hangingPunct="1">
              <a:buNone/>
            </a:pPr>
            <a:r>
              <a:rPr lang="zh-CN" altLang="en-US" sz="2800" b="1" dirty="0"/>
              <a:t>目的</a:t>
            </a:r>
          </a:p>
          <a:p>
            <a:r>
              <a:rPr lang="zh-CN" altLang="en-US" sz="2500" dirty="0"/>
              <a:t>事务对</a:t>
            </a:r>
            <a:r>
              <a:rPr lang="zh-CN" altLang="en-US" sz="2500" b="1" dirty="0"/>
              <a:t>数据库所作的任何修改</a:t>
            </a:r>
            <a:r>
              <a:rPr lang="zh-CN" altLang="en-US" sz="2500" b="1" dirty="0">
                <a:solidFill>
                  <a:srgbClr val="0000FF"/>
                </a:solidFill>
              </a:rPr>
              <a:t>必然</a:t>
            </a:r>
            <a:r>
              <a:rPr lang="zh-CN" altLang="en-US" sz="2500" dirty="0"/>
              <a:t>在</a:t>
            </a:r>
            <a:r>
              <a:rPr lang="zh-CN" altLang="en-US" sz="2500" b="1" dirty="0"/>
              <a:t>检查点</a:t>
            </a:r>
            <a:r>
              <a:rPr lang="zh-CN" altLang="en-US" sz="2500" b="1" dirty="0">
                <a:solidFill>
                  <a:srgbClr val="0000FF"/>
                </a:solidFill>
              </a:rPr>
              <a:t>之间</a:t>
            </a:r>
            <a:r>
              <a:rPr lang="zh-CN" altLang="en-US" sz="2500" dirty="0"/>
              <a:t>或者作为</a:t>
            </a:r>
            <a:r>
              <a:rPr lang="zh-CN" altLang="en-US" sz="2500" b="1" dirty="0"/>
              <a:t>检查点</a:t>
            </a:r>
            <a:r>
              <a:rPr lang="zh-CN" altLang="en-US" sz="2500" b="1" dirty="0">
                <a:solidFill>
                  <a:srgbClr val="0000FF"/>
                </a:solidFill>
              </a:rPr>
              <a:t>本身的一部分</a:t>
            </a:r>
            <a:r>
              <a:rPr lang="zh-CN" altLang="en-US" sz="2500" b="1" dirty="0"/>
              <a:t>写出到数据库</a:t>
            </a:r>
            <a:r>
              <a:rPr lang="zh-CN" altLang="en-US" sz="2500" dirty="0"/>
              <a:t>中；</a:t>
            </a:r>
            <a:endParaRPr lang="en-US" altLang="zh-CN" sz="2500" dirty="0"/>
          </a:p>
          <a:p>
            <a:r>
              <a:rPr lang="zh-CN" altLang="en-US" sz="2500" b="1" dirty="0"/>
              <a:t>检查点之前的完成事务</a:t>
            </a:r>
            <a:r>
              <a:rPr lang="zh-CN" altLang="en-US" sz="2500" dirty="0"/>
              <a:t>不需要做</a:t>
            </a:r>
            <a:r>
              <a:rPr lang="en-US" altLang="zh-CN" sz="2500" b="1" dirty="0"/>
              <a:t>Redo</a:t>
            </a:r>
            <a:r>
              <a:rPr lang="zh-CN" altLang="en-US" sz="2500" b="1" dirty="0"/>
              <a:t>操作。</a:t>
            </a:r>
            <a:endParaRPr lang="en-US" altLang="zh-CN" sz="2500" b="1" dirty="0"/>
          </a:p>
          <a:p>
            <a:r>
              <a:rPr lang="zh-CN" altLang="en-US" sz="2500" dirty="0"/>
              <a:t>在日志中加入</a:t>
            </a:r>
            <a:r>
              <a:rPr lang="en-US" altLang="zh-CN" sz="2500" dirty="0"/>
              <a:t>&lt;checkpoint&gt;</a:t>
            </a:r>
            <a:r>
              <a:rPr lang="zh-CN" altLang="en-US" sz="2500" dirty="0"/>
              <a:t>记录使得系统提高恢复过程的效率。</a:t>
            </a:r>
            <a:endParaRPr lang="en-US" altLang="zh-CN" sz="2500" dirty="0"/>
          </a:p>
          <a:p>
            <a:pPr lvl="1"/>
            <a:r>
              <a:rPr lang="zh-CN" altLang="en-US" sz="2100" dirty="0"/>
              <a:t>考虑在</a:t>
            </a:r>
            <a:r>
              <a:rPr lang="zh-CN" altLang="en-US" sz="2100" dirty="0">
                <a:solidFill>
                  <a:srgbClr val="0000FF"/>
                </a:solidFill>
              </a:rPr>
              <a:t>检查点前完成的事务</a:t>
            </a:r>
            <a:r>
              <a:rPr lang="en-US" altLang="zh-CN" sz="2100" dirty="0">
                <a:solidFill>
                  <a:srgbClr val="0000FF"/>
                </a:solidFill>
              </a:rPr>
              <a:t>T</a:t>
            </a:r>
            <a:r>
              <a:rPr lang="zh-CN" altLang="en-US" sz="2100" dirty="0"/>
              <a:t>，对于这样的事务，</a:t>
            </a:r>
            <a:r>
              <a:rPr lang="en-US" altLang="zh-CN" sz="2100" dirty="0">
                <a:solidFill>
                  <a:srgbClr val="0000FF"/>
                </a:solidFill>
              </a:rPr>
              <a:t>&lt;T commit&gt;</a:t>
            </a:r>
            <a:r>
              <a:rPr lang="zh-CN" altLang="en-US" sz="2100" dirty="0">
                <a:solidFill>
                  <a:srgbClr val="0000FF"/>
                </a:solidFill>
              </a:rPr>
              <a:t>记录</a:t>
            </a:r>
            <a:r>
              <a:rPr lang="en-US" altLang="zh-CN" sz="2100" dirty="0"/>
              <a:t>(</a:t>
            </a:r>
            <a:r>
              <a:rPr lang="zh-CN" altLang="en-US" sz="2100" dirty="0"/>
              <a:t>或</a:t>
            </a:r>
            <a:r>
              <a:rPr lang="en-US" altLang="zh-CN" sz="2100" dirty="0"/>
              <a:t>&lt;T abort&gt;</a:t>
            </a:r>
            <a:r>
              <a:rPr lang="zh-CN" altLang="en-US" sz="2100" dirty="0"/>
              <a:t>记录</a:t>
            </a:r>
            <a:r>
              <a:rPr lang="en-US" altLang="zh-CN" sz="2100" dirty="0"/>
              <a:t>)</a:t>
            </a:r>
            <a:r>
              <a:rPr lang="zh-CN" altLang="en-US" sz="2100" dirty="0"/>
              <a:t>在日志中出现在</a:t>
            </a:r>
            <a:r>
              <a:rPr lang="en-US" altLang="zh-CN" sz="2100" dirty="0">
                <a:solidFill>
                  <a:srgbClr val="0000FF"/>
                </a:solidFill>
              </a:rPr>
              <a:t>&lt;checkpoint&gt;</a:t>
            </a:r>
            <a:r>
              <a:rPr lang="zh-CN" altLang="en-US" sz="2100" dirty="0">
                <a:solidFill>
                  <a:srgbClr val="0000FF"/>
                </a:solidFill>
              </a:rPr>
              <a:t>记录之前</a:t>
            </a:r>
            <a:r>
              <a:rPr lang="zh-CN" altLang="en-US" sz="2100" dirty="0"/>
              <a:t>。</a:t>
            </a:r>
            <a:r>
              <a:rPr lang="en-US" altLang="zh-CN" sz="2100" dirty="0"/>
              <a:t>T</a:t>
            </a:r>
            <a:r>
              <a:rPr lang="zh-CN" altLang="en-US" sz="2100" dirty="0"/>
              <a:t>所做的</a:t>
            </a:r>
            <a:r>
              <a:rPr lang="zh-CN" altLang="en-US" sz="2100" b="1" dirty="0"/>
              <a:t>任何数据库修改</a:t>
            </a:r>
            <a:r>
              <a:rPr lang="zh-CN" altLang="en-US" sz="2100" dirty="0"/>
              <a:t>都必然</a:t>
            </a:r>
            <a:r>
              <a:rPr lang="zh-CN" altLang="en-US" sz="2100" u="sng" dirty="0"/>
              <a:t>已在检查点前或作为检查点本身的一部分</a:t>
            </a:r>
            <a:r>
              <a:rPr lang="zh-CN" altLang="en-US" sz="2100" b="1" dirty="0">
                <a:solidFill>
                  <a:srgbClr val="0000FF"/>
                </a:solidFill>
              </a:rPr>
              <a:t>写入数据库</a:t>
            </a:r>
            <a:r>
              <a:rPr lang="zh-CN" altLang="en-US" sz="2100" dirty="0"/>
              <a:t>。因此，在恢复时就</a:t>
            </a:r>
            <a:r>
              <a:rPr lang="zh-CN" altLang="en-US" sz="2100" dirty="0">
                <a:solidFill>
                  <a:srgbClr val="FF0000"/>
                </a:solidFill>
              </a:rPr>
              <a:t>不必再对</a:t>
            </a:r>
            <a:r>
              <a:rPr lang="en-US" altLang="zh-CN" sz="2100" dirty="0">
                <a:solidFill>
                  <a:srgbClr val="FF0000"/>
                </a:solidFill>
              </a:rPr>
              <a:t>T</a:t>
            </a:r>
            <a:r>
              <a:rPr lang="zh-CN" altLang="en-US" sz="2100" dirty="0">
                <a:solidFill>
                  <a:srgbClr val="FF0000"/>
                </a:solidFill>
              </a:rPr>
              <a:t>执行</a:t>
            </a:r>
            <a:r>
              <a:rPr lang="en-US" altLang="zh-CN" sz="2100" dirty="0">
                <a:solidFill>
                  <a:srgbClr val="FF0000"/>
                </a:solidFill>
              </a:rPr>
              <a:t>redo</a:t>
            </a:r>
            <a:r>
              <a:rPr lang="zh-CN" altLang="en-US" sz="2100" dirty="0"/>
              <a:t>操作了。</a:t>
            </a:r>
            <a:endParaRPr lang="en-US" altLang="zh-CN" sz="2100" dirty="0"/>
          </a:p>
        </p:txBody>
      </p:sp>
      <p:sp>
        <p:nvSpPr>
          <p:cNvPr id="2" name="日期占位符 1">
            <a:extLst>
              <a:ext uri="{FF2B5EF4-FFF2-40B4-BE49-F238E27FC236}">
                <a16:creationId xmlns:a16="http://schemas.microsoft.com/office/drawing/2014/main" id="{1B515F4C-7865-3FF6-DF86-7424A90002DB}"/>
              </a:ext>
            </a:extLst>
          </p:cNvPr>
          <p:cNvSpPr>
            <a:spLocks noGrp="1"/>
          </p:cNvSpPr>
          <p:nvPr>
            <p:ph type="dt" sz="half" idx="10"/>
          </p:nvPr>
        </p:nvSpPr>
        <p:spPr/>
        <p:txBody>
          <a:bodyPr/>
          <a:lstStyle/>
          <a:p>
            <a:fld id="{EA422E56-F061-4D48-A1FF-9D4F745ED1FC}"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9424DFC1-CEC5-CD08-5A94-3306EFE121FE}"/>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2C027A92-5D43-19FE-584F-DE9D0BB28CF0}"/>
              </a:ext>
            </a:extLst>
          </p:cNvPr>
          <p:cNvSpPr>
            <a:spLocks noGrp="1"/>
          </p:cNvSpPr>
          <p:nvPr>
            <p:ph type="sldNum" sz="quarter" idx="12"/>
          </p:nvPr>
        </p:nvSpPr>
        <p:spPr/>
        <p:txBody>
          <a:bodyPr/>
          <a:lstStyle/>
          <a:p>
            <a:fld id="{AB1F7240-85F2-492B-84D8-762EF0110923}" type="slidenum">
              <a:rPr lang="en-US" altLang="zh-CN" smtClean="0"/>
              <a:pPr/>
              <a:t>47</a:t>
            </a:fld>
            <a:r>
              <a:rPr lang="en-US" altLang="zh-CN"/>
              <a:t>/67</a:t>
            </a:r>
            <a:endParaRPr lang="zh-CN" altLang="en-US" dirty="0"/>
          </a:p>
        </p:txBody>
      </p:sp>
    </p:spTree>
    <p:extLst>
      <p:ext uri="{BB962C8B-B14F-4D97-AF65-F5344CB8AC3E}">
        <p14:creationId xmlns:p14="http://schemas.microsoft.com/office/powerpoint/2010/main" val="4044773476"/>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zh-CN" altLang="en-US"/>
              <a:t>基于检查点的恢复处理</a:t>
            </a:r>
            <a:endParaRPr lang="en-US" altLang="zh-CN" baseline="30000"/>
          </a:p>
        </p:txBody>
      </p:sp>
      <p:sp>
        <p:nvSpPr>
          <p:cNvPr id="31748" name="Rectangle 3"/>
          <p:cNvSpPr>
            <a:spLocks noGrp="1" noChangeArrowheads="1"/>
          </p:cNvSpPr>
          <p:nvPr>
            <p:ph type="body" idx="4294967295"/>
          </p:nvPr>
        </p:nvSpPr>
        <p:spPr>
          <a:xfrm>
            <a:off x="452438" y="1412776"/>
            <a:ext cx="8368034" cy="5219700"/>
          </a:xfrm>
        </p:spPr>
        <p:txBody>
          <a:bodyPr/>
          <a:lstStyle/>
          <a:p>
            <a:pPr marL="381000" indent="-381000" eaLnBrk="1" hangingPunct="1">
              <a:lnSpc>
                <a:spcPct val="120000"/>
              </a:lnSpc>
            </a:pPr>
            <a:r>
              <a:rPr lang="zh-CN" altLang="en-US" sz="2800" dirty="0"/>
              <a:t>恢复时</a:t>
            </a:r>
            <a:r>
              <a:rPr lang="zh-CN" altLang="en-US" sz="2800" b="1" dirty="0"/>
              <a:t>仅需考虑</a:t>
            </a:r>
            <a:r>
              <a:rPr lang="zh-CN" altLang="en-US" sz="2800" dirty="0"/>
              <a:t>在</a:t>
            </a:r>
            <a:r>
              <a:rPr lang="zh-CN" altLang="en-US" sz="2800" b="1" dirty="0">
                <a:solidFill>
                  <a:srgbClr val="009900"/>
                </a:solidFill>
              </a:rPr>
              <a:t>检查点之前</a:t>
            </a:r>
            <a:r>
              <a:rPr lang="zh-CN" altLang="en-US" sz="2800" b="1" dirty="0">
                <a:solidFill>
                  <a:srgbClr val="0000FF"/>
                </a:solidFill>
              </a:rPr>
              <a:t>启动</a:t>
            </a:r>
            <a:r>
              <a:rPr lang="zh-CN" altLang="en-US" sz="2800" dirty="0"/>
              <a:t>的</a:t>
            </a:r>
            <a:r>
              <a:rPr lang="zh-CN" altLang="en-US" sz="2800" b="1" dirty="0">
                <a:solidFill>
                  <a:srgbClr val="FF0000"/>
                </a:solidFill>
              </a:rPr>
              <a:t>最近</a:t>
            </a:r>
            <a:r>
              <a:rPr lang="zh-CN" altLang="en-US" sz="2800" b="1" dirty="0"/>
              <a:t>的</a:t>
            </a:r>
            <a:r>
              <a:rPr lang="zh-CN" altLang="en-US" sz="2800" b="1" dirty="0">
                <a:solidFill>
                  <a:srgbClr val="FF0000"/>
                </a:solidFill>
              </a:rPr>
              <a:t>事务</a:t>
            </a:r>
            <a:r>
              <a:rPr lang="en-US" altLang="zh-CN" sz="2800" b="1" dirty="0" err="1">
                <a:solidFill>
                  <a:srgbClr val="FF0000"/>
                </a:solidFill>
              </a:rPr>
              <a:t>T</a:t>
            </a:r>
            <a:r>
              <a:rPr lang="en-US" altLang="zh-CN" sz="2800" b="1" baseline="-25000" dirty="0" err="1">
                <a:solidFill>
                  <a:srgbClr val="FF0000"/>
                </a:solidFill>
              </a:rPr>
              <a:t>i</a:t>
            </a:r>
            <a:r>
              <a:rPr lang="zh-CN" altLang="en-US" sz="2800" dirty="0"/>
              <a:t>，以及在</a:t>
            </a:r>
            <a:r>
              <a:rPr lang="en-US" altLang="zh-CN" sz="2800" b="1" dirty="0" err="1">
                <a:solidFill>
                  <a:srgbClr val="FF0000"/>
                </a:solidFill>
              </a:rPr>
              <a:t>T</a:t>
            </a:r>
            <a:r>
              <a:rPr lang="en-US" altLang="zh-CN" sz="2800" b="1" baseline="-25000" dirty="0" err="1">
                <a:solidFill>
                  <a:srgbClr val="FF0000"/>
                </a:solidFill>
              </a:rPr>
              <a:t>i</a:t>
            </a:r>
            <a:r>
              <a:rPr lang="en-US" altLang="zh-CN" sz="2800" b="1" baseline="-25000" dirty="0">
                <a:solidFill>
                  <a:srgbClr val="FF0000"/>
                </a:solidFill>
              </a:rPr>
              <a:t> </a:t>
            </a:r>
            <a:r>
              <a:rPr lang="zh-CN" altLang="en-US" sz="2800" b="1" dirty="0">
                <a:solidFill>
                  <a:srgbClr val="FF0000"/>
                </a:solidFill>
              </a:rPr>
              <a:t>之后</a:t>
            </a:r>
            <a:r>
              <a:rPr lang="zh-CN" altLang="en-US" sz="2800" b="1" dirty="0"/>
              <a:t>启动的</a:t>
            </a:r>
            <a:r>
              <a:rPr lang="zh-CN" altLang="en-US" sz="2800" b="1" dirty="0">
                <a:solidFill>
                  <a:srgbClr val="FF0000"/>
                </a:solidFill>
              </a:rPr>
              <a:t>事务</a:t>
            </a:r>
            <a:r>
              <a:rPr lang="en-US" altLang="zh-CN" sz="2800" dirty="0"/>
              <a:t>(</a:t>
            </a:r>
            <a:r>
              <a:rPr lang="zh-CN" altLang="en-US" sz="2800" dirty="0"/>
              <a:t>假设事务</a:t>
            </a:r>
            <a:r>
              <a:rPr lang="zh-CN" altLang="en-US" sz="2800" dirty="0">
                <a:solidFill>
                  <a:srgbClr val="0000FF"/>
                </a:solidFill>
                <a:effectLst>
                  <a:outerShdw blurRad="38100" dist="38100" dir="2700000" algn="tl">
                    <a:srgbClr val="000000">
                      <a:alpha val="43137"/>
                    </a:srgbClr>
                  </a:outerShdw>
                </a:effectLst>
              </a:rPr>
              <a:t>串行执行</a:t>
            </a:r>
            <a:r>
              <a:rPr lang="zh-CN" altLang="en-US" sz="2800" dirty="0"/>
              <a:t>下</a:t>
            </a:r>
            <a:r>
              <a:rPr lang="en-US" altLang="zh-CN" sz="2800" dirty="0"/>
              <a:t>)</a:t>
            </a:r>
            <a:r>
              <a:rPr lang="zh-CN" altLang="en-US" sz="2800" b="1" dirty="0">
                <a:solidFill>
                  <a:srgbClr val="FF0000"/>
                </a:solidFill>
              </a:rPr>
              <a:t>：</a:t>
            </a:r>
            <a:endParaRPr lang="en-US" altLang="zh-CN" sz="2800" b="1" dirty="0">
              <a:solidFill>
                <a:srgbClr val="FF0000"/>
              </a:solidFill>
            </a:endParaRPr>
          </a:p>
          <a:p>
            <a:pPr marL="857250" lvl="1" indent="-342900" eaLnBrk="1" hangingPunct="1">
              <a:lnSpc>
                <a:spcPct val="120000"/>
              </a:lnSpc>
              <a:buFont typeface="Wingdings" pitchFamily="2" charset="2"/>
              <a:buChar char="p"/>
            </a:pPr>
            <a:r>
              <a:rPr lang="zh-CN" altLang="en-US" sz="2000" dirty="0"/>
              <a:t>从日志末尾</a:t>
            </a:r>
            <a:r>
              <a:rPr lang="zh-CN" altLang="en-US" sz="2000" b="1" dirty="0">
                <a:solidFill>
                  <a:srgbClr val="0000FF"/>
                </a:solidFill>
              </a:rPr>
              <a:t>反向</a:t>
            </a:r>
            <a:r>
              <a:rPr lang="zh-CN" altLang="en-US" sz="2000" b="1" dirty="0"/>
              <a:t>扫描</a:t>
            </a:r>
            <a:r>
              <a:rPr lang="zh-CN" altLang="en-US" sz="2000" dirty="0"/>
              <a:t>，找到</a:t>
            </a:r>
            <a:r>
              <a:rPr lang="zh-CN" altLang="en-US" sz="2000" b="1" dirty="0">
                <a:solidFill>
                  <a:srgbClr val="0000FF"/>
                </a:solidFill>
              </a:rPr>
              <a:t>最近的</a:t>
            </a:r>
            <a:r>
              <a:rPr lang="en-US" altLang="zh-CN" sz="2000" b="1" dirty="0">
                <a:solidFill>
                  <a:srgbClr val="0000FF"/>
                </a:solidFill>
              </a:rPr>
              <a:t>&lt;checkpoint&gt;</a:t>
            </a:r>
            <a:r>
              <a:rPr lang="zh-CN" altLang="en-US" sz="2000" b="1" dirty="0">
                <a:solidFill>
                  <a:srgbClr val="0000FF"/>
                </a:solidFill>
              </a:rPr>
              <a:t>记录</a:t>
            </a:r>
            <a:endParaRPr lang="en-US" altLang="zh-CN" sz="2000" b="1" dirty="0">
              <a:solidFill>
                <a:srgbClr val="0000FF"/>
              </a:solidFill>
            </a:endParaRPr>
          </a:p>
          <a:p>
            <a:pPr marL="857250" lvl="1" indent="-342900" eaLnBrk="1" hangingPunct="1">
              <a:lnSpc>
                <a:spcPct val="120000"/>
              </a:lnSpc>
              <a:buFont typeface="Wingdings" pitchFamily="2" charset="2"/>
              <a:buChar char="p"/>
            </a:pPr>
            <a:r>
              <a:rPr lang="zh-CN" altLang="en-US" sz="2000" b="1" dirty="0"/>
              <a:t>继续反向扫描</a:t>
            </a:r>
            <a:r>
              <a:rPr lang="zh-CN" altLang="en-US" sz="2000" dirty="0"/>
              <a:t>直到找到</a:t>
            </a:r>
            <a:r>
              <a:rPr lang="zh-CN" altLang="en-US" sz="2000" dirty="0">
                <a:solidFill>
                  <a:srgbClr val="0000FF"/>
                </a:solidFill>
              </a:rPr>
              <a:t>一个</a:t>
            </a:r>
            <a:r>
              <a:rPr lang="en-US" altLang="zh-CN" sz="2000" b="1" i="1" dirty="0">
                <a:solidFill>
                  <a:srgbClr val="0000FF"/>
                </a:solidFill>
              </a:rPr>
              <a:t>&lt;</a:t>
            </a:r>
            <a:r>
              <a:rPr lang="en-US" altLang="zh-CN" sz="2000" b="1" dirty="0" err="1">
                <a:solidFill>
                  <a:srgbClr val="0000FF"/>
                </a:solidFill>
              </a:rPr>
              <a:t>T</a:t>
            </a:r>
            <a:r>
              <a:rPr lang="en-US" altLang="zh-CN" sz="2000" b="1" baseline="-25000" dirty="0" err="1">
                <a:solidFill>
                  <a:srgbClr val="0000FF"/>
                </a:solidFill>
              </a:rPr>
              <a:t>i</a:t>
            </a:r>
            <a:r>
              <a:rPr lang="en-US" altLang="zh-CN" sz="2000" b="1" dirty="0">
                <a:solidFill>
                  <a:srgbClr val="0000FF"/>
                </a:solidFill>
              </a:rPr>
              <a:t> start&gt;</a:t>
            </a:r>
            <a:r>
              <a:rPr lang="zh-CN" altLang="en-US" sz="2000" b="1" dirty="0">
                <a:solidFill>
                  <a:srgbClr val="0000FF"/>
                </a:solidFill>
              </a:rPr>
              <a:t>记录</a:t>
            </a:r>
            <a:endParaRPr lang="en-US" altLang="zh-CN" sz="2000" b="1" dirty="0">
              <a:solidFill>
                <a:srgbClr val="0000FF"/>
              </a:solidFill>
            </a:endParaRPr>
          </a:p>
          <a:p>
            <a:pPr marL="857250" lvl="1" indent="-342900" eaLnBrk="1" hangingPunct="1">
              <a:lnSpc>
                <a:spcPct val="120000"/>
              </a:lnSpc>
              <a:buFont typeface="Wingdings" pitchFamily="2" charset="2"/>
              <a:buChar char="p"/>
            </a:pPr>
            <a:r>
              <a:rPr lang="zh-CN" altLang="en-US" sz="2000" b="1" dirty="0">
                <a:solidFill>
                  <a:srgbClr val="0000FF"/>
                </a:solidFill>
              </a:rPr>
              <a:t>仅需考虑</a:t>
            </a:r>
            <a:r>
              <a:rPr lang="zh-CN" altLang="en-US" sz="2000" dirty="0"/>
              <a:t>日志中在</a:t>
            </a:r>
            <a:r>
              <a:rPr lang="zh-CN" altLang="en-US" sz="2000" b="1" dirty="0"/>
              <a:t>上面这条启动记录</a:t>
            </a:r>
            <a:r>
              <a:rPr lang="zh-CN" altLang="en-US" sz="2000" b="1" dirty="0">
                <a:solidFill>
                  <a:srgbClr val="0000FF"/>
                </a:solidFill>
              </a:rPr>
              <a:t>之后</a:t>
            </a:r>
            <a:r>
              <a:rPr lang="zh-CN" altLang="en-US" sz="2000" dirty="0"/>
              <a:t>的</a:t>
            </a:r>
            <a:r>
              <a:rPr lang="zh-CN" altLang="en-US" sz="2000" b="1" dirty="0"/>
              <a:t>部分</a:t>
            </a:r>
            <a:r>
              <a:rPr lang="zh-CN" altLang="en-US" sz="2000" dirty="0"/>
              <a:t>；</a:t>
            </a:r>
            <a:r>
              <a:rPr lang="zh-CN" altLang="en-US" sz="2000" b="1" dirty="0"/>
              <a:t>之前</a:t>
            </a:r>
            <a:r>
              <a:rPr lang="zh-CN" altLang="en-US" sz="2000" dirty="0"/>
              <a:t>的部分在</a:t>
            </a:r>
            <a:r>
              <a:rPr lang="zh-CN" altLang="en-US" sz="2000" b="1" dirty="0"/>
              <a:t>恢复时可以忽略</a:t>
            </a:r>
            <a:r>
              <a:rPr lang="zh-CN" altLang="en-US" sz="2000" dirty="0"/>
              <a:t>，如果必要随时可以删除；</a:t>
            </a:r>
            <a:endParaRPr lang="en-US" altLang="zh-CN" sz="2000" dirty="0"/>
          </a:p>
          <a:p>
            <a:pPr marL="857250" lvl="1" indent="-342900" eaLnBrk="1" hangingPunct="1">
              <a:lnSpc>
                <a:spcPct val="120000"/>
              </a:lnSpc>
              <a:buFont typeface="Wingdings" pitchFamily="2" charset="2"/>
              <a:buChar char="p"/>
            </a:pPr>
            <a:r>
              <a:rPr lang="zh-CN" altLang="en-US" sz="2000" dirty="0"/>
              <a:t>对所有</a:t>
            </a:r>
            <a:r>
              <a:rPr lang="zh-CN" altLang="en-US" sz="2000" b="1" dirty="0">
                <a:solidFill>
                  <a:srgbClr val="0000FF"/>
                </a:solidFill>
              </a:rPr>
              <a:t>没有</a:t>
            </a:r>
            <a:r>
              <a:rPr lang="en-US" altLang="zh-CN" sz="2000" b="1" i="1" dirty="0">
                <a:solidFill>
                  <a:srgbClr val="0000FF"/>
                </a:solidFill>
              </a:rPr>
              <a:t>&lt;</a:t>
            </a:r>
            <a:r>
              <a:rPr lang="en-US" altLang="zh-CN" sz="2000" b="1" i="1" dirty="0" err="1">
                <a:solidFill>
                  <a:srgbClr val="0000FF"/>
                </a:solidFill>
              </a:rPr>
              <a:t>T</a:t>
            </a:r>
            <a:r>
              <a:rPr lang="en-US" altLang="zh-CN" sz="2000" b="1" i="1" baseline="-25000" dirty="0" err="1">
                <a:solidFill>
                  <a:srgbClr val="0000FF"/>
                </a:solidFill>
              </a:rPr>
              <a:t>j</a:t>
            </a:r>
            <a:r>
              <a:rPr lang="en-US" altLang="zh-CN" sz="2000" b="1" dirty="0">
                <a:solidFill>
                  <a:srgbClr val="0000FF"/>
                </a:solidFill>
              </a:rPr>
              <a:t>  commit</a:t>
            </a:r>
            <a:r>
              <a:rPr lang="en-US" altLang="zh-CN" sz="2000" b="1" i="1" dirty="0">
                <a:solidFill>
                  <a:srgbClr val="0000FF"/>
                </a:solidFill>
              </a:rPr>
              <a:t>&gt;</a:t>
            </a:r>
            <a:r>
              <a:rPr lang="zh-CN" altLang="en-US" sz="2000" dirty="0"/>
              <a:t>的事务</a:t>
            </a:r>
            <a:r>
              <a:rPr lang="en-US" altLang="zh-CN" sz="2000" dirty="0"/>
              <a:t>(</a:t>
            </a:r>
            <a:r>
              <a:rPr lang="en-US" altLang="zh-CN" sz="2000" i="1" dirty="0" err="1"/>
              <a:t>T</a:t>
            </a:r>
            <a:r>
              <a:rPr lang="en-US" altLang="zh-CN" sz="2000" i="1" baseline="-25000" dirty="0" err="1"/>
              <a:t>i</a:t>
            </a:r>
            <a:r>
              <a:rPr lang="en-US" altLang="zh-CN" sz="2000" i="1" dirty="0"/>
              <a:t> </a:t>
            </a:r>
            <a:r>
              <a:rPr lang="zh-CN" altLang="en-US" sz="2000" i="1" dirty="0"/>
              <a:t>或更晚的事务</a:t>
            </a:r>
            <a:r>
              <a:rPr lang="en-US" altLang="zh-CN" sz="2000" dirty="0"/>
              <a:t>)</a:t>
            </a:r>
            <a:r>
              <a:rPr lang="zh-CN" altLang="en-US" sz="2000" dirty="0"/>
              <a:t>，</a:t>
            </a:r>
            <a:r>
              <a:rPr lang="zh-CN" altLang="en-US" sz="2000" b="1" dirty="0">
                <a:solidFill>
                  <a:srgbClr val="FF0000"/>
                </a:solidFill>
              </a:rPr>
              <a:t>执行</a:t>
            </a:r>
            <a:r>
              <a:rPr lang="en-US" altLang="zh-CN" sz="2000" b="1" dirty="0">
                <a:solidFill>
                  <a:srgbClr val="FF0000"/>
                </a:solidFill>
              </a:rPr>
              <a:t>undo(</a:t>
            </a:r>
            <a:r>
              <a:rPr lang="en-US" altLang="zh-CN" sz="2000" b="1" dirty="0" err="1">
                <a:solidFill>
                  <a:srgbClr val="FF0000"/>
                </a:solidFill>
              </a:rPr>
              <a:t>T</a:t>
            </a:r>
            <a:r>
              <a:rPr lang="en-US" altLang="zh-CN" sz="2000" b="1" baseline="-25000" dirty="0" err="1">
                <a:solidFill>
                  <a:srgbClr val="FF0000"/>
                </a:solidFill>
              </a:rPr>
              <a:t>j</a:t>
            </a:r>
            <a:r>
              <a:rPr lang="en-US" altLang="zh-CN" sz="2000" b="1" dirty="0">
                <a:solidFill>
                  <a:srgbClr val="FF0000"/>
                </a:solidFill>
              </a:rPr>
              <a:t>)</a:t>
            </a:r>
            <a:r>
              <a:rPr lang="zh-CN" altLang="en-US" sz="2000" i="1" dirty="0"/>
              <a:t>，</a:t>
            </a:r>
            <a:r>
              <a:rPr lang="en-US" altLang="zh-CN" sz="2000" dirty="0"/>
              <a:t>(</a:t>
            </a:r>
            <a:r>
              <a:rPr lang="zh-CN" altLang="en-US" sz="2000" dirty="0"/>
              <a:t>仅当立即更新数据库时才如此</a:t>
            </a:r>
            <a:r>
              <a:rPr lang="en-US" altLang="zh-CN" sz="2000" dirty="0"/>
              <a:t>)</a:t>
            </a:r>
          </a:p>
          <a:p>
            <a:pPr marL="857250" lvl="1" indent="-342900">
              <a:lnSpc>
                <a:spcPct val="120000"/>
              </a:lnSpc>
              <a:buFont typeface="Wingdings" pitchFamily="2" charset="2"/>
              <a:buChar char="p"/>
            </a:pPr>
            <a:r>
              <a:rPr lang="zh-CN" altLang="en-US" sz="2000" b="1" dirty="0"/>
              <a:t>正向扫描日志</a:t>
            </a:r>
            <a:r>
              <a:rPr lang="zh-CN" altLang="en-US" sz="2000" dirty="0"/>
              <a:t>，对所有</a:t>
            </a:r>
            <a:r>
              <a:rPr lang="zh-CN" altLang="en-US" sz="2000" b="1" dirty="0">
                <a:solidFill>
                  <a:srgbClr val="0000FF"/>
                </a:solidFill>
              </a:rPr>
              <a:t>有</a:t>
            </a:r>
            <a:r>
              <a:rPr lang="en-US" altLang="zh-CN" sz="2000" b="1" i="1" dirty="0">
                <a:solidFill>
                  <a:srgbClr val="0000FF"/>
                </a:solidFill>
              </a:rPr>
              <a:t>&lt;</a:t>
            </a:r>
            <a:r>
              <a:rPr lang="en-US" altLang="zh-CN" sz="2000" b="1" i="1" dirty="0" err="1">
                <a:solidFill>
                  <a:srgbClr val="0000FF"/>
                </a:solidFill>
              </a:rPr>
              <a:t>T</a:t>
            </a:r>
            <a:r>
              <a:rPr lang="en-US" altLang="zh-CN" sz="2000" b="1" i="1" baseline="-25000" dirty="0" err="1">
                <a:solidFill>
                  <a:srgbClr val="0000FF"/>
                </a:solidFill>
              </a:rPr>
              <a:t>j</a:t>
            </a:r>
            <a:r>
              <a:rPr lang="en-US" altLang="zh-CN" sz="2000" b="1" dirty="0">
                <a:solidFill>
                  <a:srgbClr val="0000FF"/>
                </a:solidFill>
              </a:rPr>
              <a:t>  commit</a:t>
            </a:r>
            <a:r>
              <a:rPr lang="en-US" altLang="zh-CN" sz="2000" b="1" i="1" dirty="0">
                <a:solidFill>
                  <a:srgbClr val="0000FF"/>
                </a:solidFill>
              </a:rPr>
              <a:t>&gt;</a:t>
            </a:r>
            <a:r>
              <a:rPr lang="zh-CN" altLang="en-US" sz="2000" dirty="0"/>
              <a:t>的事务</a:t>
            </a:r>
            <a:r>
              <a:rPr lang="en-US" altLang="zh-CN" sz="2000" dirty="0"/>
              <a:t>(</a:t>
            </a:r>
            <a:r>
              <a:rPr lang="en-US" altLang="zh-CN" sz="2000" i="1" dirty="0"/>
              <a:t>T</a:t>
            </a:r>
            <a:r>
              <a:rPr lang="en-US" altLang="zh-CN" sz="2000" i="1" baseline="-25000" dirty="0"/>
              <a:t>i </a:t>
            </a:r>
            <a:r>
              <a:rPr lang="zh-CN" altLang="en-US" sz="2000" i="1" dirty="0"/>
              <a:t>或更晚的事务</a:t>
            </a:r>
            <a:r>
              <a:rPr lang="en-US" altLang="zh-CN" sz="2000" dirty="0"/>
              <a:t>)</a:t>
            </a:r>
            <a:r>
              <a:rPr lang="zh-CN" altLang="en-US" sz="2000" dirty="0"/>
              <a:t>，</a:t>
            </a:r>
            <a:r>
              <a:rPr lang="zh-CN" altLang="en-US" sz="2000" b="1" dirty="0">
                <a:solidFill>
                  <a:srgbClr val="FF0000"/>
                </a:solidFill>
              </a:rPr>
              <a:t>执行</a:t>
            </a:r>
            <a:r>
              <a:rPr lang="en-US" altLang="zh-CN" sz="2000" b="1" dirty="0">
                <a:solidFill>
                  <a:srgbClr val="FF0000"/>
                </a:solidFill>
              </a:rPr>
              <a:t>redo(</a:t>
            </a:r>
            <a:r>
              <a:rPr lang="en-US" altLang="zh-CN" sz="2000" b="1" dirty="0" err="1">
                <a:solidFill>
                  <a:srgbClr val="FF0000"/>
                </a:solidFill>
              </a:rPr>
              <a:t>T</a:t>
            </a:r>
            <a:r>
              <a:rPr lang="en-US" altLang="zh-CN" sz="2000" b="1" baseline="-25000" dirty="0" err="1">
                <a:solidFill>
                  <a:srgbClr val="FF0000"/>
                </a:solidFill>
              </a:rPr>
              <a:t>j</a:t>
            </a:r>
            <a:r>
              <a:rPr lang="en-US" altLang="zh-CN" sz="2000" b="1" dirty="0">
                <a:solidFill>
                  <a:srgbClr val="FF0000"/>
                </a:solidFill>
              </a:rPr>
              <a:t>)</a:t>
            </a:r>
          </a:p>
        </p:txBody>
      </p:sp>
      <p:sp>
        <p:nvSpPr>
          <p:cNvPr id="2" name="日期占位符 1">
            <a:extLst>
              <a:ext uri="{FF2B5EF4-FFF2-40B4-BE49-F238E27FC236}">
                <a16:creationId xmlns:a16="http://schemas.microsoft.com/office/drawing/2014/main" id="{879C236D-E9CB-53EE-1C33-947C1AD4295D}"/>
              </a:ext>
            </a:extLst>
          </p:cNvPr>
          <p:cNvSpPr>
            <a:spLocks noGrp="1"/>
          </p:cNvSpPr>
          <p:nvPr>
            <p:ph type="dt" sz="half" idx="10"/>
          </p:nvPr>
        </p:nvSpPr>
        <p:spPr/>
        <p:txBody>
          <a:bodyPr/>
          <a:lstStyle/>
          <a:p>
            <a:fld id="{1DDD2B92-E222-4164-9F34-68333AB54432}"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B23FAC8D-3246-8965-743E-1165236C845B}"/>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EA6CD3AD-6320-0E9E-5D7E-D7272CD9517D}"/>
              </a:ext>
            </a:extLst>
          </p:cNvPr>
          <p:cNvSpPr>
            <a:spLocks noGrp="1"/>
          </p:cNvSpPr>
          <p:nvPr>
            <p:ph type="sldNum" sz="quarter" idx="12"/>
          </p:nvPr>
        </p:nvSpPr>
        <p:spPr/>
        <p:txBody>
          <a:bodyPr/>
          <a:lstStyle/>
          <a:p>
            <a:fld id="{AB1F7240-85F2-492B-84D8-762EF0110923}" type="slidenum">
              <a:rPr lang="en-US" altLang="zh-CN" smtClean="0"/>
              <a:pPr/>
              <a:t>48</a:t>
            </a:fld>
            <a:r>
              <a:rPr lang="en-US" altLang="zh-CN"/>
              <a:t>/67</a:t>
            </a:r>
            <a:endParaRPr lang="zh-CN" altLang="en-US" dirty="0"/>
          </a:p>
        </p:txBody>
      </p:sp>
    </p:spTree>
    <p:extLst>
      <p:ext uri="{BB962C8B-B14F-4D97-AF65-F5344CB8AC3E}">
        <p14:creationId xmlns:p14="http://schemas.microsoft.com/office/powerpoint/2010/main" val="149973814"/>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hangingPunct="1"/>
            <a:r>
              <a:rPr lang="zh-CN" altLang="en-US"/>
              <a:t>检查点示例</a:t>
            </a:r>
            <a:endParaRPr lang="en-US" altLang="zh-CN"/>
          </a:p>
        </p:txBody>
      </p:sp>
      <p:sp>
        <p:nvSpPr>
          <p:cNvPr id="581635" name="Rectangle 3"/>
          <p:cNvSpPr>
            <a:spLocks noGrp="1" noChangeArrowheads="1"/>
          </p:cNvSpPr>
          <p:nvPr>
            <p:ph type="body" idx="4294967295"/>
          </p:nvPr>
        </p:nvSpPr>
        <p:spPr>
          <a:xfrm>
            <a:off x="571500" y="1333500"/>
            <a:ext cx="8267700" cy="5000625"/>
          </a:xfrm>
        </p:spPr>
        <p:txBody>
          <a:bodyPr/>
          <a:lstStyle/>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r>
              <a:rPr lang="en-US" altLang="zh-CN" sz="2400" i="1" dirty="0"/>
              <a:t>T</a:t>
            </a:r>
            <a:r>
              <a:rPr lang="en-US" altLang="zh-CN" sz="2400" baseline="-25000" dirty="0"/>
              <a:t>1</a:t>
            </a:r>
            <a:r>
              <a:rPr lang="en-US" altLang="zh-CN" sz="2400" dirty="0"/>
              <a:t> </a:t>
            </a:r>
            <a:r>
              <a:rPr lang="zh-CN" altLang="en-US" sz="2400" dirty="0"/>
              <a:t>可以忽略</a:t>
            </a:r>
            <a:r>
              <a:rPr lang="en-US" altLang="zh-CN" sz="2400" dirty="0"/>
              <a:t> (</a:t>
            </a:r>
            <a:r>
              <a:rPr lang="zh-CN" altLang="en-US" sz="2400" dirty="0"/>
              <a:t>由于检查点，其更新已经输出到磁盘</a:t>
            </a:r>
            <a:r>
              <a:rPr lang="en-US" altLang="zh-CN" sz="2400" dirty="0"/>
              <a:t>)</a:t>
            </a:r>
          </a:p>
          <a:p>
            <a:r>
              <a:rPr lang="en-US" altLang="zh-CN" sz="2400" b="1" dirty="0">
                <a:solidFill>
                  <a:srgbClr val="0000FF"/>
                </a:solidFill>
              </a:rPr>
              <a:t>Undo T</a:t>
            </a:r>
            <a:r>
              <a:rPr lang="en-US" altLang="zh-CN" sz="2400" b="1" baseline="-25000" dirty="0">
                <a:solidFill>
                  <a:srgbClr val="0000FF"/>
                </a:solidFill>
              </a:rPr>
              <a:t>4</a:t>
            </a:r>
            <a:r>
              <a:rPr lang="en-US" altLang="zh-CN" sz="2400" b="1" dirty="0">
                <a:solidFill>
                  <a:srgbClr val="0000FF"/>
                </a:solidFill>
              </a:rPr>
              <a:t> </a:t>
            </a:r>
          </a:p>
          <a:p>
            <a:r>
              <a:rPr lang="en-US" altLang="zh-CN" sz="2400" b="1" dirty="0">
                <a:solidFill>
                  <a:srgbClr val="0000FF"/>
                </a:solidFill>
              </a:rPr>
              <a:t>Redo T</a:t>
            </a:r>
            <a:r>
              <a:rPr lang="en-US" altLang="zh-CN" sz="2400" b="1" baseline="-25000" dirty="0">
                <a:solidFill>
                  <a:srgbClr val="0000FF"/>
                </a:solidFill>
              </a:rPr>
              <a:t>2</a:t>
            </a:r>
            <a:r>
              <a:rPr lang="en-US" altLang="zh-CN" sz="2400" b="1" dirty="0">
                <a:solidFill>
                  <a:srgbClr val="0000FF"/>
                </a:solidFill>
              </a:rPr>
              <a:t> </a:t>
            </a:r>
            <a:r>
              <a:rPr lang="zh-CN" altLang="en-US" sz="2400" b="1" dirty="0">
                <a:solidFill>
                  <a:srgbClr val="0000FF"/>
                </a:solidFill>
              </a:rPr>
              <a:t>和</a:t>
            </a:r>
            <a:r>
              <a:rPr lang="en-US" altLang="zh-CN" sz="2400" b="1" dirty="0">
                <a:solidFill>
                  <a:srgbClr val="0000FF"/>
                </a:solidFill>
              </a:rPr>
              <a:t> T</a:t>
            </a:r>
            <a:r>
              <a:rPr lang="en-US" altLang="zh-CN" sz="2400" b="1" baseline="-25000" dirty="0">
                <a:solidFill>
                  <a:srgbClr val="0000FF"/>
                </a:solidFill>
              </a:rPr>
              <a:t>3</a:t>
            </a:r>
            <a:r>
              <a:rPr lang="en-US" altLang="zh-CN" sz="2400" b="1" dirty="0">
                <a:solidFill>
                  <a:srgbClr val="0000FF"/>
                </a:solidFill>
              </a:rPr>
              <a:t> </a:t>
            </a:r>
          </a:p>
          <a:p>
            <a:pPr eaLnBrk="1" hangingPunct="1"/>
            <a:endParaRPr lang="en-US" altLang="zh-CN" sz="2400" b="1" dirty="0">
              <a:solidFill>
                <a:srgbClr val="0000FF"/>
              </a:solidFill>
            </a:endParaRPr>
          </a:p>
        </p:txBody>
      </p:sp>
      <p:sp>
        <p:nvSpPr>
          <p:cNvPr id="32773" name="Line 4"/>
          <p:cNvSpPr>
            <a:spLocks noChangeShapeType="1"/>
          </p:cNvSpPr>
          <p:nvPr/>
        </p:nvSpPr>
        <p:spPr bwMode="auto">
          <a:xfrm>
            <a:off x="1614488" y="1890713"/>
            <a:ext cx="5638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4" name="Line 5"/>
          <p:cNvSpPr>
            <a:spLocks noChangeShapeType="1"/>
          </p:cNvSpPr>
          <p:nvPr/>
        </p:nvSpPr>
        <p:spPr bwMode="auto">
          <a:xfrm>
            <a:off x="2909888" y="1890713"/>
            <a:ext cx="0" cy="2209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5" name="Line 6"/>
          <p:cNvSpPr>
            <a:spLocks noChangeShapeType="1"/>
          </p:cNvSpPr>
          <p:nvPr/>
        </p:nvSpPr>
        <p:spPr bwMode="auto">
          <a:xfrm>
            <a:off x="5881688" y="1890713"/>
            <a:ext cx="0" cy="2209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6" name="Text Box 7"/>
          <p:cNvSpPr txBox="1">
            <a:spLocks noChangeArrowheads="1"/>
          </p:cNvSpPr>
          <p:nvPr/>
        </p:nvSpPr>
        <p:spPr bwMode="auto">
          <a:xfrm>
            <a:off x="2718436" y="1514475"/>
            <a:ext cx="39831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dirty="0">
                <a:solidFill>
                  <a:srgbClr val="0000FF"/>
                </a:solidFill>
                <a:latin typeface="Helvetica" pitchFamily="34" charset="0"/>
              </a:rPr>
              <a:t>T</a:t>
            </a:r>
            <a:r>
              <a:rPr lang="en-US" altLang="zh-CN" sz="2000" b="0" baseline="-25000" dirty="0">
                <a:solidFill>
                  <a:srgbClr val="0000FF"/>
                </a:solidFill>
                <a:latin typeface="Helvetica" pitchFamily="34" charset="0"/>
              </a:rPr>
              <a:t>c</a:t>
            </a:r>
            <a:endParaRPr lang="en-US" altLang="zh-CN" sz="2000" b="0" dirty="0">
              <a:solidFill>
                <a:srgbClr val="0000FF"/>
              </a:solidFill>
              <a:latin typeface="Helvetica" pitchFamily="34" charset="0"/>
            </a:endParaRPr>
          </a:p>
        </p:txBody>
      </p:sp>
      <p:sp>
        <p:nvSpPr>
          <p:cNvPr id="32777" name="Text Box 8"/>
          <p:cNvSpPr txBox="1">
            <a:spLocks noChangeArrowheads="1"/>
          </p:cNvSpPr>
          <p:nvPr/>
        </p:nvSpPr>
        <p:spPr bwMode="auto">
          <a:xfrm>
            <a:off x="5659438" y="1497013"/>
            <a:ext cx="3857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a:latin typeface="Helvetica" pitchFamily="34" charset="0"/>
              </a:rPr>
              <a:t>T</a:t>
            </a:r>
            <a:r>
              <a:rPr lang="en-US" altLang="zh-CN" sz="2000" b="0" i="0" baseline="-25000">
                <a:latin typeface="Helvetica" pitchFamily="34" charset="0"/>
              </a:rPr>
              <a:t>f</a:t>
            </a:r>
            <a:endParaRPr lang="en-US" altLang="zh-CN" sz="2000" b="0">
              <a:latin typeface="Helvetica" pitchFamily="34" charset="0"/>
            </a:endParaRPr>
          </a:p>
        </p:txBody>
      </p:sp>
      <p:sp>
        <p:nvSpPr>
          <p:cNvPr id="32778" name="Line 9"/>
          <p:cNvSpPr>
            <a:spLocks noChangeShapeType="1"/>
          </p:cNvSpPr>
          <p:nvPr/>
        </p:nvSpPr>
        <p:spPr bwMode="auto">
          <a:xfrm>
            <a:off x="1690688" y="2271713"/>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9" name="Line 10"/>
          <p:cNvSpPr>
            <a:spLocks noChangeShapeType="1"/>
          </p:cNvSpPr>
          <p:nvPr/>
        </p:nvSpPr>
        <p:spPr bwMode="auto">
          <a:xfrm>
            <a:off x="1690688" y="2347913"/>
            <a:ext cx="76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0" name="Line 11"/>
          <p:cNvSpPr>
            <a:spLocks noChangeShapeType="1"/>
          </p:cNvSpPr>
          <p:nvPr/>
        </p:nvSpPr>
        <p:spPr bwMode="auto">
          <a:xfrm>
            <a:off x="2452688" y="2271713"/>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1" name="Line 12"/>
          <p:cNvSpPr>
            <a:spLocks noChangeShapeType="1"/>
          </p:cNvSpPr>
          <p:nvPr/>
        </p:nvSpPr>
        <p:spPr bwMode="auto">
          <a:xfrm>
            <a:off x="2757488" y="2652713"/>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2" name="Line 13"/>
          <p:cNvSpPr>
            <a:spLocks noChangeShapeType="1"/>
          </p:cNvSpPr>
          <p:nvPr/>
        </p:nvSpPr>
        <p:spPr bwMode="auto">
          <a:xfrm>
            <a:off x="2757488" y="2728913"/>
            <a:ext cx="76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3" name="Line 14"/>
          <p:cNvSpPr>
            <a:spLocks noChangeShapeType="1"/>
          </p:cNvSpPr>
          <p:nvPr/>
        </p:nvSpPr>
        <p:spPr bwMode="auto">
          <a:xfrm>
            <a:off x="3519488" y="2652713"/>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4" name="Line 15"/>
          <p:cNvSpPr>
            <a:spLocks noChangeShapeType="1"/>
          </p:cNvSpPr>
          <p:nvPr/>
        </p:nvSpPr>
        <p:spPr bwMode="auto">
          <a:xfrm>
            <a:off x="3976688" y="3033713"/>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5" name="Line 16"/>
          <p:cNvSpPr>
            <a:spLocks noChangeShapeType="1"/>
          </p:cNvSpPr>
          <p:nvPr/>
        </p:nvSpPr>
        <p:spPr bwMode="auto">
          <a:xfrm>
            <a:off x="3976688" y="3109913"/>
            <a:ext cx="76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6" name="Line 17"/>
          <p:cNvSpPr>
            <a:spLocks noChangeShapeType="1"/>
          </p:cNvSpPr>
          <p:nvPr/>
        </p:nvSpPr>
        <p:spPr bwMode="auto">
          <a:xfrm>
            <a:off x="4738688" y="3033713"/>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7" name="Line 18"/>
          <p:cNvSpPr>
            <a:spLocks noChangeShapeType="1"/>
          </p:cNvSpPr>
          <p:nvPr/>
        </p:nvSpPr>
        <p:spPr bwMode="auto">
          <a:xfrm>
            <a:off x="5119688" y="3490913"/>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8" name="Line 19"/>
          <p:cNvSpPr>
            <a:spLocks noChangeShapeType="1"/>
          </p:cNvSpPr>
          <p:nvPr/>
        </p:nvSpPr>
        <p:spPr bwMode="auto">
          <a:xfrm>
            <a:off x="5119688" y="3567113"/>
            <a:ext cx="76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9" name="Line 20"/>
          <p:cNvSpPr>
            <a:spLocks noChangeShapeType="1"/>
          </p:cNvSpPr>
          <p:nvPr/>
        </p:nvSpPr>
        <p:spPr bwMode="auto">
          <a:xfrm>
            <a:off x="5881688" y="3490913"/>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0" name="Text Box 21"/>
          <p:cNvSpPr txBox="1">
            <a:spLocks noChangeArrowheads="1"/>
          </p:cNvSpPr>
          <p:nvPr/>
        </p:nvSpPr>
        <p:spPr bwMode="auto">
          <a:xfrm>
            <a:off x="1979613" y="1978025"/>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a:latin typeface="Helvetica" pitchFamily="34" charset="0"/>
              </a:rPr>
              <a:t>T</a:t>
            </a:r>
            <a:r>
              <a:rPr lang="en-US" altLang="zh-CN" sz="2000" b="0" i="0" baseline="-25000">
                <a:latin typeface="Helvetica" pitchFamily="34" charset="0"/>
              </a:rPr>
              <a:t>1</a:t>
            </a:r>
            <a:endParaRPr lang="en-US" altLang="zh-CN" sz="2000" b="0">
              <a:latin typeface="Helvetica" pitchFamily="34" charset="0"/>
            </a:endParaRPr>
          </a:p>
        </p:txBody>
      </p:sp>
      <p:sp>
        <p:nvSpPr>
          <p:cNvPr id="32791" name="Text Box 22"/>
          <p:cNvSpPr txBox="1">
            <a:spLocks noChangeArrowheads="1"/>
          </p:cNvSpPr>
          <p:nvPr/>
        </p:nvSpPr>
        <p:spPr bwMode="auto">
          <a:xfrm>
            <a:off x="2913063" y="2341563"/>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a:latin typeface="Helvetica" pitchFamily="34" charset="0"/>
              </a:rPr>
              <a:t>T</a:t>
            </a:r>
            <a:r>
              <a:rPr lang="en-US" altLang="zh-CN" sz="2000" b="0" i="0" baseline="-25000">
                <a:latin typeface="Helvetica" pitchFamily="34" charset="0"/>
              </a:rPr>
              <a:t>2</a:t>
            </a:r>
            <a:endParaRPr lang="en-US" altLang="zh-CN" sz="2000" b="0">
              <a:latin typeface="Helvetica" pitchFamily="34" charset="0"/>
            </a:endParaRPr>
          </a:p>
        </p:txBody>
      </p:sp>
      <p:sp>
        <p:nvSpPr>
          <p:cNvPr id="32792" name="Text Box 23"/>
          <p:cNvSpPr txBox="1">
            <a:spLocks noChangeArrowheads="1"/>
          </p:cNvSpPr>
          <p:nvPr/>
        </p:nvSpPr>
        <p:spPr bwMode="auto">
          <a:xfrm>
            <a:off x="4132263" y="2722563"/>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a:latin typeface="Helvetica" pitchFamily="34" charset="0"/>
              </a:rPr>
              <a:t>T</a:t>
            </a:r>
            <a:r>
              <a:rPr lang="en-US" altLang="zh-CN" sz="2000" b="0" i="0" baseline="-25000">
                <a:latin typeface="Helvetica" pitchFamily="34" charset="0"/>
              </a:rPr>
              <a:t>3</a:t>
            </a:r>
            <a:endParaRPr lang="en-US" altLang="zh-CN" sz="2000" b="0">
              <a:latin typeface="Helvetica" pitchFamily="34" charset="0"/>
            </a:endParaRPr>
          </a:p>
        </p:txBody>
      </p:sp>
      <p:sp>
        <p:nvSpPr>
          <p:cNvPr id="32793" name="Text Box 24"/>
          <p:cNvSpPr txBox="1">
            <a:spLocks noChangeArrowheads="1"/>
          </p:cNvSpPr>
          <p:nvPr/>
        </p:nvSpPr>
        <p:spPr bwMode="auto">
          <a:xfrm>
            <a:off x="5351463" y="3179763"/>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en-US" altLang="zh-CN" sz="2000" b="0">
                <a:latin typeface="Helvetica" pitchFamily="34" charset="0"/>
              </a:rPr>
              <a:t>T</a:t>
            </a:r>
            <a:r>
              <a:rPr lang="en-US" altLang="zh-CN" sz="2000" b="0" i="0" baseline="-25000">
                <a:latin typeface="Helvetica" pitchFamily="34" charset="0"/>
              </a:rPr>
              <a:t>4</a:t>
            </a:r>
            <a:endParaRPr lang="en-US" altLang="zh-CN" sz="2000" b="0">
              <a:latin typeface="Helvetica" pitchFamily="34" charset="0"/>
            </a:endParaRPr>
          </a:p>
        </p:txBody>
      </p:sp>
      <p:sp>
        <p:nvSpPr>
          <p:cNvPr id="32794" name="Text Box 25"/>
          <p:cNvSpPr txBox="1">
            <a:spLocks noChangeArrowheads="1"/>
          </p:cNvSpPr>
          <p:nvPr/>
        </p:nvSpPr>
        <p:spPr bwMode="auto">
          <a:xfrm>
            <a:off x="2376488" y="409575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zh-CN" altLang="en-US" sz="2000" b="0" i="0">
                <a:latin typeface="Helvetica" pitchFamily="34" charset="0"/>
              </a:rPr>
              <a:t>检查点</a:t>
            </a:r>
            <a:endParaRPr lang="en-US" altLang="zh-CN" sz="2000" b="0" i="0">
              <a:latin typeface="Helvetica" pitchFamily="34" charset="0"/>
            </a:endParaRPr>
          </a:p>
        </p:txBody>
      </p:sp>
      <p:sp>
        <p:nvSpPr>
          <p:cNvPr id="32795" name="Text Box 26"/>
          <p:cNvSpPr txBox="1">
            <a:spLocks noChangeArrowheads="1"/>
          </p:cNvSpPr>
          <p:nvPr/>
        </p:nvSpPr>
        <p:spPr bwMode="auto">
          <a:xfrm>
            <a:off x="5119688" y="4071938"/>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itchFamily="2" charset="2"/>
              <a:buChar char="¡"/>
              <a:defRPr sz="2900" b="1">
                <a:solidFill>
                  <a:schemeClr val="tx1"/>
                </a:solidFill>
                <a:latin typeface="Verdana" pitchFamily="34" charset="0"/>
                <a:ea typeface="宋体" charset="-122"/>
              </a:defRPr>
            </a:lvl1pPr>
            <a:lvl2pPr marL="742950" indent="-285750">
              <a:spcBef>
                <a:spcPct val="20000"/>
              </a:spcBef>
              <a:buClr>
                <a:schemeClr val="accent2"/>
              </a:buClr>
              <a:buSzPct val="70000"/>
              <a:buFont typeface="Wingdings" pitchFamily="2" charset="2"/>
              <a:buChar char="l"/>
              <a:defRPr sz="2500" b="1">
                <a:solidFill>
                  <a:schemeClr val="tx1"/>
                </a:solidFill>
                <a:latin typeface="Verdana" pitchFamily="34" charset="0"/>
                <a:ea typeface="宋体" charset="-122"/>
              </a:defRPr>
            </a:lvl2pPr>
            <a:lvl3pPr marL="1143000" indent="-228600">
              <a:spcBef>
                <a:spcPct val="20000"/>
              </a:spcBef>
              <a:buClr>
                <a:schemeClr val="tx2"/>
              </a:buClr>
              <a:buSzPct val="65000"/>
              <a:buFont typeface="Wingdings" pitchFamily="2" charset="2"/>
              <a:buChar char="¡"/>
              <a:defRPr sz="2200" b="1">
                <a:solidFill>
                  <a:schemeClr val="tx1"/>
                </a:solidFill>
                <a:latin typeface="Verdana" pitchFamily="34" charset="0"/>
                <a:ea typeface="宋体" charset="-122"/>
              </a:defRPr>
            </a:lvl3pPr>
            <a:lvl4pPr marL="1600200" indent="-228600">
              <a:spcBef>
                <a:spcPct val="20000"/>
              </a:spcBef>
              <a:buClr>
                <a:schemeClr val="accent2"/>
              </a:buClr>
              <a:buSzPct val="70000"/>
              <a:buFont typeface="Wingdings" pitchFamily="2" charset="2"/>
              <a:buChar char="l"/>
              <a:defRPr sz="1900" b="1">
                <a:solidFill>
                  <a:schemeClr val="tx1"/>
                </a:solidFill>
                <a:latin typeface="Verdana" pitchFamily="34" charset="0"/>
                <a:ea typeface="宋体" charset="-122"/>
              </a:defRPr>
            </a:lvl4pPr>
            <a:lvl5pPr marL="2057400" indent="-228600">
              <a:spcBef>
                <a:spcPct val="20000"/>
              </a:spcBef>
              <a:buClr>
                <a:schemeClr val="tx2"/>
              </a:buClr>
              <a:buSzPct val="60000"/>
              <a:buFont typeface="Wingdings" pitchFamily="2" charset="2"/>
              <a:buChar char="¡"/>
              <a:defRPr sz="1900" b="1">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tx2"/>
              </a:buClr>
              <a:buSzPct val="60000"/>
              <a:buFont typeface="Wingdings" pitchFamily="2" charset="2"/>
              <a:buChar char="¡"/>
              <a:defRPr sz="1900" b="1">
                <a:solidFill>
                  <a:schemeClr val="tx1"/>
                </a:solidFill>
                <a:latin typeface="Verdana" pitchFamily="34" charset="0"/>
                <a:ea typeface="宋体" charset="-122"/>
              </a:defRPr>
            </a:lvl9pPr>
          </a:lstStyle>
          <a:p>
            <a:pPr>
              <a:spcBef>
                <a:spcPct val="0"/>
              </a:spcBef>
              <a:buClrTx/>
              <a:buSzTx/>
              <a:buFontTx/>
              <a:buNone/>
            </a:pPr>
            <a:r>
              <a:rPr lang="zh-CN" altLang="en-US" sz="2000" b="0" i="0">
                <a:latin typeface="Helvetica" pitchFamily="34" charset="0"/>
              </a:rPr>
              <a:t>系统故障</a:t>
            </a:r>
            <a:endParaRPr lang="en-US" altLang="zh-CN" sz="2000" b="0" i="0">
              <a:latin typeface="Helvetica" pitchFamily="34" charset="0"/>
            </a:endParaRPr>
          </a:p>
        </p:txBody>
      </p:sp>
      <p:sp>
        <p:nvSpPr>
          <p:cNvPr id="2" name="TextBox 1"/>
          <p:cNvSpPr txBox="1"/>
          <p:nvPr/>
        </p:nvSpPr>
        <p:spPr>
          <a:xfrm>
            <a:off x="3086735" y="1035769"/>
            <a:ext cx="2954655" cy="4247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2400" dirty="0"/>
              <a:t>假设事务串行执行下</a:t>
            </a:r>
            <a:endParaRPr lang="zh-CN" altLang="en-US" b="1" dirty="0"/>
          </a:p>
        </p:txBody>
      </p:sp>
      <p:sp>
        <p:nvSpPr>
          <p:cNvPr id="3" name="日期占位符 2">
            <a:extLst>
              <a:ext uri="{FF2B5EF4-FFF2-40B4-BE49-F238E27FC236}">
                <a16:creationId xmlns:a16="http://schemas.microsoft.com/office/drawing/2014/main" id="{353B3DA2-8753-64D4-627E-CD2822A130FB}"/>
              </a:ext>
            </a:extLst>
          </p:cNvPr>
          <p:cNvSpPr>
            <a:spLocks noGrp="1"/>
          </p:cNvSpPr>
          <p:nvPr>
            <p:ph type="dt" sz="half" idx="10"/>
          </p:nvPr>
        </p:nvSpPr>
        <p:spPr/>
        <p:txBody>
          <a:bodyPr/>
          <a:lstStyle/>
          <a:p>
            <a:fld id="{40220B06-6C54-4993-A77D-1DBE2B7632EE}" type="datetime1">
              <a:rPr lang="zh-CN" altLang="en-US" smtClean="0"/>
              <a:t>2025/12/24</a:t>
            </a:fld>
            <a:endParaRPr lang="en-US" altLang="zh-CN"/>
          </a:p>
        </p:txBody>
      </p:sp>
      <p:sp>
        <p:nvSpPr>
          <p:cNvPr id="4" name="页脚占位符 3">
            <a:extLst>
              <a:ext uri="{FF2B5EF4-FFF2-40B4-BE49-F238E27FC236}">
                <a16:creationId xmlns:a16="http://schemas.microsoft.com/office/drawing/2014/main" id="{8BA22B71-D862-B075-BBD2-8FE01F05AA8A}"/>
              </a:ext>
            </a:extLst>
          </p:cNvPr>
          <p:cNvSpPr>
            <a:spLocks noGrp="1"/>
          </p:cNvSpPr>
          <p:nvPr>
            <p:ph type="ftr" sz="quarter" idx="11"/>
          </p:nvPr>
        </p:nvSpPr>
        <p:spPr/>
        <p:txBody>
          <a:bodyPr/>
          <a:lstStyle/>
          <a:p>
            <a:r>
              <a:rPr lang="en-US" altLang="zh-CN"/>
              <a:t>《数据库系统概论》- 第11章</a:t>
            </a:r>
          </a:p>
        </p:txBody>
      </p:sp>
      <p:sp>
        <p:nvSpPr>
          <p:cNvPr id="5" name="灯片编号占位符 4">
            <a:extLst>
              <a:ext uri="{FF2B5EF4-FFF2-40B4-BE49-F238E27FC236}">
                <a16:creationId xmlns:a16="http://schemas.microsoft.com/office/drawing/2014/main" id="{55D0087D-A9F3-43DA-595C-51F848D04F9F}"/>
              </a:ext>
            </a:extLst>
          </p:cNvPr>
          <p:cNvSpPr>
            <a:spLocks noGrp="1"/>
          </p:cNvSpPr>
          <p:nvPr>
            <p:ph type="sldNum" sz="quarter" idx="12"/>
          </p:nvPr>
        </p:nvSpPr>
        <p:spPr/>
        <p:txBody>
          <a:bodyPr/>
          <a:lstStyle/>
          <a:p>
            <a:fld id="{AB1F7240-85F2-492B-84D8-762EF0110923}" type="slidenum">
              <a:rPr lang="en-US" altLang="zh-CN" smtClean="0"/>
              <a:pPr/>
              <a:t>49</a:t>
            </a:fld>
            <a:r>
              <a:rPr lang="en-US" altLang="zh-CN"/>
              <a:t>/67</a:t>
            </a:r>
            <a:endParaRPr lang="zh-CN" altLang="en-US" dirty="0"/>
          </a:p>
        </p:txBody>
      </p:sp>
    </p:spTree>
    <p:extLst>
      <p:ext uri="{BB962C8B-B14F-4D97-AF65-F5344CB8AC3E}">
        <p14:creationId xmlns:p14="http://schemas.microsoft.com/office/powerpoint/2010/main" val="515900247"/>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81635">
                                            <p:txEl>
                                              <p:pRg st="6" end="6"/>
                                            </p:txEl>
                                          </p:spTgt>
                                        </p:tgtEl>
                                        <p:attrNameLst>
                                          <p:attrName>style.visibility</p:attrName>
                                        </p:attrNameLst>
                                      </p:cBhvr>
                                      <p:to>
                                        <p:strVal val="visible"/>
                                      </p:to>
                                    </p:set>
                                    <p:animEffect transition="in" filter="blinds(horizontal)">
                                      <p:cBhvr>
                                        <p:cTn id="7" dur="500"/>
                                        <p:tgtEl>
                                          <p:spTgt spid="581635">
                                            <p:txEl>
                                              <p:pRg st="6" end="6"/>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81635">
                                            <p:txEl>
                                              <p:pRg st="8" end="8"/>
                                            </p:txEl>
                                          </p:spTgt>
                                        </p:tgtEl>
                                        <p:attrNameLst>
                                          <p:attrName>style.visibility</p:attrName>
                                        </p:attrNameLst>
                                      </p:cBhvr>
                                      <p:to>
                                        <p:strVal val="visible"/>
                                      </p:to>
                                    </p:set>
                                    <p:animEffect transition="in" filter="blinds(horizontal)">
                                      <p:cBhvr>
                                        <p:cTn id="12" dur="500"/>
                                        <p:tgtEl>
                                          <p:spTgt spid="581635">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81635">
                                            <p:txEl>
                                              <p:pRg st="7" end="7"/>
                                            </p:txEl>
                                          </p:spTgt>
                                        </p:tgtEl>
                                        <p:attrNameLst>
                                          <p:attrName>style.visibility</p:attrName>
                                        </p:attrNameLst>
                                      </p:cBhvr>
                                      <p:to>
                                        <p:strVal val="visible"/>
                                      </p:to>
                                    </p:set>
                                    <p:animEffect transition="in" filter="blinds(horizontal)">
                                      <p:cBhvr>
                                        <p:cTn id="17" dur="500"/>
                                        <p:tgtEl>
                                          <p:spTgt spid="5816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type="body" idx="4294967295"/>
          </p:nvPr>
        </p:nvSpPr>
        <p:spPr>
          <a:xfrm>
            <a:off x="679450" y="1340768"/>
            <a:ext cx="8274050" cy="4965700"/>
          </a:xfrm>
        </p:spPr>
        <p:txBody>
          <a:bodyPr/>
          <a:lstStyle/>
          <a:p>
            <a:pPr eaLnBrk="1" hangingPunct="1"/>
            <a:r>
              <a:rPr lang="zh-CN" altLang="en-US" sz="2400" dirty="0"/>
              <a:t>修改基于日志的恢复方案以</a:t>
            </a:r>
            <a:r>
              <a:rPr lang="zh-CN" altLang="en-US" sz="2400" b="1" dirty="0">
                <a:solidFill>
                  <a:srgbClr val="0000FF"/>
                </a:solidFill>
              </a:rPr>
              <a:t>允许</a:t>
            </a:r>
            <a:r>
              <a:rPr lang="zh-CN" altLang="en-US" sz="2400" b="1" dirty="0"/>
              <a:t>多个事务</a:t>
            </a:r>
            <a:r>
              <a:rPr lang="zh-CN" altLang="en-US" sz="2400" b="1" dirty="0">
                <a:solidFill>
                  <a:srgbClr val="0000FF"/>
                </a:solidFill>
              </a:rPr>
              <a:t>并发执行</a:t>
            </a:r>
            <a:endParaRPr lang="en-US" altLang="zh-CN" sz="2400" b="1" dirty="0">
              <a:solidFill>
                <a:srgbClr val="0000FF"/>
              </a:solidFill>
            </a:endParaRPr>
          </a:p>
          <a:p>
            <a:pPr lvl="1" eaLnBrk="1" hangingPunct="1"/>
            <a:r>
              <a:rPr lang="zh-CN" altLang="en-US" sz="2400" b="1" dirty="0"/>
              <a:t>所有事务</a:t>
            </a:r>
            <a:r>
              <a:rPr lang="zh-CN" altLang="en-US" sz="2400" b="1" dirty="0">
                <a:solidFill>
                  <a:srgbClr val="0000FF"/>
                </a:solidFill>
              </a:rPr>
              <a:t>共享</a:t>
            </a:r>
            <a:r>
              <a:rPr lang="zh-CN" altLang="en-US" sz="2400" b="1" dirty="0"/>
              <a:t>一个</a:t>
            </a:r>
            <a:r>
              <a:rPr lang="zh-CN" altLang="en-US" sz="2400" b="1" dirty="0">
                <a:solidFill>
                  <a:srgbClr val="0000FF"/>
                </a:solidFill>
              </a:rPr>
              <a:t>内存缓冲区</a:t>
            </a:r>
            <a:r>
              <a:rPr lang="zh-CN" altLang="en-US" sz="2400" b="1" dirty="0"/>
              <a:t>和</a:t>
            </a:r>
            <a:r>
              <a:rPr lang="zh-CN" altLang="en-US" sz="2400" b="1" dirty="0">
                <a:solidFill>
                  <a:srgbClr val="0000FF"/>
                </a:solidFill>
              </a:rPr>
              <a:t>日志</a:t>
            </a:r>
            <a:endParaRPr lang="en-US" altLang="zh-CN" sz="2400" b="1" dirty="0">
              <a:solidFill>
                <a:srgbClr val="0000FF"/>
              </a:solidFill>
            </a:endParaRPr>
          </a:p>
          <a:p>
            <a:pPr lvl="1" eaLnBrk="1" hangingPunct="1"/>
            <a:r>
              <a:rPr lang="zh-CN" altLang="en-US" sz="2400" b="1" dirty="0">
                <a:solidFill>
                  <a:srgbClr val="0000FF"/>
                </a:solidFill>
              </a:rPr>
              <a:t>缓冲块</a:t>
            </a:r>
            <a:r>
              <a:rPr lang="zh-CN" altLang="en-US" sz="2400" dirty="0"/>
              <a:t>可以具有被一个或</a:t>
            </a:r>
            <a:r>
              <a:rPr lang="zh-CN" altLang="en-US" sz="2400" b="1" dirty="0"/>
              <a:t>多个事务更新</a:t>
            </a:r>
            <a:r>
              <a:rPr lang="zh-CN" altLang="en-US" sz="2400" dirty="0"/>
              <a:t>的</a:t>
            </a:r>
            <a:r>
              <a:rPr lang="zh-CN" altLang="en-US" sz="2400" b="1" dirty="0">
                <a:solidFill>
                  <a:srgbClr val="0000FF"/>
                </a:solidFill>
              </a:rPr>
              <a:t>数据项</a:t>
            </a:r>
            <a:endParaRPr lang="en-US" altLang="zh-CN" sz="2400" b="1" dirty="0">
              <a:solidFill>
                <a:srgbClr val="0000FF"/>
              </a:solidFill>
            </a:endParaRPr>
          </a:p>
          <a:p>
            <a:pPr eaLnBrk="1" hangingPunct="1"/>
            <a:r>
              <a:rPr lang="zh-CN" altLang="en-US" sz="2400" dirty="0"/>
              <a:t>假设使用</a:t>
            </a:r>
            <a:r>
              <a:rPr lang="zh-CN" altLang="en-US" sz="2400" b="1" u="sng" dirty="0">
                <a:solidFill>
                  <a:srgbClr val="0000FF"/>
                </a:solidFill>
              </a:rPr>
              <a:t>严格</a:t>
            </a:r>
            <a:r>
              <a:rPr lang="zh-CN" altLang="en-US" sz="2400" b="1" dirty="0">
                <a:solidFill>
                  <a:srgbClr val="0000FF"/>
                </a:solidFill>
              </a:rPr>
              <a:t>两阶段锁</a:t>
            </a:r>
            <a:r>
              <a:rPr lang="zh-CN" altLang="en-US" sz="2400" dirty="0"/>
              <a:t>的并发控制</a:t>
            </a:r>
            <a:endParaRPr lang="en-US" altLang="zh-CN" sz="2400" dirty="0"/>
          </a:p>
          <a:p>
            <a:pPr lvl="1" eaLnBrk="1" hangingPunct="1"/>
            <a:r>
              <a:rPr lang="zh-CN" altLang="en-US" sz="2400" dirty="0"/>
              <a:t>事务在</a:t>
            </a:r>
            <a:r>
              <a:rPr lang="zh-CN" altLang="en-US" sz="2400" b="1" dirty="0"/>
              <a:t>结束之前</a:t>
            </a:r>
            <a:r>
              <a:rPr lang="zh-CN" altLang="en-US" sz="2400" dirty="0"/>
              <a:t>保持</a:t>
            </a:r>
            <a:r>
              <a:rPr lang="zh-CN" altLang="en-US" sz="2400" b="1" dirty="0">
                <a:solidFill>
                  <a:srgbClr val="0000FF"/>
                </a:solidFill>
              </a:rPr>
              <a:t>排它锁</a:t>
            </a:r>
            <a:r>
              <a:rPr lang="zh-CN" altLang="en-US" sz="2400" dirty="0"/>
              <a:t>；</a:t>
            </a:r>
          </a:p>
          <a:p>
            <a:pPr lvl="1" eaLnBrk="1" hangingPunct="1"/>
            <a:r>
              <a:rPr lang="zh-CN" altLang="en-US" sz="2400" b="1" dirty="0">
                <a:solidFill>
                  <a:srgbClr val="0000FF"/>
                </a:solidFill>
              </a:rPr>
              <a:t>未提交事务所做的更新</a:t>
            </a:r>
            <a:r>
              <a:rPr lang="zh-CN" altLang="en-US" sz="2400" dirty="0"/>
              <a:t>对其它事务是</a:t>
            </a:r>
            <a:r>
              <a:rPr lang="zh-CN" altLang="en-US" sz="2400" b="1" dirty="0">
                <a:solidFill>
                  <a:srgbClr val="0000FF"/>
                </a:solidFill>
              </a:rPr>
              <a:t>不可见</a:t>
            </a:r>
            <a:r>
              <a:rPr lang="zh-CN" altLang="en-US" sz="2400" dirty="0"/>
              <a:t>的；</a:t>
            </a:r>
            <a:endParaRPr lang="en-US" altLang="zh-CN" sz="2400" dirty="0"/>
          </a:p>
          <a:p>
            <a:pPr eaLnBrk="1" hangingPunct="1"/>
            <a:r>
              <a:rPr lang="zh-CN" altLang="en-US" sz="2400" b="1" dirty="0"/>
              <a:t>日志记录与前面描述的相同</a:t>
            </a:r>
            <a:r>
              <a:rPr lang="en-US" altLang="zh-CN" b="1" dirty="0"/>
              <a:t> </a:t>
            </a:r>
          </a:p>
          <a:p>
            <a:pPr lvl="1" eaLnBrk="1" hangingPunct="1"/>
            <a:r>
              <a:rPr lang="zh-CN" altLang="en-US" sz="2400" b="1" dirty="0">
                <a:solidFill>
                  <a:srgbClr val="0000FF"/>
                </a:solidFill>
              </a:rPr>
              <a:t>不同事务</a:t>
            </a:r>
            <a:r>
              <a:rPr lang="zh-CN" altLang="en-US" sz="2400" dirty="0"/>
              <a:t>的</a:t>
            </a:r>
            <a:r>
              <a:rPr lang="zh-CN" altLang="en-US" sz="2400" b="1" dirty="0">
                <a:solidFill>
                  <a:srgbClr val="0000FF"/>
                </a:solidFill>
              </a:rPr>
              <a:t>日志记录</a:t>
            </a:r>
            <a:r>
              <a:rPr lang="zh-CN" altLang="en-US" sz="2400" dirty="0"/>
              <a:t>在</a:t>
            </a:r>
            <a:r>
              <a:rPr lang="zh-CN" altLang="en-US" sz="2400" b="1" dirty="0"/>
              <a:t>日志文件中</a:t>
            </a:r>
            <a:r>
              <a:rPr lang="zh-CN" altLang="en-US" sz="2400" b="1" dirty="0">
                <a:solidFill>
                  <a:srgbClr val="0000FF"/>
                </a:solidFill>
              </a:rPr>
              <a:t>可能交错</a:t>
            </a:r>
            <a:r>
              <a:rPr lang="zh-CN" altLang="en-US" sz="2400" b="1" dirty="0"/>
              <a:t>分布</a:t>
            </a:r>
            <a:endParaRPr lang="en-US" altLang="zh-CN" sz="2400" b="1" dirty="0"/>
          </a:p>
          <a:p>
            <a:pPr eaLnBrk="1" hangingPunct="1"/>
            <a:r>
              <a:rPr lang="zh-CN" altLang="en-US" sz="2400" dirty="0">
                <a:solidFill>
                  <a:srgbClr val="0000FF"/>
                </a:solidFill>
              </a:rPr>
              <a:t>检查点技术</a:t>
            </a:r>
            <a:r>
              <a:rPr lang="zh-CN" altLang="en-US" sz="2400" dirty="0"/>
              <a:t>及</a:t>
            </a:r>
            <a:r>
              <a:rPr lang="zh-CN" altLang="en-US" sz="2400" dirty="0">
                <a:solidFill>
                  <a:srgbClr val="0000FF"/>
                </a:solidFill>
              </a:rPr>
              <a:t>恢复</a:t>
            </a:r>
            <a:r>
              <a:rPr lang="zh-CN" altLang="en-US" sz="2400" dirty="0"/>
              <a:t>时的操作</a:t>
            </a:r>
            <a:r>
              <a:rPr lang="zh-CN" altLang="en-US" sz="2400" b="1" dirty="0"/>
              <a:t>必须改变</a:t>
            </a:r>
            <a:endParaRPr lang="en-US" altLang="zh-CN" sz="2400" b="1" dirty="0"/>
          </a:p>
          <a:p>
            <a:pPr lvl="1" eaLnBrk="1" hangingPunct="1"/>
            <a:r>
              <a:rPr lang="zh-CN" altLang="en-US" sz="2400" u="sng" dirty="0"/>
              <a:t>并发执行情况下</a:t>
            </a:r>
            <a:r>
              <a:rPr lang="zh-CN" altLang="en-US" sz="2400" dirty="0"/>
              <a:t>，当</a:t>
            </a:r>
            <a:r>
              <a:rPr lang="zh-CN" altLang="en-US" sz="2400" b="1" dirty="0">
                <a:solidFill>
                  <a:srgbClr val="0000FF"/>
                </a:solidFill>
              </a:rPr>
              <a:t>执行检查点</a:t>
            </a:r>
            <a:r>
              <a:rPr lang="zh-CN" altLang="en-US" sz="2400" dirty="0"/>
              <a:t>时可能有</a:t>
            </a:r>
            <a:r>
              <a:rPr lang="zh-CN" altLang="en-US" sz="2400" b="1" dirty="0">
                <a:solidFill>
                  <a:srgbClr val="C00000"/>
                </a:solidFill>
              </a:rPr>
              <a:t>多个</a:t>
            </a:r>
            <a:r>
              <a:rPr lang="zh-CN" altLang="en-US" sz="2400" b="1" dirty="0">
                <a:solidFill>
                  <a:srgbClr val="0000FF"/>
                </a:solidFill>
              </a:rPr>
              <a:t>事务</a:t>
            </a:r>
            <a:r>
              <a:rPr lang="zh-CN" altLang="en-US" sz="2400" dirty="0"/>
              <a:t>处于</a:t>
            </a:r>
            <a:r>
              <a:rPr lang="zh-CN" altLang="en-US" sz="2400" b="1" dirty="0">
                <a:solidFill>
                  <a:srgbClr val="0000FF"/>
                </a:solidFill>
              </a:rPr>
              <a:t>活跃状态</a:t>
            </a:r>
            <a:endParaRPr lang="en-US" altLang="zh-CN" sz="2400" b="1" dirty="0">
              <a:solidFill>
                <a:srgbClr val="0000FF"/>
              </a:solidFill>
            </a:endParaRPr>
          </a:p>
        </p:txBody>
      </p:sp>
      <p:sp>
        <p:nvSpPr>
          <p:cNvPr id="2" name="标题 1"/>
          <p:cNvSpPr>
            <a:spLocks noGrp="1"/>
          </p:cNvSpPr>
          <p:nvPr>
            <p:ph type="title"/>
          </p:nvPr>
        </p:nvSpPr>
        <p:spPr/>
        <p:txBody>
          <a:bodyPr/>
          <a:lstStyle/>
          <a:p>
            <a:r>
              <a:rPr lang="zh-CN" altLang="en-US" dirty="0"/>
              <a:t>并发事务的恢复</a:t>
            </a:r>
          </a:p>
        </p:txBody>
      </p:sp>
      <p:sp>
        <p:nvSpPr>
          <p:cNvPr id="3" name="日期占位符 2">
            <a:extLst>
              <a:ext uri="{FF2B5EF4-FFF2-40B4-BE49-F238E27FC236}">
                <a16:creationId xmlns:a16="http://schemas.microsoft.com/office/drawing/2014/main" id="{BCAA412B-7B6B-DFE0-05D2-DF92F0885F82}"/>
              </a:ext>
            </a:extLst>
          </p:cNvPr>
          <p:cNvSpPr>
            <a:spLocks noGrp="1"/>
          </p:cNvSpPr>
          <p:nvPr>
            <p:ph type="dt" sz="half" idx="10"/>
          </p:nvPr>
        </p:nvSpPr>
        <p:spPr/>
        <p:txBody>
          <a:bodyPr/>
          <a:lstStyle/>
          <a:p>
            <a:fld id="{B10BE554-E408-4DD1-A3B3-8FF19221D403}" type="datetime1">
              <a:rPr lang="zh-CN" altLang="en-US" smtClean="0"/>
              <a:t>2025/12/24</a:t>
            </a:fld>
            <a:endParaRPr lang="en-US" altLang="zh-CN"/>
          </a:p>
        </p:txBody>
      </p:sp>
      <p:sp>
        <p:nvSpPr>
          <p:cNvPr id="4" name="页脚占位符 3">
            <a:extLst>
              <a:ext uri="{FF2B5EF4-FFF2-40B4-BE49-F238E27FC236}">
                <a16:creationId xmlns:a16="http://schemas.microsoft.com/office/drawing/2014/main" id="{95CA603A-C2A3-9AEC-057E-4CBDE888DB09}"/>
              </a:ext>
            </a:extLst>
          </p:cNvPr>
          <p:cNvSpPr>
            <a:spLocks noGrp="1"/>
          </p:cNvSpPr>
          <p:nvPr>
            <p:ph type="ftr" sz="quarter" idx="11"/>
          </p:nvPr>
        </p:nvSpPr>
        <p:spPr/>
        <p:txBody>
          <a:bodyPr/>
          <a:lstStyle/>
          <a:p>
            <a:r>
              <a:rPr lang="en-US" altLang="zh-CN"/>
              <a:t>《数据库系统概论》- 第11章</a:t>
            </a:r>
          </a:p>
        </p:txBody>
      </p:sp>
      <p:sp>
        <p:nvSpPr>
          <p:cNvPr id="5" name="灯片编号占位符 4">
            <a:extLst>
              <a:ext uri="{FF2B5EF4-FFF2-40B4-BE49-F238E27FC236}">
                <a16:creationId xmlns:a16="http://schemas.microsoft.com/office/drawing/2014/main" id="{822A603E-114B-FEE6-D647-E319D9FFF2DA}"/>
              </a:ext>
            </a:extLst>
          </p:cNvPr>
          <p:cNvSpPr>
            <a:spLocks noGrp="1"/>
          </p:cNvSpPr>
          <p:nvPr>
            <p:ph type="sldNum" sz="quarter" idx="12"/>
          </p:nvPr>
        </p:nvSpPr>
        <p:spPr/>
        <p:txBody>
          <a:bodyPr/>
          <a:lstStyle/>
          <a:p>
            <a:fld id="{AB1F7240-85F2-492B-84D8-762EF0110923}" type="slidenum">
              <a:rPr lang="en-US" altLang="zh-CN" smtClean="0"/>
              <a:pPr/>
              <a:t>50</a:t>
            </a:fld>
            <a:r>
              <a:rPr lang="en-US" altLang="zh-CN"/>
              <a:t>/67</a:t>
            </a:r>
            <a:endParaRPr lang="zh-CN" altLang="en-US" dirty="0"/>
          </a:p>
        </p:txBody>
      </p:sp>
    </p:spTree>
    <p:extLst>
      <p:ext uri="{BB962C8B-B14F-4D97-AF65-F5344CB8AC3E}">
        <p14:creationId xmlns:p14="http://schemas.microsoft.com/office/powerpoint/2010/main" val="332401772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3" name="Rectangle 3"/>
          <p:cNvSpPr>
            <a:spLocks noGrp="1" noChangeArrowheads="1"/>
          </p:cNvSpPr>
          <p:nvPr>
            <p:ph type="body" idx="4294967295"/>
          </p:nvPr>
        </p:nvSpPr>
        <p:spPr>
          <a:xfrm>
            <a:off x="554038" y="1412776"/>
            <a:ext cx="8489950" cy="5334000"/>
          </a:xfrm>
        </p:spPr>
        <p:txBody>
          <a:bodyPr/>
          <a:lstStyle/>
          <a:p>
            <a:pPr marL="381000" indent="-381000" eaLnBrk="1" hangingPunct="1"/>
            <a:r>
              <a:rPr lang="zh-CN" altLang="en-US" sz="2100" dirty="0"/>
              <a:t>检查点的执行基本同前，除了</a:t>
            </a:r>
            <a:r>
              <a:rPr lang="zh-CN" altLang="en-US" sz="2100" u="sng" dirty="0">
                <a:solidFill>
                  <a:srgbClr val="0000FF"/>
                </a:solidFill>
              </a:rPr>
              <a:t>检查点日志记录</a:t>
            </a:r>
            <a:r>
              <a:rPr lang="zh-CN" altLang="en-US" sz="2100" dirty="0"/>
              <a:t>现在形如</a:t>
            </a:r>
            <a:br>
              <a:rPr lang="en-US" altLang="zh-CN" sz="2100" dirty="0"/>
            </a:br>
            <a:r>
              <a:rPr lang="en-US" altLang="zh-CN" sz="2100" dirty="0"/>
              <a:t>	&lt;</a:t>
            </a:r>
            <a:r>
              <a:rPr lang="en-US" altLang="zh-CN" sz="2100" b="0" dirty="0"/>
              <a:t>checkpoint</a:t>
            </a:r>
            <a:r>
              <a:rPr lang="en-US" altLang="zh-CN" sz="2100" dirty="0"/>
              <a:t> </a:t>
            </a:r>
            <a:r>
              <a:rPr lang="en-US" altLang="zh-CN" sz="2100" dirty="0">
                <a:solidFill>
                  <a:srgbClr val="0000FF"/>
                </a:solidFill>
              </a:rPr>
              <a:t>L</a:t>
            </a:r>
            <a:r>
              <a:rPr lang="en-US" altLang="zh-CN" sz="2100" dirty="0"/>
              <a:t>&gt;</a:t>
            </a:r>
            <a:br>
              <a:rPr lang="en-US" altLang="zh-CN" sz="2100" dirty="0"/>
            </a:br>
            <a:r>
              <a:rPr lang="zh-CN" altLang="en-US" sz="2100" dirty="0"/>
              <a:t>其中</a:t>
            </a:r>
            <a:r>
              <a:rPr lang="en-US" altLang="zh-CN" sz="2100" dirty="0"/>
              <a:t> </a:t>
            </a:r>
            <a:r>
              <a:rPr lang="en-US" altLang="zh-CN" sz="2100" dirty="0">
                <a:solidFill>
                  <a:srgbClr val="0000FF"/>
                </a:solidFill>
              </a:rPr>
              <a:t>L</a:t>
            </a:r>
            <a:r>
              <a:rPr lang="en-US" altLang="zh-CN" sz="2100" dirty="0"/>
              <a:t> </a:t>
            </a:r>
            <a:r>
              <a:rPr lang="zh-CN" altLang="en-US" sz="2100" dirty="0"/>
              <a:t>是检查点操作时</a:t>
            </a:r>
            <a:r>
              <a:rPr lang="zh-CN" altLang="en-US" sz="2100" b="1" dirty="0"/>
              <a:t>活跃事务</a:t>
            </a:r>
            <a:r>
              <a:rPr lang="zh-CN" altLang="en-US" sz="2100" dirty="0"/>
              <a:t>的</a:t>
            </a:r>
            <a:r>
              <a:rPr lang="zh-CN" altLang="en-US" sz="2100" b="1" u="sng" dirty="0">
                <a:solidFill>
                  <a:srgbClr val="0000FF"/>
                </a:solidFill>
                <a:effectLst>
                  <a:outerShdw blurRad="38100" dist="38100" dir="2700000" algn="tl">
                    <a:srgbClr val="000000">
                      <a:alpha val="43137"/>
                    </a:srgbClr>
                  </a:outerShdw>
                </a:effectLst>
              </a:rPr>
              <a:t>列表</a:t>
            </a:r>
            <a:r>
              <a:rPr lang="zh-CN" altLang="en-US" sz="2100" b="1" dirty="0">
                <a:solidFill>
                  <a:srgbClr val="0000FF"/>
                </a:solidFill>
              </a:rPr>
              <a:t>；</a:t>
            </a:r>
            <a:endParaRPr lang="en-US" altLang="zh-CN" sz="2100" b="1" dirty="0">
              <a:solidFill>
                <a:srgbClr val="0000FF"/>
              </a:solidFill>
            </a:endParaRPr>
          </a:p>
          <a:p>
            <a:pPr marL="381000" indent="-381000" eaLnBrk="1" hangingPunct="1"/>
            <a:r>
              <a:rPr lang="zh-CN" altLang="en-US" sz="2100" dirty="0"/>
              <a:t>当</a:t>
            </a:r>
            <a:r>
              <a:rPr lang="zh-CN" altLang="en-US" sz="2100" b="1" dirty="0">
                <a:solidFill>
                  <a:srgbClr val="FF0000"/>
                </a:solidFill>
              </a:rPr>
              <a:t>系统从崩溃恢复</a:t>
            </a:r>
            <a:r>
              <a:rPr lang="en-US" altLang="zh-CN" sz="2100" dirty="0">
                <a:solidFill>
                  <a:srgbClr val="0000FF"/>
                </a:solidFill>
              </a:rPr>
              <a:t>(</a:t>
            </a:r>
            <a:r>
              <a:rPr lang="zh-CN" altLang="en-US" sz="2100" dirty="0">
                <a:solidFill>
                  <a:srgbClr val="0000FF"/>
                </a:solidFill>
              </a:rPr>
              <a:t>系统故障</a:t>
            </a:r>
            <a:r>
              <a:rPr lang="en-US" altLang="zh-CN" sz="2100" dirty="0">
                <a:solidFill>
                  <a:srgbClr val="0000FF"/>
                </a:solidFill>
              </a:rPr>
              <a:t>)</a:t>
            </a:r>
            <a:r>
              <a:rPr lang="zh-CN" altLang="en-US" sz="2100" b="1" dirty="0">
                <a:solidFill>
                  <a:srgbClr val="FF0000"/>
                </a:solidFill>
              </a:rPr>
              <a:t>时</a:t>
            </a:r>
            <a:r>
              <a:rPr lang="zh-CN" altLang="en-US" sz="2100" dirty="0"/>
              <a:t>，</a:t>
            </a:r>
            <a:r>
              <a:rPr lang="zh-CN" altLang="en-US" sz="2100" b="1" dirty="0">
                <a:effectLst>
                  <a:outerShdw blurRad="38100" dist="38100" dir="2700000" algn="tl">
                    <a:srgbClr val="000000">
                      <a:alpha val="43137"/>
                    </a:srgbClr>
                  </a:outerShdw>
                </a:effectLst>
              </a:rPr>
              <a:t>首先</a:t>
            </a:r>
            <a:r>
              <a:rPr lang="zh-CN" altLang="en-US" sz="2100" dirty="0"/>
              <a:t>做下列动作</a:t>
            </a:r>
            <a:endParaRPr lang="en-US" altLang="zh-CN" sz="2100" dirty="0"/>
          </a:p>
          <a:p>
            <a:pPr marL="800100" lvl="1" indent="-342900" eaLnBrk="1" hangingPunct="1">
              <a:buFont typeface="Monotype Sorts" pitchFamily="2" charset="2"/>
              <a:buAutoNum type="arabicPeriod"/>
            </a:pPr>
            <a:r>
              <a:rPr lang="zh-CN" altLang="en-US" sz="2100" dirty="0">
                <a:solidFill>
                  <a:srgbClr val="0000FF"/>
                </a:solidFill>
              </a:rPr>
              <a:t>初始化</a:t>
            </a:r>
            <a:r>
              <a:rPr lang="en-US" altLang="zh-CN" sz="2100" dirty="0"/>
              <a:t> undo-list</a:t>
            </a:r>
            <a:r>
              <a:rPr lang="zh-CN" altLang="en-US" sz="2100" dirty="0"/>
              <a:t>和</a:t>
            </a:r>
            <a:r>
              <a:rPr lang="en-US" altLang="zh-CN" sz="2100" dirty="0"/>
              <a:t>redo-list</a:t>
            </a:r>
            <a:r>
              <a:rPr lang="zh-CN" altLang="en-US" sz="2100" dirty="0"/>
              <a:t>为</a:t>
            </a:r>
            <a:r>
              <a:rPr lang="zh-CN" altLang="en-US" sz="2100" dirty="0">
                <a:solidFill>
                  <a:srgbClr val="0000FF"/>
                </a:solidFill>
              </a:rPr>
              <a:t>空</a:t>
            </a:r>
            <a:r>
              <a:rPr lang="zh-CN" altLang="en-US" sz="2100" dirty="0"/>
              <a:t>；</a:t>
            </a:r>
            <a:endParaRPr lang="en-US" altLang="zh-CN" sz="2100" dirty="0"/>
          </a:p>
          <a:p>
            <a:pPr marL="800100" lvl="1" indent="-342900" eaLnBrk="1" hangingPunct="1">
              <a:buFont typeface="Monotype Sorts" pitchFamily="2" charset="2"/>
              <a:buAutoNum type="arabicPeriod"/>
            </a:pPr>
            <a:r>
              <a:rPr lang="zh-CN" altLang="en-US" sz="2100" dirty="0"/>
              <a:t>从末尾开始</a:t>
            </a:r>
            <a:r>
              <a:rPr lang="zh-CN" altLang="en-US" sz="2100" b="1" dirty="0">
                <a:solidFill>
                  <a:srgbClr val="0000FF"/>
                </a:solidFill>
              </a:rPr>
              <a:t>反向扫描</a:t>
            </a:r>
            <a:r>
              <a:rPr lang="zh-CN" altLang="en-US" sz="2100" dirty="0"/>
              <a:t>日志，直至发现</a:t>
            </a:r>
            <a:r>
              <a:rPr lang="zh-CN" altLang="en-US" sz="2100" b="1" dirty="0"/>
              <a:t>第一条</a:t>
            </a:r>
            <a:r>
              <a:rPr lang="en-US" altLang="zh-CN" sz="2100" b="1" dirty="0"/>
              <a:t>&lt;checkpoint L&gt; </a:t>
            </a:r>
            <a:r>
              <a:rPr lang="zh-CN" altLang="en-US" sz="2100" dirty="0"/>
              <a:t>记录时</a:t>
            </a:r>
            <a:r>
              <a:rPr lang="zh-CN" altLang="en-US" sz="2100" b="1" dirty="0"/>
              <a:t>停止</a:t>
            </a:r>
            <a:r>
              <a:rPr lang="zh-CN" altLang="en-US" sz="2100" dirty="0"/>
              <a:t>；对在</a:t>
            </a:r>
            <a:r>
              <a:rPr lang="zh-CN" altLang="en-US" sz="2100" b="1" u="sng" dirty="0"/>
              <a:t>反向扫描</a:t>
            </a:r>
            <a:r>
              <a:rPr lang="zh-CN" altLang="en-US" sz="2100" u="sng" dirty="0"/>
              <a:t>过程中发现的每条记录</a:t>
            </a:r>
            <a:r>
              <a:rPr lang="zh-CN" altLang="en-US" sz="2100" dirty="0"/>
              <a:t>：</a:t>
            </a:r>
            <a:endParaRPr lang="en-US" altLang="zh-CN" sz="2100" dirty="0"/>
          </a:p>
          <a:p>
            <a:pPr lvl="2" eaLnBrk="1" hangingPunct="1">
              <a:buFont typeface="Wingdings" pitchFamily="2" charset="2"/>
              <a:buChar char="p"/>
            </a:pPr>
            <a:r>
              <a:rPr lang="zh-CN" altLang="en-US" sz="2000" dirty="0"/>
              <a:t>如果是</a:t>
            </a:r>
            <a:r>
              <a:rPr lang="en-US" altLang="zh-CN" sz="2000" dirty="0"/>
              <a:t>&lt;</a:t>
            </a:r>
            <a:r>
              <a:rPr lang="en-US" altLang="zh-CN" sz="2000" dirty="0" err="1"/>
              <a:t>T</a:t>
            </a:r>
            <a:r>
              <a:rPr lang="en-US" altLang="zh-CN" sz="2000" baseline="-25000" dirty="0" err="1"/>
              <a:t>i</a:t>
            </a:r>
            <a:r>
              <a:rPr lang="en-US" altLang="zh-CN" sz="2000" baseline="-25000" dirty="0"/>
              <a:t> </a:t>
            </a:r>
            <a:r>
              <a:rPr lang="en-US" altLang="zh-CN" sz="2000" b="0" dirty="0"/>
              <a:t>commit</a:t>
            </a:r>
            <a:r>
              <a:rPr lang="en-US" altLang="zh-CN" sz="2000" dirty="0"/>
              <a:t>&gt;</a:t>
            </a:r>
            <a:r>
              <a:rPr lang="zh-CN" altLang="en-US" sz="2000" dirty="0"/>
              <a:t>，将</a:t>
            </a:r>
            <a:r>
              <a:rPr lang="en-US" altLang="zh-CN" sz="2000" dirty="0" err="1">
                <a:solidFill>
                  <a:srgbClr val="0000FF"/>
                </a:solidFill>
              </a:rPr>
              <a:t>T</a:t>
            </a:r>
            <a:r>
              <a:rPr lang="en-US" altLang="zh-CN" sz="2000" baseline="-25000" dirty="0" err="1">
                <a:solidFill>
                  <a:srgbClr val="0000FF"/>
                </a:solidFill>
              </a:rPr>
              <a:t>i</a:t>
            </a:r>
            <a:r>
              <a:rPr lang="zh-CN" altLang="en-US" sz="2000" dirty="0">
                <a:solidFill>
                  <a:srgbClr val="0000FF"/>
                </a:solidFill>
              </a:rPr>
              <a:t>加入</a:t>
            </a:r>
            <a:r>
              <a:rPr lang="en-US" altLang="zh-CN" sz="2000" dirty="0">
                <a:solidFill>
                  <a:srgbClr val="0000FF"/>
                </a:solidFill>
              </a:rPr>
              <a:t>redo-list;</a:t>
            </a:r>
          </a:p>
          <a:p>
            <a:pPr lvl="2" eaLnBrk="1" hangingPunct="1">
              <a:buFont typeface="Wingdings" pitchFamily="2" charset="2"/>
              <a:buChar char="p"/>
            </a:pPr>
            <a:r>
              <a:rPr lang="zh-CN" altLang="en-US" sz="2000" dirty="0"/>
              <a:t>如果是</a:t>
            </a:r>
            <a:r>
              <a:rPr lang="en-US" altLang="zh-CN" sz="2000" dirty="0"/>
              <a:t>&lt;</a:t>
            </a:r>
            <a:r>
              <a:rPr lang="en-US" altLang="zh-CN" sz="2000" dirty="0" err="1"/>
              <a:t>T</a:t>
            </a:r>
            <a:r>
              <a:rPr lang="en-US" altLang="zh-CN" sz="2000" baseline="-25000" dirty="0" err="1"/>
              <a:t>i</a:t>
            </a:r>
            <a:r>
              <a:rPr lang="en-US" altLang="zh-CN" sz="2000" dirty="0"/>
              <a:t> </a:t>
            </a:r>
            <a:r>
              <a:rPr lang="en-US" altLang="zh-CN" sz="2000" b="0" dirty="0"/>
              <a:t> start</a:t>
            </a:r>
            <a:r>
              <a:rPr lang="en-US" altLang="zh-CN" sz="2000" dirty="0"/>
              <a:t>&gt;</a:t>
            </a:r>
            <a:r>
              <a:rPr lang="zh-CN" altLang="en-US" sz="2000" dirty="0"/>
              <a:t>，</a:t>
            </a:r>
            <a:r>
              <a:rPr lang="zh-CN" altLang="en-US" sz="2000" b="1" u="sng" dirty="0">
                <a:solidFill>
                  <a:srgbClr val="FF0000"/>
                </a:solidFill>
              </a:rPr>
              <a:t>并且</a:t>
            </a:r>
            <a:r>
              <a:rPr lang="en-US" altLang="zh-CN" sz="2000" b="1" u="sng" dirty="0" err="1">
                <a:solidFill>
                  <a:srgbClr val="0000FF"/>
                </a:solidFill>
              </a:rPr>
              <a:t>T</a:t>
            </a:r>
            <a:r>
              <a:rPr lang="en-US" altLang="zh-CN" sz="2000" b="1" u="sng" baseline="-25000" dirty="0" err="1">
                <a:solidFill>
                  <a:srgbClr val="0000FF"/>
                </a:solidFill>
              </a:rPr>
              <a:t>i</a:t>
            </a:r>
            <a:r>
              <a:rPr lang="en-US" altLang="zh-CN" sz="2000" b="1" u="sng" baseline="-25000" dirty="0">
                <a:solidFill>
                  <a:srgbClr val="0000FF"/>
                </a:solidFill>
              </a:rPr>
              <a:t> </a:t>
            </a:r>
            <a:r>
              <a:rPr lang="zh-CN" altLang="en-US" sz="2000" b="1" u="sng" dirty="0">
                <a:solidFill>
                  <a:srgbClr val="FF0000"/>
                </a:solidFill>
              </a:rPr>
              <a:t>不在</a:t>
            </a:r>
            <a:r>
              <a:rPr lang="en-US" altLang="zh-CN" sz="2000" u="sng" dirty="0">
                <a:solidFill>
                  <a:srgbClr val="0000FF"/>
                </a:solidFill>
              </a:rPr>
              <a:t>redo-list</a:t>
            </a:r>
            <a:r>
              <a:rPr lang="zh-CN" altLang="en-US" sz="2000" u="sng" dirty="0"/>
              <a:t>中</a:t>
            </a:r>
            <a:r>
              <a:rPr lang="zh-CN" altLang="en-US" sz="2000" dirty="0"/>
              <a:t>，则将</a:t>
            </a:r>
            <a:r>
              <a:rPr lang="en-US" altLang="zh-CN" sz="2000" dirty="0" err="1">
                <a:solidFill>
                  <a:srgbClr val="0000FF"/>
                </a:solidFill>
              </a:rPr>
              <a:t>T</a:t>
            </a:r>
            <a:r>
              <a:rPr lang="en-US" altLang="zh-CN" sz="2000" baseline="-25000" dirty="0" err="1">
                <a:solidFill>
                  <a:srgbClr val="0000FF"/>
                </a:solidFill>
              </a:rPr>
              <a:t>i</a:t>
            </a:r>
            <a:r>
              <a:rPr lang="zh-CN" altLang="en-US" sz="2000" dirty="0">
                <a:solidFill>
                  <a:srgbClr val="0000FF"/>
                </a:solidFill>
              </a:rPr>
              <a:t>加入</a:t>
            </a:r>
            <a:r>
              <a:rPr lang="en-US" altLang="zh-CN" sz="2000" dirty="0">
                <a:solidFill>
                  <a:srgbClr val="0000FF"/>
                </a:solidFill>
              </a:rPr>
              <a:t>undo-list</a:t>
            </a:r>
            <a:r>
              <a:rPr lang="en-US" altLang="zh-CN" sz="2000" dirty="0"/>
              <a:t>;</a:t>
            </a:r>
          </a:p>
          <a:p>
            <a:pPr lvl="3">
              <a:buFont typeface="Wingdings" pitchFamily="2" charset="2"/>
              <a:buChar char="p"/>
            </a:pPr>
            <a:r>
              <a:rPr lang="zh-CN" altLang="en-US" sz="1800" b="1" dirty="0">
                <a:solidFill>
                  <a:srgbClr val="0000FF"/>
                </a:solidFill>
              </a:rPr>
              <a:t>反向扫描</a:t>
            </a:r>
            <a:r>
              <a:rPr lang="zh-CN" altLang="en-US" sz="1800" dirty="0"/>
              <a:t>如果事务有</a:t>
            </a:r>
            <a:r>
              <a:rPr lang="en-US" altLang="zh-CN" sz="1800" dirty="0">
                <a:solidFill>
                  <a:srgbClr val="0000FF"/>
                </a:solidFill>
              </a:rPr>
              <a:t>commit</a:t>
            </a:r>
            <a:r>
              <a:rPr lang="zh-CN" altLang="en-US" sz="1800" dirty="0">
                <a:solidFill>
                  <a:srgbClr val="0000FF"/>
                </a:solidFill>
              </a:rPr>
              <a:t>记录</a:t>
            </a:r>
            <a:r>
              <a:rPr lang="zh-CN" altLang="en-US" sz="1800" dirty="0"/>
              <a:t>，会被</a:t>
            </a:r>
            <a:r>
              <a:rPr lang="zh-CN" altLang="en-US" sz="1800" dirty="0">
                <a:solidFill>
                  <a:srgbClr val="0000FF"/>
                </a:solidFill>
              </a:rPr>
              <a:t>先发现</a:t>
            </a:r>
            <a:r>
              <a:rPr lang="zh-CN" altLang="en-US" sz="1800" dirty="0"/>
              <a:t>。</a:t>
            </a:r>
            <a:endParaRPr lang="en-US" altLang="zh-CN" sz="1800" dirty="0"/>
          </a:p>
          <a:p>
            <a:pPr marL="800100" lvl="1" indent="-342900" eaLnBrk="1" hangingPunct="1">
              <a:buFont typeface="Monotype Sorts" pitchFamily="2" charset="2"/>
              <a:buAutoNum type="arabicPeriod"/>
            </a:pPr>
            <a:r>
              <a:rPr lang="zh-CN" altLang="en-US" sz="2100" dirty="0"/>
              <a:t>对</a:t>
            </a:r>
            <a:r>
              <a:rPr lang="en-US" altLang="zh-CN" sz="2100" b="1" dirty="0">
                <a:solidFill>
                  <a:srgbClr val="0000FF"/>
                </a:solidFill>
              </a:rPr>
              <a:t>L</a:t>
            </a:r>
            <a:r>
              <a:rPr lang="zh-CN" altLang="en-US" sz="2100" b="1" dirty="0">
                <a:solidFill>
                  <a:srgbClr val="0000FF"/>
                </a:solidFill>
              </a:rPr>
              <a:t>中</a:t>
            </a:r>
            <a:r>
              <a:rPr lang="zh-CN" altLang="en-US" sz="2100" dirty="0"/>
              <a:t>的</a:t>
            </a:r>
            <a:r>
              <a:rPr lang="zh-CN" altLang="en-US" sz="2100" dirty="0">
                <a:solidFill>
                  <a:srgbClr val="0000FF"/>
                </a:solidFill>
              </a:rPr>
              <a:t>每个</a:t>
            </a:r>
            <a:r>
              <a:rPr lang="en-US" altLang="zh-CN" sz="2100" dirty="0" err="1">
                <a:solidFill>
                  <a:srgbClr val="0000FF"/>
                </a:solidFill>
              </a:rPr>
              <a:t>T</a:t>
            </a:r>
            <a:r>
              <a:rPr lang="en-US" altLang="zh-CN" sz="2100" baseline="-25000" dirty="0" err="1">
                <a:solidFill>
                  <a:srgbClr val="0000FF"/>
                </a:solidFill>
              </a:rPr>
              <a:t>i</a:t>
            </a:r>
            <a:r>
              <a:rPr lang="zh-CN" altLang="en-US" sz="2100" dirty="0"/>
              <a:t>，如果</a:t>
            </a:r>
            <a:r>
              <a:rPr lang="en-US" altLang="zh-CN" sz="2100" dirty="0" err="1">
                <a:solidFill>
                  <a:srgbClr val="0000FF"/>
                </a:solidFill>
              </a:rPr>
              <a:t>T</a:t>
            </a:r>
            <a:r>
              <a:rPr lang="en-US" altLang="zh-CN" sz="2100" baseline="-25000" dirty="0" err="1">
                <a:solidFill>
                  <a:srgbClr val="0000FF"/>
                </a:solidFill>
              </a:rPr>
              <a:t>i</a:t>
            </a:r>
            <a:r>
              <a:rPr lang="zh-CN" altLang="en-US" sz="2100" dirty="0">
                <a:solidFill>
                  <a:srgbClr val="FF0000"/>
                </a:solidFill>
              </a:rPr>
              <a:t>不在</a:t>
            </a:r>
            <a:r>
              <a:rPr lang="en-US" altLang="zh-CN" sz="2100" dirty="0">
                <a:solidFill>
                  <a:srgbClr val="0000FF"/>
                </a:solidFill>
              </a:rPr>
              <a:t>redo-list</a:t>
            </a:r>
            <a:r>
              <a:rPr lang="zh-CN" altLang="en-US" sz="2100" dirty="0"/>
              <a:t>中，则将</a:t>
            </a:r>
            <a:r>
              <a:rPr lang="en-US" altLang="zh-CN" sz="2100" dirty="0" err="1">
                <a:solidFill>
                  <a:srgbClr val="0000FF"/>
                </a:solidFill>
              </a:rPr>
              <a:t>T</a:t>
            </a:r>
            <a:r>
              <a:rPr lang="en-US" altLang="zh-CN" sz="2100" baseline="-25000" dirty="0" err="1">
                <a:solidFill>
                  <a:srgbClr val="0000FF"/>
                </a:solidFill>
              </a:rPr>
              <a:t>i</a:t>
            </a:r>
            <a:r>
              <a:rPr lang="zh-CN" altLang="en-US" sz="2100" dirty="0">
                <a:solidFill>
                  <a:srgbClr val="0000FF"/>
                </a:solidFill>
              </a:rPr>
              <a:t>加入</a:t>
            </a:r>
            <a:r>
              <a:rPr lang="en-US" altLang="zh-CN" sz="2100" dirty="0">
                <a:solidFill>
                  <a:srgbClr val="0000FF"/>
                </a:solidFill>
              </a:rPr>
              <a:t>undo-list</a:t>
            </a:r>
            <a:r>
              <a:rPr lang="zh-CN" altLang="en-US" sz="2100" dirty="0"/>
              <a:t>。</a:t>
            </a:r>
            <a:endParaRPr lang="en-US" altLang="zh-CN" sz="2100" dirty="0"/>
          </a:p>
          <a:p>
            <a:pPr lvl="2" eaLnBrk="1" hangingPunct="1">
              <a:buFont typeface="Wingdings" pitchFamily="2" charset="2"/>
              <a:buChar char="p"/>
            </a:pPr>
            <a:r>
              <a:rPr lang="en-US" altLang="zh-CN" sz="2000" dirty="0"/>
              <a:t>Checkpoint</a:t>
            </a:r>
            <a:r>
              <a:rPr lang="zh-CN" altLang="en-US" sz="2000" b="1" dirty="0"/>
              <a:t>之前启动的事务</a:t>
            </a:r>
            <a:r>
              <a:rPr lang="zh-CN" altLang="en-US" sz="2000" dirty="0"/>
              <a:t>。</a:t>
            </a:r>
            <a:endParaRPr lang="en-US" altLang="zh-CN" sz="2000" dirty="0"/>
          </a:p>
          <a:p>
            <a:pPr>
              <a:buFont typeface="Wingdings" pitchFamily="2" charset="2"/>
              <a:buChar char="p"/>
            </a:pPr>
            <a:r>
              <a:rPr lang="zh-CN" altLang="en-US" sz="2100" dirty="0"/>
              <a:t>至此，</a:t>
            </a:r>
            <a:r>
              <a:rPr lang="en-US" altLang="zh-CN" sz="2100" dirty="0"/>
              <a:t>undo-list</a:t>
            </a:r>
            <a:r>
              <a:rPr lang="zh-CN" altLang="en-US" sz="2100" dirty="0"/>
              <a:t>包含</a:t>
            </a:r>
            <a:r>
              <a:rPr lang="zh-CN" altLang="en-US" sz="2100" dirty="0">
                <a:solidFill>
                  <a:srgbClr val="0000FF"/>
                </a:solidFill>
              </a:rPr>
              <a:t>必须取消操作的未完成事务</a:t>
            </a:r>
            <a:r>
              <a:rPr lang="zh-CN" altLang="en-US" sz="2100" dirty="0"/>
              <a:t>，而</a:t>
            </a:r>
            <a:r>
              <a:rPr lang="en-US" altLang="zh-CN" sz="2100" dirty="0"/>
              <a:t>redo-list</a:t>
            </a:r>
            <a:r>
              <a:rPr lang="zh-CN" altLang="en-US" sz="2100" dirty="0"/>
              <a:t>包含</a:t>
            </a:r>
            <a:r>
              <a:rPr lang="zh-CN" altLang="en-US" sz="2100" dirty="0">
                <a:solidFill>
                  <a:srgbClr val="0000FF"/>
                </a:solidFill>
              </a:rPr>
              <a:t>必须重做的已完成事务</a:t>
            </a:r>
            <a:r>
              <a:rPr lang="zh-CN" altLang="en-US" sz="2100" dirty="0"/>
              <a:t>。</a:t>
            </a:r>
            <a:endParaRPr lang="en-US" altLang="zh-CN" sz="2100" dirty="0"/>
          </a:p>
          <a:p>
            <a:pPr lvl="1">
              <a:buFont typeface="Wingdings" pitchFamily="2" charset="2"/>
              <a:buChar char="p"/>
            </a:pPr>
            <a:endParaRPr lang="zh-CN" altLang="en-US" sz="2400" dirty="0"/>
          </a:p>
        </p:txBody>
      </p:sp>
      <p:sp>
        <p:nvSpPr>
          <p:cNvPr id="6" name="标题 1"/>
          <p:cNvSpPr>
            <a:spLocks noGrp="1"/>
          </p:cNvSpPr>
          <p:nvPr>
            <p:ph type="title"/>
          </p:nvPr>
        </p:nvSpPr>
        <p:spPr>
          <a:xfrm>
            <a:off x="838200" y="381000"/>
            <a:ext cx="8105775" cy="762000"/>
          </a:xfrm>
        </p:spPr>
        <p:txBody>
          <a:bodyPr/>
          <a:lstStyle/>
          <a:p>
            <a:r>
              <a:rPr lang="zh-CN" altLang="en-US" dirty="0"/>
              <a:t>并发事务的恢复</a:t>
            </a:r>
            <a:r>
              <a:rPr lang="en-US" altLang="zh-CN" baseline="30000" dirty="0"/>
              <a:t>(</a:t>
            </a:r>
            <a:r>
              <a:rPr lang="zh-CN" altLang="en-US" baseline="30000" dirty="0"/>
              <a:t>续</a:t>
            </a:r>
            <a:r>
              <a:rPr lang="en-US" altLang="zh-CN" baseline="30000" dirty="0"/>
              <a:t>)</a:t>
            </a:r>
            <a:endParaRPr lang="zh-CN" altLang="en-US" dirty="0"/>
          </a:p>
        </p:txBody>
      </p:sp>
      <p:sp>
        <p:nvSpPr>
          <p:cNvPr id="3" name="日期占位符 2">
            <a:extLst>
              <a:ext uri="{FF2B5EF4-FFF2-40B4-BE49-F238E27FC236}">
                <a16:creationId xmlns:a16="http://schemas.microsoft.com/office/drawing/2014/main" id="{D789B3AD-1952-7A1C-1A61-D717890198BA}"/>
              </a:ext>
            </a:extLst>
          </p:cNvPr>
          <p:cNvSpPr>
            <a:spLocks noGrp="1"/>
          </p:cNvSpPr>
          <p:nvPr>
            <p:ph type="dt" sz="half" idx="10"/>
          </p:nvPr>
        </p:nvSpPr>
        <p:spPr/>
        <p:txBody>
          <a:bodyPr/>
          <a:lstStyle/>
          <a:p>
            <a:fld id="{BA1F3E04-F3FC-420D-831C-A172E23A6FC3}" type="datetime1">
              <a:rPr lang="zh-CN" altLang="en-US" smtClean="0"/>
              <a:t>2025/12/24</a:t>
            </a:fld>
            <a:endParaRPr lang="en-US" altLang="zh-CN"/>
          </a:p>
        </p:txBody>
      </p:sp>
      <p:sp>
        <p:nvSpPr>
          <p:cNvPr id="4" name="页脚占位符 3">
            <a:extLst>
              <a:ext uri="{FF2B5EF4-FFF2-40B4-BE49-F238E27FC236}">
                <a16:creationId xmlns:a16="http://schemas.microsoft.com/office/drawing/2014/main" id="{420149AE-4B9C-84D4-18A0-D888CED301EF}"/>
              </a:ext>
            </a:extLst>
          </p:cNvPr>
          <p:cNvSpPr>
            <a:spLocks noGrp="1"/>
          </p:cNvSpPr>
          <p:nvPr>
            <p:ph type="ftr" sz="quarter" idx="11"/>
          </p:nvPr>
        </p:nvSpPr>
        <p:spPr/>
        <p:txBody>
          <a:bodyPr/>
          <a:lstStyle/>
          <a:p>
            <a:r>
              <a:rPr lang="en-US" altLang="zh-CN"/>
              <a:t>《数据库系统概论》- 第11章</a:t>
            </a:r>
          </a:p>
        </p:txBody>
      </p:sp>
      <p:sp>
        <p:nvSpPr>
          <p:cNvPr id="5" name="灯片编号占位符 4">
            <a:extLst>
              <a:ext uri="{FF2B5EF4-FFF2-40B4-BE49-F238E27FC236}">
                <a16:creationId xmlns:a16="http://schemas.microsoft.com/office/drawing/2014/main" id="{456BEA1F-723C-BDAE-0E85-03BF94E791C3}"/>
              </a:ext>
            </a:extLst>
          </p:cNvPr>
          <p:cNvSpPr>
            <a:spLocks noGrp="1"/>
          </p:cNvSpPr>
          <p:nvPr>
            <p:ph type="sldNum" sz="quarter" idx="12"/>
          </p:nvPr>
        </p:nvSpPr>
        <p:spPr/>
        <p:txBody>
          <a:bodyPr/>
          <a:lstStyle/>
          <a:p>
            <a:fld id="{AB1F7240-85F2-492B-84D8-762EF0110923}" type="slidenum">
              <a:rPr lang="en-US" altLang="zh-CN" smtClean="0"/>
              <a:pPr/>
              <a:t>51</a:t>
            </a:fld>
            <a:r>
              <a:rPr lang="en-US" altLang="zh-CN"/>
              <a:t>/67</a:t>
            </a:r>
            <a:endParaRPr lang="zh-CN" altLang="en-US" dirty="0"/>
          </a:p>
        </p:txBody>
      </p:sp>
    </p:spTree>
    <p:extLst>
      <p:ext uri="{BB962C8B-B14F-4D97-AF65-F5344CB8AC3E}">
        <p14:creationId xmlns:p14="http://schemas.microsoft.com/office/powerpoint/2010/main" val="513357864"/>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88803">
                                            <p:txEl>
                                              <p:pRg st="8" end="8"/>
                                            </p:txEl>
                                          </p:spTgt>
                                        </p:tgtEl>
                                        <p:attrNameLst>
                                          <p:attrName>style.visibility</p:attrName>
                                        </p:attrNameLst>
                                      </p:cBhvr>
                                      <p:to>
                                        <p:strVal val="visible"/>
                                      </p:to>
                                    </p:set>
                                    <p:animEffect transition="in" filter="blinds(horizontal)">
                                      <p:cBhvr>
                                        <p:cTn id="7" dur="500"/>
                                        <p:tgtEl>
                                          <p:spTgt spid="588803">
                                            <p:txEl>
                                              <p:pRg st="8"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88803">
                                            <p:txEl>
                                              <p:pRg st="9" end="9"/>
                                            </p:txEl>
                                          </p:spTgt>
                                        </p:tgtEl>
                                        <p:attrNameLst>
                                          <p:attrName>style.visibility</p:attrName>
                                        </p:attrNameLst>
                                      </p:cBhvr>
                                      <p:to>
                                        <p:strVal val="visible"/>
                                      </p:to>
                                    </p:set>
                                    <p:animEffect transition="in" filter="blinds(horizontal)">
                                      <p:cBhvr>
                                        <p:cTn id="12" dur="500"/>
                                        <p:tgtEl>
                                          <p:spTgt spid="58880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zh-CN" altLang="en-US"/>
              <a:t>本章目录</a:t>
            </a:r>
          </a:p>
        </p:txBody>
      </p:sp>
      <p:sp>
        <p:nvSpPr>
          <p:cNvPr id="253955" name="Rectangle 3"/>
          <p:cNvSpPr>
            <a:spLocks noGrp="1" noChangeArrowheads="1"/>
          </p:cNvSpPr>
          <p:nvPr>
            <p:ph type="body" idx="1"/>
          </p:nvPr>
        </p:nvSpPr>
        <p:spPr>
          <a:xfrm>
            <a:off x="1371600" y="1639888"/>
            <a:ext cx="7583488" cy="4532312"/>
          </a:xfrm>
        </p:spPr>
        <p:txBody>
          <a:bodyPr/>
          <a:lstStyle/>
          <a:p>
            <a:r>
              <a:rPr lang="en-US" altLang="zh-CN" sz="2800" dirty="0"/>
              <a:t>14.9 </a:t>
            </a:r>
            <a:r>
              <a:rPr lang="zh-CN" altLang="en-US" sz="2800" dirty="0"/>
              <a:t>存储器</a:t>
            </a:r>
            <a:endParaRPr lang="en-US" altLang="zh-CN" sz="2800" dirty="0"/>
          </a:p>
          <a:p>
            <a:r>
              <a:rPr lang="en-US" altLang="zh-CN" sz="2800" dirty="0"/>
              <a:t>14.10 </a:t>
            </a:r>
            <a:r>
              <a:rPr lang="zh-CN" altLang="en-US" sz="2800" dirty="0"/>
              <a:t>恢复与原子性</a:t>
            </a:r>
            <a:endParaRPr lang="en-US" altLang="zh-CN" sz="2800" dirty="0"/>
          </a:p>
          <a:p>
            <a:r>
              <a:rPr lang="en-US" altLang="zh-CN" sz="2800" dirty="0"/>
              <a:t>14.11 </a:t>
            </a:r>
            <a:r>
              <a:rPr lang="zh-CN" altLang="en-US" sz="2800" dirty="0"/>
              <a:t>恢复算法</a:t>
            </a:r>
            <a:endParaRPr lang="en-US" altLang="zh-CN" sz="2800" dirty="0"/>
          </a:p>
          <a:p>
            <a:r>
              <a:rPr lang="en-US" altLang="zh-CN" sz="2800" dirty="0"/>
              <a:t>14.12 </a:t>
            </a:r>
            <a:r>
              <a:rPr lang="zh-CN" altLang="en-US" sz="2800" dirty="0"/>
              <a:t>缓冲区管理</a:t>
            </a:r>
            <a:r>
              <a:rPr lang="en-US" altLang="zh-CN" sz="2800" dirty="0"/>
              <a:t>(</a:t>
            </a:r>
            <a:r>
              <a:rPr lang="zh-CN" altLang="en-US" sz="2800" dirty="0"/>
              <a:t>了解</a:t>
            </a:r>
            <a:r>
              <a:rPr lang="en-US" altLang="zh-CN" sz="2800" dirty="0"/>
              <a:t>)</a:t>
            </a:r>
            <a:endParaRPr lang="zh-CN" altLang="en-US" sz="2800" dirty="0"/>
          </a:p>
        </p:txBody>
      </p:sp>
      <p:sp>
        <p:nvSpPr>
          <p:cNvPr id="2" name="日期占位符 1"/>
          <p:cNvSpPr>
            <a:spLocks noGrp="1"/>
          </p:cNvSpPr>
          <p:nvPr>
            <p:ph type="dt" sz="half" idx="10"/>
          </p:nvPr>
        </p:nvSpPr>
        <p:spPr/>
        <p:txBody>
          <a:bodyPr/>
          <a:lstStyle/>
          <a:p>
            <a:fld id="{E04E720E-6858-4335-AD59-906702CA1A3C}" type="datetime1">
              <a:rPr lang="zh-CN" altLang="en-US" smtClean="0"/>
              <a:t>2025/12/24</a:t>
            </a:fld>
            <a:endParaRPr lang="en-US" altLang="zh-CN"/>
          </a:p>
        </p:txBody>
      </p:sp>
      <p:sp>
        <p:nvSpPr>
          <p:cNvPr id="4" name="AutoShape 4">
            <a:extLst>
              <a:ext uri="{FF2B5EF4-FFF2-40B4-BE49-F238E27FC236}">
                <a16:creationId xmlns:a16="http://schemas.microsoft.com/office/drawing/2014/main" id="{65CC362F-811D-25E1-B617-30BAE8941B42}"/>
              </a:ext>
            </a:extLst>
          </p:cNvPr>
          <p:cNvSpPr>
            <a:spLocks noChangeArrowheads="1"/>
          </p:cNvSpPr>
          <p:nvPr/>
        </p:nvSpPr>
        <p:spPr bwMode="auto">
          <a:xfrm>
            <a:off x="914400" y="2755776"/>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页脚占位符 5">
            <a:extLst>
              <a:ext uri="{FF2B5EF4-FFF2-40B4-BE49-F238E27FC236}">
                <a16:creationId xmlns:a16="http://schemas.microsoft.com/office/drawing/2014/main" id="{05300E23-80B1-E5EE-457E-264250A60DDC}"/>
              </a:ext>
            </a:extLst>
          </p:cNvPr>
          <p:cNvSpPr>
            <a:spLocks noGrp="1"/>
          </p:cNvSpPr>
          <p:nvPr>
            <p:ph type="ftr" sz="quarter" idx="11"/>
          </p:nvPr>
        </p:nvSpPr>
        <p:spPr/>
        <p:txBody>
          <a:bodyPr/>
          <a:lstStyle/>
          <a:p>
            <a:r>
              <a:rPr lang="en-US" altLang="zh-CN"/>
              <a:t>《数据库系统概论》- 第11章</a:t>
            </a:r>
          </a:p>
        </p:txBody>
      </p:sp>
      <p:sp>
        <p:nvSpPr>
          <p:cNvPr id="7" name="灯片编号占位符 6">
            <a:extLst>
              <a:ext uri="{FF2B5EF4-FFF2-40B4-BE49-F238E27FC236}">
                <a16:creationId xmlns:a16="http://schemas.microsoft.com/office/drawing/2014/main" id="{BFF567FC-29AE-DCF3-5098-50A2FE3A7BAB}"/>
              </a:ext>
            </a:extLst>
          </p:cNvPr>
          <p:cNvSpPr>
            <a:spLocks noGrp="1"/>
          </p:cNvSpPr>
          <p:nvPr>
            <p:ph type="sldNum" sz="quarter" idx="12"/>
          </p:nvPr>
        </p:nvSpPr>
        <p:spPr/>
        <p:txBody>
          <a:bodyPr/>
          <a:lstStyle/>
          <a:p>
            <a:fld id="{6CD0990F-CFD2-4E3E-9B0E-DA23AF729A97}" type="slidenum">
              <a:rPr lang="en-US" altLang="zh-CN" smtClean="0"/>
              <a:pPr/>
              <a:t>52</a:t>
            </a:fld>
            <a:r>
              <a:rPr lang="en-US" altLang="zh-CN"/>
              <a:t>/67</a:t>
            </a:r>
            <a:endParaRPr lang="zh-CN" altLang="en-US" dirty="0"/>
          </a:p>
        </p:txBody>
      </p:sp>
    </p:spTree>
    <p:custDataLst>
      <p:tags r:id="rId1"/>
    </p:custDataLst>
    <p:extLst>
      <p:ext uri="{BB962C8B-B14F-4D97-AF65-F5344CB8AC3E}">
        <p14:creationId xmlns:p14="http://schemas.microsoft.com/office/powerpoint/2010/main" val="26878714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772E3A1-46DC-4264-A380-AAB370A4251D}" type="datetime1">
              <a:rPr lang="zh-CN" altLang="en-US" smtClean="0"/>
              <a:t>2025/12/24</a:t>
            </a:fld>
            <a:endParaRPr lang="en-US" altLang="zh-CN"/>
          </a:p>
        </p:txBody>
      </p:sp>
      <p:sp>
        <p:nvSpPr>
          <p:cNvPr id="504834" name="Rectangle 2"/>
          <p:cNvSpPr>
            <a:spLocks noGrp="1" noChangeArrowheads="1"/>
          </p:cNvSpPr>
          <p:nvPr>
            <p:ph type="title"/>
          </p:nvPr>
        </p:nvSpPr>
        <p:spPr/>
        <p:txBody>
          <a:bodyPr/>
          <a:lstStyle/>
          <a:p>
            <a:r>
              <a:rPr lang="en-US" altLang="zh-CN" dirty="0"/>
              <a:t>14.11 </a:t>
            </a:r>
            <a:r>
              <a:rPr lang="zh-CN" altLang="en-US" dirty="0"/>
              <a:t>恢复算法</a:t>
            </a:r>
            <a:r>
              <a:rPr lang="en-US" altLang="zh-CN" dirty="0"/>
              <a:t>-</a:t>
            </a:r>
            <a:r>
              <a:rPr lang="zh-CN" altLang="en-US" dirty="0"/>
              <a:t>事务回滚</a:t>
            </a:r>
            <a:endParaRPr lang="en-US" altLang="zh-CN" dirty="0"/>
          </a:p>
        </p:txBody>
      </p:sp>
      <p:sp>
        <p:nvSpPr>
          <p:cNvPr id="504835" name="Rectangle 3"/>
          <p:cNvSpPr>
            <a:spLocks noGrp="1" noChangeArrowheads="1"/>
          </p:cNvSpPr>
          <p:nvPr>
            <p:ph type="body" idx="1"/>
          </p:nvPr>
        </p:nvSpPr>
        <p:spPr>
          <a:xfrm>
            <a:off x="609600" y="1447801"/>
            <a:ext cx="8345488" cy="4429472"/>
          </a:xfrm>
        </p:spPr>
        <p:txBody>
          <a:bodyPr/>
          <a:lstStyle/>
          <a:p>
            <a:pPr marL="609600" indent="-609600">
              <a:buNone/>
            </a:pPr>
            <a:r>
              <a:rPr lang="zh-CN" altLang="en-US" sz="2800" b="1" dirty="0"/>
              <a:t>事务</a:t>
            </a:r>
            <a:r>
              <a:rPr lang="en-US" altLang="zh-CN" sz="2800" dirty="0" err="1"/>
              <a:t>T</a:t>
            </a:r>
            <a:r>
              <a:rPr lang="en-US" altLang="zh-CN" sz="2800" baseline="-25000" dirty="0" err="1"/>
              <a:t>i</a:t>
            </a:r>
            <a:r>
              <a:rPr lang="zh-CN" altLang="en-US" sz="2800" b="1" dirty="0"/>
              <a:t>回滚 </a:t>
            </a:r>
            <a:r>
              <a:rPr lang="zh-CN" altLang="en-US" sz="2800" dirty="0"/>
              <a:t>：</a:t>
            </a:r>
            <a:endParaRPr lang="zh-CN" altLang="en-US" sz="2800" b="1" dirty="0"/>
          </a:p>
          <a:p>
            <a:pPr marL="609600" indent="-609600">
              <a:buFontTx/>
              <a:buAutoNum type="arabicPeriod"/>
            </a:pPr>
            <a:r>
              <a:rPr lang="zh-CN" altLang="en-US" sz="2400" b="1" dirty="0">
                <a:solidFill>
                  <a:srgbClr val="C00000"/>
                </a:solidFill>
              </a:rPr>
              <a:t>从后往前扫描</a:t>
            </a:r>
            <a:r>
              <a:rPr lang="zh-CN" altLang="en-US" sz="2400" dirty="0"/>
              <a:t>日志文件，查找</a:t>
            </a:r>
            <a:r>
              <a:rPr lang="zh-CN" altLang="en-US" sz="2400" b="1" dirty="0">
                <a:solidFill>
                  <a:srgbClr val="0000FF"/>
                </a:solidFill>
                <a:effectLst>
                  <a:outerShdw blurRad="38100" dist="38100" dir="2700000" algn="tl">
                    <a:srgbClr val="000000">
                      <a:alpha val="43137"/>
                    </a:srgbClr>
                  </a:outerShdw>
                </a:effectLst>
              </a:rPr>
              <a:t>未完成</a:t>
            </a:r>
            <a:r>
              <a:rPr lang="zh-CN" altLang="en-US" sz="2400" dirty="0">
                <a:solidFill>
                  <a:srgbClr val="0000FF"/>
                </a:solidFill>
              </a:rPr>
              <a:t>事务</a:t>
            </a:r>
            <a:r>
              <a:rPr lang="en-US" altLang="zh-CN" sz="2400" dirty="0"/>
              <a:t>T</a:t>
            </a:r>
            <a:r>
              <a:rPr lang="en-US" altLang="zh-CN" sz="2400" baseline="-25000" dirty="0"/>
              <a:t>i</a:t>
            </a:r>
            <a:r>
              <a:rPr lang="zh-CN" altLang="en-US" sz="2400" dirty="0"/>
              <a:t>的</a:t>
            </a:r>
            <a:r>
              <a:rPr lang="zh-CN" altLang="en-US" sz="2400" b="1" dirty="0">
                <a:solidFill>
                  <a:srgbClr val="FF0000"/>
                </a:solidFill>
              </a:rPr>
              <a:t>更新操作</a:t>
            </a:r>
            <a:r>
              <a:rPr lang="zh-CN" altLang="en-US" sz="2400" dirty="0"/>
              <a:t>的</a:t>
            </a:r>
            <a:r>
              <a:rPr lang="zh-CN" altLang="en-US" sz="2400" b="1" dirty="0">
                <a:solidFill>
                  <a:srgbClr val="FF0000"/>
                </a:solidFill>
              </a:rPr>
              <a:t>日志：</a:t>
            </a:r>
            <a:endParaRPr lang="zh-CN" altLang="en-US" sz="2400" dirty="0"/>
          </a:p>
          <a:p>
            <a:pPr marL="1009650" lvl="1" indent="-609600">
              <a:buFont typeface="Wingdings" panose="05000000000000000000" pitchFamily="2" charset="2"/>
              <a:buChar char="ü"/>
            </a:pPr>
            <a:r>
              <a:rPr lang="zh-CN" altLang="en-US" sz="2000" dirty="0"/>
              <a:t>对于所发现的每条形如</a:t>
            </a:r>
            <a:r>
              <a:rPr lang="en-US" altLang="zh-CN" sz="2000" dirty="0"/>
              <a:t>&lt;T</a:t>
            </a:r>
            <a:r>
              <a:rPr lang="en-US" altLang="zh-CN" sz="2000" baseline="-25000" dirty="0"/>
              <a:t>i</a:t>
            </a:r>
            <a:r>
              <a:rPr lang="en-US" altLang="zh-CN" sz="2000" dirty="0"/>
              <a:t>, </a:t>
            </a:r>
            <a:r>
              <a:rPr lang="en-US" altLang="zh-CN" sz="2000" dirty="0" err="1"/>
              <a:t>X</a:t>
            </a:r>
            <a:r>
              <a:rPr lang="en-US" altLang="zh-CN" sz="2000" baseline="-25000" dirty="0" err="1"/>
              <a:t>j</a:t>
            </a:r>
            <a:r>
              <a:rPr lang="en-US" altLang="zh-CN" sz="2000" dirty="0"/>
              <a:t>, V</a:t>
            </a:r>
            <a:r>
              <a:rPr lang="en-US" altLang="zh-CN" sz="2000" baseline="-25000" dirty="0"/>
              <a:t>1</a:t>
            </a:r>
            <a:r>
              <a:rPr lang="en-US" altLang="zh-CN" sz="2000" dirty="0"/>
              <a:t>, V</a:t>
            </a:r>
            <a:r>
              <a:rPr lang="en-US" altLang="zh-CN" sz="2000" baseline="-25000" dirty="0"/>
              <a:t>2</a:t>
            </a:r>
            <a:r>
              <a:rPr lang="en-US" altLang="zh-CN" sz="2000" dirty="0"/>
              <a:t>&gt;</a:t>
            </a:r>
            <a:r>
              <a:rPr lang="zh-CN" altLang="en-US" sz="2000" dirty="0"/>
              <a:t>的日志记录，把该事务的</a:t>
            </a:r>
            <a:r>
              <a:rPr lang="zh-CN" altLang="en-US" sz="2000" b="1" dirty="0"/>
              <a:t>更新操作</a:t>
            </a:r>
            <a:r>
              <a:rPr lang="zh-CN" altLang="en-US" sz="2000" dirty="0"/>
              <a:t>修改的值改为</a:t>
            </a:r>
            <a:r>
              <a:rPr lang="zh-CN" altLang="en-US" sz="2000" dirty="0">
                <a:solidFill>
                  <a:srgbClr val="0000FF"/>
                </a:solidFill>
              </a:rPr>
              <a:t>旧值</a:t>
            </a:r>
            <a:r>
              <a:rPr lang="zh-CN" altLang="en-US" sz="2000" dirty="0">
                <a:solidFill>
                  <a:srgbClr val="FF0000"/>
                </a:solidFill>
              </a:rPr>
              <a:t>，</a:t>
            </a:r>
            <a:r>
              <a:rPr lang="zh-CN" altLang="en-US" sz="2000" dirty="0"/>
              <a:t>即将</a:t>
            </a:r>
            <a:r>
              <a:rPr lang="zh-CN" altLang="en-US" sz="2000" dirty="0">
                <a:solidFill>
                  <a:srgbClr val="0000FF"/>
                </a:solidFill>
              </a:rPr>
              <a:t>值</a:t>
            </a:r>
            <a:r>
              <a:rPr lang="en-US" altLang="zh-CN" sz="2000" dirty="0">
                <a:solidFill>
                  <a:srgbClr val="0000FF"/>
                </a:solidFill>
              </a:rPr>
              <a:t>V</a:t>
            </a:r>
            <a:r>
              <a:rPr lang="en-US" altLang="zh-CN" sz="2000" baseline="-25000" dirty="0">
                <a:solidFill>
                  <a:srgbClr val="0000FF"/>
                </a:solidFill>
              </a:rPr>
              <a:t>1</a:t>
            </a:r>
            <a:r>
              <a:rPr lang="zh-CN" altLang="en-US" sz="2000" dirty="0"/>
              <a:t>写入数据项</a:t>
            </a:r>
            <a:r>
              <a:rPr lang="en-US" altLang="zh-CN" sz="2000" dirty="0" err="1"/>
              <a:t>X</a:t>
            </a:r>
            <a:r>
              <a:rPr lang="en-US" altLang="zh-CN" sz="2000" baseline="-25000" dirty="0" err="1"/>
              <a:t>j</a:t>
            </a:r>
            <a:r>
              <a:rPr lang="en-US" altLang="zh-CN" sz="2000" baseline="-25000" dirty="0"/>
              <a:t> </a:t>
            </a:r>
            <a:r>
              <a:rPr lang="zh-CN" altLang="en-US" sz="2000" dirty="0"/>
              <a:t>；</a:t>
            </a:r>
            <a:endParaRPr lang="en-US" altLang="zh-CN" sz="2000" dirty="0"/>
          </a:p>
          <a:p>
            <a:pPr marL="1009650" lvl="1" indent="-609600">
              <a:buFont typeface="Wingdings" panose="05000000000000000000" pitchFamily="2" charset="2"/>
              <a:buChar char="ü"/>
            </a:pPr>
            <a:r>
              <a:rPr lang="zh-CN" altLang="en-US" sz="2000" dirty="0"/>
              <a:t>往</a:t>
            </a:r>
            <a:r>
              <a:rPr lang="zh-CN" altLang="en-US" sz="2000" b="1" dirty="0"/>
              <a:t>日志记录</a:t>
            </a:r>
            <a:r>
              <a:rPr lang="zh-CN" altLang="en-US" sz="2000" dirty="0"/>
              <a:t>中写一条</a:t>
            </a:r>
            <a:r>
              <a:rPr lang="zh-CN" altLang="en-US" sz="2000" dirty="0">
                <a:solidFill>
                  <a:srgbClr val="0000FF"/>
                </a:solidFill>
              </a:rPr>
              <a:t>特殊的</a:t>
            </a:r>
            <a:r>
              <a:rPr lang="en-US" altLang="zh-CN" sz="2000" dirty="0">
                <a:solidFill>
                  <a:srgbClr val="0000FF"/>
                </a:solidFill>
              </a:rPr>
              <a:t>redo-only</a:t>
            </a:r>
            <a:r>
              <a:rPr lang="zh-CN" altLang="en-US" sz="2000" dirty="0">
                <a:solidFill>
                  <a:srgbClr val="0000FF"/>
                </a:solidFill>
              </a:rPr>
              <a:t>日志记录</a:t>
            </a:r>
            <a:r>
              <a:rPr lang="en-US" altLang="zh-CN" sz="2000" dirty="0">
                <a:solidFill>
                  <a:srgbClr val="0000FF"/>
                </a:solidFill>
              </a:rPr>
              <a:t>&lt; T</a:t>
            </a:r>
            <a:r>
              <a:rPr lang="en-US" altLang="zh-CN" sz="2000" baseline="-25000" dirty="0">
                <a:solidFill>
                  <a:srgbClr val="0000FF"/>
                </a:solidFill>
              </a:rPr>
              <a:t>i </a:t>
            </a:r>
            <a:r>
              <a:rPr lang="en-US" altLang="zh-CN" sz="2000" dirty="0">
                <a:solidFill>
                  <a:srgbClr val="0000FF"/>
                </a:solidFill>
              </a:rPr>
              <a:t>, </a:t>
            </a:r>
            <a:r>
              <a:rPr lang="en-US" altLang="zh-CN" sz="2000" dirty="0" err="1">
                <a:solidFill>
                  <a:srgbClr val="0000FF"/>
                </a:solidFill>
              </a:rPr>
              <a:t>X</a:t>
            </a:r>
            <a:r>
              <a:rPr lang="en-US" altLang="zh-CN" sz="2000" baseline="-25000" dirty="0" err="1">
                <a:solidFill>
                  <a:srgbClr val="0000FF"/>
                </a:solidFill>
              </a:rPr>
              <a:t>j</a:t>
            </a:r>
            <a:r>
              <a:rPr lang="en-US" altLang="zh-CN" sz="2000" dirty="0">
                <a:solidFill>
                  <a:srgbClr val="0000FF"/>
                </a:solidFill>
              </a:rPr>
              <a:t>,</a:t>
            </a:r>
            <a:r>
              <a:rPr lang="zh-CN" altLang="en-US" sz="2000" dirty="0">
                <a:solidFill>
                  <a:srgbClr val="0000FF"/>
                </a:solidFill>
              </a:rPr>
              <a:t> </a:t>
            </a:r>
            <a:r>
              <a:rPr lang="en-US" altLang="zh-CN" sz="2000" dirty="0">
                <a:solidFill>
                  <a:srgbClr val="0000FF"/>
                </a:solidFill>
              </a:rPr>
              <a:t>V</a:t>
            </a:r>
            <a:r>
              <a:rPr lang="en-US" altLang="zh-CN" sz="2000" baseline="-25000" dirty="0">
                <a:solidFill>
                  <a:srgbClr val="0000FF"/>
                </a:solidFill>
              </a:rPr>
              <a:t>1</a:t>
            </a:r>
            <a:r>
              <a:rPr lang="en-US" altLang="zh-CN" sz="2000" dirty="0">
                <a:solidFill>
                  <a:srgbClr val="0000FF"/>
                </a:solidFill>
              </a:rPr>
              <a:t>&gt;</a:t>
            </a:r>
            <a:r>
              <a:rPr lang="zh-CN" altLang="en-US" sz="2000" dirty="0"/>
              <a:t>，其中，</a:t>
            </a:r>
            <a:r>
              <a:rPr lang="en-US" altLang="zh-CN" sz="2000" dirty="0"/>
              <a:t>V</a:t>
            </a:r>
            <a:r>
              <a:rPr lang="en-US" altLang="zh-CN" sz="2000" baseline="-25000" dirty="0"/>
              <a:t>1</a:t>
            </a:r>
            <a:r>
              <a:rPr lang="zh-CN" altLang="en-US" sz="2000" dirty="0"/>
              <a:t>是在本次回滚中数据项</a:t>
            </a:r>
            <a:r>
              <a:rPr lang="en-US" altLang="zh-CN" sz="2000" dirty="0" err="1"/>
              <a:t>X</a:t>
            </a:r>
            <a:r>
              <a:rPr lang="en-US" altLang="zh-CN" sz="2000" baseline="-25000" dirty="0" err="1"/>
              <a:t>j</a:t>
            </a:r>
            <a:r>
              <a:rPr lang="zh-CN" altLang="en-US" sz="2000" dirty="0"/>
              <a:t>被恢复成的值。这种日志记录被称为补偿日志记录，记录中不需要</a:t>
            </a:r>
            <a:r>
              <a:rPr lang="en-US" altLang="zh-CN" sz="2000" dirty="0"/>
              <a:t>undo</a:t>
            </a:r>
            <a:r>
              <a:rPr lang="zh-CN" altLang="en-US" sz="2000" dirty="0"/>
              <a:t>信息，因为不需要撤销这样的</a:t>
            </a:r>
            <a:r>
              <a:rPr lang="en-US" altLang="zh-CN" sz="2000" dirty="0"/>
              <a:t>undo</a:t>
            </a:r>
            <a:r>
              <a:rPr lang="zh-CN" altLang="en-US" sz="2000" dirty="0"/>
              <a:t>操作。</a:t>
            </a:r>
          </a:p>
          <a:p>
            <a:pPr marL="1009650" lvl="1" indent="-609600">
              <a:buFont typeface="Wingdings" panose="05000000000000000000" pitchFamily="2" charset="2"/>
              <a:buChar char="ü"/>
            </a:pPr>
            <a:r>
              <a:rPr lang="zh-CN" altLang="en-US" sz="2000" dirty="0"/>
              <a:t>继续反向扫描，查找</a:t>
            </a:r>
            <a:r>
              <a:rPr lang="zh-CN" altLang="en-US" sz="2000" dirty="0">
                <a:solidFill>
                  <a:srgbClr val="FF0000"/>
                </a:solidFill>
              </a:rPr>
              <a:t>该事务</a:t>
            </a:r>
            <a:r>
              <a:rPr lang="zh-CN" altLang="en-US" sz="2000" dirty="0"/>
              <a:t>的</a:t>
            </a:r>
            <a:r>
              <a:rPr lang="zh-CN" altLang="en-US" sz="2000" dirty="0">
                <a:solidFill>
                  <a:srgbClr val="FF0000"/>
                </a:solidFill>
              </a:rPr>
              <a:t>其他更新操作</a:t>
            </a:r>
            <a:r>
              <a:rPr lang="zh-CN" altLang="en-US" sz="2000" dirty="0"/>
              <a:t>，并做同样处理。</a:t>
            </a:r>
          </a:p>
          <a:p>
            <a:pPr marL="609600" indent="-609600">
              <a:buFontTx/>
              <a:buAutoNum type="arabicPeriod"/>
            </a:pPr>
            <a:r>
              <a:rPr lang="zh-CN" altLang="en-US" sz="2400" b="1" dirty="0">
                <a:solidFill>
                  <a:srgbClr val="0000FF"/>
                </a:solidFill>
              </a:rPr>
              <a:t>直至</a:t>
            </a:r>
            <a:r>
              <a:rPr lang="zh-CN" altLang="en-US" sz="2400" dirty="0">
                <a:solidFill>
                  <a:srgbClr val="0000FF"/>
                </a:solidFill>
              </a:rPr>
              <a:t>该事务的</a:t>
            </a:r>
            <a:r>
              <a:rPr lang="zh-CN" altLang="en-US" sz="2400" b="1" dirty="0">
                <a:solidFill>
                  <a:srgbClr val="FF0000"/>
                </a:solidFill>
              </a:rPr>
              <a:t>开始标记</a:t>
            </a:r>
            <a:r>
              <a:rPr lang="zh-CN" altLang="en-US" sz="2400" dirty="0">
                <a:solidFill>
                  <a:srgbClr val="0000FF"/>
                </a:solidFill>
              </a:rPr>
              <a:t>为止</a:t>
            </a:r>
            <a:r>
              <a:rPr lang="zh-CN" altLang="en-US" sz="2400" dirty="0"/>
              <a:t>，停止扫描，</a:t>
            </a:r>
            <a:r>
              <a:rPr lang="zh-CN" altLang="en-US" sz="2400" dirty="0">
                <a:solidFill>
                  <a:srgbClr val="0000FF"/>
                </a:solidFill>
              </a:rPr>
              <a:t>写入日志记录</a:t>
            </a:r>
            <a:r>
              <a:rPr lang="en-US" altLang="zh-CN" sz="2400" dirty="0">
                <a:solidFill>
                  <a:srgbClr val="0000FF"/>
                </a:solidFill>
              </a:rPr>
              <a:t>&lt;</a:t>
            </a:r>
            <a:r>
              <a:rPr lang="en-US" altLang="zh-CN" sz="2400" dirty="0" err="1"/>
              <a:t>T</a:t>
            </a:r>
            <a:r>
              <a:rPr lang="en-US" altLang="zh-CN" sz="2400" baseline="-25000" dirty="0" err="1"/>
              <a:t>i</a:t>
            </a:r>
            <a:r>
              <a:rPr lang="en-US" altLang="zh-CN" sz="2400" baseline="-25000" dirty="0"/>
              <a:t>  </a:t>
            </a:r>
            <a:r>
              <a:rPr lang="en-US" altLang="zh-CN" sz="2400" dirty="0"/>
              <a:t>abort</a:t>
            </a:r>
            <a:r>
              <a:rPr lang="en-US" altLang="zh-CN" sz="2400" dirty="0">
                <a:solidFill>
                  <a:srgbClr val="0000FF"/>
                </a:solidFill>
              </a:rPr>
              <a:t>&gt;</a:t>
            </a:r>
            <a:r>
              <a:rPr lang="zh-CN" altLang="en-US" sz="2400" dirty="0"/>
              <a:t>。</a:t>
            </a:r>
            <a:endParaRPr lang="zh-CN" altLang="en-US" sz="2800" dirty="0"/>
          </a:p>
        </p:txBody>
      </p:sp>
      <p:sp>
        <p:nvSpPr>
          <p:cNvPr id="6" name="页脚占位符 5">
            <a:extLst>
              <a:ext uri="{FF2B5EF4-FFF2-40B4-BE49-F238E27FC236}">
                <a16:creationId xmlns:a16="http://schemas.microsoft.com/office/drawing/2014/main" id="{8BAD9547-D907-6346-D180-EC46DABD99F0}"/>
              </a:ext>
            </a:extLst>
          </p:cNvPr>
          <p:cNvSpPr>
            <a:spLocks noGrp="1"/>
          </p:cNvSpPr>
          <p:nvPr>
            <p:ph type="ftr" sz="quarter" idx="11"/>
          </p:nvPr>
        </p:nvSpPr>
        <p:spPr/>
        <p:txBody>
          <a:bodyPr/>
          <a:lstStyle/>
          <a:p>
            <a:r>
              <a:rPr lang="en-US" altLang="zh-CN"/>
              <a:t>《数据库系统概论》- 第11章</a:t>
            </a:r>
          </a:p>
        </p:txBody>
      </p:sp>
      <p:sp>
        <p:nvSpPr>
          <p:cNvPr id="7" name="灯片编号占位符 6">
            <a:extLst>
              <a:ext uri="{FF2B5EF4-FFF2-40B4-BE49-F238E27FC236}">
                <a16:creationId xmlns:a16="http://schemas.microsoft.com/office/drawing/2014/main" id="{0C149CC8-3BBD-2A26-D0FE-E264EE5BD388}"/>
              </a:ext>
            </a:extLst>
          </p:cNvPr>
          <p:cNvSpPr>
            <a:spLocks noGrp="1"/>
          </p:cNvSpPr>
          <p:nvPr>
            <p:ph type="sldNum" sz="quarter" idx="12"/>
          </p:nvPr>
        </p:nvSpPr>
        <p:spPr/>
        <p:txBody>
          <a:bodyPr/>
          <a:lstStyle/>
          <a:p>
            <a:fld id="{6CD0990F-CFD2-4E3E-9B0E-DA23AF729A97}" type="slidenum">
              <a:rPr lang="en-US" altLang="zh-CN" smtClean="0"/>
              <a:pPr/>
              <a:t>53</a:t>
            </a:fld>
            <a:r>
              <a:rPr lang="en-US" altLang="zh-CN"/>
              <a:t>/67</a:t>
            </a:r>
            <a:endParaRPr lang="zh-CN" altLang="en-US" dirty="0"/>
          </a:p>
        </p:txBody>
      </p:sp>
      <p:sp>
        <p:nvSpPr>
          <p:cNvPr id="3" name="文本框 2">
            <a:extLst>
              <a:ext uri="{FF2B5EF4-FFF2-40B4-BE49-F238E27FC236}">
                <a16:creationId xmlns:a16="http://schemas.microsoft.com/office/drawing/2014/main" id="{8B9344FA-3C21-06B6-3FB5-B03AA3ECF41D}"/>
              </a:ext>
            </a:extLst>
          </p:cNvPr>
          <p:cNvSpPr txBox="1"/>
          <p:nvPr/>
        </p:nvSpPr>
        <p:spPr>
          <a:xfrm>
            <a:off x="538572" y="6054507"/>
            <a:ext cx="8066856" cy="646331"/>
          </a:xfrm>
          <a:prstGeom prst="rect">
            <a:avLst/>
          </a:prstGeom>
          <a:solidFill>
            <a:schemeClr val="bg1"/>
          </a:solidFill>
        </p:spPr>
        <p:txBody>
          <a:bodyPr wrap="square" rtlCol="0">
            <a:spAutoFit/>
          </a:bodyPr>
          <a:lstStyle/>
          <a:p>
            <a:r>
              <a:rPr lang="zh-CN" altLang="en-US" sz="2000" dirty="0"/>
              <a:t>备注：事务所做的每个更新动作，包括将数据项</a:t>
            </a:r>
            <a:r>
              <a:rPr lang="zh-CN" altLang="en-US" sz="2000" b="1" u="sng" dirty="0">
                <a:solidFill>
                  <a:srgbClr val="FF0000"/>
                </a:solidFill>
              </a:rPr>
              <a:t>恢复成其旧值的动作</a:t>
            </a:r>
            <a:r>
              <a:rPr lang="zh-CN" altLang="en-US" sz="2000" dirty="0"/>
              <a:t>，都</a:t>
            </a:r>
            <a:r>
              <a:rPr lang="zh-CN" altLang="en-US" sz="2000" b="1" u="sng" dirty="0">
                <a:solidFill>
                  <a:srgbClr val="FF0000"/>
                </a:solidFill>
              </a:rPr>
              <a:t>记录到日志</a:t>
            </a:r>
            <a:r>
              <a:rPr lang="zh-CN" altLang="en-US" sz="2000" dirty="0"/>
              <a:t>中。</a:t>
            </a:r>
          </a:p>
        </p:txBody>
      </p:sp>
    </p:spTree>
    <p:extLst>
      <p:ext uri="{BB962C8B-B14F-4D97-AF65-F5344CB8AC3E}">
        <p14:creationId xmlns:p14="http://schemas.microsoft.com/office/powerpoint/2010/main" val="89479227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7F0C95D-0C4A-4C47-9BAF-F0F47F5D4D83}" type="datetime1">
              <a:rPr lang="zh-CN" altLang="en-US" smtClean="0"/>
              <a:t>2025/12/24</a:t>
            </a:fld>
            <a:endParaRPr lang="en-US" altLang="zh-CN"/>
          </a:p>
        </p:txBody>
      </p:sp>
      <p:sp>
        <p:nvSpPr>
          <p:cNvPr id="504834" name="Rectangle 2"/>
          <p:cNvSpPr>
            <a:spLocks noGrp="1" noChangeArrowheads="1"/>
          </p:cNvSpPr>
          <p:nvPr>
            <p:ph type="title"/>
          </p:nvPr>
        </p:nvSpPr>
        <p:spPr/>
        <p:txBody>
          <a:bodyPr/>
          <a:lstStyle/>
          <a:p>
            <a:r>
              <a:rPr lang="en-US" altLang="zh-CN" dirty="0"/>
              <a:t>14.11 </a:t>
            </a:r>
            <a:r>
              <a:rPr lang="zh-CN" altLang="en-US" dirty="0"/>
              <a:t>恢复算法</a:t>
            </a:r>
            <a:r>
              <a:rPr lang="en-US" altLang="zh-CN" dirty="0"/>
              <a:t>-</a:t>
            </a:r>
            <a:r>
              <a:rPr lang="zh-CN" altLang="en-US" dirty="0"/>
              <a:t>系统崩溃后的恢复</a:t>
            </a:r>
            <a:endParaRPr lang="en-US" altLang="zh-CN" dirty="0"/>
          </a:p>
        </p:txBody>
      </p:sp>
      <p:sp>
        <p:nvSpPr>
          <p:cNvPr id="504835" name="Rectangle 3"/>
          <p:cNvSpPr>
            <a:spLocks noGrp="1" noChangeArrowheads="1"/>
          </p:cNvSpPr>
          <p:nvPr>
            <p:ph type="body" idx="1"/>
          </p:nvPr>
        </p:nvSpPr>
        <p:spPr>
          <a:xfrm>
            <a:off x="609600" y="1447800"/>
            <a:ext cx="8105775" cy="4684713"/>
          </a:xfrm>
        </p:spPr>
        <p:txBody>
          <a:bodyPr/>
          <a:lstStyle/>
          <a:p>
            <a:pPr marL="609600" indent="-609600">
              <a:buNone/>
            </a:pPr>
            <a:r>
              <a:rPr lang="zh-CN" altLang="en-US" sz="2400" dirty="0"/>
              <a:t>系统内崩溃发生后当数据库系统重启时，恢复动作分</a:t>
            </a:r>
            <a:r>
              <a:rPr lang="zh-CN" altLang="en-US" sz="2400" b="1" dirty="0">
                <a:solidFill>
                  <a:srgbClr val="0000FF"/>
                </a:solidFill>
              </a:rPr>
              <a:t>两阶段</a:t>
            </a:r>
            <a:r>
              <a:rPr lang="zh-CN" altLang="en-US" sz="2400" dirty="0"/>
              <a:t>进行：</a:t>
            </a:r>
            <a:endParaRPr lang="en-US" altLang="zh-CN" sz="2400" dirty="0"/>
          </a:p>
          <a:p>
            <a:pPr marL="609600" indent="-609600">
              <a:buAutoNum type="arabicPeriod"/>
            </a:pPr>
            <a:r>
              <a:rPr lang="zh-CN" altLang="en-US" sz="2400" dirty="0"/>
              <a:t>在</a:t>
            </a:r>
            <a:r>
              <a:rPr lang="zh-CN" altLang="en-US" sz="2400" b="1" dirty="0">
                <a:solidFill>
                  <a:srgbClr val="FF0000"/>
                </a:solidFill>
              </a:rPr>
              <a:t>重做阶段</a:t>
            </a:r>
            <a:r>
              <a:rPr lang="zh-CN" altLang="en-US" sz="2400" dirty="0"/>
              <a:t>，系统通过从</a:t>
            </a:r>
            <a:r>
              <a:rPr lang="zh-CN" altLang="en-US" sz="2400" b="1" dirty="0"/>
              <a:t>最后一个检查点</a:t>
            </a:r>
            <a:r>
              <a:rPr lang="zh-CN" altLang="en-US" sz="2400" dirty="0"/>
              <a:t>开始</a:t>
            </a:r>
            <a:r>
              <a:rPr lang="zh-CN" altLang="en-US" sz="2400" dirty="0">
                <a:solidFill>
                  <a:srgbClr val="FF0000"/>
                </a:solidFill>
              </a:rPr>
              <a:t>正向</a:t>
            </a:r>
            <a:r>
              <a:rPr lang="zh-CN" altLang="en-US" sz="2400" dirty="0"/>
              <a:t>地</a:t>
            </a:r>
            <a:r>
              <a:rPr lang="zh-CN" altLang="en-US" sz="2400" dirty="0">
                <a:solidFill>
                  <a:srgbClr val="FF0000"/>
                </a:solidFill>
              </a:rPr>
              <a:t>扫描日志</a:t>
            </a:r>
            <a:r>
              <a:rPr lang="zh-CN" altLang="en-US" sz="2400" dirty="0"/>
              <a:t>来</a:t>
            </a:r>
            <a:r>
              <a:rPr lang="zh-CN" altLang="en-US" sz="2400" b="1" dirty="0">
                <a:solidFill>
                  <a:srgbClr val="0000FF"/>
                </a:solidFill>
              </a:rPr>
              <a:t>重演</a:t>
            </a:r>
            <a:r>
              <a:rPr lang="zh-CN" altLang="en-US" sz="2400" dirty="0"/>
              <a:t>所有事务的更新。</a:t>
            </a:r>
            <a:endParaRPr lang="en-US" altLang="zh-CN" sz="2400" dirty="0"/>
          </a:p>
          <a:p>
            <a:pPr marL="1009650" lvl="1" indent="-609600"/>
            <a:r>
              <a:rPr lang="zh-CN" altLang="en-US" sz="2000" b="1" dirty="0">
                <a:solidFill>
                  <a:srgbClr val="0000FF"/>
                </a:solidFill>
              </a:rPr>
              <a:t>重演</a:t>
            </a:r>
            <a:r>
              <a:rPr lang="zh-CN" altLang="en-US" sz="2000" dirty="0"/>
              <a:t>的日志记录包括在系统崩溃</a:t>
            </a:r>
            <a:r>
              <a:rPr lang="zh-CN" altLang="en-US" sz="2000" b="1" dirty="0"/>
              <a:t>之前</a:t>
            </a:r>
            <a:r>
              <a:rPr lang="zh-CN" altLang="en-US" sz="2000" b="1" dirty="0">
                <a:solidFill>
                  <a:srgbClr val="0000FF"/>
                </a:solidFill>
              </a:rPr>
              <a:t>已回滚</a:t>
            </a:r>
            <a:r>
              <a:rPr lang="zh-CN" altLang="en-US" sz="2000" dirty="0"/>
              <a:t>的事务的日志记录，以及在系统崩溃</a:t>
            </a:r>
            <a:r>
              <a:rPr lang="zh-CN" altLang="en-US" sz="2000" b="1" dirty="0"/>
              <a:t>发生时</a:t>
            </a:r>
            <a:r>
              <a:rPr lang="zh-CN" altLang="en-US" sz="2000" dirty="0"/>
              <a:t>还</a:t>
            </a:r>
            <a:r>
              <a:rPr lang="zh-CN" altLang="en-US" sz="2000" b="1" dirty="0">
                <a:solidFill>
                  <a:srgbClr val="0000FF"/>
                </a:solidFill>
              </a:rPr>
              <a:t>没有提交</a:t>
            </a:r>
            <a:r>
              <a:rPr lang="zh-CN" altLang="en-US" sz="2000" dirty="0"/>
              <a:t>的事务的日志记录。</a:t>
            </a:r>
            <a:endParaRPr lang="en-US" altLang="zh-CN" sz="2000" dirty="0"/>
          </a:p>
          <a:p>
            <a:pPr marL="1009650" lvl="1" indent="-609600"/>
            <a:r>
              <a:rPr lang="zh-CN" altLang="en-US" sz="2000" dirty="0"/>
              <a:t>此外，还确定在系统崩溃</a:t>
            </a:r>
            <a:r>
              <a:rPr lang="zh-CN" altLang="en-US" sz="2000" b="1" dirty="0"/>
              <a:t>发生时</a:t>
            </a:r>
            <a:r>
              <a:rPr lang="zh-CN" altLang="en-US" sz="2000" b="1" dirty="0">
                <a:solidFill>
                  <a:srgbClr val="0000FF"/>
                </a:solidFill>
              </a:rPr>
              <a:t>未完成</a:t>
            </a:r>
            <a:r>
              <a:rPr lang="zh-CN" altLang="en-US" sz="2000" dirty="0"/>
              <a:t>，因此</a:t>
            </a:r>
            <a:r>
              <a:rPr lang="zh-CN" altLang="en-US" sz="2000" b="1" dirty="0">
                <a:solidFill>
                  <a:srgbClr val="0000FF"/>
                </a:solidFill>
              </a:rPr>
              <a:t>必须回滚的事务</a:t>
            </a:r>
            <a:r>
              <a:rPr lang="zh-CN" altLang="en-US" sz="2000" dirty="0"/>
              <a:t>。这样的未完成事务</a:t>
            </a:r>
            <a:r>
              <a:rPr lang="zh-CN" altLang="en-US" sz="2000" b="1" dirty="0"/>
              <a:t>或者在检查点时是活跃</a:t>
            </a:r>
            <a:r>
              <a:rPr lang="zh-CN" altLang="en-US" sz="2000" dirty="0"/>
              <a:t>的，因此会出现在</a:t>
            </a:r>
            <a:r>
              <a:rPr lang="zh-CN" altLang="en-US" sz="2000" b="1" dirty="0"/>
              <a:t>检查点记录的事务列表</a:t>
            </a:r>
            <a:r>
              <a:rPr lang="zh-CN" altLang="en-US" sz="2000" dirty="0"/>
              <a:t>中，</a:t>
            </a:r>
            <a:r>
              <a:rPr lang="zh-CN" altLang="en-US" sz="2000" b="1" dirty="0"/>
              <a:t>或者</a:t>
            </a:r>
            <a:r>
              <a:rPr lang="zh-CN" altLang="en-US" sz="2000" dirty="0"/>
              <a:t>是</a:t>
            </a:r>
            <a:r>
              <a:rPr lang="zh-CN" altLang="en-US" sz="2000" b="1" dirty="0"/>
              <a:t>在检查点之后开始的</a:t>
            </a:r>
            <a:r>
              <a:rPr lang="en-US" altLang="zh-CN" sz="2000" dirty="0"/>
              <a:t>; </a:t>
            </a:r>
            <a:r>
              <a:rPr lang="zh-CN" altLang="en-US" sz="2000" dirty="0"/>
              <a:t>而且，这样的</a:t>
            </a:r>
            <a:r>
              <a:rPr lang="zh-CN" altLang="en-US" sz="2000" u="sng" dirty="0"/>
              <a:t>未完成事务在日志中既没有</a:t>
            </a:r>
            <a:r>
              <a:rPr lang="en-US" altLang="zh-CN" sz="2000" u="sng" dirty="0"/>
              <a:t>&lt;T</a:t>
            </a:r>
            <a:r>
              <a:rPr lang="zh-CN" altLang="en-US" sz="2000" u="sng" dirty="0"/>
              <a:t>，</a:t>
            </a:r>
            <a:r>
              <a:rPr lang="en-US" altLang="zh-CN" sz="2000" u="sng" dirty="0"/>
              <a:t>abort &gt;</a:t>
            </a:r>
            <a:r>
              <a:rPr lang="zh-CN" altLang="en-US" sz="2000" u="sng" dirty="0"/>
              <a:t>记录，也没有</a:t>
            </a:r>
            <a:r>
              <a:rPr lang="en-US" altLang="zh-CN" sz="2000" u="sng" dirty="0"/>
              <a:t>&lt;T</a:t>
            </a:r>
            <a:r>
              <a:rPr lang="zh-CN" altLang="en-US" sz="2000" u="sng" dirty="0"/>
              <a:t>，</a:t>
            </a:r>
            <a:r>
              <a:rPr lang="en-US" altLang="zh-CN" sz="2000" u="sng" dirty="0"/>
              <a:t>commit&gt;</a:t>
            </a:r>
            <a:r>
              <a:rPr lang="zh-CN" altLang="en-US" sz="2000" u="sng" dirty="0"/>
              <a:t>记录</a:t>
            </a:r>
            <a:r>
              <a:rPr lang="zh-CN" altLang="en-US" sz="2000" dirty="0"/>
              <a:t>。</a:t>
            </a:r>
          </a:p>
          <a:p>
            <a:pPr marL="400050" lvl="1" indent="0">
              <a:buNone/>
            </a:pPr>
            <a:endParaRPr lang="en-US" altLang="zh-CN" sz="2000" dirty="0"/>
          </a:p>
          <a:p>
            <a:pPr marL="400050" lvl="1" indent="0">
              <a:buNone/>
            </a:pPr>
            <a:r>
              <a:rPr lang="zh-CN" altLang="en-US" sz="2000" b="1" dirty="0">
                <a:solidFill>
                  <a:srgbClr val="0000FF"/>
                </a:solidFill>
              </a:rPr>
              <a:t>扫描日志的过程中所采取的具体步骤如下</a:t>
            </a:r>
            <a:r>
              <a:rPr lang="en-US" altLang="zh-CN" sz="2000" b="1" dirty="0">
                <a:solidFill>
                  <a:srgbClr val="0000FF"/>
                </a:solidFill>
              </a:rPr>
              <a:t>:</a:t>
            </a:r>
          </a:p>
        </p:txBody>
      </p:sp>
      <p:sp>
        <p:nvSpPr>
          <p:cNvPr id="3" name="页脚占位符 2">
            <a:extLst>
              <a:ext uri="{FF2B5EF4-FFF2-40B4-BE49-F238E27FC236}">
                <a16:creationId xmlns:a16="http://schemas.microsoft.com/office/drawing/2014/main" id="{C33FD78F-4CAE-1194-19EB-4A460A383816}"/>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F3D22435-9E83-2250-0791-8DAFDFF8F1DF}"/>
              </a:ext>
            </a:extLst>
          </p:cNvPr>
          <p:cNvSpPr>
            <a:spLocks noGrp="1"/>
          </p:cNvSpPr>
          <p:nvPr>
            <p:ph type="sldNum" sz="quarter" idx="12"/>
          </p:nvPr>
        </p:nvSpPr>
        <p:spPr/>
        <p:txBody>
          <a:bodyPr/>
          <a:lstStyle/>
          <a:p>
            <a:fld id="{6CD0990F-CFD2-4E3E-9B0E-DA23AF729A97}" type="slidenum">
              <a:rPr lang="en-US" altLang="zh-CN" smtClean="0"/>
              <a:pPr/>
              <a:t>54</a:t>
            </a:fld>
            <a:r>
              <a:rPr lang="en-US" altLang="zh-CN"/>
              <a:t>/67</a:t>
            </a:r>
            <a:endParaRPr lang="zh-CN" altLang="en-US" dirty="0"/>
          </a:p>
        </p:txBody>
      </p:sp>
    </p:spTree>
    <p:extLst>
      <p:ext uri="{BB962C8B-B14F-4D97-AF65-F5344CB8AC3E}">
        <p14:creationId xmlns:p14="http://schemas.microsoft.com/office/powerpoint/2010/main" val="3282560285"/>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20A7F98-34B9-4734-B661-B7DC0956731F}" type="datetime1">
              <a:rPr lang="zh-CN" altLang="en-US" smtClean="0"/>
              <a:t>2025/12/24</a:t>
            </a:fld>
            <a:endParaRPr lang="en-US" altLang="zh-CN"/>
          </a:p>
        </p:txBody>
      </p:sp>
      <p:sp>
        <p:nvSpPr>
          <p:cNvPr id="504834" name="Rectangle 2"/>
          <p:cNvSpPr>
            <a:spLocks noGrp="1" noChangeArrowheads="1"/>
          </p:cNvSpPr>
          <p:nvPr>
            <p:ph type="title"/>
          </p:nvPr>
        </p:nvSpPr>
        <p:spPr/>
        <p:txBody>
          <a:bodyPr/>
          <a:lstStyle/>
          <a:p>
            <a:r>
              <a:rPr lang="en-US" altLang="zh-CN" dirty="0"/>
              <a:t>14.11 </a:t>
            </a:r>
            <a:r>
              <a:rPr lang="zh-CN" altLang="en-US" dirty="0"/>
              <a:t>恢复算法</a:t>
            </a:r>
            <a:r>
              <a:rPr lang="en-US" altLang="zh-CN" dirty="0"/>
              <a:t>-</a:t>
            </a:r>
            <a:r>
              <a:rPr lang="zh-CN" altLang="en-US" dirty="0"/>
              <a:t>系统崩溃后的恢复</a:t>
            </a:r>
            <a:endParaRPr lang="en-US" altLang="zh-CN" dirty="0"/>
          </a:p>
        </p:txBody>
      </p:sp>
      <p:sp>
        <p:nvSpPr>
          <p:cNvPr id="504835" name="Rectangle 3"/>
          <p:cNvSpPr>
            <a:spLocks noGrp="1" noChangeArrowheads="1"/>
          </p:cNvSpPr>
          <p:nvPr>
            <p:ph type="body" idx="1"/>
          </p:nvPr>
        </p:nvSpPr>
        <p:spPr>
          <a:xfrm>
            <a:off x="609600" y="1447800"/>
            <a:ext cx="8105775" cy="4933528"/>
          </a:xfrm>
        </p:spPr>
        <p:txBody>
          <a:bodyPr/>
          <a:lstStyle/>
          <a:p>
            <a:pPr marL="400050" lvl="1" indent="0">
              <a:spcBef>
                <a:spcPts val="0"/>
              </a:spcBef>
              <a:spcAft>
                <a:spcPts val="600"/>
              </a:spcAft>
              <a:buNone/>
            </a:pPr>
            <a:r>
              <a:rPr lang="zh-CN" altLang="en-US" sz="2400" b="1" u="sng" dirty="0">
                <a:solidFill>
                  <a:srgbClr val="0000FF"/>
                </a:solidFill>
              </a:rPr>
              <a:t>扫描日志的过程中所采取的具体步骤如下</a:t>
            </a:r>
            <a:r>
              <a:rPr lang="en-US" altLang="zh-CN" sz="2400" b="1" u="sng" dirty="0">
                <a:solidFill>
                  <a:srgbClr val="0000FF"/>
                </a:solidFill>
              </a:rPr>
              <a:t>:</a:t>
            </a:r>
          </a:p>
          <a:p>
            <a:pPr marL="400050" lvl="1" indent="0">
              <a:buNone/>
            </a:pPr>
            <a:r>
              <a:rPr lang="en-US" altLang="zh-CN" sz="2000" dirty="0"/>
              <a:t>a)</a:t>
            </a:r>
            <a:r>
              <a:rPr lang="zh-CN" altLang="en-US" sz="2000" dirty="0"/>
              <a:t>将要回滚的事务的列表</a:t>
            </a:r>
            <a:r>
              <a:rPr lang="en-US" altLang="zh-CN" sz="2000" dirty="0">
                <a:solidFill>
                  <a:srgbClr val="0000FF"/>
                </a:solidFill>
              </a:rPr>
              <a:t>undo-list</a:t>
            </a:r>
            <a:r>
              <a:rPr lang="zh-CN" altLang="en-US" sz="2000" dirty="0">
                <a:solidFill>
                  <a:srgbClr val="0000FF"/>
                </a:solidFill>
              </a:rPr>
              <a:t>初始</a:t>
            </a:r>
            <a:r>
              <a:rPr lang="zh-CN" altLang="en-US" sz="2000" dirty="0"/>
              <a:t>设定为</a:t>
            </a:r>
            <a:r>
              <a:rPr lang="en-US" altLang="zh-CN" sz="2000" dirty="0"/>
              <a:t>&lt;checkpoint L&gt;</a:t>
            </a:r>
            <a:r>
              <a:rPr lang="zh-CN" altLang="en-US" sz="2000" dirty="0"/>
              <a:t>日志记录中的</a:t>
            </a:r>
            <a:r>
              <a:rPr lang="en-US" altLang="zh-CN" sz="2000" dirty="0">
                <a:solidFill>
                  <a:srgbClr val="0000FF"/>
                </a:solidFill>
              </a:rPr>
              <a:t>L</a:t>
            </a:r>
            <a:r>
              <a:rPr lang="zh-CN" altLang="en-US" sz="2000" dirty="0">
                <a:solidFill>
                  <a:srgbClr val="0000FF"/>
                </a:solidFill>
              </a:rPr>
              <a:t>列表</a:t>
            </a:r>
            <a:r>
              <a:rPr lang="zh-CN" altLang="en-US" sz="2000" dirty="0"/>
              <a:t>。</a:t>
            </a:r>
            <a:endParaRPr lang="en-US" altLang="zh-CN" sz="2000" dirty="0"/>
          </a:p>
          <a:p>
            <a:pPr marL="400050" lvl="1" indent="0">
              <a:buNone/>
            </a:pPr>
            <a:r>
              <a:rPr lang="en-US" altLang="zh-CN" sz="2000" dirty="0"/>
              <a:t>b)</a:t>
            </a:r>
            <a:r>
              <a:rPr lang="zh-CN" altLang="en-US" sz="2000" dirty="0"/>
              <a:t>一旦遇到形为</a:t>
            </a:r>
            <a:r>
              <a:rPr lang="en-US" altLang="zh-CN" sz="2000" dirty="0"/>
              <a:t>&lt;T</a:t>
            </a:r>
            <a:r>
              <a:rPr lang="en-US" altLang="zh-CN" sz="2000" baseline="-25000" dirty="0"/>
              <a:t>i</a:t>
            </a:r>
            <a:r>
              <a:rPr lang="zh-CN" altLang="en-US" sz="2000" dirty="0"/>
              <a:t>，</a:t>
            </a:r>
            <a:r>
              <a:rPr lang="en-US" altLang="zh-CN" sz="2000" dirty="0" err="1"/>
              <a:t>X</a:t>
            </a:r>
            <a:r>
              <a:rPr lang="en-US" altLang="zh-CN" sz="2000" baseline="-25000" dirty="0" err="1"/>
              <a:t>j</a:t>
            </a:r>
            <a:r>
              <a:rPr lang="zh-CN" altLang="en-US" sz="2000" dirty="0"/>
              <a:t>，</a:t>
            </a:r>
            <a:r>
              <a:rPr lang="en-US" altLang="zh-CN" sz="2000" dirty="0"/>
              <a:t>V</a:t>
            </a:r>
            <a:r>
              <a:rPr lang="en-US" altLang="zh-CN" sz="2000" baseline="-25000" dirty="0"/>
              <a:t>1</a:t>
            </a:r>
            <a:r>
              <a:rPr lang="zh-CN" altLang="en-US" sz="2000" dirty="0"/>
              <a:t>，</a:t>
            </a:r>
            <a:r>
              <a:rPr lang="en-US" altLang="zh-CN" sz="2000" dirty="0"/>
              <a:t>V</a:t>
            </a:r>
            <a:r>
              <a:rPr lang="en-US" altLang="zh-CN" sz="2000" baseline="-25000" dirty="0"/>
              <a:t>2</a:t>
            </a:r>
            <a:r>
              <a:rPr lang="en-US" altLang="zh-CN" sz="2000" dirty="0"/>
              <a:t> &gt;</a:t>
            </a:r>
            <a:r>
              <a:rPr lang="zh-CN" altLang="en-US" sz="2000" dirty="0"/>
              <a:t>的正常日志记录或形为</a:t>
            </a:r>
            <a:r>
              <a:rPr lang="en-US" altLang="zh-CN" sz="2000" dirty="0"/>
              <a:t>&lt;T</a:t>
            </a:r>
            <a:r>
              <a:rPr lang="en-US" altLang="zh-CN" sz="2000" baseline="-25000" dirty="0"/>
              <a:t>i</a:t>
            </a:r>
            <a:r>
              <a:rPr lang="en-US" altLang="zh-CN" sz="2000" dirty="0"/>
              <a:t>,</a:t>
            </a:r>
            <a:r>
              <a:rPr lang="zh-CN" altLang="en-US" sz="2000" dirty="0"/>
              <a:t>，</a:t>
            </a:r>
            <a:r>
              <a:rPr lang="en-US" altLang="zh-CN" sz="2000" dirty="0" err="1"/>
              <a:t>X</a:t>
            </a:r>
            <a:r>
              <a:rPr lang="en-US" altLang="zh-CN" sz="2000" baseline="-25000" dirty="0" err="1"/>
              <a:t>j</a:t>
            </a:r>
            <a:r>
              <a:rPr lang="zh-CN" altLang="en-US" sz="2000" dirty="0"/>
              <a:t>，</a:t>
            </a:r>
            <a:r>
              <a:rPr lang="en-US" altLang="zh-CN" sz="2000" dirty="0"/>
              <a:t>V</a:t>
            </a:r>
            <a:r>
              <a:rPr lang="en-US" altLang="zh-CN" sz="2000" baseline="-25000" dirty="0"/>
              <a:t>2</a:t>
            </a:r>
            <a:r>
              <a:rPr lang="en-US" altLang="zh-CN" sz="2000" dirty="0"/>
              <a:t>&gt;</a:t>
            </a:r>
            <a:r>
              <a:rPr lang="zh-CN" altLang="en-US" sz="2000" dirty="0"/>
              <a:t>的</a:t>
            </a:r>
            <a:r>
              <a:rPr lang="en-US" altLang="zh-CN" sz="2000" dirty="0"/>
              <a:t>redo-only</a:t>
            </a:r>
            <a:r>
              <a:rPr lang="zh-CN" altLang="en-US" sz="2000" dirty="0"/>
              <a:t>日志记录，就</a:t>
            </a:r>
            <a:r>
              <a:rPr lang="zh-CN" altLang="en-US" sz="2000" b="1" dirty="0">
                <a:solidFill>
                  <a:srgbClr val="FF0000"/>
                </a:solidFill>
              </a:rPr>
              <a:t>重做</a:t>
            </a:r>
            <a:r>
              <a:rPr lang="zh-CN" altLang="en-US" sz="2000" dirty="0"/>
              <a:t>这个操作</a:t>
            </a:r>
            <a:r>
              <a:rPr lang="en-US" altLang="zh-CN" sz="2000" dirty="0"/>
              <a:t>; </a:t>
            </a:r>
            <a:r>
              <a:rPr lang="zh-CN" altLang="en-US" sz="2000" dirty="0"/>
              <a:t>也就是说，将</a:t>
            </a:r>
            <a:r>
              <a:rPr lang="zh-CN" altLang="en-US" sz="2000" b="1" dirty="0">
                <a:solidFill>
                  <a:srgbClr val="0000FF"/>
                </a:solidFill>
              </a:rPr>
              <a:t>值</a:t>
            </a:r>
            <a:r>
              <a:rPr lang="en-US" altLang="zh-CN" sz="2000" b="1" dirty="0">
                <a:solidFill>
                  <a:srgbClr val="0000FF"/>
                </a:solidFill>
              </a:rPr>
              <a:t>V</a:t>
            </a:r>
            <a:r>
              <a:rPr lang="en-US" altLang="zh-CN" sz="2000" b="1" baseline="-25000" dirty="0">
                <a:solidFill>
                  <a:srgbClr val="0000FF"/>
                </a:solidFill>
              </a:rPr>
              <a:t>2</a:t>
            </a:r>
            <a:r>
              <a:rPr lang="zh-CN" altLang="en-US" sz="2000" dirty="0"/>
              <a:t>写给数据项</a:t>
            </a:r>
            <a:r>
              <a:rPr lang="en-US" altLang="zh-CN" sz="2000" dirty="0" err="1"/>
              <a:t>X</a:t>
            </a:r>
            <a:r>
              <a:rPr lang="en-US" altLang="zh-CN" sz="2000" baseline="-25000" dirty="0" err="1"/>
              <a:t>j</a:t>
            </a:r>
            <a:r>
              <a:rPr lang="zh-CN" altLang="en-US" sz="2000" dirty="0"/>
              <a:t>。</a:t>
            </a:r>
            <a:endParaRPr lang="en-US" altLang="zh-CN" sz="2000" dirty="0"/>
          </a:p>
          <a:p>
            <a:pPr marL="400050" lvl="1" indent="0">
              <a:buNone/>
            </a:pPr>
            <a:r>
              <a:rPr lang="en-US" altLang="zh-CN" sz="2000" dirty="0"/>
              <a:t>c)</a:t>
            </a:r>
            <a:r>
              <a:rPr lang="zh-CN" altLang="en-US" sz="2000" dirty="0"/>
              <a:t>一旦发现形为</a:t>
            </a:r>
            <a:r>
              <a:rPr lang="en-US" altLang="zh-CN" sz="2000" dirty="0"/>
              <a:t>&lt;</a:t>
            </a:r>
            <a:r>
              <a:rPr lang="en-US" altLang="zh-CN" sz="2000" dirty="0" err="1"/>
              <a:t>T</a:t>
            </a:r>
            <a:r>
              <a:rPr lang="en-US" altLang="zh-CN" sz="2000" baseline="-25000" dirty="0" err="1"/>
              <a:t>i</a:t>
            </a:r>
            <a:r>
              <a:rPr lang="en-US" altLang="zh-CN" sz="2000" dirty="0"/>
              <a:t>, start&gt;</a:t>
            </a:r>
            <a:r>
              <a:rPr lang="zh-CN" altLang="en-US" sz="2000" dirty="0"/>
              <a:t>的日志记录，就把</a:t>
            </a:r>
            <a:r>
              <a:rPr lang="en-US" altLang="zh-CN" sz="2000" dirty="0" err="1"/>
              <a:t>T</a:t>
            </a:r>
            <a:r>
              <a:rPr lang="en-US" altLang="zh-CN" sz="2000" baseline="-25000" dirty="0" err="1"/>
              <a:t>i</a:t>
            </a:r>
            <a:r>
              <a:rPr lang="zh-CN" altLang="en-US" sz="2000" dirty="0"/>
              <a:t>加到</a:t>
            </a:r>
            <a:r>
              <a:rPr lang="en-US" altLang="zh-CN" sz="2000" b="1" dirty="0">
                <a:solidFill>
                  <a:srgbClr val="0000FF"/>
                </a:solidFill>
              </a:rPr>
              <a:t>undo-list</a:t>
            </a:r>
            <a:r>
              <a:rPr lang="zh-CN" altLang="en-US" sz="2000" dirty="0"/>
              <a:t>中。</a:t>
            </a:r>
            <a:endParaRPr lang="en-US" altLang="zh-CN" sz="2000" dirty="0"/>
          </a:p>
          <a:p>
            <a:pPr marL="400050" lvl="1" indent="0">
              <a:buNone/>
            </a:pPr>
            <a:r>
              <a:rPr lang="en-US" altLang="zh-CN" sz="2000" dirty="0"/>
              <a:t>d)</a:t>
            </a:r>
            <a:r>
              <a:rPr lang="zh-CN" altLang="en-US" sz="2000" dirty="0"/>
              <a:t>一旦发现形为</a:t>
            </a:r>
            <a:r>
              <a:rPr lang="en-US" altLang="zh-CN" sz="2000" dirty="0"/>
              <a:t>&lt;</a:t>
            </a:r>
            <a:r>
              <a:rPr lang="en-US" altLang="zh-CN" sz="2000" dirty="0" err="1"/>
              <a:t>T</a:t>
            </a:r>
            <a:r>
              <a:rPr lang="en-US" altLang="zh-CN" sz="2000" baseline="-25000" dirty="0" err="1"/>
              <a:t>i</a:t>
            </a:r>
            <a:r>
              <a:rPr lang="en-US" altLang="zh-CN" sz="2000" dirty="0"/>
              <a:t>, abort&gt;</a:t>
            </a:r>
            <a:r>
              <a:rPr lang="zh-CN" altLang="en-US" sz="2000" dirty="0"/>
              <a:t>或</a:t>
            </a:r>
            <a:r>
              <a:rPr lang="en-US" altLang="zh-CN" sz="2000" dirty="0"/>
              <a:t>&lt;</a:t>
            </a:r>
            <a:r>
              <a:rPr lang="en-US" altLang="zh-CN" sz="2000" dirty="0" err="1"/>
              <a:t>T</a:t>
            </a:r>
            <a:r>
              <a:rPr lang="en-US" altLang="zh-CN" sz="2000" baseline="-25000" dirty="0" err="1"/>
              <a:t>i</a:t>
            </a:r>
            <a:r>
              <a:rPr lang="en-US" altLang="zh-CN" sz="2000" dirty="0"/>
              <a:t>,</a:t>
            </a:r>
            <a:r>
              <a:rPr lang="zh-CN" altLang="en-US" sz="2000" dirty="0"/>
              <a:t> </a:t>
            </a:r>
            <a:r>
              <a:rPr lang="en-US" altLang="zh-CN" sz="2000" dirty="0"/>
              <a:t>commit&gt;</a:t>
            </a:r>
            <a:r>
              <a:rPr lang="zh-CN" altLang="en-US" sz="2000" dirty="0"/>
              <a:t>的日志记录，就把</a:t>
            </a:r>
            <a:r>
              <a:rPr lang="en-US" altLang="zh-CN" sz="2000" b="1" dirty="0" err="1">
                <a:solidFill>
                  <a:srgbClr val="FF0000"/>
                </a:solidFill>
              </a:rPr>
              <a:t>T</a:t>
            </a:r>
            <a:r>
              <a:rPr lang="en-US" altLang="zh-CN" sz="2000" b="1" baseline="-25000" dirty="0" err="1">
                <a:solidFill>
                  <a:srgbClr val="FF0000"/>
                </a:solidFill>
              </a:rPr>
              <a:t>i</a:t>
            </a:r>
            <a:r>
              <a:rPr lang="zh-CN" altLang="en-US" sz="2000" b="1" dirty="0">
                <a:solidFill>
                  <a:srgbClr val="FF0000"/>
                </a:solidFill>
              </a:rPr>
              <a:t>从</a:t>
            </a:r>
            <a:r>
              <a:rPr lang="en-US" altLang="zh-CN" sz="2000" b="1" dirty="0">
                <a:solidFill>
                  <a:srgbClr val="FF0000"/>
                </a:solidFill>
              </a:rPr>
              <a:t>undo-list</a:t>
            </a:r>
            <a:r>
              <a:rPr lang="zh-CN" altLang="en-US" sz="2000" b="1" dirty="0">
                <a:solidFill>
                  <a:srgbClr val="FF0000"/>
                </a:solidFill>
              </a:rPr>
              <a:t>中去掉</a:t>
            </a:r>
            <a:r>
              <a:rPr lang="zh-CN" altLang="en-US" sz="2000" dirty="0"/>
              <a:t>。这样，在</a:t>
            </a:r>
            <a:r>
              <a:rPr lang="en-US" altLang="zh-CN" sz="2000" dirty="0">
                <a:solidFill>
                  <a:srgbClr val="0000FF"/>
                </a:solidFill>
              </a:rPr>
              <a:t>redo</a:t>
            </a:r>
            <a:r>
              <a:rPr lang="zh-CN" altLang="en-US" sz="2000" dirty="0">
                <a:solidFill>
                  <a:srgbClr val="0000FF"/>
                </a:solidFill>
              </a:rPr>
              <a:t>阶段的末尾</a:t>
            </a:r>
            <a:r>
              <a:rPr lang="zh-CN" altLang="en-US" sz="2000" dirty="0"/>
              <a:t>，</a:t>
            </a:r>
            <a:r>
              <a:rPr lang="en-US" altLang="zh-CN" sz="2000" dirty="0">
                <a:solidFill>
                  <a:srgbClr val="0000FF"/>
                </a:solidFill>
              </a:rPr>
              <a:t>undo-list</a:t>
            </a:r>
            <a:r>
              <a:rPr lang="zh-CN" altLang="en-US" sz="2000" dirty="0"/>
              <a:t>包括在系统崩溃之前</a:t>
            </a:r>
            <a:r>
              <a:rPr lang="zh-CN" altLang="en-US" sz="2000" dirty="0">
                <a:solidFill>
                  <a:srgbClr val="0000FF"/>
                </a:solidFill>
              </a:rPr>
              <a:t>尚未完成</a:t>
            </a:r>
            <a:r>
              <a:rPr lang="zh-CN" altLang="en-US" sz="2000" dirty="0"/>
              <a:t>的</a:t>
            </a:r>
            <a:r>
              <a:rPr lang="zh-CN" altLang="en-US" sz="2000" b="1" dirty="0"/>
              <a:t>所有事务</a:t>
            </a:r>
            <a:r>
              <a:rPr lang="zh-CN" altLang="en-US" sz="2000" dirty="0"/>
              <a:t>，即，既没有提交也没有完成回滚的那些事务。</a:t>
            </a:r>
            <a:endParaRPr lang="en-US" altLang="zh-CN" sz="2000" dirty="0"/>
          </a:p>
        </p:txBody>
      </p:sp>
      <p:sp>
        <p:nvSpPr>
          <p:cNvPr id="3" name="页脚占位符 2">
            <a:extLst>
              <a:ext uri="{FF2B5EF4-FFF2-40B4-BE49-F238E27FC236}">
                <a16:creationId xmlns:a16="http://schemas.microsoft.com/office/drawing/2014/main" id="{D219A4FD-C26E-17CC-2C62-691B6C11AB81}"/>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8CD851D6-5126-A699-B880-1EB765D9E6E1}"/>
              </a:ext>
            </a:extLst>
          </p:cNvPr>
          <p:cNvSpPr>
            <a:spLocks noGrp="1"/>
          </p:cNvSpPr>
          <p:nvPr>
            <p:ph type="sldNum" sz="quarter" idx="12"/>
          </p:nvPr>
        </p:nvSpPr>
        <p:spPr/>
        <p:txBody>
          <a:bodyPr/>
          <a:lstStyle/>
          <a:p>
            <a:fld id="{6CD0990F-CFD2-4E3E-9B0E-DA23AF729A97}" type="slidenum">
              <a:rPr lang="en-US" altLang="zh-CN" smtClean="0"/>
              <a:pPr/>
              <a:t>55</a:t>
            </a:fld>
            <a:r>
              <a:rPr lang="en-US" altLang="zh-CN"/>
              <a:t>/67</a:t>
            </a:r>
            <a:endParaRPr lang="zh-CN" altLang="en-US" dirty="0"/>
          </a:p>
        </p:txBody>
      </p:sp>
    </p:spTree>
    <p:extLst>
      <p:ext uri="{BB962C8B-B14F-4D97-AF65-F5344CB8AC3E}">
        <p14:creationId xmlns:p14="http://schemas.microsoft.com/office/powerpoint/2010/main" val="398219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04835">
                                            <p:txEl>
                                              <p:pRg st="1" end="1"/>
                                            </p:txEl>
                                          </p:spTgt>
                                        </p:tgtEl>
                                        <p:attrNameLst>
                                          <p:attrName>style.visibility</p:attrName>
                                        </p:attrNameLst>
                                      </p:cBhvr>
                                      <p:to>
                                        <p:strVal val="visible"/>
                                      </p:to>
                                    </p:set>
                                    <p:animEffect transition="in" filter="fade">
                                      <p:cBhvr>
                                        <p:cTn id="7" dur="1000"/>
                                        <p:tgtEl>
                                          <p:spTgt spid="504835">
                                            <p:txEl>
                                              <p:pRg st="1" end="1"/>
                                            </p:txEl>
                                          </p:spTgt>
                                        </p:tgtEl>
                                      </p:cBhvr>
                                    </p:animEffect>
                                    <p:anim calcmode="lin" valueType="num">
                                      <p:cBhvr>
                                        <p:cTn id="8" dur="1000" fill="hold"/>
                                        <p:tgtEl>
                                          <p:spTgt spid="50483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0483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04835">
                                            <p:txEl>
                                              <p:pRg st="2" end="2"/>
                                            </p:txEl>
                                          </p:spTgt>
                                        </p:tgtEl>
                                        <p:attrNameLst>
                                          <p:attrName>style.visibility</p:attrName>
                                        </p:attrNameLst>
                                      </p:cBhvr>
                                      <p:to>
                                        <p:strVal val="visible"/>
                                      </p:to>
                                    </p:set>
                                    <p:animEffect transition="in" filter="fade">
                                      <p:cBhvr>
                                        <p:cTn id="14" dur="1000"/>
                                        <p:tgtEl>
                                          <p:spTgt spid="504835">
                                            <p:txEl>
                                              <p:pRg st="2" end="2"/>
                                            </p:txEl>
                                          </p:spTgt>
                                        </p:tgtEl>
                                      </p:cBhvr>
                                    </p:animEffect>
                                    <p:anim calcmode="lin" valueType="num">
                                      <p:cBhvr>
                                        <p:cTn id="15" dur="1000" fill="hold"/>
                                        <p:tgtEl>
                                          <p:spTgt spid="50483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048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04835">
                                            <p:txEl>
                                              <p:pRg st="3" end="3"/>
                                            </p:txEl>
                                          </p:spTgt>
                                        </p:tgtEl>
                                        <p:attrNameLst>
                                          <p:attrName>style.visibility</p:attrName>
                                        </p:attrNameLst>
                                      </p:cBhvr>
                                      <p:to>
                                        <p:strVal val="visible"/>
                                      </p:to>
                                    </p:set>
                                    <p:animEffect transition="in" filter="fade">
                                      <p:cBhvr>
                                        <p:cTn id="21" dur="1000"/>
                                        <p:tgtEl>
                                          <p:spTgt spid="504835">
                                            <p:txEl>
                                              <p:pRg st="3" end="3"/>
                                            </p:txEl>
                                          </p:spTgt>
                                        </p:tgtEl>
                                      </p:cBhvr>
                                    </p:animEffect>
                                    <p:anim calcmode="lin" valueType="num">
                                      <p:cBhvr>
                                        <p:cTn id="22" dur="1000" fill="hold"/>
                                        <p:tgtEl>
                                          <p:spTgt spid="50483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50483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04835">
                                            <p:txEl>
                                              <p:pRg st="4" end="4"/>
                                            </p:txEl>
                                          </p:spTgt>
                                        </p:tgtEl>
                                        <p:attrNameLst>
                                          <p:attrName>style.visibility</p:attrName>
                                        </p:attrNameLst>
                                      </p:cBhvr>
                                      <p:to>
                                        <p:strVal val="visible"/>
                                      </p:to>
                                    </p:set>
                                    <p:animEffect transition="in" filter="fade">
                                      <p:cBhvr>
                                        <p:cTn id="28" dur="1000"/>
                                        <p:tgtEl>
                                          <p:spTgt spid="504835">
                                            <p:txEl>
                                              <p:pRg st="4" end="4"/>
                                            </p:txEl>
                                          </p:spTgt>
                                        </p:tgtEl>
                                      </p:cBhvr>
                                    </p:animEffect>
                                    <p:anim calcmode="lin" valueType="num">
                                      <p:cBhvr>
                                        <p:cTn id="29" dur="1000" fill="hold"/>
                                        <p:tgtEl>
                                          <p:spTgt spid="50483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0483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D43CEE8-86BB-4021-8255-AA8F07CAF1F3}" type="datetime1">
              <a:rPr lang="zh-CN" altLang="en-US" smtClean="0"/>
              <a:t>2025/12/24</a:t>
            </a:fld>
            <a:endParaRPr lang="en-US" altLang="zh-CN"/>
          </a:p>
        </p:txBody>
      </p:sp>
      <p:sp>
        <p:nvSpPr>
          <p:cNvPr id="504834" name="Rectangle 2"/>
          <p:cNvSpPr>
            <a:spLocks noGrp="1" noChangeArrowheads="1"/>
          </p:cNvSpPr>
          <p:nvPr>
            <p:ph type="title"/>
          </p:nvPr>
        </p:nvSpPr>
        <p:spPr/>
        <p:txBody>
          <a:bodyPr/>
          <a:lstStyle/>
          <a:p>
            <a:r>
              <a:rPr lang="en-US" altLang="zh-CN" dirty="0"/>
              <a:t>14.11 </a:t>
            </a:r>
            <a:r>
              <a:rPr lang="zh-CN" altLang="en-US" dirty="0"/>
              <a:t>恢复算法</a:t>
            </a:r>
            <a:r>
              <a:rPr lang="en-US" altLang="zh-CN" dirty="0"/>
              <a:t>-</a:t>
            </a:r>
            <a:r>
              <a:rPr lang="zh-CN" altLang="en-US" dirty="0"/>
              <a:t>系统崩溃后的恢复</a:t>
            </a:r>
            <a:endParaRPr lang="en-US" altLang="zh-CN" dirty="0"/>
          </a:p>
        </p:txBody>
      </p:sp>
      <p:sp>
        <p:nvSpPr>
          <p:cNvPr id="504835" name="Rectangle 3"/>
          <p:cNvSpPr>
            <a:spLocks noGrp="1" noChangeArrowheads="1"/>
          </p:cNvSpPr>
          <p:nvPr>
            <p:ph type="body" idx="1"/>
          </p:nvPr>
        </p:nvSpPr>
        <p:spPr/>
        <p:txBody>
          <a:bodyPr/>
          <a:lstStyle/>
          <a:p>
            <a:pPr marL="609600" indent="-609600">
              <a:buFont typeface="+mj-lt"/>
              <a:buAutoNum type="arabicPeriod" startAt="2"/>
            </a:pPr>
            <a:r>
              <a:rPr lang="zh-CN" altLang="en-US" sz="2400" dirty="0"/>
              <a:t>在</a:t>
            </a:r>
            <a:r>
              <a:rPr lang="zh-CN" altLang="en-US" sz="2400" b="1" dirty="0">
                <a:solidFill>
                  <a:srgbClr val="FF0000"/>
                </a:solidFill>
              </a:rPr>
              <a:t>撤销阶段</a:t>
            </a:r>
            <a:r>
              <a:rPr lang="zh-CN" altLang="en-US" sz="2400" dirty="0"/>
              <a:t>，系统</a:t>
            </a:r>
            <a:r>
              <a:rPr lang="zh-CN" altLang="en-US" sz="2400" dirty="0">
                <a:solidFill>
                  <a:srgbClr val="FF0000"/>
                </a:solidFill>
              </a:rPr>
              <a:t>回滚</a:t>
            </a:r>
            <a:r>
              <a:rPr lang="en-US" altLang="zh-CN" sz="2400" dirty="0">
                <a:solidFill>
                  <a:srgbClr val="FF0000"/>
                </a:solidFill>
              </a:rPr>
              <a:t>undo-list</a:t>
            </a:r>
            <a:r>
              <a:rPr lang="zh-CN" altLang="en-US" sz="2400" dirty="0">
                <a:solidFill>
                  <a:srgbClr val="FF0000"/>
                </a:solidFill>
              </a:rPr>
              <a:t>中的所有事务</a:t>
            </a:r>
            <a:r>
              <a:rPr lang="zh-CN" altLang="en-US" sz="2400" dirty="0"/>
              <a:t>。它通过从尾端开始</a:t>
            </a:r>
            <a:r>
              <a:rPr lang="zh-CN" altLang="en-US" sz="2400" b="1" dirty="0">
                <a:solidFill>
                  <a:srgbClr val="0000FF"/>
                </a:solidFill>
              </a:rPr>
              <a:t>反向</a:t>
            </a:r>
            <a:r>
              <a:rPr lang="zh-CN" altLang="en-US" sz="2400" b="1" dirty="0">
                <a:solidFill>
                  <a:srgbClr val="FF0000"/>
                </a:solidFill>
              </a:rPr>
              <a:t>扫描日志</a:t>
            </a:r>
            <a:r>
              <a:rPr lang="zh-CN" altLang="en-US" sz="2400" dirty="0"/>
              <a:t>来</a:t>
            </a:r>
            <a:r>
              <a:rPr lang="zh-CN" altLang="en-US" sz="2400" b="1" dirty="0">
                <a:solidFill>
                  <a:srgbClr val="0000FF"/>
                </a:solidFill>
              </a:rPr>
              <a:t>执行回滚</a:t>
            </a:r>
            <a:r>
              <a:rPr lang="zh-CN" altLang="en-US" sz="2400" dirty="0"/>
              <a:t>。</a:t>
            </a:r>
            <a:endParaRPr lang="en-US" altLang="zh-CN" sz="2400" dirty="0"/>
          </a:p>
          <a:p>
            <a:pPr marL="0" indent="0">
              <a:buNone/>
            </a:pPr>
            <a:r>
              <a:rPr lang="en-US" altLang="zh-CN" sz="2400" dirty="0"/>
              <a:t>    </a:t>
            </a:r>
            <a:r>
              <a:rPr lang="zh-CN" altLang="en-US" sz="2400" u="sng" dirty="0">
                <a:solidFill>
                  <a:srgbClr val="0000FF"/>
                </a:solidFill>
              </a:rPr>
              <a:t>具体步骤如下：</a:t>
            </a:r>
            <a:endParaRPr lang="en-US" altLang="zh-CN" sz="2400" u="sng" dirty="0">
              <a:solidFill>
                <a:srgbClr val="0000FF"/>
              </a:solidFill>
            </a:endParaRPr>
          </a:p>
          <a:p>
            <a:pPr marL="400050" lvl="1" indent="0">
              <a:buNone/>
            </a:pPr>
            <a:r>
              <a:rPr lang="en-US" altLang="zh-CN" sz="2000" dirty="0"/>
              <a:t>a) </a:t>
            </a:r>
            <a:r>
              <a:rPr lang="zh-CN" altLang="en-US" sz="2000" dirty="0"/>
              <a:t>一旦发现</a:t>
            </a:r>
            <a:r>
              <a:rPr lang="zh-CN" altLang="en-US" sz="2000" b="1" u="sng" dirty="0">
                <a:solidFill>
                  <a:srgbClr val="0000FF"/>
                </a:solidFill>
              </a:rPr>
              <a:t>属于</a:t>
            </a:r>
            <a:r>
              <a:rPr lang="en-US" altLang="zh-CN" sz="2000" u="sng" dirty="0"/>
              <a:t>undo-list</a:t>
            </a:r>
            <a:r>
              <a:rPr lang="zh-CN" altLang="en-US" sz="2000" dirty="0"/>
              <a:t>中的</a:t>
            </a:r>
            <a:r>
              <a:rPr lang="zh-CN" altLang="en-US" sz="2000" b="1" dirty="0">
                <a:solidFill>
                  <a:srgbClr val="0000FF"/>
                </a:solidFill>
              </a:rPr>
              <a:t>事务的日志记录</a:t>
            </a:r>
            <a:r>
              <a:rPr lang="zh-CN" altLang="en-US" sz="2000" dirty="0"/>
              <a:t>，就执行</a:t>
            </a:r>
            <a:r>
              <a:rPr lang="en-US" altLang="zh-CN" sz="2000" dirty="0">
                <a:solidFill>
                  <a:srgbClr val="0000FF"/>
                </a:solidFill>
              </a:rPr>
              <a:t>undo</a:t>
            </a:r>
            <a:r>
              <a:rPr lang="zh-CN" altLang="en-US" sz="2000" dirty="0">
                <a:solidFill>
                  <a:srgbClr val="0000FF"/>
                </a:solidFill>
              </a:rPr>
              <a:t>操作</a:t>
            </a:r>
            <a:r>
              <a:rPr lang="zh-CN" altLang="en-US" sz="2000" dirty="0"/>
              <a:t>，就像在一个</a:t>
            </a:r>
            <a:r>
              <a:rPr lang="zh-CN" altLang="en-US" sz="2000" b="1" dirty="0"/>
              <a:t>失败事务的回滚</a:t>
            </a:r>
            <a:r>
              <a:rPr lang="zh-CN" altLang="en-US" sz="2000" dirty="0"/>
              <a:t>过程中发现了该日志记录一样。</a:t>
            </a:r>
            <a:endParaRPr lang="en-US" altLang="zh-CN" sz="2000" dirty="0"/>
          </a:p>
          <a:p>
            <a:pPr marL="400050" lvl="1" indent="0">
              <a:buNone/>
            </a:pPr>
            <a:r>
              <a:rPr lang="en-US" altLang="zh-CN" sz="2000" dirty="0"/>
              <a:t>b) </a:t>
            </a:r>
            <a:r>
              <a:rPr lang="zh-CN" altLang="en-US" sz="2000" dirty="0"/>
              <a:t>当系统发现</a:t>
            </a:r>
            <a:r>
              <a:rPr lang="en-US" altLang="zh-CN" sz="2000" dirty="0"/>
              <a:t>undo-list</a:t>
            </a:r>
            <a:r>
              <a:rPr lang="zh-CN" altLang="en-US" sz="2000" dirty="0"/>
              <a:t>中事务</a:t>
            </a:r>
            <a:r>
              <a:rPr lang="en-US" altLang="zh-CN" sz="2000" dirty="0" err="1"/>
              <a:t>T</a:t>
            </a:r>
            <a:r>
              <a:rPr lang="en-US" altLang="zh-CN" sz="2000" baseline="-25000" dirty="0" err="1"/>
              <a:t>i</a:t>
            </a:r>
            <a:r>
              <a:rPr lang="zh-CN" altLang="en-US" sz="2000" dirty="0"/>
              <a:t>的</a:t>
            </a:r>
            <a:r>
              <a:rPr lang="en-US" altLang="zh-CN" sz="2000" dirty="0"/>
              <a:t>&lt;</a:t>
            </a:r>
            <a:r>
              <a:rPr lang="en-US" altLang="zh-CN" sz="2000" dirty="0" err="1"/>
              <a:t>T</a:t>
            </a:r>
            <a:r>
              <a:rPr lang="en-US" altLang="zh-CN" sz="2000" baseline="-25000" dirty="0" err="1"/>
              <a:t>i</a:t>
            </a:r>
            <a:r>
              <a:rPr lang="en-US" altLang="zh-CN" sz="2000" dirty="0"/>
              <a:t>,</a:t>
            </a:r>
            <a:r>
              <a:rPr lang="zh-CN" altLang="en-US" sz="2000" dirty="0"/>
              <a:t> </a:t>
            </a:r>
            <a:r>
              <a:rPr lang="en-US" altLang="zh-CN" sz="2000" dirty="0"/>
              <a:t>start&gt;</a:t>
            </a:r>
            <a:r>
              <a:rPr lang="zh-CN" altLang="en-US" sz="2000" dirty="0"/>
              <a:t>日志记录，它就往日志中写一个</a:t>
            </a:r>
            <a:r>
              <a:rPr lang="en-US" altLang="zh-CN" sz="2000" dirty="0"/>
              <a:t>&lt;</a:t>
            </a:r>
            <a:r>
              <a:rPr lang="en-US" altLang="zh-CN" sz="2000" dirty="0" err="1"/>
              <a:t>T</a:t>
            </a:r>
            <a:r>
              <a:rPr lang="en-US" altLang="zh-CN" sz="2000" baseline="-25000" dirty="0" err="1"/>
              <a:t>i</a:t>
            </a:r>
            <a:r>
              <a:rPr lang="en-US" altLang="zh-CN" sz="2000" dirty="0"/>
              <a:t>,</a:t>
            </a:r>
            <a:r>
              <a:rPr lang="zh-CN" altLang="en-US" sz="2000" dirty="0"/>
              <a:t> </a:t>
            </a:r>
            <a:r>
              <a:rPr lang="en-US" altLang="zh-CN" sz="2000" dirty="0"/>
              <a:t>abort &gt;</a:t>
            </a:r>
            <a:r>
              <a:rPr lang="zh-CN" altLang="en-US" sz="2000" dirty="0"/>
              <a:t>日志记录，并且把</a:t>
            </a:r>
            <a:r>
              <a:rPr lang="en-US" altLang="zh-CN" sz="2000" dirty="0" err="1">
                <a:solidFill>
                  <a:srgbClr val="0000FF"/>
                </a:solidFill>
              </a:rPr>
              <a:t>T</a:t>
            </a:r>
            <a:r>
              <a:rPr lang="en-US" altLang="zh-CN" sz="2000" baseline="-25000" dirty="0" err="1">
                <a:solidFill>
                  <a:srgbClr val="0000FF"/>
                </a:solidFill>
              </a:rPr>
              <a:t>i</a:t>
            </a:r>
            <a:r>
              <a:rPr lang="zh-CN" altLang="en-US" sz="2000" dirty="0">
                <a:solidFill>
                  <a:srgbClr val="0000FF"/>
                </a:solidFill>
              </a:rPr>
              <a:t>从</a:t>
            </a:r>
            <a:r>
              <a:rPr lang="en-US" altLang="zh-CN" sz="2000" dirty="0">
                <a:solidFill>
                  <a:srgbClr val="0000FF"/>
                </a:solidFill>
              </a:rPr>
              <a:t>undo-list</a:t>
            </a:r>
            <a:r>
              <a:rPr lang="zh-CN" altLang="en-US" sz="2000" dirty="0">
                <a:solidFill>
                  <a:srgbClr val="0000FF"/>
                </a:solidFill>
              </a:rPr>
              <a:t>中去掉</a:t>
            </a:r>
            <a:r>
              <a:rPr lang="zh-CN" altLang="en-US" sz="2000" dirty="0"/>
              <a:t>。</a:t>
            </a:r>
            <a:endParaRPr lang="en-US" altLang="zh-CN" sz="2000" dirty="0"/>
          </a:p>
          <a:p>
            <a:pPr marL="400050" lvl="1" indent="0">
              <a:buNone/>
            </a:pPr>
            <a:r>
              <a:rPr lang="en-US" altLang="zh-CN" sz="2000" dirty="0"/>
              <a:t>c) </a:t>
            </a:r>
            <a:r>
              <a:rPr lang="zh-CN" altLang="en-US" sz="2000" dirty="0"/>
              <a:t>一旦</a:t>
            </a:r>
            <a:r>
              <a:rPr lang="en-US" altLang="zh-CN" sz="2000" b="1" dirty="0">
                <a:solidFill>
                  <a:srgbClr val="0000FF"/>
                </a:solidFill>
              </a:rPr>
              <a:t>undo-list</a:t>
            </a:r>
            <a:r>
              <a:rPr lang="zh-CN" altLang="en-US" sz="2000" b="1" dirty="0">
                <a:solidFill>
                  <a:srgbClr val="0000FF"/>
                </a:solidFill>
              </a:rPr>
              <a:t>变为空表</a:t>
            </a:r>
            <a:r>
              <a:rPr lang="zh-CN" altLang="en-US" sz="2000" dirty="0"/>
              <a:t>，即系统已经找到了开始时</a:t>
            </a:r>
            <a:r>
              <a:rPr lang="zh-CN" altLang="en-US" sz="2000" dirty="0">
                <a:solidFill>
                  <a:srgbClr val="0000FF"/>
                </a:solidFill>
              </a:rPr>
              <a:t>位于</a:t>
            </a:r>
            <a:r>
              <a:rPr lang="en-US" altLang="zh-CN" sz="2000" dirty="0">
                <a:solidFill>
                  <a:srgbClr val="0000FF"/>
                </a:solidFill>
              </a:rPr>
              <a:t>undo-list</a:t>
            </a:r>
            <a:r>
              <a:rPr lang="zh-CN" altLang="en-US" sz="2000" dirty="0"/>
              <a:t>中的</a:t>
            </a:r>
            <a:r>
              <a:rPr lang="zh-CN" altLang="en-US" sz="2000" dirty="0">
                <a:solidFill>
                  <a:srgbClr val="0000FF"/>
                </a:solidFill>
              </a:rPr>
              <a:t>所有事务</a:t>
            </a:r>
            <a:r>
              <a:rPr lang="zh-CN" altLang="en-US" sz="2000" dirty="0"/>
              <a:t>的</a:t>
            </a:r>
            <a:r>
              <a:rPr lang="en-US" altLang="zh-CN" sz="2000" dirty="0"/>
              <a:t>&lt;</a:t>
            </a:r>
            <a:r>
              <a:rPr lang="en-US" altLang="zh-CN" sz="2000" dirty="0" err="1"/>
              <a:t>T</a:t>
            </a:r>
            <a:r>
              <a:rPr lang="en-US" altLang="zh-CN" sz="2000" baseline="-25000" dirty="0" err="1"/>
              <a:t>i</a:t>
            </a:r>
            <a:r>
              <a:rPr lang="en-US" altLang="zh-CN" sz="2000" dirty="0"/>
              <a:t>,</a:t>
            </a:r>
            <a:r>
              <a:rPr lang="zh-CN" altLang="en-US" sz="2000" dirty="0"/>
              <a:t> </a:t>
            </a:r>
            <a:r>
              <a:rPr lang="en-US" altLang="zh-CN" sz="2000" dirty="0"/>
              <a:t>start &gt;</a:t>
            </a:r>
            <a:r>
              <a:rPr lang="zh-CN" altLang="en-US" sz="2000" dirty="0"/>
              <a:t>日志记录，则</a:t>
            </a:r>
            <a:r>
              <a:rPr lang="zh-CN" altLang="en-US" sz="2000" b="1" dirty="0">
                <a:solidFill>
                  <a:srgbClr val="0000FF"/>
                </a:solidFill>
              </a:rPr>
              <a:t>撤销阶段结束</a:t>
            </a:r>
            <a:r>
              <a:rPr lang="zh-CN" altLang="en-US" sz="2000" dirty="0"/>
              <a:t>。</a:t>
            </a:r>
            <a:endParaRPr lang="en-US" altLang="zh-CN" sz="2000" dirty="0"/>
          </a:p>
          <a:p>
            <a:pPr marL="400050" lvl="1" indent="0">
              <a:buNone/>
            </a:pPr>
            <a:endParaRPr lang="en-US" altLang="zh-CN" sz="2000" dirty="0"/>
          </a:p>
          <a:p>
            <a:pPr marL="0" indent="0">
              <a:buNone/>
            </a:pPr>
            <a:r>
              <a:rPr lang="zh-CN" altLang="en-US" sz="2400" dirty="0"/>
              <a:t>当恢复过程的撤销阶段结束之后，就可以重新开始正常的事务处理了。</a:t>
            </a:r>
            <a:endParaRPr lang="en-US" altLang="zh-CN" sz="2400" dirty="0"/>
          </a:p>
        </p:txBody>
      </p:sp>
      <p:sp>
        <p:nvSpPr>
          <p:cNvPr id="3" name="页脚占位符 2">
            <a:extLst>
              <a:ext uri="{FF2B5EF4-FFF2-40B4-BE49-F238E27FC236}">
                <a16:creationId xmlns:a16="http://schemas.microsoft.com/office/drawing/2014/main" id="{1B937C18-50F2-8300-9E92-A817123044FE}"/>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DA9B2363-D902-8D2D-8191-1D16EB132D6B}"/>
              </a:ext>
            </a:extLst>
          </p:cNvPr>
          <p:cNvSpPr>
            <a:spLocks noGrp="1"/>
          </p:cNvSpPr>
          <p:nvPr>
            <p:ph type="sldNum" sz="quarter" idx="12"/>
          </p:nvPr>
        </p:nvSpPr>
        <p:spPr/>
        <p:txBody>
          <a:bodyPr/>
          <a:lstStyle/>
          <a:p>
            <a:fld id="{6CD0990F-CFD2-4E3E-9B0E-DA23AF729A97}" type="slidenum">
              <a:rPr lang="en-US" altLang="zh-CN" smtClean="0"/>
              <a:pPr/>
              <a:t>56</a:t>
            </a:fld>
            <a:r>
              <a:rPr lang="en-US" altLang="zh-CN"/>
              <a:t>/67</a:t>
            </a:r>
            <a:endParaRPr lang="zh-CN" altLang="en-US" dirty="0"/>
          </a:p>
        </p:txBody>
      </p:sp>
    </p:spTree>
    <p:extLst>
      <p:ext uri="{BB962C8B-B14F-4D97-AF65-F5344CB8AC3E}">
        <p14:creationId xmlns:p14="http://schemas.microsoft.com/office/powerpoint/2010/main" val="2556639575"/>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B7C6912-3A3A-43BD-AA6A-333E09005489}" type="datetime1">
              <a:rPr lang="zh-CN" altLang="en-US" smtClean="0"/>
              <a:t>2025/12/24</a:t>
            </a:fld>
            <a:endParaRPr lang="en-US" altLang="zh-CN"/>
          </a:p>
        </p:txBody>
      </p:sp>
      <p:sp>
        <p:nvSpPr>
          <p:cNvPr id="504834" name="Rectangle 2"/>
          <p:cNvSpPr>
            <a:spLocks noGrp="1" noChangeArrowheads="1"/>
          </p:cNvSpPr>
          <p:nvPr>
            <p:ph type="title"/>
          </p:nvPr>
        </p:nvSpPr>
        <p:spPr/>
        <p:txBody>
          <a:bodyPr/>
          <a:lstStyle/>
          <a:p>
            <a:r>
              <a:rPr lang="en-US" altLang="zh-CN" dirty="0"/>
              <a:t>14.11 </a:t>
            </a:r>
            <a:r>
              <a:rPr lang="zh-CN" altLang="en-US" dirty="0"/>
              <a:t>恢复算法</a:t>
            </a:r>
            <a:r>
              <a:rPr lang="en-US" altLang="zh-CN" dirty="0"/>
              <a:t>-</a:t>
            </a:r>
            <a:r>
              <a:rPr lang="zh-CN" altLang="en-US" dirty="0"/>
              <a:t>系统崩溃后的恢复</a:t>
            </a:r>
            <a:endParaRPr lang="en-US" altLang="zh-CN" dirty="0"/>
          </a:p>
        </p:txBody>
      </p:sp>
      <p:sp>
        <p:nvSpPr>
          <p:cNvPr id="504835" name="Rectangle 3"/>
          <p:cNvSpPr>
            <a:spLocks noGrp="1" noChangeArrowheads="1"/>
          </p:cNvSpPr>
          <p:nvPr>
            <p:ph type="body" idx="1"/>
          </p:nvPr>
        </p:nvSpPr>
        <p:spPr>
          <a:xfrm>
            <a:off x="609600" y="1447801"/>
            <a:ext cx="8282880" cy="2989312"/>
          </a:xfrm>
        </p:spPr>
        <p:txBody>
          <a:bodyPr/>
          <a:lstStyle/>
          <a:p>
            <a:r>
              <a:rPr lang="zh-CN" altLang="en-US" sz="2400" dirty="0"/>
              <a:t>请注意，在重做阶段从</a:t>
            </a:r>
            <a:r>
              <a:rPr lang="zh-CN" altLang="en-US" sz="2400" b="1" dirty="0">
                <a:solidFill>
                  <a:srgbClr val="0000FF"/>
                </a:solidFill>
              </a:rPr>
              <a:t>最近的检查点记录</a:t>
            </a:r>
            <a:r>
              <a:rPr lang="zh-CN" altLang="en-US" sz="2400" dirty="0"/>
              <a:t>开始</a:t>
            </a:r>
            <a:r>
              <a:rPr lang="zh-CN" altLang="en-US" sz="2400" b="1" dirty="0">
                <a:solidFill>
                  <a:srgbClr val="0000FF"/>
                </a:solidFill>
              </a:rPr>
              <a:t>重演每一条日志记录</a:t>
            </a:r>
            <a:r>
              <a:rPr lang="zh-CN" altLang="en-US" sz="2400" dirty="0"/>
              <a:t>。换句话说，重启动恢复的这个阶段</a:t>
            </a:r>
            <a:r>
              <a:rPr lang="zh-CN" altLang="en-US" sz="2400" b="1" dirty="0">
                <a:solidFill>
                  <a:srgbClr val="0000FF"/>
                </a:solidFill>
              </a:rPr>
              <a:t>重复</a:t>
            </a:r>
            <a:r>
              <a:rPr lang="zh-CN" altLang="en-US" sz="2400" dirty="0">
                <a:solidFill>
                  <a:srgbClr val="0000FF"/>
                </a:solidFill>
              </a:rPr>
              <a:t>检查点之后执行</a:t>
            </a:r>
            <a:r>
              <a:rPr lang="zh-CN" altLang="en-US" sz="2400" dirty="0"/>
              <a:t>并且其</a:t>
            </a:r>
            <a:r>
              <a:rPr lang="zh-CN" altLang="en-US" sz="2400" dirty="0">
                <a:solidFill>
                  <a:srgbClr val="0000FF"/>
                </a:solidFill>
              </a:rPr>
              <a:t>日志记录已经到达稳定存储器</a:t>
            </a:r>
            <a:r>
              <a:rPr lang="zh-CN" altLang="en-US" sz="2400" dirty="0"/>
              <a:t>中的</a:t>
            </a:r>
            <a:r>
              <a:rPr lang="zh-CN" altLang="en-US" sz="2400" b="1" dirty="0">
                <a:solidFill>
                  <a:srgbClr val="CC0000"/>
                </a:solidFill>
              </a:rPr>
              <a:t>日志的所有更新动作</a:t>
            </a:r>
            <a:r>
              <a:rPr lang="zh-CN" altLang="en-US" sz="2400" dirty="0"/>
              <a:t>。</a:t>
            </a:r>
            <a:endParaRPr lang="en-US" altLang="zh-CN" sz="2400" dirty="0"/>
          </a:p>
          <a:p>
            <a:pPr lvl="1"/>
            <a:r>
              <a:rPr lang="zh-CN" altLang="en-US" sz="2000" dirty="0"/>
              <a:t>这些动作包括</a:t>
            </a:r>
            <a:r>
              <a:rPr lang="zh-CN" altLang="en-US" sz="2000" b="1" dirty="0">
                <a:solidFill>
                  <a:srgbClr val="CC0000"/>
                </a:solidFill>
              </a:rPr>
              <a:t>未完成事务的动作</a:t>
            </a:r>
            <a:r>
              <a:rPr lang="zh-CN" altLang="en-US" sz="2000" dirty="0"/>
              <a:t>和</a:t>
            </a:r>
            <a:r>
              <a:rPr lang="zh-CN" altLang="en-US" sz="2000" b="1" dirty="0">
                <a:solidFill>
                  <a:srgbClr val="CC0000"/>
                </a:solidFill>
              </a:rPr>
              <a:t>为回滚失败的事务所执行的动作</a:t>
            </a:r>
            <a:r>
              <a:rPr lang="zh-CN" altLang="en-US" sz="2000" dirty="0"/>
              <a:t>。这些动作</a:t>
            </a:r>
            <a:r>
              <a:rPr lang="zh-CN" altLang="en-US" sz="2000" b="1" dirty="0">
                <a:solidFill>
                  <a:srgbClr val="0000FF"/>
                </a:solidFill>
              </a:rPr>
              <a:t>按照它们原先执行的次序重复</a:t>
            </a:r>
            <a:r>
              <a:rPr lang="en-US" altLang="zh-CN" sz="2000" dirty="0"/>
              <a:t>; </a:t>
            </a:r>
            <a:r>
              <a:rPr lang="zh-CN" altLang="en-US" sz="2000" dirty="0"/>
              <a:t>因此，这一过程称作重复历史</a:t>
            </a:r>
            <a:r>
              <a:rPr lang="en-US" altLang="zh-CN" sz="2000" dirty="0"/>
              <a:t>( repeating history)</a:t>
            </a:r>
            <a:r>
              <a:rPr lang="zh-CN" altLang="en-US" sz="2000" dirty="0"/>
              <a:t>。虽然这看起来是浪费，但</a:t>
            </a:r>
            <a:r>
              <a:rPr lang="zh-CN" altLang="en-US" sz="2000" b="1" u="sng" dirty="0"/>
              <a:t>即使对失败事务也重复，这样的做法简化了恢复过程</a:t>
            </a:r>
            <a:r>
              <a:rPr lang="zh-CN" altLang="en-US" sz="2000" dirty="0"/>
              <a:t>。</a:t>
            </a:r>
            <a:endParaRPr lang="en-US" altLang="zh-CN" sz="2000" dirty="0"/>
          </a:p>
        </p:txBody>
      </p:sp>
      <p:sp>
        <p:nvSpPr>
          <p:cNvPr id="3" name="页脚占位符 2">
            <a:extLst>
              <a:ext uri="{FF2B5EF4-FFF2-40B4-BE49-F238E27FC236}">
                <a16:creationId xmlns:a16="http://schemas.microsoft.com/office/drawing/2014/main" id="{204DAC1A-248B-C93B-9646-439ACB5D7147}"/>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B256510E-5AA3-F03C-0909-29E8270B6B90}"/>
              </a:ext>
            </a:extLst>
          </p:cNvPr>
          <p:cNvSpPr>
            <a:spLocks noGrp="1"/>
          </p:cNvSpPr>
          <p:nvPr>
            <p:ph type="sldNum" sz="quarter" idx="12"/>
          </p:nvPr>
        </p:nvSpPr>
        <p:spPr/>
        <p:txBody>
          <a:bodyPr/>
          <a:lstStyle/>
          <a:p>
            <a:fld id="{6CD0990F-CFD2-4E3E-9B0E-DA23AF729A97}" type="slidenum">
              <a:rPr lang="en-US" altLang="zh-CN" smtClean="0"/>
              <a:pPr/>
              <a:t>57</a:t>
            </a:fld>
            <a:r>
              <a:rPr lang="en-US" altLang="zh-CN"/>
              <a:t>/67</a:t>
            </a:r>
            <a:endParaRPr lang="zh-CN" altLang="en-US" dirty="0"/>
          </a:p>
        </p:txBody>
      </p:sp>
    </p:spTree>
    <p:extLst>
      <p:ext uri="{BB962C8B-B14F-4D97-AF65-F5344CB8AC3E}">
        <p14:creationId xmlns:p14="http://schemas.microsoft.com/office/powerpoint/2010/main" val="2963434300"/>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26C7-7F8D-4AFC-BEC7-830AC71F7B7B}"/>
              </a:ext>
            </a:extLst>
          </p:cNvPr>
          <p:cNvSpPr>
            <a:spLocks noGrp="1"/>
          </p:cNvSpPr>
          <p:nvPr>
            <p:ph type="title"/>
          </p:nvPr>
        </p:nvSpPr>
        <p:spPr/>
        <p:txBody>
          <a:bodyPr/>
          <a:lstStyle/>
          <a:p>
            <a:r>
              <a:rPr lang="en-IN" dirty="0"/>
              <a:t>Example of Recovery</a:t>
            </a:r>
          </a:p>
        </p:txBody>
      </p:sp>
      <p:sp>
        <p:nvSpPr>
          <p:cNvPr id="12" name="文本框 11">
            <a:extLst>
              <a:ext uri="{FF2B5EF4-FFF2-40B4-BE49-F238E27FC236}">
                <a16:creationId xmlns:a16="http://schemas.microsoft.com/office/drawing/2014/main" id="{F428518E-79E0-E3FC-DEF6-4F274D1FE589}"/>
              </a:ext>
            </a:extLst>
          </p:cNvPr>
          <p:cNvSpPr txBox="1"/>
          <p:nvPr/>
        </p:nvSpPr>
        <p:spPr>
          <a:xfrm>
            <a:off x="165233" y="188640"/>
            <a:ext cx="9029558" cy="11449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800" dirty="0"/>
              <a:t>当从崩溃中恢复时，在</a:t>
            </a:r>
            <a:r>
              <a:rPr lang="zh-CN" altLang="en-US" sz="1800" dirty="0">
                <a:solidFill>
                  <a:srgbClr val="0000FF"/>
                </a:solidFill>
              </a:rPr>
              <a:t>重做阶段</a:t>
            </a:r>
            <a:r>
              <a:rPr lang="zh-CN" altLang="en-US" sz="1800" dirty="0"/>
              <a:t>，系统对最后一个检查点记录之后的所有操作执行redo。</a:t>
            </a:r>
            <a:endParaRPr lang="en-US" altLang="zh-CN" sz="1800" dirty="0"/>
          </a:p>
          <a:p>
            <a:r>
              <a:rPr lang="zh-CN" altLang="en-US" sz="1800" dirty="0"/>
              <a:t>在这个阶段中，</a:t>
            </a:r>
            <a:r>
              <a:rPr lang="zh-CN" altLang="en-US" sz="1800" u="sng" dirty="0"/>
              <a:t>undo-list</a:t>
            </a:r>
            <a:r>
              <a:rPr lang="zh-CN" altLang="en-US" sz="1800" u="sng" dirty="0">
                <a:solidFill>
                  <a:srgbClr val="0000FF"/>
                </a:solidFill>
              </a:rPr>
              <a:t>初始时</a:t>
            </a:r>
            <a:r>
              <a:rPr lang="zh-CN" altLang="en-US" sz="1800" u="sng" dirty="0"/>
              <a:t>包含</a:t>
            </a:r>
            <a:r>
              <a:rPr lang="zh-CN" altLang="en-US" sz="1800" u="sng" dirty="0">
                <a:solidFill>
                  <a:srgbClr val="0000FF"/>
                </a:solidFill>
              </a:rPr>
              <a:t>T</a:t>
            </a:r>
            <a:r>
              <a:rPr lang="en-US" altLang="zh-CN" sz="1800" u="sng" baseline="-25000" dirty="0">
                <a:solidFill>
                  <a:srgbClr val="0000FF"/>
                </a:solidFill>
              </a:rPr>
              <a:t>0</a:t>
            </a:r>
            <a:r>
              <a:rPr lang="zh-CN" altLang="en-US" sz="1800" u="sng" dirty="0">
                <a:solidFill>
                  <a:srgbClr val="0000FF"/>
                </a:solidFill>
              </a:rPr>
              <a:t>和T</a:t>
            </a:r>
            <a:r>
              <a:rPr lang="en-US" altLang="zh-CN" sz="1800" u="sng" baseline="-25000" dirty="0">
                <a:solidFill>
                  <a:srgbClr val="0000FF"/>
                </a:solidFill>
              </a:rPr>
              <a:t>1</a:t>
            </a:r>
            <a:r>
              <a:rPr lang="zh-CN" altLang="en-US" sz="1800" dirty="0"/>
              <a:t>;当T</a:t>
            </a:r>
            <a:r>
              <a:rPr lang="en-US" altLang="zh-CN" sz="1800" baseline="-25000" dirty="0"/>
              <a:t>1</a:t>
            </a:r>
            <a:r>
              <a:rPr lang="zh-CN" altLang="en-US" sz="1800" dirty="0"/>
              <a:t>的commit日志记录被发现时，</a:t>
            </a:r>
            <a:r>
              <a:rPr lang="zh-CN" altLang="en-US" sz="1800" dirty="0">
                <a:solidFill>
                  <a:srgbClr val="0000FF"/>
                </a:solidFill>
              </a:rPr>
              <a:t>T</a:t>
            </a:r>
            <a:r>
              <a:rPr lang="en-US" altLang="zh-CN" sz="1800" baseline="-25000" dirty="0">
                <a:solidFill>
                  <a:srgbClr val="0000FF"/>
                </a:solidFill>
              </a:rPr>
              <a:t>1 </a:t>
            </a:r>
            <a:r>
              <a:rPr lang="zh-CN" altLang="en-US" sz="1800" dirty="0">
                <a:solidFill>
                  <a:srgbClr val="0000FF"/>
                </a:solidFill>
              </a:rPr>
              <a:t>先被从表中去掉</a:t>
            </a:r>
            <a:r>
              <a:rPr lang="zh-CN" altLang="en-US" sz="1800" dirty="0"/>
              <a:t>，而当T</a:t>
            </a:r>
            <a:r>
              <a:rPr lang="en-US" altLang="zh-CN" sz="1800" baseline="-25000" dirty="0"/>
              <a:t>2</a:t>
            </a:r>
            <a:r>
              <a:rPr lang="zh-CN" altLang="en-US" sz="1800" dirty="0"/>
              <a:t>的start日志记录被发现时，</a:t>
            </a:r>
            <a:r>
              <a:rPr lang="zh-CN" altLang="en-US" sz="1800" dirty="0">
                <a:solidFill>
                  <a:srgbClr val="0000FF"/>
                </a:solidFill>
              </a:rPr>
              <a:t>T</a:t>
            </a:r>
            <a:r>
              <a:rPr lang="en-US" altLang="zh-CN" sz="1800" baseline="-25000" dirty="0">
                <a:solidFill>
                  <a:srgbClr val="0000FF"/>
                </a:solidFill>
              </a:rPr>
              <a:t>2</a:t>
            </a:r>
            <a:r>
              <a:rPr lang="zh-CN" altLang="en-US" sz="1800" dirty="0">
                <a:solidFill>
                  <a:srgbClr val="0000FF"/>
                </a:solidFill>
              </a:rPr>
              <a:t>被加到表中</a:t>
            </a:r>
            <a:r>
              <a:rPr lang="zh-CN" altLang="en-US" sz="1800" dirty="0"/>
              <a:t>。当事务T</a:t>
            </a:r>
            <a:r>
              <a:rPr lang="en-US" altLang="zh-CN" sz="1800" baseline="-25000" dirty="0"/>
              <a:t>0</a:t>
            </a:r>
            <a:r>
              <a:rPr lang="zh-CN" altLang="en-US" sz="1800" dirty="0"/>
              <a:t>的abort日志记录被发现时，</a:t>
            </a:r>
            <a:r>
              <a:rPr lang="zh-CN" altLang="en-US" sz="1800" dirty="0">
                <a:solidFill>
                  <a:srgbClr val="0000FF"/>
                </a:solidFill>
              </a:rPr>
              <a:t>T</a:t>
            </a:r>
            <a:r>
              <a:rPr lang="en-US" altLang="zh-CN" sz="1800" baseline="-25000" dirty="0">
                <a:solidFill>
                  <a:srgbClr val="0000FF"/>
                </a:solidFill>
              </a:rPr>
              <a:t>0</a:t>
            </a:r>
            <a:r>
              <a:rPr lang="zh-CN" altLang="en-US" sz="1800" dirty="0">
                <a:solidFill>
                  <a:srgbClr val="0000FF"/>
                </a:solidFill>
              </a:rPr>
              <a:t>被从undo-list中去掉</a:t>
            </a:r>
            <a:r>
              <a:rPr lang="zh-CN" altLang="en-US" sz="1800" dirty="0"/>
              <a:t>，</a:t>
            </a:r>
            <a:r>
              <a:rPr lang="zh-CN" altLang="en-US" sz="1800" u="sng" dirty="0"/>
              <a:t>只剩</a:t>
            </a:r>
            <a:r>
              <a:rPr lang="zh-CN" altLang="en-US" sz="1800" u="sng" dirty="0">
                <a:solidFill>
                  <a:srgbClr val="FF0000"/>
                </a:solidFill>
              </a:rPr>
              <a:t>T</a:t>
            </a:r>
            <a:r>
              <a:rPr lang="en-US" altLang="zh-CN" sz="1800" u="sng" baseline="-25000" dirty="0">
                <a:solidFill>
                  <a:srgbClr val="FF0000"/>
                </a:solidFill>
              </a:rPr>
              <a:t>2</a:t>
            </a:r>
            <a:r>
              <a:rPr lang="zh-CN" altLang="en-US" sz="1800" u="sng" dirty="0">
                <a:solidFill>
                  <a:srgbClr val="FF0000"/>
                </a:solidFill>
              </a:rPr>
              <a:t>在undo-list</a:t>
            </a:r>
            <a:r>
              <a:rPr lang="zh-CN" altLang="en-US" sz="1800" u="sng" dirty="0"/>
              <a:t>中</a:t>
            </a:r>
            <a:r>
              <a:rPr lang="zh-CN" altLang="en-US" sz="1800" dirty="0"/>
              <a:t>。</a:t>
            </a:r>
            <a:endParaRPr lang="en-US" altLang="zh-CN" sz="1800" dirty="0"/>
          </a:p>
        </p:txBody>
      </p:sp>
      <p:sp>
        <p:nvSpPr>
          <p:cNvPr id="13" name="日期占位符 12">
            <a:extLst>
              <a:ext uri="{FF2B5EF4-FFF2-40B4-BE49-F238E27FC236}">
                <a16:creationId xmlns:a16="http://schemas.microsoft.com/office/drawing/2014/main" id="{686BE469-7FEC-A3D5-0911-DC7B5AA2AB8E}"/>
              </a:ext>
            </a:extLst>
          </p:cNvPr>
          <p:cNvSpPr>
            <a:spLocks noGrp="1"/>
          </p:cNvSpPr>
          <p:nvPr>
            <p:ph type="dt" sz="half" idx="10"/>
          </p:nvPr>
        </p:nvSpPr>
        <p:spPr/>
        <p:txBody>
          <a:bodyPr/>
          <a:lstStyle/>
          <a:p>
            <a:fld id="{C9E8A994-6742-4946-8249-69B8B1AE61E1}" type="datetime1">
              <a:rPr lang="zh-CN" altLang="en-US" smtClean="0"/>
              <a:t>2025/12/24</a:t>
            </a:fld>
            <a:endParaRPr lang="en-US" altLang="zh-CN"/>
          </a:p>
        </p:txBody>
      </p:sp>
      <p:sp>
        <p:nvSpPr>
          <p:cNvPr id="14" name="页脚占位符 13">
            <a:extLst>
              <a:ext uri="{FF2B5EF4-FFF2-40B4-BE49-F238E27FC236}">
                <a16:creationId xmlns:a16="http://schemas.microsoft.com/office/drawing/2014/main" id="{94BD8E36-4902-1C2A-DC9C-6720AF391B56}"/>
              </a:ext>
            </a:extLst>
          </p:cNvPr>
          <p:cNvSpPr>
            <a:spLocks noGrp="1"/>
          </p:cNvSpPr>
          <p:nvPr>
            <p:ph type="ftr" sz="quarter" idx="11"/>
          </p:nvPr>
        </p:nvSpPr>
        <p:spPr/>
        <p:txBody>
          <a:bodyPr/>
          <a:lstStyle/>
          <a:p>
            <a:r>
              <a:rPr lang="en-US" altLang="zh-CN"/>
              <a:t>《数据库系统概论》- 第11章</a:t>
            </a:r>
          </a:p>
        </p:txBody>
      </p:sp>
      <p:sp>
        <p:nvSpPr>
          <p:cNvPr id="15" name="灯片编号占位符 14">
            <a:extLst>
              <a:ext uri="{FF2B5EF4-FFF2-40B4-BE49-F238E27FC236}">
                <a16:creationId xmlns:a16="http://schemas.microsoft.com/office/drawing/2014/main" id="{64C11140-5F82-FAFB-322F-15AA5ECA3717}"/>
              </a:ext>
            </a:extLst>
          </p:cNvPr>
          <p:cNvSpPr>
            <a:spLocks noGrp="1"/>
          </p:cNvSpPr>
          <p:nvPr>
            <p:ph type="sldNum" sz="quarter" idx="12"/>
          </p:nvPr>
        </p:nvSpPr>
        <p:spPr/>
        <p:txBody>
          <a:bodyPr/>
          <a:lstStyle/>
          <a:p>
            <a:fld id="{AB1F7240-85F2-492B-84D8-762EF0110923}" type="slidenum">
              <a:rPr lang="en-US" altLang="zh-CN" smtClean="0"/>
              <a:pPr/>
              <a:t>58</a:t>
            </a:fld>
            <a:r>
              <a:rPr lang="en-US" altLang="zh-CN"/>
              <a:t>/67</a:t>
            </a:r>
            <a:endParaRPr lang="zh-CN" altLang="en-US" dirty="0"/>
          </a:p>
        </p:txBody>
      </p:sp>
      <p:sp>
        <p:nvSpPr>
          <p:cNvPr id="10" name="TextBox 9"/>
          <p:cNvSpPr txBox="1"/>
          <p:nvPr/>
        </p:nvSpPr>
        <p:spPr>
          <a:xfrm>
            <a:off x="609600" y="5606711"/>
            <a:ext cx="8136904" cy="1046440"/>
          </a:xfrm>
          <a:prstGeom prst="rect">
            <a:avLst/>
          </a:prstGeom>
          <a:solidFill>
            <a:schemeClr val="bg1"/>
          </a:solidFill>
        </p:spPr>
        <p:txBody>
          <a:bodyPr wrap="square" rtlCol="0">
            <a:spAutoFit/>
          </a:bodyPr>
          <a:lstStyle/>
          <a:p>
            <a:r>
              <a:rPr lang="zh-CN" altLang="en-US" sz="2000" dirty="0">
                <a:latin typeface="Times New Roman" panose="02020603050405020304" pitchFamily="18" charset="0"/>
                <a:cs typeface="Times New Roman" panose="02020603050405020304" pitchFamily="18" charset="0"/>
              </a:rPr>
              <a:t>在系统</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崩溃前</a:t>
            </a:r>
            <a:r>
              <a:rPr lang="zh-CN" altLang="en-US" sz="2000" dirty="0">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rPr>
              <a:t>T</a:t>
            </a:r>
            <a:r>
              <a:rPr lang="en-US" altLang="zh-CN" sz="2000" baseline="-25000" dirty="0">
                <a:solidFill>
                  <a:srgbClr val="0000FF"/>
                </a:solidFill>
                <a:latin typeface="Times New Roman" panose="02020603050405020304" pitchFamily="18" charset="0"/>
                <a:cs typeface="Times New Roman" panose="02020603050405020304" pitchFamily="18" charset="0"/>
              </a:rPr>
              <a:t>1</a:t>
            </a:r>
            <a:r>
              <a:rPr lang="zh-CN" altLang="en-US" sz="2000" dirty="0">
                <a:solidFill>
                  <a:srgbClr val="0000FF"/>
                </a:solidFill>
                <a:latin typeface="Times New Roman" panose="02020603050405020304" pitchFamily="18" charset="0"/>
                <a:cs typeface="Times New Roman" panose="02020603050405020304" pitchFamily="18" charset="0"/>
              </a:rPr>
              <a:t>已提交，</a:t>
            </a:r>
            <a:r>
              <a:rPr lang="en-US" altLang="zh-CN" sz="2000" dirty="0">
                <a:solidFill>
                  <a:srgbClr val="0000FF"/>
                </a:solidFill>
                <a:latin typeface="Times New Roman" panose="02020603050405020304" pitchFamily="18" charset="0"/>
                <a:cs typeface="Times New Roman" panose="02020603050405020304" pitchFamily="18" charset="0"/>
              </a:rPr>
              <a:t>T</a:t>
            </a:r>
            <a:r>
              <a:rPr lang="en-US" altLang="zh-CN" sz="2000" baseline="-25000" dirty="0">
                <a:solidFill>
                  <a:srgbClr val="0000FF"/>
                </a:solidFill>
                <a:latin typeface="Times New Roman" panose="02020603050405020304" pitchFamily="18" charset="0"/>
                <a:cs typeface="Times New Roman" panose="02020603050405020304" pitchFamily="18" charset="0"/>
              </a:rPr>
              <a:t>0</a:t>
            </a:r>
            <a:r>
              <a:rPr lang="zh-CN" altLang="en-US" sz="2000" dirty="0">
                <a:solidFill>
                  <a:srgbClr val="0000FF"/>
                </a:solidFill>
                <a:latin typeface="Times New Roman" panose="02020603050405020304" pitchFamily="18" charset="0"/>
                <a:cs typeface="Times New Roman" panose="02020603050405020304" pitchFamily="18" charset="0"/>
              </a:rPr>
              <a:t>已被完全回滚</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T</a:t>
            </a:r>
            <a:r>
              <a:rPr lang="en-US" altLang="zh-CN" sz="2000" baseline="-25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在系统崩溃时</a:t>
            </a:r>
            <a:r>
              <a:rPr lang="zh-CN" altLang="en-US" sz="2000" dirty="0">
                <a:solidFill>
                  <a:srgbClr val="FF0000"/>
                </a:solidFill>
                <a:latin typeface="Times New Roman" panose="02020603050405020304" pitchFamily="18" charset="0"/>
                <a:cs typeface="Times New Roman" panose="02020603050405020304" pitchFamily="18" charset="0"/>
              </a:rPr>
              <a:t>未完成</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系统恢复时</a:t>
            </a:r>
            <a:r>
              <a:rPr lang="zh-CN" altLang="en-US" sz="2000" dirty="0">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rPr>
              <a:t>T</a:t>
            </a:r>
            <a:r>
              <a:rPr lang="en-US" altLang="zh-CN" sz="2000" baseline="-25000" dirty="0">
                <a:solidFill>
                  <a:srgbClr val="0000FF"/>
                </a:solidFill>
                <a:latin typeface="Times New Roman" panose="02020603050405020304" pitchFamily="18" charset="0"/>
                <a:cs typeface="Times New Roman" panose="02020603050405020304" pitchFamily="18" charset="0"/>
              </a:rPr>
              <a:t>0</a:t>
            </a:r>
            <a:r>
              <a:rPr lang="zh-CN" altLang="en-US" sz="2000" dirty="0">
                <a:solidFill>
                  <a:srgbClr val="0000FF"/>
                </a:solidFill>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rPr>
              <a:t>T</a:t>
            </a:r>
            <a:r>
              <a:rPr lang="en-US" altLang="zh-CN" sz="2000" baseline="-25000" dirty="0">
                <a:solidFill>
                  <a:srgbClr val="0000FF"/>
                </a:solidFill>
                <a:latin typeface="Times New Roman" panose="02020603050405020304" pitchFamily="18" charset="0"/>
                <a:cs typeface="Times New Roman" panose="02020603050405020304" pitchFamily="18" charset="0"/>
              </a:rPr>
              <a:t>1 </a:t>
            </a:r>
            <a:r>
              <a:rPr lang="zh-CN" altLang="en-US" sz="2000" dirty="0">
                <a:solidFill>
                  <a:srgbClr val="0000FF"/>
                </a:solidFill>
                <a:latin typeface="Times New Roman" panose="02020603050405020304" pitchFamily="18" charset="0"/>
                <a:cs typeface="Times New Roman" panose="02020603050405020304" pitchFamily="18" charset="0"/>
              </a:rPr>
              <a:t>执行</a:t>
            </a:r>
            <a:r>
              <a:rPr lang="en-US" altLang="zh-CN" sz="2000" dirty="0">
                <a:solidFill>
                  <a:srgbClr val="0000FF"/>
                </a:solidFill>
                <a:latin typeface="Times New Roman" panose="02020603050405020304" pitchFamily="18" charset="0"/>
                <a:cs typeface="Times New Roman" panose="02020603050405020304" pitchFamily="18" charset="0"/>
              </a:rPr>
              <a:t>REDO</a:t>
            </a:r>
            <a:r>
              <a:rPr lang="zh-CN" altLang="en-US" sz="2000" dirty="0">
                <a:solidFill>
                  <a:srgbClr val="0000FF"/>
                </a:solidFill>
                <a:latin typeface="Times New Roman" panose="02020603050405020304" pitchFamily="18" charset="0"/>
                <a:cs typeface="Times New Roman" panose="02020603050405020304" pitchFamily="18" charset="0"/>
              </a:rPr>
              <a:t>操作</a:t>
            </a:r>
            <a:r>
              <a:rPr lang="zh-CN" altLang="en-US" sz="2000" dirty="0">
                <a:latin typeface="Times New Roman" panose="02020603050405020304" pitchFamily="18" charset="0"/>
                <a:cs typeface="Times New Roman" panose="02020603050405020304" pitchFamily="18" charset="0"/>
              </a:rPr>
              <a:t>，按原先的执行次序</a:t>
            </a:r>
            <a:r>
              <a:rPr lang="en-US" altLang="zh-CN" sz="2000" dirty="0">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rPr>
              <a:t> </a:t>
            </a:r>
          </a:p>
          <a:p>
            <a:r>
              <a:rPr lang="en-US" altLang="zh-CN" sz="2000" dirty="0">
                <a:solidFill>
                  <a:srgbClr val="0000FF"/>
                </a:solidFill>
                <a:latin typeface="Times New Roman" panose="02020603050405020304" pitchFamily="18" charset="0"/>
                <a:cs typeface="Times New Roman" panose="02020603050405020304" pitchFamily="18" charset="0"/>
              </a:rPr>
              <a:t>                        T</a:t>
            </a:r>
            <a:r>
              <a:rPr lang="en-US" altLang="zh-CN" sz="2000" baseline="-25000" dirty="0">
                <a:solidFill>
                  <a:srgbClr val="0000FF"/>
                </a:solidFill>
                <a:latin typeface="Times New Roman" panose="02020603050405020304" pitchFamily="18" charset="0"/>
                <a:cs typeface="Times New Roman" panose="02020603050405020304" pitchFamily="18" charset="0"/>
              </a:rPr>
              <a:t>2</a:t>
            </a:r>
            <a:r>
              <a:rPr lang="zh-CN" altLang="en-US" sz="2000" dirty="0">
                <a:solidFill>
                  <a:srgbClr val="0000FF"/>
                </a:solidFill>
                <a:latin typeface="Times New Roman" panose="02020603050405020304" pitchFamily="18" charset="0"/>
                <a:cs typeface="Times New Roman" panose="02020603050405020304" pitchFamily="18" charset="0"/>
              </a:rPr>
              <a:t>执行</a:t>
            </a:r>
            <a:r>
              <a:rPr lang="en-US" altLang="zh-CN" sz="2000" dirty="0">
                <a:solidFill>
                  <a:srgbClr val="0000FF"/>
                </a:solidFill>
                <a:latin typeface="Times New Roman" panose="02020603050405020304" pitchFamily="18" charset="0"/>
                <a:cs typeface="Times New Roman" panose="02020603050405020304" pitchFamily="18" charset="0"/>
              </a:rPr>
              <a:t>UNDO</a:t>
            </a:r>
            <a:r>
              <a:rPr lang="zh-CN" altLang="en-US" sz="2000" dirty="0">
                <a:solidFill>
                  <a:srgbClr val="0000FF"/>
                </a:solidFill>
                <a:latin typeface="Times New Roman" panose="02020603050405020304" pitchFamily="18" charset="0"/>
                <a:cs typeface="Times New Roman" panose="02020603050405020304" pitchFamily="18" charset="0"/>
              </a:rPr>
              <a:t>操作</a:t>
            </a:r>
            <a:r>
              <a:rPr lang="zh-CN" altLang="en-US" sz="2000" dirty="0">
                <a:latin typeface="Times New Roman" panose="02020603050405020304" pitchFamily="18" charset="0"/>
                <a:cs typeface="Times New Roman" panose="02020603050405020304" pitchFamily="18" charset="0"/>
              </a:rPr>
              <a:t>。</a:t>
            </a:r>
          </a:p>
        </p:txBody>
      </p:sp>
      <p:sp>
        <p:nvSpPr>
          <p:cNvPr id="6" name="矩形 5"/>
          <p:cNvSpPr/>
          <p:nvPr/>
        </p:nvSpPr>
        <p:spPr bwMode="auto">
          <a:xfrm>
            <a:off x="2123728" y="4581128"/>
            <a:ext cx="1440160"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7" name="矩形 16"/>
          <p:cNvSpPr/>
          <p:nvPr/>
        </p:nvSpPr>
        <p:spPr bwMode="auto">
          <a:xfrm>
            <a:off x="3923928" y="5013176"/>
            <a:ext cx="1584176" cy="571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8" name="矩形 17"/>
          <p:cNvSpPr/>
          <p:nvPr/>
        </p:nvSpPr>
        <p:spPr bwMode="auto">
          <a:xfrm>
            <a:off x="2015902" y="4581128"/>
            <a:ext cx="6858218" cy="985823"/>
          </a:xfrm>
          <a:prstGeom prst="rect">
            <a:avLst/>
          </a:prstGeom>
          <a:ln>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pic>
        <p:nvPicPr>
          <p:cNvPr id="3" name="图片 2">
            <a:extLst>
              <a:ext uri="{FF2B5EF4-FFF2-40B4-BE49-F238E27FC236}">
                <a16:creationId xmlns:a16="http://schemas.microsoft.com/office/drawing/2014/main" id="{467380F2-6441-075F-F0B1-68DB1121BA90}"/>
              </a:ext>
            </a:extLst>
          </p:cNvPr>
          <p:cNvPicPr>
            <a:picLocks noChangeAspect="1"/>
          </p:cNvPicPr>
          <p:nvPr/>
        </p:nvPicPr>
        <p:blipFill>
          <a:blip r:embed="rId3"/>
          <a:stretch>
            <a:fillRect/>
          </a:stretch>
        </p:blipFill>
        <p:spPr>
          <a:xfrm>
            <a:off x="267851" y="1273877"/>
            <a:ext cx="8608298" cy="4310246"/>
          </a:xfrm>
          <a:prstGeom prst="rect">
            <a:avLst/>
          </a:prstGeom>
        </p:spPr>
      </p:pic>
      <p:sp>
        <p:nvSpPr>
          <p:cNvPr id="9" name="TextBox 8"/>
          <p:cNvSpPr txBox="1"/>
          <p:nvPr/>
        </p:nvSpPr>
        <p:spPr>
          <a:xfrm>
            <a:off x="82228" y="3449191"/>
            <a:ext cx="1564352"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000" dirty="0"/>
              <a:t>崩溃时日志的结束点</a:t>
            </a:r>
          </a:p>
        </p:txBody>
      </p:sp>
      <p:sp>
        <p:nvSpPr>
          <p:cNvPr id="11" name="TextBox 10"/>
          <p:cNvSpPr txBox="1"/>
          <p:nvPr/>
        </p:nvSpPr>
        <p:spPr>
          <a:xfrm>
            <a:off x="107504" y="4252972"/>
            <a:ext cx="1678125" cy="904220"/>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square" rtlCol="0">
            <a:noAutofit/>
          </a:bodyPr>
          <a:lstStyle/>
          <a:p>
            <a:pPr algn="ctr">
              <a:lnSpc>
                <a:spcPct val="100000"/>
              </a:lnSpc>
            </a:pPr>
            <a:endParaRPr lang="zh-CN" altLang="en-US" sz="2000" b="1" dirty="0">
              <a:solidFill>
                <a:srgbClr val="0000FF"/>
              </a:solidFill>
            </a:endParaRPr>
          </a:p>
        </p:txBody>
      </p:sp>
      <p:cxnSp>
        <p:nvCxnSpPr>
          <p:cNvPr id="5" name="直接连接符 4"/>
          <p:cNvCxnSpPr/>
          <p:nvPr/>
        </p:nvCxnSpPr>
        <p:spPr bwMode="auto">
          <a:xfrm>
            <a:off x="2123728" y="2780928"/>
            <a:ext cx="2016224" cy="0"/>
          </a:xfrm>
          <a:prstGeom prst="line">
            <a:avLst/>
          </a:prstGeom>
          <a:ln w="38100">
            <a:solidFill>
              <a:srgbClr val="0000FF"/>
            </a:solidFill>
            <a:prstDash val="sysDash"/>
          </a:ln>
        </p:spPr>
        <p:style>
          <a:lnRef idx="1">
            <a:schemeClr val="accent6"/>
          </a:lnRef>
          <a:fillRef idx="0">
            <a:schemeClr val="accent6"/>
          </a:fillRef>
          <a:effectRef idx="0">
            <a:schemeClr val="accent6"/>
          </a:effectRef>
          <a:fontRef idx="minor">
            <a:schemeClr val="tx1"/>
          </a:fontRef>
        </p:style>
      </p:cxnSp>
      <p:cxnSp>
        <p:nvCxnSpPr>
          <p:cNvPr id="8" name="直接连接符 7"/>
          <p:cNvCxnSpPr/>
          <p:nvPr/>
        </p:nvCxnSpPr>
        <p:spPr bwMode="auto">
          <a:xfrm>
            <a:off x="2123728" y="4437112"/>
            <a:ext cx="2016224" cy="0"/>
          </a:xfrm>
          <a:prstGeom prst="line">
            <a:avLst/>
          </a:prstGeom>
          <a:ln w="38100">
            <a:solidFill>
              <a:srgbClr val="FF0000"/>
            </a:solidFill>
            <a:prstDash val="sysDash"/>
          </a:ln>
        </p:spPr>
        <p:style>
          <a:lnRef idx="1">
            <a:schemeClr val="accent6"/>
          </a:lnRef>
          <a:fillRef idx="0">
            <a:schemeClr val="accent6"/>
          </a:fillRef>
          <a:effectRef idx="0">
            <a:schemeClr val="accent6"/>
          </a:effectRef>
          <a:fontRef idx="minor">
            <a:schemeClr val="tx1"/>
          </a:fontRef>
        </p:style>
      </p:cxnSp>
      <p:sp>
        <p:nvSpPr>
          <p:cNvPr id="7" name="矩形 6">
            <a:extLst>
              <a:ext uri="{FF2B5EF4-FFF2-40B4-BE49-F238E27FC236}">
                <a16:creationId xmlns:a16="http://schemas.microsoft.com/office/drawing/2014/main" id="{2697132C-200F-6685-6474-48F6EC366838}"/>
              </a:ext>
            </a:extLst>
          </p:cNvPr>
          <p:cNvSpPr/>
          <p:nvPr/>
        </p:nvSpPr>
        <p:spPr bwMode="auto">
          <a:xfrm>
            <a:off x="2078995" y="4620888"/>
            <a:ext cx="6858218" cy="985823"/>
          </a:xfrm>
          <a:prstGeom prst="rect">
            <a:avLst/>
          </a:prstGeom>
          <a:ln>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Tree>
    <p:extLst>
      <p:ext uri="{BB962C8B-B14F-4D97-AF65-F5344CB8AC3E}">
        <p14:creationId xmlns:p14="http://schemas.microsoft.com/office/powerpoint/2010/main" val="26764964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8" presetClass="emph" presetSubtype="0" fill="hold" grpId="0" nodeType="withEffect">
                                  <p:stCondLst>
                                    <p:cond delay="0"/>
                                  </p:stCondLst>
                                  <p:childTnLst>
                                    <p:animRot by="21600000">
                                      <p:cBhvr>
                                        <p:cTn id="9" dur="2000" fill="hold"/>
                                        <p:tgtEl>
                                          <p:spTgt spid="9"/>
                                        </p:tgtEl>
                                        <p:attrNameLst>
                                          <p:attrName>r</p:attrName>
                                        </p:attrNameLst>
                                      </p:cBhvr>
                                    </p:animRo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fade">
                                      <p:cBhvr>
                                        <p:cTn id="14" dur="1000"/>
                                        <p:tgtEl>
                                          <p:spTgt spid="10">
                                            <p:txEl>
                                              <p:pRg st="0" end="0"/>
                                            </p:txEl>
                                          </p:spTgt>
                                        </p:tgtEl>
                                      </p:cBhvr>
                                    </p:animEffect>
                                    <p:anim calcmode="lin" valueType="num">
                                      <p:cBhvr>
                                        <p:cTn id="1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inVertic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0">
                                            <p:txEl>
                                              <p:pRg st="1" end="1"/>
                                            </p:txEl>
                                          </p:spTgt>
                                        </p:tgtEl>
                                        <p:attrNameLst>
                                          <p:attrName>style.visibility</p:attrName>
                                        </p:attrNameLst>
                                      </p:cBhvr>
                                      <p:to>
                                        <p:strVal val="visible"/>
                                      </p:to>
                                    </p:set>
                                    <p:animEffect transition="in" filter="fade">
                                      <p:cBhvr>
                                        <p:cTn id="31" dur="1000"/>
                                        <p:tgtEl>
                                          <p:spTgt spid="10">
                                            <p:txEl>
                                              <p:pRg st="1" end="1"/>
                                            </p:txEl>
                                          </p:spTgt>
                                        </p:tgtEl>
                                      </p:cBhvr>
                                    </p:animEffect>
                                    <p:anim calcmode="lin" valueType="num">
                                      <p:cBhvr>
                                        <p:cTn id="32"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3"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0">
                                            <p:txEl>
                                              <p:pRg st="2" end="2"/>
                                            </p:txEl>
                                          </p:spTgt>
                                        </p:tgtEl>
                                        <p:attrNameLst>
                                          <p:attrName>style.visibility</p:attrName>
                                        </p:attrNameLst>
                                      </p:cBhvr>
                                      <p:to>
                                        <p:strVal val="visible"/>
                                      </p:to>
                                    </p:set>
                                    <p:animEffect transition="in" filter="fade">
                                      <p:cBhvr>
                                        <p:cTn id="38" dur="1000"/>
                                        <p:tgtEl>
                                          <p:spTgt spid="10">
                                            <p:txEl>
                                              <p:pRg st="2" end="2"/>
                                            </p:txEl>
                                          </p:spTgt>
                                        </p:tgtEl>
                                      </p:cBhvr>
                                    </p:animEffect>
                                    <p:anim calcmode="lin" valueType="num">
                                      <p:cBhvr>
                                        <p:cTn id="3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68B076F-BEF3-AE23-2B70-243C13993194}"/>
              </a:ext>
            </a:extLst>
          </p:cNvPr>
          <p:cNvPicPr>
            <a:picLocks noChangeAspect="1"/>
          </p:cNvPicPr>
          <p:nvPr/>
        </p:nvPicPr>
        <p:blipFill>
          <a:blip r:embed="rId2"/>
          <a:stretch>
            <a:fillRect/>
          </a:stretch>
        </p:blipFill>
        <p:spPr>
          <a:xfrm>
            <a:off x="267851" y="1273877"/>
            <a:ext cx="8608298" cy="4310246"/>
          </a:xfrm>
          <a:prstGeom prst="rect">
            <a:avLst/>
          </a:prstGeom>
        </p:spPr>
      </p:pic>
      <p:sp>
        <p:nvSpPr>
          <p:cNvPr id="2" name="Title 1">
            <a:extLst>
              <a:ext uri="{FF2B5EF4-FFF2-40B4-BE49-F238E27FC236}">
                <a16:creationId xmlns:a16="http://schemas.microsoft.com/office/drawing/2014/main" id="{82E326C7-7F8D-4AFC-BEC7-830AC71F7B7B}"/>
              </a:ext>
            </a:extLst>
          </p:cNvPr>
          <p:cNvSpPr>
            <a:spLocks noGrp="1"/>
          </p:cNvSpPr>
          <p:nvPr>
            <p:ph type="title"/>
          </p:nvPr>
        </p:nvSpPr>
        <p:spPr/>
        <p:txBody>
          <a:bodyPr/>
          <a:lstStyle/>
          <a:p>
            <a:r>
              <a:rPr lang="en-IN" dirty="0"/>
              <a:t>Example of Recovery</a:t>
            </a:r>
          </a:p>
        </p:txBody>
      </p:sp>
      <p:cxnSp>
        <p:nvCxnSpPr>
          <p:cNvPr id="5" name="直接连接符 4"/>
          <p:cNvCxnSpPr/>
          <p:nvPr/>
        </p:nvCxnSpPr>
        <p:spPr bwMode="auto">
          <a:xfrm>
            <a:off x="2123728" y="2780928"/>
            <a:ext cx="2016224" cy="0"/>
          </a:xfrm>
          <a:prstGeom prst="line">
            <a:avLst/>
          </a:prstGeom>
          <a:ln w="38100">
            <a:solidFill>
              <a:srgbClr val="0000FF"/>
            </a:solidFill>
            <a:prstDash val="sysDash"/>
          </a:ln>
        </p:spPr>
        <p:style>
          <a:lnRef idx="1">
            <a:schemeClr val="accent6"/>
          </a:lnRef>
          <a:fillRef idx="0">
            <a:schemeClr val="accent6"/>
          </a:fillRef>
          <a:effectRef idx="0">
            <a:schemeClr val="accent6"/>
          </a:effectRef>
          <a:fontRef idx="minor">
            <a:schemeClr val="tx1"/>
          </a:fontRef>
        </p:style>
      </p:cxnSp>
      <p:cxnSp>
        <p:nvCxnSpPr>
          <p:cNvPr id="8" name="直接连接符 7"/>
          <p:cNvCxnSpPr/>
          <p:nvPr/>
        </p:nvCxnSpPr>
        <p:spPr bwMode="auto">
          <a:xfrm>
            <a:off x="2123728" y="4437112"/>
            <a:ext cx="2016224" cy="0"/>
          </a:xfrm>
          <a:prstGeom prst="line">
            <a:avLst/>
          </a:prstGeom>
          <a:ln w="38100">
            <a:solidFill>
              <a:srgbClr val="FF0000"/>
            </a:solidFill>
            <a:prstDash val="sysDash"/>
          </a:ln>
        </p:spPr>
        <p:style>
          <a:lnRef idx="1">
            <a:schemeClr val="accent6"/>
          </a:lnRef>
          <a:fillRef idx="0">
            <a:schemeClr val="accent6"/>
          </a:fillRef>
          <a:effectRef idx="0">
            <a:schemeClr val="accent6"/>
          </a:effectRef>
          <a:fontRef idx="minor">
            <a:schemeClr val="tx1"/>
          </a:fontRef>
        </p:style>
      </p:cxnSp>
      <p:sp>
        <p:nvSpPr>
          <p:cNvPr id="9" name="TextBox 8"/>
          <p:cNvSpPr txBox="1"/>
          <p:nvPr/>
        </p:nvSpPr>
        <p:spPr>
          <a:xfrm>
            <a:off x="82228" y="3449191"/>
            <a:ext cx="1564352"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000" dirty="0"/>
              <a:t>崩溃时日志的结束点</a:t>
            </a:r>
          </a:p>
        </p:txBody>
      </p:sp>
      <p:sp>
        <p:nvSpPr>
          <p:cNvPr id="3" name="椭圆 2"/>
          <p:cNvSpPr/>
          <p:nvPr/>
        </p:nvSpPr>
        <p:spPr bwMode="auto">
          <a:xfrm>
            <a:off x="1907704" y="4386053"/>
            <a:ext cx="1467068" cy="942296"/>
          </a:xfrm>
          <a:prstGeom prst="ellipse">
            <a:avLst/>
          </a:prstGeom>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cxnSp>
        <p:nvCxnSpPr>
          <p:cNvPr id="7" name="直接箭头连接符 6">
            <a:extLst>
              <a:ext uri="{FF2B5EF4-FFF2-40B4-BE49-F238E27FC236}">
                <a16:creationId xmlns:a16="http://schemas.microsoft.com/office/drawing/2014/main" id="{2A5D8505-B878-5C55-9048-92BDDA3FC20C}"/>
              </a:ext>
            </a:extLst>
          </p:cNvPr>
          <p:cNvCxnSpPr/>
          <p:nvPr/>
        </p:nvCxnSpPr>
        <p:spPr bwMode="auto">
          <a:xfrm flipH="1">
            <a:off x="3491880" y="3933056"/>
            <a:ext cx="4824536" cy="9361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F428518E-79E0-E3FC-DEF6-4F274D1FE589}"/>
              </a:ext>
            </a:extLst>
          </p:cNvPr>
          <p:cNvSpPr txBox="1"/>
          <p:nvPr/>
        </p:nvSpPr>
        <p:spPr>
          <a:xfrm>
            <a:off x="165233" y="188640"/>
            <a:ext cx="9029558" cy="11449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800" dirty="0"/>
              <a:t>当从崩溃中恢复时，在</a:t>
            </a:r>
            <a:r>
              <a:rPr lang="zh-CN" altLang="en-US" sz="1800" dirty="0">
                <a:solidFill>
                  <a:srgbClr val="0000FF"/>
                </a:solidFill>
              </a:rPr>
              <a:t>重做阶段</a:t>
            </a:r>
            <a:r>
              <a:rPr lang="zh-CN" altLang="en-US" sz="1800" dirty="0"/>
              <a:t>，系统对最后一个检查点记录之后的所有操作执行redo。</a:t>
            </a:r>
            <a:endParaRPr lang="en-US" altLang="zh-CN" sz="1800" dirty="0"/>
          </a:p>
          <a:p>
            <a:r>
              <a:rPr lang="zh-CN" altLang="en-US" sz="1800" dirty="0"/>
              <a:t>在这个阶段中，undo-list</a:t>
            </a:r>
            <a:r>
              <a:rPr lang="zh-CN" altLang="en-US" sz="1800" dirty="0">
                <a:solidFill>
                  <a:srgbClr val="0000FF"/>
                </a:solidFill>
              </a:rPr>
              <a:t>初始时</a:t>
            </a:r>
            <a:r>
              <a:rPr lang="zh-CN" altLang="en-US" sz="1800" dirty="0"/>
              <a:t>包含</a:t>
            </a:r>
            <a:r>
              <a:rPr lang="zh-CN" altLang="en-US" sz="1800" dirty="0">
                <a:solidFill>
                  <a:srgbClr val="0000FF"/>
                </a:solidFill>
              </a:rPr>
              <a:t>T</a:t>
            </a:r>
            <a:r>
              <a:rPr lang="en-US" altLang="zh-CN" sz="1800" baseline="-25000" dirty="0">
                <a:solidFill>
                  <a:srgbClr val="0000FF"/>
                </a:solidFill>
              </a:rPr>
              <a:t>0</a:t>
            </a:r>
            <a:r>
              <a:rPr lang="zh-CN" altLang="en-US" sz="1800" dirty="0">
                <a:solidFill>
                  <a:srgbClr val="0000FF"/>
                </a:solidFill>
              </a:rPr>
              <a:t>和T</a:t>
            </a:r>
            <a:r>
              <a:rPr lang="en-US" altLang="zh-CN" sz="1800" baseline="-25000" dirty="0">
                <a:solidFill>
                  <a:srgbClr val="0000FF"/>
                </a:solidFill>
              </a:rPr>
              <a:t>1</a:t>
            </a:r>
            <a:r>
              <a:rPr lang="zh-CN" altLang="en-US" sz="1800" dirty="0"/>
              <a:t>;当T</a:t>
            </a:r>
            <a:r>
              <a:rPr lang="en-US" altLang="zh-CN" sz="1800" baseline="-25000" dirty="0"/>
              <a:t>1</a:t>
            </a:r>
            <a:r>
              <a:rPr lang="zh-CN" altLang="en-US" sz="1800" dirty="0"/>
              <a:t>的commit日志记录被发现时，</a:t>
            </a:r>
            <a:r>
              <a:rPr lang="zh-CN" altLang="en-US" sz="1800" dirty="0">
                <a:solidFill>
                  <a:srgbClr val="0000FF"/>
                </a:solidFill>
              </a:rPr>
              <a:t>T</a:t>
            </a:r>
            <a:r>
              <a:rPr lang="en-US" altLang="zh-CN" sz="1800" baseline="-25000" dirty="0">
                <a:solidFill>
                  <a:srgbClr val="0000FF"/>
                </a:solidFill>
              </a:rPr>
              <a:t>1 </a:t>
            </a:r>
            <a:r>
              <a:rPr lang="zh-CN" altLang="en-US" sz="1800" dirty="0">
                <a:solidFill>
                  <a:srgbClr val="0000FF"/>
                </a:solidFill>
              </a:rPr>
              <a:t>先被从表中去掉</a:t>
            </a:r>
            <a:r>
              <a:rPr lang="zh-CN" altLang="en-US" sz="1800" dirty="0"/>
              <a:t>，而当T</a:t>
            </a:r>
            <a:r>
              <a:rPr lang="en-US" altLang="zh-CN" sz="1800" baseline="-25000" dirty="0"/>
              <a:t>2</a:t>
            </a:r>
            <a:r>
              <a:rPr lang="zh-CN" altLang="en-US" sz="1800" dirty="0"/>
              <a:t>的start日志记录被发现时，</a:t>
            </a:r>
            <a:r>
              <a:rPr lang="zh-CN" altLang="en-US" sz="1800" dirty="0">
                <a:solidFill>
                  <a:srgbClr val="0000FF"/>
                </a:solidFill>
              </a:rPr>
              <a:t>T</a:t>
            </a:r>
            <a:r>
              <a:rPr lang="en-US" altLang="zh-CN" sz="1800" baseline="-25000" dirty="0">
                <a:solidFill>
                  <a:srgbClr val="0000FF"/>
                </a:solidFill>
              </a:rPr>
              <a:t>2</a:t>
            </a:r>
            <a:r>
              <a:rPr lang="zh-CN" altLang="en-US" sz="1800" dirty="0">
                <a:solidFill>
                  <a:srgbClr val="0000FF"/>
                </a:solidFill>
              </a:rPr>
              <a:t>被加到表中</a:t>
            </a:r>
            <a:r>
              <a:rPr lang="zh-CN" altLang="en-US" sz="1800" dirty="0"/>
              <a:t>。当事务T</a:t>
            </a:r>
            <a:r>
              <a:rPr lang="en-US" altLang="zh-CN" sz="1800" baseline="-25000" dirty="0"/>
              <a:t>0</a:t>
            </a:r>
            <a:r>
              <a:rPr lang="zh-CN" altLang="en-US" sz="1800" dirty="0"/>
              <a:t>的abort日志记录被发现时，</a:t>
            </a:r>
            <a:r>
              <a:rPr lang="zh-CN" altLang="en-US" sz="1800" dirty="0">
                <a:solidFill>
                  <a:srgbClr val="0000FF"/>
                </a:solidFill>
              </a:rPr>
              <a:t>T</a:t>
            </a:r>
            <a:r>
              <a:rPr lang="en-US" altLang="zh-CN" sz="1800" baseline="-25000" dirty="0">
                <a:solidFill>
                  <a:srgbClr val="0000FF"/>
                </a:solidFill>
              </a:rPr>
              <a:t>0</a:t>
            </a:r>
            <a:r>
              <a:rPr lang="zh-CN" altLang="en-US" sz="1800" dirty="0">
                <a:solidFill>
                  <a:srgbClr val="0000FF"/>
                </a:solidFill>
              </a:rPr>
              <a:t>被从undo-list中去掉</a:t>
            </a:r>
            <a:r>
              <a:rPr lang="zh-CN" altLang="en-US" sz="1800" dirty="0"/>
              <a:t>，只剩</a:t>
            </a:r>
            <a:r>
              <a:rPr lang="zh-CN" altLang="en-US" sz="1800" dirty="0">
                <a:solidFill>
                  <a:srgbClr val="FF0000"/>
                </a:solidFill>
              </a:rPr>
              <a:t>T</a:t>
            </a:r>
            <a:r>
              <a:rPr lang="en-US" altLang="zh-CN" sz="1800" baseline="-25000" dirty="0">
                <a:solidFill>
                  <a:srgbClr val="FF0000"/>
                </a:solidFill>
              </a:rPr>
              <a:t>2</a:t>
            </a:r>
            <a:r>
              <a:rPr lang="zh-CN" altLang="en-US" sz="1800" dirty="0">
                <a:solidFill>
                  <a:srgbClr val="FF0000"/>
                </a:solidFill>
              </a:rPr>
              <a:t>在undo-list</a:t>
            </a:r>
            <a:r>
              <a:rPr lang="zh-CN" altLang="en-US" sz="1800" dirty="0"/>
              <a:t>中。</a:t>
            </a:r>
            <a:endParaRPr lang="en-US" altLang="zh-CN" sz="1800" dirty="0"/>
          </a:p>
        </p:txBody>
      </p:sp>
      <p:sp>
        <p:nvSpPr>
          <p:cNvPr id="13" name="日期占位符 12">
            <a:extLst>
              <a:ext uri="{FF2B5EF4-FFF2-40B4-BE49-F238E27FC236}">
                <a16:creationId xmlns:a16="http://schemas.microsoft.com/office/drawing/2014/main" id="{686BE469-7FEC-A3D5-0911-DC7B5AA2AB8E}"/>
              </a:ext>
            </a:extLst>
          </p:cNvPr>
          <p:cNvSpPr>
            <a:spLocks noGrp="1"/>
          </p:cNvSpPr>
          <p:nvPr>
            <p:ph type="dt" sz="half" idx="10"/>
          </p:nvPr>
        </p:nvSpPr>
        <p:spPr/>
        <p:txBody>
          <a:bodyPr/>
          <a:lstStyle/>
          <a:p>
            <a:fld id="{C9E8A994-6742-4946-8249-69B8B1AE61E1}" type="datetime1">
              <a:rPr lang="zh-CN" altLang="en-US" smtClean="0"/>
              <a:t>2025/12/24</a:t>
            </a:fld>
            <a:endParaRPr lang="en-US" altLang="zh-CN"/>
          </a:p>
        </p:txBody>
      </p:sp>
      <p:sp>
        <p:nvSpPr>
          <p:cNvPr id="14" name="页脚占位符 13">
            <a:extLst>
              <a:ext uri="{FF2B5EF4-FFF2-40B4-BE49-F238E27FC236}">
                <a16:creationId xmlns:a16="http://schemas.microsoft.com/office/drawing/2014/main" id="{94BD8E36-4902-1C2A-DC9C-6720AF391B56}"/>
              </a:ext>
            </a:extLst>
          </p:cNvPr>
          <p:cNvSpPr>
            <a:spLocks noGrp="1"/>
          </p:cNvSpPr>
          <p:nvPr>
            <p:ph type="ftr" sz="quarter" idx="11"/>
          </p:nvPr>
        </p:nvSpPr>
        <p:spPr/>
        <p:txBody>
          <a:bodyPr/>
          <a:lstStyle/>
          <a:p>
            <a:r>
              <a:rPr lang="en-US" altLang="zh-CN"/>
              <a:t>《数据库系统概论》- 第11章</a:t>
            </a:r>
          </a:p>
        </p:txBody>
      </p:sp>
      <p:sp>
        <p:nvSpPr>
          <p:cNvPr id="15" name="灯片编号占位符 14">
            <a:extLst>
              <a:ext uri="{FF2B5EF4-FFF2-40B4-BE49-F238E27FC236}">
                <a16:creationId xmlns:a16="http://schemas.microsoft.com/office/drawing/2014/main" id="{64C11140-5F82-FAFB-322F-15AA5ECA3717}"/>
              </a:ext>
            </a:extLst>
          </p:cNvPr>
          <p:cNvSpPr>
            <a:spLocks noGrp="1"/>
          </p:cNvSpPr>
          <p:nvPr>
            <p:ph type="sldNum" sz="quarter" idx="12"/>
          </p:nvPr>
        </p:nvSpPr>
        <p:spPr/>
        <p:txBody>
          <a:bodyPr/>
          <a:lstStyle/>
          <a:p>
            <a:fld id="{AB1F7240-85F2-492B-84D8-762EF0110923}" type="slidenum">
              <a:rPr lang="en-US" altLang="zh-CN" smtClean="0"/>
              <a:pPr/>
              <a:t>59</a:t>
            </a:fld>
            <a:r>
              <a:rPr lang="en-US" altLang="zh-CN"/>
              <a:t>/67</a:t>
            </a:r>
            <a:endParaRPr lang="zh-CN" altLang="en-US" dirty="0"/>
          </a:p>
        </p:txBody>
      </p:sp>
      <p:sp>
        <p:nvSpPr>
          <p:cNvPr id="10" name="TextBox 9"/>
          <p:cNvSpPr txBox="1"/>
          <p:nvPr/>
        </p:nvSpPr>
        <p:spPr>
          <a:xfrm>
            <a:off x="611560" y="5741573"/>
            <a:ext cx="8136904" cy="1046440"/>
          </a:xfrm>
          <a:prstGeom prst="rect">
            <a:avLst/>
          </a:prstGeom>
          <a:solidFill>
            <a:schemeClr val="bg1"/>
          </a:solidFill>
        </p:spPr>
        <p:txBody>
          <a:bodyPr wrap="square" rtlCol="0">
            <a:spAutoFit/>
          </a:bodyPr>
          <a:lstStyle/>
          <a:p>
            <a:r>
              <a:rPr lang="zh-CN" altLang="en-US" sz="2000" dirty="0">
                <a:latin typeface="Times New Roman" panose="02020603050405020304" pitchFamily="18" charset="0"/>
                <a:cs typeface="Times New Roman" panose="02020603050405020304" pitchFamily="18" charset="0"/>
              </a:rPr>
              <a:t>在系统</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崩溃前</a:t>
            </a:r>
            <a:r>
              <a:rPr lang="zh-CN" altLang="en-US" sz="2000" dirty="0">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rPr>
              <a:t>T</a:t>
            </a:r>
            <a:r>
              <a:rPr lang="en-US" altLang="zh-CN" sz="2000" baseline="-25000" dirty="0">
                <a:solidFill>
                  <a:srgbClr val="0000FF"/>
                </a:solidFill>
                <a:latin typeface="Times New Roman" panose="02020603050405020304" pitchFamily="18" charset="0"/>
                <a:cs typeface="Times New Roman" panose="02020603050405020304" pitchFamily="18" charset="0"/>
              </a:rPr>
              <a:t>1</a:t>
            </a:r>
            <a:r>
              <a:rPr lang="zh-CN" altLang="en-US" sz="2000" dirty="0">
                <a:solidFill>
                  <a:srgbClr val="0000FF"/>
                </a:solidFill>
                <a:latin typeface="Times New Roman" panose="02020603050405020304" pitchFamily="18" charset="0"/>
                <a:cs typeface="Times New Roman" panose="02020603050405020304" pitchFamily="18" charset="0"/>
              </a:rPr>
              <a:t>已提交，</a:t>
            </a:r>
            <a:r>
              <a:rPr lang="en-US" altLang="zh-CN" sz="2000" dirty="0">
                <a:solidFill>
                  <a:srgbClr val="0000FF"/>
                </a:solidFill>
                <a:latin typeface="Times New Roman" panose="02020603050405020304" pitchFamily="18" charset="0"/>
                <a:cs typeface="Times New Roman" panose="02020603050405020304" pitchFamily="18" charset="0"/>
              </a:rPr>
              <a:t>T</a:t>
            </a:r>
            <a:r>
              <a:rPr lang="en-US" altLang="zh-CN" sz="2000" baseline="-25000" dirty="0">
                <a:solidFill>
                  <a:srgbClr val="0000FF"/>
                </a:solidFill>
                <a:latin typeface="Times New Roman" panose="02020603050405020304" pitchFamily="18" charset="0"/>
                <a:cs typeface="Times New Roman" panose="02020603050405020304" pitchFamily="18" charset="0"/>
              </a:rPr>
              <a:t>0</a:t>
            </a:r>
            <a:r>
              <a:rPr lang="zh-CN" altLang="en-US" sz="2000" dirty="0">
                <a:solidFill>
                  <a:srgbClr val="0000FF"/>
                </a:solidFill>
                <a:latin typeface="Times New Roman" panose="02020603050405020304" pitchFamily="18" charset="0"/>
                <a:cs typeface="Times New Roman" panose="02020603050405020304" pitchFamily="18" charset="0"/>
              </a:rPr>
              <a:t>已被完全回滚</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T</a:t>
            </a:r>
            <a:r>
              <a:rPr lang="en-US" altLang="zh-CN" sz="2000" baseline="-25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在系统崩溃时</a:t>
            </a:r>
            <a:r>
              <a:rPr lang="zh-CN" altLang="en-US" sz="2000" dirty="0">
                <a:solidFill>
                  <a:srgbClr val="FF0000"/>
                </a:solidFill>
                <a:latin typeface="Times New Roman" panose="02020603050405020304" pitchFamily="18" charset="0"/>
                <a:cs typeface="Times New Roman" panose="02020603050405020304" pitchFamily="18" charset="0"/>
              </a:rPr>
              <a:t>未完成</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系统恢复时</a:t>
            </a:r>
            <a:r>
              <a:rPr lang="zh-CN" altLang="en-US" sz="2000" dirty="0">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rPr>
              <a:t>T</a:t>
            </a:r>
            <a:r>
              <a:rPr lang="en-US" altLang="zh-CN" sz="2000" baseline="-25000" dirty="0">
                <a:solidFill>
                  <a:srgbClr val="0000FF"/>
                </a:solidFill>
                <a:latin typeface="Times New Roman" panose="02020603050405020304" pitchFamily="18" charset="0"/>
                <a:cs typeface="Times New Roman" panose="02020603050405020304" pitchFamily="18" charset="0"/>
              </a:rPr>
              <a:t>0</a:t>
            </a:r>
            <a:r>
              <a:rPr lang="zh-CN" altLang="en-US" sz="2000" dirty="0">
                <a:solidFill>
                  <a:srgbClr val="0000FF"/>
                </a:solidFill>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rPr>
              <a:t>T</a:t>
            </a:r>
            <a:r>
              <a:rPr lang="en-US" altLang="zh-CN" sz="2000" baseline="-25000" dirty="0">
                <a:solidFill>
                  <a:srgbClr val="0000FF"/>
                </a:solidFill>
                <a:latin typeface="Times New Roman" panose="02020603050405020304" pitchFamily="18" charset="0"/>
                <a:cs typeface="Times New Roman" panose="02020603050405020304" pitchFamily="18" charset="0"/>
              </a:rPr>
              <a:t>1 </a:t>
            </a:r>
            <a:r>
              <a:rPr lang="zh-CN" altLang="en-US" sz="2000" dirty="0">
                <a:solidFill>
                  <a:srgbClr val="0000FF"/>
                </a:solidFill>
                <a:latin typeface="Times New Roman" panose="02020603050405020304" pitchFamily="18" charset="0"/>
                <a:cs typeface="Times New Roman" panose="02020603050405020304" pitchFamily="18" charset="0"/>
              </a:rPr>
              <a:t>执行</a:t>
            </a:r>
            <a:r>
              <a:rPr lang="en-US" altLang="zh-CN" sz="2000" dirty="0">
                <a:solidFill>
                  <a:srgbClr val="0000FF"/>
                </a:solidFill>
                <a:latin typeface="Times New Roman" panose="02020603050405020304" pitchFamily="18" charset="0"/>
                <a:cs typeface="Times New Roman" panose="02020603050405020304" pitchFamily="18" charset="0"/>
              </a:rPr>
              <a:t>REDO</a:t>
            </a:r>
            <a:r>
              <a:rPr lang="zh-CN" altLang="en-US" sz="2000" dirty="0">
                <a:solidFill>
                  <a:srgbClr val="0000FF"/>
                </a:solidFill>
                <a:latin typeface="Times New Roman" panose="02020603050405020304" pitchFamily="18" charset="0"/>
                <a:cs typeface="Times New Roman" panose="02020603050405020304" pitchFamily="18" charset="0"/>
              </a:rPr>
              <a:t>操作</a:t>
            </a:r>
            <a:r>
              <a:rPr lang="zh-CN" altLang="en-US" sz="2000" dirty="0">
                <a:latin typeface="Times New Roman" panose="02020603050405020304" pitchFamily="18" charset="0"/>
                <a:cs typeface="Times New Roman" panose="02020603050405020304" pitchFamily="18" charset="0"/>
              </a:rPr>
              <a:t>，按原先的执行次序</a:t>
            </a:r>
            <a:r>
              <a:rPr lang="en-US" altLang="zh-CN" sz="2000" dirty="0">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rPr>
              <a:t> </a:t>
            </a:r>
          </a:p>
          <a:p>
            <a:r>
              <a:rPr lang="en-US" altLang="zh-CN" sz="2000" dirty="0">
                <a:solidFill>
                  <a:srgbClr val="0000FF"/>
                </a:solidFill>
                <a:latin typeface="Times New Roman" panose="02020603050405020304" pitchFamily="18" charset="0"/>
                <a:cs typeface="Times New Roman" panose="02020603050405020304" pitchFamily="18" charset="0"/>
              </a:rPr>
              <a:t>                        T</a:t>
            </a:r>
            <a:r>
              <a:rPr lang="en-US" altLang="zh-CN" sz="2000" baseline="-25000" dirty="0">
                <a:solidFill>
                  <a:srgbClr val="0000FF"/>
                </a:solidFill>
                <a:latin typeface="Times New Roman" panose="02020603050405020304" pitchFamily="18" charset="0"/>
                <a:cs typeface="Times New Roman" panose="02020603050405020304" pitchFamily="18" charset="0"/>
              </a:rPr>
              <a:t>2</a:t>
            </a:r>
            <a:r>
              <a:rPr lang="zh-CN" altLang="en-US" sz="2000" dirty="0">
                <a:solidFill>
                  <a:srgbClr val="0000FF"/>
                </a:solidFill>
                <a:latin typeface="Times New Roman" panose="02020603050405020304" pitchFamily="18" charset="0"/>
                <a:cs typeface="Times New Roman" panose="02020603050405020304" pitchFamily="18" charset="0"/>
              </a:rPr>
              <a:t>执行</a:t>
            </a:r>
            <a:r>
              <a:rPr lang="en-US" altLang="zh-CN" sz="2000" dirty="0">
                <a:solidFill>
                  <a:srgbClr val="0000FF"/>
                </a:solidFill>
                <a:latin typeface="Times New Roman" panose="02020603050405020304" pitchFamily="18" charset="0"/>
                <a:cs typeface="Times New Roman" panose="02020603050405020304" pitchFamily="18" charset="0"/>
              </a:rPr>
              <a:t>UNDO</a:t>
            </a:r>
            <a:r>
              <a:rPr lang="zh-CN" altLang="en-US" sz="2000" dirty="0">
                <a:solidFill>
                  <a:srgbClr val="0000FF"/>
                </a:solidFill>
                <a:latin typeface="Times New Roman" panose="02020603050405020304" pitchFamily="18" charset="0"/>
                <a:cs typeface="Times New Roman" panose="02020603050405020304" pitchFamily="18" charset="0"/>
              </a:rPr>
              <a:t>操作</a:t>
            </a:r>
            <a:r>
              <a:rPr lang="zh-CN" altLang="en-US" sz="2000" dirty="0">
                <a:latin typeface="Times New Roman" panose="02020603050405020304" pitchFamily="18" charset="0"/>
                <a:cs typeface="Times New Roman" panose="02020603050405020304" pitchFamily="18" charset="0"/>
              </a:rPr>
              <a:t>。</a:t>
            </a:r>
          </a:p>
        </p:txBody>
      </p:sp>
      <p:sp>
        <p:nvSpPr>
          <p:cNvPr id="16" name="文本框 11">
            <a:extLst>
              <a:ext uri="{FF2B5EF4-FFF2-40B4-BE49-F238E27FC236}">
                <a16:creationId xmlns:a16="http://schemas.microsoft.com/office/drawing/2014/main" id="{F428518E-79E0-E3FC-DEF6-4F274D1FE589}"/>
              </a:ext>
            </a:extLst>
          </p:cNvPr>
          <p:cNvSpPr txBox="1"/>
          <p:nvPr/>
        </p:nvSpPr>
        <p:spPr>
          <a:xfrm>
            <a:off x="165233" y="5617387"/>
            <a:ext cx="9029558" cy="114492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zh-CN" altLang="en-US" sz="1800" dirty="0">
                <a:solidFill>
                  <a:srgbClr val="0000FF"/>
                </a:solidFill>
              </a:rPr>
              <a:t>撤销阶段</a:t>
            </a:r>
            <a:r>
              <a:rPr lang="zh-CN" altLang="en-US" sz="1800" dirty="0"/>
              <a:t>从尾端开始反向扫描日志，当发现T</a:t>
            </a:r>
            <a:r>
              <a:rPr lang="en-US" altLang="zh-CN" sz="1800" baseline="-25000" dirty="0"/>
              <a:t>2</a:t>
            </a:r>
            <a:r>
              <a:rPr lang="zh-CN" altLang="en-US" sz="1800" dirty="0"/>
              <a:t>的更新A的日志记录时，将</a:t>
            </a:r>
            <a:r>
              <a:rPr lang="zh-CN" altLang="en-US" sz="1800" dirty="0">
                <a:solidFill>
                  <a:srgbClr val="0000FF"/>
                </a:solidFill>
              </a:rPr>
              <a:t>A恢复成旧值</a:t>
            </a:r>
            <a:r>
              <a:rPr lang="zh-CN" altLang="en-US" sz="1800" dirty="0"/>
              <a:t>，并往日志中</a:t>
            </a:r>
            <a:r>
              <a:rPr lang="zh-CN" altLang="en-US" sz="1800" dirty="0">
                <a:solidFill>
                  <a:srgbClr val="0000FF"/>
                </a:solidFill>
              </a:rPr>
              <a:t>写一个redo-only日志记录</a:t>
            </a:r>
            <a:r>
              <a:rPr lang="zh-CN" altLang="en-US" sz="1800" dirty="0"/>
              <a:t>。当发现T</a:t>
            </a:r>
            <a:r>
              <a:rPr lang="en-US" altLang="zh-CN" sz="1800" baseline="-25000" dirty="0"/>
              <a:t>2</a:t>
            </a:r>
            <a:r>
              <a:rPr lang="zh-CN" altLang="en-US" sz="1800" dirty="0"/>
              <a:t>开始的日志记录时，就为</a:t>
            </a:r>
            <a:r>
              <a:rPr lang="zh-CN" altLang="en-US" sz="1800" dirty="0">
                <a:solidFill>
                  <a:srgbClr val="0000FF"/>
                </a:solidFill>
              </a:rPr>
              <a:t>T</a:t>
            </a:r>
            <a:r>
              <a:rPr lang="en-US" altLang="zh-CN" sz="1800" baseline="-25000" dirty="0">
                <a:solidFill>
                  <a:srgbClr val="0000FF"/>
                </a:solidFill>
              </a:rPr>
              <a:t>2</a:t>
            </a:r>
            <a:r>
              <a:rPr lang="zh-CN" altLang="en-US" sz="1800" dirty="0">
                <a:solidFill>
                  <a:srgbClr val="0000FF"/>
                </a:solidFill>
              </a:rPr>
              <a:t>添加一条abort记录。</a:t>
            </a:r>
            <a:endParaRPr lang="en-US" altLang="zh-CN" sz="1800" dirty="0">
              <a:solidFill>
                <a:srgbClr val="0000FF"/>
              </a:solidFill>
            </a:endParaRPr>
          </a:p>
          <a:p>
            <a:r>
              <a:rPr lang="zh-CN" altLang="en-US" sz="1800" dirty="0"/>
              <a:t>由于undo-list不再包含任何事务了，因此</a:t>
            </a:r>
            <a:r>
              <a:rPr lang="zh-CN" altLang="en-US" sz="1800" b="1" dirty="0">
                <a:solidFill>
                  <a:srgbClr val="0000FF"/>
                </a:solidFill>
              </a:rPr>
              <a:t>撤销阶段终止，</a:t>
            </a:r>
            <a:r>
              <a:rPr lang="zh-CN" altLang="en-US" sz="1800" b="1" u="sng" dirty="0">
                <a:solidFill>
                  <a:srgbClr val="FF0000"/>
                </a:solidFill>
              </a:rPr>
              <a:t>恢复完成</a:t>
            </a:r>
            <a:r>
              <a:rPr lang="zh-CN" altLang="en-US" sz="1800" dirty="0"/>
              <a:t>。</a:t>
            </a:r>
          </a:p>
        </p:txBody>
      </p:sp>
      <p:sp>
        <p:nvSpPr>
          <p:cNvPr id="17" name="矩形 16"/>
          <p:cNvSpPr/>
          <p:nvPr/>
        </p:nvSpPr>
        <p:spPr bwMode="auto">
          <a:xfrm>
            <a:off x="2015902" y="4581128"/>
            <a:ext cx="6858218" cy="985823"/>
          </a:xfrm>
          <a:prstGeom prst="rect">
            <a:avLst/>
          </a:prstGeom>
          <a:ln>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8" name="TextBox 10">
            <a:extLst>
              <a:ext uri="{FF2B5EF4-FFF2-40B4-BE49-F238E27FC236}">
                <a16:creationId xmlns:a16="http://schemas.microsoft.com/office/drawing/2014/main" id="{015A541E-F7EE-494F-B958-8074A35BBE02}"/>
              </a:ext>
            </a:extLst>
          </p:cNvPr>
          <p:cNvSpPr txBox="1"/>
          <p:nvPr/>
        </p:nvSpPr>
        <p:spPr>
          <a:xfrm>
            <a:off x="107504" y="4252972"/>
            <a:ext cx="1678125" cy="904220"/>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square" rtlCol="0">
            <a:noAutofit/>
          </a:bodyPr>
          <a:lstStyle/>
          <a:p>
            <a:pPr algn="ctr">
              <a:lnSpc>
                <a:spcPct val="100000"/>
              </a:lnSpc>
            </a:pPr>
            <a:endParaRPr lang="zh-CN" altLang="en-US" sz="2000" b="1" dirty="0">
              <a:solidFill>
                <a:srgbClr val="0000FF"/>
              </a:solidFill>
            </a:endParaRPr>
          </a:p>
        </p:txBody>
      </p:sp>
      <p:sp>
        <p:nvSpPr>
          <p:cNvPr id="11" name="TextBox 10"/>
          <p:cNvSpPr txBox="1"/>
          <p:nvPr/>
        </p:nvSpPr>
        <p:spPr>
          <a:xfrm>
            <a:off x="82228" y="4365104"/>
            <a:ext cx="1467068" cy="792088"/>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pPr algn="ctr">
              <a:lnSpc>
                <a:spcPct val="100000"/>
              </a:lnSpc>
            </a:pPr>
            <a:r>
              <a:rPr lang="zh-CN" altLang="en-US" sz="2000" dirty="0"/>
              <a:t>恢复过程中</a:t>
            </a:r>
            <a:r>
              <a:rPr lang="zh-CN" altLang="en-US" sz="2000" b="1" dirty="0">
                <a:solidFill>
                  <a:srgbClr val="0000FF"/>
                </a:solidFill>
              </a:rPr>
              <a:t>加入的日志</a:t>
            </a:r>
          </a:p>
        </p:txBody>
      </p:sp>
    </p:spTree>
    <p:extLst>
      <p:ext uri="{BB962C8B-B14F-4D97-AF65-F5344CB8AC3E}">
        <p14:creationId xmlns:p14="http://schemas.microsoft.com/office/powerpoint/2010/main" val="14525452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7"/>
                                        </p:tgtEl>
                                      </p:cBhvr>
                                    </p:animEffect>
                                    <p:set>
                                      <p:cBhvr>
                                        <p:cTn id="12" dur="1" fill="hold">
                                          <p:stCondLst>
                                            <p:cond delay="499"/>
                                          </p:stCondLst>
                                        </p:cTn>
                                        <p:tgtEl>
                                          <p:spTgt spid="1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par>
                                <p:cTn id="18" presetID="16" presetClass="entr" presetSubtype="21"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par>
                                <p:cTn id="21" presetID="1" presetClass="exit"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hidden"/>
                                      </p:to>
                                    </p:set>
                                  </p:childTnLst>
                                </p:cTn>
                              </p:par>
                              <p:par>
                                <p:cTn id="23" presetID="1" presetClass="entr" presetSubtype="0" fill="hold" grpId="1"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6" grpId="0" animBg="1"/>
      <p:bldP spid="17" grpId="0" animBg="1"/>
      <p:bldP spid="18" grpId="0" animBg="1"/>
      <p:bldP spid="11"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4A5143E-4547-4F44-1F8C-206F96801B5C}"/>
              </a:ext>
            </a:extLst>
          </p:cNvPr>
          <p:cNvPicPr>
            <a:picLocks noChangeAspect="1"/>
          </p:cNvPicPr>
          <p:nvPr/>
        </p:nvPicPr>
        <p:blipFill>
          <a:blip r:embed="rId3"/>
          <a:stretch>
            <a:fillRect/>
          </a:stretch>
        </p:blipFill>
        <p:spPr>
          <a:xfrm>
            <a:off x="267851" y="1273877"/>
            <a:ext cx="8608298" cy="4310246"/>
          </a:xfrm>
          <a:prstGeom prst="rect">
            <a:avLst/>
          </a:prstGeom>
        </p:spPr>
      </p:pic>
      <p:sp>
        <p:nvSpPr>
          <p:cNvPr id="2" name="Title 1">
            <a:extLst>
              <a:ext uri="{FF2B5EF4-FFF2-40B4-BE49-F238E27FC236}">
                <a16:creationId xmlns:a16="http://schemas.microsoft.com/office/drawing/2014/main" id="{82E326C7-7F8D-4AFC-BEC7-830AC71F7B7B}"/>
              </a:ext>
            </a:extLst>
          </p:cNvPr>
          <p:cNvSpPr>
            <a:spLocks noGrp="1"/>
          </p:cNvSpPr>
          <p:nvPr>
            <p:ph type="title"/>
          </p:nvPr>
        </p:nvSpPr>
        <p:spPr/>
        <p:txBody>
          <a:bodyPr/>
          <a:lstStyle/>
          <a:p>
            <a:r>
              <a:rPr lang="en-IN" dirty="0"/>
              <a:t>Example of Recovery</a:t>
            </a:r>
          </a:p>
        </p:txBody>
      </p:sp>
      <p:cxnSp>
        <p:nvCxnSpPr>
          <p:cNvPr id="5" name="直接连接符 4"/>
          <p:cNvCxnSpPr/>
          <p:nvPr/>
        </p:nvCxnSpPr>
        <p:spPr bwMode="auto">
          <a:xfrm>
            <a:off x="2123728" y="2780928"/>
            <a:ext cx="2016224" cy="0"/>
          </a:xfrm>
          <a:prstGeom prst="line">
            <a:avLst/>
          </a:prstGeom>
          <a:ln w="19050">
            <a:prstDash val="sysDash"/>
          </a:ln>
        </p:spPr>
        <p:style>
          <a:lnRef idx="1">
            <a:schemeClr val="accent6"/>
          </a:lnRef>
          <a:fillRef idx="0">
            <a:schemeClr val="accent6"/>
          </a:fillRef>
          <a:effectRef idx="0">
            <a:schemeClr val="accent6"/>
          </a:effectRef>
          <a:fontRef idx="minor">
            <a:schemeClr val="tx1"/>
          </a:fontRef>
        </p:style>
      </p:cxnSp>
      <p:cxnSp>
        <p:nvCxnSpPr>
          <p:cNvPr id="8" name="直接连接符 7"/>
          <p:cNvCxnSpPr/>
          <p:nvPr/>
        </p:nvCxnSpPr>
        <p:spPr bwMode="auto">
          <a:xfrm>
            <a:off x="2123728" y="4437112"/>
            <a:ext cx="2016224" cy="0"/>
          </a:xfrm>
          <a:prstGeom prst="line">
            <a:avLst/>
          </a:prstGeom>
          <a:ln w="19050">
            <a:solidFill>
              <a:srgbClr val="FF0000"/>
            </a:solidFill>
            <a:prstDash val="sysDash"/>
          </a:ln>
        </p:spPr>
        <p:style>
          <a:lnRef idx="1">
            <a:schemeClr val="accent6"/>
          </a:lnRef>
          <a:fillRef idx="0">
            <a:schemeClr val="accent6"/>
          </a:fillRef>
          <a:effectRef idx="0">
            <a:schemeClr val="accent6"/>
          </a:effectRef>
          <a:fontRef idx="minor">
            <a:schemeClr val="tx1"/>
          </a:fontRef>
        </p:style>
      </p:cxnSp>
      <p:sp>
        <p:nvSpPr>
          <p:cNvPr id="9" name="TextBox 8"/>
          <p:cNvSpPr txBox="1"/>
          <p:nvPr/>
        </p:nvSpPr>
        <p:spPr>
          <a:xfrm>
            <a:off x="82228" y="3449191"/>
            <a:ext cx="1564352"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000" dirty="0"/>
              <a:t>崩溃时日志的结束点</a:t>
            </a:r>
          </a:p>
        </p:txBody>
      </p:sp>
      <p:sp>
        <p:nvSpPr>
          <p:cNvPr id="11" name="TextBox 10"/>
          <p:cNvSpPr txBox="1"/>
          <p:nvPr/>
        </p:nvSpPr>
        <p:spPr>
          <a:xfrm>
            <a:off x="82228" y="4365104"/>
            <a:ext cx="1467068" cy="792088"/>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pPr algn="ctr">
              <a:lnSpc>
                <a:spcPct val="100000"/>
              </a:lnSpc>
            </a:pPr>
            <a:r>
              <a:rPr lang="zh-CN" altLang="en-US" sz="2000" dirty="0"/>
              <a:t>恢复过程中</a:t>
            </a:r>
            <a:r>
              <a:rPr lang="zh-CN" altLang="en-US" sz="2000" b="1" dirty="0">
                <a:solidFill>
                  <a:srgbClr val="0000FF"/>
                </a:solidFill>
              </a:rPr>
              <a:t>加入的日志</a:t>
            </a:r>
          </a:p>
        </p:txBody>
      </p:sp>
      <p:sp>
        <p:nvSpPr>
          <p:cNvPr id="6" name="日期占位符 5">
            <a:extLst>
              <a:ext uri="{FF2B5EF4-FFF2-40B4-BE49-F238E27FC236}">
                <a16:creationId xmlns:a16="http://schemas.microsoft.com/office/drawing/2014/main" id="{FAD19071-4B83-C9D1-7872-61A19DF1E4B4}"/>
              </a:ext>
            </a:extLst>
          </p:cNvPr>
          <p:cNvSpPr>
            <a:spLocks noGrp="1"/>
          </p:cNvSpPr>
          <p:nvPr>
            <p:ph type="dt" sz="half" idx="10"/>
          </p:nvPr>
        </p:nvSpPr>
        <p:spPr/>
        <p:txBody>
          <a:bodyPr/>
          <a:lstStyle/>
          <a:p>
            <a:fld id="{D7F190D3-4306-4377-86F9-7AE8B3D42713}" type="datetime1">
              <a:rPr lang="zh-CN" altLang="en-US" smtClean="0"/>
              <a:t>2025/12/24</a:t>
            </a:fld>
            <a:endParaRPr lang="en-US" altLang="zh-CN"/>
          </a:p>
        </p:txBody>
      </p:sp>
      <p:sp>
        <p:nvSpPr>
          <p:cNvPr id="12" name="页脚占位符 11">
            <a:extLst>
              <a:ext uri="{FF2B5EF4-FFF2-40B4-BE49-F238E27FC236}">
                <a16:creationId xmlns:a16="http://schemas.microsoft.com/office/drawing/2014/main" id="{98E26853-2D83-7C49-07B4-F69F2E643933}"/>
              </a:ext>
            </a:extLst>
          </p:cNvPr>
          <p:cNvSpPr>
            <a:spLocks noGrp="1"/>
          </p:cNvSpPr>
          <p:nvPr>
            <p:ph type="ftr" sz="quarter" idx="11"/>
          </p:nvPr>
        </p:nvSpPr>
        <p:spPr/>
        <p:txBody>
          <a:bodyPr/>
          <a:lstStyle/>
          <a:p>
            <a:r>
              <a:rPr lang="en-US" altLang="zh-CN" dirty="0"/>
              <a:t>《</a:t>
            </a:r>
            <a:r>
              <a:rPr lang="en-US" altLang="zh-CN" dirty="0" err="1"/>
              <a:t>数据库系统概论</a:t>
            </a:r>
            <a:r>
              <a:rPr lang="en-US" altLang="zh-CN" dirty="0"/>
              <a:t>》- 第11章</a:t>
            </a:r>
          </a:p>
        </p:txBody>
      </p:sp>
      <p:sp>
        <p:nvSpPr>
          <p:cNvPr id="13" name="灯片编号占位符 12">
            <a:extLst>
              <a:ext uri="{FF2B5EF4-FFF2-40B4-BE49-F238E27FC236}">
                <a16:creationId xmlns:a16="http://schemas.microsoft.com/office/drawing/2014/main" id="{EBBD18A8-A882-466A-140A-56A381FFF1BF}"/>
              </a:ext>
            </a:extLst>
          </p:cNvPr>
          <p:cNvSpPr>
            <a:spLocks noGrp="1"/>
          </p:cNvSpPr>
          <p:nvPr>
            <p:ph type="sldNum" sz="quarter" idx="12"/>
          </p:nvPr>
        </p:nvSpPr>
        <p:spPr/>
        <p:txBody>
          <a:bodyPr/>
          <a:lstStyle/>
          <a:p>
            <a:fld id="{AB1F7240-85F2-492B-84D8-762EF0110923}" type="slidenum">
              <a:rPr lang="en-US" altLang="zh-CN" smtClean="0"/>
              <a:pPr/>
              <a:t>60</a:t>
            </a:fld>
            <a:r>
              <a:rPr lang="en-US" altLang="zh-CN"/>
              <a:t>/67</a:t>
            </a:r>
            <a:endParaRPr lang="zh-CN" altLang="en-US" dirty="0"/>
          </a:p>
        </p:txBody>
      </p:sp>
      <p:sp>
        <p:nvSpPr>
          <p:cNvPr id="10" name="TextBox 9"/>
          <p:cNvSpPr txBox="1"/>
          <p:nvPr/>
        </p:nvSpPr>
        <p:spPr>
          <a:xfrm>
            <a:off x="1259632" y="5569951"/>
            <a:ext cx="1296144" cy="369332"/>
          </a:xfrm>
          <a:prstGeom prst="rect">
            <a:avLst/>
          </a:prstGeom>
          <a:solidFill>
            <a:schemeClr val="bg1"/>
          </a:solidFill>
        </p:spPr>
        <p:txBody>
          <a:bodyPr wrap="square" rtlCol="0">
            <a:spAutoFit/>
          </a:bodyPr>
          <a:lstStyle/>
          <a:p>
            <a:r>
              <a:rPr lang="zh-CN" altLang="en-US"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恢复完成</a:t>
            </a:r>
          </a:p>
        </p:txBody>
      </p:sp>
    </p:spTree>
    <p:extLst>
      <p:ext uri="{BB962C8B-B14F-4D97-AF65-F5344CB8AC3E}">
        <p14:creationId xmlns:p14="http://schemas.microsoft.com/office/powerpoint/2010/main" val="481700178"/>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94CA090-6C5D-4098-A542-BC03E79A35F8}" type="datetime1">
              <a:rPr lang="zh-CN" altLang="en-US" smtClean="0"/>
              <a:t>2025/12/24</a:t>
            </a:fld>
            <a:endParaRPr lang="en-US" altLang="zh-CN"/>
          </a:p>
        </p:txBody>
      </p:sp>
      <p:sp>
        <p:nvSpPr>
          <p:cNvPr id="506882" name="Rectangle 2"/>
          <p:cNvSpPr>
            <a:spLocks noGrp="1" noChangeArrowheads="1"/>
          </p:cNvSpPr>
          <p:nvPr>
            <p:ph type="title"/>
          </p:nvPr>
        </p:nvSpPr>
        <p:spPr/>
        <p:txBody>
          <a:bodyPr/>
          <a:lstStyle/>
          <a:p>
            <a:r>
              <a:rPr lang="en-US" altLang="zh-CN" dirty="0"/>
              <a:t>14.11 </a:t>
            </a:r>
            <a:r>
              <a:rPr lang="zh-CN" altLang="en-US" dirty="0"/>
              <a:t>恢复算法</a:t>
            </a:r>
            <a:r>
              <a:rPr lang="en-US" altLang="zh-CN" dirty="0"/>
              <a:t>(</a:t>
            </a:r>
            <a:r>
              <a:rPr lang="zh-CN" altLang="en-US" dirty="0"/>
              <a:t>故障类别</a:t>
            </a:r>
            <a:r>
              <a:rPr lang="en-US" altLang="zh-CN" dirty="0"/>
              <a:t>)</a:t>
            </a:r>
          </a:p>
        </p:txBody>
      </p:sp>
      <p:sp>
        <p:nvSpPr>
          <p:cNvPr id="506883" name="Rectangle 3"/>
          <p:cNvSpPr>
            <a:spLocks noGrp="1" noChangeArrowheads="1"/>
          </p:cNvSpPr>
          <p:nvPr>
            <p:ph type="body" idx="1"/>
          </p:nvPr>
        </p:nvSpPr>
        <p:spPr/>
        <p:txBody>
          <a:bodyPr/>
          <a:lstStyle/>
          <a:p>
            <a:pPr marL="609600" indent="-609600">
              <a:buFont typeface="Wingdings" pitchFamily="2" charset="2"/>
              <a:buNone/>
            </a:pPr>
            <a:r>
              <a:rPr lang="en-US" altLang="zh-CN" dirty="0">
                <a:solidFill>
                  <a:srgbClr val="FB1807"/>
                </a:solidFill>
              </a:rPr>
              <a:t>3.</a:t>
            </a:r>
            <a:r>
              <a:rPr lang="zh-CN" altLang="en-US" dirty="0">
                <a:solidFill>
                  <a:srgbClr val="FB1807"/>
                </a:solidFill>
              </a:rPr>
              <a:t>介质故障：后备副本＋</a:t>
            </a:r>
            <a:r>
              <a:rPr lang="en-US" altLang="zh-CN" dirty="0">
                <a:solidFill>
                  <a:srgbClr val="FB1807"/>
                </a:solidFill>
              </a:rPr>
              <a:t>REDO</a:t>
            </a:r>
          </a:p>
          <a:p>
            <a:pPr marL="609600" indent="-609600">
              <a:buFont typeface="Wingdings" pitchFamily="2" charset="2"/>
              <a:buNone/>
            </a:pPr>
            <a:r>
              <a:rPr lang="zh-CN" altLang="en-US" dirty="0"/>
              <a:t>需要</a:t>
            </a:r>
            <a:r>
              <a:rPr lang="en-US" altLang="zh-CN" dirty="0">
                <a:solidFill>
                  <a:srgbClr val="C00000"/>
                </a:solidFill>
              </a:rPr>
              <a:t>DBA</a:t>
            </a:r>
            <a:r>
              <a:rPr lang="zh-CN" altLang="en-US" dirty="0">
                <a:solidFill>
                  <a:srgbClr val="C00000"/>
                </a:solidFill>
              </a:rPr>
              <a:t>的介入</a:t>
            </a:r>
            <a:r>
              <a:rPr lang="zh-CN" altLang="en-US" dirty="0"/>
              <a:t>。</a:t>
            </a:r>
          </a:p>
          <a:p>
            <a:pPr marL="609600" indent="-609600">
              <a:buFontTx/>
              <a:buAutoNum type="arabicPeriod"/>
            </a:pPr>
            <a:r>
              <a:rPr lang="zh-CN" altLang="en-US" dirty="0"/>
              <a:t>装入</a:t>
            </a:r>
            <a:r>
              <a:rPr lang="zh-CN" altLang="en-US" dirty="0">
                <a:solidFill>
                  <a:schemeClr val="tx2"/>
                </a:solidFill>
              </a:rPr>
              <a:t>最新的数据库后备副本</a:t>
            </a:r>
            <a:r>
              <a:rPr lang="zh-CN" altLang="en-US" dirty="0"/>
              <a:t>。使数据库恢复到</a:t>
            </a:r>
            <a:r>
              <a:rPr lang="zh-CN" altLang="en-US" dirty="0">
                <a:solidFill>
                  <a:schemeClr val="tx2"/>
                </a:solidFill>
              </a:rPr>
              <a:t>故障发生前</a:t>
            </a:r>
            <a:r>
              <a:rPr lang="zh-CN" altLang="en-US" dirty="0">
                <a:solidFill>
                  <a:srgbClr val="C00000"/>
                </a:solidFill>
              </a:rPr>
              <a:t>最近转储时</a:t>
            </a:r>
            <a:r>
              <a:rPr lang="zh-CN" altLang="en-US" dirty="0"/>
              <a:t>的</a:t>
            </a:r>
            <a:r>
              <a:rPr lang="zh-CN" altLang="en-US" dirty="0">
                <a:solidFill>
                  <a:srgbClr val="C00000"/>
                </a:solidFill>
              </a:rPr>
              <a:t>一致性状态</a:t>
            </a:r>
            <a:r>
              <a:rPr lang="zh-CN" altLang="en-US" dirty="0"/>
              <a:t>。</a:t>
            </a:r>
          </a:p>
          <a:p>
            <a:pPr marL="609600" indent="-609600">
              <a:buFontTx/>
              <a:buAutoNum type="arabicPeriod"/>
            </a:pPr>
            <a:r>
              <a:rPr lang="zh-CN" altLang="en-US" dirty="0"/>
              <a:t>装入</a:t>
            </a:r>
            <a:r>
              <a:rPr lang="zh-CN" altLang="en-US" dirty="0">
                <a:solidFill>
                  <a:schemeClr val="tx2"/>
                </a:solidFill>
              </a:rPr>
              <a:t>日志文件副本</a:t>
            </a:r>
            <a:r>
              <a:rPr lang="zh-CN" altLang="en-US" dirty="0"/>
              <a:t>，利用日志文件进行</a:t>
            </a:r>
            <a:r>
              <a:rPr lang="en-US" altLang="zh-CN" dirty="0">
                <a:solidFill>
                  <a:srgbClr val="0000FF"/>
                </a:solidFill>
              </a:rPr>
              <a:t>REDO</a:t>
            </a:r>
            <a:r>
              <a:rPr lang="zh-CN" altLang="en-US" dirty="0"/>
              <a:t>。</a:t>
            </a:r>
          </a:p>
        </p:txBody>
      </p:sp>
      <p:sp>
        <p:nvSpPr>
          <p:cNvPr id="3" name="页脚占位符 2">
            <a:extLst>
              <a:ext uri="{FF2B5EF4-FFF2-40B4-BE49-F238E27FC236}">
                <a16:creationId xmlns:a16="http://schemas.microsoft.com/office/drawing/2014/main" id="{D0130195-E9E9-48AF-9BD5-1F9E15966242}"/>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5E1EE3BD-B48A-0057-B768-2E292891AD63}"/>
              </a:ext>
            </a:extLst>
          </p:cNvPr>
          <p:cNvSpPr>
            <a:spLocks noGrp="1"/>
          </p:cNvSpPr>
          <p:nvPr>
            <p:ph type="sldNum" sz="quarter" idx="12"/>
          </p:nvPr>
        </p:nvSpPr>
        <p:spPr/>
        <p:txBody>
          <a:bodyPr/>
          <a:lstStyle/>
          <a:p>
            <a:fld id="{6CD0990F-CFD2-4E3E-9B0E-DA23AF729A97}" type="slidenum">
              <a:rPr lang="en-US" altLang="zh-CN" smtClean="0"/>
              <a:pPr/>
              <a:t>61</a:t>
            </a:fld>
            <a:r>
              <a:rPr lang="en-US" altLang="zh-CN"/>
              <a:t>/67</a:t>
            </a:r>
            <a:endParaRPr lang="zh-CN" altLang="en-US" dirty="0"/>
          </a:p>
        </p:txBody>
      </p:sp>
    </p:spTree>
    <p:custDataLst>
      <p:tags r:id="rId1"/>
    </p:custDataLst>
    <p:extLst>
      <p:ext uri="{BB962C8B-B14F-4D97-AF65-F5344CB8AC3E}">
        <p14:creationId xmlns:p14="http://schemas.microsoft.com/office/powerpoint/2010/main" val="142402543"/>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zh-CN" altLang="en-US"/>
              <a:t>本章目录</a:t>
            </a:r>
          </a:p>
        </p:txBody>
      </p:sp>
      <p:sp>
        <p:nvSpPr>
          <p:cNvPr id="253955" name="Rectangle 3"/>
          <p:cNvSpPr>
            <a:spLocks noGrp="1" noChangeArrowheads="1"/>
          </p:cNvSpPr>
          <p:nvPr>
            <p:ph type="body" idx="1"/>
          </p:nvPr>
        </p:nvSpPr>
        <p:spPr>
          <a:xfrm>
            <a:off x="1371600" y="1639888"/>
            <a:ext cx="7583488" cy="4532312"/>
          </a:xfrm>
        </p:spPr>
        <p:txBody>
          <a:bodyPr/>
          <a:lstStyle/>
          <a:p>
            <a:r>
              <a:rPr lang="en-US" altLang="zh-CN" sz="2800" dirty="0"/>
              <a:t>14.9 </a:t>
            </a:r>
            <a:r>
              <a:rPr lang="zh-CN" altLang="en-US" sz="2800" dirty="0"/>
              <a:t>存储器</a:t>
            </a:r>
            <a:endParaRPr lang="en-US" altLang="zh-CN" sz="2800" dirty="0"/>
          </a:p>
          <a:p>
            <a:r>
              <a:rPr lang="en-US" altLang="zh-CN" sz="2800" dirty="0"/>
              <a:t>14.10 </a:t>
            </a:r>
            <a:r>
              <a:rPr lang="zh-CN" altLang="en-US" sz="2800" dirty="0"/>
              <a:t>恢复与原子性</a:t>
            </a:r>
            <a:endParaRPr lang="en-US" altLang="zh-CN" sz="2800" dirty="0"/>
          </a:p>
          <a:p>
            <a:r>
              <a:rPr lang="en-US" altLang="zh-CN" sz="2800" dirty="0"/>
              <a:t>14.11 </a:t>
            </a:r>
            <a:r>
              <a:rPr lang="zh-CN" altLang="en-US" sz="2800" dirty="0"/>
              <a:t>恢复算法</a:t>
            </a:r>
            <a:r>
              <a:rPr lang="en-US" altLang="zh-CN" sz="2800" dirty="0"/>
              <a:t>(</a:t>
            </a:r>
            <a:r>
              <a:rPr lang="zh-CN" altLang="en-US" sz="2800" dirty="0"/>
              <a:t>并发事务</a:t>
            </a:r>
            <a:r>
              <a:rPr lang="en-US" altLang="zh-CN" sz="2800" dirty="0"/>
              <a:t>)</a:t>
            </a:r>
          </a:p>
          <a:p>
            <a:r>
              <a:rPr lang="en-US" altLang="zh-CN" sz="2800" dirty="0"/>
              <a:t>14.12 </a:t>
            </a:r>
            <a:r>
              <a:rPr lang="zh-CN" altLang="en-US" sz="2800" dirty="0"/>
              <a:t>缓冲区管理</a:t>
            </a:r>
            <a:r>
              <a:rPr lang="en-US" altLang="zh-CN" sz="2800" dirty="0"/>
              <a:t>(</a:t>
            </a:r>
            <a:r>
              <a:rPr lang="zh-CN" altLang="en-US" sz="2800" dirty="0"/>
              <a:t>了解</a:t>
            </a:r>
            <a:r>
              <a:rPr lang="en-US" altLang="zh-CN" sz="2800" dirty="0"/>
              <a:t>)</a:t>
            </a:r>
            <a:endParaRPr lang="zh-CN" altLang="en-US" sz="2800" dirty="0"/>
          </a:p>
        </p:txBody>
      </p:sp>
      <p:sp>
        <p:nvSpPr>
          <p:cNvPr id="2" name="日期占位符 1"/>
          <p:cNvSpPr>
            <a:spLocks noGrp="1"/>
          </p:cNvSpPr>
          <p:nvPr>
            <p:ph type="dt" sz="half" idx="10"/>
          </p:nvPr>
        </p:nvSpPr>
        <p:spPr/>
        <p:txBody>
          <a:bodyPr/>
          <a:lstStyle/>
          <a:p>
            <a:fld id="{FEA27A75-0BEA-42F6-BDDC-0226B360B415}" type="datetime1">
              <a:rPr lang="zh-CN" altLang="en-US" smtClean="0"/>
              <a:t>2025/12/24</a:t>
            </a:fld>
            <a:endParaRPr lang="en-US" altLang="zh-CN"/>
          </a:p>
        </p:txBody>
      </p:sp>
      <p:sp>
        <p:nvSpPr>
          <p:cNvPr id="4" name="AutoShape 4">
            <a:extLst>
              <a:ext uri="{FF2B5EF4-FFF2-40B4-BE49-F238E27FC236}">
                <a16:creationId xmlns:a16="http://schemas.microsoft.com/office/drawing/2014/main" id="{65CC362F-811D-25E1-B617-30BAE8941B42}"/>
              </a:ext>
            </a:extLst>
          </p:cNvPr>
          <p:cNvSpPr>
            <a:spLocks noChangeArrowheads="1"/>
          </p:cNvSpPr>
          <p:nvPr/>
        </p:nvSpPr>
        <p:spPr bwMode="auto">
          <a:xfrm>
            <a:off x="914400" y="3284984"/>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页脚占位符 5">
            <a:extLst>
              <a:ext uri="{FF2B5EF4-FFF2-40B4-BE49-F238E27FC236}">
                <a16:creationId xmlns:a16="http://schemas.microsoft.com/office/drawing/2014/main" id="{623B035F-9515-7BBD-648F-57815C58CDEF}"/>
              </a:ext>
            </a:extLst>
          </p:cNvPr>
          <p:cNvSpPr>
            <a:spLocks noGrp="1"/>
          </p:cNvSpPr>
          <p:nvPr>
            <p:ph type="ftr" sz="quarter" idx="11"/>
          </p:nvPr>
        </p:nvSpPr>
        <p:spPr/>
        <p:txBody>
          <a:bodyPr/>
          <a:lstStyle/>
          <a:p>
            <a:r>
              <a:rPr lang="en-US" altLang="zh-CN"/>
              <a:t>《数据库系统概论》- 第11章</a:t>
            </a:r>
          </a:p>
        </p:txBody>
      </p:sp>
      <p:sp>
        <p:nvSpPr>
          <p:cNvPr id="7" name="灯片编号占位符 6">
            <a:extLst>
              <a:ext uri="{FF2B5EF4-FFF2-40B4-BE49-F238E27FC236}">
                <a16:creationId xmlns:a16="http://schemas.microsoft.com/office/drawing/2014/main" id="{603A8C36-C9C8-36A1-A757-A04BDC0062FE}"/>
              </a:ext>
            </a:extLst>
          </p:cNvPr>
          <p:cNvSpPr>
            <a:spLocks noGrp="1"/>
          </p:cNvSpPr>
          <p:nvPr>
            <p:ph type="sldNum" sz="quarter" idx="12"/>
          </p:nvPr>
        </p:nvSpPr>
        <p:spPr/>
        <p:txBody>
          <a:bodyPr/>
          <a:lstStyle/>
          <a:p>
            <a:fld id="{6CD0990F-CFD2-4E3E-9B0E-DA23AF729A97}" type="slidenum">
              <a:rPr lang="en-US" altLang="zh-CN" smtClean="0"/>
              <a:pPr/>
              <a:t>62</a:t>
            </a:fld>
            <a:r>
              <a:rPr lang="en-US" altLang="zh-CN"/>
              <a:t>/67</a:t>
            </a:r>
            <a:endParaRPr lang="zh-CN" altLang="en-US" dirty="0"/>
          </a:p>
        </p:txBody>
      </p:sp>
    </p:spTree>
    <p:custDataLst>
      <p:tags r:id="rId1"/>
    </p:custDataLst>
    <p:extLst>
      <p:ext uri="{BB962C8B-B14F-4D97-AF65-F5344CB8AC3E}">
        <p14:creationId xmlns:p14="http://schemas.microsoft.com/office/powerpoint/2010/main" val="23077140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zh-CN" altLang="en-US"/>
              <a:t>日志记录缓冲</a:t>
            </a:r>
            <a:endParaRPr lang="en-US" altLang="zh-CN"/>
          </a:p>
        </p:txBody>
      </p:sp>
      <p:sp>
        <p:nvSpPr>
          <p:cNvPr id="44036" name="Rectangle 3"/>
          <p:cNvSpPr>
            <a:spLocks noGrp="1" noChangeArrowheads="1"/>
          </p:cNvSpPr>
          <p:nvPr>
            <p:ph type="body" idx="4294967295"/>
          </p:nvPr>
        </p:nvSpPr>
        <p:spPr>
          <a:xfrm>
            <a:off x="757238" y="1340768"/>
            <a:ext cx="8039100" cy="5219700"/>
          </a:xfrm>
        </p:spPr>
        <p:txBody>
          <a:bodyPr/>
          <a:lstStyle/>
          <a:p>
            <a:pPr eaLnBrk="1" hangingPunct="1"/>
            <a:r>
              <a:rPr lang="zh-CN" altLang="en-US" sz="2500" dirty="0">
                <a:solidFill>
                  <a:srgbClr val="FF3300"/>
                </a:solidFill>
              </a:rPr>
              <a:t>日志记录缓冲</a:t>
            </a:r>
            <a:r>
              <a:rPr lang="zh-CN" altLang="en-US" sz="2500" b="0" dirty="0">
                <a:solidFill>
                  <a:schemeClr val="tx2"/>
                </a:solidFill>
              </a:rPr>
              <a:t>：</a:t>
            </a:r>
            <a:r>
              <a:rPr lang="zh-CN" altLang="en-US" sz="2500" dirty="0"/>
              <a:t>在</a:t>
            </a:r>
            <a:r>
              <a:rPr lang="zh-CN" altLang="en-US" sz="2500" b="1" dirty="0">
                <a:solidFill>
                  <a:srgbClr val="0000FF"/>
                </a:solidFill>
              </a:rPr>
              <a:t>主存</a:t>
            </a:r>
            <a:r>
              <a:rPr lang="zh-CN" altLang="en-US" sz="2500" dirty="0"/>
              <a:t>中</a:t>
            </a:r>
            <a:r>
              <a:rPr lang="zh-CN" altLang="en-US" sz="2500" dirty="0">
                <a:solidFill>
                  <a:srgbClr val="FF0000"/>
                </a:solidFill>
              </a:rPr>
              <a:t>缓冲</a:t>
            </a:r>
            <a:r>
              <a:rPr lang="zh-CN" altLang="en-US" sz="2500" dirty="0">
                <a:solidFill>
                  <a:srgbClr val="0000FF"/>
                </a:solidFill>
              </a:rPr>
              <a:t>日志记录</a:t>
            </a:r>
            <a:r>
              <a:rPr lang="zh-CN" altLang="en-US" sz="2500" dirty="0"/>
              <a:t>，而不是直接输出到稳定存储器</a:t>
            </a:r>
            <a:endParaRPr lang="en-US" altLang="zh-CN" sz="2500" dirty="0"/>
          </a:p>
          <a:p>
            <a:pPr lvl="1" eaLnBrk="1" hangingPunct="1"/>
            <a:r>
              <a:rPr lang="zh-CN" altLang="en-US" sz="2400" dirty="0"/>
              <a:t>直接输出导致昂贵代价；</a:t>
            </a:r>
          </a:p>
          <a:p>
            <a:pPr lvl="1" eaLnBrk="1" hangingPunct="1"/>
            <a:r>
              <a:rPr lang="zh-CN" altLang="en-US" sz="2400" dirty="0"/>
              <a:t>当</a:t>
            </a:r>
            <a:r>
              <a:rPr lang="zh-CN" altLang="en-US" sz="2400" b="1" dirty="0"/>
              <a:t>缓冲区中的日志记录</a:t>
            </a:r>
            <a:r>
              <a:rPr lang="zh-CN" altLang="en-US" sz="2400" b="1" dirty="0">
                <a:solidFill>
                  <a:srgbClr val="0000FF"/>
                </a:solidFill>
                <a:effectLst>
                  <a:outerShdw blurRad="38100" dist="38100" dir="2700000" algn="tl">
                    <a:srgbClr val="000000">
                      <a:alpha val="43137"/>
                    </a:srgbClr>
                  </a:outerShdw>
                </a:effectLst>
              </a:rPr>
              <a:t>块</a:t>
            </a:r>
            <a:r>
              <a:rPr lang="zh-CN" altLang="en-US" sz="2400" b="1" dirty="0"/>
              <a:t>满</a:t>
            </a:r>
            <a:r>
              <a:rPr lang="zh-CN" altLang="en-US" sz="2400" dirty="0"/>
              <a:t>的时候，或者当</a:t>
            </a:r>
            <a:r>
              <a:rPr lang="zh-CN" altLang="en-US" sz="2400" b="1" dirty="0"/>
              <a:t>执行</a:t>
            </a:r>
            <a:r>
              <a:rPr lang="zh-CN" altLang="en-US" sz="2400" b="1" dirty="0">
                <a:solidFill>
                  <a:srgbClr val="FF3300"/>
                </a:solidFill>
              </a:rPr>
              <a:t>日志强制</a:t>
            </a:r>
            <a:r>
              <a:rPr lang="zh-CN" altLang="en-US" sz="2400" b="1" dirty="0">
                <a:solidFill>
                  <a:schemeClr val="tx2"/>
                </a:solidFill>
              </a:rPr>
              <a:t>(</a:t>
            </a:r>
            <a:r>
              <a:rPr lang="en-US" altLang="zh-CN" sz="2400" b="1" dirty="0">
                <a:solidFill>
                  <a:schemeClr val="tx2"/>
                </a:solidFill>
              </a:rPr>
              <a:t>log force)</a:t>
            </a:r>
            <a:r>
              <a:rPr lang="zh-CN" altLang="en-US" sz="2400" b="1" dirty="0"/>
              <a:t>操作</a:t>
            </a:r>
            <a:r>
              <a:rPr lang="zh-CN" altLang="en-US" sz="2400" dirty="0"/>
              <a:t>的时候，日志记录输出到</a:t>
            </a:r>
            <a:r>
              <a:rPr lang="zh-CN" altLang="en-US" sz="2400" b="1" dirty="0"/>
              <a:t>稳定存储器</a:t>
            </a:r>
            <a:endParaRPr lang="en-US" altLang="zh-CN" sz="2400" b="1" dirty="0"/>
          </a:p>
          <a:p>
            <a:pPr lvl="2" eaLnBrk="1" hangingPunct="1"/>
            <a:r>
              <a:rPr lang="zh-CN" altLang="en-US" dirty="0"/>
              <a:t>事务提交；</a:t>
            </a:r>
          </a:p>
          <a:p>
            <a:pPr lvl="2" eaLnBrk="1" hangingPunct="1"/>
            <a:r>
              <a:rPr lang="en-US" altLang="zh-CN" dirty="0"/>
              <a:t>Checkpoint</a:t>
            </a:r>
            <a:r>
              <a:rPr lang="zh-CN" altLang="en-US" dirty="0"/>
              <a:t>点的写入；</a:t>
            </a:r>
          </a:p>
          <a:p>
            <a:pPr eaLnBrk="1" hangingPunct="1"/>
            <a:r>
              <a:rPr lang="zh-CN" altLang="en-US" sz="2500" b="1" dirty="0"/>
              <a:t>日志强制</a:t>
            </a:r>
            <a:r>
              <a:rPr lang="zh-CN" altLang="en-US" sz="2500" dirty="0"/>
              <a:t>用来提交事务，方法是将它的</a:t>
            </a:r>
            <a:r>
              <a:rPr lang="zh-CN" altLang="en-US" sz="2500" b="1" dirty="0"/>
              <a:t>日志记录</a:t>
            </a:r>
            <a:r>
              <a:rPr lang="zh-CN" altLang="en-US" sz="2500" dirty="0"/>
              <a:t>(包括提交记录)</a:t>
            </a:r>
            <a:r>
              <a:rPr lang="zh-CN" altLang="en-US" sz="2500" b="1" dirty="0"/>
              <a:t>强行输出</a:t>
            </a:r>
            <a:r>
              <a:rPr lang="zh-CN" altLang="en-US" sz="2500" dirty="0"/>
              <a:t>到</a:t>
            </a:r>
            <a:r>
              <a:rPr lang="zh-CN" altLang="en-US" sz="2500" b="1" dirty="0"/>
              <a:t>稳定存储器</a:t>
            </a:r>
            <a:r>
              <a:rPr lang="zh-CN" altLang="en-US" sz="2500" dirty="0"/>
              <a:t>；</a:t>
            </a:r>
            <a:endParaRPr lang="en-US" altLang="zh-CN" sz="2500" dirty="0"/>
          </a:p>
          <a:p>
            <a:pPr eaLnBrk="1" hangingPunct="1"/>
            <a:r>
              <a:rPr lang="zh-CN" altLang="en-US" sz="2500" dirty="0"/>
              <a:t>因此一次输出操作可以输出多条日志记录，从而减少</a:t>
            </a:r>
            <a:r>
              <a:rPr lang="en-US" altLang="zh-CN" sz="2500" dirty="0"/>
              <a:t>I/O </a:t>
            </a:r>
            <a:r>
              <a:rPr lang="zh-CN" altLang="en-US" sz="2500" dirty="0"/>
              <a:t>代价。</a:t>
            </a:r>
            <a:endParaRPr lang="en-US" altLang="zh-CN" sz="2500" dirty="0"/>
          </a:p>
        </p:txBody>
      </p:sp>
      <p:sp>
        <p:nvSpPr>
          <p:cNvPr id="2" name="日期占位符 1">
            <a:extLst>
              <a:ext uri="{FF2B5EF4-FFF2-40B4-BE49-F238E27FC236}">
                <a16:creationId xmlns:a16="http://schemas.microsoft.com/office/drawing/2014/main" id="{8C2B3918-6209-7E70-C6E3-07454E3F528C}"/>
              </a:ext>
            </a:extLst>
          </p:cNvPr>
          <p:cNvSpPr>
            <a:spLocks noGrp="1"/>
          </p:cNvSpPr>
          <p:nvPr>
            <p:ph type="dt" sz="half" idx="10"/>
          </p:nvPr>
        </p:nvSpPr>
        <p:spPr/>
        <p:txBody>
          <a:bodyPr/>
          <a:lstStyle/>
          <a:p>
            <a:fld id="{65C03978-8AB0-4EA0-AC8D-4FB4841756CD}"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F21D8255-BB6A-55CB-44EF-888F4FEC07D0}"/>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719E636F-323C-6A58-51CF-3DB2CBD51223}"/>
              </a:ext>
            </a:extLst>
          </p:cNvPr>
          <p:cNvSpPr>
            <a:spLocks noGrp="1"/>
          </p:cNvSpPr>
          <p:nvPr>
            <p:ph type="sldNum" sz="quarter" idx="12"/>
          </p:nvPr>
        </p:nvSpPr>
        <p:spPr/>
        <p:txBody>
          <a:bodyPr/>
          <a:lstStyle/>
          <a:p>
            <a:fld id="{AB1F7240-85F2-492B-84D8-762EF0110923}" type="slidenum">
              <a:rPr lang="en-US" altLang="zh-CN" smtClean="0"/>
              <a:pPr/>
              <a:t>63</a:t>
            </a:fld>
            <a:r>
              <a:rPr lang="en-US" altLang="zh-CN"/>
              <a:t>/67</a:t>
            </a:r>
            <a:endParaRPr lang="zh-CN" altLang="en-US" dirty="0"/>
          </a:p>
        </p:txBody>
      </p:sp>
    </p:spTree>
    <p:extLst>
      <p:ext uri="{BB962C8B-B14F-4D97-AF65-F5344CB8AC3E}">
        <p14:creationId xmlns:p14="http://schemas.microsoft.com/office/powerpoint/2010/main" val="680385595"/>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a:t>日志记录缓冲</a:t>
            </a:r>
            <a:r>
              <a:rPr lang="en-US" altLang="zh-CN" baseline="30000"/>
              <a:t>(</a:t>
            </a:r>
            <a:r>
              <a:rPr lang="zh-CN" altLang="en-US" baseline="30000"/>
              <a:t>续</a:t>
            </a:r>
            <a:r>
              <a:rPr lang="en-US" altLang="zh-CN" baseline="30000"/>
              <a:t>)</a:t>
            </a:r>
          </a:p>
        </p:txBody>
      </p:sp>
      <p:sp>
        <p:nvSpPr>
          <p:cNvPr id="45060" name="Rectangle 3"/>
          <p:cNvSpPr>
            <a:spLocks noGrp="1" noChangeArrowheads="1"/>
          </p:cNvSpPr>
          <p:nvPr>
            <p:ph type="body" idx="1"/>
          </p:nvPr>
        </p:nvSpPr>
        <p:spPr>
          <a:xfrm>
            <a:off x="683568" y="1340768"/>
            <a:ext cx="8123237" cy="5060950"/>
          </a:xfrm>
        </p:spPr>
        <p:txBody>
          <a:bodyPr/>
          <a:lstStyle/>
          <a:p>
            <a:pPr eaLnBrk="1" hangingPunct="1">
              <a:lnSpc>
                <a:spcPct val="130000"/>
              </a:lnSpc>
            </a:pPr>
            <a:r>
              <a:rPr lang="zh-CN" altLang="en-US" sz="2800" dirty="0"/>
              <a:t>如果</a:t>
            </a:r>
            <a:r>
              <a:rPr lang="zh-CN" altLang="en-US" sz="2800" b="1" dirty="0">
                <a:solidFill>
                  <a:srgbClr val="0000FF"/>
                </a:solidFill>
              </a:rPr>
              <a:t>缓冲</a:t>
            </a:r>
            <a:r>
              <a:rPr lang="zh-CN" altLang="en-US" sz="2800" dirty="0"/>
              <a:t>日志记录，则必须遵循下列规则：</a:t>
            </a:r>
            <a:endParaRPr lang="en-US" altLang="zh-CN" sz="2800" dirty="0"/>
          </a:p>
          <a:p>
            <a:pPr lvl="1" eaLnBrk="1" hangingPunct="1">
              <a:lnSpc>
                <a:spcPct val="130000"/>
              </a:lnSpc>
            </a:pPr>
            <a:r>
              <a:rPr lang="zh-CN" altLang="en-US" sz="2400" dirty="0"/>
              <a:t>日志记录按其</a:t>
            </a:r>
            <a:r>
              <a:rPr lang="zh-CN" altLang="en-US" sz="2400" b="1" dirty="0">
                <a:solidFill>
                  <a:srgbClr val="0000FF"/>
                </a:solidFill>
              </a:rPr>
              <a:t>创建次序</a:t>
            </a:r>
            <a:r>
              <a:rPr lang="zh-CN" altLang="en-US" sz="2400" dirty="0"/>
              <a:t>输出到稳定存储器；</a:t>
            </a:r>
            <a:endParaRPr lang="en-US" altLang="zh-CN" sz="2400" dirty="0"/>
          </a:p>
          <a:p>
            <a:pPr lvl="1" eaLnBrk="1" hangingPunct="1">
              <a:lnSpc>
                <a:spcPct val="130000"/>
              </a:lnSpc>
            </a:pPr>
            <a:r>
              <a:rPr lang="zh-CN" altLang="en-US" sz="2400" b="1" dirty="0"/>
              <a:t>仅当</a:t>
            </a:r>
            <a:r>
              <a:rPr lang="en-US" altLang="zh-CN" sz="2400" dirty="0"/>
              <a:t>&lt;</a:t>
            </a:r>
            <a:r>
              <a:rPr lang="en-US" altLang="zh-CN" sz="2400" dirty="0" err="1"/>
              <a:t>T</a:t>
            </a:r>
            <a:r>
              <a:rPr lang="en-US" altLang="zh-CN" sz="2400" baseline="-25000" dirty="0" err="1"/>
              <a:t>i</a:t>
            </a:r>
            <a:r>
              <a:rPr lang="en-US" altLang="zh-CN" sz="2400" dirty="0"/>
              <a:t> </a:t>
            </a:r>
            <a:r>
              <a:rPr lang="en-US" altLang="zh-CN" sz="2400" b="0" dirty="0"/>
              <a:t>commit</a:t>
            </a:r>
            <a:r>
              <a:rPr lang="en-US" altLang="zh-CN" sz="2400" dirty="0"/>
              <a:t>&gt;</a:t>
            </a:r>
            <a:r>
              <a:rPr lang="zh-CN" altLang="en-US" sz="2400" b="1" dirty="0">
                <a:solidFill>
                  <a:srgbClr val="0000FF"/>
                </a:solidFill>
              </a:rPr>
              <a:t>日志记录</a:t>
            </a:r>
            <a:r>
              <a:rPr lang="zh-CN" altLang="en-US" sz="2400" b="1" dirty="0">
                <a:solidFill>
                  <a:srgbClr val="FF0000"/>
                </a:solidFill>
              </a:rPr>
              <a:t>已经</a:t>
            </a:r>
            <a:r>
              <a:rPr lang="zh-CN" altLang="en-US" sz="2400" b="1" dirty="0">
                <a:solidFill>
                  <a:srgbClr val="0000FF"/>
                </a:solidFill>
              </a:rPr>
              <a:t>输出到稳定存储器</a:t>
            </a:r>
            <a:r>
              <a:rPr lang="zh-CN" altLang="en-US" sz="2400" dirty="0"/>
              <a:t>，</a:t>
            </a:r>
            <a:r>
              <a:rPr lang="zh-CN" altLang="en-US" sz="2400" b="1" dirty="0">
                <a:solidFill>
                  <a:srgbClr val="0000FF"/>
                </a:solidFill>
              </a:rPr>
              <a:t>事务</a:t>
            </a:r>
            <a:r>
              <a:rPr lang="en-US" altLang="zh-CN" sz="2400" b="1" dirty="0" err="1">
                <a:solidFill>
                  <a:srgbClr val="0000FF"/>
                </a:solidFill>
              </a:rPr>
              <a:t>T</a:t>
            </a:r>
            <a:r>
              <a:rPr lang="en-US" altLang="zh-CN" sz="2400" b="1" baseline="-25000" dirty="0" err="1">
                <a:solidFill>
                  <a:srgbClr val="0000FF"/>
                </a:solidFill>
              </a:rPr>
              <a:t>i</a:t>
            </a:r>
            <a:r>
              <a:rPr lang="en-US" altLang="zh-CN" sz="2400" b="1" dirty="0">
                <a:solidFill>
                  <a:srgbClr val="0000FF"/>
                </a:solidFill>
              </a:rPr>
              <a:t> </a:t>
            </a:r>
            <a:r>
              <a:rPr lang="zh-CN" altLang="en-US" sz="2400" b="1" dirty="0"/>
              <a:t>才进入</a:t>
            </a:r>
            <a:r>
              <a:rPr lang="zh-CN" altLang="en-US" sz="2400" b="1" dirty="0">
                <a:solidFill>
                  <a:srgbClr val="0000FF"/>
                </a:solidFill>
              </a:rPr>
              <a:t>提交状态</a:t>
            </a:r>
            <a:r>
              <a:rPr lang="zh-CN" altLang="en-US" sz="2400" dirty="0"/>
              <a:t>；</a:t>
            </a:r>
            <a:endParaRPr lang="en-US" altLang="zh-CN" sz="2400" dirty="0"/>
          </a:p>
          <a:p>
            <a:pPr lvl="1" eaLnBrk="1" hangingPunct="1">
              <a:lnSpc>
                <a:spcPct val="130000"/>
              </a:lnSpc>
            </a:pPr>
            <a:r>
              <a:rPr lang="zh-CN" altLang="en-US" sz="2400" dirty="0"/>
              <a:t>在</a:t>
            </a:r>
            <a:r>
              <a:rPr lang="zh-CN" altLang="en-US" sz="2400" b="1" dirty="0"/>
              <a:t>主存</a:t>
            </a:r>
            <a:r>
              <a:rPr lang="zh-CN" altLang="en-US" sz="2400" dirty="0"/>
              <a:t>中的</a:t>
            </a:r>
            <a:r>
              <a:rPr lang="zh-CN" altLang="en-US" sz="2400" b="1" dirty="0">
                <a:solidFill>
                  <a:srgbClr val="0000FF"/>
                </a:solidFill>
              </a:rPr>
              <a:t>数据块</a:t>
            </a:r>
            <a:r>
              <a:rPr lang="zh-CN" altLang="en-US" sz="2400" dirty="0"/>
              <a:t>输出到</a:t>
            </a:r>
            <a:r>
              <a:rPr lang="zh-CN" altLang="en-US" sz="2400" b="1" dirty="0">
                <a:solidFill>
                  <a:srgbClr val="0000FF"/>
                </a:solidFill>
              </a:rPr>
              <a:t>数据库之前</a:t>
            </a:r>
            <a:r>
              <a:rPr lang="zh-CN" altLang="en-US" sz="2400" dirty="0"/>
              <a:t>，所有和该块中数据</a:t>
            </a:r>
            <a:r>
              <a:rPr lang="zh-CN" altLang="en-US" sz="2400" b="1" dirty="0">
                <a:solidFill>
                  <a:srgbClr val="FF0000"/>
                </a:solidFill>
              </a:rPr>
              <a:t>相关的日志记录</a:t>
            </a:r>
            <a:r>
              <a:rPr lang="zh-CN" altLang="en-US" sz="2400" b="1" dirty="0">
                <a:solidFill>
                  <a:srgbClr val="0000FF"/>
                </a:solidFill>
              </a:rPr>
              <a:t>必须</a:t>
            </a:r>
            <a:r>
              <a:rPr lang="zh-CN" altLang="en-US" sz="2400" b="1" dirty="0">
                <a:solidFill>
                  <a:srgbClr val="FF0000"/>
                </a:solidFill>
              </a:rPr>
              <a:t>已经</a:t>
            </a:r>
            <a:r>
              <a:rPr lang="zh-CN" altLang="en-US" sz="2400" b="1" dirty="0">
                <a:solidFill>
                  <a:srgbClr val="0000FF"/>
                </a:solidFill>
              </a:rPr>
              <a:t>输出到稳定存储器</a:t>
            </a:r>
            <a:endParaRPr lang="en-US" altLang="zh-CN" sz="2400" b="1" dirty="0">
              <a:solidFill>
                <a:srgbClr val="0000FF"/>
              </a:solidFill>
            </a:endParaRPr>
          </a:p>
          <a:p>
            <a:pPr lvl="2" eaLnBrk="1" hangingPunct="1">
              <a:lnSpc>
                <a:spcPct val="130000"/>
              </a:lnSpc>
            </a:pPr>
            <a:r>
              <a:rPr lang="zh-CN" altLang="en-US" dirty="0"/>
              <a:t>这条规则称为</a:t>
            </a:r>
            <a:r>
              <a:rPr lang="zh-CN" altLang="en-US" b="1" dirty="0">
                <a:solidFill>
                  <a:srgbClr val="FF3300"/>
                </a:solidFill>
              </a:rPr>
              <a:t>先写日志</a:t>
            </a:r>
            <a:r>
              <a:rPr lang="zh-CN" altLang="en-US" dirty="0">
                <a:solidFill>
                  <a:schemeClr val="tx2"/>
                </a:solidFill>
              </a:rPr>
              <a:t>(</a:t>
            </a:r>
            <a:r>
              <a:rPr lang="en-US" altLang="zh-CN" dirty="0">
                <a:solidFill>
                  <a:schemeClr val="tx2"/>
                </a:solidFill>
              </a:rPr>
              <a:t>write-ahead logging)</a:t>
            </a:r>
            <a:r>
              <a:rPr lang="zh-CN" altLang="en-US" dirty="0"/>
              <a:t>或</a:t>
            </a:r>
            <a:r>
              <a:rPr lang="en-US" altLang="zh-CN" dirty="0">
                <a:solidFill>
                  <a:srgbClr val="FF3300"/>
                </a:solidFill>
              </a:rPr>
              <a:t>WAL</a:t>
            </a:r>
            <a:r>
              <a:rPr lang="zh-CN" altLang="en-US" dirty="0"/>
              <a:t>规则。</a:t>
            </a:r>
          </a:p>
        </p:txBody>
      </p:sp>
      <p:sp>
        <p:nvSpPr>
          <p:cNvPr id="2" name="日期占位符 1">
            <a:extLst>
              <a:ext uri="{FF2B5EF4-FFF2-40B4-BE49-F238E27FC236}">
                <a16:creationId xmlns:a16="http://schemas.microsoft.com/office/drawing/2014/main" id="{6D5B6CAE-0E2C-E6B1-0268-D0E6C8A964DE}"/>
              </a:ext>
            </a:extLst>
          </p:cNvPr>
          <p:cNvSpPr>
            <a:spLocks noGrp="1"/>
          </p:cNvSpPr>
          <p:nvPr>
            <p:ph type="dt" sz="half" idx="10"/>
          </p:nvPr>
        </p:nvSpPr>
        <p:spPr/>
        <p:txBody>
          <a:bodyPr/>
          <a:lstStyle/>
          <a:p>
            <a:fld id="{8B741930-0655-48C4-AAFA-773364058839}"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0949CC19-2EBD-3FEA-0FEE-44CF268F0373}"/>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1EF884A9-9055-60C0-1F6E-45D157EA02C2}"/>
              </a:ext>
            </a:extLst>
          </p:cNvPr>
          <p:cNvSpPr>
            <a:spLocks noGrp="1"/>
          </p:cNvSpPr>
          <p:nvPr>
            <p:ph type="sldNum" sz="quarter" idx="12"/>
          </p:nvPr>
        </p:nvSpPr>
        <p:spPr/>
        <p:txBody>
          <a:bodyPr/>
          <a:lstStyle/>
          <a:p>
            <a:fld id="{6CD0990F-CFD2-4E3E-9B0E-DA23AF729A97}" type="slidenum">
              <a:rPr lang="en-US" altLang="zh-CN" smtClean="0"/>
              <a:pPr/>
              <a:t>64</a:t>
            </a:fld>
            <a:r>
              <a:rPr lang="en-US" altLang="zh-CN"/>
              <a:t>/67</a:t>
            </a:r>
            <a:endParaRPr lang="zh-CN" altLang="en-US" dirty="0"/>
          </a:p>
        </p:txBody>
      </p:sp>
    </p:spTree>
    <p:extLst>
      <p:ext uri="{BB962C8B-B14F-4D97-AF65-F5344CB8AC3E}">
        <p14:creationId xmlns:p14="http://schemas.microsoft.com/office/powerpoint/2010/main" val="4202314057"/>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zh-CN" altLang="en-US"/>
              <a:t>数据库缓冲</a:t>
            </a:r>
            <a:endParaRPr lang="en-US" altLang="zh-CN"/>
          </a:p>
        </p:txBody>
      </p:sp>
      <p:sp>
        <p:nvSpPr>
          <p:cNvPr id="46084" name="Rectangle 3"/>
          <p:cNvSpPr>
            <a:spLocks noGrp="1" noChangeArrowheads="1"/>
          </p:cNvSpPr>
          <p:nvPr>
            <p:ph type="body" idx="4294967295"/>
          </p:nvPr>
        </p:nvSpPr>
        <p:spPr>
          <a:xfrm>
            <a:off x="590550" y="1412776"/>
            <a:ext cx="8157914" cy="5205412"/>
          </a:xfrm>
        </p:spPr>
        <p:txBody>
          <a:bodyPr/>
          <a:lstStyle/>
          <a:p>
            <a:pPr eaLnBrk="1" hangingPunct="1"/>
            <a:r>
              <a:rPr lang="zh-CN" altLang="en-US" sz="2500" dirty="0"/>
              <a:t>数据库在内存的缓冲区中</a:t>
            </a:r>
            <a:r>
              <a:rPr lang="zh-CN" altLang="en-US" sz="2500" b="1" dirty="0">
                <a:solidFill>
                  <a:srgbClr val="0000FF"/>
                </a:solidFill>
              </a:rPr>
              <a:t>维护数据块</a:t>
            </a:r>
            <a:endParaRPr lang="en-US" altLang="zh-CN" sz="2500" b="1" dirty="0">
              <a:solidFill>
                <a:srgbClr val="0000FF"/>
              </a:solidFill>
            </a:endParaRPr>
          </a:p>
          <a:p>
            <a:pPr lvl="1" eaLnBrk="1" hangingPunct="1"/>
            <a:r>
              <a:rPr lang="zh-CN" altLang="en-US" sz="2400" dirty="0"/>
              <a:t>当需要</a:t>
            </a:r>
            <a:r>
              <a:rPr lang="zh-CN" altLang="en-US" sz="2400" b="1" dirty="0"/>
              <a:t>新块</a:t>
            </a:r>
            <a:r>
              <a:rPr lang="zh-CN" altLang="en-US" sz="2400" dirty="0"/>
              <a:t>时，如果缓冲区</a:t>
            </a:r>
            <a:r>
              <a:rPr lang="zh-CN" altLang="en-US" sz="2400" b="1" dirty="0">
                <a:solidFill>
                  <a:srgbClr val="0000FF"/>
                </a:solidFill>
              </a:rPr>
              <a:t>已满</a:t>
            </a:r>
            <a:r>
              <a:rPr lang="zh-CN" altLang="en-US" sz="2400" dirty="0"/>
              <a:t>，则需要将某个</a:t>
            </a:r>
            <a:r>
              <a:rPr lang="zh-CN" altLang="en-US" sz="2400" b="1" dirty="0"/>
              <a:t>现有块</a:t>
            </a:r>
            <a:r>
              <a:rPr lang="en-US" altLang="zh-CN" sz="2400" b="1" dirty="0"/>
              <a:t>B</a:t>
            </a:r>
            <a:r>
              <a:rPr lang="zh-CN" altLang="en-US" sz="2400" dirty="0">
                <a:solidFill>
                  <a:srgbClr val="0000FF"/>
                </a:solidFill>
              </a:rPr>
              <a:t>移出缓冲区；</a:t>
            </a:r>
            <a:endParaRPr lang="en-US" altLang="zh-CN" sz="2400" dirty="0">
              <a:solidFill>
                <a:srgbClr val="0000FF"/>
              </a:solidFill>
            </a:endParaRPr>
          </a:p>
          <a:p>
            <a:pPr lvl="1" eaLnBrk="1" hangingPunct="1"/>
            <a:r>
              <a:rPr lang="zh-CN" altLang="en-US" sz="2400" b="1" dirty="0"/>
              <a:t>如果</a:t>
            </a:r>
            <a:r>
              <a:rPr lang="zh-CN" altLang="en-US" sz="2400" dirty="0"/>
              <a:t>所选的</a:t>
            </a:r>
            <a:r>
              <a:rPr lang="zh-CN" altLang="en-US" sz="2400" b="1" dirty="0">
                <a:solidFill>
                  <a:srgbClr val="0000FF"/>
                </a:solidFill>
              </a:rPr>
              <a:t>移出块</a:t>
            </a:r>
            <a:r>
              <a:rPr lang="en-US" altLang="zh-CN" sz="2400" b="1" dirty="0">
                <a:solidFill>
                  <a:srgbClr val="0000FF"/>
                </a:solidFill>
              </a:rPr>
              <a:t>B</a:t>
            </a:r>
            <a:r>
              <a:rPr lang="zh-CN" altLang="en-US" sz="2400" b="1" dirty="0">
                <a:solidFill>
                  <a:srgbClr val="0000FF"/>
                </a:solidFill>
              </a:rPr>
              <a:t>被更新</a:t>
            </a:r>
            <a:r>
              <a:rPr lang="zh-CN" altLang="en-US" sz="2400" dirty="0"/>
              <a:t>过，则必须将它</a:t>
            </a:r>
            <a:r>
              <a:rPr lang="zh-CN" altLang="en-US" sz="2400" b="1" dirty="0">
                <a:solidFill>
                  <a:srgbClr val="0000FF"/>
                </a:solidFill>
              </a:rPr>
              <a:t>输出到磁盘；</a:t>
            </a:r>
            <a:endParaRPr lang="en-US" altLang="zh-CN" sz="2400" b="1" dirty="0">
              <a:solidFill>
                <a:srgbClr val="0000FF"/>
              </a:solidFill>
            </a:endParaRPr>
          </a:p>
          <a:p>
            <a:pPr lvl="2" eaLnBrk="1" hangingPunct="1"/>
            <a:r>
              <a:rPr lang="zh-CN" altLang="en-US" sz="2000" dirty="0"/>
              <a:t>根据</a:t>
            </a:r>
            <a:r>
              <a:rPr lang="zh-CN" altLang="en-US" sz="2000" b="1" dirty="0">
                <a:solidFill>
                  <a:srgbClr val="0000FF"/>
                </a:solidFill>
              </a:rPr>
              <a:t>先写日志</a:t>
            </a:r>
            <a:r>
              <a:rPr lang="zh-CN" altLang="en-US" sz="2000" dirty="0"/>
              <a:t>规则，如果要将一个带有未提交更新数据项的块</a:t>
            </a:r>
            <a:r>
              <a:rPr lang="en-US" altLang="zh-CN" sz="2000" dirty="0"/>
              <a:t>B</a:t>
            </a:r>
            <a:r>
              <a:rPr lang="zh-CN" altLang="en-US" sz="2000" dirty="0"/>
              <a:t>输出到磁盘，则要将记有那些更新信息的日志记录先输出到稳定存储器上的日志中；</a:t>
            </a:r>
            <a:endParaRPr lang="en-US" altLang="zh-CN" sz="2000" dirty="0"/>
          </a:p>
          <a:p>
            <a:pPr eaLnBrk="1" hangingPunct="1"/>
            <a:r>
              <a:rPr lang="zh-CN" altLang="en-US" sz="2500" dirty="0"/>
              <a:t>块</a:t>
            </a:r>
            <a:r>
              <a:rPr lang="en-US" altLang="zh-CN" sz="2500" dirty="0"/>
              <a:t>B</a:t>
            </a:r>
            <a:r>
              <a:rPr lang="zh-CN" altLang="en-US" sz="2500" dirty="0"/>
              <a:t>输出到磁盘的过程中</a:t>
            </a:r>
            <a:r>
              <a:rPr lang="en-US" altLang="zh-CN" sz="2500" dirty="0"/>
              <a:t>(</a:t>
            </a:r>
            <a:r>
              <a:rPr lang="zh-CN" altLang="en-US" sz="2500" dirty="0"/>
              <a:t>包括选中块</a:t>
            </a:r>
            <a:r>
              <a:rPr lang="en-US" altLang="zh-CN" sz="2500" dirty="0"/>
              <a:t>B</a:t>
            </a:r>
            <a:r>
              <a:rPr lang="zh-CN" altLang="en-US" sz="2500" dirty="0"/>
              <a:t>之后，首先输出其日志文件</a:t>
            </a:r>
            <a:r>
              <a:rPr lang="en-US" altLang="zh-CN" sz="2500" dirty="0"/>
              <a:t>)</a:t>
            </a:r>
            <a:r>
              <a:rPr lang="zh-CN" altLang="en-US" sz="2500" dirty="0"/>
              <a:t>，其上</a:t>
            </a:r>
            <a:r>
              <a:rPr lang="zh-CN" altLang="en-US" sz="2500" b="1" dirty="0"/>
              <a:t>不能有正在进行的更新</a:t>
            </a:r>
            <a:r>
              <a:rPr lang="zh-CN" altLang="en-US" sz="2500" dirty="0"/>
              <a:t>。可以用下列方法确保这一点：</a:t>
            </a:r>
            <a:endParaRPr lang="en-US" altLang="zh-CN" sz="2500" dirty="0"/>
          </a:p>
          <a:p>
            <a:pPr lvl="1" eaLnBrk="1" hangingPunct="1"/>
            <a:r>
              <a:rPr lang="zh-CN" altLang="en-US" sz="2000" dirty="0"/>
              <a:t>写数据项之前，事务在包含该</a:t>
            </a:r>
            <a:r>
              <a:rPr lang="zh-CN" altLang="en-US" sz="2000" b="1" dirty="0">
                <a:solidFill>
                  <a:srgbClr val="0000FF"/>
                </a:solidFill>
              </a:rPr>
              <a:t>数据项的块</a:t>
            </a:r>
            <a:r>
              <a:rPr lang="zh-CN" altLang="en-US" sz="2000" dirty="0"/>
              <a:t>上获得</a:t>
            </a:r>
            <a:r>
              <a:rPr lang="zh-CN" altLang="en-US" sz="2000" b="1" dirty="0">
                <a:solidFill>
                  <a:srgbClr val="0000FF"/>
                </a:solidFill>
              </a:rPr>
              <a:t>排它锁</a:t>
            </a:r>
            <a:r>
              <a:rPr lang="zh-CN" altLang="en-US" sz="2000" dirty="0"/>
              <a:t>；</a:t>
            </a:r>
            <a:endParaRPr lang="en-US" altLang="zh-CN" sz="1800" dirty="0"/>
          </a:p>
        </p:txBody>
      </p:sp>
      <p:sp>
        <p:nvSpPr>
          <p:cNvPr id="2" name="日期占位符 1">
            <a:extLst>
              <a:ext uri="{FF2B5EF4-FFF2-40B4-BE49-F238E27FC236}">
                <a16:creationId xmlns:a16="http://schemas.microsoft.com/office/drawing/2014/main" id="{1524C9CB-51AD-BEB0-E489-6828FFC7C982}"/>
              </a:ext>
            </a:extLst>
          </p:cNvPr>
          <p:cNvSpPr>
            <a:spLocks noGrp="1"/>
          </p:cNvSpPr>
          <p:nvPr>
            <p:ph type="dt" sz="half" idx="10"/>
          </p:nvPr>
        </p:nvSpPr>
        <p:spPr/>
        <p:txBody>
          <a:bodyPr/>
          <a:lstStyle/>
          <a:p>
            <a:fld id="{6AAB164E-9904-462A-A554-49185529D22F}"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17A638DB-A2D8-FB0C-292C-CDA69B01A24F}"/>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ABFF4C51-A8D0-B19C-3E19-347673986EB5}"/>
              </a:ext>
            </a:extLst>
          </p:cNvPr>
          <p:cNvSpPr>
            <a:spLocks noGrp="1"/>
          </p:cNvSpPr>
          <p:nvPr>
            <p:ph type="sldNum" sz="quarter" idx="12"/>
          </p:nvPr>
        </p:nvSpPr>
        <p:spPr/>
        <p:txBody>
          <a:bodyPr/>
          <a:lstStyle/>
          <a:p>
            <a:fld id="{AB1F7240-85F2-492B-84D8-762EF0110923}" type="slidenum">
              <a:rPr lang="en-US" altLang="zh-CN" smtClean="0"/>
              <a:pPr/>
              <a:t>65</a:t>
            </a:fld>
            <a:r>
              <a:rPr lang="en-US" altLang="zh-CN"/>
              <a:t>/67</a:t>
            </a:r>
            <a:endParaRPr lang="zh-CN" altLang="en-US" dirty="0"/>
          </a:p>
        </p:txBody>
      </p:sp>
    </p:spTree>
    <p:extLst>
      <p:ext uri="{BB962C8B-B14F-4D97-AF65-F5344CB8AC3E}">
        <p14:creationId xmlns:p14="http://schemas.microsoft.com/office/powerpoint/2010/main" val="1900647814"/>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zh-CN" altLang="en-US"/>
              <a:t>数据库缓冲</a:t>
            </a:r>
            <a:endParaRPr lang="en-US" altLang="zh-CN"/>
          </a:p>
        </p:txBody>
      </p:sp>
      <p:sp>
        <p:nvSpPr>
          <p:cNvPr id="46084" name="Rectangle 3"/>
          <p:cNvSpPr>
            <a:spLocks noGrp="1" noChangeArrowheads="1"/>
          </p:cNvSpPr>
          <p:nvPr>
            <p:ph type="body" idx="4294967295"/>
          </p:nvPr>
        </p:nvSpPr>
        <p:spPr>
          <a:xfrm>
            <a:off x="590550" y="1463948"/>
            <a:ext cx="8157914" cy="5205412"/>
          </a:xfrm>
        </p:spPr>
        <p:txBody>
          <a:bodyPr/>
          <a:lstStyle/>
          <a:p>
            <a:pPr eaLnBrk="1" hangingPunct="1"/>
            <a:r>
              <a:rPr lang="zh-CN" altLang="en-US" sz="2500" dirty="0"/>
              <a:t>块</a:t>
            </a:r>
            <a:r>
              <a:rPr lang="en-US" altLang="zh-CN" sz="2500" dirty="0"/>
              <a:t>B</a:t>
            </a:r>
            <a:r>
              <a:rPr lang="zh-CN" altLang="en-US" sz="2500" dirty="0"/>
              <a:t>输出到磁盘的过程中</a:t>
            </a:r>
            <a:r>
              <a:rPr lang="en-US" altLang="zh-CN" sz="2500" dirty="0"/>
              <a:t>(</a:t>
            </a:r>
            <a:r>
              <a:rPr lang="zh-CN" altLang="en-US" sz="2500" dirty="0"/>
              <a:t>包括选中块</a:t>
            </a:r>
            <a:r>
              <a:rPr lang="en-US" altLang="zh-CN" sz="2500" dirty="0"/>
              <a:t>B</a:t>
            </a:r>
            <a:r>
              <a:rPr lang="zh-CN" altLang="en-US" sz="2500" dirty="0"/>
              <a:t>之后，首先输出其日志文件</a:t>
            </a:r>
            <a:r>
              <a:rPr lang="en-US" altLang="zh-CN" sz="2500" dirty="0"/>
              <a:t>)</a:t>
            </a:r>
            <a:r>
              <a:rPr lang="zh-CN" altLang="en-US" sz="2500" dirty="0"/>
              <a:t>，其上</a:t>
            </a:r>
            <a:r>
              <a:rPr lang="zh-CN" altLang="en-US" sz="2500" b="1" dirty="0"/>
              <a:t>不能有正在进行的更新</a:t>
            </a:r>
            <a:r>
              <a:rPr lang="zh-CN" altLang="en-US" sz="2500" dirty="0"/>
              <a:t>。可以用下列方法确保这一点：</a:t>
            </a:r>
            <a:endParaRPr lang="en-US" altLang="zh-CN" sz="2500" dirty="0"/>
          </a:p>
          <a:p>
            <a:pPr lvl="1" eaLnBrk="1" hangingPunct="1"/>
            <a:r>
              <a:rPr lang="zh-CN" altLang="en-US" sz="2400" dirty="0"/>
              <a:t>写数据项之前，事务在包含该</a:t>
            </a:r>
            <a:r>
              <a:rPr lang="zh-CN" altLang="en-US" sz="2400" b="1" dirty="0">
                <a:solidFill>
                  <a:srgbClr val="0000FF"/>
                </a:solidFill>
              </a:rPr>
              <a:t>数据项的块</a:t>
            </a:r>
            <a:r>
              <a:rPr lang="zh-CN" altLang="en-US" sz="2400" dirty="0"/>
              <a:t>上获得</a:t>
            </a:r>
            <a:r>
              <a:rPr lang="zh-CN" altLang="en-US" sz="2400" b="1" dirty="0">
                <a:solidFill>
                  <a:srgbClr val="0000FF"/>
                </a:solidFill>
              </a:rPr>
              <a:t>排它锁；</a:t>
            </a:r>
            <a:endParaRPr lang="en-US" altLang="zh-CN" sz="2400" b="1" dirty="0">
              <a:solidFill>
                <a:srgbClr val="0000FF"/>
              </a:solidFill>
            </a:endParaRPr>
          </a:p>
          <a:p>
            <a:pPr lvl="1" eaLnBrk="1" hangingPunct="1"/>
            <a:r>
              <a:rPr lang="zh-CN" altLang="en-US" sz="2400" b="1" dirty="0">
                <a:solidFill>
                  <a:srgbClr val="0000FF"/>
                </a:solidFill>
              </a:rPr>
              <a:t>一旦完成写，锁即可释放</a:t>
            </a:r>
            <a:endParaRPr lang="en-US" altLang="zh-CN" sz="2400" b="1" dirty="0">
              <a:solidFill>
                <a:srgbClr val="0000FF"/>
              </a:solidFill>
            </a:endParaRPr>
          </a:p>
          <a:p>
            <a:pPr lvl="2" eaLnBrk="1" hangingPunct="1"/>
            <a:r>
              <a:rPr lang="zh-CN" altLang="en-US" sz="2000" dirty="0"/>
              <a:t>这种数据块上持有</a:t>
            </a:r>
            <a:r>
              <a:rPr lang="zh-CN" altLang="en-US" b="1" dirty="0">
                <a:solidFill>
                  <a:srgbClr val="0000FF"/>
                </a:solidFill>
              </a:rPr>
              <a:t>时间很短</a:t>
            </a:r>
            <a:r>
              <a:rPr lang="zh-CN" altLang="en-US" sz="2000" dirty="0"/>
              <a:t>的</a:t>
            </a:r>
            <a:r>
              <a:rPr lang="zh-CN" altLang="en-US" b="1" dirty="0">
                <a:solidFill>
                  <a:srgbClr val="0000FF"/>
                </a:solidFill>
              </a:rPr>
              <a:t>锁</a:t>
            </a:r>
            <a:r>
              <a:rPr lang="zh-CN" altLang="en-US" sz="2000" dirty="0"/>
              <a:t>称为</a:t>
            </a:r>
            <a:r>
              <a:rPr lang="zh-CN" altLang="en-US" b="1" dirty="0">
                <a:solidFill>
                  <a:srgbClr val="0000FF"/>
                </a:solidFill>
              </a:rPr>
              <a:t>闩</a:t>
            </a:r>
            <a:r>
              <a:rPr lang="zh-CN" altLang="en-US" sz="2000" dirty="0">
                <a:solidFill>
                  <a:schemeClr val="tx2"/>
                </a:solidFill>
              </a:rPr>
              <a:t>(</a:t>
            </a:r>
            <a:r>
              <a:rPr lang="en-US" altLang="zh-CN" sz="2000" dirty="0">
                <a:solidFill>
                  <a:schemeClr val="tx2"/>
                </a:solidFill>
              </a:rPr>
              <a:t>latch)</a:t>
            </a:r>
            <a:endParaRPr lang="en-US" altLang="zh-CN" sz="2000" dirty="0"/>
          </a:p>
          <a:p>
            <a:pPr lvl="1" eaLnBrk="1" hangingPunct="1"/>
            <a:r>
              <a:rPr lang="zh-CN" altLang="en-US" sz="2400" dirty="0"/>
              <a:t>在一个</a:t>
            </a:r>
            <a:r>
              <a:rPr lang="zh-CN" altLang="en-US" sz="2400" b="1" dirty="0">
                <a:solidFill>
                  <a:srgbClr val="0000FF"/>
                </a:solidFill>
              </a:rPr>
              <a:t>块输出到磁盘之前</a:t>
            </a:r>
            <a:r>
              <a:rPr lang="zh-CN" altLang="en-US" sz="2400" dirty="0"/>
              <a:t>，系统在该块上获得</a:t>
            </a:r>
            <a:r>
              <a:rPr lang="zh-CN" altLang="en-US" sz="2400" b="1" dirty="0">
                <a:solidFill>
                  <a:srgbClr val="0000FF"/>
                </a:solidFill>
              </a:rPr>
              <a:t>排它闩</a:t>
            </a:r>
            <a:endParaRPr lang="en-US" altLang="zh-CN" sz="2400" b="1" dirty="0">
              <a:solidFill>
                <a:srgbClr val="0000FF"/>
              </a:solidFill>
            </a:endParaRPr>
          </a:p>
          <a:p>
            <a:pPr lvl="2" eaLnBrk="1" hangingPunct="1"/>
            <a:r>
              <a:rPr lang="zh-CN" altLang="en-US" sz="2000" dirty="0"/>
              <a:t>确保该块上没有更新正在进行。</a:t>
            </a:r>
            <a:endParaRPr lang="en-US" altLang="zh-CN" sz="2000" dirty="0"/>
          </a:p>
        </p:txBody>
      </p:sp>
      <p:sp>
        <p:nvSpPr>
          <p:cNvPr id="2" name="日期占位符 1">
            <a:extLst>
              <a:ext uri="{FF2B5EF4-FFF2-40B4-BE49-F238E27FC236}">
                <a16:creationId xmlns:a16="http://schemas.microsoft.com/office/drawing/2014/main" id="{6FFE5EC2-A41B-0654-ABFE-B4048778FE71}"/>
              </a:ext>
            </a:extLst>
          </p:cNvPr>
          <p:cNvSpPr>
            <a:spLocks noGrp="1"/>
          </p:cNvSpPr>
          <p:nvPr>
            <p:ph type="dt" sz="half" idx="10"/>
          </p:nvPr>
        </p:nvSpPr>
        <p:spPr/>
        <p:txBody>
          <a:bodyPr/>
          <a:lstStyle/>
          <a:p>
            <a:fld id="{2838C212-6411-4892-88A0-9AE9E317A358}"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AA05D350-8FAA-45F7-4BC7-AD50E70075D7}"/>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6ADEEFB5-A064-6B65-0648-BA14E5F7E842}"/>
              </a:ext>
            </a:extLst>
          </p:cNvPr>
          <p:cNvSpPr>
            <a:spLocks noGrp="1"/>
          </p:cNvSpPr>
          <p:nvPr>
            <p:ph type="sldNum" sz="quarter" idx="12"/>
          </p:nvPr>
        </p:nvSpPr>
        <p:spPr/>
        <p:txBody>
          <a:bodyPr/>
          <a:lstStyle/>
          <a:p>
            <a:fld id="{AB1F7240-85F2-492B-84D8-762EF0110923}" type="slidenum">
              <a:rPr lang="en-US" altLang="zh-CN" smtClean="0"/>
              <a:pPr/>
              <a:t>66</a:t>
            </a:fld>
            <a:r>
              <a:rPr lang="en-US" altLang="zh-CN"/>
              <a:t>/67</a:t>
            </a:r>
            <a:endParaRPr lang="zh-CN" altLang="en-US" dirty="0"/>
          </a:p>
        </p:txBody>
      </p:sp>
    </p:spTree>
    <p:extLst>
      <p:ext uri="{BB962C8B-B14F-4D97-AF65-F5344CB8AC3E}">
        <p14:creationId xmlns:p14="http://schemas.microsoft.com/office/powerpoint/2010/main" val="3742467571"/>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zh-CN" altLang="en-US"/>
              <a:t>数据库缓冲</a:t>
            </a:r>
            <a:r>
              <a:rPr lang="en-US" altLang="zh-CN" baseline="30000"/>
              <a:t>(</a:t>
            </a:r>
            <a:r>
              <a:rPr lang="zh-CN" altLang="en-US" baseline="30000"/>
              <a:t>续</a:t>
            </a:r>
            <a:r>
              <a:rPr lang="en-US" altLang="zh-CN" baseline="30000"/>
              <a:t>)</a:t>
            </a:r>
          </a:p>
        </p:txBody>
      </p:sp>
      <p:sp>
        <p:nvSpPr>
          <p:cNvPr id="47108" name="Rectangle 3"/>
          <p:cNvSpPr>
            <a:spLocks noGrp="1" noChangeArrowheads="1"/>
          </p:cNvSpPr>
          <p:nvPr>
            <p:ph type="body" idx="4294967295"/>
          </p:nvPr>
        </p:nvSpPr>
        <p:spPr>
          <a:xfrm>
            <a:off x="683568" y="1340768"/>
            <a:ext cx="7885112" cy="5014913"/>
          </a:xfrm>
        </p:spPr>
        <p:txBody>
          <a:bodyPr/>
          <a:lstStyle/>
          <a:p>
            <a:pPr eaLnBrk="1" hangingPunct="1"/>
            <a:r>
              <a:rPr lang="zh-CN" altLang="en-US" sz="2500" dirty="0"/>
              <a:t>数据库缓冲区的实现可以是</a:t>
            </a:r>
            <a:endParaRPr lang="en-US" altLang="zh-CN" sz="2500" dirty="0"/>
          </a:p>
          <a:p>
            <a:pPr lvl="1" eaLnBrk="1" hangingPunct="1"/>
            <a:r>
              <a:rPr lang="zh-CN" altLang="en-US" sz="2100" dirty="0"/>
              <a:t>在</a:t>
            </a:r>
            <a:r>
              <a:rPr lang="zh-CN" altLang="en-US" sz="2100" b="1" dirty="0">
                <a:solidFill>
                  <a:srgbClr val="0000FF"/>
                </a:solidFill>
              </a:rPr>
              <a:t>实际主存</a:t>
            </a:r>
            <a:r>
              <a:rPr lang="zh-CN" altLang="en-US" sz="2100" dirty="0"/>
              <a:t>中为数据库保留的一个区域；</a:t>
            </a:r>
            <a:endParaRPr lang="en-US" altLang="zh-CN" sz="2100" dirty="0"/>
          </a:p>
          <a:p>
            <a:pPr lvl="1" eaLnBrk="1" hangingPunct="1"/>
            <a:r>
              <a:rPr lang="zh-CN" altLang="en-US" sz="2100" dirty="0"/>
              <a:t>在</a:t>
            </a:r>
            <a:r>
              <a:rPr lang="zh-CN" altLang="en-US" sz="2100" dirty="0">
                <a:solidFill>
                  <a:srgbClr val="0000FF"/>
                </a:solidFill>
              </a:rPr>
              <a:t>虚拟内存</a:t>
            </a:r>
            <a:r>
              <a:rPr lang="zh-CN" altLang="en-US" sz="2100" dirty="0"/>
              <a:t>中；</a:t>
            </a:r>
          </a:p>
          <a:p>
            <a:pPr eaLnBrk="1" hangingPunct="1"/>
            <a:r>
              <a:rPr lang="zh-CN" altLang="en-US" sz="2500" dirty="0"/>
              <a:t>主存中实现缓冲区</a:t>
            </a:r>
            <a:endParaRPr lang="en-US" altLang="zh-CN" sz="2500" dirty="0"/>
          </a:p>
          <a:p>
            <a:pPr lvl="1" eaLnBrk="1" hangingPunct="1"/>
            <a:r>
              <a:rPr lang="zh-CN" altLang="en-US" sz="2100" dirty="0"/>
              <a:t>预先</a:t>
            </a:r>
            <a:r>
              <a:rPr lang="zh-CN" altLang="en-US" sz="2100" b="1" dirty="0"/>
              <a:t>划分内存</a:t>
            </a:r>
            <a:r>
              <a:rPr lang="zh-CN" altLang="en-US" sz="2100" dirty="0"/>
              <a:t>给数据库缓冲区和其它应用，限制了灵活性</a:t>
            </a:r>
            <a:endParaRPr lang="en-US" altLang="zh-CN" sz="2100" dirty="0"/>
          </a:p>
          <a:p>
            <a:pPr lvl="1" eaLnBrk="1" hangingPunct="1"/>
            <a:r>
              <a:rPr lang="zh-CN" altLang="en-US" sz="2100" dirty="0"/>
              <a:t>需求可能改变，尽管操作系统最清楚在任何时刻应该如何分配内存，它却不能改变内存分配</a:t>
            </a:r>
            <a:endParaRPr lang="en-US" altLang="zh-CN" sz="2100" dirty="0"/>
          </a:p>
          <a:p>
            <a:pPr eaLnBrk="1" hangingPunct="1"/>
            <a:r>
              <a:rPr lang="zh-CN" altLang="en-US" sz="2500" dirty="0"/>
              <a:t>虚拟内存实现数据库缓冲区</a:t>
            </a:r>
            <a:r>
              <a:rPr lang="en-US" altLang="zh-CN" sz="2500" dirty="0"/>
              <a:t> </a:t>
            </a:r>
          </a:p>
          <a:p>
            <a:pPr lvl="1" eaLnBrk="1" hangingPunct="1"/>
            <a:r>
              <a:rPr lang="zh-CN" altLang="en-US" sz="2100" dirty="0"/>
              <a:t>能够避免主存数据库缓冲区的问题</a:t>
            </a:r>
          </a:p>
          <a:p>
            <a:pPr lvl="1" eaLnBrk="1" hangingPunct="1"/>
            <a:r>
              <a:rPr lang="zh-CN" altLang="en-US" sz="2100" dirty="0"/>
              <a:t>但是，会出现所谓的</a:t>
            </a:r>
            <a:r>
              <a:rPr lang="en-US" altLang="zh-CN" sz="2100" dirty="0"/>
              <a:t>dual paging</a:t>
            </a:r>
            <a:r>
              <a:rPr lang="zh-CN" altLang="en-US" sz="2100" dirty="0"/>
              <a:t>的问题</a:t>
            </a:r>
          </a:p>
          <a:p>
            <a:pPr lvl="2" eaLnBrk="1" hangingPunct="1"/>
            <a:r>
              <a:rPr lang="zh-CN" altLang="en-US" sz="1900" dirty="0"/>
              <a:t>当数据库决定将缓冲页写到磁盘时，缓冲页可能在虚拟缓存的交换区中（由</a:t>
            </a:r>
            <a:r>
              <a:rPr lang="en-US" altLang="zh-CN" sz="1900" dirty="0"/>
              <a:t>OS</a:t>
            </a:r>
            <a:r>
              <a:rPr lang="zh-CN" altLang="en-US" sz="1900" dirty="0"/>
              <a:t>输出），于是可能必须从磁盘上的交换区读入该页再输出到磁盘上的数据库中，导致一次多余的</a:t>
            </a:r>
            <a:r>
              <a:rPr lang="en-US" altLang="zh-CN" sz="1900" dirty="0"/>
              <a:t>I/O</a:t>
            </a:r>
            <a:endParaRPr lang="en-US" altLang="zh-CN" sz="1800" dirty="0"/>
          </a:p>
        </p:txBody>
      </p:sp>
      <p:sp>
        <p:nvSpPr>
          <p:cNvPr id="2" name="日期占位符 1">
            <a:extLst>
              <a:ext uri="{FF2B5EF4-FFF2-40B4-BE49-F238E27FC236}">
                <a16:creationId xmlns:a16="http://schemas.microsoft.com/office/drawing/2014/main" id="{34653EC8-D0F5-5F15-48DD-09E680B74FFC}"/>
              </a:ext>
            </a:extLst>
          </p:cNvPr>
          <p:cNvSpPr>
            <a:spLocks noGrp="1"/>
          </p:cNvSpPr>
          <p:nvPr>
            <p:ph type="dt" sz="half" idx="10"/>
          </p:nvPr>
        </p:nvSpPr>
        <p:spPr/>
        <p:txBody>
          <a:bodyPr/>
          <a:lstStyle/>
          <a:p>
            <a:fld id="{2B3AF639-A4F2-4AFA-907A-D2DB8514C33B}" type="datetime1">
              <a:rPr lang="zh-CN" altLang="en-US" smtClean="0"/>
              <a:t>2025/12/24</a:t>
            </a:fld>
            <a:endParaRPr lang="en-US" altLang="zh-CN"/>
          </a:p>
        </p:txBody>
      </p:sp>
      <p:sp>
        <p:nvSpPr>
          <p:cNvPr id="3" name="页脚占位符 2">
            <a:extLst>
              <a:ext uri="{FF2B5EF4-FFF2-40B4-BE49-F238E27FC236}">
                <a16:creationId xmlns:a16="http://schemas.microsoft.com/office/drawing/2014/main" id="{1D972B64-C7E3-F436-A188-17AB6CD65077}"/>
              </a:ext>
            </a:extLst>
          </p:cNvPr>
          <p:cNvSpPr>
            <a:spLocks noGrp="1"/>
          </p:cNvSpPr>
          <p:nvPr>
            <p:ph type="ftr" sz="quarter" idx="11"/>
          </p:nvPr>
        </p:nvSpPr>
        <p:spPr/>
        <p:txBody>
          <a:bodyPr/>
          <a:lstStyle/>
          <a:p>
            <a:r>
              <a:rPr lang="en-US" altLang="zh-CN"/>
              <a:t>《数据库系统概论》- 第11章</a:t>
            </a:r>
          </a:p>
        </p:txBody>
      </p:sp>
      <p:sp>
        <p:nvSpPr>
          <p:cNvPr id="4" name="灯片编号占位符 3">
            <a:extLst>
              <a:ext uri="{FF2B5EF4-FFF2-40B4-BE49-F238E27FC236}">
                <a16:creationId xmlns:a16="http://schemas.microsoft.com/office/drawing/2014/main" id="{8D158BC0-293E-4D59-8F54-23F736BAD4FB}"/>
              </a:ext>
            </a:extLst>
          </p:cNvPr>
          <p:cNvSpPr>
            <a:spLocks noGrp="1"/>
          </p:cNvSpPr>
          <p:nvPr>
            <p:ph type="sldNum" sz="quarter" idx="12"/>
          </p:nvPr>
        </p:nvSpPr>
        <p:spPr/>
        <p:txBody>
          <a:bodyPr/>
          <a:lstStyle/>
          <a:p>
            <a:fld id="{AB1F7240-85F2-492B-84D8-762EF0110923}" type="slidenum">
              <a:rPr lang="en-US" altLang="zh-CN" smtClean="0"/>
              <a:pPr/>
              <a:t>67</a:t>
            </a:fld>
            <a:r>
              <a:rPr lang="en-US" altLang="zh-CN"/>
              <a:t>/67</a:t>
            </a:r>
            <a:endParaRPr lang="zh-CN" altLang="en-US" dirty="0"/>
          </a:p>
        </p:txBody>
      </p:sp>
    </p:spTree>
    <p:extLst>
      <p:ext uri="{BB962C8B-B14F-4D97-AF65-F5344CB8AC3E}">
        <p14:creationId xmlns:p14="http://schemas.microsoft.com/office/powerpoint/2010/main" val="2540363085"/>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b="1">
                <a:latin typeface="Comic Sans MS" pitchFamily="66" charset="0"/>
              </a:rPr>
              <a:t>Any Question?</a:t>
            </a:r>
          </a:p>
        </p:txBody>
      </p:sp>
      <p:sp>
        <p:nvSpPr>
          <p:cNvPr id="10243" name="Text Box 3"/>
          <p:cNvSpPr txBox="1">
            <a:spLocks noChangeArrowheads="1"/>
          </p:cNvSpPr>
          <p:nvPr/>
        </p:nvSpPr>
        <p:spPr bwMode="auto">
          <a:xfrm>
            <a:off x="4140200" y="2781300"/>
            <a:ext cx="3302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lnSpc>
                <a:spcPct val="100000"/>
              </a:lnSpc>
              <a:spcBef>
                <a:spcPct val="0"/>
              </a:spcBef>
              <a:buClrTx/>
              <a:buSzTx/>
              <a:buFontTx/>
              <a:buNone/>
            </a:pPr>
            <a:r>
              <a:rPr lang="en-US" altLang="zh-CN" sz="4800" b="1" i="1">
                <a:solidFill>
                  <a:schemeClr val="hlink"/>
                </a:solidFill>
                <a:latin typeface="Times New Roman" pitchFamily="18" charset="0"/>
              </a:rPr>
              <a:t>Thank you !</a:t>
            </a:r>
          </a:p>
        </p:txBody>
      </p:sp>
      <p:pic>
        <p:nvPicPr>
          <p:cNvPr id="10244" name="Picture 4" descr="smi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1336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10"/>
          </p:nvPr>
        </p:nvSpPr>
        <p:spPr/>
        <p:txBody>
          <a:bodyPr/>
          <a:lstStyle/>
          <a:p>
            <a:fld id="{ABB339F1-43D7-4FB8-A80D-03AF84748EBB}" type="datetime1">
              <a:rPr lang="zh-CN" altLang="en-US" smtClean="0"/>
              <a:t>2025/12/24</a:t>
            </a:fld>
            <a:endParaRPr lang="en-US" altLang="zh-CN"/>
          </a:p>
        </p:txBody>
      </p:sp>
      <p:sp>
        <p:nvSpPr>
          <p:cNvPr id="4" name="页脚占位符 3">
            <a:extLst>
              <a:ext uri="{FF2B5EF4-FFF2-40B4-BE49-F238E27FC236}">
                <a16:creationId xmlns:a16="http://schemas.microsoft.com/office/drawing/2014/main" id="{7C5BDDD4-2350-8290-83F9-74AD39CB2669}"/>
              </a:ext>
            </a:extLst>
          </p:cNvPr>
          <p:cNvSpPr>
            <a:spLocks noGrp="1"/>
          </p:cNvSpPr>
          <p:nvPr>
            <p:ph type="ftr" sz="quarter" idx="11"/>
          </p:nvPr>
        </p:nvSpPr>
        <p:spPr/>
        <p:txBody>
          <a:bodyPr/>
          <a:lstStyle/>
          <a:p>
            <a:r>
              <a:rPr lang="en-US" altLang="zh-CN"/>
              <a:t>《数据库系统概论》- 第11章</a:t>
            </a:r>
          </a:p>
        </p:txBody>
      </p:sp>
      <p:sp>
        <p:nvSpPr>
          <p:cNvPr id="6" name="灯片编号占位符 5">
            <a:extLst>
              <a:ext uri="{FF2B5EF4-FFF2-40B4-BE49-F238E27FC236}">
                <a16:creationId xmlns:a16="http://schemas.microsoft.com/office/drawing/2014/main" id="{D04FA902-DECF-8751-7EB3-2715262CC75F}"/>
              </a:ext>
            </a:extLst>
          </p:cNvPr>
          <p:cNvSpPr>
            <a:spLocks noGrp="1"/>
          </p:cNvSpPr>
          <p:nvPr>
            <p:ph type="sldNum" sz="quarter" idx="12"/>
          </p:nvPr>
        </p:nvSpPr>
        <p:spPr/>
        <p:txBody>
          <a:bodyPr/>
          <a:lstStyle/>
          <a:p>
            <a:fld id="{6CD0990F-CFD2-4E3E-9B0E-DA23AF729A97}" type="slidenum">
              <a:rPr lang="en-US" altLang="zh-CN" smtClean="0"/>
              <a:pPr/>
              <a:t>68</a:t>
            </a:fld>
            <a:r>
              <a:rPr lang="en-US" altLang="zh-CN"/>
              <a:t>/67</a:t>
            </a:r>
            <a:endParaRPr lang="zh-CN" altLang="en-US" dirty="0"/>
          </a:p>
        </p:txBody>
      </p:sp>
    </p:spTree>
    <p:custDataLst>
      <p:tags r:id="rId1"/>
    </p:custData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S_PPT_DBNAME" val="ecd6dc15-f5ee-408e-b117-dbba52a9616a.mdb"/>
  <p:tag name="ARS_RESPONSE_PERSONNUM" val="100"/>
</p:tagLst>
</file>

<file path=ppt/tags/tag2.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3.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4.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5.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6.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7.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8.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9.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10.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11.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12.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13.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ags/tag14.xml><?xml version="1.0" encoding="utf-8"?>
<p:tagLst xmlns:a="http://schemas.openxmlformats.org/drawingml/2006/main" xmlns:r="http://schemas.openxmlformats.org/officeDocument/2006/relationships" xmlns:p="http://schemas.openxmlformats.org/presentationml/2006/main">
  <p:tag name="ARS_RESPONSETYPE" val="None"/>
  <p:tag name="ARS_CHARTPARA_ITEMLABELFONTNAME" val="Arial"/>
  <p:tag name="ARS_CHARTPARA_ITEMLABELFONTSIZE" val="16"/>
  <p:tag name="ARS_CHARTPARA_ITEMLABELFONTBOLD" val="False"/>
  <p:tag name="ARS_CHARTPARA_ITEMLABELFONTITALIC" val="False"/>
  <p:tag name="ARS_CHARTPARA_ITEMLABELFONTCOLOR" val="-16777216"/>
  <p:tag name="ARS_CHARTPARA_DATALABELFONTNAME" val="Arial"/>
  <p:tag name="ARS_CHARTPARA_DATALABELFONTSIZE" val="14"/>
  <p:tag name="ARS_CHARTPARA_DATALABELFONTBOLD" val="False"/>
  <p:tag name="ARS_CHARTPARA_DATALABELFONTITALIC" val="False"/>
  <p:tag name="ARS_CHARTPARA_DATALABELFONTCOLOR" val="-16777216"/>
  <p:tag name="ARS_CHARTPARA_DATAFORMAT" val="ltNumberValue"/>
  <p:tag name="ARS_CHARTPARA_SHOWTIME" val="csStop"/>
  <p:tag name="ARS_CHARTPARA_NUMBERDEC" val="0"/>
  <p:tag name="ARS_CHARTPARA_DATAPERCENTBASE" val="crParticipant"/>
  <p:tag name="ARS_CHARTPARA_PERCENTDEC" val="1"/>
  <p:tag name="ARS_CHARTPARA_SHOW3D" val="0"/>
  <p:tag name="ARS_CHARTPOINTWIDTH" val="0.5"/>
  <p:tag name="ARS_CHARTSHOWITEMTEXT" val="0"/>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kumimoji="0" lang="en-US" altLang="zh-CN" sz="2400" b="0" i="0" u="none" strike="noStrike" cap="none" normalizeH="0" baseline="0" smtClean="0">
            <a:ln>
              <a:noFill/>
            </a:ln>
            <a:solidFill>
              <a:schemeClr val="tx1"/>
            </a:solidFill>
            <a:effectLst/>
            <a:latin typeface="Tahoma" pitchFamily="34" charset="0"/>
            <a:ea typeface="宋体" pitchFamily="2" charset="-122"/>
            <a:cs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kumimoji="0" lang="en-US" altLang="zh-CN" sz="2400" b="0" i="0" u="none" strike="noStrike" cap="none" normalizeH="0" baseline="0" smtClean="0">
            <a:ln>
              <a:noFill/>
            </a:ln>
            <a:solidFill>
              <a:schemeClr val="tx1"/>
            </a:solidFill>
            <a:effectLst/>
            <a:latin typeface="Tahoma" pitchFamily="34" charset="0"/>
            <a:ea typeface="宋体" pitchFamily="2" charset="-122"/>
            <a:cs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ld2009</Template>
  <TotalTime>5111</TotalTime>
  <Words>7705</Words>
  <Application>Microsoft Office PowerPoint</Application>
  <PresentationFormat>全屏显示(4:3)</PresentationFormat>
  <Paragraphs>767</Paragraphs>
  <Slides>68</Slides>
  <Notes>9</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68</vt:i4>
      </vt:variant>
    </vt:vector>
  </HeadingPairs>
  <TitlesOfParts>
    <vt:vector size="79" baseType="lpstr">
      <vt:lpstr>Monotype Sorts</vt:lpstr>
      <vt:lpstr>楷体_GB2312</vt:lpstr>
      <vt:lpstr>宋体</vt:lpstr>
      <vt:lpstr>Arial</vt:lpstr>
      <vt:lpstr>Comic Sans MS</vt:lpstr>
      <vt:lpstr>Helvetica</vt:lpstr>
      <vt:lpstr>Tahoma</vt:lpstr>
      <vt:lpstr>Times New Roman</vt:lpstr>
      <vt:lpstr>Wingdings</vt:lpstr>
      <vt:lpstr>Blends</vt:lpstr>
      <vt:lpstr>Clip</vt:lpstr>
      <vt:lpstr>数据库系统原理  Database System Principles</vt:lpstr>
      <vt:lpstr>第14章 并发控制与恢复(续)</vt:lpstr>
      <vt:lpstr>本章目录</vt:lpstr>
      <vt:lpstr>14.8 故障分类</vt:lpstr>
      <vt:lpstr>14.8 故障分类</vt:lpstr>
      <vt:lpstr>数据库故障</vt:lpstr>
      <vt:lpstr>14.8 故障分类</vt:lpstr>
      <vt:lpstr>14.8 故障分类</vt:lpstr>
      <vt:lpstr>数据库故障(续)</vt:lpstr>
      <vt:lpstr>数据库故障(续)</vt:lpstr>
      <vt:lpstr>故障总结</vt:lpstr>
      <vt:lpstr>数据库恢复</vt:lpstr>
      <vt:lpstr>数据库恢复</vt:lpstr>
      <vt:lpstr>数据库恢复</vt:lpstr>
      <vt:lpstr>数据库恢复---数据转储</vt:lpstr>
      <vt:lpstr>10.4.1 数据转储</vt:lpstr>
      <vt:lpstr>数据库恢复---登记日志文件</vt:lpstr>
      <vt:lpstr>数据库恢复---登记日志文件</vt:lpstr>
      <vt:lpstr>登记日志文件</vt:lpstr>
      <vt:lpstr>登记日志文件</vt:lpstr>
      <vt:lpstr>本章目录</vt:lpstr>
      <vt:lpstr>14.9 存储器（回顾）</vt:lpstr>
      <vt:lpstr>存储器结构(详见教材第10章)</vt:lpstr>
      <vt:lpstr>14.9 存储器</vt:lpstr>
      <vt:lpstr>14.9 存储器</vt:lpstr>
      <vt:lpstr>14.9 存储器</vt:lpstr>
      <vt:lpstr>数据存取</vt:lpstr>
      <vt:lpstr>数据存取示例</vt:lpstr>
      <vt:lpstr>数据存取(续)</vt:lpstr>
      <vt:lpstr>数据存取(续)</vt:lpstr>
      <vt:lpstr>本章目录</vt:lpstr>
      <vt:lpstr>恢复与原子性</vt:lpstr>
      <vt:lpstr>日志记录</vt:lpstr>
      <vt:lpstr>日志记录</vt:lpstr>
      <vt:lpstr>日志记录</vt:lpstr>
      <vt:lpstr>数据库修改</vt:lpstr>
      <vt:lpstr>数据库修改</vt:lpstr>
      <vt:lpstr>延迟更新数据库方案</vt:lpstr>
      <vt:lpstr>延迟更新数据库的恢复处理</vt:lpstr>
      <vt:lpstr>示例</vt:lpstr>
      <vt:lpstr>立即更新数据库方案</vt:lpstr>
      <vt:lpstr>立即更新数据库示例</vt:lpstr>
      <vt:lpstr>恢复过程</vt:lpstr>
      <vt:lpstr>立即更新数据库的示例</vt:lpstr>
      <vt:lpstr>延迟写 VS 立即写</vt:lpstr>
      <vt:lpstr>检查点(Checkpoint)</vt:lpstr>
      <vt:lpstr>检查点(Checkpoint)</vt:lpstr>
      <vt:lpstr>基于检查点的恢复处理</vt:lpstr>
      <vt:lpstr>检查点示例</vt:lpstr>
      <vt:lpstr>并发事务的恢复</vt:lpstr>
      <vt:lpstr>并发事务的恢复(续)</vt:lpstr>
      <vt:lpstr>本章目录</vt:lpstr>
      <vt:lpstr>14.11 恢复算法-事务回滚</vt:lpstr>
      <vt:lpstr>14.11 恢复算法-系统崩溃后的恢复</vt:lpstr>
      <vt:lpstr>14.11 恢复算法-系统崩溃后的恢复</vt:lpstr>
      <vt:lpstr>14.11 恢复算法-系统崩溃后的恢复</vt:lpstr>
      <vt:lpstr>14.11 恢复算法-系统崩溃后的恢复</vt:lpstr>
      <vt:lpstr>Example of Recovery</vt:lpstr>
      <vt:lpstr>Example of Recovery</vt:lpstr>
      <vt:lpstr>Example of Recovery</vt:lpstr>
      <vt:lpstr>14.11 恢复算法(故障类别)</vt:lpstr>
      <vt:lpstr>本章目录</vt:lpstr>
      <vt:lpstr>日志记录缓冲</vt:lpstr>
      <vt:lpstr>日志记录缓冲(续)</vt:lpstr>
      <vt:lpstr>数据库缓冲</vt:lpstr>
      <vt:lpstr>数据库缓冲</vt:lpstr>
      <vt:lpstr>数据库缓冲(续)</vt:lpstr>
      <vt:lpstr>Any Question?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lei duan</dc:creator>
  <cp:lastModifiedBy>Administrator</cp:lastModifiedBy>
  <cp:revision>2280</cp:revision>
  <dcterms:created xsi:type="dcterms:W3CDTF">2009-08-07T14:32:50Z</dcterms:created>
  <dcterms:modified xsi:type="dcterms:W3CDTF">2025-12-24T03:44:25Z</dcterms:modified>
</cp:coreProperties>
</file>