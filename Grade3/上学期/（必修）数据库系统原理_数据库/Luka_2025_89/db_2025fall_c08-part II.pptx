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60"/>
  </p:notesMasterIdLst>
  <p:sldIdLst>
    <p:sldId id="258" r:id="rId2"/>
    <p:sldId id="586" r:id="rId3"/>
    <p:sldId id="614" r:id="rId4"/>
    <p:sldId id="391" r:id="rId5"/>
    <p:sldId id="392" r:id="rId6"/>
    <p:sldId id="615" r:id="rId7"/>
    <p:sldId id="599" r:id="rId8"/>
    <p:sldId id="393" r:id="rId9"/>
    <p:sldId id="620" r:id="rId10"/>
    <p:sldId id="394" r:id="rId11"/>
    <p:sldId id="395" r:id="rId12"/>
    <p:sldId id="397" r:id="rId13"/>
    <p:sldId id="401" r:id="rId14"/>
    <p:sldId id="403" r:id="rId15"/>
    <p:sldId id="616" r:id="rId16"/>
    <p:sldId id="617" r:id="rId17"/>
    <p:sldId id="562" r:id="rId18"/>
    <p:sldId id="631" r:id="rId19"/>
    <p:sldId id="564" r:id="rId20"/>
    <p:sldId id="632" r:id="rId21"/>
    <p:sldId id="565" r:id="rId22"/>
    <p:sldId id="623" r:id="rId23"/>
    <p:sldId id="624" r:id="rId24"/>
    <p:sldId id="629" r:id="rId25"/>
    <p:sldId id="567" r:id="rId26"/>
    <p:sldId id="621" r:id="rId27"/>
    <p:sldId id="569" r:id="rId28"/>
    <p:sldId id="570" r:id="rId29"/>
    <p:sldId id="571" r:id="rId30"/>
    <p:sldId id="572" r:id="rId31"/>
    <p:sldId id="622" r:id="rId32"/>
    <p:sldId id="573" r:id="rId33"/>
    <p:sldId id="574" r:id="rId34"/>
    <p:sldId id="575" r:id="rId35"/>
    <p:sldId id="576" r:id="rId36"/>
    <p:sldId id="577" r:id="rId37"/>
    <p:sldId id="625" r:id="rId38"/>
    <p:sldId id="578" r:id="rId39"/>
    <p:sldId id="626" r:id="rId40"/>
    <p:sldId id="630" r:id="rId41"/>
    <p:sldId id="579" r:id="rId42"/>
    <p:sldId id="580" r:id="rId43"/>
    <p:sldId id="581" r:id="rId44"/>
    <p:sldId id="582" r:id="rId45"/>
    <p:sldId id="583" r:id="rId46"/>
    <p:sldId id="584" r:id="rId47"/>
    <p:sldId id="585" r:id="rId48"/>
    <p:sldId id="606" r:id="rId49"/>
    <p:sldId id="592" r:id="rId50"/>
    <p:sldId id="605" r:id="rId51"/>
    <p:sldId id="593" r:id="rId52"/>
    <p:sldId id="607" r:id="rId53"/>
    <p:sldId id="594" r:id="rId54"/>
    <p:sldId id="628" r:id="rId55"/>
    <p:sldId id="596" r:id="rId56"/>
    <p:sldId id="597" r:id="rId57"/>
    <p:sldId id="598" r:id="rId58"/>
    <p:sldId id="260" r:id="rId59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Arial" charset="0"/>
      </a:defRPr>
    </a:lvl1pPr>
    <a:lvl2pPr marL="4572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Arial" charset="0"/>
      </a:defRPr>
    </a:lvl2pPr>
    <a:lvl3pPr marL="9144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Arial" charset="0"/>
      </a:defRPr>
    </a:lvl3pPr>
    <a:lvl4pPr marL="13716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Arial" charset="0"/>
      </a:defRPr>
    </a:lvl4pPr>
    <a:lvl5pPr marL="18288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Arial" charset="0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Arial" charset="0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Arial" charset="0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Arial" charset="0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>
    <p:extLst>
      <p:ext uri="{19B8F6BF-5375-455C-9EA6-DF929625EA0E}">
        <p15:presenceInfo xmlns:p15="http://schemas.microsoft.com/office/powerpoint/2012/main" userId="Administrato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0000FF"/>
    <a:srgbClr val="339933"/>
    <a:srgbClr val="800080"/>
    <a:srgbClr val="003300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24" autoAdjust="0"/>
    <p:restoredTop sz="86932" autoAdjust="0"/>
  </p:normalViewPr>
  <p:slideViewPr>
    <p:cSldViewPr>
      <p:cViewPr>
        <p:scale>
          <a:sx n="100" d="100"/>
          <a:sy n="100" d="100"/>
        </p:scale>
        <p:origin x="1992" y="576"/>
      </p:cViewPr>
      <p:guideLst>
        <p:guide orient="horz" pos="2160"/>
        <p:guide pos="2880"/>
      </p:guideLst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kumimoji="0" sz="1200">
                <a:latin typeface="Arial" charset="0"/>
              </a:defRPr>
            </a:lvl1pPr>
          </a:lstStyle>
          <a:p>
            <a:endParaRPr lang="zh-CN" altLang="en-US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200">
                <a:latin typeface="Arial" charset="0"/>
              </a:defRPr>
            </a:lvl1pPr>
          </a:lstStyle>
          <a:p>
            <a:endParaRPr lang="en-US" altLang="zh-CN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kumimoji="0" sz="1200">
                <a:latin typeface="Arial" charset="0"/>
              </a:defRPr>
            </a:lvl1pPr>
          </a:lstStyle>
          <a:p>
            <a:endParaRPr lang="en-US" altLang="zh-CN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>
                <a:latin typeface="Arial" charset="0"/>
              </a:defRPr>
            </a:lvl1pPr>
          </a:lstStyle>
          <a:p>
            <a:fld id="{8D2A0377-D3B8-4BEF-997F-B4BEAF2D68F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700272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2A0377-D3B8-4BEF-997F-B4BEAF2D68FE}" type="slidenum">
              <a:rPr lang="zh-CN" altLang="en-US" smtClean="0"/>
              <a:pPr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34713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2A0377-D3B8-4BEF-997F-B4BEAF2D68FE}" type="slidenum">
              <a:rPr lang="zh-CN" altLang="en-US" smtClean="0"/>
              <a:pPr/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517282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2A0377-D3B8-4BEF-997F-B4BEAF2D68FE}" type="slidenum">
              <a:rPr lang="zh-CN" altLang="en-US" smtClean="0"/>
              <a:pPr/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28947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400" dirty="0"/>
              <a:t>https://zhuanlan.zhihu.com/p/130698465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2A0377-D3B8-4BEF-997F-B4BEAF2D68FE}" type="slidenum">
              <a:rPr lang="zh-CN" altLang="en-US" smtClean="0"/>
              <a:pPr/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40654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2A0377-D3B8-4BEF-997F-B4BEAF2D68FE}" type="slidenum">
              <a:rPr lang="zh-CN" altLang="en-US" smtClean="0"/>
              <a:pPr/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541451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2A0377-D3B8-4BEF-997F-B4BEAF2D68FE}" type="slidenum">
              <a:rPr lang="zh-CN" altLang="en-US" smtClean="0"/>
              <a:pPr/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342838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2A0377-D3B8-4BEF-997F-B4BEAF2D68FE}" type="slidenum">
              <a:rPr lang="zh-CN" altLang="en-US" smtClean="0"/>
              <a:pPr/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8185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2A0377-D3B8-4BEF-997F-B4BEAF2D68FE}" type="slidenum">
              <a:rPr lang="zh-CN" altLang="en-US" smtClean="0"/>
              <a:pPr/>
              <a:t>44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72172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2A0377-D3B8-4BEF-997F-B4BEAF2D68FE}" type="slidenum">
              <a:rPr lang="zh-CN" altLang="en-US" smtClean="0"/>
              <a:pPr/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69407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2A0377-D3B8-4BEF-997F-B4BEAF2D68FE}" type="slidenum">
              <a:rPr lang="zh-CN" altLang="en-US" smtClean="0"/>
              <a:pPr/>
              <a:t>57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33113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38200" y="1371600"/>
            <a:ext cx="7772400" cy="1462088"/>
          </a:xfrm>
        </p:spPr>
        <p:txBody>
          <a:bodyPr/>
          <a:lstStyle>
            <a:lvl1pPr algn="ctr">
              <a:defRPr b="1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6576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6B972E8-801F-4B4B-8478-EDCCEF0F6081}" type="datetime1">
              <a:rPr lang="zh-CN" altLang="en-US" smtClean="0"/>
              <a:t>2025/11/27</a:t>
            </a:fld>
            <a:endParaRPr lang="en-US" altLang="zh-CN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altLang="zh-CN"/>
              <a:t>《数据库系统概论》- 第6章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n-lt"/>
              </a:defRPr>
            </a:lvl1pPr>
          </a:lstStyle>
          <a:p>
            <a:fld id="{312FA367-53EB-421A-9865-84257693BFC4}" type="slidenum">
              <a:rPr lang="en-US" altLang="zh-CN"/>
              <a:pPr/>
              <a:t>‹#›</a:t>
            </a:fld>
            <a:endParaRPr lang="en-US" altLang="zh-CN"/>
          </a:p>
        </p:txBody>
      </p:sp>
      <p:graphicFrame>
        <p:nvGraphicFramePr>
          <p:cNvPr id="5127" name="Object 7"/>
          <p:cNvGraphicFramePr>
            <a:graphicFrameLocks/>
          </p:cNvGraphicFramePr>
          <p:nvPr/>
        </p:nvGraphicFramePr>
        <p:xfrm>
          <a:off x="533400" y="3124200"/>
          <a:ext cx="8305800" cy="7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6857143" imgH="48963" progId="">
                  <p:embed/>
                </p:oleObj>
              </mc:Choice>
              <mc:Fallback>
                <p:oleObj name="Clip" r:id="rId2" imgW="6857143" imgH="48963" progId="">
                  <p:embed/>
                  <p:pic>
                    <p:nvPicPr>
                      <p:cNvPr id="0" name="Picture 80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124200"/>
                        <a:ext cx="8305800" cy="76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ACD26E4-12E8-4EAF-B5E7-3A7E398801CB}" type="datetime1">
              <a:rPr lang="zh-CN" altLang="en-US" smtClean="0"/>
              <a:t>2025/11/27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第6章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D74603-B40B-4D66-8F6E-41C870D48932}" type="slidenum">
              <a:rPr lang="en-US" altLang="zh-CN" smtClean="0"/>
              <a:pPr/>
              <a:t>‹#›</a:t>
            </a:fld>
            <a:r>
              <a:rPr lang="en-US" altLang="zh-CN" dirty="0"/>
              <a:t>/162</a:t>
            </a:r>
          </a:p>
        </p:txBody>
      </p:sp>
    </p:spTree>
    <p:extLst>
      <p:ext uri="{BB962C8B-B14F-4D97-AF65-F5344CB8AC3E}">
        <p14:creationId xmlns:p14="http://schemas.microsoft.com/office/powerpoint/2010/main" val="289946547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D54D2DB-7824-4A00-881D-5C7A76A0DE47}" type="datetime1">
              <a:rPr lang="zh-CN" altLang="en-US" smtClean="0"/>
              <a:t>2025/11/27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第6章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E99EAD-2C86-4450-9625-7EF344D5772C}" type="slidenum">
              <a:rPr lang="en-US" altLang="zh-CN" smtClean="0"/>
              <a:pPr/>
              <a:t>‹#›</a:t>
            </a:fld>
            <a:r>
              <a:rPr lang="en-US" altLang="zh-CN" dirty="0"/>
              <a:t>/162</a:t>
            </a:r>
          </a:p>
        </p:txBody>
      </p:sp>
    </p:spTree>
    <p:extLst>
      <p:ext uri="{BB962C8B-B14F-4D97-AF65-F5344CB8AC3E}">
        <p14:creationId xmlns:p14="http://schemas.microsoft.com/office/powerpoint/2010/main" val="2565760271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447800"/>
            <a:ext cx="4095750" cy="46847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57750" y="1447800"/>
            <a:ext cx="4097338" cy="46847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5A86CD8-BF42-45C5-A832-C1E0C32F4416}" type="datetime1">
              <a:rPr lang="zh-CN" altLang="en-US" smtClean="0"/>
              <a:t>2025/11/27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第6章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387144-5480-4896-B635-AD974A4EA320}" type="slidenum">
              <a:rPr lang="en-US" altLang="zh-CN" smtClean="0"/>
              <a:pPr/>
              <a:t>‹#›</a:t>
            </a:fld>
            <a:r>
              <a:rPr lang="en-US" altLang="zh-CN" dirty="0"/>
              <a:t>/162</a:t>
            </a:r>
          </a:p>
        </p:txBody>
      </p:sp>
    </p:spTree>
    <p:extLst>
      <p:ext uri="{BB962C8B-B14F-4D97-AF65-F5344CB8AC3E}">
        <p14:creationId xmlns:p14="http://schemas.microsoft.com/office/powerpoint/2010/main" val="2260433533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816F77D-AD4E-4E48-9A40-9407D4AB933C}" type="datetime1">
              <a:rPr lang="zh-CN" altLang="en-US" smtClean="0"/>
              <a:t>2025/11/27</a:t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第6章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CB709F-E6EA-4776-AF6D-29A1A06E9FED}" type="slidenum">
              <a:rPr lang="en-US" altLang="zh-CN" smtClean="0"/>
              <a:pPr/>
              <a:t>‹#›</a:t>
            </a:fld>
            <a:r>
              <a:rPr lang="en-US" altLang="zh-CN" dirty="0"/>
              <a:t>/162</a:t>
            </a:r>
          </a:p>
        </p:txBody>
      </p:sp>
    </p:spTree>
    <p:extLst>
      <p:ext uri="{BB962C8B-B14F-4D97-AF65-F5344CB8AC3E}">
        <p14:creationId xmlns:p14="http://schemas.microsoft.com/office/powerpoint/2010/main" val="3444939321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52E20A6-D0F2-43D4-9A49-13B607B3C0CA}" type="datetime1">
              <a:rPr lang="zh-CN" altLang="en-US" smtClean="0"/>
              <a:t>2025/11/27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第6章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EA4E5F-2FB2-46CB-BBC2-637528EFB5F7}" type="slidenum">
              <a:rPr lang="en-US" altLang="zh-CN" smtClean="0"/>
              <a:pPr/>
              <a:t>‹#›</a:t>
            </a:fld>
            <a:r>
              <a:rPr lang="en-US" altLang="zh-CN" dirty="0"/>
              <a:t>/162</a:t>
            </a:r>
          </a:p>
        </p:txBody>
      </p:sp>
    </p:spTree>
    <p:extLst>
      <p:ext uri="{BB962C8B-B14F-4D97-AF65-F5344CB8AC3E}">
        <p14:creationId xmlns:p14="http://schemas.microsoft.com/office/powerpoint/2010/main" val="4020690152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D0CD398-8C73-4DD3-A57D-5CD6C4459D92}" type="datetime1">
              <a:rPr lang="zh-CN" altLang="en-US" smtClean="0"/>
              <a:t>2025/11/27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第6章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869B9C-F5BF-482C-A521-EB084A2A18BF}" type="slidenum">
              <a:rPr lang="en-US" altLang="zh-CN" smtClean="0"/>
              <a:pPr/>
              <a:t>‹#›</a:t>
            </a:fld>
            <a:r>
              <a:rPr lang="en-US" altLang="zh-CN" dirty="0"/>
              <a:t>/162</a:t>
            </a:r>
          </a:p>
        </p:txBody>
      </p:sp>
    </p:spTree>
    <p:extLst>
      <p:ext uri="{BB962C8B-B14F-4D97-AF65-F5344CB8AC3E}">
        <p14:creationId xmlns:p14="http://schemas.microsoft.com/office/powerpoint/2010/main" val="3201618069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C0FE72-2196-4946-899D-5C78B5FF8C88}" type="datetime1">
              <a:rPr lang="zh-CN" altLang="en-US" smtClean="0"/>
              <a:t>2025/11/27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第6章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7E0AA9-64A8-4014-AB4B-12BF1DE67C2D}" type="slidenum">
              <a:rPr lang="en-US" altLang="zh-CN" smtClean="0"/>
              <a:pPr/>
              <a:t>‹#›</a:t>
            </a:fld>
            <a:r>
              <a:rPr lang="en-US" altLang="zh-CN" dirty="0"/>
              <a:t>/162</a:t>
            </a:r>
          </a:p>
        </p:txBody>
      </p:sp>
    </p:spTree>
    <p:extLst>
      <p:ext uri="{BB962C8B-B14F-4D97-AF65-F5344CB8AC3E}">
        <p14:creationId xmlns:p14="http://schemas.microsoft.com/office/powerpoint/2010/main" val="3381594944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D4C2ADB-A044-495A-8195-80153192F3C8}" type="datetime1">
              <a:rPr lang="zh-CN" altLang="en-US" smtClean="0"/>
              <a:t>2025/11/27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第6章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F51E71-995A-45EF-AAB0-38D467D8AB85}" type="slidenum">
              <a:rPr lang="en-US" altLang="zh-CN" smtClean="0"/>
              <a:pPr/>
              <a:t>‹#›</a:t>
            </a:fld>
            <a:r>
              <a:rPr lang="en-US" altLang="zh-CN" dirty="0"/>
              <a:t>/162</a:t>
            </a:r>
          </a:p>
        </p:txBody>
      </p:sp>
    </p:spTree>
    <p:extLst>
      <p:ext uri="{BB962C8B-B14F-4D97-AF65-F5344CB8AC3E}">
        <p14:creationId xmlns:p14="http://schemas.microsoft.com/office/powerpoint/2010/main" val="2700258146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EDBAE25-2F4D-468A-83B7-6CB36E082CB6}" type="datetime1">
              <a:rPr lang="zh-CN" altLang="en-US" smtClean="0"/>
              <a:t>2025/11/27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第6章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4DF839-432E-4533-990B-4B8F5CC2CF3F}" type="slidenum">
              <a:rPr lang="en-US" altLang="zh-CN" smtClean="0"/>
              <a:pPr/>
              <a:t>‹#›</a:t>
            </a:fld>
            <a:r>
              <a:rPr lang="en-US" altLang="zh-CN" dirty="0"/>
              <a:t>/162</a:t>
            </a:r>
          </a:p>
        </p:txBody>
      </p:sp>
    </p:spTree>
    <p:extLst>
      <p:ext uri="{BB962C8B-B14F-4D97-AF65-F5344CB8AC3E}">
        <p14:creationId xmlns:p14="http://schemas.microsoft.com/office/powerpoint/2010/main" val="173680904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69113" y="381000"/>
            <a:ext cx="2085975" cy="57515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381000"/>
            <a:ext cx="6107113" cy="57515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8897F83-969D-4FD5-AC96-B09757F2E1E6}" type="datetime1">
              <a:rPr lang="zh-CN" altLang="en-US" smtClean="0"/>
              <a:t>2025/11/27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第6章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4E7352-D8BD-49EE-AC05-9CF28D786712}" type="slidenum">
              <a:rPr lang="en-US" altLang="zh-CN" smtClean="0"/>
              <a:pPr/>
              <a:t>‹#›</a:t>
            </a:fld>
            <a:r>
              <a:rPr lang="en-US" altLang="zh-CN" dirty="0"/>
              <a:t>/162</a:t>
            </a:r>
          </a:p>
        </p:txBody>
      </p:sp>
    </p:spTree>
    <p:extLst>
      <p:ext uri="{BB962C8B-B14F-4D97-AF65-F5344CB8AC3E}">
        <p14:creationId xmlns:p14="http://schemas.microsoft.com/office/powerpoint/2010/main" val="2557186158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81000"/>
            <a:ext cx="8105775" cy="762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447800"/>
            <a:ext cx="4095750" cy="46847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57750" y="1447800"/>
            <a:ext cx="4097338" cy="46847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95CC034D-D47F-4624-B5BF-DC0A2467130B}" type="datetime1">
              <a:rPr lang="zh-CN" altLang="en-US" smtClean="0"/>
              <a:t>2025/11/27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第6章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BF2121B0-14FC-4FF4-BE73-FB699D38FECB}" type="slidenum">
              <a:rPr lang="en-US" altLang="zh-CN" smtClean="0"/>
              <a:pPr/>
              <a:t>‹#›</a:t>
            </a:fld>
            <a:r>
              <a:rPr lang="en-US" altLang="zh-CN" dirty="0"/>
              <a:t>/162</a:t>
            </a:r>
          </a:p>
        </p:txBody>
      </p:sp>
    </p:spTree>
    <p:extLst>
      <p:ext uri="{BB962C8B-B14F-4D97-AF65-F5344CB8AC3E}">
        <p14:creationId xmlns:p14="http://schemas.microsoft.com/office/powerpoint/2010/main" val="3369821733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81000"/>
            <a:ext cx="81057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447800"/>
            <a:ext cx="8345488" cy="4684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kumimoji="0" sz="1400"/>
            </a:lvl1pPr>
          </a:lstStyle>
          <a:p>
            <a:fld id="{1BD1408B-FAE1-4555-A448-FC98764624D8}" type="datetime1">
              <a:rPr lang="zh-CN" altLang="en-US" smtClean="0"/>
              <a:t>2025/11/27</a:t>
            </a:fld>
            <a:endParaRPr lang="en-US" altLang="zh-CN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76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400"/>
            </a:lvl1pPr>
          </a:lstStyle>
          <a:p>
            <a:r>
              <a:rPr lang="en-US" altLang="zh-CN"/>
              <a:t>《数据库系统概论》- 第6章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>
                <a:latin typeface="Times New Roman" pitchFamily="18" charset="0"/>
              </a:defRPr>
            </a:lvl1pPr>
          </a:lstStyle>
          <a:p>
            <a:fld id="{E5D2F0E2-7A34-4EEA-8A4F-08B3FE24AFCA}" type="slidenum">
              <a:rPr lang="en-US" altLang="zh-CN" smtClean="0"/>
              <a:pPr/>
              <a:t>‹#›</a:t>
            </a:fld>
            <a:r>
              <a:rPr lang="en-US" altLang="zh-CN" dirty="0"/>
              <a:t>/151</a:t>
            </a:r>
          </a:p>
        </p:txBody>
      </p:sp>
      <p:pic>
        <p:nvPicPr>
          <p:cNvPr id="4103" name="Picture 7" descr="redBar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219200"/>
            <a:ext cx="7924800" cy="155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ransition>
    <p:fade/>
  </p:transition>
  <p:hf hdr="0"/>
  <p:txStyles>
    <p:titleStyle>
      <a:lvl1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4000">
                <a:latin typeface="Times New Roman" pitchFamily="18" charset="0"/>
              </a:rPr>
              <a:t>数据库系统原理</a:t>
            </a:r>
            <a:br>
              <a:rPr lang="zh-CN" altLang="en-US" sz="4000">
                <a:latin typeface="Times New Roman" pitchFamily="18" charset="0"/>
              </a:rPr>
            </a:br>
            <a:br>
              <a:rPr lang="zh-CN" altLang="en-US" sz="900">
                <a:latin typeface="Times New Roman" pitchFamily="18" charset="0"/>
              </a:rPr>
            </a:br>
            <a:r>
              <a:rPr lang="en-US" altLang="zh-CN" sz="2800">
                <a:latin typeface="Times New Roman" pitchFamily="18" charset="0"/>
              </a:rPr>
              <a:t>Database System Principles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657600"/>
            <a:ext cx="6400800" cy="2438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四川大学计算机学院</a:t>
            </a:r>
          </a:p>
          <a:p>
            <a:pPr>
              <a:lnSpc>
                <a:spcPct val="90000"/>
              </a:lnSpc>
            </a:pPr>
            <a:endParaRPr lang="zh-CN" altLang="en-US" sz="2400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郭际香</a:t>
            </a:r>
            <a:endParaRPr lang="en-US" altLang="zh-CN" sz="2400" dirty="0"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400" dirty="0">
                <a:latin typeface="Times New Roman" pitchFamily="18" charset="0"/>
                <a:ea typeface="楷体_GB2312" pitchFamily="49" charset="-122"/>
              </a:rPr>
              <a:t>guojixiang@scu.edu.cn</a:t>
            </a:r>
          </a:p>
          <a:p>
            <a:pPr>
              <a:lnSpc>
                <a:spcPct val="90000"/>
              </a:lnSpc>
            </a:pPr>
            <a:endParaRPr lang="en-US" altLang="zh-CN" sz="2400" dirty="0"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400" dirty="0">
                <a:latin typeface="Times New Roman" pitchFamily="18" charset="0"/>
              </a:rPr>
              <a:t>2025.11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38200" y="838200"/>
            <a:ext cx="7772400" cy="1462088"/>
          </a:xfrm>
        </p:spPr>
        <p:txBody>
          <a:bodyPr/>
          <a:lstStyle/>
          <a:p>
            <a:r>
              <a:rPr lang="zh-CN" altLang="zh-CN" dirty="0"/>
              <a:t>第</a:t>
            </a:r>
            <a:r>
              <a:rPr lang="zh-CN" altLang="en-US" dirty="0"/>
              <a:t>十一</a:t>
            </a:r>
            <a:r>
              <a:rPr lang="zh-CN" altLang="zh-CN" dirty="0"/>
              <a:t>章</a:t>
            </a:r>
            <a:r>
              <a:rPr lang="en-US" altLang="zh-CN" dirty="0"/>
              <a:t> </a:t>
            </a:r>
            <a:r>
              <a:rPr lang="zh-CN" altLang="en-US" b="1" dirty="0"/>
              <a:t>索引</a:t>
            </a:r>
            <a:endParaRPr lang="en-US" altLang="zh-CN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43000" y="3505200"/>
            <a:ext cx="7162800" cy="2514600"/>
          </a:xfrm>
        </p:spPr>
        <p:txBody>
          <a:bodyPr/>
          <a:lstStyle/>
          <a:p>
            <a:pPr algn="l">
              <a:lnSpc>
                <a:spcPct val="80000"/>
              </a:lnSpc>
              <a:buFont typeface="Wingdings" pitchFamily="2" charset="2"/>
              <a:buChar char="n"/>
            </a:pPr>
            <a:r>
              <a:rPr lang="zh-CN" altLang="en-US" sz="2800" dirty="0"/>
              <a:t> 提升查询效率  </a:t>
            </a:r>
            <a:endParaRPr lang="zh-CN" altLang="en-US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0605283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5">
            <a:extLst>
              <a:ext uri="{FF2B5EF4-FFF2-40B4-BE49-F238E27FC236}">
                <a16:creationId xmlns:a16="http://schemas.microsoft.com/office/drawing/2014/main" id="{60A2E79B-179D-6092-4817-9337F8BD4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C987A99-9829-4510-9002-7E20D21F276E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zh-CN" sz="1200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734B7F24-6555-5352-9EB8-25DE2B65AF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主要内容</a:t>
            </a:r>
            <a:endParaRPr lang="en-US" altLang="zh-CN" b="1"/>
          </a:p>
        </p:txBody>
      </p:sp>
      <p:sp>
        <p:nvSpPr>
          <p:cNvPr id="614403" name="Rectangle 3">
            <a:extLst>
              <a:ext uri="{FF2B5EF4-FFF2-40B4-BE49-F238E27FC236}">
                <a16:creationId xmlns:a16="http://schemas.microsoft.com/office/drawing/2014/main" id="{7E705215-AF3D-C55F-7CAD-B9FC56018B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412776"/>
            <a:ext cx="7586663" cy="4873625"/>
          </a:xfrm>
        </p:spPr>
        <p:txBody>
          <a:bodyPr/>
          <a:lstStyle/>
          <a:p>
            <a:pPr eaLnBrk="1" hangingPunct="1"/>
            <a:r>
              <a:rPr lang="zh-CN" altLang="en-US" sz="3300" b="1" dirty="0">
                <a:solidFill>
                  <a:srgbClr val="0000FF"/>
                </a:solidFill>
              </a:rPr>
              <a:t>基本概念</a:t>
            </a:r>
            <a:endParaRPr lang="en-US" altLang="zh-CN" sz="3300" b="1" dirty="0">
              <a:solidFill>
                <a:srgbClr val="0000FF"/>
              </a:solidFill>
            </a:endParaRPr>
          </a:p>
          <a:p>
            <a:pPr eaLnBrk="1" hangingPunct="1"/>
            <a:r>
              <a:rPr lang="zh-CN" altLang="en-US" sz="3300" b="1" dirty="0"/>
              <a:t>有序索引</a:t>
            </a:r>
            <a:endParaRPr lang="en-US" altLang="zh-CN" sz="3300" b="1" dirty="0"/>
          </a:p>
          <a:p>
            <a:pPr eaLnBrk="1" hangingPunct="1"/>
            <a:r>
              <a:rPr lang="en-US" altLang="zh-CN" sz="3300" dirty="0" err="1"/>
              <a:t>B</a:t>
            </a:r>
            <a:r>
              <a:rPr lang="en-US" altLang="zh-CN" sz="3300" baseline="30000" dirty="0" err="1"/>
              <a:t>+</a:t>
            </a:r>
            <a:r>
              <a:rPr lang="en-US" altLang="zh-CN" sz="3300" dirty="0" err="1"/>
              <a:t>Tree</a:t>
            </a:r>
            <a:r>
              <a:rPr lang="en-US" altLang="zh-CN" sz="3300" dirty="0"/>
              <a:t> </a:t>
            </a:r>
            <a:r>
              <a:rPr lang="zh-CN" altLang="en-US" sz="3300" b="1" dirty="0"/>
              <a:t>索引文件</a:t>
            </a:r>
            <a:endParaRPr lang="en-US" altLang="zh-CN" sz="3300" b="1" dirty="0"/>
          </a:p>
          <a:p>
            <a:pPr eaLnBrk="1" hangingPunct="1"/>
            <a:r>
              <a:rPr lang="zh-CN" altLang="en-US" sz="3300" b="1" dirty="0"/>
              <a:t>散列索引</a:t>
            </a:r>
            <a:endParaRPr lang="en-US" altLang="zh-CN" sz="3300" b="1" dirty="0"/>
          </a:p>
          <a:p>
            <a:pPr eaLnBrk="1" hangingPunct="1"/>
            <a:r>
              <a:rPr lang="zh-CN" altLang="en-US" sz="3300" b="1" dirty="0"/>
              <a:t>有序索引与散列的比较</a:t>
            </a:r>
            <a:endParaRPr lang="en-US" altLang="zh-CN" sz="3300" b="1" dirty="0"/>
          </a:p>
          <a:p>
            <a:pPr eaLnBrk="1" hangingPunct="1"/>
            <a:r>
              <a:rPr lang="en-US" altLang="zh-CN" sz="3300" dirty="0"/>
              <a:t>SQL</a:t>
            </a:r>
            <a:r>
              <a:rPr lang="zh-CN" altLang="en-US" sz="3300" b="1" dirty="0"/>
              <a:t>中的索引定义</a:t>
            </a:r>
          </a:p>
          <a:p>
            <a:pPr eaLnBrk="1" hangingPunct="1"/>
            <a:r>
              <a:rPr lang="zh-CN" altLang="en-US" sz="3300" b="1" dirty="0"/>
              <a:t>多码存取</a:t>
            </a:r>
            <a:endParaRPr lang="en-US" altLang="zh-CN" sz="3300" b="1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5">
            <a:extLst>
              <a:ext uri="{FF2B5EF4-FFF2-40B4-BE49-F238E27FC236}">
                <a16:creationId xmlns:a16="http://schemas.microsoft.com/office/drawing/2014/main" id="{F7B4FF43-62F6-3946-46B6-0AC614CDC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EEA3FB0-5BE3-45BF-93A5-C14585B17FDC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zh-CN" sz="1200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E5B50A60-00F0-FD85-687D-AAC520514E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基本概念</a:t>
            </a:r>
            <a:endParaRPr lang="en-US" altLang="zh-CN" b="1"/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5A81898E-732F-A62F-CDD3-F390207C30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3268" y="1401762"/>
            <a:ext cx="8275637" cy="5267598"/>
          </a:xfrm>
        </p:spPr>
        <p:txBody>
          <a:bodyPr/>
          <a:lstStyle/>
          <a:p>
            <a:pPr eaLnBrk="1" hangingPunct="1"/>
            <a:r>
              <a:rPr lang="zh-CN" altLang="en-US" sz="2500" b="1" dirty="0">
                <a:solidFill>
                  <a:srgbClr val="FF0000"/>
                </a:solidFill>
              </a:rPr>
              <a:t>索引机制</a:t>
            </a:r>
            <a:r>
              <a:rPr lang="zh-CN" altLang="en-US" sz="2500" b="1" dirty="0"/>
              <a:t>用于</a:t>
            </a:r>
            <a:r>
              <a:rPr lang="zh-CN" altLang="en-US" sz="2500" b="1" dirty="0">
                <a:solidFill>
                  <a:srgbClr val="0000FF"/>
                </a:solidFill>
              </a:rPr>
              <a:t>加速</a:t>
            </a:r>
            <a:r>
              <a:rPr lang="zh-CN" altLang="en-US" sz="2500" b="1" dirty="0"/>
              <a:t>对所需数据的</a:t>
            </a:r>
            <a:r>
              <a:rPr lang="zh-CN" altLang="en-US" sz="2500" b="1" dirty="0">
                <a:solidFill>
                  <a:srgbClr val="0000FF"/>
                </a:solidFill>
              </a:rPr>
              <a:t>存取</a:t>
            </a:r>
            <a:endParaRPr lang="en-US" altLang="zh-CN" sz="2500" b="1" dirty="0">
              <a:solidFill>
                <a:srgbClr val="0000FF"/>
              </a:solidFill>
            </a:endParaRPr>
          </a:p>
          <a:p>
            <a:pPr lvl="1" eaLnBrk="1" hangingPunct="1"/>
            <a:r>
              <a:rPr lang="zh-CN" altLang="en-US" sz="2400" b="1" dirty="0"/>
              <a:t>例如：图书馆中的作者目录</a:t>
            </a:r>
            <a:endParaRPr lang="en-US" altLang="zh-CN" sz="2400" b="1" dirty="0"/>
          </a:p>
          <a:p>
            <a:pPr eaLnBrk="1" hangingPunct="1"/>
            <a:r>
              <a:rPr lang="zh-CN" altLang="en-US" sz="2500" b="1" dirty="0"/>
              <a:t>可以在</a:t>
            </a:r>
            <a:r>
              <a:rPr lang="zh-CN" altLang="en-US" sz="2500" b="1" dirty="0">
                <a:solidFill>
                  <a:srgbClr val="0000FF"/>
                </a:solidFill>
              </a:rPr>
              <a:t>一个文件</a:t>
            </a:r>
            <a:r>
              <a:rPr lang="zh-CN" altLang="en-US" sz="2500" b="1" dirty="0"/>
              <a:t>上建立</a:t>
            </a:r>
            <a:r>
              <a:rPr lang="zh-CN" altLang="en-US" sz="2500" b="1" dirty="0">
                <a:solidFill>
                  <a:srgbClr val="FF0000"/>
                </a:solidFill>
              </a:rPr>
              <a:t>多个</a:t>
            </a:r>
            <a:r>
              <a:rPr lang="zh-CN" altLang="en-US" sz="2500" b="1" dirty="0"/>
              <a:t>索引</a:t>
            </a:r>
            <a:endParaRPr lang="en-US" altLang="zh-CN" sz="2500" b="1" dirty="0"/>
          </a:p>
          <a:p>
            <a:pPr eaLnBrk="1" hangingPunct="1"/>
            <a:r>
              <a:rPr lang="zh-CN" altLang="en-US" sz="2500" b="1" dirty="0">
                <a:solidFill>
                  <a:srgbClr val="FF3300"/>
                </a:solidFill>
              </a:rPr>
              <a:t>搜索码</a:t>
            </a:r>
            <a:r>
              <a:rPr lang="zh-CN" altLang="en-US" sz="2500" b="1" dirty="0">
                <a:solidFill>
                  <a:schemeClr val="tx2"/>
                </a:solidFill>
              </a:rPr>
              <a:t>：</a:t>
            </a:r>
            <a:r>
              <a:rPr lang="zh-CN" altLang="en-US" sz="2500" b="1" dirty="0"/>
              <a:t>用来在文件中</a:t>
            </a:r>
            <a:r>
              <a:rPr lang="zh-CN" altLang="en-US" sz="2500" b="1" dirty="0">
                <a:solidFill>
                  <a:srgbClr val="0000FF"/>
                </a:solidFill>
              </a:rPr>
              <a:t>查找记录</a:t>
            </a:r>
            <a:r>
              <a:rPr lang="zh-CN" altLang="en-US" sz="2500" b="1" dirty="0"/>
              <a:t>的</a:t>
            </a:r>
            <a:r>
              <a:rPr lang="zh-CN" altLang="en-US" sz="2500" b="1" dirty="0">
                <a:solidFill>
                  <a:srgbClr val="0000FF"/>
                </a:solidFill>
              </a:rPr>
              <a:t>属性</a:t>
            </a:r>
            <a:r>
              <a:rPr lang="zh-CN" altLang="en-US" sz="2500" b="1" dirty="0"/>
              <a:t>或</a:t>
            </a:r>
            <a:r>
              <a:rPr lang="zh-CN" altLang="en-US" sz="2500" b="1" dirty="0">
                <a:solidFill>
                  <a:srgbClr val="0000FF"/>
                </a:solidFill>
              </a:rPr>
              <a:t>属性集合</a:t>
            </a:r>
            <a:endParaRPr lang="en-US" altLang="zh-CN" sz="2500" b="1" dirty="0">
              <a:solidFill>
                <a:srgbClr val="0000FF"/>
              </a:solidFill>
            </a:endParaRPr>
          </a:p>
          <a:p>
            <a:pPr eaLnBrk="1" hangingPunct="1"/>
            <a:r>
              <a:rPr lang="zh-CN" altLang="en-US" sz="2500" b="1" dirty="0"/>
              <a:t>每个索引结构与一个特定的搜索码关联；一个文件有多个索引，即有多个搜索码</a:t>
            </a:r>
            <a:endParaRPr lang="en-US" altLang="zh-CN" sz="2500" b="1" dirty="0">
              <a:solidFill>
                <a:srgbClr val="FF3300"/>
              </a:solidFill>
            </a:endParaRPr>
          </a:p>
          <a:p>
            <a:pPr eaLnBrk="1" hangingPunct="1"/>
            <a:r>
              <a:rPr lang="zh-CN" altLang="en-US" sz="2500" b="1" dirty="0"/>
              <a:t>两种基本索引</a:t>
            </a:r>
            <a:endParaRPr lang="en-US" altLang="zh-CN" sz="2500" b="1" dirty="0"/>
          </a:p>
          <a:p>
            <a:pPr lvl="1" eaLnBrk="1" hangingPunct="1"/>
            <a:r>
              <a:rPr lang="zh-CN" altLang="en-US" sz="2400" b="1" dirty="0">
                <a:solidFill>
                  <a:srgbClr val="FF3300"/>
                </a:solidFill>
              </a:rPr>
              <a:t>有序</a:t>
            </a:r>
            <a:r>
              <a:rPr lang="en-US" altLang="zh-CN" sz="2400" b="1" dirty="0">
                <a:solidFill>
                  <a:srgbClr val="FF3300"/>
                </a:solidFill>
              </a:rPr>
              <a:t>/</a:t>
            </a:r>
            <a:r>
              <a:rPr lang="zh-CN" altLang="en-US" sz="2400" b="1" dirty="0">
                <a:solidFill>
                  <a:srgbClr val="FF3300"/>
                </a:solidFill>
              </a:rPr>
              <a:t>顺序索引</a:t>
            </a:r>
            <a:r>
              <a:rPr lang="zh-CN" altLang="en-US" sz="2400" b="1" dirty="0"/>
              <a:t>：按</a:t>
            </a:r>
            <a:r>
              <a:rPr lang="zh-CN" altLang="en-US" sz="2400" b="1" u="sng" dirty="0">
                <a:solidFill>
                  <a:srgbClr val="FF0000"/>
                </a:solidFill>
              </a:rPr>
              <a:t>搜索码值</a:t>
            </a:r>
            <a:r>
              <a:rPr lang="zh-CN" altLang="en-US" sz="2400" b="1" dirty="0">
                <a:solidFill>
                  <a:srgbClr val="0000FF"/>
                </a:solidFill>
              </a:rPr>
              <a:t>顺序存储</a:t>
            </a:r>
            <a:endParaRPr lang="en-US" altLang="zh-CN" sz="2400" b="1" dirty="0">
              <a:solidFill>
                <a:srgbClr val="0000FF"/>
              </a:solidFill>
            </a:endParaRPr>
          </a:p>
          <a:p>
            <a:pPr lvl="1" eaLnBrk="1" hangingPunct="1"/>
            <a:r>
              <a:rPr lang="zh-CN" altLang="en-US" sz="2400" b="1" dirty="0">
                <a:solidFill>
                  <a:srgbClr val="FF3300"/>
                </a:solidFill>
              </a:rPr>
              <a:t>散列索引</a:t>
            </a:r>
            <a:r>
              <a:rPr lang="zh-CN" altLang="en-US" sz="2400" b="1" dirty="0"/>
              <a:t>：</a:t>
            </a:r>
            <a:r>
              <a:rPr lang="zh-CN" altLang="en-US" sz="2400" b="1" dirty="0">
                <a:solidFill>
                  <a:srgbClr val="0000FF"/>
                </a:solidFill>
              </a:rPr>
              <a:t>搜索码值</a:t>
            </a:r>
            <a:r>
              <a:rPr lang="zh-CN" altLang="en-US" sz="2400" b="1" dirty="0"/>
              <a:t>被</a:t>
            </a:r>
            <a:r>
              <a:rPr lang="en-US" altLang="zh-CN" sz="2400" b="1" dirty="0">
                <a:latin typeface="Arial" panose="020B0604020202020204" pitchFamily="34" charset="0"/>
              </a:rPr>
              <a:t>“</a:t>
            </a:r>
            <a:r>
              <a:rPr lang="zh-CN" altLang="en-US" sz="2400" b="1" dirty="0">
                <a:solidFill>
                  <a:srgbClr val="0000FF"/>
                </a:solidFill>
              </a:rPr>
              <a:t>散列函数</a:t>
            </a:r>
            <a:r>
              <a:rPr lang="en-US" altLang="zh-CN" sz="2400" b="1" dirty="0">
                <a:solidFill>
                  <a:srgbClr val="0000FF"/>
                </a:solidFill>
              </a:rPr>
              <a:t>(hash function)</a:t>
            </a:r>
            <a:r>
              <a:rPr lang="en-US" altLang="zh-CN" sz="2400" b="1" dirty="0">
                <a:latin typeface="Arial" panose="020B0604020202020204" pitchFamily="34" charset="0"/>
              </a:rPr>
              <a:t>”</a:t>
            </a:r>
            <a:r>
              <a:rPr lang="zh-CN" altLang="en-US" sz="2400" b="1" dirty="0"/>
              <a:t> 分配到若干</a:t>
            </a:r>
            <a:r>
              <a:rPr lang="en-US" altLang="zh-CN" sz="2400" b="1" dirty="0">
                <a:latin typeface="Arial" panose="020B0604020202020204" pitchFamily="34" charset="0"/>
              </a:rPr>
              <a:t>“</a:t>
            </a:r>
            <a:r>
              <a:rPr lang="zh-CN" altLang="en-US" sz="2400" b="1" dirty="0">
                <a:solidFill>
                  <a:srgbClr val="0000FF"/>
                </a:solidFill>
              </a:rPr>
              <a:t>桶</a:t>
            </a:r>
            <a:r>
              <a:rPr lang="en-US" altLang="zh-CN" sz="2400" b="1" dirty="0">
                <a:latin typeface="Arial" panose="020B0604020202020204" pitchFamily="34" charset="0"/>
              </a:rPr>
              <a:t>”</a:t>
            </a:r>
            <a:r>
              <a:rPr lang="zh-CN" altLang="en-US" sz="2400" b="1" dirty="0"/>
              <a:t>中</a:t>
            </a:r>
            <a:r>
              <a:rPr lang="zh-CN" altLang="en-US" sz="2400" dirty="0"/>
              <a:t> </a:t>
            </a:r>
            <a:endParaRPr lang="en-US" altLang="zh-CN" sz="2400" dirty="0"/>
          </a:p>
          <a:p>
            <a:pPr lvl="1" eaLnBrk="1" hangingPunct="1"/>
            <a:r>
              <a:rPr lang="zh-CN" altLang="en-US" sz="2000" b="1" dirty="0"/>
              <a:t>没有哪一种技术是最好的，只能说某种技术对特定的数据库应用是最适合的</a:t>
            </a:r>
            <a:endParaRPr lang="en-US" altLang="zh-CN" sz="2000" b="1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5">
            <a:extLst>
              <a:ext uri="{FF2B5EF4-FFF2-40B4-BE49-F238E27FC236}">
                <a16:creationId xmlns:a16="http://schemas.microsoft.com/office/drawing/2014/main" id="{B7E3B0A1-AE23-CEC2-FAAF-954E54F31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3DB0E2C-1E1E-4AA8-9E4B-022FAD4CD036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zh-CN" sz="120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5C0EEF8D-28C1-6CAD-97A5-4355BEEC34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索引评价度量</a:t>
            </a:r>
            <a:endParaRPr lang="en-US" altLang="zh-CN" b="1"/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BA7934C4-D9AA-43D3-E186-F39B024EEC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47079" y="1341012"/>
            <a:ext cx="8196896" cy="5359826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500" b="1" dirty="0"/>
              <a:t>访问类型：可有效支持的访问类型</a:t>
            </a:r>
            <a:endParaRPr lang="en-US" altLang="zh-CN" sz="2500" b="1" dirty="0"/>
          </a:p>
          <a:p>
            <a:pPr lvl="1" eaLnBrk="1" hangingPunct="1">
              <a:lnSpc>
                <a:spcPct val="120000"/>
              </a:lnSpc>
            </a:pPr>
            <a:r>
              <a:rPr lang="en-US" altLang="zh-CN" sz="2200" b="1" dirty="0">
                <a:solidFill>
                  <a:srgbClr val="FF3300"/>
                </a:solidFill>
              </a:rPr>
              <a:t>Point Query</a:t>
            </a:r>
            <a:r>
              <a:rPr lang="zh-CN" altLang="en-US" sz="2200" b="1" dirty="0"/>
              <a:t>：在</a:t>
            </a:r>
            <a:r>
              <a:rPr lang="zh-CN" altLang="en-US" sz="2200" b="1" dirty="0">
                <a:solidFill>
                  <a:srgbClr val="0000FF"/>
                </a:solidFill>
              </a:rPr>
              <a:t>某属性</a:t>
            </a:r>
            <a:r>
              <a:rPr lang="zh-CN" altLang="en-US" sz="2200" b="1" dirty="0"/>
              <a:t>上具有</a:t>
            </a:r>
            <a:r>
              <a:rPr lang="zh-CN" altLang="en-US" sz="2200" b="1" dirty="0">
                <a:solidFill>
                  <a:srgbClr val="0000FF"/>
                </a:solidFill>
              </a:rPr>
              <a:t>特定值</a:t>
            </a:r>
            <a:r>
              <a:rPr lang="zh-CN" altLang="en-US" sz="2200" b="1" dirty="0"/>
              <a:t>的记录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sz="2200" b="1" dirty="0">
                <a:solidFill>
                  <a:srgbClr val="FF3300"/>
                </a:solidFill>
              </a:rPr>
              <a:t>Range Query</a:t>
            </a:r>
            <a:r>
              <a:rPr lang="zh-CN" altLang="en-US" sz="2200" b="1" dirty="0"/>
              <a:t>：</a:t>
            </a:r>
            <a:r>
              <a:rPr lang="zh-CN" altLang="en-US" sz="2200" b="1" dirty="0">
                <a:solidFill>
                  <a:srgbClr val="0000FF"/>
                </a:solidFill>
              </a:rPr>
              <a:t>属性值</a:t>
            </a:r>
            <a:r>
              <a:rPr lang="zh-CN" altLang="en-US" sz="2200" b="1" dirty="0"/>
              <a:t>落入</a:t>
            </a:r>
            <a:r>
              <a:rPr lang="zh-CN" altLang="en-US" sz="2200" b="1" dirty="0">
                <a:solidFill>
                  <a:srgbClr val="0000FF"/>
                </a:solidFill>
              </a:rPr>
              <a:t>指定范围</a:t>
            </a:r>
            <a:r>
              <a:rPr lang="zh-CN" altLang="en-US" sz="2200" b="1" dirty="0"/>
              <a:t>的记录</a:t>
            </a:r>
            <a:endParaRPr lang="en-US" altLang="zh-CN" sz="2200" b="1" dirty="0"/>
          </a:p>
          <a:p>
            <a:pPr eaLnBrk="1" hangingPunct="1">
              <a:lnSpc>
                <a:spcPct val="120000"/>
              </a:lnSpc>
            </a:pPr>
            <a:r>
              <a:rPr lang="zh-CN" altLang="en-US" sz="2500" b="1" dirty="0"/>
              <a:t>存取时间：</a:t>
            </a:r>
            <a:r>
              <a:rPr lang="zh-CN" altLang="en-US" sz="2400" b="1" dirty="0"/>
              <a:t>在查询中使用该技术</a:t>
            </a:r>
            <a:r>
              <a:rPr lang="zh-CN" altLang="en-US" sz="2400" b="1" dirty="0">
                <a:solidFill>
                  <a:srgbClr val="0000FF"/>
                </a:solidFill>
              </a:rPr>
              <a:t>找到</a:t>
            </a:r>
            <a:r>
              <a:rPr lang="zh-CN" altLang="en-US" sz="2400" b="1" dirty="0"/>
              <a:t>一个特定数据项或数据项集</a:t>
            </a:r>
            <a:r>
              <a:rPr lang="zh-CN" altLang="en-US" sz="2400" b="1" dirty="0">
                <a:solidFill>
                  <a:srgbClr val="0000FF"/>
                </a:solidFill>
              </a:rPr>
              <a:t>所需的时间</a:t>
            </a:r>
            <a:endParaRPr lang="en-US" altLang="zh-CN" sz="2500" b="1" dirty="0">
              <a:solidFill>
                <a:srgbClr val="0000FF"/>
              </a:solidFill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500" b="1" dirty="0"/>
              <a:t>插入时间：</a:t>
            </a:r>
            <a:r>
              <a:rPr lang="zh-CN" altLang="en-US" sz="2400" b="1" dirty="0"/>
              <a:t>插入一个新数据项所需的时间。该值包括找到</a:t>
            </a:r>
            <a:r>
              <a:rPr lang="zh-CN" altLang="en-US" sz="2400" b="1" dirty="0">
                <a:solidFill>
                  <a:srgbClr val="0000FF"/>
                </a:solidFill>
              </a:rPr>
              <a:t>插入</a:t>
            </a:r>
            <a:r>
              <a:rPr lang="zh-CN" altLang="en-US" sz="2400" b="1" dirty="0"/>
              <a:t>这个新数据项的</a:t>
            </a:r>
            <a:r>
              <a:rPr lang="zh-CN" altLang="en-US" sz="2400" b="1" dirty="0">
                <a:solidFill>
                  <a:srgbClr val="0000FF"/>
                </a:solidFill>
              </a:rPr>
              <a:t>正确位置所需的时间</a:t>
            </a:r>
            <a:r>
              <a:rPr lang="zh-CN" altLang="en-US" sz="2400" b="1" dirty="0"/>
              <a:t>，以及</a:t>
            </a:r>
            <a:r>
              <a:rPr lang="zh-CN" altLang="en-US" sz="2400" b="1" dirty="0">
                <a:solidFill>
                  <a:srgbClr val="FF0000"/>
                </a:solidFill>
              </a:rPr>
              <a:t>更新</a:t>
            </a:r>
            <a:r>
              <a:rPr lang="zh-CN" altLang="en-US" sz="2400" b="1" dirty="0">
                <a:solidFill>
                  <a:srgbClr val="0000FF"/>
                </a:solidFill>
              </a:rPr>
              <a:t>索引结构所需的时间</a:t>
            </a:r>
            <a:endParaRPr lang="en-US" altLang="zh-CN" sz="2400" b="1" dirty="0">
              <a:solidFill>
                <a:srgbClr val="0000FF"/>
              </a:solidFill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500" b="1" dirty="0"/>
              <a:t>删除时间：</a:t>
            </a:r>
            <a:r>
              <a:rPr lang="zh-CN" altLang="en-US" sz="2400" b="1" dirty="0"/>
              <a:t>删除一个数据项所需的时间。该值包括找到待</a:t>
            </a:r>
            <a:r>
              <a:rPr lang="zh-CN" altLang="en-US" sz="2400" b="1" dirty="0">
                <a:solidFill>
                  <a:srgbClr val="0000FF"/>
                </a:solidFill>
              </a:rPr>
              <a:t>删除项所需的时间</a:t>
            </a:r>
            <a:r>
              <a:rPr lang="zh-CN" altLang="en-US" sz="2400" b="1" dirty="0"/>
              <a:t>，以及</a:t>
            </a:r>
            <a:r>
              <a:rPr lang="zh-CN" altLang="en-US" sz="2400" b="1" dirty="0">
                <a:solidFill>
                  <a:srgbClr val="0000FF"/>
                </a:solidFill>
              </a:rPr>
              <a:t>更新索引结构所需的时间</a:t>
            </a:r>
            <a:endParaRPr lang="en-US" altLang="zh-CN" sz="2500" b="1" dirty="0">
              <a:solidFill>
                <a:srgbClr val="0000FF"/>
              </a:solidFill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500" b="1" dirty="0"/>
              <a:t>空间开销：</a:t>
            </a:r>
            <a:r>
              <a:rPr lang="zh-CN" altLang="en-US" sz="2400" b="1" dirty="0"/>
              <a:t>索引结构所占用的额外空间</a:t>
            </a:r>
            <a:endParaRPr lang="en-US" altLang="zh-CN" sz="2500" b="1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5">
            <a:extLst>
              <a:ext uri="{FF2B5EF4-FFF2-40B4-BE49-F238E27FC236}">
                <a16:creationId xmlns:a16="http://schemas.microsoft.com/office/drawing/2014/main" id="{54F8D587-FE5B-F958-A028-012C3857D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4E9CDA8-2361-4935-AE99-548BCCCB5EE2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zh-CN" sz="1200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C8854D5D-0ADD-2679-1EEE-27B9DB1D41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主要内容</a:t>
            </a:r>
            <a:endParaRPr lang="en-US" altLang="zh-CN" b="1"/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2AD8AC38-BF98-F0CD-FAB8-2CD7DE7A42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2732" y="1434882"/>
            <a:ext cx="7313613" cy="5056187"/>
          </a:xfrm>
        </p:spPr>
        <p:txBody>
          <a:bodyPr/>
          <a:lstStyle/>
          <a:p>
            <a:pPr eaLnBrk="1" hangingPunct="1"/>
            <a:r>
              <a:rPr lang="zh-CN" altLang="en-US" sz="3300" b="1" dirty="0"/>
              <a:t>基本概念</a:t>
            </a:r>
            <a:endParaRPr lang="en-US" altLang="zh-CN" sz="3300" b="1" dirty="0"/>
          </a:p>
          <a:p>
            <a:pPr eaLnBrk="1" hangingPunct="1"/>
            <a:r>
              <a:rPr lang="zh-CN" altLang="en-US" sz="3300" b="1" dirty="0">
                <a:solidFill>
                  <a:srgbClr val="0000FF"/>
                </a:solidFill>
              </a:rPr>
              <a:t>有序索引</a:t>
            </a:r>
            <a:endParaRPr lang="en-US" altLang="zh-CN" sz="3300" b="1" dirty="0">
              <a:solidFill>
                <a:srgbClr val="0000FF"/>
              </a:solidFill>
            </a:endParaRPr>
          </a:p>
          <a:p>
            <a:pPr eaLnBrk="1" hangingPunct="1"/>
            <a:r>
              <a:rPr lang="en-US" altLang="zh-CN" sz="3300" b="1" dirty="0" err="1"/>
              <a:t>B</a:t>
            </a:r>
            <a:r>
              <a:rPr lang="en-US" altLang="zh-CN" sz="3300" b="1" baseline="30000" dirty="0" err="1"/>
              <a:t>+</a:t>
            </a:r>
            <a:r>
              <a:rPr lang="en-US" altLang="zh-CN" sz="3300" b="1" dirty="0" err="1"/>
              <a:t>Tree</a:t>
            </a:r>
            <a:r>
              <a:rPr lang="en-US" altLang="zh-CN" sz="3300" b="1" dirty="0"/>
              <a:t> </a:t>
            </a:r>
            <a:r>
              <a:rPr lang="zh-CN" altLang="en-US" sz="3300" b="1" dirty="0"/>
              <a:t>索引文件</a:t>
            </a:r>
            <a:endParaRPr lang="en-US" altLang="zh-CN" sz="3300" b="1" dirty="0"/>
          </a:p>
          <a:p>
            <a:pPr eaLnBrk="1" hangingPunct="1"/>
            <a:r>
              <a:rPr lang="zh-CN" altLang="en-US" sz="3300" b="1" dirty="0"/>
              <a:t>散列索引</a:t>
            </a:r>
            <a:endParaRPr lang="en-US" altLang="zh-CN" sz="3300" b="1" dirty="0"/>
          </a:p>
          <a:p>
            <a:pPr eaLnBrk="1" hangingPunct="1"/>
            <a:r>
              <a:rPr lang="zh-CN" altLang="en-US" sz="3300" b="1" dirty="0"/>
              <a:t>有序索引与散列的比较</a:t>
            </a:r>
            <a:endParaRPr lang="en-US" altLang="zh-CN" sz="3300" b="1" dirty="0"/>
          </a:p>
          <a:p>
            <a:pPr eaLnBrk="1" hangingPunct="1"/>
            <a:r>
              <a:rPr lang="en-US" altLang="zh-CN" sz="3300" b="1" dirty="0"/>
              <a:t>SQL</a:t>
            </a:r>
            <a:r>
              <a:rPr lang="zh-CN" altLang="en-US" sz="3300" b="1" dirty="0"/>
              <a:t>中的索引定义</a:t>
            </a:r>
          </a:p>
          <a:p>
            <a:pPr eaLnBrk="1" hangingPunct="1"/>
            <a:r>
              <a:rPr lang="zh-CN" altLang="en-US" sz="3300" b="1" dirty="0"/>
              <a:t>多码存取</a:t>
            </a:r>
            <a:endParaRPr lang="en-US" altLang="zh-CN" sz="3300" b="1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5">
            <a:extLst>
              <a:ext uri="{FF2B5EF4-FFF2-40B4-BE49-F238E27FC236}">
                <a16:creationId xmlns:a16="http://schemas.microsoft.com/office/drawing/2014/main" id="{2B60F1F5-9F4B-C352-66B4-B9146B331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2305A6F-578D-497D-A136-167AD0D1A4E2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zh-CN" sz="1200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119898B0-FD1E-DAC3-4062-79B3A2B787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有序索引</a:t>
            </a:r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BFCB90A7-7E8D-BB68-1AC3-64E8F8BC7B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3568" y="1390352"/>
            <a:ext cx="7939087" cy="4198888"/>
          </a:xfrm>
        </p:spPr>
        <p:txBody>
          <a:bodyPr/>
          <a:lstStyle/>
          <a:p>
            <a:pPr eaLnBrk="1" hangingPunct="1"/>
            <a:r>
              <a:rPr lang="zh-CN" altLang="en-US" sz="2800" b="1" dirty="0">
                <a:solidFill>
                  <a:srgbClr val="FF3300"/>
                </a:solidFill>
              </a:rPr>
              <a:t>有序索引</a:t>
            </a:r>
            <a:r>
              <a:rPr lang="zh-CN" altLang="en-US" sz="2800" b="1" dirty="0"/>
              <a:t>：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索引项</a:t>
            </a:r>
            <a:r>
              <a:rPr lang="zh-CN" altLang="en-US" sz="2800" b="1" dirty="0"/>
              <a:t>按</a:t>
            </a:r>
            <a:r>
              <a:rPr lang="zh-CN" altLang="en-US" sz="2800" b="1" dirty="0">
                <a:solidFill>
                  <a:srgbClr val="0000FF"/>
                </a:solidFill>
              </a:rPr>
              <a:t>搜索码</a:t>
            </a:r>
            <a:r>
              <a:rPr lang="zh-CN" altLang="en-US" sz="2800" b="1" dirty="0">
                <a:solidFill>
                  <a:srgbClr val="FF0000"/>
                </a:solidFill>
              </a:rPr>
              <a:t>值</a:t>
            </a:r>
            <a:r>
              <a:rPr lang="zh-CN" altLang="en-US" sz="2800" b="1" dirty="0"/>
              <a:t>的</a:t>
            </a:r>
            <a:r>
              <a:rPr lang="zh-CN" altLang="en-US" sz="2800" b="1" dirty="0">
                <a:solidFill>
                  <a:srgbClr val="FF0000"/>
                </a:solidFill>
              </a:rPr>
              <a:t>顺序</a:t>
            </a:r>
            <a:r>
              <a:rPr lang="zh-CN" altLang="en-US" sz="2800" b="1" dirty="0">
                <a:solidFill>
                  <a:srgbClr val="0000FF"/>
                </a:solidFill>
              </a:rPr>
              <a:t>有序</a:t>
            </a:r>
            <a:r>
              <a:rPr lang="zh-CN" altLang="en-US" sz="2800" b="1" dirty="0"/>
              <a:t>存储</a:t>
            </a:r>
            <a:endParaRPr lang="en-US" altLang="zh-CN" sz="2800" b="1" dirty="0"/>
          </a:p>
          <a:p>
            <a:pPr lvl="1" eaLnBrk="1" hangingPunct="1"/>
            <a:r>
              <a:rPr lang="zh-CN" altLang="en-US" sz="2400" b="1" dirty="0"/>
              <a:t>被索引</a:t>
            </a:r>
            <a:r>
              <a:rPr lang="zh-CN" altLang="en-US" sz="2400" b="1" u="sng" dirty="0">
                <a:solidFill>
                  <a:srgbClr val="0000FF"/>
                </a:solidFill>
              </a:rPr>
              <a:t>文件中的记录</a:t>
            </a:r>
            <a:r>
              <a:rPr lang="zh-CN" altLang="en-US" sz="2400" b="1" dirty="0"/>
              <a:t>自身也可以按照某种排序顺序存储</a:t>
            </a:r>
            <a:endParaRPr lang="en-US" altLang="zh-CN" sz="2400" b="1" dirty="0"/>
          </a:p>
          <a:p>
            <a:pPr lvl="1" eaLnBrk="1" hangingPunct="1"/>
            <a:r>
              <a:rPr lang="zh-CN" altLang="en-US" sz="2400" b="1" dirty="0">
                <a:solidFill>
                  <a:srgbClr val="0000FF"/>
                </a:solidFill>
              </a:rPr>
              <a:t>主索引</a:t>
            </a:r>
            <a:r>
              <a:rPr lang="zh-CN" altLang="en-US" sz="2400" b="1" dirty="0"/>
              <a:t>：</a:t>
            </a:r>
            <a:r>
              <a:rPr lang="zh-CN" altLang="en-US" sz="2000" b="1" dirty="0"/>
              <a:t>索引</a:t>
            </a:r>
            <a:r>
              <a:rPr lang="zh-CN" altLang="en-US" sz="2000" b="1" dirty="0">
                <a:solidFill>
                  <a:srgbClr val="0000FF"/>
                </a:solidFill>
              </a:rPr>
              <a:t>搜索码的顺序</a:t>
            </a:r>
            <a:r>
              <a:rPr lang="zh-CN" altLang="en-US" sz="2000" b="1" dirty="0"/>
              <a:t>与</a:t>
            </a:r>
            <a:r>
              <a:rPr lang="zh-CN" altLang="en-US" sz="2000" b="1" dirty="0">
                <a:solidFill>
                  <a:srgbClr val="0000FF"/>
                </a:solidFill>
              </a:rPr>
              <a:t>文件的记录顺序</a:t>
            </a:r>
            <a:r>
              <a:rPr lang="zh-CN" altLang="en-US" sz="2000" b="1" dirty="0">
                <a:solidFill>
                  <a:srgbClr val="FF0000"/>
                </a:solidFill>
              </a:rPr>
              <a:t>一致</a:t>
            </a:r>
            <a:endParaRPr lang="zh-CN" altLang="en-US" sz="2400" b="1" dirty="0">
              <a:solidFill>
                <a:srgbClr val="FF0000"/>
              </a:solidFill>
            </a:endParaRPr>
          </a:p>
          <a:p>
            <a:pPr lvl="1"/>
            <a:r>
              <a:rPr lang="zh-CN" altLang="en-US" sz="2400" b="1" dirty="0">
                <a:solidFill>
                  <a:srgbClr val="0000FF"/>
                </a:solidFill>
              </a:rPr>
              <a:t>辅助索引</a:t>
            </a:r>
            <a:r>
              <a:rPr lang="zh-CN" altLang="en-US" sz="2400" b="1" dirty="0"/>
              <a:t>：</a:t>
            </a:r>
            <a:r>
              <a:rPr lang="zh-CN" altLang="en-US" sz="2000" b="1" dirty="0"/>
              <a:t>索引</a:t>
            </a:r>
            <a:r>
              <a:rPr lang="zh-CN" altLang="en-US" sz="2000" b="1" dirty="0">
                <a:solidFill>
                  <a:srgbClr val="0000FF"/>
                </a:solidFill>
              </a:rPr>
              <a:t>搜索码的顺序</a:t>
            </a:r>
            <a:r>
              <a:rPr lang="zh-CN" altLang="en-US" sz="2000" b="1" dirty="0"/>
              <a:t>与</a:t>
            </a:r>
            <a:r>
              <a:rPr lang="zh-CN" altLang="en-US" sz="2000" b="1" dirty="0">
                <a:solidFill>
                  <a:srgbClr val="0000FF"/>
                </a:solidFill>
              </a:rPr>
              <a:t>文件的记录顺序</a:t>
            </a:r>
            <a:r>
              <a:rPr lang="zh-CN" altLang="en-US" sz="2000" b="1" dirty="0">
                <a:solidFill>
                  <a:srgbClr val="FF0000"/>
                </a:solidFill>
              </a:rPr>
              <a:t>不一致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pPr lvl="1"/>
            <a:r>
              <a:rPr lang="zh-CN" altLang="en-US" sz="2400" b="1" dirty="0">
                <a:solidFill>
                  <a:srgbClr val="FF3300"/>
                </a:solidFill>
              </a:rPr>
              <a:t>索引文件</a:t>
            </a:r>
            <a:r>
              <a:rPr lang="zh-CN" altLang="en-US" sz="2000" b="1" dirty="0"/>
              <a:t>由如下形式的</a:t>
            </a:r>
            <a:r>
              <a:rPr lang="zh-CN" altLang="en-US" sz="2000" b="1" dirty="0">
                <a:solidFill>
                  <a:srgbClr val="0000FF"/>
                </a:solidFill>
              </a:rPr>
              <a:t>记录</a:t>
            </a:r>
            <a:r>
              <a:rPr lang="en-US" altLang="zh-CN" sz="2000" b="1" dirty="0"/>
              <a:t>(</a:t>
            </a:r>
            <a:r>
              <a:rPr lang="zh-CN" altLang="en-US" sz="2000" b="1" dirty="0"/>
              <a:t>称为</a:t>
            </a:r>
            <a:r>
              <a:rPr lang="zh-CN" altLang="en-US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索引项</a:t>
            </a:r>
            <a:r>
              <a:rPr lang="en-US" altLang="zh-CN" sz="2000" b="1" dirty="0"/>
              <a:t>)</a:t>
            </a:r>
            <a:r>
              <a:rPr lang="zh-CN" altLang="en-US" sz="2000" b="1" dirty="0"/>
              <a:t>构成：</a:t>
            </a:r>
            <a:r>
              <a:rPr lang="zh-CN" altLang="en-US" sz="2000" b="1" dirty="0">
                <a:solidFill>
                  <a:srgbClr val="0000FF"/>
                </a:solidFill>
              </a:rPr>
              <a:t>搜索码</a:t>
            </a:r>
            <a:r>
              <a:rPr lang="zh-CN" altLang="en-US" sz="2000" b="1" dirty="0"/>
              <a:t>和</a:t>
            </a:r>
            <a:r>
              <a:rPr lang="zh-CN" altLang="en-US" sz="2000" b="1" dirty="0">
                <a:solidFill>
                  <a:srgbClr val="0000FF"/>
                </a:solidFill>
              </a:rPr>
              <a:t>指针</a:t>
            </a:r>
            <a:r>
              <a:rPr lang="zh-CN" altLang="en-US" sz="2000" b="1" dirty="0"/>
              <a:t>；指针指向</a:t>
            </a:r>
            <a:r>
              <a:rPr lang="zh-CN" altLang="en-US" sz="2000" b="1" dirty="0">
                <a:solidFill>
                  <a:srgbClr val="0000FF"/>
                </a:solidFill>
              </a:rPr>
              <a:t>具有该搜索码</a:t>
            </a:r>
            <a:r>
              <a:rPr lang="zh-CN" altLang="en-US" sz="2000" b="1" dirty="0"/>
              <a:t>的</a:t>
            </a:r>
            <a:r>
              <a:rPr lang="zh-CN" altLang="en-US" sz="2000" b="1" dirty="0">
                <a:solidFill>
                  <a:srgbClr val="0000FF"/>
                </a:solidFill>
              </a:rPr>
              <a:t>一条</a:t>
            </a:r>
            <a:r>
              <a:rPr lang="zh-CN" altLang="en-US" sz="2000" b="1" dirty="0"/>
              <a:t>或</a:t>
            </a:r>
            <a:r>
              <a:rPr lang="zh-CN" altLang="en-US" sz="2000" b="1" dirty="0">
                <a:solidFill>
                  <a:srgbClr val="006600"/>
                </a:solidFill>
              </a:rPr>
              <a:t>多条</a:t>
            </a:r>
            <a:r>
              <a:rPr lang="zh-CN" altLang="en-US" sz="2000" b="1" dirty="0">
                <a:solidFill>
                  <a:srgbClr val="0000FF"/>
                </a:solidFill>
              </a:rPr>
              <a:t>记录 </a:t>
            </a:r>
            <a:endParaRPr lang="en-US" altLang="zh-CN" sz="2000" b="1" dirty="0">
              <a:solidFill>
                <a:srgbClr val="0000FF"/>
              </a:solidFill>
            </a:endParaRPr>
          </a:p>
          <a:p>
            <a:pPr lvl="1"/>
            <a:endParaRPr lang="en-US" altLang="zh-CN" sz="2000" b="1" dirty="0">
              <a:solidFill>
                <a:srgbClr val="0000FF"/>
              </a:solidFill>
            </a:endParaRPr>
          </a:p>
          <a:p>
            <a:pPr lvl="1"/>
            <a:endParaRPr lang="en-US" altLang="zh-CN" sz="2000" b="1" dirty="0">
              <a:solidFill>
                <a:srgbClr val="0000FF"/>
              </a:solidFill>
            </a:endParaRPr>
          </a:p>
          <a:p>
            <a:pPr lvl="1"/>
            <a:r>
              <a:rPr lang="zh-CN" altLang="en-US" sz="2000" b="1" dirty="0">
                <a:solidFill>
                  <a:srgbClr val="0000FF"/>
                </a:solidFill>
              </a:rPr>
              <a:t>索引文件</a:t>
            </a:r>
            <a:r>
              <a:rPr lang="zh-CN" altLang="en-US" sz="2000" b="1" dirty="0"/>
              <a:t>一般比原始文件</a:t>
            </a:r>
            <a:r>
              <a:rPr lang="zh-CN" altLang="en-US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小</a:t>
            </a:r>
            <a:r>
              <a:rPr lang="zh-CN" altLang="en-US" sz="2000" b="1" dirty="0"/>
              <a:t>得多</a:t>
            </a:r>
            <a:endParaRPr lang="en-US" altLang="zh-CN" sz="2000" b="1" dirty="0"/>
          </a:p>
          <a:p>
            <a:pPr lvl="1"/>
            <a:endParaRPr lang="en-US" altLang="zh-CN" sz="2000" b="1" dirty="0">
              <a:solidFill>
                <a:srgbClr val="FF0000"/>
              </a:solidFill>
            </a:endParaRPr>
          </a:p>
          <a:p>
            <a:pPr lvl="1" eaLnBrk="1" hangingPunct="1"/>
            <a:endParaRPr lang="zh-CN" altLang="en-US" sz="2000" b="1" dirty="0">
              <a:solidFill>
                <a:srgbClr val="0000FF"/>
              </a:solidFill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D5A1E684-454C-0C4F-8F0D-6E8B7E3A8C1D}"/>
              </a:ext>
            </a:extLst>
          </p:cNvPr>
          <p:cNvGrpSpPr/>
          <p:nvPr/>
        </p:nvGrpSpPr>
        <p:grpSpPr>
          <a:xfrm>
            <a:off x="3310086" y="4437112"/>
            <a:ext cx="2686050" cy="371475"/>
            <a:chOff x="2987824" y="3645024"/>
            <a:chExt cx="2686050" cy="371475"/>
          </a:xfrm>
        </p:grpSpPr>
        <p:sp>
          <p:nvSpPr>
            <p:cNvPr id="9221" name="Rectangle 4">
              <a:extLst>
                <a:ext uri="{FF2B5EF4-FFF2-40B4-BE49-F238E27FC236}">
                  <a16:creationId xmlns:a16="http://schemas.microsoft.com/office/drawing/2014/main" id="{0F1E5EAD-E76E-83B4-552E-5A776C0EFE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7824" y="3645024"/>
              <a:ext cx="1506538" cy="3714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i="0" dirty="0">
                  <a:latin typeface="Helvetica" panose="020B0604020202020204" pitchFamily="34" charset="0"/>
                </a:rPr>
                <a:t>search-key</a:t>
              </a:r>
            </a:p>
          </p:txBody>
        </p:sp>
        <p:sp>
          <p:nvSpPr>
            <p:cNvPr id="9222" name="Rectangle 5">
              <a:extLst>
                <a:ext uri="{FF2B5EF4-FFF2-40B4-BE49-F238E27FC236}">
                  <a16:creationId xmlns:a16="http://schemas.microsoft.com/office/drawing/2014/main" id="{8E85B5D5-83FB-6836-8884-7F0E541D1A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599" y="3645024"/>
              <a:ext cx="1184275" cy="3714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i="0" dirty="0">
                  <a:latin typeface="Helvetica" panose="020B0604020202020204" pitchFamily="34" charset="0"/>
                </a:rPr>
                <a:t>pointer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3">
            <a:extLst>
              <a:ext uri="{FF2B5EF4-FFF2-40B4-BE49-F238E27FC236}">
                <a16:creationId xmlns:a16="http://schemas.microsoft.com/office/drawing/2014/main" id="{F7AF3D69-FB58-7773-69A1-7E7AF57522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6600" y="1369503"/>
            <a:ext cx="7848600" cy="4664075"/>
          </a:xfrm>
        </p:spPr>
        <p:txBody>
          <a:bodyPr/>
          <a:lstStyle/>
          <a:p>
            <a:pPr eaLnBrk="1" hangingPunct="1"/>
            <a:r>
              <a:rPr lang="zh-CN" altLang="en-US" sz="2400" b="1" dirty="0">
                <a:solidFill>
                  <a:srgbClr val="FF3300"/>
                </a:solidFill>
              </a:rPr>
              <a:t>主索引</a:t>
            </a:r>
            <a:r>
              <a:rPr lang="zh-CN" altLang="en-US" sz="2400" b="1" dirty="0"/>
              <a:t>：</a:t>
            </a:r>
            <a:r>
              <a:rPr lang="zh-CN" altLang="en-US" sz="2400" b="1" dirty="0">
                <a:solidFill>
                  <a:srgbClr val="0000FF"/>
                </a:solidFill>
              </a:rPr>
              <a:t>顺序文件</a:t>
            </a:r>
            <a:r>
              <a:rPr lang="zh-CN" altLang="en-US" sz="2400" b="1" dirty="0"/>
              <a:t>的</a:t>
            </a:r>
            <a:r>
              <a:rPr lang="zh-CN" altLang="en-US" sz="2400" b="1" dirty="0">
                <a:solidFill>
                  <a:srgbClr val="0000FF"/>
                </a:solidFill>
              </a:rPr>
              <a:t>记录顺序</a:t>
            </a:r>
            <a:r>
              <a:rPr lang="zh-CN" altLang="en-US" sz="2400" b="1" dirty="0"/>
              <a:t>正是</a:t>
            </a:r>
            <a:r>
              <a:rPr lang="zh-CN" altLang="en-US" sz="2400" b="1" dirty="0">
                <a:solidFill>
                  <a:srgbClr val="0000FF"/>
                </a:solidFill>
              </a:rPr>
              <a:t>索引搜索码</a:t>
            </a:r>
            <a:r>
              <a:rPr lang="zh-CN" altLang="en-US" sz="2400" b="1" dirty="0"/>
              <a:t>的</a:t>
            </a:r>
            <a:r>
              <a:rPr lang="zh-CN" altLang="en-US" sz="2400" b="1" dirty="0">
                <a:solidFill>
                  <a:srgbClr val="0000FF"/>
                </a:solidFill>
              </a:rPr>
              <a:t>顺序</a:t>
            </a:r>
            <a:endParaRPr lang="en-US" altLang="zh-CN" sz="2400" b="1" dirty="0">
              <a:solidFill>
                <a:srgbClr val="0000FF"/>
              </a:solidFill>
            </a:endParaRPr>
          </a:p>
          <a:p>
            <a:pPr lvl="1" eaLnBrk="1" hangingPunct="1"/>
            <a:r>
              <a:rPr lang="zh-CN" altLang="en-US" sz="2100" b="1" dirty="0"/>
              <a:t>也称为</a:t>
            </a:r>
            <a:r>
              <a:rPr lang="zh-CN" altLang="en-US" sz="2100" b="1" dirty="0">
                <a:solidFill>
                  <a:srgbClr val="FF3300"/>
                </a:solidFill>
              </a:rPr>
              <a:t>聚集索引</a:t>
            </a:r>
            <a:endParaRPr lang="en-US" altLang="zh-CN" sz="2100" b="1" dirty="0">
              <a:solidFill>
                <a:srgbClr val="FF3300"/>
              </a:solidFill>
            </a:endParaRPr>
          </a:p>
          <a:p>
            <a:pPr lvl="1" eaLnBrk="1" hangingPunct="1"/>
            <a:r>
              <a:rPr lang="zh-CN" altLang="en-US" sz="2100" b="1" dirty="0"/>
              <a:t>主索引的搜索码</a:t>
            </a:r>
            <a:r>
              <a:rPr lang="zh-CN" altLang="en-US" sz="2100" b="1" dirty="0">
                <a:solidFill>
                  <a:srgbClr val="0000FF"/>
                </a:solidFill>
              </a:rPr>
              <a:t>通常</a:t>
            </a:r>
            <a:r>
              <a:rPr lang="zh-CN" altLang="en-US" sz="2100" b="1" dirty="0"/>
              <a:t>是</a:t>
            </a:r>
            <a:r>
              <a:rPr lang="zh-CN" altLang="en-US" sz="2100" b="1" dirty="0">
                <a:solidFill>
                  <a:srgbClr val="0000FF"/>
                </a:solidFill>
              </a:rPr>
              <a:t>主码</a:t>
            </a:r>
            <a:r>
              <a:rPr lang="zh-CN" altLang="en-US" sz="2100" b="1" dirty="0"/>
              <a:t>，但</a:t>
            </a:r>
            <a:r>
              <a:rPr lang="zh-CN" altLang="en-US" sz="2100" b="1" dirty="0">
                <a:solidFill>
                  <a:srgbClr val="FF0000"/>
                </a:solidFill>
              </a:rPr>
              <a:t>并非必须</a:t>
            </a:r>
            <a:endParaRPr lang="en-US" altLang="zh-CN" sz="2100" b="1" dirty="0">
              <a:solidFill>
                <a:srgbClr val="FF0000"/>
              </a:solidFill>
            </a:endParaRPr>
          </a:p>
          <a:p>
            <a:pPr lvl="1" eaLnBrk="1" hangingPunct="1"/>
            <a:r>
              <a:rPr lang="zh-CN" altLang="en-US" sz="2100" b="1" dirty="0"/>
              <a:t>一般而言，一个关系上只能创建一个主索引</a:t>
            </a:r>
          </a:p>
          <a:p>
            <a:pPr lvl="1" eaLnBrk="1" hangingPunct="1"/>
            <a:r>
              <a:rPr lang="zh-CN" altLang="en-US" sz="2100" b="1" dirty="0">
                <a:solidFill>
                  <a:srgbClr val="800080"/>
                </a:solidFill>
              </a:rPr>
              <a:t>索引顺序文件</a:t>
            </a:r>
            <a:r>
              <a:rPr lang="zh-CN" altLang="en-US" sz="2100" b="1" dirty="0">
                <a:solidFill>
                  <a:schemeClr val="tx2"/>
                </a:solidFill>
              </a:rPr>
              <a:t>：</a:t>
            </a:r>
            <a:r>
              <a:rPr lang="zh-CN" altLang="en-US" sz="2100" b="1" u="sng" dirty="0"/>
              <a:t>带有主索引</a:t>
            </a:r>
            <a:r>
              <a:rPr lang="zh-CN" altLang="en-US" sz="2100" b="1" dirty="0"/>
              <a:t>的</a:t>
            </a:r>
            <a:r>
              <a:rPr lang="zh-CN" altLang="en-US" sz="2100" b="1" u="sng" dirty="0"/>
              <a:t>顺序文件</a:t>
            </a:r>
            <a:endParaRPr lang="en-US" altLang="zh-CN" sz="2100" b="1" u="sng" dirty="0"/>
          </a:p>
          <a:p>
            <a:pPr eaLnBrk="1" hangingPunct="1"/>
            <a:r>
              <a:rPr lang="zh-CN" altLang="en-US" sz="2400" b="1" dirty="0">
                <a:solidFill>
                  <a:srgbClr val="FF3300"/>
                </a:solidFill>
              </a:rPr>
              <a:t>辅助索引</a:t>
            </a:r>
            <a:r>
              <a:rPr lang="zh-CN" altLang="en-US" sz="2100" b="1" dirty="0"/>
              <a:t>：</a:t>
            </a:r>
            <a:r>
              <a:rPr lang="zh-CN" altLang="en-US" sz="2100" b="1" u="sng" dirty="0"/>
              <a:t>索引搜索码的顺序</a:t>
            </a:r>
            <a:r>
              <a:rPr lang="zh-CN" altLang="en-US" sz="2100" b="1" dirty="0"/>
              <a:t>与</a:t>
            </a:r>
            <a:r>
              <a:rPr lang="zh-CN" altLang="en-US" sz="2100" b="1" u="sng" dirty="0"/>
              <a:t>文件的记录顺序</a:t>
            </a:r>
            <a:r>
              <a:rPr lang="zh-CN" altLang="en-US" sz="2100" b="1" dirty="0">
                <a:solidFill>
                  <a:srgbClr val="0000FF"/>
                </a:solidFill>
              </a:rPr>
              <a:t>不同</a:t>
            </a:r>
            <a:endParaRPr lang="en-US" altLang="zh-CN" sz="2100" b="1" dirty="0">
              <a:solidFill>
                <a:srgbClr val="0000FF"/>
              </a:solidFill>
            </a:endParaRPr>
          </a:p>
          <a:p>
            <a:pPr lvl="1" eaLnBrk="1" hangingPunct="1"/>
            <a:r>
              <a:rPr lang="zh-CN" altLang="en-US" sz="2100" b="1" dirty="0"/>
              <a:t>也称为</a:t>
            </a:r>
            <a:r>
              <a:rPr lang="zh-CN" altLang="en-US" sz="2100" b="1" dirty="0">
                <a:solidFill>
                  <a:srgbClr val="FF3300"/>
                </a:solidFill>
              </a:rPr>
              <a:t>非聚集索引</a:t>
            </a:r>
            <a:endParaRPr lang="en-US" altLang="zh-CN" sz="2100" b="1" dirty="0">
              <a:solidFill>
                <a:srgbClr val="FF3300"/>
              </a:solidFill>
            </a:endParaRPr>
          </a:p>
        </p:txBody>
      </p:sp>
      <p:sp>
        <p:nvSpPr>
          <p:cNvPr id="13314" name="灯片编号占位符 5">
            <a:extLst>
              <a:ext uri="{FF2B5EF4-FFF2-40B4-BE49-F238E27FC236}">
                <a16:creationId xmlns:a16="http://schemas.microsoft.com/office/drawing/2014/main" id="{65819AAD-167D-07B0-0D4A-FD575F609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78588" y="6211888"/>
            <a:ext cx="2133600" cy="457200"/>
          </a:xfrm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086A0DB-DB59-44CC-9925-984DDCECE4A8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zh-CN" sz="120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5DCDB4D2-C1A0-E407-CF6E-086322E7C48C}"/>
              </a:ext>
            </a:extLst>
          </p:cNvPr>
          <p:cNvGrpSpPr/>
          <p:nvPr/>
        </p:nvGrpSpPr>
        <p:grpSpPr>
          <a:xfrm>
            <a:off x="66785" y="3989784"/>
            <a:ext cx="8968963" cy="2895600"/>
            <a:chOff x="66785" y="3989784"/>
            <a:chExt cx="8968963" cy="2895600"/>
          </a:xfrm>
        </p:grpSpPr>
        <p:sp>
          <p:nvSpPr>
            <p:cNvPr id="13317" name="Freeform 5">
              <a:extLst>
                <a:ext uri="{FF2B5EF4-FFF2-40B4-BE49-F238E27FC236}">
                  <a16:creationId xmlns:a16="http://schemas.microsoft.com/office/drawing/2014/main" id="{906380C6-A6C7-EE60-20BF-324BAEBA8A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488" y="6275784"/>
              <a:ext cx="398462" cy="328613"/>
            </a:xfrm>
            <a:custGeom>
              <a:avLst/>
              <a:gdLst>
                <a:gd name="T0" fmla="*/ 0 w 251"/>
                <a:gd name="T1" fmla="*/ 2147483646 h 207"/>
                <a:gd name="T2" fmla="*/ 0 w 251"/>
                <a:gd name="T3" fmla="*/ 0 h 207"/>
                <a:gd name="T4" fmla="*/ 2147483646 w 251"/>
                <a:gd name="T5" fmla="*/ 0 h 207"/>
                <a:gd name="T6" fmla="*/ 2147483646 w 251"/>
                <a:gd name="T7" fmla="*/ 2147483646 h 207"/>
                <a:gd name="T8" fmla="*/ 0 w 251"/>
                <a:gd name="T9" fmla="*/ 2147483646 h 20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1" h="207">
                  <a:moveTo>
                    <a:pt x="0" y="206"/>
                  </a:moveTo>
                  <a:lnTo>
                    <a:pt x="0" y="0"/>
                  </a:lnTo>
                  <a:lnTo>
                    <a:pt x="250" y="0"/>
                  </a:lnTo>
                  <a:lnTo>
                    <a:pt x="250" y="206"/>
                  </a:lnTo>
                  <a:lnTo>
                    <a:pt x="0" y="206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8" name="Freeform 6">
              <a:extLst>
                <a:ext uri="{FF2B5EF4-FFF2-40B4-BE49-F238E27FC236}">
                  <a16:creationId xmlns:a16="http://schemas.microsoft.com/office/drawing/2014/main" id="{B2DE79A9-B74C-D778-8467-7C014BDF46D8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125" y="6275784"/>
              <a:ext cx="396875" cy="328613"/>
            </a:xfrm>
            <a:custGeom>
              <a:avLst/>
              <a:gdLst>
                <a:gd name="T0" fmla="*/ 0 w 250"/>
                <a:gd name="T1" fmla="*/ 2147483646 h 207"/>
                <a:gd name="T2" fmla="*/ 0 w 250"/>
                <a:gd name="T3" fmla="*/ 0 h 207"/>
                <a:gd name="T4" fmla="*/ 2147483646 w 250"/>
                <a:gd name="T5" fmla="*/ 0 h 207"/>
                <a:gd name="T6" fmla="*/ 2147483646 w 250"/>
                <a:gd name="T7" fmla="*/ 2147483646 h 207"/>
                <a:gd name="T8" fmla="*/ 0 w 250"/>
                <a:gd name="T9" fmla="*/ 2147483646 h 20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0" h="207">
                  <a:moveTo>
                    <a:pt x="0" y="206"/>
                  </a:moveTo>
                  <a:lnTo>
                    <a:pt x="0" y="0"/>
                  </a:lnTo>
                  <a:lnTo>
                    <a:pt x="249" y="0"/>
                  </a:lnTo>
                  <a:lnTo>
                    <a:pt x="249" y="206"/>
                  </a:lnTo>
                  <a:lnTo>
                    <a:pt x="0" y="206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9" name="Freeform 7">
              <a:extLst>
                <a:ext uri="{FF2B5EF4-FFF2-40B4-BE49-F238E27FC236}">
                  <a16:creationId xmlns:a16="http://schemas.microsoft.com/office/drawing/2014/main" id="{88FCACF7-AC56-BE07-4815-144FFFDA01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3175" y="6275784"/>
              <a:ext cx="400050" cy="328613"/>
            </a:xfrm>
            <a:custGeom>
              <a:avLst/>
              <a:gdLst>
                <a:gd name="T0" fmla="*/ 0 w 252"/>
                <a:gd name="T1" fmla="*/ 2147483646 h 207"/>
                <a:gd name="T2" fmla="*/ 0 w 252"/>
                <a:gd name="T3" fmla="*/ 0 h 207"/>
                <a:gd name="T4" fmla="*/ 2147483646 w 252"/>
                <a:gd name="T5" fmla="*/ 0 h 207"/>
                <a:gd name="T6" fmla="*/ 2147483646 w 252"/>
                <a:gd name="T7" fmla="*/ 2147483646 h 207"/>
                <a:gd name="T8" fmla="*/ 0 w 252"/>
                <a:gd name="T9" fmla="*/ 2147483646 h 20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2" h="207">
                  <a:moveTo>
                    <a:pt x="0" y="206"/>
                  </a:moveTo>
                  <a:lnTo>
                    <a:pt x="0" y="0"/>
                  </a:lnTo>
                  <a:lnTo>
                    <a:pt x="251" y="0"/>
                  </a:lnTo>
                  <a:lnTo>
                    <a:pt x="251" y="206"/>
                  </a:lnTo>
                  <a:lnTo>
                    <a:pt x="0" y="206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0" name="Freeform 8">
              <a:extLst>
                <a:ext uri="{FF2B5EF4-FFF2-40B4-BE49-F238E27FC236}">
                  <a16:creationId xmlns:a16="http://schemas.microsoft.com/office/drawing/2014/main" id="{FB23A12E-9C22-B82A-98F6-6F127151F3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3400" y="6275784"/>
              <a:ext cx="396875" cy="328613"/>
            </a:xfrm>
            <a:custGeom>
              <a:avLst/>
              <a:gdLst>
                <a:gd name="T0" fmla="*/ 0 w 250"/>
                <a:gd name="T1" fmla="*/ 2147483646 h 207"/>
                <a:gd name="T2" fmla="*/ 0 w 250"/>
                <a:gd name="T3" fmla="*/ 0 h 207"/>
                <a:gd name="T4" fmla="*/ 2147483646 w 250"/>
                <a:gd name="T5" fmla="*/ 0 h 207"/>
                <a:gd name="T6" fmla="*/ 2147483646 w 250"/>
                <a:gd name="T7" fmla="*/ 2147483646 h 207"/>
                <a:gd name="T8" fmla="*/ 0 w 250"/>
                <a:gd name="T9" fmla="*/ 2147483646 h 20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0" h="207">
                  <a:moveTo>
                    <a:pt x="0" y="206"/>
                  </a:moveTo>
                  <a:lnTo>
                    <a:pt x="0" y="0"/>
                  </a:lnTo>
                  <a:lnTo>
                    <a:pt x="249" y="0"/>
                  </a:lnTo>
                  <a:lnTo>
                    <a:pt x="249" y="206"/>
                  </a:lnTo>
                  <a:lnTo>
                    <a:pt x="0" y="206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1" name="Freeform 9">
              <a:extLst>
                <a:ext uri="{FF2B5EF4-FFF2-40B4-BE49-F238E27FC236}">
                  <a16:creationId xmlns:a16="http://schemas.microsoft.com/office/drawing/2014/main" id="{17F8D406-B126-2A91-BA11-051EC9F8C0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2038" y="6275784"/>
              <a:ext cx="396875" cy="328613"/>
            </a:xfrm>
            <a:custGeom>
              <a:avLst/>
              <a:gdLst>
                <a:gd name="T0" fmla="*/ 0 w 250"/>
                <a:gd name="T1" fmla="*/ 2147483646 h 207"/>
                <a:gd name="T2" fmla="*/ 0 w 250"/>
                <a:gd name="T3" fmla="*/ 0 h 207"/>
                <a:gd name="T4" fmla="*/ 2147483646 w 250"/>
                <a:gd name="T5" fmla="*/ 0 h 207"/>
                <a:gd name="T6" fmla="*/ 2147483646 w 250"/>
                <a:gd name="T7" fmla="*/ 2147483646 h 207"/>
                <a:gd name="T8" fmla="*/ 0 w 250"/>
                <a:gd name="T9" fmla="*/ 2147483646 h 20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0" h="207">
                  <a:moveTo>
                    <a:pt x="0" y="206"/>
                  </a:moveTo>
                  <a:lnTo>
                    <a:pt x="0" y="0"/>
                  </a:lnTo>
                  <a:lnTo>
                    <a:pt x="249" y="0"/>
                  </a:lnTo>
                  <a:lnTo>
                    <a:pt x="249" y="206"/>
                  </a:lnTo>
                  <a:lnTo>
                    <a:pt x="0" y="206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2" name="Freeform 10">
              <a:extLst>
                <a:ext uri="{FF2B5EF4-FFF2-40B4-BE49-F238E27FC236}">
                  <a16:creationId xmlns:a16="http://schemas.microsoft.com/office/drawing/2014/main" id="{D31D9C23-F0CB-646A-0650-DB640F05916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9088" y="6275784"/>
              <a:ext cx="398462" cy="328613"/>
            </a:xfrm>
            <a:custGeom>
              <a:avLst/>
              <a:gdLst>
                <a:gd name="T0" fmla="*/ 0 w 251"/>
                <a:gd name="T1" fmla="*/ 2147483646 h 207"/>
                <a:gd name="T2" fmla="*/ 0 w 251"/>
                <a:gd name="T3" fmla="*/ 0 h 207"/>
                <a:gd name="T4" fmla="*/ 2147483646 w 251"/>
                <a:gd name="T5" fmla="*/ 0 h 207"/>
                <a:gd name="T6" fmla="*/ 2147483646 w 251"/>
                <a:gd name="T7" fmla="*/ 2147483646 h 207"/>
                <a:gd name="T8" fmla="*/ 0 w 251"/>
                <a:gd name="T9" fmla="*/ 2147483646 h 20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1" h="207">
                  <a:moveTo>
                    <a:pt x="0" y="206"/>
                  </a:moveTo>
                  <a:lnTo>
                    <a:pt x="0" y="0"/>
                  </a:lnTo>
                  <a:lnTo>
                    <a:pt x="250" y="0"/>
                  </a:lnTo>
                  <a:lnTo>
                    <a:pt x="250" y="206"/>
                  </a:lnTo>
                  <a:lnTo>
                    <a:pt x="0" y="206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3" name="Freeform 11">
              <a:extLst>
                <a:ext uri="{FF2B5EF4-FFF2-40B4-BE49-F238E27FC236}">
                  <a16:creationId xmlns:a16="http://schemas.microsoft.com/office/drawing/2014/main" id="{3710668C-523C-3511-D733-CEB6E04AB7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725" y="6275784"/>
              <a:ext cx="398463" cy="328613"/>
            </a:xfrm>
            <a:custGeom>
              <a:avLst/>
              <a:gdLst>
                <a:gd name="T0" fmla="*/ 0 w 251"/>
                <a:gd name="T1" fmla="*/ 2147483646 h 207"/>
                <a:gd name="T2" fmla="*/ 0 w 251"/>
                <a:gd name="T3" fmla="*/ 0 h 207"/>
                <a:gd name="T4" fmla="*/ 2147483646 w 251"/>
                <a:gd name="T5" fmla="*/ 0 h 207"/>
                <a:gd name="T6" fmla="*/ 2147483646 w 251"/>
                <a:gd name="T7" fmla="*/ 2147483646 h 207"/>
                <a:gd name="T8" fmla="*/ 0 w 251"/>
                <a:gd name="T9" fmla="*/ 2147483646 h 20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1" h="207">
                  <a:moveTo>
                    <a:pt x="0" y="206"/>
                  </a:moveTo>
                  <a:lnTo>
                    <a:pt x="0" y="0"/>
                  </a:lnTo>
                  <a:lnTo>
                    <a:pt x="250" y="0"/>
                  </a:lnTo>
                  <a:lnTo>
                    <a:pt x="250" y="206"/>
                  </a:lnTo>
                  <a:lnTo>
                    <a:pt x="0" y="206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4" name="Freeform 12">
              <a:extLst>
                <a:ext uri="{FF2B5EF4-FFF2-40B4-BE49-F238E27FC236}">
                  <a16:creationId xmlns:a16="http://schemas.microsoft.com/office/drawing/2014/main" id="{4057858C-964E-72B6-2752-104DCEB23983}"/>
                </a:ext>
              </a:extLst>
            </p:cNvPr>
            <p:cNvSpPr>
              <a:spLocks/>
            </p:cNvSpPr>
            <p:nvPr/>
          </p:nvSpPr>
          <p:spPr bwMode="auto">
            <a:xfrm>
              <a:off x="977900" y="5194697"/>
              <a:ext cx="1724025" cy="1587"/>
            </a:xfrm>
            <a:custGeom>
              <a:avLst/>
              <a:gdLst>
                <a:gd name="T0" fmla="*/ 0 w 1086"/>
                <a:gd name="T1" fmla="*/ 0 h 1"/>
                <a:gd name="T2" fmla="*/ 2147483646 w 1086"/>
                <a:gd name="T3" fmla="*/ 0 h 1"/>
                <a:gd name="T4" fmla="*/ 0 w 1086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86" h="1">
                  <a:moveTo>
                    <a:pt x="0" y="0"/>
                  </a:moveTo>
                  <a:lnTo>
                    <a:pt x="1085" y="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5" name="Freeform 13">
              <a:extLst>
                <a:ext uri="{FF2B5EF4-FFF2-40B4-BE49-F238E27FC236}">
                  <a16:creationId xmlns:a16="http://schemas.microsoft.com/office/drawing/2014/main" id="{825FD2FA-D6ED-67E7-87FA-2C27B137DEDD}"/>
                </a:ext>
              </a:extLst>
            </p:cNvPr>
            <p:cNvSpPr>
              <a:spLocks/>
            </p:cNvSpPr>
            <p:nvPr/>
          </p:nvSpPr>
          <p:spPr bwMode="auto">
            <a:xfrm>
              <a:off x="977900" y="4219972"/>
              <a:ext cx="909638" cy="976312"/>
            </a:xfrm>
            <a:custGeom>
              <a:avLst/>
              <a:gdLst>
                <a:gd name="T0" fmla="*/ 0 w 573"/>
                <a:gd name="T1" fmla="*/ 2147483646 h 615"/>
                <a:gd name="T2" fmla="*/ 2147483646 w 573"/>
                <a:gd name="T3" fmla="*/ 0 h 615"/>
                <a:gd name="T4" fmla="*/ 0 w 573"/>
                <a:gd name="T5" fmla="*/ 2147483646 h 6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73" h="615">
                  <a:moveTo>
                    <a:pt x="0" y="614"/>
                  </a:moveTo>
                  <a:lnTo>
                    <a:pt x="572" y="0"/>
                  </a:lnTo>
                  <a:lnTo>
                    <a:pt x="0" y="614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6" name="Freeform 14">
              <a:extLst>
                <a:ext uri="{FF2B5EF4-FFF2-40B4-BE49-F238E27FC236}">
                  <a16:creationId xmlns:a16="http://schemas.microsoft.com/office/drawing/2014/main" id="{486B217E-25F1-C282-7B23-C66DC6A1E4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5950" y="4219972"/>
              <a:ext cx="825500" cy="976312"/>
            </a:xfrm>
            <a:custGeom>
              <a:avLst/>
              <a:gdLst>
                <a:gd name="T0" fmla="*/ 0 w 520"/>
                <a:gd name="T1" fmla="*/ 0 h 615"/>
                <a:gd name="T2" fmla="*/ 2147483646 w 520"/>
                <a:gd name="T3" fmla="*/ 2147483646 h 615"/>
                <a:gd name="T4" fmla="*/ 0 w 520"/>
                <a:gd name="T5" fmla="*/ 0 h 6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20" h="615">
                  <a:moveTo>
                    <a:pt x="0" y="0"/>
                  </a:moveTo>
                  <a:lnTo>
                    <a:pt x="519" y="614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7" name="Freeform 15">
              <a:extLst>
                <a:ext uri="{FF2B5EF4-FFF2-40B4-BE49-F238E27FC236}">
                  <a16:creationId xmlns:a16="http://schemas.microsoft.com/office/drawing/2014/main" id="{7F1E64E7-576B-0551-B4A5-F4BD526034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2575" y="4134247"/>
              <a:ext cx="334963" cy="87312"/>
            </a:xfrm>
            <a:custGeom>
              <a:avLst/>
              <a:gdLst>
                <a:gd name="T0" fmla="*/ 0 w 211"/>
                <a:gd name="T1" fmla="*/ 0 h 55"/>
                <a:gd name="T2" fmla="*/ 2147483646 w 211"/>
                <a:gd name="T3" fmla="*/ 2147483646 h 55"/>
                <a:gd name="T4" fmla="*/ 2147483646 w 211"/>
                <a:gd name="T5" fmla="*/ 2147483646 h 55"/>
                <a:gd name="T6" fmla="*/ 0 w 211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55">
                  <a:moveTo>
                    <a:pt x="0" y="0"/>
                  </a:moveTo>
                  <a:lnTo>
                    <a:pt x="35" y="8"/>
                  </a:lnTo>
                  <a:lnTo>
                    <a:pt x="210" y="54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8" name="Freeform 16">
              <a:extLst>
                <a:ext uri="{FF2B5EF4-FFF2-40B4-BE49-F238E27FC236}">
                  <a16:creationId xmlns:a16="http://schemas.microsoft.com/office/drawing/2014/main" id="{5648D1F2-B1E4-5470-79B1-7C62CB19D0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9113" y="4172347"/>
              <a:ext cx="98425" cy="49212"/>
            </a:xfrm>
            <a:custGeom>
              <a:avLst/>
              <a:gdLst>
                <a:gd name="T0" fmla="*/ 2147483646 w 62"/>
                <a:gd name="T1" fmla="*/ 0 h 31"/>
                <a:gd name="T2" fmla="*/ 2147483646 w 62"/>
                <a:gd name="T3" fmla="*/ 2147483646 h 31"/>
                <a:gd name="T4" fmla="*/ 0 w 62"/>
                <a:gd name="T5" fmla="*/ 2147483646 h 31"/>
                <a:gd name="T6" fmla="*/ 2147483646 w 62"/>
                <a:gd name="T7" fmla="*/ 0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2" h="31">
                  <a:moveTo>
                    <a:pt x="7" y="0"/>
                  </a:moveTo>
                  <a:lnTo>
                    <a:pt x="61" y="30"/>
                  </a:lnTo>
                  <a:lnTo>
                    <a:pt x="0" y="29"/>
                  </a:lnTo>
                  <a:lnTo>
                    <a:pt x="7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9" name="Freeform 17">
              <a:extLst>
                <a:ext uri="{FF2B5EF4-FFF2-40B4-BE49-F238E27FC236}">
                  <a16:creationId xmlns:a16="http://schemas.microsoft.com/office/drawing/2014/main" id="{59D251BB-F3F6-0067-BC67-260205DECE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388" y="5453459"/>
              <a:ext cx="468312" cy="323850"/>
            </a:xfrm>
            <a:custGeom>
              <a:avLst/>
              <a:gdLst>
                <a:gd name="T0" fmla="*/ 0 w 295"/>
                <a:gd name="T1" fmla="*/ 0 h 204"/>
                <a:gd name="T2" fmla="*/ 2147483646 w 295"/>
                <a:gd name="T3" fmla="*/ 0 h 204"/>
                <a:gd name="T4" fmla="*/ 2147483646 w 295"/>
                <a:gd name="T5" fmla="*/ 2147483646 h 204"/>
                <a:gd name="T6" fmla="*/ 0 w 295"/>
                <a:gd name="T7" fmla="*/ 2147483646 h 204"/>
                <a:gd name="T8" fmla="*/ 0 w 295"/>
                <a:gd name="T9" fmla="*/ 0 h 2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5" h="204">
                  <a:moveTo>
                    <a:pt x="0" y="0"/>
                  </a:moveTo>
                  <a:lnTo>
                    <a:pt x="294" y="0"/>
                  </a:lnTo>
                  <a:lnTo>
                    <a:pt x="294" y="203"/>
                  </a:lnTo>
                  <a:lnTo>
                    <a:pt x="0" y="203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0" name="Freeform 18">
              <a:extLst>
                <a:ext uri="{FF2B5EF4-FFF2-40B4-BE49-F238E27FC236}">
                  <a16:creationId xmlns:a16="http://schemas.microsoft.com/office/drawing/2014/main" id="{EE269471-20E2-4577-CE16-D0BD6852DC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7113" y="5572522"/>
              <a:ext cx="74612" cy="38100"/>
            </a:xfrm>
            <a:custGeom>
              <a:avLst/>
              <a:gdLst>
                <a:gd name="T0" fmla="*/ 2147483646 w 47"/>
                <a:gd name="T1" fmla="*/ 2147483646 h 24"/>
                <a:gd name="T2" fmla="*/ 0 w 47"/>
                <a:gd name="T3" fmla="*/ 2147483646 h 24"/>
                <a:gd name="T4" fmla="*/ 2147483646 w 47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7" h="24">
                  <a:moveTo>
                    <a:pt x="46" y="23"/>
                  </a:moveTo>
                  <a:lnTo>
                    <a:pt x="0" y="12"/>
                  </a:lnTo>
                  <a:lnTo>
                    <a:pt x="46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1" name="Freeform 19">
              <a:extLst>
                <a:ext uri="{FF2B5EF4-FFF2-40B4-BE49-F238E27FC236}">
                  <a16:creationId xmlns:a16="http://schemas.microsoft.com/office/drawing/2014/main" id="{156F4F11-7CB2-276F-DFA0-A656AF676E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7113" y="5591572"/>
              <a:ext cx="280987" cy="1587"/>
            </a:xfrm>
            <a:custGeom>
              <a:avLst/>
              <a:gdLst>
                <a:gd name="T0" fmla="*/ 0 w 177"/>
                <a:gd name="T1" fmla="*/ 0 h 1"/>
                <a:gd name="T2" fmla="*/ 2147483646 w 177"/>
                <a:gd name="T3" fmla="*/ 0 h 1"/>
                <a:gd name="T4" fmla="*/ 0 w 177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7" h="1">
                  <a:moveTo>
                    <a:pt x="0" y="0"/>
                  </a:moveTo>
                  <a:lnTo>
                    <a:pt x="176" y="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2" name="Freeform 20">
              <a:extLst>
                <a:ext uri="{FF2B5EF4-FFF2-40B4-BE49-F238E27FC236}">
                  <a16:creationId xmlns:a16="http://schemas.microsoft.com/office/drawing/2014/main" id="{3DA223FC-9601-15AA-3D5C-493BE41055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1900" y="5572522"/>
              <a:ext cx="76200" cy="38100"/>
            </a:xfrm>
            <a:custGeom>
              <a:avLst/>
              <a:gdLst>
                <a:gd name="T0" fmla="*/ 0 w 48"/>
                <a:gd name="T1" fmla="*/ 0 h 24"/>
                <a:gd name="T2" fmla="*/ 2147483646 w 48"/>
                <a:gd name="T3" fmla="*/ 2147483646 h 24"/>
                <a:gd name="T4" fmla="*/ 0 w 48"/>
                <a:gd name="T5" fmla="*/ 2147483646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" h="24">
                  <a:moveTo>
                    <a:pt x="0" y="0"/>
                  </a:moveTo>
                  <a:lnTo>
                    <a:pt x="47" y="12"/>
                  </a:lnTo>
                  <a:lnTo>
                    <a:pt x="0" y="23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3" name="Freeform 21">
              <a:extLst>
                <a:ext uri="{FF2B5EF4-FFF2-40B4-BE49-F238E27FC236}">
                  <a16:creationId xmlns:a16="http://schemas.microsoft.com/office/drawing/2014/main" id="{ADDC1BFF-424C-F007-4FBA-5163DADED7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6513" y="5453459"/>
              <a:ext cx="468312" cy="323850"/>
            </a:xfrm>
            <a:custGeom>
              <a:avLst/>
              <a:gdLst>
                <a:gd name="T0" fmla="*/ 0 w 295"/>
                <a:gd name="T1" fmla="*/ 0 h 204"/>
                <a:gd name="T2" fmla="*/ 2147483646 w 295"/>
                <a:gd name="T3" fmla="*/ 0 h 204"/>
                <a:gd name="T4" fmla="*/ 2147483646 w 295"/>
                <a:gd name="T5" fmla="*/ 2147483646 h 204"/>
                <a:gd name="T6" fmla="*/ 0 w 295"/>
                <a:gd name="T7" fmla="*/ 2147483646 h 204"/>
                <a:gd name="T8" fmla="*/ 0 w 295"/>
                <a:gd name="T9" fmla="*/ 0 h 2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5" h="204">
                  <a:moveTo>
                    <a:pt x="0" y="0"/>
                  </a:moveTo>
                  <a:lnTo>
                    <a:pt x="294" y="0"/>
                  </a:lnTo>
                  <a:lnTo>
                    <a:pt x="294" y="203"/>
                  </a:lnTo>
                  <a:lnTo>
                    <a:pt x="0" y="203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4" name="Freeform 22">
              <a:extLst>
                <a:ext uri="{FF2B5EF4-FFF2-40B4-BE49-F238E27FC236}">
                  <a16:creationId xmlns:a16="http://schemas.microsoft.com/office/drawing/2014/main" id="{244280C2-6C05-F828-3FEB-58BA9E80DB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3238" y="5572522"/>
              <a:ext cx="76200" cy="38100"/>
            </a:xfrm>
            <a:custGeom>
              <a:avLst/>
              <a:gdLst>
                <a:gd name="T0" fmla="*/ 2147483646 w 48"/>
                <a:gd name="T1" fmla="*/ 2147483646 h 24"/>
                <a:gd name="T2" fmla="*/ 0 w 48"/>
                <a:gd name="T3" fmla="*/ 2147483646 h 24"/>
                <a:gd name="T4" fmla="*/ 2147483646 w 48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" h="24">
                  <a:moveTo>
                    <a:pt x="47" y="23"/>
                  </a:moveTo>
                  <a:lnTo>
                    <a:pt x="0" y="12"/>
                  </a:lnTo>
                  <a:lnTo>
                    <a:pt x="47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5" name="Freeform 23">
              <a:extLst>
                <a:ext uri="{FF2B5EF4-FFF2-40B4-BE49-F238E27FC236}">
                  <a16:creationId xmlns:a16="http://schemas.microsoft.com/office/drawing/2014/main" id="{BEB61CA3-44FA-11A7-0A9F-A1CE04972A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3238" y="5591572"/>
              <a:ext cx="233362" cy="1587"/>
            </a:xfrm>
            <a:custGeom>
              <a:avLst/>
              <a:gdLst>
                <a:gd name="T0" fmla="*/ 0 w 147"/>
                <a:gd name="T1" fmla="*/ 0 h 1"/>
                <a:gd name="T2" fmla="*/ 2147483646 w 147"/>
                <a:gd name="T3" fmla="*/ 0 h 1"/>
                <a:gd name="T4" fmla="*/ 0 w 147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7" h="1">
                  <a:moveTo>
                    <a:pt x="0" y="0"/>
                  </a:moveTo>
                  <a:lnTo>
                    <a:pt x="146" y="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6" name="Freeform 24">
              <a:extLst>
                <a:ext uri="{FF2B5EF4-FFF2-40B4-BE49-F238E27FC236}">
                  <a16:creationId xmlns:a16="http://schemas.microsoft.com/office/drawing/2014/main" id="{53331AB8-BBA7-0570-DDDD-227551E16B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0400" y="5572522"/>
              <a:ext cx="76200" cy="38100"/>
            </a:xfrm>
            <a:custGeom>
              <a:avLst/>
              <a:gdLst>
                <a:gd name="T0" fmla="*/ 0 w 48"/>
                <a:gd name="T1" fmla="*/ 0 h 24"/>
                <a:gd name="T2" fmla="*/ 2147483646 w 48"/>
                <a:gd name="T3" fmla="*/ 2147483646 h 24"/>
                <a:gd name="T4" fmla="*/ 0 w 48"/>
                <a:gd name="T5" fmla="*/ 2147483646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" h="24">
                  <a:moveTo>
                    <a:pt x="0" y="0"/>
                  </a:moveTo>
                  <a:lnTo>
                    <a:pt x="47" y="12"/>
                  </a:lnTo>
                  <a:lnTo>
                    <a:pt x="0" y="23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7" name="Freeform 25">
              <a:extLst>
                <a:ext uri="{FF2B5EF4-FFF2-40B4-BE49-F238E27FC236}">
                  <a16:creationId xmlns:a16="http://schemas.microsoft.com/office/drawing/2014/main" id="{1F75DC5D-4571-6CBA-55AF-F51394661860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825" y="5175647"/>
              <a:ext cx="188913" cy="279400"/>
            </a:xfrm>
            <a:custGeom>
              <a:avLst/>
              <a:gdLst>
                <a:gd name="T0" fmla="*/ 2147483646 w 119"/>
                <a:gd name="T1" fmla="*/ 0 h 176"/>
                <a:gd name="T2" fmla="*/ 0 w 119"/>
                <a:gd name="T3" fmla="*/ 2147483646 h 176"/>
                <a:gd name="T4" fmla="*/ 2147483646 w 119"/>
                <a:gd name="T5" fmla="*/ 0 h 17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9" h="176">
                  <a:moveTo>
                    <a:pt x="118" y="0"/>
                  </a:moveTo>
                  <a:lnTo>
                    <a:pt x="0" y="175"/>
                  </a:lnTo>
                  <a:lnTo>
                    <a:pt x="118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8" name="Freeform 26">
              <a:extLst>
                <a:ext uri="{FF2B5EF4-FFF2-40B4-BE49-F238E27FC236}">
                  <a16:creationId xmlns:a16="http://schemas.microsoft.com/office/drawing/2014/main" id="{499B28EF-F5E6-4818-3D28-736E6C89FEDF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825" y="5380434"/>
              <a:ext cx="60325" cy="74613"/>
            </a:xfrm>
            <a:custGeom>
              <a:avLst/>
              <a:gdLst>
                <a:gd name="T0" fmla="*/ 2147483646 w 38"/>
                <a:gd name="T1" fmla="*/ 2147483646 h 47"/>
                <a:gd name="T2" fmla="*/ 0 w 38"/>
                <a:gd name="T3" fmla="*/ 2147483646 h 47"/>
                <a:gd name="T4" fmla="*/ 2147483646 w 38"/>
                <a:gd name="T5" fmla="*/ 0 h 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" h="47">
                  <a:moveTo>
                    <a:pt x="37" y="14"/>
                  </a:moveTo>
                  <a:lnTo>
                    <a:pt x="0" y="46"/>
                  </a:lnTo>
                  <a:lnTo>
                    <a:pt x="16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9" name="Freeform 27">
              <a:extLst>
                <a:ext uri="{FF2B5EF4-FFF2-40B4-BE49-F238E27FC236}">
                  <a16:creationId xmlns:a16="http://schemas.microsoft.com/office/drawing/2014/main" id="{E2715962-9F63-6199-38C8-C5CD63BEAE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8288" y="5175647"/>
              <a:ext cx="1587" cy="279400"/>
            </a:xfrm>
            <a:custGeom>
              <a:avLst/>
              <a:gdLst>
                <a:gd name="T0" fmla="*/ 0 w 1"/>
                <a:gd name="T1" fmla="*/ 0 h 176"/>
                <a:gd name="T2" fmla="*/ 0 w 1"/>
                <a:gd name="T3" fmla="*/ 2147483646 h 176"/>
                <a:gd name="T4" fmla="*/ 0 w 1"/>
                <a:gd name="T5" fmla="*/ 0 h 17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76">
                  <a:moveTo>
                    <a:pt x="0" y="0"/>
                  </a:moveTo>
                  <a:lnTo>
                    <a:pt x="0" y="175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0" name="Freeform 28">
              <a:extLst>
                <a:ext uri="{FF2B5EF4-FFF2-40B4-BE49-F238E27FC236}">
                  <a16:creationId xmlns:a16="http://schemas.microsoft.com/office/drawing/2014/main" id="{B62470F0-1FBC-7CAC-FC17-CC3B8EE3C9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0825" y="5378847"/>
              <a:ext cx="38100" cy="76200"/>
            </a:xfrm>
            <a:custGeom>
              <a:avLst/>
              <a:gdLst>
                <a:gd name="T0" fmla="*/ 2147483646 w 24"/>
                <a:gd name="T1" fmla="*/ 0 h 48"/>
                <a:gd name="T2" fmla="*/ 2147483646 w 24"/>
                <a:gd name="T3" fmla="*/ 2147483646 h 48"/>
                <a:gd name="T4" fmla="*/ 0 w 24"/>
                <a:gd name="T5" fmla="*/ 0 h 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48">
                  <a:moveTo>
                    <a:pt x="23" y="0"/>
                  </a:moveTo>
                  <a:lnTo>
                    <a:pt x="11" y="47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1" name="Freeform 29">
              <a:extLst>
                <a:ext uri="{FF2B5EF4-FFF2-40B4-BE49-F238E27FC236}">
                  <a16:creationId xmlns:a16="http://schemas.microsoft.com/office/drawing/2014/main" id="{5A04E008-D5EF-C20B-9D0E-D0A06F5B51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5400" y="5453459"/>
              <a:ext cx="466725" cy="323850"/>
            </a:xfrm>
            <a:custGeom>
              <a:avLst/>
              <a:gdLst>
                <a:gd name="T0" fmla="*/ 0 w 294"/>
                <a:gd name="T1" fmla="*/ 0 h 204"/>
                <a:gd name="T2" fmla="*/ 2147483646 w 294"/>
                <a:gd name="T3" fmla="*/ 0 h 204"/>
                <a:gd name="T4" fmla="*/ 2147483646 w 294"/>
                <a:gd name="T5" fmla="*/ 2147483646 h 204"/>
                <a:gd name="T6" fmla="*/ 0 w 294"/>
                <a:gd name="T7" fmla="*/ 2147483646 h 204"/>
                <a:gd name="T8" fmla="*/ 0 w 294"/>
                <a:gd name="T9" fmla="*/ 0 h 2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4" h="204">
                  <a:moveTo>
                    <a:pt x="0" y="0"/>
                  </a:moveTo>
                  <a:lnTo>
                    <a:pt x="293" y="0"/>
                  </a:lnTo>
                  <a:lnTo>
                    <a:pt x="293" y="203"/>
                  </a:lnTo>
                  <a:lnTo>
                    <a:pt x="0" y="203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2" name="Freeform 30">
              <a:extLst>
                <a:ext uri="{FF2B5EF4-FFF2-40B4-BE49-F238E27FC236}">
                  <a16:creationId xmlns:a16="http://schemas.microsoft.com/office/drawing/2014/main" id="{EB663F2A-978E-27F5-B1A9-3FDFD34236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3625" y="5572522"/>
              <a:ext cx="74613" cy="38100"/>
            </a:xfrm>
            <a:custGeom>
              <a:avLst/>
              <a:gdLst>
                <a:gd name="T0" fmla="*/ 2147483646 w 47"/>
                <a:gd name="T1" fmla="*/ 2147483646 h 24"/>
                <a:gd name="T2" fmla="*/ 0 w 47"/>
                <a:gd name="T3" fmla="*/ 2147483646 h 24"/>
                <a:gd name="T4" fmla="*/ 2147483646 w 47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7" h="24">
                  <a:moveTo>
                    <a:pt x="46" y="23"/>
                  </a:moveTo>
                  <a:lnTo>
                    <a:pt x="0" y="12"/>
                  </a:lnTo>
                  <a:lnTo>
                    <a:pt x="46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3" name="Freeform 31">
              <a:extLst>
                <a:ext uri="{FF2B5EF4-FFF2-40B4-BE49-F238E27FC236}">
                  <a16:creationId xmlns:a16="http://schemas.microsoft.com/office/drawing/2014/main" id="{C69E7751-6894-33AA-FD33-4D54252800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3625" y="5591572"/>
              <a:ext cx="233363" cy="1587"/>
            </a:xfrm>
            <a:custGeom>
              <a:avLst/>
              <a:gdLst>
                <a:gd name="T0" fmla="*/ 0 w 147"/>
                <a:gd name="T1" fmla="*/ 0 h 1"/>
                <a:gd name="T2" fmla="*/ 2147483646 w 147"/>
                <a:gd name="T3" fmla="*/ 0 h 1"/>
                <a:gd name="T4" fmla="*/ 0 w 147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7" h="1">
                  <a:moveTo>
                    <a:pt x="0" y="0"/>
                  </a:moveTo>
                  <a:lnTo>
                    <a:pt x="146" y="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4" name="Freeform 32">
              <a:extLst>
                <a:ext uri="{FF2B5EF4-FFF2-40B4-BE49-F238E27FC236}">
                  <a16:creationId xmlns:a16="http://schemas.microsoft.com/office/drawing/2014/main" id="{C7A229F2-8FE6-29C7-0344-52AA50696CE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0788" y="5572522"/>
              <a:ext cx="76200" cy="38100"/>
            </a:xfrm>
            <a:custGeom>
              <a:avLst/>
              <a:gdLst>
                <a:gd name="T0" fmla="*/ 0 w 48"/>
                <a:gd name="T1" fmla="*/ 0 h 24"/>
                <a:gd name="T2" fmla="*/ 2147483646 w 48"/>
                <a:gd name="T3" fmla="*/ 2147483646 h 24"/>
                <a:gd name="T4" fmla="*/ 0 w 48"/>
                <a:gd name="T5" fmla="*/ 2147483646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" h="24">
                  <a:moveTo>
                    <a:pt x="0" y="0"/>
                  </a:moveTo>
                  <a:lnTo>
                    <a:pt x="47" y="12"/>
                  </a:lnTo>
                  <a:lnTo>
                    <a:pt x="0" y="23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5" name="Freeform 33">
              <a:extLst>
                <a:ext uri="{FF2B5EF4-FFF2-40B4-BE49-F238E27FC236}">
                  <a16:creationId xmlns:a16="http://schemas.microsoft.com/office/drawing/2014/main" id="{2CB43B17-057E-042A-16EC-C60FF22632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1438" y="5175647"/>
              <a:ext cx="188912" cy="279400"/>
            </a:xfrm>
            <a:custGeom>
              <a:avLst/>
              <a:gdLst>
                <a:gd name="T0" fmla="*/ 0 w 119"/>
                <a:gd name="T1" fmla="*/ 0 h 176"/>
                <a:gd name="T2" fmla="*/ 2147483646 w 119"/>
                <a:gd name="T3" fmla="*/ 2147483646 h 176"/>
                <a:gd name="T4" fmla="*/ 0 w 119"/>
                <a:gd name="T5" fmla="*/ 0 h 17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9" h="176">
                  <a:moveTo>
                    <a:pt x="0" y="0"/>
                  </a:moveTo>
                  <a:lnTo>
                    <a:pt x="118" y="175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6" name="Freeform 34">
              <a:extLst>
                <a:ext uri="{FF2B5EF4-FFF2-40B4-BE49-F238E27FC236}">
                  <a16:creationId xmlns:a16="http://schemas.microsoft.com/office/drawing/2014/main" id="{37650AD7-B71D-5E21-5580-14450C8F98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613" y="5380434"/>
              <a:ext cx="58737" cy="74613"/>
            </a:xfrm>
            <a:custGeom>
              <a:avLst/>
              <a:gdLst>
                <a:gd name="T0" fmla="*/ 2147483646 w 37"/>
                <a:gd name="T1" fmla="*/ 0 h 47"/>
                <a:gd name="T2" fmla="*/ 2147483646 w 37"/>
                <a:gd name="T3" fmla="*/ 2147483646 h 47"/>
                <a:gd name="T4" fmla="*/ 0 w 37"/>
                <a:gd name="T5" fmla="*/ 2147483646 h 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" h="47">
                  <a:moveTo>
                    <a:pt x="20" y="0"/>
                  </a:moveTo>
                  <a:lnTo>
                    <a:pt x="36" y="46"/>
                  </a:lnTo>
                  <a:lnTo>
                    <a:pt x="0" y="14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7" name="Freeform 35">
              <a:extLst>
                <a:ext uri="{FF2B5EF4-FFF2-40B4-BE49-F238E27FC236}">
                  <a16:creationId xmlns:a16="http://schemas.microsoft.com/office/drawing/2014/main" id="{2CAA68D0-EC50-B8A1-9B49-6FF2A69BC4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363" y="5775722"/>
              <a:ext cx="374650" cy="509587"/>
            </a:xfrm>
            <a:custGeom>
              <a:avLst/>
              <a:gdLst>
                <a:gd name="T0" fmla="*/ 2147483646 w 236"/>
                <a:gd name="T1" fmla="*/ 0 h 321"/>
                <a:gd name="T2" fmla="*/ 0 w 236"/>
                <a:gd name="T3" fmla="*/ 2147483646 h 321"/>
                <a:gd name="T4" fmla="*/ 2147483646 w 236"/>
                <a:gd name="T5" fmla="*/ 0 h 3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6" h="321">
                  <a:moveTo>
                    <a:pt x="235" y="0"/>
                  </a:moveTo>
                  <a:lnTo>
                    <a:pt x="0" y="320"/>
                  </a:lnTo>
                  <a:lnTo>
                    <a:pt x="235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8" name="Freeform 36">
              <a:extLst>
                <a:ext uri="{FF2B5EF4-FFF2-40B4-BE49-F238E27FC236}">
                  <a16:creationId xmlns:a16="http://schemas.microsoft.com/office/drawing/2014/main" id="{D2FC0CF5-AA27-B359-D559-27D5FD4E32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363" y="6213872"/>
              <a:ext cx="60325" cy="71437"/>
            </a:xfrm>
            <a:custGeom>
              <a:avLst/>
              <a:gdLst>
                <a:gd name="T0" fmla="*/ 2147483646 w 38"/>
                <a:gd name="T1" fmla="*/ 2147483646 h 45"/>
                <a:gd name="T2" fmla="*/ 0 w 38"/>
                <a:gd name="T3" fmla="*/ 2147483646 h 45"/>
                <a:gd name="T4" fmla="*/ 2147483646 w 38"/>
                <a:gd name="T5" fmla="*/ 0 h 4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" h="45">
                  <a:moveTo>
                    <a:pt x="37" y="14"/>
                  </a:moveTo>
                  <a:lnTo>
                    <a:pt x="0" y="44"/>
                  </a:lnTo>
                  <a:lnTo>
                    <a:pt x="18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9" name="Freeform 37">
              <a:extLst>
                <a:ext uri="{FF2B5EF4-FFF2-40B4-BE49-F238E27FC236}">
                  <a16:creationId xmlns:a16="http://schemas.microsoft.com/office/drawing/2014/main" id="{14CEFD1B-27FC-3E10-6BEA-F427DE35079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650" y="5775722"/>
              <a:ext cx="280988" cy="509587"/>
            </a:xfrm>
            <a:custGeom>
              <a:avLst/>
              <a:gdLst>
                <a:gd name="T0" fmla="*/ 2147483646 w 177"/>
                <a:gd name="T1" fmla="*/ 0 h 321"/>
                <a:gd name="T2" fmla="*/ 0 w 177"/>
                <a:gd name="T3" fmla="*/ 2147483646 h 321"/>
                <a:gd name="T4" fmla="*/ 2147483646 w 177"/>
                <a:gd name="T5" fmla="*/ 0 h 3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7" h="321">
                  <a:moveTo>
                    <a:pt x="176" y="0"/>
                  </a:moveTo>
                  <a:lnTo>
                    <a:pt x="0" y="320"/>
                  </a:lnTo>
                  <a:lnTo>
                    <a:pt x="176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0" name="Freeform 38">
              <a:extLst>
                <a:ext uri="{FF2B5EF4-FFF2-40B4-BE49-F238E27FC236}">
                  <a16:creationId xmlns:a16="http://schemas.microsoft.com/office/drawing/2014/main" id="{2473AC6E-F426-1F60-B22D-496CDF52B4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650" y="6210697"/>
              <a:ext cx="52388" cy="74612"/>
            </a:xfrm>
            <a:custGeom>
              <a:avLst/>
              <a:gdLst>
                <a:gd name="T0" fmla="*/ 2147483646 w 33"/>
                <a:gd name="T1" fmla="*/ 2147483646 h 47"/>
                <a:gd name="T2" fmla="*/ 0 w 33"/>
                <a:gd name="T3" fmla="*/ 2147483646 h 47"/>
                <a:gd name="T4" fmla="*/ 2147483646 w 33"/>
                <a:gd name="T5" fmla="*/ 0 h 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" h="47">
                  <a:moveTo>
                    <a:pt x="32" y="10"/>
                  </a:moveTo>
                  <a:lnTo>
                    <a:pt x="0" y="46"/>
                  </a:lnTo>
                  <a:lnTo>
                    <a:pt x="12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1" name="Freeform 39">
              <a:extLst>
                <a:ext uri="{FF2B5EF4-FFF2-40B4-BE49-F238E27FC236}">
                  <a16:creationId xmlns:a16="http://schemas.microsoft.com/office/drawing/2014/main" id="{C5E7F172-802F-78FC-630C-EC2563CB7B3F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763" y="5775722"/>
              <a:ext cx="188912" cy="509587"/>
            </a:xfrm>
            <a:custGeom>
              <a:avLst/>
              <a:gdLst>
                <a:gd name="T0" fmla="*/ 2147483646 w 119"/>
                <a:gd name="T1" fmla="*/ 0 h 321"/>
                <a:gd name="T2" fmla="*/ 0 w 119"/>
                <a:gd name="T3" fmla="*/ 2147483646 h 321"/>
                <a:gd name="T4" fmla="*/ 2147483646 w 119"/>
                <a:gd name="T5" fmla="*/ 0 h 3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9" h="321">
                  <a:moveTo>
                    <a:pt x="118" y="0"/>
                  </a:moveTo>
                  <a:lnTo>
                    <a:pt x="0" y="320"/>
                  </a:lnTo>
                  <a:lnTo>
                    <a:pt x="118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2" name="Freeform 40">
              <a:extLst>
                <a:ext uri="{FF2B5EF4-FFF2-40B4-BE49-F238E27FC236}">
                  <a16:creationId xmlns:a16="http://schemas.microsoft.com/office/drawing/2014/main" id="{C7CF8867-834D-9A61-C15B-3D2E7C4AB933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763" y="6209109"/>
              <a:ext cx="46037" cy="76200"/>
            </a:xfrm>
            <a:custGeom>
              <a:avLst/>
              <a:gdLst>
                <a:gd name="T0" fmla="*/ 2147483646 w 29"/>
                <a:gd name="T1" fmla="*/ 2147483646 h 48"/>
                <a:gd name="T2" fmla="*/ 0 w 29"/>
                <a:gd name="T3" fmla="*/ 2147483646 h 48"/>
                <a:gd name="T4" fmla="*/ 2147483646 w 29"/>
                <a:gd name="T5" fmla="*/ 0 h 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48">
                  <a:moveTo>
                    <a:pt x="28" y="7"/>
                  </a:moveTo>
                  <a:lnTo>
                    <a:pt x="0" y="47"/>
                  </a:lnTo>
                  <a:lnTo>
                    <a:pt x="5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3" name="Freeform 41">
              <a:extLst>
                <a:ext uri="{FF2B5EF4-FFF2-40B4-BE49-F238E27FC236}">
                  <a16:creationId xmlns:a16="http://schemas.microsoft.com/office/drawing/2014/main" id="{A78604C1-B224-CDC0-C358-6AB61DEF52B1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713" y="5775722"/>
              <a:ext cx="47625" cy="509587"/>
            </a:xfrm>
            <a:custGeom>
              <a:avLst/>
              <a:gdLst>
                <a:gd name="T0" fmla="*/ 0 w 30"/>
                <a:gd name="T1" fmla="*/ 0 h 321"/>
                <a:gd name="T2" fmla="*/ 2147483646 w 30"/>
                <a:gd name="T3" fmla="*/ 2147483646 h 321"/>
                <a:gd name="T4" fmla="*/ 0 w 30"/>
                <a:gd name="T5" fmla="*/ 0 h 3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" h="321">
                  <a:moveTo>
                    <a:pt x="0" y="0"/>
                  </a:moveTo>
                  <a:lnTo>
                    <a:pt x="29" y="32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4" name="Freeform 42">
              <a:extLst>
                <a:ext uri="{FF2B5EF4-FFF2-40B4-BE49-F238E27FC236}">
                  <a16:creationId xmlns:a16="http://schemas.microsoft.com/office/drawing/2014/main" id="{87DE4D6C-44C8-F814-91C3-F186B95C777F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350" y="6209109"/>
              <a:ext cx="38100" cy="76200"/>
            </a:xfrm>
            <a:custGeom>
              <a:avLst/>
              <a:gdLst>
                <a:gd name="T0" fmla="*/ 2147483646 w 24"/>
                <a:gd name="T1" fmla="*/ 0 h 48"/>
                <a:gd name="T2" fmla="*/ 2147483646 w 24"/>
                <a:gd name="T3" fmla="*/ 2147483646 h 48"/>
                <a:gd name="T4" fmla="*/ 0 w 24"/>
                <a:gd name="T5" fmla="*/ 2147483646 h 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48">
                  <a:moveTo>
                    <a:pt x="23" y="0"/>
                  </a:moveTo>
                  <a:lnTo>
                    <a:pt x="16" y="47"/>
                  </a:lnTo>
                  <a:lnTo>
                    <a:pt x="0" y="2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5" name="Freeform 43">
              <a:extLst>
                <a:ext uri="{FF2B5EF4-FFF2-40B4-BE49-F238E27FC236}">
                  <a16:creationId xmlns:a16="http://schemas.microsoft.com/office/drawing/2014/main" id="{1143DFA1-5C3F-BD88-3F7D-D535EBFD1C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4138" y="5775722"/>
              <a:ext cx="1587" cy="509587"/>
            </a:xfrm>
            <a:custGeom>
              <a:avLst/>
              <a:gdLst>
                <a:gd name="T0" fmla="*/ 0 w 1"/>
                <a:gd name="T1" fmla="*/ 0 h 321"/>
                <a:gd name="T2" fmla="*/ 0 w 1"/>
                <a:gd name="T3" fmla="*/ 2147483646 h 321"/>
                <a:gd name="T4" fmla="*/ 0 w 1"/>
                <a:gd name="T5" fmla="*/ 0 h 3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321">
                  <a:moveTo>
                    <a:pt x="0" y="0"/>
                  </a:moveTo>
                  <a:lnTo>
                    <a:pt x="0" y="32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6" name="Freeform 44">
              <a:extLst>
                <a:ext uri="{FF2B5EF4-FFF2-40B4-BE49-F238E27FC236}">
                  <a16:creationId xmlns:a16="http://schemas.microsoft.com/office/drawing/2014/main" id="{B045E2B7-DF39-3D06-A2FE-1C337A4EB1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5088" y="6210697"/>
              <a:ext cx="38100" cy="74612"/>
            </a:xfrm>
            <a:custGeom>
              <a:avLst/>
              <a:gdLst>
                <a:gd name="T0" fmla="*/ 2147483646 w 24"/>
                <a:gd name="T1" fmla="*/ 0 h 47"/>
                <a:gd name="T2" fmla="*/ 2147483646 w 24"/>
                <a:gd name="T3" fmla="*/ 2147483646 h 47"/>
                <a:gd name="T4" fmla="*/ 0 w 24"/>
                <a:gd name="T5" fmla="*/ 0 h 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47">
                  <a:moveTo>
                    <a:pt x="23" y="0"/>
                  </a:moveTo>
                  <a:lnTo>
                    <a:pt x="12" y="46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7" name="Freeform 45">
              <a:extLst>
                <a:ext uri="{FF2B5EF4-FFF2-40B4-BE49-F238E27FC236}">
                  <a16:creationId xmlns:a16="http://schemas.microsoft.com/office/drawing/2014/main" id="{109467E9-5495-9EB9-EB63-5637C1B341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8588" y="5775722"/>
              <a:ext cx="49212" cy="509587"/>
            </a:xfrm>
            <a:custGeom>
              <a:avLst/>
              <a:gdLst>
                <a:gd name="T0" fmla="*/ 0 w 31"/>
                <a:gd name="T1" fmla="*/ 0 h 321"/>
                <a:gd name="T2" fmla="*/ 2147483646 w 31"/>
                <a:gd name="T3" fmla="*/ 2147483646 h 321"/>
                <a:gd name="T4" fmla="*/ 0 w 31"/>
                <a:gd name="T5" fmla="*/ 0 h 3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321">
                  <a:moveTo>
                    <a:pt x="0" y="0"/>
                  </a:moveTo>
                  <a:lnTo>
                    <a:pt x="30" y="32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8" name="Freeform 46">
              <a:extLst>
                <a:ext uri="{FF2B5EF4-FFF2-40B4-BE49-F238E27FC236}">
                  <a16:creationId xmlns:a16="http://schemas.microsoft.com/office/drawing/2014/main" id="{0355B047-D564-A1C4-71BA-4827B40ABC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0813" y="6209109"/>
              <a:ext cx="39687" cy="76200"/>
            </a:xfrm>
            <a:custGeom>
              <a:avLst/>
              <a:gdLst>
                <a:gd name="T0" fmla="*/ 2147483646 w 25"/>
                <a:gd name="T1" fmla="*/ 0 h 48"/>
                <a:gd name="T2" fmla="*/ 2147483646 w 25"/>
                <a:gd name="T3" fmla="*/ 2147483646 h 48"/>
                <a:gd name="T4" fmla="*/ 0 w 25"/>
                <a:gd name="T5" fmla="*/ 2147483646 h 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48">
                  <a:moveTo>
                    <a:pt x="24" y="0"/>
                  </a:moveTo>
                  <a:lnTo>
                    <a:pt x="16" y="47"/>
                  </a:lnTo>
                  <a:lnTo>
                    <a:pt x="0" y="2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9" name="Freeform 47">
              <a:extLst>
                <a:ext uri="{FF2B5EF4-FFF2-40B4-BE49-F238E27FC236}">
                  <a16:creationId xmlns:a16="http://schemas.microsoft.com/office/drawing/2014/main" id="{3E4B2F23-667D-0D33-D7A0-F6F2BA4FA1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6213" y="5775722"/>
              <a:ext cx="93662" cy="509587"/>
            </a:xfrm>
            <a:custGeom>
              <a:avLst/>
              <a:gdLst>
                <a:gd name="T0" fmla="*/ 0 w 59"/>
                <a:gd name="T1" fmla="*/ 0 h 321"/>
                <a:gd name="T2" fmla="*/ 2147483646 w 59"/>
                <a:gd name="T3" fmla="*/ 2147483646 h 321"/>
                <a:gd name="T4" fmla="*/ 0 w 59"/>
                <a:gd name="T5" fmla="*/ 0 h 3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9" h="321">
                  <a:moveTo>
                    <a:pt x="0" y="0"/>
                  </a:moveTo>
                  <a:lnTo>
                    <a:pt x="58" y="32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60" name="Freeform 48">
              <a:extLst>
                <a:ext uri="{FF2B5EF4-FFF2-40B4-BE49-F238E27FC236}">
                  <a16:creationId xmlns:a16="http://schemas.microsoft.com/office/drawing/2014/main" id="{F3009460-BD43-0E1B-87CF-C220D36A49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8125" y="6207522"/>
              <a:ext cx="38100" cy="77787"/>
            </a:xfrm>
            <a:custGeom>
              <a:avLst/>
              <a:gdLst>
                <a:gd name="T0" fmla="*/ 2147483646 w 24"/>
                <a:gd name="T1" fmla="*/ 0 h 49"/>
                <a:gd name="T2" fmla="*/ 2147483646 w 24"/>
                <a:gd name="T3" fmla="*/ 2147483646 h 49"/>
                <a:gd name="T4" fmla="*/ 0 w 24"/>
                <a:gd name="T5" fmla="*/ 2147483646 h 4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49">
                  <a:moveTo>
                    <a:pt x="23" y="0"/>
                  </a:moveTo>
                  <a:lnTo>
                    <a:pt x="19" y="48"/>
                  </a:lnTo>
                  <a:lnTo>
                    <a:pt x="0" y="5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61" name="Freeform 49">
              <a:extLst>
                <a:ext uri="{FF2B5EF4-FFF2-40B4-BE49-F238E27FC236}">
                  <a16:creationId xmlns:a16="http://schemas.microsoft.com/office/drawing/2014/main" id="{3938BCE7-BDF9-960C-7C53-7316F4F669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2250" y="5775722"/>
              <a:ext cx="141288" cy="509587"/>
            </a:xfrm>
            <a:custGeom>
              <a:avLst/>
              <a:gdLst>
                <a:gd name="T0" fmla="*/ 0 w 89"/>
                <a:gd name="T1" fmla="*/ 0 h 321"/>
                <a:gd name="T2" fmla="*/ 2147483646 w 89"/>
                <a:gd name="T3" fmla="*/ 2147483646 h 321"/>
                <a:gd name="T4" fmla="*/ 0 w 89"/>
                <a:gd name="T5" fmla="*/ 0 h 3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9" h="321">
                  <a:moveTo>
                    <a:pt x="0" y="0"/>
                  </a:moveTo>
                  <a:lnTo>
                    <a:pt x="88" y="32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62" name="Freeform 50">
              <a:extLst>
                <a:ext uri="{FF2B5EF4-FFF2-40B4-BE49-F238E27FC236}">
                  <a16:creationId xmlns:a16="http://schemas.microsoft.com/office/drawing/2014/main" id="{D33A5F04-A7F3-6F80-DADC-BBFDE86D60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3850" y="6207522"/>
              <a:ext cx="39688" cy="77787"/>
            </a:xfrm>
            <a:custGeom>
              <a:avLst/>
              <a:gdLst>
                <a:gd name="T0" fmla="*/ 2147483646 w 25"/>
                <a:gd name="T1" fmla="*/ 0 h 49"/>
                <a:gd name="T2" fmla="*/ 2147483646 w 25"/>
                <a:gd name="T3" fmla="*/ 2147483646 h 49"/>
                <a:gd name="T4" fmla="*/ 0 w 25"/>
                <a:gd name="T5" fmla="*/ 2147483646 h 4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49">
                  <a:moveTo>
                    <a:pt x="23" y="0"/>
                  </a:moveTo>
                  <a:lnTo>
                    <a:pt x="24" y="48"/>
                  </a:lnTo>
                  <a:lnTo>
                    <a:pt x="0" y="6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63" name="Freeform 51">
              <a:extLst>
                <a:ext uri="{FF2B5EF4-FFF2-40B4-BE49-F238E27FC236}">
                  <a16:creationId xmlns:a16="http://schemas.microsoft.com/office/drawing/2014/main" id="{1BFF415D-0542-C97F-2AC2-794FC1651D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1438" y="5775722"/>
              <a:ext cx="468312" cy="509587"/>
            </a:xfrm>
            <a:custGeom>
              <a:avLst/>
              <a:gdLst>
                <a:gd name="T0" fmla="*/ 0 w 295"/>
                <a:gd name="T1" fmla="*/ 0 h 321"/>
                <a:gd name="T2" fmla="*/ 2147483646 w 295"/>
                <a:gd name="T3" fmla="*/ 2147483646 h 321"/>
                <a:gd name="T4" fmla="*/ 0 w 295"/>
                <a:gd name="T5" fmla="*/ 0 h 3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5" h="321">
                  <a:moveTo>
                    <a:pt x="0" y="0"/>
                  </a:moveTo>
                  <a:lnTo>
                    <a:pt x="294" y="32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64" name="Freeform 52">
              <a:extLst>
                <a:ext uri="{FF2B5EF4-FFF2-40B4-BE49-F238E27FC236}">
                  <a16:creationId xmlns:a16="http://schemas.microsoft.com/office/drawing/2014/main" id="{495DA06A-DA55-09B3-C878-F23E16D77E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3075" y="6217047"/>
              <a:ext cx="66675" cy="68262"/>
            </a:xfrm>
            <a:custGeom>
              <a:avLst/>
              <a:gdLst>
                <a:gd name="T0" fmla="*/ 2147483646 w 42"/>
                <a:gd name="T1" fmla="*/ 0 h 43"/>
                <a:gd name="T2" fmla="*/ 2147483646 w 42"/>
                <a:gd name="T3" fmla="*/ 2147483646 h 43"/>
                <a:gd name="T4" fmla="*/ 0 w 42"/>
                <a:gd name="T5" fmla="*/ 2147483646 h 4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" h="43">
                  <a:moveTo>
                    <a:pt x="17" y="0"/>
                  </a:moveTo>
                  <a:lnTo>
                    <a:pt x="41" y="42"/>
                  </a:lnTo>
                  <a:lnTo>
                    <a:pt x="0" y="16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65" name="Freeform 53">
              <a:extLst>
                <a:ext uri="{FF2B5EF4-FFF2-40B4-BE49-F238E27FC236}">
                  <a16:creationId xmlns:a16="http://schemas.microsoft.com/office/drawing/2014/main" id="{51847610-0DEC-B07D-7371-78E6D8940EC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5100" y="5775722"/>
              <a:ext cx="514350" cy="509587"/>
            </a:xfrm>
            <a:custGeom>
              <a:avLst/>
              <a:gdLst>
                <a:gd name="T0" fmla="*/ 0 w 324"/>
                <a:gd name="T1" fmla="*/ 0 h 321"/>
                <a:gd name="T2" fmla="*/ 2147483646 w 324"/>
                <a:gd name="T3" fmla="*/ 2147483646 h 321"/>
                <a:gd name="T4" fmla="*/ 0 w 324"/>
                <a:gd name="T5" fmla="*/ 0 h 3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4" h="321">
                  <a:moveTo>
                    <a:pt x="0" y="0"/>
                  </a:moveTo>
                  <a:lnTo>
                    <a:pt x="323" y="32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66" name="Freeform 54">
              <a:extLst>
                <a:ext uri="{FF2B5EF4-FFF2-40B4-BE49-F238E27FC236}">
                  <a16:creationId xmlns:a16="http://schemas.microsoft.com/office/drawing/2014/main" id="{EDC1F6E0-295D-CE86-FC4F-3621C0397E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1188" y="6218634"/>
              <a:ext cx="68262" cy="66675"/>
            </a:xfrm>
            <a:custGeom>
              <a:avLst/>
              <a:gdLst>
                <a:gd name="T0" fmla="*/ 2147483646 w 43"/>
                <a:gd name="T1" fmla="*/ 0 h 42"/>
                <a:gd name="T2" fmla="*/ 2147483646 w 43"/>
                <a:gd name="T3" fmla="*/ 2147483646 h 42"/>
                <a:gd name="T4" fmla="*/ 0 w 43"/>
                <a:gd name="T5" fmla="*/ 2147483646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" h="42">
                  <a:moveTo>
                    <a:pt x="17" y="0"/>
                  </a:moveTo>
                  <a:lnTo>
                    <a:pt x="42" y="41"/>
                  </a:lnTo>
                  <a:lnTo>
                    <a:pt x="0" y="16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67" name="Freeform 55">
              <a:extLst>
                <a:ext uri="{FF2B5EF4-FFF2-40B4-BE49-F238E27FC236}">
                  <a16:creationId xmlns:a16="http://schemas.microsoft.com/office/drawing/2014/main" id="{168F72C7-AF76-FA7C-2575-50E74E22C0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6388" y="5775722"/>
              <a:ext cx="558800" cy="509587"/>
            </a:xfrm>
            <a:custGeom>
              <a:avLst/>
              <a:gdLst>
                <a:gd name="T0" fmla="*/ 0 w 352"/>
                <a:gd name="T1" fmla="*/ 0 h 321"/>
                <a:gd name="T2" fmla="*/ 2147483646 w 352"/>
                <a:gd name="T3" fmla="*/ 2147483646 h 321"/>
                <a:gd name="T4" fmla="*/ 0 w 352"/>
                <a:gd name="T5" fmla="*/ 0 h 3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2" h="321">
                  <a:moveTo>
                    <a:pt x="0" y="0"/>
                  </a:moveTo>
                  <a:lnTo>
                    <a:pt x="351" y="32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68" name="Freeform 56">
              <a:extLst>
                <a:ext uri="{FF2B5EF4-FFF2-40B4-BE49-F238E27FC236}">
                  <a16:creationId xmlns:a16="http://schemas.microsoft.com/office/drawing/2014/main" id="{6371C986-A9AD-70E3-EDE5-3048DCB63A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6925" y="6220222"/>
              <a:ext cx="68263" cy="65087"/>
            </a:xfrm>
            <a:custGeom>
              <a:avLst/>
              <a:gdLst>
                <a:gd name="T0" fmla="*/ 2147483646 w 43"/>
                <a:gd name="T1" fmla="*/ 0 h 41"/>
                <a:gd name="T2" fmla="*/ 2147483646 w 43"/>
                <a:gd name="T3" fmla="*/ 2147483646 h 41"/>
                <a:gd name="T4" fmla="*/ 0 w 43"/>
                <a:gd name="T5" fmla="*/ 2147483646 h 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" h="41">
                  <a:moveTo>
                    <a:pt x="16" y="0"/>
                  </a:moveTo>
                  <a:lnTo>
                    <a:pt x="42" y="40"/>
                  </a:lnTo>
                  <a:lnTo>
                    <a:pt x="0" y="17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69" name="Freeform 57">
              <a:extLst>
                <a:ext uri="{FF2B5EF4-FFF2-40B4-BE49-F238E27FC236}">
                  <a16:creationId xmlns:a16="http://schemas.microsoft.com/office/drawing/2014/main" id="{3ED643EB-633F-0E30-8946-F5FFA6485B4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4500" y="5775722"/>
              <a:ext cx="608013" cy="509587"/>
            </a:xfrm>
            <a:custGeom>
              <a:avLst/>
              <a:gdLst>
                <a:gd name="T0" fmla="*/ 0 w 383"/>
                <a:gd name="T1" fmla="*/ 0 h 321"/>
                <a:gd name="T2" fmla="*/ 2147483646 w 383"/>
                <a:gd name="T3" fmla="*/ 2147483646 h 321"/>
                <a:gd name="T4" fmla="*/ 0 w 383"/>
                <a:gd name="T5" fmla="*/ 0 h 3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3" h="321">
                  <a:moveTo>
                    <a:pt x="0" y="0"/>
                  </a:moveTo>
                  <a:lnTo>
                    <a:pt x="382" y="32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70" name="Freeform 58">
              <a:extLst>
                <a:ext uri="{FF2B5EF4-FFF2-40B4-BE49-F238E27FC236}">
                  <a16:creationId xmlns:a16="http://schemas.microsoft.com/office/drawing/2014/main" id="{FD13692E-3147-8224-6287-D88EF0A65B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2663" y="6221809"/>
              <a:ext cx="69850" cy="63500"/>
            </a:xfrm>
            <a:custGeom>
              <a:avLst/>
              <a:gdLst>
                <a:gd name="T0" fmla="*/ 2147483646 w 44"/>
                <a:gd name="T1" fmla="*/ 0 h 40"/>
                <a:gd name="T2" fmla="*/ 2147483646 w 44"/>
                <a:gd name="T3" fmla="*/ 2147483646 h 40"/>
                <a:gd name="T4" fmla="*/ 0 w 44"/>
                <a:gd name="T5" fmla="*/ 2147483646 h 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40">
                  <a:moveTo>
                    <a:pt x="15" y="0"/>
                  </a:moveTo>
                  <a:lnTo>
                    <a:pt x="43" y="39"/>
                  </a:lnTo>
                  <a:lnTo>
                    <a:pt x="0" y="18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71" name="Rectangle 59">
              <a:extLst>
                <a:ext uri="{FF2B5EF4-FFF2-40B4-BE49-F238E27FC236}">
                  <a16:creationId xmlns:a16="http://schemas.microsoft.com/office/drawing/2014/main" id="{C79D5BC6-990C-FA8D-3C84-B23FFAF6C4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3413" y="4251722"/>
              <a:ext cx="1123950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b="1" i="0">
                  <a:latin typeface="Arial" panose="020B0604020202020204" pitchFamily="34" charset="0"/>
                </a:rPr>
                <a:t>Index entries</a:t>
              </a:r>
            </a:p>
          </p:txBody>
        </p:sp>
        <p:sp>
          <p:nvSpPr>
            <p:cNvPr id="13372" name="Rectangle 60">
              <a:extLst>
                <a:ext uri="{FF2B5EF4-FFF2-40B4-BE49-F238E27FC236}">
                  <a16:creationId xmlns:a16="http://schemas.microsoft.com/office/drawing/2014/main" id="{167E844A-48BC-B1E5-9D4B-E945057DFB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3413" y="5448697"/>
              <a:ext cx="1054100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b="1" i="0">
                  <a:latin typeface="Arial" panose="020B0604020202020204" pitchFamily="34" charset="0"/>
                </a:rPr>
                <a:t>Data entries</a:t>
              </a:r>
            </a:p>
          </p:txBody>
        </p:sp>
        <p:sp>
          <p:nvSpPr>
            <p:cNvPr id="13373" name="Rectangle 61">
              <a:extLst>
                <a:ext uri="{FF2B5EF4-FFF2-40B4-BE49-F238E27FC236}">
                  <a16:creationId xmlns:a16="http://schemas.microsoft.com/office/drawing/2014/main" id="{5CAD625A-9717-78EE-BB02-4E9F847661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3413" y="4404122"/>
              <a:ext cx="141922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b="1" i="0" dirty="0">
                  <a:latin typeface="Arial" panose="020B0604020202020204" pitchFamily="34" charset="0"/>
                </a:rPr>
                <a:t>direct search for </a:t>
              </a:r>
            </a:p>
          </p:txBody>
        </p:sp>
        <p:sp>
          <p:nvSpPr>
            <p:cNvPr id="13374" name="Freeform 62">
              <a:extLst>
                <a:ext uri="{FF2B5EF4-FFF2-40B4-BE49-F238E27FC236}">
                  <a16:creationId xmlns:a16="http://schemas.microsoft.com/office/drawing/2014/main" id="{FC6F3F34-8921-554D-F20D-87C0C64DDC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4238" y="4218384"/>
              <a:ext cx="169862" cy="1481138"/>
            </a:xfrm>
            <a:custGeom>
              <a:avLst/>
              <a:gdLst>
                <a:gd name="T0" fmla="*/ 0 w 107"/>
                <a:gd name="T1" fmla="*/ 0 h 933"/>
                <a:gd name="T2" fmla="*/ 2147483646 w 107"/>
                <a:gd name="T3" fmla="*/ 0 h 933"/>
                <a:gd name="T4" fmla="*/ 2147483646 w 107"/>
                <a:gd name="T5" fmla="*/ 2147483646 h 933"/>
                <a:gd name="T6" fmla="*/ 0 w 107"/>
                <a:gd name="T7" fmla="*/ 2147483646 h 933"/>
                <a:gd name="T8" fmla="*/ 0 w 107"/>
                <a:gd name="T9" fmla="*/ 0 h 9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7" h="933">
                  <a:moveTo>
                    <a:pt x="0" y="0"/>
                  </a:moveTo>
                  <a:lnTo>
                    <a:pt x="106" y="0"/>
                  </a:lnTo>
                  <a:lnTo>
                    <a:pt x="106" y="932"/>
                  </a:lnTo>
                  <a:lnTo>
                    <a:pt x="0" y="932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75" name="Freeform 63">
              <a:extLst>
                <a:ext uri="{FF2B5EF4-FFF2-40B4-BE49-F238E27FC236}">
                  <a16:creationId xmlns:a16="http://schemas.microsoft.com/office/drawing/2014/main" id="{742EC8E6-2B4F-E851-0CBB-8D80F5ED64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4238" y="6294834"/>
              <a:ext cx="169862" cy="557213"/>
            </a:xfrm>
            <a:custGeom>
              <a:avLst/>
              <a:gdLst>
                <a:gd name="T0" fmla="*/ 0 w 107"/>
                <a:gd name="T1" fmla="*/ 0 h 351"/>
                <a:gd name="T2" fmla="*/ 2147483646 w 107"/>
                <a:gd name="T3" fmla="*/ 0 h 351"/>
                <a:gd name="T4" fmla="*/ 2147483646 w 107"/>
                <a:gd name="T5" fmla="*/ 2147483646 h 351"/>
                <a:gd name="T6" fmla="*/ 0 w 107"/>
                <a:gd name="T7" fmla="*/ 2147483646 h 351"/>
                <a:gd name="T8" fmla="*/ 0 w 107"/>
                <a:gd name="T9" fmla="*/ 0 h 3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7" h="351">
                  <a:moveTo>
                    <a:pt x="0" y="0"/>
                  </a:moveTo>
                  <a:lnTo>
                    <a:pt x="106" y="0"/>
                  </a:lnTo>
                  <a:lnTo>
                    <a:pt x="106" y="350"/>
                  </a:lnTo>
                  <a:lnTo>
                    <a:pt x="0" y="35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76" name="Rectangle 64">
              <a:extLst>
                <a:ext uri="{FF2B5EF4-FFF2-40B4-BE49-F238E27FC236}">
                  <a16:creationId xmlns:a16="http://schemas.microsoft.com/office/drawing/2014/main" id="{0D42D9EF-0345-525D-B60D-172254033C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7363" y="5686821"/>
              <a:ext cx="1000125" cy="2841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b="1" i="0">
                  <a:solidFill>
                    <a:srgbClr val="0000FF"/>
                  </a:solidFill>
                  <a:latin typeface="Arial" panose="020B0604020202020204" pitchFamily="34" charset="0"/>
                </a:rPr>
                <a:t>(Index File)</a:t>
              </a:r>
            </a:p>
          </p:txBody>
        </p:sp>
        <p:sp>
          <p:nvSpPr>
            <p:cNvPr id="13377" name="Rectangle 65">
              <a:extLst>
                <a:ext uri="{FF2B5EF4-FFF2-40B4-BE49-F238E27FC236}">
                  <a16:creationId xmlns:a16="http://schemas.microsoft.com/office/drawing/2014/main" id="{C770DD91-98EF-A590-2FA0-05E9131296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5150" y="5972572"/>
              <a:ext cx="887413" cy="28416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b="1" i="0">
                  <a:solidFill>
                    <a:srgbClr val="0000FF"/>
                  </a:solidFill>
                  <a:latin typeface="Arial" panose="020B0604020202020204" pitchFamily="34" charset="0"/>
                </a:rPr>
                <a:t>(Data file)</a:t>
              </a:r>
            </a:p>
          </p:txBody>
        </p:sp>
        <p:sp>
          <p:nvSpPr>
            <p:cNvPr id="13378" name="Rectangle 66">
              <a:extLst>
                <a:ext uri="{FF2B5EF4-FFF2-40B4-BE49-F238E27FC236}">
                  <a16:creationId xmlns:a16="http://schemas.microsoft.com/office/drawing/2014/main" id="{4369DF42-B7DE-2E4A-6EF8-BDB16789CE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550" y="6610747"/>
              <a:ext cx="1163638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b="1" i="0">
                  <a:latin typeface="Arial" panose="020B0604020202020204" pitchFamily="34" charset="0"/>
                </a:rPr>
                <a:t>Data Records</a:t>
              </a:r>
            </a:p>
          </p:txBody>
        </p:sp>
        <p:sp>
          <p:nvSpPr>
            <p:cNvPr id="13379" name="Rectangle 67">
              <a:extLst>
                <a:ext uri="{FF2B5EF4-FFF2-40B4-BE49-F238E27FC236}">
                  <a16:creationId xmlns:a16="http://schemas.microsoft.com/office/drawing/2014/main" id="{EFE01435-074B-CE57-A9D0-15802B0B73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3413" y="4543822"/>
              <a:ext cx="103822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b="1" i="0">
                  <a:latin typeface="Arial" panose="020B0604020202020204" pitchFamily="34" charset="0"/>
                </a:rPr>
                <a:t>data entries</a:t>
              </a:r>
            </a:p>
          </p:txBody>
        </p:sp>
        <p:sp>
          <p:nvSpPr>
            <p:cNvPr id="13380" name="Freeform 68">
              <a:extLst>
                <a:ext uri="{FF2B5EF4-FFF2-40B4-BE49-F238E27FC236}">
                  <a16:creationId xmlns:a16="http://schemas.microsoft.com/office/drawing/2014/main" id="{6CD900C0-669A-284C-8025-2E10E0069973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3738" y="6296422"/>
              <a:ext cx="342900" cy="350837"/>
            </a:xfrm>
            <a:custGeom>
              <a:avLst/>
              <a:gdLst>
                <a:gd name="T0" fmla="*/ 0 w 216"/>
                <a:gd name="T1" fmla="*/ 2147483646 h 221"/>
                <a:gd name="T2" fmla="*/ 0 w 216"/>
                <a:gd name="T3" fmla="*/ 0 h 221"/>
                <a:gd name="T4" fmla="*/ 2147483646 w 216"/>
                <a:gd name="T5" fmla="*/ 0 h 221"/>
                <a:gd name="T6" fmla="*/ 2147483646 w 216"/>
                <a:gd name="T7" fmla="*/ 2147483646 h 221"/>
                <a:gd name="T8" fmla="*/ 0 w 216"/>
                <a:gd name="T9" fmla="*/ 2147483646 h 2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6" h="221">
                  <a:moveTo>
                    <a:pt x="0" y="220"/>
                  </a:moveTo>
                  <a:lnTo>
                    <a:pt x="0" y="0"/>
                  </a:lnTo>
                  <a:lnTo>
                    <a:pt x="215" y="0"/>
                  </a:lnTo>
                  <a:lnTo>
                    <a:pt x="215" y="220"/>
                  </a:lnTo>
                  <a:lnTo>
                    <a:pt x="0" y="22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81" name="Freeform 69">
              <a:extLst>
                <a:ext uri="{FF2B5EF4-FFF2-40B4-BE49-F238E27FC236}">
                  <a16:creationId xmlns:a16="http://schemas.microsoft.com/office/drawing/2014/main" id="{BEA99B92-30A0-FB01-473F-4B4EA5C00182}"/>
                </a:ext>
              </a:extLst>
            </p:cNvPr>
            <p:cNvSpPr>
              <a:spLocks/>
            </p:cNvSpPr>
            <p:nvPr/>
          </p:nvSpPr>
          <p:spPr bwMode="auto">
            <a:xfrm>
              <a:off x="6229350" y="6296422"/>
              <a:ext cx="344488" cy="350837"/>
            </a:xfrm>
            <a:custGeom>
              <a:avLst/>
              <a:gdLst>
                <a:gd name="T0" fmla="*/ 0 w 217"/>
                <a:gd name="T1" fmla="*/ 2147483646 h 221"/>
                <a:gd name="T2" fmla="*/ 0 w 217"/>
                <a:gd name="T3" fmla="*/ 0 h 221"/>
                <a:gd name="T4" fmla="*/ 2147483646 w 217"/>
                <a:gd name="T5" fmla="*/ 0 h 221"/>
                <a:gd name="T6" fmla="*/ 2147483646 w 217"/>
                <a:gd name="T7" fmla="*/ 2147483646 h 221"/>
                <a:gd name="T8" fmla="*/ 0 w 217"/>
                <a:gd name="T9" fmla="*/ 2147483646 h 2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7" h="221">
                  <a:moveTo>
                    <a:pt x="0" y="220"/>
                  </a:moveTo>
                  <a:lnTo>
                    <a:pt x="0" y="0"/>
                  </a:lnTo>
                  <a:lnTo>
                    <a:pt x="216" y="0"/>
                  </a:lnTo>
                  <a:lnTo>
                    <a:pt x="216" y="220"/>
                  </a:lnTo>
                  <a:lnTo>
                    <a:pt x="0" y="22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82" name="Freeform 70">
              <a:extLst>
                <a:ext uri="{FF2B5EF4-FFF2-40B4-BE49-F238E27FC236}">
                  <a16:creationId xmlns:a16="http://schemas.microsoft.com/office/drawing/2014/main" id="{87881D59-7661-1716-787C-872626002C9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88138" y="6296422"/>
              <a:ext cx="338137" cy="350837"/>
            </a:xfrm>
            <a:custGeom>
              <a:avLst/>
              <a:gdLst>
                <a:gd name="T0" fmla="*/ 0 w 213"/>
                <a:gd name="T1" fmla="*/ 2147483646 h 221"/>
                <a:gd name="T2" fmla="*/ 0 w 213"/>
                <a:gd name="T3" fmla="*/ 0 h 221"/>
                <a:gd name="T4" fmla="*/ 2147483646 w 213"/>
                <a:gd name="T5" fmla="*/ 0 h 221"/>
                <a:gd name="T6" fmla="*/ 2147483646 w 213"/>
                <a:gd name="T7" fmla="*/ 2147483646 h 221"/>
                <a:gd name="T8" fmla="*/ 0 w 213"/>
                <a:gd name="T9" fmla="*/ 2147483646 h 2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3" h="221">
                  <a:moveTo>
                    <a:pt x="0" y="220"/>
                  </a:moveTo>
                  <a:lnTo>
                    <a:pt x="0" y="0"/>
                  </a:lnTo>
                  <a:lnTo>
                    <a:pt x="212" y="0"/>
                  </a:lnTo>
                  <a:lnTo>
                    <a:pt x="212" y="220"/>
                  </a:lnTo>
                  <a:lnTo>
                    <a:pt x="0" y="22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83" name="Freeform 71">
              <a:extLst>
                <a:ext uri="{FF2B5EF4-FFF2-40B4-BE49-F238E27FC236}">
                  <a16:creationId xmlns:a16="http://schemas.microsoft.com/office/drawing/2014/main" id="{D82FE433-CB76-C4CC-2960-95A3A5C18880}"/>
                </a:ext>
              </a:extLst>
            </p:cNvPr>
            <p:cNvSpPr>
              <a:spLocks/>
            </p:cNvSpPr>
            <p:nvPr/>
          </p:nvSpPr>
          <p:spPr bwMode="auto">
            <a:xfrm>
              <a:off x="7143750" y="6296422"/>
              <a:ext cx="339725" cy="350837"/>
            </a:xfrm>
            <a:custGeom>
              <a:avLst/>
              <a:gdLst>
                <a:gd name="T0" fmla="*/ 0 w 214"/>
                <a:gd name="T1" fmla="*/ 2147483646 h 221"/>
                <a:gd name="T2" fmla="*/ 0 w 214"/>
                <a:gd name="T3" fmla="*/ 0 h 221"/>
                <a:gd name="T4" fmla="*/ 2147483646 w 214"/>
                <a:gd name="T5" fmla="*/ 0 h 221"/>
                <a:gd name="T6" fmla="*/ 2147483646 w 214"/>
                <a:gd name="T7" fmla="*/ 2147483646 h 221"/>
                <a:gd name="T8" fmla="*/ 0 w 214"/>
                <a:gd name="T9" fmla="*/ 2147483646 h 2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4" h="221">
                  <a:moveTo>
                    <a:pt x="0" y="220"/>
                  </a:moveTo>
                  <a:lnTo>
                    <a:pt x="0" y="0"/>
                  </a:lnTo>
                  <a:lnTo>
                    <a:pt x="213" y="0"/>
                  </a:lnTo>
                  <a:lnTo>
                    <a:pt x="213" y="220"/>
                  </a:lnTo>
                  <a:lnTo>
                    <a:pt x="0" y="22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84" name="Freeform 72">
              <a:extLst>
                <a:ext uri="{FF2B5EF4-FFF2-40B4-BE49-F238E27FC236}">
                  <a16:creationId xmlns:a16="http://schemas.microsoft.com/office/drawing/2014/main" id="{CFEAA72B-CE36-588E-7D09-C69B262B36C7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7775" y="6296422"/>
              <a:ext cx="346075" cy="350837"/>
            </a:xfrm>
            <a:custGeom>
              <a:avLst/>
              <a:gdLst>
                <a:gd name="T0" fmla="*/ 0 w 218"/>
                <a:gd name="T1" fmla="*/ 2147483646 h 221"/>
                <a:gd name="T2" fmla="*/ 0 w 218"/>
                <a:gd name="T3" fmla="*/ 0 h 221"/>
                <a:gd name="T4" fmla="*/ 2147483646 w 218"/>
                <a:gd name="T5" fmla="*/ 0 h 221"/>
                <a:gd name="T6" fmla="*/ 2147483646 w 218"/>
                <a:gd name="T7" fmla="*/ 2147483646 h 221"/>
                <a:gd name="T8" fmla="*/ 0 w 218"/>
                <a:gd name="T9" fmla="*/ 2147483646 h 2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8" h="221">
                  <a:moveTo>
                    <a:pt x="0" y="220"/>
                  </a:moveTo>
                  <a:lnTo>
                    <a:pt x="0" y="0"/>
                  </a:lnTo>
                  <a:lnTo>
                    <a:pt x="217" y="0"/>
                  </a:lnTo>
                  <a:lnTo>
                    <a:pt x="217" y="220"/>
                  </a:lnTo>
                  <a:lnTo>
                    <a:pt x="0" y="22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85" name="Freeform 73">
              <a:extLst>
                <a:ext uri="{FF2B5EF4-FFF2-40B4-BE49-F238E27FC236}">
                  <a16:creationId xmlns:a16="http://schemas.microsoft.com/office/drawing/2014/main" id="{97138AB5-9F6E-8D2B-2010-5C8A5973F6B2}"/>
                </a:ext>
              </a:extLst>
            </p:cNvPr>
            <p:cNvSpPr>
              <a:spLocks/>
            </p:cNvSpPr>
            <p:nvPr/>
          </p:nvSpPr>
          <p:spPr bwMode="auto">
            <a:xfrm>
              <a:off x="8053388" y="6296422"/>
              <a:ext cx="342900" cy="350837"/>
            </a:xfrm>
            <a:custGeom>
              <a:avLst/>
              <a:gdLst>
                <a:gd name="T0" fmla="*/ 0 w 216"/>
                <a:gd name="T1" fmla="*/ 2147483646 h 221"/>
                <a:gd name="T2" fmla="*/ 0 w 216"/>
                <a:gd name="T3" fmla="*/ 0 h 221"/>
                <a:gd name="T4" fmla="*/ 2147483646 w 216"/>
                <a:gd name="T5" fmla="*/ 0 h 221"/>
                <a:gd name="T6" fmla="*/ 2147483646 w 216"/>
                <a:gd name="T7" fmla="*/ 2147483646 h 221"/>
                <a:gd name="T8" fmla="*/ 0 w 216"/>
                <a:gd name="T9" fmla="*/ 2147483646 h 2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6" h="221">
                  <a:moveTo>
                    <a:pt x="0" y="220"/>
                  </a:moveTo>
                  <a:lnTo>
                    <a:pt x="0" y="0"/>
                  </a:lnTo>
                  <a:lnTo>
                    <a:pt x="215" y="0"/>
                  </a:lnTo>
                  <a:lnTo>
                    <a:pt x="215" y="220"/>
                  </a:lnTo>
                  <a:lnTo>
                    <a:pt x="0" y="22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86" name="Freeform 74">
              <a:extLst>
                <a:ext uri="{FF2B5EF4-FFF2-40B4-BE49-F238E27FC236}">
                  <a16:creationId xmlns:a16="http://schemas.microsoft.com/office/drawing/2014/main" id="{EBEB107B-F519-9966-B510-E4B44844A95A}"/>
                </a:ext>
              </a:extLst>
            </p:cNvPr>
            <p:cNvSpPr>
              <a:spLocks/>
            </p:cNvSpPr>
            <p:nvPr/>
          </p:nvSpPr>
          <p:spPr bwMode="auto">
            <a:xfrm>
              <a:off x="8510588" y="6296422"/>
              <a:ext cx="342900" cy="350837"/>
            </a:xfrm>
            <a:custGeom>
              <a:avLst/>
              <a:gdLst>
                <a:gd name="T0" fmla="*/ 0 w 216"/>
                <a:gd name="T1" fmla="*/ 2147483646 h 221"/>
                <a:gd name="T2" fmla="*/ 0 w 216"/>
                <a:gd name="T3" fmla="*/ 0 h 221"/>
                <a:gd name="T4" fmla="*/ 2147483646 w 216"/>
                <a:gd name="T5" fmla="*/ 0 h 221"/>
                <a:gd name="T6" fmla="*/ 2147483646 w 216"/>
                <a:gd name="T7" fmla="*/ 2147483646 h 221"/>
                <a:gd name="T8" fmla="*/ 0 w 216"/>
                <a:gd name="T9" fmla="*/ 2147483646 h 2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6" h="221">
                  <a:moveTo>
                    <a:pt x="0" y="220"/>
                  </a:moveTo>
                  <a:lnTo>
                    <a:pt x="0" y="0"/>
                  </a:lnTo>
                  <a:lnTo>
                    <a:pt x="215" y="0"/>
                  </a:lnTo>
                  <a:lnTo>
                    <a:pt x="215" y="220"/>
                  </a:lnTo>
                  <a:lnTo>
                    <a:pt x="0" y="22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87" name="Freeform 75">
              <a:extLst>
                <a:ext uri="{FF2B5EF4-FFF2-40B4-BE49-F238E27FC236}">
                  <a16:creationId xmlns:a16="http://schemas.microsoft.com/office/drawing/2014/main" id="{331F29F7-22CB-D338-795B-F832093C9B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429375" y="5128022"/>
              <a:ext cx="1490663" cy="1587"/>
            </a:xfrm>
            <a:custGeom>
              <a:avLst/>
              <a:gdLst>
                <a:gd name="T0" fmla="*/ 0 w 939"/>
                <a:gd name="T1" fmla="*/ 0 h 1"/>
                <a:gd name="T2" fmla="*/ 2147483646 w 939"/>
                <a:gd name="T3" fmla="*/ 0 h 1"/>
                <a:gd name="T4" fmla="*/ 0 w 939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39" h="1">
                  <a:moveTo>
                    <a:pt x="0" y="0"/>
                  </a:moveTo>
                  <a:lnTo>
                    <a:pt x="938" y="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88" name="Freeform 76">
              <a:extLst>
                <a:ext uri="{FF2B5EF4-FFF2-40B4-BE49-F238E27FC236}">
                  <a16:creationId xmlns:a16="http://schemas.microsoft.com/office/drawing/2014/main" id="{0085BCFC-5D59-E87E-623F-547CEE0D911C}"/>
                </a:ext>
              </a:extLst>
            </p:cNvPr>
            <p:cNvSpPr>
              <a:spLocks/>
            </p:cNvSpPr>
            <p:nvPr/>
          </p:nvSpPr>
          <p:spPr bwMode="auto">
            <a:xfrm>
              <a:off x="6429375" y="4081859"/>
              <a:ext cx="785813" cy="1047750"/>
            </a:xfrm>
            <a:custGeom>
              <a:avLst/>
              <a:gdLst>
                <a:gd name="T0" fmla="*/ 0 w 495"/>
                <a:gd name="T1" fmla="*/ 2147483646 h 660"/>
                <a:gd name="T2" fmla="*/ 2147483646 w 495"/>
                <a:gd name="T3" fmla="*/ 0 h 660"/>
                <a:gd name="T4" fmla="*/ 0 w 495"/>
                <a:gd name="T5" fmla="*/ 2147483646 h 66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95" h="660">
                  <a:moveTo>
                    <a:pt x="0" y="659"/>
                  </a:moveTo>
                  <a:lnTo>
                    <a:pt x="494" y="0"/>
                  </a:lnTo>
                  <a:lnTo>
                    <a:pt x="0" y="659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89" name="Freeform 77">
              <a:extLst>
                <a:ext uri="{FF2B5EF4-FFF2-40B4-BE49-F238E27FC236}">
                  <a16:creationId xmlns:a16="http://schemas.microsoft.com/office/drawing/2014/main" id="{339B303B-1753-3D2F-C359-03FBEB0FA821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3600" y="4081859"/>
              <a:ext cx="712788" cy="1047750"/>
            </a:xfrm>
            <a:custGeom>
              <a:avLst/>
              <a:gdLst>
                <a:gd name="T0" fmla="*/ 0 w 449"/>
                <a:gd name="T1" fmla="*/ 0 h 660"/>
                <a:gd name="T2" fmla="*/ 2147483646 w 449"/>
                <a:gd name="T3" fmla="*/ 2147483646 h 660"/>
                <a:gd name="T4" fmla="*/ 0 w 449"/>
                <a:gd name="T5" fmla="*/ 0 h 66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9" h="660">
                  <a:moveTo>
                    <a:pt x="0" y="0"/>
                  </a:moveTo>
                  <a:lnTo>
                    <a:pt x="448" y="659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90" name="Freeform 78">
              <a:extLst>
                <a:ext uri="{FF2B5EF4-FFF2-40B4-BE49-F238E27FC236}">
                  <a16:creationId xmlns:a16="http://schemas.microsoft.com/office/drawing/2014/main" id="{14D6DE0E-3C86-E8B9-7015-9C2064288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3088" y="3989784"/>
              <a:ext cx="292100" cy="93663"/>
            </a:xfrm>
            <a:custGeom>
              <a:avLst/>
              <a:gdLst>
                <a:gd name="T0" fmla="*/ 0 w 184"/>
                <a:gd name="T1" fmla="*/ 0 h 59"/>
                <a:gd name="T2" fmla="*/ 2147483646 w 184"/>
                <a:gd name="T3" fmla="*/ 2147483646 h 59"/>
                <a:gd name="T4" fmla="*/ 2147483646 w 184"/>
                <a:gd name="T5" fmla="*/ 2147483646 h 59"/>
                <a:gd name="T6" fmla="*/ 0 w 184"/>
                <a:gd name="T7" fmla="*/ 0 h 5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4" h="59">
                  <a:moveTo>
                    <a:pt x="0" y="0"/>
                  </a:moveTo>
                  <a:lnTo>
                    <a:pt x="30" y="9"/>
                  </a:lnTo>
                  <a:lnTo>
                    <a:pt x="183" y="58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91" name="Freeform 79">
              <a:extLst>
                <a:ext uri="{FF2B5EF4-FFF2-40B4-BE49-F238E27FC236}">
                  <a16:creationId xmlns:a16="http://schemas.microsoft.com/office/drawing/2014/main" id="{C8277593-59CE-A68A-4B4A-B43511103E0B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2638" y="4031059"/>
              <a:ext cx="82550" cy="52388"/>
            </a:xfrm>
            <a:custGeom>
              <a:avLst/>
              <a:gdLst>
                <a:gd name="T0" fmla="*/ 2147483646 w 52"/>
                <a:gd name="T1" fmla="*/ 0 h 33"/>
                <a:gd name="T2" fmla="*/ 2147483646 w 52"/>
                <a:gd name="T3" fmla="*/ 2147483646 h 33"/>
                <a:gd name="T4" fmla="*/ 0 w 52"/>
                <a:gd name="T5" fmla="*/ 2147483646 h 33"/>
                <a:gd name="T6" fmla="*/ 2147483646 w 52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2" h="33">
                  <a:moveTo>
                    <a:pt x="6" y="0"/>
                  </a:moveTo>
                  <a:lnTo>
                    <a:pt x="51" y="32"/>
                  </a:lnTo>
                  <a:lnTo>
                    <a:pt x="0" y="32"/>
                  </a:lnTo>
                  <a:lnTo>
                    <a:pt x="6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92" name="Freeform 80">
              <a:extLst>
                <a:ext uri="{FF2B5EF4-FFF2-40B4-BE49-F238E27FC236}">
                  <a16:creationId xmlns:a16="http://schemas.microsoft.com/office/drawing/2014/main" id="{FD6B5E31-1FC7-41AC-16CA-4F0C32923A29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0600" y="5409009"/>
              <a:ext cx="404813" cy="347663"/>
            </a:xfrm>
            <a:custGeom>
              <a:avLst/>
              <a:gdLst>
                <a:gd name="T0" fmla="*/ 0 w 255"/>
                <a:gd name="T1" fmla="*/ 0 h 219"/>
                <a:gd name="T2" fmla="*/ 2147483646 w 255"/>
                <a:gd name="T3" fmla="*/ 0 h 219"/>
                <a:gd name="T4" fmla="*/ 2147483646 w 255"/>
                <a:gd name="T5" fmla="*/ 2147483646 h 219"/>
                <a:gd name="T6" fmla="*/ 0 w 255"/>
                <a:gd name="T7" fmla="*/ 2147483646 h 219"/>
                <a:gd name="T8" fmla="*/ 0 w 255"/>
                <a:gd name="T9" fmla="*/ 0 h 2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5" h="219">
                  <a:moveTo>
                    <a:pt x="0" y="0"/>
                  </a:moveTo>
                  <a:lnTo>
                    <a:pt x="254" y="0"/>
                  </a:lnTo>
                  <a:lnTo>
                    <a:pt x="254" y="218"/>
                  </a:lnTo>
                  <a:lnTo>
                    <a:pt x="0" y="218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93" name="Freeform 81">
              <a:extLst>
                <a:ext uri="{FF2B5EF4-FFF2-40B4-BE49-F238E27FC236}">
                  <a16:creationId xmlns:a16="http://schemas.microsoft.com/office/drawing/2014/main" id="{6169C525-56B3-103D-DCF7-4070458805A7}"/>
                </a:ext>
              </a:extLst>
            </p:cNvPr>
            <p:cNvSpPr>
              <a:spLocks/>
            </p:cNvSpPr>
            <p:nvPr/>
          </p:nvSpPr>
          <p:spPr bwMode="auto">
            <a:xfrm>
              <a:off x="6473825" y="5536009"/>
              <a:ext cx="63500" cy="42863"/>
            </a:xfrm>
            <a:custGeom>
              <a:avLst/>
              <a:gdLst>
                <a:gd name="T0" fmla="*/ 2147483646 w 40"/>
                <a:gd name="T1" fmla="*/ 2147483646 h 27"/>
                <a:gd name="T2" fmla="*/ 0 w 40"/>
                <a:gd name="T3" fmla="*/ 2147483646 h 27"/>
                <a:gd name="T4" fmla="*/ 2147483646 w 40"/>
                <a:gd name="T5" fmla="*/ 0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0" h="27">
                  <a:moveTo>
                    <a:pt x="39" y="26"/>
                  </a:moveTo>
                  <a:lnTo>
                    <a:pt x="0" y="13"/>
                  </a:lnTo>
                  <a:lnTo>
                    <a:pt x="39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94" name="Freeform 82">
              <a:extLst>
                <a:ext uri="{FF2B5EF4-FFF2-40B4-BE49-F238E27FC236}">
                  <a16:creationId xmlns:a16="http://schemas.microsoft.com/office/drawing/2014/main" id="{CB1B2D1E-78AA-A2D4-352A-19018DBB6BD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73825" y="5559822"/>
              <a:ext cx="241300" cy="1587"/>
            </a:xfrm>
            <a:custGeom>
              <a:avLst/>
              <a:gdLst>
                <a:gd name="T0" fmla="*/ 0 w 152"/>
                <a:gd name="T1" fmla="*/ 0 h 1"/>
                <a:gd name="T2" fmla="*/ 2147483646 w 152"/>
                <a:gd name="T3" fmla="*/ 0 h 1"/>
                <a:gd name="T4" fmla="*/ 0 w 152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2" h="1">
                  <a:moveTo>
                    <a:pt x="0" y="0"/>
                  </a:moveTo>
                  <a:lnTo>
                    <a:pt x="151" y="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95" name="Freeform 83">
              <a:extLst>
                <a:ext uri="{FF2B5EF4-FFF2-40B4-BE49-F238E27FC236}">
                  <a16:creationId xmlns:a16="http://schemas.microsoft.com/office/drawing/2014/main" id="{5375163A-9ADA-DF96-2C48-4E4B4ADE6A99}"/>
                </a:ext>
              </a:extLst>
            </p:cNvPr>
            <p:cNvSpPr>
              <a:spLocks/>
            </p:cNvSpPr>
            <p:nvPr/>
          </p:nvSpPr>
          <p:spPr bwMode="auto">
            <a:xfrm>
              <a:off x="6650038" y="5536009"/>
              <a:ext cx="65087" cy="42863"/>
            </a:xfrm>
            <a:custGeom>
              <a:avLst/>
              <a:gdLst>
                <a:gd name="T0" fmla="*/ 0 w 41"/>
                <a:gd name="T1" fmla="*/ 0 h 27"/>
                <a:gd name="T2" fmla="*/ 2147483646 w 41"/>
                <a:gd name="T3" fmla="*/ 2147483646 h 27"/>
                <a:gd name="T4" fmla="*/ 0 w 41"/>
                <a:gd name="T5" fmla="*/ 2147483646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7">
                  <a:moveTo>
                    <a:pt x="0" y="0"/>
                  </a:moveTo>
                  <a:lnTo>
                    <a:pt x="40" y="13"/>
                  </a:lnTo>
                  <a:lnTo>
                    <a:pt x="0" y="26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96" name="Freeform 84">
              <a:extLst>
                <a:ext uri="{FF2B5EF4-FFF2-40B4-BE49-F238E27FC236}">
                  <a16:creationId xmlns:a16="http://schemas.microsoft.com/office/drawing/2014/main" id="{8001CE82-AEED-33C9-9E25-F2C3A50EF66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3538" y="5409009"/>
              <a:ext cx="403225" cy="347663"/>
            </a:xfrm>
            <a:custGeom>
              <a:avLst/>
              <a:gdLst>
                <a:gd name="T0" fmla="*/ 0 w 254"/>
                <a:gd name="T1" fmla="*/ 0 h 219"/>
                <a:gd name="T2" fmla="*/ 2147483646 w 254"/>
                <a:gd name="T3" fmla="*/ 0 h 219"/>
                <a:gd name="T4" fmla="*/ 2147483646 w 254"/>
                <a:gd name="T5" fmla="*/ 2147483646 h 219"/>
                <a:gd name="T6" fmla="*/ 0 w 254"/>
                <a:gd name="T7" fmla="*/ 2147483646 h 219"/>
                <a:gd name="T8" fmla="*/ 0 w 254"/>
                <a:gd name="T9" fmla="*/ 0 h 2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4" h="219">
                  <a:moveTo>
                    <a:pt x="0" y="0"/>
                  </a:moveTo>
                  <a:lnTo>
                    <a:pt x="253" y="0"/>
                  </a:lnTo>
                  <a:lnTo>
                    <a:pt x="253" y="218"/>
                  </a:lnTo>
                  <a:lnTo>
                    <a:pt x="0" y="218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97" name="Freeform 85">
              <a:extLst>
                <a:ext uri="{FF2B5EF4-FFF2-40B4-BE49-F238E27FC236}">
                  <a16:creationId xmlns:a16="http://schemas.microsoft.com/office/drawing/2014/main" id="{A0BA9E6B-BBA5-F095-22B7-C2390BA66661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5175" y="5536009"/>
              <a:ext cx="66675" cy="42863"/>
            </a:xfrm>
            <a:custGeom>
              <a:avLst/>
              <a:gdLst>
                <a:gd name="T0" fmla="*/ 2147483646 w 42"/>
                <a:gd name="T1" fmla="*/ 2147483646 h 27"/>
                <a:gd name="T2" fmla="*/ 0 w 42"/>
                <a:gd name="T3" fmla="*/ 2147483646 h 27"/>
                <a:gd name="T4" fmla="*/ 2147483646 w 42"/>
                <a:gd name="T5" fmla="*/ 0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" h="27">
                  <a:moveTo>
                    <a:pt x="41" y="26"/>
                  </a:moveTo>
                  <a:lnTo>
                    <a:pt x="0" y="13"/>
                  </a:lnTo>
                  <a:lnTo>
                    <a:pt x="41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98" name="Freeform 86">
              <a:extLst>
                <a:ext uri="{FF2B5EF4-FFF2-40B4-BE49-F238E27FC236}">
                  <a16:creationId xmlns:a16="http://schemas.microsoft.com/office/drawing/2014/main" id="{D0E949A4-373E-7113-1A42-6B3611D73095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5175" y="5559822"/>
              <a:ext cx="201613" cy="1587"/>
            </a:xfrm>
            <a:custGeom>
              <a:avLst/>
              <a:gdLst>
                <a:gd name="T0" fmla="*/ 0 w 127"/>
                <a:gd name="T1" fmla="*/ 0 h 1"/>
                <a:gd name="T2" fmla="*/ 2147483646 w 127"/>
                <a:gd name="T3" fmla="*/ 0 h 1"/>
                <a:gd name="T4" fmla="*/ 0 w 127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7" h="1">
                  <a:moveTo>
                    <a:pt x="0" y="0"/>
                  </a:moveTo>
                  <a:lnTo>
                    <a:pt x="126" y="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99" name="Freeform 87">
              <a:extLst>
                <a:ext uri="{FF2B5EF4-FFF2-40B4-BE49-F238E27FC236}">
                  <a16:creationId xmlns:a16="http://schemas.microsoft.com/office/drawing/2014/main" id="{71701CAC-794A-E6A8-883E-1E28A5F0855A}"/>
                </a:ext>
              </a:extLst>
            </p:cNvPr>
            <p:cNvSpPr>
              <a:spLocks/>
            </p:cNvSpPr>
            <p:nvPr/>
          </p:nvSpPr>
          <p:spPr bwMode="auto">
            <a:xfrm>
              <a:off x="7254875" y="5536009"/>
              <a:ext cx="61913" cy="42863"/>
            </a:xfrm>
            <a:custGeom>
              <a:avLst/>
              <a:gdLst>
                <a:gd name="T0" fmla="*/ 0 w 39"/>
                <a:gd name="T1" fmla="*/ 0 h 27"/>
                <a:gd name="T2" fmla="*/ 2147483646 w 39"/>
                <a:gd name="T3" fmla="*/ 2147483646 h 27"/>
                <a:gd name="T4" fmla="*/ 0 w 39"/>
                <a:gd name="T5" fmla="*/ 2147483646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9" h="27">
                  <a:moveTo>
                    <a:pt x="0" y="0"/>
                  </a:moveTo>
                  <a:lnTo>
                    <a:pt x="38" y="13"/>
                  </a:lnTo>
                  <a:lnTo>
                    <a:pt x="0" y="26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00" name="Freeform 88">
              <a:extLst>
                <a:ext uri="{FF2B5EF4-FFF2-40B4-BE49-F238E27FC236}">
                  <a16:creationId xmlns:a16="http://schemas.microsoft.com/office/drawing/2014/main" id="{D43D5279-3ABB-5F84-0CEF-489916300F9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53175" y="5112147"/>
              <a:ext cx="158750" cy="298450"/>
            </a:xfrm>
            <a:custGeom>
              <a:avLst/>
              <a:gdLst>
                <a:gd name="T0" fmla="*/ 2147483646 w 100"/>
                <a:gd name="T1" fmla="*/ 0 h 188"/>
                <a:gd name="T2" fmla="*/ 0 w 100"/>
                <a:gd name="T3" fmla="*/ 2147483646 h 188"/>
                <a:gd name="T4" fmla="*/ 2147483646 w 100"/>
                <a:gd name="T5" fmla="*/ 0 h 1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0" h="188">
                  <a:moveTo>
                    <a:pt x="99" y="0"/>
                  </a:moveTo>
                  <a:lnTo>
                    <a:pt x="0" y="187"/>
                  </a:lnTo>
                  <a:lnTo>
                    <a:pt x="99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01" name="Freeform 89">
              <a:extLst>
                <a:ext uri="{FF2B5EF4-FFF2-40B4-BE49-F238E27FC236}">
                  <a16:creationId xmlns:a16="http://schemas.microsoft.com/office/drawing/2014/main" id="{65DCDB2F-6B87-551D-9A90-C95009DE36B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53175" y="5332809"/>
              <a:ext cx="49213" cy="77788"/>
            </a:xfrm>
            <a:custGeom>
              <a:avLst/>
              <a:gdLst>
                <a:gd name="T0" fmla="*/ 2147483646 w 31"/>
                <a:gd name="T1" fmla="*/ 2147483646 h 49"/>
                <a:gd name="T2" fmla="*/ 0 w 31"/>
                <a:gd name="T3" fmla="*/ 2147483646 h 49"/>
                <a:gd name="T4" fmla="*/ 2147483646 w 31"/>
                <a:gd name="T5" fmla="*/ 0 h 4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49">
                  <a:moveTo>
                    <a:pt x="30" y="15"/>
                  </a:moveTo>
                  <a:lnTo>
                    <a:pt x="0" y="48"/>
                  </a:lnTo>
                  <a:lnTo>
                    <a:pt x="13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02" name="Freeform 90">
              <a:extLst>
                <a:ext uri="{FF2B5EF4-FFF2-40B4-BE49-F238E27FC236}">
                  <a16:creationId xmlns:a16="http://schemas.microsoft.com/office/drawing/2014/main" id="{F6D875B2-E9D8-4218-0C4C-0E3139DE280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3563" y="5112147"/>
              <a:ext cx="1587" cy="298450"/>
            </a:xfrm>
            <a:custGeom>
              <a:avLst/>
              <a:gdLst>
                <a:gd name="T0" fmla="*/ 0 w 1"/>
                <a:gd name="T1" fmla="*/ 0 h 188"/>
                <a:gd name="T2" fmla="*/ 0 w 1"/>
                <a:gd name="T3" fmla="*/ 2147483646 h 188"/>
                <a:gd name="T4" fmla="*/ 0 w 1"/>
                <a:gd name="T5" fmla="*/ 0 h 1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88">
                  <a:moveTo>
                    <a:pt x="0" y="0"/>
                  </a:moveTo>
                  <a:lnTo>
                    <a:pt x="0" y="187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03" name="Freeform 91">
              <a:extLst>
                <a:ext uri="{FF2B5EF4-FFF2-40B4-BE49-F238E27FC236}">
                  <a16:creationId xmlns:a16="http://schemas.microsoft.com/office/drawing/2014/main" id="{8001C67F-B3C4-2B87-6A69-38DC14B4001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9275" y="5331222"/>
              <a:ext cx="30163" cy="79375"/>
            </a:xfrm>
            <a:custGeom>
              <a:avLst/>
              <a:gdLst>
                <a:gd name="T0" fmla="*/ 2147483646 w 19"/>
                <a:gd name="T1" fmla="*/ 0 h 50"/>
                <a:gd name="T2" fmla="*/ 2147483646 w 19"/>
                <a:gd name="T3" fmla="*/ 2147483646 h 50"/>
                <a:gd name="T4" fmla="*/ 0 w 19"/>
                <a:gd name="T5" fmla="*/ 0 h 5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50">
                  <a:moveTo>
                    <a:pt x="18" y="0"/>
                  </a:moveTo>
                  <a:lnTo>
                    <a:pt x="8" y="49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04" name="Freeform 92">
              <a:extLst>
                <a:ext uri="{FF2B5EF4-FFF2-40B4-BE49-F238E27FC236}">
                  <a16:creationId xmlns:a16="http://schemas.microsoft.com/office/drawing/2014/main" id="{385047E0-57C9-9D53-599D-F3A29126A002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9388" y="5409009"/>
              <a:ext cx="403225" cy="347663"/>
            </a:xfrm>
            <a:custGeom>
              <a:avLst/>
              <a:gdLst>
                <a:gd name="T0" fmla="*/ 0 w 254"/>
                <a:gd name="T1" fmla="*/ 0 h 219"/>
                <a:gd name="T2" fmla="*/ 2147483646 w 254"/>
                <a:gd name="T3" fmla="*/ 0 h 219"/>
                <a:gd name="T4" fmla="*/ 2147483646 w 254"/>
                <a:gd name="T5" fmla="*/ 2147483646 h 219"/>
                <a:gd name="T6" fmla="*/ 0 w 254"/>
                <a:gd name="T7" fmla="*/ 2147483646 h 219"/>
                <a:gd name="T8" fmla="*/ 0 w 254"/>
                <a:gd name="T9" fmla="*/ 0 h 2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4" h="219">
                  <a:moveTo>
                    <a:pt x="0" y="0"/>
                  </a:moveTo>
                  <a:lnTo>
                    <a:pt x="253" y="0"/>
                  </a:lnTo>
                  <a:lnTo>
                    <a:pt x="253" y="218"/>
                  </a:lnTo>
                  <a:lnTo>
                    <a:pt x="0" y="218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05" name="Freeform 93">
              <a:extLst>
                <a:ext uri="{FF2B5EF4-FFF2-40B4-BE49-F238E27FC236}">
                  <a16:creationId xmlns:a16="http://schemas.microsoft.com/office/drawing/2014/main" id="{5E0146AF-982E-730C-1C4D-F8D8C182E62A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363" y="5536009"/>
              <a:ext cx="65087" cy="42863"/>
            </a:xfrm>
            <a:custGeom>
              <a:avLst/>
              <a:gdLst>
                <a:gd name="T0" fmla="*/ 2147483646 w 41"/>
                <a:gd name="T1" fmla="*/ 2147483646 h 27"/>
                <a:gd name="T2" fmla="*/ 0 w 41"/>
                <a:gd name="T3" fmla="*/ 2147483646 h 27"/>
                <a:gd name="T4" fmla="*/ 2147483646 w 41"/>
                <a:gd name="T5" fmla="*/ 0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7">
                  <a:moveTo>
                    <a:pt x="40" y="26"/>
                  </a:moveTo>
                  <a:lnTo>
                    <a:pt x="0" y="13"/>
                  </a:lnTo>
                  <a:lnTo>
                    <a:pt x="40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06" name="Freeform 94">
              <a:extLst>
                <a:ext uri="{FF2B5EF4-FFF2-40B4-BE49-F238E27FC236}">
                  <a16:creationId xmlns:a16="http://schemas.microsoft.com/office/drawing/2014/main" id="{8F162F97-D874-004E-57A8-E413DBC3DCD0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363" y="5559822"/>
              <a:ext cx="201612" cy="1587"/>
            </a:xfrm>
            <a:custGeom>
              <a:avLst/>
              <a:gdLst>
                <a:gd name="T0" fmla="*/ 0 w 127"/>
                <a:gd name="T1" fmla="*/ 0 h 1"/>
                <a:gd name="T2" fmla="*/ 2147483646 w 127"/>
                <a:gd name="T3" fmla="*/ 0 h 1"/>
                <a:gd name="T4" fmla="*/ 0 w 127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7" h="1">
                  <a:moveTo>
                    <a:pt x="0" y="0"/>
                  </a:moveTo>
                  <a:lnTo>
                    <a:pt x="126" y="0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07" name="Freeform 95">
              <a:extLst>
                <a:ext uri="{FF2B5EF4-FFF2-40B4-BE49-F238E27FC236}">
                  <a16:creationId xmlns:a16="http://schemas.microsoft.com/office/drawing/2014/main" id="{711DE211-2FC0-ED72-DF79-64F8DEECCDA0}"/>
                </a:ext>
              </a:extLst>
            </p:cNvPr>
            <p:cNvSpPr>
              <a:spLocks/>
            </p:cNvSpPr>
            <p:nvPr/>
          </p:nvSpPr>
          <p:spPr bwMode="auto">
            <a:xfrm>
              <a:off x="7734300" y="5536009"/>
              <a:ext cx="66675" cy="42863"/>
            </a:xfrm>
            <a:custGeom>
              <a:avLst/>
              <a:gdLst>
                <a:gd name="T0" fmla="*/ 0 w 42"/>
                <a:gd name="T1" fmla="*/ 0 h 27"/>
                <a:gd name="T2" fmla="*/ 2147483646 w 42"/>
                <a:gd name="T3" fmla="*/ 2147483646 h 27"/>
                <a:gd name="T4" fmla="*/ 0 w 42"/>
                <a:gd name="T5" fmla="*/ 2147483646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" h="27">
                  <a:moveTo>
                    <a:pt x="0" y="0"/>
                  </a:moveTo>
                  <a:lnTo>
                    <a:pt x="41" y="13"/>
                  </a:lnTo>
                  <a:lnTo>
                    <a:pt x="0" y="26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08" name="Freeform 96">
              <a:extLst>
                <a:ext uri="{FF2B5EF4-FFF2-40B4-BE49-F238E27FC236}">
                  <a16:creationId xmlns:a16="http://schemas.microsoft.com/office/drawing/2014/main" id="{DCC8647A-4364-9E6D-700F-95EEA45061A3}"/>
                </a:ext>
              </a:extLst>
            </p:cNvPr>
            <p:cNvSpPr>
              <a:spLocks/>
            </p:cNvSpPr>
            <p:nvPr/>
          </p:nvSpPr>
          <p:spPr bwMode="auto">
            <a:xfrm>
              <a:off x="7842250" y="5112147"/>
              <a:ext cx="158750" cy="298450"/>
            </a:xfrm>
            <a:custGeom>
              <a:avLst/>
              <a:gdLst>
                <a:gd name="T0" fmla="*/ 0 w 100"/>
                <a:gd name="T1" fmla="*/ 0 h 188"/>
                <a:gd name="T2" fmla="*/ 2147483646 w 100"/>
                <a:gd name="T3" fmla="*/ 2147483646 h 188"/>
                <a:gd name="T4" fmla="*/ 0 w 100"/>
                <a:gd name="T5" fmla="*/ 0 h 1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0" h="188">
                  <a:moveTo>
                    <a:pt x="0" y="0"/>
                  </a:moveTo>
                  <a:lnTo>
                    <a:pt x="99" y="187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09" name="Freeform 97">
              <a:extLst>
                <a:ext uri="{FF2B5EF4-FFF2-40B4-BE49-F238E27FC236}">
                  <a16:creationId xmlns:a16="http://schemas.microsoft.com/office/drawing/2014/main" id="{6B43024F-6667-6817-E016-D4934A9D58E0}"/>
                </a:ext>
              </a:extLst>
            </p:cNvPr>
            <p:cNvSpPr>
              <a:spLocks/>
            </p:cNvSpPr>
            <p:nvPr/>
          </p:nvSpPr>
          <p:spPr bwMode="auto">
            <a:xfrm>
              <a:off x="7951788" y="5332809"/>
              <a:ext cx="49212" cy="77788"/>
            </a:xfrm>
            <a:custGeom>
              <a:avLst/>
              <a:gdLst>
                <a:gd name="T0" fmla="*/ 2147483646 w 31"/>
                <a:gd name="T1" fmla="*/ 0 h 49"/>
                <a:gd name="T2" fmla="*/ 2147483646 w 31"/>
                <a:gd name="T3" fmla="*/ 2147483646 h 49"/>
                <a:gd name="T4" fmla="*/ 0 w 31"/>
                <a:gd name="T5" fmla="*/ 2147483646 h 4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49">
                  <a:moveTo>
                    <a:pt x="17" y="0"/>
                  </a:moveTo>
                  <a:lnTo>
                    <a:pt x="30" y="48"/>
                  </a:lnTo>
                  <a:lnTo>
                    <a:pt x="0" y="15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10" name="Freeform 98">
              <a:extLst>
                <a:ext uri="{FF2B5EF4-FFF2-40B4-BE49-F238E27FC236}">
                  <a16:creationId xmlns:a16="http://schemas.microsoft.com/office/drawing/2014/main" id="{7D001DA7-6F57-CEAD-58F3-1DD6D52FE573}"/>
                </a:ext>
              </a:extLst>
            </p:cNvPr>
            <p:cNvSpPr>
              <a:spLocks/>
            </p:cNvSpPr>
            <p:nvPr/>
          </p:nvSpPr>
          <p:spPr bwMode="auto">
            <a:xfrm>
              <a:off x="6110288" y="5755084"/>
              <a:ext cx="201612" cy="498475"/>
            </a:xfrm>
            <a:custGeom>
              <a:avLst/>
              <a:gdLst>
                <a:gd name="T0" fmla="*/ 0 w 127"/>
                <a:gd name="T1" fmla="*/ 0 h 314"/>
                <a:gd name="T2" fmla="*/ 2147483646 w 127"/>
                <a:gd name="T3" fmla="*/ 2147483646 h 314"/>
                <a:gd name="T4" fmla="*/ 0 w 127"/>
                <a:gd name="T5" fmla="*/ 0 h 3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7" h="314">
                  <a:moveTo>
                    <a:pt x="0" y="0"/>
                  </a:moveTo>
                  <a:lnTo>
                    <a:pt x="126" y="313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11" name="Freeform 99">
              <a:extLst>
                <a:ext uri="{FF2B5EF4-FFF2-40B4-BE49-F238E27FC236}">
                  <a16:creationId xmlns:a16="http://schemas.microsoft.com/office/drawing/2014/main" id="{7BC19F8D-6E4B-62F1-5D77-6E4BDFD5A0BD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7450" y="6174184"/>
              <a:ext cx="44450" cy="79375"/>
            </a:xfrm>
            <a:custGeom>
              <a:avLst/>
              <a:gdLst>
                <a:gd name="T0" fmla="*/ 2147483646 w 28"/>
                <a:gd name="T1" fmla="*/ 0 h 50"/>
                <a:gd name="T2" fmla="*/ 2147483646 w 28"/>
                <a:gd name="T3" fmla="*/ 2147483646 h 50"/>
                <a:gd name="T4" fmla="*/ 0 w 28"/>
                <a:gd name="T5" fmla="*/ 2147483646 h 5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" h="50">
                  <a:moveTo>
                    <a:pt x="18" y="0"/>
                  </a:moveTo>
                  <a:lnTo>
                    <a:pt x="27" y="49"/>
                  </a:lnTo>
                  <a:lnTo>
                    <a:pt x="0" y="11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12" name="Freeform 100">
              <a:extLst>
                <a:ext uri="{FF2B5EF4-FFF2-40B4-BE49-F238E27FC236}">
                  <a16:creationId xmlns:a16="http://schemas.microsoft.com/office/drawing/2014/main" id="{B2005620-9880-D309-1856-E9BD5442D2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6125" y="5755084"/>
              <a:ext cx="366713" cy="549275"/>
            </a:xfrm>
            <a:custGeom>
              <a:avLst/>
              <a:gdLst>
                <a:gd name="T0" fmla="*/ 2147483646 w 231"/>
                <a:gd name="T1" fmla="*/ 0 h 346"/>
                <a:gd name="T2" fmla="*/ 0 w 231"/>
                <a:gd name="T3" fmla="*/ 2147483646 h 346"/>
                <a:gd name="T4" fmla="*/ 2147483646 w 231"/>
                <a:gd name="T5" fmla="*/ 0 h 34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1" h="346">
                  <a:moveTo>
                    <a:pt x="230" y="0"/>
                  </a:moveTo>
                  <a:lnTo>
                    <a:pt x="0" y="345"/>
                  </a:lnTo>
                  <a:lnTo>
                    <a:pt x="230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13" name="Freeform 101">
              <a:extLst>
                <a:ext uri="{FF2B5EF4-FFF2-40B4-BE49-F238E27FC236}">
                  <a16:creationId xmlns:a16="http://schemas.microsoft.com/office/drawing/2014/main" id="{051A93DF-1EB6-C7D0-E62B-05E8D5DAFA28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6125" y="6229747"/>
              <a:ext cx="57150" cy="74612"/>
            </a:xfrm>
            <a:custGeom>
              <a:avLst/>
              <a:gdLst>
                <a:gd name="T0" fmla="*/ 2147483646 w 36"/>
                <a:gd name="T1" fmla="*/ 2147483646 h 47"/>
                <a:gd name="T2" fmla="*/ 0 w 36"/>
                <a:gd name="T3" fmla="*/ 2147483646 h 47"/>
                <a:gd name="T4" fmla="*/ 2147483646 w 36"/>
                <a:gd name="T5" fmla="*/ 0 h 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" h="47">
                  <a:moveTo>
                    <a:pt x="35" y="16"/>
                  </a:moveTo>
                  <a:lnTo>
                    <a:pt x="0" y="46"/>
                  </a:lnTo>
                  <a:lnTo>
                    <a:pt x="19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14" name="Freeform 102">
              <a:extLst>
                <a:ext uri="{FF2B5EF4-FFF2-40B4-BE49-F238E27FC236}">
                  <a16:creationId xmlns:a16="http://schemas.microsoft.com/office/drawing/2014/main" id="{B5042446-F978-8987-0F7D-FBCF1FB8505F}"/>
                </a:ext>
              </a:extLst>
            </p:cNvPr>
            <p:cNvSpPr>
              <a:spLocks/>
            </p:cNvSpPr>
            <p:nvPr/>
          </p:nvSpPr>
          <p:spPr bwMode="auto">
            <a:xfrm>
              <a:off x="6229350" y="5755084"/>
              <a:ext cx="566738" cy="549275"/>
            </a:xfrm>
            <a:custGeom>
              <a:avLst/>
              <a:gdLst>
                <a:gd name="T0" fmla="*/ 0 w 357"/>
                <a:gd name="T1" fmla="*/ 0 h 346"/>
                <a:gd name="T2" fmla="*/ 2147483646 w 357"/>
                <a:gd name="T3" fmla="*/ 2147483646 h 346"/>
                <a:gd name="T4" fmla="*/ 0 w 357"/>
                <a:gd name="T5" fmla="*/ 0 h 34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7" h="346">
                  <a:moveTo>
                    <a:pt x="0" y="0"/>
                  </a:moveTo>
                  <a:lnTo>
                    <a:pt x="356" y="345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15" name="Freeform 103">
              <a:extLst>
                <a:ext uri="{FF2B5EF4-FFF2-40B4-BE49-F238E27FC236}">
                  <a16:creationId xmlns:a16="http://schemas.microsoft.com/office/drawing/2014/main" id="{C7CCE392-094E-296B-7A49-33D1976A2F5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1000" y="6239272"/>
              <a:ext cx="65088" cy="65087"/>
            </a:xfrm>
            <a:custGeom>
              <a:avLst/>
              <a:gdLst>
                <a:gd name="T0" fmla="*/ 2147483646 w 41"/>
                <a:gd name="T1" fmla="*/ 0 h 41"/>
                <a:gd name="T2" fmla="*/ 2147483646 w 41"/>
                <a:gd name="T3" fmla="*/ 2147483646 h 41"/>
                <a:gd name="T4" fmla="*/ 0 w 41"/>
                <a:gd name="T5" fmla="*/ 2147483646 h 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41">
                  <a:moveTo>
                    <a:pt x="13" y="0"/>
                  </a:moveTo>
                  <a:lnTo>
                    <a:pt x="40" y="40"/>
                  </a:lnTo>
                  <a:lnTo>
                    <a:pt x="0" y="19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16" name="Freeform 104">
              <a:extLst>
                <a:ext uri="{FF2B5EF4-FFF2-40B4-BE49-F238E27FC236}">
                  <a16:creationId xmlns:a16="http://schemas.microsoft.com/office/drawing/2014/main" id="{4010460F-B7E9-3B98-21AF-2C477654B2B6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9325" y="5755084"/>
              <a:ext cx="282575" cy="498475"/>
            </a:xfrm>
            <a:custGeom>
              <a:avLst/>
              <a:gdLst>
                <a:gd name="T0" fmla="*/ 2147483646 w 178"/>
                <a:gd name="T1" fmla="*/ 0 h 314"/>
                <a:gd name="T2" fmla="*/ 0 w 178"/>
                <a:gd name="T3" fmla="*/ 2147483646 h 314"/>
                <a:gd name="T4" fmla="*/ 2147483646 w 178"/>
                <a:gd name="T5" fmla="*/ 0 h 3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8" h="314">
                  <a:moveTo>
                    <a:pt x="177" y="0"/>
                  </a:moveTo>
                  <a:lnTo>
                    <a:pt x="0" y="313"/>
                  </a:lnTo>
                  <a:lnTo>
                    <a:pt x="177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17" name="Freeform 105">
              <a:extLst>
                <a:ext uri="{FF2B5EF4-FFF2-40B4-BE49-F238E27FC236}">
                  <a16:creationId xmlns:a16="http://schemas.microsoft.com/office/drawing/2014/main" id="{7160622C-95BD-C901-F9F2-A11E29A7AB3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9325" y="6178947"/>
              <a:ext cx="52388" cy="74612"/>
            </a:xfrm>
            <a:custGeom>
              <a:avLst/>
              <a:gdLst>
                <a:gd name="T0" fmla="*/ 2147483646 w 33"/>
                <a:gd name="T1" fmla="*/ 2147483646 h 47"/>
                <a:gd name="T2" fmla="*/ 0 w 33"/>
                <a:gd name="T3" fmla="*/ 2147483646 h 47"/>
                <a:gd name="T4" fmla="*/ 2147483646 w 33"/>
                <a:gd name="T5" fmla="*/ 0 h 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" h="47">
                  <a:moveTo>
                    <a:pt x="32" y="13"/>
                  </a:moveTo>
                  <a:lnTo>
                    <a:pt x="0" y="46"/>
                  </a:lnTo>
                  <a:lnTo>
                    <a:pt x="14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18" name="Freeform 106">
              <a:extLst>
                <a:ext uri="{FF2B5EF4-FFF2-40B4-BE49-F238E27FC236}">
                  <a16:creationId xmlns:a16="http://schemas.microsoft.com/office/drawing/2014/main" id="{9CEEF9AB-AAE7-4874-DA30-AE4D3F8B4808}"/>
                </a:ext>
              </a:extLst>
            </p:cNvPr>
            <p:cNvSpPr>
              <a:spLocks/>
            </p:cNvSpPr>
            <p:nvPr/>
          </p:nvSpPr>
          <p:spPr bwMode="auto">
            <a:xfrm>
              <a:off x="6353175" y="5755084"/>
              <a:ext cx="1408113" cy="498475"/>
            </a:xfrm>
            <a:custGeom>
              <a:avLst/>
              <a:gdLst>
                <a:gd name="T0" fmla="*/ 0 w 887"/>
                <a:gd name="T1" fmla="*/ 0 h 314"/>
                <a:gd name="T2" fmla="*/ 2147483646 w 887"/>
                <a:gd name="T3" fmla="*/ 2147483646 h 314"/>
                <a:gd name="T4" fmla="*/ 0 w 887"/>
                <a:gd name="T5" fmla="*/ 0 h 3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87" h="314">
                  <a:moveTo>
                    <a:pt x="0" y="0"/>
                  </a:moveTo>
                  <a:lnTo>
                    <a:pt x="886" y="313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19" name="Freeform 107">
              <a:extLst>
                <a:ext uri="{FF2B5EF4-FFF2-40B4-BE49-F238E27FC236}">
                  <a16:creationId xmlns:a16="http://schemas.microsoft.com/office/drawing/2014/main" id="{3E02E24F-6E19-06A6-EBD2-C9DEA2BC1BB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93025" y="6210697"/>
              <a:ext cx="68263" cy="42862"/>
            </a:xfrm>
            <a:custGeom>
              <a:avLst/>
              <a:gdLst>
                <a:gd name="T0" fmla="*/ 2147483646 w 43"/>
                <a:gd name="T1" fmla="*/ 0 h 27"/>
                <a:gd name="T2" fmla="*/ 2147483646 w 43"/>
                <a:gd name="T3" fmla="*/ 2147483646 h 27"/>
                <a:gd name="T4" fmla="*/ 0 w 43"/>
                <a:gd name="T5" fmla="*/ 2147483646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" h="27">
                  <a:moveTo>
                    <a:pt x="6" y="0"/>
                  </a:moveTo>
                  <a:lnTo>
                    <a:pt x="42" y="26"/>
                  </a:lnTo>
                  <a:lnTo>
                    <a:pt x="0" y="25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20" name="Freeform 108">
              <a:extLst>
                <a:ext uri="{FF2B5EF4-FFF2-40B4-BE49-F238E27FC236}">
                  <a16:creationId xmlns:a16="http://schemas.microsoft.com/office/drawing/2014/main" id="{A1B18097-D43D-CBBA-3BC4-472BC39A0C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110288" y="5755084"/>
              <a:ext cx="685800" cy="498475"/>
            </a:xfrm>
            <a:custGeom>
              <a:avLst/>
              <a:gdLst>
                <a:gd name="T0" fmla="*/ 2147483646 w 432"/>
                <a:gd name="T1" fmla="*/ 0 h 314"/>
                <a:gd name="T2" fmla="*/ 0 w 432"/>
                <a:gd name="T3" fmla="*/ 2147483646 h 314"/>
                <a:gd name="T4" fmla="*/ 2147483646 w 432"/>
                <a:gd name="T5" fmla="*/ 0 h 3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" h="314">
                  <a:moveTo>
                    <a:pt x="431" y="0"/>
                  </a:moveTo>
                  <a:lnTo>
                    <a:pt x="0" y="313"/>
                  </a:lnTo>
                  <a:lnTo>
                    <a:pt x="431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21" name="Freeform 109">
              <a:extLst>
                <a:ext uri="{FF2B5EF4-FFF2-40B4-BE49-F238E27FC236}">
                  <a16:creationId xmlns:a16="http://schemas.microsoft.com/office/drawing/2014/main" id="{E1B5E7B1-79F9-7624-5EA1-8F6DF7B3E012}"/>
                </a:ext>
              </a:extLst>
            </p:cNvPr>
            <p:cNvSpPr>
              <a:spLocks/>
            </p:cNvSpPr>
            <p:nvPr/>
          </p:nvSpPr>
          <p:spPr bwMode="auto">
            <a:xfrm>
              <a:off x="6110288" y="6194822"/>
              <a:ext cx="65087" cy="58737"/>
            </a:xfrm>
            <a:custGeom>
              <a:avLst/>
              <a:gdLst>
                <a:gd name="T0" fmla="*/ 2147483646 w 41"/>
                <a:gd name="T1" fmla="*/ 2147483646 h 37"/>
                <a:gd name="T2" fmla="*/ 0 w 41"/>
                <a:gd name="T3" fmla="*/ 2147483646 h 37"/>
                <a:gd name="T4" fmla="*/ 2147483646 w 41"/>
                <a:gd name="T5" fmla="*/ 0 h 3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37">
                  <a:moveTo>
                    <a:pt x="40" y="22"/>
                  </a:moveTo>
                  <a:lnTo>
                    <a:pt x="0" y="36"/>
                  </a:lnTo>
                  <a:lnTo>
                    <a:pt x="31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22" name="Freeform 110">
              <a:extLst>
                <a:ext uri="{FF2B5EF4-FFF2-40B4-BE49-F238E27FC236}">
                  <a16:creationId xmlns:a16="http://schemas.microsoft.com/office/drawing/2014/main" id="{4AD0F6D4-5B65-10CB-3C12-5B176875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1013" y="5755084"/>
              <a:ext cx="1778000" cy="498475"/>
            </a:xfrm>
            <a:custGeom>
              <a:avLst/>
              <a:gdLst>
                <a:gd name="T0" fmla="*/ 0 w 1120"/>
                <a:gd name="T1" fmla="*/ 0 h 314"/>
                <a:gd name="T2" fmla="*/ 2147483646 w 1120"/>
                <a:gd name="T3" fmla="*/ 2147483646 h 314"/>
                <a:gd name="T4" fmla="*/ 0 w 1120"/>
                <a:gd name="T5" fmla="*/ 0 h 3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20" h="314">
                  <a:moveTo>
                    <a:pt x="0" y="0"/>
                  </a:moveTo>
                  <a:lnTo>
                    <a:pt x="1119" y="313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23" name="Freeform 111">
              <a:extLst>
                <a:ext uri="{FF2B5EF4-FFF2-40B4-BE49-F238E27FC236}">
                  <a16:creationId xmlns:a16="http://schemas.microsoft.com/office/drawing/2014/main" id="{20AEDF6B-0168-B33B-BE3D-2C59F7EDA723}"/>
                </a:ext>
              </a:extLst>
            </p:cNvPr>
            <p:cNvSpPr>
              <a:spLocks/>
            </p:cNvSpPr>
            <p:nvPr/>
          </p:nvSpPr>
          <p:spPr bwMode="auto">
            <a:xfrm>
              <a:off x="8539163" y="6213872"/>
              <a:ext cx="69850" cy="41275"/>
            </a:xfrm>
            <a:custGeom>
              <a:avLst/>
              <a:gdLst>
                <a:gd name="T0" fmla="*/ 2147483646 w 44"/>
                <a:gd name="T1" fmla="*/ 0 h 26"/>
                <a:gd name="T2" fmla="*/ 2147483646 w 44"/>
                <a:gd name="T3" fmla="*/ 2147483646 h 26"/>
                <a:gd name="T4" fmla="*/ 0 w 44"/>
                <a:gd name="T5" fmla="*/ 2147483646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26">
                  <a:moveTo>
                    <a:pt x="5" y="0"/>
                  </a:moveTo>
                  <a:lnTo>
                    <a:pt x="43" y="24"/>
                  </a:lnTo>
                  <a:lnTo>
                    <a:pt x="0" y="25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24" name="Freeform 112">
              <a:extLst>
                <a:ext uri="{FF2B5EF4-FFF2-40B4-BE49-F238E27FC236}">
                  <a16:creationId xmlns:a16="http://schemas.microsoft.com/office/drawing/2014/main" id="{C14FC712-DCA2-941E-E8B1-17E077FD6C22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1013" y="5755084"/>
              <a:ext cx="165100" cy="549275"/>
            </a:xfrm>
            <a:custGeom>
              <a:avLst/>
              <a:gdLst>
                <a:gd name="T0" fmla="*/ 2147483646 w 104"/>
                <a:gd name="T1" fmla="*/ 0 h 346"/>
                <a:gd name="T2" fmla="*/ 0 w 104"/>
                <a:gd name="T3" fmla="*/ 2147483646 h 346"/>
                <a:gd name="T4" fmla="*/ 2147483646 w 104"/>
                <a:gd name="T5" fmla="*/ 0 h 34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4" h="346">
                  <a:moveTo>
                    <a:pt x="103" y="0"/>
                  </a:moveTo>
                  <a:lnTo>
                    <a:pt x="0" y="345"/>
                  </a:lnTo>
                  <a:lnTo>
                    <a:pt x="103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25" name="Freeform 113">
              <a:extLst>
                <a:ext uri="{FF2B5EF4-FFF2-40B4-BE49-F238E27FC236}">
                  <a16:creationId xmlns:a16="http://schemas.microsoft.com/office/drawing/2014/main" id="{6100988E-D113-6078-907F-A2A1D27FB1C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1013" y="6221809"/>
              <a:ext cx="42862" cy="82550"/>
            </a:xfrm>
            <a:custGeom>
              <a:avLst/>
              <a:gdLst>
                <a:gd name="T0" fmla="*/ 2147483646 w 27"/>
                <a:gd name="T1" fmla="*/ 2147483646 h 52"/>
                <a:gd name="T2" fmla="*/ 0 w 27"/>
                <a:gd name="T3" fmla="*/ 2147483646 h 52"/>
                <a:gd name="T4" fmla="*/ 2147483646 w 27"/>
                <a:gd name="T5" fmla="*/ 0 h 5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52">
                  <a:moveTo>
                    <a:pt x="26" y="8"/>
                  </a:moveTo>
                  <a:lnTo>
                    <a:pt x="0" y="51"/>
                  </a:lnTo>
                  <a:lnTo>
                    <a:pt x="5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26" name="Freeform 114">
              <a:extLst>
                <a:ext uri="{FF2B5EF4-FFF2-40B4-BE49-F238E27FC236}">
                  <a16:creationId xmlns:a16="http://schemas.microsoft.com/office/drawing/2014/main" id="{5C05B05D-8C05-5E14-9D03-8538A5D13512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6425" y="5755084"/>
              <a:ext cx="322263" cy="498475"/>
            </a:xfrm>
            <a:custGeom>
              <a:avLst/>
              <a:gdLst>
                <a:gd name="T0" fmla="*/ 0 w 203"/>
                <a:gd name="T1" fmla="*/ 0 h 314"/>
                <a:gd name="T2" fmla="*/ 2147483646 w 203"/>
                <a:gd name="T3" fmla="*/ 2147483646 h 314"/>
                <a:gd name="T4" fmla="*/ 0 w 203"/>
                <a:gd name="T5" fmla="*/ 0 h 3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3" h="314">
                  <a:moveTo>
                    <a:pt x="0" y="0"/>
                  </a:moveTo>
                  <a:lnTo>
                    <a:pt x="202" y="313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27" name="Freeform 115">
              <a:extLst>
                <a:ext uri="{FF2B5EF4-FFF2-40B4-BE49-F238E27FC236}">
                  <a16:creationId xmlns:a16="http://schemas.microsoft.com/office/drawing/2014/main" id="{731C92E3-CD6D-6BF0-38BF-877643ED3ABE}"/>
                </a:ext>
              </a:extLst>
            </p:cNvPr>
            <p:cNvSpPr>
              <a:spLocks/>
            </p:cNvSpPr>
            <p:nvPr/>
          </p:nvSpPr>
          <p:spPr bwMode="auto">
            <a:xfrm>
              <a:off x="7221538" y="6180534"/>
              <a:ext cx="57150" cy="73025"/>
            </a:xfrm>
            <a:custGeom>
              <a:avLst/>
              <a:gdLst>
                <a:gd name="T0" fmla="*/ 2147483646 w 36"/>
                <a:gd name="T1" fmla="*/ 0 h 46"/>
                <a:gd name="T2" fmla="*/ 2147483646 w 36"/>
                <a:gd name="T3" fmla="*/ 2147483646 h 46"/>
                <a:gd name="T4" fmla="*/ 0 w 36"/>
                <a:gd name="T5" fmla="*/ 2147483646 h 4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" h="46">
                  <a:moveTo>
                    <a:pt x="17" y="0"/>
                  </a:moveTo>
                  <a:lnTo>
                    <a:pt x="35" y="45"/>
                  </a:lnTo>
                  <a:lnTo>
                    <a:pt x="0" y="15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28" name="Freeform 116">
              <a:extLst>
                <a:ext uri="{FF2B5EF4-FFF2-40B4-BE49-F238E27FC236}">
                  <a16:creationId xmlns:a16="http://schemas.microsoft.com/office/drawing/2014/main" id="{9EC9FD04-B8A4-97A6-B678-AC3476A419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8063" y="5755084"/>
              <a:ext cx="565150" cy="549275"/>
            </a:xfrm>
            <a:custGeom>
              <a:avLst/>
              <a:gdLst>
                <a:gd name="T0" fmla="*/ 2147483646 w 356"/>
                <a:gd name="T1" fmla="*/ 0 h 346"/>
                <a:gd name="T2" fmla="*/ 0 w 356"/>
                <a:gd name="T3" fmla="*/ 2147483646 h 346"/>
                <a:gd name="T4" fmla="*/ 2147483646 w 356"/>
                <a:gd name="T5" fmla="*/ 0 h 34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6" h="346">
                  <a:moveTo>
                    <a:pt x="355" y="0"/>
                  </a:moveTo>
                  <a:lnTo>
                    <a:pt x="0" y="345"/>
                  </a:lnTo>
                  <a:lnTo>
                    <a:pt x="355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29" name="Freeform 117">
              <a:extLst>
                <a:ext uri="{FF2B5EF4-FFF2-40B4-BE49-F238E27FC236}">
                  <a16:creationId xmlns:a16="http://schemas.microsoft.com/office/drawing/2014/main" id="{73AE6108-CBF4-EE0A-510C-DBF7427A0607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8063" y="6239272"/>
              <a:ext cx="58737" cy="65087"/>
            </a:xfrm>
            <a:custGeom>
              <a:avLst/>
              <a:gdLst>
                <a:gd name="T0" fmla="*/ 2147483646 w 37"/>
                <a:gd name="T1" fmla="*/ 2147483646 h 41"/>
                <a:gd name="T2" fmla="*/ 0 w 37"/>
                <a:gd name="T3" fmla="*/ 2147483646 h 41"/>
                <a:gd name="T4" fmla="*/ 2147483646 w 37"/>
                <a:gd name="T5" fmla="*/ 0 h 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" h="41">
                  <a:moveTo>
                    <a:pt x="36" y="19"/>
                  </a:moveTo>
                  <a:lnTo>
                    <a:pt x="0" y="40"/>
                  </a:lnTo>
                  <a:lnTo>
                    <a:pt x="24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30" name="Freeform 118">
              <a:extLst>
                <a:ext uri="{FF2B5EF4-FFF2-40B4-BE49-F238E27FC236}">
                  <a16:creationId xmlns:a16="http://schemas.microsoft.com/office/drawing/2014/main" id="{E7D73454-D215-F639-0431-6112AC7247B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1313" y="5755084"/>
              <a:ext cx="322262" cy="549275"/>
            </a:xfrm>
            <a:custGeom>
              <a:avLst/>
              <a:gdLst>
                <a:gd name="T0" fmla="*/ 0 w 203"/>
                <a:gd name="T1" fmla="*/ 0 h 346"/>
                <a:gd name="T2" fmla="*/ 2147483646 w 203"/>
                <a:gd name="T3" fmla="*/ 2147483646 h 346"/>
                <a:gd name="T4" fmla="*/ 0 w 203"/>
                <a:gd name="T5" fmla="*/ 0 h 34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3" h="346">
                  <a:moveTo>
                    <a:pt x="0" y="0"/>
                  </a:moveTo>
                  <a:lnTo>
                    <a:pt x="202" y="345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31" name="Freeform 119">
              <a:extLst>
                <a:ext uri="{FF2B5EF4-FFF2-40B4-BE49-F238E27FC236}">
                  <a16:creationId xmlns:a16="http://schemas.microsoft.com/office/drawing/2014/main" id="{604E82D2-AF70-2386-4A6B-356D6AA7CEFE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2775" y="6228159"/>
              <a:ext cx="50800" cy="76200"/>
            </a:xfrm>
            <a:custGeom>
              <a:avLst/>
              <a:gdLst>
                <a:gd name="T0" fmla="*/ 2147483646 w 32"/>
                <a:gd name="T1" fmla="*/ 0 h 48"/>
                <a:gd name="T2" fmla="*/ 2147483646 w 32"/>
                <a:gd name="T3" fmla="*/ 2147483646 h 48"/>
                <a:gd name="T4" fmla="*/ 0 w 32"/>
                <a:gd name="T5" fmla="*/ 2147483646 h 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48">
                  <a:moveTo>
                    <a:pt x="16" y="0"/>
                  </a:moveTo>
                  <a:lnTo>
                    <a:pt x="31" y="47"/>
                  </a:lnTo>
                  <a:lnTo>
                    <a:pt x="0" y="15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32" name="Freeform 120">
              <a:extLst>
                <a:ext uri="{FF2B5EF4-FFF2-40B4-BE49-F238E27FC236}">
                  <a16:creationId xmlns:a16="http://schemas.microsoft.com/office/drawing/2014/main" id="{AD74D0B4-109E-CA29-CDE8-1D3FA235EFFC}"/>
                </a:ext>
              </a:extLst>
            </p:cNvPr>
            <p:cNvSpPr>
              <a:spLocks/>
            </p:cNvSpPr>
            <p:nvPr/>
          </p:nvSpPr>
          <p:spPr bwMode="auto">
            <a:xfrm>
              <a:off x="7842250" y="5755084"/>
              <a:ext cx="241300" cy="498475"/>
            </a:xfrm>
            <a:custGeom>
              <a:avLst/>
              <a:gdLst>
                <a:gd name="T0" fmla="*/ 2147483646 w 152"/>
                <a:gd name="T1" fmla="*/ 0 h 314"/>
                <a:gd name="T2" fmla="*/ 0 w 152"/>
                <a:gd name="T3" fmla="*/ 2147483646 h 314"/>
                <a:gd name="T4" fmla="*/ 2147483646 w 152"/>
                <a:gd name="T5" fmla="*/ 0 h 3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2" h="314">
                  <a:moveTo>
                    <a:pt x="151" y="0"/>
                  </a:moveTo>
                  <a:lnTo>
                    <a:pt x="0" y="313"/>
                  </a:lnTo>
                  <a:lnTo>
                    <a:pt x="151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33" name="Freeform 121">
              <a:extLst>
                <a:ext uri="{FF2B5EF4-FFF2-40B4-BE49-F238E27FC236}">
                  <a16:creationId xmlns:a16="http://schemas.microsoft.com/office/drawing/2014/main" id="{4454107C-7902-80C1-7F2E-AB4622061D62}"/>
                </a:ext>
              </a:extLst>
            </p:cNvPr>
            <p:cNvSpPr>
              <a:spLocks/>
            </p:cNvSpPr>
            <p:nvPr/>
          </p:nvSpPr>
          <p:spPr bwMode="auto">
            <a:xfrm>
              <a:off x="7842250" y="6177359"/>
              <a:ext cx="47625" cy="76200"/>
            </a:xfrm>
            <a:custGeom>
              <a:avLst/>
              <a:gdLst>
                <a:gd name="T0" fmla="*/ 2147483646 w 30"/>
                <a:gd name="T1" fmla="*/ 2147483646 h 48"/>
                <a:gd name="T2" fmla="*/ 0 w 30"/>
                <a:gd name="T3" fmla="*/ 2147483646 h 48"/>
                <a:gd name="T4" fmla="*/ 2147483646 w 30"/>
                <a:gd name="T5" fmla="*/ 0 h 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" h="48">
                  <a:moveTo>
                    <a:pt x="29" y="12"/>
                  </a:moveTo>
                  <a:lnTo>
                    <a:pt x="0" y="47"/>
                  </a:lnTo>
                  <a:lnTo>
                    <a:pt x="11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34" name="Freeform 122">
              <a:extLst>
                <a:ext uri="{FF2B5EF4-FFF2-40B4-BE49-F238E27FC236}">
                  <a16:creationId xmlns:a16="http://schemas.microsoft.com/office/drawing/2014/main" id="{E3AF9E09-D611-C0E4-205B-3199D234C454}"/>
                </a:ext>
              </a:extLst>
            </p:cNvPr>
            <p:cNvSpPr>
              <a:spLocks/>
            </p:cNvSpPr>
            <p:nvPr/>
          </p:nvSpPr>
          <p:spPr bwMode="auto">
            <a:xfrm>
              <a:off x="8121650" y="5755084"/>
              <a:ext cx="1588" cy="549275"/>
            </a:xfrm>
            <a:custGeom>
              <a:avLst/>
              <a:gdLst>
                <a:gd name="T0" fmla="*/ 0 w 1"/>
                <a:gd name="T1" fmla="*/ 0 h 346"/>
                <a:gd name="T2" fmla="*/ 0 w 1"/>
                <a:gd name="T3" fmla="*/ 2147483646 h 346"/>
                <a:gd name="T4" fmla="*/ 0 w 1"/>
                <a:gd name="T5" fmla="*/ 0 h 34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346">
                  <a:moveTo>
                    <a:pt x="0" y="0"/>
                  </a:moveTo>
                  <a:lnTo>
                    <a:pt x="0" y="345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35" name="Freeform 123">
              <a:extLst>
                <a:ext uri="{FF2B5EF4-FFF2-40B4-BE49-F238E27FC236}">
                  <a16:creationId xmlns:a16="http://schemas.microsoft.com/office/drawing/2014/main" id="{BF274910-A08B-74A5-AF0D-04F11F7DAC19}"/>
                </a:ext>
              </a:extLst>
            </p:cNvPr>
            <p:cNvSpPr>
              <a:spLocks/>
            </p:cNvSpPr>
            <p:nvPr/>
          </p:nvSpPr>
          <p:spPr bwMode="auto">
            <a:xfrm>
              <a:off x="8104188" y="6224984"/>
              <a:ext cx="36512" cy="79375"/>
            </a:xfrm>
            <a:custGeom>
              <a:avLst/>
              <a:gdLst>
                <a:gd name="T0" fmla="*/ 2147483646 w 23"/>
                <a:gd name="T1" fmla="*/ 0 h 50"/>
                <a:gd name="T2" fmla="*/ 2147483646 w 23"/>
                <a:gd name="T3" fmla="*/ 2147483646 h 50"/>
                <a:gd name="T4" fmla="*/ 0 w 23"/>
                <a:gd name="T5" fmla="*/ 0 h 5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50">
                  <a:moveTo>
                    <a:pt x="22" y="0"/>
                  </a:moveTo>
                  <a:lnTo>
                    <a:pt x="10" y="49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36" name="Line 124">
              <a:extLst>
                <a:ext uri="{FF2B5EF4-FFF2-40B4-BE49-F238E27FC236}">
                  <a16:creationId xmlns:a16="http://schemas.microsoft.com/office/drawing/2014/main" id="{28BE2D21-2741-3A3F-058D-2A2D969795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900" y="5970984"/>
              <a:ext cx="88392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37" name="Rectangle 125">
              <a:extLst>
                <a:ext uri="{FF2B5EF4-FFF2-40B4-BE49-F238E27FC236}">
                  <a16:creationId xmlns:a16="http://schemas.microsoft.com/office/drawing/2014/main" id="{239E8510-51FF-5C76-25F9-2F3A1F1AF7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2213" y="5447109"/>
              <a:ext cx="1063625" cy="2841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b="1" i="0">
                  <a:latin typeface="Arial" panose="020B0604020202020204" pitchFamily="34" charset="0"/>
                </a:rPr>
                <a:t>Data entries</a:t>
              </a:r>
            </a:p>
          </p:txBody>
        </p:sp>
        <p:sp>
          <p:nvSpPr>
            <p:cNvPr id="13438" name="Rectangle 126">
              <a:extLst>
                <a:ext uri="{FF2B5EF4-FFF2-40B4-BE49-F238E27FC236}">
                  <a16:creationId xmlns:a16="http://schemas.microsoft.com/office/drawing/2014/main" id="{20E18767-8BF5-E5D0-58EF-E1C22031DE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5150" y="6609159"/>
              <a:ext cx="1163638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b="1" i="0">
                  <a:latin typeface="Arial" panose="020B0604020202020204" pitchFamily="34" charset="0"/>
                </a:rPr>
                <a:t>Data Records</a:t>
              </a:r>
            </a:p>
          </p:txBody>
        </p:sp>
        <p:sp>
          <p:nvSpPr>
            <p:cNvPr id="13439" name="Rectangle 127">
              <a:extLst>
                <a:ext uri="{FF2B5EF4-FFF2-40B4-BE49-F238E27FC236}">
                  <a16:creationId xmlns:a16="http://schemas.microsoft.com/office/drawing/2014/main" id="{D477C85D-18D8-3F29-FB7C-E0A863B4DE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785" y="4394597"/>
              <a:ext cx="1290418" cy="3084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b="1" i="0" dirty="0">
                  <a:solidFill>
                    <a:srgbClr val="0000FF"/>
                  </a:solidFill>
                  <a:latin typeface="Book Antiqua" panose="02040602050305030304" pitchFamily="18" charset="0"/>
                </a:rPr>
                <a:t>CLUSTERED</a:t>
              </a:r>
            </a:p>
          </p:txBody>
        </p:sp>
        <p:sp>
          <p:nvSpPr>
            <p:cNvPr id="13440" name="Rectangle 128">
              <a:extLst>
                <a:ext uri="{FF2B5EF4-FFF2-40B4-BE49-F238E27FC236}">
                  <a16:creationId xmlns:a16="http://schemas.microsoft.com/office/drawing/2014/main" id="{746102D8-989B-84BC-E45E-8988F5B35D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56790" y="4316809"/>
              <a:ext cx="1578958" cy="3084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b="1" i="0" dirty="0">
                  <a:solidFill>
                    <a:srgbClr val="0000FF"/>
                  </a:solidFill>
                  <a:latin typeface="Book Antiqua" panose="02040602050305030304" pitchFamily="18" charset="0"/>
                </a:rPr>
                <a:t>UNCLUSTERED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A365F02C-4C8E-917C-6094-C0E21A890C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81000"/>
            <a:ext cx="81057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0" lang="zh-CN" altLang="en-US" b="1" kern="0" dirty="0"/>
              <a:t>有序索引</a:t>
            </a:r>
            <a:endParaRPr kumimoji="0" lang="zh-CN" altLang="en-US" b="1" kern="0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5">
            <a:extLst>
              <a:ext uri="{FF2B5EF4-FFF2-40B4-BE49-F238E27FC236}">
                <a16:creationId xmlns:a16="http://schemas.microsoft.com/office/drawing/2014/main" id="{62589901-FD77-6C47-F113-8839F0E28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370EE00-4A33-4993-BD1D-093A2ADCF64B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zh-CN" sz="1200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14B8F0B3-F51B-12E6-3D02-195FDB1A1A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b="1" kern="0" dirty="0"/>
              <a:t>有序索引</a:t>
            </a:r>
            <a:r>
              <a:rPr kumimoji="0" lang="zh-CN" altLang="en-US" b="1" kern="0" dirty="0">
                <a:solidFill>
                  <a:srgbClr val="0000FF"/>
                </a:solidFill>
              </a:rPr>
              <a:t>之 </a:t>
            </a:r>
            <a:r>
              <a:rPr lang="zh-CN" altLang="en-US" b="1" dirty="0">
                <a:solidFill>
                  <a:srgbClr val="0000FF"/>
                </a:solidFill>
              </a:rPr>
              <a:t>稠密索引</a:t>
            </a:r>
            <a:endParaRPr lang="en-US" altLang="zh-CN" b="1" dirty="0">
              <a:solidFill>
                <a:srgbClr val="0000FF"/>
              </a:solidFill>
            </a:endParaRP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BFEA2B56-9FA3-B9D7-3092-A8EB79EF98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99294" y="1340768"/>
            <a:ext cx="7745412" cy="1872208"/>
          </a:xfrm>
        </p:spPr>
        <p:txBody>
          <a:bodyPr/>
          <a:lstStyle/>
          <a:p>
            <a:pPr eaLnBrk="1" hangingPunct="1"/>
            <a:r>
              <a:rPr lang="zh-CN" altLang="en-US" sz="2500" b="1" dirty="0">
                <a:solidFill>
                  <a:srgbClr val="FF3300"/>
                </a:solidFill>
              </a:rPr>
              <a:t>稠密索引</a:t>
            </a:r>
            <a:r>
              <a:rPr lang="zh-CN" altLang="en-US" sz="2500" b="1" dirty="0"/>
              <a:t>：对</a:t>
            </a:r>
            <a:r>
              <a:rPr lang="zh-CN" altLang="en-US" sz="2500" b="1" dirty="0">
                <a:solidFill>
                  <a:srgbClr val="0000FF"/>
                </a:solidFill>
              </a:rPr>
              <a:t>文件</a:t>
            </a:r>
            <a:r>
              <a:rPr lang="zh-CN" altLang="en-US" sz="2500" b="1" dirty="0"/>
              <a:t>中的</a:t>
            </a:r>
            <a:r>
              <a:rPr lang="zh-CN" altLang="en-US" sz="2500" b="1" dirty="0">
                <a:solidFill>
                  <a:srgbClr val="0000FF"/>
                </a:solidFill>
              </a:rPr>
              <a:t>每个搜索码值</a:t>
            </a:r>
            <a:r>
              <a:rPr lang="zh-CN" altLang="en-US" sz="2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都有</a:t>
            </a:r>
            <a:r>
              <a:rPr lang="zh-CN" altLang="en-US" sz="2500" b="1" dirty="0">
                <a:solidFill>
                  <a:srgbClr val="0000FF"/>
                </a:solidFill>
              </a:rPr>
              <a:t>索引记录</a:t>
            </a:r>
            <a:endParaRPr lang="en-US" altLang="zh-CN" sz="2500" b="1" dirty="0">
              <a:solidFill>
                <a:srgbClr val="0000FF"/>
              </a:solidFill>
            </a:endParaRPr>
          </a:p>
          <a:p>
            <a:pPr lvl="1"/>
            <a:r>
              <a:rPr lang="zh-CN" altLang="en-US" sz="2100" b="1" dirty="0">
                <a:solidFill>
                  <a:srgbClr val="0000FF"/>
                </a:solidFill>
              </a:rPr>
              <a:t>搜索项</a:t>
            </a:r>
            <a:r>
              <a:rPr lang="zh-CN" altLang="en-US" sz="2100" b="1" dirty="0"/>
              <a:t>包括</a:t>
            </a:r>
            <a:r>
              <a:rPr lang="zh-CN" altLang="en-US" sz="2100" b="1" dirty="0">
                <a:solidFill>
                  <a:srgbClr val="0000FF"/>
                </a:solidFill>
              </a:rPr>
              <a:t>搜索码值</a:t>
            </a:r>
            <a:r>
              <a:rPr lang="zh-CN" altLang="en-US" sz="2100" b="1" dirty="0"/>
              <a:t>及</a:t>
            </a:r>
            <a:r>
              <a:rPr lang="zh-CN" altLang="en-US" sz="2100" b="1" dirty="0">
                <a:solidFill>
                  <a:srgbClr val="0000FF"/>
                </a:solidFill>
              </a:rPr>
              <a:t>指向</a:t>
            </a:r>
            <a:r>
              <a:rPr lang="zh-CN" altLang="en-US" sz="2100" b="1" dirty="0"/>
              <a:t>具有该搜索码值的第一条记录的</a:t>
            </a:r>
            <a:r>
              <a:rPr lang="zh-CN" altLang="en-US" sz="2100" b="1" dirty="0">
                <a:solidFill>
                  <a:srgbClr val="0000FF"/>
                </a:solidFill>
              </a:rPr>
              <a:t>指针</a:t>
            </a:r>
            <a:r>
              <a:rPr lang="zh-CN" altLang="en-US" sz="2100" b="1" dirty="0"/>
              <a:t>；</a:t>
            </a:r>
            <a:endParaRPr lang="en-US" altLang="zh-CN" sz="2100" b="1" dirty="0"/>
          </a:p>
          <a:p>
            <a:pPr lvl="1"/>
            <a:endParaRPr lang="en-US" altLang="zh-CN" sz="2100" b="1" dirty="0"/>
          </a:p>
        </p:txBody>
      </p:sp>
      <p:sp>
        <p:nvSpPr>
          <p:cNvPr id="2" name="箭头: 下 1">
            <a:extLst>
              <a:ext uri="{FF2B5EF4-FFF2-40B4-BE49-F238E27FC236}">
                <a16:creationId xmlns:a16="http://schemas.microsoft.com/office/drawing/2014/main" id="{17FC800D-E9E9-9D0B-9476-7C79A21BCAE6}"/>
              </a:ext>
            </a:extLst>
          </p:cNvPr>
          <p:cNvSpPr/>
          <p:nvPr/>
        </p:nvSpPr>
        <p:spPr bwMode="auto">
          <a:xfrm>
            <a:off x="3500680" y="3390614"/>
            <a:ext cx="360040" cy="112277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  <a:cs typeface="Arial" charset="0"/>
            </a:endParaRPr>
          </a:p>
        </p:txBody>
      </p:sp>
      <p:sp>
        <p:nvSpPr>
          <p:cNvPr id="3" name="箭头: 下 2">
            <a:extLst>
              <a:ext uri="{FF2B5EF4-FFF2-40B4-BE49-F238E27FC236}">
                <a16:creationId xmlns:a16="http://schemas.microsoft.com/office/drawing/2014/main" id="{41CE1BA0-7142-2D5F-A43F-DAB492DACCF7}"/>
              </a:ext>
            </a:extLst>
          </p:cNvPr>
          <p:cNvSpPr/>
          <p:nvPr/>
        </p:nvSpPr>
        <p:spPr bwMode="auto">
          <a:xfrm>
            <a:off x="1835696" y="3372861"/>
            <a:ext cx="288032" cy="112277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  <a:cs typeface="Arial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46F5FF-14C0-2D57-87AD-31FE6F6976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3503851"/>
            <a:ext cx="6700837" cy="32546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0DA6DB70-CB02-71DA-F91A-038FD07DD11D}"/>
              </a:ext>
            </a:extLst>
          </p:cNvPr>
          <p:cNvSpPr txBox="1"/>
          <p:nvPr/>
        </p:nvSpPr>
        <p:spPr>
          <a:xfrm>
            <a:off x="251519" y="4423311"/>
            <a:ext cx="12961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6600"/>
                </a:solidFill>
              </a:rPr>
              <a:t>索引建立在</a:t>
            </a:r>
            <a:r>
              <a:rPr lang="zh-CN" altLang="en-US" sz="2000" b="1" dirty="0">
                <a:solidFill>
                  <a:srgbClr val="FF0000"/>
                </a:solidFill>
              </a:rPr>
              <a:t>主码</a:t>
            </a:r>
            <a:r>
              <a:rPr lang="zh-CN" altLang="en-US" sz="2000" b="1" dirty="0">
                <a:solidFill>
                  <a:srgbClr val="006600"/>
                </a:solidFill>
              </a:rPr>
              <a:t>上</a:t>
            </a:r>
          </a:p>
        </p:txBody>
      </p:sp>
    </p:spTree>
    <p:extLst>
      <p:ext uri="{BB962C8B-B14F-4D97-AF65-F5344CB8AC3E}">
        <p14:creationId xmlns:p14="http://schemas.microsoft.com/office/powerpoint/2010/main" val="162880833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3">
            <a:extLst>
              <a:ext uri="{FF2B5EF4-FFF2-40B4-BE49-F238E27FC236}">
                <a16:creationId xmlns:a16="http://schemas.microsoft.com/office/drawing/2014/main" id="{C0D07DDB-CEB9-B35C-6DB5-A0157BD6EE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294" y="1340768"/>
            <a:ext cx="7745412" cy="1845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kumimoji="0" lang="zh-CN" altLang="en-US" sz="2500" b="1" kern="0" dirty="0">
                <a:solidFill>
                  <a:srgbClr val="FF3300"/>
                </a:solidFill>
              </a:rPr>
              <a:t>稠密索引</a:t>
            </a:r>
            <a:r>
              <a:rPr kumimoji="0" lang="zh-CN" altLang="en-US" sz="2500" b="1" kern="0" dirty="0"/>
              <a:t>：对</a:t>
            </a:r>
            <a:r>
              <a:rPr kumimoji="0" lang="zh-CN" altLang="en-US" sz="2500" b="1" kern="0" dirty="0">
                <a:solidFill>
                  <a:srgbClr val="0000FF"/>
                </a:solidFill>
              </a:rPr>
              <a:t>文件</a:t>
            </a:r>
            <a:r>
              <a:rPr kumimoji="0" lang="zh-CN" altLang="en-US" sz="2500" b="1" kern="0" dirty="0"/>
              <a:t>中的</a:t>
            </a:r>
            <a:r>
              <a:rPr kumimoji="0" lang="zh-CN" altLang="en-US" sz="2500" b="1" kern="0" dirty="0">
                <a:solidFill>
                  <a:srgbClr val="0000FF"/>
                </a:solidFill>
              </a:rPr>
              <a:t>每个搜索码值</a:t>
            </a:r>
            <a:r>
              <a:rPr kumimoji="0" lang="zh-CN" altLang="en-US" sz="2500" b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都有</a:t>
            </a:r>
            <a:r>
              <a:rPr kumimoji="0" lang="zh-CN" altLang="en-US" sz="2500" b="1" kern="0" dirty="0">
                <a:solidFill>
                  <a:srgbClr val="0000FF"/>
                </a:solidFill>
              </a:rPr>
              <a:t>索引记录</a:t>
            </a:r>
            <a:endParaRPr kumimoji="0" lang="en-US" altLang="zh-CN" sz="2500" b="1" kern="0" dirty="0">
              <a:solidFill>
                <a:srgbClr val="0000FF"/>
              </a:solidFill>
            </a:endParaRPr>
          </a:p>
          <a:p>
            <a:pPr lvl="1"/>
            <a:r>
              <a:rPr kumimoji="0" lang="zh-CN" altLang="en-US" sz="2100" b="1" kern="0" dirty="0">
                <a:solidFill>
                  <a:srgbClr val="0000FF"/>
                </a:solidFill>
              </a:rPr>
              <a:t>搜索项</a:t>
            </a:r>
            <a:r>
              <a:rPr kumimoji="0" lang="zh-CN" altLang="en-US" sz="2100" b="1" kern="0" dirty="0"/>
              <a:t>包括</a:t>
            </a:r>
            <a:r>
              <a:rPr kumimoji="0" lang="zh-CN" altLang="en-US" sz="2100" b="1" kern="0" dirty="0">
                <a:solidFill>
                  <a:srgbClr val="0000FF"/>
                </a:solidFill>
              </a:rPr>
              <a:t>搜索码值</a:t>
            </a:r>
            <a:r>
              <a:rPr kumimoji="0" lang="zh-CN" altLang="en-US" sz="2100" b="1" kern="0" dirty="0"/>
              <a:t>及</a:t>
            </a:r>
            <a:r>
              <a:rPr kumimoji="0" lang="zh-CN" altLang="en-US" sz="2100" b="1" kern="0" dirty="0">
                <a:solidFill>
                  <a:srgbClr val="0000FF"/>
                </a:solidFill>
              </a:rPr>
              <a:t>指向</a:t>
            </a:r>
            <a:r>
              <a:rPr kumimoji="0" lang="zh-CN" altLang="en-US" sz="2100" b="1" kern="0" dirty="0"/>
              <a:t>具有该搜索码值的第一条记录的</a:t>
            </a:r>
            <a:r>
              <a:rPr kumimoji="0" lang="zh-CN" altLang="en-US" sz="2100" b="1" kern="0" dirty="0">
                <a:solidFill>
                  <a:srgbClr val="0000FF"/>
                </a:solidFill>
              </a:rPr>
              <a:t>指针</a:t>
            </a:r>
            <a:r>
              <a:rPr kumimoji="0" lang="zh-CN" altLang="en-US" sz="2100" b="1" kern="0" dirty="0"/>
              <a:t>；</a:t>
            </a:r>
            <a:endParaRPr kumimoji="0" lang="en-US" altLang="zh-CN" sz="2100" b="1" kern="0" dirty="0"/>
          </a:p>
          <a:p>
            <a:pPr lvl="1"/>
            <a:r>
              <a:rPr kumimoji="0" lang="zh-CN" altLang="en-US" sz="2100" b="1" u="sng" kern="0" dirty="0"/>
              <a:t>具有</a:t>
            </a:r>
            <a:r>
              <a:rPr kumimoji="0" lang="zh-CN" altLang="en-US" sz="2100" b="1" u="sng" kern="0" dirty="0">
                <a:solidFill>
                  <a:srgbClr val="0000FF"/>
                </a:solidFill>
              </a:rPr>
              <a:t>相同搜索码值</a:t>
            </a:r>
            <a:r>
              <a:rPr kumimoji="0" lang="zh-CN" altLang="en-US" sz="2100" b="1" u="sng" kern="0" dirty="0"/>
              <a:t>的其余记录</a:t>
            </a:r>
            <a:r>
              <a:rPr kumimoji="0" lang="zh-CN" altLang="en-US" sz="2100" b="1" kern="0" dirty="0"/>
              <a:t>会</a:t>
            </a:r>
            <a:r>
              <a:rPr kumimoji="0" lang="zh-CN" altLang="en-US" sz="2100" b="1" kern="0" dirty="0">
                <a:solidFill>
                  <a:srgbClr val="0000FF"/>
                </a:solidFill>
              </a:rPr>
              <a:t>顺序地存储</a:t>
            </a:r>
            <a:r>
              <a:rPr kumimoji="0" lang="zh-CN" altLang="en-US" sz="2100" b="1" kern="0" dirty="0"/>
              <a:t>在</a:t>
            </a:r>
            <a:r>
              <a:rPr kumimoji="0" lang="zh-CN" altLang="en-US" sz="2100" b="1" kern="0" dirty="0">
                <a:solidFill>
                  <a:srgbClr val="0000FF"/>
                </a:solidFill>
              </a:rPr>
              <a:t>第一条记录之后</a:t>
            </a:r>
            <a:endParaRPr kumimoji="0" lang="en-US" altLang="zh-CN" sz="2100" b="1" kern="0" dirty="0">
              <a:solidFill>
                <a:srgbClr val="0000FF"/>
              </a:solidFill>
            </a:endParaRPr>
          </a:p>
          <a:p>
            <a:pPr lvl="1"/>
            <a:endParaRPr kumimoji="0" lang="en-US" altLang="zh-CN" sz="2100" b="1" kern="0" dirty="0"/>
          </a:p>
        </p:txBody>
      </p:sp>
      <p:pic>
        <p:nvPicPr>
          <p:cNvPr id="6" name="Picture 7">
            <a:extLst>
              <a:ext uri="{FF2B5EF4-FFF2-40B4-BE49-F238E27FC236}">
                <a16:creationId xmlns:a16="http://schemas.microsoft.com/office/drawing/2014/main" id="{7C3DE749-DAFF-116E-6545-F5A43A9344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8594" y="3527996"/>
            <a:ext cx="7081838" cy="2944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8" name="灯片编号占位符 5">
            <a:extLst>
              <a:ext uri="{FF2B5EF4-FFF2-40B4-BE49-F238E27FC236}">
                <a16:creationId xmlns:a16="http://schemas.microsoft.com/office/drawing/2014/main" id="{62589901-FD77-6C47-F113-8839F0E28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370EE00-4A33-4993-BD1D-093A2ADCF64B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zh-CN" sz="1200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14B8F0B3-F51B-12E6-3D02-195FDB1A1A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00FF"/>
                </a:solidFill>
              </a:rPr>
              <a:t>稠密索引</a:t>
            </a:r>
            <a:endParaRPr lang="en-US" altLang="zh-CN" b="1" dirty="0">
              <a:solidFill>
                <a:srgbClr val="0000FF"/>
              </a:solidFill>
            </a:endParaRPr>
          </a:p>
        </p:txBody>
      </p:sp>
      <p:sp>
        <p:nvSpPr>
          <p:cNvPr id="2" name="箭头: 下 1">
            <a:extLst>
              <a:ext uri="{FF2B5EF4-FFF2-40B4-BE49-F238E27FC236}">
                <a16:creationId xmlns:a16="http://schemas.microsoft.com/office/drawing/2014/main" id="{17FC800D-E9E9-9D0B-9476-7C79A21BCAE6}"/>
              </a:ext>
            </a:extLst>
          </p:cNvPr>
          <p:cNvSpPr/>
          <p:nvPr/>
        </p:nvSpPr>
        <p:spPr bwMode="auto">
          <a:xfrm>
            <a:off x="5912751" y="3397250"/>
            <a:ext cx="432048" cy="117252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  <a:cs typeface="Arial" charset="0"/>
            </a:endParaRPr>
          </a:p>
        </p:txBody>
      </p:sp>
      <p:sp>
        <p:nvSpPr>
          <p:cNvPr id="3" name="箭头: 下 2">
            <a:extLst>
              <a:ext uri="{FF2B5EF4-FFF2-40B4-BE49-F238E27FC236}">
                <a16:creationId xmlns:a16="http://schemas.microsoft.com/office/drawing/2014/main" id="{41CE1BA0-7142-2D5F-A43F-DAB492DACCF7}"/>
              </a:ext>
            </a:extLst>
          </p:cNvPr>
          <p:cNvSpPr/>
          <p:nvPr/>
        </p:nvSpPr>
        <p:spPr bwMode="auto">
          <a:xfrm>
            <a:off x="1666626" y="3383756"/>
            <a:ext cx="432048" cy="117252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  <a:cs typeface="Arial" charset="0"/>
            </a:endParaRPr>
          </a:p>
        </p:txBody>
      </p:sp>
      <p:sp>
        <p:nvSpPr>
          <p:cNvPr id="4" name="矩形: 圆角 4">
            <a:extLst>
              <a:ext uri="{FF2B5EF4-FFF2-40B4-BE49-F238E27FC236}">
                <a16:creationId xmlns:a16="http://schemas.microsoft.com/office/drawing/2014/main" id="{27F79CD5-C8CE-4D54-E6ED-E1D99B585AF1}"/>
              </a:ext>
            </a:extLst>
          </p:cNvPr>
          <p:cNvSpPr/>
          <p:nvPr/>
        </p:nvSpPr>
        <p:spPr bwMode="auto">
          <a:xfrm>
            <a:off x="5591062" y="3804668"/>
            <a:ext cx="1116124" cy="594605"/>
          </a:xfrm>
          <a:prstGeom prst="roundRect">
            <a:avLst/>
          </a:prstGeom>
          <a:noFill/>
          <a:ln w="34925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  <a:cs typeface="Arial" charset="0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C8316B9D-973E-0F64-2DA6-31F43B3A2EC7}"/>
              </a:ext>
            </a:extLst>
          </p:cNvPr>
          <p:cNvSpPr/>
          <p:nvPr/>
        </p:nvSpPr>
        <p:spPr bwMode="auto">
          <a:xfrm>
            <a:off x="5591061" y="4687305"/>
            <a:ext cx="1116124" cy="450589"/>
          </a:xfrm>
          <a:prstGeom prst="roundRect">
            <a:avLst/>
          </a:prstGeom>
          <a:noFill/>
          <a:ln w="34925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  <a:cs typeface="Arial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4A57C5F1-5F13-4A35-DCB9-070C759CCA45}"/>
              </a:ext>
            </a:extLst>
          </p:cNvPr>
          <p:cNvSpPr/>
          <p:nvPr/>
        </p:nvSpPr>
        <p:spPr bwMode="auto">
          <a:xfrm>
            <a:off x="5573060" y="5122589"/>
            <a:ext cx="1116124" cy="450589"/>
          </a:xfrm>
          <a:prstGeom prst="roundRect">
            <a:avLst/>
          </a:prstGeom>
          <a:noFill/>
          <a:ln w="34925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  <a:cs typeface="Arial" charset="0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C00626C-5530-BA51-40FF-E3E1822F4635}"/>
              </a:ext>
            </a:extLst>
          </p:cNvPr>
          <p:cNvSpPr/>
          <p:nvPr/>
        </p:nvSpPr>
        <p:spPr bwMode="auto">
          <a:xfrm>
            <a:off x="5570713" y="5859716"/>
            <a:ext cx="1116124" cy="450589"/>
          </a:xfrm>
          <a:prstGeom prst="roundRect">
            <a:avLst/>
          </a:prstGeom>
          <a:noFill/>
          <a:ln w="34925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  <a:cs typeface="Arial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157CC63-41C6-24BB-DB66-F9E7E81712E9}"/>
              </a:ext>
            </a:extLst>
          </p:cNvPr>
          <p:cNvSpPr txBox="1"/>
          <p:nvPr/>
        </p:nvSpPr>
        <p:spPr>
          <a:xfrm>
            <a:off x="6642040" y="3010861"/>
            <a:ext cx="8002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排序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6F0EB12-70AA-4ED2-A725-DC878588E39F}"/>
              </a:ext>
            </a:extLst>
          </p:cNvPr>
          <p:cNvSpPr txBox="1"/>
          <p:nvPr/>
        </p:nvSpPr>
        <p:spPr>
          <a:xfrm>
            <a:off x="539552" y="5517232"/>
            <a:ext cx="25074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006600"/>
                </a:solidFill>
              </a:rPr>
              <a:t>索引建立在</a:t>
            </a:r>
            <a:r>
              <a:rPr lang="zh-CN" altLang="en-US" sz="2000" b="1" dirty="0">
                <a:solidFill>
                  <a:srgbClr val="FF0000"/>
                </a:solidFill>
              </a:rPr>
              <a:t>非主码</a:t>
            </a:r>
            <a:r>
              <a:rPr lang="zh-CN" altLang="en-US" sz="2000" b="1" dirty="0">
                <a:solidFill>
                  <a:srgbClr val="006600"/>
                </a:solidFill>
              </a:rPr>
              <a:t>上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>
            <a:extLst>
              <a:ext uri="{FF2B5EF4-FFF2-40B4-BE49-F238E27FC236}">
                <a16:creationId xmlns:a16="http://schemas.microsoft.com/office/drawing/2014/main" id="{07CCB433-A1CC-D2FC-7CE3-615B7E5248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4434768"/>
            <a:ext cx="4933091" cy="22700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4" name="Rectangle 3">
            <a:extLst>
              <a:ext uri="{FF2B5EF4-FFF2-40B4-BE49-F238E27FC236}">
                <a16:creationId xmlns:a16="http://schemas.microsoft.com/office/drawing/2014/main" id="{A65D269E-C25B-8806-CA7C-9E50DD0204D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718523" y="1340768"/>
            <a:ext cx="8029941" cy="3289300"/>
          </a:xfrm>
        </p:spPr>
        <p:txBody>
          <a:bodyPr/>
          <a:lstStyle/>
          <a:p>
            <a:pPr eaLnBrk="1" hangingPunct="1"/>
            <a:r>
              <a:rPr lang="zh-CN" altLang="en-US" sz="1900" b="1" dirty="0">
                <a:solidFill>
                  <a:srgbClr val="FF3300"/>
                </a:solidFill>
              </a:rPr>
              <a:t>稀疏索引</a:t>
            </a:r>
            <a:r>
              <a:rPr lang="zh-CN" altLang="en-US" sz="1900" b="1" dirty="0"/>
              <a:t>：只对</a:t>
            </a:r>
            <a:r>
              <a:rPr lang="zh-CN" altLang="en-US" sz="19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某些</a:t>
            </a:r>
            <a:r>
              <a:rPr lang="zh-CN" altLang="en-US" sz="1900" b="1" dirty="0">
                <a:solidFill>
                  <a:srgbClr val="0000FF"/>
                </a:solidFill>
              </a:rPr>
              <a:t>搜索码值</a:t>
            </a:r>
            <a:r>
              <a:rPr lang="zh-CN" altLang="en-US" sz="1900" b="1" dirty="0"/>
              <a:t>有</a:t>
            </a:r>
            <a:r>
              <a:rPr lang="zh-CN" altLang="en-US" sz="1900" b="1" dirty="0">
                <a:solidFill>
                  <a:srgbClr val="0000FF"/>
                </a:solidFill>
              </a:rPr>
              <a:t>索引记录</a:t>
            </a:r>
            <a:endParaRPr lang="en-US" altLang="zh-CN" sz="1900" b="1" dirty="0">
              <a:solidFill>
                <a:srgbClr val="0000FF"/>
              </a:solidFill>
            </a:endParaRPr>
          </a:p>
          <a:p>
            <a:pPr lvl="1" eaLnBrk="1" hangingPunct="1"/>
            <a:r>
              <a:rPr lang="zh-CN" altLang="en-US" sz="19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仅当</a:t>
            </a:r>
            <a:r>
              <a:rPr lang="zh-CN" altLang="en-US" sz="1900" b="1" dirty="0">
                <a:solidFill>
                  <a:srgbClr val="0000FF"/>
                </a:solidFill>
              </a:rPr>
              <a:t>文件记录</a:t>
            </a:r>
            <a:r>
              <a:rPr lang="zh-CN" altLang="en-US" sz="1900" b="1" dirty="0">
                <a:solidFill>
                  <a:srgbClr val="FF0000"/>
                </a:solidFill>
              </a:rPr>
              <a:t>按</a:t>
            </a:r>
            <a:r>
              <a:rPr lang="zh-CN" altLang="en-US" sz="1900" b="1" dirty="0">
                <a:solidFill>
                  <a:srgbClr val="0000FF"/>
                </a:solidFill>
              </a:rPr>
              <a:t>搜索码</a:t>
            </a:r>
            <a:r>
              <a:rPr lang="zh-CN" altLang="en-US" sz="1900" b="1" dirty="0">
                <a:solidFill>
                  <a:srgbClr val="FF0000"/>
                </a:solidFill>
              </a:rPr>
              <a:t>排序</a:t>
            </a:r>
            <a:r>
              <a:rPr lang="zh-CN" altLang="en-US" sz="1900" b="1" dirty="0"/>
              <a:t>才可用</a:t>
            </a:r>
            <a:endParaRPr lang="en-US" altLang="zh-CN" sz="1900" b="1" dirty="0"/>
          </a:p>
          <a:p>
            <a:pPr eaLnBrk="1" hangingPunct="1"/>
            <a:r>
              <a:rPr lang="zh-CN" altLang="en-US" sz="1900" b="1" dirty="0"/>
              <a:t>定位具有搜索码值</a:t>
            </a:r>
            <a:r>
              <a:rPr lang="en-US" altLang="zh-CN" sz="1900" b="1" dirty="0"/>
              <a:t>K</a:t>
            </a:r>
            <a:r>
              <a:rPr lang="zh-CN" altLang="en-US" sz="1900" b="1" dirty="0"/>
              <a:t>的记录</a:t>
            </a:r>
          </a:p>
          <a:p>
            <a:pPr lvl="1" eaLnBrk="1" hangingPunct="1"/>
            <a:r>
              <a:rPr lang="zh-CN" altLang="en-US" sz="1900" b="1" dirty="0"/>
              <a:t>找到具有</a:t>
            </a:r>
            <a:r>
              <a:rPr lang="zh-CN" altLang="en-US" sz="1900" b="1" dirty="0">
                <a:solidFill>
                  <a:srgbClr val="0000FF"/>
                </a:solidFill>
              </a:rPr>
              <a:t>比</a:t>
            </a:r>
            <a:r>
              <a:rPr lang="en-US" altLang="zh-CN" sz="1900" b="1" dirty="0">
                <a:solidFill>
                  <a:srgbClr val="0000FF"/>
                </a:solidFill>
              </a:rPr>
              <a:t>K</a:t>
            </a:r>
            <a:r>
              <a:rPr lang="zh-CN" altLang="en-US" sz="1900" b="1" dirty="0">
                <a:solidFill>
                  <a:srgbClr val="0000FF"/>
                </a:solidFill>
              </a:rPr>
              <a:t>小</a:t>
            </a:r>
            <a:r>
              <a:rPr lang="zh-CN" altLang="en-US" sz="1900" b="1" dirty="0"/>
              <a:t>的</a:t>
            </a:r>
            <a:r>
              <a:rPr lang="zh-CN" altLang="en-US" sz="1900" b="1" dirty="0">
                <a:solidFill>
                  <a:srgbClr val="0000FF"/>
                </a:solidFill>
              </a:rPr>
              <a:t>最大</a:t>
            </a:r>
            <a:r>
              <a:rPr lang="zh-CN" altLang="en-US" sz="1900" b="1" dirty="0">
                <a:solidFill>
                  <a:srgbClr val="7030A0"/>
                </a:solidFill>
              </a:rPr>
              <a:t>搜索码值</a:t>
            </a:r>
            <a:r>
              <a:rPr lang="zh-CN" altLang="en-US" sz="1900" b="1" dirty="0"/>
              <a:t>的</a:t>
            </a:r>
            <a:r>
              <a:rPr lang="zh-CN" altLang="en-US" sz="1900" b="1" dirty="0">
                <a:solidFill>
                  <a:srgbClr val="0000FF"/>
                </a:solidFill>
              </a:rPr>
              <a:t>索引记录</a:t>
            </a:r>
            <a:endParaRPr lang="en-US" altLang="zh-CN" sz="1900" b="1" dirty="0">
              <a:solidFill>
                <a:srgbClr val="0000FF"/>
              </a:solidFill>
            </a:endParaRPr>
          </a:p>
          <a:p>
            <a:pPr lvl="1" eaLnBrk="1" hangingPunct="1"/>
            <a:r>
              <a:rPr lang="zh-CN" altLang="en-US" sz="1900" b="1" dirty="0"/>
              <a:t>从该</a:t>
            </a:r>
            <a:r>
              <a:rPr lang="zh-CN" altLang="en-US" sz="1900" b="1" dirty="0">
                <a:solidFill>
                  <a:srgbClr val="0000FF"/>
                </a:solidFill>
              </a:rPr>
              <a:t>索引记录</a:t>
            </a:r>
            <a:r>
              <a:rPr lang="zh-CN" altLang="en-US" sz="1900" b="1" u="sng" dirty="0">
                <a:solidFill>
                  <a:srgbClr val="FF0000"/>
                </a:solidFill>
              </a:rPr>
              <a:t>指向</a:t>
            </a:r>
            <a:r>
              <a:rPr lang="zh-CN" altLang="en-US" sz="1900" b="1" u="sng" dirty="0"/>
              <a:t>的文件记录</a:t>
            </a:r>
            <a:r>
              <a:rPr lang="zh-CN" altLang="en-US" sz="1900" b="1" dirty="0">
                <a:solidFill>
                  <a:srgbClr val="FF0000"/>
                </a:solidFill>
              </a:rPr>
              <a:t>开始</a:t>
            </a:r>
            <a:r>
              <a:rPr lang="zh-CN" altLang="en-US" sz="1900" b="1" dirty="0">
                <a:solidFill>
                  <a:srgbClr val="0000FF"/>
                </a:solidFill>
              </a:rPr>
              <a:t>顺序搜索文件</a:t>
            </a:r>
            <a:endParaRPr lang="en-US" altLang="zh-CN" sz="1900" b="1" dirty="0">
              <a:solidFill>
                <a:srgbClr val="0000FF"/>
              </a:solidFill>
            </a:endParaRPr>
          </a:p>
          <a:p>
            <a:pPr eaLnBrk="1" hangingPunct="1"/>
            <a:r>
              <a:rPr lang="zh-CN" altLang="en-US" sz="1900" b="1" dirty="0"/>
              <a:t>插入和删除需要</a:t>
            </a:r>
            <a:r>
              <a:rPr lang="zh-CN" altLang="en-US" sz="1900" b="1" dirty="0">
                <a:solidFill>
                  <a:srgbClr val="0000FF"/>
                </a:solidFill>
              </a:rPr>
              <a:t>较少空间</a:t>
            </a:r>
            <a:r>
              <a:rPr lang="zh-CN" altLang="en-US" sz="1900" b="1" dirty="0"/>
              <a:t>与</a:t>
            </a:r>
            <a:r>
              <a:rPr lang="zh-CN" altLang="en-US" sz="1900" b="1" dirty="0">
                <a:solidFill>
                  <a:srgbClr val="0000FF"/>
                </a:solidFill>
              </a:rPr>
              <a:t>维护开销</a:t>
            </a:r>
            <a:endParaRPr lang="en-US" altLang="zh-CN" sz="1900" b="1" dirty="0">
              <a:solidFill>
                <a:srgbClr val="0000FF"/>
              </a:solidFill>
            </a:endParaRPr>
          </a:p>
          <a:p>
            <a:pPr eaLnBrk="1" hangingPunct="1"/>
            <a:r>
              <a:rPr lang="zh-CN" altLang="en-US" sz="1900" b="1" dirty="0">
                <a:solidFill>
                  <a:srgbClr val="0000FF"/>
                </a:solidFill>
              </a:rPr>
              <a:t>查找</a:t>
            </a:r>
            <a:r>
              <a:rPr lang="zh-CN" altLang="en-US" sz="1900" b="1" dirty="0"/>
              <a:t>记录一般比稠密索引</a:t>
            </a:r>
            <a:r>
              <a:rPr lang="zh-CN" altLang="en-US" sz="1900" b="1" dirty="0">
                <a:solidFill>
                  <a:srgbClr val="0000FF"/>
                </a:solidFill>
              </a:rPr>
              <a:t>慢</a:t>
            </a:r>
            <a:endParaRPr lang="en-US" altLang="zh-CN" sz="1900" b="1" dirty="0">
              <a:solidFill>
                <a:srgbClr val="0000FF"/>
              </a:solidFill>
            </a:endParaRPr>
          </a:p>
          <a:p>
            <a:pPr eaLnBrk="1" hangingPunct="1"/>
            <a:r>
              <a:rPr lang="zh-CN" altLang="en-US" sz="1900" b="1" dirty="0"/>
              <a:t>一种好的折衷：针对文件的</a:t>
            </a:r>
            <a:r>
              <a:rPr lang="zh-CN" altLang="en-US" sz="1900" b="1" dirty="0">
                <a:solidFill>
                  <a:srgbClr val="0000FF"/>
                </a:solidFill>
              </a:rPr>
              <a:t>每个块</a:t>
            </a:r>
            <a:r>
              <a:rPr lang="zh-CN" altLang="en-US" sz="1900" b="1" dirty="0"/>
              <a:t>建立稀疏索引的</a:t>
            </a:r>
            <a:r>
              <a:rPr lang="zh-CN" altLang="en-US" sz="1900" b="1" dirty="0">
                <a:solidFill>
                  <a:srgbClr val="0000FF"/>
                </a:solidFill>
              </a:rPr>
              <a:t>索引项</a:t>
            </a:r>
            <a:r>
              <a:rPr lang="zh-CN" altLang="en-US" sz="1900" b="1" dirty="0"/>
              <a:t>，对应于</a:t>
            </a:r>
            <a:r>
              <a:rPr lang="zh-CN" altLang="en-US" sz="1900" b="1" dirty="0">
                <a:solidFill>
                  <a:srgbClr val="FF0000"/>
                </a:solidFill>
              </a:rPr>
              <a:t>该块</a:t>
            </a:r>
            <a:r>
              <a:rPr lang="zh-CN" altLang="en-US" sz="1900" b="1" dirty="0"/>
              <a:t>中的</a:t>
            </a:r>
            <a:r>
              <a:rPr lang="zh-CN" altLang="en-US" sz="1900" b="1" dirty="0">
                <a:solidFill>
                  <a:srgbClr val="0000FF"/>
                </a:solidFill>
              </a:rPr>
              <a:t>最小搜索码值</a:t>
            </a:r>
            <a:endParaRPr lang="en-US" altLang="zh-CN" sz="1900" b="1" dirty="0">
              <a:solidFill>
                <a:srgbClr val="0000FF"/>
              </a:solidFill>
            </a:endParaRPr>
          </a:p>
        </p:txBody>
      </p:sp>
      <p:sp>
        <p:nvSpPr>
          <p:cNvPr id="15362" name="灯片编号占位符 6">
            <a:extLst>
              <a:ext uri="{FF2B5EF4-FFF2-40B4-BE49-F238E27FC236}">
                <a16:creationId xmlns:a16="http://schemas.microsoft.com/office/drawing/2014/main" id="{A640246C-FFEB-394E-FA70-C437D848B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508AD78-E20D-4D03-98D7-E7FEF165BAEC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zh-CN" sz="120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C1227C0-EBFE-462F-5D42-8BBD21929A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81000"/>
            <a:ext cx="81057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zh-CN" altLang="en-US" b="1" dirty="0">
                <a:solidFill>
                  <a:srgbClr val="0000FF"/>
                </a:solidFill>
              </a:rPr>
              <a:t>稀疏索引</a:t>
            </a:r>
            <a:endParaRPr kumimoji="0" lang="en-US" altLang="zh-CN" b="1" kern="0" dirty="0">
              <a:solidFill>
                <a:srgbClr val="0000FF"/>
              </a:solidFill>
            </a:endParaRPr>
          </a:p>
        </p:txBody>
      </p:sp>
      <p:sp>
        <p:nvSpPr>
          <p:cNvPr id="3" name="矩形: 圆角 4">
            <a:extLst>
              <a:ext uri="{FF2B5EF4-FFF2-40B4-BE49-F238E27FC236}">
                <a16:creationId xmlns:a16="http://schemas.microsoft.com/office/drawing/2014/main" id="{6B66BB31-1614-4F55-375E-4CFDD65B8D58}"/>
              </a:ext>
            </a:extLst>
          </p:cNvPr>
          <p:cNvSpPr/>
          <p:nvPr/>
        </p:nvSpPr>
        <p:spPr bwMode="auto">
          <a:xfrm>
            <a:off x="4499992" y="5124143"/>
            <a:ext cx="432048" cy="208473"/>
          </a:xfrm>
          <a:prstGeom prst="roundRect">
            <a:avLst/>
          </a:prstGeom>
          <a:noFill/>
          <a:ln w="34925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  <a:cs typeface="Arial" charset="0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C6BE067-6591-3B77-33ED-A85F5C5FA8A0}"/>
              </a:ext>
            </a:extLst>
          </p:cNvPr>
          <p:cNvSpPr/>
          <p:nvPr/>
        </p:nvSpPr>
        <p:spPr bwMode="auto">
          <a:xfrm>
            <a:off x="4499992" y="6024113"/>
            <a:ext cx="432048" cy="208473"/>
          </a:xfrm>
          <a:prstGeom prst="roundRect">
            <a:avLst/>
          </a:prstGeom>
          <a:noFill/>
          <a:ln w="34925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  <a:cs typeface="Arial" charset="0"/>
            </a:endParaRPr>
          </a:p>
        </p:txBody>
      </p:sp>
      <p:sp>
        <p:nvSpPr>
          <p:cNvPr id="8" name="矩形: 圆角 4">
            <a:extLst>
              <a:ext uri="{FF2B5EF4-FFF2-40B4-BE49-F238E27FC236}">
                <a16:creationId xmlns:a16="http://schemas.microsoft.com/office/drawing/2014/main" id="{31FB6004-8BCA-5B59-20E5-AC90A598CE28}"/>
              </a:ext>
            </a:extLst>
          </p:cNvPr>
          <p:cNvSpPr/>
          <p:nvPr/>
        </p:nvSpPr>
        <p:spPr bwMode="auto">
          <a:xfrm>
            <a:off x="4499992" y="4434768"/>
            <a:ext cx="432048" cy="208473"/>
          </a:xfrm>
          <a:prstGeom prst="roundRect">
            <a:avLst/>
          </a:prstGeom>
          <a:noFill/>
          <a:ln w="34925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  <a:cs typeface="Arial" charset="0"/>
            </a:endParaRPr>
          </a:p>
        </p:txBody>
      </p:sp>
      <p:sp>
        <p:nvSpPr>
          <p:cNvPr id="9" name="箭头: 下 8">
            <a:extLst>
              <a:ext uri="{FF2B5EF4-FFF2-40B4-BE49-F238E27FC236}">
                <a16:creationId xmlns:a16="http://schemas.microsoft.com/office/drawing/2014/main" id="{B0BCFD78-E0C4-56A1-E5F8-DBCE3D1D79DE}"/>
              </a:ext>
            </a:extLst>
          </p:cNvPr>
          <p:cNvSpPr/>
          <p:nvPr/>
        </p:nvSpPr>
        <p:spPr bwMode="auto">
          <a:xfrm>
            <a:off x="4544078" y="4215722"/>
            <a:ext cx="288032" cy="144016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  <a:cs typeface="Arial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5">
            <a:extLst>
              <a:ext uri="{FF2B5EF4-FFF2-40B4-BE49-F238E27FC236}">
                <a16:creationId xmlns:a16="http://schemas.microsoft.com/office/drawing/2014/main" id="{1594C9C9-913D-1079-B498-BFA0DA947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F2568DD-AE79-4F73-9F16-F533876BC74B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zh-CN" sz="1200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A77574EE-E62A-CB5E-B289-F25A3284CD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00FF"/>
                </a:solidFill>
              </a:rPr>
              <a:t>多级索引</a:t>
            </a:r>
            <a:endParaRPr lang="en-US" altLang="zh-CN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94F07FF1-222F-49A6-1E26-07629B06A2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7068" y="1397107"/>
            <a:ext cx="7789863" cy="4602163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500" b="1" dirty="0"/>
              <a:t>如果</a:t>
            </a:r>
            <a:r>
              <a:rPr lang="zh-CN" altLang="en-US" sz="2500" b="1" dirty="0">
                <a:solidFill>
                  <a:srgbClr val="0000FF"/>
                </a:solidFill>
              </a:rPr>
              <a:t>主索引</a:t>
            </a:r>
            <a:r>
              <a:rPr lang="zh-CN" altLang="en-US" sz="2500" b="1" dirty="0"/>
              <a:t>不能一次放入内存，存取代价就会很大，可能需要</a:t>
            </a:r>
            <a:r>
              <a:rPr lang="zh-CN" altLang="en-US" sz="2500" b="1" dirty="0">
                <a:solidFill>
                  <a:srgbClr val="0000FF"/>
                </a:solidFill>
              </a:rPr>
              <a:t>顺序读取索引文件本身</a:t>
            </a:r>
            <a:endParaRPr lang="en-US" altLang="zh-CN" sz="2500" b="1" dirty="0">
              <a:solidFill>
                <a:srgbClr val="0000FF"/>
              </a:solidFill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500" b="1" dirty="0"/>
              <a:t>为</a:t>
            </a:r>
            <a:r>
              <a:rPr lang="zh-CN" altLang="en-US" sz="2500" b="1" dirty="0">
                <a:solidFill>
                  <a:srgbClr val="0000FF"/>
                </a:solidFill>
              </a:rPr>
              <a:t>减少</a:t>
            </a:r>
            <a:r>
              <a:rPr lang="zh-CN" altLang="en-US" sz="2500" b="1" dirty="0"/>
              <a:t>对</a:t>
            </a:r>
            <a:r>
              <a:rPr lang="zh-CN" altLang="en-US" sz="2500" b="1" u="sng" dirty="0"/>
              <a:t>索引记录的磁盘</a:t>
            </a:r>
            <a:r>
              <a:rPr lang="zh-CN" altLang="en-US" sz="2500" b="1" dirty="0">
                <a:solidFill>
                  <a:srgbClr val="0000FF"/>
                </a:solidFill>
              </a:rPr>
              <a:t>存取次数</a:t>
            </a:r>
            <a:r>
              <a:rPr lang="zh-CN" altLang="en-US" sz="2500" b="1" dirty="0"/>
              <a:t>，将</a:t>
            </a:r>
            <a:r>
              <a:rPr lang="zh-CN" altLang="en-US" sz="2500" b="1" dirty="0">
                <a:solidFill>
                  <a:srgbClr val="0000FF"/>
                </a:solidFill>
              </a:rPr>
              <a:t>主索引</a:t>
            </a:r>
            <a:r>
              <a:rPr lang="zh-CN" altLang="en-US" sz="2500" b="1" dirty="0">
                <a:solidFill>
                  <a:srgbClr val="FF0000"/>
                </a:solidFill>
              </a:rPr>
              <a:t>视为</a:t>
            </a:r>
            <a:r>
              <a:rPr lang="zh-CN" altLang="en-US" sz="2500" b="1" dirty="0"/>
              <a:t>存储在磁盘上的</a:t>
            </a:r>
            <a:r>
              <a:rPr lang="zh-CN" altLang="en-US" sz="2500" b="1" dirty="0">
                <a:solidFill>
                  <a:srgbClr val="0000FF"/>
                </a:solidFill>
              </a:rPr>
              <a:t>顺序文件</a:t>
            </a:r>
            <a:r>
              <a:rPr lang="zh-CN" altLang="en-US" sz="2500" b="1" dirty="0"/>
              <a:t>并为它建立一个</a:t>
            </a:r>
            <a:r>
              <a:rPr lang="zh-CN" altLang="en-US" sz="2500" b="1" dirty="0">
                <a:solidFill>
                  <a:srgbClr val="0000FF"/>
                </a:solidFill>
              </a:rPr>
              <a:t>稀疏索引</a:t>
            </a:r>
            <a:endParaRPr lang="en-US" altLang="zh-CN" sz="2500" b="1" dirty="0">
              <a:solidFill>
                <a:srgbClr val="0000FF"/>
              </a:solidFill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100" b="1" dirty="0">
                <a:solidFill>
                  <a:srgbClr val="0000FF"/>
                </a:solidFill>
              </a:rPr>
              <a:t>外层索引</a:t>
            </a:r>
            <a:r>
              <a:rPr lang="zh-CN" altLang="en-US" sz="2100" b="1" dirty="0"/>
              <a:t>：主索引的稀疏索引</a:t>
            </a:r>
            <a:endParaRPr lang="en-US" altLang="zh-CN" sz="2100" b="1" dirty="0"/>
          </a:p>
          <a:p>
            <a:pPr lvl="1" eaLnBrk="1" hangingPunct="1">
              <a:lnSpc>
                <a:spcPct val="120000"/>
              </a:lnSpc>
            </a:pPr>
            <a:r>
              <a:rPr lang="zh-CN" altLang="en-US" sz="2100" b="1" dirty="0">
                <a:solidFill>
                  <a:srgbClr val="0000FF"/>
                </a:solidFill>
              </a:rPr>
              <a:t>内层索引</a:t>
            </a:r>
            <a:r>
              <a:rPr lang="zh-CN" altLang="en-US" sz="2100" b="1" dirty="0"/>
              <a:t>：主索引文件</a:t>
            </a:r>
            <a:endParaRPr lang="en-US" altLang="zh-CN" sz="2100" b="1" dirty="0"/>
          </a:p>
          <a:p>
            <a:pPr eaLnBrk="1" hangingPunct="1">
              <a:lnSpc>
                <a:spcPct val="120000"/>
              </a:lnSpc>
            </a:pPr>
            <a:r>
              <a:rPr lang="zh-CN" altLang="en-US" sz="2500" b="1" dirty="0"/>
              <a:t>如果外索引仍太大而不能放入内存，还可再为它创建另一层索引，如此类推</a:t>
            </a:r>
            <a:endParaRPr lang="en-US" altLang="zh-CN" sz="2500" b="1" dirty="0"/>
          </a:p>
          <a:p>
            <a:pPr eaLnBrk="1" hangingPunct="1">
              <a:lnSpc>
                <a:spcPct val="120000"/>
              </a:lnSpc>
            </a:pPr>
            <a:r>
              <a:rPr lang="zh-CN" altLang="en-US" sz="2500" b="1" dirty="0"/>
              <a:t>当插入或删除文件记录时，</a:t>
            </a:r>
            <a:r>
              <a:rPr lang="zh-CN" altLang="en-US" sz="2500" b="1" dirty="0">
                <a:solidFill>
                  <a:srgbClr val="0000FF"/>
                </a:solidFill>
              </a:rPr>
              <a:t>各层索引</a:t>
            </a:r>
            <a:r>
              <a:rPr lang="zh-CN" altLang="en-US" sz="2500" b="1" dirty="0"/>
              <a:t>都必须更新</a:t>
            </a:r>
            <a:endParaRPr lang="en-US" altLang="zh-CN" sz="2500" b="1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6">
            <a:extLst>
              <a:ext uri="{FF2B5EF4-FFF2-40B4-BE49-F238E27FC236}">
                <a16:creationId xmlns:a16="http://schemas.microsoft.com/office/drawing/2014/main" id="{35E81043-E673-D541-8D4B-A233711B1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0AD3833-6070-41F4-A69C-AA2FD162902B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zh-CN" sz="1200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6C8AEF16-5AC4-380F-CF69-93CB59B44A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584" y="234950"/>
            <a:ext cx="7313612" cy="908050"/>
          </a:xfrm>
        </p:spPr>
        <p:txBody>
          <a:bodyPr/>
          <a:lstStyle/>
          <a:p>
            <a:r>
              <a:rPr lang="zh-CN" altLang="en-US" b="1" dirty="0"/>
              <a:t>辅助索引</a:t>
            </a:r>
            <a:r>
              <a:rPr lang="en-US" altLang="zh-CN" b="1" dirty="0"/>
              <a:t>(</a:t>
            </a:r>
            <a:r>
              <a:rPr lang="zh-CN" altLang="en-US" b="1" dirty="0"/>
              <a:t>非聚集索引</a:t>
            </a:r>
            <a:r>
              <a:rPr lang="en-US" altLang="zh-CN" b="1" dirty="0"/>
              <a:t>)</a:t>
            </a: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5E1A8169-F8A3-5568-30D9-C3E8EDC92FE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46100" y="1409700"/>
            <a:ext cx="7975600" cy="5021263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zh-CN" altLang="en-US" sz="1900" b="1" dirty="0"/>
              <a:t>经常需要</a:t>
            </a:r>
            <a:r>
              <a:rPr lang="zh-CN" altLang="en-US" sz="1900" b="1" dirty="0">
                <a:solidFill>
                  <a:srgbClr val="006600"/>
                </a:solidFill>
              </a:rPr>
              <a:t>查找</a:t>
            </a:r>
            <a:r>
              <a:rPr lang="zh-CN" altLang="en-US" sz="1900" b="1" dirty="0">
                <a:solidFill>
                  <a:srgbClr val="0000FF"/>
                </a:solidFill>
              </a:rPr>
              <a:t>某属性值</a:t>
            </a:r>
            <a:r>
              <a:rPr lang="en-US" altLang="zh-CN" sz="1900" b="1" dirty="0"/>
              <a:t>(</a:t>
            </a:r>
            <a:r>
              <a:rPr lang="zh-CN" altLang="en-US" sz="1900" b="1" dirty="0"/>
              <a:t>不是主索引的搜索码)</a:t>
            </a:r>
            <a:r>
              <a:rPr lang="en-US" altLang="zh-CN" sz="1900" b="1" dirty="0"/>
              <a:t> </a:t>
            </a:r>
            <a:r>
              <a:rPr lang="zh-CN" altLang="en-US" sz="1900" b="1" dirty="0">
                <a:solidFill>
                  <a:srgbClr val="006600"/>
                </a:solidFill>
              </a:rPr>
              <a:t>满足</a:t>
            </a:r>
            <a:r>
              <a:rPr lang="zh-CN" altLang="en-US" sz="1900" b="1" dirty="0">
                <a:solidFill>
                  <a:srgbClr val="0000FF"/>
                </a:solidFill>
              </a:rPr>
              <a:t>给定条件</a:t>
            </a:r>
            <a:r>
              <a:rPr lang="zh-CN" altLang="en-US" sz="1900" b="1" dirty="0"/>
              <a:t>的记录</a:t>
            </a:r>
            <a:endParaRPr lang="en-US" altLang="zh-CN" sz="1900" b="1" dirty="0"/>
          </a:p>
          <a:p>
            <a:pPr lvl="1" eaLnBrk="1" hangingPunct="1">
              <a:lnSpc>
                <a:spcPct val="130000"/>
              </a:lnSpc>
            </a:pPr>
            <a:r>
              <a:rPr lang="zh-CN" altLang="en-US" sz="1900" b="1" dirty="0"/>
              <a:t>例：查找具有</a:t>
            </a:r>
            <a:r>
              <a:rPr lang="zh-CN" altLang="en-US" sz="1900" b="1" dirty="0">
                <a:solidFill>
                  <a:srgbClr val="0000FF"/>
                </a:solidFill>
              </a:rPr>
              <a:t>指定薪水</a:t>
            </a:r>
            <a:r>
              <a:rPr lang="zh-CN" altLang="en-US" sz="1900" b="1" dirty="0"/>
              <a:t>或</a:t>
            </a:r>
            <a:r>
              <a:rPr lang="zh-CN" altLang="en-US" sz="1900" b="1" dirty="0">
                <a:solidFill>
                  <a:srgbClr val="0000FF"/>
                </a:solidFill>
              </a:rPr>
              <a:t>薪水范围</a:t>
            </a:r>
            <a:r>
              <a:rPr lang="zh-CN" altLang="en-US" sz="1900" b="1" dirty="0">
                <a:solidFill>
                  <a:srgbClr val="006600"/>
                </a:solidFill>
              </a:rPr>
              <a:t>的全体教师信息</a:t>
            </a:r>
            <a:endParaRPr lang="en-US" altLang="zh-CN" sz="1900" b="1" dirty="0">
              <a:solidFill>
                <a:srgbClr val="006600"/>
              </a:solidFill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1900" b="1" dirty="0"/>
              <a:t>可建立</a:t>
            </a:r>
            <a:r>
              <a:rPr lang="zh-CN" altLang="en-US" sz="1900" b="1" dirty="0">
                <a:solidFill>
                  <a:srgbClr val="0000FF"/>
                </a:solidFill>
              </a:rPr>
              <a:t>辅助索引</a:t>
            </a:r>
            <a:r>
              <a:rPr lang="zh-CN" altLang="en-US" sz="1900" b="1" dirty="0"/>
              <a:t>，它对</a:t>
            </a:r>
            <a:r>
              <a:rPr lang="zh-CN" altLang="en-US" sz="1900" b="1" dirty="0">
                <a:solidFill>
                  <a:srgbClr val="0000FF"/>
                </a:solidFill>
              </a:rPr>
              <a:t>每个搜索码值</a:t>
            </a:r>
            <a:r>
              <a:rPr lang="zh-CN" altLang="en-US" sz="1900" b="1" dirty="0"/>
              <a:t>都有一</a:t>
            </a:r>
            <a:r>
              <a:rPr lang="zh-CN" altLang="en-US" sz="1900" b="1" dirty="0">
                <a:solidFill>
                  <a:srgbClr val="0000FF"/>
                </a:solidFill>
              </a:rPr>
              <a:t>索引记录</a:t>
            </a:r>
            <a:r>
              <a:rPr lang="zh-CN" altLang="en-US" sz="1900" b="1" dirty="0"/>
              <a:t>；索引记录</a:t>
            </a:r>
            <a:r>
              <a:rPr lang="zh-CN" altLang="en-US" sz="1900" b="1" dirty="0">
                <a:solidFill>
                  <a:srgbClr val="FF0000"/>
                </a:solidFill>
              </a:rPr>
              <a:t>指向</a:t>
            </a:r>
            <a:r>
              <a:rPr lang="zh-CN" altLang="en-US" sz="1900" b="1" dirty="0"/>
              <a:t>包含</a:t>
            </a:r>
            <a:r>
              <a:rPr lang="zh-CN" altLang="en-US" sz="1900" b="1" dirty="0">
                <a:solidFill>
                  <a:srgbClr val="0000FF"/>
                </a:solidFill>
              </a:rPr>
              <a:t>具有该搜索码值</a:t>
            </a:r>
            <a:r>
              <a:rPr lang="zh-CN" altLang="en-US" sz="1900" b="1" dirty="0"/>
              <a:t>的所有</a:t>
            </a:r>
            <a:r>
              <a:rPr lang="zh-CN" altLang="en-US" sz="1900" b="1" u="sng" dirty="0">
                <a:solidFill>
                  <a:srgbClr val="FF0000"/>
                </a:solidFill>
              </a:rPr>
              <a:t>实际记录</a:t>
            </a:r>
            <a:r>
              <a:rPr lang="zh-CN" altLang="en-US" sz="1900" b="1" u="sng" dirty="0"/>
              <a:t>的</a:t>
            </a:r>
            <a:r>
              <a:rPr lang="zh-CN" altLang="en-US" sz="1900" b="1" u="sng" dirty="0">
                <a:solidFill>
                  <a:srgbClr val="FF0000"/>
                </a:solidFill>
              </a:rPr>
              <a:t>指针</a:t>
            </a:r>
            <a:r>
              <a:rPr lang="zh-CN" altLang="en-US" sz="1900" b="1" dirty="0"/>
              <a:t>的</a:t>
            </a:r>
            <a:r>
              <a:rPr lang="zh-CN" altLang="en-US" sz="2000" b="1" dirty="0">
                <a:solidFill>
                  <a:srgbClr val="0000FF"/>
                </a:solidFill>
              </a:rPr>
              <a:t>桶</a:t>
            </a:r>
            <a:endParaRPr lang="en-US" altLang="zh-CN" sz="1900" b="1" dirty="0">
              <a:solidFill>
                <a:srgbClr val="0000FF"/>
              </a:solidFill>
            </a:endParaRPr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0BC18C55-78DF-C60D-3E61-A0E25242F9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1460" y="3136961"/>
            <a:ext cx="6553190" cy="32146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: 圆角 4">
            <a:extLst>
              <a:ext uri="{FF2B5EF4-FFF2-40B4-BE49-F238E27FC236}">
                <a16:creationId xmlns:a16="http://schemas.microsoft.com/office/drawing/2014/main" id="{60F552EE-D8BD-7CF6-46EF-15A1DB691F6B}"/>
              </a:ext>
            </a:extLst>
          </p:cNvPr>
          <p:cNvSpPr/>
          <p:nvPr/>
        </p:nvSpPr>
        <p:spPr bwMode="auto">
          <a:xfrm>
            <a:off x="2844634" y="4745199"/>
            <a:ext cx="432048" cy="576064"/>
          </a:xfrm>
          <a:prstGeom prst="roundRect">
            <a:avLst/>
          </a:prstGeom>
          <a:noFill/>
          <a:ln w="34925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  <a:cs typeface="Arial" charset="0"/>
            </a:endParaRPr>
          </a:p>
        </p:txBody>
      </p:sp>
      <p:sp>
        <p:nvSpPr>
          <p:cNvPr id="4" name="矩形: 圆角 4">
            <a:extLst>
              <a:ext uri="{FF2B5EF4-FFF2-40B4-BE49-F238E27FC236}">
                <a16:creationId xmlns:a16="http://schemas.microsoft.com/office/drawing/2014/main" id="{30566067-7FB5-209D-C890-AD84A10B2284}"/>
              </a:ext>
            </a:extLst>
          </p:cNvPr>
          <p:cNvSpPr/>
          <p:nvPr/>
        </p:nvSpPr>
        <p:spPr bwMode="auto">
          <a:xfrm>
            <a:off x="6516216" y="5301208"/>
            <a:ext cx="525934" cy="216024"/>
          </a:xfrm>
          <a:prstGeom prst="roundRect">
            <a:avLst/>
          </a:prstGeom>
          <a:noFill/>
          <a:ln w="34925" cap="flat" cmpd="sng" algn="ctr">
            <a:solidFill>
              <a:srgbClr val="C0000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  <a:cs typeface="Arial" charset="0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72E79023-6657-04F6-19AE-A5E893DBFA61}"/>
              </a:ext>
            </a:extLst>
          </p:cNvPr>
          <p:cNvSpPr/>
          <p:nvPr/>
        </p:nvSpPr>
        <p:spPr bwMode="auto">
          <a:xfrm>
            <a:off x="6547865" y="5919602"/>
            <a:ext cx="525934" cy="216024"/>
          </a:xfrm>
          <a:prstGeom prst="roundRect">
            <a:avLst/>
          </a:prstGeom>
          <a:noFill/>
          <a:ln w="34925" cap="flat" cmpd="sng" algn="ctr">
            <a:solidFill>
              <a:srgbClr val="C0000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  <a:cs typeface="Arial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18F970-8AEC-ADCD-BC11-0FB18F714531}"/>
              </a:ext>
            </a:extLst>
          </p:cNvPr>
          <p:cNvSpPr txBox="1"/>
          <p:nvPr/>
        </p:nvSpPr>
        <p:spPr>
          <a:xfrm>
            <a:off x="5534261" y="3226504"/>
            <a:ext cx="25074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006600"/>
                </a:solidFill>
              </a:rPr>
              <a:t>索引建立在</a:t>
            </a:r>
            <a:r>
              <a:rPr lang="zh-CN" altLang="en-US" sz="2000" b="1" dirty="0">
                <a:solidFill>
                  <a:srgbClr val="FF0000"/>
                </a:solidFill>
              </a:rPr>
              <a:t>非主码</a:t>
            </a:r>
            <a:r>
              <a:rPr lang="zh-CN" altLang="en-US" sz="2000" b="1" dirty="0">
                <a:solidFill>
                  <a:srgbClr val="006600"/>
                </a:solidFill>
              </a:rPr>
              <a:t>上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A0C830B-2D65-1053-3E97-C2D34CB2CDEF}"/>
              </a:ext>
            </a:extLst>
          </p:cNvPr>
          <p:cNvSpPr txBox="1"/>
          <p:nvPr/>
        </p:nvSpPr>
        <p:spPr>
          <a:xfrm>
            <a:off x="196850" y="5889985"/>
            <a:ext cx="27299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1" dirty="0"/>
              <a:t>附加了一个间接指针层，即桶；包含了</a:t>
            </a:r>
            <a:r>
              <a:rPr lang="zh-CN" altLang="en-US" sz="1800" b="1" dirty="0">
                <a:solidFill>
                  <a:srgbClr val="0000FF"/>
                </a:solidFill>
              </a:rPr>
              <a:t>具有相同搜索码</a:t>
            </a:r>
            <a:r>
              <a:rPr lang="zh-CN" altLang="en-US" sz="1800" b="1" dirty="0"/>
              <a:t>的</a:t>
            </a:r>
            <a:r>
              <a:rPr lang="zh-CN" altLang="en-US" sz="1800" b="1" dirty="0">
                <a:solidFill>
                  <a:srgbClr val="0000FF"/>
                </a:solidFill>
              </a:rPr>
              <a:t>所有记录的指针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6475C076-4EDE-5E58-5376-D9A4ADA7F54D}"/>
              </a:ext>
            </a:extLst>
          </p:cNvPr>
          <p:cNvCxnSpPr>
            <a:cxnSpLocks/>
            <a:stCxn id="7" idx="0"/>
          </p:cNvCxnSpPr>
          <p:nvPr/>
        </p:nvCxnSpPr>
        <p:spPr bwMode="auto">
          <a:xfrm flipV="1">
            <a:off x="1561831" y="5166581"/>
            <a:ext cx="1286102" cy="72340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6600"/>
            </a:solidFill>
            <a:prstDash val="sysDot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4" grpId="0" animBg="1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5">
            <a:extLst>
              <a:ext uri="{FF2B5EF4-FFF2-40B4-BE49-F238E27FC236}">
                <a16:creationId xmlns:a16="http://schemas.microsoft.com/office/drawing/2014/main" id="{C8A9D20D-5B8F-FD92-ABDA-04E50F70C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20B18B8-8B75-4580-B05C-63FED9B6F76E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zh-CN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455253BF-30AA-21BB-6A0C-07975912C3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主索引与辅助索引</a:t>
            </a:r>
            <a:endParaRPr lang="en-US" altLang="zh-CN" b="1" dirty="0"/>
          </a:p>
        </p:txBody>
      </p:sp>
      <p:sp>
        <p:nvSpPr>
          <p:cNvPr id="301059" name="Rectangle 3">
            <a:extLst>
              <a:ext uri="{FF2B5EF4-FFF2-40B4-BE49-F238E27FC236}">
                <a16:creationId xmlns:a16="http://schemas.microsoft.com/office/drawing/2014/main" id="{0C3F7B0C-9892-74FB-456A-292BE88ABB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3568" y="1412776"/>
            <a:ext cx="8158162" cy="5132387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800" b="1" dirty="0">
                <a:solidFill>
                  <a:srgbClr val="0000FF"/>
                </a:solidFill>
              </a:rPr>
              <a:t>辅助索引</a:t>
            </a:r>
            <a:r>
              <a:rPr lang="zh-CN" altLang="en-US" sz="2800" b="1" dirty="0"/>
              <a:t>必须是</a:t>
            </a:r>
            <a:r>
              <a:rPr lang="zh-CN" altLang="en-US" sz="2800" b="1" dirty="0">
                <a:solidFill>
                  <a:srgbClr val="0000FF"/>
                </a:solidFill>
              </a:rPr>
              <a:t>稠密</a:t>
            </a:r>
            <a:r>
              <a:rPr lang="zh-CN" altLang="en-US" sz="2800" b="1" dirty="0"/>
              <a:t>的</a:t>
            </a:r>
            <a:endParaRPr lang="en-US" altLang="zh-CN" sz="2800" b="1" dirty="0"/>
          </a:p>
          <a:p>
            <a:pPr eaLnBrk="1" hangingPunct="1">
              <a:lnSpc>
                <a:spcPct val="120000"/>
              </a:lnSpc>
            </a:pPr>
            <a:r>
              <a:rPr lang="zh-CN" altLang="en-US" sz="2800" b="1" dirty="0"/>
              <a:t>索引对搜索文件记录很有益处</a:t>
            </a:r>
            <a:endParaRPr lang="en-US" altLang="zh-CN" sz="2800" b="1" dirty="0"/>
          </a:p>
          <a:p>
            <a:pPr eaLnBrk="1" hangingPunct="1">
              <a:lnSpc>
                <a:spcPct val="120000"/>
              </a:lnSpc>
            </a:pPr>
            <a:r>
              <a:rPr lang="zh-CN" altLang="en-US" sz="2800" b="1" dirty="0">
                <a:solidFill>
                  <a:srgbClr val="0000FF"/>
                </a:solidFill>
              </a:rPr>
              <a:t>更新文件</a:t>
            </a:r>
            <a:r>
              <a:rPr lang="zh-CN" altLang="en-US" sz="2800" b="1" dirty="0"/>
              <a:t>时，该文件上的</a:t>
            </a:r>
            <a:r>
              <a:rPr lang="zh-CN" altLang="en-US" sz="2800" b="1" dirty="0">
                <a:solidFill>
                  <a:srgbClr val="0000FF"/>
                </a:solidFill>
              </a:rPr>
              <a:t>每个索引都必须更新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sz="2400" b="1" dirty="0"/>
              <a:t>更新索引给数据库更新带来开销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</a:pPr>
            <a:r>
              <a:rPr lang="zh-CN" altLang="en-US" sz="2800" b="1" dirty="0"/>
              <a:t>利用主索引做顺序扫描很高效，但利用辅助索引做顺序扫描则代价昂贵</a:t>
            </a:r>
            <a:endParaRPr lang="en-US" altLang="zh-CN" sz="2800" b="1" dirty="0"/>
          </a:p>
          <a:p>
            <a:pPr lvl="1" eaLnBrk="1" hangingPunct="1">
              <a:lnSpc>
                <a:spcPct val="120000"/>
              </a:lnSpc>
            </a:pPr>
            <a:r>
              <a:rPr lang="zh-CN" altLang="en-US" sz="2400" b="1" dirty="0"/>
              <a:t>因为对</a:t>
            </a:r>
            <a:r>
              <a:rPr lang="zh-CN" altLang="en-US" sz="2400" b="1" dirty="0">
                <a:solidFill>
                  <a:srgbClr val="0000FF"/>
                </a:solidFill>
              </a:rPr>
              <a:t>每条记录的存取</a:t>
            </a:r>
            <a:r>
              <a:rPr lang="zh-CN" altLang="en-US" sz="2400" b="1" dirty="0"/>
              <a:t>都可能导致</a:t>
            </a:r>
            <a:r>
              <a:rPr lang="zh-CN" altLang="en-US" sz="2400" b="1" dirty="0">
                <a:solidFill>
                  <a:srgbClr val="0000FF"/>
                </a:solidFill>
              </a:rPr>
              <a:t>存取一个</a:t>
            </a:r>
            <a:r>
              <a:rPr lang="zh-CN" altLang="en-US" sz="2400" b="1" dirty="0">
                <a:solidFill>
                  <a:srgbClr val="FF0000"/>
                </a:solidFill>
              </a:rPr>
              <a:t>新的</a:t>
            </a:r>
            <a:r>
              <a:rPr lang="zh-CN" altLang="en-US" sz="2400" b="1" dirty="0">
                <a:solidFill>
                  <a:srgbClr val="0000FF"/>
                </a:solidFill>
              </a:rPr>
              <a:t>磁盘块</a:t>
            </a:r>
            <a:endParaRPr lang="en-US" altLang="zh-CN" sz="2400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1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5">
            <a:extLst>
              <a:ext uri="{FF2B5EF4-FFF2-40B4-BE49-F238E27FC236}">
                <a16:creationId xmlns:a16="http://schemas.microsoft.com/office/drawing/2014/main" id="{E7CB0A3B-A738-4B03-DF01-6015AEEB0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F24878C-DFAD-4352-88DA-63988153186D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zh-CN" sz="1200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5101A9C1-8799-091B-3ECD-B3D0BD7F19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主要内容</a:t>
            </a:r>
            <a:endParaRPr lang="en-US" altLang="zh-CN" b="1"/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013283D4-CF59-8DBE-4935-BCD24455DC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3137" y="1484784"/>
            <a:ext cx="7835900" cy="4846637"/>
          </a:xfrm>
        </p:spPr>
        <p:txBody>
          <a:bodyPr/>
          <a:lstStyle/>
          <a:p>
            <a:pPr eaLnBrk="1" hangingPunct="1"/>
            <a:r>
              <a:rPr lang="zh-CN" altLang="en-US" sz="3300" b="1" dirty="0"/>
              <a:t>基本概念</a:t>
            </a:r>
            <a:endParaRPr lang="en-US" altLang="zh-CN" sz="3300" b="1" dirty="0"/>
          </a:p>
          <a:p>
            <a:pPr eaLnBrk="1" hangingPunct="1"/>
            <a:r>
              <a:rPr lang="zh-CN" altLang="en-US" sz="3300" b="1" dirty="0"/>
              <a:t>有序索引</a:t>
            </a:r>
            <a:endParaRPr lang="en-US" altLang="zh-CN" sz="3300" b="1" dirty="0"/>
          </a:p>
          <a:p>
            <a:pPr eaLnBrk="1" hangingPunct="1"/>
            <a:r>
              <a:rPr lang="en-US" altLang="zh-CN" sz="3300" b="1" dirty="0" err="1">
                <a:solidFill>
                  <a:srgbClr val="0000FF"/>
                </a:solidFill>
              </a:rPr>
              <a:t>B</a:t>
            </a:r>
            <a:r>
              <a:rPr lang="en-US" altLang="zh-CN" sz="3300" b="1" baseline="30000" dirty="0" err="1">
                <a:solidFill>
                  <a:srgbClr val="0000FF"/>
                </a:solidFill>
              </a:rPr>
              <a:t>+</a:t>
            </a:r>
            <a:r>
              <a:rPr lang="en-US" altLang="zh-CN" sz="3300" b="1" dirty="0" err="1">
                <a:solidFill>
                  <a:srgbClr val="0000FF"/>
                </a:solidFill>
              </a:rPr>
              <a:t>Tree</a:t>
            </a:r>
            <a:r>
              <a:rPr lang="en-US" altLang="zh-CN" sz="3300" b="1" dirty="0">
                <a:solidFill>
                  <a:srgbClr val="0000FF"/>
                </a:solidFill>
              </a:rPr>
              <a:t> </a:t>
            </a:r>
            <a:r>
              <a:rPr lang="zh-CN" altLang="en-US" sz="3300" b="1" dirty="0">
                <a:solidFill>
                  <a:srgbClr val="0000FF"/>
                </a:solidFill>
              </a:rPr>
              <a:t>索引文件</a:t>
            </a:r>
            <a:endParaRPr lang="en-US" altLang="zh-CN" sz="3300" b="1" dirty="0">
              <a:solidFill>
                <a:srgbClr val="0000FF"/>
              </a:solidFill>
            </a:endParaRPr>
          </a:p>
          <a:p>
            <a:pPr eaLnBrk="1" hangingPunct="1"/>
            <a:r>
              <a:rPr lang="zh-CN" altLang="en-US" sz="3300" b="1" dirty="0"/>
              <a:t>散列索引</a:t>
            </a:r>
            <a:endParaRPr lang="en-US" altLang="zh-CN" sz="3300" b="1" dirty="0"/>
          </a:p>
          <a:p>
            <a:pPr eaLnBrk="1" hangingPunct="1"/>
            <a:r>
              <a:rPr lang="zh-CN" altLang="en-US" sz="3300" b="1" dirty="0"/>
              <a:t>有序索引与散列的比较</a:t>
            </a:r>
            <a:endParaRPr lang="en-US" altLang="zh-CN" sz="3300" b="1" dirty="0"/>
          </a:p>
          <a:p>
            <a:pPr eaLnBrk="1" hangingPunct="1"/>
            <a:r>
              <a:rPr lang="en-US" altLang="zh-CN" sz="3300" b="1" dirty="0"/>
              <a:t>SQL</a:t>
            </a:r>
            <a:r>
              <a:rPr lang="zh-CN" altLang="en-US" sz="3300" b="1" dirty="0"/>
              <a:t>中的索引定义</a:t>
            </a:r>
          </a:p>
          <a:p>
            <a:pPr eaLnBrk="1" hangingPunct="1"/>
            <a:r>
              <a:rPr lang="zh-CN" altLang="en-US" sz="3300" b="1" dirty="0"/>
              <a:t>多码存取</a:t>
            </a:r>
            <a:endParaRPr lang="en-US" altLang="zh-CN" sz="3300" b="1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5">
            <a:extLst>
              <a:ext uri="{FF2B5EF4-FFF2-40B4-BE49-F238E27FC236}">
                <a16:creationId xmlns:a16="http://schemas.microsoft.com/office/drawing/2014/main" id="{FB8B6AAA-CAD6-E43D-057B-5EBCEF4AA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123542D-4F21-4259-9A38-AF7D8BA05119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zh-CN" sz="1200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CD5A2DEF-D9DB-4A10-E923-F21BC9355F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B</a:t>
            </a:r>
            <a:r>
              <a:rPr lang="en-US" altLang="zh-CN" b="1" baseline="30000"/>
              <a:t>+</a:t>
            </a:r>
            <a:r>
              <a:rPr lang="en-US" altLang="zh-CN" b="1"/>
              <a:t>Tree </a:t>
            </a:r>
            <a:r>
              <a:rPr lang="zh-CN" altLang="en-US" b="1"/>
              <a:t>索引文件</a:t>
            </a: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1481A235-974C-5174-43DF-DAD3AD4F18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452563"/>
            <a:ext cx="7313612" cy="4791075"/>
          </a:xfrm>
        </p:spPr>
        <p:txBody>
          <a:bodyPr/>
          <a:lstStyle/>
          <a:p>
            <a:pPr>
              <a:lnSpc>
                <a:spcPct val="180000"/>
              </a:lnSpc>
            </a:pPr>
            <a:r>
              <a:rPr lang="en-US" altLang="zh-CN" sz="2800" b="1" dirty="0" err="1">
                <a:solidFill>
                  <a:srgbClr val="0000FF"/>
                </a:solidFill>
              </a:rPr>
              <a:t>B</a:t>
            </a:r>
            <a:r>
              <a:rPr lang="en-US" altLang="zh-CN" sz="2800" b="1" baseline="30000" dirty="0" err="1">
                <a:solidFill>
                  <a:srgbClr val="0000FF"/>
                </a:solidFill>
              </a:rPr>
              <a:t>+</a:t>
            </a:r>
            <a:r>
              <a:rPr lang="en-US" altLang="zh-CN" sz="2800" b="1" dirty="0" err="1">
                <a:solidFill>
                  <a:srgbClr val="0000FF"/>
                </a:solidFill>
              </a:rPr>
              <a:t>Tree</a:t>
            </a:r>
            <a:r>
              <a:rPr lang="en-US" altLang="zh-CN" sz="2800" b="1" dirty="0">
                <a:solidFill>
                  <a:srgbClr val="0000FF"/>
                </a:solidFill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</a:rPr>
              <a:t>索引文件</a:t>
            </a:r>
            <a:endParaRPr lang="en-US" altLang="zh-CN" sz="2800" b="1" dirty="0">
              <a:solidFill>
                <a:srgbClr val="0000FF"/>
              </a:solidFill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en-US" altLang="zh-CN" sz="2100" b="1" dirty="0" err="1"/>
              <a:t>B</a:t>
            </a:r>
            <a:r>
              <a:rPr lang="en-US" altLang="zh-CN" sz="2100" b="1" baseline="30000" dirty="0" err="1"/>
              <a:t>+</a:t>
            </a:r>
            <a:r>
              <a:rPr lang="en-US" altLang="zh-CN" sz="2100" b="1" dirty="0" err="1"/>
              <a:t>Tree</a:t>
            </a:r>
            <a:r>
              <a:rPr lang="zh-CN" altLang="en-US" sz="2100" b="1" dirty="0"/>
              <a:t>结构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2100" b="1" dirty="0"/>
              <a:t>对</a:t>
            </a:r>
            <a:r>
              <a:rPr lang="en-US" altLang="zh-CN" sz="2100" b="1" dirty="0" err="1"/>
              <a:t>B</a:t>
            </a:r>
            <a:r>
              <a:rPr lang="en-US" altLang="zh-CN" sz="2100" b="1" baseline="30000" dirty="0" err="1"/>
              <a:t>+</a:t>
            </a:r>
            <a:r>
              <a:rPr lang="en-US" altLang="zh-CN" sz="2100" b="1" dirty="0" err="1"/>
              <a:t>Tree</a:t>
            </a:r>
            <a:r>
              <a:rPr lang="zh-CN" altLang="en-US" sz="2100" b="1" dirty="0"/>
              <a:t>的查询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2100" b="1" dirty="0"/>
              <a:t>对</a:t>
            </a:r>
            <a:r>
              <a:rPr lang="en-US" altLang="zh-CN" sz="2100" b="1" dirty="0" err="1"/>
              <a:t>B</a:t>
            </a:r>
            <a:r>
              <a:rPr lang="en-US" altLang="zh-CN" sz="2100" b="1" baseline="30000" dirty="0" err="1"/>
              <a:t>+</a:t>
            </a:r>
            <a:r>
              <a:rPr lang="en-US" altLang="zh-CN" sz="2100" b="1" dirty="0" err="1"/>
              <a:t>Tree</a:t>
            </a:r>
            <a:r>
              <a:rPr lang="zh-CN" altLang="en-US" sz="2100" b="1" dirty="0"/>
              <a:t>的更新</a:t>
            </a:r>
          </a:p>
          <a:p>
            <a:pPr lvl="2">
              <a:lnSpc>
                <a:spcPct val="150000"/>
              </a:lnSpc>
              <a:spcBef>
                <a:spcPts val="600"/>
              </a:spcBef>
            </a:pPr>
            <a:r>
              <a:rPr lang="zh-CN" altLang="en-US" sz="1700" b="1" dirty="0"/>
              <a:t>插入</a:t>
            </a:r>
          </a:p>
          <a:p>
            <a:pPr lvl="2">
              <a:lnSpc>
                <a:spcPct val="150000"/>
              </a:lnSpc>
              <a:spcBef>
                <a:spcPts val="600"/>
              </a:spcBef>
            </a:pPr>
            <a:r>
              <a:rPr lang="zh-CN" altLang="en-US" sz="1700" b="1" dirty="0"/>
              <a:t>删除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en-US" altLang="zh-CN" sz="2100" b="1" dirty="0" err="1"/>
              <a:t>B</a:t>
            </a:r>
            <a:r>
              <a:rPr lang="en-US" altLang="zh-CN" sz="2100" b="1" baseline="30000" dirty="0" err="1"/>
              <a:t>+</a:t>
            </a:r>
            <a:r>
              <a:rPr lang="en-US" altLang="zh-CN" sz="2100" b="1" dirty="0" err="1"/>
              <a:t>Tree</a:t>
            </a:r>
            <a:r>
              <a:rPr lang="zh-CN" altLang="en-US" sz="2100" b="1" dirty="0"/>
              <a:t>文件组织</a:t>
            </a: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5">
            <a:extLst>
              <a:ext uri="{FF2B5EF4-FFF2-40B4-BE49-F238E27FC236}">
                <a16:creationId xmlns:a16="http://schemas.microsoft.com/office/drawing/2014/main" id="{D6A4A9A7-450B-191E-2C61-4EFDBC6F8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997A378-D181-46C1-9DB2-3B6C7C8FB8BF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zh-CN" sz="1200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50977219-1EE8-857B-70E8-870FB6F2FB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B</a:t>
            </a:r>
            <a:r>
              <a:rPr lang="en-US" altLang="zh-CN" b="1" baseline="30000"/>
              <a:t>+</a:t>
            </a:r>
            <a:r>
              <a:rPr lang="zh-CN" altLang="en-US" b="1"/>
              <a:t>树索引文件</a:t>
            </a:r>
            <a:endParaRPr lang="en-US" altLang="zh-CN" b="1"/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FE4446F0-FDA6-A456-A6D1-BA88C5B8F7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576" y="1368127"/>
            <a:ext cx="8013700" cy="5332711"/>
          </a:xfrm>
        </p:spPr>
        <p:txBody>
          <a:bodyPr/>
          <a:lstStyle/>
          <a:p>
            <a:pPr eaLnBrk="1" hangingPunct="1"/>
            <a:r>
              <a:rPr lang="zh-CN" altLang="en-US" sz="2400" b="1" dirty="0">
                <a:solidFill>
                  <a:srgbClr val="006600"/>
                </a:solidFill>
              </a:rPr>
              <a:t>索引顺序文件</a:t>
            </a:r>
            <a:r>
              <a:rPr lang="zh-CN" altLang="en-US" sz="2400" b="1" dirty="0"/>
              <a:t>的缺点</a:t>
            </a:r>
          </a:p>
          <a:p>
            <a:pPr lvl="1" eaLnBrk="1" hangingPunct="1"/>
            <a:r>
              <a:rPr lang="zh-CN" altLang="en-US" sz="2000" b="1" dirty="0"/>
              <a:t>当</a:t>
            </a:r>
            <a:r>
              <a:rPr lang="zh-CN" altLang="en-US" sz="2000" b="1" dirty="0">
                <a:solidFill>
                  <a:srgbClr val="0000FF"/>
                </a:solidFill>
              </a:rPr>
              <a:t>数据变化</a:t>
            </a:r>
            <a:r>
              <a:rPr lang="zh-CN" altLang="en-US" sz="2000" b="1" dirty="0"/>
              <a:t>时，执行简单的维护策略，可能创建</a:t>
            </a:r>
            <a:r>
              <a:rPr lang="zh-CN" altLang="en-US" sz="2000" b="1" dirty="0">
                <a:solidFill>
                  <a:srgbClr val="0000FF"/>
                </a:solidFill>
              </a:rPr>
              <a:t>许多溢出块</a:t>
            </a:r>
            <a:r>
              <a:rPr lang="zh-CN" altLang="en-US" sz="2000" b="1" dirty="0"/>
              <a:t>，导致文件增大时性能降低</a:t>
            </a:r>
          </a:p>
          <a:p>
            <a:pPr lvl="1" eaLnBrk="1" hangingPunct="1"/>
            <a:r>
              <a:rPr lang="zh-CN" altLang="en-US" sz="2000" b="1" dirty="0"/>
              <a:t>需要对整个文件进行</a:t>
            </a:r>
            <a:r>
              <a:rPr lang="zh-CN" altLang="en-US" sz="2000" b="1" dirty="0">
                <a:solidFill>
                  <a:srgbClr val="0000FF"/>
                </a:solidFill>
              </a:rPr>
              <a:t>周期性的重组</a:t>
            </a:r>
            <a:endParaRPr lang="en-US" altLang="zh-CN" sz="2000" b="1" dirty="0">
              <a:solidFill>
                <a:srgbClr val="0000FF"/>
              </a:solidFill>
            </a:endParaRPr>
          </a:p>
          <a:p>
            <a:pPr eaLnBrk="1" hangingPunct="1"/>
            <a:r>
              <a:rPr lang="en-US" altLang="zh-CN" sz="2400" b="1" dirty="0"/>
              <a:t>B</a:t>
            </a:r>
            <a:r>
              <a:rPr lang="en-US" altLang="zh-CN" sz="2400" b="1" baseline="30000" dirty="0"/>
              <a:t>+</a:t>
            </a:r>
            <a:r>
              <a:rPr lang="zh-CN" altLang="en-US" sz="2400" b="1" dirty="0"/>
              <a:t>树索引结构是使用最广泛的在</a:t>
            </a:r>
            <a:r>
              <a:rPr lang="zh-CN" altLang="en-US" sz="2400" b="1" dirty="0">
                <a:solidFill>
                  <a:srgbClr val="0000FF"/>
                </a:solidFill>
              </a:rPr>
              <a:t>数据插入</a:t>
            </a:r>
            <a:r>
              <a:rPr lang="zh-CN" altLang="en-US" sz="2400" b="1" dirty="0"/>
              <a:t>和</a:t>
            </a:r>
            <a:r>
              <a:rPr lang="zh-CN" altLang="en-US" sz="2400" b="1" dirty="0">
                <a:solidFill>
                  <a:srgbClr val="0000FF"/>
                </a:solidFill>
              </a:rPr>
              <a:t>删除情况下能够保持执行效率</a:t>
            </a:r>
            <a:r>
              <a:rPr lang="zh-CN" altLang="en-US" sz="2400" b="1" dirty="0"/>
              <a:t>的索引结构之一</a:t>
            </a:r>
            <a:endParaRPr lang="en-US" altLang="zh-CN" sz="2400" b="1" dirty="0"/>
          </a:p>
          <a:p>
            <a:pPr eaLnBrk="1" hangingPunct="1"/>
            <a:r>
              <a:rPr lang="en-US" altLang="zh-CN" sz="2400" b="1" dirty="0"/>
              <a:t>B</a:t>
            </a:r>
            <a:r>
              <a:rPr lang="en-US" altLang="zh-CN" sz="2400" b="1" baseline="30000" dirty="0"/>
              <a:t>+</a:t>
            </a:r>
            <a:r>
              <a:rPr lang="zh-CN" altLang="en-US" sz="2400" b="1" dirty="0"/>
              <a:t>树索引的优点</a:t>
            </a:r>
          </a:p>
          <a:p>
            <a:pPr lvl="1" eaLnBrk="1" hangingPunct="1"/>
            <a:r>
              <a:rPr lang="zh-CN" altLang="en-US" sz="2000" b="1" dirty="0"/>
              <a:t>插入与删除时仅以较少的局部变化来进行调整，不需要重组整个文件来维持性能</a:t>
            </a:r>
            <a:endParaRPr lang="en-US" altLang="zh-CN" sz="2000" b="1" dirty="0"/>
          </a:p>
          <a:p>
            <a:pPr eaLnBrk="1" hangingPunct="1"/>
            <a:r>
              <a:rPr lang="en-US" altLang="zh-CN" sz="2400" b="1" dirty="0"/>
              <a:t>B</a:t>
            </a:r>
            <a:r>
              <a:rPr lang="en-US" altLang="zh-CN" sz="2400" b="1" baseline="30000" dirty="0"/>
              <a:t>+</a:t>
            </a:r>
            <a:r>
              <a:rPr lang="zh-CN" altLang="en-US" sz="2400" b="1" dirty="0"/>
              <a:t>树索引的缺点</a:t>
            </a:r>
          </a:p>
          <a:p>
            <a:pPr lvl="1" eaLnBrk="1" hangingPunct="1"/>
            <a:r>
              <a:rPr lang="zh-CN" altLang="en-US" sz="2000" b="1" dirty="0"/>
              <a:t>额外的插入与删除开销、空间开销</a:t>
            </a:r>
            <a:endParaRPr lang="en-US" altLang="zh-CN" sz="2000" b="1" dirty="0"/>
          </a:p>
          <a:p>
            <a:pPr eaLnBrk="1" hangingPunct="1"/>
            <a:r>
              <a:rPr lang="en-US" altLang="zh-CN" sz="2400" b="1" dirty="0"/>
              <a:t>B</a:t>
            </a:r>
            <a:r>
              <a:rPr lang="en-US" altLang="zh-CN" sz="2400" b="1" baseline="30000" dirty="0"/>
              <a:t>+</a:t>
            </a:r>
            <a:r>
              <a:rPr lang="zh-CN" altLang="en-US" sz="2400" b="1" dirty="0"/>
              <a:t>树的</a:t>
            </a:r>
            <a:r>
              <a:rPr lang="zh-CN" altLang="en-US" sz="2400" b="1" dirty="0">
                <a:solidFill>
                  <a:srgbClr val="0000FF"/>
                </a:solidFill>
              </a:rPr>
              <a:t>优点超过了缺点</a:t>
            </a:r>
            <a:r>
              <a:rPr lang="zh-CN" altLang="en-US" sz="2400" b="1" dirty="0"/>
              <a:t>，因此被广泛使用</a:t>
            </a:r>
            <a:endParaRPr lang="en-US" altLang="zh-CN" sz="2400" b="1" dirty="0"/>
          </a:p>
          <a:p>
            <a:pPr eaLnBrk="1" hangingPunct="1"/>
            <a:r>
              <a:rPr lang="zh-CN" altLang="en-US" sz="2400" b="1" dirty="0"/>
              <a:t>一种</a:t>
            </a:r>
            <a:r>
              <a:rPr lang="zh-CN" altLang="en-US" sz="2400" b="1" u="sng" dirty="0">
                <a:solidFill>
                  <a:srgbClr val="FF0000"/>
                </a:solidFill>
              </a:rPr>
              <a:t>多级索引</a:t>
            </a:r>
            <a:endParaRPr lang="en-US" altLang="zh-CN" sz="2400" b="1" u="sng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6">
            <a:extLst>
              <a:ext uri="{FF2B5EF4-FFF2-40B4-BE49-F238E27FC236}">
                <a16:creationId xmlns:a16="http://schemas.microsoft.com/office/drawing/2014/main" id="{8A3FC1F9-96AA-E409-AAE3-B0E289708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A339EDE-5202-4B24-825C-AC9DE6DE3BDE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zh-CN" sz="120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DA7C3987-1B44-D676-A762-8E0E484447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dirty="0"/>
              <a:t>B</a:t>
            </a:r>
            <a:r>
              <a:rPr lang="en-US" altLang="zh-CN" b="1" baseline="30000" dirty="0"/>
              <a:t>+</a:t>
            </a:r>
            <a:r>
              <a:rPr lang="zh-CN" altLang="en-US" b="1" dirty="0"/>
              <a:t>树结构</a:t>
            </a:r>
            <a:endParaRPr lang="en-US" altLang="zh-CN" b="1" dirty="0"/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4754ACD1-2F66-E837-9A34-933B2DB5E57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734219" y="1412776"/>
            <a:ext cx="8086254" cy="2736304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500" b="1" dirty="0"/>
              <a:t>典型的</a:t>
            </a:r>
            <a:r>
              <a:rPr lang="en-US" altLang="zh-CN" sz="2500" b="1" dirty="0"/>
              <a:t>B</a:t>
            </a:r>
            <a:r>
              <a:rPr lang="en-US" altLang="zh-CN" sz="2500" b="1" baseline="30000" dirty="0"/>
              <a:t>+</a:t>
            </a:r>
            <a:r>
              <a:rPr lang="zh-CN" altLang="en-US" sz="2500" b="1" dirty="0"/>
              <a:t>树结点：最多包含</a:t>
            </a:r>
            <a:r>
              <a:rPr lang="en-US" altLang="zh-CN" sz="2500" b="1" dirty="0"/>
              <a:t>n-1</a:t>
            </a:r>
            <a:r>
              <a:rPr lang="zh-CN" altLang="en-US" sz="2500" b="1" dirty="0"/>
              <a:t>个搜索码值和</a:t>
            </a:r>
            <a:r>
              <a:rPr lang="en-US" altLang="zh-CN" sz="2500" b="1" dirty="0"/>
              <a:t>n</a:t>
            </a:r>
            <a:r>
              <a:rPr lang="zh-CN" altLang="en-US" sz="2500" b="1" dirty="0"/>
              <a:t>个指针</a:t>
            </a:r>
            <a:endParaRPr lang="en-US" altLang="zh-CN" sz="2500" b="1" dirty="0"/>
          </a:p>
          <a:p>
            <a:pPr lvl="1">
              <a:lnSpc>
                <a:spcPct val="150000"/>
              </a:lnSpc>
            </a:pPr>
            <a:r>
              <a:rPr lang="en-US" altLang="zh-CN" sz="2000" b="1" dirty="0"/>
              <a:t>K</a:t>
            </a:r>
            <a:r>
              <a:rPr lang="en-US" altLang="zh-CN" sz="2000" b="1" baseline="-25000" dirty="0"/>
              <a:t>i</a:t>
            </a:r>
            <a:r>
              <a:rPr lang="en-US" altLang="zh-CN" sz="2000" b="1" dirty="0"/>
              <a:t> </a:t>
            </a:r>
            <a:r>
              <a:rPr lang="zh-CN" altLang="en-US" sz="2000" b="1" dirty="0"/>
              <a:t>是</a:t>
            </a:r>
            <a:r>
              <a:rPr lang="zh-CN" altLang="en-US" sz="2000" b="1" dirty="0">
                <a:solidFill>
                  <a:srgbClr val="FF0000"/>
                </a:solidFill>
              </a:rPr>
              <a:t>搜索码值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2100" b="1" dirty="0">
                <a:solidFill>
                  <a:srgbClr val="0000FF"/>
                </a:solidFill>
              </a:rPr>
              <a:t>每个结点</a:t>
            </a:r>
            <a:r>
              <a:rPr lang="zh-CN" altLang="en-US" sz="2100" b="1" dirty="0"/>
              <a:t>中</a:t>
            </a:r>
            <a:r>
              <a:rPr lang="zh-CN" altLang="en-US" sz="2100" b="1" dirty="0">
                <a:solidFill>
                  <a:srgbClr val="0000FF"/>
                </a:solidFill>
              </a:rPr>
              <a:t>搜索码</a:t>
            </a:r>
            <a:r>
              <a:rPr lang="zh-CN" altLang="en-US" sz="2100" b="1" dirty="0"/>
              <a:t>是</a:t>
            </a:r>
            <a:r>
              <a:rPr lang="zh-CN" altLang="en-US" sz="21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有序</a:t>
            </a:r>
            <a:r>
              <a:rPr lang="zh-CN" altLang="en-US" sz="2100" b="1" dirty="0"/>
              <a:t>的</a:t>
            </a:r>
            <a:endParaRPr lang="en-US" altLang="zh-CN" sz="2100" b="1" dirty="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100" b="1" dirty="0"/>
              <a:t>		 K</a:t>
            </a:r>
            <a:r>
              <a:rPr lang="en-US" altLang="zh-CN" sz="2100" b="1" baseline="-25000" dirty="0"/>
              <a:t>1 </a:t>
            </a:r>
            <a:r>
              <a:rPr lang="en-US" altLang="zh-CN" sz="2100" b="1" dirty="0"/>
              <a:t>&lt; K</a:t>
            </a:r>
            <a:r>
              <a:rPr lang="en-US" altLang="zh-CN" sz="2100" b="1" baseline="-25000" dirty="0"/>
              <a:t>2 </a:t>
            </a:r>
            <a:r>
              <a:rPr lang="en-US" altLang="zh-CN" sz="2100" b="1" dirty="0"/>
              <a:t>&lt; K</a:t>
            </a:r>
            <a:r>
              <a:rPr lang="en-US" altLang="zh-CN" sz="2100" b="1" baseline="-25000" dirty="0"/>
              <a:t>3 </a:t>
            </a:r>
            <a:r>
              <a:rPr lang="en-US" altLang="zh-CN" sz="2100" b="1" dirty="0"/>
              <a:t>&lt; . . .</a:t>
            </a:r>
            <a:r>
              <a:rPr lang="en-US" altLang="zh-CN" sz="2100" b="1" baseline="-25000" dirty="0"/>
              <a:t> </a:t>
            </a:r>
            <a:r>
              <a:rPr lang="en-US" altLang="zh-CN" sz="2100" b="1" dirty="0"/>
              <a:t>&lt; </a:t>
            </a:r>
            <a:r>
              <a:rPr lang="en-US" altLang="zh-CN" sz="2100" b="1" dirty="0" err="1"/>
              <a:t>K</a:t>
            </a:r>
            <a:r>
              <a:rPr lang="en-US" altLang="zh-CN" sz="2100" b="1" baseline="-25000" dirty="0" err="1"/>
              <a:t>n</a:t>
            </a:r>
            <a:r>
              <a:rPr lang="en-US" altLang="zh-CN" sz="2100" b="1" baseline="-25000" dirty="0">
                <a:latin typeface="Arial" panose="020B0604020202020204" pitchFamily="34" charset="0"/>
              </a:rPr>
              <a:t>–</a:t>
            </a:r>
            <a:r>
              <a:rPr lang="en-US" altLang="zh-CN" sz="2100" b="1" baseline="-25000" dirty="0"/>
              <a:t>1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zh-CN" sz="2100" b="1" dirty="0"/>
              <a:t>P</a:t>
            </a:r>
            <a:r>
              <a:rPr lang="en-US" altLang="zh-CN" sz="2100" b="1" baseline="-25000" dirty="0"/>
              <a:t>i</a:t>
            </a:r>
            <a:r>
              <a:rPr lang="zh-CN" altLang="en-US" sz="2100" b="1" dirty="0"/>
              <a:t>是</a:t>
            </a:r>
            <a:r>
              <a:rPr lang="zh-CN" altLang="en-US" sz="2100" b="1" dirty="0">
                <a:solidFill>
                  <a:srgbClr val="0000FF"/>
                </a:solidFill>
              </a:rPr>
              <a:t>子结点指针</a:t>
            </a:r>
            <a:r>
              <a:rPr lang="en-US" altLang="zh-CN" sz="2100" b="1" dirty="0">
                <a:solidFill>
                  <a:srgbClr val="0000FF"/>
                </a:solidFill>
              </a:rPr>
              <a:t> </a:t>
            </a:r>
            <a:r>
              <a:rPr lang="en-US" altLang="zh-CN" sz="2100" b="1" dirty="0"/>
              <a:t>(</a:t>
            </a:r>
            <a:r>
              <a:rPr lang="zh-CN" altLang="en-US" sz="2100" b="1" dirty="0">
                <a:solidFill>
                  <a:srgbClr val="339933"/>
                </a:solidFill>
              </a:rPr>
              <a:t>非叶结点</a:t>
            </a:r>
            <a:r>
              <a:rPr lang="en-US" altLang="zh-CN" sz="2100" b="1" dirty="0"/>
              <a:t>)</a:t>
            </a:r>
            <a:r>
              <a:rPr lang="zh-CN" altLang="en-US" sz="2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或</a:t>
            </a:r>
            <a:r>
              <a:rPr lang="zh-CN" altLang="en-US" sz="2100" b="1" dirty="0">
                <a:solidFill>
                  <a:srgbClr val="0000FF"/>
                </a:solidFill>
              </a:rPr>
              <a:t>记录/记录桶指针</a:t>
            </a:r>
            <a:r>
              <a:rPr lang="en-US" altLang="zh-CN" sz="2100" b="1" dirty="0"/>
              <a:t>(</a:t>
            </a:r>
            <a:r>
              <a:rPr lang="zh-CN" altLang="en-US" sz="2100" b="1" dirty="0">
                <a:solidFill>
                  <a:srgbClr val="FF0000"/>
                </a:solidFill>
              </a:rPr>
              <a:t>叶结点</a:t>
            </a:r>
            <a:r>
              <a:rPr lang="en-US" altLang="zh-CN" sz="2100" b="1" dirty="0"/>
              <a:t>)</a:t>
            </a:r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61F7658D-8529-4C17-B4AA-522328E487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4333091"/>
            <a:ext cx="606854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389D66F-DF1F-CE4C-748C-BBFD88A6547F}"/>
              </a:ext>
            </a:extLst>
          </p:cNvPr>
          <p:cNvSpPr txBox="1"/>
          <p:nvPr/>
        </p:nvSpPr>
        <p:spPr>
          <a:xfrm>
            <a:off x="3752867" y="4983559"/>
            <a:ext cx="20489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典型的</a:t>
            </a:r>
            <a:r>
              <a:rPr lang="en-US" altLang="zh-CN" sz="2000" b="1" dirty="0"/>
              <a:t>B</a:t>
            </a:r>
            <a:r>
              <a:rPr lang="en-US" altLang="zh-CN" sz="2000" b="1" baseline="30000" dirty="0"/>
              <a:t>+</a:t>
            </a:r>
            <a:r>
              <a:rPr lang="zh-CN" altLang="en-US" sz="2000" b="1" dirty="0"/>
              <a:t>树结点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84811844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2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2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2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2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2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2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2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2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2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2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2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2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2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2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2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5">
            <a:extLst>
              <a:ext uri="{FF2B5EF4-FFF2-40B4-BE49-F238E27FC236}">
                <a16:creationId xmlns:a16="http://schemas.microsoft.com/office/drawing/2014/main" id="{1793B65A-9AEB-D53B-60F7-CBDA6734C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FDF7A15-A80A-436B-98E0-69238D4508C8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zh-CN" sz="1200"/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D9A5009E-14AB-4C6A-C107-BCE0701481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96912" y="1349756"/>
            <a:ext cx="8051552" cy="4876800"/>
          </a:xfrm>
        </p:spPr>
        <p:txBody>
          <a:bodyPr/>
          <a:lstStyle/>
          <a:p>
            <a:pPr eaLnBrk="1" hangingPunct="1"/>
            <a:r>
              <a:rPr lang="zh-CN" altLang="en-US" sz="2400" b="1" u="sng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叶结点</a:t>
            </a:r>
            <a:r>
              <a:rPr lang="zh-CN" altLang="en-US" sz="2400" b="1" dirty="0"/>
              <a:t>：对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 = </a:t>
            </a:r>
            <a:r>
              <a:rPr lang="en-US" altLang="zh-CN" sz="2400" b="1" dirty="0">
                <a:solidFill>
                  <a:srgbClr val="0000FF"/>
                </a:solidFill>
              </a:rPr>
              <a:t>1, 2, . . ., n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</a:rPr>
              <a:t>–</a:t>
            </a:r>
            <a:r>
              <a:rPr lang="en-US" altLang="zh-CN" sz="2400" b="1" dirty="0">
                <a:solidFill>
                  <a:srgbClr val="0000FF"/>
                </a:solidFill>
              </a:rPr>
              <a:t>1</a:t>
            </a:r>
            <a:r>
              <a:rPr lang="zh-CN" altLang="en-US" sz="2400" b="1" dirty="0"/>
              <a:t>，指针</a:t>
            </a:r>
            <a:r>
              <a:rPr lang="en-US" altLang="zh-CN" sz="2400" b="1" dirty="0">
                <a:solidFill>
                  <a:srgbClr val="0000FF"/>
                </a:solidFill>
              </a:rPr>
              <a:t>P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i</a:t>
            </a:r>
            <a:r>
              <a:rPr lang="en-US" altLang="zh-CN" sz="2400" b="1" dirty="0">
                <a:solidFill>
                  <a:srgbClr val="0000FF"/>
                </a:solidFill>
              </a:rPr>
              <a:t> </a:t>
            </a:r>
            <a:r>
              <a:rPr lang="zh-CN" altLang="en-US" sz="2400" b="1" dirty="0"/>
              <a:t>或者指向</a:t>
            </a:r>
            <a:r>
              <a:rPr lang="zh-CN" altLang="en-US" sz="2400" b="1" dirty="0">
                <a:solidFill>
                  <a:srgbClr val="0000FF"/>
                </a:solidFill>
              </a:rPr>
              <a:t>具有搜索码值</a:t>
            </a:r>
            <a:r>
              <a:rPr lang="en-US" altLang="zh-CN" sz="2400" b="1" dirty="0">
                <a:solidFill>
                  <a:srgbClr val="0000FF"/>
                </a:solidFill>
              </a:rPr>
              <a:t>K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i </a:t>
            </a:r>
            <a:r>
              <a:rPr lang="zh-CN" altLang="en-US" sz="2400" b="1" dirty="0">
                <a:solidFill>
                  <a:srgbClr val="0000FF"/>
                </a:solidFill>
              </a:rPr>
              <a:t>的</a:t>
            </a:r>
            <a:r>
              <a:rPr lang="zh-CN" altLang="en-US" sz="2400" b="1" u="sng" dirty="0">
                <a:solidFill>
                  <a:srgbClr val="FF0000"/>
                </a:solidFill>
              </a:rPr>
              <a:t>文件记录</a:t>
            </a:r>
            <a:r>
              <a:rPr lang="zh-CN" altLang="en-US" sz="2400" b="1" dirty="0"/>
              <a:t>，或者</a:t>
            </a:r>
            <a:r>
              <a:rPr lang="zh-CN" altLang="en-US" sz="2400" b="1" dirty="0">
                <a:solidFill>
                  <a:srgbClr val="0000FF"/>
                </a:solidFill>
              </a:rPr>
              <a:t>指向一个具有搜索码值</a:t>
            </a:r>
            <a:r>
              <a:rPr lang="en-US" altLang="zh-CN" sz="2400" b="1" dirty="0">
                <a:solidFill>
                  <a:srgbClr val="0000FF"/>
                </a:solidFill>
              </a:rPr>
              <a:t>K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i </a:t>
            </a:r>
            <a:r>
              <a:rPr lang="zh-CN" altLang="en-US" sz="2400" b="1" dirty="0">
                <a:solidFill>
                  <a:srgbClr val="0000FF"/>
                </a:solidFill>
              </a:rPr>
              <a:t>的所有文件记录</a:t>
            </a:r>
            <a:r>
              <a:rPr lang="zh-CN" altLang="en-US" sz="2400" b="1" dirty="0"/>
              <a:t>的</a:t>
            </a:r>
            <a:r>
              <a:rPr lang="zh-CN" altLang="en-US" sz="2400" b="1" u="sng" dirty="0">
                <a:solidFill>
                  <a:srgbClr val="FF0000"/>
                </a:solidFill>
              </a:rPr>
              <a:t>指针桶</a:t>
            </a:r>
          </a:p>
          <a:p>
            <a:pPr lvl="1" eaLnBrk="1" hangingPunct="1"/>
            <a:r>
              <a:rPr lang="zh-CN" altLang="en-US" sz="2000" b="1" dirty="0"/>
              <a:t>仅当</a:t>
            </a:r>
            <a:r>
              <a:rPr lang="zh-CN" altLang="en-US" sz="2000" b="1" dirty="0">
                <a:solidFill>
                  <a:srgbClr val="006600"/>
                </a:solidFill>
              </a:rPr>
              <a:t>搜索码</a:t>
            </a:r>
            <a:r>
              <a:rPr lang="zh-CN" altLang="en-US" sz="2000" b="1" dirty="0">
                <a:solidFill>
                  <a:srgbClr val="0000FF"/>
                </a:solidFill>
              </a:rPr>
              <a:t>不构成候选码</a:t>
            </a:r>
            <a:r>
              <a:rPr lang="zh-CN" altLang="en-US" sz="2000" b="1" dirty="0"/>
              <a:t>时</a:t>
            </a:r>
            <a:r>
              <a:rPr lang="zh-CN" altLang="en-US" sz="2000" b="1" dirty="0">
                <a:solidFill>
                  <a:srgbClr val="006600"/>
                </a:solidFill>
              </a:rPr>
              <a:t>才</a:t>
            </a:r>
            <a:r>
              <a:rPr lang="zh-CN" altLang="en-US" sz="2000" b="1" dirty="0">
                <a:solidFill>
                  <a:srgbClr val="0000FF"/>
                </a:solidFill>
              </a:rPr>
              <a:t>需要桶</a:t>
            </a:r>
            <a:r>
              <a:rPr lang="zh-CN" altLang="en-US" sz="2000" b="1" dirty="0">
                <a:solidFill>
                  <a:srgbClr val="006600"/>
                </a:solidFill>
              </a:rPr>
              <a:t>结构</a:t>
            </a:r>
            <a:endParaRPr lang="en-US" altLang="zh-CN" sz="2000" b="1" dirty="0">
              <a:solidFill>
                <a:srgbClr val="006600"/>
              </a:solidFill>
            </a:endParaRPr>
          </a:p>
          <a:p>
            <a:pPr eaLnBrk="1" hangingPunct="1"/>
            <a:r>
              <a:rPr lang="zh-CN" altLang="en-US" sz="2400" b="1" dirty="0"/>
              <a:t>如果</a:t>
            </a:r>
            <a:r>
              <a:rPr lang="en-US" altLang="zh-CN" sz="2400" b="1" dirty="0"/>
              <a:t>L</a:t>
            </a:r>
            <a:r>
              <a:rPr lang="en-US" altLang="zh-CN" sz="2400" b="1" baseline="-25000" dirty="0"/>
              <a:t>i</a:t>
            </a:r>
            <a:r>
              <a:rPr lang="zh-CN" altLang="en-US" sz="2400" b="1" dirty="0"/>
              <a:t>，</a:t>
            </a:r>
            <a:r>
              <a:rPr lang="en-US" altLang="zh-CN" sz="2400" b="1" dirty="0" err="1"/>
              <a:t>L</a:t>
            </a:r>
            <a:r>
              <a:rPr lang="en-US" altLang="zh-CN" sz="2400" b="1" baseline="-25000" dirty="0" err="1"/>
              <a:t>j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是叶结点且</a:t>
            </a:r>
            <a:r>
              <a:rPr lang="en-US" altLang="zh-CN" sz="2400" b="1" dirty="0" err="1">
                <a:solidFill>
                  <a:srgbClr val="0000FF"/>
                </a:solidFill>
              </a:rPr>
              <a:t>i</a:t>
            </a:r>
            <a:r>
              <a:rPr lang="en-US" altLang="zh-CN" sz="2400" b="1" dirty="0">
                <a:solidFill>
                  <a:srgbClr val="0000FF"/>
                </a:solidFill>
              </a:rPr>
              <a:t> &lt; j</a:t>
            </a:r>
            <a:r>
              <a:rPr lang="zh-CN" altLang="en-US" sz="2400" b="1" dirty="0"/>
              <a:t>，则</a:t>
            </a:r>
            <a:r>
              <a:rPr lang="en-US" altLang="zh-CN" sz="2400" b="1" dirty="0"/>
              <a:t>L</a:t>
            </a:r>
            <a:r>
              <a:rPr lang="en-US" altLang="zh-CN" sz="2400" b="1" baseline="-25000" dirty="0"/>
              <a:t>i </a:t>
            </a:r>
            <a:r>
              <a:rPr lang="zh-CN" altLang="en-US" sz="2400" b="1" dirty="0"/>
              <a:t>的搜索码值</a:t>
            </a:r>
            <a:r>
              <a:rPr lang="zh-CN" altLang="en-US" sz="2400" b="1" dirty="0">
                <a:solidFill>
                  <a:srgbClr val="0000FF"/>
                </a:solidFill>
              </a:rPr>
              <a:t>小于</a:t>
            </a:r>
            <a:r>
              <a:rPr lang="zh-CN" altLang="en-US" sz="2400" b="1" dirty="0"/>
              <a:t> </a:t>
            </a:r>
            <a:r>
              <a:rPr lang="en-US" altLang="zh-CN" sz="2400" b="1" dirty="0" err="1"/>
              <a:t>L</a:t>
            </a:r>
            <a:r>
              <a:rPr lang="en-US" altLang="zh-CN" sz="2400" b="1" baseline="-25000" dirty="0" err="1"/>
              <a:t>j</a:t>
            </a:r>
            <a:r>
              <a:rPr lang="en-US" altLang="zh-CN" sz="2400" b="1" baseline="-25000" dirty="0"/>
              <a:t> </a:t>
            </a:r>
            <a:r>
              <a:rPr lang="zh-CN" altLang="en-US" sz="2400" b="1" dirty="0"/>
              <a:t>的搜索码值</a:t>
            </a:r>
            <a:endParaRPr lang="en-US" altLang="zh-CN" sz="2400" b="1" dirty="0"/>
          </a:p>
          <a:p>
            <a:pPr eaLnBrk="1" hangingPunct="1"/>
            <a:r>
              <a:rPr lang="en-US" altLang="zh-CN" sz="2400" b="1" dirty="0" err="1"/>
              <a:t>P</a:t>
            </a:r>
            <a:r>
              <a:rPr lang="en-US" altLang="zh-CN" sz="2400" b="1" baseline="-25000" dirty="0" err="1"/>
              <a:t>n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指向</a:t>
            </a:r>
            <a:r>
              <a:rPr lang="zh-CN" altLang="en-US" sz="2400" b="1" dirty="0">
                <a:solidFill>
                  <a:srgbClr val="006600"/>
                </a:solidFill>
              </a:rPr>
              <a:t>按</a:t>
            </a:r>
            <a:r>
              <a:rPr lang="zh-CN" altLang="en-US" sz="2400" b="1" dirty="0">
                <a:solidFill>
                  <a:srgbClr val="0000FF"/>
                </a:solidFill>
              </a:rPr>
              <a:t>搜索码顺序</a:t>
            </a:r>
            <a:r>
              <a:rPr lang="zh-CN" altLang="en-US" sz="2400" b="1" dirty="0"/>
              <a:t>的</a:t>
            </a:r>
            <a:r>
              <a:rPr lang="zh-CN" altLang="en-US" sz="2400" b="1" dirty="0">
                <a:solidFill>
                  <a:srgbClr val="0000FF"/>
                </a:solidFill>
              </a:rPr>
              <a:t>下一叶结点</a:t>
            </a:r>
            <a:endParaRPr lang="en-US" altLang="zh-CN" sz="2400" b="1" dirty="0">
              <a:solidFill>
                <a:srgbClr val="0000FF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E441D4B7-0086-07AA-58FA-8F9813C258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81000"/>
            <a:ext cx="81057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0" lang="en-US" altLang="zh-CN" b="1" kern="0" dirty="0"/>
              <a:t>B</a:t>
            </a:r>
            <a:r>
              <a:rPr kumimoji="0" lang="en-US" altLang="zh-CN" b="1" kern="0" baseline="30000" dirty="0"/>
              <a:t>+</a:t>
            </a:r>
            <a:r>
              <a:rPr kumimoji="0" lang="zh-CN" altLang="en-US" b="1" kern="0" dirty="0"/>
              <a:t>树中的</a:t>
            </a:r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叶结点</a:t>
            </a:r>
            <a:endParaRPr kumimoji="0" lang="en-US" altLang="zh-CN" b="1" kern="0" dirty="0">
              <a:solidFill>
                <a:srgbClr val="FF0000"/>
              </a:solidFill>
            </a:endParaRPr>
          </a:p>
        </p:txBody>
      </p:sp>
      <p:grpSp>
        <p:nvGrpSpPr>
          <p:cNvPr id="3" name="Group 7">
            <a:extLst>
              <a:ext uri="{FF2B5EF4-FFF2-40B4-BE49-F238E27FC236}">
                <a16:creationId xmlns:a16="http://schemas.microsoft.com/office/drawing/2014/main" id="{0ABF95CC-E6C9-439C-8C6C-8B69BDB3EC8C}"/>
              </a:ext>
            </a:extLst>
          </p:cNvPr>
          <p:cNvGrpSpPr>
            <a:grpSpLocks/>
          </p:cNvGrpSpPr>
          <p:nvPr/>
        </p:nvGrpSpPr>
        <p:grpSpPr bwMode="auto">
          <a:xfrm>
            <a:off x="2555776" y="4157176"/>
            <a:ext cx="6120680" cy="2551758"/>
            <a:chOff x="961" y="2239"/>
            <a:chExt cx="4527" cy="1961"/>
          </a:xfrm>
        </p:grpSpPr>
        <p:pic>
          <p:nvPicPr>
            <p:cNvPr id="4" name="Picture 8">
              <a:extLst>
                <a:ext uri="{FF2B5EF4-FFF2-40B4-BE49-F238E27FC236}">
                  <a16:creationId xmlns:a16="http://schemas.microsoft.com/office/drawing/2014/main" id="{012C4B4A-CC70-4617-8C41-85390F3903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8848" b="9171"/>
            <a:stretch>
              <a:fillRect/>
            </a:stretch>
          </p:blipFill>
          <p:spPr bwMode="auto">
            <a:xfrm>
              <a:off x="961" y="2537"/>
              <a:ext cx="4521" cy="1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" name="Picture 8">
              <a:extLst>
                <a:ext uri="{FF2B5EF4-FFF2-40B4-BE49-F238E27FC236}">
                  <a16:creationId xmlns:a16="http://schemas.microsoft.com/office/drawing/2014/main" id="{7BD2BFE1-0AF9-488E-85E2-AE4A1033A7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8744"/>
            <a:stretch>
              <a:fillRect/>
            </a:stretch>
          </p:blipFill>
          <p:spPr bwMode="auto">
            <a:xfrm>
              <a:off x="967" y="2239"/>
              <a:ext cx="4521" cy="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" name="Text Box 4">
            <a:extLst>
              <a:ext uri="{FF2B5EF4-FFF2-40B4-BE49-F238E27FC236}">
                <a16:creationId xmlns:a16="http://schemas.microsoft.com/office/drawing/2014/main" id="{3B4FC340-C208-7D75-3513-F1D96C9AF9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413" y="5786981"/>
            <a:ext cx="247809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Helvetica" panose="020B0604020202020204" pitchFamily="34" charset="0"/>
              </a:rPr>
              <a:t>instructor </a:t>
            </a:r>
            <a:r>
              <a:rPr lang="zh-CN" altLang="en-US" sz="1800" i="0" dirty="0">
                <a:latin typeface="Helvetica" panose="020B0604020202020204" pitchFamily="34" charset="0"/>
              </a:rPr>
              <a:t>文件的</a:t>
            </a:r>
            <a:r>
              <a:rPr lang="en-US" altLang="zh-CN" sz="1800" i="0" dirty="0">
                <a:latin typeface="Helvetica" panose="020B0604020202020204" pitchFamily="34" charset="0"/>
              </a:rPr>
              <a:t>B</a:t>
            </a:r>
            <a:r>
              <a:rPr lang="en-US" altLang="zh-CN" sz="1800" i="0" baseline="30000" dirty="0">
                <a:latin typeface="Helvetica" panose="020B0604020202020204" pitchFamily="34" charset="0"/>
              </a:rPr>
              <a:t>+</a:t>
            </a:r>
            <a:r>
              <a:rPr lang="zh-CN" altLang="en-US" sz="1800" i="0" dirty="0">
                <a:latin typeface="Helvetica" panose="020B0604020202020204" pitchFamily="34" charset="0"/>
              </a:rPr>
              <a:t>树(</a:t>
            </a:r>
            <a:r>
              <a:rPr lang="en-US" altLang="zh-CN" sz="1800" b="1" dirty="0">
                <a:solidFill>
                  <a:srgbClr val="0000FF"/>
                </a:solidFill>
                <a:latin typeface="Helvetica" panose="020B0604020202020204" pitchFamily="34" charset="0"/>
              </a:rPr>
              <a:t>n</a:t>
            </a:r>
            <a:r>
              <a:rPr lang="en-US" altLang="zh-CN" sz="1800" b="1" i="0" dirty="0">
                <a:solidFill>
                  <a:srgbClr val="0000FF"/>
                </a:solidFill>
                <a:latin typeface="Helvetica" panose="020B0604020202020204" pitchFamily="34" charset="0"/>
              </a:rPr>
              <a:t> = 4</a:t>
            </a:r>
            <a:r>
              <a:rPr lang="en-US" altLang="zh-CN" sz="1800" i="0" dirty="0">
                <a:latin typeface="Helvetica" panose="020B0604020202020204" pitchFamily="34" charset="0"/>
              </a:rPr>
              <a:t>)</a:t>
            </a:r>
            <a:r>
              <a:rPr lang="zh-CN" altLang="en-US" sz="1800" i="0" dirty="0">
                <a:latin typeface="Helvetica" panose="020B0604020202020204" pitchFamily="34" charset="0"/>
              </a:rPr>
              <a:t>的一个叶结点</a:t>
            </a:r>
            <a:endParaRPr lang="en-US" altLang="zh-CN" sz="1800" i="0" dirty="0">
              <a:latin typeface="Helvetica" panose="020B0604020202020204" pitchFamily="34" charset="0"/>
            </a:endParaRPr>
          </a:p>
        </p:txBody>
      </p:sp>
      <p:sp>
        <p:nvSpPr>
          <p:cNvPr id="6" name="下箭头 5"/>
          <p:cNvSpPr/>
          <p:nvPr/>
        </p:nvSpPr>
        <p:spPr bwMode="auto">
          <a:xfrm>
            <a:off x="6732240" y="4509517"/>
            <a:ext cx="216024" cy="144016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  <a:cs typeface="Arial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574F3AC-351B-A546-2C34-EC1E4E36B604}"/>
              </a:ext>
            </a:extLst>
          </p:cNvPr>
          <p:cNvSpPr txBox="1"/>
          <p:nvPr/>
        </p:nvSpPr>
        <p:spPr>
          <a:xfrm>
            <a:off x="3131840" y="4544950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006600"/>
                </a:solidFill>
              </a:rPr>
              <a:t>叶结点</a:t>
            </a: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6">
            <a:extLst>
              <a:ext uri="{FF2B5EF4-FFF2-40B4-BE49-F238E27FC236}">
                <a16:creationId xmlns:a16="http://schemas.microsoft.com/office/drawing/2014/main" id="{8A3FC1F9-96AA-E409-AAE3-B0E289708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A339EDE-5202-4B24-825C-AC9DE6DE3BDE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zh-CN" sz="120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DA7C3987-1B44-D676-A762-8E0E484447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dirty="0"/>
              <a:t>B</a:t>
            </a:r>
            <a:r>
              <a:rPr lang="en-US" altLang="zh-CN" b="1" baseline="30000" dirty="0"/>
              <a:t>+</a:t>
            </a:r>
            <a:r>
              <a:rPr lang="zh-CN" altLang="en-US" b="1" dirty="0"/>
              <a:t>树结构</a:t>
            </a:r>
            <a:endParaRPr lang="en-US" altLang="zh-CN" b="1" dirty="0"/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4754ACD1-2F66-E837-9A34-933B2DB5E57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734219" y="1412776"/>
            <a:ext cx="8086254" cy="403244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500" b="1" dirty="0"/>
              <a:t>B</a:t>
            </a:r>
            <a:r>
              <a:rPr lang="en-US" altLang="zh-CN" sz="2500" b="1" baseline="30000" dirty="0"/>
              <a:t>+</a:t>
            </a:r>
            <a:r>
              <a:rPr lang="zh-CN" altLang="en-US" sz="2500" b="1" dirty="0"/>
              <a:t>树（</a:t>
            </a:r>
            <a:r>
              <a:rPr lang="en-US" altLang="zh-CN" sz="2500" b="1" dirty="0"/>
              <a:t>n</a:t>
            </a:r>
            <a:r>
              <a:rPr lang="zh-CN" altLang="en-US" sz="2500" b="1" dirty="0"/>
              <a:t>阶</a:t>
            </a:r>
            <a:r>
              <a:rPr lang="en-US" altLang="zh-CN" sz="2500" b="1" dirty="0"/>
              <a:t>, </a:t>
            </a:r>
            <a:r>
              <a:rPr lang="zh-CN" altLang="en-US" sz="2500" b="1" dirty="0"/>
              <a:t>阶数表示一个结点</a:t>
            </a:r>
            <a:r>
              <a:rPr lang="zh-CN" altLang="en-US" sz="2500" b="1" dirty="0">
                <a:solidFill>
                  <a:srgbClr val="0000FF"/>
                </a:solidFill>
              </a:rPr>
              <a:t>最多有多少个孩子</a:t>
            </a:r>
            <a:r>
              <a:rPr lang="zh-CN" altLang="en-US" sz="2500" b="1" dirty="0"/>
              <a:t>结点）</a:t>
            </a:r>
            <a:endParaRPr lang="en-US" altLang="zh-CN" sz="2500" b="1" dirty="0"/>
          </a:p>
          <a:p>
            <a:pPr lvl="1" eaLnBrk="1" hangingPunct="1"/>
            <a:r>
              <a:rPr lang="zh-CN" altLang="en-US" sz="2100" b="1" dirty="0"/>
              <a:t>从</a:t>
            </a:r>
            <a:r>
              <a:rPr lang="zh-CN" altLang="en-US" sz="2100" b="1" dirty="0">
                <a:solidFill>
                  <a:srgbClr val="0000FF"/>
                </a:solidFill>
              </a:rPr>
              <a:t>根</a:t>
            </a:r>
            <a:r>
              <a:rPr lang="zh-CN" altLang="en-US" sz="2100" b="1" dirty="0"/>
              <a:t>到</a:t>
            </a:r>
            <a:r>
              <a:rPr lang="zh-CN" altLang="en-US" sz="2100" b="1" dirty="0">
                <a:solidFill>
                  <a:srgbClr val="0000FF"/>
                </a:solidFill>
              </a:rPr>
              <a:t>叶</a:t>
            </a:r>
            <a:r>
              <a:rPr lang="zh-CN" altLang="en-US" sz="2100" b="1" dirty="0"/>
              <a:t>的所有</a:t>
            </a:r>
            <a:r>
              <a:rPr lang="zh-CN" altLang="en-US" sz="2100" b="1" dirty="0">
                <a:solidFill>
                  <a:srgbClr val="0000FF"/>
                </a:solidFill>
              </a:rPr>
              <a:t>路径长度相同</a:t>
            </a:r>
            <a:endParaRPr lang="en-US" altLang="zh-CN" sz="2100" b="1" dirty="0">
              <a:solidFill>
                <a:srgbClr val="0000FF"/>
              </a:solidFill>
            </a:endParaRPr>
          </a:p>
          <a:p>
            <a:pPr lvl="1" eaLnBrk="1" hangingPunct="1"/>
            <a:r>
              <a:rPr lang="zh-CN" altLang="en-US" sz="2100" b="1" dirty="0"/>
              <a:t>每个</a:t>
            </a:r>
            <a:r>
              <a:rPr lang="zh-CN" altLang="en-US" sz="2100" b="1" dirty="0">
                <a:solidFill>
                  <a:srgbClr val="0000FF"/>
                </a:solidFill>
              </a:rPr>
              <a:t>非根非叶结点</a:t>
            </a:r>
            <a:r>
              <a:rPr lang="zh-CN" altLang="en-US" sz="2100" b="1" dirty="0"/>
              <a:t>有</a:t>
            </a:r>
            <a:r>
              <a:rPr lang="zh-CN" altLang="en-US" sz="2100" b="1" dirty="0">
                <a:solidFill>
                  <a:srgbClr val="C00000"/>
                </a:solidFill>
                <a:sym typeface="Symbol" panose="05050102010706020507" pitchFamily="18" charset="2"/>
              </a:rPr>
              <a:t></a:t>
            </a:r>
            <a:r>
              <a:rPr lang="en-US" altLang="zh-CN" sz="2100" b="1" dirty="0">
                <a:solidFill>
                  <a:srgbClr val="C00000"/>
                </a:solidFill>
              </a:rPr>
              <a:t>n/2</a:t>
            </a:r>
            <a:r>
              <a:rPr lang="en-US" altLang="zh-CN" sz="2100" b="1" dirty="0">
                <a:solidFill>
                  <a:srgbClr val="C00000"/>
                </a:solidFill>
                <a:sym typeface="Symbol" panose="05050102010706020507" pitchFamily="18" charset="2"/>
              </a:rPr>
              <a:t> </a:t>
            </a:r>
            <a:r>
              <a:rPr lang="zh-CN" altLang="en-US" sz="2100" b="1" dirty="0"/>
              <a:t>到</a:t>
            </a:r>
            <a:r>
              <a:rPr lang="zh-CN" altLang="en-US" sz="2100" b="1" dirty="0">
                <a:solidFill>
                  <a:srgbClr val="C00000"/>
                </a:solidFill>
              </a:rPr>
              <a:t> </a:t>
            </a:r>
            <a:r>
              <a:rPr lang="en-US" altLang="zh-CN" sz="2100" b="1" dirty="0">
                <a:solidFill>
                  <a:srgbClr val="C00000"/>
                </a:solidFill>
              </a:rPr>
              <a:t>n </a:t>
            </a:r>
            <a:r>
              <a:rPr lang="zh-CN" altLang="en-US" sz="2100" b="1" dirty="0">
                <a:solidFill>
                  <a:srgbClr val="C00000"/>
                </a:solidFill>
              </a:rPr>
              <a:t>个</a:t>
            </a:r>
            <a:r>
              <a:rPr lang="zh-CN" altLang="en-US" sz="2100" b="1" dirty="0">
                <a:solidFill>
                  <a:srgbClr val="0000FF"/>
                </a:solidFill>
              </a:rPr>
              <a:t>子结点</a:t>
            </a:r>
            <a:endParaRPr lang="en-US" altLang="zh-CN" sz="2100" b="1" dirty="0">
              <a:solidFill>
                <a:srgbClr val="0000FF"/>
              </a:solidFill>
            </a:endParaRPr>
          </a:p>
          <a:p>
            <a:pPr lvl="1" eaLnBrk="1" hangingPunct="1"/>
            <a:r>
              <a:rPr lang="zh-CN" altLang="en-US" sz="2100" b="1" dirty="0">
                <a:solidFill>
                  <a:srgbClr val="0000FF"/>
                </a:solidFill>
              </a:rPr>
              <a:t>叶结点</a:t>
            </a:r>
            <a:r>
              <a:rPr lang="zh-CN" altLang="en-US" sz="2100" b="1" dirty="0"/>
              <a:t>有</a:t>
            </a:r>
            <a:r>
              <a:rPr lang="zh-CN" altLang="en-US" sz="2100" b="1" dirty="0">
                <a:solidFill>
                  <a:srgbClr val="C00000"/>
                </a:solidFill>
              </a:rPr>
              <a:t> </a:t>
            </a:r>
            <a:r>
              <a:rPr lang="zh-CN" altLang="en-US" sz="2100" b="1" dirty="0">
                <a:solidFill>
                  <a:srgbClr val="C00000"/>
                </a:solidFill>
                <a:sym typeface="Symbol" panose="05050102010706020507" pitchFamily="18" charset="2"/>
              </a:rPr>
              <a:t></a:t>
            </a:r>
            <a:r>
              <a:rPr lang="en-US" altLang="zh-CN" sz="2100" b="1" dirty="0">
                <a:solidFill>
                  <a:srgbClr val="C00000"/>
                </a:solidFill>
              </a:rPr>
              <a:t>(n</a:t>
            </a:r>
            <a:r>
              <a:rPr lang="en-US" altLang="zh-CN" sz="2100" b="1" dirty="0">
                <a:solidFill>
                  <a:srgbClr val="C00000"/>
                </a:solidFill>
                <a:latin typeface="Arial" panose="020B0604020202020204" pitchFamily="34" charset="0"/>
              </a:rPr>
              <a:t>–</a:t>
            </a:r>
            <a:r>
              <a:rPr lang="en-US" altLang="zh-CN" sz="2100" b="1" dirty="0">
                <a:solidFill>
                  <a:srgbClr val="C00000"/>
                </a:solidFill>
              </a:rPr>
              <a:t>1)/2</a:t>
            </a:r>
            <a:r>
              <a:rPr lang="en-US" altLang="zh-CN" sz="2100" b="1" dirty="0">
                <a:solidFill>
                  <a:srgbClr val="C00000"/>
                </a:solidFill>
                <a:sym typeface="Symbol" panose="05050102010706020507" pitchFamily="18" charset="2"/>
              </a:rPr>
              <a:t> </a:t>
            </a:r>
            <a:r>
              <a:rPr lang="zh-CN" altLang="en-US" sz="2100" b="1" dirty="0"/>
              <a:t>到</a:t>
            </a:r>
            <a:r>
              <a:rPr lang="zh-CN" altLang="en-US" sz="2100" b="1" dirty="0">
                <a:solidFill>
                  <a:srgbClr val="C00000"/>
                </a:solidFill>
              </a:rPr>
              <a:t> </a:t>
            </a:r>
            <a:r>
              <a:rPr lang="en-US" altLang="zh-CN" sz="2100" b="1" dirty="0">
                <a:solidFill>
                  <a:srgbClr val="C00000"/>
                </a:solidFill>
              </a:rPr>
              <a:t>n</a:t>
            </a:r>
            <a:r>
              <a:rPr lang="en-US" altLang="zh-CN" sz="2100" b="1" dirty="0">
                <a:solidFill>
                  <a:srgbClr val="C00000"/>
                </a:solidFill>
                <a:latin typeface="Arial" panose="020B0604020202020204" pitchFamily="34" charset="0"/>
              </a:rPr>
              <a:t>–</a:t>
            </a:r>
            <a:r>
              <a:rPr lang="en-US" altLang="zh-CN" sz="2100" b="1" dirty="0">
                <a:solidFill>
                  <a:srgbClr val="C00000"/>
                </a:solidFill>
              </a:rPr>
              <a:t>1 </a:t>
            </a:r>
            <a:r>
              <a:rPr lang="zh-CN" altLang="en-US" sz="2100" b="1" dirty="0">
                <a:solidFill>
                  <a:srgbClr val="C00000"/>
                </a:solidFill>
              </a:rPr>
              <a:t>个</a:t>
            </a:r>
            <a:r>
              <a:rPr lang="zh-CN" altLang="en-US" sz="2100" b="1" dirty="0">
                <a:solidFill>
                  <a:srgbClr val="0000FF"/>
                </a:solidFill>
              </a:rPr>
              <a:t>搜索码值</a:t>
            </a:r>
            <a:endParaRPr lang="en-US" altLang="zh-CN" sz="2100" b="1" dirty="0">
              <a:solidFill>
                <a:srgbClr val="0000FF"/>
              </a:solidFill>
            </a:endParaRPr>
          </a:p>
          <a:p>
            <a:pPr lvl="1" eaLnBrk="1" hangingPunct="1"/>
            <a:r>
              <a:rPr lang="zh-CN" altLang="en-US" sz="2100" b="1" dirty="0">
                <a:solidFill>
                  <a:srgbClr val="0000FF"/>
                </a:solidFill>
              </a:rPr>
              <a:t>特殊情况</a:t>
            </a:r>
            <a:endParaRPr lang="en-US" altLang="zh-CN" sz="2100" b="1" dirty="0">
              <a:solidFill>
                <a:srgbClr val="0000FF"/>
              </a:solidFill>
            </a:endParaRPr>
          </a:p>
          <a:p>
            <a:pPr lvl="2" eaLnBrk="1" hangingPunct="1"/>
            <a:r>
              <a:rPr lang="zh-CN" altLang="en-US" sz="2000" b="1" dirty="0"/>
              <a:t>若</a:t>
            </a:r>
            <a:r>
              <a:rPr lang="zh-CN" altLang="en-US" sz="2000" b="1" dirty="0">
                <a:solidFill>
                  <a:srgbClr val="0000FF"/>
                </a:solidFill>
              </a:rPr>
              <a:t>根</a:t>
            </a:r>
            <a:r>
              <a:rPr lang="zh-CN" altLang="en-US" sz="2000" b="1" dirty="0">
                <a:solidFill>
                  <a:srgbClr val="FF0000"/>
                </a:solidFill>
              </a:rPr>
              <a:t>非叶</a:t>
            </a:r>
            <a:r>
              <a:rPr lang="zh-CN" altLang="en-US" sz="2000" b="1" dirty="0"/>
              <a:t>，则至少有</a:t>
            </a:r>
            <a:r>
              <a:rPr lang="en-US" altLang="zh-CN" sz="2000" b="1" dirty="0"/>
              <a:t>2 </a:t>
            </a:r>
            <a:r>
              <a:rPr lang="zh-CN" altLang="en-US" sz="2000" b="1" dirty="0"/>
              <a:t>个子结点</a:t>
            </a:r>
            <a:endParaRPr lang="en-US" altLang="zh-CN" sz="2000" b="1" dirty="0"/>
          </a:p>
          <a:p>
            <a:pPr lvl="2" eaLnBrk="1" hangingPunct="1"/>
            <a:r>
              <a:rPr lang="zh-CN" altLang="en-US" sz="2000" b="1" dirty="0"/>
              <a:t>若</a:t>
            </a:r>
            <a:r>
              <a:rPr lang="zh-CN" altLang="en-US" sz="2000" b="1" dirty="0">
                <a:solidFill>
                  <a:srgbClr val="0000FF"/>
                </a:solidFill>
              </a:rPr>
              <a:t>根</a:t>
            </a:r>
            <a:r>
              <a:rPr lang="zh-CN" altLang="en-US" sz="2000" b="1" dirty="0">
                <a:solidFill>
                  <a:srgbClr val="FF0000"/>
                </a:solidFill>
              </a:rPr>
              <a:t>是叶</a:t>
            </a:r>
            <a:r>
              <a:rPr lang="en-US" altLang="zh-CN" sz="2000" b="1" dirty="0"/>
              <a:t>(</a:t>
            </a:r>
            <a:r>
              <a:rPr lang="zh-CN" altLang="en-US" sz="2000" b="1" dirty="0"/>
              <a:t>即树中没有其它结点</a:t>
            </a:r>
            <a:r>
              <a:rPr lang="en-US" altLang="zh-CN" sz="2000" b="1" dirty="0"/>
              <a:t>)</a:t>
            </a:r>
            <a:r>
              <a:rPr lang="zh-CN" altLang="en-US" sz="2000" b="1" dirty="0"/>
              <a:t>，则可有</a:t>
            </a:r>
            <a:r>
              <a:rPr lang="en-US" altLang="zh-CN" sz="2000" b="1" dirty="0"/>
              <a:t>0 </a:t>
            </a:r>
            <a:r>
              <a:rPr lang="zh-CN" altLang="en-US" sz="2000" b="1" dirty="0"/>
              <a:t>到</a:t>
            </a:r>
            <a:r>
              <a:rPr lang="en-US" altLang="zh-CN" sz="2000" b="1" dirty="0"/>
              <a:t>(n</a:t>
            </a:r>
            <a:r>
              <a:rPr lang="en-US" altLang="zh-CN" sz="2000" b="1" dirty="0">
                <a:latin typeface="Arial" panose="020B0604020202020204" pitchFamily="34" charset="0"/>
              </a:rPr>
              <a:t>–</a:t>
            </a:r>
            <a:r>
              <a:rPr lang="en-US" altLang="zh-CN" sz="2000" b="1" dirty="0"/>
              <a:t>1) </a:t>
            </a:r>
            <a:r>
              <a:rPr lang="zh-CN" altLang="en-US" sz="2000" b="1" dirty="0"/>
              <a:t>个搜索码值</a:t>
            </a:r>
            <a:endParaRPr lang="en-US" altLang="zh-CN" sz="2000" b="1" dirty="0"/>
          </a:p>
          <a:p>
            <a:pPr lvl="2" eaLnBrk="1" hangingPunct="1"/>
            <a:r>
              <a:rPr lang="zh-CN" altLang="en-US" sz="2000" b="1" dirty="0"/>
              <a:t>根结点有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到</a:t>
            </a:r>
            <a:r>
              <a:rPr lang="en-US" altLang="zh-CN" sz="2000" b="1" dirty="0"/>
              <a:t>n</a:t>
            </a:r>
            <a:r>
              <a:rPr lang="zh-CN" altLang="en-US" sz="2000" b="1" dirty="0"/>
              <a:t>个子结点</a:t>
            </a:r>
            <a:endParaRPr lang="en-US" altLang="zh-CN" sz="2000" b="1" dirty="0"/>
          </a:p>
          <a:p>
            <a:pPr lvl="1"/>
            <a:r>
              <a:rPr lang="zh-CN" altLang="en-US" sz="2100" b="1" dirty="0">
                <a:solidFill>
                  <a:srgbClr val="0000FF"/>
                </a:solidFill>
              </a:rPr>
              <a:t>只存储索引</a:t>
            </a:r>
            <a:r>
              <a:rPr lang="zh-CN" altLang="en-US" sz="2100" b="1" dirty="0"/>
              <a:t>，并不真正存储数据</a:t>
            </a:r>
            <a:endParaRPr lang="en-US" altLang="zh-CN" sz="2100" b="1" dirty="0"/>
          </a:p>
        </p:txBody>
      </p:sp>
    </p:spTree>
    <p:extLst>
      <p:ext uri="{BB962C8B-B14F-4D97-AF65-F5344CB8AC3E}">
        <p14:creationId xmlns:p14="http://schemas.microsoft.com/office/powerpoint/2010/main" val="288425995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2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2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2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2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2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2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2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2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2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2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25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25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25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25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25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25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25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25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25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25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25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25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5">
            <a:extLst>
              <a:ext uri="{FF2B5EF4-FFF2-40B4-BE49-F238E27FC236}">
                <a16:creationId xmlns:a16="http://schemas.microsoft.com/office/drawing/2014/main" id="{22DA009F-CE9A-D329-2624-039057989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C76BC12-D128-46C0-A347-B2ABCE791048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zh-CN" sz="1200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C193662D-3DB3-D2A1-ED59-C9C3CFF8BF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dirty="0"/>
              <a:t>B</a:t>
            </a:r>
            <a:r>
              <a:rPr lang="en-US" altLang="zh-CN" b="1" baseline="30000" dirty="0"/>
              <a:t>+</a:t>
            </a:r>
            <a:r>
              <a:rPr lang="zh-CN" altLang="en-US" b="1" dirty="0"/>
              <a:t>树中的非叶结点</a:t>
            </a:r>
            <a:endParaRPr lang="en-US" altLang="zh-CN" b="1" dirty="0"/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37DE73BD-B2BB-79A8-E18F-C797B4BD87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5175" y="1346185"/>
            <a:ext cx="7861300" cy="2894012"/>
          </a:xfrm>
        </p:spPr>
        <p:txBody>
          <a:bodyPr/>
          <a:lstStyle/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</a:rPr>
              <a:t>非叶结点</a:t>
            </a:r>
            <a:r>
              <a:rPr lang="zh-CN" altLang="en-US" sz="2800" b="1" dirty="0"/>
              <a:t>形成了对</a:t>
            </a:r>
            <a:r>
              <a:rPr lang="zh-CN" altLang="en-US" sz="2800" b="1" dirty="0">
                <a:solidFill>
                  <a:srgbClr val="FF0000"/>
                </a:solidFill>
              </a:rPr>
              <a:t>叶结点</a:t>
            </a:r>
            <a:r>
              <a:rPr lang="zh-CN" altLang="en-US" sz="2800" b="1" dirty="0"/>
              <a:t>的</a:t>
            </a:r>
            <a:r>
              <a:rPr lang="zh-CN" altLang="en-US" sz="2800" b="1" dirty="0">
                <a:solidFill>
                  <a:srgbClr val="0000FF"/>
                </a:solidFill>
              </a:rPr>
              <a:t>多级稀疏索引</a:t>
            </a:r>
            <a:r>
              <a:rPr lang="zh-CN" altLang="en-US" sz="2800" b="1" dirty="0"/>
              <a:t>。对</a:t>
            </a:r>
            <a:r>
              <a:rPr lang="zh-CN" altLang="en-US" sz="2800" b="1" dirty="0">
                <a:solidFill>
                  <a:srgbClr val="006600"/>
                </a:solidFill>
              </a:rPr>
              <a:t>具有</a:t>
            </a:r>
            <a:r>
              <a:rPr lang="en-US" altLang="zh-CN" sz="2800" b="1" dirty="0">
                <a:solidFill>
                  <a:srgbClr val="0000FF"/>
                </a:solidFill>
              </a:rPr>
              <a:t>n</a:t>
            </a:r>
            <a:r>
              <a:rPr lang="zh-CN" altLang="en-US" sz="2800" b="1" dirty="0">
                <a:solidFill>
                  <a:srgbClr val="0000FF"/>
                </a:solidFill>
              </a:rPr>
              <a:t>个指针</a:t>
            </a:r>
            <a:r>
              <a:rPr lang="zh-CN" altLang="en-US" sz="2800" b="1" dirty="0"/>
              <a:t>的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非叶结点</a:t>
            </a:r>
            <a:endParaRPr lang="en-US" altLang="zh-CN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eaLnBrk="1" hangingPunct="1"/>
            <a:r>
              <a:rPr lang="en-US" altLang="zh-CN" sz="2400" b="1" i="1" dirty="0"/>
              <a:t>P</a:t>
            </a:r>
            <a:r>
              <a:rPr lang="en-US" altLang="zh-CN" sz="2400" b="1" baseline="-25000" dirty="0"/>
              <a:t>1</a:t>
            </a:r>
            <a:r>
              <a:rPr lang="zh-CN" altLang="en-US" sz="2400" b="1" dirty="0"/>
              <a:t>指向的</a:t>
            </a:r>
            <a:r>
              <a:rPr lang="zh-CN" altLang="en-US" sz="2400" b="1" dirty="0">
                <a:solidFill>
                  <a:srgbClr val="0000FF"/>
                </a:solidFill>
              </a:rPr>
              <a:t>子树</a:t>
            </a:r>
            <a:r>
              <a:rPr lang="zh-CN" altLang="en-US" sz="2400" b="1" dirty="0"/>
              <a:t>中的</a:t>
            </a:r>
            <a:r>
              <a:rPr lang="zh-CN" altLang="en-US" sz="2400" b="1" u="sng" dirty="0"/>
              <a:t>所有搜索码</a:t>
            </a:r>
            <a:r>
              <a:rPr lang="zh-CN" altLang="en-US" sz="2400" b="1" dirty="0"/>
              <a:t>都</a:t>
            </a:r>
            <a:r>
              <a:rPr lang="zh-CN" altLang="en-US" sz="2400" b="1" dirty="0">
                <a:solidFill>
                  <a:srgbClr val="0000FF"/>
                </a:solidFill>
              </a:rPr>
              <a:t>小于</a:t>
            </a:r>
            <a:r>
              <a:rPr lang="en-US" altLang="zh-CN" sz="2400" b="1" i="1" dirty="0">
                <a:solidFill>
                  <a:srgbClr val="0000FF"/>
                </a:solidFill>
              </a:rPr>
              <a:t>K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1</a:t>
            </a:r>
            <a:endParaRPr lang="en-US" altLang="zh-CN" sz="2400" b="1" dirty="0">
              <a:solidFill>
                <a:srgbClr val="0000FF"/>
              </a:solidFill>
            </a:endParaRPr>
          </a:p>
          <a:p>
            <a:pPr lvl="1" eaLnBrk="1" hangingPunct="1"/>
            <a:r>
              <a:rPr lang="zh-CN" altLang="en-US" sz="2400" b="1" dirty="0"/>
              <a:t>对</a:t>
            </a:r>
            <a:r>
              <a:rPr lang="en-US" altLang="zh-CN" sz="2400" b="1" dirty="0"/>
              <a:t>2 </a:t>
            </a:r>
            <a:r>
              <a:rPr lang="en-US" altLang="zh-CN" sz="2400" b="1" dirty="0">
                <a:sym typeface="Symbol" panose="05050102010706020507" pitchFamily="18" charset="2"/>
              </a:rPr>
              <a:t> </a:t>
            </a:r>
            <a:r>
              <a:rPr lang="en-US" altLang="zh-CN" sz="2400" b="1" i="1" dirty="0" err="1">
                <a:sym typeface="Symbol" panose="05050102010706020507" pitchFamily="18" charset="2"/>
              </a:rPr>
              <a:t>i</a:t>
            </a:r>
            <a:r>
              <a:rPr lang="en-US" altLang="zh-CN" sz="2400" b="1" i="1" dirty="0">
                <a:sym typeface="Symbol" panose="05050102010706020507" pitchFamily="18" charset="2"/>
              </a:rPr>
              <a:t> </a:t>
            </a:r>
            <a:r>
              <a:rPr lang="en-US" altLang="zh-CN" sz="2400" b="1" dirty="0">
                <a:sym typeface="Symbol" panose="05050102010706020507" pitchFamily="18" charset="2"/>
              </a:rPr>
              <a:t> </a:t>
            </a:r>
            <a:r>
              <a:rPr lang="en-US" altLang="zh-CN" sz="2400" b="1" i="1" dirty="0">
                <a:sym typeface="Symbol" panose="05050102010706020507" pitchFamily="18" charset="2"/>
              </a:rPr>
              <a:t>n </a:t>
            </a:r>
            <a:r>
              <a:rPr lang="en-US" altLang="zh-CN" sz="2400" b="1" dirty="0">
                <a:latin typeface="Arial" panose="020B0604020202020204" pitchFamily="34" charset="0"/>
                <a:sym typeface="Symbol" panose="05050102010706020507" pitchFamily="18" charset="2"/>
              </a:rPr>
              <a:t>–</a:t>
            </a:r>
            <a:r>
              <a:rPr lang="en-US" altLang="zh-CN" sz="2400" b="1" dirty="0">
                <a:sym typeface="Symbol" panose="05050102010706020507" pitchFamily="18" charset="2"/>
              </a:rPr>
              <a:t> 1</a:t>
            </a:r>
            <a:r>
              <a:rPr lang="zh-CN" altLang="en-US" sz="2400" b="1" dirty="0">
                <a:sym typeface="Symbol" panose="05050102010706020507" pitchFamily="18" charset="2"/>
              </a:rPr>
              <a:t>，</a:t>
            </a:r>
            <a:r>
              <a:rPr lang="en-US" altLang="zh-CN" sz="2400" b="1" i="1" dirty="0"/>
              <a:t>P</a:t>
            </a:r>
            <a:r>
              <a:rPr lang="en-US" altLang="zh-CN" sz="2400" b="1" i="1" baseline="-25000" dirty="0"/>
              <a:t>i </a:t>
            </a:r>
            <a:r>
              <a:rPr lang="zh-CN" altLang="en-US" sz="2400" b="1" dirty="0"/>
              <a:t>指向的</a:t>
            </a:r>
            <a:r>
              <a:rPr lang="zh-CN" altLang="en-US" sz="2400" b="1" dirty="0">
                <a:solidFill>
                  <a:srgbClr val="0000FF"/>
                </a:solidFill>
              </a:rPr>
              <a:t>子树</a:t>
            </a:r>
            <a:r>
              <a:rPr lang="zh-CN" altLang="en-US" sz="2400" b="1" dirty="0"/>
              <a:t>中的</a:t>
            </a:r>
            <a:r>
              <a:rPr lang="zh-CN" altLang="en-US" sz="2400" b="1" u="sng" dirty="0"/>
              <a:t>所有搜索码</a:t>
            </a:r>
            <a:r>
              <a:rPr lang="zh-CN" altLang="en-US" sz="2400" b="1" dirty="0"/>
              <a:t>都</a:t>
            </a:r>
            <a:r>
              <a:rPr lang="zh-CN" altLang="en-US" sz="2400" b="1" dirty="0">
                <a:solidFill>
                  <a:srgbClr val="0000FF"/>
                </a:solidFill>
              </a:rPr>
              <a:t>大于等于</a:t>
            </a:r>
            <a:r>
              <a:rPr lang="en-US" altLang="zh-CN" sz="2400" b="1" i="1" dirty="0">
                <a:solidFill>
                  <a:srgbClr val="0000FF"/>
                </a:solidFill>
                <a:sym typeface="Symbol" panose="05050102010706020507" pitchFamily="18" charset="2"/>
              </a:rPr>
              <a:t>K</a:t>
            </a:r>
            <a:r>
              <a:rPr lang="en-US" altLang="zh-CN" sz="2400" b="1" i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i</a:t>
            </a:r>
            <a:r>
              <a:rPr lang="en-US" altLang="zh-CN" sz="2400" b="1" baseline="-25000" dirty="0">
                <a:solidFill>
                  <a:srgbClr val="0000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–</a:t>
            </a:r>
            <a:r>
              <a:rPr lang="en-US" altLang="zh-CN" sz="2400" b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1</a:t>
            </a:r>
            <a:r>
              <a:rPr lang="zh-CN" altLang="en-US" sz="2400" b="1" dirty="0">
                <a:solidFill>
                  <a:srgbClr val="0000FF"/>
                </a:solidFill>
              </a:rPr>
              <a:t>小于</a:t>
            </a:r>
            <a:r>
              <a:rPr lang="en-US" altLang="zh-CN" sz="2400" b="1" i="1" dirty="0">
                <a:solidFill>
                  <a:srgbClr val="0000FF"/>
                </a:solidFill>
                <a:sym typeface="Symbol" panose="05050102010706020507" pitchFamily="18" charset="2"/>
              </a:rPr>
              <a:t>K</a:t>
            </a:r>
            <a:r>
              <a:rPr lang="en-US" altLang="zh-CN" sz="2400" b="1" i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i</a:t>
            </a:r>
          </a:p>
          <a:p>
            <a:pPr lvl="1" eaLnBrk="1" hangingPunct="1"/>
            <a:r>
              <a:rPr lang="en-US" altLang="zh-CN" sz="2400" b="1" i="1" dirty="0" err="1"/>
              <a:t>P</a:t>
            </a:r>
            <a:r>
              <a:rPr lang="en-US" altLang="zh-CN" sz="2400" b="1" baseline="-25000" dirty="0" err="1"/>
              <a:t>n</a:t>
            </a:r>
            <a:r>
              <a:rPr lang="zh-CN" altLang="en-US" sz="2400" b="1" dirty="0"/>
              <a:t>指向的</a:t>
            </a:r>
            <a:r>
              <a:rPr lang="zh-CN" altLang="en-US" sz="2400" b="1" dirty="0">
                <a:solidFill>
                  <a:srgbClr val="0000FF"/>
                </a:solidFill>
              </a:rPr>
              <a:t>子树</a:t>
            </a:r>
            <a:r>
              <a:rPr lang="zh-CN" altLang="en-US" sz="2400" b="1" dirty="0"/>
              <a:t>中</a:t>
            </a:r>
            <a:r>
              <a:rPr lang="zh-CN" altLang="en-US" sz="2400" b="1" u="sng" dirty="0"/>
              <a:t>所含搜索码值</a:t>
            </a:r>
            <a:r>
              <a:rPr lang="zh-CN" altLang="en-US" sz="2400" b="1" dirty="0">
                <a:solidFill>
                  <a:srgbClr val="0000FF"/>
                </a:solidFill>
              </a:rPr>
              <a:t>大于等于</a:t>
            </a:r>
            <a:r>
              <a:rPr lang="en-US" altLang="zh-CN" sz="2400" b="1" i="1" dirty="0">
                <a:solidFill>
                  <a:srgbClr val="0000FF"/>
                </a:solidFill>
              </a:rPr>
              <a:t>K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n-1</a:t>
            </a:r>
            <a:endParaRPr lang="zh-CN" altLang="en-US" sz="2400" b="1" baseline="-25000" dirty="0">
              <a:solidFill>
                <a:srgbClr val="0000FF"/>
              </a:solidFill>
            </a:endParaRPr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B91E77C5-FE79-97CC-081F-D2BB4E7321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9113" y="4725144"/>
            <a:ext cx="5813424" cy="450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5">
            <a:extLst>
              <a:ext uri="{FF2B5EF4-FFF2-40B4-BE49-F238E27FC236}">
                <a16:creationId xmlns:a16="http://schemas.microsoft.com/office/drawing/2014/main" id="{8D8EDF52-D1B7-F91F-FC43-70E6D0925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B59CDB5-EED0-479B-87CC-B79285DD3281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zh-CN" sz="1200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02CCEAD1-F91A-2210-E09C-9D055388D9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B</a:t>
            </a:r>
            <a:r>
              <a:rPr lang="en-US" altLang="zh-CN" b="1" baseline="30000"/>
              <a:t>+</a:t>
            </a:r>
            <a:r>
              <a:rPr lang="zh-CN" altLang="en-US" b="1"/>
              <a:t>树示例</a:t>
            </a: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B7FD7C45-D057-1B2C-7D79-022495FE3F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0025" y="4059130"/>
            <a:ext cx="8743950" cy="2610230"/>
          </a:xfrm>
        </p:spPr>
        <p:txBody>
          <a:bodyPr/>
          <a:lstStyle/>
          <a:p>
            <a:pPr eaLnBrk="1" hangingPunct="1"/>
            <a:r>
              <a:rPr lang="zh-CN" altLang="en-US" sz="2400" b="1" dirty="0">
                <a:solidFill>
                  <a:srgbClr val="0000FF"/>
                </a:solidFill>
              </a:rPr>
              <a:t>叶结点</a:t>
            </a:r>
            <a:r>
              <a:rPr lang="zh-CN" altLang="en-US" sz="2400" b="1" dirty="0"/>
              <a:t>必须具有</a:t>
            </a:r>
            <a:r>
              <a:rPr lang="en-US" altLang="zh-CN" sz="2400" b="1" dirty="0">
                <a:solidFill>
                  <a:srgbClr val="0000FF"/>
                </a:solidFill>
              </a:rPr>
              <a:t>2</a:t>
            </a:r>
            <a:r>
              <a:rPr lang="zh-CN" altLang="en-US" sz="2400" b="1" dirty="0">
                <a:solidFill>
                  <a:srgbClr val="0000FF"/>
                </a:solidFill>
              </a:rPr>
              <a:t>到</a:t>
            </a:r>
            <a:r>
              <a:rPr lang="en-US" altLang="zh-CN" sz="2400" b="1" dirty="0">
                <a:solidFill>
                  <a:srgbClr val="0000FF"/>
                </a:solidFill>
              </a:rPr>
              <a:t>3</a:t>
            </a:r>
            <a:r>
              <a:rPr lang="zh-CN" altLang="en-US" sz="2400" b="1" dirty="0">
                <a:solidFill>
                  <a:srgbClr val="0000FF"/>
                </a:solidFill>
              </a:rPr>
              <a:t>个</a:t>
            </a:r>
            <a:r>
              <a:rPr lang="zh-CN" altLang="en-US" sz="2400" b="1" dirty="0">
                <a:solidFill>
                  <a:srgbClr val="339933"/>
                </a:solidFill>
              </a:rPr>
              <a:t>搜索码</a:t>
            </a:r>
            <a:r>
              <a:rPr lang="zh-CN" altLang="en-US" sz="2400" b="1" dirty="0"/>
              <a:t>值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即</a:t>
            </a:r>
            <a:r>
              <a:rPr lang="zh-CN" altLang="en-US" sz="2400" b="1" dirty="0">
                <a:sym typeface="Symbol" panose="05050102010706020507" pitchFamily="18" charset="2"/>
              </a:rPr>
              <a:t>(</a:t>
            </a:r>
            <a:r>
              <a:rPr lang="en-US" altLang="zh-CN" sz="2400" b="1" i="1" dirty="0">
                <a:sym typeface="Symbol" panose="05050102010706020507" pitchFamily="18" charset="2"/>
              </a:rPr>
              <a:t>n</a:t>
            </a:r>
            <a:r>
              <a:rPr lang="en-US" altLang="zh-CN" sz="2400" b="1" dirty="0">
                <a:latin typeface="Arial" panose="020B0604020202020204" pitchFamily="34" charset="0"/>
                <a:sym typeface="Symbol" panose="05050102010706020507" pitchFamily="18" charset="2"/>
              </a:rPr>
              <a:t>–</a:t>
            </a:r>
            <a:r>
              <a:rPr lang="en-US" altLang="zh-CN" sz="2400" b="1" dirty="0">
                <a:sym typeface="Symbol" panose="05050102010706020507" pitchFamily="18" charset="2"/>
              </a:rPr>
              <a:t>1)/2 </a:t>
            </a:r>
            <a:r>
              <a:rPr lang="zh-CN" altLang="en-US" sz="2400" b="1" dirty="0">
                <a:sym typeface="Symbol" panose="05050102010706020507" pitchFamily="18" charset="2"/>
              </a:rPr>
              <a:t>到</a:t>
            </a:r>
            <a:r>
              <a:rPr lang="en-US" altLang="zh-CN" sz="2400" b="1" i="1" dirty="0">
                <a:sym typeface="Symbol" panose="05050102010706020507" pitchFamily="18" charset="2"/>
              </a:rPr>
              <a:t>n </a:t>
            </a:r>
            <a:r>
              <a:rPr lang="en-US" altLang="zh-CN" sz="2400" b="1" dirty="0">
                <a:latin typeface="Arial" panose="020B0604020202020204" pitchFamily="34" charset="0"/>
                <a:sym typeface="Symbol" panose="05050102010706020507" pitchFamily="18" charset="2"/>
              </a:rPr>
              <a:t>–</a:t>
            </a:r>
            <a:r>
              <a:rPr lang="en-US" altLang="zh-CN" sz="2400" b="1" dirty="0">
                <a:sym typeface="Symbol" panose="05050102010706020507" pitchFamily="18" charset="2"/>
              </a:rPr>
              <a:t>1)</a:t>
            </a:r>
          </a:p>
          <a:p>
            <a:pPr eaLnBrk="1" hangingPunct="1"/>
            <a:r>
              <a:rPr lang="zh-CN" altLang="en-US" sz="2400" b="1" dirty="0">
                <a:sym typeface="Symbol" panose="05050102010706020507" pitchFamily="18" charset="2"/>
              </a:rPr>
              <a:t>根以外的</a:t>
            </a:r>
            <a:r>
              <a:rPr lang="zh-CN" altLang="en-US" sz="2400" b="1" dirty="0">
                <a:solidFill>
                  <a:srgbClr val="0000FF"/>
                </a:solidFill>
                <a:sym typeface="Symbol" panose="05050102010706020507" pitchFamily="18" charset="2"/>
              </a:rPr>
              <a:t>非叶结点</a:t>
            </a:r>
            <a:r>
              <a:rPr lang="zh-CN" altLang="en-US" sz="2400" b="1" dirty="0">
                <a:sym typeface="Symbol" panose="05050102010706020507" pitchFamily="18" charset="2"/>
              </a:rPr>
              <a:t>必须具有</a:t>
            </a:r>
            <a:r>
              <a:rPr lang="en-US" altLang="zh-CN" sz="2400" b="1" dirty="0">
                <a:solidFill>
                  <a:srgbClr val="0000FF"/>
                </a:solidFill>
                <a:sym typeface="Symbol" panose="05050102010706020507" pitchFamily="18" charset="2"/>
              </a:rPr>
              <a:t>2</a:t>
            </a:r>
            <a:r>
              <a:rPr lang="zh-CN" altLang="en-US" sz="2400" b="1" dirty="0">
                <a:solidFill>
                  <a:srgbClr val="0000FF"/>
                </a:solidFill>
                <a:sym typeface="Symbol" panose="05050102010706020507" pitchFamily="18" charset="2"/>
              </a:rPr>
              <a:t>到</a:t>
            </a:r>
            <a:r>
              <a:rPr lang="en-US" altLang="zh-CN" sz="2400" b="1" dirty="0">
                <a:solidFill>
                  <a:srgbClr val="0000FF"/>
                </a:solidFill>
                <a:sym typeface="Symbol" panose="05050102010706020507" pitchFamily="18" charset="2"/>
              </a:rPr>
              <a:t>4</a:t>
            </a:r>
            <a:r>
              <a:rPr lang="zh-CN" altLang="en-US" sz="2400" b="1" dirty="0">
                <a:solidFill>
                  <a:srgbClr val="0000FF"/>
                </a:solidFill>
                <a:sym typeface="Symbol" panose="05050102010706020507" pitchFamily="18" charset="2"/>
              </a:rPr>
              <a:t>个</a:t>
            </a:r>
            <a:r>
              <a:rPr lang="zh-CN" altLang="en-US" sz="2400" b="1" dirty="0">
                <a:solidFill>
                  <a:srgbClr val="006600"/>
                </a:solidFill>
                <a:sym typeface="Symbol" panose="05050102010706020507" pitchFamily="18" charset="2"/>
              </a:rPr>
              <a:t>子结点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即</a:t>
            </a:r>
            <a:r>
              <a:rPr lang="zh-CN" altLang="en-US" sz="2400" b="1" dirty="0">
                <a:sym typeface="Symbol" panose="05050102010706020507" pitchFamily="18" charset="2"/>
              </a:rPr>
              <a:t></a:t>
            </a:r>
            <a:r>
              <a:rPr lang="en-US" altLang="zh-CN" sz="2400" b="1" i="1" dirty="0">
                <a:sym typeface="Symbol" panose="05050102010706020507" pitchFamily="18" charset="2"/>
              </a:rPr>
              <a:t>n</a:t>
            </a:r>
            <a:r>
              <a:rPr lang="en-US" altLang="zh-CN" sz="2400" b="1" dirty="0">
                <a:sym typeface="Symbol" panose="05050102010706020507" pitchFamily="18" charset="2"/>
              </a:rPr>
              <a:t>/2</a:t>
            </a:r>
            <a:r>
              <a:rPr lang="zh-CN" altLang="en-US" sz="2400" b="1" dirty="0">
                <a:sym typeface="Symbol" panose="05050102010706020507" pitchFamily="18" charset="2"/>
              </a:rPr>
              <a:t>到</a:t>
            </a:r>
            <a:r>
              <a:rPr lang="en-US" altLang="zh-CN" sz="2400" b="1" i="1" dirty="0">
                <a:sym typeface="Symbol" panose="05050102010706020507" pitchFamily="18" charset="2"/>
              </a:rPr>
              <a:t>n</a:t>
            </a:r>
            <a:r>
              <a:rPr lang="en-US" altLang="zh-CN" sz="2400" b="1" dirty="0">
                <a:sym typeface="Symbol" panose="05050102010706020507" pitchFamily="18" charset="2"/>
              </a:rPr>
              <a:t>)</a:t>
            </a:r>
          </a:p>
          <a:p>
            <a:pPr eaLnBrk="1" hangingPunct="1"/>
            <a:r>
              <a:rPr lang="zh-CN" altLang="en-US" sz="2400" b="1" dirty="0">
                <a:sym typeface="Symbol" panose="05050102010706020507" pitchFamily="18" charset="2"/>
              </a:rPr>
              <a:t>除非整棵树只有一个结点，</a:t>
            </a:r>
            <a:r>
              <a:rPr lang="zh-CN" altLang="en-US" sz="2400" b="1" dirty="0">
                <a:solidFill>
                  <a:srgbClr val="0000FF"/>
                </a:solidFill>
                <a:sym typeface="Symbol" panose="05050102010706020507" pitchFamily="18" charset="2"/>
              </a:rPr>
              <a:t>根结点</a:t>
            </a:r>
            <a:r>
              <a:rPr lang="zh-CN" altLang="en-US" sz="2400" b="1" dirty="0">
                <a:sym typeface="Symbol" panose="05050102010706020507" pitchFamily="18" charset="2"/>
              </a:rPr>
              <a:t>必须</a:t>
            </a:r>
            <a:r>
              <a:rPr lang="zh-CN" altLang="en-US" sz="2400" b="1" dirty="0">
                <a:solidFill>
                  <a:srgbClr val="0000FF"/>
                </a:solidFill>
                <a:sym typeface="Symbol" panose="05050102010706020507" pitchFamily="18" charset="2"/>
              </a:rPr>
              <a:t>至少有</a:t>
            </a:r>
            <a:r>
              <a:rPr lang="en-US" altLang="zh-CN" sz="2400" b="1" dirty="0">
                <a:solidFill>
                  <a:srgbClr val="0000FF"/>
                </a:solidFill>
                <a:sym typeface="Symbol" panose="05050102010706020507" pitchFamily="18" charset="2"/>
              </a:rPr>
              <a:t>2</a:t>
            </a:r>
            <a:r>
              <a:rPr lang="zh-CN" altLang="en-US" sz="2400" b="1" dirty="0">
                <a:solidFill>
                  <a:srgbClr val="0000FF"/>
                </a:solidFill>
                <a:sym typeface="Symbol" panose="05050102010706020507" pitchFamily="18" charset="2"/>
              </a:rPr>
              <a:t>个子结点</a:t>
            </a:r>
            <a:endParaRPr lang="en-US" altLang="zh-CN" sz="2400" b="1" dirty="0">
              <a:solidFill>
                <a:srgbClr val="0000FF"/>
              </a:solidFill>
              <a:sym typeface="Symbol" panose="05050102010706020507" pitchFamily="18" charset="2"/>
            </a:endParaRPr>
          </a:p>
          <a:p>
            <a:pPr algn="l"/>
            <a:r>
              <a:rPr lang="zh-CN" altLang="en-US" sz="2400" b="1" dirty="0"/>
              <a:t>通过</a:t>
            </a: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链表</a:t>
            </a:r>
            <a:r>
              <a:rPr lang="zh-CN" altLang="en-US" sz="2400" b="1" dirty="0"/>
              <a:t>将</a:t>
            </a:r>
            <a:r>
              <a:rPr lang="zh-CN" altLang="en-US" sz="2400" b="1" dirty="0">
                <a:solidFill>
                  <a:srgbClr val="0000FF"/>
                </a:solidFill>
              </a:rPr>
              <a:t>叶子结点</a:t>
            </a:r>
            <a:r>
              <a:rPr lang="zh-CN" altLang="en-US" sz="2400" b="1" dirty="0"/>
              <a:t>串联在一起，这样可以方便</a:t>
            </a:r>
            <a:r>
              <a:rPr lang="zh-CN" altLang="en-US" sz="2400" b="1" dirty="0">
                <a:solidFill>
                  <a:srgbClr val="0000FF"/>
                </a:solidFill>
              </a:rPr>
              <a:t>按区间查找</a:t>
            </a:r>
            <a:r>
              <a:rPr lang="zh-CN" altLang="en-US" sz="2400" b="1" dirty="0"/>
              <a:t>；</a:t>
            </a:r>
          </a:p>
          <a:p>
            <a:pPr algn="l"/>
            <a:r>
              <a:rPr lang="zh-CN" altLang="en-US" sz="2400" b="1" dirty="0"/>
              <a:t>一般情况，</a:t>
            </a:r>
            <a:r>
              <a:rPr lang="zh-CN" altLang="en-US" sz="2400" b="1" dirty="0">
                <a:solidFill>
                  <a:srgbClr val="0000FF"/>
                </a:solidFill>
              </a:rPr>
              <a:t>根结点</a:t>
            </a:r>
            <a:r>
              <a:rPr lang="zh-CN" altLang="en-US" sz="2400" b="1" dirty="0"/>
              <a:t>会被存储在</a:t>
            </a:r>
            <a:r>
              <a:rPr lang="zh-CN" altLang="en-US" sz="2400" b="1" dirty="0">
                <a:solidFill>
                  <a:srgbClr val="0000FF"/>
                </a:solidFill>
              </a:rPr>
              <a:t>内存</a:t>
            </a:r>
            <a:r>
              <a:rPr lang="zh-CN" altLang="en-US" sz="2400" b="1" dirty="0"/>
              <a:t>中，其他结点存储在磁盘中。</a:t>
            </a:r>
          </a:p>
          <a:p>
            <a:pPr eaLnBrk="1" hangingPunct="1"/>
            <a:endParaRPr lang="en-US" altLang="zh-CN" sz="2400" b="1" dirty="0">
              <a:solidFill>
                <a:srgbClr val="0000FF"/>
              </a:solidFill>
              <a:sym typeface="Symbol" panose="05050102010706020507" pitchFamily="18" charset="2"/>
            </a:endParaRPr>
          </a:p>
        </p:txBody>
      </p:sp>
      <p:sp>
        <p:nvSpPr>
          <p:cNvPr id="25605" name="Text Box 4">
            <a:extLst>
              <a:ext uri="{FF2B5EF4-FFF2-40B4-BE49-F238E27FC236}">
                <a16:creationId xmlns:a16="http://schemas.microsoft.com/office/drawing/2014/main" id="{3B4FC340-C208-7D75-3513-F1D96C9AF9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0131" y="3333106"/>
            <a:ext cx="400622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Helvetica" panose="020B0604020202020204" pitchFamily="34" charset="0"/>
              </a:rPr>
              <a:t>instructor </a:t>
            </a:r>
            <a:r>
              <a:rPr lang="zh-CN" altLang="en-US" sz="2400" i="0" dirty="0">
                <a:latin typeface="Helvetica" panose="020B0604020202020204" pitchFamily="34" charset="0"/>
              </a:rPr>
              <a:t>文件的</a:t>
            </a:r>
            <a:r>
              <a:rPr lang="en-US" altLang="zh-CN" sz="2400" i="0" dirty="0">
                <a:latin typeface="Helvetica" panose="020B0604020202020204" pitchFamily="34" charset="0"/>
              </a:rPr>
              <a:t>B</a:t>
            </a:r>
            <a:r>
              <a:rPr lang="en-US" altLang="zh-CN" sz="2400" i="0" baseline="30000" dirty="0">
                <a:latin typeface="Helvetica" panose="020B0604020202020204" pitchFamily="34" charset="0"/>
              </a:rPr>
              <a:t>+</a:t>
            </a:r>
            <a:r>
              <a:rPr lang="zh-CN" altLang="en-US" sz="2400" i="0" dirty="0">
                <a:latin typeface="Helvetica" panose="020B0604020202020204" pitchFamily="34" charset="0"/>
              </a:rPr>
              <a:t>树(</a:t>
            </a:r>
            <a:r>
              <a:rPr lang="en-US" altLang="zh-CN" sz="2400" b="1" dirty="0">
                <a:solidFill>
                  <a:srgbClr val="0000FF"/>
                </a:solidFill>
                <a:latin typeface="Helvetica" panose="020B0604020202020204" pitchFamily="34" charset="0"/>
              </a:rPr>
              <a:t>n</a:t>
            </a:r>
            <a:r>
              <a:rPr lang="en-US" altLang="zh-CN" sz="2400" b="1" i="0" dirty="0">
                <a:solidFill>
                  <a:srgbClr val="0000FF"/>
                </a:solidFill>
                <a:latin typeface="Helvetica" panose="020B0604020202020204" pitchFamily="34" charset="0"/>
              </a:rPr>
              <a:t> = 4</a:t>
            </a:r>
            <a:r>
              <a:rPr lang="en-US" altLang="zh-CN" sz="2400" i="0" dirty="0">
                <a:latin typeface="Helvetica" panose="020B0604020202020204" pitchFamily="34" charset="0"/>
              </a:rPr>
              <a:t>)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C41B8C3-9306-B3E7-0921-0BAC27D25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314097"/>
            <a:ext cx="8188399" cy="1886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668828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5"/>
          <a:stretch/>
        </p:blipFill>
        <p:spPr bwMode="auto">
          <a:xfrm>
            <a:off x="683568" y="1397496"/>
            <a:ext cx="7999783" cy="46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2" name="灯片编号占位符 5">
            <a:extLst>
              <a:ext uri="{FF2B5EF4-FFF2-40B4-BE49-F238E27FC236}">
                <a16:creationId xmlns:a16="http://schemas.microsoft.com/office/drawing/2014/main" id="{8D8EDF52-D1B7-F91F-FC43-70E6D0925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B59CDB5-EED0-479B-87CC-B79285DD3281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zh-CN" sz="1200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02CCEAD1-F91A-2210-E09C-9D055388D9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B</a:t>
            </a:r>
            <a:r>
              <a:rPr lang="en-US" altLang="zh-CN" b="1" baseline="30000"/>
              <a:t>+</a:t>
            </a:r>
            <a:r>
              <a:rPr lang="zh-CN" altLang="en-US" b="1"/>
              <a:t>树示例</a:t>
            </a:r>
          </a:p>
        </p:txBody>
      </p:sp>
      <p:sp>
        <p:nvSpPr>
          <p:cNvPr id="25605" name="Text Box 4">
            <a:extLst>
              <a:ext uri="{FF2B5EF4-FFF2-40B4-BE49-F238E27FC236}">
                <a16:creationId xmlns:a16="http://schemas.microsoft.com/office/drawing/2014/main" id="{3B4FC340-C208-7D75-3513-F1D96C9AF9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4129" y="6081917"/>
            <a:ext cx="492955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None/>
            </a:pPr>
            <a:r>
              <a:rPr lang="en-US" altLang="zh-CN" sz="2400" dirty="0">
                <a:latin typeface="Helvetica" panose="020B0604020202020204" pitchFamily="34" charset="0"/>
              </a:rPr>
              <a:t>instructor </a:t>
            </a:r>
            <a:r>
              <a:rPr lang="zh-CN" altLang="en-US" sz="2400" i="0" dirty="0">
                <a:latin typeface="Helvetica" panose="020B0604020202020204" pitchFamily="34" charset="0"/>
              </a:rPr>
              <a:t>文件的完整的</a:t>
            </a:r>
            <a:r>
              <a:rPr lang="en-US" altLang="zh-CN" sz="2400" i="0" dirty="0">
                <a:latin typeface="Helvetica" panose="020B0604020202020204" pitchFamily="34" charset="0"/>
              </a:rPr>
              <a:t>B</a:t>
            </a:r>
            <a:r>
              <a:rPr lang="en-US" altLang="zh-CN" sz="2400" i="0" baseline="30000" dirty="0">
                <a:latin typeface="Helvetica" panose="020B0604020202020204" pitchFamily="34" charset="0"/>
              </a:rPr>
              <a:t>+</a:t>
            </a:r>
            <a:r>
              <a:rPr lang="zh-CN" altLang="en-US" sz="2400" i="0" dirty="0">
                <a:latin typeface="Helvetica" panose="020B0604020202020204" pitchFamily="34" charset="0"/>
              </a:rPr>
              <a:t>树(</a:t>
            </a:r>
            <a:r>
              <a:rPr lang="en-US" altLang="zh-CN" sz="2400" b="1" dirty="0">
                <a:solidFill>
                  <a:srgbClr val="0000FF"/>
                </a:solidFill>
                <a:latin typeface="Helvetica" panose="020B0604020202020204" pitchFamily="34" charset="0"/>
              </a:rPr>
              <a:t>n</a:t>
            </a:r>
            <a:r>
              <a:rPr lang="en-US" altLang="zh-CN" sz="2400" b="1" i="0" dirty="0">
                <a:solidFill>
                  <a:srgbClr val="0000FF"/>
                </a:solidFill>
                <a:latin typeface="Helvetica" panose="020B0604020202020204" pitchFamily="34" charset="0"/>
              </a:rPr>
              <a:t> = 4</a:t>
            </a:r>
            <a:r>
              <a:rPr lang="en-US" altLang="zh-CN" sz="2400" i="0" dirty="0">
                <a:latin typeface="Helvetica" panose="020B0604020202020204" pitchFamily="34" charset="0"/>
              </a:rPr>
              <a:t>)</a:t>
            </a:r>
            <a:endParaRPr lang="zh-CN" altLang="en-US" sz="2400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A9DD5D6-EBCC-668C-6EA4-9CABF2924F7C}"/>
              </a:ext>
            </a:extLst>
          </p:cNvPr>
          <p:cNvCxnSpPr>
            <a:cxnSpLocks/>
          </p:cNvCxnSpPr>
          <p:nvPr/>
        </p:nvCxnSpPr>
        <p:spPr bwMode="auto">
          <a:xfrm flipV="1">
            <a:off x="1763688" y="3068960"/>
            <a:ext cx="0" cy="7200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3652764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5">
            <a:extLst>
              <a:ext uri="{FF2B5EF4-FFF2-40B4-BE49-F238E27FC236}">
                <a16:creationId xmlns:a16="http://schemas.microsoft.com/office/drawing/2014/main" id="{8D8EDF52-D1B7-F91F-FC43-70E6D0925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B59CDB5-EED0-479B-87CC-B79285DD3281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zh-CN" sz="1200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02CCEAD1-F91A-2210-E09C-9D055388D9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B</a:t>
            </a:r>
            <a:r>
              <a:rPr lang="en-US" altLang="zh-CN" b="1" baseline="30000"/>
              <a:t>+</a:t>
            </a:r>
            <a:r>
              <a:rPr lang="zh-CN" altLang="en-US" b="1"/>
              <a:t>树示例</a:t>
            </a:r>
          </a:p>
        </p:txBody>
      </p:sp>
      <p:sp>
        <p:nvSpPr>
          <p:cNvPr id="25605" name="Text Box 4">
            <a:extLst>
              <a:ext uri="{FF2B5EF4-FFF2-40B4-BE49-F238E27FC236}">
                <a16:creationId xmlns:a16="http://schemas.microsoft.com/office/drawing/2014/main" id="{3B4FC340-C208-7D75-3513-F1D96C9AF9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8134" y="3717032"/>
            <a:ext cx="492955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None/>
            </a:pPr>
            <a:r>
              <a:rPr lang="en-US" altLang="zh-CN" sz="2400" dirty="0">
                <a:latin typeface="Helvetica" panose="020B0604020202020204" pitchFamily="34" charset="0"/>
              </a:rPr>
              <a:t>instructor </a:t>
            </a:r>
            <a:r>
              <a:rPr lang="zh-CN" altLang="en-US" sz="2400" i="0" dirty="0">
                <a:latin typeface="Helvetica" panose="020B0604020202020204" pitchFamily="34" charset="0"/>
              </a:rPr>
              <a:t>文件的完整的</a:t>
            </a:r>
            <a:r>
              <a:rPr lang="en-US" altLang="zh-CN" sz="2400" i="0" dirty="0">
                <a:latin typeface="Helvetica" panose="020B0604020202020204" pitchFamily="34" charset="0"/>
              </a:rPr>
              <a:t>B</a:t>
            </a:r>
            <a:r>
              <a:rPr lang="en-US" altLang="zh-CN" sz="2400" i="0" baseline="30000" dirty="0">
                <a:latin typeface="Helvetica" panose="020B0604020202020204" pitchFamily="34" charset="0"/>
              </a:rPr>
              <a:t>+</a:t>
            </a:r>
            <a:r>
              <a:rPr lang="zh-CN" altLang="en-US" sz="2400" i="0" dirty="0">
                <a:latin typeface="Helvetica" panose="020B0604020202020204" pitchFamily="34" charset="0"/>
              </a:rPr>
              <a:t>树(</a:t>
            </a:r>
            <a:r>
              <a:rPr lang="en-US" altLang="zh-CN" sz="2400" b="1" dirty="0">
                <a:solidFill>
                  <a:srgbClr val="0000FF"/>
                </a:solidFill>
                <a:latin typeface="Helvetica" panose="020B0604020202020204" pitchFamily="34" charset="0"/>
              </a:rPr>
              <a:t>n</a:t>
            </a:r>
            <a:r>
              <a:rPr lang="en-US" altLang="zh-CN" sz="2400" b="1" i="0" dirty="0">
                <a:solidFill>
                  <a:srgbClr val="0000FF"/>
                </a:solidFill>
                <a:latin typeface="Helvetica" panose="020B0604020202020204" pitchFamily="34" charset="0"/>
              </a:rPr>
              <a:t> = 6</a:t>
            </a:r>
            <a:r>
              <a:rPr lang="en-US" altLang="zh-CN" sz="2400" i="0" dirty="0">
                <a:latin typeface="Helvetica" panose="020B0604020202020204" pitchFamily="34" charset="0"/>
              </a:rPr>
              <a:t>)</a:t>
            </a:r>
            <a:endParaRPr lang="zh-CN" altLang="en-US" sz="2400" dirty="0"/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33F38C9F-4795-45E8-AC13-8552F375DD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537" y="2420888"/>
            <a:ext cx="8540750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3995936" y="1787624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>
                <a:sym typeface="Symbol" panose="05050102010706020507" pitchFamily="18" charset="2"/>
              </a:rPr>
              <a:t>根结点必须至少有两个子结点</a:t>
            </a:r>
            <a:endParaRPr lang="en-US" altLang="en-US" dirty="0">
              <a:sym typeface="Symbol" panose="05050102010706020507" pitchFamily="18" charset="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17914" y="2770286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层数减少了</a:t>
            </a:r>
          </a:p>
        </p:txBody>
      </p:sp>
    </p:spTree>
    <p:extLst>
      <p:ext uri="{BB962C8B-B14F-4D97-AF65-F5344CB8AC3E}">
        <p14:creationId xmlns:p14="http://schemas.microsoft.com/office/powerpoint/2010/main" val="1781645706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5">
            <a:extLst>
              <a:ext uri="{FF2B5EF4-FFF2-40B4-BE49-F238E27FC236}">
                <a16:creationId xmlns:a16="http://schemas.microsoft.com/office/drawing/2014/main" id="{9813EB4E-5B52-2147-9BD5-A026ACDA4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D608939-82CE-4601-88CC-41228804B165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zh-CN" sz="1200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20D767C6-98FD-A422-D115-67C03943B2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对</a:t>
            </a:r>
            <a:r>
              <a:rPr lang="en-US" altLang="zh-CN" b="1"/>
              <a:t>B</a:t>
            </a:r>
            <a:r>
              <a:rPr lang="en-US" altLang="zh-CN" b="1" baseline="30000"/>
              <a:t>+</a:t>
            </a:r>
            <a:r>
              <a:rPr lang="zh-CN" altLang="en-US" b="1"/>
              <a:t>树示例的若干观察</a:t>
            </a:r>
            <a:endParaRPr lang="en-US" altLang="zh-CN" b="1"/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BB0DBCC1-FD3C-9041-DA99-235AC80AD6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46100" y="1414463"/>
            <a:ext cx="8051800" cy="4318793"/>
          </a:xfrm>
        </p:spPr>
        <p:txBody>
          <a:bodyPr/>
          <a:lstStyle/>
          <a:p>
            <a:pPr eaLnBrk="1" hangingPunct="1"/>
            <a:r>
              <a:rPr lang="zh-CN" altLang="en-US" sz="2600" b="1" dirty="0"/>
              <a:t>由于</a:t>
            </a:r>
            <a:r>
              <a:rPr lang="zh-CN" altLang="en-US" sz="2600" b="1" dirty="0">
                <a:solidFill>
                  <a:srgbClr val="0000FF"/>
                </a:solidFill>
              </a:rPr>
              <a:t>内结点</a:t>
            </a:r>
            <a:r>
              <a:rPr lang="zh-CN" altLang="en-US" sz="2600" b="1" dirty="0"/>
              <a:t>通过指针相连，</a:t>
            </a:r>
            <a:r>
              <a:rPr lang="en-US" altLang="zh-CN" sz="2600" b="1" dirty="0">
                <a:latin typeface="Arial" panose="020B0604020202020204" pitchFamily="34" charset="0"/>
              </a:rPr>
              <a:t>“</a:t>
            </a:r>
            <a:r>
              <a:rPr lang="zh-CN" altLang="en-US" sz="2600" b="1" dirty="0">
                <a:solidFill>
                  <a:srgbClr val="0000FF"/>
                </a:solidFill>
              </a:rPr>
              <a:t>逻辑上</a:t>
            </a:r>
            <a:r>
              <a:rPr lang="en-US" altLang="zh-CN" sz="2600" b="1" dirty="0">
                <a:latin typeface="Arial" panose="020B0604020202020204" pitchFamily="34" charset="0"/>
              </a:rPr>
              <a:t>”</a:t>
            </a:r>
            <a:r>
              <a:rPr lang="zh-CN" altLang="en-US" sz="2600" b="1" dirty="0"/>
              <a:t>相近的块在</a:t>
            </a:r>
            <a:r>
              <a:rPr lang="en-US" altLang="zh-CN" sz="2600" b="1" dirty="0">
                <a:latin typeface="Arial" panose="020B0604020202020204" pitchFamily="34" charset="0"/>
              </a:rPr>
              <a:t>“</a:t>
            </a:r>
            <a:r>
              <a:rPr lang="zh-CN" altLang="en-US" sz="2600" b="1" dirty="0">
                <a:solidFill>
                  <a:srgbClr val="0000FF"/>
                </a:solidFill>
              </a:rPr>
              <a:t>物理上</a:t>
            </a:r>
            <a:r>
              <a:rPr lang="en-US" altLang="zh-CN" sz="2600" b="1" dirty="0">
                <a:latin typeface="Arial" panose="020B0604020202020204" pitchFamily="34" charset="0"/>
              </a:rPr>
              <a:t>”</a:t>
            </a:r>
            <a:r>
              <a:rPr lang="zh-CN" altLang="en-US" sz="2600" b="1" dirty="0"/>
              <a:t>可能并不临近</a:t>
            </a:r>
            <a:endParaRPr lang="en-US" altLang="zh-CN" sz="2600" b="1" dirty="0"/>
          </a:p>
          <a:p>
            <a:pPr eaLnBrk="1" hangingPunct="1"/>
            <a:r>
              <a:rPr lang="en-US" altLang="zh-CN" sz="2600" b="1" dirty="0"/>
              <a:t>B</a:t>
            </a:r>
            <a:r>
              <a:rPr lang="en-US" altLang="zh-CN" sz="2600" b="1" baseline="30000" dirty="0"/>
              <a:t>+</a:t>
            </a:r>
            <a:r>
              <a:rPr lang="zh-CN" altLang="en-US" sz="2600" b="1" dirty="0"/>
              <a:t>树的</a:t>
            </a:r>
            <a:r>
              <a:rPr lang="zh-CN" altLang="en-US" sz="2600" b="1" dirty="0">
                <a:solidFill>
                  <a:srgbClr val="0000FF"/>
                </a:solidFill>
              </a:rPr>
              <a:t>非叶层</a:t>
            </a:r>
            <a:r>
              <a:rPr lang="zh-CN" altLang="en-US" sz="2600" b="1" dirty="0"/>
              <a:t>形成对</a:t>
            </a:r>
            <a:r>
              <a:rPr lang="zh-CN" altLang="en-US" sz="2600" b="1" u="sng" dirty="0"/>
              <a:t>叶结点</a:t>
            </a:r>
            <a:r>
              <a:rPr lang="zh-CN" altLang="en-US" sz="2600" b="1" dirty="0"/>
              <a:t>的</a:t>
            </a:r>
            <a:r>
              <a:rPr lang="zh-CN" altLang="en-US" sz="2600" b="1" dirty="0">
                <a:solidFill>
                  <a:srgbClr val="0000FF"/>
                </a:solidFill>
              </a:rPr>
              <a:t>稀疏索引层</a:t>
            </a:r>
            <a:endParaRPr lang="en-US" altLang="zh-CN" sz="2600" b="1" dirty="0">
              <a:solidFill>
                <a:srgbClr val="0000FF"/>
              </a:solidFill>
            </a:endParaRPr>
          </a:p>
          <a:p>
            <a:pPr eaLnBrk="1" hangingPunct="1"/>
            <a:r>
              <a:rPr lang="en-US" altLang="zh-CN" sz="2600" b="1" dirty="0"/>
              <a:t>B</a:t>
            </a:r>
            <a:r>
              <a:rPr lang="en-US" altLang="zh-CN" sz="2600" b="1" baseline="30000" dirty="0"/>
              <a:t>+</a:t>
            </a:r>
            <a:r>
              <a:rPr lang="zh-CN" altLang="en-US" sz="2600" b="1" dirty="0"/>
              <a:t>树包含</a:t>
            </a:r>
            <a:r>
              <a:rPr lang="zh-CN" altLang="en-US" sz="2600" b="1" dirty="0">
                <a:solidFill>
                  <a:srgbClr val="0000FF"/>
                </a:solidFill>
              </a:rPr>
              <a:t>较少的层数</a:t>
            </a:r>
            <a:r>
              <a:rPr lang="en-US" altLang="zh-CN" sz="2600" b="1" dirty="0"/>
              <a:t>(</a:t>
            </a:r>
            <a:r>
              <a:rPr lang="zh-CN" altLang="en-US" sz="2600" b="1" dirty="0"/>
              <a:t>是主文件大小的对数</a:t>
            </a:r>
            <a:r>
              <a:rPr lang="en-US" altLang="zh-CN" sz="2600" b="1" dirty="0"/>
              <a:t>)</a:t>
            </a:r>
            <a:r>
              <a:rPr lang="zh-CN" altLang="en-US" sz="2600" b="1" dirty="0"/>
              <a:t>，因此可高效搜索</a:t>
            </a:r>
            <a:endParaRPr lang="en-US" altLang="zh-CN" sz="2600" b="1" dirty="0"/>
          </a:p>
          <a:p>
            <a:pPr eaLnBrk="1" hangingPunct="1"/>
            <a:r>
              <a:rPr lang="zh-CN" altLang="en-US" sz="2600" b="1" dirty="0"/>
              <a:t>对于一个 </a:t>
            </a:r>
            <a:r>
              <a:rPr lang="en-US" altLang="zh-CN" sz="2600" b="1" dirty="0"/>
              <a:t>B</a:t>
            </a:r>
            <a:r>
              <a:rPr lang="en-US" altLang="zh-CN" sz="2600" b="1" baseline="30000" dirty="0"/>
              <a:t>+</a:t>
            </a:r>
            <a:r>
              <a:rPr lang="en-US" altLang="zh-CN" sz="2600" b="1" dirty="0"/>
              <a:t> </a:t>
            </a:r>
            <a:r>
              <a:rPr lang="zh-CN" altLang="en-US" sz="2600" b="1" dirty="0"/>
              <a:t>树来说，</a:t>
            </a:r>
            <a:r>
              <a:rPr lang="en-US" altLang="zh-CN" sz="2600" b="1" dirty="0">
                <a:solidFill>
                  <a:srgbClr val="0000FF"/>
                </a:solidFill>
              </a:rPr>
              <a:t>n </a:t>
            </a:r>
            <a:r>
              <a:rPr lang="zh-CN" altLang="en-US" sz="2600" b="1" dirty="0">
                <a:solidFill>
                  <a:srgbClr val="0000FF"/>
                </a:solidFill>
              </a:rPr>
              <a:t>值</a:t>
            </a:r>
            <a:r>
              <a:rPr lang="zh-CN" altLang="en-US" sz="2600" b="1" dirty="0"/>
              <a:t>是根据</a:t>
            </a:r>
            <a:r>
              <a:rPr lang="zh-CN" altLang="en-US" sz="2600" b="1" dirty="0">
                <a:solidFill>
                  <a:srgbClr val="0000FF"/>
                </a:solidFill>
              </a:rPr>
              <a:t>磁盘块的大小</a:t>
            </a:r>
            <a:r>
              <a:rPr lang="zh-CN" altLang="en-US" sz="2600" b="1" u="sng" dirty="0"/>
              <a:t>事先计算好的</a:t>
            </a:r>
            <a:endParaRPr lang="en-US" altLang="zh-CN" sz="2600" b="1" u="sng" dirty="0"/>
          </a:p>
          <a:p>
            <a:r>
              <a:rPr lang="zh-CN" altLang="en-US" sz="2600" b="1" dirty="0"/>
              <a:t>对主文件的插入和删除可高效处理，因为插入、删除操作中，索引可以在</a:t>
            </a:r>
            <a:r>
              <a:rPr lang="zh-CN" altLang="en-US" sz="2600" b="1" dirty="0">
                <a:solidFill>
                  <a:srgbClr val="0000FF"/>
                </a:solidFill>
              </a:rPr>
              <a:t>对数时间</a:t>
            </a:r>
            <a:r>
              <a:rPr lang="zh-CN" altLang="en-US" sz="2600" b="1" dirty="0"/>
              <a:t>内重构</a:t>
            </a:r>
            <a:endParaRPr lang="en-US" altLang="zh-CN" sz="2600" b="1" dirty="0"/>
          </a:p>
          <a:p>
            <a:pPr eaLnBrk="1" hangingPunct="1"/>
            <a:endParaRPr lang="en-US" altLang="zh-CN" sz="2600" b="1" dirty="0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5">
            <a:extLst>
              <a:ext uri="{FF2B5EF4-FFF2-40B4-BE49-F238E27FC236}">
                <a16:creationId xmlns:a16="http://schemas.microsoft.com/office/drawing/2014/main" id="{A8CD168B-CC8A-109F-B426-388879255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149DD0B-F398-46C4-8FE6-76AFC46F21EC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zh-CN" sz="1200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6BE080B9-D1B2-20C9-1768-1FDF0D4D18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对</a:t>
            </a:r>
            <a:r>
              <a:rPr lang="en-US" altLang="zh-CN" b="1" dirty="0"/>
              <a:t>B</a:t>
            </a:r>
            <a:r>
              <a:rPr lang="en-US" altLang="zh-CN" b="1" baseline="30000" dirty="0"/>
              <a:t>+</a:t>
            </a:r>
            <a:r>
              <a:rPr lang="zh-CN" altLang="en-US" b="1" dirty="0"/>
              <a:t>树的</a:t>
            </a:r>
            <a:r>
              <a:rPr lang="zh-CN" altLang="en-US" b="1" dirty="0">
                <a:solidFill>
                  <a:srgbClr val="0000FF"/>
                </a:solidFill>
              </a:rPr>
              <a:t>查询</a:t>
            </a:r>
            <a:endParaRPr lang="en-US" altLang="zh-CN" b="1" dirty="0">
              <a:solidFill>
                <a:srgbClr val="0000FF"/>
              </a:solidFill>
            </a:endParaRPr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6A7647A4-F8A2-B44A-6A3A-E3BA86E8BC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81818" y="1412776"/>
            <a:ext cx="7980363" cy="5173662"/>
          </a:xfrm>
        </p:spPr>
        <p:txBody>
          <a:bodyPr/>
          <a:lstStyle/>
          <a:p>
            <a:pPr marL="552450" indent="-552450" eaLnBrk="1" hangingPunct="1">
              <a:defRPr/>
            </a:pPr>
            <a:r>
              <a:rPr lang="zh-CN" altLang="en-US" b="1" dirty="0"/>
              <a:t>查找具有</a:t>
            </a:r>
            <a:r>
              <a:rPr lang="zh-CN" altLang="en-US" b="1" dirty="0">
                <a:solidFill>
                  <a:srgbClr val="0000FF"/>
                </a:solidFill>
              </a:rPr>
              <a:t>搜索码值</a:t>
            </a:r>
            <a:r>
              <a:rPr lang="en-US" altLang="zh-CN" b="1" i="1" dirty="0">
                <a:solidFill>
                  <a:srgbClr val="0000FF"/>
                </a:solidFill>
              </a:rPr>
              <a:t>k</a:t>
            </a:r>
            <a:r>
              <a:rPr lang="en-US" altLang="zh-CN" b="1" i="1" dirty="0"/>
              <a:t> </a:t>
            </a:r>
            <a:r>
              <a:rPr lang="zh-CN" altLang="en-US" b="1" dirty="0"/>
              <a:t>的所有记录</a:t>
            </a:r>
            <a:endParaRPr lang="en-US" altLang="zh-CN" b="1" i="1" dirty="0"/>
          </a:p>
          <a:p>
            <a:pPr marL="914400" lvl="1" indent="-457200" eaLnBrk="1" hangingPunct="1">
              <a:buFont typeface="+mj-lt"/>
              <a:buAutoNum type="arabicPeriod"/>
              <a:defRPr/>
            </a:pPr>
            <a:r>
              <a:rPr lang="zh-CN" altLang="en-US" b="1" dirty="0"/>
              <a:t>从根结点开始</a:t>
            </a:r>
            <a:endParaRPr lang="en-US" altLang="zh-CN" b="1" dirty="0"/>
          </a:p>
          <a:p>
            <a:pPr marL="1333500" lvl="2" indent="-419100" eaLnBrk="1" hangingPunct="1">
              <a:buFont typeface="Monotype Sorts" pitchFamily="2" charset="2"/>
              <a:buAutoNum type="circleNumDbPlain"/>
              <a:defRPr/>
            </a:pPr>
            <a:r>
              <a:rPr lang="zh-CN" altLang="en-US" b="1" dirty="0">
                <a:solidFill>
                  <a:srgbClr val="0000FF"/>
                </a:solidFill>
              </a:rPr>
              <a:t>查找</a:t>
            </a:r>
            <a:r>
              <a:rPr lang="zh-CN" altLang="en-US" b="1" dirty="0"/>
              <a:t>当前结点中</a:t>
            </a:r>
            <a:r>
              <a:rPr lang="zh-CN" altLang="en-US" b="1" dirty="0">
                <a:solidFill>
                  <a:srgbClr val="0000FF"/>
                </a:solidFill>
              </a:rPr>
              <a:t>大</a:t>
            </a:r>
            <a:r>
              <a:rPr lang="en-US" altLang="zh-CN" b="1" dirty="0">
                <a:solidFill>
                  <a:srgbClr val="0000FF"/>
                </a:solidFill>
              </a:rPr>
              <a:t>/</a:t>
            </a:r>
            <a:r>
              <a:rPr lang="zh-CN" altLang="en-US" b="1" dirty="0">
                <a:solidFill>
                  <a:srgbClr val="0000FF"/>
                </a:solidFill>
              </a:rPr>
              <a:t>等于</a:t>
            </a:r>
            <a:r>
              <a:rPr lang="en-US" altLang="zh-CN" b="1" i="1" dirty="0">
                <a:solidFill>
                  <a:srgbClr val="0000FF"/>
                </a:solidFill>
              </a:rPr>
              <a:t>k </a:t>
            </a:r>
            <a:r>
              <a:rPr lang="zh-CN" altLang="en-US" b="1" dirty="0"/>
              <a:t>的</a:t>
            </a:r>
            <a:r>
              <a:rPr lang="zh-CN" altLang="en-US" b="1" dirty="0">
                <a:solidFill>
                  <a:srgbClr val="FF0000"/>
                </a:solidFill>
              </a:rPr>
              <a:t>最小</a:t>
            </a:r>
            <a:r>
              <a:rPr lang="zh-CN" altLang="en-US" b="1" dirty="0">
                <a:solidFill>
                  <a:srgbClr val="0000FF"/>
                </a:solidFill>
              </a:rPr>
              <a:t>搜索码值</a:t>
            </a:r>
            <a:endParaRPr lang="en-US" altLang="zh-CN" b="1" dirty="0">
              <a:solidFill>
                <a:srgbClr val="0000FF"/>
              </a:solidFill>
            </a:endParaRPr>
          </a:p>
          <a:p>
            <a:pPr marL="1333500" lvl="2" indent="-419100" eaLnBrk="1" hangingPunct="1">
              <a:buFont typeface="Monotype Sorts" pitchFamily="2" charset="2"/>
              <a:buAutoNum type="circleNumDbPlain"/>
              <a:defRPr/>
            </a:pPr>
            <a:r>
              <a:rPr lang="zh-CN" altLang="en-US" b="1" dirty="0"/>
              <a:t>如果存在这样的值</a:t>
            </a:r>
            <a:r>
              <a:rPr lang="en-US" altLang="zh-CN" b="1" i="1" dirty="0"/>
              <a:t>K</a:t>
            </a:r>
            <a:r>
              <a:rPr lang="en-US" altLang="zh-CN" b="1" i="1" baseline="-25000" dirty="0"/>
              <a:t>i</a:t>
            </a:r>
            <a:r>
              <a:rPr lang="zh-CN" altLang="en-US" b="1" i="1" dirty="0"/>
              <a:t>，</a:t>
            </a:r>
            <a:r>
              <a:rPr lang="zh-CN" altLang="en-US" b="1" dirty="0"/>
              <a:t>则沿</a:t>
            </a:r>
            <a:r>
              <a:rPr lang="en-US" altLang="zh-CN" b="1" i="1" dirty="0"/>
              <a:t>P</a:t>
            </a:r>
            <a:r>
              <a:rPr lang="en-US" altLang="zh-CN" b="1" i="1" baseline="-25000" dirty="0"/>
              <a:t>i</a:t>
            </a:r>
            <a:r>
              <a:rPr lang="en-US" altLang="zh-CN" b="1" i="1" dirty="0"/>
              <a:t> </a:t>
            </a:r>
            <a:r>
              <a:rPr lang="zh-CN" altLang="en-US" b="1" dirty="0"/>
              <a:t>到相应子结点</a:t>
            </a:r>
            <a:endParaRPr lang="en-US" altLang="zh-CN" b="1" dirty="0"/>
          </a:p>
          <a:p>
            <a:pPr marL="1333500" lvl="2" indent="-419100" eaLnBrk="1" hangingPunct="1">
              <a:buFont typeface="Monotype Sorts" pitchFamily="2" charset="2"/>
              <a:buAutoNum type="circleNumDbPlain"/>
              <a:defRPr/>
            </a:pPr>
            <a:r>
              <a:rPr lang="zh-CN" altLang="en-US" b="1" dirty="0"/>
              <a:t>否则</a:t>
            </a:r>
            <a:r>
              <a:rPr lang="en-US" altLang="zh-CN" b="1" i="1" dirty="0"/>
              <a:t>k</a:t>
            </a:r>
            <a:r>
              <a:rPr lang="en-US" altLang="zh-CN" b="1" dirty="0"/>
              <a:t> ›</a:t>
            </a:r>
            <a:r>
              <a:rPr lang="en-US" altLang="zh-CN" b="1" dirty="0">
                <a:sym typeface="Symbol" panose="05050102010706020507" pitchFamily="18" charset="2"/>
              </a:rPr>
              <a:t> </a:t>
            </a:r>
            <a:r>
              <a:rPr lang="en-US" altLang="zh-CN" b="1" i="1" dirty="0" err="1">
                <a:sym typeface="Symbol" panose="05050102010706020507" pitchFamily="18" charset="2"/>
              </a:rPr>
              <a:t>K</a:t>
            </a:r>
            <a:r>
              <a:rPr lang="en-US" altLang="zh-CN" b="1" i="1" baseline="-25000" dirty="0" err="1">
                <a:sym typeface="Symbol" panose="05050102010706020507" pitchFamily="18" charset="2"/>
              </a:rPr>
              <a:t>n</a:t>
            </a:r>
            <a:r>
              <a:rPr lang="en-US" altLang="zh-CN" b="1" baseline="-25000" dirty="0">
                <a:latin typeface="Arial" panose="020B0604020202020204" pitchFamily="34" charset="0"/>
                <a:sym typeface="Symbol" panose="05050102010706020507" pitchFamily="18" charset="2"/>
              </a:rPr>
              <a:t>–</a:t>
            </a:r>
            <a:r>
              <a:rPr lang="en-US" altLang="zh-CN" b="1" baseline="-25000" dirty="0">
                <a:sym typeface="Symbol" panose="05050102010706020507" pitchFamily="18" charset="2"/>
              </a:rPr>
              <a:t>1</a:t>
            </a:r>
            <a:r>
              <a:rPr lang="zh-CN" altLang="en-US" b="1" dirty="0">
                <a:sym typeface="Symbol" panose="05050102010706020507" pitchFamily="18" charset="2"/>
              </a:rPr>
              <a:t>，其中</a:t>
            </a:r>
            <a:r>
              <a:rPr lang="en-US" altLang="zh-CN" b="1" i="1" dirty="0">
                <a:sym typeface="Symbol" panose="05050102010706020507" pitchFamily="18" charset="2"/>
              </a:rPr>
              <a:t>n</a:t>
            </a:r>
            <a:r>
              <a:rPr lang="en-US" altLang="zh-CN" b="1" dirty="0">
                <a:sym typeface="Symbol" panose="05050102010706020507" pitchFamily="18" charset="2"/>
              </a:rPr>
              <a:t> </a:t>
            </a:r>
            <a:r>
              <a:rPr lang="zh-CN" altLang="en-US" b="1" dirty="0">
                <a:sym typeface="Symbol" panose="05050102010706020507" pitchFamily="18" charset="2"/>
              </a:rPr>
              <a:t>是结点指针数，则沿 </a:t>
            </a:r>
            <a:r>
              <a:rPr lang="en-US" altLang="zh-CN" b="1" i="1" dirty="0" err="1">
                <a:sym typeface="Symbol" panose="05050102010706020507" pitchFamily="18" charset="2"/>
              </a:rPr>
              <a:t>P</a:t>
            </a:r>
            <a:r>
              <a:rPr lang="en-US" altLang="zh-CN" b="1" i="1" baseline="-25000" dirty="0" err="1">
                <a:sym typeface="Symbol" panose="05050102010706020507" pitchFamily="18" charset="2"/>
              </a:rPr>
              <a:t>n</a:t>
            </a:r>
            <a:r>
              <a:rPr lang="en-US" altLang="zh-CN" b="1" dirty="0">
                <a:sym typeface="Symbol" panose="05050102010706020507" pitchFamily="18" charset="2"/>
              </a:rPr>
              <a:t> </a:t>
            </a:r>
            <a:r>
              <a:rPr lang="zh-CN" altLang="en-US" b="1" dirty="0">
                <a:sym typeface="Symbol" panose="05050102010706020507" pitchFamily="18" charset="2"/>
              </a:rPr>
              <a:t>到相应子结点</a:t>
            </a:r>
            <a:endParaRPr lang="en-US" altLang="zh-CN" b="1" dirty="0">
              <a:sym typeface="Symbol" panose="05050102010706020507" pitchFamily="18" charset="2"/>
            </a:endParaRPr>
          </a:p>
          <a:p>
            <a:pPr marL="933450" lvl="1" indent="-476250" eaLnBrk="1" hangingPunct="1">
              <a:buFont typeface="+mj-lt"/>
              <a:buAutoNum type="arabicPeriod"/>
              <a:defRPr/>
            </a:pPr>
            <a:r>
              <a:rPr lang="zh-CN" altLang="en-US" b="1" dirty="0"/>
              <a:t>若沿上述指针到达的结点</a:t>
            </a:r>
            <a:r>
              <a:rPr lang="zh-CN" altLang="en-US" b="1" dirty="0">
                <a:solidFill>
                  <a:srgbClr val="0000FF"/>
                </a:solidFill>
              </a:rPr>
              <a:t>不是叶结点</a:t>
            </a:r>
            <a:r>
              <a:rPr lang="zh-CN" altLang="en-US" b="1" dirty="0"/>
              <a:t>，则对该结点</a:t>
            </a:r>
            <a:r>
              <a:rPr lang="zh-CN" altLang="en-US" b="1" dirty="0">
                <a:solidFill>
                  <a:srgbClr val="0000FF"/>
                </a:solidFill>
              </a:rPr>
              <a:t>重复</a:t>
            </a:r>
            <a:r>
              <a:rPr lang="zh-CN" altLang="en-US" b="1" dirty="0"/>
              <a:t>上述过程</a:t>
            </a:r>
            <a:endParaRPr lang="en-US" altLang="zh-CN" b="1" dirty="0"/>
          </a:p>
          <a:p>
            <a:pPr marL="933450" lvl="1" indent="-476250" eaLnBrk="1" hangingPunct="1">
              <a:buFont typeface="Monotype Sorts" pitchFamily="2" charset="2"/>
              <a:buAutoNum type="arabicPeriod"/>
              <a:defRPr/>
            </a:pPr>
            <a:r>
              <a:rPr lang="zh-CN" altLang="en-US" b="1" dirty="0"/>
              <a:t>最终</a:t>
            </a:r>
            <a:r>
              <a:rPr lang="zh-CN" altLang="en-US" b="1" dirty="0">
                <a:solidFill>
                  <a:srgbClr val="0000FF"/>
                </a:solidFill>
              </a:rPr>
              <a:t>到达叶结点</a:t>
            </a:r>
            <a:endParaRPr lang="en-US" altLang="zh-CN" b="1" dirty="0">
              <a:solidFill>
                <a:srgbClr val="0000FF"/>
              </a:solidFill>
            </a:endParaRPr>
          </a:p>
          <a:p>
            <a:pPr marL="1333500" lvl="2" indent="-419100" eaLnBrk="1" hangingPunct="1">
              <a:buFont typeface="Monotype Sorts" pitchFamily="2" charset="2"/>
              <a:buAutoNum type="circleNumDbPlain"/>
              <a:defRPr/>
            </a:pPr>
            <a:r>
              <a:rPr lang="zh-CN" altLang="en-US" b="1" dirty="0"/>
              <a:t>若</a:t>
            </a:r>
            <a:r>
              <a:rPr lang="zh-CN" altLang="en-US" b="1" dirty="0">
                <a:solidFill>
                  <a:srgbClr val="0000FF"/>
                </a:solidFill>
              </a:rPr>
              <a:t>存在 </a:t>
            </a:r>
            <a:r>
              <a:rPr lang="en-US" altLang="zh-CN" b="1" dirty="0" err="1">
                <a:solidFill>
                  <a:srgbClr val="0000FF"/>
                </a:solidFill>
              </a:rPr>
              <a:t>i</a:t>
            </a:r>
            <a:r>
              <a:rPr lang="zh-CN" altLang="en-US" b="1" dirty="0"/>
              <a:t>，使键值</a:t>
            </a:r>
            <a:r>
              <a:rPr lang="en-US" altLang="zh-CN" b="1" i="1" dirty="0"/>
              <a:t>K</a:t>
            </a:r>
            <a:r>
              <a:rPr lang="en-US" altLang="zh-CN" b="1" i="1" baseline="-25000" dirty="0"/>
              <a:t>i </a:t>
            </a:r>
            <a:r>
              <a:rPr lang="en-US" altLang="zh-CN" b="1" dirty="0"/>
              <a:t>= </a:t>
            </a:r>
            <a:r>
              <a:rPr lang="en-US" altLang="zh-CN" b="1" i="1" dirty="0"/>
              <a:t>k</a:t>
            </a:r>
            <a:r>
              <a:rPr lang="en-US" altLang="zh-CN" b="1" dirty="0"/>
              <a:t> </a:t>
            </a:r>
            <a:r>
              <a:rPr lang="zh-CN" altLang="en-US" b="1" dirty="0"/>
              <a:t>则沿 </a:t>
            </a:r>
            <a:r>
              <a:rPr lang="en-US" altLang="zh-CN" b="1" i="1" dirty="0"/>
              <a:t>P</a:t>
            </a:r>
            <a:r>
              <a:rPr lang="en-US" altLang="zh-CN" b="1" i="1" baseline="-25000" dirty="0"/>
              <a:t>i </a:t>
            </a:r>
            <a:r>
              <a:rPr lang="zh-CN" altLang="en-US" b="1" dirty="0"/>
              <a:t>到</a:t>
            </a:r>
            <a:r>
              <a:rPr lang="zh-CN" altLang="en-US" b="1" dirty="0">
                <a:solidFill>
                  <a:srgbClr val="0000FF"/>
                </a:solidFill>
              </a:rPr>
              <a:t>所需记录或桶</a:t>
            </a:r>
            <a:endParaRPr lang="en-US" altLang="zh-CN" b="1" dirty="0">
              <a:solidFill>
                <a:srgbClr val="0000FF"/>
              </a:solidFill>
            </a:endParaRPr>
          </a:p>
          <a:p>
            <a:pPr marL="1333500" lvl="2" indent="-419100" eaLnBrk="1" hangingPunct="1">
              <a:buFont typeface="Monotype Sorts" pitchFamily="2" charset="2"/>
              <a:buAutoNum type="circleNumDbPlain"/>
              <a:defRPr/>
            </a:pPr>
            <a:r>
              <a:rPr lang="zh-CN" altLang="en-US" b="1" dirty="0"/>
              <a:t>否则</a:t>
            </a:r>
            <a:r>
              <a:rPr lang="zh-CN" altLang="en-US" b="1" dirty="0">
                <a:solidFill>
                  <a:srgbClr val="0000FF"/>
                </a:solidFill>
              </a:rPr>
              <a:t>不存在</a:t>
            </a:r>
            <a:r>
              <a:rPr lang="zh-CN" altLang="en-US" b="1" dirty="0"/>
              <a:t>具有搜索码值</a:t>
            </a:r>
            <a:r>
              <a:rPr lang="en-US" altLang="zh-CN" b="1" dirty="0"/>
              <a:t>k </a:t>
            </a:r>
            <a:r>
              <a:rPr lang="zh-CN" altLang="en-US" b="1" dirty="0"/>
              <a:t>的记录</a:t>
            </a:r>
            <a:endParaRPr lang="en-US" altLang="zh-CN" b="1" dirty="0"/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B91E77C5-FE79-97CC-081F-D2BB4E7321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836713"/>
            <a:ext cx="4795864" cy="371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87077065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5">
            <a:extLst>
              <a:ext uri="{FF2B5EF4-FFF2-40B4-BE49-F238E27FC236}">
                <a16:creationId xmlns:a16="http://schemas.microsoft.com/office/drawing/2014/main" id="{140AE762-1F1A-F153-E3C8-6298BBC6C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E1A6C26-693A-4C4D-8C57-FF2AA198379A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zh-CN" sz="1200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69721D09-CD62-59EB-4913-A0351F8228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B</a:t>
            </a:r>
            <a:r>
              <a:rPr lang="en-US" altLang="zh-CN" b="1" baseline="30000"/>
              <a:t>+</a:t>
            </a:r>
            <a:r>
              <a:rPr lang="zh-CN" altLang="en-US" b="1"/>
              <a:t>树查询开销</a:t>
            </a:r>
            <a:endParaRPr lang="en-US" altLang="zh-CN" b="1"/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0CF22E69-0868-AF4E-1196-AE3F502487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405533"/>
            <a:ext cx="7691437" cy="4903787"/>
          </a:xfrm>
        </p:spPr>
        <p:txBody>
          <a:bodyPr/>
          <a:lstStyle/>
          <a:p>
            <a:pPr eaLnBrk="1" hangingPunct="1"/>
            <a:r>
              <a:rPr lang="zh-CN" altLang="en-US" sz="2500" b="1" dirty="0"/>
              <a:t>处理查询时，需遍历一条从</a:t>
            </a:r>
            <a:r>
              <a:rPr lang="zh-CN" altLang="en-US" sz="2500" b="1" dirty="0">
                <a:solidFill>
                  <a:srgbClr val="0000FF"/>
                </a:solidFill>
              </a:rPr>
              <a:t>根到叶</a:t>
            </a:r>
            <a:r>
              <a:rPr lang="zh-CN" altLang="en-US" sz="2500" b="1" dirty="0"/>
              <a:t>的路径</a:t>
            </a:r>
            <a:endParaRPr lang="en-US" altLang="zh-CN" sz="2500" b="1" dirty="0"/>
          </a:p>
          <a:p>
            <a:pPr eaLnBrk="1" hangingPunct="1"/>
            <a:r>
              <a:rPr lang="zh-CN" altLang="en-US" sz="2500" b="1" dirty="0"/>
              <a:t>若文件中有</a:t>
            </a:r>
            <a:r>
              <a:rPr lang="en-US" altLang="zh-CN" sz="2500" b="1" i="1" dirty="0"/>
              <a:t>K</a:t>
            </a:r>
            <a:r>
              <a:rPr lang="en-US" altLang="zh-CN" sz="2500" b="1" dirty="0"/>
              <a:t> </a:t>
            </a:r>
            <a:r>
              <a:rPr lang="zh-CN" altLang="en-US" sz="2500" b="1" dirty="0"/>
              <a:t>个搜索码值，则路径长度不超过</a:t>
            </a:r>
            <a:r>
              <a:rPr lang="en-US" altLang="zh-CN" sz="2500" b="1" dirty="0">
                <a:sym typeface="Symbol" panose="05050102010706020507" pitchFamily="18" charset="2"/>
              </a:rPr>
              <a:t></a:t>
            </a:r>
            <a:r>
              <a:rPr lang="en-US" altLang="zh-CN" sz="2500" b="1" dirty="0" err="1">
                <a:sym typeface="Symbol" panose="05050102010706020507" pitchFamily="18" charset="2"/>
              </a:rPr>
              <a:t>log</a:t>
            </a:r>
            <a:r>
              <a:rPr lang="en-US" altLang="zh-CN" sz="2500" b="1" baseline="-25000" dirty="0" err="1">
                <a:sym typeface="Symbol" panose="05050102010706020507" pitchFamily="18" charset="2"/>
              </a:rPr>
              <a:t></a:t>
            </a:r>
            <a:r>
              <a:rPr lang="en-US" altLang="zh-CN" sz="2500" b="1" i="1" baseline="-25000" dirty="0" err="1">
                <a:sym typeface="Symbol" panose="05050102010706020507" pitchFamily="18" charset="2"/>
              </a:rPr>
              <a:t>n</a:t>
            </a:r>
            <a:r>
              <a:rPr lang="en-US" altLang="zh-CN" sz="2500" b="1" baseline="-25000" dirty="0">
                <a:sym typeface="Symbol" panose="05050102010706020507" pitchFamily="18" charset="2"/>
              </a:rPr>
              <a:t>/2</a:t>
            </a:r>
            <a:r>
              <a:rPr lang="en-US" altLang="zh-CN" sz="2500" b="1" dirty="0">
                <a:sym typeface="Symbol" panose="05050102010706020507" pitchFamily="18" charset="2"/>
              </a:rPr>
              <a:t>(</a:t>
            </a:r>
            <a:r>
              <a:rPr lang="en-US" altLang="zh-CN" sz="2500" b="1" i="1" dirty="0">
                <a:sym typeface="Symbol" panose="05050102010706020507" pitchFamily="18" charset="2"/>
              </a:rPr>
              <a:t>K</a:t>
            </a:r>
            <a:r>
              <a:rPr lang="en-US" altLang="zh-CN" sz="2500" b="1" dirty="0">
                <a:sym typeface="Symbol" panose="05050102010706020507" pitchFamily="18" charset="2"/>
              </a:rPr>
              <a:t>)</a:t>
            </a:r>
          </a:p>
          <a:p>
            <a:pPr eaLnBrk="1" hangingPunct="1"/>
            <a:r>
              <a:rPr lang="zh-CN" altLang="en-US" sz="2500" b="1" dirty="0">
                <a:sym typeface="Symbol" panose="05050102010706020507" pitchFamily="18" charset="2"/>
              </a:rPr>
              <a:t>结点一般与</a:t>
            </a:r>
            <a:r>
              <a:rPr lang="zh-CN" altLang="en-US" sz="2500" b="1" dirty="0">
                <a:solidFill>
                  <a:srgbClr val="0000FF"/>
                </a:solidFill>
                <a:sym typeface="Symbol" panose="05050102010706020507" pitchFamily="18" charset="2"/>
              </a:rPr>
              <a:t>磁盘块</a:t>
            </a:r>
            <a:r>
              <a:rPr lang="zh-CN" altLang="en-US" sz="2500" b="1" dirty="0">
                <a:sym typeface="Symbol" panose="05050102010706020507" pitchFamily="18" charset="2"/>
              </a:rPr>
              <a:t>大小相同，典型的为</a:t>
            </a:r>
            <a:r>
              <a:rPr lang="en-US" altLang="zh-CN" sz="2500" b="1" dirty="0">
                <a:sym typeface="Symbol" panose="05050102010706020507" pitchFamily="18" charset="2"/>
              </a:rPr>
              <a:t>4KB</a:t>
            </a:r>
            <a:r>
              <a:rPr lang="zh-CN" altLang="en-US" sz="2500" b="1" dirty="0">
                <a:sym typeface="Symbol" panose="05050102010706020507" pitchFamily="18" charset="2"/>
              </a:rPr>
              <a:t>，则</a:t>
            </a:r>
            <a:r>
              <a:rPr lang="en-US" altLang="zh-CN" sz="2500" b="1" i="1" dirty="0">
                <a:solidFill>
                  <a:srgbClr val="0000FF"/>
                </a:solidFill>
                <a:sym typeface="Symbol" panose="05050102010706020507" pitchFamily="18" charset="2"/>
              </a:rPr>
              <a:t>n</a:t>
            </a:r>
            <a:r>
              <a:rPr lang="en-US" altLang="zh-CN" sz="2500" b="1" dirty="0">
                <a:sym typeface="Symbol" panose="05050102010706020507" pitchFamily="18" charset="2"/>
              </a:rPr>
              <a:t> </a:t>
            </a:r>
            <a:r>
              <a:rPr lang="zh-CN" altLang="en-US" sz="2500" b="1" dirty="0">
                <a:sym typeface="Symbol" panose="05050102010706020507" pitchFamily="18" charset="2"/>
              </a:rPr>
              <a:t>典型值为</a:t>
            </a:r>
            <a:r>
              <a:rPr lang="en-US" altLang="zh-CN" sz="2500" b="1" dirty="0">
                <a:solidFill>
                  <a:srgbClr val="0000FF"/>
                </a:solidFill>
                <a:sym typeface="Symbol" panose="05050102010706020507" pitchFamily="18" charset="2"/>
              </a:rPr>
              <a:t>100</a:t>
            </a:r>
            <a:r>
              <a:rPr lang="zh-CN" altLang="en-US" sz="2500" b="1" dirty="0">
                <a:sym typeface="Symbol" panose="05050102010706020507" pitchFamily="18" charset="2"/>
              </a:rPr>
              <a:t>左右(设每个索引项40字节</a:t>
            </a:r>
            <a:r>
              <a:rPr lang="en-US" altLang="zh-CN" sz="2500" b="1" dirty="0">
                <a:sym typeface="Symbol" panose="05050102010706020507" pitchFamily="18" charset="2"/>
              </a:rPr>
              <a:t>)</a:t>
            </a:r>
          </a:p>
          <a:p>
            <a:pPr eaLnBrk="1" hangingPunct="1"/>
            <a:r>
              <a:rPr lang="zh-CN" altLang="en-US" sz="2500" b="1" dirty="0">
                <a:sym typeface="Symbol" panose="05050102010706020507" pitchFamily="18" charset="2"/>
              </a:rPr>
              <a:t>若有</a:t>
            </a:r>
            <a:r>
              <a:rPr lang="en-US" altLang="zh-CN" sz="2500" b="1" dirty="0">
                <a:sym typeface="Symbol" panose="05050102010706020507" pitchFamily="18" charset="2"/>
              </a:rPr>
              <a:t>1</a:t>
            </a:r>
            <a:r>
              <a:rPr lang="zh-CN" altLang="en-US" sz="2500" b="1" dirty="0">
                <a:sym typeface="Symbol" panose="05050102010706020507" pitchFamily="18" charset="2"/>
              </a:rPr>
              <a:t>百万搜索码值且</a:t>
            </a:r>
            <a:r>
              <a:rPr lang="en-US" altLang="zh-CN" sz="2500" b="1" i="1" dirty="0">
                <a:sym typeface="Symbol" panose="05050102010706020507" pitchFamily="18" charset="2"/>
              </a:rPr>
              <a:t>n</a:t>
            </a:r>
            <a:r>
              <a:rPr lang="en-US" altLang="zh-CN" sz="2500" b="1" dirty="0">
                <a:sym typeface="Symbol" panose="05050102010706020507" pitchFamily="18" charset="2"/>
              </a:rPr>
              <a:t> =100</a:t>
            </a:r>
            <a:r>
              <a:rPr lang="zh-CN" altLang="en-US" sz="2500" b="1" dirty="0">
                <a:sym typeface="Symbol" panose="05050102010706020507" pitchFamily="18" charset="2"/>
              </a:rPr>
              <a:t>，则一次查询最多需存取</a:t>
            </a:r>
            <a:r>
              <a:rPr lang="en-US" altLang="zh-CN" sz="2500" b="1" i="1" dirty="0">
                <a:sym typeface="Symbol" panose="05050102010706020507" pitchFamily="18" charset="2"/>
              </a:rPr>
              <a:t>log</a:t>
            </a:r>
            <a:r>
              <a:rPr lang="en-US" altLang="zh-CN" sz="2500" b="1" baseline="-25000" dirty="0">
                <a:sym typeface="Symbol" panose="05050102010706020507" pitchFamily="18" charset="2"/>
              </a:rPr>
              <a:t>50</a:t>
            </a:r>
            <a:r>
              <a:rPr lang="en-US" altLang="zh-CN" sz="2500" b="1" dirty="0">
                <a:sym typeface="Symbol" panose="05050102010706020507" pitchFamily="18" charset="2"/>
              </a:rPr>
              <a:t>(1,000,000) = </a:t>
            </a:r>
            <a:r>
              <a:rPr lang="en-US" altLang="zh-CN" sz="2500" b="1" dirty="0">
                <a:solidFill>
                  <a:srgbClr val="0000FF"/>
                </a:solidFill>
                <a:sym typeface="Symbol" panose="05050102010706020507" pitchFamily="18" charset="2"/>
              </a:rPr>
              <a:t>4</a:t>
            </a:r>
            <a:r>
              <a:rPr lang="zh-CN" altLang="en-US" sz="2500" b="1" dirty="0">
                <a:solidFill>
                  <a:srgbClr val="0000FF"/>
                </a:solidFill>
                <a:sym typeface="Symbol" panose="05050102010706020507" pitchFamily="18" charset="2"/>
              </a:rPr>
              <a:t>个结点</a:t>
            </a:r>
            <a:endParaRPr lang="en-US" altLang="zh-CN" sz="2500" b="1" dirty="0">
              <a:solidFill>
                <a:srgbClr val="0000FF"/>
              </a:solidFill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500" b="1" dirty="0">
                <a:sym typeface="Symbol" panose="05050102010706020507" pitchFamily="18" charset="2"/>
              </a:rPr>
              <a:t>而用具有1百万个搜索码值的</a:t>
            </a:r>
            <a:r>
              <a:rPr lang="zh-CN" altLang="en-US" sz="2500" b="1" dirty="0">
                <a:solidFill>
                  <a:srgbClr val="006600"/>
                </a:solidFill>
                <a:sym typeface="Symbol" panose="05050102010706020507" pitchFamily="18" charset="2"/>
              </a:rPr>
              <a:t>平衡二叉树</a:t>
            </a:r>
            <a:r>
              <a:rPr lang="zh-CN" altLang="en-US" sz="2500" b="1" dirty="0">
                <a:sym typeface="Symbol" panose="05050102010706020507" pitchFamily="18" charset="2"/>
              </a:rPr>
              <a:t>则需存取大约</a:t>
            </a:r>
            <a:r>
              <a:rPr lang="en-US" altLang="zh-CN" sz="2500" b="1" dirty="0">
                <a:solidFill>
                  <a:srgbClr val="006600"/>
                </a:solidFill>
                <a:sym typeface="Symbol" panose="05050102010706020507" pitchFamily="18" charset="2"/>
              </a:rPr>
              <a:t>20</a:t>
            </a:r>
            <a:r>
              <a:rPr lang="zh-CN" altLang="en-US" sz="2500" b="1" dirty="0">
                <a:solidFill>
                  <a:srgbClr val="006600"/>
                </a:solidFill>
                <a:sym typeface="Symbol" panose="05050102010706020507" pitchFamily="18" charset="2"/>
              </a:rPr>
              <a:t>个结点</a:t>
            </a:r>
            <a:endParaRPr lang="en-US" altLang="zh-CN" sz="2500" b="1" dirty="0">
              <a:solidFill>
                <a:srgbClr val="006600"/>
              </a:solidFill>
              <a:sym typeface="Symbol" panose="05050102010706020507" pitchFamily="18" charset="2"/>
            </a:endParaRPr>
          </a:p>
          <a:p>
            <a:pPr lvl="1" eaLnBrk="1" hangingPunct="1"/>
            <a:r>
              <a:rPr lang="zh-CN" altLang="en-US" sz="2000" b="1" dirty="0"/>
              <a:t>以上差别是巨大的，因为每次存取结点都需要一次磁盘</a:t>
            </a:r>
            <a:r>
              <a:rPr lang="en-US" altLang="zh-CN" sz="2000" b="1" dirty="0"/>
              <a:t>I/O</a:t>
            </a:r>
            <a:r>
              <a:rPr lang="zh-CN" altLang="en-US" sz="2000" b="1" dirty="0"/>
              <a:t>，花费大约</a:t>
            </a:r>
            <a:r>
              <a:rPr lang="en-US" altLang="zh-CN" sz="2000" b="1" dirty="0"/>
              <a:t>20</a:t>
            </a:r>
            <a:r>
              <a:rPr lang="zh-CN" altLang="en-US" sz="2000" b="1" dirty="0"/>
              <a:t>毫秒</a:t>
            </a:r>
            <a:r>
              <a:rPr lang="en-US" altLang="zh-CN" sz="2000" b="1" dirty="0"/>
              <a:t>!</a:t>
            </a:r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9E477269-BF6A-6D9E-3791-79A0A5BD8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126" y="4640568"/>
            <a:ext cx="7061409" cy="1627140"/>
          </a:xfrm>
          <a:prstGeom prst="rect">
            <a:avLst/>
          </a:prstGeom>
        </p:spPr>
      </p:pic>
      <p:sp>
        <p:nvSpPr>
          <p:cNvPr id="29698" name="灯片编号占位符 5">
            <a:extLst>
              <a:ext uri="{FF2B5EF4-FFF2-40B4-BE49-F238E27FC236}">
                <a16:creationId xmlns:a16="http://schemas.microsoft.com/office/drawing/2014/main" id="{451D3D56-5737-5B59-997B-2E08B5C59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B4EA1CC-1FC3-4F5D-9417-7E23F9987B1B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zh-CN" sz="1200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2016AA0C-4D28-7C41-7E6D-A3DA21359A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对</a:t>
            </a:r>
            <a:r>
              <a:rPr lang="en-US" altLang="zh-CN" b="1" dirty="0"/>
              <a:t>B</a:t>
            </a:r>
            <a:r>
              <a:rPr lang="en-US" altLang="zh-CN" b="1" baseline="30000" dirty="0"/>
              <a:t>+</a:t>
            </a:r>
            <a:r>
              <a:rPr lang="zh-CN" altLang="en-US" b="1" dirty="0"/>
              <a:t>树的</a:t>
            </a:r>
            <a:r>
              <a:rPr lang="zh-CN" altLang="en-US" b="1" dirty="0">
                <a:solidFill>
                  <a:srgbClr val="0000FF"/>
                </a:solidFill>
              </a:rPr>
              <a:t>插入</a:t>
            </a:r>
            <a:endParaRPr lang="en-US" altLang="zh-CN" b="1" dirty="0">
              <a:solidFill>
                <a:srgbClr val="0000FF"/>
              </a:solidFill>
            </a:endParaRPr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B6771AD0-417D-326C-A94A-95CE9A0B39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577" y="1386607"/>
            <a:ext cx="7920880" cy="3626569"/>
          </a:xfrm>
        </p:spPr>
        <p:txBody>
          <a:bodyPr/>
          <a:lstStyle/>
          <a:p>
            <a:pPr eaLnBrk="1" hangingPunct="1"/>
            <a:r>
              <a:rPr lang="zh-CN" altLang="en-US" sz="2500" b="1" dirty="0"/>
              <a:t>找到</a:t>
            </a:r>
            <a:r>
              <a:rPr lang="zh-CN" altLang="en-US" sz="2500" b="1" dirty="0">
                <a:solidFill>
                  <a:srgbClr val="0000FF"/>
                </a:solidFill>
              </a:rPr>
              <a:t>搜索码值</a:t>
            </a:r>
            <a:r>
              <a:rPr lang="zh-CN" altLang="en-US" sz="2500" b="1" dirty="0"/>
              <a:t>需要出现的</a:t>
            </a:r>
            <a:r>
              <a:rPr lang="zh-CN" altLang="en-US" sz="2500" b="1" dirty="0">
                <a:solidFill>
                  <a:srgbClr val="0000FF"/>
                </a:solidFill>
              </a:rPr>
              <a:t>叶结点</a:t>
            </a:r>
            <a:endParaRPr lang="en-US" altLang="zh-CN" sz="2500" b="1" dirty="0">
              <a:solidFill>
                <a:srgbClr val="0000FF"/>
              </a:solidFill>
            </a:endParaRPr>
          </a:p>
          <a:p>
            <a:pPr eaLnBrk="1" hangingPunct="1"/>
            <a:r>
              <a:rPr lang="zh-CN" altLang="en-US" sz="2500" b="1" dirty="0"/>
              <a:t>若</a:t>
            </a:r>
            <a:r>
              <a:rPr lang="zh-CN" altLang="en-US" sz="2500" b="1" dirty="0">
                <a:solidFill>
                  <a:srgbClr val="006600"/>
                </a:solidFill>
              </a:rPr>
              <a:t>搜索码值</a:t>
            </a:r>
            <a:r>
              <a:rPr lang="zh-CN" altLang="en-US" sz="2500" b="1" dirty="0">
                <a:solidFill>
                  <a:srgbClr val="0000FF"/>
                </a:solidFill>
              </a:rPr>
              <a:t>已经存在</a:t>
            </a:r>
            <a:r>
              <a:rPr lang="zh-CN" altLang="en-US" sz="2500" b="1" dirty="0"/>
              <a:t>，则向</a:t>
            </a:r>
            <a:r>
              <a:rPr lang="zh-CN" altLang="en-US" sz="2500" b="1" u="sng" dirty="0"/>
              <a:t>主文件</a:t>
            </a:r>
            <a:r>
              <a:rPr lang="zh-CN" altLang="en-US" sz="2500" b="1" dirty="0"/>
              <a:t>中</a:t>
            </a:r>
            <a:r>
              <a:rPr lang="zh-CN" altLang="en-US" sz="2500" b="1" dirty="0">
                <a:solidFill>
                  <a:srgbClr val="0000FF"/>
                </a:solidFill>
              </a:rPr>
              <a:t>增加记录</a:t>
            </a:r>
            <a:r>
              <a:rPr lang="zh-CN" altLang="en-US" sz="2500" b="1" dirty="0"/>
              <a:t>，并且如有必要还需向</a:t>
            </a:r>
            <a:r>
              <a:rPr lang="zh-CN" altLang="en-US" sz="2500" b="1" dirty="0">
                <a:solidFill>
                  <a:srgbClr val="0000FF"/>
                </a:solidFill>
              </a:rPr>
              <a:t>桶</a:t>
            </a:r>
            <a:r>
              <a:rPr lang="zh-CN" altLang="en-US" sz="2500" b="1" dirty="0"/>
              <a:t>中</a:t>
            </a:r>
            <a:r>
              <a:rPr lang="zh-CN" altLang="en-US" sz="2500" b="1" dirty="0">
                <a:solidFill>
                  <a:srgbClr val="0000FF"/>
                </a:solidFill>
              </a:rPr>
              <a:t>插入一个指针</a:t>
            </a:r>
            <a:endParaRPr lang="en-US" altLang="zh-CN" sz="2500" b="1" dirty="0">
              <a:solidFill>
                <a:srgbClr val="0000FF"/>
              </a:solidFill>
            </a:endParaRPr>
          </a:p>
          <a:p>
            <a:pPr eaLnBrk="1" hangingPunct="1"/>
            <a:r>
              <a:rPr lang="zh-CN" altLang="en-US" sz="2500" b="1" dirty="0"/>
              <a:t>若</a:t>
            </a:r>
            <a:r>
              <a:rPr lang="zh-CN" altLang="en-US" sz="2500" b="1" dirty="0">
                <a:solidFill>
                  <a:srgbClr val="006600"/>
                </a:solidFill>
              </a:rPr>
              <a:t>搜索码值</a:t>
            </a:r>
            <a:r>
              <a:rPr lang="zh-CN" altLang="en-US" sz="2500" b="1" dirty="0">
                <a:solidFill>
                  <a:srgbClr val="0000FF"/>
                </a:solidFill>
              </a:rPr>
              <a:t>不存在</a:t>
            </a:r>
            <a:r>
              <a:rPr lang="zh-CN" altLang="en-US" sz="2500" b="1" dirty="0"/>
              <a:t>，则向</a:t>
            </a:r>
            <a:r>
              <a:rPr lang="zh-CN" altLang="en-US" sz="2500" b="1" u="sng" dirty="0"/>
              <a:t>主文件</a:t>
            </a:r>
            <a:r>
              <a:rPr lang="zh-CN" altLang="en-US" sz="2500" b="1" dirty="0">
                <a:solidFill>
                  <a:srgbClr val="0000FF"/>
                </a:solidFill>
              </a:rPr>
              <a:t>增加记录</a:t>
            </a:r>
            <a:r>
              <a:rPr lang="zh-CN" altLang="en-US" sz="2500" b="1" dirty="0"/>
              <a:t>，并且如有必要</a:t>
            </a:r>
            <a:r>
              <a:rPr lang="zh-CN" altLang="en-US" sz="2500" b="1" dirty="0">
                <a:solidFill>
                  <a:srgbClr val="0000FF"/>
                </a:solidFill>
              </a:rPr>
              <a:t>创建一个桶</a:t>
            </a:r>
            <a:r>
              <a:rPr lang="zh-CN" altLang="en-US" sz="2500" b="1" dirty="0"/>
              <a:t>。</a:t>
            </a:r>
            <a:r>
              <a:rPr lang="zh-CN" altLang="en-US" sz="2500" b="1" dirty="0">
                <a:solidFill>
                  <a:srgbClr val="FF0000"/>
                </a:solidFill>
              </a:rPr>
              <a:t>然后</a:t>
            </a:r>
            <a:endParaRPr lang="en-US" altLang="zh-CN" sz="2500" b="1" dirty="0">
              <a:solidFill>
                <a:srgbClr val="FF0000"/>
              </a:solidFill>
            </a:endParaRPr>
          </a:p>
          <a:p>
            <a:pPr lvl="1" eaLnBrk="1" hangingPunct="1"/>
            <a:r>
              <a:rPr lang="zh-CN" altLang="en-US" sz="2400" b="1" dirty="0"/>
              <a:t>如果该</a:t>
            </a:r>
            <a:r>
              <a:rPr lang="zh-CN" altLang="en-US" sz="2400" b="1" dirty="0">
                <a:solidFill>
                  <a:srgbClr val="0000FF"/>
                </a:solidFill>
              </a:rPr>
              <a:t>叶结点还有空间</a:t>
            </a:r>
            <a:r>
              <a:rPr lang="zh-CN" altLang="en-US" sz="2400" b="1" dirty="0"/>
              <a:t>，则在其中</a:t>
            </a:r>
            <a:r>
              <a:rPr lang="zh-CN" altLang="en-US" sz="2400" b="1" dirty="0">
                <a:solidFill>
                  <a:srgbClr val="0000FF"/>
                </a:solidFill>
              </a:rPr>
              <a:t>插入</a:t>
            </a:r>
            <a:r>
              <a:rPr lang="en-US" altLang="zh-CN" sz="2400" b="1" dirty="0">
                <a:solidFill>
                  <a:srgbClr val="0000FF"/>
                </a:solidFill>
              </a:rPr>
              <a:t>(</a:t>
            </a:r>
            <a:r>
              <a:rPr lang="zh-CN" altLang="en-US" sz="2400" b="1" dirty="0">
                <a:solidFill>
                  <a:srgbClr val="0000FF"/>
                </a:solidFill>
              </a:rPr>
              <a:t>搜索码值</a:t>
            </a:r>
            <a:r>
              <a:rPr lang="en-US" altLang="zh-CN" sz="2400" b="1" dirty="0">
                <a:solidFill>
                  <a:srgbClr val="0000FF"/>
                </a:solidFill>
              </a:rPr>
              <a:t>, </a:t>
            </a:r>
            <a:r>
              <a:rPr lang="zh-CN" altLang="en-US" sz="2400" b="1" dirty="0">
                <a:solidFill>
                  <a:srgbClr val="0000FF"/>
                </a:solidFill>
              </a:rPr>
              <a:t>指针</a:t>
            </a:r>
            <a:r>
              <a:rPr lang="en-US" altLang="zh-CN" sz="2400" b="1" dirty="0">
                <a:solidFill>
                  <a:srgbClr val="0000FF"/>
                </a:solidFill>
              </a:rPr>
              <a:t>)</a:t>
            </a:r>
          </a:p>
          <a:p>
            <a:pPr lvl="1" eaLnBrk="1" hangingPunct="1"/>
            <a:r>
              <a:rPr lang="zh-CN" altLang="en-US" sz="2400" b="1" dirty="0"/>
              <a:t>否则，</a:t>
            </a:r>
            <a:r>
              <a:rPr lang="zh-CN" altLang="en-US" sz="24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分裂结点</a:t>
            </a:r>
            <a:endParaRPr lang="en-US" altLang="zh-CN" sz="2400" b="1" u="sng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BCA4DF5-4757-645F-F60E-CAE32CFE8E01}"/>
              </a:ext>
            </a:extLst>
          </p:cNvPr>
          <p:cNvSpPr txBox="1"/>
          <p:nvPr/>
        </p:nvSpPr>
        <p:spPr>
          <a:xfrm>
            <a:off x="3404854" y="6309320"/>
            <a:ext cx="18539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i="0" dirty="0">
                <a:latin typeface="Helvetica" panose="020B0604020202020204" pitchFamily="34" charset="0"/>
              </a:rPr>
              <a:t>插入</a:t>
            </a:r>
            <a:r>
              <a:rPr kumimoji="0" lang="en-US" altLang="en-US" sz="2400" b="1" dirty="0">
                <a:solidFill>
                  <a:srgbClr val="006600"/>
                </a:solidFill>
              </a:rPr>
              <a:t>Adams</a:t>
            </a:r>
            <a:endParaRPr lang="zh-CN" altLang="en-US" b="1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F137BA4-6ED8-24E2-32C4-761AB6341154}"/>
              </a:ext>
            </a:extLst>
          </p:cNvPr>
          <p:cNvSpPr txBox="1"/>
          <p:nvPr/>
        </p:nvSpPr>
        <p:spPr>
          <a:xfrm>
            <a:off x="-180528" y="5939988"/>
            <a:ext cx="1349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0000FF"/>
                </a:solidFill>
              </a:rPr>
              <a:t>2</a:t>
            </a:r>
            <a:r>
              <a:rPr lang="zh-CN" altLang="en-US" sz="1800" b="1" dirty="0">
                <a:solidFill>
                  <a:srgbClr val="0000FF"/>
                </a:solidFill>
              </a:rPr>
              <a:t>到</a:t>
            </a:r>
            <a:r>
              <a:rPr lang="en-US" altLang="zh-CN" sz="1800" b="1" dirty="0">
                <a:solidFill>
                  <a:srgbClr val="0000FF"/>
                </a:solidFill>
              </a:rPr>
              <a:t>3</a:t>
            </a:r>
            <a:r>
              <a:rPr lang="zh-CN" altLang="en-US" sz="1800" b="1" dirty="0">
                <a:solidFill>
                  <a:srgbClr val="0000FF"/>
                </a:solidFill>
              </a:rPr>
              <a:t>个</a:t>
            </a:r>
            <a:endParaRPr lang="zh-CN" altLang="en-US" sz="18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4C94C02-7841-8E12-A5D4-0630E0CBEBD6}"/>
              </a:ext>
            </a:extLst>
          </p:cNvPr>
          <p:cNvSpPr txBox="1"/>
          <p:nvPr/>
        </p:nvSpPr>
        <p:spPr>
          <a:xfrm>
            <a:off x="801126" y="5139298"/>
            <a:ext cx="1349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0000FF"/>
                </a:solidFill>
              </a:rPr>
              <a:t>2</a:t>
            </a:r>
            <a:r>
              <a:rPr lang="zh-CN" altLang="en-US" sz="1800" b="1" dirty="0">
                <a:solidFill>
                  <a:srgbClr val="0000FF"/>
                </a:solidFill>
              </a:rPr>
              <a:t>到</a:t>
            </a:r>
            <a:r>
              <a:rPr lang="en-US" altLang="zh-CN" sz="1800" b="1" dirty="0">
                <a:solidFill>
                  <a:srgbClr val="0000FF"/>
                </a:solidFill>
              </a:rPr>
              <a:t>4</a:t>
            </a:r>
            <a:r>
              <a:rPr lang="zh-CN" altLang="en-US" sz="1800" b="1" dirty="0">
                <a:solidFill>
                  <a:srgbClr val="0000FF"/>
                </a:solidFill>
              </a:rPr>
              <a:t>个</a:t>
            </a:r>
            <a:endParaRPr lang="zh-CN" altLang="en-US" sz="18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5">
            <a:extLst>
              <a:ext uri="{FF2B5EF4-FFF2-40B4-BE49-F238E27FC236}">
                <a16:creationId xmlns:a16="http://schemas.microsoft.com/office/drawing/2014/main" id="{4E427975-4C87-6969-437E-A00743DAD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319AB78-1D98-4EB2-8439-948524426F47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zh-CN" sz="1200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79C894AC-E19B-2968-6B6C-3318DF5A3A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B</a:t>
            </a:r>
            <a:r>
              <a:rPr lang="en-US" altLang="zh-CN" b="1" baseline="30000"/>
              <a:t>+</a:t>
            </a:r>
            <a:r>
              <a:rPr lang="zh-CN" altLang="en-US" b="1"/>
              <a:t>树的插入</a:t>
            </a:r>
            <a:r>
              <a:rPr lang="en-US" altLang="zh-CN" b="1" baseline="30000"/>
              <a:t>(</a:t>
            </a:r>
            <a:r>
              <a:rPr lang="zh-CN" altLang="en-US" b="1" baseline="30000"/>
              <a:t>续</a:t>
            </a:r>
            <a:r>
              <a:rPr lang="en-US" altLang="zh-CN" b="1" baseline="30000"/>
              <a:t>)</a:t>
            </a:r>
          </a:p>
        </p:txBody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CD38D14E-316A-0CEE-7111-3E60E7A94D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397794"/>
            <a:ext cx="7905750" cy="2781300"/>
          </a:xfrm>
        </p:spPr>
        <p:txBody>
          <a:bodyPr/>
          <a:lstStyle/>
          <a:p>
            <a:pPr eaLnBrk="1" hangingPunct="1"/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分裂结点</a:t>
            </a:r>
            <a:endParaRPr lang="en-US" altLang="zh-CN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eaLnBrk="1" hangingPunct="1"/>
            <a:r>
              <a:rPr lang="zh-CN" altLang="en-US" sz="2100" b="1" dirty="0"/>
              <a:t>将</a:t>
            </a:r>
            <a:r>
              <a:rPr lang="en-US" altLang="zh-CN" sz="2100" b="1" i="1" dirty="0"/>
              <a:t>n </a:t>
            </a:r>
            <a:r>
              <a:rPr lang="zh-CN" altLang="en-US" sz="2100" b="1" dirty="0"/>
              <a:t>个(搜索码值</a:t>
            </a:r>
            <a:r>
              <a:rPr lang="en-US" altLang="zh-CN" sz="2100" b="1" dirty="0"/>
              <a:t>, </a:t>
            </a:r>
            <a:r>
              <a:rPr lang="zh-CN" altLang="en-US" sz="2100" b="1" dirty="0"/>
              <a:t>指针</a:t>
            </a:r>
            <a:r>
              <a:rPr lang="en-US" altLang="zh-CN" sz="2100" b="1" dirty="0"/>
              <a:t>)</a:t>
            </a:r>
            <a:r>
              <a:rPr lang="zh-CN" altLang="en-US" sz="2100" b="1" dirty="0"/>
              <a:t>对</a:t>
            </a:r>
            <a:r>
              <a:rPr lang="zh-CN" altLang="en-US" sz="2100" b="1" dirty="0">
                <a:solidFill>
                  <a:srgbClr val="0000FF"/>
                </a:solidFill>
              </a:rPr>
              <a:t>排序</a:t>
            </a:r>
            <a:r>
              <a:rPr lang="zh-CN" altLang="en-US" sz="2100" b="1" dirty="0"/>
              <a:t>，将</a:t>
            </a:r>
            <a:r>
              <a:rPr lang="zh-CN" altLang="en-US" sz="2100" b="1" dirty="0">
                <a:solidFill>
                  <a:srgbClr val="0000FF"/>
                </a:solidFill>
              </a:rPr>
              <a:t>前</a:t>
            </a:r>
            <a:r>
              <a:rPr lang="en-US" altLang="zh-CN" sz="2100" b="1" dirty="0">
                <a:solidFill>
                  <a:srgbClr val="0000FF"/>
                </a:solidFill>
              </a:rPr>
              <a:t> </a:t>
            </a:r>
            <a:r>
              <a:rPr lang="en-US" altLang="zh-CN" sz="2100" b="1" dirty="0">
                <a:solidFill>
                  <a:srgbClr val="0000FF"/>
                </a:solidFill>
                <a:sym typeface="Symbol" panose="05050102010706020507" pitchFamily="18" charset="2"/>
              </a:rPr>
              <a:t> </a:t>
            </a:r>
            <a:r>
              <a:rPr lang="en-US" altLang="zh-CN" sz="2100" b="1" i="1" dirty="0">
                <a:solidFill>
                  <a:srgbClr val="0000FF"/>
                </a:solidFill>
                <a:sym typeface="Symbol" panose="05050102010706020507" pitchFamily="18" charset="2"/>
              </a:rPr>
              <a:t>n</a:t>
            </a:r>
            <a:r>
              <a:rPr lang="en-US" altLang="zh-CN" sz="2100" b="1" dirty="0">
                <a:solidFill>
                  <a:srgbClr val="0000FF"/>
                </a:solidFill>
                <a:sym typeface="Symbol" panose="05050102010706020507" pitchFamily="18" charset="2"/>
              </a:rPr>
              <a:t>/2</a:t>
            </a:r>
            <a:r>
              <a:rPr lang="en-US" altLang="zh-CN" sz="2100" b="1" i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zh-CN" sz="2100" b="1" dirty="0">
                <a:solidFill>
                  <a:srgbClr val="0000FF"/>
                </a:solidFill>
                <a:sym typeface="Symbol" panose="05050102010706020507" pitchFamily="18" charset="2"/>
              </a:rPr>
              <a:t> </a:t>
            </a:r>
            <a:r>
              <a:rPr lang="zh-CN" altLang="en-US" sz="2100" b="1" dirty="0">
                <a:solidFill>
                  <a:srgbClr val="0000FF"/>
                </a:solidFill>
                <a:sym typeface="Symbol" panose="05050102010706020507" pitchFamily="18" charset="2"/>
              </a:rPr>
              <a:t>个</a:t>
            </a:r>
            <a:r>
              <a:rPr lang="zh-CN" altLang="en-US" sz="2100" b="1" dirty="0">
                <a:sym typeface="Symbol" panose="05050102010706020507" pitchFamily="18" charset="2"/>
              </a:rPr>
              <a:t>放在</a:t>
            </a:r>
            <a:r>
              <a:rPr lang="zh-CN" altLang="en-US" sz="2100" b="1" dirty="0">
                <a:solidFill>
                  <a:srgbClr val="0000FF"/>
                </a:solidFill>
                <a:sym typeface="Symbol" panose="05050102010706020507" pitchFamily="18" charset="2"/>
              </a:rPr>
              <a:t>原结点</a:t>
            </a:r>
            <a:r>
              <a:rPr lang="zh-CN" altLang="en-US" sz="2100" b="1" dirty="0">
                <a:sym typeface="Symbol" panose="05050102010706020507" pitchFamily="18" charset="2"/>
              </a:rPr>
              <a:t>中，</a:t>
            </a:r>
            <a:r>
              <a:rPr lang="zh-CN" altLang="en-US" sz="2100" b="1" dirty="0">
                <a:solidFill>
                  <a:srgbClr val="FF0000"/>
                </a:solidFill>
                <a:sym typeface="Symbol" panose="05050102010706020507" pitchFamily="18" charset="2"/>
              </a:rPr>
              <a:t>其余</a:t>
            </a:r>
            <a:r>
              <a:rPr lang="zh-CN" altLang="en-US" sz="2100" b="1" dirty="0">
                <a:sym typeface="Symbol" panose="05050102010706020507" pitchFamily="18" charset="2"/>
              </a:rPr>
              <a:t>放在一个</a:t>
            </a:r>
            <a:r>
              <a:rPr lang="zh-CN" altLang="en-US" sz="2100" b="1" dirty="0">
                <a:solidFill>
                  <a:srgbClr val="FF0000"/>
                </a:solidFill>
                <a:sym typeface="Symbol" panose="05050102010706020507" pitchFamily="18" charset="2"/>
              </a:rPr>
              <a:t>新结点</a:t>
            </a:r>
            <a:r>
              <a:rPr lang="zh-CN" altLang="en-US" sz="2100" b="1" dirty="0">
                <a:sym typeface="Symbol" panose="05050102010706020507" pitchFamily="18" charset="2"/>
              </a:rPr>
              <a:t>中</a:t>
            </a:r>
            <a:endParaRPr lang="en-US" altLang="zh-CN" sz="2100" b="1" dirty="0">
              <a:sym typeface="Symbol" panose="05050102010706020507" pitchFamily="18" charset="2"/>
            </a:endParaRPr>
          </a:p>
          <a:p>
            <a:pPr lvl="1" eaLnBrk="1" hangingPunct="1"/>
            <a:r>
              <a:rPr lang="zh-CN" altLang="en-US" sz="2100" b="1" dirty="0">
                <a:sym typeface="Symbol" panose="05050102010706020507" pitchFamily="18" charset="2"/>
              </a:rPr>
              <a:t>设</a:t>
            </a:r>
            <a:r>
              <a:rPr lang="zh-CN" altLang="en-US" sz="2100" b="1" dirty="0">
                <a:solidFill>
                  <a:srgbClr val="0000FF"/>
                </a:solidFill>
                <a:sym typeface="Symbol" panose="05050102010706020507" pitchFamily="18" charset="2"/>
              </a:rPr>
              <a:t>新结点为</a:t>
            </a:r>
            <a:r>
              <a:rPr lang="en-US" altLang="zh-CN" sz="2100" b="1" i="1" dirty="0">
                <a:solidFill>
                  <a:srgbClr val="0000FF"/>
                </a:solidFill>
                <a:sym typeface="Symbol" panose="05050102010706020507" pitchFamily="18" charset="2"/>
              </a:rPr>
              <a:t>p</a:t>
            </a:r>
            <a:r>
              <a:rPr lang="zh-CN" altLang="en-US" sz="2100" b="1" i="1" dirty="0">
                <a:sym typeface="Symbol" panose="05050102010706020507" pitchFamily="18" charset="2"/>
              </a:rPr>
              <a:t>，</a:t>
            </a:r>
            <a:r>
              <a:rPr lang="zh-CN" altLang="en-US" sz="2100" b="1" dirty="0">
                <a:sym typeface="Symbol" panose="05050102010706020507" pitchFamily="18" charset="2"/>
              </a:rPr>
              <a:t>并令</a:t>
            </a:r>
            <a:r>
              <a:rPr lang="en-US" altLang="zh-CN" sz="2100" b="1" i="1" dirty="0">
                <a:solidFill>
                  <a:srgbClr val="0000FF"/>
                </a:solidFill>
                <a:sym typeface="Symbol" panose="05050102010706020507" pitchFamily="18" charset="2"/>
              </a:rPr>
              <a:t>k</a:t>
            </a:r>
            <a:r>
              <a:rPr lang="en-US" altLang="zh-CN" sz="2100" b="1" dirty="0">
                <a:sym typeface="Symbol" panose="05050102010706020507" pitchFamily="18" charset="2"/>
              </a:rPr>
              <a:t> </a:t>
            </a:r>
            <a:r>
              <a:rPr lang="zh-CN" altLang="en-US" sz="2100" b="1" dirty="0">
                <a:sym typeface="Symbol" panose="05050102010706020507" pitchFamily="18" charset="2"/>
              </a:rPr>
              <a:t>是</a:t>
            </a:r>
            <a:r>
              <a:rPr lang="en-US" altLang="zh-CN" sz="2100" b="1" i="1" dirty="0">
                <a:sym typeface="Symbol" panose="05050102010706020507" pitchFamily="18" charset="2"/>
              </a:rPr>
              <a:t>p </a:t>
            </a:r>
            <a:r>
              <a:rPr lang="zh-CN" altLang="en-US" sz="2100" b="1" dirty="0">
                <a:sym typeface="Symbol" panose="05050102010706020507" pitchFamily="18" charset="2"/>
              </a:rPr>
              <a:t>中最小的键值，将(</a:t>
            </a:r>
            <a:r>
              <a:rPr lang="en-US" altLang="zh-CN" sz="2100" b="1" i="1" dirty="0">
                <a:sym typeface="Symbol" panose="05050102010706020507" pitchFamily="18" charset="2"/>
              </a:rPr>
              <a:t>k, p</a:t>
            </a:r>
            <a:r>
              <a:rPr lang="en-US" altLang="zh-CN" sz="2100" b="1" dirty="0">
                <a:sym typeface="Symbol" panose="05050102010706020507" pitchFamily="18" charset="2"/>
              </a:rPr>
              <a:t>) </a:t>
            </a:r>
            <a:r>
              <a:rPr lang="zh-CN" altLang="en-US" sz="2100" b="1" dirty="0">
                <a:solidFill>
                  <a:srgbClr val="FF0000"/>
                </a:solidFill>
                <a:sym typeface="Symbol" panose="05050102010706020507" pitchFamily="18" charset="2"/>
              </a:rPr>
              <a:t>插入</a:t>
            </a:r>
            <a:r>
              <a:rPr lang="zh-CN" altLang="en-US" sz="2100" b="1" dirty="0">
                <a:sym typeface="Symbol" panose="05050102010706020507" pitchFamily="18" charset="2"/>
              </a:rPr>
              <a:t>到分裂结点的</a:t>
            </a:r>
            <a:r>
              <a:rPr lang="zh-CN" altLang="en-US" sz="2100" b="1" dirty="0">
                <a:solidFill>
                  <a:srgbClr val="0000FF"/>
                </a:solidFill>
                <a:sym typeface="Symbol" panose="05050102010706020507" pitchFamily="18" charset="2"/>
              </a:rPr>
              <a:t>父结点</a:t>
            </a:r>
            <a:r>
              <a:rPr lang="zh-CN" altLang="en-US" sz="2100" b="1" dirty="0">
                <a:sym typeface="Symbol" panose="05050102010706020507" pitchFamily="18" charset="2"/>
              </a:rPr>
              <a:t>中。若</a:t>
            </a:r>
            <a:r>
              <a:rPr lang="zh-CN" altLang="en-US" sz="2100" b="1" dirty="0">
                <a:solidFill>
                  <a:srgbClr val="0000FF"/>
                </a:solidFill>
                <a:sym typeface="Symbol" panose="05050102010706020507" pitchFamily="18" charset="2"/>
              </a:rPr>
              <a:t>父结点满，</a:t>
            </a:r>
            <a:r>
              <a:rPr lang="zh-CN" altLang="en-US" sz="2100" b="1" dirty="0">
                <a:sym typeface="Symbol" panose="05050102010706020507" pitchFamily="18" charset="2"/>
              </a:rPr>
              <a:t>则</a:t>
            </a:r>
            <a:r>
              <a:rPr lang="zh-CN" altLang="en-US" sz="2100" b="1" dirty="0">
                <a:solidFill>
                  <a:srgbClr val="0000FF"/>
                </a:solidFill>
                <a:sym typeface="Symbol" panose="05050102010706020507" pitchFamily="18" charset="2"/>
              </a:rPr>
              <a:t>继续分裂</a:t>
            </a:r>
            <a:endParaRPr lang="en-US" altLang="zh-CN" sz="2100" b="1" dirty="0">
              <a:solidFill>
                <a:srgbClr val="0000FF"/>
              </a:solidFill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100" b="1" dirty="0"/>
              <a:t>向上进行结点分裂直至找到不满的结点。</a:t>
            </a:r>
            <a:r>
              <a:rPr lang="zh-CN" altLang="en-US" sz="2100" b="1" u="sng" dirty="0"/>
              <a:t>极端情况下导致</a:t>
            </a:r>
            <a:r>
              <a:rPr lang="zh-CN" altLang="en-US" sz="2100" b="1" u="sng" dirty="0">
                <a:solidFill>
                  <a:srgbClr val="0000FF"/>
                </a:solidFill>
              </a:rPr>
              <a:t>根结点的分裂</a:t>
            </a:r>
            <a:r>
              <a:rPr lang="zh-CN" altLang="en-US" sz="2100" b="1" dirty="0"/>
              <a:t>，</a:t>
            </a:r>
            <a:r>
              <a:rPr lang="zh-CN" altLang="en-US" sz="2100" b="1" dirty="0">
                <a:solidFill>
                  <a:srgbClr val="0000FF"/>
                </a:solidFill>
              </a:rPr>
              <a:t>树的高度加 </a:t>
            </a:r>
            <a:r>
              <a:rPr lang="en-US" altLang="zh-CN" sz="2100" b="1" dirty="0">
                <a:solidFill>
                  <a:srgbClr val="0000FF"/>
                </a:solidFill>
              </a:rPr>
              <a:t>1</a:t>
            </a:r>
            <a:endParaRPr lang="en-US" altLang="zh-CN" b="1" dirty="0">
              <a:solidFill>
                <a:srgbClr val="0000FF"/>
              </a:solidFill>
            </a:endParaRPr>
          </a:p>
        </p:txBody>
      </p:sp>
      <p:sp>
        <p:nvSpPr>
          <p:cNvPr id="502789" name="Text Box 5">
            <a:extLst>
              <a:ext uri="{FF2B5EF4-FFF2-40B4-BE49-F238E27FC236}">
                <a16:creationId xmlns:a16="http://schemas.microsoft.com/office/drawing/2014/main" id="{06070FAA-5D3B-C877-00D1-2D78EDDBFD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292" y="5517232"/>
            <a:ext cx="799956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i="0" dirty="0">
                <a:latin typeface="Helvetica" panose="020B0604020202020204" pitchFamily="34" charset="0"/>
              </a:rPr>
              <a:t>在包含</a:t>
            </a:r>
            <a:r>
              <a:rPr kumimoji="0" lang="en-US" altLang="en-US" sz="1800" dirty="0"/>
              <a:t>Brandt, </a:t>
            </a:r>
            <a:r>
              <a:rPr kumimoji="0" lang="en-US" altLang="en-US" sz="1800" dirty="0" err="1"/>
              <a:t>Califieri</a:t>
            </a:r>
            <a:r>
              <a:rPr kumimoji="0" lang="en-US" altLang="en-US" sz="1800" dirty="0"/>
              <a:t> </a:t>
            </a:r>
            <a:r>
              <a:rPr kumimoji="0" lang="zh-CN" altLang="en-US" sz="1800" dirty="0"/>
              <a:t>和</a:t>
            </a:r>
            <a:r>
              <a:rPr kumimoji="0" lang="en-US" altLang="en-US" sz="1800" dirty="0"/>
              <a:t> Crick</a:t>
            </a:r>
            <a:r>
              <a:rPr kumimoji="0" lang="zh-CN" altLang="en-US" sz="1800" dirty="0"/>
              <a:t>等</a:t>
            </a:r>
            <a:r>
              <a:rPr lang="zh-CN" altLang="en-US" sz="1800" i="0" dirty="0">
                <a:latin typeface="Helvetica" panose="020B0604020202020204" pitchFamily="34" charset="0"/>
              </a:rPr>
              <a:t>的结点中插入</a:t>
            </a:r>
            <a:r>
              <a:rPr kumimoji="0" lang="en-US" altLang="en-US" sz="1800" dirty="0">
                <a:solidFill>
                  <a:srgbClr val="006600"/>
                </a:solidFill>
              </a:rPr>
              <a:t>Adams</a:t>
            </a:r>
            <a:r>
              <a:rPr lang="zh-CN" altLang="en-US" sz="1800" i="0" dirty="0">
                <a:latin typeface="Helvetica" panose="020B0604020202020204" pitchFamily="34" charset="0"/>
              </a:rPr>
              <a:t>导致</a:t>
            </a:r>
            <a:r>
              <a:rPr lang="zh-CN" altLang="en-US" sz="1800" b="1" i="0" dirty="0">
                <a:solidFill>
                  <a:srgbClr val="0000FF"/>
                </a:solidFill>
                <a:latin typeface="Helvetica" panose="020B0604020202020204" pitchFamily="34" charset="0"/>
              </a:rPr>
              <a:t>分裂</a:t>
            </a:r>
            <a:r>
              <a:rPr lang="zh-CN" altLang="en-US" sz="1800" i="0" dirty="0">
                <a:latin typeface="Helvetica" panose="020B0604020202020204" pitchFamily="34" charset="0"/>
              </a:rPr>
              <a:t>的结果；</a:t>
            </a:r>
            <a:endParaRPr lang="en-US" altLang="zh-CN" sz="1800" i="0" dirty="0">
              <a:latin typeface="Helvetica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i="0" dirty="0">
                <a:latin typeface="Helvetica" panose="020B0604020202020204" pitchFamily="34" charset="0"/>
              </a:rPr>
              <a:t>同时</a:t>
            </a:r>
            <a:r>
              <a:rPr lang="zh-CN" altLang="en-US" sz="1800" b="1" dirty="0">
                <a:sym typeface="Symbol" panose="05050102010706020507" pitchFamily="18" charset="2"/>
              </a:rPr>
              <a:t>(</a:t>
            </a:r>
            <a:r>
              <a:rPr kumimoji="0" lang="en-US" altLang="en-US" sz="1800" dirty="0" err="1"/>
              <a:t>Califieri</a:t>
            </a:r>
            <a:r>
              <a:rPr kumimoji="0" lang="en-US" altLang="en-US" sz="1800" dirty="0"/>
              <a:t> </a:t>
            </a:r>
            <a:r>
              <a:rPr lang="en-US" altLang="zh-CN" sz="1800" b="1" i="1" dirty="0">
                <a:sym typeface="Symbol" panose="05050102010706020507" pitchFamily="18" charset="2"/>
              </a:rPr>
              <a:t>, </a:t>
            </a:r>
            <a:r>
              <a:rPr kumimoji="0" lang="en-US" altLang="en-US" sz="1800" dirty="0"/>
              <a:t>pointer-to-new-node</a:t>
            </a:r>
            <a:r>
              <a:rPr lang="en-US" altLang="zh-CN" sz="1800" b="1" dirty="0">
                <a:sym typeface="Symbol" panose="05050102010706020507" pitchFamily="18" charset="2"/>
              </a:rPr>
              <a:t>) </a:t>
            </a:r>
            <a:r>
              <a:rPr lang="zh-CN" altLang="en-US" sz="1800" b="1" dirty="0">
                <a:sym typeface="Symbol" panose="05050102010706020507" pitchFamily="18" charset="2"/>
              </a:rPr>
              <a:t>插入到分裂结点的</a:t>
            </a:r>
            <a:r>
              <a:rPr lang="zh-CN" altLang="en-US" sz="1800" b="1" dirty="0">
                <a:solidFill>
                  <a:srgbClr val="0000FF"/>
                </a:solidFill>
                <a:sym typeface="Symbol" panose="05050102010706020507" pitchFamily="18" charset="2"/>
              </a:rPr>
              <a:t>父结点。</a:t>
            </a:r>
            <a:endParaRPr lang="en-US" altLang="zh-CN" sz="1800" i="0" dirty="0">
              <a:latin typeface="Helvetica" panose="020B0604020202020204" pitchFamily="34" charset="0"/>
            </a:endParaRPr>
          </a:p>
        </p:txBody>
      </p:sp>
      <p:pic>
        <p:nvPicPr>
          <p:cNvPr id="2" name="Picture 5">
            <a:extLst>
              <a:ext uri="{FF2B5EF4-FFF2-40B4-BE49-F238E27FC236}">
                <a16:creationId xmlns:a16="http://schemas.microsoft.com/office/drawing/2014/main" id="{AB076B90-2E41-C62E-F58A-BDB039AC47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4266" y="4763468"/>
            <a:ext cx="6093618" cy="583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2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278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5">
            <a:extLst>
              <a:ext uri="{FF2B5EF4-FFF2-40B4-BE49-F238E27FC236}">
                <a16:creationId xmlns:a16="http://schemas.microsoft.com/office/drawing/2014/main" id="{D37C5E4F-7755-01FB-A18F-4368CD19F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EB4CAE3-CA10-4842-BAF1-B6E6217C48A9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zh-CN" sz="1200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794F095D-695F-82F5-5546-D65354B7B3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5613" y="96747"/>
            <a:ext cx="8077200" cy="609600"/>
          </a:xfrm>
        </p:spPr>
        <p:txBody>
          <a:bodyPr/>
          <a:lstStyle/>
          <a:p>
            <a:pPr eaLnBrk="1" hangingPunct="1"/>
            <a:r>
              <a:rPr lang="zh-CN" altLang="en-US" b="1" dirty="0"/>
              <a:t>示例</a:t>
            </a:r>
          </a:p>
        </p:txBody>
      </p:sp>
      <p:sp>
        <p:nvSpPr>
          <p:cNvPr id="31748" name="Text Box 3">
            <a:extLst>
              <a:ext uri="{FF2B5EF4-FFF2-40B4-BE49-F238E27FC236}">
                <a16:creationId xmlns:a16="http://schemas.microsoft.com/office/drawing/2014/main" id="{BEFB29C8-26A3-ACD6-994E-2859BA10AD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3777" y="6237243"/>
            <a:ext cx="274947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i="0" dirty="0">
                <a:latin typeface="Helvetica" panose="020B0604020202020204" pitchFamily="34" charset="0"/>
              </a:rPr>
              <a:t>插入</a:t>
            </a:r>
            <a:r>
              <a:rPr lang="en-US" altLang="zh-CN" sz="1800" i="0" dirty="0">
                <a:latin typeface="Helvetica" panose="020B0604020202020204" pitchFamily="34" charset="0"/>
              </a:rPr>
              <a:t>“Adams” </a:t>
            </a:r>
            <a:r>
              <a:rPr lang="zh-CN" altLang="en-US" sz="1800" i="0" dirty="0">
                <a:latin typeface="Helvetica" panose="020B0604020202020204" pitchFamily="34" charset="0"/>
              </a:rPr>
              <a:t>前后的</a:t>
            </a:r>
            <a:r>
              <a:rPr lang="en-US" altLang="zh-CN" sz="1800" i="0" dirty="0">
                <a:latin typeface="Helvetica" panose="020B0604020202020204" pitchFamily="34" charset="0"/>
              </a:rPr>
              <a:t>B</a:t>
            </a:r>
            <a:r>
              <a:rPr lang="en-US" altLang="zh-CN" sz="1800" i="0" baseline="30000" dirty="0">
                <a:latin typeface="Helvetica" panose="020B0604020202020204" pitchFamily="34" charset="0"/>
              </a:rPr>
              <a:t>+</a:t>
            </a:r>
            <a:r>
              <a:rPr lang="zh-CN" altLang="en-US" sz="1800" i="0" dirty="0">
                <a:latin typeface="Helvetica" panose="020B0604020202020204" pitchFamily="34" charset="0"/>
              </a:rPr>
              <a:t>树</a:t>
            </a:r>
            <a:endParaRPr lang="en-US" altLang="zh-CN" sz="1800" i="0" dirty="0">
              <a:latin typeface="Helvetica" panose="020B0604020202020204" pitchFamily="34" charset="0"/>
            </a:endParaRPr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8317C3C1-E11D-B5FE-D4F6-CB0C26CAC9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524"/>
          <a:stretch>
            <a:fillRect/>
          </a:stretch>
        </p:blipFill>
        <p:spPr bwMode="auto">
          <a:xfrm>
            <a:off x="298450" y="1196752"/>
            <a:ext cx="8648700" cy="183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5">
            <a:extLst>
              <a:ext uri="{FF2B5EF4-FFF2-40B4-BE49-F238E27FC236}">
                <a16:creationId xmlns:a16="http://schemas.microsoft.com/office/drawing/2014/main" id="{C52DEA1B-77B2-1E71-03D7-90E920DA8A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12" y="3887565"/>
            <a:ext cx="8799513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81A45883-8353-0A63-F6AF-98428250EF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015" y="4250046"/>
            <a:ext cx="147508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000" b="1" dirty="0">
                <a:solidFill>
                  <a:srgbClr val="002060"/>
                </a:solidFill>
                <a:latin typeface="+mn-ea"/>
                <a:ea typeface="+mn-ea"/>
              </a:rPr>
              <a:t>影响的结点</a:t>
            </a:r>
            <a:endParaRPr kumimoji="0" lang="en-US" altLang="en-US" sz="2000" b="1" dirty="0">
              <a:solidFill>
                <a:srgbClr val="002060"/>
              </a:solidFill>
              <a:latin typeface="+mn-ea"/>
              <a:ea typeface="+mn-ea"/>
            </a:endParaRPr>
          </a:p>
        </p:txBody>
      </p:sp>
      <p:cxnSp>
        <p:nvCxnSpPr>
          <p:cNvPr id="5" name="Straight Arrow Connector 6">
            <a:extLst>
              <a:ext uri="{FF2B5EF4-FFF2-40B4-BE49-F238E27FC236}">
                <a16:creationId xmlns:a16="http://schemas.microsoft.com/office/drawing/2014/main" id="{438306EF-4360-74E1-0DB5-5F6291B2FEFD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03606" y="4651684"/>
            <a:ext cx="609600" cy="933450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" name="Straight Arrow Connector 9">
            <a:extLst>
              <a:ext uri="{FF2B5EF4-FFF2-40B4-BE49-F238E27FC236}">
                <a16:creationId xmlns:a16="http://schemas.microsoft.com/office/drawing/2014/main" id="{A72E8C46-35E1-03C2-C4C7-D9332493302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025906" y="4651684"/>
            <a:ext cx="700088" cy="193675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" name="箭头: 右 6">
            <a:extLst>
              <a:ext uri="{FF2B5EF4-FFF2-40B4-BE49-F238E27FC236}">
                <a16:creationId xmlns:a16="http://schemas.microsoft.com/office/drawing/2014/main" id="{9CB810E7-FB1E-E3B0-E988-5B5A71C0B091}"/>
              </a:ext>
            </a:extLst>
          </p:cNvPr>
          <p:cNvSpPr/>
          <p:nvPr/>
        </p:nvSpPr>
        <p:spPr bwMode="auto">
          <a:xfrm rot="5400000">
            <a:off x="4427984" y="3043121"/>
            <a:ext cx="288032" cy="758726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  <a:cs typeface="Arial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9EDE8C1-8BEB-6BF6-FBF0-6262FC3202AB}"/>
              </a:ext>
            </a:extLst>
          </p:cNvPr>
          <p:cNvSpPr txBox="1"/>
          <p:nvPr/>
        </p:nvSpPr>
        <p:spPr>
          <a:xfrm>
            <a:off x="1691680" y="5944965"/>
            <a:ext cx="6298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i="1" dirty="0">
                <a:solidFill>
                  <a:srgbClr val="0000FF"/>
                </a:solidFill>
                <a:sym typeface="Symbol" panose="05050102010706020507" pitchFamily="18" charset="2"/>
              </a:rPr>
              <a:t>k</a:t>
            </a:r>
            <a:endParaRPr lang="zh-CN" altLang="en-US" dirty="0"/>
          </a:p>
        </p:txBody>
      </p:sp>
      <p:sp>
        <p:nvSpPr>
          <p:cNvPr id="12" name="文本框 9">
            <a:extLst>
              <a:ext uri="{FF2B5EF4-FFF2-40B4-BE49-F238E27FC236}">
                <a16:creationId xmlns:a16="http://schemas.microsoft.com/office/drawing/2014/main" id="{1F137BA4-6ED8-24E2-32C4-761AB6341154}"/>
              </a:ext>
            </a:extLst>
          </p:cNvPr>
          <p:cNvSpPr txBox="1"/>
          <p:nvPr/>
        </p:nvSpPr>
        <p:spPr>
          <a:xfrm>
            <a:off x="100497" y="2285474"/>
            <a:ext cx="1349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0000FF"/>
                </a:solidFill>
              </a:rPr>
              <a:t>2</a:t>
            </a:r>
            <a:r>
              <a:rPr lang="zh-CN" altLang="en-US" sz="1800" b="1" dirty="0">
                <a:solidFill>
                  <a:srgbClr val="0000FF"/>
                </a:solidFill>
              </a:rPr>
              <a:t>到</a:t>
            </a:r>
            <a:r>
              <a:rPr lang="en-US" altLang="zh-CN" sz="1800" b="1" dirty="0">
                <a:solidFill>
                  <a:srgbClr val="0000FF"/>
                </a:solidFill>
              </a:rPr>
              <a:t>3</a:t>
            </a:r>
            <a:r>
              <a:rPr lang="zh-CN" altLang="en-US" sz="1800" b="1" dirty="0">
                <a:solidFill>
                  <a:srgbClr val="0000FF"/>
                </a:solidFill>
              </a:rPr>
              <a:t>个</a:t>
            </a:r>
            <a:endParaRPr lang="zh-CN" altLang="en-US" sz="1800" dirty="0"/>
          </a:p>
        </p:txBody>
      </p:sp>
      <p:sp>
        <p:nvSpPr>
          <p:cNvPr id="13" name="文本框 10">
            <a:extLst>
              <a:ext uri="{FF2B5EF4-FFF2-40B4-BE49-F238E27FC236}">
                <a16:creationId xmlns:a16="http://schemas.microsoft.com/office/drawing/2014/main" id="{84C94C02-7841-8E12-A5D4-0630E0CBEBD6}"/>
              </a:ext>
            </a:extLst>
          </p:cNvPr>
          <p:cNvSpPr txBox="1"/>
          <p:nvPr/>
        </p:nvSpPr>
        <p:spPr>
          <a:xfrm>
            <a:off x="1082151" y="1484784"/>
            <a:ext cx="1349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0000FF"/>
                </a:solidFill>
              </a:rPr>
              <a:t>2</a:t>
            </a:r>
            <a:r>
              <a:rPr lang="zh-CN" altLang="en-US" sz="1800" b="1" dirty="0">
                <a:solidFill>
                  <a:srgbClr val="0000FF"/>
                </a:solidFill>
              </a:rPr>
              <a:t>到</a:t>
            </a:r>
            <a:r>
              <a:rPr lang="en-US" altLang="zh-CN" sz="1800" b="1" dirty="0">
                <a:solidFill>
                  <a:srgbClr val="0000FF"/>
                </a:solidFill>
              </a:rPr>
              <a:t>4</a:t>
            </a:r>
            <a:r>
              <a:rPr lang="zh-CN" altLang="en-US" sz="1800" b="1" dirty="0">
                <a:solidFill>
                  <a:srgbClr val="0000FF"/>
                </a:solidFill>
              </a:rPr>
              <a:t>个</a:t>
            </a:r>
            <a:endParaRPr lang="zh-CN" altLang="en-US" sz="1800" dirty="0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E460C82E-4279-9BE0-9584-C281013BF751}"/>
              </a:ext>
            </a:extLst>
          </p:cNvPr>
          <p:cNvSpPr/>
          <p:nvPr/>
        </p:nvSpPr>
        <p:spPr bwMode="auto">
          <a:xfrm>
            <a:off x="1862902" y="4532396"/>
            <a:ext cx="621883" cy="567594"/>
          </a:xfrm>
          <a:prstGeom prst="ellipse">
            <a:avLst/>
          </a:prstGeom>
          <a:noFill/>
          <a:ln w="25400" cap="flat" cmpd="sng" algn="ctr">
            <a:solidFill>
              <a:srgbClr val="0000FF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  <a:cs typeface="Arial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5">
            <a:extLst>
              <a:ext uri="{FF2B5EF4-FFF2-40B4-BE49-F238E27FC236}">
                <a16:creationId xmlns:a16="http://schemas.microsoft.com/office/drawing/2014/main" id="{D37C5E4F-7755-01FB-A18F-4368CD19F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EB4CAE3-CA10-4842-BAF1-B6E6217C48A9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zh-CN" sz="1200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794F095D-695F-82F5-5546-D65354B7B3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5613" y="96747"/>
            <a:ext cx="8077200" cy="609600"/>
          </a:xfrm>
        </p:spPr>
        <p:txBody>
          <a:bodyPr/>
          <a:lstStyle/>
          <a:p>
            <a:pPr eaLnBrk="1" hangingPunct="1"/>
            <a:r>
              <a:rPr lang="zh-CN" altLang="en-US" b="1" dirty="0"/>
              <a:t>示例</a:t>
            </a:r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1BA4477F-DFAA-12A3-1854-CF90F167F2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88" y="3989388"/>
            <a:ext cx="8512175" cy="1947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">
            <a:extLst>
              <a:ext uri="{FF2B5EF4-FFF2-40B4-BE49-F238E27FC236}">
                <a16:creationId xmlns:a16="http://schemas.microsoft.com/office/drawing/2014/main" id="{715DC976-9CA7-3A2A-4172-5F2340A0EC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113" y="1089025"/>
            <a:ext cx="8799512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" name="Straight Arrow Connector 17">
            <a:extLst>
              <a:ext uri="{FF2B5EF4-FFF2-40B4-BE49-F238E27FC236}">
                <a16:creationId xmlns:a16="http://schemas.microsoft.com/office/drawing/2014/main" id="{D0CC4363-3AC0-1C43-D23D-3E291BDB9C7F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5700713" y="3212976"/>
            <a:ext cx="1832719" cy="421258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Straight Arrow Connector 18">
            <a:extLst>
              <a:ext uri="{FF2B5EF4-FFF2-40B4-BE49-F238E27FC236}">
                <a16:creationId xmlns:a16="http://schemas.microsoft.com/office/drawing/2014/main" id="{BA5BA245-AF38-1529-D5F5-D12478BBB24C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645025" y="5997575"/>
            <a:ext cx="839788" cy="296863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" name="TextBox 19">
            <a:extLst>
              <a:ext uri="{FF2B5EF4-FFF2-40B4-BE49-F238E27FC236}">
                <a16:creationId xmlns:a16="http://schemas.microsoft.com/office/drawing/2014/main" id="{33FA4A52-6AE2-61B7-FF02-5F11C523A5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9758" y="3634234"/>
            <a:ext cx="147508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000" b="1" dirty="0">
                <a:solidFill>
                  <a:srgbClr val="002060"/>
                </a:solidFill>
                <a:latin typeface="+mn-ea"/>
                <a:ea typeface="+mn-ea"/>
              </a:rPr>
              <a:t>影响的结点</a:t>
            </a:r>
            <a:endParaRPr kumimoji="0" lang="en-US" altLang="en-US" sz="2000" b="1" dirty="0">
              <a:solidFill>
                <a:srgbClr val="002060"/>
              </a:solidFill>
              <a:latin typeface="+mn-ea"/>
              <a:ea typeface="+mn-ea"/>
            </a:endParaRPr>
          </a:p>
        </p:txBody>
      </p:sp>
      <p:cxnSp>
        <p:nvCxnSpPr>
          <p:cNvPr id="13" name="Straight Arrow Connector 20">
            <a:extLst>
              <a:ext uri="{FF2B5EF4-FFF2-40B4-BE49-F238E27FC236}">
                <a16:creationId xmlns:a16="http://schemas.microsoft.com/office/drawing/2014/main" id="{7A560176-7853-ABBB-C90B-1103BF46AA9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484813" y="6032500"/>
            <a:ext cx="215900" cy="261938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Straight Arrow Connector 31">
            <a:extLst>
              <a:ext uri="{FF2B5EF4-FFF2-40B4-BE49-F238E27FC236}">
                <a16:creationId xmlns:a16="http://schemas.microsoft.com/office/drawing/2014/main" id="{5F8D0FD1-2B99-94BD-489E-7FF23D343BE5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5516824" y="3988362"/>
            <a:ext cx="2139156" cy="166628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Straight Arrow Connector 34">
            <a:extLst>
              <a:ext uri="{FF2B5EF4-FFF2-40B4-BE49-F238E27FC236}">
                <a16:creationId xmlns:a16="http://schemas.microsoft.com/office/drawing/2014/main" id="{8A689E62-E727-8C96-07FC-609FA1C3FDBA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5292080" y="4059971"/>
            <a:ext cx="2086570" cy="593165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" name="Text Box 3">
            <a:extLst>
              <a:ext uri="{FF2B5EF4-FFF2-40B4-BE49-F238E27FC236}">
                <a16:creationId xmlns:a16="http://schemas.microsoft.com/office/drawing/2014/main" id="{561FD73E-0331-2109-0228-7C23FB1112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3356992"/>
            <a:ext cx="40014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i="0" dirty="0">
                <a:latin typeface="Helvetica" panose="020B0604020202020204" pitchFamily="34" charset="0"/>
              </a:rPr>
              <a:t>继续插入</a:t>
            </a:r>
            <a:r>
              <a:rPr lang="en-US" altLang="zh-CN" sz="1800" i="0" dirty="0">
                <a:latin typeface="Helvetica" panose="020B0604020202020204" pitchFamily="34" charset="0"/>
              </a:rPr>
              <a:t>“</a:t>
            </a:r>
            <a:r>
              <a:rPr kumimoji="0" lang="en-US" altLang="ja-JP" sz="1800" dirty="0" err="1">
                <a:solidFill>
                  <a:srgbClr val="0000FF"/>
                </a:solidFill>
              </a:rPr>
              <a:t>Lamport</a:t>
            </a:r>
            <a:r>
              <a:rPr lang="en-US" altLang="zh-CN" sz="1800" i="0" dirty="0">
                <a:latin typeface="Helvetica" panose="020B0604020202020204" pitchFamily="34" charset="0"/>
              </a:rPr>
              <a:t>” </a:t>
            </a:r>
            <a:r>
              <a:rPr lang="zh-CN" altLang="en-US" sz="1800" i="0" dirty="0">
                <a:latin typeface="Helvetica" panose="020B0604020202020204" pitchFamily="34" charset="0"/>
              </a:rPr>
              <a:t>前后的</a:t>
            </a:r>
            <a:r>
              <a:rPr lang="en-US" altLang="zh-CN" sz="1800" i="0" dirty="0">
                <a:latin typeface="Helvetica" panose="020B0604020202020204" pitchFamily="34" charset="0"/>
              </a:rPr>
              <a:t>B</a:t>
            </a:r>
            <a:r>
              <a:rPr lang="en-US" altLang="zh-CN" sz="1800" i="0" baseline="30000" dirty="0">
                <a:latin typeface="Helvetica" panose="020B0604020202020204" pitchFamily="34" charset="0"/>
              </a:rPr>
              <a:t>+</a:t>
            </a:r>
            <a:r>
              <a:rPr lang="zh-CN" altLang="en-US" sz="1800" i="0" dirty="0">
                <a:latin typeface="Helvetica" panose="020B0604020202020204" pitchFamily="34" charset="0"/>
              </a:rPr>
              <a:t>树</a:t>
            </a:r>
            <a:r>
              <a:rPr lang="en-US" altLang="zh-CN" sz="1800" i="0" dirty="0">
                <a:latin typeface="Helvetica" panose="020B0604020202020204" pitchFamily="34" charset="0"/>
              </a:rPr>
              <a:t>(n=4)</a:t>
            </a:r>
          </a:p>
        </p:txBody>
      </p:sp>
      <p:sp>
        <p:nvSpPr>
          <p:cNvPr id="18" name="TextBox 19">
            <a:extLst>
              <a:ext uri="{FF2B5EF4-FFF2-40B4-BE49-F238E27FC236}">
                <a16:creationId xmlns:a16="http://schemas.microsoft.com/office/drawing/2014/main" id="{BD240346-B4A5-F043-EF1F-ACD641F9A4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5025" y="6251701"/>
            <a:ext cx="147508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000" b="1" dirty="0">
                <a:solidFill>
                  <a:srgbClr val="002060"/>
                </a:solidFill>
                <a:latin typeface="+mn-ea"/>
                <a:ea typeface="+mn-ea"/>
              </a:rPr>
              <a:t>影响的结点</a:t>
            </a:r>
            <a:endParaRPr kumimoji="0" lang="en-US" altLang="en-US" sz="2000" b="1" dirty="0">
              <a:solidFill>
                <a:srgbClr val="002060"/>
              </a:solidFill>
              <a:latin typeface="+mn-ea"/>
              <a:ea typeface="+mn-ea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2C64652-ACC5-47E0-8796-9C602F0613E4}"/>
              </a:ext>
            </a:extLst>
          </p:cNvPr>
          <p:cNvSpPr txBox="1"/>
          <p:nvPr/>
        </p:nvSpPr>
        <p:spPr>
          <a:xfrm>
            <a:off x="2108499" y="2276872"/>
            <a:ext cx="13805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rgbClr val="0000FF"/>
                </a:solidFill>
              </a:rPr>
              <a:t>4</a:t>
            </a:r>
            <a:r>
              <a:rPr lang="zh-CN" altLang="en-US" sz="2000" b="1" dirty="0">
                <a:solidFill>
                  <a:srgbClr val="0000FF"/>
                </a:solidFill>
              </a:rPr>
              <a:t>个子结点</a:t>
            </a: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53FA87AB-8525-BAA7-9EAC-ABCBB1B11506}"/>
              </a:ext>
            </a:extLst>
          </p:cNvPr>
          <p:cNvCxnSpPr/>
          <p:nvPr/>
        </p:nvCxnSpPr>
        <p:spPr bwMode="auto">
          <a:xfrm>
            <a:off x="3563888" y="2204864"/>
            <a:ext cx="1224136" cy="576064"/>
          </a:xfrm>
          <a:prstGeom prst="straightConnector1">
            <a:avLst/>
          </a:prstGeom>
          <a:ln w="22225">
            <a:prstDash val="dash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E1AB6AD6-1863-5100-F9ED-5A6BB8F55EEB}"/>
              </a:ext>
            </a:extLst>
          </p:cNvPr>
          <p:cNvCxnSpPr>
            <a:cxnSpLocks/>
          </p:cNvCxnSpPr>
          <p:nvPr/>
        </p:nvCxnSpPr>
        <p:spPr bwMode="auto">
          <a:xfrm>
            <a:off x="4134173" y="4995330"/>
            <a:ext cx="77787" cy="697482"/>
          </a:xfrm>
          <a:prstGeom prst="straightConnector1">
            <a:avLst/>
          </a:prstGeom>
          <a:ln w="22225">
            <a:solidFill>
              <a:schemeClr val="accent1">
                <a:shade val="95000"/>
                <a:satMod val="105000"/>
                <a:alpha val="96000"/>
              </a:schemeClr>
            </a:solidFill>
            <a:prstDash val="dash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>
            <a:extLst>
              <a:ext uri="{FF2B5EF4-FFF2-40B4-BE49-F238E27FC236}">
                <a16:creationId xmlns:a16="http://schemas.microsoft.com/office/drawing/2014/main" id="{9E52DC45-E15E-0D98-71F0-F8A482427670}"/>
              </a:ext>
            </a:extLst>
          </p:cNvPr>
          <p:cNvSpPr/>
          <p:nvPr/>
        </p:nvSpPr>
        <p:spPr bwMode="auto">
          <a:xfrm>
            <a:off x="3851920" y="3797510"/>
            <a:ext cx="793105" cy="567594"/>
          </a:xfrm>
          <a:prstGeom prst="ellipse">
            <a:avLst/>
          </a:prstGeom>
          <a:noFill/>
          <a:ln w="25400" cap="flat" cmpd="sng" algn="ctr">
            <a:solidFill>
              <a:srgbClr val="0000FF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  <a:cs typeface="Arial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65113" y="6097813"/>
            <a:ext cx="38427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拆分非叶结点</a:t>
            </a:r>
            <a:endParaRPr lang="en-US" altLang="zh-CN" sz="2000" b="1" dirty="0"/>
          </a:p>
          <a:p>
            <a:r>
              <a:rPr lang="zh-CN" altLang="en-US" sz="2000" b="1" dirty="0"/>
              <a:t>（进一步自学深入了解）</a:t>
            </a:r>
          </a:p>
        </p:txBody>
      </p:sp>
    </p:spTree>
    <p:extLst>
      <p:ext uri="{BB962C8B-B14F-4D97-AF65-F5344CB8AC3E}">
        <p14:creationId xmlns:p14="http://schemas.microsoft.com/office/powerpoint/2010/main" val="29981783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8" grpId="0"/>
      <p:bldP spid="19" grpId="0"/>
      <p:bldP spid="2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5">
            <a:extLst>
              <a:ext uri="{FF2B5EF4-FFF2-40B4-BE49-F238E27FC236}">
                <a16:creationId xmlns:a16="http://schemas.microsoft.com/office/drawing/2014/main" id="{7CA806CC-5A74-0BA5-799A-246B2DFAD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10FC238-99AB-438F-8AA3-319233978A23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US" altLang="zh-CN" sz="1200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218882CF-65B3-8D71-876B-9B0F9E39F9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B</a:t>
            </a:r>
            <a:r>
              <a:rPr lang="en-US" altLang="zh-CN" b="1" baseline="30000"/>
              <a:t>+</a:t>
            </a:r>
            <a:r>
              <a:rPr lang="zh-CN" altLang="en-US" b="1"/>
              <a:t>树的删除</a:t>
            </a:r>
            <a:endParaRPr lang="en-US" altLang="zh-CN" b="1"/>
          </a:p>
        </p:txBody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E3F5E67F-CF27-EB94-78FD-C9D69B353D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3568" y="1412776"/>
            <a:ext cx="7993062" cy="4918075"/>
          </a:xfrm>
        </p:spPr>
        <p:txBody>
          <a:bodyPr/>
          <a:lstStyle/>
          <a:p>
            <a:pPr eaLnBrk="1" hangingPunct="1"/>
            <a:r>
              <a:rPr lang="zh-CN" altLang="en-US" sz="2500" b="1" dirty="0"/>
              <a:t>找到</a:t>
            </a:r>
            <a:r>
              <a:rPr lang="zh-CN" altLang="en-US" sz="2500" b="1" dirty="0">
                <a:solidFill>
                  <a:srgbClr val="0000FF"/>
                </a:solidFill>
              </a:rPr>
              <a:t>待删除记录</a:t>
            </a:r>
            <a:r>
              <a:rPr lang="zh-CN" altLang="en-US" sz="2500" b="1" dirty="0"/>
              <a:t>，从</a:t>
            </a:r>
            <a:r>
              <a:rPr lang="zh-CN" altLang="en-US" sz="2500" b="1" dirty="0">
                <a:solidFill>
                  <a:srgbClr val="0000FF"/>
                </a:solidFill>
              </a:rPr>
              <a:t>主文件及桶</a:t>
            </a:r>
            <a:r>
              <a:rPr lang="en-US" altLang="zh-CN" sz="2500" b="1" dirty="0"/>
              <a:t>(</a:t>
            </a:r>
            <a:r>
              <a:rPr lang="zh-CN" altLang="en-US" sz="2500" b="1" dirty="0"/>
              <a:t>如果存在的话</a:t>
            </a:r>
            <a:r>
              <a:rPr lang="en-US" altLang="zh-CN" sz="2500" b="1" dirty="0"/>
              <a:t>)</a:t>
            </a:r>
            <a:r>
              <a:rPr lang="zh-CN" altLang="en-US" sz="2500" b="1" dirty="0"/>
              <a:t>中</a:t>
            </a:r>
            <a:r>
              <a:rPr lang="zh-CN" altLang="en-US" sz="2500" b="1" dirty="0">
                <a:solidFill>
                  <a:srgbClr val="0000FF"/>
                </a:solidFill>
              </a:rPr>
              <a:t>删除</a:t>
            </a:r>
            <a:r>
              <a:rPr lang="zh-CN" altLang="en-US" sz="2500" b="1" dirty="0"/>
              <a:t>之</a:t>
            </a:r>
            <a:endParaRPr lang="en-US" altLang="zh-CN" sz="2500" b="1" dirty="0"/>
          </a:p>
          <a:p>
            <a:pPr eaLnBrk="1" hangingPunct="1"/>
            <a:r>
              <a:rPr lang="zh-CN" altLang="en-US" sz="2500" b="1" dirty="0"/>
              <a:t>如果</a:t>
            </a:r>
            <a:r>
              <a:rPr lang="zh-CN" altLang="en-US" sz="2500" b="1" dirty="0">
                <a:solidFill>
                  <a:srgbClr val="0000FF"/>
                </a:solidFill>
              </a:rPr>
              <a:t>没有桶</a:t>
            </a:r>
            <a:r>
              <a:rPr lang="zh-CN" altLang="en-US" sz="2500" b="1" dirty="0"/>
              <a:t>或</a:t>
            </a:r>
            <a:r>
              <a:rPr lang="zh-CN" altLang="en-US" sz="2500" b="1" dirty="0">
                <a:solidFill>
                  <a:srgbClr val="0000FF"/>
                </a:solidFill>
              </a:rPr>
              <a:t>桶变成空</a:t>
            </a:r>
            <a:r>
              <a:rPr lang="zh-CN" altLang="en-US" sz="2500" b="1" dirty="0"/>
              <a:t>，则从</a:t>
            </a:r>
            <a:r>
              <a:rPr lang="zh-CN" altLang="en-US" sz="2500" b="1" dirty="0">
                <a:solidFill>
                  <a:srgbClr val="0000FF"/>
                </a:solidFill>
              </a:rPr>
              <a:t>叶结点</a:t>
            </a:r>
            <a:r>
              <a:rPr lang="zh-CN" altLang="en-US" sz="2500" b="1" dirty="0"/>
              <a:t>中</a:t>
            </a:r>
            <a:r>
              <a:rPr lang="zh-CN" altLang="en-US" sz="2500" b="1" dirty="0">
                <a:solidFill>
                  <a:srgbClr val="0000FF"/>
                </a:solidFill>
              </a:rPr>
              <a:t>删除</a:t>
            </a:r>
            <a:r>
              <a:rPr lang="en-US" altLang="zh-CN" sz="2500" b="1" dirty="0">
                <a:solidFill>
                  <a:srgbClr val="0000FF"/>
                </a:solidFill>
              </a:rPr>
              <a:t> </a:t>
            </a:r>
            <a:r>
              <a:rPr lang="en-US" altLang="zh-CN" sz="2500" b="1" dirty="0"/>
              <a:t>(</a:t>
            </a:r>
            <a:r>
              <a:rPr lang="zh-CN" altLang="en-US" sz="2500" b="1" dirty="0">
                <a:solidFill>
                  <a:srgbClr val="006600"/>
                </a:solidFill>
              </a:rPr>
              <a:t>搜索码值，指针</a:t>
            </a:r>
            <a:r>
              <a:rPr lang="en-US" altLang="zh-CN" sz="2500" b="1" dirty="0"/>
              <a:t>)</a:t>
            </a:r>
          </a:p>
          <a:p>
            <a:pPr eaLnBrk="1" hangingPunct="1"/>
            <a:r>
              <a:rPr lang="zh-CN" altLang="en-US" sz="2500" b="1" dirty="0"/>
              <a:t>若结点因删除导致</a:t>
            </a:r>
            <a:r>
              <a:rPr lang="zh-CN" altLang="en-US" sz="2500" b="1" dirty="0">
                <a:solidFill>
                  <a:srgbClr val="0000FF"/>
                </a:solidFill>
              </a:rPr>
              <a:t>索引项过少</a:t>
            </a:r>
            <a:r>
              <a:rPr lang="zh-CN" altLang="en-US" sz="2500" b="1" dirty="0"/>
              <a:t>，</a:t>
            </a:r>
            <a:r>
              <a:rPr lang="zh-CN" altLang="en-US" sz="2500" b="1" dirty="0">
                <a:solidFill>
                  <a:srgbClr val="FF0000"/>
                </a:solidFill>
              </a:rPr>
              <a:t>且</a:t>
            </a:r>
            <a:r>
              <a:rPr lang="zh-CN" altLang="en-US" sz="2500" b="1" dirty="0">
                <a:solidFill>
                  <a:srgbClr val="006600"/>
                </a:solidFill>
              </a:rPr>
              <a:t>该结点</a:t>
            </a:r>
            <a:r>
              <a:rPr lang="zh-CN" altLang="en-US" sz="2500" b="1" dirty="0"/>
              <a:t>与</a:t>
            </a:r>
            <a:r>
              <a:rPr lang="zh-CN" altLang="en-US" sz="2500" b="1" dirty="0">
                <a:solidFill>
                  <a:srgbClr val="006600"/>
                </a:solidFill>
              </a:rPr>
              <a:t>一兄弟结点的索引项</a:t>
            </a:r>
            <a:r>
              <a:rPr lang="zh-CN" altLang="en-US" sz="2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可以放入</a:t>
            </a:r>
            <a:r>
              <a:rPr lang="zh-CN" altLang="en-US" sz="2500" b="1" dirty="0">
                <a:solidFill>
                  <a:srgbClr val="0000FF"/>
                </a:solidFill>
              </a:rPr>
              <a:t>一个结点</a:t>
            </a:r>
            <a:r>
              <a:rPr lang="zh-CN" altLang="en-US" sz="2500" b="1" dirty="0"/>
              <a:t>中，则</a:t>
            </a:r>
            <a:r>
              <a:rPr lang="en-US" altLang="zh-CN" sz="2500" b="1" dirty="0"/>
              <a:t> </a:t>
            </a:r>
          </a:p>
          <a:p>
            <a:pPr lvl="1" eaLnBrk="1" hangingPunct="1"/>
            <a:r>
              <a:rPr lang="zh-CN" altLang="en-US" sz="2400" b="1" dirty="0"/>
              <a:t>将</a:t>
            </a:r>
            <a:r>
              <a:rPr lang="zh-CN" altLang="en-US" sz="2400" b="1" u="sng" dirty="0"/>
              <a:t>右边结点的所有搜索码值</a:t>
            </a:r>
            <a:r>
              <a:rPr lang="zh-CN" altLang="en-US" sz="2400" b="1" dirty="0">
                <a:solidFill>
                  <a:srgbClr val="0000FF"/>
                </a:solidFill>
              </a:rPr>
              <a:t>插入</a:t>
            </a:r>
            <a:r>
              <a:rPr lang="zh-CN" altLang="en-US" sz="2400" b="1" dirty="0"/>
              <a:t>到</a:t>
            </a:r>
            <a:r>
              <a:rPr lang="zh-CN" altLang="en-US" sz="2400" b="1" u="sng" dirty="0"/>
              <a:t>左边结点</a:t>
            </a:r>
            <a:r>
              <a:rPr lang="zh-CN" altLang="en-US" sz="2400" b="1" dirty="0"/>
              <a:t>中，然后</a:t>
            </a:r>
            <a:r>
              <a:rPr lang="zh-CN" altLang="en-US" sz="2400" b="1" u="sng" dirty="0"/>
              <a:t>删除右边结点</a:t>
            </a:r>
            <a:endParaRPr lang="en-US" altLang="zh-CN" sz="2400" b="1" u="sng" dirty="0"/>
          </a:p>
          <a:p>
            <a:pPr lvl="1" eaLnBrk="1" hangingPunct="1"/>
            <a:r>
              <a:rPr lang="zh-CN" altLang="en-US" sz="2400" b="1" dirty="0"/>
              <a:t>从</a:t>
            </a:r>
            <a:r>
              <a:rPr lang="zh-CN" altLang="en-US" sz="2400" b="1" u="sng" dirty="0"/>
              <a:t>父结点中删除</a:t>
            </a:r>
            <a:r>
              <a:rPr lang="en-US" altLang="zh-CN" sz="2400" b="1" u="sng" dirty="0"/>
              <a:t> (</a:t>
            </a:r>
            <a:r>
              <a:rPr lang="en-US" altLang="zh-CN" sz="2400" b="1" i="1" u="sng" dirty="0"/>
              <a:t>K</a:t>
            </a:r>
            <a:r>
              <a:rPr lang="en-US" altLang="zh-CN" sz="2400" b="1" i="1" u="sng" baseline="-25000" dirty="0"/>
              <a:t>i</a:t>
            </a:r>
            <a:r>
              <a:rPr lang="en-US" altLang="zh-CN" sz="2400" b="1" i="1" u="sng" baseline="-25000" dirty="0">
                <a:latin typeface="Arial" panose="020B0604020202020204" pitchFamily="34" charset="0"/>
              </a:rPr>
              <a:t>–</a:t>
            </a:r>
            <a:r>
              <a:rPr lang="en-US" altLang="zh-CN" sz="2400" b="1" u="sng" baseline="-25000" dirty="0"/>
              <a:t>1</a:t>
            </a:r>
            <a:r>
              <a:rPr lang="en-US" altLang="zh-CN" sz="2400" b="1" u="sng" dirty="0"/>
              <a:t>, </a:t>
            </a:r>
            <a:r>
              <a:rPr lang="en-US" altLang="zh-CN" sz="2400" b="1" i="1" u="sng" dirty="0"/>
              <a:t>P</a:t>
            </a:r>
            <a:r>
              <a:rPr lang="en-US" altLang="zh-CN" sz="2400" b="1" i="1" u="sng" baseline="-25000" dirty="0"/>
              <a:t>i</a:t>
            </a:r>
            <a:r>
              <a:rPr lang="en-US" altLang="zh-CN" sz="2400" b="1" i="1" u="sng" dirty="0"/>
              <a:t>)</a:t>
            </a:r>
            <a:r>
              <a:rPr lang="zh-CN" altLang="en-US" sz="2400" b="1" i="1" dirty="0"/>
              <a:t>，</a:t>
            </a:r>
            <a:r>
              <a:rPr lang="zh-CN" altLang="en-US" sz="2400" b="1" dirty="0"/>
              <a:t>其中</a:t>
            </a:r>
            <a:r>
              <a:rPr lang="en-US" altLang="zh-CN" sz="2400" b="1" i="1" dirty="0"/>
              <a:t>P</a:t>
            </a:r>
            <a:r>
              <a:rPr lang="en-US" altLang="zh-CN" sz="2400" b="1" i="1" baseline="-25000" dirty="0"/>
              <a:t>i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是指向被删除结点的指针，</a:t>
            </a:r>
            <a:r>
              <a:rPr lang="zh-CN" altLang="en-US" sz="2400" b="1" dirty="0">
                <a:solidFill>
                  <a:srgbClr val="FF0000"/>
                </a:solidFill>
              </a:rPr>
              <a:t>递归</a:t>
            </a:r>
            <a:r>
              <a:rPr lang="zh-CN" altLang="en-US" sz="2400" b="1" dirty="0"/>
              <a:t>使用上述过程</a:t>
            </a:r>
            <a:endParaRPr lang="en-US" altLang="zh-CN" sz="2400" b="1" dirty="0"/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5">
            <a:extLst>
              <a:ext uri="{FF2B5EF4-FFF2-40B4-BE49-F238E27FC236}">
                <a16:creationId xmlns:a16="http://schemas.microsoft.com/office/drawing/2014/main" id="{AEE8EEF0-93C7-B59A-B727-CDA6AEF09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95AA912-9E7E-43DD-B0A2-2407538AB757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zh-CN" sz="1200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92AB6F8C-2EB7-7F20-A206-A5044587CD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dirty="0"/>
              <a:t>B</a:t>
            </a:r>
            <a:r>
              <a:rPr lang="en-US" altLang="zh-CN" b="1" baseline="30000" dirty="0"/>
              <a:t>+</a:t>
            </a:r>
            <a:r>
              <a:rPr lang="zh-CN" altLang="en-US" b="1" dirty="0"/>
              <a:t>树的删除</a:t>
            </a:r>
            <a:r>
              <a:rPr lang="zh-CN" altLang="en-US" b="1" baseline="30000" dirty="0"/>
              <a:t>(续)</a:t>
            </a:r>
            <a:endParaRPr lang="en-US" altLang="zh-CN" b="1" baseline="30000" dirty="0"/>
          </a:p>
        </p:txBody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99D1E54A-2BB7-D0C9-6D2B-1329491885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576" y="1415528"/>
            <a:ext cx="7992888" cy="3885680"/>
          </a:xfrm>
        </p:spPr>
        <p:txBody>
          <a:bodyPr/>
          <a:lstStyle/>
          <a:p>
            <a:pPr eaLnBrk="1" hangingPunct="1"/>
            <a:r>
              <a:rPr lang="zh-CN" altLang="en-US" sz="2500" b="1" dirty="0"/>
              <a:t>如果结点因删除导致</a:t>
            </a:r>
            <a:r>
              <a:rPr lang="zh-CN" altLang="en-US" sz="2500" b="1" dirty="0">
                <a:solidFill>
                  <a:srgbClr val="0000FF"/>
                </a:solidFill>
              </a:rPr>
              <a:t>索引项过少</a:t>
            </a:r>
            <a:r>
              <a:rPr lang="zh-CN" altLang="en-US" sz="2500" b="1" dirty="0"/>
              <a:t>，并且</a:t>
            </a:r>
            <a:r>
              <a:rPr lang="zh-CN" altLang="en-US" sz="2500" b="1" u="sng" dirty="0"/>
              <a:t>该结点与兄弟结点的索引项数</a:t>
            </a:r>
            <a:r>
              <a:rPr lang="zh-CN" altLang="en-US" sz="2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不能放入</a:t>
            </a:r>
            <a:r>
              <a:rPr lang="zh-CN" altLang="en-US" sz="2500" b="1" dirty="0">
                <a:solidFill>
                  <a:srgbClr val="0000FF"/>
                </a:solidFill>
              </a:rPr>
              <a:t>一个结点</a:t>
            </a:r>
            <a:r>
              <a:rPr lang="zh-CN" altLang="en-US" sz="2500" b="1" dirty="0"/>
              <a:t>中，则</a:t>
            </a:r>
            <a:endParaRPr lang="en-US" altLang="zh-CN" sz="2500" b="1" dirty="0"/>
          </a:p>
          <a:p>
            <a:pPr lvl="1" eaLnBrk="1" hangingPunct="1"/>
            <a:r>
              <a:rPr lang="zh-CN" altLang="en-US" sz="2300" b="1" dirty="0"/>
              <a:t>在两个结点之间</a:t>
            </a:r>
            <a:r>
              <a:rPr lang="zh-CN" altLang="en-US" sz="2300" b="1" u="sng" dirty="0">
                <a:solidFill>
                  <a:srgbClr val="0000FF"/>
                </a:solidFill>
              </a:rPr>
              <a:t>重新分配指针</a:t>
            </a:r>
            <a:r>
              <a:rPr lang="zh-CN" altLang="en-US" sz="2300" b="1" dirty="0"/>
              <a:t>，使两者都</a:t>
            </a:r>
            <a:r>
              <a:rPr lang="zh-CN" altLang="en-US" sz="2300" b="1" dirty="0">
                <a:solidFill>
                  <a:srgbClr val="0000FF"/>
                </a:solidFill>
              </a:rPr>
              <a:t>具有超过最低要求的索引项数</a:t>
            </a:r>
            <a:endParaRPr lang="en-US" altLang="zh-CN" sz="2300" b="1" dirty="0">
              <a:solidFill>
                <a:srgbClr val="0000FF"/>
              </a:solidFill>
            </a:endParaRPr>
          </a:p>
          <a:p>
            <a:pPr lvl="1" eaLnBrk="1" hangingPunct="1"/>
            <a:r>
              <a:rPr lang="zh-CN" altLang="en-US" sz="2300" b="1" dirty="0">
                <a:solidFill>
                  <a:srgbClr val="0000FF"/>
                </a:solidFill>
              </a:rPr>
              <a:t>更新</a:t>
            </a:r>
            <a:r>
              <a:rPr lang="zh-CN" altLang="en-US" sz="2300" b="1" dirty="0">
                <a:solidFill>
                  <a:srgbClr val="FF0000"/>
                </a:solidFill>
              </a:rPr>
              <a:t>父结点</a:t>
            </a:r>
            <a:r>
              <a:rPr lang="zh-CN" altLang="en-US" sz="2300" b="1" dirty="0"/>
              <a:t>中对应的搜索码值</a:t>
            </a:r>
            <a:endParaRPr lang="en-US" altLang="zh-CN" sz="2300" b="1" dirty="0"/>
          </a:p>
          <a:p>
            <a:pPr eaLnBrk="1" hangingPunct="1"/>
            <a:r>
              <a:rPr lang="zh-CN" altLang="en-US" sz="2500" b="1" dirty="0"/>
              <a:t>结点删除可能向上扩展直至找到一个具有</a:t>
            </a:r>
            <a:r>
              <a:rPr lang="en-US" altLang="zh-CN" sz="2500" b="1" dirty="0">
                <a:sym typeface="Symbol" panose="05050102010706020507" pitchFamily="18" charset="2"/>
              </a:rPr>
              <a:t></a:t>
            </a:r>
            <a:r>
              <a:rPr lang="en-US" altLang="zh-CN" sz="2500" b="1" i="1" dirty="0">
                <a:sym typeface="Symbol" panose="05050102010706020507" pitchFamily="18" charset="2"/>
              </a:rPr>
              <a:t>n/2 </a:t>
            </a:r>
            <a:r>
              <a:rPr lang="en-US" altLang="zh-CN" sz="2500" b="1" dirty="0">
                <a:sym typeface="Symbol" panose="05050102010706020507" pitchFamily="18" charset="2"/>
              </a:rPr>
              <a:t> </a:t>
            </a:r>
            <a:r>
              <a:rPr lang="zh-CN" altLang="en-US" sz="2500" b="1" dirty="0">
                <a:sym typeface="Symbol" panose="05050102010706020507" pitchFamily="18" charset="2"/>
              </a:rPr>
              <a:t>或更多指针的结点。</a:t>
            </a:r>
            <a:endParaRPr lang="en-US" altLang="zh-CN" sz="2500" b="1" dirty="0"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500" b="1" dirty="0">
                <a:sym typeface="Symbol" panose="05050102010706020507" pitchFamily="18" charset="2"/>
              </a:rPr>
              <a:t>若删除后</a:t>
            </a:r>
            <a:r>
              <a:rPr lang="zh-CN" altLang="en-US" sz="2500" b="1" u="sng" dirty="0">
                <a:sym typeface="Symbol" panose="05050102010706020507" pitchFamily="18" charset="2"/>
              </a:rPr>
              <a:t>根结点只有一个指针</a:t>
            </a:r>
            <a:r>
              <a:rPr lang="zh-CN" altLang="en-US" sz="2500" b="1" dirty="0">
                <a:sym typeface="Symbol" panose="05050102010706020507" pitchFamily="18" charset="2"/>
              </a:rPr>
              <a:t>，则删除根结点而其惟一子结点成为根</a:t>
            </a:r>
            <a:endParaRPr lang="en-US" altLang="zh-CN" sz="2500" b="1" dirty="0"/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5">
            <a:extLst>
              <a:ext uri="{FF2B5EF4-FFF2-40B4-BE49-F238E27FC236}">
                <a16:creationId xmlns:a16="http://schemas.microsoft.com/office/drawing/2014/main" id="{74436BE2-32A3-80C8-CBB7-A1009FE4BF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605" y="3132342"/>
            <a:ext cx="8296908" cy="2317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18" name="灯片编号占位符 5">
            <a:extLst>
              <a:ext uri="{FF2B5EF4-FFF2-40B4-BE49-F238E27FC236}">
                <a16:creationId xmlns:a16="http://schemas.microsoft.com/office/drawing/2014/main" id="{DD61D8C1-5A9A-3803-85D3-DC63A4125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74EFD51-CA64-4917-89EF-B0EBE631C47B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zh-CN" sz="1200"/>
          </a:p>
        </p:txBody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29807F53-CA8F-AD61-9015-D3D86A3B00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3546" y="5673435"/>
            <a:ext cx="8296907" cy="962300"/>
          </a:xfrm>
        </p:spPr>
        <p:txBody>
          <a:bodyPr/>
          <a:lstStyle/>
          <a:p>
            <a:pPr eaLnBrk="1" hangingPunct="1"/>
            <a:r>
              <a:rPr lang="zh-CN" altLang="en-US" sz="2000" b="1" dirty="0"/>
              <a:t>删除包含</a:t>
            </a:r>
            <a:r>
              <a:rPr lang="en-US" altLang="zh-CN" sz="2000" b="1" dirty="0">
                <a:latin typeface="Arial" panose="020B0604020202020204" pitchFamily="34" charset="0"/>
              </a:rPr>
              <a:t>“</a:t>
            </a:r>
            <a:r>
              <a:rPr kumimoji="0" lang="en-US" altLang="ja-JP" sz="2000" b="1" dirty="0"/>
              <a:t>Srinivasan</a:t>
            </a:r>
            <a:r>
              <a:rPr lang="en-US" altLang="zh-CN" sz="2000" b="1" dirty="0">
                <a:latin typeface="Arial" panose="020B0604020202020204" pitchFamily="34" charset="0"/>
              </a:rPr>
              <a:t>”</a:t>
            </a:r>
            <a:r>
              <a:rPr lang="en-US" altLang="zh-CN" sz="2000" b="1" dirty="0"/>
              <a:t> </a:t>
            </a:r>
            <a:r>
              <a:rPr lang="zh-CN" altLang="en-US" sz="2000" b="1" dirty="0"/>
              <a:t>的记录导致</a:t>
            </a:r>
            <a:r>
              <a:rPr lang="zh-CN" altLang="en-US" sz="2000" b="1" dirty="0">
                <a:solidFill>
                  <a:srgbClr val="0000FF"/>
                </a:solidFill>
              </a:rPr>
              <a:t>叶结点索引项过少</a:t>
            </a:r>
            <a:r>
              <a:rPr lang="zh-CN" altLang="en-US" sz="2000" b="1" dirty="0"/>
              <a:t>，将</a:t>
            </a:r>
            <a:r>
              <a:rPr lang="zh-CN" altLang="en-US" sz="2000" b="1" u="sng" dirty="0"/>
              <a:t>该结点与一兄弟结点的索引项</a:t>
            </a:r>
            <a:r>
              <a:rPr lang="zh-CN" altLang="en-US" sz="2000" b="1" dirty="0"/>
              <a:t>放入</a:t>
            </a:r>
            <a:r>
              <a:rPr lang="zh-CN" altLang="en-US" sz="2000" b="1" dirty="0">
                <a:solidFill>
                  <a:srgbClr val="0000FF"/>
                </a:solidFill>
              </a:rPr>
              <a:t>同一个结点</a:t>
            </a:r>
            <a:r>
              <a:rPr lang="zh-CN" altLang="en-US" sz="2000" b="1" dirty="0"/>
              <a:t>中</a:t>
            </a:r>
            <a:endParaRPr lang="en-US" altLang="zh-CN" sz="2000" b="1" dirty="0"/>
          </a:p>
          <a:p>
            <a:r>
              <a:rPr lang="zh-CN" altLang="en-US" sz="2000" b="1" dirty="0"/>
              <a:t>两个结点之间重新分配指针，更新父结点中对应的搜索码值</a:t>
            </a:r>
            <a:endParaRPr lang="en-US" altLang="zh-CN" sz="2000" b="1" dirty="0"/>
          </a:p>
          <a:p>
            <a:pPr eaLnBrk="1" hangingPunct="1"/>
            <a:endParaRPr lang="en-US" altLang="zh-CN" sz="2000" b="1" dirty="0"/>
          </a:p>
        </p:txBody>
      </p:sp>
      <p:sp>
        <p:nvSpPr>
          <p:cNvPr id="34821" name="Text Box 4">
            <a:extLst>
              <a:ext uri="{FF2B5EF4-FFF2-40B4-BE49-F238E27FC236}">
                <a16:creationId xmlns:a16="http://schemas.microsoft.com/office/drawing/2014/main" id="{01F002A1-BBBF-6EFB-DB71-26D1B28A56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739" y="3090446"/>
            <a:ext cx="242887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600" b="1" i="0" dirty="0">
                <a:latin typeface="Helvetica" panose="020B0604020202020204" pitchFamily="34" charset="0"/>
              </a:rPr>
              <a:t>“</a:t>
            </a:r>
            <a:r>
              <a:rPr kumimoji="0" lang="en-US" altLang="ja-JP" sz="1600" b="1" dirty="0">
                <a:solidFill>
                  <a:srgbClr val="0000FF"/>
                </a:solidFill>
              </a:rPr>
              <a:t>Srinivasan</a:t>
            </a:r>
            <a:r>
              <a:rPr lang="en-US" altLang="zh-CN" sz="1600" b="1" i="0" dirty="0">
                <a:latin typeface="Helvetica" panose="020B0604020202020204" pitchFamily="34" charset="0"/>
              </a:rPr>
              <a:t>”</a:t>
            </a:r>
            <a:r>
              <a:rPr lang="zh-CN" altLang="en-US" sz="1600" b="1" i="0" dirty="0">
                <a:latin typeface="Helvetica" panose="020B0604020202020204" pitchFamily="34" charset="0"/>
              </a:rPr>
              <a:t>删除前后</a:t>
            </a:r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E2C2A1C1-ED0C-89D9-C2F6-B5F8E9DAD5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413" y="908720"/>
            <a:ext cx="8871434" cy="2074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" name="Straight Arrow Connector 2">
            <a:extLst>
              <a:ext uri="{FF2B5EF4-FFF2-40B4-BE49-F238E27FC236}">
                <a16:creationId xmlns:a16="http://schemas.microsoft.com/office/drawing/2014/main" id="{17C69384-910F-C9B7-C378-98342376F44C}"/>
              </a:ext>
            </a:extLst>
          </p:cNvPr>
          <p:cNvCxnSpPr>
            <a:cxnSpLocks noChangeShapeType="1"/>
            <a:stCxn id="12" idx="0"/>
          </p:cNvCxnSpPr>
          <p:nvPr/>
        </p:nvCxnSpPr>
        <p:spPr bwMode="auto">
          <a:xfrm flipH="1" flipV="1">
            <a:off x="7018897" y="3060996"/>
            <a:ext cx="1082981" cy="658721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Straight Arrow Connector 4">
            <a:extLst>
              <a:ext uri="{FF2B5EF4-FFF2-40B4-BE49-F238E27FC236}">
                <a16:creationId xmlns:a16="http://schemas.microsoft.com/office/drawing/2014/main" id="{3FE11DF2-83C6-3CB6-EE39-D3596B799CBA}"/>
              </a:ext>
            </a:extLst>
          </p:cNvPr>
          <p:cNvCxnSpPr>
            <a:cxnSpLocks noChangeShapeType="1"/>
            <a:stCxn id="12" idx="0"/>
          </p:cNvCxnSpPr>
          <p:nvPr/>
        </p:nvCxnSpPr>
        <p:spPr bwMode="auto">
          <a:xfrm flipV="1">
            <a:off x="8101878" y="3046708"/>
            <a:ext cx="47269" cy="673009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" name="TextBox 10">
            <a:extLst>
              <a:ext uri="{FF2B5EF4-FFF2-40B4-BE49-F238E27FC236}">
                <a16:creationId xmlns:a16="http://schemas.microsoft.com/office/drawing/2014/main" id="{5DF321C9-1CB5-4308-D470-3637E1AB8D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3009" y="3719717"/>
            <a:ext cx="203773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1" dirty="0">
                <a:solidFill>
                  <a:srgbClr val="002060"/>
                </a:solidFill>
              </a:rPr>
              <a:t>Affected nodes</a:t>
            </a:r>
          </a:p>
        </p:txBody>
      </p:sp>
      <p:cxnSp>
        <p:nvCxnSpPr>
          <p:cNvPr id="13" name="Straight Arrow Connector 6">
            <a:extLst>
              <a:ext uri="{FF2B5EF4-FFF2-40B4-BE49-F238E27FC236}">
                <a16:creationId xmlns:a16="http://schemas.microsoft.com/office/drawing/2014/main" id="{5C78754A-894F-9391-6F1D-BA8E90DF5FD5}"/>
              </a:ext>
            </a:extLst>
          </p:cNvPr>
          <p:cNvCxnSpPr>
            <a:cxnSpLocks noChangeShapeType="1"/>
            <a:stCxn id="12" idx="2"/>
          </p:cNvCxnSpPr>
          <p:nvPr/>
        </p:nvCxnSpPr>
        <p:spPr bwMode="auto">
          <a:xfrm flipH="1">
            <a:off x="7971397" y="4119827"/>
            <a:ext cx="130481" cy="989520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" name="Rectangle 2">
            <a:extLst>
              <a:ext uri="{FF2B5EF4-FFF2-40B4-BE49-F238E27FC236}">
                <a16:creationId xmlns:a16="http://schemas.microsoft.com/office/drawing/2014/main" id="{EBCF0B3F-D5F2-CC7B-79CE-4A690B999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413" y="111994"/>
            <a:ext cx="7313613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0" lang="en-US" altLang="zh-CN" b="1" kern="0" dirty="0"/>
              <a:t>B</a:t>
            </a:r>
            <a:r>
              <a:rPr kumimoji="0" lang="en-US" altLang="zh-CN" b="1" kern="0" baseline="30000" dirty="0"/>
              <a:t>+</a:t>
            </a:r>
            <a:r>
              <a:rPr kumimoji="0" lang="zh-CN" altLang="en-US" b="1" kern="0" dirty="0"/>
              <a:t>树删除示例</a:t>
            </a:r>
            <a:endParaRPr kumimoji="0" lang="en-US" altLang="zh-CN" b="1" kern="0" dirty="0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9E52DC45-E15E-0D98-71F0-F8A482427670}"/>
              </a:ext>
            </a:extLst>
          </p:cNvPr>
          <p:cNvSpPr/>
          <p:nvPr/>
        </p:nvSpPr>
        <p:spPr bwMode="auto">
          <a:xfrm>
            <a:off x="5196819" y="3836030"/>
            <a:ext cx="648072" cy="567594"/>
          </a:xfrm>
          <a:prstGeom prst="ellipse">
            <a:avLst/>
          </a:prstGeom>
          <a:noFill/>
          <a:ln w="25400" cap="flat" cmpd="sng" algn="ctr">
            <a:solidFill>
              <a:srgbClr val="0000FF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  <a:cs typeface="Arial" charset="0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9E52DC45-E15E-0D98-71F0-F8A482427670}"/>
              </a:ext>
            </a:extLst>
          </p:cNvPr>
          <p:cNvSpPr/>
          <p:nvPr/>
        </p:nvSpPr>
        <p:spPr bwMode="auto">
          <a:xfrm>
            <a:off x="7777842" y="2570096"/>
            <a:ext cx="648072" cy="567594"/>
          </a:xfrm>
          <a:prstGeom prst="ellipse">
            <a:avLst/>
          </a:prstGeom>
          <a:noFill/>
          <a:ln w="25400" cap="flat" cmpd="sng" algn="ctr">
            <a:solidFill>
              <a:srgbClr val="0000FF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  <a:cs typeface="Arial" charset="0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80B9BF1-0A9F-F5FC-CCDD-A8F4CB6F05AD}"/>
              </a:ext>
            </a:extLst>
          </p:cNvPr>
          <p:cNvSpPr/>
          <p:nvPr/>
        </p:nvSpPr>
        <p:spPr bwMode="auto">
          <a:xfrm>
            <a:off x="3468627" y="2982936"/>
            <a:ext cx="648072" cy="567594"/>
          </a:xfrm>
          <a:prstGeom prst="ellipse">
            <a:avLst/>
          </a:prstGeom>
          <a:noFill/>
          <a:ln w="25400" cap="flat" cmpd="sng" algn="ctr">
            <a:solidFill>
              <a:srgbClr val="0000FF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  <a:cs typeface="Arial" charset="0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D6CF2C8-0E37-F3F4-6C80-833D25DBB47C}"/>
              </a:ext>
            </a:extLst>
          </p:cNvPr>
          <p:cNvSpPr/>
          <p:nvPr/>
        </p:nvSpPr>
        <p:spPr bwMode="auto">
          <a:xfrm>
            <a:off x="4671516" y="1532854"/>
            <a:ext cx="648072" cy="567594"/>
          </a:xfrm>
          <a:prstGeom prst="ellipse">
            <a:avLst/>
          </a:prstGeom>
          <a:noFill/>
          <a:ln w="25400" cap="flat" cmpd="sng" algn="ctr">
            <a:solidFill>
              <a:srgbClr val="0000FF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  <a:cs typeface="Arial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2" grpId="0" animBg="1"/>
      <p:bldP spid="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5">
            <a:extLst>
              <a:ext uri="{FF2B5EF4-FFF2-40B4-BE49-F238E27FC236}">
                <a16:creationId xmlns:a16="http://schemas.microsoft.com/office/drawing/2014/main" id="{958B34AF-74B3-A3DA-074A-2B4D215F2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9DC3339-634B-446E-AEE4-41B619C57060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US" altLang="zh-CN" sz="12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D3CFC5E3-63B1-A1CE-A393-6ED71E010F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7413" y="111994"/>
            <a:ext cx="7313613" cy="571500"/>
          </a:xfrm>
        </p:spPr>
        <p:txBody>
          <a:bodyPr/>
          <a:lstStyle/>
          <a:p>
            <a:pPr eaLnBrk="1" hangingPunct="1"/>
            <a:r>
              <a:rPr lang="en-US" altLang="zh-CN" b="1" dirty="0"/>
              <a:t>B</a:t>
            </a:r>
            <a:r>
              <a:rPr lang="en-US" altLang="zh-CN" b="1" baseline="30000" dirty="0"/>
              <a:t>+</a:t>
            </a:r>
            <a:r>
              <a:rPr lang="zh-CN" altLang="en-US" b="1" dirty="0"/>
              <a:t>树删除示例</a:t>
            </a:r>
            <a:r>
              <a:rPr lang="zh-CN" altLang="en-US" b="1" baseline="30000" dirty="0"/>
              <a:t>(续)</a:t>
            </a:r>
            <a:endParaRPr lang="en-US" altLang="zh-CN" b="1" dirty="0"/>
          </a:p>
        </p:txBody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B7D22AEC-CC8F-0FD5-DA31-4853203F62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874" y="5400209"/>
            <a:ext cx="8334375" cy="1197143"/>
          </a:xfrm>
        </p:spPr>
        <p:txBody>
          <a:bodyPr/>
          <a:lstStyle/>
          <a:p>
            <a:pPr eaLnBrk="1" hangingPunct="1"/>
            <a:r>
              <a:rPr lang="en-US" altLang="zh-CN" sz="2200" dirty="0"/>
              <a:t> </a:t>
            </a:r>
            <a:r>
              <a:rPr lang="zh-CN" altLang="en-US" sz="2200" dirty="0"/>
              <a:t>包含</a:t>
            </a:r>
            <a:r>
              <a:rPr lang="en-US" altLang="zh-CN" sz="2200" b="1" dirty="0">
                <a:latin typeface="Arial" panose="020B0604020202020204" pitchFamily="34" charset="0"/>
              </a:rPr>
              <a:t>“</a:t>
            </a:r>
            <a:r>
              <a:rPr lang="en-US" altLang="zh-CN" sz="2200" b="1" dirty="0"/>
              <a:t>Singh</a:t>
            </a:r>
            <a:r>
              <a:rPr lang="en-US" altLang="zh-CN" sz="2200" b="1" dirty="0">
                <a:latin typeface="Arial" panose="020B0604020202020204" pitchFamily="34" charset="0"/>
              </a:rPr>
              <a:t>”</a:t>
            </a:r>
            <a:r>
              <a:rPr lang="zh-CN" altLang="en-US" sz="2200" b="1" dirty="0">
                <a:latin typeface="Arial" panose="020B0604020202020204" pitchFamily="34" charset="0"/>
              </a:rPr>
              <a:t>和</a:t>
            </a:r>
            <a:r>
              <a:rPr lang="en-US" altLang="zh-CN" sz="2200" b="1" dirty="0">
                <a:latin typeface="Arial" panose="020B0604020202020204" pitchFamily="34" charset="0"/>
              </a:rPr>
              <a:t>“</a:t>
            </a:r>
            <a:r>
              <a:rPr lang="en-US" altLang="zh-CN" sz="2200" b="1" dirty="0"/>
              <a:t>Wu</a:t>
            </a:r>
            <a:r>
              <a:rPr lang="en-US" altLang="zh-CN" sz="2200" b="1" dirty="0">
                <a:latin typeface="Arial" panose="020B0604020202020204" pitchFamily="34" charset="0"/>
              </a:rPr>
              <a:t>”</a:t>
            </a:r>
            <a:r>
              <a:rPr lang="zh-CN" altLang="en-US" sz="2200" b="1" dirty="0">
                <a:latin typeface="Arial" panose="020B0604020202020204" pitchFamily="34" charset="0"/>
              </a:rPr>
              <a:t>的</a:t>
            </a:r>
            <a:r>
              <a:rPr lang="zh-CN" altLang="en-US" sz="2200" b="1" dirty="0"/>
              <a:t>结点变得不满，因此</a:t>
            </a:r>
            <a:r>
              <a:rPr lang="zh-CN" altLang="en-US" sz="2200" b="1" dirty="0">
                <a:solidFill>
                  <a:srgbClr val="0000FF"/>
                </a:solidFill>
              </a:rPr>
              <a:t>从其左侧兄弟结点</a:t>
            </a:r>
            <a:r>
              <a:rPr lang="zh-CN" altLang="en-US" sz="2200" b="1" u="sng" dirty="0"/>
              <a:t>借用一个值</a:t>
            </a:r>
            <a:r>
              <a:rPr lang="en-US" altLang="zh-CN" sz="2200" b="1" u="sng" dirty="0">
                <a:latin typeface="Arial" panose="020B0604020202020204" pitchFamily="34" charset="0"/>
              </a:rPr>
              <a:t>“</a:t>
            </a:r>
            <a:r>
              <a:rPr lang="en-US" altLang="zh-CN" sz="2200" b="1" u="sng" dirty="0"/>
              <a:t>Kim</a:t>
            </a:r>
            <a:r>
              <a:rPr lang="en-US" altLang="zh-CN" sz="2200" b="1" u="sng" dirty="0">
                <a:latin typeface="Arial" panose="020B0604020202020204" pitchFamily="34" charset="0"/>
              </a:rPr>
              <a:t>”</a:t>
            </a:r>
          </a:p>
          <a:p>
            <a:pPr eaLnBrk="1" hangingPunct="1"/>
            <a:r>
              <a:rPr lang="zh-CN" altLang="en-US" sz="2200" b="1" dirty="0">
                <a:solidFill>
                  <a:srgbClr val="0000FF"/>
                </a:solidFill>
              </a:rPr>
              <a:t>父结点的对应搜索码值也随之更新</a:t>
            </a:r>
            <a:endParaRPr lang="en-US" altLang="zh-CN" sz="2200" b="1" dirty="0">
              <a:solidFill>
                <a:srgbClr val="0000FF"/>
              </a:solidFill>
            </a:endParaRPr>
          </a:p>
        </p:txBody>
      </p:sp>
      <p:sp>
        <p:nvSpPr>
          <p:cNvPr id="35845" name="Text Box 4">
            <a:extLst>
              <a:ext uri="{FF2B5EF4-FFF2-40B4-BE49-F238E27FC236}">
                <a16:creationId xmlns:a16="http://schemas.microsoft.com/office/drawing/2014/main" id="{94034CD1-6EB0-C034-E924-EA98A43001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57" y="2699628"/>
            <a:ext cx="396134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i="0" dirty="0">
                <a:latin typeface="Helvetica" panose="020B0604020202020204" pitchFamily="34" charset="0"/>
              </a:rPr>
              <a:t>从前例中继续删除</a:t>
            </a:r>
            <a:r>
              <a:rPr lang="en-US" altLang="zh-CN" sz="1800" b="1" i="0" dirty="0">
                <a:latin typeface="Helvetica" panose="020B0604020202020204" pitchFamily="34" charset="0"/>
              </a:rPr>
              <a:t> “</a:t>
            </a:r>
            <a:r>
              <a:rPr kumimoji="0" lang="en-US" altLang="ja-JP" sz="1800" b="1" dirty="0"/>
              <a:t>Singh</a:t>
            </a:r>
            <a:r>
              <a:rPr lang="en-US" altLang="zh-CN" sz="1800" b="1" i="0" dirty="0">
                <a:latin typeface="Helvetica" panose="020B0604020202020204" pitchFamily="34" charset="0"/>
              </a:rPr>
              <a:t>”</a:t>
            </a:r>
            <a:r>
              <a:rPr lang="zh-CN" altLang="en-US" sz="1800" b="1" i="0" dirty="0">
                <a:latin typeface="Helvetica" panose="020B0604020202020204" pitchFamily="34" charset="0"/>
              </a:rPr>
              <a:t>和</a:t>
            </a:r>
            <a:r>
              <a:rPr lang="en-US" altLang="zh-CN" sz="1800" b="1" i="0" dirty="0">
                <a:latin typeface="Helvetica" panose="020B0604020202020204" pitchFamily="34" charset="0"/>
              </a:rPr>
              <a:t>“</a:t>
            </a:r>
            <a:r>
              <a:rPr kumimoji="0" lang="en-US" altLang="ja-JP" sz="1800" b="1" dirty="0"/>
              <a:t>Wu</a:t>
            </a:r>
            <a:r>
              <a:rPr lang="en-US" altLang="zh-CN" sz="1800" b="1" i="0" dirty="0">
                <a:latin typeface="Helvetica" panose="020B0604020202020204" pitchFamily="34" charset="0"/>
              </a:rPr>
              <a:t>”</a:t>
            </a:r>
          </a:p>
        </p:txBody>
      </p:sp>
      <p:sp>
        <p:nvSpPr>
          <p:cNvPr id="35851" name="Rectangle 0">
            <a:extLst>
              <a:ext uri="{FF2B5EF4-FFF2-40B4-BE49-F238E27FC236}">
                <a16:creationId xmlns:a16="http://schemas.microsoft.com/office/drawing/2014/main" id="{C283FE1C-9482-0F74-DEB2-9FD751032E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1600" y="4076254"/>
            <a:ext cx="350838" cy="3921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Helvetica" panose="020B0604020202020204" pitchFamily="34" charset="0"/>
            </a:endParaRPr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5C6D6FC9-D7D2-C4EE-7F71-373E4C466C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337" y="3078584"/>
            <a:ext cx="7751451" cy="2154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5">
            <a:extLst>
              <a:ext uri="{FF2B5EF4-FFF2-40B4-BE49-F238E27FC236}">
                <a16:creationId xmlns:a16="http://schemas.microsoft.com/office/drawing/2014/main" id="{80FB9071-E94E-8EBD-B782-CF31C97FAB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388" y="476672"/>
            <a:ext cx="7394575" cy="2065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Straight Arrow Connector 6">
            <a:extLst>
              <a:ext uri="{FF2B5EF4-FFF2-40B4-BE49-F238E27FC236}">
                <a16:creationId xmlns:a16="http://schemas.microsoft.com/office/drawing/2014/main" id="{4A74FF56-FC0B-80F8-AE57-CB51197EEDA8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7531026" y="2757909"/>
            <a:ext cx="603250" cy="582613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" name="Straight Arrow Connector 7">
            <a:extLst>
              <a:ext uri="{FF2B5EF4-FFF2-40B4-BE49-F238E27FC236}">
                <a16:creationId xmlns:a16="http://schemas.microsoft.com/office/drawing/2014/main" id="{AE0A4BE3-A4DF-3154-08B1-85790735CC3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732240" y="3719500"/>
            <a:ext cx="1300432" cy="849747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TextBox 8">
            <a:extLst>
              <a:ext uri="{FF2B5EF4-FFF2-40B4-BE49-F238E27FC236}">
                <a16:creationId xmlns:a16="http://schemas.microsoft.com/office/drawing/2014/main" id="{F5842688-7988-9E89-CF2A-9E3356E903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3357" y="3272531"/>
            <a:ext cx="16716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 dirty="0">
                <a:solidFill>
                  <a:srgbClr val="002060"/>
                </a:solidFill>
              </a:rPr>
              <a:t>Affected nodes</a:t>
            </a:r>
          </a:p>
        </p:txBody>
      </p:sp>
      <p:cxnSp>
        <p:nvCxnSpPr>
          <p:cNvPr id="7" name="Straight Arrow Connector 9">
            <a:extLst>
              <a:ext uri="{FF2B5EF4-FFF2-40B4-BE49-F238E27FC236}">
                <a16:creationId xmlns:a16="http://schemas.microsoft.com/office/drawing/2014/main" id="{0C01E469-24B2-A347-0275-F1B24094B7CE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829476" y="3716759"/>
            <a:ext cx="279400" cy="958850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椭圆 7">
            <a:extLst>
              <a:ext uri="{FF2B5EF4-FFF2-40B4-BE49-F238E27FC236}">
                <a16:creationId xmlns:a16="http://schemas.microsoft.com/office/drawing/2014/main" id="{C1808459-68E5-6243-56E4-DBFFCB1DBD33}"/>
              </a:ext>
            </a:extLst>
          </p:cNvPr>
          <p:cNvSpPr/>
          <p:nvPr/>
        </p:nvSpPr>
        <p:spPr bwMode="auto">
          <a:xfrm>
            <a:off x="5364088" y="3723394"/>
            <a:ext cx="648072" cy="567594"/>
          </a:xfrm>
          <a:prstGeom prst="ellipse">
            <a:avLst/>
          </a:prstGeom>
          <a:noFill/>
          <a:ln w="25400" cap="flat" cmpd="sng" algn="ctr">
            <a:solidFill>
              <a:srgbClr val="0000FF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  <a:cs typeface="Arial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020A6C84-0B4C-BC83-70B2-FC5720A64663}"/>
              </a:ext>
            </a:extLst>
          </p:cNvPr>
          <p:cNvSpPr/>
          <p:nvPr/>
        </p:nvSpPr>
        <p:spPr bwMode="auto">
          <a:xfrm>
            <a:off x="5220072" y="1123967"/>
            <a:ext cx="648072" cy="567594"/>
          </a:xfrm>
          <a:prstGeom prst="ellipse">
            <a:avLst/>
          </a:prstGeom>
          <a:noFill/>
          <a:ln w="25400" cap="flat" cmpd="sng" algn="ctr">
            <a:solidFill>
              <a:srgbClr val="0000FF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  <a:cs typeface="Arial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5">
            <a:extLst>
              <a:ext uri="{FF2B5EF4-FFF2-40B4-BE49-F238E27FC236}">
                <a16:creationId xmlns:a16="http://schemas.microsoft.com/office/drawing/2014/main" id="{E26B6C50-0BAD-2D73-01A3-10AC88DC1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D930D71-47DE-4477-A34C-89FA695A7E5B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US" altLang="zh-CN" sz="1200"/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49DFAD84-E9F3-E0EF-C28C-FABBE2CB85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4489" y="5032039"/>
            <a:ext cx="7848600" cy="1637321"/>
          </a:xfrm>
        </p:spPr>
        <p:txBody>
          <a:bodyPr/>
          <a:lstStyle/>
          <a:p>
            <a:pPr eaLnBrk="1" hangingPunct="1"/>
            <a:r>
              <a:rPr lang="zh-CN" altLang="en-US" sz="2000" b="1" dirty="0"/>
              <a:t>包含</a:t>
            </a:r>
            <a:r>
              <a:rPr lang="en-US" altLang="zh-CN" sz="2000" b="1" dirty="0"/>
              <a:t>Gold</a:t>
            </a:r>
            <a:r>
              <a:rPr lang="zh-CN" altLang="en-US" sz="2000" b="1" dirty="0"/>
              <a:t>和</a:t>
            </a:r>
            <a:r>
              <a:rPr lang="en-US" altLang="zh-CN" sz="2000" b="1" dirty="0"/>
              <a:t>Katz</a:t>
            </a:r>
            <a:r>
              <a:rPr lang="zh-CN" altLang="en-US" sz="2000" b="1" dirty="0"/>
              <a:t>的</a:t>
            </a:r>
            <a:r>
              <a:rPr lang="zh-CN" altLang="en-US" sz="2000" b="1" dirty="0">
                <a:solidFill>
                  <a:srgbClr val="0000FF"/>
                </a:solidFill>
              </a:rPr>
              <a:t>叶结点不满</a:t>
            </a:r>
            <a:r>
              <a:rPr lang="zh-CN" altLang="en-US" sz="2000" b="1" dirty="0"/>
              <a:t>，与其兄弟结点合并</a:t>
            </a:r>
            <a:endParaRPr lang="en-US" altLang="zh-CN" sz="2000" b="1" dirty="0"/>
          </a:p>
          <a:p>
            <a:pPr eaLnBrk="1" hangingPunct="1"/>
            <a:r>
              <a:rPr lang="zh-CN" altLang="en-US" sz="2000" b="1" dirty="0">
                <a:solidFill>
                  <a:srgbClr val="0000FF"/>
                </a:solidFill>
              </a:rPr>
              <a:t>父结点不满</a:t>
            </a:r>
            <a:r>
              <a:rPr lang="zh-CN" altLang="en-US" sz="2000" b="1" dirty="0"/>
              <a:t>，继续与其兄弟结点合并</a:t>
            </a:r>
            <a:endParaRPr lang="en-US" altLang="zh-CN" sz="2000" b="1" dirty="0"/>
          </a:p>
          <a:p>
            <a:pPr eaLnBrk="1" hangingPunct="1"/>
            <a:r>
              <a:rPr lang="zh-CN" altLang="en-US" sz="2000" b="1" dirty="0"/>
              <a:t>合并时，分隔两个结点（在父结点处）的值</a:t>
            </a:r>
            <a:r>
              <a:rPr lang="en-US" altLang="zh-CN" sz="2000" b="1" dirty="0"/>
              <a:t>Kim</a:t>
            </a:r>
            <a:r>
              <a:rPr lang="zh-CN" altLang="en-US" sz="2000" b="1" dirty="0"/>
              <a:t>被下推</a:t>
            </a:r>
            <a:endParaRPr lang="en-US" altLang="zh-CN" sz="2000" b="1" dirty="0"/>
          </a:p>
          <a:p>
            <a:pPr eaLnBrk="1" hangingPunct="1"/>
            <a:r>
              <a:rPr lang="zh-CN" altLang="en-US" sz="2000" b="1" dirty="0">
                <a:solidFill>
                  <a:srgbClr val="0000FF"/>
                </a:solidFill>
              </a:rPr>
              <a:t>根结点</a:t>
            </a:r>
            <a:r>
              <a:rPr lang="zh-CN" altLang="en-US" sz="2000" b="1" dirty="0"/>
              <a:t>只有一个指针，被删除，</a:t>
            </a:r>
            <a:r>
              <a:rPr lang="zh-CN" altLang="en-US" sz="2000" b="1" dirty="0">
                <a:sym typeface="Symbol" panose="05050102010706020507" pitchFamily="18" charset="2"/>
              </a:rPr>
              <a:t>其惟一子结点成为根</a:t>
            </a:r>
            <a:endParaRPr lang="en-US" altLang="zh-CN" sz="2000" b="1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B0A64AB-824C-45E8-53C4-0B97FD7D31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413" y="111994"/>
            <a:ext cx="7313613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0" lang="en-US" altLang="zh-CN" b="1" kern="0" dirty="0"/>
              <a:t>B</a:t>
            </a:r>
            <a:r>
              <a:rPr kumimoji="0" lang="en-US" altLang="zh-CN" b="1" kern="0" baseline="30000" dirty="0"/>
              <a:t>+</a:t>
            </a:r>
            <a:r>
              <a:rPr kumimoji="0" lang="zh-CN" altLang="en-US" b="1" kern="0" dirty="0"/>
              <a:t>树删除示例</a:t>
            </a:r>
            <a:r>
              <a:rPr lang="zh-CN" altLang="en-US" b="1" baseline="30000" dirty="0"/>
              <a:t>(续)</a:t>
            </a:r>
            <a:endParaRPr kumimoji="0" lang="en-US" altLang="zh-CN" b="1" kern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295F5C-1D76-9DD4-68F5-30922D0576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19" y="3317382"/>
            <a:ext cx="7386637" cy="1350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1A26C5-5652-53FD-F4E2-6B5EBDA4ED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609407"/>
            <a:ext cx="7832724" cy="2177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4">
            <a:extLst>
              <a:ext uri="{FF2B5EF4-FFF2-40B4-BE49-F238E27FC236}">
                <a16:creationId xmlns:a16="http://schemas.microsoft.com/office/drawing/2014/main" id="{FCC3FCDB-A079-3776-C7B3-BEA5A8C489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685" y="2867569"/>
            <a:ext cx="362310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i="0" dirty="0">
                <a:latin typeface="Helvetica" panose="020B0604020202020204" pitchFamily="34" charset="0"/>
              </a:rPr>
              <a:t>从前例中继续删除根结点</a:t>
            </a:r>
            <a:r>
              <a:rPr lang="en-US" altLang="zh-CN" sz="1800" b="1" i="0" dirty="0">
                <a:latin typeface="Helvetica" panose="020B0604020202020204" pitchFamily="34" charset="0"/>
              </a:rPr>
              <a:t> “</a:t>
            </a:r>
            <a:r>
              <a:rPr kumimoji="0" lang="en-US" altLang="ja-JP" sz="1800" b="1" dirty="0"/>
              <a:t>Gold</a:t>
            </a:r>
            <a:r>
              <a:rPr lang="en-US" altLang="zh-CN" sz="1800" b="1" i="0" dirty="0">
                <a:latin typeface="Helvetica" panose="020B0604020202020204" pitchFamily="34" charset="0"/>
              </a:rPr>
              <a:t>”</a:t>
            </a:r>
          </a:p>
        </p:txBody>
      </p:sp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5">
            <a:extLst>
              <a:ext uri="{FF2B5EF4-FFF2-40B4-BE49-F238E27FC236}">
                <a16:creationId xmlns:a16="http://schemas.microsoft.com/office/drawing/2014/main" id="{140AE762-1F1A-F153-E3C8-6298BBC6C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E1A6C26-693A-4C4D-8C57-FF2AA198379A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en-US" altLang="zh-CN" sz="1200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69721D09-CD62-59EB-4913-A0351F8228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dirty="0"/>
              <a:t>B</a:t>
            </a:r>
            <a:r>
              <a:rPr lang="en-US" altLang="zh-CN" b="1" baseline="30000" dirty="0"/>
              <a:t>+</a:t>
            </a:r>
            <a:r>
              <a:rPr lang="zh-CN" altLang="en-US" b="1" dirty="0"/>
              <a:t>树更新开销</a:t>
            </a:r>
            <a:endParaRPr lang="en-US" altLang="zh-CN" b="1" dirty="0"/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0CF22E69-0868-AF4E-1196-AE3F502487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405533"/>
            <a:ext cx="7691437" cy="4111699"/>
          </a:xfrm>
        </p:spPr>
        <p:txBody>
          <a:bodyPr/>
          <a:lstStyle/>
          <a:p>
            <a:pPr eaLnBrk="1" hangingPunct="1"/>
            <a:r>
              <a:rPr lang="zh-CN" altLang="en-US" sz="2500" b="1" dirty="0"/>
              <a:t>插入和删除</a:t>
            </a:r>
            <a:r>
              <a:rPr lang="zh-CN" altLang="en-US" sz="2500" b="1" dirty="0">
                <a:solidFill>
                  <a:srgbClr val="0000FF"/>
                </a:solidFill>
              </a:rPr>
              <a:t>单个搜索码值</a:t>
            </a:r>
            <a:r>
              <a:rPr lang="zh-CN" altLang="en-US" sz="2500" b="1" dirty="0"/>
              <a:t>的成本（</a:t>
            </a:r>
            <a:r>
              <a:rPr lang="en" altLang="zh-CN" sz="2500" b="1" dirty="0"/>
              <a:t>I/O </a:t>
            </a:r>
            <a:r>
              <a:rPr lang="zh-CN" altLang="en-US" sz="2500" b="1" dirty="0"/>
              <a:t>操作数）与</a:t>
            </a:r>
            <a:r>
              <a:rPr lang="zh-CN" altLang="en-US" sz="2500" b="1" dirty="0">
                <a:solidFill>
                  <a:srgbClr val="0000FF"/>
                </a:solidFill>
              </a:rPr>
              <a:t>树的高度</a:t>
            </a:r>
            <a:r>
              <a:rPr lang="zh-CN" altLang="en-US" sz="2500" b="1" dirty="0"/>
              <a:t>成正比</a:t>
            </a:r>
            <a:endParaRPr lang="en-US" altLang="zh-CN" sz="2500" b="1" dirty="0"/>
          </a:p>
          <a:p>
            <a:pPr eaLnBrk="1" hangingPunct="1"/>
            <a:r>
              <a:rPr lang="zh-CN" altLang="en-US" sz="2500" b="1" dirty="0"/>
              <a:t>若文件中有</a:t>
            </a:r>
            <a:r>
              <a:rPr lang="en-US" altLang="zh-CN" sz="2500" b="1" i="1" dirty="0"/>
              <a:t>K</a:t>
            </a:r>
            <a:r>
              <a:rPr lang="en-US" altLang="zh-CN" sz="2500" b="1" dirty="0"/>
              <a:t> </a:t>
            </a:r>
            <a:r>
              <a:rPr lang="zh-CN" altLang="en-US" sz="2500" b="1" dirty="0"/>
              <a:t>个搜索码值，则插入</a:t>
            </a:r>
            <a:r>
              <a:rPr lang="en-US" altLang="zh-CN" sz="2500" b="1" dirty="0"/>
              <a:t>/</a:t>
            </a:r>
            <a:r>
              <a:rPr lang="zh-CN" altLang="en-US" sz="2500" b="1" dirty="0"/>
              <a:t>删除的最坏情况复杂度为</a:t>
            </a:r>
            <a:r>
              <a:rPr lang="en-US" altLang="zh-CN" sz="2500" b="1" dirty="0">
                <a:sym typeface="Symbol" panose="05050102010706020507" pitchFamily="18" charset="2"/>
              </a:rPr>
              <a:t></a:t>
            </a:r>
            <a:r>
              <a:rPr lang="en-US" altLang="zh-CN" sz="2500" b="1" dirty="0" err="1">
                <a:sym typeface="Symbol" panose="05050102010706020507" pitchFamily="18" charset="2"/>
              </a:rPr>
              <a:t>log</a:t>
            </a:r>
            <a:r>
              <a:rPr lang="en-US" altLang="zh-CN" sz="2500" b="1" baseline="-25000" dirty="0" err="1">
                <a:sym typeface="Symbol" panose="05050102010706020507" pitchFamily="18" charset="2"/>
              </a:rPr>
              <a:t></a:t>
            </a:r>
            <a:r>
              <a:rPr lang="en-US" altLang="zh-CN" sz="2500" b="1" i="1" baseline="-25000" dirty="0" err="1">
                <a:sym typeface="Symbol" panose="05050102010706020507" pitchFamily="18" charset="2"/>
              </a:rPr>
              <a:t>n</a:t>
            </a:r>
            <a:r>
              <a:rPr lang="en-US" altLang="zh-CN" sz="2500" b="1" baseline="-25000" dirty="0">
                <a:sym typeface="Symbol" panose="05050102010706020507" pitchFamily="18" charset="2"/>
              </a:rPr>
              <a:t>/2</a:t>
            </a:r>
            <a:r>
              <a:rPr lang="en-US" altLang="zh-CN" sz="2500" b="1" dirty="0">
                <a:sym typeface="Symbol" panose="05050102010706020507" pitchFamily="18" charset="2"/>
              </a:rPr>
              <a:t>(</a:t>
            </a:r>
            <a:r>
              <a:rPr lang="en-US" altLang="zh-CN" sz="2500" b="1" i="1" dirty="0">
                <a:sym typeface="Symbol" panose="05050102010706020507" pitchFamily="18" charset="2"/>
              </a:rPr>
              <a:t>K</a:t>
            </a:r>
            <a:r>
              <a:rPr lang="en-US" altLang="zh-CN" sz="2500" b="1" dirty="0">
                <a:sym typeface="Symbol" panose="05050102010706020507" pitchFamily="18" charset="2"/>
              </a:rPr>
              <a:t>)</a:t>
            </a:r>
          </a:p>
          <a:p>
            <a:pPr eaLnBrk="1" hangingPunct="1"/>
            <a:r>
              <a:rPr lang="zh-CN" altLang="en-US" sz="2500" b="1" dirty="0">
                <a:sym typeface="Symbol" panose="05050102010706020507" pitchFamily="18" charset="2"/>
              </a:rPr>
              <a:t>实际上，</a:t>
            </a:r>
            <a:r>
              <a:rPr lang="en" altLang="zh-CN" sz="2500" b="1" dirty="0">
                <a:sym typeface="Symbol" panose="05050102010706020507" pitchFamily="18" charset="2"/>
              </a:rPr>
              <a:t>I/O </a:t>
            </a:r>
            <a:r>
              <a:rPr lang="zh-CN" altLang="en-US" sz="2500" b="1" dirty="0">
                <a:sym typeface="Symbol" panose="05050102010706020507" pitchFamily="18" charset="2"/>
              </a:rPr>
              <a:t>操作的次数较少：内部结点往往在缓冲区内，分割</a:t>
            </a:r>
            <a:r>
              <a:rPr lang="en-US" altLang="zh-CN" sz="2500" b="1" dirty="0">
                <a:sym typeface="Symbol" panose="05050102010706020507" pitchFamily="18" charset="2"/>
              </a:rPr>
              <a:t>/</a:t>
            </a:r>
            <a:r>
              <a:rPr lang="zh-CN" altLang="en-US" sz="2500" b="1" dirty="0">
                <a:sym typeface="Symbol" panose="05050102010706020507" pitchFamily="18" charset="2"/>
              </a:rPr>
              <a:t>合并很少，大多数插入</a:t>
            </a:r>
            <a:r>
              <a:rPr lang="en-US" altLang="zh-CN" sz="2500" b="1" dirty="0">
                <a:sym typeface="Symbol" panose="05050102010706020507" pitchFamily="18" charset="2"/>
              </a:rPr>
              <a:t>/</a:t>
            </a:r>
            <a:r>
              <a:rPr lang="zh-CN" altLang="en-US" sz="2500" b="1" dirty="0">
                <a:sym typeface="Symbol" panose="05050102010706020507" pitchFamily="18" charset="2"/>
              </a:rPr>
              <a:t>删除操作只影响叶结点</a:t>
            </a:r>
          </a:p>
          <a:p>
            <a:pPr eaLnBrk="1" hangingPunct="1"/>
            <a:r>
              <a:rPr lang="zh-CN" altLang="en-US" sz="2500" b="1" dirty="0">
                <a:sym typeface="Symbol" panose="05050102010706020507" pitchFamily="18" charset="2"/>
              </a:rPr>
              <a:t>平均结点占用率取决于插入顺序：随机插入时为 </a:t>
            </a:r>
            <a:r>
              <a:rPr lang="en-US" altLang="zh-CN" sz="2500" b="1" dirty="0">
                <a:sym typeface="Symbol" panose="05050102010706020507" pitchFamily="18" charset="2"/>
              </a:rPr>
              <a:t>2/3</a:t>
            </a:r>
            <a:r>
              <a:rPr lang="zh-CN" altLang="en-US" sz="2500" b="1" dirty="0">
                <a:sym typeface="Symbol" panose="05050102010706020507" pitchFamily="18" charset="2"/>
              </a:rPr>
              <a:t>，按排序插入时为 </a:t>
            </a:r>
            <a:r>
              <a:rPr lang="en-US" altLang="zh-CN" sz="2500" b="1" dirty="0">
                <a:sym typeface="Symbol" panose="05050102010706020507" pitchFamily="18" charset="2"/>
              </a:rPr>
              <a:t>½</a:t>
            </a:r>
            <a:endParaRPr lang="en-US" altLang="zh-CN" sz="2000" b="1" dirty="0"/>
          </a:p>
        </p:txBody>
      </p:sp>
    </p:spTree>
    <p:extLst>
      <p:ext uri="{BB962C8B-B14F-4D97-AF65-F5344CB8AC3E}">
        <p14:creationId xmlns:p14="http://schemas.microsoft.com/office/powerpoint/2010/main" val="3790963653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灯片编号占位符 5">
            <a:extLst>
              <a:ext uri="{FF2B5EF4-FFF2-40B4-BE49-F238E27FC236}">
                <a16:creationId xmlns:a16="http://schemas.microsoft.com/office/drawing/2014/main" id="{54AA19E8-39F8-888F-F120-72D3722EE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9E460C7-7254-4713-B93D-C09F357188F3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en-US" altLang="zh-CN" sz="1200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A4DE9127-3A2A-78E0-6EB1-071B7A4738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dirty="0"/>
              <a:t>B</a:t>
            </a:r>
            <a:r>
              <a:rPr lang="en-US" altLang="zh-CN" b="1" baseline="30000" dirty="0"/>
              <a:t>+</a:t>
            </a:r>
            <a:r>
              <a:rPr lang="zh-CN" altLang="en-US" b="1" dirty="0"/>
              <a:t>树文件组织（自学了解）</a:t>
            </a:r>
            <a:endParaRPr lang="en-US" altLang="zh-CN" b="1" dirty="0"/>
          </a:p>
        </p:txBody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13B40715-E1A1-69FD-30B9-6BEF443176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98398" y="1379480"/>
            <a:ext cx="8362950" cy="5094288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500" b="1" dirty="0"/>
              <a:t>可用</a:t>
            </a:r>
            <a:r>
              <a:rPr lang="en-US" altLang="zh-CN" sz="2500" b="1" dirty="0"/>
              <a:t>B</a:t>
            </a:r>
            <a:r>
              <a:rPr lang="en-US" altLang="zh-CN" sz="2500" b="1" baseline="30000" dirty="0"/>
              <a:t>+</a:t>
            </a:r>
            <a:r>
              <a:rPr lang="zh-CN" altLang="en-US" sz="2500" b="1" dirty="0"/>
              <a:t>树索引解决索引顺序文件随着数据的更新而性能降低的问题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500" b="1" dirty="0"/>
              <a:t>B</a:t>
            </a:r>
            <a:r>
              <a:rPr lang="en-US" altLang="zh-CN" sz="2500" b="1" baseline="30000" dirty="0"/>
              <a:t>+</a:t>
            </a:r>
            <a:r>
              <a:rPr lang="zh-CN" altLang="en-US" sz="2500" b="1" dirty="0"/>
              <a:t>树不仅仅作为索引使用，还</a:t>
            </a:r>
            <a:r>
              <a:rPr lang="zh-CN" altLang="en-US" sz="2500" b="1" dirty="0">
                <a:solidFill>
                  <a:srgbClr val="0000FF"/>
                </a:solidFill>
              </a:rPr>
              <a:t>可以</a:t>
            </a:r>
            <a:r>
              <a:rPr lang="zh-CN" altLang="en-US" sz="2500" b="1" dirty="0"/>
              <a:t>作为</a:t>
            </a:r>
            <a:r>
              <a:rPr lang="zh-CN" altLang="en-US" sz="2500" b="1" dirty="0">
                <a:solidFill>
                  <a:srgbClr val="0000FF"/>
                </a:solidFill>
              </a:rPr>
              <a:t>文件记录</a:t>
            </a:r>
            <a:r>
              <a:rPr lang="zh-CN" altLang="en-US" sz="2500" b="1" dirty="0"/>
              <a:t>的组织方式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500" b="1" dirty="0"/>
              <a:t>B</a:t>
            </a:r>
            <a:r>
              <a:rPr lang="en-US" altLang="zh-CN" sz="2500" b="1" baseline="30000" dirty="0"/>
              <a:t>+</a:t>
            </a:r>
            <a:r>
              <a:rPr lang="zh-CN" altLang="en-US" sz="2500" b="1" dirty="0"/>
              <a:t>树</a:t>
            </a:r>
            <a:r>
              <a:rPr lang="zh-CN" altLang="en-US" sz="2500" b="1" dirty="0">
                <a:solidFill>
                  <a:srgbClr val="0000FF"/>
                </a:solidFill>
              </a:rPr>
              <a:t>文件组织</a:t>
            </a:r>
            <a:r>
              <a:rPr lang="zh-CN" altLang="en-US" sz="2500" b="1" dirty="0"/>
              <a:t>中的</a:t>
            </a:r>
            <a:r>
              <a:rPr lang="zh-CN" altLang="en-US" sz="2500" b="1" dirty="0">
                <a:solidFill>
                  <a:srgbClr val="0000FF"/>
                </a:solidFill>
              </a:rPr>
              <a:t>叶结点存储数据记录</a:t>
            </a:r>
            <a:r>
              <a:rPr lang="zh-CN" altLang="en-US" sz="2500" b="1" dirty="0"/>
              <a:t>，而非指针</a:t>
            </a:r>
            <a:endParaRPr lang="en-US" altLang="zh-CN" sz="2500" b="1" dirty="0"/>
          </a:p>
          <a:p>
            <a:pPr eaLnBrk="1" hangingPunct="1">
              <a:lnSpc>
                <a:spcPct val="120000"/>
              </a:lnSpc>
            </a:pPr>
            <a:r>
              <a:rPr lang="zh-CN" altLang="en-US" sz="2500" b="1" dirty="0"/>
              <a:t>由于记录比指针大，叶结点中可存储的最大记录数小于非叶结点中的指针数</a:t>
            </a:r>
            <a:endParaRPr lang="en-US" altLang="zh-CN" sz="2500" b="1" dirty="0"/>
          </a:p>
          <a:p>
            <a:pPr eaLnBrk="1" hangingPunct="1">
              <a:lnSpc>
                <a:spcPct val="120000"/>
              </a:lnSpc>
            </a:pPr>
            <a:r>
              <a:rPr lang="zh-CN" altLang="en-US" sz="2500" b="1" dirty="0"/>
              <a:t>叶结点仍要求至少半满</a:t>
            </a:r>
            <a:endParaRPr lang="en-US" altLang="zh-CN" sz="2500" b="1" dirty="0"/>
          </a:p>
          <a:p>
            <a:pPr eaLnBrk="1" hangingPunct="1">
              <a:lnSpc>
                <a:spcPct val="120000"/>
              </a:lnSpc>
            </a:pPr>
            <a:r>
              <a:rPr lang="zh-CN" altLang="en-US" sz="2500" b="1" dirty="0"/>
              <a:t>插入与删除的处理方式与</a:t>
            </a:r>
            <a:r>
              <a:rPr lang="en-US" altLang="zh-CN" sz="2500" b="1" dirty="0"/>
              <a:t>B</a:t>
            </a:r>
            <a:r>
              <a:rPr lang="en-US" altLang="zh-CN" sz="2500" b="1" baseline="30000" dirty="0"/>
              <a:t>+</a:t>
            </a:r>
            <a:r>
              <a:rPr lang="zh-CN" altLang="en-US" sz="2500" b="1" dirty="0"/>
              <a:t>树索引中索引项的插入与删除类似</a:t>
            </a:r>
            <a:endParaRPr lang="en-US" altLang="zh-CN" sz="2500" b="1" dirty="0"/>
          </a:p>
        </p:txBody>
      </p:sp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灯片编号占位符 5">
            <a:extLst>
              <a:ext uri="{FF2B5EF4-FFF2-40B4-BE49-F238E27FC236}">
                <a16:creationId xmlns:a16="http://schemas.microsoft.com/office/drawing/2014/main" id="{54AA19E8-39F8-888F-F120-72D3722EE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9E460C7-7254-4713-B93D-C09F357188F3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lang="en-US" altLang="zh-CN" sz="1200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A4DE9127-3A2A-78E0-6EB1-071B7A4738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dirty="0"/>
              <a:t>B</a:t>
            </a:r>
            <a:r>
              <a:rPr lang="en-US" altLang="zh-CN" b="1" baseline="30000" dirty="0"/>
              <a:t>+</a:t>
            </a:r>
            <a:r>
              <a:rPr lang="zh-CN" altLang="en-US" b="1" dirty="0"/>
              <a:t>树的批量加载和自底向上构建（自学了解）</a:t>
            </a:r>
            <a:endParaRPr lang="en-US" altLang="zh-CN" b="1" dirty="0"/>
          </a:p>
        </p:txBody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13B40715-E1A1-69FD-30B9-6BEF443176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98398" y="1379480"/>
            <a:ext cx="8362950" cy="509428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500" b="1" dirty="0"/>
              <a:t>将每个值逐个插入 </a:t>
            </a:r>
            <a:r>
              <a:rPr lang="en" altLang="zh-CN" sz="2500" b="1" dirty="0"/>
              <a:t>B+ </a:t>
            </a:r>
            <a:r>
              <a:rPr lang="zh-CN" altLang="en-US" sz="2500" b="1" dirty="0"/>
              <a:t>树每次都需要 </a:t>
            </a:r>
            <a:r>
              <a:rPr lang="en-US" altLang="zh-CN" sz="2500" b="1" dirty="0"/>
              <a:t>1</a:t>
            </a:r>
            <a:r>
              <a:rPr lang="zh-CN" altLang="en-US" sz="2500" b="1" dirty="0"/>
              <a:t> 个</a:t>
            </a:r>
            <a:r>
              <a:rPr lang="en-US" altLang="zh-CN" sz="2500" b="1" dirty="0"/>
              <a:t> </a:t>
            </a:r>
            <a:r>
              <a:rPr lang="en" altLang="zh-CN" sz="2500" b="1" dirty="0"/>
              <a:t>IO</a:t>
            </a:r>
            <a:r>
              <a:rPr lang="zh-CN" altLang="en-US" sz="2500" b="1" dirty="0"/>
              <a:t>，如果一次加载大量条目（批量加载），效率会非常低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500" b="1" dirty="0"/>
              <a:t>高效方案 </a:t>
            </a:r>
            <a:r>
              <a:rPr lang="en-US" altLang="zh-CN" sz="2500" b="1" dirty="0"/>
              <a:t>1</a:t>
            </a:r>
            <a:r>
              <a:rPr lang="zh-CN" altLang="en-US" sz="2500" b="1" dirty="0"/>
              <a:t>：先对值排序</a:t>
            </a:r>
          </a:p>
          <a:p>
            <a:pPr marL="0" indent="0" eaLnBrk="1" hangingPunct="1">
              <a:lnSpc>
                <a:spcPct val="120000"/>
              </a:lnSpc>
              <a:buNone/>
            </a:pPr>
            <a:r>
              <a:rPr lang="zh-CN" altLang="en-US" sz="2500" b="1" dirty="0"/>
              <a:t>    按排序顺序插入，</a:t>
            </a:r>
            <a:r>
              <a:rPr lang="en-US" altLang="zh-CN" sz="2500" b="1" dirty="0"/>
              <a:t>IO </a:t>
            </a:r>
            <a:r>
              <a:rPr lang="zh-CN" altLang="en-US" sz="2500" b="1" dirty="0"/>
              <a:t>性能大大提高，但大多数叶结点都是半满的叶结点仍要求至少半满</a:t>
            </a:r>
            <a:endParaRPr lang="en-US" altLang="zh-CN" sz="2500" b="1" dirty="0"/>
          </a:p>
          <a:p>
            <a:pPr eaLnBrk="1" hangingPunct="1">
              <a:lnSpc>
                <a:spcPct val="120000"/>
              </a:lnSpc>
            </a:pPr>
            <a:r>
              <a:rPr lang="zh-CN" altLang="en-US" sz="2500" b="1" dirty="0"/>
              <a:t>高效方案 </a:t>
            </a:r>
            <a:r>
              <a:rPr lang="en-US" altLang="zh-CN" sz="2500" b="1" dirty="0"/>
              <a:t>2</a:t>
            </a:r>
            <a:r>
              <a:rPr lang="zh-CN" altLang="en-US" sz="2500" b="1" dirty="0"/>
              <a:t>：自下而上构建 </a:t>
            </a:r>
            <a:r>
              <a:rPr lang="en" altLang="zh-CN" sz="2500" b="1" dirty="0"/>
              <a:t>B+ </a:t>
            </a:r>
            <a:r>
              <a:rPr lang="zh-CN" altLang="en-US" sz="2500" b="1" dirty="0"/>
              <a:t>树</a:t>
            </a:r>
            <a:endParaRPr lang="en-US" altLang="zh-CN" sz="2500" b="1" dirty="0"/>
          </a:p>
          <a:p>
            <a:pPr marL="0" indent="0" eaLnBrk="1" hangingPunct="1">
              <a:lnSpc>
                <a:spcPct val="120000"/>
              </a:lnSpc>
              <a:buNone/>
            </a:pPr>
            <a:r>
              <a:rPr lang="zh-CN" altLang="en-US" sz="2500" b="1" dirty="0"/>
              <a:t>     与之前一样，对条目进行排序，然后逐层创建树，从叶级开始，这样可以保证</a:t>
            </a:r>
            <a:r>
              <a:rPr lang="en" altLang="zh-CN" sz="2500" b="1" dirty="0"/>
              <a:t>B+</a:t>
            </a:r>
            <a:r>
              <a:rPr lang="zh-CN" altLang="en-US" sz="2500" b="1" dirty="0"/>
              <a:t>树的使用率较高，</a:t>
            </a:r>
            <a:r>
              <a:rPr lang="zh-CN" altLang="en-US" sz="2500" b="1" dirty="0">
                <a:solidFill>
                  <a:srgbClr val="0000FF"/>
                </a:solidFill>
              </a:rPr>
              <a:t>大多数数据库系统都将其作为批量加载工具的一部分来实现</a:t>
            </a:r>
          </a:p>
        </p:txBody>
      </p:sp>
    </p:spTree>
    <p:extLst>
      <p:ext uri="{BB962C8B-B14F-4D97-AF65-F5344CB8AC3E}">
        <p14:creationId xmlns:p14="http://schemas.microsoft.com/office/powerpoint/2010/main" val="3216639074"/>
      </p:ext>
    </p:extLst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灯片编号占位符 5">
            <a:extLst>
              <a:ext uri="{FF2B5EF4-FFF2-40B4-BE49-F238E27FC236}">
                <a16:creationId xmlns:a16="http://schemas.microsoft.com/office/drawing/2014/main" id="{2320A00A-3A4C-06B1-00B5-6264FB7F6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C144745-FC00-4C6E-925E-445831D06AA5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lang="en-US" altLang="zh-CN" sz="1200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7B69D5BE-8AEB-E652-D710-21BEBEDA32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主要内容</a:t>
            </a:r>
            <a:endParaRPr lang="en-US" altLang="zh-CN" b="1"/>
          </a:p>
        </p:txBody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69BDC37B-3E74-B438-203E-58674FD738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3775" y="1412776"/>
            <a:ext cx="7458075" cy="5030787"/>
          </a:xfrm>
        </p:spPr>
        <p:txBody>
          <a:bodyPr/>
          <a:lstStyle/>
          <a:p>
            <a:pPr eaLnBrk="1" hangingPunct="1"/>
            <a:r>
              <a:rPr lang="zh-CN" altLang="en-US" sz="3300" b="1" dirty="0"/>
              <a:t>基本概念</a:t>
            </a:r>
            <a:endParaRPr lang="en-US" altLang="zh-CN" sz="3300" b="1" dirty="0"/>
          </a:p>
          <a:p>
            <a:pPr eaLnBrk="1" hangingPunct="1"/>
            <a:r>
              <a:rPr lang="zh-CN" altLang="en-US" sz="3300" b="1" dirty="0"/>
              <a:t>有序索引</a:t>
            </a:r>
            <a:endParaRPr lang="en-US" altLang="zh-CN" sz="3300" b="1" dirty="0"/>
          </a:p>
          <a:p>
            <a:pPr eaLnBrk="1" hangingPunct="1"/>
            <a:r>
              <a:rPr lang="en-US" altLang="zh-CN" sz="3300" b="1" dirty="0" err="1"/>
              <a:t>B</a:t>
            </a:r>
            <a:r>
              <a:rPr lang="en-US" altLang="zh-CN" sz="3300" b="1" baseline="30000" dirty="0" err="1"/>
              <a:t>+</a:t>
            </a:r>
            <a:r>
              <a:rPr lang="en-US" altLang="zh-CN" sz="3300" b="1" dirty="0" err="1"/>
              <a:t>Tree</a:t>
            </a:r>
            <a:r>
              <a:rPr lang="en-US" altLang="zh-CN" sz="3300" b="1" dirty="0"/>
              <a:t> </a:t>
            </a:r>
            <a:r>
              <a:rPr lang="zh-CN" altLang="en-US" sz="3300" b="1" dirty="0"/>
              <a:t>索引文件</a:t>
            </a:r>
            <a:endParaRPr lang="en-US" altLang="zh-CN" sz="3300" b="1" dirty="0"/>
          </a:p>
          <a:p>
            <a:pPr eaLnBrk="1" hangingPunct="1"/>
            <a:r>
              <a:rPr lang="zh-CN" altLang="en-US" sz="3300" b="1" dirty="0">
                <a:solidFill>
                  <a:srgbClr val="0000FF"/>
                </a:solidFill>
              </a:rPr>
              <a:t>散列索引</a:t>
            </a:r>
            <a:endParaRPr lang="en-US" altLang="zh-CN" sz="3300" b="1" dirty="0">
              <a:solidFill>
                <a:srgbClr val="0000FF"/>
              </a:solidFill>
            </a:endParaRPr>
          </a:p>
          <a:p>
            <a:pPr eaLnBrk="1" hangingPunct="1"/>
            <a:r>
              <a:rPr lang="zh-CN" altLang="en-US" sz="3300" b="1" dirty="0"/>
              <a:t>有序索引与散列的比较</a:t>
            </a:r>
            <a:endParaRPr lang="en-US" altLang="zh-CN" sz="3300" b="1" dirty="0"/>
          </a:p>
          <a:p>
            <a:pPr eaLnBrk="1" hangingPunct="1"/>
            <a:r>
              <a:rPr lang="en-US" altLang="zh-CN" sz="3300" b="1" dirty="0"/>
              <a:t>SQL</a:t>
            </a:r>
            <a:r>
              <a:rPr lang="zh-CN" altLang="en-US" sz="3300" b="1" dirty="0"/>
              <a:t>中的索引定义</a:t>
            </a:r>
          </a:p>
          <a:p>
            <a:pPr eaLnBrk="1" hangingPunct="1"/>
            <a:r>
              <a:rPr lang="zh-CN" altLang="en-US" sz="3300" b="1" dirty="0"/>
              <a:t>多码存取</a:t>
            </a:r>
            <a:endParaRPr lang="en-US" altLang="zh-CN" sz="3300" b="1" dirty="0"/>
          </a:p>
        </p:txBody>
      </p:sp>
    </p:spTree>
    <p:extLst>
      <p:ext uri="{BB962C8B-B14F-4D97-AF65-F5344CB8AC3E}">
        <p14:creationId xmlns:p14="http://schemas.microsoft.com/office/powerpoint/2010/main" val="163559807"/>
      </p:ext>
    </p:extLst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5">
            <a:extLst>
              <a:ext uri="{FF2B5EF4-FFF2-40B4-BE49-F238E27FC236}">
                <a16:creationId xmlns:a16="http://schemas.microsoft.com/office/drawing/2014/main" id="{3D464BE8-7674-7FBE-1DE6-36707DFAA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93F6FB7-A89C-45C5-874C-5034667FEFDB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41</a:t>
            </a:fld>
            <a:endParaRPr lang="en-US" altLang="zh-CN" sz="1200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A3C2B288-173F-0DB4-6840-151D2329DE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散列</a:t>
            </a:r>
            <a:r>
              <a:rPr lang="en-US" altLang="zh-CN" b="1" dirty="0"/>
              <a:t>(Hash)</a:t>
            </a:r>
            <a:r>
              <a:rPr lang="zh-CN" altLang="en-US" b="1" dirty="0"/>
              <a:t>数据索引</a:t>
            </a:r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FCCCCEB4-CCF3-572C-A2E8-7AAEF41997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4825" y="1487488"/>
            <a:ext cx="8315647" cy="521335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400" b="1" dirty="0"/>
              <a:t>一个</a:t>
            </a:r>
            <a:r>
              <a:rPr lang="zh-CN" altLang="en-US" sz="2400" b="1" dirty="0">
                <a:solidFill>
                  <a:srgbClr val="FF3300"/>
                </a:solidFill>
              </a:rPr>
              <a:t>桶</a:t>
            </a:r>
            <a:r>
              <a:rPr lang="zh-CN" altLang="en-US" sz="2400" b="1" dirty="0"/>
              <a:t>（</a:t>
            </a:r>
            <a:r>
              <a:rPr lang="en-US" altLang="zh-CN" sz="2400" b="1" dirty="0">
                <a:solidFill>
                  <a:srgbClr val="FF3300"/>
                </a:solidFill>
              </a:rPr>
              <a:t>bucket</a:t>
            </a:r>
            <a:r>
              <a:rPr lang="zh-CN" altLang="en-US" sz="2400" b="1" dirty="0">
                <a:solidFill>
                  <a:schemeClr val="tx2"/>
                </a:solidFill>
              </a:rPr>
              <a:t>）</a:t>
            </a:r>
            <a:r>
              <a:rPr lang="zh-CN" altLang="en-US" sz="2400" b="1" dirty="0"/>
              <a:t>是一个存储单元，包含</a:t>
            </a:r>
            <a:r>
              <a:rPr lang="zh-CN" altLang="en-US" sz="2400" b="1" dirty="0">
                <a:solidFill>
                  <a:srgbClr val="0000FF"/>
                </a:solidFill>
              </a:rPr>
              <a:t>一条</a:t>
            </a:r>
            <a:r>
              <a:rPr lang="zh-CN" altLang="en-US" sz="2400" b="1" dirty="0"/>
              <a:t>或者</a:t>
            </a:r>
            <a:r>
              <a:rPr lang="zh-CN" altLang="en-US" sz="2400" b="1" dirty="0">
                <a:solidFill>
                  <a:srgbClr val="0000FF"/>
                </a:solidFill>
              </a:rPr>
              <a:t>多条记</a:t>
            </a:r>
            <a:r>
              <a:rPr lang="zh-CN" altLang="en-US" sz="2400" b="1" dirty="0"/>
              <a:t>录</a:t>
            </a:r>
            <a:r>
              <a:rPr lang="en-US" altLang="zh-CN" sz="2400" b="1" dirty="0"/>
              <a:t> (</a:t>
            </a:r>
            <a:r>
              <a:rPr lang="zh-CN" altLang="en-US" sz="2400" b="1" dirty="0">
                <a:solidFill>
                  <a:srgbClr val="0000FF"/>
                </a:solidFill>
              </a:rPr>
              <a:t>桶的大小</a:t>
            </a:r>
            <a:r>
              <a:rPr lang="zh-CN" altLang="en-US" sz="2400" b="1" dirty="0"/>
              <a:t>一般是</a:t>
            </a:r>
            <a:r>
              <a:rPr lang="zh-CN" altLang="en-US" sz="2400" b="1" dirty="0">
                <a:solidFill>
                  <a:srgbClr val="0000FF"/>
                </a:solidFill>
              </a:rPr>
              <a:t>磁盘块大小</a:t>
            </a:r>
            <a:r>
              <a:rPr lang="en-US" altLang="zh-CN" sz="2400" b="1" dirty="0"/>
              <a:t>) 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 b="1" dirty="0"/>
              <a:t>令</a:t>
            </a:r>
            <a:r>
              <a:rPr lang="en-US" altLang="zh-CN" sz="2400" b="1" dirty="0"/>
              <a:t>B</a:t>
            </a:r>
            <a:r>
              <a:rPr lang="zh-CN" altLang="en-US" sz="2400" b="1" dirty="0"/>
              <a:t>表示所有桶的集合，</a:t>
            </a:r>
            <a:r>
              <a:rPr lang="en-US" altLang="zh-CN" sz="2400" b="1" dirty="0"/>
              <a:t>K</a:t>
            </a:r>
            <a:r>
              <a:rPr lang="zh-CN" altLang="en-US" sz="2400" b="1" dirty="0"/>
              <a:t>表示搜索码值集合，则散列函数（</a:t>
            </a:r>
            <a:r>
              <a:rPr lang="en-US" altLang="zh-CN" sz="2400" b="1" dirty="0"/>
              <a:t>hash function</a:t>
            </a:r>
            <a:r>
              <a:rPr lang="zh-CN" altLang="en-US" sz="2400" b="1" dirty="0"/>
              <a:t>）</a:t>
            </a:r>
            <a:r>
              <a:rPr lang="en-US" altLang="zh-CN" sz="2400" b="1" dirty="0"/>
              <a:t>h</a:t>
            </a:r>
            <a:r>
              <a:rPr lang="zh-CN" altLang="en-US" sz="2400" b="1" dirty="0"/>
              <a:t>即定义为</a:t>
            </a:r>
            <a:r>
              <a:rPr lang="en-US" altLang="zh-CN" sz="2400" b="1" dirty="0"/>
              <a:t>K</a:t>
            </a:r>
            <a:r>
              <a:rPr lang="zh-CN" altLang="en-US" sz="2400" b="1" dirty="0"/>
              <a:t>到</a:t>
            </a:r>
            <a:r>
              <a:rPr lang="en-US" altLang="zh-CN" sz="2400" b="1" dirty="0"/>
              <a:t>B</a:t>
            </a:r>
            <a:r>
              <a:rPr lang="zh-CN" altLang="en-US" sz="2400" b="1" dirty="0"/>
              <a:t>的函数</a:t>
            </a:r>
            <a:endParaRPr lang="en-US" altLang="zh-CN" sz="2400" b="1" dirty="0"/>
          </a:p>
          <a:p>
            <a:pPr eaLnBrk="1" hangingPunct="1">
              <a:lnSpc>
                <a:spcPct val="120000"/>
              </a:lnSpc>
            </a:pPr>
            <a:r>
              <a:rPr lang="zh-CN" altLang="en-US" sz="2400" b="1" dirty="0"/>
              <a:t>利用</a:t>
            </a:r>
            <a:r>
              <a:rPr lang="en-US" altLang="zh-CN" sz="2400" b="1" dirty="0">
                <a:solidFill>
                  <a:srgbClr val="0000FF"/>
                </a:solidFill>
              </a:rPr>
              <a:t>hash</a:t>
            </a:r>
            <a:r>
              <a:rPr lang="zh-CN" altLang="en-US" sz="2400" b="1" dirty="0">
                <a:solidFill>
                  <a:srgbClr val="0000FF"/>
                </a:solidFill>
              </a:rPr>
              <a:t>文件</a:t>
            </a:r>
            <a:r>
              <a:rPr lang="zh-CN" altLang="en-US" sz="2400" b="1" dirty="0"/>
              <a:t>组织：根据搜索码的值，利用</a:t>
            </a:r>
            <a:r>
              <a:rPr lang="en-US" altLang="zh-CN" sz="2400" b="1" dirty="0">
                <a:solidFill>
                  <a:srgbClr val="FF3300"/>
                </a:solidFill>
              </a:rPr>
              <a:t>Hash</a:t>
            </a:r>
            <a:r>
              <a:rPr lang="zh-CN" altLang="en-US" sz="2400" b="1" dirty="0">
                <a:solidFill>
                  <a:srgbClr val="FF3300"/>
                </a:solidFill>
              </a:rPr>
              <a:t>函数</a:t>
            </a:r>
            <a:r>
              <a:rPr lang="zh-CN" altLang="en-US" sz="2400" b="1" dirty="0"/>
              <a:t>，直接得到</a:t>
            </a:r>
            <a:r>
              <a:rPr lang="zh-CN" altLang="en-US" sz="2400" b="1" dirty="0">
                <a:solidFill>
                  <a:srgbClr val="0000FF"/>
                </a:solidFill>
              </a:rPr>
              <a:t>搜索码</a:t>
            </a:r>
            <a:r>
              <a:rPr lang="zh-CN" altLang="en-US" sz="2400" b="1" dirty="0"/>
              <a:t>所在的</a:t>
            </a:r>
            <a:r>
              <a:rPr lang="zh-CN" altLang="en-US" sz="2400" b="1" dirty="0">
                <a:solidFill>
                  <a:srgbClr val="0000FF"/>
                </a:solidFill>
              </a:rPr>
              <a:t>桶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 b="1" dirty="0"/>
              <a:t>带有</a:t>
            </a:r>
            <a:r>
              <a:rPr lang="zh-CN" altLang="en-US" sz="2400" b="1" dirty="0">
                <a:solidFill>
                  <a:srgbClr val="0000FF"/>
                </a:solidFill>
              </a:rPr>
              <a:t>不同搜索码值</a:t>
            </a:r>
            <a:r>
              <a:rPr lang="zh-CN" altLang="en-US" sz="2400" b="1" dirty="0">
                <a:solidFill>
                  <a:srgbClr val="FF0000"/>
                </a:solidFill>
              </a:rPr>
              <a:t>记录的元组</a:t>
            </a:r>
            <a:r>
              <a:rPr lang="zh-CN" altLang="en-US" sz="2400" b="1" dirty="0"/>
              <a:t>能够</a:t>
            </a:r>
            <a:r>
              <a:rPr lang="zh-CN" altLang="en-US" sz="2400" b="1" dirty="0">
                <a:solidFill>
                  <a:srgbClr val="006600"/>
                </a:solidFill>
              </a:rPr>
              <a:t>映射</a:t>
            </a:r>
            <a:r>
              <a:rPr lang="zh-CN" altLang="en-US" sz="2400" b="1" dirty="0"/>
              <a:t>到</a:t>
            </a:r>
            <a:r>
              <a:rPr lang="zh-CN" altLang="en-US" sz="2400" b="1" dirty="0">
                <a:solidFill>
                  <a:srgbClr val="0000FF"/>
                </a:solidFill>
              </a:rPr>
              <a:t>同一个桶</a:t>
            </a:r>
            <a:r>
              <a:rPr lang="zh-CN" altLang="en-US" sz="2400" b="1" dirty="0"/>
              <a:t>中，因此桶中的所有数据需要被顺序扫描以定位一条记录</a:t>
            </a:r>
            <a:endParaRPr lang="en-US" altLang="zh-CN" sz="2400" b="1" dirty="0"/>
          </a:p>
        </p:txBody>
      </p:sp>
    </p:spTree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5">
            <a:extLst>
              <a:ext uri="{FF2B5EF4-FFF2-40B4-BE49-F238E27FC236}">
                <a16:creationId xmlns:a16="http://schemas.microsoft.com/office/drawing/2014/main" id="{6B5A5235-5E54-0F00-2257-4767D250F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01B7039-1CA2-4ECC-9F12-3BD22B8A33FB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42</a:t>
            </a:fld>
            <a:endParaRPr lang="en-US" altLang="zh-CN" sz="1200"/>
          </a:p>
        </p:txBody>
      </p:sp>
      <p:sp>
        <p:nvSpPr>
          <p:cNvPr id="40965" name="Text Box 4">
            <a:extLst>
              <a:ext uri="{FF2B5EF4-FFF2-40B4-BE49-F238E27FC236}">
                <a16:creationId xmlns:a16="http://schemas.microsoft.com/office/drawing/2014/main" id="{802040CD-D5A1-7377-03D4-5C5C476DF9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883" y="2132856"/>
            <a:ext cx="2889973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 typeface="Wingdings" panose="05000000000000000000" pitchFamily="2" charset="2"/>
              <a:buChar char="l"/>
            </a:pPr>
            <a:r>
              <a:rPr lang="zh-CN" altLang="en-US" sz="2000" b="1" i="0" dirty="0">
                <a:latin typeface="Helvetica" panose="020B0604020202020204" pitchFamily="34" charset="0"/>
              </a:rPr>
              <a:t>利用</a:t>
            </a:r>
            <a:r>
              <a:rPr lang="en-US" altLang="en-US" sz="2000" b="1" dirty="0" err="1">
                <a:latin typeface="Helvetica" panose="020B0604020202020204" pitchFamily="34" charset="0"/>
              </a:rPr>
              <a:t>dept_name</a:t>
            </a:r>
            <a:r>
              <a:rPr lang="zh-CN" altLang="en-US" sz="2000" b="1" dirty="0">
                <a:latin typeface="Helvetica" panose="020B0604020202020204" pitchFamily="34" charset="0"/>
              </a:rPr>
              <a:t>作为</a:t>
            </a:r>
            <a:r>
              <a:rPr lang="zh-CN" altLang="en-US" sz="2000" b="1" dirty="0">
                <a:solidFill>
                  <a:srgbClr val="0000FF"/>
                </a:solidFill>
                <a:latin typeface="Helvetica" panose="020B0604020202020204" pitchFamily="34" charset="0"/>
              </a:rPr>
              <a:t>搜索码</a:t>
            </a:r>
            <a:r>
              <a:rPr lang="zh-CN" altLang="en-US" sz="2000" b="1" dirty="0">
                <a:latin typeface="Helvetica" panose="020B0604020202020204" pitchFamily="34" charset="0"/>
              </a:rPr>
              <a:t>，</a:t>
            </a:r>
            <a:r>
              <a:rPr lang="en-US" altLang="zh-CN" sz="2000" b="1" dirty="0">
                <a:solidFill>
                  <a:srgbClr val="0000FF"/>
                </a:solidFill>
                <a:latin typeface="Helvetica" panose="020B0604020202020204" pitchFamily="34" charset="0"/>
              </a:rPr>
              <a:t>Instructor</a:t>
            </a:r>
            <a:r>
              <a:rPr lang="zh-CN" altLang="en-US" sz="2000" b="1" dirty="0">
                <a:solidFill>
                  <a:srgbClr val="0000FF"/>
                </a:solidFill>
                <a:latin typeface="Helvetica" panose="020B0604020202020204" pitchFamily="34" charset="0"/>
              </a:rPr>
              <a:t>数据文件</a:t>
            </a:r>
          </a:p>
          <a:p>
            <a:pPr algn="l">
              <a:spcBef>
                <a:spcPct val="0"/>
              </a:spcBef>
              <a:buClrTx/>
              <a:buSzTx/>
              <a:buFont typeface="Wingdings" panose="05000000000000000000" pitchFamily="2" charset="2"/>
              <a:buChar char="l"/>
            </a:pPr>
            <a:r>
              <a:rPr lang="en-US" altLang="zh-CN" sz="2000" b="1" dirty="0">
                <a:latin typeface="Helvetica" panose="020B0604020202020204" pitchFamily="34" charset="0"/>
              </a:rPr>
              <a:t>h(</a:t>
            </a:r>
            <a:r>
              <a:rPr lang="en-US" altLang="en-US" sz="2000" b="1" dirty="0" err="1">
                <a:latin typeface="Helvetica" panose="020B0604020202020204" pitchFamily="34" charset="0"/>
              </a:rPr>
              <a:t>dept_name</a:t>
            </a:r>
            <a:r>
              <a:rPr lang="en-US" altLang="zh-CN" sz="2000" b="1" i="0" dirty="0">
                <a:latin typeface="Helvetica" panose="020B0604020202020204" pitchFamily="34" charset="0"/>
              </a:rPr>
              <a:t>)</a:t>
            </a:r>
            <a:r>
              <a:rPr lang="zh-CN" altLang="en-US" sz="2000" b="1" i="0" dirty="0">
                <a:latin typeface="Helvetica" panose="020B0604020202020204" pitchFamily="34" charset="0"/>
              </a:rPr>
              <a:t>获得桶地址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D52F65D-319B-FEAF-6CB7-1431E87001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81000"/>
            <a:ext cx="841432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zh-CN" altLang="en-US" b="1" dirty="0">
                <a:solidFill>
                  <a:srgbClr val="0000FF"/>
                </a:solidFill>
              </a:rPr>
              <a:t>散列文件</a:t>
            </a:r>
            <a:r>
              <a:rPr lang="zh-CN" altLang="en-US" b="1" dirty="0"/>
              <a:t>组织</a:t>
            </a:r>
            <a:r>
              <a:rPr lang="en-US" altLang="zh-CN" b="1" dirty="0"/>
              <a:t>(hash file organization)</a:t>
            </a:r>
            <a:r>
              <a:rPr lang="zh-CN" altLang="en-US" b="1" dirty="0"/>
              <a:t>示例</a:t>
            </a:r>
            <a:endParaRPr kumimoji="0" lang="zh-CN" altLang="en-US" b="1" kern="0" dirty="0"/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B4FF3BD3-B45D-BA15-D7CA-18E418D3B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8888" y="1539088"/>
            <a:ext cx="5627687" cy="44499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9E52DC45-E15E-0D98-71F0-F8A482427670}"/>
              </a:ext>
            </a:extLst>
          </p:cNvPr>
          <p:cNvSpPr/>
          <p:nvPr/>
        </p:nvSpPr>
        <p:spPr bwMode="auto">
          <a:xfrm>
            <a:off x="4139952" y="5013176"/>
            <a:ext cx="1008111" cy="864096"/>
          </a:xfrm>
          <a:prstGeom prst="ellipse">
            <a:avLst/>
          </a:prstGeom>
          <a:noFill/>
          <a:ln w="25400" cap="flat" cmpd="sng" algn="ctr">
            <a:solidFill>
              <a:srgbClr val="0000FF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  <a:cs typeface="Arial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6">
            <a:extLst>
              <a:ext uri="{FF2B5EF4-FFF2-40B4-BE49-F238E27FC236}">
                <a16:creationId xmlns:a16="http://schemas.microsoft.com/office/drawing/2014/main" id="{5E056E26-484B-DA4B-013A-3D260C0EF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B4E0897-7E13-4632-B91A-0B8EB9180B89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43</a:t>
            </a:fld>
            <a:endParaRPr lang="en-US" altLang="zh-CN" sz="1200"/>
          </a:p>
        </p:txBody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8CED056A-8A0B-1DF3-82C7-CA9FED5FCD0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755576" y="1450975"/>
            <a:ext cx="7776864" cy="50212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500" b="1" dirty="0"/>
              <a:t>Hash</a:t>
            </a:r>
            <a:r>
              <a:rPr lang="zh-CN" altLang="en-US" sz="2500" b="1" dirty="0">
                <a:solidFill>
                  <a:srgbClr val="0000FF"/>
                </a:solidFill>
              </a:rPr>
              <a:t>函数的设计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1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最坏情况</a:t>
            </a:r>
            <a:r>
              <a:rPr lang="zh-CN" altLang="en-US" sz="2100" b="1" dirty="0"/>
              <a:t>：</a:t>
            </a:r>
            <a:r>
              <a:rPr lang="zh-CN" altLang="en-US" sz="2100" b="1" dirty="0">
                <a:solidFill>
                  <a:srgbClr val="0000FF"/>
                </a:solidFill>
              </a:rPr>
              <a:t>所有搜索码</a:t>
            </a:r>
            <a:r>
              <a:rPr lang="zh-CN" altLang="en-US" sz="2100" b="1" dirty="0"/>
              <a:t>都映射到</a:t>
            </a:r>
            <a:r>
              <a:rPr lang="zh-CN" altLang="en-US" sz="2100" b="1" dirty="0">
                <a:solidFill>
                  <a:srgbClr val="0000FF"/>
                </a:solidFill>
              </a:rPr>
              <a:t>同一个桶</a:t>
            </a:r>
            <a:r>
              <a:rPr lang="zh-CN" altLang="en-US" sz="2100" b="1" dirty="0"/>
              <a:t>中，检索一条记录需要</a:t>
            </a:r>
            <a:r>
              <a:rPr lang="zh-CN" altLang="en-US" sz="2100" b="1" dirty="0">
                <a:solidFill>
                  <a:srgbClr val="0000FF"/>
                </a:solidFill>
              </a:rPr>
              <a:t>扫描所有记录</a:t>
            </a:r>
            <a:endParaRPr lang="en-US" altLang="zh-CN" sz="2100" b="1" dirty="0">
              <a:solidFill>
                <a:srgbClr val="0000FF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sz="2100" b="1" dirty="0"/>
              <a:t>一个糟糕的</a:t>
            </a:r>
            <a:r>
              <a:rPr lang="en-US" altLang="zh-CN" sz="2100" b="1" dirty="0"/>
              <a:t>Hash</a:t>
            </a:r>
            <a:r>
              <a:rPr lang="zh-CN" altLang="en-US" sz="2100" b="1" dirty="0"/>
              <a:t>函数的设计，导致数据查找的时间和文件中搜索码数目成正比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1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最好情况</a:t>
            </a:r>
            <a:r>
              <a:rPr lang="zh-CN" altLang="en-US" sz="2100" b="1" dirty="0"/>
              <a:t>：不管实际情况下搜索码值如何分布，</a:t>
            </a:r>
            <a:r>
              <a:rPr lang="zh-CN" altLang="en-US" sz="2100" b="1" dirty="0">
                <a:solidFill>
                  <a:srgbClr val="0000FF"/>
                </a:solidFill>
              </a:rPr>
              <a:t>每个桶</a:t>
            </a:r>
            <a:r>
              <a:rPr lang="zh-CN" altLang="en-US" sz="2100" b="1" dirty="0"/>
              <a:t>中分配的</a:t>
            </a:r>
            <a:r>
              <a:rPr lang="zh-CN" altLang="en-US" sz="2100" b="1" dirty="0">
                <a:solidFill>
                  <a:srgbClr val="0000FF"/>
                </a:solidFill>
              </a:rPr>
              <a:t>搜索码值</a:t>
            </a:r>
            <a:r>
              <a:rPr lang="zh-CN" altLang="en-US" sz="2100" b="1" dirty="0"/>
              <a:t>应该</a:t>
            </a:r>
            <a:r>
              <a:rPr lang="zh-CN" altLang="en-US" sz="2100" b="1" dirty="0">
                <a:solidFill>
                  <a:srgbClr val="0000FF"/>
                </a:solidFill>
              </a:rPr>
              <a:t>几乎相同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100" b="1" dirty="0"/>
              <a:t>根据</a:t>
            </a:r>
            <a:r>
              <a:rPr lang="zh-CN" altLang="en-US" sz="2100" b="1" dirty="0">
                <a:solidFill>
                  <a:srgbClr val="0000FF"/>
                </a:solidFill>
              </a:rPr>
              <a:t>设计良好的</a:t>
            </a:r>
            <a:r>
              <a:rPr lang="en-US" altLang="zh-CN" sz="2100" b="1" dirty="0">
                <a:solidFill>
                  <a:srgbClr val="0000FF"/>
                </a:solidFill>
              </a:rPr>
              <a:t>Hash</a:t>
            </a:r>
            <a:r>
              <a:rPr lang="zh-CN" altLang="en-US" sz="2100" b="1" dirty="0">
                <a:solidFill>
                  <a:srgbClr val="0000FF"/>
                </a:solidFill>
              </a:rPr>
              <a:t>函数</a:t>
            </a:r>
            <a:r>
              <a:rPr lang="zh-CN" altLang="en-US" sz="2100" b="1" dirty="0"/>
              <a:t>，数据查找的时间是常数的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500" b="1" dirty="0"/>
              <a:t>Hash</a:t>
            </a:r>
            <a:r>
              <a:rPr lang="zh-CN" altLang="en-US" sz="2500" b="1" dirty="0"/>
              <a:t>可以用于</a:t>
            </a:r>
            <a:r>
              <a:rPr lang="zh-CN" altLang="en-US" sz="2500" b="1" dirty="0">
                <a:solidFill>
                  <a:srgbClr val="0000FF"/>
                </a:solidFill>
              </a:rPr>
              <a:t>文件组织</a:t>
            </a:r>
            <a:r>
              <a:rPr lang="zh-CN" altLang="en-US" sz="2500" b="1" dirty="0"/>
              <a:t>和</a:t>
            </a:r>
            <a:r>
              <a:rPr lang="zh-CN" altLang="en-US" sz="2500" b="1" dirty="0">
                <a:solidFill>
                  <a:srgbClr val="0000FF"/>
                </a:solidFill>
              </a:rPr>
              <a:t>索引结构</a:t>
            </a:r>
            <a:r>
              <a:rPr lang="zh-CN" altLang="en-US" sz="2500" b="1" dirty="0"/>
              <a:t>的构建</a:t>
            </a:r>
            <a:endParaRPr lang="en-US" altLang="zh-CN" sz="2500" b="1" dirty="0"/>
          </a:p>
          <a:p>
            <a:pPr eaLnBrk="1" hangingPunct="1">
              <a:lnSpc>
                <a:spcPct val="90000"/>
              </a:lnSpc>
            </a:pPr>
            <a:r>
              <a:rPr lang="en-US" altLang="zh-CN" sz="2500" b="1" dirty="0">
                <a:solidFill>
                  <a:srgbClr val="C00000"/>
                </a:solidFill>
              </a:rPr>
              <a:t>Hash</a:t>
            </a:r>
            <a:r>
              <a:rPr lang="zh-CN" altLang="en-US" sz="2500" b="1" dirty="0">
                <a:solidFill>
                  <a:srgbClr val="C00000"/>
                </a:solidFill>
              </a:rPr>
              <a:t>索引</a:t>
            </a:r>
            <a:r>
              <a:rPr lang="zh-CN" altLang="en-US" sz="2500" b="1" dirty="0"/>
              <a:t>：将</a:t>
            </a:r>
            <a:r>
              <a:rPr lang="zh-CN" altLang="en-US" sz="2500" b="1" dirty="0">
                <a:solidFill>
                  <a:srgbClr val="0000FF"/>
                </a:solidFill>
              </a:rPr>
              <a:t>搜索码</a:t>
            </a:r>
            <a:r>
              <a:rPr lang="zh-CN" altLang="en-US" sz="2500" b="1" dirty="0"/>
              <a:t>和</a:t>
            </a:r>
            <a:r>
              <a:rPr lang="zh-CN" altLang="en-US" sz="2500" b="1" dirty="0">
                <a:solidFill>
                  <a:srgbClr val="0000FF"/>
                </a:solidFill>
              </a:rPr>
              <a:t>记录指针</a:t>
            </a:r>
            <a:r>
              <a:rPr lang="zh-CN" altLang="en-US" sz="2500" b="1" dirty="0"/>
              <a:t>，放到一个</a:t>
            </a:r>
            <a:r>
              <a:rPr lang="en-US" altLang="zh-CN" sz="2500" b="1" dirty="0">
                <a:solidFill>
                  <a:srgbClr val="0000FF"/>
                </a:solidFill>
              </a:rPr>
              <a:t>Hash</a:t>
            </a:r>
            <a:r>
              <a:rPr lang="zh-CN" altLang="en-US" sz="2500" b="1" dirty="0">
                <a:solidFill>
                  <a:srgbClr val="0000FF"/>
                </a:solidFill>
              </a:rPr>
              <a:t>文件结构</a:t>
            </a:r>
            <a:r>
              <a:rPr lang="zh-CN" altLang="en-US" sz="2500" b="1" dirty="0"/>
              <a:t>中</a:t>
            </a:r>
            <a:endParaRPr lang="en-US" altLang="zh-CN" sz="2500" b="1" dirty="0"/>
          </a:p>
          <a:p>
            <a:pPr eaLnBrk="1" hangingPunct="1">
              <a:lnSpc>
                <a:spcPct val="90000"/>
              </a:lnSpc>
            </a:pPr>
            <a:r>
              <a:rPr lang="en-US" altLang="zh-CN" sz="2500" b="1" dirty="0"/>
              <a:t>Hash</a:t>
            </a:r>
            <a:r>
              <a:rPr lang="zh-CN" altLang="en-US" sz="2500" b="1" dirty="0"/>
              <a:t>索引通常是</a:t>
            </a:r>
            <a:r>
              <a:rPr lang="zh-CN" altLang="en-US" sz="2500" b="1" dirty="0">
                <a:solidFill>
                  <a:srgbClr val="C00000"/>
                </a:solidFill>
              </a:rPr>
              <a:t>辅助索引</a:t>
            </a:r>
            <a:endParaRPr lang="en-US" altLang="zh-CN" sz="2500" b="1" dirty="0">
              <a:solidFill>
                <a:srgbClr val="C00000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sz="2100" b="1" dirty="0"/>
              <a:t>如果一个</a:t>
            </a:r>
            <a:r>
              <a:rPr lang="zh-CN" altLang="en-US" sz="2100" b="1" dirty="0">
                <a:solidFill>
                  <a:srgbClr val="0000FF"/>
                </a:solidFill>
              </a:rPr>
              <a:t>数据文件</a:t>
            </a:r>
            <a:r>
              <a:rPr lang="zh-CN" altLang="en-US" sz="2100" b="1" dirty="0"/>
              <a:t>是</a:t>
            </a:r>
            <a:r>
              <a:rPr lang="zh-CN" altLang="en-US" sz="2100" b="1" dirty="0">
                <a:solidFill>
                  <a:srgbClr val="0000FF"/>
                </a:solidFill>
              </a:rPr>
              <a:t>通过</a:t>
            </a:r>
            <a:r>
              <a:rPr lang="en-US" altLang="zh-CN" sz="2100" b="1" dirty="0">
                <a:solidFill>
                  <a:srgbClr val="0000FF"/>
                </a:solidFill>
              </a:rPr>
              <a:t>Hash</a:t>
            </a:r>
            <a:r>
              <a:rPr lang="zh-CN" altLang="en-US" sz="2100" b="1" dirty="0">
                <a:solidFill>
                  <a:srgbClr val="0000FF"/>
                </a:solidFill>
              </a:rPr>
              <a:t>索引组织</a:t>
            </a:r>
            <a:r>
              <a:rPr lang="zh-CN" altLang="en-US" sz="2100" b="1" dirty="0"/>
              <a:t>的，没有必要在其上构建独立的索引结构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BC2333D-9619-1222-8100-CF1234E889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81000"/>
            <a:ext cx="81057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en-US" altLang="zh-CN" b="1" dirty="0"/>
              <a:t>Hash</a:t>
            </a:r>
            <a:r>
              <a:rPr lang="zh-CN" altLang="en-US" b="1" dirty="0"/>
              <a:t>索引的若干观察</a:t>
            </a:r>
            <a:endParaRPr kumimoji="0" lang="zh-CN" altLang="en-US" b="1" kern="0" dirty="0"/>
          </a:p>
        </p:txBody>
      </p:sp>
    </p:spTree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6">
            <a:extLst>
              <a:ext uri="{FF2B5EF4-FFF2-40B4-BE49-F238E27FC236}">
                <a16:creationId xmlns:a16="http://schemas.microsoft.com/office/drawing/2014/main" id="{BA66D3CC-2FED-069D-76F2-230F0E9C1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93F7900-C6A5-4FDC-B8BD-D4B8B8C7953C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44</a:t>
            </a:fld>
            <a:endParaRPr lang="en-US" altLang="zh-CN" sz="1200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1619C66C-D7BB-1824-7BC8-7397885448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桶溢出处理</a:t>
            </a:r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118430F5-6A0E-14F1-378C-69AE4F8FF2E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77850" y="1412777"/>
            <a:ext cx="8337550" cy="4968552"/>
          </a:xfrm>
        </p:spPr>
        <p:txBody>
          <a:bodyPr/>
          <a:lstStyle/>
          <a:p>
            <a:pPr eaLnBrk="1" hangingPunct="1"/>
            <a:r>
              <a:rPr lang="zh-CN" altLang="en-US" sz="2500" b="1" dirty="0">
                <a:solidFill>
                  <a:srgbClr val="0000FF"/>
                </a:solidFill>
              </a:rPr>
              <a:t>桶溢出</a:t>
            </a:r>
            <a:r>
              <a:rPr lang="zh-CN" altLang="en-US" sz="2500" b="1" dirty="0"/>
              <a:t>的原因</a:t>
            </a:r>
            <a:endParaRPr lang="en-US" altLang="zh-CN" sz="2500" b="1" dirty="0"/>
          </a:p>
          <a:p>
            <a:pPr lvl="1" eaLnBrk="1" hangingPunct="1"/>
            <a:r>
              <a:rPr lang="zh-CN" altLang="en-US" sz="2100" b="1" dirty="0"/>
              <a:t>桶不足</a:t>
            </a:r>
            <a:endParaRPr lang="en-US" altLang="zh-CN" sz="2100" b="1" dirty="0"/>
          </a:p>
          <a:p>
            <a:pPr lvl="1" eaLnBrk="1" hangingPunct="1"/>
            <a:r>
              <a:rPr lang="zh-CN" altLang="en-US" sz="2100" b="1" dirty="0"/>
              <a:t>桶中记录发生</a:t>
            </a:r>
            <a:r>
              <a:rPr lang="zh-CN" altLang="en-US" sz="2100" b="1" dirty="0">
                <a:solidFill>
                  <a:srgbClr val="FF0000"/>
                </a:solidFill>
              </a:rPr>
              <a:t>偏斜</a:t>
            </a:r>
            <a:endParaRPr lang="en-US" altLang="zh-CN" sz="2100" b="1" dirty="0">
              <a:solidFill>
                <a:srgbClr val="FF0000"/>
              </a:solidFill>
            </a:endParaRPr>
          </a:p>
          <a:p>
            <a:pPr lvl="2" eaLnBrk="1" hangingPunct="1"/>
            <a:r>
              <a:rPr lang="zh-CN" altLang="en-US" sz="2000" b="1" dirty="0">
                <a:solidFill>
                  <a:srgbClr val="0000FF"/>
                </a:solidFill>
              </a:rPr>
              <a:t>多条记录</a:t>
            </a:r>
            <a:r>
              <a:rPr lang="zh-CN" altLang="en-US" sz="2000" b="1" dirty="0"/>
              <a:t>具有</a:t>
            </a:r>
            <a:r>
              <a:rPr lang="zh-CN" altLang="en-US" sz="2000" b="1" dirty="0">
                <a:solidFill>
                  <a:srgbClr val="0000FF"/>
                </a:solidFill>
              </a:rPr>
              <a:t>同样的搜索码</a:t>
            </a:r>
            <a:endParaRPr lang="en-US" altLang="zh-CN" sz="2000" b="1" dirty="0">
              <a:solidFill>
                <a:srgbClr val="0000FF"/>
              </a:solidFill>
            </a:endParaRPr>
          </a:p>
          <a:p>
            <a:pPr lvl="2" eaLnBrk="1" hangingPunct="1"/>
            <a:r>
              <a:rPr lang="en-US" altLang="zh-CN" sz="2000" b="1" dirty="0"/>
              <a:t>Hash</a:t>
            </a:r>
            <a:r>
              <a:rPr lang="zh-CN" altLang="en-US" sz="2000" b="1" dirty="0"/>
              <a:t>函数造成搜索码的分布不均</a:t>
            </a:r>
          </a:p>
          <a:p>
            <a:pPr eaLnBrk="1" hangingPunct="1"/>
            <a:r>
              <a:rPr lang="zh-CN" altLang="en-US" sz="2500" b="1" dirty="0"/>
              <a:t>桶数目选择</a:t>
            </a:r>
          </a:p>
          <a:p>
            <a:pPr lvl="1" eaLnBrk="1" hangingPunct="1"/>
            <a:r>
              <a:rPr lang="en-US" altLang="zh-CN" sz="2100" b="1" dirty="0"/>
              <a:t>(N</a:t>
            </a:r>
            <a:r>
              <a:rPr lang="en-US" altLang="zh-CN" sz="2100" b="1" baseline="-25000" dirty="0"/>
              <a:t>r</a:t>
            </a:r>
            <a:r>
              <a:rPr lang="en-US" altLang="zh-CN" sz="2100" b="1" dirty="0"/>
              <a:t>/</a:t>
            </a:r>
            <a:r>
              <a:rPr lang="en-US" altLang="zh-CN" sz="2100" b="1" dirty="0" err="1"/>
              <a:t>f</a:t>
            </a:r>
            <a:r>
              <a:rPr lang="en-US" altLang="zh-CN" sz="2100" b="1" baseline="-25000" dirty="0" err="1"/>
              <a:t>r</a:t>
            </a:r>
            <a:r>
              <a:rPr lang="en-US" altLang="zh-CN" sz="2100" b="1" dirty="0"/>
              <a:t>)*(1+d)</a:t>
            </a:r>
          </a:p>
          <a:p>
            <a:pPr lvl="1" eaLnBrk="1" hangingPunct="1"/>
            <a:r>
              <a:rPr lang="en-US" altLang="zh-CN" sz="2100" b="1" dirty="0"/>
              <a:t>N</a:t>
            </a:r>
            <a:r>
              <a:rPr lang="en-US" altLang="zh-CN" sz="2100" b="1" baseline="-25000" dirty="0"/>
              <a:t>r</a:t>
            </a:r>
            <a:r>
              <a:rPr lang="zh-CN" altLang="en-US" sz="2100" b="1" dirty="0"/>
              <a:t>是全部数据，</a:t>
            </a:r>
            <a:r>
              <a:rPr lang="en-US" altLang="zh-CN" sz="2100" b="1" dirty="0" err="1"/>
              <a:t>f</a:t>
            </a:r>
            <a:r>
              <a:rPr lang="en-US" altLang="zh-CN" sz="2100" b="1" baseline="-25000" dirty="0" err="1"/>
              <a:t>r</a:t>
            </a:r>
            <a:r>
              <a:rPr lang="zh-CN" altLang="en-US" sz="2100" b="1" dirty="0"/>
              <a:t>是</a:t>
            </a:r>
            <a:r>
              <a:rPr lang="zh-CN" altLang="en-US" sz="2100" b="1" dirty="0">
                <a:solidFill>
                  <a:srgbClr val="0000FF"/>
                </a:solidFill>
              </a:rPr>
              <a:t>每个桶</a:t>
            </a:r>
            <a:r>
              <a:rPr lang="zh-CN" altLang="en-US" sz="2100" b="1" dirty="0"/>
              <a:t>能存储的数据，</a:t>
            </a:r>
            <a:r>
              <a:rPr lang="en-US" altLang="zh-CN" sz="2100" b="1" dirty="0"/>
              <a:t>d</a:t>
            </a:r>
            <a:r>
              <a:rPr lang="zh-CN" altLang="en-US" sz="2100" b="1" dirty="0"/>
              <a:t>是</a:t>
            </a:r>
            <a:r>
              <a:rPr lang="zh-CN" altLang="en-US" sz="2100" b="1" dirty="0">
                <a:solidFill>
                  <a:srgbClr val="006600"/>
                </a:solidFill>
              </a:rPr>
              <a:t>避让因子</a:t>
            </a:r>
            <a:r>
              <a:rPr lang="zh-CN" altLang="en-US" sz="2100" b="1" dirty="0"/>
              <a:t>，值一般选择</a:t>
            </a:r>
            <a:r>
              <a:rPr lang="en-US" altLang="zh-CN" sz="2100" b="1" dirty="0"/>
              <a:t>0.2</a:t>
            </a:r>
          </a:p>
          <a:p>
            <a:pPr eaLnBrk="1" hangingPunct="1"/>
            <a:r>
              <a:rPr lang="zh-CN" altLang="en-US" sz="2500" b="1" dirty="0"/>
              <a:t>尽管桶溢出的可能性会减少，但是绝不可能完全消除，通过</a:t>
            </a:r>
            <a:r>
              <a:rPr lang="zh-CN" altLang="en-US" sz="25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溢出桶</a:t>
            </a:r>
            <a:r>
              <a:rPr lang="zh-CN" altLang="en-US" sz="2500" b="1" dirty="0"/>
              <a:t>来解决</a:t>
            </a:r>
            <a:endParaRPr lang="en-US" altLang="zh-CN" sz="2500" b="1" i="1" dirty="0"/>
          </a:p>
          <a:p>
            <a:pPr lvl="1" eaLnBrk="1" hangingPunct="1"/>
            <a:r>
              <a:rPr lang="zh-CN" altLang="en-US" sz="2100" b="1" dirty="0"/>
              <a:t>一个桶的溢出桶集合通过</a:t>
            </a:r>
            <a:r>
              <a:rPr lang="zh-CN" altLang="en-US" sz="2100" b="1" dirty="0">
                <a:solidFill>
                  <a:srgbClr val="0000FF"/>
                </a:solidFill>
              </a:rPr>
              <a:t>链</a:t>
            </a:r>
            <a:r>
              <a:rPr lang="zh-CN" altLang="en-US" sz="2100" b="1" dirty="0"/>
              <a:t>连接起来</a:t>
            </a:r>
            <a:endParaRPr lang="en-US" altLang="zh-CN" sz="2100" b="1" dirty="0"/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8D1405E5-CF0A-BD29-7F5F-14C143084E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7816" y="148034"/>
            <a:ext cx="3732371" cy="26706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灯片编号占位符 5">
            <a:extLst>
              <a:ext uri="{FF2B5EF4-FFF2-40B4-BE49-F238E27FC236}">
                <a16:creationId xmlns:a16="http://schemas.microsoft.com/office/drawing/2014/main" id="{98AF98A0-0E8F-A13C-7A7B-8F7CD5A84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68E1D83-DAB2-4B5B-82B2-FC0C10E53CE9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45</a:t>
            </a:fld>
            <a:endParaRPr lang="en-US" altLang="zh-CN" sz="12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4D8FA027-3137-A510-52C9-DD03A0E57A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81000"/>
            <a:ext cx="81057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en-US" altLang="zh-CN" b="1" dirty="0"/>
              <a:t>Hash</a:t>
            </a:r>
            <a:r>
              <a:rPr lang="zh-CN" altLang="en-US" b="1" dirty="0"/>
              <a:t>索引示例</a:t>
            </a:r>
            <a:endParaRPr kumimoji="0" lang="en-US" altLang="zh-CN" b="1" kern="0" dirty="0"/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8F3494C0-5342-3587-E607-0001E1533F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4596" y="1453740"/>
            <a:ext cx="5434807" cy="52470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4">
            <a:extLst>
              <a:ext uri="{FF2B5EF4-FFF2-40B4-BE49-F238E27FC236}">
                <a16:creationId xmlns:a16="http://schemas.microsoft.com/office/drawing/2014/main" id="{FA0F9F03-3B46-7ED3-E79E-D0BE6B89A9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960" y="2276872"/>
            <a:ext cx="3118161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Instructor</a:t>
            </a:r>
            <a:r>
              <a:rPr kumimoji="0" lang="zh-CN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kumimoji="0" lang="en-US" altLang="en-US" sz="1700" dirty="0" err="1">
                <a:solidFill>
                  <a:srgbClr val="00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ID属性</a:t>
            </a:r>
            <a:r>
              <a:rPr kumimoji="0" lang="zh-CN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的哈希索引</a:t>
            </a:r>
            <a:endParaRPr kumimoji="0" lang="en-US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灯片编号占位符 5">
            <a:extLst>
              <a:ext uri="{FF2B5EF4-FFF2-40B4-BE49-F238E27FC236}">
                <a16:creationId xmlns:a16="http://schemas.microsoft.com/office/drawing/2014/main" id="{BB787DAE-8D52-20E4-A978-A51F46137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F45EC16-7798-4CB2-8365-DBCA7E07D53E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46</a:t>
            </a:fld>
            <a:endParaRPr lang="en-US" altLang="zh-CN" sz="1200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43723BA2-EE78-35A2-F761-B1DB98396E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静态索引技术的不足</a:t>
            </a:r>
            <a:endParaRPr lang="en-US" altLang="zh-CN" b="1" dirty="0"/>
          </a:p>
        </p:txBody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E599564C-57F2-AC84-0C8E-7AB4814F70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576" y="1401763"/>
            <a:ext cx="8105775" cy="4841875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sz="2800" b="1" dirty="0">
                <a:solidFill>
                  <a:srgbClr val="0000FF"/>
                </a:solidFill>
              </a:rPr>
              <a:t>函数</a:t>
            </a:r>
            <a:r>
              <a:rPr lang="en-US" altLang="zh-CN" sz="2800" b="1" dirty="0">
                <a:solidFill>
                  <a:srgbClr val="0000FF"/>
                </a:solidFill>
              </a:rPr>
              <a:t>h</a:t>
            </a:r>
            <a:r>
              <a:rPr lang="zh-CN" altLang="en-US" sz="2800" b="1" dirty="0"/>
              <a:t>将</a:t>
            </a:r>
            <a:r>
              <a:rPr lang="zh-CN" altLang="en-US" sz="2800" b="1" dirty="0">
                <a:solidFill>
                  <a:srgbClr val="0000FF"/>
                </a:solidFill>
              </a:rPr>
              <a:t>搜索码</a:t>
            </a:r>
            <a:r>
              <a:rPr lang="zh-CN" altLang="en-US" sz="2800" b="1" dirty="0"/>
              <a:t>的值映射到一组</a:t>
            </a:r>
            <a:r>
              <a:rPr lang="zh-CN" altLang="en-US" sz="2800" b="1" dirty="0">
                <a:solidFill>
                  <a:srgbClr val="0000FF"/>
                </a:solidFill>
              </a:rPr>
              <a:t>桶</a:t>
            </a:r>
            <a:r>
              <a:rPr lang="zh-CN" altLang="en-US" sz="2800" b="1" dirty="0"/>
              <a:t>的地址</a:t>
            </a:r>
            <a:endParaRPr lang="en-US" altLang="zh-CN" sz="2800" b="1" dirty="0"/>
          </a:p>
          <a:p>
            <a:pPr lvl="1" eaLnBrk="1" hangingPunct="1">
              <a:lnSpc>
                <a:spcPct val="110000"/>
              </a:lnSpc>
            </a:pPr>
            <a:r>
              <a:rPr lang="zh-CN" altLang="en-US" sz="2400" b="1" dirty="0"/>
              <a:t>数据库大小在膨胀，如果</a:t>
            </a:r>
            <a:r>
              <a:rPr lang="zh-CN" altLang="en-US" sz="2400" b="1" dirty="0">
                <a:solidFill>
                  <a:srgbClr val="0000FF"/>
                </a:solidFill>
              </a:rPr>
              <a:t>开始桶的数量不充分</a:t>
            </a:r>
            <a:r>
              <a:rPr lang="zh-CN" altLang="en-US" sz="2400" b="1" dirty="0"/>
              <a:t>，可能导致</a:t>
            </a:r>
            <a:r>
              <a:rPr lang="zh-CN" altLang="en-US" sz="2400" b="1" dirty="0">
                <a:solidFill>
                  <a:srgbClr val="0000FF"/>
                </a:solidFill>
              </a:rPr>
              <a:t>大量的溢出桶</a:t>
            </a:r>
            <a:endParaRPr lang="en-US" altLang="zh-CN" sz="2400" b="1" dirty="0">
              <a:solidFill>
                <a:srgbClr val="0000FF"/>
              </a:solidFill>
            </a:endParaRPr>
          </a:p>
          <a:p>
            <a:pPr lvl="1" eaLnBrk="1" hangingPunct="1">
              <a:lnSpc>
                <a:spcPct val="110000"/>
              </a:lnSpc>
            </a:pPr>
            <a:r>
              <a:rPr lang="zh-CN" altLang="en-US" sz="2400" b="1" dirty="0"/>
              <a:t>根据数据库的</a:t>
            </a:r>
            <a:r>
              <a:rPr lang="zh-CN" altLang="en-US" sz="2400" b="1" dirty="0">
                <a:solidFill>
                  <a:srgbClr val="0000FF"/>
                </a:solidFill>
              </a:rPr>
              <a:t>预测值</a:t>
            </a:r>
            <a:r>
              <a:rPr lang="zh-CN" altLang="en-US" sz="2400" b="1" dirty="0"/>
              <a:t>构建</a:t>
            </a:r>
            <a:r>
              <a:rPr lang="en-US" altLang="zh-CN" sz="2400" b="1" dirty="0"/>
              <a:t>Hash</a:t>
            </a:r>
            <a:r>
              <a:rPr lang="zh-CN" altLang="en-US" sz="2400" b="1" dirty="0"/>
              <a:t>索引，可能在</a:t>
            </a:r>
            <a:r>
              <a:rPr lang="zh-CN" altLang="en-US" sz="2400" b="1" dirty="0">
                <a:solidFill>
                  <a:srgbClr val="0000FF"/>
                </a:solidFill>
              </a:rPr>
              <a:t>开始</a:t>
            </a:r>
            <a:r>
              <a:rPr lang="zh-CN" altLang="en-US" sz="2400" b="1" dirty="0"/>
              <a:t>的时候</a:t>
            </a:r>
            <a:r>
              <a:rPr lang="zh-CN" altLang="en-US" sz="2400" b="1" dirty="0">
                <a:solidFill>
                  <a:srgbClr val="0000FF"/>
                </a:solidFill>
              </a:rPr>
              <a:t>造成大量的空间浪费</a:t>
            </a:r>
            <a:endParaRPr lang="en-US" altLang="zh-CN" sz="2400" b="1" dirty="0">
              <a:solidFill>
                <a:srgbClr val="0000FF"/>
              </a:solidFill>
            </a:endParaRPr>
          </a:p>
          <a:p>
            <a:pPr lvl="1" eaLnBrk="1" hangingPunct="1">
              <a:lnSpc>
                <a:spcPct val="110000"/>
              </a:lnSpc>
            </a:pPr>
            <a:r>
              <a:rPr lang="zh-CN" altLang="en-US" sz="2400" b="1" dirty="0"/>
              <a:t>如果数据库体积缩小，空间也可能导致浪费</a:t>
            </a:r>
            <a:endParaRPr lang="en-US" altLang="zh-CN" sz="2400" b="1" dirty="0"/>
          </a:p>
          <a:p>
            <a:pPr lvl="1" eaLnBrk="1" hangingPunct="1">
              <a:lnSpc>
                <a:spcPct val="110000"/>
              </a:lnSpc>
            </a:pPr>
            <a:r>
              <a:rPr lang="zh-CN" altLang="en-US" sz="2400" b="1" dirty="0"/>
              <a:t>可能需要</a:t>
            </a:r>
            <a:r>
              <a:rPr lang="zh-CN" altLang="en-US" sz="2400" b="1" dirty="0">
                <a:solidFill>
                  <a:srgbClr val="FF0000"/>
                </a:solidFill>
              </a:rPr>
              <a:t>周期性的重组</a:t>
            </a:r>
            <a:r>
              <a:rPr lang="zh-CN" altLang="en-US" sz="2400" b="1" dirty="0"/>
              <a:t>，包括桶数目的设定，</a:t>
            </a:r>
            <a:r>
              <a:rPr lang="en-US" altLang="zh-CN" sz="2400" b="1" dirty="0"/>
              <a:t>Hash</a:t>
            </a:r>
            <a:r>
              <a:rPr lang="zh-CN" altLang="en-US" sz="2400" b="1" dirty="0"/>
              <a:t>函数的选择等，代价昂贵</a:t>
            </a:r>
            <a:endParaRPr lang="en-US" altLang="zh-CN" sz="2400" b="1" dirty="0"/>
          </a:p>
          <a:p>
            <a:pPr eaLnBrk="1" hangingPunct="1">
              <a:lnSpc>
                <a:spcPct val="110000"/>
              </a:lnSpc>
            </a:pPr>
            <a:r>
              <a:rPr lang="zh-CN" altLang="en-US" sz="2800" b="1" dirty="0"/>
              <a:t>使用动态散列技术，可以部分解决上述问题</a:t>
            </a:r>
            <a:endParaRPr lang="en-US" altLang="zh-CN" sz="2800" b="1" dirty="0"/>
          </a:p>
        </p:txBody>
      </p:sp>
    </p:spTree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灯片编号占位符 5">
            <a:extLst>
              <a:ext uri="{FF2B5EF4-FFF2-40B4-BE49-F238E27FC236}">
                <a16:creationId xmlns:a16="http://schemas.microsoft.com/office/drawing/2014/main" id="{7E28BD00-B22A-E6C6-0017-C762B053B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336A143-E621-4D09-ABB7-848CF6FC75AE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47</a:t>
            </a:fld>
            <a:endParaRPr lang="en-US" altLang="zh-CN" sz="1200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BEE39787-C62F-8A75-22A9-1CE8F73F32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动态</a:t>
            </a:r>
            <a:r>
              <a:rPr lang="en-US" altLang="zh-CN" b="1" dirty="0"/>
              <a:t>Hash</a:t>
            </a:r>
            <a:r>
              <a:rPr lang="zh-CN" altLang="en-US" b="1" dirty="0"/>
              <a:t>表</a:t>
            </a:r>
            <a:endParaRPr lang="en-US" altLang="zh-CN" b="1" dirty="0"/>
          </a:p>
        </p:txBody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8EE33686-3257-327D-99A3-9D862298BE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76250" y="1412776"/>
            <a:ext cx="8667750" cy="51593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b="1" dirty="0"/>
              <a:t>能够适应数据大小的膨胀和收缩</a:t>
            </a:r>
            <a:endParaRPr lang="en-US" altLang="zh-CN" sz="2800" b="1" dirty="0"/>
          </a:p>
          <a:p>
            <a:pPr eaLnBrk="1" hangingPunct="1">
              <a:lnSpc>
                <a:spcPct val="90000"/>
              </a:lnSpc>
            </a:pPr>
            <a:r>
              <a:rPr lang="zh-CN" altLang="en-US" sz="2800" b="1" dirty="0"/>
              <a:t>通过</a:t>
            </a:r>
            <a:r>
              <a:rPr lang="zh-CN" altLang="en-US" sz="2800" b="1" dirty="0">
                <a:solidFill>
                  <a:srgbClr val="0000FF"/>
                </a:solidFill>
              </a:rPr>
              <a:t>桶的分解</a:t>
            </a:r>
            <a:r>
              <a:rPr lang="zh-CN" altLang="en-US" sz="2800" b="1" dirty="0"/>
              <a:t>或</a:t>
            </a:r>
            <a:r>
              <a:rPr lang="zh-CN" altLang="en-US" sz="2800" b="1" dirty="0">
                <a:solidFill>
                  <a:srgbClr val="0000FF"/>
                </a:solidFill>
              </a:rPr>
              <a:t>合并</a:t>
            </a:r>
            <a:r>
              <a:rPr lang="zh-CN" altLang="en-US" sz="2800" b="1" dirty="0"/>
              <a:t>来适应数据库大小的变化，保持空间的有效利用</a:t>
            </a:r>
            <a:endParaRPr lang="en-US" altLang="zh-CN" sz="2800" b="1" dirty="0"/>
          </a:p>
          <a:p>
            <a:pPr eaLnBrk="1" hangingPunct="1">
              <a:lnSpc>
                <a:spcPct val="90000"/>
              </a:lnSpc>
            </a:pPr>
            <a:r>
              <a:rPr lang="zh-CN" altLang="en-US" sz="2800" b="1" dirty="0">
                <a:solidFill>
                  <a:srgbClr val="FF3300"/>
                </a:solidFill>
              </a:rPr>
              <a:t>可扩展</a:t>
            </a:r>
            <a:r>
              <a:rPr lang="en-US" altLang="zh-CN" sz="2800" b="1" dirty="0">
                <a:solidFill>
                  <a:srgbClr val="FF3300"/>
                </a:solidFill>
              </a:rPr>
              <a:t>Hash</a:t>
            </a:r>
            <a:r>
              <a:rPr lang="zh-CN" altLang="en-US" sz="2800" b="1" dirty="0">
                <a:solidFill>
                  <a:srgbClr val="FF3300"/>
                </a:solidFill>
              </a:rPr>
              <a:t>函数</a:t>
            </a:r>
            <a:r>
              <a:rPr lang="en-US" altLang="zh-CN" sz="2800" b="1" dirty="0"/>
              <a:t> 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b="1" dirty="0"/>
              <a:t>Hash</a:t>
            </a:r>
            <a:r>
              <a:rPr lang="zh-CN" altLang="en-US" sz="2400" b="1" dirty="0"/>
              <a:t>函数产生一个范围较大的值</a:t>
            </a:r>
            <a:endParaRPr lang="en-US" altLang="zh-CN" sz="2400" b="1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b="1" dirty="0"/>
              <a:t>在任何时候，使用</a:t>
            </a:r>
            <a:r>
              <a:rPr lang="en-US" altLang="zh-CN" sz="2400" b="1" dirty="0"/>
              <a:t>Hash</a:t>
            </a:r>
            <a:r>
              <a:rPr lang="zh-CN" altLang="en-US" sz="2400" b="1" dirty="0"/>
              <a:t>函数</a:t>
            </a:r>
            <a:r>
              <a:rPr lang="zh-CN" altLang="en-US" sz="2400" b="1" dirty="0">
                <a:solidFill>
                  <a:srgbClr val="006600"/>
                </a:solidFill>
              </a:rPr>
              <a:t>所得值</a:t>
            </a:r>
            <a:r>
              <a:rPr lang="zh-CN" altLang="en-US" sz="2400" b="1" dirty="0"/>
              <a:t>的</a:t>
            </a:r>
            <a:r>
              <a:rPr lang="zh-CN" altLang="en-US" sz="2400" b="1" dirty="0">
                <a:solidFill>
                  <a:srgbClr val="0000FF"/>
                </a:solidFill>
              </a:rPr>
              <a:t>前缀</a:t>
            </a:r>
            <a:r>
              <a:rPr lang="zh-CN" altLang="en-US" sz="2400" b="1" dirty="0"/>
              <a:t>来得到桶地址</a:t>
            </a:r>
            <a:endParaRPr lang="en-US" altLang="zh-CN" sz="2400" b="1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b="1" dirty="0"/>
              <a:t>假定所使用</a:t>
            </a:r>
            <a:r>
              <a:rPr lang="zh-CN" altLang="en-US" sz="2400" b="1" dirty="0">
                <a:solidFill>
                  <a:srgbClr val="0000FF"/>
                </a:solidFill>
              </a:rPr>
              <a:t>前缀的长度为</a:t>
            </a:r>
            <a:r>
              <a:rPr lang="en-US" altLang="zh-CN" sz="2400" b="1" dirty="0" err="1">
                <a:solidFill>
                  <a:srgbClr val="0000FF"/>
                </a:solidFill>
              </a:rPr>
              <a:t>i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0 </a:t>
            </a:r>
            <a:r>
              <a:rPr lang="en-US" altLang="zh-CN" sz="2400" b="1" dirty="0">
                <a:sym typeface="Symbol" panose="05050102010706020507" pitchFamily="18" charset="2"/>
              </a:rPr>
              <a:t> </a:t>
            </a:r>
            <a:r>
              <a:rPr lang="en-US" altLang="zh-CN" sz="2400" b="1" i="1" dirty="0" err="1">
                <a:sym typeface="Symbol" panose="05050102010706020507" pitchFamily="18" charset="2"/>
              </a:rPr>
              <a:t>i</a:t>
            </a:r>
            <a:r>
              <a:rPr lang="en-US" altLang="zh-CN" sz="2400" b="1" dirty="0">
                <a:sym typeface="Symbol" panose="05050102010706020507" pitchFamily="18" charset="2"/>
              </a:rPr>
              <a:t>  32 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b="1" dirty="0">
                <a:sym typeface="Symbol" panose="05050102010706020507" pitchFamily="18" charset="2"/>
              </a:rPr>
              <a:t>桶的个数</a:t>
            </a:r>
            <a:r>
              <a:rPr lang="en-US" altLang="zh-CN" sz="2400" b="1" dirty="0">
                <a:sym typeface="Symbol" panose="05050102010706020507" pitchFamily="18" charset="2"/>
              </a:rPr>
              <a:t> = 2</a:t>
            </a:r>
            <a:r>
              <a:rPr lang="en-US" altLang="zh-CN" sz="3200" b="1" baseline="30000" dirty="0">
                <a:sym typeface="Symbol" panose="05050102010706020507" pitchFamily="18" charset="2"/>
              </a:rPr>
              <a:t>i</a:t>
            </a:r>
            <a:r>
              <a:rPr lang="zh-CN" altLang="en-US" sz="3200" b="1" dirty="0">
                <a:sym typeface="Symbol" panose="05050102010706020507" pitchFamily="18" charset="2"/>
              </a:rPr>
              <a:t>，</a:t>
            </a:r>
            <a:r>
              <a:rPr lang="zh-CN" altLang="en-US" sz="2400" b="1" dirty="0">
                <a:sym typeface="Symbol" panose="05050102010706020507" pitchFamily="18" charset="2"/>
              </a:rPr>
              <a:t>初始值</a:t>
            </a:r>
            <a:r>
              <a:rPr lang="en-US" altLang="zh-CN" sz="2400" b="1" i="1" dirty="0" err="1">
                <a:sym typeface="Symbol" panose="05050102010706020507" pitchFamily="18" charset="2"/>
              </a:rPr>
              <a:t>i</a:t>
            </a:r>
            <a:r>
              <a:rPr lang="en-US" altLang="zh-CN" sz="2400" b="1" dirty="0">
                <a:sym typeface="Symbol" panose="05050102010706020507" pitchFamily="18" charset="2"/>
              </a:rPr>
              <a:t> = 0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b="1" i="1" dirty="0" err="1">
                <a:sym typeface="Symbol" panose="05050102010706020507" pitchFamily="18" charset="2"/>
              </a:rPr>
              <a:t>i</a:t>
            </a:r>
            <a:r>
              <a:rPr lang="en-US" altLang="zh-CN" sz="2400" b="1" dirty="0">
                <a:sym typeface="Symbol" panose="05050102010706020507" pitchFamily="18" charset="2"/>
              </a:rPr>
              <a:t> </a:t>
            </a:r>
            <a:r>
              <a:rPr lang="zh-CN" altLang="en-US" sz="2400" b="1" dirty="0">
                <a:sym typeface="Symbol" panose="05050102010706020507" pitchFamily="18" charset="2"/>
              </a:rPr>
              <a:t>值随着数据库体积的膨胀或收缩，相应地增大或减少</a:t>
            </a:r>
            <a:endParaRPr lang="en-US" altLang="zh-CN" sz="2400" b="1" dirty="0"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b="1" dirty="0"/>
              <a:t>桶地址表中的多个条目可能指向一个桶</a:t>
            </a:r>
            <a:endParaRPr lang="en-US" altLang="zh-CN" sz="2400" b="1" dirty="0"/>
          </a:p>
        </p:txBody>
      </p:sp>
    </p:spTree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灯片编号占位符 5">
            <a:extLst>
              <a:ext uri="{FF2B5EF4-FFF2-40B4-BE49-F238E27FC236}">
                <a16:creationId xmlns:a16="http://schemas.microsoft.com/office/drawing/2014/main" id="{19C0F51C-DABE-AA47-667D-BE6CED313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5515210-EA7C-4D1E-83F3-814D8936D6CB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48</a:t>
            </a:fld>
            <a:endParaRPr lang="en-US" altLang="zh-CN" sz="1200"/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79C49E1E-BC90-CE45-1520-6D07992799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主要内容</a:t>
            </a:r>
            <a:endParaRPr lang="en-US" altLang="zh-CN" b="1"/>
          </a:p>
        </p:txBody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E38F5B6B-7509-6D54-FABA-39A5FB28FC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3775" y="1412776"/>
            <a:ext cx="7521575" cy="5003800"/>
          </a:xfrm>
        </p:spPr>
        <p:txBody>
          <a:bodyPr/>
          <a:lstStyle/>
          <a:p>
            <a:pPr eaLnBrk="1" hangingPunct="1"/>
            <a:r>
              <a:rPr lang="zh-CN" altLang="en-US" sz="3300" b="1" dirty="0"/>
              <a:t>基本概念</a:t>
            </a:r>
            <a:endParaRPr lang="en-US" altLang="zh-CN" sz="3300" b="1" dirty="0"/>
          </a:p>
          <a:p>
            <a:pPr eaLnBrk="1" hangingPunct="1"/>
            <a:r>
              <a:rPr lang="zh-CN" altLang="en-US" sz="3300" b="1" dirty="0"/>
              <a:t>有序索引</a:t>
            </a:r>
            <a:endParaRPr lang="en-US" altLang="zh-CN" sz="3300" b="1" dirty="0"/>
          </a:p>
          <a:p>
            <a:pPr eaLnBrk="1" hangingPunct="1"/>
            <a:r>
              <a:rPr lang="en-US" altLang="zh-CN" sz="3300" b="1" dirty="0" err="1"/>
              <a:t>B</a:t>
            </a:r>
            <a:r>
              <a:rPr lang="en-US" altLang="zh-CN" sz="3300" b="1" baseline="30000" dirty="0" err="1"/>
              <a:t>+</a:t>
            </a:r>
            <a:r>
              <a:rPr lang="en-US" altLang="zh-CN" sz="3300" b="1" dirty="0" err="1"/>
              <a:t>Tree</a:t>
            </a:r>
            <a:r>
              <a:rPr lang="en-US" altLang="zh-CN" sz="3300" b="1" dirty="0"/>
              <a:t> </a:t>
            </a:r>
            <a:r>
              <a:rPr lang="zh-CN" altLang="en-US" sz="3300" b="1" dirty="0"/>
              <a:t>索引文件</a:t>
            </a:r>
            <a:endParaRPr lang="en-US" altLang="zh-CN" sz="3300" b="1" dirty="0"/>
          </a:p>
          <a:p>
            <a:pPr eaLnBrk="1" hangingPunct="1"/>
            <a:r>
              <a:rPr lang="zh-CN" altLang="en-US" sz="3300" b="1" dirty="0"/>
              <a:t>散列索引</a:t>
            </a:r>
            <a:endParaRPr lang="en-US" altLang="zh-CN" sz="3300" b="1" dirty="0"/>
          </a:p>
          <a:p>
            <a:pPr eaLnBrk="1" hangingPunct="1"/>
            <a:r>
              <a:rPr lang="zh-CN" altLang="en-US" sz="3300" b="1" dirty="0">
                <a:solidFill>
                  <a:srgbClr val="0000FF"/>
                </a:solidFill>
              </a:rPr>
              <a:t>有序索引与散列的比较</a:t>
            </a:r>
            <a:endParaRPr lang="en-US" altLang="zh-CN" sz="3300" b="1" dirty="0">
              <a:solidFill>
                <a:srgbClr val="0000FF"/>
              </a:solidFill>
            </a:endParaRPr>
          </a:p>
          <a:p>
            <a:pPr eaLnBrk="1" hangingPunct="1"/>
            <a:r>
              <a:rPr lang="en-US" altLang="zh-CN" sz="3300" b="1" dirty="0"/>
              <a:t>SQL</a:t>
            </a:r>
            <a:r>
              <a:rPr lang="zh-CN" altLang="en-US" sz="3300" b="1" dirty="0"/>
              <a:t>中的索引定义</a:t>
            </a:r>
          </a:p>
          <a:p>
            <a:pPr eaLnBrk="1" hangingPunct="1"/>
            <a:r>
              <a:rPr lang="zh-CN" altLang="en-US" sz="3300" b="1" dirty="0"/>
              <a:t>多码存取</a:t>
            </a:r>
            <a:endParaRPr lang="en-US" altLang="zh-CN" sz="3300" b="1" dirty="0"/>
          </a:p>
        </p:txBody>
      </p:sp>
    </p:spTree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灯片编号占位符 5">
            <a:extLst>
              <a:ext uri="{FF2B5EF4-FFF2-40B4-BE49-F238E27FC236}">
                <a16:creationId xmlns:a16="http://schemas.microsoft.com/office/drawing/2014/main" id="{17FCD5D5-0192-441C-3260-927840B00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0C9FA45-0AAE-4AD2-ABE8-9F2C885BF89E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49</a:t>
            </a:fld>
            <a:endParaRPr lang="en-US" altLang="zh-CN" sz="1200"/>
          </a:p>
        </p:txBody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F01DCD95-F298-06F5-3C60-AE50B257AA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9463" y="1412776"/>
            <a:ext cx="8167687" cy="5021262"/>
          </a:xfrm>
        </p:spPr>
        <p:txBody>
          <a:bodyPr/>
          <a:lstStyle/>
          <a:p>
            <a:pPr eaLnBrk="1" hangingPunct="1"/>
            <a:r>
              <a:rPr lang="zh-CN" altLang="en-US" sz="2800" b="1" dirty="0"/>
              <a:t>做选择时应考虑的关键问题</a:t>
            </a:r>
            <a:endParaRPr lang="en-US" altLang="zh-CN" sz="2800" b="1" dirty="0"/>
          </a:p>
          <a:p>
            <a:pPr lvl="1" eaLnBrk="1" hangingPunct="1"/>
            <a:r>
              <a:rPr lang="en-US" altLang="zh-CN" sz="2400" b="1" dirty="0">
                <a:solidFill>
                  <a:srgbClr val="0000FF"/>
                </a:solidFill>
              </a:rPr>
              <a:t>Hash</a:t>
            </a:r>
            <a:r>
              <a:rPr lang="zh-CN" altLang="en-US" sz="2400" b="1" dirty="0">
                <a:solidFill>
                  <a:srgbClr val="0000FF"/>
                </a:solidFill>
              </a:rPr>
              <a:t>技术</a:t>
            </a:r>
            <a:r>
              <a:rPr lang="zh-CN" altLang="en-US" sz="2400" b="1" dirty="0"/>
              <a:t>在</a:t>
            </a:r>
            <a:r>
              <a:rPr lang="zh-CN" altLang="en-US" sz="2400" b="1" dirty="0">
                <a:solidFill>
                  <a:srgbClr val="0000FF"/>
                </a:solidFill>
              </a:rPr>
              <a:t>给定数值</a:t>
            </a:r>
            <a:r>
              <a:rPr lang="zh-CN" altLang="en-US" sz="2400" b="1" dirty="0"/>
              <a:t>、进行</a:t>
            </a:r>
            <a:r>
              <a:rPr lang="zh-CN" altLang="en-US" sz="2400" b="1" dirty="0">
                <a:solidFill>
                  <a:srgbClr val="0000FF"/>
                </a:solidFill>
              </a:rPr>
              <a:t>确定性查询</a:t>
            </a:r>
            <a:r>
              <a:rPr lang="zh-CN" altLang="en-US" sz="2400" b="1" dirty="0"/>
              <a:t>的时候，效率高</a:t>
            </a:r>
            <a:endParaRPr lang="en-US" altLang="zh-CN" sz="2400" b="1" dirty="0"/>
          </a:p>
          <a:p>
            <a:pPr lvl="2" eaLnBrk="1" hangingPunct="1"/>
            <a:r>
              <a:rPr lang="zh-CN" altLang="en-US" sz="2000" b="1" dirty="0"/>
              <a:t>一个好的</a:t>
            </a:r>
            <a:r>
              <a:rPr lang="en-US" altLang="zh-CN" sz="2000" b="1" dirty="0"/>
              <a:t>Hash</a:t>
            </a:r>
            <a:r>
              <a:rPr lang="zh-CN" altLang="en-US" sz="2000" b="1" dirty="0"/>
              <a:t>函数，在常数时间内能够定位一条记录</a:t>
            </a:r>
            <a:endParaRPr lang="en-US" altLang="zh-CN" sz="2000" b="1" dirty="0"/>
          </a:p>
          <a:p>
            <a:pPr lvl="1" eaLnBrk="1" hangingPunct="1"/>
            <a:r>
              <a:rPr lang="zh-CN" altLang="en-US" sz="2400" b="1" dirty="0"/>
              <a:t>如果</a:t>
            </a:r>
            <a:r>
              <a:rPr lang="en-US" altLang="zh-CN" sz="2400" b="1" dirty="0">
                <a:solidFill>
                  <a:srgbClr val="0000FF"/>
                </a:solidFill>
              </a:rPr>
              <a:t>range</a:t>
            </a:r>
            <a:r>
              <a:rPr lang="zh-CN" altLang="en-US" sz="2400" b="1" dirty="0">
                <a:solidFill>
                  <a:srgbClr val="0000FF"/>
                </a:solidFill>
              </a:rPr>
              <a:t>查询</a:t>
            </a:r>
            <a:r>
              <a:rPr lang="zh-CN" altLang="en-US" sz="2400" b="1" dirty="0"/>
              <a:t>很常见，则</a:t>
            </a:r>
            <a:r>
              <a:rPr lang="zh-CN" altLang="en-US" sz="2400" b="1" dirty="0">
                <a:solidFill>
                  <a:srgbClr val="0000FF"/>
                </a:solidFill>
              </a:rPr>
              <a:t>有序索引</a:t>
            </a:r>
            <a:r>
              <a:rPr lang="zh-CN" altLang="en-US" sz="2400" b="1" dirty="0"/>
              <a:t>更加合适</a:t>
            </a:r>
          </a:p>
          <a:p>
            <a:pPr lvl="2" eaLnBrk="1" hangingPunct="1"/>
            <a:r>
              <a:rPr lang="en-US" altLang="zh-CN" sz="2000" b="1" dirty="0"/>
              <a:t>Hash</a:t>
            </a:r>
            <a:r>
              <a:rPr lang="zh-CN" altLang="en-US" sz="2000" b="1" dirty="0"/>
              <a:t>技术中，不存在下一条数据的概念</a:t>
            </a:r>
            <a:endParaRPr lang="en-US" altLang="zh-CN" sz="2000" b="1" dirty="0"/>
          </a:p>
          <a:p>
            <a:pPr lvl="2" eaLnBrk="1" hangingPunct="1"/>
            <a:r>
              <a:rPr lang="en-US" altLang="zh-CN" sz="2000" b="1" dirty="0">
                <a:solidFill>
                  <a:srgbClr val="0000FF"/>
                </a:solidFill>
              </a:rPr>
              <a:t>B</a:t>
            </a:r>
            <a:r>
              <a:rPr lang="en-US" altLang="zh-CN" sz="2000" b="1" baseline="30000" dirty="0">
                <a:solidFill>
                  <a:srgbClr val="0000FF"/>
                </a:solidFill>
              </a:rPr>
              <a:t>+</a:t>
            </a:r>
            <a:r>
              <a:rPr lang="zh-CN" altLang="en-US" sz="2000" b="1" dirty="0">
                <a:solidFill>
                  <a:srgbClr val="0000FF"/>
                </a:solidFill>
              </a:rPr>
              <a:t>树索引</a:t>
            </a:r>
            <a:r>
              <a:rPr lang="zh-CN" altLang="en-US" sz="2000" b="1" dirty="0"/>
              <a:t>对于</a:t>
            </a:r>
            <a:r>
              <a:rPr lang="zh-CN" altLang="en-US" sz="2000" b="1" dirty="0">
                <a:solidFill>
                  <a:srgbClr val="0000FF"/>
                </a:solidFill>
              </a:rPr>
              <a:t>给定数值的查询，以及范围查询</a:t>
            </a:r>
            <a:r>
              <a:rPr lang="zh-CN" altLang="en-US" sz="2000" b="1" dirty="0"/>
              <a:t>都是比较</a:t>
            </a:r>
            <a:r>
              <a:rPr lang="zh-CN" altLang="en-US" sz="2000" b="1" dirty="0">
                <a:solidFill>
                  <a:srgbClr val="0000FF"/>
                </a:solidFill>
              </a:rPr>
              <a:t>有效</a:t>
            </a:r>
            <a:r>
              <a:rPr lang="zh-CN" altLang="en-US" sz="2000" b="1" dirty="0"/>
              <a:t>的</a:t>
            </a:r>
            <a:endParaRPr lang="en-US" altLang="zh-CN" sz="2000" b="1" dirty="0"/>
          </a:p>
          <a:p>
            <a:pPr eaLnBrk="1" hangingPunct="1"/>
            <a:r>
              <a:rPr lang="zh-CN" altLang="en-US" sz="2800" b="1" dirty="0"/>
              <a:t>此外</a:t>
            </a:r>
          </a:p>
          <a:p>
            <a:pPr lvl="1" eaLnBrk="1" hangingPunct="1"/>
            <a:r>
              <a:rPr lang="en-US" altLang="zh-CN" sz="2400" b="1" dirty="0"/>
              <a:t>B</a:t>
            </a:r>
            <a:r>
              <a:rPr lang="en-US" altLang="zh-CN" sz="2400" b="1" baseline="30000" dirty="0"/>
              <a:t>+</a:t>
            </a:r>
            <a:r>
              <a:rPr lang="zh-CN" altLang="en-US" sz="2400" b="1" dirty="0"/>
              <a:t>树索引在数据的插入、删除时动态调整代价较高</a:t>
            </a:r>
            <a:endParaRPr lang="en-US" altLang="zh-CN" sz="2400" b="1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CDE854A-1CD7-69B5-1339-89851F166D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81000"/>
            <a:ext cx="81057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zh-CN" altLang="en-US" b="1" dirty="0"/>
              <a:t>有序索引和</a:t>
            </a:r>
            <a:r>
              <a:rPr lang="en-US" altLang="zh-CN" b="1" dirty="0"/>
              <a:t>Hash</a:t>
            </a:r>
            <a:r>
              <a:rPr lang="zh-CN" altLang="en-US" b="1" dirty="0"/>
              <a:t>索引的比较</a:t>
            </a:r>
            <a:endParaRPr kumimoji="0" lang="en-US" altLang="zh-CN" b="1" kern="0" dirty="0"/>
          </a:p>
        </p:txBody>
      </p:sp>
    </p:spTree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灯片编号占位符 5">
            <a:extLst>
              <a:ext uri="{FF2B5EF4-FFF2-40B4-BE49-F238E27FC236}">
                <a16:creationId xmlns:a16="http://schemas.microsoft.com/office/drawing/2014/main" id="{59D24196-49D3-DE40-7E66-7F923D37B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F9BCD09-51FA-4253-97EF-1853D0552F12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50</a:t>
            </a:fld>
            <a:endParaRPr lang="en-US" altLang="zh-CN" sz="1200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BE20137F-A4DC-B7C2-1EDC-C4DC04A115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主要内容</a:t>
            </a:r>
            <a:endParaRPr lang="en-US" altLang="zh-CN" b="1" dirty="0"/>
          </a:p>
        </p:txBody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F9368F50-4A21-B688-1BF1-68D36B5107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3775" y="1412776"/>
            <a:ext cx="7456488" cy="4781550"/>
          </a:xfrm>
        </p:spPr>
        <p:txBody>
          <a:bodyPr/>
          <a:lstStyle/>
          <a:p>
            <a:pPr eaLnBrk="1" hangingPunct="1"/>
            <a:r>
              <a:rPr lang="zh-CN" altLang="en-US" sz="3300" b="1" dirty="0"/>
              <a:t>基本概念</a:t>
            </a:r>
            <a:endParaRPr lang="en-US" altLang="zh-CN" sz="3300" b="1" dirty="0"/>
          </a:p>
          <a:p>
            <a:pPr eaLnBrk="1" hangingPunct="1"/>
            <a:r>
              <a:rPr lang="zh-CN" altLang="en-US" sz="3300" b="1" dirty="0"/>
              <a:t>有序索引</a:t>
            </a:r>
            <a:endParaRPr lang="en-US" altLang="zh-CN" sz="3300" b="1" dirty="0"/>
          </a:p>
          <a:p>
            <a:pPr eaLnBrk="1" hangingPunct="1"/>
            <a:r>
              <a:rPr lang="en-US" altLang="zh-CN" sz="3300" b="1" dirty="0" err="1"/>
              <a:t>B</a:t>
            </a:r>
            <a:r>
              <a:rPr lang="en-US" altLang="zh-CN" sz="3300" b="1" baseline="30000" dirty="0" err="1"/>
              <a:t>+</a:t>
            </a:r>
            <a:r>
              <a:rPr lang="en-US" altLang="zh-CN" sz="3300" b="1" dirty="0" err="1"/>
              <a:t>Tree</a:t>
            </a:r>
            <a:r>
              <a:rPr lang="en-US" altLang="zh-CN" sz="3300" b="1" dirty="0"/>
              <a:t> </a:t>
            </a:r>
            <a:r>
              <a:rPr lang="zh-CN" altLang="en-US" sz="3300" b="1" dirty="0"/>
              <a:t>索引文件</a:t>
            </a:r>
            <a:endParaRPr lang="en-US" altLang="zh-CN" sz="3300" b="1" dirty="0"/>
          </a:p>
          <a:p>
            <a:pPr eaLnBrk="1" hangingPunct="1"/>
            <a:r>
              <a:rPr lang="zh-CN" altLang="en-US" sz="3300" b="1" dirty="0"/>
              <a:t>散列索引</a:t>
            </a:r>
            <a:endParaRPr lang="en-US" altLang="zh-CN" sz="3300" b="1" dirty="0"/>
          </a:p>
          <a:p>
            <a:pPr eaLnBrk="1" hangingPunct="1"/>
            <a:r>
              <a:rPr lang="zh-CN" altLang="en-US" sz="3300" b="1" dirty="0"/>
              <a:t>有序索引与散列的比较</a:t>
            </a:r>
            <a:endParaRPr lang="en-US" altLang="zh-CN" sz="3300" b="1" dirty="0"/>
          </a:p>
          <a:p>
            <a:pPr eaLnBrk="1" hangingPunct="1"/>
            <a:r>
              <a:rPr lang="en-US" altLang="zh-CN" sz="3300" b="1" dirty="0">
                <a:solidFill>
                  <a:srgbClr val="0000FF"/>
                </a:solidFill>
              </a:rPr>
              <a:t>SQL</a:t>
            </a:r>
            <a:r>
              <a:rPr lang="zh-CN" altLang="en-US" sz="3300" b="1" dirty="0">
                <a:solidFill>
                  <a:srgbClr val="0000FF"/>
                </a:solidFill>
              </a:rPr>
              <a:t>中的索引定义</a:t>
            </a:r>
          </a:p>
          <a:p>
            <a:pPr eaLnBrk="1" hangingPunct="1"/>
            <a:r>
              <a:rPr lang="zh-CN" altLang="en-US" sz="3300" b="1" dirty="0"/>
              <a:t>多码存取</a:t>
            </a:r>
            <a:endParaRPr lang="en-US" altLang="zh-CN" sz="3300" b="1" dirty="0"/>
          </a:p>
        </p:txBody>
      </p:sp>
    </p:spTree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灯片编号占位符 5">
            <a:extLst>
              <a:ext uri="{FF2B5EF4-FFF2-40B4-BE49-F238E27FC236}">
                <a16:creationId xmlns:a16="http://schemas.microsoft.com/office/drawing/2014/main" id="{0D22B626-4376-5088-B9D9-1EF505B9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2A624DC-9A8E-4A58-AD98-E931E50E64B3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51</a:t>
            </a:fld>
            <a:endParaRPr lang="en-US" altLang="zh-CN" sz="1200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D408ECA2-07AB-DE4D-4671-4E250F994D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SQL</a:t>
            </a:r>
            <a:r>
              <a:rPr lang="zh-CN" altLang="en-US" b="1"/>
              <a:t>中的索引定义</a:t>
            </a:r>
          </a:p>
        </p:txBody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E1296840-B9CE-5B29-B2C2-EA3230A33B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5006" y="1363321"/>
            <a:ext cx="8057474" cy="4906963"/>
          </a:xfrm>
        </p:spPr>
        <p:txBody>
          <a:bodyPr/>
          <a:lstStyle/>
          <a:p>
            <a:pPr eaLnBrk="1" hangingPunct="1">
              <a:tabLst>
                <a:tab pos="1312863" algn="l"/>
                <a:tab pos="2120900" algn="l"/>
                <a:tab pos="4575175" algn="l"/>
                <a:tab pos="4978400" algn="l"/>
              </a:tabLst>
            </a:pPr>
            <a:r>
              <a:rPr lang="zh-CN" altLang="en-US" sz="2800" b="1" dirty="0"/>
              <a:t>创建索引</a:t>
            </a:r>
            <a:endParaRPr lang="en-US" altLang="zh-CN" sz="2800" b="1" dirty="0"/>
          </a:p>
          <a:p>
            <a:pPr lvl="1" eaLnBrk="1" hangingPunct="1">
              <a:buFont typeface="Wingdings" panose="05000000000000000000" pitchFamily="2" charset="2"/>
              <a:buNone/>
              <a:tabLst>
                <a:tab pos="1312863" algn="l"/>
                <a:tab pos="2120900" algn="l"/>
                <a:tab pos="4575175" algn="l"/>
                <a:tab pos="4978400" algn="l"/>
              </a:tabLst>
            </a:pPr>
            <a:r>
              <a:rPr lang="en-US" altLang="zh-CN" sz="2400" b="1" dirty="0"/>
              <a:t>create index &lt;</a:t>
            </a:r>
            <a:r>
              <a:rPr lang="zh-CN" altLang="en-US" sz="2400" b="1" dirty="0"/>
              <a:t>索引名</a:t>
            </a:r>
            <a:r>
              <a:rPr lang="en-US" altLang="zh-CN" sz="2400" b="1" dirty="0"/>
              <a:t>&gt; on &lt;</a:t>
            </a:r>
            <a:r>
              <a:rPr lang="zh-CN" altLang="en-US" sz="2400" b="1" dirty="0"/>
              <a:t>关系名</a:t>
            </a:r>
            <a:r>
              <a:rPr lang="en-US" altLang="zh-CN" sz="2400" b="1" dirty="0"/>
              <a:t>&gt;(&lt;</a:t>
            </a:r>
            <a:r>
              <a:rPr lang="zh-CN" altLang="en-US" sz="2400" b="1" dirty="0"/>
              <a:t>属性列表</a:t>
            </a:r>
            <a:r>
              <a:rPr lang="en-US" altLang="zh-CN" sz="2400" b="1" dirty="0"/>
              <a:t>&gt;)</a:t>
            </a:r>
          </a:p>
          <a:p>
            <a:pPr lvl="1" eaLnBrk="1" hangingPunct="1">
              <a:buFont typeface="Wingdings" panose="05000000000000000000" pitchFamily="2" charset="2"/>
              <a:buNone/>
              <a:tabLst>
                <a:tab pos="1312863" algn="l"/>
                <a:tab pos="2120900" algn="l"/>
                <a:tab pos="4575175" algn="l"/>
                <a:tab pos="4978400" algn="l"/>
              </a:tabLst>
            </a:pPr>
            <a:r>
              <a:rPr lang="zh-CN" altLang="en-US" sz="2400" b="1" dirty="0"/>
              <a:t>例如</a:t>
            </a:r>
            <a:r>
              <a:rPr lang="en-US" altLang="zh-CN" sz="2400" b="1" dirty="0"/>
              <a:t>:  </a:t>
            </a:r>
            <a:r>
              <a:rPr lang="en-US" altLang="zh-CN" sz="2000" dirty="0"/>
              <a:t>create index </a:t>
            </a:r>
            <a:r>
              <a:rPr lang="en-US" altLang="zh-CN" sz="2000" dirty="0" err="1"/>
              <a:t>dept_index</a:t>
            </a:r>
            <a:r>
              <a:rPr lang="en-US" altLang="zh-CN" sz="2000" dirty="0"/>
              <a:t> on instructor(</a:t>
            </a:r>
            <a:r>
              <a:rPr lang="en-US" altLang="zh-CN" sz="2000" dirty="0" err="1"/>
              <a:t>dept_name</a:t>
            </a:r>
            <a:r>
              <a:rPr lang="en-US" altLang="zh-CN" sz="2000" dirty="0"/>
              <a:t>)</a:t>
            </a:r>
          </a:p>
          <a:p>
            <a:pPr eaLnBrk="1" hangingPunct="1">
              <a:tabLst>
                <a:tab pos="1312863" algn="l"/>
                <a:tab pos="2120900" algn="l"/>
                <a:tab pos="4575175" algn="l"/>
                <a:tab pos="4978400" algn="l"/>
              </a:tabLst>
            </a:pPr>
            <a:r>
              <a:rPr lang="zh-CN" altLang="en-US" sz="2800" b="1" dirty="0"/>
              <a:t>用</a:t>
            </a:r>
            <a:r>
              <a:rPr lang="en-US" altLang="zh-CN" sz="2800" b="1" dirty="0"/>
              <a:t>create unique index </a:t>
            </a:r>
            <a:r>
              <a:rPr lang="zh-CN" altLang="en-US" sz="2800" b="1" dirty="0"/>
              <a:t>可间接指定搜索码是候选键</a:t>
            </a:r>
            <a:endParaRPr lang="en-US" altLang="zh-CN" sz="2800" b="1" dirty="0"/>
          </a:p>
          <a:p>
            <a:pPr lvl="1" eaLnBrk="1" hangingPunct="1">
              <a:tabLst>
                <a:tab pos="1312863" algn="l"/>
                <a:tab pos="2120900" algn="l"/>
                <a:tab pos="4575175" algn="l"/>
                <a:tab pos="4978400" algn="l"/>
              </a:tabLst>
            </a:pPr>
            <a:r>
              <a:rPr lang="zh-CN" altLang="en-US" sz="2400" b="1" dirty="0"/>
              <a:t>如果支持</a:t>
            </a:r>
            <a:r>
              <a:rPr lang="en-US" altLang="zh-CN" sz="2400" b="1" dirty="0"/>
              <a:t>SQL</a:t>
            </a:r>
            <a:r>
              <a:rPr lang="zh-CN" altLang="en-US" sz="2400" b="1" dirty="0"/>
              <a:t>的 </a:t>
            </a:r>
            <a:r>
              <a:rPr lang="en-US" altLang="zh-CN" sz="2400" b="1" dirty="0"/>
              <a:t>unique </a:t>
            </a:r>
            <a:r>
              <a:rPr lang="zh-CN" altLang="en-US" sz="2400" b="1" dirty="0"/>
              <a:t>完整性约束则不需要</a:t>
            </a:r>
            <a:endParaRPr lang="en-US" altLang="zh-CN" sz="2400" b="1" dirty="0"/>
          </a:p>
          <a:p>
            <a:pPr eaLnBrk="1" hangingPunct="1">
              <a:tabLst>
                <a:tab pos="1312863" algn="l"/>
                <a:tab pos="2120900" algn="l"/>
                <a:tab pos="4575175" algn="l"/>
                <a:tab pos="4978400" algn="l"/>
              </a:tabLst>
            </a:pPr>
            <a:r>
              <a:rPr lang="zh-CN" altLang="en-US" sz="2800" b="1" dirty="0"/>
              <a:t>删除索引</a:t>
            </a:r>
            <a:endParaRPr lang="en-US" altLang="zh-CN" sz="2800" b="1" dirty="0"/>
          </a:p>
          <a:p>
            <a:pPr lvl="1" eaLnBrk="1" hangingPunct="1">
              <a:buFont typeface="Wingdings" panose="05000000000000000000" pitchFamily="2" charset="2"/>
              <a:buNone/>
              <a:tabLst>
                <a:tab pos="1312863" algn="l"/>
                <a:tab pos="2120900" algn="l"/>
                <a:tab pos="4575175" algn="l"/>
                <a:tab pos="4978400" algn="l"/>
              </a:tabLst>
            </a:pPr>
            <a:r>
              <a:rPr lang="en-US" altLang="zh-CN" sz="2400" b="1" dirty="0"/>
              <a:t>		drop index &lt;index-name&gt;</a:t>
            </a:r>
          </a:p>
        </p:txBody>
      </p:sp>
    </p:spTree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灯片编号占位符 5">
            <a:extLst>
              <a:ext uri="{FF2B5EF4-FFF2-40B4-BE49-F238E27FC236}">
                <a16:creationId xmlns:a16="http://schemas.microsoft.com/office/drawing/2014/main" id="{68436C98-FA10-91A1-ADE0-10554E0D7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41478E9-A273-457F-ADF4-77456D95AA23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52</a:t>
            </a:fld>
            <a:endParaRPr lang="en-US" altLang="zh-CN" sz="1200"/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3F9844EB-FD7E-6359-DE5B-EAD3711264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主要内容</a:t>
            </a:r>
            <a:endParaRPr lang="en-US" altLang="zh-CN" b="1"/>
          </a:p>
        </p:txBody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245F56CC-DF24-74DD-D9FA-1B34B60019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1600" y="1508126"/>
            <a:ext cx="7508875" cy="5192712"/>
          </a:xfrm>
        </p:spPr>
        <p:txBody>
          <a:bodyPr/>
          <a:lstStyle/>
          <a:p>
            <a:pPr eaLnBrk="1" hangingPunct="1"/>
            <a:r>
              <a:rPr lang="zh-CN" altLang="en-US" sz="2800" b="1" dirty="0"/>
              <a:t>基本概念</a:t>
            </a:r>
            <a:endParaRPr lang="en-US" altLang="zh-CN" sz="2800" b="1" dirty="0"/>
          </a:p>
          <a:p>
            <a:pPr eaLnBrk="1" hangingPunct="1"/>
            <a:r>
              <a:rPr lang="zh-CN" altLang="en-US" sz="2800" b="1" dirty="0"/>
              <a:t>有序索引</a:t>
            </a:r>
            <a:endParaRPr lang="en-US" altLang="zh-CN" sz="2800" b="1" dirty="0"/>
          </a:p>
          <a:p>
            <a:pPr eaLnBrk="1" hangingPunct="1"/>
            <a:r>
              <a:rPr lang="en-US" altLang="zh-CN" sz="2800" b="1" dirty="0" err="1"/>
              <a:t>B</a:t>
            </a:r>
            <a:r>
              <a:rPr lang="en-US" altLang="zh-CN" sz="2800" b="1" baseline="30000" dirty="0" err="1"/>
              <a:t>+</a:t>
            </a:r>
            <a:r>
              <a:rPr lang="en-US" altLang="zh-CN" sz="2800" b="1" dirty="0" err="1"/>
              <a:t>Tree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索引文件</a:t>
            </a:r>
            <a:endParaRPr lang="en-US" altLang="zh-CN" sz="2800" b="1" dirty="0"/>
          </a:p>
          <a:p>
            <a:pPr eaLnBrk="1" hangingPunct="1"/>
            <a:r>
              <a:rPr lang="zh-CN" altLang="en-US" sz="2800" b="1" dirty="0"/>
              <a:t>散列索引</a:t>
            </a:r>
            <a:endParaRPr lang="en-US" altLang="zh-CN" sz="2800" b="1" dirty="0"/>
          </a:p>
          <a:p>
            <a:pPr eaLnBrk="1" hangingPunct="1"/>
            <a:r>
              <a:rPr lang="zh-CN" altLang="en-US" sz="2800" b="1" dirty="0"/>
              <a:t>有序索引与散列的比较</a:t>
            </a:r>
            <a:endParaRPr lang="en-US" altLang="zh-CN" sz="2800" b="1" dirty="0"/>
          </a:p>
          <a:p>
            <a:pPr eaLnBrk="1" hangingPunct="1"/>
            <a:r>
              <a:rPr lang="en-US" altLang="zh-CN" sz="2800" b="1" dirty="0"/>
              <a:t>SQL</a:t>
            </a:r>
            <a:r>
              <a:rPr lang="zh-CN" altLang="en-US" sz="2800" b="1" dirty="0"/>
              <a:t>中的索引定义</a:t>
            </a:r>
          </a:p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</a:rPr>
              <a:t>多码存取</a:t>
            </a:r>
          </a:p>
          <a:p>
            <a:pPr lvl="1" eaLnBrk="1" hangingPunct="1"/>
            <a:r>
              <a:rPr lang="zh-CN" altLang="en-US" sz="2400" b="1" dirty="0">
                <a:solidFill>
                  <a:srgbClr val="0000FF"/>
                </a:solidFill>
              </a:rPr>
              <a:t>多码索引</a:t>
            </a:r>
          </a:p>
          <a:p>
            <a:pPr lvl="1" eaLnBrk="1" hangingPunct="1"/>
            <a:r>
              <a:rPr lang="zh-CN" altLang="en-US" sz="2400" b="1" dirty="0">
                <a:solidFill>
                  <a:srgbClr val="0000FF"/>
                </a:solidFill>
              </a:rPr>
              <a:t>位图</a:t>
            </a:r>
          </a:p>
        </p:txBody>
      </p:sp>
    </p:spTree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灯片编号占位符 5">
            <a:extLst>
              <a:ext uri="{FF2B5EF4-FFF2-40B4-BE49-F238E27FC236}">
                <a16:creationId xmlns:a16="http://schemas.microsoft.com/office/drawing/2014/main" id="{B9022831-1BC6-9B4E-8220-5EE351E75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F32DD07-374F-4F15-A032-B69A3043E645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53</a:t>
            </a:fld>
            <a:endParaRPr lang="en-US" altLang="zh-CN" sz="1200"/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5C755B2F-6896-06AD-C181-BF853CDD9A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多码访问</a:t>
            </a:r>
            <a:endParaRPr lang="en-US" altLang="zh-CN" b="1" dirty="0"/>
          </a:p>
        </p:txBody>
      </p:sp>
      <p:sp>
        <p:nvSpPr>
          <p:cNvPr id="526339" name="Rectangle 3">
            <a:extLst>
              <a:ext uri="{FF2B5EF4-FFF2-40B4-BE49-F238E27FC236}">
                <a16:creationId xmlns:a16="http://schemas.microsoft.com/office/drawing/2014/main" id="{754E5E68-7086-0321-7C01-B5AF1DA44B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20725" y="1423565"/>
            <a:ext cx="8099747" cy="4741739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400" b="1" dirty="0"/>
              <a:t>假设</a:t>
            </a:r>
            <a:r>
              <a:rPr lang="en-US" altLang="zh-CN" sz="2400" dirty="0"/>
              <a:t>instructor</a:t>
            </a:r>
            <a:r>
              <a:rPr lang="zh-CN" altLang="en-US" sz="2400" b="1" dirty="0"/>
              <a:t>文件有</a:t>
            </a:r>
            <a:r>
              <a:rPr lang="zh-CN" altLang="en-US" sz="2400" b="1" dirty="0">
                <a:solidFill>
                  <a:srgbClr val="0000FF"/>
                </a:solidFill>
              </a:rPr>
              <a:t>两个索引</a:t>
            </a:r>
            <a:r>
              <a:rPr lang="zh-CN" altLang="en-US" sz="2400" b="1" dirty="0"/>
              <a:t>，一个建立在</a:t>
            </a:r>
            <a:r>
              <a:rPr lang="en-US" altLang="zh-CN" sz="2400" dirty="0" err="1"/>
              <a:t>dept_name</a:t>
            </a:r>
            <a:r>
              <a:rPr lang="zh-CN" altLang="en-US" sz="2400" b="1" dirty="0"/>
              <a:t>上，一个建立在</a:t>
            </a:r>
            <a:r>
              <a:rPr lang="en-US" altLang="zh-CN" sz="2400" dirty="0"/>
              <a:t>salary</a:t>
            </a:r>
            <a:r>
              <a:rPr lang="zh-CN" altLang="en-US" sz="2400" b="1" dirty="0"/>
              <a:t>上。</a:t>
            </a:r>
            <a:endParaRPr lang="en-US" altLang="zh-CN" sz="2400" b="1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zh-CN" altLang="en-US" sz="2800" dirty="0"/>
              <a:t>例</a:t>
            </a:r>
            <a:r>
              <a:rPr lang="en-US" altLang="zh-CN" sz="2800" dirty="0"/>
              <a:t>  </a:t>
            </a:r>
            <a:r>
              <a:rPr lang="en-US" altLang="zh-CN" sz="2000" dirty="0"/>
              <a:t>select ID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CN" sz="2000" dirty="0"/>
              <a:t>      from instructor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CN" sz="2000" dirty="0"/>
              <a:t>      where </a:t>
            </a:r>
            <a:r>
              <a:rPr lang="en-US" altLang="zh-CN" sz="2000" dirty="0" err="1"/>
              <a:t>dept_name</a:t>
            </a:r>
            <a:r>
              <a:rPr lang="en-US" altLang="zh-CN" sz="2000" dirty="0"/>
              <a:t> = “Finance” and salary = 80000</a:t>
            </a:r>
          </a:p>
          <a:p>
            <a:pPr eaLnBrk="1" hangingPunct="1">
              <a:lnSpc>
                <a:spcPct val="90000"/>
              </a:lnSpc>
              <a:spcBef>
                <a:spcPts val="600"/>
              </a:spcBef>
            </a:pPr>
            <a:r>
              <a:rPr lang="zh-CN" altLang="en-US" sz="2400" b="1" dirty="0"/>
              <a:t>使用</a:t>
            </a:r>
            <a:r>
              <a:rPr lang="zh-CN" altLang="en-US" sz="2400" b="1" u="sng" dirty="0"/>
              <a:t>单个属性上的索引</a:t>
            </a:r>
            <a:r>
              <a:rPr lang="zh-CN" altLang="en-US" sz="2400" b="1" dirty="0"/>
              <a:t>进行查询处理的可能策略：</a:t>
            </a:r>
            <a:endParaRPr lang="en-US" altLang="zh-CN" sz="2400" b="1" dirty="0"/>
          </a:p>
          <a:p>
            <a:pPr marL="914400" lvl="1" indent="-457200">
              <a:lnSpc>
                <a:spcPct val="90000"/>
              </a:lnSpc>
              <a:buAutoNum type="arabicPeriod"/>
            </a:pPr>
            <a:r>
              <a:rPr lang="zh-CN" altLang="en-US" sz="2000" dirty="0"/>
              <a:t>利用</a:t>
            </a:r>
            <a:r>
              <a:rPr lang="en-US" altLang="zh-CN" sz="2000" dirty="0"/>
              <a:t> </a:t>
            </a:r>
            <a:r>
              <a:rPr lang="en-US" altLang="zh-CN" sz="2000" dirty="0" err="1">
                <a:solidFill>
                  <a:srgbClr val="0000FF"/>
                </a:solidFill>
              </a:rPr>
              <a:t>dept_name</a:t>
            </a:r>
            <a:r>
              <a:rPr lang="zh-CN" altLang="en-US" sz="2000" dirty="0">
                <a:solidFill>
                  <a:srgbClr val="0000FF"/>
                </a:solidFill>
              </a:rPr>
              <a:t>上的索引</a:t>
            </a:r>
            <a:r>
              <a:rPr lang="zh-CN" altLang="en-US" sz="2000" dirty="0"/>
              <a:t>查找属于</a:t>
            </a:r>
            <a:r>
              <a:rPr lang="en-US" altLang="zh-CN" sz="2000" dirty="0"/>
              <a:t>Finance</a:t>
            </a:r>
            <a:r>
              <a:rPr lang="zh-CN" altLang="en-US" sz="2000" dirty="0"/>
              <a:t>系的所有记录；再检查每条记录是否满足</a:t>
            </a:r>
            <a:r>
              <a:rPr lang="en-US" altLang="zh-CN" sz="2000" dirty="0"/>
              <a:t> salary = 80000 </a:t>
            </a:r>
          </a:p>
          <a:p>
            <a:pPr marL="914400" lvl="1" indent="-457200">
              <a:lnSpc>
                <a:spcPct val="90000"/>
              </a:lnSpc>
              <a:buAutoNum type="arabicPeriod"/>
            </a:pPr>
            <a:r>
              <a:rPr lang="zh-CN" altLang="en-US" sz="2000" dirty="0"/>
              <a:t>利用</a:t>
            </a:r>
            <a:r>
              <a:rPr lang="en-US" altLang="zh-CN" sz="2000" dirty="0">
                <a:solidFill>
                  <a:srgbClr val="0000FF"/>
                </a:solidFill>
              </a:rPr>
              <a:t>salary</a:t>
            </a:r>
            <a:r>
              <a:rPr lang="zh-CN" altLang="en-US" sz="2000" dirty="0">
                <a:solidFill>
                  <a:srgbClr val="0000FF"/>
                </a:solidFill>
              </a:rPr>
              <a:t>上的索引</a:t>
            </a:r>
            <a:r>
              <a:rPr lang="zh-CN" altLang="en-US" sz="2000" dirty="0"/>
              <a:t>查找薪水等于$</a:t>
            </a:r>
            <a:r>
              <a:rPr lang="en-US" altLang="zh-CN" sz="2000" dirty="0"/>
              <a:t>80</a:t>
            </a:r>
            <a:r>
              <a:rPr lang="zh-CN" altLang="en-US" sz="2000" dirty="0"/>
              <a:t>000的教师的所有记录；再检查每条记录是否满足</a:t>
            </a:r>
            <a:r>
              <a:rPr lang="en-US" altLang="zh-CN" sz="2000" i="1" dirty="0"/>
              <a:t> </a:t>
            </a:r>
            <a:r>
              <a:rPr lang="en-US" altLang="zh-CN" sz="2000" dirty="0" err="1"/>
              <a:t>dept_name</a:t>
            </a:r>
            <a:r>
              <a:rPr lang="en-US" altLang="zh-CN" sz="2000" dirty="0"/>
              <a:t> = “Finance” </a:t>
            </a:r>
          </a:p>
          <a:p>
            <a:pPr marL="914400" lvl="1" indent="-457200">
              <a:lnSpc>
                <a:spcPct val="90000"/>
              </a:lnSpc>
              <a:buAutoNum type="arabicPeriod"/>
            </a:pPr>
            <a:r>
              <a:rPr lang="zh-CN" altLang="en-US" sz="2000" dirty="0"/>
              <a:t>利用</a:t>
            </a:r>
            <a:r>
              <a:rPr lang="en-US" altLang="zh-CN" sz="2000" dirty="0" err="1">
                <a:solidFill>
                  <a:srgbClr val="0000FF"/>
                </a:solidFill>
              </a:rPr>
              <a:t>dept_name</a:t>
            </a:r>
            <a:r>
              <a:rPr lang="en-US" altLang="zh-CN" sz="2000" i="1" dirty="0">
                <a:solidFill>
                  <a:srgbClr val="0000FF"/>
                </a:solidFill>
              </a:rPr>
              <a:t> </a:t>
            </a:r>
            <a:r>
              <a:rPr lang="zh-CN" altLang="en-US" sz="2000" dirty="0">
                <a:solidFill>
                  <a:srgbClr val="0000FF"/>
                </a:solidFill>
              </a:rPr>
              <a:t>索引</a:t>
            </a:r>
            <a:r>
              <a:rPr lang="zh-CN" altLang="en-US" sz="2000" dirty="0"/>
              <a:t>找出指向属于</a:t>
            </a:r>
            <a:r>
              <a:rPr lang="en-US" altLang="zh-CN" sz="2000" dirty="0"/>
              <a:t>Finance</a:t>
            </a:r>
            <a:r>
              <a:rPr lang="zh-CN" altLang="en-US" sz="2000" dirty="0"/>
              <a:t>系的所有记录的指针；类似地</a:t>
            </a:r>
            <a:r>
              <a:rPr lang="zh-CN" altLang="en-US" sz="2000" dirty="0">
                <a:solidFill>
                  <a:srgbClr val="0000FF"/>
                </a:solidFill>
              </a:rPr>
              <a:t>利用</a:t>
            </a:r>
            <a:r>
              <a:rPr lang="en-US" altLang="zh-CN" sz="2000" dirty="0">
                <a:solidFill>
                  <a:srgbClr val="0000FF"/>
                </a:solidFill>
              </a:rPr>
              <a:t> salary</a:t>
            </a:r>
            <a:r>
              <a:rPr lang="zh-CN" altLang="en-US" sz="2000" dirty="0">
                <a:solidFill>
                  <a:srgbClr val="0000FF"/>
                </a:solidFill>
              </a:rPr>
              <a:t>上索引</a:t>
            </a:r>
            <a:r>
              <a:rPr lang="zh-CN" altLang="en-US" sz="2000" dirty="0"/>
              <a:t>找出指向薪水为$</a:t>
            </a:r>
            <a:r>
              <a:rPr lang="en-US" altLang="zh-CN" sz="2000" dirty="0"/>
              <a:t>80</a:t>
            </a:r>
            <a:r>
              <a:rPr lang="zh-CN" altLang="en-US" sz="2000" dirty="0"/>
              <a:t>000的教师的所有记录的指针；再求所得指针集合的</a:t>
            </a:r>
            <a:r>
              <a:rPr lang="zh-CN" altLang="en-US" sz="2000" b="1" dirty="0">
                <a:solidFill>
                  <a:srgbClr val="006600"/>
                </a:solidFill>
              </a:rPr>
              <a:t>交集</a:t>
            </a:r>
            <a:endParaRPr lang="en-US" altLang="zh-CN" sz="2000" b="1" dirty="0">
              <a:solidFill>
                <a:srgbClr val="0066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691680" y="5992952"/>
            <a:ext cx="5466649" cy="7078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000" b="1" dirty="0"/>
              <a:t>如果单个条件下，满足条件的记录很多，而满足两个条件的记录很少，代价很大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6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6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26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26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26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26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灯片编号占位符 5">
            <a:extLst>
              <a:ext uri="{FF2B5EF4-FFF2-40B4-BE49-F238E27FC236}">
                <a16:creationId xmlns:a16="http://schemas.microsoft.com/office/drawing/2014/main" id="{492D7E07-439A-BC22-E205-A975AE5F4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BA38D02-AC93-491F-AF0F-F2764C0CEB43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54</a:t>
            </a:fld>
            <a:endParaRPr lang="en-US" altLang="zh-CN" sz="1200"/>
          </a:p>
        </p:txBody>
      </p:sp>
      <p:sp>
        <p:nvSpPr>
          <p:cNvPr id="527363" name="Rectangle 3">
            <a:extLst>
              <a:ext uri="{FF2B5EF4-FFF2-40B4-BE49-F238E27FC236}">
                <a16:creationId xmlns:a16="http://schemas.microsoft.com/office/drawing/2014/main" id="{E9023373-B86D-3C94-7DEC-725EADE945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3567" y="1740878"/>
            <a:ext cx="8260407" cy="5000490"/>
          </a:xfrm>
        </p:spPr>
        <p:txBody>
          <a:bodyPr/>
          <a:lstStyle/>
          <a:p>
            <a:pPr eaLnBrk="1" hangingPunct="1"/>
            <a:r>
              <a:rPr lang="zh-CN" altLang="en-US" sz="2000" b="1" dirty="0"/>
              <a:t>索引结构基本上和其它索引结构一致，不同之处在于</a:t>
            </a:r>
            <a:r>
              <a:rPr lang="zh-CN" altLang="en-US" sz="2000" b="1" dirty="0">
                <a:solidFill>
                  <a:srgbClr val="C00000"/>
                </a:solidFill>
              </a:rPr>
              <a:t>搜索码</a:t>
            </a:r>
            <a:r>
              <a:rPr lang="zh-CN" altLang="en-US" sz="2000" b="1" dirty="0">
                <a:solidFill>
                  <a:srgbClr val="0000FF"/>
                </a:solidFill>
              </a:rPr>
              <a:t>不是一个单独的属性</a:t>
            </a:r>
            <a:r>
              <a:rPr lang="zh-CN" altLang="en-US" sz="2000" b="1" dirty="0"/>
              <a:t>，而是</a:t>
            </a:r>
            <a:r>
              <a:rPr lang="zh-CN" altLang="en-US" sz="2000" b="1" dirty="0">
                <a:solidFill>
                  <a:srgbClr val="C00000"/>
                </a:solidFill>
              </a:rPr>
              <a:t>属性列表</a:t>
            </a:r>
          </a:p>
          <a:p>
            <a:pPr eaLnBrk="1" hangingPunct="1"/>
            <a:r>
              <a:rPr lang="zh-CN" altLang="en-US" sz="2000" b="1" dirty="0"/>
              <a:t>假定存在</a:t>
            </a:r>
            <a:r>
              <a:rPr lang="zh-CN" altLang="en-US" sz="2000" b="1" u="sng" dirty="0"/>
              <a:t>两个属性</a:t>
            </a:r>
            <a:r>
              <a:rPr lang="zh-CN" altLang="en-US" sz="2000" b="1" dirty="0"/>
              <a:t>，按搜索码值的次序</a:t>
            </a:r>
            <a:r>
              <a:rPr lang="zh-CN" altLang="en-US" sz="2000" b="1" dirty="0">
                <a:solidFill>
                  <a:srgbClr val="C00000"/>
                </a:solidFill>
              </a:rPr>
              <a:t>首先</a:t>
            </a:r>
            <a:r>
              <a:rPr lang="zh-CN" altLang="en-US" sz="2000" b="1" dirty="0">
                <a:solidFill>
                  <a:srgbClr val="0000FF"/>
                </a:solidFill>
              </a:rPr>
              <a:t>考虑第一个属性</a:t>
            </a:r>
            <a:r>
              <a:rPr lang="zh-CN" altLang="en-US" sz="2000" b="1" dirty="0"/>
              <a:t>，</a:t>
            </a:r>
            <a:r>
              <a:rPr lang="zh-CN" altLang="en-US" sz="2000" b="1" dirty="0">
                <a:solidFill>
                  <a:srgbClr val="C00000"/>
                </a:solidFill>
              </a:rPr>
              <a:t>其次</a:t>
            </a:r>
            <a:r>
              <a:rPr lang="zh-CN" altLang="en-US" sz="2000" b="1" dirty="0">
                <a:solidFill>
                  <a:srgbClr val="0000FF"/>
                </a:solidFill>
              </a:rPr>
              <a:t>考虑第二个属性</a:t>
            </a:r>
            <a:endParaRPr lang="en-US" altLang="zh-CN" sz="2000" b="1" dirty="0">
              <a:solidFill>
                <a:srgbClr val="0000FF"/>
              </a:solidFill>
            </a:endParaRPr>
          </a:p>
          <a:p>
            <a:pPr eaLnBrk="1" hangingPunct="1"/>
            <a:r>
              <a:rPr lang="zh-CN" altLang="en-US" sz="2000" b="1" dirty="0"/>
              <a:t>对于</a:t>
            </a:r>
            <a:r>
              <a:rPr lang="en-US" altLang="zh-CN" sz="2000" b="1" dirty="0"/>
              <a:t>where</a:t>
            </a:r>
            <a:r>
              <a:rPr lang="zh-CN" altLang="en-US" sz="2000" b="1" dirty="0"/>
              <a:t>子句</a:t>
            </a:r>
            <a:br>
              <a:rPr lang="en-US" altLang="zh-CN" sz="2000" b="1" dirty="0"/>
            </a:br>
            <a:r>
              <a:rPr lang="en-US" altLang="zh-CN" sz="1800" b="1" dirty="0"/>
              <a:t>where</a:t>
            </a:r>
            <a:r>
              <a:rPr lang="en-US" altLang="zh-CN" sz="1800" b="1" i="1" dirty="0"/>
              <a:t> </a:t>
            </a:r>
            <a:r>
              <a:rPr lang="en-US" altLang="zh-CN" sz="1800" dirty="0" err="1"/>
              <a:t>dept_name</a:t>
            </a:r>
            <a:r>
              <a:rPr lang="en-US" altLang="zh-CN" sz="1800" dirty="0"/>
              <a:t> = “Finance” and salary = 80000</a:t>
            </a:r>
          </a:p>
          <a:p>
            <a:pPr lvl="1" eaLnBrk="1" hangingPunct="1"/>
            <a:r>
              <a:rPr lang="zh-CN" altLang="en-US" sz="1800" b="1" dirty="0"/>
              <a:t>多属性索引将</a:t>
            </a:r>
            <a:r>
              <a:rPr lang="zh-CN" altLang="en-US" sz="1800" b="1" dirty="0">
                <a:solidFill>
                  <a:srgbClr val="006600"/>
                </a:solidFill>
              </a:rPr>
              <a:t>只取出</a:t>
            </a:r>
            <a:r>
              <a:rPr lang="zh-CN" altLang="en-US" sz="1800" b="1" dirty="0">
                <a:solidFill>
                  <a:srgbClr val="0000FF"/>
                </a:solidFill>
              </a:rPr>
              <a:t>两个条件都满足的记录</a:t>
            </a:r>
            <a:endParaRPr lang="en-US" altLang="zh-CN" sz="1800" b="1" dirty="0">
              <a:solidFill>
                <a:srgbClr val="0000FF"/>
              </a:solidFill>
            </a:endParaRPr>
          </a:p>
          <a:p>
            <a:pPr lvl="1" eaLnBrk="1" hangingPunct="1"/>
            <a:r>
              <a:rPr lang="zh-CN" altLang="en-US" sz="1800" b="1" dirty="0"/>
              <a:t>利用分开的索引效率较差：因为只满足一个条件时可能取出很多记录</a:t>
            </a:r>
            <a:r>
              <a:rPr lang="en-US" altLang="zh-CN" sz="1800" b="1" dirty="0"/>
              <a:t>(</a:t>
            </a:r>
            <a:r>
              <a:rPr lang="zh-CN" altLang="en-US" sz="1800" b="1" dirty="0"/>
              <a:t>或指针</a:t>
            </a:r>
            <a:r>
              <a:rPr lang="en-US" altLang="zh-CN" sz="1800" b="1" dirty="0"/>
              <a:t>)</a:t>
            </a:r>
          </a:p>
          <a:p>
            <a:r>
              <a:rPr lang="zh-CN" altLang="en-US" sz="2000" b="1" dirty="0"/>
              <a:t>也可以高效地处理</a:t>
            </a:r>
            <a:r>
              <a:rPr lang="en-US" altLang="zh-CN" sz="2000" b="1" dirty="0"/>
              <a:t>: </a:t>
            </a:r>
            <a:r>
              <a:rPr lang="en-US" altLang="zh-CN" sz="1800" b="1" dirty="0"/>
              <a:t>where</a:t>
            </a:r>
            <a:r>
              <a:rPr lang="en-US" altLang="zh-CN" sz="1800" b="1" i="1" dirty="0"/>
              <a:t> </a:t>
            </a:r>
            <a:r>
              <a:rPr lang="en-US" altLang="zh-CN" sz="1800" dirty="0" err="1"/>
              <a:t>dept_name</a:t>
            </a:r>
            <a:r>
              <a:rPr lang="en-US" altLang="zh-CN" sz="1800" dirty="0"/>
              <a:t> = “Finance” and salary &lt; 80000</a:t>
            </a:r>
          </a:p>
          <a:p>
            <a:r>
              <a:rPr lang="zh-CN" altLang="en-US" sz="2000" b="1" dirty="0"/>
              <a:t>但是</a:t>
            </a:r>
            <a:r>
              <a:rPr lang="zh-CN" altLang="en-US" sz="2000" b="1" dirty="0">
                <a:solidFill>
                  <a:srgbClr val="FF0000"/>
                </a:solidFill>
              </a:rPr>
              <a:t>不能高效地处理</a:t>
            </a:r>
            <a:br>
              <a:rPr lang="en-US" altLang="zh-CN" sz="2000" b="1" dirty="0"/>
            </a:br>
            <a:r>
              <a:rPr lang="en-US" altLang="zh-CN" sz="2000" b="1" dirty="0"/>
              <a:t>           </a:t>
            </a:r>
            <a:r>
              <a:rPr lang="en-US" altLang="zh-CN" sz="1800" b="1" dirty="0"/>
              <a:t>where</a:t>
            </a:r>
            <a:r>
              <a:rPr lang="en-US" altLang="zh-CN" sz="1800" b="1" i="1" dirty="0"/>
              <a:t> </a:t>
            </a:r>
            <a:r>
              <a:rPr lang="en-US" altLang="zh-CN" sz="1800" dirty="0" err="1"/>
              <a:t>dept_name</a:t>
            </a:r>
            <a:r>
              <a:rPr lang="en-US" altLang="zh-CN" sz="1800" dirty="0"/>
              <a:t> &lt; “Finance” and salary &lt; 80000</a:t>
            </a:r>
          </a:p>
          <a:p>
            <a:pPr marL="0" indent="0" eaLnBrk="1" hangingPunct="1">
              <a:buNone/>
            </a:pPr>
            <a:r>
              <a:rPr lang="zh-CN" altLang="en-US" sz="2000" b="1" dirty="0"/>
              <a:t>     可能取出很多满足第一个条件却不满足第二个条件的记录</a:t>
            </a:r>
            <a:endParaRPr lang="en-US" altLang="zh-CN" sz="2000" b="1" dirty="0"/>
          </a:p>
        </p:txBody>
      </p:sp>
      <p:sp>
        <p:nvSpPr>
          <p:cNvPr id="61445" name="Text Box 4">
            <a:extLst>
              <a:ext uri="{FF2B5EF4-FFF2-40B4-BE49-F238E27FC236}">
                <a16:creationId xmlns:a16="http://schemas.microsoft.com/office/drawing/2014/main" id="{71201B77-FDB5-8934-9FC5-11F674AA26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70" y="1340768"/>
            <a:ext cx="623760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tabLst>
                <a:tab pos="2165350" algn="l"/>
              </a:tabLst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tabLst>
                <a:tab pos="2165350" algn="l"/>
              </a:tabLst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tabLst>
                <a:tab pos="2165350" algn="l"/>
              </a:tabLst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tabLst>
                <a:tab pos="2165350" algn="l"/>
              </a:tabLst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tabLst>
                <a:tab pos="2165350" algn="l"/>
              </a:tabLst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tabLst>
                <a:tab pos="2165350" algn="l"/>
              </a:tabLst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tabLst>
                <a:tab pos="2165350" algn="l"/>
              </a:tabLst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tabLst>
                <a:tab pos="2165350" algn="l"/>
              </a:tabLst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tabLst>
                <a:tab pos="2165350" algn="l"/>
              </a:tabLst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i="0" dirty="0">
                <a:latin typeface="Helvetica" panose="020B0604020202020204" pitchFamily="34" charset="0"/>
              </a:rPr>
              <a:t>假设在</a:t>
            </a:r>
            <a:r>
              <a:rPr lang="zh-CN" altLang="en-US" sz="2000" b="1" i="0" dirty="0">
                <a:solidFill>
                  <a:srgbClr val="0000FF"/>
                </a:solidFill>
                <a:latin typeface="Helvetica" panose="020B0604020202020204" pitchFamily="34" charset="0"/>
              </a:rPr>
              <a:t>多个属性</a:t>
            </a:r>
            <a:r>
              <a:rPr lang="zh-CN" altLang="en-US" sz="2000" b="1" i="0" dirty="0">
                <a:latin typeface="Helvetica" panose="020B0604020202020204" pitchFamily="34" charset="0"/>
              </a:rPr>
              <a:t>之上</a:t>
            </a:r>
            <a:r>
              <a:rPr lang="en-US" altLang="zh-CN" sz="2000" b="1" i="0" dirty="0">
                <a:latin typeface="Helvetica" panose="020B0604020202020204" pitchFamily="34" charset="0"/>
              </a:rPr>
              <a:t>(</a:t>
            </a:r>
            <a:r>
              <a:rPr kumimoji="0" lang="en-US" altLang="en-US" sz="2000" dirty="0" err="1"/>
              <a:t>dept_name</a:t>
            </a:r>
            <a:r>
              <a:rPr kumimoji="0" lang="en-US" altLang="en-US" sz="2000" dirty="0"/>
              <a:t>, salary</a:t>
            </a:r>
            <a:r>
              <a:rPr lang="en-US" altLang="zh-CN" sz="2000" b="1" i="0" dirty="0">
                <a:latin typeface="Helvetica" panose="020B0604020202020204" pitchFamily="34" charset="0"/>
              </a:rPr>
              <a:t>)</a:t>
            </a:r>
            <a:r>
              <a:rPr lang="zh-CN" altLang="en-US" sz="2000" b="1" i="0" dirty="0">
                <a:latin typeface="Helvetica" panose="020B0604020202020204" pitchFamily="34" charset="0"/>
              </a:rPr>
              <a:t>建立</a:t>
            </a:r>
            <a:r>
              <a:rPr lang="zh-CN" altLang="en-US" sz="2000" b="1" i="0" dirty="0">
                <a:solidFill>
                  <a:srgbClr val="0000FF"/>
                </a:solidFill>
                <a:latin typeface="Helvetica" panose="020B0604020202020204" pitchFamily="34" charset="0"/>
              </a:rPr>
              <a:t>索引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777BEC-768C-1E66-8706-EA23D1BFB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81000"/>
            <a:ext cx="81057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zh-CN" altLang="en-US" b="1" dirty="0"/>
              <a:t>多属性索引</a:t>
            </a:r>
            <a:endParaRPr kumimoji="0" lang="en-US" altLang="zh-CN" b="1" kern="0" dirty="0"/>
          </a:p>
        </p:txBody>
      </p:sp>
    </p:spTree>
    <p:extLst>
      <p:ext uri="{BB962C8B-B14F-4D97-AF65-F5344CB8AC3E}">
        <p14:creationId xmlns:p14="http://schemas.microsoft.com/office/powerpoint/2010/main" val="225037779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27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27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27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27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27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灯片编号占位符 5">
            <a:extLst>
              <a:ext uri="{FF2B5EF4-FFF2-40B4-BE49-F238E27FC236}">
                <a16:creationId xmlns:a16="http://schemas.microsoft.com/office/drawing/2014/main" id="{6A73AFAD-1394-0A44-8DCA-C60D21F1A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4CE944A-90FB-4230-BA04-EA7A2C3D7916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55</a:t>
            </a:fld>
            <a:endParaRPr lang="en-US" altLang="zh-CN" sz="1200"/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760BBAEB-6586-A686-602E-48F5318370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位图索引</a:t>
            </a:r>
            <a:endParaRPr lang="en-US" altLang="zh-CN" b="1"/>
          </a:p>
        </p:txBody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4951D4D4-30A1-F340-F2EF-D8B1E6CBC2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444254"/>
            <a:ext cx="7704138" cy="3712938"/>
          </a:xfrm>
        </p:spPr>
        <p:txBody>
          <a:bodyPr/>
          <a:lstStyle/>
          <a:p>
            <a:pPr eaLnBrk="1" hangingPunct="1"/>
            <a:r>
              <a:rPr lang="zh-CN" altLang="en-US" sz="2100" b="1" dirty="0">
                <a:solidFill>
                  <a:srgbClr val="FF3300"/>
                </a:solidFill>
              </a:rPr>
              <a:t>位图索引</a:t>
            </a:r>
            <a:r>
              <a:rPr lang="zh-CN" altLang="en-US" sz="2100" b="1" dirty="0"/>
              <a:t>是一种特殊类型的索引，用来实现高效的</a:t>
            </a:r>
            <a:r>
              <a:rPr lang="zh-CN" altLang="en-US" sz="2100" b="1" dirty="0">
                <a:solidFill>
                  <a:srgbClr val="FF3300"/>
                </a:solidFill>
              </a:rPr>
              <a:t>多码查询</a:t>
            </a:r>
            <a:endParaRPr lang="en-US" altLang="zh-CN" sz="2100" b="1" dirty="0">
              <a:solidFill>
                <a:srgbClr val="FF3300"/>
              </a:solidFill>
            </a:endParaRPr>
          </a:p>
          <a:p>
            <a:pPr eaLnBrk="1" hangingPunct="1"/>
            <a:r>
              <a:rPr lang="zh-CN" altLang="en-US" sz="2100" b="1" dirty="0"/>
              <a:t>适用于</a:t>
            </a:r>
            <a:r>
              <a:rPr lang="zh-CN" altLang="en-US" sz="2100" b="1" dirty="0">
                <a:solidFill>
                  <a:srgbClr val="C00000"/>
                </a:solidFill>
              </a:rPr>
              <a:t>低基数</a:t>
            </a:r>
            <a:r>
              <a:rPr lang="zh-CN" altLang="en-US" sz="2100" b="1" dirty="0"/>
              <a:t>属性：具有</a:t>
            </a:r>
            <a:r>
              <a:rPr lang="zh-CN" altLang="en-US" sz="2100" b="1" dirty="0">
                <a:solidFill>
                  <a:srgbClr val="0000FF"/>
                </a:solidFill>
              </a:rPr>
              <a:t>相对较少数目</a:t>
            </a:r>
            <a:r>
              <a:rPr lang="zh-CN" altLang="en-US" sz="2100" b="1" dirty="0"/>
              <a:t>的</a:t>
            </a:r>
            <a:r>
              <a:rPr lang="zh-CN" altLang="en-US" sz="2100" b="1" dirty="0">
                <a:solidFill>
                  <a:srgbClr val="0000FF"/>
                </a:solidFill>
              </a:rPr>
              <a:t>不同值</a:t>
            </a:r>
            <a:r>
              <a:rPr lang="zh-CN" altLang="en-US" sz="2100" b="1" dirty="0"/>
              <a:t>的</a:t>
            </a:r>
            <a:r>
              <a:rPr lang="zh-CN" altLang="en-US" sz="2100" b="1" dirty="0">
                <a:solidFill>
                  <a:srgbClr val="FF0000"/>
                </a:solidFill>
              </a:rPr>
              <a:t>属性</a:t>
            </a:r>
            <a:endParaRPr lang="en-US" altLang="zh-CN" sz="2100" b="1" dirty="0">
              <a:solidFill>
                <a:srgbClr val="FF0000"/>
              </a:solidFill>
            </a:endParaRPr>
          </a:p>
          <a:p>
            <a:pPr lvl="1" eaLnBrk="1" hangingPunct="1"/>
            <a:r>
              <a:rPr lang="zh-CN" altLang="en-US" sz="2100" b="1" dirty="0"/>
              <a:t>例如：性别，国家，州，</a:t>
            </a:r>
            <a:r>
              <a:rPr lang="en-US" altLang="zh-CN" sz="2100" b="1" dirty="0"/>
              <a:t> </a:t>
            </a:r>
            <a:r>
              <a:rPr lang="en-US" altLang="zh-CN" sz="2100" b="1" dirty="0">
                <a:latin typeface="Arial" panose="020B0604020202020204" pitchFamily="34" charset="0"/>
              </a:rPr>
              <a:t>…</a:t>
            </a:r>
            <a:endParaRPr lang="en-US" altLang="zh-CN" sz="2100" b="1" dirty="0"/>
          </a:p>
          <a:p>
            <a:pPr eaLnBrk="1" hangingPunct="1"/>
            <a:r>
              <a:rPr lang="zh-CN" altLang="en-US" sz="2100" b="1" dirty="0"/>
              <a:t>如果出现连续数值，则可以按照查询要求进行离散化</a:t>
            </a:r>
          </a:p>
          <a:p>
            <a:pPr lvl="1" eaLnBrk="1" hangingPunct="1"/>
            <a:r>
              <a:rPr lang="zh-CN" altLang="en-US" sz="2100" b="1" dirty="0"/>
              <a:t>例如收入等级</a:t>
            </a:r>
            <a:r>
              <a:rPr lang="en-US" altLang="zh-CN" sz="2100" b="1" dirty="0"/>
              <a:t>(</a:t>
            </a:r>
            <a:r>
              <a:rPr lang="zh-CN" altLang="en-US" sz="2100" b="1" dirty="0"/>
              <a:t>收入分解成</a:t>
            </a:r>
            <a:r>
              <a:rPr lang="zh-CN" altLang="en-US" sz="2100" b="1" dirty="0">
                <a:solidFill>
                  <a:srgbClr val="0000FF"/>
                </a:solidFill>
              </a:rPr>
              <a:t>少数几个等级</a:t>
            </a:r>
            <a:r>
              <a:rPr lang="zh-CN" altLang="en-US" sz="2100" b="1" dirty="0"/>
              <a:t>，如</a:t>
            </a:r>
            <a:r>
              <a:rPr lang="en-US" altLang="zh-CN" sz="2100" b="1" dirty="0"/>
              <a:t>0-9999</a:t>
            </a:r>
            <a:r>
              <a:rPr lang="zh-CN" altLang="en-US" sz="2100" b="1" dirty="0"/>
              <a:t>，</a:t>
            </a:r>
            <a:r>
              <a:rPr lang="en-US" altLang="zh-CN" sz="2100" b="1" dirty="0"/>
              <a:t>10000-19999</a:t>
            </a:r>
            <a:r>
              <a:rPr lang="zh-CN" altLang="en-US" sz="2100" b="1" dirty="0"/>
              <a:t>，</a:t>
            </a:r>
            <a:r>
              <a:rPr lang="en-US" altLang="zh-CN" sz="2100" b="1" dirty="0"/>
              <a:t>20000-50000</a:t>
            </a:r>
            <a:r>
              <a:rPr lang="zh-CN" altLang="en-US" sz="2100" b="1" dirty="0"/>
              <a:t>，</a:t>
            </a:r>
            <a:r>
              <a:rPr lang="en-US" altLang="zh-CN" sz="2100" b="1" dirty="0"/>
              <a:t>50000- </a:t>
            </a:r>
            <a:r>
              <a:rPr lang="zh-CN" altLang="en-US" sz="2100" b="1" dirty="0"/>
              <a:t>无穷大</a:t>
            </a:r>
            <a:r>
              <a:rPr lang="en-US" altLang="zh-CN" sz="2100" b="1" dirty="0"/>
              <a:t>)</a:t>
            </a:r>
          </a:p>
          <a:p>
            <a:pPr eaLnBrk="1" hangingPunct="1"/>
            <a:r>
              <a:rPr lang="zh-CN" altLang="en-US" sz="2100" b="1" dirty="0"/>
              <a:t>要使用位图，关系中的</a:t>
            </a:r>
            <a:r>
              <a:rPr lang="zh-CN" altLang="en-US" sz="2100" b="1" dirty="0">
                <a:solidFill>
                  <a:srgbClr val="0000FF"/>
                </a:solidFill>
              </a:rPr>
              <a:t>记录</a:t>
            </a:r>
            <a:r>
              <a:rPr lang="zh-CN" altLang="en-US" sz="2100" b="1" dirty="0"/>
              <a:t>必须被</a:t>
            </a:r>
            <a:r>
              <a:rPr lang="zh-CN" altLang="en-US" sz="2100" b="1" dirty="0">
                <a:solidFill>
                  <a:srgbClr val="0000FF"/>
                </a:solidFill>
              </a:rPr>
              <a:t>顺序编号</a:t>
            </a:r>
            <a:r>
              <a:rPr lang="zh-CN" altLang="en-US" sz="2100" b="1" dirty="0"/>
              <a:t>，如</a:t>
            </a:r>
            <a:r>
              <a:rPr lang="zh-CN" altLang="en-US" sz="2100" b="1" dirty="0">
                <a:solidFill>
                  <a:srgbClr val="0000FF"/>
                </a:solidFill>
              </a:rPr>
              <a:t>从0开始顺序编号</a:t>
            </a:r>
            <a:endParaRPr lang="en-US" altLang="zh-CN" sz="2100" b="1" dirty="0">
              <a:solidFill>
                <a:srgbClr val="0000FF"/>
              </a:solidFill>
            </a:endParaRPr>
          </a:p>
          <a:p>
            <a:pPr eaLnBrk="1" hangingPunct="1"/>
            <a:r>
              <a:rPr lang="zh-CN" altLang="en-US" sz="2100" b="1" dirty="0">
                <a:solidFill>
                  <a:srgbClr val="0000FF"/>
                </a:solidFill>
              </a:rPr>
              <a:t>位图</a:t>
            </a:r>
            <a:r>
              <a:rPr lang="zh-CN" altLang="en-US" sz="2100" b="1" dirty="0"/>
              <a:t>就是一个</a:t>
            </a:r>
            <a:r>
              <a:rPr lang="zh-CN" altLang="en-US" sz="2100" b="1" dirty="0">
                <a:solidFill>
                  <a:srgbClr val="0000FF"/>
                </a:solidFill>
              </a:rPr>
              <a:t>简单的数组</a:t>
            </a:r>
            <a:r>
              <a:rPr lang="zh-CN" altLang="en-US" sz="2100" b="1" dirty="0"/>
              <a:t>，数组的</a:t>
            </a:r>
            <a:r>
              <a:rPr lang="zh-CN" altLang="en-US" sz="2100" b="1" dirty="0">
                <a:solidFill>
                  <a:srgbClr val="C00000"/>
                </a:solidFill>
              </a:rPr>
              <a:t>长度</a:t>
            </a:r>
            <a:r>
              <a:rPr lang="zh-CN" altLang="en-US" sz="2100" b="1" dirty="0"/>
              <a:t>也即</a:t>
            </a:r>
            <a:r>
              <a:rPr lang="zh-CN" altLang="en-US" sz="2100" b="1" dirty="0">
                <a:solidFill>
                  <a:srgbClr val="0000FF"/>
                </a:solidFill>
              </a:rPr>
              <a:t>位数</a:t>
            </a:r>
            <a:endParaRPr lang="en-US" altLang="zh-CN" sz="2100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灯片编号占位符 5">
            <a:extLst>
              <a:ext uri="{FF2B5EF4-FFF2-40B4-BE49-F238E27FC236}">
                <a16:creationId xmlns:a16="http://schemas.microsoft.com/office/drawing/2014/main" id="{AD85F543-8B02-81E6-1F16-A8E1A519E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FD49DBD-8CBD-4641-9D41-2D5B517CC85A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56</a:t>
            </a:fld>
            <a:endParaRPr lang="en-US" altLang="zh-CN" sz="1200"/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9E6016DC-30BC-D73E-7C28-A94A64867E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位图索引</a:t>
            </a:r>
            <a:r>
              <a:rPr lang="en-US" altLang="zh-CN" b="1" baseline="30000"/>
              <a:t>(</a:t>
            </a:r>
            <a:r>
              <a:rPr lang="zh-CN" altLang="en-US" b="1" baseline="30000"/>
              <a:t>续</a:t>
            </a:r>
            <a:r>
              <a:rPr lang="en-US" altLang="zh-CN" b="1" baseline="30000"/>
              <a:t>)</a:t>
            </a:r>
          </a:p>
        </p:txBody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F9F54D4F-7A0E-65D7-CBE4-1C3FBD996C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584" y="1340768"/>
            <a:ext cx="7920880" cy="2520280"/>
          </a:xfrm>
        </p:spPr>
        <p:txBody>
          <a:bodyPr/>
          <a:lstStyle/>
          <a:p>
            <a:pPr eaLnBrk="1" hangingPunct="1"/>
            <a:r>
              <a:rPr lang="zh-CN" altLang="en-US" sz="2100" b="1" dirty="0"/>
              <a:t>关系</a:t>
            </a:r>
            <a:r>
              <a:rPr lang="en-US" altLang="zh-CN" sz="2100" b="1" dirty="0"/>
              <a:t>r</a:t>
            </a:r>
            <a:r>
              <a:rPr lang="zh-CN" altLang="en-US" sz="2100" b="1" dirty="0"/>
              <a:t>中</a:t>
            </a:r>
            <a:r>
              <a:rPr lang="zh-CN" altLang="en-US" sz="2100" b="1" dirty="0">
                <a:solidFill>
                  <a:srgbClr val="006600"/>
                </a:solidFill>
              </a:rPr>
              <a:t>一个属性</a:t>
            </a:r>
            <a:r>
              <a:rPr lang="en-US" altLang="zh-CN" sz="2100" b="1" dirty="0">
                <a:solidFill>
                  <a:srgbClr val="006600"/>
                </a:solidFill>
              </a:rPr>
              <a:t>A</a:t>
            </a:r>
            <a:r>
              <a:rPr lang="zh-CN" altLang="en-US" sz="2100" b="1" dirty="0"/>
              <a:t>的最简单形式的</a:t>
            </a:r>
            <a:r>
              <a:rPr lang="zh-CN" altLang="en-US" sz="2100" b="1" dirty="0">
                <a:solidFill>
                  <a:srgbClr val="0000FF"/>
                </a:solidFill>
              </a:rPr>
              <a:t>位图索引</a:t>
            </a:r>
            <a:r>
              <a:rPr lang="zh-CN" altLang="en-US" sz="2100" b="1" dirty="0"/>
              <a:t>即对</a:t>
            </a:r>
            <a:r>
              <a:rPr lang="zh-CN" altLang="en-US" sz="2100" b="1" dirty="0">
                <a:solidFill>
                  <a:srgbClr val="006600"/>
                </a:solidFill>
              </a:rPr>
              <a:t>该属性</a:t>
            </a:r>
            <a:r>
              <a:rPr lang="en-US" altLang="zh-CN" sz="2100" b="1" dirty="0">
                <a:solidFill>
                  <a:srgbClr val="006600"/>
                </a:solidFill>
              </a:rPr>
              <a:t>A</a:t>
            </a:r>
            <a:r>
              <a:rPr lang="zh-CN" altLang="en-US" sz="2100" b="1" dirty="0"/>
              <a:t>的</a:t>
            </a:r>
            <a:r>
              <a:rPr lang="zh-CN" altLang="en-US" sz="2100" b="1" dirty="0">
                <a:solidFill>
                  <a:srgbClr val="0000FF"/>
                </a:solidFill>
              </a:rPr>
              <a:t>每个取值</a:t>
            </a:r>
            <a:r>
              <a:rPr lang="zh-CN" altLang="en-US" sz="2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都</a:t>
            </a:r>
            <a:r>
              <a:rPr lang="zh-CN" altLang="en-US" sz="2100" b="1" dirty="0">
                <a:solidFill>
                  <a:srgbClr val="006600"/>
                </a:solidFill>
              </a:rPr>
              <a:t>有一个位图，</a:t>
            </a:r>
            <a:r>
              <a:rPr lang="zh-CN" altLang="en-US" sz="2100" b="1" dirty="0"/>
              <a:t>也即</a:t>
            </a:r>
            <a:r>
              <a:rPr lang="en-US" altLang="zh-CN" sz="2100" b="1" dirty="0"/>
              <a:t>A</a:t>
            </a:r>
            <a:r>
              <a:rPr lang="zh-CN" altLang="en-US" sz="2100" b="1" dirty="0"/>
              <a:t>能取的</a:t>
            </a:r>
            <a:r>
              <a:rPr lang="zh-CN" altLang="en-US" sz="2100" b="1" dirty="0">
                <a:solidFill>
                  <a:srgbClr val="0000FF"/>
                </a:solidFill>
              </a:rPr>
              <a:t>每个值</a:t>
            </a:r>
            <a:r>
              <a:rPr lang="zh-CN" altLang="en-US" sz="2100" b="1" dirty="0"/>
              <a:t>所</a:t>
            </a:r>
            <a:r>
              <a:rPr lang="zh-CN" altLang="en-US" sz="2100" b="1" dirty="0">
                <a:solidFill>
                  <a:srgbClr val="0000FF"/>
                </a:solidFill>
              </a:rPr>
              <a:t>对应的位图</a:t>
            </a:r>
            <a:r>
              <a:rPr lang="zh-CN" altLang="en-US" sz="2100" b="1" dirty="0"/>
              <a:t>构成了</a:t>
            </a:r>
            <a:r>
              <a:rPr lang="zh-CN" altLang="en-US" sz="2100" b="1" dirty="0">
                <a:solidFill>
                  <a:srgbClr val="0000FF"/>
                </a:solidFill>
              </a:rPr>
              <a:t>其位图索引</a:t>
            </a:r>
            <a:endParaRPr lang="en-US" altLang="zh-CN" sz="2100" b="1" dirty="0">
              <a:solidFill>
                <a:srgbClr val="0000FF"/>
              </a:solidFill>
            </a:endParaRPr>
          </a:p>
          <a:p>
            <a:pPr lvl="1" eaLnBrk="1" hangingPunct="1"/>
            <a:r>
              <a:rPr lang="zh-CN" altLang="en-US" sz="2100" b="1" dirty="0"/>
              <a:t>每个位图的</a:t>
            </a:r>
            <a:r>
              <a:rPr lang="zh-CN" altLang="en-US" sz="2100" b="1" dirty="0">
                <a:solidFill>
                  <a:srgbClr val="0000FF"/>
                </a:solidFill>
              </a:rPr>
              <a:t>位数</a:t>
            </a:r>
            <a:r>
              <a:rPr lang="zh-CN" altLang="en-US" sz="2100" b="1" dirty="0"/>
              <a:t>等于关系中</a:t>
            </a:r>
            <a:r>
              <a:rPr lang="zh-CN" altLang="en-US" sz="2100" b="1" dirty="0">
                <a:solidFill>
                  <a:srgbClr val="0000FF"/>
                </a:solidFill>
              </a:rPr>
              <a:t>记录的条数</a:t>
            </a:r>
            <a:endParaRPr lang="en-US" altLang="zh-CN" sz="2100" b="1" dirty="0">
              <a:solidFill>
                <a:srgbClr val="0000FF"/>
              </a:solidFill>
            </a:endParaRPr>
          </a:p>
          <a:p>
            <a:pPr lvl="1" eaLnBrk="1" hangingPunct="1"/>
            <a:r>
              <a:rPr lang="zh-CN" altLang="en-US" sz="2100" b="1" dirty="0"/>
              <a:t>在</a:t>
            </a:r>
            <a:r>
              <a:rPr lang="zh-CN" altLang="en-US" sz="2100" b="1" dirty="0">
                <a:solidFill>
                  <a:srgbClr val="0000FF"/>
                </a:solidFill>
              </a:rPr>
              <a:t>值</a:t>
            </a:r>
            <a:r>
              <a:rPr lang="en-US" altLang="zh-CN" sz="2100" b="1" dirty="0">
                <a:solidFill>
                  <a:srgbClr val="0000FF"/>
                </a:solidFill>
              </a:rPr>
              <a:t>v</a:t>
            </a:r>
            <a:r>
              <a:rPr lang="zh-CN" altLang="en-US" sz="2100" b="1" dirty="0"/>
              <a:t>的位图中，如果记录在</a:t>
            </a:r>
            <a:r>
              <a:rPr lang="zh-CN" altLang="en-US" sz="2100" b="1" dirty="0">
                <a:solidFill>
                  <a:srgbClr val="C00000"/>
                </a:solidFill>
              </a:rPr>
              <a:t>该属性上的值是</a:t>
            </a:r>
            <a:r>
              <a:rPr lang="en-US" altLang="zh-CN" sz="2100" b="1" dirty="0">
                <a:solidFill>
                  <a:srgbClr val="C00000"/>
                </a:solidFill>
              </a:rPr>
              <a:t>v</a:t>
            </a:r>
            <a:r>
              <a:rPr lang="zh-CN" altLang="en-US" sz="2100" b="1" dirty="0"/>
              <a:t>，则对应的</a:t>
            </a:r>
            <a:r>
              <a:rPr lang="zh-CN" altLang="en-US" sz="2100" b="1" dirty="0">
                <a:solidFill>
                  <a:srgbClr val="C00000"/>
                </a:solidFill>
              </a:rPr>
              <a:t>位为</a:t>
            </a:r>
            <a:r>
              <a:rPr lang="en-US" altLang="zh-CN" sz="2100" b="1" dirty="0">
                <a:solidFill>
                  <a:srgbClr val="C00000"/>
                </a:solidFill>
              </a:rPr>
              <a:t>1</a:t>
            </a:r>
            <a:r>
              <a:rPr lang="zh-CN" altLang="en-US" sz="2100" b="1" dirty="0"/>
              <a:t>，否则为</a:t>
            </a:r>
            <a:r>
              <a:rPr lang="en-US" altLang="zh-CN" sz="2100" b="1" dirty="0"/>
              <a:t> 0</a:t>
            </a:r>
          </a:p>
          <a:p>
            <a:r>
              <a:rPr lang="zh-CN" altLang="en-US" sz="2000" b="1" dirty="0"/>
              <a:t>例：</a:t>
            </a:r>
            <a:r>
              <a:rPr lang="zh-CN" altLang="en-US" sz="2000" dirty="0"/>
              <a:t>关系</a:t>
            </a:r>
            <a:r>
              <a:rPr lang="en-US" altLang="zh-CN" sz="2000" dirty="0" err="1"/>
              <a:t>instructor_info</a:t>
            </a:r>
            <a:r>
              <a:rPr lang="zh-CN" altLang="en-US" sz="2000" dirty="0"/>
              <a:t>有</a:t>
            </a:r>
            <a:r>
              <a:rPr lang="en-US" altLang="zh-CN" sz="2000" dirty="0">
                <a:solidFill>
                  <a:srgbClr val="0000FF"/>
                </a:solidFill>
              </a:rPr>
              <a:t>5</a:t>
            </a:r>
            <a:r>
              <a:rPr lang="zh-CN" altLang="en-US" sz="2000" dirty="0">
                <a:solidFill>
                  <a:srgbClr val="0000FF"/>
                </a:solidFill>
              </a:rPr>
              <a:t>条记录</a:t>
            </a:r>
            <a:r>
              <a:rPr lang="zh-CN" altLang="en-US" sz="2000" dirty="0"/>
              <a:t>，每个位图的</a:t>
            </a:r>
            <a:r>
              <a:rPr lang="zh-CN" altLang="en-US" sz="2000" b="1" dirty="0">
                <a:solidFill>
                  <a:srgbClr val="0000FF"/>
                </a:solidFill>
              </a:rPr>
              <a:t>位数为</a:t>
            </a:r>
            <a:r>
              <a:rPr lang="en-US" altLang="zh-CN" sz="2000" b="1" dirty="0">
                <a:solidFill>
                  <a:srgbClr val="0000FF"/>
                </a:solidFill>
              </a:rPr>
              <a:t>5</a:t>
            </a:r>
            <a:endParaRPr lang="zh-CN" altLang="en-US" sz="2000" b="1" dirty="0">
              <a:solidFill>
                <a:srgbClr val="0000FF"/>
              </a:solidFill>
            </a:endParaRPr>
          </a:p>
          <a:p>
            <a:endParaRPr lang="en-US" altLang="zh-CN" sz="2500" b="1" dirty="0"/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05403458-6150-0013-AFC0-B13E9D7CD2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387" y="3897963"/>
            <a:ext cx="5791267" cy="2522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619672" y="6256871"/>
            <a:ext cx="1652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dirty="0" err="1"/>
              <a:t>instructor_info</a:t>
            </a:r>
            <a:endParaRPr lang="zh-CN" altLang="en-US" sz="1800" dirty="0"/>
          </a:p>
        </p:txBody>
      </p:sp>
      <p:sp>
        <p:nvSpPr>
          <p:cNvPr id="5" name="TextBox 4"/>
          <p:cNvSpPr txBox="1"/>
          <p:nvPr/>
        </p:nvSpPr>
        <p:spPr>
          <a:xfrm>
            <a:off x="4067944" y="4975696"/>
            <a:ext cx="11927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C00000"/>
                </a:solidFill>
              </a:rPr>
              <a:t>性别取值</a:t>
            </a:r>
            <a:r>
              <a:rPr lang="en-US" altLang="zh-CN" sz="1400" b="1" dirty="0">
                <a:solidFill>
                  <a:srgbClr val="C00000"/>
                </a:solidFill>
              </a:rPr>
              <a:t>2</a:t>
            </a:r>
            <a:r>
              <a:rPr lang="zh-CN" altLang="en-US" sz="1400" b="1" dirty="0">
                <a:solidFill>
                  <a:srgbClr val="C00000"/>
                </a:solidFill>
              </a:rPr>
              <a:t>个，</a:t>
            </a:r>
            <a:r>
              <a:rPr lang="en-US" altLang="zh-CN" sz="1400" b="1" dirty="0">
                <a:solidFill>
                  <a:srgbClr val="C00000"/>
                </a:solidFill>
              </a:rPr>
              <a:t>2</a:t>
            </a:r>
            <a:r>
              <a:rPr lang="zh-CN" altLang="en-US" sz="1400" b="1" dirty="0">
                <a:solidFill>
                  <a:srgbClr val="C00000"/>
                </a:solidFill>
              </a:rPr>
              <a:t>个位图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53654" y="4635951"/>
            <a:ext cx="17347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C00000"/>
                </a:solidFill>
              </a:rPr>
              <a:t>收入级别取值</a:t>
            </a:r>
            <a:r>
              <a:rPr lang="en-US" altLang="zh-CN" sz="1400" b="1" dirty="0">
                <a:solidFill>
                  <a:srgbClr val="C00000"/>
                </a:solidFill>
              </a:rPr>
              <a:t>5</a:t>
            </a:r>
            <a:r>
              <a:rPr lang="zh-CN" altLang="en-US" sz="1400" b="1" dirty="0">
                <a:solidFill>
                  <a:srgbClr val="C00000"/>
                </a:solidFill>
              </a:rPr>
              <a:t>个，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algn="l"/>
            <a:r>
              <a:rPr lang="en-US" altLang="zh-CN" sz="1400" b="1" dirty="0">
                <a:solidFill>
                  <a:srgbClr val="C00000"/>
                </a:solidFill>
              </a:rPr>
              <a:t>5</a:t>
            </a:r>
            <a:r>
              <a:rPr lang="zh-CN" altLang="en-US" sz="1400" b="1" dirty="0">
                <a:solidFill>
                  <a:srgbClr val="C00000"/>
                </a:solidFill>
              </a:rPr>
              <a:t>个位图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A2D296C-108A-939B-A200-384E71D26DA7}"/>
              </a:ext>
            </a:extLst>
          </p:cNvPr>
          <p:cNvSpPr txBox="1"/>
          <p:nvPr/>
        </p:nvSpPr>
        <p:spPr>
          <a:xfrm>
            <a:off x="6948264" y="5271909"/>
            <a:ext cx="17554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200" dirty="0"/>
              <a:t>收人分成</a:t>
            </a:r>
            <a:r>
              <a:rPr lang="en-US" altLang="zh-CN" sz="1200" dirty="0"/>
              <a:t>5</a:t>
            </a:r>
            <a:r>
              <a:rPr lang="zh-CN" altLang="en-US" sz="1200" dirty="0"/>
              <a:t>级</a:t>
            </a:r>
            <a:r>
              <a:rPr lang="en-US" altLang="zh-CN" sz="1200" dirty="0"/>
              <a:t>:</a:t>
            </a:r>
          </a:p>
          <a:p>
            <a:pPr algn="l"/>
            <a:r>
              <a:rPr lang="en-US" altLang="zh-CN" sz="1200" dirty="0"/>
              <a:t>L1:$0~9999,</a:t>
            </a:r>
          </a:p>
          <a:p>
            <a:pPr algn="l"/>
            <a:r>
              <a:rPr lang="en-US" altLang="zh-CN" sz="1200" dirty="0"/>
              <a:t>L2:$10000~19999,</a:t>
            </a:r>
          </a:p>
          <a:p>
            <a:pPr algn="l"/>
            <a:r>
              <a:rPr lang="en-US" altLang="zh-CN" sz="1200" dirty="0"/>
              <a:t>L3:$20000~39999,</a:t>
            </a:r>
          </a:p>
          <a:p>
            <a:pPr algn="l"/>
            <a:r>
              <a:rPr lang="en-US" altLang="zh-CN" sz="1200" dirty="0"/>
              <a:t>L4:$40000~74999,</a:t>
            </a:r>
          </a:p>
          <a:p>
            <a:pPr algn="l"/>
            <a:r>
              <a:rPr lang="en-US" altLang="zh-CN" sz="1200" dirty="0"/>
              <a:t>L5:$75000~…</a:t>
            </a:r>
            <a:endParaRPr lang="zh-CN" altLang="en-US" sz="1200" dirty="0"/>
          </a:p>
        </p:txBody>
      </p:sp>
    </p:spTree>
  </p:cSld>
  <p:clrMapOvr>
    <a:masterClrMapping/>
  </p:clrMapOvr>
  <p:transition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灯片编号占位符 5">
            <a:extLst>
              <a:ext uri="{FF2B5EF4-FFF2-40B4-BE49-F238E27FC236}">
                <a16:creationId xmlns:a16="http://schemas.microsoft.com/office/drawing/2014/main" id="{C9B46E45-CFE5-0954-F381-C51B69D28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65CEECA-2593-4B5D-AD4C-46C7307A5FF4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57</a:t>
            </a:fld>
            <a:endParaRPr lang="en-US" altLang="zh-CN" sz="1200"/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CF7B668B-48E3-57C6-77FB-B1E84E103B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位图索引</a:t>
            </a:r>
            <a:r>
              <a:rPr lang="en-US" altLang="zh-CN" b="1" baseline="30000"/>
              <a:t>(</a:t>
            </a:r>
            <a:r>
              <a:rPr lang="zh-CN" altLang="en-US" b="1" baseline="30000"/>
              <a:t>续</a:t>
            </a:r>
            <a:r>
              <a:rPr lang="en-US" altLang="zh-CN" b="1" baseline="30000"/>
              <a:t>)</a:t>
            </a:r>
          </a:p>
        </p:txBody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ABEE5CDA-CB9E-A316-3B51-D69BA6B8C2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576" y="1340768"/>
            <a:ext cx="7881938" cy="5259387"/>
          </a:xfrm>
        </p:spPr>
        <p:txBody>
          <a:bodyPr/>
          <a:lstStyle/>
          <a:p>
            <a:pPr marL="381000" indent="-381000" eaLnBrk="1" hangingPunct="1"/>
            <a:r>
              <a:rPr lang="zh-CN" altLang="en-US" sz="2100" b="1" dirty="0"/>
              <a:t>位图索引对</a:t>
            </a:r>
            <a:r>
              <a:rPr lang="zh-CN" altLang="en-US" sz="2100" b="1" dirty="0">
                <a:solidFill>
                  <a:srgbClr val="0000FF"/>
                </a:solidFill>
              </a:rPr>
              <a:t>多属性查询</a:t>
            </a:r>
            <a:r>
              <a:rPr lang="zh-CN" altLang="en-US" sz="2100" b="1" dirty="0"/>
              <a:t>很有用，但对单属性查询不是特别有用</a:t>
            </a:r>
            <a:endParaRPr lang="en-US" altLang="zh-CN" sz="2100" b="1" dirty="0"/>
          </a:p>
          <a:p>
            <a:pPr marL="381000" indent="-381000" eaLnBrk="1" hangingPunct="1"/>
            <a:r>
              <a:rPr lang="zh-CN" altLang="en-US" sz="2100" b="1" dirty="0"/>
              <a:t>利用位图运算来解答查询</a:t>
            </a:r>
            <a:endParaRPr lang="en-US" altLang="zh-CN" sz="2100" b="1" dirty="0"/>
          </a:p>
          <a:p>
            <a:pPr marL="800100" lvl="1" indent="-342900" eaLnBrk="1" hangingPunct="1"/>
            <a:r>
              <a:rPr lang="zh-CN" altLang="en-US" sz="2100" b="1" dirty="0"/>
              <a:t>交</a:t>
            </a:r>
            <a:r>
              <a:rPr lang="en-US" altLang="zh-CN" sz="2100" b="1" dirty="0"/>
              <a:t> (and)</a:t>
            </a:r>
          </a:p>
          <a:p>
            <a:pPr marL="800100" lvl="1" indent="-342900" eaLnBrk="1" hangingPunct="1"/>
            <a:r>
              <a:rPr lang="zh-CN" altLang="en-US" sz="2100" b="1" dirty="0"/>
              <a:t>并</a:t>
            </a:r>
            <a:r>
              <a:rPr lang="en-US" altLang="zh-CN" sz="2100" b="1" dirty="0"/>
              <a:t> (or)</a:t>
            </a:r>
          </a:p>
          <a:p>
            <a:pPr marL="800100" lvl="1" indent="-342900" eaLnBrk="1" hangingPunct="1"/>
            <a:r>
              <a:rPr lang="zh-CN" altLang="en-US" sz="2100" b="1" dirty="0"/>
              <a:t>补</a:t>
            </a:r>
            <a:r>
              <a:rPr lang="en-US" altLang="zh-CN" sz="2100" b="1" dirty="0"/>
              <a:t> (not) </a:t>
            </a:r>
          </a:p>
          <a:p>
            <a:pPr marL="381000" indent="-381000" eaLnBrk="1" hangingPunct="1"/>
            <a:r>
              <a:rPr lang="zh-CN" altLang="en-US" sz="2100" b="1" dirty="0"/>
              <a:t>每种</a:t>
            </a:r>
            <a:r>
              <a:rPr lang="zh-CN" altLang="en-US" sz="2100" b="1" dirty="0">
                <a:solidFill>
                  <a:srgbClr val="0000FF"/>
                </a:solidFill>
              </a:rPr>
              <a:t>运算</a:t>
            </a:r>
            <a:r>
              <a:rPr lang="zh-CN" altLang="en-US" sz="2100" b="1" dirty="0"/>
              <a:t>施加于</a:t>
            </a:r>
            <a:r>
              <a:rPr lang="zh-CN" altLang="en-US" sz="2100" b="1" dirty="0">
                <a:solidFill>
                  <a:srgbClr val="0000FF"/>
                </a:solidFill>
              </a:rPr>
              <a:t>两个大小相同的位图</a:t>
            </a:r>
            <a:r>
              <a:rPr lang="zh-CN" altLang="en-US" sz="2100" b="1" dirty="0"/>
              <a:t>，并对</a:t>
            </a:r>
            <a:r>
              <a:rPr lang="zh-CN" altLang="en-US" sz="2100" b="1" dirty="0">
                <a:solidFill>
                  <a:srgbClr val="0000FF"/>
                </a:solidFill>
              </a:rPr>
              <a:t>对应的位</a:t>
            </a:r>
            <a:r>
              <a:rPr lang="zh-CN" altLang="en-US" sz="2100" b="1" dirty="0"/>
              <a:t>进行</a:t>
            </a:r>
            <a:r>
              <a:rPr lang="zh-CN" altLang="en-US" sz="2100" b="1" dirty="0">
                <a:solidFill>
                  <a:srgbClr val="006600"/>
                </a:solidFill>
              </a:rPr>
              <a:t>运算</a:t>
            </a:r>
            <a:r>
              <a:rPr lang="zh-CN" altLang="en-US" sz="2100" b="1" dirty="0"/>
              <a:t>，得到</a:t>
            </a:r>
            <a:r>
              <a:rPr lang="zh-CN" altLang="en-US" sz="2100" b="1" dirty="0">
                <a:solidFill>
                  <a:srgbClr val="0000FF"/>
                </a:solidFill>
              </a:rPr>
              <a:t>结果位图</a:t>
            </a:r>
            <a:endParaRPr lang="en-US" altLang="zh-CN" sz="2100" b="1" dirty="0">
              <a:solidFill>
                <a:srgbClr val="0000FF"/>
              </a:solidFill>
            </a:endParaRPr>
          </a:p>
          <a:p>
            <a:pPr marL="800100" lvl="1" indent="-342900" eaLnBrk="1" hangingPunct="1"/>
            <a:r>
              <a:rPr lang="zh-CN" altLang="en-US" sz="2100" b="1" dirty="0"/>
              <a:t>例如</a:t>
            </a:r>
            <a:r>
              <a:rPr lang="en-US" altLang="zh-CN" sz="2100" b="1" dirty="0"/>
              <a:t>  100110  AND 110011 = 100010</a:t>
            </a:r>
          </a:p>
          <a:p>
            <a:pPr marL="800100" lvl="1" indent="-342900" eaLnBrk="1" hangingPunct="1">
              <a:buFont typeface="Wingdings" panose="05000000000000000000" pitchFamily="2" charset="2"/>
              <a:buNone/>
            </a:pPr>
            <a:r>
              <a:rPr lang="en-US" altLang="zh-CN" sz="2100" b="1" dirty="0"/>
              <a:t>              100110  OR   110011 = 110111</a:t>
            </a:r>
            <a:br>
              <a:rPr lang="en-US" altLang="zh-CN" sz="2100" b="1" dirty="0"/>
            </a:br>
            <a:r>
              <a:rPr lang="en-US" altLang="zh-CN" sz="2100" b="1" dirty="0"/>
              <a:t>                    NOT 100110  = 011001</a:t>
            </a:r>
          </a:p>
          <a:p>
            <a:pPr marL="800100" lvl="1" indent="-342900" eaLnBrk="1" hangingPunct="1"/>
            <a:r>
              <a:rPr lang="zh-CN" altLang="en-US" sz="2100" b="1" dirty="0"/>
              <a:t>例</a:t>
            </a:r>
            <a:r>
              <a:rPr lang="en-US" altLang="zh-CN" sz="2100" b="1" dirty="0"/>
              <a:t> </a:t>
            </a:r>
            <a:r>
              <a:rPr lang="zh-CN" altLang="en-US" sz="2100" b="1" dirty="0"/>
              <a:t>收入等级为</a:t>
            </a:r>
            <a:r>
              <a:rPr lang="en-US" altLang="zh-CN" sz="2100" b="1" dirty="0">
                <a:solidFill>
                  <a:srgbClr val="0000FF"/>
                </a:solidFill>
              </a:rPr>
              <a:t>L1</a:t>
            </a:r>
            <a:r>
              <a:rPr lang="zh-CN" altLang="en-US" sz="2100" b="1" dirty="0"/>
              <a:t>的</a:t>
            </a:r>
            <a:r>
              <a:rPr lang="zh-CN" altLang="en-US" sz="2100" b="1" dirty="0">
                <a:solidFill>
                  <a:srgbClr val="0000FF"/>
                </a:solidFill>
              </a:rPr>
              <a:t>男性</a:t>
            </a:r>
            <a:r>
              <a:rPr lang="zh-CN" altLang="en-US" sz="2100" b="1" dirty="0"/>
              <a:t>： </a:t>
            </a:r>
            <a:r>
              <a:rPr lang="en-US" altLang="zh-CN" sz="2100" b="1" dirty="0"/>
              <a:t>10100 AND </a:t>
            </a:r>
            <a:r>
              <a:rPr lang="zh-CN" altLang="en-US" sz="2100" b="1" dirty="0"/>
              <a:t>10010 </a:t>
            </a:r>
            <a:r>
              <a:rPr lang="en-US" altLang="zh-CN" sz="2100" b="1" dirty="0"/>
              <a:t>= </a:t>
            </a:r>
            <a:r>
              <a:rPr lang="en-US" altLang="zh-CN" sz="2100" b="1" dirty="0">
                <a:solidFill>
                  <a:srgbClr val="C00000"/>
                </a:solidFill>
              </a:rPr>
              <a:t>1</a:t>
            </a:r>
            <a:r>
              <a:rPr lang="en-US" altLang="zh-CN" sz="2100" b="1" dirty="0"/>
              <a:t>0000</a:t>
            </a:r>
          </a:p>
          <a:p>
            <a:pPr marL="1200150" lvl="2" indent="-285750" eaLnBrk="1" hangingPunct="1"/>
            <a:r>
              <a:rPr lang="zh-CN" altLang="en-US" b="1" dirty="0"/>
              <a:t>然后即可读取所需元组</a:t>
            </a:r>
            <a:endParaRPr lang="en-US" altLang="zh-CN" b="1" dirty="0"/>
          </a:p>
          <a:p>
            <a:pPr marL="1200150" lvl="2" indent="-285750" eaLnBrk="1" hangingPunct="1"/>
            <a:r>
              <a:rPr lang="zh-CN" altLang="en-US" b="1" dirty="0"/>
              <a:t>匹配元组的计数更快</a:t>
            </a:r>
            <a:endParaRPr lang="en-US" altLang="zh-CN" b="1" dirty="0"/>
          </a:p>
        </p:txBody>
      </p:sp>
    </p:spTree>
  </p:cSld>
  <p:clrMapOvr>
    <a:masterClrMapping/>
  </p:clrMapOvr>
  <p:transition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9C928-4BC6-4E9A-9C8F-DD23284A9A5C}" type="datetime1">
              <a:rPr lang="zh-CN" altLang="en-US" smtClean="0"/>
              <a:t>2025/11/27</a:t>
            </a:fld>
            <a:endParaRPr lang="en-US" altLang="zh-CN"/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latin typeface="Comic Sans MS" pitchFamily="66" charset="0"/>
              </a:rPr>
              <a:t>Any Question?</a:t>
            </a:r>
          </a:p>
        </p:txBody>
      </p:sp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4140200" y="2781300"/>
            <a:ext cx="3302000" cy="82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0" lang="en-US" altLang="zh-CN" sz="4800" b="1" i="1">
                <a:solidFill>
                  <a:schemeClr val="hlink"/>
                </a:solidFill>
                <a:latin typeface="Times New Roman" pitchFamily="18" charset="0"/>
              </a:rPr>
              <a:t>Thank you !</a:t>
            </a:r>
          </a:p>
        </p:txBody>
      </p:sp>
      <p:pic>
        <p:nvPicPr>
          <p:cNvPr id="10244" name="Picture 4" descr="smi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133600"/>
            <a:ext cx="22098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634FAFF-E41F-2CAA-E575-BD3353A41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第6章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97C1D2-78F8-F7EB-9B70-8CCE83A3F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74603-B40B-4D66-8F6E-41C870D48932}" type="slidenum">
              <a:rPr lang="en-US" altLang="zh-CN" smtClean="0"/>
              <a:pPr/>
              <a:t>58</a:t>
            </a:fld>
            <a:r>
              <a:rPr lang="en-US" altLang="zh-CN"/>
              <a:t>/162</a:t>
            </a:r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  <a:cs typeface="Arial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ld2009</Template>
  <TotalTime>20145</TotalTime>
  <Words>4864</Words>
  <Application>Microsoft Office PowerPoint</Application>
  <PresentationFormat>全屏显示(4:3)</PresentationFormat>
  <Paragraphs>504</Paragraphs>
  <Slides>58</Slides>
  <Notes>10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58</vt:i4>
      </vt:variant>
    </vt:vector>
  </HeadingPairs>
  <TitlesOfParts>
    <vt:vector size="70" baseType="lpstr">
      <vt:lpstr>Monotype Sorts</vt:lpstr>
      <vt:lpstr>楷体_GB2312</vt:lpstr>
      <vt:lpstr>Arial</vt:lpstr>
      <vt:lpstr>Book Antiqua</vt:lpstr>
      <vt:lpstr>Comic Sans MS</vt:lpstr>
      <vt:lpstr>Helvetica</vt:lpstr>
      <vt:lpstr>Symbol</vt:lpstr>
      <vt:lpstr>Tahoma</vt:lpstr>
      <vt:lpstr>Times New Roman</vt:lpstr>
      <vt:lpstr>Wingdings</vt:lpstr>
      <vt:lpstr>Blends</vt:lpstr>
      <vt:lpstr>Clip</vt:lpstr>
      <vt:lpstr>数据库系统原理  Database System Principles</vt:lpstr>
      <vt:lpstr>第十一章 索引</vt:lpstr>
      <vt:lpstr>主要内容</vt:lpstr>
      <vt:lpstr>基本概念</vt:lpstr>
      <vt:lpstr>索引评价度量</vt:lpstr>
      <vt:lpstr>主要内容</vt:lpstr>
      <vt:lpstr>有序索引</vt:lpstr>
      <vt:lpstr>PowerPoint 演示文稿</vt:lpstr>
      <vt:lpstr>有序索引之 稠密索引</vt:lpstr>
      <vt:lpstr>稠密索引</vt:lpstr>
      <vt:lpstr>PowerPoint 演示文稿</vt:lpstr>
      <vt:lpstr>多级索引</vt:lpstr>
      <vt:lpstr>辅助索引(非聚集索引)</vt:lpstr>
      <vt:lpstr>主索引与辅助索引</vt:lpstr>
      <vt:lpstr>主要内容</vt:lpstr>
      <vt:lpstr>B+Tree 索引文件</vt:lpstr>
      <vt:lpstr>B+树索引文件</vt:lpstr>
      <vt:lpstr>B+树结构</vt:lpstr>
      <vt:lpstr>PowerPoint 演示文稿</vt:lpstr>
      <vt:lpstr>B+树结构</vt:lpstr>
      <vt:lpstr>B+树中的非叶结点</vt:lpstr>
      <vt:lpstr>B+树示例</vt:lpstr>
      <vt:lpstr>B+树示例</vt:lpstr>
      <vt:lpstr>B+树示例</vt:lpstr>
      <vt:lpstr>对B+树示例的若干观察</vt:lpstr>
      <vt:lpstr>对B+树的查询</vt:lpstr>
      <vt:lpstr>B+树查询开销</vt:lpstr>
      <vt:lpstr>对B+树的插入</vt:lpstr>
      <vt:lpstr>B+树的插入(续)</vt:lpstr>
      <vt:lpstr>示例</vt:lpstr>
      <vt:lpstr>示例</vt:lpstr>
      <vt:lpstr>B+树的删除</vt:lpstr>
      <vt:lpstr>B+树的删除(续)</vt:lpstr>
      <vt:lpstr>PowerPoint 演示文稿</vt:lpstr>
      <vt:lpstr>B+树删除示例(续)</vt:lpstr>
      <vt:lpstr>PowerPoint 演示文稿</vt:lpstr>
      <vt:lpstr>B+树更新开销</vt:lpstr>
      <vt:lpstr>B+树文件组织（自学了解）</vt:lpstr>
      <vt:lpstr>B+树的批量加载和自底向上构建（自学了解）</vt:lpstr>
      <vt:lpstr>主要内容</vt:lpstr>
      <vt:lpstr>散列(Hash)数据索引</vt:lpstr>
      <vt:lpstr>PowerPoint 演示文稿</vt:lpstr>
      <vt:lpstr>PowerPoint 演示文稿</vt:lpstr>
      <vt:lpstr>桶溢出处理</vt:lpstr>
      <vt:lpstr>PowerPoint 演示文稿</vt:lpstr>
      <vt:lpstr>静态索引技术的不足</vt:lpstr>
      <vt:lpstr>动态Hash表</vt:lpstr>
      <vt:lpstr>主要内容</vt:lpstr>
      <vt:lpstr>PowerPoint 演示文稿</vt:lpstr>
      <vt:lpstr>主要内容</vt:lpstr>
      <vt:lpstr>SQL中的索引定义</vt:lpstr>
      <vt:lpstr>主要内容</vt:lpstr>
      <vt:lpstr>多码访问</vt:lpstr>
      <vt:lpstr>PowerPoint 演示文稿</vt:lpstr>
      <vt:lpstr>位图索引</vt:lpstr>
      <vt:lpstr>位图索引(续)</vt:lpstr>
      <vt:lpstr>位图索引(续)</vt:lpstr>
      <vt:lpstr>Any Question?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lei duan</dc:creator>
  <cp:lastModifiedBy>Administrator</cp:lastModifiedBy>
  <cp:revision>2420</cp:revision>
  <dcterms:created xsi:type="dcterms:W3CDTF">2009-08-07T14:32:50Z</dcterms:created>
  <dcterms:modified xsi:type="dcterms:W3CDTF">2025-11-27T03:40:05Z</dcterms:modified>
</cp:coreProperties>
</file>