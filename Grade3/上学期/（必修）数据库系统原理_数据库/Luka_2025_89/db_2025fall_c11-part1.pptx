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"/>
  </p:notesMasterIdLst>
  <p:sldIdLst>
    <p:sldId id="258" r:id="rId3"/>
    <p:sldId id="259" r:id="rId4"/>
    <p:sldId id="399" r:id="rId6"/>
    <p:sldId id="317" r:id="rId7"/>
    <p:sldId id="373" r:id="rId8"/>
    <p:sldId id="326" r:id="rId9"/>
    <p:sldId id="328" r:id="rId10"/>
    <p:sldId id="367" r:id="rId11"/>
    <p:sldId id="401" r:id="rId12"/>
    <p:sldId id="402" r:id="rId13"/>
    <p:sldId id="403" r:id="rId14"/>
    <p:sldId id="409" r:id="rId15"/>
    <p:sldId id="410" r:id="rId16"/>
    <p:sldId id="400" r:id="rId17"/>
    <p:sldId id="416" r:id="rId18"/>
    <p:sldId id="408" r:id="rId19"/>
    <p:sldId id="417" r:id="rId20"/>
    <p:sldId id="460" r:id="rId21"/>
    <p:sldId id="415" r:id="rId22"/>
    <p:sldId id="414" r:id="rId23"/>
    <p:sldId id="393" r:id="rId24"/>
    <p:sldId id="392" r:id="rId25"/>
    <p:sldId id="418" r:id="rId26"/>
    <p:sldId id="394" r:id="rId27"/>
    <p:sldId id="420" r:id="rId28"/>
    <p:sldId id="352" r:id="rId29"/>
    <p:sldId id="461" r:id="rId30"/>
    <p:sldId id="421" r:id="rId31"/>
    <p:sldId id="337" r:id="rId32"/>
    <p:sldId id="338" r:id="rId33"/>
    <p:sldId id="419" r:id="rId34"/>
    <p:sldId id="339" r:id="rId35"/>
    <p:sldId id="340" r:id="rId36"/>
    <p:sldId id="341" r:id="rId37"/>
    <p:sldId id="342" r:id="rId38"/>
    <p:sldId id="384" r:id="rId39"/>
    <p:sldId id="424" r:id="rId40"/>
    <p:sldId id="343" r:id="rId41"/>
    <p:sldId id="422" r:id="rId42"/>
    <p:sldId id="353" r:id="rId43"/>
    <p:sldId id="369" r:id="rId44"/>
    <p:sldId id="354" r:id="rId45"/>
    <p:sldId id="355" r:id="rId46"/>
    <p:sldId id="370" r:id="rId47"/>
    <p:sldId id="371" r:id="rId48"/>
    <p:sldId id="356" r:id="rId49"/>
    <p:sldId id="357" r:id="rId50"/>
    <p:sldId id="358" r:id="rId51"/>
    <p:sldId id="426" r:id="rId52"/>
    <p:sldId id="463" r:id="rId53"/>
    <p:sldId id="462" r:id="rId54"/>
    <p:sldId id="464" r:id="rId55"/>
    <p:sldId id="465" r:id="rId56"/>
    <p:sldId id="425" r:id="rId57"/>
    <p:sldId id="466" r:id="rId58"/>
    <p:sldId id="430" r:id="rId59"/>
    <p:sldId id="429" r:id="rId60"/>
    <p:sldId id="427" r:id="rId61"/>
    <p:sldId id="467" r:id="rId62"/>
    <p:sldId id="468" r:id="rId63"/>
    <p:sldId id="471" r:id="rId64"/>
    <p:sldId id="472" r:id="rId65"/>
    <p:sldId id="470" r:id="rId66"/>
    <p:sldId id="431" r:id="rId67"/>
    <p:sldId id="434" r:id="rId68"/>
    <p:sldId id="435" r:id="rId69"/>
    <p:sldId id="473" r:id="rId70"/>
    <p:sldId id="474" r:id="rId71"/>
    <p:sldId id="482" r:id="rId72"/>
    <p:sldId id="475" r:id="rId73"/>
    <p:sldId id="476" r:id="rId74"/>
    <p:sldId id="432" r:id="rId75"/>
    <p:sldId id="483" r:id="rId76"/>
    <p:sldId id="436" r:id="rId77"/>
    <p:sldId id="478" r:id="rId78"/>
    <p:sldId id="479" r:id="rId79"/>
    <p:sldId id="480" r:id="rId80"/>
    <p:sldId id="437" r:id="rId81"/>
    <p:sldId id="260" r:id="rId82"/>
  </p:sldIdLst>
  <p:sldSz cx="9144000" cy="6858000" type="screen4x3"/>
  <p:notesSz cx="6858000" cy="9144000"/>
  <p:custDataLst>
    <p:tags r:id="rId87"/>
  </p:custDataLst>
  <p:defaultTextStyle>
    <a:defPPr>
      <a:defRPr lang="en-US"/>
    </a:defPPr>
    <a:lvl1pPr algn="l" rtl="0" fontAlgn="base">
      <a:lnSpc>
        <a:spcPct val="90000"/>
      </a:lnSpc>
      <a:spcBef>
        <a:spcPct val="20000"/>
      </a:spcBef>
      <a:spcAft>
        <a:spcPct val="0"/>
      </a:spcAft>
      <a:buClr>
        <a:schemeClr val="folHlink"/>
      </a:buClr>
      <a:buSzPct val="60000"/>
      <a:buFont typeface="Wingdings" panose="05000000000000000000" pitchFamily="2" charset="2"/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1pPr>
    <a:lvl2pPr marL="457200" algn="l" rtl="0" fontAlgn="base">
      <a:lnSpc>
        <a:spcPct val="90000"/>
      </a:lnSpc>
      <a:spcBef>
        <a:spcPct val="20000"/>
      </a:spcBef>
      <a:spcAft>
        <a:spcPct val="0"/>
      </a:spcAft>
      <a:buClr>
        <a:schemeClr val="folHlink"/>
      </a:buClr>
      <a:buSzPct val="60000"/>
      <a:buFont typeface="Wingdings" panose="05000000000000000000" pitchFamily="2" charset="2"/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2pPr>
    <a:lvl3pPr marL="914400" algn="l" rtl="0" fontAlgn="base">
      <a:lnSpc>
        <a:spcPct val="90000"/>
      </a:lnSpc>
      <a:spcBef>
        <a:spcPct val="20000"/>
      </a:spcBef>
      <a:spcAft>
        <a:spcPct val="0"/>
      </a:spcAft>
      <a:buClr>
        <a:schemeClr val="folHlink"/>
      </a:buClr>
      <a:buSzPct val="60000"/>
      <a:buFont typeface="Wingdings" panose="05000000000000000000" pitchFamily="2" charset="2"/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3pPr>
    <a:lvl4pPr marL="1371600" algn="l" rtl="0" fontAlgn="base">
      <a:lnSpc>
        <a:spcPct val="90000"/>
      </a:lnSpc>
      <a:spcBef>
        <a:spcPct val="20000"/>
      </a:spcBef>
      <a:spcAft>
        <a:spcPct val="0"/>
      </a:spcAft>
      <a:buClr>
        <a:schemeClr val="folHlink"/>
      </a:buClr>
      <a:buSzPct val="60000"/>
      <a:buFont typeface="Wingdings" panose="05000000000000000000" pitchFamily="2" charset="2"/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4pPr>
    <a:lvl5pPr marL="1828800" algn="l" rtl="0" fontAlgn="base">
      <a:lnSpc>
        <a:spcPct val="90000"/>
      </a:lnSpc>
      <a:spcBef>
        <a:spcPct val="20000"/>
      </a:spcBef>
      <a:spcAft>
        <a:spcPct val="0"/>
      </a:spcAft>
      <a:buClr>
        <a:schemeClr val="folHlink"/>
      </a:buClr>
      <a:buSzPct val="60000"/>
      <a:buFont typeface="Wingdings" panose="05000000000000000000" pitchFamily="2" charset="2"/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00FF"/>
    <a:srgbClr val="660066"/>
    <a:srgbClr val="800080"/>
    <a:srgbClr val="009900"/>
    <a:srgbClr val="0033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31" autoAdjust="0"/>
    <p:restoredTop sz="95711" autoAdjust="0"/>
  </p:normalViewPr>
  <p:slideViewPr>
    <p:cSldViewPr>
      <p:cViewPr varScale="1">
        <p:scale>
          <a:sx n="124" d="100"/>
          <a:sy n="124" d="100"/>
        </p:scale>
        <p:origin x="55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7" Type="http://schemas.openxmlformats.org/officeDocument/2006/relationships/tags" Target="tags/tag45.xml"/><Relationship Id="rId86" Type="http://schemas.openxmlformats.org/officeDocument/2006/relationships/commentAuthors" Target="commentAuthors.xml"/><Relationship Id="rId85" Type="http://schemas.openxmlformats.org/officeDocument/2006/relationships/tableStyles" Target="tableStyles.xml"/><Relationship Id="rId84" Type="http://schemas.openxmlformats.org/officeDocument/2006/relationships/viewProps" Target="viewProps.xml"/><Relationship Id="rId83" Type="http://schemas.openxmlformats.org/officeDocument/2006/relationships/presProps" Target="presProps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fld id="{8B0F1C23-08EB-448C-9DC6-066A658972D4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0F1C23-08EB-448C-9DC6-066A658972D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0F1C23-08EB-448C-9DC6-066A658972D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F1C23-08EB-448C-9DC6-066A658972D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F1C23-08EB-448C-9DC6-066A658972D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400">
              <a:defRPr i="1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1pPr>
            <a:lvl2pPr marL="703580" indent="-270510" defTabSz="914400">
              <a:defRPr i="1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2pPr>
            <a:lvl3pPr marL="1082675" indent="-216535" defTabSz="914400">
              <a:defRPr i="1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3pPr>
            <a:lvl4pPr marL="1515745" indent="-216535" defTabSz="914400">
              <a:defRPr i="1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4pPr>
            <a:lvl5pPr marL="1948815" indent="-216535" defTabSz="914400">
              <a:defRPr i="1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5pPr>
            <a:lvl6pPr marL="2381885" indent="-216535" defTabSz="9144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6pPr>
            <a:lvl7pPr marL="2814955" indent="-216535" defTabSz="9144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7pPr>
            <a:lvl8pPr marL="3248025" indent="-216535" defTabSz="9144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8pPr>
            <a:lvl9pPr marL="3681095" indent="-216535" defTabSz="9144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96229FC-52FA-4526-A9B2-909534DCE6E3}" type="slidenum">
              <a:rPr lang="zh-CN" altLang="en-US" i="0">
                <a:latin typeface="Times New Roman" panose="02020603050405020304" pitchFamily="18" charset="0"/>
              </a:rPr>
            </a:fld>
            <a:endParaRPr lang="en-US" altLang="zh-CN" i="0">
              <a:latin typeface="Times New Roman" panose="02020603050405020304" pitchFamily="18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 w="12700" cap="flat">
            <a:solidFill>
              <a:schemeClr val="tx1"/>
            </a:solidFill>
          </a:ln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wrap="square" lIns="91903" tIns="45173" rIns="91903" bIns="45173" anchor="t"/>
          <a:lstStyle/>
          <a:p>
            <a:pPr defTabSz="881380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400">
              <a:defRPr i="1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1pPr>
            <a:lvl2pPr marL="703580" indent="-270510" defTabSz="914400">
              <a:defRPr i="1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2pPr>
            <a:lvl3pPr marL="1082675" indent="-216535" defTabSz="914400">
              <a:defRPr i="1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3pPr>
            <a:lvl4pPr marL="1515745" indent="-216535" defTabSz="914400">
              <a:defRPr i="1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4pPr>
            <a:lvl5pPr marL="1948815" indent="-216535" defTabSz="914400">
              <a:defRPr i="1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5pPr>
            <a:lvl6pPr marL="2381885" indent="-216535" defTabSz="9144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6pPr>
            <a:lvl7pPr marL="2814955" indent="-216535" defTabSz="9144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7pPr>
            <a:lvl8pPr marL="3248025" indent="-216535" defTabSz="9144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8pPr>
            <a:lvl9pPr marL="3681095" indent="-216535" defTabSz="9144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34F4AA5-FD7F-4B79-B71E-29ECDEFCF1CD}" type="slidenum">
              <a:rPr lang="zh-CN" altLang="en-US" i="0">
                <a:latin typeface="Times New Roman" panose="02020603050405020304" pitchFamily="18" charset="0"/>
              </a:rPr>
            </a:fld>
            <a:endParaRPr lang="en-US" altLang="zh-CN" i="0">
              <a:latin typeface="Times New Roman" panose="02020603050405020304" pitchFamily="18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 w="12700" cap="flat">
            <a:solidFill>
              <a:schemeClr val="tx1"/>
            </a:solidFill>
          </a:ln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wrap="square" lIns="91903" tIns="45173" rIns="91903" bIns="45173" anchor="t"/>
          <a:lstStyle/>
          <a:p>
            <a:pPr defTabSz="881380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1371600"/>
            <a:ext cx="7772400" cy="1462088"/>
          </a:xfrm>
        </p:spPr>
        <p:txBody>
          <a:bodyPr/>
          <a:lstStyle>
            <a:lvl1pPr algn="ctr">
              <a:defRPr b="1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120DE61-17EA-4130-BDDF-C7F88F38675A}" type="datetime1">
              <a:rPr lang="zh-CN" altLang="en-US" smtClean="0"/>
            </a:fld>
            <a:endParaRPr lang="en-US" altLang="zh-CN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n-lt"/>
              </a:defRPr>
            </a:lvl1pPr>
          </a:lstStyle>
          <a:p>
            <a:fld id="{6CCA5716-0634-4856-A663-DB15ABEAE0FC}" type="slidenum">
              <a:rPr lang="en-US" altLang="zh-CN"/>
            </a:fld>
            <a:endParaRPr lang="en-US" altLang="zh-CN"/>
          </a:p>
        </p:txBody>
      </p:sp>
      <p:graphicFrame>
        <p:nvGraphicFramePr>
          <p:cNvPr id="5127" name="Object 7"/>
          <p:cNvGraphicFramePr/>
          <p:nvPr/>
        </p:nvGraphicFramePr>
        <p:xfrm>
          <a:off x="533400" y="3124200"/>
          <a:ext cx="83058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Clip" r:id="rId2" imgW="6858000" imgH="48895" progId="">
                  <p:embed/>
                </p:oleObj>
              </mc:Choice>
              <mc:Fallback>
                <p:oleObj name="Clip" r:id="rId2" imgW="6858000" imgH="48895" progId="">
                  <p:embed/>
                  <p:pic>
                    <p:nvPicPr>
                      <p:cNvPr id="0" name="Picture 377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124200"/>
                        <a:ext cx="8305800" cy="7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DB94113-B44D-4CAE-A47C-8857FBB19C5D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D0990F-CFD2-4E3E-9B0E-DA23AF729A97}" type="slidenum">
              <a:rPr lang="en-US" altLang="zh-CN" smtClean="0"/>
            </a:fld>
            <a:r>
              <a:rPr lang="en-US" altLang="zh-CN" dirty="0"/>
              <a:t>/79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C0C81-3926-4DDB-8832-2D435D6E73C7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3DB52B-4C4C-4864-83C4-843F69F63C3F}" type="slidenum">
              <a:rPr lang="en-US" altLang="zh-CN" smtClean="0"/>
            </a:fld>
            <a:r>
              <a:rPr lang="en-US" altLang="zh-CN" dirty="0"/>
              <a:t>/ 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447800"/>
            <a:ext cx="4095750" cy="46847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57750" y="1447800"/>
            <a:ext cx="4097338" cy="46847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17C8F8E-6588-4035-A34B-B32B333E802C}" type="datetime1">
              <a:rPr lang="zh-CN" altLang="en-US" smtClean="0"/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2BDAF8-5F80-44E9-815F-3A25DDBB3C40}" type="slidenum">
              <a:rPr lang="en-US" altLang="zh-CN" smtClean="0"/>
            </a:fld>
            <a:r>
              <a:rPr lang="en-US" altLang="zh-CN" dirty="0"/>
              <a:t>/ 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B2F77BD-F583-421E-8D5B-72747C30688C}" type="datetime1">
              <a:rPr lang="zh-CN" altLang="en-US" smtClean="0"/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0C4D13-A272-4082-8BFF-C1FF983503F1}" type="slidenum">
              <a:rPr lang="en-US" altLang="zh-CN" smtClean="0"/>
            </a:fld>
            <a:r>
              <a:rPr lang="en-US" altLang="zh-CN" dirty="0"/>
              <a:t>/ 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7F009AA-CB94-42CE-80DB-E53702A9DD46}" type="datetime1">
              <a:rPr lang="zh-CN" altLang="en-US" smtClean="0"/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1F7240-85F2-492B-84D8-762EF0110923}" type="slidenum">
              <a:rPr lang="en-US" altLang="zh-CN" smtClean="0"/>
            </a:fld>
            <a:r>
              <a:rPr lang="en-US" altLang="zh-CN" dirty="0"/>
              <a:t>/ 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909F87A-CE24-4F16-890B-5034CFB567E3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859D91-B044-4432-8F53-1DDA64472C48}" type="slidenum">
              <a:rPr lang="en-US" altLang="zh-CN" smtClean="0"/>
            </a:fld>
            <a:r>
              <a:rPr lang="en-US" altLang="zh-CN" dirty="0"/>
              <a:t>/ 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6E43D15-62D4-4902-A8D8-F32420739C30}" type="datetime1">
              <a:rPr lang="zh-CN" altLang="en-US" smtClean="0"/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9CA51D-8C6A-419F-B00E-05C2D3B64491}" type="slidenum">
              <a:rPr lang="en-US" altLang="zh-CN" smtClean="0"/>
            </a:fld>
            <a:r>
              <a:rPr lang="en-US" altLang="zh-CN" dirty="0"/>
              <a:t>/ 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C7EC2F-47EE-4323-9F71-846BAC46D7C5}" type="datetime1">
              <a:rPr lang="zh-CN" altLang="en-US" smtClean="0"/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1B0A37-5329-4F0D-9A6B-8FD5A3925C3F}" type="slidenum">
              <a:rPr lang="en-US" altLang="zh-CN" smtClean="0"/>
            </a:fld>
            <a:r>
              <a:rPr lang="en-US" altLang="zh-CN" dirty="0"/>
              <a:t>/ 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7FB14D9-BFB5-4636-833A-FF1F25A1C756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E13C38-AAC3-4CC8-9784-F01F6774813F}" type="slidenum">
              <a:rPr lang="en-US" altLang="zh-CN" smtClean="0"/>
            </a:fld>
            <a:r>
              <a:rPr lang="en-US" altLang="zh-CN" dirty="0"/>
              <a:t>/ 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69113" y="381000"/>
            <a:ext cx="2085975" cy="57515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381000"/>
            <a:ext cx="6107113" cy="57515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C2B9B31-BD4E-4A49-940E-D3C846777C99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01F180-A04A-4377-9274-058006FA6599}" type="slidenum">
              <a:rPr lang="en-US" altLang="zh-CN" smtClean="0"/>
            </a:fld>
            <a:r>
              <a:rPr lang="en-US" altLang="zh-CN" dirty="0"/>
              <a:t>/ 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81000"/>
            <a:ext cx="8105775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447800"/>
            <a:ext cx="4095750" cy="46847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57750" y="1447800"/>
            <a:ext cx="4097338" cy="46847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24AF2F26-C207-47FE-B019-4AEBEC32BD91}" type="datetime1">
              <a:rPr lang="zh-CN" altLang="en-US" smtClean="0"/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CD1009FC-6422-4D11-A8C2-1D81ACC82383}" type="slidenum">
              <a:rPr lang="en-US" altLang="zh-CN" smtClean="0"/>
            </a:fld>
            <a:r>
              <a:rPr lang="en-US" altLang="zh-CN" dirty="0"/>
              <a:t>/ 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81000"/>
            <a:ext cx="8105775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447800"/>
            <a:ext cx="8345488" cy="46847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64D25BA0-9805-43BF-B96F-5B11A7450FB9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0ACCFFB1-3FCD-42E5-A049-B784F9225D84}" type="slidenum">
              <a:rPr lang="en-US" altLang="zh-CN" smtClean="0"/>
            </a:fld>
            <a:r>
              <a:rPr lang="en-US" altLang="zh-CN" dirty="0"/>
              <a:t>/ 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81000"/>
            <a:ext cx="8105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47800"/>
            <a:ext cx="8345488" cy="4684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fld id="{5D02B4AB-5930-4E18-9610-D8341AF82701}" type="datetime1">
              <a:rPr lang="zh-CN" altLang="en-US" smtClean="0"/>
            </a:fld>
            <a:endParaRPr lang="en-US" altLang="zh-CN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latin typeface="Times New Roman" panose="02020603050405020304" pitchFamily="18" charset="0"/>
              </a:defRPr>
            </a:lvl1pPr>
          </a:lstStyle>
          <a:p>
            <a:fld id="{64C5EB26-65E6-4233-BE49-41792A7FCCDB}" type="slidenum">
              <a:rPr lang="en-US" altLang="zh-CN" smtClean="0"/>
            </a:fld>
            <a:r>
              <a:rPr lang="en-US" altLang="zh-CN" dirty="0"/>
              <a:t>/76</a:t>
            </a:r>
            <a:endParaRPr lang="zh-CN" altLang="en-US" dirty="0"/>
          </a:p>
        </p:txBody>
      </p:sp>
      <p:pic>
        <p:nvPicPr>
          <p:cNvPr id="4103" name="Picture 7" descr="redBa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19200"/>
            <a:ext cx="7924800" cy="15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fade/>
  </p:transition>
  <p:hf hdr="0"/>
  <p:txStyles>
    <p:titleStyle>
      <a:lvl1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.xml"/><Relationship Id="rId1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3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2.bin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.xml"/><Relationship Id="rId1" Type="http://schemas.openxmlformats.org/officeDocument/2006/relationships/image" Target="../media/image8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image" Target="../media/image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image" Target="../media/image9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4.xml"/><Relationship Id="rId1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000">
                <a:latin typeface="Times New Roman" panose="02020603050405020304" pitchFamily="18" charset="0"/>
              </a:rPr>
              <a:t>数据库系统原理</a:t>
            </a:r>
            <a:br>
              <a:rPr lang="zh-CN" altLang="en-US" sz="4000">
                <a:latin typeface="Times New Roman" panose="02020603050405020304" pitchFamily="18" charset="0"/>
              </a:rPr>
            </a:br>
            <a:br>
              <a:rPr lang="zh-CN" altLang="en-US" sz="900">
                <a:latin typeface="Times New Roman" panose="02020603050405020304" pitchFamily="18" charset="0"/>
              </a:rPr>
            </a:br>
            <a:r>
              <a:rPr lang="en-US" altLang="zh-CN" sz="2800">
                <a:latin typeface="Times New Roman" panose="02020603050405020304" pitchFamily="18" charset="0"/>
              </a:rPr>
              <a:t>Database System Principles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2438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四川大学计算机学院</a:t>
            </a:r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郭际香</a:t>
            </a:r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guojixiang@scu.edu.cn</a:t>
            </a:r>
            <a:endParaRPr lang="en-US" altLang="zh-CN" sz="24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endParaRPr lang="en-US" altLang="zh-CN" sz="24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2025.12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838200"/>
            <a:ext cx="7772400" cy="1462088"/>
          </a:xfrm>
        </p:spPr>
        <p:txBody>
          <a:bodyPr/>
          <a:lstStyle/>
          <a:p>
            <a:r>
              <a:rPr lang="zh-CN" altLang="zh-CN" dirty="0"/>
              <a:t>第</a:t>
            </a:r>
            <a:r>
              <a:rPr lang="en-US" altLang="zh-CN" dirty="0"/>
              <a:t>14</a:t>
            </a:r>
            <a:r>
              <a:rPr lang="zh-CN" altLang="zh-CN" dirty="0"/>
              <a:t>章 </a:t>
            </a:r>
            <a:r>
              <a:rPr lang="zh-CN" altLang="en-US" dirty="0"/>
              <a:t>并发控制与恢复</a:t>
            </a:r>
            <a:endParaRPr lang="en-US" altLang="zh-CN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414811"/>
            <a:ext cx="7772400" cy="2952328"/>
          </a:xfrm>
        </p:spPr>
        <p:txBody>
          <a:bodyPr/>
          <a:lstStyle/>
          <a:p>
            <a:pPr algn="l">
              <a:buFont typeface="Wingdings" panose="05000000000000000000" pitchFamily="2" charset="2"/>
              <a:buChar char="n"/>
            </a:pPr>
            <a:r>
              <a:rPr lang="zh-CN" altLang="en-US" sz="2000" dirty="0"/>
              <a:t>数据库的重要特征是它能</a:t>
            </a:r>
            <a:r>
              <a:rPr lang="zh-CN" altLang="en-US" sz="2000" dirty="0">
                <a:solidFill>
                  <a:schemeClr val="hlink"/>
                </a:solidFill>
              </a:rPr>
              <a:t>为多个用户提供数据共享</a:t>
            </a:r>
            <a:r>
              <a:rPr lang="zh-CN" altLang="en-US" sz="2000" dirty="0"/>
              <a:t>。</a:t>
            </a:r>
            <a:r>
              <a:rPr lang="en-US" altLang="zh-CN" sz="2000" dirty="0"/>
              <a:t>DBMS</a:t>
            </a:r>
            <a:r>
              <a:rPr lang="zh-CN" altLang="en-US" sz="2000" dirty="0"/>
              <a:t>允许共享的用户数目是</a:t>
            </a:r>
            <a:r>
              <a:rPr lang="en-US" altLang="zh-CN" sz="2000" dirty="0"/>
              <a:t>DBMS</a:t>
            </a:r>
            <a:r>
              <a:rPr lang="zh-CN" altLang="en-US" sz="2000" dirty="0"/>
              <a:t>重要标志之一。</a:t>
            </a:r>
            <a:endParaRPr lang="en-US" altLang="zh-CN" sz="2000" dirty="0"/>
          </a:p>
          <a:p>
            <a:pPr algn="l">
              <a:buFont typeface="Wingdings" panose="05000000000000000000" pitchFamily="2" charset="2"/>
              <a:buChar char="n"/>
            </a:pPr>
            <a:r>
              <a:rPr lang="zh-CN" altLang="en-US" sz="2000" dirty="0"/>
              <a:t>数据库</a:t>
            </a:r>
            <a:r>
              <a:rPr lang="zh-CN" altLang="en-US" sz="2000" b="1" dirty="0">
                <a:solidFill>
                  <a:schemeClr val="tx2"/>
                </a:solidFill>
              </a:rPr>
              <a:t>恢复机制</a:t>
            </a:r>
            <a:r>
              <a:rPr lang="zh-CN" altLang="en-US" sz="2000" dirty="0"/>
              <a:t>和</a:t>
            </a:r>
            <a:r>
              <a:rPr lang="zh-CN" altLang="en-US" sz="2000" b="1" dirty="0">
                <a:solidFill>
                  <a:schemeClr val="tx2"/>
                </a:solidFill>
              </a:rPr>
              <a:t>并发控制机制</a:t>
            </a:r>
            <a:r>
              <a:rPr lang="zh-CN" altLang="en-US" sz="2000" dirty="0"/>
              <a:t>是数据库管理系统的重要组成部分。</a:t>
            </a:r>
            <a:endParaRPr lang="zh-CN" altLang="en-US" sz="2000" dirty="0"/>
          </a:p>
          <a:p>
            <a:pPr algn="l">
              <a:buFont typeface="Wingdings" panose="05000000000000000000" pitchFamily="2" charset="2"/>
              <a:buChar char="n"/>
            </a:pPr>
            <a:r>
              <a:rPr lang="en-US" altLang="zh-CN" sz="2000" dirty="0"/>
              <a:t>DBMS</a:t>
            </a:r>
            <a:r>
              <a:rPr lang="zh-CN" altLang="en-US" sz="2000" dirty="0"/>
              <a:t>必须提供</a:t>
            </a:r>
            <a:r>
              <a:rPr lang="zh-CN" altLang="en-US" sz="2000" b="1" dirty="0">
                <a:solidFill>
                  <a:schemeClr val="hlink"/>
                </a:solidFill>
              </a:rPr>
              <a:t>并发控制机制</a:t>
            </a:r>
            <a:r>
              <a:rPr lang="zh-CN" altLang="en-US" sz="2000" dirty="0"/>
              <a:t>来</a:t>
            </a:r>
            <a:r>
              <a:rPr lang="zh-CN" altLang="en-US" sz="2000" dirty="0">
                <a:solidFill>
                  <a:srgbClr val="0000FF"/>
                </a:solidFill>
              </a:rPr>
              <a:t>协调并发用户的并发操作</a:t>
            </a:r>
            <a:r>
              <a:rPr lang="zh-CN" altLang="en-US" sz="2000" dirty="0"/>
              <a:t>以保证</a:t>
            </a:r>
            <a:r>
              <a:rPr lang="zh-CN" altLang="en-US" sz="2000" b="1" dirty="0">
                <a:solidFill>
                  <a:srgbClr val="800080"/>
                </a:solidFill>
              </a:rPr>
              <a:t>并发事务</a:t>
            </a:r>
            <a:r>
              <a:rPr lang="zh-CN" altLang="en-US" sz="2000" dirty="0"/>
              <a:t>的</a:t>
            </a:r>
            <a:r>
              <a:rPr lang="zh-CN" altLang="en-US" sz="2000" b="1" dirty="0">
                <a:solidFill>
                  <a:srgbClr val="800080"/>
                </a:solidFill>
              </a:rPr>
              <a:t>隔离性</a:t>
            </a:r>
            <a:r>
              <a:rPr lang="zh-CN" altLang="en-US" sz="2000" dirty="0"/>
              <a:t>和</a:t>
            </a:r>
            <a:r>
              <a:rPr lang="zh-CN" altLang="en-US" sz="2000" b="1" dirty="0">
                <a:solidFill>
                  <a:srgbClr val="800080"/>
                </a:solidFill>
              </a:rPr>
              <a:t>一致性</a:t>
            </a:r>
            <a:r>
              <a:rPr lang="zh-CN" altLang="en-US" sz="2000" dirty="0"/>
              <a:t>，保证</a:t>
            </a:r>
            <a:r>
              <a:rPr lang="zh-CN" altLang="en-US" sz="2000" b="1" dirty="0">
                <a:solidFill>
                  <a:srgbClr val="0000FF"/>
                </a:solidFill>
              </a:rPr>
              <a:t>数据库的一致性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algn="l">
              <a:buFont typeface="Wingdings" panose="05000000000000000000" pitchFamily="2" charset="2"/>
              <a:buChar char="n"/>
            </a:pPr>
            <a:r>
              <a:rPr lang="en-US" altLang="zh-CN" sz="2000" dirty="0"/>
              <a:t>DBMS</a:t>
            </a:r>
            <a:r>
              <a:rPr lang="zh-CN" altLang="en-US" sz="2000" dirty="0">
                <a:solidFill>
                  <a:schemeClr val="bg2"/>
                </a:solidFill>
              </a:rPr>
              <a:t>必须提供</a:t>
            </a:r>
            <a:r>
              <a:rPr lang="zh-CN" altLang="en-US" sz="2000" b="1" dirty="0">
                <a:solidFill>
                  <a:srgbClr val="C00000"/>
                </a:solidFill>
              </a:rPr>
              <a:t>数据库的恢复机制</a:t>
            </a:r>
            <a:r>
              <a:rPr lang="zh-CN" altLang="en-US" sz="2000" dirty="0">
                <a:solidFill>
                  <a:schemeClr val="bg2"/>
                </a:solidFill>
              </a:rPr>
              <a:t>把数据库</a:t>
            </a:r>
            <a:r>
              <a:rPr lang="zh-CN" altLang="en-US" sz="2000" b="1" u="sng" dirty="0">
                <a:solidFill>
                  <a:srgbClr val="FB1807"/>
                </a:solidFill>
              </a:rPr>
              <a:t>从错误状态</a:t>
            </a:r>
            <a:r>
              <a:rPr lang="zh-CN" altLang="en-US" sz="2000" b="1" u="sng" dirty="0">
                <a:solidFill>
                  <a:srgbClr val="0000FF"/>
                </a:solidFill>
              </a:rPr>
              <a:t>恢复到</a:t>
            </a:r>
            <a:r>
              <a:rPr lang="zh-CN" altLang="en-US" sz="2000" b="1" u="sng" dirty="0">
                <a:solidFill>
                  <a:srgbClr val="FB1807"/>
                </a:solidFill>
              </a:rPr>
              <a:t>某一已知的正确状态</a:t>
            </a:r>
            <a:r>
              <a:rPr lang="en-US" altLang="zh-CN" sz="2000" dirty="0"/>
              <a:t>(</a:t>
            </a:r>
            <a:r>
              <a:rPr lang="zh-CN" altLang="en-US" sz="2000" dirty="0"/>
              <a:t>亦称为</a:t>
            </a:r>
            <a:r>
              <a:rPr lang="zh-CN" altLang="en-US" sz="2000" b="1" dirty="0"/>
              <a:t>一致性状态或完整状态</a:t>
            </a:r>
            <a:r>
              <a:rPr lang="en-US" altLang="zh-CN" sz="2000" dirty="0"/>
              <a:t>)</a:t>
            </a:r>
            <a:r>
              <a:rPr lang="zh-CN" altLang="en-US" sz="2000" dirty="0"/>
              <a:t>。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本章目录</a:t>
            </a:r>
            <a:endParaRPr lang="zh-CN" altLang="en-US"/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39888"/>
            <a:ext cx="7583488" cy="4532312"/>
          </a:xfrm>
        </p:spPr>
        <p:txBody>
          <a:bodyPr/>
          <a:lstStyle/>
          <a:p>
            <a:r>
              <a:rPr lang="en-US" altLang="zh-CN" sz="2800" dirty="0"/>
              <a:t>14.1 </a:t>
            </a:r>
            <a:r>
              <a:rPr lang="zh-CN" altLang="en-US" sz="2800" dirty="0"/>
              <a:t>基于锁的协议</a:t>
            </a:r>
            <a:endParaRPr lang="zh-CN" altLang="en-US" sz="2800" dirty="0"/>
          </a:p>
          <a:p>
            <a:r>
              <a:rPr lang="en-US" altLang="zh-CN" sz="2800" dirty="0"/>
              <a:t>14.2 </a:t>
            </a:r>
            <a:r>
              <a:rPr lang="zh-CN" altLang="en-US" sz="2800" dirty="0"/>
              <a:t>死锁处理</a:t>
            </a:r>
            <a:endParaRPr lang="zh-CN" altLang="en-US" sz="2800" dirty="0">
              <a:solidFill>
                <a:srgbClr val="CC0000"/>
              </a:solidFill>
            </a:endParaRPr>
          </a:p>
          <a:p>
            <a:r>
              <a:rPr lang="en-US" altLang="zh-CN" sz="2800" dirty="0"/>
              <a:t>14.3 </a:t>
            </a:r>
            <a:r>
              <a:rPr lang="zh-CN" altLang="en-US" sz="2800" dirty="0"/>
              <a:t>多粒度</a:t>
            </a:r>
            <a:endParaRPr lang="zh-CN" altLang="en-US" sz="2800" dirty="0"/>
          </a:p>
          <a:p>
            <a:r>
              <a:rPr lang="en-US" altLang="zh-CN" sz="2800" dirty="0"/>
              <a:t>14.4 </a:t>
            </a:r>
            <a:r>
              <a:rPr lang="zh-CN" altLang="en-US" sz="2800" dirty="0"/>
              <a:t>插入操作、删除操作与谓词读</a:t>
            </a:r>
            <a:r>
              <a:rPr lang="en-US" altLang="zh-CN" sz="2800" dirty="0"/>
              <a:t>(</a:t>
            </a:r>
            <a:r>
              <a:rPr lang="zh-CN" altLang="en-US" sz="2800" dirty="0"/>
              <a:t>了解</a:t>
            </a:r>
            <a:r>
              <a:rPr lang="en-US" altLang="zh-CN" sz="2800" dirty="0"/>
              <a:t>)</a:t>
            </a:r>
            <a:endParaRPr lang="zh-CN" altLang="en-US" sz="2800" dirty="0"/>
          </a:p>
          <a:p>
            <a:r>
              <a:rPr lang="en-US" altLang="zh-CN" sz="2800" dirty="0"/>
              <a:t>14.5 </a:t>
            </a:r>
            <a:r>
              <a:rPr lang="zh-CN" altLang="en-US" sz="2800" dirty="0"/>
              <a:t>基于时间戳的协议</a:t>
            </a:r>
            <a:r>
              <a:rPr lang="en-US" altLang="zh-CN" sz="2800" dirty="0"/>
              <a:t>(</a:t>
            </a:r>
            <a:r>
              <a:rPr lang="zh-CN" altLang="en-US" sz="2800" dirty="0"/>
              <a:t>了解</a:t>
            </a:r>
            <a:r>
              <a:rPr lang="en-US" altLang="zh-CN" sz="2800" dirty="0"/>
              <a:t>)</a:t>
            </a:r>
            <a:endParaRPr lang="zh-CN" altLang="en-US" sz="2800" dirty="0"/>
          </a:p>
          <a:p>
            <a:r>
              <a:rPr lang="en-US" altLang="zh-CN" sz="2800" dirty="0"/>
              <a:t>14.6 </a:t>
            </a:r>
            <a:r>
              <a:rPr lang="zh-CN" altLang="en-US" sz="2800" dirty="0"/>
              <a:t>基于有效性检查的协议</a:t>
            </a:r>
            <a:r>
              <a:rPr lang="en-US" altLang="zh-CN" sz="2800" dirty="0"/>
              <a:t>(</a:t>
            </a:r>
            <a:r>
              <a:rPr lang="zh-CN" altLang="en-US" sz="2800" dirty="0"/>
              <a:t>了解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r>
              <a:rPr lang="en-US" altLang="zh-CN" sz="2800" dirty="0"/>
              <a:t>14.7</a:t>
            </a:r>
            <a:r>
              <a:rPr lang="zh-CN" altLang="en-US" sz="2800" dirty="0"/>
              <a:t> 多版本机制</a:t>
            </a:r>
            <a:r>
              <a:rPr lang="en-US" altLang="zh-CN" sz="2800" dirty="0"/>
              <a:t>(</a:t>
            </a:r>
            <a:r>
              <a:rPr lang="zh-CN" altLang="en-US" sz="2800" dirty="0"/>
              <a:t>自学了解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r>
              <a:rPr lang="en-US" altLang="zh-CN" sz="2800" dirty="0"/>
              <a:t>14.8 </a:t>
            </a:r>
            <a:r>
              <a:rPr lang="zh-CN" altLang="en-US" sz="2800" dirty="0"/>
              <a:t>故障分类</a:t>
            </a:r>
            <a:endParaRPr lang="en-US" altLang="zh-CN" sz="2800" dirty="0"/>
          </a:p>
        </p:txBody>
      </p:sp>
      <p:sp>
        <p:nvSpPr>
          <p:cNvPr id="253956" name="AutoShape 4"/>
          <p:cNvSpPr>
            <a:spLocks noChangeArrowheads="1"/>
          </p:cNvSpPr>
          <p:nvPr/>
        </p:nvSpPr>
        <p:spPr bwMode="auto">
          <a:xfrm>
            <a:off x="838200" y="1752600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0BB95-0A62-4AAB-9B3A-BB9A2DAEC073}" type="datetime1">
              <a:rPr lang="zh-CN" altLang="en-US" smtClean="0"/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本章目录</a:t>
            </a:r>
            <a:endParaRPr lang="zh-CN" altLang="en-US"/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39888"/>
            <a:ext cx="7583488" cy="4532312"/>
          </a:xfrm>
        </p:spPr>
        <p:txBody>
          <a:bodyPr/>
          <a:lstStyle/>
          <a:p>
            <a:r>
              <a:rPr lang="en-US" altLang="zh-CN" sz="2800" dirty="0"/>
              <a:t>14.9 </a:t>
            </a:r>
            <a:r>
              <a:rPr lang="zh-CN" altLang="en-US" sz="2800" dirty="0"/>
              <a:t>存储器</a:t>
            </a:r>
            <a:endParaRPr lang="en-US" altLang="zh-CN" sz="2800" dirty="0"/>
          </a:p>
          <a:p>
            <a:r>
              <a:rPr lang="en-US" altLang="zh-CN" sz="2800" dirty="0"/>
              <a:t>14.10 </a:t>
            </a:r>
            <a:r>
              <a:rPr lang="zh-CN" altLang="en-US" sz="2800" dirty="0"/>
              <a:t>恢复与原子性</a:t>
            </a:r>
            <a:endParaRPr lang="en-US" altLang="zh-CN" sz="2800" dirty="0"/>
          </a:p>
          <a:p>
            <a:r>
              <a:rPr lang="en-US" altLang="zh-CN" sz="2800" dirty="0"/>
              <a:t>14.11 </a:t>
            </a:r>
            <a:r>
              <a:rPr lang="zh-CN" altLang="en-US" sz="2800" dirty="0"/>
              <a:t>恢复算法</a:t>
            </a:r>
            <a:endParaRPr lang="en-US" altLang="zh-CN" sz="2800" dirty="0"/>
          </a:p>
          <a:p>
            <a:r>
              <a:rPr lang="en-US" altLang="zh-CN" sz="2800" dirty="0"/>
              <a:t>14.12 </a:t>
            </a:r>
            <a:r>
              <a:rPr lang="zh-CN" altLang="en-US" sz="2800" dirty="0"/>
              <a:t>缓冲区管理</a:t>
            </a:r>
            <a:endParaRPr lang="zh-CN" altLang="en-US" sz="280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A9121-D2D8-4430-9022-126C7B92242C}" type="datetime1">
              <a:rPr lang="zh-CN" altLang="en-US" smtClean="0"/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并发控制</a:t>
            </a:r>
            <a:endParaRPr lang="zh-CN" altLang="en-US"/>
          </a:p>
        </p:txBody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并发控制机制的任务</a:t>
            </a:r>
            <a:endParaRPr lang="zh-CN" altLang="en-US" dirty="0"/>
          </a:p>
          <a:p>
            <a:pPr lvl="1"/>
            <a:r>
              <a:rPr lang="zh-CN" altLang="en-US" dirty="0"/>
              <a:t>对并发操作进行</a:t>
            </a:r>
            <a:r>
              <a:rPr lang="zh-CN" altLang="en-US" dirty="0">
                <a:solidFill>
                  <a:srgbClr val="FF0000"/>
                </a:solidFill>
              </a:rPr>
              <a:t>正确调度</a:t>
            </a:r>
            <a:endParaRPr lang="zh-CN" altLang="en-US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保证事务的</a:t>
            </a:r>
            <a:r>
              <a:rPr lang="zh-CN" altLang="en-US" dirty="0">
                <a:solidFill>
                  <a:srgbClr val="FF0000"/>
                </a:solidFill>
              </a:rPr>
              <a:t>隔离性</a:t>
            </a:r>
            <a:endParaRPr lang="zh-CN" altLang="en-US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保证数据库的</a:t>
            </a:r>
            <a:r>
              <a:rPr lang="zh-CN" altLang="en-US" dirty="0">
                <a:solidFill>
                  <a:srgbClr val="FF0000"/>
                </a:solidFill>
              </a:rPr>
              <a:t>一致性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0D835-CA6D-4383-8FE7-7CC264407F9A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14.1 </a:t>
            </a:r>
            <a:r>
              <a:rPr lang="zh-CN" altLang="en-US" sz="3200" dirty="0"/>
              <a:t>基于锁的协议</a:t>
            </a:r>
            <a:endParaRPr lang="zh-CN" altLang="en-US" sz="3200" dirty="0"/>
          </a:p>
        </p:txBody>
      </p:sp>
      <p:sp>
        <p:nvSpPr>
          <p:cNvPr id="528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b="1" dirty="0">
                <a:solidFill>
                  <a:srgbClr val="C00000"/>
                </a:solidFill>
              </a:rPr>
              <a:t>封锁</a:t>
            </a:r>
            <a:r>
              <a:rPr lang="zh-CN" altLang="en-US" sz="2800" b="1" dirty="0"/>
              <a:t>是实现</a:t>
            </a:r>
            <a:r>
              <a:rPr lang="zh-CN" altLang="en-US" sz="2800" b="1" dirty="0">
                <a:solidFill>
                  <a:srgbClr val="C00000"/>
                </a:solidFill>
              </a:rPr>
              <a:t>并发控制</a:t>
            </a:r>
            <a:r>
              <a:rPr lang="zh-CN" altLang="en-US" sz="2800" b="1" dirty="0"/>
              <a:t>的一个非常</a:t>
            </a:r>
            <a:r>
              <a:rPr lang="zh-CN" altLang="en-US" sz="2800" b="1" dirty="0">
                <a:solidFill>
                  <a:srgbClr val="C00000"/>
                </a:solidFill>
              </a:rPr>
              <a:t>重要的技术</a:t>
            </a:r>
            <a:r>
              <a:rPr lang="zh-CN" altLang="en-US" sz="2800" b="1" dirty="0"/>
              <a:t>。利用封锁机制，可以解决上一章所讲的三个问题，</a:t>
            </a:r>
            <a:r>
              <a:rPr lang="zh-CN" altLang="en-US" sz="2800" b="1" dirty="0">
                <a:solidFill>
                  <a:srgbClr val="FF0000"/>
                </a:solidFill>
              </a:rPr>
              <a:t>保证事务的隔离性</a:t>
            </a:r>
            <a:r>
              <a:rPr lang="zh-CN" altLang="en-US" sz="2800" b="1" dirty="0"/>
              <a:t>。</a:t>
            </a:r>
            <a:endParaRPr lang="en-US" altLang="zh-CN" sz="2800" b="1" dirty="0"/>
          </a:p>
          <a:p>
            <a:pPr lvl="1"/>
            <a:r>
              <a:rPr lang="zh-CN" altLang="en-US" sz="2400" b="1" dirty="0"/>
              <a:t>对</a:t>
            </a:r>
            <a:r>
              <a:rPr lang="zh-CN" altLang="en-US" sz="2400" b="1" dirty="0">
                <a:solidFill>
                  <a:srgbClr val="0000FF"/>
                </a:solidFill>
              </a:rPr>
              <a:t>数据项</a:t>
            </a:r>
            <a:r>
              <a:rPr lang="zh-CN" altLang="en-US" sz="2400" b="1" dirty="0"/>
              <a:t>的</a:t>
            </a:r>
            <a:r>
              <a:rPr lang="zh-CN" altLang="en-US" sz="2400" b="1" dirty="0">
                <a:solidFill>
                  <a:srgbClr val="0000FF"/>
                </a:solidFill>
              </a:rPr>
              <a:t>访问</a:t>
            </a:r>
            <a:r>
              <a:rPr lang="zh-CN" altLang="en-US" sz="2400" b="1" dirty="0"/>
              <a:t>以</a:t>
            </a:r>
            <a:r>
              <a:rPr lang="zh-CN" altLang="en-US" sz="2400" b="1" dirty="0">
                <a:solidFill>
                  <a:srgbClr val="0000FF"/>
                </a:solidFill>
              </a:rPr>
              <a:t>互斥</a:t>
            </a:r>
            <a:r>
              <a:rPr lang="zh-CN" altLang="en-US" sz="2400" b="1" dirty="0"/>
              <a:t>的方式进行，也即当一个事务访问某个数据项时，其他任何事务都</a:t>
            </a:r>
            <a:r>
              <a:rPr lang="zh-CN" altLang="en-US" sz="2400" b="1" dirty="0">
                <a:solidFill>
                  <a:srgbClr val="FF0000"/>
                </a:solidFill>
              </a:rPr>
              <a:t>不能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修改</a:t>
            </a:r>
            <a:r>
              <a:rPr lang="zh-CN" altLang="en-US" sz="2400" b="1" dirty="0">
                <a:solidFill>
                  <a:srgbClr val="0000FF"/>
                </a:solidFill>
              </a:rPr>
              <a:t>该数据项</a:t>
            </a:r>
            <a:r>
              <a:rPr lang="zh-CN" altLang="en-US" sz="2400" b="1" dirty="0"/>
              <a:t>。</a:t>
            </a:r>
            <a:endParaRPr lang="en-US" altLang="zh-CN" sz="2400" b="1" dirty="0"/>
          </a:p>
          <a:p>
            <a:pPr lvl="1"/>
            <a:r>
              <a:rPr lang="zh-CN" altLang="en-US" sz="2400" b="1" dirty="0"/>
              <a:t>当且仅当这个事务</a:t>
            </a:r>
            <a:r>
              <a:rPr lang="zh-CN" altLang="en-US" sz="2400" b="1" dirty="0">
                <a:solidFill>
                  <a:srgbClr val="FF0000"/>
                </a:solidFill>
              </a:rPr>
              <a:t>持有</a:t>
            </a:r>
            <a:r>
              <a:rPr lang="zh-CN" altLang="en-US" sz="2400" b="1" dirty="0">
                <a:solidFill>
                  <a:srgbClr val="0000FF"/>
                </a:solidFill>
              </a:rPr>
              <a:t>一个数据项上的锁</a:t>
            </a:r>
            <a:r>
              <a:rPr lang="zh-CN" altLang="en-US" sz="2400" b="1" dirty="0"/>
              <a:t>时，它</a:t>
            </a:r>
            <a:r>
              <a:rPr lang="zh-CN" altLang="en-US" sz="2400" b="1" dirty="0">
                <a:solidFill>
                  <a:srgbClr val="0000FF"/>
                </a:solidFill>
              </a:rPr>
              <a:t>才可以访问</a:t>
            </a:r>
            <a:r>
              <a:rPr lang="zh-CN" altLang="en-US" sz="2400" b="1" dirty="0"/>
              <a:t>这个数据项。</a:t>
            </a:r>
            <a:endParaRPr lang="zh-CN" altLang="en-US" sz="1600" b="1" dirty="0"/>
          </a:p>
          <a:p>
            <a:pPr lvl="1"/>
            <a:r>
              <a:rPr lang="zh-CN" altLang="en-US" sz="2400" b="1" dirty="0"/>
              <a:t>所谓</a:t>
            </a:r>
            <a:r>
              <a:rPr lang="zh-CN" altLang="en-US" sz="2400" b="1" dirty="0">
                <a:solidFill>
                  <a:srgbClr val="0000FF"/>
                </a:solidFill>
              </a:rPr>
              <a:t>封锁</a:t>
            </a:r>
            <a:r>
              <a:rPr lang="zh-CN" altLang="en-US" sz="2400" b="1" dirty="0"/>
              <a:t>就是</a:t>
            </a:r>
            <a:r>
              <a:rPr lang="zh-CN" altLang="en-US" sz="2400" b="1" dirty="0">
                <a:solidFill>
                  <a:srgbClr val="006600"/>
                </a:solidFill>
              </a:rPr>
              <a:t>事务</a:t>
            </a:r>
            <a:r>
              <a:rPr lang="en-US" altLang="zh-CN" sz="2400" b="1" dirty="0">
                <a:solidFill>
                  <a:srgbClr val="006600"/>
                </a:solidFill>
              </a:rPr>
              <a:t>T</a:t>
            </a:r>
            <a:r>
              <a:rPr lang="zh-CN" altLang="en-US" sz="2400" b="1" dirty="0"/>
              <a:t>在对某个</a:t>
            </a:r>
            <a:r>
              <a:rPr lang="zh-CN" altLang="en-US" sz="2400" b="1" dirty="0">
                <a:solidFill>
                  <a:schemeClr val="tx2"/>
                </a:solidFill>
              </a:rPr>
              <a:t>数据对象</a:t>
            </a:r>
            <a:r>
              <a:rPr lang="zh-CN" altLang="en-US" sz="2400" b="1" dirty="0"/>
              <a:t>例如表、记录等</a:t>
            </a:r>
            <a:r>
              <a:rPr lang="zh-CN" altLang="en-US" sz="2400" b="1" dirty="0">
                <a:solidFill>
                  <a:schemeClr val="tx2"/>
                </a:solidFill>
              </a:rPr>
              <a:t>操作之前</a:t>
            </a:r>
            <a:r>
              <a:rPr lang="zh-CN" altLang="en-US" sz="2400" b="1" dirty="0"/>
              <a:t>，</a:t>
            </a:r>
            <a:r>
              <a:rPr lang="zh-CN" altLang="en-US" sz="2400" b="1" dirty="0">
                <a:solidFill>
                  <a:schemeClr val="tx2"/>
                </a:solidFill>
              </a:rPr>
              <a:t>先向</a:t>
            </a:r>
            <a:r>
              <a:rPr lang="zh-CN" altLang="en-US" sz="2400" b="1" dirty="0"/>
              <a:t>系统发出</a:t>
            </a:r>
            <a:r>
              <a:rPr lang="zh-CN" altLang="en-US" sz="2400" b="1" dirty="0">
                <a:solidFill>
                  <a:srgbClr val="C00000"/>
                </a:solidFill>
              </a:rPr>
              <a:t>加锁请求</a:t>
            </a:r>
            <a:r>
              <a:rPr lang="zh-CN" altLang="en-US" sz="2400" b="1" dirty="0"/>
              <a:t>，在</a:t>
            </a:r>
            <a:r>
              <a:rPr lang="zh-CN" altLang="en-US" sz="2400" b="1" dirty="0">
                <a:solidFill>
                  <a:schemeClr val="tx2"/>
                </a:solidFill>
              </a:rPr>
              <a:t>获得封锁</a:t>
            </a:r>
            <a:r>
              <a:rPr lang="zh-CN" altLang="en-US" sz="2400" b="1" dirty="0"/>
              <a:t>后，事务</a:t>
            </a:r>
            <a:r>
              <a:rPr lang="en-US" altLang="zh-CN" sz="2400" b="1" dirty="0"/>
              <a:t>T</a:t>
            </a:r>
            <a:r>
              <a:rPr lang="zh-CN" altLang="en-US" sz="2400" b="1" dirty="0"/>
              <a:t>就对该数据对象有了</a:t>
            </a:r>
            <a:r>
              <a:rPr lang="zh-CN" altLang="en-US" sz="2400" b="1" dirty="0">
                <a:solidFill>
                  <a:schemeClr val="tx2"/>
                </a:solidFill>
              </a:rPr>
              <a:t>一定的</a:t>
            </a:r>
            <a:r>
              <a:rPr lang="zh-CN" altLang="en-US" sz="2400" b="1" dirty="0">
                <a:solidFill>
                  <a:srgbClr val="FF0000"/>
                </a:solidFill>
              </a:rPr>
              <a:t>控制</a:t>
            </a:r>
            <a:r>
              <a:rPr lang="zh-CN" altLang="en-US" sz="2400" b="1" dirty="0"/>
              <a:t>，在</a:t>
            </a:r>
            <a:r>
              <a:rPr lang="zh-CN" altLang="en-US" sz="2400" b="1" dirty="0">
                <a:solidFill>
                  <a:srgbClr val="006600"/>
                </a:solidFill>
              </a:rPr>
              <a:t>事务</a:t>
            </a:r>
            <a:r>
              <a:rPr lang="en-US" altLang="zh-CN" sz="2400" b="1" dirty="0">
                <a:solidFill>
                  <a:srgbClr val="006600"/>
                </a:solidFill>
              </a:rPr>
              <a:t>T</a:t>
            </a:r>
            <a:r>
              <a:rPr lang="zh-CN" altLang="en-US" sz="2400" b="1" dirty="0">
                <a:solidFill>
                  <a:schemeClr val="tx2"/>
                </a:solidFill>
              </a:rPr>
              <a:t>释放它的锁之前</a:t>
            </a:r>
            <a:r>
              <a:rPr lang="zh-CN" altLang="en-US" sz="2400" b="1" dirty="0"/>
              <a:t>，</a:t>
            </a:r>
            <a:r>
              <a:rPr lang="zh-CN" altLang="en-US" sz="2400" b="1" dirty="0">
                <a:solidFill>
                  <a:schemeClr val="tx2"/>
                </a:solidFill>
              </a:rPr>
              <a:t>其他的事务</a:t>
            </a:r>
            <a:r>
              <a:rPr lang="zh-CN" altLang="en-US" sz="2400" b="1" dirty="0">
                <a:solidFill>
                  <a:srgbClr val="FF0000"/>
                </a:solidFill>
              </a:rPr>
              <a:t>不能</a:t>
            </a:r>
            <a:r>
              <a:rPr lang="zh-CN" altLang="en-US" sz="2400" b="1" u="sng" dirty="0">
                <a:solidFill>
                  <a:srgbClr val="0000FF"/>
                </a:solidFill>
              </a:rPr>
              <a:t>更新</a:t>
            </a:r>
            <a:r>
              <a:rPr lang="zh-CN" altLang="en-US" sz="2400" b="1" dirty="0"/>
              <a:t>此数据对象。</a:t>
            </a:r>
            <a:endParaRPr lang="zh-CN" altLang="en-US" sz="2400" b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991AC-895C-470A-932D-3D5878926718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封锁的基本类型</a:t>
            </a:r>
            <a:endParaRPr lang="zh-CN" altLang="en-US"/>
          </a:p>
        </p:txBody>
      </p:sp>
      <p:sp>
        <p:nvSpPr>
          <p:cNvPr id="530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8054280" cy="4865712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800" b="1" dirty="0"/>
              <a:t>数据项可有两种封锁方式：</a:t>
            </a:r>
            <a:endParaRPr lang="zh-CN" altLang="en-US" sz="2800" b="1" dirty="0"/>
          </a:p>
          <a:p>
            <a:r>
              <a:rPr lang="zh-CN" altLang="en-US" sz="2800" b="1" dirty="0">
                <a:solidFill>
                  <a:srgbClr val="C00000"/>
                </a:solidFill>
              </a:rPr>
              <a:t>排它锁</a:t>
            </a:r>
            <a:r>
              <a:rPr lang="zh-CN" altLang="en-US" sz="2400" b="1" dirty="0"/>
              <a:t>（</a:t>
            </a:r>
            <a:r>
              <a:rPr lang="zh-CN" altLang="en-US" sz="2400" b="1" dirty="0">
                <a:solidFill>
                  <a:schemeClr val="tx2"/>
                </a:solidFill>
              </a:rPr>
              <a:t>写锁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Exclusive Locks</a:t>
            </a:r>
            <a:r>
              <a:rPr lang="zh-CN" altLang="en-US" sz="2400" b="1" dirty="0"/>
              <a:t>，简称</a:t>
            </a:r>
            <a:r>
              <a:rPr lang="en-US" altLang="zh-CN" sz="2400" b="1" dirty="0">
                <a:solidFill>
                  <a:srgbClr val="C00000"/>
                </a:solidFill>
              </a:rPr>
              <a:t>X</a:t>
            </a:r>
            <a:r>
              <a:rPr lang="zh-CN" altLang="en-US" sz="2400" b="1" dirty="0">
                <a:solidFill>
                  <a:srgbClr val="C00000"/>
                </a:solidFill>
              </a:rPr>
              <a:t>锁</a:t>
            </a:r>
            <a:r>
              <a:rPr lang="zh-CN" altLang="en-US" sz="2400" b="1" dirty="0"/>
              <a:t>）</a:t>
            </a:r>
            <a:endParaRPr lang="en-US" altLang="zh-CN" sz="2400" b="1" dirty="0"/>
          </a:p>
          <a:p>
            <a:pPr lvl="1"/>
            <a:r>
              <a:rPr lang="zh-CN" altLang="en-US" sz="2000" b="1" dirty="0">
                <a:solidFill>
                  <a:srgbClr val="C00000"/>
                </a:solidFill>
              </a:rPr>
              <a:t>若事务</a:t>
            </a:r>
            <a:r>
              <a:rPr lang="en-US" altLang="zh-CN" sz="2000" b="1" dirty="0">
                <a:solidFill>
                  <a:srgbClr val="C00000"/>
                </a:solidFill>
              </a:rPr>
              <a:t>T</a:t>
            </a:r>
            <a:r>
              <a:rPr lang="zh-CN" altLang="en-US" sz="2000" b="1" dirty="0"/>
              <a:t>获取了</a:t>
            </a:r>
            <a:r>
              <a:rPr lang="zh-CN" altLang="en-US" sz="2000" b="1" dirty="0">
                <a:solidFill>
                  <a:srgbClr val="009900"/>
                </a:solidFill>
              </a:rPr>
              <a:t>数据对象</a:t>
            </a:r>
            <a:r>
              <a:rPr lang="en-US" altLang="zh-CN" sz="2000" b="1" dirty="0">
                <a:solidFill>
                  <a:srgbClr val="009900"/>
                </a:solidFill>
              </a:rPr>
              <a:t>A</a:t>
            </a:r>
            <a:r>
              <a:rPr lang="zh-CN" altLang="en-US" sz="2000" b="1" dirty="0"/>
              <a:t>的</a:t>
            </a:r>
            <a:r>
              <a:rPr lang="en-US" altLang="zh-CN" sz="2000" b="1" dirty="0">
                <a:solidFill>
                  <a:srgbClr val="C00000"/>
                </a:solidFill>
              </a:rPr>
              <a:t>X</a:t>
            </a:r>
            <a:r>
              <a:rPr lang="zh-CN" altLang="en-US" sz="2000" b="1" dirty="0"/>
              <a:t>锁，该事务</a:t>
            </a:r>
            <a:r>
              <a:rPr lang="zh-CN" altLang="en-US" sz="2000" b="1" dirty="0">
                <a:solidFill>
                  <a:srgbClr val="0000FF"/>
                </a:solidFill>
              </a:rPr>
              <a:t>既可以</a:t>
            </a:r>
            <a:r>
              <a:rPr lang="zh-CN" altLang="en-US" sz="2000" b="1" dirty="0">
                <a:solidFill>
                  <a:srgbClr val="FF0000"/>
                </a:solidFill>
              </a:rPr>
              <a:t>读</a:t>
            </a:r>
            <a:r>
              <a:rPr lang="en-US" altLang="zh-CN" sz="2000" b="1" dirty="0">
                <a:solidFill>
                  <a:srgbClr val="FF0000"/>
                </a:solidFill>
              </a:rPr>
              <a:t>A</a:t>
            </a:r>
            <a:r>
              <a:rPr lang="zh-CN" altLang="en-US" sz="2000" b="1" dirty="0">
                <a:solidFill>
                  <a:srgbClr val="0000FF"/>
                </a:solidFill>
              </a:rPr>
              <a:t>又可以</a:t>
            </a:r>
            <a:r>
              <a:rPr lang="zh-CN" altLang="en-US" sz="2000" b="1" dirty="0">
                <a:solidFill>
                  <a:srgbClr val="FF0000"/>
                </a:solidFill>
              </a:rPr>
              <a:t>写</a:t>
            </a:r>
            <a:r>
              <a:rPr lang="en-US" altLang="zh-CN" sz="2000" b="1" dirty="0">
                <a:solidFill>
                  <a:srgbClr val="FF0000"/>
                </a:solidFill>
              </a:rPr>
              <a:t>A</a:t>
            </a:r>
            <a:r>
              <a:rPr lang="zh-CN" altLang="en-US" sz="2000" b="1" dirty="0"/>
              <a:t>；</a:t>
            </a:r>
            <a:endParaRPr lang="en-US" altLang="zh-CN" sz="2000" b="1" dirty="0"/>
          </a:p>
          <a:p>
            <a:pPr lvl="1"/>
            <a:r>
              <a:rPr lang="zh-CN" altLang="en-US" sz="2000" b="1" dirty="0"/>
              <a:t>若</a:t>
            </a:r>
            <a:r>
              <a:rPr lang="zh-CN" altLang="en-US" sz="2000" b="1" dirty="0">
                <a:solidFill>
                  <a:srgbClr val="C00000"/>
                </a:solidFill>
              </a:rPr>
              <a:t>事务</a:t>
            </a:r>
            <a:r>
              <a:rPr lang="en-US" altLang="zh-CN" sz="2000" b="1" dirty="0">
                <a:solidFill>
                  <a:srgbClr val="C00000"/>
                </a:solidFill>
              </a:rPr>
              <a:t>T</a:t>
            </a:r>
            <a:r>
              <a:rPr lang="zh-CN" altLang="en-US" sz="2000" b="1" dirty="0"/>
              <a:t>对</a:t>
            </a:r>
            <a:r>
              <a:rPr lang="zh-CN" altLang="en-US" sz="2000" b="1" dirty="0">
                <a:solidFill>
                  <a:srgbClr val="009900"/>
                </a:solidFill>
              </a:rPr>
              <a:t>数据对象</a:t>
            </a:r>
            <a:r>
              <a:rPr lang="en-US" altLang="zh-CN" sz="2000" b="1" dirty="0">
                <a:solidFill>
                  <a:srgbClr val="009900"/>
                </a:solidFill>
              </a:rPr>
              <a:t>A</a:t>
            </a:r>
            <a:r>
              <a:rPr lang="zh-CN" altLang="en-US" sz="2000" b="1" dirty="0"/>
              <a:t>加上</a:t>
            </a:r>
            <a:r>
              <a:rPr lang="en-US" altLang="zh-CN" sz="2000" b="1" dirty="0">
                <a:solidFill>
                  <a:schemeClr val="tx2"/>
                </a:solidFill>
              </a:rPr>
              <a:t>X</a:t>
            </a:r>
            <a:r>
              <a:rPr lang="zh-CN" altLang="en-US" sz="2000" b="1" dirty="0">
                <a:solidFill>
                  <a:schemeClr val="tx2"/>
                </a:solidFill>
              </a:rPr>
              <a:t>锁</a:t>
            </a:r>
            <a:r>
              <a:rPr lang="zh-CN" altLang="en-US" sz="2000" b="1" dirty="0"/>
              <a:t>，则</a:t>
            </a:r>
            <a:r>
              <a:rPr lang="zh-CN" altLang="en-US" sz="2000" b="1" dirty="0">
                <a:solidFill>
                  <a:schemeClr val="tx2"/>
                </a:solidFill>
              </a:rPr>
              <a:t>只</a:t>
            </a:r>
            <a:r>
              <a:rPr lang="zh-CN" altLang="en-US" sz="2000" b="1" dirty="0">
                <a:solidFill>
                  <a:srgbClr val="C00000"/>
                </a:solidFill>
              </a:rPr>
              <a:t>允许</a:t>
            </a:r>
            <a:r>
              <a:rPr lang="en-US" altLang="zh-CN" sz="2000" b="1" dirty="0">
                <a:solidFill>
                  <a:srgbClr val="C00000"/>
                </a:solidFill>
              </a:rPr>
              <a:t>T</a:t>
            </a:r>
            <a:r>
              <a:rPr lang="zh-CN" altLang="en-US" sz="2000" b="1" dirty="0">
                <a:solidFill>
                  <a:schemeClr val="tx2"/>
                </a:solidFill>
              </a:rPr>
              <a:t>读取和修改</a:t>
            </a:r>
            <a:r>
              <a:rPr lang="en-US" altLang="zh-CN" sz="2000" b="1" dirty="0">
                <a:solidFill>
                  <a:schemeClr val="tx2"/>
                </a:solidFill>
              </a:rPr>
              <a:t>A</a:t>
            </a:r>
            <a:r>
              <a:rPr lang="zh-CN" altLang="en-US" sz="2000" b="1" dirty="0"/>
              <a:t>，</a:t>
            </a:r>
            <a:r>
              <a:rPr lang="zh-CN" altLang="en-US" sz="2000" b="1" dirty="0">
                <a:solidFill>
                  <a:schemeClr val="tx2"/>
                </a:solidFill>
              </a:rPr>
              <a:t>其它任何事务</a:t>
            </a:r>
            <a:r>
              <a:rPr lang="zh-CN" altLang="en-US" sz="2000" b="1" dirty="0"/>
              <a:t>都</a:t>
            </a:r>
            <a:r>
              <a:rPr lang="zh-CN" altLang="en-US" sz="2000" b="1" dirty="0">
                <a:solidFill>
                  <a:srgbClr val="C00000"/>
                </a:solidFill>
              </a:rPr>
              <a:t>不能再对</a:t>
            </a:r>
            <a:r>
              <a:rPr lang="en-US" altLang="zh-CN" sz="2000" b="1" dirty="0">
                <a:solidFill>
                  <a:srgbClr val="C00000"/>
                </a:solidFill>
              </a:rPr>
              <a:t>A</a:t>
            </a:r>
            <a:r>
              <a:rPr lang="zh-CN" altLang="en-US" sz="2000" b="1" dirty="0">
                <a:solidFill>
                  <a:srgbClr val="C00000"/>
                </a:solidFill>
              </a:rPr>
              <a:t>加</a:t>
            </a:r>
            <a:r>
              <a:rPr lang="zh-CN" altLang="en-US" sz="2000" b="1" u="sng" dirty="0">
                <a:solidFill>
                  <a:srgbClr val="C00000"/>
                </a:solidFill>
              </a:rPr>
              <a:t>任何类型</a:t>
            </a:r>
            <a:r>
              <a:rPr lang="zh-CN" altLang="en-US" sz="2000" b="1" dirty="0">
                <a:solidFill>
                  <a:srgbClr val="C00000"/>
                </a:solidFill>
              </a:rPr>
              <a:t>的锁</a:t>
            </a:r>
            <a:r>
              <a:rPr lang="zh-CN" altLang="en-US" sz="2000" b="1" dirty="0"/>
              <a:t>，直到</a:t>
            </a:r>
            <a:r>
              <a:rPr lang="en-US" altLang="zh-CN" sz="2000" b="1" dirty="0"/>
              <a:t>T</a:t>
            </a:r>
            <a:r>
              <a:rPr lang="zh-CN" altLang="en-US" sz="2000" b="1" dirty="0"/>
              <a:t>释放</a:t>
            </a:r>
            <a:r>
              <a:rPr lang="en-US" altLang="zh-CN" sz="2000" b="1" dirty="0"/>
              <a:t>A</a:t>
            </a:r>
            <a:r>
              <a:rPr lang="zh-CN" altLang="en-US" sz="2000" b="1" dirty="0"/>
              <a:t>上的锁</a:t>
            </a:r>
            <a:endParaRPr lang="zh-CN" altLang="en-US" sz="2000" b="1" dirty="0"/>
          </a:p>
          <a:p>
            <a:pPr lvl="1"/>
            <a:r>
              <a:rPr lang="zh-CN" altLang="en-US" sz="2000" b="1" dirty="0">
                <a:solidFill>
                  <a:schemeClr val="tx2"/>
                </a:solidFill>
              </a:rPr>
              <a:t>保证</a:t>
            </a:r>
            <a:r>
              <a:rPr lang="zh-CN" altLang="en-US" sz="2000" b="1" u="sng" dirty="0"/>
              <a:t>其他事务</a:t>
            </a:r>
            <a:r>
              <a:rPr lang="zh-CN" altLang="en-US" sz="2000" b="1" dirty="0"/>
              <a:t>在</a:t>
            </a:r>
            <a:r>
              <a:rPr lang="en-US" altLang="zh-CN" sz="2000" b="1" dirty="0">
                <a:solidFill>
                  <a:schemeClr val="tx2"/>
                </a:solidFill>
              </a:rPr>
              <a:t>T</a:t>
            </a:r>
            <a:r>
              <a:rPr lang="zh-CN" altLang="en-US" sz="2000" b="1" dirty="0">
                <a:solidFill>
                  <a:schemeClr val="tx2"/>
                </a:solidFill>
              </a:rPr>
              <a:t>释放</a:t>
            </a:r>
            <a:r>
              <a:rPr lang="en-US" altLang="zh-CN" sz="2000" b="1" dirty="0">
                <a:solidFill>
                  <a:schemeClr val="tx2"/>
                </a:solidFill>
              </a:rPr>
              <a:t>A</a:t>
            </a:r>
            <a:r>
              <a:rPr lang="zh-CN" altLang="en-US" sz="2000" b="1" dirty="0">
                <a:solidFill>
                  <a:schemeClr val="tx2"/>
                </a:solidFill>
              </a:rPr>
              <a:t>上的锁之前</a:t>
            </a:r>
            <a:r>
              <a:rPr lang="zh-CN" altLang="en-US" sz="2000" b="1" u="sng" dirty="0"/>
              <a:t>不能再读取和修改</a:t>
            </a:r>
            <a:r>
              <a:rPr lang="en-US" altLang="zh-CN" sz="2000" b="1" u="sng" dirty="0"/>
              <a:t>A</a:t>
            </a:r>
            <a:r>
              <a:rPr lang="en-US" altLang="zh-CN" sz="2000" b="1" dirty="0"/>
              <a:t> </a:t>
            </a:r>
            <a:endParaRPr lang="zh-CN" altLang="en-US" sz="2000" b="1" dirty="0"/>
          </a:p>
          <a:p>
            <a:r>
              <a:rPr lang="zh-CN" altLang="en-US" sz="2800" b="1" dirty="0">
                <a:solidFill>
                  <a:srgbClr val="C00000"/>
                </a:solidFill>
              </a:rPr>
              <a:t>共享锁</a:t>
            </a:r>
            <a:r>
              <a:rPr lang="zh-CN" altLang="en-US" sz="2400" b="1" dirty="0"/>
              <a:t>（</a:t>
            </a:r>
            <a:r>
              <a:rPr lang="zh-CN" altLang="en-US" sz="2400" b="1" dirty="0">
                <a:solidFill>
                  <a:schemeClr val="tx2"/>
                </a:solidFill>
              </a:rPr>
              <a:t>读锁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Share Locks</a:t>
            </a:r>
            <a:r>
              <a:rPr lang="zh-CN" altLang="en-US" sz="2400" b="1" dirty="0"/>
              <a:t>，简称</a:t>
            </a:r>
            <a:r>
              <a:rPr lang="en-US" altLang="zh-CN" sz="2400" b="1" dirty="0">
                <a:solidFill>
                  <a:srgbClr val="C00000"/>
                </a:solidFill>
              </a:rPr>
              <a:t>S</a:t>
            </a:r>
            <a:r>
              <a:rPr lang="zh-CN" altLang="en-US" sz="2400" b="1" dirty="0">
                <a:solidFill>
                  <a:srgbClr val="C00000"/>
                </a:solidFill>
              </a:rPr>
              <a:t>锁</a:t>
            </a:r>
            <a:r>
              <a:rPr lang="zh-CN" altLang="en-US" sz="2400" b="1" dirty="0"/>
              <a:t>）</a:t>
            </a:r>
            <a:endParaRPr lang="en-US" altLang="zh-CN" sz="2400" b="1" dirty="0"/>
          </a:p>
          <a:p>
            <a:pPr lvl="1"/>
            <a:r>
              <a:rPr lang="zh-CN" altLang="en-US" sz="2000" b="1" dirty="0">
                <a:solidFill>
                  <a:srgbClr val="C00000"/>
                </a:solidFill>
              </a:rPr>
              <a:t>若事务</a:t>
            </a:r>
            <a:r>
              <a:rPr lang="en-US" altLang="zh-CN" sz="2000" b="1" dirty="0">
                <a:solidFill>
                  <a:srgbClr val="C00000"/>
                </a:solidFill>
              </a:rPr>
              <a:t>T</a:t>
            </a:r>
            <a:r>
              <a:rPr lang="zh-CN" altLang="en-US" sz="2000" b="1" dirty="0"/>
              <a:t>获取了</a:t>
            </a:r>
            <a:r>
              <a:rPr lang="zh-CN" altLang="en-US" sz="2000" b="1" dirty="0">
                <a:solidFill>
                  <a:srgbClr val="009900"/>
                </a:solidFill>
              </a:rPr>
              <a:t>数据对象</a:t>
            </a:r>
            <a:r>
              <a:rPr lang="en-US" altLang="zh-CN" sz="2000" b="1" dirty="0">
                <a:solidFill>
                  <a:srgbClr val="009900"/>
                </a:solidFill>
              </a:rPr>
              <a:t>A</a:t>
            </a:r>
            <a:r>
              <a:rPr lang="zh-CN" altLang="en-US" sz="2000" b="1" dirty="0"/>
              <a:t>的</a:t>
            </a:r>
            <a:r>
              <a:rPr lang="en-US" altLang="zh-CN" sz="2000" b="1" dirty="0">
                <a:solidFill>
                  <a:srgbClr val="0000FF"/>
                </a:solidFill>
              </a:rPr>
              <a:t>S</a:t>
            </a:r>
            <a:r>
              <a:rPr lang="zh-CN" altLang="en-US" sz="2000" b="1" dirty="0"/>
              <a:t>锁，该事务</a:t>
            </a:r>
            <a:r>
              <a:rPr lang="zh-CN" altLang="en-US" sz="2000" b="1" dirty="0">
                <a:solidFill>
                  <a:srgbClr val="0000FF"/>
                </a:solidFill>
              </a:rPr>
              <a:t>可以读</a:t>
            </a:r>
            <a:r>
              <a:rPr lang="en-US" altLang="zh-CN" sz="2000" b="1" dirty="0">
                <a:solidFill>
                  <a:srgbClr val="0000FF"/>
                </a:solidFill>
              </a:rPr>
              <a:t>A</a:t>
            </a:r>
            <a:r>
              <a:rPr lang="zh-CN" altLang="en-US" sz="2000" b="1" dirty="0"/>
              <a:t>，但</a:t>
            </a:r>
            <a:r>
              <a:rPr lang="zh-CN" altLang="en-US" sz="2000" b="1" dirty="0">
                <a:solidFill>
                  <a:srgbClr val="FF0000"/>
                </a:solidFill>
              </a:rPr>
              <a:t>不能写</a:t>
            </a:r>
            <a:r>
              <a:rPr lang="en-US" altLang="zh-CN" sz="2000" b="1" dirty="0">
                <a:solidFill>
                  <a:srgbClr val="FF0000"/>
                </a:solidFill>
              </a:rPr>
              <a:t>A</a:t>
            </a:r>
            <a:r>
              <a:rPr lang="zh-CN" altLang="en-US" sz="2000" b="1" dirty="0"/>
              <a:t>；</a:t>
            </a:r>
            <a:endParaRPr lang="en-US" altLang="zh-CN" sz="2000" b="1" dirty="0"/>
          </a:p>
          <a:p>
            <a:pPr lvl="1"/>
            <a:r>
              <a:rPr lang="zh-CN" altLang="en-US" sz="2000" b="1" dirty="0"/>
              <a:t>若</a:t>
            </a:r>
            <a:r>
              <a:rPr lang="zh-CN" altLang="en-US" sz="2000" b="1" dirty="0">
                <a:solidFill>
                  <a:srgbClr val="C00000"/>
                </a:solidFill>
              </a:rPr>
              <a:t>事务</a:t>
            </a:r>
            <a:r>
              <a:rPr lang="en-US" altLang="zh-CN" sz="2000" b="1" dirty="0">
                <a:solidFill>
                  <a:srgbClr val="C00000"/>
                </a:solidFill>
              </a:rPr>
              <a:t>T</a:t>
            </a:r>
            <a:r>
              <a:rPr lang="zh-CN" altLang="en-US" sz="2000" b="1" dirty="0"/>
              <a:t>对</a:t>
            </a:r>
            <a:r>
              <a:rPr lang="zh-CN" altLang="en-US" sz="2000" b="1" dirty="0">
                <a:solidFill>
                  <a:srgbClr val="009900"/>
                </a:solidFill>
              </a:rPr>
              <a:t>数据对象</a:t>
            </a:r>
            <a:r>
              <a:rPr lang="en-US" altLang="zh-CN" sz="2000" b="1" dirty="0">
                <a:solidFill>
                  <a:srgbClr val="009900"/>
                </a:solidFill>
              </a:rPr>
              <a:t>A</a:t>
            </a:r>
            <a:r>
              <a:rPr lang="zh-CN" altLang="en-US" sz="2000" b="1" dirty="0"/>
              <a:t>加上</a:t>
            </a:r>
            <a:r>
              <a:rPr lang="en-US" altLang="zh-CN" sz="2000" b="1" dirty="0">
                <a:solidFill>
                  <a:schemeClr val="tx2"/>
                </a:solidFill>
              </a:rPr>
              <a:t>S</a:t>
            </a:r>
            <a:r>
              <a:rPr lang="zh-CN" altLang="en-US" sz="2000" b="1" dirty="0">
                <a:solidFill>
                  <a:schemeClr val="tx2"/>
                </a:solidFill>
              </a:rPr>
              <a:t>锁</a:t>
            </a:r>
            <a:r>
              <a:rPr lang="zh-CN" altLang="en-US" sz="2000" b="1" dirty="0"/>
              <a:t>，则</a:t>
            </a:r>
            <a:r>
              <a:rPr lang="zh-CN" altLang="en-US" sz="2000" b="1" dirty="0">
                <a:solidFill>
                  <a:srgbClr val="C00000"/>
                </a:solidFill>
              </a:rPr>
              <a:t>其它事务</a:t>
            </a:r>
            <a:r>
              <a:rPr lang="zh-CN" altLang="en-US" sz="2000" b="1" dirty="0">
                <a:solidFill>
                  <a:schemeClr val="tx2"/>
                </a:solidFill>
              </a:rPr>
              <a:t>只能再对</a:t>
            </a:r>
            <a:r>
              <a:rPr lang="en-US" altLang="zh-CN" sz="2000" b="1" dirty="0">
                <a:solidFill>
                  <a:schemeClr val="tx2"/>
                </a:solidFill>
              </a:rPr>
              <a:t>A</a:t>
            </a:r>
            <a:r>
              <a:rPr lang="zh-CN" altLang="en-US" sz="2000" b="1" dirty="0">
                <a:solidFill>
                  <a:schemeClr val="tx2"/>
                </a:solidFill>
              </a:rPr>
              <a:t>加</a:t>
            </a:r>
            <a:r>
              <a:rPr lang="en-US" altLang="zh-CN" sz="2000" b="1" dirty="0">
                <a:solidFill>
                  <a:schemeClr val="tx2"/>
                </a:solidFill>
              </a:rPr>
              <a:t>S</a:t>
            </a:r>
            <a:r>
              <a:rPr lang="zh-CN" altLang="en-US" sz="2000" b="1" dirty="0">
                <a:solidFill>
                  <a:schemeClr val="tx2"/>
                </a:solidFill>
              </a:rPr>
              <a:t>锁</a:t>
            </a:r>
            <a:r>
              <a:rPr lang="zh-CN" altLang="en-US" sz="2000" b="1" dirty="0"/>
              <a:t>，而</a:t>
            </a:r>
            <a:r>
              <a:rPr lang="zh-CN" altLang="en-US" sz="2000" b="1" dirty="0">
                <a:solidFill>
                  <a:schemeClr val="tx2"/>
                </a:solidFill>
              </a:rPr>
              <a:t>不能加</a:t>
            </a:r>
            <a:r>
              <a:rPr lang="en-US" altLang="zh-CN" sz="2000" b="1" dirty="0">
                <a:solidFill>
                  <a:schemeClr val="tx2"/>
                </a:solidFill>
              </a:rPr>
              <a:t>X</a:t>
            </a:r>
            <a:r>
              <a:rPr lang="zh-CN" altLang="en-US" sz="2000" b="1" dirty="0">
                <a:solidFill>
                  <a:schemeClr val="tx2"/>
                </a:solidFill>
              </a:rPr>
              <a:t>锁</a:t>
            </a:r>
            <a:r>
              <a:rPr lang="zh-CN" altLang="en-US" sz="2000" b="1" dirty="0"/>
              <a:t>，直到</a:t>
            </a:r>
            <a:r>
              <a:rPr lang="en-US" altLang="zh-CN" sz="2000" b="1" dirty="0"/>
              <a:t>T</a:t>
            </a:r>
            <a:r>
              <a:rPr lang="zh-CN" altLang="en-US" sz="2000" b="1" dirty="0"/>
              <a:t>释放</a:t>
            </a:r>
            <a:r>
              <a:rPr lang="en-US" altLang="zh-CN" sz="2000" b="1" dirty="0"/>
              <a:t>A</a:t>
            </a:r>
            <a:r>
              <a:rPr lang="zh-CN" altLang="en-US" sz="2000" b="1" dirty="0"/>
              <a:t>上的</a:t>
            </a:r>
            <a:r>
              <a:rPr lang="en-US" altLang="zh-CN" sz="2000" b="1" dirty="0"/>
              <a:t>S</a:t>
            </a:r>
            <a:r>
              <a:rPr lang="zh-CN" altLang="en-US" sz="2000" b="1" dirty="0"/>
              <a:t>锁</a:t>
            </a:r>
            <a:endParaRPr lang="zh-CN" altLang="en-US" sz="2000" b="1" dirty="0"/>
          </a:p>
          <a:p>
            <a:pPr lvl="1"/>
            <a:r>
              <a:rPr lang="zh-CN" altLang="en-US" sz="2000" b="1" dirty="0"/>
              <a:t>保证</a:t>
            </a:r>
            <a:r>
              <a:rPr lang="zh-CN" altLang="en-US" sz="2000" b="1" u="sng" dirty="0"/>
              <a:t>其他事务</a:t>
            </a:r>
            <a:r>
              <a:rPr lang="zh-CN" altLang="en-US" sz="2000" b="1" u="sng" dirty="0">
                <a:solidFill>
                  <a:schemeClr val="tx2"/>
                </a:solidFill>
              </a:rPr>
              <a:t>可以读</a:t>
            </a:r>
            <a:r>
              <a:rPr lang="en-US" altLang="zh-CN" sz="2000" b="1" u="sng" dirty="0">
                <a:solidFill>
                  <a:schemeClr val="tx2"/>
                </a:solidFill>
              </a:rPr>
              <a:t>A</a:t>
            </a:r>
            <a:r>
              <a:rPr lang="zh-CN" altLang="en-US" sz="2000" b="1" dirty="0"/>
              <a:t>，但在</a:t>
            </a:r>
            <a:r>
              <a:rPr lang="en-US" altLang="zh-CN" sz="2000" b="1" u="sng" dirty="0"/>
              <a:t>T</a:t>
            </a:r>
            <a:r>
              <a:rPr lang="zh-CN" altLang="en-US" sz="2000" b="1" u="sng" dirty="0"/>
              <a:t>释放</a:t>
            </a:r>
            <a:r>
              <a:rPr lang="en-US" altLang="zh-CN" sz="2000" b="1" u="sng" dirty="0"/>
              <a:t>A</a:t>
            </a:r>
            <a:r>
              <a:rPr lang="zh-CN" altLang="en-US" sz="2000" b="1" u="sng" dirty="0"/>
              <a:t>上的</a:t>
            </a:r>
            <a:r>
              <a:rPr lang="en-US" altLang="zh-CN" sz="2000" b="1" u="sng" dirty="0"/>
              <a:t>S</a:t>
            </a:r>
            <a:r>
              <a:rPr lang="zh-CN" altLang="en-US" sz="2000" b="1" u="sng" dirty="0"/>
              <a:t>锁之前</a:t>
            </a:r>
            <a:r>
              <a:rPr lang="zh-CN" altLang="en-US" sz="2000" b="1" u="sng" dirty="0">
                <a:solidFill>
                  <a:schemeClr val="tx2"/>
                </a:solidFill>
              </a:rPr>
              <a:t>不能对</a:t>
            </a:r>
            <a:r>
              <a:rPr lang="en-US" altLang="zh-CN" sz="2000" b="1" u="sng" dirty="0">
                <a:solidFill>
                  <a:schemeClr val="tx2"/>
                </a:solidFill>
              </a:rPr>
              <a:t>A</a:t>
            </a:r>
            <a:r>
              <a:rPr lang="zh-CN" altLang="en-US" sz="2000" b="1" u="sng" dirty="0">
                <a:solidFill>
                  <a:schemeClr val="tx2"/>
                </a:solidFill>
              </a:rPr>
              <a:t>做任何修改</a:t>
            </a:r>
            <a:endParaRPr lang="en-US" altLang="zh-CN" sz="2000" b="1" u="sng" dirty="0">
              <a:solidFill>
                <a:schemeClr val="tx2"/>
              </a:solidFill>
            </a:endParaRPr>
          </a:p>
          <a:p>
            <a:pPr lvl="1"/>
            <a:endParaRPr lang="zh-CN" altLang="en-US" sz="2000" b="1" dirty="0"/>
          </a:p>
          <a:p>
            <a:pPr>
              <a:buFont typeface="Wingdings" panose="05000000000000000000" pitchFamily="2" charset="2"/>
              <a:buNone/>
            </a:pPr>
            <a:endParaRPr lang="zh-CN" altLang="en-US" sz="2800" b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50748-7178-4462-B80E-78D644167122}" type="datetime1">
              <a:rPr lang="zh-CN" altLang="en-US" smtClean="0"/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0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0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0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0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0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0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0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0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30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30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30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30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封锁的基本类型</a:t>
            </a:r>
            <a:endParaRPr lang="zh-CN" altLang="en-US" dirty="0"/>
          </a:p>
        </p:txBody>
      </p:sp>
      <p:sp>
        <p:nvSpPr>
          <p:cNvPr id="530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7772400" cy="4419600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排它锁</a:t>
            </a:r>
            <a:r>
              <a:rPr lang="zh-CN" altLang="en-US" sz="2800" dirty="0"/>
              <a:t>（</a:t>
            </a:r>
            <a:r>
              <a:rPr lang="zh-CN" altLang="en-US" sz="2800" dirty="0">
                <a:solidFill>
                  <a:schemeClr val="tx2"/>
                </a:solidFill>
              </a:rPr>
              <a:t>写锁</a:t>
            </a:r>
            <a:r>
              <a:rPr lang="zh-CN" altLang="en-US" sz="2800" dirty="0"/>
              <a:t>，</a:t>
            </a:r>
            <a:r>
              <a:rPr lang="en-US" altLang="zh-CN" sz="2800" dirty="0"/>
              <a:t>Exclusive Locks</a:t>
            </a:r>
            <a:r>
              <a:rPr lang="zh-CN" altLang="en-US" sz="2800" dirty="0"/>
              <a:t>，简称</a:t>
            </a:r>
            <a:r>
              <a:rPr lang="en-US" altLang="zh-CN" sz="2800" dirty="0">
                <a:solidFill>
                  <a:srgbClr val="C00000"/>
                </a:solidFill>
              </a:rPr>
              <a:t>X</a:t>
            </a:r>
            <a:r>
              <a:rPr lang="zh-CN" altLang="en-US" sz="2800" dirty="0">
                <a:solidFill>
                  <a:srgbClr val="C00000"/>
                </a:solidFill>
              </a:rPr>
              <a:t>锁</a:t>
            </a:r>
            <a:r>
              <a:rPr lang="zh-CN" altLang="en-US" sz="2800" dirty="0"/>
              <a:t>）</a:t>
            </a:r>
            <a:endParaRPr lang="zh-CN" altLang="en-US" sz="2800" dirty="0"/>
          </a:p>
          <a:p>
            <a:r>
              <a:rPr lang="zh-CN" altLang="en-US" dirty="0">
                <a:solidFill>
                  <a:srgbClr val="C00000"/>
                </a:solidFill>
              </a:rPr>
              <a:t>共享锁</a:t>
            </a:r>
            <a:r>
              <a:rPr lang="zh-CN" altLang="en-US" sz="2800" dirty="0"/>
              <a:t>（</a:t>
            </a:r>
            <a:r>
              <a:rPr lang="zh-CN" altLang="en-US" sz="2800" dirty="0">
                <a:solidFill>
                  <a:schemeClr val="tx2"/>
                </a:solidFill>
              </a:rPr>
              <a:t>读锁</a:t>
            </a:r>
            <a:r>
              <a:rPr lang="zh-CN" altLang="en-US" sz="2800" dirty="0"/>
              <a:t>，</a:t>
            </a:r>
            <a:r>
              <a:rPr lang="en-US" altLang="zh-CN" sz="2800" dirty="0"/>
              <a:t>Share Locks</a:t>
            </a:r>
            <a:r>
              <a:rPr lang="zh-CN" altLang="en-US" sz="2800" dirty="0"/>
              <a:t>，简称</a:t>
            </a:r>
            <a:r>
              <a:rPr lang="en-US" altLang="zh-CN" sz="2800" dirty="0">
                <a:solidFill>
                  <a:srgbClr val="C00000"/>
                </a:solidFill>
              </a:rPr>
              <a:t>S</a:t>
            </a:r>
            <a:r>
              <a:rPr lang="zh-CN" altLang="en-US" sz="2800" dirty="0">
                <a:solidFill>
                  <a:srgbClr val="C00000"/>
                </a:solidFill>
              </a:rPr>
              <a:t>锁</a:t>
            </a:r>
            <a:r>
              <a:rPr lang="zh-CN" altLang="en-US" sz="2800" dirty="0"/>
              <a:t>）</a:t>
            </a:r>
            <a:endParaRPr lang="zh-CN" altLang="en-US" sz="2800" dirty="0"/>
          </a:p>
          <a:p>
            <a:pPr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graphicFrame>
        <p:nvGraphicFramePr>
          <p:cNvPr id="530469" name="Group 37"/>
          <p:cNvGraphicFramePr>
            <a:graphicFrameLocks noGrp="1"/>
          </p:cNvGraphicFramePr>
          <p:nvPr/>
        </p:nvGraphicFramePr>
        <p:xfrm>
          <a:off x="762000" y="3124200"/>
          <a:ext cx="6096000" cy="2727326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  <a:gridCol w="1524000"/>
                <a:gridCol w="1524000"/>
              </a:tblGrid>
              <a:tr h="685800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1038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9450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1038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 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30464" name="Text Box 32"/>
          <p:cNvSpPr txBox="1">
            <a:spLocks noChangeArrowheads="1"/>
          </p:cNvSpPr>
          <p:nvPr/>
        </p:nvSpPr>
        <p:spPr bwMode="auto">
          <a:xfrm>
            <a:off x="2286000" y="35814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>
              <a:latin typeface="Times New Roman" panose="02020603050405020304" pitchFamily="18" charset="0"/>
            </a:endParaRPr>
          </a:p>
        </p:txBody>
      </p:sp>
      <p:sp>
        <p:nvSpPr>
          <p:cNvPr id="530465" name="Text Box 33"/>
          <p:cNvSpPr txBox="1">
            <a:spLocks noChangeArrowheads="1"/>
          </p:cNvSpPr>
          <p:nvPr/>
        </p:nvSpPr>
        <p:spPr bwMode="auto">
          <a:xfrm>
            <a:off x="1828800" y="3200400"/>
            <a:ext cx="3810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>
                <a:latin typeface="Times New Roman" panose="02020603050405020304" pitchFamily="18" charset="0"/>
              </a:rPr>
              <a:t>T2</a:t>
            </a:r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530466" name="Text Box 34"/>
          <p:cNvSpPr txBox="1">
            <a:spLocks noChangeArrowheads="1"/>
          </p:cNvSpPr>
          <p:nvPr/>
        </p:nvSpPr>
        <p:spPr bwMode="auto">
          <a:xfrm>
            <a:off x="914400" y="3352800"/>
            <a:ext cx="3810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>
                <a:latin typeface="Times New Roman" panose="02020603050405020304" pitchFamily="18" charset="0"/>
              </a:rPr>
              <a:t>T1</a:t>
            </a:r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530467" name="Text Box 35"/>
          <p:cNvSpPr txBox="1">
            <a:spLocks noChangeArrowheads="1"/>
          </p:cNvSpPr>
          <p:nvPr/>
        </p:nvSpPr>
        <p:spPr bwMode="auto">
          <a:xfrm>
            <a:off x="7162800" y="3124200"/>
            <a:ext cx="1371600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>
                <a:latin typeface="Times New Roman" panose="02020603050405020304" pitchFamily="18" charset="0"/>
              </a:rPr>
              <a:t>Y:</a:t>
            </a:r>
            <a:r>
              <a:rPr kumimoji="1" lang="zh-CN" altLang="en-US">
                <a:latin typeface="Times New Roman" panose="02020603050405020304" pitchFamily="18" charset="0"/>
              </a:rPr>
              <a:t>相容的请求</a:t>
            </a:r>
            <a:endParaRPr kumimoji="1" lang="zh-CN" altLang="en-US"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1" lang="zh-CN" altLang="en-US"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>
                <a:latin typeface="Times New Roman" panose="02020603050405020304" pitchFamily="18" charset="0"/>
              </a:rPr>
              <a:t>N:</a:t>
            </a:r>
            <a:r>
              <a:rPr kumimoji="1" lang="zh-CN" altLang="en-US">
                <a:latin typeface="Times New Roman" panose="02020603050405020304" pitchFamily="18" charset="0"/>
              </a:rPr>
              <a:t>不相容的请求</a:t>
            </a:r>
            <a:endParaRPr kumimoji="1" lang="zh-CN" altLang="en-US">
              <a:latin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2ABD-3AD2-4F6D-8ACB-409E5360088F}" type="datetime1">
              <a:rPr lang="zh-CN" altLang="en-US" smtClean="0"/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14.1 </a:t>
            </a:r>
            <a:r>
              <a:rPr lang="zh-CN" altLang="en-US" sz="3200" dirty="0"/>
              <a:t>基于锁的协议</a:t>
            </a:r>
            <a:endParaRPr lang="zh-CN" altLang="en-US" dirty="0"/>
          </a:p>
        </p:txBody>
      </p:sp>
      <p:sp>
        <p:nvSpPr>
          <p:cNvPr id="530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7772400" cy="4865712"/>
          </a:xfrm>
        </p:spPr>
        <p:txBody>
          <a:bodyPr/>
          <a:lstStyle/>
          <a:p>
            <a:r>
              <a:rPr lang="zh-CN" altLang="en-US" sz="2800" b="1" dirty="0">
                <a:solidFill>
                  <a:srgbClr val="0000FF"/>
                </a:solidFill>
              </a:rPr>
              <a:t>事务</a:t>
            </a:r>
            <a:r>
              <a:rPr lang="zh-CN" altLang="en-US" sz="2800" b="1" dirty="0"/>
              <a:t>向</a:t>
            </a:r>
            <a:r>
              <a:rPr lang="zh-CN" altLang="en-US" sz="2800" b="1" dirty="0">
                <a:solidFill>
                  <a:srgbClr val="006600"/>
                </a:solidFill>
              </a:rPr>
              <a:t>并发控制管理器</a:t>
            </a:r>
            <a:r>
              <a:rPr lang="zh-CN" altLang="en-US" sz="2800" b="1" dirty="0">
                <a:solidFill>
                  <a:srgbClr val="0000FF"/>
                </a:solidFill>
              </a:rPr>
              <a:t>请求封锁</a:t>
            </a:r>
            <a:r>
              <a:rPr lang="zh-CN" altLang="en-US" sz="2800" b="1" dirty="0"/>
              <a:t>，仅当</a:t>
            </a:r>
            <a:r>
              <a:rPr lang="zh-CN" altLang="en-US" sz="2800" b="1" dirty="0">
                <a:solidFill>
                  <a:srgbClr val="FF0000"/>
                </a:solidFill>
              </a:rPr>
              <a:t>锁请求被批准后</a:t>
            </a:r>
            <a:r>
              <a:rPr lang="zh-CN" altLang="en-US" sz="2800" b="1" dirty="0"/>
              <a:t>才能继续执行</a:t>
            </a:r>
            <a:endParaRPr lang="zh-CN" altLang="en-US" sz="2800" b="1" dirty="0"/>
          </a:p>
          <a:p>
            <a:pPr lvl="1"/>
            <a:r>
              <a:rPr lang="zh-CN" altLang="en-US" sz="2400" b="1" dirty="0"/>
              <a:t>如果事务对某</a:t>
            </a:r>
            <a:r>
              <a:rPr lang="zh-CN" altLang="en-US" sz="2400" b="1" u="sng" dirty="0"/>
              <a:t>数据项</a:t>
            </a:r>
            <a:r>
              <a:rPr lang="zh-CN" altLang="en-US" sz="2400" b="1" dirty="0"/>
              <a:t>的</a:t>
            </a:r>
            <a:r>
              <a:rPr lang="zh-CN" altLang="en-US" sz="2400" b="1" dirty="0">
                <a:solidFill>
                  <a:srgbClr val="0000FF"/>
                </a:solidFill>
              </a:rPr>
              <a:t>封锁请求</a:t>
            </a:r>
            <a:r>
              <a:rPr lang="zh-CN" altLang="en-US" sz="2400" b="1" dirty="0"/>
              <a:t>与其它事务在该数据项上已有的封锁</a:t>
            </a:r>
            <a:r>
              <a:rPr lang="zh-CN" altLang="en-US" sz="2400" b="1" dirty="0">
                <a:solidFill>
                  <a:srgbClr val="0000FF"/>
                </a:solidFill>
              </a:rPr>
              <a:t>兼容</a:t>
            </a:r>
            <a:r>
              <a:rPr lang="zh-CN" altLang="en-US" sz="2400" b="1" dirty="0"/>
              <a:t>，则</a:t>
            </a:r>
            <a:r>
              <a:rPr lang="zh-CN" altLang="en-US" sz="2400" b="1" dirty="0">
                <a:solidFill>
                  <a:srgbClr val="FF0000"/>
                </a:solidFill>
              </a:rPr>
              <a:t>请求被批准</a:t>
            </a:r>
            <a:r>
              <a:rPr lang="zh-CN" altLang="en-US" sz="2400" b="1" dirty="0"/>
              <a:t>；</a:t>
            </a:r>
            <a:endParaRPr lang="zh-CN" altLang="en-US" sz="2400" b="1" dirty="0"/>
          </a:p>
          <a:p>
            <a:pPr lvl="1"/>
            <a:r>
              <a:rPr lang="zh-CN" altLang="en-US" sz="2400" b="1" dirty="0"/>
              <a:t>任意数目的事务可对</a:t>
            </a:r>
            <a:r>
              <a:rPr lang="zh-CN" altLang="en-US" sz="2400" b="1" dirty="0">
                <a:solidFill>
                  <a:srgbClr val="0000FF"/>
                </a:solidFill>
              </a:rPr>
              <a:t>同一数据项持有共享锁</a:t>
            </a:r>
            <a:r>
              <a:rPr lang="zh-CN" altLang="en-US" sz="2400" b="1" dirty="0"/>
              <a:t>；但若一事务对某数据项持有</a:t>
            </a:r>
            <a:r>
              <a:rPr lang="zh-CN" altLang="en-US" sz="2400" b="1" dirty="0">
                <a:solidFill>
                  <a:srgbClr val="0000FF"/>
                </a:solidFill>
              </a:rPr>
              <a:t>排它锁</a:t>
            </a:r>
            <a:r>
              <a:rPr lang="zh-CN" altLang="en-US" sz="2400" b="1" dirty="0"/>
              <a:t>，则其它事务</a:t>
            </a:r>
            <a:r>
              <a:rPr lang="zh-CN" altLang="en-US" sz="2400" b="1" dirty="0">
                <a:solidFill>
                  <a:srgbClr val="0000FF"/>
                </a:solidFill>
              </a:rPr>
              <a:t>不得持有该数据上的任何封锁</a:t>
            </a:r>
            <a:r>
              <a:rPr lang="zh-CN" altLang="en-US" sz="2400" b="1" dirty="0"/>
              <a:t>；</a:t>
            </a:r>
            <a:endParaRPr lang="zh-CN" altLang="en-US" sz="2400" b="1" dirty="0"/>
          </a:p>
          <a:p>
            <a:pPr lvl="1"/>
            <a:r>
              <a:rPr lang="zh-CN" altLang="en-US" sz="2400" b="1" dirty="0">
                <a:solidFill>
                  <a:srgbClr val="0000FF"/>
                </a:solidFill>
              </a:rPr>
              <a:t>若不能授予封锁</a:t>
            </a:r>
            <a:r>
              <a:rPr lang="zh-CN" altLang="en-US" sz="2400" b="1" dirty="0"/>
              <a:t>，则请求事务</a:t>
            </a:r>
            <a:r>
              <a:rPr lang="zh-CN" altLang="en-US" sz="2400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等待</a:t>
            </a:r>
            <a:r>
              <a:rPr lang="zh-CN" altLang="en-US" sz="2400" b="1" dirty="0"/>
              <a:t>直至持有不兼容锁的所有其它事务</a:t>
            </a:r>
            <a:r>
              <a:rPr lang="zh-CN" altLang="en-US" sz="2400" b="1" dirty="0">
                <a:solidFill>
                  <a:srgbClr val="0000FF"/>
                </a:solidFill>
              </a:rPr>
              <a:t>释放封锁</a:t>
            </a:r>
            <a:r>
              <a:rPr lang="zh-CN" altLang="en-US" sz="2400" b="1" dirty="0"/>
              <a:t>，然后才可授予封锁。</a:t>
            </a:r>
            <a:endParaRPr lang="zh-CN" altLang="en-US" sz="2400" b="1" dirty="0"/>
          </a:p>
          <a:p>
            <a:pPr>
              <a:buFont typeface="Wingdings" panose="05000000000000000000" pitchFamily="2" charset="2"/>
              <a:buNone/>
            </a:pPr>
            <a:endParaRPr lang="zh-CN" altLang="en-US" sz="2800" b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07BC1-F216-451B-A455-B0AC7126DCE8}" type="datetime1">
              <a:rPr lang="zh-CN" altLang="en-US" smtClean="0"/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14.1 </a:t>
            </a:r>
            <a:r>
              <a:rPr lang="zh-CN" altLang="en-US" sz="3200" dirty="0"/>
              <a:t>基于锁的协议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15840-CDE4-4486-9582-B7D3ABDCFFE9}" type="datetime1">
              <a:rPr lang="zh-CN" altLang="en-US" smtClean="0"/>
            </a:fld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09600" y="1447800"/>
            <a:ext cx="5042520" cy="457201"/>
          </a:xfrm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rgbClr val="0000FF"/>
                </a:solidFill>
              </a:rPr>
              <a:t>封锁</a:t>
            </a:r>
            <a:r>
              <a:rPr lang="zh-CN" altLang="en-US" sz="2400" b="1" dirty="0">
                <a:solidFill>
                  <a:srgbClr val="FF0000"/>
                </a:solidFill>
              </a:rPr>
              <a:t>不足以</a:t>
            </a:r>
            <a:r>
              <a:rPr lang="zh-CN" altLang="en-US" sz="2400" b="1" dirty="0">
                <a:solidFill>
                  <a:srgbClr val="0000FF"/>
                </a:solidFill>
              </a:rPr>
              <a:t>保证可串行化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6" name="Text Box 1"/>
          <p:cNvSpPr txBox="1">
            <a:spLocks noChangeArrowheads="1"/>
          </p:cNvSpPr>
          <p:nvPr/>
        </p:nvSpPr>
        <p:spPr bwMode="auto">
          <a:xfrm>
            <a:off x="1403648" y="2910458"/>
            <a:ext cx="178766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i="0" dirty="0">
                <a:solidFill>
                  <a:srgbClr val="333300"/>
                </a:solidFill>
                <a:latin typeface="Helvetica" panose="020B0604020202020204" pitchFamily="34" charset="0"/>
              </a:rPr>
              <a:t>T</a:t>
            </a:r>
            <a:r>
              <a:rPr lang="en-US" altLang="zh-CN" sz="1800" b="0" i="0" baseline="-25000" dirty="0">
                <a:solidFill>
                  <a:srgbClr val="333300"/>
                </a:solidFill>
                <a:latin typeface="Helvetica" panose="020B0604020202020204" pitchFamily="34" charset="0"/>
              </a:rPr>
              <a:t>1</a:t>
            </a:r>
            <a:r>
              <a:rPr lang="zh-CN" altLang="en-US" sz="1800" b="0" i="0" dirty="0">
                <a:solidFill>
                  <a:srgbClr val="333300"/>
                </a:solidFill>
                <a:latin typeface="Helvetica" panose="020B0604020202020204" pitchFamily="34" charset="0"/>
              </a:rPr>
              <a:t>：</a:t>
            </a:r>
            <a:r>
              <a:rPr lang="en-US" altLang="zh-CN" sz="1800" dirty="0">
                <a:solidFill>
                  <a:srgbClr val="0000FF"/>
                </a:solidFill>
                <a:latin typeface="Helvetica" panose="020B0604020202020204" pitchFamily="34" charset="0"/>
              </a:rPr>
              <a:t>lock-X</a:t>
            </a:r>
            <a:r>
              <a:rPr lang="en-US" altLang="zh-CN" sz="1800" dirty="0">
                <a:solidFill>
                  <a:srgbClr val="333300"/>
                </a:solidFill>
                <a:latin typeface="Helvetica" panose="020B0604020202020204" pitchFamily="34" charset="0"/>
              </a:rPr>
              <a:t>(</a:t>
            </a: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B)</a:t>
            </a:r>
            <a:endParaRPr lang="en-US" altLang="zh-CN" sz="18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       </a:t>
            </a: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read(B)</a:t>
            </a:r>
            <a:endParaRPr lang="en-US" altLang="zh-CN" sz="18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       B=B-50</a:t>
            </a:r>
            <a:endParaRPr lang="en-US" altLang="zh-CN" sz="18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       Write(B)</a:t>
            </a:r>
            <a:endParaRPr lang="en-US" altLang="zh-CN" sz="18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       </a:t>
            </a:r>
            <a:r>
              <a:rPr lang="en-US" altLang="zh-CN" sz="1800" i="0" dirty="0">
                <a:solidFill>
                  <a:srgbClr val="0000FF"/>
                </a:solidFill>
                <a:latin typeface="Helvetica" panose="020B0604020202020204" pitchFamily="34" charset="0"/>
              </a:rPr>
              <a:t>Unlock</a:t>
            </a: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(B)</a:t>
            </a:r>
            <a:endParaRPr lang="en-US" altLang="zh-CN" sz="18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solidFill>
                  <a:srgbClr val="0000FF"/>
                </a:solidFill>
                <a:latin typeface="Helvetica" panose="020B0604020202020204" pitchFamily="34" charset="0"/>
              </a:rPr>
              <a:t>       lock-X</a:t>
            </a: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(A)</a:t>
            </a:r>
            <a:endParaRPr lang="en-US" altLang="zh-CN" sz="18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       read(A)</a:t>
            </a:r>
            <a:endParaRPr lang="en-US" altLang="zh-CN" sz="18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       A=A+50</a:t>
            </a:r>
            <a:endParaRPr lang="en-US" altLang="zh-CN" sz="18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       Write A</a:t>
            </a:r>
            <a:endParaRPr lang="en-US" altLang="zh-CN" sz="18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       </a:t>
            </a:r>
            <a:r>
              <a:rPr lang="en-US" altLang="zh-CN" sz="1800" i="0" dirty="0">
                <a:solidFill>
                  <a:srgbClr val="0000FF"/>
                </a:solidFill>
                <a:latin typeface="Helvetica" panose="020B0604020202020204" pitchFamily="34" charset="0"/>
              </a:rPr>
              <a:t>Unlock</a:t>
            </a: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 (A)</a:t>
            </a:r>
            <a:endParaRPr lang="en-US" altLang="zh-CN" sz="1800" i="0" dirty="0">
              <a:solidFill>
                <a:srgbClr val="333300"/>
              </a:solidFill>
              <a:latin typeface="Helvetica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89277" y="2208079"/>
            <a:ext cx="2968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:</a:t>
            </a:r>
            <a:r>
              <a:rPr lang="zh-CN" altLang="en-US" sz="2000" dirty="0"/>
              <a:t> 从</a:t>
            </a:r>
            <a:r>
              <a:rPr lang="en-US" altLang="zh-CN" sz="2000" dirty="0"/>
              <a:t>B</a:t>
            </a:r>
            <a:r>
              <a:rPr lang="zh-CN" altLang="en-US" sz="2000" dirty="0"/>
              <a:t>账户</a:t>
            </a:r>
            <a:r>
              <a:rPr lang="zh-CN" altLang="en-US" sz="2000" b="1" dirty="0">
                <a:solidFill>
                  <a:srgbClr val="0000FF"/>
                </a:solidFill>
              </a:rPr>
              <a:t>转</a:t>
            </a:r>
            <a:r>
              <a:rPr lang="en-US" altLang="zh-CN" sz="2000" dirty="0"/>
              <a:t>50</a:t>
            </a:r>
            <a:r>
              <a:rPr lang="zh-CN" altLang="en-US" sz="2000" dirty="0"/>
              <a:t>到</a:t>
            </a:r>
            <a:r>
              <a:rPr lang="en-US" altLang="zh-CN" sz="2000" dirty="0"/>
              <a:t>A</a:t>
            </a:r>
            <a:r>
              <a:rPr lang="zh-CN" altLang="en-US" sz="2000" dirty="0"/>
              <a:t>账户</a:t>
            </a:r>
            <a:r>
              <a:rPr lang="en-US" altLang="zh-CN" sz="2000" dirty="0"/>
              <a:t>, A=100,</a:t>
            </a:r>
            <a:r>
              <a:rPr lang="zh-CN" altLang="en-US" sz="2000" dirty="0"/>
              <a:t> </a:t>
            </a:r>
            <a:r>
              <a:rPr lang="en-US" altLang="zh-CN" sz="2000" dirty="0"/>
              <a:t>B=200</a:t>
            </a:r>
            <a:endParaRPr lang="zh-CN" altLang="en-US" sz="2000" dirty="0"/>
          </a:p>
        </p:txBody>
      </p:sp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5178979" y="2910458"/>
            <a:ext cx="1986441" cy="183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333300"/>
                </a:solidFill>
                <a:latin typeface="Helvetica" panose="020B0604020202020204" pitchFamily="34" charset="0"/>
              </a:rPr>
              <a:t>T</a:t>
            </a:r>
            <a:r>
              <a:rPr lang="en-US" altLang="zh-CN" sz="1800" i="0" baseline="-25000" dirty="0">
                <a:solidFill>
                  <a:srgbClr val="333300"/>
                </a:solidFill>
                <a:latin typeface="Helvetica" panose="020B0604020202020204" pitchFamily="34" charset="0"/>
              </a:rPr>
              <a:t>2</a:t>
            </a: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: </a:t>
            </a:r>
            <a:r>
              <a:rPr lang="en-US" altLang="zh-CN" sz="1800" i="0" dirty="0">
                <a:solidFill>
                  <a:srgbClr val="0000FF"/>
                </a:solidFill>
                <a:latin typeface="Helvetica" panose="020B0604020202020204" pitchFamily="34" charset="0"/>
              </a:rPr>
              <a:t>lock-S</a:t>
            </a:r>
            <a:r>
              <a:rPr lang="en-US" altLang="zh-CN" sz="1800" dirty="0">
                <a:solidFill>
                  <a:srgbClr val="333300"/>
                </a:solidFill>
                <a:latin typeface="Helvetica" panose="020B0604020202020204" pitchFamily="34" charset="0"/>
              </a:rPr>
              <a:t>(A)</a:t>
            </a: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;</a:t>
            </a:r>
            <a:endParaRPr lang="en-US" altLang="zh-CN" sz="18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      read </a:t>
            </a:r>
            <a:r>
              <a:rPr lang="en-US" altLang="zh-CN" sz="1800" dirty="0">
                <a:solidFill>
                  <a:srgbClr val="333300"/>
                </a:solidFill>
                <a:latin typeface="Helvetica" panose="020B0604020202020204" pitchFamily="34" charset="0"/>
              </a:rPr>
              <a:t>(A)</a:t>
            </a: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;</a:t>
            </a:r>
            <a:endParaRPr lang="en-US" altLang="zh-CN" sz="18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      </a:t>
            </a:r>
            <a:r>
              <a:rPr lang="en-US" altLang="zh-CN" sz="1800" i="0" dirty="0">
                <a:solidFill>
                  <a:srgbClr val="0000FF"/>
                </a:solidFill>
                <a:latin typeface="Helvetica" panose="020B0604020202020204" pitchFamily="34" charset="0"/>
              </a:rPr>
              <a:t>unlock</a:t>
            </a:r>
            <a:r>
              <a:rPr lang="en-US" altLang="zh-CN" sz="1800" dirty="0">
                <a:solidFill>
                  <a:srgbClr val="333300"/>
                </a:solidFill>
                <a:latin typeface="Helvetica" panose="020B0604020202020204" pitchFamily="34" charset="0"/>
              </a:rPr>
              <a:t>(A)</a:t>
            </a: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;</a:t>
            </a:r>
            <a:endParaRPr lang="en-US" altLang="zh-CN" sz="18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      </a:t>
            </a:r>
            <a:r>
              <a:rPr lang="en-US" altLang="zh-CN" sz="1800" i="0" dirty="0">
                <a:solidFill>
                  <a:srgbClr val="0000FF"/>
                </a:solidFill>
                <a:latin typeface="Helvetica" panose="020B0604020202020204" pitchFamily="34" charset="0"/>
              </a:rPr>
              <a:t>lock-S</a:t>
            </a:r>
            <a:r>
              <a:rPr lang="en-US" altLang="zh-CN" sz="1800" dirty="0">
                <a:solidFill>
                  <a:srgbClr val="333300"/>
                </a:solidFill>
                <a:latin typeface="Helvetica" panose="020B0604020202020204" pitchFamily="34" charset="0"/>
              </a:rPr>
              <a:t>(B)</a:t>
            </a: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;</a:t>
            </a:r>
            <a:endParaRPr lang="en-US" altLang="zh-CN" sz="18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      read </a:t>
            </a:r>
            <a:r>
              <a:rPr lang="en-US" altLang="zh-CN" sz="1800" dirty="0">
                <a:solidFill>
                  <a:srgbClr val="333300"/>
                </a:solidFill>
                <a:latin typeface="Helvetica" panose="020B0604020202020204" pitchFamily="34" charset="0"/>
              </a:rPr>
              <a:t>(B)</a:t>
            </a: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;</a:t>
            </a:r>
            <a:endParaRPr lang="en-US" altLang="zh-CN" sz="18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      </a:t>
            </a:r>
            <a:r>
              <a:rPr lang="en-US" altLang="zh-CN" sz="1800" i="0" dirty="0">
                <a:solidFill>
                  <a:srgbClr val="0000FF"/>
                </a:solidFill>
                <a:latin typeface="Helvetica" panose="020B0604020202020204" pitchFamily="34" charset="0"/>
              </a:rPr>
              <a:t>unlock</a:t>
            </a:r>
            <a:r>
              <a:rPr lang="en-US" altLang="zh-CN" sz="1800" dirty="0">
                <a:solidFill>
                  <a:srgbClr val="333300"/>
                </a:solidFill>
                <a:latin typeface="Helvetica" panose="020B0604020202020204" pitchFamily="34" charset="0"/>
              </a:rPr>
              <a:t>(B)</a:t>
            </a: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;</a:t>
            </a:r>
            <a:endParaRPr lang="en-US" altLang="zh-CN" sz="18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      </a:t>
            </a:r>
            <a:r>
              <a:rPr lang="en-US" altLang="zh-CN" sz="1800" i="0" dirty="0">
                <a:solidFill>
                  <a:srgbClr val="009900"/>
                </a:solidFill>
                <a:latin typeface="Helvetica" panose="020B0604020202020204" pitchFamily="34" charset="0"/>
              </a:rPr>
              <a:t>display</a:t>
            </a:r>
            <a:r>
              <a:rPr lang="en-US" altLang="zh-CN" sz="1800" dirty="0">
                <a:solidFill>
                  <a:srgbClr val="009900"/>
                </a:solidFill>
                <a:latin typeface="Helvetica" panose="020B0604020202020204" pitchFamily="34" charset="0"/>
              </a:rPr>
              <a:t>(A+B)</a:t>
            </a:r>
            <a:endParaRPr lang="zh-CN" altLang="en-US" sz="1800" i="0" dirty="0">
              <a:solidFill>
                <a:srgbClr val="009900"/>
              </a:solidFill>
              <a:latin typeface="Helvetica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076056" y="2208079"/>
            <a:ext cx="3663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:</a:t>
            </a:r>
            <a:r>
              <a:rPr lang="zh-CN" altLang="en-US" sz="2000" dirty="0"/>
              <a:t> </a:t>
            </a:r>
            <a:r>
              <a:rPr lang="zh-CN" altLang="en-US" sz="2000" b="1" dirty="0">
                <a:solidFill>
                  <a:srgbClr val="0000FF"/>
                </a:solidFill>
              </a:rPr>
              <a:t>显示</a:t>
            </a:r>
            <a:r>
              <a:rPr lang="zh-CN" altLang="en-US" sz="2000" dirty="0"/>
              <a:t>账户</a:t>
            </a:r>
            <a:r>
              <a:rPr lang="en-US" altLang="zh-CN" sz="2000" dirty="0"/>
              <a:t>A</a:t>
            </a:r>
            <a:r>
              <a:rPr lang="zh-CN" altLang="en-US" sz="2000" dirty="0"/>
              <a:t>与</a:t>
            </a:r>
            <a:r>
              <a:rPr lang="en-US" altLang="zh-CN" sz="2000" dirty="0"/>
              <a:t>B</a:t>
            </a:r>
            <a:r>
              <a:rPr lang="zh-CN" altLang="en-US" sz="2000" dirty="0"/>
              <a:t>上的总金额</a:t>
            </a:r>
            <a:endParaRPr lang="zh-CN" altLang="en-US" sz="2000" dirty="0"/>
          </a:p>
        </p:txBody>
      </p:sp>
      <p:sp>
        <p:nvSpPr>
          <p:cNvPr id="14" name="文本框 13"/>
          <p:cNvSpPr txBox="1"/>
          <p:nvPr/>
        </p:nvSpPr>
        <p:spPr>
          <a:xfrm>
            <a:off x="1061378" y="5754273"/>
            <a:ext cx="7326044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不管执行顺序是</a:t>
            </a:r>
            <a:r>
              <a:rPr lang="en-US" altLang="zh-CN" b="1" dirty="0"/>
              <a:t>T1,T2</a:t>
            </a:r>
            <a:r>
              <a:rPr lang="zh-CN" altLang="en-US" b="1" dirty="0"/>
              <a:t>，还是</a:t>
            </a:r>
            <a:r>
              <a:rPr lang="en-US" altLang="zh-CN" b="1" dirty="0"/>
              <a:t>T2,T1, </a:t>
            </a:r>
            <a:r>
              <a:rPr lang="zh-CN" altLang="en-US" b="1" dirty="0"/>
              <a:t>总额</a:t>
            </a:r>
            <a:r>
              <a:rPr lang="en-US" altLang="zh-CN" b="1" dirty="0">
                <a:solidFill>
                  <a:srgbClr val="0000FF"/>
                </a:solidFill>
              </a:rPr>
              <a:t>A+B=300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2" grpId="0"/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14.1 </a:t>
            </a:r>
            <a:r>
              <a:rPr lang="zh-CN" altLang="en-US" dirty="0"/>
              <a:t>基于锁的协议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0F06D-7586-4636-9260-3DB4AB661084}" type="datetime1">
              <a:rPr lang="zh-CN" altLang="en-US" smtClean="0"/>
            </a:fld>
            <a:endParaRPr lang="en-US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09600" y="1447801"/>
            <a:ext cx="3962400" cy="1261119"/>
          </a:xfrm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rgbClr val="0000FF"/>
                </a:solidFill>
              </a:rPr>
              <a:t>封锁</a:t>
            </a:r>
            <a:r>
              <a:rPr lang="zh-CN" altLang="en-US" sz="2400" b="1" dirty="0">
                <a:solidFill>
                  <a:srgbClr val="FF0000"/>
                </a:solidFill>
              </a:rPr>
              <a:t>不足以</a:t>
            </a:r>
            <a:r>
              <a:rPr lang="zh-CN" altLang="en-US" sz="2400" b="1" dirty="0">
                <a:solidFill>
                  <a:srgbClr val="0000FF"/>
                </a:solidFill>
              </a:rPr>
              <a:t>保证可串行化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lvl="1"/>
            <a:r>
              <a:rPr lang="en-US" altLang="zh-CN" sz="2000" b="1" i="1" dirty="0">
                <a:solidFill>
                  <a:srgbClr val="FF0000"/>
                </a:solidFill>
              </a:rPr>
              <a:t>T</a:t>
            </a:r>
            <a:r>
              <a:rPr lang="en-US" altLang="zh-CN" sz="2000" b="1" baseline="-25000" dirty="0">
                <a:solidFill>
                  <a:srgbClr val="FF0000"/>
                </a:solidFill>
              </a:rPr>
              <a:t>1</a:t>
            </a:r>
            <a:r>
              <a:rPr lang="zh-CN" altLang="en-US" sz="2000" b="1" dirty="0">
                <a:solidFill>
                  <a:srgbClr val="FF0000"/>
                </a:solidFill>
              </a:rPr>
              <a:t>过早释放封锁</a:t>
            </a:r>
            <a:r>
              <a:rPr lang="zh-CN" altLang="en-US" sz="2000" b="1" dirty="0"/>
              <a:t>，导致</a:t>
            </a:r>
            <a:r>
              <a:rPr lang="en-US" altLang="zh-CN" sz="2000" b="1" i="1" dirty="0"/>
              <a:t>T</a:t>
            </a:r>
            <a:r>
              <a:rPr lang="en-US" altLang="zh-CN" sz="2000" b="1" baseline="-25000" dirty="0"/>
              <a:t>2</a:t>
            </a:r>
            <a:r>
              <a:rPr lang="zh-CN" altLang="en-US" sz="2000" b="1" dirty="0"/>
              <a:t>显示的</a:t>
            </a:r>
            <a:r>
              <a:rPr lang="zh-CN" altLang="en-US" sz="2000" b="1" dirty="0">
                <a:solidFill>
                  <a:srgbClr val="FF0000"/>
                </a:solidFill>
              </a:rPr>
              <a:t>总和出现错误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eaLnBrk="1" hangingPunct="1"/>
            <a:endParaRPr lang="zh-CN" altLang="en-US" sz="2100" b="1" dirty="0">
              <a:solidFill>
                <a:srgbClr val="0000FF"/>
              </a:solidFill>
            </a:endParaRPr>
          </a:p>
          <a:p>
            <a:endParaRPr lang="zh-CN" altLang="en-US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6916470" y="2204864"/>
            <a:ext cx="2156360" cy="2862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把数据项</a:t>
            </a:r>
            <a:r>
              <a:rPr lang="en-US" altLang="zh-CN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锁授予</a:t>
            </a:r>
            <a:r>
              <a:rPr lang="en-US" altLang="zh-CN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4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400" baseline="-25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AutoShape 4"/>
          <p:cNvSpPr>
            <a:spLocks noChangeArrowheads="1"/>
          </p:cNvSpPr>
          <p:nvPr/>
        </p:nvSpPr>
        <p:spPr bwMode="auto">
          <a:xfrm>
            <a:off x="7238382" y="4085085"/>
            <a:ext cx="720080" cy="320675"/>
          </a:xfrm>
          <a:prstGeom prst="wedgeRoundRectCallout">
            <a:avLst>
              <a:gd name="adj1" fmla="val -118898"/>
              <a:gd name="adj2" fmla="val 51934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FF0000"/>
                </a:solidFill>
                <a:latin typeface="Helvetica" panose="020B0604020202020204" pitchFamily="34" charset="0"/>
              </a:rPr>
              <a:t>250</a:t>
            </a:r>
            <a:endParaRPr lang="en-US" altLang="zh-CN" sz="1800" dirty="0">
              <a:solidFill>
                <a:srgbClr val="FF0000"/>
              </a:solidFill>
              <a:latin typeface="Helvetica" panose="020B0604020202020204" pitchFamily="34" charset="0"/>
            </a:endParaRPr>
          </a:p>
        </p:txBody>
      </p:sp>
      <p:sp>
        <p:nvSpPr>
          <p:cNvPr id="15" name="AutoShape 4"/>
          <p:cNvSpPr>
            <a:spLocks noChangeArrowheads="1"/>
          </p:cNvSpPr>
          <p:nvPr/>
        </p:nvSpPr>
        <p:spPr bwMode="auto">
          <a:xfrm>
            <a:off x="5962096" y="2276872"/>
            <a:ext cx="663965" cy="345329"/>
          </a:xfrm>
          <a:prstGeom prst="wedgeRoundRectCallout">
            <a:avLst>
              <a:gd name="adj1" fmla="val -118898"/>
              <a:gd name="adj2" fmla="val 51934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Helvetica" panose="020B0604020202020204" pitchFamily="34" charset="0"/>
              </a:rPr>
              <a:t>150</a:t>
            </a:r>
            <a:endParaRPr lang="en-US" altLang="zh-CN" sz="1600" dirty="0">
              <a:solidFill>
                <a:srgbClr val="0000FF"/>
              </a:solidFill>
              <a:latin typeface="Helvetica" panose="020B0604020202020204" pitchFamily="34" charset="0"/>
            </a:endParaRPr>
          </a:p>
        </p:txBody>
      </p:sp>
      <p:sp>
        <p:nvSpPr>
          <p:cNvPr id="16" name="AutoShape 4"/>
          <p:cNvSpPr>
            <a:spLocks noChangeArrowheads="1"/>
          </p:cNvSpPr>
          <p:nvPr/>
        </p:nvSpPr>
        <p:spPr bwMode="auto">
          <a:xfrm>
            <a:off x="5962095" y="4941168"/>
            <a:ext cx="663965" cy="345329"/>
          </a:xfrm>
          <a:prstGeom prst="wedgeRoundRectCallout">
            <a:avLst>
              <a:gd name="adj1" fmla="val -118898"/>
              <a:gd name="adj2" fmla="val 51934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Helvetica" panose="020B0604020202020204" pitchFamily="34" charset="0"/>
              </a:rPr>
              <a:t>150</a:t>
            </a:r>
            <a:endParaRPr lang="en-US" altLang="zh-CN" sz="1600" dirty="0">
              <a:solidFill>
                <a:srgbClr val="0000FF"/>
              </a:solidFill>
              <a:latin typeface="Helvetica" panose="020B0604020202020204" pitchFamily="34" charset="0"/>
            </a:endParaRPr>
          </a:p>
        </p:txBody>
      </p:sp>
      <p:sp>
        <p:nvSpPr>
          <p:cNvPr id="25" name="AutoShape 4"/>
          <p:cNvSpPr>
            <a:spLocks noChangeArrowheads="1"/>
          </p:cNvSpPr>
          <p:nvPr/>
        </p:nvSpPr>
        <p:spPr bwMode="auto">
          <a:xfrm>
            <a:off x="6780317" y="2817589"/>
            <a:ext cx="458065" cy="205372"/>
          </a:xfrm>
          <a:prstGeom prst="wedgeRoundRectCallout">
            <a:avLst>
              <a:gd name="adj1" fmla="val -145482"/>
              <a:gd name="adj2" fmla="val 180833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FF0000"/>
                </a:solidFill>
                <a:latin typeface="Helvetica" panose="020B0604020202020204" pitchFamily="34" charset="0"/>
              </a:rPr>
              <a:t>100</a:t>
            </a:r>
            <a:endParaRPr lang="en-US" altLang="zh-CN" sz="1200" dirty="0">
              <a:solidFill>
                <a:srgbClr val="FF0000"/>
              </a:solidFill>
              <a:latin typeface="Helvetica" panose="020B0604020202020204" pitchFamily="34" charset="0"/>
            </a:endParaRPr>
          </a:p>
        </p:txBody>
      </p:sp>
      <p:sp>
        <p:nvSpPr>
          <p:cNvPr id="26" name="AutoShape 4"/>
          <p:cNvSpPr>
            <a:spLocks noChangeArrowheads="1"/>
          </p:cNvSpPr>
          <p:nvPr/>
        </p:nvSpPr>
        <p:spPr bwMode="auto">
          <a:xfrm>
            <a:off x="6820037" y="3485165"/>
            <a:ext cx="458065" cy="205372"/>
          </a:xfrm>
          <a:prstGeom prst="wedgeRoundRectCallout">
            <a:avLst>
              <a:gd name="adj1" fmla="val -157968"/>
              <a:gd name="adj2" fmla="val 228474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FF0000"/>
                </a:solidFill>
                <a:latin typeface="Helvetica" panose="020B0604020202020204" pitchFamily="34" charset="0"/>
              </a:rPr>
              <a:t>150</a:t>
            </a:r>
            <a:endParaRPr lang="en-US" altLang="zh-CN" sz="1200" dirty="0">
              <a:solidFill>
                <a:srgbClr val="FF0000"/>
              </a:solidFill>
              <a:latin typeface="Helvetica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050770" y="3853615"/>
            <a:ext cx="2451659" cy="5909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800" b="1" dirty="0"/>
              <a:t>导致不一致的原因是什么呢？</a:t>
            </a:r>
            <a:endParaRPr lang="en-US" altLang="zh-CN" sz="1800" b="1" dirty="0"/>
          </a:p>
        </p:txBody>
      </p:sp>
      <p:sp>
        <p:nvSpPr>
          <p:cNvPr id="28" name="文本框 27"/>
          <p:cNvSpPr txBox="1"/>
          <p:nvPr/>
        </p:nvSpPr>
        <p:spPr>
          <a:xfrm>
            <a:off x="192028" y="5877272"/>
            <a:ext cx="7476316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并发调度：</a:t>
            </a: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read</a:t>
            </a:r>
            <a:r>
              <a:rPr lang="en-US" altLang="zh-CN" sz="1800" i="0" baseline="-25000" dirty="0">
                <a:solidFill>
                  <a:srgbClr val="333300"/>
                </a:solidFill>
                <a:latin typeface="Helvetica" panose="020B0604020202020204" pitchFamily="34" charset="0"/>
              </a:rPr>
              <a:t>1</a:t>
            </a: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(B) Write</a:t>
            </a:r>
            <a:r>
              <a:rPr lang="en-US" altLang="zh-CN" sz="1800" i="0" baseline="-25000" dirty="0">
                <a:solidFill>
                  <a:srgbClr val="333300"/>
                </a:solidFill>
                <a:latin typeface="Helvetica" panose="020B0604020202020204" pitchFamily="34" charset="0"/>
              </a:rPr>
              <a:t>1</a:t>
            </a: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(B) </a:t>
            </a:r>
            <a:r>
              <a:rPr lang="en-US" altLang="zh-CN" sz="1800" i="0" dirty="0">
                <a:solidFill>
                  <a:srgbClr val="FF0000"/>
                </a:solidFill>
                <a:latin typeface="Helvetica" panose="020B0604020202020204" pitchFamily="34" charset="0"/>
              </a:rPr>
              <a:t>read</a:t>
            </a:r>
            <a:r>
              <a:rPr lang="en-US" altLang="zh-CN" sz="1800" i="0" baseline="-25000" dirty="0">
                <a:solidFill>
                  <a:srgbClr val="FF0000"/>
                </a:solidFill>
                <a:latin typeface="Helvetica" panose="020B0604020202020204" pitchFamily="34" charset="0"/>
              </a:rPr>
              <a:t>2</a:t>
            </a:r>
            <a:r>
              <a:rPr lang="en-US" altLang="zh-CN" sz="1800" dirty="0">
                <a:solidFill>
                  <a:srgbClr val="FF0000"/>
                </a:solidFill>
                <a:latin typeface="Helvetica" panose="020B0604020202020204" pitchFamily="34" charset="0"/>
              </a:rPr>
              <a:t>(A)</a:t>
            </a: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 read</a:t>
            </a:r>
            <a:r>
              <a:rPr lang="en-US" altLang="zh-CN" sz="1800" i="0" baseline="-25000" dirty="0">
                <a:solidFill>
                  <a:srgbClr val="333300"/>
                </a:solidFill>
                <a:latin typeface="Helvetica" panose="020B0604020202020204" pitchFamily="34" charset="0"/>
              </a:rPr>
              <a:t>2</a:t>
            </a:r>
            <a:r>
              <a:rPr lang="en-US" altLang="zh-CN" sz="1800" dirty="0">
                <a:solidFill>
                  <a:srgbClr val="333300"/>
                </a:solidFill>
                <a:latin typeface="Helvetica" panose="020B0604020202020204" pitchFamily="34" charset="0"/>
              </a:rPr>
              <a:t>(</a:t>
            </a: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B</a:t>
            </a:r>
            <a:r>
              <a:rPr lang="en-US" altLang="zh-CN" sz="1800" dirty="0">
                <a:solidFill>
                  <a:srgbClr val="333300"/>
                </a:solidFill>
                <a:latin typeface="Helvetica" panose="020B0604020202020204" pitchFamily="34" charset="0"/>
              </a:rPr>
              <a:t>)</a:t>
            </a: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 </a:t>
            </a:r>
            <a:r>
              <a:rPr lang="en-US" altLang="zh-CN" sz="1800" i="0" dirty="0">
                <a:solidFill>
                  <a:srgbClr val="0000FF"/>
                </a:solidFill>
                <a:latin typeface="Helvetica" panose="020B0604020202020204" pitchFamily="34" charset="0"/>
              </a:rPr>
              <a:t>read</a:t>
            </a:r>
            <a:r>
              <a:rPr lang="en-US" altLang="zh-CN" sz="1800" i="0" baseline="-25000" dirty="0">
                <a:solidFill>
                  <a:srgbClr val="0000FF"/>
                </a:solidFill>
                <a:latin typeface="Helvetica" panose="020B0604020202020204" pitchFamily="34" charset="0"/>
              </a:rPr>
              <a:t>1</a:t>
            </a:r>
            <a:r>
              <a:rPr lang="en-US" altLang="zh-CN" sz="1800" i="0" dirty="0">
                <a:solidFill>
                  <a:srgbClr val="0000FF"/>
                </a:solidFill>
                <a:latin typeface="Helvetica" panose="020B0604020202020204" pitchFamily="34" charset="0"/>
              </a:rPr>
              <a:t>(</a:t>
            </a:r>
            <a:r>
              <a:rPr lang="en-US" altLang="zh-CN" sz="1800" dirty="0">
                <a:solidFill>
                  <a:srgbClr val="0000FF"/>
                </a:solidFill>
                <a:latin typeface="Helvetica" panose="020B0604020202020204" pitchFamily="34" charset="0"/>
              </a:rPr>
              <a:t>A</a:t>
            </a:r>
            <a:r>
              <a:rPr lang="en-US" altLang="zh-CN" sz="1800" i="0" dirty="0">
                <a:solidFill>
                  <a:srgbClr val="0000FF"/>
                </a:solidFill>
                <a:latin typeface="Helvetica" panose="020B0604020202020204" pitchFamily="34" charset="0"/>
              </a:rPr>
              <a:t>) Write</a:t>
            </a:r>
            <a:r>
              <a:rPr lang="en-US" altLang="zh-CN" sz="1800" i="0" baseline="-25000" dirty="0">
                <a:solidFill>
                  <a:srgbClr val="0000FF"/>
                </a:solidFill>
                <a:latin typeface="Helvetica" panose="020B0604020202020204" pitchFamily="34" charset="0"/>
              </a:rPr>
              <a:t>1</a:t>
            </a:r>
            <a:r>
              <a:rPr lang="en-US" altLang="zh-CN" sz="1800" i="0" dirty="0">
                <a:solidFill>
                  <a:srgbClr val="0000FF"/>
                </a:solidFill>
                <a:latin typeface="Helvetica" panose="020B0604020202020204" pitchFamily="34" charset="0"/>
              </a:rPr>
              <a:t>(</a:t>
            </a:r>
            <a:r>
              <a:rPr lang="en-US" altLang="zh-CN" sz="1800" dirty="0">
                <a:solidFill>
                  <a:srgbClr val="0000FF"/>
                </a:solidFill>
                <a:latin typeface="Helvetica" panose="020B0604020202020204" pitchFamily="34" charset="0"/>
              </a:rPr>
              <a:t>A</a:t>
            </a:r>
            <a:r>
              <a:rPr lang="en-US" altLang="zh-CN" sz="1800" i="0" dirty="0">
                <a:solidFill>
                  <a:srgbClr val="0000FF"/>
                </a:solidFill>
                <a:latin typeface="Helvetica" panose="020B0604020202020204" pitchFamily="34" charset="0"/>
              </a:rPr>
              <a:t>)</a:t>
            </a:r>
            <a:endParaRPr lang="zh-CN" altLang="en-US" sz="1800" dirty="0">
              <a:solidFill>
                <a:srgbClr val="0000FF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67616" y="5470055"/>
            <a:ext cx="1980029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000" dirty="0"/>
              <a:t>非冲突可串行化</a:t>
            </a:r>
            <a:endParaRPr lang="zh-CN" alt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5822610" y="980728"/>
            <a:ext cx="1415772" cy="4247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交叉并发</a:t>
            </a:r>
            <a:endParaRPr lang="zh-CN" altLang="en-US" dirty="0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 dirty="0"/>
              <a:t>/79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0148" y="1287480"/>
            <a:ext cx="4249280" cy="4456562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  <p:bldP spid="16" grpId="0" animBg="1"/>
      <p:bldP spid="25" grpId="0" animBg="1"/>
      <p:bldP spid="26" grpId="0" animBg="1"/>
      <p:bldP spid="27" grpId="0" animBg="1"/>
      <p:bldP spid="28" grpId="0"/>
      <p:bldP spid="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14.1 </a:t>
            </a:r>
            <a:r>
              <a:rPr lang="zh-CN" altLang="en-US" sz="3200" dirty="0"/>
              <a:t>基于锁的协议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24BE-6E2F-4BEA-A12E-860FE62FEC34}" type="datetime1">
              <a:rPr lang="zh-CN" altLang="en-US" smtClean="0"/>
            </a:fld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09600" y="1447800"/>
            <a:ext cx="3818384" cy="2393653"/>
          </a:xfrm>
        </p:spPr>
        <p:txBody>
          <a:bodyPr/>
          <a:lstStyle/>
          <a:p>
            <a:pPr eaLnBrk="1" hangingPunct="1"/>
            <a:r>
              <a:rPr lang="zh-CN" altLang="en-US" sz="2100" b="1" dirty="0">
                <a:solidFill>
                  <a:srgbClr val="0000FF"/>
                </a:solidFill>
              </a:rPr>
              <a:t>封锁</a:t>
            </a:r>
            <a:r>
              <a:rPr lang="zh-CN" altLang="en-US" sz="2100" b="1" dirty="0">
                <a:solidFill>
                  <a:srgbClr val="FF0000"/>
                </a:solidFill>
              </a:rPr>
              <a:t>不足以</a:t>
            </a:r>
            <a:r>
              <a:rPr lang="zh-CN" altLang="en-US" sz="2100" b="1" dirty="0">
                <a:solidFill>
                  <a:srgbClr val="0000FF"/>
                </a:solidFill>
              </a:rPr>
              <a:t>保证可串行化</a:t>
            </a:r>
            <a:endParaRPr lang="zh-CN" altLang="en-US" sz="2100" b="1" dirty="0">
              <a:solidFill>
                <a:srgbClr val="0000FF"/>
              </a:solidFill>
            </a:endParaRPr>
          </a:p>
          <a:p>
            <a:pPr lvl="1" eaLnBrk="1" hangingPunct="1"/>
            <a:r>
              <a:rPr lang="en-US" altLang="zh-CN" sz="1900" b="1" i="1" dirty="0"/>
              <a:t>T</a:t>
            </a:r>
            <a:r>
              <a:rPr lang="en-US" altLang="zh-CN" sz="1900" b="1" baseline="-25000" dirty="0"/>
              <a:t>1</a:t>
            </a:r>
            <a:r>
              <a:rPr lang="zh-CN" altLang="en-US" sz="1900" b="1" dirty="0"/>
              <a:t>过早释放封锁，导致</a:t>
            </a:r>
            <a:r>
              <a:rPr lang="en-US" altLang="zh-CN" sz="1900" b="1" i="1" dirty="0"/>
              <a:t>T</a:t>
            </a:r>
            <a:r>
              <a:rPr lang="en-US" altLang="zh-CN" sz="1900" b="1" baseline="-25000" dirty="0"/>
              <a:t>2</a:t>
            </a:r>
            <a:r>
              <a:rPr lang="zh-CN" altLang="en-US" sz="1900" b="1" dirty="0"/>
              <a:t>显示的总和出现错误</a:t>
            </a:r>
            <a:endParaRPr lang="en-US" altLang="zh-CN" sz="1900" b="1" dirty="0"/>
          </a:p>
          <a:p>
            <a:pPr eaLnBrk="1" hangingPunct="1"/>
            <a:r>
              <a:rPr lang="zh-CN" altLang="en-US" sz="2100" b="1" dirty="0">
                <a:solidFill>
                  <a:srgbClr val="FF0000"/>
                </a:solidFill>
              </a:rPr>
              <a:t>锁协议</a:t>
            </a:r>
            <a:r>
              <a:rPr lang="zh-CN" altLang="en-US" sz="2100" b="1" dirty="0"/>
              <a:t>是所有事务在</a:t>
            </a:r>
            <a:r>
              <a:rPr lang="zh-CN" altLang="en-US" sz="2100" b="1" dirty="0">
                <a:solidFill>
                  <a:srgbClr val="0000FF"/>
                </a:solidFill>
              </a:rPr>
              <a:t>请求与释放封锁</a:t>
            </a:r>
            <a:r>
              <a:rPr lang="zh-CN" altLang="en-US" sz="2100" b="1" dirty="0"/>
              <a:t>时</a:t>
            </a:r>
            <a:r>
              <a:rPr lang="zh-CN" altLang="en-US" sz="2100" b="1" dirty="0">
                <a:solidFill>
                  <a:srgbClr val="0000FF"/>
                </a:solidFill>
              </a:rPr>
              <a:t>遵守</a:t>
            </a:r>
            <a:r>
              <a:rPr lang="zh-CN" altLang="en-US" sz="2100" b="1" dirty="0"/>
              <a:t>的</a:t>
            </a:r>
            <a:r>
              <a:rPr lang="zh-CN" altLang="en-US" sz="2100" b="1" dirty="0">
                <a:solidFill>
                  <a:srgbClr val="0000FF"/>
                </a:solidFill>
              </a:rPr>
              <a:t>规则集合</a:t>
            </a:r>
            <a:endParaRPr lang="zh-CN" altLang="en-US" sz="2100" b="1" dirty="0">
              <a:solidFill>
                <a:srgbClr val="0000FF"/>
              </a:solidFill>
            </a:endParaRPr>
          </a:p>
          <a:p>
            <a:pPr lvl="1" eaLnBrk="1" hangingPunct="1"/>
            <a:r>
              <a:rPr lang="zh-CN" altLang="en-US" sz="1900" b="1" dirty="0"/>
              <a:t>锁协议对</a:t>
            </a:r>
            <a:r>
              <a:rPr lang="zh-CN" altLang="en-US" sz="1900" b="1" u="sng" dirty="0"/>
              <a:t>可能出现的调度</a:t>
            </a:r>
            <a:r>
              <a:rPr lang="zh-CN" altLang="en-US" sz="1900" b="1" dirty="0">
                <a:solidFill>
                  <a:srgbClr val="0000FF"/>
                </a:solidFill>
              </a:rPr>
              <a:t>加以限制</a:t>
            </a:r>
            <a:endParaRPr lang="en-US" altLang="zh-CN" sz="1900" b="1" dirty="0">
              <a:solidFill>
                <a:srgbClr val="0000FF"/>
              </a:solidFill>
            </a:endParaRPr>
          </a:p>
        </p:txBody>
      </p:sp>
      <p:sp>
        <p:nvSpPr>
          <p:cNvPr id="6" name="Text Box 1"/>
          <p:cNvSpPr txBox="1">
            <a:spLocks noChangeArrowheads="1"/>
          </p:cNvSpPr>
          <p:nvPr/>
        </p:nvSpPr>
        <p:spPr bwMode="auto">
          <a:xfrm>
            <a:off x="4995737" y="1042300"/>
            <a:ext cx="183896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i="0" dirty="0">
                <a:solidFill>
                  <a:srgbClr val="333300"/>
                </a:solidFill>
                <a:latin typeface="Helvetica" panose="020B0604020202020204" pitchFamily="34" charset="0"/>
              </a:rPr>
              <a:t>T</a:t>
            </a:r>
            <a:r>
              <a:rPr lang="en-US" altLang="zh-CN" sz="1800" b="0" i="0" baseline="-25000" dirty="0">
                <a:solidFill>
                  <a:srgbClr val="333300"/>
                </a:solidFill>
                <a:latin typeface="Helvetica" panose="020B0604020202020204" pitchFamily="34" charset="0"/>
              </a:rPr>
              <a:t>3</a:t>
            </a:r>
            <a:r>
              <a:rPr lang="zh-CN" altLang="en-US" sz="1800" b="0" i="0" dirty="0">
                <a:solidFill>
                  <a:srgbClr val="333300"/>
                </a:solidFill>
                <a:latin typeface="Helvetica" panose="020B0604020202020204" pitchFamily="34" charset="0"/>
              </a:rPr>
              <a:t>：</a:t>
            </a:r>
            <a:r>
              <a:rPr lang="en-US" altLang="zh-CN" sz="1800" dirty="0">
                <a:solidFill>
                  <a:srgbClr val="0000FF"/>
                </a:solidFill>
                <a:latin typeface="Helvetica" panose="020B0604020202020204" pitchFamily="34" charset="0"/>
              </a:rPr>
              <a:t>lock-X(</a:t>
            </a:r>
            <a:r>
              <a:rPr lang="en-US" altLang="zh-CN" sz="1800" i="0" dirty="0">
                <a:solidFill>
                  <a:srgbClr val="0000FF"/>
                </a:solidFill>
                <a:latin typeface="Helvetica" panose="020B0604020202020204" pitchFamily="34" charset="0"/>
              </a:rPr>
              <a:t>B)</a:t>
            </a:r>
            <a:endParaRPr lang="en-US" altLang="zh-CN" sz="1800" i="0" dirty="0">
              <a:solidFill>
                <a:srgbClr val="0000FF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i="0" dirty="0">
                <a:latin typeface="Helvetica" panose="020B0604020202020204" pitchFamily="34" charset="0"/>
              </a:rPr>
              <a:t>       </a:t>
            </a:r>
            <a:r>
              <a:rPr lang="en-US" altLang="zh-CN" sz="1800" i="0" dirty="0">
                <a:latin typeface="Helvetica" panose="020B0604020202020204" pitchFamily="34" charset="0"/>
              </a:rPr>
              <a:t>read(B)</a:t>
            </a:r>
            <a:endParaRPr lang="en-US" altLang="zh-CN" sz="1800" i="0" dirty="0"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latin typeface="Helvetica" panose="020B0604020202020204" pitchFamily="34" charset="0"/>
              </a:rPr>
              <a:t>       B=B-50</a:t>
            </a:r>
            <a:endParaRPr lang="en-US" altLang="zh-CN" sz="1800" i="0" dirty="0"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latin typeface="Helvetica" panose="020B0604020202020204" pitchFamily="34" charset="0"/>
              </a:rPr>
              <a:t>       Write(B)</a:t>
            </a:r>
            <a:endParaRPr lang="en-US" altLang="zh-CN" sz="1800" i="0" dirty="0"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latin typeface="Helvetica" panose="020B0604020202020204" pitchFamily="34" charset="0"/>
              </a:rPr>
              <a:t>       </a:t>
            </a:r>
            <a:r>
              <a:rPr lang="en-US" altLang="zh-CN" sz="1800" i="0" dirty="0">
                <a:solidFill>
                  <a:srgbClr val="0000FF"/>
                </a:solidFill>
                <a:latin typeface="Helvetica" panose="020B0604020202020204" pitchFamily="34" charset="0"/>
              </a:rPr>
              <a:t>lock-X(A)</a:t>
            </a:r>
            <a:endParaRPr lang="en-US" altLang="zh-CN" sz="1800" i="0" dirty="0">
              <a:solidFill>
                <a:srgbClr val="0000FF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       read(A)</a:t>
            </a:r>
            <a:endParaRPr lang="en-US" altLang="zh-CN" sz="18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       A=A+50</a:t>
            </a:r>
            <a:endParaRPr lang="en-US" altLang="zh-CN" sz="18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       Write A</a:t>
            </a:r>
            <a:endParaRPr lang="en-US" altLang="zh-CN" sz="18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Helvetica" panose="020B0604020202020204" pitchFamily="34" charset="0"/>
              </a:rPr>
              <a:t>       Unlock</a:t>
            </a:r>
            <a:r>
              <a:rPr lang="en-US" altLang="zh-CN" sz="1800" dirty="0">
                <a:solidFill>
                  <a:srgbClr val="333300"/>
                </a:solidFill>
                <a:latin typeface="Helvetica" panose="020B0604020202020204" pitchFamily="34" charset="0"/>
              </a:rPr>
              <a:t>(B)</a:t>
            </a:r>
            <a:endParaRPr lang="en-US" altLang="zh-CN" sz="18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       </a:t>
            </a:r>
            <a:r>
              <a:rPr lang="en-US" altLang="zh-CN" sz="1800" i="0" dirty="0">
                <a:solidFill>
                  <a:srgbClr val="0000FF"/>
                </a:solidFill>
                <a:latin typeface="Helvetica" panose="020B0604020202020204" pitchFamily="34" charset="0"/>
              </a:rPr>
              <a:t>Unlock</a:t>
            </a: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 (A)</a:t>
            </a:r>
            <a:endParaRPr lang="en-US" altLang="zh-CN" sz="1800" i="0" dirty="0">
              <a:solidFill>
                <a:srgbClr val="333300"/>
              </a:solidFill>
              <a:latin typeface="Helvetica" panose="020B0604020202020204" pitchFamily="34" charset="0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5020351" y="4073386"/>
            <a:ext cx="1986441" cy="183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333300"/>
                </a:solidFill>
                <a:latin typeface="Helvetica" panose="020B0604020202020204" pitchFamily="34" charset="0"/>
              </a:rPr>
              <a:t>T</a:t>
            </a:r>
            <a:r>
              <a:rPr lang="en-US" altLang="zh-CN" sz="1800" baseline="-25000" dirty="0">
                <a:solidFill>
                  <a:srgbClr val="333300"/>
                </a:solidFill>
                <a:latin typeface="Helvetica" panose="020B0604020202020204" pitchFamily="34" charset="0"/>
              </a:rPr>
              <a:t>4</a:t>
            </a: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: </a:t>
            </a:r>
            <a:r>
              <a:rPr lang="en-US" altLang="zh-CN" sz="1800" i="0" dirty="0">
                <a:solidFill>
                  <a:srgbClr val="0000FF"/>
                </a:solidFill>
                <a:latin typeface="Helvetica" panose="020B0604020202020204" pitchFamily="34" charset="0"/>
              </a:rPr>
              <a:t>lock-S</a:t>
            </a:r>
            <a:r>
              <a:rPr lang="en-US" altLang="zh-CN" sz="1800" dirty="0">
                <a:solidFill>
                  <a:srgbClr val="0000FF"/>
                </a:solidFill>
                <a:latin typeface="Helvetica" panose="020B0604020202020204" pitchFamily="34" charset="0"/>
              </a:rPr>
              <a:t>(A)</a:t>
            </a:r>
            <a:r>
              <a:rPr lang="en-US" altLang="zh-CN" sz="1800" i="0" dirty="0">
                <a:solidFill>
                  <a:srgbClr val="0000FF"/>
                </a:solidFill>
                <a:latin typeface="Helvetica" panose="020B0604020202020204" pitchFamily="34" charset="0"/>
              </a:rPr>
              <a:t>;</a:t>
            </a:r>
            <a:endParaRPr lang="en-US" altLang="zh-CN" sz="1800" i="0" dirty="0">
              <a:solidFill>
                <a:srgbClr val="0000FF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latin typeface="Helvetica" panose="020B0604020202020204" pitchFamily="34" charset="0"/>
              </a:rPr>
              <a:t>      read </a:t>
            </a:r>
            <a:r>
              <a:rPr lang="en-US" altLang="zh-CN" sz="1800" dirty="0">
                <a:latin typeface="Helvetica" panose="020B0604020202020204" pitchFamily="34" charset="0"/>
              </a:rPr>
              <a:t>(A)</a:t>
            </a:r>
            <a:r>
              <a:rPr lang="en-US" altLang="zh-CN" sz="1800" i="0" dirty="0">
                <a:latin typeface="Helvetica" panose="020B0604020202020204" pitchFamily="34" charset="0"/>
              </a:rPr>
              <a:t>;</a:t>
            </a:r>
            <a:endParaRPr lang="en-US" altLang="zh-CN" sz="1800" i="0" dirty="0"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solidFill>
                  <a:srgbClr val="0000FF"/>
                </a:solidFill>
                <a:latin typeface="Helvetica" panose="020B0604020202020204" pitchFamily="34" charset="0"/>
              </a:rPr>
              <a:t>      lock-S</a:t>
            </a:r>
            <a:r>
              <a:rPr lang="en-US" altLang="zh-CN" sz="1800" dirty="0">
                <a:solidFill>
                  <a:srgbClr val="0000FF"/>
                </a:solidFill>
                <a:latin typeface="Helvetica" panose="020B0604020202020204" pitchFamily="34" charset="0"/>
              </a:rPr>
              <a:t>(B)</a:t>
            </a:r>
            <a:r>
              <a:rPr lang="en-US" altLang="zh-CN" sz="1800" i="0" dirty="0">
                <a:solidFill>
                  <a:srgbClr val="0000FF"/>
                </a:solidFill>
                <a:latin typeface="Helvetica" panose="020B0604020202020204" pitchFamily="34" charset="0"/>
              </a:rPr>
              <a:t>;</a:t>
            </a:r>
            <a:endParaRPr lang="en-US" altLang="zh-CN" sz="1800" i="0" dirty="0">
              <a:solidFill>
                <a:srgbClr val="0000FF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      read </a:t>
            </a:r>
            <a:r>
              <a:rPr lang="en-US" altLang="zh-CN" sz="1800" dirty="0">
                <a:solidFill>
                  <a:srgbClr val="333300"/>
                </a:solidFill>
                <a:latin typeface="Helvetica" panose="020B0604020202020204" pitchFamily="34" charset="0"/>
              </a:rPr>
              <a:t>(B)</a:t>
            </a: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;</a:t>
            </a:r>
            <a:endParaRPr lang="en-US" altLang="zh-CN" sz="18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333300"/>
                </a:solidFill>
                <a:latin typeface="Helvetica" panose="020B0604020202020204" pitchFamily="34" charset="0"/>
              </a:rPr>
              <a:t>      </a:t>
            </a:r>
            <a:r>
              <a:rPr lang="en-US" altLang="zh-CN" sz="1800" dirty="0">
                <a:solidFill>
                  <a:srgbClr val="0000FF"/>
                </a:solidFill>
                <a:latin typeface="Helvetica" panose="020B0604020202020204" pitchFamily="34" charset="0"/>
              </a:rPr>
              <a:t>unlock</a:t>
            </a:r>
            <a:r>
              <a:rPr lang="en-US" altLang="zh-CN" sz="1800" dirty="0">
                <a:solidFill>
                  <a:srgbClr val="333300"/>
                </a:solidFill>
                <a:latin typeface="Helvetica" panose="020B0604020202020204" pitchFamily="34" charset="0"/>
              </a:rPr>
              <a:t>(A);</a:t>
            </a:r>
            <a:endParaRPr lang="en-US" altLang="zh-CN" sz="18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      </a:t>
            </a:r>
            <a:r>
              <a:rPr lang="en-US" altLang="zh-CN" sz="1800" i="0" dirty="0">
                <a:solidFill>
                  <a:srgbClr val="0000FF"/>
                </a:solidFill>
                <a:latin typeface="Helvetica" panose="020B0604020202020204" pitchFamily="34" charset="0"/>
              </a:rPr>
              <a:t>unlock</a:t>
            </a:r>
            <a:r>
              <a:rPr lang="en-US" altLang="zh-CN" sz="1800" dirty="0">
                <a:solidFill>
                  <a:srgbClr val="333300"/>
                </a:solidFill>
                <a:latin typeface="Helvetica" panose="020B0604020202020204" pitchFamily="34" charset="0"/>
              </a:rPr>
              <a:t>(B)</a:t>
            </a: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;</a:t>
            </a:r>
            <a:endParaRPr lang="en-US" altLang="zh-CN" sz="18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      display</a:t>
            </a:r>
            <a:r>
              <a:rPr lang="en-US" altLang="zh-CN" sz="1800" dirty="0">
                <a:solidFill>
                  <a:srgbClr val="333300"/>
                </a:solidFill>
                <a:latin typeface="Helvetica" panose="020B0604020202020204" pitchFamily="34" charset="0"/>
              </a:rPr>
              <a:t>(A+B)</a:t>
            </a:r>
            <a:endParaRPr lang="zh-CN" altLang="en-US" sz="1800" i="0" dirty="0">
              <a:solidFill>
                <a:srgbClr val="333300"/>
              </a:solidFill>
              <a:latin typeface="Helvetica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981366" y="339921"/>
            <a:ext cx="2968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</a:t>
            </a:r>
            <a:r>
              <a:rPr lang="en-US" altLang="zh-CN" sz="2000" baseline="-25000" dirty="0"/>
              <a:t>3</a:t>
            </a:r>
            <a:r>
              <a:rPr lang="en-US" altLang="zh-CN" sz="2000" dirty="0"/>
              <a:t>:</a:t>
            </a:r>
            <a:r>
              <a:rPr lang="zh-CN" altLang="en-US" sz="2000" dirty="0"/>
              <a:t> 从</a:t>
            </a:r>
            <a:r>
              <a:rPr lang="en-US" altLang="zh-CN" sz="2000" dirty="0"/>
              <a:t>B</a:t>
            </a:r>
            <a:r>
              <a:rPr lang="zh-CN" altLang="en-US" sz="2000" dirty="0"/>
              <a:t>账户</a:t>
            </a:r>
            <a:r>
              <a:rPr lang="zh-CN" altLang="en-US" sz="2000" b="1" dirty="0"/>
              <a:t>转</a:t>
            </a:r>
            <a:r>
              <a:rPr lang="en-US" altLang="zh-CN" sz="2000" dirty="0"/>
              <a:t>50</a:t>
            </a:r>
            <a:r>
              <a:rPr lang="zh-CN" altLang="en-US" sz="2000" dirty="0"/>
              <a:t>到</a:t>
            </a:r>
            <a:r>
              <a:rPr lang="en-US" altLang="zh-CN" sz="2000" dirty="0"/>
              <a:t>A</a:t>
            </a:r>
            <a:r>
              <a:rPr lang="zh-CN" altLang="en-US" sz="2000" dirty="0"/>
              <a:t>账户</a:t>
            </a:r>
            <a:r>
              <a:rPr lang="en-US" altLang="zh-CN" sz="2000" dirty="0"/>
              <a:t>, A=100,</a:t>
            </a:r>
            <a:r>
              <a:rPr lang="zh-CN" altLang="en-US" sz="2000" dirty="0"/>
              <a:t> </a:t>
            </a:r>
            <a:r>
              <a:rPr lang="en-US" altLang="zh-CN" sz="2000" dirty="0"/>
              <a:t>B=200</a:t>
            </a:r>
            <a:endParaRPr lang="zh-CN" altLang="en-US" sz="2000" dirty="0"/>
          </a:p>
        </p:txBody>
      </p:sp>
      <p:sp>
        <p:nvSpPr>
          <p:cNvPr id="11" name="文本框 10"/>
          <p:cNvSpPr txBox="1"/>
          <p:nvPr/>
        </p:nvSpPr>
        <p:spPr>
          <a:xfrm>
            <a:off x="4996822" y="3658942"/>
            <a:ext cx="3663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</a:t>
            </a:r>
            <a:r>
              <a:rPr lang="en-US" altLang="zh-CN" sz="2000" baseline="-25000" dirty="0"/>
              <a:t>4</a:t>
            </a:r>
            <a:r>
              <a:rPr lang="en-US" altLang="zh-CN" sz="2000" dirty="0"/>
              <a:t>:</a:t>
            </a:r>
            <a:r>
              <a:rPr lang="zh-CN" altLang="en-US" sz="2000" dirty="0"/>
              <a:t> </a:t>
            </a:r>
            <a:r>
              <a:rPr lang="zh-CN" altLang="en-US" sz="2000" b="1" dirty="0"/>
              <a:t>显示</a:t>
            </a:r>
            <a:r>
              <a:rPr lang="zh-CN" altLang="en-US" sz="2000" dirty="0"/>
              <a:t>账户</a:t>
            </a:r>
            <a:r>
              <a:rPr lang="en-US" altLang="zh-CN" sz="2000" dirty="0"/>
              <a:t>A</a:t>
            </a:r>
            <a:r>
              <a:rPr lang="zh-CN" altLang="en-US" sz="2000" dirty="0"/>
              <a:t>与</a:t>
            </a:r>
            <a:r>
              <a:rPr lang="en-US" altLang="zh-CN" sz="2000" dirty="0"/>
              <a:t>B</a:t>
            </a:r>
            <a:r>
              <a:rPr lang="zh-CN" altLang="en-US" sz="2000" dirty="0"/>
              <a:t>上的总金额</a:t>
            </a:r>
            <a:endParaRPr lang="zh-CN" altLang="en-US" sz="2000" dirty="0"/>
          </a:p>
        </p:txBody>
      </p:sp>
      <p:sp>
        <p:nvSpPr>
          <p:cNvPr id="9" name="文本框 8"/>
          <p:cNvSpPr txBox="1"/>
          <p:nvPr/>
        </p:nvSpPr>
        <p:spPr>
          <a:xfrm>
            <a:off x="6804248" y="3087423"/>
            <a:ext cx="226857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000" dirty="0"/>
              <a:t>事务</a:t>
            </a:r>
            <a:r>
              <a:rPr lang="en-US" altLang="zh-CN" sz="2000" dirty="0"/>
              <a:t>T</a:t>
            </a:r>
            <a:r>
              <a:rPr lang="en-US" altLang="zh-CN" sz="2000" baseline="-25000" dirty="0"/>
              <a:t>3</a:t>
            </a:r>
            <a:r>
              <a:rPr lang="zh-CN" altLang="en-US" sz="2000" dirty="0">
                <a:solidFill>
                  <a:srgbClr val="0000FF"/>
                </a:solidFill>
              </a:rPr>
              <a:t>延迟释放锁</a:t>
            </a:r>
            <a:endParaRPr lang="zh-CN" altLang="en-US" sz="2000" dirty="0">
              <a:solidFill>
                <a:srgbClr val="0000FF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940152" y="5904131"/>
            <a:ext cx="252505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000" dirty="0"/>
              <a:t>事务</a:t>
            </a:r>
            <a:r>
              <a:rPr lang="en-US" altLang="zh-CN" sz="2000" dirty="0"/>
              <a:t>T</a:t>
            </a:r>
            <a:r>
              <a:rPr lang="en-US" altLang="zh-CN" sz="2000" baseline="-25000" dirty="0"/>
              <a:t>4</a:t>
            </a:r>
            <a:r>
              <a:rPr lang="zh-CN" altLang="en-US" sz="2000" dirty="0">
                <a:solidFill>
                  <a:srgbClr val="0000FF"/>
                </a:solidFill>
              </a:rPr>
              <a:t>也延迟释放锁</a:t>
            </a:r>
            <a:endParaRPr lang="zh-CN" altLang="en-US" sz="2000" dirty="0">
              <a:solidFill>
                <a:srgbClr val="0000FF"/>
              </a:solidFill>
            </a:endParaRPr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1" grpId="0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14.1 </a:t>
            </a:r>
            <a:r>
              <a:rPr lang="zh-CN" altLang="en-US" sz="3200" dirty="0"/>
              <a:t>基于锁的协议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C4069-B2A1-4EDD-8F23-87D72359596E}" type="datetime1">
              <a:rPr lang="zh-CN" altLang="en-US" smtClean="0"/>
            </a:fld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09600" y="1447800"/>
            <a:ext cx="3818384" cy="4684713"/>
          </a:xfrm>
        </p:spPr>
        <p:txBody>
          <a:bodyPr/>
          <a:lstStyle/>
          <a:p>
            <a:pPr eaLnBrk="1" hangingPunct="1"/>
            <a:r>
              <a:rPr lang="zh-CN" altLang="en-US" sz="2100" b="1" dirty="0">
                <a:solidFill>
                  <a:srgbClr val="0000FF"/>
                </a:solidFill>
              </a:rPr>
              <a:t>封锁</a:t>
            </a:r>
            <a:r>
              <a:rPr lang="zh-CN" altLang="en-US" sz="2100" b="1" dirty="0">
                <a:solidFill>
                  <a:srgbClr val="FF0000"/>
                </a:solidFill>
              </a:rPr>
              <a:t>不足以</a:t>
            </a:r>
            <a:r>
              <a:rPr lang="zh-CN" altLang="en-US" sz="2100" b="1" dirty="0">
                <a:solidFill>
                  <a:srgbClr val="0000FF"/>
                </a:solidFill>
              </a:rPr>
              <a:t>保证可串行化</a:t>
            </a:r>
            <a:endParaRPr lang="zh-CN" altLang="en-US" sz="2100" b="1" dirty="0">
              <a:solidFill>
                <a:srgbClr val="0000FF"/>
              </a:solidFill>
            </a:endParaRPr>
          </a:p>
          <a:p>
            <a:pPr lvl="1" eaLnBrk="1" hangingPunct="1"/>
            <a:r>
              <a:rPr lang="en-US" altLang="zh-CN" sz="1900" b="1" i="1" dirty="0"/>
              <a:t>T</a:t>
            </a:r>
            <a:r>
              <a:rPr lang="en-US" altLang="zh-CN" sz="1900" b="1" baseline="-25000" dirty="0"/>
              <a:t>1</a:t>
            </a:r>
            <a:r>
              <a:rPr lang="zh-CN" altLang="en-US" sz="1900" b="1" dirty="0"/>
              <a:t>过早释放封锁，导致</a:t>
            </a:r>
            <a:r>
              <a:rPr lang="en-US" altLang="zh-CN" sz="1900" b="1" i="1" dirty="0"/>
              <a:t>T</a:t>
            </a:r>
            <a:r>
              <a:rPr lang="en-US" altLang="zh-CN" sz="1900" b="1" baseline="-25000" dirty="0"/>
              <a:t>2</a:t>
            </a:r>
            <a:r>
              <a:rPr lang="zh-CN" altLang="en-US" sz="1900" b="1" dirty="0"/>
              <a:t>显示的总和出现错误</a:t>
            </a:r>
            <a:endParaRPr lang="en-US" altLang="zh-CN" sz="1900" b="1" dirty="0"/>
          </a:p>
          <a:p>
            <a:pPr eaLnBrk="1" hangingPunct="1"/>
            <a:r>
              <a:rPr lang="zh-CN" altLang="en-US" sz="2100" b="1" dirty="0">
                <a:solidFill>
                  <a:srgbClr val="FF0000"/>
                </a:solidFill>
              </a:rPr>
              <a:t>锁协议</a:t>
            </a:r>
            <a:r>
              <a:rPr lang="zh-CN" altLang="en-US" sz="2100" b="1" dirty="0"/>
              <a:t>是所有事务在请求与释放封锁时遵守的</a:t>
            </a:r>
            <a:r>
              <a:rPr lang="zh-CN" altLang="en-US" sz="2100" b="1" dirty="0">
                <a:solidFill>
                  <a:srgbClr val="0000FF"/>
                </a:solidFill>
              </a:rPr>
              <a:t>规则集合</a:t>
            </a:r>
            <a:endParaRPr lang="zh-CN" altLang="en-US" sz="2100" b="1" dirty="0">
              <a:solidFill>
                <a:srgbClr val="0000FF"/>
              </a:solidFill>
            </a:endParaRPr>
          </a:p>
          <a:p>
            <a:pPr lvl="1" eaLnBrk="1" hangingPunct="1"/>
            <a:r>
              <a:rPr lang="zh-CN" altLang="en-US" sz="1900" b="1" dirty="0">
                <a:solidFill>
                  <a:srgbClr val="0000FF"/>
                </a:solidFill>
              </a:rPr>
              <a:t>锁协议</a:t>
            </a:r>
            <a:r>
              <a:rPr lang="zh-CN" altLang="en-US" sz="1900" b="1" dirty="0"/>
              <a:t>对</a:t>
            </a:r>
            <a:r>
              <a:rPr lang="zh-CN" altLang="en-US" sz="1900" b="1" u="sng" dirty="0"/>
              <a:t>可能出现的调度</a:t>
            </a:r>
            <a:r>
              <a:rPr lang="zh-CN" altLang="en-US" sz="1900" b="1" dirty="0">
                <a:solidFill>
                  <a:srgbClr val="0000FF"/>
                </a:solidFill>
              </a:rPr>
              <a:t>加以限制</a:t>
            </a:r>
            <a:endParaRPr lang="en-US" altLang="zh-CN" sz="1900" b="1" dirty="0">
              <a:solidFill>
                <a:srgbClr val="0000FF"/>
              </a:solidFill>
            </a:endParaRPr>
          </a:p>
          <a:p>
            <a:endParaRPr lang="zh-CN" altLang="en-US" b="1" dirty="0"/>
          </a:p>
        </p:txBody>
      </p:sp>
      <p:sp>
        <p:nvSpPr>
          <p:cNvPr id="6" name="Text Box 1"/>
          <p:cNvSpPr txBox="1">
            <a:spLocks noChangeArrowheads="1"/>
          </p:cNvSpPr>
          <p:nvPr/>
        </p:nvSpPr>
        <p:spPr bwMode="auto">
          <a:xfrm>
            <a:off x="4894050" y="2568265"/>
            <a:ext cx="183896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i="0" dirty="0">
                <a:solidFill>
                  <a:srgbClr val="333300"/>
                </a:solidFill>
                <a:latin typeface="Helvetica" panose="020B0604020202020204" pitchFamily="34" charset="0"/>
              </a:rPr>
              <a:t>T</a:t>
            </a:r>
            <a:r>
              <a:rPr lang="en-US" altLang="zh-CN" sz="1800" b="0" i="0" baseline="-25000" dirty="0">
                <a:solidFill>
                  <a:srgbClr val="333300"/>
                </a:solidFill>
                <a:latin typeface="Helvetica" panose="020B0604020202020204" pitchFamily="34" charset="0"/>
              </a:rPr>
              <a:t>3</a:t>
            </a:r>
            <a:r>
              <a:rPr lang="zh-CN" altLang="en-US" sz="1800" b="0" i="0" dirty="0">
                <a:solidFill>
                  <a:srgbClr val="333300"/>
                </a:solidFill>
                <a:latin typeface="Helvetica" panose="020B0604020202020204" pitchFamily="34" charset="0"/>
              </a:rPr>
              <a:t>：</a:t>
            </a:r>
            <a:r>
              <a:rPr lang="en-US" altLang="zh-CN" sz="1800" dirty="0">
                <a:solidFill>
                  <a:srgbClr val="333300"/>
                </a:solidFill>
                <a:latin typeface="Helvetica" panose="020B0604020202020204" pitchFamily="34" charset="0"/>
              </a:rPr>
              <a:t>lock-</a:t>
            </a:r>
            <a:r>
              <a:rPr lang="en-US" altLang="zh-CN" sz="1800" dirty="0">
                <a:solidFill>
                  <a:srgbClr val="0000FF"/>
                </a:solidFill>
                <a:latin typeface="Helvetica" panose="020B0604020202020204" pitchFamily="34" charset="0"/>
              </a:rPr>
              <a:t>X</a:t>
            </a:r>
            <a:r>
              <a:rPr lang="en-US" altLang="zh-CN" sz="1800" dirty="0">
                <a:solidFill>
                  <a:srgbClr val="333300"/>
                </a:solidFill>
                <a:latin typeface="Helvetica" panose="020B0604020202020204" pitchFamily="34" charset="0"/>
              </a:rPr>
              <a:t>(</a:t>
            </a: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B)</a:t>
            </a:r>
            <a:endParaRPr lang="en-US" altLang="zh-CN" sz="18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       </a:t>
            </a: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read(B)</a:t>
            </a:r>
            <a:endParaRPr lang="en-US" altLang="zh-CN" sz="18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       B=B-50</a:t>
            </a:r>
            <a:endParaRPr lang="en-US" altLang="zh-CN" sz="18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       Write(B)</a:t>
            </a:r>
            <a:endParaRPr lang="en-US" altLang="zh-CN" sz="18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       lock-</a:t>
            </a:r>
            <a:r>
              <a:rPr lang="en-US" altLang="zh-CN" sz="1800" i="0" dirty="0">
                <a:solidFill>
                  <a:srgbClr val="0000FF"/>
                </a:solidFill>
                <a:latin typeface="Helvetica" panose="020B0604020202020204" pitchFamily="34" charset="0"/>
              </a:rPr>
              <a:t>X</a:t>
            </a: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(A)</a:t>
            </a:r>
            <a:endParaRPr lang="en-US" altLang="zh-CN" sz="18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       read(A)</a:t>
            </a:r>
            <a:endParaRPr lang="en-US" altLang="zh-CN" sz="18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       A=A+50</a:t>
            </a:r>
            <a:endParaRPr lang="en-US" altLang="zh-CN" sz="18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       Write A</a:t>
            </a:r>
            <a:endParaRPr lang="en-US" altLang="zh-CN" sz="18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Helvetica" panose="020B0604020202020204" pitchFamily="34" charset="0"/>
              </a:rPr>
              <a:t>       Unlock</a:t>
            </a:r>
            <a:r>
              <a:rPr lang="en-US" altLang="zh-CN" sz="1800" dirty="0">
                <a:solidFill>
                  <a:srgbClr val="333300"/>
                </a:solidFill>
                <a:latin typeface="Helvetica" panose="020B0604020202020204" pitchFamily="34" charset="0"/>
              </a:rPr>
              <a:t>(B)</a:t>
            </a:r>
            <a:endParaRPr lang="en-US" altLang="zh-CN" sz="18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       </a:t>
            </a:r>
            <a:r>
              <a:rPr lang="en-US" altLang="zh-CN" sz="1800" i="0" dirty="0">
                <a:solidFill>
                  <a:srgbClr val="0000FF"/>
                </a:solidFill>
                <a:latin typeface="Helvetica" panose="020B0604020202020204" pitchFamily="34" charset="0"/>
              </a:rPr>
              <a:t>Unlock</a:t>
            </a:r>
            <a:r>
              <a:rPr lang="en-US" altLang="zh-CN" sz="1800" i="0" dirty="0">
                <a:solidFill>
                  <a:srgbClr val="333300"/>
                </a:solidFill>
                <a:latin typeface="Helvetica" panose="020B0604020202020204" pitchFamily="34" charset="0"/>
              </a:rPr>
              <a:t> (A)</a:t>
            </a:r>
            <a:endParaRPr lang="en-US" altLang="zh-CN" sz="1800" i="0" dirty="0">
              <a:solidFill>
                <a:srgbClr val="333300"/>
              </a:solidFill>
              <a:latin typeface="Helvetica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879679" y="1865886"/>
            <a:ext cx="2968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</a:t>
            </a:r>
            <a:r>
              <a:rPr lang="en-US" altLang="zh-CN" sz="2000" baseline="-25000" dirty="0"/>
              <a:t>3</a:t>
            </a:r>
            <a:r>
              <a:rPr lang="en-US" altLang="zh-CN" sz="2000" dirty="0"/>
              <a:t>:</a:t>
            </a:r>
            <a:r>
              <a:rPr lang="zh-CN" altLang="en-US" sz="2000" dirty="0"/>
              <a:t> 从</a:t>
            </a:r>
            <a:r>
              <a:rPr lang="en-US" altLang="zh-CN" sz="2000" dirty="0"/>
              <a:t>B</a:t>
            </a:r>
            <a:r>
              <a:rPr lang="zh-CN" altLang="en-US" sz="2000" dirty="0"/>
              <a:t>账户转</a:t>
            </a:r>
            <a:r>
              <a:rPr lang="en-US" altLang="zh-CN" sz="2000" dirty="0"/>
              <a:t>50</a:t>
            </a:r>
            <a:r>
              <a:rPr lang="zh-CN" altLang="en-US" sz="2000" dirty="0"/>
              <a:t>到</a:t>
            </a:r>
            <a:r>
              <a:rPr lang="en-US" altLang="zh-CN" sz="2000" dirty="0"/>
              <a:t>A</a:t>
            </a:r>
            <a:r>
              <a:rPr lang="zh-CN" altLang="en-US" sz="2000" dirty="0"/>
              <a:t>账户</a:t>
            </a:r>
            <a:r>
              <a:rPr lang="en-US" altLang="zh-CN" sz="2000" dirty="0"/>
              <a:t>, A=100,</a:t>
            </a:r>
            <a:r>
              <a:rPr lang="zh-CN" altLang="en-US" sz="2000" dirty="0"/>
              <a:t> </a:t>
            </a:r>
            <a:r>
              <a:rPr lang="en-US" altLang="zh-CN" sz="2000" dirty="0"/>
              <a:t>B=200</a:t>
            </a:r>
            <a:endParaRPr lang="zh-CN" altLang="en-US" sz="2000" dirty="0"/>
          </a:p>
        </p:txBody>
      </p:sp>
      <p:sp>
        <p:nvSpPr>
          <p:cNvPr id="28" name="文本框 27"/>
          <p:cNvSpPr txBox="1"/>
          <p:nvPr/>
        </p:nvSpPr>
        <p:spPr>
          <a:xfrm>
            <a:off x="1711813" y="5583393"/>
            <a:ext cx="3066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这种</a:t>
            </a:r>
            <a:r>
              <a:rPr lang="zh-CN" altLang="en-US" sz="2000" b="1" dirty="0">
                <a:solidFill>
                  <a:srgbClr val="0000FF"/>
                </a:solidFill>
              </a:rPr>
              <a:t>调度</a:t>
            </a:r>
            <a:r>
              <a:rPr lang="zh-CN" altLang="en-US" sz="2000" b="1" dirty="0"/>
              <a:t>在事务</a:t>
            </a:r>
            <a:r>
              <a:rPr lang="en-US" altLang="zh-CN" sz="2000" b="1" dirty="0"/>
              <a:t>T3</a:t>
            </a:r>
            <a:r>
              <a:rPr lang="zh-CN" altLang="en-US" sz="2000" b="1" dirty="0"/>
              <a:t>和</a:t>
            </a:r>
            <a:r>
              <a:rPr lang="en-US" altLang="zh-CN" sz="2000" b="1" dirty="0"/>
              <a:t>T4</a:t>
            </a:r>
            <a:r>
              <a:rPr lang="zh-CN" altLang="en-US" sz="2000" b="1" dirty="0"/>
              <a:t>的并发调度中</a:t>
            </a:r>
            <a:r>
              <a:rPr lang="zh-CN" altLang="en-US" sz="2000" b="1" dirty="0">
                <a:solidFill>
                  <a:srgbClr val="0000FF"/>
                </a:solidFill>
              </a:rPr>
              <a:t>不会出现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6334" y="1371549"/>
            <a:ext cx="4633362" cy="4523624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527751" y="5282266"/>
            <a:ext cx="2268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事务</a:t>
            </a:r>
            <a:r>
              <a:rPr lang="en-US" altLang="zh-CN" sz="2000" dirty="0"/>
              <a:t>T</a:t>
            </a:r>
            <a:r>
              <a:rPr lang="en-US" altLang="zh-CN" sz="2000" baseline="-25000" dirty="0"/>
              <a:t>3</a:t>
            </a:r>
            <a:r>
              <a:rPr lang="zh-CN" altLang="en-US" sz="2000" dirty="0"/>
              <a:t>延迟释放锁</a:t>
            </a:r>
            <a:endParaRPr lang="zh-CN" altLang="en-US" sz="2000" dirty="0"/>
          </a:p>
        </p:txBody>
      </p:sp>
      <p:cxnSp>
        <p:nvCxnSpPr>
          <p:cNvPr id="16" name="直接连接符 15"/>
          <p:cNvCxnSpPr/>
          <p:nvPr/>
        </p:nvCxnSpPr>
        <p:spPr bwMode="auto">
          <a:xfrm flipV="1">
            <a:off x="4750132" y="2895015"/>
            <a:ext cx="829980" cy="1197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 bwMode="auto">
          <a:xfrm flipV="1">
            <a:off x="5690969" y="3866322"/>
            <a:ext cx="936104" cy="3091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 bwMode="auto">
          <a:xfrm flipV="1">
            <a:off x="5645589" y="3155558"/>
            <a:ext cx="936104" cy="30919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 bwMode="auto">
          <a:xfrm flipV="1">
            <a:off x="4713732" y="4797152"/>
            <a:ext cx="936104" cy="3091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7753059" y="4683102"/>
            <a:ext cx="492443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690002" y="3806926"/>
            <a:ext cx="492443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6" name="AutoShape 4"/>
          <p:cNvSpPr>
            <a:spLocks noChangeArrowheads="1"/>
          </p:cNvSpPr>
          <p:nvPr/>
        </p:nvSpPr>
        <p:spPr bwMode="auto">
          <a:xfrm>
            <a:off x="7469466" y="4356131"/>
            <a:ext cx="1665796" cy="315741"/>
          </a:xfrm>
          <a:prstGeom prst="wedgeRoundRectCallout">
            <a:avLst>
              <a:gd name="adj1" fmla="val -123344"/>
              <a:gd name="adj2" fmla="val -193015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0000FF"/>
                </a:solidFill>
                <a:latin typeface="Helvetica" panose="020B0604020202020204" pitchFamily="34" charset="0"/>
              </a:rPr>
              <a:t>申请加锁不成功</a:t>
            </a:r>
            <a:endParaRPr lang="en-US" altLang="zh-CN" sz="1600" dirty="0">
              <a:solidFill>
                <a:srgbClr val="0000FF"/>
              </a:solidFill>
              <a:latin typeface="Helvetica" panose="020B0604020202020204" pitchFamily="34" charset="0"/>
            </a:endParaRPr>
          </a:p>
        </p:txBody>
      </p:sp>
      <p:sp>
        <p:nvSpPr>
          <p:cNvPr id="15" name="矩形: 圆角 14"/>
          <p:cNvSpPr/>
          <p:nvPr/>
        </p:nvSpPr>
        <p:spPr bwMode="auto">
          <a:xfrm>
            <a:off x="4699361" y="1511294"/>
            <a:ext cx="2033654" cy="377126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noFill/>
              <a:effectLst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7" name="直接连接符 6"/>
          <p:cNvCxnSpPr/>
          <p:nvPr/>
        </p:nvCxnSpPr>
        <p:spPr bwMode="auto">
          <a:xfrm flipV="1">
            <a:off x="5716188" y="3603734"/>
            <a:ext cx="829980" cy="1197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1" grpId="0"/>
      <p:bldP spid="22" grpId="0"/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14.1 </a:t>
            </a:r>
            <a:r>
              <a:rPr lang="zh-CN" altLang="en-US" dirty="0"/>
              <a:t>基于锁的协议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44214-06ED-4D64-9DEF-AD8469329C94}" type="datetime1">
              <a:rPr lang="zh-CN" altLang="en-US" smtClean="0"/>
            </a:fld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09600" y="1447800"/>
            <a:ext cx="3818384" cy="4684713"/>
          </a:xfrm>
        </p:spPr>
        <p:txBody>
          <a:bodyPr/>
          <a:lstStyle/>
          <a:p>
            <a:pPr eaLnBrk="1" hangingPunct="1"/>
            <a:r>
              <a:rPr lang="zh-CN" altLang="en-US" sz="2100" b="1" dirty="0">
                <a:solidFill>
                  <a:srgbClr val="0000FF"/>
                </a:solidFill>
              </a:rPr>
              <a:t>封锁</a:t>
            </a:r>
            <a:r>
              <a:rPr lang="zh-CN" altLang="en-US" sz="2100" b="1" dirty="0">
                <a:solidFill>
                  <a:srgbClr val="FF0000"/>
                </a:solidFill>
              </a:rPr>
              <a:t>不足以</a:t>
            </a:r>
            <a:r>
              <a:rPr lang="zh-CN" altLang="en-US" sz="2100" b="1" dirty="0">
                <a:solidFill>
                  <a:srgbClr val="0000FF"/>
                </a:solidFill>
              </a:rPr>
              <a:t>保证可串行化</a:t>
            </a:r>
            <a:endParaRPr lang="zh-CN" altLang="en-US" sz="2100" b="1" dirty="0">
              <a:solidFill>
                <a:srgbClr val="0000FF"/>
              </a:solidFill>
            </a:endParaRPr>
          </a:p>
          <a:p>
            <a:pPr lvl="1" eaLnBrk="1" hangingPunct="1"/>
            <a:r>
              <a:rPr lang="en-US" altLang="zh-CN" sz="1900" b="1" i="1" dirty="0"/>
              <a:t>T</a:t>
            </a:r>
            <a:r>
              <a:rPr lang="en-US" altLang="zh-CN" sz="1900" b="1" baseline="-25000" dirty="0"/>
              <a:t>1</a:t>
            </a:r>
            <a:r>
              <a:rPr lang="zh-CN" altLang="en-US" sz="1900" b="1" dirty="0"/>
              <a:t>过早释放封锁，导致</a:t>
            </a:r>
            <a:r>
              <a:rPr lang="en-US" altLang="zh-CN" sz="1900" b="1" i="1" dirty="0"/>
              <a:t>T</a:t>
            </a:r>
            <a:r>
              <a:rPr lang="en-US" altLang="zh-CN" sz="1900" b="1" baseline="-25000" dirty="0"/>
              <a:t>2</a:t>
            </a:r>
            <a:r>
              <a:rPr lang="zh-CN" altLang="en-US" sz="1900" b="1" dirty="0"/>
              <a:t>显示的总和出现错误</a:t>
            </a:r>
            <a:endParaRPr lang="en-US" altLang="zh-CN" sz="1900" b="1" dirty="0"/>
          </a:p>
          <a:p>
            <a:pPr eaLnBrk="1" hangingPunct="1"/>
            <a:r>
              <a:rPr lang="zh-CN" altLang="en-US" sz="2100" b="1" dirty="0">
                <a:solidFill>
                  <a:srgbClr val="FF0000"/>
                </a:solidFill>
              </a:rPr>
              <a:t>锁协议</a:t>
            </a:r>
            <a:r>
              <a:rPr lang="zh-CN" altLang="en-US" sz="2100" b="1" dirty="0"/>
              <a:t>是所有事务在请求与释放封锁时遵守的</a:t>
            </a:r>
            <a:r>
              <a:rPr lang="zh-CN" altLang="en-US" sz="2100" b="1" dirty="0">
                <a:solidFill>
                  <a:srgbClr val="0000FF"/>
                </a:solidFill>
              </a:rPr>
              <a:t>规则集合</a:t>
            </a:r>
            <a:endParaRPr lang="zh-CN" altLang="en-US" sz="2100" b="1" dirty="0">
              <a:solidFill>
                <a:srgbClr val="0000FF"/>
              </a:solidFill>
            </a:endParaRPr>
          </a:p>
          <a:p>
            <a:pPr lvl="1" eaLnBrk="1" hangingPunct="1"/>
            <a:r>
              <a:rPr lang="zh-CN" altLang="en-US" sz="1900" b="1" dirty="0">
                <a:solidFill>
                  <a:srgbClr val="0000FF"/>
                </a:solidFill>
              </a:rPr>
              <a:t>锁协议</a:t>
            </a:r>
            <a:r>
              <a:rPr lang="zh-CN" altLang="en-US" sz="1900" b="1" dirty="0"/>
              <a:t>对</a:t>
            </a:r>
            <a:r>
              <a:rPr lang="zh-CN" altLang="en-US" sz="1900" b="1" u="sng" dirty="0"/>
              <a:t>可能出现的调度</a:t>
            </a:r>
            <a:r>
              <a:rPr lang="zh-CN" altLang="en-US" sz="1900" b="1" dirty="0">
                <a:solidFill>
                  <a:srgbClr val="0000FF"/>
                </a:solidFill>
              </a:rPr>
              <a:t>加以限制</a:t>
            </a:r>
            <a:endParaRPr lang="en-US" altLang="zh-CN" sz="1900" b="1" dirty="0">
              <a:solidFill>
                <a:srgbClr val="0000FF"/>
              </a:solidFill>
            </a:endParaRPr>
          </a:p>
          <a:p>
            <a:pPr lvl="1" eaLnBrk="1" hangingPunct="1"/>
            <a:r>
              <a:rPr lang="zh-CN" altLang="en-US" sz="1900" b="1" dirty="0">
                <a:solidFill>
                  <a:srgbClr val="0000FF"/>
                </a:solidFill>
              </a:rPr>
              <a:t>加锁、解锁</a:t>
            </a:r>
            <a:r>
              <a:rPr lang="zh-CN" altLang="en-US" sz="1900" b="1" dirty="0"/>
              <a:t>的</a:t>
            </a:r>
            <a:r>
              <a:rPr lang="zh-CN" altLang="en-US" sz="1900" b="1" dirty="0">
                <a:solidFill>
                  <a:srgbClr val="0000FF"/>
                </a:solidFill>
              </a:rPr>
              <a:t>时机很重要</a:t>
            </a:r>
            <a:endParaRPr lang="en-US" altLang="zh-CN" sz="1900" b="1" dirty="0">
              <a:solidFill>
                <a:srgbClr val="0000FF"/>
              </a:solidFill>
            </a:endParaRPr>
          </a:p>
          <a:p>
            <a:pPr lvl="1" eaLnBrk="1" hangingPunct="1"/>
            <a:r>
              <a:rPr lang="zh-CN" altLang="en-US" sz="1900" b="1" dirty="0">
                <a:solidFill>
                  <a:srgbClr val="0000FF"/>
                </a:solidFill>
              </a:rPr>
              <a:t>锁协议</a:t>
            </a:r>
            <a:r>
              <a:rPr lang="zh-CN" altLang="en-US" sz="1900" b="1" dirty="0">
                <a:solidFill>
                  <a:srgbClr val="FF0000"/>
                </a:solidFill>
              </a:rPr>
              <a:t>规定</a:t>
            </a:r>
            <a:r>
              <a:rPr lang="zh-CN" altLang="en-US" sz="1900" b="1" dirty="0"/>
              <a:t>事务</a:t>
            </a:r>
            <a:r>
              <a:rPr lang="zh-CN" altLang="en-US" sz="1900" b="1" dirty="0">
                <a:solidFill>
                  <a:srgbClr val="0000FF"/>
                </a:solidFill>
              </a:rPr>
              <a:t>何时</a:t>
            </a:r>
            <a:r>
              <a:rPr lang="zh-CN" altLang="en-US" sz="1900" b="1" dirty="0"/>
              <a:t>对数据项们进行加锁和解锁。</a:t>
            </a:r>
            <a:endParaRPr lang="en-US" altLang="zh-CN" sz="1900" b="1" dirty="0"/>
          </a:p>
          <a:p>
            <a:pPr lvl="1"/>
            <a:r>
              <a:rPr lang="zh-CN" altLang="en-US" sz="2000" b="1" dirty="0">
                <a:solidFill>
                  <a:srgbClr val="FF0000"/>
                </a:solidFill>
              </a:rPr>
              <a:t>死锁不可避免，后续介绍处理方式</a:t>
            </a:r>
            <a:r>
              <a:rPr lang="zh-CN" altLang="en-US" sz="2000" b="1" dirty="0"/>
              <a:t>。</a:t>
            </a:r>
            <a:endParaRPr lang="zh-CN" altLang="en-US" sz="2000" b="1" dirty="0"/>
          </a:p>
          <a:p>
            <a:pPr lvl="1" eaLnBrk="1" hangingPunct="1"/>
            <a:endParaRPr lang="en-US" altLang="zh-CN" sz="1900" b="1" dirty="0">
              <a:solidFill>
                <a:srgbClr val="0000FF"/>
              </a:solidFill>
            </a:endParaRPr>
          </a:p>
          <a:p>
            <a:endParaRPr lang="zh-CN" altLang="en-US" b="1" dirty="0"/>
          </a:p>
        </p:txBody>
      </p:sp>
      <p:grpSp>
        <p:nvGrpSpPr>
          <p:cNvPr id="17" name="组合 16"/>
          <p:cNvGrpSpPr/>
          <p:nvPr/>
        </p:nvGrpSpPr>
        <p:grpSpPr>
          <a:xfrm>
            <a:off x="4433158" y="1540445"/>
            <a:ext cx="4392488" cy="4071665"/>
            <a:chOff x="4433158" y="1540445"/>
            <a:chExt cx="4392488" cy="4071665"/>
          </a:xfrm>
        </p:grpSpPr>
        <p:sp>
          <p:nvSpPr>
            <p:cNvPr id="13" name="Rectangle 3"/>
            <p:cNvSpPr txBox="1">
              <a:spLocks noChangeArrowheads="1"/>
            </p:cNvSpPr>
            <p:nvPr/>
          </p:nvSpPr>
          <p:spPr bwMode="auto">
            <a:xfrm>
              <a:off x="4433158" y="1540446"/>
              <a:ext cx="4392488" cy="762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lvl1pPr marL="342900" indent="-3429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>
                <a:lnSpc>
                  <a:spcPct val="100000"/>
                </a:lnSpc>
                <a:buFont typeface="Wingdings" panose="05000000000000000000" pitchFamily="2" charset="2"/>
                <a:buNone/>
                <a:tabLst>
                  <a:tab pos="2222500" algn="l"/>
                  <a:tab pos="2568575" algn="l"/>
                  <a:tab pos="3319145" algn="l"/>
                  <a:tab pos="3594100" algn="l"/>
                </a:tabLst>
              </a:pPr>
              <a:r>
                <a:rPr lang="en-US" altLang="zh-CN" sz="2500" b="1" i="1" kern="0" dirty="0"/>
                <a:t>      T</a:t>
              </a:r>
              <a:r>
                <a:rPr lang="en-US" altLang="zh-CN" sz="2500" b="1" kern="0" baseline="-25000" dirty="0"/>
                <a:t>3</a:t>
              </a:r>
              <a:r>
                <a:rPr lang="en-US" altLang="zh-CN" sz="2500" b="1" kern="0" dirty="0"/>
                <a:t>		  </a:t>
              </a:r>
              <a:r>
                <a:rPr lang="en-US" altLang="zh-CN" sz="2500" b="1" i="1" kern="0" dirty="0"/>
                <a:t>T</a:t>
              </a:r>
              <a:r>
                <a:rPr lang="en-US" altLang="zh-CN" sz="2500" b="1" kern="0" baseline="-25000" dirty="0"/>
                <a:t>4</a:t>
              </a:r>
              <a:br>
                <a:rPr lang="en-US" altLang="zh-CN" sz="2500" b="1" kern="0" baseline="-25000" dirty="0"/>
              </a:br>
              <a:r>
                <a:rPr lang="en-US" altLang="zh-CN" sz="2500" b="1" kern="0" baseline="-25000" dirty="0"/>
                <a:t>                    </a:t>
              </a:r>
              <a:endParaRPr lang="en-US" altLang="zh-CN" sz="2500" b="1" kern="0" baseline="-25000" dirty="0"/>
            </a:p>
          </p:txBody>
        </p:sp>
        <p:sp>
          <p:nvSpPr>
            <p:cNvPr id="14" name="Line 4"/>
            <p:cNvSpPr>
              <a:spLocks noChangeShapeType="1"/>
            </p:cNvSpPr>
            <p:nvPr/>
          </p:nvSpPr>
          <p:spPr bwMode="auto">
            <a:xfrm flipH="1">
              <a:off x="6346543" y="1540445"/>
              <a:ext cx="36660" cy="40716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5"/>
            <p:cNvSpPr>
              <a:spLocks noChangeShapeType="1"/>
            </p:cNvSpPr>
            <p:nvPr/>
          </p:nvSpPr>
          <p:spPr bwMode="auto">
            <a:xfrm>
              <a:off x="5009221" y="2044502"/>
              <a:ext cx="2747962" cy="14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4932758" y="2175377"/>
            <a:ext cx="1239442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333300"/>
                </a:solidFill>
                <a:latin typeface="Helvetica" panose="020B0604020202020204" pitchFamily="34" charset="0"/>
              </a:rPr>
              <a:t>lock-</a:t>
            </a:r>
            <a:r>
              <a:rPr lang="en-US" altLang="zh-CN" sz="2000" dirty="0">
                <a:solidFill>
                  <a:srgbClr val="0000FF"/>
                </a:solidFill>
                <a:latin typeface="Helvetica" panose="020B0604020202020204" pitchFamily="34" charset="0"/>
              </a:rPr>
              <a:t>X</a:t>
            </a:r>
            <a:r>
              <a:rPr lang="en-US" altLang="zh-CN" sz="2000" dirty="0">
                <a:solidFill>
                  <a:srgbClr val="333300"/>
                </a:solidFill>
                <a:latin typeface="Helvetica" panose="020B0604020202020204" pitchFamily="34" charset="0"/>
              </a:rPr>
              <a:t>(</a:t>
            </a:r>
            <a:r>
              <a:rPr lang="en-US" altLang="zh-CN" sz="2000" i="0" dirty="0">
                <a:solidFill>
                  <a:srgbClr val="333300"/>
                </a:solidFill>
                <a:latin typeface="Helvetica" panose="020B0604020202020204" pitchFamily="34" charset="0"/>
              </a:rPr>
              <a:t>B)</a:t>
            </a:r>
            <a:endParaRPr lang="en-US" altLang="zh-CN" sz="20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 dirty="0">
                <a:solidFill>
                  <a:srgbClr val="333300"/>
                </a:solidFill>
                <a:latin typeface="Helvetica" panose="020B0604020202020204" pitchFamily="34" charset="0"/>
              </a:rPr>
              <a:t>read(B)</a:t>
            </a:r>
            <a:endParaRPr lang="en-US" altLang="zh-CN" sz="20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 dirty="0">
                <a:solidFill>
                  <a:srgbClr val="333300"/>
                </a:solidFill>
                <a:latin typeface="Helvetica" panose="020B0604020202020204" pitchFamily="34" charset="0"/>
              </a:rPr>
              <a:t>B=B-50</a:t>
            </a:r>
            <a:endParaRPr lang="en-US" altLang="zh-CN" sz="20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 dirty="0">
                <a:solidFill>
                  <a:srgbClr val="333300"/>
                </a:solidFill>
                <a:latin typeface="Helvetica" panose="020B0604020202020204" pitchFamily="34" charset="0"/>
              </a:rPr>
              <a:t>Write(B)</a:t>
            </a:r>
            <a:endParaRPr lang="en-US" altLang="zh-CN" sz="20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endParaRPr lang="zh-CN" altLang="en-US" sz="2000" dirty="0"/>
          </a:p>
        </p:txBody>
      </p:sp>
      <p:sp>
        <p:nvSpPr>
          <p:cNvPr id="19" name="文本框 18"/>
          <p:cNvSpPr txBox="1"/>
          <p:nvPr/>
        </p:nvSpPr>
        <p:spPr>
          <a:xfrm>
            <a:off x="6557546" y="3328491"/>
            <a:ext cx="14019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 dirty="0">
                <a:solidFill>
                  <a:srgbClr val="0000FF"/>
                </a:solidFill>
                <a:latin typeface="Helvetica" panose="020B0604020202020204" pitchFamily="34" charset="0"/>
              </a:rPr>
              <a:t>lock-S</a:t>
            </a:r>
            <a:r>
              <a:rPr lang="en-US" altLang="zh-CN" sz="2000" dirty="0">
                <a:solidFill>
                  <a:srgbClr val="333300"/>
                </a:solidFill>
                <a:latin typeface="Helvetica" panose="020B0604020202020204" pitchFamily="34" charset="0"/>
              </a:rPr>
              <a:t>(A)</a:t>
            </a:r>
            <a:r>
              <a:rPr lang="en-US" altLang="zh-CN" sz="2000" i="0" dirty="0">
                <a:solidFill>
                  <a:srgbClr val="333300"/>
                </a:solidFill>
                <a:latin typeface="Helvetica" panose="020B0604020202020204" pitchFamily="34" charset="0"/>
              </a:rPr>
              <a:t>;</a:t>
            </a:r>
            <a:endParaRPr lang="en-US" altLang="zh-CN" sz="20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 dirty="0">
                <a:solidFill>
                  <a:srgbClr val="333300"/>
                </a:solidFill>
                <a:latin typeface="Helvetica" panose="020B0604020202020204" pitchFamily="34" charset="0"/>
              </a:rPr>
              <a:t>read </a:t>
            </a:r>
            <a:r>
              <a:rPr lang="en-US" altLang="zh-CN" sz="2000" dirty="0">
                <a:solidFill>
                  <a:srgbClr val="333300"/>
                </a:solidFill>
                <a:latin typeface="Helvetica" panose="020B0604020202020204" pitchFamily="34" charset="0"/>
              </a:rPr>
              <a:t>(A)</a:t>
            </a:r>
            <a:r>
              <a:rPr lang="en-US" altLang="zh-CN" sz="2000" i="0" dirty="0">
                <a:solidFill>
                  <a:srgbClr val="333300"/>
                </a:solidFill>
                <a:latin typeface="Helvetica" panose="020B0604020202020204" pitchFamily="34" charset="0"/>
              </a:rPr>
              <a:t>;</a:t>
            </a:r>
            <a:endParaRPr lang="en-US" altLang="zh-CN" sz="2000" i="0" dirty="0">
              <a:solidFill>
                <a:srgbClr val="333300"/>
              </a:solidFill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 dirty="0">
                <a:solidFill>
                  <a:srgbClr val="0000FF"/>
                </a:solidFill>
                <a:latin typeface="Helvetica" panose="020B0604020202020204" pitchFamily="34" charset="0"/>
              </a:rPr>
              <a:t>lock-S</a:t>
            </a:r>
            <a:r>
              <a:rPr lang="en-US" altLang="zh-CN" sz="2000" dirty="0">
                <a:solidFill>
                  <a:srgbClr val="333300"/>
                </a:solidFill>
                <a:latin typeface="Helvetica" panose="020B0604020202020204" pitchFamily="34" charset="0"/>
              </a:rPr>
              <a:t>(B)</a:t>
            </a:r>
            <a:r>
              <a:rPr lang="en-US" altLang="zh-CN" sz="2000" i="0" dirty="0">
                <a:solidFill>
                  <a:srgbClr val="333300"/>
                </a:solidFill>
                <a:latin typeface="Helvetica" panose="020B0604020202020204" pitchFamily="34" charset="0"/>
              </a:rPr>
              <a:t>;</a:t>
            </a:r>
            <a:endParaRPr lang="en-US" altLang="zh-CN" sz="2000" i="0" dirty="0">
              <a:solidFill>
                <a:srgbClr val="333300"/>
              </a:solidFill>
              <a:latin typeface="Helvetica" panose="020B060402020202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844392" y="4164525"/>
            <a:ext cx="156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i="0" dirty="0">
                <a:solidFill>
                  <a:srgbClr val="333300"/>
                </a:solidFill>
                <a:latin typeface="Helvetica" panose="020B0604020202020204" pitchFamily="34" charset="0"/>
              </a:rPr>
              <a:t> lock-</a:t>
            </a:r>
            <a:r>
              <a:rPr lang="en-US" altLang="zh-CN" sz="2000" i="0" dirty="0">
                <a:solidFill>
                  <a:srgbClr val="0000FF"/>
                </a:solidFill>
                <a:latin typeface="Helvetica" panose="020B0604020202020204" pitchFamily="34" charset="0"/>
              </a:rPr>
              <a:t>X</a:t>
            </a:r>
            <a:r>
              <a:rPr lang="en-US" altLang="zh-CN" sz="2000" i="0" dirty="0">
                <a:solidFill>
                  <a:srgbClr val="333300"/>
                </a:solidFill>
                <a:latin typeface="Helvetica" panose="020B0604020202020204" pitchFamily="34" charset="0"/>
              </a:rPr>
              <a:t>(A)</a:t>
            </a:r>
            <a:endParaRPr lang="zh-CN" altLang="en-US" sz="2000" dirty="0"/>
          </a:p>
        </p:txBody>
      </p:sp>
      <p:sp>
        <p:nvSpPr>
          <p:cNvPr id="22" name="文本框 21"/>
          <p:cNvSpPr txBox="1"/>
          <p:nvPr/>
        </p:nvSpPr>
        <p:spPr>
          <a:xfrm>
            <a:off x="7927499" y="3882489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等待</a:t>
            </a:r>
            <a:r>
              <a:rPr lang="en-US" altLang="zh-CN" sz="2000" dirty="0">
                <a:solidFill>
                  <a:srgbClr val="FF0000"/>
                </a:solidFill>
              </a:rPr>
              <a:t>…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555470" y="4489103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等待</a:t>
            </a:r>
            <a:r>
              <a:rPr lang="en-US" altLang="zh-CN" sz="2000" dirty="0">
                <a:solidFill>
                  <a:srgbClr val="FF0000"/>
                </a:solidFill>
              </a:rPr>
              <a:t>…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630227" y="4941168"/>
            <a:ext cx="1473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进入死锁</a:t>
            </a:r>
            <a:r>
              <a:rPr lang="en-US" altLang="zh-CN" sz="2000" b="1" dirty="0">
                <a:solidFill>
                  <a:srgbClr val="FF0000"/>
                </a:solidFill>
              </a:rPr>
              <a:t>…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  <p:bldP spid="21" grpId="0"/>
      <p:bldP spid="22" grpId="0"/>
      <p:bldP spid="23" grpId="0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14.1 </a:t>
            </a:r>
            <a:r>
              <a:rPr lang="zh-CN" altLang="en-US" dirty="0"/>
              <a:t>基于锁的协议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DB72C-064B-46AF-9B22-AEA176BA3C7F}" type="datetime1">
              <a:rPr lang="zh-CN" altLang="en-US" smtClean="0"/>
            </a:fld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09600" y="1447800"/>
            <a:ext cx="8105774" cy="4684713"/>
          </a:xfrm>
        </p:spPr>
        <p:txBody>
          <a:bodyPr/>
          <a:lstStyle/>
          <a:p>
            <a:pPr eaLnBrk="1" hangingPunct="1"/>
            <a:r>
              <a:rPr lang="zh-CN" altLang="en-US" sz="2400" b="1" dirty="0"/>
              <a:t>锁的授予</a:t>
            </a:r>
            <a:endParaRPr lang="en-US" altLang="zh-CN" b="1" dirty="0"/>
          </a:p>
          <a:p>
            <a:pPr lvl="1"/>
            <a:r>
              <a:rPr lang="zh-CN" altLang="en-US" sz="2000" b="1" dirty="0"/>
              <a:t>当事务</a:t>
            </a:r>
            <a:r>
              <a:rPr lang="zh-CN" altLang="en-US" sz="2000" b="1" dirty="0">
                <a:solidFill>
                  <a:srgbClr val="FF0000"/>
                </a:solidFill>
              </a:rPr>
              <a:t>申请</a:t>
            </a:r>
            <a:r>
              <a:rPr lang="zh-CN" altLang="en-US" sz="2000" b="1" dirty="0"/>
              <a:t>对某个数据项</a:t>
            </a:r>
            <a:r>
              <a:rPr lang="zh-CN" altLang="en-US" sz="2000" b="1" dirty="0">
                <a:solidFill>
                  <a:srgbClr val="FF0000"/>
                </a:solidFill>
              </a:rPr>
              <a:t>加某一类型锁</a:t>
            </a:r>
            <a:r>
              <a:rPr lang="zh-CN" altLang="en-US" sz="2000" b="1" dirty="0"/>
              <a:t>，且</a:t>
            </a:r>
            <a:r>
              <a:rPr lang="zh-CN" altLang="en-US" sz="2000" b="1" dirty="0">
                <a:solidFill>
                  <a:srgbClr val="0000FF"/>
                </a:solidFill>
              </a:rPr>
              <a:t>没有</a:t>
            </a:r>
            <a:r>
              <a:rPr lang="zh-CN" altLang="en-US" sz="2000" b="1" dirty="0"/>
              <a:t>其他事务在该数据项上加了与此类型</a:t>
            </a:r>
            <a:r>
              <a:rPr lang="zh-CN" altLang="en-US" sz="2000" b="1" dirty="0">
                <a:solidFill>
                  <a:srgbClr val="0000FF"/>
                </a:solidFill>
              </a:rPr>
              <a:t>相冲突的锁</a:t>
            </a:r>
            <a:r>
              <a:rPr lang="zh-CN" altLang="en-US" sz="2000" b="1" dirty="0"/>
              <a:t>，则可以</a:t>
            </a:r>
            <a:r>
              <a:rPr lang="zh-CN" altLang="en-US" sz="2000" b="1" dirty="0">
                <a:solidFill>
                  <a:srgbClr val="0000FF"/>
                </a:solidFill>
              </a:rPr>
              <a:t>授予锁</a:t>
            </a:r>
            <a:r>
              <a:rPr lang="zh-CN" altLang="en-US" sz="2000" b="1" dirty="0"/>
              <a:t>。</a:t>
            </a:r>
            <a:endParaRPr lang="en-US" altLang="zh-CN" sz="2000" b="1" dirty="0"/>
          </a:p>
          <a:p>
            <a:pPr lvl="1"/>
            <a:r>
              <a:rPr lang="zh-CN" altLang="en-US" sz="2000" b="1" dirty="0"/>
              <a:t>要注意下述情形的发生：</a:t>
            </a:r>
            <a:endParaRPr lang="en-US" altLang="zh-CN" sz="20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1259632" y="3035415"/>
            <a:ext cx="712879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如果事务</a:t>
            </a:r>
            <a:r>
              <a:rPr lang="en-US" altLang="zh-CN" sz="2000" dirty="0"/>
              <a:t>T1</a:t>
            </a:r>
            <a:r>
              <a:rPr lang="zh-CN" altLang="en-US" sz="2000" dirty="0"/>
              <a:t>封锁了数据</a:t>
            </a:r>
            <a:r>
              <a:rPr lang="en-US" altLang="zh-CN" sz="2000" dirty="0"/>
              <a:t>R</a:t>
            </a:r>
            <a:r>
              <a:rPr lang="zh-CN" altLang="en-US" sz="2000" dirty="0"/>
              <a:t>，事务</a:t>
            </a:r>
            <a:r>
              <a:rPr lang="en-US" altLang="zh-CN" sz="2000" dirty="0"/>
              <a:t>T2</a:t>
            </a:r>
            <a:r>
              <a:rPr lang="zh-CN" altLang="en-US" sz="2000" dirty="0"/>
              <a:t>又请求封锁</a:t>
            </a:r>
            <a:r>
              <a:rPr lang="en-US" altLang="zh-CN" sz="2000" dirty="0"/>
              <a:t>R</a:t>
            </a:r>
            <a:r>
              <a:rPr lang="zh-CN" altLang="en-US" sz="2000" dirty="0"/>
              <a:t>，于是</a:t>
            </a:r>
            <a:r>
              <a:rPr lang="en-US" altLang="zh-CN" sz="2000" dirty="0">
                <a:solidFill>
                  <a:schemeClr val="tx2"/>
                </a:solidFill>
              </a:rPr>
              <a:t>T2</a:t>
            </a:r>
            <a:r>
              <a:rPr lang="zh-CN" altLang="en-US" sz="2000" dirty="0">
                <a:solidFill>
                  <a:schemeClr val="tx2"/>
                </a:solidFill>
              </a:rPr>
              <a:t>等待</a:t>
            </a:r>
            <a:r>
              <a:rPr lang="zh-CN" altLang="en-US" sz="2000" dirty="0"/>
              <a:t>。</a:t>
            </a:r>
            <a:r>
              <a:rPr lang="en-US" altLang="zh-CN" sz="2000" dirty="0"/>
              <a:t>T3</a:t>
            </a:r>
            <a:r>
              <a:rPr lang="zh-CN" altLang="en-US" sz="2000" dirty="0"/>
              <a:t>也请求封锁</a:t>
            </a:r>
            <a:r>
              <a:rPr lang="en-US" altLang="zh-CN" sz="2000" dirty="0"/>
              <a:t>R</a:t>
            </a:r>
            <a:r>
              <a:rPr lang="zh-CN" altLang="en-US" sz="2000" dirty="0"/>
              <a:t>，当</a:t>
            </a:r>
            <a:r>
              <a:rPr lang="en-US" altLang="zh-CN" sz="2000" dirty="0"/>
              <a:t>T1</a:t>
            </a:r>
            <a:r>
              <a:rPr lang="zh-CN" altLang="en-US" sz="2000" dirty="0"/>
              <a:t>释放了</a:t>
            </a:r>
            <a:r>
              <a:rPr lang="en-US" altLang="zh-CN" sz="2000" dirty="0"/>
              <a:t>R</a:t>
            </a:r>
            <a:r>
              <a:rPr lang="zh-CN" altLang="en-US" sz="2000" dirty="0"/>
              <a:t>上的封锁之后系统</a:t>
            </a:r>
            <a:r>
              <a:rPr lang="zh-CN" altLang="en-US" sz="2000" dirty="0">
                <a:solidFill>
                  <a:schemeClr val="tx2"/>
                </a:solidFill>
              </a:rPr>
              <a:t>首先批准了</a:t>
            </a:r>
            <a:r>
              <a:rPr lang="en-US" altLang="zh-CN" sz="2000" dirty="0">
                <a:solidFill>
                  <a:schemeClr val="tx2"/>
                </a:solidFill>
              </a:rPr>
              <a:t>T3</a:t>
            </a:r>
            <a:r>
              <a:rPr lang="zh-CN" altLang="en-US" sz="2000" dirty="0"/>
              <a:t>的请求，</a:t>
            </a:r>
            <a:r>
              <a:rPr lang="en-US" altLang="zh-CN" sz="2000" dirty="0"/>
              <a:t>T2</a:t>
            </a:r>
            <a:r>
              <a:rPr lang="zh-CN" altLang="en-US" sz="2000" dirty="0"/>
              <a:t>仍然等待。然后</a:t>
            </a:r>
            <a:r>
              <a:rPr lang="en-US" altLang="zh-CN" sz="2000" dirty="0"/>
              <a:t>T4</a:t>
            </a:r>
            <a:r>
              <a:rPr lang="zh-CN" altLang="en-US" sz="2000" dirty="0"/>
              <a:t>又请求封锁</a:t>
            </a:r>
            <a:r>
              <a:rPr lang="en-US" altLang="zh-CN" sz="2000" dirty="0"/>
              <a:t>R</a:t>
            </a:r>
            <a:r>
              <a:rPr lang="zh-CN" altLang="en-US" sz="2000" dirty="0"/>
              <a:t>，当</a:t>
            </a:r>
            <a:r>
              <a:rPr lang="en-US" altLang="zh-CN" sz="2000" dirty="0"/>
              <a:t>T3</a:t>
            </a:r>
            <a:r>
              <a:rPr lang="zh-CN" altLang="en-US" sz="2000" dirty="0"/>
              <a:t>释放了</a:t>
            </a:r>
            <a:r>
              <a:rPr lang="en-US" altLang="zh-CN" sz="2000" dirty="0"/>
              <a:t>R</a:t>
            </a:r>
            <a:r>
              <a:rPr lang="zh-CN" altLang="en-US" sz="2000" dirty="0"/>
              <a:t>上的封锁之后系统又批准了</a:t>
            </a:r>
            <a:r>
              <a:rPr lang="en-US" altLang="zh-CN" sz="2000" dirty="0"/>
              <a:t>T4</a:t>
            </a:r>
            <a:r>
              <a:rPr lang="zh-CN" altLang="en-US" sz="2000" dirty="0"/>
              <a:t>的请求，</a:t>
            </a:r>
            <a:r>
              <a:rPr lang="en-US" altLang="zh-CN" sz="2000" dirty="0"/>
              <a:t>...</a:t>
            </a:r>
            <a:r>
              <a:rPr lang="zh-CN" altLang="en-US" sz="2000" dirty="0"/>
              <a:t>，</a:t>
            </a:r>
            <a:r>
              <a:rPr lang="en-US" altLang="zh-CN" sz="2000" dirty="0"/>
              <a:t>T2</a:t>
            </a:r>
            <a:r>
              <a:rPr lang="zh-CN" altLang="en-US" sz="2000" dirty="0"/>
              <a:t>有</a:t>
            </a:r>
            <a:r>
              <a:rPr lang="zh-CN" altLang="en-US" sz="2000" dirty="0">
                <a:solidFill>
                  <a:srgbClr val="C00000"/>
                </a:solidFill>
              </a:rPr>
              <a:t>可能永远等待</a:t>
            </a:r>
            <a:r>
              <a:rPr lang="zh-CN" altLang="en-US" sz="2000" dirty="0"/>
              <a:t>，这称为</a:t>
            </a:r>
            <a:r>
              <a:rPr lang="zh-CN" altLang="en-US" sz="2000" b="1" dirty="0">
                <a:solidFill>
                  <a:srgbClr val="0000FF"/>
                </a:solidFill>
              </a:rPr>
              <a:t>饿死</a:t>
            </a:r>
            <a:r>
              <a:rPr lang="zh-CN" altLang="en-US" sz="2000" dirty="0"/>
              <a:t>，也即</a:t>
            </a:r>
            <a:r>
              <a:rPr lang="zh-CN" altLang="en-US" sz="2000" b="1" dirty="0">
                <a:solidFill>
                  <a:srgbClr val="FF0000"/>
                </a:solidFill>
              </a:rPr>
              <a:t>活锁</a:t>
            </a:r>
            <a:r>
              <a:rPr lang="zh-CN" altLang="en-US" sz="2000" dirty="0"/>
              <a:t>的。 </a:t>
            </a:r>
            <a:endParaRPr lang="zh-CN" altLang="en-US" sz="200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14.1 </a:t>
            </a:r>
            <a:r>
              <a:rPr lang="zh-CN" altLang="en-US" dirty="0"/>
              <a:t>基于锁的协议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12C93-B57E-4DB8-A174-BFFBC7E73D54}" type="datetime1">
              <a:rPr lang="zh-CN" altLang="en-US" smtClean="0"/>
            </a:fld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09600" y="1447800"/>
            <a:ext cx="8105774" cy="4684713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锁的授予</a:t>
            </a:r>
            <a:endParaRPr lang="en-US" altLang="zh-CN" dirty="0"/>
          </a:p>
          <a:p>
            <a:pPr lvl="1"/>
            <a:r>
              <a:rPr lang="zh-CN" altLang="en-US" sz="2000" dirty="0"/>
              <a:t>当事务申请对某个数据项加某一类型锁，且</a:t>
            </a:r>
            <a:r>
              <a:rPr lang="zh-CN" altLang="en-US" sz="2000" dirty="0">
                <a:solidFill>
                  <a:srgbClr val="0000FF"/>
                </a:solidFill>
              </a:rPr>
              <a:t>没有</a:t>
            </a:r>
            <a:r>
              <a:rPr lang="zh-CN" altLang="en-US" sz="2000" dirty="0"/>
              <a:t>其他事务在该数据项上加了与此类型</a:t>
            </a:r>
            <a:r>
              <a:rPr lang="zh-CN" altLang="en-US" sz="2000" dirty="0">
                <a:solidFill>
                  <a:srgbClr val="0000FF"/>
                </a:solidFill>
              </a:rPr>
              <a:t>相冲突的锁</a:t>
            </a:r>
            <a:r>
              <a:rPr lang="zh-CN" altLang="en-US" sz="2000" dirty="0"/>
              <a:t>，则可以</a:t>
            </a:r>
            <a:r>
              <a:rPr lang="zh-CN" altLang="en-US" sz="2000" dirty="0">
                <a:solidFill>
                  <a:srgbClr val="0000FF"/>
                </a:solidFill>
              </a:rPr>
              <a:t>授予锁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lvl="1"/>
            <a:r>
              <a:rPr lang="zh-CN" altLang="en-US" sz="2000" dirty="0"/>
              <a:t>要注意下述情形的发生：</a:t>
            </a:r>
            <a:endParaRPr lang="en-US" altLang="zh-CN" sz="2000" dirty="0"/>
          </a:p>
        </p:txBody>
      </p:sp>
      <p:sp>
        <p:nvSpPr>
          <p:cNvPr id="11" name="文本框 10"/>
          <p:cNvSpPr txBox="1"/>
          <p:nvPr/>
        </p:nvSpPr>
        <p:spPr>
          <a:xfrm>
            <a:off x="1259632" y="3035415"/>
            <a:ext cx="712879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如果事务</a:t>
            </a:r>
            <a:r>
              <a:rPr lang="en-US" altLang="zh-CN" sz="2000" dirty="0"/>
              <a:t>T1</a:t>
            </a:r>
            <a:r>
              <a:rPr lang="zh-CN" altLang="en-US" sz="2000" dirty="0"/>
              <a:t>封锁了数据</a:t>
            </a:r>
            <a:r>
              <a:rPr lang="en-US" altLang="zh-CN" sz="2000" dirty="0"/>
              <a:t>R</a:t>
            </a:r>
            <a:r>
              <a:rPr lang="zh-CN" altLang="en-US" sz="2000" dirty="0"/>
              <a:t>，事务</a:t>
            </a:r>
            <a:r>
              <a:rPr lang="en-US" altLang="zh-CN" sz="2000" dirty="0"/>
              <a:t>T2</a:t>
            </a:r>
            <a:r>
              <a:rPr lang="zh-CN" altLang="en-US" sz="2000" dirty="0"/>
              <a:t>又请求封锁</a:t>
            </a:r>
            <a:r>
              <a:rPr lang="en-US" altLang="zh-CN" sz="2000" dirty="0"/>
              <a:t>R</a:t>
            </a:r>
            <a:r>
              <a:rPr lang="zh-CN" altLang="en-US" sz="2000" dirty="0"/>
              <a:t>，于是</a:t>
            </a:r>
            <a:r>
              <a:rPr lang="en-US" altLang="zh-CN" sz="2000" dirty="0">
                <a:solidFill>
                  <a:schemeClr val="tx2"/>
                </a:solidFill>
              </a:rPr>
              <a:t>T2</a:t>
            </a:r>
            <a:r>
              <a:rPr lang="zh-CN" altLang="en-US" sz="2000" dirty="0">
                <a:solidFill>
                  <a:schemeClr val="tx2"/>
                </a:solidFill>
              </a:rPr>
              <a:t>等待</a:t>
            </a:r>
            <a:r>
              <a:rPr lang="zh-CN" altLang="en-US" sz="2000" dirty="0"/>
              <a:t>。</a:t>
            </a:r>
            <a:r>
              <a:rPr lang="en-US" altLang="zh-CN" sz="2000" dirty="0"/>
              <a:t>T3</a:t>
            </a:r>
            <a:r>
              <a:rPr lang="zh-CN" altLang="en-US" sz="2000" dirty="0"/>
              <a:t>也请求封锁</a:t>
            </a:r>
            <a:r>
              <a:rPr lang="en-US" altLang="zh-CN" sz="2000" dirty="0"/>
              <a:t>R</a:t>
            </a:r>
            <a:r>
              <a:rPr lang="zh-CN" altLang="en-US" sz="2000" dirty="0"/>
              <a:t>，当</a:t>
            </a:r>
            <a:r>
              <a:rPr lang="en-US" altLang="zh-CN" sz="2000" dirty="0"/>
              <a:t>T1</a:t>
            </a:r>
            <a:r>
              <a:rPr lang="zh-CN" altLang="en-US" sz="2000" dirty="0"/>
              <a:t>释放了</a:t>
            </a:r>
            <a:r>
              <a:rPr lang="en-US" altLang="zh-CN" sz="2000" dirty="0"/>
              <a:t>R</a:t>
            </a:r>
            <a:r>
              <a:rPr lang="zh-CN" altLang="en-US" sz="2000" dirty="0"/>
              <a:t>上的封锁之后系统</a:t>
            </a:r>
            <a:r>
              <a:rPr lang="zh-CN" altLang="en-US" sz="2000" dirty="0">
                <a:solidFill>
                  <a:schemeClr val="tx2"/>
                </a:solidFill>
              </a:rPr>
              <a:t>首先批准了</a:t>
            </a:r>
            <a:r>
              <a:rPr lang="en-US" altLang="zh-CN" sz="2000" dirty="0">
                <a:solidFill>
                  <a:schemeClr val="tx2"/>
                </a:solidFill>
              </a:rPr>
              <a:t>T3</a:t>
            </a:r>
            <a:r>
              <a:rPr lang="zh-CN" altLang="en-US" sz="2000" dirty="0"/>
              <a:t>的请求，</a:t>
            </a:r>
            <a:r>
              <a:rPr lang="en-US" altLang="zh-CN" sz="2000" dirty="0"/>
              <a:t>T2</a:t>
            </a:r>
            <a:r>
              <a:rPr lang="zh-CN" altLang="en-US" sz="2000" dirty="0"/>
              <a:t>仍然等待。然后</a:t>
            </a:r>
            <a:r>
              <a:rPr lang="en-US" altLang="zh-CN" sz="2000" dirty="0"/>
              <a:t>T4</a:t>
            </a:r>
            <a:r>
              <a:rPr lang="zh-CN" altLang="en-US" sz="2000" dirty="0"/>
              <a:t>又请求封锁</a:t>
            </a:r>
            <a:r>
              <a:rPr lang="en-US" altLang="zh-CN" sz="2000" dirty="0"/>
              <a:t>R</a:t>
            </a:r>
            <a:r>
              <a:rPr lang="zh-CN" altLang="en-US" sz="2000" dirty="0"/>
              <a:t>，当</a:t>
            </a:r>
            <a:r>
              <a:rPr lang="en-US" altLang="zh-CN" sz="2000" dirty="0"/>
              <a:t>T3</a:t>
            </a:r>
            <a:r>
              <a:rPr lang="zh-CN" altLang="en-US" sz="2000" dirty="0"/>
              <a:t>释放了</a:t>
            </a:r>
            <a:r>
              <a:rPr lang="en-US" altLang="zh-CN" sz="2000" dirty="0"/>
              <a:t>R</a:t>
            </a:r>
            <a:r>
              <a:rPr lang="zh-CN" altLang="en-US" sz="2000" dirty="0"/>
              <a:t>上的封锁之后系统又批准了</a:t>
            </a:r>
            <a:r>
              <a:rPr lang="en-US" altLang="zh-CN" sz="2000" dirty="0"/>
              <a:t>T4</a:t>
            </a:r>
            <a:r>
              <a:rPr lang="zh-CN" altLang="en-US" sz="2000" dirty="0"/>
              <a:t>的请求，</a:t>
            </a:r>
            <a:r>
              <a:rPr lang="en-US" altLang="zh-CN" sz="2000" dirty="0"/>
              <a:t>...</a:t>
            </a:r>
            <a:r>
              <a:rPr lang="zh-CN" altLang="en-US" sz="2000" dirty="0"/>
              <a:t>，</a:t>
            </a:r>
            <a:r>
              <a:rPr lang="en-US" altLang="zh-CN" sz="2000" dirty="0"/>
              <a:t>T2</a:t>
            </a:r>
            <a:r>
              <a:rPr lang="zh-CN" altLang="en-US" sz="2000" dirty="0"/>
              <a:t>有</a:t>
            </a:r>
            <a:r>
              <a:rPr lang="zh-CN" altLang="en-US" sz="2000" dirty="0">
                <a:solidFill>
                  <a:srgbClr val="C00000"/>
                </a:solidFill>
              </a:rPr>
              <a:t>可能永远等待</a:t>
            </a:r>
            <a:r>
              <a:rPr lang="zh-CN" altLang="en-US" sz="2000" dirty="0"/>
              <a:t>，这称为饿死，也即</a:t>
            </a:r>
            <a:r>
              <a:rPr lang="zh-CN" altLang="en-US" sz="2000" b="1" dirty="0">
                <a:solidFill>
                  <a:schemeClr val="tx2"/>
                </a:solidFill>
              </a:rPr>
              <a:t>活锁</a:t>
            </a:r>
            <a:r>
              <a:rPr lang="zh-CN" altLang="en-US" sz="2000" dirty="0"/>
              <a:t>的。 </a:t>
            </a:r>
            <a:endParaRPr lang="zh-CN" altLang="en-US" sz="20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解决办法：</a:t>
            </a:r>
            <a:r>
              <a:rPr lang="zh-CN" altLang="en-US" sz="2000" dirty="0">
                <a:solidFill>
                  <a:srgbClr val="FF0303"/>
                </a:solidFill>
              </a:rPr>
              <a:t>先来先服务</a:t>
            </a:r>
            <a:endParaRPr lang="zh-CN" altLang="en-US" sz="20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043608" y="1340768"/>
          <a:ext cx="7550151" cy="5035554"/>
        </p:xfrm>
        <a:graphic>
          <a:graphicData uri="http://schemas.openxmlformats.org/drawingml/2006/table">
            <a:tbl>
              <a:tblPr>
                <a:effectLst/>
                <a:tableStyleId>{5C22544A-7EE6-4342-B048-85BDC9FD1C3A}</a:tableStyleId>
              </a:tblPr>
              <a:tblGrid>
                <a:gridCol w="1554607"/>
                <a:gridCol w="1997586"/>
                <a:gridCol w="1998979"/>
                <a:gridCol w="1998979"/>
              </a:tblGrid>
              <a:tr h="3359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 b="1" kern="100" dirty="0">
                          <a:effectLst/>
                        </a:rPr>
                        <a:t>T</a:t>
                      </a:r>
                      <a:r>
                        <a:rPr lang="en-US" sz="2200" b="1" kern="100" baseline="-25000" dirty="0">
                          <a:effectLst/>
                        </a:rPr>
                        <a:t>1</a:t>
                      </a: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 b="1" kern="100" dirty="0">
                          <a:effectLst/>
                        </a:rPr>
                        <a:t>T</a:t>
                      </a:r>
                      <a:r>
                        <a:rPr lang="en-US" sz="2200" b="1" kern="100" baseline="-25000" dirty="0">
                          <a:effectLst/>
                        </a:rPr>
                        <a:t>2</a:t>
                      </a: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 b="1" kern="100">
                          <a:effectLst/>
                        </a:rPr>
                        <a:t>T</a:t>
                      </a:r>
                      <a:r>
                        <a:rPr lang="en-US" sz="2200" b="1" kern="100" baseline="-25000">
                          <a:effectLst/>
                        </a:rPr>
                        <a:t>3</a:t>
                      </a:r>
                      <a:endParaRPr lang="zh-CN" sz="2200" b="1" kern="10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 b="1" kern="100">
                          <a:effectLst/>
                        </a:rPr>
                        <a:t>T</a:t>
                      </a:r>
                      <a:r>
                        <a:rPr lang="en-US" sz="2200" b="1" kern="100" baseline="-25000">
                          <a:effectLst/>
                        </a:rPr>
                        <a:t>4</a:t>
                      </a:r>
                      <a:endParaRPr lang="zh-CN" sz="2200" b="1" kern="10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CFFCC"/>
                    </a:solidFill>
                  </a:tcPr>
                </a:tc>
              </a:tr>
              <a:tr h="100583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 b="1" kern="100" dirty="0">
                          <a:effectLst/>
                        </a:rPr>
                        <a:t>Lock R</a:t>
                      </a: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200" b="1" kern="100" dirty="0">
                          <a:effectLst/>
                        </a:rPr>
                        <a:t>•</a:t>
                      </a:r>
                      <a:endParaRPr lang="en-US" altLang="zh-CN" sz="2200" b="1" kern="100" dirty="0">
                        <a:effectLst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2200" b="1" kern="100" dirty="0">
                          <a:effectLst/>
                        </a:rPr>
                        <a:t>•</a:t>
                      </a:r>
                      <a:endParaRPr lang="en-US" altLang="zh-CN" sz="2200" b="1" kern="100" dirty="0">
                        <a:effectLst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2200" b="1" kern="100" dirty="0">
                          <a:effectLst/>
                        </a:rPr>
                        <a:t>•</a:t>
                      </a: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200" b="1" kern="100" dirty="0">
                          <a:effectLst/>
                        </a:rPr>
                        <a:t>•</a:t>
                      </a:r>
                      <a:endParaRPr lang="en-US" altLang="zh-CN" sz="2200" b="1" kern="100" dirty="0">
                        <a:effectLst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2200" b="1" kern="100" dirty="0">
                          <a:effectLst/>
                        </a:rPr>
                        <a:t>•</a:t>
                      </a:r>
                      <a:endParaRPr lang="en-US" altLang="zh-CN" sz="2200" b="1" kern="100" dirty="0">
                        <a:effectLst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2200" b="1" kern="100" dirty="0">
                          <a:effectLst/>
                        </a:rPr>
                        <a:t>•</a:t>
                      </a: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2200" b="1" kern="100" dirty="0">
                          <a:effectLst/>
                        </a:rPr>
                        <a:t>•</a:t>
                      </a:r>
                      <a:endParaRPr lang="zh-CN" alt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2200" b="1" kern="100" dirty="0">
                          <a:effectLst/>
                        </a:rPr>
                        <a:t>•</a:t>
                      </a:r>
                      <a:endParaRPr lang="zh-CN" alt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200" b="1" kern="100" dirty="0">
                          <a:effectLst/>
                        </a:rPr>
                        <a:t>•</a:t>
                      </a: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</a:tr>
              <a:tr h="3359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200" b="1" kern="100" dirty="0">
                          <a:effectLst/>
                        </a:rPr>
                        <a:t>•</a:t>
                      </a: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 b="1" kern="100" dirty="0">
                          <a:effectLst/>
                        </a:rPr>
                        <a:t>Lock R</a:t>
                      </a: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</a:tr>
              <a:tr h="3359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200" b="1" kern="100" dirty="0">
                          <a:effectLst/>
                        </a:rPr>
                        <a:t>•</a:t>
                      </a: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200" b="1" kern="100">
                          <a:effectLst/>
                        </a:rPr>
                        <a:t>等待</a:t>
                      </a: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 b="1" kern="100" dirty="0">
                          <a:effectLst/>
                        </a:rPr>
                        <a:t>Lock R</a:t>
                      </a: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</a:tr>
              <a:tr h="33598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2200" b="1" kern="100" dirty="0">
                          <a:effectLst/>
                        </a:rPr>
                        <a:t>•</a:t>
                      </a: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200" b="1" kern="100" dirty="0">
                          <a:effectLst/>
                        </a:rPr>
                        <a:t>等待</a:t>
                      </a: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200" b="1" kern="100" dirty="0">
                          <a:effectLst/>
                        </a:rPr>
                        <a:t>•</a:t>
                      </a: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 b="1" kern="100" dirty="0">
                          <a:effectLst/>
                        </a:rPr>
                        <a:t>Lock R</a:t>
                      </a: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</a:tr>
              <a:tr h="3359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 b="1" kern="100" dirty="0">
                          <a:effectLst/>
                        </a:rPr>
                        <a:t>Unlock R</a:t>
                      </a: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200" b="1" kern="100" dirty="0">
                          <a:effectLst/>
                        </a:rPr>
                        <a:t>等待</a:t>
                      </a: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200" b="1" kern="100" dirty="0">
                          <a:effectLst/>
                        </a:rPr>
                        <a:t>•</a:t>
                      </a: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200" b="1" kern="100" dirty="0">
                          <a:effectLst/>
                        </a:rPr>
                        <a:t>等待</a:t>
                      </a: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</a:tr>
              <a:tr h="3359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200" b="1" kern="100" dirty="0">
                          <a:effectLst/>
                        </a:rPr>
                        <a:t>等待</a:t>
                      </a: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 b="1" kern="100" dirty="0">
                          <a:effectLst/>
                        </a:rPr>
                        <a:t>Lock R</a:t>
                      </a: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200" b="1" kern="100" dirty="0">
                          <a:effectLst/>
                        </a:rPr>
                        <a:t>等待</a:t>
                      </a: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</a:tr>
              <a:tr h="3359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200" b="1" kern="100" dirty="0">
                          <a:effectLst/>
                        </a:rPr>
                        <a:t>•</a:t>
                      </a: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200" b="1" kern="100" dirty="0">
                          <a:effectLst/>
                        </a:rPr>
                        <a:t>等待</a:t>
                      </a: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200" b="1" kern="100">
                          <a:effectLst/>
                        </a:rPr>
                        <a:t>•</a:t>
                      </a:r>
                      <a:endParaRPr lang="zh-CN" sz="2200" b="1" kern="10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200" b="1" kern="100" dirty="0">
                          <a:effectLst/>
                        </a:rPr>
                        <a:t>等待</a:t>
                      </a: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</a:tr>
              <a:tr h="3359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200" b="1" kern="100" dirty="0">
                          <a:effectLst/>
                        </a:rPr>
                        <a:t>•</a:t>
                      </a: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200" b="1" kern="100" dirty="0">
                          <a:effectLst/>
                        </a:rPr>
                        <a:t>等待</a:t>
                      </a: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 b="1" kern="100">
                          <a:effectLst/>
                        </a:rPr>
                        <a:t>Unlock</a:t>
                      </a:r>
                      <a:endParaRPr lang="zh-CN" sz="2200" b="1" kern="10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200" b="1" kern="100" dirty="0">
                          <a:effectLst/>
                        </a:rPr>
                        <a:t>等待</a:t>
                      </a: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</a:tr>
              <a:tr h="3359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200" b="1" kern="100" dirty="0">
                          <a:effectLst/>
                        </a:rPr>
                        <a:t>•</a:t>
                      </a: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200" b="1" kern="100" dirty="0">
                          <a:effectLst/>
                        </a:rPr>
                        <a:t>等待</a:t>
                      </a: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200" b="1" kern="100" dirty="0">
                          <a:effectLst/>
                        </a:rPr>
                        <a:t>•</a:t>
                      </a: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 b="1" kern="100" dirty="0">
                          <a:effectLst/>
                        </a:rPr>
                        <a:t>Lock R</a:t>
                      </a: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CC"/>
                    </a:solidFill>
                  </a:tcPr>
                </a:tc>
              </a:tr>
              <a:tr h="100583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200" b="1" kern="100" dirty="0">
                          <a:solidFill>
                            <a:srgbClr val="0000FF"/>
                          </a:solidFill>
                          <a:effectLst/>
                        </a:rPr>
                        <a:t>等待</a:t>
                      </a:r>
                      <a:endParaRPr lang="en-US" altLang="zh-CN" sz="2200" b="1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2200" b="1" kern="100" dirty="0">
                          <a:effectLst/>
                        </a:rPr>
                        <a:t>•</a:t>
                      </a:r>
                      <a:endParaRPr lang="zh-CN" alt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2200" b="1" kern="100" dirty="0">
                          <a:effectLst/>
                        </a:rPr>
                        <a:t>•</a:t>
                      </a:r>
                      <a:endParaRPr lang="zh-CN" alt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200" b="1" kern="100" dirty="0">
                          <a:effectLst/>
                        </a:rPr>
                        <a:t>•</a:t>
                      </a: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200" b="1" kern="100" dirty="0">
                          <a:effectLst/>
                        </a:rPr>
                        <a:t>•</a:t>
                      </a:r>
                      <a:endParaRPr lang="en-US" altLang="zh-CN" sz="2200" b="1" kern="100" dirty="0">
                        <a:effectLst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2200" b="1" kern="100" dirty="0">
                          <a:effectLst/>
                        </a:rPr>
                        <a:t>•</a:t>
                      </a:r>
                      <a:endParaRPr lang="en-US" altLang="zh-CN" sz="2200" b="1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zh-CN" sz="2200" b="1" kern="100" dirty="0">
                        <a:effectLst/>
                        <a:latin typeface="宋体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14.1 </a:t>
            </a:r>
            <a:r>
              <a:rPr lang="zh-CN" altLang="en-US" dirty="0"/>
              <a:t>基于锁的协议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F365E-6641-4D56-8662-47033E3D6337}" type="datetime1">
              <a:rPr lang="zh-CN" altLang="en-US" smtClean="0"/>
            </a:fld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09600" y="1412776"/>
            <a:ext cx="8105774" cy="4684713"/>
          </a:xfrm>
        </p:spPr>
        <p:txBody>
          <a:bodyPr/>
          <a:lstStyle/>
          <a:p>
            <a:pPr eaLnBrk="1" hangingPunct="1"/>
            <a:r>
              <a:rPr lang="zh-CN" altLang="en-US" sz="2400" b="1" dirty="0"/>
              <a:t>锁的授予</a:t>
            </a:r>
            <a:endParaRPr lang="en-US" altLang="zh-CN" b="1" dirty="0"/>
          </a:p>
          <a:p>
            <a:pPr lvl="1"/>
            <a:r>
              <a:rPr lang="zh-CN" altLang="en-US" sz="2000" b="1" dirty="0"/>
              <a:t>当事务申请对某个数据项加某一类型锁，且</a:t>
            </a:r>
            <a:r>
              <a:rPr lang="zh-CN" altLang="en-US" sz="2000" b="1" dirty="0">
                <a:solidFill>
                  <a:srgbClr val="0000FF"/>
                </a:solidFill>
              </a:rPr>
              <a:t>没有</a:t>
            </a:r>
            <a:r>
              <a:rPr lang="zh-CN" altLang="en-US" sz="2000" b="1" dirty="0"/>
              <a:t>其他事务在该数据项上加了与此类型</a:t>
            </a:r>
            <a:r>
              <a:rPr lang="zh-CN" altLang="en-US" sz="2000" b="1" dirty="0">
                <a:solidFill>
                  <a:srgbClr val="0000FF"/>
                </a:solidFill>
              </a:rPr>
              <a:t>相冲突的锁</a:t>
            </a:r>
            <a:r>
              <a:rPr lang="zh-CN" altLang="en-US" sz="2000" b="1" dirty="0"/>
              <a:t>，则可以</a:t>
            </a:r>
            <a:r>
              <a:rPr lang="zh-CN" altLang="en-US" sz="2000" b="1" dirty="0">
                <a:solidFill>
                  <a:srgbClr val="0000FF"/>
                </a:solidFill>
              </a:rPr>
              <a:t>授予锁</a:t>
            </a:r>
            <a:r>
              <a:rPr lang="zh-CN" altLang="en-US" sz="2000" b="1" dirty="0"/>
              <a:t>。</a:t>
            </a:r>
            <a:endParaRPr lang="en-US" altLang="zh-CN" sz="2000" b="1" dirty="0"/>
          </a:p>
          <a:p>
            <a:pPr lvl="1"/>
            <a:r>
              <a:rPr lang="zh-CN" altLang="en-US" sz="2000" b="1" dirty="0"/>
              <a:t>要注意下述情形的发生：</a:t>
            </a:r>
            <a:endParaRPr lang="en-US" altLang="zh-CN" sz="2000" b="1" dirty="0"/>
          </a:p>
          <a:p>
            <a:pPr lvl="1"/>
            <a:endParaRPr lang="en-US" altLang="zh-CN" sz="2000" b="1" dirty="0"/>
          </a:p>
          <a:p>
            <a:pPr lvl="1"/>
            <a:endParaRPr lang="en-US" altLang="zh-CN" sz="2000" b="1" dirty="0"/>
          </a:p>
          <a:p>
            <a:pPr lvl="1"/>
            <a:endParaRPr lang="en-US" altLang="zh-CN" sz="2000" b="1" dirty="0"/>
          </a:p>
          <a:p>
            <a:pPr lvl="1"/>
            <a:endParaRPr lang="en-US" altLang="zh-CN" sz="2000" b="1" dirty="0"/>
          </a:p>
          <a:p>
            <a:pPr lvl="1"/>
            <a:endParaRPr lang="en-US" altLang="zh-CN" sz="2000" b="1" dirty="0"/>
          </a:p>
          <a:p>
            <a:pPr lvl="1"/>
            <a:r>
              <a:rPr lang="zh-CN" altLang="en-US" sz="2000" b="1" dirty="0"/>
              <a:t>可以通过如下方式授权加锁来避免事务饿死</a:t>
            </a:r>
            <a:r>
              <a:rPr lang="en-US" altLang="zh-CN" sz="2000" b="1" dirty="0"/>
              <a:t>: </a:t>
            </a:r>
            <a:r>
              <a:rPr lang="zh-CN" altLang="en-US" sz="2000" b="1" dirty="0"/>
              <a:t>当事务</a:t>
            </a:r>
            <a:r>
              <a:rPr lang="en-US" altLang="zh-CN" sz="2000" b="1" dirty="0"/>
              <a:t>T</a:t>
            </a:r>
            <a:r>
              <a:rPr lang="zh-CN" altLang="en-US" sz="2000" b="1" dirty="0"/>
              <a:t>申请对数据项</a:t>
            </a:r>
            <a:r>
              <a:rPr lang="en-US" altLang="zh-CN" sz="2000" b="1" dirty="0"/>
              <a:t>Q</a:t>
            </a:r>
            <a:r>
              <a:rPr lang="zh-CN" altLang="en-US" sz="2000" b="1" dirty="0"/>
              <a:t>加</a:t>
            </a:r>
            <a:r>
              <a:rPr lang="en-US" altLang="zh-CN" sz="2000" b="1" dirty="0"/>
              <a:t>M</a:t>
            </a:r>
            <a:r>
              <a:rPr lang="zh-CN" altLang="en-US" sz="2000" b="1" dirty="0"/>
              <a:t>型锁时，并发控制管理器</a:t>
            </a:r>
            <a:r>
              <a:rPr lang="zh-CN" altLang="en-US" sz="2000" b="1" dirty="0">
                <a:solidFill>
                  <a:srgbClr val="0000FF"/>
                </a:solidFill>
              </a:rPr>
              <a:t>授权加锁</a:t>
            </a:r>
            <a:r>
              <a:rPr lang="zh-CN" altLang="en-US" sz="2000" b="1" dirty="0"/>
              <a:t>的条件是</a:t>
            </a:r>
            <a:r>
              <a:rPr lang="en-US" altLang="zh-CN" sz="2000" b="1" dirty="0"/>
              <a:t>:</a:t>
            </a:r>
            <a:endParaRPr lang="en-US" altLang="zh-CN" sz="2000" b="1" dirty="0"/>
          </a:p>
          <a:p>
            <a:pPr lvl="2"/>
            <a:r>
              <a:rPr lang="en-US" altLang="zh-CN" sz="1600" b="1" dirty="0"/>
              <a:t>1.</a:t>
            </a:r>
            <a:r>
              <a:rPr lang="zh-CN" altLang="en-US" sz="1600" b="1" dirty="0">
                <a:solidFill>
                  <a:srgbClr val="0000FF"/>
                </a:solidFill>
              </a:rPr>
              <a:t>不存在</a:t>
            </a:r>
            <a:r>
              <a:rPr lang="zh-CN" altLang="en-US" sz="1600" b="1" dirty="0"/>
              <a:t>在数据项</a:t>
            </a:r>
            <a:r>
              <a:rPr lang="en-US" altLang="zh-CN" sz="1600" b="1" dirty="0"/>
              <a:t>Q</a:t>
            </a:r>
            <a:r>
              <a:rPr lang="zh-CN" altLang="en-US" sz="1600" b="1" dirty="0"/>
              <a:t>上持有与所申请</a:t>
            </a:r>
            <a:r>
              <a:rPr lang="en-US" altLang="zh-CN" sz="1600" b="1" dirty="0"/>
              <a:t>M</a:t>
            </a:r>
            <a:r>
              <a:rPr lang="zh-CN" altLang="en-US" sz="1600" b="1" dirty="0"/>
              <a:t>类型锁</a:t>
            </a:r>
            <a:r>
              <a:rPr lang="zh-CN" altLang="en-US" sz="1600" b="1" dirty="0">
                <a:solidFill>
                  <a:srgbClr val="0000FF"/>
                </a:solidFill>
              </a:rPr>
              <a:t>冲突的锁</a:t>
            </a:r>
            <a:r>
              <a:rPr lang="zh-CN" altLang="en-US" sz="1600" b="1" dirty="0"/>
              <a:t>的</a:t>
            </a:r>
            <a:r>
              <a:rPr lang="zh-CN" altLang="en-US" sz="1600" b="1" dirty="0">
                <a:solidFill>
                  <a:srgbClr val="0000FF"/>
                </a:solidFill>
              </a:rPr>
              <a:t>其他事务</a:t>
            </a:r>
            <a:r>
              <a:rPr lang="zh-CN" altLang="en-US" sz="1600" b="1" dirty="0"/>
              <a:t>；</a:t>
            </a:r>
            <a:endParaRPr lang="en-US" altLang="zh-CN" sz="1600" b="1" dirty="0"/>
          </a:p>
          <a:p>
            <a:pPr lvl="2"/>
            <a:r>
              <a:rPr lang="en-US" altLang="zh-CN" sz="1600" b="1" dirty="0"/>
              <a:t>2.</a:t>
            </a:r>
            <a:r>
              <a:rPr lang="zh-CN" altLang="en-US" sz="1600" b="1" dirty="0">
                <a:solidFill>
                  <a:srgbClr val="0000FF"/>
                </a:solidFill>
              </a:rPr>
              <a:t>不存在</a:t>
            </a:r>
            <a:r>
              <a:rPr lang="zh-CN" altLang="en-US" sz="1600" b="1" dirty="0">
                <a:solidFill>
                  <a:srgbClr val="006600"/>
                </a:solidFill>
              </a:rPr>
              <a:t>等待</a:t>
            </a:r>
            <a:r>
              <a:rPr lang="zh-CN" altLang="en-US" sz="1600" b="1" dirty="0"/>
              <a:t>对数据项</a:t>
            </a:r>
            <a:r>
              <a:rPr lang="en-US" altLang="zh-CN" sz="1600" b="1" dirty="0"/>
              <a:t>Q</a:t>
            </a:r>
            <a:r>
              <a:rPr lang="zh-CN" altLang="en-US" sz="1600" b="1" dirty="0"/>
              <a:t>加锁且</a:t>
            </a:r>
            <a:r>
              <a:rPr lang="zh-CN" altLang="en-US" sz="1600" b="1" u="sng" dirty="0">
                <a:solidFill>
                  <a:srgbClr val="FF0000"/>
                </a:solidFill>
              </a:rPr>
              <a:t>先于</a:t>
            </a:r>
            <a:r>
              <a:rPr lang="en-US" altLang="zh-CN" sz="1600" b="1" dirty="0">
                <a:solidFill>
                  <a:srgbClr val="0000FF"/>
                </a:solidFill>
              </a:rPr>
              <a:t>T</a:t>
            </a:r>
            <a:r>
              <a:rPr lang="zh-CN" altLang="en-US" sz="1600" b="1" dirty="0">
                <a:solidFill>
                  <a:srgbClr val="0000FF"/>
                </a:solidFill>
              </a:rPr>
              <a:t>申请加锁</a:t>
            </a:r>
            <a:r>
              <a:rPr lang="zh-CN" altLang="en-US" sz="1600" b="1" dirty="0"/>
              <a:t>的</a:t>
            </a:r>
            <a:r>
              <a:rPr lang="zh-CN" altLang="en-US" sz="1600" b="1" dirty="0">
                <a:solidFill>
                  <a:srgbClr val="0000FF"/>
                </a:solidFill>
              </a:rPr>
              <a:t>事务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lvl="1"/>
            <a:endParaRPr lang="en-US" altLang="zh-CN" sz="2000" b="1" dirty="0"/>
          </a:p>
          <a:p>
            <a:pPr lvl="1"/>
            <a:endParaRPr lang="en-US" altLang="zh-CN" sz="2000" b="1" dirty="0"/>
          </a:p>
          <a:p>
            <a:pPr lvl="1"/>
            <a:endParaRPr lang="en-US" altLang="zh-CN" sz="2000" b="1" dirty="0"/>
          </a:p>
          <a:p>
            <a:pPr lvl="1"/>
            <a:endParaRPr lang="en-US" altLang="zh-CN" sz="2000" b="1" dirty="0"/>
          </a:p>
          <a:p>
            <a:pPr lvl="1"/>
            <a:endParaRPr lang="en-US" altLang="zh-CN" sz="20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1326691" y="2924944"/>
            <a:ext cx="712879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如果事务</a:t>
            </a:r>
            <a:r>
              <a:rPr lang="en-US" altLang="zh-CN" sz="2000" dirty="0"/>
              <a:t>T1</a:t>
            </a:r>
            <a:r>
              <a:rPr lang="zh-CN" altLang="en-US" sz="2000" dirty="0"/>
              <a:t>封锁了数据</a:t>
            </a:r>
            <a:r>
              <a:rPr lang="en-US" altLang="zh-CN" sz="2000" dirty="0"/>
              <a:t>R</a:t>
            </a:r>
            <a:r>
              <a:rPr lang="zh-CN" altLang="en-US" sz="2000" dirty="0"/>
              <a:t>，事务</a:t>
            </a:r>
            <a:r>
              <a:rPr lang="en-US" altLang="zh-CN" sz="2000" dirty="0"/>
              <a:t>T2</a:t>
            </a:r>
            <a:r>
              <a:rPr lang="zh-CN" altLang="en-US" sz="2000" dirty="0"/>
              <a:t>又请求封锁</a:t>
            </a:r>
            <a:r>
              <a:rPr lang="en-US" altLang="zh-CN" sz="2000" dirty="0"/>
              <a:t>R</a:t>
            </a:r>
            <a:r>
              <a:rPr lang="zh-CN" altLang="en-US" sz="2000" dirty="0"/>
              <a:t>，于是</a:t>
            </a:r>
            <a:r>
              <a:rPr lang="en-US" altLang="zh-CN" sz="2000" dirty="0">
                <a:solidFill>
                  <a:schemeClr val="tx2"/>
                </a:solidFill>
              </a:rPr>
              <a:t>T2</a:t>
            </a:r>
            <a:r>
              <a:rPr lang="zh-CN" altLang="en-US" sz="2000" dirty="0">
                <a:solidFill>
                  <a:schemeClr val="tx2"/>
                </a:solidFill>
              </a:rPr>
              <a:t>等待</a:t>
            </a:r>
            <a:r>
              <a:rPr lang="zh-CN" altLang="en-US" sz="2000" dirty="0"/>
              <a:t>。</a:t>
            </a:r>
            <a:r>
              <a:rPr lang="en-US" altLang="zh-CN" sz="2000" dirty="0"/>
              <a:t>T3</a:t>
            </a:r>
            <a:r>
              <a:rPr lang="zh-CN" altLang="en-US" sz="2000" dirty="0"/>
              <a:t>也请求封锁</a:t>
            </a:r>
            <a:r>
              <a:rPr lang="en-US" altLang="zh-CN" sz="2000" dirty="0"/>
              <a:t>R</a:t>
            </a:r>
            <a:r>
              <a:rPr lang="zh-CN" altLang="en-US" sz="2000" dirty="0"/>
              <a:t>，当</a:t>
            </a:r>
            <a:r>
              <a:rPr lang="en-US" altLang="zh-CN" sz="2000" dirty="0"/>
              <a:t>T1</a:t>
            </a:r>
            <a:r>
              <a:rPr lang="zh-CN" altLang="en-US" sz="2000" dirty="0"/>
              <a:t>释放了</a:t>
            </a:r>
            <a:r>
              <a:rPr lang="en-US" altLang="zh-CN" sz="2000" dirty="0"/>
              <a:t>R</a:t>
            </a:r>
            <a:r>
              <a:rPr lang="zh-CN" altLang="en-US" sz="2000" dirty="0"/>
              <a:t>上的封锁之后系统</a:t>
            </a:r>
            <a:r>
              <a:rPr lang="zh-CN" altLang="en-US" sz="2000" dirty="0">
                <a:solidFill>
                  <a:schemeClr val="tx2"/>
                </a:solidFill>
              </a:rPr>
              <a:t>首先批准了</a:t>
            </a:r>
            <a:r>
              <a:rPr lang="en-US" altLang="zh-CN" sz="2000" dirty="0">
                <a:solidFill>
                  <a:schemeClr val="tx2"/>
                </a:solidFill>
              </a:rPr>
              <a:t>T3</a:t>
            </a:r>
            <a:r>
              <a:rPr lang="zh-CN" altLang="en-US" sz="2000" dirty="0"/>
              <a:t>的请求，</a:t>
            </a:r>
            <a:r>
              <a:rPr lang="en-US" altLang="zh-CN" sz="2000" dirty="0"/>
              <a:t>T2</a:t>
            </a:r>
            <a:r>
              <a:rPr lang="zh-CN" altLang="en-US" sz="2000" dirty="0"/>
              <a:t>仍然等待。然后</a:t>
            </a:r>
            <a:r>
              <a:rPr lang="en-US" altLang="zh-CN" sz="2000" dirty="0"/>
              <a:t>T4</a:t>
            </a:r>
            <a:r>
              <a:rPr lang="zh-CN" altLang="en-US" sz="2000" dirty="0"/>
              <a:t>又请求封锁</a:t>
            </a:r>
            <a:r>
              <a:rPr lang="en-US" altLang="zh-CN" sz="2000" dirty="0"/>
              <a:t>R</a:t>
            </a:r>
            <a:r>
              <a:rPr lang="zh-CN" altLang="en-US" sz="2000" dirty="0"/>
              <a:t>，当</a:t>
            </a:r>
            <a:r>
              <a:rPr lang="en-US" altLang="zh-CN" sz="2000" dirty="0"/>
              <a:t>T3</a:t>
            </a:r>
            <a:r>
              <a:rPr lang="zh-CN" altLang="en-US" sz="2000" dirty="0"/>
              <a:t>释放了</a:t>
            </a:r>
            <a:r>
              <a:rPr lang="en-US" altLang="zh-CN" sz="2000" dirty="0"/>
              <a:t>R</a:t>
            </a:r>
            <a:r>
              <a:rPr lang="zh-CN" altLang="en-US" sz="2000" dirty="0"/>
              <a:t>上的封锁之后系统又批准了</a:t>
            </a:r>
            <a:r>
              <a:rPr lang="en-US" altLang="zh-CN" sz="2000" dirty="0"/>
              <a:t>T4</a:t>
            </a:r>
            <a:r>
              <a:rPr lang="zh-CN" altLang="en-US" sz="2000" dirty="0"/>
              <a:t>的请求，</a:t>
            </a:r>
            <a:r>
              <a:rPr lang="en-US" altLang="zh-CN" sz="2000" dirty="0"/>
              <a:t>...</a:t>
            </a:r>
            <a:r>
              <a:rPr lang="zh-CN" altLang="en-US" sz="2000" dirty="0"/>
              <a:t>，</a:t>
            </a:r>
            <a:r>
              <a:rPr lang="en-US" altLang="zh-CN" sz="2000" dirty="0"/>
              <a:t>T2</a:t>
            </a:r>
            <a:r>
              <a:rPr lang="zh-CN" altLang="en-US" sz="2000" dirty="0"/>
              <a:t>有</a:t>
            </a:r>
            <a:r>
              <a:rPr lang="zh-CN" altLang="en-US" sz="2000" dirty="0">
                <a:solidFill>
                  <a:srgbClr val="C00000"/>
                </a:solidFill>
              </a:rPr>
              <a:t>可能永远等待</a:t>
            </a:r>
            <a:r>
              <a:rPr lang="zh-CN" altLang="en-US" sz="2000" dirty="0"/>
              <a:t>，这称为</a:t>
            </a:r>
            <a:r>
              <a:rPr lang="zh-CN" altLang="en-US" sz="2000" dirty="0">
                <a:solidFill>
                  <a:srgbClr val="0000FF"/>
                </a:solidFill>
              </a:rPr>
              <a:t>饿死</a:t>
            </a:r>
            <a:r>
              <a:rPr lang="zh-CN" altLang="en-US" sz="2000" dirty="0"/>
              <a:t>，也即</a:t>
            </a:r>
            <a:r>
              <a:rPr lang="zh-CN" altLang="en-US" sz="2000" b="1" dirty="0">
                <a:solidFill>
                  <a:srgbClr val="FF0000"/>
                </a:solidFill>
              </a:rPr>
              <a:t>活锁</a:t>
            </a:r>
            <a:r>
              <a:rPr lang="zh-CN" altLang="en-US" sz="2000" dirty="0"/>
              <a:t>的。 </a:t>
            </a:r>
            <a:endParaRPr lang="zh-CN" altLang="en-US" sz="20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解决办法：</a:t>
            </a:r>
            <a:r>
              <a:rPr lang="zh-CN" altLang="en-US" sz="2000" b="1" dirty="0">
                <a:solidFill>
                  <a:srgbClr val="FF0303"/>
                </a:solidFill>
              </a:rPr>
              <a:t>先来先服务</a:t>
            </a:r>
            <a:endParaRPr lang="zh-CN" altLang="en-US" sz="2000" b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14.1 </a:t>
            </a:r>
            <a:r>
              <a:rPr lang="zh-CN" altLang="en-US" sz="3200" dirty="0"/>
              <a:t>基于锁的协议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F3EF7-1CE3-46DF-8F16-E179A7F0D159}" type="datetime1">
              <a:rPr lang="zh-CN" altLang="en-US" smtClean="0"/>
            </a:fld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09600" y="1447800"/>
            <a:ext cx="3818384" cy="4684713"/>
          </a:xfrm>
        </p:spPr>
        <p:txBody>
          <a:bodyPr/>
          <a:lstStyle/>
          <a:p>
            <a:pPr eaLnBrk="1" hangingPunct="1"/>
            <a:r>
              <a:rPr lang="zh-CN" altLang="en-US" sz="2100" b="1" dirty="0">
                <a:solidFill>
                  <a:srgbClr val="0000FF"/>
                </a:solidFill>
              </a:rPr>
              <a:t>封锁</a:t>
            </a:r>
            <a:r>
              <a:rPr lang="zh-CN" altLang="en-US" sz="2100" b="1" dirty="0">
                <a:solidFill>
                  <a:srgbClr val="FF0000"/>
                </a:solidFill>
              </a:rPr>
              <a:t>不足以</a:t>
            </a:r>
            <a:r>
              <a:rPr lang="zh-CN" altLang="en-US" sz="2100" b="1" dirty="0">
                <a:solidFill>
                  <a:srgbClr val="0000FF"/>
                </a:solidFill>
              </a:rPr>
              <a:t>保证可串行化</a:t>
            </a:r>
            <a:endParaRPr lang="zh-CN" altLang="en-US" sz="2100" b="1" dirty="0">
              <a:solidFill>
                <a:srgbClr val="0000FF"/>
              </a:solidFill>
            </a:endParaRPr>
          </a:p>
          <a:p>
            <a:pPr lvl="1" eaLnBrk="1" hangingPunct="1"/>
            <a:r>
              <a:rPr lang="en-US" altLang="zh-CN" sz="1900" b="1" i="1" dirty="0"/>
              <a:t>T</a:t>
            </a:r>
            <a:r>
              <a:rPr lang="en-US" altLang="zh-CN" sz="1900" b="1" baseline="-25000" dirty="0"/>
              <a:t>1</a:t>
            </a:r>
            <a:r>
              <a:rPr lang="zh-CN" altLang="en-US" sz="1900" b="1" dirty="0"/>
              <a:t>过早释放封锁，导致</a:t>
            </a:r>
            <a:r>
              <a:rPr lang="en-US" altLang="zh-CN" sz="1900" b="1" i="1" dirty="0"/>
              <a:t>T</a:t>
            </a:r>
            <a:r>
              <a:rPr lang="en-US" altLang="zh-CN" sz="1900" b="1" baseline="-25000" dirty="0"/>
              <a:t>2</a:t>
            </a:r>
            <a:r>
              <a:rPr lang="zh-CN" altLang="en-US" sz="1900" b="1" dirty="0"/>
              <a:t>显示的总和出现</a:t>
            </a:r>
            <a:r>
              <a:rPr lang="zh-CN" altLang="en-US" sz="1900" b="1" dirty="0">
                <a:solidFill>
                  <a:srgbClr val="FF0000"/>
                </a:solidFill>
              </a:rPr>
              <a:t>错误</a:t>
            </a:r>
            <a:endParaRPr lang="en-US" altLang="zh-CN" sz="1900" b="1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sz="2100" b="1" dirty="0">
                <a:solidFill>
                  <a:srgbClr val="FF0000"/>
                </a:solidFill>
              </a:rPr>
              <a:t>锁协议</a:t>
            </a:r>
            <a:r>
              <a:rPr lang="zh-CN" altLang="en-US" sz="2100" b="1" dirty="0"/>
              <a:t>是所有事务在请求与释放封锁时遵守的</a:t>
            </a:r>
            <a:r>
              <a:rPr lang="zh-CN" altLang="en-US" sz="2100" b="1" dirty="0">
                <a:solidFill>
                  <a:srgbClr val="0000FF"/>
                </a:solidFill>
              </a:rPr>
              <a:t>规则集合</a:t>
            </a:r>
            <a:endParaRPr lang="zh-CN" altLang="en-US" sz="2100" b="1" dirty="0">
              <a:solidFill>
                <a:srgbClr val="0000FF"/>
              </a:solidFill>
            </a:endParaRPr>
          </a:p>
          <a:p>
            <a:pPr lvl="1" eaLnBrk="1" hangingPunct="1"/>
            <a:r>
              <a:rPr lang="zh-CN" altLang="en-US" sz="1900" b="1" dirty="0"/>
              <a:t>锁协议对</a:t>
            </a:r>
            <a:r>
              <a:rPr lang="zh-CN" altLang="en-US" sz="1900" b="1" u="sng" dirty="0"/>
              <a:t>可能出现的调度</a:t>
            </a:r>
            <a:r>
              <a:rPr lang="zh-CN" altLang="en-US" sz="1900" b="1" dirty="0">
                <a:solidFill>
                  <a:srgbClr val="0000FF"/>
                </a:solidFill>
              </a:rPr>
              <a:t>加以限制</a:t>
            </a:r>
            <a:endParaRPr lang="en-US" altLang="zh-CN" sz="1900" b="1" dirty="0">
              <a:solidFill>
                <a:srgbClr val="0000FF"/>
              </a:solidFill>
            </a:endParaRPr>
          </a:p>
          <a:p>
            <a:pPr lvl="1" eaLnBrk="1" hangingPunct="1"/>
            <a:r>
              <a:rPr lang="zh-CN" altLang="en-US" sz="1900" b="1" dirty="0">
                <a:solidFill>
                  <a:srgbClr val="0000FF"/>
                </a:solidFill>
              </a:rPr>
              <a:t>加锁、解锁</a:t>
            </a:r>
            <a:r>
              <a:rPr lang="zh-CN" altLang="en-US" sz="1900" b="1" dirty="0">
                <a:solidFill>
                  <a:srgbClr val="006600"/>
                </a:solidFill>
              </a:rPr>
              <a:t>的</a:t>
            </a:r>
            <a:r>
              <a:rPr lang="zh-CN" altLang="en-US" sz="1900" b="1" dirty="0">
                <a:solidFill>
                  <a:srgbClr val="0000FF"/>
                </a:solidFill>
              </a:rPr>
              <a:t>时机很重要</a:t>
            </a:r>
            <a:endParaRPr lang="en-US" altLang="zh-CN" sz="1900" b="1" dirty="0">
              <a:solidFill>
                <a:srgbClr val="0000FF"/>
              </a:solidFill>
            </a:endParaRPr>
          </a:p>
          <a:p>
            <a:pPr lvl="1" eaLnBrk="1" hangingPunct="1"/>
            <a:r>
              <a:rPr lang="zh-CN" altLang="en-US" sz="1900" b="1" dirty="0">
                <a:solidFill>
                  <a:srgbClr val="0000FF"/>
                </a:solidFill>
              </a:rPr>
              <a:t>锁协议</a:t>
            </a:r>
            <a:r>
              <a:rPr lang="zh-CN" altLang="en-US" sz="1900" b="1" dirty="0"/>
              <a:t>规定事务何时对数据项们进行加锁和解锁。</a:t>
            </a:r>
            <a:endParaRPr lang="en-US" altLang="zh-CN" sz="1900" b="1" dirty="0"/>
          </a:p>
          <a:p>
            <a:pPr lvl="1" eaLnBrk="1" hangingPunct="1"/>
            <a:r>
              <a:rPr lang="zh-CN" altLang="en-US" sz="19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希望一种保证调度是可串行化的</a:t>
            </a:r>
            <a:r>
              <a:rPr lang="zh-CN" altLang="en-US" sz="1900" b="1" dirty="0">
                <a:solidFill>
                  <a:srgbClr val="0000FF"/>
                </a:solidFill>
              </a:rPr>
              <a:t>锁协议</a:t>
            </a:r>
            <a:endParaRPr lang="en-US" altLang="zh-CN" sz="1900" b="1" dirty="0">
              <a:solidFill>
                <a:srgbClr val="0000FF"/>
              </a:solidFill>
            </a:endParaRPr>
          </a:p>
          <a:p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4788024" y="1849116"/>
            <a:ext cx="2968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</a:t>
            </a:r>
            <a:r>
              <a:rPr lang="en-US" altLang="zh-CN" sz="2000" baseline="-25000" dirty="0"/>
              <a:t>3</a:t>
            </a:r>
            <a:r>
              <a:rPr lang="en-US" altLang="zh-CN" sz="2000" dirty="0"/>
              <a:t>:</a:t>
            </a:r>
            <a:r>
              <a:rPr lang="zh-CN" altLang="en-US" sz="2000" dirty="0"/>
              <a:t> 从</a:t>
            </a:r>
            <a:r>
              <a:rPr lang="en-US" altLang="zh-CN" sz="2000" dirty="0"/>
              <a:t>B</a:t>
            </a:r>
            <a:r>
              <a:rPr lang="zh-CN" altLang="en-US" sz="2000" dirty="0"/>
              <a:t>账户转</a:t>
            </a:r>
            <a:r>
              <a:rPr lang="en-US" altLang="zh-CN" sz="2000" dirty="0"/>
              <a:t>50</a:t>
            </a:r>
            <a:r>
              <a:rPr lang="zh-CN" altLang="en-US" sz="2000" dirty="0"/>
              <a:t>到</a:t>
            </a:r>
            <a:r>
              <a:rPr lang="en-US" altLang="zh-CN" sz="2000" dirty="0"/>
              <a:t>A</a:t>
            </a:r>
            <a:r>
              <a:rPr lang="zh-CN" altLang="en-US" sz="2000" dirty="0"/>
              <a:t>账户</a:t>
            </a:r>
            <a:r>
              <a:rPr lang="en-US" altLang="zh-CN" sz="2000" dirty="0"/>
              <a:t>, A=100,</a:t>
            </a:r>
            <a:r>
              <a:rPr lang="zh-CN" altLang="en-US" sz="2000" dirty="0"/>
              <a:t> </a:t>
            </a:r>
            <a:r>
              <a:rPr lang="en-US" altLang="zh-CN" sz="2000" dirty="0"/>
              <a:t>B=200</a:t>
            </a:r>
            <a:endParaRPr lang="zh-CN" altLang="en-US" sz="200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0854" y="1447800"/>
            <a:ext cx="4633362" cy="4523624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14.1 </a:t>
            </a:r>
            <a:r>
              <a:rPr lang="zh-CN" altLang="en-US" dirty="0"/>
              <a:t>基于锁的协议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7DF2C-7FA2-4EB9-8EED-9E4C3E80C6F7}" type="datetime1">
              <a:rPr lang="zh-CN" altLang="en-US" smtClean="0"/>
            </a:fld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09600" y="1447800"/>
            <a:ext cx="8426896" cy="5005536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00FF"/>
                </a:solidFill>
              </a:rPr>
              <a:t>两阶段封锁协议</a:t>
            </a:r>
            <a:r>
              <a:rPr lang="zh-CN" altLang="en-US" b="1" dirty="0"/>
              <a:t>（</a:t>
            </a:r>
            <a:r>
              <a:rPr lang="en-US" altLang="zh-CN" b="1" dirty="0"/>
              <a:t>2PL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pPr lvl="1"/>
            <a:r>
              <a:rPr lang="zh-CN" altLang="en-US" b="1" dirty="0"/>
              <a:t>数据库管理系统普遍采用</a:t>
            </a:r>
            <a:r>
              <a:rPr lang="zh-CN" altLang="en-US" b="1" dirty="0">
                <a:solidFill>
                  <a:srgbClr val="0000FF"/>
                </a:solidFill>
              </a:rPr>
              <a:t>两段锁协议</a:t>
            </a:r>
            <a:r>
              <a:rPr lang="zh-CN" altLang="en-US" b="1" dirty="0"/>
              <a:t>的方法实现</a:t>
            </a:r>
            <a:r>
              <a:rPr lang="zh-CN" altLang="en-US" b="1" dirty="0">
                <a:solidFill>
                  <a:srgbClr val="0000FF"/>
                </a:solidFill>
              </a:rPr>
              <a:t>并发调度的可串行性</a:t>
            </a:r>
            <a:r>
              <a:rPr lang="zh-CN" altLang="en-US" b="1" dirty="0"/>
              <a:t>，从而保证</a:t>
            </a:r>
            <a:r>
              <a:rPr lang="zh-CN" altLang="en-US" b="1" dirty="0">
                <a:solidFill>
                  <a:srgbClr val="0000FF"/>
                </a:solidFill>
              </a:rPr>
              <a:t>调度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rgbClr val="FF0000"/>
                </a:solidFill>
              </a:rPr>
              <a:t>正确性</a:t>
            </a:r>
            <a:r>
              <a:rPr lang="zh-CN" altLang="en-US" b="1" dirty="0"/>
              <a:t>。</a:t>
            </a:r>
            <a:endParaRPr lang="en-US" altLang="zh-CN" b="1" dirty="0"/>
          </a:p>
          <a:p>
            <a:pPr lvl="1"/>
            <a:r>
              <a:rPr lang="zh-CN" altLang="en-US" b="1" dirty="0">
                <a:solidFill>
                  <a:srgbClr val="FF0303"/>
                </a:solidFill>
              </a:rPr>
              <a:t>实现并发控制的主要方法</a:t>
            </a:r>
            <a:r>
              <a:rPr lang="zh-CN" altLang="en-US" b="1" dirty="0"/>
              <a:t>。</a:t>
            </a:r>
            <a:endParaRPr lang="en-US" altLang="zh-CN" b="1" dirty="0"/>
          </a:p>
          <a:p>
            <a:pPr lvl="1"/>
            <a:r>
              <a:rPr lang="zh-CN" altLang="en-US" b="1" dirty="0"/>
              <a:t>所谓两段锁协议是指</a:t>
            </a:r>
            <a:r>
              <a:rPr lang="zh-CN" altLang="en-US" b="1" dirty="0">
                <a:solidFill>
                  <a:srgbClr val="006600"/>
                </a:solidFill>
              </a:rPr>
              <a:t>所有事务</a:t>
            </a:r>
            <a:r>
              <a:rPr lang="zh-CN" altLang="en-US" b="1" dirty="0"/>
              <a:t>必须</a:t>
            </a:r>
            <a:r>
              <a:rPr lang="zh-CN" altLang="en-US" b="1" dirty="0">
                <a:solidFill>
                  <a:srgbClr val="003300"/>
                </a:solidFill>
              </a:rPr>
              <a:t>分</a:t>
            </a:r>
            <a:r>
              <a:rPr lang="zh-CN" altLang="en-US" b="1" dirty="0">
                <a:solidFill>
                  <a:srgbClr val="FF0303"/>
                </a:solidFill>
              </a:rPr>
              <a:t>两个阶段提出</a:t>
            </a:r>
            <a:r>
              <a:rPr lang="zh-CN" altLang="en-US" b="1" dirty="0">
                <a:solidFill>
                  <a:srgbClr val="0000FF"/>
                </a:solidFill>
              </a:rPr>
              <a:t>对数据项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rgbClr val="FF0303"/>
                </a:solidFill>
              </a:rPr>
              <a:t>加锁</a:t>
            </a:r>
            <a:r>
              <a:rPr lang="zh-CN" altLang="en-US" b="1" dirty="0"/>
              <a:t>和</a:t>
            </a:r>
            <a:r>
              <a:rPr lang="zh-CN" altLang="en-US" b="1" dirty="0">
                <a:solidFill>
                  <a:srgbClr val="FF0303"/>
                </a:solidFill>
              </a:rPr>
              <a:t>解锁</a:t>
            </a:r>
            <a:r>
              <a:rPr lang="zh-CN" altLang="en-US" b="1" dirty="0"/>
              <a:t>：</a:t>
            </a:r>
            <a:br>
              <a:rPr lang="zh-CN" altLang="en-US" b="1" dirty="0"/>
            </a:br>
            <a:br>
              <a:rPr lang="zh-CN" altLang="en-US" sz="900" b="1" dirty="0"/>
            </a:br>
            <a:r>
              <a:rPr lang="en-US" altLang="zh-CN" sz="2400" b="1" dirty="0"/>
              <a:t>1. </a:t>
            </a:r>
            <a:r>
              <a:rPr lang="zh-CN" altLang="en-US" sz="2400" b="1" dirty="0"/>
              <a:t>在对</a:t>
            </a:r>
            <a:r>
              <a:rPr lang="zh-CN" altLang="en-US" sz="2400" b="1" u="sng" dirty="0"/>
              <a:t>任何数据</a:t>
            </a:r>
            <a:r>
              <a:rPr lang="zh-CN" altLang="en-US" sz="2400" b="1" dirty="0"/>
              <a:t>进行</a:t>
            </a:r>
            <a:r>
              <a:rPr lang="zh-CN" altLang="en-US" sz="2400" b="1" dirty="0">
                <a:solidFill>
                  <a:schemeClr val="tx2"/>
                </a:solidFill>
              </a:rPr>
              <a:t>读、写操作之前</a:t>
            </a:r>
            <a:r>
              <a:rPr lang="zh-CN" altLang="en-US" sz="2400" b="1" dirty="0"/>
              <a:t>，</a:t>
            </a:r>
            <a:r>
              <a:rPr lang="zh-CN" altLang="en-US" sz="2400" b="1" dirty="0">
                <a:solidFill>
                  <a:srgbClr val="C00000"/>
                </a:solidFill>
              </a:rPr>
              <a:t>首先</a:t>
            </a:r>
            <a:r>
              <a:rPr lang="zh-CN" altLang="en-US" sz="2400" b="1" dirty="0">
                <a:solidFill>
                  <a:srgbClr val="003300"/>
                </a:solidFill>
              </a:rPr>
              <a:t>要</a:t>
            </a:r>
            <a:r>
              <a:rPr lang="zh-CN" altLang="en-US" sz="2400" b="1" u="sng" dirty="0">
                <a:solidFill>
                  <a:srgbClr val="C00000"/>
                </a:solidFill>
              </a:rPr>
              <a:t>申请</a:t>
            </a:r>
            <a:r>
              <a:rPr lang="zh-CN" altLang="en-US" sz="2400" b="1" u="sng" dirty="0"/>
              <a:t>并</a:t>
            </a:r>
            <a:r>
              <a:rPr lang="zh-CN" altLang="en-US" sz="2400" b="1" u="sng" dirty="0">
                <a:solidFill>
                  <a:srgbClr val="C00000"/>
                </a:solidFill>
              </a:rPr>
              <a:t>获得</a:t>
            </a:r>
            <a:r>
              <a:rPr lang="zh-CN" altLang="en-US" sz="2400" b="1" dirty="0"/>
              <a:t>对</a:t>
            </a:r>
            <a:r>
              <a:rPr lang="zh-CN" altLang="en-US" sz="2400" b="1" dirty="0">
                <a:solidFill>
                  <a:srgbClr val="C00000"/>
                </a:solidFill>
              </a:rPr>
              <a:t>该数据的封锁</a:t>
            </a:r>
            <a:r>
              <a:rPr lang="zh-CN" altLang="en-US" sz="2400" b="1" dirty="0"/>
              <a:t>，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而且</a:t>
            </a:r>
            <a:r>
              <a:rPr lang="zh-CN" altLang="en-US" sz="2400" b="1" dirty="0"/>
              <a:t> </a:t>
            </a:r>
            <a:br>
              <a:rPr lang="zh-CN" altLang="en-US" sz="2400" b="1" dirty="0"/>
            </a:br>
            <a:br>
              <a:rPr lang="zh-CN" altLang="en-US" sz="800" b="1" dirty="0"/>
            </a:br>
            <a:r>
              <a:rPr lang="en-US" altLang="zh-CN" sz="2400" b="1" dirty="0"/>
              <a:t>2. </a:t>
            </a:r>
            <a:r>
              <a:rPr lang="zh-CN" altLang="en-US" sz="2400" b="1" dirty="0"/>
              <a:t>在</a:t>
            </a:r>
            <a:r>
              <a:rPr lang="zh-CN" altLang="en-US" sz="2400" b="1" dirty="0">
                <a:solidFill>
                  <a:srgbClr val="FF0000"/>
                </a:solidFill>
              </a:rPr>
              <a:t>释放</a:t>
            </a:r>
            <a:r>
              <a:rPr lang="zh-CN" altLang="en-US" sz="2400" b="1" dirty="0"/>
              <a:t>一个封锁之后，事务</a:t>
            </a:r>
            <a:r>
              <a:rPr lang="zh-CN" altLang="en-US" sz="2400" b="1" dirty="0">
                <a:solidFill>
                  <a:srgbClr val="C00000"/>
                </a:solidFill>
              </a:rPr>
              <a:t>不再</a:t>
            </a:r>
            <a:r>
              <a:rPr lang="zh-CN" altLang="en-US" sz="2400" b="1" dirty="0">
                <a:solidFill>
                  <a:schemeClr val="tx2"/>
                </a:solidFill>
              </a:rPr>
              <a:t>申请和获得</a:t>
            </a:r>
            <a:r>
              <a:rPr lang="zh-CN" altLang="en-US" sz="2400" b="1" dirty="0"/>
              <a:t>任何其他封锁。</a:t>
            </a:r>
            <a:endParaRPr lang="zh-CN" altLang="en-US" sz="2400" b="1" dirty="0"/>
          </a:p>
          <a:p>
            <a:pPr lvl="1"/>
            <a:endParaRPr lang="zh-CN" altLang="en-US" b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14.1 </a:t>
            </a:r>
            <a:r>
              <a:rPr lang="zh-CN" altLang="en-US" dirty="0"/>
              <a:t>基于锁的协议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2C06E-B4FD-4A28-B5A0-C7C29C12A9BC}" type="datetime1">
              <a:rPr lang="zh-CN" altLang="en-US" smtClean="0"/>
            </a:fld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09600" y="1447800"/>
            <a:ext cx="8105774" cy="4684713"/>
          </a:xfrm>
        </p:spPr>
        <p:txBody>
          <a:bodyPr/>
          <a:lstStyle/>
          <a:p>
            <a:r>
              <a:rPr lang="zh-CN" altLang="en-US" b="1" dirty="0"/>
              <a:t>“两段”锁的含义</a:t>
            </a:r>
            <a:endParaRPr lang="zh-CN" altLang="en-US" b="1" dirty="0"/>
          </a:p>
          <a:p>
            <a:pPr marL="457200" lvl="1" indent="0">
              <a:buNone/>
            </a:pPr>
            <a:r>
              <a:rPr lang="zh-CN" altLang="en-US" b="1" dirty="0"/>
              <a:t>事务分为</a:t>
            </a:r>
            <a:r>
              <a:rPr lang="zh-CN" altLang="en-US" b="1" dirty="0">
                <a:solidFill>
                  <a:schemeClr val="tx2"/>
                </a:solidFill>
              </a:rPr>
              <a:t>两个阶段</a:t>
            </a:r>
            <a:endParaRPr lang="zh-CN" altLang="en-US" b="1" dirty="0">
              <a:solidFill>
                <a:schemeClr val="tx2"/>
              </a:solidFill>
            </a:endParaRPr>
          </a:p>
          <a:p>
            <a:pPr lvl="1"/>
            <a:r>
              <a:rPr lang="zh-CN" altLang="en-US" b="1" dirty="0"/>
              <a:t>第一阶段是</a:t>
            </a:r>
            <a:r>
              <a:rPr lang="zh-CN" altLang="en-US" b="1" dirty="0">
                <a:solidFill>
                  <a:srgbClr val="FF0000"/>
                </a:solidFill>
              </a:rPr>
              <a:t>获得封锁</a:t>
            </a:r>
            <a:r>
              <a:rPr lang="zh-CN" altLang="en-US" b="1" dirty="0"/>
              <a:t>，也称为</a:t>
            </a:r>
            <a:r>
              <a:rPr lang="zh-CN" altLang="en-US" b="1" dirty="0">
                <a:solidFill>
                  <a:schemeClr val="tx2"/>
                </a:solidFill>
              </a:rPr>
              <a:t>扩展</a:t>
            </a:r>
            <a:r>
              <a:rPr lang="en-US" altLang="zh-CN" b="1" dirty="0">
                <a:solidFill>
                  <a:schemeClr val="tx2"/>
                </a:solidFill>
              </a:rPr>
              <a:t>/</a:t>
            </a:r>
            <a:r>
              <a:rPr lang="zh-CN" altLang="en-US" b="1" dirty="0">
                <a:solidFill>
                  <a:schemeClr val="tx2"/>
                </a:solidFill>
              </a:rPr>
              <a:t>增长阶段</a:t>
            </a:r>
            <a:endParaRPr lang="zh-CN" altLang="en-US" b="1" dirty="0">
              <a:solidFill>
                <a:schemeClr val="tx2"/>
              </a:solidFill>
            </a:endParaRPr>
          </a:p>
          <a:p>
            <a:pPr lvl="2"/>
            <a:r>
              <a:rPr lang="zh-CN" altLang="en-US" b="1" dirty="0"/>
              <a:t>事务可以</a:t>
            </a:r>
            <a:r>
              <a:rPr lang="zh-CN" altLang="en-US" b="1" dirty="0">
                <a:solidFill>
                  <a:schemeClr val="tx2"/>
                </a:solidFill>
              </a:rPr>
              <a:t>申请</a:t>
            </a:r>
            <a:r>
              <a:rPr lang="zh-CN" altLang="en-US" b="1" dirty="0"/>
              <a:t>获得</a:t>
            </a:r>
            <a:r>
              <a:rPr lang="zh-CN" altLang="en-US" b="1" dirty="0">
                <a:solidFill>
                  <a:schemeClr val="tx2"/>
                </a:solidFill>
              </a:rPr>
              <a:t>任何数据项</a:t>
            </a:r>
            <a:r>
              <a:rPr lang="zh-CN" altLang="en-US" b="1" dirty="0"/>
              <a:t>上的</a:t>
            </a:r>
            <a:r>
              <a:rPr lang="zh-CN" altLang="en-US" b="1" dirty="0">
                <a:solidFill>
                  <a:schemeClr val="tx2"/>
                </a:solidFill>
              </a:rPr>
              <a:t>任何类型的锁</a:t>
            </a:r>
            <a:r>
              <a:rPr lang="en-US" altLang="zh-CN" b="1" dirty="0">
                <a:solidFill>
                  <a:schemeClr val="tx2"/>
                </a:solidFill>
              </a:rPr>
              <a:t>(</a:t>
            </a:r>
            <a:r>
              <a:rPr lang="zh-CN" altLang="en-US" b="1" dirty="0">
                <a:solidFill>
                  <a:schemeClr val="tx2"/>
                </a:solidFill>
              </a:rPr>
              <a:t>无锁冲突</a:t>
            </a:r>
            <a:r>
              <a:rPr lang="en-US" altLang="zh-CN" b="1" dirty="0">
                <a:solidFill>
                  <a:schemeClr val="tx2"/>
                </a:solidFill>
              </a:rPr>
              <a:t>)</a:t>
            </a:r>
            <a:r>
              <a:rPr lang="zh-CN" altLang="en-US" b="1" dirty="0"/>
              <a:t>，但是</a:t>
            </a:r>
            <a:r>
              <a:rPr lang="zh-CN" altLang="en-US" b="1" dirty="0">
                <a:solidFill>
                  <a:srgbClr val="C00000"/>
                </a:solidFill>
              </a:rPr>
              <a:t>不能释放任何锁 </a:t>
            </a:r>
            <a:endParaRPr lang="zh-CN" altLang="en-US" b="1" dirty="0">
              <a:solidFill>
                <a:srgbClr val="C00000"/>
              </a:solidFill>
            </a:endParaRPr>
          </a:p>
          <a:p>
            <a:pPr lvl="1"/>
            <a:r>
              <a:rPr lang="zh-CN" altLang="en-US" b="1" dirty="0"/>
              <a:t>第二阶段是</a:t>
            </a:r>
            <a:r>
              <a:rPr lang="zh-CN" altLang="en-US" b="1" dirty="0">
                <a:solidFill>
                  <a:srgbClr val="FF0000"/>
                </a:solidFill>
              </a:rPr>
              <a:t>释放封锁</a:t>
            </a:r>
            <a:r>
              <a:rPr lang="zh-CN" altLang="en-US" b="1" dirty="0"/>
              <a:t>，也称为</a:t>
            </a:r>
            <a:r>
              <a:rPr lang="zh-CN" altLang="en-US" b="1" dirty="0">
                <a:solidFill>
                  <a:schemeClr val="tx2"/>
                </a:solidFill>
              </a:rPr>
              <a:t>收缩</a:t>
            </a:r>
            <a:r>
              <a:rPr lang="en-US" altLang="zh-CN" b="1" dirty="0">
                <a:solidFill>
                  <a:schemeClr val="tx2"/>
                </a:solidFill>
              </a:rPr>
              <a:t>/</a:t>
            </a:r>
            <a:r>
              <a:rPr lang="zh-CN" altLang="en-US" b="1" dirty="0">
                <a:solidFill>
                  <a:schemeClr val="tx2"/>
                </a:solidFill>
              </a:rPr>
              <a:t>缩减阶段</a:t>
            </a:r>
            <a:endParaRPr lang="zh-CN" altLang="en-US" b="1" dirty="0">
              <a:solidFill>
                <a:schemeClr val="tx2"/>
              </a:solidFill>
            </a:endParaRPr>
          </a:p>
          <a:p>
            <a:pPr lvl="2"/>
            <a:r>
              <a:rPr lang="zh-CN" altLang="en-US" b="1" dirty="0"/>
              <a:t>事务可以</a:t>
            </a:r>
            <a:r>
              <a:rPr lang="zh-CN" altLang="en-US" b="1" dirty="0">
                <a:solidFill>
                  <a:schemeClr val="tx2"/>
                </a:solidFill>
              </a:rPr>
              <a:t>释放任何数据项</a:t>
            </a:r>
            <a:r>
              <a:rPr lang="zh-CN" altLang="en-US" b="1" dirty="0"/>
              <a:t>上的</a:t>
            </a:r>
            <a:r>
              <a:rPr lang="zh-CN" altLang="en-US" b="1" dirty="0">
                <a:solidFill>
                  <a:schemeClr val="tx2"/>
                </a:solidFill>
              </a:rPr>
              <a:t>任何类型的锁</a:t>
            </a:r>
            <a:r>
              <a:rPr lang="zh-CN" altLang="en-US" b="1" dirty="0"/>
              <a:t>，但是</a:t>
            </a:r>
            <a:r>
              <a:rPr lang="zh-CN" altLang="en-US" b="1" dirty="0">
                <a:solidFill>
                  <a:srgbClr val="C00000"/>
                </a:solidFill>
              </a:rPr>
              <a:t>不能再申请获得任何锁 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两段锁协议（</a:t>
            </a:r>
            <a:r>
              <a:rPr lang="en-US" altLang="zh-CN"/>
              <a:t>2PL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BF03D-6072-41C2-BA5D-B8D2B37D4AB5}" type="datetime1">
              <a:rPr lang="zh-CN" altLang="en-US" smtClean="0"/>
            </a:fld>
            <a:endParaRPr lang="en-US" altLang="zh-CN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84213" y="1556792"/>
            <a:ext cx="80645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sz="2400" b="1" kern="0" dirty="0"/>
              <a:t>例</a:t>
            </a:r>
            <a:endParaRPr lang="zh-CN" altLang="en-US" sz="2400" b="1" kern="0" dirty="0"/>
          </a:p>
          <a:p>
            <a:pPr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sz="2400" kern="0" dirty="0"/>
              <a:t>事务</a:t>
            </a:r>
            <a:r>
              <a:rPr lang="en-US" altLang="zh-CN" sz="2400" kern="0" dirty="0" err="1">
                <a:solidFill>
                  <a:srgbClr val="FF0000"/>
                </a:solidFill>
              </a:rPr>
              <a:t>T</a:t>
            </a:r>
            <a:r>
              <a:rPr lang="en-US" altLang="zh-CN" sz="2400" i="1" kern="0" baseline="-25000" dirty="0" err="1">
                <a:solidFill>
                  <a:srgbClr val="FF0000"/>
                </a:solidFill>
              </a:rPr>
              <a:t>i</a:t>
            </a:r>
            <a:r>
              <a:rPr lang="en-US" altLang="zh-CN" sz="2400" i="1" kern="0" baseline="-25000" dirty="0">
                <a:solidFill>
                  <a:srgbClr val="FF0000"/>
                </a:solidFill>
              </a:rPr>
              <a:t> </a:t>
            </a:r>
            <a:r>
              <a:rPr lang="zh-CN" altLang="en-US" sz="2400" b="1" kern="0" dirty="0">
                <a:solidFill>
                  <a:srgbClr val="0000FF"/>
                </a:solidFill>
              </a:rPr>
              <a:t>遵守</a:t>
            </a:r>
            <a:r>
              <a:rPr lang="zh-CN" altLang="en-US" sz="2400" kern="0" dirty="0"/>
              <a:t>两段锁协议，其封锁序列是 ：</a:t>
            </a:r>
            <a:endParaRPr lang="zh-CN" altLang="en-US" sz="2400" kern="0" dirty="0"/>
          </a:p>
          <a:p>
            <a:pPr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sz="2000" kern="0" dirty="0" err="1"/>
              <a:t>Slock</a:t>
            </a:r>
            <a:r>
              <a:rPr lang="en-US" altLang="zh-CN" sz="2000" kern="0" dirty="0"/>
              <a:t> A    </a:t>
            </a:r>
            <a:r>
              <a:rPr lang="en-US" altLang="zh-CN" sz="2000" kern="0" dirty="0" err="1"/>
              <a:t>Slock</a:t>
            </a:r>
            <a:r>
              <a:rPr lang="en-US" altLang="zh-CN" sz="2000" kern="0" dirty="0"/>
              <a:t> B    </a:t>
            </a:r>
            <a:r>
              <a:rPr lang="en-US" altLang="zh-CN" sz="2000" kern="0" dirty="0" err="1"/>
              <a:t>Xlock</a:t>
            </a:r>
            <a:r>
              <a:rPr lang="en-US" altLang="zh-CN" sz="2000" kern="0" dirty="0"/>
              <a:t> C     Unlock B    Unlock A   Unlock C</a:t>
            </a:r>
            <a:r>
              <a:rPr lang="zh-CN" altLang="en-US" sz="2000" kern="0" dirty="0"/>
              <a:t>；</a:t>
            </a:r>
            <a:endParaRPr lang="zh-CN" altLang="en-US" sz="2400" kern="0" dirty="0"/>
          </a:p>
          <a:p>
            <a:pPr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sz="2000" kern="0" dirty="0"/>
              <a:t>|←	</a:t>
            </a:r>
            <a:r>
              <a:rPr lang="en-US" altLang="zh-CN" sz="2000" kern="0" dirty="0">
                <a:solidFill>
                  <a:srgbClr val="0000FF"/>
                </a:solidFill>
              </a:rPr>
              <a:t>    </a:t>
            </a:r>
            <a:r>
              <a:rPr lang="zh-CN" altLang="en-US" sz="2000" kern="0" dirty="0">
                <a:solidFill>
                  <a:srgbClr val="0000FF"/>
                </a:solidFill>
              </a:rPr>
              <a:t>扩展阶段</a:t>
            </a:r>
            <a:r>
              <a:rPr lang="zh-CN" altLang="en-US" sz="2000" kern="0" dirty="0"/>
              <a:t>	  →</a:t>
            </a:r>
            <a:r>
              <a:rPr lang="en-US" altLang="zh-CN" sz="2000" kern="0" dirty="0"/>
              <a:t>|   |←	</a:t>
            </a:r>
            <a:r>
              <a:rPr lang="zh-CN" altLang="en-US" sz="2000" kern="0" dirty="0">
                <a:solidFill>
                  <a:srgbClr val="0000FF"/>
                </a:solidFill>
              </a:rPr>
              <a:t>收缩阶段              </a:t>
            </a:r>
            <a:r>
              <a:rPr lang="zh-CN" altLang="en-US" sz="2000" kern="0" dirty="0"/>
              <a:t>→</a:t>
            </a:r>
            <a:r>
              <a:rPr lang="en-US" altLang="zh-CN" sz="2000" kern="0" dirty="0"/>
              <a:t>|</a:t>
            </a:r>
            <a:endParaRPr lang="en-US" altLang="zh-CN" sz="2000" kern="0" dirty="0"/>
          </a:p>
          <a:p>
            <a:pPr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sz="2400" kern="0" dirty="0"/>
              <a:t>事务</a:t>
            </a:r>
            <a:r>
              <a:rPr lang="en-US" altLang="zh-CN" sz="2400" kern="0" dirty="0" err="1"/>
              <a:t>T</a:t>
            </a:r>
            <a:r>
              <a:rPr lang="en-US" altLang="zh-CN" sz="2400" i="1" kern="0" baseline="-25000" dirty="0" err="1"/>
              <a:t>j</a:t>
            </a:r>
            <a:r>
              <a:rPr lang="en-US" altLang="zh-CN" sz="2400" i="1" kern="0" baseline="-25000" dirty="0"/>
              <a:t> </a:t>
            </a:r>
            <a:r>
              <a:rPr lang="zh-CN" altLang="en-US" sz="2400" b="1" kern="0" dirty="0">
                <a:solidFill>
                  <a:srgbClr val="FF0000"/>
                </a:solidFill>
              </a:rPr>
              <a:t>不遵守</a:t>
            </a:r>
            <a:r>
              <a:rPr lang="zh-CN" altLang="en-US" sz="2400" kern="0" dirty="0"/>
              <a:t>两段锁协议，其封锁序列是：</a:t>
            </a:r>
            <a:r>
              <a:rPr lang="zh-CN" altLang="en-US" kern="0" dirty="0"/>
              <a:t> </a:t>
            </a:r>
            <a:endParaRPr lang="zh-CN" altLang="en-US" sz="2400" kern="0" dirty="0"/>
          </a:p>
          <a:p>
            <a:pPr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sz="2000" kern="0" dirty="0" err="1"/>
              <a:t>Slock</a:t>
            </a:r>
            <a:r>
              <a:rPr lang="en-US" altLang="zh-CN" sz="2000" kern="0" dirty="0"/>
              <a:t> A    Unlock A    </a:t>
            </a:r>
            <a:r>
              <a:rPr lang="en-US" altLang="zh-CN" sz="2000" kern="0" dirty="0" err="1"/>
              <a:t>Slock</a:t>
            </a:r>
            <a:r>
              <a:rPr lang="en-US" altLang="zh-CN" sz="2000" kern="0" dirty="0"/>
              <a:t> B    </a:t>
            </a:r>
            <a:r>
              <a:rPr lang="en-US" altLang="zh-CN" sz="2000" kern="0" dirty="0" err="1"/>
              <a:t>Xlock</a:t>
            </a:r>
            <a:r>
              <a:rPr lang="en-US" altLang="zh-CN" sz="2000" kern="0" dirty="0"/>
              <a:t> C    Unlock C    Unlock B</a:t>
            </a:r>
            <a:r>
              <a:rPr lang="zh-CN" altLang="en-US" sz="2000" kern="0" dirty="0"/>
              <a:t>；</a:t>
            </a:r>
            <a:endParaRPr lang="zh-CN" altLang="en-US" sz="2000" kern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两段锁协议（</a:t>
            </a:r>
            <a:r>
              <a:rPr lang="en-US" altLang="zh-CN"/>
              <a:t>2PL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9" name="Text Box 586"/>
          <p:cNvSpPr txBox="1">
            <a:spLocks noChangeArrowheads="1"/>
          </p:cNvSpPr>
          <p:nvPr/>
        </p:nvSpPr>
        <p:spPr bwMode="auto">
          <a:xfrm>
            <a:off x="4682706" y="1628800"/>
            <a:ext cx="3662362" cy="1691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n"/>
            </a:pPr>
            <a:r>
              <a:rPr lang="zh-CN" altLang="zh-CN" sz="2000" b="1" dirty="0">
                <a:latin typeface="Times New Roman" panose="02020603050405020304" pitchFamily="18" charset="0"/>
              </a:rPr>
              <a:t>左图的调度是遵守两段锁协议的，因此一定是一个可</a:t>
            </a:r>
            <a:r>
              <a:rPr lang="zh-CN" altLang="zh-CN" sz="2000" b="1" dirty="0">
                <a:latin typeface="Times New Roman" panose="02020603050405020304" pitchFamily="18" charset="0"/>
              </a:rPr>
              <a:t>串行化调度。</a:t>
            </a:r>
            <a:endParaRPr lang="zh-CN" altLang="zh-CN" sz="20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200000"/>
              </a:lnSpc>
              <a:buSzPct val="100000"/>
              <a:buFont typeface="Wingdings" panose="05000000000000000000" pitchFamily="2" charset="2"/>
              <a:buChar char="n"/>
            </a:pPr>
            <a:r>
              <a:rPr lang="zh-CN" altLang="zh-CN" sz="2000" b="1" dirty="0">
                <a:latin typeface="Times New Roman" panose="02020603050405020304" pitchFamily="18" charset="0"/>
              </a:rPr>
              <a:t>如何验证？ </a:t>
            </a:r>
            <a:endParaRPr lang="zh-CN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97466" y="3632136"/>
            <a:ext cx="5432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000" b="0" u="none" strike="noStrike" cap="none" normalizeH="0" baseline="0" dirty="0">
                <a:ln>
                  <a:noFill/>
                </a:ln>
                <a:effectLst/>
              </a:rPr>
              <a:t>R</a:t>
            </a:r>
            <a:r>
              <a:rPr kumimoji="0" lang="en-US" altLang="zh-CN" sz="2000" b="0" u="none" strike="noStrike" cap="none" normalizeH="0" baseline="-25000" dirty="0">
                <a:ln>
                  <a:noFill/>
                </a:ln>
                <a:effectLst/>
              </a:rPr>
              <a:t>1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effectLst/>
              </a:rPr>
              <a:t>(A)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</a:rPr>
              <a:t>R</a:t>
            </a:r>
            <a:r>
              <a:rPr kumimoji="0" lang="en-US" altLang="zh-CN" sz="2000" b="0" u="none" strike="noStrike" cap="none" normalizeH="0" baseline="-25000" dirty="0">
                <a:ln>
                  <a:noFill/>
                </a:ln>
                <a:solidFill>
                  <a:srgbClr val="006600"/>
                </a:solidFill>
                <a:effectLst/>
              </a:rPr>
              <a:t>2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</a:rPr>
              <a:t>(C)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effectLst/>
              </a:rPr>
              <a:t>W</a:t>
            </a:r>
            <a:r>
              <a:rPr lang="en-US" altLang="zh-CN" sz="2000" baseline="-25000" dirty="0"/>
              <a:t>1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effectLst/>
              </a:rPr>
              <a:t>(A)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</a:rPr>
              <a:t>W</a:t>
            </a:r>
            <a:r>
              <a:rPr lang="en-US" altLang="zh-CN" sz="2000" baseline="-25000" dirty="0">
                <a:solidFill>
                  <a:srgbClr val="006600"/>
                </a:solidFill>
              </a:rPr>
              <a:t>2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</a:rPr>
              <a:t>(C)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effectLst/>
              </a:rPr>
              <a:t>R</a:t>
            </a:r>
            <a:r>
              <a:rPr lang="en-US" altLang="zh-CN" sz="2000" baseline="-25000" dirty="0"/>
              <a:t>1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effectLst/>
              </a:rPr>
              <a:t>(B)W</a:t>
            </a:r>
            <a:r>
              <a:rPr lang="en-US" altLang="zh-CN" sz="2000" baseline="-25000" dirty="0"/>
              <a:t>1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effectLst/>
              </a:rPr>
              <a:t>(B)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</a:rPr>
              <a:t>R</a:t>
            </a:r>
            <a:r>
              <a:rPr lang="en-US" altLang="zh-CN" sz="2000" baseline="-25000" dirty="0">
                <a:solidFill>
                  <a:srgbClr val="006600"/>
                </a:solidFill>
              </a:rPr>
              <a:t>2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</a:rPr>
              <a:t>(A)</a:t>
            </a:r>
            <a:r>
              <a:rPr lang="en-US" altLang="zh-CN" sz="2000" baseline="-25000" dirty="0">
                <a:solidFill>
                  <a:srgbClr val="006600"/>
                </a:solidFill>
              </a:rPr>
              <a:t>2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</a:rPr>
              <a:t>W</a:t>
            </a:r>
            <a:r>
              <a:rPr lang="en-US" altLang="zh-CN" sz="2000" baseline="-25000" dirty="0">
                <a:solidFill>
                  <a:srgbClr val="006600"/>
                </a:solidFill>
              </a:rPr>
              <a:t>2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</a:rPr>
              <a:t>(A)</a:t>
            </a:r>
            <a:endParaRPr lang="zh-CN" altLang="en-US" sz="2000" dirty="0">
              <a:solidFill>
                <a:srgbClr val="0066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797466" y="4355619"/>
            <a:ext cx="5432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000" b="0" u="none" strike="noStrike" cap="none" normalizeH="0" baseline="0" dirty="0">
                <a:ln>
                  <a:noFill/>
                </a:ln>
                <a:effectLst/>
              </a:rPr>
              <a:t>R</a:t>
            </a:r>
            <a:r>
              <a:rPr lang="en-US" altLang="zh-CN" sz="2000" baseline="-25000" dirty="0"/>
              <a:t>1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effectLst/>
              </a:rPr>
              <a:t>(A)W</a:t>
            </a:r>
            <a:r>
              <a:rPr lang="en-US" altLang="zh-CN" sz="2000" baseline="-25000" dirty="0"/>
              <a:t>1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effectLst/>
              </a:rPr>
              <a:t>(A)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</a:rPr>
              <a:t>R</a:t>
            </a:r>
            <a:r>
              <a:rPr kumimoji="0" lang="en-US" altLang="zh-CN" sz="2000" b="0" u="none" strike="noStrike" cap="none" normalizeH="0" baseline="-25000" dirty="0">
                <a:ln>
                  <a:noFill/>
                </a:ln>
                <a:solidFill>
                  <a:srgbClr val="006600"/>
                </a:solidFill>
                <a:effectLst/>
              </a:rPr>
              <a:t>2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</a:rPr>
              <a:t>(C)W</a:t>
            </a:r>
            <a:r>
              <a:rPr lang="en-US" altLang="zh-CN" sz="2000" baseline="-25000" dirty="0">
                <a:solidFill>
                  <a:srgbClr val="006600"/>
                </a:solidFill>
              </a:rPr>
              <a:t>2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</a:rPr>
              <a:t>(C)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effectLst/>
              </a:rPr>
              <a:t>R</a:t>
            </a:r>
            <a:r>
              <a:rPr lang="en-US" altLang="zh-CN" sz="2000" baseline="-25000" dirty="0"/>
              <a:t>1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effectLst/>
              </a:rPr>
              <a:t>(B)W</a:t>
            </a:r>
            <a:r>
              <a:rPr lang="en-US" altLang="zh-CN" sz="2000" baseline="-25000" dirty="0"/>
              <a:t>1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effectLst/>
              </a:rPr>
              <a:t>(B)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</a:rPr>
              <a:t>R</a:t>
            </a:r>
            <a:r>
              <a:rPr lang="en-US" altLang="zh-CN" sz="2000" baseline="-25000" dirty="0">
                <a:solidFill>
                  <a:srgbClr val="006600"/>
                </a:solidFill>
              </a:rPr>
              <a:t>2 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</a:rPr>
              <a:t>(A)W</a:t>
            </a:r>
            <a:r>
              <a:rPr lang="en-US" altLang="zh-CN" sz="2000" baseline="-25000" dirty="0">
                <a:solidFill>
                  <a:srgbClr val="006600"/>
                </a:solidFill>
              </a:rPr>
              <a:t>2 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</a:rPr>
              <a:t>(A)</a:t>
            </a:r>
            <a:endParaRPr lang="zh-CN" altLang="en-US" sz="2000" dirty="0">
              <a:solidFill>
                <a:srgbClr val="006600"/>
              </a:solidFill>
            </a:endParaRPr>
          </a:p>
        </p:txBody>
      </p:sp>
      <p:sp>
        <p:nvSpPr>
          <p:cNvPr id="10" name="箭头: 右 9"/>
          <p:cNvSpPr/>
          <p:nvPr/>
        </p:nvSpPr>
        <p:spPr bwMode="auto">
          <a:xfrm rot="5400000">
            <a:off x="5996491" y="4063066"/>
            <a:ext cx="216024" cy="213308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1" name="箭头: 右 10"/>
          <p:cNvSpPr/>
          <p:nvPr/>
        </p:nvSpPr>
        <p:spPr bwMode="auto">
          <a:xfrm rot="5400000">
            <a:off x="5996491" y="4771445"/>
            <a:ext cx="216024" cy="213308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797466" y="5064120"/>
            <a:ext cx="64797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000" b="0" u="none" strike="noStrike" cap="none" normalizeH="0" baseline="0" dirty="0">
                <a:ln>
                  <a:noFill/>
                </a:ln>
                <a:effectLst/>
              </a:rPr>
              <a:t>R</a:t>
            </a:r>
            <a:r>
              <a:rPr lang="en-US" altLang="zh-CN" sz="2000" baseline="-25000" dirty="0"/>
              <a:t>1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effectLst/>
              </a:rPr>
              <a:t>(A)W</a:t>
            </a:r>
            <a:r>
              <a:rPr lang="en-US" altLang="zh-CN" sz="2000" baseline="-25000" dirty="0"/>
              <a:t>1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effectLst/>
              </a:rPr>
              <a:t>(A)R</a:t>
            </a:r>
            <a:r>
              <a:rPr lang="en-US" altLang="zh-CN" sz="2000" baseline="-25000" dirty="0"/>
              <a:t>1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effectLst/>
              </a:rPr>
              <a:t>(B)W</a:t>
            </a:r>
            <a:r>
              <a:rPr lang="en-US" altLang="zh-CN" sz="2000" baseline="-25000" dirty="0"/>
              <a:t>1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effectLst/>
              </a:rPr>
              <a:t>(B) 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</a:rPr>
              <a:t>R</a:t>
            </a:r>
            <a:r>
              <a:rPr lang="en-US" altLang="zh-CN" sz="2000" baseline="-25000" dirty="0">
                <a:solidFill>
                  <a:srgbClr val="006600"/>
                </a:solidFill>
              </a:rPr>
              <a:t>2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</a:rPr>
              <a:t>(C)W</a:t>
            </a:r>
            <a:r>
              <a:rPr lang="en-US" altLang="zh-CN" sz="2000" baseline="-25000" dirty="0">
                <a:solidFill>
                  <a:srgbClr val="006600"/>
                </a:solidFill>
              </a:rPr>
              <a:t>2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</a:rPr>
              <a:t>(C)R</a:t>
            </a:r>
            <a:r>
              <a:rPr lang="en-US" altLang="zh-CN" sz="2000" baseline="-25000" dirty="0">
                <a:solidFill>
                  <a:srgbClr val="006600"/>
                </a:solidFill>
              </a:rPr>
              <a:t>2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</a:rPr>
              <a:t>(A)W</a:t>
            </a:r>
            <a:r>
              <a:rPr lang="en-US" altLang="zh-CN" sz="2000" baseline="-25000" dirty="0">
                <a:solidFill>
                  <a:srgbClr val="006600"/>
                </a:solidFill>
              </a:rPr>
              <a:t>2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</a:rPr>
              <a:t>(A)</a:t>
            </a:r>
            <a:endParaRPr lang="zh-CN" altLang="en-US" sz="2000" dirty="0">
              <a:solidFill>
                <a:srgbClr val="0066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916371" y="5428253"/>
            <a:ext cx="557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000" b="0" u="none" strike="noStrike" cap="none" normalizeH="0" baseline="0" dirty="0">
                <a:ln>
                  <a:noFill/>
                </a:ln>
                <a:effectLst/>
              </a:rPr>
              <a:t>T</a:t>
            </a:r>
            <a:r>
              <a:rPr kumimoji="0" lang="en-US" altLang="zh-CN" sz="2000" b="0" u="none" strike="noStrike" cap="none" normalizeH="0" baseline="-30000" dirty="0">
                <a:ln>
                  <a:noFill/>
                </a:ln>
                <a:effectLst/>
              </a:rPr>
              <a:t>1</a:t>
            </a:r>
            <a:endParaRPr lang="zh-CN" altLang="en-US" sz="2000" dirty="0"/>
          </a:p>
        </p:txBody>
      </p:sp>
      <p:sp>
        <p:nvSpPr>
          <p:cNvPr id="15" name="文本框 14"/>
          <p:cNvSpPr txBox="1"/>
          <p:nvPr/>
        </p:nvSpPr>
        <p:spPr>
          <a:xfrm>
            <a:off x="6946352" y="5466856"/>
            <a:ext cx="557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000" b="0" u="none" strike="noStrike" cap="none" normalizeH="0" baseline="0" dirty="0">
                <a:ln>
                  <a:noFill/>
                </a:ln>
                <a:effectLst/>
              </a:rPr>
              <a:t>T</a:t>
            </a:r>
            <a:r>
              <a:rPr lang="en-US" altLang="zh-CN" sz="2000" baseline="-30000" dirty="0"/>
              <a:t>2</a:t>
            </a:r>
            <a:endParaRPr lang="zh-CN" altLang="en-US" sz="2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65584" y="6248400"/>
            <a:ext cx="1905000" cy="457200"/>
          </a:xfrm>
        </p:spPr>
        <p:txBody>
          <a:bodyPr/>
          <a:lstStyle/>
          <a:p>
            <a:fld id="{79DA62F9-D60E-4BD8-B3F9-048A5D541819}" type="datetime1">
              <a:rPr lang="zh-CN" altLang="en-US" smtClean="0"/>
            </a:fld>
            <a:endParaRPr lang="en-US" altLang="zh-CN"/>
          </a:p>
        </p:txBody>
      </p:sp>
      <p:graphicFrame>
        <p:nvGraphicFramePr>
          <p:cNvPr id="8" name="Group 3"/>
          <p:cNvGraphicFramePr>
            <a:graphicFrameLocks noGrp="1"/>
          </p:cNvGraphicFramePr>
          <p:nvPr>
            <p:ph idx="4294967295"/>
          </p:nvPr>
        </p:nvGraphicFramePr>
        <p:xfrm>
          <a:off x="507541" y="1368430"/>
          <a:ext cx="3334656" cy="5332408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1558695"/>
                <a:gridCol w="1775961"/>
              </a:tblGrid>
              <a:tr h="310024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600" b="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事务</a:t>
                      </a: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</a:t>
                      </a:r>
                      <a:r>
                        <a:rPr kumimoji="0" lang="en-US" sz="1600" b="0" u="none" strike="noStrike" cap="none" normalizeH="0" baseline="-3000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600" b="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事务</a:t>
                      </a: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</a:t>
                      </a:r>
                      <a:r>
                        <a:rPr kumimoji="0" lang="en-US" sz="1600" b="0" u="none" strike="noStrike" cap="none" normalizeH="0" baseline="-3000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6433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600" b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Slock</a:t>
                      </a: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A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6433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R(A)=260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643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600" b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Slock</a:t>
                      </a: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C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643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R(C)=300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6433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600" b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Xlock</a:t>
                      </a: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6433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W(A)=160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643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600" b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Xlock</a:t>
                      </a: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C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643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W(C)=250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643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600" b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Slock</a:t>
                      </a: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A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6433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600" b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Slock</a:t>
                      </a: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B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sz="1600" b="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等待</a:t>
                      </a:r>
                      <a:endParaRPr kumimoji="0" 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6433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R(B)=1000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sz="1600" b="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等待</a:t>
                      </a:r>
                      <a:endParaRPr kumimoji="0" 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6433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600" b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Xlock</a:t>
                      </a: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sz="1600" b="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等待</a:t>
                      </a:r>
                      <a:endParaRPr kumimoji="0" 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6433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W(B)=1100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600" b="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等待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6433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</a:rPr>
                        <a:t>Unlock</a:t>
                      </a: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A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sz="1600" b="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等待</a:t>
                      </a:r>
                      <a:endParaRPr kumimoji="0" 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643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</a:rPr>
                        <a:t>R(A)=160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643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600" b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Xlock</a:t>
                      </a: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A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6433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</a:rPr>
                        <a:t>Unlock</a:t>
                      </a: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B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643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W(A)=210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643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ts val="1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</a:rPr>
                        <a:t>Unlock</a:t>
                      </a: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C 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FFC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3" name="直接箭头连接符 12"/>
          <p:cNvCxnSpPr/>
          <p:nvPr/>
        </p:nvCxnSpPr>
        <p:spPr bwMode="auto">
          <a:xfrm>
            <a:off x="251520" y="1988840"/>
            <a:ext cx="0" cy="41764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 animBg="1"/>
      <p:bldP spid="11" grpId="0" animBg="1"/>
      <p:bldP spid="12" grpId="0"/>
      <p:bldP spid="14" grpId="0"/>
      <p:bldP spid="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两段锁协议（</a:t>
            </a:r>
            <a:r>
              <a:rPr lang="en-US" altLang="zh-CN"/>
              <a:t>2PL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557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b="1" dirty="0"/>
              <a:t>可以证明</a:t>
            </a:r>
            <a:r>
              <a:rPr lang="zh-CN" altLang="en-US" sz="2800" dirty="0"/>
              <a:t>，若</a:t>
            </a:r>
            <a:r>
              <a:rPr lang="zh-CN" altLang="en-US" sz="2800" dirty="0">
                <a:solidFill>
                  <a:schemeClr val="tx2"/>
                </a:solidFill>
              </a:rPr>
              <a:t>并发执行的所有事务</a:t>
            </a:r>
            <a:r>
              <a:rPr lang="zh-CN" altLang="en-US" sz="2800" dirty="0">
                <a:solidFill>
                  <a:srgbClr val="FF0303"/>
                </a:solidFill>
              </a:rPr>
              <a:t>均遵守两段锁协议，</a:t>
            </a:r>
            <a:r>
              <a:rPr lang="zh-CN" altLang="en-US" sz="2800" dirty="0"/>
              <a:t>则对这些事务的</a:t>
            </a:r>
            <a:r>
              <a:rPr lang="zh-CN" altLang="en-US" sz="2800" b="1" dirty="0">
                <a:solidFill>
                  <a:srgbClr val="0000FF"/>
                </a:solidFill>
              </a:rPr>
              <a:t>任何并发调度策略</a:t>
            </a:r>
            <a:r>
              <a:rPr lang="zh-CN" altLang="en-US" sz="2800" dirty="0">
                <a:solidFill>
                  <a:srgbClr val="FF0303"/>
                </a:solidFill>
              </a:rPr>
              <a:t>都是</a:t>
            </a:r>
            <a:r>
              <a:rPr lang="zh-CN" altLang="en-US" sz="2800" b="1" dirty="0">
                <a:solidFill>
                  <a:srgbClr val="FF0303"/>
                </a:solidFill>
              </a:rPr>
              <a:t>可串行化的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>
              <a:lnSpc>
                <a:spcPct val="90000"/>
              </a:lnSpc>
            </a:pPr>
            <a:r>
              <a:rPr lang="zh-CN" altLang="en-US" sz="2800" dirty="0"/>
              <a:t>另外，对于任何事务，我们把在调度中该事务获得其</a:t>
            </a:r>
            <a:r>
              <a:rPr lang="zh-CN" altLang="en-US" sz="2800" dirty="0">
                <a:solidFill>
                  <a:srgbClr val="0000FF"/>
                </a:solidFill>
              </a:rPr>
              <a:t>最后加锁的位置</a:t>
            </a:r>
            <a:r>
              <a:rPr lang="en-US" altLang="zh-CN" sz="2800" dirty="0"/>
              <a:t>(</a:t>
            </a:r>
            <a:r>
              <a:rPr lang="zh-CN" altLang="en-US" sz="2800" dirty="0"/>
              <a:t>增长阶段结束点</a:t>
            </a:r>
            <a:r>
              <a:rPr lang="en-US" altLang="zh-CN" sz="2800" dirty="0"/>
              <a:t>)</a:t>
            </a:r>
            <a:r>
              <a:rPr lang="zh-CN" altLang="en-US" sz="2800" dirty="0"/>
              <a:t>，称为事务的</a:t>
            </a:r>
            <a:r>
              <a:rPr lang="zh-CN" altLang="en-US" sz="2800" b="1" dirty="0">
                <a:solidFill>
                  <a:srgbClr val="0000FF"/>
                </a:solidFill>
              </a:rPr>
              <a:t>封锁点</a:t>
            </a:r>
            <a:r>
              <a:rPr lang="en-US" altLang="zh-CN" sz="2800" b="1" dirty="0"/>
              <a:t>(</a:t>
            </a:r>
            <a:r>
              <a:rPr lang="en-US" altLang="zh-CN" sz="2800" dirty="0"/>
              <a:t>lock point</a:t>
            </a:r>
            <a:r>
              <a:rPr lang="en-US" altLang="zh-CN" sz="2800" b="1" dirty="0"/>
              <a:t>)</a:t>
            </a:r>
            <a:r>
              <a:rPr lang="zh-CN" altLang="en-US" sz="2800" dirty="0"/>
              <a:t>。这样，</a:t>
            </a:r>
            <a:r>
              <a:rPr lang="zh-CN" altLang="en-US" sz="2800" dirty="0">
                <a:solidFill>
                  <a:srgbClr val="0000FF"/>
                </a:solidFill>
              </a:rPr>
              <a:t>多个事务</a:t>
            </a:r>
            <a:r>
              <a:rPr lang="zh-CN" altLang="en-US" sz="2800" dirty="0"/>
              <a:t>可以根据它们的</a:t>
            </a:r>
            <a:r>
              <a:rPr lang="zh-CN" altLang="en-US" sz="2800" b="1" dirty="0">
                <a:solidFill>
                  <a:srgbClr val="0000FF"/>
                </a:solidFill>
              </a:rPr>
              <a:t>封锁点</a:t>
            </a:r>
            <a:r>
              <a:rPr lang="zh-CN" altLang="en-US" sz="2800" b="1" dirty="0"/>
              <a:t>进行</a:t>
            </a:r>
            <a:r>
              <a:rPr lang="zh-CN" altLang="en-US" sz="2800" b="1" dirty="0">
                <a:solidFill>
                  <a:srgbClr val="0000FF"/>
                </a:solidFill>
              </a:rPr>
              <a:t>排序</a:t>
            </a:r>
            <a:r>
              <a:rPr lang="zh-CN" altLang="en-US" sz="2800" dirty="0"/>
              <a:t>，实际上，这个</a:t>
            </a:r>
            <a:r>
              <a:rPr lang="zh-CN" altLang="en-US" sz="2800" dirty="0">
                <a:solidFill>
                  <a:srgbClr val="0000FF"/>
                </a:solidFill>
              </a:rPr>
              <a:t>顺序</a:t>
            </a:r>
            <a:r>
              <a:rPr lang="zh-CN" altLang="en-US" sz="2800" dirty="0"/>
              <a:t>就是</a:t>
            </a:r>
            <a:r>
              <a:rPr lang="zh-CN" altLang="en-US" sz="2800" b="1" dirty="0">
                <a:solidFill>
                  <a:srgbClr val="FF0000"/>
                </a:solidFill>
              </a:rPr>
              <a:t>事务的一个可串行化顺序</a:t>
            </a:r>
            <a:r>
              <a:rPr lang="zh-CN" altLang="en-US" sz="2800" dirty="0"/>
              <a:t>。</a:t>
            </a:r>
            <a:r>
              <a:rPr lang="zh-CN" altLang="en-US" sz="2400" dirty="0"/>
              <a:t>（将此证明见实践习题）</a:t>
            </a:r>
            <a:endParaRPr lang="zh-CN" altLang="en-US" sz="2800" dirty="0"/>
          </a:p>
          <a:p>
            <a:pPr>
              <a:lnSpc>
                <a:spcPct val="90000"/>
              </a:lnSpc>
            </a:pPr>
            <a:r>
              <a:rPr lang="zh-CN" altLang="en-US" sz="2800" dirty="0"/>
              <a:t>另外，要注意</a:t>
            </a:r>
            <a:r>
              <a:rPr lang="zh-CN" altLang="en-US" sz="2800" b="1" dirty="0">
                <a:solidFill>
                  <a:srgbClr val="FF0000"/>
                </a:solidFill>
              </a:rPr>
              <a:t>遵循</a:t>
            </a:r>
            <a:r>
              <a:rPr lang="zh-CN" altLang="en-US" sz="2800" dirty="0">
                <a:solidFill>
                  <a:srgbClr val="0000FF"/>
                </a:solidFill>
              </a:rPr>
              <a:t>两段锁协议的调度</a:t>
            </a:r>
            <a:r>
              <a:rPr lang="zh-CN" altLang="en-US" sz="2800" dirty="0">
                <a:solidFill>
                  <a:srgbClr val="FF0000"/>
                </a:solidFill>
              </a:rPr>
              <a:t>并不能保证</a:t>
            </a:r>
            <a:r>
              <a:rPr lang="zh-CN" altLang="en-US" sz="2800" dirty="0">
                <a:solidFill>
                  <a:srgbClr val="0000FF"/>
                </a:solidFill>
              </a:rPr>
              <a:t>不发生死锁。</a:t>
            </a:r>
            <a:endParaRPr lang="en-US" altLang="zh-CN" sz="2800" dirty="0">
              <a:solidFill>
                <a:srgbClr val="0000FF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F04CD-AC8B-4EE7-BB13-C498EC96713D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7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7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7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7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7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7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两段锁协议（</a:t>
            </a:r>
            <a:r>
              <a:rPr lang="en-US" altLang="zh-CN"/>
              <a:t>2PL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54587-FCC6-4A76-A223-8B0467C6F825}" type="datetime1">
              <a:rPr lang="zh-CN" altLang="en-US" smtClean="0"/>
            </a:fld>
            <a:endParaRPr lang="en-US" altLang="zh-CN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57200" y="1327150"/>
            <a:ext cx="8229600" cy="588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400" kern="0" dirty="0"/>
              <a:t>[</a:t>
            </a:r>
            <a:r>
              <a:rPr lang="zh-CN" altLang="en-US" sz="2400" kern="0" dirty="0"/>
              <a:t>例</a:t>
            </a:r>
            <a:r>
              <a:rPr lang="en-US" altLang="zh-CN" sz="2400" kern="0" dirty="0"/>
              <a:t>]</a:t>
            </a:r>
            <a:r>
              <a:rPr lang="zh-CN" altLang="en-US" sz="2400" kern="0" dirty="0"/>
              <a:t>遵守两段锁协议的事务发生死锁</a:t>
            </a:r>
            <a:endParaRPr lang="zh-CN" altLang="en-US" sz="2400" kern="0" dirty="0"/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071625" y="5518973"/>
            <a:ext cx="705678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SzPct val="100000"/>
              <a:buFont typeface="Wingdings" panose="05000000000000000000" pitchFamily="2" charset="2"/>
              <a:buNone/>
            </a:pPr>
            <a:r>
              <a:rPr lang="zh-CN" altLang="zh-CN" sz="2000" b="1" dirty="0">
                <a:latin typeface="Times New Roman" panose="02020603050405020304" pitchFamily="18" charset="0"/>
              </a:rPr>
              <a:t>遵守两段锁协议的事务可能发生死锁</a:t>
            </a:r>
            <a:r>
              <a:rPr lang="zh-CN" altLang="en-US" sz="2000" b="1" dirty="0">
                <a:latin typeface="Times New Roman" panose="02020603050405020304" pitchFamily="18" charset="0"/>
              </a:rPr>
              <a:t>，因为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封锁的数据项</a:t>
            </a:r>
            <a:r>
              <a:rPr lang="zh-CN" altLang="en-US" sz="2000" b="1" dirty="0">
                <a:latin typeface="Times New Roman" panose="02020603050405020304" pitchFamily="18" charset="0"/>
              </a:rPr>
              <a:t>是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由事务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用户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决定</a:t>
            </a:r>
            <a:r>
              <a:rPr lang="zh-CN" altLang="en-US" sz="2000" b="1" dirty="0">
                <a:latin typeface="Times New Roman" panose="02020603050405020304" pitchFamily="18" charset="0"/>
              </a:rPr>
              <a:t>，</a:t>
            </a:r>
            <a:r>
              <a:rPr lang="zh-CN" altLang="en-US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无法提前预知</a:t>
            </a:r>
            <a:r>
              <a:rPr lang="zh-CN" altLang="zh-CN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endParaRPr lang="zh-CN" altLang="zh-CN" sz="2000" b="1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524000" y="1916113"/>
          <a:ext cx="6096000" cy="3413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42664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solidFill>
                            <a:schemeClr val="tx1"/>
                          </a:solidFill>
                        </a:rPr>
                        <a:t>事务</a:t>
                      </a:r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altLang="zh-CN" sz="2200" b="1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marT="45689" marB="45689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solidFill>
                            <a:schemeClr val="tx1"/>
                          </a:solidFill>
                        </a:rPr>
                        <a:t>事务</a:t>
                      </a:r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altLang="zh-CN" sz="2200" b="1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marT="45689" marB="45689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42664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 err="1">
                          <a:solidFill>
                            <a:schemeClr val="tx1"/>
                          </a:solidFill>
                        </a:rPr>
                        <a:t>Slock</a:t>
                      </a:r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 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9" marB="45689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9" marB="45689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42664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R(B)=2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9" marB="45689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9" marB="45689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426641">
                <a:tc>
                  <a:txBody>
                    <a:bodyPr/>
                    <a:lstStyle/>
                    <a:p>
                      <a:pPr algn="ctr"/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9" marB="45689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 err="1">
                          <a:solidFill>
                            <a:schemeClr val="tx1"/>
                          </a:solidFill>
                        </a:rPr>
                        <a:t>Slock</a:t>
                      </a:r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 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9" marB="45689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426641">
                <a:tc>
                  <a:txBody>
                    <a:bodyPr/>
                    <a:lstStyle/>
                    <a:p>
                      <a:pPr algn="ctr"/>
                      <a:endParaRPr lang="zh-CN" altLang="en-US" sz="2200" b="1">
                        <a:solidFill>
                          <a:schemeClr val="tx1"/>
                        </a:solidFill>
                      </a:endParaRPr>
                    </a:p>
                  </a:txBody>
                  <a:tcPr marT="45689" marB="45689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R(A)=2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9" marB="45689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42664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 err="1">
                          <a:solidFill>
                            <a:schemeClr val="tx1"/>
                          </a:solidFill>
                        </a:rPr>
                        <a:t>Xlock</a:t>
                      </a:r>
                      <a:r>
                        <a:rPr lang="en-US" altLang="zh-CN" sz="2200" b="1" baseline="0" dirty="0">
                          <a:solidFill>
                            <a:schemeClr val="tx1"/>
                          </a:solidFill>
                        </a:rPr>
                        <a:t> 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9" marB="45689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9" marB="45689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42664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solidFill>
                            <a:schemeClr val="tx1"/>
                          </a:solidFill>
                        </a:rPr>
                        <a:t>等待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9" marB="45689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 err="1">
                          <a:solidFill>
                            <a:schemeClr val="tx1"/>
                          </a:solidFill>
                        </a:rPr>
                        <a:t>Xlock</a:t>
                      </a:r>
                      <a:r>
                        <a:rPr lang="en-US" altLang="zh-CN" sz="2200" b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2200" b="1" baseline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altLang="zh-CN" sz="22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T="45689" marB="45689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42664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solidFill>
                            <a:schemeClr val="tx1"/>
                          </a:solidFill>
                        </a:rPr>
                        <a:t>等待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9" marB="45689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solidFill>
                            <a:schemeClr val="tx1"/>
                          </a:solidFill>
                        </a:rPr>
                        <a:t>等待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9" marB="45689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两段锁协议（</a:t>
            </a:r>
            <a:r>
              <a:rPr lang="en-US" altLang="zh-CN"/>
              <a:t>2PL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557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4538464" cy="46847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dirty="0"/>
              <a:t>回顾</a:t>
            </a:r>
            <a:r>
              <a:rPr lang="zh-CN" altLang="en-US" sz="2800" b="1" dirty="0"/>
              <a:t>：为保证数据库的一致性，调度必须是</a:t>
            </a:r>
            <a:r>
              <a:rPr lang="zh-CN" altLang="en-US" sz="2800" b="1" dirty="0">
                <a:solidFill>
                  <a:srgbClr val="0000FF"/>
                </a:solidFill>
              </a:rPr>
              <a:t>冲突</a:t>
            </a:r>
            <a:r>
              <a:rPr lang="zh-CN" altLang="en-US" sz="2800" b="1" dirty="0">
                <a:solidFill>
                  <a:srgbClr val="FF0000"/>
                </a:solidFill>
              </a:rPr>
              <a:t>可串行化</a:t>
            </a:r>
            <a:r>
              <a:rPr lang="zh-CN" altLang="en-US" sz="2800" b="1" dirty="0"/>
              <a:t>的、</a:t>
            </a:r>
            <a:r>
              <a:rPr lang="zh-CN" altLang="en-US" sz="2800" b="1" dirty="0">
                <a:solidFill>
                  <a:srgbClr val="FF0000"/>
                </a:solidFill>
              </a:rPr>
              <a:t>可恢复</a:t>
            </a:r>
            <a:r>
              <a:rPr lang="zh-CN" altLang="en-US" sz="2800" b="1" dirty="0"/>
              <a:t>的、并且最好是</a:t>
            </a:r>
            <a:r>
              <a:rPr lang="zh-CN" altLang="en-US" sz="2800" b="1" u="sng" dirty="0">
                <a:solidFill>
                  <a:srgbClr val="FF0000"/>
                </a:solidFill>
              </a:rPr>
              <a:t>无级联回滚</a:t>
            </a:r>
            <a:r>
              <a:rPr lang="zh-CN" altLang="en-US" sz="2800" b="1" dirty="0"/>
              <a:t>的；</a:t>
            </a:r>
            <a:endParaRPr lang="en-US" altLang="zh-CN" sz="2800" b="1" dirty="0"/>
          </a:p>
          <a:p>
            <a:pPr>
              <a:lnSpc>
                <a:spcPct val="90000"/>
              </a:lnSpc>
            </a:pPr>
            <a:r>
              <a:rPr lang="zh-CN" altLang="en-US" sz="2800" dirty="0"/>
              <a:t>两段锁协议下，级联回滚是可能发生</a:t>
            </a:r>
            <a:endParaRPr lang="en-US" altLang="zh-CN" sz="2800" dirty="0"/>
          </a:p>
          <a:p>
            <a:pPr>
              <a:lnSpc>
                <a:spcPct val="90000"/>
              </a:lnSpc>
            </a:pPr>
            <a:endParaRPr lang="en-US" altLang="zh-CN" sz="2800" dirty="0"/>
          </a:p>
          <a:p>
            <a:pPr>
              <a:lnSpc>
                <a:spcPct val="90000"/>
              </a:lnSpc>
            </a:pPr>
            <a:endParaRPr lang="en-US" altLang="zh-CN" sz="2800" dirty="0"/>
          </a:p>
          <a:p>
            <a:pPr>
              <a:lnSpc>
                <a:spcPct val="90000"/>
              </a:lnSpc>
            </a:pPr>
            <a:endParaRPr lang="en-US" altLang="zh-CN" sz="280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04FAE-40A9-451C-BAF2-CB4AB7A3EF28}" type="datetime1">
              <a:rPr lang="zh-CN" altLang="en-US" smtClean="0"/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4088" y="2060848"/>
            <a:ext cx="3620607" cy="3429647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 bwMode="auto">
          <a:xfrm>
            <a:off x="5004048" y="5013176"/>
            <a:ext cx="3600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2987824" y="4869160"/>
            <a:ext cx="1913384" cy="7571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T5</a:t>
            </a:r>
            <a:r>
              <a:rPr lang="zh-CN" altLang="en-US" sz="1600" dirty="0">
                <a:solidFill>
                  <a:srgbClr val="FF0000"/>
                </a:solidFill>
              </a:rPr>
              <a:t>发生故障</a:t>
            </a:r>
            <a:r>
              <a:rPr lang="zh-CN" altLang="en-US" sz="1600" dirty="0"/>
              <a:t>，会导致</a:t>
            </a:r>
            <a:r>
              <a:rPr lang="en-US" altLang="zh-CN" sz="1600" dirty="0"/>
              <a:t>T6</a:t>
            </a:r>
            <a:r>
              <a:rPr lang="zh-CN" altLang="en-US" sz="1600" dirty="0"/>
              <a:t>，</a:t>
            </a:r>
            <a:r>
              <a:rPr lang="en-US" altLang="zh-CN" sz="1600" dirty="0"/>
              <a:t>T7</a:t>
            </a:r>
            <a:r>
              <a:rPr lang="zh-CN" altLang="en-US" sz="1600" dirty="0"/>
              <a:t>都得</a:t>
            </a:r>
            <a:r>
              <a:rPr lang="zh-CN" altLang="en-US" sz="1600" b="1" dirty="0"/>
              <a:t>级联回滚</a:t>
            </a:r>
            <a:endParaRPr lang="zh-CN" altLang="en-US" sz="1600" b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7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7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7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7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两段锁协议（</a:t>
            </a:r>
            <a:r>
              <a:rPr lang="en-US" altLang="zh-CN"/>
              <a:t>2PL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557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45488" cy="493352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b="1" dirty="0"/>
              <a:t>级联回滚</a:t>
            </a:r>
            <a:r>
              <a:rPr lang="zh-CN" altLang="en-US" sz="2800" dirty="0"/>
              <a:t>可以通过将两阶段封锁修改为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严格</a:t>
            </a:r>
            <a:r>
              <a:rPr lang="zh-CN" altLang="en-US" sz="2800" dirty="0">
                <a:solidFill>
                  <a:srgbClr val="0000FF"/>
                </a:solidFill>
              </a:rPr>
              <a:t>两阶段封锁协议</a:t>
            </a:r>
            <a:r>
              <a:rPr lang="en-US" altLang="zh-CN" sz="2400" dirty="0"/>
              <a:t>(strict two-phase locking protocol)</a:t>
            </a:r>
            <a:r>
              <a:rPr lang="zh-CN" altLang="en-US" sz="2800" dirty="0"/>
              <a:t>加以避免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1">
              <a:lnSpc>
                <a:spcPct val="90000"/>
              </a:lnSpc>
            </a:pPr>
            <a:r>
              <a:rPr lang="zh-CN" altLang="en-US" sz="2400" dirty="0"/>
              <a:t>该协议除了</a:t>
            </a:r>
            <a:r>
              <a:rPr lang="zh-CN" altLang="en-US" sz="2400" b="1" dirty="0"/>
              <a:t>要求封锁是两阶段之外</a:t>
            </a:r>
            <a:r>
              <a:rPr lang="zh-CN" altLang="en-US" sz="2400" dirty="0"/>
              <a:t>，</a:t>
            </a:r>
            <a:r>
              <a:rPr lang="zh-CN" altLang="en-US" sz="2400" b="1" dirty="0">
                <a:solidFill>
                  <a:srgbClr val="0000FF"/>
                </a:solidFill>
              </a:rPr>
              <a:t>还要求</a:t>
            </a:r>
            <a:r>
              <a:rPr lang="zh-CN" altLang="en-US" sz="2400" dirty="0"/>
              <a:t>事务持有的</a:t>
            </a:r>
            <a:r>
              <a:rPr lang="zh-CN" altLang="en-US" sz="2400" dirty="0">
                <a:solidFill>
                  <a:srgbClr val="0000FF"/>
                </a:solidFill>
              </a:rPr>
              <a:t>所有</a:t>
            </a:r>
            <a:r>
              <a:rPr lang="zh-CN" altLang="en-US" sz="2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排他锁</a:t>
            </a:r>
            <a:r>
              <a:rPr lang="zh-CN" altLang="en-US" sz="2400" dirty="0"/>
              <a:t>必须在</a:t>
            </a:r>
            <a:r>
              <a:rPr lang="zh-CN" altLang="en-US" sz="2400" b="1" dirty="0">
                <a:solidFill>
                  <a:srgbClr val="0000FF"/>
                </a:solidFill>
              </a:rPr>
              <a:t>事务</a:t>
            </a:r>
            <a:r>
              <a:rPr lang="zh-CN" altLang="en-US" sz="2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提交后</a:t>
            </a:r>
            <a:r>
              <a:rPr lang="zh-CN" altLang="en-US" sz="2400" dirty="0"/>
              <a:t>方</a:t>
            </a:r>
            <a:r>
              <a:rPr lang="zh-CN" altLang="en-US" sz="2400" dirty="0">
                <a:solidFill>
                  <a:srgbClr val="0000FF"/>
                </a:solidFill>
              </a:rPr>
              <a:t>可释放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1">
              <a:lnSpc>
                <a:spcPct val="90000"/>
              </a:lnSpc>
            </a:pPr>
            <a:r>
              <a:rPr lang="zh-CN" altLang="en-US" sz="2400" dirty="0"/>
              <a:t>实际上保证了</a:t>
            </a:r>
            <a:r>
              <a:rPr lang="zh-CN" altLang="en-US" sz="2400" dirty="0">
                <a:solidFill>
                  <a:srgbClr val="0000FF"/>
                </a:solidFill>
              </a:rPr>
              <a:t>未提交事务</a:t>
            </a:r>
            <a:r>
              <a:rPr lang="zh-CN" altLang="en-US" sz="2400" dirty="0"/>
              <a:t>所写的</a:t>
            </a:r>
            <a:r>
              <a:rPr lang="zh-CN" altLang="en-US" sz="2400" dirty="0">
                <a:solidFill>
                  <a:srgbClr val="0000FF"/>
                </a:solidFill>
              </a:rPr>
              <a:t>任何数据</a:t>
            </a:r>
            <a:r>
              <a:rPr lang="zh-CN" altLang="en-US" sz="2400" dirty="0"/>
              <a:t>，在该</a:t>
            </a:r>
            <a:r>
              <a:rPr lang="zh-CN" altLang="en-US" sz="2400" b="1" dirty="0"/>
              <a:t>事务提交之前</a:t>
            </a:r>
            <a:r>
              <a:rPr lang="zh-CN" altLang="en-US" sz="2400" dirty="0">
                <a:solidFill>
                  <a:srgbClr val="FF0000"/>
                </a:solidFill>
              </a:rPr>
              <a:t>均以</a:t>
            </a:r>
            <a:r>
              <a:rPr lang="zh-CN" altLang="en-US" sz="2400" b="1" dirty="0">
                <a:solidFill>
                  <a:srgbClr val="0000FF"/>
                </a:solidFill>
              </a:rPr>
              <a:t>排他方式</a:t>
            </a:r>
            <a:r>
              <a:rPr lang="zh-CN" altLang="en-US" sz="2400" dirty="0"/>
              <a:t>加锁，</a:t>
            </a:r>
            <a:r>
              <a:rPr lang="zh-CN" altLang="en-US" sz="2400" b="1" dirty="0">
                <a:solidFill>
                  <a:srgbClr val="FF0000"/>
                </a:solidFill>
              </a:rPr>
              <a:t>防止其他事务读这些数据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>
              <a:lnSpc>
                <a:spcPct val="90000"/>
              </a:lnSpc>
            </a:pPr>
            <a:r>
              <a:rPr lang="zh-CN" altLang="en-US" sz="2800" dirty="0"/>
              <a:t>另一个两阶段封锁的变体是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强</a:t>
            </a:r>
            <a:r>
              <a:rPr lang="zh-CN" altLang="en-US" sz="2800" dirty="0">
                <a:solidFill>
                  <a:srgbClr val="0000FF"/>
                </a:solidFill>
              </a:rPr>
              <a:t>两阶段封锁协议</a:t>
            </a:r>
            <a:r>
              <a:rPr lang="en-US" altLang="zh-CN" sz="2400" dirty="0"/>
              <a:t>(rigorous two-phase locking protocol)</a:t>
            </a:r>
            <a:r>
              <a:rPr lang="zh-CN" altLang="en-US" sz="2800" dirty="0"/>
              <a:t>，它要求</a:t>
            </a:r>
            <a:r>
              <a:rPr lang="zh-CN" altLang="en-US" sz="2800" dirty="0">
                <a:solidFill>
                  <a:srgbClr val="0000FF"/>
                </a:solidFill>
              </a:rPr>
              <a:t>事务</a:t>
            </a:r>
            <a:r>
              <a:rPr lang="zh-CN" altLang="en-US" sz="2800" dirty="0">
                <a:solidFill>
                  <a:srgbClr val="FF0000"/>
                </a:solidFill>
              </a:rPr>
              <a:t>提交之前</a:t>
            </a:r>
            <a:r>
              <a:rPr lang="zh-CN" altLang="en-US" sz="2800" dirty="0">
                <a:solidFill>
                  <a:srgbClr val="0000FF"/>
                </a:solidFill>
              </a:rPr>
              <a:t>不得释放</a:t>
            </a:r>
            <a:r>
              <a:rPr lang="zh-CN" altLang="en-US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任何锁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lvl="1">
              <a:lnSpc>
                <a:spcPct val="90000"/>
              </a:lnSpc>
            </a:pPr>
            <a:r>
              <a:rPr lang="zh-CN" altLang="en-US" sz="2400" dirty="0"/>
              <a:t>很容易验证在强两阶段封锁条件下，</a:t>
            </a:r>
            <a:r>
              <a:rPr lang="zh-CN" altLang="en-US" sz="2400" b="1" dirty="0"/>
              <a:t>事务可以按其提交的顺序串行化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lnSpc>
                <a:spcPct val="90000"/>
              </a:lnSpc>
            </a:pPr>
            <a:r>
              <a:rPr lang="zh-CN" altLang="en-US" sz="2800" dirty="0"/>
              <a:t>这两个协议在商用数据库中被广泛使用。</a:t>
            </a:r>
            <a:endParaRPr lang="en-US" altLang="zh-CN" sz="2800" dirty="0"/>
          </a:p>
          <a:p>
            <a:pPr>
              <a:lnSpc>
                <a:spcPct val="90000"/>
              </a:lnSpc>
            </a:pPr>
            <a:endParaRPr lang="en-US" altLang="zh-CN" sz="2800" dirty="0"/>
          </a:p>
          <a:p>
            <a:pPr>
              <a:lnSpc>
                <a:spcPct val="90000"/>
              </a:lnSpc>
            </a:pPr>
            <a:endParaRPr lang="en-US" altLang="zh-CN" sz="280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439E-39BE-417D-A893-3D2421548085}" type="datetime1">
              <a:rPr lang="zh-CN" altLang="en-US" smtClean="0"/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7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7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7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7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7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7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7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57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57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57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57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57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两段锁协议（</a:t>
            </a:r>
            <a:r>
              <a:rPr lang="en-US" altLang="zh-CN"/>
              <a:t>2PL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557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45488" cy="493352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/>
              <a:t>锁转换（自学）</a:t>
            </a:r>
            <a:endParaRPr lang="en-US" altLang="zh-CN" dirty="0"/>
          </a:p>
          <a:p>
            <a:pPr>
              <a:lnSpc>
                <a:spcPct val="90000"/>
              </a:lnSpc>
            </a:pPr>
            <a:endParaRPr lang="en-US" altLang="zh-CN" dirty="0"/>
          </a:p>
          <a:p>
            <a:pPr>
              <a:lnSpc>
                <a:spcPct val="90000"/>
              </a:lnSpc>
            </a:pPr>
            <a:r>
              <a:rPr lang="zh-CN" altLang="en-US" dirty="0"/>
              <a:t>封锁的实现（自学）</a:t>
            </a:r>
            <a:endParaRPr lang="en-US" altLang="zh-CN" dirty="0"/>
          </a:p>
          <a:p>
            <a:pPr>
              <a:lnSpc>
                <a:spcPct val="90000"/>
              </a:lnSpc>
            </a:pPr>
            <a:endParaRPr lang="en-US" altLang="zh-CN" dirty="0"/>
          </a:p>
          <a:p>
            <a:pPr>
              <a:lnSpc>
                <a:spcPct val="90000"/>
              </a:lnSpc>
            </a:pPr>
            <a:r>
              <a:rPr lang="zh-CN" altLang="en-US" dirty="0"/>
              <a:t>基于图的协议（自学）</a:t>
            </a:r>
            <a:endParaRPr lang="en-US" altLang="zh-CN" dirty="0"/>
          </a:p>
          <a:p>
            <a:pPr>
              <a:lnSpc>
                <a:spcPct val="90000"/>
              </a:lnSpc>
            </a:pPr>
            <a:endParaRPr lang="en-US" altLang="zh-CN" dirty="0"/>
          </a:p>
          <a:p>
            <a:pPr>
              <a:lnSpc>
                <a:spcPct val="90000"/>
              </a:lnSpc>
            </a:pPr>
            <a:endParaRPr lang="en-US" altLang="zh-CN" sz="2800" dirty="0"/>
          </a:p>
          <a:p>
            <a:pPr>
              <a:lnSpc>
                <a:spcPct val="90000"/>
              </a:lnSpc>
            </a:pPr>
            <a:endParaRPr lang="en-US" altLang="zh-CN" sz="280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53376-EA89-4895-A170-EF7072F8C397}" type="datetime1">
              <a:rPr lang="zh-CN" altLang="en-US" smtClean="0"/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7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7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7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7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7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7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本章目录</a:t>
            </a:r>
            <a:endParaRPr lang="zh-CN" altLang="en-US"/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39888"/>
            <a:ext cx="7583488" cy="4532312"/>
          </a:xfrm>
        </p:spPr>
        <p:txBody>
          <a:bodyPr/>
          <a:lstStyle/>
          <a:p>
            <a:r>
              <a:rPr lang="en-US" altLang="zh-CN" sz="2800" dirty="0"/>
              <a:t>14.1 </a:t>
            </a:r>
            <a:r>
              <a:rPr lang="zh-CN" altLang="en-US" sz="2800" dirty="0"/>
              <a:t>基于锁的协议</a:t>
            </a:r>
            <a:endParaRPr lang="zh-CN" altLang="en-US" sz="2800" dirty="0"/>
          </a:p>
          <a:p>
            <a:r>
              <a:rPr lang="en-US" altLang="zh-CN" sz="2800" dirty="0"/>
              <a:t>14.2 </a:t>
            </a:r>
            <a:r>
              <a:rPr lang="zh-CN" altLang="en-US" sz="2800" dirty="0"/>
              <a:t>死锁处理</a:t>
            </a:r>
            <a:endParaRPr lang="zh-CN" altLang="en-US" sz="2800" dirty="0">
              <a:solidFill>
                <a:srgbClr val="CC0000"/>
              </a:solidFill>
            </a:endParaRPr>
          </a:p>
          <a:p>
            <a:r>
              <a:rPr lang="en-US" altLang="zh-CN" sz="2800" dirty="0"/>
              <a:t>14.3 </a:t>
            </a:r>
            <a:r>
              <a:rPr lang="zh-CN" altLang="en-US" sz="2800" dirty="0"/>
              <a:t>多粒度</a:t>
            </a:r>
            <a:endParaRPr lang="zh-CN" altLang="en-US" sz="2800" dirty="0"/>
          </a:p>
          <a:p>
            <a:r>
              <a:rPr lang="en-US" altLang="zh-CN" sz="2800" dirty="0"/>
              <a:t>14.4 </a:t>
            </a:r>
            <a:r>
              <a:rPr lang="zh-CN" altLang="en-US" sz="2800" dirty="0"/>
              <a:t>插入操作、删除操作与谓词读</a:t>
            </a:r>
            <a:r>
              <a:rPr lang="en-US" altLang="zh-CN" sz="2800" dirty="0"/>
              <a:t>(</a:t>
            </a:r>
            <a:r>
              <a:rPr lang="zh-CN" altLang="en-US" sz="2800" dirty="0"/>
              <a:t>了解</a:t>
            </a:r>
            <a:r>
              <a:rPr lang="en-US" altLang="zh-CN" sz="2800" dirty="0"/>
              <a:t>)</a:t>
            </a:r>
            <a:endParaRPr lang="zh-CN" altLang="en-US" sz="2800" dirty="0"/>
          </a:p>
          <a:p>
            <a:r>
              <a:rPr lang="en-US" altLang="zh-CN" sz="2800" dirty="0"/>
              <a:t>14.5 </a:t>
            </a:r>
            <a:r>
              <a:rPr lang="zh-CN" altLang="en-US" sz="2800" dirty="0"/>
              <a:t>基于时间戳的协议</a:t>
            </a:r>
            <a:r>
              <a:rPr lang="en-US" altLang="zh-CN" sz="2800" dirty="0"/>
              <a:t>(</a:t>
            </a:r>
            <a:r>
              <a:rPr lang="zh-CN" altLang="en-US" sz="2800" dirty="0"/>
              <a:t>了解</a:t>
            </a:r>
            <a:r>
              <a:rPr lang="en-US" altLang="zh-CN" sz="2800" dirty="0"/>
              <a:t>)</a:t>
            </a:r>
            <a:endParaRPr lang="zh-CN" altLang="en-US" sz="2800" dirty="0"/>
          </a:p>
          <a:p>
            <a:r>
              <a:rPr lang="en-US" altLang="zh-CN" sz="2800" dirty="0"/>
              <a:t>14.6 </a:t>
            </a:r>
            <a:r>
              <a:rPr lang="zh-CN" altLang="en-US" sz="2800" dirty="0"/>
              <a:t>基于有效性检查的协议</a:t>
            </a:r>
            <a:r>
              <a:rPr lang="en-US" altLang="zh-CN" sz="2800" dirty="0"/>
              <a:t>(</a:t>
            </a:r>
            <a:r>
              <a:rPr lang="zh-CN" altLang="en-US" sz="2800" dirty="0"/>
              <a:t>了解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r>
              <a:rPr lang="en-US" altLang="zh-CN" sz="2800" dirty="0"/>
              <a:t>14.7</a:t>
            </a:r>
            <a:r>
              <a:rPr lang="zh-CN" altLang="en-US" sz="2800" dirty="0"/>
              <a:t> 多版本机制</a:t>
            </a:r>
            <a:r>
              <a:rPr lang="en-US" altLang="zh-CN" sz="2800" dirty="0"/>
              <a:t>(</a:t>
            </a:r>
            <a:r>
              <a:rPr lang="zh-CN" altLang="en-US" sz="2800" dirty="0"/>
              <a:t>自学了解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r>
              <a:rPr lang="en-US" altLang="zh-CN" sz="2800" dirty="0"/>
              <a:t>14.8 </a:t>
            </a:r>
            <a:r>
              <a:rPr lang="zh-CN" altLang="en-US" sz="2800" dirty="0"/>
              <a:t>故障分类</a:t>
            </a:r>
            <a:endParaRPr lang="en-US" altLang="zh-CN" sz="2800" dirty="0"/>
          </a:p>
        </p:txBody>
      </p:sp>
      <p:sp>
        <p:nvSpPr>
          <p:cNvPr id="253956" name="AutoShape 4"/>
          <p:cNvSpPr>
            <a:spLocks noChangeArrowheads="1"/>
          </p:cNvSpPr>
          <p:nvPr/>
        </p:nvSpPr>
        <p:spPr bwMode="auto">
          <a:xfrm>
            <a:off x="807113" y="2204864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7A018-919D-4DF1-B7AC-B7305E42D6BA}" type="datetime1">
              <a:rPr lang="zh-CN" altLang="en-US" smtClean="0"/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14.2 </a:t>
            </a:r>
            <a:r>
              <a:rPr lang="zh-CN" altLang="en-US" sz="3200" dirty="0"/>
              <a:t>死锁处理</a:t>
            </a:r>
            <a:endParaRPr lang="zh-CN" altLang="en-US" sz="3200" dirty="0">
              <a:solidFill>
                <a:srgbClr val="CC0000"/>
              </a:solidFill>
            </a:endParaRPr>
          </a:p>
        </p:txBody>
      </p:sp>
      <p:sp>
        <p:nvSpPr>
          <p:cNvPr id="541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/>
              <a:t>解决：</a:t>
            </a:r>
            <a:r>
              <a:rPr lang="zh-CN" altLang="en-US" sz="2800" dirty="0">
                <a:solidFill>
                  <a:srgbClr val="FF0303"/>
                </a:solidFill>
              </a:rPr>
              <a:t>防、治</a:t>
            </a:r>
            <a:r>
              <a:rPr lang="zh-CN" altLang="en-US" sz="2800" dirty="0"/>
              <a:t>两种</a:t>
            </a:r>
            <a:endParaRPr lang="zh-CN" altLang="en-US" sz="2800" dirty="0"/>
          </a:p>
          <a:p>
            <a:pPr>
              <a:buFont typeface="Wingdings" panose="05000000000000000000" pitchFamily="2" charset="2"/>
              <a:buNone/>
            </a:pPr>
            <a:endParaRPr lang="zh-CN" altLang="en-US" sz="10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/>
              <a:t>1. </a:t>
            </a:r>
            <a:r>
              <a:rPr lang="zh-CN" altLang="en-US" sz="2800" dirty="0"/>
              <a:t>死锁的</a:t>
            </a:r>
            <a:r>
              <a:rPr lang="zh-CN" altLang="en-US" sz="2800" dirty="0">
                <a:solidFill>
                  <a:schemeClr val="tx2"/>
                </a:solidFill>
              </a:rPr>
              <a:t>预防</a:t>
            </a:r>
            <a:endParaRPr lang="zh-CN" altLang="en-US" sz="2800" dirty="0">
              <a:solidFill>
                <a:schemeClr val="tx2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/>
              <a:t>在数据库中，</a:t>
            </a:r>
            <a:r>
              <a:rPr lang="zh-CN" altLang="en-US" sz="2800" dirty="0">
                <a:solidFill>
                  <a:srgbClr val="0000FF"/>
                </a:solidFill>
              </a:rPr>
              <a:t>产生死锁</a:t>
            </a:r>
            <a:r>
              <a:rPr lang="zh-CN" altLang="en-US" sz="2800" dirty="0"/>
              <a:t>的原因是</a:t>
            </a:r>
            <a:r>
              <a:rPr lang="zh-CN" altLang="en-US" sz="2800" dirty="0">
                <a:solidFill>
                  <a:schemeClr val="tx2"/>
                </a:solidFill>
              </a:rPr>
              <a:t>两个或多个事务都</a:t>
            </a:r>
            <a:r>
              <a:rPr lang="zh-CN" altLang="en-US" sz="2800" dirty="0">
                <a:solidFill>
                  <a:srgbClr val="FF0000"/>
                </a:solidFill>
              </a:rPr>
              <a:t>已</a:t>
            </a:r>
            <a:r>
              <a:rPr lang="zh-CN" altLang="en-US" sz="2800" dirty="0">
                <a:solidFill>
                  <a:schemeClr val="tx2"/>
                </a:solidFill>
              </a:rPr>
              <a:t>封锁了一些数据对象</a:t>
            </a:r>
            <a:r>
              <a:rPr lang="zh-CN" altLang="en-US" sz="2800" dirty="0"/>
              <a:t>，然后</a:t>
            </a:r>
            <a:r>
              <a:rPr lang="zh-CN" altLang="en-US" sz="2800" b="1" dirty="0">
                <a:solidFill>
                  <a:srgbClr val="0000FF"/>
                </a:solidFill>
              </a:rPr>
              <a:t>又都</a:t>
            </a:r>
            <a:r>
              <a:rPr lang="zh-CN" altLang="en-US" sz="2800" dirty="0">
                <a:solidFill>
                  <a:schemeClr val="tx2"/>
                </a:solidFill>
              </a:rPr>
              <a:t>请求</a:t>
            </a:r>
            <a:r>
              <a:rPr lang="zh-CN" altLang="en-US" sz="2800" dirty="0"/>
              <a:t>对</a:t>
            </a:r>
            <a:r>
              <a:rPr lang="zh-CN" altLang="en-US" sz="2800" dirty="0">
                <a:solidFill>
                  <a:srgbClr val="FF0000"/>
                </a:solidFill>
              </a:rPr>
              <a:t>已被其他</a:t>
            </a:r>
            <a:r>
              <a:rPr lang="zh-CN" altLang="en-US" sz="2800" dirty="0">
                <a:solidFill>
                  <a:schemeClr val="tx2"/>
                </a:solidFill>
              </a:rPr>
              <a:t>事务封锁的数据对象</a:t>
            </a:r>
            <a:r>
              <a:rPr lang="zh-CN" altLang="en-US" sz="2800" dirty="0"/>
              <a:t>加锁，从而出现</a:t>
            </a:r>
            <a:r>
              <a:rPr lang="zh-CN" altLang="en-US" sz="2800" dirty="0">
                <a:solidFill>
                  <a:srgbClr val="FF0000"/>
                </a:solidFill>
              </a:rPr>
              <a:t>死等待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/>
              <a:t>防止死锁的发生其实就是要</a:t>
            </a:r>
            <a:r>
              <a:rPr lang="zh-CN" altLang="en-US" sz="2800" b="1" dirty="0">
                <a:solidFill>
                  <a:srgbClr val="0000FF"/>
                </a:solidFill>
              </a:rPr>
              <a:t>破坏产生死锁</a:t>
            </a:r>
            <a:r>
              <a:rPr lang="zh-CN" altLang="en-US" sz="2800" dirty="0"/>
              <a:t>的条件。</a:t>
            </a:r>
            <a:r>
              <a:rPr lang="zh-CN" altLang="en-US" sz="2800" b="1" dirty="0"/>
              <a:t>预防死锁</a:t>
            </a:r>
            <a:r>
              <a:rPr lang="zh-CN" altLang="en-US" sz="2800" dirty="0"/>
              <a:t>通常有</a:t>
            </a:r>
            <a:r>
              <a:rPr lang="zh-CN" altLang="en-US" sz="2800" u="sng" dirty="0"/>
              <a:t>两种方法</a:t>
            </a:r>
            <a:r>
              <a:rPr lang="zh-CN" altLang="en-US" sz="2800" dirty="0"/>
              <a:t>：</a:t>
            </a:r>
            <a:br>
              <a:rPr lang="zh-CN" altLang="en-US" sz="2800" dirty="0"/>
            </a:br>
            <a:endParaRPr lang="zh-CN" altLang="en-US" sz="12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80"/>
                </a:solidFill>
              </a:rPr>
              <a:t> 			</a:t>
            </a:r>
            <a:endParaRPr lang="zh-CN" altLang="en-US" sz="2800" dirty="0">
              <a:solidFill>
                <a:srgbClr val="00008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E86E-3A8F-4099-BCCE-214997DAFCA4}" type="datetime1">
              <a:rPr lang="zh-CN" altLang="en-US" smtClean="0"/>
            </a:fld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3995936" y="5013176"/>
            <a:ext cx="22322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80"/>
                </a:solidFill>
              </a:rPr>
              <a:t>一次封锁法</a:t>
            </a:r>
            <a:endParaRPr lang="en-US" altLang="zh-CN" sz="2800" dirty="0">
              <a:solidFill>
                <a:srgbClr val="00008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80"/>
                </a:solidFill>
              </a:rPr>
              <a:t>顺序封锁法</a:t>
            </a:r>
            <a:endParaRPr lang="zh-CN" altLang="en-US" sz="2800" dirty="0">
              <a:solidFill>
                <a:srgbClr val="00008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14.2 </a:t>
            </a:r>
            <a:r>
              <a:rPr lang="zh-CN" altLang="en-US" sz="3200" dirty="0"/>
              <a:t>死锁处理</a:t>
            </a:r>
            <a:endParaRPr lang="zh-CN" altLang="en-US" sz="3200" dirty="0">
              <a:solidFill>
                <a:srgbClr val="CC0000"/>
              </a:solidFill>
            </a:endParaRPr>
          </a:p>
        </p:txBody>
      </p:sp>
      <p:sp>
        <p:nvSpPr>
          <p:cNvPr id="542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 typeface="Wingdings" panose="05000000000000000000" pitchFamily="2" charset="2"/>
              <a:buAutoNum type="circleNumDbPlain"/>
            </a:pPr>
            <a:r>
              <a:rPr lang="zh-CN" altLang="en-US" dirty="0"/>
              <a:t>一次封锁法 </a:t>
            </a:r>
            <a:endParaRPr lang="zh-CN" altLang="en-US" dirty="0"/>
          </a:p>
          <a:p>
            <a:pPr marL="609600" indent="-609600"/>
            <a:r>
              <a:rPr lang="zh-CN" altLang="en-US" dirty="0"/>
              <a:t>一次封锁法要求</a:t>
            </a:r>
            <a:r>
              <a:rPr lang="zh-CN" altLang="en-US" dirty="0">
                <a:solidFill>
                  <a:schemeClr val="tx2"/>
                </a:solidFill>
              </a:rPr>
              <a:t>每个事务</a:t>
            </a:r>
            <a:r>
              <a:rPr lang="zh-CN" altLang="en-US" dirty="0"/>
              <a:t>必须</a:t>
            </a:r>
            <a:r>
              <a:rPr lang="zh-CN" altLang="en-US" b="1" dirty="0">
                <a:solidFill>
                  <a:srgbClr val="FF0000"/>
                </a:solidFill>
              </a:rPr>
              <a:t>一次</a:t>
            </a:r>
            <a:r>
              <a:rPr lang="zh-CN" altLang="en-US" b="1" dirty="0">
                <a:solidFill>
                  <a:schemeClr val="tx2"/>
                </a:solidFill>
              </a:rPr>
              <a:t>将</a:t>
            </a:r>
            <a:r>
              <a:rPr lang="zh-CN" altLang="en-US" b="1" dirty="0">
                <a:solidFill>
                  <a:srgbClr val="FF0000"/>
                </a:solidFill>
              </a:rPr>
              <a:t>所有</a:t>
            </a:r>
            <a:r>
              <a:rPr lang="zh-CN" altLang="en-US" dirty="0">
                <a:solidFill>
                  <a:schemeClr val="tx2"/>
                </a:solidFill>
              </a:rPr>
              <a:t>要使用的</a:t>
            </a:r>
            <a:r>
              <a:rPr lang="zh-CN" altLang="en-US" dirty="0">
                <a:solidFill>
                  <a:srgbClr val="FF0000"/>
                </a:solidFill>
              </a:rPr>
              <a:t>数据</a:t>
            </a:r>
            <a:r>
              <a:rPr lang="zh-CN" altLang="en-US" dirty="0">
                <a:solidFill>
                  <a:schemeClr val="tx2"/>
                </a:solidFill>
              </a:rPr>
              <a:t>全部</a:t>
            </a:r>
            <a:r>
              <a:rPr lang="zh-CN" altLang="en-US" dirty="0">
                <a:solidFill>
                  <a:srgbClr val="FF0000"/>
                </a:solidFill>
              </a:rPr>
              <a:t>加锁</a:t>
            </a:r>
            <a:r>
              <a:rPr lang="zh-CN" altLang="en-US" dirty="0"/>
              <a:t>，否则就不能继续执行。</a:t>
            </a:r>
            <a:br>
              <a:rPr lang="zh-CN" altLang="en-US" dirty="0"/>
            </a:br>
            <a:br>
              <a:rPr lang="zh-CN" altLang="en-US" sz="1400" dirty="0"/>
            </a:br>
            <a:r>
              <a:rPr lang="zh-CN" altLang="en-US" dirty="0"/>
              <a:t>一次封锁法虽然可以有效地防止死锁的发生，但也存在问题，</a:t>
            </a:r>
            <a:r>
              <a:rPr lang="zh-CN" altLang="en-US" dirty="0">
                <a:solidFill>
                  <a:schemeClr val="tx2"/>
                </a:solidFill>
              </a:rPr>
              <a:t>一次就将以后要用到的</a:t>
            </a:r>
            <a:r>
              <a:rPr lang="zh-CN" altLang="en-US" b="1" dirty="0">
                <a:solidFill>
                  <a:schemeClr val="tx2"/>
                </a:solidFill>
              </a:rPr>
              <a:t>全部数据加锁</a:t>
            </a:r>
            <a:r>
              <a:rPr lang="zh-CN" altLang="en-US" dirty="0"/>
              <a:t>，势必</a:t>
            </a:r>
            <a:r>
              <a:rPr lang="zh-CN" altLang="en-US" dirty="0">
                <a:solidFill>
                  <a:schemeClr val="hlink"/>
                </a:solidFill>
              </a:rPr>
              <a:t>扩大了封锁的范围</a:t>
            </a:r>
            <a:r>
              <a:rPr lang="zh-CN" altLang="en-US" dirty="0"/>
              <a:t>，从而</a:t>
            </a:r>
            <a:r>
              <a:rPr lang="zh-CN" altLang="en-US" b="1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降低了系统的并发度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302E3-C383-4C84-AC68-DA1A846E01CD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14.2 </a:t>
            </a:r>
            <a:r>
              <a:rPr lang="zh-CN" altLang="en-US" sz="3200" dirty="0"/>
              <a:t>死锁处理</a:t>
            </a:r>
            <a:endParaRPr lang="zh-CN" altLang="en-US" dirty="0"/>
          </a:p>
        </p:txBody>
      </p:sp>
      <p:sp>
        <p:nvSpPr>
          <p:cNvPr id="557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105775" cy="46847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/>
              <a:t>注意，防止死锁的</a:t>
            </a:r>
            <a:r>
              <a:rPr lang="zh-CN" altLang="en-US" dirty="0">
                <a:solidFill>
                  <a:srgbClr val="0000FF"/>
                </a:solidFill>
              </a:rPr>
              <a:t>一次封锁法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00FF"/>
                </a:solidFill>
              </a:rPr>
              <a:t>两段锁协议</a:t>
            </a:r>
            <a:r>
              <a:rPr lang="zh-CN" altLang="en-US" dirty="0"/>
              <a:t>的异同之处。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zh-CN" altLang="en-US" dirty="0">
                <a:solidFill>
                  <a:schemeClr val="tx2"/>
                </a:solidFill>
              </a:rPr>
              <a:t>一次封锁法</a:t>
            </a:r>
            <a:r>
              <a:rPr lang="zh-CN" altLang="en-US" dirty="0"/>
              <a:t>要求每个事务必须</a:t>
            </a:r>
            <a:r>
              <a:rPr lang="zh-CN" altLang="en-US" dirty="0">
                <a:solidFill>
                  <a:schemeClr val="tx2"/>
                </a:solidFill>
              </a:rPr>
              <a:t>一次将所有要使用的数据全部加锁</a:t>
            </a:r>
            <a:r>
              <a:rPr lang="zh-CN" altLang="en-US" dirty="0"/>
              <a:t>，否则就不能继续执行，因此</a:t>
            </a:r>
            <a:r>
              <a:rPr lang="zh-CN" altLang="en-US" dirty="0">
                <a:solidFill>
                  <a:srgbClr val="FF0303"/>
                </a:solidFill>
              </a:rPr>
              <a:t>一次封锁法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遵守</a:t>
            </a:r>
            <a:r>
              <a:rPr lang="zh-CN" altLang="en-US" dirty="0">
                <a:solidFill>
                  <a:srgbClr val="FF0303"/>
                </a:solidFill>
              </a:rPr>
              <a:t>两段锁协议</a:t>
            </a:r>
            <a:r>
              <a:rPr lang="zh-CN" altLang="en-US" dirty="0"/>
              <a:t>；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zh-CN" altLang="en-US" dirty="0"/>
              <a:t>但是两段锁协议</a:t>
            </a:r>
            <a:r>
              <a:rPr lang="zh-CN" altLang="en-US" dirty="0">
                <a:solidFill>
                  <a:srgbClr val="0000FF"/>
                </a:solidFill>
              </a:rPr>
              <a:t>并不要求</a:t>
            </a:r>
            <a:r>
              <a:rPr lang="zh-CN" altLang="en-US" dirty="0"/>
              <a:t>事务必须</a:t>
            </a:r>
            <a:r>
              <a:rPr lang="zh-CN" altLang="en-US" u="sng" dirty="0"/>
              <a:t>一次将所有要使用的数据</a:t>
            </a:r>
            <a:r>
              <a:rPr lang="zh-CN" altLang="en-US" u="sng" dirty="0">
                <a:solidFill>
                  <a:schemeClr val="tx2"/>
                </a:solidFill>
              </a:rPr>
              <a:t>全部加锁</a:t>
            </a:r>
            <a:r>
              <a:rPr lang="zh-CN" altLang="en-US" dirty="0"/>
              <a:t>，因此</a:t>
            </a:r>
            <a:r>
              <a:rPr lang="zh-CN" altLang="en-US" dirty="0">
                <a:solidFill>
                  <a:srgbClr val="FF0303"/>
                </a:solidFill>
              </a:rPr>
              <a:t>遵守两段锁协议的事务</a:t>
            </a:r>
            <a:r>
              <a:rPr lang="zh-CN" altLang="en-US" b="1" u="sng" dirty="0">
                <a:solidFill>
                  <a:srgbClr val="0000FF"/>
                </a:solidFill>
              </a:rPr>
              <a:t>可能发生死锁</a:t>
            </a:r>
            <a:endParaRPr lang="zh-CN" altLang="en-US" b="1" u="sng" dirty="0">
              <a:solidFill>
                <a:srgbClr val="0000FF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0E806-566A-48A0-AD6D-EA8E1F03BC21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7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7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7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7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7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7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14.2 </a:t>
            </a:r>
            <a:r>
              <a:rPr lang="zh-CN" altLang="en-US" sz="3200" dirty="0"/>
              <a:t>死锁处理</a:t>
            </a:r>
            <a:endParaRPr lang="zh-CN" altLang="en-US" sz="3200" dirty="0">
              <a:solidFill>
                <a:srgbClr val="CC0000"/>
              </a:solidFill>
            </a:endParaRPr>
          </a:p>
        </p:txBody>
      </p:sp>
      <p:sp>
        <p:nvSpPr>
          <p:cNvPr id="543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 typeface="Wingdings" panose="05000000000000000000" pitchFamily="2" charset="2"/>
              <a:buAutoNum type="circleNumDbPlain" startAt="2"/>
            </a:pPr>
            <a:r>
              <a:rPr lang="zh-CN" altLang="en-US" dirty="0"/>
              <a:t>顺序封锁法 </a:t>
            </a:r>
            <a:endParaRPr lang="zh-CN" altLang="en-US" dirty="0"/>
          </a:p>
          <a:p>
            <a:pPr marL="609600" indent="-609600"/>
            <a:r>
              <a:rPr lang="zh-CN" altLang="en-US" dirty="0"/>
              <a:t>顺序封锁法是</a:t>
            </a:r>
            <a:r>
              <a:rPr lang="zh-CN" altLang="en-US" dirty="0">
                <a:solidFill>
                  <a:schemeClr val="tx2"/>
                </a:solidFill>
              </a:rPr>
              <a:t>预先对</a:t>
            </a:r>
            <a:r>
              <a:rPr lang="zh-CN" altLang="en-US" dirty="0">
                <a:solidFill>
                  <a:srgbClr val="0000FF"/>
                </a:solidFill>
              </a:rPr>
              <a:t>数据对象</a:t>
            </a:r>
            <a:r>
              <a:rPr lang="zh-CN" altLang="en-US" dirty="0">
                <a:solidFill>
                  <a:schemeClr val="tx2"/>
                </a:solidFill>
              </a:rPr>
              <a:t>规定一个</a:t>
            </a:r>
            <a:r>
              <a:rPr lang="zh-CN" altLang="en-US" dirty="0">
                <a:solidFill>
                  <a:srgbClr val="0000FF"/>
                </a:solidFill>
              </a:rPr>
              <a:t>封锁顺序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chemeClr val="tx2"/>
                </a:solidFill>
              </a:rPr>
              <a:t>所有事务都按这个顺序实行封锁</a:t>
            </a:r>
            <a:r>
              <a:rPr lang="zh-CN" altLang="en-US" dirty="0"/>
              <a:t>。</a:t>
            </a:r>
            <a:br>
              <a:rPr lang="zh-CN" altLang="en-US" dirty="0"/>
            </a:br>
            <a:endParaRPr lang="en-US" altLang="zh-CN" sz="1400" dirty="0"/>
          </a:p>
          <a:p>
            <a:pPr marL="1009650" lvl="1" indent="-609600"/>
            <a:r>
              <a:rPr lang="zh-CN" altLang="en-US" dirty="0"/>
              <a:t>顺序封锁法可以有效地防止死锁，但也同样存在问题。</a:t>
            </a:r>
            <a:endParaRPr lang="en-US" altLang="zh-CN" dirty="0"/>
          </a:p>
          <a:p>
            <a:pPr marL="1009650" lvl="1" indent="-609600"/>
            <a:r>
              <a:rPr lang="zh-CN" altLang="en-US" dirty="0"/>
              <a:t>事务的</a:t>
            </a:r>
            <a:r>
              <a:rPr lang="zh-CN" altLang="en-US" dirty="0">
                <a:solidFill>
                  <a:schemeClr val="tx2"/>
                </a:solidFill>
              </a:rPr>
              <a:t>封锁请求</a:t>
            </a:r>
            <a:r>
              <a:rPr lang="zh-CN" altLang="en-US" dirty="0"/>
              <a:t>可以随着</a:t>
            </a:r>
            <a:r>
              <a:rPr lang="zh-CN" altLang="en-US" b="1" dirty="0">
                <a:solidFill>
                  <a:schemeClr val="tx2"/>
                </a:solidFill>
              </a:rPr>
              <a:t>事务的执行而</a:t>
            </a:r>
            <a:r>
              <a:rPr lang="zh-CN" altLang="en-US" b="1" dirty="0">
                <a:solidFill>
                  <a:srgbClr val="FF0000"/>
                </a:solidFill>
              </a:rPr>
              <a:t>动态</a:t>
            </a:r>
            <a:r>
              <a:rPr lang="zh-CN" altLang="en-US" b="1" dirty="0">
                <a:solidFill>
                  <a:schemeClr val="tx2"/>
                </a:solidFill>
              </a:rPr>
              <a:t>地决定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FF0000"/>
                </a:solidFill>
              </a:rPr>
              <a:t>很难事先</a:t>
            </a:r>
            <a:r>
              <a:rPr lang="zh-CN" altLang="en-US" dirty="0"/>
              <a:t>确定每一个事务要</a:t>
            </a:r>
            <a:r>
              <a:rPr lang="zh-CN" altLang="en-US" dirty="0">
                <a:solidFill>
                  <a:schemeClr val="tx2"/>
                </a:solidFill>
              </a:rPr>
              <a:t>封锁哪些对象</a:t>
            </a:r>
            <a:r>
              <a:rPr lang="zh-CN" altLang="en-US" dirty="0"/>
              <a:t>，因此也就</a:t>
            </a:r>
            <a:r>
              <a:rPr lang="zh-CN" altLang="en-US" dirty="0">
                <a:solidFill>
                  <a:schemeClr val="hlink"/>
                </a:solidFill>
              </a:rPr>
              <a:t>很难按规定的顺序去施加封锁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B20E-E325-497B-8CB7-5F5BF5CD8F61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14.2 </a:t>
            </a:r>
            <a:r>
              <a:rPr lang="zh-CN" altLang="en-US" sz="3200" dirty="0"/>
              <a:t>死锁处理</a:t>
            </a:r>
            <a:endParaRPr lang="zh-CN" altLang="en-US" sz="3200" dirty="0">
              <a:solidFill>
                <a:srgbClr val="CC0000"/>
              </a:solidFill>
            </a:endParaRPr>
          </a:p>
        </p:txBody>
      </p:sp>
      <p:sp>
        <p:nvSpPr>
          <p:cNvPr id="544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在操作系统中广为采用的预防死锁的策略并不很适合数据库的特点，因此</a:t>
            </a:r>
            <a:r>
              <a:rPr lang="en-US" altLang="zh-CN" dirty="0">
                <a:solidFill>
                  <a:srgbClr val="FF0303"/>
                </a:solidFill>
              </a:rPr>
              <a:t>DBMS</a:t>
            </a:r>
            <a:r>
              <a:rPr lang="zh-CN" altLang="en-US" dirty="0">
                <a:solidFill>
                  <a:schemeClr val="tx2"/>
                </a:solidFill>
              </a:rPr>
              <a:t>在解决死锁的问题上普遍采用的</a:t>
            </a:r>
            <a:r>
              <a:rPr lang="zh-CN" altLang="en-US" dirty="0">
                <a:solidFill>
                  <a:srgbClr val="FF0303"/>
                </a:solidFill>
              </a:rPr>
              <a:t>是诊断</a:t>
            </a:r>
            <a:r>
              <a:rPr lang="zh-CN" altLang="en-US" dirty="0"/>
              <a:t>并</a:t>
            </a:r>
            <a:r>
              <a:rPr lang="zh-CN" altLang="en-US" dirty="0">
                <a:solidFill>
                  <a:srgbClr val="FF0303"/>
                </a:solidFill>
              </a:rPr>
              <a:t>解除死锁的方法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AF7B1-CEAE-4240-BE8F-99D7BC33FDFE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14.2 </a:t>
            </a:r>
            <a:r>
              <a:rPr lang="zh-CN" altLang="en-US" sz="3200" dirty="0"/>
              <a:t>死锁处理</a:t>
            </a:r>
            <a:endParaRPr lang="zh-CN" altLang="en-US" sz="3200" dirty="0">
              <a:solidFill>
                <a:srgbClr val="CC0000"/>
              </a:solidFill>
            </a:endParaRPr>
          </a:p>
        </p:txBody>
      </p:sp>
      <p:sp>
        <p:nvSpPr>
          <p:cNvPr id="545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2. </a:t>
            </a:r>
            <a:r>
              <a:rPr lang="zh-CN" altLang="en-US" dirty="0"/>
              <a:t>死锁的</a:t>
            </a:r>
            <a:r>
              <a:rPr lang="zh-CN" altLang="en-US" b="1" u="sng" dirty="0">
                <a:solidFill>
                  <a:schemeClr val="tx2"/>
                </a:solidFill>
              </a:rPr>
              <a:t>诊断</a:t>
            </a:r>
            <a:r>
              <a:rPr lang="zh-CN" altLang="en-US" dirty="0">
                <a:solidFill>
                  <a:schemeClr val="tx2"/>
                </a:solidFill>
              </a:rPr>
              <a:t>与解除</a:t>
            </a:r>
            <a:endParaRPr lang="zh-CN" altLang="en-US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80"/>
                </a:solidFill>
              </a:rPr>
              <a:t>① </a:t>
            </a:r>
            <a:r>
              <a:rPr lang="zh-CN" altLang="en-US" b="1" dirty="0">
                <a:solidFill>
                  <a:srgbClr val="0000FF"/>
                </a:solidFill>
              </a:rPr>
              <a:t>超时法</a:t>
            </a:r>
            <a:br>
              <a:rPr lang="zh-CN" altLang="en-US" dirty="0">
                <a:solidFill>
                  <a:srgbClr val="009900"/>
                </a:solidFill>
              </a:rPr>
            </a:br>
            <a:endParaRPr lang="zh-CN" altLang="en-US" sz="1000" dirty="0">
              <a:solidFill>
                <a:srgbClr val="009900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如果一个</a:t>
            </a:r>
            <a:r>
              <a:rPr lang="zh-CN" altLang="en-US" dirty="0">
                <a:solidFill>
                  <a:srgbClr val="0000FF"/>
                </a:solidFill>
              </a:rPr>
              <a:t>事务的等待时间</a:t>
            </a:r>
            <a:r>
              <a:rPr lang="zh-CN" altLang="en-US" dirty="0">
                <a:solidFill>
                  <a:srgbClr val="C00000"/>
                </a:solidFill>
              </a:rPr>
              <a:t>超过</a:t>
            </a:r>
            <a:r>
              <a:rPr lang="zh-CN" altLang="en-US" dirty="0"/>
              <a:t>了</a:t>
            </a:r>
            <a:r>
              <a:rPr lang="zh-CN" altLang="en-US" dirty="0">
                <a:solidFill>
                  <a:schemeClr val="tx2"/>
                </a:solidFill>
              </a:rPr>
              <a:t>规定的时限</a:t>
            </a:r>
            <a:r>
              <a:rPr lang="zh-CN" altLang="en-US" dirty="0"/>
              <a:t>，就认为发生了</a:t>
            </a:r>
            <a:r>
              <a:rPr lang="zh-CN" altLang="en-US" dirty="0">
                <a:solidFill>
                  <a:srgbClr val="C00000"/>
                </a:solidFill>
              </a:rPr>
              <a:t>死锁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zh-CN" altLang="en-US" dirty="0"/>
              <a:t>超时法</a:t>
            </a:r>
            <a:r>
              <a:rPr lang="zh-CN" altLang="en-US" b="1" dirty="0">
                <a:solidFill>
                  <a:srgbClr val="FF0000"/>
                </a:solidFill>
              </a:rPr>
              <a:t>实现简单</a:t>
            </a:r>
            <a:r>
              <a:rPr lang="zh-CN" altLang="en-US" dirty="0"/>
              <a:t>，但其不足也很明显。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zh-CN" altLang="en-US" dirty="0"/>
              <a:t>一是有可能</a:t>
            </a:r>
            <a:r>
              <a:rPr lang="zh-CN" altLang="en-US" b="1" u="sng" dirty="0">
                <a:solidFill>
                  <a:srgbClr val="FF0000"/>
                </a:solidFill>
              </a:rPr>
              <a:t>误判死锁</a:t>
            </a:r>
            <a:r>
              <a:rPr lang="zh-CN" altLang="en-US" dirty="0"/>
              <a:t>，事务因为</a:t>
            </a:r>
            <a:r>
              <a:rPr lang="zh-CN" altLang="en-US" dirty="0">
                <a:solidFill>
                  <a:schemeClr val="tx2"/>
                </a:solidFill>
              </a:rPr>
              <a:t>其他原因</a:t>
            </a:r>
            <a:r>
              <a:rPr lang="zh-CN" altLang="en-US" dirty="0"/>
              <a:t>使等待时间超过时限，系统会误认为发生了死锁。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zh-CN" altLang="en-US" dirty="0"/>
              <a:t>二是时限若</a:t>
            </a:r>
            <a:r>
              <a:rPr lang="zh-CN" altLang="en-US" dirty="0">
                <a:solidFill>
                  <a:schemeClr val="tx2"/>
                </a:solidFill>
              </a:rPr>
              <a:t>设置得太长</a:t>
            </a:r>
            <a:r>
              <a:rPr lang="zh-CN" altLang="en-US" dirty="0"/>
              <a:t>，死锁发生后</a:t>
            </a:r>
            <a:r>
              <a:rPr lang="zh-CN" altLang="en-US" b="1" u="sng" dirty="0">
                <a:solidFill>
                  <a:srgbClr val="FF0000"/>
                </a:solidFill>
              </a:rPr>
              <a:t>不能及时发现</a:t>
            </a:r>
            <a:r>
              <a:rPr lang="zh-CN" altLang="en-US" dirty="0"/>
              <a:t>。</a:t>
            </a:r>
            <a:br>
              <a:rPr lang="zh-CN" altLang="en-US" dirty="0">
                <a:solidFill>
                  <a:srgbClr val="000080"/>
                </a:solidFill>
              </a:rPr>
            </a:br>
            <a:endParaRPr lang="zh-CN" altLang="en-US" dirty="0">
              <a:solidFill>
                <a:srgbClr val="00008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C6F3A-CF52-4724-B16A-FAC5D73497D4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14.2 </a:t>
            </a:r>
            <a:r>
              <a:rPr lang="zh-CN" altLang="en-US" sz="3200" dirty="0"/>
              <a:t>死锁处理</a:t>
            </a:r>
            <a:endParaRPr lang="zh-CN" altLang="en-US" sz="3200" dirty="0">
              <a:solidFill>
                <a:srgbClr val="CC0000"/>
              </a:solidFill>
            </a:endParaRPr>
          </a:p>
        </p:txBody>
      </p:sp>
      <p:sp>
        <p:nvSpPr>
          <p:cNvPr id="546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80"/>
                </a:solidFill>
              </a:rPr>
              <a:t>② </a:t>
            </a:r>
            <a:r>
              <a:rPr lang="zh-CN" altLang="en-US" dirty="0">
                <a:solidFill>
                  <a:srgbClr val="FF0000"/>
                </a:solidFill>
              </a:rPr>
              <a:t>等待图法</a:t>
            </a:r>
            <a:br>
              <a:rPr lang="zh-CN" altLang="en-US" sz="2800" dirty="0"/>
            </a:br>
            <a:endParaRPr lang="zh-CN" altLang="en-US" sz="9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/>
              <a:t>事务等待图是一个</a:t>
            </a:r>
            <a:r>
              <a:rPr lang="zh-CN" altLang="en-US" sz="2800" dirty="0">
                <a:solidFill>
                  <a:srgbClr val="0000FF"/>
                </a:solidFill>
              </a:rPr>
              <a:t>有向图</a:t>
            </a:r>
            <a:r>
              <a:rPr lang="en-US" altLang="zh-CN" sz="2800" dirty="0"/>
              <a:t>G=(T, U)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lvl="1"/>
            <a:r>
              <a:rPr lang="en-US" altLang="zh-CN" sz="2400" dirty="0"/>
              <a:t>T</a:t>
            </a:r>
            <a:r>
              <a:rPr lang="zh-CN" altLang="en-US" sz="2400" dirty="0"/>
              <a:t>为结点的集合，每个</a:t>
            </a:r>
            <a:r>
              <a:rPr lang="zh-CN" altLang="en-US" sz="2400" dirty="0">
                <a:solidFill>
                  <a:schemeClr val="tx2"/>
                </a:solidFill>
              </a:rPr>
              <a:t>结点</a:t>
            </a:r>
            <a:r>
              <a:rPr lang="zh-CN" altLang="en-US" sz="2400" dirty="0">
                <a:solidFill>
                  <a:srgbClr val="FF0000"/>
                </a:solidFill>
              </a:rPr>
              <a:t>表示</a:t>
            </a:r>
            <a:r>
              <a:rPr lang="zh-CN" altLang="en-US" sz="2400" dirty="0"/>
              <a:t>正运行的</a:t>
            </a:r>
            <a:r>
              <a:rPr lang="zh-CN" altLang="en-US" sz="2400" dirty="0">
                <a:solidFill>
                  <a:schemeClr val="tx2"/>
                </a:solidFill>
              </a:rPr>
              <a:t>事务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 lvl="1"/>
            <a:r>
              <a:rPr lang="en-US" altLang="zh-CN" sz="2400" dirty="0"/>
              <a:t>U</a:t>
            </a:r>
            <a:r>
              <a:rPr lang="zh-CN" altLang="en-US" sz="2400" dirty="0"/>
              <a:t>为边的集合，每条</a:t>
            </a:r>
            <a:r>
              <a:rPr lang="zh-CN" altLang="en-US" sz="2400" dirty="0">
                <a:solidFill>
                  <a:schemeClr val="tx2"/>
                </a:solidFill>
              </a:rPr>
              <a:t>边</a:t>
            </a:r>
            <a:r>
              <a:rPr lang="zh-CN" altLang="en-US" sz="2400" dirty="0"/>
              <a:t>表示</a:t>
            </a:r>
            <a:r>
              <a:rPr lang="zh-CN" altLang="en-US" sz="2400" dirty="0">
                <a:solidFill>
                  <a:schemeClr val="tx2"/>
                </a:solidFill>
              </a:rPr>
              <a:t>事务等待的情况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1"/>
            <a:r>
              <a:rPr lang="zh-CN" altLang="en-US" sz="2400" dirty="0"/>
              <a:t>若</a:t>
            </a:r>
            <a:r>
              <a:rPr lang="en-US" altLang="zh-CN" sz="2400" dirty="0">
                <a:solidFill>
                  <a:schemeClr val="tx2"/>
                </a:solidFill>
              </a:rPr>
              <a:t>T1</a:t>
            </a:r>
            <a:r>
              <a:rPr lang="zh-CN" altLang="en-US" sz="2400" dirty="0">
                <a:solidFill>
                  <a:schemeClr val="tx2"/>
                </a:solidFill>
              </a:rPr>
              <a:t>等待</a:t>
            </a:r>
            <a:r>
              <a:rPr lang="en-US" altLang="zh-CN" sz="2400" dirty="0">
                <a:solidFill>
                  <a:schemeClr val="tx2"/>
                </a:solidFill>
              </a:rPr>
              <a:t>T2</a:t>
            </a:r>
            <a:r>
              <a:rPr lang="en-US" altLang="zh-CN" sz="2400" dirty="0"/>
              <a:t>,</a:t>
            </a:r>
            <a:r>
              <a:rPr lang="zh-CN" altLang="en-US" sz="2400" dirty="0"/>
              <a:t>则</a:t>
            </a:r>
            <a:r>
              <a:rPr lang="en-US" altLang="zh-CN" sz="2400" dirty="0"/>
              <a:t>T1</a:t>
            </a:r>
            <a:r>
              <a:rPr lang="zh-CN" altLang="en-US" sz="2400" dirty="0"/>
              <a:t>、</a:t>
            </a:r>
            <a:r>
              <a:rPr lang="en-US" altLang="zh-CN" sz="2400" dirty="0"/>
              <a:t>T2</a:t>
            </a:r>
            <a:r>
              <a:rPr lang="zh-CN" altLang="en-US" sz="2400" dirty="0"/>
              <a:t>之间划一条</a:t>
            </a:r>
            <a:r>
              <a:rPr lang="zh-CN" altLang="en-US" sz="2400" dirty="0">
                <a:solidFill>
                  <a:schemeClr val="tx2"/>
                </a:solidFill>
              </a:rPr>
              <a:t>有向边</a:t>
            </a:r>
            <a:r>
              <a:rPr lang="zh-CN" altLang="en-US" sz="2400" dirty="0"/>
              <a:t>，从</a:t>
            </a:r>
            <a:r>
              <a:rPr lang="en-US" altLang="zh-CN" sz="2400" dirty="0">
                <a:solidFill>
                  <a:schemeClr val="tx2"/>
                </a:solidFill>
              </a:rPr>
              <a:t>T1</a:t>
            </a:r>
            <a:r>
              <a:rPr lang="zh-CN" altLang="en-US" sz="2400" dirty="0">
                <a:solidFill>
                  <a:schemeClr val="tx2"/>
                </a:solidFill>
              </a:rPr>
              <a:t>指向</a:t>
            </a:r>
            <a:r>
              <a:rPr lang="en-US" altLang="zh-CN" sz="2400" dirty="0">
                <a:solidFill>
                  <a:schemeClr val="tx2"/>
                </a:solidFill>
              </a:rPr>
              <a:t>T2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/>
              <a:t>事务等待图动态地反映了所有事务的等待情况。</a:t>
            </a:r>
            <a:r>
              <a:rPr lang="zh-CN" altLang="en-US" sz="2800" dirty="0">
                <a:solidFill>
                  <a:schemeClr val="tx2"/>
                </a:solidFill>
              </a:rPr>
              <a:t>并发控制子系统</a:t>
            </a:r>
            <a:r>
              <a:rPr lang="zh-CN" altLang="en-US" sz="2800" dirty="0">
                <a:solidFill>
                  <a:srgbClr val="0000FF"/>
                </a:solidFill>
              </a:rPr>
              <a:t>周期性地</a:t>
            </a:r>
            <a:r>
              <a:rPr lang="zh-CN" altLang="en-US" sz="2800" dirty="0"/>
              <a:t>（比如每隔</a:t>
            </a:r>
            <a:r>
              <a:rPr lang="en-US" altLang="zh-CN" sz="2800" dirty="0"/>
              <a:t>1</a:t>
            </a:r>
            <a:r>
              <a:rPr lang="zh-CN" altLang="en-US" sz="2800" dirty="0"/>
              <a:t>分钟）</a:t>
            </a:r>
            <a:r>
              <a:rPr lang="zh-CN" altLang="en-US" sz="2800" dirty="0">
                <a:solidFill>
                  <a:schemeClr val="tx2"/>
                </a:solidFill>
              </a:rPr>
              <a:t>检测事务等待图</a:t>
            </a:r>
            <a:r>
              <a:rPr lang="zh-CN" altLang="en-US" sz="2800" dirty="0"/>
              <a:t>，如果发现图中</a:t>
            </a:r>
            <a:r>
              <a:rPr lang="zh-CN" altLang="en-US" sz="2800" b="1" dirty="0">
                <a:solidFill>
                  <a:schemeClr val="tx2"/>
                </a:solidFill>
              </a:rPr>
              <a:t>存在</a:t>
            </a:r>
            <a:r>
              <a:rPr lang="zh-CN" altLang="en-US" sz="2800" b="1" dirty="0">
                <a:solidFill>
                  <a:srgbClr val="C00000"/>
                </a:solidFill>
              </a:rPr>
              <a:t>回路</a:t>
            </a:r>
            <a:r>
              <a:rPr lang="zh-CN" altLang="en-US" sz="2800" dirty="0"/>
              <a:t>，则表示系统中</a:t>
            </a:r>
            <a:r>
              <a:rPr lang="zh-CN" altLang="en-US" sz="2800" b="1" dirty="0">
                <a:solidFill>
                  <a:schemeClr val="tx2"/>
                </a:solidFill>
              </a:rPr>
              <a:t>出现了</a:t>
            </a:r>
            <a:r>
              <a:rPr lang="zh-CN" altLang="en-US" sz="2800" b="1" dirty="0">
                <a:solidFill>
                  <a:srgbClr val="C00000"/>
                </a:solidFill>
              </a:rPr>
              <a:t>死锁</a:t>
            </a:r>
            <a:r>
              <a:rPr lang="zh-CN" altLang="en-US" sz="2800" dirty="0"/>
              <a:t>。</a:t>
            </a:r>
            <a:endParaRPr lang="zh-CN" altLang="en-US" sz="28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04800"/>
            <a:ext cx="3000375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3E470-577A-4FFA-A6F3-B7F886E786D2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14.2 </a:t>
            </a:r>
            <a:r>
              <a:rPr lang="zh-CN" altLang="en-US" sz="3200" dirty="0"/>
              <a:t>死锁处理</a:t>
            </a:r>
            <a:endParaRPr lang="zh-CN" altLang="en-US" sz="3200" dirty="0">
              <a:solidFill>
                <a:srgbClr val="CC0000"/>
              </a:solidFill>
            </a:endParaRPr>
          </a:p>
        </p:txBody>
      </p:sp>
      <p:sp>
        <p:nvSpPr>
          <p:cNvPr id="546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80"/>
                </a:solidFill>
              </a:rPr>
              <a:t>② </a:t>
            </a:r>
            <a:r>
              <a:rPr lang="zh-CN" altLang="en-US" dirty="0">
                <a:solidFill>
                  <a:srgbClr val="FF0000"/>
                </a:solidFill>
              </a:rPr>
              <a:t>等待图法</a:t>
            </a:r>
            <a:br>
              <a:rPr lang="zh-CN" altLang="en-US" sz="2800" dirty="0"/>
            </a:br>
            <a:endParaRPr lang="zh-CN" altLang="en-US" sz="90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BCCB-C8F6-4417-A693-A952C53458C9}" type="datetime1">
              <a:rPr lang="zh-CN" altLang="en-US" smtClean="0"/>
            </a:fld>
            <a:endParaRPr lang="en-US" altLang="zh-CN"/>
          </a:p>
        </p:txBody>
      </p:sp>
      <p:grpSp>
        <p:nvGrpSpPr>
          <p:cNvPr id="8" name="Group 3"/>
          <p:cNvGrpSpPr/>
          <p:nvPr/>
        </p:nvGrpSpPr>
        <p:grpSpPr bwMode="auto">
          <a:xfrm>
            <a:off x="1619052" y="2060848"/>
            <a:ext cx="5761260" cy="1992983"/>
            <a:chOff x="-1" y="45"/>
            <a:chExt cx="3990" cy="1618"/>
          </a:xfrm>
        </p:grpSpPr>
        <p:graphicFrame>
          <p:nvGraphicFramePr>
            <p:cNvPr id="9" name="Object 4"/>
            <p:cNvGraphicFramePr>
              <a:graphicFrameLocks noChangeAspect="1"/>
            </p:cNvGraphicFramePr>
            <p:nvPr/>
          </p:nvGraphicFramePr>
          <p:xfrm>
            <a:off x="-1" y="45"/>
            <a:ext cx="3990" cy="1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0" name="Picture" r:id="rId1" imgW="2246630" imgH="713105" progId="Word.Picture.8">
                    <p:embed/>
                  </p:oleObj>
                </mc:Choice>
                <mc:Fallback>
                  <p:oleObj name="Picture" r:id="rId1" imgW="2246630" imgH="713105" progId="Word.Picture.8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1" y="45"/>
                          <a:ext cx="3990" cy="1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 Box 5"/>
            <p:cNvSpPr txBox="1">
              <a:spLocks noChangeArrowheads="1"/>
            </p:cNvSpPr>
            <p:nvPr/>
          </p:nvSpPr>
          <p:spPr bwMode="auto">
            <a:xfrm>
              <a:off x="1441" y="1432"/>
              <a:ext cx="8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SzPct val="100000"/>
                <a:buFont typeface="Wingdings" panose="05000000000000000000" pitchFamily="2" charset="2"/>
                <a:buNone/>
              </a:pPr>
              <a:r>
                <a:rPr lang="zh-CN" altLang="zh-CN" b="1" dirty="0">
                  <a:latin typeface="Times New Roman" panose="02020603050405020304" pitchFamily="18" charset="0"/>
                </a:rPr>
                <a:t>事务等待图</a:t>
              </a:r>
              <a:endParaRPr lang="zh-CN" altLang="zh-CN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539552" y="4149080"/>
            <a:ext cx="8064500" cy="2259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SzPct val="100000"/>
              <a:buFont typeface="Wingdings" panose="05000000000000000000" pitchFamily="2" charset="2"/>
              <a:buChar char="n"/>
            </a:pPr>
            <a:r>
              <a:rPr lang="zh-CN" altLang="en-US" sz="2200" b="1" dirty="0">
                <a:latin typeface="Times New Roman" panose="02020603050405020304" pitchFamily="18" charset="0"/>
              </a:rPr>
              <a:t>图</a:t>
            </a:r>
            <a:r>
              <a:rPr lang="en-US" altLang="zh-CN" sz="2200" b="1" dirty="0">
                <a:latin typeface="Times New Roman" panose="02020603050405020304" pitchFamily="18" charset="0"/>
              </a:rPr>
              <a:t>(a)</a:t>
            </a:r>
            <a:r>
              <a:rPr lang="zh-CN" altLang="en-US" sz="2200" b="1" dirty="0">
                <a:latin typeface="Times New Roman" panose="02020603050405020304" pitchFamily="18" charset="0"/>
              </a:rPr>
              <a:t>中，事务</a:t>
            </a:r>
            <a:r>
              <a:rPr lang="en-US" altLang="zh-CN" sz="2200" b="1" dirty="0">
                <a:latin typeface="Times New Roman" panose="02020603050405020304" pitchFamily="18" charset="0"/>
              </a:rPr>
              <a:t>T</a:t>
            </a:r>
            <a:r>
              <a:rPr lang="en-US" altLang="zh-CN" sz="22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200" b="1" dirty="0">
                <a:latin typeface="Times New Roman" panose="02020603050405020304" pitchFamily="18" charset="0"/>
              </a:rPr>
              <a:t>等待</a:t>
            </a:r>
            <a:r>
              <a:rPr lang="en-US" altLang="zh-CN" sz="2200" b="1" dirty="0">
                <a:latin typeface="Times New Roman" panose="02020603050405020304" pitchFamily="18" charset="0"/>
              </a:rPr>
              <a:t>T</a:t>
            </a:r>
            <a:r>
              <a:rPr lang="en-US" altLang="zh-CN" sz="22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200" b="1" dirty="0">
                <a:latin typeface="Times New Roman" panose="02020603050405020304" pitchFamily="18" charset="0"/>
              </a:rPr>
              <a:t>，</a:t>
            </a:r>
            <a:r>
              <a:rPr lang="en-US" altLang="zh-CN" sz="2200" b="1" dirty="0">
                <a:latin typeface="Times New Roman" panose="02020603050405020304" pitchFamily="18" charset="0"/>
              </a:rPr>
              <a:t>T</a:t>
            </a:r>
            <a:r>
              <a:rPr lang="en-US" altLang="zh-CN" sz="22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200" b="1" dirty="0">
                <a:latin typeface="Times New Roman" panose="02020603050405020304" pitchFamily="18" charset="0"/>
              </a:rPr>
              <a:t>等待</a:t>
            </a:r>
            <a:r>
              <a:rPr lang="en-US" altLang="zh-CN" sz="2200" b="1" dirty="0">
                <a:latin typeface="Times New Roman" panose="02020603050405020304" pitchFamily="18" charset="0"/>
              </a:rPr>
              <a:t>T</a:t>
            </a:r>
            <a:r>
              <a:rPr lang="en-US" altLang="zh-CN" sz="22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200" b="1" dirty="0">
                <a:latin typeface="Times New Roman" panose="02020603050405020304" pitchFamily="18" charset="0"/>
              </a:rPr>
              <a:t>，产生了</a:t>
            </a:r>
            <a:r>
              <a:rPr lang="zh-CN" altLang="en-US" sz="2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死锁</a:t>
            </a:r>
            <a:endParaRPr lang="zh-CN" altLang="en-US" sz="22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SzPct val="100000"/>
              <a:buFont typeface="Wingdings" panose="05000000000000000000" pitchFamily="2" charset="2"/>
              <a:buChar char="n"/>
            </a:pPr>
            <a:r>
              <a:rPr lang="zh-CN" altLang="en-US" sz="2200" b="1" dirty="0">
                <a:latin typeface="Times New Roman" panose="02020603050405020304" pitchFamily="18" charset="0"/>
              </a:rPr>
              <a:t>图</a:t>
            </a:r>
            <a:r>
              <a:rPr lang="en-US" altLang="zh-CN" sz="2200" b="1" dirty="0">
                <a:latin typeface="Times New Roman" panose="02020603050405020304" pitchFamily="18" charset="0"/>
              </a:rPr>
              <a:t>(b)</a:t>
            </a:r>
            <a:r>
              <a:rPr lang="zh-CN" altLang="en-US" sz="2200" b="1" dirty="0">
                <a:latin typeface="Times New Roman" panose="02020603050405020304" pitchFamily="18" charset="0"/>
              </a:rPr>
              <a:t>中，事务</a:t>
            </a:r>
            <a:r>
              <a:rPr lang="en-US" altLang="zh-CN" sz="2200" b="1" dirty="0">
                <a:latin typeface="Times New Roman" panose="02020603050405020304" pitchFamily="18" charset="0"/>
              </a:rPr>
              <a:t>T</a:t>
            </a:r>
            <a:r>
              <a:rPr lang="en-US" altLang="zh-CN" sz="22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200" b="1" dirty="0">
                <a:latin typeface="Times New Roman" panose="02020603050405020304" pitchFamily="18" charset="0"/>
              </a:rPr>
              <a:t>等待</a:t>
            </a:r>
            <a:r>
              <a:rPr lang="en-US" altLang="zh-CN" sz="2200" b="1" dirty="0">
                <a:latin typeface="Times New Roman" panose="02020603050405020304" pitchFamily="18" charset="0"/>
              </a:rPr>
              <a:t>T</a:t>
            </a:r>
            <a:r>
              <a:rPr lang="en-US" altLang="zh-CN" sz="22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200" b="1" dirty="0">
                <a:latin typeface="Times New Roman" panose="02020603050405020304" pitchFamily="18" charset="0"/>
              </a:rPr>
              <a:t>，</a:t>
            </a:r>
            <a:r>
              <a:rPr lang="en-US" altLang="zh-CN" sz="2200" b="1" dirty="0">
                <a:latin typeface="Times New Roman" panose="02020603050405020304" pitchFamily="18" charset="0"/>
              </a:rPr>
              <a:t>T</a:t>
            </a:r>
            <a:r>
              <a:rPr lang="en-US" altLang="zh-CN" sz="22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200" b="1" dirty="0">
                <a:latin typeface="Times New Roman" panose="02020603050405020304" pitchFamily="18" charset="0"/>
              </a:rPr>
              <a:t>等待</a:t>
            </a:r>
            <a:r>
              <a:rPr lang="en-US" altLang="zh-CN" sz="2200" b="1" dirty="0">
                <a:latin typeface="Times New Roman" panose="02020603050405020304" pitchFamily="18" charset="0"/>
              </a:rPr>
              <a:t>T</a:t>
            </a:r>
            <a:r>
              <a:rPr lang="en-US" altLang="zh-CN" sz="2200" b="1" baseline="-25000" dirty="0">
                <a:latin typeface="Times New Roman" panose="02020603050405020304" pitchFamily="18" charset="0"/>
              </a:rPr>
              <a:t>3</a:t>
            </a:r>
            <a:r>
              <a:rPr lang="zh-CN" altLang="en-US" sz="2200" b="1" dirty="0">
                <a:latin typeface="Times New Roman" panose="02020603050405020304" pitchFamily="18" charset="0"/>
              </a:rPr>
              <a:t>，</a:t>
            </a:r>
            <a:r>
              <a:rPr lang="en-US" altLang="zh-CN" sz="2200" b="1" dirty="0">
                <a:latin typeface="Times New Roman" panose="02020603050405020304" pitchFamily="18" charset="0"/>
              </a:rPr>
              <a:t>T</a:t>
            </a:r>
            <a:r>
              <a:rPr lang="en-US" altLang="zh-CN" sz="2200" b="1" baseline="-25000" dirty="0">
                <a:latin typeface="Times New Roman" panose="02020603050405020304" pitchFamily="18" charset="0"/>
              </a:rPr>
              <a:t>3</a:t>
            </a:r>
            <a:r>
              <a:rPr lang="zh-CN" altLang="en-US" sz="2200" b="1" dirty="0">
                <a:latin typeface="Times New Roman" panose="02020603050405020304" pitchFamily="18" charset="0"/>
              </a:rPr>
              <a:t>等待</a:t>
            </a:r>
            <a:r>
              <a:rPr lang="en-US" altLang="zh-CN" sz="2200" b="1" dirty="0">
                <a:latin typeface="Times New Roman" panose="02020603050405020304" pitchFamily="18" charset="0"/>
              </a:rPr>
              <a:t>T</a:t>
            </a:r>
            <a:r>
              <a:rPr lang="en-US" altLang="zh-CN" sz="2200" b="1" baseline="-25000" dirty="0">
                <a:latin typeface="Times New Roman" panose="02020603050405020304" pitchFamily="18" charset="0"/>
              </a:rPr>
              <a:t>4</a:t>
            </a:r>
            <a:r>
              <a:rPr lang="zh-CN" altLang="en-US" sz="2200" b="1" dirty="0">
                <a:latin typeface="Times New Roman" panose="02020603050405020304" pitchFamily="18" charset="0"/>
              </a:rPr>
              <a:t>，</a:t>
            </a:r>
            <a:r>
              <a:rPr lang="en-US" altLang="zh-CN" sz="2200" b="1" dirty="0">
                <a:latin typeface="Times New Roman" panose="02020603050405020304" pitchFamily="18" charset="0"/>
              </a:rPr>
              <a:t>T</a:t>
            </a:r>
            <a:r>
              <a:rPr lang="en-US" altLang="zh-CN" sz="2200" b="1" baseline="-25000" dirty="0">
                <a:latin typeface="Times New Roman" panose="02020603050405020304" pitchFamily="18" charset="0"/>
              </a:rPr>
              <a:t>4</a:t>
            </a:r>
            <a:r>
              <a:rPr lang="zh-CN" altLang="en-US" sz="2200" b="1" dirty="0">
                <a:latin typeface="Times New Roman" panose="02020603050405020304" pitchFamily="18" charset="0"/>
              </a:rPr>
              <a:t>又等待</a:t>
            </a:r>
            <a:r>
              <a:rPr lang="en-US" altLang="zh-CN" sz="2200" b="1" dirty="0">
                <a:latin typeface="Times New Roman" panose="02020603050405020304" pitchFamily="18" charset="0"/>
              </a:rPr>
              <a:t>T</a:t>
            </a:r>
            <a:r>
              <a:rPr lang="en-US" altLang="zh-CN" sz="22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200" b="1" dirty="0">
                <a:latin typeface="Times New Roman" panose="02020603050405020304" pitchFamily="18" charset="0"/>
              </a:rPr>
              <a:t>，产生了</a:t>
            </a:r>
            <a:r>
              <a:rPr lang="zh-CN" altLang="en-US" sz="2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死锁 </a:t>
            </a:r>
            <a:endParaRPr lang="zh-CN" altLang="en-US" sz="22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SzPct val="100000"/>
              <a:buFont typeface="Wingdings" panose="05000000000000000000" pitchFamily="2" charset="2"/>
              <a:buChar char="n"/>
            </a:pPr>
            <a:r>
              <a:rPr lang="zh-CN" altLang="en-US" sz="2200" b="1" dirty="0">
                <a:latin typeface="Times New Roman" panose="02020603050405020304" pitchFamily="18" charset="0"/>
              </a:rPr>
              <a:t>图</a:t>
            </a:r>
            <a:r>
              <a:rPr lang="en-US" altLang="zh-CN" sz="2200" b="1" dirty="0">
                <a:latin typeface="Times New Roman" panose="02020603050405020304" pitchFamily="18" charset="0"/>
              </a:rPr>
              <a:t>(b)</a:t>
            </a:r>
            <a:r>
              <a:rPr lang="zh-CN" altLang="en-US" sz="2200" b="1" dirty="0">
                <a:latin typeface="Times New Roman" panose="02020603050405020304" pitchFamily="18" charset="0"/>
              </a:rPr>
              <a:t>中，事务</a:t>
            </a:r>
            <a:r>
              <a:rPr lang="en-US" altLang="zh-CN" sz="2200" b="1" dirty="0">
                <a:latin typeface="Times New Roman" panose="02020603050405020304" pitchFamily="18" charset="0"/>
              </a:rPr>
              <a:t>T</a:t>
            </a:r>
            <a:r>
              <a:rPr lang="en-US" altLang="zh-CN" sz="2200" b="1" baseline="-25000" dirty="0">
                <a:latin typeface="Times New Roman" panose="02020603050405020304" pitchFamily="18" charset="0"/>
              </a:rPr>
              <a:t>3</a:t>
            </a:r>
            <a:r>
              <a:rPr lang="zh-CN" altLang="en-US" sz="2200" b="1" dirty="0">
                <a:latin typeface="Times New Roman" panose="02020603050405020304" pitchFamily="18" charset="0"/>
              </a:rPr>
              <a:t>可能还等待</a:t>
            </a:r>
            <a:r>
              <a:rPr lang="en-US" altLang="zh-CN" sz="2200" b="1" dirty="0">
                <a:latin typeface="Times New Roman" panose="02020603050405020304" pitchFamily="18" charset="0"/>
              </a:rPr>
              <a:t>T</a:t>
            </a:r>
            <a:r>
              <a:rPr lang="en-US" altLang="zh-CN" sz="22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200" b="1" dirty="0">
                <a:latin typeface="Times New Roman" panose="02020603050405020304" pitchFamily="18" charset="0"/>
              </a:rPr>
              <a:t>，在</a:t>
            </a:r>
            <a:r>
              <a:rPr lang="zh-CN" altLang="en-US" sz="2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大回路中又有小的回路 </a:t>
            </a:r>
            <a:endParaRPr lang="zh-CN" altLang="en-US" sz="22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14.2 </a:t>
            </a:r>
            <a:r>
              <a:rPr lang="zh-CN" altLang="en-US" sz="3200" dirty="0"/>
              <a:t>死锁处理</a:t>
            </a:r>
            <a:endParaRPr lang="zh-CN" altLang="en-US" sz="3200" dirty="0">
              <a:solidFill>
                <a:srgbClr val="CC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90CB-6E71-4ED4-B938-495571105D86}" type="datetime1">
              <a:rPr lang="zh-CN" altLang="en-US" smtClean="0"/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  <p:sp>
        <p:nvSpPr>
          <p:cNvPr id="547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45488" cy="5293568"/>
          </a:xfrm>
          <a:solidFill>
            <a:schemeClr val="bg1"/>
          </a:solidFill>
        </p:spPr>
        <p:txBody>
          <a:bodyPr/>
          <a:lstStyle/>
          <a:p>
            <a:r>
              <a:rPr lang="en-US" altLang="zh-CN" sz="2800" dirty="0"/>
              <a:t>DBMS</a:t>
            </a:r>
            <a:r>
              <a:rPr lang="zh-CN" altLang="en-US" sz="2800" dirty="0"/>
              <a:t>的</a:t>
            </a:r>
            <a:r>
              <a:rPr lang="zh-CN" altLang="en-US" sz="2800" u="sng" dirty="0"/>
              <a:t>并发控制子系统</a:t>
            </a:r>
            <a:r>
              <a:rPr lang="zh-CN" altLang="en-US" sz="2800" dirty="0">
                <a:solidFill>
                  <a:schemeClr val="tx2"/>
                </a:solidFill>
              </a:rPr>
              <a:t>一旦检测</a:t>
            </a:r>
            <a:r>
              <a:rPr lang="zh-CN" altLang="en-US" sz="2800" dirty="0"/>
              <a:t>到系统中存在</a:t>
            </a:r>
            <a:r>
              <a:rPr lang="zh-CN" altLang="en-US" sz="2800" dirty="0">
                <a:solidFill>
                  <a:schemeClr val="tx2"/>
                </a:solidFill>
              </a:rPr>
              <a:t>死锁</a:t>
            </a:r>
            <a:r>
              <a:rPr lang="zh-CN" altLang="en-US" sz="2800" dirty="0"/>
              <a:t>，就要设法</a:t>
            </a:r>
            <a:r>
              <a:rPr lang="zh-CN" altLang="en-US" sz="2800" b="1" u="sng" dirty="0">
                <a:solidFill>
                  <a:srgbClr val="0000FF"/>
                </a:solidFill>
              </a:rPr>
              <a:t>解除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>
              <a:spcBef>
                <a:spcPct val="45000"/>
              </a:spcBef>
            </a:pPr>
            <a:r>
              <a:rPr lang="zh-CN" altLang="en-US" sz="2800" dirty="0"/>
              <a:t>通常</a:t>
            </a:r>
            <a:r>
              <a:rPr lang="zh-CN" altLang="en-US" sz="2800" u="sng" dirty="0"/>
              <a:t>采用的方法</a:t>
            </a:r>
            <a:r>
              <a:rPr lang="zh-CN" altLang="en-US" sz="2800" dirty="0"/>
              <a:t>是</a:t>
            </a:r>
            <a:r>
              <a:rPr lang="zh-CN" altLang="en-US" sz="2800" b="1" dirty="0"/>
              <a:t>选择一个</a:t>
            </a:r>
            <a:r>
              <a:rPr lang="zh-CN" altLang="en-US" sz="2800" b="1" u="sng" dirty="0"/>
              <a:t>处理死锁</a:t>
            </a:r>
            <a:r>
              <a:rPr lang="zh-CN" altLang="en-US" sz="2800" b="1" u="sng" dirty="0">
                <a:solidFill>
                  <a:srgbClr val="FF0303"/>
                </a:solidFill>
              </a:rPr>
              <a:t>代价</a:t>
            </a:r>
            <a:r>
              <a:rPr lang="zh-CN" altLang="en-US" sz="2800" b="1" dirty="0">
                <a:solidFill>
                  <a:srgbClr val="FF0303"/>
                </a:solidFill>
              </a:rPr>
              <a:t>最小的事务</a:t>
            </a:r>
            <a:r>
              <a:rPr lang="zh-CN" altLang="en-US" sz="2800" dirty="0"/>
              <a:t>，将其</a:t>
            </a:r>
            <a:r>
              <a:rPr lang="zh-CN" altLang="en-US" sz="2800" b="1" dirty="0">
                <a:solidFill>
                  <a:srgbClr val="FF030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撤消</a:t>
            </a:r>
            <a:r>
              <a:rPr lang="zh-CN" altLang="en-US" sz="2800" dirty="0"/>
              <a:t>，</a:t>
            </a:r>
            <a:r>
              <a:rPr lang="zh-CN" altLang="en-US" sz="2800" dirty="0">
                <a:solidFill>
                  <a:schemeClr val="tx2"/>
                </a:solidFill>
              </a:rPr>
              <a:t>释放</a:t>
            </a:r>
            <a:r>
              <a:rPr lang="zh-CN" altLang="en-US" sz="2800" dirty="0"/>
              <a:t>此事务持有的</a:t>
            </a:r>
            <a:r>
              <a:rPr lang="zh-CN" altLang="en-US" sz="2800" dirty="0">
                <a:solidFill>
                  <a:schemeClr val="tx2"/>
                </a:solidFill>
              </a:rPr>
              <a:t>所有的锁</a:t>
            </a:r>
            <a:r>
              <a:rPr lang="zh-CN" altLang="en-US" sz="2800" dirty="0"/>
              <a:t>，使其它事务得以继续运行下去。当然，对</a:t>
            </a:r>
            <a:r>
              <a:rPr lang="zh-CN" altLang="en-US" sz="2800" u="sng" dirty="0"/>
              <a:t>撤消的事务所执行的数据</a:t>
            </a:r>
            <a:r>
              <a:rPr lang="zh-CN" altLang="en-US" sz="2800" u="sng" dirty="0">
                <a:solidFill>
                  <a:schemeClr val="tx2"/>
                </a:solidFill>
              </a:rPr>
              <a:t>修改操作</a:t>
            </a:r>
            <a:r>
              <a:rPr lang="zh-CN" altLang="en-US" sz="2800" u="sng" dirty="0"/>
              <a:t>必须加以</a:t>
            </a:r>
            <a:r>
              <a:rPr lang="zh-CN" altLang="en-US" sz="2800" u="sng" dirty="0">
                <a:solidFill>
                  <a:schemeClr val="tx2"/>
                </a:solidFill>
              </a:rPr>
              <a:t>恢复</a:t>
            </a:r>
            <a:r>
              <a:rPr lang="en-US" altLang="zh-CN" sz="2800" u="sng" dirty="0">
                <a:solidFill>
                  <a:schemeClr val="tx2"/>
                </a:solidFill>
              </a:rPr>
              <a:t>/</a:t>
            </a:r>
            <a:r>
              <a:rPr lang="zh-CN" altLang="en-US" sz="2800" u="sng" dirty="0">
                <a:solidFill>
                  <a:schemeClr val="tx2"/>
                </a:solidFill>
              </a:rPr>
              <a:t>回滚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>
              <a:spcBef>
                <a:spcPct val="45000"/>
              </a:spcBef>
            </a:pPr>
            <a:r>
              <a:rPr lang="zh-CN" altLang="en-US" sz="2800" b="1" u="sng" dirty="0"/>
              <a:t>处理死锁</a:t>
            </a:r>
            <a:r>
              <a:rPr lang="zh-CN" altLang="en-US" sz="2800" b="1" u="sng" dirty="0">
                <a:solidFill>
                  <a:srgbClr val="FF0303"/>
                </a:solidFill>
              </a:rPr>
              <a:t>代价：</a:t>
            </a:r>
            <a:endParaRPr lang="en-US" altLang="zh-CN" sz="2800" dirty="0"/>
          </a:p>
          <a:p>
            <a:pPr lvl="1">
              <a:spcBef>
                <a:spcPct val="45000"/>
              </a:spcBef>
            </a:pPr>
            <a:r>
              <a:rPr lang="zh-CN" altLang="en-US" sz="2400" dirty="0"/>
              <a:t>事务</a:t>
            </a:r>
            <a:r>
              <a:rPr lang="zh-CN" altLang="en-US" sz="2400" dirty="0">
                <a:solidFill>
                  <a:srgbClr val="0000FF"/>
                </a:solidFill>
              </a:rPr>
              <a:t>已计算了多久</a:t>
            </a:r>
            <a:r>
              <a:rPr lang="zh-CN" altLang="en-US" sz="2400" dirty="0"/>
              <a:t>，并在完成其指定任务之前该事务</a:t>
            </a:r>
            <a:r>
              <a:rPr lang="zh-CN" altLang="en-US" sz="2400" dirty="0">
                <a:solidFill>
                  <a:srgbClr val="0000FF"/>
                </a:solidFill>
              </a:rPr>
              <a:t>还将计算多长时问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 lvl="1">
              <a:spcBef>
                <a:spcPct val="45000"/>
              </a:spcBef>
            </a:pPr>
            <a:r>
              <a:rPr lang="zh-CN" altLang="en-US" sz="2400" dirty="0"/>
              <a:t>该事务</a:t>
            </a:r>
            <a:r>
              <a:rPr lang="zh-CN" altLang="en-US" sz="2400" dirty="0">
                <a:solidFill>
                  <a:srgbClr val="0000FF"/>
                </a:solidFill>
              </a:rPr>
              <a:t>已使用了多少数据项</a:t>
            </a:r>
            <a:r>
              <a:rPr lang="zh-CN" altLang="en-US" sz="2400" dirty="0"/>
              <a:t>，为完成事务</a:t>
            </a:r>
            <a:r>
              <a:rPr lang="zh-CN" altLang="en-US" sz="2400" dirty="0">
                <a:solidFill>
                  <a:srgbClr val="0000FF"/>
                </a:solidFill>
              </a:rPr>
              <a:t>还需使用多少数据项</a:t>
            </a:r>
            <a:r>
              <a:rPr lang="zh-CN" altLang="en-US" sz="2400" dirty="0"/>
              <a:t>，</a:t>
            </a:r>
            <a:r>
              <a:rPr lang="zh-CN" altLang="en-US" sz="2400" dirty="0">
                <a:solidFill>
                  <a:srgbClr val="0000FF"/>
                </a:solidFill>
              </a:rPr>
              <a:t>回滚时将</a:t>
            </a:r>
            <a:r>
              <a:rPr lang="zh-CN" altLang="en-US" sz="2400" b="1" u="sng" dirty="0">
                <a:solidFill>
                  <a:srgbClr val="0000FF"/>
                </a:solidFill>
              </a:rPr>
              <a:t>牵涉</a:t>
            </a:r>
            <a:r>
              <a:rPr lang="zh-CN" altLang="en-US" sz="2400" dirty="0">
                <a:solidFill>
                  <a:srgbClr val="0000FF"/>
                </a:solidFill>
              </a:rPr>
              <a:t>多少事务</a:t>
            </a:r>
            <a:r>
              <a:rPr lang="zh-CN" altLang="en-US" sz="2400" dirty="0"/>
              <a:t>等。</a:t>
            </a:r>
            <a:endParaRPr lang="zh-CN" altLang="en-US" sz="2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7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7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47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47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47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47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14.2 </a:t>
            </a:r>
            <a:r>
              <a:rPr lang="zh-CN" altLang="en-US" sz="3200" dirty="0"/>
              <a:t>死锁处理</a:t>
            </a:r>
            <a:endParaRPr lang="zh-CN" altLang="en-US" sz="3200" dirty="0">
              <a:solidFill>
                <a:srgbClr val="CC0000"/>
              </a:solidFill>
            </a:endParaRPr>
          </a:p>
        </p:txBody>
      </p:sp>
      <p:sp>
        <p:nvSpPr>
          <p:cNvPr id="547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45000"/>
              </a:spcBef>
            </a:pPr>
            <a:r>
              <a:rPr lang="zh-CN" altLang="en-US" sz="2800" b="1" dirty="0">
                <a:solidFill>
                  <a:srgbClr val="0000FF"/>
                </a:solidFill>
              </a:rPr>
              <a:t>饿死</a:t>
            </a:r>
            <a:r>
              <a:rPr lang="en-US" altLang="zh-CN" sz="2800" dirty="0"/>
              <a:t>: </a:t>
            </a:r>
            <a:r>
              <a:rPr lang="zh-CN" altLang="en-US" sz="2800" dirty="0"/>
              <a:t>在系统中，如果选择牺牲者主要基于代价因素，有可能</a:t>
            </a:r>
            <a:r>
              <a:rPr lang="zh-CN" altLang="en-US" sz="2800" dirty="0">
                <a:solidFill>
                  <a:srgbClr val="0000FF"/>
                </a:solidFill>
              </a:rPr>
              <a:t>同一事务总是被选为牺牲者</a:t>
            </a:r>
            <a:r>
              <a:rPr lang="zh-CN" altLang="en-US" sz="2800" dirty="0"/>
              <a:t>。这样一来，该事务总是不能完成其指定任务，这样就发生</a:t>
            </a:r>
            <a:r>
              <a:rPr lang="zh-CN" altLang="en-US" sz="2800" b="1" dirty="0">
                <a:solidFill>
                  <a:srgbClr val="0000FF"/>
                </a:solidFill>
              </a:rPr>
              <a:t>饿死</a:t>
            </a:r>
            <a:r>
              <a:rPr lang="en-US" altLang="zh-CN" sz="2800" b="1" dirty="0">
                <a:solidFill>
                  <a:srgbClr val="0000FF"/>
                </a:solidFill>
              </a:rPr>
              <a:t>(starvation)</a:t>
            </a:r>
            <a:r>
              <a:rPr lang="zh-CN" altLang="en-US" sz="2800" dirty="0"/>
              <a:t>。因此，必须保证一个事务被选为牺牲者的</a:t>
            </a:r>
            <a:r>
              <a:rPr lang="zh-CN" altLang="en-US" sz="2800" b="1" dirty="0">
                <a:solidFill>
                  <a:srgbClr val="0000FF"/>
                </a:solidFill>
              </a:rPr>
              <a:t>次数有限</a:t>
            </a:r>
            <a:r>
              <a:rPr lang="en-US" altLang="zh-CN" sz="2800" dirty="0"/>
              <a:t>(</a:t>
            </a:r>
            <a:r>
              <a:rPr lang="zh-CN" altLang="en-US" sz="2800" dirty="0"/>
              <a:t>且较少</a:t>
            </a:r>
            <a:r>
              <a:rPr lang="en-US" altLang="zh-CN" sz="2800" dirty="0"/>
              <a:t>)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lvl="1">
              <a:spcBef>
                <a:spcPct val="45000"/>
              </a:spcBef>
            </a:pPr>
            <a:r>
              <a:rPr lang="zh-CN" altLang="en-US" sz="2400" dirty="0"/>
              <a:t>最常用的方案是在</a:t>
            </a:r>
            <a:r>
              <a:rPr lang="zh-CN" altLang="en-US" sz="2400" dirty="0">
                <a:solidFill>
                  <a:srgbClr val="0000FF"/>
                </a:solidFill>
              </a:rPr>
              <a:t>代价因素</a:t>
            </a:r>
            <a:r>
              <a:rPr lang="zh-CN" altLang="en-US" sz="2400" dirty="0"/>
              <a:t>中包含</a:t>
            </a:r>
            <a:r>
              <a:rPr lang="zh-CN" altLang="en-US" sz="2400" b="1" dirty="0">
                <a:solidFill>
                  <a:srgbClr val="FF0000"/>
                </a:solidFill>
              </a:rPr>
              <a:t>回滚次数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marL="457200" lvl="1" indent="0">
              <a:spcBef>
                <a:spcPct val="45000"/>
              </a:spcBef>
              <a:buNone/>
            </a:pPr>
            <a:endParaRPr lang="zh-CN" altLang="en-US" sz="240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8756F-1056-45D8-A55B-F20B8D2AC50F}" type="datetime1">
              <a:rPr lang="zh-CN" altLang="en-US" smtClean="0"/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本章目录</a:t>
            </a:r>
            <a:endParaRPr lang="zh-CN" altLang="en-US"/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39888"/>
            <a:ext cx="7583488" cy="4532312"/>
          </a:xfrm>
        </p:spPr>
        <p:txBody>
          <a:bodyPr/>
          <a:lstStyle/>
          <a:p>
            <a:r>
              <a:rPr lang="en-US" altLang="zh-CN" sz="2800" dirty="0"/>
              <a:t>14.1 </a:t>
            </a:r>
            <a:r>
              <a:rPr lang="zh-CN" altLang="en-US" sz="2800" dirty="0"/>
              <a:t>基于锁的协议</a:t>
            </a:r>
            <a:endParaRPr lang="zh-CN" altLang="en-US" sz="2800" dirty="0"/>
          </a:p>
          <a:p>
            <a:r>
              <a:rPr lang="en-US" altLang="zh-CN" sz="2800" dirty="0"/>
              <a:t>14.2 </a:t>
            </a:r>
            <a:r>
              <a:rPr lang="zh-CN" altLang="en-US" sz="2800" dirty="0"/>
              <a:t>死锁处理</a:t>
            </a:r>
            <a:endParaRPr lang="zh-CN" altLang="en-US" sz="2800" dirty="0">
              <a:solidFill>
                <a:srgbClr val="CC0000"/>
              </a:solidFill>
            </a:endParaRPr>
          </a:p>
          <a:p>
            <a:r>
              <a:rPr lang="en-US" altLang="zh-CN" sz="2800" dirty="0"/>
              <a:t>14.3 </a:t>
            </a:r>
            <a:r>
              <a:rPr lang="zh-CN" altLang="en-US" sz="2800" dirty="0"/>
              <a:t>多粒度</a:t>
            </a:r>
            <a:endParaRPr lang="zh-CN" altLang="en-US" sz="2800" dirty="0"/>
          </a:p>
          <a:p>
            <a:r>
              <a:rPr lang="en-US" altLang="zh-CN" sz="2800" dirty="0"/>
              <a:t>14.4 </a:t>
            </a:r>
            <a:r>
              <a:rPr lang="zh-CN" altLang="en-US" sz="2800" dirty="0"/>
              <a:t>插入操作、删除操作与谓词读</a:t>
            </a:r>
            <a:r>
              <a:rPr lang="en-US" altLang="zh-CN" sz="2800" dirty="0"/>
              <a:t>(</a:t>
            </a:r>
            <a:r>
              <a:rPr lang="zh-CN" altLang="en-US" sz="2800" dirty="0"/>
              <a:t>了解</a:t>
            </a:r>
            <a:r>
              <a:rPr lang="en-US" altLang="zh-CN" sz="2800" dirty="0"/>
              <a:t>)</a:t>
            </a:r>
            <a:endParaRPr lang="zh-CN" altLang="en-US" sz="2800" dirty="0"/>
          </a:p>
          <a:p>
            <a:r>
              <a:rPr lang="en-US" altLang="zh-CN" sz="2800" dirty="0"/>
              <a:t>14.5 </a:t>
            </a:r>
            <a:r>
              <a:rPr lang="zh-CN" altLang="en-US" sz="2800" dirty="0"/>
              <a:t>基于时间戳的协议</a:t>
            </a:r>
            <a:r>
              <a:rPr lang="en-US" altLang="zh-CN" sz="2800" dirty="0"/>
              <a:t>(</a:t>
            </a:r>
            <a:r>
              <a:rPr lang="zh-CN" altLang="en-US" sz="2800" dirty="0"/>
              <a:t>了解</a:t>
            </a:r>
            <a:r>
              <a:rPr lang="en-US" altLang="zh-CN" sz="2800" dirty="0"/>
              <a:t>)</a:t>
            </a:r>
            <a:endParaRPr lang="zh-CN" altLang="en-US" sz="2800" dirty="0"/>
          </a:p>
          <a:p>
            <a:r>
              <a:rPr lang="en-US" altLang="zh-CN" sz="2800" dirty="0"/>
              <a:t>14.6 </a:t>
            </a:r>
            <a:r>
              <a:rPr lang="zh-CN" altLang="en-US" sz="2800" dirty="0"/>
              <a:t>基于有效性检查的协议</a:t>
            </a:r>
            <a:r>
              <a:rPr lang="en-US" altLang="zh-CN" sz="2800" dirty="0"/>
              <a:t>(</a:t>
            </a:r>
            <a:r>
              <a:rPr lang="zh-CN" altLang="en-US" sz="2800" dirty="0"/>
              <a:t>了解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r>
              <a:rPr lang="en-US" altLang="zh-CN" sz="2800" dirty="0"/>
              <a:t>14.7</a:t>
            </a:r>
            <a:r>
              <a:rPr lang="zh-CN" altLang="en-US" sz="2800" dirty="0"/>
              <a:t> 多版本机制</a:t>
            </a:r>
            <a:r>
              <a:rPr lang="en-US" altLang="zh-CN" sz="2800" dirty="0"/>
              <a:t>(</a:t>
            </a:r>
            <a:r>
              <a:rPr lang="zh-CN" altLang="en-US" sz="2800" dirty="0"/>
              <a:t>自学了解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r>
              <a:rPr lang="en-US" altLang="zh-CN" sz="2800" dirty="0"/>
              <a:t>14.8 </a:t>
            </a:r>
            <a:r>
              <a:rPr lang="zh-CN" altLang="en-US" sz="2800" dirty="0"/>
              <a:t>故障分类</a:t>
            </a:r>
            <a:endParaRPr lang="en-US" altLang="zh-CN" sz="2800" dirty="0"/>
          </a:p>
        </p:txBody>
      </p:sp>
      <p:sp>
        <p:nvSpPr>
          <p:cNvPr id="253956" name="AutoShape 4"/>
          <p:cNvSpPr>
            <a:spLocks noChangeArrowheads="1"/>
          </p:cNvSpPr>
          <p:nvPr/>
        </p:nvSpPr>
        <p:spPr bwMode="auto">
          <a:xfrm>
            <a:off x="838200" y="2780928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C2897-8C35-4A81-8CCF-6929DCCADEE1}" type="datetime1">
              <a:rPr lang="zh-CN" altLang="en-US" smtClean="0"/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14.3 </a:t>
            </a:r>
            <a:r>
              <a:rPr lang="zh-CN" altLang="en-US" sz="3200" dirty="0"/>
              <a:t>多粒度</a:t>
            </a:r>
            <a:endParaRPr lang="zh-CN" altLang="en-US" sz="3200" dirty="0"/>
          </a:p>
        </p:txBody>
      </p:sp>
      <p:sp>
        <p:nvSpPr>
          <p:cNvPr id="558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dirty="0"/>
              <a:t>封锁对象的大小称为</a:t>
            </a:r>
            <a:r>
              <a:rPr lang="zh-CN" altLang="en-US" sz="2800" dirty="0">
                <a:solidFill>
                  <a:srgbClr val="C00000"/>
                </a:solidFill>
              </a:rPr>
              <a:t>封锁粒度</a:t>
            </a:r>
            <a:r>
              <a:rPr lang="zh-CN" altLang="en-US" sz="2800" dirty="0"/>
              <a:t>。以关系数据库为例，封锁对象可以是</a:t>
            </a:r>
            <a:endParaRPr lang="zh-CN" altLang="en-US" sz="2800" dirty="0"/>
          </a:p>
          <a:p>
            <a:pPr lvl="1">
              <a:lnSpc>
                <a:spcPct val="90000"/>
              </a:lnSpc>
              <a:spcBef>
                <a:spcPct val="45000"/>
              </a:spcBef>
            </a:pPr>
            <a:r>
              <a:rPr lang="zh-CN" altLang="en-US" sz="2400" dirty="0">
                <a:solidFill>
                  <a:srgbClr val="C00000"/>
                </a:solidFill>
              </a:rPr>
              <a:t>逻辑单元</a:t>
            </a:r>
            <a:r>
              <a:rPr lang="zh-CN" altLang="en-US" sz="2400" dirty="0"/>
              <a:t>：  </a:t>
            </a:r>
            <a:endParaRPr lang="zh-CN" altLang="en-US" sz="2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    </a:t>
            </a:r>
            <a:r>
              <a:rPr lang="en-US" altLang="zh-CN" sz="2800" dirty="0">
                <a:latin typeface="Arial" panose="020B0604020202020204"/>
              </a:rPr>
              <a:t>·</a:t>
            </a:r>
            <a:r>
              <a:rPr lang="en-US" altLang="zh-CN" sz="2800" dirty="0"/>
              <a:t> </a:t>
            </a:r>
            <a:r>
              <a:rPr lang="zh-CN" altLang="en-US" sz="2800" dirty="0">
                <a:solidFill>
                  <a:schemeClr val="tx2"/>
                </a:solidFill>
              </a:rPr>
              <a:t>属性值</a:t>
            </a:r>
            <a:r>
              <a:rPr lang="zh-CN" altLang="en-US" sz="2800" dirty="0"/>
              <a:t>，属性值的集合</a:t>
            </a:r>
            <a:endParaRPr lang="zh-CN" altLang="en-US" sz="2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    </a:t>
            </a:r>
            <a:r>
              <a:rPr lang="en-US" altLang="zh-CN" sz="2800" dirty="0">
                <a:latin typeface="Arial" panose="020B0604020202020204"/>
              </a:rPr>
              <a:t>·</a:t>
            </a:r>
            <a:r>
              <a:rPr lang="en-US" altLang="zh-CN" sz="2800" dirty="0"/>
              <a:t> </a:t>
            </a:r>
            <a:r>
              <a:rPr lang="zh-CN" altLang="en-US" sz="2800" dirty="0">
                <a:solidFill>
                  <a:schemeClr val="tx2"/>
                </a:solidFill>
              </a:rPr>
              <a:t>元组</a:t>
            </a:r>
            <a:r>
              <a:rPr lang="zh-CN" altLang="en-US" sz="2800" dirty="0"/>
              <a:t>，</a:t>
            </a:r>
            <a:r>
              <a:rPr lang="zh-CN" altLang="en-US" sz="2800" dirty="0">
                <a:solidFill>
                  <a:schemeClr val="tx2"/>
                </a:solidFill>
              </a:rPr>
              <a:t>关系</a:t>
            </a:r>
            <a:endParaRPr lang="zh-CN" altLang="en-US" sz="28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    </a:t>
            </a:r>
            <a:r>
              <a:rPr lang="en-US" altLang="zh-CN" sz="2800" dirty="0">
                <a:latin typeface="Arial" panose="020B0604020202020204"/>
              </a:rPr>
              <a:t>·</a:t>
            </a:r>
            <a:r>
              <a:rPr lang="en-US" altLang="zh-CN" sz="2800" dirty="0"/>
              <a:t> </a:t>
            </a:r>
            <a:r>
              <a:rPr lang="zh-CN" altLang="en-US" sz="2800" dirty="0"/>
              <a:t>索引项，整个索引</a:t>
            </a:r>
            <a:endParaRPr lang="zh-CN" altLang="en-US" sz="2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    </a:t>
            </a:r>
            <a:r>
              <a:rPr lang="en-US" altLang="zh-CN" sz="2800" dirty="0">
                <a:latin typeface="Arial" panose="020B0604020202020204"/>
              </a:rPr>
              <a:t>·</a:t>
            </a:r>
            <a:r>
              <a:rPr lang="en-US" altLang="zh-CN" sz="2800" dirty="0"/>
              <a:t> </a:t>
            </a:r>
            <a:r>
              <a:rPr lang="zh-CN" altLang="en-US" sz="2800" dirty="0"/>
              <a:t>整个</a:t>
            </a:r>
            <a:r>
              <a:rPr lang="zh-CN" altLang="en-US" sz="2800" dirty="0">
                <a:solidFill>
                  <a:schemeClr val="tx2"/>
                </a:solidFill>
              </a:rPr>
              <a:t>数据库</a:t>
            </a:r>
            <a:endParaRPr lang="zh-CN" altLang="en-US" sz="2800" dirty="0">
              <a:solidFill>
                <a:schemeClr val="tx2"/>
              </a:solidFill>
            </a:endParaRPr>
          </a:p>
          <a:p>
            <a:pPr lvl="1">
              <a:lnSpc>
                <a:spcPct val="90000"/>
              </a:lnSpc>
              <a:spcBef>
                <a:spcPct val="45000"/>
              </a:spcBef>
            </a:pPr>
            <a:r>
              <a:rPr lang="zh-CN" altLang="en-US" sz="2400" dirty="0"/>
              <a:t>也可以是</a:t>
            </a:r>
            <a:r>
              <a:rPr lang="zh-CN" altLang="en-US" sz="2400" dirty="0">
                <a:solidFill>
                  <a:srgbClr val="C00000"/>
                </a:solidFill>
              </a:rPr>
              <a:t>物理单元</a:t>
            </a:r>
            <a:r>
              <a:rPr lang="zh-CN" altLang="en-US" sz="2400" dirty="0"/>
              <a:t>：</a:t>
            </a:r>
            <a:endParaRPr lang="zh-CN" altLang="en-US" sz="2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    </a:t>
            </a:r>
            <a:r>
              <a:rPr lang="en-US" altLang="zh-CN" sz="2800" dirty="0">
                <a:latin typeface="Arial" panose="020B0604020202020204"/>
              </a:rPr>
              <a:t>·</a:t>
            </a:r>
            <a:r>
              <a:rPr lang="en-US" altLang="zh-CN" sz="2800" dirty="0"/>
              <a:t> </a:t>
            </a:r>
            <a:r>
              <a:rPr lang="zh-CN" altLang="en-US" sz="2800" dirty="0"/>
              <a:t>页（数据页或索引页）</a:t>
            </a:r>
            <a:endParaRPr lang="zh-CN" altLang="en-US" sz="2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    </a:t>
            </a:r>
            <a:r>
              <a:rPr lang="en-US" altLang="zh-CN" sz="2800" dirty="0">
                <a:latin typeface="Arial" panose="020B0604020202020204"/>
              </a:rPr>
              <a:t>·</a:t>
            </a:r>
            <a:r>
              <a:rPr lang="en-US" altLang="zh-CN" sz="2800" dirty="0"/>
              <a:t> </a:t>
            </a:r>
            <a:r>
              <a:rPr lang="zh-CN" altLang="en-US" sz="2800" dirty="0"/>
              <a:t>块等</a:t>
            </a:r>
            <a:endParaRPr lang="zh-CN" altLang="en-US" sz="280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377E5-B7C2-4CD0-BA9F-C0E6ADD34C1B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14.3 </a:t>
            </a:r>
            <a:r>
              <a:rPr lang="zh-CN" altLang="en-US" sz="3200" dirty="0"/>
              <a:t>多粒度</a:t>
            </a:r>
            <a:endParaRPr lang="zh-CN" altLang="en-US" sz="3200" dirty="0"/>
          </a:p>
        </p:txBody>
      </p:sp>
      <p:sp>
        <p:nvSpPr>
          <p:cNvPr id="558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8382000" cy="4948238"/>
          </a:xfrm>
        </p:spPr>
        <p:txBody>
          <a:bodyPr/>
          <a:lstStyle/>
          <a:p>
            <a:r>
              <a:rPr lang="zh-CN" altLang="en-US" sz="2800" dirty="0">
                <a:solidFill>
                  <a:schemeClr val="tx2"/>
                </a:solidFill>
              </a:rPr>
              <a:t>封锁粒度</a:t>
            </a:r>
            <a:r>
              <a:rPr lang="zh-CN" altLang="en-US" sz="2800" dirty="0"/>
              <a:t>与系统的</a:t>
            </a:r>
            <a:r>
              <a:rPr lang="zh-CN" altLang="en-US" sz="2800" b="1" dirty="0">
                <a:solidFill>
                  <a:srgbClr val="0000FF"/>
                </a:solidFill>
              </a:rPr>
              <a:t>并发度</a:t>
            </a:r>
            <a:r>
              <a:rPr lang="zh-CN" altLang="en-US" sz="2800" dirty="0"/>
              <a:t>和</a:t>
            </a:r>
            <a:r>
              <a:rPr lang="zh-CN" altLang="en-US" sz="2800" dirty="0">
                <a:solidFill>
                  <a:schemeClr val="tx2"/>
                </a:solidFill>
              </a:rPr>
              <a:t>并发控制的</a:t>
            </a:r>
            <a:r>
              <a:rPr lang="zh-CN" altLang="en-US" sz="2800" b="1" dirty="0">
                <a:solidFill>
                  <a:srgbClr val="0000FF"/>
                </a:solidFill>
              </a:rPr>
              <a:t>开销</a:t>
            </a:r>
            <a:r>
              <a:rPr lang="zh-CN" altLang="en-US" sz="2800" dirty="0"/>
              <a:t>密切相关。</a:t>
            </a:r>
            <a:endParaRPr lang="zh-CN" altLang="en-US" sz="2800" dirty="0"/>
          </a:p>
          <a:p>
            <a:pPr lvl="1"/>
            <a:r>
              <a:rPr lang="zh-CN" altLang="en-US" sz="2400" dirty="0"/>
              <a:t>封锁的</a:t>
            </a:r>
            <a:r>
              <a:rPr lang="zh-CN" altLang="en-US" sz="2400" dirty="0">
                <a:solidFill>
                  <a:schemeClr val="tx2"/>
                </a:solidFill>
              </a:rPr>
              <a:t>粒度</a:t>
            </a:r>
            <a:r>
              <a:rPr lang="zh-CN" altLang="en-US" sz="2400" dirty="0">
                <a:solidFill>
                  <a:srgbClr val="FF0000"/>
                </a:solidFill>
              </a:rPr>
              <a:t>越大</a:t>
            </a:r>
            <a:r>
              <a:rPr lang="zh-CN" altLang="en-US" sz="2400" dirty="0"/>
              <a:t>，数据库所能够</a:t>
            </a:r>
            <a:r>
              <a:rPr lang="zh-CN" altLang="en-US" sz="2400" dirty="0">
                <a:solidFill>
                  <a:schemeClr val="tx2"/>
                </a:solidFill>
              </a:rPr>
              <a:t>封锁的数据单元就</a:t>
            </a:r>
            <a:r>
              <a:rPr lang="zh-CN" altLang="en-US" sz="2400" dirty="0">
                <a:solidFill>
                  <a:srgbClr val="FF0000"/>
                </a:solidFill>
              </a:rPr>
              <a:t>越少</a:t>
            </a:r>
            <a:r>
              <a:rPr lang="zh-CN" altLang="en-US" sz="2400" dirty="0"/>
              <a:t>，</a:t>
            </a:r>
            <a:r>
              <a:rPr lang="zh-CN" altLang="en-US" sz="2400" dirty="0">
                <a:solidFill>
                  <a:schemeClr val="tx2"/>
                </a:solidFill>
              </a:rPr>
              <a:t>并发度就</a:t>
            </a:r>
            <a:r>
              <a:rPr lang="zh-CN" altLang="en-US" sz="2400" dirty="0">
                <a:solidFill>
                  <a:srgbClr val="FF0000"/>
                </a:solidFill>
              </a:rPr>
              <a:t>越小</a:t>
            </a:r>
            <a:r>
              <a:rPr lang="zh-CN" altLang="en-US" sz="2400" dirty="0"/>
              <a:t>，系统</a:t>
            </a:r>
            <a:r>
              <a:rPr lang="zh-CN" altLang="en-US" sz="2400" dirty="0">
                <a:solidFill>
                  <a:schemeClr val="tx2"/>
                </a:solidFill>
              </a:rPr>
              <a:t>开销也</a:t>
            </a:r>
            <a:r>
              <a:rPr lang="zh-CN" altLang="en-US" sz="2400" dirty="0">
                <a:solidFill>
                  <a:srgbClr val="FF0000"/>
                </a:solidFill>
              </a:rPr>
              <a:t>越小</a:t>
            </a:r>
            <a:r>
              <a:rPr lang="zh-CN" altLang="en-US" sz="2400" dirty="0"/>
              <a:t>；</a:t>
            </a:r>
            <a:endParaRPr lang="zh-CN" altLang="en-US" sz="2400" dirty="0"/>
          </a:p>
          <a:p>
            <a:pPr lvl="1"/>
            <a:r>
              <a:rPr lang="zh-CN" altLang="en-US" sz="2400" dirty="0"/>
              <a:t>封锁的</a:t>
            </a:r>
            <a:r>
              <a:rPr lang="zh-CN" altLang="en-US" sz="2400" dirty="0">
                <a:solidFill>
                  <a:schemeClr val="tx2"/>
                </a:solidFill>
              </a:rPr>
              <a:t>粒度</a:t>
            </a:r>
            <a:r>
              <a:rPr lang="zh-CN" altLang="en-US" sz="2400" dirty="0">
                <a:solidFill>
                  <a:srgbClr val="FF0000"/>
                </a:solidFill>
              </a:rPr>
              <a:t>越小</a:t>
            </a:r>
            <a:r>
              <a:rPr lang="zh-CN" altLang="en-US" sz="2400" dirty="0"/>
              <a:t>，</a:t>
            </a:r>
            <a:r>
              <a:rPr lang="zh-CN" altLang="en-US" sz="2400" dirty="0">
                <a:solidFill>
                  <a:schemeClr val="tx2"/>
                </a:solidFill>
              </a:rPr>
              <a:t>并发度</a:t>
            </a:r>
            <a:r>
              <a:rPr lang="zh-CN" altLang="en-US" sz="2400" dirty="0">
                <a:solidFill>
                  <a:srgbClr val="FF0000"/>
                </a:solidFill>
              </a:rPr>
              <a:t>较高</a:t>
            </a:r>
            <a:r>
              <a:rPr lang="zh-CN" altLang="en-US" sz="2400" dirty="0"/>
              <a:t>，但系统</a:t>
            </a:r>
            <a:r>
              <a:rPr lang="zh-CN" altLang="en-US" sz="2400" dirty="0">
                <a:solidFill>
                  <a:schemeClr val="tx2"/>
                </a:solidFill>
              </a:rPr>
              <a:t>开销也就</a:t>
            </a:r>
            <a:r>
              <a:rPr lang="zh-CN" altLang="en-US" sz="2400" dirty="0">
                <a:solidFill>
                  <a:srgbClr val="FF0000"/>
                </a:solidFill>
              </a:rPr>
              <a:t>越大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zh-CN" altLang="en-US" sz="2800" dirty="0">
                <a:solidFill>
                  <a:schemeClr val="tx2"/>
                </a:solidFill>
              </a:rPr>
              <a:t>多粒度封锁</a:t>
            </a:r>
            <a:r>
              <a:rPr lang="en-US" altLang="zh-CN" sz="2800" dirty="0">
                <a:solidFill>
                  <a:schemeClr val="tx2"/>
                </a:solidFill>
              </a:rPr>
              <a:t>(Multiple Granularity Locking)</a:t>
            </a:r>
            <a:endParaRPr lang="en-US" altLang="zh-CN" sz="2800" dirty="0">
              <a:solidFill>
                <a:schemeClr val="tx2"/>
              </a:solidFill>
            </a:endParaRPr>
          </a:p>
          <a:p>
            <a:pPr lvl="1"/>
            <a:r>
              <a:rPr lang="zh-CN" altLang="en-US" sz="2400" dirty="0"/>
              <a:t>在一个系统中同时支持</a:t>
            </a:r>
            <a:r>
              <a:rPr lang="zh-CN" altLang="en-US" sz="2400" dirty="0">
                <a:solidFill>
                  <a:schemeClr val="tx2"/>
                </a:solidFill>
              </a:rPr>
              <a:t>多种封锁粒度</a:t>
            </a:r>
            <a:r>
              <a:rPr lang="zh-CN" altLang="en-US" sz="2400" dirty="0"/>
              <a:t>供不同的事务选择</a:t>
            </a:r>
            <a:endParaRPr lang="en-US" altLang="zh-CN" sz="2400" dirty="0"/>
          </a:p>
          <a:p>
            <a:pPr lvl="1"/>
            <a:r>
              <a:rPr lang="zh-CN" altLang="en-US" sz="2400" dirty="0"/>
              <a:t>需要处理</a:t>
            </a:r>
            <a:r>
              <a:rPr lang="zh-CN" altLang="en-US" sz="2400" dirty="0">
                <a:solidFill>
                  <a:srgbClr val="0000FF"/>
                </a:solidFill>
              </a:rPr>
              <a:t>多个关系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0000FF"/>
                </a:solidFill>
              </a:rPr>
              <a:t>大量元组</a:t>
            </a:r>
            <a:r>
              <a:rPr lang="zh-CN" altLang="en-US" sz="2400" dirty="0"/>
              <a:t>的用户事务：以</a:t>
            </a:r>
            <a:r>
              <a:rPr lang="zh-CN" altLang="en-US" sz="2400" dirty="0">
                <a:solidFill>
                  <a:srgbClr val="0000FF"/>
                </a:solidFill>
              </a:rPr>
              <a:t>数据库</a:t>
            </a:r>
            <a:r>
              <a:rPr lang="zh-CN" altLang="en-US" sz="2400" dirty="0"/>
              <a:t>为封锁单位</a:t>
            </a:r>
            <a:endParaRPr lang="zh-CN" altLang="en-US" sz="2400" dirty="0"/>
          </a:p>
          <a:p>
            <a:pPr lvl="1"/>
            <a:r>
              <a:rPr lang="zh-CN" altLang="en-US" sz="2400" dirty="0"/>
              <a:t>需要处理</a:t>
            </a:r>
            <a:r>
              <a:rPr lang="zh-CN" altLang="en-US" sz="2400" dirty="0">
                <a:solidFill>
                  <a:srgbClr val="0000FF"/>
                </a:solidFill>
              </a:rPr>
              <a:t>大量元组</a:t>
            </a:r>
            <a:r>
              <a:rPr lang="zh-CN" altLang="en-US" sz="2400" dirty="0"/>
              <a:t>的用户事务：以</a:t>
            </a:r>
            <a:r>
              <a:rPr lang="zh-CN" altLang="en-US" sz="2400" dirty="0">
                <a:solidFill>
                  <a:srgbClr val="0000FF"/>
                </a:solidFill>
              </a:rPr>
              <a:t>关系</a:t>
            </a:r>
            <a:r>
              <a:rPr lang="zh-CN" altLang="en-US" sz="2400" dirty="0"/>
              <a:t>为封锁单元</a:t>
            </a:r>
            <a:endParaRPr lang="zh-CN" altLang="en-US" sz="2400" dirty="0"/>
          </a:p>
          <a:p>
            <a:pPr lvl="1"/>
            <a:r>
              <a:rPr lang="zh-CN" altLang="en-US" sz="2400" dirty="0"/>
              <a:t>只处理</a:t>
            </a:r>
            <a:r>
              <a:rPr lang="zh-CN" altLang="en-US" sz="2400" dirty="0">
                <a:solidFill>
                  <a:srgbClr val="0000FF"/>
                </a:solidFill>
              </a:rPr>
              <a:t>少量元组</a:t>
            </a:r>
            <a:r>
              <a:rPr lang="zh-CN" altLang="en-US" sz="2400" dirty="0"/>
              <a:t>的用户事务：以</a:t>
            </a:r>
            <a:r>
              <a:rPr lang="zh-CN" altLang="en-US" sz="2400" dirty="0">
                <a:solidFill>
                  <a:srgbClr val="0000FF"/>
                </a:solidFill>
              </a:rPr>
              <a:t>元组</a:t>
            </a:r>
            <a:r>
              <a:rPr lang="zh-CN" altLang="en-US" sz="2400" dirty="0"/>
              <a:t>为封锁单位</a:t>
            </a:r>
            <a:endParaRPr lang="zh-CN" altLang="en-US" sz="2400" dirty="0"/>
          </a:p>
          <a:p>
            <a:pPr lvl="1"/>
            <a:endParaRPr lang="zh-CN" altLang="en-US" sz="2400" dirty="0"/>
          </a:p>
          <a:p>
            <a:pPr lvl="1"/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B3DF9-82A1-4DFF-BBF1-2B44BF3362A6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58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58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58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58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58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58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58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58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58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58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58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58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58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58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58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14.3 </a:t>
            </a:r>
            <a:r>
              <a:rPr lang="zh-CN" altLang="en-US" sz="3200" dirty="0"/>
              <a:t>多粒度</a:t>
            </a:r>
            <a:endParaRPr lang="zh-CN" altLang="en-US" sz="3200" dirty="0"/>
          </a:p>
        </p:txBody>
      </p:sp>
      <p:sp>
        <p:nvSpPr>
          <p:cNvPr id="559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40768"/>
            <a:ext cx="8345488" cy="4684713"/>
          </a:xfrm>
        </p:spPr>
        <p:txBody>
          <a:bodyPr/>
          <a:lstStyle/>
          <a:p>
            <a:r>
              <a:rPr lang="zh-CN" altLang="en-US" dirty="0"/>
              <a:t>允许</a:t>
            </a:r>
            <a:r>
              <a:rPr lang="zh-CN" altLang="en-US" dirty="0">
                <a:solidFill>
                  <a:srgbClr val="C00000"/>
                </a:solidFill>
              </a:rPr>
              <a:t>多粒度树</a:t>
            </a:r>
            <a:r>
              <a:rPr lang="zh-CN" altLang="en-US" dirty="0"/>
              <a:t>中每个节点被独立加锁</a:t>
            </a:r>
            <a:endParaRPr lang="en-US" altLang="zh-CN" dirty="0"/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允许多粒度树中的</a:t>
            </a:r>
            <a:r>
              <a:rPr lang="zh-CN" altLang="en-US" dirty="0">
                <a:solidFill>
                  <a:srgbClr val="0000FF"/>
                </a:solidFill>
                <a:ea typeface="宋体" panose="02010600030101010101" pitchFamily="2" charset="-122"/>
              </a:rPr>
              <a:t>每个结点</a:t>
            </a:r>
            <a:r>
              <a:rPr lang="zh-CN" altLang="en-US" dirty="0">
                <a:ea typeface="宋体" panose="02010600030101010101" pitchFamily="2" charset="-122"/>
              </a:rPr>
              <a:t>被</a:t>
            </a:r>
            <a:r>
              <a:rPr lang="zh-CN" altLang="en-US" dirty="0">
                <a:solidFill>
                  <a:srgbClr val="0000FF"/>
                </a:solidFill>
                <a:ea typeface="宋体" panose="02010600030101010101" pitchFamily="2" charset="-122"/>
              </a:rPr>
              <a:t>独立地加锁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(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显式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对</a:t>
            </a:r>
            <a:r>
              <a:rPr lang="zh-CN" altLang="en-US" dirty="0">
                <a:solidFill>
                  <a:srgbClr val="0000FF"/>
                </a:solidFill>
                <a:ea typeface="宋体" panose="02010600030101010101" pitchFamily="2" charset="-122"/>
              </a:rPr>
              <a:t>一个结点加锁</a:t>
            </a:r>
            <a:r>
              <a:rPr lang="zh-CN" altLang="en-US" dirty="0">
                <a:ea typeface="宋体" panose="02010600030101010101" pitchFamily="2" charset="-122"/>
              </a:rPr>
              <a:t>意味着这个结点的</a:t>
            </a:r>
            <a:r>
              <a:rPr lang="zh-CN" altLang="en-US" b="1" dirty="0">
                <a:solidFill>
                  <a:srgbClr val="006600"/>
                </a:solidFill>
                <a:ea typeface="宋体" panose="02010600030101010101" pitchFamily="2" charset="-122"/>
              </a:rPr>
              <a:t>所有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后裔</a:t>
            </a:r>
            <a:r>
              <a:rPr lang="zh-CN" altLang="en-US" b="1" dirty="0">
                <a:solidFill>
                  <a:srgbClr val="006600"/>
                </a:solidFill>
                <a:ea typeface="宋体" panose="02010600030101010101" pitchFamily="2" charset="-122"/>
              </a:rPr>
              <a:t>结点</a:t>
            </a:r>
            <a:r>
              <a:rPr lang="zh-CN" altLang="en-US" dirty="0">
                <a:ea typeface="宋体" panose="02010600030101010101" pitchFamily="2" charset="-122"/>
              </a:rPr>
              <a:t>也被</a:t>
            </a:r>
            <a:r>
              <a:rPr lang="zh-CN" altLang="en-US" dirty="0">
                <a:solidFill>
                  <a:srgbClr val="0000FF"/>
                </a:solidFill>
                <a:ea typeface="宋体" panose="02010600030101010101" pitchFamily="2" charset="-122"/>
              </a:rPr>
              <a:t>加以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同样类型的锁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(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隐式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)</a:t>
            </a:r>
            <a:endParaRPr lang="zh-CN" altLang="en-US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pic>
        <p:nvPicPr>
          <p:cNvPr id="559108" name="Picture 4" descr="8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6" r="16460"/>
          <a:stretch>
            <a:fillRect/>
          </a:stretch>
        </p:blipFill>
        <p:spPr bwMode="auto">
          <a:xfrm>
            <a:off x="2699792" y="3429000"/>
            <a:ext cx="4127013" cy="2747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456E4-E859-448B-A6E9-CDD71E296D73}" type="datetime1">
              <a:rPr lang="zh-CN" altLang="en-US" smtClean="0"/>
            </a:fld>
            <a:endParaRPr lang="en-US" altLang="zh-CN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14.3 </a:t>
            </a:r>
            <a:r>
              <a:rPr lang="zh-CN" altLang="en-US" sz="3200" dirty="0"/>
              <a:t>多粒度</a:t>
            </a:r>
            <a:endParaRPr lang="zh-CN" altLang="en-US" sz="3200" dirty="0"/>
          </a:p>
        </p:txBody>
      </p:sp>
      <p:sp>
        <p:nvSpPr>
          <p:cNvPr id="560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40768"/>
            <a:ext cx="8345488" cy="4684713"/>
          </a:xfrm>
        </p:spPr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显式封锁</a:t>
            </a:r>
            <a:r>
              <a:rPr lang="zh-CN" altLang="en-US" dirty="0"/>
              <a:t>是应事务的要求</a:t>
            </a:r>
            <a:r>
              <a:rPr lang="zh-CN" altLang="en-US" dirty="0">
                <a:solidFill>
                  <a:srgbClr val="C00000"/>
                </a:solidFill>
              </a:rPr>
              <a:t>直接加到数据对象</a:t>
            </a:r>
            <a:r>
              <a:rPr lang="zh-CN" altLang="en-US" dirty="0"/>
              <a:t>上的封锁；</a:t>
            </a:r>
            <a:endParaRPr lang="zh-CN" altLang="en-US" dirty="0"/>
          </a:p>
          <a:p>
            <a:pPr>
              <a:spcBef>
                <a:spcPct val="45000"/>
              </a:spcBef>
            </a:pPr>
            <a:r>
              <a:rPr lang="zh-CN" altLang="en-US" dirty="0">
                <a:solidFill>
                  <a:srgbClr val="0000FF"/>
                </a:solidFill>
              </a:rPr>
              <a:t>隐式封锁</a:t>
            </a:r>
            <a:r>
              <a:rPr lang="zh-CN" altLang="en-US" dirty="0"/>
              <a:t>是该数据对象</a:t>
            </a:r>
            <a:r>
              <a:rPr lang="zh-CN" altLang="en-US" dirty="0">
                <a:solidFill>
                  <a:schemeClr val="tx2"/>
                </a:solidFill>
              </a:rPr>
              <a:t>没有独立加锁</a:t>
            </a:r>
            <a:r>
              <a:rPr lang="zh-CN" altLang="en-US" dirty="0"/>
              <a:t>，是由于其</a:t>
            </a:r>
            <a:r>
              <a:rPr lang="zh-CN" altLang="en-US" dirty="0">
                <a:solidFill>
                  <a:srgbClr val="C00000"/>
                </a:solidFill>
              </a:rPr>
              <a:t>上级结点加锁</a:t>
            </a:r>
            <a:r>
              <a:rPr lang="zh-CN" altLang="en-US" dirty="0"/>
              <a:t>而使该数据对象加上了锁。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348CB-566A-4693-812F-E81A76959207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>
                <a:ea typeface="宋体" panose="02010600030101010101" pitchFamily="2" charset="-122"/>
              </a:rPr>
              <a:t>显式封锁和隐式封锁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520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40768"/>
            <a:ext cx="8345488" cy="4684713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系统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检查封锁冲突</a:t>
            </a:r>
            <a:r>
              <a:rPr lang="zh-CN" altLang="en-US" dirty="0">
                <a:ea typeface="宋体" panose="02010600030101010101" pitchFamily="2" charset="-122"/>
              </a:rPr>
              <a:t>时</a:t>
            </a:r>
            <a:endParaRPr lang="zh-CN" altLang="en-US" dirty="0">
              <a:ea typeface="宋体" panose="02010600030101010101" pitchFamily="2" charset="-122"/>
            </a:endParaRPr>
          </a:p>
          <a:p>
            <a:pPr lvl="1">
              <a:buFont typeface="Wingdings" panose="05000000000000000000" pitchFamily="2" charset="2"/>
              <a:buChar char="n"/>
            </a:pPr>
            <a:r>
              <a:rPr lang="zh-CN" altLang="en-US" dirty="0">
                <a:ea typeface="宋体" panose="02010600030101010101" pitchFamily="2" charset="-122"/>
              </a:rPr>
              <a:t>要</a:t>
            </a:r>
            <a:r>
              <a:rPr lang="zh-CN" altLang="en-US" u="sng" dirty="0">
                <a:ea typeface="宋体" panose="02010600030101010101" pitchFamily="2" charset="-122"/>
              </a:rPr>
              <a:t>检查显式封锁</a:t>
            </a:r>
            <a:endParaRPr lang="zh-CN" altLang="en-US" u="sng" dirty="0">
              <a:ea typeface="宋体" panose="02010600030101010101" pitchFamily="2" charset="-122"/>
            </a:endParaRPr>
          </a:p>
          <a:p>
            <a:pPr lvl="1">
              <a:buFont typeface="Wingdings" panose="05000000000000000000" pitchFamily="2" charset="2"/>
              <a:buChar char="n"/>
            </a:pPr>
            <a:r>
              <a:rPr lang="zh-CN" altLang="en-US" dirty="0">
                <a:ea typeface="宋体" panose="02010600030101010101" pitchFamily="2" charset="-122"/>
              </a:rPr>
              <a:t>还要</a:t>
            </a:r>
            <a:r>
              <a:rPr lang="zh-CN" altLang="en-US" u="sng" dirty="0">
                <a:ea typeface="宋体" panose="02010600030101010101" pitchFamily="2" charset="-122"/>
              </a:rPr>
              <a:t>检查隐式封锁</a:t>
            </a:r>
            <a:endParaRPr lang="zh-CN" altLang="en-US" u="sng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例如事务</a:t>
            </a:r>
            <a:r>
              <a:rPr lang="en-US" altLang="zh-CN" dirty="0">
                <a:ea typeface="宋体" panose="02010600030101010101" pitchFamily="2" charset="-122"/>
              </a:rPr>
              <a:t>T</a:t>
            </a:r>
            <a:r>
              <a:rPr lang="zh-CN" altLang="en-US" dirty="0">
                <a:ea typeface="宋体" panose="02010600030101010101" pitchFamily="2" charset="-122"/>
              </a:rPr>
              <a:t>要对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关系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R1</a:t>
            </a:r>
            <a:r>
              <a:rPr lang="zh-CN" altLang="en-US" dirty="0">
                <a:ea typeface="宋体" panose="02010600030101010101" pitchFamily="2" charset="-122"/>
              </a:rPr>
              <a:t>加</a:t>
            </a:r>
            <a:r>
              <a:rPr lang="en-US" altLang="zh-CN" dirty="0">
                <a:ea typeface="宋体" panose="02010600030101010101" pitchFamily="2" charset="-122"/>
              </a:rPr>
              <a:t>X</a:t>
            </a:r>
            <a:r>
              <a:rPr lang="zh-CN" altLang="en-US" dirty="0">
                <a:ea typeface="宋体" panose="02010600030101010101" pitchFamily="2" charset="-122"/>
              </a:rPr>
              <a:t>锁</a:t>
            </a:r>
            <a:endParaRPr lang="zh-CN" altLang="en-US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系统必须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搜索其</a:t>
            </a:r>
            <a:r>
              <a:rPr lang="zh-CN" altLang="en-US" b="1" dirty="0">
                <a:solidFill>
                  <a:srgbClr val="006600"/>
                </a:solidFill>
                <a:ea typeface="宋体" panose="02010600030101010101" pitchFamily="2" charset="-122"/>
              </a:rPr>
              <a:t>上级结点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数据库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、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关系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R1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还要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搜索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R1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的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下级结点</a:t>
            </a:r>
            <a:r>
              <a:rPr lang="zh-CN" altLang="en-US" dirty="0">
                <a:ea typeface="宋体" panose="02010600030101010101" pitchFamily="2" charset="-122"/>
              </a:rPr>
              <a:t>，即</a:t>
            </a:r>
            <a:r>
              <a:rPr lang="en-US" altLang="zh-CN" dirty="0">
                <a:ea typeface="宋体" panose="02010600030101010101" pitchFamily="2" charset="-122"/>
              </a:rPr>
              <a:t>R1</a:t>
            </a:r>
            <a:r>
              <a:rPr lang="zh-CN" altLang="en-US" dirty="0">
                <a:ea typeface="宋体" panose="02010600030101010101" pitchFamily="2" charset="-122"/>
              </a:rPr>
              <a:t>中的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每一个元组</a:t>
            </a:r>
            <a:endParaRPr lang="zh-CN" altLang="en-US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如果其中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某一个数据对象</a:t>
            </a:r>
            <a:r>
              <a:rPr lang="zh-CN" altLang="en-US" b="1" dirty="0">
                <a:solidFill>
                  <a:srgbClr val="C00000"/>
                </a:solidFill>
                <a:ea typeface="宋体" panose="02010600030101010101" pitchFamily="2" charset="-122"/>
              </a:rPr>
              <a:t>已经加了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不相容锁</a:t>
            </a:r>
            <a:r>
              <a:rPr lang="zh-CN" altLang="en-US" dirty="0">
                <a:ea typeface="宋体" panose="02010600030101010101" pitchFamily="2" charset="-122"/>
              </a:rPr>
              <a:t>，则</a:t>
            </a:r>
            <a:r>
              <a:rPr lang="en-US" altLang="zh-CN" dirty="0">
                <a:ea typeface="宋体" panose="02010600030101010101" pitchFamily="2" charset="-122"/>
              </a:rPr>
              <a:t>T</a:t>
            </a:r>
            <a:r>
              <a:rPr lang="zh-CN" altLang="en-US" dirty="0">
                <a:ea typeface="宋体" panose="02010600030101010101" pitchFamily="2" charset="-122"/>
              </a:rPr>
              <a:t>必须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等待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C632E-7419-4E59-94AD-6C78C2E3001A}" type="datetime1">
              <a:rPr lang="zh-CN" altLang="en-US" smtClean="0"/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0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0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20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0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20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20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0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0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09600" y="1340768"/>
            <a:ext cx="8345488" cy="4684713"/>
          </a:xfrm>
        </p:spPr>
        <p:txBody>
          <a:bodyPr/>
          <a:lstStyle/>
          <a:p>
            <a:r>
              <a:rPr lang="zh-CN" altLang="en-US" dirty="0"/>
              <a:t>对</a:t>
            </a:r>
            <a:r>
              <a:rPr lang="zh-CN" altLang="en-US" u="sng" dirty="0"/>
              <a:t>某个数据对象加锁</a:t>
            </a:r>
            <a:r>
              <a:rPr lang="zh-CN" altLang="en-US" dirty="0"/>
              <a:t>，系统要检查</a:t>
            </a:r>
            <a:endParaRPr lang="zh-CN" altLang="en-US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该</a:t>
            </a:r>
            <a:r>
              <a:rPr lang="zh-CN" altLang="en-US" dirty="0">
                <a:solidFill>
                  <a:schemeClr val="tx2"/>
                </a:solidFill>
              </a:rPr>
              <a:t>数据对象</a:t>
            </a:r>
            <a:endParaRPr lang="zh-CN" altLang="en-US" dirty="0">
              <a:solidFill>
                <a:schemeClr val="tx2"/>
              </a:solidFill>
            </a:endParaRPr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有无</a:t>
            </a:r>
            <a:r>
              <a:rPr lang="zh-CN" altLang="en-US" dirty="0">
                <a:solidFill>
                  <a:schemeClr val="tx2"/>
                </a:solidFill>
              </a:rPr>
              <a:t>显式封锁</a:t>
            </a:r>
            <a:r>
              <a:rPr lang="zh-CN" altLang="en-US" dirty="0"/>
              <a:t>与之冲突</a:t>
            </a:r>
            <a:endParaRPr lang="zh-CN" altLang="en-US" dirty="0"/>
          </a:p>
          <a:p>
            <a:pPr lvl="1"/>
            <a:r>
              <a:rPr lang="zh-CN" altLang="en-US" dirty="0"/>
              <a:t>所有</a:t>
            </a:r>
            <a:r>
              <a:rPr lang="zh-CN" altLang="en-US" dirty="0">
                <a:solidFill>
                  <a:srgbClr val="FF0000"/>
                </a:solidFill>
              </a:rPr>
              <a:t>上级</a:t>
            </a:r>
            <a:r>
              <a:rPr lang="zh-CN" altLang="en-US" dirty="0">
                <a:solidFill>
                  <a:schemeClr val="tx2"/>
                </a:solidFill>
              </a:rPr>
              <a:t>结点</a:t>
            </a:r>
            <a:endParaRPr lang="zh-CN" altLang="en-US" dirty="0">
              <a:solidFill>
                <a:schemeClr val="tx2"/>
              </a:solidFill>
            </a:endParaRPr>
          </a:p>
          <a:p>
            <a:pPr lvl="2"/>
            <a:r>
              <a:rPr lang="zh-CN" altLang="en-US" dirty="0"/>
              <a:t>检查</a:t>
            </a:r>
            <a:r>
              <a:rPr lang="zh-CN" altLang="en-US" dirty="0">
                <a:solidFill>
                  <a:schemeClr val="tx2"/>
                </a:solidFill>
              </a:rPr>
              <a:t>本事务的显式封锁</a:t>
            </a:r>
            <a:r>
              <a:rPr lang="zh-CN" altLang="en-US" dirty="0"/>
              <a:t>是否与</a:t>
            </a:r>
            <a:r>
              <a:rPr lang="zh-CN" altLang="en-US" dirty="0">
                <a:solidFill>
                  <a:schemeClr val="tx2"/>
                </a:solidFill>
              </a:rPr>
              <a:t>该数据对象上的隐式封锁冲突</a:t>
            </a:r>
            <a:r>
              <a:rPr lang="zh-CN" altLang="en-US" dirty="0"/>
              <a:t>：</a:t>
            </a:r>
            <a:r>
              <a:rPr lang="en-US" altLang="zh-CN" dirty="0"/>
              <a:t>(</a:t>
            </a:r>
            <a:r>
              <a:rPr lang="zh-CN" altLang="en-US" dirty="0"/>
              <a:t>由</a:t>
            </a:r>
            <a:r>
              <a:rPr lang="zh-CN" altLang="en-US" u="sng" dirty="0"/>
              <a:t>上级结点已加的封锁造成</a:t>
            </a:r>
            <a:r>
              <a:rPr lang="zh-CN" altLang="en-US" dirty="0"/>
              <a:t>的）</a:t>
            </a:r>
            <a:endParaRPr lang="zh-CN" altLang="en-US" dirty="0"/>
          </a:p>
          <a:p>
            <a:pPr lvl="1"/>
            <a:r>
              <a:rPr lang="zh-CN" altLang="en-US" dirty="0"/>
              <a:t>所有</a:t>
            </a:r>
            <a:r>
              <a:rPr lang="zh-CN" altLang="en-US" dirty="0">
                <a:solidFill>
                  <a:srgbClr val="FF0000"/>
                </a:solidFill>
              </a:rPr>
              <a:t>下级</a:t>
            </a:r>
            <a:r>
              <a:rPr lang="zh-CN" altLang="en-US" dirty="0">
                <a:solidFill>
                  <a:schemeClr val="tx2"/>
                </a:solidFill>
              </a:rPr>
              <a:t>结点</a:t>
            </a:r>
            <a:endParaRPr lang="zh-CN" altLang="en-US" dirty="0">
              <a:solidFill>
                <a:schemeClr val="tx2"/>
              </a:solidFill>
            </a:endParaRPr>
          </a:p>
          <a:p>
            <a:pPr lvl="2"/>
            <a:r>
              <a:rPr lang="zh-CN" altLang="en-US" dirty="0"/>
              <a:t>看上面的</a:t>
            </a:r>
            <a:r>
              <a:rPr lang="zh-CN" altLang="en-US" dirty="0">
                <a:solidFill>
                  <a:schemeClr val="tx2"/>
                </a:solidFill>
              </a:rPr>
              <a:t>显式封锁</a:t>
            </a:r>
            <a:r>
              <a:rPr lang="zh-CN" altLang="en-US" dirty="0"/>
              <a:t>是否与</a:t>
            </a:r>
            <a:r>
              <a:rPr lang="zh-CN" altLang="en-US" dirty="0">
                <a:solidFill>
                  <a:schemeClr val="tx2"/>
                </a:solidFill>
              </a:rPr>
              <a:t>本事务的隐式封锁</a:t>
            </a:r>
            <a:r>
              <a:rPr lang="zh-CN" altLang="en-US" dirty="0"/>
              <a:t>（</a:t>
            </a:r>
            <a:r>
              <a:rPr lang="zh-CN" altLang="en-US" u="sng" dirty="0"/>
              <a:t>将加到下级结点的封锁</a:t>
            </a:r>
            <a:r>
              <a:rPr lang="zh-CN" altLang="en-US" dirty="0"/>
              <a:t>）冲突</a:t>
            </a:r>
            <a:endParaRPr lang="en-US" altLang="zh-CN" dirty="0"/>
          </a:p>
          <a:p>
            <a:r>
              <a:rPr lang="zh-CN" altLang="en-US" dirty="0"/>
              <a:t>增加了系统的开销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303D-7D4E-4F51-8CEF-82A766982B6D}" type="datetime1">
              <a:rPr lang="zh-CN" altLang="en-US" smtClean="0"/>
            </a:fld>
            <a:endParaRPr lang="en-US" altLang="zh-CN"/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81000"/>
            <a:ext cx="8105775" cy="762000"/>
          </a:xfrm>
        </p:spPr>
        <p:txBody>
          <a:bodyPr/>
          <a:lstStyle/>
          <a:p>
            <a:r>
              <a:rPr lang="zh-CN" altLang="en-US" sz="3200" dirty="0">
                <a:ea typeface="宋体" panose="02010600030101010101" pitchFamily="2" charset="-122"/>
              </a:rPr>
              <a:t>显式封锁和隐式封锁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意向锁</a:t>
            </a:r>
            <a:endParaRPr lang="zh-CN" altLang="en-US" dirty="0"/>
          </a:p>
        </p:txBody>
      </p:sp>
      <p:sp>
        <p:nvSpPr>
          <p:cNvPr id="561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意向锁</a:t>
            </a:r>
            <a:r>
              <a:rPr lang="zh-CN" altLang="en-US" sz="2800" dirty="0"/>
              <a:t>的含义是如果</a:t>
            </a:r>
            <a:r>
              <a:rPr lang="zh-CN" altLang="en-US" sz="2800" dirty="0">
                <a:solidFill>
                  <a:schemeClr val="tx2"/>
                </a:solidFill>
              </a:rPr>
              <a:t>对一个结点加</a:t>
            </a:r>
            <a:r>
              <a:rPr lang="zh-CN" altLang="en-US" sz="2800" dirty="0">
                <a:solidFill>
                  <a:srgbClr val="C00000"/>
                </a:solidFill>
              </a:rPr>
              <a:t>意向锁</a:t>
            </a:r>
            <a:r>
              <a:rPr lang="zh-CN" altLang="en-US" sz="2800" dirty="0"/>
              <a:t>，则说明该结点的</a:t>
            </a:r>
            <a:r>
              <a:rPr lang="zh-CN" altLang="en-US" sz="2800" dirty="0">
                <a:solidFill>
                  <a:srgbClr val="0000FF"/>
                </a:solidFill>
              </a:rPr>
              <a:t>下层结点</a:t>
            </a:r>
            <a:r>
              <a:rPr lang="zh-CN" altLang="en-US" sz="2800" dirty="0">
                <a:solidFill>
                  <a:srgbClr val="C00000"/>
                </a:solidFill>
              </a:rPr>
              <a:t>正在被</a:t>
            </a:r>
            <a:r>
              <a:rPr lang="en-US" altLang="zh-CN" sz="2800" dirty="0">
                <a:solidFill>
                  <a:srgbClr val="C00000"/>
                </a:solidFill>
              </a:rPr>
              <a:t>(</a:t>
            </a:r>
            <a:r>
              <a:rPr lang="zh-CN" altLang="en-US" sz="2800" dirty="0">
                <a:solidFill>
                  <a:srgbClr val="C00000"/>
                </a:solidFill>
              </a:rPr>
              <a:t>准备</a:t>
            </a:r>
            <a:r>
              <a:rPr lang="en-US" altLang="zh-CN" sz="2800" dirty="0">
                <a:solidFill>
                  <a:srgbClr val="C00000"/>
                </a:solidFill>
              </a:rPr>
              <a:t>)</a:t>
            </a:r>
            <a:r>
              <a:rPr lang="zh-CN" altLang="en-US" sz="2800" dirty="0">
                <a:solidFill>
                  <a:srgbClr val="C00000"/>
                </a:solidFill>
              </a:rPr>
              <a:t>加锁</a:t>
            </a:r>
            <a:r>
              <a:rPr lang="zh-CN" altLang="en-US" sz="2800" dirty="0"/>
              <a:t>；对</a:t>
            </a:r>
            <a:r>
              <a:rPr lang="zh-CN" altLang="en-US" sz="2800" dirty="0">
                <a:solidFill>
                  <a:schemeClr val="tx2"/>
                </a:solidFill>
              </a:rPr>
              <a:t>任一结点加锁</a:t>
            </a:r>
            <a:r>
              <a:rPr lang="zh-CN" altLang="en-US" sz="2800" dirty="0"/>
              <a:t>时，必须先对它的</a:t>
            </a:r>
            <a:r>
              <a:rPr lang="zh-CN" altLang="en-US" sz="2800" dirty="0">
                <a:solidFill>
                  <a:srgbClr val="FF0000"/>
                </a:solidFill>
              </a:rPr>
              <a:t>上层结点</a:t>
            </a:r>
            <a:r>
              <a:rPr lang="zh-CN" altLang="en-US" sz="2800" b="1" dirty="0"/>
              <a:t>加</a:t>
            </a:r>
            <a:r>
              <a:rPr lang="zh-CN" altLang="en-US" sz="2800" dirty="0">
                <a:solidFill>
                  <a:srgbClr val="FF0000"/>
                </a:solidFill>
              </a:rPr>
              <a:t>意向锁</a:t>
            </a:r>
            <a:r>
              <a:rPr lang="zh-CN" altLang="en-US" sz="2800" dirty="0"/>
              <a:t>。 </a:t>
            </a:r>
            <a:endParaRPr lang="en-US" altLang="zh-CN" sz="2800" dirty="0"/>
          </a:p>
          <a:p>
            <a:pPr>
              <a:lnSpc>
                <a:spcPct val="90000"/>
              </a:lnSpc>
            </a:pPr>
            <a:endParaRPr lang="en-US" altLang="zh-CN" sz="2800" dirty="0"/>
          </a:p>
          <a:p>
            <a:pPr>
              <a:lnSpc>
                <a:spcPct val="90000"/>
              </a:lnSpc>
            </a:pPr>
            <a:r>
              <a:rPr lang="zh-CN" altLang="en-US" sz="2800" dirty="0"/>
              <a:t>例如，</a:t>
            </a:r>
            <a:r>
              <a:rPr lang="zh-CN" altLang="en-US" sz="2800" u="sng" dirty="0"/>
              <a:t>对任一元组加锁时，必须先对它所在的关系加意向锁</a:t>
            </a:r>
            <a:r>
              <a:rPr lang="zh-CN" altLang="en-US" sz="2800" dirty="0"/>
              <a:t>。 </a:t>
            </a:r>
            <a:br>
              <a:rPr lang="zh-CN" altLang="en-US" sz="2800" dirty="0"/>
            </a:br>
            <a:endParaRPr lang="en-US" altLang="zh-CN" sz="2800" dirty="0"/>
          </a:p>
          <a:p>
            <a:pPr>
              <a:lnSpc>
                <a:spcPct val="90000"/>
              </a:lnSpc>
            </a:pPr>
            <a:r>
              <a:rPr lang="zh-CN" altLang="en-US" sz="2800" dirty="0"/>
              <a:t>于是，事务</a:t>
            </a:r>
            <a:r>
              <a:rPr lang="en-US" altLang="zh-CN" sz="2800" dirty="0"/>
              <a:t>T</a:t>
            </a:r>
            <a:r>
              <a:rPr lang="zh-CN" altLang="en-US" sz="2800" dirty="0"/>
              <a:t>要对</a:t>
            </a:r>
            <a:r>
              <a:rPr lang="zh-CN" altLang="en-US" sz="2800" u="sng" dirty="0">
                <a:solidFill>
                  <a:schemeClr val="tx2"/>
                </a:solidFill>
              </a:rPr>
              <a:t>关系</a:t>
            </a:r>
            <a:r>
              <a:rPr lang="en-US" altLang="zh-CN" sz="2800" u="sng" dirty="0">
                <a:solidFill>
                  <a:schemeClr val="tx2"/>
                </a:solidFill>
              </a:rPr>
              <a:t>R1</a:t>
            </a:r>
            <a:r>
              <a:rPr lang="zh-CN" altLang="en-US" sz="2800" u="sng" dirty="0">
                <a:solidFill>
                  <a:schemeClr val="tx2"/>
                </a:solidFill>
              </a:rPr>
              <a:t>加</a:t>
            </a:r>
            <a:r>
              <a:rPr lang="en-US" altLang="zh-CN" sz="2800" u="sng" dirty="0">
                <a:solidFill>
                  <a:schemeClr val="tx2"/>
                </a:solidFill>
              </a:rPr>
              <a:t>X</a:t>
            </a:r>
            <a:r>
              <a:rPr lang="zh-CN" altLang="en-US" sz="2800" u="sng" dirty="0">
                <a:solidFill>
                  <a:schemeClr val="tx2"/>
                </a:solidFill>
              </a:rPr>
              <a:t>锁时</a:t>
            </a:r>
            <a:r>
              <a:rPr lang="zh-CN" altLang="en-US" sz="2800" dirty="0"/>
              <a:t>，系统</a:t>
            </a:r>
            <a:r>
              <a:rPr lang="zh-CN" altLang="en-US" sz="2800" b="1" dirty="0">
                <a:solidFill>
                  <a:srgbClr val="C00000"/>
                </a:solidFill>
              </a:rPr>
              <a:t>只要检查</a:t>
            </a:r>
            <a:r>
              <a:rPr lang="zh-CN" altLang="en-US" sz="2800" u="sng" dirty="0">
                <a:solidFill>
                  <a:srgbClr val="0000FF"/>
                </a:solidFill>
              </a:rPr>
              <a:t>根结点数据库</a:t>
            </a:r>
            <a:r>
              <a:rPr lang="zh-CN" altLang="en-US" sz="2800" dirty="0"/>
              <a:t>和</a:t>
            </a:r>
            <a:r>
              <a:rPr lang="zh-CN" altLang="en-US" sz="2800" u="sng" dirty="0">
                <a:solidFill>
                  <a:srgbClr val="0000FF"/>
                </a:solidFill>
              </a:rPr>
              <a:t>关系</a:t>
            </a:r>
            <a:r>
              <a:rPr lang="en-US" altLang="zh-CN" sz="2800" u="sng" dirty="0">
                <a:solidFill>
                  <a:srgbClr val="0000FF"/>
                </a:solidFill>
              </a:rPr>
              <a:t>R1</a:t>
            </a:r>
            <a:r>
              <a:rPr lang="zh-CN" altLang="en-US" sz="2800" dirty="0">
                <a:solidFill>
                  <a:schemeClr val="tx2"/>
                </a:solidFill>
              </a:rPr>
              <a:t>是否已加了不相容的锁</a:t>
            </a:r>
            <a:r>
              <a:rPr lang="zh-CN" altLang="en-US" sz="2800" dirty="0"/>
              <a:t>，而</a:t>
            </a:r>
            <a:r>
              <a:rPr lang="zh-CN" altLang="en-US" sz="2800" b="1" dirty="0">
                <a:solidFill>
                  <a:srgbClr val="C00000"/>
                </a:solidFill>
              </a:rPr>
              <a:t>不再需要</a:t>
            </a:r>
            <a:r>
              <a:rPr lang="zh-CN" altLang="en-US" sz="2800" dirty="0"/>
              <a:t>搜索和检查</a:t>
            </a:r>
            <a:r>
              <a:rPr lang="en-US" altLang="zh-CN" sz="2800" dirty="0"/>
              <a:t>R1</a:t>
            </a:r>
            <a:r>
              <a:rPr lang="zh-CN" altLang="en-US" sz="2800" dirty="0"/>
              <a:t>中的</a:t>
            </a:r>
            <a:r>
              <a:rPr lang="zh-CN" altLang="en-US" sz="2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每一个元组</a:t>
            </a:r>
            <a:r>
              <a:rPr lang="zh-CN" altLang="en-US" sz="2800" dirty="0"/>
              <a:t>是否加了</a:t>
            </a:r>
            <a:r>
              <a:rPr lang="en-US" altLang="zh-CN" sz="2800" dirty="0"/>
              <a:t>X</a:t>
            </a:r>
            <a:r>
              <a:rPr lang="zh-CN" altLang="en-US" sz="2800" dirty="0"/>
              <a:t>锁。</a:t>
            </a:r>
            <a:endParaRPr lang="zh-CN" altLang="en-US" sz="280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9313C-07B3-4F64-89C5-90882172BDBE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1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1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1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1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意向锁</a:t>
            </a:r>
            <a:endParaRPr lang="zh-CN" altLang="en-US"/>
          </a:p>
        </p:txBody>
      </p:sp>
      <p:sp>
        <p:nvSpPr>
          <p:cNvPr id="562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80"/>
                </a:solidFill>
              </a:rPr>
              <a:t>1. </a:t>
            </a:r>
            <a:r>
              <a:rPr lang="en-US" altLang="zh-CN" sz="2400" b="1" dirty="0">
                <a:solidFill>
                  <a:srgbClr val="0000FF"/>
                </a:solidFill>
              </a:rPr>
              <a:t>IS</a:t>
            </a:r>
            <a:r>
              <a:rPr lang="zh-CN" altLang="en-US" sz="2400" b="1" dirty="0">
                <a:solidFill>
                  <a:srgbClr val="0000FF"/>
                </a:solidFill>
              </a:rPr>
              <a:t>锁</a:t>
            </a:r>
            <a:r>
              <a:rPr lang="zh-CN" altLang="en-US" sz="2400" dirty="0">
                <a:solidFill>
                  <a:srgbClr val="0000FF"/>
                </a:solidFill>
              </a:rPr>
              <a:t> </a:t>
            </a:r>
            <a:endParaRPr lang="zh-CN" altLang="en-US" sz="2400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如果对一个数据对象加</a:t>
            </a:r>
            <a:r>
              <a:rPr lang="en-US" altLang="zh-CN" sz="2400" dirty="0"/>
              <a:t>IS</a:t>
            </a:r>
            <a:r>
              <a:rPr lang="zh-CN" altLang="en-US" sz="2400" dirty="0"/>
              <a:t>锁，表示它的</a:t>
            </a:r>
            <a:r>
              <a:rPr lang="zh-CN" altLang="en-US" sz="2400" dirty="0">
                <a:solidFill>
                  <a:srgbClr val="0000FF"/>
                </a:solidFill>
              </a:rPr>
              <a:t>后裔结点拟（意向）加</a:t>
            </a:r>
            <a:r>
              <a:rPr lang="en-US" altLang="zh-CN" sz="2400" dirty="0">
                <a:solidFill>
                  <a:srgbClr val="0000FF"/>
                </a:solidFill>
              </a:rPr>
              <a:t>S</a:t>
            </a:r>
            <a:r>
              <a:rPr lang="zh-CN" altLang="en-US" sz="2400" dirty="0">
                <a:solidFill>
                  <a:srgbClr val="0000FF"/>
                </a:solidFill>
              </a:rPr>
              <a:t>锁</a:t>
            </a:r>
            <a:r>
              <a:rPr lang="zh-CN" altLang="en-US" sz="2400" dirty="0"/>
              <a:t>。例如，要对某个元组加</a:t>
            </a:r>
            <a:r>
              <a:rPr lang="en-US" altLang="zh-CN" sz="2400" dirty="0"/>
              <a:t>S</a:t>
            </a:r>
            <a:r>
              <a:rPr lang="zh-CN" altLang="en-US" sz="2400" dirty="0"/>
              <a:t>锁，则要首先对关系和数据库加</a:t>
            </a:r>
            <a:r>
              <a:rPr lang="en-US" altLang="zh-CN" sz="2400" dirty="0"/>
              <a:t>IS</a:t>
            </a:r>
            <a:r>
              <a:rPr lang="zh-CN" altLang="en-US" sz="2400" dirty="0"/>
              <a:t>锁。</a:t>
            </a:r>
            <a:endParaRPr lang="zh-CN" altLang="en-US" sz="2400" dirty="0"/>
          </a:p>
          <a:p>
            <a:pPr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80"/>
                </a:solidFill>
              </a:rPr>
              <a:t>2. </a:t>
            </a:r>
            <a:r>
              <a:rPr lang="en-US" altLang="zh-CN" sz="2400" b="1" dirty="0">
                <a:solidFill>
                  <a:srgbClr val="0000FF"/>
                </a:solidFill>
              </a:rPr>
              <a:t>IX</a:t>
            </a:r>
            <a:r>
              <a:rPr lang="zh-CN" altLang="en-US" sz="2400" b="1" dirty="0">
                <a:solidFill>
                  <a:srgbClr val="0000FF"/>
                </a:solidFill>
              </a:rPr>
              <a:t>锁 </a:t>
            </a:r>
            <a:endParaRPr lang="zh-CN" altLang="en-US" sz="2400" b="1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如果对一个数据对象加</a:t>
            </a:r>
            <a:r>
              <a:rPr lang="en-US" altLang="zh-CN" sz="2400" dirty="0"/>
              <a:t>IX</a:t>
            </a:r>
            <a:r>
              <a:rPr lang="zh-CN" altLang="en-US" sz="2400" dirty="0"/>
              <a:t>锁，表示它的</a:t>
            </a:r>
            <a:r>
              <a:rPr lang="zh-CN" altLang="en-US" sz="2400" dirty="0">
                <a:solidFill>
                  <a:srgbClr val="0000FF"/>
                </a:solidFill>
              </a:rPr>
              <a:t>后裔结点拟（意向）加</a:t>
            </a:r>
            <a:r>
              <a:rPr lang="en-US" altLang="zh-CN" sz="2400" dirty="0">
                <a:solidFill>
                  <a:srgbClr val="0000FF"/>
                </a:solidFill>
              </a:rPr>
              <a:t>X</a:t>
            </a:r>
            <a:r>
              <a:rPr lang="zh-CN" altLang="en-US" sz="2400" dirty="0">
                <a:solidFill>
                  <a:srgbClr val="0000FF"/>
                </a:solidFill>
              </a:rPr>
              <a:t>锁</a:t>
            </a:r>
            <a:r>
              <a:rPr lang="zh-CN" altLang="en-US" sz="2400" dirty="0"/>
              <a:t>。例如，要对某个元组加</a:t>
            </a:r>
            <a:r>
              <a:rPr lang="en-US" altLang="zh-CN" sz="2400" dirty="0"/>
              <a:t>X</a:t>
            </a:r>
            <a:r>
              <a:rPr lang="zh-CN" altLang="en-US" sz="2400" dirty="0"/>
              <a:t>锁，则要首先对关系和数据库加</a:t>
            </a:r>
            <a:r>
              <a:rPr lang="en-US" altLang="zh-CN" sz="2400" dirty="0"/>
              <a:t>IX</a:t>
            </a:r>
            <a:r>
              <a:rPr lang="zh-CN" altLang="en-US" sz="2400" dirty="0"/>
              <a:t>锁。</a:t>
            </a:r>
            <a:endParaRPr lang="zh-CN" altLang="en-US" sz="2400" dirty="0"/>
          </a:p>
          <a:p>
            <a:pPr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80"/>
                </a:solidFill>
              </a:rPr>
              <a:t>3. </a:t>
            </a:r>
            <a:r>
              <a:rPr lang="en-US" altLang="zh-CN" sz="2400" b="1" dirty="0">
                <a:solidFill>
                  <a:srgbClr val="0000FF"/>
                </a:solidFill>
              </a:rPr>
              <a:t>SIX</a:t>
            </a:r>
            <a:r>
              <a:rPr lang="zh-CN" altLang="en-US" sz="2400" b="1" dirty="0">
                <a:solidFill>
                  <a:srgbClr val="0000FF"/>
                </a:solidFill>
              </a:rPr>
              <a:t>锁 </a:t>
            </a:r>
            <a:endParaRPr lang="zh-CN" altLang="en-US" sz="2400" b="1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如果对一个数据对象加</a:t>
            </a:r>
            <a:r>
              <a:rPr lang="en-US" altLang="zh-CN" sz="2400" dirty="0"/>
              <a:t>SIX</a:t>
            </a:r>
            <a:r>
              <a:rPr lang="zh-CN" altLang="en-US" sz="2400" dirty="0"/>
              <a:t>锁，表示</a:t>
            </a:r>
            <a:r>
              <a:rPr lang="zh-CN" altLang="en-US" sz="2400" dirty="0">
                <a:solidFill>
                  <a:schemeClr val="tx2"/>
                </a:solidFill>
              </a:rPr>
              <a:t>对它加</a:t>
            </a:r>
            <a:r>
              <a:rPr lang="en-US" altLang="zh-CN" sz="2400" dirty="0">
                <a:solidFill>
                  <a:schemeClr val="tx2"/>
                </a:solidFill>
              </a:rPr>
              <a:t>S</a:t>
            </a:r>
            <a:r>
              <a:rPr lang="zh-CN" altLang="en-US" sz="2400" dirty="0">
                <a:solidFill>
                  <a:schemeClr val="tx2"/>
                </a:solidFill>
              </a:rPr>
              <a:t>锁</a:t>
            </a:r>
            <a:r>
              <a:rPr lang="zh-CN" altLang="en-US" sz="2400" dirty="0"/>
              <a:t>，</a:t>
            </a:r>
            <a:r>
              <a:rPr lang="zh-CN" altLang="en-US" sz="2400" dirty="0">
                <a:solidFill>
                  <a:schemeClr val="tx2"/>
                </a:solidFill>
              </a:rPr>
              <a:t>再加</a:t>
            </a:r>
            <a:r>
              <a:rPr lang="en-US" altLang="zh-CN" sz="2400" dirty="0">
                <a:solidFill>
                  <a:schemeClr val="tx2"/>
                </a:solidFill>
              </a:rPr>
              <a:t>IX</a:t>
            </a:r>
            <a:r>
              <a:rPr lang="zh-CN" altLang="en-US" sz="2400" dirty="0">
                <a:solidFill>
                  <a:schemeClr val="tx2"/>
                </a:solidFill>
              </a:rPr>
              <a:t>锁</a:t>
            </a:r>
            <a:r>
              <a:rPr lang="zh-CN" altLang="en-US" sz="2400" dirty="0"/>
              <a:t>，即</a:t>
            </a:r>
            <a:r>
              <a:rPr lang="en-US" altLang="zh-CN" sz="2400" dirty="0">
                <a:solidFill>
                  <a:srgbClr val="FF0303"/>
                </a:solidFill>
              </a:rPr>
              <a:t>SIX = S + IX</a:t>
            </a:r>
            <a:r>
              <a:rPr lang="zh-CN" altLang="en-US" sz="2400" dirty="0"/>
              <a:t>。例如对某个表加</a:t>
            </a:r>
            <a:r>
              <a:rPr lang="en-US" altLang="zh-CN" sz="2400" dirty="0"/>
              <a:t>SIX</a:t>
            </a:r>
            <a:r>
              <a:rPr lang="zh-CN" altLang="en-US" sz="2400" dirty="0"/>
              <a:t>锁，则表示该事务要</a:t>
            </a:r>
            <a:r>
              <a:rPr lang="zh-CN" altLang="en-US" sz="2400" u="sng" dirty="0">
                <a:solidFill>
                  <a:srgbClr val="0000FF"/>
                </a:solidFill>
              </a:rPr>
              <a:t>读整个表</a:t>
            </a:r>
            <a:r>
              <a:rPr lang="zh-CN" altLang="en-US" sz="2400" dirty="0"/>
              <a:t>（所以要对该表加</a:t>
            </a:r>
            <a:r>
              <a:rPr lang="en-US" altLang="zh-CN" sz="2400" dirty="0"/>
              <a:t>S</a:t>
            </a:r>
            <a:r>
              <a:rPr lang="zh-CN" altLang="en-US" sz="2400" dirty="0"/>
              <a:t>锁），同时会</a:t>
            </a:r>
            <a:r>
              <a:rPr lang="zh-CN" altLang="en-US" sz="2400" u="sng" dirty="0">
                <a:solidFill>
                  <a:srgbClr val="0000FF"/>
                </a:solidFill>
              </a:rPr>
              <a:t>更新个别元组</a:t>
            </a:r>
            <a:r>
              <a:rPr lang="zh-CN" altLang="en-US" sz="2400" dirty="0"/>
              <a:t>（所以要对该表加</a:t>
            </a:r>
            <a:r>
              <a:rPr lang="en-US" altLang="zh-CN" sz="2400" dirty="0"/>
              <a:t>IX</a:t>
            </a:r>
            <a:r>
              <a:rPr lang="zh-CN" altLang="en-US" sz="2400" dirty="0"/>
              <a:t>锁）。</a:t>
            </a:r>
            <a:endParaRPr lang="zh-CN" altLang="en-US" sz="240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6071-FB60-49EF-80C3-696FFA8FDB5C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相容性矩阵</a:t>
            </a:r>
            <a:endParaRPr lang="zh-CN" altLang="en-US"/>
          </a:p>
        </p:txBody>
      </p:sp>
      <p:sp>
        <p:nvSpPr>
          <p:cNvPr id="563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grpSp>
        <p:nvGrpSpPr>
          <p:cNvPr id="563204" name="Group 4"/>
          <p:cNvGrpSpPr/>
          <p:nvPr/>
        </p:nvGrpSpPr>
        <p:grpSpPr bwMode="auto">
          <a:xfrm>
            <a:off x="2209800" y="1905000"/>
            <a:ext cx="4624388" cy="3810000"/>
            <a:chOff x="831" y="1104"/>
            <a:chExt cx="2913" cy="2400"/>
          </a:xfrm>
        </p:grpSpPr>
        <p:sp>
          <p:nvSpPr>
            <p:cNvPr id="563205" name="Line 5"/>
            <p:cNvSpPr>
              <a:spLocks noChangeShapeType="1"/>
            </p:cNvSpPr>
            <p:nvPr/>
          </p:nvSpPr>
          <p:spPr bwMode="auto">
            <a:xfrm>
              <a:off x="1296" y="1104"/>
              <a:ext cx="0" cy="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206" name="Line 6"/>
            <p:cNvSpPr>
              <a:spLocks noChangeShapeType="1"/>
            </p:cNvSpPr>
            <p:nvPr/>
          </p:nvSpPr>
          <p:spPr bwMode="auto">
            <a:xfrm>
              <a:off x="1776" y="1137"/>
              <a:ext cx="0" cy="23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207" name="Line 7"/>
            <p:cNvSpPr>
              <a:spLocks noChangeShapeType="1"/>
            </p:cNvSpPr>
            <p:nvPr/>
          </p:nvSpPr>
          <p:spPr bwMode="auto">
            <a:xfrm>
              <a:off x="2256" y="1152"/>
              <a:ext cx="0" cy="23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208" name="Line 8"/>
            <p:cNvSpPr>
              <a:spLocks noChangeShapeType="1"/>
            </p:cNvSpPr>
            <p:nvPr/>
          </p:nvSpPr>
          <p:spPr bwMode="auto">
            <a:xfrm>
              <a:off x="2736" y="1152"/>
              <a:ext cx="0" cy="23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209" name="Line 9"/>
            <p:cNvSpPr>
              <a:spLocks noChangeShapeType="1"/>
            </p:cNvSpPr>
            <p:nvPr/>
          </p:nvSpPr>
          <p:spPr bwMode="auto">
            <a:xfrm>
              <a:off x="3264" y="1152"/>
              <a:ext cx="0" cy="23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210" name="Line 10"/>
            <p:cNvSpPr>
              <a:spLocks noChangeShapeType="1"/>
            </p:cNvSpPr>
            <p:nvPr/>
          </p:nvSpPr>
          <p:spPr bwMode="auto">
            <a:xfrm>
              <a:off x="3744" y="1152"/>
              <a:ext cx="0" cy="23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211" name="Line 11"/>
            <p:cNvSpPr>
              <a:spLocks noChangeShapeType="1"/>
            </p:cNvSpPr>
            <p:nvPr/>
          </p:nvSpPr>
          <p:spPr bwMode="auto">
            <a:xfrm>
              <a:off x="864" y="1392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212" name="Line 12"/>
            <p:cNvSpPr>
              <a:spLocks noChangeShapeType="1"/>
            </p:cNvSpPr>
            <p:nvPr/>
          </p:nvSpPr>
          <p:spPr bwMode="auto">
            <a:xfrm>
              <a:off x="849" y="1776"/>
              <a:ext cx="28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213" name="Line 13"/>
            <p:cNvSpPr>
              <a:spLocks noChangeShapeType="1"/>
            </p:cNvSpPr>
            <p:nvPr/>
          </p:nvSpPr>
          <p:spPr bwMode="auto">
            <a:xfrm>
              <a:off x="864" y="2160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214" name="Line 14"/>
            <p:cNvSpPr>
              <a:spLocks noChangeShapeType="1"/>
            </p:cNvSpPr>
            <p:nvPr/>
          </p:nvSpPr>
          <p:spPr bwMode="auto">
            <a:xfrm>
              <a:off x="864" y="2592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215" name="Line 15"/>
            <p:cNvSpPr>
              <a:spLocks noChangeShapeType="1"/>
            </p:cNvSpPr>
            <p:nvPr/>
          </p:nvSpPr>
          <p:spPr bwMode="auto">
            <a:xfrm>
              <a:off x="864" y="3024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216" name="Line 16"/>
            <p:cNvSpPr>
              <a:spLocks noChangeShapeType="1"/>
            </p:cNvSpPr>
            <p:nvPr/>
          </p:nvSpPr>
          <p:spPr bwMode="auto">
            <a:xfrm>
              <a:off x="864" y="3504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217" name="Text Box 17"/>
            <p:cNvSpPr txBox="1">
              <a:spLocks noChangeArrowheads="1"/>
            </p:cNvSpPr>
            <p:nvPr/>
          </p:nvSpPr>
          <p:spPr bwMode="auto">
            <a:xfrm>
              <a:off x="1382" y="1186"/>
              <a:ext cx="26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IS</a:t>
              </a:r>
              <a:endParaRPr lang="en-US" altLang="zh-CN" sz="2000">
                <a:latin typeface="Helvetica" panose="020B0604020202020204" pitchFamily="34" charset="0"/>
              </a:endParaRPr>
            </a:p>
          </p:txBody>
        </p:sp>
        <p:sp>
          <p:nvSpPr>
            <p:cNvPr id="563218" name="Text Box 18"/>
            <p:cNvSpPr txBox="1">
              <a:spLocks noChangeArrowheads="1"/>
            </p:cNvSpPr>
            <p:nvPr/>
          </p:nvSpPr>
          <p:spPr bwMode="auto">
            <a:xfrm>
              <a:off x="1872" y="1168"/>
              <a:ext cx="26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latin typeface="Helvetica" panose="020B0604020202020204" pitchFamily="34" charset="0"/>
                </a:rPr>
                <a:t>IX</a:t>
              </a:r>
              <a:endParaRPr lang="en-US" altLang="zh-CN" sz="2000" dirty="0">
                <a:latin typeface="Helvetica" panose="020B0604020202020204" pitchFamily="34" charset="0"/>
              </a:endParaRPr>
            </a:p>
          </p:txBody>
        </p:sp>
        <p:sp>
          <p:nvSpPr>
            <p:cNvPr id="563219" name="Text Box 19"/>
            <p:cNvSpPr txBox="1">
              <a:spLocks noChangeArrowheads="1"/>
            </p:cNvSpPr>
            <p:nvPr/>
          </p:nvSpPr>
          <p:spPr bwMode="auto">
            <a:xfrm>
              <a:off x="2372" y="1162"/>
              <a:ext cx="2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S</a:t>
              </a:r>
              <a:endParaRPr lang="en-US" altLang="zh-CN" sz="2000">
                <a:latin typeface="Helvetica" panose="020B0604020202020204" pitchFamily="34" charset="0"/>
              </a:endParaRPr>
            </a:p>
          </p:txBody>
        </p:sp>
        <p:sp>
          <p:nvSpPr>
            <p:cNvPr id="563220" name="Text Box 20"/>
            <p:cNvSpPr txBox="1">
              <a:spLocks noChangeArrowheads="1"/>
            </p:cNvSpPr>
            <p:nvPr/>
          </p:nvSpPr>
          <p:spPr bwMode="auto">
            <a:xfrm>
              <a:off x="2784" y="1159"/>
              <a:ext cx="4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S IX</a:t>
              </a:r>
              <a:endParaRPr lang="en-US" altLang="zh-CN" sz="2000">
                <a:latin typeface="Helvetica" panose="020B0604020202020204" pitchFamily="34" charset="0"/>
              </a:endParaRPr>
            </a:p>
          </p:txBody>
        </p:sp>
        <p:sp>
          <p:nvSpPr>
            <p:cNvPr id="563221" name="Text Box 21"/>
            <p:cNvSpPr txBox="1">
              <a:spLocks noChangeArrowheads="1"/>
            </p:cNvSpPr>
            <p:nvPr/>
          </p:nvSpPr>
          <p:spPr bwMode="auto">
            <a:xfrm>
              <a:off x="3312" y="1171"/>
              <a:ext cx="26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X </a:t>
              </a:r>
              <a:endParaRPr lang="en-US" altLang="zh-CN" sz="2000">
                <a:latin typeface="Helvetica" panose="020B0604020202020204" pitchFamily="34" charset="0"/>
              </a:endParaRPr>
            </a:p>
          </p:txBody>
        </p:sp>
        <p:sp>
          <p:nvSpPr>
            <p:cNvPr id="563222" name="Text Box 22"/>
            <p:cNvSpPr txBox="1">
              <a:spLocks noChangeArrowheads="1"/>
            </p:cNvSpPr>
            <p:nvPr/>
          </p:nvSpPr>
          <p:spPr bwMode="auto">
            <a:xfrm>
              <a:off x="971" y="1471"/>
              <a:ext cx="26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latin typeface="Helvetica" panose="020B0604020202020204" pitchFamily="34" charset="0"/>
                </a:rPr>
                <a:t>IS</a:t>
              </a:r>
              <a:endParaRPr lang="en-US" altLang="zh-CN" sz="2000" dirty="0">
                <a:latin typeface="Helvetica" panose="020B0604020202020204" pitchFamily="34" charset="0"/>
              </a:endParaRPr>
            </a:p>
          </p:txBody>
        </p:sp>
        <p:sp>
          <p:nvSpPr>
            <p:cNvPr id="563223" name="Text Box 23"/>
            <p:cNvSpPr txBox="1">
              <a:spLocks noChangeArrowheads="1"/>
            </p:cNvSpPr>
            <p:nvPr/>
          </p:nvSpPr>
          <p:spPr bwMode="auto">
            <a:xfrm>
              <a:off x="947" y="1828"/>
              <a:ext cx="26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latin typeface="Helvetica" panose="020B0604020202020204" pitchFamily="34" charset="0"/>
                </a:rPr>
                <a:t>IX</a:t>
              </a:r>
              <a:endParaRPr lang="en-US" altLang="zh-CN" sz="2000" dirty="0">
                <a:latin typeface="Helvetica" panose="020B0604020202020204" pitchFamily="34" charset="0"/>
              </a:endParaRPr>
            </a:p>
          </p:txBody>
        </p:sp>
        <p:sp>
          <p:nvSpPr>
            <p:cNvPr id="563224" name="Text Box 24"/>
            <p:cNvSpPr txBox="1">
              <a:spLocks noChangeArrowheads="1"/>
            </p:cNvSpPr>
            <p:nvPr/>
          </p:nvSpPr>
          <p:spPr bwMode="auto">
            <a:xfrm>
              <a:off x="960" y="2230"/>
              <a:ext cx="2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S</a:t>
              </a:r>
              <a:endParaRPr lang="en-US" altLang="zh-CN" sz="2000">
                <a:latin typeface="Helvetica" panose="020B0604020202020204" pitchFamily="34" charset="0"/>
              </a:endParaRPr>
            </a:p>
          </p:txBody>
        </p:sp>
        <p:sp>
          <p:nvSpPr>
            <p:cNvPr id="563225" name="Text Box 25"/>
            <p:cNvSpPr txBox="1">
              <a:spLocks noChangeArrowheads="1"/>
            </p:cNvSpPr>
            <p:nvPr/>
          </p:nvSpPr>
          <p:spPr bwMode="auto">
            <a:xfrm>
              <a:off x="831" y="2671"/>
              <a:ext cx="4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S IX</a:t>
              </a:r>
              <a:endParaRPr lang="en-US" altLang="zh-CN" sz="2000">
                <a:latin typeface="Helvetica" panose="020B0604020202020204" pitchFamily="34" charset="0"/>
              </a:endParaRPr>
            </a:p>
          </p:txBody>
        </p:sp>
        <p:sp>
          <p:nvSpPr>
            <p:cNvPr id="563226" name="Text Box 26"/>
            <p:cNvSpPr txBox="1">
              <a:spLocks noChangeArrowheads="1"/>
            </p:cNvSpPr>
            <p:nvPr/>
          </p:nvSpPr>
          <p:spPr bwMode="auto">
            <a:xfrm>
              <a:off x="912" y="3151"/>
              <a:ext cx="26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X </a:t>
              </a:r>
              <a:endParaRPr lang="en-US" altLang="zh-CN" sz="2000">
                <a:latin typeface="Helvetica" panose="020B0604020202020204" pitchFamily="34" charset="0"/>
              </a:endParaRPr>
            </a:p>
          </p:txBody>
        </p:sp>
        <p:sp>
          <p:nvSpPr>
            <p:cNvPr id="563227" name="Text Box 27"/>
            <p:cNvSpPr txBox="1">
              <a:spLocks noChangeArrowheads="1"/>
            </p:cNvSpPr>
            <p:nvPr/>
          </p:nvSpPr>
          <p:spPr bwMode="auto">
            <a:xfrm>
              <a:off x="1382" y="1448"/>
              <a:ext cx="2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dirty="0">
                  <a:latin typeface="Helvetica" panose="020B0604020202020204" pitchFamily="34" charset="0"/>
                  <a:sym typeface="Wingdings" panose="05000000000000000000" pitchFamily="2" charset="2"/>
                </a:rPr>
                <a:t></a:t>
              </a:r>
              <a:endParaRPr lang="zh-CN" altLang="en-US" sz="2000" dirty="0">
                <a:latin typeface="Helvetica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563228" name="Text Box 28"/>
            <p:cNvSpPr txBox="1">
              <a:spLocks noChangeArrowheads="1"/>
            </p:cNvSpPr>
            <p:nvPr/>
          </p:nvSpPr>
          <p:spPr bwMode="auto">
            <a:xfrm>
              <a:off x="1365" y="1855"/>
              <a:ext cx="2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latin typeface="Helvetica" panose="020B0604020202020204" pitchFamily="34" charset="0"/>
                  <a:sym typeface="Wingdings" panose="05000000000000000000" pitchFamily="2" charset="2"/>
                </a:rPr>
                <a:t></a:t>
              </a:r>
              <a:endParaRPr lang="zh-CN" altLang="en-US" sz="2000">
                <a:latin typeface="Helvetica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563229" name="Text Box 29"/>
            <p:cNvSpPr txBox="1">
              <a:spLocks noChangeArrowheads="1"/>
            </p:cNvSpPr>
            <p:nvPr/>
          </p:nvSpPr>
          <p:spPr bwMode="auto">
            <a:xfrm>
              <a:off x="1365" y="2287"/>
              <a:ext cx="2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latin typeface="Helvetica" panose="020B0604020202020204" pitchFamily="34" charset="0"/>
                  <a:sym typeface="Wingdings" panose="05000000000000000000" pitchFamily="2" charset="2"/>
                </a:rPr>
                <a:t></a:t>
              </a:r>
              <a:endParaRPr lang="zh-CN" altLang="en-US" sz="2000">
                <a:latin typeface="Helvetica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563230" name="Text Box 30"/>
            <p:cNvSpPr txBox="1">
              <a:spLocks noChangeArrowheads="1"/>
            </p:cNvSpPr>
            <p:nvPr/>
          </p:nvSpPr>
          <p:spPr bwMode="auto">
            <a:xfrm>
              <a:off x="1392" y="2719"/>
              <a:ext cx="2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latin typeface="Helvetica" panose="020B0604020202020204" pitchFamily="34" charset="0"/>
                  <a:sym typeface="Wingdings" panose="05000000000000000000" pitchFamily="2" charset="2"/>
                </a:rPr>
                <a:t></a:t>
              </a:r>
              <a:endParaRPr lang="zh-CN" altLang="en-US" sz="2000">
                <a:latin typeface="Helvetica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563231" name="Text Box 31"/>
            <p:cNvSpPr txBox="1">
              <a:spLocks noChangeArrowheads="1"/>
            </p:cNvSpPr>
            <p:nvPr/>
          </p:nvSpPr>
          <p:spPr bwMode="auto">
            <a:xfrm>
              <a:off x="1392" y="3147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b="1">
                  <a:latin typeface="Helvetica" panose="020B0604020202020204" pitchFamily="34" charset="0"/>
                  <a:sym typeface="Symbol" panose="05050102010706020507" pitchFamily="18" charset="2"/>
                </a:rPr>
                <a:t></a:t>
              </a:r>
              <a:endParaRPr lang="zh-CN" altLang="en-US" b="1">
                <a:latin typeface="Helvetica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563232" name="Text Box 32"/>
            <p:cNvSpPr txBox="1">
              <a:spLocks noChangeArrowheads="1"/>
            </p:cNvSpPr>
            <p:nvPr/>
          </p:nvSpPr>
          <p:spPr bwMode="auto">
            <a:xfrm>
              <a:off x="1824" y="1471"/>
              <a:ext cx="2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dirty="0">
                  <a:solidFill>
                    <a:srgbClr val="0000FF"/>
                  </a:solidFill>
                  <a:latin typeface="Helvetica" panose="020B0604020202020204" pitchFamily="34" charset="0"/>
                  <a:sym typeface="Wingdings" panose="05000000000000000000" pitchFamily="2" charset="2"/>
                </a:rPr>
                <a:t></a:t>
              </a:r>
              <a:endParaRPr lang="zh-CN" altLang="en-US" sz="2000" dirty="0">
                <a:solidFill>
                  <a:srgbClr val="0000FF"/>
                </a:solidFill>
                <a:latin typeface="Helvetica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563233" name="Text Box 33"/>
            <p:cNvSpPr txBox="1">
              <a:spLocks noChangeArrowheads="1"/>
            </p:cNvSpPr>
            <p:nvPr/>
          </p:nvSpPr>
          <p:spPr bwMode="auto">
            <a:xfrm>
              <a:off x="2325" y="1471"/>
              <a:ext cx="2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dirty="0">
                  <a:latin typeface="Helvetica" panose="020B0604020202020204" pitchFamily="34" charset="0"/>
                  <a:sym typeface="Wingdings" panose="05000000000000000000" pitchFamily="2" charset="2"/>
                </a:rPr>
                <a:t></a:t>
              </a:r>
              <a:endParaRPr lang="zh-CN" altLang="en-US" sz="2000" dirty="0">
                <a:latin typeface="Helvetica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563234" name="Text Box 34"/>
            <p:cNvSpPr txBox="1">
              <a:spLocks noChangeArrowheads="1"/>
            </p:cNvSpPr>
            <p:nvPr/>
          </p:nvSpPr>
          <p:spPr bwMode="auto">
            <a:xfrm>
              <a:off x="2853" y="1471"/>
              <a:ext cx="2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dirty="0">
                  <a:solidFill>
                    <a:srgbClr val="0000FF"/>
                  </a:solidFill>
                  <a:latin typeface="Helvetica" panose="020B0604020202020204" pitchFamily="34" charset="0"/>
                  <a:sym typeface="Wingdings" panose="05000000000000000000" pitchFamily="2" charset="2"/>
                </a:rPr>
                <a:t></a:t>
              </a:r>
              <a:endParaRPr lang="zh-CN" altLang="en-US" sz="2000" dirty="0">
                <a:solidFill>
                  <a:srgbClr val="0000FF"/>
                </a:solidFill>
                <a:latin typeface="Helvetica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563235" name="Text Box 35"/>
            <p:cNvSpPr txBox="1">
              <a:spLocks noChangeArrowheads="1"/>
            </p:cNvSpPr>
            <p:nvPr/>
          </p:nvSpPr>
          <p:spPr bwMode="auto">
            <a:xfrm>
              <a:off x="1872" y="1855"/>
              <a:ext cx="2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latin typeface="Helvetica" panose="020B0604020202020204" pitchFamily="34" charset="0"/>
                  <a:sym typeface="Wingdings" panose="05000000000000000000" pitchFamily="2" charset="2"/>
                </a:rPr>
                <a:t></a:t>
              </a:r>
              <a:endParaRPr lang="zh-CN" altLang="en-US" sz="2000">
                <a:latin typeface="Helvetica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563236" name="Text Box 36"/>
            <p:cNvSpPr txBox="1">
              <a:spLocks noChangeArrowheads="1"/>
            </p:cNvSpPr>
            <p:nvPr/>
          </p:nvSpPr>
          <p:spPr bwMode="auto">
            <a:xfrm>
              <a:off x="2352" y="2287"/>
              <a:ext cx="2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latin typeface="Helvetica" panose="020B0604020202020204" pitchFamily="34" charset="0"/>
                  <a:sym typeface="Wingdings" panose="05000000000000000000" pitchFamily="2" charset="2"/>
                </a:rPr>
                <a:t></a:t>
              </a:r>
              <a:endParaRPr lang="zh-CN" altLang="en-US" sz="2000">
                <a:latin typeface="Helvetica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563237" name="Text Box 37"/>
            <p:cNvSpPr txBox="1">
              <a:spLocks noChangeArrowheads="1"/>
            </p:cNvSpPr>
            <p:nvPr/>
          </p:nvSpPr>
          <p:spPr bwMode="auto">
            <a:xfrm>
              <a:off x="1910" y="2230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b="1">
                  <a:latin typeface="Helvetica" panose="020B0604020202020204" pitchFamily="34" charset="0"/>
                  <a:sym typeface="Symbol" panose="05050102010706020507" pitchFamily="18" charset="2"/>
                </a:rPr>
                <a:t></a:t>
              </a:r>
              <a:endParaRPr lang="zh-CN" altLang="en-US" b="1">
                <a:latin typeface="Helvetica" panose="020B0604020202020204" pitchFamily="34" charset="0"/>
              </a:endParaRPr>
            </a:p>
          </p:txBody>
        </p:sp>
        <p:sp>
          <p:nvSpPr>
            <p:cNvPr id="563238" name="Text Box 38"/>
            <p:cNvSpPr txBox="1">
              <a:spLocks noChangeArrowheads="1"/>
            </p:cNvSpPr>
            <p:nvPr/>
          </p:nvSpPr>
          <p:spPr bwMode="auto">
            <a:xfrm>
              <a:off x="1891" y="2688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b="1">
                  <a:latin typeface="Helvetica" panose="020B0604020202020204" pitchFamily="34" charset="0"/>
                  <a:sym typeface="Symbol" panose="05050102010706020507" pitchFamily="18" charset="2"/>
                </a:rPr>
                <a:t></a:t>
              </a:r>
              <a:endParaRPr lang="zh-CN" altLang="en-US" b="1">
                <a:latin typeface="Helvetica" panose="020B0604020202020204" pitchFamily="34" charset="0"/>
              </a:endParaRPr>
            </a:p>
          </p:txBody>
        </p:sp>
        <p:sp>
          <p:nvSpPr>
            <p:cNvPr id="563239" name="Text Box 39"/>
            <p:cNvSpPr txBox="1">
              <a:spLocks noChangeArrowheads="1"/>
            </p:cNvSpPr>
            <p:nvPr/>
          </p:nvSpPr>
          <p:spPr bwMode="auto">
            <a:xfrm>
              <a:off x="1891" y="3120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b="1">
                  <a:latin typeface="Helvetica" panose="020B0604020202020204" pitchFamily="34" charset="0"/>
                  <a:sym typeface="Symbol" panose="05050102010706020507" pitchFamily="18" charset="2"/>
                </a:rPr>
                <a:t></a:t>
              </a:r>
              <a:endParaRPr lang="zh-CN" altLang="en-US" b="1">
                <a:latin typeface="Helvetica" panose="020B0604020202020204" pitchFamily="34" charset="0"/>
              </a:endParaRPr>
            </a:p>
          </p:txBody>
        </p:sp>
        <p:sp>
          <p:nvSpPr>
            <p:cNvPr id="563240" name="Text Box 40"/>
            <p:cNvSpPr txBox="1">
              <a:spLocks noChangeArrowheads="1"/>
            </p:cNvSpPr>
            <p:nvPr/>
          </p:nvSpPr>
          <p:spPr bwMode="auto">
            <a:xfrm>
              <a:off x="2371" y="3120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b="1">
                  <a:latin typeface="Helvetica" panose="020B0604020202020204" pitchFamily="34" charset="0"/>
                  <a:sym typeface="Symbol" panose="05050102010706020507" pitchFamily="18" charset="2"/>
                </a:rPr>
                <a:t></a:t>
              </a:r>
              <a:endParaRPr lang="zh-CN" altLang="en-US" b="1">
                <a:latin typeface="Helvetica" panose="020B0604020202020204" pitchFamily="34" charset="0"/>
              </a:endParaRPr>
            </a:p>
          </p:txBody>
        </p:sp>
        <p:sp>
          <p:nvSpPr>
            <p:cNvPr id="563241" name="Text Box 41"/>
            <p:cNvSpPr txBox="1">
              <a:spLocks noChangeArrowheads="1"/>
            </p:cNvSpPr>
            <p:nvPr/>
          </p:nvSpPr>
          <p:spPr bwMode="auto">
            <a:xfrm>
              <a:off x="2881" y="3120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b="1">
                  <a:latin typeface="Helvetica" panose="020B0604020202020204" pitchFamily="34" charset="0"/>
                  <a:sym typeface="Symbol" panose="05050102010706020507" pitchFamily="18" charset="2"/>
                </a:rPr>
                <a:t></a:t>
              </a:r>
              <a:endParaRPr lang="zh-CN" altLang="en-US" b="1">
                <a:latin typeface="Helvetica" panose="020B0604020202020204" pitchFamily="34" charset="0"/>
              </a:endParaRPr>
            </a:p>
          </p:txBody>
        </p:sp>
        <p:sp>
          <p:nvSpPr>
            <p:cNvPr id="563242" name="Text Box 42"/>
            <p:cNvSpPr txBox="1">
              <a:spLocks noChangeArrowheads="1"/>
            </p:cNvSpPr>
            <p:nvPr/>
          </p:nvSpPr>
          <p:spPr bwMode="auto">
            <a:xfrm>
              <a:off x="3412" y="3120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b="1">
                  <a:latin typeface="Helvetica" panose="020B0604020202020204" pitchFamily="34" charset="0"/>
                  <a:sym typeface="Symbol" panose="05050102010706020507" pitchFamily="18" charset="2"/>
                </a:rPr>
                <a:t></a:t>
              </a:r>
              <a:endParaRPr lang="zh-CN" altLang="en-US" b="1">
                <a:latin typeface="Helvetica" panose="020B0604020202020204" pitchFamily="34" charset="0"/>
              </a:endParaRPr>
            </a:p>
          </p:txBody>
        </p:sp>
        <p:sp>
          <p:nvSpPr>
            <p:cNvPr id="563243" name="Text Box 43"/>
            <p:cNvSpPr txBox="1">
              <a:spLocks noChangeArrowheads="1"/>
            </p:cNvSpPr>
            <p:nvPr/>
          </p:nvSpPr>
          <p:spPr bwMode="auto">
            <a:xfrm>
              <a:off x="3408" y="2688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b="1">
                  <a:latin typeface="Helvetica" panose="020B0604020202020204" pitchFamily="34" charset="0"/>
                  <a:sym typeface="Symbol" panose="05050102010706020507" pitchFamily="18" charset="2"/>
                </a:rPr>
                <a:t></a:t>
              </a:r>
              <a:endParaRPr lang="zh-CN" altLang="en-US" b="1">
                <a:latin typeface="Helvetica" panose="020B0604020202020204" pitchFamily="34" charset="0"/>
              </a:endParaRPr>
            </a:p>
          </p:txBody>
        </p:sp>
        <p:sp>
          <p:nvSpPr>
            <p:cNvPr id="563244" name="Text Box 44"/>
            <p:cNvSpPr txBox="1">
              <a:spLocks noChangeArrowheads="1"/>
            </p:cNvSpPr>
            <p:nvPr/>
          </p:nvSpPr>
          <p:spPr bwMode="auto">
            <a:xfrm>
              <a:off x="2371" y="2688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b="1">
                  <a:latin typeface="Helvetica" panose="020B0604020202020204" pitchFamily="34" charset="0"/>
                  <a:sym typeface="Symbol" panose="05050102010706020507" pitchFamily="18" charset="2"/>
                </a:rPr>
                <a:t></a:t>
              </a:r>
              <a:endParaRPr lang="zh-CN" altLang="en-US" b="1">
                <a:latin typeface="Helvetica" panose="020B0604020202020204" pitchFamily="34" charset="0"/>
              </a:endParaRPr>
            </a:p>
          </p:txBody>
        </p:sp>
        <p:sp>
          <p:nvSpPr>
            <p:cNvPr id="563245" name="Text Box 45"/>
            <p:cNvSpPr txBox="1">
              <a:spLocks noChangeArrowheads="1"/>
            </p:cNvSpPr>
            <p:nvPr/>
          </p:nvSpPr>
          <p:spPr bwMode="auto">
            <a:xfrm>
              <a:off x="2899" y="2688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b="1">
                  <a:latin typeface="Helvetica" panose="020B0604020202020204" pitchFamily="34" charset="0"/>
                  <a:sym typeface="Symbol" panose="05050102010706020507" pitchFamily="18" charset="2"/>
                </a:rPr>
                <a:t></a:t>
              </a:r>
              <a:endParaRPr lang="zh-CN" altLang="en-US" b="1">
                <a:latin typeface="Helvetica" panose="020B0604020202020204" pitchFamily="34" charset="0"/>
              </a:endParaRPr>
            </a:p>
          </p:txBody>
        </p:sp>
        <p:sp>
          <p:nvSpPr>
            <p:cNvPr id="563246" name="Text Box 46"/>
            <p:cNvSpPr txBox="1">
              <a:spLocks noChangeArrowheads="1"/>
            </p:cNvSpPr>
            <p:nvPr/>
          </p:nvSpPr>
          <p:spPr bwMode="auto">
            <a:xfrm>
              <a:off x="2382" y="1824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b="1">
                  <a:latin typeface="Helvetica" panose="020B0604020202020204" pitchFamily="34" charset="0"/>
                  <a:sym typeface="Symbol" panose="05050102010706020507" pitchFamily="18" charset="2"/>
                </a:rPr>
                <a:t></a:t>
              </a:r>
              <a:endParaRPr lang="zh-CN" altLang="en-US" b="1">
                <a:latin typeface="Helvetica" panose="020B0604020202020204" pitchFamily="34" charset="0"/>
              </a:endParaRPr>
            </a:p>
          </p:txBody>
        </p:sp>
        <p:sp>
          <p:nvSpPr>
            <p:cNvPr id="563247" name="Text Box 47"/>
            <p:cNvSpPr txBox="1">
              <a:spLocks noChangeArrowheads="1"/>
            </p:cNvSpPr>
            <p:nvPr/>
          </p:nvSpPr>
          <p:spPr bwMode="auto">
            <a:xfrm>
              <a:off x="2899" y="1824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b="1">
                  <a:latin typeface="Helvetica" panose="020B0604020202020204" pitchFamily="34" charset="0"/>
                  <a:sym typeface="Symbol" panose="05050102010706020507" pitchFamily="18" charset="2"/>
                </a:rPr>
                <a:t></a:t>
              </a:r>
              <a:endParaRPr lang="zh-CN" altLang="en-US" b="1">
                <a:latin typeface="Helvetica" panose="020B0604020202020204" pitchFamily="34" charset="0"/>
              </a:endParaRPr>
            </a:p>
          </p:txBody>
        </p:sp>
        <p:sp>
          <p:nvSpPr>
            <p:cNvPr id="563248" name="Text Box 48"/>
            <p:cNvSpPr txBox="1">
              <a:spLocks noChangeArrowheads="1"/>
            </p:cNvSpPr>
            <p:nvPr/>
          </p:nvSpPr>
          <p:spPr bwMode="auto">
            <a:xfrm>
              <a:off x="3412" y="1440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b="1" dirty="0">
                  <a:latin typeface="Helvetica" panose="020B0604020202020204" pitchFamily="34" charset="0"/>
                  <a:sym typeface="Symbol" panose="05050102010706020507" pitchFamily="18" charset="2"/>
                </a:rPr>
                <a:t></a:t>
              </a:r>
              <a:endParaRPr lang="zh-CN" altLang="en-US" b="1" dirty="0">
                <a:latin typeface="Helvetica" panose="020B0604020202020204" pitchFamily="34" charset="0"/>
              </a:endParaRPr>
            </a:p>
          </p:txBody>
        </p:sp>
        <p:sp>
          <p:nvSpPr>
            <p:cNvPr id="563249" name="Text Box 49"/>
            <p:cNvSpPr txBox="1">
              <a:spLocks noChangeArrowheads="1"/>
            </p:cNvSpPr>
            <p:nvPr/>
          </p:nvSpPr>
          <p:spPr bwMode="auto">
            <a:xfrm>
              <a:off x="3394" y="1776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b="1">
                  <a:latin typeface="Helvetica" panose="020B0604020202020204" pitchFamily="34" charset="0"/>
                  <a:sym typeface="Symbol" panose="05050102010706020507" pitchFamily="18" charset="2"/>
                </a:rPr>
                <a:t></a:t>
              </a:r>
              <a:endParaRPr lang="zh-CN" altLang="en-US" b="1">
                <a:latin typeface="Helvetica" panose="020B0604020202020204" pitchFamily="34" charset="0"/>
              </a:endParaRPr>
            </a:p>
          </p:txBody>
        </p:sp>
        <p:sp>
          <p:nvSpPr>
            <p:cNvPr id="563250" name="Text Box 50"/>
            <p:cNvSpPr txBox="1">
              <a:spLocks noChangeArrowheads="1"/>
            </p:cNvSpPr>
            <p:nvPr/>
          </p:nvSpPr>
          <p:spPr bwMode="auto">
            <a:xfrm>
              <a:off x="3412" y="2208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b="1">
                  <a:latin typeface="Helvetica" panose="020B0604020202020204" pitchFamily="34" charset="0"/>
                  <a:sym typeface="Symbol" panose="05050102010706020507" pitchFamily="18" charset="2"/>
                </a:rPr>
                <a:t></a:t>
              </a:r>
              <a:endParaRPr lang="zh-CN" altLang="en-US" b="1">
                <a:latin typeface="Helvetica" panose="020B0604020202020204" pitchFamily="34" charset="0"/>
              </a:endParaRPr>
            </a:p>
          </p:txBody>
        </p:sp>
        <p:sp>
          <p:nvSpPr>
            <p:cNvPr id="563251" name="Text Box 51"/>
            <p:cNvSpPr txBox="1">
              <a:spLocks noChangeArrowheads="1"/>
            </p:cNvSpPr>
            <p:nvPr/>
          </p:nvSpPr>
          <p:spPr bwMode="auto">
            <a:xfrm>
              <a:off x="2899" y="2208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b="1">
                  <a:latin typeface="Helvetica" panose="020B0604020202020204" pitchFamily="34" charset="0"/>
                  <a:sym typeface="Symbol" panose="05050102010706020507" pitchFamily="18" charset="2"/>
                </a:rPr>
                <a:t></a:t>
              </a:r>
              <a:endParaRPr lang="zh-CN" altLang="en-US" b="1">
                <a:latin typeface="Helvetica" panose="020B0604020202020204" pitchFamily="34" charset="0"/>
              </a:endParaRPr>
            </a:p>
          </p:txBody>
        </p:sp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550A8-2C4C-4041-B379-C2B086EBA1C5}" type="datetime1">
              <a:rPr lang="zh-CN" altLang="en-US" smtClean="0"/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本章目录</a:t>
            </a:r>
            <a:endParaRPr lang="zh-CN" altLang="en-US"/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39888"/>
            <a:ext cx="7583488" cy="4532312"/>
          </a:xfrm>
        </p:spPr>
        <p:txBody>
          <a:bodyPr/>
          <a:lstStyle/>
          <a:p>
            <a:r>
              <a:rPr lang="en-US" altLang="zh-CN" sz="2800" dirty="0"/>
              <a:t>14.1 </a:t>
            </a:r>
            <a:r>
              <a:rPr lang="zh-CN" altLang="en-US" sz="2800" dirty="0"/>
              <a:t>基于锁的协议</a:t>
            </a:r>
            <a:endParaRPr lang="zh-CN" altLang="en-US" sz="2800" dirty="0"/>
          </a:p>
          <a:p>
            <a:r>
              <a:rPr lang="en-US" altLang="zh-CN" sz="2800" dirty="0"/>
              <a:t>14.2 </a:t>
            </a:r>
            <a:r>
              <a:rPr lang="zh-CN" altLang="en-US" sz="2800" dirty="0"/>
              <a:t>死锁处理</a:t>
            </a:r>
            <a:endParaRPr lang="zh-CN" altLang="en-US" sz="2800" dirty="0">
              <a:solidFill>
                <a:srgbClr val="CC0000"/>
              </a:solidFill>
            </a:endParaRPr>
          </a:p>
          <a:p>
            <a:r>
              <a:rPr lang="en-US" altLang="zh-CN" sz="2800" dirty="0"/>
              <a:t>14.3 </a:t>
            </a:r>
            <a:r>
              <a:rPr lang="zh-CN" altLang="en-US" sz="2800" dirty="0"/>
              <a:t>多粒度</a:t>
            </a:r>
            <a:endParaRPr lang="zh-CN" altLang="en-US" sz="2800" dirty="0"/>
          </a:p>
          <a:p>
            <a:r>
              <a:rPr lang="en-US" altLang="zh-CN" sz="2800" dirty="0"/>
              <a:t>14.4 </a:t>
            </a:r>
            <a:r>
              <a:rPr lang="zh-CN" altLang="en-US" sz="2800" dirty="0"/>
              <a:t>插入操作、删除操作与谓词读</a:t>
            </a:r>
            <a:r>
              <a:rPr lang="en-US" altLang="zh-CN" sz="2800" dirty="0"/>
              <a:t>(</a:t>
            </a:r>
            <a:r>
              <a:rPr lang="zh-CN" altLang="en-US" sz="2800" dirty="0"/>
              <a:t>了解</a:t>
            </a:r>
            <a:r>
              <a:rPr lang="en-US" altLang="zh-CN" sz="2800" dirty="0"/>
              <a:t>)</a:t>
            </a:r>
            <a:endParaRPr lang="zh-CN" altLang="en-US" sz="2800" dirty="0"/>
          </a:p>
          <a:p>
            <a:r>
              <a:rPr lang="en-US" altLang="zh-CN" sz="2800" dirty="0"/>
              <a:t>14.5 </a:t>
            </a:r>
            <a:r>
              <a:rPr lang="zh-CN" altLang="en-US" sz="2800" dirty="0"/>
              <a:t>基于时间戳的协议</a:t>
            </a:r>
            <a:r>
              <a:rPr lang="en-US" altLang="zh-CN" sz="2800" dirty="0"/>
              <a:t>(</a:t>
            </a:r>
            <a:r>
              <a:rPr lang="zh-CN" altLang="en-US" sz="2800" dirty="0"/>
              <a:t>了解</a:t>
            </a:r>
            <a:r>
              <a:rPr lang="en-US" altLang="zh-CN" sz="2800" dirty="0"/>
              <a:t>)</a:t>
            </a:r>
            <a:endParaRPr lang="zh-CN" altLang="en-US" sz="2800" dirty="0"/>
          </a:p>
          <a:p>
            <a:r>
              <a:rPr lang="en-US" altLang="zh-CN" sz="2800" dirty="0"/>
              <a:t>14.6 </a:t>
            </a:r>
            <a:r>
              <a:rPr lang="zh-CN" altLang="en-US" sz="2800" dirty="0"/>
              <a:t>基于有效性检查的协议</a:t>
            </a:r>
            <a:r>
              <a:rPr lang="en-US" altLang="zh-CN" sz="2800" dirty="0"/>
              <a:t>(</a:t>
            </a:r>
            <a:r>
              <a:rPr lang="zh-CN" altLang="en-US" sz="2800" dirty="0"/>
              <a:t>了解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r>
              <a:rPr lang="en-US" altLang="zh-CN" sz="2800" dirty="0"/>
              <a:t>14.7</a:t>
            </a:r>
            <a:r>
              <a:rPr lang="zh-CN" altLang="en-US" sz="2800" dirty="0"/>
              <a:t> 多版本机制</a:t>
            </a:r>
            <a:r>
              <a:rPr lang="en-US" altLang="zh-CN" sz="2800" dirty="0"/>
              <a:t>(</a:t>
            </a:r>
            <a:r>
              <a:rPr lang="zh-CN" altLang="en-US" sz="2800" dirty="0"/>
              <a:t>自学了解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r>
              <a:rPr lang="en-US" altLang="zh-CN" sz="2800" dirty="0"/>
              <a:t>14.8 </a:t>
            </a:r>
            <a:r>
              <a:rPr lang="zh-CN" altLang="en-US" sz="2800" dirty="0"/>
              <a:t>故障分类</a:t>
            </a:r>
            <a:endParaRPr lang="en-US" altLang="zh-CN" sz="2800" dirty="0"/>
          </a:p>
        </p:txBody>
      </p:sp>
      <p:sp>
        <p:nvSpPr>
          <p:cNvPr id="253956" name="AutoShape 4"/>
          <p:cNvSpPr>
            <a:spLocks noChangeArrowheads="1"/>
          </p:cNvSpPr>
          <p:nvPr/>
        </p:nvSpPr>
        <p:spPr bwMode="auto">
          <a:xfrm>
            <a:off x="838200" y="3284984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FC8E2-191B-4D1A-A2FA-FC05841871BF}" type="datetime1">
              <a:rPr lang="zh-CN" altLang="en-US" smtClean="0"/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14.4 </a:t>
            </a:r>
            <a:r>
              <a:rPr lang="zh-CN" altLang="en-US" dirty="0"/>
              <a:t>插入操作、删除操作与谓词读</a:t>
            </a:r>
            <a:r>
              <a:rPr lang="en-US" altLang="zh-CN" dirty="0"/>
              <a:t>(</a:t>
            </a:r>
            <a:r>
              <a:rPr lang="zh-CN" altLang="en-US" dirty="0"/>
              <a:t>了解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20B01-EB2C-4D06-ABDA-11798BA4BAAE}" type="datetime1">
              <a:rPr lang="zh-CN" altLang="en-US" smtClean="0"/>
            </a:fld>
            <a:endParaRPr lang="en-US" altLang="zh-CN" dirty="0"/>
          </a:p>
        </p:txBody>
      </p:sp>
      <p:sp>
        <p:nvSpPr>
          <p:cNvPr id="564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75792"/>
            <a:ext cx="7994848" cy="4867846"/>
          </a:xfrm>
        </p:spPr>
        <p:txBody>
          <a:bodyPr/>
          <a:lstStyle/>
          <a:p>
            <a:r>
              <a:rPr lang="en-US" altLang="zh-CN" sz="2400" dirty="0"/>
              <a:t>Read()/write() </a:t>
            </a:r>
            <a:r>
              <a:rPr lang="zh-CN" altLang="en-US" sz="2400" dirty="0"/>
              <a:t>处理已存在于数据库中的数据项</a:t>
            </a:r>
            <a:endParaRPr lang="en-US" altLang="zh-CN" sz="2400" dirty="0"/>
          </a:p>
          <a:p>
            <a:r>
              <a:rPr lang="en-US" altLang="zh-CN" sz="2400" dirty="0"/>
              <a:t>delete(Q)</a:t>
            </a:r>
            <a:endParaRPr lang="en-US" altLang="zh-CN" sz="2400" dirty="0"/>
          </a:p>
          <a:p>
            <a:pPr lvl="1"/>
            <a:r>
              <a:rPr lang="zh-CN" altLang="en-US" sz="2000" dirty="0"/>
              <a:t>要理解</a:t>
            </a:r>
            <a:r>
              <a:rPr lang="en-US" altLang="zh-CN" sz="2000" dirty="0"/>
              <a:t>delete</a:t>
            </a:r>
            <a:r>
              <a:rPr lang="zh-CN" altLang="en-US" sz="2000" dirty="0"/>
              <a:t>指令</a:t>
            </a:r>
            <a:r>
              <a:rPr lang="zh-CN" altLang="en-US" sz="2000" b="1" dirty="0">
                <a:solidFill>
                  <a:srgbClr val="0000FF"/>
                </a:solidFill>
              </a:rPr>
              <a:t>怎样影响并发控制</a:t>
            </a:r>
            <a:r>
              <a:rPr lang="zh-CN" altLang="en-US" sz="2000" dirty="0"/>
              <a:t>，我们必须弄清</a:t>
            </a:r>
            <a:r>
              <a:rPr lang="en-US" altLang="zh-CN" sz="2000" dirty="0"/>
              <a:t>delete </a:t>
            </a:r>
            <a:r>
              <a:rPr lang="zh-CN" altLang="en-US" sz="2000" dirty="0"/>
              <a:t>指令何时与另一指令发生冲突。</a:t>
            </a:r>
            <a:r>
              <a:rPr lang="zh-CN" altLang="en-US" sz="2400" dirty="0"/>
              <a:t>给定</a:t>
            </a:r>
            <a:r>
              <a:rPr lang="zh-CN" altLang="en-US" sz="2000" dirty="0"/>
              <a:t>一个调度</a:t>
            </a:r>
            <a:r>
              <a:rPr lang="en-US" altLang="zh-CN" sz="2000" dirty="0"/>
              <a:t>S</a:t>
            </a:r>
            <a:r>
              <a:rPr lang="zh-CN" altLang="en-US" sz="2000" dirty="0"/>
              <a:t>中事务</a:t>
            </a:r>
            <a:r>
              <a:rPr lang="en-US" altLang="zh-CN" sz="2000" dirty="0" err="1">
                <a:solidFill>
                  <a:srgbClr val="0000FF"/>
                </a:solidFill>
              </a:rPr>
              <a:t>T</a:t>
            </a:r>
            <a:r>
              <a:rPr lang="en-US" altLang="zh-CN" sz="2000" baseline="-25000" dirty="0" err="1">
                <a:solidFill>
                  <a:srgbClr val="0000FF"/>
                </a:solidFill>
              </a:rPr>
              <a:t>i</a:t>
            </a:r>
            <a:r>
              <a:rPr lang="en-US" altLang="zh-CN" sz="2000" dirty="0"/>
              <a:t> </a:t>
            </a:r>
            <a:r>
              <a:rPr lang="zh-CN" altLang="en-US" sz="2000" dirty="0"/>
              <a:t>和</a:t>
            </a:r>
            <a:r>
              <a:rPr lang="en-US" altLang="zh-CN" sz="2000" dirty="0" err="1">
                <a:solidFill>
                  <a:srgbClr val="0000FF"/>
                </a:solidFill>
              </a:rPr>
              <a:t>T</a:t>
            </a:r>
            <a:r>
              <a:rPr lang="en-US" altLang="zh-CN" sz="2000" baseline="-25000" dirty="0" err="1">
                <a:solidFill>
                  <a:srgbClr val="0000FF"/>
                </a:solidFill>
              </a:rPr>
              <a:t>j</a:t>
            </a:r>
            <a:r>
              <a:rPr lang="zh-CN" altLang="en-US" sz="2000" dirty="0"/>
              <a:t>的两条</a:t>
            </a:r>
            <a:r>
              <a:rPr lang="zh-CN" altLang="en-US" sz="2000" b="1" dirty="0">
                <a:solidFill>
                  <a:srgbClr val="FF0000"/>
                </a:solidFill>
              </a:rPr>
              <a:t>连续</a:t>
            </a:r>
            <a:r>
              <a:rPr lang="zh-CN" altLang="en-US" sz="2000" dirty="0">
                <a:solidFill>
                  <a:srgbClr val="FF0000"/>
                </a:solidFill>
              </a:rPr>
              <a:t>指令</a:t>
            </a:r>
            <a:r>
              <a:rPr lang="en-US" altLang="zh-CN" sz="2000" dirty="0">
                <a:solidFill>
                  <a:srgbClr val="FF0000"/>
                </a:solidFill>
              </a:rPr>
              <a:t>l</a:t>
            </a:r>
            <a:r>
              <a:rPr lang="en-US" altLang="zh-CN" sz="2000" baseline="-25000" dirty="0">
                <a:solidFill>
                  <a:srgbClr val="FF0000"/>
                </a:solidFill>
              </a:rPr>
              <a:t>i</a:t>
            </a: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zh-CN" altLang="en-US" sz="2000" dirty="0"/>
              <a:t>和</a:t>
            </a:r>
            <a:r>
              <a:rPr lang="en-US" altLang="zh-CN" sz="2000" dirty="0" err="1">
                <a:solidFill>
                  <a:srgbClr val="FF0000"/>
                </a:solidFill>
              </a:rPr>
              <a:t>l</a:t>
            </a:r>
            <a:r>
              <a:rPr lang="en-US" altLang="zh-CN" sz="2000" baseline="-25000" dirty="0" err="1">
                <a:solidFill>
                  <a:srgbClr val="FF0000"/>
                </a:solidFill>
              </a:rPr>
              <a:t>j</a:t>
            </a:r>
            <a:r>
              <a:rPr lang="zh-CN" altLang="en-US" sz="2000" dirty="0">
                <a:solidFill>
                  <a:srgbClr val="FF0000"/>
                </a:solidFill>
              </a:rPr>
              <a:t>，</a:t>
            </a:r>
            <a:r>
              <a:rPr lang="zh-CN" altLang="en-US" sz="2000" dirty="0"/>
              <a:t>领</a:t>
            </a:r>
            <a:r>
              <a:rPr lang="en-US" altLang="zh-CN" sz="2000" dirty="0">
                <a:solidFill>
                  <a:srgbClr val="0000FF"/>
                </a:solidFill>
              </a:rPr>
              <a:t>I</a:t>
            </a:r>
            <a:r>
              <a:rPr lang="en-US" altLang="zh-CN" sz="2000" baseline="-25000" dirty="0">
                <a:solidFill>
                  <a:srgbClr val="0000FF"/>
                </a:solidFill>
              </a:rPr>
              <a:t>i</a:t>
            </a:r>
            <a:r>
              <a:rPr lang="en-US" altLang="zh-CN" sz="2000" dirty="0">
                <a:solidFill>
                  <a:srgbClr val="0000FF"/>
                </a:solidFill>
              </a:rPr>
              <a:t>=delete(Q)</a:t>
            </a:r>
            <a:r>
              <a:rPr lang="zh-CN" altLang="en-US" sz="2000" dirty="0"/>
              <a:t>，则</a:t>
            </a:r>
            <a:endParaRPr lang="en-US" altLang="zh-CN" sz="2000" dirty="0"/>
          </a:p>
          <a:p>
            <a:pPr lvl="2"/>
            <a:r>
              <a:rPr lang="zh-CN" altLang="en-US" sz="1600" dirty="0"/>
              <a:t>若</a:t>
            </a:r>
            <a:r>
              <a:rPr lang="en-US" altLang="zh-CN" sz="1600" dirty="0" err="1"/>
              <a:t>I</a:t>
            </a:r>
            <a:r>
              <a:rPr lang="en-US" altLang="zh-CN" sz="1600" baseline="-25000" dirty="0" err="1"/>
              <a:t>j</a:t>
            </a:r>
            <a:r>
              <a:rPr lang="en-US" altLang="zh-CN" sz="1600" dirty="0"/>
              <a:t>=read(Q)</a:t>
            </a:r>
            <a:r>
              <a:rPr lang="zh-CN" altLang="en-US" sz="1600" dirty="0"/>
              <a:t>，</a:t>
            </a:r>
            <a:r>
              <a:rPr lang="en-US" altLang="zh-CN" sz="1600" dirty="0">
                <a:solidFill>
                  <a:srgbClr val="0000FF"/>
                </a:solidFill>
              </a:rPr>
              <a:t> l</a:t>
            </a:r>
            <a:r>
              <a:rPr lang="en-US" altLang="zh-CN" sz="1600" baseline="-25000" dirty="0">
                <a:solidFill>
                  <a:srgbClr val="0000FF"/>
                </a:solidFill>
              </a:rPr>
              <a:t>i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zh-CN" altLang="en-US" sz="1600" dirty="0">
                <a:solidFill>
                  <a:srgbClr val="0000FF"/>
                </a:solidFill>
              </a:rPr>
              <a:t>与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</a:rPr>
              <a:t>l</a:t>
            </a:r>
            <a:r>
              <a:rPr lang="en-US" altLang="zh-CN" sz="1600" baseline="-25000" dirty="0" err="1">
                <a:solidFill>
                  <a:srgbClr val="0000FF"/>
                </a:solidFill>
              </a:rPr>
              <a:t>j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zh-CN" altLang="en-US" sz="1600" dirty="0">
                <a:solidFill>
                  <a:srgbClr val="0000FF"/>
                </a:solidFill>
              </a:rPr>
              <a:t>冲突，如果</a:t>
            </a:r>
            <a:r>
              <a:rPr lang="en-US" altLang="zh-CN" sz="1600" dirty="0">
                <a:solidFill>
                  <a:srgbClr val="0000FF"/>
                </a:solidFill>
              </a:rPr>
              <a:t>l</a:t>
            </a:r>
            <a:r>
              <a:rPr lang="en-US" altLang="zh-CN" sz="1600" baseline="-25000" dirty="0">
                <a:solidFill>
                  <a:srgbClr val="0000FF"/>
                </a:solidFill>
              </a:rPr>
              <a:t>i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zh-CN" altLang="en-US" sz="1600" dirty="0">
                <a:solidFill>
                  <a:srgbClr val="0000FF"/>
                </a:solidFill>
              </a:rPr>
              <a:t>在前，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</a:rPr>
              <a:t>T</a:t>
            </a:r>
            <a:r>
              <a:rPr lang="en-US" altLang="zh-CN" sz="1600" baseline="-25000" dirty="0" err="1">
                <a:solidFill>
                  <a:srgbClr val="0000FF"/>
                </a:solidFill>
              </a:rPr>
              <a:t>j</a:t>
            </a:r>
            <a:r>
              <a:rPr lang="en-US" altLang="zh-CN" sz="1600" baseline="-25000" dirty="0">
                <a:solidFill>
                  <a:srgbClr val="0000FF"/>
                </a:solidFill>
              </a:rPr>
              <a:t> </a:t>
            </a:r>
            <a:r>
              <a:rPr lang="zh-CN" altLang="en-US" sz="1600" dirty="0">
                <a:solidFill>
                  <a:srgbClr val="0000FF"/>
                </a:solidFill>
              </a:rPr>
              <a:t>出现</a:t>
            </a:r>
            <a:r>
              <a:rPr lang="zh-CN" altLang="en-US" sz="1600" b="1" dirty="0">
                <a:solidFill>
                  <a:srgbClr val="FF0000"/>
                </a:solidFill>
              </a:rPr>
              <a:t>逻辑错误</a:t>
            </a:r>
            <a:r>
              <a:rPr lang="zh-CN" altLang="en-US" sz="1600" dirty="0">
                <a:solidFill>
                  <a:srgbClr val="0000FF"/>
                </a:solidFill>
              </a:rPr>
              <a:t>；</a:t>
            </a:r>
            <a:endParaRPr lang="en-US" altLang="zh-CN" sz="1600" dirty="0">
              <a:solidFill>
                <a:srgbClr val="0000FF"/>
              </a:solidFill>
            </a:endParaRPr>
          </a:p>
          <a:p>
            <a:pPr lvl="2"/>
            <a:r>
              <a:rPr lang="zh-CN" altLang="en-US" sz="1600" dirty="0"/>
              <a:t>若</a:t>
            </a:r>
            <a:r>
              <a:rPr lang="en-US" altLang="zh-CN" sz="1600" dirty="0" err="1"/>
              <a:t>I</a:t>
            </a:r>
            <a:r>
              <a:rPr lang="en-US" altLang="zh-CN" sz="1600" baseline="-25000" dirty="0" err="1"/>
              <a:t>j</a:t>
            </a:r>
            <a:r>
              <a:rPr lang="en-US" altLang="zh-CN" sz="1600" dirty="0"/>
              <a:t>=write(Q)</a:t>
            </a:r>
            <a:r>
              <a:rPr lang="zh-CN" altLang="en-US" sz="1600" dirty="0"/>
              <a:t>，</a:t>
            </a:r>
            <a:r>
              <a:rPr lang="en-US" altLang="zh-CN" sz="1600" dirty="0">
                <a:solidFill>
                  <a:srgbClr val="0000FF"/>
                </a:solidFill>
              </a:rPr>
              <a:t> l</a:t>
            </a:r>
            <a:r>
              <a:rPr lang="en-US" altLang="zh-CN" sz="1600" baseline="-25000" dirty="0">
                <a:solidFill>
                  <a:srgbClr val="0000FF"/>
                </a:solidFill>
              </a:rPr>
              <a:t>i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zh-CN" altLang="en-US" sz="1600" dirty="0">
                <a:solidFill>
                  <a:srgbClr val="0000FF"/>
                </a:solidFill>
              </a:rPr>
              <a:t>与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</a:rPr>
              <a:t>l</a:t>
            </a:r>
            <a:r>
              <a:rPr lang="en-US" altLang="zh-CN" sz="1600" baseline="-25000" dirty="0" err="1">
                <a:solidFill>
                  <a:srgbClr val="0000FF"/>
                </a:solidFill>
              </a:rPr>
              <a:t>j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zh-CN" altLang="en-US" sz="1600" dirty="0">
                <a:solidFill>
                  <a:srgbClr val="0000FF"/>
                </a:solidFill>
              </a:rPr>
              <a:t>冲突，如果</a:t>
            </a:r>
            <a:r>
              <a:rPr lang="en-US" altLang="zh-CN" sz="1600" dirty="0">
                <a:solidFill>
                  <a:srgbClr val="0000FF"/>
                </a:solidFill>
              </a:rPr>
              <a:t>l</a:t>
            </a:r>
            <a:r>
              <a:rPr lang="en-US" altLang="zh-CN" sz="1600" baseline="-25000" dirty="0">
                <a:solidFill>
                  <a:srgbClr val="0000FF"/>
                </a:solidFill>
              </a:rPr>
              <a:t>i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zh-CN" altLang="en-US" sz="1600" dirty="0">
                <a:solidFill>
                  <a:srgbClr val="0000FF"/>
                </a:solidFill>
              </a:rPr>
              <a:t>在前，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</a:rPr>
              <a:t>T</a:t>
            </a:r>
            <a:r>
              <a:rPr lang="en-US" altLang="zh-CN" sz="1600" baseline="-25000" dirty="0" err="1">
                <a:solidFill>
                  <a:srgbClr val="0000FF"/>
                </a:solidFill>
              </a:rPr>
              <a:t>j</a:t>
            </a:r>
            <a:r>
              <a:rPr lang="en-US" altLang="zh-CN" sz="1600" baseline="-25000" dirty="0">
                <a:solidFill>
                  <a:srgbClr val="0000FF"/>
                </a:solidFill>
              </a:rPr>
              <a:t> </a:t>
            </a:r>
            <a:r>
              <a:rPr lang="zh-CN" altLang="en-US" sz="1600" dirty="0">
                <a:solidFill>
                  <a:srgbClr val="0000FF"/>
                </a:solidFill>
              </a:rPr>
              <a:t>出现</a:t>
            </a:r>
            <a:r>
              <a:rPr lang="zh-CN" altLang="en-US" sz="1600" b="1" dirty="0">
                <a:solidFill>
                  <a:srgbClr val="FF0000"/>
                </a:solidFill>
              </a:rPr>
              <a:t>逻辑错误</a:t>
            </a:r>
            <a:r>
              <a:rPr lang="zh-CN" altLang="en-US" sz="1600" dirty="0">
                <a:solidFill>
                  <a:srgbClr val="0000FF"/>
                </a:solidFill>
              </a:rPr>
              <a:t>；</a:t>
            </a:r>
            <a:endParaRPr lang="en-US" altLang="zh-CN" sz="1600" dirty="0">
              <a:solidFill>
                <a:srgbClr val="0000FF"/>
              </a:solidFill>
            </a:endParaRPr>
          </a:p>
          <a:p>
            <a:pPr lvl="2"/>
            <a:r>
              <a:rPr lang="zh-CN" altLang="en-US" sz="1600" dirty="0"/>
              <a:t>若</a:t>
            </a:r>
            <a:r>
              <a:rPr lang="en-US" altLang="zh-CN" sz="1600" dirty="0" err="1"/>
              <a:t>I</a:t>
            </a:r>
            <a:r>
              <a:rPr lang="en-US" altLang="zh-CN" sz="1600" baseline="-25000" dirty="0" err="1"/>
              <a:t>j</a:t>
            </a:r>
            <a:r>
              <a:rPr lang="en-US" altLang="zh-CN" sz="1600" dirty="0"/>
              <a:t>=delete(Q)</a:t>
            </a:r>
            <a:r>
              <a:rPr lang="zh-CN" altLang="en-US" sz="1600" dirty="0"/>
              <a:t>，</a:t>
            </a:r>
            <a:r>
              <a:rPr lang="en-US" altLang="zh-CN" sz="1600" dirty="0">
                <a:solidFill>
                  <a:srgbClr val="0000FF"/>
                </a:solidFill>
              </a:rPr>
              <a:t> l</a:t>
            </a:r>
            <a:r>
              <a:rPr lang="en-US" altLang="zh-CN" sz="1600" baseline="-25000" dirty="0">
                <a:solidFill>
                  <a:srgbClr val="0000FF"/>
                </a:solidFill>
              </a:rPr>
              <a:t>i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zh-CN" altLang="en-US" sz="1600" dirty="0">
                <a:solidFill>
                  <a:srgbClr val="0000FF"/>
                </a:solidFill>
              </a:rPr>
              <a:t>与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</a:rPr>
              <a:t>l</a:t>
            </a:r>
            <a:r>
              <a:rPr lang="en-US" altLang="zh-CN" sz="1600" baseline="-25000" dirty="0" err="1">
                <a:solidFill>
                  <a:srgbClr val="0000FF"/>
                </a:solidFill>
              </a:rPr>
              <a:t>j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zh-CN" altLang="en-US" sz="1600" dirty="0">
                <a:solidFill>
                  <a:srgbClr val="0000FF"/>
                </a:solidFill>
              </a:rPr>
              <a:t>冲突，如果</a:t>
            </a:r>
            <a:r>
              <a:rPr lang="en-US" altLang="zh-CN" sz="1600" dirty="0">
                <a:solidFill>
                  <a:srgbClr val="0000FF"/>
                </a:solidFill>
              </a:rPr>
              <a:t>l</a:t>
            </a:r>
            <a:r>
              <a:rPr lang="en-US" altLang="zh-CN" sz="1600" baseline="-25000" dirty="0">
                <a:solidFill>
                  <a:srgbClr val="0000FF"/>
                </a:solidFill>
              </a:rPr>
              <a:t>i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zh-CN" altLang="en-US" sz="1600" dirty="0">
                <a:solidFill>
                  <a:srgbClr val="0000FF"/>
                </a:solidFill>
              </a:rPr>
              <a:t>在前，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</a:rPr>
              <a:t>T</a:t>
            </a:r>
            <a:r>
              <a:rPr lang="en-US" altLang="zh-CN" sz="1600" baseline="-25000" dirty="0" err="1">
                <a:solidFill>
                  <a:srgbClr val="0000FF"/>
                </a:solidFill>
              </a:rPr>
              <a:t>j</a:t>
            </a:r>
            <a:r>
              <a:rPr lang="en-US" altLang="zh-CN" sz="1600" baseline="-25000" dirty="0">
                <a:solidFill>
                  <a:srgbClr val="0000FF"/>
                </a:solidFill>
              </a:rPr>
              <a:t> </a:t>
            </a:r>
            <a:r>
              <a:rPr lang="zh-CN" altLang="en-US" sz="1600" dirty="0">
                <a:solidFill>
                  <a:srgbClr val="0000FF"/>
                </a:solidFill>
              </a:rPr>
              <a:t>出现</a:t>
            </a:r>
            <a:r>
              <a:rPr lang="zh-CN" altLang="en-US" sz="1600" b="1" dirty="0">
                <a:solidFill>
                  <a:srgbClr val="FF0000"/>
                </a:solidFill>
              </a:rPr>
              <a:t>逻辑错误</a:t>
            </a:r>
            <a:r>
              <a:rPr lang="zh-CN" altLang="en-US" sz="1600" dirty="0">
                <a:solidFill>
                  <a:srgbClr val="0000FF"/>
                </a:solidFill>
              </a:rPr>
              <a:t>；反之亦然。</a:t>
            </a:r>
            <a:endParaRPr lang="en-US" altLang="zh-CN" sz="1600" dirty="0"/>
          </a:p>
          <a:p>
            <a:pPr lvl="2"/>
            <a:r>
              <a:rPr lang="zh-CN" altLang="en-US" sz="1600" dirty="0">
                <a:solidFill>
                  <a:srgbClr val="0000FF"/>
                </a:solidFill>
              </a:rPr>
              <a:t>若</a:t>
            </a:r>
            <a:r>
              <a:rPr lang="en-US" altLang="zh-CN" sz="1600" dirty="0" err="1">
                <a:solidFill>
                  <a:srgbClr val="0000FF"/>
                </a:solidFill>
              </a:rPr>
              <a:t>I</a:t>
            </a:r>
            <a:r>
              <a:rPr lang="en-US" altLang="zh-CN" sz="1600" baseline="-25000" dirty="0" err="1">
                <a:solidFill>
                  <a:srgbClr val="0000FF"/>
                </a:solidFill>
              </a:rPr>
              <a:t>j</a:t>
            </a:r>
            <a:r>
              <a:rPr lang="en-US" altLang="zh-CN" sz="1600" dirty="0">
                <a:solidFill>
                  <a:srgbClr val="0000FF"/>
                </a:solidFill>
              </a:rPr>
              <a:t>=insert(Q)</a:t>
            </a:r>
            <a:r>
              <a:rPr lang="zh-CN" altLang="en-US" sz="1600" dirty="0">
                <a:solidFill>
                  <a:srgbClr val="0000FF"/>
                </a:solidFill>
              </a:rPr>
              <a:t>，</a:t>
            </a:r>
            <a:r>
              <a:rPr lang="en-US" altLang="zh-CN" sz="1600" dirty="0">
                <a:solidFill>
                  <a:srgbClr val="0000FF"/>
                </a:solidFill>
              </a:rPr>
              <a:t>l</a:t>
            </a:r>
            <a:r>
              <a:rPr lang="en-US" altLang="zh-CN" sz="1600" baseline="-25000" dirty="0">
                <a:solidFill>
                  <a:srgbClr val="0000FF"/>
                </a:solidFill>
              </a:rPr>
              <a:t>i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zh-CN" altLang="en-US" sz="1600" dirty="0">
                <a:solidFill>
                  <a:srgbClr val="0000FF"/>
                </a:solidFill>
              </a:rPr>
              <a:t>与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</a:rPr>
              <a:t>l</a:t>
            </a:r>
            <a:r>
              <a:rPr lang="en-US" altLang="zh-CN" sz="1600" baseline="-25000" dirty="0" err="1">
                <a:solidFill>
                  <a:srgbClr val="0000FF"/>
                </a:solidFill>
              </a:rPr>
              <a:t>j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zh-CN" altLang="en-US" sz="1600" dirty="0">
                <a:solidFill>
                  <a:srgbClr val="0000FF"/>
                </a:solidFill>
              </a:rPr>
              <a:t>冲突，</a:t>
            </a:r>
            <a:r>
              <a:rPr lang="zh-CN" altLang="en-US" sz="1600" u="sng" dirty="0">
                <a:solidFill>
                  <a:srgbClr val="0000FF"/>
                </a:solidFill>
              </a:rPr>
              <a:t>假设数据项 </a:t>
            </a:r>
            <a:r>
              <a:rPr lang="en-US" altLang="zh-CN" sz="1600" u="sng" dirty="0">
                <a:solidFill>
                  <a:srgbClr val="0000FF"/>
                </a:solidFill>
              </a:rPr>
              <a:t>Q</a:t>
            </a:r>
            <a:r>
              <a:rPr lang="zh-CN" altLang="en-US" sz="1600" u="sng" dirty="0">
                <a:solidFill>
                  <a:srgbClr val="0000FF"/>
                </a:solidFill>
              </a:rPr>
              <a:t>在执行</a:t>
            </a:r>
            <a:r>
              <a:rPr lang="en-US" altLang="zh-CN" sz="1600" u="sng" dirty="0">
                <a:solidFill>
                  <a:srgbClr val="0000FF"/>
                </a:solidFill>
              </a:rPr>
              <a:t>l</a:t>
            </a:r>
            <a:r>
              <a:rPr lang="en-US" altLang="zh-CN" sz="1600" u="sng" baseline="-25000" dirty="0">
                <a:solidFill>
                  <a:srgbClr val="0000FF"/>
                </a:solidFill>
              </a:rPr>
              <a:t>i</a:t>
            </a:r>
            <a:r>
              <a:rPr lang="en-US" altLang="zh-CN" sz="1600" u="sng" dirty="0">
                <a:solidFill>
                  <a:srgbClr val="0000FF"/>
                </a:solidFill>
              </a:rPr>
              <a:t> </a:t>
            </a:r>
            <a:r>
              <a:rPr lang="zh-CN" altLang="en-US" sz="1600" u="sng" dirty="0">
                <a:solidFill>
                  <a:srgbClr val="0000FF"/>
                </a:solidFill>
              </a:rPr>
              <a:t>与</a:t>
            </a:r>
            <a:r>
              <a:rPr lang="en-US" altLang="zh-CN" sz="1600" u="sng" dirty="0">
                <a:solidFill>
                  <a:srgbClr val="0000FF"/>
                </a:solidFill>
              </a:rPr>
              <a:t> </a:t>
            </a:r>
            <a:r>
              <a:rPr lang="en-US" altLang="zh-CN" sz="1600" u="sng" dirty="0" err="1">
                <a:solidFill>
                  <a:srgbClr val="0000FF"/>
                </a:solidFill>
              </a:rPr>
              <a:t>l</a:t>
            </a:r>
            <a:r>
              <a:rPr lang="en-US" altLang="zh-CN" sz="1600" u="sng" baseline="-25000" dirty="0" err="1">
                <a:solidFill>
                  <a:srgbClr val="0000FF"/>
                </a:solidFill>
              </a:rPr>
              <a:t>j</a:t>
            </a:r>
            <a:r>
              <a:rPr lang="zh-CN" altLang="en-US" sz="1600" u="sng" dirty="0">
                <a:solidFill>
                  <a:srgbClr val="0000FF"/>
                </a:solidFill>
              </a:rPr>
              <a:t>之前不存在</a:t>
            </a:r>
            <a:r>
              <a:rPr lang="zh-CN" altLang="en-US" sz="1600" dirty="0">
                <a:solidFill>
                  <a:srgbClr val="0000FF"/>
                </a:solidFill>
              </a:rPr>
              <a:t>，如果</a:t>
            </a:r>
            <a:r>
              <a:rPr lang="en-US" altLang="zh-CN" sz="1600" dirty="0">
                <a:solidFill>
                  <a:srgbClr val="0000FF"/>
                </a:solidFill>
              </a:rPr>
              <a:t>l</a:t>
            </a:r>
            <a:r>
              <a:rPr lang="en-US" altLang="zh-CN" sz="1600" baseline="-25000" dirty="0">
                <a:solidFill>
                  <a:srgbClr val="0000FF"/>
                </a:solidFill>
              </a:rPr>
              <a:t>i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zh-CN" altLang="en-US" sz="1600" dirty="0">
                <a:solidFill>
                  <a:srgbClr val="0000FF"/>
                </a:solidFill>
              </a:rPr>
              <a:t>在前，</a:t>
            </a:r>
            <a:r>
              <a:rPr lang="en-US" altLang="zh-CN" sz="1600" dirty="0">
                <a:solidFill>
                  <a:srgbClr val="0000FF"/>
                </a:solidFill>
              </a:rPr>
              <a:t> T</a:t>
            </a:r>
            <a:r>
              <a:rPr lang="en-US" altLang="zh-CN" sz="1600" baseline="-25000" dirty="0">
                <a:solidFill>
                  <a:srgbClr val="0000FF"/>
                </a:solidFill>
              </a:rPr>
              <a:t>i</a:t>
            </a:r>
            <a:r>
              <a:rPr lang="zh-CN" altLang="en-US" sz="1600" dirty="0">
                <a:solidFill>
                  <a:srgbClr val="0000FF"/>
                </a:solidFill>
              </a:rPr>
              <a:t>出现</a:t>
            </a:r>
            <a:r>
              <a:rPr lang="zh-CN" altLang="en-US" sz="1600" b="1" dirty="0">
                <a:solidFill>
                  <a:srgbClr val="FF0000"/>
                </a:solidFill>
              </a:rPr>
              <a:t>逻辑错误</a:t>
            </a:r>
            <a:r>
              <a:rPr lang="zh-CN" altLang="en-US" sz="1600" dirty="0">
                <a:solidFill>
                  <a:srgbClr val="0000FF"/>
                </a:solidFill>
              </a:rPr>
              <a:t>；反之不会。</a:t>
            </a:r>
            <a:endParaRPr lang="en-US" altLang="zh-CN" sz="1600" dirty="0">
              <a:solidFill>
                <a:srgbClr val="0000FF"/>
              </a:solidFill>
            </a:endParaRPr>
          </a:p>
          <a:p>
            <a:r>
              <a:rPr lang="en-US" altLang="zh-CN" sz="2400" dirty="0"/>
              <a:t>insert(Q)</a:t>
            </a:r>
            <a:endParaRPr lang="en-US" altLang="zh-CN" sz="2400" dirty="0"/>
          </a:p>
          <a:p>
            <a:pPr lvl="2"/>
            <a:r>
              <a:rPr lang="zh-CN" altLang="en-US" sz="1600" dirty="0"/>
              <a:t>若</a:t>
            </a:r>
            <a:r>
              <a:rPr lang="en-US" altLang="zh-CN" sz="1600" dirty="0" err="1"/>
              <a:t>I</a:t>
            </a:r>
            <a:r>
              <a:rPr lang="en-US" altLang="zh-CN" sz="1600" baseline="-25000" dirty="0" err="1"/>
              <a:t>j</a:t>
            </a:r>
            <a:r>
              <a:rPr lang="en-US" altLang="zh-CN" sz="1600" dirty="0"/>
              <a:t>=read(Q)</a:t>
            </a:r>
            <a:r>
              <a:rPr lang="zh-CN" altLang="en-US" sz="1600" dirty="0"/>
              <a:t>，</a:t>
            </a:r>
            <a:r>
              <a:rPr lang="en-US" altLang="zh-CN" sz="1600" dirty="0">
                <a:solidFill>
                  <a:srgbClr val="0000FF"/>
                </a:solidFill>
              </a:rPr>
              <a:t> l</a:t>
            </a:r>
            <a:r>
              <a:rPr lang="en-US" altLang="zh-CN" sz="1600" baseline="-25000" dirty="0">
                <a:solidFill>
                  <a:srgbClr val="0000FF"/>
                </a:solidFill>
              </a:rPr>
              <a:t>i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zh-CN" altLang="en-US" sz="1600" dirty="0">
                <a:solidFill>
                  <a:srgbClr val="0000FF"/>
                </a:solidFill>
              </a:rPr>
              <a:t>与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</a:rPr>
              <a:t>l</a:t>
            </a:r>
            <a:r>
              <a:rPr lang="en-US" altLang="zh-CN" sz="1600" baseline="-25000" dirty="0" err="1">
                <a:solidFill>
                  <a:srgbClr val="0000FF"/>
                </a:solidFill>
              </a:rPr>
              <a:t>j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zh-CN" altLang="en-US" sz="1600" dirty="0">
                <a:solidFill>
                  <a:srgbClr val="0000FF"/>
                </a:solidFill>
              </a:rPr>
              <a:t>冲突</a:t>
            </a:r>
            <a:endParaRPr lang="en-US" altLang="zh-CN" sz="1600" dirty="0">
              <a:solidFill>
                <a:srgbClr val="0000FF"/>
              </a:solidFill>
            </a:endParaRPr>
          </a:p>
          <a:p>
            <a:pPr lvl="2"/>
            <a:r>
              <a:rPr lang="zh-CN" altLang="en-US" sz="1600" dirty="0"/>
              <a:t>若</a:t>
            </a:r>
            <a:r>
              <a:rPr lang="en-US" altLang="zh-CN" sz="1600" dirty="0" err="1"/>
              <a:t>I</a:t>
            </a:r>
            <a:r>
              <a:rPr lang="en-US" altLang="zh-CN" sz="1600" baseline="-25000" dirty="0" err="1"/>
              <a:t>j</a:t>
            </a:r>
            <a:r>
              <a:rPr lang="en-US" altLang="zh-CN" sz="1600" dirty="0"/>
              <a:t>=write(Q)</a:t>
            </a:r>
            <a:r>
              <a:rPr lang="zh-CN" altLang="en-US" sz="1600" dirty="0"/>
              <a:t>，</a:t>
            </a:r>
            <a:r>
              <a:rPr lang="en-US" altLang="zh-CN" sz="1600" dirty="0">
                <a:solidFill>
                  <a:srgbClr val="0000FF"/>
                </a:solidFill>
              </a:rPr>
              <a:t> l</a:t>
            </a:r>
            <a:r>
              <a:rPr lang="en-US" altLang="zh-CN" sz="1600" baseline="-25000" dirty="0">
                <a:solidFill>
                  <a:srgbClr val="0000FF"/>
                </a:solidFill>
              </a:rPr>
              <a:t>i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zh-CN" altLang="en-US" sz="1600" dirty="0">
                <a:solidFill>
                  <a:srgbClr val="0000FF"/>
                </a:solidFill>
              </a:rPr>
              <a:t>与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</a:rPr>
              <a:t>l</a:t>
            </a:r>
            <a:r>
              <a:rPr lang="en-US" altLang="zh-CN" sz="1600" baseline="-25000" dirty="0" err="1">
                <a:solidFill>
                  <a:srgbClr val="0000FF"/>
                </a:solidFill>
              </a:rPr>
              <a:t>j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zh-CN" altLang="en-US" sz="1600" dirty="0">
                <a:solidFill>
                  <a:srgbClr val="0000FF"/>
                </a:solidFill>
              </a:rPr>
              <a:t>冲突</a:t>
            </a:r>
            <a:endParaRPr lang="en-US" altLang="zh-CN" sz="1600" dirty="0">
              <a:solidFill>
                <a:srgbClr val="0000FF"/>
              </a:solidFill>
            </a:endParaRPr>
          </a:p>
          <a:p>
            <a:pPr lvl="2"/>
            <a:r>
              <a:rPr lang="zh-CN" altLang="en-US" sz="1600" dirty="0"/>
              <a:t>若</a:t>
            </a:r>
            <a:r>
              <a:rPr lang="en-US" altLang="zh-CN" sz="1600" dirty="0" err="1"/>
              <a:t>I</a:t>
            </a:r>
            <a:r>
              <a:rPr lang="en-US" altLang="zh-CN" sz="1600" baseline="-25000" dirty="0" err="1"/>
              <a:t>j</a:t>
            </a:r>
            <a:r>
              <a:rPr lang="en-US" altLang="zh-CN" sz="1600" dirty="0"/>
              <a:t>=delete(Q)</a:t>
            </a:r>
            <a:r>
              <a:rPr lang="zh-CN" altLang="en-US" sz="1600" dirty="0"/>
              <a:t>，</a:t>
            </a:r>
            <a:r>
              <a:rPr lang="en-US" altLang="zh-CN" sz="1600" dirty="0">
                <a:solidFill>
                  <a:srgbClr val="0000FF"/>
                </a:solidFill>
              </a:rPr>
              <a:t> l</a:t>
            </a:r>
            <a:r>
              <a:rPr lang="en-US" altLang="zh-CN" sz="1600" baseline="-25000" dirty="0">
                <a:solidFill>
                  <a:srgbClr val="0000FF"/>
                </a:solidFill>
              </a:rPr>
              <a:t>i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zh-CN" altLang="en-US" sz="1600" dirty="0">
                <a:solidFill>
                  <a:srgbClr val="0000FF"/>
                </a:solidFill>
              </a:rPr>
              <a:t>与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</a:rPr>
              <a:t>l</a:t>
            </a:r>
            <a:r>
              <a:rPr lang="en-US" altLang="zh-CN" sz="1600" baseline="-25000" dirty="0" err="1">
                <a:solidFill>
                  <a:srgbClr val="0000FF"/>
                </a:solidFill>
              </a:rPr>
              <a:t>j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zh-CN" altLang="en-US" sz="1600" dirty="0">
                <a:solidFill>
                  <a:srgbClr val="0000FF"/>
                </a:solidFill>
              </a:rPr>
              <a:t>冲突</a:t>
            </a:r>
            <a:endParaRPr lang="en-US" altLang="zh-CN" sz="1600" dirty="0"/>
          </a:p>
          <a:p>
            <a:pPr lvl="2"/>
            <a:endParaRPr lang="en-US" altLang="zh-CN" sz="1600" dirty="0"/>
          </a:p>
          <a:p>
            <a:pPr lvl="1"/>
            <a:endParaRPr lang="zh-CN" altLang="en-US" sz="2000" dirty="0"/>
          </a:p>
          <a:p>
            <a:endParaRPr lang="zh-CN" altLang="en-US" sz="2800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14.4 </a:t>
            </a:r>
            <a:r>
              <a:rPr lang="zh-CN" altLang="en-US" dirty="0"/>
              <a:t>插入操作、删除操作与谓词读</a:t>
            </a:r>
            <a:r>
              <a:rPr lang="en-US" altLang="zh-CN" dirty="0"/>
              <a:t>(</a:t>
            </a:r>
            <a:r>
              <a:rPr lang="zh-CN" altLang="en-US" dirty="0"/>
              <a:t>了解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9A12-EFF7-41DA-ADFA-33B57CE6A0B0}" type="datetime1">
              <a:rPr lang="zh-CN" altLang="en-US" smtClean="0"/>
            </a:fld>
            <a:endParaRPr lang="en-US" altLang="zh-CN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47800"/>
            <a:ext cx="7994848" cy="5293568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zh-CN" altLang="en-US" sz="2800" dirty="0"/>
              <a:t>如果使用两阶段锁</a:t>
            </a:r>
            <a:endParaRPr lang="en-US" altLang="zh-CN" sz="2800" dirty="0"/>
          </a:p>
          <a:p>
            <a:pPr lvl="1" eaLnBrk="1" hangingPunct="1"/>
            <a:r>
              <a:rPr lang="zh-CN" altLang="en-US" sz="2400" dirty="0"/>
              <a:t>仅当删除元组的事务持有待删除元组上的</a:t>
            </a:r>
            <a:r>
              <a:rPr lang="zh-CN" altLang="en-US" sz="2400" b="1" dirty="0">
                <a:solidFill>
                  <a:srgbClr val="0000FF"/>
                </a:solidFill>
              </a:rPr>
              <a:t>排它锁</a:t>
            </a:r>
            <a:r>
              <a:rPr lang="zh-CN" altLang="en-US" sz="2400" dirty="0"/>
              <a:t>时，</a:t>
            </a:r>
            <a:r>
              <a:rPr lang="en-US" altLang="zh-CN" sz="2400" b="0" dirty="0">
                <a:solidFill>
                  <a:srgbClr val="0000FF"/>
                </a:solidFill>
              </a:rPr>
              <a:t>delete</a:t>
            </a:r>
            <a:r>
              <a:rPr lang="en-US" altLang="zh-CN" sz="2400" dirty="0">
                <a:solidFill>
                  <a:srgbClr val="0000FF"/>
                </a:solidFill>
              </a:rPr>
              <a:t> </a:t>
            </a:r>
            <a:r>
              <a:rPr lang="zh-CN" altLang="en-US" sz="2400" dirty="0">
                <a:solidFill>
                  <a:srgbClr val="0000FF"/>
                </a:solidFill>
              </a:rPr>
              <a:t>操作才可以被执行</a:t>
            </a:r>
            <a:endParaRPr lang="en-US" altLang="zh-CN" dirty="0">
              <a:solidFill>
                <a:srgbClr val="0000FF"/>
              </a:solidFill>
            </a:endParaRPr>
          </a:p>
          <a:p>
            <a:pPr lvl="1" eaLnBrk="1" hangingPunct="1"/>
            <a:r>
              <a:rPr lang="zh-CN" altLang="en-US" sz="2400" dirty="0"/>
              <a:t>向数据库</a:t>
            </a:r>
            <a:r>
              <a:rPr lang="zh-CN" altLang="en-US" sz="2400" dirty="0">
                <a:solidFill>
                  <a:srgbClr val="0000FF"/>
                </a:solidFill>
              </a:rPr>
              <a:t>插入</a:t>
            </a:r>
            <a:r>
              <a:rPr lang="zh-CN" altLang="en-US" sz="2400" dirty="0"/>
              <a:t>一条新元组的事务需获得该元组上的</a:t>
            </a:r>
            <a:r>
              <a:rPr lang="zh-CN" altLang="en-US" sz="2400" b="1" dirty="0">
                <a:solidFill>
                  <a:srgbClr val="0000FF"/>
                </a:solidFill>
              </a:rPr>
              <a:t>排它锁</a:t>
            </a:r>
            <a:endParaRPr lang="zh-CN" altLang="en-US" sz="2400" b="1" dirty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sz="2800" dirty="0"/>
              <a:t>如果使用时间戳协议</a:t>
            </a:r>
            <a:endParaRPr lang="en-US" altLang="zh-CN" sz="2800" dirty="0"/>
          </a:p>
          <a:p>
            <a:pPr lvl="1" eaLnBrk="1" hangingPunct="1"/>
            <a:r>
              <a:rPr lang="zh-CN" altLang="en-US" sz="2400" dirty="0"/>
              <a:t>删除处理类似于</a:t>
            </a:r>
            <a:r>
              <a:rPr lang="en-US" altLang="zh-CN" sz="2400" dirty="0"/>
              <a:t>Write</a:t>
            </a:r>
            <a:r>
              <a:rPr lang="zh-CN" altLang="en-US" sz="2400" dirty="0"/>
              <a:t>操作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插入操作创建一个新的数据，设置读写时间戳</a:t>
            </a:r>
            <a:endParaRPr lang="en-US" altLang="zh-CN" sz="2400" dirty="0"/>
          </a:p>
          <a:p>
            <a:pPr eaLnBrk="1" hangingPunct="1"/>
            <a:r>
              <a:rPr lang="zh-CN" altLang="en-US" sz="2800" dirty="0"/>
              <a:t>但是</a:t>
            </a:r>
            <a:endParaRPr lang="zh-CN" altLang="en-US" sz="2800" dirty="0"/>
          </a:p>
          <a:p>
            <a:pPr lvl="1" eaLnBrk="1" hangingPunct="1"/>
            <a:r>
              <a:rPr lang="zh-CN" altLang="en-US" sz="2400" dirty="0"/>
              <a:t>插入和删除可能带来</a:t>
            </a:r>
            <a:r>
              <a:rPr lang="zh-CN" altLang="en-US" sz="2400" dirty="0">
                <a:solidFill>
                  <a:srgbClr val="FF0000"/>
                </a:solidFill>
              </a:rPr>
              <a:t>幻象</a:t>
            </a:r>
            <a:r>
              <a:rPr lang="zh-CN" altLang="en-US" sz="2400" dirty="0"/>
              <a:t>现象</a:t>
            </a:r>
            <a:endParaRPr lang="zh-CN" altLang="en-US" sz="24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插入和删除操作的幻象现象</a:t>
            </a:r>
            <a:r>
              <a:rPr lang="en-US" altLang="zh-CN" dirty="0"/>
              <a:t>(</a:t>
            </a:r>
            <a:r>
              <a:rPr lang="zh-CN" altLang="en-US" dirty="0"/>
              <a:t>了解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6900" y="1560513"/>
            <a:ext cx="8383588" cy="5297487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endParaRPr lang="en-US" altLang="zh-CN" sz="1900" dirty="0"/>
          </a:p>
          <a:p>
            <a:pPr eaLnBrk="1" hangingPunct="1">
              <a:lnSpc>
                <a:spcPct val="110000"/>
              </a:lnSpc>
            </a:pPr>
            <a:endParaRPr lang="en-US" altLang="zh-CN" sz="1900" dirty="0"/>
          </a:p>
          <a:p>
            <a:pPr eaLnBrk="1" hangingPunct="1">
              <a:lnSpc>
                <a:spcPct val="110000"/>
              </a:lnSpc>
            </a:pPr>
            <a:endParaRPr lang="en-US" altLang="zh-CN" sz="1900" dirty="0"/>
          </a:p>
          <a:p>
            <a:pPr eaLnBrk="1" hangingPunct="1">
              <a:lnSpc>
                <a:spcPct val="110000"/>
              </a:lnSpc>
            </a:pPr>
            <a:endParaRPr lang="en-US" altLang="zh-CN" sz="1900" dirty="0"/>
          </a:p>
          <a:p>
            <a:pPr eaLnBrk="1" hangingPunct="1">
              <a:lnSpc>
                <a:spcPct val="110000"/>
              </a:lnSpc>
            </a:pPr>
            <a:endParaRPr lang="en-US" altLang="zh-CN" sz="1900" dirty="0"/>
          </a:p>
          <a:p>
            <a:pPr eaLnBrk="1" hangingPunct="1">
              <a:lnSpc>
                <a:spcPct val="110000"/>
              </a:lnSpc>
            </a:pPr>
            <a:endParaRPr lang="en-US" altLang="zh-CN" sz="1900" dirty="0"/>
          </a:p>
          <a:p>
            <a:pPr eaLnBrk="1" hangingPunct="1">
              <a:lnSpc>
                <a:spcPct val="110000"/>
              </a:lnSpc>
            </a:pPr>
            <a:endParaRPr lang="en-US" altLang="zh-CN" sz="1900" dirty="0"/>
          </a:p>
          <a:p>
            <a:pPr lvl="1" eaLnBrk="1" hangingPunct="1">
              <a:lnSpc>
                <a:spcPct val="110000"/>
              </a:lnSpc>
            </a:pPr>
            <a:endParaRPr lang="zh-CN" altLang="en-US" sz="1900" dirty="0"/>
          </a:p>
          <a:p>
            <a:pPr lvl="1" eaLnBrk="1" hangingPunct="1">
              <a:lnSpc>
                <a:spcPct val="110000"/>
              </a:lnSpc>
            </a:pPr>
            <a:endParaRPr lang="zh-CN" altLang="en-US" sz="1900" dirty="0"/>
          </a:p>
          <a:p>
            <a:pPr lvl="1" eaLnBrk="1" hangingPunct="1">
              <a:lnSpc>
                <a:spcPct val="110000"/>
              </a:lnSpc>
            </a:pPr>
            <a:r>
              <a:rPr lang="zh-CN" altLang="en-US" sz="1900" dirty="0"/>
              <a:t>扫描关系的事务</a:t>
            </a:r>
            <a:r>
              <a:rPr lang="en-US" altLang="zh-CN" sz="1900" dirty="0"/>
              <a:t> (</a:t>
            </a:r>
            <a:r>
              <a:rPr lang="zh-CN" altLang="en-US" sz="1900" dirty="0"/>
              <a:t>例如查找所有</a:t>
            </a:r>
            <a:r>
              <a:rPr lang="en-US" altLang="zh-CN" sz="1900" dirty="0"/>
              <a:t>rank&gt;3</a:t>
            </a:r>
            <a:r>
              <a:rPr lang="zh-CN" altLang="en-US" sz="1900" dirty="0"/>
              <a:t>的人数</a:t>
            </a:r>
            <a:r>
              <a:rPr lang="en-US" altLang="zh-CN" sz="1900" dirty="0"/>
              <a:t>) </a:t>
            </a:r>
            <a:r>
              <a:rPr lang="zh-CN" altLang="en-US" sz="1900" dirty="0"/>
              <a:t>和向关系中插入元组的事务</a:t>
            </a:r>
            <a:r>
              <a:rPr lang="en-US" altLang="zh-CN" sz="1900" dirty="0"/>
              <a:t> (</a:t>
            </a:r>
            <a:r>
              <a:rPr lang="zh-CN" altLang="en-US" sz="1900" dirty="0"/>
              <a:t>例如插入一个</a:t>
            </a:r>
            <a:r>
              <a:rPr lang="en-US" altLang="zh-CN" sz="1900" dirty="0"/>
              <a:t>rank&gt;3</a:t>
            </a:r>
            <a:r>
              <a:rPr lang="zh-CN" altLang="en-US" sz="1900" dirty="0"/>
              <a:t>的人)，尽管不存取任何共同的元组也可能冲突，影响事务的隔离性</a:t>
            </a:r>
            <a:endParaRPr lang="en-US" altLang="zh-CN" sz="1900" dirty="0"/>
          </a:p>
          <a:p>
            <a:pPr lvl="1" eaLnBrk="1" hangingPunct="1">
              <a:lnSpc>
                <a:spcPct val="110000"/>
              </a:lnSpc>
            </a:pPr>
            <a:r>
              <a:rPr lang="zh-CN" altLang="en-US" sz="1900" dirty="0"/>
              <a:t>如果</a:t>
            </a:r>
            <a:r>
              <a:rPr lang="zh-CN" altLang="en-US" sz="1900" b="1" dirty="0">
                <a:solidFill>
                  <a:srgbClr val="0000FF"/>
                </a:solidFill>
              </a:rPr>
              <a:t>只使用元组锁</a:t>
            </a:r>
            <a:r>
              <a:rPr lang="zh-CN" altLang="en-US" sz="1900" dirty="0"/>
              <a:t>，无法发现这种冲突，因为</a:t>
            </a:r>
            <a:r>
              <a:rPr lang="zh-CN" altLang="en-US" sz="1900" u="sng" dirty="0"/>
              <a:t>锁加在不同的元组</a:t>
            </a:r>
            <a:r>
              <a:rPr lang="zh-CN" altLang="en-US" sz="1900" dirty="0"/>
              <a:t>之上</a:t>
            </a:r>
            <a:endParaRPr lang="zh-CN" altLang="en-US" sz="1900" dirty="0"/>
          </a:p>
        </p:txBody>
      </p:sp>
      <p:grpSp>
        <p:nvGrpSpPr>
          <p:cNvPr id="74757" name="Group 22"/>
          <p:cNvGrpSpPr/>
          <p:nvPr/>
        </p:nvGrpSpPr>
        <p:grpSpPr bwMode="auto">
          <a:xfrm>
            <a:off x="1163638" y="1489075"/>
            <a:ext cx="7693025" cy="3248025"/>
            <a:chOff x="472" y="732"/>
            <a:chExt cx="4846" cy="2046"/>
          </a:xfrm>
        </p:grpSpPr>
        <p:sp>
          <p:nvSpPr>
            <p:cNvPr id="74758" name="Text Box 4"/>
            <p:cNvSpPr txBox="1">
              <a:spLocks noChangeArrowheads="1"/>
            </p:cNvSpPr>
            <p:nvPr/>
          </p:nvSpPr>
          <p:spPr bwMode="auto">
            <a:xfrm>
              <a:off x="537" y="1978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 i="0">
                  <a:latin typeface="Comic Sans MS" panose="030F0702030302020204" pitchFamily="66" charset="0"/>
                </a:rPr>
                <a:t>T</a:t>
              </a:r>
              <a:r>
                <a:rPr lang="en-US" altLang="zh-CN" sz="2000" b="0" i="0" baseline="-25000">
                  <a:latin typeface="Comic Sans MS" panose="030F0702030302020204" pitchFamily="66" charset="0"/>
                </a:rPr>
                <a:t>2</a:t>
              </a:r>
              <a:endParaRPr lang="en-US" altLang="zh-CN" sz="2000" b="0" i="0" baseline="-25000">
                <a:latin typeface="Comic Sans MS" panose="030F0702030302020204" pitchFamily="66" charset="0"/>
              </a:endParaRPr>
            </a:p>
          </p:txBody>
        </p:sp>
        <p:sp>
          <p:nvSpPr>
            <p:cNvPr id="74759" name="Text Box 5"/>
            <p:cNvSpPr txBox="1">
              <a:spLocks noChangeArrowheads="1"/>
            </p:cNvSpPr>
            <p:nvPr/>
          </p:nvSpPr>
          <p:spPr bwMode="auto">
            <a:xfrm>
              <a:off x="545" y="1018"/>
              <a:ext cx="2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 i="0">
                  <a:latin typeface="Comic Sans MS" panose="030F0702030302020204" pitchFamily="66" charset="0"/>
                </a:rPr>
                <a:t>T</a:t>
              </a:r>
              <a:r>
                <a:rPr lang="en-US" altLang="zh-CN" sz="2000" b="0" i="0" baseline="-25000">
                  <a:latin typeface="Comic Sans MS" panose="030F0702030302020204" pitchFamily="66" charset="0"/>
                </a:rPr>
                <a:t>1</a:t>
              </a:r>
              <a:endParaRPr lang="en-US" altLang="zh-CN" sz="2000" b="0" i="0" baseline="-25000">
                <a:latin typeface="Comic Sans MS" panose="030F0702030302020204" pitchFamily="66" charset="0"/>
              </a:endParaRPr>
            </a:p>
          </p:txBody>
        </p:sp>
        <p:sp>
          <p:nvSpPr>
            <p:cNvPr id="74760" name="Line 6"/>
            <p:cNvSpPr>
              <a:spLocks noChangeShapeType="1"/>
            </p:cNvSpPr>
            <p:nvPr/>
          </p:nvSpPr>
          <p:spPr bwMode="auto">
            <a:xfrm>
              <a:off x="518" y="1574"/>
              <a:ext cx="4800" cy="0"/>
            </a:xfrm>
            <a:prstGeom prst="line">
              <a:avLst/>
            </a:prstGeom>
            <a:noFill/>
            <a:ln w="31750">
              <a:solidFill>
                <a:schemeClr val="tx2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761" name="Text Box 7"/>
            <p:cNvSpPr txBox="1">
              <a:spLocks noChangeArrowheads="1"/>
            </p:cNvSpPr>
            <p:nvPr/>
          </p:nvSpPr>
          <p:spPr bwMode="auto">
            <a:xfrm>
              <a:off x="472" y="1571"/>
              <a:ext cx="371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0" i="0">
                  <a:solidFill>
                    <a:schemeClr val="tx2"/>
                  </a:solidFill>
                  <a:latin typeface="Comic Sans MS" panose="030F0702030302020204" pitchFamily="66" charset="0"/>
                </a:rPr>
                <a:t>Time</a:t>
              </a:r>
              <a:endParaRPr lang="en-US" altLang="zh-CN" sz="1400" b="0" i="0">
                <a:latin typeface="Comic Sans MS" panose="030F0702030302020204" pitchFamily="66" charset="0"/>
              </a:endParaRPr>
            </a:p>
          </p:txBody>
        </p:sp>
        <p:sp>
          <p:nvSpPr>
            <p:cNvPr id="704520" name="Text Box 8"/>
            <p:cNvSpPr txBox="1">
              <a:spLocks noChangeArrowheads="1"/>
            </p:cNvSpPr>
            <p:nvPr/>
          </p:nvSpPr>
          <p:spPr bwMode="auto">
            <a:xfrm>
              <a:off x="956" y="2068"/>
              <a:ext cx="1359" cy="7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chemeClr val="tx2"/>
                      </a:gs>
                      <a:gs pos="50000">
                        <a:schemeClr val="tx2">
                          <a:gamma/>
                          <a:shade val="46275"/>
                          <a:invGamma/>
                        </a:schemeClr>
                      </a:gs>
                      <a:gs pos="100000">
                        <a:schemeClr val="tx2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85000"/>
                </a:lnSpc>
                <a:defRPr/>
              </a:pPr>
              <a:r>
                <a:rPr lang="en-US" altLang="zh-CN" sz="2000" i="0">
                  <a:latin typeface="Comic Sans MS" panose="030F0702030302020204" pitchFamily="66" charset="0"/>
                  <a:ea typeface="宋体" panose="02010600030101010101" pitchFamily="2" charset="-122"/>
                </a:rPr>
                <a:t>Select count (*) </a:t>
              </a:r>
              <a:br>
                <a:rPr lang="en-US" altLang="zh-CN" sz="2000" i="0">
                  <a:latin typeface="Comic Sans MS" panose="030F0702030302020204" pitchFamily="66" charset="0"/>
                  <a:ea typeface="宋体" panose="02010600030101010101" pitchFamily="2" charset="-122"/>
                </a:rPr>
              </a:br>
              <a:r>
                <a:rPr lang="en-US" altLang="zh-CN" sz="2000" i="0">
                  <a:latin typeface="Comic Sans MS" panose="030F0702030302020204" pitchFamily="66" charset="0"/>
                  <a:ea typeface="宋体" panose="02010600030101010101" pitchFamily="2" charset="-122"/>
                </a:rPr>
                <a:t>where rank &gt; 3</a:t>
              </a:r>
              <a:br>
                <a:rPr lang="en-US" altLang="zh-CN" sz="2000" i="0">
                  <a:latin typeface="Comic Sans MS" panose="030F0702030302020204" pitchFamily="66" charset="0"/>
                  <a:ea typeface="宋体" panose="02010600030101010101" pitchFamily="2" charset="-122"/>
                </a:rPr>
              </a:br>
              <a:endParaRPr lang="en-US" altLang="zh-CN" sz="2000" i="0">
                <a:latin typeface="Comic Sans MS" panose="030F0702030302020204" pitchFamily="66" charset="0"/>
                <a:ea typeface="宋体" panose="02010600030101010101" pitchFamily="2" charset="-122"/>
              </a:endParaRPr>
            </a:p>
            <a:p>
              <a:pPr algn="ctr">
                <a:lnSpc>
                  <a:spcPct val="85000"/>
                </a:lnSpc>
                <a:defRPr/>
              </a:pPr>
              <a:r>
                <a:rPr lang="en-US" altLang="zh-CN" sz="2000" i="0">
                  <a:latin typeface="Comic Sans MS" panose="030F0702030302020204" pitchFamily="66" charset="0"/>
                  <a:ea typeface="宋体" panose="02010600030101010101" pitchFamily="2" charset="-122"/>
                </a:rPr>
                <a:t>2 rows returned</a:t>
              </a:r>
              <a:endParaRPr lang="en-US" altLang="zh-CN" sz="2000" i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grpSp>
          <p:nvGrpSpPr>
            <p:cNvPr id="74763" name="Group 9"/>
            <p:cNvGrpSpPr/>
            <p:nvPr/>
          </p:nvGrpSpPr>
          <p:grpSpPr bwMode="auto">
            <a:xfrm>
              <a:off x="2080" y="732"/>
              <a:ext cx="904" cy="712"/>
              <a:chOff x="2022" y="804"/>
              <a:chExt cx="904" cy="712"/>
            </a:xfrm>
          </p:grpSpPr>
          <p:sp>
            <p:nvSpPr>
              <p:cNvPr id="704522" name="AutoShape 10"/>
              <p:cNvSpPr>
                <a:spLocks noChangeArrowheads="1"/>
              </p:cNvSpPr>
              <p:nvPr/>
            </p:nvSpPr>
            <p:spPr bwMode="auto">
              <a:xfrm>
                <a:off x="2254" y="1132"/>
                <a:ext cx="672" cy="384"/>
              </a:xfrm>
              <a:prstGeom prst="lightningBolt">
                <a:avLst/>
              </a:prstGeom>
              <a:gradFill rotWithShape="0">
                <a:gsLst>
                  <a:gs pos="0">
                    <a:schemeClr val="accent1"/>
                  </a:gs>
                  <a:gs pos="5000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635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lnSpc>
                    <a:spcPct val="90000"/>
                  </a:lnSpc>
                  <a:defRPr/>
                </a:pPr>
                <a:r>
                  <a:rPr lang="en-US" altLang="zh-CN" sz="2000" b="1" i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Comic Sans MS" panose="030F0702030302020204" pitchFamily="66" charset="0"/>
                    <a:ea typeface="宋体" panose="02010600030101010101" pitchFamily="2" charset="-122"/>
                  </a:rPr>
                  <a:t>Insert</a:t>
                </a:r>
                <a:endParaRPr lang="en-US" altLang="zh-CN" sz="2000" b="1" i="0"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04523" name="AutoShape 11"/>
              <p:cNvSpPr>
                <a:spLocks noChangeArrowheads="1"/>
              </p:cNvSpPr>
              <p:nvPr/>
            </p:nvSpPr>
            <p:spPr bwMode="auto">
              <a:xfrm>
                <a:off x="2022" y="804"/>
                <a:ext cx="672" cy="288"/>
              </a:xfrm>
              <a:prstGeom prst="roundRect">
                <a:avLst>
                  <a:gd name="adj" fmla="val 16667"/>
                </a:avLst>
              </a:prstGeom>
              <a:gradFill rotWithShape="0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lnSpc>
                    <a:spcPct val="90000"/>
                  </a:lnSpc>
                  <a:defRPr/>
                </a:pPr>
                <a:r>
                  <a:rPr lang="en-US" altLang="zh-CN" sz="2000" b="1" i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  <a:ea typeface="宋体" panose="02010600030101010101" pitchFamily="2" charset="-122"/>
                  </a:rPr>
                  <a:t>Jones,6</a:t>
                </a:r>
                <a:endParaRPr lang="en-US" altLang="zh-CN" sz="2000" b="1" i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74764" name="Group 12"/>
            <p:cNvGrpSpPr/>
            <p:nvPr/>
          </p:nvGrpSpPr>
          <p:grpSpPr bwMode="auto">
            <a:xfrm>
              <a:off x="2974" y="1046"/>
              <a:ext cx="1693" cy="1056"/>
              <a:chOff x="2974" y="1100"/>
              <a:chExt cx="1693" cy="1056"/>
            </a:xfrm>
          </p:grpSpPr>
          <p:sp>
            <p:nvSpPr>
              <p:cNvPr id="704525" name="Oval 13"/>
              <p:cNvSpPr>
                <a:spLocks noChangeArrowheads="1"/>
              </p:cNvSpPr>
              <p:nvPr/>
            </p:nvSpPr>
            <p:spPr bwMode="auto">
              <a:xfrm>
                <a:off x="2974" y="1100"/>
                <a:ext cx="1693" cy="105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635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04526" name="AutoShape 14"/>
              <p:cNvSpPr>
                <a:spLocks noChangeArrowheads="1"/>
              </p:cNvSpPr>
              <p:nvPr/>
            </p:nvSpPr>
            <p:spPr bwMode="auto">
              <a:xfrm>
                <a:off x="3880" y="1434"/>
                <a:ext cx="672" cy="288"/>
              </a:xfrm>
              <a:prstGeom prst="roundRect">
                <a:avLst>
                  <a:gd name="adj" fmla="val 16667"/>
                </a:avLst>
              </a:prstGeom>
              <a:gradFill rotWithShape="0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lnSpc>
                    <a:spcPct val="90000"/>
                  </a:lnSpc>
                  <a:defRPr/>
                </a:pPr>
                <a:r>
                  <a:rPr lang="en-US" altLang="zh-CN" sz="2000" b="1" i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  <a:ea typeface="宋体" panose="02010600030101010101" pitchFamily="2" charset="-122"/>
                  </a:rPr>
                  <a:t>Smith,4</a:t>
                </a:r>
                <a:endParaRPr lang="en-US" altLang="zh-CN" sz="2000" b="1" i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04527" name="AutoShape 15"/>
              <p:cNvSpPr>
                <a:spLocks noChangeArrowheads="1"/>
              </p:cNvSpPr>
              <p:nvPr/>
            </p:nvSpPr>
            <p:spPr bwMode="auto">
              <a:xfrm>
                <a:off x="3320" y="1762"/>
                <a:ext cx="768" cy="288"/>
              </a:xfrm>
              <a:prstGeom prst="roundRect">
                <a:avLst>
                  <a:gd name="adj" fmla="val 16667"/>
                </a:avLst>
              </a:prstGeom>
              <a:gradFill rotWithShape="0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lnSpc>
                    <a:spcPct val="90000"/>
                  </a:lnSpc>
                  <a:defRPr/>
                </a:pPr>
                <a:r>
                  <a:rPr lang="en-US" altLang="zh-CN" sz="2000" b="1" i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  <a:ea typeface="宋体" panose="02010600030101010101" pitchFamily="2" charset="-122"/>
                  </a:rPr>
                  <a:t>Brewer,7</a:t>
                </a:r>
                <a:endParaRPr lang="en-US" altLang="zh-CN" sz="2000" b="1" i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04528" name="AutoShape 16"/>
              <p:cNvSpPr>
                <a:spLocks noChangeArrowheads="1"/>
              </p:cNvSpPr>
              <p:nvPr/>
            </p:nvSpPr>
            <p:spPr bwMode="auto">
              <a:xfrm>
                <a:off x="3166" y="1322"/>
                <a:ext cx="672" cy="288"/>
              </a:xfrm>
              <a:prstGeom prst="roundRect">
                <a:avLst>
                  <a:gd name="adj" fmla="val 16667"/>
                </a:avLst>
              </a:prstGeom>
              <a:gradFill rotWithShape="0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lnSpc>
                    <a:spcPct val="90000"/>
                  </a:lnSpc>
                  <a:defRPr/>
                </a:pPr>
                <a:r>
                  <a:rPr lang="en-US" altLang="zh-CN" sz="2000" b="1" i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  <a:ea typeface="宋体" panose="02010600030101010101" pitchFamily="2" charset="-122"/>
                  </a:rPr>
                  <a:t>Jones,6</a:t>
                </a:r>
                <a:endParaRPr lang="en-US" altLang="zh-CN" sz="2000" b="1" i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04529" name="Oval 17"/>
            <p:cNvSpPr>
              <a:spLocks noChangeArrowheads="1"/>
            </p:cNvSpPr>
            <p:nvPr/>
          </p:nvSpPr>
          <p:spPr bwMode="auto">
            <a:xfrm>
              <a:off x="794" y="1046"/>
              <a:ext cx="1585" cy="1056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04530" name="AutoShape 18"/>
            <p:cNvSpPr>
              <a:spLocks noChangeArrowheads="1"/>
            </p:cNvSpPr>
            <p:nvPr/>
          </p:nvSpPr>
          <p:spPr bwMode="auto">
            <a:xfrm>
              <a:off x="1504" y="1258"/>
              <a:ext cx="672" cy="288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altLang="zh-CN" sz="2000" b="1" i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</a:rPr>
                <a:t>Smith,4</a:t>
              </a:r>
              <a:endParaRPr lang="en-US" altLang="zh-CN" sz="2000" b="1" i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04531" name="AutoShape 19"/>
            <p:cNvSpPr>
              <a:spLocks noChangeArrowheads="1"/>
            </p:cNvSpPr>
            <p:nvPr/>
          </p:nvSpPr>
          <p:spPr bwMode="auto">
            <a:xfrm>
              <a:off x="1040" y="1604"/>
              <a:ext cx="768" cy="288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altLang="zh-CN" sz="2000" b="1" i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</a:rPr>
                <a:t>Brewer,7</a:t>
              </a:r>
              <a:endParaRPr lang="en-US" altLang="zh-CN" sz="2000" b="1" i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04532" name="Text Box 20"/>
            <p:cNvSpPr txBox="1">
              <a:spLocks noChangeArrowheads="1"/>
            </p:cNvSpPr>
            <p:nvPr/>
          </p:nvSpPr>
          <p:spPr bwMode="auto">
            <a:xfrm>
              <a:off x="3116" y="2058"/>
              <a:ext cx="1359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chemeClr val="tx2"/>
                      </a:gs>
                      <a:gs pos="50000">
                        <a:schemeClr val="tx2">
                          <a:gamma/>
                          <a:shade val="46275"/>
                          <a:invGamma/>
                        </a:schemeClr>
                      </a:gs>
                      <a:gs pos="100000">
                        <a:schemeClr val="tx2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85000"/>
                </a:lnSpc>
                <a:defRPr/>
              </a:pPr>
              <a:r>
                <a:rPr lang="en-US" altLang="zh-CN" sz="2000" i="0">
                  <a:latin typeface="Comic Sans MS" panose="030F0702030302020204" pitchFamily="66" charset="0"/>
                  <a:ea typeface="宋体" panose="02010600030101010101" pitchFamily="2" charset="-122"/>
                </a:rPr>
                <a:t>Select count (*) </a:t>
              </a:r>
              <a:br>
                <a:rPr lang="en-US" altLang="zh-CN" sz="2000" i="0">
                  <a:latin typeface="Comic Sans MS" panose="030F0702030302020204" pitchFamily="66" charset="0"/>
                  <a:ea typeface="宋体" panose="02010600030101010101" pitchFamily="2" charset="-122"/>
                </a:rPr>
              </a:br>
              <a:r>
                <a:rPr lang="en-US" altLang="zh-CN" sz="2000" i="0">
                  <a:latin typeface="Comic Sans MS" panose="030F0702030302020204" pitchFamily="66" charset="0"/>
                  <a:ea typeface="宋体" panose="02010600030101010101" pitchFamily="2" charset="-122"/>
                </a:rPr>
                <a:t>where rank &gt; 3</a:t>
              </a:r>
              <a:endParaRPr lang="en-US" altLang="zh-CN" sz="2000" i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704533" name="Text Box 21"/>
            <p:cNvSpPr txBox="1">
              <a:spLocks noChangeArrowheads="1"/>
            </p:cNvSpPr>
            <p:nvPr/>
          </p:nvSpPr>
          <p:spPr bwMode="auto">
            <a:xfrm>
              <a:off x="3140" y="2557"/>
              <a:ext cx="1324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chemeClr val="tx2"/>
                      </a:gs>
                      <a:gs pos="50000">
                        <a:schemeClr val="tx2">
                          <a:gamma/>
                          <a:shade val="46275"/>
                          <a:invGamma/>
                        </a:schemeClr>
                      </a:gs>
                      <a:gs pos="100000">
                        <a:schemeClr val="tx2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85000"/>
                </a:lnSpc>
                <a:defRPr/>
              </a:pPr>
              <a:r>
                <a:rPr lang="en-US" altLang="zh-CN" sz="2000" i="0" dirty="0">
                  <a:latin typeface="Comic Sans MS" panose="030F0702030302020204" pitchFamily="66" charset="0"/>
                  <a:ea typeface="宋体" panose="02010600030101010101" pitchFamily="2" charset="-122"/>
                </a:rPr>
                <a:t>3 rows returned</a:t>
              </a:r>
              <a:endParaRPr lang="en-US" altLang="zh-CN" sz="2000" i="0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D0702-7968-47FB-85A0-129C23FF976B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索引</a:t>
            </a:r>
            <a:r>
              <a:rPr lang="zh-CN" altLang="en-US" dirty="0"/>
              <a:t>封锁协议</a:t>
            </a:r>
            <a:r>
              <a:rPr lang="en-US" altLang="zh-CN" dirty="0"/>
              <a:t>(</a:t>
            </a:r>
            <a:r>
              <a:rPr lang="zh-CN" altLang="en-US" dirty="0"/>
              <a:t>了解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7578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3568" y="1340768"/>
            <a:ext cx="8389937" cy="5243512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查询和插入存在冲突，需要一种机制来避免在同一个事务中，两次查询的结果不一致</a:t>
            </a:r>
            <a:endParaRPr lang="en-US" altLang="zh-CN" sz="2400" dirty="0"/>
          </a:p>
          <a:p>
            <a:pPr eaLnBrk="1" hangingPunct="1"/>
            <a:r>
              <a:rPr lang="zh-CN" altLang="en-US" sz="2400" dirty="0"/>
              <a:t>元组锁不能满足要求，考虑</a:t>
            </a:r>
            <a:r>
              <a:rPr lang="zh-CN" altLang="en-US" sz="2400" b="1" dirty="0">
                <a:solidFill>
                  <a:srgbClr val="0000FF"/>
                </a:solidFill>
              </a:rPr>
              <a:t>利用索引节点之上的锁</a:t>
            </a:r>
            <a:r>
              <a:rPr lang="zh-CN" altLang="en-US" sz="2400" dirty="0"/>
              <a:t>来解决这个问题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每个关系必须具有至少一个索引，对关系的存取必须只能通过关系上的一个索引来进行</a:t>
            </a:r>
            <a:endParaRPr lang="en-US" altLang="zh-CN" sz="2400" dirty="0"/>
          </a:p>
          <a:p>
            <a:pPr eaLnBrk="1" hangingPunct="1"/>
            <a:r>
              <a:rPr lang="zh-CN" altLang="en-US" sz="2400" dirty="0"/>
              <a:t>执行</a:t>
            </a:r>
            <a:r>
              <a:rPr lang="zh-CN" altLang="en-US" sz="2400" b="1" dirty="0">
                <a:solidFill>
                  <a:srgbClr val="0000FF"/>
                </a:solidFill>
              </a:rPr>
              <a:t>查找</a:t>
            </a:r>
            <a:r>
              <a:rPr lang="zh-CN" altLang="en-US" sz="2400" dirty="0"/>
              <a:t>的事务</a:t>
            </a:r>
            <a:r>
              <a:rPr lang="en-US" altLang="zh-CN" sz="2400" i="1" dirty="0" err="1"/>
              <a:t>T</a:t>
            </a:r>
            <a:r>
              <a:rPr lang="en-US" altLang="zh-CN" sz="2400" i="1" baseline="-25000" dirty="0" err="1"/>
              <a:t>i</a:t>
            </a:r>
            <a:r>
              <a:rPr lang="en-US" altLang="zh-CN" sz="2400" dirty="0"/>
              <a:t> </a:t>
            </a:r>
            <a:r>
              <a:rPr lang="zh-CN" altLang="en-US" sz="2400" dirty="0"/>
              <a:t>必须以</a:t>
            </a:r>
            <a:r>
              <a:rPr lang="zh-CN" altLang="en-US" sz="2400" b="1" dirty="0">
                <a:solidFill>
                  <a:srgbClr val="0000FF"/>
                </a:solidFill>
              </a:rPr>
              <a:t>共享方式锁</a:t>
            </a:r>
            <a:r>
              <a:rPr lang="zh-CN" altLang="en-US" sz="2400" dirty="0"/>
              <a:t>住它存取的所有索引项</a:t>
            </a:r>
            <a:endParaRPr lang="zh-CN" altLang="en-US" sz="2400" dirty="0"/>
          </a:p>
          <a:p>
            <a:pPr eaLnBrk="1" hangingPunct="1"/>
            <a:r>
              <a:rPr lang="zh-CN" altLang="en-US" sz="2400" b="1" dirty="0">
                <a:solidFill>
                  <a:srgbClr val="0000FF"/>
                </a:solidFill>
              </a:rPr>
              <a:t>更新</a:t>
            </a:r>
            <a:r>
              <a:rPr lang="zh-CN" altLang="en-US" sz="2400" dirty="0"/>
              <a:t>元组，首先需要获得</a:t>
            </a:r>
            <a:r>
              <a:rPr lang="zh-CN" altLang="en-US" sz="2400" b="1" dirty="0"/>
              <a:t>索引</a:t>
            </a:r>
            <a:r>
              <a:rPr lang="zh-CN" altLang="en-US" sz="2400" dirty="0"/>
              <a:t>之上的</a:t>
            </a:r>
            <a:r>
              <a:rPr lang="en-US" altLang="zh-CN" sz="2400" dirty="0">
                <a:solidFill>
                  <a:srgbClr val="0000FF"/>
                </a:solidFill>
              </a:rPr>
              <a:t>X</a:t>
            </a:r>
            <a:r>
              <a:rPr lang="zh-CN" altLang="en-US" sz="2400" dirty="0">
                <a:solidFill>
                  <a:srgbClr val="0000FF"/>
                </a:solidFill>
              </a:rPr>
              <a:t>锁</a:t>
            </a:r>
            <a:endParaRPr lang="zh-CN" altLang="en-US" sz="2400" dirty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sz="2400" b="1" dirty="0"/>
              <a:t>查询</a:t>
            </a:r>
            <a:r>
              <a:rPr lang="zh-CN" altLang="en-US" sz="2400" dirty="0"/>
              <a:t>和</a:t>
            </a:r>
            <a:r>
              <a:rPr lang="zh-CN" altLang="en-US" sz="2400" b="1" dirty="0"/>
              <a:t>插入</a:t>
            </a:r>
            <a:r>
              <a:rPr lang="zh-CN" altLang="en-US" sz="2400" dirty="0"/>
              <a:t>在索引的节点上发生冲突</a:t>
            </a:r>
            <a:endParaRPr lang="zh-CN" altLang="en-US" sz="2400" dirty="0"/>
          </a:p>
          <a:p>
            <a:pPr lvl="1" eaLnBrk="1" hangingPunct="1"/>
            <a:r>
              <a:rPr lang="zh-CN" altLang="en-US" sz="2000" dirty="0"/>
              <a:t>上例需要</a:t>
            </a:r>
            <a:r>
              <a:rPr lang="en-US" altLang="zh-CN" sz="2000" dirty="0"/>
              <a:t>Rank</a:t>
            </a:r>
            <a:r>
              <a:rPr lang="zh-CN" altLang="en-US" sz="2000" dirty="0"/>
              <a:t>之上的</a:t>
            </a:r>
            <a:r>
              <a:rPr lang="en-US" altLang="zh-CN" sz="2000" dirty="0"/>
              <a:t>B</a:t>
            </a:r>
            <a:r>
              <a:rPr lang="en-US" altLang="zh-CN" sz="2000" baseline="30000" dirty="0"/>
              <a:t>+</a:t>
            </a:r>
            <a:r>
              <a:rPr lang="zh-CN" altLang="en-US" sz="2000" dirty="0"/>
              <a:t>树索引，查询在</a:t>
            </a:r>
            <a:r>
              <a:rPr lang="en-US" altLang="zh-CN" sz="2000" dirty="0"/>
              <a:t>Rank&gt;3</a:t>
            </a:r>
            <a:r>
              <a:rPr lang="zh-CN" altLang="en-US" sz="2000" dirty="0"/>
              <a:t>的索引节点之上获得共享锁，防止插入操作进行</a:t>
            </a:r>
            <a:endParaRPr lang="zh-CN" altLang="en-US" sz="2000" dirty="0"/>
          </a:p>
          <a:p>
            <a:pPr lvl="2" eaLnBrk="1" hangingPunct="1"/>
            <a:r>
              <a:rPr lang="zh-CN" altLang="en-US" sz="2000" dirty="0"/>
              <a:t>插入操作必定会涉及到查询所封锁的索引节点</a:t>
            </a:r>
            <a:endParaRPr lang="zh-CN" altLang="en-US" sz="200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2A02F-EDD9-469F-BEF6-27B7D6A2D9B3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7240-85F2-492B-84D8-762EF0110923}" type="slidenum">
              <a:rPr lang="en-US" altLang="zh-CN" smtClean="0"/>
            </a:fld>
            <a:r>
              <a:rPr lang="en-US" altLang="zh-CN"/>
              <a:t>/ 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本章目录</a:t>
            </a:r>
            <a:endParaRPr lang="zh-CN" altLang="en-US"/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39888"/>
            <a:ext cx="7583488" cy="4532312"/>
          </a:xfrm>
        </p:spPr>
        <p:txBody>
          <a:bodyPr/>
          <a:lstStyle/>
          <a:p>
            <a:r>
              <a:rPr lang="en-US" altLang="zh-CN" sz="2800" dirty="0"/>
              <a:t>14.1 </a:t>
            </a:r>
            <a:r>
              <a:rPr lang="zh-CN" altLang="en-US" sz="2800" dirty="0"/>
              <a:t>基于锁的协议</a:t>
            </a:r>
            <a:endParaRPr lang="zh-CN" altLang="en-US" sz="2800" dirty="0"/>
          </a:p>
          <a:p>
            <a:r>
              <a:rPr lang="en-US" altLang="zh-CN" sz="2800" dirty="0"/>
              <a:t>14.2 </a:t>
            </a:r>
            <a:r>
              <a:rPr lang="zh-CN" altLang="en-US" sz="2800" dirty="0"/>
              <a:t>死锁处理</a:t>
            </a:r>
            <a:endParaRPr lang="zh-CN" altLang="en-US" sz="2800" dirty="0">
              <a:solidFill>
                <a:srgbClr val="CC0000"/>
              </a:solidFill>
            </a:endParaRPr>
          </a:p>
          <a:p>
            <a:r>
              <a:rPr lang="en-US" altLang="zh-CN" sz="2800" dirty="0"/>
              <a:t>14.3 </a:t>
            </a:r>
            <a:r>
              <a:rPr lang="zh-CN" altLang="en-US" sz="2800" dirty="0"/>
              <a:t>多粒度</a:t>
            </a:r>
            <a:endParaRPr lang="zh-CN" altLang="en-US" sz="2800" dirty="0"/>
          </a:p>
          <a:p>
            <a:r>
              <a:rPr lang="en-US" altLang="zh-CN" sz="2800" dirty="0"/>
              <a:t>14.4 </a:t>
            </a:r>
            <a:r>
              <a:rPr lang="zh-CN" altLang="en-US" sz="2800" dirty="0"/>
              <a:t>插入操作、删除操作与谓词读</a:t>
            </a:r>
            <a:r>
              <a:rPr lang="en-US" altLang="zh-CN" sz="2800" dirty="0"/>
              <a:t>(</a:t>
            </a:r>
            <a:r>
              <a:rPr lang="zh-CN" altLang="en-US" sz="2800" dirty="0"/>
              <a:t>了解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r>
              <a:rPr lang="en-US" altLang="zh-CN" sz="2800" dirty="0"/>
              <a:t>14.5 </a:t>
            </a:r>
            <a:r>
              <a:rPr lang="zh-CN" altLang="en-US" sz="2800" dirty="0"/>
              <a:t>基于时间戳的协议</a:t>
            </a:r>
            <a:r>
              <a:rPr lang="en-US" altLang="zh-CN" sz="2800" dirty="0"/>
              <a:t>(</a:t>
            </a:r>
            <a:r>
              <a:rPr lang="zh-CN" altLang="en-US" sz="2800" dirty="0"/>
              <a:t>了解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r>
              <a:rPr lang="en-US" altLang="zh-CN" sz="2800" dirty="0"/>
              <a:t>14.6 </a:t>
            </a:r>
            <a:r>
              <a:rPr lang="zh-CN" altLang="en-US" sz="2800" dirty="0"/>
              <a:t>基于有效性检查的协议</a:t>
            </a:r>
            <a:r>
              <a:rPr lang="en-US" altLang="zh-CN" sz="2800" dirty="0"/>
              <a:t>(</a:t>
            </a:r>
            <a:r>
              <a:rPr lang="zh-CN" altLang="en-US" sz="2800" dirty="0"/>
              <a:t>了解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r>
              <a:rPr lang="en-US" altLang="zh-CN" sz="2800" dirty="0"/>
              <a:t>14.7</a:t>
            </a:r>
            <a:r>
              <a:rPr lang="zh-CN" altLang="en-US" sz="2800" dirty="0"/>
              <a:t> 多版本机制</a:t>
            </a:r>
            <a:r>
              <a:rPr lang="en-US" altLang="zh-CN" sz="2800" dirty="0"/>
              <a:t>(</a:t>
            </a:r>
            <a:r>
              <a:rPr lang="zh-CN" altLang="en-US" sz="2800" dirty="0"/>
              <a:t>自学了解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r>
              <a:rPr lang="en-US" altLang="zh-CN" sz="2800" dirty="0"/>
              <a:t>14.8 </a:t>
            </a:r>
            <a:r>
              <a:rPr lang="zh-CN" altLang="en-US" sz="2800" dirty="0"/>
              <a:t>故障分类</a:t>
            </a:r>
            <a:endParaRPr lang="en-US" altLang="zh-CN" sz="2800" dirty="0"/>
          </a:p>
        </p:txBody>
      </p:sp>
      <p:sp>
        <p:nvSpPr>
          <p:cNvPr id="253956" name="AutoShape 4"/>
          <p:cNvSpPr>
            <a:spLocks noChangeArrowheads="1"/>
          </p:cNvSpPr>
          <p:nvPr/>
        </p:nvSpPr>
        <p:spPr bwMode="auto">
          <a:xfrm>
            <a:off x="838200" y="3789040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5E7D6-ED83-440A-9300-E69BA49861B8}" type="datetime1">
              <a:rPr lang="zh-CN" altLang="en-US" smtClean="0"/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6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14.5 </a:t>
            </a:r>
            <a:r>
              <a:rPr lang="zh-CN" altLang="en-US" sz="3200" dirty="0"/>
              <a:t>基于时间戳</a:t>
            </a:r>
            <a:r>
              <a:rPr lang="en-US" altLang="zh-CN" sz="3200" dirty="0"/>
              <a:t>(Timestamp)</a:t>
            </a:r>
            <a:r>
              <a:rPr lang="zh-CN" altLang="en-US" sz="3200" dirty="0"/>
              <a:t>的协议</a:t>
            </a:r>
            <a:endParaRPr lang="zh-CN" altLang="en-US" sz="3200" dirty="0"/>
          </a:p>
        </p:txBody>
      </p:sp>
      <p:sp>
        <p:nvSpPr>
          <p:cNvPr id="564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08583"/>
            <a:ext cx="8345488" cy="4972745"/>
          </a:xfrm>
        </p:spPr>
        <p:txBody>
          <a:bodyPr/>
          <a:lstStyle/>
          <a:p>
            <a:r>
              <a:rPr lang="zh-CN" altLang="en-US" sz="2400" dirty="0"/>
              <a:t>对于系统中</a:t>
            </a:r>
            <a:r>
              <a:rPr lang="zh-CN" altLang="en-US" sz="2400" dirty="0">
                <a:solidFill>
                  <a:srgbClr val="0000FF"/>
                </a:solidFill>
              </a:rPr>
              <a:t>每个事务</a:t>
            </a:r>
            <a:r>
              <a:rPr lang="en-US" altLang="zh-CN" sz="2400" dirty="0" err="1">
                <a:solidFill>
                  <a:srgbClr val="0000FF"/>
                </a:solidFill>
              </a:rPr>
              <a:t>T</a:t>
            </a:r>
            <a:r>
              <a:rPr lang="en-US" altLang="zh-CN" sz="2400" baseline="-25000" dirty="0" err="1">
                <a:solidFill>
                  <a:srgbClr val="0000FF"/>
                </a:solidFill>
              </a:rPr>
              <a:t>i</a:t>
            </a:r>
            <a:r>
              <a:rPr lang="zh-CN" altLang="en-US" sz="2400" dirty="0"/>
              <a:t>，把一个</a:t>
            </a:r>
            <a:r>
              <a:rPr lang="zh-CN" altLang="en-US" sz="2400" dirty="0">
                <a:solidFill>
                  <a:srgbClr val="FF0000"/>
                </a:solidFill>
              </a:rPr>
              <a:t>唯一的固定时间戳</a:t>
            </a:r>
            <a:r>
              <a:rPr lang="zh-CN" altLang="en-US" sz="2400" dirty="0"/>
              <a:t>和它联系起来，</a:t>
            </a:r>
            <a:r>
              <a:rPr lang="zh-CN" altLang="en-US" sz="2400" b="1" u="sng" dirty="0"/>
              <a:t>此</a:t>
            </a:r>
            <a:r>
              <a:rPr lang="zh-CN" altLang="en-US" sz="2400" b="1" u="sng" dirty="0">
                <a:solidFill>
                  <a:srgbClr val="0000FF"/>
                </a:solidFill>
              </a:rPr>
              <a:t>时间戳</a:t>
            </a:r>
            <a:r>
              <a:rPr lang="zh-CN" altLang="en-US" sz="2400" b="1" u="sng" dirty="0"/>
              <a:t>记为</a:t>
            </a:r>
            <a:r>
              <a:rPr lang="en-US" altLang="zh-CN" sz="2400" b="1" u="sng" dirty="0">
                <a:solidFill>
                  <a:srgbClr val="0000FF"/>
                </a:solidFill>
              </a:rPr>
              <a:t>TS(</a:t>
            </a:r>
            <a:r>
              <a:rPr lang="en-US" altLang="zh-CN" sz="2400" b="1" u="sng" dirty="0" err="1">
                <a:solidFill>
                  <a:srgbClr val="0000FF"/>
                </a:solidFill>
              </a:rPr>
              <a:t>T</a:t>
            </a:r>
            <a:r>
              <a:rPr lang="en-US" altLang="zh-CN" sz="2400" b="1" u="sng" baseline="-25000" dirty="0" err="1">
                <a:solidFill>
                  <a:srgbClr val="0000FF"/>
                </a:solidFill>
              </a:rPr>
              <a:t>i</a:t>
            </a:r>
            <a:r>
              <a:rPr lang="en-US" altLang="zh-CN" sz="2400" b="1" u="sng" dirty="0">
                <a:solidFill>
                  <a:srgbClr val="0000FF"/>
                </a:solidFill>
              </a:rPr>
              <a:t>)</a:t>
            </a:r>
            <a:r>
              <a:rPr lang="zh-CN" altLang="en-US" sz="2400" dirty="0"/>
              <a:t>。该</a:t>
            </a:r>
            <a:r>
              <a:rPr lang="zh-CN" altLang="en-US" sz="2400" dirty="0">
                <a:solidFill>
                  <a:srgbClr val="FF0000"/>
                </a:solidFill>
              </a:rPr>
              <a:t>时间戳</a:t>
            </a:r>
            <a:r>
              <a:rPr lang="zh-CN" altLang="en-US" sz="2400" dirty="0"/>
              <a:t>是在事务</a:t>
            </a:r>
            <a:r>
              <a:rPr lang="en-US" altLang="zh-CN" sz="2400" dirty="0" err="1"/>
              <a:t>T</a:t>
            </a:r>
            <a:r>
              <a:rPr lang="en-US" altLang="zh-CN" sz="2400" baseline="-25000" dirty="0" err="1"/>
              <a:t>i</a:t>
            </a:r>
            <a:r>
              <a:rPr lang="zh-CN" altLang="en-US" sz="2400" dirty="0">
                <a:solidFill>
                  <a:srgbClr val="FF0000"/>
                </a:solidFill>
              </a:rPr>
              <a:t>开始执行前</a:t>
            </a:r>
            <a:r>
              <a:rPr lang="zh-CN" altLang="en-US" sz="2400" dirty="0"/>
              <a:t>由</a:t>
            </a:r>
            <a:r>
              <a:rPr lang="zh-CN" altLang="en-US" sz="2400" dirty="0">
                <a:solidFill>
                  <a:srgbClr val="0000FF"/>
                </a:solidFill>
              </a:rPr>
              <a:t>数据库系统赋予</a:t>
            </a:r>
            <a:r>
              <a:rPr lang="zh-CN" altLang="en-US" sz="2400" dirty="0"/>
              <a:t>的。若事务</a:t>
            </a:r>
            <a:r>
              <a:rPr lang="en-US" altLang="zh-CN" sz="2400" dirty="0" err="1"/>
              <a:t>T</a:t>
            </a:r>
            <a:r>
              <a:rPr lang="en-US" altLang="zh-CN" sz="2400" baseline="-25000" dirty="0" err="1"/>
              <a:t>i</a:t>
            </a:r>
            <a:r>
              <a:rPr lang="zh-CN" altLang="en-US" sz="2400" dirty="0"/>
              <a:t>已赋予时间戳</a:t>
            </a:r>
            <a:r>
              <a:rPr lang="en-US" altLang="zh-CN" sz="2400" dirty="0"/>
              <a:t>TS(</a:t>
            </a:r>
            <a:r>
              <a:rPr lang="en-US" altLang="zh-CN" sz="2400" dirty="0" err="1"/>
              <a:t>T</a:t>
            </a:r>
            <a:r>
              <a:rPr lang="en-US" altLang="zh-CN" sz="2400" baseline="-25000" dirty="0" err="1"/>
              <a:t>i</a:t>
            </a:r>
            <a:r>
              <a:rPr lang="en-US" altLang="zh-CN" sz="2400" dirty="0"/>
              <a:t>)</a:t>
            </a:r>
            <a:r>
              <a:rPr lang="zh-CN" altLang="en-US" sz="2400" dirty="0"/>
              <a:t>，此时有</a:t>
            </a:r>
            <a:r>
              <a:rPr lang="zh-CN" altLang="en-US" sz="2400" dirty="0">
                <a:solidFill>
                  <a:srgbClr val="0000FF"/>
                </a:solidFill>
              </a:rPr>
              <a:t>一新事务</a:t>
            </a:r>
            <a:r>
              <a:rPr lang="en-US" altLang="zh-CN" sz="2400" dirty="0" err="1">
                <a:solidFill>
                  <a:srgbClr val="0000FF"/>
                </a:solidFill>
              </a:rPr>
              <a:t>T</a:t>
            </a:r>
            <a:r>
              <a:rPr lang="en-US" altLang="zh-CN" sz="2400" baseline="-25000" dirty="0" err="1">
                <a:solidFill>
                  <a:srgbClr val="0000FF"/>
                </a:solidFill>
              </a:rPr>
              <a:t>j</a:t>
            </a:r>
            <a:r>
              <a:rPr lang="zh-CN" altLang="en-US" sz="2400" dirty="0"/>
              <a:t>进入系统，则</a:t>
            </a:r>
            <a:r>
              <a:rPr lang="en-US" altLang="zh-CN" sz="2400" dirty="0"/>
              <a:t>TS(</a:t>
            </a:r>
            <a:r>
              <a:rPr lang="en-US" altLang="zh-CN" sz="2400" dirty="0" err="1"/>
              <a:t>T</a:t>
            </a:r>
            <a:r>
              <a:rPr lang="en-US" altLang="zh-CN" sz="2400" baseline="-25000" dirty="0" err="1"/>
              <a:t>i</a:t>
            </a:r>
            <a:r>
              <a:rPr lang="en-US" altLang="zh-CN" sz="2400" dirty="0"/>
              <a:t>)&lt;TS(</a:t>
            </a:r>
            <a:r>
              <a:rPr lang="en-US" altLang="zh-CN" sz="2400" dirty="0" err="1"/>
              <a:t>T</a:t>
            </a:r>
            <a:r>
              <a:rPr lang="en-US" altLang="zh-CN" sz="2400" baseline="-25000" dirty="0" err="1"/>
              <a:t>j</a:t>
            </a:r>
            <a:r>
              <a:rPr lang="en-US" altLang="zh-CN" sz="2400" dirty="0"/>
              <a:t>)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zh-CN" altLang="en-US" sz="2400" dirty="0"/>
              <a:t>实现这种机制可以采用下面这两个简单的方法</a:t>
            </a:r>
            <a:r>
              <a:rPr lang="en-US" altLang="zh-CN" sz="2400" dirty="0"/>
              <a:t>:</a:t>
            </a:r>
            <a:endParaRPr lang="en-US" altLang="zh-CN" sz="2400" dirty="0"/>
          </a:p>
          <a:p>
            <a:pPr lvl="1"/>
            <a:r>
              <a:rPr lang="en-US" altLang="zh-CN" sz="2000" dirty="0"/>
              <a:t>1.</a:t>
            </a:r>
            <a:r>
              <a:rPr lang="zh-CN" altLang="en-US" sz="2000" dirty="0"/>
              <a:t>使用</a:t>
            </a:r>
            <a:r>
              <a:rPr lang="zh-CN" altLang="en-US" sz="2000" dirty="0">
                <a:solidFill>
                  <a:srgbClr val="0000FF"/>
                </a:solidFill>
              </a:rPr>
              <a:t>系统时钟</a:t>
            </a:r>
            <a:r>
              <a:rPr lang="en-US" altLang="zh-CN" sz="2000" dirty="0"/>
              <a:t>(system clock)</a:t>
            </a:r>
            <a:r>
              <a:rPr lang="zh-CN" altLang="en-US" sz="2000" dirty="0"/>
              <a:t>的</a:t>
            </a:r>
            <a:r>
              <a:rPr lang="zh-CN" altLang="en-US" sz="2000" dirty="0">
                <a:solidFill>
                  <a:srgbClr val="FF0000"/>
                </a:solidFill>
              </a:rPr>
              <a:t>值</a:t>
            </a:r>
            <a:r>
              <a:rPr lang="zh-CN" altLang="en-US" sz="2000" dirty="0"/>
              <a:t>作为</a:t>
            </a:r>
            <a:r>
              <a:rPr lang="zh-CN" altLang="en-US" sz="2000" dirty="0">
                <a:solidFill>
                  <a:srgbClr val="0000FF"/>
                </a:solidFill>
              </a:rPr>
              <a:t>时间戳</a:t>
            </a:r>
            <a:r>
              <a:rPr lang="en-US" altLang="zh-CN" sz="2000" dirty="0"/>
              <a:t>; </a:t>
            </a:r>
            <a:r>
              <a:rPr lang="zh-CN" altLang="en-US" sz="2000" dirty="0"/>
              <a:t>即事务的时间戳等于该事务</a:t>
            </a:r>
            <a:r>
              <a:rPr lang="zh-CN" altLang="en-US" sz="2000" dirty="0">
                <a:solidFill>
                  <a:srgbClr val="0000FF"/>
                </a:solidFill>
              </a:rPr>
              <a:t>进入系统时的时钟值</a:t>
            </a:r>
            <a:r>
              <a:rPr lang="zh-CN" altLang="en-US" sz="2000" dirty="0"/>
              <a:t>。</a:t>
            </a:r>
            <a:endParaRPr lang="zh-CN" altLang="en-US" sz="2000" dirty="0"/>
          </a:p>
          <a:p>
            <a:pPr lvl="1"/>
            <a:r>
              <a:rPr lang="en-US" altLang="zh-CN" sz="2000" dirty="0"/>
              <a:t>2</a:t>
            </a:r>
            <a:r>
              <a:rPr lang="zh-CN" altLang="en-US" sz="2000" dirty="0"/>
              <a:t>使用</a:t>
            </a:r>
            <a:r>
              <a:rPr lang="zh-CN" altLang="en-US" sz="2000" dirty="0">
                <a:solidFill>
                  <a:srgbClr val="0000FF"/>
                </a:solidFill>
              </a:rPr>
              <a:t>逻辑计数器</a:t>
            </a:r>
            <a:r>
              <a:rPr lang="en-US" altLang="zh-CN" sz="2000" dirty="0"/>
              <a:t>(logical counter)</a:t>
            </a:r>
            <a:r>
              <a:rPr lang="zh-CN" altLang="en-US" sz="2000" dirty="0"/>
              <a:t>，每赋予一个时间戳，</a:t>
            </a:r>
            <a:r>
              <a:rPr lang="zh-CN" altLang="en-US" sz="2000" dirty="0">
                <a:solidFill>
                  <a:srgbClr val="0000FF"/>
                </a:solidFill>
              </a:rPr>
              <a:t>计数器增加计数</a:t>
            </a:r>
            <a:r>
              <a:rPr lang="en-US" altLang="zh-CN" sz="2000" dirty="0"/>
              <a:t>; </a:t>
            </a:r>
            <a:r>
              <a:rPr lang="zh-CN" altLang="en-US" sz="2000" dirty="0"/>
              <a:t>即事务的时间戳等于该事务进入系统时的</a:t>
            </a:r>
            <a:r>
              <a:rPr lang="zh-CN" altLang="en-US" sz="2000" dirty="0">
                <a:solidFill>
                  <a:srgbClr val="0000FF"/>
                </a:solidFill>
              </a:rPr>
              <a:t>计数器值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r>
              <a:rPr lang="zh-CN" altLang="en-US" sz="2400" dirty="0"/>
              <a:t>该协议</a:t>
            </a:r>
            <a:r>
              <a:rPr lang="zh-CN" altLang="en-US" sz="2400" b="1" dirty="0">
                <a:solidFill>
                  <a:srgbClr val="0000FF"/>
                </a:solidFill>
              </a:rPr>
              <a:t>管理</a:t>
            </a:r>
            <a:r>
              <a:rPr lang="zh-CN" altLang="en-US" sz="2400" b="1" u="sng" dirty="0"/>
              <a:t>并发执行</a:t>
            </a:r>
            <a:r>
              <a:rPr lang="zh-CN" altLang="en-US" sz="2400" dirty="0"/>
              <a:t>，使用</a:t>
            </a:r>
            <a:r>
              <a:rPr lang="zh-CN" altLang="en-US" sz="2400" dirty="0">
                <a:solidFill>
                  <a:srgbClr val="FF0000"/>
                </a:solidFill>
              </a:rPr>
              <a:t>时间戳</a:t>
            </a:r>
            <a:r>
              <a:rPr lang="zh-CN" altLang="en-US" sz="2400" b="1" dirty="0"/>
              <a:t>决定</a:t>
            </a:r>
            <a:r>
              <a:rPr lang="zh-CN" altLang="en-US" sz="2400" dirty="0">
                <a:solidFill>
                  <a:srgbClr val="FF0000"/>
                </a:solidFill>
              </a:rPr>
              <a:t>事务的串行化次序</a:t>
            </a:r>
            <a:r>
              <a:rPr lang="zh-CN" altLang="en-US" sz="2400" dirty="0"/>
              <a:t>。因此，若</a:t>
            </a:r>
            <a:r>
              <a:rPr lang="en-US" altLang="zh-CN" sz="2400" dirty="0"/>
              <a:t>TS(</a:t>
            </a:r>
            <a:r>
              <a:rPr lang="en-US" altLang="zh-CN" sz="2400" dirty="0" err="1"/>
              <a:t>T</a:t>
            </a:r>
            <a:r>
              <a:rPr lang="en-US" altLang="zh-CN" sz="2400" baseline="-25000" dirty="0" err="1"/>
              <a:t>i</a:t>
            </a:r>
            <a:r>
              <a:rPr lang="en-US" altLang="zh-CN" sz="2400" dirty="0"/>
              <a:t>)&lt; TS(</a:t>
            </a:r>
            <a:r>
              <a:rPr lang="en-US" altLang="zh-CN" sz="2400" dirty="0" err="1"/>
              <a:t>T</a:t>
            </a:r>
            <a:r>
              <a:rPr lang="en-US" altLang="zh-CN" sz="2400" baseline="-25000" dirty="0" err="1"/>
              <a:t>j</a:t>
            </a:r>
            <a:r>
              <a:rPr lang="en-US" altLang="zh-CN" sz="2400" dirty="0"/>
              <a:t>)</a:t>
            </a:r>
            <a:r>
              <a:rPr lang="zh-CN" altLang="en-US" sz="2400" dirty="0"/>
              <a:t>，则系统</a:t>
            </a:r>
            <a:r>
              <a:rPr lang="zh-CN" altLang="en-US" sz="2400" b="1" dirty="0"/>
              <a:t>必须保证</a:t>
            </a:r>
            <a:r>
              <a:rPr lang="zh-CN" altLang="en-US" sz="2400" dirty="0"/>
              <a:t>所产生的调度</a:t>
            </a:r>
            <a:r>
              <a:rPr lang="zh-CN" altLang="en-US" sz="2400" b="1" dirty="0">
                <a:solidFill>
                  <a:srgbClr val="0000FF"/>
                </a:solidFill>
              </a:rPr>
              <a:t>等价于</a:t>
            </a:r>
            <a:r>
              <a:rPr lang="zh-CN" altLang="en-US" sz="2400" dirty="0"/>
              <a:t>事务</a:t>
            </a:r>
            <a:r>
              <a:rPr lang="en-US" altLang="zh-CN" sz="2400" dirty="0" err="1">
                <a:solidFill>
                  <a:srgbClr val="0000FF"/>
                </a:solidFill>
              </a:rPr>
              <a:t>T</a:t>
            </a:r>
            <a:r>
              <a:rPr lang="en-US" altLang="zh-CN" sz="2400" baseline="-25000" dirty="0" err="1">
                <a:solidFill>
                  <a:srgbClr val="0000FF"/>
                </a:solidFill>
              </a:rPr>
              <a:t>i</a:t>
            </a:r>
            <a:r>
              <a:rPr lang="zh-CN" altLang="en-US" sz="2400" dirty="0"/>
              <a:t>出现在事务</a:t>
            </a:r>
            <a:r>
              <a:rPr lang="en-US" altLang="zh-CN" sz="2400" dirty="0" err="1">
                <a:solidFill>
                  <a:srgbClr val="0000FF"/>
                </a:solidFill>
              </a:rPr>
              <a:t>T</a:t>
            </a:r>
            <a:r>
              <a:rPr lang="en-US" altLang="zh-CN" sz="2400" baseline="-25000" dirty="0" err="1">
                <a:solidFill>
                  <a:srgbClr val="0000FF"/>
                </a:solidFill>
              </a:rPr>
              <a:t>j</a:t>
            </a:r>
            <a:r>
              <a:rPr lang="zh-CN" altLang="en-US" sz="2400" dirty="0">
                <a:solidFill>
                  <a:srgbClr val="FF0000"/>
                </a:solidFill>
              </a:rPr>
              <a:t>之前</a:t>
            </a:r>
            <a:r>
              <a:rPr lang="zh-CN" altLang="en-US" sz="2400" dirty="0"/>
              <a:t>的某个</a:t>
            </a:r>
            <a:r>
              <a:rPr lang="zh-CN" altLang="en-US" sz="2400" dirty="0">
                <a:solidFill>
                  <a:srgbClr val="FF0000"/>
                </a:solidFill>
              </a:rPr>
              <a:t>串行调度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1"/>
            <a:r>
              <a:rPr lang="zh-CN" altLang="en-US" sz="2000" dirty="0"/>
              <a:t>两阶段封锁协议的</a:t>
            </a:r>
            <a:r>
              <a:rPr lang="en-US" altLang="zh-CN" sz="2000" dirty="0"/>
              <a:t>Lock point</a:t>
            </a:r>
            <a:r>
              <a:rPr lang="zh-CN" altLang="en-US" sz="2000" dirty="0"/>
              <a:t>决定了串行化次序</a:t>
            </a:r>
            <a:endParaRPr lang="zh-CN" altLang="en-US" sz="200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1B5AA-1C7F-4B76-AB3B-2E22D76ADF1B}" type="datetime1">
              <a:rPr lang="zh-CN" altLang="en-US" smtClean="0"/>
            </a:fld>
            <a:endParaRPr lang="en-US" altLang="zh-CN" dirty="0"/>
          </a:p>
        </p:txBody>
      </p:sp>
      <p:sp>
        <p:nvSpPr>
          <p:cNvPr id="7" name="椭圆 6"/>
          <p:cNvSpPr>
            <a:spLocks noChangeArrowheads="1"/>
          </p:cNvSpPr>
          <p:nvPr/>
        </p:nvSpPr>
        <p:spPr bwMode="auto">
          <a:xfrm>
            <a:off x="6814790" y="5949279"/>
            <a:ext cx="549275" cy="515937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Helvetica" panose="020B0604020202020204" pitchFamily="34" charset="0"/>
              </a:rPr>
              <a:t>T</a:t>
            </a:r>
            <a:r>
              <a:rPr lang="en-US" altLang="zh-CN" sz="1800" b="0" baseline="-25000">
                <a:latin typeface="Helvetica" panose="020B0604020202020204" pitchFamily="34" charset="0"/>
              </a:rPr>
              <a:t>i</a:t>
            </a:r>
            <a:endParaRPr lang="zh-CN" altLang="en-US" sz="1800" b="0" i="0">
              <a:latin typeface="Helvetica" panose="020B0604020202020204" pitchFamily="34" charset="0"/>
            </a:endParaRPr>
          </a:p>
        </p:txBody>
      </p:sp>
      <p:sp>
        <p:nvSpPr>
          <p:cNvPr id="8" name="椭圆 7"/>
          <p:cNvSpPr>
            <a:spLocks noChangeArrowheads="1"/>
          </p:cNvSpPr>
          <p:nvPr/>
        </p:nvSpPr>
        <p:spPr bwMode="auto">
          <a:xfrm>
            <a:off x="7799040" y="5949280"/>
            <a:ext cx="549275" cy="515937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Helvetica" panose="020B0604020202020204" pitchFamily="34" charset="0"/>
              </a:rPr>
              <a:t>T</a:t>
            </a:r>
            <a:r>
              <a:rPr lang="en-US" altLang="zh-CN" sz="1800" b="0" baseline="-25000">
                <a:latin typeface="Helvetica" panose="020B0604020202020204" pitchFamily="34" charset="0"/>
              </a:rPr>
              <a:t>j</a:t>
            </a:r>
            <a:endParaRPr lang="zh-CN" altLang="en-US" sz="1800" b="0" i="0">
              <a:latin typeface="Helvetica" panose="020B0604020202020204" pitchFamily="34" charset="0"/>
            </a:endParaRPr>
          </a:p>
        </p:txBody>
      </p:sp>
      <p:cxnSp>
        <p:nvCxnSpPr>
          <p:cNvPr id="9" name="直接箭头连接符 8"/>
          <p:cNvCxnSpPr>
            <a:cxnSpLocks noChangeShapeType="1"/>
            <a:stCxn id="7" idx="6"/>
            <a:endCxn id="8" idx="2"/>
          </p:cNvCxnSpPr>
          <p:nvPr/>
        </p:nvCxnSpPr>
        <p:spPr bwMode="auto">
          <a:xfrm>
            <a:off x="7364065" y="6207248"/>
            <a:ext cx="434975" cy="1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14.5 </a:t>
            </a:r>
            <a:r>
              <a:rPr lang="zh-CN" altLang="en-US" sz="3200" dirty="0"/>
              <a:t>基于时间戳的协议</a:t>
            </a:r>
            <a:endParaRPr lang="zh-CN" altLang="en-US" sz="320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94501-A5C1-41FD-A055-C84CAD16387B}" type="datetime1">
              <a:rPr lang="zh-CN" altLang="en-US" smtClean="0"/>
            </a:fld>
            <a:endParaRPr lang="en-US" altLang="zh-CN" dirty="0"/>
          </a:p>
        </p:txBody>
      </p:sp>
      <p:sp>
        <p:nvSpPr>
          <p:cNvPr id="564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12776"/>
            <a:ext cx="8345488" cy="4933528"/>
          </a:xfrm>
        </p:spPr>
        <p:txBody>
          <a:bodyPr/>
          <a:lstStyle/>
          <a:p>
            <a:r>
              <a:rPr lang="zh-CN" altLang="en-US" sz="2800" dirty="0"/>
              <a:t>要实现这个机制，每个</a:t>
            </a:r>
            <a:r>
              <a:rPr lang="zh-CN" altLang="en-US" sz="2800" dirty="0">
                <a:solidFill>
                  <a:srgbClr val="0000FF"/>
                </a:solidFill>
              </a:rPr>
              <a:t>数据项</a:t>
            </a:r>
            <a:r>
              <a:rPr lang="en-US" altLang="zh-CN" sz="2800" dirty="0">
                <a:solidFill>
                  <a:srgbClr val="0000FF"/>
                </a:solidFill>
              </a:rPr>
              <a:t>Q</a:t>
            </a:r>
            <a:r>
              <a:rPr lang="zh-CN" altLang="en-US" sz="2800" dirty="0"/>
              <a:t>需要与</a:t>
            </a:r>
            <a:r>
              <a:rPr lang="zh-CN" altLang="en-US" sz="2800" dirty="0">
                <a:solidFill>
                  <a:srgbClr val="0000FF"/>
                </a:solidFill>
              </a:rPr>
              <a:t>两个时间戳值</a:t>
            </a:r>
            <a:r>
              <a:rPr lang="zh-CN" altLang="en-US" sz="2800" dirty="0"/>
              <a:t>相关联</a:t>
            </a:r>
            <a:r>
              <a:rPr lang="en-US" altLang="zh-CN" sz="2800" dirty="0"/>
              <a:t>:</a:t>
            </a:r>
            <a:endParaRPr lang="en-US" altLang="zh-CN" sz="2800" dirty="0"/>
          </a:p>
          <a:p>
            <a:pPr lvl="1"/>
            <a:r>
              <a:rPr lang="en-US" altLang="zh-CN" sz="2400" dirty="0">
                <a:solidFill>
                  <a:srgbClr val="0000FF"/>
                </a:solidFill>
              </a:rPr>
              <a:t>W</a:t>
            </a:r>
            <a:r>
              <a:rPr lang="en-US" altLang="zh-CN" sz="2400" dirty="0"/>
              <a:t>-timestamp(Q): </a:t>
            </a:r>
            <a:r>
              <a:rPr lang="zh-CN" altLang="en-US" sz="2400" dirty="0"/>
              <a:t>表示成功执行</a:t>
            </a:r>
            <a:r>
              <a:rPr lang="en-US" altLang="zh-CN" sz="2400" dirty="0"/>
              <a:t>write(Q)</a:t>
            </a:r>
            <a:r>
              <a:rPr lang="zh-CN" altLang="en-US" sz="2400" dirty="0"/>
              <a:t>的所有事务的</a:t>
            </a:r>
            <a:r>
              <a:rPr lang="zh-CN" altLang="en-US" sz="2400" dirty="0">
                <a:solidFill>
                  <a:srgbClr val="FF0000"/>
                </a:solidFill>
              </a:rPr>
              <a:t>最大时间戳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1"/>
            <a:r>
              <a:rPr lang="en-US" altLang="zh-CN" sz="2400" dirty="0">
                <a:solidFill>
                  <a:srgbClr val="0000FF"/>
                </a:solidFill>
              </a:rPr>
              <a:t>R</a:t>
            </a:r>
            <a:r>
              <a:rPr lang="en-US" altLang="zh-CN" sz="2400" dirty="0"/>
              <a:t>-timestamp(Q): </a:t>
            </a:r>
            <a:r>
              <a:rPr lang="zh-CN" altLang="en-US" sz="2400" dirty="0"/>
              <a:t>表示成功执行</a:t>
            </a:r>
            <a:r>
              <a:rPr lang="en-US" altLang="zh-CN" sz="2400" dirty="0"/>
              <a:t>read(Q)</a:t>
            </a:r>
            <a:r>
              <a:rPr lang="zh-CN" altLang="en-US" sz="2400" dirty="0"/>
              <a:t>的所有事务的 </a:t>
            </a:r>
            <a:r>
              <a:rPr lang="zh-CN" altLang="en-US" sz="2400" dirty="0">
                <a:solidFill>
                  <a:srgbClr val="FF0000"/>
                </a:solidFill>
              </a:rPr>
              <a:t>最大时间戳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1"/>
            <a:r>
              <a:rPr lang="zh-CN" altLang="en-US" sz="2400" dirty="0"/>
              <a:t>每当有</a:t>
            </a:r>
            <a:r>
              <a:rPr lang="zh-CN" altLang="en-US" sz="2400" dirty="0">
                <a:solidFill>
                  <a:srgbClr val="0000FF"/>
                </a:solidFill>
              </a:rPr>
              <a:t>新的</a:t>
            </a:r>
            <a:r>
              <a:rPr lang="en-US" altLang="zh-CN" sz="2400" dirty="0"/>
              <a:t>read(Q)</a:t>
            </a:r>
            <a:r>
              <a:rPr lang="zh-CN" altLang="en-US" sz="2400" dirty="0"/>
              <a:t>或</a:t>
            </a:r>
            <a:r>
              <a:rPr lang="en-US" altLang="zh-CN" sz="2400" dirty="0"/>
              <a:t>write(Q)</a:t>
            </a:r>
            <a:r>
              <a:rPr lang="zh-CN" altLang="en-US" sz="2400" dirty="0"/>
              <a:t>指令执行时，这些</a:t>
            </a:r>
            <a:r>
              <a:rPr lang="zh-CN" altLang="en-US" sz="2400" dirty="0">
                <a:solidFill>
                  <a:srgbClr val="0000FF"/>
                </a:solidFill>
              </a:rPr>
              <a:t>时间戳</a:t>
            </a:r>
            <a:r>
              <a:rPr lang="zh-CN" altLang="en-US" sz="2400" dirty="0"/>
              <a:t>就</a:t>
            </a:r>
            <a:r>
              <a:rPr lang="zh-CN" altLang="en-US" sz="2400" b="1" dirty="0">
                <a:solidFill>
                  <a:srgbClr val="0000FF"/>
                </a:solidFill>
              </a:rPr>
              <a:t>更新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r>
              <a:rPr lang="zh-CN" altLang="en-US" sz="2800" dirty="0">
                <a:solidFill>
                  <a:srgbClr val="0000FF"/>
                </a:solidFill>
              </a:rPr>
              <a:t>事务</a:t>
            </a:r>
            <a:r>
              <a:rPr lang="zh-CN" altLang="en-US" sz="2800" dirty="0"/>
              <a:t>有自己的</a:t>
            </a:r>
            <a:r>
              <a:rPr lang="zh-CN" altLang="en-US" sz="2800" dirty="0">
                <a:solidFill>
                  <a:srgbClr val="0000FF"/>
                </a:solidFill>
              </a:rPr>
              <a:t>时间戳</a:t>
            </a:r>
            <a:r>
              <a:rPr lang="en-US" altLang="zh-CN" sz="2800" dirty="0">
                <a:solidFill>
                  <a:srgbClr val="0000FF"/>
                </a:solidFill>
              </a:rPr>
              <a:t>TS()</a:t>
            </a:r>
            <a:r>
              <a:rPr lang="zh-CN" altLang="en-US" sz="2800" dirty="0"/>
              <a:t>，</a:t>
            </a:r>
            <a:r>
              <a:rPr lang="zh-CN" altLang="en-US" sz="2800" dirty="0">
                <a:solidFill>
                  <a:srgbClr val="FF0000"/>
                </a:solidFill>
              </a:rPr>
              <a:t>数据项</a:t>
            </a:r>
            <a:r>
              <a:rPr lang="zh-CN" altLang="en-US" sz="2800" dirty="0"/>
              <a:t>有自己的</a:t>
            </a:r>
            <a:r>
              <a:rPr lang="zh-CN" altLang="en-US" sz="2800" dirty="0">
                <a:solidFill>
                  <a:srgbClr val="FF0000"/>
                </a:solidFill>
              </a:rPr>
              <a:t>读写时间戳</a:t>
            </a:r>
            <a:r>
              <a:rPr lang="en-US" altLang="zh-CN" sz="2800" dirty="0">
                <a:solidFill>
                  <a:srgbClr val="0000FF"/>
                </a:solidFill>
              </a:rPr>
              <a:t>R/W-timestamp()</a:t>
            </a:r>
            <a:r>
              <a:rPr lang="zh-CN" altLang="en-US" sz="2800" dirty="0"/>
              <a:t>；如何保证并发？</a:t>
            </a:r>
            <a:endParaRPr lang="zh-CN" altLang="en-US" sz="2800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14.5 </a:t>
            </a:r>
            <a:r>
              <a:rPr lang="zh-CN" altLang="en-US" sz="3200" dirty="0"/>
              <a:t>基于时间戳的协议</a:t>
            </a:r>
            <a:endParaRPr lang="zh-CN" altLang="en-US" sz="320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97D12-C631-4CFB-B137-450021AB28FE}" type="datetime1">
              <a:rPr lang="zh-CN" altLang="en-US" smtClean="0"/>
            </a:fld>
            <a:endParaRPr lang="en-US" altLang="zh-CN" dirty="0"/>
          </a:p>
        </p:txBody>
      </p:sp>
      <p:sp>
        <p:nvSpPr>
          <p:cNvPr id="564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138864" cy="3205336"/>
          </a:xfrm>
        </p:spPr>
        <p:txBody>
          <a:bodyPr/>
          <a:lstStyle/>
          <a:p>
            <a:r>
              <a:rPr lang="zh-CN" altLang="en-US" sz="2400" b="1" dirty="0">
                <a:solidFill>
                  <a:srgbClr val="0000FF"/>
                </a:solidFill>
              </a:rPr>
              <a:t>时间戳排序协议</a:t>
            </a:r>
            <a:r>
              <a:rPr lang="en-US" altLang="zh-CN" sz="2400" dirty="0"/>
              <a:t>(timestamp-ordering protocol)</a:t>
            </a:r>
            <a:r>
              <a:rPr lang="zh-CN" altLang="en-US" sz="2400" dirty="0"/>
              <a:t>保证任何</a:t>
            </a:r>
            <a:r>
              <a:rPr lang="zh-CN" altLang="en-US" sz="2400" b="1" u="sng" dirty="0">
                <a:solidFill>
                  <a:srgbClr val="FF0000"/>
                </a:solidFill>
              </a:rPr>
              <a:t>有冲突</a:t>
            </a:r>
            <a:r>
              <a:rPr lang="zh-CN" altLang="en-US" sz="2400" dirty="0"/>
              <a:t>的</a:t>
            </a:r>
            <a:r>
              <a:rPr lang="en-US" altLang="zh-CN" sz="2400" dirty="0"/>
              <a:t>read</a:t>
            </a:r>
            <a:r>
              <a:rPr lang="zh-CN" altLang="en-US" sz="2400" dirty="0"/>
              <a:t>或</a:t>
            </a:r>
            <a:r>
              <a:rPr lang="en-US" altLang="zh-CN" sz="2400" dirty="0"/>
              <a:t>write</a:t>
            </a:r>
            <a:r>
              <a:rPr lang="zh-CN" altLang="en-US" sz="2400" dirty="0"/>
              <a:t>操作</a:t>
            </a:r>
            <a:r>
              <a:rPr lang="zh-CN" altLang="en-US" sz="2400" b="1" dirty="0">
                <a:solidFill>
                  <a:srgbClr val="0000FF"/>
                </a:solidFill>
              </a:rPr>
              <a:t>按时间戳顺序</a:t>
            </a:r>
            <a:r>
              <a:rPr lang="zh-CN" altLang="en-US" sz="2400" dirty="0"/>
              <a:t>执行。</a:t>
            </a:r>
            <a:endParaRPr lang="en-US" altLang="zh-CN" sz="2400" dirty="0"/>
          </a:p>
          <a:p>
            <a:r>
              <a:rPr lang="zh-CN" altLang="en-US" sz="2400" b="1" dirty="0"/>
              <a:t>该协议运作方式如下</a:t>
            </a:r>
            <a:r>
              <a:rPr lang="en-US" altLang="zh-CN" sz="2400" b="1" dirty="0"/>
              <a:t>:</a:t>
            </a:r>
            <a:endParaRPr lang="en-US" altLang="zh-CN" sz="2400" b="1" dirty="0"/>
          </a:p>
          <a:p>
            <a:pPr lvl="1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假设事务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altLang="zh-CN" sz="2400" b="1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发出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read(</a:t>
            </a:r>
            <a:r>
              <a:rPr lang="en-US" altLang="zh-CN" sz="2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zh-CN" altLang="en-US" sz="2000" dirty="0"/>
              <a:t>若</a:t>
            </a:r>
            <a:r>
              <a:rPr lang="en-US" altLang="zh-CN" sz="2000" dirty="0"/>
              <a:t>TS(T</a:t>
            </a:r>
            <a:r>
              <a:rPr lang="en-US" altLang="zh-CN" sz="2000" baseline="-25000" dirty="0"/>
              <a:t>i</a:t>
            </a:r>
            <a:r>
              <a:rPr lang="en-US" altLang="zh-CN" sz="2000" dirty="0"/>
              <a:t>) </a:t>
            </a:r>
            <a:r>
              <a:rPr lang="en-US" altLang="zh-CN" sz="2000" dirty="0">
                <a:solidFill>
                  <a:srgbClr val="FF0000"/>
                </a:solidFill>
              </a:rPr>
              <a:t>&lt;</a:t>
            </a:r>
            <a:r>
              <a:rPr lang="en-US" altLang="zh-CN" sz="2000" dirty="0"/>
              <a:t> W-timestamp(</a:t>
            </a:r>
            <a:r>
              <a:rPr lang="en-US" altLang="zh-CN" sz="2000" dirty="0">
                <a:solidFill>
                  <a:srgbClr val="006600"/>
                </a:solidFill>
              </a:rPr>
              <a:t>Q</a:t>
            </a:r>
            <a:r>
              <a:rPr lang="en-US" altLang="zh-CN" sz="2000" dirty="0"/>
              <a:t>)</a:t>
            </a:r>
            <a:r>
              <a:rPr lang="zh-CN" altLang="en-US" sz="2000" dirty="0"/>
              <a:t>，则表示</a:t>
            </a:r>
            <a:r>
              <a:rPr lang="en-US" altLang="zh-CN" sz="2000" dirty="0" err="1"/>
              <a:t>T</a:t>
            </a:r>
            <a:r>
              <a:rPr lang="en-US" altLang="zh-CN" sz="2000" baseline="-25000" dirty="0" err="1"/>
              <a:t>i</a:t>
            </a:r>
            <a:r>
              <a:rPr lang="zh-CN" altLang="en-US" sz="2000" dirty="0"/>
              <a:t>需要读入的</a:t>
            </a:r>
            <a:r>
              <a:rPr lang="en-US" altLang="zh-CN" sz="2000" dirty="0"/>
              <a:t>Q</a:t>
            </a:r>
            <a:r>
              <a:rPr lang="zh-CN" altLang="en-US" sz="2000" dirty="0"/>
              <a:t>值</a:t>
            </a:r>
            <a:r>
              <a:rPr lang="zh-CN" altLang="en-US" sz="2000" dirty="0">
                <a:solidFill>
                  <a:srgbClr val="0000FF"/>
                </a:solidFill>
              </a:rPr>
              <a:t>已被覆盖</a:t>
            </a:r>
            <a:r>
              <a:rPr lang="zh-CN" altLang="en-US" sz="2000" dirty="0"/>
              <a:t>。因此，</a:t>
            </a:r>
            <a:r>
              <a:rPr lang="en-US" altLang="zh-CN" sz="2000" dirty="0">
                <a:solidFill>
                  <a:srgbClr val="FF0000"/>
                </a:solidFill>
              </a:rPr>
              <a:t>read</a:t>
            </a:r>
            <a:r>
              <a:rPr lang="zh-CN" altLang="en-US" sz="2000" dirty="0">
                <a:solidFill>
                  <a:srgbClr val="FF0000"/>
                </a:solidFill>
              </a:rPr>
              <a:t>操作被拒绝</a:t>
            </a:r>
            <a:r>
              <a:rPr lang="zh-CN" altLang="en-US" sz="2000" dirty="0"/>
              <a:t>，</a:t>
            </a:r>
            <a:r>
              <a:rPr lang="en-US" altLang="zh-CN" sz="2000" dirty="0"/>
              <a:t>T</a:t>
            </a:r>
            <a:r>
              <a:rPr lang="en-US" altLang="zh-CN" sz="2000" baseline="-25000" dirty="0"/>
              <a:t>i</a:t>
            </a:r>
            <a:r>
              <a:rPr lang="zh-CN" altLang="en-US" sz="2000" dirty="0"/>
              <a:t>回滚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pPr lvl="2"/>
            <a:r>
              <a:rPr lang="zh-CN" altLang="en-US" sz="2000" dirty="0"/>
              <a:t>若</a:t>
            </a:r>
            <a:r>
              <a:rPr lang="en-US" altLang="zh-CN" sz="2000" dirty="0"/>
              <a:t>TS(</a:t>
            </a:r>
            <a:r>
              <a:rPr lang="en-US" altLang="zh-CN" sz="2000" dirty="0" err="1"/>
              <a:t>T</a:t>
            </a:r>
            <a:r>
              <a:rPr lang="en-US" altLang="zh-CN" sz="2000" baseline="-25000" dirty="0" err="1"/>
              <a:t>i</a:t>
            </a:r>
            <a:r>
              <a:rPr lang="en-US" altLang="zh-CN" sz="2000" dirty="0"/>
              <a:t>) </a:t>
            </a:r>
            <a:r>
              <a:rPr lang="en-US" altLang="zh-CN" sz="2000" dirty="0">
                <a:solidFill>
                  <a:srgbClr val="FF0000"/>
                </a:solidFill>
              </a:rPr>
              <a:t>≥</a:t>
            </a:r>
            <a:r>
              <a:rPr lang="en-US" altLang="zh-CN" sz="2000" dirty="0"/>
              <a:t> W-timestamp(</a:t>
            </a:r>
            <a:r>
              <a:rPr lang="en-US" altLang="zh-CN" sz="2000" dirty="0">
                <a:solidFill>
                  <a:srgbClr val="006600"/>
                </a:solidFill>
              </a:rPr>
              <a:t>Q</a:t>
            </a:r>
            <a:r>
              <a:rPr lang="en-US" altLang="zh-CN" sz="2000" dirty="0"/>
              <a:t>)</a:t>
            </a:r>
            <a:r>
              <a:rPr lang="zh-CN" altLang="en-US" sz="2000" dirty="0"/>
              <a:t>，则</a:t>
            </a:r>
            <a:r>
              <a:rPr lang="zh-CN" altLang="en-US" sz="2000" dirty="0">
                <a:solidFill>
                  <a:srgbClr val="0000FF"/>
                </a:solidFill>
              </a:rPr>
              <a:t>执行</a:t>
            </a:r>
            <a:r>
              <a:rPr lang="en-US" altLang="zh-CN" sz="2000" dirty="0">
                <a:solidFill>
                  <a:srgbClr val="0000FF"/>
                </a:solidFill>
              </a:rPr>
              <a:t>read</a:t>
            </a:r>
            <a:r>
              <a:rPr lang="zh-CN" altLang="en-US" sz="2000" dirty="0">
                <a:solidFill>
                  <a:srgbClr val="0000FF"/>
                </a:solidFill>
              </a:rPr>
              <a:t>操作</a:t>
            </a:r>
            <a:r>
              <a:rPr lang="zh-CN" altLang="en-US" sz="2000" dirty="0"/>
              <a:t>，</a:t>
            </a:r>
            <a:r>
              <a:rPr lang="zh-CN" altLang="en-US" sz="2000" b="1" dirty="0">
                <a:solidFill>
                  <a:srgbClr val="0000FF"/>
                </a:solidFill>
              </a:rPr>
              <a:t>更新</a:t>
            </a:r>
            <a:r>
              <a:rPr lang="en-US" altLang="zh-CN" sz="2000" dirty="0">
                <a:solidFill>
                  <a:srgbClr val="FF0000"/>
                </a:solidFill>
              </a:rPr>
              <a:t>R-timestamp(</a:t>
            </a:r>
            <a:r>
              <a:rPr lang="en-US" altLang="zh-CN" sz="2000" dirty="0">
                <a:solidFill>
                  <a:srgbClr val="006600"/>
                </a:solidFill>
              </a:rPr>
              <a:t>Q</a:t>
            </a:r>
            <a:r>
              <a:rPr lang="en-US" altLang="zh-CN" sz="2000" dirty="0">
                <a:solidFill>
                  <a:srgbClr val="FF0000"/>
                </a:solidFill>
              </a:rPr>
              <a:t>)</a:t>
            </a:r>
            <a:r>
              <a:rPr lang="zh-CN" altLang="en-US" sz="2000" dirty="0">
                <a:solidFill>
                  <a:srgbClr val="FF0000"/>
                </a:solidFill>
              </a:rPr>
              <a:t>，</a:t>
            </a:r>
            <a:r>
              <a:rPr lang="zh-CN" altLang="en-US" sz="2000" dirty="0"/>
              <a:t>设置为</a:t>
            </a:r>
            <a:r>
              <a:rPr lang="en-US" altLang="zh-CN" sz="2000" dirty="0"/>
              <a:t>R-timestamp(</a:t>
            </a:r>
            <a:r>
              <a:rPr lang="en-US" altLang="zh-CN" sz="2000" dirty="0">
                <a:solidFill>
                  <a:srgbClr val="006600"/>
                </a:solidFill>
              </a:rPr>
              <a:t>Q</a:t>
            </a:r>
            <a:r>
              <a:rPr lang="en-US" altLang="zh-CN" sz="2000" dirty="0"/>
              <a:t>)</a:t>
            </a:r>
            <a:r>
              <a:rPr lang="zh-CN" altLang="en-US" sz="2000" dirty="0"/>
              <a:t>与</a:t>
            </a:r>
            <a:r>
              <a:rPr lang="en-US" altLang="zh-CN" sz="2000" dirty="0"/>
              <a:t>TS(</a:t>
            </a:r>
            <a:r>
              <a:rPr lang="en-US" altLang="zh-CN" sz="2000" dirty="0" err="1"/>
              <a:t>T</a:t>
            </a:r>
            <a:r>
              <a:rPr lang="en-US" altLang="zh-CN" sz="2000" baseline="-25000" dirty="0" err="1"/>
              <a:t>i</a:t>
            </a:r>
            <a:r>
              <a:rPr lang="en-US" altLang="zh-CN" sz="2000" dirty="0"/>
              <a:t>)</a:t>
            </a:r>
            <a:r>
              <a:rPr lang="zh-CN" altLang="en-US" sz="2000" dirty="0"/>
              <a:t>之间的</a:t>
            </a:r>
            <a:r>
              <a:rPr lang="zh-CN" altLang="en-US" sz="2000" b="1" dirty="0">
                <a:solidFill>
                  <a:srgbClr val="0000FF"/>
                </a:solidFill>
              </a:rPr>
              <a:t>最大值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pPr lvl="1"/>
            <a:endParaRPr lang="en-US" altLang="zh-CN" sz="2800" dirty="0"/>
          </a:p>
          <a:p>
            <a:endParaRPr lang="zh-CN" altLang="en-US" sz="28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0152" y="31964"/>
            <a:ext cx="3117232" cy="1446897"/>
          </a:xfrm>
          <a:prstGeom prst="rect">
            <a:avLst/>
          </a:prstGeom>
        </p:spPr>
      </p:pic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 dirty="0"/>
              <a:t>/79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14.5 </a:t>
            </a:r>
            <a:r>
              <a:rPr lang="zh-CN" altLang="en-US" sz="3200" dirty="0"/>
              <a:t>基于时间戳的协议</a:t>
            </a:r>
            <a:endParaRPr lang="zh-CN" altLang="en-US" sz="320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88EA6-881E-4727-8C9B-F2B9D7DB341E}" type="datetime1">
              <a:rPr lang="zh-CN" altLang="en-US" smtClean="0"/>
            </a:fld>
            <a:endParaRPr lang="en-US" altLang="zh-CN" dirty="0"/>
          </a:p>
        </p:txBody>
      </p:sp>
      <p:sp>
        <p:nvSpPr>
          <p:cNvPr id="564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75792"/>
            <a:ext cx="8345488" cy="4861520"/>
          </a:xfrm>
        </p:spPr>
        <p:txBody>
          <a:bodyPr/>
          <a:lstStyle/>
          <a:p>
            <a:r>
              <a:rPr lang="zh-CN" altLang="en-US" sz="2400" dirty="0"/>
              <a:t>时间戳排序协议</a:t>
            </a:r>
            <a:r>
              <a:rPr lang="en-US" altLang="zh-CN" sz="2400" dirty="0"/>
              <a:t>( timestamp-ordering protocol)</a:t>
            </a:r>
            <a:r>
              <a:rPr lang="zh-CN" altLang="en-US" sz="2400" dirty="0"/>
              <a:t>保证任何有冲突的</a:t>
            </a:r>
            <a:r>
              <a:rPr lang="en-US" altLang="zh-CN" sz="2400" dirty="0"/>
              <a:t>read</a:t>
            </a:r>
            <a:r>
              <a:rPr lang="zh-CN" altLang="en-US" sz="2400" dirty="0"/>
              <a:t>或</a:t>
            </a:r>
            <a:r>
              <a:rPr lang="en-US" altLang="zh-CN" sz="2400" dirty="0"/>
              <a:t>write </a:t>
            </a:r>
            <a:r>
              <a:rPr lang="zh-CN" altLang="en-US" sz="2400" dirty="0"/>
              <a:t>操作按时间戳顺序执行。该协议运作方式如下</a:t>
            </a:r>
            <a:r>
              <a:rPr lang="en-US" altLang="zh-CN" sz="2400" dirty="0"/>
              <a:t>(</a:t>
            </a:r>
            <a:r>
              <a:rPr lang="zh-CN" altLang="en-US" sz="2400" dirty="0"/>
              <a:t>续</a:t>
            </a:r>
            <a:r>
              <a:rPr lang="en-US" altLang="zh-CN" sz="2400" dirty="0"/>
              <a:t>):</a:t>
            </a:r>
            <a:endParaRPr lang="en-US" altLang="zh-CN" sz="2400" dirty="0"/>
          </a:p>
          <a:p>
            <a:pPr lvl="1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假设事务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altLang="zh-CN" sz="2400" b="1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发出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write(Q)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en-US" altLang="zh-CN" sz="2000" dirty="0"/>
              <a:t>a.</a:t>
            </a:r>
            <a:r>
              <a:rPr lang="zh-CN" altLang="en-US" sz="2000" dirty="0"/>
              <a:t>若</a:t>
            </a:r>
            <a:r>
              <a:rPr lang="en-US" altLang="zh-CN" sz="2000" dirty="0">
                <a:solidFill>
                  <a:srgbClr val="006600"/>
                </a:solidFill>
              </a:rPr>
              <a:t>TS(</a:t>
            </a:r>
            <a:r>
              <a:rPr lang="en-US" altLang="zh-CN" sz="2000" dirty="0" err="1">
                <a:solidFill>
                  <a:srgbClr val="006600"/>
                </a:solidFill>
              </a:rPr>
              <a:t>T</a:t>
            </a:r>
            <a:r>
              <a:rPr lang="en-US" altLang="zh-CN" sz="2000" baseline="-25000" dirty="0" err="1">
                <a:solidFill>
                  <a:srgbClr val="006600"/>
                </a:solidFill>
              </a:rPr>
              <a:t>i</a:t>
            </a:r>
            <a:r>
              <a:rPr lang="en-US" altLang="zh-CN" sz="2000" dirty="0">
                <a:solidFill>
                  <a:srgbClr val="006600"/>
                </a:solidFill>
              </a:rPr>
              <a:t>)</a:t>
            </a:r>
            <a:r>
              <a:rPr lang="en-US" altLang="zh-CN" sz="2000" dirty="0"/>
              <a:t>&lt;</a:t>
            </a:r>
            <a:r>
              <a:rPr lang="en-US" altLang="zh-CN" sz="2000" dirty="0">
                <a:solidFill>
                  <a:srgbClr val="0000FF"/>
                </a:solidFill>
              </a:rPr>
              <a:t>R</a:t>
            </a:r>
            <a:r>
              <a:rPr lang="en-US" altLang="zh-CN" sz="2000" dirty="0"/>
              <a:t>-timestamp(Q)</a:t>
            </a:r>
            <a:r>
              <a:rPr lang="zh-CN" altLang="en-US" sz="2000" dirty="0"/>
              <a:t>，则表示</a:t>
            </a:r>
            <a:r>
              <a:rPr lang="en-US" altLang="zh-CN" sz="2000" dirty="0" err="1"/>
              <a:t>T</a:t>
            </a:r>
            <a:r>
              <a:rPr lang="en-US" altLang="zh-CN" sz="2000" baseline="-25000" dirty="0" err="1"/>
              <a:t>i</a:t>
            </a:r>
            <a:r>
              <a:rPr lang="zh-CN" altLang="en-US" sz="2000" dirty="0"/>
              <a:t>产生的</a:t>
            </a:r>
            <a:r>
              <a:rPr lang="en-US" altLang="zh-CN" sz="2000" dirty="0"/>
              <a:t>Q</a:t>
            </a:r>
            <a:r>
              <a:rPr lang="zh-CN" altLang="en-US" sz="2000" dirty="0"/>
              <a:t>值是</a:t>
            </a:r>
            <a:r>
              <a:rPr lang="zh-CN" altLang="en-US" sz="2000" b="1" dirty="0">
                <a:solidFill>
                  <a:srgbClr val="0000FF"/>
                </a:solidFill>
              </a:rPr>
              <a:t>先前所需要的值</a:t>
            </a:r>
            <a:r>
              <a:rPr lang="en-US" altLang="zh-CN" sz="2000" b="1" dirty="0">
                <a:solidFill>
                  <a:srgbClr val="0000FF"/>
                </a:solidFill>
              </a:rPr>
              <a:t>(</a:t>
            </a:r>
            <a:r>
              <a:rPr lang="zh-CN" altLang="en-US" sz="2000" b="1" dirty="0">
                <a:solidFill>
                  <a:srgbClr val="0000FF"/>
                </a:solidFill>
              </a:rPr>
              <a:t>其他事务</a:t>
            </a:r>
            <a:r>
              <a:rPr lang="zh-CN" altLang="en-US" sz="2000" b="1" dirty="0">
                <a:solidFill>
                  <a:srgbClr val="006600"/>
                </a:solidFill>
              </a:rPr>
              <a:t>已读取</a:t>
            </a:r>
            <a:r>
              <a:rPr lang="en-US" altLang="zh-CN" sz="2000" b="1" dirty="0">
                <a:solidFill>
                  <a:srgbClr val="0000FF"/>
                </a:solidFill>
              </a:rPr>
              <a:t>)</a:t>
            </a:r>
            <a:r>
              <a:rPr lang="zh-CN" altLang="en-US" sz="2000" dirty="0"/>
              <a:t>，且</a:t>
            </a:r>
            <a:r>
              <a:rPr lang="zh-CN" altLang="en-US" sz="2000" b="1" dirty="0">
                <a:solidFill>
                  <a:srgbClr val="0000FF"/>
                </a:solidFill>
              </a:rPr>
              <a:t>系统</a:t>
            </a:r>
            <a:r>
              <a:rPr lang="zh-CN" altLang="en-US" sz="2000" dirty="0">
                <a:solidFill>
                  <a:srgbClr val="0000FF"/>
                </a:solidFill>
              </a:rPr>
              <a:t>已假定该值不会再产生</a:t>
            </a:r>
            <a:r>
              <a:rPr lang="zh-CN" altLang="en-US" sz="2000" dirty="0"/>
              <a:t>。因此，</a:t>
            </a:r>
            <a:r>
              <a:rPr lang="en-US" altLang="zh-CN" sz="2000" dirty="0">
                <a:solidFill>
                  <a:srgbClr val="FF0000"/>
                </a:solidFill>
              </a:rPr>
              <a:t>write</a:t>
            </a:r>
            <a:r>
              <a:rPr lang="zh-CN" altLang="en-US" sz="2000" dirty="0">
                <a:solidFill>
                  <a:srgbClr val="FF0000"/>
                </a:solidFill>
              </a:rPr>
              <a:t>操作被拒绝，</a:t>
            </a:r>
            <a:r>
              <a:rPr lang="en-US" altLang="zh-CN" sz="2000" b="1" dirty="0">
                <a:solidFill>
                  <a:srgbClr val="660066"/>
                </a:solidFill>
              </a:rPr>
              <a:t>T</a:t>
            </a:r>
            <a:r>
              <a:rPr lang="en-US" altLang="zh-CN" sz="2000" b="1" baseline="-25000" dirty="0">
                <a:solidFill>
                  <a:srgbClr val="660066"/>
                </a:solidFill>
              </a:rPr>
              <a:t>i</a:t>
            </a:r>
            <a:r>
              <a:rPr lang="zh-CN" altLang="en-US" sz="2000" b="1" dirty="0">
                <a:solidFill>
                  <a:srgbClr val="660066"/>
                </a:solidFill>
              </a:rPr>
              <a:t>回滚</a:t>
            </a:r>
            <a:r>
              <a:rPr lang="zh-CN" altLang="en-US" sz="2000" dirty="0"/>
              <a:t>；</a:t>
            </a:r>
            <a:endParaRPr lang="zh-CN" altLang="en-US" sz="2800" dirty="0"/>
          </a:p>
          <a:p>
            <a:pPr lvl="2"/>
            <a:r>
              <a:rPr lang="en-US" altLang="zh-CN" sz="2000" dirty="0"/>
              <a:t>b.</a:t>
            </a:r>
            <a:r>
              <a:rPr lang="zh-CN" altLang="en-US" sz="2000" dirty="0"/>
              <a:t>若</a:t>
            </a:r>
            <a:r>
              <a:rPr lang="en-US" altLang="zh-CN" sz="2000" dirty="0">
                <a:solidFill>
                  <a:srgbClr val="006600"/>
                </a:solidFill>
              </a:rPr>
              <a:t>TS(</a:t>
            </a:r>
            <a:r>
              <a:rPr lang="en-US" altLang="zh-CN" sz="2000" dirty="0" err="1">
                <a:solidFill>
                  <a:srgbClr val="006600"/>
                </a:solidFill>
              </a:rPr>
              <a:t>T</a:t>
            </a:r>
            <a:r>
              <a:rPr lang="en-US" altLang="zh-CN" sz="2000" baseline="-25000" dirty="0" err="1">
                <a:solidFill>
                  <a:srgbClr val="006600"/>
                </a:solidFill>
              </a:rPr>
              <a:t>i</a:t>
            </a:r>
            <a:r>
              <a:rPr lang="en-US" altLang="zh-CN" sz="2000" dirty="0">
                <a:solidFill>
                  <a:srgbClr val="006600"/>
                </a:solidFill>
              </a:rPr>
              <a:t>)</a:t>
            </a:r>
            <a:r>
              <a:rPr lang="en-US" altLang="zh-CN" sz="2000" dirty="0"/>
              <a:t>&lt;</a:t>
            </a:r>
            <a:r>
              <a:rPr lang="en-US" altLang="zh-CN" sz="2000" dirty="0">
                <a:solidFill>
                  <a:srgbClr val="0000FF"/>
                </a:solidFill>
              </a:rPr>
              <a:t>W</a:t>
            </a:r>
            <a:r>
              <a:rPr lang="en-US" altLang="zh-CN" sz="2000" dirty="0"/>
              <a:t>-timestamp(Q)</a:t>
            </a:r>
            <a:r>
              <a:rPr lang="zh-CN" altLang="en-US" sz="2000" dirty="0"/>
              <a:t>，则</a:t>
            </a:r>
            <a:r>
              <a:rPr lang="en-US" altLang="zh-CN" sz="2000" dirty="0" err="1"/>
              <a:t>T</a:t>
            </a:r>
            <a:r>
              <a:rPr lang="en-US" altLang="zh-CN" sz="2000" baseline="-25000" dirty="0" err="1"/>
              <a:t>i</a:t>
            </a:r>
            <a:r>
              <a:rPr lang="zh-CN" altLang="en-US" sz="2000" dirty="0"/>
              <a:t>试图写入的</a:t>
            </a:r>
            <a:r>
              <a:rPr lang="en-US" altLang="zh-CN" sz="2000" dirty="0"/>
              <a:t>Q</a:t>
            </a:r>
            <a:r>
              <a:rPr lang="zh-CN" altLang="en-US" sz="2000" dirty="0"/>
              <a:t>值</a:t>
            </a:r>
            <a:r>
              <a:rPr lang="zh-CN" altLang="en-US" sz="2000" b="1" dirty="0">
                <a:solidFill>
                  <a:srgbClr val="0000FF"/>
                </a:solidFill>
              </a:rPr>
              <a:t>已过时</a:t>
            </a:r>
            <a:r>
              <a:rPr lang="en-US" altLang="zh-CN" sz="2000" b="1" dirty="0">
                <a:solidFill>
                  <a:srgbClr val="0000FF"/>
                </a:solidFill>
              </a:rPr>
              <a:t>(</a:t>
            </a:r>
            <a:r>
              <a:rPr lang="zh-CN" altLang="en-US" sz="2000" b="1" dirty="0">
                <a:solidFill>
                  <a:srgbClr val="0000FF"/>
                </a:solidFill>
              </a:rPr>
              <a:t>其他事务</a:t>
            </a:r>
            <a:r>
              <a:rPr lang="zh-CN" altLang="en-US" sz="2000" b="1" dirty="0">
                <a:solidFill>
                  <a:srgbClr val="006600"/>
                </a:solidFill>
              </a:rPr>
              <a:t>已写过</a:t>
            </a:r>
            <a:r>
              <a:rPr lang="en-US" altLang="zh-CN" sz="2000" b="1" dirty="0">
                <a:solidFill>
                  <a:srgbClr val="0000FF"/>
                </a:solidFill>
              </a:rPr>
              <a:t>)</a:t>
            </a:r>
            <a:r>
              <a:rPr lang="zh-CN" altLang="en-US" sz="2000" dirty="0"/>
              <a:t>。因此，</a:t>
            </a:r>
            <a:r>
              <a:rPr lang="en-US" altLang="zh-CN" sz="2000" dirty="0">
                <a:solidFill>
                  <a:srgbClr val="FF0000"/>
                </a:solidFill>
              </a:rPr>
              <a:t>write</a:t>
            </a:r>
            <a:r>
              <a:rPr lang="zh-CN" altLang="en-US" sz="2000" dirty="0">
                <a:solidFill>
                  <a:srgbClr val="FF0000"/>
                </a:solidFill>
              </a:rPr>
              <a:t>操作被拒绝</a:t>
            </a:r>
            <a:r>
              <a:rPr lang="zh-CN" altLang="en-US" sz="1600" dirty="0"/>
              <a:t>，</a:t>
            </a:r>
            <a:r>
              <a:rPr lang="en-US" altLang="zh-CN" sz="2000" b="1" dirty="0">
                <a:solidFill>
                  <a:srgbClr val="660066"/>
                </a:solidFill>
              </a:rPr>
              <a:t>T</a:t>
            </a:r>
            <a:r>
              <a:rPr lang="en-US" altLang="zh-CN" sz="2000" b="1" baseline="-25000" dirty="0">
                <a:solidFill>
                  <a:srgbClr val="660066"/>
                </a:solidFill>
              </a:rPr>
              <a:t>i</a:t>
            </a:r>
            <a:r>
              <a:rPr lang="zh-CN" altLang="en-US" sz="2000" b="1" dirty="0">
                <a:solidFill>
                  <a:srgbClr val="660066"/>
                </a:solidFill>
              </a:rPr>
              <a:t>回滚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lvl="2"/>
            <a:r>
              <a:rPr lang="en-US" altLang="zh-CN" sz="2000" dirty="0"/>
              <a:t>c.</a:t>
            </a:r>
            <a:r>
              <a:rPr lang="zh-CN" altLang="en-US" sz="2000" dirty="0"/>
              <a:t>其他情况</a:t>
            </a:r>
            <a:r>
              <a:rPr lang="en-US" altLang="zh-CN" sz="2000" dirty="0"/>
              <a:t>(else)</a:t>
            </a:r>
            <a:r>
              <a:rPr lang="zh-CN" altLang="en-US" sz="2000" dirty="0"/>
              <a:t>，系统</a:t>
            </a:r>
            <a:r>
              <a:rPr lang="zh-CN" altLang="en-US" sz="2000" b="1" dirty="0">
                <a:solidFill>
                  <a:srgbClr val="0000FF"/>
                </a:solidFill>
              </a:rPr>
              <a:t>执行</a:t>
            </a:r>
            <a:r>
              <a:rPr lang="en-US" altLang="zh-CN" sz="2000" b="1" dirty="0">
                <a:solidFill>
                  <a:srgbClr val="0000FF"/>
                </a:solidFill>
              </a:rPr>
              <a:t>write </a:t>
            </a:r>
            <a:r>
              <a:rPr lang="zh-CN" altLang="en-US" sz="2000" b="1" dirty="0">
                <a:solidFill>
                  <a:srgbClr val="0000FF"/>
                </a:solidFill>
              </a:rPr>
              <a:t>操作</a:t>
            </a:r>
            <a:r>
              <a:rPr lang="zh-CN" altLang="en-US" sz="2000" dirty="0"/>
              <a:t>，将</a:t>
            </a:r>
            <a:r>
              <a:rPr lang="en-US" altLang="zh-CN" sz="2000" dirty="0">
                <a:solidFill>
                  <a:srgbClr val="FF0000"/>
                </a:solidFill>
              </a:rPr>
              <a:t>W-timestamp(Q)</a:t>
            </a:r>
            <a:r>
              <a:rPr lang="zh-CN" altLang="en-US" sz="2000" dirty="0"/>
              <a:t>设置为</a:t>
            </a:r>
            <a:r>
              <a:rPr lang="en-US" altLang="zh-CN" sz="2000" b="1" dirty="0">
                <a:solidFill>
                  <a:srgbClr val="FF0000"/>
                </a:solidFill>
              </a:rPr>
              <a:t>TS(T)</a:t>
            </a:r>
            <a:r>
              <a:rPr lang="zh-CN" altLang="en-US" sz="2000" dirty="0"/>
              <a:t>。</a:t>
            </a:r>
            <a:endParaRPr lang="zh-CN" altLang="en-US" sz="2800" dirty="0"/>
          </a:p>
          <a:p>
            <a:pPr lvl="1"/>
            <a:r>
              <a:rPr lang="zh-CN" altLang="en-US" sz="2000" dirty="0"/>
              <a:t>如果</a:t>
            </a:r>
            <a:r>
              <a:rPr lang="zh-CN" altLang="en-US" sz="2000" dirty="0">
                <a:solidFill>
                  <a:srgbClr val="0000FF"/>
                </a:solidFill>
              </a:rPr>
              <a:t>事务</a:t>
            </a:r>
            <a:r>
              <a:rPr lang="en-US" altLang="zh-CN" sz="2000" dirty="0">
                <a:solidFill>
                  <a:srgbClr val="0000FF"/>
                </a:solidFill>
              </a:rPr>
              <a:t>T</a:t>
            </a:r>
            <a:r>
              <a:rPr lang="zh-CN" altLang="en-US" sz="2000" dirty="0"/>
              <a:t>由于发出</a:t>
            </a:r>
            <a:r>
              <a:rPr lang="en-US" altLang="zh-CN" sz="2000" dirty="0"/>
              <a:t>read</a:t>
            </a:r>
            <a:r>
              <a:rPr lang="zh-CN" altLang="en-US" sz="2000" dirty="0"/>
              <a:t>或</a:t>
            </a:r>
            <a:r>
              <a:rPr lang="en-US" altLang="zh-CN" sz="2000" dirty="0"/>
              <a:t>write</a:t>
            </a:r>
            <a:r>
              <a:rPr lang="zh-CN" altLang="en-US" sz="2000" dirty="0"/>
              <a:t>操作而被并发控制机制回滚，则系统</a:t>
            </a:r>
            <a:r>
              <a:rPr lang="zh-CN" altLang="en-US" sz="2000" b="1" dirty="0"/>
              <a:t>赋予它</a:t>
            </a:r>
            <a:r>
              <a:rPr lang="zh-CN" altLang="en-US" sz="2000" b="1" dirty="0">
                <a:solidFill>
                  <a:srgbClr val="0000FF"/>
                </a:solidFill>
              </a:rPr>
              <a:t>新的时间戳</a:t>
            </a:r>
            <a:r>
              <a:rPr lang="zh-CN" altLang="en-US" sz="2000" dirty="0"/>
              <a:t>并</a:t>
            </a:r>
            <a:r>
              <a:rPr lang="zh-CN" altLang="en-US" sz="2000" b="1" dirty="0">
                <a:solidFill>
                  <a:srgbClr val="0000FF"/>
                </a:solidFill>
              </a:rPr>
              <a:t>重新启动</a:t>
            </a:r>
            <a:r>
              <a:rPr lang="zh-CN" altLang="en-US" sz="2000" dirty="0"/>
              <a:t>。</a:t>
            </a: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4168" y="44624"/>
            <a:ext cx="2973216" cy="1380050"/>
          </a:xfrm>
          <a:prstGeom prst="rect">
            <a:avLst/>
          </a:prstGeom>
        </p:spPr>
      </p:pic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基于时间戳的协议示例</a:t>
            </a:r>
            <a:endParaRPr lang="zh-CN" altLang="en-US" dirty="0"/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71500" y="1681163"/>
            <a:ext cx="2268538" cy="50212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dirty="0"/>
              <a:t> T</a:t>
            </a:r>
            <a:r>
              <a:rPr lang="en-US" altLang="zh-CN" sz="2500" baseline="-25000" dirty="0"/>
              <a:t>1</a:t>
            </a:r>
            <a:endParaRPr lang="en-US" altLang="zh-CN" sz="2500" baseline="-25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dirty="0">
                <a:solidFill>
                  <a:srgbClr val="0000FF"/>
                </a:solidFill>
              </a:rPr>
              <a:t>150</a:t>
            </a:r>
            <a:endParaRPr lang="en-US" altLang="zh-CN" sz="2500" dirty="0">
              <a:solidFill>
                <a:srgbClr val="0000FF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5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dirty="0"/>
              <a:t>Read A</a:t>
            </a:r>
            <a:endParaRPr lang="en-US" altLang="zh-CN" sz="25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dirty="0"/>
              <a:t>A=A+1</a:t>
            </a:r>
            <a:endParaRPr lang="en-US" altLang="zh-CN" sz="25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dirty="0"/>
              <a:t>Write A</a:t>
            </a:r>
            <a:endParaRPr lang="en-US" altLang="zh-CN" sz="25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dirty="0"/>
              <a:t>T</a:t>
            </a:r>
            <a:r>
              <a:rPr lang="en-US" altLang="zh-CN" sz="2500" baseline="-25000" dirty="0"/>
              <a:t>1</a:t>
            </a:r>
            <a:r>
              <a:rPr lang="en-US" altLang="zh-CN" sz="2500" dirty="0"/>
              <a:t> abort</a:t>
            </a:r>
            <a:endParaRPr lang="en-US" altLang="zh-CN" sz="25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500" dirty="0"/>
          </a:p>
        </p:txBody>
      </p:sp>
      <p:sp>
        <p:nvSpPr>
          <p:cNvPr id="37893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3713163" y="1684338"/>
            <a:ext cx="1992312" cy="50212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dirty="0"/>
              <a:t>T</a:t>
            </a:r>
            <a:r>
              <a:rPr lang="en-US" altLang="zh-CN" sz="2500" baseline="-25000" dirty="0"/>
              <a:t>2</a:t>
            </a:r>
            <a:endParaRPr lang="en-US" altLang="zh-CN" sz="2500" baseline="-25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dirty="0">
                <a:solidFill>
                  <a:srgbClr val="0000FF"/>
                </a:solidFill>
              </a:rPr>
              <a:t>160</a:t>
            </a:r>
            <a:endParaRPr lang="en-US" altLang="zh-CN" sz="2500" dirty="0">
              <a:solidFill>
                <a:srgbClr val="0000FF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dirty="0"/>
              <a:t>Read A</a:t>
            </a:r>
            <a:endParaRPr lang="en-US" altLang="zh-CN" sz="25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dirty="0"/>
              <a:t>A=A+1</a:t>
            </a:r>
            <a:endParaRPr lang="en-US" altLang="zh-CN" sz="25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dirty="0"/>
              <a:t>Write A</a:t>
            </a:r>
            <a:endParaRPr lang="en-US" altLang="zh-CN" sz="25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dirty="0"/>
          </a:p>
        </p:txBody>
      </p:sp>
      <p:sp>
        <p:nvSpPr>
          <p:cNvPr id="655365" name="Rectangle 5"/>
          <p:cNvSpPr>
            <a:spLocks noChangeArrowheads="1"/>
          </p:cNvSpPr>
          <p:nvPr/>
        </p:nvSpPr>
        <p:spPr bwMode="auto">
          <a:xfrm>
            <a:off x="5886449" y="1700808"/>
            <a:ext cx="2297113" cy="502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2500" i="0" dirty="0"/>
              <a:t>数据项</a:t>
            </a:r>
            <a:r>
              <a:rPr lang="en-US" altLang="zh-CN" sz="2500" i="0" dirty="0"/>
              <a:t>A</a:t>
            </a:r>
            <a:endParaRPr lang="en-US" altLang="zh-CN" sz="2500" i="0" dirty="0"/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500" i="0" dirty="0"/>
              <a:t>RT=0</a:t>
            </a:r>
            <a:endParaRPr lang="en-US" altLang="zh-CN" sz="2500" i="0" dirty="0"/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500" i="0" dirty="0"/>
              <a:t>WT=0</a:t>
            </a:r>
            <a:endParaRPr lang="en-US" altLang="zh-CN" sz="2500" i="0" dirty="0"/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500" i="0" dirty="0">
                <a:solidFill>
                  <a:srgbClr val="0000FF"/>
                </a:solidFill>
              </a:rPr>
              <a:t>RT=150</a:t>
            </a:r>
            <a:endParaRPr lang="en-US" altLang="zh-CN" sz="2500" i="0" dirty="0">
              <a:solidFill>
                <a:srgbClr val="0000FF"/>
              </a:solidFill>
            </a:endParaRPr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500" i="0" dirty="0">
                <a:solidFill>
                  <a:srgbClr val="FF0000"/>
                </a:solidFill>
              </a:rPr>
              <a:t>RT=160</a:t>
            </a:r>
            <a:endParaRPr lang="en-US" altLang="zh-CN" sz="2500" i="0" dirty="0">
              <a:solidFill>
                <a:srgbClr val="FF0000"/>
              </a:solidFill>
            </a:endParaRPr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endParaRPr lang="en-US" altLang="zh-CN" sz="2500" i="0" dirty="0">
              <a:solidFill>
                <a:srgbClr val="FF0000"/>
              </a:solidFill>
            </a:endParaRPr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endParaRPr lang="en-US" altLang="zh-CN" sz="2500" i="0" dirty="0">
              <a:solidFill>
                <a:srgbClr val="FF0000"/>
              </a:solidFill>
            </a:endParaRPr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500" i="0" dirty="0">
                <a:solidFill>
                  <a:srgbClr val="FF0000"/>
                </a:solidFill>
              </a:rPr>
              <a:t>WT=160</a:t>
            </a:r>
            <a:endParaRPr lang="en-US" altLang="zh-CN" sz="2500" i="0" dirty="0">
              <a:solidFill>
                <a:srgbClr val="FF0000"/>
              </a:solidFill>
            </a:endParaRPr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endParaRPr lang="en-US" altLang="zh-CN" sz="2500" i="0" dirty="0"/>
          </a:p>
        </p:txBody>
      </p:sp>
      <p:sp>
        <p:nvSpPr>
          <p:cNvPr id="37895" name="Line 6"/>
          <p:cNvSpPr>
            <a:spLocks noChangeShapeType="1"/>
          </p:cNvSpPr>
          <p:nvPr/>
        </p:nvSpPr>
        <p:spPr bwMode="auto">
          <a:xfrm flipV="1">
            <a:off x="471488" y="2168525"/>
            <a:ext cx="8672512" cy="14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6" name="Line 7"/>
          <p:cNvSpPr>
            <a:spLocks noChangeShapeType="1"/>
          </p:cNvSpPr>
          <p:nvPr/>
        </p:nvSpPr>
        <p:spPr bwMode="auto">
          <a:xfrm flipV="1">
            <a:off x="444500" y="3084513"/>
            <a:ext cx="8672513" cy="14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368" name="AutoShape 8"/>
          <p:cNvSpPr>
            <a:spLocks noChangeArrowheads="1"/>
          </p:cNvSpPr>
          <p:nvPr/>
        </p:nvSpPr>
        <p:spPr bwMode="auto">
          <a:xfrm>
            <a:off x="2522538" y="5513388"/>
            <a:ext cx="2337494" cy="990600"/>
          </a:xfrm>
          <a:prstGeom prst="wedgeRoundRectCallout">
            <a:avLst>
              <a:gd name="adj1" fmla="val -80806"/>
              <a:gd name="adj2" fmla="val -38620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i="0" dirty="0">
                <a:latin typeface="Helvetica" panose="020B0604020202020204" pitchFamily="34" charset="0"/>
              </a:rPr>
              <a:t>A</a:t>
            </a:r>
            <a:r>
              <a:rPr lang="zh-CN" altLang="en-US" sz="1800" b="0" i="0" dirty="0">
                <a:latin typeface="Helvetica" panose="020B0604020202020204" pitchFamily="34" charset="0"/>
              </a:rPr>
              <a:t>已经被后续的事务读取了，</a:t>
            </a:r>
            <a:r>
              <a:rPr lang="en-US" altLang="zh-CN" sz="1800" b="0" i="0" dirty="0">
                <a:latin typeface="Helvetica" panose="020B0604020202020204" pitchFamily="34" charset="0"/>
              </a:rPr>
              <a:t>T</a:t>
            </a:r>
            <a:r>
              <a:rPr lang="en-US" altLang="zh-CN" sz="1800" b="0" i="0" baseline="-25000" dirty="0">
                <a:latin typeface="Helvetica" panose="020B0604020202020204" pitchFamily="34" charset="0"/>
              </a:rPr>
              <a:t>1</a:t>
            </a:r>
            <a:r>
              <a:rPr lang="zh-CN" altLang="en-US" sz="1800" b="0" i="0" dirty="0">
                <a:latin typeface="Helvetica" panose="020B0604020202020204" pitchFamily="34" charset="0"/>
              </a:rPr>
              <a:t>的写操作</a:t>
            </a:r>
            <a:r>
              <a:rPr lang="zh-CN" altLang="en-US" sz="1800" b="0" i="0" dirty="0">
                <a:solidFill>
                  <a:srgbClr val="0000FF"/>
                </a:solidFill>
                <a:latin typeface="Helvetica" panose="020B0604020202020204" pitchFamily="34" charset="0"/>
              </a:rPr>
              <a:t>晚了</a:t>
            </a:r>
            <a:r>
              <a:rPr lang="zh-CN" altLang="en-US" sz="1800" b="0" i="0" dirty="0">
                <a:latin typeface="Helvetica" panose="020B0604020202020204" pitchFamily="34" charset="0"/>
              </a:rPr>
              <a:t>，</a:t>
            </a:r>
            <a:r>
              <a:rPr lang="en-US" altLang="zh-CN" sz="1800" i="0" dirty="0">
                <a:solidFill>
                  <a:srgbClr val="C00000"/>
                </a:solidFill>
                <a:latin typeface="Helvetica" panose="020B0604020202020204" pitchFamily="34" charset="0"/>
              </a:rPr>
              <a:t>T</a:t>
            </a:r>
            <a:r>
              <a:rPr lang="en-US" altLang="zh-CN" sz="1800" i="0" baseline="-25000" dirty="0">
                <a:solidFill>
                  <a:srgbClr val="C00000"/>
                </a:solidFill>
                <a:latin typeface="Helvetica" panose="020B0604020202020204" pitchFamily="34" charset="0"/>
              </a:rPr>
              <a:t>1</a:t>
            </a:r>
            <a:r>
              <a:rPr lang="zh-CN" altLang="en-US" sz="1800" dirty="0">
                <a:solidFill>
                  <a:srgbClr val="C00000"/>
                </a:solidFill>
                <a:latin typeface="Helvetica" panose="020B0604020202020204" pitchFamily="34" charset="0"/>
              </a:rPr>
              <a:t>回滚</a:t>
            </a:r>
            <a:endParaRPr lang="zh-CN" altLang="en-US" sz="1800" i="0" dirty="0">
              <a:solidFill>
                <a:srgbClr val="C00000"/>
              </a:solidFill>
              <a:latin typeface="Helvetica" panose="020B0604020202020204" pitchFamily="34" charset="0"/>
            </a:endParaRPr>
          </a:p>
        </p:txBody>
      </p:sp>
      <p:sp>
        <p:nvSpPr>
          <p:cNvPr id="37898" name="Line 0"/>
          <p:cNvSpPr>
            <a:spLocks noChangeShapeType="1"/>
          </p:cNvSpPr>
          <p:nvPr/>
        </p:nvSpPr>
        <p:spPr bwMode="auto">
          <a:xfrm flipH="1">
            <a:off x="5316538" y="1143000"/>
            <a:ext cx="28575" cy="571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7954353" y="2389902"/>
            <a:ext cx="1107996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时间戳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A76D8-6F8E-4374-B39A-65424E1A2C4F}" type="datetime1">
              <a:rPr lang="zh-CN" altLang="en-US" smtClean="0"/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BDAF8-5F80-44E9-815F-3A25DDBB3C40}" type="slidenum">
              <a:rPr lang="en-US" altLang="zh-CN" smtClean="0"/>
            </a:fld>
            <a:r>
              <a:rPr lang="en-US" altLang="zh-CN"/>
              <a:t>/ 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5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53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553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5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6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827584" y="548680"/>
            <a:ext cx="8610600" cy="609600"/>
          </a:xfrm>
        </p:spPr>
        <p:txBody>
          <a:bodyPr/>
          <a:lstStyle/>
          <a:p>
            <a:pPr eaLnBrk="1" hangingPunct="1"/>
            <a:r>
              <a:rPr lang="zh-CN" altLang="en-US" dirty="0"/>
              <a:t>时间戳排序协议的正确性</a:t>
            </a:r>
            <a:endParaRPr lang="en-US" altLang="zh-CN" dirty="0"/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27584" y="1412777"/>
            <a:ext cx="7886700" cy="4752528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500" dirty="0"/>
              <a:t>时间戳排序协议确保了可串行化，因为</a:t>
            </a:r>
            <a:r>
              <a:rPr lang="zh-CN" altLang="en-US" sz="2500" b="1" dirty="0"/>
              <a:t>优先图</a:t>
            </a:r>
            <a:r>
              <a:rPr lang="zh-CN" altLang="en-US" sz="2500" dirty="0"/>
              <a:t>中的所有边都形如</a:t>
            </a:r>
            <a:endParaRPr lang="en-US" altLang="zh-CN" sz="2500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sz="2500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sz="2500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500" dirty="0"/>
              <a:t>    </a:t>
            </a:r>
            <a:endParaRPr lang="en-US" altLang="zh-CN" sz="2500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sz="2500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500" dirty="0"/>
              <a:t>因此优先图中没有环</a:t>
            </a:r>
            <a:endParaRPr lang="en-US" altLang="zh-CN" sz="2500" dirty="0"/>
          </a:p>
          <a:p>
            <a:pPr eaLnBrk="1" hangingPunct="1">
              <a:lnSpc>
                <a:spcPct val="120000"/>
              </a:lnSpc>
            </a:pPr>
            <a:r>
              <a:rPr lang="zh-CN" altLang="en-US" sz="2500" dirty="0"/>
              <a:t>时间戳协议</a:t>
            </a:r>
            <a:r>
              <a:rPr lang="zh-CN" altLang="en-US" sz="2500" b="1" dirty="0">
                <a:solidFill>
                  <a:srgbClr val="0000FF"/>
                </a:solidFill>
              </a:rPr>
              <a:t>确保没有死锁</a:t>
            </a:r>
            <a:r>
              <a:rPr lang="zh-CN" altLang="en-US" sz="2500" dirty="0"/>
              <a:t>，因为</a:t>
            </a:r>
            <a:r>
              <a:rPr lang="zh-CN" altLang="en-US" sz="2500" b="1" dirty="0">
                <a:solidFill>
                  <a:srgbClr val="0000FF"/>
                </a:solidFill>
              </a:rPr>
              <a:t>没有事务会等待</a:t>
            </a:r>
            <a:r>
              <a:rPr lang="en-US" altLang="zh-CN" sz="2500" b="1" dirty="0">
                <a:solidFill>
                  <a:srgbClr val="0000FF"/>
                </a:solidFill>
              </a:rPr>
              <a:t>;</a:t>
            </a:r>
            <a:endParaRPr lang="en-US" altLang="zh-CN" sz="2500" b="1" dirty="0">
              <a:solidFill>
                <a:srgbClr val="0000FF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500" dirty="0"/>
              <a:t>但是调度</a:t>
            </a:r>
            <a:r>
              <a:rPr lang="zh-CN" altLang="en-US" sz="2500" b="1" dirty="0">
                <a:solidFill>
                  <a:srgbClr val="FF0000"/>
                </a:solidFill>
              </a:rPr>
              <a:t>可能导致级联回滚</a:t>
            </a:r>
            <a:r>
              <a:rPr lang="zh-CN" altLang="en-US" sz="2500" dirty="0"/>
              <a:t>，并且甚至可能</a:t>
            </a:r>
            <a:r>
              <a:rPr lang="zh-CN" altLang="en-US" sz="2500" b="1" dirty="0">
                <a:solidFill>
                  <a:srgbClr val="FF0000"/>
                </a:solidFill>
              </a:rPr>
              <a:t>不可恢复</a:t>
            </a:r>
            <a:r>
              <a:rPr lang="en-US" altLang="zh-CN" sz="2500" b="1" dirty="0">
                <a:solidFill>
                  <a:srgbClr val="FF0000"/>
                </a:solidFill>
              </a:rPr>
              <a:t>.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38917" name="Oval 4"/>
          <p:cNvSpPr>
            <a:spLocks noChangeArrowheads="1"/>
          </p:cNvSpPr>
          <p:nvPr/>
        </p:nvSpPr>
        <p:spPr bwMode="auto">
          <a:xfrm>
            <a:off x="1250950" y="2652713"/>
            <a:ext cx="1752600" cy="1828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latin typeface="Helvetica" panose="020B0604020202020204" pitchFamily="34" charset="0"/>
            </a:endParaRPr>
          </a:p>
        </p:txBody>
      </p:sp>
      <p:sp>
        <p:nvSpPr>
          <p:cNvPr id="38918" name="Oval 5"/>
          <p:cNvSpPr>
            <a:spLocks noChangeArrowheads="1"/>
          </p:cNvSpPr>
          <p:nvPr/>
        </p:nvSpPr>
        <p:spPr bwMode="auto">
          <a:xfrm>
            <a:off x="5899150" y="2652713"/>
            <a:ext cx="1752600" cy="1828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latin typeface="Helvetica" panose="020B0604020202020204" pitchFamily="34" charset="0"/>
            </a:endParaRPr>
          </a:p>
        </p:txBody>
      </p:sp>
      <p:sp>
        <p:nvSpPr>
          <p:cNvPr id="38919" name="Text Box 6"/>
          <p:cNvSpPr txBox="1">
            <a:spLocks noChangeArrowheads="1"/>
          </p:cNvSpPr>
          <p:nvPr/>
        </p:nvSpPr>
        <p:spPr bwMode="auto">
          <a:xfrm>
            <a:off x="1477963" y="2859088"/>
            <a:ext cx="1370012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i="0">
                <a:latin typeface="Helvetica" panose="020B0604020202020204" pitchFamily="34" charset="0"/>
              </a:rPr>
              <a:t>较小时间戳</a:t>
            </a:r>
            <a:endParaRPr lang="en-US" altLang="zh-CN" sz="2800" i="0">
              <a:latin typeface="Helvetica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i="0">
                <a:latin typeface="Helvetica" panose="020B0604020202020204" pitchFamily="34" charset="0"/>
              </a:rPr>
              <a:t>事务</a:t>
            </a:r>
            <a:endParaRPr lang="en-US" altLang="zh-CN" sz="2800" i="0">
              <a:latin typeface="Helvetica" panose="020B0604020202020204" pitchFamily="34" charset="0"/>
            </a:endParaRPr>
          </a:p>
        </p:txBody>
      </p:sp>
      <p:sp>
        <p:nvSpPr>
          <p:cNvPr id="38920" name="Text Box 7"/>
          <p:cNvSpPr txBox="1">
            <a:spLocks noChangeArrowheads="1"/>
          </p:cNvSpPr>
          <p:nvPr/>
        </p:nvSpPr>
        <p:spPr bwMode="auto">
          <a:xfrm>
            <a:off x="6153150" y="2925763"/>
            <a:ext cx="1358900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i="0">
                <a:latin typeface="Helvetica" panose="020B0604020202020204" pitchFamily="34" charset="0"/>
              </a:rPr>
              <a:t>较大时间戳</a:t>
            </a:r>
            <a:endParaRPr lang="en-US" altLang="zh-CN" sz="2800" i="0">
              <a:latin typeface="Helvetica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i="0">
                <a:latin typeface="Helvetica" panose="020B0604020202020204" pitchFamily="34" charset="0"/>
              </a:rPr>
              <a:t>事务</a:t>
            </a:r>
            <a:endParaRPr lang="en-US" altLang="zh-CN" sz="2800" i="0">
              <a:latin typeface="Helvetica" panose="020B0604020202020204" pitchFamily="34" charset="0"/>
            </a:endParaRPr>
          </a:p>
        </p:txBody>
      </p:sp>
      <p:sp>
        <p:nvSpPr>
          <p:cNvPr id="38921" name="Line 8"/>
          <p:cNvSpPr>
            <a:spLocks noChangeShapeType="1"/>
          </p:cNvSpPr>
          <p:nvPr/>
        </p:nvSpPr>
        <p:spPr bwMode="auto">
          <a:xfrm>
            <a:off x="3003550" y="3567113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A66A3-39E6-4C1F-AF3A-F01EFDB13747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7240-85F2-492B-84D8-762EF0110923}" type="slidenum">
              <a:rPr lang="en-US" altLang="zh-CN" smtClean="0"/>
            </a:fld>
            <a:r>
              <a:rPr lang="en-US" altLang="zh-CN"/>
              <a:t>/ 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Thomas</a:t>
            </a:r>
            <a:r>
              <a:rPr lang="zh-CN" altLang="en-US" dirty="0"/>
              <a:t>写规则</a:t>
            </a:r>
            <a:r>
              <a:rPr lang="en-US" altLang="zh-CN" dirty="0"/>
              <a:t>(</a:t>
            </a:r>
            <a:r>
              <a:rPr lang="zh-CN" altLang="en-US" dirty="0"/>
              <a:t>自学了解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98500" y="1412776"/>
            <a:ext cx="8049964" cy="5400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2100" dirty="0"/>
              <a:t>从</a:t>
            </a:r>
            <a:r>
              <a:rPr lang="zh-CN" altLang="en-US" sz="2100" b="1" dirty="0"/>
              <a:t>事务串行</a:t>
            </a:r>
            <a:r>
              <a:rPr lang="zh-CN" altLang="en-US" sz="2100" dirty="0"/>
              <a:t>化的角度考虑，</a:t>
            </a:r>
            <a:r>
              <a:rPr lang="zh-CN" altLang="en-US" sz="2100" b="1" dirty="0"/>
              <a:t>某些写操作是无效的</a:t>
            </a:r>
            <a:endParaRPr lang="zh-CN" altLang="en-US" sz="2100" b="1" dirty="0"/>
          </a:p>
          <a:p>
            <a:pPr lvl="1">
              <a:lnSpc>
                <a:spcPct val="80000"/>
              </a:lnSpc>
              <a:buNone/>
            </a:pPr>
            <a:r>
              <a:rPr lang="en-US" altLang="zh-CN" sz="2100" dirty="0"/>
              <a:t>Transaction T</a:t>
            </a:r>
            <a:r>
              <a:rPr lang="en-US" altLang="zh-CN" sz="2100" baseline="-25000" dirty="0"/>
              <a:t>1</a:t>
            </a:r>
            <a:r>
              <a:rPr lang="en-US" altLang="zh-CN" sz="2100" dirty="0"/>
              <a:t>    Transaction T</a:t>
            </a:r>
            <a:r>
              <a:rPr lang="en-US" altLang="zh-CN" sz="2100" baseline="-25000" dirty="0"/>
              <a:t>2  </a:t>
            </a:r>
            <a:r>
              <a:rPr lang="zh-CN" altLang="en-US" sz="2100" b="1" dirty="0"/>
              <a:t>备注</a:t>
            </a:r>
            <a:r>
              <a:rPr lang="zh-CN" altLang="en-US" sz="2100" b="1" dirty="0">
                <a:solidFill>
                  <a:srgbClr val="0000FF"/>
                </a:solidFill>
              </a:rPr>
              <a:t>假设</a:t>
            </a:r>
            <a:r>
              <a:rPr lang="zh-CN" altLang="en-US" sz="2100" dirty="0"/>
              <a:t>：</a:t>
            </a:r>
            <a:r>
              <a:rPr lang="en-US" altLang="zh-CN" sz="2100" dirty="0">
                <a:solidFill>
                  <a:srgbClr val="0000FF"/>
                </a:solidFill>
              </a:rPr>
              <a:t>TS(T</a:t>
            </a:r>
            <a:r>
              <a:rPr lang="en-US" altLang="zh-CN" sz="2100" baseline="-25000" dirty="0">
                <a:solidFill>
                  <a:srgbClr val="0000FF"/>
                </a:solidFill>
              </a:rPr>
              <a:t>1</a:t>
            </a:r>
            <a:r>
              <a:rPr lang="en-US" altLang="zh-CN" sz="2100" dirty="0">
                <a:solidFill>
                  <a:srgbClr val="0000FF"/>
                </a:solidFill>
              </a:rPr>
              <a:t>)&lt; TS(T</a:t>
            </a:r>
            <a:r>
              <a:rPr lang="en-US" altLang="zh-CN" sz="2100" baseline="-25000" dirty="0">
                <a:solidFill>
                  <a:srgbClr val="0000FF"/>
                </a:solidFill>
              </a:rPr>
              <a:t>2</a:t>
            </a:r>
            <a:r>
              <a:rPr lang="en-US" altLang="zh-CN" sz="2100" dirty="0">
                <a:solidFill>
                  <a:srgbClr val="0000FF"/>
                </a:solidFill>
              </a:rPr>
              <a:t>)</a:t>
            </a:r>
            <a:endParaRPr lang="en-US" altLang="zh-CN" sz="2100" dirty="0">
              <a:solidFill>
                <a:srgbClr val="0000FF"/>
              </a:solidFill>
            </a:endParaRPr>
          </a:p>
          <a:p>
            <a:pPr lvl="1">
              <a:lnSpc>
                <a:spcPct val="80000"/>
              </a:lnSpc>
              <a:buNone/>
            </a:pPr>
            <a:r>
              <a:rPr lang="en-US" altLang="zh-CN" sz="2100" dirty="0"/>
              <a:t>      read Q</a:t>
            </a:r>
            <a:endParaRPr lang="en-US" altLang="zh-CN" sz="2100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 dirty="0"/>
              <a:t>                              Write Q</a:t>
            </a:r>
            <a:endParaRPr lang="en-US" altLang="zh-CN" sz="2100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 dirty="0"/>
              <a:t>      Write Q</a:t>
            </a:r>
            <a:endParaRPr lang="en-US" altLang="zh-CN" sz="2100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100" dirty="0"/>
              <a:t>如果执行</a:t>
            </a:r>
            <a:r>
              <a:rPr lang="zh-CN" altLang="en-US" sz="2100" dirty="0">
                <a:solidFill>
                  <a:srgbClr val="0000FF"/>
                </a:solidFill>
              </a:rPr>
              <a:t>串行化</a:t>
            </a:r>
            <a:r>
              <a:rPr lang="zh-CN" altLang="en-US" sz="2100" dirty="0">
                <a:solidFill>
                  <a:srgbClr val="006600"/>
                </a:solidFill>
              </a:rPr>
              <a:t>操作</a:t>
            </a:r>
            <a:r>
              <a:rPr lang="en-US" altLang="zh-CN" sz="2100" dirty="0">
                <a:solidFill>
                  <a:srgbClr val="0000FF"/>
                </a:solidFill>
              </a:rPr>
              <a:t>(T</a:t>
            </a:r>
            <a:r>
              <a:rPr lang="en-US" altLang="zh-CN" sz="2100" baseline="-25000" dirty="0">
                <a:solidFill>
                  <a:srgbClr val="0000FF"/>
                </a:solidFill>
              </a:rPr>
              <a:t>1</a:t>
            </a:r>
            <a:r>
              <a:rPr lang="en-US" altLang="zh-CN" sz="2100" dirty="0">
                <a:solidFill>
                  <a:srgbClr val="0000FF"/>
                </a:solidFill>
              </a:rPr>
              <a:t>, T</a:t>
            </a:r>
            <a:r>
              <a:rPr lang="en-US" altLang="zh-CN" sz="2100" baseline="-25000" dirty="0">
                <a:solidFill>
                  <a:srgbClr val="0000FF"/>
                </a:solidFill>
              </a:rPr>
              <a:t>2</a:t>
            </a:r>
            <a:r>
              <a:rPr lang="en-US" altLang="zh-CN" sz="2100" dirty="0">
                <a:solidFill>
                  <a:srgbClr val="0000FF"/>
                </a:solidFill>
              </a:rPr>
              <a:t>) </a:t>
            </a:r>
            <a:r>
              <a:rPr lang="zh-CN" altLang="en-US" sz="2100" dirty="0"/>
              <a:t>，则</a:t>
            </a:r>
            <a:r>
              <a:rPr lang="en-US" altLang="zh-CN" sz="2100" dirty="0"/>
              <a:t>T</a:t>
            </a:r>
            <a:r>
              <a:rPr lang="en-US" altLang="zh-CN" sz="2100" baseline="-25000" dirty="0"/>
              <a:t>1</a:t>
            </a:r>
            <a:r>
              <a:rPr lang="zh-CN" altLang="en-US" sz="2100" dirty="0"/>
              <a:t>的</a:t>
            </a:r>
            <a:r>
              <a:rPr lang="en-US" altLang="zh-CN" sz="2100" dirty="0"/>
              <a:t>Write Q</a:t>
            </a:r>
            <a:r>
              <a:rPr lang="zh-CN" altLang="en-US" sz="2100" dirty="0"/>
              <a:t>操作的结果能够被</a:t>
            </a:r>
            <a:r>
              <a:rPr lang="en-US" altLang="zh-CN" sz="2100" dirty="0"/>
              <a:t>T</a:t>
            </a:r>
            <a:r>
              <a:rPr lang="en-US" altLang="zh-CN" sz="2100" baseline="-25000" dirty="0"/>
              <a:t>2</a:t>
            </a:r>
            <a:r>
              <a:rPr lang="zh-CN" altLang="en-US" sz="2100" dirty="0"/>
              <a:t>的</a:t>
            </a:r>
            <a:r>
              <a:rPr lang="en-US" altLang="zh-CN" sz="2100" dirty="0"/>
              <a:t>Write Q</a:t>
            </a:r>
            <a:r>
              <a:rPr lang="zh-CN" altLang="en-US" sz="2100" b="1" dirty="0">
                <a:solidFill>
                  <a:srgbClr val="0000FF"/>
                </a:solidFill>
              </a:rPr>
              <a:t>覆盖</a:t>
            </a:r>
            <a:endParaRPr lang="en-US" altLang="zh-CN" sz="2100" b="1" dirty="0">
              <a:solidFill>
                <a:srgbClr val="0000FF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100" dirty="0"/>
              <a:t>将时间戳排序协议规则</a:t>
            </a:r>
            <a:r>
              <a:rPr lang="zh-CN" altLang="en-US" sz="2100" b="1" dirty="0"/>
              <a:t>修改为</a:t>
            </a:r>
            <a:r>
              <a:rPr lang="en-US" altLang="zh-CN" sz="2100" b="1" dirty="0"/>
              <a:t>:</a:t>
            </a:r>
            <a:endParaRPr lang="zh-CN" altLang="en-US" sz="2100" b="1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1900" dirty="0"/>
              <a:t>其中</a:t>
            </a:r>
            <a:r>
              <a:rPr lang="zh-CN" altLang="en-US" sz="1900" b="1" dirty="0">
                <a:solidFill>
                  <a:srgbClr val="0000FF"/>
                </a:solidFill>
              </a:rPr>
              <a:t>过时</a:t>
            </a:r>
            <a:r>
              <a:rPr lang="en-US" altLang="zh-CN" sz="1900" b="1" dirty="0"/>
              <a:t>write </a:t>
            </a:r>
            <a:r>
              <a:rPr lang="zh-CN" altLang="en-US" sz="1900" b="1" dirty="0"/>
              <a:t>操作</a:t>
            </a:r>
            <a:r>
              <a:rPr lang="zh-CN" altLang="en-US" sz="1900" dirty="0"/>
              <a:t>在某些情况下可以</a:t>
            </a:r>
            <a:r>
              <a:rPr lang="zh-CN" altLang="en-US" sz="1900" b="1" dirty="0">
                <a:solidFill>
                  <a:srgbClr val="0000FF"/>
                </a:solidFill>
              </a:rPr>
              <a:t>忽略</a:t>
            </a:r>
            <a:r>
              <a:rPr lang="en-US" altLang="zh-CN" sz="1900" b="1" dirty="0"/>
              <a:t>;</a:t>
            </a:r>
            <a:endParaRPr lang="en-US" altLang="zh-CN" sz="1900" b="1" dirty="0"/>
          </a:p>
          <a:p>
            <a:pPr lvl="1" eaLnBrk="1" hangingPunct="1">
              <a:lnSpc>
                <a:spcPct val="110000"/>
              </a:lnSpc>
            </a:pPr>
            <a:r>
              <a:rPr lang="zh-CN" altLang="en-US" sz="1900" dirty="0"/>
              <a:t>当</a:t>
            </a:r>
            <a:r>
              <a:rPr lang="en-US" altLang="zh-CN" sz="1900" i="1" dirty="0" err="1"/>
              <a:t>T</a:t>
            </a:r>
            <a:r>
              <a:rPr lang="en-US" altLang="zh-CN" sz="1900" i="1" baseline="-25000" dirty="0" err="1"/>
              <a:t>i</a:t>
            </a:r>
            <a:r>
              <a:rPr lang="en-US" altLang="zh-CN" sz="1900" dirty="0"/>
              <a:t> </a:t>
            </a:r>
            <a:r>
              <a:rPr lang="zh-CN" altLang="en-US" sz="1900" dirty="0"/>
              <a:t>试图写数据项</a:t>
            </a:r>
            <a:r>
              <a:rPr lang="en-US" altLang="zh-CN" sz="1900" i="1" dirty="0"/>
              <a:t>Q</a:t>
            </a:r>
            <a:r>
              <a:rPr lang="zh-CN" altLang="en-US" sz="1900" i="1" dirty="0"/>
              <a:t>，</a:t>
            </a:r>
            <a:r>
              <a:rPr lang="zh-CN" altLang="en-US" sz="1900" dirty="0"/>
              <a:t>若</a:t>
            </a:r>
            <a:r>
              <a:rPr lang="en-US" altLang="zh-CN" sz="1900" dirty="0"/>
              <a:t> TS(</a:t>
            </a:r>
            <a:r>
              <a:rPr lang="en-US" altLang="zh-CN" sz="1900" i="1" dirty="0" err="1"/>
              <a:t>T</a:t>
            </a:r>
            <a:r>
              <a:rPr lang="en-US" altLang="zh-CN" sz="1900" i="1" baseline="-25000" dirty="0" err="1"/>
              <a:t>i</a:t>
            </a:r>
            <a:r>
              <a:rPr lang="en-US" altLang="zh-CN" sz="1900" dirty="0"/>
              <a:t>) </a:t>
            </a:r>
            <a:r>
              <a:rPr lang="en-US" altLang="zh-CN" sz="1900" i="1" dirty="0"/>
              <a:t>&lt;</a:t>
            </a:r>
            <a:r>
              <a:rPr lang="en-US" altLang="zh-CN" sz="1900" dirty="0"/>
              <a:t> W-timestamp(</a:t>
            </a:r>
            <a:r>
              <a:rPr lang="en-US" altLang="zh-CN" sz="1900" i="1" dirty="0"/>
              <a:t>Q</a:t>
            </a:r>
            <a:r>
              <a:rPr lang="en-US" altLang="zh-CN" sz="1900" dirty="0"/>
              <a:t>)</a:t>
            </a:r>
            <a:r>
              <a:rPr lang="zh-CN" altLang="en-US" sz="1900" dirty="0"/>
              <a:t>，则</a:t>
            </a:r>
            <a:r>
              <a:rPr lang="en-US" altLang="zh-CN" sz="1900" i="1" dirty="0" err="1">
                <a:solidFill>
                  <a:srgbClr val="0000FF"/>
                </a:solidFill>
              </a:rPr>
              <a:t>T</a:t>
            </a:r>
            <a:r>
              <a:rPr lang="en-US" altLang="zh-CN" sz="1900" i="1" baseline="-25000" dirty="0" err="1">
                <a:solidFill>
                  <a:srgbClr val="0000FF"/>
                </a:solidFill>
              </a:rPr>
              <a:t>i</a:t>
            </a:r>
            <a:r>
              <a:rPr lang="en-US" altLang="zh-CN" sz="1900" dirty="0">
                <a:solidFill>
                  <a:srgbClr val="0000FF"/>
                </a:solidFill>
              </a:rPr>
              <a:t> </a:t>
            </a:r>
            <a:r>
              <a:rPr lang="zh-CN" altLang="en-US" sz="1900" dirty="0">
                <a:solidFill>
                  <a:srgbClr val="0000FF"/>
                </a:solidFill>
              </a:rPr>
              <a:t>正试图写一个过时的</a:t>
            </a:r>
            <a:r>
              <a:rPr lang="en-US" altLang="zh-CN" sz="1900" i="1" dirty="0">
                <a:solidFill>
                  <a:srgbClr val="0000FF"/>
                </a:solidFill>
              </a:rPr>
              <a:t>Q</a:t>
            </a:r>
            <a:r>
              <a:rPr lang="zh-CN" altLang="en-US" sz="1900" dirty="0">
                <a:solidFill>
                  <a:srgbClr val="0000FF"/>
                </a:solidFill>
              </a:rPr>
              <a:t>值</a:t>
            </a:r>
            <a:r>
              <a:rPr lang="en-US" altLang="zh-CN" sz="1900" dirty="0">
                <a:solidFill>
                  <a:srgbClr val="0000FF"/>
                </a:solidFill>
              </a:rPr>
              <a:t>;</a:t>
            </a:r>
            <a:endParaRPr lang="en-US" altLang="zh-CN" sz="1900" dirty="0">
              <a:solidFill>
                <a:srgbClr val="0000FF"/>
              </a:solidFill>
            </a:endParaRPr>
          </a:p>
          <a:p>
            <a:pPr lvl="2" eaLnBrk="1" hangingPunct="1">
              <a:lnSpc>
                <a:spcPct val="110000"/>
              </a:lnSpc>
            </a:pPr>
            <a:r>
              <a:rPr lang="en-US" altLang="zh-CN" sz="1800" dirty="0"/>
              <a:t> </a:t>
            </a:r>
            <a:r>
              <a:rPr lang="zh-CN" altLang="en-US" sz="1800" b="1" dirty="0"/>
              <a:t>不是</a:t>
            </a:r>
            <a:r>
              <a:rPr lang="zh-CN" altLang="en-US" sz="1800" dirty="0"/>
              <a:t>按时间戳排序协议要求的那样回</a:t>
            </a:r>
            <a:r>
              <a:rPr lang="zh-CN" altLang="en-US" sz="1800" b="1" dirty="0"/>
              <a:t>滚</a:t>
            </a:r>
            <a:r>
              <a:rPr lang="en-US" altLang="zh-CN" sz="1800" b="1" dirty="0" err="1"/>
              <a:t>T</a:t>
            </a:r>
            <a:r>
              <a:rPr lang="en-US" altLang="zh-CN" sz="1800" b="1" baseline="-25000" dirty="0" err="1"/>
              <a:t>i</a:t>
            </a:r>
            <a:r>
              <a:rPr lang="zh-CN" altLang="en-US" sz="1800" b="1" dirty="0"/>
              <a:t>，</a:t>
            </a:r>
            <a:r>
              <a:rPr lang="zh-CN" altLang="en-US" sz="1800" dirty="0"/>
              <a:t>这个</a:t>
            </a:r>
            <a:r>
              <a:rPr lang="en-US" altLang="zh-CN" sz="1800" b="0" dirty="0">
                <a:solidFill>
                  <a:srgbClr val="0000FF"/>
                </a:solidFill>
              </a:rPr>
              <a:t>write</a:t>
            </a:r>
            <a:r>
              <a:rPr lang="zh-CN" altLang="en-US" sz="1800" dirty="0">
                <a:solidFill>
                  <a:srgbClr val="0000FF"/>
                </a:solidFill>
              </a:rPr>
              <a:t>操作</a:t>
            </a:r>
            <a:r>
              <a:rPr lang="zh-CN" altLang="en-US" sz="1800" dirty="0"/>
              <a:t>可以</a:t>
            </a:r>
            <a:r>
              <a:rPr lang="zh-CN" altLang="en-US" sz="1800" dirty="0">
                <a:solidFill>
                  <a:srgbClr val="0000FF"/>
                </a:solidFill>
              </a:rPr>
              <a:t>忽略</a:t>
            </a:r>
            <a:endParaRPr lang="en-US" altLang="zh-CN" sz="1800" dirty="0">
              <a:solidFill>
                <a:srgbClr val="0000FF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 sz="1900" dirty="0"/>
              <a:t>其它情况下此协议与按时间戳排序协议相同</a:t>
            </a:r>
            <a:r>
              <a:rPr lang="en-US" altLang="zh-CN" sz="1900" dirty="0"/>
              <a:t>.</a:t>
            </a:r>
            <a:endParaRPr lang="en-US" altLang="zh-CN" sz="1900" dirty="0"/>
          </a:p>
          <a:p>
            <a:pPr eaLnBrk="1" hangingPunct="1">
              <a:lnSpc>
                <a:spcPct val="120000"/>
              </a:lnSpc>
            </a:pPr>
            <a:r>
              <a:rPr lang="en-US" altLang="zh-CN" sz="2100" dirty="0"/>
              <a:t>Thomas</a:t>
            </a:r>
            <a:r>
              <a:rPr lang="zh-CN" altLang="en-US" sz="2100" dirty="0"/>
              <a:t>写规则允许更多潜在的并发性</a:t>
            </a:r>
            <a:endParaRPr lang="zh-CN" altLang="en-US" sz="2100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sz="1900" dirty="0"/>
              <a:t>不同于前面的协议，它允许做某些非冲突可串行化但却视图可串行化的调度</a:t>
            </a:r>
            <a:endParaRPr lang="en-US" altLang="zh-CN" sz="1900" dirty="0"/>
          </a:p>
        </p:txBody>
      </p:sp>
      <p:cxnSp>
        <p:nvCxnSpPr>
          <p:cNvPr id="3" name="直接箭头连接符 2"/>
          <p:cNvCxnSpPr/>
          <p:nvPr/>
        </p:nvCxnSpPr>
        <p:spPr bwMode="auto">
          <a:xfrm flipH="1">
            <a:off x="4788024" y="2060848"/>
            <a:ext cx="1872208" cy="9361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 bwMode="auto">
          <a:xfrm>
            <a:off x="9396536" y="2924944"/>
            <a:ext cx="914400" cy="914400"/>
          </a:xfrm>
          <a:prstGeom prst="straightConnector1">
            <a:avLst/>
          </a:prstGeom>
          <a:noFill/>
          <a:ln>
            <a:noFill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32730-0EDE-4FC6-996C-5D3630BAA4D7}" type="datetime1">
              <a:rPr lang="zh-CN" altLang="en-US" smtClean="0"/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7240-85F2-492B-84D8-762EF0110923}" type="slidenum">
              <a:rPr lang="en-US" altLang="zh-CN" smtClean="0"/>
            </a:fld>
            <a:r>
              <a:rPr lang="en-US" altLang="zh-CN"/>
              <a:t>/ 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Thomas</a:t>
            </a:r>
            <a:r>
              <a:rPr lang="zh-CN" altLang="en-US" dirty="0"/>
              <a:t>写规则</a:t>
            </a:r>
            <a:r>
              <a:rPr lang="en-US" altLang="zh-CN" dirty="0"/>
              <a:t>(</a:t>
            </a:r>
            <a:r>
              <a:rPr lang="zh-CN" altLang="en-US" dirty="0"/>
              <a:t>自学了解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98500" y="1412776"/>
            <a:ext cx="8049964" cy="5400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2100" dirty="0"/>
              <a:t>从事务串行化的角度考虑，某些写操作是无效的</a:t>
            </a:r>
            <a:endParaRPr lang="zh-CN" altLang="en-US" sz="2100" dirty="0"/>
          </a:p>
          <a:p>
            <a:pPr lvl="1">
              <a:lnSpc>
                <a:spcPct val="80000"/>
              </a:lnSpc>
              <a:buNone/>
            </a:pPr>
            <a:r>
              <a:rPr lang="en-US" altLang="zh-CN" sz="2100" dirty="0"/>
              <a:t>Transaction T</a:t>
            </a:r>
            <a:r>
              <a:rPr lang="en-US" altLang="zh-CN" sz="2100" baseline="-25000" dirty="0"/>
              <a:t>1</a:t>
            </a:r>
            <a:r>
              <a:rPr lang="en-US" altLang="zh-CN" sz="2100" dirty="0"/>
              <a:t>    Transaction T</a:t>
            </a:r>
            <a:r>
              <a:rPr lang="en-US" altLang="zh-CN" sz="2100" baseline="-25000" dirty="0"/>
              <a:t>2  </a:t>
            </a:r>
            <a:r>
              <a:rPr lang="zh-CN" altLang="en-US" sz="2100" dirty="0"/>
              <a:t>备注假设：</a:t>
            </a:r>
            <a:r>
              <a:rPr lang="en-US" altLang="zh-CN" sz="2100" dirty="0"/>
              <a:t>TS(T</a:t>
            </a:r>
            <a:r>
              <a:rPr lang="en-US" altLang="zh-CN" sz="2100" baseline="-25000" dirty="0"/>
              <a:t>1</a:t>
            </a:r>
            <a:r>
              <a:rPr lang="en-US" altLang="zh-CN" sz="2100" dirty="0"/>
              <a:t>)&lt; TS(T</a:t>
            </a:r>
            <a:r>
              <a:rPr lang="en-US" altLang="zh-CN" sz="2100" baseline="-25000" dirty="0"/>
              <a:t>2</a:t>
            </a:r>
            <a:r>
              <a:rPr lang="en-US" altLang="zh-CN" sz="2100" dirty="0"/>
              <a:t>)</a:t>
            </a:r>
            <a:endParaRPr lang="en-US" altLang="zh-CN" sz="2100" dirty="0"/>
          </a:p>
          <a:p>
            <a:pPr lvl="1">
              <a:lnSpc>
                <a:spcPct val="80000"/>
              </a:lnSpc>
              <a:buNone/>
            </a:pPr>
            <a:r>
              <a:rPr lang="en-US" altLang="zh-CN" sz="2100" dirty="0"/>
              <a:t>      read Q</a:t>
            </a:r>
            <a:endParaRPr lang="en-US" altLang="zh-CN" sz="2100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 dirty="0"/>
              <a:t>                              Write Q</a:t>
            </a:r>
            <a:endParaRPr lang="en-US" altLang="zh-CN" sz="2100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 dirty="0"/>
              <a:t>      Write Q</a:t>
            </a:r>
            <a:endParaRPr lang="en-US" altLang="zh-CN" sz="2100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100" dirty="0"/>
              <a:t>如果执行</a:t>
            </a:r>
            <a:r>
              <a:rPr lang="zh-CN" altLang="en-US" sz="2100" dirty="0">
                <a:solidFill>
                  <a:srgbClr val="0000FF"/>
                </a:solidFill>
              </a:rPr>
              <a:t>串行化操作</a:t>
            </a:r>
            <a:r>
              <a:rPr lang="en-US" altLang="zh-CN" sz="2100" dirty="0">
                <a:solidFill>
                  <a:srgbClr val="0000FF"/>
                </a:solidFill>
              </a:rPr>
              <a:t>(T</a:t>
            </a:r>
            <a:r>
              <a:rPr lang="en-US" altLang="zh-CN" sz="2100" baseline="-25000" dirty="0">
                <a:solidFill>
                  <a:srgbClr val="0000FF"/>
                </a:solidFill>
              </a:rPr>
              <a:t>1</a:t>
            </a:r>
            <a:r>
              <a:rPr lang="en-US" altLang="zh-CN" sz="2100" dirty="0">
                <a:solidFill>
                  <a:srgbClr val="0000FF"/>
                </a:solidFill>
              </a:rPr>
              <a:t>, T</a:t>
            </a:r>
            <a:r>
              <a:rPr lang="en-US" altLang="zh-CN" sz="2100" baseline="-25000" dirty="0">
                <a:solidFill>
                  <a:srgbClr val="0000FF"/>
                </a:solidFill>
              </a:rPr>
              <a:t>2</a:t>
            </a:r>
            <a:r>
              <a:rPr lang="en-US" altLang="zh-CN" sz="2100" dirty="0">
                <a:solidFill>
                  <a:srgbClr val="0000FF"/>
                </a:solidFill>
              </a:rPr>
              <a:t>) </a:t>
            </a:r>
            <a:r>
              <a:rPr lang="zh-CN" altLang="en-US" sz="2100" dirty="0"/>
              <a:t>，则</a:t>
            </a:r>
            <a:r>
              <a:rPr lang="en-US" altLang="zh-CN" sz="2100" dirty="0"/>
              <a:t>T</a:t>
            </a:r>
            <a:r>
              <a:rPr lang="en-US" altLang="zh-CN" sz="2100" baseline="-25000" dirty="0"/>
              <a:t>1</a:t>
            </a:r>
            <a:r>
              <a:rPr lang="zh-CN" altLang="en-US" sz="2100" dirty="0"/>
              <a:t>的</a:t>
            </a:r>
            <a:r>
              <a:rPr lang="en-US" altLang="zh-CN" sz="2100" dirty="0"/>
              <a:t>Write Q</a:t>
            </a:r>
            <a:r>
              <a:rPr lang="zh-CN" altLang="en-US" sz="2100" dirty="0"/>
              <a:t>操作的结果能够被</a:t>
            </a:r>
            <a:r>
              <a:rPr lang="en-US" altLang="zh-CN" sz="2100" dirty="0"/>
              <a:t>T</a:t>
            </a:r>
            <a:r>
              <a:rPr lang="en-US" altLang="zh-CN" sz="2100" baseline="-25000" dirty="0"/>
              <a:t>2</a:t>
            </a:r>
            <a:r>
              <a:rPr lang="zh-CN" altLang="en-US" sz="2100" dirty="0"/>
              <a:t>的</a:t>
            </a:r>
            <a:r>
              <a:rPr lang="en-US" altLang="zh-CN" sz="2100" dirty="0"/>
              <a:t>Write Q</a:t>
            </a:r>
            <a:r>
              <a:rPr lang="zh-CN" altLang="en-US" sz="2100" b="1" dirty="0">
                <a:solidFill>
                  <a:srgbClr val="0000FF"/>
                </a:solidFill>
              </a:rPr>
              <a:t>覆盖</a:t>
            </a:r>
            <a:endParaRPr lang="en-US" altLang="zh-CN" sz="2100" b="1" dirty="0">
              <a:solidFill>
                <a:srgbClr val="0000FF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100" dirty="0"/>
              <a:t>将时间戳排序协议规则修改为</a:t>
            </a:r>
            <a:endParaRPr lang="zh-CN" altLang="en-US" sz="2100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1900" dirty="0"/>
              <a:t>其中过时</a:t>
            </a:r>
            <a:r>
              <a:rPr lang="en-US" altLang="zh-CN" sz="1900" b="0" dirty="0"/>
              <a:t>write</a:t>
            </a:r>
            <a:r>
              <a:rPr lang="en-US" altLang="zh-CN" sz="1900" dirty="0"/>
              <a:t> </a:t>
            </a:r>
            <a:r>
              <a:rPr lang="zh-CN" altLang="en-US" sz="1900" dirty="0"/>
              <a:t>操作在某些情况下可以忽略</a:t>
            </a:r>
            <a:endParaRPr lang="en-US" altLang="zh-CN" sz="1900" dirty="0"/>
          </a:p>
          <a:p>
            <a:pPr lvl="1" eaLnBrk="1" hangingPunct="1">
              <a:lnSpc>
                <a:spcPct val="110000"/>
              </a:lnSpc>
            </a:pPr>
            <a:r>
              <a:rPr lang="zh-CN" altLang="en-US" sz="1900" dirty="0"/>
              <a:t>当</a:t>
            </a:r>
            <a:r>
              <a:rPr lang="en-US" altLang="zh-CN" sz="1900" i="1" dirty="0" err="1"/>
              <a:t>T</a:t>
            </a:r>
            <a:r>
              <a:rPr lang="en-US" altLang="zh-CN" sz="1900" i="1" baseline="-25000" dirty="0" err="1"/>
              <a:t>i</a:t>
            </a:r>
            <a:r>
              <a:rPr lang="en-US" altLang="zh-CN" sz="1900" dirty="0"/>
              <a:t> </a:t>
            </a:r>
            <a:r>
              <a:rPr lang="zh-CN" altLang="en-US" sz="1900" dirty="0"/>
              <a:t>试图写数据项</a:t>
            </a:r>
            <a:r>
              <a:rPr lang="en-US" altLang="zh-CN" sz="1900" i="1" dirty="0"/>
              <a:t>Q</a:t>
            </a:r>
            <a:r>
              <a:rPr lang="zh-CN" altLang="en-US" sz="1900" i="1" dirty="0"/>
              <a:t>，</a:t>
            </a:r>
            <a:r>
              <a:rPr lang="zh-CN" altLang="en-US" sz="1900" dirty="0"/>
              <a:t>若</a:t>
            </a:r>
            <a:r>
              <a:rPr lang="en-US" altLang="zh-CN" sz="1900" dirty="0"/>
              <a:t> TS(</a:t>
            </a:r>
            <a:r>
              <a:rPr lang="en-US" altLang="zh-CN" sz="1900" i="1" dirty="0"/>
              <a:t>T</a:t>
            </a:r>
            <a:r>
              <a:rPr lang="en-US" altLang="zh-CN" sz="1900" i="1" baseline="-25000" dirty="0"/>
              <a:t>i</a:t>
            </a:r>
            <a:r>
              <a:rPr lang="en-US" altLang="zh-CN" sz="1900" dirty="0"/>
              <a:t>)</a:t>
            </a:r>
            <a:r>
              <a:rPr lang="en-US" altLang="zh-CN" sz="1900" i="1" dirty="0"/>
              <a:t>&lt;</a:t>
            </a:r>
            <a:r>
              <a:rPr lang="en-US" altLang="zh-CN" sz="1900" dirty="0"/>
              <a:t> W-timestamp(</a:t>
            </a:r>
            <a:r>
              <a:rPr lang="en-US" altLang="zh-CN" sz="1900" i="1" dirty="0"/>
              <a:t>Q</a:t>
            </a:r>
            <a:r>
              <a:rPr lang="en-US" altLang="zh-CN" sz="1900" dirty="0"/>
              <a:t>)</a:t>
            </a:r>
            <a:r>
              <a:rPr lang="zh-CN" altLang="en-US" sz="1900" dirty="0"/>
              <a:t>，则</a:t>
            </a:r>
            <a:r>
              <a:rPr lang="en-US" altLang="zh-CN" sz="1900" i="1" dirty="0" err="1">
                <a:solidFill>
                  <a:srgbClr val="0000FF"/>
                </a:solidFill>
              </a:rPr>
              <a:t>T</a:t>
            </a:r>
            <a:r>
              <a:rPr lang="en-US" altLang="zh-CN" sz="1900" i="1" baseline="-25000" dirty="0" err="1">
                <a:solidFill>
                  <a:srgbClr val="0000FF"/>
                </a:solidFill>
              </a:rPr>
              <a:t>i</a:t>
            </a:r>
            <a:r>
              <a:rPr lang="en-US" altLang="zh-CN" sz="1900" dirty="0">
                <a:solidFill>
                  <a:srgbClr val="0000FF"/>
                </a:solidFill>
              </a:rPr>
              <a:t> </a:t>
            </a:r>
            <a:r>
              <a:rPr lang="zh-CN" altLang="en-US" sz="1900" dirty="0">
                <a:solidFill>
                  <a:srgbClr val="0000FF"/>
                </a:solidFill>
              </a:rPr>
              <a:t>正试图写一个过时的</a:t>
            </a:r>
            <a:r>
              <a:rPr lang="en-US" altLang="zh-CN" sz="1900" i="1" dirty="0">
                <a:solidFill>
                  <a:srgbClr val="0000FF"/>
                </a:solidFill>
              </a:rPr>
              <a:t>Q</a:t>
            </a:r>
            <a:r>
              <a:rPr lang="zh-CN" altLang="en-US" sz="1900" dirty="0">
                <a:solidFill>
                  <a:srgbClr val="0000FF"/>
                </a:solidFill>
              </a:rPr>
              <a:t>值</a:t>
            </a:r>
            <a:endParaRPr lang="en-US" altLang="zh-CN" sz="1900" dirty="0">
              <a:solidFill>
                <a:srgbClr val="0000FF"/>
              </a:solidFill>
            </a:endParaRPr>
          </a:p>
          <a:p>
            <a:pPr lvl="2" eaLnBrk="1" hangingPunct="1">
              <a:lnSpc>
                <a:spcPct val="110000"/>
              </a:lnSpc>
            </a:pPr>
            <a:r>
              <a:rPr lang="en-US" altLang="zh-CN" sz="1800" dirty="0"/>
              <a:t> </a:t>
            </a:r>
            <a:r>
              <a:rPr lang="zh-CN" altLang="en-US" sz="1800" dirty="0"/>
              <a:t>不是按时间戳排序协议要求的那样回滚</a:t>
            </a:r>
            <a:r>
              <a:rPr lang="en-US" altLang="zh-CN" sz="1800" i="1" dirty="0" err="1"/>
              <a:t>T</a:t>
            </a:r>
            <a:r>
              <a:rPr lang="en-US" altLang="zh-CN" sz="1800" i="1" baseline="-25000" dirty="0" err="1"/>
              <a:t>i</a:t>
            </a:r>
            <a:r>
              <a:rPr lang="zh-CN" altLang="en-US" sz="1800" dirty="0"/>
              <a:t>，这个</a:t>
            </a:r>
            <a:r>
              <a:rPr lang="en-US" altLang="zh-CN" sz="1800" b="0" dirty="0">
                <a:solidFill>
                  <a:srgbClr val="0000FF"/>
                </a:solidFill>
              </a:rPr>
              <a:t>write</a:t>
            </a:r>
            <a:r>
              <a:rPr lang="zh-CN" altLang="en-US" sz="1800" dirty="0">
                <a:solidFill>
                  <a:srgbClr val="0000FF"/>
                </a:solidFill>
              </a:rPr>
              <a:t>操作可以忽略</a:t>
            </a:r>
            <a:endParaRPr lang="en-US" altLang="zh-CN" sz="1800" dirty="0">
              <a:solidFill>
                <a:srgbClr val="0000FF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 sz="1900" dirty="0"/>
              <a:t>其它情况下此协议与按时间戳排序协议相同</a:t>
            </a:r>
            <a:endParaRPr lang="en-US" altLang="zh-CN" sz="1900" dirty="0"/>
          </a:p>
          <a:p>
            <a:pPr eaLnBrk="1" hangingPunct="1">
              <a:lnSpc>
                <a:spcPct val="120000"/>
              </a:lnSpc>
            </a:pPr>
            <a:r>
              <a:rPr lang="en-US" altLang="zh-CN" sz="2100" dirty="0"/>
              <a:t>Thomas</a:t>
            </a:r>
            <a:r>
              <a:rPr lang="zh-CN" altLang="en-US" sz="2100" dirty="0"/>
              <a:t>写规则允许更多潜在的并发性</a:t>
            </a:r>
            <a:endParaRPr lang="zh-CN" altLang="en-US" sz="2100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sz="1900" dirty="0"/>
              <a:t>不同于前面的协议，它允许做某些非冲突可串行化但却视图可串行化的调度</a:t>
            </a:r>
            <a:endParaRPr lang="en-US" altLang="zh-CN" sz="1900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" t="21298" r="1094" b="22174"/>
          <a:stretch>
            <a:fillRect/>
          </a:stretch>
        </p:blipFill>
        <p:spPr bwMode="auto">
          <a:xfrm>
            <a:off x="4227513" y="166688"/>
            <a:ext cx="4838700" cy="2084387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498C0-C00F-4E49-B89A-282F73F3D6AA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7240-85F2-492B-84D8-762EF0110923}" type="slidenum">
              <a:rPr lang="en-US" altLang="zh-CN" smtClean="0"/>
            </a:fld>
            <a:r>
              <a:rPr lang="en-US" altLang="zh-CN"/>
              <a:t>/ 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827584" y="19108"/>
            <a:ext cx="7313613" cy="1143000"/>
          </a:xfrm>
        </p:spPr>
        <p:txBody>
          <a:bodyPr/>
          <a:lstStyle/>
          <a:p>
            <a:pPr eaLnBrk="1" hangingPunct="1"/>
            <a:r>
              <a:rPr lang="zh-CN" altLang="en-US" dirty="0"/>
              <a:t>示例</a:t>
            </a:r>
            <a:r>
              <a:rPr lang="en-US" altLang="zh-CN" dirty="0"/>
              <a:t>(</a:t>
            </a:r>
            <a:r>
              <a:rPr lang="zh-CN" altLang="en-US" dirty="0"/>
              <a:t>自学了解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0964" name="Rectangle 3"/>
          <p:cNvSpPr>
            <a:spLocks noChangeArrowheads="1"/>
          </p:cNvSpPr>
          <p:nvPr/>
        </p:nvSpPr>
        <p:spPr bwMode="auto">
          <a:xfrm>
            <a:off x="161925" y="1576089"/>
            <a:ext cx="1628775" cy="502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i="0" dirty="0"/>
              <a:t>     T</a:t>
            </a:r>
            <a:r>
              <a:rPr lang="en-US" altLang="zh-CN" sz="2500" i="0" baseline="-25000" dirty="0"/>
              <a:t>1</a:t>
            </a:r>
            <a:endParaRPr lang="en-US" altLang="zh-CN" sz="2500" i="0" baseline="-25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i="0" dirty="0"/>
              <a:t>   200</a:t>
            </a:r>
            <a:endParaRPr lang="en-US" altLang="zh-CN" sz="250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500" i="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i="0" dirty="0"/>
              <a:t>Read B</a:t>
            </a:r>
            <a:endParaRPr lang="en-US" altLang="zh-CN" sz="250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i="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i="0" dirty="0"/>
              <a:t>Write B</a:t>
            </a:r>
            <a:endParaRPr lang="en-US" altLang="zh-CN" sz="2500" i="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i="0" dirty="0"/>
              <a:t>Write A</a:t>
            </a:r>
            <a:endParaRPr lang="en-US" altLang="zh-CN" sz="250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500" i="0" dirty="0"/>
          </a:p>
        </p:txBody>
      </p:sp>
      <p:sp>
        <p:nvSpPr>
          <p:cNvPr id="40965" name="Rectangle 4"/>
          <p:cNvSpPr>
            <a:spLocks noChangeArrowheads="1"/>
          </p:cNvSpPr>
          <p:nvPr/>
        </p:nvSpPr>
        <p:spPr bwMode="auto">
          <a:xfrm>
            <a:off x="3292475" y="1576089"/>
            <a:ext cx="1585913" cy="502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i="0" dirty="0"/>
              <a:t>T</a:t>
            </a:r>
            <a:r>
              <a:rPr lang="en-US" altLang="zh-CN" sz="2500" i="0" baseline="-25000" dirty="0"/>
              <a:t>3</a:t>
            </a:r>
            <a:endParaRPr lang="en-US" altLang="zh-CN" sz="2500" i="0" baseline="-25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i="0" dirty="0"/>
              <a:t>175</a:t>
            </a:r>
            <a:endParaRPr lang="en-US" altLang="zh-CN" sz="250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i="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i="0" dirty="0"/>
              <a:t>Read C</a:t>
            </a:r>
            <a:endParaRPr lang="en-US" altLang="zh-CN" sz="250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i="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i="0" dirty="0"/>
              <a:t>Write A</a:t>
            </a:r>
            <a:endParaRPr lang="en-US" altLang="zh-CN" sz="2500" i="0" dirty="0"/>
          </a:p>
        </p:txBody>
      </p:sp>
      <p:sp>
        <p:nvSpPr>
          <p:cNvPr id="658437" name="Rectangle 5"/>
          <p:cNvSpPr>
            <a:spLocks noChangeArrowheads="1"/>
          </p:cNvSpPr>
          <p:nvPr/>
        </p:nvSpPr>
        <p:spPr bwMode="auto">
          <a:xfrm>
            <a:off x="4788024" y="1648098"/>
            <a:ext cx="1597025" cy="502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i="0" dirty="0"/>
              <a:t>A</a:t>
            </a:r>
            <a:endParaRPr lang="en-US" altLang="zh-CN" sz="2400" i="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 i="0" dirty="0"/>
              <a:t>RT=0</a:t>
            </a:r>
            <a:endParaRPr lang="en-US" altLang="zh-CN" sz="2400" b="0" i="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 i="0" dirty="0"/>
              <a:t>WT=0</a:t>
            </a:r>
            <a:endParaRPr lang="en-US" altLang="zh-CN" sz="2400" b="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0" i="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 i="0" dirty="0"/>
              <a:t>RT=150</a:t>
            </a:r>
            <a:endParaRPr lang="en-US" altLang="zh-CN" sz="2400" b="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0" i="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 i="0" dirty="0">
                <a:solidFill>
                  <a:srgbClr val="0000FF"/>
                </a:solidFill>
              </a:rPr>
              <a:t>WT=200</a:t>
            </a:r>
            <a:endParaRPr lang="en-US" altLang="zh-CN" sz="2400" b="0" i="0" dirty="0">
              <a:solidFill>
                <a:srgbClr val="0000FF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i="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 i="0" dirty="0"/>
              <a:t>RT=0</a:t>
            </a:r>
            <a:endParaRPr lang="en-US" altLang="zh-CN" sz="2400" b="0" i="0" dirty="0"/>
          </a:p>
        </p:txBody>
      </p:sp>
      <p:sp>
        <p:nvSpPr>
          <p:cNvPr id="40967" name="Line 6"/>
          <p:cNvSpPr>
            <a:spLocks noChangeShapeType="1"/>
          </p:cNvSpPr>
          <p:nvPr/>
        </p:nvSpPr>
        <p:spPr bwMode="auto">
          <a:xfrm flipV="1">
            <a:off x="282575" y="1976438"/>
            <a:ext cx="8672513" cy="14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8" name="Line 7"/>
          <p:cNvSpPr>
            <a:spLocks noChangeShapeType="1"/>
          </p:cNvSpPr>
          <p:nvPr/>
        </p:nvSpPr>
        <p:spPr bwMode="auto">
          <a:xfrm flipV="1">
            <a:off x="255588" y="2892425"/>
            <a:ext cx="8672512" cy="14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9" name="Rectangle 8"/>
          <p:cNvSpPr>
            <a:spLocks noChangeArrowheads="1"/>
          </p:cNvSpPr>
          <p:nvPr/>
        </p:nvSpPr>
        <p:spPr bwMode="auto">
          <a:xfrm>
            <a:off x="1698625" y="1576089"/>
            <a:ext cx="1670050" cy="502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i="0" dirty="0"/>
              <a:t> T</a:t>
            </a:r>
            <a:r>
              <a:rPr lang="en-US" altLang="zh-CN" sz="2500" i="0" baseline="-25000" dirty="0"/>
              <a:t>2</a:t>
            </a:r>
            <a:endParaRPr lang="en-US" altLang="zh-CN" sz="2500" i="0" baseline="-25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i="0" dirty="0"/>
              <a:t>150</a:t>
            </a:r>
            <a:endParaRPr lang="en-US" altLang="zh-CN" sz="250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50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i="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i="0" dirty="0"/>
              <a:t>Read A</a:t>
            </a:r>
            <a:endParaRPr lang="en-US" altLang="zh-CN" sz="250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i="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i="0" dirty="0">
                <a:solidFill>
                  <a:srgbClr val="0000FF"/>
                </a:solidFill>
              </a:rPr>
              <a:t>Write C</a:t>
            </a:r>
            <a:endParaRPr lang="en-US" altLang="zh-CN" sz="2500" i="0" dirty="0">
              <a:solidFill>
                <a:srgbClr val="0000FF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i="0" dirty="0"/>
              <a:t>T</a:t>
            </a:r>
            <a:r>
              <a:rPr lang="en-US" altLang="zh-CN" sz="2500" i="0" baseline="-25000" dirty="0"/>
              <a:t>2</a:t>
            </a:r>
            <a:r>
              <a:rPr lang="en-US" altLang="zh-CN" sz="2500" i="0" dirty="0"/>
              <a:t> abort</a:t>
            </a:r>
            <a:endParaRPr lang="en-US" altLang="zh-CN" sz="250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500" i="0" dirty="0"/>
          </a:p>
        </p:txBody>
      </p:sp>
      <p:sp>
        <p:nvSpPr>
          <p:cNvPr id="658441" name="Rectangle 9"/>
          <p:cNvSpPr>
            <a:spLocks noChangeArrowheads="1"/>
          </p:cNvSpPr>
          <p:nvPr/>
        </p:nvSpPr>
        <p:spPr bwMode="auto">
          <a:xfrm>
            <a:off x="6186760" y="1636985"/>
            <a:ext cx="1625600" cy="502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i="0" dirty="0"/>
              <a:t>B</a:t>
            </a:r>
            <a:endParaRPr lang="en-US" altLang="zh-CN" sz="2400" i="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 i="0" dirty="0"/>
              <a:t>RT=0</a:t>
            </a:r>
            <a:endParaRPr lang="en-US" altLang="zh-CN" sz="2400" b="0" i="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 i="0" dirty="0"/>
              <a:t>WT=0</a:t>
            </a:r>
            <a:endParaRPr lang="en-US" altLang="zh-CN" sz="2400" b="0" i="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 i="0" dirty="0"/>
              <a:t>RT=200</a:t>
            </a:r>
            <a:endParaRPr lang="en-US" altLang="zh-CN" sz="2400" b="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 i="0" dirty="0"/>
              <a:t>WT=200</a:t>
            </a:r>
            <a:endParaRPr lang="en-US" altLang="zh-CN" sz="2400" b="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0" i="0" dirty="0"/>
          </a:p>
        </p:txBody>
      </p:sp>
      <p:sp>
        <p:nvSpPr>
          <p:cNvPr id="658442" name="Rectangle 10"/>
          <p:cNvSpPr>
            <a:spLocks noChangeArrowheads="1"/>
          </p:cNvSpPr>
          <p:nvPr/>
        </p:nvSpPr>
        <p:spPr bwMode="auto">
          <a:xfrm>
            <a:off x="7516813" y="1613173"/>
            <a:ext cx="1627187" cy="502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i="0" dirty="0"/>
              <a:t>C</a:t>
            </a:r>
            <a:endParaRPr lang="en-US" altLang="zh-CN" sz="2400" i="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 i="0" dirty="0"/>
              <a:t>RT=0</a:t>
            </a:r>
            <a:endParaRPr lang="en-US" altLang="zh-CN" sz="2400" b="0" i="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 i="0" dirty="0"/>
              <a:t>WT=0</a:t>
            </a:r>
            <a:endParaRPr lang="en-US" altLang="zh-CN" sz="2400" b="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0" i="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 i="0" dirty="0">
                <a:solidFill>
                  <a:srgbClr val="0000FF"/>
                </a:solidFill>
              </a:rPr>
              <a:t>RT=175</a:t>
            </a:r>
            <a:endParaRPr lang="en-US" altLang="zh-CN" sz="2400" b="0" i="0" dirty="0">
              <a:solidFill>
                <a:srgbClr val="0000FF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0" i="0" dirty="0"/>
          </a:p>
        </p:txBody>
      </p:sp>
      <p:sp>
        <p:nvSpPr>
          <p:cNvPr id="40974" name="Line 0"/>
          <p:cNvSpPr>
            <a:spLocks noChangeShapeType="1"/>
          </p:cNvSpPr>
          <p:nvPr/>
        </p:nvSpPr>
        <p:spPr bwMode="auto">
          <a:xfrm flipH="1">
            <a:off x="4756150" y="1463675"/>
            <a:ext cx="28575" cy="539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 bwMode="auto">
          <a:xfrm>
            <a:off x="1619672" y="1292275"/>
            <a:ext cx="0" cy="5565725"/>
          </a:xfrm>
          <a:prstGeom prst="line">
            <a:avLst/>
          </a:prstGeom>
          <a:ln w="31750">
            <a:solidFill>
              <a:srgbClr val="80008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 bwMode="auto">
          <a:xfrm>
            <a:off x="3271072" y="1292275"/>
            <a:ext cx="0" cy="5565725"/>
          </a:xfrm>
          <a:prstGeom prst="line">
            <a:avLst/>
          </a:prstGeom>
          <a:ln w="31750">
            <a:solidFill>
              <a:srgbClr val="80008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 bwMode="auto">
          <a:xfrm>
            <a:off x="6228184" y="1292275"/>
            <a:ext cx="0" cy="5565725"/>
          </a:xfrm>
          <a:prstGeom prst="line">
            <a:avLst/>
          </a:prstGeom>
          <a:ln w="31750">
            <a:solidFill>
              <a:srgbClr val="80008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 bwMode="auto">
          <a:xfrm>
            <a:off x="7596336" y="1292275"/>
            <a:ext cx="0" cy="5565725"/>
          </a:xfrm>
          <a:prstGeom prst="line">
            <a:avLst/>
          </a:prstGeom>
          <a:ln w="31750">
            <a:solidFill>
              <a:srgbClr val="80008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C8FEA-CA60-4BCA-B8B2-1BC535050C26}" type="datetime1">
              <a:rPr lang="zh-CN" altLang="en-US" smtClean="0"/>
            </a:fld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  <p:sp>
        <p:nvSpPr>
          <p:cNvPr id="658443" name="AutoShape 11"/>
          <p:cNvSpPr>
            <a:spLocks noChangeArrowheads="1"/>
          </p:cNvSpPr>
          <p:nvPr/>
        </p:nvSpPr>
        <p:spPr bwMode="auto">
          <a:xfrm>
            <a:off x="22243" y="5440338"/>
            <a:ext cx="1733550" cy="1122089"/>
          </a:xfrm>
          <a:prstGeom prst="wedgeRoundRectCallout">
            <a:avLst>
              <a:gd name="adj1" fmla="val 54869"/>
              <a:gd name="adj2" fmla="val -77103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i="0" dirty="0">
                <a:latin typeface="Helvetica" panose="020B0604020202020204" pitchFamily="34" charset="0"/>
              </a:rPr>
              <a:t>C</a:t>
            </a:r>
            <a:r>
              <a:rPr lang="zh-CN" altLang="en-US" sz="1800" b="0" i="0" dirty="0">
                <a:latin typeface="Helvetica" panose="020B0604020202020204" pitchFamily="34" charset="0"/>
              </a:rPr>
              <a:t>已经被</a:t>
            </a:r>
            <a:r>
              <a:rPr lang="zh-CN" altLang="en-US" sz="1800" b="0" i="0" dirty="0">
                <a:solidFill>
                  <a:srgbClr val="0000FF"/>
                </a:solidFill>
                <a:latin typeface="Helvetica" panose="020B0604020202020204" pitchFamily="34" charset="0"/>
              </a:rPr>
              <a:t>后续事务</a:t>
            </a:r>
            <a:r>
              <a:rPr lang="en-US" altLang="zh-CN" sz="1800" b="0" i="0" dirty="0">
                <a:solidFill>
                  <a:srgbClr val="0000FF"/>
                </a:solidFill>
                <a:latin typeface="Helvetica" panose="020B0604020202020204" pitchFamily="34" charset="0"/>
              </a:rPr>
              <a:t>T</a:t>
            </a:r>
            <a:r>
              <a:rPr lang="en-US" altLang="zh-CN" sz="1800" b="0" i="0" baseline="-25000" dirty="0">
                <a:solidFill>
                  <a:srgbClr val="0000FF"/>
                </a:solidFill>
                <a:latin typeface="Helvetica" panose="020B0604020202020204" pitchFamily="34" charset="0"/>
              </a:rPr>
              <a:t>3</a:t>
            </a:r>
            <a:r>
              <a:rPr lang="zh-CN" altLang="en-US" sz="1800" b="0" i="0" dirty="0">
                <a:solidFill>
                  <a:srgbClr val="0000FF"/>
                </a:solidFill>
                <a:latin typeface="Helvetica" panose="020B0604020202020204" pitchFamily="34" charset="0"/>
              </a:rPr>
              <a:t>读取</a:t>
            </a:r>
            <a:r>
              <a:rPr lang="zh-CN" altLang="en-US" sz="1800" b="0" i="0" dirty="0">
                <a:latin typeface="Helvetica" panose="020B0604020202020204" pitchFamily="34" charset="0"/>
              </a:rPr>
              <a:t>了，不能执行串行化操作</a:t>
            </a:r>
            <a:endParaRPr lang="zh-CN" altLang="en-US" sz="1800" b="0" i="0" dirty="0">
              <a:latin typeface="Helvetica" panose="020B0604020202020204" pitchFamily="34" charset="0"/>
            </a:endParaRPr>
          </a:p>
        </p:txBody>
      </p:sp>
      <p:sp>
        <p:nvSpPr>
          <p:cNvPr id="658444" name="AutoShape 12"/>
          <p:cNvSpPr>
            <a:spLocks noChangeArrowheads="1"/>
          </p:cNvSpPr>
          <p:nvPr/>
        </p:nvSpPr>
        <p:spPr bwMode="auto">
          <a:xfrm>
            <a:off x="5657850" y="5733256"/>
            <a:ext cx="3486150" cy="934243"/>
          </a:xfrm>
          <a:prstGeom prst="wedgeRoundRectCallout">
            <a:avLst>
              <a:gd name="adj1" fmla="val -77422"/>
              <a:gd name="adj2" fmla="val -21527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0" i="0" dirty="0">
                <a:latin typeface="Helvetica" panose="020B0604020202020204" pitchFamily="34" charset="0"/>
              </a:rPr>
              <a:t>满足</a:t>
            </a:r>
            <a:r>
              <a:rPr lang="en-US" altLang="zh-CN" sz="1800" b="0" i="0" dirty="0">
                <a:latin typeface="Helvetica" panose="020B0604020202020204" pitchFamily="34" charset="0"/>
              </a:rPr>
              <a:t>TS(T</a:t>
            </a:r>
            <a:r>
              <a:rPr lang="en-US" altLang="zh-CN" sz="1800" b="0" i="0" baseline="-25000" dirty="0">
                <a:latin typeface="Helvetica" panose="020B0604020202020204" pitchFamily="34" charset="0"/>
              </a:rPr>
              <a:t>3</a:t>
            </a:r>
            <a:r>
              <a:rPr lang="en-US" altLang="zh-CN" sz="1800" b="0" i="0" dirty="0">
                <a:latin typeface="Helvetica" panose="020B0604020202020204" pitchFamily="34" charset="0"/>
              </a:rPr>
              <a:t>)&gt;RT(A), </a:t>
            </a:r>
            <a:endParaRPr lang="en-US" altLang="zh-CN" sz="1800" b="0" i="0" dirty="0">
              <a:latin typeface="Helvetica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0" i="0" dirty="0">
                <a:latin typeface="Helvetica" panose="020B0604020202020204" pitchFamily="34" charset="0"/>
              </a:rPr>
              <a:t>但是 </a:t>
            </a:r>
            <a:r>
              <a:rPr lang="en-US" altLang="zh-CN" sz="1800" b="0" i="0" dirty="0">
                <a:latin typeface="Helvetica" panose="020B0604020202020204" pitchFamily="34" charset="0"/>
              </a:rPr>
              <a:t>TS(T</a:t>
            </a:r>
            <a:r>
              <a:rPr lang="en-US" altLang="zh-CN" sz="1800" b="0" i="0" baseline="-25000" dirty="0">
                <a:latin typeface="Helvetica" panose="020B0604020202020204" pitchFamily="34" charset="0"/>
              </a:rPr>
              <a:t>3</a:t>
            </a:r>
            <a:r>
              <a:rPr lang="en-US" altLang="zh-CN" sz="1800" b="0" i="0" dirty="0">
                <a:latin typeface="Helvetica" panose="020B0604020202020204" pitchFamily="34" charset="0"/>
              </a:rPr>
              <a:t>)</a:t>
            </a:r>
            <a:r>
              <a:rPr lang="en-US" altLang="zh-CN" sz="1800" b="0" i="0" dirty="0">
                <a:solidFill>
                  <a:srgbClr val="0000FF"/>
                </a:solidFill>
                <a:latin typeface="Helvetica" panose="020B0604020202020204" pitchFamily="34" charset="0"/>
              </a:rPr>
              <a:t>&lt;</a:t>
            </a:r>
            <a:r>
              <a:rPr lang="en-US" altLang="zh-CN" sz="1800" b="0" i="0" dirty="0">
                <a:latin typeface="Helvetica" panose="020B0604020202020204" pitchFamily="34" charset="0"/>
              </a:rPr>
              <a:t>WT(A),</a:t>
            </a:r>
            <a:endParaRPr lang="en-US" altLang="zh-CN" sz="1800" b="0" i="0" dirty="0">
              <a:latin typeface="Helvetica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0" i="0" dirty="0">
                <a:latin typeface="Helvetica" panose="020B0604020202020204" pitchFamily="34" charset="0"/>
              </a:rPr>
              <a:t>即使执行</a:t>
            </a:r>
            <a:r>
              <a:rPr lang="en-US" altLang="zh-CN" sz="1800" b="0" i="0" dirty="0">
                <a:latin typeface="Helvetica" panose="020B0604020202020204" pitchFamily="34" charset="0"/>
              </a:rPr>
              <a:t>Write A,</a:t>
            </a:r>
            <a:r>
              <a:rPr lang="zh-CN" altLang="en-US" sz="1800" b="0" i="0" dirty="0">
                <a:latin typeface="Helvetica" panose="020B0604020202020204" pitchFamily="34" charset="0"/>
              </a:rPr>
              <a:t>也</a:t>
            </a:r>
            <a:r>
              <a:rPr lang="zh-CN" altLang="en-US" sz="1800" b="0" i="0" dirty="0">
                <a:solidFill>
                  <a:srgbClr val="0000FF"/>
                </a:solidFill>
                <a:latin typeface="Helvetica" panose="020B0604020202020204" pitchFamily="34" charset="0"/>
              </a:rPr>
              <a:t>会被</a:t>
            </a:r>
            <a:r>
              <a:rPr lang="en-US" altLang="zh-CN" sz="1800" b="0" i="0" dirty="0">
                <a:solidFill>
                  <a:srgbClr val="0000FF"/>
                </a:solidFill>
                <a:latin typeface="Helvetica" panose="020B0604020202020204" pitchFamily="34" charset="0"/>
              </a:rPr>
              <a:t>T</a:t>
            </a:r>
            <a:r>
              <a:rPr lang="en-US" altLang="zh-CN" sz="1800" b="0" i="0" baseline="-25000" dirty="0">
                <a:solidFill>
                  <a:srgbClr val="0000FF"/>
                </a:solidFill>
                <a:latin typeface="Helvetica" panose="020B0604020202020204" pitchFamily="34" charset="0"/>
              </a:rPr>
              <a:t>1</a:t>
            </a:r>
            <a:r>
              <a:rPr lang="zh-CN" altLang="en-US" sz="1800" b="0" i="0" dirty="0">
                <a:solidFill>
                  <a:srgbClr val="0000FF"/>
                </a:solidFill>
                <a:latin typeface="Helvetica" panose="020B0604020202020204" pitchFamily="34" charset="0"/>
              </a:rPr>
              <a:t>覆盖</a:t>
            </a:r>
            <a:endParaRPr lang="zh-CN" altLang="en-US" sz="1800" b="0" i="0" dirty="0">
              <a:solidFill>
                <a:srgbClr val="0000FF"/>
              </a:solidFill>
              <a:latin typeface="Helvetica" panose="020B0604020202020204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84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84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584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584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584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584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584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65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8443" grpId="0" animBg="1"/>
      <p:bldP spid="65844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本章目录</a:t>
            </a:r>
            <a:endParaRPr lang="zh-CN" altLang="en-US"/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39888"/>
            <a:ext cx="7583488" cy="4532312"/>
          </a:xfrm>
        </p:spPr>
        <p:txBody>
          <a:bodyPr/>
          <a:lstStyle/>
          <a:p>
            <a:r>
              <a:rPr lang="en-US" altLang="zh-CN" sz="2800" dirty="0"/>
              <a:t>14.1 </a:t>
            </a:r>
            <a:r>
              <a:rPr lang="zh-CN" altLang="en-US" sz="2800" dirty="0"/>
              <a:t>基于锁的协议</a:t>
            </a:r>
            <a:endParaRPr lang="zh-CN" altLang="en-US" sz="2800" dirty="0"/>
          </a:p>
          <a:p>
            <a:r>
              <a:rPr lang="en-US" altLang="zh-CN" sz="2800" dirty="0"/>
              <a:t>14.2 </a:t>
            </a:r>
            <a:r>
              <a:rPr lang="zh-CN" altLang="en-US" sz="2800" dirty="0"/>
              <a:t>死锁处理</a:t>
            </a:r>
            <a:endParaRPr lang="zh-CN" altLang="en-US" sz="2800" dirty="0">
              <a:solidFill>
                <a:srgbClr val="CC0000"/>
              </a:solidFill>
            </a:endParaRPr>
          </a:p>
          <a:p>
            <a:r>
              <a:rPr lang="en-US" altLang="zh-CN" sz="2800" dirty="0"/>
              <a:t>14.3 </a:t>
            </a:r>
            <a:r>
              <a:rPr lang="zh-CN" altLang="en-US" sz="2800" dirty="0"/>
              <a:t>多粒度</a:t>
            </a:r>
            <a:endParaRPr lang="zh-CN" altLang="en-US" sz="2800" dirty="0"/>
          </a:p>
          <a:p>
            <a:r>
              <a:rPr lang="en-US" altLang="zh-CN" sz="2800" dirty="0"/>
              <a:t>14.4 </a:t>
            </a:r>
            <a:r>
              <a:rPr lang="zh-CN" altLang="en-US" sz="2800" dirty="0"/>
              <a:t>插入操作、删除操作与谓词读</a:t>
            </a:r>
            <a:r>
              <a:rPr lang="en-US" altLang="zh-CN" sz="2800" dirty="0"/>
              <a:t>(</a:t>
            </a:r>
            <a:r>
              <a:rPr lang="zh-CN" altLang="en-US" sz="2800" dirty="0"/>
              <a:t>了解</a:t>
            </a:r>
            <a:r>
              <a:rPr lang="en-US" altLang="zh-CN" sz="2800" dirty="0"/>
              <a:t>)</a:t>
            </a:r>
            <a:endParaRPr lang="zh-CN" altLang="en-US" sz="2800" dirty="0"/>
          </a:p>
          <a:p>
            <a:r>
              <a:rPr lang="en-US" altLang="zh-CN" sz="2800" dirty="0"/>
              <a:t>14.5 </a:t>
            </a:r>
            <a:r>
              <a:rPr lang="zh-CN" altLang="en-US" sz="2800" dirty="0"/>
              <a:t>基于时间戳的协议</a:t>
            </a:r>
            <a:r>
              <a:rPr lang="en-US" altLang="zh-CN" sz="2800" dirty="0"/>
              <a:t>(</a:t>
            </a:r>
            <a:r>
              <a:rPr lang="zh-CN" altLang="en-US" sz="2800" dirty="0"/>
              <a:t>了解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r>
              <a:rPr lang="en-US" altLang="zh-CN" sz="2800" dirty="0"/>
              <a:t>14.6 </a:t>
            </a:r>
            <a:r>
              <a:rPr lang="zh-CN" altLang="en-US" sz="2800" dirty="0"/>
              <a:t>基于有效性检查的协议</a:t>
            </a:r>
            <a:r>
              <a:rPr lang="en-US" altLang="zh-CN" sz="2800" dirty="0"/>
              <a:t>(</a:t>
            </a:r>
            <a:r>
              <a:rPr lang="zh-CN" altLang="en-US" sz="2800" dirty="0"/>
              <a:t>了解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r>
              <a:rPr lang="en-US" altLang="zh-CN" sz="2800" dirty="0"/>
              <a:t>14.7</a:t>
            </a:r>
            <a:r>
              <a:rPr lang="zh-CN" altLang="en-US" sz="2800" dirty="0"/>
              <a:t> 多版本机制</a:t>
            </a:r>
            <a:r>
              <a:rPr lang="en-US" altLang="zh-CN" sz="2800" dirty="0"/>
              <a:t>(</a:t>
            </a:r>
            <a:r>
              <a:rPr lang="zh-CN" altLang="en-US" sz="2800" dirty="0"/>
              <a:t>自学了解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r>
              <a:rPr lang="en-US" altLang="zh-CN" sz="2800" dirty="0"/>
              <a:t>14.8 </a:t>
            </a:r>
            <a:r>
              <a:rPr lang="zh-CN" altLang="en-US" sz="2800" dirty="0"/>
              <a:t>故障分类</a:t>
            </a:r>
            <a:endParaRPr lang="en-US" altLang="zh-CN" sz="2800" dirty="0"/>
          </a:p>
        </p:txBody>
      </p:sp>
      <p:sp>
        <p:nvSpPr>
          <p:cNvPr id="253956" name="AutoShape 4"/>
          <p:cNvSpPr>
            <a:spLocks noChangeArrowheads="1"/>
          </p:cNvSpPr>
          <p:nvPr/>
        </p:nvSpPr>
        <p:spPr bwMode="auto">
          <a:xfrm>
            <a:off x="838200" y="4293096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2B05B-0D95-4EFF-B04A-F37EEC91FE1D}" type="datetime1">
              <a:rPr lang="zh-CN" altLang="en-US" smtClean="0"/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6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14.6 </a:t>
            </a:r>
            <a:r>
              <a:rPr lang="zh-CN" altLang="en-US" sz="3200" dirty="0"/>
              <a:t>基于有效性检查的协议</a:t>
            </a:r>
            <a:endParaRPr lang="en-US" altLang="zh-CN" sz="3200" dirty="0"/>
          </a:p>
        </p:txBody>
      </p:sp>
      <p:sp>
        <p:nvSpPr>
          <p:cNvPr id="564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40768"/>
            <a:ext cx="8345488" cy="4684713"/>
          </a:xfrm>
        </p:spPr>
        <p:txBody>
          <a:bodyPr/>
          <a:lstStyle/>
          <a:p>
            <a:r>
              <a:rPr lang="zh-CN" altLang="en-US" sz="2800" dirty="0"/>
              <a:t>在大部分事务是</a:t>
            </a:r>
            <a:r>
              <a:rPr lang="zh-CN" altLang="en-US" sz="2800" dirty="0">
                <a:solidFill>
                  <a:srgbClr val="0000FF"/>
                </a:solidFill>
              </a:rPr>
              <a:t>只读事务</a:t>
            </a:r>
            <a:r>
              <a:rPr lang="zh-CN" altLang="en-US" sz="2800" dirty="0"/>
              <a:t>的情况下，事务</a:t>
            </a:r>
            <a:r>
              <a:rPr lang="zh-CN" altLang="en-US" sz="2800" dirty="0">
                <a:solidFill>
                  <a:srgbClr val="0000FF"/>
                </a:solidFill>
              </a:rPr>
              <a:t>发生冲突的频率较低</a:t>
            </a:r>
            <a:r>
              <a:rPr lang="zh-CN" altLang="en-US" sz="2800" dirty="0"/>
              <a:t>。因此，许多这样的事务，即使在</a:t>
            </a:r>
            <a:r>
              <a:rPr lang="zh-CN" altLang="en-US" sz="2800" b="1" u="sng" dirty="0"/>
              <a:t>没有并发控制机制监控</a:t>
            </a:r>
            <a:r>
              <a:rPr lang="zh-CN" altLang="en-US" sz="2800" dirty="0"/>
              <a:t>的情况下执行，也不会破坏系统的一致状态。</a:t>
            </a:r>
            <a:endParaRPr lang="en-US" altLang="zh-CN" sz="2800" dirty="0"/>
          </a:p>
          <a:p>
            <a:r>
              <a:rPr lang="zh-CN" altLang="en-US" sz="2800" dirty="0"/>
              <a:t>并发控制机制带来</a:t>
            </a:r>
            <a:r>
              <a:rPr lang="zh-CN" altLang="en-US" sz="2800" dirty="0">
                <a:solidFill>
                  <a:srgbClr val="0000FF"/>
                </a:solidFill>
              </a:rPr>
              <a:t>代码执行的升销</a:t>
            </a:r>
            <a:r>
              <a:rPr lang="zh-CN" altLang="en-US" sz="2800" dirty="0"/>
              <a:t>和</a:t>
            </a:r>
            <a:r>
              <a:rPr lang="zh-CN" altLang="en-US" sz="2800" dirty="0">
                <a:solidFill>
                  <a:srgbClr val="0000FF"/>
                </a:solidFill>
              </a:rPr>
              <a:t>可能的事务延迟</a:t>
            </a:r>
            <a:r>
              <a:rPr lang="zh-CN" altLang="en-US" sz="2800" dirty="0"/>
              <a:t>，采用</a:t>
            </a:r>
            <a:r>
              <a:rPr lang="zh-CN" altLang="en-US" sz="2800" b="1" dirty="0">
                <a:solidFill>
                  <a:srgbClr val="0000FF"/>
                </a:solidFill>
              </a:rPr>
              <a:t>开销较小的机制</a:t>
            </a:r>
            <a:r>
              <a:rPr lang="zh-CN" altLang="en-US" sz="2800" dirty="0"/>
              <a:t>是我们所希望的。</a:t>
            </a:r>
            <a:r>
              <a:rPr lang="zh-CN" altLang="en-US" sz="2800" b="1" dirty="0"/>
              <a:t>减小开销面临的困难</a:t>
            </a:r>
            <a:r>
              <a:rPr lang="zh-CN" altLang="en-US" sz="2800" dirty="0"/>
              <a:t>是我们事先并不知道哪些事务将陷入冲突中。</a:t>
            </a:r>
            <a:endParaRPr lang="en-US" altLang="zh-CN" sz="2800" dirty="0"/>
          </a:p>
          <a:p>
            <a:r>
              <a:rPr lang="zh-CN" altLang="en-US" sz="2800" dirty="0"/>
              <a:t>为获得这种知识，我们需要一种监控系统的机制</a:t>
            </a:r>
            <a:r>
              <a:rPr lang="en-US" altLang="zh-CN" sz="2800" dirty="0"/>
              <a:t>.</a:t>
            </a:r>
            <a:endParaRPr lang="en-US" altLang="zh-CN" sz="2800" dirty="0"/>
          </a:p>
          <a:p>
            <a:endParaRPr lang="zh-CN" altLang="en-US" sz="2800" dirty="0"/>
          </a:p>
          <a:p>
            <a:endParaRPr lang="zh-CN" altLang="en-US" sz="2800" dirty="0"/>
          </a:p>
          <a:p>
            <a:endParaRPr lang="zh-CN" altLang="en-US" sz="280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904BA-8391-4D70-8D2C-B4490D122AF9}" type="datetime1">
              <a:rPr lang="zh-CN" altLang="en-US" smtClean="0"/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14.6 </a:t>
            </a:r>
            <a:r>
              <a:rPr lang="zh-CN" altLang="en-US" sz="3200" dirty="0"/>
              <a:t>基于有效性检查的协议</a:t>
            </a:r>
            <a:endParaRPr lang="en-US" altLang="zh-CN" sz="3200" dirty="0"/>
          </a:p>
        </p:txBody>
      </p:sp>
      <p:sp>
        <p:nvSpPr>
          <p:cNvPr id="564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45488" cy="5029200"/>
          </a:xfrm>
        </p:spPr>
        <p:txBody>
          <a:bodyPr/>
          <a:lstStyle/>
          <a:p>
            <a:r>
              <a:rPr lang="zh-CN" altLang="en-US" sz="2800" dirty="0"/>
              <a:t>有效性检查协议</a:t>
            </a:r>
            <a:r>
              <a:rPr lang="en-US" altLang="zh-CN" sz="2800" dirty="0"/>
              <a:t>(validation protocol)</a:t>
            </a:r>
            <a:r>
              <a:rPr lang="zh-CN" altLang="en-US" sz="2800" dirty="0"/>
              <a:t>要求每个</a:t>
            </a:r>
            <a:r>
              <a:rPr lang="zh-CN" altLang="en-US" sz="2800" dirty="0">
                <a:solidFill>
                  <a:srgbClr val="0000FF"/>
                </a:solidFill>
              </a:rPr>
              <a:t>事务</a:t>
            </a:r>
            <a:r>
              <a:rPr lang="en-US" altLang="zh-CN" sz="2800" dirty="0">
                <a:solidFill>
                  <a:srgbClr val="0000FF"/>
                </a:solidFill>
              </a:rPr>
              <a:t>T</a:t>
            </a:r>
            <a:r>
              <a:rPr lang="zh-CN" altLang="en-US" sz="2800" dirty="0"/>
              <a:t>在其</a:t>
            </a:r>
            <a:r>
              <a:rPr lang="zh-CN" altLang="en-US" sz="2800" u="sng" dirty="0"/>
              <a:t>生命周期</a:t>
            </a:r>
            <a:r>
              <a:rPr lang="zh-CN" altLang="en-US" sz="2800" dirty="0"/>
              <a:t>中按</a:t>
            </a:r>
            <a:r>
              <a:rPr lang="zh-CN" altLang="en-US" sz="2800" b="1" dirty="0">
                <a:solidFill>
                  <a:srgbClr val="0000FF"/>
                </a:solidFill>
              </a:rPr>
              <a:t>两个</a:t>
            </a:r>
            <a:r>
              <a:rPr lang="zh-CN" altLang="en-US" sz="2800" b="1" dirty="0"/>
              <a:t>或</a:t>
            </a:r>
            <a:r>
              <a:rPr lang="zh-CN" altLang="en-US" sz="2800" b="1" dirty="0">
                <a:solidFill>
                  <a:srgbClr val="FF0000"/>
                </a:solidFill>
              </a:rPr>
              <a:t>三个</a:t>
            </a:r>
            <a:r>
              <a:rPr lang="zh-CN" altLang="en-US" sz="2800" dirty="0"/>
              <a:t>阶段执行，这取决于该事务是一个</a:t>
            </a:r>
            <a:r>
              <a:rPr lang="zh-CN" altLang="en-US" sz="2800" b="1" dirty="0">
                <a:solidFill>
                  <a:srgbClr val="0000FF"/>
                </a:solidFill>
              </a:rPr>
              <a:t>只读事务</a:t>
            </a:r>
            <a:r>
              <a:rPr lang="zh-CN" altLang="en-US" sz="2800" dirty="0"/>
              <a:t>还是一个</a:t>
            </a:r>
            <a:r>
              <a:rPr lang="zh-CN" altLang="en-US" sz="2800" b="1" dirty="0">
                <a:solidFill>
                  <a:srgbClr val="FF0000"/>
                </a:solidFill>
              </a:rPr>
              <a:t>更新事务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lvl="1"/>
            <a:r>
              <a:rPr lang="en-US" altLang="zh-CN" sz="2000" dirty="0"/>
              <a:t>1.</a:t>
            </a:r>
            <a:r>
              <a:rPr lang="zh-CN" altLang="en-US" sz="2000" dirty="0"/>
              <a:t>读阶段</a:t>
            </a:r>
            <a:r>
              <a:rPr lang="en-US" altLang="zh-CN" sz="2000" dirty="0"/>
              <a:t>( read phase):</a:t>
            </a:r>
            <a:r>
              <a:rPr lang="zh-CN" altLang="en-US" sz="2000" dirty="0"/>
              <a:t>在这一阶段中，系统执行事务</a:t>
            </a:r>
            <a:r>
              <a:rPr lang="en-US" altLang="zh-CN" sz="2000" dirty="0"/>
              <a:t>T</a:t>
            </a:r>
            <a:r>
              <a:rPr lang="zh-CN" altLang="en-US" sz="2000" dirty="0"/>
              <a:t>。各数据项值被读入并保存在事务</a:t>
            </a:r>
            <a:r>
              <a:rPr lang="en-US" altLang="zh-CN" sz="2000" dirty="0"/>
              <a:t>T</a:t>
            </a:r>
            <a:r>
              <a:rPr lang="zh-CN" altLang="en-US" sz="2000" dirty="0"/>
              <a:t>的</a:t>
            </a:r>
            <a:r>
              <a:rPr lang="zh-CN" altLang="en-US" sz="2000" b="1" dirty="0">
                <a:solidFill>
                  <a:srgbClr val="0000FF"/>
                </a:solidFill>
              </a:rPr>
              <a:t>局部变量</a:t>
            </a:r>
            <a:r>
              <a:rPr lang="zh-CN" altLang="en-US" sz="2000" dirty="0"/>
              <a:t>中。所有</a:t>
            </a:r>
            <a:r>
              <a:rPr lang="en-US" altLang="zh-CN" sz="2000" dirty="0"/>
              <a:t>write</a:t>
            </a:r>
            <a:r>
              <a:rPr lang="zh-CN" altLang="en-US" sz="2000" dirty="0"/>
              <a:t>操作都是对</a:t>
            </a:r>
            <a:r>
              <a:rPr lang="zh-CN" altLang="en-US" sz="2000" b="1" dirty="0">
                <a:solidFill>
                  <a:srgbClr val="0000FF"/>
                </a:solidFill>
              </a:rPr>
              <a:t>局部临时变量</a:t>
            </a:r>
            <a:r>
              <a:rPr lang="zh-CN" altLang="en-US" sz="2000" dirty="0"/>
              <a:t>进行的，</a:t>
            </a:r>
            <a:r>
              <a:rPr lang="zh-CN" altLang="en-US" sz="2000" dirty="0">
                <a:solidFill>
                  <a:srgbClr val="0000FF"/>
                </a:solidFill>
              </a:rPr>
              <a:t>并不对数据库进行</a:t>
            </a:r>
            <a:r>
              <a:rPr lang="zh-CN" altLang="en-US" sz="2000" b="1" dirty="0">
                <a:solidFill>
                  <a:srgbClr val="0000FF"/>
                </a:solidFill>
              </a:rPr>
              <a:t>真正</a:t>
            </a:r>
            <a:r>
              <a:rPr lang="zh-CN" altLang="en-US" sz="2000" dirty="0">
                <a:solidFill>
                  <a:srgbClr val="0000FF"/>
                </a:solidFill>
              </a:rPr>
              <a:t>的更新</a:t>
            </a:r>
            <a:r>
              <a:rPr lang="zh-CN" altLang="en-US" sz="2000" dirty="0"/>
              <a:t>。</a:t>
            </a:r>
            <a:endParaRPr lang="zh-CN" altLang="en-US" sz="2000" dirty="0"/>
          </a:p>
          <a:p>
            <a:pPr lvl="1"/>
            <a:r>
              <a:rPr lang="en-US" altLang="zh-CN" sz="2000" dirty="0"/>
              <a:t>2.</a:t>
            </a:r>
            <a:r>
              <a:rPr lang="zh-CN" altLang="en-US" sz="2000" dirty="0"/>
              <a:t>有效性检查阶段</a:t>
            </a:r>
            <a:r>
              <a:rPr lang="en-US" altLang="zh-CN" sz="2000" dirty="0"/>
              <a:t>( validation phase):</a:t>
            </a:r>
            <a:r>
              <a:rPr lang="zh-CN" altLang="en-US" sz="2000" dirty="0"/>
              <a:t>对事务</a:t>
            </a:r>
            <a:r>
              <a:rPr lang="en-US" altLang="zh-CN" sz="2000" dirty="0"/>
              <a:t>T</a:t>
            </a:r>
            <a:r>
              <a:rPr lang="zh-CN" altLang="en-US" sz="2000" dirty="0"/>
              <a:t>进行有效性测试</a:t>
            </a:r>
            <a:r>
              <a:rPr lang="en-US" altLang="zh-CN" sz="2000" dirty="0"/>
              <a:t>(</a:t>
            </a:r>
            <a:r>
              <a:rPr lang="zh-CN" altLang="en-US" sz="2000" dirty="0"/>
              <a:t>自学</a:t>
            </a:r>
            <a:r>
              <a:rPr lang="en-US" altLang="zh-CN" sz="2000" dirty="0"/>
              <a:t>)</a:t>
            </a:r>
            <a:r>
              <a:rPr lang="zh-CN" altLang="en-US" sz="2000" dirty="0"/>
              <a:t>。判定是否可以执行</a:t>
            </a:r>
            <a:r>
              <a:rPr lang="en-US" altLang="zh-CN" sz="2000" dirty="0"/>
              <a:t>write</a:t>
            </a:r>
            <a:r>
              <a:rPr lang="zh-CN" altLang="en-US" sz="2000" dirty="0"/>
              <a:t>操作而</a:t>
            </a:r>
            <a:r>
              <a:rPr lang="zh-CN" altLang="en-US" sz="2000" b="1" dirty="0">
                <a:solidFill>
                  <a:srgbClr val="0000FF"/>
                </a:solidFill>
              </a:rPr>
              <a:t>不违反可串行性</a:t>
            </a:r>
            <a:r>
              <a:rPr lang="zh-CN" altLang="en-US" sz="2000" dirty="0"/>
              <a:t>。如果</a:t>
            </a:r>
            <a:r>
              <a:rPr lang="zh-CN" altLang="en-US" sz="2000" dirty="0">
                <a:solidFill>
                  <a:srgbClr val="0000FF"/>
                </a:solidFill>
              </a:rPr>
              <a:t>事务有效性测试失败，则系统</a:t>
            </a:r>
            <a:r>
              <a:rPr lang="zh-CN" altLang="en-US" sz="2000" b="1" dirty="0">
                <a:solidFill>
                  <a:srgbClr val="FF0000"/>
                </a:solidFill>
              </a:rPr>
              <a:t>终止</a:t>
            </a:r>
            <a:r>
              <a:rPr lang="zh-CN" altLang="en-US" sz="2000" dirty="0">
                <a:solidFill>
                  <a:srgbClr val="0000FF"/>
                </a:solidFill>
              </a:rPr>
              <a:t>这个事务</a:t>
            </a:r>
            <a:r>
              <a:rPr lang="zh-CN" altLang="en-US" sz="2000" dirty="0"/>
              <a:t>。</a:t>
            </a:r>
            <a:endParaRPr lang="zh-CN" altLang="en-US" sz="2000" dirty="0"/>
          </a:p>
          <a:p>
            <a:pPr lvl="1"/>
            <a:r>
              <a:rPr lang="en-US" altLang="zh-CN" sz="2000" dirty="0"/>
              <a:t>3.</a:t>
            </a:r>
            <a:r>
              <a:rPr lang="zh-CN" altLang="en-US" sz="2000" dirty="0"/>
              <a:t>写阶段</a:t>
            </a:r>
            <a:r>
              <a:rPr lang="en-US" altLang="zh-CN" sz="2000" dirty="0"/>
              <a:t>( write phase):</a:t>
            </a:r>
            <a:r>
              <a:rPr lang="zh-CN" altLang="en-US" sz="2000" dirty="0"/>
              <a:t>若事务</a:t>
            </a:r>
            <a:r>
              <a:rPr lang="en-US" altLang="zh-CN" sz="2000" dirty="0"/>
              <a:t>T,</a:t>
            </a:r>
            <a:r>
              <a:rPr lang="zh-CN" altLang="en-US" sz="2000" dirty="0"/>
              <a:t>已通过有效性检查</a:t>
            </a:r>
            <a:r>
              <a:rPr lang="en-US" altLang="zh-CN" sz="2000" dirty="0"/>
              <a:t>(</a:t>
            </a:r>
            <a:r>
              <a:rPr lang="zh-CN" altLang="en-US" sz="2000" dirty="0"/>
              <a:t>第</a:t>
            </a:r>
            <a:r>
              <a:rPr lang="en-US" altLang="zh-CN" sz="2000" dirty="0"/>
              <a:t>2</a:t>
            </a:r>
            <a:r>
              <a:rPr lang="zh-CN" altLang="en-US" sz="2000" dirty="0"/>
              <a:t>步</a:t>
            </a:r>
            <a:r>
              <a:rPr lang="en-US" altLang="zh-CN" sz="2000" dirty="0"/>
              <a:t>)</a:t>
            </a:r>
            <a:r>
              <a:rPr lang="zh-CN" altLang="en-US" sz="2000" dirty="0"/>
              <a:t>，则</a:t>
            </a:r>
            <a:r>
              <a:rPr lang="zh-CN" altLang="en-US" sz="2000" dirty="0">
                <a:solidFill>
                  <a:srgbClr val="0000FF"/>
                </a:solidFill>
              </a:rPr>
              <a:t>保存</a:t>
            </a:r>
            <a:r>
              <a:rPr lang="en-US" altLang="zh-CN" sz="2000" dirty="0"/>
              <a:t>T</a:t>
            </a:r>
            <a:r>
              <a:rPr lang="zh-CN" altLang="en-US" sz="2000" dirty="0"/>
              <a:t>任何写操作结果的</a:t>
            </a:r>
            <a:r>
              <a:rPr lang="zh-CN" altLang="en-US" sz="2000" dirty="0">
                <a:solidFill>
                  <a:srgbClr val="0000FF"/>
                </a:solidFill>
              </a:rPr>
              <a:t>临时局部变量值</a:t>
            </a:r>
            <a:r>
              <a:rPr lang="zh-CN" altLang="en-US" sz="2000" dirty="0"/>
              <a:t>被复制到</a:t>
            </a:r>
            <a:r>
              <a:rPr lang="zh-CN" altLang="en-US" sz="2000" dirty="0">
                <a:solidFill>
                  <a:srgbClr val="0000FF"/>
                </a:solidFill>
              </a:rPr>
              <a:t>数据库</a:t>
            </a:r>
            <a:r>
              <a:rPr lang="zh-CN" altLang="en-US" sz="2000" dirty="0"/>
              <a:t>中。</a:t>
            </a:r>
            <a:r>
              <a:rPr lang="zh-CN" altLang="en-US" sz="2000" u="sng" dirty="0"/>
              <a:t>只读事务忽略这个阶段</a:t>
            </a:r>
            <a:r>
              <a:rPr lang="zh-CN" altLang="en-US" sz="2000" dirty="0"/>
              <a:t>。</a:t>
            </a:r>
            <a:endParaRPr lang="zh-CN" altLang="en-US" sz="2000" dirty="0"/>
          </a:p>
          <a:p>
            <a:pPr lvl="1"/>
            <a:endParaRPr lang="en-US" altLang="zh-CN" sz="2400" dirty="0"/>
          </a:p>
          <a:p>
            <a:pPr lvl="1"/>
            <a:endParaRPr lang="zh-CN" altLang="en-US" sz="240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8A9D4-0EC0-4C72-9645-A3E7A83BB73D}" type="datetime1">
              <a:rPr lang="zh-CN" altLang="en-US" smtClean="0"/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基于有效性检查的协议</a:t>
            </a:r>
            <a:endParaRPr lang="en-US" altLang="zh-CN"/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79438" y="1412776"/>
            <a:ext cx="8564562" cy="5133975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sz="2500" dirty="0"/>
              <a:t>事务</a:t>
            </a:r>
            <a:r>
              <a:rPr lang="en-US" altLang="zh-CN" sz="2500" i="1" dirty="0" err="1"/>
              <a:t>T</a:t>
            </a:r>
            <a:r>
              <a:rPr lang="en-US" altLang="zh-CN" sz="2500" i="1" baseline="-25000" dirty="0" err="1"/>
              <a:t>i</a:t>
            </a:r>
            <a:r>
              <a:rPr lang="en-US" altLang="zh-CN" sz="2500" baseline="-25000" dirty="0"/>
              <a:t> </a:t>
            </a:r>
            <a:r>
              <a:rPr lang="zh-CN" altLang="en-US" sz="2500" dirty="0"/>
              <a:t>的执行分成三个阶段</a:t>
            </a:r>
            <a:endParaRPr lang="en-US" altLang="zh-CN" sz="2500" dirty="0"/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500" b="0" dirty="0"/>
              <a:t>  1.  </a:t>
            </a:r>
            <a:r>
              <a:rPr lang="zh-CN" altLang="en-US" sz="2500" dirty="0">
                <a:solidFill>
                  <a:srgbClr val="FF0000"/>
                </a:solidFill>
              </a:rPr>
              <a:t>读执行阶段</a:t>
            </a:r>
            <a:r>
              <a:rPr lang="zh-CN" altLang="en-US" sz="2500" dirty="0"/>
              <a:t>：事务</a:t>
            </a:r>
            <a:r>
              <a:rPr lang="en-US" altLang="zh-CN" sz="2500" i="1" dirty="0" err="1"/>
              <a:t>T</a:t>
            </a:r>
            <a:r>
              <a:rPr lang="en-US" altLang="zh-CN" sz="2500" i="1" baseline="-25000" dirty="0" err="1"/>
              <a:t>i</a:t>
            </a:r>
            <a:r>
              <a:rPr lang="en-US" altLang="zh-CN" sz="2500" dirty="0"/>
              <a:t> </a:t>
            </a:r>
            <a:r>
              <a:rPr lang="zh-CN" altLang="en-US" sz="2500" dirty="0"/>
              <a:t>的</a:t>
            </a:r>
            <a:r>
              <a:rPr lang="en-US" altLang="zh-CN" sz="2500" b="0" dirty="0"/>
              <a:t>write</a:t>
            </a:r>
            <a:r>
              <a:rPr lang="zh-CN" altLang="en-US" sz="2500" dirty="0"/>
              <a:t>操作只写到</a:t>
            </a:r>
            <a:r>
              <a:rPr lang="zh-CN" altLang="en-US" sz="2500" dirty="0">
                <a:solidFill>
                  <a:srgbClr val="0000FF"/>
                </a:solidFill>
              </a:rPr>
              <a:t>私有局部变量；</a:t>
            </a:r>
            <a:endParaRPr lang="en-US" altLang="zh-CN" sz="2500" dirty="0">
              <a:solidFill>
                <a:srgbClr val="0000FF"/>
              </a:solidFill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500" b="0" dirty="0"/>
              <a:t>  2.  </a:t>
            </a:r>
            <a:r>
              <a:rPr lang="zh-CN" altLang="en-US" sz="2500" dirty="0">
                <a:solidFill>
                  <a:srgbClr val="FF0000"/>
                </a:solidFill>
              </a:rPr>
              <a:t>有效性检查阶段</a:t>
            </a:r>
            <a:r>
              <a:rPr lang="zh-CN" altLang="en-US" sz="2500" b="0" dirty="0"/>
              <a:t>：</a:t>
            </a:r>
            <a:r>
              <a:rPr lang="zh-CN" altLang="en-US" sz="2500" dirty="0"/>
              <a:t>事务</a:t>
            </a:r>
            <a:r>
              <a:rPr lang="en-US" altLang="zh-CN" sz="2500" i="1" dirty="0" err="1"/>
              <a:t>T</a:t>
            </a:r>
            <a:r>
              <a:rPr lang="en-US" altLang="zh-CN" sz="2500" i="1" baseline="-25000" dirty="0" err="1"/>
              <a:t>i</a:t>
            </a:r>
            <a:r>
              <a:rPr lang="en-US" altLang="zh-CN" sz="2500" dirty="0"/>
              <a:t> </a:t>
            </a:r>
            <a:r>
              <a:rPr lang="zh-CN" altLang="en-US" sz="2500" dirty="0"/>
              <a:t>执行</a:t>
            </a:r>
            <a:r>
              <a:rPr lang="zh-CN" altLang="en-US" sz="2500" dirty="0">
                <a:latin typeface="Arial" panose="020B0604020202020204" pitchFamily="34" charset="0"/>
              </a:rPr>
              <a:t>“</a:t>
            </a:r>
            <a:r>
              <a:rPr lang="zh-CN" altLang="en-US" sz="2500" dirty="0"/>
              <a:t>有效性检查</a:t>
            </a:r>
            <a:r>
              <a:rPr lang="en-US" altLang="zh-CN" sz="2500" dirty="0">
                <a:latin typeface="Arial" panose="020B0604020202020204" pitchFamily="34" charset="0"/>
              </a:rPr>
              <a:t>”</a:t>
            </a:r>
            <a:r>
              <a:rPr lang="zh-CN" altLang="en-US" sz="2500" dirty="0"/>
              <a:t>来决定局部变量的值</a:t>
            </a:r>
            <a:r>
              <a:rPr lang="zh-CN" altLang="en-US" sz="2500" dirty="0">
                <a:solidFill>
                  <a:srgbClr val="0000FF"/>
                </a:solidFill>
              </a:rPr>
              <a:t>是否可以写到数据库</a:t>
            </a:r>
            <a:r>
              <a:rPr lang="zh-CN" altLang="en-US" sz="2500" dirty="0"/>
              <a:t>而</a:t>
            </a:r>
            <a:r>
              <a:rPr lang="zh-CN" altLang="en-US" sz="2500" dirty="0">
                <a:solidFill>
                  <a:srgbClr val="0000FF"/>
                </a:solidFill>
              </a:rPr>
              <a:t>不违反可串行化；</a:t>
            </a:r>
            <a:endParaRPr lang="en-US" altLang="zh-CN" sz="2500" dirty="0">
              <a:solidFill>
                <a:srgbClr val="0000FF"/>
              </a:solidFill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500" b="0" dirty="0"/>
              <a:t>  3.  </a:t>
            </a:r>
            <a:r>
              <a:rPr lang="zh-CN" altLang="en-US" sz="2500" dirty="0">
                <a:solidFill>
                  <a:srgbClr val="FF0000"/>
                </a:solidFill>
              </a:rPr>
              <a:t>写阶段</a:t>
            </a:r>
            <a:r>
              <a:rPr lang="zh-CN" altLang="en-US" sz="2500" b="0" dirty="0"/>
              <a:t>：</a:t>
            </a:r>
            <a:r>
              <a:rPr lang="zh-CN" altLang="en-US" sz="2500" dirty="0"/>
              <a:t>若</a:t>
            </a:r>
            <a:r>
              <a:rPr lang="en-US" altLang="zh-CN" sz="2500" i="1" dirty="0" err="1"/>
              <a:t>T</a:t>
            </a:r>
            <a:r>
              <a:rPr lang="en-US" altLang="zh-CN" sz="2500" i="1" baseline="-25000" dirty="0" err="1"/>
              <a:t>i</a:t>
            </a:r>
            <a:r>
              <a:rPr lang="en-US" altLang="zh-CN" sz="2500" dirty="0"/>
              <a:t> </a:t>
            </a:r>
            <a:r>
              <a:rPr lang="zh-CN" altLang="en-US" sz="2500" dirty="0"/>
              <a:t>通过有效性检查，则</a:t>
            </a:r>
            <a:r>
              <a:rPr lang="zh-CN" altLang="en-US" sz="2500" dirty="0">
                <a:solidFill>
                  <a:srgbClr val="0000FF"/>
                </a:solidFill>
              </a:rPr>
              <a:t>更新数据库</a:t>
            </a:r>
            <a:r>
              <a:rPr lang="zh-CN" altLang="en-US" sz="2500" dirty="0"/>
              <a:t>；否则</a:t>
            </a:r>
            <a:r>
              <a:rPr lang="en-US" altLang="zh-CN" sz="2500" i="1" dirty="0" err="1"/>
              <a:t>T</a:t>
            </a:r>
            <a:r>
              <a:rPr lang="en-US" altLang="zh-CN" sz="2500" i="1" baseline="-25000" dirty="0" err="1"/>
              <a:t>i</a:t>
            </a:r>
            <a:r>
              <a:rPr lang="en-US" altLang="zh-CN" sz="2500" dirty="0"/>
              <a:t> </a:t>
            </a:r>
            <a:r>
              <a:rPr lang="zh-CN" altLang="en-US" sz="2500" dirty="0"/>
              <a:t>回滚。</a:t>
            </a:r>
            <a:endParaRPr lang="en-US" altLang="zh-CN" sz="2500" dirty="0"/>
          </a:p>
          <a:p>
            <a:pPr marL="342900" lvl="1" indent="-342900">
              <a:lnSpc>
                <a:spcPct val="130000"/>
              </a:lnSpc>
              <a:buClr>
                <a:schemeClr val="folHlink"/>
              </a:buClr>
              <a:buSzPct val="60000"/>
            </a:pPr>
            <a:r>
              <a:rPr lang="zh-CN" altLang="en-US" sz="2400" dirty="0"/>
              <a:t>并发执行的事务的</a:t>
            </a:r>
            <a:r>
              <a:rPr lang="zh-CN" altLang="en-US" sz="2400" b="1" dirty="0"/>
              <a:t>三个阶段</a:t>
            </a:r>
            <a:r>
              <a:rPr lang="zh-CN" altLang="en-US" sz="2400" dirty="0"/>
              <a:t>可以是</a:t>
            </a:r>
            <a:r>
              <a:rPr lang="zh-CN" altLang="en-US" sz="2400" b="1" dirty="0">
                <a:solidFill>
                  <a:srgbClr val="FF0000"/>
                </a:solidFill>
              </a:rPr>
              <a:t>交叉执行</a:t>
            </a:r>
            <a:r>
              <a:rPr lang="zh-CN" altLang="en-US" sz="2400" dirty="0"/>
              <a:t>的，每个事务必须按</a:t>
            </a:r>
            <a:r>
              <a:rPr lang="zh-CN" altLang="en-US" sz="2400" b="1" dirty="0">
                <a:solidFill>
                  <a:srgbClr val="0000FF"/>
                </a:solidFill>
              </a:rPr>
              <a:t>以上顺序</a:t>
            </a:r>
            <a:r>
              <a:rPr lang="zh-CN" altLang="en-US" sz="2400" dirty="0"/>
              <a:t>经历这些阶段。</a:t>
            </a:r>
            <a:endParaRPr lang="en-US" altLang="zh-CN" sz="2400" dirty="0"/>
          </a:p>
          <a:p>
            <a:pPr marL="342900" lvl="1" indent="-342900">
              <a:lnSpc>
                <a:spcPct val="130000"/>
              </a:lnSpc>
              <a:buClr>
                <a:schemeClr val="folHlink"/>
              </a:buClr>
              <a:buSzPct val="60000"/>
            </a:pPr>
            <a:r>
              <a:rPr lang="zh-CN" altLang="en-US" sz="2400" dirty="0"/>
              <a:t>为了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执行有效的检查</a:t>
            </a:r>
            <a:r>
              <a:rPr lang="zh-CN" altLang="en-US" sz="2400" dirty="0"/>
              <a:t>，需要知道</a:t>
            </a:r>
            <a:r>
              <a:rPr lang="zh-CN" altLang="en-US" sz="2400" b="1" dirty="0"/>
              <a:t>各个阶段</a:t>
            </a:r>
            <a:r>
              <a:rPr lang="zh-CN" altLang="en-US" sz="2400" dirty="0"/>
              <a:t>是</a:t>
            </a:r>
            <a:r>
              <a:rPr lang="zh-CN" altLang="en-US" sz="2400" b="1" dirty="0"/>
              <a:t>何时执行</a:t>
            </a:r>
            <a:r>
              <a:rPr lang="zh-CN" altLang="en-US" sz="2400" dirty="0"/>
              <a:t>的。</a:t>
            </a:r>
            <a:endParaRPr lang="en-US" altLang="zh-CN" sz="250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A0124-98B7-4E33-8EB6-BCC20A2E4ABC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7240-85F2-492B-84D8-762EF0110923}" type="slidenum">
              <a:rPr lang="en-US" altLang="zh-CN" smtClean="0"/>
            </a:fld>
            <a:r>
              <a:rPr lang="en-US" altLang="zh-CN"/>
              <a:t>/ 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基于有效性检查的协议</a:t>
            </a:r>
            <a:r>
              <a:rPr lang="en-US" altLang="zh-CN" baseline="30000"/>
              <a:t>(</a:t>
            </a:r>
            <a:r>
              <a:rPr lang="zh-CN" altLang="en-US" baseline="30000"/>
              <a:t>续</a:t>
            </a:r>
            <a:r>
              <a:rPr lang="en-US" altLang="zh-CN" baseline="30000"/>
              <a:t>)</a:t>
            </a:r>
            <a:endParaRPr lang="en-US" altLang="zh-CN" baseline="30000"/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3568" y="1412776"/>
            <a:ext cx="8289925" cy="495141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500" dirty="0"/>
              <a:t>为每个事务</a:t>
            </a:r>
            <a:r>
              <a:rPr lang="en-US" altLang="zh-CN" sz="2500" dirty="0"/>
              <a:t>T</a:t>
            </a:r>
            <a:r>
              <a:rPr lang="zh-CN" altLang="en-US" sz="2500" dirty="0"/>
              <a:t>定义</a:t>
            </a:r>
            <a:r>
              <a:rPr lang="zh-CN" altLang="en-US" sz="2500" b="1" dirty="0">
                <a:solidFill>
                  <a:srgbClr val="0000FF"/>
                </a:solidFill>
              </a:rPr>
              <a:t>三个时间戳</a:t>
            </a:r>
            <a:r>
              <a:rPr lang="zh-CN" altLang="en-US" sz="2500" dirty="0"/>
              <a:t>：</a:t>
            </a:r>
            <a:endParaRPr lang="zh-CN" altLang="en-US" sz="2500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sz="2100" b="0" dirty="0"/>
              <a:t>Start</a:t>
            </a:r>
            <a:r>
              <a:rPr lang="en-US" altLang="zh-CN" sz="2100" dirty="0"/>
              <a:t>(T)</a:t>
            </a:r>
            <a:r>
              <a:rPr lang="zh-CN" altLang="en-US" sz="2100" dirty="0"/>
              <a:t>：</a:t>
            </a:r>
            <a:r>
              <a:rPr lang="en-US" altLang="zh-CN" sz="2100" dirty="0"/>
              <a:t>T</a:t>
            </a:r>
            <a:r>
              <a:rPr lang="zh-CN" altLang="en-US" sz="2100" dirty="0"/>
              <a:t>开始执行的时间；数据项被读取并且保存在事务私有空间的局部变量中</a:t>
            </a:r>
            <a:r>
              <a:rPr lang="en-US" altLang="zh-CN" sz="2100" dirty="0"/>
              <a:t>(</a:t>
            </a:r>
            <a:r>
              <a:rPr lang="zh-CN" altLang="en-US" sz="2100" dirty="0"/>
              <a:t>不使用数据锁</a:t>
            </a:r>
            <a:r>
              <a:rPr lang="en-US" altLang="zh-CN" sz="2100" dirty="0"/>
              <a:t>)</a:t>
            </a:r>
            <a:r>
              <a:rPr lang="zh-CN" altLang="en-US" sz="2100" dirty="0"/>
              <a:t>；</a:t>
            </a:r>
            <a:endParaRPr lang="en-US" altLang="zh-CN" sz="2100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sz="2100" b="0" dirty="0">
                <a:solidFill>
                  <a:srgbClr val="0000FF"/>
                </a:solidFill>
              </a:rPr>
              <a:t>Validation</a:t>
            </a:r>
            <a:r>
              <a:rPr lang="en-US" altLang="zh-CN" sz="2100" dirty="0">
                <a:solidFill>
                  <a:srgbClr val="0000FF"/>
                </a:solidFill>
              </a:rPr>
              <a:t>(T)</a:t>
            </a:r>
            <a:r>
              <a:rPr lang="zh-CN" altLang="en-US" sz="2100" dirty="0"/>
              <a:t>：</a:t>
            </a:r>
            <a:r>
              <a:rPr lang="en-US" altLang="zh-CN" sz="2100" dirty="0"/>
              <a:t>T</a:t>
            </a:r>
            <a:r>
              <a:rPr lang="zh-CN" altLang="en-US" sz="2100" dirty="0"/>
              <a:t>进入有效性检查阶段的时间，</a:t>
            </a:r>
            <a:r>
              <a:rPr lang="zh-CN" altLang="en-US" sz="2100" b="1" dirty="0"/>
              <a:t>判定</a:t>
            </a:r>
            <a:r>
              <a:rPr lang="zh-CN" altLang="en-US" sz="2100" dirty="0"/>
              <a:t>写操作的临时变量</a:t>
            </a:r>
            <a:r>
              <a:rPr lang="zh-CN" altLang="en-US" sz="2100" b="1" dirty="0"/>
              <a:t>是否可以写入数据库</a:t>
            </a:r>
            <a:r>
              <a:rPr lang="zh-CN" altLang="en-US" sz="2100" dirty="0"/>
              <a:t>，并且</a:t>
            </a:r>
            <a:r>
              <a:rPr lang="zh-CN" altLang="en-US" sz="2100" b="1" dirty="0"/>
              <a:t>不破坏可串行性</a:t>
            </a:r>
            <a:r>
              <a:rPr lang="zh-CN" altLang="en-US" sz="2100" dirty="0"/>
              <a:t>；</a:t>
            </a:r>
            <a:endParaRPr lang="zh-CN" altLang="en-US" sz="2100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sz="2100" b="0" dirty="0"/>
              <a:t>Finish</a:t>
            </a:r>
            <a:r>
              <a:rPr lang="en-US" altLang="zh-CN" sz="2100" dirty="0"/>
              <a:t>(T)</a:t>
            </a:r>
            <a:r>
              <a:rPr lang="zh-CN" altLang="en-US" sz="2100" dirty="0"/>
              <a:t>：</a:t>
            </a:r>
            <a:r>
              <a:rPr lang="en-US" altLang="zh-CN" sz="2100" dirty="0"/>
              <a:t>T</a:t>
            </a:r>
            <a:r>
              <a:rPr lang="zh-CN" altLang="en-US" sz="2100" dirty="0"/>
              <a:t>完成写阶段的时间，执行数据库更新。</a:t>
            </a:r>
            <a:endParaRPr lang="zh-CN" altLang="en-US" sz="2100" dirty="0"/>
          </a:p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为了增加并发性，</a:t>
            </a:r>
            <a:r>
              <a:rPr lang="zh-CN" altLang="en-US" sz="2400" b="1" dirty="0">
                <a:solidFill>
                  <a:srgbClr val="0000FF"/>
                </a:solidFill>
              </a:rPr>
              <a:t>可串行化次序</a:t>
            </a:r>
            <a:r>
              <a:rPr lang="zh-CN" altLang="en-US" sz="2400" dirty="0"/>
              <a:t>由</a:t>
            </a:r>
            <a:r>
              <a:rPr lang="zh-CN" altLang="en-US" sz="2400" dirty="0">
                <a:solidFill>
                  <a:srgbClr val="0000FF"/>
                </a:solidFill>
              </a:rPr>
              <a:t>有效性检查时</a:t>
            </a:r>
            <a:r>
              <a:rPr lang="zh-CN" altLang="en-US" sz="2400" dirty="0"/>
              <a:t>的</a:t>
            </a:r>
            <a:r>
              <a:rPr lang="zh-CN" altLang="en-US" sz="2400" b="1" dirty="0">
                <a:solidFill>
                  <a:srgbClr val="0000FF"/>
                </a:solidFill>
              </a:rPr>
              <a:t>时间戳次序</a:t>
            </a:r>
            <a:r>
              <a:rPr lang="zh-CN" altLang="en-US" sz="2400" b="1" dirty="0"/>
              <a:t>（</a:t>
            </a:r>
            <a:r>
              <a:rPr lang="zh-CN" altLang="en-US" sz="2400" b="1" dirty="0">
                <a:solidFill>
                  <a:srgbClr val="0000FF"/>
                </a:solidFill>
              </a:rPr>
              <a:t>也即</a:t>
            </a:r>
            <a:r>
              <a:rPr lang="en-US" altLang="zh-CN" sz="2400" dirty="0"/>
              <a:t>Validation(T) </a:t>
            </a:r>
            <a:r>
              <a:rPr lang="zh-CN" altLang="en-US" sz="2400" b="1" dirty="0"/>
              <a:t>）</a:t>
            </a:r>
            <a:r>
              <a:rPr lang="zh-CN" altLang="en-US" sz="2400" dirty="0"/>
              <a:t>决定，因此</a:t>
            </a:r>
            <a:r>
              <a:rPr lang="en-US" altLang="zh-CN" sz="2400" dirty="0"/>
              <a:t>TS(T) </a:t>
            </a:r>
            <a:r>
              <a:rPr lang="zh-CN" altLang="en-US" sz="2400" dirty="0"/>
              <a:t>被赋予</a:t>
            </a:r>
            <a:r>
              <a:rPr lang="en-US" altLang="zh-CN" sz="2400" b="0" dirty="0"/>
              <a:t>Validation</a:t>
            </a:r>
            <a:r>
              <a:rPr lang="en-US" altLang="zh-CN" sz="2400" dirty="0"/>
              <a:t>(T)</a:t>
            </a:r>
            <a:r>
              <a:rPr lang="zh-CN" altLang="en-US" sz="2400" dirty="0"/>
              <a:t>的值；若</a:t>
            </a:r>
            <a:r>
              <a:rPr lang="en-US" altLang="zh-CN" sz="2400" dirty="0"/>
              <a:t>TS(</a:t>
            </a:r>
            <a:r>
              <a:rPr lang="en-US" altLang="zh-CN" sz="2400" dirty="0" err="1"/>
              <a:t>T</a:t>
            </a:r>
            <a:r>
              <a:rPr lang="en-US" altLang="zh-CN" sz="2400" baseline="-25000" dirty="0" err="1"/>
              <a:t>i</a:t>
            </a:r>
            <a:r>
              <a:rPr lang="en-US" altLang="zh-CN" sz="2400" dirty="0"/>
              <a:t>)&lt; TS(</a:t>
            </a:r>
            <a:r>
              <a:rPr lang="en-US" altLang="zh-CN" sz="2400" dirty="0" err="1"/>
              <a:t>T</a:t>
            </a:r>
            <a:r>
              <a:rPr lang="en-US" altLang="zh-CN" sz="2400" baseline="-25000" dirty="0" err="1"/>
              <a:t>j</a:t>
            </a:r>
            <a:r>
              <a:rPr lang="en-US" altLang="zh-CN" sz="2400" dirty="0"/>
              <a:t>)</a:t>
            </a:r>
            <a:r>
              <a:rPr lang="zh-CN" altLang="en-US" sz="2400" dirty="0"/>
              <a:t>，则产生的任何调度必须</a:t>
            </a:r>
            <a:r>
              <a:rPr lang="zh-CN" altLang="en-US" sz="2400" b="1" dirty="0">
                <a:solidFill>
                  <a:srgbClr val="0000FF"/>
                </a:solidFill>
              </a:rPr>
              <a:t>等价于</a:t>
            </a:r>
            <a:r>
              <a:rPr lang="zh-CN" altLang="en-US" sz="2400" b="1" dirty="0"/>
              <a:t>其中</a:t>
            </a:r>
            <a:r>
              <a:rPr lang="zh-CN" altLang="en-US" sz="2400" dirty="0"/>
              <a:t>事务</a:t>
            </a:r>
            <a:r>
              <a:rPr lang="en-US" altLang="zh-CN" sz="2400" dirty="0" err="1">
                <a:solidFill>
                  <a:srgbClr val="0000FF"/>
                </a:solidFill>
              </a:rPr>
              <a:t>T</a:t>
            </a:r>
            <a:r>
              <a:rPr lang="en-US" altLang="zh-CN" sz="2400" baseline="-25000" dirty="0" err="1">
                <a:solidFill>
                  <a:srgbClr val="0000FF"/>
                </a:solidFill>
              </a:rPr>
              <a:t>i</a:t>
            </a:r>
            <a:r>
              <a:rPr lang="zh-CN" altLang="en-US" sz="2400" dirty="0"/>
              <a:t>出现在事务</a:t>
            </a:r>
            <a:r>
              <a:rPr lang="en-US" altLang="zh-CN" sz="2400" dirty="0" err="1">
                <a:solidFill>
                  <a:srgbClr val="0000FF"/>
                </a:solidFill>
              </a:rPr>
              <a:t>T</a:t>
            </a:r>
            <a:r>
              <a:rPr lang="en-US" altLang="zh-CN" sz="2400" baseline="-25000" dirty="0" err="1">
                <a:solidFill>
                  <a:srgbClr val="0000FF"/>
                </a:solidFill>
              </a:rPr>
              <a:t>j</a:t>
            </a:r>
            <a:r>
              <a:rPr lang="zh-CN" altLang="en-US" sz="2400" dirty="0">
                <a:solidFill>
                  <a:srgbClr val="FF0000"/>
                </a:solidFill>
              </a:rPr>
              <a:t>之前</a:t>
            </a:r>
            <a:r>
              <a:rPr lang="zh-CN" altLang="en-US" sz="2400" dirty="0"/>
              <a:t>的某个</a:t>
            </a:r>
            <a:r>
              <a:rPr lang="zh-CN" altLang="en-US" sz="2400" dirty="0">
                <a:solidFill>
                  <a:srgbClr val="FF0000"/>
                </a:solidFill>
              </a:rPr>
              <a:t>串行调度。</a:t>
            </a:r>
            <a:endParaRPr lang="zh-CN" altLang="en-US" sz="2400" dirty="0"/>
          </a:p>
          <a:p>
            <a:pPr eaLnBrk="1" hangingPunct="1">
              <a:lnSpc>
                <a:spcPct val="120000"/>
              </a:lnSpc>
            </a:pPr>
            <a:endParaRPr lang="en-US" altLang="zh-CN" sz="250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15108-8BEB-4040-8759-BD4D097CA71D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7240-85F2-492B-84D8-762EF0110923}" type="slidenum">
              <a:rPr lang="en-US" altLang="zh-CN" smtClean="0"/>
            </a:fld>
            <a:r>
              <a:rPr lang="en-US" altLang="zh-CN"/>
              <a:t>/ 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基于有效性检查的协议</a:t>
            </a:r>
            <a:r>
              <a:rPr lang="en-US" altLang="zh-CN" baseline="30000" dirty="0"/>
              <a:t>(</a:t>
            </a:r>
            <a:r>
              <a:rPr lang="zh-CN" altLang="en-US" baseline="30000" dirty="0"/>
              <a:t>续</a:t>
            </a:r>
            <a:r>
              <a:rPr lang="en-US" altLang="zh-CN" baseline="30000" dirty="0"/>
              <a:t>)</a:t>
            </a:r>
            <a:endParaRPr lang="en-US" altLang="zh-CN" baseline="30000" dirty="0"/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3568" y="1412776"/>
            <a:ext cx="8289925" cy="495141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dirty="0"/>
              <a:t>事务</a:t>
            </a:r>
            <a:r>
              <a:rPr lang="en-US" altLang="zh-CN" sz="2800" dirty="0" err="1"/>
              <a:t>T</a:t>
            </a:r>
            <a:r>
              <a:rPr lang="en-US" altLang="zh-CN" sz="2800" baseline="-25000" dirty="0" err="1"/>
              <a:t>i</a:t>
            </a:r>
            <a:r>
              <a:rPr lang="zh-CN" altLang="en-US" sz="2800" dirty="0"/>
              <a:t>的有效性检查</a:t>
            </a:r>
            <a:r>
              <a:rPr lang="zh-CN" altLang="en-US" sz="2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要求</a:t>
            </a:r>
            <a:r>
              <a:rPr lang="zh-CN" altLang="en-US" sz="2800" dirty="0"/>
              <a:t>满足</a:t>
            </a:r>
            <a:r>
              <a:rPr lang="en-US" altLang="zh-CN" sz="2800" dirty="0"/>
              <a:t>TS(</a:t>
            </a:r>
            <a:r>
              <a:rPr lang="en-US" altLang="zh-CN" sz="2800" dirty="0" err="1"/>
              <a:t>T</a:t>
            </a:r>
            <a:r>
              <a:rPr lang="en-US" altLang="zh-CN" sz="2800" baseline="-25000" dirty="0" err="1"/>
              <a:t>i</a:t>
            </a:r>
            <a:r>
              <a:rPr lang="en-US" altLang="zh-CN" sz="2800" dirty="0"/>
              <a:t>)</a:t>
            </a:r>
            <a:r>
              <a:rPr lang="en-US" altLang="zh-CN" sz="2800" b="1" dirty="0">
                <a:solidFill>
                  <a:srgbClr val="FF0000"/>
                </a:solidFill>
              </a:rPr>
              <a:t>&lt;</a:t>
            </a:r>
            <a:r>
              <a:rPr lang="en-US" altLang="zh-CN" sz="2800" dirty="0"/>
              <a:t> TS(</a:t>
            </a:r>
            <a:r>
              <a:rPr lang="en-US" altLang="zh-CN" sz="2800" dirty="0" err="1"/>
              <a:t>T</a:t>
            </a:r>
            <a:r>
              <a:rPr lang="en-US" altLang="zh-CN" sz="2800" baseline="-25000" dirty="0" err="1"/>
              <a:t>j</a:t>
            </a:r>
            <a:r>
              <a:rPr lang="en-US" altLang="zh-CN" sz="2800" dirty="0"/>
              <a:t>)</a:t>
            </a:r>
            <a:r>
              <a:rPr lang="zh-CN" altLang="en-US" sz="2800" dirty="0"/>
              <a:t>的事务</a:t>
            </a:r>
            <a:r>
              <a:rPr lang="en-US" altLang="zh-CN" sz="2800" dirty="0" err="1">
                <a:solidFill>
                  <a:srgbClr val="0000FF"/>
                </a:solidFill>
              </a:rPr>
              <a:t>T</a:t>
            </a:r>
            <a:r>
              <a:rPr lang="en-US" altLang="zh-CN" sz="2800" baseline="-25000" dirty="0" err="1">
                <a:solidFill>
                  <a:srgbClr val="0000FF"/>
                </a:solidFill>
              </a:rPr>
              <a:t>i</a:t>
            </a:r>
            <a:r>
              <a:rPr lang="zh-CN" altLang="en-US" sz="2800" dirty="0"/>
              <a:t>必须满足以下</a:t>
            </a:r>
            <a:r>
              <a:rPr lang="zh-CN" altLang="en-US" sz="2800" dirty="0">
                <a:solidFill>
                  <a:srgbClr val="0000FF"/>
                </a:solidFill>
              </a:rPr>
              <a:t>两个条件之一：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</a:pPr>
            <a:endParaRPr lang="en-US" altLang="zh-CN" sz="250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B493-D833-4951-821F-90753137E16F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7240-85F2-492B-84D8-762EF0110923}" type="slidenum">
              <a:rPr lang="en-US" altLang="zh-CN" smtClean="0"/>
            </a:fld>
            <a:r>
              <a:rPr lang="en-US" altLang="zh-CN"/>
              <a:t>/ 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 anchor="ctr"/>
          <a:lstStyle/>
          <a:p>
            <a:pPr eaLnBrk="1" hangingPunct="1"/>
            <a:r>
              <a:rPr lang="zh-CN" altLang="en-US" dirty="0"/>
              <a:t>基于有效性检查的协议</a:t>
            </a:r>
            <a:r>
              <a:rPr lang="en-US" altLang="zh-CN" baseline="30000" dirty="0"/>
              <a:t>(</a:t>
            </a:r>
            <a:r>
              <a:rPr lang="zh-CN" altLang="en-US" baseline="30000" dirty="0"/>
              <a:t>续</a:t>
            </a:r>
            <a:r>
              <a:rPr lang="en-US" altLang="zh-CN" baseline="30000" dirty="0"/>
              <a:t>)</a:t>
            </a:r>
            <a:endParaRPr lang="en-US" altLang="zh-CN" dirty="0"/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3588" y="1412776"/>
            <a:ext cx="8056884" cy="2664296"/>
          </a:xfrm>
        </p:spPr>
        <p:txBody>
          <a:bodyPr lIns="92075" tIns="46038" rIns="92075" bIns="46038"/>
          <a:lstStyle/>
          <a:p>
            <a:pPr marL="0" indent="0" eaLnBrk="1" hangingPunct="1">
              <a:buNone/>
            </a:pPr>
            <a:r>
              <a:rPr lang="zh-CN" altLang="en-US" sz="2800" b="1" dirty="0"/>
              <a:t>测试条件</a:t>
            </a:r>
            <a:r>
              <a:rPr lang="en-US" altLang="zh-CN" sz="2800" b="1" dirty="0"/>
              <a:t>1</a:t>
            </a:r>
            <a:endParaRPr lang="en-US" altLang="zh-CN" sz="2800" b="1" dirty="0"/>
          </a:p>
          <a:p>
            <a:pPr eaLnBrk="1" hangingPunct="1"/>
            <a:r>
              <a:rPr lang="zh-CN" altLang="en-US" sz="2800" dirty="0"/>
              <a:t>对于所有的</a:t>
            </a:r>
            <a:r>
              <a:rPr lang="en-US" altLang="zh-CN" sz="2800" dirty="0" err="1"/>
              <a:t>i</a:t>
            </a:r>
            <a:r>
              <a:rPr lang="zh-CN" altLang="en-US" sz="2800" dirty="0"/>
              <a:t>和</a:t>
            </a:r>
            <a:r>
              <a:rPr lang="en-US" altLang="zh-CN" sz="2800" dirty="0"/>
              <a:t>j</a:t>
            </a:r>
            <a:r>
              <a:rPr lang="zh-CN" altLang="en-US" sz="2800" dirty="0"/>
              <a:t>，满足 </a:t>
            </a:r>
            <a:r>
              <a:rPr lang="en-US" altLang="zh-CN" sz="2800" dirty="0" err="1"/>
              <a:t>T</a:t>
            </a:r>
            <a:r>
              <a:rPr lang="en-US" altLang="zh-CN" sz="2800" baseline="-25000" dirty="0" err="1"/>
              <a:t>i</a:t>
            </a:r>
            <a:r>
              <a:rPr lang="en-US" altLang="zh-CN" sz="2800" dirty="0"/>
              <a:t> &lt; </a:t>
            </a:r>
            <a:r>
              <a:rPr lang="en-US" altLang="zh-CN" sz="2800" dirty="0" err="1"/>
              <a:t>T</a:t>
            </a:r>
            <a:r>
              <a:rPr lang="en-US" altLang="zh-CN" sz="2800" baseline="-25000" dirty="0" err="1"/>
              <a:t>j</a:t>
            </a:r>
            <a:r>
              <a:rPr lang="zh-CN" altLang="en-US" sz="2800" dirty="0"/>
              <a:t>，</a:t>
            </a:r>
            <a:r>
              <a:rPr lang="zh-CN" altLang="en-US" sz="2800" b="1" dirty="0">
                <a:solidFill>
                  <a:srgbClr val="FF0000"/>
                </a:solidFill>
              </a:rPr>
              <a:t>检查</a:t>
            </a:r>
            <a:r>
              <a:rPr lang="en-US" altLang="zh-CN" sz="2800" dirty="0" err="1"/>
              <a:t>T</a:t>
            </a:r>
            <a:r>
              <a:rPr lang="en-US" altLang="zh-CN" sz="2800" baseline="-25000" dirty="0" err="1"/>
              <a:t>i</a:t>
            </a:r>
            <a:r>
              <a:rPr lang="zh-CN" altLang="en-US" sz="2800" dirty="0"/>
              <a:t>是否在 </a:t>
            </a:r>
            <a:r>
              <a:rPr lang="en-US" altLang="zh-CN" sz="2800" dirty="0" err="1"/>
              <a:t>T</a:t>
            </a:r>
            <a:r>
              <a:rPr lang="en-US" altLang="zh-CN" sz="2800" baseline="-25000" dirty="0" err="1"/>
              <a:t>j</a:t>
            </a:r>
            <a:r>
              <a:rPr lang="en-US" altLang="zh-CN" sz="2800" dirty="0"/>
              <a:t> </a:t>
            </a:r>
            <a:r>
              <a:rPr lang="zh-CN" altLang="en-US" sz="2800" dirty="0"/>
              <a:t>开始之前</a:t>
            </a:r>
            <a:r>
              <a:rPr lang="zh-CN" altLang="en-US" sz="2800" b="1" dirty="0">
                <a:solidFill>
                  <a:srgbClr val="0000FF"/>
                </a:solidFill>
              </a:rPr>
              <a:t>结束</a:t>
            </a:r>
            <a:r>
              <a:rPr lang="en-US" altLang="zh-CN" sz="2800" dirty="0"/>
              <a:t>,</a:t>
            </a:r>
            <a:r>
              <a:rPr lang="zh-CN" altLang="en-US" sz="2800" dirty="0"/>
              <a:t>也即</a:t>
            </a:r>
            <a:r>
              <a:rPr lang="en-US" altLang="zh-CN" sz="2800" dirty="0"/>
              <a:t>Finish(</a:t>
            </a:r>
            <a:r>
              <a:rPr lang="en-US" altLang="zh-CN" sz="2800" dirty="0" err="1"/>
              <a:t>T</a:t>
            </a:r>
            <a:r>
              <a:rPr lang="en-US" altLang="zh-CN" sz="2800" baseline="-25000" dirty="0" err="1"/>
              <a:t>i</a:t>
            </a:r>
            <a:r>
              <a:rPr lang="en-US" altLang="zh-CN" sz="2800" dirty="0"/>
              <a:t>)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</a:t>
            </a:r>
            <a:r>
              <a:rPr lang="en-US" altLang="zh-CN" sz="2800" dirty="0"/>
              <a:t>Start(</a:t>
            </a:r>
            <a:r>
              <a:rPr lang="en-US" altLang="zh-CN" sz="2800" dirty="0" err="1"/>
              <a:t>T</a:t>
            </a:r>
            <a:r>
              <a:rPr lang="en-US" altLang="zh-CN" sz="2800" baseline="-25000" dirty="0" err="1"/>
              <a:t>j</a:t>
            </a:r>
            <a:r>
              <a:rPr lang="en-US" altLang="zh-CN" sz="2800" dirty="0"/>
              <a:t>)</a:t>
            </a:r>
            <a:r>
              <a:rPr lang="zh-CN" altLang="en-US" sz="2800" dirty="0"/>
              <a:t>；</a:t>
            </a:r>
            <a:r>
              <a:rPr lang="zh-CN" altLang="en-US" sz="2800" b="1" dirty="0"/>
              <a:t>是的话</a:t>
            </a:r>
            <a:r>
              <a:rPr lang="zh-CN" altLang="en-US" sz="2800" dirty="0"/>
              <a:t>，表示</a:t>
            </a:r>
            <a:r>
              <a:rPr lang="en-US" altLang="zh-CN" sz="2800" dirty="0" err="1"/>
              <a:t>T</a:t>
            </a:r>
            <a:r>
              <a:rPr lang="en-US" altLang="zh-CN" sz="2800" baseline="-25000" dirty="0" err="1"/>
              <a:t>i</a:t>
            </a:r>
            <a:r>
              <a:rPr lang="zh-CN" altLang="en-US" sz="2800" dirty="0"/>
              <a:t>是在 </a:t>
            </a:r>
            <a:r>
              <a:rPr lang="en-US" altLang="zh-CN" sz="2800" dirty="0" err="1"/>
              <a:t>T</a:t>
            </a:r>
            <a:r>
              <a:rPr lang="en-US" altLang="zh-CN" sz="2800" baseline="-25000" dirty="0" err="1"/>
              <a:t>j</a:t>
            </a:r>
            <a:r>
              <a:rPr lang="en-US" altLang="zh-CN" sz="2800" dirty="0"/>
              <a:t> </a:t>
            </a:r>
            <a:r>
              <a:rPr lang="zh-CN" altLang="en-US" sz="2800" dirty="0"/>
              <a:t>开始之前已经</a:t>
            </a:r>
            <a:r>
              <a:rPr lang="zh-CN" altLang="en-US" sz="2800" b="1" dirty="0"/>
              <a:t>结束了，</a:t>
            </a:r>
            <a:r>
              <a:rPr lang="zh-CN" altLang="en-US" sz="2800" b="1" dirty="0">
                <a:solidFill>
                  <a:srgbClr val="0000FF"/>
                </a:solidFill>
              </a:rPr>
              <a:t>串行执行</a:t>
            </a:r>
            <a:r>
              <a:rPr lang="zh-CN" altLang="en-US" sz="2800" dirty="0"/>
              <a:t>话次序是保证的。</a:t>
            </a:r>
            <a:endParaRPr lang="en-US" altLang="zh-CN" sz="2800" dirty="0"/>
          </a:p>
        </p:txBody>
      </p:sp>
      <p:sp>
        <p:nvSpPr>
          <p:cNvPr id="45061" name="Line 4"/>
          <p:cNvSpPr>
            <a:spLocks noChangeShapeType="1"/>
          </p:cNvSpPr>
          <p:nvPr/>
        </p:nvSpPr>
        <p:spPr bwMode="auto">
          <a:xfrm>
            <a:off x="4876800" y="5627712"/>
            <a:ext cx="1219200" cy="0"/>
          </a:xfrm>
          <a:prstGeom prst="line">
            <a:avLst/>
          </a:prstGeom>
          <a:noFill/>
          <a:ln w="1270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2" name="Line 5"/>
          <p:cNvSpPr>
            <a:spLocks noChangeShapeType="1"/>
          </p:cNvSpPr>
          <p:nvPr/>
        </p:nvSpPr>
        <p:spPr bwMode="auto">
          <a:xfrm>
            <a:off x="6172200" y="5627712"/>
            <a:ext cx="1219200" cy="0"/>
          </a:xfrm>
          <a:prstGeom prst="line">
            <a:avLst/>
          </a:prstGeom>
          <a:noFill/>
          <a:ln w="1270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3" name="Line 6"/>
          <p:cNvSpPr>
            <a:spLocks noChangeShapeType="1"/>
          </p:cNvSpPr>
          <p:nvPr/>
        </p:nvSpPr>
        <p:spPr bwMode="auto">
          <a:xfrm>
            <a:off x="7467600" y="5627712"/>
            <a:ext cx="1219200" cy="0"/>
          </a:xfrm>
          <a:prstGeom prst="line">
            <a:avLst/>
          </a:prstGeom>
          <a:noFill/>
          <a:ln w="127000">
            <a:solidFill>
              <a:srgbClr val="3365FB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4" name="Line 7"/>
          <p:cNvSpPr>
            <a:spLocks noChangeShapeType="1"/>
          </p:cNvSpPr>
          <p:nvPr/>
        </p:nvSpPr>
        <p:spPr bwMode="auto">
          <a:xfrm>
            <a:off x="533400" y="4941912"/>
            <a:ext cx="1219200" cy="0"/>
          </a:xfrm>
          <a:prstGeom prst="line">
            <a:avLst/>
          </a:prstGeom>
          <a:noFill/>
          <a:ln w="1270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5" name="Line 8"/>
          <p:cNvSpPr>
            <a:spLocks noChangeShapeType="1"/>
          </p:cNvSpPr>
          <p:nvPr/>
        </p:nvSpPr>
        <p:spPr bwMode="auto">
          <a:xfrm>
            <a:off x="1828800" y="4941912"/>
            <a:ext cx="1219200" cy="0"/>
          </a:xfrm>
          <a:prstGeom prst="line">
            <a:avLst/>
          </a:prstGeom>
          <a:noFill/>
          <a:ln w="1270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6" name="Line 9"/>
          <p:cNvSpPr>
            <a:spLocks noChangeShapeType="1"/>
          </p:cNvSpPr>
          <p:nvPr/>
        </p:nvSpPr>
        <p:spPr bwMode="auto">
          <a:xfrm>
            <a:off x="3124200" y="4941912"/>
            <a:ext cx="1219200" cy="0"/>
          </a:xfrm>
          <a:prstGeom prst="line">
            <a:avLst/>
          </a:prstGeom>
          <a:noFill/>
          <a:ln w="127000">
            <a:solidFill>
              <a:srgbClr val="3365FB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7" name="Rectangle 10"/>
          <p:cNvSpPr>
            <a:spLocks noChangeArrowheads="1"/>
          </p:cNvSpPr>
          <p:nvPr/>
        </p:nvSpPr>
        <p:spPr bwMode="auto">
          <a:xfrm>
            <a:off x="2041525" y="4149750"/>
            <a:ext cx="5445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i="0">
                <a:latin typeface="Book Antiqua" pitchFamily="18" charset="0"/>
              </a:rPr>
              <a:t>T</a:t>
            </a:r>
            <a:r>
              <a:rPr lang="en-US" altLang="zh-CN" sz="3200" i="0" baseline="-25000">
                <a:latin typeface="Book Antiqua" pitchFamily="18" charset="0"/>
              </a:rPr>
              <a:t>i</a:t>
            </a:r>
            <a:endParaRPr lang="en-US" altLang="zh-CN" sz="3200" i="0" baseline="-25000">
              <a:latin typeface="Book Antiqua" pitchFamily="18" charset="0"/>
            </a:endParaRPr>
          </a:p>
        </p:txBody>
      </p:sp>
      <p:sp>
        <p:nvSpPr>
          <p:cNvPr id="45068" name="Rectangle 11"/>
          <p:cNvSpPr>
            <a:spLocks noChangeArrowheads="1"/>
          </p:cNvSpPr>
          <p:nvPr/>
        </p:nvSpPr>
        <p:spPr bwMode="auto">
          <a:xfrm>
            <a:off x="6461125" y="4759350"/>
            <a:ext cx="5445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i="0">
                <a:latin typeface="Book Antiqua" pitchFamily="18" charset="0"/>
              </a:rPr>
              <a:t>T</a:t>
            </a:r>
            <a:r>
              <a:rPr lang="en-US" altLang="zh-CN" sz="3200" i="0" baseline="-25000">
                <a:latin typeface="Book Antiqua" pitchFamily="18" charset="0"/>
              </a:rPr>
              <a:t>j</a:t>
            </a:r>
            <a:endParaRPr lang="en-US" altLang="zh-CN" sz="3200" i="0" baseline="-25000">
              <a:latin typeface="Book Antiqua" pitchFamily="18" charset="0"/>
            </a:endParaRPr>
          </a:p>
        </p:txBody>
      </p:sp>
      <p:sp>
        <p:nvSpPr>
          <p:cNvPr id="45069" name="Rectangle 12"/>
          <p:cNvSpPr>
            <a:spLocks noChangeArrowheads="1"/>
          </p:cNvSpPr>
          <p:nvPr/>
        </p:nvSpPr>
        <p:spPr bwMode="auto">
          <a:xfrm>
            <a:off x="898525" y="5032400"/>
            <a:ext cx="441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i="0">
                <a:latin typeface="Book Antiqua" pitchFamily="18" charset="0"/>
              </a:rPr>
              <a:t>R</a:t>
            </a:r>
            <a:endParaRPr lang="en-US" altLang="zh-CN" sz="2800" i="0">
              <a:latin typeface="Book Antiqua" pitchFamily="18" charset="0"/>
            </a:endParaRPr>
          </a:p>
        </p:txBody>
      </p:sp>
      <p:sp>
        <p:nvSpPr>
          <p:cNvPr id="45070" name="Rectangle 13"/>
          <p:cNvSpPr>
            <a:spLocks noChangeArrowheads="1"/>
          </p:cNvSpPr>
          <p:nvPr/>
        </p:nvSpPr>
        <p:spPr bwMode="auto">
          <a:xfrm>
            <a:off x="2193925" y="5032400"/>
            <a:ext cx="4603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i="0">
                <a:solidFill>
                  <a:schemeClr val="accent2"/>
                </a:solidFill>
                <a:latin typeface="Book Antiqua" pitchFamily="18" charset="0"/>
              </a:rPr>
              <a:t>V</a:t>
            </a:r>
            <a:endParaRPr lang="en-US" altLang="zh-CN" sz="2800" i="0">
              <a:solidFill>
                <a:schemeClr val="accent2"/>
              </a:solidFill>
              <a:latin typeface="Book Antiqua" pitchFamily="18" charset="0"/>
            </a:endParaRPr>
          </a:p>
        </p:txBody>
      </p:sp>
      <p:sp>
        <p:nvSpPr>
          <p:cNvPr id="45071" name="Rectangle 14"/>
          <p:cNvSpPr>
            <a:spLocks noChangeArrowheads="1"/>
          </p:cNvSpPr>
          <p:nvPr/>
        </p:nvSpPr>
        <p:spPr bwMode="auto">
          <a:xfrm>
            <a:off x="3489325" y="5032400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i="0">
                <a:solidFill>
                  <a:srgbClr val="3365FB"/>
                </a:solidFill>
                <a:latin typeface="Book Antiqua" pitchFamily="18" charset="0"/>
              </a:rPr>
              <a:t>W</a:t>
            </a:r>
            <a:endParaRPr lang="en-US" altLang="zh-CN" sz="2800" i="0">
              <a:solidFill>
                <a:srgbClr val="3365FB"/>
              </a:solidFill>
              <a:latin typeface="Book Antiqua" pitchFamily="18" charset="0"/>
            </a:endParaRPr>
          </a:p>
        </p:txBody>
      </p:sp>
      <p:sp>
        <p:nvSpPr>
          <p:cNvPr id="45072" name="Rectangle 15"/>
          <p:cNvSpPr>
            <a:spLocks noChangeArrowheads="1"/>
          </p:cNvSpPr>
          <p:nvPr/>
        </p:nvSpPr>
        <p:spPr bwMode="auto">
          <a:xfrm>
            <a:off x="5241925" y="5718200"/>
            <a:ext cx="441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i="0">
                <a:latin typeface="Book Antiqua" pitchFamily="18" charset="0"/>
              </a:rPr>
              <a:t>R</a:t>
            </a:r>
            <a:endParaRPr lang="en-US" altLang="zh-CN" sz="2800" i="0">
              <a:latin typeface="Book Antiqua" pitchFamily="18" charset="0"/>
            </a:endParaRPr>
          </a:p>
        </p:txBody>
      </p:sp>
      <p:sp>
        <p:nvSpPr>
          <p:cNvPr id="45073" name="Rectangle 16"/>
          <p:cNvSpPr>
            <a:spLocks noChangeArrowheads="1"/>
          </p:cNvSpPr>
          <p:nvPr/>
        </p:nvSpPr>
        <p:spPr bwMode="auto">
          <a:xfrm>
            <a:off x="6537325" y="5718200"/>
            <a:ext cx="4603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i="0">
                <a:solidFill>
                  <a:schemeClr val="accent2"/>
                </a:solidFill>
                <a:latin typeface="Book Antiqua" pitchFamily="18" charset="0"/>
              </a:rPr>
              <a:t>V</a:t>
            </a:r>
            <a:endParaRPr lang="en-US" altLang="zh-CN" sz="2800" i="0">
              <a:solidFill>
                <a:schemeClr val="accent2"/>
              </a:solidFill>
              <a:latin typeface="Book Antiqua" pitchFamily="18" charset="0"/>
            </a:endParaRPr>
          </a:p>
        </p:txBody>
      </p:sp>
      <p:sp>
        <p:nvSpPr>
          <p:cNvPr id="45074" name="Rectangle 17"/>
          <p:cNvSpPr>
            <a:spLocks noChangeArrowheads="1"/>
          </p:cNvSpPr>
          <p:nvPr/>
        </p:nvSpPr>
        <p:spPr bwMode="auto">
          <a:xfrm>
            <a:off x="7832725" y="5718200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i="0">
                <a:solidFill>
                  <a:srgbClr val="3365FB"/>
                </a:solidFill>
                <a:latin typeface="Book Antiqua" pitchFamily="18" charset="0"/>
              </a:rPr>
              <a:t>W</a:t>
            </a:r>
            <a:endParaRPr lang="en-US" altLang="zh-CN" sz="2800" i="0">
              <a:solidFill>
                <a:srgbClr val="3365FB"/>
              </a:solidFill>
              <a:latin typeface="Book Antiqua" pitchFamily="18" charset="0"/>
            </a:endParaRPr>
          </a:p>
        </p:txBody>
      </p:sp>
      <p:sp>
        <p:nvSpPr>
          <p:cNvPr id="19" name="Line 0"/>
          <p:cNvSpPr>
            <a:spLocks noChangeShapeType="1"/>
          </p:cNvSpPr>
          <p:nvPr/>
        </p:nvSpPr>
        <p:spPr bwMode="auto">
          <a:xfrm>
            <a:off x="4328711" y="4084786"/>
            <a:ext cx="0" cy="2368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1"/>
          <p:cNvSpPr>
            <a:spLocks noChangeShapeType="1"/>
          </p:cNvSpPr>
          <p:nvPr/>
        </p:nvSpPr>
        <p:spPr bwMode="auto">
          <a:xfrm>
            <a:off x="4888372" y="4084786"/>
            <a:ext cx="0" cy="2368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C68FF-EA0C-4FFB-AF7D-EB6A6BDE71EA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 anchor="ctr"/>
          <a:lstStyle/>
          <a:p>
            <a:pPr eaLnBrk="1" hangingPunct="1"/>
            <a:r>
              <a:rPr lang="zh-CN" altLang="en-US" dirty="0"/>
              <a:t>基于有效性检查的协议</a:t>
            </a:r>
            <a:r>
              <a:rPr lang="en-US" altLang="zh-CN" baseline="30000" dirty="0"/>
              <a:t>(</a:t>
            </a:r>
            <a:r>
              <a:rPr lang="zh-CN" altLang="en-US" baseline="30000" dirty="0"/>
              <a:t>续</a:t>
            </a:r>
            <a:r>
              <a:rPr lang="en-US" altLang="zh-CN" baseline="30000" dirty="0"/>
              <a:t>)</a:t>
            </a:r>
            <a:endParaRPr lang="en-US" altLang="zh-CN" dirty="0"/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844" y="1412776"/>
            <a:ext cx="8304212" cy="3456384"/>
          </a:xfrm>
        </p:spPr>
        <p:txBody>
          <a:bodyPr lIns="92075" tIns="46038" rIns="92075" bIns="46038"/>
          <a:lstStyle/>
          <a:p>
            <a:pPr marL="0" indent="0">
              <a:buNone/>
            </a:pPr>
            <a:r>
              <a:rPr lang="zh-CN" altLang="en-US" sz="2800" b="1" dirty="0"/>
              <a:t>测试条件</a:t>
            </a:r>
            <a:r>
              <a:rPr lang="en-US" altLang="zh-CN" sz="2800" b="1" dirty="0"/>
              <a:t>2</a:t>
            </a:r>
            <a:endParaRPr lang="en-US" altLang="zh-CN" sz="2800" dirty="0"/>
          </a:p>
          <a:p>
            <a:pPr eaLnBrk="1" hangingPunct="1"/>
            <a:r>
              <a:rPr lang="zh-CN" altLang="en-US" sz="2800" dirty="0"/>
              <a:t>否则，对于所有的</a:t>
            </a:r>
            <a:r>
              <a:rPr lang="en-US" altLang="zh-CN" sz="2800" dirty="0"/>
              <a:t>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 </a:t>
            </a:r>
            <a:r>
              <a:rPr lang="zh-CN" altLang="en-US" sz="2800" dirty="0"/>
              <a:t>和</a:t>
            </a:r>
            <a:r>
              <a:rPr lang="en-US" altLang="zh-CN" sz="2800" dirty="0"/>
              <a:t> j,</a:t>
            </a:r>
            <a:r>
              <a:rPr lang="zh-CN" altLang="en-US" sz="2800" dirty="0"/>
              <a:t>如果 </a:t>
            </a:r>
            <a:r>
              <a:rPr lang="en-US" altLang="zh-CN" sz="2800" dirty="0" err="1"/>
              <a:t>T</a:t>
            </a:r>
            <a:r>
              <a:rPr lang="en-US" altLang="zh-CN" sz="2800" baseline="-25000" dirty="0" err="1"/>
              <a:t>i</a:t>
            </a:r>
            <a:r>
              <a:rPr lang="en-US" altLang="zh-CN" sz="2800" dirty="0"/>
              <a:t> &lt; </a:t>
            </a:r>
            <a:r>
              <a:rPr lang="en-US" altLang="zh-CN" sz="2800" dirty="0" err="1"/>
              <a:t>T</a:t>
            </a:r>
            <a:r>
              <a:rPr lang="en-US" altLang="zh-CN" sz="2800" baseline="-25000" dirty="0" err="1"/>
              <a:t>j</a:t>
            </a:r>
            <a:r>
              <a:rPr lang="en-US" altLang="zh-CN" sz="2800" dirty="0"/>
              <a:t>, </a:t>
            </a:r>
            <a:r>
              <a:rPr lang="zh-CN" altLang="en-US" sz="2800" dirty="0"/>
              <a:t>检查</a:t>
            </a:r>
            <a:endParaRPr lang="en-US" altLang="zh-CN" sz="2800" dirty="0"/>
          </a:p>
          <a:p>
            <a:pPr lvl="1"/>
            <a:r>
              <a:rPr lang="en-US" altLang="zh-CN" sz="2400" dirty="0"/>
              <a:t>Start(</a:t>
            </a:r>
            <a:r>
              <a:rPr lang="en-US" altLang="zh-CN" sz="2400" dirty="0" err="1"/>
              <a:t>T</a:t>
            </a:r>
            <a:r>
              <a:rPr lang="en-US" altLang="zh-CN" sz="2000" baseline="-25000" dirty="0" err="1"/>
              <a:t>j</a:t>
            </a:r>
            <a:r>
              <a:rPr lang="en-US" altLang="zh-CN" sz="2400" dirty="0"/>
              <a:t>)&lt;Finish(T</a:t>
            </a:r>
            <a:r>
              <a:rPr lang="en-US" altLang="zh-CN" sz="2000" baseline="-25000" dirty="0"/>
              <a:t>i</a:t>
            </a:r>
            <a:r>
              <a:rPr lang="en-US" altLang="zh-CN" sz="2400" dirty="0"/>
              <a:t>)</a:t>
            </a:r>
            <a:r>
              <a:rPr lang="en-US" altLang="zh-CN" sz="2400" dirty="0">
                <a:solidFill>
                  <a:srgbClr val="0000FF"/>
                </a:solidFill>
              </a:rPr>
              <a:t>&lt;Validation(</a:t>
            </a:r>
            <a:r>
              <a:rPr lang="en-US" altLang="zh-CN" sz="2400" dirty="0" err="1">
                <a:solidFill>
                  <a:srgbClr val="0000FF"/>
                </a:solidFill>
              </a:rPr>
              <a:t>T</a:t>
            </a:r>
            <a:r>
              <a:rPr lang="en-US" altLang="zh-CN" sz="2000" baseline="-25000" dirty="0" err="1">
                <a:solidFill>
                  <a:srgbClr val="0000FF"/>
                </a:solidFill>
              </a:rPr>
              <a:t>j</a:t>
            </a:r>
            <a:r>
              <a:rPr lang="en-US" altLang="zh-CN" sz="2400" dirty="0">
                <a:solidFill>
                  <a:srgbClr val="0000FF"/>
                </a:solidFill>
              </a:rPr>
              <a:t>)</a:t>
            </a:r>
            <a:r>
              <a:rPr lang="zh-CN" altLang="en-US" sz="2400" dirty="0">
                <a:solidFill>
                  <a:srgbClr val="0000FF"/>
                </a:solidFill>
              </a:rPr>
              <a:t>，即</a:t>
            </a:r>
            <a:r>
              <a:rPr lang="zh-CN" altLang="en-US" sz="2400" dirty="0">
                <a:sym typeface="Symbol" panose="05050102010706020507" pitchFamily="18" charset="2"/>
              </a:rPr>
              <a:t>在</a:t>
            </a:r>
            <a:r>
              <a:rPr lang="en-US" altLang="zh-CN" sz="2400" dirty="0" err="1"/>
              <a:t>T</a:t>
            </a:r>
            <a:r>
              <a:rPr lang="en-US" altLang="zh-CN" sz="2400" baseline="-25000" dirty="0" err="1"/>
              <a:t>j</a:t>
            </a:r>
            <a:r>
              <a:rPr lang="zh-CN" altLang="en-US" sz="2400" dirty="0">
                <a:sym typeface="Symbol" panose="05050102010706020507" pitchFamily="18" charset="2"/>
              </a:rPr>
              <a:t>开始执行有效性检查之前</a:t>
            </a:r>
            <a:r>
              <a:rPr lang="en-US" altLang="zh-CN" sz="2400" dirty="0">
                <a:solidFill>
                  <a:srgbClr val="FF0000"/>
                </a:solidFill>
              </a:rPr>
              <a:t>T</a:t>
            </a:r>
            <a:r>
              <a:rPr lang="en-US" altLang="zh-CN" sz="2400" baseline="-25000" dirty="0">
                <a:solidFill>
                  <a:srgbClr val="FF0000"/>
                </a:solidFill>
              </a:rPr>
              <a:t>i</a:t>
            </a:r>
            <a:r>
              <a:rPr lang="zh-CN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已经完成</a:t>
            </a:r>
            <a:r>
              <a:rPr lang="zh-CN" altLang="en-US" sz="2400" dirty="0">
                <a:sym typeface="Symbol" panose="05050102010706020507" pitchFamily="18" charset="2"/>
              </a:rPr>
              <a:t>了其</a:t>
            </a:r>
            <a:r>
              <a:rPr lang="zh-CN" altLang="en-US" sz="2400" dirty="0">
                <a:solidFill>
                  <a:srgbClr val="0000FF"/>
                </a:solidFill>
                <a:sym typeface="Symbol" panose="05050102010706020507" pitchFamily="18" charset="2"/>
              </a:rPr>
              <a:t>写阶段</a:t>
            </a:r>
            <a:r>
              <a:rPr lang="zh-CN" altLang="en-US" sz="2400" dirty="0">
                <a:sym typeface="Symbol" panose="05050102010706020507" pitchFamily="18" charset="2"/>
              </a:rPr>
              <a:t>。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sz="2400" dirty="0" err="1"/>
              <a:t>WriteSet</a:t>
            </a:r>
            <a:r>
              <a:rPr lang="en-US" altLang="zh-CN" sz="2400" dirty="0"/>
              <a:t>(T</a:t>
            </a:r>
            <a:r>
              <a:rPr lang="en-US" altLang="zh-CN" sz="2000" baseline="-25000" dirty="0"/>
              <a:t>i</a:t>
            </a:r>
            <a:r>
              <a:rPr lang="en-US" altLang="zh-CN" sz="2400" dirty="0"/>
              <a:t>)</a:t>
            </a:r>
            <a:r>
              <a:rPr lang="en-US" altLang="zh-CN" sz="2400" dirty="0">
                <a:sym typeface="Symbol" panose="05050102010706020507" pitchFamily="18" charset="2"/>
              </a:rPr>
              <a:t></a:t>
            </a:r>
            <a:r>
              <a:rPr lang="en-US" altLang="zh-CN" sz="2400" dirty="0" err="1"/>
              <a:t>ReadSet</a:t>
            </a:r>
            <a:r>
              <a:rPr lang="en-US" altLang="zh-CN" sz="2400" dirty="0"/>
              <a:t>(</a:t>
            </a:r>
            <a:r>
              <a:rPr lang="en-US" altLang="zh-CN" sz="2400" dirty="0" err="1"/>
              <a:t>T</a:t>
            </a:r>
            <a:r>
              <a:rPr lang="en-US" altLang="zh-CN" sz="2000" baseline="-25000" dirty="0" err="1"/>
              <a:t>j</a:t>
            </a:r>
            <a:r>
              <a:rPr lang="en-US" altLang="zh-CN" sz="2400" dirty="0"/>
              <a:t>)=</a:t>
            </a:r>
            <a:r>
              <a:rPr lang="en-US" altLang="zh-CN" sz="2400" dirty="0">
                <a:sym typeface="Symbol" panose="05050102010706020507" pitchFamily="18" charset="2"/>
              </a:rPr>
              <a:t></a:t>
            </a:r>
            <a:r>
              <a:rPr lang="zh-CN" altLang="en-US" sz="2400" dirty="0">
                <a:sym typeface="Symbol" panose="05050102010706020507" pitchFamily="18" charset="2"/>
              </a:rPr>
              <a:t>：事务</a:t>
            </a:r>
            <a:r>
              <a:rPr lang="en-US" altLang="zh-CN" sz="2400" dirty="0"/>
              <a:t>T</a:t>
            </a:r>
            <a:r>
              <a:rPr lang="en-US" altLang="zh-CN" sz="2400" baseline="-25000" dirty="0"/>
              <a:t>i</a:t>
            </a:r>
            <a:r>
              <a:rPr lang="zh-CN" altLang="en-US" sz="2400" dirty="0">
                <a:sym typeface="Symbol" panose="05050102010706020507" pitchFamily="18" charset="2"/>
              </a:rPr>
              <a:t>所</a:t>
            </a:r>
            <a:r>
              <a:rPr lang="zh-CN" alt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写</a:t>
            </a:r>
            <a:r>
              <a:rPr lang="zh-CN" altLang="en-US" sz="2400" dirty="0">
                <a:sym typeface="Symbol" panose="05050102010706020507" pitchFamily="18" charset="2"/>
              </a:rPr>
              <a:t>的数据项集合和事务</a:t>
            </a:r>
            <a:r>
              <a:rPr lang="en-US" altLang="zh-CN" sz="2400" dirty="0" err="1"/>
              <a:t>T</a:t>
            </a:r>
            <a:r>
              <a:rPr lang="en-US" altLang="zh-CN" sz="2400" baseline="-25000" dirty="0" err="1"/>
              <a:t>j</a:t>
            </a:r>
            <a:r>
              <a:rPr lang="zh-CN" altLang="en-US" sz="2400" dirty="0">
                <a:sym typeface="Symbol" panose="05050102010706020507" pitchFamily="18" charset="2"/>
              </a:rPr>
              <a:t>所</a:t>
            </a:r>
            <a:r>
              <a:rPr lang="zh-CN" alt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读</a:t>
            </a:r>
            <a:r>
              <a:rPr lang="zh-CN" altLang="en-US" sz="2400" dirty="0">
                <a:sym typeface="Symbol" panose="05050102010706020507" pitchFamily="18" charset="2"/>
              </a:rPr>
              <a:t>的数据项集合</a:t>
            </a:r>
            <a:r>
              <a:rPr lang="zh-CN" alt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不相交</a:t>
            </a:r>
            <a:r>
              <a:rPr lang="zh-CN" altLang="en-US" sz="2400" dirty="0">
                <a:sym typeface="Symbol" panose="05050102010706020507" pitchFamily="18" charset="2"/>
              </a:rPr>
              <a:t>；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以上都满足</a:t>
            </a:r>
            <a:r>
              <a:rPr lang="zh-CN" altLang="en-US" sz="2400" dirty="0">
                <a:sym typeface="Symbol" panose="05050102010706020507" pitchFamily="18" charset="2"/>
              </a:rPr>
              <a:t>，可以保证</a:t>
            </a:r>
            <a:r>
              <a:rPr lang="en-US" altLang="zh-CN" sz="2400" dirty="0" err="1">
                <a:sym typeface="Symbol" panose="05050102010706020507" pitchFamily="18" charset="2"/>
              </a:rPr>
              <a:t>T</a:t>
            </a:r>
            <a:r>
              <a:rPr lang="en-US" altLang="zh-CN" sz="2400" baseline="-25000" dirty="0" err="1">
                <a:sym typeface="Symbol" panose="05050102010706020507" pitchFamily="18" charset="2"/>
              </a:rPr>
              <a:t>i</a:t>
            </a:r>
            <a:r>
              <a:rPr lang="zh-CN" altLang="en-US" sz="2400" dirty="0">
                <a:sym typeface="Symbol" panose="05050102010706020507" pitchFamily="18" charset="2"/>
              </a:rPr>
              <a:t>和</a:t>
            </a:r>
            <a:r>
              <a:rPr lang="en-US" altLang="zh-CN" sz="2400" dirty="0" err="1">
                <a:sym typeface="Symbol" panose="05050102010706020507" pitchFamily="18" charset="2"/>
              </a:rPr>
              <a:t>T</a:t>
            </a:r>
            <a:r>
              <a:rPr lang="en-US" altLang="zh-CN" sz="2400" baseline="-25000" dirty="0" err="1">
                <a:sym typeface="Symbol" panose="05050102010706020507" pitchFamily="18" charset="2"/>
              </a:rPr>
              <a:t>j</a:t>
            </a:r>
            <a:r>
              <a:rPr lang="zh-CN" altLang="en-US" sz="2400" dirty="0">
                <a:sym typeface="Symbol" panose="05050102010706020507" pitchFamily="18" charset="2"/>
              </a:rPr>
              <a:t>的写不重叠，则可串行化次序可以保证。</a:t>
            </a:r>
            <a:endParaRPr lang="en-US" altLang="zh-CN" sz="2400" dirty="0">
              <a:sym typeface="Symbol" panose="05050102010706020507" pitchFamily="18" charset="2"/>
            </a:endParaRPr>
          </a:p>
        </p:txBody>
      </p:sp>
      <p:sp>
        <p:nvSpPr>
          <p:cNvPr id="47109" name="Line 4"/>
          <p:cNvSpPr>
            <a:spLocks noChangeShapeType="1"/>
          </p:cNvSpPr>
          <p:nvPr/>
        </p:nvSpPr>
        <p:spPr bwMode="auto">
          <a:xfrm>
            <a:off x="4325811" y="5950116"/>
            <a:ext cx="1231900" cy="0"/>
          </a:xfrm>
          <a:prstGeom prst="line">
            <a:avLst/>
          </a:prstGeom>
          <a:noFill/>
          <a:ln w="1270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/>
          </a:p>
        </p:txBody>
      </p:sp>
      <p:sp>
        <p:nvSpPr>
          <p:cNvPr id="47110" name="Line 5"/>
          <p:cNvSpPr>
            <a:spLocks noChangeShapeType="1"/>
          </p:cNvSpPr>
          <p:nvPr/>
        </p:nvSpPr>
        <p:spPr bwMode="auto">
          <a:xfrm>
            <a:off x="5633911" y="5950116"/>
            <a:ext cx="1219200" cy="0"/>
          </a:xfrm>
          <a:prstGeom prst="line">
            <a:avLst/>
          </a:prstGeom>
          <a:noFill/>
          <a:ln w="1270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/>
          </a:p>
        </p:txBody>
      </p:sp>
      <p:sp>
        <p:nvSpPr>
          <p:cNvPr id="47111" name="Line 6"/>
          <p:cNvSpPr>
            <a:spLocks noChangeShapeType="1"/>
          </p:cNvSpPr>
          <p:nvPr/>
        </p:nvSpPr>
        <p:spPr bwMode="auto">
          <a:xfrm>
            <a:off x="6929311" y="5950116"/>
            <a:ext cx="1219200" cy="0"/>
          </a:xfrm>
          <a:prstGeom prst="line">
            <a:avLst/>
          </a:prstGeom>
          <a:noFill/>
          <a:ln w="127000">
            <a:solidFill>
              <a:srgbClr val="3365FB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/>
          </a:p>
        </p:txBody>
      </p:sp>
      <p:sp>
        <p:nvSpPr>
          <p:cNvPr id="47112" name="Line 7"/>
          <p:cNvSpPr>
            <a:spLocks noChangeShapeType="1"/>
          </p:cNvSpPr>
          <p:nvPr/>
        </p:nvSpPr>
        <p:spPr bwMode="auto">
          <a:xfrm>
            <a:off x="1319086" y="5111916"/>
            <a:ext cx="1219200" cy="0"/>
          </a:xfrm>
          <a:prstGeom prst="line">
            <a:avLst/>
          </a:prstGeom>
          <a:noFill/>
          <a:ln w="1270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/>
          </a:p>
        </p:txBody>
      </p:sp>
      <p:sp>
        <p:nvSpPr>
          <p:cNvPr id="47113" name="Line 8"/>
          <p:cNvSpPr>
            <a:spLocks noChangeShapeType="1"/>
          </p:cNvSpPr>
          <p:nvPr/>
        </p:nvSpPr>
        <p:spPr bwMode="auto">
          <a:xfrm>
            <a:off x="2614486" y="5111916"/>
            <a:ext cx="1219200" cy="0"/>
          </a:xfrm>
          <a:prstGeom prst="line">
            <a:avLst/>
          </a:prstGeom>
          <a:noFill/>
          <a:ln w="1270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/>
          </a:p>
        </p:txBody>
      </p:sp>
      <p:sp>
        <p:nvSpPr>
          <p:cNvPr id="47114" name="Line 9"/>
          <p:cNvSpPr>
            <a:spLocks noChangeShapeType="1"/>
          </p:cNvSpPr>
          <p:nvPr/>
        </p:nvSpPr>
        <p:spPr bwMode="auto">
          <a:xfrm>
            <a:off x="3909886" y="5111916"/>
            <a:ext cx="1219200" cy="0"/>
          </a:xfrm>
          <a:prstGeom prst="line">
            <a:avLst/>
          </a:prstGeom>
          <a:noFill/>
          <a:ln w="127000">
            <a:solidFill>
              <a:srgbClr val="3365FB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/>
          </a:p>
        </p:txBody>
      </p:sp>
      <p:sp>
        <p:nvSpPr>
          <p:cNvPr id="47115" name="Rectangle 10"/>
          <p:cNvSpPr>
            <a:spLocks noChangeArrowheads="1"/>
          </p:cNvSpPr>
          <p:nvPr/>
        </p:nvSpPr>
        <p:spPr bwMode="auto">
          <a:xfrm>
            <a:off x="760286" y="4776953"/>
            <a:ext cx="504946" cy="480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i="0">
                <a:latin typeface="Book Antiqua" pitchFamily="18" charset="0"/>
              </a:rPr>
              <a:t>T</a:t>
            </a:r>
            <a:r>
              <a:rPr lang="en-US" altLang="zh-CN" sz="2800" i="0" baseline="-25000">
                <a:latin typeface="Book Antiqua" pitchFamily="18" charset="0"/>
              </a:rPr>
              <a:t>i</a:t>
            </a:r>
            <a:endParaRPr lang="en-US" altLang="zh-CN" sz="2800" i="0" baseline="-25000">
              <a:latin typeface="Book Antiqua" pitchFamily="18" charset="0"/>
            </a:endParaRPr>
          </a:p>
        </p:txBody>
      </p:sp>
      <p:sp>
        <p:nvSpPr>
          <p:cNvPr id="47116" name="Rectangle 11"/>
          <p:cNvSpPr>
            <a:spLocks noChangeArrowheads="1"/>
          </p:cNvSpPr>
          <p:nvPr/>
        </p:nvSpPr>
        <p:spPr bwMode="auto">
          <a:xfrm>
            <a:off x="8242174" y="5615153"/>
            <a:ext cx="504946" cy="480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i="0">
                <a:latin typeface="Book Antiqua" pitchFamily="18" charset="0"/>
              </a:rPr>
              <a:t>T</a:t>
            </a:r>
            <a:r>
              <a:rPr lang="en-US" altLang="zh-CN" sz="2800" i="0" baseline="-25000">
                <a:latin typeface="Book Antiqua" pitchFamily="18" charset="0"/>
              </a:rPr>
              <a:t>j</a:t>
            </a:r>
            <a:endParaRPr lang="en-US" altLang="zh-CN" sz="2800" i="0" baseline="-25000">
              <a:latin typeface="Book Antiqua" pitchFamily="18" charset="0"/>
            </a:endParaRPr>
          </a:p>
        </p:txBody>
      </p:sp>
      <p:sp>
        <p:nvSpPr>
          <p:cNvPr id="47117" name="Rectangle 12"/>
          <p:cNvSpPr>
            <a:spLocks noChangeArrowheads="1"/>
          </p:cNvSpPr>
          <p:nvPr/>
        </p:nvSpPr>
        <p:spPr bwMode="auto">
          <a:xfrm>
            <a:off x="1769936" y="5202403"/>
            <a:ext cx="408766" cy="425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0">
                <a:latin typeface="Book Antiqua" pitchFamily="18" charset="0"/>
              </a:rPr>
              <a:t>R</a:t>
            </a:r>
            <a:endParaRPr lang="en-US" altLang="zh-CN" sz="2400" i="0">
              <a:latin typeface="Book Antiqua" pitchFamily="18" charset="0"/>
            </a:endParaRPr>
          </a:p>
        </p:txBody>
      </p:sp>
      <p:sp>
        <p:nvSpPr>
          <p:cNvPr id="47118" name="Rectangle 13"/>
          <p:cNvSpPr>
            <a:spLocks noChangeArrowheads="1"/>
          </p:cNvSpPr>
          <p:nvPr/>
        </p:nvSpPr>
        <p:spPr bwMode="auto">
          <a:xfrm>
            <a:off x="3065336" y="5202403"/>
            <a:ext cx="424796" cy="425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0">
                <a:solidFill>
                  <a:schemeClr val="accent2"/>
                </a:solidFill>
                <a:latin typeface="Book Antiqua" pitchFamily="18" charset="0"/>
              </a:rPr>
              <a:t>V</a:t>
            </a:r>
            <a:endParaRPr lang="en-US" altLang="zh-CN" sz="2400" i="0">
              <a:solidFill>
                <a:schemeClr val="accent2"/>
              </a:solidFill>
              <a:latin typeface="Book Antiqua" pitchFamily="18" charset="0"/>
            </a:endParaRPr>
          </a:p>
        </p:txBody>
      </p:sp>
      <p:sp>
        <p:nvSpPr>
          <p:cNvPr id="47119" name="Rectangle 14"/>
          <p:cNvSpPr>
            <a:spLocks noChangeArrowheads="1"/>
          </p:cNvSpPr>
          <p:nvPr/>
        </p:nvSpPr>
        <p:spPr bwMode="auto">
          <a:xfrm>
            <a:off x="4360736" y="5202403"/>
            <a:ext cx="493725" cy="425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0">
                <a:solidFill>
                  <a:srgbClr val="3365FB"/>
                </a:solidFill>
                <a:latin typeface="Book Antiqua" pitchFamily="18" charset="0"/>
              </a:rPr>
              <a:t>W</a:t>
            </a:r>
            <a:endParaRPr lang="en-US" altLang="zh-CN" sz="2400" i="0">
              <a:solidFill>
                <a:srgbClr val="3365FB"/>
              </a:solidFill>
              <a:latin typeface="Book Antiqua" pitchFamily="18" charset="0"/>
            </a:endParaRPr>
          </a:p>
        </p:txBody>
      </p:sp>
      <p:sp>
        <p:nvSpPr>
          <p:cNvPr id="47120" name="Rectangle 15"/>
          <p:cNvSpPr>
            <a:spLocks noChangeArrowheads="1"/>
          </p:cNvSpPr>
          <p:nvPr/>
        </p:nvSpPr>
        <p:spPr bwMode="auto">
          <a:xfrm>
            <a:off x="4703636" y="6040603"/>
            <a:ext cx="408766" cy="425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0">
                <a:latin typeface="Book Antiqua" pitchFamily="18" charset="0"/>
              </a:rPr>
              <a:t>R</a:t>
            </a:r>
            <a:endParaRPr lang="en-US" altLang="zh-CN" sz="2400" i="0">
              <a:latin typeface="Book Antiqua" pitchFamily="18" charset="0"/>
            </a:endParaRPr>
          </a:p>
        </p:txBody>
      </p:sp>
      <p:sp>
        <p:nvSpPr>
          <p:cNvPr id="47121" name="Rectangle 16"/>
          <p:cNvSpPr>
            <a:spLocks noChangeArrowheads="1"/>
          </p:cNvSpPr>
          <p:nvPr/>
        </p:nvSpPr>
        <p:spPr bwMode="auto">
          <a:xfrm>
            <a:off x="5999036" y="6040603"/>
            <a:ext cx="424796" cy="425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0">
                <a:solidFill>
                  <a:schemeClr val="accent2"/>
                </a:solidFill>
                <a:latin typeface="Book Antiqua" pitchFamily="18" charset="0"/>
              </a:rPr>
              <a:t>V</a:t>
            </a:r>
            <a:endParaRPr lang="en-US" altLang="zh-CN" sz="2400" i="0">
              <a:solidFill>
                <a:schemeClr val="accent2"/>
              </a:solidFill>
              <a:latin typeface="Book Antiqua" pitchFamily="18" charset="0"/>
            </a:endParaRPr>
          </a:p>
        </p:txBody>
      </p:sp>
      <p:sp>
        <p:nvSpPr>
          <p:cNvPr id="47122" name="Rectangle 17"/>
          <p:cNvSpPr>
            <a:spLocks noChangeArrowheads="1"/>
          </p:cNvSpPr>
          <p:nvPr/>
        </p:nvSpPr>
        <p:spPr bwMode="auto">
          <a:xfrm>
            <a:off x="7294436" y="6040603"/>
            <a:ext cx="493725" cy="425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0">
                <a:solidFill>
                  <a:srgbClr val="3365FB"/>
                </a:solidFill>
                <a:latin typeface="Book Antiqua" pitchFamily="18" charset="0"/>
              </a:rPr>
              <a:t>W</a:t>
            </a:r>
            <a:endParaRPr lang="en-US" altLang="zh-CN" sz="2400" i="0">
              <a:solidFill>
                <a:srgbClr val="3365FB"/>
              </a:solidFill>
              <a:latin typeface="Book Antiqua" pitchFamily="18" charset="0"/>
            </a:endParaRPr>
          </a:p>
        </p:txBody>
      </p:sp>
      <p:sp>
        <p:nvSpPr>
          <p:cNvPr id="47124" name="Line 0"/>
          <p:cNvSpPr>
            <a:spLocks noChangeShapeType="1"/>
          </p:cNvSpPr>
          <p:nvPr/>
        </p:nvSpPr>
        <p:spPr bwMode="auto">
          <a:xfrm>
            <a:off x="4325811" y="4430878"/>
            <a:ext cx="0" cy="2368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/>
          </a:p>
        </p:txBody>
      </p:sp>
      <p:sp>
        <p:nvSpPr>
          <p:cNvPr id="47125" name="Line 1"/>
          <p:cNvSpPr>
            <a:spLocks noChangeShapeType="1"/>
          </p:cNvSpPr>
          <p:nvPr/>
        </p:nvSpPr>
        <p:spPr bwMode="auto">
          <a:xfrm>
            <a:off x="5135436" y="4432466"/>
            <a:ext cx="0" cy="2368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/>
          </a:p>
        </p:txBody>
      </p:sp>
      <p:sp>
        <p:nvSpPr>
          <p:cNvPr id="47126" name="AutoShape 2"/>
          <p:cNvSpPr>
            <a:spLocks noChangeArrowheads="1"/>
          </p:cNvSpPr>
          <p:nvPr/>
        </p:nvSpPr>
        <p:spPr bwMode="auto">
          <a:xfrm>
            <a:off x="5722116" y="4892758"/>
            <a:ext cx="2505021" cy="683022"/>
          </a:xfrm>
          <a:prstGeom prst="wedgeRoundRectCallout">
            <a:avLst>
              <a:gd name="adj1" fmla="val -84301"/>
              <a:gd name="adj2" fmla="val 1002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Helvetica" panose="020B0604020202020204" pitchFamily="34" charset="0"/>
              </a:rPr>
              <a:t>T</a:t>
            </a:r>
            <a:r>
              <a:rPr lang="en-US" altLang="zh-CN" sz="1600" b="0" baseline="-25000">
                <a:latin typeface="Helvetica" panose="020B0604020202020204" pitchFamily="34" charset="0"/>
              </a:rPr>
              <a:t>i</a:t>
            </a:r>
            <a:r>
              <a:rPr lang="zh-CN" altLang="en-US" sz="1600" b="0">
                <a:latin typeface="Helvetica" panose="020B0604020202020204" pitchFamily="34" charset="0"/>
              </a:rPr>
              <a:t>可能发生修改丢失，</a:t>
            </a:r>
            <a:endParaRPr lang="zh-CN" altLang="en-US" sz="1600" b="0">
              <a:latin typeface="Helvetica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0">
                <a:latin typeface="Helvetica" panose="020B0604020202020204" pitchFamily="34" charset="0"/>
              </a:rPr>
              <a:t>如果</a:t>
            </a:r>
            <a:r>
              <a:rPr lang="en-US" altLang="zh-CN" sz="1600" b="0">
                <a:latin typeface="Helvetica" panose="020B0604020202020204" pitchFamily="34" charset="0"/>
              </a:rPr>
              <a:t>T</a:t>
            </a:r>
            <a:r>
              <a:rPr lang="en-US" altLang="zh-CN" sz="1600" b="0" baseline="-25000">
                <a:latin typeface="Helvetica" panose="020B0604020202020204" pitchFamily="34" charset="0"/>
              </a:rPr>
              <a:t>j</a:t>
            </a:r>
            <a:r>
              <a:rPr lang="zh-CN" altLang="en-US" sz="1600" b="0">
                <a:latin typeface="Helvetica" panose="020B0604020202020204" pitchFamily="34" charset="0"/>
              </a:rPr>
              <a:t>读取了原始数据</a:t>
            </a:r>
            <a:endParaRPr lang="zh-CN" altLang="en-US" sz="1600" b="0">
              <a:latin typeface="Helvetica" panose="020B0604020202020204" pitchFamily="34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9FEAF-135B-4722-9351-C08240A2DC48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  <p:sp>
        <p:nvSpPr>
          <p:cNvPr id="690199" name="AutoShape 23"/>
          <p:cNvSpPr>
            <a:spLocks noChangeArrowheads="1"/>
          </p:cNvSpPr>
          <p:nvPr/>
        </p:nvSpPr>
        <p:spPr bwMode="auto">
          <a:xfrm>
            <a:off x="1708395" y="5985293"/>
            <a:ext cx="2132012" cy="627508"/>
          </a:xfrm>
          <a:prstGeom prst="wedgeRoundRectCallout">
            <a:avLst>
              <a:gd name="adj1" fmla="val 75768"/>
              <a:gd name="adj2" fmla="val -134880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Helvetica" panose="020B0604020202020204" pitchFamily="34" charset="0"/>
              </a:rPr>
              <a:t>T</a:t>
            </a:r>
            <a:r>
              <a:rPr lang="en-US" altLang="zh-CN" sz="1600" b="0" baseline="-25000">
                <a:latin typeface="Helvetica" panose="020B0604020202020204" pitchFamily="34" charset="0"/>
              </a:rPr>
              <a:t>j</a:t>
            </a:r>
            <a:r>
              <a:rPr lang="zh-CN" altLang="en-US" sz="1600" b="0">
                <a:latin typeface="Helvetica" panose="020B0604020202020204" pitchFamily="34" charset="0"/>
              </a:rPr>
              <a:t>可能读脏数据</a:t>
            </a:r>
            <a:endParaRPr lang="zh-CN" altLang="en-US" sz="1600" b="0">
              <a:latin typeface="Helvetica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Helvetica" panose="020B0604020202020204" pitchFamily="34" charset="0"/>
              </a:rPr>
              <a:t>(T</a:t>
            </a:r>
            <a:r>
              <a:rPr lang="en-US" altLang="zh-CN" sz="1600" b="0" baseline="-25000">
                <a:latin typeface="Helvetica" panose="020B0604020202020204" pitchFamily="34" charset="0"/>
              </a:rPr>
              <a:t>i</a:t>
            </a:r>
            <a:r>
              <a:rPr lang="zh-CN" altLang="en-US" sz="1600" b="0">
                <a:latin typeface="Helvetica" panose="020B0604020202020204" pitchFamily="34" charset="0"/>
              </a:rPr>
              <a:t>写之后回滚</a:t>
            </a:r>
            <a:r>
              <a:rPr lang="en-US" altLang="zh-CN" sz="1600" b="0">
                <a:latin typeface="Helvetica" panose="020B0604020202020204" pitchFamily="34" charset="0"/>
              </a:rPr>
              <a:t>)</a:t>
            </a:r>
            <a:endParaRPr lang="en-US" altLang="zh-CN" sz="1600" b="0">
              <a:latin typeface="Helvetica" panose="020B0604020202020204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90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26" grpId="0" animBg="1"/>
      <p:bldP spid="690199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本章目录</a:t>
            </a:r>
            <a:endParaRPr lang="zh-CN" altLang="en-US"/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39888"/>
            <a:ext cx="7583488" cy="4532312"/>
          </a:xfrm>
        </p:spPr>
        <p:txBody>
          <a:bodyPr/>
          <a:lstStyle/>
          <a:p>
            <a:r>
              <a:rPr lang="en-US" altLang="zh-CN" sz="2800" dirty="0"/>
              <a:t>14.1 </a:t>
            </a:r>
            <a:r>
              <a:rPr lang="zh-CN" altLang="en-US" sz="2800" dirty="0"/>
              <a:t>基于锁的协议</a:t>
            </a:r>
            <a:endParaRPr lang="zh-CN" altLang="en-US" sz="2800" dirty="0"/>
          </a:p>
          <a:p>
            <a:r>
              <a:rPr lang="en-US" altLang="zh-CN" sz="2800" dirty="0"/>
              <a:t>14.2 </a:t>
            </a:r>
            <a:r>
              <a:rPr lang="zh-CN" altLang="en-US" sz="2800" dirty="0"/>
              <a:t>死锁处理</a:t>
            </a:r>
            <a:endParaRPr lang="zh-CN" altLang="en-US" sz="2800" dirty="0">
              <a:solidFill>
                <a:srgbClr val="CC0000"/>
              </a:solidFill>
            </a:endParaRPr>
          </a:p>
          <a:p>
            <a:r>
              <a:rPr lang="en-US" altLang="zh-CN" sz="2800" dirty="0"/>
              <a:t>14.3 </a:t>
            </a:r>
            <a:r>
              <a:rPr lang="zh-CN" altLang="en-US" sz="2800" dirty="0"/>
              <a:t>多粒度</a:t>
            </a:r>
            <a:endParaRPr lang="zh-CN" altLang="en-US" sz="2800" dirty="0"/>
          </a:p>
          <a:p>
            <a:r>
              <a:rPr lang="en-US" altLang="zh-CN" sz="2800" dirty="0"/>
              <a:t>14.4 </a:t>
            </a:r>
            <a:r>
              <a:rPr lang="zh-CN" altLang="en-US" sz="2800" dirty="0"/>
              <a:t>插入操作、删除操作与谓词读</a:t>
            </a:r>
            <a:r>
              <a:rPr lang="en-US" altLang="zh-CN" sz="2800" dirty="0"/>
              <a:t>(</a:t>
            </a:r>
            <a:r>
              <a:rPr lang="zh-CN" altLang="en-US" sz="2800" dirty="0"/>
              <a:t>了解</a:t>
            </a:r>
            <a:r>
              <a:rPr lang="en-US" altLang="zh-CN" sz="2800" dirty="0"/>
              <a:t>)</a:t>
            </a:r>
            <a:endParaRPr lang="zh-CN" altLang="en-US" sz="2800" dirty="0"/>
          </a:p>
          <a:p>
            <a:r>
              <a:rPr lang="en-US" altLang="zh-CN" sz="2800" dirty="0"/>
              <a:t>14.5 </a:t>
            </a:r>
            <a:r>
              <a:rPr lang="zh-CN" altLang="en-US" sz="2800" dirty="0"/>
              <a:t>基于时间戳的协议</a:t>
            </a:r>
            <a:r>
              <a:rPr lang="en-US" altLang="zh-CN" sz="2800" dirty="0"/>
              <a:t>(</a:t>
            </a:r>
            <a:r>
              <a:rPr lang="zh-CN" altLang="en-US" sz="2800" dirty="0"/>
              <a:t>了解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r>
              <a:rPr lang="en-US" altLang="zh-CN" sz="2800" dirty="0"/>
              <a:t>14.6 </a:t>
            </a:r>
            <a:r>
              <a:rPr lang="zh-CN" altLang="en-US" sz="2800" dirty="0"/>
              <a:t>基于有效性检查的协议</a:t>
            </a:r>
            <a:r>
              <a:rPr lang="en-US" altLang="zh-CN" sz="2800" dirty="0"/>
              <a:t>(</a:t>
            </a:r>
            <a:r>
              <a:rPr lang="zh-CN" altLang="en-US" sz="2800" dirty="0"/>
              <a:t>了解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r>
              <a:rPr lang="en-US" altLang="zh-CN" sz="2800" dirty="0"/>
              <a:t>14.7</a:t>
            </a:r>
            <a:r>
              <a:rPr lang="zh-CN" altLang="en-US" sz="2800" dirty="0"/>
              <a:t> 多版本机制</a:t>
            </a:r>
            <a:r>
              <a:rPr lang="en-US" altLang="zh-CN" sz="2800" dirty="0"/>
              <a:t>(</a:t>
            </a:r>
            <a:r>
              <a:rPr lang="zh-CN" altLang="en-US" sz="2800" dirty="0"/>
              <a:t>自学了解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r>
              <a:rPr lang="en-US" altLang="zh-CN" sz="2800" dirty="0"/>
              <a:t>14.8 </a:t>
            </a:r>
            <a:r>
              <a:rPr lang="zh-CN" altLang="en-US" sz="2800" dirty="0"/>
              <a:t>故障分类</a:t>
            </a:r>
            <a:endParaRPr lang="en-US" altLang="zh-CN" sz="2800" dirty="0"/>
          </a:p>
        </p:txBody>
      </p:sp>
      <p:sp>
        <p:nvSpPr>
          <p:cNvPr id="253956" name="AutoShape 4"/>
          <p:cNvSpPr>
            <a:spLocks noChangeArrowheads="1"/>
          </p:cNvSpPr>
          <p:nvPr/>
        </p:nvSpPr>
        <p:spPr bwMode="auto">
          <a:xfrm>
            <a:off x="852351" y="4797152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9B063-AA89-4344-BA45-C36859401145}" type="datetime1">
              <a:rPr lang="zh-CN" altLang="en-US" smtClean="0"/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14.7 </a:t>
            </a:r>
            <a:r>
              <a:rPr lang="zh-CN" altLang="en-US" dirty="0"/>
              <a:t>多版本机制</a:t>
            </a:r>
            <a:endParaRPr lang="en-US" altLang="zh-CN" dirty="0"/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27584" y="1412776"/>
            <a:ext cx="8086725" cy="5072063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前述所讨论呢，都是基于</a:t>
            </a:r>
            <a:r>
              <a:rPr lang="zh-CN" altLang="en-US" sz="2400" dirty="0">
                <a:solidFill>
                  <a:srgbClr val="0000FF"/>
                </a:solidFill>
              </a:rPr>
              <a:t>延迟</a:t>
            </a:r>
            <a:r>
              <a:rPr lang="zh-CN" altLang="en-US" sz="2400" dirty="0"/>
              <a:t>或</a:t>
            </a:r>
            <a:r>
              <a:rPr lang="zh-CN" altLang="en-US" sz="2400" dirty="0">
                <a:solidFill>
                  <a:srgbClr val="0000FF"/>
                </a:solidFill>
              </a:rPr>
              <a:t>中止事务</a:t>
            </a:r>
            <a:r>
              <a:rPr lang="zh-CN" altLang="en-US" sz="2400" dirty="0"/>
              <a:t>来保证可串行化的。</a:t>
            </a:r>
            <a:endParaRPr lang="en-US" altLang="zh-CN" sz="2400" dirty="0"/>
          </a:p>
          <a:p>
            <a:pPr eaLnBrk="1" hangingPunct="1"/>
            <a:r>
              <a:rPr lang="zh-CN" altLang="en-US" sz="2400" dirty="0"/>
              <a:t>多版本机制使得数据库能够保持</a:t>
            </a:r>
            <a:r>
              <a:rPr lang="zh-CN" altLang="en-US" sz="2400" b="1" dirty="0">
                <a:solidFill>
                  <a:srgbClr val="0000FF"/>
                </a:solidFill>
              </a:rPr>
              <a:t>历史数据</a:t>
            </a:r>
            <a:endParaRPr lang="zh-CN" altLang="en-US" sz="2400" b="1" dirty="0">
              <a:solidFill>
                <a:srgbClr val="0000FF"/>
              </a:solidFill>
            </a:endParaRPr>
          </a:p>
          <a:p>
            <a:pPr lvl="1" eaLnBrk="1" hangingPunct="1"/>
            <a:r>
              <a:rPr lang="zh-CN" altLang="en-US" sz="2000" dirty="0"/>
              <a:t>长久保持：如病人的状态记录</a:t>
            </a:r>
            <a:endParaRPr lang="zh-CN" altLang="en-US" sz="2000" dirty="0"/>
          </a:p>
          <a:p>
            <a:pPr lvl="1" eaLnBrk="1" hangingPunct="1"/>
            <a:r>
              <a:rPr lang="zh-CN" altLang="en-US" sz="2000" dirty="0"/>
              <a:t>暂时保持：提高事务处理的并发程度</a:t>
            </a:r>
            <a:endParaRPr lang="en-US" altLang="zh-CN" sz="2000" dirty="0"/>
          </a:p>
          <a:p>
            <a:pPr eaLnBrk="1" hangingPunct="1"/>
            <a:r>
              <a:rPr lang="zh-CN" altLang="en-US" sz="2400" dirty="0"/>
              <a:t>在多版本并发控制</a:t>
            </a:r>
            <a:r>
              <a:rPr lang="en-US" altLang="zh-CN" sz="2400" dirty="0"/>
              <a:t>(multi-version concurrency control)</a:t>
            </a:r>
            <a:r>
              <a:rPr lang="zh-CN" altLang="en-US" sz="2400" dirty="0"/>
              <a:t>机制中，</a:t>
            </a:r>
            <a:r>
              <a:rPr lang="zh-CN" altLang="en-US" sz="2400" dirty="0">
                <a:solidFill>
                  <a:srgbClr val="0000FF"/>
                </a:solidFill>
              </a:rPr>
              <a:t>成功的写操作</a:t>
            </a:r>
            <a:r>
              <a:rPr lang="en-US" altLang="zh-CN" sz="2400" dirty="0"/>
              <a:t>(</a:t>
            </a:r>
            <a:r>
              <a:rPr lang="en-US" altLang="zh-CN" sz="2400" b="0" dirty="0"/>
              <a:t>write)</a:t>
            </a:r>
            <a:r>
              <a:rPr lang="zh-CN" altLang="en-US" sz="2400" dirty="0"/>
              <a:t>创建</a:t>
            </a:r>
            <a:r>
              <a:rPr lang="zh-CN" altLang="en-US" sz="2400" dirty="0">
                <a:solidFill>
                  <a:srgbClr val="0000FF"/>
                </a:solidFill>
              </a:rPr>
              <a:t>数据项</a:t>
            </a:r>
            <a:r>
              <a:rPr lang="zh-CN" altLang="en-US" sz="2400" dirty="0"/>
              <a:t>的一个</a:t>
            </a:r>
            <a:r>
              <a:rPr lang="zh-CN" altLang="en-US" sz="2400" dirty="0">
                <a:solidFill>
                  <a:srgbClr val="0000FF"/>
                </a:solidFill>
              </a:rPr>
              <a:t>新的版本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eaLnBrk="1" hangingPunct="1"/>
            <a:r>
              <a:rPr lang="zh-CN" altLang="en-US" sz="2400" dirty="0"/>
              <a:t>当一个事务进入运行状态的时候，整个数据库的所有数据的</a:t>
            </a:r>
            <a:r>
              <a:rPr lang="zh-CN" altLang="en-US" sz="2400" b="1" dirty="0"/>
              <a:t>最新版本是一致</a:t>
            </a:r>
            <a:r>
              <a:rPr lang="zh-CN" altLang="en-US" sz="2400" dirty="0"/>
              <a:t>的。这个事务就在这个一致的数据库之上进行操作。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当提交</a:t>
            </a:r>
            <a:r>
              <a:rPr lang="en-US" altLang="zh-CN" sz="2400" b="0" dirty="0">
                <a:solidFill>
                  <a:srgbClr val="0000FF"/>
                </a:solidFill>
              </a:rPr>
              <a:t>read</a:t>
            </a:r>
            <a:r>
              <a:rPr lang="en-US" altLang="zh-CN" sz="2400" dirty="0">
                <a:solidFill>
                  <a:srgbClr val="0000FF"/>
                </a:solidFill>
              </a:rPr>
              <a:t>(Q)</a:t>
            </a:r>
            <a:r>
              <a:rPr lang="zh-CN" altLang="en-US" sz="2400" dirty="0">
                <a:solidFill>
                  <a:srgbClr val="0000FF"/>
                </a:solidFill>
              </a:rPr>
              <a:t>操作</a:t>
            </a:r>
            <a:r>
              <a:rPr lang="zh-CN" altLang="en-US" sz="2400" dirty="0"/>
              <a:t>时，基于当前</a:t>
            </a:r>
            <a:r>
              <a:rPr lang="zh-CN" altLang="en-US" sz="2400" dirty="0">
                <a:solidFill>
                  <a:srgbClr val="0000FF"/>
                </a:solidFill>
              </a:rPr>
              <a:t>事务的时间戳</a:t>
            </a:r>
            <a:r>
              <a:rPr lang="zh-CN" altLang="en-US" sz="2400" b="1" dirty="0">
                <a:solidFill>
                  <a:srgbClr val="FF0000"/>
                </a:solidFill>
              </a:rPr>
              <a:t>选择</a:t>
            </a:r>
            <a:r>
              <a:rPr lang="zh-CN" altLang="en-US" sz="2400" dirty="0"/>
              <a:t>一个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合适</a:t>
            </a:r>
            <a:r>
              <a:rPr lang="zh-CN" altLang="en-US" sz="2400" dirty="0">
                <a:solidFill>
                  <a:srgbClr val="0000FF"/>
                </a:solidFill>
              </a:rPr>
              <a:t>的版本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B343A-A8B7-4A5F-B23D-E2AD6AD1A876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7240-85F2-492B-84D8-762EF0110923}" type="slidenum">
              <a:rPr lang="en-US" altLang="zh-CN" smtClean="0"/>
            </a:fld>
            <a:r>
              <a:rPr lang="en-US" altLang="zh-CN"/>
              <a:t>/ 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14.7</a:t>
            </a:r>
            <a:r>
              <a:rPr lang="zh-CN" altLang="en-US" sz="3200" dirty="0"/>
              <a:t> 多版本机制</a:t>
            </a:r>
            <a:endParaRPr lang="en-US" altLang="zh-CN" sz="3200" dirty="0"/>
          </a:p>
        </p:txBody>
      </p:sp>
      <p:sp>
        <p:nvSpPr>
          <p:cNvPr id="564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dirty="0"/>
              <a:t>并发控制机制必须保证</a:t>
            </a:r>
            <a:r>
              <a:rPr lang="zh-CN" altLang="en-US" sz="2800" dirty="0">
                <a:solidFill>
                  <a:srgbClr val="0000FF"/>
                </a:solidFill>
              </a:rPr>
              <a:t>用于读取的版本的</a:t>
            </a:r>
            <a:r>
              <a:rPr lang="zh-CN" altLang="en-US" sz="2800" dirty="0">
                <a:solidFill>
                  <a:srgbClr val="FF0000"/>
                </a:solidFill>
              </a:rPr>
              <a:t>选择</a:t>
            </a:r>
            <a:r>
              <a:rPr lang="zh-CN" altLang="en-US" sz="2800" dirty="0"/>
              <a:t>能</a:t>
            </a:r>
            <a:r>
              <a:rPr lang="zh-CN" altLang="en-US" sz="2800" b="1" dirty="0">
                <a:solidFill>
                  <a:srgbClr val="FF0000"/>
                </a:solidFill>
              </a:rPr>
              <a:t>保持可串行性</a:t>
            </a:r>
            <a:r>
              <a:rPr lang="zh-CN" altLang="en-US" sz="2800" dirty="0"/>
              <a:t>。由于性能原因，一个事务能</a:t>
            </a:r>
            <a:r>
              <a:rPr lang="zh-CN" altLang="en-US" sz="2800" b="1" dirty="0">
                <a:solidFill>
                  <a:srgbClr val="0000FF"/>
                </a:solidFill>
              </a:rPr>
              <a:t>容易而快速地判定读取哪个版本</a:t>
            </a:r>
            <a:r>
              <a:rPr lang="zh-CN" altLang="en-US" sz="2800" dirty="0"/>
              <a:t>的数据项是很关键的。</a:t>
            </a:r>
            <a:endParaRPr lang="zh-CN" altLang="en-US" sz="2800" dirty="0"/>
          </a:p>
          <a:p>
            <a:r>
              <a:rPr lang="zh-CN" altLang="en-US" sz="2800" dirty="0"/>
              <a:t>扩展时间戳协议，来定义多版本协议。</a:t>
            </a:r>
            <a:endParaRPr lang="zh-CN" altLang="en-US" sz="280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7D93D-C55C-41F5-83F3-742616251F1E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多版本时间戳序列</a:t>
            </a:r>
            <a:endParaRPr lang="en-US" altLang="zh-CN"/>
          </a:p>
        </p:txBody>
      </p:sp>
      <p:sp>
        <p:nvSpPr>
          <p:cNvPr id="5837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5576" y="1412776"/>
            <a:ext cx="7920880" cy="5184576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400" dirty="0"/>
              <a:t>每个事务有其时间戳</a:t>
            </a:r>
            <a:r>
              <a:rPr lang="en-US" altLang="zh-CN" sz="2400" dirty="0">
                <a:solidFill>
                  <a:srgbClr val="0000FF"/>
                </a:solidFill>
              </a:rPr>
              <a:t>TS(</a:t>
            </a:r>
            <a:r>
              <a:rPr lang="en-US" altLang="zh-CN" sz="2400" dirty="0" err="1">
                <a:solidFill>
                  <a:srgbClr val="0000FF"/>
                </a:solidFill>
              </a:rPr>
              <a:t>T</a:t>
            </a:r>
            <a:r>
              <a:rPr lang="en-US" altLang="zh-CN" sz="2400" baseline="-25000" dirty="0" err="1">
                <a:solidFill>
                  <a:srgbClr val="0000FF"/>
                </a:solidFill>
              </a:rPr>
              <a:t>i</a:t>
            </a:r>
            <a:r>
              <a:rPr lang="en-US" altLang="zh-CN" sz="2400" dirty="0">
                <a:solidFill>
                  <a:srgbClr val="0000FF"/>
                </a:solidFill>
              </a:rPr>
              <a:t>)</a:t>
            </a:r>
            <a:r>
              <a:rPr lang="zh-CN" altLang="en-US" sz="2400" dirty="0">
                <a:solidFill>
                  <a:srgbClr val="0000FF"/>
                </a:solidFill>
              </a:rPr>
              <a:t>；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400" dirty="0"/>
              <a:t>每一个数据项</a:t>
            </a:r>
            <a:r>
              <a:rPr lang="en-US" altLang="zh-CN" sz="2400" dirty="0"/>
              <a:t>Q </a:t>
            </a:r>
            <a:r>
              <a:rPr lang="zh-CN" altLang="en-US" sz="2400" dirty="0"/>
              <a:t>有一个</a:t>
            </a:r>
            <a:r>
              <a:rPr lang="zh-CN" altLang="en-US" sz="2400" b="1" dirty="0">
                <a:solidFill>
                  <a:srgbClr val="0000FF"/>
                </a:solidFill>
              </a:rPr>
              <a:t>版本序列</a:t>
            </a:r>
            <a:r>
              <a:rPr lang="en-US" altLang="zh-CN" sz="2400" dirty="0"/>
              <a:t>&lt;Q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Q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,...., </a:t>
            </a:r>
            <a:r>
              <a:rPr lang="en-US" altLang="zh-CN" sz="2400" dirty="0" err="1"/>
              <a:t>Q</a:t>
            </a:r>
            <a:r>
              <a:rPr lang="en-US" altLang="zh-CN" sz="2400" baseline="-25000" dirty="0" err="1"/>
              <a:t>m</a:t>
            </a:r>
            <a:r>
              <a:rPr lang="en-US" altLang="zh-CN" sz="2400" dirty="0"/>
              <a:t>&gt;</a:t>
            </a:r>
            <a:r>
              <a:rPr lang="zh-CN" altLang="en-US" sz="2400" dirty="0"/>
              <a:t>，</a:t>
            </a:r>
            <a:r>
              <a:rPr lang="zh-CN" altLang="en-US" sz="2400" dirty="0">
                <a:solidFill>
                  <a:srgbClr val="0000FF"/>
                </a:solidFill>
              </a:rPr>
              <a:t>每个版本</a:t>
            </a:r>
            <a:r>
              <a:rPr lang="en-US" altLang="zh-CN" sz="2400" dirty="0" err="1">
                <a:solidFill>
                  <a:srgbClr val="0000FF"/>
                </a:solidFill>
              </a:rPr>
              <a:t>Q</a:t>
            </a:r>
            <a:r>
              <a:rPr lang="en-US" altLang="zh-CN" sz="2400" baseline="-25000" dirty="0" err="1">
                <a:solidFill>
                  <a:srgbClr val="0000FF"/>
                </a:solidFill>
              </a:rPr>
              <a:t>k</a:t>
            </a:r>
            <a:r>
              <a:rPr lang="zh-CN" altLang="en-US" sz="2400" dirty="0"/>
              <a:t>记录三项内容：</a:t>
            </a:r>
            <a:endParaRPr lang="en-US" altLang="zh-CN" sz="2400" dirty="0"/>
          </a:p>
          <a:p>
            <a:pPr lvl="1" eaLnBrk="1" hangingPunct="1">
              <a:lnSpc>
                <a:spcPct val="110000"/>
              </a:lnSpc>
            </a:pPr>
            <a:r>
              <a:rPr lang="en-US" altLang="zh-CN" sz="2000" b="0" dirty="0"/>
              <a:t>Content</a:t>
            </a:r>
            <a:r>
              <a:rPr lang="zh-CN" altLang="en-US" sz="2000" dirty="0"/>
              <a:t>：版本</a:t>
            </a:r>
            <a:r>
              <a:rPr lang="en-US" altLang="zh-CN" sz="2000" dirty="0" err="1"/>
              <a:t>Q</a:t>
            </a:r>
            <a:r>
              <a:rPr lang="en-US" altLang="zh-CN" sz="2000" baseline="-25000" dirty="0" err="1"/>
              <a:t>k</a:t>
            </a:r>
            <a:r>
              <a:rPr lang="zh-CN" altLang="en-US" sz="2000" dirty="0"/>
              <a:t>的内容</a:t>
            </a:r>
            <a:r>
              <a:rPr lang="en-US" altLang="zh-CN" sz="2000" dirty="0"/>
              <a:t>/</a:t>
            </a:r>
            <a:r>
              <a:rPr lang="zh-CN" altLang="en-US" sz="2000" dirty="0"/>
              <a:t>值；</a:t>
            </a:r>
            <a:endParaRPr lang="en-US" altLang="zh-CN" sz="2000" dirty="0"/>
          </a:p>
          <a:p>
            <a:pPr lvl="1" eaLnBrk="1" hangingPunct="1">
              <a:lnSpc>
                <a:spcPct val="110000"/>
              </a:lnSpc>
            </a:pPr>
            <a:r>
              <a:rPr lang="en-US" altLang="zh-CN" sz="2000" b="0" dirty="0"/>
              <a:t>W-timestamp</a:t>
            </a:r>
            <a:r>
              <a:rPr lang="en-US" altLang="zh-CN" sz="2000" dirty="0"/>
              <a:t>(</a:t>
            </a:r>
            <a:r>
              <a:rPr lang="en-US" altLang="zh-CN" sz="2000" dirty="0" err="1"/>
              <a:t>Q</a:t>
            </a:r>
            <a:r>
              <a:rPr lang="en-US" altLang="zh-CN" sz="2000" baseline="-25000" dirty="0" err="1"/>
              <a:t>k</a:t>
            </a:r>
            <a:r>
              <a:rPr lang="en-US" altLang="zh-CN" sz="2000" dirty="0"/>
              <a:t>)</a:t>
            </a:r>
            <a:r>
              <a:rPr lang="zh-CN" altLang="en-US" sz="2000" dirty="0"/>
              <a:t>：</a:t>
            </a:r>
            <a:r>
              <a:rPr lang="zh-CN" altLang="en-US" sz="2000" u="sng" dirty="0"/>
              <a:t>创建版本</a:t>
            </a:r>
            <a:r>
              <a:rPr lang="en-US" altLang="zh-CN" sz="2000" u="sng" dirty="0" err="1"/>
              <a:t>Q</a:t>
            </a:r>
            <a:r>
              <a:rPr lang="en-US" altLang="zh-CN" sz="2000" u="sng" baseline="-25000" dirty="0" err="1"/>
              <a:t>k</a:t>
            </a:r>
            <a:r>
              <a:rPr lang="zh-CN" altLang="en-US" sz="2000" dirty="0">
                <a:solidFill>
                  <a:srgbClr val="0000FF"/>
                </a:solidFill>
              </a:rPr>
              <a:t>事务</a:t>
            </a:r>
            <a:r>
              <a:rPr lang="zh-CN" altLang="en-US" sz="2000" dirty="0"/>
              <a:t>的</a:t>
            </a:r>
            <a:r>
              <a:rPr lang="zh-CN" altLang="en-US" sz="2000" dirty="0">
                <a:solidFill>
                  <a:srgbClr val="0000FF"/>
                </a:solidFill>
              </a:rPr>
              <a:t>时间戳；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zh-CN" sz="2000" b="0" dirty="0"/>
              <a:t>R-timestamp</a:t>
            </a:r>
            <a:r>
              <a:rPr lang="en-US" altLang="zh-CN" sz="2000" dirty="0"/>
              <a:t>(</a:t>
            </a:r>
            <a:r>
              <a:rPr lang="en-US" altLang="zh-CN" sz="2000" dirty="0" err="1"/>
              <a:t>Q</a:t>
            </a:r>
            <a:r>
              <a:rPr lang="en-US" altLang="zh-CN" sz="2000" baseline="-25000" dirty="0" err="1"/>
              <a:t>k</a:t>
            </a:r>
            <a:r>
              <a:rPr lang="en-US" altLang="zh-CN" sz="2000" dirty="0"/>
              <a:t>)</a:t>
            </a:r>
            <a:r>
              <a:rPr lang="zh-CN" altLang="en-US" sz="2000" dirty="0"/>
              <a:t>：成功读取版本</a:t>
            </a:r>
            <a:r>
              <a:rPr lang="en-US" altLang="zh-CN" sz="2000" dirty="0" err="1"/>
              <a:t>Q</a:t>
            </a:r>
            <a:r>
              <a:rPr lang="en-US" altLang="zh-CN" sz="2000" baseline="-25000" dirty="0" err="1"/>
              <a:t>k</a:t>
            </a:r>
            <a:r>
              <a:rPr lang="zh-CN" altLang="en-US" sz="2000" dirty="0"/>
              <a:t>的</a:t>
            </a:r>
            <a:r>
              <a:rPr lang="zh-CN" altLang="en-US" sz="2000" b="1" dirty="0">
                <a:solidFill>
                  <a:srgbClr val="0000FF"/>
                </a:solidFill>
              </a:rPr>
              <a:t>事务集合</a:t>
            </a:r>
            <a:r>
              <a:rPr lang="zh-CN" altLang="en-US" sz="2000" dirty="0"/>
              <a:t>中</a:t>
            </a:r>
            <a:r>
              <a:rPr lang="zh-CN" altLang="en-US" sz="2000" b="1" dirty="0">
                <a:solidFill>
                  <a:srgbClr val="FF0000"/>
                </a:solidFill>
              </a:rPr>
              <a:t>最大</a:t>
            </a:r>
            <a:r>
              <a:rPr lang="zh-CN" altLang="en-US" sz="2000" dirty="0">
                <a:solidFill>
                  <a:srgbClr val="0000FF"/>
                </a:solidFill>
              </a:rPr>
              <a:t>的时间戳；</a:t>
            </a:r>
            <a:endParaRPr lang="zh-CN" altLang="en-US" sz="2000" dirty="0">
              <a:solidFill>
                <a:srgbClr val="0000FF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000" dirty="0"/>
              <a:t>事务</a:t>
            </a:r>
            <a:r>
              <a:rPr lang="en-US" altLang="zh-CN" sz="2000" dirty="0" err="1">
                <a:solidFill>
                  <a:srgbClr val="0000FF"/>
                </a:solidFill>
              </a:rPr>
              <a:t>T</a:t>
            </a:r>
            <a:r>
              <a:rPr lang="en-US" altLang="zh-CN" sz="2000" baseline="-25000" dirty="0" err="1">
                <a:solidFill>
                  <a:srgbClr val="0000FF"/>
                </a:solidFill>
              </a:rPr>
              <a:t>i</a:t>
            </a:r>
            <a:r>
              <a:rPr lang="en-US" altLang="zh-CN" sz="2000" dirty="0">
                <a:solidFill>
                  <a:srgbClr val="0000FF"/>
                </a:solidFill>
              </a:rPr>
              <a:t> </a:t>
            </a:r>
            <a:r>
              <a:rPr lang="zh-CN" altLang="en-US" sz="2000" dirty="0"/>
              <a:t>通过发出</a:t>
            </a:r>
            <a:r>
              <a:rPr lang="en-US" altLang="zh-CN" sz="2000" dirty="0">
                <a:solidFill>
                  <a:srgbClr val="0000FF"/>
                </a:solidFill>
              </a:rPr>
              <a:t>write(Q)</a:t>
            </a:r>
            <a:r>
              <a:rPr lang="zh-CN" altLang="en-US" sz="2000" dirty="0">
                <a:solidFill>
                  <a:srgbClr val="0000FF"/>
                </a:solidFill>
              </a:rPr>
              <a:t>操作来</a:t>
            </a:r>
            <a:r>
              <a:rPr lang="zh-CN" altLang="en-US" sz="2000" dirty="0"/>
              <a:t>创建数据项</a:t>
            </a:r>
            <a:r>
              <a:rPr lang="en-US" altLang="zh-CN" sz="2000" dirty="0"/>
              <a:t>Q</a:t>
            </a:r>
            <a:r>
              <a:rPr lang="zh-CN" altLang="en-US" sz="2000" dirty="0"/>
              <a:t>的一个</a:t>
            </a:r>
            <a:r>
              <a:rPr lang="zh-CN" altLang="en-US" sz="2000" b="1" dirty="0">
                <a:solidFill>
                  <a:srgbClr val="0000FF"/>
                </a:solidFill>
              </a:rPr>
              <a:t>新版本</a:t>
            </a:r>
            <a:r>
              <a:rPr lang="en-US" altLang="zh-CN" sz="2000" b="1" dirty="0" err="1">
                <a:solidFill>
                  <a:srgbClr val="0000FF"/>
                </a:solidFill>
              </a:rPr>
              <a:t>Q</a:t>
            </a:r>
            <a:r>
              <a:rPr lang="en-US" altLang="zh-CN" sz="2000" b="1" baseline="-25000" dirty="0" err="1">
                <a:solidFill>
                  <a:srgbClr val="0000FF"/>
                </a:solidFill>
              </a:rPr>
              <a:t>k</a:t>
            </a:r>
            <a:r>
              <a:rPr lang="zh-CN" altLang="en-US" sz="2000" dirty="0"/>
              <a:t>，</a:t>
            </a:r>
            <a:r>
              <a:rPr lang="en-US" altLang="zh-CN" sz="2000" dirty="0" err="1"/>
              <a:t>Q</a:t>
            </a:r>
            <a:r>
              <a:rPr lang="en-US" altLang="zh-CN" sz="2000" baseline="-25000" dirty="0" err="1"/>
              <a:t>k</a:t>
            </a:r>
            <a:r>
              <a:rPr lang="zh-CN" altLang="en-US" sz="2000" dirty="0"/>
              <a:t>的</a:t>
            </a:r>
            <a:r>
              <a:rPr lang="en-US" altLang="zh-CN" sz="2000" dirty="0"/>
              <a:t>W-timestamp</a:t>
            </a:r>
            <a:r>
              <a:rPr lang="zh-CN" altLang="en-US" sz="2000" dirty="0"/>
              <a:t>和</a:t>
            </a:r>
            <a:r>
              <a:rPr lang="en-US" altLang="zh-CN" sz="2000" dirty="0"/>
              <a:t>R-timestamp</a:t>
            </a:r>
            <a:r>
              <a:rPr lang="zh-CN" altLang="en-US" sz="2000" dirty="0"/>
              <a:t>被</a:t>
            </a:r>
            <a:r>
              <a:rPr lang="zh-CN" altLang="en-US" sz="2000" b="1" dirty="0"/>
              <a:t>初始化</a:t>
            </a:r>
            <a:r>
              <a:rPr lang="zh-CN" altLang="en-US" sz="2000" dirty="0"/>
              <a:t>为该</a:t>
            </a:r>
            <a:r>
              <a:rPr lang="zh-CN" altLang="en-US" sz="2000" b="1" dirty="0"/>
              <a:t>事务</a:t>
            </a:r>
            <a:r>
              <a:rPr lang="zh-CN" altLang="en-US" sz="2000" dirty="0"/>
              <a:t>的时间戳</a:t>
            </a:r>
            <a:r>
              <a:rPr lang="en-US" altLang="zh-CN" sz="2000" dirty="0">
                <a:solidFill>
                  <a:srgbClr val="0000FF"/>
                </a:solidFill>
              </a:rPr>
              <a:t>TS(</a:t>
            </a:r>
            <a:r>
              <a:rPr lang="en-US" altLang="zh-CN" sz="2000" dirty="0" err="1">
                <a:solidFill>
                  <a:srgbClr val="0000FF"/>
                </a:solidFill>
              </a:rPr>
              <a:t>T</a:t>
            </a:r>
            <a:r>
              <a:rPr lang="en-US" altLang="zh-CN" sz="2000" baseline="-25000" dirty="0" err="1">
                <a:solidFill>
                  <a:srgbClr val="0000FF"/>
                </a:solidFill>
              </a:rPr>
              <a:t>i</a:t>
            </a:r>
            <a:r>
              <a:rPr lang="en-US" altLang="zh-CN" sz="2000" dirty="0">
                <a:solidFill>
                  <a:srgbClr val="0000FF"/>
                </a:solidFill>
              </a:rPr>
              <a:t>)</a:t>
            </a:r>
            <a:r>
              <a:rPr lang="zh-CN" altLang="en-US" sz="2000" dirty="0">
                <a:solidFill>
                  <a:srgbClr val="0000FF"/>
                </a:solidFill>
              </a:rPr>
              <a:t>。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000" dirty="0"/>
              <a:t>每当一个事务</a:t>
            </a:r>
            <a:r>
              <a:rPr lang="en-US" altLang="zh-CN" sz="2000" dirty="0" err="1">
                <a:solidFill>
                  <a:srgbClr val="0000FF"/>
                </a:solidFill>
              </a:rPr>
              <a:t>T</a:t>
            </a:r>
            <a:r>
              <a:rPr lang="en-US" altLang="zh-CN" sz="2000" baseline="-25000" dirty="0" err="1">
                <a:solidFill>
                  <a:srgbClr val="0000FF"/>
                </a:solidFill>
              </a:rPr>
              <a:t>j</a:t>
            </a:r>
            <a:r>
              <a:rPr lang="zh-CN" altLang="en-US" sz="2000" dirty="0">
                <a:solidFill>
                  <a:srgbClr val="0000FF"/>
                </a:solidFill>
              </a:rPr>
              <a:t>读取</a:t>
            </a:r>
            <a:r>
              <a:rPr lang="en-US" altLang="zh-CN" sz="2000" b="1" dirty="0" err="1">
                <a:solidFill>
                  <a:srgbClr val="0000FF"/>
                </a:solidFill>
              </a:rPr>
              <a:t>Q</a:t>
            </a:r>
            <a:r>
              <a:rPr lang="en-US" altLang="zh-CN" sz="2000" b="1" baseline="-25000" dirty="0" err="1">
                <a:solidFill>
                  <a:srgbClr val="0000FF"/>
                </a:solidFill>
              </a:rPr>
              <a:t>k</a:t>
            </a:r>
            <a:r>
              <a:rPr lang="zh-CN" altLang="en-US" sz="2000" dirty="0"/>
              <a:t>的值</a:t>
            </a:r>
            <a:r>
              <a:rPr lang="zh-CN" altLang="en-US" sz="2000" dirty="0">
                <a:solidFill>
                  <a:srgbClr val="0000FF"/>
                </a:solidFill>
              </a:rPr>
              <a:t>，</a:t>
            </a:r>
            <a:r>
              <a:rPr lang="zh-CN" altLang="en-US" sz="2000" b="1" dirty="0">
                <a:solidFill>
                  <a:srgbClr val="FF0000"/>
                </a:solidFill>
              </a:rPr>
              <a:t>且</a:t>
            </a:r>
            <a:r>
              <a:rPr lang="en-US" altLang="zh-CN" sz="2000" dirty="0">
                <a:solidFill>
                  <a:srgbClr val="0000FF"/>
                </a:solidFill>
              </a:rPr>
              <a:t>TS(</a:t>
            </a:r>
            <a:r>
              <a:rPr lang="en-US" altLang="zh-CN" sz="2000" dirty="0" err="1">
                <a:solidFill>
                  <a:srgbClr val="0000FF"/>
                </a:solidFill>
              </a:rPr>
              <a:t>T</a:t>
            </a:r>
            <a:r>
              <a:rPr lang="en-US" altLang="zh-CN" sz="2000" baseline="-25000" dirty="0" err="1">
                <a:solidFill>
                  <a:srgbClr val="0000FF"/>
                </a:solidFill>
              </a:rPr>
              <a:t>j</a:t>
            </a:r>
            <a:r>
              <a:rPr lang="en-US" altLang="zh-CN" sz="2000" dirty="0">
                <a:solidFill>
                  <a:srgbClr val="0000FF"/>
                </a:solidFill>
              </a:rPr>
              <a:t>)&gt;</a:t>
            </a:r>
            <a:r>
              <a:rPr lang="en-US" altLang="zh-CN" sz="2000" dirty="0"/>
              <a:t> R-timestamp(</a:t>
            </a:r>
            <a:r>
              <a:rPr lang="en-US" altLang="zh-CN" sz="2000" dirty="0" err="1"/>
              <a:t>Q</a:t>
            </a:r>
            <a:r>
              <a:rPr lang="en-US" altLang="zh-CN" sz="2000" baseline="-25000" dirty="0" err="1"/>
              <a:t>k</a:t>
            </a:r>
            <a:r>
              <a:rPr lang="en-US" altLang="zh-CN" sz="2000" dirty="0"/>
              <a:t>)</a:t>
            </a:r>
            <a:r>
              <a:rPr lang="zh-CN" altLang="en-US" sz="2000" dirty="0"/>
              <a:t>时，系统就</a:t>
            </a:r>
            <a:r>
              <a:rPr lang="zh-CN" altLang="en-US" sz="2000" b="1" dirty="0">
                <a:solidFill>
                  <a:srgbClr val="0000FF"/>
                </a:solidFill>
              </a:rPr>
              <a:t>更新</a:t>
            </a:r>
            <a:r>
              <a:rPr lang="en-US" altLang="zh-CN" sz="2000" dirty="0"/>
              <a:t>R-timestamp(</a:t>
            </a:r>
            <a:r>
              <a:rPr lang="en-US" altLang="zh-CN" sz="2000" dirty="0" err="1"/>
              <a:t>Q</a:t>
            </a:r>
            <a:r>
              <a:rPr lang="en-US" altLang="zh-CN" sz="2000" baseline="-25000" dirty="0" err="1"/>
              <a:t>k</a:t>
            </a:r>
            <a:r>
              <a:rPr lang="en-US" altLang="zh-CN" sz="2000" dirty="0"/>
              <a:t>)</a:t>
            </a:r>
            <a:r>
              <a:rPr lang="zh-CN" altLang="en-US" sz="2000" dirty="0">
                <a:solidFill>
                  <a:srgbClr val="0000FF"/>
                </a:solidFill>
              </a:rPr>
              <a:t>的值。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>
              <a:lnSpc>
                <a:spcPct val="110000"/>
              </a:lnSpc>
            </a:pPr>
            <a:r>
              <a:rPr lang="zh-CN" altLang="en-US" sz="2000" b="1" dirty="0"/>
              <a:t>多版本时间戳序列</a:t>
            </a:r>
            <a:r>
              <a:rPr lang="zh-CN" altLang="en-US" sz="2000" dirty="0"/>
              <a:t>按照</a:t>
            </a:r>
            <a:r>
              <a:rPr lang="zh-CN" altLang="en-US" sz="2000" dirty="0">
                <a:solidFill>
                  <a:srgbClr val="0000FF"/>
                </a:solidFill>
              </a:rPr>
              <a:t>时间戳</a:t>
            </a:r>
            <a:r>
              <a:rPr lang="zh-CN" altLang="en-US" sz="2000" dirty="0"/>
              <a:t>保证</a:t>
            </a:r>
            <a:r>
              <a:rPr lang="zh-CN" altLang="en-US" sz="2000" dirty="0">
                <a:solidFill>
                  <a:srgbClr val="0000FF"/>
                </a:solidFill>
              </a:rPr>
              <a:t>可串行化事务调度。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>
              <a:lnSpc>
                <a:spcPct val="110000"/>
              </a:lnSpc>
            </a:pPr>
            <a:r>
              <a:rPr lang="zh-CN" altLang="en-US" sz="2000" b="1" dirty="0"/>
              <a:t>多版本时间戳排序机制：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 eaLnBrk="1" hangingPunct="1">
              <a:lnSpc>
                <a:spcPct val="110000"/>
              </a:lnSpc>
            </a:pPr>
            <a:endParaRPr lang="en-US" altLang="zh-CN" sz="2000" dirty="0">
              <a:solidFill>
                <a:srgbClr val="0000FF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AC37-6DE6-44CB-A86A-8A21784E5946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7240-85F2-492B-84D8-762EF0110923}" type="slidenum">
              <a:rPr lang="en-US" altLang="zh-CN" smtClean="0"/>
            </a:fld>
            <a:r>
              <a:rPr lang="en-US" altLang="zh-CN"/>
              <a:t>/ 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可串行化保证</a:t>
            </a:r>
            <a:endParaRPr lang="en-US" altLang="zh-CN"/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9057" y="1412776"/>
            <a:ext cx="8059408" cy="5112568"/>
          </a:xfrm>
        </p:spPr>
        <p:txBody>
          <a:bodyPr/>
          <a:lstStyle/>
          <a:p>
            <a:pPr marL="0" indent="0">
              <a:lnSpc>
                <a:spcPct val="130000"/>
              </a:lnSpc>
              <a:buNone/>
            </a:pPr>
            <a:r>
              <a:rPr lang="zh-CN" altLang="en-US" sz="2000" b="1" dirty="0"/>
              <a:t>多版本时间戳排序机制：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sz="2000" dirty="0"/>
              <a:t>假定事务</a:t>
            </a:r>
            <a:r>
              <a:rPr lang="en-US" altLang="zh-CN" sz="2000" dirty="0" err="1"/>
              <a:t>T</a:t>
            </a:r>
            <a:r>
              <a:rPr lang="en-US" altLang="zh-CN" sz="2000" baseline="-25000" dirty="0" err="1"/>
              <a:t>i</a:t>
            </a:r>
            <a:r>
              <a:rPr lang="en-US" altLang="zh-CN" sz="2000" dirty="0"/>
              <a:t> </a:t>
            </a:r>
            <a:r>
              <a:rPr lang="zh-CN" altLang="en-US" sz="2000" dirty="0"/>
              <a:t>发出</a:t>
            </a:r>
            <a:r>
              <a:rPr lang="en-US" altLang="zh-CN" sz="2000" b="0" dirty="0"/>
              <a:t>read</a:t>
            </a:r>
            <a:r>
              <a:rPr lang="en-US" altLang="zh-CN" sz="2000" dirty="0"/>
              <a:t>(Q) </a:t>
            </a:r>
            <a:r>
              <a:rPr lang="zh-CN" altLang="en-US" sz="2000" dirty="0"/>
              <a:t>或者</a:t>
            </a:r>
            <a:r>
              <a:rPr lang="en-US" altLang="zh-CN" sz="2000" b="0" dirty="0"/>
              <a:t>write</a:t>
            </a:r>
            <a:r>
              <a:rPr lang="en-US" altLang="zh-CN" sz="2000" dirty="0"/>
              <a:t>(Q) </a:t>
            </a:r>
            <a:r>
              <a:rPr lang="zh-CN" altLang="en-US" sz="2000" dirty="0"/>
              <a:t>操作。令</a:t>
            </a:r>
            <a:r>
              <a:rPr lang="en-US" altLang="zh-CN" sz="2000" dirty="0" err="1"/>
              <a:t>Q</a:t>
            </a:r>
            <a:r>
              <a:rPr lang="en-US" altLang="zh-CN" sz="2000" baseline="-25000" dirty="0" err="1"/>
              <a:t>k</a:t>
            </a:r>
            <a:r>
              <a:rPr lang="zh-CN" altLang="en-US" sz="2000" dirty="0"/>
              <a:t>表示</a:t>
            </a:r>
            <a:r>
              <a:rPr lang="en-US" altLang="zh-CN" sz="2000" dirty="0"/>
              <a:t>Q</a:t>
            </a:r>
            <a:r>
              <a:rPr lang="zh-CN" altLang="en-US" sz="2000" dirty="0"/>
              <a:t>的一个版本，其</a:t>
            </a:r>
            <a:r>
              <a:rPr lang="en-US" altLang="zh-CN" sz="2000" dirty="0">
                <a:solidFill>
                  <a:srgbClr val="0000FF"/>
                </a:solidFill>
              </a:rPr>
              <a:t>write</a:t>
            </a:r>
            <a:r>
              <a:rPr lang="zh-CN" altLang="en-US" sz="2000" dirty="0"/>
              <a:t>的</a:t>
            </a:r>
            <a:r>
              <a:rPr lang="zh-CN" altLang="en-US" sz="2000" dirty="0">
                <a:solidFill>
                  <a:srgbClr val="0000FF"/>
                </a:solidFill>
              </a:rPr>
              <a:t>时间戳</a:t>
            </a:r>
            <a:r>
              <a:rPr lang="zh-CN" altLang="en-US" sz="2000" dirty="0"/>
              <a:t>是</a:t>
            </a:r>
            <a:r>
              <a:rPr lang="zh-CN" altLang="en-US" sz="2000" b="1" dirty="0">
                <a:solidFill>
                  <a:srgbClr val="0000FF"/>
                </a:solidFill>
              </a:rPr>
              <a:t>小于或等于</a:t>
            </a:r>
            <a:r>
              <a:rPr lang="en-US" altLang="zh-CN" sz="2000" dirty="0"/>
              <a:t>TS(</a:t>
            </a:r>
            <a:r>
              <a:rPr lang="en-US" altLang="zh-CN" sz="2000" dirty="0" err="1"/>
              <a:t>T</a:t>
            </a:r>
            <a:r>
              <a:rPr lang="en-US" altLang="zh-CN" sz="2000" baseline="-25000" dirty="0" err="1"/>
              <a:t>i</a:t>
            </a:r>
            <a:r>
              <a:rPr lang="en-US" altLang="zh-CN" sz="2000" dirty="0"/>
              <a:t>)</a:t>
            </a:r>
            <a:r>
              <a:rPr lang="zh-CN" altLang="en-US" sz="2000" b="1" dirty="0">
                <a:solidFill>
                  <a:srgbClr val="0000FF"/>
                </a:solidFill>
              </a:rPr>
              <a:t> 的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最大值</a:t>
            </a:r>
            <a:r>
              <a:rPr lang="zh-CN" altLang="en-US" sz="2000" b="1" dirty="0">
                <a:solidFill>
                  <a:srgbClr val="0000FF"/>
                </a:solidFill>
              </a:rPr>
              <a:t>时间戳</a:t>
            </a:r>
            <a:r>
              <a:rPr lang="zh-CN" altLang="en-US" sz="2000" b="1" dirty="0">
                <a:solidFill>
                  <a:srgbClr val="FF0000"/>
                </a:solidFill>
              </a:rPr>
              <a:t>。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lvl="1" eaLnBrk="1" hangingPunct="1"/>
            <a:r>
              <a:rPr lang="zh-CN" altLang="en-US" sz="1800" dirty="0"/>
              <a:t>如果</a:t>
            </a:r>
            <a:r>
              <a:rPr lang="en-US" altLang="zh-CN" sz="1800" dirty="0" err="1"/>
              <a:t>T</a:t>
            </a:r>
            <a:r>
              <a:rPr lang="en-US" altLang="zh-CN" sz="1800" baseline="-25000" dirty="0" err="1"/>
              <a:t>i</a:t>
            </a:r>
            <a:r>
              <a:rPr lang="zh-CN" altLang="en-US" sz="1800" dirty="0"/>
              <a:t>发出</a:t>
            </a:r>
            <a:r>
              <a:rPr lang="en-US" altLang="zh-CN" sz="1800" b="0" dirty="0">
                <a:solidFill>
                  <a:srgbClr val="0000FF"/>
                </a:solidFill>
              </a:rPr>
              <a:t>read</a:t>
            </a:r>
            <a:r>
              <a:rPr lang="en-US" altLang="zh-CN" sz="1800" dirty="0">
                <a:solidFill>
                  <a:srgbClr val="0000FF"/>
                </a:solidFill>
              </a:rPr>
              <a:t>(Q)</a:t>
            </a:r>
            <a:r>
              <a:rPr lang="zh-CN" altLang="en-US" sz="1800" dirty="0"/>
              <a:t>命令，则</a:t>
            </a:r>
            <a:r>
              <a:rPr lang="en-US" altLang="zh-CN" sz="1800" dirty="0" err="1"/>
              <a:t>Q</a:t>
            </a:r>
            <a:r>
              <a:rPr lang="en-US" altLang="zh-CN" sz="1800" baseline="-25000" dirty="0" err="1"/>
              <a:t>k</a:t>
            </a:r>
            <a:r>
              <a:rPr lang="zh-CN" altLang="en-US" sz="1800" dirty="0"/>
              <a:t>的内容直接返回，并且若</a:t>
            </a:r>
            <a:r>
              <a:rPr lang="en-US" altLang="zh-CN" sz="1800" dirty="0"/>
              <a:t>TS(</a:t>
            </a:r>
            <a:r>
              <a:rPr lang="en-US" altLang="zh-CN" sz="1800" dirty="0" err="1"/>
              <a:t>T</a:t>
            </a:r>
            <a:r>
              <a:rPr lang="en-US" altLang="zh-CN" sz="1800" baseline="-25000" dirty="0" err="1"/>
              <a:t>i</a:t>
            </a:r>
            <a:r>
              <a:rPr lang="en-US" altLang="zh-CN" sz="1800" dirty="0"/>
              <a:t>) </a:t>
            </a:r>
            <a:r>
              <a:rPr lang="en-US" altLang="zh-CN" sz="1800" dirty="0">
                <a:solidFill>
                  <a:srgbClr val="0000FF"/>
                </a:solidFill>
              </a:rPr>
              <a:t>&gt;</a:t>
            </a:r>
            <a:r>
              <a:rPr lang="en-US" altLang="zh-CN" sz="1800" dirty="0"/>
              <a:t>R-timestamp(</a:t>
            </a:r>
            <a:r>
              <a:rPr lang="en-US" altLang="zh-CN" sz="1800" dirty="0" err="1"/>
              <a:t>Q</a:t>
            </a:r>
            <a:r>
              <a:rPr lang="en-US" altLang="zh-CN" sz="1800" baseline="-25000" dirty="0" err="1"/>
              <a:t>k</a:t>
            </a:r>
            <a:r>
              <a:rPr lang="en-US" altLang="zh-CN" sz="1800" dirty="0"/>
              <a:t>)</a:t>
            </a:r>
            <a:r>
              <a:rPr lang="zh-CN" altLang="en-US" sz="1800" dirty="0"/>
              <a:t>，则</a:t>
            </a:r>
            <a:r>
              <a:rPr lang="en-US" altLang="zh-CN" sz="1800" dirty="0" err="1">
                <a:solidFill>
                  <a:srgbClr val="0000FF"/>
                </a:solidFill>
              </a:rPr>
              <a:t>Q</a:t>
            </a:r>
            <a:r>
              <a:rPr lang="en-US" altLang="zh-CN" sz="1800" baseline="-25000" dirty="0" err="1">
                <a:solidFill>
                  <a:srgbClr val="0000FF"/>
                </a:solidFill>
              </a:rPr>
              <a:t>k</a:t>
            </a:r>
            <a:r>
              <a:rPr lang="zh-CN" altLang="en-US" sz="1800" dirty="0">
                <a:solidFill>
                  <a:srgbClr val="0000FF"/>
                </a:solidFill>
              </a:rPr>
              <a:t>的</a:t>
            </a:r>
            <a:r>
              <a:rPr lang="en-US" altLang="zh-CN" sz="1800" dirty="0">
                <a:solidFill>
                  <a:srgbClr val="0000FF"/>
                </a:solidFill>
              </a:rPr>
              <a:t>R-timestamp</a:t>
            </a:r>
            <a:r>
              <a:rPr lang="zh-CN" altLang="en-US" sz="1800" dirty="0">
                <a:solidFill>
                  <a:srgbClr val="0000FF"/>
                </a:solidFill>
              </a:rPr>
              <a:t>设置为</a:t>
            </a:r>
            <a:r>
              <a:rPr lang="en-US" altLang="zh-CN" sz="1800" dirty="0">
                <a:solidFill>
                  <a:srgbClr val="0000FF"/>
                </a:solidFill>
              </a:rPr>
              <a:t>TS(</a:t>
            </a:r>
            <a:r>
              <a:rPr lang="en-US" altLang="zh-CN" sz="1800" dirty="0" err="1">
                <a:solidFill>
                  <a:srgbClr val="0000FF"/>
                </a:solidFill>
              </a:rPr>
              <a:t>T</a:t>
            </a:r>
            <a:r>
              <a:rPr lang="en-US" altLang="zh-CN" sz="1800" baseline="-25000" dirty="0" err="1">
                <a:solidFill>
                  <a:srgbClr val="0000FF"/>
                </a:solidFill>
              </a:rPr>
              <a:t>i</a:t>
            </a:r>
            <a:r>
              <a:rPr lang="en-US" altLang="zh-CN" sz="1800" dirty="0">
                <a:solidFill>
                  <a:srgbClr val="0000FF"/>
                </a:solidFill>
              </a:rPr>
              <a:t>)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lvl="2"/>
            <a:r>
              <a:rPr lang="en-US" altLang="zh-CN" sz="1600" dirty="0" err="1"/>
              <a:t>Q</a:t>
            </a:r>
            <a:r>
              <a:rPr lang="en-US" altLang="zh-CN" sz="1600" baseline="-25000" dirty="0" err="1"/>
              <a:t>k</a:t>
            </a:r>
            <a:r>
              <a:rPr lang="zh-CN" altLang="en-US" sz="1600" dirty="0"/>
              <a:t>是</a:t>
            </a:r>
            <a:r>
              <a:rPr lang="en-US" altLang="zh-CN" sz="1600" dirty="0" err="1"/>
              <a:t>T</a:t>
            </a:r>
            <a:r>
              <a:rPr lang="en-US" altLang="zh-CN" sz="1600" baseline="-25000" dirty="0" err="1"/>
              <a:t>i</a:t>
            </a:r>
            <a:r>
              <a:rPr lang="zh-CN" altLang="en-US" sz="1600" dirty="0"/>
              <a:t>进入事务处理阶段所看到数据项；事务读取时间上在它之前的</a:t>
            </a:r>
            <a:r>
              <a:rPr lang="zh-CN" altLang="en-US" sz="1600" b="1" dirty="0">
                <a:solidFill>
                  <a:srgbClr val="0000FF"/>
                </a:solidFill>
              </a:rPr>
              <a:t>最新版本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lvl="2"/>
            <a:r>
              <a:rPr lang="zh-CN" altLang="en-US" sz="1600" dirty="0"/>
              <a:t>读操作总是成功的；</a:t>
            </a:r>
            <a:endParaRPr lang="en-US" altLang="zh-CN" sz="1600" dirty="0"/>
          </a:p>
          <a:p>
            <a:pPr lvl="1" eaLnBrk="1" hangingPunct="1"/>
            <a:r>
              <a:rPr lang="zh-CN" altLang="en-US" sz="1800" dirty="0"/>
              <a:t>如果</a:t>
            </a:r>
            <a:r>
              <a:rPr lang="en-US" altLang="zh-CN" sz="1800" dirty="0" err="1"/>
              <a:t>T</a:t>
            </a:r>
            <a:r>
              <a:rPr lang="en-US" altLang="zh-CN" sz="1800" baseline="-25000" dirty="0" err="1"/>
              <a:t>i</a:t>
            </a:r>
            <a:r>
              <a:rPr lang="zh-CN" altLang="en-US" sz="1800" dirty="0"/>
              <a:t>发出</a:t>
            </a:r>
            <a:r>
              <a:rPr lang="en-US" altLang="zh-CN" sz="1800" b="0" dirty="0">
                <a:solidFill>
                  <a:srgbClr val="0000FF"/>
                </a:solidFill>
              </a:rPr>
              <a:t>write</a:t>
            </a:r>
            <a:r>
              <a:rPr lang="en-US" altLang="zh-CN" sz="1800" dirty="0">
                <a:solidFill>
                  <a:srgbClr val="0000FF"/>
                </a:solidFill>
              </a:rPr>
              <a:t>(Q)</a:t>
            </a:r>
            <a:r>
              <a:rPr lang="zh-CN" altLang="en-US" sz="1800" dirty="0"/>
              <a:t>命令，并且</a:t>
            </a:r>
            <a:r>
              <a:rPr lang="zh-CN" altLang="en-US" sz="1800" dirty="0">
                <a:solidFill>
                  <a:srgbClr val="0000FF"/>
                </a:solidFill>
              </a:rPr>
              <a:t>如果</a:t>
            </a:r>
            <a:r>
              <a:rPr lang="en-US" altLang="zh-CN" sz="1800" dirty="0"/>
              <a:t>TS(</a:t>
            </a:r>
            <a:r>
              <a:rPr lang="en-US" altLang="zh-CN" sz="1800" dirty="0" err="1"/>
              <a:t>T</a:t>
            </a:r>
            <a:r>
              <a:rPr lang="en-US" altLang="zh-CN" sz="1800" baseline="-25000" dirty="0" err="1"/>
              <a:t>i</a:t>
            </a:r>
            <a:r>
              <a:rPr lang="en-US" altLang="zh-CN" sz="1800" dirty="0"/>
              <a:t>)&lt;R-timestamp(</a:t>
            </a:r>
            <a:r>
              <a:rPr lang="en-US" altLang="zh-CN" sz="1800" dirty="0" err="1"/>
              <a:t>Q</a:t>
            </a:r>
            <a:r>
              <a:rPr lang="en-US" altLang="zh-CN" sz="1800" baseline="-25000" dirty="0" err="1"/>
              <a:t>k</a:t>
            </a:r>
            <a:r>
              <a:rPr lang="en-US" altLang="zh-CN" sz="1800" dirty="0"/>
              <a:t>)</a:t>
            </a:r>
            <a:r>
              <a:rPr lang="zh-CN" altLang="en-US" sz="1800" dirty="0"/>
              <a:t>，则事务</a:t>
            </a:r>
            <a:r>
              <a:rPr lang="en-US" altLang="zh-CN" sz="1800" dirty="0" err="1"/>
              <a:t>T</a:t>
            </a:r>
            <a:r>
              <a:rPr lang="en-US" altLang="zh-CN" sz="1800" baseline="-25000" dirty="0" err="1"/>
              <a:t>i</a:t>
            </a:r>
            <a:r>
              <a:rPr lang="zh-CN" altLang="en-US" sz="1800" dirty="0"/>
              <a:t>回滚；否则</a:t>
            </a:r>
            <a:r>
              <a:rPr lang="zh-CN" altLang="en-US" sz="1800" dirty="0">
                <a:solidFill>
                  <a:srgbClr val="0000FF"/>
                </a:solidFill>
              </a:rPr>
              <a:t>如果</a:t>
            </a:r>
            <a:r>
              <a:rPr lang="en-US" altLang="zh-CN" sz="1800" dirty="0"/>
              <a:t>TS(T</a:t>
            </a:r>
            <a:r>
              <a:rPr lang="en-US" altLang="zh-CN" sz="1800" baseline="-25000" dirty="0"/>
              <a:t>i</a:t>
            </a:r>
            <a:r>
              <a:rPr lang="en-US" altLang="zh-CN" sz="1800" dirty="0"/>
              <a:t>) =W-timestamp(</a:t>
            </a:r>
            <a:r>
              <a:rPr lang="en-US" altLang="zh-CN" sz="1800" dirty="0" err="1"/>
              <a:t>Q</a:t>
            </a:r>
            <a:r>
              <a:rPr lang="en-US" altLang="zh-CN" sz="1800" baseline="-25000" dirty="0" err="1"/>
              <a:t>k</a:t>
            </a:r>
            <a:r>
              <a:rPr lang="en-US" altLang="zh-CN" sz="1800" dirty="0"/>
              <a:t>)</a:t>
            </a:r>
            <a:r>
              <a:rPr lang="zh-CN" altLang="en-US" sz="1800" dirty="0"/>
              <a:t>，</a:t>
            </a:r>
            <a:r>
              <a:rPr lang="en-US" altLang="zh-CN" sz="1800" dirty="0" err="1"/>
              <a:t>Q</a:t>
            </a:r>
            <a:r>
              <a:rPr lang="en-US" altLang="zh-CN" sz="1800" baseline="-25000" dirty="0" err="1"/>
              <a:t>k</a:t>
            </a:r>
            <a:r>
              <a:rPr lang="zh-CN" altLang="en-US" sz="1800" dirty="0"/>
              <a:t>的内容被覆盖；否则创建一个新的</a:t>
            </a:r>
            <a:r>
              <a:rPr lang="en-US" altLang="zh-CN" sz="1800" dirty="0"/>
              <a:t>Q</a:t>
            </a:r>
            <a:r>
              <a:rPr lang="zh-CN" altLang="en-US" sz="1800" dirty="0"/>
              <a:t>的版本；</a:t>
            </a:r>
            <a:endParaRPr lang="en-US" altLang="zh-CN" sz="1800" dirty="0"/>
          </a:p>
          <a:p>
            <a:pPr lvl="2"/>
            <a:r>
              <a:rPr lang="zh-CN" altLang="en-US" sz="1600" dirty="0"/>
              <a:t>第一个如果，表示一个事务因为写操作太迟，而被强行中止；也即若一个事务试图</a:t>
            </a:r>
            <a:r>
              <a:rPr lang="zh-CN" altLang="en-US" sz="1600" dirty="0">
                <a:solidFill>
                  <a:srgbClr val="0000FF"/>
                </a:solidFill>
              </a:rPr>
              <a:t>写入</a:t>
            </a:r>
            <a:r>
              <a:rPr lang="zh-CN" altLang="en-US" sz="1600" dirty="0"/>
              <a:t>其</a:t>
            </a:r>
            <a:r>
              <a:rPr lang="zh-CN" altLang="en-US" sz="1600" dirty="0">
                <a:solidFill>
                  <a:srgbClr val="0000FF"/>
                </a:solidFill>
              </a:rPr>
              <a:t>后续事务已经读取</a:t>
            </a:r>
            <a:r>
              <a:rPr lang="zh-CN" altLang="en-US" sz="1600" dirty="0"/>
              <a:t>的版本，则</a:t>
            </a:r>
            <a:r>
              <a:rPr lang="zh-CN" altLang="en-US" sz="1600" dirty="0">
                <a:solidFill>
                  <a:srgbClr val="FF0000"/>
                </a:solidFill>
              </a:rPr>
              <a:t>不允许写操作成功；</a:t>
            </a:r>
            <a:endParaRPr lang="en-US" altLang="zh-CN" sz="1600" dirty="0">
              <a:solidFill>
                <a:srgbClr val="FF0000"/>
              </a:solidFill>
            </a:endParaRPr>
          </a:p>
          <a:p>
            <a:pPr lvl="2"/>
            <a:r>
              <a:rPr lang="zh-CN" altLang="en-US" sz="1600" dirty="0">
                <a:solidFill>
                  <a:srgbClr val="FF0000"/>
                </a:solidFill>
              </a:rPr>
              <a:t>更多关于</a:t>
            </a:r>
            <a:r>
              <a:rPr lang="en-US" altLang="zh-CN" sz="1600" dirty="0"/>
              <a:t>W-timestamp(</a:t>
            </a:r>
            <a:r>
              <a:rPr lang="en-US" altLang="zh-CN" sz="1600" dirty="0" err="1"/>
              <a:t>Q</a:t>
            </a:r>
            <a:r>
              <a:rPr lang="en-US" altLang="zh-CN" sz="1600" baseline="-25000" dirty="0" err="1"/>
              <a:t>k</a:t>
            </a:r>
            <a:r>
              <a:rPr lang="en-US" altLang="zh-CN" sz="1600" dirty="0"/>
              <a:t>)</a:t>
            </a:r>
            <a:r>
              <a:rPr lang="zh-CN" altLang="en-US" sz="1600" dirty="0"/>
              <a:t>的信息，参考教材。</a:t>
            </a:r>
            <a:endParaRPr lang="en-US" altLang="zh-CN" sz="1600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FBAE-89F8-42FC-839D-6327B2DD9FC1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7240-85F2-492B-84D8-762EF0110923}" type="slidenum">
              <a:rPr lang="en-US" altLang="zh-CN" smtClean="0"/>
            </a:fld>
            <a:r>
              <a:rPr lang="en-US" altLang="zh-CN"/>
              <a:t>/ 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多版本时间戳序列 示例</a:t>
            </a:r>
            <a:endParaRPr lang="zh-CN" altLang="en-US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571500" y="1833563"/>
            <a:ext cx="1408113" cy="502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i="0" dirty="0"/>
              <a:t> </a:t>
            </a:r>
            <a:r>
              <a:rPr lang="en-US" altLang="zh-CN" sz="2500" b="0" i="0" dirty="0"/>
              <a:t>T</a:t>
            </a:r>
            <a:r>
              <a:rPr lang="en-US" altLang="zh-CN" sz="2500" b="0" i="0" baseline="-25000" dirty="0"/>
              <a:t>1</a:t>
            </a:r>
            <a:endParaRPr lang="en-US" altLang="zh-CN" sz="2500" b="0" i="0" baseline="-25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b="0" i="0" dirty="0"/>
              <a:t>100</a:t>
            </a:r>
            <a:endParaRPr lang="en-US" altLang="zh-CN" sz="2500" b="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500" b="0" i="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b="0" i="0" dirty="0"/>
              <a:t>Read A</a:t>
            </a:r>
            <a:endParaRPr lang="en-US" altLang="zh-CN" sz="2500" b="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b="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b="0" i="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b="0" i="0" dirty="0">
                <a:solidFill>
                  <a:schemeClr val="accent2">
                    <a:lumMod val="75000"/>
                  </a:schemeClr>
                </a:solidFill>
              </a:rPr>
              <a:t>Read B</a:t>
            </a:r>
            <a:endParaRPr lang="en-US" altLang="zh-CN" sz="2500" b="0" i="0" dirty="0">
              <a:solidFill>
                <a:schemeClr val="accent2">
                  <a:lumMod val="75000"/>
                </a:schemeClr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b="0" i="0" dirty="0">
                <a:solidFill>
                  <a:srgbClr val="660066"/>
                </a:solidFill>
              </a:rPr>
              <a:t>Write A</a:t>
            </a:r>
            <a:endParaRPr lang="en-US" altLang="zh-CN" sz="2500" b="0" i="0" dirty="0">
              <a:solidFill>
                <a:srgbClr val="660066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b="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500" i="0" dirty="0"/>
          </a:p>
        </p:txBody>
      </p:sp>
      <p:sp>
        <p:nvSpPr>
          <p:cNvPr id="60421" name="Rectangle 5"/>
          <p:cNvSpPr>
            <a:spLocks noChangeArrowheads="1"/>
          </p:cNvSpPr>
          <p:nvPr/>
        </p:nvSpPr>
        <p:spPr bwMode="auto">
          <a:xfrm>
            <a:off x="3549650" y="1836738"/>
            <a:ext cx="1517650" cy="502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b="0" i="0" dirty="0"/>
              <a:t>A</a:t>
            </a:r>
            <a:r>
              <a:rPr lang="en-US" altLang="zh-CN" sz="2500" b="0" i="0" baseline="-25000" dirty="0"/>
              <a:t>0</a:t>
            </a:r>
            <a:endParaRPr lang="en-US" altLang="zh-CN" sz="2500" b="0" i="0" baseline="-25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b="0" i="0" dirty="0"/>
              <a:t>RT=0</a:t>
            </a:r>
            <a:endParaRPr lang="en-US" altLang="zh-CN" sz="2500" b="0" i="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b="0" i="0" dirty="0"/>
              <a:t>WT=0</a:t>
            </a:r>
            <a:endParaRPr lang="en-US" altLang="zh-CN" sz="2500" b="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b="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b="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b="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i="0" dirty="0"/>
          </a:p>
        </p:txBody>
      </p:sp>
      <p:sp>
        <p:nvSpPr>
          <p:cNvPr id="60422" name="Rectangle 6"/>
          <p:cNvSpPr>
            <a:spLocks noChangeArrowheads="1"/>
          </p:cNvSpPr>
          <p:nvPr/>
        </p:nvSpPr>
        <p:spPr bwMode="auto">
          <a:xfrm>
            <a:off x="4922838" y="1833563"/>
            <a:ext cx="1563687" cy="502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b="0" i="0" dirty="0"/>
              <a:t>A</a:t>
            </a:r>
            <a:r>
              <a:rPr lang="en-US" altLang="zh-CN" sz="2500" b="0" i="0" baseline="-25000" dirty="0"/>
              <a:t>1</a:t>
            </a:r>
            <a:endParaRPr lang="en-US" altLang="zh-CN" sz="2500" b="0" i="0" baseline="-250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b="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b="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b="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b="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b="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b="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b="0" i="0" dirty="0"/>
          </a:p>
        </p:txBody>
      </p:sp>
      <p:sp>
        <p:nvSpPr>
          <p:cNvPr id="60423" name="Line 7"/>
          <p:cNvSpPr>
            <a:spLocks noChangeShapeType="1"/>
          </p:cNvSpPr>
          <p:nvPr/>
        </p:nvSpPr>
        <p:spPr bwMode="auto">
          <a:xfrm flipV="1">
            <a:off x="471488" y="2276872"/>
            <a:ext cx="8672512" cy="14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4" name="Line 8"/>
          <p:cNvSpPr>
            <a:spLocks noChangeShapeType="1"/>
          </p:cNvSpPr>
          <p:nvPr/>
        </p:nvSpPr>
        <p:spPr bwMode="auto">
          <a:xfrm flipV="1">
            <a:off x="444500" y="3068960"/>
            <a:ext cx="8672513" cy="14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5" name="Rectangle 9"/>
          <p:cNvSpPr>
            <a:spLocks noChangeArrowheads="1"/>
          </p:cNvSpPr>
          <p:nvPr/>
        </p:nvSpPr>
        <p:spPr bwMode="auto">
          <a:xfrm>
            <a:off x="2062163" y="1868488"/>
            <a:ext cx="1408112" cy="502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i="0" dirty="0"/>
              <a:t> </a:t>
            </a:r>
            <a:r>
              <a:rPr lang="en-US" altLang="zh-CN" sz="2500" b="0" i="0" dirty="0"/>
              <a:t>T</a:t>
            </a:r>
            <a:r>
              <a:rPr lang="en-US" altLang="zh-CN" sz="2500" b="0" i="0" baseline="-25000" dirty="0"/>
              <a:t>2</a:t>
            </a:r>
            <a:endParaRPr lang="en-US" altLang="zh-CN" sz="2500" b="0" i="0" baseline="-25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b="0" i="0" dirty="0">
                <a:solidFill>
                  <a:srgbClr val="FF0000"/>
                </a:solidFill>
              </a:rPr>
              <a:t>200</a:t>
            </a:r>
            <a:endParaRPr lang="en-US" altLang="zh-CN" sz="2500" b="0" i="0" dirty="0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500" b="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b="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b="0" i="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b="0" i="0" dirty="0"/>
              <a:t>Write B</a:t>
            </a:r>
            <a:endParaRPr lang="en-US" altLang="zh-CN" sz="2500" b="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b="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b="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500" i="0" dirty="0"/>
          </a:p>
        </p:txBody>
      </p:sp>
      <p:sp>
        <p:nvSpPr>
          <p:cNvPr id="60426" name="Rectangle 10"/>
          <p:cNvSpPr>
            <a:spLocks noChangeArrowheads="1"/>
          </p:cNvSpPr>
          <p:nvPr/>
        </p:nvSpPr>
        <p:spPr bwMode="auto">
          <a:xfrm>
            <a:off x="6408738" y="1846263"/>
            <a:ext cx="1495425" cy="502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b="0" i="0" dirty="0"/>
              <a:t>B</a:t>
            </a:r>
            <a:r>
              <a:rPr lang="en-US" altLang="zh-CN" sz="2500" b="0" i="0" baseline="-25000" dirty="0"/>
              <a:t>0</a:t>
            </a:r>
            <a:endParaRPr lang="en-US" altLang="zh-CN" sz="2500" b="0" i="0" baseline="-25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b="0" i="0" dirty="0"/>
              <a:t>RT=0</a:t>
            </a:r>
            <a:endParaRPr lang="en-US" altLang="zh-CN" sz="2500" b="0" i="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b="0" i="0" dirty="0"/>
              <a:t>WT=0</a:t>
            </a:r>
            <a:endParaRPr lang="en-US" altLang="zh-CN" sz="2500" b="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b="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b="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b="0" i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b="0" i="0" dirty="0">
              <a:solidFill>
                <a:schemeClr val="tx2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b="0" i="0" dirty="0"/>
          </a:p>
        </p:txBody>
      </p:sp>
      <p:sp>
        <p:nvSpPr>
          <p:cNvPr id="60427" name="Rectangle 11"/>
          <p:cNvSpPr>
            <a:spLocks noChangeArrowheads="1"/>
          </p:cNvSpPr>
          <p:nvPr/>
        </p:nvSpPr>
        <p:spPr bwMode="auto">
          <a:xfrm>
            <a:off x="7580313" y="1851025"/>
            <a:ext cx="1563687" cy="502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b="0" i="0" dirty="0">
                <a:solidFill>
                  <a:srgbClr val="0000FF"/>
                </a:solidFill>
              </a:rPr>
              <a:t>B</a:t>
            </a:r>
            <a:r>
              <a:rPr lang="en-US" altLang="zh-CN" sz="2500" b="0" i="0" baseline="-25000" dirty="0">
                <a:solidFill>
                  <a:srgbClr val="0000FF"/>
                </a:solidFill>
              </a:rPr>
              <a:t>1</a:t>
            </a:r>
            <a:endParaRPr lang="en-US" altLang="zh-CN" sz="2500" b="0" i="0" baseline="-25000" dirty="0">
              <a:solidFill>
                <a:srgbClr val="0000FF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b="0" i="0" dirty="0">
              <a:solidFill>
                <a:srgbClr val="0000FF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b="0" i="0" dirty="0">
              <a:solidFill>
                <a:srgbClr val="0000FF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b="0" i="0" dirty="0">
              <a:solidFill>
                <a:srgbClr val="0000FF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b="0" i="0" dirty="0">
              <a:solidFill>
                <a:srgbClr val="0000FF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b="0" i="0" dirty="0">
              <a:solidFill>
                <a:srgbClr val="0000FF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500" b="0" i="0" dirty="0">
              <a:solidFill>
                <a:srgbClr val="0000FF"/>
              </a:solidFill>
            </a:endParaRPr>
          </a:p>
        </p:txBody>
      </p:sp>
      <p:sp>
        <p:nvSpPr>
          <p:cNvPr id="60428" name="Line 14"/>
          <p:cNvSpPr>
            <a:spLocks noChangeShapeType="1"/>
          </p:cNvSpPr>
          <p:nvPr/>
        </p:nvSpPr>
        <p:spPr bwMode="auto">
          <a:xfrm flipH="1">
            <a:off x="3387725" y="1501775"/>
            <a:ext cx="14288" cy="5154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5232" name="Text Box 1024"/>
          <p:cNvSpPr txBox="1">
            <a:spLocks noChangeArrowheads="1"/>
          </p:cNvSpPr>
          <p:nvPr/>
        </p:nvSpPr>
        <p:spPr bwMode="auto">
          <a:xfrm>
            <a:off x="3384550" y="3140968"/>
            <a:ext cx="15795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500" b="0" i="0" dirty="0">
                <a:latin typeface="Helvetica" panose="020B0604020202020204" pitchFamily="34" charset="0"/>
              </a:rPr>
              <a:t>RT=100</a:t>
            </a:r>
            <a:endParaRPr lang="zh-CN" altLang="en-US" sz="2500" b="0" i="0" dirty="0">
              <a:latin typeface="Helvetica" panose="020B0604020202020204" pitchFamily="34" charset="0"/>
            </a:endParaRPr>
          </a:p>
        </p:txBody>
      </p:sp>
      <p:sp>
        <p:nvSpPr>
          <p:cNvPr id="735233" name="Text Box 1025"/>
          <p:cNvSpPr txBox="1">
            <a:spLocks noChangeArrowheads="1"/>
          </p:cNvSpPr>
          <p:nvPr/>
        </p:nvSpPr>
        <p:spPr bwMode="auto">
          <a:xfrm>
            <a:off x="7552259" y="3963620"/>
            <a:ext cx="157956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400" b="0" i="0" dirty="0">
                <a:solidFill>
                  <a:srgbClr val="0000FF"/>
                </a:solidFill>
              </a:rPr>
              <a:t>RT=200</a:t>
            </a:r>
            <a:endParaRPr lang="en-US" altLang="zh-CN" sz="2400" b="0" i="0" dirty="0">
              <a:solidFill>
                <a:srgbClr val="0000FF"/>
              </a:solidFill>
              <a:latin typeface="Helvetica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400" b="0" i="0" dirty="0">
                <a:solidFill>
                  <a:srgbClr val="0000FF"/>
                </a:solidFill>
                <a:latin typeface="Helvetica" panose="020B0604020202020204" pitchFamily="34" charset="0"/>
              </a:rPr>
              <a:t>WT=200</a:t>
            </a:r>
            <a:endParaRPr lang="zh-CN" altLang="en-US" sz="2400" b="0" i="0" dirty="0">
              <a:solidFill>
                <a:srgbClr val="0000FF"/>
              </a:solidFill>
              <a:latin typeface="Helvetica" panose="020B0604020202020204" pitchFamily="34" charset="0"/>
            </a:endParaRPr>
          </a:p>
        </p:txBody>
      </p:sp>
      <p:sp>
        <p:nvSpPr>
          <p:cNvPr id="735234" name="Text Box 1026"/>
          <p:cNvSpPr txBox="1">
            <a:spLocks noChangeArrowheads="1"/>
          </p:cNvSpPr>
          <p:nvPr/>
        </p:nvSpPr>
        <p:spPr bwMode="auto">
          <a:xfrm>
            <a:off x="6295853" y="4544158"/>
            <a:ext cx="1579563" cy="438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500" b="0" i="0" dirty="0">
                <a:solidFill>
                  <a:schemeClr val="accent2">
                    <a:lumMod val="75000"/>
                  </a:schemeClr>
                </a:solidFill>
                <a:latin typeface="Helvetica" panose="020B0604020202020204" pitchFamily="34" charset="0"/>
              </a:rPr>
              <a:t>RT=100</a:t>
            </a:r>
            <a:endParaRPr lang="zh-CN" altLang="en-US" sz="2500" b="0" i="0" dirty="0">
              <a:solidFill>
                <a:schemeClr val="accent2">
                  <a:lumMod val="75000"/>
                </a:schemeClr>
              </a:solidFill>
              <a:latin typeface="Helvetica" panose="020B0604020202020204" pitchFamily="34" charset="0"/>
            </a:endParaRPr>
          </a:p>
        </p:txBody>
      </p:sp>
      <p:sp>
        <p:nvSpPr>
          <p:cNvPr id="735235" name="Text Box 1027"/>
          <p:cNvSpPr txBox="1">
            <a:spLocks noChangeArrowheads="1"/>
          </p:cNvSpPr>
          <p:nvPr/>
        </p:nvSpPr>
        <p:spPr bwMode="auto">
          <a:xfrm>
            <a:off x="4570221" y="4951310"/>
            <a:ext cx="1579562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500" b="0" i="0" dirty="0">
                <a:solidFill>
                  <a:srgbClr val="660066"/>
                </a:solidFill>
              </a:rPr>
              <a:t>RT=100</a:t>
            </a:r>
            <a:endParaRPr lang="en-US" altLang="zh-CN" sz="2500" b="0" i="0" dirty="0">
              <a:solidFill>
                <a:srgbClr val="660066"/>
              </a:solidFill>
              <a:latin typeface="Helvetica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500" b="0" i="0" dirty="0">
                <a:solidFill>
                  <a:srgbClr val="660066"/>
                </a:solidFill>
                <a:latin typeface="Helvetica" panose="020B0604020202020204" pitchFamily="34" charset="0"/>
              </a:rPr>
              <a:t>WT=100</a:t>
            </a:r>
            <a:endParaRPr lang="zh-CN" altLang="en-US" sz="2500" b="0" i="0" dirty="0">
              <a:solidFill>
                <a:srgbClr val="660066"/>
              </a:solidFill>
              <a:latin typeface="Helvetica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262208" y="1408831"/>
            <a:ext cx="2375971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版本号：</a:t>
            </a:r>
            <a:r>
              <a:rPr lang="en-US" altLang="zh-CN" dirty="0">
                <a:solidFill>
                  <a:srgbClr val="FF0000"/>
                </a:solidFill>
              </a:rPr>
              <a:t>0,1……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BE556-DC94-4813-837A-643200C09ADE}" type="datetime1">
              <a:rPr lang="zh-CN" altLang="en-US" smtClean="0"/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5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35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35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35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5232" grpId="0"/>
      <p:bldP spid="735233" grpId="0"/>
      <p:bldP spid="735234" grpId="0"/>
      <p:bldP spid="735235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本章目录</a:t>
            </a:r>
            <a:endParaRPr lang="zh-CN" altLang="en-US"/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39888"/>
            <a:ext cx="7583488" cy="4532312"/>
          </a:xfrm>
        </p:spPr>
        <p:txBody>
          <a:bodyPr/>
          <a:lstStyle/>
          <a:p>
            <a:r>
              <a:rPr lang="en-US" altLang="zh-CN" sz="2800" dirty="0"/>
              <a:t>14.1 </a:t>
            </a:r>
            <a:r>
              <a:rPr lang="zh-CN" altLang="en-US" sz="2800" dirty="0"/>
              <a:t>基于锁的协议</a:t>
            </a:r>
            <a:endParaRPr lang="zh-CN" altLang="en-US" sz="2800" dirty="0"/>
          </a:p>
          <a:p>
            <a:r>
              <a:rPr lang="en-US" altLang="zh-CN" sz="2800" dirty="0"/>
              <a:t>14.2 </a:t>
            </a:r>
            <a:r>
              <a:rPr lang="zh-CN" altLang="en-US" sz="2800" dirty="0"/>
              <a:t>死锁处理</a:t>
            </a:r>
            <a:endParaRPr lang="zh-CN" altLang="en-US" sz="2800" dirty="0">
              <a:solidFill>
                <a:srgbClr val="CC0000"/>
              </a:solidFill>
            </a:endParaRPr>
          </a:p>
          <a:p>
            <a:r>
              <a:rPr lang="en-US" altLang="zh-CN" sz="2800" dirty="0"/>
              <a:t>14.3 </a:t>
            </a:r>
            <a:r>
              <a:rPr lang="zh-CN" altLang="en-US" sz="2800" dirty="0"/>
              <a:t>多粒度</a:t>
            </a:r>
            <a:endParaRPr lang="zh-CN" altLang="en-US" sz="2800" dirty="0"/>
          </a:p>
          <a:p>
            <a:r>
              <a:rPr lang="en-US" altLang="zh-CN" sz="2800" dirty="0"/>
              <a:t>14.4 </a:t>
            </a:r>
            <a:r>
              <a:rPr lang="zh-CN" altLang="en-US" sz="2800" dirty="0"/>
              <a:t>插入操作、删除操作与谓词读</a:t>
            </a:r>
            <a:endParaRPr lang="zh-CN" altLang="en-US" sz="2800" dirty="0"/>
          </a:p>
          <a:p>
            <a:r>
              <a:rPr lang="en-US" altLang="zh-CN" sz="2800" dirty="0"/>
              <a:t>14.5 </a:t>
            </a:r>
            <a:r>
              <a:rPr lang="zh-CN" altLang="en-US" sz="2800" dirty="0"/>
              <a:t>基于时间戳的协议</a:t>
            </a:r>
            <a:endParaRPr lang="zh-CN" altLang="en-US" sz="2800" dirty="0"/>
          </a:p>
          <a:p>
            <a:r>
              <a:rPr lang="en-US" altLang="zh-CN" sz="2800" dirty="0"/>
              <a:t>14.6 </a:t>
            </a:r>
            <a:r>
              <a:rPr lang="zh-CN" altLang="en-US" sz="2800" dirty="0"/>
              <a:t>基于有效性检查的协议</a:t>
            </a:r>
            <a:endParaRPr lang="en-US" altLang="zh-CN" sz="2800" dirty="0"/>
          </a:p>
          <a:p>
            <a:r>
              <a:rPr lang="en-US" altLang="zh-CN" sz="2800" dirty="0"/>
              <a:t>14.7</a:t>
            </a:r>
            <a:r>
              <a:rPr lang="zh-CN" altLang="en-US" sz="2800" dirty="0"/>
              <a:t> 多版本机制</a:t>
            </a:r>
            <a:endParaRPr lang="en-US" altLang="zh-CN" sz="2800" dirty="0"/>
          </a:p>
          <a:p>
            <a:r>
              <a:rPr lang="en-US" altLang="zh-CN" sz="2800" dirty="0"/>
              <a:t>14.8 </a:t>
            </a:r>
            <a:r>
              <a:rPr lang="zh-CN" altLang="en-US" sz="2800" dirty="0"/>
              <a:t>故障分类</a:t>
            </a:r>
            <a:endParaRPr lang="en-US" altLang="zh-CN" sz="2800" dirty="0"/>
          </a:p>
        </p:txBody>
      </p:sp>
      <p:sp>
        <p:nvSpPr>
          <p:cNvPr id="253956" name="AutoShape 4"/>
          <p:cNvSpPr>
            <a:spLocks noChangeArrowheads="1"/>
          </p:cNvSpPr>
          <p:nvPr/>
        </p:nvSpPr>
        <p:spPr bwMode="auto">
          <a:xfrm>
            <a:off x="914400" y="5301208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9E406-2899-40D2-9422-9047800B5776}" type="datetime1">
              <a:rPr lang="zh-CN" altLang="en-US" smtClean="0"/>
            </a:fld>
            <a:endParaRPr lang="en-US" altLang="zh-CN"/>
          </a:p>
        </p:txBody>
      </p:sp>
      <p:sp>
        <p:nvSpPr>
          <p:cNvPr id="4" name="TextBox 3"/>
          <p:cNvSpPr txBox="1"/>
          <p:nvPr/>
        </p:nvSpPr>
        <p:spPr>
          <a:xfrm>
            <a:off x="4139952" y="5301208"/>
            <a:ext cx="1443024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</a:t>
            </a:r>
            <a:r>
              <a:rPr lang="zh-CN" altLang="en-US" dirty="0"/>
              <a:t>见</a:t>
            </a:r>
            <a:r>
              <a:rPr lang="en-US" altLang="zh-CN"/>
              <a:t>part2)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6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latin typeface="Comic Sans MS" panose="030F0702030302020204" pitchFamily="66" charset="0"/>
              </a:rPr>
              <a:t>Any Question?</a:t>
            </a:r>
            <a:endParaRPr lang="en-US" altLang="zh-CN" b="1">
              <a:latin typeface="Comic Sans MS" panose="030F0702030302020204" pitchFamily="66" charset="0"/>
            </a:endParaRP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4140200" y="2781300"/>
            <a:ext cx="330200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800" b="1" i="1">
                <a:solidFill>
                  <a:schemeClr val="hlink"/>
                </a:solidFill>
                <a:latin typeface="Times New Roman" panose="02020603050405020304" pitchFamily="18" charset="0"/>
              </a:rPr>
              <a:t>Thank you !</a:t>
            </a:r>
            <a:endParaRPr lang="en-US" altLang="zh-CN" sz="4800" b="1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244" name="Picture 4" descr="smil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133600"/>
            <a:ext cx="22098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09437-4602-46A1-9DA8-C8E949B39BBC}" type="datetime1">
              <a:rPr lang="zh-CN" altLang="en-US" smtClean="0"/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第11章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0990F-CFD2-4E3E-9B0E-DA23AF729A97}" type="slidenum">
              <a:rPr lang="en-US" altLang="zh-CN" smtClean="0"/>
            </a:fld>
            <a:r>
              <a:rPr lang="en-US" altLang="zh-CN"/>
              <a:t>/79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2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3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4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5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6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7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8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9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10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11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12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13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14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15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16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17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18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19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20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21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22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23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24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25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26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27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28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29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30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31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32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33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34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35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36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37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38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39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40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41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42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43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44.xml><?xml version="1.0" encoding="utf-8"?>
<p:tagLst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45.xml><?xml version="1.0" encoding="utf-8"?>
<p:tagLst xmlns:p="http://schemas.openxmlformats.org/presentationml/2006/main">
  <p:tag name="ARS_PPT_DBNAME" val="ecd6dc15-f5ee-408e-b117-dbba52a9616a.mdb"/>
  <p:tag name="ARS_RESPONSE_PERSONNUM" val="100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None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None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  <a:cs typeface="Arial" panose="020B0604020202020204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ld2009</Template>
  <TotalTime>0</TotalTime>
  <Words>16644</Words>
  <Application>WPS 演示</Application>
  <PresentationFormat>全屏显示(4:3)</PresentationFormat>
  <Paragraphs>1824</Paragraphs>
  <Slides>79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79</vt:i4>
      </vt:variant>
    </vt:vector>
  </HeadingPairs>
  <TitlesOfParts>
    <vt:vector size="97" baseType="lpstr">
      <vt:lpstr>Arial</vt:lpstr>
      <vt:lpstr>宋体</vt:lpstr>
      <vt:lpstr>Wingdings</vt:lpstr>
      <vt:lpstr>Tahoma</vt:lpstr>
      <vt:lpstr>Times New Roman</vt:lpstr>
      <vt:lpstr>楷体_GB2312</vt:lpstr>
      <vt:lpstr>新宋体</vt:lpstr>
      <vt:lpstr>Verdana</vt:lpstr>
      <vt:lpstr>Helvetica</vt:lpstr>
      <vt:lpstr>微软雅黑</vt:lpstr>
      <vt:lpstr>Arial Unicode MS</vt:lpstr>
      <vt:lpstr>Courier New</vt:lpstr>
      <vt:lpstr>Arial</vt:lpstr>
      <vt:lpstr>Symbol</vt:lpstr>
      <vt:lpstr>Comic Sans MS</vt:lpstr>
      <vt:lpstr>Book Antiqua</vt:lpstr>
      <vt:lpstr>Blends</vt:lpstr>
      <vt:lpstr>Word.Picture.8</vt:lpstr>
      <vt:lpstr>数据库系统原理  Database System Principles</vt:lpstr>
      <vt:lpstr>第14章 并发控制与恢复</vt:lpstr>
      <vt:lpstr>本章目录</vt:lpstr>
      <vt:lpstr>本章目录</vt:lpstr>
      <vt:lpstr>并发控制</vt:lpstr>
      <vt:lpstr>14.1 基于锁的协议</vt:lpstr>
      <vt:lpstr>封锁的基本类型</vt:lpstr>
      <vt:lpstr>封锁的基本类型</vt:lpstr>
      <vt:lpstr>14.1 基于锁的协议</vt:lpstr>
      <vt:lpstr>14.1 基于锁的协议</vt:lpstr>
      <vt:lpstr>14.1 基于锁的协议</vt:lpstr>
      <vt:lpstr>14.1 基于锁的协议</vt:lpstr>
      <vt:lpstr>14.1 基于锁的协议</vt:lpstr>
      <vt:lpstr>14.1 基于锁的协议</vt:lpstr>
      <vt:lpstr>14.1 基于锁的协议</vt:lpstr>
      <vt:lpstr>14.1 基于锁的协议</vt:lpstr>
      <vt:lpstr>14.1 基于锁的协议</vt:lpstr>
      <vt:lpstr>14.1 基于锁的协议</vt:lpstr>
      <vt:lpstr>14.1 基于锁的协议</vt:lpstr>
      <vt:lpstr>14.1 基于锁的协议</vt:lpstr>
      <vt:lpstr>两段锁协议（2PL）</vt:lpstr>
      <vt:lpstr>两段锁协议（2PL）</vt:lpstr>
      <vt:lpstr>两段锁协议（2PL）</vt:lpstr>
      <vt:lpstr>两段锁协议（2PL）</vt:lpstr>
      <vt:lpstr>两段锁协议（2PL）</vt:lpstr>
      <vt:lpstr>两段锁协议（2PL）</vt:lpstr>
      <vt:lpstr>两段锁协议（2PL）</vt:lpstr>
      <vt:lpstr>本章目录</vt:lpstr>
      <vt:lpstr>14.2 死锁处理</vt:lpstr>
      <vt:lpstr>14.2 死锁处理</vt:lpstr>
      <vt:lpstr>14.2 死锁处理</vt:lpstr>
      <vt:lpstr>14.2 死锁处理</vt:lpstr>
      <vt:lpstr>14.2 死锁处理</vt:lpstr>
      <vt:lpstr>14.2 死锁处理</vt:lpstr>
      <vt:lpstr>14.2 死锁处理</vt:lpstr>
      <vt:lpstr>14.2 死锁处理</vt:lpstr>
      <vt:lpstr>14.2 死锁处理</vt:lpstr>
      <vt:lpstr>14.2 死锁处理</vt:lpstr>
      <vt:lpstr>本章目录</vt:lpstr>
      <vt:lpstr>14.3 多粒度</vt:lpstr>
      <vt:lpstr>14.3 多粒度</vt:lpstr>
      <vt:lpstr>14.3 多粒度</vt:lpstr>
      <vt:lpstr>14.3 多粒度</vt:lpstr>
      <vt:lpstr>显式封锁和隐式封锁</vt:lpstr>
      <vt:lpstr>显式封锁和隐式封锁</vt:lpstr>
      <vt:lpstr>意向锁</vt:lpstr>
      <vt:lpstr>意向锁</vt:lpstr>
      <vt:lpstr>相容性矩阵</vt:lpstr>
      <vt:lpstr>本章目录</vt:lpstr>
      <vt:lpstr>14.4 插入操作、删除操作与谓词读(了解)</vt:lpstr>
      <vt:lpstr>14.4 插入操作、删除操作与谓词读(了解)</vt:lpstr>
      <vt:lpstr>插入和删除操作的幻象现象(了解)</vt:lpstr>
      <vt:lpstr>索引封锁协议(了解)</vt:lpstr>
      <vt:lpstr>本章目录</vt:lpstr>
      <vt:lpstr>14.5 基于时间戳(Timestamp)的协议</vt:lpstr>
      <vt:lpstr>14.5 基于时间戳的协议</vt:lpstr>
      <vt:lpstr>14.5 基于时间戳的协议</vt:lpstr>
      <vt:lpstr>14.5 基于时间戳的协议</vt:lpstr>
      <vt:lpstr>基于时间戳的协议示例</vt:lpstr>
      <vt:lpstr>时间戳排序协议的正确性</vt:lpstr>
      <vt:lpstr>Thomas写规则(自学了解)</vt:lpstr>
      <vt:lpstr>Thomas写规则(自学了解)</vt:lpstr>
      <vt:lpstr>示例(自学了解)</vt:lpstr>
      <vt:lpstr>本章目录</vt:lpstr>
      <vt:lpstr>14.6 基于有效性检查的协议</vt:lpstr>
      <vt:lpstr>14.6 基于有效性检查的协议</vt:lpstr>
      <vt:lpstr>基于有效性检查的协议</vt:lpstr>
      <vt:lpstr>基于有效性检查的协议(续)</vt:lpstr>
      <vt:lpstr>基于有效性检查的协议(续)</vt:lpstr>
      <vt:lpstr>基于有效性检查的协议(续)</vt:lpstr>
      <vt:lpstr>基于有效性检查的协议(续)</vt:lpstr>
      <vt:lpstr>本章目录</vt:lpstr>
      <vt:lpstr>14.7 多版本机制</vt:lpstr>
      <vt:lpstr>14.7 多版本机制</vt:lpstr>
      <vt:lpstr>多版本时间戳序列</vt:lpstr>
      <vt:lpstr>可串行化保证</vt:lpstr>
      <vt:lpstr>多版本时间戳序列 示例</vt:lpstr>
      <vt:lpstr>本章目录</vt:lpstr>
      <vt:lpstr>Any Question?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lei duan</dc:creator>
  <cp:lastModifiedBy>SCU</cp:lastModifiedBy>
  <cp:revision>1799</cp:revision>
  <dcterms:created xsi:type="dcterms:W3CDTF">2009-08-07T14:32:00Z</dcterms:created>
  <dcterms:modified xsi:type="dcterms:W3CDTF">2025-12-11T09:05:17Z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544E8B8652A640DB9D6A082D10BE2923</vt:lpwstr>
  </property>
  <property fmtid="{D5CDD505-2E9C-101B-9397-08002B2CF9AE}" pid="3" name="KSOProductBuildVer">
    <vt:lpwstr>2052-11.8.2.12094</vt:lpwstr>
  </property>
</Properties>
</file>