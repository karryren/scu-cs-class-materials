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0"/>
  </p:notesMasterIdLst>
  <p:sldIdLst>
    <p:sldId id="256" r:id="rId2"/>
    <p:sldId id="260" r:id="rId3"/>
    <p:sldId id="393" r:id="rId4"/>
    <p:sldId id="392" r:id="rId5"/>
    <p:sldId id="25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  <p:sldId id="272" r:id="rId18"/>
    <p:sldId id="273" r:id="rId19"/>
    <p:sldId id="274" r:id="rId20"/>
    <p:sldId id="430" r:id="rId21"/>
    <p:sldId id="276" r:id="rId22"/>
    <p:sldId id="420" r:id="rId23"/>
    <p:sldId id="421" r:id="rId24"/>
    <p:sldId id="432" r:id="rId25"/>
    <p:sldId id="433" r:id="rId26"/>
    <p:sldId id="434" r:id="rId27"/>
    <p:sldId id="275" r:id="rId28"/>
    <p:sldId id="423" r:id="rId29"/>
    <p:sldId id="277" r:id="rId30"/>
    <p:sldId id="278" r:id="rId31"/>
    <p:sldId id="279" r:id="rId32"/>
    <p:sldId id="280" r:id="rId33"/>
    <p:sldId id="394" r:id="rId34"/>
    <p:sldId id="281" r:id="rId35"/>
    <p:sldId id="435" r:id="rId36"/>
    <p:sldId id="283" r:id="rId37"/>
    <p:sldId id="282" r:id="rId38"/>
    <p:sldId id="284" r:id="rId39"/>
    <p:sldId id="285" r:id="rId40"/>
    <p:sldId id="387" r:id="rId41"/>
    <p:sldId id="388" r:id="rId42"/>
    <p:sldId id="389" r:id="rId43"/>
    <p:sldId id="287" r:id="rId44"/>
    <p:sldId id="286" r:id="rId45"/>
    <p:sldId id="288" r:id="rId46"/>
    <p:sldId id="289" r:id="rId47"/>
    <p:sldId id="290" r:id="rId48"/>
    <p:sldId id="291" r:id="rId49"/>
    <p:sldId id="397" r:id="rId50"/>
    <p:sldId id="396" r:id="rId51"/>
    <p:sldId id="422" r:id="rId52"/>
    <p:sldId id="293" r:id="rId53"/>
    <p:sldId id="403" r:id="rId54"/>
    <p:sldId id="294" r:id="rId55"/>
    <p:sldId id="295" r:id="rId56"/>
    <p:sldId id="398" r:id="rId57"/>
    <p:sldId id="296" r:id="rId58"/>
    <p:sldId id="297" r:id="rId59"/>
    <p:sldId id="298" r:id="rId60"/>
    <p:sldId id="299" r:id="rId61"/>
    <p:sldId id="395" r:id="rId62"/>
    <p:sldId id="308" r:id="rId63"/>
    <p:sldId id="413" r:id="rId64"/>
    <p:sldId id="309" r:id="rId65"/>
    <p:sldId id="437" r:id="rId66"/>
    <p:sldId id="311" r:id="rId67"/>
    <p:sldId id="401" r:id="rId68"/>
    <p:sldId id="400" r:id="rId69"/>
    <p:sldId id="399" r:id="rId70"/>
    <p:sldId id="315" r:id="rId71"/>
    <p:sldId id="316" r:id="rId72"/>
    <p:sldId id="317" r:id="rId73"/>
    <p:sldId id="318" r:id="rId74"/>
    <p:sldId id="404" r:id="rId75"/>
    <p:sldId id="319" r:id="rId76"/>
    <p:sldId id="320" r:id="rId77"/>
    <p:sldId id="321" r:id="rId78"/>
    <p:sldId id="323" r:id="rId79"/>
    <p:sldId id="436" r:id="rId80"/>
    <p:sldId id="305" r:id="rId81"/>
    <p:sldId id="438" r:id="rId82"/>
    <p:sldId id="306" r:id="rId83"/>
    <p:sldId id="424" r:id="rId84"/>
    <p:sldId id="439" r:id="rId85"/>
    <p:sldId id="429" r:id="rId86"/>
    <p:sldId id="325" r:id="rId87"/>
    <p:sldId id="426" r:id="rId88"/>
    <p:sldId id="427" r:id="rId89"/>
    <p:sldId id="326" r:id="rId90"/>
    <p:sldId id="327" r:id="rId91"/>
    <p:sldId id="328" r:id="rId92"/>
    <p:sldId id="329" r:id="rId93"/>
    <p:sldId id="331" r:id="rId94"/>
    <p:sldId id="330" r:id="rId95"/>
    <p:sldId id="402" r:id="rId96"/>
    <p:sldId id="332" r:id="rId97"/>
    <p:sldId id="333" r:id="rId98"/>
    <p:sldId id="409" r:id="rId99"/>
    <p:sldId id="334" r:id="rId100"/>
    <p:sldId id="335" r:id="rId101"/>
    <p:sldId id="336" r:id="rId102"/>
    <p:sldId id="300" r:id="rId103"/>
    <p:sldId id="301" r:id="rId104"/>
    <p:sldId id="302" r:id="rId105"/>
    <p:sldId id="303" r:id="rId106"/>
    <p:sldId id="338" r:id="rId107"/>
    <p:sldId id="348" r:id="rId108"/>
    <p:sldId id="259" r:id="rId10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8" autoAdjust="0"/>
    <p:restoredTop sz="97095" autoAdjust="0"/>
  </p:normalViewPr>
  <p:slideViewPr>
    <p:cSldViewPr snapToGrid="0">
      <p:cViewPr varScale="1">
        <p:scale>
          <a:sx n="155" d="100"/>
          <a:sy n="155" d="100"/>
        </p:scale>
        <p:origin x="1806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598AC-8DC4-4818-9D4E-B4D7983D3D4E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F0694-CE58-4799-B701-0FF33B2B44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76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AE3D9F-E8C5-4DB8-88D5-0633B3328F65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6838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商业数据库有三巨头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DB2,ORACLE,SQL SERVER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，开源数据库有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PostgresSQL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, MYSQL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BDB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4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笛卡儿积是域上面的一种运算。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37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636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553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633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976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876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D02FCDA-D0BD-45A7-B1F0-A1C5817A48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624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587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7F8B44-73F9-4A59-82A8-1D10204540B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832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597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4C6662-2990-495D-B6D1-8D04C4D91D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786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95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pi</a:t>
            </a:r>
            <a:endParaRPr lang="zh-CN" altLang="en-US"/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4DCC7-3490-4E8C-8B93-AF9DDB030D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145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1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pi</a:t>
            </a:r>
            <a:endParaRPr lang="zh-CN" altLang="en-US"/>
          </a:p>
        </p:txBody>
      </p:sp>
      <p:sp>
        <p:nvSpPr>
          <p:cNvPr id="1617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F693DE-F7A0-4E82-902E-3DBF17F8C13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425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941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628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2F4C6B-4222-4531-8434-9DF34A8F4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482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B1668-93B8-4810-A014-EB53F328B3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13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63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F8C477-14C6-41EB-8D20-E3F0C4B0BC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128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4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BAF818B9-86D5-4067-A6A9-D725537BA61B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D95C59EE-402E-4112-B7A1-53AC6919A9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642905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D36D8-39B7-4500-8246-532B844F5398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1F610-26EB-440A-B257-1059F8AA2F7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412876691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05A92-75E5-4AED-AA89-C2705A4D7F44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C2AE5-6922-418F-9265-4B22CFD720DF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9298852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CDB6-6270-466C-AA0D-511C9DA569B6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93885-545D-4260-87E9-7098FC2C00CA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243789149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996DE-875A-4724-B0B5-3A9664AFC9CE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295A8-5A6B-4FD6-BE19-8CA13684CDF7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28515533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88696-2FF9-44A4-AA4D-CFF90F151946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FEA8B-8EEB-4900-A1CF-2C2C768F570B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6106929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0E7EA-C4DD-4C18-A88A-E667A23058D1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BB251B-CB56-45BC-81C0-A5C2DF91F886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276287755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8017F-4650-4EDE-B13C-06287CC23313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5E81C-C835-4C93-9B38-AB934CA0B5D5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9038588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968B3-7711-47BE-9A4A-9AF071AB01A6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4EE459-CA57-4706-9C60-4D6C91A80AE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5966093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DE23D-531A-45CA-8F4C-605F2C769CEE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006D8-998C-40F7-8D92-6C1A5AE4B28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117928092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6BA18-1527-4590-AB07-44DD5B9EEBC0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BB0AA-2254-451B-92D3-2D0985FEB828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</p:spTree>
    <p:extLst>
      <p:ext uri="{BB962C8B-B14F-4D97-AF65-F5344CB8AC3E}">
        <p14:creationId xmlns:p14="http://schemas.microsoft.com/office/powerpoint/2010/main" val="84812467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b="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C84BE1B1-061C-48BB-86B6-BCD81CA525F5}" type="datetime1">
              <a:rPr lang="zh-CN" altLang="en-US"/>
              <a:pPr>
                <a:defRPr/>
              </a:pPr>
              <a:t>2025/9/17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 b="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zh-CN"/>
              <a:t>《数据库系统概论》- 第2章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 b="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21C1BE19-DAC1-4BC4-BBEE-FFCCB3993DB0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/132</a:t>
            </a:r>
          </a:p>
        </p:txBody>
      </p:sp>
      <p:pic>
        <p:nvPicPr>
          <p:cNvPr id="1031" name="Picture 7" descr="red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009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数据库系统概念</a:t>
            </a:r>
            <a:br>
              <a:rPr lang="zh-CN" altLang="en-US" sz="4000" dirty="0"/>
            </a:br>
            <a:br>
              <a:rPr lang="zh-CN" altLang="en-US" sz="900" dirty="0"/>
            </a:br>
            <a:r>
              <a:rPr lang="en-US" altLang="zh-CN" sz="2800" dirty="0"/>
              <a:t>Database System Concepts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郭际香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2025.09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pPr eaLnBrk="1" hangingPunct="1"/>
            <a:r>
              <a:rPr lang="zh-CN" altLang="en-US" dirty="0"/>
              <a:t>第二章 关系数据库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05200"/>
            <a:ext cx="7924800" cy="2955758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altLang="zh-CN" sz="2400" dirty="0"/>
              <a:t>  </a:t>
            </a:r>
            <a:r>
              <a:rPr lang="en-US" altLang="zh-CN" sz="2400" b="1" dirty="0">
                <a:solidFill>
                  <a:srgbClr val="0000FF"/>
                </a:solidFill>
              </a:rPr>
              <a:t>2-6</a:t>
            </a:r>
            <a:r>
              <a:rPr lang="zh-CN" altLang="en-US" sz="2400" b="1" dirty="0">
                <a:solidFill>
                  <a:srgbClr val="0000FF"/>
                </a:solidFill>
              </a:rPr>
              <a:t>章</a:t>
            </a:r>
            <a:r>
              <a:rPr lang="zh-CN" altLang="en-US" sz="2400" dirty="0"/>
              <a:t>为本课程基础部分及</a:t>
            </a:r>
            <a:r>
              <a:rPr lang="zh-CN" altLang="en-US" sz="2400" dirty="0">
                <a:solidFill>
                  <a:srgbClr val="CC0000"/>
                </a:solidFill>
              </a:rPr>
              <a:t>重点</a:t>
            </a:r>
            <a:endParaRPr lang="en-US" altLang="zh-CN" sz="2400" dirty="0">
              <a:solidFill>
                <a:srgbClr val="CC0000"/>
              </a:solidFill>
            </a:endParaRPr>
          </a:p>
          <a:p>
            <a:pPr algn="l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altLang="zh-CN" sz="2400" dirty="0">
                <a:solidFill>
                  <a:srgbClr val="CC0000"/>
                </a:solidFill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</a:rPr>
              <a:t>含第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章和第</a:t>
            </a:r>
            <a:r>
              <a:rPr lang="en-US" altLang="zh-CN" sz="2400" b="1" dirty="0">
                <a:solidFill>
                  <a:srgbClr val="0000FF"/>
                </a:solidFill>
              </a:rPr>
              <a:t>6.1</a:t>
            </a:r>
            <a:r>
              <a:rPr lang="zh-CN" altLang="en-US" sz="2400" b="1" dirty="0">
                <a:solidFill>
                  <a:srgbClr val="0000FF"/>
                </a:solidFill>
              </a:rPr>
              <a:t>小节的内容</a:t>
            </a:r>
          </a:p>
          <a:p>
            <a:pPr algn="l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altLang="zh-CN" sz="2400" dirty="0"/>
              <a:t>  </a:t>
            </a:r>
            <a:r>
              <a:rPr lang="zh-CN" altLang="en-US" sz="2400" dirty="0"/>
              <a:t>关系数据库的理论基础</a:t>
            </a:r>
            <a:r>
              <a:rPr lang="en-US" altLang="zh-CN" sz="2400" dirty="0"/>
              <a:t> </a:t>
            </a:r>
          </a:p>
          <a:p>
            <a:pPr marL="457200" lvl="1" indent="0" eaLnBrk="1" hangingPunct="1">
              <a:lnSpc>
                <a:spcPct val="90000"/>
              </a:lnSpc>
            </a:pPr>
            <a:r>
              <a:rPr lang="en-US" altLang="zh-CN" sz="2000" dirty="0"/>
              <a:t>  1970, </a:t>
            </a:r>
            <a:r>
              <a:rPr lang="en-US" altLang="zh-CN" sz="2000" dirty="0" err="1"/>
              <a:t>E.F.Codd</a:t>
            </a:r>
            <a:r>
              <a:rPr lang="en-US" altLang="zh-CN" sz="2000" dirty="0"/>
              <a:t> </a:t>
            </a:r>
            <a:r>
              <a:rPr lang="en-US" altLang="zh-CN" sz="2000" dirty="0">
                <a:latin typeface="Arial" charset="0"/>
              </a:rPr>
              <a:t>“</a:t>
            </a:r>
            <a:r>
              <a:rPr lang="en-US" altLang="zh-CN" sz="2000" dirty="0"/>
              <a:t>A Relational Model of Data for Shared Data Banks</a:t>
            </a:r>
            <a:r>
              <a:rPr lang="en-US" altLang="zh-CN" sz="2000" dirty="0">
                <a:latin typeface="Arial" charset="0"/>
              </a:rPr>
              <a:t>”</a:t>
            </a:r>
            <a:endParaRPr lang="en-US" altLang="zh-CN" sz="2000" dirty="0"/>
          </a:p>
          <a:p>
            <a:pPr algn="l" eaLnBrk="1" hangingPunct="1">
              <a:lnSpc>
                <a:spcPct val="90000"/>
              </a:lnSpc>
              <a:buFont typeface="Wingdings" pitchFamily="2" charset="2"/>
              <a:buChar char="n"/>
            </a:pPr>
            <a:r>
              <a:rPr lang="en-US" altLang="zh-CN" sz="2400" dirty="0"/>
              <a:t>  </a:t>
            </a:r>
            <a:r>
              <a:rPr lang="zh-CN" altLang="en-US" sz="2400" dirty="0"/>
              <a:t>现代</a:t>
            </a:r>
            <a:r>
              <a:rPr lang="zh-CN" altLang="en-US" sz="2400" dirty="0">
                <a:solidFill>
                  <a:srgbClr val="FF0000"/>
                </a:solidFill>
              </a:rPr>
              <a:t>主流数据库</a:t>
            </a:r>
            <a:r>
              <a:rPr lang="zh-CN" altLang="en-US" sz="2400" dirty="0"/>
              <a:t>几乎全部支持关系模型</a:t>
            </a:r>
            <a:r>
              <a:rPr lang="en-US" altLang="zh-CN" sz="2400" dirty="0"/>
              <a:t> </a:t>
            </a:r>
          </a:p>
          <a:p>
            <a:pPr marL="457200" lvl="1" indent="0" eaLnBrk="1" hangingPunct="1">
              <a:lnSpc>
                <a:spcPct val="90000"/>
              </a:lnSpc>
            </a:pPr>
            <a:r>
              <a:rPr lang="en-US" altLang="zh-CN" sz="2000" dirty="0"/>
              <a:t>  </a:t>
            </a:r>
            <a:r>
              <a:rPr lang="en-US" altLang="zh-CN" sz="2000" dirty="0">
                <a:solidFill>
                  <a:srgbClr val="0000FF"/>
                </a:solidFill>
              </a:rPr>
              <a:t>Oracle</a:t>
            </a:r>
            <a:r>
              <a:rPr lang="en-US" altLang="zh-CN" sz="2000" dirty="0"/>
              <a:t>(</a:t>
            </a:r>
            <a:r>
              <a:rPr lang="zh-CN" altLang="en-US" sz="2000" dirty="0"/>
              <a:t>甲骨文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/>
              <a:t>Sybase, MS </a:t>
            </a:r>
            <a:r>
              <a:rPr lang="en-US" altLang="zh-CN" sz="2000" dirty="0">
                <a:solidFill>
                  <a:srgbClr val="0000FF"/>
                </a:solidFill>
              </a:rPr>
              <a:t>SQL Server</a:t>
            </a:r>
            <a:r>
              <a:rPr lang="zh-CN" altLang="en-US" sz="2000" dirty="0"/>
              <a:t>（商用）</a:t>
            </a:r>
            <a:r>
              <a:rPr lang="en-US" altLang="zh-CN" sz="2000" dirty="0"/>
              <a:t>, IBM </a:t>
            </a:r>
            <a:r>
              <a:rPr lang="en-US" altLang="zh-CN" sz="2000" dirty="0">
                <a:solidFill>
                  <a:srgbClr val="0000FF"/>
                </a:solidFill>
              </a:rPr>
              <a:t>DB2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00FF"/>
                </a:solidFill>
              </a:rPr>
              <a:t>PostgreSQL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rgbClr val="0000FF"/>
                </a:solidFill>
              </a:rPr>
              <a:t>MySQL</a:t>
            </a:r>
            <a:r>
              <a:rPr lang="zh-CN" altLang="en-US" sz="2000" dirty="0"/>
              <a:t>（开源）等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986B84-EE70-4987-ADEB-489E3383AFA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662B8F-19B7-43DA-BCB7-1896DE64C38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/>
              <a:t>2.0 </a:t>
            </a:r>
            <a:r>
              <a:rPr lang="zh-CN" altLang="en-US"/>
              <a:t>关系模型概述</a:t>
            </a:r>
          </a:p>
          <a:p>
            <a:pPr eaLnBrk="1" hangingPunct="1"/>
            <a:r>
              <a:rPr lang="en-US" altLang="zh-CN"/>
              <a:t>2.1 </a:t>
            </a:r>
            <a:r>
              <a:rPr lang="zh-CN" altLang="en-US"/>
              <a:t>关系数据结构及形式化定义</a:t>
            </a:r>
          </a:p>
          <a:p>
            <a:pPr eaLnBrk="1" hangingPunct="1"/>
            <a:r>
              <a:rPr lang="en-US" altLang="zh-CN"/>
              <a:t>2.2 </a:t>
            </a:r>
            <a:r>
              <a:rPr lang="zh-CN" altLang="en-US"/>
              <a:t>关系操作</a:t>
            </a:r>
          </a:p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</a:p>
          <a:p>
            <a:pPr eaLnBrk="1" hangingPunct="1"/>
            <a:r>
              <a:rPr lang="en-US" altLang="zh-CN"/>
              <a:t>2.4 </a:t>
            </a:r>
            <a:r>
              <a:rPr lang="zh-CN" altLang="en-US"/>
              <a:t>关系代数</a:t>
            </a:r>
          </a:p>
          <a:p>
            <a:pPr eaLnBrk="1" hangingPunct="1"/>
            <a:r>
              <a:rPr lang="en-US" altLang="zh-CN"/>
              <a:t>2.5 </a:t>
            </a:r>
            <a:r>
              <a:rPr lang="zh-CN" altLang="en-US"/>
              <a:t>关系演算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49D7A2-82E0-42C1-B3D1-FA33ABCF24A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712C40-BE10-4747-A465-5B84B8151B6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2.0 </a:t>
            </a:r>
            <a:r>
              <a:rPr lang="zh-CN" altLang="en-US" dirty="0"/>
              <a:t>关系模型概述</a:t>
            </a:r>
          </a:p>
          <a:p>
            <a:pPr eaLnBrk="1" hangingPunct="1"/>
            <a:r>
              <a:rPr lang="en-US" altLang="zh-CN" dirty="0"/>
              <a:t>2.1 </a:t>
            </a:r>
            <a:r>
              <a:rPr lang="zh-CN" altLang="en-US" dirty="0"/>
              <a:t>关系</a:t>
            </a:r>
            <a:r>
              <a:rPr lang="zh-CN" altLang="en-US" dirty="0">
                <a:solidFill>
                  <a:srgbClr val="CC0000"/>
                </a:solidFill>
              </a:rPr>
              <a:t>数据结构</a:t>
            </a:r>
            <a:r>
              <a:rPr lang="zh-CN" altLang="en-US" dirty="0"/>
              <a:t>及</a:t>
            </a:r>
            <a:r>
              <a:rPr lang="zh-CN" altLang="en-US" dirty="0">
                <a:solidFill>
                  <a:srgbClr val="CC0000"/>
                </a:solidFill>
              </a:rPr>
              <a:t>形式化定义</a:t>
            </a:r>
          </a:p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olidFill>
                  <a:srgbClr val="C00000"/>
                </a:solidFill>
              </a:rPr>
              <a:t>关系操作</a:t>
            </a:r>
          </a:p>
          <a:p>
            <a:pPr eaLnBrk="1" hangingPunct="1"/>
            <a:r>
              <a:rPr lang="en-US" altLang="zh-CN" dirty="0"/>
              <a:t>2.3 </a:t>
            </a:r>
            <a:r>
              <a:rPr lang="zh-CN" altLang="en-US" dirty="0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 dirty="0"/>
              <a:t>2.4 </a:t>
            </a:r>
            <a:r>
              <a:rPr lang="zh-CN" altLang="en-US" dirty="0">
                <a:solidFill>
                  <a:srgbClr val="0000FF"/>
                </a:solidFill>
              </a:rPr>
              <a:t>关系代数</a:t>
            </a:r>
          </a:p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关系演算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D2CBBE-A967-413B-AB58-B4B95AD3C3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29ADFA-C01A-48F2-9802-28ABD2B7E2E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2.0 </a:t>
            </a:r>
            <a:r>
              <a:rPr lang="zh-CN" altLang="en-US" dirty="0"/>
              <a:t>关系模型概述</a:t>
            </a:r>
          </a:p>
          <a:p>
            <a:pPr eaLnBrk="1" hangingPunct="1"/>
            <a:r>
              <a:rPr lang="en-US" altLang="zh-CN" dirty="0"/>
              <a:t>2.1 </a:t>
            </a:r>
            <a:r>
              <a:rPr lang="zh-CN" altLang="en-US" dirty="0">
                <a:solidFill>
                  <a:srgbClr val="CC0000"/>
                </a:solidFill>
              </a:rPr>
              <a:t>关系数据结构及形式化定义</a:t>
            </a:r>
          </a:p>
          <a:p>
            <a:pPr eaLnBrk="1" hangingPunct="1"/>
            <a:r>
              <a:rPr lang="en-US" altLang="zh-CN" dirty="0"/>
              <a:t>2.2 </a:t>
            </a:r>
            <a:r>
              <a:rPr lang="zh-CN" altLang="en-US" dirty="0">
                <a:solidFill>
                  <a:srgbClr val="0000FF"/>
                </a:solidFill>
              </a:rPr>
              <a:t>关系操作</a:t>
            </a:r>
          </a:p>
          <a:p>
            <a:pPr eaLnBrk="1" hangingPunct="1"/>
            <a:r>
              <a:rPr lang="en-US" altLang="zh-CN" dirty="0"/>
              <a:t>2.3 </a:t>
            </a:r>
            <a:r>
              <a:rPr lang="zh-CN" altLang="en-US" dirty="0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 dirty="0"/>
              <a:t>2.4 </a:t>
            </a:r>
            <a:r>
              <a:rPr lang="zh-CN" altLang="en-US" dirty="0">
                <a:solidFill>
                  <a:srgbClr val="CC0000"/>
                </a:solidFill>
              </a:rPr>
              <a:t>关系代数</a:t>
            </a:r>
          </a:p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关系演算</a:t>
            </a:r>
          </a:p>
        </p:txBody>
      </p:sp>
      <p:sp>
        <p:nvSpPr>
          <p:cNvPr id="2" name="AutoShape 5"/>
          <p:cNvSpPr>
            <a:spLocks noChangeArrowheads="1"/>
          </p:cNvSpPr>
          <p:nvPr/>
        </p:nvSpPr>
        <p:spPr bwMode="auto">
          <a:xfrm>
            <a:off x="8382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86F237-A691-40A0-BCA1-FAB7C292E1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21F403-C693-46BF-827E-CB2785ACCA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补充：关系模型概述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关系模型</a:t>
            </a:r>
            <a:r>
              <a:rPr lang="zh-CN" altLang="en-US" dirty="0"/>
              <a:t>由</a:t>
            </a:r>
            <a:r>
              <a:rPr lang="zh-CN" altLang="en-US" dirty="0">
                <a:solidFill>
                  <a:srgbClr val="C00000"/>
                </a:solidFill>
              </a:rPr>
              <a:t>关系</a:t>
            </a:r>
            <a:r>
              <a:rPr lang="zh-CN" altLang="en-US" dirty="0">
                <a:solidFill>
                  <a:srgbClr val="0000FF"/>
                </a:solidFill>
              </a:rPr>
              <a:t>数据结构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C00000"/>
                </a:solidFill>
              </a:rPr>
              <a:t>关系</a:t>
            </a:r>
            <a:r>
              <a:rPr lang="zh-CN" altLang="en-US" dirty="0">
                <a:solidFill>
                  <a:srgbClr val="0000FF"/>
                </a:solidFill>
              </a:rPr>
              <a:t>操作集合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关系</a:t>
            </a:r>
            <a:r>
              <a:rPr lang="zh-CN" altLang="en-US" dirty="0">
                <a:solidFill>
                  <a:srgbClr val="0000FF"/>
                </a:solidFill>
              </a:rPr>
              <a:t>完整性约束</a:t>
            </a:r>
            <a:r>
              <a:rPr lang="zh-CN" altLang="en-US" dirty="0"/>
              <a:t>三部分组成。</a:t>
            </a:r>
          </a:p>
          <a:p>
            <a:pPr eaLnBrk="1" hangingPunct="1"/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一、单一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数据结构</a:t>
            </a:r>
            <a:r>
              <a:rPr lang="zh-CN" altLang="en-US" dirty="0"/>
              <a:t>－－</a:t>
            </a:r>
            <a:r>
              <a:rPr lang="zh-CN" altLang="en-US" dirty="0">
                <a:solidFill>
                  <a:srgbClr val="0000FF"/>
                </a:solidFill>
              </a:rPr>
              <a:t>关系（二维表）</a:t>
            </a:r>
          </a:p>
          <a:p>
            <a:pPr lvl="1" eaLnBrk="1" hangingPunct="1"/>
            <a:r>
              <a:rPr lang="zh-CN" altLang="en-US" dirty="0">
                <a:solidFill>
                  <a:srgbClr val="CC0000"/>
                </a:solidFill>
              </a:rPr>
              <a:t>实体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C0000"/>
                </a:solidFill>
              </a:rPr>
              <a:t>实体</a:t>
            </a:r>
            <a:r>
              <a:rPr lang="zh-CN" altLang="en-US" dirty="0">
                <a:solidFill>
                  <a:srgbClr val="C00000"/>
                </a:solidFill>
              </a:rPr>
              <a:t>之间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C0000"/>
                </a:solidFill>
              </a:rPr>
              <a:t>联系</a:t>
            </a:r>
            <a:r>
              <a:rPr lang="zh-CN" altLang="en-US" dirty="0"/>
              <a:t>都用</a:t>
            </a:r>
            <a:r>
              <a:rPr lang="zh-CN" altLang="en-US" dirty="0">
                <a:solidFill>
                  <a:srgbClr val="CC0000"/>
                </a:solidFill>
              </a:rPr>
              <a:t>关系</a:t>
            </a:r>
            <a:r>
              <a:rPr lang="zh-CN" altLang="en-US" dirty="0"/>
              <a:t>描述</a:t>
            </a:r>
          </a:p>
          <a:p>
            <a:pPr marL="457200" lvl="1" indent="0" eaLnBrk="1" hangingPunct="1">
              <a:buNone/>
            </a:pPr>
            <a:r>
              <a:rPr lang="zh-CN" altLang="en-US" dirty="0"/>
              <a:t>（有算法把</a:t>
            </a:r>
            <a:r>
              <a:rPr lang="en-US" altLang="zh-CN" u="sng" dirty="0"/>
              <a:t>ER</a:t>
            </a:r>
            <a:r>
              <a:rPr lang="zh-CN" altLang="en-US" u="sng" dirty="0"/>
              <a:t>模型</a:t>
            </a:r>
            <a:r>
              <a:rPr lang="zh-CN" altLang="en-US" dirty="0"/>
              <a:t>的</a:t>
            </a:r>
            <a:r>
              <a:rPr lang="zh-CN" altLang="en-US" u="sng" dirty="0"/>
              <a:t>实体和联系</a:t>
            </a:r>
            <a:r>
              <a:rPr lang="zh-CN" altLang="en-US" dirty="0"/>
              <a:t>转化为</a:t>
            </a:r>
            <a:r>
              <a:rPr lang="zh-CN" altLang="en-US" b="1" dirty="0"/>
              <a:t>关系模型</a:t>
            </a:r>
            <a:r>
              <a:rPr lang="zh-CN" altLang="en-US" dirty="0"/>
              <a:t>的关系）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336B71-3D43-4BDF-93EF-BB51372F465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116F37-D29E-46D8-BA4D-FEAFD947783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补充：关系模型概述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993300"/>
                </a:solidFill>
              </a:rPr>
              <a:t>二、关系操作</a:t>
            </a:r>
          </a:p>
          <a:p>
            <a:pPr eaLnBrk="1" hangingPunct="1"/>
            <a:r>
              <a:rPr lang="zh-CN" altLang="en-US" dirty="0"/>
              <a:t>就关系模型而言，仅仅给出了</a:t>
            </a:r>
            <a:r>
              <a:rPr lang="zh-CN" altLang="en-US" dirty="0">
                <a:solidFill>
                  <a:srgbClr val="CC0000"/>
                </a:solidFill>
              </a:rPr>
              <a:t>关系操作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能力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993300"/>
                </a:solidFill>
              </a:rPr>
              <a:t>并不给定</a:t>
            </a:r>
            <a:r>
              <a:rPr lang="en-US" altLang="zh-CN" dirty="0"/>
              <a:t>(</a:t>
            </a:r>
            <a:r>
              <a:rPr lang="zh-CN" altLang="en-US" dirty="0"/>
              <a:t>限定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993300"/>
                </a:solidFill>
              </a:rPr>
              <a:t>RDBMS</a:t>
            </a:r>
            <a:r>
              <a:rPr lang="zh-CN" altLang="en-US" dirty="0">
                <a:solidFill>
                  <a:srgbClr val="993300"/>
                </a:solidFill>
              </a:rPr>
              <a:t>语言</a:t>
            </a:r>
            <a:r>
              <a:rPr lang="zh-CN" altLang="en-US" dirty="0"/>
              <a:t>的</a:t>
            </a:r>
            <a:r>
              <a:rPr lang="zh-CN" altLang="en-US" b="1" dirty="0"/>
              <a:t>语法要求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关系操作的特点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CC0000"/>
                </a:solidFill>
              </a:rPr>
              <a:t>一次一集合</a:t>
            </a:r>
            <a:r>
              <a:rPr lang="zh-CN" altLang="en-US" dirty="0"/>
              <a:t>的操作方式 </a:t>
            </a:r>
            <a:r>
              <a:rPr lang="en-US" altLang="zh-CN" dirty="0"/>
              <a:t>Set-at-a-Time</a:t>
            </a:r>
          </a:p>
          <a:p>
            <a:pPr eaLnBrk="1" hangingPunct="1"/>
            <a:r>
              <a:rPr lang="zh-CN" altLang="en-US" dirty="0"/>
              <a:t>操作的</a:t>
            </a:r>
            <a:r>
              <a:rPr lang="zh-CN" altLang="en-US" u="sng" dirty="0">
                <a:solidFill>
                  <a:srgbClr val="993300"/>
                </a:solidFill>
              </a:rPr>
              <a:t>对象</a:t>
            </a:r>
            <a:r>
              <a:rPr lang="zh-CN" altLang="en-US" u="sng" dirty="0"/>
              <a:t>和</a:t>
            </a:r>
            <a:r>
              <a:rPr lang="zh-CN" altLang="en-US" u="sng" dirty="0">
                <a:solidFill>
                  <a:srgbClr val="993300"/>
                </a:solidFill>
              </a:rPr>
              <a:t>结果</a:t>
            </a:r>
            <a:r>
              <a:rPr lang="zh-CN" altLang="en-US" dirty="0"/>
              <a:t>都是</a:t>
            </a:r>
            <a:r>
              <a:rPr lang="zh-CN" altLang="en-US" b="1" dirty="0">
                <a:solidFill>
                  <a:srgbClr val="0000FF"/>
                </a:solidFill>
              </a:rPr>
              <a:t>关系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D60BE0-180D-4957-BF56-B8ED1D829EA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14C20D-2BC2-4F72-BFF1-7255CE89A32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抽象查询语言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早期的</a:t>
            </a:r>
            <a:r>
              <a:rPr lang="zh-CN" altLang="en-US" b="1" dirty="0">
                <a:solidFill>
                  <a:srgbClr val="FF0000"/>
                </a:solidFill>
              </a:rPr>
              <a:t>关系操作能力</a:t>
            </a:r>
            <a:r>
              <a:rPr lang="zh-CN" altLang="en-US" dirty="0"/>
              <a:t>都是用</a:t>
            </a:r>
            <a:r>
              <a:rPr lang="zh-CN" altLang="en-US" dirty="0">
                <a:solidFill>
                  <a:srgbClr val="0000FF"/>
                </a:solidFill>
              </a:rPr>
              <a:t>代数方式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逻辑方式</a:t>
            </a:r>
            <a:r>
              <a:rPr lang="zh-CN" altLang="en-US" dirty="0"/>
              <a:t>来</a:t>
            </a:r>
            <a:r>
              <a:rPr lang="zh-CN" altLang="en-US" b="1" dirty="0">
                <a:solidFill>
                  <a:srgbClr val="0000FF"/>
                </a:solidFill>
              </a:rPr>
              <a:t>表示</a:t>
            </a:r>
            <a:r>
              <a:rPr lang="zh-CN" altLang="en-US" dirty="0"/>
              <a:t>，分别称为</a:t>
            </a:r>
            <a:r>
              <a:rPr lang="zh-CN" altLang="en-US" dirty="0">
                <a:solidFill>
                  <a:srgbClr val="0000FF"/>
                </a:solidFill>
              </a:rPr>
              <a:t>关系代数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关系演算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三种具有相同表达能力的</a:t>
            </a:r>
            <a:r>
              <a:rPr lang="zh-CN" altLang="en-US" dirty="0">
                <a:solidFill>
                  <a:srgbClr val="0000FF"/>
                </a:solidFill>
              </a:rPr>
              <a:t>抽象查询语言</a:t>
            </a:r>
            <a:r>
              <a:rPr lang="zh-CN" altLang="en-US" dirty="0"/>
              <a:t>：</a:t>
            </a:r>
          </a:p>
          <a:p>
            <a:pPr eaLnBrk="1" hangingPunct="1"/>
            <a:r>
              <a:rPr lang="zh-CN" altLang="en-US" u="sng" dirty="0">
                <a:solidFill>
                  <a:srgbClr val="C00000"/>
                </a:solidFill>
              </a:rPr>
              <a:t>关系</a:t>
            </a:r>
            <a:r>
              <a:rPr lang="zh-CN" altLang="en-US" u="sng" dirty="0">
                <a:solidFill>
                  <a:srgbClr val="0000FF"/>
                </a:solidFill>
              </a:rPr>
              <a:t>代数</a:t>
            </a:r>
            <a:r>
              <a:rPr lang="zh-CN" altLang="en-US" dirty="0">
                <a:solidFill>
                  <a:srgbClr val="993300"/>
                </a:solidFill>
              </a:rPr>
              <a:t>                   </a:t>
            </a:r>
            <a:r>
              <a:rPr lang="en-US" altLang="zh-CN" dirty="0"/>
              <a:t>ISBL</a:t>
            </a:r>
          </a:p>
          <a:p>
            <a:pPr eaLnBrk="1" hangingPunct="1"/>
            <a:r>
              <a:rPr lang="zh-CN" altLang="en-US" dirty="0">
                <a:solidFill>
                  <a:srgbClr val="990000"/>
                </a:solidFill>
              </a:rPr>
              <a:t>元组</a:t>
            </a:r>
            <a:r>
              <a:rPr lang="zh-CN" altLang="en-US" dirty="0"/>
              <a:t>关系</a:t>
            </a:r>
            <a:r>
              <a:rPr lang="zh-CN" altLang="en-US" dirty="0">
                <a:solidFill>
                  <a:srgbClr val="0000FF"/>
                </a:solidFill>
              </a:rPr>
              <a:t>演算</a:t>
            </a:r>
            <a:r>
              <a:rPr lang="zh-CN" altLang="en-US" dirty="0"/>
              <a:t>语言</a:t>
            </a:r>
            <a:r>
              <a:rPr lang="zh-CN" altLang="en-US" dirty="0">
                <a:solidFill>
                  <a:srgbClr val="993300"/>
                </a:solidFill>
              </a:rPr>
              <a:t>      </a:t>
            </a:r>
            <a:r>
              <a:rPr lang="en-US" altLang="zh-CN" dirty="0"/>
              <a:t>ALPHA</a:t>
            </a:r>
            <a:r>
              <a:rPr lang="zh-CN" altLang="en-US" dirty="0">
                <a:solidFill>
                  <a:srgbClr val="993300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QUEL</a:t>
            </a:r>
          </a:p>
          <a:p>
            <a:pPr eaLnBrk="1" hangingPunct="1"/>
            <a:r>
              <a:rPr lang="zh-CN" altLang="en-US" dirty="0">
                <a:solidFill>
                  <a:srgbClr val="990000"/>
                </a:solidFill>
              </a:rPr>
              <a:t>域</a:t>
            </a:r>
            <a:r>
              <a:rPr lang="zh-CN" altLang="en-US" dirty="0"/>
              <a:t>关系</a:t>
            </a:r>
            <a:r>
              <a:rPr lang="zh-CN" altLang="en-US" dirty="0">
                <a:solidFill>
                  <a:srgbClr val="0000FF"/>
                </a:solidFill>
              </a:rPr>
              <a:t>演算</a:t>
            </a:r>
            <a:r>
              <a:rPr lang="zh-CN" altLang="en-US" dirty="0"/>
              <a:t>语言</a:t>
            </a:r>
            <a:r>
              <a:rPr lang="zh-CN" altLang="en-US" dirty="0">
                <a:solidFill>
                  <a:schemeClr val="tx2"/>
                </a:solidFill>
              </a:rPr>
              <a:t>         </a:t>
            </a:r>
            <a:r>
              <a:rPr lang="en-US" altLang="zh-CN" dirty="0"/>
              <a:t>QBE</a:t>
            </a:r>
          </a:p>
          <a:p>
            <a:pPr eaLnBrk="1" hangingPunct="1"/>
            <a:endParaRPr lang="en-US" altLang="zh-CN" dirty="0">
              <a:solidFill>
                <a:srgbClr val="993300"/>
              </a:solidFill>
            </a:endParaRPr>
          </a:p>
          <a:p>
            <a:pPr lvl="1" eaLnBrk="1" hangingPunct="1"/>
            <a:r>
              <a:rPr lang="zh-CN" altLang="en-US" dirty="0"/>
              <a:t>（注意</a:t>
            </a:r>
            <a:r>
              <a:rPr lang="en-US" altLang="zh-CN" dirty="0"/>
              <a:t>QBE</a:t>
            </a:r>
            <a:r>
              <a:rPr lang="zh-CN" altLang="en-US" dirty="0"/>
              <a:t>与微软的</a:t>
            </a:r>
            <a:r>
              <a:rPr lang="en-US" altLang="zh-CN" dirty="0"/>
              <a:t>RQBE</a:t>
            </a:r>
            <a:r>
              <a:rPr lang="zh-CN" altLang="en-US" dirty="0"/>
              <a:t>不同）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40DF89-5DCC-4E33-AFB4-3943CA049BD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9125F1-EC0C-4F36-9FC7-52FEB14F73A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抽象查询语言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82880" cy="4684713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C0000"/>
                </a:solidFill>
              </a:rPr>
              <a:t>SQL</a:t>
            </a:r>
            <a:r>
              <a:rPr lang="zh-CN" altLang="en-US" dirty="0"/>
              <a:t>则是介于</a:t>
            </a:r>
            <a:r>
              <a:rPr lang="zh-CN" altLang="en-US" dirty="0">
                <a:solidFill>
                  <a:srgbClr val="0000FF"/>
                </a:solidFill>
              </a:rPr>
              <a:t>关系代数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关系演算</a:t>
            </a:r>
            <a:r>
              <a:rPr lang="zh-CN" altLang="en-US" dirty="0"/>
              <a:t>之间的标准（</a:t>
            </a:r>
            <a:r>
              <a:rPr lang="en-US" altLang="zh-CN" dirty="0"/>
              <a:t>SQL92</a:t>
            </a:r>
            <a:r>
              <a:rPr lang="zh-CN" altLang="en-US" dirty="0"/>
              <a:t>，</a:t>
            </a:r>
            <a:r>
              <a:rPr lang="en-US" altLang="zh-CN" dirty="0"/>
              <a:t>SQL99</a:t>
            </a:r>
            <a:r>
              <a:rPr lang="zh-CN" altLang="en-US" dirty="0"/>
              <a:t>，</a:t>
            </a:r>
            <a:r>
              <a:rPr lang="en-US" altLang="zh-CN" dirty="0"/>
              <a:t>SQL2003</a:t>
            </a:r>
            <a:r>
              <a:rPr lang="zh-CN" altLang="en-US" dirty="0"/>
              <a:t>）查询语言。</a:t>
            </a:r>
          </a:p>
          <a:p>
            <a:pPr eaLnBrk="1" hangingPunct="1"/>
            <a:r>
              <a:rPr lang="zh-CN" altLang="en-US" dirty="0"/>
              <a:t>由</a:t>
            </a:r>
            <a:r>
              <a:rPr lang="en-US" altLang="zh-CN" dirty="0">
                <a:solidFill>
                  <a:srgbClr val="0000FF"/>
                </a:solidFill>
              </a:rPr>
              <a:t>IBM</a:t>
            </a:r>
            <a:r>
              <a:rPr lang="zh-CN" altLang="en-US" dirty="0"/>
              <a:t>提出，是应用得</a:t>
            </a:r>
            <a:r>
              <a:rPr lang="zh-CN" altLang="en-US" dirty="0">
                <a:solidFill>
                  <a:srgbClr val="C00000"/>
                </a:solidFill>
              </a:rPr>
              <a:t>最广泛的关系数据库标准语言。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与之相比，</a:t>
            </a:r>
            <a:r>
              <a:rPr lang="en-US" altLang="zh-CN" dirty="0"/>
              <a:t>Ingres</a:t>
            </a:r>
            <a:r>
              <a:rPr lang="zh-CN" altLang="en-US" dirty="0"/>
              <a:t>的</a:t>
            </a:r>
            <a:r>
              <a:rPr lang="en-US" altLang="zh-CN" dirty="0"/>
              <a:t>QUEL</a:t>
            </a:r>
            <a:r>
              <a:rPr lang="zh-CN" altLang="en-US" dirty="0"/>
              <a:t>具有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理论优势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48AC84-D33B-4CDC-A692-7EBBC4EA9C2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58633C-628D-4319-9CB0-29A1FA0CC1D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补充：关系模型概述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993300"/>
                </a:solidFill>
              </a:rPr>
              <a:t>三、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0000FF"/>
                </a:solidFill>
              </a:rPr>
              <a:t>三类</a:t>
            </a:r>
            <a:r>
              <a:rPr lang="zh-CN" altLang="en-US" dirty="0">
                <a:solidFill>
                  <a:srgbClr val="993300"/>
                </a:solidFill>
              </a:rPr>
              <a:t>完整性约束条件</a:t>
            </a:r>
          </a:p>
          <a:p>
            <a:pPr eaLnBrk="1" hangingPunct="1"/>
            <a:r>
              <a:rPr lang="zh-CN" altLang="en-US" dirty="0"/>
              <a:t>关系模型</a:t>
            </a:r>
            <a:r>
              <a:rPr lang="zh-CN" altLang="en-US" dirty="0">
                <a:solidFill>
                  <a:srgbClr val="0000FF"/>
                </a:solidFill>
              </a:rPr>
              <a:t>必须满足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C00000"/>
                </a:solidFill>
              </a:rPr>
              <a:t>实体完整性</a:t>
            </a:r>
            <a:r>
              <a:rPr lang="zh-CN" altLang="en-US" dirty="0"/>
              <a:t>和</a:t>
            </a:r>
            <a:r>
              <a:rPr lang="zh-CN" altLang="en-US" b="1" dirty="0">
                <a:solidFill>
                  <a:srgbClr val="C00000"/>
                </a:solidFill>
              </a:rPr>
              <a:t>参照完整性约束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/>
            <a:r>
              <a:rPr lang="zh-CN" altLang="en-US" b="1" dirty="0"/>
              <a:t>应用领域</a:t>
            </a:r>
            <a:r>
              <a:rPr lang="zh-CN" altLang="en-US" dirty="0"/>
              <a:t>中的大量</a:t>
            </a:r>
            <a:r>
              <a:rPr lang="zh-CN" altLang="en-US" dirty="0">
                <a:solidFill>
                  <a:srgbClr val="0000FF"/>
                </a:solidFill>
              </a:rPr>
              <a:t>语义约束</a:t>
            </a:r>
            <a:r>
              <a:rPr lang="zh-CN" altLang="en-US" dirty="0"/>
              <a:t>则由</a:t>
            </a:r>
            <a:r>
              <a:rPr lang="en-US" altLang="zh-CN" dirty="0"/>
              <a:t>DBMS</a:t>
            </a:r>
            <a:r>
              <a:rPr lang="zh-CN" altLang="en-US" dirty="0"/>
              <a:t>实现的</a:t>
            </a:r>
            <a:r>
              <a:rPr lang="zh-CN" altLang="en-US" b="1" dirty="0">
                <a:solidFill>
                  <a:srgbClr val="C00000"/>
                </a:solidFill>
              </a:rPr>
              <a:t>用户定义完整性</a:t>
            </a:r>
            <a:r>
              <a:rPr lang="zh-CN" altLang="en-US" dirty="0"/>
              <a:t>保证。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/>
            <a:r>
              <a:rPr lang="zh-CN" altLang="en-US" b="1" dirty="0"/>
              <a:t>注意</a:t>
            </a:r>
            <a:r>
              <a:rPr lang="zh-CN" altLang="en-US" dirty="0"/>
              <a:t>：这是由</a:t>
            </a:r>
            <a:r>
              <a:rPr lang="en-US" altLang="zh-CN" dirty="0"/>
              <a:t>DBMS</a:t>
            </a:r>
            <a:r>
              <a:rPr lang="zh-CN" altLang="en-US" dirty="0"/>
              <a:t>来保证的，而非应用程序保证。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C9AAD8-B501-4F67-AA24-DF0CD2DDF1D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0A8EA7-6E60-411A-8A3A-26002A07652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2.0 </a:t>
            </a:r>
            <a:r>
              <a:rPr lang="zh-CN" altLang="en-US" dirty="0"/>
              <a:t>关系模型概述</a:t>
            </a:r>
          </a:p>
          <a:p>
            <a:pPr eaLnBrk="1" hangingPunct="1"/>
            <a:r>
              <a:rPr lang="en-US" altLang="zh-CN" dirty="0"/>
              <a:t>2.1 </a:t>
            </a:r>
            <a:r>
              <a:rPr lang="zh-CN" altLang="en-US" dirty="0">
                <a:solidFill>
                  <a:srgbClr val="CC0000"/>
                </a:solidFill>
              </a:rPr>
              <a:t>关系数据结构及形式化定义</a:t>
            </a:r>
          </a:p>
          <a:p>
            <a:pPr eaLnBrk="1" hangingPunct="1"/>
            <a:r>
              <a:rPr lang="en-US" altLang="zh-CN" dirty="0"/>
              <a:t>2.2 </a:t>
            </a:r>
            <a:r>
              <a:rPr lang="zh-CN" altLang="en-US" dirty="0"/>
              <a:t>关系操作</a:t>
            </a:r>
          </a:p>
          <a:p>
            <a:pPr eaLnBrk="1" hangingPunct="1"/>
            <a:r>
              <a:rPr lang="en-US" altLang="zh-CN" dirty="0"/>
              <a:t>2.3 </a:t>
            </a:r>
            <a:r>
              <a:rPr lang="zh-CN" altLang="en-US" dirty="0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 dirty="0"/>
              <a:t>2.4 </a:t>
            </a:r>
            <a:r>
              <a:rPr lang="zh-CN" altLang="en-US" dirty="0">
                <a:solidFill>
                  <a:srgbClr val="CC0000"/>
                </a:solidFill>
              </a:rPr>
              <a:t>关系代数</a:t>
            </a:r>
          </a:p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关系演算</a:t>
            </a:r>
          </a:p>
        </p:txBody>
      </p:sp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838200" y="22860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C0A858-15C8-414D-A1B4-66E03E39196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012A49-69BA-4B68-8C74-E3242914894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 </a:t>
            </a:r>
            <a:r>
              <a:rPr lang="zh-CN" altLang="en-US"/>
              <a:t>关系数据结构及其形式化定义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从</a:t>
            </a:r>
            <a:r>
              <a:rPr lang="zh-CN" altLang="en-US" b="1" dirty="0">
                <a:solidFill>
                  <a:srgbClr val="C00000"/>
                </a:solidFill>
              </a:rPr>
              <a:t>集合论</a:t>
            </a:r>
            <a:r>
              <a:rPr lang="zh-CN" altLang="en-US" dirty="0"/>
              <a:t>的角度给出</a:t>
            </a:r>
            <a:r>
              <a:rPr lang="zh-CN" altLang="en-US" dirty="0">
                <a:solidFill>
                  <a:srgbClr val="0000FF"/>
                </a:solidFill>
              </a:rPr>
              <a:t>关系数据结构</a:t>
            </a:r>
            <a:r>
              <a:rPr lang="zh-CN" altLang="en-US" dirty="0"/>
              <a:t>的形式化定义。</a:t>
            </a:r>
            <a:r>
              <a:rPr lang="en-US" altLang="zh-CN" dirty="0"/>
              <a:t>(</a:t>
            </a:r>
            <a:r>
              <a:rPr lang="zh-CN" altLang="en-US" dirty="0"/>
              <a:t>需要离散数学集合论的概念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0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993300"/>
                </a:solidFill>
              </a:rPr>
              <a:t>2.1.1 </a:t>
            </a:r>
            <a:r>
              <a:rPr lang="zh-CN" altLang="en-US" dirty="0">
                <a:solidFill>
                  <a:srgbClr val="993300"/>
                </a:solidFill>
              </a:rPr>
              <a:t>关系 </a:t>
            </a:r>
            <a:r>
              <a:rPr lang="en-US" altLang="zh-CN" dirty="0">
                <a:solidFill>
                  <a:srgbClr val="993300"/>
                </a:solidFill>
              </a:rPr>
              <a:t>(Relation)</a:t>
            </a:r>
          </a:p>
          <a:p>
            <a:pPr eaLnBrk="1" hangingPunct="1"/>
            <a:r>
              <a:rPr lang="en-US" altLang="zh-CN" dirty="0"/>
              <a:t>1.</a:t>
            </a:r>
            <a:r>
              <a:rPr lang="zh-CN" altLang="en-US" dirty="0">
                <a:solidFill>
                  <a:srgbClr val="0000FF"/>
                </a:solidFill>
              </a:rPr>
              <a:t>域</a:t>
            </a:r>
          </a:p>
          <a:p>
            <a:pPr lvl="1" eaLnBrk="1" hangingPunct="1"/>
            <a:r>
              <a:rPr lang="zh-CN" altLang="en-US" dirty="0"/>
              <a:t>定义</a:t>
            </a:r>
            <a:r>
              <a:rPr lang="en-US" altLang="zh-CN" dirty="0"/>
              <a:t>2.1: </a:t>
            </a:r>
            <a:r>
              <a:rPr lang="zh-CN" altLang="en-US" dirty="0">
                <a:solidFill>
                  <a:srgbClr val="CC0000"/>
                </a:solidFill>
              </a:rPr>
              <a:t>域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C0000"/>
                </a:solidFill>
              </a:rPr>
              <a:t>具有相同数据类型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C0000"/>
                </a:solidFill>
              </a:rPr>
              <a:t>值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集合。</a:t>
            </a:r>
          </a:p>
          <a:p>
            <a:pPr lvl="1" eaLnBrk="1" hangingPunct="1"/>
            <a:r>
              <a:rPr lang="zh-CN" altLang="en-US" dirty="0"/>
              <a:t>如自然数，全班同学的名字等。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77CDD0-0065-4B6F-9C1C-594461011A6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9CA793-60C1-4293-B1A5-B9501046767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 </a:t>
            </a:r>
            <a:r>
              <a:rPr lang="en-US" altLang="zh-CN"/>
              <a:t>(Relation)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>
                <a:solidFill>
                  <a:srgbClr val="0000FF"/>
                </a:solidFill>
              </a:rPr>
              <a:t>笛卡儿积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卡氏积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>
              <a:solidFill>
                <a:srgbClr val="9933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C2290A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2.2 </a:t>
            </a:r>
            <a:r>
              <a:rPr lang="zh-CN" altLang="en-US" dirty="0"/>
              <a:t>给定一组域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 D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en-US" altLang="zh-CN" dirty="0"/>
              <a:t>, </a:t>
            </a:r>
            <a:r>
              <a:rPr lang="zh-CN" altLang="en-US" dirty="0"/>
              <a:t>这些域中</a:t>
            </a:r>
            <a:r>
              <a:rPr lang="zh-CN" altLang="en-US" dirty="0">
                <a:solidFill>
                  <a:srgbClr val="0000FF"/>
                </a:solidFill>
              </a:rPr>
              <a:t>可以有相同的域</a:t>
            </a:r>
            <a:r>
              <a:rPr lang="zh-CN" altLang="en-US" dirty="0"/>
              <a:t>。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 D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笛卡儿积</a:t>
            </a:r>
            <a:r>
              <a:rPr lang="zh-CN" altLang="en-US" dirty="0"/>
              <a:t>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C00000"/>
                </a:solidFill>
              </a:rPr>
              <a:t>D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×D</a:t>
            </a:r>
            <a:r>
              <a:rPr lang="en-US" altLang="zh-CN" baseline="-25000" dirty="0">
                <a:solidFill>
                  <a:srgbClr val="C00000"/>
                </a:solidFill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×</a:t>
            </a:r>
            <a:r>
              <a:rPr lang="en-US" altLang="zh-CN" dirty="0">
                <a:solidFill>
                  <a:srgbClr val="C00000"/>
                </a:solidFill>
                <a:latin typeface="Arial" charset="0"/>
              </a:rPr>
              <a:t>…</a:t>
            </a:r>
            <a:r>
              <a:rPr lang="en-US" altLang="zh-CN" dirty="0">
                <a:solidFill>
                  <a:srgbClr val="C00000"/>
                </a:solidFill>
              </a:rPr>
              <a:t>×</a:t>
            </a:r>
            <a:r>
              <a:rPr lang="en-US" altLang="zh-CN" dirty="0" err="1">
                <a:solidFill>
                  <a:srgbClr val="C00000"/>
                </a:solidFill>
              </a:rPr>
              <a:t>D</a:t>
            </a:r>
            <a:r>
              <a:rPr lang="en-US" altLang="zh-CN" baseline="-25000" dirty="0" err="1">
                <a:solidFill>
                  <a:srgbClr val="C00000"/>
                </a:solidFill>
              </a:rPr>
              <a:t>n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dirty="0">
                <a:solidFill>
                  <a:srgbClr val="0000FF"/>
                </a:solidFill>
              </a:rPr>
              <a:t>(d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FF"/>
                </a:solidFill>
              </a:rPr>
              <a:t>,d</a:t>
            </a:r>
            <a:r>
              <a:rPr lang="en-US" altLang="zh-CN" baseline="-25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,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…</a:t>
            </a:r>
            <a:r>
              <a:rPr lang="en-US" altLang="zh-CN" dirty="0">
                <a:solidFill>
                  <a:srgbClr val="0000FF"/>
                </a:solidFill>
              </a:rPr>
              <a:t>,</a:t>
            </a:r>
            <a:r>
              <a:rPr lang="en-US" altLang="zh-CN" dirty="0" err="1">
                <a:solidFill>
                  <a:srgbClr val="0000FF"/>
                </a:solidFill>
              </a:rPr>
              <a:t>d</a:t>
            </a:r>
            <a:r>
              <a:rPr lang="en-US" altLang="zh-CN" baseline="-25000" dirty="0" err="1">
                <a:solidFill>
                  <a:srgbClr val="0000FF"/>
                </a:solidFill>
              </a:rPr>
              <a:t>n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en-US" altLang="zh-CN" dirty="0"/>
              <a:t>| </a:t>
            </a:r>
            <a:r>
              <a:rPr lang="en-US" altLang="zh-CN" dirty="0" err="1">
                <a:solidFill>
                  <a:srgbClr val="C00000"/>
                </a:solidFill>
              </a:rPr>
              <a:t>d</a:t>
            </a:r>
            <a:r>
              <a:rPr lang="en-US" altLang="zh-CN" baseline="-25000" dirty="0" err="1">
                <a:solidFill>
                  <a:srgbClr val="C00000"/>
                </a:solidFill>
              </a:rPr>
              <a:t>i</a:t>
            </a:r>
            <a:r>
              <a:rPr lang="en-US" altLang="zh-CN" dirty="0" err="1">
                <a:solidFill>
                  <a:srgbClr val="C00000"/>
                </a:solidFill>
              </a:rPr>
              <a:t>∈D</a:t>
            </a:r>
            <a:r>
              <a:rPr lang="en-US" altLang="zh-CN" baseline="-25000" dirty="0" err="1">
                <a:solidFill>
                  <a:srgbClr val="C00000"/>
                </a:solidFill>
              </a:rPr>
              <a:t>i</a:t>
            </a:r>
            <a:r>
              <a:rPr lang="en-US" altLang="zh-CN" dirty="0"/>
              <a:t>, </a:t>
            </a:r>
            <a:r>
              <a:rPr lang="en-US" altLang="zh-CN" dirty="0" err="1"/>
              <a:t>i</a:t>
            </a:r>
            <a:r>
              <a:rPr lang="en-US" altLang="zh-CN" dirty="0"/>
              <a:t>=1, 2,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n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zh-CN" altLang="en-US" dirty="0"/>
              <a:t>，其中每一个元素</a:t>
            </a:r>
            <a:r>
              <a:rPr lang="en-US" altLang="zh-CN" dirty="0"/>
              <a:t>(d</a:t>
            </a:r>
            <a:r>
              <a:rPr lang="en-US" altLang="zh-CN" baseline="-25000" dirty="0"/>
              <a:t>1</a:t>
            </a:r>
            <a:r>
              <a:rPr lang="en-US" altLang="zh-CN" dirty="0"/>
              <a:t>,d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称为一个</a:t>
            </a:r>
            <a:r>
              <a:rPr lang="en-US" altLang="zh-CN" b="1" dirty="0">
                <a:solidFill>
                  <a:srgbClr val="C2290A"/>
                </a:solidFill>
              </a:rPr>
              <a:t>n</a:t>
            </a:r>
            <a:r>
              <a:rPr lang="zh-CN" altLang="en-US" b="1" dirty="0">
                <a:solidFill>
                  <a:srgbClr val="C2290A"/>
                </a:solidFill>
              </a:rPr>
              <a:t>元组</a:t>
            </a:r>
            <a:r>
              <a:rPr lang="zh-CN" altLang="en-US" dirty="0"/>
              <a:t>。元素中的</a:t>
            </a:r>
            <a:r>
              <a:rPr lang="zh-CN" altLang="en-US" dirty="0">
                <a:solidFill>
                  <a:srgbClr val="0000FF"/>
                </a:solidFill>
              </a:rPr>
              <a:t>每个值</a:t>
            </a:r>
            <a:r>
              <a:rPr lang="en-US" altLang="zh-CN" dirty="0">
                <a:solidFill>
                  <a:srgbClr val="0000FF"/>
                </a:solidFill>
              </a:rPr>
              <a:t>d</a:t>
            </a:r>
            <a:r>
              <a:rPr lang="en-US" altLang="zh-CN" baseline="-25000" dirty="0">
                <a:solidFill>
                  <a:srgbClr val="0000FF"/>
                </a:solidFill>
              </a:rPr>
              <a:t>i</a:t>
            </a:r>
            <a:r>
              <a:rPr lang="zh-CN" altLang="en-US" dirty="0"/>
              <a:t>称为一个</a:t>
            </a:r>
            <a:r>
              <a:rPr lang="zh-CN" altLang="en-US" b="1" dirty="0">
                <a:solidFill>
                  <a:srgbClr val="C2290A"/>
                </a:solidFill>
              </a:rPr>
              <a:t>分量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FACF97-4356-48D0-A6EF-A7C0E20DC69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62056C1-2B1F-4EEB-A71B-BB7B2AA31F6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  <a:r>
              <a:rPr lang="en-US" altLang="zh-CN"/>
              <a:t> </a:t>
            </a:r>
            <a:r>
              <a:rPr lang="en-US" altLang="zh-CN">
                <a:latin typeface="Arial" charset="0"/>
              </a:rPr>
              <a:t>—</a:t>
            </a:r>
            <a:r>
              <a:rPr lang="en-US" altLang="zh-CN"/>
              <a:t> </a:t>
            </a:r>
            <a:r>
              <a:rPr lang="zh-CN" altLang="en-US"/>
              <a:t>笛卡儿积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例：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={</a:t>
            </a:r>
            <a:r>
              <a:rPr lang="zh-CN" altLang="en-US" dirty="0"/>
              <a:t>大，中，小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={</a:t>
            </a:r>
            <a:r>
              <a:rPr lang="zh-CN" altLang="en-US" dirty="0"/>
              <a:t>红，绿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	D</a:t>
            </a:r>
            <a:r>
              <a:rPr lang="en-US" altLang="zh-CN" baseline="-25000" dirty="0"/>
              <a:t>1</a:t>
            </a:r>
            <a:r>
              <a:rPr lang="en-US" altLang="zh-CN" dirty="0"/>
              <a:t>×D</a:t>
            </a:r>
            <a:r>
              <a:rPr lang="en-US" altLang="zh-CN" baseline="-25000" dirty="0"/>
              <a:t>2</a:t>
            </a:r>
            <a:r>
              <a:rPr lang="en-US" altLang="zh-CN" dirty="0"/>
              <a:t>={(</a:t>
            </a:r>
            <a:r>
              <a:rPr lang="zh-CN" altLang="en-US" dirty="0"/>
              <a:t>大，红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大，绿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中，红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中，绿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小，红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小，绿</a:t>
            </a:r>
            <a:r>
              <a:rPr lang="en-US" altLang="zh-CN" dirty="0"/>
              <a:t>)}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	共有</a:t>
            </a:r>
            <a:r>
              <a:rPr lang="en-US" altLang="zh-CN" dirty="0"/>
              <a:t>3×2</a:t>
            </a:r>
            <a:r>
              <a:rPr lang="zh-CN" altLang="en-US" dirty="0"/>
              <a:t>＝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2</a:t>
            </a:r>
            <a:r>
              <a:rPr lang="zh-CN" altLang="en-US" dirty="0"/>
              <a:t>元组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b="1" dirty="0">
              <a:solidFill>
                <a:srgbClr val="C2290A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2290A"/>
                </a:solidFill>
              </a:rPr>
              <a:t>	注意：集合论中笛卡儿集不满足交换率，即笛卡儿集的元组有序。</a:t>
            </a:r>
            <a:endParaRPr lang="zh-CN" altLang="en-US" dirty="0"/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381000" y="2209800"/>
            <a:ext cx="8610600" cy="40386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222B40-5BCD-455B-8A41-E11D71A7FCA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B62BC1-6B24-40B6-8EA9-4AB89A0EC84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 </a:t>
            </a:r>
            <a:r>
              <a:rPr lang="en-US" altLang="zh-CN">
                <a:latin typeface="Arial" charset="0"/>
              </a:rPr>
              <a:t>—</a:t>
            </a:r>
            <a:r>
              <a:rPr lang="en-US" altLang="zh-CN"/>
              <a:t> </a:t>
            </a:r>
            <a:r>
              <a:rPr lang="zh-CN" altLang="en-US"/>
              <a:t>笛卡儿积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例：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en-US" altLang="zh-CN"/>
              <a:t>={</a:t>
            </a:r>
            <a:r>
              <a:rPr lang="zh-CN" altLang="en-US"/>
              <a:t>大，中，小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en-US" altLang="zh-CN"/>
              <a:t>={</a:t>
            </a:r>
            <a:r>
              <a:rPr lang="zh-CN" altLang="en-US"/>
              <a:t>红，绿</a:t>
            </a:r>
            <a:r>
              <a:rPr lang="en-US" altLang="zh-CN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	D</a:t>
            </a:r>
            <a:r>
              <a:rPr lang="en-US" altLang="zh-CN" baseline="-25000"/>
              <a:t>1</a:t>
            </a:r>
            <a:r>
              <a:rPr lang="en-US" altLang="zh-CN"/>
              <a:t>×D</a:t>
            </a:r>
            <a:r>
              <a:rPr lang="en-US" altLang="zh-CN" baseline="-25000"/>
              <a:t>2</a:t>
            </a:r>
            <a:r>
              <a:rPr lang="en-US" altLang="zh-CN"/>
              <a:t>={(</a:t>
            </a:r>
            <a:r>
              <a:rPr lang="zh-CN" altLang="en-US"/>
              <a:t>大，红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zh-CN" altLang="en-US"/>
              <a:t>大，绿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zh-CN" altLang="en-US"/>
              <a:t>中，红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zh-CN" altLang="en-US"/>
              <a:t>中，绿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zh-CN" altLang="en-US"/>
              <a:t>小，红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(</a:t>
            </a:r>
            <a:r>
              <a:rPr lang="zh-CN" altLang="en-US"/>
              <a:t>小，绿</a:t>
            </a:r>
            <a:r>
              <a:rPr lang="en-US" altLang="zh-CN"/>
              <a:t>)}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/>
              <a:t>	共有</a:t>
            </a:r>
            <a:r>
              <a:rPr lang="en-US" altLang="zh-CN"/>
              <a:t>3×2</a:t>
            </a:r>
            <a:r>
              <a:rPr lang="zh-CN" altLang="en-US"/>
              <a:t>＝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2</a:t>
            </a:r>
            <a:r>
              <a:rPr lang="zh-CN" altLang="en-US"/>
              <a:t>元组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b="1">
              <a:solidFill>
                <a:srgbClr val="C2290A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>
                <a:solidFill>
                  <a:srgbClr val="C2290A"/>
                </a:solidFill>
              </a:rPr>
              <a:t>	注意：集合论中笛卡儿集不满足交换率，即笛卡儿集的元组有序。</a:t>
            </a:r>
            <a:endParaRPr lang="zh-CN" altLang="en-US"/>
          </a:p>
        </p:txBody>
      </p:sp>
      <p:sp>
        <p:nvSpPr>
          <p:cNvPr id="18439" name="Rectangle 4"/>
          <p:cNvSpPr>
            <a:spLocks noChangeArrowheads="1"/>
          </p:cNvSpPr>
          <p:nvPr/>
        </p:nvSpPr>
        <p:spPr bwMode="auto">
          <a:xfrm>
            <a:off x="381000" y="4724400"/>
            <a:ext cx="8610600" cy="15240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5D4DDB-DF88-446F-920F-B6423DB40FE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CFDE11-520A-496B-869A-E24221D1D00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 </a:t>
            </a:r>
            <a:r>
              <a:rPr lang="en-US" altLang="zh-CN">
                <a:latin typeface="Arial" charset="0"/>
              </a:rPr>
              <a:t>—</a:t>
            </a:r>
            <a:r>
              <a:rPr lang="en-US" altLang="zh-CN"/>
              <a:t> </a:t>
            </a:r>
            <a:r>
              <a:rPr lang="zh-CN" altLang="en-US"/>
              <a:t>笛卡儿积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例：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={</a:t>
            </a:r>
            <a:r>
              <a:rPr lang="zh-CN" altLang="en-US" dirty="0"/>
              <a:t>大，中，小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={</a:t>
            </a:r>
            <a:r>
              <a:rPr lang="zh-CN" altLang="en-US" dirty="0"/>
              <a:t>红，绿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	D</a:t>
            </a:r>
            <a:r>
              <a:rPr lang="en-US" altLang="zh-CN" baseline="-25000" dirty="0"/>
              <a:t>1</a:t>
            </a:r>
            <a:r>
              <a:rPr lang="en-US" altLang="zh-CN" dirty="0"/>
              <a:t>×D</a:t>
            </a:r>
            <a:r>
              <a:rPr lang="en-US" altLang="zh-CN" baseline="-25000" dirty="0"/>
              <a:t>2</a:t>
            </a:r>
            <a:r>
              <a:rPr lang="en-US" altLang="zh-CN" dirty="0"/>
              <a:t>={(</a:t>
            </a:r>
            <a:r>
              <a:rPr lang="zh-CN" altLang="en-US" dirty="0"/>
              <a:t>大，红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大，绿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中，红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中，绿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小，红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zh-CN" altLang="en-US" dirty="0"/>
              <a:t>小，绿</a:t>
            </a:r>
            <a:r>
              <a:rPr lang="en-US" altLang="zh-CN" dirty="0"/>
              <a:t>)}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	共有</a:t>
            </a:r>
            <a:r>
              <a:rPr lang="en-US" altLang="zh-CN" dirty="0"/>
              <a:t>3×2</a:t>
            </a:r>
            <a:r>
              <a:rPr lang="zh-CN" altLang="en-US" dirty="0"/>
              <a:t>＝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2</a:t>
            </a:r>
            <a:r>
              <a:rPr lang="zh-CN" altLang="en-US" dirty="0"/>
              <a:t>元组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b="1" dirty="0">
              <a:solidFill>
                <a:srgbClr val="C2290A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2290A"/>
                </a:solidFill>
              </a:rPr>
              <a:t>	注意：</a:t>
            </a:r>
            <a:r>
              <a:rPr lang="zh-CN" altLang="en-US" b="1" dirty="0"/>
              <a:t>集合论中</a:t>
            </a:r>
            <a:r>
              <a:rPr lang="zh-CN" altLang="en-US" b="1" dirty="0">
                <a:solidFill>
                  <a:srgbClr val="C2290A"/>
                </a:solidFill>
              </a:rPr>
              <a:t>笛卡儿积不满足交换率，</a:t>
            </a:r>
            <a:r>
              <a:rPr lang="zh-CN" altLang="en-US" b="1" dirty="0"/>
              <a:t>即笛卡儿积的</a:t>
            </a:r>
            <a:r>
              <a:rPr lang="zh-CN" altLang="en-US" b="1" dirty="0">
                <a:solidFill>
                  <a:srgbClr val="C2290A"/>
                </a:solidFill>
              </a:rPr>
              <a:t>元组有序。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B3A849-9D86-4D86-92C5-E3D629981F1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DFE8DA-1CE5-454B-9832-F17D747363F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 </a:t>
            </a:r>
            <a:r>
              <a:rPr lang="en-US" altLang="zh-CN">
                <a:latin typeface="Arial" charset="0"/>
              </a:rPr>
              <a:t>—</a:t>
            </a:r>
            <a:r>
              <a:rPr lang="en-US" altLang="zh-CN"/>
              <a:t> </a:t>
            </a:r>
            <a:r>
              <a:rPr lang="zh-CN" altLang="en-US"/>
              <a:t>笛卡儿积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基数</a:t>
            </a:r>
            <a:r>
              <a:rPr lang="zh-CN" altLang="en-US" dirty="0"/>
              <a:t>的概念：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	若</a:t>
            </a:r>
            <a:r>
              <a:rPr lang="en-US" altLang="zh-CN" dirty="0"/>
              <a:t>D</a:t>
            </a:r>
            <a:r>
              <a:rPr lang="en-US" altLang="zh-CN" baseline="-25000" dirty="0"/>
              <a:t>i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=1, 2,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n)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有限集</a:t>
            </a:r>
            <a:r>
              <a:rPr lang="zh-CN" altLang="en-US" dirty="0"/>
              <a:t>，其</a:t>
            </a:r>
            <a:r>
              <a:rPr lang="zh-CN" altLang="en-US" b="1" dirty="0">
                <a:solidFill>
                  <a:srgbClr val="C00000"/>
                </a:solidFill>
              </a:rPr>
              <a:t>基数</a:t>
            </a:r>
            <a:r>
              <a:rPr lang="zh-CN" altLang="en-US" dirty="0"/>
              <a:t>为</a:t>
            </a:r>
            <a:r>
              <a:rPr lang="en-US" altLang="zh-CN" dirty="0"/>
              <a:t>|D</a:t>
            </a:r>
            <a:r>
              <a:rPr lang="en-US" altLang="zh-CN" baseline="-25000" dirty="0"/>
              <a:t>i</a:t>
            </a:r>
            <a:r>
              <a:rPr lang="en-US" altLang="zh-CN" dirty="0"/>
              <a:t>|</a:t>
            </a:r>
            <a:r>
              <a:rPr lang="zh-CN" altLang="en-US" dirty="0"/>
              <a:t>，则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×D</a:t>
            </a:r>
            <a:r>
              <a:rPr lang="en-US" altLang="zh-CN" baseline="-25000" dirty="0"/>
              <a:t>2</a:t>
            </a:r>
            <a:r>
              <a:rPr lang="en-US" altLang="zh-CN" dirty="0"/>
              <a:t>×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 ×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基数</a:t>
            </a:r>
            <a:r>
              <a:rPr lang="zh-CN" altLang="en-US" dirty="0"/>
              <a:t>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        </a:t>
            </a:r>
            <a:r>
              <a:rPr lang="en-US" altLang="zh-CN" dirty="0"/>
              <a:t>|D</a:t>
            </a:r>
            <a:r>
              <a:rPr lang="en-US" altLang="zh-CN" baseline="-25000" dirty="0"/>
              <a:t>1</a:t>
            </a:r>
            <a:r>
              <a:rPr lang="en-US" altLang="zh-CN" dirty="0"/>
              <a:t>|×|D</a:t>
            </a:r>
            <a:r>
              <a:rPr lang="en-US" altLang="zh-CN" baseline="-25000" dirty="0"/>
              <a:t>2</a:t>
            </a:r>
            <a:r>
              <a:rPr lang="en-US" altLang="zh-CN" dirty="0"/>
              <a:t>|×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 ×|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en-US" altLang="zh-CN" dirty="0"/>
              <a:t>|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797405-98B4-44A6-A5CC-3C4FBF59DFA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E1504B-6E32-4524-A47D-F2855824CEF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3. </a:t>
            </a:r>
            <a:r>
              <a:rPr lang="zh-CN" altLang="en-US" dirty="0"/>
              <a:t>关系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/>
              <a:t>	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2.3</a:t>
            </a:r>
            <a:r>
              <a:rPr lang="en-US" altLang="zh-CN" dirty="0"/>
              <a:t>  D</a:t>
            </a:r>
            <a:r>
              <a:rPr lang="en-US" altLang="zh-CN" baseline="-25000" dirty="0"/>
              <a:t>1</a:t>
            </a:r>
            <a:r>
              <a:rPr lang="en-US" altLang="zh-CN" dirty="0"/>
              <a:t>×D</a:t>
            </a:r>
            <a:r>
              <a:rPr lang="en-US" altLang="zh-CN" baseline="-25000" dirty="0"/>
              <a:t>2</a:t>
            </a:r>
            <a:r>
              <a:rPr lang="en-US" altLang="zh-CN" dirty="0"/>
              <a:t>×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 ×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zh-CN" altLang="en-US" dirty="0"/>
              <a:t>的</a:t>
            </a:r>
            <a:r>
              <a:rPr lang="zh-CN" altLang="en-US" b="1" u="sng" dirty="0">
                <a:solidFill>
                  <a:srgbClr val="C2290A"/>
                </a:solidFill>
              </a:rPr>
              <a:t>任意</a:t>
            </a:r>
            <a:r>
              <a:rPr lang="zh-CN" altLang="en-US" b="1" dirty="0">
                <a:solidFill>
                  <a:srgbClr val="0000FF"/>
                </a:solidFill>
              </a:rPr>
              <a:t>子集</a:t>
            </a:r>
            <a:r>
              <a:rPr lang="zh-CN" altLang="en-US" dirty="0"/>
              <a:t>叫做在域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 D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n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CC0000"/>
                </a:solidFill>
              </a:rPr>
              <a:t>关系</a:t>
            </a:r>
            <a:r>
              <a:rPr lang="zh-CN" altLang="en-US" dirty="0"/>
              <a:t>，可记做：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00FF"/>
                </a:solidFill>
              </a:rPr>
              <a:t>D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FF"/>
                </a:solidFill>
              </a:rPr>
              <a:t>, D</a:t>
            </a:r>
            <a:r>
              <a:rPr lang="en-US" altLang="zh-CN" baseline="-25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…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D</a:t>
            </a:r>
            <a:r>
              <a:rPr lang="en-US" altLang="zh-CN" baseline="-25000" dirty="0" err="1">
                <a:solidFill>
                  <a:srgbClr val="0000FF"/>
                </a:solidFill>
              </a:rPr>
              <a:t>n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R</a:t>
            </a:r>
            <a:r>
              <a:rPr lang="zh-CN" altLang="en-US" dirty="0"/>
              <a:t>为关系名，</a:t>
            </a:r>
            <a:r>
              <a:rPr lang="en-US" altLang="zh-CN" dirty="0"/>
              <a:t>n</a:t>
            </a:r>
            <a:r>
              <a:rPr lang="zh-CN" altLang="en-US" dirty="0"/>
              <a:t>是关系的</a:t>
            </a:r>
            <a:r>
              <a:rPr lang="zh-CN" altLang="en-US" b="1" u="sng" dirty="0">
                <a:solidFill>
                  <a:srgbClr val="0000FF"/>
                </a:solidFill>
              </a:rPr>
              <a:t>目</a:t>
            </a:r>
            <a:r>
              <a:rPr lang="zh-CN" altLang="en-US" u="sng" dirty="0"/>
              <a:t>或</a:t>
            </a:r>
            <a:r>
              <a:rPr lang="zh-CN" altLang="en-US" b="1" u="sng" dirty="0">
                <a:solidFill>
                  <a:srgbClr val="0000FF"/>
                </a:solidFill>
              </a:rPr>
              <a:t>度</a:t>
            </a:r>
            <a:r>
              <a:rPr lang="en-US" altLang="zh-CN" dirty="0"/>
              <a:t>(degree)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E9E5BB-1885-45AA-A6F5-514121F020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6B1445-E5C5-4EA0-B565-8AD91209FBA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dirty="0"/>
              <a:t>注意：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dirty="0"/>
              <a:t>这里的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子集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是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>
                <a:solidFill>
                  <a:srgbClr val="C2290A"/>
                </a:solidFill>
              </a:rPr>
              <a:t>任意</a:t>
            </a:r>
            <a:r>
              <a:rPr lang="zh-CN" altLang="en-US" dirty="0"/>
              <a:t>子集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，包括</a:t>
            </a:r>
            <a:r>
              <a:rPr lang="zh-CN" altLang="en-US" b="1" dirty="0">
                <a:solidFill>
                  <a:srgbClr val="0000FF"/>
                </a:solidFill>
              </a:rPr>
              <a:t>空集</a:t>
            </a:r>
            <a:r>
              <a:rPr lang="zh-CN" altLang="en-US" dirty="0"/>
              <a:t>。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u="sng" dirty="0"/>
              <a:t>笛卡儿积不满足交换率</a:t>
            </a:r>
            <a:r>
              <a:rPr lang="zh-CN" altLang="en-US" dirty="0"/>
              <a:t>，而关系通过给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列</a:t>
            </a:r>
            <a:r>
              <a:rPr lang="zh-CN" altLang="en-US" b="1" u="sng" dirty="0">
                <a:solidFill>
                  <a:srgbClr val="0000FF"/>
                </a:solidFill>
              </a:rPr>
              <a:t>附加属性名</a:t>
            </a:r>
            <a:r>
              <a:rPr lang="zh-CN" altLang="en-US" dirty="0"/>
              <a:t>的方式</a:t>
            </a:r>
            <a:r>
              <a:rPr lang="zh-CN" altLang="en-US" dirty="0">
                <a:solidFill>
                  <a:srgbClr val="C2290A"/>
                </a:solidFill>
              </a:rPr>
              <a:t>取消笛卡儿积元组的有序性</a:t>
            </a:r>
            <a:r>
              <a:rPr lang="zh-CN" altLang="en-US" dirty="0"/>
              <a:t>。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dirty="0"/>
              <a:t>按定义</a:t>
            </a:r>
            <a:r>
              <a:rPr lang="en-US" altLang="zh-CN" dirty="0"/>
              <a:t>2.3</a:t>
            </a:r>
            <a:r>
              <a:rPr lang="zh-CN" altLang="en-US" dirty="0"/>
              <a:t>，关系可以是无限集。通常我们</a:t>
            </a:r>
            <a:r>
              <a:rPr lang="zh-CN" altLang="en-US" u="sng" dirty="0"/>
              <a:t>在关系数据模型中限定关系为</a:t>
            </a:r>
            <a:r>
              <a:rPr lang="zh-CN" altLang="en-US" u="sng" dirty="0">
                <a:solidFill>
                  <a:srgbClr val="C2290A"/>
                </a:solidFill>
              </a:rPr>
              <a:t>有限</a:t>
            </a:r>
            <a:r>
              <a:rPr lang="zh-CN" altLang="en-US" u="sng" dirty="0"/>
              <a:t>关系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7" name="Group 1284"/>
          <p:cNvGraphicFramePr>
            <a:graphicFrameLocks/>
          </p:cNvGraphicFramePr>
          <p:nvPr/>
        </p:nvGraphicFramePr>
        <p:xfrm>
          <a:off x="2555776" y="74289"/>
          <a:ext cx="6481762" cy="2490615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376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学  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姓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性  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系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王小明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社会学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黄大鹏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商品学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张文斌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法律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8F106-3A8A-4FAD-A6DB-E9CA2002A83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B4E72-E01B-41DB-8F5C-3C7A3DA4C39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关系数据库中，</a:t>
            </a:r>
            <a:r>
              <a:rPr lang="zh-CN" altLang="en-US" sz="2800" dirty="0">
                <a:solidFill>
                  <a:srgbClr val="0000FF"/>
                </a:solidFill>
              </a:rPr>
              <a:t>数据结构</a:t>
            </a:r>
            <a:r>
              <a:rPr lang="zh-CN" altLang="en-US" sz="2800" dirty="0"/>
              <a:t>即是一张二维表，</a:t>
            </a:r>
            <a:r>
              <a:rPr lang="zh-CN" altLang="en-US" sz="2800" dirty="0">
                <a:solidFill>
                  <a:srgbClr val="0000FF"/>
                </a:solidFill>
              </a:rPr>
              <a:t>用</a:t>
            </a:r>
            <a:r>
              <a:rPr lang="zh-CN" altLang="en-US" sz="2800" b="1" dirty="0">
                <a:solidFill>
                  <a:srgbClr val="0000FF"/>
                </a:solidFill>
              </a:rPr>
              <a:t>关系</a:t>
            </a:r>
            <a:r>
              <a:rPr lang="zh-CN" altLang="en-US" sz="2800" dirty="0"/>
              <a:t>指代</a:t>
            </a:r>
            <a:r>
              <a:rPr lang="zh-CN" altLang="en-US" sz="2800" b="1" dirty="0">
                <a:solidFill>
                  <a:srgbClr val="0000FF"/>
                </a:solidFill>
              </a:rPr>
              <a:t>表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每张表都有唯一的名称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关系是元组的集合</a:t>
            </a: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3AE26501-0FA5-837B-ECDA-1EFB2292EA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7"/>
          <a:stretch/>
        </p:blipFill>
        <p:spPr>
          <a:xfrm>
            <a:off x="5154847" y="2705685"/>
            <a:ext cx="3989153" cy="342682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158785-0EA9-09B4-9FCF-D305A6990C49}"/>
              </a:ext>
            </a:extLst>
          </p:cNvPr>
          <p:cNvSpPr txBox="1"/>
          <p:nvPr/>
        </p:nvSpPr>
        <p:spPr>
          <a:xfrm>
            <a:off x="6470036" y="6058972"/>
            <a:ext cx="1714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Instructor </a:t>
            </a:r>
            <a:r>
              <a:rPr lang="zh-CN" altLang="en-US" dirty="0"/>
              <a:t>关系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9DDDDFB-23A5-4D46-0EEE-F58678862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2927" y="2003659"/>
            <a:ext cx="11079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800" dirty="0">
                <a:latin typeface="+mn-ea"/>
                <a:ea typeface="+mn-ea"/>
              </a:rPr>
              <a:t>属性</a:t>
            </a:r>
            <a:r>
              <a:rPr lang="en-US" altLang="en-US" sz="1800" dirty="0">
                <a:latin typeface="+mn-ea"/>
                <a:ea typeface="+mn-ea"/>
              </a:rPr>
              <a:t>(</a:t>
            </a:r>
            <a:r>
              <a:rPr lang="zh-CN" altLang="en-US" sz="1800" dirty="0">
                <a:latin typeface="+mn-ea"/>
                <a:ea typeface="+mn-ea"/>
              </a:rPr>
              <a:t>列</a:t>
            </a:r>
            <a:r>
              <a:rPr lang="en-US" altLang="en-US" sz="1800" dirty="0">
                <a:latin typeface="+mn-ea"/>
                <a:ea typeface="+mn-ea"/>
              </a:rPr>
              <a:t>)</a:t>
            </a:r>
            <a:endParaRPr lang="en-US" altLang="en-US" dirty="0">
              <a:latin typeface="+mn-ea"/>
              <a:ea typeface="+mn-ea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97338184-AB91-5E23-1ED9-75E663FA5B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0775" y="2328112"/>
            <a:ext cx="2464130" cy="5283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D9037679-F690-B121-4F02-8FE5F31226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0789" y="2328112"/>
            <a:ext cx="1094116" cy="5283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147F4960-D043-1558-FD1E-4AF714F1D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4905" y="2328112"/>
            <a:ext cx="117146" cy="537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5AB45A14-346E-BDB5-0C55-6B480EF72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086" y="3382963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zh-CN" altLang="en-US" sz="1800" dirty="0">
                <a:latin typeface="+mn-ea"/>
                <a:ea typeface="+mn-ea"/>
              </a:rPr>
              <a:t>元组</a:t>
            </a:r>
            <a:r>
              <a:rPr lang="en-US" altLang="zh-CN" sz="1800" dirty="0">
                <a:latin typeface="+mn-ea"/>
                <a:ea typeface="+mn-ea"/>
              </a:rPr>
              <a:t>(</a:t>
            </a:r>
            <a:r>
              <a:rPr lang="zh-CN" altLang="en-US" sz="1800" dirty="0">
                <a:latin typeface="+mn-ea"/>
                <a:ea typeface="+mn-ea"/>
              </a:rPr>
              <a:t>行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  <a:endParaRPr lang="en-US" altLang="en-US" dirty="0">
              <a:latin typeface="+mn-ea"/>
              <a:ea typeface="+mn-ea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5B27FAC1-9B13-AD75-AD98-02B6866B40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6008" y="3318669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6A3233A4-7DFE-455C-F35E-39148E762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3308" y="3537744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624FAC76-0AEF-9C96-4ABA-EF31CC6D4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195" y="3548856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2071973D-8333-8AD6-5689-874B0E44B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3308" y="3558381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ADD5A669-8F7E-8DC6-99E4-AD6EFEC9C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4905" y="2337638"/>
            <a:ext cx="686641" cy="5283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703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032DA9-A0F6-477F-8C89-2C1D37D3106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BF12EF-5E59-4580-82CB-72ACA29389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993300"/>
                </a:solidFill>
              </a:rPr>
              <a:t>基本关系六性质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列是</a:t>
            </a:r>
            <a:r>
              <a:rPr lang="zh-CN" altLang="en-US" sz="2800" dirty="0">
                <a:solidFill>
                  <a:srgbClr val="0000FF"/>
                </a:solidFill>
              </a:rPr>
              <a:t>同质</a:t>
            </a:r>
            <a:r>
              <a:rPr lang="zh-CN" altLang="en-US" sz="2800" dirty="0"/>
              <a:t>的；</a:t>
            </a:r>
            <a:r>
              <a:rPr lang="zh-CN" altLang="en-US" sz="2800" dirty="0">
                <a:solidFill>
                  <a:srgbClr val="0000FF"/>
                </a:solidFill>
              </a:rPr>
              <a:t>不同列可出自同一个域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每一列为一个属性，不同属性</a:t>
            </a:r>
            <a:r>
              <a:rPr lang="en-US" altLang="zh-CN" sz="2800" dirty="0"/>
              <a:t>(</a:t>
            </a:r>
            <a:r>
              <a:rPr lang="zh-CN" altLang="en-US" sz="2800" dirty="0"/>
              <a:t>列</a:t>
            </a:r>
            <a:r>
              <a:rPr lang="en-US" altLang="zh-CN" sz="2800" dirty="0"/>
              <a:t>)</a:t>
            </a:r>
            <a:r>
              <a:rPr lang="zh-CN" altLang="en-US" sz="2800" dirty="0"/>
              <a:t>给</a:t>
            </a:r>
            <a:r>
              <a:rPr lang="zh-CN" altLang="en-US" sz="2800" dirty="0">
                <a:solidFill>
                  <a:srgbClr val="0000FF"/>
                </a:solidFill>
              </a:rPr>
              <a:t>不同属性名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0000FF"/>
                </a:solidFill>
              </a:rPr>
              <a:t>列的顺序可任意交换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任意两个元组不能完全相同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en-US" sz="2800" dirty="0">
                <a:solidFill>
                  <a:srgbClr val="0000FF"/>
                </a:solidFill>
              </a:rPr>
              <a:t>任意两个元组的候选码不能相同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zh-CN" altLang="en-US" sz="2800" dirty="0">
                <a:solidFill>
                  <a:srgbClr val="C00000"/>
                </a:solidFill>
              </a:rPr>
              <a:t>；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0000FF"/>
                </a:solidFill>
              </a:rPr>
              <a:t>行的顺序可任意交换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每一分量是</a:t>
            </a:r>
            <a:r>
              <a:rPr lang="zh-CN" altLang="en-US" sz="2800" b="1" dirty="0">
                <a:solidFill>
                  <a:srgbClr val="0000FF"/>
                </a:solidFill>
              </a:rPr>
              <a:t>不可分</a:t>
            </a:r>
            <a:r>
              <a:rPr lang="zh-CN" altLang="en-US" sz="2800" dirty="0"/>
              <a:t>的数据项（原子的）。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032DA9-A0F6-477F-8C89-2C1D37D3106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BF12EF-5E59-4580-82CB-72ACA29389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993300"/>
                </a:solidFill>
              </a:rPr>
              <a:t>基本关系六性质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列是同质的；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不同列可出自同一个域，每一列为一个属性，不同属性</a:t>
            </a:r>
            <a:r>
              <a:rPr lang="en-US" altLang="zh-CN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(</a:t>
            </a: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列</a:t>
            </a:r>
            <a:r>
              <a:rPr lang="en-US" altLang="zh-CN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)</a:t>
            </a: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给不同属性名；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列的顺序可任意交换；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任意两个元组不能完全相同</a:t>
            </a:r>
            <a:r>
              <a:rPr lang="en-US" altLang="zh-CN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(</a:t>
            </a: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任意两个元组的候选码不能相同</a:t>
            </a:r>
            <a:r>
              <a:rPr lang="en-US" altLang="zh-CN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)</a:t>
            </a: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行的顺序可任意交换；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每一分量是</a:t>
            </a:r>
            <a:r>
              <a:rPr lang="zh-CN" altLang="en-US" sz="2800" b="1" dirty="0">
                <a:solidFill>
                  <a:srgbClr val="0000FF"/>
                </a:solidFill>
              </a:rPr>
              <a:t>不可分</a:t>
            </a:r>
            <a:r>
              <a:rPr lang="zh-CN" altLang="en-US" sz="2800" dirty="0"/>
              <a:t>的数据项。</a:t>
            </a:r>
          </a:p>
        </p:txBody>
      </p:sp>
      <p:pic>
        <p:nvPicPr>
          <p:cNvPr id="181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58" y="2743200"/>
            <a:ext cx="6410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箭头连接符 2"/>
          <p:cNvCxnSpPr/>
          <p:nvPr/>
        </p:nvCxnSpPr>
        <p:spPr bwMode="auto">
          <a:xfrm>
            <a:off x="7198483" y="3515737"/>
            <a:ext cx="802517" cy="157163"/>
          </a:xfrm>
          <a:prstGeom prst="straightConnector1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7924800" y="3382164"/>
            <a:ext cx="121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rPr>
              <a:t>小表</a:t>
            </a:r>
          </a:p>
        </p:txBody>
      </p:sp>
      <p:sp>
        <p:nvSpPr>
          <p:cNvPr id="9" name="乘号 8"/>
          <p:cNvSpPr/>
          <p:nvPr/>
        </p:nvSpPr>
        <p:spPr bwMode="auto">
          <a:xfrm>
            <a:off x="4953000" y="2874451"/>
            <a:ext cx="1427541" cy="1600200"/>
          </a:xfrm>
          <a:prstGeom prst="mathMultiply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383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032DA9-A0F6-477F-8C89-2C1D37D3106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BF12EF-5E59-4580-82CB-72ACA29389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993300"/>
                </a:solidFill>
              </a:rPr>
              <a:t>基本关系六性质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列是</a:t>
            </a:r>
            <a:r>
              <a:rPr lang="zh-CN" altLang="en-US" sz="2800" dirty="0">
                <a:solidFill>
                  <a:srgbClr val="0000FF"/>
                </a:solidFill>
              </a:rPr>
              <a:t>同质</a:t>
            </a:r>
            <a:r>
              <a:rPr lang="zh-CN" altLang="en-US" sz="2800" dirty="0"/>
              <a:t>的；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0000FF"/>
                </a:solidFill>
              </a:rPr>
              <a:t>不同列可出自同一个域</a:t>
            </a:r>
            <a:r>
              <a:rPr lang="zh-CN" altLang="en-US" sz="2800" dirty="0"/>
              <a:t>，每一列为一个属性，不同属性</a:t>
            </a:r>
            <a:r>
              <a:rPr lang="en-US" altLang="zh-CN" sz="2800" dirty="0"/>
              <a:t>(</a:t>
            </a:r>
            <a:r>
              <a:rPr lang="zh-CN" altLang="en-US" sz="2800" dirty="0"/>
              <a:t>列</a:t>
            </a:r>
            <a:r>
              <a:rPr lang="en-US" altLang="zh-CN" sz="2800" dirty="0"/>
              <a:t>)</a:t>
            </a:r>
            <a:r>
              <a:rPr lang="zh-CN" altLang="en-US" sz="2800" dirty="0"/>
              <a:t>给</a:t>
            </a:r>
            <a:r>
              <a:rPr lang="zh-CN" altLang="en-US" sz="2800" dirty="0">
                <a:solidFill>
                  <a:srgbClr val="0000FF"/>
                </a:solidFill>
              </a:rPr>
              <a:t>不同属性名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0000FF"/>
                </a:solidFill>
              </a:rPr>
              <a:t>列的顺序可任意交换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C00000"/>
                </a:solidFill>
              </a:rPr>
              <a:t>任意两个元组不能完全相同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zh-CN" altLang="en-US" sz="2800" dirty="0">
                <a:solidFill>
                  <a:srgbClr val="C00000"/>
                </a:solidFill>
              </a:rPr>
              <a:t>任意两个元组的候选码不能相同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zh-CN" altLang="en-US" sz="2800" dirty="0">
                <a:solidFill>
                  <a:srgbClr val="C00000"/>
                </a:solidFill>
              </a:rPr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>
                <a:solidFill>
                  <a:srgbClr val="0000FF"/>
                </a:solidFill>
              </a:rPr>
              <a:t>行的顺序可任意交换</a:t>
            </a:r>
            <a:r>
              <a:rPr lang="zh-CN" altLang="en-US" sz="2800" dirty="0"/>
              <a:t>；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每一分量是</a:t>
            </a:r>
            <a:r>
              <a:rPr lang="zh-CN" altLang="en-US" sz="2800" b="1" dirty="0">
                <a:solidFill>
                  <a:srgbClr val="0000FF"/>
                </a:solidFill>
              </a:rPr>
              <a:t>不可分</a:t>
            </a:r>
            <a:r>
              <a:rPr lang="zh-CN" altLang="en-US" sz="2800" dirty="0"/>
              <a:t>的数据项。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记忆方法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solidFill>
                  <a:srgbClr val="C2290A"/>
                </a:solidFill>
              </a:rPr>
              <a:t>三列两行一分量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44438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45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8F106-3A8A-4FAD-A6DB-E9CA2002A83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B4E72-E01B-41DB-8F5C-3C7A3DA4C39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关系</a:t>
            </a:r>
            <a:r>
              <a:rPr lang="en-US" altLang="zh-CN" dirty="0"/>
              <a:t>-</a:t>
            </a:r>
            <a:r>
              <a:rPr lang="zh-CN" altLang="en-US" dirty="0"/>
              <a:t>码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关系中的元组如何区分？</a:t>
            </a:r>
            <a:endParaRPr lang="en-US" altLang="zh-CN" sz="2800" b="1" dirty="0"/>
          </a:p>
          <a:p>
            <a:pPr eaLnBrk="1" hangingPunct="1"/>
            <a:r>
              <a:rPr lang="zh-CN" altLang="en-US" sz="2800" dirty="0"/>
              <a:t>任意</a:t>
            </a:r>
            <a:r>
              <a:rPr lang="zh-CN" altLang="en-US" sz="2800" dirty="0">
                <a:solidFill>
                  <a:srgbClr val="0000FF"/>
                </a:solidFill>
              </a:rPr>
              <a:t>两个元组不能完全相同</a:t>
            </a:r>
            <a:r>
              <a:rPr lang="zh-CN" altLang="en-US" sz="2800" dirty="0"/>
              <a:t>，也即一个元组的所有属性值是可以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唯一标识</a:t>
            </a:r>
            <a:r>
              <a:rPr lang="zh-CN" altLang="en-US" sz="2800" dirty="0"/>
              <a:t>元组的。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超码</a:t>
            </a:r>
            <a:r>
              <a:rPr lang="zh-CN" altLang="en-US" sz="2800" dirty="0"/>
              <a:t>－－关系中一个或多个属性的集合，这个集合可以</a:t>
            </a:r>
            <a:r>
              <a:rPr lang="zh-CN" altLang="en-US" sz="2800" b="1" dirty="0"/>
              <a:t>唯一标识</a:t>
            </a:r>
            <a:r>
              <a:rPr lang="zh-CN" altLang="en-US" sz="2800" dirty="0"/>
              <a:t>出一个元组。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超码的子集也可能是超码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而我们通常感兴趣的超码是，它们的任意</a:t>
            </a:r>
            <a:r>
              <a:rPr lang="zh-CN" altLang="en-US" sz="2800" dirty="0">
                <a:solidFill>
                  <a:srgbClr val="0000FF"/>
                </a:solidFill>
              </a:rPr>
              <a:t>真子集都不是超码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800" dirty="0"/>
              <a:t>最小的超码，称为</a:t>
            </a:r>
            <a:r>
              <a:rPr lang="zh-CN" altLang="en-US" sz="2800" dirty="0">
                <a:solidFill>
                  <a:srgbClr val="0000FF"/>
                </a:solidFill>
              </a:rPr>
              <a:t>候选码</a:t>
            </a:r>
            <a:endParaRPr lang="en-US" altLang="zh-CN" sz="2800" dirty="0">
              <a:solidFill>
                <a:srgbClr val="0000FF"/>
              </a:solidFill>
            </a:endParaRP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3F4A4156-FA53-EE4E-6BAA-9B671E781F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7"/>
          <a:stretch/>
        </p:blipFill>
        <p:spPr>
          <a:xfrm>
            <a:off x="6771406" y="0"/>
            <a:ext cx="2172569" cy="1866316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35947A11-6337-1BBC-7BC6-3C0F878808F5}"/>
              </a:ext>
            </a:extLst>
          </p:cNvPr>
          <p:cNvSpPr/>
          <p:nvPr/>
        </p:nvSpPr>
        <p:spPr bwMode="auto">
          <a:xfrm>
            <a:off x="6869234" y="0"/>
            <a:ext cx="345831" cy="285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02F974E-7697-F7C4-C313-0EA2169897C5}"/>
              </a:ext>
            </a:extLst>
          </p:cNvPr>
          <p:cNvSpPr/>
          <p:nvPr/>
        </p:nvSpPr>
        <p:spPr bwMode="auto">
          <a:xfrm>
            <a:off x="6696616" y="27049"/>
            <a:ext cx="1161074" cy="2856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9C7BC8F-400E-50E1-3B83-0003B5B4C318}"/>
              </a:ext>
            </a:extLst>
          </p:cNvPr>
          <p:cNvSpPr/>
          <p:nvPr/>
        </p:nvSpPr>
        <p:spPr bwMode="auto">
          <a:xfrm>
            <a:off x="7277153" y="29736"/>
            <a:ext cx="345831" cy="28562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graphicFrame>
        <p:nvGraphicFramePr>
          <p:cNvPr id="13" name="Group 1284">
            <a:extLst>
              <a:ext uri="{FF2B5EF4-FFF2-40B4-BE49-F238E27FC236}">
                <a16:creationId xmlns:a16="http://schemas.microsoft.com/office/drawing/2014/main" id="{471A4D70-EB7F-28B4-3943-B726877DA9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135975"/>
              </p:ext>
            </p:extLst>
          </p:nvPr>
        </p:nvGraphicFramePr>
        <p:xfrm>
          <a:off x="1823345" y="3986385"/>
          <a:ext cx="6481762" cy="2490615"/>
        </p:xfrm>
        <a:graphic>
          <a:graphicData uri="http://schemas.openxmlformats.org/drawingml/2006/table">
            <a:tbl>
              <a:tblPr/>
              <a:tblGrid>
                <a:gridCol w="108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376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学  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姓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性  别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系  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年  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2005004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王小明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社会学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2005006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黄大鹏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商品学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张文斌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法律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F83DEA72-9C53-D1BF-C5F6-BE9392A36353}"/>
              </a:ext>
            </a:extLst>
          </p:cNvPr>
          <p:cNvSpPr/>
          <p:nvPr/>
        </p:nvSpPr>
        <p:spPr bwMode="auto">
          <a:xfrm>
            <a:off x="1644306" y="3927230"/>
            <a:ext cx="1227848" cy="486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348949E-50A3-05CD-742F-DAA824034C4F}"/>
              </a:ext>
            </a:extLst>
          </p:cNvPr>
          <p:cNvSpPr/>
          <p:nvPr/>
        </p:nvSpPr>
        <p:spPr bwMode="auto">
          <a:xfrm>
            <a:off x="1556239" y="3927230"/>
            <a:ext cx="2722540" cy="486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426E62A-3AF5-B23F-EBDB-5B548F2BB6F2}"/>
              </a:ext>
            </a:extLst>
          </p:cNvPr>
          <p:cNvSpPr/>
          <p:nvPr/>
        </p:nvSpPr>
        <p:spPr bwMode="auto">
          <a:xfrm>
            <a:off x="2851928" y="3927230"/>
            <a:ext cx="1227848" cy="486508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solidFill>
                  <a:srgbClr val="FF0000"/>
                </a:solidFill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283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6" grpId="2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8F106-3A8A-4FAD-A6DB-E9CA2002A83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B4E72-E01B-41DB-8F5C-3C7A3DA4C39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关系</a:t>
            </a:r>
            <a:r>
              <a:rPr lang="en-US" altLang="zh-CN" dirty="0"/>
              <a:t>-</a:t>
            </a:r>
            <a:r>
              <a:rPr lang="zh-CN" altLang="en-US" dirty="0"/>
              <a:t>码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候选码</a:t>
            </a:r>
            <a:r>
              <a:rPr lang="zh-CN" altLang="en-US" sz="2800" dirty="0"/>
              <a:t>－－若关系中的</a:t>
            </a:r>
            <a:r>
              <a:rPr lang="zh-CN" altLang="en-US" sz="2800" dirty="0">
                <a:solidFill>
                  <a:srgbClr val="0000FF"/>
                </a:solidFill>
              </a:rPr>
              <a:t>某一属性组</a:t>
            </a:r>
            <a:r>
              <a:rPr lang="zh-CN" altLang="en-US" sz="2800" dirty="0"/>
              <a:t>的值能</a:t>
            </a:r>
            <a:r>
              <a:rPr lang="zh-CN" altLang="en-US" sz="2800" dirty="0">
                <a:solidFill>
                  <a:srgbClr val="0000FF"/>
                </a:solidFill>
              </a:rPr>
              <a:t>唯一地标识</a:t>
            </a:r>
            <a:r>
              <a:rPr lang="zh-CN" altLang="en-US" sz="2800" dirty="0"/>
              <a:t>一个</a:t>
            </a:r>
            <a:r>
              <a:rPr lang="zh-CN" altLang="en-US" sz="2800" dirty="0">
                <a:solidFill>
                  <a:srgbClr val="0000FF"/>
                </a:solidFill>
              </a:rPr>
              <a:t>元组</a:t>
            </a:r>
            <a:r>
              <a:rPr lang="zh-CN" altLang="en-US" sz="2800" dirty="0"/>
              <a:t>，而其</a:t>
            </a:r>
            <a:r>
              <a:rPr lang="zh-CN" altLang="en-US" sz="2800" u="sng" dirty="0">
                <a:solidFill>
                  <a:srgbClr val="0000FF"/>
                </a:solidFill>
              </a:rPr>
              <a:t>子集不能</a:t>
            </a:r>
            <a:r>
              <a:rPr lang="zh-CN" altLang="en-US" sz="2800" dirty="0"/>
              <a:t>，则称该属性组为该关系的一个</a:t>
            </a:r>
            <a:r>
              <a:rPr lang="zh-CN" altLang="en-US" sz="2800" b="1" dirty="0">
                <a:solidFill>
                  <a:srgbClr val="0000FF"/>
                </a:solidFill>
              </a:rPr>
              <a:t>候选码</a:t>
            </a:r>
            <a:r>
              <a:rPr lang="en-US" altLang="zh-CN" sz="2800" dirty="0"/>
              <a:t>(Candidate Key)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最小超码</a:t>
            </a:r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主码</a:t>
            </a:r>
            <a:r>
              <a:rPr lang="zh-CN" altLang="en-US" sz="2800" dirty="0"/>
              <a:t>－－一个关系可能有</a:t>
            </a:r>
            <a:r>
              <a:rPr lang="zh-CN" altLang="en-US" sz="2800" u="sng" dirty="0">
                <a:solidFill>
                  <a:srgbClr val="0000FF"/>
                </a:solidFill>
              </a:rPr>
              <a:t>多个候选码</a:t>
            </a:r>
            <a:r>
              <a:rPr lang="zh-CN" altLang="en-US" sz="2800" dirty="0"/>
              <a:t>，则</a:t>
            </a:r>
            <a:r>
              <a:rPr lang="zh-CN" altLang="en-US" sz="2800" u="sng" dirty="0"/>
              <a:t>选定其中一个</a:t>
            </a:r>
            <a:r>
              <a:rPr lang="zh-CN" altLang="en-US" sz="2800" dirty="0"/>
              <a:t>作为</a:t>
            </a:r>
            <a:r>
              <a:rPr lang="zh-CN" altLang="en-US" sz="2800" b="1" dirty="0">
                <a:solidFill>
                  <a:srgbClr val="FF0000"/>
                </a:solidFill>
              </a:rPr>
              <a:t>主码</a:t>
            </a:r>
            <a:r>
              <a:rPr lang="en-US" altLang="zh-CN" sz="2800" dirty="0"/>
              <a:t>(Primary Key)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任意两个元组不能完全相同，也即任意两个元组的都</a:t>
            </a:r>
            <a:r>
              <a:rPr lang="zh-CN" altLang="en-US" sz="2800" b="1" dirty="0">
                <a:solidFill>
                  <a:srgbClr val="0000FF"/>
                </a:solidFill>
              </a:rPr>
              <a:t>不允许</a:t>
            </a:r>
            <a:r>
              <a:rPr lang="zh-CN" altLang="en-US" sz="2800" dirty="0"/>
              <a:t>在</a:t>
            </a:r>
            <a:r>
              <a:rPr lang="zh-CN" altLang="en-US" sz="2800" dirty="0">
                <a:solidFill>
                  <a:srgbClr val="FF0000"/>
                </a:solidFill>
              </a:rPr>
              <a:t>主</a:t>
            </a:r>
            <a:r>
              <a:rPr lang="zh-CN" altLang="en-US" sz="2800" b="1" dirty="0">
                <a:solidFill>
                  <a:srgbClr val="FF0000"/>
                </a:solidFill>
              </a:rPr>
              <a:t>码属性上</a:t>
            </a:r>
            <a:r>
              <a:rPr lang="zh-CN" altLang="en-US" sz="2800" b="1" dirty="0">
                <a:solidFill>
                  <a:srgbClr val="0000FF"/>
                </a:solidFill>
              </a:rPr>
              <a:t>具有</a:t>
            </a:r>
            <a:r>
              <a:rPr lang="zh-CN" altLang="en-US" sz="2800" dirty="0">
                <a:solidFill>
                  <a:srgbClr val="0000FF"/>
                </a:solidFill>
              </a:rPr>
              <a:t>相同的值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因此，主码也被称</a:t>
            </a:r>
            <a:r>
              <a:rPr lang="zh-CN" altLang="en-US" sz="2800" b="1" dirty="0"/>
              <a:t>作</a:t>
            </a:r>
            <a:r>
              <a:rPr lang="zh-CN" altLang="en-US" sz="2800" b="1" dirty="0">
                <a:solidFill>
                  <a:srgbClr val="0000FF"/>
                </a:solidFill>
              </a:rPr>
              <a:t>主码约束</a:t>
            </a:r>
            <a:r>
              <a:rPr lang="zh-CN" altLang="en-US" sz="2800" dirty="0"/>
              <a:t>。</a:t>
            </a:r>
            <a:endParaRPr lang="zh-CN" altLang="en-US" sz="800" dirty="0"/>
          </a:p>
          <a:p>
            <a:pPr eaLnBrk="1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316999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8F106-3A8A-4FAD-A6DB-E9CA2002A83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B4E72-E01B-41DB-8F5C-3C7A3DA4C39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关系</a:t>
            </a:r>
            <a:r>
              <a:rPr lang="en-US" altLang="zh-CN" dirty="0"/>
              <a:t>-</a:t>
            </a:r>
            <a:r>
              <a:rPr lang="zh-CN" altLang="en-US" dirty="0"/>
              <a:t>码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全码</a:t>
            </a:r>
            <a:r>
              <a:rPr lang="en-US" altLang="zh-CN" sz="2800" dirty="0"/>
              <a:t>(All-key)</a:t>
            </a:r>
            <a:r>
              <a:rPr lang="zh-CN" altLang="en-US" sz="2800" dirty="0"/>
              <a:t>－－关系模式的</a:t>
            </a:r>
            <a:r>
              <a:rPr lang="zh-CN" altLang="en-US" sz="2800" dirty="0">
                <a:solidFill>
                  <a:srgbClr val="0000FF"/>
                </a:solidFill>
              </a:rPr>
              <a:t>所有属性</a:t>
            </a:r>
            <a:r>
              <a:rPr lang="zh-CN" altLang="en-US" sz="2800" dirty="0"/>
              <a:t>组构成此关系模式的</a:t>
            </a:r>
            <a:r>
              <a:rPr lang="zh-CN" altLang="en-US" sz="2800" dirty="0">
                <a:solidFill>
                  <a:srgbClr val="0000FF"/>
                </a:solidFill>
              </a:rPr>
              <a:t>唯一候选码</a:t>
            </a:r>
            <a:r>
              <a:rPr lang="zh-CN" altLang="en-US" sz="2800" dirty="0"/>
              <a:t>。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97F355-DBBC-C268-ECA6-5CC2B94B6B68}"/>
              </a:ext>
            </a:extLst>
          </p:cNvPr>
          <p:cNvSpPr txBox="1"/>
          <p:nvPr/>
        </p:nvSpPr>
        <p:spPr>
          <a:xfrm>
            <a:off x="2514600" y="586505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习惯上，主码属性列于其他属性之前。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72320B-8BD7-B189-486F-651C99775887}"/>
              </a:ext>
            </a:extLst>
          </p:cNvPr>
          <p:cNvSpPr txBox="1"/>
          <p:nvPr/>
        </p:nvSpPr>
        <p:spPr>
          <a:xfrm>
            <a:off x="756139" y="2420105"/>
            <a:ext cx="82471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classroom(</a:t>
            </a:r>
            <a:r>
              <a:rPr lang="zh-CN" altLang="en-US" u="sng" dirty="0">
                <a:solidFill>
                  <a:srgbClr val="FF0000"/>
                </a:solidFill>
              </a:rPr>
              <a:t>building</a:t>
            </a:r>
            <a:r>
              <a:rPr lang="zh-CN" altLang="en-US" dirty="0">
                <a:solidFill>
                  <a:srgbClr val="FF0000"/>
                </a:solidFill>
              </a:rPr>
              <a:t>, </a:t>
            </a:r>
            <a:r>
              <a:rPr lang="zh-CN" altLang="en-US" u="sng" dirty="0">
                <a:solidFill>
                  <a:srgbClr val="FF0000"/>
                </a:solidFill>
              </a:rPr>
              <a:t>room</a:t>
            </a:r>
            <a:r>
              <a:rPr lang="en-US" altLang="zh-CN" u="sng" dirty="0">
                <a:solidFill>
                  <a:srgbClr val="FF0000"/>
                </a:solidFill>
              </a:rPr>
              <a:t>_</a:t>
            </a:r>
            <a:r>
              <a:rPr lang="zh-CN" altLang="en-US" u="sng" dirty="0">
                <a:solidFill>
                  <a:srgbClr val="FF0000"/>
                </a:solidFill>
              </a:rPr>
              <a:t>number</a:t>
            </a:r>
            <a:r>
              <a:rPr lang="zh-CN" altLang="en-US" dirty="0"/>
              <a:t>, capacity)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department(</a:t>
            </a:r>
            <a:r>
              <a:rPr lang="zh-CN" altLang="en-US" u="sng" dirty="0">
                <a:solidFill>
                  <a:srgbClr val="FF0000"/>
                </a:solidFill>
              </a:rPr>
              <a:t>dept</a:t>
            </a:r>
            <a:r>
              <a:rPr lang="en-US" altLang="zh-CN" u="sng" dirty="0">
                <a:solidFill>
                  <a:srgbClr val="FF0000"/>
                </a:solidFill>
              </a:rPr>
              <a:t>_</a:t>
            </a:r>
            <a:r>
              <a:rPr lang="zh-CN" altLang="en-US" u="sng" dirty="0">
                <a:solidFill>
                  <a:srgbClr val="FF0000"/>
                </a:solidFill>
              </a:rPr>
              <a:t>name</a:t>
            </a:r>
            <a:r>
              <a:rPr lang="zh-CN" altLang="en-US" dirty="0"/>
              <a:t>, building, budget)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course(</a:t>
            </a:r>
            <a:r>
              <a:rPr lang="zh-CN" altLang="en-US" u="sng" dirty="0"/>
              <a:t>course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title, </a:t>
            </a:r>
            <a:r>
              <a:rPr lang="zh-CN" altLang="en-US" dirty="0">
                <a:solidFill>
                  <a:srgbClr val="0000FF"/>
                </a:solidFill>
              </a:rPr>
              <a:t>dept</a:t>
            </a:r>
            <a:r>
              <a:rPr lang="en-US" altLang="zh-CN" dirty="0">
                <a:solidFill>
                  <a:srgbClr val="0000FF"/>
                </a:solidFill>
              </a:rPr>
              <a:t>_</a:t>
            </a:r>
            <a:r>
              <a:rPr lang="zh-CN" altLang="en-US" dirty="0">
                <a:solidFill>
                  <a:srgbClr val="0000FF"/>
                </a:solidFill>
              </a:rPr>
              <a:t>name</a:t>
            </a:r>
            <a:r>
              <a:rPr lang="zh-CN" altLang="en-US" dirty="0"/>
              <a:t>, credits)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instructor(</a:t>
            </a:r>
            <a:r>
              <a:rPr lang="zh-CN" altLang="en-US" u="sng" dirty="0"/>
              <a:t>ID</a:t>
            </a:r>
            <a:r>
              <a:rPr lang="zh-CN" altLang="en-US" dirty="0"/>
              <a:t>, name, </a:t>
            </a:r>
            <a:r>
              <a:rPr lang="zh-CN" altLang="en-US" dirty="0">
                <a:solidFill>
                  <a:srgbClr val="0000FF"/>
                </a:solidFill>
              </a:rPr>
              <a:t>dept</a:t>
            </a:r>
            <a:r>
              <a:rPr lang="en-US" altLang="zh-CN" dirty="0">
                <a:solidFill>
                  <a:srgbClr val="0000FF"/>
                </a:solidFill>
              </a:rPr>
              <a:t>_</a:t>
            </a:r>
            <a:r>
              <a:rPr lang="zh-CN" altLang="en-US" dirty="0">
                <a:solidFill>
                  <a:srgbClr val="0000FF"/>
                </a:solidFill>
              </a:rPr>
              <a:t>name</a:t>
            </a:r>
            <a:r>
              <a:rPr lang="zh-CN" altLang="en-US" dirty="0"/>
              <a:t>, salary)</a:t>
            </a:r>
            <a:endParaRPr lang="en-US" altLang="zh-CN" dirty="0"/>
          </a:p>
          <a:p>
            <a:r>
              <a:rPr lang="zh-CN" altLang="en-US" dirty="0"/>
              <a:t>student(</a:t>
            </a:r>
            <a:r>
              <a:rPr lang="zh-CN" altLang="en-US" u="sng" dirty="0"/>
              <a:t>ID</a:t>
            </a:r>
            <a:r>
              <a:rPr lang="zh-CN" altLang="en-US" dirty="0"/>
              <a:t>, name, dept</a:t>
            </a:r>
            <a:r>
              <a:rPr lang="en-US" altLang="zh-CN" dirty="0"/>
              <a:t>_</a:t>
            </a:r>
            <a:r>
              <a:rPr lang="zh-CN" altLang="en-US" dirty="0"/>
              <a:t>name, tot</a:t>
            </a:r>
            <a:r>
              <a:rPr lang="en-US" altLang="zh-CN" dirty="0"/>
              <a:t>_</a:t>
            </a:r>
            <a:r>
              <a:rPr lang="zh-CN" altLang="en-US" dirty="0"/>
              <a:t>cred)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section (</a:t>
            </a:r>
            <a:r>
              <a:rPr lang="zh-CN" altLang="en-US" u="sng" dirty="0"/>
              <a:t>course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sec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semester</a:t>
            </a:r>
            <a:r>
              <a:rPr lang="zh-CN" altLang="en-US" dirty="0"/>
              <a:t>, </a:t>
            </a:r>
            <a:r>
              <a:rPr lang="zh-CN" altLang="en-US" u="sng" dirty="0"/>
              <a:t>year</a:t>
            </a:r>
            <a:r>
              <a:rPr lang="zh-CN" altLang="en-US" dirty="0"/>
              <a:t>, </a:t>
            </a:r>
            <a:r>
              <a:rPr lang="zh-CN" altLang="en-US" dirty="0">
                <a:solidFill>
                  <a:srgbClr val="0000FF"/>
                </a:solidFill>
              </a:rPr>
              <a:t>building, room number</a:t>
            </a:r>
            <a:r>
              <a:rPr lang="zh-CN" altLang="en-US" dirty="0"/>
              <a:t>, </a:t>
            </a:r>
            <a:r>
              <a:rPr lang="zh-CN" altLang="en-US" dirty="0">
                <a:solidFill>
                  <a:schemeClr val="accent1"/>
                </a:solidFill>
              </a:rPr>
              <a:t>time</a:t>
            </a:r>
            <a:r>
              <a:rPr lang="en-US" altLang="zh-CN" dirty="0">
                <a:solidFill>
                  <a:schemeClr val="accent1"/>
                </a:solidFill>
              </a:rPr>
              <a:t>_</a:t>
            </a:r>
            <a:r>
              <a:rPr lang="zh-CN" altLang="en-US" dirty="0">
                <a:solidFill>
                  <a:schemeClr val="accent1"/>
                </a:solidFill>
              </a:rPr>
              <a:t>slot</a:t>
            </a:r>
            <a:r>
              <a:rPr lang="en-US" altLang="zh-CN" dirty="0">
                <a:solidFill>
                  <a:schemeClr val="accent1"/>
                </a:solidFill>
              </a:rPr>
              <a:t>_</a:t>
            </a:r>
            <a:r>
              <a:rPr lang="zh-CN" altLang="en-US" dirty="0">
                <a:solidFill>
                  <a:schemeClr val="accent1"/>
                </a:solidFill>
              </a:rPr>
              <a:t>id</a:t>
            </a:r>
            <a:r>
              <a:rPr lang="zh-CN" altLang="en-US" dirty="0"/>
              <a:t>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teaches(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course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sec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semester</a:t>
            </a:r>
            <a:r>
              <a:rPr lang="zh-CN" altLang="en-US" dirty="0"/>
              <a:t>, </a:t>
            </a:r>
            <a:r>
              <a:rPr lang="zh-CN" altLang="en-US" u="sng" dirty="0"/>
              <a:t>year</a:t>
            </a:r>
            <a:r>
              <a:rPr lang="zh-CN" altLang="en-US" dirty="0"/>
              <a:t>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takes(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course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sec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semester</a:t>
            </a:r>
            <a:r>
              <a:rPr lang="zh-CN" altLang="en-US" dirty="0"/>
              <a:t>, </a:t>
            </a:r>
            <a:r>
              <a:rPr lang="zh-CN" altLang="en-US" u="sng" dirty="0"/>
              <a:t>year</a:t>
            </a:r>
            <a:r>
              <a:rPr lang="zh-CN" altLang="en-US" dirty="0"/>
              <a:t>, grade)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advisor(</a:t>
            </a:r>
            <a:r>
              <a:rPr lang="zh-CN" altLang="en-US" u="sng" dirty="0"/>
              <a:t>s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i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)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time</a:t>
            </a:r>
            <a:r>
              <a:rPr lang="en-US" altLang="zh-CN" dirty="0"/>
              <a:t>_</a:t>
            </a:r>
            <a:r>
              <a:rPr lang="zh-CN" altLang="en-US" dirty="0"/>
              <a:t>slot (</a:t>
            </a:r>
            <a:r>
              <a:rPr lang="zh-CN" altLang="en-US" u="sng" dirty="0"/>
              <a:t>time</a:t>
            </a:r>
            <a:r>
              <a:rPr lang="en-US" altLang="zh-CN" u="sng" dirty="0"/>
              <a:t>_</a:t>
            </a:r>
            <a:r>
              <a:rPr lang="zh-CN" altLang="en-US" u="sng" dirty="0"/>
              <a:t>slot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day</a:t>
            </a:r>
            <a:r>
              <a:rPr lang="zh-CN" altLang="en-US" dirty="0"/>
              <a:t>, </a:t>
            </a:r>
            <a:r>
              <a:rPr lang="zh-CN" altLang="en-US" u="sng" dirty="0"/>
              <a:t>start</a:t>
            </a:r>
            <a:r>
              <a:rPr lang="en-US" altLang="zh-CN" u="sng" dirty="0"/>
              <a:t>_</a:t>
            </a:r>
            <a:r>
              <a:rPr lang="zh-CN" altLang="en-US" u="sng" dirty="0"/>
              <a:t>time</a:t>
            </a:r>
            <a:r>
              <a:rPr lang="zh-CN" altLang="en-US" dirty="0"/>
              <a:t>, end</a:t>
            </a:r>
            <a:r>
              <a:rPr lang="en-US" altLang="zh-CN" dirty="0"/>
              <a:t>_</a:t>
            </a:r>
            <a:r>
              <a:rPr lang="zh-CN" altLang="en-US" dirty="0"/>
              <a:t>time)</a:t>
            </a:r>
            <a:r>
              <a:rPr lang="en-US" altLang="zh-CN" dirty="0"/>
              <a:t>;//</a:t>
            </a:r>
            <a:r>
              <a:rPr lang="zh-CN" altLang="en-US" dirty="0"/>
              <a:t>一门课程的时间片</a:t>
            </a:r>
            <a:endParaRPr lang="en-US" altLang="zh-CN" dirty="0"/>
          </a:p>
          <a:p>
            <a:r>
              <a:rPr lang="zh-CN" altLang="en-US" dirty="0"/>
              <a:t>prereq(</a:t>
            </a:r>
            <a:r>
              <a:rPr lang="zh-CN" altLang="en-US" u="sng" dirty="0"/>
              <a:t>course</a:t>
            </a:r>
            <a:r>
              <a:rPr lang="en-US" altLang="zh-CN" u="sng" dirty="0"/>
              <a:t>_</a:t>
            </a:r>
            <a:r>
              <a:rPr lang="zh-CN" altLang="en-US" u="sng" dirty="0"/>
              <a:t>id</a:t>
            </a:r>
            <a:r>
              <a:rPr lang="zh-CN" altLang="en-US" dirty="0"/>
              <a:t>, </a:t>
            </a:r>
            <a:r>
              <a:rPr lang="zh-CN" altLang="en-US" u="sng" dirty="0"/>
              <a:t>prereq</a:t>
            </a:r>
            <a:r>
              <a:rPr lang="en-US" altLang="zh-CN" u="sng" dirty="0"/>
              <a:t>_</a:t>
            </a:r>
            <a:r>
              <a:rPr lang="zh-CN" altLang="en-US" u="sng" dirty="0"/>
              <a:t>la</a:t>
            </a:r>
            <a:r>
              <a:rPr lang="zh-CN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74188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98F106-3A8A-4FAD-A6DB-E9CA2002A83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B4E72-E01B-41DB-8F5C-3C7A3DA4C39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2.1.1 </a:t>
            </a:r>
            <a:r>
              <a:rPr lang="zh-CN" altLang="en-US" dirty="0"/>
              <a:t>关系</a:t>
            </a:r>
            <a:r>
              <a:rPr lang="en-US" altLang="zh-CN" dirty="0"/>
              <a:t>-</a:t>
            </a:r>
            <a:r>
              <a:rPr lang="zh-CN" altLang="en-US" dirty="0"/>
              <a:t>码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2884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600" b="1" dirty="0">
                <a:solidFill>
                  <a:srgbClr val="FF0000"/>
                </a:solidFill>
              </a:rPr>
              <a:t>外码</a:t>
            </a:r>
            <a:r>
              <a:rPr lang="zh-CN" altLang="en-US" sz="2600" dirty="0">
                <a:solidFill>
                  <a:schemeClr val="folHlink"/>
                </a:solidFill>
              </a:rPr>
              <a:t>定义</a:t>
            </a:r>
            <a:r>
              <a:rPr lang="en-US" altLang="zh-CN" sz="2600" dirty="0">
                <a:solidFill>
                  <a:schemeClr val="folHlink"/>
                </a:solidFill>
              </a:rPr>
              <a:t>2.5</a:t>
            </a:r>
            <a:r>
              <a:rPr lang="en-US" altLang="zh-CN" sz="2600" dirty="0"/>
              <a:t>  </a:t>
            </a:r>
            <a:r>
              <a:rPr lang="zh-CN" altLang="en-US" sz="2600" dirty="0"/>
              <a:t>设</a:t>
            </a:r>
            <a:r>
              <a:rPr lang="en-US" altLang="zh-CN" sz="2600" dirty="0">
                <a:solidFill>
                  <a:srgbClr val="C00000"/>
                </a:solidFill>
              </a:rPr>
              <a:t>F</a:t>
            </a:r>
            <a:r>
              <a:rPr lang="zh-CN" altLang="en-US" sz="2600" dirty="0"/>
              <a:t>是基本关系</a:t>
            </a:r>
            <a:r>
              <a:rPr lang="en-US" altLang="zh-CN" sz="2600" dirty="0">
                <a:solidFill>
                  <a:srgbClr val="C00000"/>
                </a:solidFill>
              </a:rPr>
              <a:t>R</a:t>
            </a:r>
            <a:r>
              <a:rPr lang="zh-CN" altLang="en-US" sz="2600" dirty="0"/>
              <a:t>的</a:t>
            </a:r>
            <a:r>
              <a:rPr lang="zh-CN" altLang="en-US" sz="2600" u="sng" dirty="0"/>
              <a:t>一个或一组属性</a:t>
            </a:r>
            <a:r>
              <a:rPr lang="zh-CN" altLang="en-US" sz="2600" dirty="0"/>
              <a:t>，但</a:t>
            </a:r>
            <a:r>
              <a:rPr lang="zh-CN" altLang="en-US" sz="2600" b="1" dirty="0">
                <a:solidFill>
                  <a:srgbClr val="C00000"/>
                </a:solidFill>
              </a:rPr>
              <a:t>不是</a:t>
            </a:r>
            <a:r>
              <a:rPr lang="zh-CN" altLang="en-US" sz="2600" dirty="0">
                <a:solidFill>
                  <a:srgbClr val="0000FF"/>
                </a:solidFill>
              </a:rPr>
              <a:t>关系</a:t>
            </a:r>
            <a:r>
              <a:rPr lang="en-US" altLang="zh-CN" sz="2600" dirty="0">
                <a:solidFill>
                  <a:srgbClr val="0000FF"/>
                </a:solidFill>
              </a:rPr>
              <a:t>R</a:t>
            </a:r>
            <a:r>
              <a:rPr lang="zh-CN" altLang="en-US" sz="2600" dirty="0">
                <a:solidFill>
                  <a:srgbClr val="0000FF"/>
                </a:solidFill>
              </a:rPr>
              <a:t>的码</a:t>
            </a:r>
            <a:r>
              <a:rPr lang="zh-CN" altLang="en-US" sz="2600" dirty="0"/>
              <a:t>，如果</a:t>
            </a:r>
            <a:r>
              <a:rPr lang="en-US" altLang="zh-CN" sz="2600" dirty="0">
                <a:solidFill>
                  <a:srgbClr val="C00000"/>
                </a:solidFill>
              </a:rPr>
              <a:t>F</a:t>
            </a:r>
            <a:r>
              <a:rPr lang="zh-CN" altLang="en-US" sz="2600" dirty="0"/>
              <a:t>与</a:t>
            </a:r>
            <a:r>
              <a:rPr lang="zh-CN" altLang="en-US" sz="2600" dirty="0">
                <a:solidFill>
                  <a:srgbClr val="0000FF"/>
                </a:solidFill>
              </a:rPr>
              <a:t>另一</a:t>
            </a:r>
            <a:r>
              <a:rPr lang="zh-CN" altLang="en-US" sz="2600" dirty="0"/>
              <a:t>基本关系</a:t>
            </a:r>
            <a:r>
              <a:rPr lang="en-US" altLang="zh-CN" sz="2600" dirty="0">
                <a:solidFill>
                  <a:srgbClr val="C00000"/>
                </a:solidFill>
              </a:rPr>
              <a:t>S</a:t>
            </a:r>
            <a:r>
              <a:rPr lang="zh-CN" altLang="en-US" sz="2600" dirty="0"/>
              <a:t>的</a:t>
            </a:r>
            <a:r>
              <a:rPr lang="zh-CN" altLang="en-US" sz="2600" dirty="0">
                <a:solidFill>
                  <a:srgbClr val="C00000"/>
                </a:solidFill>
              </a:rPr>
              <a:t>主码</a:t>
            </a:r>
            <a:r>
              <a:rPr lang="en-US" altLang="zh-CN" sz="2600" dirty="0">
                <a:solidFill>
                  <a:srgbClr val="C00000"/>
                </a:solidFill>
              </a:rPr>
              <a:t>K</a:t>
            </a:r>
            <a:r>
              <a:rPr lang="en-US" altLang="zh-CN" sz="2600" baseline="-25000" dirty="0">
                <a:solidFill>
                  <a:srgbClr val="C00000"/>
                </a:solidFill>
              </a:rPr>
              <a:t>s</a:t>
            </a:r>
            <a:r>
              <a:rPr lang="zh-CN" altLang="en-US" sz="2600" dirty="0"/>
              <a:t>相对应，则称</a:t>
            </a:r>
            <a:r>
              <a:rPr lang="en-US" altLang="zh-CN" sz="2600" u="sng" dirty="0">
                <a:solidFill>
                  <a:srgbClr val="C00000"/>
                </a:solidFill>
              </a:rPr>
              <a:t>F</a:t>
            </a:r>
            <a:r>
              <a:rPr lang="zh-CN" altLang="en-US" sz="2600" u="sng" dirty="0"/>
              <a:t>是基本关系</a:t>
            </a:r>
            <a:r>
              <a:rPr lang="en-US" altLang="zh-CN" sz="2600" u="sng" dirty="0"/>
              <a:t>R</a:t>
            </a:r>
            <a:r>
              <a:rPr lang="zh-CN" altLang="en-US" sz="2600" dirty="0"/>
              <a:t>的</a:t>
            </a:r>
            <a:r>
              <a:rPr lang="zh-CN" altLang="en-US" sz="2600" dirty="0">
                <a:solidFill>
                  <a:srgbClr val="0000FF"/>
                </a:solidFill>
              </a:rPr>
              <a:t>外码</a:t>
            </a:r>
            <a:r>
              <a:rPr lang="en-US" altLang="zh-CN" sz="2600" dirty="0"/>
              <a:t>(Foreign key)</a:t>
            </a:r>
            <a:r>
              <a:rPr lang="zh-CN" altLang="en-US" sz="2600" dirty="0"/>
              <a:t>，并称</a:t>
            </a:r>
            <a:r>
              <a:rPr lang="zh-CN" altLang="en-US" sz="2600" u="sng" dirty="0"/>
              <a:t>基本关系</a:t>
            </a:r>
            <a:r>
              <a:rPr lang="en-US" altLang="zh-CN" sz="2600" u="sng" dirty="0"/>
              <a:t>R</a:t>
            </a:r>
            <a:r>
              <a:rPr lang="zh-CN" altLang="en-US" sz="2600" u="sng" dirty="0"/>
              <a:t>为</a:t>
            </a:r>
            <a:r>
              <a:rPr lang="zh-CN" altLang="en-US" sz="2600" u="sng" dirty="0">
                <a:solidFill>
                  <a:srgbClr val="CC0000"/>
                </a:solidFill>
              </a:rPr>
              <a:t>参照</a:t>
            </a:r>
            <a:r>
              <a:rPr lang="en-US" altLang="zh-CN" sz="2600" u="sng" dirty="0">
                <a:solidFill>
                  <a:srgbClr val="CC0000"/>
                </a:solidFill>
              </a:rPr>
              <a:t>(</a:t>
            </a:r>
            <a:r>
              <a:rPr lang="zh-CN" altLang="en-US" sz="2600" u="sng" dirty="0">
                <a:solidFill>
                  <a:srgbClr val="CC0000"/>
                </a:solidFill>
              </a:rPr>
              <a:t>引用</a:t>
            </a:r>
            <a:r>
              <a:rPr lang="en-US" altLang="zh-CN" sz="2600" u="sng" dirty="0">
                <a:solidFill>
                  <a:srgbClr val="CC0000"/>
                </a:solidFill>
              </a:rPr>
              <a:t>)</a:t>
            </a:r>
            <a:r>
              <a:rPr lang="zh-CN" altLang="en-US" sz="2600" u="sng" dirty="0">
                <a:solidFill>
                  <a:srgbClr val="CC0000"/>
                </a:solidFill>
              </a:rPr>
              <a:t>关系</a:t>
            </a:r>
            <a:r>
              <a:rPr lang="en-US" altLang="zh-CN" sz="2600" dirty="0"/>
              <a:t>(Referencing relation)</a:t>
            </a:r>
            <a:r>
              <a:rPr lang="zh-CN" altLang="en-US" sz="2600" dirty="0"/>
              <a:t>，基本关系</a:t>
            </a:r>
            <a:r>
              <a:rPr lang="en-US" altLang="zh-CN" sz="2600" u="sng" dirty="0"/>
              <a:t>S</a:t>
            </a:r>
            <a:r>
              <a:rPr lang="zh-CN" altLang="en-US" sz="2600" u="sng" dirty="0"/>
              <a:t>为</a:t>
            </a:r>
            <a:r>
              <a:rPr lang="zh-CN" altLang="en-US" sz="2600" u="sng" dirty="0">
                <a:solidFill>
                  <a:srgbClr val="CC0000"/>
                </a:solidFill>
              </a:rPr>
              <a:t>被参照</a:t>
            </a:r>
            <a:r>
              <a:rPr lang="en-US" altLang="zh-CN" sz="2600" u="sng" dirty="0">
                <a:solidFill>
                  <a:srgbClr val="CC0000"/>
                </a:solidFill>
              </a:rPr>
              <a:t>(</a:t>
            </a:r>
            <a:r>
              <a:rPr lang="zh-CN" altLang="en-US" sz="2600" u="sng" dirty="0">
                <a:solidFill>
                  <a:srgbClr val="CC0000"/>
                </a:solidFill>
              </a:rPr>
              <a:t>被引用</a:t>
            </a:r>
            <a:r>
              <a:rPr lang="en-US" altLang="zh-CN" sz="2600" u="sng" dirty="0">
                <a:solidFill>
                  <a:srgbClr val="CC0000"/>
                </a:solidFill>
              </a:rPr>
              <a:t>)</a:t>
            </a:r>
            <a:r>
              <a:rPr lang="zh-CN" altLang="en-US" sz="2600" u="sng" dirty="0">
                <a:solidFill>
                  <a:srgbClr val="CC0000"/>
                </a:solidFill>
              </a:rPr>
              <a:t>关系</a:t>
            </a:r>
            <a:r>
              <a:rPr lang="en-US" altLang="zh-CN" sz="2600" u="sng" dirty="0"/>
              <a:t>(Referenced relation)</a:t>
            </a:r>
            <a:r>
              <a:rPr lang="zh-CN" altLang="en-US" sz="2600" u="sng" dirty="0"/>
              <a:t>或</a:t>
            </a:r>
            <a:r>
              <a:rPr lang="zh-CN" altLang="en-US" sz="2600" u="sng" dirty="0">
                <a:solidFill>
                  <a:srgbClr val="CC0000"/>
                </a:solidFill>
              </a:rPr>
              <a:t>目标关系</a:t>
            </a:r>
            <a:r>
              <a:rPr lang="en-US" altLang="zh-CN" sz="2600" dirty="0"/>
              <a:t>(Target relation)</a:t>
            </a:r>
            <a:r>
              <a:rPr lang="zh-CN" altLang="en-US" sz="2600" dirty="0"/>
              <a:t>。关系</a:t>
            </a:r>
            <a:r>
              <a:rPr lang="en-US" altLang="zh-CN" sz="2600" dirty="0"/>
              <a:t>R</a:t>
            </a:r>
            <a:r>
              <a:rPr lang="zh-CN" altLang="en-US" sz="2600" dirty="0"/>
              <a:t>和</a:t>
            </a:r>
            <a:r>
              <a:rPr lang="en-US" altLang="zh-CN" sz="2600" dirty="0"/>
              <a:t>S</a:t>
            </a:r>
            <a:r>
              <a:rPr lang="zh-CN" altLang="en-US" sz="2600" dirty="0"/>
              <a:t>不一定是</a:t>
            </a:r>
            <a:r>
              <a:rPr lang="zh-CN" altLang="en-US" sz="2600" dirty="0">
                <a:solidFill>
                  <a:srgbClr val="0000FF"/>
                </a:solidFill>
              </a:rPr>
              <a:t>不同的关系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eaLnBrk="1" hangingPunct="1">
              <a:buNone/>
              <a:defRPr/>
            </a:pPr>
            <a:r>
              <a:rPr lang="en-US" altLang="zh-CN" sz="2600" dirty="0">
                <a:solidFill>
                  <a:srgbClr val="006600"/>
                </a:solidFill>
              </a:rPr>
              <a:t>            R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K</a:t>
            </a:r>
            <a:r>
              <a:rPr lang="en-US" altLang="zh-CN" sz="2600" baseline="-25000" dirty="0">
                <a:solidFill>
                  <a:srgbClr val="FF0000"/>
                </a:solidFill>
              </a:rPr>
              <a:t>r</a:t>
            </a:r>
            <a:r>
              <a:rPr lang="en-US" altLang="zh-CN" sz="2600" dirty="0"/>
              <a:t>, </a:t>
            </a:r>
            <a:r>
              <a:rPr lang="en-US" altLang="zh-CN" sz="2600" dirty="0">
                <a:solidFill>
                  <a:srgbClr val="0000FF"/>
                </a:solidFill>
              </a:rPr>
              <a:t>F</a:t>
            </a:r>
            <a:r>
              <a:rPr lang="en-US" altLang="zh-CN" sz="2600" dirty="0"/>
              <a:t>, …)     </a:t>
            </a:r>
            <a:r>
              <a:rPr lang="en-US" altLang="zh-CN" sz="2600" dirty="0">
                <a:solidFill>
                  <a:srgbClr val="006600"/>
                </a:solidFill>
              </a:rPr>
              <a:t>S</a:t>
            </a:r>
            <a:r>
              <a:rPr lang="en-US" altLang="zh-CN" sz="2600" dirty="0"/>
              <a:t>(</a:t>
            </a:r>
            <a:r>
              <a:rPr lang="en-US" altLang="zh-CN" sz="2600" dirty="0">
                <a:solidFill>
                  <a:srgbClr val="FF0000"/>
                </a:solidFill>
              </a:rPr>
              <a:t>K</a:t>
            </a:r>
            <a:r>
              <a:rPr lang="en-US" altLang="zh-CN" sz="2600" baseline="-25000" dirty="0">
                <a:solidFill>
                  <a:srgbClr val="FF0000"/>
                </a:solidFill>
              </a:rPr>
              <a:t>s</a:t>
            </a:r>
            <a:r>
              <a:rPr lang="en-US" altLang="zh-CN" sz="2600" dirty="0"/>
              <a:t>, …)</a:t>
            </a:r>
          </a:p>
          <a:p>
            <a:pPr eaLnBrk="1" hangingPunct="1">
              <a:defRPr/>
            </a:pPr>
            <a:r>
              <a:rPr lang="zh-CN" altLang="en-US" sz="2600" dirty="0"/>
              <a:t>外码定义了</a:t>
            </a:r>
            <a:r>
              <a:rPr lang="zh-CN" altLang="en-US" sz="2600" b="1" dirty="0">
                <a:solidFill>
                  <a:srgbClr val="0000FF"/>
                </a:solidFill>
              </a:rPr>
              <a:t>参照</a:t>
            </a:r>
            <a:r>
              <a:rPr lang="en-US" altLang="zh-CN" sz="2600" b="1" dirty="0">
                <a:solidFill>
                  <a:srgbClr val="0000FF"/>
                </a:solidFill>
              </a:rPr>
              <a:t>(</a:t>
            </a:r>
            <a:r>
              <a:rPr lang="zh-CN" altLang="en-US" sz="2600" b="1" dirty="0">
                <a:solidFill>
                  <a:srgbClr val="0000FF"/>
                </a:solidFill>
              </a:rPr>
              <a:t>引用</a:t>
            </a:r>
            <a:r>
              <a:rPr lang="en-US" altLang="zh-CN" sz="2600" b="1" dirty="0">
                <a:solidFill>
                  <a:srgbClr val="0000FF"/>
                </a:solidFill>
              </a:rPr>
              <a:t>)</a:t>
            </a:r>
            <a:r>
              <a:rPr lang="zh-CN" altLang="en-US" sz="2600" b="1" dirty="0">
                <a:solidFill>
                  <a:srgbClr val="0000FF"/>
                </a:solidFill>
              </a:rPr>
              <a:t>完整性约束</a:t>
            </a:r>
            <a:r>
              <a:rPr lang="zh-CN" altLang="en-US" sz="2600" dirty="0"/>
              <a:t>：要求参照关系中任意元组在</a:t>
            </a:r>
            <a:r>
              <a:rPr lang="zh-CN" altLang="en-US" sz="2600" dirty="0">
                <a:solidFill>
                  <a:srgbClr val="0000FF"/>
                </a:solidFill>
              </a:rPr>
              <a:t>指定属性</a:t>
            </a:r>
            <a:r>
              <a:rPr lang="zh-CN" altLang="en-US" sz="2600" dirty="0"/>
              <a:t>上的</a:t>
            </a:r>
            <a:r>
              <a:rPr lang="zh-CN" altLang="en-US" sz="2600" dirty="0">
                <a:solidFill>
                  <a:srgbClr val="0000FF"/>
                </a:solidFill>
              </a:rPr>
              <a:t>取值</a:t>
            </a:r>
            <a:r>
              <a:rPr lang="zh-CN" altLang="en-US" sz="2600" dirty="0"/>
              <a:t>必然</a:t>
            </a:r>
            <a:r>
              <a:rPr lang="zh-CN" altLang="en-US" sz="2600" dirty="0">
                <a:solidFill>
                  <a:srgbClr val="0000FF"/>
                </a:solidFill>
              </a:rPr>
              <a:t>出现</a:t>
            </a:r>
            <a:r>
              <a:rPr lang="zh-CN" altLang="en-US" sz="2600" dirty="0"/>
              <a:t>在</a:t>
            </a:r>
            <a:r>
              <a:rPr lang="zh-CN" altLang="en-US" sz="2600" dirty="0">
                <a:solidFill>
                  <a:srgbClr val="0000FF"/>
                </a:solidFill>
              </a:rPr>
              <a:t>被参照关系</a:t>
            </a:r>
            <a:r>
              <a:rPr lang="zh-CN" altLang="en-US" sz="2600" dirty="0"/>
              <a:t>中</a:t>
            </a:r>
            <a:r>
              <a:rPr lang="zh-CN" altLang="en-US" sz="2600" dirty="0">
                <a:solidFill>
                  <a:srgbClr val="0000FF"/>
                </a:solidFill>
              </a:rPr>
              <a:t>至少一个元组的指定属性</a:t>
            </a:r>
            <a:r>
              <a:rPr lang="zh-CN" altLang="en-US" sz="2600" dirty="0"/>
              <a:t>上。</a:t>
            </a:r>
            <a:endParaRPr lang="en-US" altLang="zh-CN" sz="2600" dirty="0"/>
          </a:p>
          <a:p>
            <a:pPr eaLnBrk="1" hangingPunct="1">
              <a:defRPr/>
            </a:pPr>
            <a:endParaRPr lang="zh-CN" altLang="en-US" sz="2600" dirty="0"/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           </a:t>
            </a:r>
            <a:endParaRPr lang="zh-CN" altLang="en-US" sz="2600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FF8F592-49A2-709E-0A58-9F773565A0A2}"/>
              </a:ext>
            </a:extLst>
          </p:cNvPr>
          <p:cNvSpPr/>
          <p:nvPr/>
        </p:nvSpPr>
        <p:spPr bwMode="auto">
          <a:xfrm flipV="1">
            <a:off x="2790092" y="3927231"/>
            <a:ext cx="1717431" cy="477709"/>
          </a:xfrm>
          <a:custGeom>
            <a:avLst/>
            <a:gdLst>
              <a:gd name="connsiteX0" fmla="*/ 0 w 1717431"/>
              <a:gd name="connsiteY0" fmla="*/ 46892 h 477709"/>
              <a:gd name="connsiteX1" fmla="*/ 422031 w 1717431"/>
              <a:gd name="connsiteY1" fmla="*/ 410307 h 477709"/>
              <a:gd name="connsiteX2" fmla="*/ 1283677 w 1717431"/>
              <a:gd name="connsiteY2" fmla="*/ 439615 h 477709"/>
              <a:gd name="connsiteX3" fmla="*/ 1717431 w 1717431"/>
              <a:gd name="connsiteY3" fmla="*/ 0 h 477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7431" h="477709">
                <a:moveTo>
                  <a:pt x="0" y="46892"/>
                </a:moveTo>
                <a:cubicBezTo>
                  <a:pt x="104042" y="195872"/>
                  <a:pt x="208085" y="344853"/>
                  <a:pt x="422031" y="410307"/>
                </a:cubicBezTo>
                <a:cubicBezTo>
                  <a:pt x="635977" y="475761"/>
                  <a:pt x="1067777" y="508000"/>
                  <a:pt x="1283677" y="439615"/>
                </a:cubicBezTo>
                <a:cubicBezTo>
                  <a:pt x="1499577" y="371230"/>
                  <a:pt x="1608504" y="185615"/>
                  <a:pt x="1717431" y="0"/>
                </a:cubicBezTo>
              </a:path>
            </a:pathLst>
          </a:custGeom>
          <a:ln>
            <a:headEnd type="stealth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032DA9-A0F6-477F-8C89-2C1D37D3106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BF12EF-5E59-4580-82CB-72ACA29389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</a:rPr>
              <a:t>关系</a:t>
            </a:r>
            <a:r>
              <a:rPr lang="zh-CN" altLang="en-US" sz="2800" dirty="0">
                <a:solidFill>
                  <a:srgbClr val="C00000"/>
                </a:solidFill>
              </a:rPr>
              <a:t>有三种类型：</a:t>
            </a:r>
          </a:p>
          <a:p>
            <a:pPr eaLnBrk="1" hangingPunct="1"/>
            <a:r>
              <a:rPr lang="zh-CN" altLang="en-US" sz="2800" dirty="0"/>
              <a:t>基本关系（基本表或基表）</a:t>
            </a:r>
          </a:p>
          <a:p>
            <a:pPr marL="0" indent="0" eaLnBrk="1" hangingPunct="1">
              <a:buNone/>
            </a:pPr>
            <a:r>
              <a:rPr lang="zh-CN" altLang="en-US" sz="2800" dirty="0"/>
              <a:t>      </a:t>
            </a:r>
            <a:r>
              <a:rPr lang="zh-CN" altLang="en-US" sz="2800" dirty="0">
                <a:solidFill>
                  <a:srgbClr val="0000FF"/>
                </a:solidFill>
              </a:rPr>
              <a:t>实际存在的表</a:t>
            </a:r>
            <a:r>
              <a:rPr lang="zh-CN" altLang="en-US" sz="2800" dirty="0"/>
              <a:t>，是实际存储数据的逻辑表示</a:t>
            </a:r>
          </a:p>
          <a:p>
            <a:pPr eaLnBrk="1" hangingPunct="1"/>
            <a:r>
              <a:rPr lang="zh-CN" altLang="en-US" sz="2800" dirty="0"/>
              <a:t>查询表</a:t>
            </a:r>
          </a:p>
          <a:p>
            <a:pPr marL="0" indent="0" eaLnBrk="1" hangingPunct="1">
              <a:buNone/>
            </a:pPr>
            <a:r>
              <a:rPr lang="zh-CN" altLang="en-US" sz="2800" dirty="0"/>
              <a:t>       查询结果对应的表</a:t>
            </a:r>
          </a:p>
          <a:p>
            <a:pPr eaLnBrk="1" hangingPunct="1"/>
            <a:r>
              <a:rPr lang="zh-CN" altLang="en-US" sz="2800" b="1" dirty="0"/>
              <a:t>视图表</a:t>
            </a:r>
          </a:p>
          <a:p>
            <a:pPr marL="0" indent="0" eaLnBrk="1" hangingPunct="1">
              <a:buNone/>
            </a:pPr>
            <a:r>
              <a:rPr lang="zh-CN" altLang="en-US" sz="2800" dirty="0"/>
              <a:t>       由基本表或其他视图表导出的表，是</a:t>
            </a:r>
            <a:r>
              <a:rPr lang="zh-CN" altLang="en-US" sz="2800" dirty="0">
                <a:solidFill>
                  <a:srgbClr val="0000FF"/>
                </a:solidFill>
              </a:rPr>
              <a:t>虚表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/>
              <a:t>       </a:t>
            </a:r>
            <a:r>
              <a:rPr lang="zh-CN" altLang="en-US" sz="2800" dirty="0"/>
              <a:t>不对应实际存储的数据</a:t>
            </a:r>
          </a:p>
        </p:txBody>
      </p:sp>
    </p:spTree>
    <p:extLst>
      <p:ext uri="{BB962C8B-B14F-4D97-AF65-F5344CB8AC3E}">
        <p14:creationId xmlns:p14="http://schemas.microsoft.com/office/powerpoint/2010/main" val="246680108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D04ABF-399F-4ED4-A068-B73B50D9A5F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E4B28D-CC19-4ED3-9391-C3385A303C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2.1.1 </a:t>
            </a:r>
            <a:r>
              <a:rPr lang="zh-CN" altLang="en-US"/>
              <a:t>关系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>
                <a:solidFill>
                  <a:srgbClr val="C2290A"/>
                </a:solidFill>
              </a:rPr>
              <a:t>注意</a:t>
            </a:r>
            <a:r>
              <a:rPr lang="zh-CN" altLang="en-US"/>
              <a:t>：在许多实际关系数据库产品中，基本表并不完全具有这六条性质，例如，有的数据库产品（如</a:t>
            </a:r>
            <a:r>
              <a:rPr lang="en-US" altLang="zh-CN"/>
              <a:t>FoxPro</a:t>
            </a:r>
            <a:r>
              <a:rPr lang="zh-CN" altLang="en-US"/>
              <a:t>）仍然</a:t>
            </a:r>
            <a:r>
              <a:rPr lang="zh-CN" altLang="en-US">
                <a:solidFill>
                  <a:srgbClr val="0000FF"/>
                </a:solidFill>
              </a:rPr>
              <a:t>区分了属性顺序和元组的顺序</a:t>
            </a:r>
            <a:r>
              <a:rPr lang="zh-CN" altLang="en-US"/>
              <a:t>；许多关系数据库产品中，例如</a:t>
            </a:r>
            <a:r>
              <a:rPr lang="en-US" altLang="zh-CN"/>
              <a:t>Oracle</a:t>
            </a:r>
            <a:r>
              <a:rPr lang="zh-CN" altLang="en-US"/>
              <a:t>，</a:t>
            </a:r>
            <a:r>
              <a:rPr lang="en-US" altLang="zh-CN"/>
              <a:t>FoxPro</a:t>
            </a:r>
            <a:r>
              <a:rPr lang="zh-CN" altLang="en-US"/>
              <a:t>等，它们都允许关系表中存在</a:t>
            </a:r>
            <a:r>
              <a:rPr lang="zh-CN" altLang="en-US">
                <a:solidFill>
                  <a:srgbClr val="0000FF"/>
                </a:solidFill>
              </a:rPr>
              <a:t>两个完全相同</a:t>
            </a:r>
            <a:r>
              <a:rPr lang="zh-CN" altLang="en-US"/>
              <a:t>的元组。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DC4362-3DBE-469D-A918-C8101C33D69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B1EDE-80E9-445B-AAA3-7FD3702A019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2.1.2 </a:t>
            </a:r>
            <a:r>
              <a:rPr lang="zh-CN" altLang="en-US"/>
              <a:t>关系模式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关系模式</a:t>
            </a:r>
            <a:r>
              <a:rPr lang="zh-CN" altLang="en-US" dirty="0"/>
              <a:t>是对</a:t>
            </a:r>
            <a:r>
              <a:rPr lang="zh-CN" altLang="en-US" dirty="0">
                <a:solidFill>
                  <a:srgbClr val="0000FF"/>
                </a:solidFill>
              </a:rPr>
              <a:t>关系的描述</a:t>
            </a:r>
            <a:r>
              <a:rPr lang="zh-CN" altLang="en-US" dirty="0"/>
              <a:t>。</a:t>
            </a:r>
            <a:r>
              <a:rPr lang="en-US" altLang="zh-CN" dirty="0"/>
              <a:t>(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型</a:t>
            </a:r>
            <a:r>
              <a:rPr lang="zh-CN" altLang="en-US" dirty="0"/>
              <a:t>的描述</a:t>
            </a:r>
            <a:r>
              <a:rPr lang="en-US" altLang="zh-CN" dirty="0"/>
              <a:t>)</a:t>
            </a:r>
          </a:p>
          <a:p>
            <a:pPr lvl="1" eaLnBrk="1" hangingPunct="1"/>
            <a:r>
              <a:rPr lang="zh-CN" altLang="en-US" dirty="0"/>
              <a:t>需描述</a:t>
            </a:r>
            <a:r>
              <a:rPr lang="zh-CN" altLang="en-US" dirty="0">
                <a:solidFill>
                  <a:srgbClr val="C00000"/>
                </a:solidFill>
              </a:rPr>
              <a:t>元组集合</a:t>
            </a:r>
            <a:r>
              <a:rPr lang="zh-CN" altLang="en-US" dirty="0"/>
              <a:t>的结构：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属性</a:t>
            </a:r>
            <a:r>
              <a:rPr lang="zh-CN" altLang="en-US" dirty="0">
                <a:solidFill>
                  <a:srgbClr val="0000FF"/>
                </a:solidFill>
              </a:rPr>
              <a:t>构成</a:t>
            </a:r>
          </a:p>
          <a:p>
            <a:pPr lvl="2" eaLnBrk="1" hangingPunct="1"/>
            <a:r>
              <a:rPr lang="zh-CN" altLang="en-US" dirty="0"/>
              <a:t>属性来自的</a:t>
            </a:r>
            <a:r>
              <a:rPr lang="zh-CN" altLang="en-US" b="1" dirty="0">
                <a:solidFill>
                  <a:srgbClr val="0000FF"/>
                </a:solidFill>
              </a:rPr>
              <a:t>域</a:t>
            </a:r>
            <a:r>
              <a:rPr lang="zh-CN" altLang="en-US" dirty="0"/>
              <a:t>           </a:t>
            </a:r>
          </a:p>
          <a:p>
            <a:pPr lvl="2" eaLnBrk="1" hangingPunct="1"/>
            <a:r>
              <a:rPr lang="zh-CN" altLang="en-US" dirty="0"/>
              <a:t>属性与域之间的</a:t>
            </a:r>
            <a:r>
              <a:rPr lang="zh-CN" altLang="en-US" dirty="0">
                <a:solidFill>
                  <a:srgbClr val="0000FF"/>
                </a:solidFill>
              </a:rPr>
              <a:t>映象关系</a:t>
            </a:r>
          </a:p>
          <a:p>
            <a:pPr lvl="2" eaLnBrk="1" hangingPunct="1"/>
            <a:r>
              <a:rPr lang="zh-CN" altLang="en-US" dirty="0"/>
              <a:t>元组语义以及</a:t>
            </a:r>
            <a:r>
              <a:rPr lang="zh-CN" altLang="en-US" dirty="0">
                <a:solidFill>
                  <a:srgbClr val="0000FF"/>
                </a:solidFill>
              </a:rPr>
              <a:t>完整性约束条件</a:t>
            </a:r>
          </a:p>
          <a:p>
            <a:pPr lvl="2" eaLnBrk="1" hangingPunct="1"/>
            <a:r>
              <a:rPr lang="zh-CN" altLang="en-US" dirty="0"/>
              <a:t>属性间的</a:t>
            </a:r>
            <a:r>
              <a:rPr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数据依赖关系</a:t>
            </a:r>
            <a:r>
              <a:rPr lang="zh-CN" altLang="en-US" dirty="0"/>
              <a:t>集合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885B6A-8A26-45A6-AE3F-92A473D528B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87D5D7-E7BC-479C-B8AA-6B38965BFA1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2.1.2 </a:t>
            </a:r>
            <a:r>
              <a:rPr lang="zh-CN" altLang="en-US"/>
              <a:t>关系模式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folHlink"/>
                </a:solidFill>
              </a:rPr>
              <a:t>定义</a:t>
            </a:r>
            <a:r>
              <a:rPr lang="en-US" altLang="zh-CN" dirty="0">
                <a:solidFill>
                  <a:schemeClr val="folHlink"/>
                </a:solidFill>
              </a:rPr>
              <a:t>2.4</a:t>
            </a:r>
            <a:r>
              <a:rPr lang="en-US" altLang="zh-CN" dirty="0"/>
              <a:t>  </a:t>
            </a:r>
            <a:r>
              <a:rPr lang="zh-CN" altLang="en-US" dirty="0"/>
              <a:t>关系的描述称为</a:t>
            </a:r>
            <a:r>
              <a:rPr lang="zh-CN" altLang="en-US" dirty="0">
                <a:solidFill>
                  <a:srgbClr val="C00000"/>
                </a:solidFill>
              </a:rPr>
              <a:t>关系模式</a:t>
            </a:r>
            <a:r>
              <a:rPr lang="zh-CN" altLang="en-US" dirty="0"/>
              <a:t>，可表述为：</a:t>
            </a:r>
            <a:r>
              <a:rPr lang="en-US" altLang="zh-CN" dirty="0">
                <a:solidFill>
                  <a:srgbClr val="C00000"/>
                </a:solidFill>
              </a:rPr>
              <a:t>R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U, </a:t>
            </a:r>
            <a:r>
              <a:rPr lang="en-US" altLang="zh-CN" dirty="0">
                <a:solidFill>
                  <a:srgbClr val="0000FF"/>
                </a:solidFill>
              </a:rPr>
              <a:t>D, </a:t>
            </a:r>
            <a:r>
              <a:rPr lang="en-US" altLang="zh-CN" dirty="0" err="1">
                <a:solidFill>
                  <a:srgbClr val="0000FF"/>
                </a:solidFill>
              </a:rPr>
              <a:t>dom</a:t>
            </a:r>
            <a:r>
              <a:rPr lang="en-US" altLang="zh-CN" dirty="0">
                <a:solidFill>
                  <a:srgbClr val="C00000"/>
                </a:solidFill>
              </a:rPr>
              <a:t>, </a:t>
            </a:r>
            <a:r>
              <a:rPr lang="en-US" altLang="zh-CN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altLang="zh-CN" dirty="0"/>
              <a:t>)</a:t>
            </a:r>
            <a:r>
              <a:rPr lang="zh-CN" altLang="en-US" dirty="0"/>
              <a:t>，其中</a:t>
            </a:r>
          </a:p>
          <a:p>
            <a:pPr lvl="1" eaLnBrk="1" hangingPunct="1"/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zh-CN" altLang="en-US" b="1" dirty="0"/>
              <a:t>关系名</a:t>
            </a:r>
            <a:r>
              <a:rPr lang="zh-CN" altLang="en-US" dirty="0"/>
              <a:t>，</a:t>
            </a:r>
          </a:p>
          <a:p>
            <a:pPr lvl="1" eaLnBrk="1" hangingPunct="1"/>
            <a:r>
              <a:rPr lang="en-US" altLang="zh-CN" dirty="0"/>
              <a:t>U</a:t>
            </a:r>
            <a:r>
              <a:rPr lang="zh-CN" altLang="en-US" dirty="0"/>
              <a:t>为组成该关系的</a:t>
            </a:r>
            <a:r>
              <a:rPr lang="zh-CN" altLang="en-US" dirty="0">
                <a:solidFill>
                  <a:srgbClr val="C00000"/>
                </a:solidFill>
              </a:rPr>
              <a:t>属性名</a:t>
            </a:r>
            <a:r>
              <a:rPr lang="zh-CN" altLang="en-US" b="1" dirty="0">
                <a:solidFill>
                  <a:srgbClr val="C00000"/>
                </a:solidFill>
              </a:rPr>
              <a:t>集合</a:t>
            </a:r>
            <a:r>
              <a:rPr lang="zh-CN" altLang="en-US" dirty="0"/>
              <a:t>，</a:t>
            </a:r>
          </a:p>
          <a:p>
            <a:pPr lvl="1" eaLnBrk="1" hangingPunct="1"/>
            <a:r>
              <a:rPr lang="en-US" altLang="zh-CN" dirty="0"/>
              <a:t>D</a:t>
            </a:r>
            <a:r>
              <a:rPr lang="zh-CN" altLang="en-US" dirty="0"/>
              <a:t>为属性组</a:t>
            </a:r>
            <a:r>
              <a:rPr lang="en-US" altLang="zh-CN" dirty="0"/>
              <a:t>U</a:t>
            </a:r>
            <a:r>
              <a:rPr lang="zh-CN" altLang="en-US" dirty="0"/>
              <a:t>中属性所来自的</a:t>
            </a:r>
            <a:r>
              <a:rPr lang="zh-CN" altLang="en-US" dirty="0">
                <a:solidFill>
                  <a:srgbClr val="0000FF"/>
                </a:solidFill>
              </a:rPr>
              <a:t>域</a:t>
            </a:r>
            <a:r>
              <a:rPr lang="zh-CN" altLang="en-US" dirty="0"/>
              <a:t>，</a:t>
            </a:r>
          </a:p>
          <a:p>
            <a:pPr lvl="1" eaLnBrk="1" hangingPunct="1"/>
            <a:r>
              <a:rPr lang="en-US" altLang="zh-CN" dirty="0" err="1"/>
              <a:t>dom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属性向域的映象集合</a:t>
            </a:r>
            <a:r>
              <a:rPr lang="zh-CN" altLang="en-US" dirty="0"/>
              <a:t>，</a:t>
            </a:r>
          </a:p>
          <a:p>
            <a:pPr lvl="1" eaLnBrk="1" hangingPunct="1"/>
            <a:r>
              <a:rPr lang="en-US" altLang="zh-CN" dirty="0"/>
              <a:t>F</a:t>
            </a:r>
            <a:r>
              <a:rPr lang="zh-CN" altLang="en-US" dirty="0"/>
              <a:t>为属性间</a:t>
            </a:r>
            <a:r>
              <a:rPr lang="zh-CN" altLang="en-US" dirty="0">
                <a:solidFill>
                  <a:srgbClr val="006600"/>
                </a:solidFill>
              </a:rPr>
              <a:t>数据的依赖关系</a:t>
            </a:r>
            <a:r>
              <a:rPr lang="zh-CN" altLang="en-US" dirty="0"/>
              <a:t>集。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08D74B-72BB-49E4-A143-E532C1EA247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809CE7-78F5-4A1C-8ED3-8609967E2AF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2.1.2 </a:t>
            </a:r>
            <a:r>
              <a:rPr lang="zh-CN" altLang="en-US"/>
              <a:t>关系模式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关系模式</a:t>
            </a:r>
            <a:r>
              <a:rPr lang="zh-CN" altLang="en-US" dirty="0"/>
              <a:t>通常可以</a:t>
            </a:r>
            <a:r>
              <a:rPr lang="zh-CN" altLang="en-US" dirty="0">
                <a:solidFill>
                  <a:srgbClr val="0000FF"/>
                </a:solidFill>
              </a:rPr>
              <a:t>简记</a:t>
            </a:r>
            <a:r>
              <a:rPr lang="zh-CN" altLang="en-US" dirty="0"/>
              <a:t>为：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       R(U)</a:t>
            </a:r>
            <a:r>
              <a:rPr lang="zh-CN" altLang="en-US" dirty="0"/>
              <a:t>或</a:t>
            </a:r>
            <a:r>
              <a:rPr lang="en-US" altLang="zh-CN" dirty="0"/>
              <a:t>R(A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A</a:t>
            </a:r>
            <a:r>
              <a:rPr lang="en-US" altLang="zh-CN" baseline="-25000" dirty="0"/>
              <a:t>n</a:t>
            </a:r>
            <a:r>
              <a:rPr lang="en-US" altLang="zh-CN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R</a:t>
            </a:r>
            <a:r>
              <a:rPr lang="zh-CN" altLang="en-US" dirty="0"/>
              <a:t>为关系名，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A</a:t>
            </a:r>
            <a:r>
              <a:rPr lang="en-US" altLang="zh-CN" baseline="-25000" dirty="0"/>
              <a:t>n</a:t>
            </a:r>
            <a:r>
              <a:rPr lang="zh-CN" altLang="en-US" dirty="0"/>
              <a:t>为属性名。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而</a:t>
            </a:r>
            <a:r>
              <a:rPr lang="zh-CN" altLang="en-US" b="1" dirty="0"/>
              <a:t>域名</a:t>
            </a:r>
            <a:r>
              <a:rPr lang="zh-CN" altLang="en-US" dirty="0"/>
              <a:t>及</a:t>
            </a:r>
            <a:r>
              <a:rPr lang="zh-CN" altLang="en-US" b="1" dirty="0"/>
              <a:t>属性向域的映象</a:t>
            </a:r>
            <a:r>
              <a:rPr lang="zh-CN" altLang="en-US" dirty="0"/>
              <a:t>常常</a:t>
            </a:r>
            <a:r>
              <a:rPr lang="zh-CN" altLang="en-US" u="sng" dirty="0">
                <a:solidFill>
                  <a:srgbClr val="0000FF"/>
                </a:solidFill>
              </a:rPr>
              <a:t>直接说明</a:t>
            </a:r>
            <a:r>
              <a:rPr lang="zh-CN" altLang="en-US" dirty="0"/>
              <a:t>为属性的</a:t>
            </a:r>
            <a:r>
              <a:rPr lang="zh-CN" altLang="en-US" u="sng" dirty="0">
                <a:solidFill>
                  <a:srgbClr val="0000FF"/>
                </a:solidFill>
              </a:rPr>
              <a:t>类型、长度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90000"/>
              </a:lnSpc>
            </a:pP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2"/>
                </a:solidFill>
              </a:rPr>
              <a:t>关系模式</a:t>
            </a:r>
            <a:r>
              <a:rPr lang="zh-CN" altLang="en-US" dirty="0">
                <a:solidFill>
                  <a:srgbClr val="CC0000"/>
                </a:solidFill>
              </a:rPr>
              <a:t>是静态的、稳定的，</a:t>
            </a:r>
            <a:r>
              <a:rPr lang="zh-CN" altLang="en-US" dirty="0"/>
              <a:t>而</a:t>
            </a:r>
            <a:r>
              <a:rPr lang="zh-CN" altLang="en-US" dirty="0">
                <a:solidFill>
                  <a:schemeClr val="tx2"/>
                </a:solidFill>
              </a:rPr>
              <a:t>关系</a:t>
            </a:r>
            <a:r>
              <a:rPr lang="zh-CN" altLang="en-US" dirty="0">
                <a:solidFill>
                  <a:srgbClr val="CC0000"/>
                </a:solidFill>
              </a:rPr>
              <a:t>是动态的、随时间变化的，</a:t>
            </a:r>
            <a:r>
              <a:rPr lang="zh-CN" altLang="en-US" dirty="0"/>
              <a:t>两者是</a:t>
            </a:r>
            <a:r>
              <a:rPr lang="zh-CN" altLang="en-US" b="1" dirty="0">
                <a:solidFill>
                  <a:srgbClr val="CC0000"/>
                </a:solidFill>
              </a:rPr>
              <a:t>型与值</a:t>
            </a:r>
            <a:r>
              <a:rPr lang="zh-CN" altLang="en-US" dirty="0"/>
              <a:t>的关系</a:t>
            </a:r>
            <a:r>
              <a:rPr lang="zh-CN" altLang="en-US" dirty="0">
                <a:solidFill>
                  <a:srgbClr val="CC0000"/>
                </a:solidFill>
              </a:rPr>
              <a:t>。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478C74-6086-404B-A13E-0A1CD9764E5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21BE91-C096-4509-906F-D0BFF4F0E53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关系和属性的约定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通常的约定是，</a:t>
            </a:r>
            <a:r>
              <a:rPr lang="zh-CN" altLang="en-US" dirty="0">
                <a:solidFill>
                  <a:srgbClr val="0000FF"/>
                </a:solidFill>
              </a:rPr>
              <a:t>关系名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rgbClr val="0000FF"/>
                </a:solidFill>
              </a:rPr>
              <a:t>大写字母</a:t>
            </a:r>
            <a:r>
              <a:rPr lang="zh-CN" altLang="en-US" dirty="0"/>
              <a:t>开头</a:t>
            </a:r>
            <a:r>
              <a:rPr lang="zh-CN" altLang="en-US" dirty="0">
                <a:solidFill>
                  <a:srgbClr val="0000FF"/>
                </a:solidFill>
              </a:rPr>
              <a:t>，属性名</a:t>
            </a:r>
            <a:r>
              <a:rPr lang="zh-CN" altLang="en-US" dirty="0"/>
              <a:t>以</a:t>
            </a:r>
            <a:r>
              <a:rPr lang="zh-CN" altLang="en-US" dirty="0">
                <a:solidFill>
                  <a:srgbClr val="0000FF"/>
                </a:solidFill>
              </a:rPr>
              <a:t>小写字母</a:t>
            </a:r>
            <a:r>
              <a:rPr lang="zh-CN" altLang="en-US" dirty="0"/>
              <a:t>开头。</a:t>
            </a:r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dirty="0"/>
              <a:t>但是在对关系进行一些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抽象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的讨论</a:t>
            </a:r>
            <a:r>
              <a:rPr lang="zh-CN" altLang="en-US" dirty="0"/>
              <a:t>时，</a:t>
            </a:r>
            <a:r>
              <a:rPr lang="zh-CN" altLang="en-US" dirty="0">
                <a:solidFill>
                  <a:srgbClr val="0000FF"/>
                </a:solidFill>
              </a:rPr>
              <a:t>属性名的大小写</a:t>
            </a:r>
            <a:r>
              <a:rPr lang="zh-CN" altLang="en-US" dirty="0"/>
              <a:t>不会影响问题的讨论，所以，会用单独的一个大写字母来表示关系和属性，比如，</a:t>
            </a:r>
            <a:r>
              <a:rPr lang="en-US" altLang="zh-CN" dirty="0"/>
              <a:t>R(A, B, C)</a:t>
            </a:r>
            <a:r>
              <a:rPr lang="zh-CN" altLang="en-US" dirty="0"/>
              <a:t>就表示一个具有三个属性的关系。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7C0961-35AB-4E56-8851-D19CED5C9A7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10C071-CF78-431B-9379-0DB905D0688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2.1.3 </a:t>
            </a:r>
            <a:r>
              <a:rPr lang="zh-CN" altLang="en-US"/>
              <a:t>关系数据库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在给定应用领域中，用于描述</a:t>
            </a:r>
            <a:r>
              <a:rPr lang="zh-CN" altLang="en-US" dirty="0">
                <a:solidFill>
                  <a:srgbClr val="CC0000"/>
                </a:solidFill>
              </a:rPr>
              <a:t>所有实体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C0000"/>
                </a:solidFill>
              </a:rPr>
              <a:t>实体间联系</a:t>
            </a:r>
            <a:r>
              <a:rPr lang="zh-CN" altLang="en-US" dirty="0"/>
              <a:t>的</a:t>
            </a:r>
            <a:r>
              <a:rPr lang="zh-CN" altLang="en-US" b="1" u="sng" dirty="0">
                <a:solidFill>
                  <a:srgbClr val="CC0000"/>
                </a:solidFill>
              </a:rPr>
              <a:t>关系的集合</a:t>
            </a:r>
            <a:r>
              <a:rPr lang="zh-CN" altLang="en-US" u="sng" dirty="0"/>
              <a:t>构成一个</a:t>
            </a:r>
            <a:r>
              <a:rPr lang="zh-CN" altLang="en-US" u="sng" dirty="0">
                <a:solidFill>
                  <a:srgbClr val="CC0000"/>
                </a:solidFill>
              </a:rPr>
              <a:t>关系数据库</a:t>
            </a:r>
            <a:r>
              <a:rPr lang="zh-CN" altLang="en-US" dirty="0"/>
              <a:t>。同样，关系数据库也有</a:t>
            </a:r>
            <a:r>
              <a:rPr lang="zh-CN" altLang="en-US" dirty="0">
                <a:solidFill>
                  <a:srgbClr val="0000FF"/>
                </a:solidFill>
              </a:rPr>
              <a:t>型和值</a:t>
            </a:r>
            <a:r>
              <a:rPr lang="zh-CN" altLang="en-US" dirty="0"/>
              <a:t>之分。</a:t>
            </a:r>
          </a:p>
          <a:p>
            <a:pPr eaLnBrk="1" hangingPunct="1"/>
            <a:endParaRPr lang="zh-CN" altLang="en-US" sz="1800" dirty="0"/>
          </a:p>
          <a:p>
            <a:pPr eaLnBrk="1" hangingPunct="1"/>
            <a:r>
              <a:rPr lang="zh-CN" altLang="en-US" dirty="0"/>
              <a:t>型：</a:t>
            </a:r>
            <a:r>
              <a:rPr lang="zh-CN" altLang="en-US" u="sng" dirty="0">
                <a:solidFill>
                  <a:srgbClr val="0000FF"/>
                </a:solidFill>
              </a:rPr>
              <a:t>关系数据库模式</a:t>
            </a:r>
            <a:r>
              <a:rPr lang="zh-CN" altLang="en-US" dirty="0"/>
              <a:t>，是对关系数据库的描述。</a:t>
            </a:r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zh-CN" altLang="en-US" dirty="0"/>
              <a:t>值：一般就称为</a:t>
            </a:r>
            <a:r>
              <a:rPr lang="zh-CN" altLang="en-US" dirty="0">
                <a:solidFill>
                  <a:srgbClr val="0000FF"/>
                </a:solidFill>
              </a:rPr>
              <a:t>关系数据库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zh-CN" altLang="en-US" dirty="0">
                <a:solidFill>
                  <a:srgbClr val="0000FF"/>
                </a:solidFill>
              </a:rPr>
              <a:t>实例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7C0961-35AB-4E56-8851-D19CED5C9A7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10C071-CF78-431B-9379-0DB905D0688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2.1.3 </a:t>
            </a:r>
            <a:r>
              <a:rPr lang="zh-CN" altLang="en-US"/>
              <a:t>关系数据库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9C7431E-4B67-9C0E-A640-A5EBC973F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模式图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17E5A7-A315-D0C2-C3CD-12EC8DEEC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565360"/>
            <a:ext cx="8131996" cy="48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83689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050A0F-4906-4956-B9C3-0DA2F06D867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4A672E-1C8E-4C09-B638-150975E0030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/>
              <a:t>2.0 </a:t>
            </a:r>
            <a:r>
              <a:rPr lang="zh-CN" altLang="en-US"/>
              <a:t>关系模型概述</a:t>
            </a:r>
          </a:p>
          <a:p>
            <a:pPr eaLnBrk="1" hangingPunct="1"/>
            <a:r>
              <a:rPr lang="en-US" altLang="zh-CN"/>
              <a:t>2.1 </a:t>
            </a:r>
            <a:r>
              <a:rPr lang="zh-CN" altLang="en-US">
                <a:solidFill>
                  <a:srgbClr val="CC0000"/>
                </a:solidFill>
              </a:rPr>
              <a:t>关系数据结构及形式化定义</a:t>
            </a:r>
          </a:p>
          <a:p>
            <a:pPr eaLnBrk="1" hangingPunct="1"/>
            <a:r>
              <a:rPr lang="en-US" altLang="zh-CN"/>
              <a:t>2.2 </a:t>
            </a:r>
            <a:r>
              <a:rPr lang="zh-CN" altLang="en-US"/>
              <a:t>关系操作</a:t>
            </a:r>
          </a:p>
          <a:p>
            <a:pPr eaLnBrk="1" hangingPunct="1"/>
            <a:r>
              <a:rPr lang="en-US" altLang="zh-CN"/>
              <a:t>2.3 </a:t>
            </a:r>
            <a:r>
              <a:rPr lang="zh-CN" altLang="en-US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/>
              <a:t>2.4 </a:t>
            </a:r>
            <a:r>
              <a:rPr lang="zh-CN" altLang="en-US">
                <a:solidFill>
                  <a:srgbClr val="CC0000"/>
                </a:solidFill>
              </a:rPr>
              <a:t>关系代数</a:t>
            </a:r>
          </a:p>
          <a:p>
            <a:pPr eaLnBrk="1" hangingPunct="1"/>
            <a:r>
              <a:rPr lang="en-US" altLang="zh-CN"/>
              <a:t>2.5 </a:t>
            </a:r>
            <a:r>
              <a:rPr lang="zh-CN" altLang="en-US"/>
              <a:t>关系演算</a:t>
            </a:r>
          </a:p>
        </p:txBody>
      </p:sp>
      <p:sp>
        <p:nvSpPr>
          <p:cNvPr id="35844" name="AutoShape 4"/>
          <p:cNvSpPr>
            <a:spLocks noChangeArrowheads="1"/>
          </p:cNvSpPr>
          <p:nvPr/>
        </p:nvSpPr>
        <p:spPr bwMode="auto">
          <a:xfrm>
            <a:off x="838200" y="2895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DC9F1ED-2795-496F-A75E-6DD2B67D722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623154-323C-40EE-B1E5-40F821C407E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 </a:t>
            </a:r>
            <a:r>
              <a:rPr lang="zh-CN" altLang="en-US"/>
              <a:t>关系操作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关系模型给出了</a:t>
            </a:r>
            <a:r>
              <a:rPr lang="zh-CN" altLang="en-US" b="1" u="sng" dirty="0">
                <a:solidFill>
                  <a:srgbClr val="0000FF"/>
                </a:solidFill>
              </a:rPr>
              <a:t>关系操作的能力</a:t>
            </a:r>
            <a:r>
              <a:rPr lang="zh-CN" altLang="en-US" dirty="0"/>
              <a:t>的说明，并不对</a:t>
            </a:r>
            <a:r>
              <a:rPr lang="en-US" altLang="zh-CN" dirty="0">
                <a:solidFill>
                  <a:srgbClr val="C00000"/>
                </a:solidFill>
              </a:rPr>
              <a:t>R</a:t>
            </a:r>
            <a:r>
              <a:rPr lang="en-US" altLang="zh-CN" dirty="0"/>
              <a:t>DBMS</a:t>
            </a:r>
            <a:r>
              <a:rPr lang="zh-CN" altLang="en-US" dirty="0"/>
              <a:t>语言给出具体的语法要求。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即，不同的</a:t>
            </a:r>
            <a:r>
              <a:rPr lang="en-US" altLang="zh-CN" dirty="0"/>
              <a:t>RDBMS</a:t>
            </a:r>
            <a:r>
              <a:rPr lang="zh-CN" altLang="en-US" dirty="0"/>
              <a:t>可以</a:t>
            </a:r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开发不同</a:t>
            </a:r>
            <a:r>
              <a:rPr lang="zh-CN" altLang="en-US" dirty="0"/>
              <a:t>的语言来实现这些关系操作。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B89370-5D16-4B8F-A919-523BBE44C10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C02100-0454-46E9-801F-4836846E76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2.2.1 </a:t>
            </a:r>
            <a:r>
              <a:rPr lang="zh-CN" altLang="en-US"/>
              <a:t>基本关系操作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查询</a:t>
            </a:r>
          </a:p>
          <a:p>
            <a:pPr lvl="1" eaLnBrk="1" hangingPunct="1"/>
            <a:r>
              <a:rPr lang="zh-CN" altLang="en-US" dirty="0">
                <a:solidFill>
                  <a:srgbClr val="C00000"/>
                </a:solidFill>
              </a:rPr>
              <a:t>选择、投影</a:t>
            </a:r>
            <a:r>
              <a:rPr lang="zh-CN" altLang="en-US" dirty="0"/>
              <a:t>、连接、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除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C00000"/>
                </a:solidFill>
              </a:rPr>
              <a:t>并、差</a:t>
            </a:r>
            <a:r>
              <a:rPr lang="zh-CN" altLang="en-US" dirty="0"/>
              <a:t>、交、</a:t>
            </a:r>
            <a:r>
              <a:rPr lang="zh-CN" altLang="en-US" dirty="0">
                <a:solidFill>
                  <a:srgbClr val="C00000"/>
                </a:solidFill>
              </a:rPr>
              <a:t>广义笛卡尔积</a:t>
            </a:r>
            <a:r>
              <a:rPr lang="zh-CN" altLang="en-US" dirty="0"/>
              <a:t>等</a:t>
            </a:r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更新</a:t>
            </a:r>
          </a:p>
          <a:p>
            <a:pPr lvl="1" eaLnBrk="1" hangingPunct="1"/>
            <a:r>
              <a:rPr lang="zh-CN" altLang="en-US" b="1" dirty="0"/>
              <a:t>插入、删除、修改</a:t>
            </a:r>
          </a:p>
          <a:p>
            <a:pPr lvl="1"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关系操作的特点是</a:t>
            </a:r>
            <a:r>
              <a:rPr lang="zh-CN" altLang="en-US" dirty="0">
                <a:solidFill>
                  <a:srgbClr val="0000FF"/>
                </a:solidFill>
              </a:rPr>
              <a:t>集合</a:t>
            </a:r>
            <a:r>
              <a:rPr lang="zh-CN" altLang="en-US" dirty="0"/>
              <a:t>操作方式</a:t>
            </a:r>
          </a:p>
          <a:p>
            <a:pPr lvl="1" eaLnBrk="1" hangingPunct="1"/>
            <a:r>
              <a:rPr lang="zh-CN" altLang="en-US" dirty="0"/>
              <a:t>一次一集合：操作对象和结果都是关系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09C8FD-7B32-44B9-8341-CE664EA5443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DDA84F-17CA-4B71-AD1F-F2BECF05BBF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关系数据语言分类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/>
              <a:t>关系数据语言</a:t>
            </a:r>
          </a:p>
          <a:p>
            <a:pPr lvl="1" eaLnBrk="1" hangingPunct="1"/>
            <a:r>
              <a:rPr lang="zh-CN" altLang="en-US" sz="3200" dirty="0">
                <a:solidFill>
                  <a:srgbClr val="CC0000"/>
                </a:solidFill>
              </a:rPr>
              <a:t>关系代数</a:t>
            </a:r>
            <a:r>
              <a:rPr lang="zh-CN" altLang="en-US" sz="3200" dirty="0"/>
              <a:t>语言（代数方式）  如</a:t>
            </a:r>
            <a:r>
              <a:rPr lang="en-US" altLang="zh-CN" sz="3200" dirty="0"/>
              <a:t>ISBL    </a:t>
            </a:r>
          </a:p>
          <a:p>
            <a:pPr lvl="1" eaLnBrk="1" hangingPunct="1"/>
            <a:r>
              <a:rPr lang="zh-CN" altLang="en-US" sz="3200" dirty="0">
                <a:solidFill>
                  <a:srgbClr val="CC0000"/>
                </a:solidFill>
              </a:rPr>
              <a:t>关系演算</a:t>
            </a:r>
            <a:r>
              <a:rPr lang="zh-CN" altLang="en-US" sz="3200" dirty="0"/>
              <a:t>语言（逻辑方式）</a:t>
            </a:r>
          </a:p>
          <a:p>
            <a:pPr lvl="2" eaLnBrk="1" hangingPunct="1"/>
            <a:r>
              <a:rPr lang="zh-CN" altLang="en-US" sz="2800" dirty="0">
                <a:solidFill>
                  <a:srgbClr val="0000FF"/>
                </a:solidFill>
              </a:rPr>
              <a:t>元组</a:t>
            </a:r>
            <a:r>
              <a:rPr lang="zh-CN" altLang="en-US" sz="2800" dirty="0"/>
              <a:t>关系演算语言 如</a:t>
            </a:r>
            <a:r>
              <a:rPr lang="en-US" altLang="zh-CN" sz="2800" dirty="0"/>
              <a:t>ALPHA</a:t>
            </a:r>
            <a:r>
              <a:rPr lang="zh-CN" altLang="en-US" sz="2800" dirty="0"/>
              <a:t>，</a:t>
            </a:r>
            <a:r>
              <a:rPr lang="en-US" altLang="zh-CN" sz="2800" dirty="0"/>
              <a:t>QUEL</a:t>
            </a:r>
          </a:p>
          <a:p>
            <a:pPr lvl="2" eaLnBrk="1" hangingPunct="1"/>
            <a:r>
              <a:rPr lang="zh-CN" altLang="en-US" sz="2800" dirty="0">
                <a:solidFill>
                  <a:srgbClr val="0000FF"/>
                </a:solidFill>
              </a:rPr>
              <a:t>域</a:t>
            </a:r>
            <a:r>
              <a:rPr lang="zh-CN" altLang="en-US" sz="2800" dirty="0"/>
              <a:t>关系演算语言 如</a:t>
            </a:r>
            <a:r>
              <a:rPr lang="en-US" altLang="zh-CN" sz="2800" dirty="0"/>
              <a:t>QBE</a:t>
            </a:r>
          </a:p>
          <a:p>
            <a:pPr lvl="1" eaLnBrk="1" hangingPunct="1"/>
            <a:r>
              <a:rPr lang="zh-CN" altLang="en-US" sz="3200" dirty="0"/>
              <a:t>具有</a:t>
            </a:r>
            <a:r>
              <a:rPr lang="zh-CN" altLang="en-US" sz="3200" dirty="0">
                <a:solidFill>
                  <a:srgbClr val="CC0000"/>
                </a:solidFill>
              </a:rPr>
              <a:t>关系代数</a:t>
            </a:r>
            <a:r>
              <a:rPr lang="zh-CN" altLang="en-US" sz="3200" dirty="0"/>
              <a:t>和</a:t>
            </a:r>
            <a:r>
              <a:rPr lang="zh-CN" altLang="en-US" sz="3200" dirty="0">
                <a:solidFill>
                  <a:srgbClr val="CC0000"/>
                </a:solidFill>
              </a:rPr>
              <a:t>关系演算</a:t>
            </a:r>
            <a:r>
              <a:rPr lang="zh-CN" altLang="en-US" sz="3200" dirty="0"/>
              <a:t>双重特点的语言 如</a:t>
            </a:r>
            <a:r>
              <a:rPr lang="en-US" altLang="zh-CN" sz="3200" dirty="0"/>
              <a:t>SQL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81E6F2-726A-4B65-B29A-C42690704F2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4BCDC1-6E2D-4CA8-A7DB-0D51D778A07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关系数据语言分类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关系代数</a:t>
            </a:r>
            <a:r>
              <a:rPr lang="zh-CN" altLang="en-US" sz="2800" dirty="0"/>
              <a:t>是用</a:t>
            </a:r>
            <a:r>
              <a:rPr lang="zh-CN" altLang="en-US" sz="2800" dirty="0">
                <a:solidFill>
                  <a:srgbClr val="0000FF"/>
                </a:solidFill>
              </a:rPr>
              <a:t>对关系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运算</a:t>
            </a:r>
            <a:r>
              <a:rPr lang="zh-CN" altLang="en-US" sz="2800" dirty="0"/>
              <a:t>来表达查询要求的。</a:t>
            </a:r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zh-CN" altLang="en-US" sz="2800" b="1" dirty="0"/>
              <a:t>关系演算</a:t>
            </a:r>
            <a:r>
              <a:rPr lang="zh-CN" altLang="en-US" sz="2800" dirty="0"/>
              <a:t>是用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谓词</a:t>
            </a:r>
            <a:r>
              <a:rPr lang="zh-CN" altLang="en-US" sz="2800" dirty="0"/>
              <a:t>来表达查询要求的。</a:t>
            </a:r>
          </a:p>
          <a:p>
            <a:pPr lvl="1" eaLnBrk="1" hangingPunct="1"/>
            <a:r>
              <a:rPr lang="zh-CN" altLang="en-US" sz="2400" dirty="0"/>
              <a:t>谓词变元基本对象是</a:t>
            </a:r>
            <a:r>
              <a:rPr lang="zh-CN" altLang="en-US" sz="2400" dirty="0">
                <a:solidFill>
                  <a:srgbClr val="993300"/>
                </a:solidFill>
              </a:rPr>
              <a:t>元组变量</a:t>
            </a:r>
            <a:r>
              <a:rPr lang="en-US" altLang="zh-CN" sz="2400" dirty="0">
                <a:latin typeface="Arial" charset="0"/>
              </a:rPr>
              <a:t>—</a:t>
            </a:r>
            <a:r>
              <a:rPr lang="zh-CN" altLang="en-US" sz="2400" dirty="0"/>
              <a:t>元组关系演算</a:t>
            </a:r>
          </a:p>
          <a:p>
            <a:pPr lvl="1" eaLnBrk="1" hangingPunct="1"/>
            <a:r>
              <a:rPr lang="zh-CN" altLang="en-US" sz="2400" dirty="0"/>
              <a:t>谓词变元基本对象是</a:t>
            </a:r>
            <a:r>
              <a:rPr lang="zh-CN" altLang="en-US" sz="2400" dirty="0">
                <a:solidFill>
                  <a:srgbClr val="993300"/>
                </a:solidFill>
              </a:rPr>
              <a:t>域变量</a:t>
            </a:r>
            <a:r>
              <a:rPr lang="en-US" altLang="zh-CN" sz="2400" dirty="0">
                <a:latin typeface="Arial" charset="0"/>
              </a:rPr>
              <a:t>—</a:t>
            </a:r>
            <a:r>
              <a:rPr lang="zh-CN" altLang="en-US" sz="2400" dirty="0"/>
              <a:t>域关系演算</a:t>
            </a:r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zh-CN" altLang="en-US" sz="2800" dirty="0"/>
              <a:t>关系代数、元组关系演算和域关系演算三种语言在</a:t>
            </a:r>
            <a:r>
              <a:rPr lang="zh-CN" altLang="en-US" sz="2800" dirty="0">
                <a:solidFill>
                  <a:schemeClr val="hlink"/>
                </a:solidFill>
              </a:rPr>
              <a:t>表达能力上完全等价</a:t>
            </a:r>
            <a:r>
              <a:rPr lang="zh-CN" altLang="en-US" sz="2800" dirty="0"/>
              <a:t>。</a:t>
            </a:r>
          </a:p>
          <a:p>
            <a:pPr eaLnBrk="1" hangingPunct="1"/>
            <a:endParaRPr lang="zh-CN" altLang="en-US" sz="800" dirty="0"/>
          </a:p>
          <a:p>
            <a:pPr eaLnBrk="1" hangingPunct="1"/>
            <a:r>
              <a:rPr lang="zh-CN" altLang="en-US" sz="2800" dirty="0"/>
              <a:t>均是抽象的查询语言，与</a:t>
            </a:r>
            <a:r>
              <a:rPr lang="en-US" altLang="zh-CN" sz="2800" dirty="0"/>
              <a:t>RDBMS</a:t>
            </a:r>
            <a:r>
              <a:rPr lang="zh-CN" altLang="en-US" sz="2800" dirty="0"/>
              <a:t>中实现的实际语言并不完全一样。可作为评估标准或基础。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3F6B55-EAD4-4815-A4CD-2249F7719D4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D01A73-C71E-4F3B-9AF5-BD81052C9E3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关系数据语言分类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8824" cy="4684713"/>
          </a:xfrm>
        </p:spPr>
        <p:txBody>
          <a:bodyPr/>
          <a:lstStyle/>
          <a:p>
            <a:pPr eaLnBrk="1" hangingPunct="1"/>
            <a:r>
              <a:rPr lang="en-US" altLang="zh-CN" dirty="0"/>
              <a:t>SQL (Structured Query Language)</a:t>
            </a:r>
          </a:p>
          <a:p>
            <a:pPr lvl="1" eaLnBrk="1" hangingPunct="1"/>
            <a:r>
              <a:rPr lang="zh-CN" altLang="en-US" dirty="0"/>
              <a:t>介于关系代数和关系演算之间的语言</a:t>
            </a:r>
          </a:p>
          <a:p>
            <a:pPr lvl="1" eaLnBrk="1" hangingPunct="1"/>
            <a:r>
              <a:rPr lang="zh-CN" altLang="en-US" dirty="0"/>
              <a:t>丰富的</a:t>
            </a:r>
            <a:r>
              <a:rPr lang="zh-CN" altLang="en-US" b="1" dirty="0"/>
              <a:t>查询</a:t>
            </a:r>
            <a:r>
              <a:rPr lang="zh-CN" altLang="en-US" dirty="0"/>
              <a:t>功能</a:t>
            </a:r>
          </a:p>
          <a:p>
            <a:pPr lvl="1" eaLnBrk="1" hangingPunct="1"/>
            <a:r>
              <a:rPr lang="zh-CN" altLang="en-US" dirty="0"/>
              <a:t>具有数据</a:t>
            </a:r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zh-CN" altLang="en-US" dirty="0"/>
              <a:t>和数据</a:t>
            </a:r>
            <a:r>
              <a:rPr lang="zh-CN" altLang="en-US" dirty="0">
                <a:solidFill>
                  <a:srgbClr val="0000FF"/>
                </a:solidFill>
              </a:rPr>
              <a:t>控制</a:t>
            </a:r>
            <a:r>
              <a:rPr lang="zh-CN" altLang="en-US" dirty="0"/>
              <a:t>功能</a:t>
            </a:r>
          </a:p>
          <a:p>
            <a:pPr lvl="1" eaLnBrk="1" hangingPunct="1"/>
            <a:r>
              <a:rPr lang="zh-CN" altLang="en-US" dirty="0"/>
              <a:t>集</a:t>
            </a:r>
            <a:r>
              <a:rPr lang="zh-CN" altLang="en-US" dirty="0">
                <a:solidFill>
                  <a:srgbClr val="C00000"/>
                </a:solidFill>
              </a:rPr>
              <a:t>查询、</a:t>
            </a:r>
            <a:r>
              <a:rPr lang="en-US" altLang="zh-CN" dirty="0">
                <a:solidFill>
                  <a:srgbClr val="C00000"/>
                </a:solidFill>
              </a:rPr>
              <a:t>DDL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DML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DCL</a:t>
            </a:r>
            <a:r>
              <a:rPr lang="zh-CN" altLang="en-US" dirty="0"/>
              <a:t>于一体的关系数据语言</a:t>
            </a:r>
          </a:p>
          <a:p>
            <a:pPr lvl="1" eaLnBrk="1" hangingPunct="1"/>
            <a:r>
              <a:rPr lang="zh-CN" altLang="en-US" dirty="0"/>
              <a:t>关系数据库的</a:t>
            </a:r>
            <a:r>
              <a:rPr lang="zh-CN" altLang="en-US" b="1" dirty="0">
                <a:solidFill>
                  <a:schemeClr val="tx2"/>
                </a:solidFill>
              </a:rPr>
              <a:t>标准语言</a:t>
            </a:r>
            <a:endParaRPr lang="en-US" altLang="zh-CN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BBB325-EBC8-4FC6-A880-660F3D259F8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222F05-F090-4126-8372-B35EE75FD09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2.2.2 </a:t>
            </a:r>
            <a:r>
              <a:rPr lang="zh-CN" altLang="en-US"/>
              <a:t>关系数据语言分类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关系数据语言的共同特点</a:t>
            </a:r>
          </a:p>
          <a:p>
            <a:pPr lvl="1" eaLnBrk="1" hangingPunct="1"/>
            <a:r>
              <a:rPr lang="zh-CN" altLang="en-US" dirty="0"/>
              <a:t>语言具有</a:t>
            </a:r>
            <a:r>
              <a:rPr lang="zh-CN" altLang="en-US" dirty="0">
                <a:solidFill>
                  <a:srgbClr val="C00000"/>
                </a:solidFill>
              </a:rPr>
              <a:t>完备的表达能力</a:t>
            </a:r>
          </a:p>
          <a:p>
            <a:pPr lvl="1" eaLnBrk="1" hangingPunct="1"/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非过程化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集合操作</a:t>
            </a:r>
            <a:r>
              <a:rPr lang="zh-CN" altLang="en-US" dirty="0"/>
              <a:t>语言</a:t>
            </a:r>
          </a:p>
          <a:p>
            <a:pPr lvl="1" eaLnBrk="1" hangingPunct="1"/>
            <a:r>
              <a:rPr lang="zh-CN" altLang="en-US" dirty="0"/>
              <a:t>功能强大</a:t>
            </a:r>
          </a:p>
          <a:p>
            <a:pPr lvl="1" eaLnBrk="1" hangingPunct="1"/>
            <a:r>
              <a:rPr lang="zh-CN" altLang="en-US" dirty="0"/>
              <a:t>能</a:t>
            </a:r>
            <a:r>
              <a:rPr lang="zh-CN" altLang="en-US" dirty="0">
                <a:solidFill>
                  <a:srgbClr val="C00000"/>
                </a:solidFill>
              </a:rPr>
              <a:t>嵌入高级语言</a:t>
            </a:r>
            <a:r>
              <a:rPr lang="zh-CN" altLang="en-US" dirty="0"/>
              <a:t>中使用</a:t>
            </a:r>
            <a:endParaRPr lang="zh-CN" altLang="en-US" sz="1000" dirty="0"/>
          </a:p>
          <a:p>
            <a:pPr lvl="1" eaLnBrk="1" hangingPunct="1"/>
            <a:r>
              <a:rPr lang="zh-CN" altLang="en-US" dirty="0"/>
              <a:t>高度</a:t>
            </a:r>
            <a:r>
              <a:rPr lang="zh-CN" altLang="en-US" dirty="0">
                <a:solidFill>
                  <a:srgbClr val="C00000"/>
                </a:solidFill>
              </a:rPr>
              <a:t>非过程化</a:t>
            </a:r>
            <a:r>
              <a:rPr lang="zh-CN" altLang="en-US" dirty="0"/>
              <a:t>的语言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查询优化方法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06F8B3-242B-404A-8530-4A19DDB9F66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1FAF2B-D7AA-4E8B-9EDA-C1927005C0D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/>
              <a:t>2.0 </a:t>
            </a:r>
            <a:r>
              <a:rPr lang="zh-CN" altLang="en-US"/>
              <a:t>关系模型概述</a:t>
            </a:r>
          </a:p>
          <a:p>
            <a:pPr eaLnBrk="1" hangingPunct="1"/>
            <a:r>
              <a:rPr lang="en-US" altLang="zh-CN"/>
              <a:t>2.1 </a:t>
            </a:r>
            <a:r>
              <a:rPr lang="zh-CN" altLang="en-US">
                <a:solidFill>
                  <a:srgbClr val="CC0000"/>
                </a:solidFill>
              </a:rPr>
              <a:t>关系数据结构及形式化定义</a:t>
            </a:r>
          </a:p>
          <a:p>
            <a:pPr eaLnBrk="1" hangingPunct="1"/>
            <a:r>
              <a:rPr lang="en-US" altLang="zh-CN"/>
              <a:t>2.2 </a:t>
            </a:r>
            <a:r>
              <a:rPr lang="zh-CN" altLang="en-US"/>
              <a:t>关系操作</a:t>
            </a:r>
          </a:p>
          <a:p>
            <a:pPr eaLnBrk="1" hangingPunct="1"/>
            <a:r>
              <a:rPr lang="en-US" altLang="zh-CN"/>
              <a:t>2.3 </a:t>
            </a:r>
            <a:r>
              <a:rPr lang="zh-CN" altLang="en-US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/>
              <a:t>2.4 </a:t>
            </a:r>
            <a:r>
              <a:rPr lang="zh-CN" altLang="en-US">
                <a:solidFill>
                  <a:srgbClr val="CC0000"/>
                </a:solidFill>
              </a:rPr>
              <a:t>关系代数</a:t>
            </a:r>
          </a:p>
          <a:p>
            <a:pPr eaLnBrk="1" hangingPunct="1"/>
            <a:r>
              <a:rPr lang="en-US" altLang="zh-CN"/>
              <a:t>2.5 </a:t>
            </a:r>
            <a:r>
              <a:rPr lang="zh-CN" altLang="en-US"/>
              <a:t>关系演算</a:t>
            </a:r>
          </a:p>
        </p:txBody>
      </p:sp>
      <p:sp>
        <p:nvSpPr>
          <p:cNvPr id="39940" name="AutoShape 4"/>
          <p:cNvSpPr>
            <a:spLocks noChangeArrowheads="1"/>
          </p:cNvSpPr>
          <p:nvPr/>
        </p:nvSpPr>
        <p:spPr bwMode="auto">
          <a:xfrm>
            <a:off x="838200" y="34290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609D05-5034-48BC-87CA-E3BA8D24232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9D5401-A71F-4A1F-95C6-7B44C1AFFC1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82880" cy="4684713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 dirty="0"/>
              <a:t>关系模型的完整性规则是</a:t>
            </a:r>
            <a:r>
              <a:rPr lang="zh-CN" altLang="en-US" sz="2800" dirty="0">
                <a:solidFill>
                  <a:srgbClr val="C00000"/>
                </a:solidFill>
              </a:rPr>
              <a:t>对关系的</a:t>
            </a:r>
            <a:r>
              <a:rPr lang="zh-CN" altLang="en-US" sz="2800" dirty="0"/>
              <a:t>某种</a:t>
            </a:r>
            <a:r>
              <a:rPr lang="zh-CN" altLang="en-US" sz="2800" dirty="0">
                <a:solidFill>
                  <a:srgbClr val="C00000"/>
                </a:solidFill>
              </a:rPr>
              <a:t>约束条件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zh-CN" altLang="en-US" sz="900" dirty="0"/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C0000"/>
                </a:solidFill>
              </a:rPr>
              <a:t>关系模型的三类完整性：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b="1" dirty="0"/>
              <a:t>实体完整性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b="1" dirty="0"/>
              <a:t>参照完整性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sz="2800" dirty="0"/>
              <a:t>用户定义的完整性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marL="609600" indent="-609600" eaLnBrk="1" hangingPunct="1">
              <a:buFont typeface="Wingdings" pitchFamily="2" charset="2"/>
              <a:buChar char="w"/>
            </a:pPr>
            <a:r>
              <a:rPr lang="zh-CN" altLang="en-US" sz="2800" dirty="0"/>
              <a:t>其中</a:t>
            </a:r>
            <a:r>
              <a:rPr lang="zh-CN" altLang="en-US" sz="2800" b="1" dirty="0"/>
              <a:t>实体完整性</a:t>
            </a:r>
            <a:r>
              <a:rPr lang="zh-CN" altLang="en-US" sz="2800" dirty="0"/>
              <a:t>和</a:t>
            </a:r>
            <a:r>
              <a:rPr lang="zh-CN" altLang="en-US" sz="2800" b="1" dirty="0"/>
              <a:t>参照完整性</a:t>
            </a:r>
            <a:r>
              <a:rPr lang="zh-CN" altLang="en-US" sz="2800" dirty="0"/>
              <a:t>是关系模型</a:t>
            </a:r>
            <a:r>
              <a:rPr lang="zh-CN" altLang="en-US" sz="2800" b="1" dirty="0">
                <a:solidFill>
                  <a:srgbClr val="CC0000"/>
                </a:solidFill>
              </a:rPr>
              <a:t>必须满足</a:t>
            </a:r>
            <a:r>
              <a:rPr lang="zh-CN" altLang="en-US" sz="2800" dirty="0"/>
              <a:t>的完整性约束条件，被称为是</a:t>
            </a:r>
            <a:r>
              <a:rPr lang="zh-CN" altLang="en-US" sz="2800" dirty="0">
                <a:solidFill>
                  <a:srgbClr val="0000FF"/>
                </a:solidFill>
              </a:rPr>
              <a:t>关系的两个</a:t>
            </a:r>
            <a:r>
              <a:rPr lang="zh-CN" altLang="en-US" sz="2800" b="1" dirty="0">
                <a:solidFill>
                  <a:srgbClr val="0000FF"/>
                </a:solidFill>
              </a:rPr>
              <a:t>不变性</a:t>
            </a:r>
            <a:r>
              <a:rPr lang="zh-CN" altLang="en-US" sz="2800" dirty="0"/>
              <a:t>，应该由关系系统</a:t>
            </a:r>
            <a:r>
              <a:rPr lang="zh-CN" altLang="en-US" sz="2800" dirty="0">
                <a:solidFill>
                  <a:srgbClr val="C00000"/>
                </a:solidFill>
              </a:rPr>
              <a:t>自动支持</a:t>
            </a:r>
            <a:r>
              <a:rPr lang="zh-CN" altLang="en-US" sz="2800" dirty="0"/>
              <a:t>。 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5AD707-C35E-4AE8-B800-BB59277F86E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2B864F-B678-4190-9223-D1DF3854050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54888" cy="4684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一、实体完整性</a:t>
            </a: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实体完整性规则</a:t>
            </a:r>
            <a:r>
              <a:rPr lang="en-US" altLang="zh-CN" dirty="0"/>
              <a:t>(</a:t>
            </a:r>
            <a:r>
              <a:rPr lang="zh-CN" altLang="en-US" dirty="0"/>
              <a:t>规则</a:t>
            </a:r>
            <a:r>
              <a:rPr lang="en-US" altLang="zh-CN" dirty="0"/>
              <a:t>2.1)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C2290A"/>
                </a:solidFill>
              </a:rPr>
              <a:t>每一关系必有一</a:t>
            </a:r>
            <a:r>
              <a:rPr lang="zh-CN" altLang="en-US" b="1" dirty="0">
                <a:solidFill>
                  <a:srgbClr val="C00000"/>
                </a:solidFill>
              </a:rPr>
              <a:t>主码</a:t>
            </a:r>
            <a:r>
              <a:rPr lang="zh-CN" altLang="en-US" dirty="0">
                <a:solidFill>
                  <a:srgbClr val="C2290A"/>
                </a:solidFill>
              </a:rPr>
              <a:t>，构成主码的各属性值均</a:t>
            </a:r>
            <a:r>
              <a:rPr lang="zh-CN" altLang="en-US" dirty="0">
                <a:solidFill>
                  <a:srgbClr val="0000FF"/>
                </a:solidFill>
              </a:rPr>
              <a:t>不能取空值</a:t>
            </a:r>
            <a:r>
              <a:rPr lang="zh-CN" altLang="en-US" dirty="0"/>
              <a:t>。</a:t>
            </a:r>
          </a:p>
          <a:p>
            <a:pPr lvl="1" eaLnBrk="1" hangingPunct="1"/>
            <a:endParaRPr lang="zh-CN" altLang="en-US" sz="800" dirty="0"/>
          </a:p>
          <a:p>
            <a:pPr lvl="1" eaLnBrk="1" hangingPunct="1"/>
            <a:r>
              <a:rPr lang="zh-CN" altLang="en-US" dirty="0"/>
              <a:t>实体完整性规则</a:t>
            </a:r>
            <a:r>
              <a:rPr lang="zh-CN" altLang="en-US" dirty="0">
                <a:solidFill>
                  <a:srgbClr val="C00000"/>
                </a:solidFill>
              </a:rPr>
              <a:t>规定</a:t>
            </a:r>
            <a:r>
              <a:rPr lang="zh-CN" altLang="en-US" dirty="0"/>
              <a:t>基本关系的</a:t>
            </a:r>
            <a:r>
              <a:rPr lang="zh-CN" altLang="en-US" dirty="0">
                <a:solidFill>
                  <a:srgbClr val="C00000"/>
                </a:solidFill>
              </a:rPr>
              <a:t>所有主码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各</a:t>
            </a:r>
            <a:r>
              <a:rPr lang="zh-CN" altLang="en-US" dirty="0">
                <a:solidFill>
                  <a:srgbClr val="0000FF"/>
                </a:solidFill>
              </a:rPr>
              <a:t>属性</a:t>
            </a:r>
            <a:r>
              <a:rPr lang="zh-CN" altLang="en-US" b="1" dirty="0">
                <a:solidFill>
                  <a:srgbClr val="FF0000"/>
                </a:solidFill>
              </a:rPr>
              <a:t>都不能</a:t>
            </a:r>
            <a:r>
              <a:rPr lang="zh-CN" altLang="en-US" dirty="0">
                <a:solidFill>
                  <a:srgbClr val="0000FF"/>
                </a:solidFill>
              </a:rPr>
              <a:t>取空值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00FF"/>
                </a:solidFill>
              </a:rPr>
              <a:t>不仅是主码整体不能取空值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/>
              <a:t>空值</a:t>
            </a:r>
            <a:r>
              <a:rPr lang="en-US" altLang="zh-CN" dirty="0">
                <a:latin typeface="Arial" charset="0"/>
              </a:rPr>
              <a:t>—“</a:t>
            </a:r>
            <a:r>
              <a:rPr lang="zh-CN" altLang="en-US" dirty="0"/>
              <a:t>不知道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、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不确定</a:t>
            </a:r>
            <a:r>
              <a:rPr lang="zh-CN" altLang="en-US" dirty="0">
                <a:latin typeface="Arial" charset="0"/>
              </a:rPr>
              <a:t>”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93E19A-A1DF-4E9D-80A1-750043DC92B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A41341-E31B-44D3-A35D-34C3B46C584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/>
              <a:t>--</a:t>
            </a:r>
            <a:r>
              <a:rPr lang="zh-CN" altLang="en-US"/>
              <a:t>实体完整性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dirty="0"/>
              <a:t>例如学生选课关系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选修（</a:t>
            </a:r>
            <a:r>
              <a:rPr lang="zh-CN" altLang="en-US" u="sng" dirty="0"/>
              <a:t>学号，课程号</a:t>
            </a:r>
            <a:r>
              <a:rPr lang="zh-CN" altLang="en-US" dirty="0"/>
              <a:t>，成绩）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中，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</a:rPr>
              <a:t>“</a:t>
            </a:r>
            <a:r>
              <a:rPr lang="zh-CN" altLang="en-US" dirty="0">
                <a:solidFill>
                  <a:srgbClr val="0000FF"/>
                </a:solidFill>
              </a:rPr>
              <a:t>学号、课程号</a:t>
            </a:r>
            <a:r>
              <a:rPr lang="zh-CN" altLang="en-US" dirty="0">
                <a:solidFill>
                  <a:srgbClr val="0000FF"/>
                </a:solidFill>
                <a:latin typeface="Arial" charset="0"/>
              </a:rPr>
              <a:t>”</a:t>
            </a:r>
            <a:r>
              <a:rPr lang="zh-CN" altLang="en-US" dirty="0">
                <a:solidFill>
                  <a:srgbClr val="0000FF"/>
                </a:solidFill>
              </a:rPr>
              <a:t>为主码</a:t>
            </a:r>
            <a:r>
              <a:rPr lang="zh-CN" altLang="en-US" dirty="0"/>
              <a:t>，则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学号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和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课程号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>
                <a:solidFill>
                  <a:srgbClr val="0000FF"/>
                </a:solidFill>
              </a:rPr>
              <a:t>都不能取空值</a:t>
            </a:r>
            <a:r>
              <a:rPr lang="zh-CN" altLang="en-US" dirty="0"/>
              <a:t>，而不是整体不为空。</a:t>
            </a:r>
          </a:p>
          <a:p>
            <a:pPr eaLnBrk="1" hangingPunct="1"/>
            <a:endParaRPr lang="zh-CN" altLang="en-US" sz="800" dirty="0"/>
          </a:p>
          <a:p>
            <a:pPr lvl="1" eaLnBrk="1" hangingPunct="1"/>
            <a:r>
              <a:rPr lang="zh-CN" altLang="en-US" dirty="0"/>
              <a:t>实体完整性可以引申一下，</a:t>
            </a:r>
            <a:r>
              <a:rPr lang="zh-CN" altLang="en-US" dirty="0">
                <a:solidFill>
                  <a:srgbClr val="CC0000"/>
                </a:solidFill>
              </a:rPr>
              <a:t>主码</a:t>
            </a:r>
            <a:r>
              <a:rPr lang="zh-CN" altLang="en-US" dirty="0"/>
              <a:t>也</a:t>
            </a:r>
            <a:r>
              <a:rPr lang="zh-CN" altLang="en-US" b="1" dirty="0"/>
              <a:t>不能</a:t>
            </a:r>
            <a:r>
              <a:rPr lang="zh-CN" altLang="en-US" b="1" dirty="0">
                <a:solidFill>
                  <a:srgbClr val="CC0000"/>
                </a:solidFill>
              </a:rPr>
              <a:t>取重复</a:t>
            </a:r>
            <a:r>
              <a:rPr lang="zh-CN" altLang="en-US" dirty="0">
                <a:solidFill>
                  <a:srgbClr val="CC0000"/>
                </a:solidFill>
              </a:rPr>
              <a:t>值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8265BF-D90F-4F83-BBE5-1B572A14160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39CB5-BEFC-4DCD-BD4D-801886918F7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/>
              <a:t>--</a:t>
            </a:r>
            <a:r>
              <a:rPr lang="zh-CN" altLang="en-US"/>
              <a:t>实体完整性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有关实体完整性的说明：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zh-CN" altLang="en-US" dirty="0"/>
              <a:t>实体完整性规则是针对</a:t>
            </a:r>
            <a:r>
              <a:rPr lang="zh-CN" altLang="en-US" dirty="0">
                <a:solidFill>
                  <a:srgbClr val="0000FF"/>
                </a:solidFill>
              </a:rPr>
              <a:t>基本关系</a:t>
            </a:r>
            <a:r>
              <a:rPr lang="zh-CN" altLang="en-US" dirty="0"/>
              <a:t>而言的。一个</a:t>
            </a:r>
            <a:r>
              <a:rPr lang="zh-CN" altLang="en-US" dirty="0">
                <a:solidFill>
                  <a:schemeClr val="tx2"/>
                </a:solidFill>
              </a:rPr>
              <a:t>基本表</a:t>
            </a:r>
            <a:r>
              <a:rPr lang="zh-CN" altLang="en-US" dirty="0"/>
              <a:t>通常对应现实世界的一个</a:t>
            </a:r>
            <a:r>
              <a:rPr lang="zh-CN" altLang="en-US" dirty="0">
                <a:solidFill>
                  <a:schemeClr val="tx2"/>
                </a:solidFill>
              </a:rPr>
              <a:t>实体集</a:t>
            </a:r>
            <a:r>
              <a:rPr lang="zh-CN" altLang="en-US" dirty="0"/>
              <a:t>。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C0000"/>
                </a:solidFill>
              </a:rPr>
              <a:t>名字怎么来的</a:t>
            </a:r>
            <a:r>
              <a:rPr lang="en-US" altLang="zh-CN" dirty="0"/>
              <a:t>)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zh-CN" altLang="en-US" dirty="0"/>
              <a:t>现实世界中的</a:t>
            </a:r>
            <a:r>
              <a:rPr lang="zh-CN" altLang="en-US" dirty="0">
                <a:solidFill>
                  <a:srgbClr val="0000FF"/>
                </a:solidFill>
              </a:rPr>
              <a:t>实体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可区分</a:t>
            </a:r>
            <a:r>
              <a:rPr lang="zh-CN" altLang="en-US" dirty="0"/>
              <a:t>的，即它们具有某种</a:t>
            </a:r>
            <a:r>
              <a:rPr lang="zh-CN" altLang="en-US" dirty="0">
                <a:solidFill>
                  <a:srgbClr val="0000FF"/>
                </a:solidFill>
              </a:rPr>
              <a:t>唯一性标识</a:t>
            </a:r>
            <a:r>
              <a:rPr lang="zh-CN" altLang="en-US" dirty="0"/>
              <a:t>。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zh-CN" altLang="en-US" dirty="0"/>
              <a:t>相应地，关系模型中以</a:t>
            </a:r>
            <a:r>
              <a:rPr lang="zh-CN" altLang="en-US" dirty="0">
                <a:solidFill>
                  <a:srgbClr val="0000FF"/>
                </a:solidFill>
              </a:rPr>
              <a:t>主码</a:t>
            </a:r>
            <a:r>
              <a:rPr lang="zh-CN" altLang="en-US" dirty="0"/>
              <a:t>作为</a:t>
            </a:r>
            <a:r>
              <a:rPr lang="zh-CN" altLang="en-US" dirty="0">
                <a:solidFill>
                  <a:srgbClr val="0000FF"/>
                </a:solidFill>
              </a:rPr>
              <a:t>唯一</a:t>
            </a:r>
            <a:r>
              <a:rPr lang="zh-CN" altLang="en-US" dirty="0"/>
              <a:t>标识。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zh-CN" altLang="en-US" dirty="0"/>
              <a:t>主码中的属性即主属性</a:t>
            </a:r>
            <a:r>
              <a:rPr lang="zh-CN" altLang="en-US" dirty="0">
                <a:solidFill>
                  <a:srgbClr val="0000FF"/>
                </a:solidFill>
              </a:rPr>
              <a:t>不能取空值</a:t>
            </a:r>
            <a:r>
              <a:rPr lang="zh-CN" altLang="en-US" dirty="0"/>
              <a:t>。所谓空值就是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不知道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或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不确定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的值。</a:t>
            </a: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C27F74-4D4D-4B3C-AE53-E396F9BD2CE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E323F8-D838-479B-964A-51C7E56526F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>
                <a:latin typeface="Arial" charset="0"/>
              </a:rPr>
              <a:t>—</a:t>
            </a:r>
            <a:r>
              <a:rPr lang="zh-CN" altLang="en-US"/>
              <a:t>参照完整性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二、参照完整性</a:t>
            </a:r>
          </a:p>
          <a:p>
            <a:pPr eaLnBrk="1" hangingPunct="1"/>
            <a:r>
              <a:rPr lang="zh-CN" altLang="en-US" sz="2800" dirty="0"/>
              <a:t>现实世界中的</a:t>
            </a:r>
            <a:r>
              <a:rPr lang="zh-CN" altLang="en-US" sz="2800" dirty="0">
                <a:solidFill>
                  <a:schemeClr val="tx2"/>
                </a:solidFill>
              </a:rPr>
              <a:t>实体之间</a:t>
            </a:r>
            <a:r>
              <a:rPr lang="zh-CN" altLang="en-US" sz="2800" dirty="0"/>
              <a:t>往往</a:t>
            </a:r>
            <a:r>
              <a:rPr lang="zh-CN" altLang="en-US" sz="2800" dirty="0">
                <a:solidFill>
                  <a:schemeClr val="tx2"/>
                </a:solidFill>
              </a:rPr>
              <a:t>存在某种联系</a:t>
            </a:r>
            <a:r>
              <a:rPr lang="zh-CN" altLang="en-US" sz="2800" dirty="0"/>
              <a:t>，在关系模型中</a:t>
            </a:r>
            <a:r>
              <a:rPr lang="zh-CN" altLang="en-US" sz="2800" dirty="0">
                <a:solidFill>
                  <a:srgbClr val="0000FF"/>
                </a:solidFill>
              </a:rPr>
              <a:t>实体</a:t>
            </a:r>
            <a:r>
              <a:rPr lang="en-US" altLang="zh-CN" sz="2800" dirty="0">
                <a:solidFill>
                  <a:srgbClr val="0000FF"/>
                </a:solidFill>
              </a:rPr>
              <a:t>(A)</a:t>
            </a:r>
            <a:r>
              <a:rPr lang="zh-CN" altLang="en-US" sz="2800" dirty="0"/>
              <a:t>及</a:t>
            </a:r>
            <a:r>
              <a:rPr lang="zh-CN" altLang="en-US" sz="2800" dirty="0">
                <a:solidFill>
                  <a:srgbClr val="0000FF"/>
                </a:solidFill>
              </a:rPr>
              <a:t>实体</a:t>
            </a:r>
            <a:r>
              <a:rPr lang="en-US" altLang="zh-CN" sz="2800" dirty="0">
                <a:solidFill>
                  <a:srgbClr val="0000FF"/>
                </a:solidFill>
              </a:rPr>
              <a:t>(B)</a:t>
            </a:r>
            <a:r>
              <a:rPr lang="zh-CN" altLang="en-US" sz="2800" dirty="0">
                <a:solidFill>
                  <a:srgbClr val="0000FF"/>
                </a:solidFill>
              </a:rPr>
              <a:t>间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联系</a:t>
            </a:r>
            <a:r>
              <a:rPr lang="zh-CN" altLang="en-US" sz="2800" dirty="0"/>
              <a:t>都是用</a:t>
            </a:r>
            <a:r>
              <a:rPr lang="zh-CN" altLang="en-US" sz="2800" dirty="0">
                <a:solidFill>
                  <a:srgbClr val="0000FF"/>
                </a:solidFill>
              </a:rPr>
              <a:t>关系</a:t>
            </a:r>
            <a:r>
              <a:rPr lang="zh-CN" altLang="en-US" sz="2800" dirty="0"/>
              <a:t>来</a:t>
            </a:r>
            <a:r>
              <a:rPr lang="zh-CN" altLang="en-US" sz="2800" dirty="0">
                <a:solidFill>
                  <a:srgbClr val="0000FF"/>
                </a:solidFill>
              </a:rPr>
              <a:t>描述</a:t>
            </a:r>
            <a:r>
              <a:rPr lang="zh-CN" altLang="en-US" sz="2800" dirty="0"/>
              <a:t>的。这样就自然存在着</a:t>
            </a:r>
            <a:r>
              <a:rPr lang="zh-CN" altLang="en-US" sz="2800" b="1" dirty="0">
                <a:solidFill>
                  <a:srgbClr val="C00000"/>
                </a:solidFill>
              </a:rPr>
              <a:t>关系</a:t>
            </a:r>
            <a:r>
              <a:rPr lang="en-US" altLang="zh-CN" sz="2800" b="1" dirty="0">
                <a:solidFill>
                  <a:srgbClr val="C00000"/>
                </a:solidFill>
              </a:rPr>
              <a:t>(A)</a:t>
            </a:r>
            <a:r>
              <a:rPr lang="zh-CN" altLang="en-US" sz="2800" b="1" dirty="0"/>
              <a:t>与</a:t>
            </a:r>
            <a:r>
              <a:rPr lang="zh-CN" altLang="en-US" sz="2800" b="1" dirty="0">
                <a:solidFill>
                  <a:srgbClr val="C00000"/>
                </a:solidFill>
              </a:rPr>
              <a:t>关系</a:t>
            </a:r>
            <a:r>
              <a:rPr lang="en-US" altLang="zh-CN" sz="2800" b="1" dirty="0">
                <a:solidFill>
                  <a:srgbClr val="C00000"/>
                </a:solidFill>
              </a:rPr>
              <a:t>(B)</a:t>
            </a:r>
            <a:r>
              <a:rPr lang="zh-CN" altLang="en-US" sz="2800" b="1" dirty="0">
                <a:solidFill>
                  <a:srgbClr val="C00000"/>
                </a:solidFill>
              </a:rPr>
              <a:t>之间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00000"/>
                </a:solidFill>
              </a:rPr>
              <a:t>引用</a:t>
            </a:r>
            <a:r>
              <a:rPr lang="zh-CN" altLang="en-US" sz="2800" dirty="0"/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D51649-90B2-4733-833A-CD029C745F6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4C36C5-25FB-40F7-8D55-D68B4A554ED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5061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学生实体、专业实体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　学生（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，姓名，性别，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专业号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，年龄）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专业（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专业号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，专业名，专业负责人）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2.3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关系的完整性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宋体"/>
                <a:cs typeface="+mj-cs"/>
              </a:rPr>
              <a:t>—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参照完整性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宋体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47AF5A-4BC4-4D59-BFCD-62F6B0BA7AE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4E8421-B478-4827-BA32-0FB1F98400A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608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学生、课程、</a:t>
            </a:r>
            <a:r>
              <a:rPr kumimoji="0" lang="zh-CN" altLang="en-US" sz="28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学生与课程之间的</a:t>
            </a:r>
            <a:r>
              <a:rPr kumimoji="0" lang="zh-CN" altLang="en-US" sz="2800" b="0" i="0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多对多</a:t>
            </a:r>
            <a:r>
              <a:rPr kumimoji="0" lang="zh-CN" altLang="en-US" sz="2800" b="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联系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可以用下面三个关系表示：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  学生（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姓名，性别，专业号，年龄）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  课程（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课程号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，课程名，学分，先修课）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  选修（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课程号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，成绩）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2.3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关系的完整性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宋体"/>
                <a:cs typeface="+mj-cs"/>
              </a:rPr>
              <a:t>—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参照完整性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宋体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C27F74-4D4D-4B3C-AE53-E396F9BD2CE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E323F8-D838-479B-964A-51C7E56526F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>
                <a:latin typeface="Arial" charset="0"/>
              </a:rPr>
              <a:t>—</a:t>
            </a:r>
            <a:r>
              <a:rPr lang="zh-CN" altLang="en-US"/>
              <a:t>参照完整性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二、参照完整性</a:t>
            </a:r>
          </a:p>
          <a:p>
            <a:pPr eaLnBrk="1" hangingPunct="1"/>
            <a:r>
              <a:rPr lang="zh-CN" altLang="en-US" sz="2800" dirty="0"/>
              <a:t>现实世界中的</a:t>
            </a:r>
            <a:r>
              <a:rPr lang="zh-CN" altLang="en-US" sz="2800" dirty="0">
                <a:solidFill>
                  <a:srgbClr val="0000FF"/>
                </a:solidFill>
              </a:rPr>
              <a:t>实体之间</a:t>
            </a:r>
            <a:r>
              <a:rPr lang="zh-CN" altLang="en-US" sz="2800" dirty="0"/>
              <a:t>往往</a:t>
            </a:r>
            <a:r>
              <a:rPr lang="zh-CN" altLang="en-US" sz="2800" dirty="0">
                <a:solidFill>
                  <a:schemeClr val="tx2"/>
                </a:solidFill>
              </a:rPr>
              <a:t>存在某种联系</a:t>
            </a:r>
            <a:r>
              <a:rPr lang="zh-CN" altLang="en-US" sz="2800" dirty="0"/>
              <a:t>，在关系模型中</a:t>
            </a:r>
            <a:r>
              <a:rPr lang="zh-CN" altLang="en-US" sz="2800" dirty="0">
                <a:solidFill>
                  <a:srgbClr val="0000FF"/>
                </a:solidFill>
              </a:rPr>
              <a:t>实体</a:t>
            </a:r>
            <a:r>
              <a:rPr lang="zh-CN" altLang="en-US" sz="2800" dirty="0"/>
              <a:t>及</a:t>
            </a:r>
            <a:r>
              <a:rPr lang="zh-CN" altLang="en-US" sz="2800" dirty="0">
                <a:solidFill>
                  <a:srgbClr val="0000FF"/>
                </a:solidFill>
              </a:rPr>
              <a:t>实体间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联系</a:t>
            </a:r>
            <a:r>
              <a:rPr lang="zh-CN" altLang="en-US" sz="2800" dirty="0"/>
              <a:t>都是用</a:t>
            </a:r>
            <a:r>
              <a:rPr lang="zh-CN" altLang="en-US" sz="2800" dirty="0">
                <a:solidFill>
                  <a:srgbClr val="0000FF"/>
                </a:solidFill>
              </a:rPr>
              <a:t>关系</a:t>
            </a:r>
            <a:r>
              <a:rPr lang="zh-CN" altLang="en-US" sz="2800" dirty="0"/>
              <a:t>来</a:t>
            </a:r>
            <a:r>
              <a:rPr lang="zh-CN" altLang="en-US" sz="2800" dirty="0">
                <a:solidFill>
                  <a:srgbClr val="0000FF"/>
                </a:solidFill>
              </a:rPr>
              <a:t>描述</a:t>
            </a:r>
            <a:r>
              <a:rPr lang="zh-CN" altLang="en-US" sz="2800" dirty="0"/>
              <a:t>的。这样就自然存在着</a:t>
            </a:r>
            <a:r>
              <a:rPr lang="zh-CN" altLang="en-US" sz="2800" b="1" dirty="0">
                <a:solidFill>
                  <a:srgbClr val="C00000"/>
                </a:solidFill>
              </a:rPr>
              <a:t>关系</a:t>
            </a:r>
            <a:r>
              <a:rPr lang="zh-CN" altLang="en-US" sz="2800" b="1" dirty="0"/>
              <a:t>与</a:t>
            </a:r>
            <a:r>
              <a:rPr lang="zh-CN" altLang="en-US" sz="2800" b="1" dirty="0">
                <a:solidFill>
                  <a:srgbClr val="C00000"/>
                </a:solidFill>
              </a:rPr>
              <a:t>关系之间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00000"/>
                </a:solidFill>
              </a:rPr>
              <a:t>引用</a:t>
            </a:r>
            <a:r>
              <a:rPr lang="zh-CN" altLang="en-US" sz="2800" dirty="0"/>
              <a:t>。</a:t>
            </a:r>
          </a:p>
          <a:p>
            <a:pPr eaLnBrk="1" hangingPunct="1"/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引用</a:t>
            </a:r>
            <a:r>
              <a:rPr lang="zh-CN" altLang="en-US" sz="2800" dirty="0"/>
              <a:t>的时候，必须取基本表中</a:t>
            </a:r>
            <a:r>
              <a:rPr lang="zh-CN" altLang="en-US" sz="2800" b="1" dirty="0">
                <a:solidFill>
                  <a:srgbClr val="0000FF"/>
                </a:solidFill>
              </a:rPr>
              <a:t>已经存在</a:t>
            </a:r>
            <a:r>
              <a:rPr lang="zh-CN" altLang="en-US" sz="2800" dirty="0">
                <a:solidFill>
                  <a:srgbClr val="0000FF"/>
                </a:solidFill>
              </a:rPr>
              <a:t>的值</a:t>
            </a:r>
            <a:r>
              <a:rPr lang="zh-CN" altLang="en-US" sz="2800" dirty="0"/>
              <a:t>。由此引出参照的</a:t>
            </a:r>
            <a:r>
              <a:rPr lang="zh-CN" altLang="en-US" sz="2800" dirty="0">
                <a:solidFill>
                  <a:srgbClr val="0000FF"/>
                </a:solidFill>
              </a:rPr>
              <a:t>引用规则</a:t>
            </a:r>
            <a:r>
              <a:rPr lang="zh-CN" altLang="en-US" sz="2800" dirty="0"/>
              <a:t>。</a:t>
            </a:r>
          </a:p>
          <a:p>
            <a:pPr eaLnBrk="1" hangingPunct="1"/>
            <a:r>
              <a:rPr lang="zh-CN" altLang="en-US" sz="2800" dirty="0"/>
              <a:t>参照完整性规则就是定义</a:t>
            </a:r>
            <a:r>
              <a:rPr lang="zh-CN" altLang="en-US" sz="2800" b="1" dirty="0">
                <a:solidFill>
                  <a:srgbClr val="CC0000"/>
                </a:solidFill>
              </a:rPr>
              <a:t>外码</a:t>
            </a:r>
            <a:r>
              <a:rPr lang="zh-CN" altLang="en-US" sz="2800" dirty="0"/>
              <a:t>与</a:t>
            </a:r>
            <a:r>
              <a:rPr lang="zh-CN" altLang="en-US" sz="2800" b="1" dirty="0">
                <a:solidFill>
                  <a:srgbClr val="CC0000"/>
                </a:solidFill>
              </a:rPr>
              <a:t>主码</a:t>
            </a:r>
            <a:r>
              <a:rPr lang="zh-CN" altLang="en-US" sz="2800" dirty="0">
                <a:solidFill>
                  <a:srgbClr val="CC0000"/>
                </a:solidFill>
              </a:rPr>
              <a:t>之间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CC0000"/>
                </a:solidFill>
              </a:rPr>
              <a:t>引用规则</a:t>
            </a:r>
            <a:r>
              <a:rPr lang="zh-CN" altLang="en-US" sz="2800" dirty="0"/>
              <a:t>。 </a:t>
            </a:r>
            <a:br>
              <a:rPr lang="zh-CN" altLang="en-US" sz="2800" dirty="0"/>
            </a:b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82976293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FE0BB8-C97F-4032-B1F5-21D47A68558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7E1390-44E1-48C9-B246-419AC72D012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>
                <a:latin typeface="Arial" charset="0"/>
              </a:rPr>
              <a:t>—</a:t>
            </a:r>
            <a:r>
              <a:rPr lang="zh-CN" altLang="en-US"/>
              <a:t>参照完整性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参照完整性规则</a:t>
            </a:r>
            <a:r>
              <a:rPr lang="en-US" altLang="zh-CN" dirty="0"/>
              <a:t>(</a:t>
            </a:r>
            <a:r>
              <a:rPr lang="zh-CN" altLang="en-US" dirty="0"/>
              <a:t>规则</a:t>
            </a:r>
            <a:r>
              <a:rPr lang="en-US" altLang="zh-CN" dirty="0"/>
              <a:t>2.2)</a:t>
            </a:r>
            <a:r>
              <a:rPr lang="zh-CN" altLang="en-US" dirty="0"/>
              <a:t>：若属性</a:t>
            </a:r>
            <a:r>
              <a:rPr lang="en-US" altLang="zh-CN" dirty="0"/>
              <a:t>(</a:t>
            </a:r>
            <a:r>
              <a:rPr lang="zh-CN" altLang="en-US" dirty="0"/>
              <a:t>或属性组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/>
              <a:t>是基本关系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外码</a:t>
            </a:r>
            <a:r>
              <a:rPr lang="zh-CN" altLang="en-US" dirty="0"/>
              <a:t>，它与基本关系</a:t>
            </a:r>
            <a:r>
              <a:rPr lang="en-US" altLang="zh-CN" dirty="0">
                <a:solidFill>
                  <a:srgbClr val="C00000"/>
                </a:solidFill>
              </a:rPr>
              <a:t>S</a:t>
            </a:r>
            <a:r>
              <a:rPr lang="zh-CN" altLang="en-US" dirty="0"/>
              <a:t>的</a:t>
            </a:r>
            <a:r>
              <a:rPr lang="zh-CN" altLang="en-US" u="sng" dirty="0">
                <a:solidFill>
                  <a:srgbClr val="0000FF"/>
                </a:solidFill>
              </a:rPr>
              <a:t>主码</a:t>
            </a:r>
            <a:r>
              <a:rPr lang="en-US" altLang="zh-CN" u="sng" dirty="0">
                <a:solidFill>
                  <a:srgbClr val="0000FF"/>
                </a:solidFill>
              </a:rPr>
              <a:t>K</a:t>
            </a:r>
            <a:r>
              <a:rPr lang="en-US" altLang="zh-CN" u="sng" baseline="-25000" dirty="0">
                <a:solidFill>
                  <a:srgbClr val="0000FF"/>
                </a:solidFill>
              </a:rPr>
              <a:t>s</a:t>
            </a:r>
            <a:r>
              <a:rPr lang="zh-CN" altLang="en-US" dirty="0"/>
              <a:t>相对应</a:t>
            </a:r>
            <a:r>
              <a:rPr lang="en-US" altLang="zh-CN" dirty="0"/>
              <a:t>(</a:t>
            </a:r>
            <a:r>
              <a:rPr lang="zh-CN" altLang="en-US" dirty="0"/>
              <a:t>基本关系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不一定是不同的关系</a:t>
            </a:r>
            <a:r>
              <a:rPr lang="en-US" altLang="zh-CN" dirty="0"/>
              <a:t>)</a:t>
            </a:r>
            <a:r>
              <a:rPr lang="zh-CN" altLang="en-US" dirty="0"/>
              <a:t>，则对于</a:t>
            </a:r>
            <a:r>
              <a:rPr lang="en-US" altLang="zh-CN" dirty="0"/>
              <a:t>R</a:t>
            </a:r>
            <a:r>
              <a:rPr lang="zh-CN" altLang="en-US" dirty="0"/>
              <a:t>中每个元组在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>
                <a:solidFill>
                  <a:srgbClr val="C00000"/>
                </a:solidFill>
              </a:rPr>
              <a:t>上的值</a:t>
            </a:r>
            <a:r>
              <a:rPr lang="zh-CN" altLang="en-US" dirty="0"/>
              <a:t>必须为：　 </a:t>
            </a:r>
          </a:p>
          <a:p>
            <a:pPr lvl="1" eaLnBrk="1" hangingPunct="1"/>
            <a:r>
              <a:rPr lang="zh-CN" altLang="en-US" sz="3200" dirty="0"/>
              <a:t>或者</a:t>
            </a:r>
            <a:r>
              <a:rPr lang="zh-CN" altLang="en-US" sz="3200" dirty="0">
                <a:solidFill>
                  <a:srgbClr val="0000FF"/>
                </a:solidFill>
              </a:rPr>
              <a:t>取</a:t>
            </a:r>
            <a:r>
              <a:rPr lang="zh-CN" altLang="en-US" sz="3200" b="1" dirty="0">
                <a:solidFill>
                  <a:srgbClr val="C00000"/>
                </a:solidFill>
              </a:rPr>
              <a:t>空值</a:t>
            </a:r>
            <a:r>
              <a:rPr lang="en-US" altLang="zh-CN" sz="3200" dirty="0"/>
              <a:t>(F</a:t>
            </a:r>
            <a:r>
              <a:rPr lang="zh-CN" altLang="en-US" sz="3200" dirty="0"/>
              <a:t>的每个属性值均为空值</a:t>
            </a:r>
            <a:r>
              <a:rPr lang="en-US" altLang="zh-CN" sz="3200" dirty="0"/>
              <a:t>)</a:t>
            </a:r>
          </a:p>
          <a:p>
            <a:pPr lvl="1" eaLnBrk="1" hangingPunct="1"/>
            <a:r>
              <a:rPr lang="zh-CN" altLang="en-US" sz="3200" dirty="0"/>
              <a:t>或者</a:t>
            </a:r>
            <a:r>
              <a:rPr lang="zh-CN" altLang="en-US" sz="3200" dirty="0">
                <a:solidFill>
                  <a:srgbClr val="0000FF"/>
                </a:solidFill>
              </a:rPr>
              <a:t>等于</a:t>
            </a:r>
            <a:r>
              <a:rPr lang="en-US" altLang="zh-CN" sz="3200" dirty="0"/>
              <a:t>S</a:t>
            </a:r>
            <a:r>
              <a:rPr lang="zh-CN" altLang="en-US" sz="3200" dirty="0"/>
              <a:t>中某个元组的</a:t>
            </a:r>
            <a:r>
              <a:rPr lang="zh-CN" altLang="en-US" sz="3200" b="1" dirty="0">
                <a:solidFill>
                  <a:srgbClr val="C00000"/>
                </a:solidFill>
              </a:rPr>
              <a:t>主码值</a:t>
            </a: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BB9FF5-7CBF-49C0-8667-EC60DE754DD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8170C2-9713-4F89-8831-1B216372830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49157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学生实体、专业实体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　学生（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，姓名，性别，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专业号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，年龄）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专业（</a:t>
            </a:r>
            <a:r>
              <a:rPr kumimoji="0" lang="zh-CN" alt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专业号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，专业名）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2.3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关系的完整性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宋体"/>
                <a:cs typeface="+mj-cs"/>
              </a:rPr>
              <a:t>—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参照完整性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宋体"/>
              <a:cs typeface="+mj-cs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3EB47D-65A2-4865-B5D6-FA6B5BEAF12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061034-7157-43D2-BE71-F5738B4FE56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>
                <a:latin typeface="Arial" charset="0"/>
              </a:rPr>
              <a:t>—</a:t>
            </a:r>
            <a:r>
              <a:rPr lang="zh-CN" altLang="en-US"/>
              <a:t>参照完整性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学生选课系统，</a:t>
            </a:r>
            <a:r>
              <a:rPr lang="zh-CN" altLang="en-US" dirty="0">
                <a:solidFill>
                  <a:srgbClr val="0000FF"/>
                </a:solidFill>
              </a:rPr>
              <a:t>选课关系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学号</a:t>
            </a:r>
            <a:r>
              <a:rPr lang="zh-CN" altLang="en-US" dirty="0"/>
              <a:t>按</a:t>
            </a:r>
            <a:r>
              <a:rPr lang="zh-CN" altLang="en-US" u="sng" dirty="0"/>
              <a:t>实体完整性</a:t>
            </a:r>
            <a:r>
              <a:rPr lang="zh-CN" altLang="en-US" dirty="0"/>
              <a:t>要求，</a:t>
            </a:r>
            <a:r>
              <a:rPr lang="zh-CN" altLang="en-US" u="sng" dirty="0"/>
              <a:t>不能为空</a:t>
            </a:r>
            <a:r>
              <a:rPr lang="zh-CN" altLang="en-US" dirty="0"/>
              <a:t>；按</a:t>
            </a:r>
            <a:r>
              <a:rPr lang="zh-CN" altLang="en-US" u="sng" dirty="0"/>
              <a:t>参照完整性</a:t>
            </a:r>
            <a:r>
              <a:rPr lang="zh-CN" altLang="en-US" dirty="0"/>
              <a:t>要求，</a:t>
            </a:r>
            <a:r>
              <a:rPr lang="zh-CN" altLang="en-US" u="sng" dirty="0"/>
              <a:t>只能选学生关系中的学号</a:t>
            </a:r>
            <a:r>
              <a:rPr lang="zh-CN" altLang="en-US" dirty="0"/>
              <a:t>，表示语义关系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>
                <a:solidFill>
                  <a:srgbClr val="0000FF"/>
                </a:solidFill>
              </a:rPr>
              <a:t>只有注册的学生才能选课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课程号也类似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zh-CN" altLang="en-US" dirty="0">
                <a:solidFill>
                  <a:schemeClr val="folHlink"/>
                </a:solidFill>
              </a:rPr>
              <a:t>请同学们自己考虑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800" y="4343400"/>
            <a:ext cx="82296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学生、课程、学生与课程之间的多对多联系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  学生（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，姓名，性别，专业号，年龄）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  课程（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课程号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，课程名，学分）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     选修（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学号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课程号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黑体" pitchFamily="49" charset="-122"/>
                <a:cs typeface="Arial" charset="0"/>
              </a:rPr>
              <a:t>，成绩）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黑体" pitchFamily="49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0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50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3B52A81-B658-4BC8-8BD6-023B444DC63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0B0B8C-860B-482E-A5BE-EBD22922D93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2.3 </a:t>
            </a:r>
            <a:r>
              <a:rPr lang="zh-CN" altLang="en-US"/>
              <a:t>关系的完整性</a:t>
            </a:r>
            <a:r>
              <a:rPr lang="en-US" altLang="zh-CN">
                <a:latin typeface="Arial" charset="0"/>
              </a:rPr>
              <a:t>—</a:t>
            </a:r>
            <a:r>
              <a:rPr lang="zh-CN" altLang="en-US"/>
              <a:t>用户定义的完整性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三、用户定义的完整性（</a:t>
            </a:r>
            <a:r>
              <a:rPr lang="en-US" altLang="zh-CN" sz="2800" dirty="0"/>
              <a:t>User-defined integrity</a:t>
            </a:r>
            <a:r>
              <a:rPr lang="zh-CN" altLang="en-US" sz="2800" dirty="0"/>
              <a:t>） 　　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C2290A"/>
                </a:solidFill>
              </a:rPr>
              <a:t>	实体完整性和参照性适用于任何关系数据库系统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除此之外，不同的关系数据库系统根据其</a:t>
            </a:r>
            <a:r>
              <a:rPr lang="zh-CN" altLang="en-US" sz="2800" dirty="0">
                <a:solidFill>
                  <a:srgbClr val="0000FF"/>
                </a:solidFill>
              </a:rPr>
              <a:t>应用环境的不同</a:t>
            </a:r>
            <a:r>
              <a:rPr lang="zh-CN" altLang="en-US" sz="2800" dirty="0"/>
              <a:t>，往往还需要一些</a:t>
            </a:r>
            <a:r>
              <a:rPr lang="zh-CN" altLang="en-US" sz="2800" u="sng" dirty="0"/>
              <a:t>特殊的约束条件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用户定义的完整性</a:t>
            </a:r>
            <a:r>
              <a:rPr lang="zh-CN" altLang="en-US" sz="2800" dirty="0"/>
              <a:t>就是针对</a:t>
            </a:r>
            <a:r>
              <a:rPr lang="zh-CN" altLang="en-US" sz="2800" u="sng" dirty="0">
                <a:solidFill>
                  <a:srgbClr val="C2290A"/>
                </a:solidFill>
              </a:rPr>
              <a:t>某一具体关系数据库</a:t>
            </a:r>
            <a:r>
              <a:rPr lang="zh-CN" altLang="en-US" sz="2800" dirty="0"/>
              <a:t>的约束条件，它反映某一具体应用</a:t>
            </a:r>
            <a:r>
              <a:rPr lang="zh-CN" altLang="en-US" sz="2800" b="1" dirty="0">
                <a:solidFill>
                  <a:schemeClr val="tx2"/>
                </a:solidFill>
              </a:rPr>
              <a:t>所涉及的数据</a:t>
            </a:r>
            <a:r>
              <a:rPr lang="zh-CN" altLang="en-US" sz="2800" dirty="0">
                <a:solidFill>
                  <a:srgbClr val="C2290A"/>
                </a:solidFill>
              </a:rPr>
              <a:t>必须满足的语义要求。</a:t>
            </a:r>
            <a:endParaRPr lang="en-US" altLang="zh-CN" sz="2800" dirty="0">
              <a:solidFill>
                <a:srgbClr val="C2290A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u="sng" dirty="0"/>
              <a:t>关系模型应提供</a:t>
            </a:r>
            <a:r>
              <a:rPr lang="zh-CN" altLang="en-US" sz="2800" u="sng" dirty="0">
                <a:solidFill>
                  <a:srgbClr val="0000FF"/>
                </a:solidFill>
              </a:rPr>
              <a:t>定义和检验</a:t>
            </a:r>
            <a:r>
              <a:rPr lang="zh-CN" altLang="en-US" sz="2800" u="sng" dirty="0"/>
              <a:t>这类完整性的机制</a:t>
            </a:r>
            <a:r>
              <a:rPr lang="zh-CN" altLang="en-US" sz="2800" dirty="0"/>
              <a:t>，以便用统一的系统的方法处理它们，而</a:t>
            </a:r>
            <a:r>
              <a:rPr lang="zh-CN" altLang="en-US" sz="2800" u="sng" dirty="0"/>
              <a:t>不要由应用程序承担这一功能</a:t>
            </a:r>
            <a:r>
              <a:rPr lang="zh-CN" altLang="en-US" sz="2800" dirty="0"/>
              <a:t>。</a:t>
            </a: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6A2A22-12AA-40E4-83F2-E8075A944A2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2227" name="页脚占位符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93F4E-90EA-414C-9321-1B3FDC1D232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45307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例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	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课程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zh-CN" altLang="en-US" sz="32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课程号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，课程名，学分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“课程号”属性必须取唯一值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非主属性“课程名”也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不能取空值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“学分”属性只能取值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{1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3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4}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38200" y="381000"/>
            <a:ext cx="8105775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2.3 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关系的完整性</a:t>
            </a:r>
            <a:r>
              <a:rPr kumimoji="0" lang="en-US" altLang="zh-CN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charset="0"/>
                <a:ea typeface="宋体"/>
                <a:cs typeface="+mj-cs"/>
              </a:rPr>
              <a:t>—</a:t>
            </a: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宋体"/>
                <a:cs typeface="+mj-cs"/>
              </a:rPr>
              <a:t>用户定义的完整性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宋体"/>
              <a:cs typeface="+mj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65AE4C-59B4-AAF9-07A1-5A539DCE3AF4}"/>
              </a:ext>
            </a:extLst>
          </p:cNvPr>
          <p:cNvSpPr txBox="1"/>
          <p:nvPr/>
        </p:nvSpPr>
        <p:spPr>
          <a:xfrm>
            <a:off x="5591908" y="556846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如何实现呢？第三四章介绍。</a:t>
            </a: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CFCEF5-7BE6-4765-9ED0-4F674E7F94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32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32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915B24-E900-4461-8897-0EA79D4E4A1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2.0 </a:t>
            </a:r>
            <a:r>
              <a:rPr lang="zh-CN" altLang="en-US" dirty="0"/>
              <a:t>关系模型概述</a:t>
            </a:r>
          </a:p>
          <a:p>
            <a:pPr eaLnBrk="1" hangingPunct="1"/>
            <a:r>
              <a:rPr lang="en-US" altLang="zh-CN" dirty="0"/>
              <a:t>2.1 </a:t>
            </a:r>
            <a:r>
              <a:rPr lang="zh-CN" altLang="en-US" dirty="0">
                <a:solidFill>
                  <a:srgbClr val="CC0000"/>
                </a:solidFill>
              </a:rPr>
              <a:t>关系数据结构及形式化定义</a:t>
            </a:r>
          </a:p>
          <a:p>
            <a:pPr eaLnBrk="1" hangingPunct="1"/>
            <a:r>
              <a:rPr lang="en-US" altLang="zh-CN" dirty="0"/>
              <a:t>2.2 </a:t>
            </a:r>
            <a:r>
              <a:rPr lang="zh-CN" altLang="en-US" dirty="0"/>
              <a:t>关系操作</a:t>
            </a:r>
          </a:p>
          <a:p>
            <a:pPr eaLnBrk="1" hangingPunct="1"/>
            <a:r>
              <a:rPr lang="en-US" altLang="zh-CN" dirty="0"/>
              <a:t>2.3 </a:t>
            </a:r>
            <a:r>
              <a:rPr lang="zh-CN" altLang="en-US" dirty="0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 dirty="0"/>
              <a:t>2.4 </a:t>
            </a:r>
            <a:r>
              <a:rPr lang="zh-CN" altLang="en-US" dirty="0">
                <a:solidFill>
                  <a:srgbClr val="CC0000"/>
                </a:solidFill>
              </a:rPr>
              <a:t>关系代数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zh-CN" altLang="en-US" dirty="0">
                <a:solidFill>
                  <a:srgbClr val="CC0000"/>
                </a:solidFill>
              </a:rPr>
              <a:t>教材</a:t>
            </a:r>
            <a:r>
              <a:rPr lang="en-US" altLang="zh-CN" dirty="0">
                <a:solidFill>
                  <a:srgbClr val="CC0000"/>
                </a:solidFill>
              </a:rPr>
              <a:t>6.1)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关系演算</a:t>
            </a: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838200" y="4038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1E9734-53B1-40AC-8C15-FB9984D56AC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42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D6A2FD-4C89-4336-84F3-C6F84651771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</a:t>
            </a:r>
            <a:r>
              <a:rPr lang="zh-CN" altLang="en-US"/>
              <a:t>关系代数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345488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本节要求</a:t>
            </a:r>
          </a:p>
          <a:p>
            <a:pPr lvl="1" eaLnBrk="1" hangingPunct="1"/>
            <a:r>
              <a:rPr lang="zh-CN" altLang="en-US" dirty="0"/>
              <a:t>给定关系和关系代数表达式，要</a:t>
            </a:r>
            <a:r>
              <a:rPr lang="zh-CN" altLang="en-US" dirty="0">
                <a:solidFill>
                  <a:srgbClr val="C2290A"/>
                </a:solidFill>
              </a:rPr>
              <a:t>会算</a:t>
            </a:r>
            <a:r>
              <a:rPr lang="zh-CN" altLang="en-US" dirty="0"/>
              <a:t>。</a:t>
            </a:r>
            <a:endParaRPr lang="zh-CN" altLang="en-US" dirty="0">
              <a:solidFill>
                <a:srgbClr val="C2290A"/>
              </a:solidFill>
            </a:endParaRPr>
          </a:p>
          <a:p>
            <a:pPr eaLnBrk="1" hangingPunct="1"/>
            <a:endParaRPr lang="zh-CN" altLang="en-US" sz="1000" dirty="0"/>
          </a:p>
          <a:p>
            <a:pPr lvl="1" eaLnBrk="1" hangingPunct="1"/>
            <a:r>
              <a:rPr lang="zh-CN" altLang="en-US" dirty="0"/>
              <a:t>给定关系模式和查询（语义）要求，要</a:t>
            </a:r>
            <a:r>
              <a:rPr lang="zh-CN" altLang="en-US" dirty="0">
                <a:solidFill>
                  <a:srgbClr val="C2290A"/>
                </a:solidFill>
              </a:rPr>
              <a:t>会写</a:t>
            </a:r>
            <a:r>
              <a:rPr lang="zh-CN" altLang="en-US" dirty="0"/>
              <a:t>关系代数表达式。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08A466-B275-4162-8F7D-EAEA115F350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53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CD30FF-A86A-44B8-B6A6-FA279FA4815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</a:t>
            </a:r>
            <a:r>
              <a:rPr lang="zh-CN" altLang="en-US"/>
              <a:t>关系代数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3100" dirty="0">
                <a:solidFill>
                  <a:srgbClr val="0000FF"/>
                </a:solidFill>
              </a:rPr>
              <a:t>关系代数</a:t>
            </a:r>
            <a:r>
              <a:rPr lang="zh-CN" altLang="en-US" sz="3100" dirty="0"/>
              <a:t>是一种抽象的查询语言，由</a:t>
            </a:r>
            <a:r>
              <a:rPr lang="zh-CN" altLang="en-US" sz="3100" dirty="0">
                <a:solidFill>
                  <a:srgbClr val="0000FF"/>
                </a:solidFill>
              </a:rPr>
              <a:t>一组运算</a:t>
            </a:r>
            <a:r>
              <a:rPr lang="zh-CN" altLang="en-US" sz="3100" dirty="0"/>
              <a:t>组成，通过</a:t>
            </a:r>
            <a:r>
              <a:rPr lang="zh-CN" altLang="en-US" sz="3100" dirty="0">
                <a:solidFill>
                  <a:srgbClr val="0000FF"/>
                </a:solidFill>
              </a:rPr>
              <a:t>对关系的运算</a:t>
            </a:r>
            <a:r>
              <a:rPr lang="zh-CN" altLang="en-US" sz="3100" dirty="0"/>
              <a:t>来</a:t>
            </a:r>
            <a:r>
              <a:rPr lang="zh-CN" altLang="en-US" sz="3100" dirty="0">
                <a:solidFill>
                  <a:srgbClr val="C00000"/>
                </a:solidFill>
              </a:rPr>
              <a:t>表达查询</a:t>
            </a:r>
            <a:r>
              <a:rPr lang="zh-CN" altLang="en-US" sz="3100" dirty="0"/>
              <a:t>，作为研究关系数据语言的</a:t>
            </a:r>
            <a:r>
              <a:rPr lang="zh-CN" altLang="en-US" sz="3100" dirty="0">
                <a:solidFill>
                  <a:srgbClr val="0000FF"/>
                </a:solidFill>
              </a:rPr>
              <a:t>数学工具</a:t>
            </a:r>
            <a:r>
              <a:rPr lang="zh-CN" altLang="en-US" sz="3100" dirty="0"/>
              <a:t>。 </a:t>
            </a:r>
          </a:p>
          <a:p>
            <a:pPr eaLnBrk="1" hangingPunct="1"/>
            <a:r>
              <a:rPr lang="zh-CN" altLang="en-US" sz="3100" dirty="0"/>
              <a:t>关系代数的</a:t>
            </a:r>
            <a:r>
              <a:rPr lang="zh-CN" altLang="en-US" sz="3100" b="1" dirty="0">
                <a:solidFill>
                  <a:schemeClr val="tx2"/>
                </a:solidFill>
              </a:rPr>
              <a:t>运算对象</a:t>
            </a:r>
            <a:r>
              <a:rPr lang="zh-CN" altLang="en-US" sz="3100" dirty="0"/>
              <a:t>是</a:t>
            </a:r>
            <a:r>
              <a:rPr lang="zh-CN" altLang="en-US" sz="3100" b="1" dirty="0">
                <a:solidFill>
                  <a:schemeClr val="tx2"/>
                </a:solidFill>
              </a:rPr>
              <a:t>关系</a:t>
            </a:r>
            <a:r>
              <a:rPr lang="zh-CN" altLang="en-US" sz="3100" dirty="0"/>
              <a:t>，接受一个或两个关系作为输入，运算</a:t>
            </a:r>
            <a:r>
              <a:rPr lang="zh-CN" altLang="en-US" sz="3100" dirty="0">
                <a:solidFill>
                  <a:srgbClr val="0000FF"/>
                </a:solidFill>
              </a:rPr>
              <a:t>结果亦为</a:t>
            </a:r>
            <a:r>
              <a:rPr lang="zh-CN" altLang="en-US" sz="3100" b="1" dirty="0">
                <a:solidFill>
                  <a:srgbClr val="0000FF"/>
                </a:solidFill>
              </a:rPr>
              <a:t>关系，</a:t>
            </a:r>
            <a:r>
              <a:rPr lang="zh-CN" altLang="en-US" sz="3100" dirty="0"/>
              <a:t>即有</a:t>
            </a:r>
            <a:r>
              <a:rPr lang="zh-CN" altLang="en-US" sz="3100" dirty="0">
                <a:solidFill>
                  <a:srgbClr val="0000FF"/>
                </a:solidFill>
              </a:rPr>
              <a:t>一元运算符</a:t>
            </a:r>
            <a:r>
              <a:rPr lang="en-US" altLang="zh-CN" sz="3100" dirty="0">
                <a:solidFill>
                  <a:srgbClr val="0000FF"/>
                </a:solidFill>
              </a:rPr>
              <a:t>(</a:t>
            </a:r>
            <a:r>
              <a:rPr lang="zh-CN" altLang="en-US" sz="3100" dirty="0">
                <a:solidFill>
                  <a:srgbClr val="0000FF"/>
                </a:solidFill>
              </a:rPr>
              <a:t>单目运算</a:t>
            </a:r>
            <a:r>
              <a:rPr lang="en-US" altLang="zh-CN" sz="3100" dirty="0">
                <a:solidFill>
                  <a:srgbClr val="0000FF"/>
                </a:solidFill>
              </a:rPr>
              <a:t>)</a:t>
            </a:r>
            <a:r>
              <a:rPr lang="zh-CN" altLang="en-US" sz="3100" dirty="0"/>
              <a:t>、</a:t>
            </a:r>
            <a:r>
              <a:rPr lang="zh-CN" altLang="en-US" sz="3100" dirty="0">
                <a:solidFill>
                  <a:srgbClr val="0000FF"/>
                </a:solidFill>
              </a:rPr>
              <a:t>二元运算符</a:t>
            </a:r>
            <a:r>
              <a:rPr lang="en-US" altLang="zh-CN" sz="3100" dirty="0">
                <a:solidFill>
                  <a:srgbClr val="0000FF"/>
                </a:solidFill>
              </a:rPr>
              <a:t>(</a:t>
            </a:r>
            <a:r>
              <a:rPr lang="zh-CN" altLang="en-US" sz="3100" dirty="0">
                <a:solidFill>
                  <a:srgbClr val="0000FF"/>
                </a:solidFill>
              </a:rPr>
              <a:t>双目运算</a:t>
            </a:r>
            <a:r>
              <a:rPr lang="en-US" altLang="zh-CN" sz="3100" dirty="0">
                <a:solidFill>
                  <a:srgbClr val="0000FF"/>
                </a:solidFill>
              </a:rPr>
              <a:t>)</a:t>
            </a:r>
            <a:endParaRPr lang="zh-CN" altLang="en-US" sz="3100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3100" dirty="0"/>
              <a:t>关系代数用到的</a:t>
            </a:r>
            <a:r>
              <a:rPr lang="zh-CN" altLang="en-US" sz="3100" dirty="0">
                <a:solidFill>
                  <a:srgbClr val="C00000"/>
                </a:solidFill>
              </a:rPr>
              <a:t>运算符</a:t>
            </a:r>
            <a:r>
              <a:rPr lang="zh-CN" altLang="en-US" sz="3100" dirty="0"/>
              <a:t>包括四类：</a:t>
            </a:r>
            <a:r>
              <a:rPr lang="zh-CN" altLang="en-US" sz="3100" dirty="0">
                <a:solidFill>
                  <a:srgbClr val="0000FF"/>
                </a:solidFill>
              </a:rPr>
              <a:t>集合运算符</a:t>
            </a:r>
            <a:r>
              <a:rPr lang="zh-CN" altLang="en-US" sz="3100" dirty="0"/>
              <a:t>、专门的</a:t>
            </a:r>
            <a:r>
              <a:rPr lang="zh-CN" altLang="en-US" sz="3100" dirty="0">
                <a:solidFill>
                  <a:srgbClr val="C2290A"/>
                </a:solidFill>
              </a:rPr>
              <a:t>关系运算符</a:t>
            </a:r>
            <a:r>
              <a:rPr lang="zh-CN" altLang="en-US" sz="3100" dirty="0"/>
              <a:t>、</a:t>
            </a:r>
            <a:r>
              <a:rPr lang="zh-CN" altLang="en-US" sz="3100" u="sng" dirty="0"/>
              <a:t>算术比较符和逻辑运算符</a:t>
            </a:r>
            <a:r>
              <a:rPr lang="zh-CN" altLang="en-US" sz="3100" dirty="0"/>
              <a:t>。</a:t>
            </a:r>
          </a:p>
          <a:p>
            <a:pPr eaLnBrk="1" hangingPunct="1"/>
            <a:endParaRPr lang="zh-CN" altLang="en-US" sz="3100" dirty="0"/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1A829D-186F-48DB-B92C-46E1302AA7F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6B042C-D773-45C3-AFC3-4D319219723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</a:t>
            </a:r>
            <a:r>
              <a:rPr lang="zh-CN" altLang="en-US"/>
              <a:t>关系代数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2290A"/>
                </a:solidFill>
              </a:rPr>
              <a:t>比较运算符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2290A"/>
                </a:solidFill>
              </a:rPr>
              <a:t>逻辑运算符</a:t>
            </a:r>
            <a:r>
              <a:rPr lang="zh-CN" altLang="en-US" dirty="0"/>
              <a:t>是用来</a:t>
            </a:r>
            <a:r>
              <a:rPr lang="zh-CN" altLang="en-US" dirty="0">
                <a:solidFill>
                  <a:srgbClr val="C2290A"/>
                </a:solidFill>
              </a:rPr>
              <a:t>辅助</a:t>
            </a:r>
            <a:r>
              <a:rPr lang="zh-CN" altLang="en-US" dirty="0"/>
              <a:t>专门的关系运算符进行操作的，所以关系代数的运算</a:t>
            </a:r>
            <a:r>
              <a:rPr lang="zh-CN" altLang="en-US" u="sng" dirty="0"/>
              <a:t>按运算符的不同</a:t>
            </a:r>
            <a:r>
              <a:rPr lang="zh-CN" altLang="en-US" dirty="0"/>
              <a:t>，主要分为</a:t>
            </a:r>
            <a:r>
              <a:rPr lang="en-US" altLang="zh-CN" dirty="0"/>
              <a:t>:</a:t>
            </a:r>
          </a:p>
          <a:p>
            <a:pPr lvl="1" eaLnBrk="1" hangingPunct="1">
              <a:spcBef>
                <a:spcPct val="55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专门的关系运算</a:t>
            </a:r>
          </a:p>
          <a:p>
            <a:pPr lvl="1" eaLnBrk="1" hangingPunct="1">
              <a:spcBef>
                <a:spcPct val="55000"/>
              </a:spcBef>
            </a:pPr>
            <a:r>
              <a:rPr lang="zh-CN" altLang="en-US" sz="3200" b="1" dirty="0">
                <a:solidFill>
                  <a:srgbClr val="0000FF"/>
                </a:solidFill>
              </a:rPr>
              <a:t>传统的集合运算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1C7D88-AD84-4223-8E9F-B66E6C4B3DA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73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119FBE-4ADC-43EC-BDD8-15A1295228A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 </a:t>
            </a:r>
            <a:r>
              <a:rPr lang="zh-CN" altLang="en-US"/>
              <a:t>关系代数</a:t>
            </a:r>
          </a:p>
        </p:txBody>
      </p:sp>
      <p:graphicFrame>
        <p:nvGraphicFramePr>
          <p:cNvPr id="9" name="Group 139"/>
          <p:cNvGraphicFramePr>
            <a:graphicFrameLocks noGrp="1"/>
          </p:cNvGraphicFramePr>
          <p:nvPr/>
        </p:nvGraphicFramePr>
        <p:xfrm>
          <a:off x="609600" y="2484438"/>
          <a:ext cx="8153400" cy="2011582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6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3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集合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运算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符</a:t>
                      </a:r>
                    </a:p>
                  </a:txBody>
                  <a:tcPr marT="45671" marB="456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∪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并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差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交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笛卡尔积</a:t>
                      </a: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比较运算符</a:t>
                      </a: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＞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≥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≤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＝     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&lt;&gt;  </a:t>
                      </a: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大于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大于等于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小于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小于等于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等于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不等于</a:t>
                      </a:r>
                    </a:p>
                  </a:txBody>
                  <a:tcPr marT="45671" marB="456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136"/>
          <p:cNvGraphicFramePr>
            <a:graphicFrameLocks noGrp="1"/>
          </p:cNvGraphicFramePr>
          <p:nvPr/>
        </p:nvGraphicFramePr>
        <p:xfrm>
          <a:off x="609600" y="2133600"/>
          <a:ext cx="8153400" cy="365188"/>
        </p:xfrm>
        <a:graphic>
          <a:graphicData uri="http://schemas.openxmlformats.org/drawingml/2006/table">
            <a:tbl>
              <a:tblPr/>
              <a:tblGrid>
                <a:gridCol w="2126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1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6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marT="45434" marB="454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含义</a:t>
                      </a:r>
                    </a:p>
                  </a:txBody>
                  <a:tcPr marT="45434" marB="454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运算符</a:t>
                      </a:r>
                    </a:p>
                  </a:txBody>
                  <a:tcPr marT="45434" marB="454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含义</a:t>
                      </a:r>
                    </a:p>
                  </a:txBody>
                  <a:tcPr marT="45434" marB="454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182523"/>
              </p:ext>
            </p:extLst>
          </p:nvPr>
        </p:nvGraphicFramePr>
        <p:xfrm>
          <a:off x="609600" y="4489450"/>
          <a:ext cx="8153400" cy="16827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2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专门的关系运算符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σ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π 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÷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选择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投影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连接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除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逻辑运算符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∧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∨  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3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非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与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或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396" name="AutoShape 32"/>
          <p:cNvSpPr>
            <a:spLocks noChangeAspect="1" noChangeArrowheads="1"/>
          </p:cNvSpPr>
          <p:nvPr/>
        </p:nvSpPr>
        <p:spPr bwMode="auto">
          <a:xfrm rot="5400000" flipV="1">
            <a:off x="1926431" y="5160169"/>
            <a:ext cx="223838" cy="419100"/>
          </a:xfrm>
          <a:prstGeom prst="flowChartCollate">
            <a:avLst/>
          </a:prstGeom>
          <a:solidFill>
            <a:srgbClr val="FFFFFF"/>
          </a:solidFill>
          <a:ln w="38100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7397" name="TextBox 13"/>
          <p:cNvSpPr txBox="1">
            <a:spLocks noChangeArrowheads="1"/>
          </p:cNvSpPr>
          <p:nvPr/>
        </p:nvSpPr>
        <p:spPr bwMode="auto">
          <a:xfrm>
            <a:off x="3352800" y="1519238"/>
            <a:ext cx="23510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rPr>
              <a:t>关系代数运算符</a:t>
            </a: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2B90E-2748-46ED-A6DF-910EF424A8C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65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65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7B8706-CAC3-4B11-A014-6B6253A4DEE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 </a:t>
            </a:r>
            <a:r>
              <a:rPr lang="en-US" altLang="zh-CN" dirty="0"/>
              <a:t>-- </a:t>
            </a:r>
            <a:r>
              <a:rPr lang="zh-CN" altLang="en-US" dirty="0">
                <a:solidFill>
                  <a:srgbClr val="0000FF"/>
                </a:solidFill>
              </a:rPr>
              <a:t>选择</a:t>
            </a:r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设关系模式为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altLang="zh-CN" sz="2800" i="1" baseline="-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800" i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i="1" baseline="-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800" i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zh-CN" altLang="en-US" sz="2800" i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i="1" baseline="-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记号</a:t>
            </a:r>
            <a:r>
              <a:rPr lang="zh-CN" altLang="en-US" sz="2800" dirty="0"/>
              <a:t>： </a:t>
            </a:r>
            <a:r>
              <a:rPr lang="en-US" altLang="zh-CN" sz="2800" dirty="0"/>
              <a:t>R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t</a:t>
            </a:r>
            <a:r>
              <a:rPr lang="en-US" altLang="zh-CN" sz="2800" dirty="0" err="1">
                <a:sym typeface="Symbol" pitchFamily="18" charset="2"/>
              </a:rPr>
              <a:t></a:t>
            </a:r>
            <a:r>
              <a:rPr lang="en-US" altLang="zh-CN" sz="2800" dirty="0" err="1"/>
              <a:t>R</a:t>
            </a:r>
            <a:r>
              <a:rPr lang="zh-CN" altLang="en-US" sz="2800" dirty="0"/>
              <a:t>，</a:t>
            </a:r>
            <a:r>
              <a:rPr lang="en-US" altLang="zh-CN" sz="2800" dirty="0"/>
              <a:t>t[A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]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它的一个关系设为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表示 </a:t>
            </a:r>
            <a:r>
              <a:rPr lang="en-US" altLang="zh-CN" sz="2800" i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是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的一个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元组</a:t>
            </a:r>
          </a:p>
          <a:p>
            <a:pPr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i="1" baseline="-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则表示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元组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中相应于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属性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i="1" baseline="-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的一个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分量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50860907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83331C4-DDBA-43E6-AF98-881A47BE1E6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75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75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737648-5037-4F7D-B330-77A8EE436B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 </a:t>
            </a:r>
            <a:r>
              <a:rPr lang="en-US" altLang="zh-CN" dirty="0"/>
              <a:t>-- </a:t>
            </a:r>
            <a:r>
              <a:rPr lang="zh-CN" altLang="en-US" dirty="0"/>
              <a:t>选择</a:t>
            </a:r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684713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选择</a:t>
            </a:r>
            <a:r>
              <a:rPr lang="zh-CN" altLang="en-US" sz="2800" dirty="0">
                <a:latin typeface="Times New Roman" pitchFamily="18" charset="0"/>
              </a:rPr>
              <a:t>又称为限制（</a:t>
            </a:r>
            <a:r>
              <a:rPr lang="en-US" altLang="zh-CN" sz="2800" dirty="0">
                <a:latin typeface="Times New Roman" pitchFamily="18" charset="0"/>
              </a:rPr>
              <a:t>Restriction</a:t>
            </a:r>
            <a:r>
              <a:rPr lang="zh-CN" altLang="en-US" sz="2800" dirty="0">
                <a:latin typeface="Times New Roman" pitchFamily="18" charset="0"/>
              </a:rPr>
              <a:t>）。它是在关系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</a:rPr>
              <a:t>中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选择</a:t>
            </a:r>
            <a:r>
              <a:rPr lang="zh-CN" altLang="en-US" sz="2800" u="sng" dirty="0">
                <a:solidFill>
                  <a:srgbClr val="C00000"/>
                </a:solidFill>
                <a:latin typeface="Times New Roman" pitchFamily="18" charset="0"/>
              </a:rPr>
              <a:t>满足给定条件</a:t>
            </a:r>
            <a:r>
              <a:rPr lang="zh-CN" altLang="en-US" sz="2800" dirty="0">
                <a:latin typeface="Times New Roman" pitchFamily="18" charset="0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诸元组</a:t>
            </a:r>
            <a:r>
              <a:rPr lang="zh-CN" altLang="en-US" sz="2800" dirty="0">
                <a:latin typeface="Times New Roman" pitchFamily="18" charset="0"/>
              </a:rPr>
              <a:t>，记作： </a:t>
            </a:r>
            <a:endParaRPr lang="en-US" altLang="zh-CN" sz="2800" dirty="0">
              <a:latin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800" dirty="0">
                <a:latin typeface="Times New Roman" pitchFamily="18" charset="0"/>
              </a:rPr>
              <a:t>             </a:t>
            </a:r>
            <a:r>
              <a:rPr lang="en-US" altLang="zh-CN" sz="2800" dirty="0" err="1">
                <a:solidFill>
                  <a:srgbClr val="C00000"/>
                </a:solidFill>
                <a:latin typeface="Times New Roman" pitchFamily="18" charset="0"/>
              </a:rPr>
              <a:t>σ</a:t>
            </a:r>
            <a:r>
              <a:rPr lang="en-US" altLang="zh-CN" sz="2800" baseline="-15000" dirty="0" err="1">
                <a:solidFill>
                  <a:srgbClr val="0000FF"/>
                </a:solidFill>
                <a:latin typeface="Times New Roman" pitchFamily="18" charset="0"/>
              </a:rPr>
              <a:t>F</a:t>
            </a:r>
            <a:r>
              <a:rPr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(R)</a:t>
            </a:r>
            <a:r>
              <a:rPr lang="en-US" altLang="zh-CN" sz="2800" dirty="0">
                <a:latin typeface="Times New Roman" pitchFamily="18" charset="0"/>
              </a:rPr>
              <a:t> = {t | </a:t>
            </a:r>
            <a:r>
              <a:rPr lang="en-US" altLang="zh-CN" sz="2800" dirty="0" err="1">
                <a:solidFill>
                  <a:srgbClr val="0000FF"/>
                </a:solidFill>
                <a:latin typeface="Times New Roman" pitchFamily="18" charset="0"/>
              </a:rPr>
              <a:t>t∈R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</a:rPr>
              <a:t>∧ 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F(t)</a:t>
            </a:r>
            <a:r>
              <a:rPr lang="en-US" altLang="zh-CN" sz="2800" dirty="0">
                <a:latin typeface="Times New Roman" pitchFamily="18" charset="0"/>
              </a:rPr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zh-CN" altLang="en-US" sz="2800" dirty="0">
                <a:latin typeface="Times New Roman" pitchFamily="18" charset="0"/>
              </a:rPr>
              <a:t>真</a:t>
            </a:r>
            <a:r>
              <a:rPr lang="zh-CN" altLang="en-US" sz="2800" dirty="0">
                <a:latin typeface="Arial" charset="0"/>
              </a:rPr>
              <a:t>’</a:t>
            </a:r>
            <a:r>
              <a:rPr lang="en-US" altLang="zh-CN" sz="2800" dirty="0">
                <a:latin typeface="Times New Roman" pitchFamily="18" charset="0"/>
              </a:rPr>
              <a:t>} </a:t>
            </a:r>
          </a:p>
          <a:p>
            <a:pPr eaLnBrk="1" hangingPunct="1">
              <a:spcBef>
                <a:spcPts val="18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</a:rPr>
              <a:t>    其中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F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表示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选择条件</a:t>
            </a:r>
            <a:r>
              <a:rPr lang="zh-CN" altLang="en-US" sz="2800" dirty="0">
                <a:latin typeface="Times New Roman" pitchFamily="18" charset="0"/>
              </a:rPr>
              <a:t>、谓词，它是一个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逻辑表达式</a:t>
            </a:r>
            <a:r>
              <a:rPr lang="zh-CN" altLang="en-US" sz="2800" dirty="0">
                <a:latin typeface="Times New Roman" pitchFamily="18" charset="0"/>
              </a:rPr>
              <a:t>，取逻辑值</a:t>
            </a:r>
            <a:r>
              <a:rPr lang="zh-CN" altLang="en-US" sz="2800" dirty="0">
                <a:latin typeface="Arial" charset="0"/>
              </a:rPr>
              <a:t>‘</a:t>
            </a:r>
            <a:r>
              <a:rPr lang="zh-CN" altLang="en-US" sz="2800" dirty="0">
                <a:latin typeface="Times New Roman" pitchFamily="18" charset="0"/>
              </a:rPr>
              <a:t>真</a:t>
            </a:r>
            <a:r>
              <a:rPr lang="zh-CN" altLang="en-US" sz="2800" dirty="0">
                <a:latin typeface="Arial" charset="0"/>
              </a:rPr>
              <a:t>’</a:t>
            </a:r>
            <a:r>
              <a:rPr lang="zh-CN" altLang="en-US" sz="2800" dirty="0">
                <a:latin typeface="Times New Roman" pitchFamily="18" charset="0"/>
              </a:rPr>
              <a:t>或</a:t>
            </a:r>
            <a:r>
              <a:rPr lang="zh-CN" altLang="en-US" sz="2800" dirty="0">
                <a:latin typeface="Arial" charset="0"/>
              </a:rPr>
              <a:t>‘</a:t>
            </a:r>
            <a:r>
              <a:rPr lang="zh-CN" altLang="en-US" sz="2800" dirty="0">
                <a:latin typeface="Times New Roman" pitchFamily="18" charset="0"/>
              </a:rPr>
              <a:t>假</a:t>
            </a:r>
            <a:r>
              <a:rPr lang="zh-CN" altLang="en-US" sz="2800" dirty="0">
                <a:latin typeface="Arial" charset="0"/>
              </a:rPr>
              <a:t>’</a:t>
            </a:r>
            <a:r>
              <a:rPr lang="zh-CN" altLang="en-US" sz="2800" dirty="0">
                <a:latin typeface="Times New Roman" pitchFamily="18" charset="0"/>
              </a:rPr>
              <a:t>。 </a:t>
            </a: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>
              <a:latin typeface="Times New Roman" pitchFamily="18" charset="0"/>
            </a:endParaRPr>
          </a:p>
          <a:p>
            <a:pPr eaLnBrk="1" hangingPunct="1"/>
            <a:endParaRPr lang="zh-CN" altLang="en-US" sz="2800" dirty="0"/>
          </a:p>
        </p:txBody>
      </p:sp>
      <p:grpSp>
        <p:nvGrpSpPr>
          <p:cNvPr id="67591" name="Group 4"/>
          <p:cNvGrpSpPr>
            <a:grpSpLocks/>
          </p:cNvGrpSpPr>
          <p:nvPr/>
        </p:nvGrpSpPr>
        <p:grpSpPr bwMode="auto">
          <a:xfrm>
            <a:off x="2628900" y="4035607"/>
            <a:ext cx="4191000" cy="1219200"/>
            <a:chOff x="2448" y="1728"/>
            <a:chExt cx="2640" cy="768"/>
          </a:xfrm>
        </p:grpSpPr>
        <p:sp>
          <p:nvSpPr>
            <p:cNvPr id="67592" name="Rectangle 5"/>
            <p:cNvSpPr>
              <a:spLocks noChangeArrowheads="1"/>
            </p:cNvSpPr>
            <p:nvPr/>
          </p:nvSpPr>
          <p:spPr bwMode="auto"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3" name="Rectangle 6" descr="浅色下对角线"/>
            <p:cNvSpPr>
              <a:spLocks noChangeArrowheads="1"/>
            </p:cNvSpPr>
            <p:nvPr/>
          </p:nvSpPr>
          <p:spPr bwMode="auto">
            <a:xfrm>
              <a:off x="2448" y="182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4" name="Rectangle 7"/>
            <p:cNvSpPr>
              <a:spLocks noChangeArrowheads="1"/>
            </p:cNvSpPr>
            <p:nvPr/>
          </p:nvSpPr>
          <p:spPr bwMode="auto"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5" name="Rectangle 8"/>
            <p:cNvSpPr>
              <a:spLocks noChangeArrowheads="1"/>
            </p:cNvSpPr>
            <p:nvPr/>
          </p:nvSpPr>
          <p:spPr bwMode="auto"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6" name="Rectangle 9"/>
            <p:cNvSpPr>
              <a:spLocks noChangeArrowheads="1"/>
            </p:cNvSpPr>
            <p:nvPr/>
          </p:nvSpPr>
          <p:spPr bwMode="auto"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7" name="Rectangle 10" descr="浅色下对角线"/>
            <p:cNvSpPr>
              <a:spLocks noChangeArrowheads="1"/>
            </p:cNvSpPr>
            <p:nvPr/>
          </p:nvSpPr>
          <p:spPr bwMode="auto">
            <a:xfrm>
              <a:off x="2448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8" name="Rectangle 11"/>
            <p:cNvSpPr>
              <a:spLocks noChangeArrowheads="1"/>
            </p:cNvSpPr>
            <p:nvPr/>
          </p:nvSpPr>
          <p:spPr bwMode="auto"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599" name="Rectangle 12" descr="浅色下对角线"/>
            <p:cNvSpPr>
              <a:spLocks noChangeArrowheads="1"/>
            </p:cNvSpPr>
            <p:nvPr/>
          </p:nvSpPr>
          <p:spPr bwMode="auto">
            <a:xfrm>
              <a:off x="2448" y="230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600" name="Rectangle 13" descr="浅色下对角线"/>
            <p:cNvSpPr>
              <a:spLocks noChangeArrowheads="1"/>
            </p:cNvSpPr>
            <p:nvPr/>
          </p:nvSpPr>
          <p:spPr bwMode="auto">
            <a:xfrm>
              <a:off x="4176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601" name="Rectangle 14" descr="浅色下对角线"/>
            <p:cNvSpPr>
              <a:spLocks noChangeArrowheads="1"/>
            </p:cNvSpPr>
            <p:nvPr/>
          </p:nvSpPr>
          <p:spPr bwMode="auto">
            <a:xfrm>
              <a:off x="4176" y="2016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602" name="Rectangle 15" descr="浅色下对角线"/>
            <p:cNvSpPr>
              <a:spLocks noChangeArrowheads="1"/>
            </p:cNvSpPr>
            <p:nvPr/>
          </p:nvSpPr>
          <p:spPr bwMode="auto">
            <a:xfrm>
              <a:off x="4176" y="1920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603" name="AutoShape 16"/>
            <p:cNvSpPr>
              <a:spLocks noChangeArrowheads="1"/>
            </p:cNvSpPr>
            <p:nvPr/>
          </p:nvSpPr>
          <p:spPr bwMode="auto"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67604" name="Text Box 17"/>
            <p:cNvSpPr txBox="1">
              <a:spLocks noChangeArrowheads="1"/>
            </p:cNvSpPr>
            <p:nvPr/>
          </p:nvSpPr>
          <p:spPr bwMode="auto">
            <a:xfrm>
              <a:off x="3552" y="172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Arial" charset="0"/>
                </a:rPr>
                <a:t>σ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80041C04-8816-EA09-31F1-3CACC50B1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10369"/>
            <a:ext cx="8345488" cy="146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400" eaLnBrk="1" hangingPunct="1"/>
            <a:r>
              <a:rPr lang="zh-CN" altLang="en-US" sz="2800" kern="0" dirty="0">
                <a:latin typeface="Times New Roman" pitchFamily="18" charset="0"/>
              </a:rPr>
              <a:t>因此选择运算实际上是从关系</a:t>
            </a:r>
            <a:r>
              <a:rPr lang="en-US" altLang="zh-CN" sz="2800" kern="0" dirty="0">
                <a:latin typeface="Times New Roman" pitchFamily="18" charset="0"/>
              </a:rPr>
              <a:t>R</a:t>
            </a:r>
            <a:r>
              <a:rPr lang="zh-CN" altLang="en-US" sz="2800" kern="0" dirty="0">
                <a:latin typeface="Times New Roman" pitchFamily="18" charset="0"/>
              </a:rPr>
              <a:t>中选取使逻辑表达式</a:t>
            </a:r>
            <a:r>
              <a:rPr lang="en-US" altLang="zh-CN" sz="2800" kern="0" dirty="0">
                <a:latin typeface="Times New Roman" pitchFamily="18" charset="0"/>
              </a:rPr>
              <a:t>F</a:t>
            </a:r>
            <a:r>
              <a:rPr lang="zh-CN" altLang="en-US" sz="2800" kern="0" dirty="0">
                <a:latin typeface="Times New Roman" pitchFamily="18" charset="0"/>
              </a:rPr>
              <a:t>为真的</a:t>
            </a:r>
            <a:r>
              <a:rPr lang="zh-CN" altLang="en-US" sz="2800" kern="0" dirty="0">
                <a:solidFill>
                  <a:srgbClr val="0000FF"/>
                </a:solidFill>
                <a:latin typeface="Times New Roman" pitchFamily="18" charset="0"/>
              </a:rPr>
              <a:t>元组</a:t>
            </a:r>
            <a:r>
              <a:rPr lang="zh-CN" altLang="en-US" sz="2800" kern="0" dirty="0">
                <a:latin typeface="Times New Roman" pitchFamily="18" charset="0"/>
              </a:rPr>
              <a:t>。这是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itchFamily="18" charset="0"/>
              </a:rPr>
              <a:t>从</a:t>
            </a:r>
            <a:r>
              <a:rPr lang="zh-CN" altLang="en-US" sz="2800" b="1" u="sng" kern="0" dirty="0">
                <a:solidFill>
                  <a:srgbClr val="0000FF"/>
                </a:solidFill>
                <a:latin typeface="Times New Roman" pitchFamily="18" charset="0"/>
              </a:rPr>
              <a:t>行</a:t>
            </a:r>
            <a:r>
              <a:rPr lang="zh-CN" altLang="en-US" sz="2800" b="1" kern="0" dirty="0">
                <a:solidFill>
                  <a:srgbClr val="0000FF"/>
                </a:solidFill>
                <a:latin typeface="Times New Roman" pitchFamily="18" charset="0"/>
              </a:rPr>
              <a:t>的角度进行的运算</a:t>
            </a:r>
            <a:r>
              <a:rPr lang="zh-CN" altLang="en-US" sz="2800" kern="0" dirty="0">
                <a:latin typeface="Times New Roman" pitchFamily="18" charset="0"/>
              </a:rPr>
              <a:t>。</a:t>
            </a:r>
            <a:endParaRPr lang="zh-CN" alt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3742008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2FEEBF-7A23-4419-8146-0AED5E2A0A0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86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B1071D-DB58-4B2B-9360-78A7E8721C8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 </a:t>
            </a:r>
            <a:r>
              <a:rPr lang="en-US" altLang="zh-CN" dirty="0"/>
              <a:t>-- </a:t>
            </a:r>
            <a:r>
              <a:rPr lang="zh-CN" altLang="en-US" dirty="0"/>
              <a:t>选择</a:t>
            </a:r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itchFamily="18" charset="0"/>
              </a:rPr>
              <a:t>逻辑表达式</a:t>
            </a:r>
            <a:r>
              <a:rPr lang="en-US" altLang="zh-CN" dirty="0">
                <a:latin typeface="Times New Roman" pitchFamily="18" charset="0"/>
              </a:rPr>
              <a:t>F</a:t>
            </a:r>
            <a:r>
              <a:rPr lang="zh-CN" altLang="en-US" dirty="0">
                <a:latin typeface="Times New Roman" pitchFamily="18" charset="0"/>
              </a:rPr>
              <a:t>的基本形式为： </a:t>
            </a:r>
            <a:br>
              <a:rPr lang="zh-CN" altLang="en-US" sz="800" dirty="0">
                <a:latin typeface="Times New Roman" pitchFamily="18" charset="0"/>
              </a:rPr>
            </a:br>
            <a:r>
              <a:rPr lang="zh-CN" altLang="en-US" sz="800" dirty="0">
                <a:latin typeface="Times New Roman" pitchFamily="18" charset="0"/>
              </a:rPr>
              <a:t>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X</a:t>
            </a:r>
            <a:r>
              <a:rPr lang="en-US" altLang="zh-CN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</a:rPr>
              <a:t>θ</a:t>
            </a:r>
            <a:r>
              <a:rPr lang="en-US" altLang="zh-CN" dirty="0">
                <a:latin typeface="Times New Roman" pitchFamily="18" charset="0"/>
              </a:rPr>
              <a:t> Y</a:t>
            </a:r>
            <a:r>
              <a:rPr lang="en-US" altLang="zh-CN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  [ </a:t>
            </a:r>
            <a:r>
              <a:rPr lang="en-US" altLang="zh-CN" b="1" dirty="0">
                <a:solidFill>
                  <a:srgbClr val="006600"/>
                </a:solidFill>
                <a:latin typeface="Times New Roman" pitchFamily="18" charset="0"/>
              </a:rPr>
              <a:t>φ</a:t>
            </a:r>
            <a:r>
              <a:rPr lang="en-US" altLang="zh-CN" dirty="0">
                <a:latin typeface="Times New Roman" pitchFamily="18" charset="0"/>
              </a:rPr>
              <a:t> X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</a:rPr>
              <a:t>θ</a:t>
            </a:r>
            <a:r>
              <a:rPr lang="en-US" altLang="zh-CN" dirty="0">
                <a:latin typeface="Times New Roman" pitchFamily="18" charset="0"/>
              </a:rPr>
              <a:t> Y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 ]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accent5">
                    <a:lumMod val="25000"/>
                  </a:schemeClr>
                </a:solidFill>
                <a:latin typeface="Times New Roman" pitchFamily="18" charset="0"/>
              </a:rPr>
              <a:t>θ</a:t>
            </a:r>
            <a:r>
              <a:rPr lang="zh-CN" altLang="en-US" sz="2800" b="1" dirty="0">
                <a:solidFill>
                  <a:schemeClr val="accent5">
                    <a:lumMod val="25000"/>
                  </a:schemeClr>
                </a:solidFill>
                <a:latin typeface="Times New Roman" pitchFamily="18" charset="0"/>
              </a:rPr>
              <a:t>表示</a:t>
            </a:r>
            <a:r>
              <a:rPr lang="zh-CN" altLang="en-US" sz="2800" b="1" dirty="0">
                <a:solidFill>
                  <a:srgbClr val="C2290A"/>
                </a:solidFill>
                <a:latin typeface="Times New Roman" pitchFamily="18" charset="0"/>
              </a:rPr>
              <a:t>比较运算符</a:t>
            </a:r>
            <a:r>
              <a:rPr lang="zh-CN" altLang="en-US" sz="2800" dirty="0">
                <a:solidFill>
                  <a:srgbClr val="000080"/>
                </a:solidFill>
                <a:latin typeface="Times New Roman" pitchFamily="18" charset="0"/>
              </a:rPr>
              <a:t>，</a:t>
            </a:r>
            <a:r>
              <a:rPr lang="zh-CN" altLang="en-US" sz="2800" dirty="0">
                <a:latin typeface="Times New Roman" pitchFamily="18" charset="0"/>
              </a:rPr>
              <a:t>它可以是＞、</a:t>
            </a:r>
            <a:r>
              <a:rPr lang="en-US" altLang="zh-CN" sz="2800" dirty="0">
                <a:latin typeface="Times New Roman" pitchFamily="18" charset="0"/>
              </a:rPr>
              <a:t>≥</a:t>
            </a:r>
            <a:r>
              <a:rPr lang="zh-CN" altLang="en-US" sz="2800" dirty="0">
                <a:latin typeface="Times New Roman" pitchFamily="18" charset="0"/>
              </a:rPr>
              <a:t>、＜、</a:t>
            </a:r>
            <a:r>
              <a:rPr lang="en-US" altLang="zh-CN" sz="2800" dirty="0">
                <a:latin typeface="Times New Roman" pitchFamily="18" charset="0"/>
              </a:rPr>
              <a:t>≤</a:t>
            </a:r>
            <a:r>
              <a:rPr lang="zh-CN" altLang="en-US" sz="2800" dirty="0">
                <a:latin typeface="Times New Roman" pitchFamily="18" charset="0"/>
              </a:rPr>
              <a:t>、＝或</a:t>
            </a:r>
            <a:r>
              <a:rPr lang="en-US" altLang="zh-CN" sz="2800" dirty="0">
                <a:latin typeface="Times New Roman" pitchFamily="18" charset="0"/>
              </a:rPr>
              <a:t>≠</a:t>
            </a:r>
            <a:r>
              <a:rPr lang="zh-CN" altLang="en-US" sz="2800" dirty="0">
                <a:latin typeface="Times New Roman" pitchFamily="18" charset="0"/>
              </a:rPr>
              <a:t>。</a:t>
            </a:r>
            <a:endParaRPr lang="en-US" altLang="zh-CN" sz="2800" dirty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     X</a:t>
            </a:r>
            <a:r>
              <a:rPr lang="en-US" altLang="zh-CN" sz="2800" baseline="-25000" dirty="0">
                <a:latin typeface="Times New Roman" pitchFamily="18" charset="0"/>
              </a:rPr>
              <a:t>1</a:t>
            </a:r>
            <a:r>
              <a:rPr lang="zh-CN" altLang="en-US" sz="2800" dirty="0">
                <a:latin typeface="Times New Roman" pitchFamily="18" charset="0"/>
              </a:rPr>
              <a:t>、</a:t>
            </a:r>
            <a:r>
              <a:rPr lang="en-US" altLang="zh-CN" sz="2800" dirty="0">
                <a:latin typeface="Times New Roman" pitchFamily="18" charset="0"/>
              </a:rPr>
              <a:t>Y</a:t>
            </a:r>
            <a:r>
              <a:rPr lang="en-US" altLang="zh-CN" sz="2800" baseline="-25000" dirty="0">
                <a:latin typeface="Times New Roman" pitchFamily="18" charset="0"/>
              </a:rPr>
              <a:t>1</a:t>
            </a:r>
            <a:r>
              <a:rPr lang="zh-CN" altLang="en-US" sz="2800" dirty="0">
                <a:latin typeface="Times New Roman" pitchFamily="18" charset="0"/>
              </a:rPr>
              <a:t>等是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属性名</a:t>
            </a:r>
            <a:r>
              <a:rPr lang="zh-CN" altLang="en-US" sz="2800" dirty="0">
                <a:latin typeface="Times New Roman" pitchFamily="18" charset="0"/>
              </a:rPr>
              <a:t>或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常量</a:t>
            </a:r>
            <a:r>
              <a:rPr lang="zh-CN" altLang="en-US" sz="2800" dirty="0">
                <a:latin typeface="Times New Roman" pitchFamily="18" charset="0"/>
              </a:rPr>
              <a:t>或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简单函数</a:t>
            </a:r>
            <a:r>
              <a:rPr lang="zh-CN" altLang="en-US" sz="2800" dirty="0">
                <a:latin typeface="Times New Roman" pitchFamily="18" charset="0"/>
              </a:rPr>
              <a:t>（</a:t>
            </a:r>
            <a:r>
              <a:rPr lang="zh-CN" altLang="en-US" sz="2800" u="sng" dirty="0">
                <a:latin typeface="Times New Roman" pitchFamily="18" charset="0"/>
              </a:rPr>
              <a:t>属性名也可以用它的</a:t>
            </a:r>
            <a:r>
              <a:rPr lang="zh-CN" altLang="en-US" sz="2800" u="sng" dirty="0">
                <a:solidFill>
                  <a:srgbClr val="0000FF"/>
                </a:solidFill>
                <a:latin typeface="Times New Roman" pitchFamily="18" charset="0"/>
              </a:rPr>
              <a:t>序号</a:t>
            </a:r>
            <a:r>
              <a:rPr lang="zh-CN" altLang="en-US" sz="2800" u="sng" dirty="0">
                <a:latin typeface="Times New Roman" pitchFamily="18" charset="0"/>
              </a:rPr>
              <a:t>来代替）</a:t>
            </a:r>
            <a:r>
              <a:rPr lang="zh-CN" altLang="en-US" sz="2800" dirty="0"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dirty="0">
                <a:latin typeface="Times New Roman" pitchFamily="18" charset="0"/>
              </a:rPr>
              <a:t>	</a:t>
            </a:r>
            <a:r>
              <a:rPr lang="en-US" altLang="zh-CN" sz="2800" b="1" dirty="0">
                <a:solidFill>
                  <a:srgbClr val="006600"/>
                </a:solidFill>
                <a:latin typeface="Times New Roman" pitchFamily="18" charset="0"/>
              </a:rPr>
              <a:t>φ</a:t>
            </a:r>
            <a:r>
              <a:rPr lang="zh-CN" altLang="en-US" sz="2800" b="1" dirty="0">
                <a:solidFill>
                  <a:srgbClr val="006600"/>
                </a:solidFill>
                <a:latin typeface="Times New Roman" pitchFamily="18" charset="0"/>
              </a:rPr>
              <a:t>表示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逻辑运算符</a:t>
            </a:r>
            <a:r>
              <a:rPr lang="zh-CN" altLang="en-US" sz="2800" dirty="0">
                <a:latin typeface="Times New Roman" pitchFamily="18" charset="0"/>
              </a:rPr>
              <a:t>，它可以是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  <a:sym typeface="Symbol" pitchFamily="18" charset="2"/>
              </a:rPr>
              <a:t>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、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∧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</a:rPr>
              <a:t>或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</a:rPr>
              <a:t>∨</a:t>
            </a:r>
            <a:r>
              <a:rPr lang="zh-CN" altLang="en-US" sz="2800" dirty="0">
                <a:latin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283910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6CCB35-7504-41F9-9215-94C7916EB8A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06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06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368E57-A87D-400C-B746-B9C54F1CC6E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 </a:t>
            </a:r>
            <a:r>
              <a:rPr lang="en-US" altLang="zh-CN" dirty="0"/>
              <a:t>-- </a:t>
            </a:r>
            <a:r>
              <a:rPr lang="zh-CN" altLang="en-US" dirty="0"/>
              <a:t>选择</a:t>
            </a:r>
          </a:p>
        </p:txBody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0663" name="Text Box 4"/>
          <p:cNvSpPr txBox="1">
            <a:spLocks noChangeArrowheads="1"/>
          </p:cNvSpPr>
          <p:nvPr/>
        </p:nvSpPr>
        <p:spPr bwMode="auto">
          <a:xfrm>
            <a:off x="1709738" y="1809750"/>
            <a:ext cx="1720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230188" indent="-230188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230188" marR="0" lvl="0" indent="-230188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125000"/>
              <a:buFontTx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Relation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 r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70664" name="Rectangle 5"/>
          <p:cNvSpPr>
            <a:spLocks noChangeArrowheads="1"/>
          </p:cNvSpPr>
          <p:nvPr/>
        </p:nvSpPr>
        <p:spPr bwMode="auto">
          <a:xfrm>
            <a:off x="3890963" y="180975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70665" name="Rectangle 6"/>
          <p:cNvSpPr>
            <a:spLocks noChangeArrowheads="1"/>
          </p:cNvSpPr>
          <p:nvPr/>
        </p:nvSpPr>
        <p:spPr bwMode="auto">
          <a:xfrm>
            <a:off x="4348163" y="180975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B</a:t>
            </a:r>
          </a:p>
        </p:txBody>
      </p:sp>
      <p:sp>
        <p:nvSpPr>
          <p:cNvPr id="70666" name="Rectangle 7"/>
          <p:cNvSpPr>
            <a:spLocks noChangeArrowheads="1"/>
          </p:cNvSpPr>
          <p:nvPr/>
        </p:nvSpPr>
        <p:spPr bwMode="auto">
          <a:xfrm>
            <a:off x="4805363" y="180975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70667" name="Rectangle 8"/>
          <p:cNvSpPr>
            <a:spLocks noChangeArrowheads="1"/>
          </p:cNvSpPr>
          <p:nvPr/>
        </p:nvSpPr>
        <p:spPr bwMode="auto">
          <a:xfrm>
            <a:off x="5262563" y="180975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D</a:t>
            </a:r>
          </a:p>
        </p:txBody>
      </p:sp>
      <p:sp>
        <p:nvSpPr>
          <p:cNvPr id="70668" name="Rectangle 9"/>
          <p:cNvSpPr>
            <a:spLocks noChangeArrowheads="1"/>
          </p:cNvSpPr>
          <p:nvPr/>
        </p:nvSpPr>
        <p:spPr bwMode="auto">
          <a:xfrm>
            <a:off x="3890963" y="234315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70669" name="Rectangle 10"/>
          <p:cNvSpPr>
            <a:spLocks noChangeArrowheads="1"/>
          </p:cNvSpPr>
          <p:nvPr/>
        </p:nvSpPr>
        <p:spPr bwMode="auto">
          <a:xfrm>
            <a:off x="4348163" y="234315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70670" name="Rectangle 11"/>
          <p:cNvSpPr>
            <a:spLocks noChangeArrowheads="1"/>
          </p:cNvSpPr>
          <p:nvPr/>
        </p:nvSpPr>
        <p:spPr bwMode="auto">
          <a:xfrm>
            <a:off x="4805363" y="234315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5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12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23</a:t>
            </a:r>
          </a:p>
        </p:txBody>
      </p:sp>
      <p:sp>
        <p:nvSpPr>
          <p:cNvPr id="70671" name="Rectangle 12"/>
          <p:cNvSpPr>
            <a:spLocks noChangeArrowheads="1"/>
          </p:cNvSpPr>
          <p:nvPr/>
        </p:nvSpPr>
        <p:spPr bwMode="auto">
          <a:xfrm>
            <a:off x="5262563" y="234315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7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7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3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</p:txBody>
      </p:sp>
      <p:sp>
        <p:nvSpPr>
          <p:cNvPr id="63504" name="Text Box 13"/>
          <p:cNvSpPr txBox="1">
            <a:spLocks noChangeArrowheads="1"/>
          </p:cNvSpPr>
          <p:nvPr/>
        </p:nvSpPr>
        <p:spPr bwMode="auto">
          <a:xfrm>
            <a:off x="1792288" y="4624388"/>
            <a:ext cx="20589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230188" indent="-230188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230188" marR="0" lvl="0" indent="-230188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125000"/>
              <a:buFontTx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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A=B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∧</a:t>
            </a:r>
            <a:r>
              <a: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D &gt; 5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(r)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63505" name="Rectangle 14"/>
          <p:cNvSpPr>
            <a:spLocks noChangeArrowheads="1"/>
          </p:cNvSpPr>
          <p:nvPr/>
        </p:nvSpPr>
        <p:spPr bwMode="auto">
          <a:xfrm>
            <a:off x="3967163" y="4581525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63506" name="Rectangle 15"/>
          <p:cNvSpPr>
            <a:spLocks noChangeArrowheads="1"/>
          </p:cNvSpPr>
          <p:nvPr/>
        </p:nvSpPr>
        <p:spPr bwMode="auto">
          <a:xfrm>
            <a:off x="4424363" y="4581525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B</a:t>
            </a:r>
          </a:p>
        </p:txBody>
      </p:sp>
      <p:sp>
        <p:nvSpPr>
          <p:cNvPr id="63507" name="Rectangle 16"/>
          <p:cNvSpPr>
            <a:spLocks noChangeArrowheads="1"/>
          </p:cNvSpPr>
          <p:nvPr/>
        </p:nvSpPr>
        <p:spPr bwMode="auto">
          <a:xfrm>
            <a:off x="4881563" y="4581525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63508" name="Rectangle 17"/>
          <p:cNvSpPr>
            <a:spLocks noChangeArrowheads="1"/>
          </p:cNvSpPr>
          <p:nvPr/>
        </p:nvSpPr>
        <p:spPr bwMode="auto">
          <a:xfrm>
            <a:off x="5338763" y="4581525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D</a:t>
            </a:r>
          </a:p>
        </p:txBody>
      </p:sp>
      <p:sp>
        <p:nvSpPr>
          <p:cNvPr id="63509" name="Rectangle 18"/>
          <p:cNvSpPr>
            <a:spLocks noChangeArrowheads="1"/>
          </p:cNvSpPr>
          <p:nvPr/>
        </p:nvSpPr>
        <p:spPr bwMode="auto">
          <a:xfrm>
            <a:off x="3967163" y="5114925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63510" name="Rectangle 19"/>
          <p:cNvSpPr>
            <a:spLocks noChangeArrowheads="1"/>
          </p:cNvSpPr>
          <p:nvPr/>
        </p:nvSpPr>
        <p:spPr bwMode="auto">
          <a:xfrm>
            <a:off x="4424363" y="5114925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63511" name="Rectangle 20"/>
          <p:cNvSpPr>
            <a:spLocks noChangeArrowheads="1"/>
          </p:cNvSpPr>
          <p:nvPr/>
        </p:nvSpPr>
        <p:spPr bwMode="auto">
          <a:xfrm>
            <a:off x="4881563" y="5114925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23</a:t>
            </a:r>
          </a:p>
        </p:txBody>
      </p:sp>
      <p:sp>
        <p:nvSpPr>
          <p:cNvPr id="63512" name="Rectangle 21"/>
          <p:cNvSpPr>
            <a:spLocks noChangeArrowheads="1"/>
          </p:cNvSpPr>
          <p:nvPr/>
        </p:nvSpPr>
        <p:spPr bwMode="auto">
          <a:xfrm>
            <a:off x="5338763" y="5114925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7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12390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4" grpId="0"/>
      <p:bldP spid="63505" grpId="0" animBg="1"/>
      <p:bldP spid="63506" grpId="0" animBg="1"/>
      <p:bldP spid="63507" grpId="0" animBg="1"/>
      <p:bldP spid="63508" grpId="0" animBg="1"/>
      <p:bldP spid="63509" grpId="0" animBg="1"/>
      <p:bldP spid="63510" grpId="0" animBg="1"/>
      <p:bldP spid="63511" grpId="0" animBg="1"/>
      <p:bldP spid="6351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163CC9-0151-4543-B694-D1A838456A0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16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16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5555AD-498A-48D1-BD90-5E8A1DE1B82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</a:t>
            </a:r>
          </a:p>
        </p:txBody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设有一个学生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课程关系数据库，包括学生关系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Student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、课程关系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Course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和选修关系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SC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687" name="Rectangle 83"/>
          <p:cNvSpPr>
            <a:spLocks noChangeArrowheads="1"/>
          </p:cNvSpPr>
          <p:nvPr/>
        </p:nvSpPr>
        <p:spPr bwMode="auto">
          <a:xfrm>
            <a:off x="457200" y="2209800"/>
            <a:ext cx="91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Student</a:t>
            </a:r>
          </a:p>
        </p:txBody>
      </p:sp>
      <p:graphicFrame>
        <p:nvGraphicFramePr>
          <p:cNvPr id="8" name="Group 271"/>
          <p:cNvGraphicFramePr>
            <a:graphicFrameLocks/>
          </p:cNvGraphicFramePr>
          <p:nvPr/>
        </p:nvGraphicFramePr>
        <p:xfrm>
          <a:off x="539750" y="2822575"/>
          <a:ext cx="8229600" cy="3425826"/>
        </p:xfrm>
        <a:graphic>
          <a:graphicData uri="http://schemas.openxmlformats.org/drawingml/2006/table">
            <a:tbl>
              <a:tblPr/>
              <a:tblGrid>
                <a:gridCol w="164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6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Sno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姓名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Sname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性别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Ssex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年龄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Sage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所在系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Sdept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200215121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李勇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CS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200215122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刘晨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IS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200215123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王敏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200215125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张立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IS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56205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88B3E4-7628-4690-9347-AAB3F79ED83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27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27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99BC95-0256-4B3C-B9DD-96291B75642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</a:t>
            </a:r>
          </a:p>
        </p:txBody>
      </p:sp>
      <p:graphicFrame>
        <p:nvGraphicFramePr>
          <p:cNvPr id="9" name="Group 575"/>
          <p:cNvGraphicFramePr>
            <a:graphicFrameLocks/>
          </p:cNvGraphicFramePr>
          <p:nvPr/>
        </p:nvGraphicFramePr>
        <p:xfrm>
          <a:off x="795338" y="2017713"/>
          <a:ext cx="7273925" cy="4360862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7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41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Cno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课程名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Cname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先行课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Cpno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学分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Ccredit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数据库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数学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信息系统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操作系统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数据结构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数据处理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2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90000" marR="90000" marT="46793" marB="46793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PASCAL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语言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749" name="Text Box 502"/>
          <p:cNvSpPr txBox="1">
            <a:spLocks noChangeArrowheads="1"/>
          </p:cNvSpPr>
          <p:nvPr/>
        </p:nvSpPr>
        <p:spPr bwMode="auto">
          <a:xfrm>
            <a:off x="762000" y="1447800"/>
            <a:ext cx="1436688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Course</a:t>
            </a:r>
          </a:p>
        </p:txBody>
      </p:sp>
    </p:spTree>
    <p:extLst>
      <p:ext uri="{BB962C8B-B14F-4D97-AF65-F5344CB8AC3E}">
        <p14:creationId xmlns:p14="http://schemas.microsoft.com/office/powerpoint/2010/main" val="1168022485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340A66-5B75-42EB-8452-79B33A1B620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37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37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C67960-A000-49AE-808D-93D5DDB38E5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</a:t>
            </a:r>
          </a:p>
        </p:txBody>
      </p:sp>
      <p:sp>
        <p:nvSpPr>
          <p:cNvPr id="73734" name="Rectangle 185"/>
          <p:cNvSpPr>
            <a:spLocks noChangeArrowheads="1"/>
          </p:cNvSpPr>
          <p:nvPr/>
        </p:nvSpPr>
        <p:spPr bwMode="auto">
          <a:xfrm>
            <a:off x="684213" y="1557338"/>
            <a:ext cx="10795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SC</a:t>
            </a:r>
          </a:p>
        </p:txBody>
      </p:sp>
      <p:graphicFrame>
        <p:nvGraphicFramePr>
          <p:cNvPr id="11" name="Group 384"/>
          <p:cNvGraphicFramePr>
            <a:graphicFrameLocks noGrp="1"/>
          </p:cNvGraphicFramePr>
          <p:nvPr>
            <p:ph idx="1"/>
          </p:nvPr>
        </p:nvGraphicFramePr>
        <p:xfrm>
          <a:off x="900113" y="2133600"/>
          <a:ext cx="7272337" cy="3533778"/>
        </p:xfrm>
        <a:graphic>
          <a:graphicData uri="http://schemas.openxmlformats.org/drawingml/2006/table">
            <a:tbl>
              <a:tblPr/>
              <a:tblGrid>
                <a:gridCol w="2424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4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41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Sno</a:t>
                      </a:r>
                    </a:p>
                  </a:txBody>
                  <a:tcPr marL="90000" marR="90000" marT="46791" marB="4679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课程号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Cno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成绩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Grade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7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200215121</a:t>
                      </a:r>
                    </a:p>
                  </a:txBody>
                  <a:tcPr marL="90000" marR="90000" marT="46791" marB="4679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92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7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200215121</a:t>
                      </a:r>
                    </a:p>
                  </a:txBody>
                  <a:tcPr marL="90000" marR="90000" marT="46791" marB="4679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85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200215121</a:t>
                      </a:r>
                    </a:p>
                  </a:txBody>
                  <a:tcPr marL="90000" marR="90000" marT="46791" marB="4679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200215122</a:t>
                      </a:r>
                    </a:p>
                  </a:txBody>
                  <a:tcPr marL="90000" marR="90000" marT="46791" marB="4679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1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200215122</a:t>
                      </a:r>
                    </a:p>
                  </a:txBody>
                  <a:tcPr marL="90000" marR="90000" marT="46791" marB="4679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marL="90000" marR="90000" marT="46791" marB="467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434736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3D4325-A51C-46FD-9C7C-4391E04DB3C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47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47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C7708-17ED-480F-9A02-434061CAB2E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 </a:t>
            </a:r>
            <a:r>
              <a:rPr lang="en-US" altLang="zh-CN" dirty="0"/>
              <a:t>-- </a:t>
            </a:r>
            <a:r>
              <a:rPr lang="zh-CN" altLang="en-US" dirty="0"/>
              <a:t>选择</a:t>
            </a:r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dirty="0">
                <a:solidFill>
                  <a:srgbClr val="C2290A"/>
                </a:solidFill>
              </a:rPr>
              <a:t>下面的例子都针对前面这三个关系进行运算。</a:t>
            </a:r>
            <a:endParaRPr lang="en-US" altLang="zh-CN" sz="2800" dirty="0">
              <a:solidFill>
                <a:srgbClr val="C2290A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zh-CN" altLang="en-US" sz="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例</a:t>
            </a:r>
            <a:r>
              <a:rPr lang="en-US" altLang="zh-CN" sz="2800" dirty="0"/>
              <a:t>1 </a:t>
            </a:r>
            <a:r>
              <a:rPr lang="zh-CN" altLang="en-US" sz="2800" dirty="0"/>
              <a:t>查询信息系（</a:t>
            </a:r>
            <a:r>
              <a:rPr lang="en-US" altLang="zh-CN" sz="2800" dirty="0"/>
              <a:t>IS</a:t>
            </a:r>
            <a:r>
              <a:rPr lang="zh-CN" altLang="en-US" sz="2800" dirty="0"/>
              <a:t>系）全体学生 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800" dirty="0"/>
              <a:t>     </a:t>
            </a:r>
            <a:r>
              <a:rPr lang="en-US" altLang="zh-CN" sz="3600" dirty="0" err="1">
                <a:solidFill>
                  <a:srgbClr val="0000FF"/>
                </a:solidFill>
              </a:rPr>
              <a:t>σ</a:t>
            </a:r>
            <a:r>
              <a:rPr lang="en-US" altLang="zh-CN" sz="3600" baseline="-25000" dirty="0" err="1">
                <a:solidFill>
                  <a:srgbClr val="0000FF"/>
                </a:solidFill>
              </a:rPr>
              <a:t>Sdept</a:t>
            </a:r>
            <a:r>
              <a:rPr lang="en-US" altLang="zh-CN" sz="3600" baseline="-25000" dirty="0">
                <a:solidFill>
                  <a:srgbClr val="0000FF"/>
                </a:solidFill>
              </a:rPr>
              <a:t>=‘IS’ </a:t>
            </a:r>
            <a:r>
              <a:rPr lang="en-US" altLang="zh-CN" sz="2800" dirty="0"/>
              <a:t>(Student) 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例</a:t>
            </a:r>
            <a:r>
              <a:rPr lang="en-US" altLang="zh-CN" sz="2800" dirty="0"/>
              <a:t>2 </a:t>
            </a:r>
            <a:r>
              <a:rPr lang="zh-CN" altLang="en-US" sz="2800" dirty="0"/>
              <a:t>查询年龄小于</a:t>
            </a:r>
            <a:r>
              <a:rPr lang="en-US" altLang="zh-CN" sz="2800" dirty="0"/>
              <a:t>20</a:t>
            </a:r>
            <a:r>
              <a:rPr lang="zh-CN" altLang="en-US" sz="2800" dirty="0"/>
              <a:t>岁的学生</a:t>
            </a:r>
            <a:endParaRPr lang="en-US" altLang="zh-CN" sz="2800" dirty="0"/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 sz="2800" dirty="0"/>
              <a:t>     </a:t>
            </a:r>
            <a:r>
              <a:rPr lang="en-US" altLang="zh-CN" sz="3600" dirty="0" err="1">
                <a:solidFill>
                  <a:srgbClr val="0000FF"/>
                </a:solidFill>
              </a:rPr>
              <a:t>σ</a:t>
            </a:r>
            <a:r>
              <a:rPr lang="en-US" altLang="zh-CN" sz="3600" baseline="-25000" dirty="0" err="1">
                <a:solidFill>
                  <a:srgbClr val="0000FF"/>
                </a:solidFill>
              </a:rPr>
              <a:t>Sage</a:t>
            </a:r>
            <a:r>
              <a:rPr lang="en-US" altLang="zh-CN" sz="3600" baseline="-25000" dirty="0">
                <a:solidFill>
                  <a:srgbClr val="0000FF"/>
                </a:solidFill>
              </a:rPr>
              <a:t>&lt;20</a:t>
            </a:r>
            <a:r>
              <a:rPr lang="en-US" altLang="zh-CN" sz="2800" dirty="0"/>
              <a:t>(Student)</a:t>
            </a:r>
          </a:p>
        </p:txBody>
      </p:sp>
      <p:graphicFrame>
        <p:nvGraphicFramePr>
          <p:cNvPr id="7" name="Group 27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0321440"/>
              </p:ext>
            </p:extLst>
          </p:nvPr>
        </p:nvGraphicFramePr>
        <p:xfrm>
          <a:off x="4517903" y="4577623"/>
          <a:ext cx="4495801" cy="1665154"/>
        </p:xfrm>
        <a:graphic>
          <a:graphicData uri="http://schemas.openxmlformats.org/drawingml/2006/table">
            <a:tbl>
              <a:tblPr/>
              <a:tblGrid>
                <a:gridCol w="899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4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学号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Sno</a:t>
                      </a:r>
                      <a:endParaRPr kumimoji="0" lang="en-US" altLang="zh-CN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姓名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Sname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性别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Ssex</a:t>
                      </a:r>
                      <a:endParaRPr kumimoji="0" lang="en-US" altLang="zh-CN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年龄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Sage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所在系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Sdept</a:t>
                      </a:r>
                      <a:endParaRPr kumimoji="0" lang="en-US" altLang="zh-CN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200215121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李勇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CS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3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200215122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刘晨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IS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3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200215123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王敏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18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MA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200215125</a:t>
                      </a: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张立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IS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8062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0ADF0E-0143-4A77-940C-AEDA025C7B9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68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68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76BDF5-1400-4CA2-B7D4-7FB53A66474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2.4.1 </a:t>
            </a:r>
            <a:r>
              <a:rPr lang="zh-CN" altLang="en-US" dirty="0"/>
              <a:t>专门的关系运算 </a:t>
            </a:r>
            <a:r>
              <a:rPr lang="en-US" altLang="zh-CN" dirty="0"/>
              <a:t>-- </a:t>
            </a:r>
            <a:r>
              <a:rPr lang="zh-CN" altLang="en-US" dirty="0"/>
              <a:t>选择</a:t>
            </a:r>
          </a:p>
        </p:txBody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3: </a:t>
            </a:r>
            <a:r>
              <a:rPr lang="zh-CN" altLang="en-US" sz="2800" dirty="0"/>
              <a:t>查询信息系的年龄小于</a:t>
            </a:r>
            <a:r>
              <a:rPr lang="en-US" altLang="zh-CN" sz="2800" dirty="0"/>
              <a:t>20</a:t>
            </a:r>
            <a:r>
              <a:rPr lang="zh-CN" altLang="en-US" sz="2800" dirty="0"/>
              <a:t>岁的学生</a:t>
            </a:r>
          </a:p>
          <a:p>
            <a:pPr eaLnBrk="1" hangingPunct="1"/>
            <a:endParaRPr lang="zh-CN" altLang="en-US" sz="800" dirty="0"/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CN" sz="3600" dirty="0" err="1">
                <a:solidFill>
                  <a:schemeClr val="tx2"/>
                </a:solidFill>
              </a:rPr>
              <a:t>σ</a:t>
            </a:r>
            <a:r>
              <a:rPr lang="en-US" altLang="zh-CN" sz="3600" baseline="-12000" dirty="0" err="1">
                <a:solidFill>
                  <a:schemeClr val="tx2"/>
                </a:solidFill>
              </a:rPr>
              <a:t>Sdept</a:t>
            </a:r>
            <a:r>
              <a:rPr lang="en-US" altLang="zh-CN" sz="3600" baseline="-12000" dirty="0">
                <a:solidFill>
                  <a:schemeClr val="tx2"/>
                </a:solidFill>
              </a:rPr>
              <a:t>=‘IS’ </a:t>
            </a:r>
            <a:r>
              <a:rPr lang="en-US" altLang="zh-CN" sz="3600" baseline="-12000" dirty="0">
                <a:solidFill>
                  <a:srgbClr val="FF0000"/>
                </a:solidFill>
              </a:rPr>
              <a:t>∧</a:t>
            </a:r>
            <a:r>
              <a:rPr lang="en-US" altLang="zh-CN" sz="2800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en-US" altLang="zh-CN" sz="3600" baseline="-12000" dirty="0">
                <a:solidFill>
                  <a:schemeClr val="tx2"/>
                </a:solidFill>
              </a:rPr>
              <a:t>Sage&lt;20</a:t>
            </a:r>
            <a:r>
              <a:rPr lang="en-US" altLang="zh-CN" sz="2800" dirty="0">
                <a:solidFill>
                  <a:schemeClr val="tx2"/>
                </a:solidFill>
              </a:rPr>
              <a:t>(Student)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zh-CN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896487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2C2C4D-3DD9-4208-B020-6BBF7ABE76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88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88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7C36B0-B7A5-4377-95F5-B8DE657EDDF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88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2.4.2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投影</a:t>
            </a:r>
          </a:p>
        </p:txBody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405446" cy="468471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投影</a:t>
            </a:r>
            <a:r>
              <a:rPr lang="zh-CN" altLang="en-US" dirty="0"/>
              <a:t>（</a:t>
            </a:r>
            <a:r>
              <a:rPr lang="en-US" altLang="zh-CN" dirty="0"/>
              <a:t>Projection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先介绍与投影有关的</a:t>
            </a:r>
            <a:r>
              <a:rPr lang="zh-CN" altLang="en-US" sz="2800" u="sng" dirty="0"/>
              <a:t>两个记号</a:t>
            </a:r>
            <a:r>
              <a:rPr lang="zh-CN" altLang="en-US" sz="2800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80"/>
                </a:solidFill>
              </a:rPr>
              <a:t>一、元组</a:t>
            </a:r>
            <a:r>
              <a:rPr lang="zh-CN" alt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属性</a:t>
            </a:r>
            <a:r>
              <a:rPr lang="zh-CN" altLang="en-US" b="1" u="sng" dirty="0">
                <a:solidFill>
                  <a:srgbClr val="000080"/>
                </a:solidFill>
              </a:rPr>
              <a:t>分量</a:t>
            </a:r>
            <a:r>
              <a:rPr lang="zh-CN" altLang="en-US" dirty="0">
                <a:solidFill>
                  <a:srgbClr val="000080"/>
                </a:solidFill>
              </a:rPr>
              <a:t>记号</a:t>
            </a: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	设关系模式为</a:t>
            </a:r>
            <a:r>
              <a:rPr lang="en-US" altLang="zh-CN" dirty="0"/>
              <a:t>R(A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A</a:t>
            </a:r>
            <a:r>
              <a:rPr lang="en-US" altLang="zh-CN" baseline="-25000" dirty="0"/>
              <a:t>n</a:t>
            </a:r>
            <a:r>
              <a:rPr lang="en-US" altLang="zh-CN" dirty="0"/>
              <a:t>)</a:t>
            </a:r>
            <a:r>
              <a:rPr lang="zh-CN" altLang="en-US" dirty="0"/>
              <a:t>。它的一个关系设为</a:t>
            </a:r>
            <a:r>
              <a:rPr lang="en-US" altLang="zh-CN" dirty="0"/>
              <a:t>R</a:t>
            </a:r>
            <a:r>
              <a:rPr lang="zh-CN" altLang="en-US" dirty="0"/>
              <a:t>。</a:t>
            </a:r>
            <a:r>
              <a:rPr lang="en-US" altLang="zh-CN" dirty="0" err="1">
                <a:solidFill>
                  <a:srgbClr val="C00000"/>
                </a:solidFill>
              </a:rPr>
              <a:t>t</a:t>
            </a:r>
            <a:r>
              <a:rPr lang="en-US" altLang="zh-CN" dirty="0" err="1"/>
              <a:t>∈R</a:t>
            </a:r>
            <a:r>
              <a:rPr lang="zh-CN" altLang="en-US" dirty="0"/>
              <a:t>表示</a:t>
            </a:r>
            <a:r>
              <a:rPr lang="en-US" altLang="zh-CN" dirty="0"/>
              <a:t>t</a:t>
            </a:r>
            <a:r>
              <a:rPr lang="zh-CN" altLang="en-US" dirty="0"/>
              <a:t>是</a:t>
            </a:r>
            <a:r>
              <a:rPr lang="en-US" altLang="zh-CN" dirty="0"/>
              <a:t>R</a:t>
            </a:r>
            <a:r>
              <a:rPr lang="zh-CN" altLang="en-US" dirty="0"/>
              <a:t>的一个</a:t>
            </a:r>
            <a:r>
              <a:rPr lang="zh-CN" altLang="en-US" dirty="0">
                <a:solidFill>
                  <a:srgbClr val="C00000"/>
                </a:solidFill>
              </a:rPr>
              <a:t>元组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00FF"/>
                </a:solidFill>
              </a:rPr>
              <a:t>t[A</a:t>
            </a:r>
            <a:r>
              <a:rPr lang="en-US" altLang="zh-CN" baseline="-25000" dirty="0">
                <a:solidFill>
                  <a:srgbClr val="0000FF"/>
                </a:solidFill>
              </a:rPr>
              <a:t>i</a:t>
            </a:r>
            <a:r>
              <a:rPr lang="en-US" altLang="zh-CN" dirty="0">
                <a:solidFill>
                  <a:srgbClr val="0000FF"/>
                </a:solidFill>
              </a:rPr>
              <a:t>]</a:t>
            </a:r>
            <a:r>
              <a:rPr lang="zh-CN" altLang="en-US" dirty="0"/>
              <a:t>则表示</a:t>
            </a:r>
            <a:r>
              <a:rPr lang="zh-CN" altLang="en-US" dirty="0">
                <a:solidFill>
                  <a:srgbClr val="C2290A"/>
                </a:solidFill>
              </a:rPr>
              <a:t>元组</a:t>
            </a:r>
            <a:r>
              <a:rPr lang="en-US" altLang="zh-CN" dirty="0">
                <a:solidFill>
                  <a:srgbClr val="C2290A"/>
                </a:solidFill>
              </a:rPr>
              <a:t>t</a:t>
            </a:r>
            <a:r>
              <a:rPr lang="zh-CN" altLang="en-US" dirty="0">
                <a:solidFill>
                  <a:srgbClr val="C2290A"/>
                </a:solidFill>
              </a:rPr>
              <a:t>中</a:t>
            </a:r>
            <a:r>
              <a:rPr lang="zh-CN" altLang="en-US" dirty="0"/>
              <a:t>相应于</a:t>
            </a:r>
            <a:r>
              <a:rPr lang="zh-CN" altLang="en-US" dirty="0">
                <a:solidFill>
                  <a:srgbClr val="C2290A"/>
                </a:solidFill>
              </a:rPr>
              <a:t>属性</a:t>
            </a:r>
            <a:r>
              <a:rPr lang="en-US" altLang="zh-CN" dirty="0">
                <a:solidFill>
                  <a:srgbClr val="C2290A"/>
                </a:solidFill>
              </a:rPr>
              <a:t>A</a:t>
            </a:r>
            <a:r>
              <a:rPr lang="en-US" altLang="zh-CN" baseline="-25000" dirty="0">
                <a:solidFill>
                  <a:srgbClr val="C2290A"/>
                </a:solidFill>
              </a:rPr>
              <a:t>i</a:t>
            </a:r>
            <a:r>
              <a:rPr lang="zh-CN" altLang="en-US" dirty="0"/>
              <a:t>的一个</a:t>
            </a:r>
            <a:r>
              <a:rPr lang="zh-CN" altLang="en-US" b="1" dirty="0">
                <a:solidFill>
                  <a:srgbClr val="0000FF"/>
                </a:solidFill>
              </a:rPr>
              <a:t>分量</a:t>
            </a:r>
            <a:r>
              <a:rPr lang="zh-CN" altLang="en-US" dirty="0">
                <a:solidFill>
                  <a:srgbClr val="000080"/>
                </a:solidFill>
              </a:rPr>
              <a:t> 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30029395"/>
      </p:ext>
    </p:extLst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80580-CA49-49A0-9CBE-C73CB658768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798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798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C0472D-47ED-45D7-A5A8-9C5E9DD46B2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</a:t>
            </a:r>
            <a:r>
              <a:rPr lang="zh-CN" altLang="en-US"/>
              <a:t>专门的关系运算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投影</a:t>
            </a:r>
          </a:p>
        </p:txBody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80"/>
                </a:solidFill>
              </a:rPr>
              <a:t>二、元组</a:t>
            </a:r>
            <a:r>
              <a:rPr lang="zh-CN" altLang="en-US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属性列</a:t>
            </a:r>
            <a:r>
              <a:rPr lang="zh-CN" altLang="en-US" b="1" dirty="0">
                <a:solidFill>
                  <a:srgbClr val="000080"/>
                </a:solidFill>
              </a:rPr>
              <a:t>分量</a:t>
            </a:r>
            <a:r>
              <a:rPr lang="zh-CN" altLang="en-US" dirty="0">
                <a:solidFill>
                  <a:srgbClr val="000080"/>
                </a:solidFill>
              </a:rPr>
              <a:t>记号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 若</a:t>
            </a:r>
            <a:r>
              <a:rPr lang="en-US" altLang="zh-CN" dirty="0"/>
              <a:t>A={A</a:t>
            </a:r>
            <a:r>
              <a:rPr lang="en-US" altLang="zh-CN" baseline="-25000" dirty="0"/>
              <a:t>i1</a:t>
            </a:r>
            <a:r>
              <a:rPr lang="en-US" altLang="zh-CN" dirty="0"/>
              <a:t>, A</a:t>
            </a:r>
            <a:r>
              <a:rPr lang="en-US" altLang="zh-CN" baseline="-25000" dirty="0"/>
              <a:t>i2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ik</a:t>
            </a:r>
            <a:r>
              <a:rPr lang="en-US" altLang="zh-CN" dirty="0"/>
              <a:t>}</a:t>
            </a:r>
            <a:r>
              <a:rPr lang="zh-CN" altLang="en-US" dirty="0"/>
              <a:t>，其中</a:t>
            </a:r>
            <a:r>
              <a:rPr lang="en-US" altLang="zh-CN" dirty="0"/>
              <a:t>A</a:t>
            </a:r>
            <a:r>
              <a:rPr lang="en-US" altLang="zh-CN" baseline="-25000" dirty="0"/>
              <a:t>i1</a:t>
            </a:r>
            <a:r>
              <a:rPr lang="en-US" altLang="zh-CN" dirty="0"/>
              <a:t>, A</a:t>
            </a:r>
            <a:r>
              <a:rPr lang="en-US" altLang="zh-CN" baseline="-25000" dirty="0"/>
              <a:t>i2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ik</a:t>
            </a:r>
            <a:r>
              <a:rPr lang="zh-CN" altLang="en-US" dirty="0"/>
              <a:t>是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A</a:t>
            </a:r>
            <a:r>
              <a:rPr lang="en-US" altLang="zh-CN" baseline="-25000" dirty="0"/>
              <a:t>n</a:t>
            </a:r>
            <a:r>
              <a:rPr lang="zh-CN" altLang="en-US" dirty="0"/>
              <a:t>中的一部分，则</a:t>
            </a:r>
            <a:r>
              <a:rPr lang="en-US" altLang="zh-CN" dirty="0"/>
              <a:t>A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0000FF"/>
                </a:solidFill>
              </a:rPr>
              <a:t>属性列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域列</a:t>
            </a:r>
            <a:r>
              <a:rPr lang="zh-CN" altLang="en-US" dirty="0"/>
              <a:t>。</a:t>
            </a:r>
            <a:r>
              <a:rPr lang="en-US" altLang="zh-CN" dirty="0">
                <a:solidFill>
                  <a:srgbClr val="0000FF"/>
                </a:solidFill>
              </a:rPr>
              <a:t>¬A</a:t>
            </a:r>
            <a:r>
              <a:rPr lang="zh-CN" altLang="en-US" dirty="0"/>
              <a:t>则表示</a:t>
            </a:r>
            <a:r>
              <a:rPr lang="en-US" altLang="zh-CN" dirty="0"/>
              <a:t>{A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A</a:t>
            </a:r>
            <a:r>
              <a:rPr lang="en-US" altLang="zh-CN" baseline="-25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中去掉</a:t>
            </a:r>
            <a:r>
              <a:rPr lang="en-US" altLang="zh-CN" dirty="0"/>
              <a:t>{A</a:t>
            </a:r>
            <a:r>
              <a:rPr lang="en-US" altLang="zh-CN" baseline="-25000" dirty="0"/>
              <a:t>i1</a:t>
            </a:r>
            <a:r>
              <a:rPr lang="en-US" altLang="zh-CN" dirty="0"/>
              <a:t>, A</a:t>
            </a:r>
            <a:r>
              <a:rPr lang="en-US" altLang="zh-CN" baseline="-25000" dirty="0"/>
              <a:t>i2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ik</a:t>
            </a:r>
            <a:r>
              <a:rPr lang="en-US" altLang="zh-CN" dirty="0"/>
              <a:t>} </a:t>
            </a:r>
            <a:r>
              <a:rPr lang="zh-CN" altLang="en-US" dirty="0"/>
              <a:t>后</a:t>
            </a:r>
            <a:r>
              <a:rPr lang="zh-CN" altLang="en-US" dirty="0">
                <a:solidFill>
                  <a:srgbClr val="0000FF"/>
                </a:solidFill>
              </a:rPr>
              <a:t>剩余</a:t>
            </a:r>
            <a:r>
              <a:rPr lang="zh-CN" altLang="en-US" dirty="0"/>
              <a:t>的属性组。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t[A]=(t[A</a:t>
            </a:r>
            <a:r>
              <a:rPr lang="en-US" altLang="zh-CN" baseline="-25000" dirty="0"/>
              <a:t>i1</a:t>
            </a:r>
            <a:r>
              <a:rPr lang="en-US" altLang="zh-CN" dirty="0"/>
              <a:t>], t[A</a:t>
            </a:r>
            <a:r>
              <a:rPr lang="en-US" altLang="zh-CN" baseline="-25000" dirty="0"/>
              <a:t>i2</a:t>
            </a:r>
            <a:r>
              <a:rPr lang="en-US" altLang="zh-CN" dirty="0"/>
              <a:t>], 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 t[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ik</a:t>
            </a:r>
            <a:r>
              <a:rPr lang="en-US" altLang="zh-CN" dirty="0"/>
              <a:t>])</a:t>
            </a:r>
            <a:r>
              <a:rPr lang="zh-CN" altLang="en-US" dirty="0"/>
              <a:t>表示</a:t>
            </a:r>
            <a:r>
              <a:rPr lang="zh-CN" altLang="en-US" dirty="0">
                <a:solidFill>
                  <a:srgbClr val="C00000"/>
                </a:solidFill>
              </a:rPr>
              <a:t>元组</a:t>
            </a:r>
            <a:r>
              <a:rPr lang="en-US" altLang="zh-CN" dirty="0">
                <a:solidFill>
                  <a:srgbClr val="C00000"/>
                </a:solidFill>
              </a:rPr>
              <a:t>t</a:t>
            </a:r>
            <a:r>
              <a:rPr lang="zh-CN" altLang="en-US" dirty="0"/>
              <a:t>在</a:t>
            </a:r>
            <a:r>
              <a:rPr lang="zh-CN" altLang="en-US" u="sng" dirty="0"/>
              <a:t>属性列</a:t>
            </a:r>
            <a:r>
              <a:rPr lang="en-US" altLang="zh-CN" u="sng" dirty="0"/>
              <a:t>A</a:t>
            </a:r>
            <a:r>
              <a:rPr lang="zh-CN" altLang="en-US" dirty="0"/>
              <a:t>上</a:t>
            </a:r>
            <a:r>
              <a:rPr lang="zh-CN" altLang="en-US" b="1" dirty="0">
                <a:solidFill>
                  <a:srgbClr val="0000FF"/>
                </a:solidFill>
              </a:rPr>
              <a:t>诸分量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0000FF"/>
                </a:solidFill>
              </a:rPr>
              <a:t>集合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51416108"/>
      </p:ext>
    </p:extLst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03A3CB-3F59-4B58-9A7D-67BF492C540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08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09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4A23AA-4E01-4150-AE4B-3AF67F091C7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</a:t>
            </a:r>
            <a:r>
              <a:rPr lang="zh-CN" altLang="en-US"/>
              <a:t>专门的关系运算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投影</a:t>
            </a:r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rgbClr val="C00000"/>
                </a:solidFill>
              </a:rPr>
              <a:t>投影</a:t>
            </a:r>
            <a:r>
              <a:rPr lang="zh-CN" altLang="en-US" dirty="0"/>
              <a:t>是从</a:t>
            </a:r>
            <a:r>
              <a:rPr lang="en-US" altLang="zh-CN" dirty="0"/>
              <a:t>R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0000FF"/>
                </a:solidFill>
              </a:rPr>
              <a:t>选择</a:t>
            </a:r>
            <a:r>
              <a:rPr lang="zh-CN" altLang="en-US" dirty="0"/>
              <a:t>出若干</a:t>
            </a:r>
            <a:r>
              <a:rPr lang="zh-CN" altLang="en-US" b="1" dirty="0">
                <a:solidFill>
                  <a:srgbClr val="0000FF"/>
                </a:solidFill>
              </a:rPr>
              <a:t>属性列</a:t>
            </a:r>
            <a:r>
              <a:rPr lang="zh-CN" altLang="en-US" dirty="0"/>
              <a:t>组成</a:t>
            </a:r>
            <a:r>
              <a:rPr lang="zh-CN" altLang="en-US" b="1" dirty="0">
                <a:solidFill>
                  <a:srgbClr val="C00000"/>
                </a:solidFill>
              </a:rPr>
              <a:t>新的关系</a:t>
            </a:r>
            <a:r>
              <a:rPr lang="zh-CN" altLang="en-US" dirty="0"/>
              <a:t>。记作： </a:t>
            </a:r>
            <a:br>
              <a:rPr lang="zh-CN" altLang="en-US" dirty="0"/>
            </a:br>
            <a:r>
              <a:rPr lang="zh-CN" altLang="en-US" dirty="0"/>
              <a:t>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3600" baseline="-25000" dirty="0">
                <a:solidFill>
                  <a:srgbClr val="0000FF"/>
                </a:solidFill>
              </a:rPr>
              <a:t>A</a:t>
            </a:r>
            <a:r>
              <a:rPr lang="en-US" altLang="zh-CN" dirty="0">
                <a:solidFill>
                  <a:srgbClr val="000080"/>
                </a:solidFill>
              </a:rPr>
              <a:t>(R) = { t[A] | </a:t>
            </a:r>
            <a:r>
              <a:rPr lang="en-US" altLang="zh-CN" dirty="0" err="1">
                <a:solidFill>
                  <a:srgbClr val="000080"/>
                </a:solidFill>
              </a:rPr>
              <a:t>t∈R</a:t>
            </a:r>
            <a:r>
              <a:rPr lang="en-US" altLang="zh-CN" dirty="0">
                <a:solidFill>
                  <a:srgbClr val="000080"/>
                </a:solidFill>
              </a:rPr>
              <a:t> } </a:t>
            </a:r>
            <a:br>
              <a:rPr lang="en-US" altLang="zh-CN" dirty="0">
                <a:solidFill>
                  <a:srgbClr val="000080"/>
                </a:solidFill>
              </a:rPr>
            </a:br>
            <a:r>
              <a:rPr lang="zh-CN" altLang="en-US" dirty="0"/>
              <a:t>其中</a:t>
            </a:r>
            <a:r>
              <a:rPr lang="en-US" altLang="zh-CN" u="sng" dirty="0">
                <a:solidFill>
                  <a:srgbClr val="0000FF"/>
                </a:solidFill>
              </a:rPr>
              <a:t>A</a:t>
            </a:r>
            <a:r>
              <a:rPr lang="zh-CN" altLang="en-US" u="sng" dirty="0"/>
              <a:t>为</a:t>
            </a:r>
            <a:r>
              <a:rPr lang="en-US" altLang="zh-CN" u="sng" dirty="0"/>
              <a:t>R</a:t>
            </a:r>
            <a:r>
              <a:rPr lang="zh-CN" altLang="en-US" u="sng" dirty="0"/>
              <a:t>中的</a:t>
            </a:r>
            <a:r>
              <a:rPr lang="zh-CN" altLang="en-US" u="sng" dirty="0">
                <a:solidFill>
                  <a:srgbClr val="0000FF"/>
                </a:solidFill>
              </a:rPr>
              <a:t>属性列，</a:t>
            </a:r>
            <a:r>
              <a:rPr lang="zh-CN" altLang="en-US" dirty="0"/>
              <a:t>也即期望在结果中出现的属性列。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</p:txBody>
      </p:sp>
      <p:grpSp>
        <p:nvGrpSpPr>
          <p:cNvPr id="80903" name="Group 27"/>
          <p:cNvGrpSpPr>
            <a:grpSpLocks/>
          </p:cNvGrpSpPr>
          <p:nvPr/>
        </p:nvGrpSpPr>
        <p:grpSpPr bwMode="auto">
          <a:xfrm>
            <a:off x="2860431" y="4278923"/>
            <a:ext cx="2743200" cy="1600200"/>
            <a:chOff x="1536" y="1584"/>
            <a:chExt cx="1728" cy="1008"/>
          </a:xfrm>
        </p:grpSpPr>
        <p:sp>
          <p:nvSpPr>
            <p:cNvPr id="80904" name="AutoShape 16"/>
            <p:cNvSpPr>
              <a:spLocks noChangeArrowheads="1"/>
            </p:cNvSpPr>
            <p:nvPr/>
          </p:nvSpPr>
          <p:spPr bwMode="auto"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05" name="Text Box 17"/>
            <p:cNvSpPr txBox="1">
              <a:spLocks noChangeArrowheads="1"/>
            </p:cNvSpPr>
            <p:nvPr/>
          </p:nvSpPr>
          <p:spPr bwMode="auto">
            <a:xfrm>
              <a:off x="2352" y="172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Arial" charset="0"/>
                </a:rPr>
                <a:t>π</a:t>
              </a:r>
            </a:p>
          </p:txBody>
        </p:sp>
        <p:sp>
          <p:nvSpPr>
            <p:cNvPr id="80906" name="Rectangle 19"/>
            <p:cNvSpPr>
              <a:spLocks noChangeArrowheads="1"/>
            </p:cNvSpPr>
            <p:nvPr/>
          </p:nvSpPr>
          <p:spPr bwMode="auto"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07" name="Rectangle 20" descr="浅色下对角线"/>
            <p:cNvSpPr>
              <a:spLocks noChangeArrowheads="1"/>
            </p:cNvSpPr>
            <p:nvPr/>
          </p:nvSpPr>
          <p:spPr bwMode="auto">
            <a:xfrm>
              <a:off x="163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08" name="Rectangle 21"/>
            <p:cNvSpPr>
              <a:spLocks noChangeArrowheads="1"/>
            </p:cNvSpPr>
            <p:nvPr/>
          </p:nvSpPr>
          <p:spPr bwMode="auto"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09" name="Rectangle 22"/>
            <p:cNvSpPr>
              <a:spLocks noChangeArrowheads="1"/>
            </p:cNvSpPr>
            <p:nvPr/>
          </p:nvSpPr>
          <p:spPr bwMode="auto"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10" name="Rectangle 23" descr="浅色下对角线"/>
            <p:cNvSpPr>
              <a:spLocks noChangeArrowheads="1"/>
            </p:cNvSpPr>
            <p:nvPr/>
          </p:nvSpPr>
          <p:spPr bwMode="auto">
            <a:xfrm>
              <a:off x="1920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11" name="Rectangle 24"/>
            <p:cNvSpPr>
              <a:spLocks noChangeArrowheads="1"/>
            </p:cNvSpPr>
            <p:nvPr/>
          </p:nvSpPr>
          <p:spPr bwMode="auto"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12" name="Rectangle 25" descr="浅色下对角线"/>
            <p:cNvSpPr>
              <a:spLocks noChangeArrowheads="1"/>
            </p:cNvSpPr>
            <p:nvPr/>
          </p:nvSpPr>
          <p:spPr bwMode="auto">
            <a:xfrm>
              <a:off x="307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80913" name="Rectangle 26" descr="浅色下对角线"/>
            <p:cNvSpPr>
              <a:spLocks noChangeArrowheads="1"/>
            </p:cNvSpPr>
            <p:nvPr/>
          </p:nvSpPr>
          <p:spPr bwMode="auto">
            <a:xfrm>
              <a:off x="3168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4531396"/>
      </p:ext>
    </p:extLst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4D581A-7E5F-42E6-A0A8-ED8B991873F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19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19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94AD42B-A854-4F73-868C-AF56579A153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</a:t>
            </a:r>
            <a:r>
              <a:rPr lang="zh-CN" altLang="en-US"/>
              <a:t>专门的关系运算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投影</a:t>
            </a:r>
          </a:p>
        </p:txBody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关系</a:t>
            </a:r>
            <a:r>
              <a:rPr lang="en-US" altLang="zh-CN" dirty="0"/>
              <a:t>R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rgbClr val="C00000"/>
                </a:solidFill>
              </a:rPr>
              <a:t>投影</a:t>
            </a:r>
            <a:r>
              <a:rPr lang="zh-CN" altLang="en-US" dirty="0"/>
              <a:t>是从</a:t>
            </a:r>
            <a:r>
              <a:rPr lang="en-US" altLang="zh-CN" dirty="0"/>
              <a:t>R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0000FF"/>
                </a:solidFill>
              </a:rPr>
              <a:t>选择</a:t>
            </a:r>
            <a:r>
              <a:rPr lang="zh-CN" altLang="en-US" dirty="0"/>
              <a:t>出若干</a:t>
            </a:r>
            <a:r>
              <a:rPr lang="zh-CN" altLang="en-US" b="1" dirty="0">
                <a:solidFill>
                  <a:srgbClr val="0000FF"/>
                </a:solidFill>
              </a:rPr>
              <a:t>属性列</a:t>
            </a:r>
            <a:r>
              <a:rPr lang="zh-CN" altLang="en-US" dirty="0"/>
              <a:t>组成</a:t>
            </a:r>
            <a:r>
              <a:rPr lang="zh-CN" altLang="en-US" b="1" dirty="0">
                <a:solidFill>
                  <a:srgbClr val="C00000"/>
                </a:solidFill>
              </a:rPr>
              <a:t>新的关系</a:t>
            </a:r>
            <a:r>
              <a:rPr lang="zh-CN" altLang="en-US" dirty="0"/>
              <a:t>。记作： </a:t>
            </a:r>
            <a:br>
              <a:rPr lang="zh-CN" altLang="en-US" dirty="0"/>
            </a:br>
            <a:r>
              <a:rPr lang="zh-CN" altLang="en-US" dirty="0"/>
              <a:t>       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CN" sz="3600" baseline="-25000" dirty="0">
                <a:solidFill>
                  <a:srgbClr val="0000FF"/>
                </a:solidFill>
              </a:rPr>
              <a:t>A</a:t>
            </a:r>
            <a:r>
              <a:rPr lang="en-US" altLang="zh-CN" dirty="0">
                <a:solidFill>
                  <a:srgbClr val="000080"/>
                </a:solidFill>
              </a:rPr>
              <a:t>(R) = { t[A] | </a:t>
            </a:r>
            <a:r>
              <a:rPr lang="en-US" altLang="zh-CN" dirty="0" err="1">
                <a:solidFill>
                  <a:srgbClr val="000080"/>
                </a:solidFill>
              </a:rPr>
              <a:t>t∈R</a:t>
            </a:r>
            <a:r>
              <a:rPr lang="en-US" altLang="zh-CN" dirty="0">
                <a:solidFill>
                  <a:srgbClr val="000080"/>
                </a:solidFill>
              </a:rPr>
              <a:t> } </a:t>
            </a:r>
            <a:br>
              <a:rPr lang="en-US" altLang="zh-CN" dirty="0">
                <a:solidFill>
                  <a:srgbClr val="000080"/>
                </a:solidFill>
              </a:rPr>
            </a:br>
            <a:r>
              <a:rPr lang="zh-CN" altLang="en-US" dirty="0"/>
              <a:t>其中</a:t>
            </a:r>
            <a:r>
              <a:rPr lang="en-US" altLang="zh-CN" u="sng" dirty="0">
                <a:solidFill>
                  <a:srgbClr val="0000FF"/>
                </a:solidFill>
              </a:rPr>
              <a:t>A</a:t>
            </a:r>
            <a:r>
              <a:rPr lang="zh-CN" altLang="en-US" u="sng" dirty="0"/>
              <a:t>为</a:t>
            </a:r>
            <a:r>
              <a:rPr lang="en-US" altLang="zh-CN" u="sng" dirty="0"/>
              <a:t>R</a:t>
            </a:r>
            <a:r>
              <a:rPr lang="zh-CN" altLang="en-US" u="sng" dirty="0"/>
              <a:t>中的</a:t>
            </a:r>
            <a:r>
              <a:rPr lang="zh-CN" altLang="en-US" u="sng" dirty="0">
                <a:solidFill>
                  <a:srgbClr val="0000FF"/>
                </a:solidFill>
              </a:rPr>
              <a:t>属性列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zh-CN" altLang="en-US" sz="800" dirty="0"/>
          </a:p>
          <a:p>
            <a:pPr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基本思想</a:t>
            </a:r>
            <a:r>
              <a:rPr lang="zh-CN" altLang="en-US" dirty="0"/>
              <a:t>是从</a:t>
            </a:r>
            <a:r>
              <a:rPr lang="zh-CN" altLang="en-US" dirty="0">
                <a:solidFill>
                  <a:srgbClr val="C2290A"/>
                </a:solidFill>
              </a:rPr>
              <a:t>关系</a:t>
            </a:r>
            <a:r>
              <a:rPr lang="zh-CN" altLang="en-US" dirty="0"/>
              <a:t>中</a:t>
            </a:r>
            <a:r>
              <a:rPr lang="zh-CN" altLang="en-US" b="1" dirty="0">
                <a:solidFill>
                  <a:srgbClr val="C2290A"/>
                </a:solidFill>
              </a:rPr>
              <a:t>消除</a:t>
            </a:r>
            <a:r>
              <a:rPr lang="zh-CN" altLang="en-US" dirty="0">
                <a:solidFill>
                  <a:srgbClr val="0000FF"/>
                </a:solidFill>
              </a:rPr>
              <a:t>某些属性</a:t>
            </a:r>
            <a:r>
              <a:rPr lang="zh-CN" altLang="en-US" dirty="0"/>
              <a:t>，投影也</a:t>
            </a:r>
            <a:r>
              <a:rPr lang="zh-CN" altLang="en-US" dirty="0">
                <a:solidFill>
                  <a:srgbClr val="0000FF"/>
                </a:solidFill>
              </a:rPr>
              <a:t>可能消除掉某些行</a:t>
            </a:r>
            <a:r>
              <a:rPr lang="zh-CN" altLang="en-US" dirty="0"/>
              <a:t>。</a:t>
            </a:r>
          </a:p>
          <a:p>
            <a:pPr eaLnBrk="1" hangingPunct="1">
              <a:defRPr/>
            </a:pPr>
            <a:r>
              <a:rPr lang="zh-CN" altLang="en-US" dirty="0"/>
              <a:t>因为取消了某些属性列后，就可能出现</a:t>
            </a:r>
            <a:r>
              <a:rPr lang="zh-CN" altLang="en-US" dirty="0">
                <a:solidFill>
                  <a:srgbClr val="0000FF"/>
                </a:solidFill>
              </a:rPr>
              <a:t>重复行</a:t>
            </a:r>
            <a:r>
              <a:rPr lang="zh-CN" altLang="en-US" dirty="0"/>
              <a:t>，应</a:t>
            </a:r>
            <a:r>
              <a:rPr lang="zh-CN" altLang="en-US" dirty="0">
                <a:solidFill>
                  <a:srgbClr val="C00000"/>
                </a:solidFill>
              </a:rPr>
              <a:t>取消这些完全相同</a:t>
            </a:r>
            <a:r>
              <a:rPr lang="zh-CN" altLang="en-US" dirty="0"/>
              <a:t>的行。</a:t>
            </a:r>
            <a:endParaRPr lang="en-US" altLang="zh-CN" dirty="0"/>
          </a:p>
          <a:p>
            <a:pPr marL="0" indent="0" algn="ctr" eaLnBrk="1" hangingPunct="1"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</a:rPr>
              <a:t>（投影是从</a:t>
            </a:r>
            <a:r>
              <a:rPr lang="zh-CN" altLang="en-US" sz="2800" b="1" u="sng" dirty="0">
                <a:solidFill>
                  <a:srgbClr val="0000FF"/>
                </a:solidFill>
                <a:latin typeface="Times New Roman" pitchFamily="18" charset="0"/>
              </a:rPr>
              <a:t>列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</a:rPr>
              <a:t>的角度进行的运算）</a:t>
            </a:r>
          </a:p>
        </p:txBody>
      </p:sp>
    </p:spTree>
    <p:extLst>
      <p:ext uri="{BB962C8B-B14F-4D97-AF65-F5344CB8AC3E}">
        <p14:creationId xmlns:p14="http://schemas.microsoft.com/office/powerpoint/2010/main" val="1877435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C7DDC5-CDBE-4AD1-892C-A42EB27CF1F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29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29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E32905-75C7-4FFF-B50C-4B28E42BBA2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</a:t>
            </a:r>
            <a:r>
              <a:rPr lang="zh-CN" altLang="en-US"/>
              <a:t>专门的关系运算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投影</a:t>
            </a:r>
          </a:p>
        </p:txBody>
      </p:sp>
      <p:sp>
        <p:nvSpPr>
          <p:cNvPr id="82951" name="Rectangle 4"/>
          <p:cNvSpPr>
            <a:spLocks noChangeArrowheads="1"/>
          </p:cNvSpPr>
          <p:nvPr/>
        </p:nvSpPr>
        <p:spPr bwMode="auto">
          <a:xfrm>
            <a:off x="965200" y="1724025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Relation</a:t>
            </a:r>
            <a:r>
              <a:rPr kumimoji="0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 r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:</a:t>
            </a:r>
          </a:p>
        </p:txBody>
      </p:sp>
      <p:sp>
        <p:nvSpPr>
          <p:cNvPr id="82952" name="Rectangle 5"/>
          <p:cNvSpPr>
            <a:spLocks noChangeArrowheads="1"/>
          </p:cNvSpPr>
          <p:nvPr/>
        </p:nvSpPr>
        <p:spPr bwMode="auto">
          <a:xfrm>
            <a:off x="3048000" y="14478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82953" name="Rectangle 6"/>
          <p:cNvSpPr>
            <a:spLocks noChangeArrowheads="1"/>
          </p:cNvSpPr>
          <p:nvPr/>
        </p:nvSpPr>
        <p:spPr bwMode="auto">
          <a:xfrm>
            <a:off x="3505200" y="14478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B</a:t>
            </a:r>
          </a:p>
        </p:txBody>
      </p:sp>
      <p:sp>
        <p:nvSpPr>
          <p:cNvPr id="82954" name="Rectangle 7"/>
          <p:cNvSpPr>
            <a:spLocks noChangeArrowheads="1"/>
          </p:cNvSpPr>
          <p:nvPr/>
        </p:nvSpPr>
        <p:spPr bwMode="auto">
          <a:xfrm>
            <a:off x="3962400" y="14478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82955" name="Rectangle 8"/>
          <p:cNvSpPr>
            <a:spLocks noChangeArrowheads="1"/>
          </p:cNvSpPr>
          <p:nvPr/>
        </p:nvSpPr>
        <p:spPr bwMode="auto">
          <a:xfrm>
            <a:off x="3048000" y="19812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82956" name="Rectangle 9"/>
          <p:cNvSpPr>
            <a:spLocks noChangeArrowheads="1"/>
          </p:cNvSpPr>
          <p:nvPr/>
        </p:nvSpPr>
        <p:spPr bwMode="auto">
          <a:xfrm>
            <a:off x="3505200" y="19812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20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30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40</a:t>
            </a:r>
          </a:p>
        </p:txBody>
      </p:sp>
      <p:sp>
        <p:nvSpPr>
          <p:cNvPr id="82957" name="Rectangle 10"/>
          <p:cNvSpPr>
            <a:spLocks noChangeArrowheads="1"/>
          </p:cNvSpPr>
          <p:nvPr/>
        </p:nvSpPr>
        <p:spPr bwMode="auto">
          <a:xfrm>
            <a:off x="3962400" y="19812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</p:txBody>
      </p:sp>
      <p:sp>
        <p:nvSpPr>
          <p:cNvPr id="82958" name="Rectangle 11"/>
          <p:cNvSpPr>
            <a:spLocks noChangeArrowheads="1"/>
          </p:cNvSpPr>
          <p:nvPr/>
        </p:nvSpPr>
        <p:spPr bwMode="auto">
          <a:xfrm>
            <a:off x="2709863" y="3886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82959" name="Rectangle 12"/>
          <p:cNvSpPr>
            <a:spLocks noChangeArrowheads="1"/>
          </p:cNvSpPr>
          <p:nvPr/>
        </p:nvSpPr>
        <p:spPr bwMode="auto">
          <a:xfrm>
            <a:off x="3167063" y="3886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71696" name="Rectangle 13"/>
          <p:cNvSpPr>
            <a:spLocks noChangeArrowheads="1"/>
          </p:cNvSpPr>
          <p:nvPr/>
        </p:nvSpPr>
        <p:spPr bwMode="auto">
          <a:xfrm>
            <a:off x="2709863" y="4419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71697" name="Rectangle 14"/>
          <p:cNvSpPr>
            <a:spLocks noChangeArrowheads="1"/>
          </p:cNvSpPr>
          <p:nvPr/>
        </p:nvSpPr>
        <p:spPr bwMode="auto">
          <a:xfrm>
            <a:off x="3167063" y="4419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</p:txBody>
      </p:sp>
      <p:sp>
        <p:nvSpPr>
          <p:cNvPr id="71698" name="Text Box 15"/>
          <p:cNvSpPr txBox="1">
            <a:spLocks noChangeArrowheads="1"/>
          </p:cNvSpPr>
          <p:nvPr/>
        </p:nvSpPr>
        <p:spPr bwMode="auto">
          <a:xfrm>
            <a:off x="6849383" y="4065588"/>
            <a:ext cx="3175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=</a:t>
            </a:r>
          </a:p>
        </p:txBody>
      </p:sp>
      <p:sp>
        <p:nvSpPr>
          <p:cNvPr id="82963" name="Rectangle 16"/>
          <p:cNvSpPr>
            <a:spLocks noChangeArrowheads="1"/>
          </p:cNvSpPr>
          <p:nvPr/>
        </p:nvSpPr>
        <p:spPr bwMode="auto">
          <a:xfrm>
            <a:off x="4233863" y="4038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82964" name="Rectangle 17"/>
          <p:cNvSpPr>
            <a:spLocks noChangeArrowheads="1"/>
          </p:cNvSpPr>
          <p:nvPr/>
        </p:nvSpPr>
        <p:spPr bwMode="auto">
          <a:xfrm>
            <a:off x="4691063" y="4038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71701" name="Rectangle 18"/>
          <p:cNvSpPr>
            <a:spLocks noChangeArrowheads="1"/>
          </p:cNvSpPr>
          <p:nvPr/>
        </p:nvSpPr>
        <p:spPr bwMode="auto">
          <a:xfrm>
            <a:off x="4233863" y="45720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71702" name="Rectangle 19"/>
          <p:cNvSpPr>
            <a:spLocks noChangeArrowheads="1"/>
          </p:cNvSpPr>
          <p:nvPr/>
        </p:nvSpPr>
        <p:spPr bwMode="auto">
          <a:xfrm>
            <a:off x="4691063" y="45720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</p:txBody>
      </p:sp>
      <p:sp>
        <p:nvSpPr>
          <p:cNvPr id="82967" name="Rectangle 20"/>
          <p:cNvSpPr>
            <a:spLocks noChangeArrowheads="1"/>
          </p:cNvSpPr>
          <p:nvPr/>
        </p:nvSpPr>
        <p:spPr bwMode="auto">
          <a:xfrm>
            <a:off x="1071563" y="4065588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  <a:sym typeface="Symbol" pitchFamily="18" charset="2"/>
              </a:rPr>
              <a:t></a:t>
            </a:r>
            <a:r>
              <a:rPr kumimoji="0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A,C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 (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5943600" y="3974812"/>
            <a:ext cx="10486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  <a:sym typeface="Symbol" pitchFamily="18" charset="2"/>
              </a:rPr>
              <a:t>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C,A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Arial" charset="0"/>
              </a:rPr>
              <a:t> (r)</a:t>
            </a: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7772400" y="36576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7304314" y="36576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47010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6" grpId="0" animBg="1"/>
      <p:bldP spid="71697" grpId="0" animBg="1"/>
      <p:bldP spid="71698" grpId="0"/>
      <p:bldP spid="71701" grpId="0" animBg="1"/>
      <p:bldP spid="71702" grpId="0" animBg="1"/>
      <p:bldP spid="25" grpId="0" animBg="1"/>
      <p:bldP spid="2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3C0ABA-AB3A-4059-8295-7AE508CB8AF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39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39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8B40932-F9C4-4535-BCE6-91BD89D9BE9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</a:t>
            </a:r>
            <a:r>
              <a:rPr lang="zh-CN" altLang="en-US"/>
              <a:t>专门的关系运算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投影</a:t>
            </a:r>
          </a:p>
        </p:txBody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4 </a:t>
            </a:r>
            <a:r>
              <a:rPr lang="zh-CN" altLang="en-US" dirty="0"/>
              <a:t>查询学生关系</a:t>
            </a:r>
            <a:r>
              <a:rPr lang="en-US" altLang="zh-CN" dirty="0"/>
              <a:t>Student</a:t>
            </a:r>
            <a:r>
              <a:rPr lang="zh-CN" altLang="en-US" dirty="0"/>
              <a:t>在</a:t>
            </a:r>
            <a:r>
              <a:rPr lang="zh-CN" altLang="en-US" dirty="0">
                <a:solidFill>
                  <a:schemeClr val="tx2"/>
                </a:solidFill>
              </a:rPr>
              <a:t>学生姓名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2060"/>
                </a:solidFill>
              </a:rPr>
              <a:t>所在系</a:t>
            </a:r>
            <a:r>
              <a:rPr lang="zh-CN" altLang="en-US" dirty="0"/>
              <a:t>两个属性上的投影 </a:t>
            </a:r>
            <a:br>
              <a:rPr lang="zh-CN" altLang="en-US" dirty="0"/>
            </a:b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80"/>
                </a:solidFill>
              </a:rPr>
              <a:t>             </a:t>
            </a:r>
            <a:r>
              <a:rPr lang="en-US" altLang="zh-CN" dirty="0" err="1">
                <a:solidFill>
                  <a:srgbClr val="000080"/>
                </a:solidFill>
              </a:rPr>
              <a:t>Π</a:t>
            </a:r>
            <a:r>
              <a:rPr lang="en-US" altLang="zh-CN" baseline="-10000" dirty="0" err="1">
                <a:solidFill>
                  <a:srgbClr val="000080"/>
                </a:solidFill>
              </a:rPr>
              <a:t>Sname,Sdept</a:t>
            </a:r>
            <a:r>
              <a:rPr lang="en-US" altLang="zh-CN" dirty="0">
                <a:solidFill>
                  <a:srgbClr val="000080"/>
                </a:solidFill>
              </a:rPr>
              <a:t>(Student) </a:t>
            </a:r>
            <a:br>
              <a:rPr lang="en-US" altLang="zh-CN" dirty="0">
                <a:solidFill>
                  <a:srgbClr val="000080"/>
                </a:solidFill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5253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CEBD16-A4C6-4A41-9F19-A8EAF2AB141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30043B-288C-4E8C-ABC6-2761D63CA27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2.4.2 </a:t>
            </a:r>
            <a:r>
              <a:rPr lang="zh-CN" altLang="en-US"/>
              <a:t>专门的关系运算 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 </a:t>
            </a:r>
            <a:r>
              <a:rPr lang="zh-CN" altLang="en-US"/>
              <a:t>投影</a:t>
            </a:r>
          </a:p>
        </p:txBody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5 </a:t>
            </a:r>
            <a:r>
              <a:rPr lang="zh-CN" altLang="en-US" dirty="0"/>
              <a:t>查询学生关系</a:t>
            </a:r>
            <a:r>
              <a:rPr lang="en-US" altLang="zh-CN" dirty="0"/>
              <a:t>Student</a:t>
            </a:r>
            <a:r>
              <a:rPr lang="zh-CN" altLang="en-US" dirty="0"/>
              <a:t>中都有</a:t>
            </a:r>
            <a:r>
              <a:rPr lang="zh-CN" altLang="en-US" u="sng" dirty="0"/>
              <a:t>哪些系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zh-CN" altLang="en-US" dirty="0"/>
              <a:t>即查询学生关系</a:t>
            </a:r>
            <a:r>
              <a:rPr lang="en-US" altLang="zh-CN" dirty="0"/>
              <a:t>Student</a:t>
            </a:r>
            <a:r>
              <a:rPr lang="zh-CN" altLang="en-US" dirty="0"/>
              <a:t>在所在系属性上的投影 ：</a:t>
            </a:r>
          </a:p>
          <a:p>
            <a:pPr eaLnBrk="1" hangingPunct="1">
              <a:buFont typeface="Wingdings" pitchFamily="2" charset="2"/>
              <a:buNone/>
              <a:defRPr/>
            </a:pPr>
            <a:br>
              <a:rPr lang="zh-CN" altLang="en-US" dirty="0">
                <a:solidFill>
                  <a:srgbClr val="000080"/>
                </a:solidFill>
              </a:rPr>
            </a:br>
            <a:r>
              <a:rPr lang="zh-CN" altLang="en-US" dirty="0">
                <a:solidFill>
                  <a:srgbClr val="000080"/>
                </a:solidFill>
              </a:rPr>
              <a:t>            </a:t>
            </a:r>
            <a:r>
              <a:rPr lang="en-US" altLang="zh-CN" dirty="0" err="1">
                <a:solidFill>
                  <a:srgbClr val="000080"/>
                </a:solidFill>
              </a:rPr>
              <a:t>Π</a:t>
            </a:r>
            <a:r>
              <a:rPr lang="en-US" altLang="zh-CN" baseline="-10000" dirty="0" err="1">
                <a:solidFill>
                  <a:srgbClr val="000080"/>
                </a:solidFill>
              </a:rPr>
              <a:t>Sdept</a:t>
            </a:r>
            <a:r>
              <a:rPr lang="en-US" altLang="zh-CN" dirty="0">
                <a:solidFill>
                  <a:srgbClr val="000080"/>
                </a:solidFill>
              </a:rPr>
              <a:t>(Student) </a:t>
            </a:r>
            <a:br>
              <a:rPr lang="en-US" altLang="zh-CN" dirty="0">
                <a:solidFill>
                  <a:srgbClr val="000080"/>
                </a:solidFill>
              </a:rPr>
            </a:br>
            <a:endParaRPr lang="en-US" altLang="zh-CN" dirty="0">
              <a:solidFill>
                <a:srgbClr val="000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1163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38AD97-8ABB-4FEA-BD64-F6A04507374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70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70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93ED43-ACAD-40F0-91D7-7CFBE7A254D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2.4.3 </a:t>
            </a:r>
            <a:r>
              <a:rPr lang="zh-CN" altLang="en-US" dirty="0"/>
              <a:t>投影与选择的混合运算</a:t>
            </a:r>
          </a:p>
        </p:txBody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投影与选择的混合运算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查询信息系学生的姓名和年龄。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80"/>
                </a:solidFill>
              </a:rPr>
              <a:t>     </a:t>
            </a:r>
            <a:r>
              <a:rPr lang="en-US" altLang="zh-CN" dirty="0" err="1">
                <a:solidFill>
                  <a:srgbClr val="000080"/>
                </a:solidFill>
              </a:rPr>
              <a:t>Π</a:t>
            </a:r>
            <a:r>
              <a:rPr lang="en-US" altLang="zh-CN" sz="4000" baseline="-12000" dirty="0" err="1">
                <a:solidFill>
                  <a:srgbClr val="000080"/>
                </a:solidFill>
              </a:rPr>
              <a:t>Sname,Sage</a:t>
            </a:r>
            <a:r>
              <a:rPr lang="en-US" altLang="zh-CN" baseline="-10000" dirty="0">
                <a:solidFill>
                  <a:srgbClr val="000080"/>
                </a:solidFill>
              </a:rPr>
              <a:t> </a:t>
            </a:r>
            <a:r>
              <a:rPr lang="en-US" altLang="zh-CN" dirty="0">
                <a:solidFill>
                  <a:srgbClr val="000080"/>
                </a:solidFill>
              </a:rPr>
              <a:t>( </a:t>
            </a:r>
            <a:r>
              <a:rPr lang="en-US" altLang="zh-CN" sz="4000" dirty="0" err="1">
                <a:solidFill>
                  <a:srgbClr val="006600"/>
                </a:solidFill>
              </a:rPr>
              <a:t>σ</a:t>
            </a:r>
            <a:r>
              <a:rPr lang="en-US" altLang="zh-CN" sz="4000" baseline="-12000" dirty="0" err="1">
                <a:solidFill>
                  <a:srgbClr val="006600"/>
                </a:solidFill>
              </a:rPr>
              <a:t>Sdept</a:t>
            </a:r>
            <a:r>
              <a:rPr lang="en-US" altLang="zh-CN" sz="4000" baseline="-12000" dirty="0">
                <a:solidFill>
                  <a:srgbClr val="006600"/>
                </a:solidFill>
              </a:rPr>
              <a:t>=‘IS’</a:t>
            </a:r>
            <a:r>
              <a:rPr lang="en-US" altLang="zh-CN" dirty="0">
                <a:solidFill>
                  <a:srgbClr val="000080"/>
                </a:solidFill>
              </a:rPr>
              <a:t>(Student) 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rgbClr val="00008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80"/>
                </a:solidFill>
              </a:rPr>
              <a:t>         （注：</a:t>
            </a:r>
            <a:r>
              <a:rPr lang="zh-CN" altLang="en-US" dirty="0"/>
              <a:t>单目运算为</a:t>
            </a:r>
            <a:r>
              <a:rPr lang="zh-CN" altLang="en-US" b="1" dirty="0">
                <a:solidFill>
                  <a:srgbClr val="FF0000"/>
                </a:solidFill>
              </a:rPr>
              <a:t>右结合</a:t>
            </a:r>
            <a:r>
              <a:rPr lang="zh-CN" altLang="en-US" dirty="0">
                <a:solidFill>
                  <a:srgbClr val="000080"/>
                </a:solidFill>
              </a:rPr>
              <a:t>）</a:t>
            </a:r>
            <a:endParaRPr lang="zh-CN" altLang="en-US" dirty="0"/>
          </a:p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4164083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B705F0-E8DF-4276-8C0D-5225624ECD3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24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24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5EA7CC-96B3-4369-9574-792B2020EB2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2.4.4 </a:t>
            </a:r>
            <a:r>
              <a:rPr lang="zh-CN" altLang="en-US" dirty="0"/>
              <a:t>广义笛卡尔积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 startAt="4"/>
            </a:pPr>
            <a:r>
              <a:rPr lang="zh-CN" altLang="en-US" dirty="0"/>
              <a:t>广义笛卡尔积</a:t>
            </a:r>
            <a:r>
              <a:rPr lang="zh-CN" altLang="en-US" sz="2800" dirty="0"/>
              <a:t>（</a:t>
            </a:r>
            <a:r>
              <a:rPr lang="en-US" altLang="zh-CN" sz="2800" dirty="0"/>
              <a:t>Extended Cartesian Product</a:t>
            </a:r>
            <a:r>
              <a:rPr lang="zh-CN" altLang="en-US" sz="2800" dirty="0"/>
              <a:t>） 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/>
              <a:t>         </a:t>
            </a:r>
            <a:r>
              <a:rPr lang="zh-CN" altLang="en-US" sz="2800" dirty="0"/>
              <a:t>笛卡尔积的元素是</a:t>
            </a:r>
            <a:r>
              <a:rPr lang="zh-CN" altLang="en-US" sz="2800" dirty="0">
                <a:solidFill>
                  <a:srgbClr val="0000FF"/>
                </a:solidFill>
              </a:rPr>
              <a:t>元组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zh-CN" altLang="en-US" sz="2800" dirty="0">
              <a:solidFill>
                <a:srgbClr val="00CC00"/>
              </a:solidFill>
            </a:endParaRP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元组连接</a:t>
            </a:r>
            <a:r>
              <a:rPr lang="zh-CN" altLang="en-US" dirty="0"/>
              <a:t>的记号：</a:t>
            </a:r>
          </a:p>
          <a:p>
            <a:pPr marL="609600" indent="-609600" eaLnBrk="1" hangingPunct="1"/>
            <a:r>
              <a:rPr lang="en-US" altLang="zh-CN" sz="2800" dirty="0"/>
              <a:t>R</a:t>
            </a:r>
            <a:r>
              <a:rPr lang="zh-CN" altLang="en-US" sz="2800" dirty="0"/>
              <a:t>为</a:t>
            </a:r>
            <a:r>
              <a:rPr lang="en-US" altLang="zh-CN" sz="2800" dirty="0"/>
              <a:t>n</a:t>
            </a:r>
            <a:r>
              <a:rPr lang="zh-CN" altLang="en-US" sz="2800" dirty="0"/>
              <a:t>目关系，</a:t>
            </a:r>
            <a:r>
              <a:rPr lang="en-US" altLang="zh-CN" sz="2800" dirty="0"/>
              <a:t>S</a:t>
            </a:r>
            <a:r>
              <a:rPr lang="zh-CN" altLang="en-US" sz="2800" dirty="0"/>
              <a:t>为</a:t>
            </a:r>
            <a:r>
              <a:rPr lang="en-US" altLang="zh-CN" sz="2800" dirty="0"/>
              <a:t>m</a:t>
            </a:r>
            <a:r>
              <a:rPr lang="zh-CN" altLang="en-US" sz="2800" dirty="0"/>
              <a:t>目关系。 </a:t>
            </a:r>
            <a:r>
              <a:rPr lang="en-US" altLang="zh-CN" sz="2800" dirty="0" err="1">
                <a:solidFill>
                  <a:srgbClr val="C00000"/>
                </a:solidFill>
              </a:rPr>
              <a:t>tr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r>
              <a:rPr lang="en-US" altLang="zh-CN" sz="2800" dirty="0" err="1">
                <a:solidFill>
                  <a:srgbClr val="C00000"/>
                </a:solidFill>
              </a:rPr>
              <a:t>ts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r>
              <a:rPr lang="zh-CN" altLang="en-US" sz="2800" dirty="0"/>
              <a:t>称为</a:t>
            </a:r>
            <a:r>
              <a:rPr lang="zh-CN" altLang="en-US" sz="2800" dirty="0">
                <a:solidFill>
                  <a:srgbClr val="0000FF"/>
                </a:solidFill>
              </a:rPr>
              <a:t>元组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连接</a:t>
            </a:r>
            <a:r>
              <a:rPr lang="en-US" altLang="zh-CN" sz="2800" dirty="0">
                <a:solidFill>
                  <a:srgbClr val="0000FF"/>
                </a:solidFill>
              </a:rPr>
              <a:t>/</a:t>
            </a:r>
            <a:r>
              <a:rPr lang="zh-CN" altLang="en-US" sz="2800" dirty="0">
                <a:solidFill>
                  <a:srgbClr val="0000FF"/>
                </a:solidFill>
              </a:rPr>
              <a:t>拼接（</a:t>
            </a:r>
            <a:r>
              <a:rPr lang="en-US" altLang="zh-CN" sz="2800" dirty="0">
                <a:solidFill>
                  <a:srgbClr val="0000FF"/>
                </a:solidFill>
              </a:rPr>
              <a:t>Concatenation</a:t>
            </a:r>
            <a:r>
              <a:rPr lang="zh-CN" altLang="en-US" sz="2800" dirty="0">
                <a:solidFill>
                  <a:srgbClr val="0000FF"/>
                </a:solidFill>
              </a:rPr>
              <a:t>）</a:t>
            </a:r>
            <a:r>
              <a:rPr lang="zh-CN" altLang="en-US" sz="2800" dirty="0"/>
              <a:t>。</a:t>
            </a:r>
            <a:r>
              <a:rPr lang="zh-CN" altLang="en-US" sz="2800" u="sng" dirty="0"/>
              <a:t>它是一个</a:t>
            </a:r>
            <a:r>
              <a:rPr lang="en-US" altLang="zh-CN" sz="2800" u="sng" dirty="0"/>
              <a:t>(</a:t>
            </a:r>
            <a:r>
              <a:rPr lang="en-US" altLang="zh-CN" sz="2800" u="sng" dirty="0" err="1">
                <a:solidFill>
                  <a:srgbClr val="0000FF"/>
                </a:solidFill>
              </a:rPr>
              <a:t>n+m</a:t>
            </a:r>
            <a:r>
              <a:rPr lang="en-US" altLang="zh-CN" sz="2800" u="sng" dirty="0"/>
              <a:t>)</a:t>
            </a:r>
            <a:r>
              <a:rPr lang="zh-CN" altLang="en-US" sz="2800" u="sng" dirty="0"/>
              <a:t>列的</a:t>
            </a:r>
            <a:r>
              <a:rPr lang="zh-CN" altLang="en-US" sz="2800" u="sng" dirty="0">
                <a:solidFill>
                  <a:srgbClr val="0000FF"/>
                </a:solidFill>
              </a:rPr>
              <a:t>元组</a:t>
            </a:r>
            <a:r>
              <a:rPr lang="zh-CN" altLang="en-US" sz="2800" dirty="0"/>
              <a:t>，前</a:t>
            </a:r>
            <a:r>
              <a:rPr lang="en-US" altLang="zh-CN" sz="2800" dirty="0"/>
              <a:t>n</a:t>
            </a:r>
            <a:r>
              <a:rPr lang="zh-CN" altLang="en-US" sz="2800" dirty="0"/>
              <a:t>个分量为</a:t>
            </a:r>
            <a:r>
              <a:rPr lang="en-US" altLang="zh-CN" sz="2800" dirty="0"/>
              <a:t>R</a:t>
            </a:r>
            <a:r>
              <a:rPr lang="zh-CN" altLang="en-US" sz="2800" dirty="0"/>
              <a:t>中的一个</a:t>
            </a:r>
            <a:r>
              <a:rPr lang="en-US" altLang="zh-CN" sz="2800" dirty="0"/>
              <a:t>n</a:t>
            </a:r>
            <a:r>
              <a:rPr lang="zh-CN" altLang="en-US" sz="2800" dirty="0"/>
              <a:t>元组，后</a:t>
            </a:r>
            <a:r>
              <a:rPr lang="en-US" altLang="zh-CN" sz="2800" dirty="0"/>
              <a:t>m</a:t>
            </a:r>
            <a:r>
              <a:rPr lang="zh-CN" altLang="en-US" sz="2800" dirty="0"/>
              <a:t>个分量为</a:t>
            </a:r>
            <a:r>
              <a:rPr lang="en-US" altLang="zh-CN" sz="2800" dirty="0"/>
              <a:t>S</a:t>
            </a:r>
            <a:r>
              <a:rPr lang="zh-CN" altLang="en-US" sz="2800" dirty="0"/>
              <a:t>中的一个</a:t>
            </a:r>
            <a:r>
              <a:rPr lang="en-US" altLang="zh-CN" sz="2800" dirty="0"/>
              <a:t>m</a:t>
            </a:r>
            <a:r>
              <a:rPr lang="zh-CN" altLang="en-US" sz="2800" dirty="0"/>
              <a:t>元组。</a:t>
            </a:r>
          </a:p>
          <a:p>
            <a:pPr marL="609600" indent="-609600" eaLnBrk="1" hangingPunct="1"/>
            <a:endParaRPr lang="zh-CN" altLang="en-US" sz="2800" dirty="0"/>
          </a:p>
        </p:txBody>
      </p:sp>
      <p:sp>
        <p:nvSpPr>
          <p:cNvPr id="62471" name="Arc 4"/>
          <p:cNvSpPr>
            <a:spLocks/>
          </p:cNvSpPr>
          <p:nvPr/>
        </p:nvSpPr>
        <p:spPr bwMode="auto">
          <a:xfrm rot="13517283" flipV="1">
            <a:off x="6017419" y="3617877"/>
            <a:ext cx="457200" cy="303212"/>
          </a:xfrm>
          <a:custGeom>
            <a:avLst/>
            <a:gdLst>
              <a:gd name="T0" fmla="*/ 2147483647 w 21600"/>
              <a:gd name="T1" fmla="*/ 0 h 20316"/>
              <a:gd name="T2" fmla="*/ 2147483647 w 21600"/>
              <a:gd name="T3" fmla="*/ 2147483647 h 20316"/>
              <a:gd name="T4" fmla="*/ 0 w 21600"/>
              <a:gd name="T5" fmla="*/ 2147483647 h 203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0316" fill="none" extrusionOk="0">
                <a:moveTo>
                  <a:pt x="7336" y="0"/>
                </a:moveTo>
                <a:cubicBezTo>
                  <a:pt x="15896" y="3091"/>
                  <a:pt x="21600" y="11215"/>
                  <a:pt x="21600" y="20316"/>
                </a:cubicBezTo>
              </a:path>
              <a:path w="21600" h="20316" stroke="0" extrusionOk="0">
                <a:moveTo>
                  <a:pt x="7336" y="0"/>
                </a:moveTo>
                <a:cubicBezTo>
                  <a:pt x="15896" y="3091"/>
                  <a:pt x="21600" y="11215"/>
                  <a:pt x="21600" y="20316"/>
                </a:cubicBezTo>
                <a:lnTo>
                  <a:pt x="0" y="20316"/>
                </a:lnTo>
                <a:lnTo>
                  <a:pt x="7336" y="0"/>
                </a:lnTo>
                <a:close/>
              </a:path>
            </a:pathLst>
          </a:custGeom>
          <a:noFill/>
          <a:ln w="952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9466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3DD76A-6976-4C14-A1D4-2A48156975B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34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34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22B61B-3AFB-4AEE-8A52-8B648A19CD5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2.4.4 </a:t>
            </a:r>
            <a:r>
              <a:rPr lang="zh-CN" altLang="en-US" dirty="0"/>
              <a:t>广义笛卡尔积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两个分别为</a:t>
            </a:r>
            <a:r>
              <a:rPr lang="en-US" altLang="zh-CN" dirty="0"/>
              <a:t>n</a:t>
            </a:r>
            <a:r>
              <a:rPr lang="zh-CN" altLang="en-US" dirty="0"/>
              <a:t>目和</a:t>
            </a:r>
            <a:r>
              <a:rPr lang="en-US" altLang="zh-CN" dirty="0"/>
              <a:t>m</a:t>
            </a:r>
            <a:r>
              <a:rPr lang="zh-CN" altLang="en-US" dirty="0"/>
              <a:t>目的关系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00000"/>
                </a:solidFill>
              </a:rPr>
              <a:t>广义笛卡尔积</a:t>
            </a:r>
            <a:r>
              <a:rPr lang="zh-CN" altLang="en-US" dirty="0"/>
              <a:t>是一个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n+m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zh-CN" altLang="en-US" dirty="0">
                <a:solidFill>
                  <a:srgbClr val="C00000"/>
                </a:solidFill>
              </a:rPr>
              <a:t>列的元组</a:t>
            </a:r>
            <a:r>
              <a:rPr lang="zh-CN" altLang="en-US" dirty="0"/>
              <a:t>的集合。元组的</a:t>
            </a:r>
            <a:r>
              <a:rPr lang="zh-CN" altLang="en-US" u="sng" dirty="0"/>
              <a:t>前</a:t>
            </a:r>
            <a:r>
              <a:rPr lang="en-US" altLang="zh-CN" u="sng" dirty="0"/>
              <a:t>n</a:t>
            </a:r>
            <a:r>
              <a:rPr lang="zh-CN" altLang="en-US" u="sng" dirty="0"/>
              <a:t>列是关系</a:t>
            </a:r>
            <a:r>
              <a:rPr lang="en-US" altLang="zh-CN" u="sng" dirty="0"/>
              <a:t>R</a:t>
            </a:r>
            <a:r>
              <a:rPr lang="zh-CN" altLang="en-US" u="sng" dirty="0"/>
              <a:t>的一个元组</a:t>
            </a:r>
            <a:r>
              <a:rPr lang="zh-CN" altLang="en-US" dirty="0"/>
              <a:t>，</a:t>
            </a:r>
            <a:r>
              <a:rPr lang="zh-CN" altLang="en-US" u="sng" dirty="0"/>
              <a:t>后</a:t>
            </a:r>
            <a:r>
              <a:rPr lang="en-US" altLang="zh-CN" u="sng" dirty="0"/>
              <a:t>m</a:t>
            </a:r>
            <a:r>
              <a:rPr lang="zh-CN" altLang="en-US" u="sng" dirty="0"/>
              <a:t>列是关系</a:t>
            </a:r>
            <a:r>
              <a:rPr lang="en-US" altLang="zh-CN" u="sng" dirty="0"/>
              <a:t>S</a:t>
            </a:r>
            <a:r>
              <a:rPr lang="zh-CN" altLang="en-US" u="sng" dirty="0"/>
              <a:t>的一个元组</a:t>
            </a:r>
            <a:r>
              <a:rPr lang="zh-CN" altLang="en-US" dirty="0"/>
              <a:t>。记作：</a:t>
            </a: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	         </a:t>
            </a:r>
            <a:r>
              <a:rPr lang="en-US" altLang="zh-CN" dirty="0"/>
              <a:t>R</a:t>
            </a:r>
            <a:r>
              <a:rPr lang="en-US" altLang="zh-CN" b="1" dirty="0">
                <a:solidFill>
                  <a:srgbClr val="0000FF"/>
                </a:solidFill>
              </a:rPr>
              <a:t>×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>
                <a:solidFill>
                  <a:srgbClr val="006600"/>
                </a:solidFill>
              </a:rPr>
              <a:t>tr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r>
              <a:rPr lang="en-US" altLang="zh-CN" dirty="0" err="1">
                <a:solidFill>
                  <a:srgbClr val="006600"/>
                </a:solidFill>
              </a:rPr>
              <a:t>ts</a:t>
            </a:r>
            <a:r>
              <a:rPr lang="en-US" altLang="zh-CN" dirty="0" err="1"/>
              <a:t>|tr∈R∧ts∈S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55000"/>
              </a:spcBef>
            </a:pPr>
            <a:r>
              <a:rPr lang="zh-CN" altLang="en-US" dirty="0"/>
              <a:t>若</a:t>
            </a:r>
            <a:r>
              <a:rPr lang="en-US" altLang="zh-CN" dirty="0"/>
              <a:t>R</a:t>
            </a:r>
            <a:r>
              <a:rPr lang="zh-CN" altLang="en-US" dirty="0"/>
              <a:t>有</a:t>
            </a:r>
            <a:r>
              <a:rPr lang="en-US" altLang="zh-CN" dirty="0"/>
              <a:t>k</a:t>
            </a:r>
            <a:r>
              <a:rPr lang="en-US" altLang="zh-CN" baseline="-25000" dirty="0"/>
              <a:t>1</a:t>
            </a:r>
            <a:r>
              <a:rPr lang="zh-CN" altLang="en-US" dirty="0"/>
              <a:t>个元组，</a:t>
            </a:r>
            <a:r>
              <a:rPr lang="en-US" altLang="zh-CN" dirty="0"/>
              <a:t>S</a:t>
            </a:r>
            <a:r>
              <a:rPr lang="zh-CN" altLang="en-US" dirty="0"/>
              <a:t>有</a:t>
            </a:r>
            <a:r>
              <a:rPr lang="en-US" altLang="zh-CN" dirty="0"/>
              <a:t>k</a:t>
            </a:r>
            <a:r>
              <a:rPr lang="en-US" altLang="zh-CN" baseline="-25000" dirty="0"/>
              <a:t>2</a:t>
            </a:r>
            <a:r>
              <a:rPr lang="zh-CN" altLang="en-US" dirty="0"/>
              <a:t>个元组，则关系</a:t>
            </a:r>
            <a:r>
              <a:rPr lang="en-US" altLang="zh-CN" dirty="0"/>
              <a:t>R</a:t>
            </a:r>
            <a:r>
              <a:rPr lang="zh-CN" altLang="en-US" dirty="0"/>
              <a:t>和关系</a:t>
            </a:r>
            <a:r>
              <a:rPr lang="en-US" altLang="zh-CN" dirty="0"/>
              <a:t>S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广义笛卡尔积有</a:t>
            </a:r>
            <a:r>
              <a:rPr lang="en-US" altLang="zh-CN" dirty="0">
                <a:solidFill>
                  <a:srgbClr val="C00000"/>
                </a:solidFill>
              </a:rPr>
              <a:t>k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×k</a:t>
            </a:r>
            <a:r>
              <a:rPr lang="en-US" altLang="zh-CN" baseline="-25000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个元组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63495" name="Arc 4"/>
          <p:cNvSpPr>
            <a:spLocks/>
          </p:cNvSpPr>
          <p:nvPr/>
        </p:nvSpPr>
        <p:spPr bwMode="auto">
          <a:xfrm rot="13517283" flipV="1">
            <a:off x="3810794" y="3658394"/>
            <a:ext cx="457200" cy="303212"/>
          </a:xfrm>
          <a:custGeom>
            <a:avLst/>
            <a:gdLst>
              <a:gd name="T0" fmla="*/ 2147483647 w 21600"/>
              <a:gd name="T1" fmla="*/ 0 h 20316"/>
              <a:gd name="T2" fmla="*/ 2147483647 w 21600"/>
              <a:gd name="T3" fmla="*/ 2147483647 h 20316"/>
              <a:gd name="T4" fmla="*/ 0 w 21600"/>
              <a:gd name="T5" fmla="*/ 2147483647 h 203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0316" fill="none" extrusionOk="0">
                <a:moveTo>
                  <a:pt x="7336" y="0"/>
                </a:moveTo>
                <a:cubicBezTo>
                  <a:pt x="15896" y="3091"/>
                  <a:pt x="21600" y="11215"/>
                  <a:pt x="21600" y="20316"/>
                </a:cubicBezTo>
              </a:path>
              <a:path w="21600" h="20316" stroke="0" extrusionOk="0">
                <a:moveTo>
                  <a:pt x="7336" y="0"/>
                </a:moveTo>
                <a:cubicBezTo>
                  <a:pt x="15896" y="3091"/>
                  <a:pt x="21600" y="11215"/>
                  <a:pt x="21600" y="20316"/>
                </a:cubicBezTo>
                <a:lnTo>
                  <a:pt x="0" y="20316"/>
                </a:lnTo>
                <a:lnTo>
                  <a:pt x="7336" y="0"/>
                </a:lnTo>
                <a:close/>
              </a:path>
            </a:pathLst>
          </a:custGeom>
          <a:noFill/>
          <a:ln w="349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BBCCB9-D329-4B2A-B7BF-C31394E6E16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45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45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D290A7-121B-4C18-B8F4-977914A04D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2.4.4 </a:t>
            </a:r>
            <a:r>
              <a:rPr lang="zh-CN" altLang="en-US" dirty="0"/>
              <a:t>广义笛卡尔积</a:t>
            </a:r>
          </a:p>
        </p:txBody>
      </p:sp>
      <p:sp>
        <p:nvSpPr>
          <p:cNvPr id="64518" name="Rectangle 4"/>
          <p:cNvSpPr>
            <a:spLocks noChangeArrowheads="1"/>
          </p:cNvSpPr>
          <p:nvPr/>
        </p:nvSpPr>
        <p:spPr bwMode="auto">
          <a:xfrm>
            <a:off x="990600" y="1676400"/>
            <a:ext cx="2120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tabLst>
                <a:tab pos="3149600" algn="ctr"/>
              </a:tabLst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tabLst>
                <a:tab pos="3149600" algn="ctr"/>
              </a:tabLs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tabLst>
                <a:tab pos="3149600" algn="ctr"/>
              </a:tabLs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333399"/>
              </a:buClr>
              <a:buSzTx/>
              <a:buFont typeface="Monotype Sorts" pitchFamily="2" charset="2"/>
              <a:buNone/>
              <a:tabLst>
                <a:tab pos="3149600" algn="ctr"/>
              </a:tabLst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Relations </a:t>
            </a: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r, s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:</a:t>
            </a:r>
          </a:p>
        </p:txBody>
      </p:sp>
      <p:sp>
        <p:nvSpPr>
          <p:cNvPr id="64519" name="Rectangle 5"/>
          <p:cNvSpPr>
            <a:spLocks noChangeArrowheads="1"/>
          </p:cNvSpPr>
          <p:nvPr/>
        </p:nvSpPr>
        <p:spPr bwMode="auto">
          <a:xfrm>
            <a:off x="5257800" y="2286000"/>
            <a:ext cx="9144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tabLst>
                <a:tab pos="3149600" algn="ctr"/>
              </a:tabLst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tabLst>
                <a:tab pos="3149600" algn="ctr"/>
              </a:tabLs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tabLst>
                <a:tab pos="3149600" algn="ctr"/>
              </a:tabLs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333399"/>
              </a:buClr>
              <a:buSzTx/>
              <a:buFont typeface="Monotype Sorts" pitchFamily="2" charset="2"/>
              <a:buNone/>
              <a:tabLst>
                <a:tab pos="3149600" algn="ctr"/>
              </a:tabLst>
              <a:defRPr/>
            </a:pP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r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 x</a:t>
            </a: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 </a:t>
            </a:r>
            <a:r>
              <a:rPr kumimoji="1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s</a:t>
            </a:r>
            <a:endParaRPr kumimoji="1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Helvetic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64520" name="Rectangle 6"/>
          <p:cNvSpPr>
            <a:spLocks noChangeArrowheads="1"/>
          </p:cNvSpPr>
          <p:nvPr/>
        </p:nvSpPr>
        <p:spPr bwMode="auto">
          <a:xfrm>
            <a:off x="685800" y="2895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64521" name="Rectangle 7"/>
          <p:cNvSpPr>
            <a:spLocks noChangeArrowheads="1"/>
          </p:cNvSpPr>
          <p:nvPr/>
        </p:nvSpPr>
        <p:spPr bwMode="auto">
          <a:xfrm>
            <a:off x="1143000" y="2895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B</a:t>
            </a:r>
          </a:p>
        </p:txBody>
      </p:sp>
      <p:sp>
        <p:nvSpPr>
          <p:cNvPr id="64522" name="Rectangle 8"/>
          <p:cNvSpPr>
            <a:spLocks noChangeArrowheads="1"/>
          </p:cNvSpPr>
          <p:nvPr/>
        </p:nvSpPr>
        <p:spPr bwMode="auto">
          <a:xfrm>
            <a:off x="685800" y="3429000"/>
            <a:ext cx="4572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64523" name="Rectangle 9"/>
          <p:cNvSpPr>
            <a:spLocks noChangeArrowheads="1"/>
          </p:cNvSpPr>
          <p:nvPr/>
        </p:nvSpPr>
        <p:spPr bwMode="auto">
          <a:xfrm>
            <a:off x="1143000" y="3429000"/>
            <a:ext cx="4572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</p:txBody>
      </p:sp>
      <p:sp>
        <p:nvSpPr>
          <p:cNvPr id="64524" name="Rectangle 10"/>
          <p:cNvSpPr>
            <a:spLocks noChangeArrowheads="1"/>
          </p:cNvSpPr>
          <p:nvPr/>
        </p:nvSpPr>
        <p:spPr bwMode="auto">
          <a:xfrm>
            <a:off x="4478338" y="28194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A</a:t>
            </a:r>
          </a:p>
        </p:txBody>
      </p:sp>
      <p:sp>
        <p:nvSpPr>
          <p:cNvPr id="64525" name="Rectangle 11"/>
          <p:cNvSpPr>
            <a:spLocks noChangeArrowheads="1"/>
          </p:cNvSpPr>
          <p:nvPr/>
        </p:nvSpPr>
        <p:spPr bwMode="auto">
          <a:xfrm>
            <a:off x="4935538" y="28194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B</a:t>
            </a:r>
          </a:p>
        </p:txBody>
      </p:sp>
      <p:sp>
        <p:nvSpPr>
          <p:cNvPr id="64526" name="Rectangle 12"/>
          <p:cNvSpPr>
            <a:spLocks noChangeArrowheads="1"/>
          </p:cNvSpPr>
          <p:nvPr/>
        </p:nvSpPr>
        <p:spPr bwMode="auto">
          <a:xfrm>
            <a:off x="4478338" y="34290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</p:txBody>
      </p:sp>
      <p:sp>
        <p:nvSpPr>
          <p:cNvPr id="64527" name="Rectangle 13"/>
          <p:cNvSpPr>
            <a:spLocks noChangeArrowheads="1"/>
          </p:cNvSpPr>
          <p:nvPr/>
        </p:nvSpPr>
        <p:spPr bwMode="auto">
          <a:xfrm>
            <a:off x="4935538" y="34290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</a:t>
            </a:r>
          </a:p>
        </p:txBody>
      </p:sp>
      <p:sp>
        <p:nvSpPr>
          <p:cNvPr id="64528" name="Rectangle 14"/>
          <p:cNvSpPr>
            <a:spLocks noChangeArrowheads="1"/>
          </p:cNvSpPr>
          <p:nvPr/>
        </p:nvSpPr>
        <p:spPr bwMode="auto">
          <a:xfrm>
            <a:off x="5392738" y="28194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64529" name="Rectangle 15"/>
          <p:cNvSpPr>
            <a:spLocks noChangeArrowheads="1"/>
          </p:cNvSpPr>
          <p:nvPr/>
        </p:nvSpPr>
        <p:spPr bwMode="auto">
          <a:xfrm>
            <a:off x="5849938" y="28194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D</a:t>
            </a:r>
          </a:p>
        </p:txBody>
      </p:sp>
      <p:sp>
        <p:nvSpPr>
          <p:cNvPr id="64530" name="Rectangle 16"/>
          <p:cNvSpPr>
            <a:spLocks noChangeArrowheads="1"/>
          </p:cNvSpPr>
          <p:nvPr/>
        </p:nvSpPr>
        <p:spPr bwMode="auto">
          <a:xfrm>
            <a:off x="5392738" y="34290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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</a:t>
            </a:r>
          </a:p>
        </p:txBody>
      </p:sp>
      <p:sp>
        <p:nvSpPr>
          <p:cNvPr id="64531" name="Rectangle 17"/>
          <p:cNvSpPr>
            <a:spLocks noChangeArrowheads="1"/>
          </p:cNvSpPr>
          <p:nvPr/>
        </p:nvSpPr>
        <p:spPr bwMode="auto">
          <a:xfrm>
            <a:off x="5849938" y="34290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</p:txBody>
      </p:sp>
      <p:sp>
        <p:nvSpPr>
          <p:cNvPr id="64532" name="Rectangle 18"/>
          <p:cNvSpPr>
            <a:spLocks noChangeArrowheads="1"/>
          </p:cNvSpPr>
          <p:nvPr/>
        </p:nvSpPr>
        <p:spPr bwMode="auto">
          <a:xfrm>
            <a:off x="6307138" y="28194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E</a:t>
            </a:r>
          </a:p>
        </p:txBody>
      </p:sp>
      <p:sp>
        <p:nvSpPr>
          <p:cNvPr id="64533" name="Rectangle 19"/>
          <p:cNvSpPr>
            <a:spLocks noChangeArrowheads="1"/>
          </p:cNvSpPr>
          <p:nvPr/>
        </p:nvSpPr>
        <p:spPr bwMode="auto">
          <a:xfrm>
            <a:off x="6307138" y="34290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b</a:t>
            </a:r>
          </a:p>
        </p:txBody>
      </p:sp>
      <p:sp>
        <p:nvSpPr>
          <p:cNvPr id="64534" name="Rectangle 20"/>
          <p:cNvSpPr>
            <a:spLocks noChangeArrowheads="1"/>
          </p:cNvSpPr>
          <p:nvPr/>
        </p:nvSpPr>
        <p:spPr bwMode="auto">
          <a:xfrm>
            <a:off x="2438400" y="2895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C</a:t>
            </a:r>
          </a:p>
        </p:txBody>
      </p:sp>
      <p:sp>
        <p:nvSpPr>
          <p:cNvPr id="64535" name="Rectangle 21"/>
          <p:cNvSpPr>
            <a:spLocks noChangeArrowheads="1"/>
          </p:cNvSpPr>
          <p:nvPr/>
        </p:nvSpPr>
        <p:spPr bwMode="auto">
          <a:xfrm>
            <a:off x="2895600" y="2895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D</a:t>
            </a:r>
          </a:p>
        </p:txBody>
      </p:sp>
      <p:sp>
        <p:nvSpPr>
          <p:cNvPr id="64536" name="Rectangle 22"/>
          <p:cNvSpPr>
            <a:spLocks noChangeArrowheads="1"/>
          </p:cNvSpPr>
          <p:nvPr/>
        </p:nvSpPr>
        <p:spPr bwMode="auto">
          <a:xfrm>
            <a:off x="2438400" y="34290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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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</a:t>
            </a:r>
          </a:p>
        </p:txBody>
      </p:sp>
      <p:sp>
        <p:nvSpPr>
          <p:cNvPr id="64537" name="Rectangle 23"/>
          <p:cNvSpPr>
            <a:spLocks noChangeArrowheads="1"/>
          </p:cNvSpPr>
          <p:nvPr/>
        </p:nvSpPr>
        <p:spPr bwMode="auto">
          <a:xfrm>
            <a:off x="2895600" y="34290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20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10</a:t>
            </a:r>
          </a:p>
        </p:txBody>
      </p:sp>
      <p:sp>
        <p:nvSpPr>
          <p:cNvPr id="64538" name="Rectangle 24"/>
          <p:cNvSpPr>
            <a:spLocks noChangeArrowheads="1"/>
          </p:cNvSpPr>
          <p:nvPr/>
        </p:nvSpPr>
        <p:spPr bwMode="auto">
          <a:xfrm>
            <a:off x="3352800" y="28956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E</a:t>
            </a:r>
          </a:p>
        </p:txBody>
      </p:sp>
      <p:sp>
        <p:nvSpPr>
          <p:cNvPr id="64539" name="Rectangle 25"/>
          <p:cNvSpPr>
            <a:spLocks noChangeArrowheads="1"/>
          </p:cNvSpPr>
          <p:nvPr/>
        </p:nvSpPr>
        <p:spPr bwMode="auto">
          <a:xfrm>
            <a:off x="3352800" y="34290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  <a:sym typeface="Symbol" pitchFamily="18" charset="2"/>
              </a:rPr>
              <a:t>b</a:t>
            </a:r>
          </a:p>
        </p:txBody>
      </p:sp>
      <p:graphicFrame>
        <p:nvGraphicFramePr>
          <p:cNvPr id="64540" name="Object 26"/>
          <p:cNvGraphicFramePr>
            <a:graphicFrameLocks noChangeAspect="1"/>
          </p:cNvGraphicFramePr>
          <p:nvPr/>
        </p:nvGraphicFramePr>
        <p:xfrm>
          <a:off x="6161088" y="3852863"/>
          <a:ext cx="1397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291973" progId="Equation.3">
                  <p:embed/>
                </p:oleObj>
              </mc:Choice>
              <mc:Fallback>
                <p:oleObj name="Equation" r:id="rId2" imgW="139639" imgH="291973" progId="Equation.3">
                  <p:embed/>
                  <p:pic>
                    <p:nvPicPr>
                      <p:cNvPr id="6454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1088" y="3852863"/>
                        <a:ext cx="139700" cy="31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1" name="Text Box 27"/>
          <p:cNvSpPr txBox="1">
            <a:spLocks noChangeArrowheads="1"/>
          </p:cNvSpPr>
          <p:nvPr/>
        </p:nvSpPr>
        <p:spPr bwMode="auto">
          <a:xfrm>
            <a:off x="990600" y="2362200"/>
            <a:ext cx="26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r</a:t>
            </a:r>
          </a:p>
        </p:txBody>
      </p:sp>
      <p:sp>
        <p:nvSpPr>
          <p:cNvPr id="64542" name="Text Box 28"/>
          <p:cNvSpPr txBox="1">
            <a:spLocks noChangeArrowheads="1"/>
          </p:cNvSpPr>
          <p:nvPr/>
        </p:nvSpPr>
        <p:spPr bwMode="auto">
          <a:xfrm>
            <a:off x="2971800" y="236220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Helvetica" pitchFamily="34" charset="0"/>
                <a:ea typeface="宋体" pitchFamily="2" charset="-122"/>
                <a:cs typeface="Arial" charset="0"/>
              </a:rPr>
              <a:t>s</a:t>
            </a:r>
          </a:p>
        </p:txBody>
      </p:sp>
      <p:sp>
        <p:nvSpPr>
          <p:cNvPr id="64543" name="AutoShape 29"/>
          <p:cNvSpPr>
            <a:spLocks noChangeArrowheads="1"/>
          </p:cNvSpPr>
          <p:nvPr/>
        </p:nvSpPr>
        <p:spPr bwMode="auto">
          <a:xfrm>
            <a:off x="7315200" y="3352800"/>
            <a:ext cx="1524000" cy="635000"/>
          </a:xfrm>
          <a:prstGeom prst="wedgeRoundRectCallout">
            <a:avLst>
              <a:gd name="adj1" fmla="val -85208"/>
              <a:gd name="adj2" fmla="val 142500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t>完全搭配</a:t>
            </a:r>
          </a:p>
        </p:txBody>
      </p:sp>
    </p:spTree>
    <p:extLst>
      <p:ext uri="{BB962C8B-B14F-4D97-AF65-F5344CB8AC3E}">
        <p14:creationId xmlns:p14="http://schemas.microsoft.com/office/powerpoint/2010/main" val="817114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4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4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9" grpId="0"/>
      <p:bldP spid="64524" grpId="0" animBg="1"/>
      <p:bldP spid="64525" grpId="0" animBg="1"/>
      <p:bldP spid="64526" grpId="0" animBg="1"/>
      <p:bldP spid="64527" grpId="0" animBg="1"/>
      <p:bldP spid="64528" grpId="0" animBg="1"/>
      <p:bldP spid="64529" grpId="0" animBg="1"/>
      <p:bldP spid="64530" grpId="0" animBg="1"/>
      <p:bldP spid="64531" grpId="0" animBg="1"/>
      <p:bldP spid="64532" grpId="0" animBg="1"/>
      <p:bldP spid="64533" grpId="0" animBg="1"/>
      <p:bldP spid="6454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BBCCB9-D329-4B2A-B7BF-C31394E6E16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45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45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D290A7-121B-4C18-B8F4-977914A04D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2.4.4 </a:t>
            </a:r>
            <a:r>
              <a:rPr lang="zh-CN" altLang="en-US" dirty="0"/>
              <a:t>广义笛卡尔积</a:t>
            </a:r>
          </a:p>
        </p:txBody>
      </p:sp>
      <p:sp>
        <p:nvSpPr>
          <p:cNvPr id="64543" name="AutoShape 29"/>
          <p:cNvSpPr>
            <a:spLocks noChangeArrowheads="1"/>
          </p:cNvSpPr>
          <p:nvPr/>
        </p:nvSpPr>
        <p:spPr bwMode="auto">
          <a:xfrm>
            <a:off x="5984631" y="2488797"/>
            <a:ext cx="1524000" cy="762000"/>
          </a:xfrm>
          <a:prstGeom prst="wedgeRoundRectCallout">
            <a:avLst>
              <a:gd name="adj1" fmla="val -85208"/>
              <a:gd name="adj2" fmla="val 142500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t>完全搭配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171E1FC-A841-A524-8872-F107B59ED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822" y="4666932"/>
            <a:ext cx="386275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defTabSz="914400"/>
            <a:r>
              <a:rPr lang="en-US" altLang="en-US" sz="2800" kern="0" dirty="0"/>
              <a:t>Instructor </a:t>
            </a:r>
            <a:r>
              <a:rPr lang="en-US" altLang="zh-CN" sz="2800" kern="0" dirty="0"/>
              <a:t>X </a:t>
            </a:r>
            <a:r>
              <a:rPr lang="en-US" altLang="en-US" sz="2800" kern="0" dirty="0"/>
              <a:t>teaches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C5773435-C01A-1776-7127-CB493682C7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" b="6551"/>
          <a:stretch/>
        </p:blipFill>
        <p:spPr>
          <a:xfrm>
            <a:off x="937372" y="1400908"/>
            <a:ext cx="4572947" cy="4996324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 bwMode="auto">
          <a:xfrm>
            <a:off x="937371" y="1400909"/>
            <a:ext cx="4773315" cy="70919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43" grpId="0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7DDDA9-A465-405A-B4F2-7DC6B89DBE4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0639C1-4A3C-44E1-BA4C-9D2703BA20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82000" cy="468471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连接</a:t>
            </a:r>
            <a:r>
              <a:rPr lang="en-US" altLang="zh-CN" sz="2800" dirty="0">
                <a:solidFill>
                  <a:srgbClr val="FF0000"/>
                </a:solidFill>
              </a:rPr>
              <a:t>(join)</a:t>
            </a:r>
            <a:r>
              <a:rPr lang="zh-CN" altLang="en-US" sz="2800" dirty="0"/>
              <a:t>也称为</a:t>
            </a:r>
            <a:r>
              <a:rPr lang="en-US" altLang="zh-CN" sz="2800" dirty="0">
                <a:solidFill>
                  <a:srgbClr val="FF0000"/>
                </a:solidFill>
              </a:rPr>
              <a:t>θ</a:t>
            </a:r>
            <a:r>
              <a:rPr lang="zh-CN" altLang="en-US" sz="2800" dirty="0">
                <a:solidFill>
                  <a:srgbClr val="FF0000"/>
                </a:solidFill>
              </a:rPr>
              <a:t>连接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r>
              <a:rPr lang="zh-CN" altLang="en-US" sz="2800" dirty="0"/>
              <a:t>它是从两个关系的</a:t>
            </a:r>
            <a:r>
              <a:rPr lang="zh-CN" altLang="en-US" sz="2800" b="1" dirty="0">
                <a:solidFill>
                  <a:srgbClr val="0000FF"/>
                </a:solidFill>
              </a:rPr>
              <a:t>笛卡尔积</a:t>
            </a:r>
            <a:r>
              <a:rPr lang="zh-CN" altLang="en-US" sz="2800" dirty="0"/>
              <a:t>中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选取</a:t>
            </a:r>
            <a:r>
              <a:rPr lang="zh-CN" altLang="en-US" sz="2800" b="1" u="sng" dirty="0"/>
              <a:t>属性间</a:t>
            </a:r>
            <a:r>
              <a:rPr lang="zh-CN" altLang="en-US" sz="2800" b="1" u="sng" dirty="0">
                <a:solidFill>
                  <a:srgbClr val="0000FF"/>
                </a:solidFill>
              </a:rPr>
              <a:t>满足一定条件</a:t>
            </a:r>
            <a:r>
              <a:rPr lang="zh-CN" altLang="en-US" sz="2800" dirty="0"/>
              <a:t>的元组</a:t>
            </a:r>
            <a:r>
              <a:rPr lang="zh-CN" altLang="en-US" sz="2800" dirty="0">
                <a:solidFill>
                  <a:srgbClr val="000080"/>
                </a:solidFill>
              </a:rPr>
              <a:t>。记作：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R     S={</a:t>
            </a:r>
            <a:r>
              <a:rPr lang="en-US" altLang="zh-CN" sz="2800" dirty="0" err="1">
                <a:solidFill>
                  <a:srgbClr val="006600"/>
                </a:solidFill>
              </a:rPr>
              <a:t>t</a:t>
            </a:r>
            <a:r>
              <a:rPr lang="en-US" altLang="zh-CN" sz="4400" baseline="-10000" dirty="0" err="1">
                <a:solidFill>
                  <a:srgbClr val="006600"/>
                </a:solidFill>
              </a:rPr>
              <a:t>r</a:t>
            </a:r>
            <a:r>
              <a:rPr lang="en-US" altLang="zh-CN" sz="4400" baseline="-10000" dirty="0">
                <a:solidFill>
                  <a:srgbClr val="006600"/>
                </a:solidFill>
              </a:rPr>
              <a:t> </a:t>
            </a:r>
            <a:r>
              <a:rPr lang="en-US" altLang="zh-CN" sz="2800" dirty="0" err="1">
                <a:solidFill>
                  <a:srgbClr val="006600"/>
                </a:solidFill>
              </a:rPr>
              <a:t>t</a:t>
            </a:r>
            <a:r>
              <a:rPr lang="en-US" altLang="zh-CN" sz="4400" baseline="-10000" dirty="0" err="1">
                <a:solidFill>
                  <a:srgbClr val="006600"/>
                </a:solidFill>
              </a:rPr>
              <a:t>s</a:t>
            </a:r>
            <a:r>
              <a:rPr lang="en-US" altLang="zh-CN" sz="4400" baseline="-10000" dirty="0">
                <a:solidFill>
                  <a:srgbClr val="006600"/>
                </a:solidFill>
              </a:rPr>
              <a:t> </a:t>
            </a:r>
            <a:r>
              <a:rPr lang="en-US" altLang="zh-CN" sz="4400" baseline="-10000" dirty="0"/>
              <a:t>| </a:t>
            </a:r>
            <a:r>
              <a:rPr lang="en-US" altLang="zh-CN" sz="2800" dirty="0" err="1"/>
              <a:t>t</a:t>
            </a:r>
            <a:r>
              <a:rPr lang="en-US" altLang="zh-CN" sz="4400" baseline="-10000" dirty="0" err="1"/>
              <a:t>r</a:t>
            </a:r>
            <a:r>
              <a:rPr lang="en-US" altLang="zh-CN" sz="4400" baseline="-10000" dirty="0"/>
              <a:t> </a:t>
            </a:r>
            <a:r>
              <a:rPr lang="en-US" altLang="zh-CN" sz="2800" dirty="0"/>
              <a:t>∈R </a:t>
            </a:r>
            <a:r>
              <a:rPr lang="en-US" altLang="zh-CN" sz="2800" dirty="0">
                <a:latin typeface="Times New Roman" pitchFamily="18" charset="0"/>
              </a:rPr>
              <a:t>∧</a:t>
            </a:r>
            <a:r>
              <a:rPr lang="en-US" altLang="zh-CN" sz="2800" dirty="0" err="1"/>
              <a:t>t</a:t>
            </a:r>
            <a:r>
              <a:rPr lang="en-US" altLang="zh-CN" sz="4400" baseline="-10000" dirty="0" err="1"/>
              <a:t>s</a:t>
            </a:r>
            <a:r>
              <a:rPr lang="en-US" altLang="zh-CN" sz="2800" dirty="0" err="1"/>
              <a:t>∈S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Times New Roman" pitchFamily="18" charset="0"/>
              </a:rPr>
              <a:t>∧</a:t>
            </a:r>
            <a:r>
              <a:rPr lang="en-US" altLang="zh-CN" sz="2800" dirty="0">
                <a:solidFill>
                  <a:srgbClr val="000080"/>
                </a:solidFill>
                <a:latin typeface="Times New Roman" pitchFamily="18" charset="0"/>
              </a:rPr>
              <a:t> </a:t>
            </a:r>
            <a:r>
              <a:rPr lang="en-US" altLang="zh-CN" sz="2800" dirty="0" err="1">
                <a:solidFill>
                  <a:srgbClr val="C00000"/>
                </a:solidFill>
              </a:rPr>
              <a:t>t</a:t>
            </a:r>
            <a:r>
              <a:rPr lang="en-US" altLang="zh-CN" sz="4400" baseline="-10000" dirty="0" err="1">
                <a:solidFill>
                  <a:srgbClr val="C00000"/>
                </a:solidFill>
              </a:rPr>
              <a:t>r</a:t>
            </a:r>
            <a:r>
              <a:rPr lang="en-US" altLang="zh-CN" sz="4400" baseline="-10000" dirty="0">
                <a:solidFill>
                  <a:srgbClr val="C00000"/>
                </a:solidFill>
              </a:rPr>
              <a:t>[A]</a:t>
            </a:r>
            <a:r>
              <a:rPr lang="en-US" altLang="zh-CN" sz="2800" baseline="-10000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θ</a:t>
            </a:r>
            <a:r>
              <a:rPr lang="en-US" altLang="zh-CN" sz="4400" baseline="-10000" dirty="0">
                <a:solidFill>
                  <a:srgbClr val="C00000"/>
                </a:solidFill>
              </a:rPr>
              <a:t> </a:t>
            </a:r>
            <a:r>
              <a:rPr lang="en-US" altLang="zh-CN" sz="2800" dirty="0" err="1">
                <a:solidFill>
                  <a:srgbClr val="C00000"/>
                </a:solidFill>
              </a:rPr>
              <a:t>t</a:t>
            </a:r>
            <a:r>
              <a:rPr lang="en-US" altLang="zh-CN" sz="4400" baseline="-10000" dirty="0" err="1">
                <a:solidFill>
                  <a:srgbClr val="C00000"/>
                </a:solidFill>
              </a:rPr>
              <a:t>s</a:t>
            </a:r>
            <a:r>
              <a:rPr lang="en-US" altLang="zh-CN" sz="4400" baseline="-10000" dirty="0">
                <a:solidFill>
                  <a:srgbClr val="C00000"/>
                </a:solidFill>
              </a:rPr>
              <a:t>[B]</a:t>
            </a:r>
            <a:r>
              <a:rPr lang="en-US" altLang="zh-CN" sz="2800" dirty="0"/>
              <a:t>}</a:t>
            </a:r>
          </a:p>
          <a:p>
            <a:pPr lvl="1" eaLnBrk="1" hangingPunct="1">
              <a:spcBef>
                <a:spcPct val="50000"/>
              </a:spcBef>
            </a:pP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分别为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上</a:t>
            </a:r>
            <a:r>
              <a:rPr lang="zh-CN" altLang="en-US" b="1" u="sng" dirty="0">
                <a:solidFill>
                  <a:srgbClr val="C00000"/>
                </a:solidFill>
              </a:rPr>
              <a:t>度数相等</a:t>
            </a:r>
            <a:r>
              <a:rPr lang="zh-CN" altLang="en-US" b="1" u="sng" dirty="0"/>
              <a:t>且</a:t>
            </a:r>
            <a:r>
              <a:rPr lang="zh-CN" altLang="en-US" b="1" u="sng" dirty="0">
                <a:solidFill>
                  <a:srgbClr val="C00000"/>
                </a:solidFill>
              </a:rPr>
              <a:t>可比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属性组。</a:t>
            </a:r>
            <a:r>
              <a:rPr lang="en-US" altLang="zh-CN" dirty="0">
                <a:solidFill>
                  <a:srgbClr val="0000FF"/>
                </a:solidFill>
              </a:rPr>
              <a:t>θ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00000"/>
                </a:solidFill>
              </a:rPr>
              <a:t>比较运算符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dirty="0"/>
              <a:t>连接运算从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zh-CN" altLang="en-US" dirty="0"/>
              <a:t>的笛卡尔积</a:t>
            </a:r>
            <a:r>
              <a:rPr lang="en-US" altLang="zh-CN" dirty="0"/>
              <a:t>R×S</a:t>
            </a:r>
            <a:r>
              <a:rPr lang="zh-CN" altLang="en-US" dirty="0"/>
              <a:t>中选取（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zh-CN" altLang="en-US" dirty="0">
                <a:solidFill>
                  <a:srgbClr val="0000FF"/>
                </a:solidFill>
              </a:rPr>
              <a:t>关系）在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属性组上的值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S</a:t>
            </a:r>
            <a:r>
              <a:rPr lang="zh-CN" altLang="en-US" dirty="0">
                <a:solidFill>
                  <a:srgbClr val="0000FF"/>
                </a:solidFill>
              </a:rPr>
              <a:t>关系）</a:t>
            </a:r>
            <a:r>
              <a:rPr lang="zh-CN" altLang="en-US" dirty="0"/>
              <a:t>在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属性组上值</a:t>
            </a:r>
            <a:r>
              <a:rPr lang="zh-CN" altLang="en-US" b="1" dirty="0">
                <a:solidFill>
                  <a:srgbClr val="FF0000"/>
                </a:solidFill>
              </a:rPr>
              <a:t>满足</a:t>
            </a:r>
            <a:r>
              <a:rPr lang="zh-CN" altLang="en-US" dirty="0">
                <a:solidFill>
                  <a:srgbClr val="0000FF"/>
                </a:solidFill>
              </a:rPr>
              <a:t>比较关系</a:t>
            </a:r>
            <a:r>
              <a:rPr lang="en-US" altLang="zh-CN" dirty="0">
                <a:solidFill>
                  <a:srgbClr val="0000FF"/>
                </a:solidFill>
              </a:rPr>
              <a:t>θ</a:t>
            </a:r>
            <a:r>
              <a:rPr lang="zh-CN" altLang="en-US" dirty="0"/>
              <a:t>的元组。</a:t>
            </a:r>
          </a:p>
        </p:txBody>
      </p:sp>
      <p:sp>
        <p:nvSpPr>
          <p:cNvPr id="88071" name="AutoShape 4"/>
          <p:cNvSpPr>
            <a:spLocks noChangeArrowheads="1"/>
          </p:cNvSpPr>
          <p:nvPr/>
        </p:nvSpPr>
        <p:spPr bwMode="auto">
          <a:xfrm rot="5400000">
            <a:off x="1181100" y="2476500"/>
            <a:ext cx="228600" cy="4572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8072" name="Arc 5"/>
          <p:cNvSpPr>
            <a:spLocks/>
          </p:cNvSpPr>
          <p:nvPr/>
        </p:nvSpPr>
        <p:spPr bwMode="auto">
          <a:xfrm rot="-2750926">
            <a:off x="2286000" y="2362200"/>
            <a:ext cx="304800" cy="304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1890" y="2706889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AθB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ahoma"/>
              <a:ea typeface="宋体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7310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8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8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8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8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8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1" grpId="0" animBg="1"/>
      <p:bldP spid="88071" grpId="1" animBg="1"/>
      <p:bldP spid="88072" grpId="0" animBg="1"/>
      <p:bldP spid="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7DDDA9-A465-405A-B4F2-7DC6B89DBE4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0639C1-4A3C-44E1-BA4C-9D2703BA20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464062" cy="468471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连接</a:t>
            </a:r>
            <a:r>
              <a:rPr lang="zh-CN" altLang="en-US" sz="2800" dirty="0"/>
              <a:t>也称为</a:t>
            </a:r>
            <a:r>
              <a:rPr lang="en-US" altLang="zh-CN" sz="2800" dirty="0">
                <a:solidFill>
                  <a:srgbClr val="FF0000"/>
                </a:solidFill>
              </a:rPr>
              <a:t>θ</a:t>
            </a:r>
            <a:r>
              <a:rPr lang="zh-CN" altLang="en-US" sz="2800" dirty="0">
                <a:solidFill>
                  <a:srgbClr val="FF0000"/>
                </a:solidFill>
              </a:rPr>
              <a:t>连接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r>
              <a:rPr lang="zh-CN" altLang="en-US" sz="2800" dirty="0"/>
              <a:t>它是从两个关系的</a:t>
            </a:r>
            <a:r>
              <a:rPr lang="zh-CN" altLang="en-US" sz="2800" b="1" u="sng" dirty="0">
                <a:solidFill>
                  <a:srgbClr val="0000FF"/>
                </a:solidFill>
              </a:rPr>
              <a:t>笛卡尔积</a:t>
            </a:r>
            <a:r>
              <a:rPr lang="zh-CN" altLang="en-US" sz="2800" u="sng" dirty="0"/>
              <a:t>中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选取</a:t>
            </a:r>
            <a:r>
              <a:rPr lang="zh-CN" altLang="en-US" sz="2800" b="1" u="sng" dirty="0"/>
              <a:t>属性间</a:t>
            </a:r>
            <a:r>
              <a:rPr lang="zh-CN" altLang="en-US" sz="2800" b="1" u="sng" dirty="0">
                <a:solidFill>
                  <a:srgbClr val="0000FF"/>
                </a:solidFill>
              </a:rPr>
              <a:t>满足一定条件</a:t>
            </a:r>
            <a:r>
              <a:rPr lang="zh-CN" altLang="en-US" sz="2800" dirty="0"/>
              <a:t>的元组。</a:t>
            </a:r>
            <a:r>
              <a:rPr lang="zh-CN" altLang="en-US" sz="2800" dirty="0">
                <a:solidFill>
                  <a:srgbClr val="000080"/>
                </a:solidFill>
              </a:rPr>
              <a:t>记作：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R     S={</a:t>
            </a:r>
            <a:r>
              <a:rPr lang="en-US" altLang="zh-CN" sz="2800" dirty="0">
                <a:solidFill>
                  <a:srgbClr val="FF0000"/>
                </a:solidFill>
              </a:rPr>
              <a:t>t</a:t>
            </a:r>
            <a:r>
              <a:rPr lang="en-US" altLang="zh-CN" sz="4400" baseline="-10000" dirty="0">
                <a:solidFill>
                  <a:srgbClr val="FF0000"/>
                </a:solidFill>
              </a:rPr>
              <a:t>r </a:t>
            </a:r>
            <a:r>
              <a:rPr lang="en-US" altLang="zh-CN" sz="2800" dirty="0" err="1">
                <a:solidFill>
                  <a:srgbClr val="FF0000"/>
                </a:solidFill>
              </a:rPr>
              <a:t>t</a:t>
            </a:r>
            <a:r>
              <a:rPr lang="en-US" altLang="zh-CN" sz="4400" baseline="-10000" dirty="0" err="1">
                <a:solidFill>
                  <a:srgbClr val="FF0000"/>
                </a:solidFill>
              </a:rPr>
              <a:t>s</a:t>
            </a:r>
            <a:r>
              <a:rPr lang="en-US" altLang="zh-CN" sz="4400" baseline="-10000" dirty="0">
                <a:solidFill>
                  <a:srgbClr val="FF0000"/>
                </a:solidFill>
              </a:rPr>
              <a:t> </a:t>
            </a:r>
            <a:r>
              <a:rPr lang="en-US" altLang="zh-CN" sz="4400" baseline="-10000" dirty="0"/>
              <a:t>| </a:t>
            </a:r>
            <a:r>
              <a:rPr lang="en-US" altLang="zh-CN" sz="2800" dirty="0"/>
              <a:t>t</a:t>
            </a:r>
            <a:r>
              <a:rPr lang="en-US" altLang="zh-CN" sz="4400" baseline="-10000" dirty="0"/>
              <a:t>r </a:t>
            </a:r>
            <a:r>
              <a:rPr lang="en-US" altLang="zh-CN" sz="2800" dirty="0"/>
              <a:t>∈R </a:t>
            </a:r>
            <a:r>
              <a:rPr lang="en-US" altLang="zh-CN" sz="2800" dirty="0">
                <a:highlight>
                  <a:srgbClr val="FFFF00"/>
                </a:highlight>
                <a:latin typeface="Times New Roman" pitchFamily="18" charset="0"/>
              </a:rPr>
              <a:t>∧</a:t>
            </a:r>
            <a:r>
              <a:rPr lang="en-US" altLang="zh-CN" sz="2800" dirty="0" err="1"/>
              <a:t>t</a:t>
            </a:r>
            <a:r>
              <a:rPr lang="en-US" altLang="zh-CN" sz="4400" baseline="-10000" dirty="0" err="1"/>
              <a:t>s</a:t>
            </a:r>
            <a:r>
              <a:rPr lang="en-US" altLang="zh-CN" sz="2800" dirty="0" err="1"/>
              <a:t>∈S</a:t>
            </a:r>
            <a:r>
              <a:rPr lang="en-US" altLang="zh-CN" sz="2800" dirty="0"/>
              <a:t> </a:t>
            </a:r>
            <a:r>
              <a:rPr lang="en-US" altLang="zh-CN" sz="2800" dirty="0">
                <a:highlight>
                  <a:srgbClr val="FFFF00"/>
                </a:highlight>
                <a:latin typeface="Times New Roman" pitchFamily="18" charset="0"/>
              </a:rPr>
              <a:t>∧</a:t>
            </a:r>
            <a:r>
              <a:rPr lang="en-US" altLang="zh-CN" sz="2800" dirty="0">
                <a:solidFill>
                  <a:srgbClr val="00008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t</a:t>
            </a:r>
            <a:r>
              <a:rPr lang="en-US" altLang="zh-CN" sz="4400" baseline="-10000" dirty="0">
                <a:solidFill>
                  <a:srgbClr val="C00000"/>
                </a:solidFill>
              </a:rPr>
              <a:t>r[A]</a:t>
            </a:r>
            <a:r>
              <a:rPr lang="en-US" altLang="zh-CN" sz="2800" baseline="-10000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θ</a:t>
            </a:r>
            <a:r>
              <a:rPr lang="en-US" altLang="zh-CN" sz="4400" baseline="-10000" dirty="0">
                <a:solidFill>
                  <a:srgbClr val="C00000"/>
                </a:solidFill>
              </a:rPr>
              <a:t> </a:t>
            </a:r>
            <a:r>
              <a:rPr lang="en-US" altLang="zh-CN" sz="2800" dirty="0" err="1">
                <a:solidFill>
                  <a:srgbClr val="C00000"/>
                </a:solidFill>
              </a:rPr>
              <a:t>t</a:t>
            </a:r>
            <a:r>
              <a:rPr lang="en-US" altLang="zh-CN" sz="4400" baseline="-10000" dirty="0" err="1">
                <a:solidFill>
                  <a:srgbClr val="C00000"/>
                </a:solidFill>
              </a:rPr>
              <a:t>s</a:t>
            </a:r>
            <a:r>
              <a:rPr lang="en-US" altLang="zh-CN" sz="4400" baseline="-10000" dirty="0">
                <a:solidFill>
                  <a:srgbClr val="C00000"/>
                </a:solidFill>
              </a:rPr>
              <a:t>[B]</a:t>
            </a:r>
            <a:r>
              <a:rPr lang="en-US" altLang="zh-CN" sz="2800" dirty="0"/>
              <a:t>}</a:t>
            </a:r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600" dirty="0"/>
              <a:t>实际上，连接运算把</a:t>
            </a:r>
            <a:r>
              <a:rPr lang="zh-CN" altLang="en-US" sz="2600" dirty="0">
                <a:solidFill>
                  <a:srgbClr val="0000FF"/>
                </a:solidFill>
              </a:rPr>
              <a:t>选择和笛卡尔积</a:t>
            </a:r>
            <a:r>
              <a:rPr lang="zh-CN" altLang="en-US" sz="2600" dirty="0"/>
              <a:t>合并到</a:t>
            </a:r>
            <a:r>
              <a:rPr lang="zh-CN" altLang="en-US" sz="2600" dirty="0">
                <a:solidFill>
                  <a:srgbClr val="0000FF"/>
                </a:solidFill>
              </a:rPr>
              <a:t>单个运算</a:t>
            </a:r>
            <a:r>
              <a:rPr lang="zh-CN" altLang="en-US" sz="2600" dirty="0"/>
              <a:t>中。</a:t>
            </a:r>
          </a:p>
        </p:txBody>
      </p:sp>
      <p:sp>
        <p:nvSpPr>
          <p:cNvPr id="88071" name="AutoShape 4"/>
          <p:cNvSpPr>
            <a:spLocks noChangeArrowheads="1"/>
          </p:cNvSpPr>
          <p:nvPr/>
        </p:nvSpPr>
        <p:spPr bwMode="auto">
          <a:xfrm rot="5400000">
            <a:off x="1181100" y="2476500"/>
            <a:ext cx="228600" cy="4572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8072" name="Arc 5"/>
          <p:cNvSpPr>
            <a:spLocks/>
          </p:cNvSpPr>
          <p:nvPr/>
        </p:nvSpPr>
        <p:spPr bwMode="auto">
          <a:xfrm rot="-2750926">
            <a:off x="2286000" y="2362200"/>
            <a:ext cx="304800" cy="3048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1890" y="2706889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AθB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宋体"/>
              <a:cs typeface="Arial" charset="0"/>
            </a:endParaRPr>
          </a:p>
        </p:txBody>
      </p:sp>
      <p:grpSp>
        <p:nvGrpSpPr>
          <p:cNvPr id="10" name="Group 44"/>
          <p:cNvGrpSpPr>
            <a:grpSpLocks/>
          </p:cNvGrpSpPr>
          <p:nvPr/>
        </p:nvGrpSpPr>
        <p:grpSpPr bwMode="auto">
          <a:xfrm>
            <a:off x="2147887" y="3076221"/>
            <a:ext cx="5486400" cy="2286000"/>
            <a:chOff x="1728" y="1632"/>
            <a:chExt cx="3456" cy="1440"/>
          </a:xfrm>
        </p:grpSpPr>
        <p:grpSp>
          <p:nvGrpSpPr>
            <p:cNvPr id="11" name="Group 18"/>
            <p:cNvGrpSpPr>
              <a:grpSpLocks/>
            </p:cNvGrpSpPr>
            <p:nvPr/>
          </p:nvGrpSpPr>
          <p:grpSpPr bwMode="auto"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33" name="Rectangle 5"/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Rectangle 6" descr="浅色下对角线"/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" name="Rectangle 7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7" name="Rectangle 9"/>
              <p:cNvSpPr>
                <a:spLocks noChangeArrowheads="1"/>
              </p:cNvSpPr>
              <p:nvPr/>
            </p:nvSpPr>
            <p:spPr bwMode="auto"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8" name="Rectangle 10" descr="浅色下对角线"/>
              <p:cNvSpPr>
                <a:spLocks noChangeArrowheads="1"/>
              </p:cNvSpPr>
              <p:nvPr/>
            </p:nvSpPr>
            <p:spPr bwMode="auto">
              <a:xfrm>
                <a:off x="1536" y="2016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9" name="Rectangle 11"/>
              <p:cNvSpPr>
                <a:spLocks noChangeArrowheads="1"/>
              </p:cNvSpPr>
              <p:nvPr/>
            </p:nvSpPr>
            <p:spPr bwMode="auto"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0" name="Rectangle 12" descr="浅色下对角线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2" name="AutoShape 16"/>
            <p:cNvSpPr>
              <a:spLocks noChangeArrowheads="1"/>
            </p:cNvSpPr>
            <p:nvPr/>
          </p:nvSpPr>
          <p:spPr bwMode="auto"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13" name="Group 27"/>
            <p:cNvGrpSpPr>
              <a:grpSpLocks/>
            </p:cNvGrpSpPr>
            <p:nvPr/>
          </p:nvGrpSpPr>
          <p:grpSpPr bwMode="auto"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29" name="Rectangle 19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" name="Rectangle 20" descr="浅色下对角线"/>
              <p:cNvSpPr>
                <a:spLocks noChangeArrowheads="1"/>
              </p:cNvSpPr>
              <p:nvPr/>
            </p:nvSpPr>
            <p:spPr bwMode="auto">
              <a:xfrm>
                <a:off x="1536" y="2640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" name="Rectangle 21"/>
              <p:cNvSpPr>
                <a:spLocks noChangeArrowheads="1"/>
              </p:cNvSpPr>
              <p:nvPr/>
            </p:nvSpPr>
            <p:spPr bwMode="auto"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Rectangle 23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14" name="Group 43"/>
            <p:cNvGrpSpPr>
              <a:grpSpLocks/>
            </p:cNvGrpSpPr>
            <p:nvPr/>
          </p:nvGrpSpPr>
          <p:grpSpPr bwMode="auto"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25" name="Group 29"/>
              <p:cNvGrpSpPr>
                <a:grpSpLocks/>
              </p:cNvGrpSpPr>
              <p:nvPr/>
            </p:nvGrpSpPr>
            <p:grpSpPr bwMode="auto"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27" name="AutoShape 30"/>
                <p:cNvSpPr>
                  <a:spLocks noChangeArrowheads="1"/>
                </p:cNvSpPr>
                <p:nvPr/>
              </p:nvSpPr>
              <p:spPr bwMode="auto"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1pPr>
                  <a:lvl2pPr marL="742950" indent="-28575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2pPr>
                  <a:lvl3pPr marL="11430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3pPr>
                  <a:lvl4pPr marL="16002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4pPr>
                  <a:lvl5pPr marL="20574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itchFamily="2" charset="2"/>
                    <a:buNone/>
                    <a:tabLst/>
                    <a:defRPr/>
                  </a:pPr>
                  <a:endParaRPr kumimoji="0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8" name="Text Box 31"/>
                <p:cNvSpPr txBox="1">
                  <a:spLocks noChangeArrowheads="1"/>
                </p:cNvSpPr>
                <p:nvPr/>
              </p:nvSpPr>
              <p:spPr bwMode="auto"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1pPr>
                  <a:lvl2pPr marL="742950" indent="-28575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2pPr>
                  <a:lvl3pPr marL="11430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3pPr>
                  <a:lvl4pPr marL="16002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4pPr>
                  <a:lvl5pPr marL="20574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itchFamily="2" charset="2"/>
                    <a:buNone/>
                    <a:tabLst/>
                    <a:defRPr/>
                  </a:pPr>
                  <a:endParaRPr kumimoji="0" lang="zh-CN" altLang="zh-CN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6" name="Rectangle 32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576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 </a:t>
                </a:r>
                <a:r>
                  <a:rPr kumimoji="0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A</a:t>
                </a:r>
                <a:r>
                  <a:rPr kumimoji="0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θ</a:t>
                </a:r>
                <a:r>
                  <a:rPr kumimoji="0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B</a:t>
                </a:r>
                <a:endPara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5" name="AutoShape 33"/>
            <p:cNvSpPr>
              <a:spLocks noChangeArrowheads="1"/>
            </p:cNvSpPr>
            <p:nvPr/>
          </p:nvSpPr>
          <p:spPr bwMode="auto"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16" name="Group 39"/>
            <p:cNvGrpSpPr>
              <a:grpSpLocks/>
            </p:cNvGrpSpPr>
            <p:nvPr/>
          </p:nvGrpSpPr>
          <p:grpSpPr bwMode="auto"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19" name="Rectangle 13" descr="浅色下对角线"/>
              <p:cNvSpPr>
                <a:spLocks noChangeArrowheads="1"/>
              </p:cNvSpPr>
              <p:nvPr/>
            </p:nvSpPr>
            <p:spPr bwMode="auto">
              <a:xfrm>
                <a:off x="3216" y="2544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" name="Rectangle 14" descr="浅色下对角线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1" name="Rectangle 15" descr="浅色下对角线"/>
              <p:cNvSpPr>
                <a:spLocks noChangeArrowheads="1"/>
              </p:cNvSpPr>
              <p:nvPr/>
            </p:nvSpPr>
            <p:spPr bwMode="auto">
              <a:xfrm>
                <a:off x="3216" y="2352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" name="Rectangle 35" descr="浅色下对角线"/>
              <p:cNvSpPr>
                <a:spLocks noChangeArrowheads="1"/>
              </p:cNvSpPr>
              <p:nvPr/>
            </p:nvSpPr>
            <p:spPr bwMode="auto">
              <a:xfrm>
                <a:off x="4128" y="2352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" name="Rectangle 36" descr="浅色下对角线"/>
              <p:cNvSpPr>
                <a:spLocks noChangeArrowheads="1"/>
              </p:cNvSpPr>
              <p:nvPr/>
            </p:nvSpPr>
            <p:spPr bwMode="auto">
              <a:xfrm>
                <a:off x="4128" y="2448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Rectangle 37" descr="浅色下对角线"/>
              <p:cNvSpPr>
                <a:spLocks noChangeArrowheads="1"/>
              </p:cNvSpPr>
              <p:nvPr/>
            </p:nvSpPr>
            <p:spPr bwMode="auto">
              <a:xfrm>
                <a:off x="4128" y="2544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7" name="Text Box 40"/>
            <p:cNvSpPr txBox="1">
              <a:spLocks noChangeArrowheads="1"/>
            </p:cNvSpPr>
            <p:nvPr/>
          </p:nvSpPr>
          <p:spPr bwMode="auto">
            <a:xfrm>
              <a:off x="1728" y="1632"/>
              <a:ext cx="28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R</a:t>
              </a:r>
            </a:p>
          </p:txBody>
        </p:sp>
        <p:sp>
          <p:nvSpPr>
            <p:cNvPr id="18" name="Text Box 41"/>
            <p:cNvSpPr txBox="1">
              <a:spLocks noChangeArrowheads="1"/>
            </p:cNvSpPr>
            <p:nvPr/>
          </p:nvSpPr>
          <p:spPr bwMode="auto">
            <a:xfrm>
              <a:off x="1920" y="2688"/>
              <a:ext cx="28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8972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7DDDA9-A465-405A-B4F2-7DC6B89DBE4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80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0639C1-4A3C-44E1-BA4C-9D2703BA20B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64769" cy="4684713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实际上，连接运算把选择和笛卡尔积合并到单个运算中。所以：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      R     </a:t>
            </a:r>
            <a:r>
              <a:rPr kumimoji="0" lang="en-US" altLang="zh-CN" sz="2800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θ</a:t>
            </a:r>
            <a:r>
              <a:rPr lang="en-US" altLang="zh-CN" sz="2800" dirty="0"/>
              <a:t>S=</a:t>
            </a:r>
            <a:r>
              <a:rPr lang="en-US" altLang="zh-CN" sz="2800" dirty="0">
                <a:solidFill>
                  <a:schemeClr val="tx2"/>
                </a:solidFill>
              </a:rPr>
              <a:t>σ</a:t>
            </a:r>
            <a:r>
              <a:rPr kumimoji="0" lang="en-US" altLang="zh-CN" sz="2800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θ</a:t>
            </a:r>
            <a:r>
              <a:rPr kumimoji="0" lang="en-US" altLang="zh-CN" sz="2800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(R</a:t>
            </a:r>
            <a:r>
              <a:rPr lang="en-US" altLang="zh-CN" sz="2800" dirty="0">
                <a:solidFill>
                  <a:srgbClr val="0000FF"/>
                </a:solidFill>
              </a:rPr>
              <a:t> × </a:t>
            </a:r>
            <a:r>
              <a:rPr kumimoji="0" lang="en-US" altLang="zh-CN" sz="2800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S)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kern="12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教材</a:t>
            </a:r>
            <a:r>
              <a:rPr lang="en-US" altLang="zh-CN" sz="2800" kern="12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p157</a:t>
            </a:r>
            <a:r>
              <a:rPr lang="zh-CN" altLang="en-US" sz="2800" kern="12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，查询所有老师及他们讲授的所有课程的信息。</a:t>
            </a:r>
            <a:endParaRPr lang="en-US" altLang="zh-CN" sz="2800" kern="1200" dirty="0">
              <a:solidFill>
                <a:schemeClr val="tx2"/>
              </a:solidFill>
              <a:latin typeface="Tahoma"/>
              <a:ea typeface="宋体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kern="12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       </a:t>
            </a:r>
            <a:r>
              <a:rPr lang="en-US" altLang="zh-CN" sz="2800" kern="1200" dirty="0">
                <a:latin typeface="Tahoma"/>
                <a:ea typeface="宋体"/>
                <a:cs typeface="Arial" charset="0"/>
              </a:rPr>
              <a:t>instructor</a:t>
            </a:r>
            <a:r>
              <a:rPr lang="en-US" altLang="zh-CN" sz="2800" kern="12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      </a:t>
            </a:r>
            <a:r>
              <a:rPr lang="en-US" altLang="zh-CN" sz="2800" kern="1200" baseline="-250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instructor.id = teaches.id </a:t>
            </a:r>
            <a:r>
              <a:rPr lang="en-US" altLang="zh-CN" sz="2800" kern="1200" dirty="0">
                <a:latin typeface="Tahoma"/>
                <a:ea typeface="宋体"/>
                <a:cs typeface="Arial" charset="0"/>
              </a:rPr>
              <a:t>teaches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kern="1200" dirty="0">
              <a:solidFill>
                <a:schemeClr val="tx2"/>
              </a:solidFill>
              <a:latin typeface="Tahoma"/>
              <a:ea typeface="宋体"/>
              <a:cs typeface="Arial" charset="0"/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      σ</a:t>
            </a:r>
            <a:r>
              <a:rPr lang="en-US" altLang="zh-CN" sz="2800" kern="1200" baseline="-25000" dirty="0">
                <a:solidFill>
                  <a:schemeClr val="tx2"/>
                </a:solidFill>
                <a:latin typeface="Tahoma"/>
                <a:ea typeface="宋体"/>
                <a:cs typeface="Arial" charset="0"/>
              </a:rPr>
              <a:t> instructor.id = teaches.id </a:t>
            </a:r>
            <a:r>
              <a:rPr kumimoji="0" lang="en-US" altLang="zh-CN" sz="2800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(</a:t>
            </a:r>
            <a:r>
              <a:rPr lang="en-US" altLang="zh-CN" sz="2800" kern="1200" dirty="0">
                <a:latin typeface="Tahoma"/>
                <a:ea typeface="宋体"/>
                <a:cs typeface="Arial" charset="0"/>
              </a:rPr>
              <a:t>instructor</a:t>
            </a:r>
            <a:r>
              <a:rPr lang="en-US" altLang="zh-CN" sz="2800" dirty="0">
                <a:solidFill>
                  <a:srgbClr val="0000FF"/>
                </a:solidFill>
              </a:rPr>
              <a:t> × </a:t>
            </a:r>
            <a:r>
              <a:rPr lang="en-US" altLang="zh-CN" sz="2800" kern="1200" dirty="0">
                <a:latin typeface="Tahoma"/>
                <a:ea typeface="宋体"/>
                <a:cs typeface="Arial" charset="0"/>
              </a:rPr>
              <a:t>teaches</a:t>
            </a:r>
            <a:r>
              <a:rPr kumimoji="0" lang="en-US" altLang="zh-CN" sz="2800" i="0" u="none" strike="noStrike" kern="1200" cap="none" spc="0" normalizeH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kern="1200" dirty="0">
              <a:solidFill>
                <a:schemeClr val="tx2"/>
              </a:solidFill>
              <a:latin typeface="Tahoma"/>
              <a:ea typeface="宋体"/>
              <a:cs typeface="Arial" charset="0"/>
            </a:endParaRPr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</p:txBody>
      </p:sp>
      <p:sp>
        <p:nvSpPr>
          <p:cNvPr id="88071" name="AutoShape 4"/>
          <p:cNvSpPr>
            <a:spLocks noChangeArrowheads="1"/>
          </p:cNvSpPr>
          <p:nvPr/>
        </p:nvSpPr>
        <p:spPr bwMode="auto">
          <a:xfrm rot="5400000">
            <a:off x="2461477" y="2432929"/>
            <a:ext cx="228600" cy="4572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DEB8DA6-64FD-2947-FCE3-85F9DF60027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20237" y="3904021"/>
            <a:ext cx="228600" cy="4572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3" name="箭头: 上下 2">
            <a:extLst>
              <a:ext uri="{FF2B5EF4-FFF2-40B4-BE49-F238E27FC236}">
                <a16:creationId xmlns:a16="http://schemas.microsoft.com/office/drawing/2014/main" id="{82AD102B-0C93-356C-356B-99E0A5D6A960}"/>
              </a:ext>
            </a:extLst>
          </p:cNvPr>
          <p:cNvSpPr/>
          <p:nvPr/>
        </p:nvSpPr>
        <p:spPr bwMode="auto">
          <a:xfrm>
            <a:off x="4572000" y="4427620"/>
            <a:ext cx="318837" cy="547438"/>
          </a:xfrm>
          <a:prstGeom prst="upDownArrow">
            <a:avLst>
              <a:gd name="adj1" fmla="val 21764"/>
              <a:gd name="adj2" fmla="val 38235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tabLst/>
            </a:pPr>
            <a:endParaRPr kumimoji="0" lang="zh-CN" altLang="en-US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F637AF-A447-FE1D-3443-A7D75B7E637B}"/>
              </a:ext>
            </a:extLst>
          </p:cNvPr>
          <p:cNvSpPr txBox="1"/>
          <p:nvPr/>
        </p:nvSpPr>
        <p:spPr>
          <a:xfrm>
            <a:off x="4890837" y="45166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等价</a:t>
            </a:r>
          </a:p>
        </p:txBody>
      </p:sp>
    </p:spTree>
    <p:extLst>
      <p:ext uri="{BB962C8B-B14F-4D97-AF65-F5344CB8AC3E}">
        <p14:creationId xmlns:p14="http://schemas.microsoft.com/office/powerpoint/2010/main" val="4212052655"/>
      </p:ext>
    </p:ext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1FC01F-F7CA-4C55-85A1-57A9BC6B826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01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01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975839-8E61-4D04-882E-9D0E84E6B45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连接运算中有</a:t>
            </a:r>
            <a:r>
              <a:rPr lang="zh-CN" altLang="en-US" sz="2800" dirty="0">
                <a:solidFill>
                  <a:srgbClr val="0000FF"/>
                </a:solidFill>
              </a:rPr>
              <a:t>两种最为重要也最为常用</a:t>
            </a:r>
            <a:r>
              <a:rPr lang="zh-CN" altLang="en-US" sz="2800" dirty="0"/>
              <a:t>的连接，一种是</a:t>
            </a:r>
            <a:r>
              <a:rPr lang="zh-CN" altLang="en-US" sz="2800" b="1" dirty="0">
                <a:solidFill>
                  <a:srgbClr val="C00000"/>
                </a:solidFill>
              </a:rPr>
              <a:t>等值连接</a:t>
            </a:r>
            <a:r>
              <a:rPr lang="zh-CN" altLang="en-US" sz="2800" dirty="0"/>
              <a:t>（</a:t>
            </a:r>
            <a:r>
              <a:rPr lang="en-US" altLang="zh-CN" sz="2800" dirty="0"/>
              <a:t>equijoin</a:t>
            </a:r>
            <a:r>
              <a:rPr lang="zh-CN" altLang="en-US" sz="2800" dirty="0"/>
              <a:t>），另一种是</a:t>
            </a:r>
            <a:r>
              <a:rPr lang="zh-CN" altLang="en-US" sz="2800" b="1" dirty="0">
                <a:solidFill>
                  <a:srgbClr val="C00000"/>
                </a:solidFill>
              </a:rPr>
              <a:t>自然连接</a:t>
            </a:r>
            <a:r>
              <a:rPr lang="zh-CN" altLang="en-US" sz="2800" dirty="0"/>
              <a:t>（</a:t>
            </a:r>
            <a:r>
              <a:rPr lang="en-US" altLang="zh-CN" sz="2800" dirty="0"/>
              <a:t>Natural join</a:t>
            </a:r>
            <a:r>
              <a:rPr lang="zh-CN" altLang="en-US" sz="2800" dirty="0"/>
              <a:t>）。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900" dirty="0"/>
          </a:p>
          <a:p>
            <a:pPr lvl="1" eaLnBrk="1" hangingPunct="1">
              <a:lnSpc>
                <a:spcPct val="114000"/>
              </a:lnSpc>
              <a:defRPr/>
            </a:pPr>
            <a:r>
              <a:rPr lang="en-US" altLang="zh-CN" sz="2400" dirty="0"/>
              <a:t>θ</a:t>
            </a:r>
            <a:r>
              <a:rPr lang="zh-CN" altLang="en-US" sz="2400" dirty="0"/>
              <a:t>为</a:t>
            </a:r>
            <a:r>
              <a:rPr lang="zh-CN" altLang="en-US" sz="2400" dirty="0">
                <a:latin typeface="Arial" charset="0"/>
              </a:rPr>
              <a:t>“</a:t>
            </a:r>
            <a:r>
              <a:rPr lang="zh-CN" altLang="en-US" sz="2400" b="1" dirty="0">
                <a:solidFill>
                  <a:srgbClr val="C00000"/>
                </a:solidFill>
              </a:rPr>
              <a:t>＝</a:t>
            </a:r>
            <a:r>
              <a:rPr lang="zh-CN" altLang="en-US" sz="2400" dirty="0">
                <a:latin typeface="Arial" charset="0"/>
              </a:rPr>
              <a:t>”</a:t>
            </a:r>
            <a:r>
              <a:rPr lang="zh-CN" altLang="en-US" sz="2400" dirty="0"/>
              <a:t>的连接运算称为</a:t>
            </a:r>
            <a:r>
              <a:rPr lang="zh-CN" altLang="en-US" sz="2400" dirty="0">
                <a:solidFill>
                  <a:srgbClr val="CC0000"/>
                </a:solidFill>
              </a:rPr>
              <a:t>等值连接</a:t>
            </a:r>
            <a:r>
              <a:rPr lang="zh-CN" altLang="en-US" sz="2400" dirty="0"/>
              <a:t>（</a:t>
            </a:r>
            <a:r>
              <a:rPr lang="en-US" altLang="zh-CN" sz="2400" dirty="0"/>
              <a:t>equijoin</a:t>
            </a:r>
            <a:r>
              <a:rPr lang="zh-CN" altLang="en-US" sz="2400" dirty="0"/>
              <a:t>）。它是从关系</a:t>
            </a:r>
            <a:r>
              <a:rPr lang="en-US" altLang="zh-CN" sz="2400" dirty="0">
                <a:solidFill>
                  <a:schemeClr val="tx2"/>
                </a:solidFill>
              </a:rPr>
              <a:t>R</a:t>
            </a:r>
            <a:r>
              <a:rPr lang="zh-CN" altLang="en-US" sz="2400" dirty="0">
                <a:solidFill>
                  <a:schemeClr val="tx2"/>
                </a:solidFill>
              </a:rPr>
              <a:t>与</a:t>
            </a:r>
            <a:r>
              <a:rPr lang="en-US" altLang="zh-CN" sz="2400" dirty="0">
                <a:solidFill>
                  <a:schemeClr val="tx2"/>
                </a:solidFill>
              </a:rPr>
              <a:t>S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笛卡尔积</a:t>
            </a:r>
            <a:r>
              <a:rPr lang="zh-CN" altLang="en-US" sz="2400" dirty="0"/>
              <a:t>中选取</a:t>
            </a:r>
            <a:r>
              <a:rPr lang="en-US" altLang="zh-CN" sz="2400" dirty="0">
                <a:solidFill>
                  <a:srgbClr val="0000FF"/>
                </a:solidFill>
              </a:rPr>
              <a:t>A</a:t>
            </a:r>
            <a:r>
              <a:rPr lang="zh-CN" altLang="en-US" sz="2400" dirty="0">
                <a:solidFill>
                  <a:srgbClr val="0000FF"/>
                </a:solidFill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</a:rPr>
              <a:t>B</a:t>
            </a:r>
            <a:r>
              <a:rPr lang="zh-CN" altLang="en-US" sz="2400" dirty="0">
                <a:solidFill>
                  <a:srgbClr val="0000FF"/>
                </a:solidFill>
              </a:rPr>
              <a:t>属性值相等</a:t>
            </a:r>
            <a:r>
              <a:rPr lang="zh-CN" altLang="en-US" sz="2400" dirty="0"/>
              <a:t>的那些</a:t>
            </a:r>
            <a:r>
              <a:rPr lang="zh-CN" altLang="en-US" sz="2400" dirty="0">
                <a:solidFill>
                  <a:srgbClr val="0000FF"/>
                </a:solidFill>
              </a:rPr>
              <a:t>元组</a:t>
            </a:r>
            <a:r>
              <a:rPr lang="zh-CN" altLang="en-US" sz="2400" dirty="0"/>
              <a:t>。即等值连接为：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800" kern="1200" dirty="0">
              <a:ea typeface="宋体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087803" y="4313829"/>
            <a:ext cx="7732669" cy="627310"/>
            <a:chOff x="1087803" y="4313829"/>
            <a:chExt cx="7732669" cy="627310"/>
          </a:xfrm>
        </p:grpSpPr>
        <p:grpSp>
          <p:nvGrpSpPr>
            <p:cNvPr id="4" name="组合 3"/>
            <p:cNvGrpSpPr/>
            <p:nvPr/>
          </p:nvGrpSpPr>
          <p:grpSpPr>
            <a:xfrm>
              <a:off x="1087803" y="4330716"/>
              <a:ext cx="7732669" cy="610423"/>
              <a:chOff x="1087803" y="4649062"/>
              <a:chExt cx="7732669" cy="610423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1087803" y="4649062"/>
                <a:ext cx="7732669" cy="5437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     S={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|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∈R ∧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∈S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∧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8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r[A]</a:t>
                </a:r>
                <a:r>
                  <a:rPr kumimoji="0" lang="en-US" altLang="zh-CN" sz="28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=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[B]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}</a:t>
                </a:r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1402310" y="4920931"/>
                <a:ext cx="57740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A=B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/>
                  <a:ea typeface="宋体" pitchFamily="2" charset="-122"/>
                  <a:cs typeface="Arial" charset="0"/>
                </a:endParaRPr>
              </a:p>
            </p:txBody>
          </p:sp>
          <p:sp>
            <p:nvSpPr>
              <p:cNvPr id="9" name="AutoShape 4"/>
              <p:cNvSpPr>
                <a:spLocks noChangeArrowheads="1"/>
              </p:cNvSpPr>
              <p:nvPr/>
            </p:nvSpPr>
            <p:spPr bwMode="auto">
              <a:xfrm rot="5400000">
                <a:off x="1564804" y="4670276"/>
                <a:ext cx="228600" cy="457200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buClr>
                    <a:schemeClr val="hlink"/>
                  </a:buClr>
                  <a:buSzPct val="55000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buSzPct val="50000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buClr>
                    <a:schemeClr val="accent2"/>
                  </a:buClr>
                  <a:buSzPct val="55000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buClr>
                    <a:schemeClr val="accent1"/>
                  </a:buClr>
                  <a:buSzPct val="50000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Arial" charset="0"/>
                </a:endParaRPr>
              </a:p>
            </p:txBody>
          </p:sp>
        </p:grpSp>
        <p:sp>
          <p:nvSpPr>
            <p:cNvPr id="11" name="Arc 5"/>
            <p:cNvSpPr>
              <a:spLocks/>
            </p:cNvSpPr>
            <p:nvPr/>
          </p:nvSpPr>
          <p:spPr bwMode="auto">
            <a:xfrm rot="-2750926">
              <a:off x="2717006" y="4313829"/>
              <a:ext cx="304800" cy="304800"/>
            </a:xfrm>
            <a:custGeom>
              <a:avLst/>
              <a:gdLst>
                <a:gd name="T0" fmla="*/ 0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1FC01F-F7CA-4C55-85A1-57A9BC6B826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01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01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975839-8E61-4D04-882E-9D0E84E6B45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连接运算中有</a:t>
            </a:r>
            <a:r>
              <a:rPr lang="zh-CN" altLang="en-US" sz="2800" dirty="0">
                <a:solidFill>
                  <a:srgbClr val="0000FF"/>
                </a:solidFill>
              </a:rPr>
              <a:t>两种最为重要也最为常用</a:t>
            </a:r>
            <a:r>
              <a:rPr lang="zh-CN" altLang="en-US" sz="2800" dirty="0"/>
              <a:t>的连接，一种是</a:t>
            </a:r>
            <a:r>
              <a:rPr lang="zh-CN" altLang="en-US" sz="2800" b="1" dirty="0"/>
              <a:t>等值连接</a:t>
            </a:r>
            <a:r>
              <a:rPr lang="zh-CN" altLang="en-US" sz="2800" dirty="0"/>
              <a:t>（</a:t>
            </a:r>
            <a:r>
              <a:rPr lang="en-US" altLang="zh-CN" sz="2800" dirty="0"/>
              <a:t>equijoin</a:t>
            </a:r>
            <a:r>
              <a:rPr lang="zh-CN" altLang="en-US" sz="2800" dirty="0"/>
              <a:t>），另一种是</a:t>
            </a:r>
            <a:r>
              <a:rPr lang="zh-CN" altLang="en-US" sz="2800" b="1" dirty="0">
                <a:solidFill>
                  <a:srgbClr val="C00000"/>
                </a:solidFill>
              </a:rPr>
              <a:t>自然连接</a:t>
            </a:r>
            <a:r>
              <a:rPr lang="zh-CN" altLang="en-US" sz="2800" dirty="0"/>
              <a:t>（</a:t>
            </a:r>
            <a:r>
              <a:rPr lang="en-US" altLang="zh-CN" sz="2800" dirty="0"/>
              <a:t>Natural join</a:t>
            </a:r>
            <a:r>
              <a:rPr lang="zh-CN" altLang="en-US" sz="2800" dirty="0"/>
              <a:t>）。</a:t>
            </a:r>
            <a:endParaRPr lang="zh-CN" altLang="en-US" sz="900" dirty="0"/>
          </a:p>
          <a:p>
            <a:pPr lvl="1" eaLnBrk="1" hangingPunct="1">
              <a:lnSpc>
                <a:spcPct val="114000"/>
              </a:lnSpc>
              <a:defRPr/>
            </a:pPr>
            <a:r>
              <a:rPr lang="zh-CN" altLang="en-US" sz="2400" dirty="0">
                <a:solidFill>
                  <a:srgbClr val="CC0000"/>
                </a:solidFill>
              </a:rPr>
              <a:t>自然连接</a:t>
            </a:r>
            <a:r>
              <a:rPr lang="zh-CN" altLang="en-US" sz="2400" dirty="0"/>
              <a:t>（</a:t>
            </a:r>
            <a:r>
              <a:rPr lang="en-US" altLang="zh-CN" sz="2400" dirty="0"/>
              <a:t>Natural join</a:t>
            </a:r>
            <a:r>
              <a:rPr lang="zh-CN" altLang="en-US" sz="2400" dirty="0"/>
              <a:t>）是一种</a:t>
            </a:r>
            <a:r>
              <a:rPr lang="zh-CN" altLang="en-US" sz="2400" b="1" u="sng" dirty="0">
                <a:solidFill>
                  <a:srgbClr val="FF0000"/>
                </a:solidFill>
              </a:rPr>
              <a:t>特殊的等值连接</a:t>
            </a:r>
            <a:r>
              <a:rPr lang="zh-CN" altLang="en-US" sz="2400" dirty="0"/>
              <a:t>，它要求两个关系中</a:t>
            </a:r>
            <a:r>
              <a:rPr lang="zh-CN" altLang="en-US" sz="2400" dirty="0">
                <a:solidFill>
                  <a:srgbClr val="0000FF"/>
                </a:solidFill>
              </a:rPr>
              <a:t>进行比较的分量</a:t>
            </a:r>
            <a:r>
              <a:rPr lang="zh-CN" altLang="en-US" sz="2400" dirty="0"/>
              <a:t>必须是</a:t>
            </a:r>
            <a:r>
              <a:rPr lang="zh-CN" altLang="en-US" sz="2400" b="1" u="sng" dirty="0">
                <a:solidFill>
                  <a:srgbClr val="FF0000"/>
                </a:solidFill>
              </a:rPr>
              <a:t>相同的属性组</a:t>
            </a:r>
            <a:r>
              <a:rPr lang="zh-CN" altLang="en-US" sz="2400" dirty="0"/>
              <a:t>，并且要在结果中把</a:t>
            </a:r>
            <a:r>
              <a:rPr lang="zh-CN" altLang="en-US" sz="2400" b="1" u="sng" dirty="0">
                <a:solidFill>
                  <a:srgbClr val="C00000"/>
                </a:solidFill>
              </a:rPr>
              <a:t>重复的属性去掉</a:t>
            </a:r>
            <a:r>
              <a:rPr lang="zh-CN" altLang="en-US" sz="2400" dirty="0"/>
              <a:t>。假设</a:t>
            </a:r>
            <a:r>
              <a:rPr lang="en-US" altLang="zh-CN" sz="2400" dirty="0"/>
              <a:t>R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zh-CN" altLang="en-US" sz="2400" dirty="0"/>
              <a:t>具有</a:t>
            </a:r>
            <a:r>
              <a:rPr lang="zh-CN" altLang="en-US" sz="2400" dirty="0">
                <a:solidFill>
                  <a:srgbClr val="0000FF"/>
                </a:solidFill>
              </a:rPr>
              <a:t>相同的属性组</a:t>
            </a:r>
            <a:r>
              <a:rPr lang="en-US" altLang="zh-CN" sz="2400" dirty="0">
                <a:solidFill>
                  <a:srgbClr val="0000FF"/>
                </a:solidFill>
              </a:rPr>
              <a:t>B</a:t>
            </a:r>
            <a:r>
              <a:rPr lang="zh-CN" altLang="en-US" sz="2400" dirty="0"/>
              <a:t>，则：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zh-CN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zh-CN" sz="2400" dirty="0"/>
          </a:p>
          <a:p>
            <a:pPr lvl="1" eaLnBrk="1" hangingPunct="1">
              <a:lnSpc>
                <a:spcPct val="114000"/>
              </a:lnSpc>
              <a:defRPr/>
            </a:pPr>
            <a:endParaRPr lang="zh-CN" altLang="en-US" sz="2400" dirty="0"/>
          </a:p>
        </p:txBody>
      </p:sp>
      <p:grpSp>
        <p:nvGrpSpPr>
          <p:cNvPr id="7" name="组合 6"/>
          <p:cNvGrpSpPr/>
          <p:nvPr/>
        </p:nvGrpSpPr>
        <p:grpSpPr>
          <a:xfrm>
            <a:off x="764961" y="4634084"/>
            <a:ext cx="8415551" cy="560626"/>
            <a:chOff x="1087803" y="4313829"/>
            <a:chExt cx="8064896" cy="560626"/>
          </a:xfrm>
        </p:grpSpPr>
        <p:grpSp>
          <p:nvGrpSpPr>
            <p:cNvPr id="8" name="组合 7"/>
            <p:cNvGrpSpPr/>
            <p:nvPr/>
          </p:nvGrpSpPr>
          <p:grpSpPr>
            <a:xfrm>
              <a:off x="1087803" y="4330716"/>
              <a:ext cx="8064896" cy="543739"/>
              <a:chOff x="1087803" y="4649062"/>
              <a:chExt cx="8064896" cy="543739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1087803" y="4649062"/>
                <a:ext cx="8064896" cy="5437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      S={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[U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-B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66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]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| 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∈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R∧t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∈S∧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r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[B]</a:t>
                </a:r>
                <a:r>
                  <a:rPr kumimoji="0" lang="en-US" altLang="zh-CN" sz="28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=</a:t>
                </a:r>
                <a:r>
                  <a:rPr kumimoji="0" lang="en-US" altLang="zh-CN" sz="2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t</a:t>
                </a:r>
                <a:r>
                  <a:rPr kumimoji="0" lang="en-US" altLang="zh-CN" sz="4400" b="0" i="0" u="none" strike="noStrike" kern="1200" cap="none" spc="0" normalizeH="0" baseline="-1000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s</a:t>
                </a:r>
                <a:r>
                  <a:rPr kumimoji="0" lang="en-US" altLang="zh-CN" sz="4400" b="0" i="0" u="none" strike="noStrike" kern="1200" cap="none" spc="0" normalizeH="0" baseline="-10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[B]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/>
                    <a:ea typeface="宋体" pitchFamily="2" charset="-122"/>
                    <a:cs typeface="Times New Roman" panose="02020603050405020304" pitchFamily="18" charset="0"/>
                  </a:rPr>
                  <a:t>}</a:t>
                </a:r>
              </a:p>
            </p:txBody>
          </p:sp>
          <p:sp>
            <p:nvSpPr>
              <p:cNvPr id="12" name="AutoShape 4"/>
              <p:cNvSpPr>
                <a:spLocks noChangeArrowheads="1"/>
              </p:cNvSpPr>
              <p:nvPr/>
            </p:nvSpPr>
            <p:spPr bwMode="auto">
              <a:xfrm rot="5400000">
                <a:off x="1565943" y="4700590"/>
                <a:ext cx="228600" cy="457200"/>
              </a:xfrm>
              <a:prstGeom prst="flowChartCollat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buClr>
                    <a:schemeClr val="hlink"/>
                  </a:buClr>
                  <a:buSzPct val="55000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buSzPct val="50000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buClr>
                    <a:schemeClr val="accent2"/>
                  </a:buClr>
                  <a:buSzPct val="55000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buClr>
                    <a:schemeClr val="accent1"/>
                  </a:buClr>
                  <a:buSzPct val="50000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Arial" charset="0"/>
                </a:endParaRPr>
              </a:p>
            </p:txBody>
          </p:sp>
        </p:grpSp>
        <p:sp>
          <p:nvSpPr>
            <p:cNvPr id="9" name="Arc 5"/>
            <p:cNvSpPr>
              <a:spLocks/>
            </p:cNvSpPr>
            <p:nvPr/>
          </p:nvSpPr>
          <p:spPr bwMode="auto">
            <a:xfrm rot="18849074">
              <a:off x="2716550" y="4313829"/>
              <a:ext cx="304800" cy="304800"/>
            </a:xfrm>
            <a:custGeom>
              <a:avLst/>
              <a:gdLst>
                <a:gd name="T0" fmla="*/ 0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3934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22B547-5CBD-4ED6-B195-4FF61631FAA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890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D587D1-5331-4EB4-85AB-745FC6F87F9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zh-CN" altLang="en-US" sz="2800" dirty="0"/>
              <a:t>一般的</a:t>
            </a:r>
            <a:r>
              <a:rPr lang="zh-CN" altLang="en-US" sz="2800" dirty="0">
                <a:solidFill>
                  <a:srgbClr val="0000FF"/>
                </a:solidFill>
              </a:rPr>
              <a:t>连接操作</a:t>
            </a:r>
            <a:r>
              <a:rPr lang="zh-CN" altLang="en-US" sz="2800" dirty="0"/>
              <a:t>是从</a:t>
            </a:r>
            <a:r>
              <a:rPr lang="zh-CN" altLang="en-US" sz="2800" dirty="0">
                <a:solidFill>
                  <a:srgbClr val="0000FF"/>
                </a:solidFill>
              </a:rPr>
              <a:t>行</a:t>
            </a:r>
            <a:r>
              <a:rPr lang="zh-CN" altLang="en-US" sz="2800" dirty="0"/>
              <a:t>的角度进行运算。但</a:t>
            </a:r>
            <a:r>
              <a:rPr lang="zh-CN" altLang="en-US" sz="2800" dirty="0">
                <a:solidFill>
                  <a:srgbClr val="C00000"/>
                </a:solidFill>
              </a:rPr>
              <a:t>自然连接</a:t>
            </a:r>
            <a:r>
              <a:rPr lang="zh-CN" altLang="en-US" sz="2800" dirty="0"/>
              <a:t>还需要</a:t>
            </a:r>
            <a:r>
              <a:rPr lang="zh-CN" altLang="en-US" sz="2800" b="1" u="sng" dirty="0">
                <a:solidFill>
                  <a:schemeClr val="tx2"/>
                </a:solidFill>
              </a:rPr>
              <a:t>取消了重复列</a:t>
            </a:r>
            <a:r>
              <a:rPr lang="zh-CN" altLang="en-US" sz="2800" dirty="0"/>
              <a:t>，所以是同时</a:t>
            </a:r>
            <a:r>
              <a:rPr lang="zh-CN" altLang="en-US" sz="2800" b="1" dirty="0">
                <a:solidFill>
                  <a:schemeClr val="tx2"/>
                </a:solidFill>
                <a:latin typeface="Times New Roman" pitchFamily="18" charset="0"/>
              </a:rPr>
              <a:t>从行和列的角度进行运算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  <p:grpSp>
        <p:nvGrpSpPr>
          <p:cNvPr id="89097" name="Group 44"/>
          <p:cNvGrpSpPr>
            <a:grpSpLocks/>
          </p:cNvGrpSpPr>
          <p:nvPr/>
        </p:nvGrpSpPr>
        <p:grpSpPr bwMode="auto">
          <a:xfrm>
            <a:off x="1905000" y="3284984"/>
            <a:ext cx="5486400" cy="2286000"/>
            <a:chOff x="1728" y="1632"/>
            <a:chExt cx="3456" cy="1440"/>
          </a:xfrm>
        </p:grpSpPr>
        <p:grpSp>
          <p:nvGrpSpPr>
            <p:cNvPr id="89098" name="Group 18"/>
            <p:cNvGrpSpPr>
              <a:grpSpLocks/>
            </p:cNvGrpSpPr>
            <p:nvPr/>
          </p:nvGrpSpPr>
          <p:grpSpPr bwMode="auto"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89120" name="Rectangle 5"/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1" name="Rectangle 6" descr="浅色下对角线"/>
              <p:cNvSpPr>
                <a:spLocks noChangeArrowheads="1"/>
              </p:cNvSpPr>
              <p:nvPr/>
            </p:nvSpPr>
            <p:spPr bwMode="auto">
              <a:xfrm>
                <a:off x="1536" y="172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2" name="Rectangle 7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3" name="Rectangle 8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4" name="Rectangle 9"/>
              <p:cNvSpPr>
                <a:spLocks noChangeArrowheads="1"/>
              </p:cNvSpPr>
              <p:nvPr/>
            </p:nvSpPr>
            <p:spPr bwMode="auto"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5" name="Rectangle 10" descr="浅色下对角线"/>
              <p:cNvSpPr>
                <a:spLocks noChangeArrowheads="1"/>
              </p:cNvSpPr>
              <p:nvPr/>
            </p:nvSpPr>
            <p:spPr bwMode="auto">
              <a:xfrm>
                <a:off x="1536" y="2016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6" name="Rectangle 11"/>
              <p:cNvSpPr>
                <a:spLocks noChangeArrowheads="1"/>
              </p:cNvSpPr>
              <p:nvPr/>
            </p:nvSpPr>
            <p:spPr bwMode="auto"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27" name="Rectangle 12" descr="浅色下对角线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9099" name="AutoShape 16"/>
            <p:cNvSpPr>
              <a:spLocks noChangeArrowheads="1"/>
            </p:cNvSpPr>
            <p:nvPr/>
          </p:nvSpPr>
          <p:spPr bwMode="auto"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89100" name="Group 27"/>
            <p:cNvGrpSpPr>
              <a:grpSpLocks/>
            </p:cNvGrpSpPr>
            <p:nvPr/>
          </p:nvGrpSpPr>
          <p:grpSpPr bwMode="auto"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89116" name="Rectangle 19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17" name="Rectangle 20" descr="浅色下对角线"/>
              <p:cNvSpPr>
                <a:spLocks noChangeArrowheads="1"/>
              </p:cNvSpPr>
              <p:nvPr/>
            </p:nvSpPr>
            <p:spPr bwMode="auto">
              <a:xfrm>
                <a:off x="1536" y="2640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18" name="Rectangle 21"/>
              <p:cNvSpPr>
                <a:spLocks noChangeArrowheads="1"/>
              </p:cNvSpPr>
              <p:nvPr/>
            </p:nvSpPr>
            <p:spPr bwMode="auto"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19" name="Rectangle 23"/>
              <p:cNvSpPr>
                <a:spLocks noChangeArrowheads="1"/>
              </p:cNvSpPr>
              <p:nvPr/>
            </p:nvSpPr>
            <p:spPr bwMode="auto"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89101" name="Group 43"/>
            <p:cNvGrpSpPr>
              <a:grpSpLocks/>
            </p:cNvGrpSpPr>
            <p:nvPr/>
          </p:nvGrpSpPr>
          <p:grpSpPr bwMode="auto"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89112" name="Group 29"/>
              <p:cNvGrpSpPr>
                <a:grpSpLocks/>
              </p:cNvGrpSpPr>
              <p:nvPr/>
            </p:nvGrpSpPr>
            <p:grpSpPr bwMode="auto"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89114" name="AutoShape 30"/>
                <p:cNvSpPr>
                  <a:spLocks noChangeArrowheads="1"/>
                </p:cNvSpPr>
                <p:nvPr/>
              </p:nvSpPr>
              <p:spPr bwMode="auto"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1pPr>
                  <a:lvl2pPr marL="742950" indent="-28575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2pPr>
                  <a:lvl3pPr marL="11430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3pPr>
                  <a:lvl4pPr marL="16002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4pPr>
                  <a:lvl5pPr marL="20574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itchFamily="2" charset="2"/>
                    <a:buNone/>
                    <a:tabLst/>
                    <a:defRPr/>
                  </a:pPr>
                  <a:endParaRPr kumimoji="0" lang="zh-CN" altLang="en-US" sz="3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9115" name="Text Box 31"/>
                <p:cNvSpPr txBox="1">
                  <a:spLocks noChangeArrowheads="1"/>
                </p:cNvSpPr>
                <p:nvPr/>
              </p:nvSpPr>
              <p:spPr bwMode="auto"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1pPr>
                  <a:lvl2pPr marL="742950" indent="-28575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2pPr>
                  <a:lvl3pPr marL="11430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3pPr>
                  <a:lvl4pPr marL="16002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4pPr>
                  <a:lvl5pPr marL="2057400" indent="-228600" eaLnBrk="0" hangingPunct="0"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60000"/>
                    <a:buFont typeface="Wingdings" pitchFamily="2" charset="2"/>
                    <a:defRPr sz="3200" b="1">
                      <a:solidFill>
                        <a:schemeClr val="tx1"/>
                      </a:solidFill>
                      <a:latin typeface="宋体" pitchFamily="2" charset="-122"/>
                      <a:ea typeface="宋体" pitchFamily="2" charset="-122"/>
                    </a:defRPr>
                  </a:lvl9pPr>
                </a:lstStyle>
                <a:p>
                  <a:pPr marL="0" marR="0" lvl="0" indent="0" algn="just" defTabSz="914400" rtl="0" eaLnBrk="0" fontAlgn="base" latinLnBrk="0" hangingPunct="0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itchFamily="2" charset="2"/>
                    <a:buNone/>
                    <a:tabLst/>
                    <a:defRPr/>
                  </a:pPr>
                  <a:endParaRPr kumimoji="0" lang="zh-CN" altLang="zh-CN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89113" name="Rectangle 32"/>
              <p:cNvSpPr>
                <a:spLocks noChangeArrowheads="1"/>
              </p:cNvSpPr>
              <p:nvPr/>
            </p:nvSpPr>
            <p:spPr bwMode="auto">
              <a:xfrm>
                <a:off x="2832" y="2448"/>
                <a:ext cx="576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r>
                  <a:rPr kumimoji="0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 </a:t>
                </a:r>
                <a:r>
                  <a:rPr kumimoji="0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A</a:t>
                </a:r>
                <a:r>
                  <a:rPr kumimoji="0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θ</a:t>
                </a:r>
                <a:r>
                  <a:rPr kumimoji="0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333399"/>
                    </a:solidFill>
                    <a:effectLst/>
                    <a:uLnTx/>
                    <a:uFillTx/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B</a:t>
                </a:r>
                <a:endPara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9102" name="AutoShape 33"/>
            <p:cNvSpPr>
              <a:spLocks noChangeArrowheads="1"/>
            </p:cNvSpPr>
            <p:nvPr/>
          </p:nvSpPr>
          <p:spPr bwMode="auto"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89103" name="Group 39"/>
            <p:cNvGrpSpPr>
              <a:grpSpLocks/>
            </p:cNvGrpSpPr>
            <p:nvPr/>
          </p:nvGrpSpPr>
          <p:grpSpPr bwMode="auto"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89106" name="Rectangle 13" descr="浅色下对角线"/>
              <p:cNvSpPr>
                <a:spLocks noChangeArrowheads="1"/>
              </p:cNvSpPr>
              <p:nvPr/>
            </p:nvSpPr>
            <p:spPr bwMode="auto">
              <a:xfrm>
                <a:off x="3216" y="2544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07" name="Rectangle 14" descr="浅色下对角线"/>
              <p:cNvSpPr>
                <a:spLocks noChangeArrowheads="1"/>
              </p:cNvSpPr>
              <p:nvPr/>
            </p:nvSpPr>
            <p:spPr bwMode="auto">
              <a:xfrm>
                <a:off x="3216" y="244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08" name="Rectangle 15" descr="浅色下对角线"/>
              <p:cNvSpPr>
                <a:spLocks noChangeArrowheads="1"/>
              </p:cNvSpPr>
              <p:nvPr/>
            </p:nvSpPr>
            <p:spPr bwMode="auto">
              <a:xfrm>
                <a:off x="3216" y="2352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09" name="Rectangle 35" descr="浅色下对角线"/>
              <p:cNvSpPr>
                <a:spLocks noChangeArrowheads="1"/>
              </p:cNvSpPr>
              <p:nvPr/>
            </p:nvSpPr>
            <p:spPr bwMode="auto">
              <a:xfrm>
                <a:off x="4128" y="2352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10" name="Rectangle 36" descr="浅色下对角线"/>
              <p:cNvSpPr>
                <a:spLocks noChangeArrowheads="1"/>
              </p:cNvSpPr>
              <p:nvPr/>
            </p:nvSpPr>
            <p:spPr bwMode="auto">
              <a:xfrm>
                <a:off x="4128" y="2448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9111" name="Rectangle 37" descr="浅色下对角线"/>
              <p:cNvSpPr>
                <a:spLocks noChangeArrowheads="1"/>
              </p:cNvSpPr>
              <p:nvPr/>
            </p:nvSpPr>
            <p:spPr bwMode="auto">
              <a:xfrm>
                <a:off x="4128" y="2544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1pPr>
                <a:lvl2pPr marL="742950" indent="-28575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2pPr>
                <a:lvl3pPr marL="11430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3pPr>
                <a:lvl4pPr marL="16002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4pPr>
                <a:lvl5pPr marL="2057400" indent="-228600" eaLnBrk="0" hangingPunct="0"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defRPr sz="3200" b="1">
                    <a:solidFill>
                      <a:schemeClr val="tx1"/>
                    </a:solidFill>
                    <a:latin typeface="宋体" pitchFamily="2" charset="-122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60000"/>
                  <a:buFont typeface="Wingdings" pitchFamily="2" charset="2"/>
                  <a:buNone/>
                  <a:tabLst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89104" name="Text Box 40"/>
            <p:cNvSpPr txBox="1">
              <a:spLocks noChangeArrowheads="1"/>
            </p:cNvSpPr>
            <p:nvPr/>
          </p:nvSpPr>
          <p:spPr bwMode="auto">
            <a:xfrm>
              <a:off x="1728" y="1632"/>
              <a:ext cx="28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R</a:t>
              </a:r>
            </a:p>
          </p:txBody>
        </p:sp>
        <p:sp>
          <p:nvSpPr>
            <p:cNvPr id="89105" name="Text Box 41"/>
            <p:cNvSpPr txBox="1">
              <a:spLocks noChangeArrowheads="1"/>
            </p:cNvSpPr>
            <p:nvPr/>
          </p:nvSpPr>
          <p:spPr bwMode="auto">
            <a:xfrm>
              <a:off x="1920" y="2688"/>
              <a:ext cx="28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1pPr>
              <a:lvl2pPr marL="742950" indent="-28575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2pPr>
              <a:lvl3pPr marL="11430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3pPr>
              <a:lvl4pPr marL="16002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4pPr>
              <a:lvl5pPr marL="2057400" indent="-228600" eaLnBrk="0" hangingPunct="0"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itchFamily="2" charset="2"/>
                <a:defRPr sz="3200" b="1">
                  <a:solidFill>
                    <a:schemeClr val="tx1"/>
                  </a:solidFill>
                  <a:latin typeface="宋体" pitchFamily="2" charset="-122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94563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F63027-FEEE-4959-9EA5-C8CF1566DEF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11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11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842896-2283-44F7-A47C-A6F8A6D5C48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11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连接的计算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/>
              <a:t>首先根据连接的</a:t>
            </a:r>
            <a:r>
              <a:rPr lang="zh-CN" altLang="en-US" dirty="0">
                <a:solidFill>
                  <a:srgbClr val="0000FF"/>
                </a:solidFill>
              </a:rPr>
              <a:t>类型</a:t>
            </a:r>
            <a:r>
              <a:rPr lang="zh-CN" altLang="en-US" dirty="0"/>
              <a:t>（</a:t>
            </a:r>
            <a:r>
              <a:rPr lang="en-US" altLang="zh-CN" dirty="0"/>
              <a:t>θ</a:t>
            </a:r>
            <a:r>
              <a:rPr lang="zh-CN" altLang="en-US" dirty="0"/>
              <a:t>连接、自然连接），确定结果的属性。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/>
              <a:t>计算过程类似</a:t>
            </a:r>
            <a:r>
              <a:rPr lang="zh-CN" altLang="en-US" u="sng" dirty="0">
                <a:solidFill>
                  <a:srgbClr val="0000FF"/>
                </a:solidFill>
              </a:rPr>
              <a:t>二重循环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2" name="Text Box 81"/>
          <p:cNvSpPr txBox="1">
            <a:spLocks noChangeArrowheads="1"/>
          </p:cNvSpPr>
          <p:nvPr/>
        </p:nvSpPr>
        <p:spPr bwMode="auto">
          <a:xfrm>
            <a:off x="6172200" y="1706563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0" i="0" u="none" strike="noStrike" kern="1200" cap="none" spc="0" normalizeH="0" baseline="-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R    S </a:t>
            </a:r>
          </a:p>
        </p:txBody>
      </p:sp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D016B2-47F6-4622-BEAB-27498907467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21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21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6FA274-D552-4949-9910-0F1FD5CF85C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grpSp>
        <p:nvGrpSpPr>
          <p:cNvPr id="92167" name="Group 4"/>
          <p:cNvGrpSpPr>
            <a:grpSpLocks/>
          </p:cNvGrpSpPr>
          <p:nvPr/>
        </p:nvGrpSpPr>
        <p:grpSpPr bwMode="auto">
          <a:xfrm>
            <a:off x="457200" y="2514600"/>
            <a:ext cx="2209800" cy="1581150"/>
            <a:chOff x="576" y="2928"/>
            <a:chExt cx="1536" cy="996"/>
          </a:xfrm>
        </p:grpSpPr>
        <p:sp>
          <p:nvSpPr>
            <p:cNvPr id="92223" name="Rectangle 5"/>
            <p:cNvSpPr>
              <a:spLocks noChangeArrowheads="1"/>
            </p:cNvSpPr>
            <p:nvPr/>
          </p:nvSpPr>
          <p:spPr bwMode="auto">
            <a:xfrm>
              <a:off x="1600" y="3675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9</a:t>
              </a:r>
            </a:p>
          </p:txBody>
        </p:sp>
        <p:sp>
          <p:nvSpPr>
            <p:cNvPr id="92224" name="Rectangle 6"/>
            <p:cNvSpPr>
              <a:spLocks noChangeArrowheads="1"/>
            </p:cNvSpPr>
            <p:nvPr/>
          </p:nvSpPr>
          <p:spPr bwMode="auto">
            <a:xfrm>
              <a:off x="1088" y="3675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</a:t>
              </a:r>
            </a:p>
          </p:txBody>
        </p:sp>
        <p:sp>
          <p:nvSpPr>
            <p:cNvPr id="92225" name="Rectangle 7"/>
            <p:cNvSpPr>
              <a:spLocks noChangeArrowheads="1"/>
            </p:cNvSpPr>
            <p:nvPr/>
          </p:nvSpPr>
          <p:spPr bwMode="auto">
            <a:xfrm>
              <a:off x="576" y="3675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</a:t>
              </a:r>
            </a:p>
          </p:txBody>
        </p:sp>
        <p:sp>
          <p:nvSpPr>
            <p:cNvPr id="92226" name="Rectangle 8"/>
            <p:cNvSpPr>
              <a:spLocks noChangeArrowheads="1"/>
            </p:cNvSpPr>
            <p:nvPr/>
          </p:nvSpPr>
          <p:spPr bwMode="auto">
            <a:xfrm>
              <a:off x="1600" y="3426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6</a:t>
              </a:r>
            </a:p>
          </p:txBody>
        </p:sp>
        <p:sp>
          <p:nvSpPr>
            <p:cNvPr id="92227" name="Rectangle 9"/>
            <p:cNvSpPr>
              <a:spLocks noChangeArrowheads="1"/>
            </p:cNvSpPr>
            <p:nvPr/>
          </p:nvSpPr>
          <p:spPr bwMode="auto">
            <a:xfrm>
              <a:off x="1088" y="3426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</a:t>
              </a:r>
            </a:p>
          </p:txBody>
        </p:sp>
        <p:sp>
          <p:nvSpPr>
            <p:cNvPr id="92228" name="Rectangle 10"/>
            <p:cNvSpPr>
              <a:spLocks noChangeArrowheads="1"/>
            </p:cNvSpPr>
            <p:nvPr/>
          </p:nvSpPr>
          <p:spPr bwMode="auto">
            <a:xfrm>
              <a:off x="576" y="3426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4</a:t>
              </a:r>
            </a:p>
          </p:txBody>
        </p:sp>
        <p:sp>
          <p:nvSpPr>
            <p:cNvPr id="92229" name="Rectangle 11"/>
            <p:cNvSpPr>
              <a:spLocks noChangeArrowheads="1"/>
            </p:cNvSpPr>
            <p:nvPr/>
          </p:nvSpPr>
          <p:spPr bwMode="auto">
            <a:xfrm>
              <a:off x="1600" y="3177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3</a:t>
              </a:r>
            </a:p>
          </p:txBody>
        </p:sp>
        <p:sp>
          <p:nvSpPr>
            <p:cNvPr id="92230" name="Rectangle 12"/>
            <p:cNvSpPr>
              <a:spLocks noChangeArrowheads="1"/>
            </p:cNvSpPr>
            <p:nvPr/>
          </p:nvSpPr>
          <p:spPr bwMode="auto">
            <a:xfrm>
              <a:off x="1088" y="3177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2</a:t>
              </a:r>
            </a:p>
          </p:txBody>
        </p:sp>
        <p:sp>
          <p:nvSpPr>
            <p:cNvPr id="92231" name="Rectangle 13"/>
            <p:cNvSpPr>
              <a:spLocks noChangeArrowheads="1"/>
            </p:cNvSpPr>
            <p:nvPr/>
          </p:nvSpPr>
          <p:spPr bwMode="auto">
            <a:xfrm>
              <a:off x="576" y="3177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1</a:t>
              </a:r>
            </a:p>
          </p:txBody>
        </p:sp>
        <p:sp>
          <p:nvSpPr>
            <p:cNvPr id="92232" name="Rectangle 14"/>
            <p:cNvSpPr>
              <a:spLocks noChangeArrowheads="1"/>
            </p:cNvSpPr>
            <p:nvPr/>
          </p:nvSpPr>
          <p:spPr bwMode="auto">
            <a:xfrm>
              <a:off x="1600" y="2928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</a:t>
              </a:r>
            </a:p>
          </p:txBody>
        </p:sp>
        <p:sp>
          <p:nvSpPr>
            <p:cNvPr id="92233" name="Rectangle 15"/>
            <p:cNvSpPr>
              <a:spLocks noChangeArrowheads="1"/>
            </p:cNvSpPr>
            <p:nvPr/>
          </p:nvSpPr>
          <p:spPr bwMode="auto">
            <a:xfrm>
              <a:off x="1088" y="2928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B</a:t>
              </a:r>
            </a:p>
          </p:txBody>
        </p:sp>
        <p:sp>
          <p:nvSpPr>
            <p:cNvPr id="92234" name="Rectangle 16"/>
            <p:cNvSpPr>
              <a:spLocks noChangeArrowheads="1"/>
            </p:cNvSpPr>
            <p:nvPr/>
          </p:nvSpPr>
          <p:spPr bwMode="auto">
            <a:xfrm>
              <a:off x="576" y="2928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A</a:t>
              </a:r>
            </a:p>
          </p:txBody>
        </p:sp>
        <p:sp>
          <p:nvSpPr>
            <p:cNvPr id="92235" name="Line 17"/>
            <p:cNvSpPr>
              <a:spLocks noChangeShapeType="1"/>
            </p:cNvSpPr>
            <p:nvPr/>
          </p:nvSpPr>
          <p:spPr bwMode="auto">
            <a:xfrm>
              <a:off x="576" y="2928"/>
              <a:ext cx="15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36" name="Line 18"/>
            <p:cNvSpPr>
              <a:spLocks noChangeShapeType="1"/>
            </p:cNvSpPr>
            <p:nvPr/>
          </p:nvSpPr>
          <p:spPr bwMode="auto">
            <a:xfrm>
              <a:off x="576" y="3177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37" name="Line 19"/>
            <p:cNvSpPr>
              <a:spLocks noChangeShapeType="1"/>
            </p:cNvSpPr>
            <p:nvPr/>
          </p:nvSpPr>
          <p:spPr bwMode="auto">
            <a:xfrm>
              <a:off x="576" y="342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38" name="Line 20"/>
            <p:cNvSpPr>
              <a:spLocks noChangeShapeType="1"/>
            </p:cNvSpPr>
            <p:nvPr/>
          </p:nvSpPr>
          <p:spPr bwMode="auto">
            <a:xfrm>
              <a:off x="576" y="3675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39" name="Line 21"/>
            <p:cNvSpPr>
              <a:spLocks noChangeShapeType="1"/>
            </p:cNvSpPr>
            <p:nvPr/>
          </p:nvSpPr>
          <p:spPr bwMode="auto">
            <a:xfrm>
              <a:off x="576" y="3924"/>
              <a:ext cx="15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40" name="Line 22"/>
            <p:cNvSpPr>
              <a:spLocks noChangeShapeType="1"/>
            </p:cNvSpPr>
            <p:nvPr/>
          </p:nvSpPr>
          <p:spPr bwMode="auto">
            <a:xfrm>
              <a:off x="576" y="2928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41" name="Line 23"/>
            <p:cNvSpPr>
              <a:spLocks noChangeShapeType="1"/>
            </p:cNvSpPr>
            <p:nvPr/>
          </p:nvSpPr>
          <p:spPr bwMode="auto">
            <a:xfrm>
              <a:off x="1088" y="2928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42" name="Line 24"/>
            <p:cNvSpPr>
              <a:spLocks noChangeShapeType="1"/>
            </p:cNvSpPr>
            <p:nvPr/>
          </p:nvSpPr>
          <p:spPr bwMode="auto">
            <a:xfrm>
              <a:off x="1600" y="2928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2243" name="Line 25"/>
            <p:cNvSpPr>
              <a:spLocks noChangeShapeType="1"/>
            </p:cNvSpPr>
            <p:nvPr/>
          </p:nvSpPr>
          <p:spPr bwMode="auto">
            <a:xfrm>
              <a:off x="2112" y="2928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aphicFrame>
        <p:nvGraphicFramePr>
          <p:cNvPr id="80979" name="Group 83"/>
          <p:cNvGraphicFramePr>
            <a:graphicFrameLocks noGrp="1"/>
          </p:cNvGraphicFramePr>
          <p:nvPr/>
        </p:nvGraphicFramePr>
        <p:xfrm>
          <a:off x="3124200" y="2667000"/>
          <a:ext cx="1600200" cy="119380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4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981" name="Group 85"/>
          <p:cNvGraphicFramePr>
            <a:graphicFrameLocks noGrp="1"/>
          </p:cNvGraphicFramePr>
          <p:nvPr/>
        </p:nvGraphicFramePr>
        <p:xfrm>
          <a:off x="5257800" y="2443163"/>
          <a:ext cx="3505200" cy="1749426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384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014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014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014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969" name="Line 73"/>
          <p:cNvSpPr>
            <a:spLocks noChangeShapeType="1"/>
          </p:cNvSpPr>
          <p:nvPr/>
        </p:nvSpPr>
        <p:spPr bwMode="auto">
          <a:xfrm>
            <a:off x="1676400" y="3124200"/>
            <a:ext cx="1447800" cy="76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0970" name="Line 74"/>
          <p:cNvSpPr>
            <a:spLocks noChangeShapeType="1"/>
          </p:cNvSpPr>
          <p:nvPr/>
        </p:nvSpPr>
        <p:spPr bwMode="auto">
          <a:xfrm>
            <a:off x="1676400" y="3124200"/>
            <a:ext cx="1447800" cy="457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0971" name="Line 75"/>
          <p:cNvSpPr>
            <a:spLocks noChangeShapeType="1"/>
          </p:cNvSpPr>
          <p:nvPr/>
        </p:nvSpPr>
        <p:spPr bwMode="auto">
          <a:xfrm>
            <a:off x="1752600" y="3581400"/>
            <a:ext cx="1371600" cy="76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92217" name="Text Box 76"/>
          <p:cNvSpPr txBox="1">
            <a:spLocks noChangeArrowheads="1"/>
          </p:cNvSpPr>
          <p:nvPr/>
        </p:nvSpPr>
        <p:spPr bwMode="auto">
          <a:xfrm>
            <a:off x="1371600" y="1858963"/>
            <a:ext cx="533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92218" name="Text Box 77"/>
          <p:cNvSpPr txBox="1">
            <a:spLocks noChangeArrowheads="1"/>
          </p:cNvSpPr>
          <p:nvPr/>
        </p:nvSpPr>
        <p:spPr bwMode="auto">
          <a:xfrm>
            <a:off x="3657600" y="1858963"/>
            <a:ext cx="533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0" i="0" u="none" strike="noStrike" kern="1200" cap="none" spc="0" normalizeH="0" baseline="-2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444208" y="1905001"/>
            <a:ext cx="914400" cy="443879"/>
            <a:chOff x="6444208" y="1905001"/>
            <a:chExt cx="914400" cy="443879"/>
          </a:xfrm>
        </p:grpSpPr>
        <p:sp>
          <p:nvSpPr>
            <p:cNvPr id="92220" name="AutoShape 79"/>
            <p:cNvSpPr>
              <a:spLocks noChangeArrowheads="1"/>
            </p:cNvSpPr>
            <p:nvPr/>
          </p:nvSpPr>
          <p:spPr bwMode="auto">
            <a:xfrm rot="5400000">
              <a:off x="6743700" y="1866901"/>
              <a:ext cx="228600" cy="30480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2221" name="Text Box 80"/>
            <p:cNvSpPr txBox="1">
              <a:spLocks noChangeArrowheads="1"/>
            </p:cNvSpPr>
            <p:nvPr/>
          </p:nvSpPr>
          <p:spPr bwMode="auto">
            <a:xfrm>
              <a:off x="6444208" y="2051363"/>
              <a:ext cx="914400" cy="297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-20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B &lt; D</a:t>
              </a:r>
              <a:endParaRPr kumimoji="1" lang="en-US" altLang="zh-CN" sz="1600" b="0" i="0" u="none" strike="noStrike" kern="1200" cap="none" spc="0" normalizeH="0" baseline="-2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仿宋_GB2312" pitchFamily="49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0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69" grpId="0" animBg="1"/>
      <p:bldP spid="80970" grpId="0" animBg="1"/>
      <p:bldP spid="8097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6EAEF8-FE45-4518-BE69-D51CFADD146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31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31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06ED23-DBD5-4F0E-B451-8079C1C2494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31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2057400"/>
            <a:ext cx="1828800" cy="2971800"/>
            <a:chOff x="1056" y="720"/>
            <a:chExt cx="1152" cy="1872"/>
          </a:xfrm>
        </p:grpSpPr>
        <p:sp>
          <p:nvSpPr>
            <p:cNvPr id="93220" name="Rectangle 5"/>
            <p:cNvSpPr>
              <a:spLocks noChangeArrowheads="1"/>
            </p:cNvSpPr>
            <p:nvPr/>
          </p:nvSpPr>
          <p:spPr bwMode="auto">
            <a:xfrm>
              <a:off x="1056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A</a:t>
              </a:r>
            </a:p>
          </p:txBody>
        </p:sp>
        <p:sp>
          <p:nvSpPr>
            <p:cNvPr id="93221" name="Rectangle 6"/>
            <p:cNvSpPr>
              <a:spLocks noChangeArrowheads="1"/>
            </p:cNvSpPr>
            <p:nvPr/>
          </p:nvSpPr>
          <p:spPr bwMode="auto">
            <a:xfrm>
              <a:off x="1344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B</a:t>
              </a:r>
            </a:p>
          </p:txBody>
        </p:sp>
        <p:sp>
          <p:nvSpPr>
            <p:cNvPr id="93222" name="Rectangle 7"/>
            <p:cNvSpPr>
              <a:spLocks noChangeArrowheads="1"/>
            </p:cNvSpPr>
            <p:nvPr/>
          </p:nvSpPr>
          <p:spPr bwMode="auto">
            <a:xfrm>
              <a:off x="1056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</a:t>
              </a:r>
            </a:p>
          </p:txBody>
        </p:sp>
        <p:sp>
          <p:nvSpPr>
            <p:cNvPr id="93223" name="Rectangle 8"/>
            <p:cNvSpPr>
              <a:spLocks noChangeArrowheads="1"/>
            </p:cNvSpPr>
            <p:nvPr/>
          </p:nvSpPr>
          <p:spPr bwMode="auto">
            <a:xfrm>
              <a:off x="1344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93224" name="Rectangle 9"/>
            <p:cNvSpPr>
              <a:spLocks noChangeArrowheads="1"/>
            </p:cNvSpPr>
            <p:nvPr/>
          </p:nvSpPr>
          <p:spPr bwMode="auto">
            <a:xfrm>
              <a:off x="1632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C</a:t>
              </a:r>
            </a:p>
          </p:txBody>
        </p:sp>
        <p:sp>
          <p:nvSpPr>
            <p:cNvPr id="93225" name="Rectangle 10"/>
            <p:cNvSpPr>
              <a:spLocks noChangeArrowheads="1"/>
            </p:cNvSpPr>
            <p:nvPr/>
          </p:nvSpPr>
          <p:spPr bwMode="auto">
            <a:xfrm>
              <a:off x="1920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D</a:t>
              </a:r>
            </a:p>
          </p:txBody>
        </p:sp>
        <p:sp>
          <p:nvSpPr>
            <p:cNvPr id="93226" name="Rectangle 11"/>
            <p:cNvSpPr>
              <a:spLocks noChangeArrowheads="1"/>
            </p:cNvSpPr>
            <p:nvPr/>
          </p:nvSpPr>
          <p:spPr bwMode="auto">
            <a:xfrm>
              <a:off x="1632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</a:t>
              </a:r>
            </a:p>
          </p:txBody>
        </p:sp>
        <p:sp>
          <p:nvSpPr>
            <p:cNvPr id="93227" name="Rectangle 12"/>
            <p:cNvSpPr>
              <a:spLocks noChangeArrowheads="1"/>
            </p:cNvSpPr>
            <p:nvPr/>
          </p:nvSpPr>
          <p:spPr bwMode="auto">
            <a:xfrm>
              <a:off x="1920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93228" name="Text Box 13"/>
            <p:cNvSpPr txBox="1">
              <a:spLocks noChangeArrowheads="1"/>
            </p:cNvSpPr>
            <p:nvPr/>
          </p:nvSpPr>
          <p:spPr bwMode="auto">
            <a:xfrm>
              <a:off x="1531" y="720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r</a:t>
              </a:r>
            </a:p>
          </p:txBody>
        </p:sp>
      </p:grpSp>
      <p:grpSp>
        <p:nvGrpSpPr>
          <p:cNvPr id="81934" name="Group 14"/>
          <p:cNvGrpSpPr>
            <a:grpSpLocks/>
          </p:cNvGrpSpPr>
          <p:nvPr/>
        </p:nvGrpSpPr>
        <p:grpSpPr bwMode="auto">
          <a:xfrm>
            <a:off x="3733800" y="2133600"/>
            <a:ext cx="1371600" cy="2819400"/>
            <a:chOff x="3264" y="720"/>
            <a:chExt cx="864" cy="1776"/>
          </a:xfrm>
        </p:grpSpPr>
        <p:sp>
          <p:nvSpPr>
            <p:cNvPr id="93213" name="Rectangle 15"/>
            <p:cNvSpPr>
              <a:spLocks noChangeArrowheads="1"/>
            </p:cNvSpPr>
            <p:nvPr/>
          </p:nvSpPr>
          <p:spPr bwMode="auto">
            <a:xfrm>
              <a:off x="3264" y="1008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B</a:t>
              </a:r>
            </a:p>
          </p:txBody>
        </p:sp>
        <p:sp>
          <p:nvSpPr>
            <p:cNvPr id="93214" name="Rectangle 16"/>
            <p:cNvSpPr>
              <a:spLocks noChangeArrowheads="1"/>
            </p:cNvSpPr>
            <p:nvPr/>
          </p:nvSpPr>
          <p:spPr bwMode="auto">
            <a:xfrm>
              <a:off x="3264" y="1392"/>
              <a:ext cx="288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3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2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3</a:t>
              </a:r>
            </a:p>
          </p:txBody>
        </p:sp>
        <p:sp>
          <p:nvSpPr>
            <p:cNvPr id="93215" name="Rectangle 17"/>
            <p:cNvSpPr>
              <a:spLocks noChangeArrowheads="1"/>
            </p:cNvSpPr>
            <p:nvPr/>
          </p:nvSpPr>
          <p:spPr bwMode="auto">
            <a:xfrm>
              <a:off x="3552" y="1008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D</a:t>
              </a:r>
            </a:p>
          </p:txBody>
        </p:sp>
        <p:sp>
          <p:nvSpPr>
            <p:cNvPr id="93216" name="Rectangle 18"/>
            <p:cNvSpPr>
              <a:spLocks noChangeArrowheads="1"/>
            </p:cNvSpPr>
            <p:nvPr/>
          </p:nvSpPr>
          <p:spPr bwMode="auto">
            <a:xfrm>
              <a:off x="3552" y="1392"/>
              <a:ext cx="288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93217" name="Rectangle 19"/>
            <p:cNvSpPr>
              <a:spLocks noChangeArrowheads="1"/>
            </p:cNvSpPr>
            <p:nvPr/>
          </p:nvSpPr>
          <p:spPr bwMode="auto">
            <a:xfrm>
              <a:off x="3840" y="1008"/>
              <a:ext cx="28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E</a:t>
              </a:r>
            </a:p>
          </p:txBody>
        </p:sp>
        <p:sp>
          <p:nvSpPr>
            <p:cNvPr id="93218" name="Rectangle 20"/>
            <p:cNvSpPr>
              <a:spLocks noChangeArrowheads="1"/>
            </p:cNvSpPr>
            <p:nvPr/>
          </p:nvSpPr>
          <p:spPr bwMode="auto">
            <a:xfrm>
              <a:off x="3840" y="1392"/>
              <a:ext cx="288" cy="11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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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</a:t>
              </a:r>
            </a:p>
          </p:txBody>
        </p:sp>
        <p:sp>
          <p:nvSpPr>
            <p:cNvPr id="93219" name="Text Box 21"/>
            <p:cNvSpPr txBox="1">
              <a:spLocks noChangeArrowheads="1"/>
            </p:cNvSpPr>
            <p:nvPr/>
          </p:nvSpPr>
          <p:spPr bwMode="auto">
            <a:xfrm>
              <a:off x="3583" y="72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s</a:t>
              </a:r>
            </a:p>
          </p:txBody>
        </p:sp>
      </p:grpSp>
      <p:grpSp>
        <p:nvGrpSpPr>
          <p:cNvPr id="81942" name="Group 22"/>
          <p:cNvGrpSpPr>
            <a:grpSpLocks/>
          </p:cNvGrpSpPr>
          <p:nvPr/>
        </p:nvGrpSpPr>
        <p:grpSpPr bwMode="auto">
          <a:xfrm>
            <a:off x="6205538" y="2452688"/>
            <a:ext cx="2176462" cy="2424112"/>
            <a:chOff x="3909" y="1545"/>
            <a:chExt cx="1371" cy="1527"/>
          </a:xfrm>
        </p:grpSpPr>
        <p:sp>
          <p:nvSpPr>
            <p:cNvPr id="93203" name="Rectangle 23"/>
            <p:cNvSpPr>
              <a:spLocks noChangeArrowheads="1"/>
            </p:cNvSpPr>
            <p:nvPr/>
          </p:nvSpPr>
          <p:spPr bwMode="auto">
            <a:xfrm>
              <a:off x="3909" y="1920"/>
              <a:ext cx="274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</a:t>
              </a:r>
            </a:p>
          </p:txBody>
        </p:sp>
        <p:sp>
          <p:nvSpPr>
            <p:cNvPr id="93204" name="Rectangle 24"/>
            <p:cNvSpPr>
              <a:spLocks noChangeArrowheads="1"/>
            </p:cNvSpPr>
            <p:nvPr/>
          </p:nvSpPr>
          <p:spPr bwMode="auto">
            <a:xfrm>
              <a:off x="4183" y="1920"/>
              <a:ext cx="274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93205" name="Rectangle 25"/>
            <p:cNvSpPr>
              <a:spLocks noChangeArrowheads="1"/>
            </p:cNvSpPr>
            <p:nvPr/>
          </p:nvSpPr>
          <p:spPr bwMode="auto">
            <a:xfrm>
              <a:off x="4457" y="1920"/>
              <a:ext cx="275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</a:t>
              </a:r>
            </a:p>
          </p:txBody>
        </p:sp>
        <p:sp>
          <p:nvSpPr>
            <p:cNvPr id="93206" name="Rectangle 26"/>
            <p:cNvSpPr>
              <a:spLocks noChangeArrowheads="1"/>
            </p:cNvSpPr>
            <p:nvPr/>
          </p:nvSpPr>
          <p:spPr bwMode="auto">
            <a:xfrm>
              <a:off x="4732" y="1920"/>
              <a:ext cx="274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93207" name="Rectangle 27"/>
            <p:cNvSpPr>
              <a:spLocks noChangeArrowheads="1"/>
            </p:cNvSpPr>
            <p:nvPr/>
          </p:nvSpPr>
          <p:spPr bwMode="auto">
            <a:xfrm>
              <a:off x="5006" y="1920"/>
              <a:ext cx="274" cy="11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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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  <a:sym typeface="Symbol" pitchFamily="18" charset="2"/>
                </a:rPr>
                <a:t></a:t>
              </a:r>
            </a:p>
          </p:txBody>
        </p:sp>
        <p:sp>
          <p:nvSpPr>
            <p:cNvPr id="93208" name="Rectangle 28"/>
            <p:cNvSpPr>
              <a:spLocks noChangeArrowheads="1"/>
            </p:cNvSpPr>
            <p:nvPr/>
          </p:nvSpPr>
          <p:spPr bwMode="auto">
            <a:xfrm>
              <a:off x="3909" y="1545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A</a:t>
              </a:r>
            </a:p>
          </p:txBody>
        </p:sp>
        <p:sp>
          <p:nvSpPr>
            <p:cNvPr id="93209" name="Rectangle 29"/>
            <p:cNvSpPr>
              <a:spLocks noChangeArrowheads="1"/>
            </p:cNvSpPr>
            <p:nvPr/>
          </p:nvSpPr>
          <p:spPr bwMode="auto">
            <a:xfrm>
              <a:off x="4183" y="1545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B</a:t>
              </a:r>
            </a:p>
          </p:txBody>
        </p:sp>
        <p:sp>
          <p:nvSpPr>
            <p:cNvPr id="93210" name="Rectangle 30"/>
            <p:cNvSpPr>
              <a:spLocks noChangeArrowheads="1"/>
            </p:cNvSpPr>
            <p:nvPr/>
          </p:nvSpPr>
          <p:spPr bwMode="auto">
            <a:xfrm>
              <a:off x="4457" y="1545"/>
              <a:ext cx="275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C</a:t>
              </a:r>
            </a:p>
          </p:txBody>
        </p:sp>
        <p:sp>
          <p:nvSpPr>
            <p:cNvPr id="93211" name="Rectangle 31"/>
            <p:cNvSpPr>
              <a:spLocks noChangeArrowheads="1"/>
            </p:cNvSpPr>
            <p:nvPr/>
          </p:nvSpPr>
          <p:spPr bwMode="auto">
            <a:xfrm>
              <a:off x="4732" y="1545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D</a:t>
              </a:r>
            </a:p>
          </p:txBody>
        </p:sp>
        <p:sp>
          <p:nvSpPr>
            <p:cNvPr id="93212" name="Rectangle 32"/>
            <p:cNvSpPr>
              <a:spLocks noChangeArrowheads="1"/>
            </p:cNvSpPr>
            <p:nvPr/>
          </p:nvSpPr>
          <p:spPr bwMode="auto">
            <a:xfrm>
              <a:off x="5006" y="1545"/>
              <a:ext cx="274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E</a:t>
              </a:r>
            </a:p>
          </p:txBody>
        </p:sp>
      </p:grpSp>
      <p:grpSp>
        <p:nvGrpSpPr>
          <p:cNvPr id="81956" name="Group 36"/>
          <p:cNvGrpSpPr>
            <a:grpSpLocks/>
          </p:cNvGrpSpPr>
          <p:nvPr/>
        </p:nvGrpSpPr>
        <p:grpSpPr bwMode="auto">
          <a:xfrm>
            <a:off x="6967538" y="1981200"/>
            <a:ext cx="1143000" cy="409575"/>
            <a:chOff x="4389" y="1248"/>
            <a:chExt cx="720" cy="258"/>
          </a:xfrm>
        </p:grpSpPr>
        <p:sp>
          <p:nvSpPr>
            <p:cNvPr id="93201" name="Rectangle 34"/>
            <p:cNvSpPr>
              <a:spLocks noChangeArrowheads="1"/>
            </p:cNvSpPr>
            <p:nvPr/>
          </p:nvSpPr>
          <p:spPr bwMode="auto">
            <a:xfrm>
              <a:off x="4389" y="1248"/>
              <a:ext cx="720" cy="2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333399"/>
                </a:buClr>
                <a:buSzTx/>
                <a:buFont typeface="Monotype Sorts" pitchFamily="2" charset="2"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itchFamily="34" charset="0"/>
                  <a:ea typeface="宋体" pitchFamily="2" charset="-122"/>
                  <a:cs typeface="Arial" charset="0"/>
                </a:rPr>
                <a:t>r     s</a:t>
              </a:r>
            </a:p>
          </p:txBody>
        </p:sp>
        <p:sp>
          <p:nvSpPr>
            <p:cNvPr id="93202" name="AutoShape 35"/>
            <p:cNvSpPr>
              <a:spLocks noChangeArrowheads="1"/>
            </p:cNvSpPr>
            <p:nvPr/>
          </p:nvSpPr>
          <p:spPr bwMode="auto">
            <a:xfrm rot="16200000" flipV="1">
              <a:off x="4635" y="1344"/>
              <a:ext cx="96" cy="96"/>
            </a:xfrm>
            <a:prstGeom prst="flowChartCollat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93195" name="TextBox 1"/>
          <p:cNvSpPr txBox="1">
            <a:spLocks noChangeArrowheads="1"/>
          </p:cNvSpPr>
          <p:nvPr/>
        </p:nvSpPr>
        <p:spPr bwMode="auto">
          <a:xfrm>
            <a:off x="6750050" y="1657350"/>
            <a:ext cx="1216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rPr>
              <a:t>自然链接</a:t>
            </a:r>
          </a:p>
        </p:txBody>
      </p:sp>
      <p:sp>
        <p:nvSpPr>
          <p:cNvPr id="40" name="Line 73"/>
          <p:cNvSpPr>
            <a:spLocks noChangeShapeType="1"/>
          </p:cNvSpPr>
          <p:nvPr/>
        </p:nvSpPr>
        <p:spPr bwMode="auto">
          <a:xfrm>
            <a:off x="2667000" y="3336925"/>
            <a:ext cx="1143000" cy="0"/>
          </a:xfrm>
          <a:prstGeom prst="line">
            <a:avLst/>
          </a:prstGeom>
          <a:noFill/>
          <a:ln w="25400">
            <a:solidFill>
              <a:srgbClr val="C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41" name="Line 74"/>
          <p:cNvSpPr>
            <a:spLocks noChangeShapeType="1"/>
          </p:cNvSpPr>
          <p:nvPr/>
        </p:nvSpPr>
        <p:spPr bwMode="auto">
          <a:xfrm>
            <a:off x="2667000" y="3336925"/>
            <a:ext cx="1295400" cy="739775"/>
          </a:xfrm>
          <a:prstGeom prst="line">
            <a:avLst/>
          </a:prstGeom>
          <a:noFill/>
          <a:ln w="25400">
            <a:solidFill>
              <a:srgbClr val="C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42" name="Line 75"/>
          <p:cNvSpPr>
            <a:spLocks noChangeShapeType="1"/>
          </p:cNvSpPr>
          <p:nvPr/>
        </p:nvSpPr>
        <p:spPr bwMode="auto">
          <a:xfrm flipV="1">
            <a:off x="2514600" y="3375025"/>
            <a:ext cx="1357313" cy="1044575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43" name="Line 75"/>
          <p:cNvSpPr>
            <a:spLocks noChangeShapeType="1"/>
          </p:cNvSpPr>
          <p:nvPr/>
        </p:nvSpPr>
        <p:spPr bwMode="auto">
          <a:xfrm flipV="1">
            <a:off x="2560638" y="4076700"/>
            <a:ext cx="1355725" cy="3429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44" name="Line 75"/>
          <p:cNvSpPr>
            <a:spLocks noChangeShapeType="1"/>
          </p:cNvSpPr>
          <p:nvPr/>
        </p:nvSpPr>
        <p:spPr bwMode="auto">
          <a:xfrm flipV="1">
            <a:off x="2636838" y="4419600"/>
            <a:ext cx="1279525" cy="342900"/>
          </a:xfrm>
          <a:prstGeom prst="line">
            <a:avLst/>
          </a:prstGeom>
          <a:noFill/>
          <a:ln w="25400">
            <a:solidFill>
              <a:srgbClr val="0066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B1637C-7594-494D-A10E-0947F83BC6B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42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42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D0DB6F-EC68-4C0E-A28C-D4152034349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42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42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2609850"/>
            <a:ext cx="2209800" cy="1581150"/>
            <a:chOff x="576" y="2928"/>
            <a:chExt cx="1536" cy="996"/>
          </a:xfrm>
        </p:grpSpPr>
        <p:sp>
          <p:nvSpPr>
            <p:cNvPr id="94257" name="Rectangle 5"/>
            <p:cNvSpPr>
              <a:spLocks noChangeArrowheads="1"/>
            </p:cNvSpPr>
            <p:nvPr/>
          </p:nvSpPr>
          <p:spPr bwMode="auto">
            <a:xfrm>
              <a:off x="1600" y="3675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9</a:t>
              </a:r>
            </a:p>
          </p:txBody>
        </p:sp>
        <p:sp>
          <p:nvSpPr>
            <p:cNvPr id="94258" name="Rectangle 6"/>
            <p:cNvSpPr>
              <a:spLocks noChangeArrowheads="1"/>
            </p:cNvSpPr>
            <p:nvPr/>
          </p:nvSpPr>
          <p:spPr bwMode="auto">
            <a:xfrm>
              <a:off x="1088" y="3675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</a:t>
              </a:r>
            </a:p>
          </p:txBody>
        </p:sp>
        <p:sp>
          <p:nvSpPr>
            <p:cNvPr id="94259" name="Rectangle 7"/>
            <p:cNvSpPr>
              <a:spLocks noChangeArrowheads="1"/>
            </p:cNvSpPr>
            <p:nvPr/>
          </p:nvSpPr>
          <p:spPr bwMode="auto">
            <a:xfrm>
              <a:off x="576" y="3675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</a:t>
              </a:r>
            </a:p>
          </p:txBody>
        </p:sp>
        <p:sp>
          <p:nvSpPr>
            <p:cNvPr id="94260" name="Rectangle 8"/>
            <p:cNvSpPr>
              <a:spLocks noChangeArrowheads="1"/>
            </p:cNvSpPr>
            <p:nvPr/>
          </p:nvSpPr>
          <p:spPr bwMode="auto">
            <a:xfrm>
              <a:off x="1600" y="3426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6</a:t>
              </a:r>
            </a:p>
          </p:txBody>
        </p:sp>
        <p:sp>
          <p:nvSpPr>
            <p:cNvPr id="94261" name="Rectangle 9"/>
            <p:cNvSpPr>
              <a:spLocks noChangeArrowheads="1"/>
            </p:cNvSpPr>
            <p:nvPr/>
          </p:nvSpPr>
          <p:spPr bwMode="auto">
            <a:xfrm>
              <a:off x="1088" y="3426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</a:t>
              </a:r>
            </a:p>
          </p:txBody>
        </p:sp>
        <p:sp>
          <p:nvSpPr>
            <p:cNvPr id="94262" name="Rectangle 10"/>
            <p:cNvSpPr>
              <a:spLocks noChangeArrowheads="1"/>
            </p:cNvSpPr>
            <p:nvPr/>
          </p:nvSpPr>
          <p:spPr bwMode="auto">
            <a:xfrm>
              <a:off x="576" y="3426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4</a:t>
              </a:r>
            </a:p>
          </p:txBody>
        </p:sp>
        <p:sp>
          <p:nvSpPr>
            <p:cNvPr id="94263" name="Rectangle 11"/>
            <p:cNvSpPr>
              <a:spLocks noChangeArrowheads="1"/>
            </p:cNvSpPr>
            <p:nvPr/>
          </p:nvSpPr>
          <p:spPr bwMode="auto">
            <a:xfrm>
              <a:off x="1600" y="3177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3</a:t>
              </a:r>
            </a:p>
          </p:txBody>
        </p:sp>
        <p:sp>
          <p:nvSpPr>
            <p:cNvPr id="94264" name="Rectangle 12"/>
            <p:cNvSpPr>
              <a:spLocks noChangeArrowheads="1"/>
            </p:cNvSpPr>
            <p:nvPr/>
          </p:nvSpPr>
          <p:spPr bwMode="auto">
            <a:xfrm>
              <a:off x="1088" y="3177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2</a:t>
              </a:r>
            </a:p>
          </p:txBody>
        </p:sp>
        <p:sp>
          <p:nvSpPr>
            <p:cNvPr id="94265" name="Rectangle 13"/>
            <p:cNvSpPr>
              <a:spLocks noChangeArrowheads="1"/>
            </p:cNvSpPr>
            <p:nvPr/>
          </p:nvSpPr>
          <p:spPr bwMode="auto">
            <a:xfrm>
              <a:off x="576" y="3177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1</a:t>
              </a:r>
            </a:p>
          </p:txBody>
        </p:sp>
        <p:sp>
          <p:nvSpPr>
            <p:cNvPr id="94266" name="Rectangle 14"/>
            <p:cNvSpPr>
              <a:spLocks noChangeArrowheads="1"/>
            </p:cNvSpPr>
            <p:nvPr/>
          </p:nvSpPr>
          <p:spPr bwMode="auto">
            <a:xfrm>
              <a:off x="1600" y="2928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</a:t>
              </a:r>
            </a:p>
          </p:txBody>
        </p:sp>
        <p:sp>
          <p:nvSpPr>
            <p:cNvPr id="94267" name="Rectangle 15"/>
            <p:cNvSpPr>
              <a:spLocks noChangeArrowheads="1"/>
            </p:cNvSpPr>
            <p:nvPr/>
          </p:nvSpPr>
          <p:spPr bwMode="auto">
            <a:xfrm>
              <a:off x="1088" y="2928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B</a:t>
              </a:r>
            </a:p>
          </p:txBody>
        </p:sp>
        <p:sp>
          <p:nvSpPr>
            <p:cNvPr id="94268" name="Rectangle 16"/>
            <p:cNvSpPr>
              <a:spLocks noChangeArrowheads="1"/>
            </p:cNvSpPr>
            <p:nvPr/>
          </p:nvSpPr>
          <p:spPr bwMode="auto">
            <a:xfrm>
              <a:off x="576" y="2928"/>
              <a:ext cx="51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A</a:t>
              </a:r>
            </a:p>
          </p:txBody>
        </p:sp>
        <p:sp>
          <p:nvSpPr>
            <p:cNvPr id="94269" name="Line 17"/>
            <p:cNvSpPr>
              <a:spLocks noChangeShapeType="1"/>
            </p:cNvSpPr>
            <p:nvPr/>
          </p:nvSpPr>
          <p:spPr bwMode="auto">
            <a:xfrm>
              <a:off x="576" y="2928"/>
              <a:ext cx="15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0" name="Line 18"/>
            <p:cNvSpPr>
              <a:spLocks noChangeShapeType="1"/>
            </p:cNvSpPr>
            <p:nvPr/>
          </p:nvSpPr>
          <p:spPr bwMode="auto">
            <a:xfrm>
              <a:off x="576" y="3177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1" name="Line 19"/>
            <p:cNvSpPr>
              <a:spLocks noChangeShapeType="1"/>
            </p:cNvSpPr>
            <p:nvPr/>
          </p:nvSpPr>
          <p:spPr bwMode="auto">
            <a:xfrm>
              <a:off x="576" y="3426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2" name="Line 20"/>
            <p:cNvSpPr>
              <a:spLocks noChangeShapeType="1"/>
            </p:cNvSpPr>
            <p:nvPr/>
          </p:nvSpPr>
          <p:spPr bwMode="auto">
            <a:xfrm>
              <a:off x="576" y="3675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3" name="Line 21"/>
            <p:cNvSpPr>
              <a:spLocks noChangeShapeType="1"/>
            </p:cNvSpPr>
            <p:nvPr/>
          </p:nvSpPr>
          <p:spPr bwMode="auto">
            <a:xfrm>
              <a:off x="576" y="3924"/>
              <a:ext cx="15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4" name="Line 22"/>
            <p:cNvSpPr>
              <a:spLocks noChangeShapeType="1"/>
            </p:cNvSpPr>
            <p:nvPr/>
          </p:nvSpPr>
          <p:spPr bwMode="auto">
            <a:xfrm>
              <a:off x="576" y="2928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5" name="Line 23"/>
            <p:cNvSpPr>
              <a:spLocks noChangeShapeType="1"/>
            </p:cNvSpPr>
            <p:nvPr/>
          </p:nvSpPr>
          <p:spPr bwMode="auto">
            <a:xfrm>
              <a:off x="1088" y="2928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6" name="Line 24"/>
            <p:cNvSpPr>
              <a:spLocks noChangeShapeType="1"/>
            </p:cNvSpPr>
            <p:nvPr/>
          </p:nvSpPr>
          <p:spPr bwMode="auto">
            <a:xfrm>
              <a:off x="1600" y="2928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4277" name="Line 25"/>
            <p:cNvSpPr>
              <a:spLocks noChangeShapeType="1"/>
            </p:cNvSpPr>
            <p:nvPr/>
          </p:nvSpPr>
          <p:spPr bwMode="auto">
            <a:xfrm>
              <a:off x="2112" y="2928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aphicFrame>
        <p:nvGraphicFramePr>
          <p:cNvPr id="82970" name="Group 26"/>
          <p:cNvGraphicFramePr>
            <a:graphicFrameLocks noGrp="1"/>
          </p:cNvGraphicFramePr>
          <p:nvPr/>
        </p:nvGraphicFramePr>
        <p:xfrm>
          <a:off x="3124200" y="2762250"/>
          <a:ext cx="1600200" cy="119380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4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984" name="Group 40"/>
          <p:cNvGraphicFramePr>
            <a:graphicFrameLocks noGrp="1"/>
          </p:cNvGraphicFramePr>
          <p:nvPr/>
        </p:nvGraphicFramePr>
        <p:xfrm>
          <a:off x="5486400" y="2716213"/>
          <a:ext cx="3200400" cy="1309688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3006" name="Text Box 62"/>
          <p:cNvSpPr txBox="1">
            <a:spLocks noChangeArrowheads="1"/>
          </p:cNvSpPr>
          <p:nvPr/>
        </p:nvSpPr>
        <p:spPr bwMode="auto">
          <a:xfrm>
            <a:off x="1371600" y="1954213"/>
            <a:ext cx="533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0" i="0" u="none" strike="noStrike" kern="1200" cap="none" spc="0" normalizeH="0" baseline="-2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仿宋_GB2312" pitchFamily="49" charset="-122"/>
                <a:cs typeface="Arial" charset="0"/>
              </a:rPr>
              <a:t>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R</a:t>
            </a:r>
          </a:p>
        </p:txBody>
      </p:sp>
      <p:sp>
        <p:nvSpPr>
          <p:cNvPr id="83007" name="Text Box 63"/>
          <p:cNvSpPr txBox="1">
            <a:spLocks noChangeArrowheads="1"/>
          </p:cNvSpPr>
          <p:nvPr/>
        </p:nvSpPr>
        <p:spPr bwMode="auto">
          <a:xfrm>
            <a:off x="3657600" y="1954213"/>
            <a:ext cx="533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0" i="0" u="none" strike="noStrike" kern="1200" cap="none" spc="0" normalizeH="0" baseline="-2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仿宋_GB2312" pitchFamily="49" charset="-122"/>
                <a:cs typeface="Arial" charset="0"/>
              </a:rPr>
              <a:t> 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S</a:t>
            </a:r>
          </a:p>
        </p:txBody>
      </p:sp>
      <p:grpSp>
        <p:nvGrpSpPr>
          <p:cNvPr id="83008" name="Group 64"/>
          <p:cNvGrpSpPr>
            <a:grpSpLocks/>
          </p:cNvGrpSpPr>
          <p:nvPr/>
        </p:nvGrpSpPr>
        <p:grpSpPr bwMode="auto">
          <a:xfrm>
            <a:off x="6248400" y="1981200"/>
            <a:ext cx="1676400" cy="579438"/>
            <a:chOff x="3648" y="991"/>
            <a:chExt cx="1008" cy="383"/>
          </a:xfrm>
        </p:grpSpPr>
        <p:sp>
          <p:nvSpPr>
            <p:cNvPr id="94255" name="Text Box 65"/>
            <p:cNvSpPr txBox="1">
              <a:spLocks noChangeArrowheads="1"/>
            </p:cNvSpPr>
            <p:nvPr/>
          </p:nvSpPr>
          <p:spPr bwMode="auto">
            <a:xfrm>
              <a:off x="3648" y="991"/>
              <a:ext cx="1008" cy="3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0" i="0" u="none" strike="noStrike" kern="1200" cap="none" spc="0" normalizeH="0" baseline="-2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仿宋_GB2312" pitchFamily="49" charset="-122"/>
                  <a:cs typeface="Arial" charset="0"/>
                </a:rPr>
                <a:t> </a:t>
              </a:r>
              <a:r>
                <a:rPr kumimoji="1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仿宋_GB2312" pitchFamily="49" charset="-122"/>
                  <a:cs typeface="Times New Roman" pitchFamily="18" charset="0"/>
                </a:rPr>
                <a:t>R    S</a:t>
              </a:r>
            </a:p>
          </p:txBody>
        </p:sp>
        <p:sp>
          <p:nvSpPr>
            <p:cNvPr id="94256" name="AutoShape 66"/>
            <p:cNvSpPr>
              <a:spLocks noChangeArrowheads="1"/>
            </p:cNvSpPr>
            <p:nvPr/>
          </p:nvSpPr>
          <p:spPr bwMode="auto">
            <a:xfrm rot="5400000">
              <a:off x="4080" y="1087"/>
              <a:ext cx="192" cy="192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36" name="Line 73">
            <a:extLst>
              <a:ext uri="{FF2B5EF4-FFF2-40B4-BE49-F238E27FC236}">
                <a16:creationId xmlns:a16="http://schemas.microsoft.com/office/drawing/2014/main" id="{6B1BE573-D9D5-4C65-8421-C0C55D48C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2400" y="3233738"/>
            <a:ext cx="465666" cy="82021"/>
          </a:xfrm>
          <a:prstGeom prst="line">
            <a:avLst/>
          </a:prstGeom>
          <a:noFill/>
          <a:ln w="25400">
            <a:solidFill>
              <a:srgbClr val="C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37" name="Line 74">
            <a:extLst>
              <a:ext uri="{FF2B5EF4-FFF2-40B4-BE49-F238E27FC236}">
                <a16:creationId xmlns:a16="http://schemas.microsoft.com/office/drawing/2014/main" id="{77CA9630-BEA5-4D6E-BF98-EED5D27FE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6999" y="3620560"/>
            <a:ext cx="465662" cy="151342"/>
          </a:xfrm>
          <a:prstGeom prst="line">
            <a:avLst/>
          </a:prstGeom>
          <a:noFill/>
          <a:ln w="25400">
            <a:solidFill>
              <a:srgbClr val="C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3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3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2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006" grpId="0" autoUpdateAnimBg="0"/>
      <p:bldP spid="83007" grpId="0" autoUpdateAnimBg="0"/>
      <p:bldP spid="36" grpId="0" animBg="1"/>
      <p:bldP spid="3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3D1F76-DB31-4E6A-ADCC-33E9AE05CC8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52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52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F42EF7-108B-4CF5-97F0-9B411344B17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52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52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补充例：求选了</a:t>
            </a:r>
            <a:r>
              <a:rPr lang="en-US" altLang="zh-CN" dirty="0"/>
              <a:t>2</a:t>
            </a:r>
            <a:r>
              <a:rPr lang="zh-CN" altLang="en-US" dirty="0"/>
              <a:t>号课程的学生的</a:t>
            </a:r>
            <a:r>
              <a:rPr lang="zh-CN" altLang="en-US" b="1" dirty="0">
                <a:solidFill>
                  <a:schemeClr val="tx2"/>
                </a:solidFill>
              </a:rPr>
              <a:t>学号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tx2"/>
                </a:solidFill>
              </a:rPr>
              <a:t>姓名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80"/>
                </a:solidFill>
              </a:rPr>
              <a:t>   </a:t>
            </a:r>
            <a:r>
              <a:rPr lang="en-US" altLang="zh-CN" dirty="0" err="1">
                <a:solidFill>
                  <a:srgbClr val="000080"/>
                </a:solidFill>
              </a:rPr>
              <a:t>Π</a:t>
            </a:r>
            <a:r>
              <a:rPr lang="en-US" altLang="zh-CN" baseline="-10000" dirty="0" err="1">
                <a:solidFill>
                  <a:srgbClr val="000080"/>
                </a:solidFill>
              </a:rPr>
              <a:t>Sno,SName</a:t>
            </a:r>
            <a:r>
              <a:rPr lang="en-US" altLang="zh-CN" dirty="0">
                <a:solidFill>
                  <a:srgbClr val="000080"/>
                </a:solidFill>
              </a:rPr>
              <a:t>(Student      </a:t>
            </a:r>
            <a:r>
              <a:rPr lang="en-US" altLang="zh-CN" sz="4000" dirty="0" err="1">
                <a:solidFill>
                  <a:srgbClr val="000080"/>
                </a:solidFill>
              </a:rPr>
              <a:t>σ</a:t>
            </a:r>
            <a:r>
              <a:rPr lang="en-US" altLang="zh-CN" sz="4000" baseline="-12000" dirty="0" err="1">
                <a:solidFill>
                  <a:srgbClr val="000080"/>
                </a:solidFill>
              </a:rPr>
              <a:t>Cno</a:t>
            </a:r>
            <a:r>
              <a:rPr lang="en-US" altLang="zh-CN" sz="4000" baseline="-12000" dirty="0">
                <a:solidFill>
                  <a:srgbClr val="000080"/>
                </a:solidFill>
              </a:rPr>
              <a:t>=‘2’</a:t>
            </a:r>
            <a:r>
              <a:rPr lang="en-US" altLang="zh-CN" dirty="0">
                <a:solidFill>
                  <a:srgbClr val="000080"/>
                </a:solidFill>
              </a:rPr>
              <a:t> SC</a:t>
            </a:r>
            <a:r>
              <a:rPr lang="zh-CN" altLang="en-US" dirty="0">
                <a:solidFill>
                  <a:srgbClr val="000080"/>
                </a:solidFill>
              </a:rPr>
              <a:t>）</a:t>
            </a:r>
          </a:p>
        </p:txBody>
      </p:sp>
      <p:sp>
        <p:nvSpPr>
          <p:cNvPr id="95239" name="AutoShape 4"/>
          <p:cNvSpPr>
            <a:spLocks noChangeArrowheads="1"/>
          </p:cNvSpPr>
          <p:nvPr/>
        </p:nvSpPr>
        <p:spPr bwMode="auto">
          <a:xfrm rot="5400000">
            <a:off x="4724400" y="3276600"/>
            <a:ext cx="228600" cy="533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95240" name="Rectangle 5"/>
          <p:cNvSpPr>
            <a:spLocks noChangeArrowheads="1"/>
          </p:cNvSpPr>
          <p:nvPr/>
        </p:nvSpPr>
        <p:spPr bwMode="auto">
          <a:xfrm>
            <a:off x="609600" y="2743200"/>
            <a:ext cx="8229600" cy="2362200"/>
          </a:xfrm>
          <a:prstGeom prst="rect">
            <a:avLst/>
          </a:prstGeom>
          <a:solidFill>
            <a:schemeClr val="bg1">
              <a:alpha val="89803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8" y="2743200"/>
            <a:ext cx="751522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4511675"/>
            <a:ext cx="60769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BF3655-795A-40B7-B94C-3746B934ACD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62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62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FF31703-988A-4C54-8F3B-654B9546AB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62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62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补充例</a:t>
            </a:r>
            <a:r>
              <a:rPr lang="en-US" altLang="zh-CN" dirty="0"/>
              <a:t>3</a:t>
            </a:r>
            <a:r>
              <a:rPr lang="zh-CN" altLang="en-US" dirty="0"/>
              <a:t>：求选了</a:t>
            </a:r>
            <a:r>
              <a:rPr lang="en-US" altLang="zh-CN" dirty="0"/>
              <a:t>2</a:t>
            </a:r>
            <a:r>
              <a:rPr lang="zh-CN" altLang="en-US" dirty="0"/>
              <a:t>号课程的学生的学号和姓名。</a:t>
            </a: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000080"/>
                </a:solidFill>
              </a:rPr>
              <a:t>   </a:t>
            </a: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80"/>
                </a:solidFill>
              </a:rPr>
              <a:t>   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FEA2028-0920-421A-B9D9-8EA917BF69DC}"/>
              </a:ext>
            </a:extLst>
          </p:cNvPr>
          <p:cNvGrpSpPr/>
          <p:nvPr/>
        </p:nvGrpSpPr>
        <p:grpSpPr>
          <a:xfrm>
            <a:off x="1079499" y="2662479"/>
            <a:ext cx="6417733" cy="584775"/>
            <a:chOff x="1079499" y="2662479"/>
            <a:chExt cx="6417733" cy="58477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F271C62-E6F4-4DA3-A463-01A64A2C65BC}"/>
                </a:ext>
              </a:extLst>
            </p:cNvPr>
            <p:cNvSpPr txBox="1"/>
            <p:nvPr/>
          </p:nvSpPr>
          <p:spPr>
            <a:xfrm>
              <a:off x="1079499" y="2662479"/>
              <a:ext cx="641773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eaLnBrk="1" hangingPunct="1">
                <a:buNone/>
              </a:pPr>
              <a:r>
                <a:rPr lang="en-US" altLang="zh-CN" sz="3200" dirty="0" err="1">
                  <a:solidFill>
                    <a:srgbClr val="000080"/>
                  </a:solidFill>
                </a:rPr>
                <a:t>Π</a:t>
              </a:r>
              <a:r>
                <a:rPr lang="en-US" altLang="zh-CN" sz="3200" baseline="-10000" dirty="0" err="1">
                  <a:solidFill>
                    <a:srgbClr val="000080"/>
                  </a:solidFill>
                </a:rPr>
                <a:t>Sno,SName</a:t>
              </a:r>
              <a:r>
                <a:rPr lang="en-US" altLang="zh-CN" sz="3200" dirty="0">
                  <a:solidFill>
                    <a:srgbClr val="000080"/>
                  </a:solidFill>
                </a:rPr>
                <a:t> </a:t>
              </a:r>
              <a:r>
                <a:rPr lang="en-US" altLang="zh-CN" sz="3200" dirty="0" err="1">
                  <a:solidFill>
                    <a:srgbClr val="000080"/>
                  </a:solidFill>
                </a:rPr>
                <a:t>σ</a:t>
              </a:r>
              <a:r>
                <a:rPr lang="en-US" altLang="zh-CN" sz="3200" baseline="-12000" dirty="0" err="1">
                  <a:solidFill>
                    <a:srgbClr val="000080"/>
                  </a:solidFill>
                </a:rPr>
                <a:t>Cno</a:t>
              </a:r>
              <a:r>
                <a:rPr lang="en-US" altLang="zh-CN" sz="3200" baseline="-12000" dirty="0">
                  <a:solidFill>
                    <a:srgbClr val="000080"/>
                  </a:solidFill>
                </a:rPr>
                <a:t>=‘2’</a:t>
              </a:r>
              <a:r>
                <a:rPr lang="en-US" altLang="zh-CN" sz="3200" dirty="0">
                  <a:solidFill>
                    <a:srgbClr val="000080"/>
                  </a:solidFill>
                </a:rPr>
                <a:t> (Student      SC</a:t>
              </a:r>
              <a:r>
                <a:rPr lang="zh-CN" altLang="en-US" sz="3200" dirty="0">
                  <a:solidFill>
                    <a:srgbClr val="000080"/>
                  </a:solidFill>
                </a:rPr>
                <a:t>）</a:t>
              </a:r>
              <a:endParaRPr lang="en-US" altLang="zh-CN" sz="3200" dirty="0"/>
            </a:p>
          </p:txBody>
        </p:sp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D2D2CD02-6F91-4E25-BA0A-1D7E0FF91F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057900" y="2688166"/>
              <a:ext cx="228600" cy="53340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5682EED-3C2B-450D-BB11-5354ED64404E}"/>
              </a:ext>
            </a:extLst>
          </p:cNvPr>
          <p:cNvGrpSpPr/>
          <p:nvPr/>
        </p:nvGrpSpPr>
        <p:grpSpPr>
          <a:xfrm>
            <a:off x="1079499" y="3429000"/>
            <a:ext cx="6841068" cy="707886"/>
            <a:chOff x="1079499" y="3429000"/>
            <a:chExt cx="6841068" cy="707886"/>
          </a:xfrm>
        </p:grpSpPr>
        <p:sp>
          <p:nvSpPr>
            <p:cNvPr id="96263" name="AutoShape 4"/>
            <p:cNvSpPr>
              <a:spLocks noChangeArrowheads="1"/>
            </p:cNvSpPr>
            <p:nvPr/>
          </p:nvSpPr>
          <p:spPr bwMode="auto">
            <a:xfrm rot="5400000">
              <a:off x="4669367" y="3594100"/>
              <a:ext cx="228600" cy="53340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cxnSp>
          <p:nvCxnSpPr>
            <p:cNvPr id="4" name="直接连接符 3"/>
            <p:cNvCxnSpPr/>
            <p:nvPr/>
          </p:nvCxnSpPr>
          <p:spPr bwMode="auto">
            <a:xfrm>
              <a:off x="5168900" y="4136886"/>
              <a:ext cx="2133600" cy="0"/>
            </a:xfrm>
            <a:prstGeom prst="line">
              <a:avLst/>
            </a:prstGeom>
            <a:ln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0DF8A88-1225-4D1F-9487-D43707B65035}"/>
                </a:ext>
              </a:extLst>
            </p:cNvPr>
            <p:cNvSpPr txBox="1"/>
            <p:nvPr/>
          </p:nvSpPr>
          <p:spPr>
            <a:xfrm>
              <a:off x="1079499" y="3429000"/>
              <a:ext cx="684106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 err="1">
                  <a:solidFill>
                    <a:srgbClr val="000080"/>
                  </a:solidFill>
                </a:rPr>
                <a:t>Π</a:t>
              </a:r>
              <a:r>
                <a:rPr lang="en-US" altLang="zh-CN" sz="3200" baseline="-10000" dirty="0" err="1">
                  <a:solidFill>
                    <a:srgbClr val="000080"/>
                  </a:solidFill>
                </a:rPr>
                <a:t>Sno,SName</a:t>
              </a:r>
              <a:r>
                <a:rPr lang="en-US" altLang="zh-CN" sz="3200" dirty="0">
                  <a:solidFill>
                    <a:srgbClr val="000080"/>
                  </a:solidFill>
                </a:rPr>
                <a:t>(Student      </a:t>
              </a:r>
              <a:r>
                <a:rPr lang="en-US" altLang="zh-CN" sz="4000" dirty="0" err="1">
                  <a:solidFill>
                    <a:srgbClr val="000080"/>
                  </a:solidFill>
                </a:rPr>
                <a:t>σ</a:t>
              </a:r>
              <a:r>
                <a:rPr lang="en-US" altLang="zh-CN" sz="4000" baseline="-12000" dirty="0" err="1">
                  <a:solidFill>
                    <a:srgbClr val="000080"/>
                  </a:solidFill>
                </a:rPr>
                <a:t>Cno</a:t>
              </a:r>
              <a:r>
                <a:rPr lang="en-US" altLang="zh-CN" sz="4000" baseline="-12000" dirty="0">
                  <a:solidFill>
                    <a:srgbClr val="000080"/>
                  </a:solidFill>
                </a:rPr>
                <a:t>=‘2’</a:t>
              </a:r>
              <a:r>
                <a:rPr lang="en-US" altLang="zh-CN" sz="3200" dirty="0">
                  <a:solidFill>
                    <a:srgbClr val="000080"/>
                  </a:solidFill>
                </a:rPr>
                <a:t> SC</a:t>
              </a:r>
              <a:r>
                <a:rPr lang="zh-CN" altLang="en-US" sz="3200" dirty="0">
                  <a:solidFill>
                    <a:srgbClr val="000080"/>
                  </a:solidFill>
                </a:rPr>
                <a:t>）</a:t>
              </a:r>
              <a:endParaRPr lang="zh-CN" altLang="en-US" sz="3200" dirty="0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A28C24-0B33-4CA0-983D-7037D34D894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72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FFCAE6-768F-42C0-BE5A-0E4957DED82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72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72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576930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补充例</a:t>
            </a:r>
            <a:r>
              <a:rPr lang="en-US" altLang="zh-CN" dirty="0"/>
              <a:t>4</a:t>
            </a:r>
            <a:r>
              <a:rPr lang="zh-CN" altLang="en-US" dirty="0"/>
              <a:t>：求选修</a:t>
            </a:r>
            <a:r>
              <a:rPr lang="zh-CN" altLang="en-US" dirty="0">
                <a:solidFill>
                  <a:srgbClr val="0000FF"/>
                </a:solidFill>
              </a:rPr>
              <a:t>数据库</a:t>
            </a:r>
            <a:r>
              <a:rPr lang="zh-CN" altLang="en-US" dirty="0"/>
              <a:t>的学生的</a:t>
            </a:r>
            <a:r>
              <a:rPr lang="zh-CN" altLang="en-US" dirty="0">
                <a:solidFill>
                  <a:srgbClr val="0000FF"/>
                </a:solidFill>
              </a:rPr>
              <a:t>学号和姓名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rgbClr val="000080"/>
              </a:solidFill>
            </a:endParaRPr>
          </a:p>
          <a:p>
            <a:pPr eaLnBrk="1" hangingPunct="1"/>
            <a:endParaRPr lang="zh-CN" altLang="en-US" dirty="0"/>
          </a:p>
        </p:txBody>
      </p:sp>
      <p:pic>
        <p:nvPicPr>
          <p:cNvPr id="9728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254" y="3382433"/>
            <a:ext cx="751522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0" y="2032000"/>
            <a:ext cx="6305550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4999038"/>
            <a:ext cx="6076950" cy="143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90" name="矩形 1"/>
          <p:cNvSpPr>
            <a:spLocks noChangeArrowheads="1"/>
          </p:cNvSpPr>
          <p:nvPr/>
        </p:nvSpPr>
        <p:spPr bwMode="auto">
          <a:xfrm>
            <a:off x="533400" y="2667000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F28918-34AD-43B4-ADC9-C4F8E16B7DE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83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83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41A8C3-1B8E-4F4D-A7F6-7EBEC7126A4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2.4.5 </a:t>
            </a:r>
            <a:r>
              <a:rPr lang="zh-CN" altLang="en-US" dirty="0"/>
              <a:t>专门的关系运算 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</a:t>
            </a:r>
            <a:r>
              <a:rPr lang="zh-CN" altLang="en-US" dirty="0"/>
              <a:t>连接</a:t>
            </a:r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10872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补充例</a:t>
            </a:r>
            <a:r>
              <a:rPr lang="en-US" altLang="zh-CN" dirty="0"/>
              <a:t>4</a:t>
            </a:r>
            <a:r>
              <a:rPr lang="zh-CN" altLang="en-US" dirty="0"/>
              <a:t>：求选修数据库原理的学生的学号和姓名。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000080"/>
                </a:solidFill>
              </a:rPr>
              <a:t>Π</a:t>
            </a:r>
            <a:r>
              <a:rPr lang="en-US" altLang="zh-CN" sz="2400" baseline="-10000" dirty="0" err="1">
                <a:solidFill>
                  <a:srgbClr val="000080"/>
                </a:solidFill>
              </a:rPr>
              <a:t>Sno,SName</a:t>
            </a:r>
            <a:r>
              <a:rPr lang="en-US" altLang="zh-CN" sz="2400" dirty="0">
                <a:solidFill>
                  <a:srgbClr val="000080"/>
                </a:solidFill>
              </a:rPr>
              <a:t>(Student        </a:t>
            </a:r>
            <a:r>
              <a:rPr lang="en-US" altLang="zh-CN" sz="2400" dirty="0">
                <a:solidFill>
                  <a:srgbClr val="FF0000"/>
                </a:solidFill>
              </a:rPr>
              <a:t>SC</a:t>
            </a:r>
            <a:r>
              <a:rPr lang="en-US" altLang="zh-CN" sz="2400" dirty="0">
                <a:solidFill>
                  <a:srgbClr val="000080"/>
                </a:solidFill>
              </a:rPr>
              <a:t>       </a:t>
            </a:r>
            <a:r>
              <a:rPr lang="en-US" altLang="zh-CN" dirty="0" err="1">
                <a:solidFill>
                  <a:srgbClr val="000080"/>
                </a:solidFill>
              </a:rPr>
              <a:t>σ</a:t>
            </a:r>
            <a:r>
              <a:rPr lang="en-US" altLang="zh-CN" baseline="-12000" dirty="0" err="1">
                <a:solidFill>
                  <a:srgbClr val="000080"/>
                </a:solidFill>
              </a:rPr>
              <a:t>Cname</a:t>
            </a:r>
            <a:r>
              <a:rPr lang="en-US" altLang="zh-CN" baseline="-12000" dirty="0">
                <a:solidFill>
                  <a:srgbClr val="000080"/>
                </a:solidFill>
              </a:rPr>
              <a:t>=‘</a:t>
            </a:r>
            <a:r>
              <a:rPr lang="zh-CN" altLang="en-US" baseline="-12000" dirty="0">
                <a:solidFill>
                  <a:srgbClr val="000080"/>
                </a:solidFill>
              </a:rPr>
              <a:t>数据库原理</a:t>
            </a:r>
            <a:r>
              <a:rPr lang="en-US" altLang="zh-CN" baseline="-12000" dirty="0">
                <a:solidFill>
                  <a:srgbClr val="000080"/>
                </a:solidFill>
              </a:rPr>
              <a:t>’</a:t>
            </a:r>
            <a:r>
              <a:rPr lang="zh-CN" altLang="en-US" sz="2400" dirty="0">
                <a:solidFill>
                  <a:srgbClr val="000080"/>
                </a:solidFill>
              </a:rPr>
              <a:t> </a:t>
            </a:r>
            <a:r>
              <a:rPr lang="en-US" altLang="zh-CN" sz="2400" dirty="0">
                <a:solidFill>
                  <a:srgbClr val="000080"/>
                </a:solidFill>
              </a:rPr>
              <a:t>Course)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solidFill>
                <a:srgbClr val="000080"/>
              </a:solidFill>
            </a:endParaRPr>
          </a:p>
          <a:p>
            <a:pPr eaLnBrk="1" hangingPunct="1"/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533400" y="2667000"/>
            <a:ext cx="8458200" cy="457200"/>
            <a:chOff x="533400" y="2667000"/>
            <a:chExt cx="8458200" cy="457200"/>
          </a:xfrm>
        </p:grpSpPr>
        <p:sp>
          <p:nvSpPr>
            <p:cNvPr id="98311" name="AutoShape 4"/>
            <p:cNvSpPr>
              <a:spLocks noChangeArrowheads="1"/>
            </p:cNvSpPr>
            <p:nvPr/>
          </p:nvSpPr>
          <p:spPr bwMode="auto">
            <a:xfrm rot="5400000">
              <a:off x="3352800" y="2590800"/>
              <a:ext cx="228600" cy="53340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8312" name="AutoShape 5"/>
            <p:cNvSpPr>
              <a:spLocks noChangeArrowheads="1"/>
            </p:cNvSpPr>
            <p:nvPr/>
          </p:nvSpPr>
          <p:spPr bwMode="auto">
            <a:xfrm rot="5400000">
              <a:off x="4407024" y="2590800"/>
              <a:ext cx="228600" cy="533400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98313" name="矩形 1"/>
            <p:cNvSpPr>
              <a:spLocks noChangeArrowheads="1"/>
            </p:cNvSpPr>
            <p:nvPr/>
          </p:nvSpPr>
          <p:spPr bwMode="auto">
            <a:xfrm>
              <a:off x="533400" y="2667000"/>
              <a:ext cx="845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83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E403F0-2FA2-41CA-A66C-2E91FBE2EE9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993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993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4E3A88-76DA-48AF-9725-29F5F1415BA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外连接（了解内容）</a:t>
            </a:r>
          </a:p>
        </p:txBody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319091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latin typeface="Courier New" pitchFamily="49" charset="0"/>
              </a:rPr>
              <a:t>外连接</a:t>
            </a:r>
          </a:p>
          <a:p>
            <a:pPr lvl="1" eaLnBrk="1" hangingPunct="1"/>
            <a:r>
              <a:rPr lang="zh-CN" altLang="en-US" sz="2400" dirty="0">
                <a:latin typeface="Courier New" pitchFamily="49" charset="0"/>
              </a:rPr>
              <a:t>为</a:t>
            </a:r>
            <a:r>
              <a:rPr lang="zh-CN" altLang="en-US" sz="2400" dirty="0">
                <a:solidFill>
                  <a:srgbClr val="FF0000"/>
                </a:solidFill>
                <a:latin typeface="Courier New" pitchFamily="49" charset="0"/>
              </a:rPr>
              <a:t>避免</a:t>
            </a:r>
            <a:r>
              <a:rPr lang="zh-CN" altLang="en-US" sz="2400" dirty="0">
                <a:latin typeface="Courier New" pitchFamily="49" charset="0"/>
              </a:rPr>
              <a:t>自然连接时</a:t>
            </a:r>
            <a:r>
              <a:rPr lang="zh-CN" altLang="en-US" sz="2400" dirty="0">
                <a:solidFill>
                  <a:srgbClr val="FF0000"/>
                </a:solidFill>
                <a:latin typeface="Courier New" pitchFamily="49" charset="0"/>
              </a:rPr>
              <a:t>因失配</a:t>
            </a:r>
            <a:r>
              <a:rPr lang="zh-CN" altLang="en-US" sz="2400" dirty="0">
                <a:latin typeface="Courier New" pitchFamily="49" charset="0"/>
              </a:rPr>
              <a:t>而发生的</a:t>
            </a:r>
            <a:r>
              <a:rPr lang="zh-CN" altLang="en-US" sz="2400" dirty="0">
                <a:solidFill>
                  <a:srgbClr val="FF0000"/>
                </a:solidFill>
                <a:latin typeface="Courier New" pitchFamily="49" charset="0"/>
              </a:rPr>
              <a:t>信息丢失</a:t>
            </a:r>
            <a:r>
              <a:rPr lang="zh-CN" altLang="en-US" sz="2400" dirty="0">
                <a:latin typeface="Courier New" pitchFamily="49" charset="0"/>
              </a:rPr>
              <a:t>，可以假定往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参与连接的一方表</a:t>
            </a:r>
            <a:r>
              <a:rPr lang="zh-CN" altLang="en-US" sz="2400" dirty="0">
                <a:latin typeface="Courier New" pitchFamily="49" charset="0"/>
              </a:rPr>
              <a:t>中</a:t>
            </a:r>
            <a:r>
              <a:rPr lang="zh-CN" altLang="en-US" sz="2400" u="sng" dirty="0">
                <a:solidFill>
                  <a:srgbClr val="FF0000"/>
                </a:solidFill>
                <a:latin typeface="Courier New" pitchFamily="49" charset="0"/>
              </a:rPr>
              <a:t>附加一个</a:t>
            </a:r>
            <a:r>
              <a:rPr lang="zh-CN" altLang="en-US" sz="2400" u="sng" dirty="0">
                <a:latin typeface="Courier New" pitchFamily="49" charset="0"/>
              </a:rPr>
              <a:t>取值全为</a:t>
            </a:r>
            <a:r>
              <a:rPr lang="zh-CN" altLang="en-US" sz="2400" u="sng" dirty="0">
                <a:solidFill>
                  <a:srgbClr val="0000FF"/>
                </a:solidFill>
                <a:latin typeface="Courier New" pitchFamily="49" charset="0"/>
              </a:rPr>
              <a:t>空值</a:t>
            </a:r>
            <a:r>
              <a:rPr lang="zh-CN" altLang="en-US" sz="2400" u="sng" dirty="0">
                <a:latin typeface="Courier New" pitchFamily="49" charset="0"/>
              </a:rPr>
              <a:t>的行</a:t>
            </a:r>
            <a:r>
              <a:rPr lang="zh-CN" altLang="en-US" sz="2400" dirty="0">
                <a:latin typeface="Courier New" pitchFamily="49" charset="0"/>
              </a:rPr>
              <a:t>，它和参与连接的</a:t>
            </a:r>
            <a:r>
              <a:rPr lang="zh-CN" altLang="en-US" sz="2400" b="1" dirty="0">
                <a:solidFill>
                  <a:srgbClr val="006600"/>
                </a:solidFill>
                <a:latin typeface="Courier New" pitchFamily="49" charset="0"/>
              </a:rPr>
              <a:t>另一方表</a:t>
            </a:r>
            <a:r>
              <a:rPr lang="zh-CN" altLang="en-US" sz="2400" dirty="0">
                <a:latin typeface="Courier New" pitchFamily="49" charset="0"/>
              </a:rPr>
              <a:t>中的</a:t>
            </a:r>
            <a:r>
              <a:rPr lang="zh-CN" altLang="en-US" sz="2400" dirty="0">
                <a:solidFill>
                  <a:srgbClr val="0000FF"/>
                </a:solidFill>
                <a:latin typeface="Courier New" pitchFamily="49" charset="0"/>
              </a:rPr>
              <a:t>任何一个</a:t>
            </a:r>
            <a:r>
              <a:rPr lang="zh-CN" altLang="en-US" sz="2400" u="sng" dirty="0">
                <a:solidFill>
                  <a:srgbClr val="0000FF"/>
                </a:solidFill>
                <a:latin typeface="Courier New" pitchFamily="49" charset="0"/>
              </a:rPr>
              <a:t>未匹配上的元组</a:t>
            </a:r>
            <a:r>
              <a:rPr lang="zh-CN" altLang="en-US" sz="2400" dirty="0">
                <a:latin typeface="Courier New" pitchFamily="49" charset="0"/>
              </a:rPr>
              <a:t>都能匹配，称之为外连接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zh-CN" altLang="en-US" sz="2400" dirty="0">
                <a:latin typeface="Courier New" pitchFamily="49" charset="0"/>
              </a:rPr>
              <a:t>外连接 </a:t>
            </a:r>
            <a:r>
              <a:rPr lang="en-US" altLang="zh-CN" sz="2400" dirty="0">
                <a:latin typeface="Courier New" pitchFamily="49" charset="0"/>
              </a:rPr>
              <a:t>= </a:t>
            </a:r>
            <a:r>
              <a:rPr lang="zh-CN" altLang="en-US" sz="2400" dirty="0">
                <a:latin typeface="Courier New" pitchFamily="49" charset="0"/>
              </a:rPr>
              <a:t>自然连接 </a:t>
            </a:r>
            <a:r>
              <a:rPr lang="en-US" altLang="zh-CN" sz="2400" dirty="0">
                <a:latin typeface="Courier New" pitchFamily="49" charset="0"/>
              </a:rPr>
              <a:t>+ </a:t>
            </a: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</a:rPr>
              <a:t>失配的元组</a:t>
            </a:r>
          </a:p>
          <a:p>
            <a:pPr lvl="1" eaLnBrk="1" hangingPunct="1"/>
            <a:r>
              <a:rPr lang="zh-CN" altLang="en-US" sz="2400" dirty="0">
                <a:latin typeface="Courier New" pitchFamily="49" charset="0"/>
              </a:rPr>
              <a:t>外连接的形式：左外连接、右外连接、全外连接 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左外连接 </a:t>
            </a:r>
            <a:r>
              <a:rPr lang="en-US" altLang="zh-CN" sz="2400" b="1" dirty="0">
                <a:solidFill>
                  <a:srgbClr val="993300"/>
                </a:solidFill>
                <a:latin typeface="Courier New" pitchFamily="49" charset="0"/>
              </a:rPr>
              <a:t>= </a:t>
            </a: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自然连接 </a:t>
            </a:r>
            <a:r>
              <a:rPr lang="en-US" altLang="zh-CN" sz="2400" b="1" dirty="0">
                <a:solidFill>
                  <a:srgbClr val="993300"/>
                </a:solidFill>
                <a:latin typeface="Courier New" pitchFamily="49" charset="0"/>
              </a:rPr>
              <a:t>+ </a:t>
            </a: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左侧表中失配的元组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右外连接 </a:t>
            </a:r>
            <a:r>
              <a:rPr lang="en-US" altLang="zh-CN" sz="2400" b="1" dirty="0">
                <a:solidFill>
                  <a:srgbClr val="993300"/>
                </a:solidFill>
                <a:latin typeface="Courier New" pitchFamily="49" charset="0"/>
              </a:rPr>
              <a:t>= </a:t>
            </a: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自然连接 </a:t>
            </a:r>
            <a:r>
              <a:rPr lang="en-US" altLang="zh-CN" sz="2400" b="1" dirty="0">
                <a:solidFill>
                  <a:srgbClr val="993300"/>
                </a:solidFill>
                <a:latin typeface="Courier New" pitchFamily="49" charset="0"/>
              </a:rPr>
              <a:t>+ </a:t>
            </a: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右侧表中失配的元组</a:t>
            </a:r>
          </a:p>
          <a:p>
            <a:pPr lvl="1" algn="ctr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全外连接 </a:t>
            </a:r>
            <a:r>
              <a:rPr lang="en-US" altLang="zh-CN" sz="2400" b="1" dirty="0">
                <a:solidFill>
                  <a:srgbClr val="993300"/>
                </a:solidFill>
                <a:latin typeface="Courier New" pitchFamily="49" charset="0"/>
              </a:rPr>
              <a:t>= </a:t>
            </a: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自然连接 </a:t>
            </a:r>
            <a:r>
              <a:rPr lang="en-US" altLang="zh-CN" sz="2400" b="1" dirty="0">
                <a:solidFill>
                  <a:srgbClr val="993300"/>
                </a:solidFill>
                <a:latin typeface="Courier New" pitchFamily="49" charset="0"/>
              </a:rPr>
              <a:t>+ </a:t>
            </a:r>
            <a:r>
              <a:rPr lang="zh-CN" altLang="en-US" sz="2400" b="1" dirty="0">
                <a:solidFill>
                  <a:srgbClr val="993300"/>
                </a:solidFill>
                <a:latin typeface="Courier New" pitchFamily="49" charset="0"/>
              </a:rPr>
              <a:t>两侧表中失配的元组</a:t>
            </a:r>
            <a:endParaRPr lang="zh-CN" altLang="en-US" sz="2400" dirty="0">
              <a:solidFill>
                <a:srgbClr val="9933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6AC0C7-EC0A-4D1A-8E63-217DE8AF29B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003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003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865909-AD7F-4C4E-8E88-D809F57151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外连接（了解内容）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58115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外连接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如果把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舍弃的元组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也保存在结果关系中，而在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其他属性上填空值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(Null)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，这种连接就叫做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外连接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（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OUTER JOIN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）。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左外连接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如果只把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左边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关系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R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中要舍弃的元组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保留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就叫做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左外连接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(LEFT OUTER JOIN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LEFT JOIN)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右外连接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Char char="n"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如果只把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右边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关系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S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中要舍弃的元组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保留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就叫做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右外连接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(RIGHT OUTER JOIN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或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RIGHT JOIN)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Arial" charset="0"/>
              </a:rPr>
              <a:t>。 </a:t>
            </a:r>
          </a:p>
        </p:txBody>
      </p:sp>
    </p:spTree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3A9AC3-40FA-46AB-A97E-0488EA092E4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013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013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3B562-C8F1-4BD0-BA10-4853F7D1AF4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外连接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1676400"/>
            <a:ext cx="3048000" cy="1976438"/>
            <a:chOff x="528" y="960"/>
            <a:chExt cx="1920" cy="1245"/>
          </a:xfrm>
        </p:grpSpPr>
        <p:sp>
          <p:nvSpPr>
            <p:cNvPr id="101461" name="Rectangle 5"/>
            <p:cNvSpPr>
              <a:spLocks noChangeArrowheads="1"/>
            </p:cNvSpPr>
            <p:nvPr/>
          </p:nvSpPr>
          <p:spPr bwMode="auto">
            <a:xfrm>
              <a:off x="1808" y="1956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500</a:t>
              </a:r>
            </a:p>
          </p:txBody>
        </p:sp>
        <p:sp>
          <p:nvSpPr>
            <p:cNvPr id="101462" name="Rectangle 6"/>
            <p:cNvSpPr>
              <a:spLocks noChangeArrowheads="1"/>
            </p:cNvSpPr>
            <p:nvPr/>
          </p:nvSpPr>
          <p:spPr bwMode="auto">
            <a:xfrm>
              <a:off x="1200" y="195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李三</a:t>
              </a:r>
            </a:p>
          </p:txBody>
        </p:sp>
        <p:sp>
          <p:nvSpPr>
            <p:cNvPr id="101463" name="Rectangle 7"/>
            <p:cNvSpPr>
              <a:spLocks noChangeArrowheads="1"/>
            </p:cNvSpPr>
            <p:nvPr/>
          </p:nvSpPr>
          <p:spPr bwMode="auto">
            <a:xfrm>
              <a:off x="528" y="195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1464" name="Rectangle 8"/>
            <p:cNvSpPr>
              <a:spLocks noChangeArrowheads="1"/>
            </p:cNvSpPr>
            <p:nvPr/>
          </p:nvSpPr>
          <p:spPr bwMode="auto">
            <a:xfrm>
              <a:off x="1808" y="1707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600</a:t>
              </a:r>
            </a:p>
          </p:txBody>
        </p:sp>
        <p:sp>
          <p:nvSpPr>
            <p:cNvPr id="101465" name="Rectangle 9"/>
            <p:cNvSpPr>
              <a:spLocks noChangeArrowheads="1"/>
            </p:cNvSpPr>
            <p:nvPr/>
          </p:nvSpPr>
          <p:spPr bwMode="auto">
            <a:xfrm>
              <a:off x="1808" y="1458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700</a:t>
              </a:r>
            </a:p>
          </p:txBody>
        </p:sp>
        <p:sp>
          <p:nvSpPr>
            <p:cNvPr id="101466" name="Rectangle 10"/>
            <p:cNvSpPr>
              <a:spLocks noChangeArrowheads="1"/>
            </p:cNvSpPr>
            <p:nvPr/>
          </p:nvSpPr>
          <p:spPr bwMode="auto">
            <a:xfrm>
              <a:off x="1808" y="1209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800</a:t>
              </a:r>
            </a:p>
          </p:txBody>
        </p:sp>
        <p:sp>
          <p:nvSpPr>
            <p:cNvPr id="101467" name="Rectangle 11"/>
            <p:cNvSpPr>
              <a:spLocks noChangeArrowheads="1"/>
            </p:cNvSpPr>
            <p:nvPr/>
          </p:nvSpPr>
          <p:spPr bwMode="auto">
            <a:xfrm>
              <a:off x="1808" y="960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SAL</a:t>
              </a:r>
            </a:p>
          </p:txBody>
        </p:sp>
        <p:sp>
          <p:nvSpPr>
            <p:cNvPr id="101468" name="Rectangle 12"/>
            <p:cNvSpPr>
              <a:spLocks noChangeArrowheads="1"/>
            </p:cNvSpPr>
            <p:nvPr/>
          </p:nvSpPr>
          <p:spPr bwMode="auto">
            <a:xfrm>
              <a:off x="1200" y="170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孙立</a:t>
              </a:r>
            </a:p>
          </p:txBody>
        </p:sp>
        <p:sp>
          <p:nvSpPr>
            <p:cNvPr id="101469" name="Rectangle 13"/>
            <p:cNvSpPr>
              <a:spLocks noChangeArrowheads="1"/>
            </p:cNvSpPr>
            <p:nvPr/>
          </p:nvSpPr>
          <p:spPr bwMode="auto">
            <a:xfrm>
              <a:off x="528" y="170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P03</a:t>
              </a:r>
            </a:p>
          </p:txBody>
        </p:sp>
        <p:sp>
          <p:nvSpPr>
            <p:cNvPr id="101470" name="Rectangle 14"/>
            <p:cNvSpPr>
              <a:spLocks noChangeArrowheads="1"/>
            </p:cNvSpPr>
            <p:nvPr/>
          </p:nvSpPr>
          <p:spPr bwMode="auto">
            <a:xfrm>
              <a:off x="1200" y="145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钱广</a:t>
              </a:r>
            </a:p>
          </p:txBody>
        </p:sp>
        <p:sp>
          <p:nvSpPr>
            <p:cNvPr id="101471" name="Rectangle 15"/>
            <p:cNvSpPr>
              <a:spLocks noChangeArrowheads="1"/>
            </p:cNvSpPr>
            <p:nvPr/>
          </p:nvSpPr>
          <p:spPr bwMode="auto">
            <a:xfrm>
              <a:off x="528" y="145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1472" name="Rectangle 16"/>
            <p:cNvSpPr>
              <a:spLocks noChangeArrowheads="1"/>
            </p:cNvSpPr>
            <p:nvPr/>
          </p:nvSpPr>
          <p:spPr bwMode="auto">
            <a:xfrm>
              <a:off x="1200" y="120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赵明</a:t>
              </a:r>
            </a:p>
          </p:txBody>
        </p:sp>
        <p:sp>
          <p:nvSpPr>
            <p:cNvPr id="101473" name="Rectangle 17"/>
            <p:cNvSpPr>
              <a:spLocks noChangeArrowheads="1"/>
            </p:cNvSpPr>
            <p:nvPr/>
          </p:nvSpPr>
          <p:spPr bwMode="auto">
            <a:xfrm>
              <a:off x="528" y="120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1474" name="Rectangle 18"/>
            <p:cNvSpPr>
              <a:spLocks noChangeArrowheads="1"/>
            </p:cNvSpPr>
            <p:nvPr/>
          </p:nvSpPr>
          <p:spPr bwMode="auto">
            <a:xfrm>
              <a:off x="1200" y="960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PN</a:t>
              </a:r>
            </a:p>
          </p:txBody>
        </p:sp>
        <p:sp>
          <p:nvSpPr>
            <p:cNvPr id="101475" name="Rectangle 19"/>
            <p:cNvSpPr>
              <a:spLocks noChangeArrowheads="1"/>
            </p:cNvSpPr>
            <p:nvPr/>
          </p:nvSpPr>
          <p:spPr bwMode="auto">
            <a:xfrm>
              <a:off x="528" y="960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1476" name="Line 20"/>
            <p:cNvSpPr>
              <a:spLocks noChangeShapeType="1"/>
            </p:cNvSpPr>
            <p:nvPr/>
          </p:nvSpPr>
          <p:spPr bwMode="auto">
            <a:xfrm>
              <a:off x="528" y="960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77" name="Line 21"/>
            <p:cNvSpPr>
              <a:spLocks noChangeShapeType="1"/>
            </p:cNvSpPr>
            <p:nvPr/>
          </p:nvSpPr>
          <p:spPr bwMode="auto">
            <a:xfrm>
              <a:off x="528" y="1209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78" name="Line 22"/>
            <p:cNvSpPr>
              <a:spLocks noChangeShapeType="1"/>
            </p:cNvSpPr>
            <p:nvPr/>
          </p:nvSpPr>
          <p:spPr bwMode="auto">
            <a:xfrm>
              <a:off x="528" y="1458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79" name="Line 23"/>
            <p:cNvSpPr>
              <a:spLocks noChangeShapeType="1"/>
            </p:cNvSpPr>
            <p:nvPr/>
          </p:nvSpPr>
          <p:spPr bwMode="auto">
            <a:xfrm>
              <a:off x="528" y="1707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80" name="Line 24"/>
            <p:cNvSpPr>
              <a:spLocks noChangeShapeType="1"/>
            </p:cNvSpPr>
            <p:nvPr/>
          </p:nvSpPr>
          <p:spPr bwMode="auto">
            <a:xfrm>
              <a:off x="528" y="220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81" name="Line 25"/>
            <p:cNvSpPr>
              <a:spLocks noChangeShapeType="1"/>
            </p:cNvSpPr>
            <p:nvPr/>
          </p:nvSpPr>
          <p:spPr bwMode="auto">
            <a:xfrm>
              <a:off x="528" y="960"/>
              <a:ext cx="0" cy="12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82" name="Line 26"/>
            <p:cNvSpPr>
              <a:spLocks noChangeShapeType="1"/>
            </p:cNvSpPr>
            <p:nvPr/>
          </p:nvSpPr>
          <p:spPr bwMode="auto">
            <a:xfrm>
              <a:off x="1200" y="960"/>
              <a:ext cx="0" cy="12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83" name="Line 27"/>
            <p:cNvSpPr>
              <a:spLocks noChangeShapeType="1"/>
            </p:cNvSpPr>
            <p:nvPr/>
          </p:nvSpPr>
          <p:spPr bwMode="auto">
            <a:xfrm>
              <a:off x="2448" y="960"/>
              <a:ext cx="0" cy="12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84" name="Line 28"/>
            <p:cNvSpPr>
              <a:spLocks noChangeShapeType="1"/>
            </p:cNvSpPr>
            <p:nvPr/>
          </p:nvSpPr>
          <p:spPr bwMode="auto">
            <a:xfrm>
              <a:off x="1808" y="960"/>
              <a:ext cx="0" cy="12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85" name="Line 29"/>
            <p:cNvSpPr>
              <a:spLocks noChangeShapeType="1"/>
            </p:cNvSpPr>
            <p:nvPr/>
          </p:nvSpPr>
          <p:spPr bwMode="auto">
            <a:xfrm>
              <a:off x="528" y="1956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8094" name="Group 30"/>
          <p:cNvGrpSpPr>
            <a:grpSpLocks/>
          </p:cNvGrpSpPr>
          <p:nvPr/>
        </p:nvGrpSpPr>
        <p:grpSpPr bwMode="auto">
          <a:xfrm>
            <a:off x="6934200" y="1919288"/>
            <a:ext cx="2032000" cy="1581150"/>
            <a:chOff x="576" y="2979"/>
            <a:chExt cx="1280" cy="996"/>
          </a:xfrm>
        </p:grpSpPr>
        <p:sp>
          <p:nvSpPr>
            <p:cNvPr id="101445" name="Rectangle 31"/>
            <p:cNvSpPr>
              <a:spLocks noChangeArrowheads="1"/>
            </p:cNvSpPr>
            <p:nvPr/>
          </p:nvSpPr>
          <p:spPr bwMode="auto">
            <a:xfrm>
              <a:off x="1248" y="372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化</a:t>
              </a: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学</a:t>
              </a:r>
            </a:p>
          </p:txBody>
        </p:sp>
        <p:sp>
          <p:nvSpPr>
            <p:cNvPr id="101446" name="Rectangle 32"/>
            <p:cNvSpPr>
              <a:spLocks noChangeArrowheads="1"/>
            </p:cNvSpPr>
            <p:nvPr/>
          </p:nvSpPr>
          <p:spPr bwMode="auto">
            <a:xfrm>
              <a:off x="576" y="372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C03</a:t>
              </a:r>
            </a:p>
          </p:txBody>
        </p:sp>
        <p:sp>
          <p:nvSpPr>
            <p:cNvPr id="101447" name="Rectangle 33"/>
            <p:cNvSpPr>
              <a:spLocks noChangeArrowheads="1"/>
            </p:cNvSpPr>
            <p:nvPr/>
          </p:nvSpPr>
          <p:spPr bwMode="auto">
            <a:xfrm>
              <a:off x="1248" y="347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1448" name="Rectangle 34"/>
            <p:cNvSpPr>
              <a:spLocks noChangeArrowheads="1"/>
            </p:cNvSpPr>
            <p:nvPr/>
          </p:nvSpPr>
          <p:spPr bwMode="auto">
            <a:xfrm>
              <a:off x="576" y="347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1449" name="Rectangle 35"/>
            <p:cNvSpPr>
              <a:spLocks noChangeArrowheads="1"/>
            </p:cNvSpPr>
            <p:nvPr/>
          </p:nvSpPr>
          <p:spPr bwMode="auto">
            <a:xfrm>
              <a:off x="1248" y="322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物理</a:t>
              </a:r>
            </a:p>
          </p:txBody>
        </p:sp>
        <p:sp>
          <p:nvSpPr>
            <p:cNvPr id="101450" name="Rectangle 36"/>
            <p:cNvSpPr>
              <a:spLocks noChangeArrowheads="1"/>
            </p:cNvSpPr>
            <p:nvPr/>
          </p:nvSpPr>
          <p:spPr bwMode="auto">
            <a:xfrm>
              <a:off x="576" y="322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1451" name="Rectangle 37"/>
            <p:cNvSpPr>
              <a:spLocks noChangeArrowheads="1"/>
            </p:cNvSpPr>
            <p:nvPr/>
          </p:nvSpPr>
          <p:spPr bwMode="auto">
            <a:xfrm>
              <a:off x="1248" y="297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CN</a:t>
              </a:r>
            </a:p>
          </p:txBody>
        </p:sp>
        <p:sp>
          <p:nvSpPr>
            <p:cNvPr id="101452" name="Rectangle 38"/>
            <p:cNvSpPr>
              <a:spLocks noChangeArrowheads="1"/>
            </p:cNvSpPr>
            <p:nvPr/>
          </p:nvSpPr>
          <p:spPr bwMode="auto">
            <a:xfrm>
              <a:off x="576" y="297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1453" name="Line 39"/>
            <p:cNvSpPr>
              <a:spLocks noChangeShapeType="1"/>
            </p:cNvSpPr>
            <p:nvPr/>
          </p:nvSpPr>
          <p:spPr bwMode="auto">
            <a:xfrm>
              <a:off x="576" y="2979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54" name="Line 40"/>
            <p:cNvSpPr>
              <a:spLocks noChangeShapeType="1"/>
            </p:cNvSpPr>
            <p:nvPr/>
          </p:nvSpPr>
          <p:spPr bwMode="auto">
            <a:xfrm>
              <a:off x="576" y="3228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55" name="Line 41"/>
            <p:cNvSpPr>
              <a:spLocks noChangeShapeType="1"/>
            </p:cNvSpPr>
            <p:nvPr/>
          </p:nvSpPr>
          <p:spPr bwMode="auto">
            <a:xfrm>
              <a:off x="576" y="3477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56" name="Line 42"/>
            <p:cNvSpPr>
              <a:spLocks noChangeShapeType="1"/>
            </p:cNvSpPr>
            <p:nvPr/>
          </p:nvSpPr>
          <p:spPr bwMode="auto">
            <a:xfrm>
              <a:off x="576" y="372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57" name="Line 43"/>
            <p:cNvSpPr>
              <a:spLocks noChangeShapeType="1"/>
            </p:cNvSpPr>
            <p:nvPr/>
          </p:nvSpPr>
          <p:spPr bwMode="auto">
            <a:xfrm>
              <a:off x="576" y="3975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58" name="Line 44"/>
            <p:cNvSpPr>
              <a:spLocks noChangeShapeType="1"/>
            </p:cNvSpPr>
            <p:nvPr/>
          </p:nvSpPr>
          <p:spPr bwMode="auto">
            <a:xfrm>
              <a:off x="57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59" name="Line 45"/>
            <p:cNvSpPr>
              <a:spLocks noChangeShapeType="1"/>
            </p:cNvSpPr>
            <p:nvPr/>
          </p:nvSpPr>
          <p:spPr bwMode="auto">
            <a:xfrm>
              <a:off x="1248" y="297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60" name="Line 46"/>
            <p:cNvSpPr>
              <a:spLocks noChangeShapeType="1"/>
            </p:cNvSpPr>
            <p:nvPr/>
          </p:nvSpPr>
          <p:spPr bwMode="auto">
            <a:xfrm>
              <a:off x="185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8111" name="Group 47"/>
          <p:cNvGrpSpPr>
            <a:grpSpLocks/>
          </p:cNvGrpSpPr>
          <p:nvPr/>
        </p:nvGrpSpPr>
        <p:grpSpPr bwMode="auto">
          <a:xfrm>
            <a:off x="4216400" y="1924050"/>
            <a:ext cx="2032000" cy="1581150"/>
            <a:chOff x="576" y="2979"/>
            <a:chExt cx="1280" cy="996"/>
          </a:xfrm>
        </p:grpSpPr>
        <p:sp>
          <p:nvSpPr>
            <p:cNvPr id="101429" name="Rectangle 48"/>
            <p:cNvSpPr>
              <a:spLocks noChangeArrowheads="1"/>
            </p:cNvSpPr>
            <p:nvPr/>
          </p:nvSpPr>
          <p:spPr bwMode="auto">
            <a:xfrm>
              <a:off x="1248" y="372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1430" name="Rectangle 49"/>
            <p:cNvSpPr>
              <a:spLocks noChangeArrowheads="1"/>
            </p:cNvSpPr>
            <p:nvPr/>
          </p:nvSpPr>
          <p:spPr bwMode="auto">
            <a:xfrm>
              <a:off x="576" y="372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1431" name="Rectangle 50"/>
            <p:cNvSpPr>
              <a:spLocks noChangeArrowheads="1"/>
            </p:cNvSpPr>
            <p:nvPr/>
          </p:nvSpPr>
          <p:spPr bwMode="auto">
            <a:xfrm>
              <a:off x="1248" y="347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1432" name="Rectangle 51"/>
            <p:cNvSpPr>
              <a:spLocks noChangeArrowheads="1"/>
            </p:cNvSpPr>
            <p:nvPr/>
          </p:nvSpPr>
          <p:spPr bwMode="auto">
            <a:xfrm>
              <a:off x="576" y="347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1433" name="Rectangle 52"/>
            <p:cNvSpPr>
              <a:spLocks noChangeArrowheads="1"/>
            </p:cNvSpPr>
            <p:nvPr/>
          </p:nvSpPr>
          <p:spPr bwMode="auto">
            <a:xfrm>
              <a:off x="1248" y="322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1434" name="Rectangle 53"/>
            <p:cNvSpPr>
              <a:spLocks noChangeArrowheads="1"/>
            </p:cNvSpPr>
            <p:nvPr/>
          </p:nvSpPr>
          <p:spPr bwMode="auto">
            <a:xfrm>
              <a:off x="576" y="322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1435" name="Rectangle 54"/>
            <p:cNvSpPr>
              <a:spLocks noChangeArrowheads="1"/>
            </p:cNvSpPr>
            <p:nvPr/>
          </p:nvSpPr>
          <p:spPr bwMode="auto">
            <a:xfrm>
              <a:off x="1248" y="297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1436" name="Rectangle 55"/>
            <p:cNvSpPr>
              <a:spLocks noChangeArrowheads="1"/>
            </p:cNvSpPr>
            <p:nvPr/>
          </p:nvSpPr>
          <p:spPr bwMode="auto">
            <a:xfrm>
              <a:off x="576" y="297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1437" name="Line 56"/>
            <p:cNvSpPr>
              <a:spLocks noChangeShapeType="1"/>
            </p:cNvSpPr>
            <p:nvPr/>
          </p:nvSpPr>
          <p:spPr bwMode="auto">
            <a:xfrm>
              <a:off x="576" y="2979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38" name="Line 57"/>
            <p:cNvSpPr>
              <a:spLocks noChangeShapeType="1"/>
            </p:cNvSpPr>
            <p:nvPr/>
          </p:nvSpPr>
          <p:spPr bwMode="auto">
            <a:xfrm>
              <a:off x="576" y="3228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39" name="Line 58"/>
            <p:cNvSpPr>
              <a:spLocks noChangeShapeType="1"/>
            </p:cNvSpPr>
            <p:nvPr/>
          </p:nvSpPr>
          <p:spPr bwMode="auto">
            <a:xfrm>
              <a:off x="576" y="3477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40" name="Line 59"/>
            <p:cNvSpPr>
              <a:spLocks noChangeShapeType="1"/>
            </p:cNvSpPr>
            <p:nvPr/>
          </p:nvSpPr>
          <p:spPr bwMode="auto">
            <a:xfrm>
              <a:off x="576" y="372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41" name="Line 60"/>
            <p:cNvSpPr>
              <a:spLocks noChangeShapeType="1"/>
            </p:cNvSpPr>
            <p:nvPr/>
          </p:nvSpPr>
          <p:spPr bwMode="auto">
            <a:xfrm>
              <a:off x="576" y="3975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42" name="Line 61"/>
            <p:cNvSpPr>
              <a:spLocks noChangeShapeType="1"/>
            </p:cNvSpPr>
            <p:nvPr/>
          </p:nvSpPr>
          <p:spPr bwMode="auto">
            <a:xfrm>
              <a:off x="57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43" name="Line 62"/>
            <p:cNvSpPr>
              <a:spLocks noChangeShapeType="1"/>
            </p:cNvSpPr>
            <p:nvPr/>
          </p:nvSpPr>
          <p:spPr bwMode="auto">
            <a:xfrm>
              <a:off x="1248" y="297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44" name="Line 63"/>
            <p:cNvSpPr>
              <a:spLocks noChangeShapeType="1"/>
            </p:cNvSpPr>
            <p:nvPr/>
          </p:nvSpPr>
          <p:spPr bwMode="auto">
            <a:xfrm>
              <a:off x="185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8128" name="Group 64"/>
          <p:cNvGrpSpPr>
            <a:grpSpLocks/>
          </p:cNvGrpSpPr>
          <p:nvPr/>
        </p:nvGrpSpPr>
        <p:grpSpPr bwMode="auto">
          <a:xfrm>
            <a:off x="2235200" y="4191000"/>
            <a:ext cx="3505200" cy="1747838"/>
            <a:chOff x="3216" y="3120"/>
            <a:chExt cx="2208" cy="1101"/>
          </a:xfrm>
        </p:grpSpPr>
        <p:sp>
          <p:nvSpPr>
            <p:cNvPr id="101398" name="Rectangle 65"/>
            <p:cNvSpPr>
              <a:spLocks noChangeArrowheads="1"/>
            </p:cNvSpPr>
            <p:nvPr/>
          </p:nvSpPr>
          <p:spPr bwMode="auto">
            <a:xfrm>
              <a:off x="4982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1399" name="Rectangle 66"/>
            <p:cNvSpPr>
              <a:spLocks noChangeArrowheads="1"/>
            </p:cNvSpPr>
            <p:nvPr/>
          </p:nvSpPr>
          <p:spPr bwMode="auto">
            <a:xfrm>
              <a:off x="4541" y="3937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1400" name="Rectangle 67"/>
            <p:cNvSpPr>
              <a:spLocks noChangeArrowheads="1"/>
            </p:cNvSpPr>
            <p:nvPr/>
          </p:nvSpPr>
          <p:spPr bwMode="auto">
            <a:xfrm>
              <a:off x="4099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500</a:t>
              </a:r>
            </a:p>
          </p:txBody>
        </p:sp>
        <p:sp>
          <p:nvSpPr>
            <p:cNvPr id="101401" name="Rectangle 68"/>
            <p:cNvSpPr>
              <a:spLocks noChangeArrowheads="1"/>
            </p:cNvSpPr>
            <p:nvPr/>
          </p:nvSpPr>
          <p:spPr bwMode="auto">
            <a:xfrm>
              <a:off x="3658" y="3937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李三</a:t>
              </a:r>
            </a:p>
          </p:txBody>
        </p:sp>
        <p:sp>
          <p:nvSpPr>
            <p:cNvPr id="101402" name="Rectangle 69"/>
            <p:cNvSpPr>
              <a:spLocks noChangeArrowheads="1"/>
            </p:cNvSpPr>
            <p:nvPr/>
          </p:nvSpPr>
          <p:spPr bwMode="auto">
            <a:xfrm>
              <a:off x="3216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1403" name="Rectangle 70"/>
            <p:cNvSpPr>
              <a:spLocks noChangeArrowheads="1"/>
            </p:cNvSpPr>
            <p:nvPr/>
          </p:nvSpPr>
          <p:spPr bwMode="auto">
            <a:xfrm>
              <a:off x="4982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1404" name="Rectangle 71"/>
            <p:cNvSpPr>
              <a:spLocks noChangeArrowheads="1"/>
            </p:cNvSpPr>
            <p:nvPr/>
          </p:nvSpPr>
          <p:spPr bwMode="auto">
            <a:xfrm>
              <a:off x="4541" y="3653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1405" name="Rectangle 72"/>
            <p:cNvSpPr>
              <a:spLocks noChangeArrowheads="1"/>
            </p:cNvSpPr>
            <p:nvPr/>
          </p:nvSpPr>
          <p:spPr bwMode="auto">
            <a:xfrm>
              <a:off x="4099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700</a:t>
              </a:r>
            </a:p>
          </p:txBody>
        </p:sp>
        <p:sp>
          <p:nvSpPr>
            <p:cNvPr id="101406" name="Rectangle 73"/>
            <p:cNvSpPr>
              <a:spLocks noChangeArrowheads="1"/>
            </p:cNvSpPr>
            <p:nvPr/>
          </p:nvSpPr>
          <p:spPr bwMode="auto">
            <a:xfrm>
              <a:off x="3658" y="3653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钱广</a:t>
              </a:r>
            </a:p>
          </p:txBody>
        </p:sp>
        <p:sp>
          <p:nvSpPr>
            <p:cNvPr id="101407" name="Rectangle 74"/>
            <p:cNvSpPr>
              <a:spLocks noChangeArrowheads="1"/>
            </p:cNvSpPr>
            <p:nvPr/>
          </p:nvSpPr>
          <p:spPr bwMode="auto">
            <a:xfrm>
              <a:off x="3216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1408" name="Rectangle 75"/>
            <p:cNvSpPr>
              <a:spLocks noChangeArrowheads="1"/>
            </p:cNvSpPr>
            <p:nvPr/>
          </p:nvSpPr>
          <p:spPr bwMode="auto">
            <a:xfrm>
              <a:off x="4982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物理</a:t>
              </a:r>
            </a:p>
          </p:txBody>
        </p:sp>
        <p:sp>
          <p:nvSpPr>
            <p:cNvPr id="101409" name="Rectangle 76"/>
            <p:cNvSpPr>
              <a:spLocks noChangeArrowheads="1"/>
            </p:cNvSpPr>
            <p:nvPr/>
          </p:nvSpPr>
          <p:spPr bwMode="auto">
            <a:xfrm>
              <a:off x="4541" y="3369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1410" name="Rectangle 77"/>
            <p:cNvSpPr>
              <a:spLocks noChangeArrowheads="1"/>
            </p:cNvSpPr>
            <p:nvPr/>
          </p:nvSpPr>
          <p:spPr bwMode="auto">
            <a:xfrm>
              <a:off x="4099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800</a:t>
              </a:r>
            </a:p>
          </p:txBody>
        </p:sp>
        <p:sp>
          <p:nvSpPr>
            <p:cNvPr id="101411" name="Rectangle 78"/>
            <p:cNvSpPr>
              <a:spLocks noChangeArrowheads="1"/>
            </p:cNvSpPr>
            <p:nvPr/>
          </p:nvSpPr>
          <p:spPr bwMode="auto">
            <a:xfrm>
              <a:off x="3658" y="3369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赵明</a:t>
              </a:r>
            </a:p>
          </p:txBody>
        </p:sp>
        <p:sp>
          <p:nvSpPr>
            <p:cNvPr id="101412" name="Rectangle 79"/>
            <p:cNvSpPr>
              <a:spLocks noChangeArrowheads="1"/>
            </p:cNvSpPr>
            <p:nvPr/>
          </p:nvSpPr>
          <p:spPr bwMode="auto">
            <a:xfrm>
              <a:off x="3216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1413" name="Rectangle 80"/>
            <p:cNvSpPr>
              <a:spLocks noChangeArrowheads="1"/>
            </p:cNvSpPr>
            <p:nvPr/>
          </p:nvSpPr>
          <p:spPr bwMode="auto">
            <a:xfrm>
              <a:off x="4982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CN</a:t>
              </a:r>
            </a:p>
          </p:txBody>
        </p:sp>
        <p:sp>
          <p:nvSpPr>
            <p:cNvPr id="101414" name="Rectangle 81"/>
            <p:cNvSpPr>
              <a:spLocks noChangeArrowheads="1"/>
            </p:cNvSpPr>
            <p:nvPr/>
          </p:nvSpPr>
          <p:spPr bwMode="auto">
            <a:xfrm>
              <a:off x="4541" y="3120"/>
              <a:ext cx="44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1415" name="Rectangle 82"/>
            <p:cNvSpPr>
              <a:spLocks noChangeArrowheads="1"/>
            </p:cNvSpPr>
            <p:nvPr/>
          </p:nvSpPr>
          <p:spPr bwMode="auto">
            <a:xfrm>
              <a:off x="4099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SAL</a:t>
              </a:r>
            </a:p>
          </p:txBody>
        </p:sp>
        <p:sp>
          <p:nvSpPr>
            <p:cNvPr id="101416" name="Rectangle 83"/>
            <p:cNvSpPr>
              <a:spLocks noChangeArrowheads="1"/>
            </p:cNvSpPr>
            <p:nvPr/>
          </p:nvSpPr>
          <p:spPr bwMode="auto">
            <a:xfrm>
              <a:off x="3658" y="3120"/>
              <a:ext cx="44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PN</a:t>
              </a:r>
            </a:p>
          </p:txBody>
        </p:sp>
        <p:sp>
          <p:nvSpPr>
            <p:cNvPr id="101417" name="Rectangle 84"/>
            <p:cNvSpPr>
              <a:spLocks noChangeArrowheads="1"/>
            </p:cNvSpPr>
            <p:nvPr/>
          </p:nvSpPr>
          <p:spPr bwMode="auto">
            <a:xfrm>
              <a:off x="3216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1418" name="Line 85"/>
            <p:cNvSpPr>
              <a:spLocks noChangeShapeType="1"/>
            </p:cNvSpPr>
            <p:nvPr/>
          </p:nvSpPr>
          <p:spPr bwMode="auto">
            <a:xfrm>
              <a:off x="3216" y="3120"/>
              <a:ext cx="220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19" name="Line 86"/>
            <p:cNvSpPr>
              <a:spLocks noChangeShapeType="1"/>
            </p:cNvSpPr>
            <p:nvPr/>
          </p:nvSpPr>
          <p:spPr bwMode="auto">
            <a:xfrm>
              <a:off x="3216" y="3369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0" name="Line 87"/>
            <p:cNvSpPr>
              <a:spLocks noChangeShapeType="1"/>
            </p:cNvSpPr>
            <p:nvPr/>
          </p:nvSpPr>
          <p:spPr bwMode="auto">
            <a:xfrm>
              <a:off x="3216" y="3653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1" name="Line 88"/>
            <p:cNvSpPr>
              <a:spLocks noChangeShapeType="1"/>
            </p:cNvSpPr>
            <p:nvPr/>
          </p:nvSpPr>
          <p:spPr bwMode="auto">
            <a:xfrm>
              <a:off x="3216" y="3937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2" name="Line 89"/>
            <p:cNvSpPr>
              <a:spLocks noChangeShapeType="1"/>
            </p:cNvSpPr>
            <p:nvPr/>
          </p:nvSpPr>
          <p:spPr bwMode="auto">
            <a:xfrm>
              <a:off x="3216" y="4221"/>
              <a:ext cx="220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3" name="Line 90"/>
            <p:cNvSpPr>
              <a:spLocks noChangeShapeType="1"/>
            </p:cNvSpPr>
            <p:nvPr/>
          </p:nvSpPr>
          <p:spPr bwMode="auto">
            <a:xfrm>
              <a:off x="3216" y="3120"/>
              <a:ext cx="0" cy="11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4" name="Line 91"/>
            <p:cNvSpPr>
              <a:spLocks noChangeShapeType="1"/>
            </p:cNvSpPr>
            <p:nvPr/>
          </p:nvSpPr>
          <p:spPr bwMode="auto">
            <a:xfrm>
              <a:off x="3658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5" name="Line 92"/>
            <p:cNvSpPr>
              <a:spLocks noChangeShapeType="1"/>
            </p:cNvSpPr>
            <p:nvPr/>
          </p:nvSpPr>
          <p:spPr bwMode="auto">
            <a:xfrm>
              <a:off x="4099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6" name="Line 93"/>
            <p:cNvSpPr>
              <a:spLocks noChangeShapeType="1"/>
            </p:cNvSpPr>
            <p:nvPr/>
          </p:nvSpPr>
          <p:spPr bwMode="auto">
            <a:xfrm>
              <a:off x="4541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7" name="Line 94"/>
            <p:cNvSpPr>
              <a:spLocks noChangeShapeType="1"/>
            </p:cNvSpPr>
            <p:nvPr/>
          </p:nvSpPr>
          <p:spPr bwMode="auto">
            <a:xfrm>
              <a:off x="4982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428" name="Line 95"/>
            <p:cNvSpPr>
              <a:spLocks noChangeShapeType="1"/>
            </p:cNvSpPr>
            <p:nvPr/>
          </p:nvSpPr>
          <p:spPr bwMode="auto">
            <a:xfrm>
              <a:off x="5424" y="3120"/>
              <a:ext cx="0" cy="11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88160" name="AutoShape 96"/>
          <p:cNvSpPr>
            <a:spLocks noChangeArrowheads="1"/>
          </p:cNvSpPr>
          <p:nvPr/>
        </p:nvSpPr>
        <p:spPr bwMode="auto">
          <a:xfrm rot="5400000">
            <a:off x="6489700" y="2509838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grpSp>
        <p:nvGrpSpPr>
          <p:cNvPr id="88170" name="Group 106"/>
          <p:cNvGrpSpPr>
            <a:grpSpLocks/>
          </p:cNvGrpSpPr>
          <p:nvPr/>
        </p:nvGrpSpPr>
        <p:grpSpPr bwMode="auto">
          <a:xfrm>
            <a:off x="1473200" y="4929188"/>
            <a:ext cx="279400" cy="171450"/>
            <a:chOff x="928" y="3180"/>
            <a:chExt cx="288" cy="96"/>
          </a:xfrm>
        </p:grpSpPr>
        <p:sp>
          <p:nvSpPr>
            <p:cNvPr id="101396" name="Line 97"/>
            <p:cNvSpPr>
              <a:spLocks noChangeShapeType="1"/>
            </p:cNvSpPr>
            <p:nvPr/>
          </p:nvSpPr>
          <p:spPr bwMode="auto">
            <a:xfrm>
              <a:off x="928" y="318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1397" name="Line 98"/>
            <p:cNvSpPr>
              <a:spLocks noChangeShapeType="1"/>
            </p:cNvSpPr>
            <p:nvPr/>
          </p:nvSpPr>
          <p:spPr bwMode="auto">
            <a:xfrm>
              <a:off x="928" y="32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88163" name="AutoShape 99"/>
          <p:cNvSpPr>
            <a:spLocks noChangeArrowheads="1"/>
          </p:cNvSpPr>
          <p:nvPr/>
        </p:nvSpPr>
        <p:spPr bwMode="auto">
          <a:xfrm rot="5400000">
            <a:off x="3845719" y="2550319"/>
            <a:ext cx="233362" cy="3048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8164" name="Line 100"/>
          <p:cNvSpPr>
            <a:spLocks noChangeShapeType="1"/>
          </p:cNvSpPr>
          <p:nvPr/>
        </p:nvSpPr>
        <p:spPr bwMode="auto">
          <a:xfrm flipH="1">
            <a:off x="3657600" y="2586038"/>
            <a:ext cx="152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8165" name="Line 101"/>
          <p:cNvSpPr>
            <a:spLocks noChangeShapeType="1"/>
          </p:cNvSpPr>
          <p:nvPr/>
        </p:nvSpPr>
        <p:spPr bwMode="auto">
          <a:xfrm flipH="1">
            <a:off x="3657600" y="2814638"/>
            <a:ext cx="152400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8166" name="AutoShape 102"/>
          <p:cNvSpPr>
            <a:spLocks noChangeArrowheads="1"/>
          </p:cNvSpPr>
          <p:nvPr/>
        </p:nvSpPr>
        <p:spPr bwMode="auto">
          <a:xfrm>
            <a:off x="6477000" y="4495800"/>
            <a:ext cx="2286000" cy="609600"/>
          </a:xfrm>
          <a:prstGeom prst="wedgeRoundRectCallout">
            <a:avLst>
              <a:gd name="adj1" fmla="val -80764"/>
              <a:gd name="adj2" fmla="val 74741"/>
              <a:gd name="adj3" fmla="val 16667"/>
            </a:avLst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-2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Arial" charset="0"/>
              </a:rPr>
              <a:t>所有老师的信息</a:t>
            </a:r>
            <a:endParaRPr kumimoji="1" lang="zh-CN" altLang="en-US" sz="3600" b="0" i="0" u="none" strike="noStrike" kern="1200" cap="none" spc="0" normalizeH="0" baseline="-2000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itchFamily="18" charset="0"/>
              <a:ea typeface="仿宋_GB2312" pitchFamily="49" charset="-122"/>
              <a:cs typeface="Arial" charset="0"/>
            </a:endParaRPr>
          </a:p>
        </p:txBody>
      </p:sp>
      <p:grpSp>
        <p:nvGrpSpPr>
          <p:cNvPr id="88173" name="Group 109"/>
          <p:cNvGrpSpPr>
            <a:grpSpLocks/>
          </p:cNvGrpSpPr>
          <p:nvPr/>
        </p:nvGrpSpPr>
        <p:grpSpPr bwMode="auto">
          <a:xfrm>
            <a:off x="2230438" y="5762625"/>
            <a:ext cx="3505200" cy="609600"/>
            <a:chOff x="1405" y="3630"/>
            <a:chExt cx="2208" cy="384"/>
          </a:xfrm>
        </p:grpSpPr>
        <p:graphicFrame>
          <p:nvGraphicFramePr>
            <p:cNvPr id="101394" name="Object 104"/>
            <p:cNvGraphicFramePr>
              <a:graphicFrameLocks noChangeAspect="1"/>
            </p:cNvGraphicFramePr>
            <p:nvPr/>
          </p:nvGraphicFramePr>
          <p:xfrm>
            <a:off x="1405" y="3726"/>
            <a:ext cx="22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2" imgW="5629656" imgH="758952" progId="Word.Document.8">
                    <p:embed/>
                  </p:oleObj>
                </mc:Choice>
                <mc:Fallback>
                  <p:oleObj name="文档" r:id="rId2" imgW="5629656" imgH="758952" progId="Word.Document.8">
                    <p:embed/>
                    <p:pic>
                      <p:nvPicPr>
                        <p:cNvPr id="101394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5" y="3726"/>
                          <a:ext cx="22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5" name="Line 105"/>
            <p:cNvSpPr>
              <a:spLocks noChangeShapeType="1"/>
            </p:cNvSpPr>
            <p:nvPr/>
          </p:nvSpPr>
          <p:spPr bwMode="auto">
            <a:xfrm>
              <a:off x="3613" y="363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88171" name="Rectangle 107"/>
          <p:cNvSpPr>
            <a:spLocks noChangeArrowheads="1"/>
          </p:cNvSpPr>
          <p:nvPr/>
        </p:nvSpPr>
        <p:spPr bwMode="auto">
          <a:xfrm>
            <a:off x="1981200" y="5767388"/>
            <a:ext cx="4191000" cy="685800"/>
          </a:xfrm>
          <a:prstGeom prst="rect">
            <a:avLst/>
          </a:prstGeom>
          <a:noFill/>
          <a:ln w="28575" algn="ctr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8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8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8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8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8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7" dur="500"/>
                                        <p:tgtEl>
                                          <p:spTgt spid="8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8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60" grpId="0" animBg="1"/>
      <p:bldP spid="88163" grpId="0" animBg="1"/>
      <p:bldP spid="88164" grpId="0" animBg="1"/>
      <p:bldP spid="88165" grpId="0" animBg="1"/>
      <p:bldP spid="88166" grpId="0" animBg="1" autoUpdateAnimBg="0"/>
      <p:bldP spid="8817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F7E400-21D5-41AF-9E1F-25FA5030895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024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024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69566-1B29-41E6-AA40-73A95A976FF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外连接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" y="1676400"/>
            <a:ext cx="3048000" cy="1976438"/>
            <a:chOff x="528" y="960"/>
            <a:chExt cx="1920" cy="1245"/>
          </a:xfrm>
        </p:grpSpPr>
        <p:sp>
          <p:nvSpPr>
            <p:cNvPr id="102486" name="Rectangle 5"/>
            <p:cNvSpPr>
              <a:spLocks noChangeArrowheads="1"/>
            </p:cNvSpPr>
            <p:nvPr/>
          </p:nvSpPr>
          <p:spPr bwMode="auto">
            <a:xfrm>
              <a:off x="1808" y="1956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500</a:t>
              </a:r>
            </a:p>
          </p:txBody>
        </p:sp>
        <p:sp>
          <p:nvSpPr>
            <p:cNvPr id="102487" name="Rectangle 6"/>
            <p:cNvSpPr>
              <a:spLocks noChangeArrowheads="1"/>
            </p:cNvSpPr>
            <p:nvPr/>
          </p:nvSpPr>
          <p:spPr bwMode="auto">
            <a:xfrm>
              <a:off x="1200" y="195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李三</a:t>
              </a:r>
            </a:p>
          </p:txBody>
        </p:sp>
        <p:sp>
          <p:nvSpPr>
            <p:cNvPr id="102488" name="Rectangle 7"/>
            <p:cNvSpPr>
              <a:spLocks noChangeArrowheads="1"/>
            </p:cNvSpPr>
            <p:nvPr/>
          </p:nvSpPr>
          <p:spPr bwMode="auto">
            <a:xfrm>
              <a:off x="528" y="195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2489" name="Rectangle 8"/>
            <p:cNvSpPr>
              <a:spLocks noChangeArrowheads="1"/>
            </p:cNvSpPr>
            <p:nvPr/>
          </p:nvSpPr>
          <p:spPr bwMode="auto">
            <a:xfrm>
              <a:off x="1808" y="1707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600</a:t>
              </a:r>
            </a:p>
          </p:txBody>
        </p:sp>
        <p:sp>
          <p:nvSpPr>
            <p:cNvPr id="102490" name="Rectangle 9"/>
            <p:cNvSpPr>
              <a:spLocks noChangeArrowheads="1"/>
            </p:cNvSpPr>
            <p:nvPr/>
          </p:nvSpPr>
          <p:spPr bwMode="auto">
            <a:xfrm>
              <a:off x="1808" y="1458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700</a:t>
              </a:r>
            </a:p>
          </p:txBody>
        </p:sp>
        <p:sp>
          <p:nvSpPr>
            <p:cNvPr id="102491" name="Rectangle 10"/>
            <p:cNvSpPr>
              <a:spLocks noChangeArrowheads="1"/>
            </p:cNvSpPr>
            <p:nvPr/>
          </p:nvSpPr>
          <p:spPr bwMode="auto">
            <a:xfrm>
              <a:off x="1808" y="1209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800</a:t>
              </a:r>
            </a:p>
          </p:txBody>
        </p:sp>
        <p:sp>
          <p:nvSpPr>
            <p:cNvPr id="102492" name="Rectangle 11"/>
            <p:cNvSpPr>
              <a:spLocks noChangeArrowheads="1"/>
            </p:cNvSpPr>
            <p:nvPr/>
          </p:nvSpPr>
          <p:spPr bwMode="auto">
            <a:xfrm>
              <a:off x="1808" y="960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SAL</a:t>
              </a:r>
            </a:p>
          </p:txBody>
        </p:sp>
        <p:sp>
          <p:nvSpPr>
            <p:cNvPr id="102493" name="Rectangle 12"/>
            <p:cNvSpPr>
              <a:spLocks noChangeArrowheads="1"/>
            </p:cNvSpPr>
            <p:nvPr/>
          </p:nvSpPr>
          <p:spPr bwMode="auto">
            <a:xfrm>
              <a:off x="1200" y="170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孙立</a:t>
              </a:r>
            </a:p>
          </p:txBody>
        </p:sp>
        <p:sp>
          <p:nvSpPr>
            <p:cNvPr id="102494" name="Rectangle 13"/>
            <p:cNvSpPr>
              <a:spLocks noChangeArrowheads="1"/>
            </p:cNvSpPr>
            <p:nvPr/>
          </p:nvSpPr>
          <p:spPr bwMode="auto">
            <a:xfrm>
              <a:off x="528" y="170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P03</a:t>
              </a:r>
            </a:p>
          </p:txBody>
        </p:sp>
        <p:sp>
          <p:nvSpPr>
            <p:cNvPr id="102495" name="Rectangle 14"/>
            <p:cNvSpPr>
              <a:spLocks noChangeArrowheads="1"/>
            </p:cNvSpPr>
            <p:nvPr/>
          </p:nvSpPr>
          <p:spPr bwMode="auto">
            <a:xfrm>
              <a:off x="1200" y="145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钱广</a:t>
              </a:r>
            </a:p>
          </p:txBody>
        </p:sp>
        <p:sp>
          <p:nvSpPr>
            <p:cNvPr id="102496" name="Rectangle 15"/>
            <p:cNvSpPr>
              <a:spLocks noChangeArrowheads="1"/>
            </p:cNvSpPr>
            <p:nvPr/>
          </p:nvSpPr>
          <p:spPr bwMode="auto">
            <a:xfrm>
              <a:off x="528" y="145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2497" name="Rectangle 16"/>
            <p:cNvSpPr>
              <a:spLocks noChangeArrowheads="1"/>
            </p:cNvSpPr>
            <p:nvPr/>
          </p:nvSpPr>
          <p:spPr bwMode="auto">
            <a:xfrm>
              <a:off x="1200" y="120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赵明</a:t>
              </a:r>
            </a:p>
          </p:txBody>
        </p:sp>
        <p:sp>
          <p:nvSpPr>
            <p:cNvPr id="102498" name="Rectangle 17"/>
            <p:cNvSpPr>
              <a:spLocks noChangeArrowheads="1"/>
            </p:cNvSpPr>
            <p:nvPr/>
          </p:nvSpPr>
          <p:spPr bwMode="auto">
            <a:xfrm>
              <a:off x="528" y="120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2499" name="Rectangle 18"/>
            <p:cNvSpPr>
              <a:spLocks noChangeArrowheads="1"/>
            </p:cNvSpPr>
            <p:nvPr/>
          </p:nvSpPr>
          <p:spPr bwMode="auto">
            <a:xfrm>
              <a:off x="1200" y="960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PN</a:t>
              </a:r>
            </a:p>
          </p:txBody>
        </p:sp>
        <p:sp>
          <p:nvSpPr>
            <p:cNvPr id="102500" name="Rectangle 19"/>
            <p:cNvSpPr>
              <a:spLocks noChangeArrowheads="1"/>
            </p:cNvSpPr>
            <p:nvPr/>
          </p:nvSpPr>
          <p:spPr bwMode="auto">
            <a:xfrm>
              <a:off x="528" y="960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2501" name="Line 20"/>
            <p:cNvSpPr>
              <a:spLocks noChangeShapeType="1"/>
            </p:cNvSpPr>
            <p:nvPr/>
          </p:nvSpPr>
          <p:spPr bwMode="auto">
            <a:xfrm>
              <a:off x="528" y="960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2" name="Line 21"/>
            <p:cNvSpPr>
              <a:spLocks noChangeShapeType="1"/>
            </p:cNvSpPr>
            <p:nvPr/>
          </p:nvSpPr>
          <p:spPr bwMode="auto">
            <a:xfrm>
              <a:off x="528" y="1209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3" name="Line 22"/>
            <p:cNvSpPr>
              <a:spLocks noChangeShapeType="1"/>
            </p:cNvSpPr>
            <p:nvPr/>
          </p:nvSpPr>
          <p:spPr bwMode="auto">
            <a:xfrm>
              <a:off x="528" y="1458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4" name="Line 23"/>
            <p:cNvSpPr>
              <a:spLocks noChangeShapeType="1"/>
            </p:cNvSpPr>
            <p:nvPr/>
          </p:nvSpPr>
          <p:spPr bwMode="auto">
            <a:xfrm>
              <a:off x="528" y="1707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5" name="Line 24"/>
            <p:cNvSpPr>
              <a:spLocks noChangeShapeType="1"/>
            </p:cNvSpPr>
            <p:nvPr/>
          </p:nvSpPr>
          <p:spPr bwMode="auto">
            <a:xfrm>
              <a:off x="528" y="220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6" name="Line 25"/>
            <p:cNvSpPr>
              <a:spLocks noChangeShapeType="1"/>
            </p:cNvSpPr>
            <p:nvPr/>
          </p:nvSpPr>
          <p:spPr bwMode="auto">
            <a:xfrm>
              <a:off x="528" y="960"/>
              <a:ext cx="0" cy="12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7" name="Line 26"/>
            <p:cNvSpPr>
              <a:spLocks noChangeShapeType="1"/>
            </p:cNvSpPr>
            <p:nvPr/>
          </p:nvSpPr>
          <p:spPr bwMode="auto">
            <a:xfrm>
              <a:off x="1200" y="960"/>
              <a:ext cx="0" cy="12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8" name="Line 27"/>
            <p:cNvSpPr>
              <a:spLocks noChangeShapeType="1"/>
            </p:cNvSpPr>
            <p:nvPr/>
          </p:nvSpPr>
          <p:spPr bwMode="auto">
            <a:xfrm>
              <a:off x="2448" y="960"/>
              <a:ext cx="0" cy="12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09" name="Line 28"/>
            <p:cNvSpPr>
              <a:spLocks noChangeShapeType="1"/>
            </p:cNvSpPr>
            <p:nvPr/>
          </p:nvSpPr>
          <p:spPr bwMode="auto">
            <a:xfrm>
              <a:off x="1808" y="960"/>
              <a:ext cx="0" cy="12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510" name="Line 29"/>
            <p:cNvSpPr>
              <a:spLocks noChangeShapeType="1"/>
            </p:cNvSpPr>
            <p:nvPr/>
          </p:nvSpPr>
          <p:spPr bwMode="auto">
            <a:xfrm>
              <a:off x="528" y="1956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9118" name="Group 30"/>
          <p:cNvGrpSpPr>
            <a:grpSpLocks/>
          </p:cNvGrpSpPr>
          <p:nvPr/>
        </p:nvGrpSpPr>
        <p:grpSpPr bwMode="auto">
          <a:xfrm>
            <a:off x="6858000" y="1919288"/>
            <a:ext cx="2032000" cy="1581150"/>
            <a:chOff x="576" y="2979"/>
            <a:chExt cx="1280" cy="996"/>
          </a:xfrm>
        </p:grpSpPr>
        <p:sp>
          <p:nvSpPr>
            <p:cNvPr id="102470" name="Rectangle 31"/>
            <p:cNvSpPr>
              <a:spLocks noChangeArrowheads="1"/>
            </p:cNvSpPr>
            <p:nvPr/>
          </p:nvSpPr>
          <p:spPr bwMode="auto">
            <a:xfrm>
              <a:off x="1248" y="372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化</a:t>
              </a: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学</a:t>
              </a:r>
            </a:p>
          </p:txBody>
        </p:sp>
        <p:sp>
          <p:nvSpPr>
            <p:cNvPr id="102471" name="Rectangle 32"/>
            <p:cNvSpPr>
              <a:spLocks noChangeArrowheads="1"/>
            </p:cNvSpPr>
            <p:nvPr/>
          </p:nvSpPr>
          <p:spPr bwMode="auto">
            <a:xfrm>
              <a:off x="576" y="372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C03</a:t>
              </a:r>
            </a:p>
          </p:txBody>
        </p:sp>
        <p:sp>
          <p:nvSpPr>
            <p:cNvPr id="102472" name="Rectangle 33"/>
            <p:cNvSpPr>
              <a:spLocks noChangeArrowheads="1"/>
            </p:cNvSpPr>
            <p:nvPr/>
          </p:nvSpPr>
          <p:spPr bwMode="auto">
            <a:xfrm>
              <a:off x="1248" y="347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2473" name="Rectangle 34"/>
            <p:cNvSpPr>
              <a:spLocks noChangeArrowheads="1"/>
            </p:cNvSpPr>
            <p:nvPr/>
          </p:nvSpPr>
          <p:spPr bwMode="auto">
            <a:xfrm>
              <a:off x="576" y="347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2474" name="Rectangle 35"/>
            <p:cNvSpPr>
              <a:spLocks noChangeArrowheads="1"/>
            </p:cNvSpPr>
            <p:nvPr/>
          </p:nvSpPr>
          <p:spPr bwMode="auto">
            <a:xfrm>
              <a:off x="1248" y="322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物理</a:t>
              </a:r>
            </a:p>
          </p:txBody>
        </p:sp>
        <p:sp>
          <p:nvSpPr>
            <p:cNvPr id="102475" name="Rectangle 36"/>
            <p:cNvSpPr>
              <a:spLocks noChangeArrowheads="1"/>
            </p:cNvSpPr>
            <p:nvPr/>
          </p:nvSpPr>
          <p:spPr bwMode="auto">
            <a:xfrm>
              <a:off x="576" y="322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2476" name="Rectangle 37"/>
            <p:cNvSpPr>
              <a:spLocks noChangeArrowheads="1"/>
            </p:cNvSpPr>
            <p:nvPr/>
          </p:nvSpPr>
          <p:spPr bwMode="auto">
            <a:xfrm>
              <a:off x="1248" y="297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CN</a:t>
              </a:r>
            </a:p>
          </p:txBody>
        </p:sp>
        <p:sp>
          <p:nvSpPr>
            <p:cNvPr id="102477" name="Rectangle 38"/>
            <p:cNvSpPr>
              <a:spLocks noChangeArrowheads="1"/>
            </p:cNvSpPr>
            <p:nvPr/>
          </p:nvSpPr>
          <p:spPr bwMode="auto">
            <a:xfrm>
              <a:off x="576" y="297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2478" name="Line 39"/>
            <p:cNvSpPr>
              <a:spLocks noChangeShapeType="1"/>
            </p:cNvSpPr>
            <p:nvPr/>
          </p:nvSpPr>
          <p:spPr bwMode="auto">
            <a:xfrm>
              <a:off x="576" y="2979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79" name="Line 40"/>
            <p:cNvSpPr>
              <a:spLocks noChangeShapeType="1"/>
            </p:cNvSpPr>
            <p:nvPr/>
          </p:nvSpPr>
          <p:spPr bwMode="auto">
            <a:xfrm>
              <a:off x="576" y="3228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80" name="Line 41"/>
            <p:cNvSpPr>
              <a:spLocks noChangeShapeType="1"/>
            </p:cNvSpPr>
            <p:nvPr/>
          </p:nvSpPr>
          <p:spPr bwMode="auto">
            <a:xfrm>
              <a:off x="576" y="3477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81" name="Line 42"/>
            <p:cNvSpPr>
              <a:spLocks noChangeShapeType="1"/>
            </p:cNvSpPr>
            <p:nvPr/>
          </p:nvSpPr>
          <p:spPr bwMode="auto">
            <a:xfrm>
              <a:off x="576" y="372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82" name="Line 43"/>
            <p:cNvSpPr>
              <a:spLocks noChangeShapeType="1"/>
            </p:cNvSpPr>
            <p:nvPr/>
          </p:nvSpPr>
          <p:spPr bwMode="auto">
            <a:xfrm>
              <a:off x="576" y="3975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83" name="Line 44"/>
            <p:cNvSpPr>
              <a:spLocks noChangeShapeType="1"/>
            </p:cNvSpPr>
            <p:nvPr/>
          </p:nvSpPr>
          <p:spPr bwMode="auto">
            <a:xfrm>
              <a:off x="57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84" name="Line 45"/>
            <p:cNvSpPr>
              <a:spLocks noChangeShapeType="1"/>
            </p:cNvSpPr>
            <p:nvPr/>
          </p:nvSpPr>
          <p:spPr bwMode="auto">
            <a:xfrm>
              <a:off x="1248" y="297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85" name="Line 46"/>
            <p:cNvSpPr>
              <a:spLocks noChangeShapeType="1"/>
            </p:cNvSpPr>
            <p:nvPr/>
          </p:nvSpPr>
          <p:spPr bwMode="auto">
            <a:xfrm>
              <a:off x="185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9135" name="Group 47"/>
          <p:cNvGrpSpPr>
            <a:grpSpLocks/>
          </p:cNvGrpSpPr>
          <p:nvPr/>
        </p:nvGrpSpPr>
        <p:grpSpPr bwMode="auto">
          <a:xfrm>
            <a:off x="4140200" y="1924050"/>
            <a:ext cx="2032000" cy="1581150"/>
            <a:chOff x="576" y="2979"/>
            <a:chExt cx="1280" cy="996"/>
          </a:xfrm>
        </p:grpSpPr>
        <p:sp>
          <p:nvSpPr>
            <p:cNvPr id="102454" name="Rectangle 48"/>
            <p:cNvSpPr>
              <a:spLocks noChangeArrowheads="1"/>
            </p:cNvSpPr>
            <p:nvPr/>
          </p:nvSpPr>
          <p:spPr bwMode="auto">
            <a:xfrm>
              <a:off x="1248" y="372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2455" name="Rectangle 49"/>
            <p:cNvSpPr>
              <a:spLocks noChangeArrowheads="1"/>
            </p:cNvSpPr>
            <p:nvPr/>
          </p:nvSpPr>
          <p:spPr bwMode="auto">
            <a:xfrm>
              <a:off x="576" y="372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2456" name="Rectangle 50"/>
            <p:cNvSpPr>
              <a:spLocks noChangeArrowheads="1"/>
            </p:cNvSpPr>
            <p:nvPr/>
          </p:nvSpPr>
          <p:spPr bwMode="auto">
            <a:xfrm>
              <a:off x="1248" y="347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2457" name="Rectangle 51"/>
            <p:cNvSpPr>
              <a:spLocks noChangeArrowheads="1"/>
            </p:cNvSpPr>
            <p:nvPr/>
          </p:nvSpPr>
          <p:spPr bwMode="auto">
            <a:xfrm>
              <a:off x="576" y="347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2458" name="Rectangle 52"/>
            <p:cNvSpPr>
              <a:spLocks noChangeArrowheads="1"/>
            </p:cNvSpPr>
            <p:nvPr/>
          </p:nvSpPr>
          <p:spPr bwMode="auto">
            <a:xfrm>
              <a:off x="1248" y="322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2459" name="Rectangle 53"/>
            <p:cNvSpPr>
              <a:spLocks noChangeArrowheads="1"/>
            </p:cNvSpPr>
            <p:nvPr/>
          </p:nvSpPr>
          <p:spPr bwMode="auto">
            <a:xfrm>
              <a:off x="576" y="322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2460" name="Rectangle 54"/>
            <p:cNvSpPr>
              <a:spLocks noChangeArrowheads="1"/>
            </p:cNvSpPr>
            <p:nvPr/>
          </p:nvSpPr>
          <p:spPr bwMode="auto">
            <a:xfrm>
              <a:off x="1248" y="297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2461" name="Rectangle 55"/>
            <p:cNvSpPr>
              <a:spLocks noChangeArrowheads="1"/>
            </p:cNvSpPr>
            <p:nvPr/>
          </p:nvSpPr>
          <p:spPr bwMode="auto">
            <a:xfrm>
              <a:off x="576" y="297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2462" name="Line 56"/>
            <p:cNvSpPr>
              <a:spLocks noChangeShapeType="1"/>
            </p:cNvSpPr>
            <p:nvPr/>
          </p:nvSpPr>
          <p:spPr bwMode="auto">
            <a:xfrm>
              <a:off x="576" y="2979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3" name="Line 57"/>
            <p:cNvSpPr>
              <a:spLocks noChangeShapeType="1"/>
            </p:cNvSpPr>
            <p:nvPr/>
          </p:nvSpPr>
          <p:spPr bwMode="auto">
            <a:xfrm>
              <a:off x="576" y="3228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4" name="Line 58"/>
            <p:cNvSpPr>
              <a:spLocks noChangeShapeType="1"/>
            </p:cNvSpPr>
            <p:nvPr/>
          </p:nvSpPr>
          <p:spPr bwMode="auto">
            <a:xfrm>
              <a:off x="576" y="3477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5" name="Line 59"/>
            <p:cNvSpPr>
              <a:spLocks noChangeShapeType="1"/>
            </p:cNvSpPr>
            <p:nvPr/>
          </p:nvSpPr>
          <p:spPr bwMode="auto">
            <a:xfrm>
              <a:off x="576" y="372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6" name="Line 60"/>
            <p:cNvSpPr>
              <a:spLocks noChangeShapeType="1"/>
            </p:cNvSpPr>
            <p:nvPr/>
          </p:nvSpPr>
          <p:spPr bwMode="auto">
            <a:xfrm>
              <a:off x="576" y="3975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7" name="Line 61"/>
            <p:cNvSpPr>
              <a:spLocks noChangeShapeType="1"/>
            </p:cNvSpPr>
            <p:nvPr/>
          </p:nvSpPr>
          <p:spPr bwMode="auto">
            <a:xfrm>
              <a:off x="57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8" name="Line 62"/>
            <p:cNvSpPr>
              <a:spLocks noChangeShapeType="1"/>
            </p:cNvSpPr>
            <p:nvPr/>
          </p:nvSpPr>
          <p:spPr bwMode="auto">
            <a:xfrm>
              <a:off x="1248" y="297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69" name="Line 63"/>
            <p:cNvSpPr>
              <a:spLocks noChangeShapeType="1"/>
            </p:cNvSpPr>
            <p:nvPr/>
          </p:nvSpPr>
          <p:spPr bwMode="auto">
            <a:xfrm>
              <a:off x="185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9152" name="Group 64"/>
          <p:cNvGrpSpPr>
            <a:grpSpLocks/>
          </p:cNvGrpSpPr>
          <p:nvPr/>
        </p:nvGrpSpPr>
        <p:grpSpPr bwMode="auto">
          <a:xfrm>
            <a:off x="1981200" y="4267200"/>
            <a:ext cx="3505200" cy="1747838"/>
            <a:chOff x="3216" y="3120"/>
            <a:chExt cx="2208" cy="1101"/>
          </a:xfrm>
        </p:grpSpPr>
        <p:sp>
          <p:nvSpPr>
            <p:cNvPr id="102423" name="Rectangle 65"/>
            <p:cNvSpPr>
              <a:spLocks noChangeArrowheads="1"/>
            </p:cNvSpPr>
            <p:nvPr/>
          </p:nvSpPr>
          <p:spPr bwMode="auto">
            <a:xfrm>
              <a:off x="4982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2424" name="Rectangle 66"/>
            <p:cNvSpPr>
              <a:spLocks noChangeArrowheads="1"/>
            </p:cNvSpPr>
            <p:nvPr/>
          </p:nvSpPr>
          <p:spPr bwMode="auto">
            <a:xfrm>
              <a:off x="4541" y="3937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2425" name="Rectangle 67"/>
            <p:cNvSpPr>
              <a:spLocks noChangeArrowheads="1"/>
            </p:cNvSpPr>
            <p:nvPr/>
          </p:nvSpPr>
          <p:spPr bwMode="auto">
            <a:xfrm>
              <a:off x="4099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500</a:t>
              </a:r>
            </a:p>
          </p:txBody>
        </p:sp>
        <p:sp>
          <p:nvSpPr>
            <p:cNvPr id="102426" name="Rectangle 68"/>
            <p:cNvSpPr>
              <a:spLocks noChangeArrowheads="1"/>
            </p:cNvSpPr>
            <p:nvPr/>
          </p:nvSpPr>
          <p:spPr bwMode="auto">
            <a:xfrm>
              <a:off x="3658" y="3937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李三</a:t>
              </a:r>
            </a:p>
          </p:txBody>
        </p:sp>
        <p:sp>
          <p:nvSpPr>
            <p:cNvPr id="102427" name="Rectangle 69"/>
            <p:cNvSpPr>
              <a:spLocks noChangeArrowheads="1"/>
            </p:cNvSpPr>
            <p:nvPr/>
          </p:nvSpPr>
          <p:spPr bwMode="auto">
            <a:xfrm>
              <a:off x="3216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2428" name="Rectangle 70"/>
            <p:cNvSpPr>
              <a:spLocks noChangeArrowheads="1"/>
            </p:cNvSpPr>
            <p:nvPr/>
          </p:nvSpPr>
          <p:spPr bwMode="auto">
            <a:xfrm>
              <a:off x="4982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2429" name="Rectangle 71"/>
            <p:cNvSpPr>
              <a:spLocks noChangeArrowheads="1"/>
            </p:cNvSpPr>
            <p:nvPr/>
          </p:nvSpPr>
          <p:spPr bwMode="auto">
            <a:xfrm>
              <a:off x="4541" y="3653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2430" name="Rectangle 72"/>
            <p:cNvSpPr>
              <a:spLocks noChangeArrowheads="1"/>
            </p:cNvSpPr>
            <p:nvPr/>
          </p:nvSpPr>
          <p:spPr bwMode="auto">
            <a:xfrm>
              <a:off x="4099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700</a:t>
              </a:r>
            </a:p>
          </p:txBody>
        </p:sp>
        <p:sp>
          <p:nvSpPr>
            <p:cNvPr id="102431" name="Rectangle 73"/>
            <p:cNvSpPr>
              <a:spLocks noChangeArrowheads="1"/>
            </p:cNvSpPr>
            <p:nvPr/>
          </p:nvSpPr>
          <p:spPr bwMode="auto">
            <a:xfrm>
              <a:off x="3658" y="3653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钱广</a:t>
              </a:r>
            </a:p>
          </p:txBody>
        </p:sp>
        <p:sp>
          <p:nvSpPr>
            <p:cNvPr id="102432" name="Rectangle 74"/>
            <p:cNvSpPr>
              <a:spLocks noChangeArrowheads="1"/>
            </p:cNvSpPr>
            <p:nvPr/>
          </p:nvSpPr>
          <p:spPr bwMode="auto">
            <a:xfrm>
              <a:off x="3216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2433" name="Rectangle 75"/>
            <p:cNvSpPr>
              <a:spLocks noChangeArrowheads="1"/>
            </p:cNvSpPr>
            <p:nvPr/>
          </p:nvSpPr>
          <p:spPr bwMode="auto">
            <a:xfrm>
              <a:off x="4982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物理</a:t>
              </a:r>
            </a:p>
          </p:txBody>
        </p:sp>
        <p:sp>
          <p:nvSpPr>
            <p:cNvPr id="102434" name="Rectangle 76"/>
            <p:cNvSpPr>
              <a:spLocks noChangeArrowheads="1"/>
            </p:cNvSpPr>
            <p:nvPr/>
          </p:nvSpPr>
          <p:spPr bwMode="auto">
            <a:xfrm>
              <a:off x="4541" y="3369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2435" name="Rectangle 77"/>
            <p:cNvSpPr>
              <a:spLocks noChangeArrowheads="1"/>
            </p:cNvSpPr>
            <p:nvPr/>
          </p:nvSpPr>
          <p:spPr bwMode="auto">
            <a:xfrm>
              <a:off x="4099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800</a:t>
              </a:r>
            </a:p>
          </p:txBody>
        </p:sp>
        <p:sp>
          <p:nvSpPr>
            <p:cNvPr id="102436" name="Rectangle 78"/>
            <p:cNvSpPr>
              <a:spLocks noChangeArrowheads="1"/>
            </p:cNvSpPr>
            <p:nvPr/>
          </p:nvSpPr>
          <p:spPr bwMode="auto">
            <a:xfrm>
              <a:off x="3658" y="3369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赵明</a:t>
              </a:r>
            </a:p>
          </p:txBody>
        </p:sp>
        <p:sp>
          <p:nvSpPr>
            <p:cNvPr id="102437" name="Rectangle 79"/>
            <p:cNvSpPr>
              <a:spLocks noChangeArrowheads="1"/>
            </p:cNvSpPr>
            <p:nvPr/>
          </p:nvSpPr>
          <p:spPr bwMode="auto">
            <a:xfrm>
              <a:off x="3216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2438" name="Rectangle 80"/>
            <p:cNvSpPr>
              <a:spLocks noChangeArrowheads="1"/>
            </p:cNvSpPr>
            <p:nvPr/>
          </p:nvSpPr>
          <p:spPr bwMode="auto">
            <a:xfrm>
              <a:off x="4982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CN</a:t>
              </a:r>
            </a:p>
          </p:txBody>
        </p:sp>
        <p:sp>
          <p:nvSpPr>
            <p:cNvPr id="102439" name="Rectangle 81"/>
            <p:cNvSpPr>
              <a:spLocks noChangeArrowheads="1"/>
            </p:cNvSpPr>
            <p:nvPr/>
          </p:nvSpPr>
          <p:spPr bwMode="auto">
            <a:xfrm>
              <a:off x="4541" y="3120"/>
              <a:ext cx="44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2440" name="Rectangle 82"/>
            <p:cNvSpPr>
              <a:spLocks noChangeArrowheads="1"/>
            </p:cNvSpPr>
            <p:nvPr/>
          </p:nvSpPr>
          <p:spPr bwMode="auto">
            <a:xfrm>
              <a:off x="4099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SAL</a:t>
              </a:r>
            </a:p>
          </p:txBody>
        </p:sp>
        <p:sp>
          <p:nvSpPr>
            <p:cNvPr id="102441" name="Rectangle 83"/>
            <p:cNvSpPr>
              <a:spLocks noChangeArrowheads="1"/>
            </p:cNvSpPr>
            <p:nvPr/>
          </p:nvSpPr>
          <p:spPr bwMode="auto">
            <a:xfrm>
              <a:off x="3658" y="3120"/>
              <a:ext cx="44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PN</a:t>
              </a:r>
            </a:p>
          </p:txBody>
        </p:sp>
        <p:sp>
          <p:nvSpPr>
            <p:cNvPr id="102442" name="Rectangle 84"/>
            <p:cNvSpPr>
              <a:spLocks noChangeArrowheads="1"/>
            </p:cNvSpPr>
            <p:nvPr/>
          </p:nvSpPr>
          <p:spPr bwMode="auto">
            <a:xfrm>
              <a:off x="3216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2443" name="Line 85"/>
            <p:cNvSpPr>
              <a:spLocks noChangeShapeType="1"/>
            </p:cNvSpPr>
            <p:nvPr/>
          </p:nvSpPr>
          <p:spPr bwMode="auto">
            <a:xfrm>
              <a:off x="3216" y="3120"/>
              <a:ext cx="220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44" name="Line 86"/>
            <p:cNvSpPr>
              <a:spLocks noChangeShapeType="1"/>
            </p:cNvSpPr>
            <p:nvPr/>
          </p:nvSpPr>
          <p:spPr bwMode="auto">
            <a:xfrm>
              <a:off x="3216" y="3369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45" name="Line 87"/>
            <p:cNvSpPr>
              <a:spLocks noChangeShapeType="1"/>
            </p:cNvSpPr>
            <p:nvPr/>
          </p:nvSpPr>
          <p:spPr bwMode="auto">
            <a:xfrm>
              <a:off x="3216" y="3653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46" name="Line 88"/>
            <p:cNvSpPr>
              <a:spLocks noChangeShapeType="1"/>
            </p:cNvSpPr>
            <p:nvPr/>
          </p:nvSpPr>
          <p:spPr bwMode="auto">
            <a:xfrm>
              <a:off x="3216" y="3937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47" name="Line 89"/>
            <p:cNvSpPr>
              <a:spLocks noChangeShapeType="1"/>
            </p:cNvSpPr>
            <p:nvPr/>
          </p:nvSpPr>
          <p:spPr bwMode="auto">
            <a:xfrm>
              <a:off x="3216" y="4221"/>
              <a:ext cx="220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48" name="Line 90"/>
            <p:cNvSpPr>
              <a:spLocks noChangeShapeType="1"/>
            </p:cNvSpPr>
            <p:nvPr/>
          </p:nvSpPr>
          <p:spPr bwMode="auto">
            <a:xfrm>
              <a:off x="3216" y="3120"/>
              <a:ext cx="0" cy="11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49" name="Line 91"/>
            <p:cNvSpPr>
              <a:spLocks noChangeShapeType="1"/>
            </p:cNvSpPr>
            <p:nvPr/>
          </p:nvSpPr>
          <p:spPr bwMode="auto">
            <a:xfrm>
              <a:off x="3658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50" name="Line 92"/>
            <p:cNvSpPr>
              <a:spLocks noChangeShapeType="1"/>
            </p:cNvSpPr>
            <p:nvPr/>
          </p:nvSpPr>
          <p:spPr bwMode="auto">
            <a:xfrm>
              <a:off x="4099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51" name="Line 93"/>
            <p:cNvSpPr>
              <a:spLocks noChangeShapeType="1"/>
            </p:cNvSpPr>
            <p:nvPr/>
          </p:nvSpPr>
          <p:spPr bwMode="auto">
            <a:xfrm>
              <a:off x="4541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52" name="Line 94"/>
            <p:cNvSpPr>
              <a:spLocks noChangeShapeType="1"/>
            </p:cNvSpPr>
            <p:nvPr/>
          </p:nvSpPr>
          <p:spPr bwMode="auto">
            <a:xfrm>
              <a:off x="4982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53" name="Line 95"/>
            <p:cNvSpPr>
              <a:spLocks noChangeShapeType="1"/>
            </p:cNvSpPr>
            <p:nvPr/>
          </p:nvSpPr>
          <p:spPr bwMode="auto">
            <a:xfrm>
              <a:off x="5424" y="3120"/>
              <a:ext cx="0" cy="11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9195" name="Group 107"/>
          <p:cNvGrpSpPr>
            <a:grpSpLocks/>
          </p:cNvGrpSpPr>
          <p:nvPr/>
        </p:nvGrpSpPr>
        <p:grpSpPr bwMode="auto">
          <a:xfrm>
            <a:off x="1219200" y="5257800"/>
            <a:ext cx="304800" cy="147638"/>
            <a:chOff x="768" y="3309"/>
            <a:chExt cx="288" cy="96"/>
          </a:xfrm>
        </p:grpSpPr>
        <p:sp>
          <p:nvSpPr>
            <p:cNvPr id="102421" name="Line 96"/>
            <p:cNvSpPr>
              <a:spLocks noChangeShapeType="1"/>
            </p:cNvSpPr>
            <p:nvPr/>
          </p:nvSpPr>
          <p:spPr bwMode="auto">
            <a:xfrm>
              <a:off x="768" y="3309"/>
              <a:ext cx="28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22" name="Line 97"/>
            <p:cNvSpPr>
              <a:spLocks noChangeShapeType="1"/>
            </p:cNvSpPr>
            <p:nvPr/>
          </p:nvSpPr>
          <p:spPr bwMode="auto">
            <a:xfrm>
              <a:off x="768" y="340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89186" name="AutoShape 98"/>
          <p:cNvSpPr>
            <a:spLocks noChangeArrowheads="1"/>
          </p:cNvSpPr>
          <p:nvPr/>
        </p:nvSpPr>
        <p:spPr bwMode="auto">
          <a:xfrm>
            <a:off x="6324600" y="4419600"/>
            <a:ext cx="2286000" cy="604838"/>
          </a:xfrm>
          <a:prstGeom prst="wedgeRoundRectCallout">
            <a:avLst>
              <a:gd name="adj1" fmla="val -84653"/>
              <a:gd name="adj2" fmla="val 95144"/>
              <a:gd name="adj3" fmla="val 16667"/>
            </a:avLst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-2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Arial" charset="0"/>
              </a:rPr>
              <a:t>所有课程的信息</a:t>
            </a:r>
            <a:endParaRPr kumimoji="1" lang="zh-CN" altLang="en-US" sz="4000" b="1" i="0" u="none" strike="noStrike" kern="1200" cap="none" spc="0" normalizeH="0" baseline="-2000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Arial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-2000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itchFamily="18" charset="0"/>
              <a:ea typeface="仿宋_GB2312" pitchFamily="49" charset="-122"/>
              <a:cs typeface="Arial" charset="0"/>
            </a:endParaRPr>
          </a:p>
        </p:txBody>
      </p:sp>
      <p:sp>
        <p:nvSpPr>
          <p:cNvPr id="89187" name="AutoShape 99"/>
          <p:cNvSpPr>
            <a:spLocks noChangeArrowheads="1"/>
          </p:cNvSpPr>
          <p:nvPr/>
        </p:nvSpPr>
        <p:spPr bwMode="auto">
          <a:xfrm rot="5400000">
            <a:off x="3657600" y="2509838"/>
            <a:ext cx="228600" cy="3810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89188" name="AutoShape 100"/>
          <p:cNvSpPr>
            <a:spLocks noChangeArrowheads="1"/>
          </p:cNvSpPr>
          <p:nvPr/>
        </p:nvSpPr>
        <p:spPr bwMode="auto">
          <a:xfrm rot="5400000">
            <a:off x="6324600" y="2586038"/>
            <a:ext cx="228600" cy="2286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grpSp>
        <p:nvGrpSpPr>
          <p:cNvPr id="89196" name="Group 108"/>
          <p:cNvGrpSpPr>
            <a:grpSpLocks/>
          </p:cNvGrpSpPr>
          <p:nvPr/>
        </p:nvGrpSpPr>
        <p:grpSpPr bwMode="auto">
          <a:xfrm>
            <a:off x="6553200" y="2586038"/>
            <a:ext cx="152400" cy="228600"/>
            <a:chOff x="4128" y="1629"/>
            <a:chExt cx="96" cy="144"/>
          </a:xfrm>
        </p:grpSpPr>
        <p:sp>
          <p:nvSpPr>
            <p:cNvPr id="102419" name="Line 101"/>
            <p:cNvSpPr>
              <a:spLocks noChangeShapeType="1"/>
            </p:cNvSpPr>
            <p:nvPr/>
          </p:nvSpPr>
          <p:spPr bwMode="auto">
            <a:xfrm flipH="1">
              <a:off x="4128" y="1629"/>
              <a:ext cx="96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2420" name="Line 102"/>
            <p:cNvSpPr>
              <a:spLocks noChangeShapeType="1"/>
            </p:cNvSpPr>
            <p:nvPr/>
          </p:nvSpPr>
          <p:spPr bwMode="auto">
            <a:xfrm flipH="1">
              <a:off x="4128" y="1773"/>
              <a:ext cx="96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89191" name="Group 103"/>
          <p:cNvGrpSpPr>
            <a:grpSpLocks/>
          </p:cNvGrpSpPr>
          <p:nvPr/>
        </p:nvGrpSpPr>
        <p:grpSpPr bwMode="auto">
          <a:xfrm>
            <a:off x="1981200" y="5862638"/>
            <a:ext cx="3505200" cy="630237"/>
            <a:chOff x="1248" y="3693"/>
            <a:chExt cx="2208" cy="397"/>
          </a:xfrm>
        </p:grpSpPr>
        <p:graphicFrame>
          <p:nvGraphicFramePr>
            <p:cNvPr id="102417" name="Object 104"/>
            <p:cNvGraphicFramePr>
              <a:graphicFrameLocks/>
            </p:cNvGraphicFramePr>
            <p:nvPr/>
          </p:nvGraphicFramePr>
          <p:xfrm>
            <a:off x="1248" y="3786"/>
            <a:ext cx="22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5629656" imgH="760476" progId="Word.Document.8">
                    <p:embed/>
                  </p:oleObj>
                </mc:Choice>
                <mc:Fallback>
                  <p:oleObj name="Document" r:id="rId2" imgW="5629656" imgH="760476" progId="Word.Document.8">
                    <p:embed/>
                    <p:pic>
                      <p:nvPicPr>
                        <p:cNvPr id="102417" name="Object 1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786"/>
                          <a:ext cx="220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18" name="Line 105"/>
            <p:cNvSpPr>
              <a:spLocks noChangeShapeType="1"/>
            </p:cNvSpPr>
            <p:nvPr/>
          </p:nvSpPr>
          <p:spPr bwMode="auto">
            <a:xfrm flipV="1">
              <a:off x="3456" y="3693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89194" name="Rectangle 106"/>
          <p:cNvSpPr>
            <a:spLocks noChangeArrowheads="1"/>
          </p:cNvSpPr>
          <p:nvPr/>
        </p:nvSpPr>
        <p:spPr bwMode="auto">
          <a:xfrm>
            <a:off x="1676400" y="5867400"/>
            <a:ext cx="4191000" cy="685800"/>
          </a:xfrm>
          <a:prstGeom prst="rect">
            <a:avLst/>
          </a:prstGeom>
          <a:noFill/>
          <a:ln w="28575" algn="ctr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9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9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9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9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9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2" dur="500"/>
                                        <p:tgtEl>
                                          <p:spTgt spid="8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8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86" grpId="0" animBg="1" autoUpdateAnimBg="0"/>
      <p:bldP spid="89187" grpId="0" animBg="1"/>
      <p:bldP spid="89188" grpId="0" animBg="1"/>
      <p:bldP spid="8919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8A19D4-541F-42B8-8917-90F587DB32F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034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034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24437D-1202-4A44-95B0-0F50A28796D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034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外连接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1000" y="1524000"/>
            <a:ext cx="3048000" cy="1976438"/>
            <a:chOff x="528" y="960"/>
            <a:chExt cx="1920" cy="1245"/>
          </a:xfrm>
        </p:grpSpPr>
        <p:sp>
          <p:nvSpPr>
            <p:cNvPr id="103518" name="Rectangle 5"/>
            <p:cNvSpPr>
              <a:spLocks noChangeArrowheads="1"/>
            </p:cNvSpPr>
            <p:nvPr/>
          </p:nvSpPr>
          <p:spPr bwMode="auto">
            <a:xfrm>
              <a:off x="1808" y="1956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500</a:t>
              </a:r>
            </a:p>
          </p:txBody>
        </p:sp>
        <p:sp>
          <p:nvSpPr>
            <p:cNvPr id="103519" name="Rectangle 6"/>
            <p:cNvSpPr>
              <a:spLocks noChangeArrowheads="1"/>
            </p:cNvSpPr>
            <p:nvPr/>
          </p:nvSpPr>
          <p:spPr bwMode="auto">
            <a:xfrm>
              <a:off x="1200" y="195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李三</a:t>
              </a:r>
            </a:p>
          </p:txBody>
        </p:sp>
        <p:sp>
          <p:nvSpPr>
            <p:cNvPr id="103520" name="Rectangle 7"/>
            <p:cNvSpPr>
              <a:spLocks noChangeArrowheads="1"/>
            </p:cNvSpPr>
            <p:nvPr/>
          </p:nvSpPr>
          <p:spPr bwMode="auto">
            <a:xfrm>
              <a:off x="528" y="195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3521" name="Rectangle 8"/>
            <p:cNvSpPr>
              <a:spLocks noChangeArrowheads="1"/>
            </p:cNvSpPr>
            <p:nvPr/>
          </p:nvSpPr>
          <p:spPr bwMode="auto">
            <a:xfrm>
              <a:off x="1808" y="1707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600</a:t>
              </a:r>
            </a:p>
          </p:txBody>
        </p:sp>
        <p:sp>
          <p:nvSpPr>
            <p:cNvPr id="103522" name="Rectangle 9"/>
            <p:cNvSpPr>
              <a:spLocks noChangeArrowheads="1"/>
            </p:cNvSpPr>
            <p:nvPr/>
          </p:nvSpPr>
          <p:spPr bwMode="auto">
            <a:xfrm>
              <a:off x="1808" y="1458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700</a:t>
              </a:r>
            </a:p>
          </p:txBody>
        </p:sp>
        <p:sp>
          <p:nvSpPr>
            <p:cNvPr id="103523" name="Rectangle 10"/>
            <p:cNvSpPr>
              <a:spLocks noChangeArrowheads="1"/>
            </p:cNvSpPr>
            <p:nvPr/>
          </p:nvSpPr>
          <p:spPr bwMode="auto">
            <a:xfrm>
              <a:off x="1808" y="1209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800</a:t>
              </a:r>
            </a:p>
          </p:txBody>
        </p:sp>
        <p:sp>
          <p:nvSpPr>
            <p:cNvPr id="103524" name="Rectangle 11"/>
            <p:cNvSpPr>
              <a:spLocks noChangeArrowheads="1"/>
            </p:cNvSpPr>
            <p:nvPr/>
          </p:nvSpPr>
          <p:spPr bwMode="auto">
            <a:xfrm>
              <a:off x="1808" y="960"/>
              <a:ext cx="64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SAL</a:t>
              </a:r>
            </a:p>
          </p:txBody>
        </p:sp>
        <p:sp>
          <p:nvSpPr>
            <p:cNvPr id="103525" name="Rectangle 12"/>
            <p:cNvSpPr>
              <a:spLocks noChangeArrowheads="1"/>
            </p:cNvSpPr>
            <p:nvPr/>
          </p:nvSpPr>
          <p:spPr bwMode="auto">
            <a:xfrm>
              <a:off x="1200" y="170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孙立</a:t>
              </a:r>
            </a:p>
          </p:txBody>
        </p:sp>
        <p:sp>
          <p:nvSpPr>
            <p:cNvPr id="103526" name="Rectangle 13"/>
            <p:cNvSpPr>
              <a:spLocks noChangeArrowheads="1"/>
            </p:cNvSpPr>
            <p:nvPr/>
          </p:nvSpPr>
          <p:spPr bwMode="auto">
            <a:xfrm>
              <a:off x="528" y="170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P03</a:t>
              </a:r>
            </a:p>
          </p:txBody>
        </p:sp>
        <p:sp>
          <p:nvSpPr>
            <p:cNvPr id="103527" name="Rectangle 14"/>
            <p:cNvSpPr>
              <a:spLocks noChangeArrowheads="1"/>
            </p:cNvSpPr>
            <p:nvPr/>
          </p:nvSpPr>
          <p:spPr bwMode="auto">
            <a:xfrm>
              <a:off x="1200" y="145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钱广</a:t>
              </a:r>
            </a:p>
          </p:txBody>
        </p:sp>
        <p:sp>
          <p:nvSpPr>
            <p:cNvPr id="103528" name="Rectangle 15"/>
            <p:cNvSpPr>
              <a:spLocks noChangeArrowheads="1"/>
            </p:cNvSpPr>
            <p:nvPr/>
          </p:nvSpPr>
          <p:spPr bwMode="auto">
            <a:xfrm>
              <a:off x="528" y="145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3529" name="Rectangle 16"/>
            <p:cNvSpPr>
              <a:spLocks noChangeArrowheads="1"/>
            </p:cNvSpPr>
            <p:nvPr/>
          </p:nvSpPr>
          <p:spPr bwMode="auto">
            <a:xfrm>
              <a:off x="1200" y="120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赵明</a:t>
              </a:r>
            </a:p>
          </p:txBody>
        </p:sp>
        <p:sp>
          <p:nvSpPr>
            <p:cNvPr id="103530" name="Rectangle 17"/>
            <p:cNvSpPr>
              <a:spLocks noChangeArrowheads="1"/>
            </p:cNvSpPr>
            <p:nvPr/>
          </p:nvSpPr>
          <p:spPr bwMode="auto">
            <a:xfrm>
              <a:off x="528" y="120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3531" name="Rectangle 18"/>
            <p:cNvSpPr>
              <a:spLocks noChangeArrowheads="1"/>
            </p:cNvSpPr>
            <p:nvPr/>
          </p:nvSpPr>
          <p:spPr bwMode="auto">
            <a:xfrm>
              <a:off x="1200" y="960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PN</a:t>
              </a:r>
            </a:p>
          </p:txBody>
        </p:sp>
        <p:sp>
          <p:nvSpPr>
            <p:cNvPr id="103532" name="Rectangle 19"/>
            <p:cNvSpPr>
              <a:spLocks noChangeArrowheads="1"/>
            </p:cNvSpPr>
            <p:nvPr/>
          </p:nvSpPr>
          <p:spPr bwMode="auto">
            <a:xfrm>
              <a:off x="528" y="960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3533" name="Line 20"/>
            <p:cNvSpPr>
              <a:spLocks noChangeShapeType="1"/>
            </p:cNvSpPr>
            <p:nvPr/>
          </p:nvSpPr>
          <p:spPr bwMode="auto">
            <a:xfrm>
              <a:off x="528" y="960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34" name="Line 21"/>
            <p:cNvSpPr>
              <a:spLocks noChangeShapeType="1"/>
            </p:cNvSpPr>
            <p:nvPr/>
          </p:nvSpPr>
          <p:spPr bwMode="auto">
            <a:xfrm>
              <a:off x="528" y="1209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35" name="Line 22"/>
            <p:cNvSpPr>
              <a:spLocks noChangeShapeType="1"/>
            </p:cNvSpPr>
            <p:nvPr/>
          </p:nvSpPr>
          <p:spPr bwMode="auto">
            <a:xfrm>
              <a:off x="528" y="1458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36" name="Line 23"/>
            <p:cNvSpPr>
              <a:spLocks noChangeShapeType="1"/>
            </p:cNvSpPr>
            <p:nvPr/>
          </p:nvSpPr>
          <p:spPr bwMode="auto">
            <a:xfrm>
              <a:off x="528" y="1707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37" name="Line 24"/>
            <p:cNvSpPr>
              <a:spLocks noChangeShapeType="1"/>
            </p:cNvSpPr>
            <p:nvPr/>
          </p:nvSpPr>
          <p:spPr bwMode="auto">
            <a:xfrm>
              <a:off x="528" y="2205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38" name="Line 25"/>
            <p:cNvSpPr>
              <a:spLocks noChangeShapeType="1"/>
            </p:cNvSpPr>
            <p:nvPr/>
          </p:nvSpPr>
          <p:spPr bwMode="auto">
            <a:xfrm>
              <a:off x="528" y="960"/>
              <a:ext cx="0" cy="12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39" name="Line 26"/>
            <p:cNvSpPr>
              <a:spLocks noChangeShapeType="1"/>
            </p:cNvSpPr>
            <p:nvPr/>
          </p:nvSpPr>
          <p:spPr bwMode="auto">
            <a:xfrm>
              <a:off x="1200" y="960"/>
              <a:ext cx="0" cy="12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40" name="Line 27"/>
            <p:cNvSpPr>
              <a:spLocks noChangeShapeType="1"/>
            </p:cNvSpPr>
            <p:nvPr/>
          </p:nvSpPr>
          <p:spPr bwMode="auto">
            <a:xfrm>
              <a:off x="2448" y="960"/>
              <a:ext cx="0" cy="124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41" name="Line 28"/>
            <p:cNvSpPr>
              <a:spLocks noChangeShapeType="1"/>
            </p:cNvSpPr>
            <p:nvPr/>
          </p:nvSpPr>
          <p:spPr bwMode="auto">
            <a:xfrm>
              <a:off x="1808" y="960"/>
              <a:ext cx="0" cy="12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42" name="Line 29"/>
            <p:cNvSpPr>
              <a:spLocks noChangeShapeType="1"/>
            </p:cNvSpPr>
            <p:nvPr/>
          </p:nvSpPr>
          <p:spPr bwMode="auto">
            <a:xfrm>
              <a:off x="528" y="1956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90142" name="Group 30"/>
          <p:cNvGrpSpPr>
            <a:grpSpLocks/>
          </p:cNvGrpSpPr>
          <p:nvPr/>
        </p:nvGrpSpPr>
        <p:grpSpPr bwMode="auto">
          <a:xfrm>
            <a:off x="6858000" y="1766888"/>
            <a:ext cx="2032000" cy="1581150"/>
            <a:chOff x="576" y="2979"/>
            <a:chExt cx="1280" cy="996"/>
          </a:xfrm>
        </p:grpSpPr>
        <p:sp>
          <p:nvSpPr>
            <p:cNvPr id="103502" name="Rectangle 31"/>
            <p:cNvSpPr>
              <a:spLocks noChangeArrowheads="1"/>
            </p:cNvSpPr>
            <p:nvPr/>
          </p:nvSpPr>
          <p:spPr bwMode="auto">
            <a:xfrm>
              <a:off x="1248" y="372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化</a:t>
              </a: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学</a:t>
              </a:r>
            </a:p>
          </p:txBody>
        </p:sp>
        <p:sp>
          <p:nvSpPr>
            <p:cNvPr id="103503" name="Rectangle 32"/>
            <p:cNvSpPr>
              <a:spLocks noChangeArrowheads="1"/>
            </p:cNvSpPr>
            <p:nvPr/>
          </p:nvSpPr>
          <p:spPr bwMode="auto">
            <a:xfrm>
              <a:off x="576" y="372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C03</a:t>
              </a:r>
            </a:p>
          </p:txBody>
        </p:sp>
        <p:sp>
          <p:nvSpPr>
            <p:cNvPr id="103504" name="Rectangle 33"/>
            <p:cNvSpPr>
              <a:spLocks noChangeArrowheads="1"/>
            </p:cNvSpPr>
            <p:nvPr/>
          </p:nvSpPr>
          <p:spPr bwMode="auto">
            <a:xfrm>
              <a:off x="1248" y="347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3505" name="Rectangle 34"/>
            <p:cNvSpPr>
              <a:spLocks noChangeArrowheads="1"/>
            </p:cNvSpPr>
            <p:nvPr/>
          </p:nvSpPr>
          <p:spPr bwMode="auto">
            <a:xfrm>
              <a:off x="576" y="347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3506" name="Rectangle 35"/>
            <p:cNvSpPr>
              <a:spLocks noChangeArrowheads="1"/>
            </p:cNvSpPr>
            <p:nvPr/>
          </p:nvSpPr>
          <p:spPr bwMode="auto">
            <a:xfrm>
              <a:off x="1248" y="322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物理</a:t>
              </a:r>
            </a:p>
          </p:txBody>
        </p:sp>
        <p:sp>
          <p:nvSpPr>
            <p:cNvPr id="103507" name="Rectangle 36"/>
            <p:cNvSpPr>
              <a:spLocks noChangeArrowheads="1"/>
            </p:cNvSpPr>
            <p:nvPr/>
          </p:nvSpPr>
          <p:spPr bwMode="auto">
            <a:xfrm>
              <a:off x="576" y="322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3508" name="Rectangle 37"/>
            <p:cNvSpPr>
              <a:spLocks noChangeArrowheads="1"/>
            </p:cNvSpPr>
            <p:nvPr/>
          </p:nvSpPr>
          <p:spPr bwMode="auto">
            <a:xfrm>
              <a:off x="1248" y="297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CN</a:t>
              </a:r>
            </a:p>
          </p:txBody>
        </p:sp>
        <p:sp>
          <p:nvSpPr>
            <p:cNvPr id="103509" name="Rectangle 38"/>
            <p:cNvSpPr>
              <a:spLocks noChangeArrowheads="1"/>
            </p:cNvSpPr>
            <p:nvPr/>
          </p:nvSpPr>
          <p:spPr bwMode="auto">
            <a:xfrm>
              <a:off x="576" y="297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3510" name="Line 39"/>
            <p:cNvSpPr>
              <a:spLocks noChangeShapeType="1"/>
            </p:cNvSpPr>
            <p:nvPr/>
          </p:nvSpPr>
          <p:spPr bwMode="auto">
            <a:xfrm>
              <a:off x="576" y="2979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1" name="Line 40"/>
            <p:cNvSpPr>
              <a:spLocks noChangeShapeType="1"/>
            </p:cNvSpPr>
            <p:nvPr/>
          </p:nvSpPr>
          <p:spPr bwMode="auto">
            <a:xfrm>
              <a:off x="576" y="3228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2" name="Line 41"/>
            <p:cNvSpPr>
              <a:spLocks noChangeShapeType="1"/>
            </p:cNvSpPr>
            <p:nvPr/>
          </p:nvSpPr>
          <p:spPr bwMode="auto">
            <a:xfrm>
              <a:off x="576" y="3477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3" name="Line 42"/>
            <p:cNvSpPr>
              <a:spLocks noChangeShapeType="1"/>
            </p:cNvSpPr>
            <p:nvPr/>
          </p:nvSpPr>
          <p:spPr bwMode="auto">
            <a:xfrm>
              <a:off x="576" y="372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4" name="Line 43"/>
            <p:cNvSpPr>
              <a:spLocks noChangeShapeType="1"/>
            </p:cNvSpPr>
            <p:nvPr/>
          </p:nvSpPr>
          <p:spPr bwMode="auto">
            <a:xfrm>
              <a:off x="576" y="3975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5" name="Line 44"/>
            <p:cNvSpPr>
              <a:spLocks noChangeShapeType="1"/>
            </p:cNvSpPr>
            <p:nvPr/>
          </p:nvSpPr>
          <p:spPr bwMode="auto">
            <a:xfrm>
              <a:off x="57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6" name="Line 45"/>
            <p:cNvSpPr>
              <a:spLocks noChangeShapeType="1"/>
            </p:cNvSpPr>
            <p:nvPr/>
          </p:nvSpPr>
          <p:spPr bwMode="auto">
            <a:xfrm>
              <a:off x="1248" y="297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17" name="Line 46"/>
            <p:cNvSpPr>
              <a:spLocks noChangeShapeType="1"/>
            </p:cNvSpPr>
            <p:nvPr/>
          </p:nvSpPr>
          <p:spPr bwMode="auto">
            <a:xfrm>
              <a:off x="185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90159" name="Group 47"/>
          <p:cNvGrpSpPr>
            <a:grpSpLocks/>
          </p:cNvGrpSpPr>
          <p:nvPr/>
        </p:nvGrpSpPr>
        <p:grpSpPr bwMode="auto">
          <a:xfrm>
            <a:off x="4140200" y="1771650"/>
            <a:ext cx="2032000" cy="1581150"/>
            <a:chOff x="576" y="2979"/>
            <a:chExt cx="1280" cy="996"/>
          </a:xfrm>
        </p:grpSpPr>
        <p:sp>
          <p:nvSpPr>
            <p:cNvPr id="103486" name="Rectangle 48"/>
            <p:cNvSpPr>
              <a:spLocks noChangeArrowheads="1"/>
            </p:cNvSpPr>
            <p:nvPr/>
          </p:nvSpPr>
          <p:spPr bwMode="auto">
            <a:xfrm>
              <a:off x="1248" y="3726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3487" name="Rectangle 49"/>
            <p:cNvSpPr>
              <a:spLocks noChangeArrowheads="1"/>
            </p:cNvSpPr>
            <p:nvPr/>
          </p:nvSpPr>
          <p:spPr bwMode="auto">
            <a:xfrm>
              <a:off x="576" y="3726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3488" name="Rectangle 50"/>
            <p:cNvSpPr>
              <a:spLocks noChangeArrowheads="1"/>
            </p:cNvSpPr>
            <p:nvPr/>
          </p:nvSpPr>
          <p:spPr bwMode="auto">
            <a:xfrm>
              <a:off x="1248" y="3477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3489" name="Rectangle 51"/>
            <p:cNvSpPr>
              <a:spLocks noChangeArrowheads="1"/>
            </p:cNvSpPr>
            <p:nvPr/>
          </p:nvSpPr>
          <p:spPr bwMode="auto">
            <a:xfrm>
              <a:off x="576" y="3477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3490" name="Rectangle 52"/>
            <p:cNvSpPr>
              <a:spLocks noChangeArrowheads="1"/>
            </p:cNvSpPr>
            <p:nvPr/>
          </p:nvSpPr>
          <p:spPr bwMode="auto">
            <a:xfrm>
              <a:off x="1248" y="3228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3491" name="Rectangle 53"/>
            <p:cNvSpPr>
              <a:spLocks noChangeArrowheads="1"/>
            </p:cNvSpPr>
            <p:nvPr/>
          </p:nvSpPr>
          <p:spPr bwMode="auto">
            <a:xfrm>
              <a:off x="576" y="3228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3492" name="Rectangle 54"/>
            <p:cNvSpPr>
              <a:spLocks noChangeArrowheads="1"/>
            </p:cNvSpPr>
            <p:nvPr/>
          </p:nvSpPr>
          <p:spPr bwMode="auto">
            <a:xfrm>
              <a:off x="1248" y="2979"/>
              <a:ext cx="60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3493" name="Rectangle 55"/>
            <p:cNvSpPr>
              <a:spLocks noChangeArrowheads="1"/>
            </p:cNvSpPr>
            <p:nvPr/>
          </p:nvSpPr>
          <p:spPr bwMode="auto">
            <a:xfrm>
              <a:off x="576" y="2979"/>
              <a:ext cx="67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3494" name="Line 56"/>
            <p:cNvSpPr>
              <a:spLocks noChangeShapeType="1"/>
            </p:cNvSpPr>
            <p:nvPr/>
          </p:nvSpPr>
          <p:spPr bwMode="auto">
            <a:xfrm>
              <a:off x="576" y="2979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95" name="Line 57"/>
            <p:cNvSpPr>
              <a:spLocks noChangeShapeType="1"/>
            </p:cNvSpPr>
            <p:nvPr/>
          </p:nvSpPr>
          <p:spPr bwMode="auto">
            <a:xfrm>
              <a:off x="576" y="3228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96" name="Line 58"/>
            <p:cNvSpPr>
              <a:spLocks noChangeShapeType="1"/>
            </p:cNvSpPr>
            <p:nvPr/>
          </p:nvSpPr>
          <p:spPr bwMode="auto">
            <a:xfrm>
              <a:off x="576" y="3477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97" name="Line 59"/>
            <p:cNvSpPr>
              <a:spLocks noChangeShapeType="1"/>
            </p:cNvSpPr>
            <p:nvPr/>
          </p:nvSpPr>
          <p:spPr bwMode="auto">
            <a:xfrm>
              <a:off x="576" y="3726"/>
              <a:ext cx="1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98" name="Line 60"/>
            <p:cNvSpPr>
              <a:spLocks noChangeShapeType="1"/>
            </p:cNvSpPr>
            <p:nvPr/>
          </p:nvSpPr>
          <p:spPr bwMode="auto">
            <a:xfrm>
              <a:off x="576" y="3975"/>
              <a:ext cx="12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99" name="Line 61"/>
            <p:cNvSpPr>
              <a:spLocks noChangeShapeType="1"/>
            </p:cNvSpPr>
            <p:nvPr/>
          </p:nvSpPr>
          <p:spPr bwMode="auto">
            <a:xfrm>
              <a:off x="57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00" name="Line 62"/>
            <p:cNvSpPr>
              <a:spLocks noChangeShapeType="1"/>
            </p:cNvSpPr>
            <p:nvPr/>
          </p:nvSpPr>
          <p:spPr bwMode="auto">
            <a:xfrm>
              <a:off x="1248" y="2979"/>
              <a:ext cx="0" cy="9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501" name="Line 63"/>
            <p:cNvSpPr>
              <a:spLocks noChangeShapeType="1"/>
            </p:cNvSpPr>
            <p:nvPr/>
          </p:nvSpPr>
          <p:spPr bwMode="auto">
            <a:xfrm>
              <a:off x="1856" y="2979"/>
              <a:ext cx="0" cy="99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90176" name="Group 64"/>
          <p:cNvGrpSpPr>
            <a:grpSpLocks/>
          </p:cNvGrpSpPr>
          <p:nvPr/>
        </p:nvGrpSpPr>
        <p:grpSpPr bwMode="auto">
          <a:xfrm>
            <a:off x="1981200" y="3962400"/>
            <a:ext cx="3505200" cy="1747838"/>
            <a:chOff x="3216" y="3120"/>
            <a:chExt cx="2208" cy="1101"/>
          </a:xfrm>
        </p:grpSpPr>
        <p:sp>
          <p:nvSpPr>
            <p:cNvPr id="103455" name="Rectangle 65"/>
            <p:cNvSpPr>
              <a:spLocks noChangeArrowheads="1"/>
            </p:cNvSpPr>
            <p:nvPr/>
          </p:nvSpPr>
          <p:spPr bwMode="auto">
            <a:xfrm>
              <a:off x="4982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3456" name="Rectangle 66"/>
            <p:cNvSpPr>
              <a:spLocks noChangeArrowheads="1"/>
            </p:cNvSpPr>
            <p:nvPr/>
          </p:nvSpPr>
          <p:spPr bwMode="auto">
            <a:xfrm>
              <a:off x="4541" y="3937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3457" name="Rectangle 67"/>
            <p:cNvSpPr>
              <a:spLocks noChangeArrowheads="1"/>
            </p:cNvSpPr>
            <p:nvPr/>
          </p:nvSpPr>
          <p:spPr bwMode="auto">
            <a:xfrm>
              <a:off x="4099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500</a:t>
              </a:r>
            </a:p>
          </p:txBody>
        </p:sp>
        <p:sp>
          <p:nvSpPr>
            <p:cNvPr id="103458" name="Rectangle 68"/>
            <p:cNvSpPr>
              <a:spLocks noChangeArrowheads="1"/>
            </p:cNvSpPr>
            <p:nvPr/>
          </p:nvSpPr>
          <p:spPr bwMode="auto">
            <a:xfrm>
              <a:off x="3658" y="3937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李三</a:t>
              </a:r>
            </a:p>
          </p:txBody>
        </p:sp>
        <p:sp>
          <p:nvSpPr>
            <p:cNvPr id="103459" name="Rectangle 69"/>
            <p:cNvSpPr>
              <a:spLocks noChangeArrowheads="1"/>
            </p:cNvSpPr>
            <p:nvPr/>
          </p:nvSpPr>
          <p:spPr bwMode="auto">
            <a:xfrm>
              <a:off x="3216" y="3937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P04</a:t>
              </a:r>
            </a:p>
          </p:txBody>
        </p:sp>
        <p:sp>
          <p:nvSpPr>
            <p:cNvPr id="103460" name="Rectangle 70"/>
            <p:cNvSpPr>
              <a:spLocks noChangeArrowheads="1"/>
            </p:cNvSpPr>
            <p:nvPr/>
          </p:nvSpPr>
          <p:spPr bwMode="auto">
            <a:xfrm>
              <a:off x="4982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数学</a:t>
              </a:r>
            </a:p>
          </p:txBody>
        </p:sp>
        <p:sp>
          <p:nvSpPr>
            <p:cNvPr id="103461" name="Rectangle 71"/>
            <p:cNvSpPr>
              <a:spLocks noChangeArrowheads="1"/>
            </p:cNvSpPr>
            <p:nvPr/>
          </p:nvSpPr>
          <p:spPr bwMode="auto">
            <a:xfrm>
              <a:off x="4541" y="3653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C02</a:t>
              </a:r>
            </a:p>
          </p:txBody>
        </p:sp>
        <p:sp>
          <p:nvSpPr>
            <p:cNvPr id="103462" name="Rectangle 72"/>
            <p:cNvSpPr>
              <a:spLocks noChangeArrowheads="1"/>
            </p:cNvSpPr>
            <p:nvPr/>
          </p:nvSpPr>
          <p:spPr bwMode="auto">
            <a:xfrm>
              <a:off x="4099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700</a:t>
              </a:r>
            </a:p>
          </p:txBody>
        </p:sp>
        <p:sp>
          <p:nvSpPr>
            <p:cNvPr id="103463" name="Rectangle 73"/>
            <p:cNvSpPr>
              <a:spLocks noChangeArrowheads="1"/>
            </p:cNvSpPr>
            <p:nvPr/>
          </p:nvSpPr>
          <p:spPr bwMode="auto">
            <a:xfrm>
              <a:off x="3658" y="3653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钱广</a:t>
              </a:r>
            </a:p>
          </p:txBody>
        </p:sp>
        <p:sp>
          <p:nvSpPr>
            <p:cNvPr id="103464" name="Rectangle 74"/>
            <p:cNvSpPr>
              <a:spLocks noChangeArrowheads="1"/>
            </p:cNvSpPr>
            <p:nvPr/>
          </p:nvSpPr>
          <p:spPr bwMode="auto">
            <a:xfrm>
              <a:off x="3216" y="3653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P02</a:t>
              </a:r>
            </a:p>
          </p:txBody>
        </p:sp>
        <p:sp>
          <p:nvSpPr>
            <p:cNvPr id="103465" name="Rectangle 75"/>
            <p:cNvSpPr>
              <a:spLocks noChangeArrowheads="1"/>
            </p:cNvSpPr>
            <p:nvPr/>
          </p:nvSpPr>
          <p:spPr bwMode="auto">
            <a:xfrm>
              <a:off x="4982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物理</a:t>
              </a:r>
            </a:p>
          </p:txBody>
        </p:sp>
        <p:sp>
          <p:nvSpPr>
            <p:cNvPr id="103466" name="Rectangle 76"/>
            <p:cNvSpPr>
              <a:spLocks noChangeArrowheads="1"/>
            </p:cNvSpPr>
            <p:nvPr/>
          </p:nvSpPr>
          <p:spPr bwMode="auto">
            <a:xfrm>
              <a:off x="4541" y="3369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C01</a:t>
              </a:r>
            </a:p>
          </p:txBody>
        </p:sp>
        <p:sp>
          <p:nvSpPr>
            <p:cNvPr id="103467" name="Rectangle 77"/>
            <p:cNvSpPr>
              <a:spLocks noChangeArrowheads="1"/>
            </p:cNvSpPr>
            <p:nvPr/>
          </p:nvSpPr>
          <p:spPr bwMode="auto">
            <a:xfrm>
              <a:off x="4099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800</a:t>
              </a:r>
            </a:p>
          </p:txBody>
        </p:sp>
        <p:sp>
          <p:nvSpPr>
            <p:cNvPr id="103468" name="Rectangle 78"/>
            <p:cNvSpPr>
              <a:spLocks noChangeArrowheads="1"/>
            </p:cNvSpPr>
            <p:nvPr/>
          </p:nvSpPr>
          <p:spPr bwMode="auto">
            <a:xfrm>
              <a:off x="3658" y="3369"/>
              <a:ext cx="441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赵明</a:t>
              </a:r>
            </a:p>
          </p:txBody>
        </p:sp>
        <p:sp>
          <p:nvSpPr>
            <p:cNvPr id="103469" name="Rectangle 79"/>
            <p:cNvSpPr>
              <a:spLocks noChangeArrowheads="1"/>
            </p:cNvSpPr>
            <p:nvPr/>
          </p:nvSpPr>
          <p:spPr bwMode="auto">
            <a:xfrm>
              <a:off x="3216" y="3369"/>
              <a:ext cx="442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P01</a:t>
              </a:r>
            </a:p>
          </p:txBody>
        </p:sp>
        <p:sp>
          <p:nvSpPr>
            <p:cNvPr id="103470" name="Rectangle 80"/>
            <p:cNvSpPr>
              <a:spLocks noChangeArrowheads="1"/>
            </p:cNvSpPr>
            <p:nvPr/>
          </p:nvSpPr>
          <p:spPr bwMode="auto">
            <a:xfrm>
              <a:off x="4982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CN</a:t>
              </a:r>
            </a:p>
          </p:txBody>
        </p:sp>
        <p:sp>
          <p:nvSpPr>
            <p:cNvPr id="103471" name="Rectangle 81"/>
            <p:cNvSpPr>
              <a:spLocks noChangeArrowheads="1"/>
            </p:cNvSpPr>
            <p:nvPr/>
          </p:nvSpPr>
          <p:spPr bwMode="auto">
            <a:xfrm>
              <a:off x="4541" y="3120"/>
              <a:ext cx="44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C#</a:t>
              </a:r>
            </a:p>
          </p:txBody>
        </p:sp>
        <p:sp>
          <p:nvSpPr>
            <p:cNvPr id="103472" name="Rectangle 82"/>
            <p:cNvSpPr>
              <a:spLocks noChangeArrowheads="1"/>
            </p:cNvSpPr>
            <p:nvPr/>
          </p:nvSpPr>
          <p:spPr bwMode="auto">
            <a:xfrm>
              <a:off x="4099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SAL</a:t>
              </a:r>
            </a:p>
          </p:txBody>
        </p:sp>
        <p:sp>
          <p:nvSpPr>
            <p:cNvPr id="103473" name="Rectangle 83"/>
            <p:cNvSpPr>
              <a:spLocks noChangeArrowheads="1"/>
            </p:cNvSpPr>
            <p:nvPr/>
          </p:nvSpPr>
          <p:spPr bwMode="auto">
            <a:xfrm>
              <a:off x="3658" y="3120"/>
              <a:ext cx="44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PN</a:t>
              </a:r>
            </a:p>
          </p:txBody>
        </p:sp>
        <p:sp>
          <p:nvSpPr>
            <p:cNvPr id="103474" name="Rectangle 84"/>
            <p:cNvSpPr>
              <a:spLocks noChangeArrowheads="1"/>
            </p:cNvSpPr>
            <p:nvPr/>
          </p:nvSpPr>
          <p:spPr bwMode="auto">
            <a:xfrm>
              <a:off x="3216" y="3120"/>
              <a:ext cx="44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0" font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Arial" charset="0"/>
                </a:rPr>
                <a:t>P#</a:t>
              </a:r>
            </a:p>
          </p:txBody>
        </p:sp>
        <p:sp>
          <p:nvSpPr>
            <p:cNvPr id="103475" name="Line 85"/>
            <p:cNvSpPr>
              <a:spLocks noChangeShapeType="1"/>
            </p:cNvSpPr>
            <p:nvPr/>
          </p:nvSpPr>
          <p:spPr bwMode="auto">
            <a:xfrm>
              <a:off x="3216" y="3120"/>
              <a:ext cx="220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76" name="Line 86"/>
            <p:cNvSpPr>
              <a:spLocks noChangeShapeType="1"/>
            </p:cNvSpPr>
            <p:nvPr/>
          </p:nvSpPr>
          <p:spPr bwMode="auto">
            <a:xfrm>
              <a:off x="3216" y="3369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77" name="Line 87"/>
            <p:cNvSpPr>
              <a:spLocks noChangeShapeType="1"/>
            </p:cNvSpPr>
            <p:nvPr/>
          </p:nvSpPr>
          <p:spPr bwMode="auto">
            <a:xfrm>
              <a:off x="3216" y="3653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78" name="Line 88"/>
            <p:cNvSpPr>
              <a:spLocks noChangeShapeType="1"/>
            </p:cNvSpPr>
            <p:nvPr/>
          </p:nvSpPr>
          <p:spPr bwMode="auto">
            <a:xfrm>
              <a:off x="3216" y="3937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79" name="Line 89"/>
            <p:cNvSpPr>
              <a:spLocks noChangeShapeType="1"/>
            </p:cNvSpPr>
            <p:nvPr/>
          </p:nvSpPr>
          <p:spPr bwMode="auto">
            <a:xfrm>
              <a:off x="3216" y="4221"/>
              <a:ext cx="220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80" name="Line 90"/>
            <p:cNvSpPr>
              <a:spLocks noChangeShapeType="1"/>
            </p:cNvSpPr>
            <p:nvPr/>
          </p:nvSpPr>
          <p:spPr bwMode="auto">
            <a:xfrm>
              <a:off x="3216" y="3120"/>
              <a:ext cx="0" cy="11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81" name="Line 91"/>
            <p:cNvSpPr>
              <a:spLocks noChangeShapeType="1"/>
            </p:cNvSpPr>
            <p:nvPr/>
          </p:nvSpPr>
          <p:spPr bwMode="auto">
            <a:xfrm>
              <a:off x="3658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82" name="Line 92"/>
            <p:cNvSpPr>
              <a:spLocks noChangeShapeType="1"/>
            </p:cNvSpPr>
            <p:nvPr/>
          </p:nvSpPr>
          <p:spPr bwMode="auto">
            <a:xfrm>
              <a:off x="4099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83" name="Line 93"/>
            <p:cNvSpPr>
              <a:spLocks noChangeShapeType="1"/>
            </p:cNvSpPr>
            <p:nvPr/>
          </p:nvSpPr>
          <p:spPr bwMode="auto">
            <a:xfrm>
              <a:off x="4541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84" name="Line 94"/>
            <p:cNvSpPr>
              <a:spLocks noChangeShapeType="1"/>
            </p:cNvSpPr>
            <p:nvPr/>
          </p:nvSpPr>
          <p:spPr bwMode="auto">
            <a:xfrm>
              <a:off x="4982" y="3120"/>
              <a:ext cx="0" cy="11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85" name="Line 95"/>
            <p:cNvSpPr>
              <a:spLocks noChangeShapeType="1"/>
            </p:cNvSpPr>
            <p:nvPr/>
          </p:nvSpPr>
          <p:spPr bwMode="auto">
            <a:xfrm>
              <a:off x="5424" y="3120"/>
              <a:ext cx="0" cy="110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90208" name="Group 96"/>
          <p:cNvGrpSpPr>
            <a:grpSpLocks/>
          </p:cNvGrpSpPr>
          <p:nvPr/>
        </p:nvGrpSpPr>
        <p:grpSpPr bwMode="auto">
          <a:xfrm>
            <a:off x="1219200" y="5334000"/>
            <a:ext cx="304800" cy="147638"/>
            <a:chOff x="768" y="3357"/>
            <a:chExt cx="288" cy="96"/>
          </a:xfrm>
        </p:grpSpPr>
        <p:sp>
          <p:nvSpPr>
            <p:cNvPr id="103453" name="Line 97"/>
            <p:cNvSpPr>
              <a:spLocks noChangeShapeType="1"/>
            </p:cNvSpPr>
            <p:nvPr/>
          </p:nvSpPr>
          <p:spPr bwMode="auto">
            <a:xfrm>
              <a:off x="768" y="335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54" name="Line 98"/>
            <p:cNvSpPr>
              <a:spLocks noChangeShapeType="1"/>
            </p:cNvSpPr>
            <p:nvPr/>
          </p:nvSpPr>
          <p:spPr bwMode="auto">
            <a:xfrm>
              <a:off x="768" y="3453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90211" name="AutoShape 99"/>
          <p:cNvSpPr>
            <a:spLocks noChangeArrowheads="1"/>
          </p:cNvSpPr>
          <p:nvPr/>
        </p:nvSpPr>
        <p:spPr bwMode="auto">
          <a:xfrm>
            <a:off x="6553200" y="4648200"/>
            <a:ext cx="2057400" cy="762000"/>
          </a:xfrm>
          <a:prstGeom prst="wedgeRoundRectCallout">
            <a:avLst>
              <a:gd name="adj1" fmla="val -99616"/>
              <a:gd name="adj2" fmla="val 45833"/>
              <a:gd name="adj3" fmla="val 16667"/>
            </a:avLst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-2000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Arial" charset="0"/>
              </a:rPr>
              <a:t>所有老师和课程的信息</a:t>
            </a:r>
            <a:endParaRPr kumimoji="1" lang="zh-CN" altLang="en-US" sz="4000" b="1" i="0" u="none" strike="noStrike" kern="1200" cap="none" spc="0" normalizeH="0" baseline="-2000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Arial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-2000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itchFamily="18" charset="0"/>
              <a:ea typeface="仿宋_GB2312" pitchFamily="49" charset="-122"/>
              <a:cs typeface="Arial" charset="0"/>
            </a:endParaRPr>
          </a:p>
        </p:txBody>
      </p:sp>
      <p:grpSp>
        <p:nvGrpSpPr>
          <p:cNvPr id="90212" name="Group 100"/>
          <p:cNvGrpSpPr>
            <a:grpSpLocks/>
          </p:cNvGrpSpPr>
          <p:nvPr/>
        </p:nvGrpSpPr>
        <p:grpSpPr bwMode="auto">
          <a:xfrm>
            <a:off x="3505200" y="2433638"/>
            <a:ext cx="533400" cy="228600"/>
            <a:chOff x="2208" y="1533"/>
            <a:chExt cx="336" cy="144"/>
          </a:xfrm>
        </p:grpSpPr>
        <p:sp>
          <p:nvSpPr>
            <p:cNvPr id="103448" name="AutoShape 101"/>
            <p:cNvSpPr>
              <a:spLocks noChangeArrowheads="1"/>
            </p:cNvSpPr>
            <p:nvPr/>
          </p:nvSpPr>
          <p:spPr bwMode="auto">
            <a:xfrm rot="5400000">
              <a:off x="2304" y="1533"/>
              <a:ext cx="144" cy="144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49" name="Line 102"/>
            <p:cNvSpPr>
              <a:spLocks noChangeShapeType="1"/>
            </p:cNvSpPr>
            <p:nvPr/>
          </p:nvSpPr>
          <p:spPr bwMode="auto">
            <a:xfrm flipH="1">
              <a:off x="2448" y="1533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50" name="Line 103"/>
            <p:cNvSpPr>
              <a:spLocks noChangeShapeType="1"/>
            </p:cNvSpPr>
            <p:nvPr/>
          </p:nvSpPr>
          <p:spPr bwMode="auto">
            <a:xfrm flipH="1">
              <a:off x="2448" y="167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51" name="Line 104"/>
            <p:cNvSpPr>
              <a:spLocks noChangeShapeType="1"/>
            </p:cNvSpPr>
            <p:nvPr/>
          </p:nvSpPr>
          <p:spPr bwMode="auto">
            <a:xfrm flipH="1">
              <a:off x="2208" y="1533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52" name="Line 105"/>
            <p:cNvSpPr>
              <a:spLocks noChangeShapeType="1"/>
            </p:cNvSpPr>
            <p:nvPr/>
          </p:nvSpPr>
          <p:spPr bwMode="auto">
            <a:xfrm flipH="1">
              <a:off x="2208" y="167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90218" name="Group 106"/>
          <p:cNvGrpSpPr>
            <a:grpSpLocks/>
          </p:cNvGrpSpPr>
          <p:nvPr/>
        </p:nvGrpSpPr>
        <p:grpSpPr bwMode="auto">
          <a:xfrm>
            <a:off x="6248400" y="2433638"/>
            <a:ext cx="533400" cy="228600"/>
            <a:chOff x="3936" y="1533"/>
            <a:chExt cx="336" cy="144"/>
          </a:xfrm>
        </p:grpSpPr>
        <p:sp>
          <p:nvSpPr>
            <p:cNvPr id="103443" name="AutoShape 107"/>
            <p:cNvSpPr>
              <a:spLocks noChangeArrowheads="1"/>
            </p:cNvSpPr>
            <p:nvPr/>
          </p:nvSpPr>
          <p:spPr bwMode="auto">
            <a:xfrm rot="5400000">
              <a:off x="4032" y="1533"/>
              <a:ext cx="144" cy="144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buClr>
                  <a:schemeClr val="hlink"/>
                </a:buClr>
                <a:buSzPct val="55000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buSzPct val="50000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buClr>
                  <a:schemeClr val="accent2"/>
                </a:buClr>
                <a:buSzPct val="55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buClr>
                  <a:schemeClr val="accent1"/>
                </a:buClr>
                <a:buSzPct val="50000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44" name="Line 108"/>
            <p:cNvSpPr>
              <a:spLocks noChangeShapeType="1"/>
            </p:cNvSpPr>
            <p:nvPr/>
          </p:nvSpPr>
          <p:spPr bwMode="auto">
            <a:xfrm flipH="1">
              <a:off x="4176" y="1533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45" name="Line 109"/>
            <p:cNvSpPr>
              <a:spLocks noChangeShapeType="1"/>
            </p:cNvSpPr>
            <p:nvPr/>
          </p:nvSpPr>
          <p:spPr bwMode="auto">
            <a:xfrm flipH="1">
              <a:off x="4176" y="167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46" name="Line 110"/>
            <p:cNvSpPr>
              <a:spLocks noChangeShapeType="1"/>
            </p:cNvSpPr>
            <p:nvPr/>
          </p:nvSpPr>
          <p:spPr bwMode="auto">
            <a:xfrm flipH="1">
              <a:off x="3936" y="1533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3447" name="Line 111"/>
            <p:cNvSpPr>
              <a:spLocks noChangeShapeType="1"/>
            </p:cNvSpPr>
            <p:nvPr/>
          </p:nvSpPr>
          <p:spPr bwMode="auto">
            <a:xfrm flipH="1">
              <a:off x="3936" y="1677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grpSp>
        <p:nvGrpSpPr>
          <p:cNvPr id="90224" name="Group 112"/>
          <p:cNvGrpSpPr>
            <a:grpSpLocks/>
          </p:cNvGrpSpPr>
          <p:nvPr/>
        </p:nvGrpSpPr>
        <p:grpSpPr bwMode="auto">
          <a:xfrm>
            <a:off x="1981200" y="5703888"/>
            <a:ext cx="3505200" cy="849312"/>
            <a:chOff x="1248" y="3593"/>
            <a:chExt cx="2208" cy="535"/>
          </a:xfrm>
        </p:grpSpPr>
        <p:graphicFrame>
          <p:nvGraphicFramePr>
            <p:cNvPr id="103440" name="Object 113"/>
            <p:cNvGraphicFramePr>
              <a:graphicFrameLocks noChangeAspect="1"/>
            </p:cNvGraphicFramePr>
            <p:nvPr/>
          </p:nvGraphicFramePr>
          <p:xfrm>
            <a:off x="1248" y="3600"/>
            <a:ext cx="220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2" imgW="5629656" imgH="758952" progId="Word.Document.8">
                    <p:embed/>
                  </p:oleObj>
                </mc:Choice>
                <mc:Fallback>
                  <p:oleObj name="文档" r:id="rId2" imgW="5629656" imgH="758952" progId="Word.Document.8">
                    <p:embed/>
                    <p:pic>
                      <p:nvPicPr>
                        <p:cNvPr id="10344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600"/>
                          <a:ext cx="220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41" name="Object 114"/>
            <p:cNvGraphicFramePr>
              <a:graphicFrameLocks/>
            </p:cNvGraphicFramePr>
            <p:nvPr/>
          </p:nvGraphicFramePr>
          <p:xfrm>
            <a:off x="1248" y="3824"/>
            <a:ext cx="220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文档" r:id="rId4" imgW="5629656" imgH="758952" progId="Word.Document.8">
                    <p:embed/>
                  </p:oleObj>
                </mc:Choice>
                <mc:Fallback>
                  <p:oleObj name="文档" r:id="rId4" imgW="5629656" imgH="758952" progId="Word.Document.8">
                    <p:embed/>
                    <p:pic>
                      <p:nvPicPr>
                        <p:cNvPr id="103441" name="Object 1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824"/>
                          <a:ext cx="220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42" name="Line 115"/>
            <p:cNvSpPr>
              <a:spLocks noChangeShapeType="1"/>
            </p:cNvSpPr>
            <p:nvPr/>
          </p:nvSpPr>
          <p:spPr bwMode="auto">
            <a:xfrm flipV="1">
              <a:off x="3456" y="3593"/>
              <a:ext cx="0" cy="4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90228" name="Rectangle 116"/>
          <p:cNvSpPr>
            <a:spLocks noChangeArrowheads="1"/>
          </p:cNvSpPr>
          <p:nvPr/>
        </p:nvSpPr>
        <p:spPr bwMode="auto">
          <a:xfrm>
            <a:off x="1676400" y="5562600"/>
            <a:ext cx="4191000" cy="990600"/>
          </a:xfrm>
          <a:prstGeom prst="rect">
            <a:avLst/>
          </a:prstGeom>
          <a:noFill/>
          <a:ln w="28575" algn="ctr">
            <a:solidFill>
              <a:schemeClr val="hlink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0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0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0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7" dur="500"/>
                                        <p:tgtEl>
                                          <p:spTgt spid="9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0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0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211" grpId="0" animBg="1" autoUpdateAnimBg="0"/>
      <p:bldP spid="9022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ABF2A7-3567-4168-BB15-15EC3D6D589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83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CAC722-412D-4F3C-A78C-1ADB3FBB27CF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2.4.6 </a:t>
            </a:r>
            <a:r>
              <a:rPr lang="zh-CN" altLang="en-US" dirty="0"/>
              <a:t>传统的集合运算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四种</a:t>
            </a:r>
            <a:r>
              <a:rPr lang="zh-CN" altLang="en-US" b="1" dirty="0">
                <a:solidFill>
                  <a:srgbClr val="990099"/>
                </a:solidFill>
              </a:rPr>
              <a:t>二目运算</a:t>
            </a:r>
            <a:r>
              <a:rPr lang="zh-CN" altLang="en-US" dirty="0"/>
              <a:t>： </a:t>
            </a:r>
            <a:r>
              <a:rPr lang="en-US" altLang="zh-CN" dirty="0">
                <a:latin typeface="Times New Roman" pitchFamily="18" charset="0"/>
              </a:rPr>
              <a:t>∪ ∩ </a:t>
            </a:r>
            <a:r>
              <a:rPr lang="zh-CN" altLang="en-US" dirty="0">
                <a:latin typeface="Times New Roman" pitchFamily="18" charset="0"/>
              </a:rPr>
              <a:t>－</a:t>
            </a:r>
            <a:r>
              <a:rPr lang="en-US" altLang="zh-CN" dirty="0">
                <a:latin typeface="Times New Roman" pitchFamily="18" charset="0"/>
              </a:rPr>
              <a:t>×</a:t>
            </a:r>
            <a:r>
              <a:rPr lang="zh-CN" altLang="en-US" dirty="0">
                <a:latin typeface="Times New Roman" pitchFamily="18" charset="0"/>
              </a:rPr>
              <a:t>，把</a:t>
            </a:r>
            <a:r>
              <a:rPr lang="zh-CN" altLang="en-US" dirty="0">
                <a:solidFill>
                  <a:srgbClr val="C2290A"/>
                </a:solidFill>
                <a:latin typeface="Times New Roman" pitchFamily="18" charset="0"/>
              </a:rPr>
              <a:t>关系</a:t>
            </a:r>
            <a:r>
              <a:rPr lang="zh-CN" altLang="en-US" dirty="0">
                <a:latin typeface="Times New Roman" pitchFamily="18" charset="0"/>
              </a:rPr>
              <a:t>看作</a:t>
            </a:r>
            <a:r>
              <a:rPr lang="zh-CN" altLang="en-US" dirty="0">
                <a:solidFill>
                  <a:srgbClr val="C2290A"/>
                </a:solidFill>
                <a:latin typeface="Times New Roman" pitchFamily="18" charset="0"/>
              </a:rPr>
              <a:t>元组的集合</a:t>
            </a:r>
            <a:r>
              <a:rPr lang="zh-CN" altLang="en-US" dirty="0">
                <a:latin typeface="Times New Roman" pitchFamily="18" charset="0"/>
              </a:rPr>
              <a:t>，于是，这四种运算与传统集合运算类似。</a:t>
            </a:r>
          </a:p>
          <a:p>
            <a:pPr eaLnBrk="1" hangingPunct="1"/>
            <a:endParaRPr lang="zh-CN" altLang="en-US" sz="1600" dirty="0">
              <a:latin typeface="Times New Roman" pitchFamily="18" charset="0"/>
            </a:endParaRPr>
          </a:p>
          <a:p>
            <a:pPr eaLnBrk="1" hangingPunct="1"/>
            <a:r>
              <a:rPr lang="zh-CN" altLang="en-US" dirty="0">
                <a:latin typeface="Times New Roman" pitchFamily="18" charset="0"/>
              </a:rPr>
              <a:t>其中，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∪ ∩ 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－ </a:t>
            </a:r>
            <a:r>
              <a:rPr lang="zh-CN" altLang="en-US" dirty="0">
                <a:latin typeface="Times New Roman" pitchFamily="18" charset="0"/>
              </a:rPr>
              <a:t>三种运算要求参与运算的两个关系</a:t>
            </a:r>
            <a:r>
              <a:rPr lang="en-US" altLang="zh-CN" dirty="0">
                <a:solidFill>
                  <a:srgbClr val="C2290A"/>
                </a:solidFill>
                <a:latin typeface="Times New Roman" pitchFamily="18" charset="0"/>
              </a:rPr>
              <a:t>R</a:t>
            </a:r>
            <a:r>
              <a:rPr lang="zh-CN" altLang="en-US" dirty="0">
                <a:solidFill>
                  <a:srgbClr val="C2290A"/>
                </a:solidFill>
                <a:latin typeface="Times New Roman" pitchFamily="18" charset="0"/>
              </a:rPr>
              <a:t>，</a:t>
            </a:r>
            <a:r>
              <a:rPr lang="en-US" altLang="zh-CN" dirty="0">
                <a:solidFill>
                  <a:srgbClr val="C2290A"/>
                </a:solidFill>
                <a:latin typeface="Times New Roman" pitchFamily="18" charset="0"/>
              </a:rPr>
              <a:t>S</a:t>
            </a:r>
            <a:r>
              <a:rPr lang="zh-CN" altLang="en-US" dirty="0">
                <a:latin typeface="Times New Roman" pitchFamily="18" charset="0"/>
              </a:rPr>
              <a:t>具有</a:t>
            </a:r>
            <a:r>
              <a:rPr lang="zh-CN" altLang="en-US" b="1" dirty="0">
                <a:solidFill>
                  <a:srgbClr val="C2290A"/>
                </a:solidFill>
                <a:latin typeface="Times New Roman" pitchFamily="18" charset="0"/>
              </a:rPr>
              <a:t>相同的目</a:t>
            </a:r>
            <a:r>
              <a:rPr lang="en-US" altLang="zh-CN" b="1" dirty="0">
                <a:solidFill>
                  <a:srgbClr val="C2290A"/>
                </a:solidFill>
                <a:latin typeface="Times New Roman" pitchFamily="18" charset="0"/>
              </a:rPr>
              <a:t>n(</a:t>
            </a:r>
            <a:r>
              <a:rPr lang="zh-CN" altLang="en-US" b="1" dirty="0">
                <a:latin typeface="Times New Roman" pitchFamily="18" charset="0"/>
              </a:rPr>
              <a:t>具有相同数量的属性</a:t>
            </a:r>
            <a:r>
              <a:rPr lang="en-US" altLang="zh-CN" b="1" dirty="0">
                <a:solidFill>
                  <a:srgbClr val="C2290A"/>
                </a:solidFill>
                <a:latin typeface="Times New Roman" pitchFamily="18" charset="0"/>
              </a:rPr>
              <a:t>)</a:t>
            </a:r>
            <a:r>
              <a:rPr lang="zh-CN" altLang="en-US" dirty="0">
                <a:solidFill>
                  <a:srgbClr val="C2290A"/>
                </a:solidFill>
                <a:latin typeface="Times New Roman" pitchFamily="18" charset="0"/>
              </a:rPr>
              <a:t>，</a:t>
            </a:r>
            <a:r>
              <a:rPr lang="zh-CN" altLang="en-US" dirty="0">
                <a:latin typeface="Times New Roman" pitchFamily="18" charset="0"/>
              </a:rPr>
              <a:t>且相应</a:t>
            </a:r>
            <a:r>
              <a:rPr lang="zh-CN" altLang="en-US" b="1" dirty="0">
                <a:solidFill>
                  <a:srgbClr val="C2290A"/>
                </a:solidFill>
                <a:latin typeface="Times New Roman" pitchFamily="18" charset="0"/>
              </a:rPr>
              <a:t>属性</a:t>
            </a:r>
            <a:r>
              <a:rPr lang="zh-CN" altLang="en-US" b="1" dirty="0">
                <a:latin typeface="Times New Roman" pitchFamily="18" charset="0"/>
              </a:rPr>
              <a:t>取自</a:t>
            </a:r>
            <a:r>
              <a:rPr lang="zh-CN" altLang="en-US" b="1" dirty="0">
                <a:solidFill>
                  <a:srgbClr val="C2290A"/>
                </a:solidFill>
                <a:latin typeface="Times New Roman" pitchFamily="18" charset="0"/>
              </a:rPr>
              <a:t>同一个域</a:t>
            </a:r>
            <a:r>
              <a:rPr lang="en-US" altLang="zh-CN" b="1" dirty="0">
                <a:solidFill>
                  <a:srgbClr val="C2290A"/>
                </a:solidFill>
                <a:latin typeface="Times New Roman" pitchFamily="18" charset="0"/>
              </a:rPr>
              <a:t>(</a:t>
            </a:r>
            <a:r>
              <a:rPr lang="zh-CN" altLang="en-US" b="1" dirty="0">
                <a:latin typeface="Times New Roman" pitchFamily="18" charset="0"/>
              </a:rPr>
              <a:t>相应的属性类型相同</a:t>
            </a:r>
            <a:r>
              <a:rPr lang="en-US" altLang="zh-CN" b="1" dirty="0">
                <a:solidFill>
                  <a:srgbClr val="C2290A"/>
                </a:solidFill>
                <a:latin typeface="Times New Roman" pitchFamily="18" charset="0"/>
              </a:rPr>
              <a:t>)</a:t>
            </a:r>
            <a:r>
              <a:rPr lang="zh-CN" altLang="en-US" b="1" dirty="0">
                <a:solidFill>
                  <a:srgbClr val="C2290A"/>
                </a:solidFill>
                <a:latin typeface="Times New Roman" pitchFamily="18" charset="0"/>
              </a:rPr>
              <a:t>，</a:t>
            </a:r>
            <a:r>
              <a:rPr lang="zh-CN" altLang="en-US" dirty="0">
                <a:latin typeface="Times New Roman" pitchFamily="18" charset="0"/>
              </a:rPr>
              <a:t>满足这样要求的关系被称为相容关系。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ECBFAA-4179-4EF2-AE4B-58674433B3C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593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861098-0D68-47D7-93B5-8537F84EABEA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2.4.6 </a:t>
            </a:r>
            <a:r>
              <a:rPr lang="zh-CN" altLang="en-US" dirty="0"/>
              <a:t>传统的集合运算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zh-CN" altLang="en-US" dirty="0"/>
              <a:t>并 ∪ ：</a:t>
            </a:r>
            <a:r>
              <a:rPr lang="en-US" altLang="zh-CN" dirty="0"/>
              <a:t>R∪S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t|t∈R∨t∈S</a:t>
            </a:r>
            <a:r>
              <a:rPr lang="en-US" altLang="zh-CN" dirty="0"/>
              <a:t>}</a:t>
            </a:r>
          </a:p>
          <a:p>
            <a:pPr marL="609600" indent="-609600" eaLnBrk="1" hangingPunct="1"/>
            <a:endParaRPr lang="zh-CN" altLang="en-US" dirty="0"/>
          </a:p>
        </p:txBody>
      </p:sp>
      <p:sp>
        <p:nvSpPr>
          <p:cNvPr id="59399" name="Oval 5" descr="宽下对角线"/>
          <p:cNvSpPr>
            <a:spLocks noChangeArrowheads="1"/>
          </p:cNvSpPr>
          <p:nvPr/>
        </p:nvSpPr>
        <p:spPr bwMode="auto">
          <a:xfrm>
            <a:off x="3657600" y="2362200"/>
            <a:ext cx="1752600" cy="1143000"/>
          </a:xfrm>
          <a:prstGeom prst="ellipse">
            <a:avLst/>
          </a:prstGeom>
          <a:pattFill prst="wdDnDiag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9400" name="Oval 6" descr="宽上对角线"/>
          <p:cNvSpPr>
            <a:spLocks noChangeArrowheads="1"/>
          </p:cNvSpPr>
          <p:nvPr/>
        </p:nvSpPr>
        <p:spPr bwMode="auto">
          <a:xfrm>
            <a:off x="2743200" y="2362200"/>
            <a:ext cx="1752600" cy="1143000"/>
          </a:xfrm>
          <a:prstGeom prst="ellipse">
            <a:avLst/>
          </a:prstGeom>
          <a:pattFill prst="wdUpDiag">
            <a:fgClr>
              <a:srgbClr val="FF9900">
                <a:alpha val="50195"/>
              </a:srgbClr>
            </a:fgClr>
            <a:bgClr>
              <a:schemeClr val="bg1">
                <a:alpha val="50195"/>
              </a:schemeClr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9401" name="Oval 7" descr="宽上对角线"/>
          <p:cNvSpPr>
            <a:spLocks noChangeArrowheads="1"/>
          </p:cNvSpPr>
          <p:nvPr/>
        </p:nvSpPr>
        <p:spPr bwMode="auto">
          <a:xfrm>
            <a:off x="3657600" y="2362200"/>
            <a:ext cx="17526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wdUpDiag">
                  <a:fgClr>
                    <a:schemeClr val="bg2"/>
                  </a:fgClr>
                  <a:bgClr>
                    <a:schemeClr val="hlink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9402" name="Text Box 8"/>
          <p:cNvSpPr txBox="1">
            <a:spLocks noChangeArrowheads="1"/>
          </p:cNvSpPr>
          <p:nvPr/>
        </p:nvSpPr>
        <p:spPr bwMode="auto">
          <a:xfrm>
            <a:off x="3657600" y="2605088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R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  <a:sym typeface="Symbol" pitchFamily="18" charset="2"/>
              </a:rPr>
              <a:t>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S</a:t>
            </a:r>
          </a:p>
        </p:txBody>
      </p:sp>
      <p:graphicFrame>
        <p:nvGraphicFramePr>
          <p:cNvPr id="54360" name="Group 88"/>
          <p:cNvGraphicFramePr>
            <a:graphicFrameLocks noGrp="1"/>
          </p:cNvGraphicFramePr>
          <p:nvPr/>
        </p:nvGraphicFramePr>
        <p:xfrm>
          <a:off x="381000" y="4046538"/>
          <a:ext cx="2514600" cy="2286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307" name="Text Box 35"/>
          <p:cNvSpPr txBox="1">
            <a:spLocks noChangeArrowheads="1"/>
          </p:cNvSpPr>
          <p:nvPr/>
        </p:nvSpPr>
        <p:spPr bwMode="auto">
          <a:xfrm>
            <a:off x="1219200" y="35941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R</a:t>
            </a:r>
          </a:p>
        </p:txBody>
      </p:sp>
      <p:graphicFrame>
        <p:nvGraphicFramePr>
          <p:cNvPr id="54364" name="Group 92"/>
          <p:cNvGraphicFramePr>
            <a:graphicFrameLocks noGrp="1"/>
          </p:cNvGraphicFramePr>
          <p:nvPr/>
        </p:nvGraphicFramePr>
        <p:xfrm>
          <a:off x="3352800" y="4381500"/>
          <a:ext cx="2514600" cy="1371600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326" name="Text Box 54"/>
          <p:cNvSpPr txBox="1">
            <a:spLocks noChangeArrowheads="1"/>
          </p:cNvSpPr>
          <p:nvPr/>
        </p:nvSpPr>
        <p:spPr bwMode="auto">
          <a:xfrm>
            <a:off x="4191000" y="3962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S</a:t>
            </a:r>
          </a:p>
        </p:txBody>
      </p:sp>
      <p:graphicFrame>
        <p:nvGraphicFramePr>
          <p:cNvPr id="54363" name="Group 91"/>
          <p:cNvGraphicFramePr>
            <a:graphicFrameLocks noGrp="1"/>
          </p:cNvGraphicFramePr>
          <p:nvPr/>
        </p:nvGraphicFramePr>
        <p:xfrm>
          <a:off x="6324600" y="3581400"/>
          <a:ext cx="2514600" cy="27432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357" name="Text Box 85"/>
          <p:cNvSpPr txBox="1">
            <a:spLocks noChangeArrowheads="1"/>
          </p:cNvSpPr>
          <p:nvPr/>
        </p:nvSpPr>
        <p:spPr bwMode="auto">
          <a:xfrm>
            <a:off x="6934200" y="3124200"/>
            <a:ext cx="140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R∪S </a:t>
            </a:r>
          </a:p>
        </p:txBody>
      </p:sp>
      <p:sp>
        <p:nvSpPr>
          <p:cNvPr id="54365" name="Line 93"/>
          <p:cNvSpPr>
            <a:spLocks noChangeShapeType="1"/>
          </p:cNvSpPr>
          <p:nvPr/>
        </p:nvSpPr>
        <p:spPr bwMode="auto">
          <a:xfrm flipV="1">
            <a:off x="2895600" y="4343400"/>
            <a:ext cx="3352800" cy="3810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4366" name="Line 94"/>
          <p:cNvSpPr>
            <a:spLocks noChangeShapeType="1"/>
          </p:cNvSpPr>
          <p:nvPr/>
        </p:nvSpPr>
        <p:spPr bwMode="auto">
          <a:xfrm flipV="1">
            <a:off x="2895600" y="4764088"/>
            <a:ext cx="3395663" cy="417512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4367" name="Line 95"/>
          <p:cNvSpPr>
            <a:spLocks noChangeShapeType="1"/>
          </p:cNvSpPr>
          <p:nvPr/>
        </p:nvSpPr>
        <p:spPr bwMode="auto">
          <a:xfrm flipV="1">
            <a:off x="2913063" y="5257800"/>
            <a:ext cx="3411537" cy="423863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4368" name="Line 96"/>
          <p:cNvSpPr>
            <a:spLocks noChangeShapeType="1"/>
          </p:cNvSpPr>
          <p:nvPr/>
        </p:nvSpPr>
        <p:spPr bwMode="auto">
          <a:xfrm flipV="1">
            <a:off x="2895600" y="5715000"/>
            <a:ext cx="3411538" cy="423863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4369" name="Line 97"/>
          <p:cNvSpPr>
            <a:spLocks noChangeShapeType="1"/>
          </p:cNvSpPr>
          <p:nvPr/>
        </p:nvSpPr>
        <p:spPr bwMode="auto">
          <a:xfrm>
            <a:off x="5867400" y="5105400"/>
            <a:ext cx="381000" cy="9906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4372" name="Line 100"/>
          <p:cNvSpPr>
            <a:spLocks noChangeShapeType="1"/>
          </p:cNvSpPr>
          <p:nvPr/>
        </p:nvSpPr>
        <p:spPr bwMode="auto">
          <a:xfrm flipV="1">
            <a:off x="5867400" y="5257800"/>
            <a:ext cx="457200" cy="3048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24600" y="24451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rPr>
              <a:t>去掉重复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Arial" charset="0"/>
              </a:rPr>
              <a:t>的元组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07" grpId="0" autoUpdateAnimBg="0"/>
      <p:bldP spid="54326" grpId="0" autoUpdateAnimBg="0"/>
      <p:bldP spid="54357" grpId="0" autoUpdateAnimBg="0"/>
      <p:bldP spid="54365" grpId="0" animBg="1"/>
      <p:bldP spid="54366" grpId="0" animBg="1"/>
      <p:bldP spid="54367" grpId="0" animBg="1"/>
      <p:bldP spid="54368" grpId="0" animBg="1"/>
      <p:bldP spid="54369" grpId="0" animBg="1"/>
      <p:bldP spid="54372" grpId="0" animBg="1"/>
      <p:bldP spid="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1772C0-04F4-4DFF-A465-7307AB20627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0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04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509233-2620-42E2-8BB8-F7FA862E539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2.4.6 </a:t>
            </a:r>
            <a:r>
              <a:rPr lang="zh-CN" altLang="en-US" dirty="0"/>
              <a:t>传统的集合运算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 startAt="2"/>
            </a:pPr>
            <a:r>
              <a:rPr lang="zh-CN" altLang="en-US" dirty="0"/>
              <a:t>交 ∩ ：</a:t>
            </a:r>
            <a:r>
              <a:rPr lang="en-US" altLang="zh-CN" dirty="0"/>
              <a:t>R∩S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t|t∈R∧t∈S</a:t>
            </a:r>
            <a:r>
              <a:rPr lang="en-US" altLang="zh-CN" dirty="0"/>
              <a:t>}</a:t>
            </a:r>
          </a:p>
        </p:txBody>
      </p:sp>
      <p:sp>
        <p:nvSpPr>
          <p:cNvPr id="60423" name="Oval 5" descr="宽上对角线"/>
          <p:cNvSpPr>
            <a:spLocks noChangeArrowheads="1"/>
          </p:cNvSpPr>
          <p:nvPr/>
        </p:nvSpPr>
        <p:spPr bwMode="auto">
          <a:xfrm>
            <a:off x="2667000" y="2209800"/>
            <a:ext cx="17526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wdUpDiag">
                  <a:fgClr>
                    <a:schemeClr val="bg2"/>
                  </a:fgClr>
                  <a:bgClr>
                    <a:schemeClr val="hlink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60424" name="Oval 6" descr="宽上对角线"/>
          <p:cNvSpPr>
            <a:spLocks noChangeArrowheads="1"/>
          </p:cNvSpPr>
          <p:nvPr/>
        </p:nvSpPr>
        <p:spPr bwMode="auto">
          <a:xfrm>
            <a:off x="3581400" y="2209800"/>
            <a:ext cx="17526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pattFill prst="wdUpDiag">
                  <a:fgClr>
                    <a:schemeClr val="bg2"/>
                  </a:fgClr>
                  <a:bgClr>
                    <a:schemeClr val="hlink"/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60425" name="Oval 7" descr="轮廓式菱形"/>
          <p:cNvSpPr>
            <a:spLocks noChangeArrowheads="1"/>
          </p:cNvSpPr>
          <p:nvPr/>
        </p:nvSpPr>
        <p:spPr bwMode="auto">
          <a:xfrm>
            <a:off x="3581400" y="2286000"/>
            <a:ext cx="838200" cy="990600"/>
          </a:xfrm>
          <a:prstGeom prst="ellipse">
            <a:avLst/>
          </a:prstGeom>
          <a:pattFill prst="openDmnd">
            <a:fgClr>
              <a:schemeClr val="bg1"/>
            </a:fgClr>
            <a:bgClr>
              <a:schemeClr val="accent2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60426" name="Text Box 8"/>
          <p:cNvSpPr txBox="1">
            <a:spLocks noChangeArrowheads="1"/>
          </p:cNvSpPr>
          <p:nvPr/>
        </p:nvSpPr>
        <p:spPr bwMode="auto">
          <a:xfrm>
            <a:off x="3581400" y="25146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R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  <a:sym typeface="Symbol" pitchFamily="18" charset="2"/>
              </a:rPr>
              <a:t>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S</a:t>
            </a:r>
          </a:p>
        </p:txBody>
      </p:sp>
      <p:graphicFrame>
        <p:nvGraphicFramePr>
          <p:cNvPr id="55369" name="Group 73"/>
          <p:cNvGraphicFramePr>
            <a:graphicFrameLocks noGrp="1"/>
          </p:cNvGraphicFramePr>
          <p:nvPr/>
        </p:nvGraphicFramePr>
        <p:xfrm>
          <a:off x="304800" y="3970338"/>
          <a:ext cx="2514600" cy="2286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331" name="Text Box 35"/>
          <p:cNvSpPr txBox="1">
            <a:spLocks noChangeArrowheads="1"/>
          </p:cNvSpPr>
          <p:nvPr/>
        </p:nvSpPr>
        <p:spPr bwMode="auto">
          <a:xfrm>
            <a:off x="1143000" y="3513138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R</a:t>
            </a:r>
          </a:p>
        </p:txBody>
      </p:sp>
      <p:graphicFrame>
        <p:nvGraphicFramePr>
          <p:cNvPr id="55370" name="Group 74"/>
          <p:cNvGraphicFramePr>
            <a:graphicFrameLocks noGrp="1"/>
          </p:cNvGraphicFramePr>
          <p:nvPr/>
        </p:nvGraphicFramePr>
        <p:xfrm>
          <a:off x="3581400" y="4343400"/>
          <a:ext cx="2362200" cy="137160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5350" name="Text Box 54"/>
          <p:cNvSpPr txBox="1">
            <a:spLocks noChangeArrowheads="1"/>
          </p:cNvSpPr>
          <p:nvPr/>
        </p:nvSpPr>
        <p:spPr bwMode="auto">
          <a:xfrm>
            <a:off x="4343400" y="3886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S</a:t>
            </a:r>
          </a:p>
        </p:txBody>
      </p:sp>
      <p:graphicFrame>
        <p:nvGraphicFramePr>
          <p:cNvPr id="55371" name="Group 75"/>
          <p:cNvGraphicFramePr>
            <a:graphicFrameLocks noGrp="1"/>
          </p:cNvGraphicFramePr>
          <p:nvPr/>
        </p:nvGraphicFramePr>
        <p:xfrm>
          <a:off x="6705600" y="4346575"/>
          <a:ext cx="2133600" cy="91440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365" name="Text Box 69"/>
          <p:cNvSpPr txBox="1">
            <a:spLocks noChangeArrowheads="1"/>
          </p:cNvSpPr>
          <p:nvPr/>
        </p:nvSpPr>
        <p:spPr bwMode="auto">
          <a:xfrm>
            <a:off x="7162800" y="38862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R∩S </a:t>
            </a:r>
          </a:p>
        </p:txBody>
      </p:sp>
      <p:sp>
        <p:nvSpPr>
          <p:cNvPr id="55372" name="Line 76"/>
          <p:cNvSpPr>
            <a:spLocks noChangeShapeType="1"/>
          </p:cNvSpPr>
          <p:nvPr/>
        </p:nvSpPr>
        <p:spPr bwMode="auto">
          <a:xfrm flipV="1">
            <a:off x="2895600" y="5029200"/>
            <a:ext cx="3733800" cy="4572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  <p:sp>
        <p:nvSpPr>
          <p:cNvPr id="55373" name="Line 77"/>
          <p:cNvSpPr>
            <a:spLocks noChangeShapeType="1"/>
          </p:cNvSpPr>
          <p:nvPr/>
        </p:nvSpPr>
        <p:spPr bwMode="auto">
          <a:xfrm flipV="1">
            <a:off x="5943600" y="5105400"/>
            <a:ext cx="685800" cy="457200"/>
          </a:xfrm>
          <a:prstGeom prst="line">
            <a:avLst/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1" grpId="0" autoUpdateAnimBg="0"/>
      <p:bldP spid="55350" grpId="0" autoUpdateAnimBg="0"/>
      <p:bldP spid="55365" grpId="0" autoUpdateAnimBg="0"/>
      <p:bldP spid="55372" grpId="0" animBg="1"/>
      <p:bldP spid="5537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FE9A5-8F71-4272-856D-E141A5CCEF0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000876-5AAC-4036-8E7D-667EBABCEEF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2.4.6 </a:t>
            </a:r>
            <a:r>
              <a:rPr lang="zh-CN" altLang="en-US" dirty="0"/>
              <a:t>传统的集合运算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eriod" startAt="3"/>
              <a:defRPr/>
            </a:pPr>
            <a:r>
              <a:rPr lang="zh-CN" altLang="en-US" dirty="0"/>
              <a:t>差</a:t>
            </a:r>
            <a:r>
              <a:rPr lang="en-US" altLang="zh-CN" dirty="0"/>
              <a:t> </a:t>
            </a:r>
            <a:r>
              <a:rPr lang="zh-CN" altLang="en-US" dirty="0"/>
              <a:t>－</a:t>
            </a:r>
            <a:endParaRPr lang="en-US" altLang="zh-CN" dirty="0"/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sz="2800" dirty="0"/>
              <a:t>R</a:t>
            </a:r>
            <a:r>
              <a:rPr lang="zh-CN" altLang="en-US" sz="2800" dirty="0">
                <a:cs typeface="Times New Roman" pitchFamily="18" charset="0"/>
              </a:rPr>
              <a:t>－</a:t>
            </a:r>
            <a:r>
              <a:rPr lang="en-US" altLang="zh-CN" sz="2800" dirty="0"/>
              <a:t>S = {</a:t>
            </a:r>
            <a:r>
              <a:rPr lang="en-US" altLang="zh-CN" sz="2800" dirty="0" err="1"/>
              <a:t>t|t∈R∧t</a:t>
            </a:r>
            <a:r>
              <a:rPr lang="en-US" altLang="zh-CN" sz="2800" dirty="0"/>
              <a:t> 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sym typeface="Symbol" pitchFamily="18" charset="2"/>
              </a:rPr>
              <a:t></a:t>
            </a:r>
            <a:r>
              <a:rPr lang="en-US" altLang="zh-CN" sz="2800" dirty="0"/>
              <a:t> S}</a:t>
            </a:r>
            <a:r>
              <a:rPr lang="en-US" altLang="zh-CN" dirty="0"/>
              <a:t> </a:t>
            </a:r>
          </a:p>
          <a:p>
            <a:pPr marL="609600" indent="-609600" eaLnBrk="1" hangingPunct="1">
              <a:defRPr/>
            </a:pPr>
            <a:endParaRPr lang="zh-CN" altLang="en-US" dirty="0"/>
          </a:p>
        </p:txBody>
      </p:sp>
      <p:graphicFrame>
        <p:nvGraphicFramePr>
          <p:cNvPr id="3" name="Group 4"/>
          <p:cNvGraphicFramePr>
            <a:graphicFrameLocks noGrp="1"/>
          </p:cNvGraphicFramePr>
          <p:nvPr/>
        </p:nvGraphicFramePr>
        <p:xfrm>
          <a:off x="457200" y="3276600"/>
          <a:ext cx="2514600" cy="2286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1295400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R</a:t>
            </a:r>
          </a:p>
        </p:txBody>
      </p:sp>
      <p:graphicFrame>
        <p:nvGraphicFramePr>
          <p:cNvPr id="56351" name="Group 31"/>
          <p:cNvGraphicFramePr>
            <a:graphicFrameLocks noGrp="1"/>
          </p:cNvGraphicFramePr>
          <p:nvPr/>
        </p:nvGraphicFramePr>
        <p:xfrm>
          <a:off x="3505200" y="3505200"/>
          <a:ext cx="2362200" cy="1371600"/>
        </p:xfrm>
        <a:graphic>
          <a:graphicData uri="http://schemas.openxmlformats.org/drawingml/2006/table">
            <a:tbl>
              <a:tblPr/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369" name="Text Box 49"/>
          <p:cNvSpPr txBox="1">
            <a:spLocks noChangeArrowheads="1"/>
          </p:cNvSpPr>
          <p:nvPr/>
        </p:nvSpPr>
        <p:spPr bwMode="auto">
          <a:xfrm>
            <a:off x="4267200" y="3048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S</a:t>
            </a:r>
          </a:p>
        </p:txBody>
      </p:sp>
      <p:graphicFrame>
        <p:nvGraphicFramePr>
          <p:cNvPr id="56410" name="Group 90"/>
          <p:cNvGraphicFramePr>
            <a:graphicFrameLocks noGrp="1"/>
          </p:cNvGraphicFramePr>
          <p:nvPr/>
        </p:nvGraphicFramePr>
        <p:xfrm>
          <a:off x="6477000" y="2794000"/>
          <a:ext cx="2209800" cy="18288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392" name="Text Box 72"/>
          <p:cNvSpPr txBox="1">
            <a:spLocks noChangeArrowheads="1"/>
          </p:cNvSpPr>
          <p:nvPr/>
        </p:nvSpPr>
        <p:spPr bwMode="auto">
          <a:xfrm>
            <a:off x="6858000" y="2286000"/>
            <a:ext cx="1417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－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 </a:t>
            </a:r>
          </a:p>
        </p:txBody>
      </p:sp>
      <p:graphicFrame>
        <p:nvGraphicFramePr>
          <p:cNvPr id="56412" name="Group 92"/>
          <p:cNvGraphicFramePr>
            <a:graphicFrameLocks noGrp="1"/>
          </p:cNvGraphicFramePr>
          <p:nvPr/>
        </p:nvGraphicFramePr>
        <p:xfrm>
          <a:off x="6477000" y="5337175"/>
          <a:ext cx="2209800" cy="9144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buClr>
                          <a:schemeClr val="hlink"/>
                        </a:buClr>
                        <a:buSzPct val="55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buSzPct val="5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buClr>
                          <a:schemeClr val="accent2"/>
                        </a:buClr>
                        <a:buSzPct val="55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buClr>
                          <a:schemeClr val="accent1"/>
                        </a:buClr>
                        <a:buSzPct val="5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407" name="Text Box 87"/>
          <p:cNvSpPr txBox="1">
            <a:spLocks noChangeArrowheads="1"/>
          </p:cNvSpPr>
          <p:nvPr/>
        </p:nvSpPr>
        <p:spPr bwMode="auto">
          <a:xfrm>
            <a:off x="7010400" y="4876800"/>
            <a:ext cx="1322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－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50" grpId="0" autoUpdateAnimBg="0"/>
      <p:bldP spid="56369" grpId="0" autoUpdateAnimBg="0"/>
      <p:bldP spid="56392" grpId="0" autoUpdateAnimBg="0"/>
      <p:bldP spid="56407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BAA848-A085-45E0-89D5-C7A35F0AACD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054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054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FCFABB-51F7-4D8C-8345-93997D69C14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054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2.4.7 </a:t>
            </a:r>
            <a:r>
              <a:rPr lang="zh-CN" altLang="en-US" dirty="0"/>
              <a:t>赋值运算</a:t>
            </a:r>
            <a:endParaRPr lang="en-US" altLang="zh-CN" dirty="0"/>
          </a:p>
        </p:txBody>
      </p:sp>
      <p:sp>
        <p:nvSpPr>
          <p:cNvPr id="1054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Courier New" pitchFamily="49" charset="0"/>
              </a:rPr>
              <a:t>定义</a:t>
            </a:r>
          </a:p>
          <a:p>
            <a:pPr lvl="1" eaLnBrk="1" hangingPunct="1"/>
            <a:r>
              <a:rPr lang="zh-CN" altLang="en-US" dirty="0">
                <a:latin typeface="Courier New" pitchFamily="49" charset="0"/>
              </a:rPr>
              <a:t>为使查询表达简单、清晰，可以将</a:t>
            </a:r>
            <a:r>
              <a:rPr lang="zh-CN" altLang="en-US" dirty="0">
                <a:solidFill>
                  <a:srgbClr val="0000FF"/>
                </a:solidFill>
                <a:latin typeface="Courier New" pitchFamily="49" charset="0"/>
              </a:rPr>
              <a:t>一个复杂</a:t>
            </a:r>
            <a:r>
              <a:rPr lang="zh-CN" altLang="en-US" dirty="0">
                <a:latin typeface="Courier New" pitchFamily="49" charset="0"/>
              </a:rPr>
              <a:t>的</a:t>
            </a:r>
            <a:r>
              <a:rPr lang="zh-CN" altLang="en-US" u="sng" dirty="0">
                <a:latin typeface="Courier New" pitchFamily="49" charset="0"/>
              </a:rPr>
              <a:t>关系代数表达式</a:t>
            </a:r>
            <a:r>
              <a:rPr lang="zh-CN" altLang="en-US" dirty="0">
                <a:solidFill>
                  <a:srgbClr val="0000FF"/>
                </a:solidFill>
                <a:latin typeface="Courier New" pitchFamily="49" charset="0"/>
              </a:rPr>
              <a:t>分成几个部分</a:t>
            </a:r>
            <a:r>
              <a:rPr lang="zh-CN" altLang="en-US" dirty="0">
                <a:latin typeface="Courier New" pitchFamily="49" charset="0"/>
              </a:rPr>
              <a:t>，每一部分都赋予一个</a:t>
            </a:r>
            <a:r>
              <a:rPr lang="zh-CN" altLang="en-US" b="1" dirty="0">
                <a:solidFill>
                  <a:srgbClr val="0000FF"/>
                </a:solidFill>
                <a:latin typeface="Courier New" pitchFamily="49" charset="0"/>
              </a:rPr>
              <a:t>临时关系变量</a:t>
            </a:r>
            <a:r>
              <a:rPr lang="zh-CN" altLang="en-US" dirty="0">
                <a:latin typeface="Courier New" pitchFamily="49" charset="0"/>
              </a:rPr>
              <a:t>，该变量可被看作</a:t>
            </a:r>
            <a:r>
              <a:rPr lang="zh-CN" altLang="en-US" b="1" dirty="0">
                <a:solidFill>
                  <a:srgbClr val="0000FF"/>
                </a:solidFill>
                <a:latin typeface="Courier New" pitchFamily="49" charset="0"/>
              </a:rPr>
              <a:t>关系</a:t>
            </a:r>
            <a:r>
              <a:rPr lang="zh-CN" altLang="en-US" dirty="0">
                <a:latin typeface="Courier New" pitchFamily="49" charset="0"/>
              </a:rPr>
              <a:t>而在后面的表达式中使用</a:t>
            </a:r>
          </a:p>
          <a:p>
            <a:pPr lvl="1" algn="ctr" eaLnBrk="1" hangingPunct="1">
              <a:spcBef>
                <a:spcPct val="35000"/>
              </a:spcBef>
              <a:buFont typeface="Wingdings" pitchFamily="2" charset="2"/>
              <a:buNone/>
            </a:pPr>
            <a:r>
              <a:rPr lang="zh-CN" altLang="en-US" sz="3200" dirty="0">
                <a:latin typeface="Courier New" pitchFamily="49" charset="0"/>
              </a:rPr>
              <a:t>临时关系变量 </a:t>
            </a:r>
            <a:r>
              <a:rPr lang="zh-CN" altLang="en-US" sz="3200" dirty="0">
                <a:solidFill>
                  <a:srgbClr val="FF3300"/>
                </a:solidFill>
                <a:latin typeface="Courier New" pitchFamily="49" charset="0"/>
                <a:sym typeface="Symbol" pitchFamily="18" charset="2"/>
              </a:rPr>
              <a:t> </a:t>
            </a:r>
            <a:r>
              <a:rPr lang="zh-CN" altLang="en-US" sz="3200" dirty="0">
                <a:latin typeface="Courier New" pitchFamily="49" charset="0"/>
              </a:rPr>
              <a:t>关系代数表达式</a:t>
            </a:r>
            <a:endParaRPr lang="zh-CN" altLang="en-US" dirty="0">
              <a:latin typeface="Courier New" pitchFamily="49" charset="0"/>
            </a:endParaRP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>
                <a:solidFill>
                  <a:srgbClr val="0000FF"/>
                </a:solidFill>
                <a:latin typeface="Courier New" pitchFamily="49" charset="0"/>
              </a:rPr>
              <a:t>赋值给</a:t>
            </a:r>
            <a:r>
              <a:rPr lang="zh-CN" altLang="en-US" dirty="0">
                <a:solidFill>
                  <a:srgbClr val="C00000"/>
                </a:solidFill>
                <a:latin typeface="Courier New" pitchFamily="49" charset="0"/>
              </a:rPr>
              <a:t>临时关系变量</a:t>
            </a:r>
            <a:r>
              <a:rPr lang="zh-CN" altLang="en-US" dirty="0">
                <a:latin typeface="Courier New" pitchFamily="49" charset="0"/>
              </a:rPr>
              <a:t>只是一种</a:t>
            </a:r>
            <a:r>
              <a:rPr lang="zh-CN" altLang="en-US" dirty="0">
                <a:solidFill>
                  <a:srgbClr val="0000FF"/>
                </a:solidFill>
                <a:latin typeface="Courier New" pitchFamily="49" charset="0"/>
              </a:rPr>
              <a:t>结果的传递，而赋值给</a:t>
            </a:r>
            <a:r>
              <a:rPr lang="zh-CN" altLang="en-US" dirty="0">
                <a:solidFill>
                  <a:srgbClr val="C00000"/>
                </a:solidFill>
                <a:latin typeface="Courier New" pitchFamily="49" charset="0"/>
              </a:rPr>
              <a:t>永久关系</a:t>
            </a:r>
            <a:r>
              <a:rPr lang="zh-CN" altLang="en-US" dirty="0">
                <a:latin typeface="Courier New" pitchFamily="49" charset="0"/>
              </a:rPr>
              <a:t>则意味着</a:t>
            </a:r>
            <a:r>
              <a:rPr lang="zh-CN" altLang="en-US" dirty="0">
                <a:solidFill>
                  <a:srgbClr val="0000FF"/>
                </a:solidFill>
                <a:latin typeface="Courier New" pitchFamily="49" charset="0"/>
              </a:rPr>
              <a:t>对数据库的修改</a:t>
            </a: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000080"/>
                </a:solidFill>
              </a:rPr>
              <a:t>   K </a:t>
            </a:r>
            <a:r>
              <a:rPr lang="zh-CN" altLang="en-US" dirty="0">
                <a:solidFill>
                  <a:srgbClr val="FF3300"/>
                </a:solidFill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zh-CN" dirty="0" err="1">
                <a:solidFill>
                  <a:srgbClr val="000080"/>
                </a:solidFill>
              </a:rPr>
              <a:t>Π</a:t>
            </a:r>
            <a:r>
              <a:rPr lang="en-US" altLang="zh-CN" baseline="-10000" dirty="0" err="1">
                <a:solidFill>
                  <a:srgbClr val="000080"/>
                </a:solidFill>
              </a:rPr>
              <a:t>Sno,SName</a:t>
            </a:r>
            <a:r>
              <a:rPr lang="en-US" altLang="zh-CN" dirty="0" err="1">
                <a:solidFill>
                  <a:srgbClr val="000080"/>
                </a:solidFill>
              </a:rPr>
              <a:t>σ</a:t>
            </a:r>
            <a:r>
              <a:rPr lang="en-US" altLang="zh-CN" baseline="-12000" dirty="0" err="1">
                <a:solidFill>
                  <a:srgbClr val="000080"/>
                </a:solidFill>
              </a:rPr>
              <a:t>Cno</a:t>
            </a:r>
            <a:r>
              <a:rPr lang="en-US" altLang="zh-CN" baseline="-12000" dirty="0">
                <a:solidFill>
                  <a:srgbClr val="000080"/>
                </a:solidFill>
              </a:rPr>
              <a:t>=‘2’</a:t>
            </a:r>
            <a:r>
              <a:rPr lang="en-US" altLang="zh-CN" dirty="0">
                <a:solidFill>
                  <a:srgbClr val="000080"/>
                </a:solidFill>
              </a:rPr>
              <a:t> (Student      SC</a:t>
            </a:r>
            <a:r>
              <a:rPr lang="zh-CN" altLang="en-US" dirty="0">
                <a:solidFill>
                  <a:srgbClr val="000080"/>
                </a:solidFill>
              </a:rPr>
              <a:t>）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9CB21B0A-45F0-F6B3-0285-C9ABEFADA45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61494" y="5544553"/>
            <a:ext cx="228600" cy="533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852242-D8A6-4964-939D-C60E73E9AD7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177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177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A389D6-6447-49A9-A6C8-8B86FAD888B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177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2.0 </a:t>
            </a:r>
            <a:r>
              <a:rPr lang="zh-CN" altLang="en-US" dirty="0"/>
              <a:t>关系模型概述</a:t>
            </a:r>
          </a:p>
          <a:p>
            <a:pPr eaLnBrk="1" hangingPunct="1"/>
            <a:r>
              <a:rPr lang="en-US" altLang="zh-CN" dirty="0"/>
              <a:t>2.1 </a:t>
            </a:r>
            <a:r>
              <a:rPr lang="zh-CN" altLang="en-US" dirty="0">
                <a:solidFill>
                  <a:srgbClr val="CC0000"/>
                </a:solidFill>
              </a:rPr>
              <a:t>关系数据结构及形式化定义</a:t>
            </a:r>
          </a:p>
          <a:p>
            <a:pPr eaLnBrk="1" hangingPunct="1"/>
            <a:r>
              <a:rPr lang="en-US" altLang="zh-CN" dirty="0"/>
              <a:t>2.2 </a:t>
            </a:r>
            <a:r>
              <a:rPr lang="zh-CN" altLang="en-US" dirty="0"/>
              <a:t>关系操作</a:t>
            </a:r>
          </a:p>
          <a:p>
            <a:pPr eaLnBrk="1" hangingPunct="1"/>
            <a:r>
              <a:rPr lang="en-US" altLang="zh-CN" dirty="0"/>
              <a:t>2.3 </a:t>
            </a:r>
            <a:r>
              <a:rPr lang="zh-CN" altLang="en-US" dirty="0">
                <a:solidFill>
                  <a:srgbClr val="CC0000"/>
                </a:solidFill>
              </a:rPr>
              <a:t>关系的完整性</a:t>
            </a:r>
          </a:p>
          <a:p>
            <a:pPr eaLnBrk="1" hangingPunct="1"/>
            <a:r>
              <a:rPr lang="en-US" altLang="zh-CN" dirty="0"/>
              <a:t>2.4 </a:t>
            </a:r>
            <a:r>
              <a:rPr lang="zh-CN" altLang="en-US" dirty="0">
                <a:solidFill>
                  <a:srgbClr val="CC0000"/>
                </a:solidFill>
              </a:rPr>
              <a:t>关系代数</a:t>
            </a:r>
          </a:p>
          <a:p>
            <a:pPr eaLnBrk="1" hangingPunct="1"/>
            <a:r>
              <a:rPr lang="en-US" altLang="zh-CN" dirty="0"/>
              <a:t>2.5 </a:t>
            </a:r>
            <a:r>
              <a:rPr lang="zh-CN" altLang="en-US" dirty="0"/>
              <a:t>关系演算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6.2-6.4</a:t>
            </a:r>
            <a:r>
              <a:rPr lang="zh-CN" altLang="en-US" dirty="0"/>
              <a:t>自学了解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5476" name="AutoShape 4"/>
          <p:cNvSpPr>
            <a:spLocks noChangeArrowheads="1"/>
          </p:cNvSpPr>
          <p:nvPr/>
        </p:nvSpPr>
        <p:spPr bwMode="auto">
          <a:xfrm>
            <a:off x="838200" y="46482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F3B443-E75E-4C9A-8102-D1EE56E6C54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Arial" charset="0"/>
            </a:endParaRPr>
          </a:p>
        </p:txBody>
      </p:sp>
      <p:sp>
        <p:nvSpPr>
          <p:cNvPr id="154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《数据库系统概论》- 第2章</a:t>
            </a:r>
          </a:p>
        </p:txBody>
      </p:sp>
      <p:sp>
        <p:nvSpPr>
          <p:cNvPr id="154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6EF03F-93A8-44D0-840E-5803FD5951A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/132</a:t>
            </a:r>
          </a:p>
        </p:txBody>
      </p:sp>
      <p:sp>
        <p:nvSpPr>
          <p:cNvPr id="154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154630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Arial" charset="0"/>
              </a:rPr>
              <a:t>Thank you !</a:t>
            </a:r>
          </a:p>
        </p:txBody>
      </p:sp>
      <p:pic>
        <p:nvPicPr>
          <p:cNvPr id="154631" name="Picture 4" descr="sm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848</TotalTime>
  <Words>8168</Words>
  <Application>Microsoft Office PowerPoint</Application>
  <PresentationFormat>全屏显示(4:3)</PresentationFormat>
  <Paragraphs>1735</Paragraphs>
  <Slides>108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108</vt:i4>
      </vt:variant>
    </vt:vector>
  </HeadingPairs>
  <TitlesOfParts>
    <vt:vector size="125" baseType="lpstr">
      <vt:lpstr>Monotype Sorts</vt:lpstr>
      <vt:lpstr>等线</vt:lpstr>
      <vt:lpstr>楷体_GB2312</vt:lpstr>
      <vt:lpstr>宋体</vt:lpstr>
      <vt:lpstr>Arial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Blends</vt:lpstr>
      <vt:lpstr>Clip</vt:lpstr>
      <vt:lpstr>Equation</vt:lpstr>
      <vt:lpstr>文档</vt:lpstr>
      <vt:lpstr>Document</vt:lpstr>
      <vt:lpstr>数据库系统概念  Database System Concepts</vt:lpstr>
      <vt:lpstr>第二章 关系数据库</vt:lpstr>
      <vt:lpstr>本章目录</vt:lpstr>
      <vt:lpstr>本章目录</vt:lpstr>
      <vt:lpstr>本章目录</vt:lpstr>
      <vt:lpstr>补充：关系模型概述</vt:lpstr>
      <vt:lpstr>补充：关系模型概述</vt:lpstr>
      <vt:lpstr>抽象查询语言</vt:lpstr>
      <vt:lpstr>抽象查询语言</vt:lpstr>
      <vt:lpstr>补充：关系模型概述</vt:lpstr>
      <vt:lpstr>本章目录</vt:lpstr>
      <vt:lpstr>2.1 关系数据结构及其形式化定义</vt:lpstr>
      <vt:lpstr>2.1.1 关系 (Relation)</vt:lpstr>
      <vt:lpstr>2.1.1 关系 — 笛卡儿积</vt:lpstr>
      <vt:lpstr>2.1.1 关系 — 笛卡儿积</vt:lpstr>
      <vt:lpstr>2.1.1 关系 — 笛卡儿积</vt:lpstr>
      <vt:lpstr>2.1.1 关系 — 笛卡儿积</vt:lpstr>
      <vt:lpstr>2.1.1 关系</vt:lpstr>
      <vt:lpstr>2.1.1 关系</vt:lpstr>
      <vt:lpstr>2.1.1 关系</vt:lpstr>
      <vt:lpstr>2.1.1 关系</vt:lpstr>
      <vt:lpstr>2.1.1 关系</vt:lpstr>
      <vt:lpstr>2.1.1 关系</vt:lpstr>
      <vt:lpstr>2.1.1 关系-码</vt:lpstr>
      <vt:lpstr>2.1.1 关系-码</vt:lpstr>
      <vt:lpstr>2.1.1 关系-码</vt:lpstr>
      <vt:lpstr>2.1.1 关系-码</vt:lpstr>
      <vt:lpstr>2.1.1 关系</vt:lpstr>
      <vt:lpstr>2.1.1 关系</vt:lpstr>
      <vt:lpstr>2.1.2 关系模式</vt:lpstr>
      <vt:lpstr>2.1.2 关系模式</vt:lpstr>
      <vt:lpstr>2.1.2 关系模式</vt:lpstr>
      <vt:lpstr>关系和属性的约定</vt:lpstr>
      <vt:lpstr>2.1.3 关系数据库</vt:lpstr>
      <vt:lpstr>2.1.3 关系数据库</vt:lpstr>
      <vt:lpstr>本章目录</vt:lpstr>
      <vt:lpstr>2.2 关系操作</vt:lpstr>
      <vt:lpstr>2.2.1 基本关系操作</vt:lpstr>
      <vt:lpstr>2.2.2 关系数据语言分类</vt:lpstr>
      <vt:lpstr>2.2.2 关系数据语言分类</vt:lpstr>
      <vt:lpstr>2.2.2 关系数据语言分类</vt:lpstr>
      <vt:lpstr>2.2.2 关系数据语言分类</vt:lpstr>
      <vt:lpstr>本章目录</vt:lpstr>
      <vt:lpstr>2.3 关系的完整性</vt:lpstr>
      <vt:lpstr>2.3 关系的完整性</vt:lpstr>
      <vt:lpstr>2.3 关系的完整性--实体完整性</vt:lpstr>
      <vt:lpstr>2.3 关系的完整性--实体完整性</vt:lpstr>
      <vt:lpstr>2.3 关系的完整性—参照完整性</vt:lpstr>
      <vt:lpstr>PowerPoint 演示文稿</vt:lpstr>
      <vt:lpstr>PowerPoint 演示文稿</vt:lpstr>
      <vt:lpstr>2.3 关系的完整性—参照完整性</vt:lpstr>
      <vt:lpstr>2.3 关系的完整性—参照完整性</vt:lpstr>
      <vt:lpstr>PowerPoint 演示文稿</vt:lpstr>
      <vt:lpstr>2.3 关系的完整性—参照完整性</vt:lpstr>
      <vt:lpstr>2.3 关系的完整性—用户定义的完整性</vt:lpstr>
      <vt:lpstr>PowerPoint 演示文稿</vt:lpstr>
      <vt:lpstr>本章目录</vt:lpstr>
      <vt:lpstr>2.4 关系代数</vt:lpstr>
      <vt:lpstr>2.4 关系代数</vt:lpstr>
      <vt:lpstr>2.4 关系代数</vt:lpstr>
      <vt:lpstr>2.4 关系代数</vt:lpstr>
      <vt:lpstr>2.4.1 专门的关系运算 -- 选择</vt:lpstr>
      <vt:lpstr>2.4.1 专门的关系运算 -- 选择</vt:lpstr>
      <vt:lpstr>2.4.1 专门的关系运算 -- 选择</vt:lpstr>
      <vt:lpstr>2.4.1 专门的关系运算 -- 选择</vt:lpstr>
      <vt:lpstr>2.4.1 专门的关系运算</vt:lpstr>
      <vt:lpstr>2.4.1 专门的关系运算</vt:lpstr>
      <vt:lpstr>2.4.1 专门的关系运算</vt:lpstr>
      <vt:lpstr>2.4.1 专门的关系运算 -- 选择</vt:lpstr>
      <vt:lpstr>2.4.1 专门的关系运算 -- 选择</vt:lpstr>
      <vt:lpstr>2.4.2 专门的关系运算 – 投影</vt:lpstr>
      <vt:lpstr>2.4.2 专门的关系运算 – 投影</vt:lpstr>
      <vt:lpstr>2.4.2 专门的关系运算 – 投影</vt:lpstr>
      <vt:lpstr>2.4.2 专门的关系运算 – 投影</vt:lpstr>
      <vt:lpstr>2.4.2 专门的关系运算 – 投影</vt:lpstr>
      <vt:lpstr>2.4.2 专门的关系运算 – 投影</vt:lpstr>
      <vt:lpstr>2.4.2 专门的关系运算 – 投影</vt:lpstr>
      <vt:lpstr>2.4.3 投影与选择的混合运算</vt:lpstr>
      <vt:lpstr>2.4.4 广义笛卡尔积</vt:lpstr>
      <vt:lpstr>2.4.4 广义笛卡尔积</vt:lpstr>
      <vt:lpstr>2.4.4 广义笛卡尔积</vt:lpstr>
      <vt:lpstr>2.4.4 广义笛卡尔积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2.4.5 专门的关系运算 – 连接</vt:lpstr>
      <vt:lpstr>外连接（了解内容）</vt:lpstr>
      <vt:lpstr>外连接（了解内容）</vt:lpstr>
      <vt:lpstr>外连接</vt:lpstr>
      <vt:lpstr>外连接</vt:lpstr>
      <vt:lpstr>外连接</vt:lpstr>
      <vt:lpstr>2.4.6 传统的集合运算</vt:lpstr>
      <vt:lpstr>2.4.6 传统的集合运算</vt:lpstr>
      <vt:lpstr>2.4.6 传统的集合运算</vt:lpstr>
      <vt:lpstr>2.4.6 传统的集合运算</vt:lpstr>
      <vt:lpstr>2.4.7 赋值运算</vt:lpstr>
      <vt:lpstr>本章目录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  Database System Principles</dc:title>
  <dc:creator>Guo Jixiang</dc:creator>
  <cp:lastModifiedBy>Administrator</cp:lastModifiedBy>
  <cp:revision>183</cp:revision>
  <dcterms:created xsi:type="dcterms:W3CDTF">2020-09-15T02:09:45Z</dcterms:created>
  <dcterms:modified xsi:type="dcterms:W3CDTF">2025-09-17T10:07:21Z</dcterms:modified>
</cp:coreProperties>
</file>